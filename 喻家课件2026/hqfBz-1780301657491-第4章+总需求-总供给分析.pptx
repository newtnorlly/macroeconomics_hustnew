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ppt/theme/themeOverride2.xml" ContentType="application/vnd.openxmlformats-officedocument.themeOverride+xml"/>
  <Override PartName="/ppt/notesSlides/notesSlide13.xml" ContentType="application/vnd.openxmlformats-officedocument.presentationml.notesSlide+xml"/>
  <Override PartName="/ppt/theme/themeOverride3.xml" ContentType="application/vnd.openxmlformats-officedocument.themeOverride+xml"/>
  <Override PartName="/ppt/notesSlides/notesSlide14.xml" ContentType="application/vnd.openxmlformats-officedocument.presentationml.notesSlide+xml"/>
  <Override PartName="/ppt/theme/themeOverride4.xml" ContentType="application/vnd.openxmlformats-officedocument.themeOverride+xml"/>
  <Override PartName="/ppt/notesSlides/notesSlide15.xml" ContentType="application/vnd.openxmlformats-officedocument.presentationml.notesSlide+xml"/>
  <Override PartName="/ppt/theme/themeOverride5.xml" ContentType="application/vnd.openxmlformats-officedocument.themeOverride+xml"/>
  <Override PartName="/ppt/notesSlides/notesSlide16.xml" ContentType="application/vnd.openxmlformats-officedocument.presentationml.notesSlide+xml"/>
  <Override PartName="/ppt/theme/themeOverride6.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heme/themeOverride7.xml" ContentType="application/vnd.openxmlformats-officedocument.themeOverride+xml"/>
  <Override PartName="/ppt/notesSlides/notesSlide23.xml" ContentType="application/vnd.openxmlformats-officedocument.presentationml.notesSlide+xml"/>
  <Override PartName="/ppt/theme/themeOverride8.xml" ContentType="application/vnd.openxmlformats-officedocument.themeOverride+xml"/>
  <Override PartName="/ppt/notesSlides/notesSlide24.xml" ContentType="application/vnd.openxmlformats-officedocument.presentationml.notesSlide+xml"/>
  <Override PartName="/ppt/theme/themeOverride9.xml" ContentType="application/vnd.openxmlformats-officedocument.themeOverride+xml"/>
  <Override PartName="/ppt/notesSlides/notesSlide25.xml" ContentType="application/vnd.openxmlformats-officedocument.presentationml.notesSlide+xml"/>
  <Override PartName="/ppt/theme/themeOverride10.xml" ContentType="application/vnd.openxmlformats-officedocument.themeOverride+xml"/>
  <Override PartName="/ppt/notesSlides/notesSlide26.xml" ContentType="application/vnd.openxmlformats-officedocument.presentationml.notesSlide+xml"/>
  <Override PartName="/ppt/theme/themeOverride11.xml" ContentType="application/vnd.openxmlformats-officedocument.themeOverride+xml"/>
  <Override PartName="/ppt/notesSlides/notesSlide27.xml" ContentType="application/vnd.openxmlformats-officedocument.presentationml.notesSlide+xml"/>
  <Override PartName="/ppt/theme/themeOverride12.xml" ContentType="application/vnd.openxmlformats-officedocument.themeOverr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heme/themeOverride13.xml" ContentType="application/vnd.openxmlformats-officedocument.themeOverride+xml"/>
  <Override PartName="/ppt/notesSlides/notesSlide31.xml" ContentType="application/vnd.openxmlformats-officedocument.presentationml.notesSlide+xml"/>
  <Override PartName="/ppt/theme/themeOverride14.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681" r:id="rId2"/>
    <p:sldMasterId id="2147483705" r:id="rId3"/>
    <p:sldMasterId id="2147483717" r:id="rId4"/>
    <p:sldMasterId id="2147483757" r:id="rId5"/>
    <p:sldMasterId id="2147483769" r:id="rId6"/>
    <p:sldMasterId id="2147483794" r:id="rId7"/>
    <p:sldMasterId id="2147483806" r:id="rId8"/>
  </p:sldMasterIdLst>
  <p:notesMasterIdLst>
    <p:notesMasterId r:id="rId97"/>
  </p:notesMasterIdLst>
  <p:sldIdLst>
    <p:sldId id="1097" r:id="rId9"/>
    <p:sldId id="962" r:id="rId10"/>
    <p:sldId id="535" r:id="rId11"/>
    <p:sldId id="1352" r:id="rId12"/>
    <p:sldId id="1290" r:id="rId13"/>
    <p:sldId id="559" r:id="rId14"/>
    <p:sldId id="560" r:id="rId15"/>
    <p:sldId id="1353" r:id="rId16"/>
    <p:sldId id="491" r:id="rId17"/>
    <p:sldId id="1325" r:id="rId18"/>
    <p:sldId id="1364" r:id="rId19"/>
    <p:sldId id="561" r:id="rId20"/>
    <p:sldId id="536" r:id="rId21"/>
    <p:sldId id="584" r:id="rId22"/>
    <p:sldId id="563" r:id="rId23"/>
    <p:sldId id="585" r:id="rId24"/>
    <p:sldId id="1345" r:id="rId25"/>
    <p:sldId id="1354" r:id="rId26"/>
    <p:sldId id="1342" r:id="rId27"/>
    <p:sldId id="587" r:id="rId28"/>
    <p:sldId id="1347" r:id="rId29"/>
    <p:sldId id="1358" r:id="rId30"/>
    <p:sldId id="1359" r:id="rId31"/>
    <p:sldId id="1360" r:id="rId32"/>
    <p:sldId id="1355" r:id="rId33"/>
    <p:sldId id="572" r:id="rId34"/>
    <p:sldId id="573" r:id="rId35"/>
    <p:sldId id="547" r:id="rId36"/>
    <p:sldId id="1361" r:id="rId37"/>
    <p:sldId id="1365" r:id="rId38"/>
    <p:sldId id="574" r:id="rId39"/>
    <p:sldId id="548" r:id="rId40"/>
    <p:sldId id="575" r:id="rId41"/>
    <p:sldId id="550" r:id="rId42"/>
    <p:sldId id="576" r:id="rId43"/>
    <p:sldId id="1350" r:id="rId44"/>
    <p:sldId id="304" r:id="rId45"/>
    <p:sldId id="305" r:id="rId46"/>
    <p:sldId id="306" r:id="rId47"/>
    <p:sldId id="307" r:id="rId48"/>
    <p:sldId id="308" r:id="rId49"/>
    <p:sldId id="309" r:id="rId50"/>
    <p:sldId id="310" r:id="rId51"/>
    <p:sldId id="311" r:id="rId52"/>
    <p:sldId id="312" r:id="rId53"/>
    <p:sldId id="313" r:id="rId54"/>
    <p:sldId id="1362" r:id="rId55"/>
    <p:sldId id="565" r:id="rId56"/>
    <p:sldId id="586" r:id="rId57"/>
    <p:sldId id="501" r:id="rId58"/>
    <p:sldId id="538" r:id="rId59"/>
    <p:sldId id="566" r:id="rId60"/>
    <p:sldId id="567" r:id="rId61"/>
    <p:sldId id="568" r:id="rId62"/>
    <p:sldId id="539" r:id="rId63"/>
    <p:sldId id="1335" r:id="rId64"/>
    <p:sldId id="1336" r:id="rId65"/>
    <p:sldId id="1337" r:id="rId66"/>
    <p:sldId id="1338" r:id="rId67"/>
    <p:sldId id="1339" r:id="rId68"/>
    <p:sldId id="1340" r:id="rId69"/>
    <p:sldId id="1341" r:id="rId70"/>
    <p:sldId id="569" r:id="rId71"/>
    <p:sldId id="544" r:id="rId72"/>
    <p:sldId id="1344" r:id="rId73"/>
    <p:sldId id="316" r:id="rId74"/>
    <p:sldId id="317" r:id="rId75"/>
    <p:sldId id="318" r:id="rId76"/>
    <p:sldId id="319" r:id="rId77"/>
    <p:sldId id="314" r:id="rId78"/>
    <p:sldId id="315" r:id="rId79"/>
    <p:sldId id="1100" r:id="rId80"/>
    <p:sldId id="1101" r:id="rId81"/>
    <p:sldId id="322" r:id="rId82"/>
    <p:sldId id="323" r:id="rId83"/>
    <p:sldId id="1351" r:id="rId84"/>
    <p:sldId id="324" r:id="rId85"/>
    <p:sldId id="577" r:id="rId86"/>
    <p:sldId id="325" r:id="rId87"/>
    <p:sldId id="1346" r:id="rId88"/>
    <p:sldId id="1348" r:id="rId89"/>
    <p:sldId id="1349" r:id="rId90"/>
    <p:sldId id="555" r:id="rId91"/>
    <p:sldId id="556" r:id="rId92"/>
    <p:sldId id="581" r:id="rId93"/>
    <p:sldId id="582" r:id="rId94"/>
    <p:sldId id="367" r:id="rId95"/>
    <p:sldId id="1363" r:id="rId96"/>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Lst>
        </p14:section>
        <p14:section name="默认节" id="{E6538ABF-D54B-4F98-9565-5A1790940A53}">
          <p14:sldIdLst>
            <p14:sldId id="535"/>
            <p14:sldId id="1352"/>
          </p14:sldIdLst>
        </p14:section>
        <p14:section name="第一节 总需求曲线" id="{88FE4079-1FA7-4DA7-B282-4D5C9291FBDF}">
          <p14:sldIdLst>
            <p14:sldId id="1290"/>
            <p14:sldId id="559"/>
            <p14:sldId id="560"/>
            <p14:sldId id="1353"/>
            <p14:sldId id="491"/>
            <p14:sldId id="1325"/>
            <p14:sldId id="1364"/>
            <p14:sldId id="561"/>
            <p14:sldId id="536"/>
            <p14:sldId id="584"/>
            <p14:sldId id="563"/>
            <p14:sldId id="585"/>
            <p14:sldId id="1345"/>
            <p14:sldId id="1354"/>
          </p14:sldIdLst>
        </p14:section>
        <p14:section name="第二节 总供给的一般说明" id="{A4237DB9-9D5B-4CB4-9CFA-069B7586801F}">
          <p14:sldIdLst>
            <p14:sldId id="1342"/>
            <p14:sldId id="587"/>
            <p14:sldId id="1347"/>
            <p14:sldId id="1358"/>
            <p14:sldId id="1359"/>
            <p14:sldId id="1360"/>
            <p14:sldId id="1355"/>
            <p14:sldId id="572"/>
            <p14:sldId id="573"/>
            <p14:sldId id="547"/>
            <p14:sldId id="1361"/>
            <p14:sldId id="1365"/>
            <p14:sldId id="574"/>
            <p14:sldId id="548"/>
            <p14:sldId id="575"/>
            <p14:sldId id="550"/>
            <p14:sldId id="576"/>
            <p14:sldId id="1350"/>
            <p14:sldId id="304"/>
            <p14:sldId id="305"/>
            <p14:sldId id="306"/>
            <p14:sldId id="307"/>
            <p14:sldId id="308"/>
            <p14:sldId id="309"/>
            <p14:sldId id="310"/>
            <p14:sldId id="311"/>
            <p14:sldId id="312"/>
            <p14:sldId id="313"/>
            <p14:sldId id="1362"/>
            <p14:sldId id="565"/>
            <p14:sldId id="586"/>
            <p14:sldId id="501"/>
            <p14:sldId id="538"/>
            <p14:sldId id="566"/>
            <p14:sldId id="567"/>
            <p14:sldId id="568"/>
            <p14:sldId id="539"/>
            <p14:sldId id="1335"/>
            <p14:sldId id="1336"/>
            <p14:sldId id="1337"/>
            <p14:sldId id="1338"/>
            <p14:sldId id="1339"/>
            <p14:sldId id="1340"/>
            <p14:sldId id="1341"/>
            <p14:sldId id="569"/>
            <p14:sldId id="544"/>
          </p14:sldIdLst>
        </p14:section>
        <p14:section name="第四节  总需求-总供给模型" id="{2A52A180-E0A7-4170-9E85-B188C4E891B9}">
          <p14:sldIdLst>
            <p14:sldId id="1344"/>
            <p14:sldId id="316"/>
            <p14:sldId id="317"/>
            <p14:sldId id="318"/>
            <p14:sldId id="319"/>
            <p14:sldId id="314"/>
            <p14:sldId id="315"/>
            <p14:sldId id="1100"/>
            <p14:sldId id="1101"/>
            <p14:sldId id="322"/>
            <p14:sldId id="323"/>
            <p14:sldId id="1351"/>
            <p14:sldId id="324"/>
            <p14:sldId id="577"/>
            <p14:sldId id="325"/>
            <p14:sldId id="1346"/>
            <p14:sldId id="1348"/>
            <p14:sldId id="1349"/>
            <p14:sldId id="555"/>
            <p14:sldId id="556"/>
            <p14:sldId id="581"/>
            <p14:sldId id="582"/>
          </p14:sldIdLst>
        </p14:section>
        <p14:section name="本章练习" id="{6F104052-82E8-42EF-808E-4AA1DA815CE5}">
          <p14:sldIdLst/>
        </p14:section>
        <p14:section name="结尾节" id="{891A9ACE-5840-4E29-801B-51E54C4E6460}">
          <p14:sldIdLst>
            <p14:sldId id="367"/>
            <p14:sldId id="1363"/>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E79"/>
    <a:srgbClr val="011893"/>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29048E-6919-49DB-B302-7FEA71E7F734}" v="258" dt="2026-05-25T14:47:33.81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80"/>
    <p:restoredTop sz="95967" autoAdjust="0"/>
  </p:normalViewPr>
  <p:slideViewPr>
    <p:cSldViewPr>
      <p:cViewPr varScale="1">
        <p:scale>
          <a:sx n="188" d="100"/>
          <a:sy n="188" d="100"/>
        </p:scale>
        <p:origin x="69" y="69"/>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microsoft.com/office/2016/11/relationships/changesInfo" Target="changesInfos/changesInfo1.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103" Type="http://schemas.microsoft.com/office/2015/10/relationships/revisionInfo" Target="revisionInfo.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slide" Target="slides/slide80.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openxmlformats.org/officeDocument/2006/relationships/slide" Target="slides/slide86.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notesMaster" Target="notesMasters/notesMaster1.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presProps" Target="presProps.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唱 浅" userId="a289f8e6d1198102" providerId="LiveId" clId="{133D8CCC-F228-454B-ABF7-70155C9CE543}"/>
    <pc:docChg chg="undo custSel addSld delSld modSld sldOrd">
      <pc:chgData name="唱 浅" userId="a289f8e6d1198102" providerId="LiveId" clId="{133D8CCC-F228-454B-ABF7-70155C9CE543}" dt="2026-05-25T14:47:33.817" v="307"/>
      <pc:docMkLst>
        <pc:docMk/>
      </pc:docMkLst>
      <pc:sldChg chg="modSp">
        <pc:chgData name="唱 浅" userId="a289f8e6d1198102" providerId="LiveId" clId="{133D8CCC-F228-454B-ABF7-70155C9CE543}" dt="2026-05-25T13:23:12.082" v="4" actId="113"/>
        <pc:sldMkLst>
          <pc:docMk/>
          <pc:sldMk cId="2262599899" sldId="535"/>
        </pc:sldMkLst>
        <pc:spChg chg="mod">
          <ac:chgData name="唱 浅" userId="a289f8e6d1198102" providerId="LiveId" clId="{133D8CCC-F228-454B-ABF7-70155C9CE543}" dt="2026-05-25T13:23:12.082" v="4" actId="113"/>
          <ac:spMkLst>
            <pc:docMk/>
            <pc:sldMk cId="2262599899" sldId="535"/>
            <ac:spMk id="3" creationId="{00000000-0000-0000-0000-000000000000}"/>
          </ac:spMkLst>
        </pc:spChg>
      </pc:sldChg>
      <pc:sldChg chg="ord">
        <pc:chgData name="唱 浅" userId="a289f8e6d1198102" providerId="LiveId" clId="{133D8CCC-F228-454B-ABF7-70155C9CE543}" dt="2026-05-25T08:55:01.305" v="3" actId="20578"/>
        <pc:sldMkLst>
          <pc:docMk/>
          <pc:sldMk cId="3212049466" sldId="559"/>
        </pc:sldMkLst>
      </pc:sldChg>
      <pc:sldChg chg="modSp">
        <pc:chgData name="唱 浅" userId="a289f8e6d1198102" providerId="LiveId" clId="{133D8CCC-F228-454B-ABF7-70155C9CE543}" dt="2026-05-25T13:24:37.465" v="8" actId="113"/>
        <pc:sldMkLst>
          <pc:docMk/>
          <pc:sldMk cId="3489992714" sldId="560"/>
        </pc:sldMkLst>
        <pc:spChg chg="mod">
          <ac:chgData name="唱 浅" userId="a289f8e6d1198102" providerId="LiveId" clId="{133D8CCC-F228-454B-ABF7-70155C9CE543}" dt="2026-05-25T13:24:37.465" v="8" actId="113"/>
          <ac:spMkLst>
            <pc:docMk/>
            <pc:sldMk cId="3489992714" sldId="560"/>
            <ac:spMk id="3" creationId="{00000000-0000-0000-0000-000000000000}"/>
          </ac:spMkLst>
        </pc:spChg>
      </pc:sldChg>
      <pc:sldChg chg="delSp modSp mod">
        <pc:chgData name="唱 浅" userId="a289f8e6d1198102" providerId="LiveId" clId="{133D8CCC-F228-454B-ABF7-70155C9CE543}" dt="2026-05-25T14:20:18.860" v="166" actId="14100"/>
        <pc:sldMkLst>
          <pc:docMk/>
          <pc:sldMk cId="3211025805" sldId="561"/>
        </pc:sldMkLst>
        <pc:spChg chg="del">
          <ac:chgData name="唱 浅" userId="a289f8e6d1198102" providerId="LiveId" clId="{133D8CCC-F228-454B-ABF7-70155C9CE543}" dt="2026-05-25T14:13:57.767" v="158" actId="478"/>
          <ac:spMkLst>
            <pc:docMk/>
            <pc:sldMk cId="3211025805" sldId="561"/>
            <ac:spMk id="3" creationId="{C977E9EE-5E72-CB11-3B1A-09590360DC74}"/>
          </ac:spMkLst>
        </pc:spChg>
        <pc:spChg chg="mod">
          <ac:chgData name="唱 浅" userId="a289f8e6d1198102" providerId="LiveId" clId="{133D8CCC-F228-454B-ABF7-70155C9CE543}" dt="2026-05-25T14:20:08.150" v="163" actId="1076"/>
          <ac:spMkLst>
            <pc:docMk/>
            <pc:sldMk cId="3211025805" sldId="561"/>
            <ac:spMk id="5" creationId="{2A4EB957-8FEC-F26E-7E1E-164E02572CD7}"/>
          </ac:spMkLst>
        </pc:spChg>
        <pc:spChg chg="mod">
          <ac:chgData name="唱 浅" userId="a289f8e6d1198102" providerId="LiveId" clId="{133D8CCC-F228-454B-ABF7-70155C9CE543}" dt="2026-05-25T14:20:18.860" v="166" actId="14100"/>
          <ac:spMkLst>
            <pc:docMk/>
            <pc:sldMk cId="3211025805" sldId="561"/>
            <ac:spMk id="38" creationId="{00000000-0000-0000-0000-000000000000}"/>
          </ac:spMkLst>
        </pc:spChg>
        <pc:grpChg chg="mod">
          <ac:chgData name="唱 浅" userId="a289f8e6d1198102" providerId="LiveId" clId="{133D8CCC-F228-454B-ABF7-70155C9CE543}" dt="2026-05-25T14:20:13.055" v="164" actId="1076"/>
          <ac:grpSpMkLst>
            <pc:docMk/>
            <pc:sldMk cId="3211025805" sldId="561"/>
            <ac:grpSpMk id="37" creationId="{00000000-0000-0000-0000-000000000000}"/>
          </ac:grpSpMkLst>
        </pc:grpChg>
      </pc:sldChg>
      <pc:sldChg chg="modSp">
        <pc:chgData name="唱 浅" userId="a289f8e6d1198102" providerId="LiveId" clId="{133D8CCC-F228-454B-ABF7-70155C9CE543}" dt="2026-05-25T14:42:52.391" v="252" actId="113"/>
        <pc:sldMkLst>
          <pc:docMk/>
          <pc:sldMk cId="3009001273" sldId="587"/>
        </pc:sldMkLst>
        <pc:spChg chg="mod">
          <ac:chgData name="唱 浅" userId="a289f8e6d1198102" providerId="LiveId" clId="{133D8CCC-F228-454B-ABF7-70155C9CE543}" dt="2026-05-25T14:42:52.391" v="252" actId="113"/>
          <ac:spMkLst>
            <pc:docMk/>
            <pc:sldMk cId="3009001273" sldId="587"/>
            <ac:spMk id="3" creationId="{7154353C-EE66-4D68-ABAB-28388F912AFB}"/>
          </ac:spMkLst>
        </pc:spChg>
      </pc:sldChg>
      <pc:sldChg chg="delSp modSp mod delAnim">
        <pc:chgData name="唱 浅" userId="a289f8e6d1198102" providerId="LiveId" clId="{133D8CCC-F228-454B-ABF7-70155C9CE543}" dt="2026-05-25T13:23:35.388" v="6" actId="478"/>
        <pc:sldMkLst>
          <pc:docMk/>
          <pc:sldMk cId="3302825848" sldId="1352"/>
        </pc:sldMkLst>
        <pc:spChg chg="mod">
          <ac:chgData name="唱 浅" userId="a289f8e6d1198102" providerId="LiveId" clId="{133D8CCC-F228-454B-ABF7-70155C9CE543}" dt="2026-05-25T13:23:30.103" v="5" actId="20577"/>
          <ac:spMkLst>
            <pc:docMk/>
            <pc:sldMk cId="3302825848" sldId="1352"/>
            <ac:spMk id="3" creationId="{ECE244FF-C9A7-BB3C-A315-769FFBBC6627}"/>
          </ac:spMkLst>
        </pc:spChg>
        <pc:spChg chg="del">
          <ac:chgData name="唱 浅" userId="a289f8e6d1198102" providerId="LiveId" clId="{133D8CCC-F228-454B-ABF7-70155C9CE543}" dt="2026-05-25T13:23:35.388" v="6" actId="478"/>
          <ac:spMkLst>
            <pc:docMk/>
            <pc:sldMk cId="3302825848" sldId="1352"/>
            <ac:spMk id="10" creationId="{1E92AAFB-C581-F3FC-F117-F91AF63FA6E8}"/>
          </ac:spMkLst>
        </pc:spChg>
      </pc:sldChg>
      <pc:sldChg chg="modSp">
        <pc:chgData name="唱 浅" userId="a289f8e6d1198102" providerId="LiveId" clId="{133D8CCC-F228-454B-ABF7-70155C9CE543}" dt="2026-05-25T13:26:54.821" v="9" actId="113"/>
        <pc:sldMkLst>
          <pc:docMk/>
          <pc:sldMk cId="522967421" sldId="1353"/>
        </pc:sldMkLst>
        <pc:spChg chg="mod">
          <ac:chgData name="唱 浅" userId="a289f8e6d1198102" providerId="LiveId" clId="{133D8CCC-F228-454B-ABF7-70155C9CE543}" dt="2026-05-25T13:26:54.821" v="9" actId="113"/>
          <ac:spMkLst>
            <pc:docMk/>
            <pc:sldMk cId="522967421" sldId="1353"/>
            <ac:spMk id="3" creationId="{20A17B4E-87BA-44F1-2DE7-D0DB049B6FE2}"/>
          </ac:spMkLst>
        </pc:spChg>
      </pc:sldChg>
      <pc:sldChg chg="modSp modAnim">
        <pc:chgData name="唱 浅" userId="a289f8e6d1198102" providerId="LiveId" clId="{133D8CCC-F228-454B-ABF7-70155C9CE543}" dt="2026-05-25T14:42:06.682" v="250" actId="20577"/>
        <pc:sldMkLst>
          <pc:docMk/>
          <pc:sldMk cId="1187552712" sldId="1354"/>
        </pc:sldMkLst>
        <pc:spChg chg="mod">
          <ac:chgData name="唱 浅" userId="a289f8e6d1198102" providerId="LiveId" clId="{133D8CCC-F228-454B-ABF7-70155C9CE543}" dt="2026-05-25T14:42:06.682" v="250" actId="20577"/>
          <ac:spMkLst>
            <pc:docMk/>
            <pc:sldMk cId="1187552712" sldId="1354"/>
            <ac:spMk id="2" creationId="{B98A2451-25B1-DC54-54CF-36FADE9F837D}"/>
          </ac:spMkLst>
        </pc:spChg>
      </pc:sldChg>
      <pc:sldChg chg="modSp add modAnim">
        <pc:chgData name="唱 浅" userId="a289f8e6d1198102" providerId="LiveId" clId="{133D8CCC-F228-454B-ABF7-70155C9CE543}" dt="2026-05-25T13:56:15.379" v="112" actId="20577"/>
        <pc:sldMkLst>
          <pc:docMk/>
          <pc:sldMk cId="249335153" sldId="1364"/>
        </pc:sldMkLst>
        <pc:spChg chg="mod">
          <ac:chgData name="唱 浅" userId="a289f8e6d1198102" providerId="LiveId" clId="{133D8CCC-F228-454B-ABF7-70155C9CE543}" dt="2026-05-25T13:56:15.379" v="112" actId="20577"/>
          <ac:spMkLst>
            <pc:docMk/>
            <pc:sldMk cId="249335153" sldId="1364"/>
            <ac:spMk id="2" creationId="{EC55FD97-5A06-5E1A-DDAD-1DAB073F6843}"/>
          </ac:spMkLst>
        </pc:spChg>
      </pc:sldChg>
      <pc:sldChg chg="add del">
        <pc:chgData name="唱 浅" userId="a289f8e6d1198102" providerId="LiveId" clId="{133D8CCC-F228-454B-ABF7-70155C9CE543}" dt="2026-05-25T13:52:10.821" v="14"/>
        <pc:sldMkLst>
          <pc:docMk/>
          <pc:sldMk cId="1034949823" sldId="1365"/>
        </pc:sldMkLst>
      </pc:sldChg>
      <pc:sldChg chg="modSp add">
        <pc:chgData name="唱 浅" userId="a289f8e6d1198102" providerId="LiveId" clId="{133D8CCC-F228-454B-ABF7-70155C9CE543}" dt="2026-05-25T14:47:33.817" v="307"/>
        <pc:sldMkLst>
          <pc:docMk/>
          <pc:sldMk cId="1466274891" sldId="1365"/>
        </pc:sldMkLst>
        <pc:spChg chg="mod">
          <ac:chgData name="唱 浅" userId="a289f8e6d1198102" providerId="LiveId" clId="{133D8CCC-F228-454B-ABF7-70155C9CE543}" dt="2026-05-25T14:47:33.817" v="307"/>
          <ac:spMkLst>
            <pc:docMk/>
            <pc:sldMk cId="1466274891" sldId="1365"/>
            <ac:spMk id="3" creationId="{00358763-91F3-BF19-A557-E7A2D2A6A9B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2026/5/25</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extLst>
      <p:ext uri="{BB962C8B-B14F-4D97-AF65-F5344CB8AC3E}">
        <p14:creationId xmlns:p14="http://schemas.microsoft.com/office/powerpoint/2010/main" val="25307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39.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43.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44.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46.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66.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67.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68.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69.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73.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74.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77.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79.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2</a:t>
            </a:fld>
            <a:endParaRPr kumimoji="1" lang="zh-CN" altLang="en-US"/>
          </a:p>
        </p:txBody>
      </p:sp>
    </p:spTree>
    <p:extLst>
      <p:ext uri="{BB962C8B-B14F-4D97-AF65-F5344CB8AC3E}">
        <p14:creationId xmlns:p14="http://schemas.microsoft.com/office/powerpoint/2010/main" val="21091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总供给和总需求的相互作用</a:t>
            </a:r>
            <a:endParaRPr kumimoji="1" lang="en-US" altLang="zh-CN" dirty="0"/>
          </a:p>
          <a:p>
            <a:r>
              <a:rPr kumimoji="1" lang="zh-CN" altLang="en-US" dirty="0"/>
              <a:t>总供给方面目前为止没有讨论细节</a:t>
            </a:r>
            <a:endParaRPr kumimoji="1" lang="en-US" altLang="zh-CN" dirty="0"/>
          </a:p>
          <a:p>
            <a:r>
              <a:rPr kumimoji="1" lang="zh-CN" altLang="en-US" dirty="0"/>
              <a:t>总需求曲线方面，我们讨论了价格因素带入</a:t>
            </a:r>
            <a:r>
              <a:rPr kumimoji="1" lang="en-US" altLang="zh-CN" dirty="0"/>
              <a:t>IS- LM</a:t>
            </a:r>
            <a:r>
              <a:rPr kumimoji="1" lang="zh-CN" altLang="en-US" dirty="0"/>
              <a:t>方程可以得到。</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4</a:t>
            </a:fld>
            <a:endParaRPr kumimoji="1" lang="zh-CN" altLang="en-US"/>
          </a:p>
        </p:txBody>
      </p:sp>
    </p:spTree>
    <p:extLst>
      <p:ext uri="{BB962C8B-B14F-4D97-AF65-F5344CB8AC3E}">
        <p14:creationId xmlns:p14="http://schemas.microsoft.com/office/powerpoint/2010/main" val="1201124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Y1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是均衡的总需求，与</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P1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有关。</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如果要把均衡的价格和</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Y1</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表达。产量或者总需求</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当价格降低的时候，实际货币供给向右边增加，供给增加，等同于货币扩张，</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LM</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曲线右移，均衡利率下降，同时均衡产量增加。这些关系全部串起来，可以得到总需求曲线。如何通过商品市场和货币市场的相互作用，推导而来的。</a:t>
            </a:r>
          </a:p>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8</a:t>
            </a:fld>
            <a:endParaRPr kumimoji="1" lang="zh-CN" altLang="en-US"/>
          </a:p>
        </p:txBody>
      </p:sp>
    </p:spTree>
    <p:extLst>
      <p:ext uri="{BB962C8B-B14F-4D97-AF65-F5344CB8AC3E}">
        <p14:creationId xmlns:p14="http://schemas.microsoft.com/office/powerpoint/2010/main" val="58480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可以考虑做这样一个思维实验来加深理解：</a:t>
            </a:r>
            <a:endParaRPr kumimoji="1" lang="en-US" altLang="zh-CN" dirty="0"/>
          </a:p>
          <a:p>
            <a:r>
              <a:rPr kumimoji="1" lang="zh-CN" altLang="en-US" dirty="0"/>
              <a:t>设想某一天你醒来时发现，所有物品和服务的价格都降了一半，因此，你拥有的人民币价值翻了一番。</a:t>
            </a:r>
            <a:endParaRPr kumimoji="1" lang="en-US" altLang="zh-CN" dirty="0"/>
          </a:p>
          <a:p>
            <a:r>
              <a:rPr kumimoji="1" lang="zh-CN" altLang="en-US" dirty="0"/>
              <a:t>按真实价值计算，你现在拥有的钱是你昨天晚上睡觉前的两倍。你会用这些额外的钱做什么呢？</a:t>
            </a:r>
            <a:endParaRPr kumimoji="1" lang="en-US" altLang="zh-CN"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12</a:t>
            </a:fld>
            <a:endParaRPr kumimoji="1" lang="zh-CN" altLang="en-US"/>
          </a:p>
        </p:txBody>
      </p:sp>
    </p:spTree>
    <p:extLst>
      <p:ext uri="{BB962C8B-B14F-4D97-AF65-F5344CB8AC3E}">
        <p14:creationId xmlns:p14="http://schemas.microsoft.com/office/powerpoint/2010/main" val="1496324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其他影响价格水平既定时的物品与劳务需求总量的因素会导致曲线的移动</a:t>
            </a:r>
            <a:endParaRPr lang="en-US" altLang="zh-CN" sz="1200" dirty="0"/>
          </a:p>
          <a:p>
            <a:r>
              <a:rPr lang="en-US" altLang="zh-CN" sz="1200" dirty="0"/>
              <a:t>1. P</a:t>
            </a:r>
            <a:r>
              <a:rPr lang="zh-CN" altLang="en-US" sz="1200" dirty="0"/>
              <a:t>既定时，任何影响</a:t>
            </a:r>
            <a:r>
              <a:rPr lang="zh-CN" altLang="en-US" sz="1200" dirty="0">
                <a:solidFill>
                  <a:srgbClr val="C00000"/>
                </a:solidFill>
              </a:rPr>
              <a:t>消费</a:t>
            </a:r>
            <a:r>
              <a:rPr lang="zh-CN" altLang="en-US" sz="1200" dirty="0"/>
              <a:t>者支出的事件会使</a:t>
            </a:r>
            <a:r>
              <a:rPr lang="en-US" altLang="zh-CN" sz="1200" dirty="0"/>
              <a:t>AD</a:t>
            </a:r>
            <a:r>
              <a:rPr lang="zh-CN" altLang="en-US" sz="1200" dirty="0"/>
              <a:t>移动</a:t>
            </a:r>
            <a:r>
              <a:rPr lang="en-US" altLang="zh-CN" sz="1200" dirty="0"/>
              <a:t>(</a:t>
            </a:r>
            <a:r>
              <a:rPr lang="zh-CN" altLang="en-US" sz="1200" dirty="0"/>
              <a:t>如减税、股市上涨或低迷</a:t>
            </a:r>
            <a:r>
              <a:rPr lang="en-US" altLang="zh-CN" sz="1200" dirty="0"/>
              <a:t>)</a:t>
            </a:r>
            <a:r>
              <a:rPr lang="zh-CN" altLang="en-US" sz="1200" dirty="0"/>
              <a:t>等。</a:t>
            </a:r>
            <a:endParaRPr lang="en-US" altLang="zh-CN" sz="1200" dirty="0"/>
          </a:p>
          <a:p>
            <a:r>
              <a:rPr lang="en-US" altLang="zh-CN" sz="1200" dirty="0"/>
              <a:t>2. P</a:t>
            </a:r>
            <a:r>
              <a:rPr lang="zh-CN" altLang="en-US" sz="1200" dirty="0"/>
              <a:t>既定时，任何影响企业</a:t>
            </a:r>
            <a:r>
              <a:rPr lang="zh-CN" altLang="en-US" sz="1200" dirty="0">
                <a:solidFill>
                  <a:srgbClr val="C00000"/>
                </a:solidFill>
              </a:rPr>
              <a:t>投资</a:t>
            </a:r>
            <a:r>
              <a:rPr lang="zh-CN" altLang="en-US" sz="1200" dirty="0"/>
              <a:t>的事件也会使</a:t>
            </a:r>
            <a:r>
              <a:rPr lang="en-US" altLang="zh-CN" sz="1200" dirty="0"/>
              <a:t>AD</a:t>
            </a:r>
            <a:r>
              <a:rPr lang="zh-CN" altLang="en-US" sz="1200" dirty="0"/>
              <a:t>移动</a:t>
            </a:r>
            <a:r>
              <a:rPr lang="en-US" altLang="zh-CN" sz="1200" dirty="0"/>
              <a:t>(</a:t>
            </a:r>
            <a:r>
              <a:rPr lang="zh-CN" altLang="en-US" sz="1200" dirty="0"/>
              <a:t>如货币供给、乐观或悲观预期</a:t>
            </a:r>
            <a:r>
              <a:rPr lang="en-US" altLang="zh-CN" sz="1200" dirty="0"/>
              <a:t>)</a:t>
            </a:r>
            <a:r>
              <a:rPr lang="zh-CN" altLang="en-US" sz="1200" dirty="0"/>
              <a:t>等。</a:t>
            </a:r>
            <a:endParaRPr lang="en-US" altLang="zh-CN" sz="1200" dirty="0"/>
          </a:p>
          <a:p>
            <a:r>
              <a:rPr lang="en-US" altLang="zh-CN" sz="1200" dirty="0"/>
              <a:t>3. P</a:t>
            </a:r>
            <a:r>
              <a:rPr lang="zh-CN" altLang="en-US" sz="1200" dirty="0"/>
              <a:t>既定时，</a:t>
            </a:r>
            <a:r>
              <a:rPr lang="zh-CN" altLang="en-US" sz="1200" dirty="0">
                <a:solidFill>
                  <a:srgbClr val="C00000"/>
                </a:solidFill>
              </a:rPr>
              <a:t>政府购买</a:t>
            </a:r>
            <a:r>
              <a:rPr lang="zh-CN" altLang="en-US" sz="1200" dirty="0"/>
              <a:t>的改变</a:t>
            </a:r>
            <a:r>
              <a:rPr lang="en-US" altLang="zh-CN" sz="1200" dirty="0"/>
              <a:t>(</a:t>
            </a:r>
            <a:r>
              <a:rPr lang="zh-CN" altLang="en-US" sz="1200" dirty="0"/>
              <a:t>如增加国防、高速公路支出会使</a:t>
            </a:r>
            <a:r>
              <a:rPr lang="en-US" altLang="zh-CN" sz="1200" dirty="0"/>
              <a:t>AD</a:t>
            </a:r>
            <a:r>
              <a:rPr lang="zh-CN" altLang="en-US" sz="1200" dirty="0"/>
              <a:t>向右移动</a:t>
            </a:r>
            <a:r>
              <a:rPr lang="en-US" altLang="zh-CN" sz="1200" dirty="0"/>
              <a:t>)</a:t>
            </a:r>
          </a:p>
          <a:p>
            <a:r>
              <a:rPr lang="en-US" altLang="zh-CN" sz="1200" dirty="0"/>
              <a:t>4. P</a:t>
            </a:r>
            <a:r>
              <a:rPr lang="zh-CN" altLang="en-US" sz="1200" dirty="0"/>
              <a:t>既定时，</a:t>
            </a:r>
            <a:r>
              <a:rPr lang="zh-CN" altLang="en-US" sz="1200" dirty="0">
                <a:solidFill>
                  <a:srgbClr val="C00000"/>
                </a:solidFill>
              </a:rPr>
              <a:t>净出口</a:t>
            </a:r>
            <a:r>
              <a:rPr lang="zh-CN" altLang="en-US" sz="1200" dirty="0"/>
              <a:t>支出</a:t>
            </a:r>
            <a:r>
              <a:rPr lang="en-US" altLang="zh-CN" sz="1200" dirty="0"/>
              <a:t>(</a:t>
            </a:r>
            <a:r>
              <a:rPr lang="zh-CN" altLang="en-US" sz="1200" dirty="0"/>
              <a:t>如国外经济繁荣、汇率变动</a:t>
            </a:r>
            <a:r>
              <a:rPr lang="en-US" altLang="zh-CN" sz="1200" dirty="0"/>
              <a:t>)</a:t>
            </a:r>
            <a:r>
              <a:rPr lang="zh-CN" altLang="en-US" sz="1200" dirty="0"/>
              <a:t>。</a:t>
            </a:r>
            <a:endParaRPr lang="en-US" altLang="zh-CN" sz="1200" dirty="0"/>
          </a:p>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13</a:t>
            </a:fld>
            <a:endParaRPr kumimoji="1" lang="zh-CN" altLang="en-US"/>
          </a:p>
        </p:txBody>
      </p:sp>
    </p:spTree>
    <p:extLst>
      <p:ext uri="{BB962C8B-B14F-4D97-AF65-F5344CB8AC3E}">
        <p14:creationId xmlns:p14="http://schemas.microsoft.com/office/powerpoint/2010/main" val="3400265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14</a:t>
            </a:fld>
            <a:endParaRPr kumimoji="1" lang="zh-CN" altLang="en-US"/>
          </a:p>
        </p:txBody>
      </p:sp>
    </p:spTree>
    <p:extLst>
      <p:ext uri="{BB962C8B-B14F-4D97-AF65-F5344CB8AC3E}">
        <p14:creationId xmlns:p14="http://schemas.microsoft.com/office/powerpoint/2010/main" val="4251658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15</a:t>
            </a:fld>
            <a:endParaRPr kumimoji="1" lang="zh-CN" altLang="en-US"/>
          </a:p>
        </p:txBody>
      </p:sp>
    </p:spTree>
    <p:extLst>
      <p:ext uri="{BB962C8B-B14F-4D97-AF65-F5344CB8AC3E}">
        <p14:creationId xmlns:p14="http://schemas.microsoft.com/office/powerpoint/2010/main" val="364042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假设总需求变化，考虑长期，最终会出现什么变化？</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原来均衡点在</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假设消费者</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对未来缺乏信心等</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因素</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导致</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AD</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曲线</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向左移动到</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AD2</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，经过一段时间，价格从</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点降到</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B</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点，如果不下降需求会在</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C</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点，需求小于供给，最终价格会下降。</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长期经济价格会调整。</a:t>
            </a:r>
          </a:p>
          <a:p>
            <a:pPr indent="266700" algn="just"/>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如果在短期假设市场机制非常灵活，这种长期的供给曲线非常会第一时间发挥作用。价格很快降低。非常灵活。这种情形在短期内也存在。但这种情况比较少见。</a:t>
            </a:r>
          </a:p>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29</a:t>
            </a:fld>
            <a:endParaRPr kumimoji="1" lang="zh-CN" altLang="en-US"/>
          </a:p>
        </p:txBody>
      </p:sp>
    </p:spTree>
    <p:extLst>
      <p:ext uri="{BB962C8B-B14F-4D97-AF65-F5344CB8AC3E}">
        <p14:creationId xmlns:p14="http://schemas.microsoft.com/office/powerpoint/2010/main" val="3187624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32</a:t>
            </a:fld>
            <a:endParaRPr kumimoji="1" lang="zh-CN" altLang="en-US"/>
          </a:p>
        </p:txBody>
      </p:sp>
    </p:spTree>
    <p:extLst>
      <p:ext uri="{BB962C8B-B14F-4D97-AF65-F5344CB8AC3E}">
        <p14:creationId xmlns:p14="http://schemas.microsoft.com/office/powerpoint/2010/main" val="2458158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35</a:t>
            </a:fld>
            <a:endParaRPr kumimoji="1" lang="zh-CN" altLang="en-US"/>
          </a:p>
        </p:txBody>
      </p:sp>
    </p:spTree>
    <p:extLst>
      <p:ext uri="{BB962C8B-B14F-4D97-AF65-F5344CB8AC3E}">
        <p14:creationId xmlns:p14="http://schemas.microsoft.com/office/powerpoint/2010/main" val="2984176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6D9D0AC8-61FE-F0CC-2210-8614AFA1214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2A3BD8EB-76DB-D147-8E1C-519413179849}" type="slidenum">
              <a:rPr lang="zh-CN" altLang="zh-CN" sz="1200">
                <a:ea typeface="宋体" panose="02010600030101010101" pitchFamily="2" charset="-122"/>
              </a:rPr>
              <a:pPr algn="r"/>
              <a:t>37</a:t>
            </a:fld>
            <a:endParaRPr lang="zh-CN" altLang="zh-CN" sz="1200">
              <a:ea typeface="宋体" panose="02010600030101010101" pitchFamily="2" charset="-122"/>
            </a:endParaRPr>
          </a:p>
        </p:txBody>
      </p:sp>
      <p:sp>
        <p:nvSpPr>
          <p:cNvPr id="60419" name="Rectangle 2">
            <a:extLst>
              <a:ext uri="{FF2B5EF4-FFF2-40B4-BE49-F238E27FC236}">
                <a16:creationId xmlns:a16="http://schemas.microsoft.com/office/drawing/2014/main" id="{C276EBFC-799F-10C3-60FA-D9B3A8CA220F}"/>
              </a:ext>
            </a:extLst>
          </p:cNvPr>
          <p:cNvSpPr>
            <a:spLocks noGrp="1" noRot="1" noChangeAspect="1" noChangeArrowheads="1" noTextEdit="1"/>
          </p:cNvSpPr>
          <p:nvPr>
            <p:ph type="sldImg"/>
          </p:nvPr>
        </p:nvSpPr>
        <p:spPr>
          <a:xfrm>
            <a:off x="1146175" y="534988"/>
            <a:ext cx="4568825" cy="3429000"/>
          </a:xfrm>
        </p:spPr>
      </p:sp>
      <p:sp>
        <p:nvSpPr>
          <p:cNvPr id="60420" name="Rectangle 3">
            <a:extLst>
              <a:ext uri="{FF2B5EF4-FFF2-40B4-BE49-F238E27FC236}">
                <a16:creationId xmlns:a16="http://schemas.microsoft.com/office/drawing/2014/main" id="{0511C297-200B-7F87-3AD6-001117A1A279}"/>
              </a:ext>
            </a:extLst>
          </p:cNvPr>
          <p:cNvSpPr>
            <a:spLocks noGrp="1" noChangeArrowheads="1"/>
          </p:cNvSpPr>
          <p:nvPr>
            <p:ph type="body" idx="1"/>
          </p:nvPr>
        </p:nvSpPr>
        <p:spPr>
          <a:xfrm>
            <a:off x="685800" y="4248150"/>
            <a:ext cx="5486400" cy="4210050"/>
          </a:xfrm>
        </p:spPr>
        <p:txBody>
          <a:bodyPr lIns="91429" tIns="45714" rIns="91429" bIns="45714" anchor="t"/>
          <a:lstStyle/>
          <a:p>
            <a:r>
              <a:rPr lang="en-US" altLang="zh-CN" dirty="0">
                <a:ea typeface="宋体" panose="02010600030101010101" pitchFamily="2" charset="-122"/>
              </a:rPr>
              <a:t>Each of these theories provides a reason why the aggregate supply curve might have a positive slope in the short run.  </a:t>
            </a:r>
          </a:p>
          <a:p>
            <a:endParaRPr lang="en-US" altLang="zh-CN" dirty="0">
              <a:ea typeface="宋体" panose="02010600030101010101" pitchFamily="2" charset="-122"/>
            </a:endParaRPr>
          </a:p>
          <a:p>
            <a:r>
              <a:rPr lang="en-US" altLang="zh-CN" dirty="0">
                <a:ea typeface="宋体" panose="02010600030101010101" pitchFamily="2" charset="-122"/>
              </a:rPr>
              <a:t>It would be most helpful if students carefully read this section of the chapter!</a:t>
            </a:r>
          </a:p>
        </p:txBody>
      </p:sp>
    </p:spTree>
    <p:extLst>
      <p:ext uri="{BB962C8B-B14F-4D97-AF65-F5344CB8AC3E}">
        <p14:creationId xmlns:p14="http://schemas.microsoft.com/office/powerpoint/2010/main" val="4016558796"/>
      </p:ext>
    </p:extLst>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7E9A83EE-C3AF-2086-0923-4C80FADEB34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B8D9850E-3A2A-7E40-9A15-89835419EAAA}" type="slidenum">
              <a:rPr lang="zh-CN" altLang="zh-CN" sz="1200">
                <a:ea typeface="宋体" panose="02010600030101010101" pitchFamily="2" charset="-122"/>
              </a:rPr>
              <a:pPr algn="r"/>
              <a:t>39</a:t>
            </a:fld>
            <a:endParaRPr lang="zh-CN" altLang="zh-CN" sz="1200">
              <a:ea typeface="宋体" panose="02010600030101010101" pitchFamily="2" charset="-122"/>
            </a:endParaRPr>
          </a:p>
        </p:txBody>
      </p:sp>
      <p:sp>
        <p:nvSpPr>
          <p:cNvPr id="63491" name="Rectangle 2">
            <a:extLst>
              <a:ext uri="{FF2B5EF4-FFF2-40B4-BE49-F238E27FC236}">
                <a16:creationId xmlns:a16="http://schemas.microsoft.com/office/drawing/2014/main" id="{30963D9C-8E66-2B74-92CC-880363B061AF}"/>
              </a:ext>
            </a:extLst>
          </p:cNvPr>
          <p:cNvSpPr>
            <a:spLocks noGrp="1" noRot="1" noChangeAspect="1" noChangeArrowheads="1" noTextEdit="1"/>
          </p:cNvSpPr>
          <p:nvPr>
            <p:ph type="sldImg"/>
          </p:nvPr>
        </p:nvSpPr>
        <p:spPr>
          <a:xfrm>
            <a:off x="1146175" y="534988"/>
            <a:ext cx="4568825" cy="3429000"/>
          </a:xfrm>
        </p:spPr>
      </p:sp>
      <p:sp>
        <p:nvSpPr>
          <p:cNvPr id="63492" name="Rectangle 3">
            <a:extLst>
              <a:ext uri="{FF2B5EF4-FFF2-40B4-BE49-F238E27FC236}">
                <a16:creationId xmlns:a16="http://schemas.microsoft.com/office/drawing/2014/main" id="{4ED082A7-D69D-330E-CAC6-81AA64D0CC46}"/>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“如果</a:t>
            </a:r>
            <a:r>
              <a:rPr lang="zh-CN" altLang="zh-CN" b="1" i="1" dirty="0">
                <a:ea typeface="宋体" panose="02010600030101010101" pitchFamily="2" charset="-122"/>
              </a:rPr>
              <a:t>P</a:t>
            </a:r>
            <a:r>
              <a:rPr lang="zh-CN" altLang="zh-CN" dirty="0">
                <a:ea typeface="宋体" panose="02010600030101010101" pitchFamily="2" charset="-122"/>
              </a:rPr>
              <a:t> &gt; </a:t>
            </a:r>
            <a:r>
              <a:rPr lang="zh-CN" altLang="zh-CN" b="1" i="1" dirty="0">
                <a:ea typeface="宋体" panose="02010600030101010101" pitchFamily="2" charset="-122"/>
              </a:rPr>
              <a:t>P</a:t>
            </a:r>
            <a:r>
              <a:rPr lang="zh-CN" altLang="zh-CN" b="1" baseline="-25000" dirty="0">
                <a:ea typeface="宋体" panose="02010600030101010101" pitchFamily="2" charset="-122"/>
              </a:rPr>
              <a:t>E</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意味着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“如果实际价格水平高于企业预期的价格水平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p>
          <a:p>
            <a:endParaRPr lang="en-US" altLang="zh-CN" dirty="0">
              <a:ea typeface="宋体" panose="02010600030101010101" pitchFamily="2" charset="-122"/>
            </a:endParaRPr>
          </a:p>
          <a:p>
            <a:r>
              <a:rPr lang="zh-CN" altLang="zh-CN" dirty="0">
                <a:ea typeface="宋体" panose="02010600030101010101" pitchFamily="2" charset="-122"/>
              </a:rPr>
              <a:t>“If P &gt; P</a:t>
            </a:r>
            <a:r>
              <a:rPr lang="zh-CN" altLang="zh-CN" baseline="-25000" dirty="0">
                <a:ea typeface="宋体" panose="02010600030101010101" pitchFamily="2" charset="-122"/>
              </a:rPr>
              <a:t>E</a:t>
            </a:r>
            <a:r>
              <a:rPr lang="zh-CN" altLang="zh-CN" dirty="0">
                <a:ea typeface="宋体" panose="02010600030101010101" pitchFamily="2" charset="-122"/>
              </a:rPr>
              <a:t>” </a:t>
            </a:r>
          </a:p>
          <a:p>
            <a:endParaRPr lang="zh-CN" altLang="zh-CN" dirty="0">
              <a:ea typeface="宋体" panose="02010600030101010101" pitchFamily="2" charset="-122"/>
            </a:endParaRPr>
          </a:p>
          <a:p>
            <a:r>
              <a:rPr lang="zh-CN" altLang="zh-CN" dirty="0">
                <a:ea typeface="宋体" panose="02010600030101010101" pitchFamily="2" charset="-122"/>
              </a:rPr>
              <a:t>means </a:t>
            </a:r>
          </a:p>
          <a:p>
            <a:endParaRPr lang="zh-CN" altLang="zh-CN" dirty="0">
              <a:ea typeface="宋体" panose="02010600030101010101" pitchFamily="2" charset="-122"/>
            </a:endParaRPr>
          </a:p>
          <a:p>
            <a:r>
              <a:rPr lang="zh-CN" altLang="zh-CN" dirty="0">
                <a:ea typeface="宋体" panose="02010600030101010101" pitchFamily="2" charset="-122"/>
              </a:rPr>
              <a:t>“If the actual price level turns out to be higher the price level firms had expected...”</a:t>
            </a:r>
          </a:p>
        </p:txBody>
      </p:sp>
    </p:spTree>
    <p:extLst>
      <p:ext uri="{BB962C8B-B14F-4D97-AF65-F5344CB8AC3E}">
        <p14:creationId xmlns:p14="http://schemas.microsoft.com/office/powerpoint/2010/main" val="3741409805"/>
      </p:ext>
    </p:extLst>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33E95753-2195-DF03-50A4-5469F702B1E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BE63441C-A6E6-AC46-B41C-4B0160C2E189}" type="slidenum">
              <a:rPr lang="zh-CN" altLang="zh-CN" sz="1200">
                <a:ea typeface="宋体" panose="02010600030101010101" pitchFamily="2" charset="-122"/>
              </a:rPr>
              <a:pPr algn="r"/>
              <a:t>42</a:t>
            </a:fld>
            <a:endParaRPr lang="zh-CN" altLang="zh-CN" sz="1200">
              <a:ea typeface="宋体" panose="02010600030101010101" pitchFamily="2" charset="-122"/>
            </a:endParaRPr>
          </a:p>
        </p:txBody>
      </p:sp>
      <p:sp>
        <p:nvSpPr>
          <p:cNvPr id="67587" name="Rectangle 2">
            <a:extLst>
              <a:ext uri="{FF2B5EF4-FFF2-40B4-BE49-F238E27FC236}">
                <a16:creationId xmlns:a16="http://schemas.microsoft.com/office/drawing/2014/main" id="{B1AC5FE3-3FA5-D3C0-9A3A-26A4749A9726}"/>
              </a:ext>
            </a:extLst>
          </p:cNvPr>
          <p:cNvSpPr>
            <a:spLocks noGrp="1" noRot="1" noChangeAspect="1" noChangeArrowheads="1" noTextEdit="1"/>
          </p:cNvSpPr>
          <p:nvPr>
            <p:ph type="sldImg"/>
          </p:nvPr>
        </p:nvSpPr>
        <p:spPr>
          <a:xfrm>
            <a:off x="1146175" y="534988"/>
            <a:ext cx="4568825" cy="3429000"/>
          </a:xfrm>
        </p:spPr>
      </p:sp>
      <p:sp>
        <p:nvSpPr>
          <p:cNvPr id="67588" name="Rectangle 3">
            <a:extLst>
              <a:ext uri="{FF2B5EF4-FFF2-40B4-BE49-F238E27FC236}">
                <a16:creationId xmlns:a16="http://schemas.microsoft.com/office/drawing/2014/main" id="{E52F5552-C34B-69DF-0D5A-E7DA7F5AFACC}"/>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在这三种理论中，这一理论似乎是最不可信的。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企业当然有很强的动机，不会将一般价格上涨误认为相对价格上涨。而且，有关价格水平的信息是无成本的，而且只需要很短的滞后时间</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尤其是</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CPI</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它每月发布一次，一经发布就被广泛报道</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我在这里的评论不是正式教材的一部分，所以它们不支持在学习指南或考题库中。请随意忽略它们。</a:t>
            </a:r>
          </a:p>
          <a:p>
            <a:endParaRPr lang="en-US" altLang="zh-CN" dirty="0">
              <a:ea typeface="宋体" panose="02010600030101010101" pitchFamily="2" charset="-122"/>
            </a:endParaRPr>
          </a:p>
          <a:p>
            <a:r>
              <a:rPr lang="en-US" altLang="zh-CN" dirty="0">
                <a:ea typeface="宋体" panose="02010600030101010101" pitchFamily="2" charset="-122"/>
              </a:rPr>
              <a:t>Of the three theories, this one seems the least plausible.  </a:t>
            </a:r>
          </a:p>
          <a:p>
            <a:endParaRPr lang="en-US" altLang="zh-CN" dirty="0">
              <a:ea typeface="宋体" panose="02010600030101010101" pitchFamily="2" charset="-122"/>
            </a:endParaRPr>
          </a:p>
          <a:p>
            <a:r>
              <a:rPr lang="en-US" altLang="zh-CN" dirty="0">
                <a:ea typeface="宋体" panose="02010600030101010101" pitchFamily="2" charset="-122"/>
              </a:rPr>
              <a:t>Firms certainly have a strong incentive to not mistake a general price increase for a relative price increase.  And information about the price level is costless and available with only a short lag (especially the CPI, which is published monthly and very widely reported the moment it comes out).  </a:t>
            </a:r>
          </a:p>
          <a:p>
            <a:endParaRPr lang="en-US" altLang="zh-CN" dirty="0">
              <a:ea typeface="宋体" panose="02010600030101010101" pitchFamily="2" charset="-122"/>
            </a:endParaRPr>
          </a:p>
          <a:p>
            <a:r>
              <a:rPr lang="en-US" altLang="zh-CN" dirty="0">
                <a:ea typeface="宋体" panose="02010600030101010101" pitchFamily="2" charset="-122"/>
              </a:rPr>
              <a:t>My remarks here are not officially part of the textbook, so they are not supported in the study guide or test bank.  Feel free to ignore them. </a:t>
            </a:r>
          </a:p>
        </p:txBody>
      </p:sp>
    </p:spTree>
    <p:extLst>
      <p:ext uri="{BB962C8B-B14F-4D97-AF65-F5344CB8AC3E}">
        <p14:creationId xmlns:p14="http://schemas.microsoft.com/office/powerpoint/2010/main" val="3035440171"/>
      </p:ext>
    </p:extLst>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428DF02B-C482-CFBF-2889-4C4810BCACD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95465FD0-EB96-284F-A320-78CAEAAE934F}" type="slidenum">
              <a:rPr lang="zh-CN" altLang="zh-CN" sz="1200">
                <a:ea typeface="宋体" panose="02010600030101010101" pitchFamily="2" charset="-122"/>
              </a:rPr>
              <a:pPr algn="r"/>
              <a:t>43</a:t>
            </a:fld>
            <a:endParaRPr lang="zh-CN" altLang="zh-CN" sz="1200">
              <a:ea typeface="宋体" panose="02010600030101010101" pitchFamily="2" charset="-122"/>
            </a:endParaRPr>
          </a:p>
        </p:txBody>
      </p:sp>
      <p:sp>
        <p:nvSpPr>
          <p:cNvPr id="69635" name="Rectangle 2">
            <a:extLst>
              <a:ext uri="{FF2B5EF4-FFF2-40B4-BE49-F238E27FC236}">
                <a16:creationId xmlns:a16="http://schemas.microsoft.com/office/drawing/2014/main" id="{18A402ED-4D20-BC46-A168-1F6FBE17F1CE}"/>
              </a:ext>
            </a:extLst>
          </p:cNvPr>
          <p:cNvSpPr>
            <a:spLocks noGrp="1" noRot="1" noChangeAspect="1" noChangeArrowheads="1" noTextEdit="1"/>
          </p:cNvSpPr>
          <p:nvPr>
            <p:ph type="sldImg"/>
          </p:nvPr>
        </p:nvSpPr>
        <p:spPr>
          <a:xfrm>
            <a:off x="1146175" y="534988"/>
            <a:ext cx="4568825" cy="3429000"/>
          </a:xfrm>
        </p:spPr>
      </p:sp>
      <p:sp>
        <p:nvSpPr>
          <p:cNvPr id="69636" name="Rectangle 3">
            <a:extLst>
              <a:ext uri="{FF2B5EF4-FFF2-40B4-BE49-F238E27FC236}">
                <a16:creationId xmlns:a16="http://schemas.microsoft.com/office/drawing/2014/main" id="{FEA6F445-7814-5195-A884-7AA5B17C248B}"/>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经济学家争论这些理论中哪一种是正确的。有可能每一个都包含一些真理的元素。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就我们这里的目的而言，这些理论之间的相似之处比它们的差异更重要</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这三种理论都暗示，当价格水平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偏离人们的预期水平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PE)</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时，产出就会偏离其长期水平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自然产出率”</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a:t>
            </a:r>
          </a:p>
          <a:p>
            <a:endParaRPr lang="en-US" altLang="zh-CN" dirty="0">
              <a:ea typeface="宋体" panose="02010600030101010101" pitchFamily="2" charset="-122"/>
            </a:endParaRPr>
          </a:p>
          <a:p>
            <a:r>
              <a:rPr lang="zh-CN" altLang="zh-CN" dirty="0">
                <a:ea typeface="宋体" panose="02010600030101010101" pitchFamily="2" charset="-122"/>
              </a:rPr>
              <a:t>Economists debate which of these theories is correct.  It’s possible that each of them contains some element of truth.  </a:t>
            </a:r>
          </a:p>
          <a:p>
            <a:endParaRPr lang="zh-CN" altLang="zh-CN" dirty="0">
              <a:ea typeface="宋体" panose="02010600030101010101" pitchFamily="2" charset="-122"/>
            </a:endParaRPr>
          </a:p>
          <a:p>
            <a:r>
              <a:rPr lang="zh-CN" altLang="zh-CN" dirty="0">
                <a:ea typeface="宋体" panose="02010600030101010101" pitchFamily="2" charset="-122"/>
              </a:rPr>
              <a:t>For our purposes here, the similarities between these theories are more important than their differences:  all three imply that output deviates from its long-run level (the “natural rate of output”) when the price level (</a:t>
            </a:r>
            <a:r>
              <a:rPr lang="zh-CN" altLang="zh-CN" b="1" i="1" dirty="0">
                <a:ea typeface="宋体" panose="02010600030101010101" pitchFamily="2" charset="-122"/>
              </a:rPr>
              <a:t>P</a:t>
            </a:r>
            <a:r>
              <a:rPr lang="zh-CN" altLang="zh-CN" dirty="0">
                <a:ea typeface="宋体" panose="02010600030101010101" pitchFamily="2" charset="-122"/>
              </a:rPr>
              <a:t>) deviates from the level people had expected (</a:t>
            </a:r>
            <a:r>
              <a:rPr lang="zh-CN" altLang="zh-CN" sz="1100" b="1" i="1" dirty="0">
                <a:ea typeface="宋体" panose="02010600030101010101" pitchFamily="2" charset="-122"/>
              </a:rPr>
              <a:t>P</a:t>
            </a:r>
            <a:r>
              <a:rPr lang="zh-CN" altLang="zh-CN" sz="1100" b="1" baseline="-25000" dirty="0">
                <a:ea typeface="宋体" panose="02010600030101010101" pitchFamily="2" charset="-122"/>
              </a:rPr>
              <a:t>E</a:t>
            </a:r>
            <a:r>
              <a:rPr lang="zh-CN" altLang="zh-CN" dirty="0">
                <a:ea typeface="宋体" panose="02010600030101010101" pitchFamily="2" charset="-122"/>
              </a:rPr>
              <a:t>).  </a:t>
            </a:r>
          </a:p>
          <a:p>
            <a:endParaRPr lang="zh-CN" altLang="zh-CN" dirty="0">
              <a:ea typeface="宋体" panose="02010600030101010101" pitchFamily="2" charset="-122"/>
            </a:endParaRPr>
          </a:p>
        </p:txBody>
      </p:sp>
    </p:spTree>
    <p:extLst>
      <p:ext uri="{BB962C8B-B14F-4D97-AF65-F5344CB8AC3E}">
        <p14:creationId xmlns:p14="http://schemas.microsoft.com/office/powerpoint/2010/main" val="1007623557"/>
      </p:ext>
    </p:extLst>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A02608CE-AA64-5B05-35AF-9B1CFEB2324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A2B72FC7-E9E9-2C4F-8861-BBC211BDC658}" type="slidenum">
              <a:rPr lang="zh-CN" altLang="zh-CN" sz="1200">
                <a:ea typeface="宋体" panose="02010600030101010101" pitchFamily="2" charset="-122"/>
              </a:rPr>
              <a:pPr algn="r"/>
              <a:t>44</a:t>
            </a:fld>
            <a:endParaRPr lang="zh-CN" altLang="zh-CN" sz="1200">
              <a:ea typeface="宋体" panose="02010600030101010101" pitchFamily="2" charset="-122"/>
            </a:endParaRPr>
          </a:p>
        </p:txBody>
      </p:sp>
      <p:sp>
        <p:nvSpPr>
          <p:cNvPr id="71683" name="Rectangle 2">
            <a:extLst>
              <a:ext uri="{FF2B5EF4-FFF2-40B4-BE49-F238E27FC236}">
                <a16:creationId xmlns:a16="http://schemas.microsoft.com/office/drawing/2014/main" id="{EDA9A02D-D781-E465-567B-8568F765C2B5}"/>
              </a:ext>
            </a:extLst>
          </p:cNvPr>
          <p:cNvSpPr>
            <a:spLocks noGrp="1" noRot="1" noChangeAspect="1" noChangeArrowheads="1" noTextEdit="1"/>
          </p:cNvSpPr>
          <p:nvPr>
            <p:ph type="sldImg"/>
          </p:nvPr>
        </p:nvSpPr>
        <p:spPr>
          <a:xfrm>
            <a:off x="1146175" y="534988"/>
            <a:ext cx="4568825" cy="3429000"/>
          </a:xfrm>
        </p:spPr>
      </p:sp>
      <p:sp>
        <p:nvSpPr>
          <p:cNvPr id="71684" name="Rectangle 3">
            <a:extLst>
              <a:ext uri="{FF2B5EF4-FFF2-40B4-BE49-F238E27FC236}">
                <a16:creationId xmlns:a16="http://schemas.microsoft.com/office/drawing/2014/main" id="{ECF26ECC-1C52-7BB2-E5FC-47D994335EBD}"/>
              </a:ext>
            </a:extLst>
          </p:cNvPr>
          <p:cNvSpPr>
            <a:spLocks noGrp="1" noChangeArrowheads="1"/>
          </p:cNvSpPr>
          <p:nvPr>
            <p:ph type="body" idx="1"/>
          </p:nvPr>
        </p:nvSpPr>
        <p:spPr>
          <a:xfrm>
            <a:off x="685800" y="4248150"/>
            <a:ext cx="5486400" cy="4210050"/>
          </a:xfrm>
        </p:spPr>
        <p:txBody>
          <a:bodyPr lIns="91429" tIns="45714" rIns="91429" bIns="45714" anchor="t"/>
          <a:lstStyle/>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前面的幻灯片介绍了一个总供给方程，它显示了当实际价格水平与预期不同时，产出如何偏离充分就业。</a:t>
            </a:r>
            <a:endParaRPr lang="en-US" altLang="zh-CN" dirty="0">
              <a:ea typeface="宋体" panose="02010600030101010101" pitchFamily="2" charset="-122"/>
            </a:endParaRPr>
          </a:p>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这张幻灯片用图表说明了这些概念。</a:t>
            </a:r>
            <a:endParaRPr lang="en-US" altLang="zh-CN" b="0" i="0" u="none" strike="noStrike" dirty="0">
              <a:solidFill>
                <a:srgbClr val="101214"/>
              </a:solidFill>
              <a:effectLst/>
              <a:latin typeface="PingFang SC" panose="020B0400000000000000" pitchFamily="34" charset="-122"/>
              <a:ea typeface="PingFang SC" panose="020B0400000000000000" pitchFamily="34" charset="-122"/>
            </a:endParaRPr>
          </a:p>
          <a:p>
            <a:endParaRPr lang="en-US" altLang="zh-CN" dirty="0">
              <a:ea typeface="宋体" panose="02010600030101010101" pitchFamily="2" charset="-122"/>
            </a:endParaRPr>
          </a:p>
          <a:p>
            <a:r>
              <a:rPr lang="en-US" altLang="zh-CN" sz="1100" dirty="0">
                <a:ea typeface="宋体" panose="02010600030101010101" pitchFamily="2" charset="-122"/>
              </a:rPr>
              <a:t>When  </a:t>
            </a:r>
            <a:r>
              <a:rPr lang="en-US" altLang="zh-CN" sz="1100" b="1" i="1" dirty="0">
                <a:ea typeface="宋体" panose="02010600030101010101" pitchFamily="2" charset="-122"/>
              </a:rPr>
              <a:t>P</a:t>
            </a:r>
            <a:r>
              <a:rPr lang="en-US" altLang="zh-CN" sz="1100" dirty="0">
                <a:ea typeface="宋体" panose="02010600030101010101" pitchFamily="2" charset="-122"/>
              </a:rPr>
              <a:t> =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sz="1100" dirty="0">
                <a:ea typeface="宋体" panose="02010600030101010101" pitchFamily="2" charset="-122"/>
              </a:rPr>
              <a:t>,  </a:t>
            </a:r>
            <a:r>
              <a:rPr lang="en-US" altLang="zh-CN" sz="1100" b="1" i="1" dirty="0">
                <a:ea typeface="宋体" panose="02010600030101010101" pitchFamily="2" charset="-122"/>
              </a:rPr>
              <a:t>Y</a:t>
            </a:r>
            <a:r>
              <a:rPr lang="en-US" altLang="zh-CN" sz="1100" dirty="0">
                <a:ea typeface="宋体" panose="02010600030101010101" pitchFamily="2" charset="-122"/>
              </a:rPr>
              <a:t> =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endParaRPr lang="en-US" altLang="zh-CN" sz="1100" dirty="0">
              <a:ea typeface="宋体" panose="02010600030101010101" pitchFamily="2" charset="-122"/>
            </a:endParaRPr>
          </a:p>
          <a:p>
            <a:endParaRPr lang="en-US" altLang="zh-CN" sz="1100" dirty="0">
              <a:ea typeface="宋体" panose="02010600030101010101" pitchFamily="2" charset="-122"/>
            </a:endParaRPr>
          </a:p>
          <a:p>
            <a:r>
              <a:rPr lang="en-US" altLang="zh-CN" sz="1100" dirty="0">
                <a:ea typeface="宋体" panose="02010600030101010101" pitchFamily="2" charset="-122"/>
              </a:rPr>
              <a:t>When  </a:t>
            </a:r>
            <a:r>
              <a:rPr lang="en-US" altLang="zh-CN" sz="1100" b="1" i="1" dirty="0">
                <a:ea typeface="宋体" panose="02010600030101010101" pitchFamily="2" charset="-122"/>
              </a:rPr>
              <a:t>P</a:t>
            </a:r>
            <a:r>
              <a:rPr lang="en-US" altLang="zh-CN" sz="1100" dirty="0">
                <a:ea typeface="宋体" panose="02010600030101010101" pitchFamily="2" charset="-122"/>
              </a:rPr>
              <a:t> &lt;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sz="1100" dirty="0">
                <a:ea typeface="宋体" panose="02010600030101010101" pitchFamily="2" charset="-122"/>
              </a:rPr>
              <a:t>,  </a:t>
            </a:r>
            <a:r>
              <a:rPr lang="en-US" altLang="zh-CN" sz="1100" b="1" i="1" dirty="0">
                <a:ea typeface="宋体" panose="02010600030101010101" pitchFamily="2" charset="-122"/>
              </a:rPr>
              <a:t>Y</a:t>
            </a:r>
            <a:r>
              <a:rPr lang="en-US" altLang="zh-CN" sz="1100" dirty="0">
                <a:ea typeface="宋体" panose="02010600030101010101" pitchFamily="2" charset="-122"/>
              </a:rPr>
              <a:t> &lt;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endParaRPr lang="en-US" altLang="zh-CN" sz="1100" dirty="0">
              <a:ea typeface="宋体" panose="02010600030101010101" pitchFamily="2" charset="-122"/>
            </a:endParaRPr>
          </a:p>
          <a:p>
            <a:endParaRPr lang="en-US" altLang="zh-CN" sz="1100" dirty="0">
              <a:ea typeface="宋体" panose="02010600030101010101" pitchFamily="2" charset="-122"/>
            </a:endParaRPr>
          </a:p>
          <a:p>
            <a:r>
              <a:rPr lang="en-US" altLang="zh-CN" sz="1100" dirty="0">
                <a:ea typeface="宋体" panose="02010600030101010101" pitchFamily="2" charset="-122"/>
              </a:rPr>
              <a:t>When  </a:t>
            </a:r>
            <a:r>
              <a:rPr lang="en-US" altLang="zh-CN" sz="1100" b="1" i="1" dirty="0">
                <a:ea typeface="宋体" panose="02010600030101010101" pitchFamily="2" charset="-122"/>
              </a:rPr>
              <a:t>P</a:t>
            </a:r>
            <a:r>
              <a:rPr lang="en-US" altLang="zh-CN" sz="1100" dirty="0">
                <a:ea typeface="宋体" panose="02010600030101010101" pitchFamily="2" charset="-122"/>
              </a:rPr>
              <a:t> &gt;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sz="1100" dirty="0">
                <a:ea typeface="宋体" panose="02010600030101010101" pitchFamily="2" charset="-122"/>
              </a:rPr>
              <a:t>,  </a:t>
            </a:r>
            <a:r>
              <a:rPr lang="en-US" altLang="zh-CN" sz="1100" b="1" i="1" dirty="0">
                <a:ea typeface="宋体" panose="02010600030101010101" pitchFamily="2" charset="-122"/>
              </a:rPr>
              <a:t>Y</a:t>
            </a:r>
            <a:r>
              <a:rPr lang="en-US" altLang="zh-CN" sz="1100" dirty="0">
                <a:ea typeface="宋体" panose="02010600030101010101" pitchFamily="2" charset="-122"/>
              </a:rPr>
              <a:t> &gt;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p>
          <a:p>
            <a:endParaRPr lang="zh-CN" altLang="en-US" dirty="0">
              <a:ea typeface="宋体" panose="02010600030101010101" pitchFamily="2" charset="-122"/>
            </a:endParaRPr>
          </a:p>
        </p:txBody>
      </p:sp>
    </p:spTree>
    <p:extLst>
      <p:ext uri="{BB962C8B-B14F-4D97-AF65-F5344CB8AC3E}">
        <p14:creationId xmlns:p14="http://schemas.microsoft.com/office/powerpoint/2010/main" val="291140147"/>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2BE8674A-DB4D-489F-1A1D-5CF3A441A46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0D4A6CAB-627E-4742-892E-61789D9E00B3}" type="slidenum">
              <a:rPr lang="zh-CN" altLang="zh-CN" sz="1200">
                <a:ea typeface="宋体" panose="02010600030101010101" pitchFamily="2" charset="-122"/>
              </a:rPr>
              <a:pPr algn="r"/>
              <a:t>46</a:t>
            </a:fld>
            <a:endParaRPr lang="zh-CN" altLang="zh-CN" sz="1200">
              <a:ea typeface="宋体" panose="02010600030101010101" pitchFamily="2" charset="-122"/>
            </a:endParaRPr>
          </a:p>
        </p:txBody>
      </p:sp>
      <p:sp>
        <p:nvSpPr>
          <p:cNvPr id="74755" name="Rectangle 2">
            <a:extLst>
              <a:ext uri="{FF2B5EF4-FFF2-40B4-BE49-F238E27FC236}">
                <a16:creationId xmlns:a16="http://schemas.microsoft.com/office/drawing/2014/main" id="{381442C5-63D2-0D20-582F-6E83DAC0144C}"/>
              </a:ext>
            </a:extLst>
          </p:cNvPr>
          <p:cNvSpPr>
            <a:spLocks noGrp="1" noRot="1" noChangeAspect="1" noChangeArrowheads="1" noTextEdit="1"/>
          </p:cNvSpPr>
          <p:nvPr>
            <p:ph type="sldImg"/>
          </p:nvPr>
        </p:nvSpPr>
        <p:spPr>
          <a:xfrm>
            <a:off x="1146175" y="534988"/>
            <a:ext cx="4568825" cy="3429000"/>
          </a:xfrm>
        </p:spPr>
      </p:sp>
      <p:sp>
        <p:nvSpPr>
          <p:cNvPr id="74756" name="Rectangle 3">
            <a:extLst>
              <a:ext uri="{FF2B5EF4-FFF2-40B4-BE49-F238E27FC236}">
                <a16:creationId xmlns:a16="http://schemas.microsoft.com/office/drawing/2014/main" id="{61866534-7061-175E-1D6F-CE08A809F726}"/>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请注意，当价格水平等于预期价格水平时，产出等于其长期价值，即自然产出率。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解释</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在短期内，人们可能会被价格水平愚弄，或者他们可能会被锁定在他们知道实际价格水平之前设定的工资或价格上。因此，在短期内，</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可能不同于</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PE</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但从长期来看，预期会赶上现实，</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 = PE</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因此</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Y = YN</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就像经典模型中那样。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因此，我们的经济波动理论基本上是经典模型</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我们已经研究了几章</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，加上某种市场不完善</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比如粘性工资</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。市场不完美的影响只在短期内发生，所以我们模型的长期行为是经典的。</a:t>
            </a:r>
          </a:p>
          <a:p>
            <a:endParaRPr lang="en-US" altLang="zh-CN" dirty="0">
              <a:ea typeface="宋体" panose="02010600030101010101" pitchFamily="2" charset="-122"/>
            </a:endParaRPr>
          </a:p>
          <a:p>
            <a:r>
              <a:rPr lang="en-US" altLang="zh-CN" dirty="0">
                <a:ea typeface="宋体" panose="02010600030101010101" pitchFamily="2" charset="-122"/>
              </a:rPr>
              <a:t>Notice that when the price level equals the expected price level, output is equal to its long-run value, the natural rate of output.  </a:t>
            </a:r>
          </a:p>
          <a:p>
            <a:endParaRPr lang="en-US" altLang="zh-CN" dirty="0">
              <a:ea typeface="宋体" panose="02010600030101010101" pitchFamily="2" charset="-122"/>
            </a:endParaRPr>
          </a:p>
          <a:p>
            <a:r>
              <a:rPr lang="en-US" altLang="zh-CN" dirty="0">
                <a:ea typeface="宋体" panose="02010600030101010101" pitchFamily="2" charset="-122"/>
              </a:rPr>
              <a:t>Interpretation:  </a:t>
            </a:r>
          </a:p>
          <a:p>
            <a:endParaRPr lang="en-US" altLang="zh-CN" dirty="0">
              <a:ea typeface="宋体" panose="02010600030101010101" pitchFamily="2" charset="-122"/>
            </a:endParaRPr>
          </a:p>
          <a:p>
            <a:r>
              <a:rPr lang="en-US" altLang="zh-CN" dirty="0">
                <a:ea typeface="宋体" panose="02010600030101010101" pitchFamily="2" charset="-122"/>
              </a:rPr>
              <a:t>In the short run, people may be fooled about the price level, or they may be locked into wages or prices that were set before they knew what the price level would actually be.  Hence, in the short run, </a:t>
            </a:r>
            <a:r>
              <a:rPr lang="en-US" altLang="zh-CN" b="1" i="1" dirty="0">
                <a:ea typeface="宋体" panose="02010600030101010101" pitchFamily="2" charset="-122"/>
              </a:rPr>
              <a:t>P</a:t>
            </a:r>
            <a:r>
              <a:rPr lang="en-US" altLang="zh-CN" dirty="0">
                <a:ea typeface="宋体" panose="02010600030101010101" pitchFamily="2" charset="-122"/>
              </a:rPr>
              <a:t> may differ from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dirty="0">
                <a:ea typeface="宋体" panose="02010600030101010101" pitchFamily="2" charset="-122"/>
              </a:rPr>
              <a:t>.  </a:t>
            </a:r>
          </a:p>
          <a:p>
            <a:endParaRPr lang="en-US" altLang="zh-CN" dirty="0">
              <a:ea typeface="宋体" panose="02010600030101010101" pitchFamily="2" charset="-122"/>
            </a:endParaRPr>
          </a:p>
          <a:p>
            <a:r>
              <a:rPr lang="en-US" altLang="zh-CN" dirty="0">
                <a:ea typeface="宋体" panose="02010600030101010101" pitchFamily="2" charset="-122"/>
              </a:rPr>
              <a:t>But in the long run, expectations catch up to reality, </a:t>
            </a:r>
            <a:r>
              <a:rPr lang="en-US" altLang="zh-CN" b="1" i="1" dirty="0">
                <a:ea typeface="宋体" panose="02010600030101010101" pitchFamily="2" charset="-122"/>
              </a:rPr>
              <a:t>P</a:t>
            </a:r>
            <a:r>
              <a:rPr lang="en-US" altLang="zh-CN" dirty="0">
                <a:ea typeface="宋体" panose="02010600030101010101" pitchFamily="2" charset="-122"/>
              </a:rPr>
              <a:t> = </a:t>
            </a:r>
            <a:r>
              <a:rPr lang="en-US" altLang="zh-CN" sz="1100" b="1" i="1" dirty="0">
                <a:ea typeface="宋体" panose="02010600030101010101" pitchFamily="2" charset="-122"/>
              </a:rPr>
              <a:t>P</a:t>
            </a:r>
            <a:r>
              <a:rPr lang="en-US" altLang="zh-CN" sz="1100" b="1" baseline="-25000" dirty="0">
                <a:ea typeface="宋体" panose="02010600030101010101" pitchFamily="2" charset="-122"/>
              </a:rPr>
              <a:t>E</a:t>
            </a:r>
            <a:r>
              <a:rPr lang="en-US" altLang="zh-CN" dirty="0">
                <a:ea typeface="宋体" panose="02010600030101010101" pitchFamily="2" charset="-122"/>
              </a:rPr>
              <a:t>, and therefore  </a:t>
            </a:r>
            <a:r>
              <a:rPr lang="en-US" altLang="zh-CN" b="1" i="1" dirty="0">
                <a:ea typeface="宋体" panose="02010600030101010101" pitchFamily="2" charset="-122"/>
              </a:rPr>
              <a:t>Y</a:t>
            </a:r>
            <a:r>
              <a:rPr lang="en-US" altLang="zh-CN" dirty="0">
                <a:ea typeface="宋体" panose="02010600030101010101" pitchFamily="2" charset="-122"/>
              </a:rPr>
              <a:t> = </a:t>
            </a:r>
            <a:r>
              <a:rPr lang="en-US" altLang="zh-CN" sz="1100" b="1" i="1" dirty="0">
                <a:ea typeface="宋体" panose="02010600030101010101" pitchFamily="2" charset="-122"/>
              </a:rPr>
              <a:t>Y</a:t>
            </a:r>
            <a:r>
              <a:rPr lang="en-US" altLang="zh-CN" sz="1100" b="1" baseline="-25000" dirty="0">
                <a:ea typeface="宋体" panose="02010600030101010101" pitchFamily="2" charset="-122"/>
              </a:rPr>
              <a:t>N</a:t>
            </a:r>
            <a:r>
              <a:rPr lang="en-US" altLang="zh-CN" dirty="0">
                <a:ea typeface="宋体" panose="02010600030101010101" pitchFamily="2" charset="-122"/>
              </a:rPr>
              <a:t>, as in the Classical model.  </a:t>
            </a:r>
          </a:p>
          <a:p>
            <a:endParaRPr lang="en-US" altLang="zh-CN" dirty="0">
              <a:ea typeface="宋体" panose="02010600030101010101" pitchFamily="2" charset="-122"/>
            </a:endParaRPr>
          </a:p>
          <a:p>
            <a:r>
              <a:rPr lang="en-US" altLang="zh-CN" dirty="0">
                <a:ea typeface="宋体" panose="02010600030101010101" pitchFamily="2" charset="-122"/>
              </a:rPr>
              <a:t>Thus, our theory of economic fluctuations is basically the Classical model (which we studied for several chapters) augmented with some kind of market imperfection (such as sticky wages).  The impact of the market imperfection occurs only in the short run, so the long-run behavior of our model is Classical.  </a:t>
            </a:r>
          </a:p>
          <a:p>
            <a:endParaRPr lang="zh-CN" altLang="en-US" dirty="0">
              <a:ea typeface="宋体" panose="02010600030101010101" pitchFamily="2" charset="-122"/>
            </a:endParaRPr>
          </a:p>
        </p:txBody>
      </p:sp>
    </p:spTree>
    <p:extLst>
      <p:ext uri="{BB962C8B-B14F-4D97-AF65-F5344CB8AC3E}">
        <p14:creationId xmlns:p14="http://schemas.microsoft.com/office/powerpoint/2010/main" val="856811049"/>
      </p:ext>
    </p:extLst>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CBB0E55-0650-4E1D-A9E1-63372536AAB9}"/>
              </a:ext>
            </a:extLst>
          </p:cNvPr>
          <p:cNvSpPr>
            <a:spLocks noGrp="1" noChangeArrowheads="1"/>
          </p:cNvSpPr>
          <p:nvPr>
            <p:ph type="sldNum" sz="quarter" idx="5"/>
          </p:nvPr>
        </p:nvSpPr>
        <p:spPr>
          <a:ln/>
        </p:spPr>
        <p:txBody>
          <a:bodyPr/>
          <a:lstStyle/>
          <a:p>
            <a:fld id="{1A8A6EDF-6B80-444D-996C-CAAD56012977}" type="slidenum">
              <a:rPr lang="en-US" altLang="zh-CN"/>
              <a:pPr/>
              <a:t>50</a:t>
            </a:fld>
            <a:endParaRPr lang="en-US" altLang="zh-CN"/>
          </a:p>
        </p:txBody>
      </p:sp>
      <p:sp>
        <p:nvSpPr>
          <p:cNvPr id="555010" name="Rectangle 2">
            <a:extLst>
              <a:ext uri="{FF2B5EF4-FFF2-40B4-BE49-F238E27FC236}">
                <a16:creationId xmlns:a16="http://schemas.microsoft.com/office/drawing/2014/main" id="{EEB0EFB1-AF4F-4230-9A83-0A101825DEEC}"/>
              </a:ext>
            </a:extLst>
          </p:cNvPr>
          <p:cNvSpPr>
            <a:spLocks noGrp="1" noRot="1" noChangeAspect="1" noChangeArrowheads="1" noTextEdit="1"/>
          </p:cNvSpPr>
          <p:nvPr>
            <p:ph type="sldImg"/>
          </p:nvPr>
        </p:nvSpPr>
        <p:spPr>
          <a:ln/>
        </p:spPr>
      </p:sp>
      <p:sp>
        <p:nvSpPr>
          <p:cNvPr id="555011" name="Rectangle 3">
            <a:extLst>
              <a:ext uri="{FF2B5EF4-FFF2-40B4-BE49-F238E27FC236}">
                <a16:creationId xmlns:a16="http://schemas.microsoft.com/office/drawing/2014/main" id="{733803D8-2DD2-41D9-970B-D8D4967B5EBB}"/>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570E542-3B81-49EB-991E-1214420624DF}"/>
              </a:ext>
            </a:extLst>
          </p:cNvPr>
          <p:cNvSpPr>
            <a:spLocks noGrp="1" noChangeArrowheads="1"/>
          </p:cNvSpPr>
          <p:nvPr>
            <p:ph type="sldNum" sz="quarter" idx="5"/>
          </p:nvPr>
        </p:nvSpPr>
        <p:spPr>
          <a:ln/>
        </p:spPr>
        <p:txBody>
          <a:bodyPr/>
          <a:lstStyle/>
          <a:p>
            <a:fld id="{5FF0CC8E-9B2B-42BB-849A-28ED1D63094D}" type="slidenum">
              <a:rPr lang="en-US" altLang="zh-CN"/>
              <a:pPr/>
              <a:t>56</a:t>
            </a:fld>
            <a:endParaRPr lang="en-US" altLang="zh-CN"/>
          </a:p>
        </p:txBody>
      </p:sp>
      <p:sp>
        <p:nvSpPr>
          <p:cNvPr id="558082" name="Rectangle 2">
            <a:extLst>
              <a:ext uri="{FF2B5EF4-FFF2-40B4-BE49-F238E27FC236}">
                <a16:creationId xmlns:a16="http://schemas.microsoft.com/office/drawing/2014/main" id="{9C2A0B34-D275-45BA-9AA4-F51386780A6D}"/>
              </a:ext>
            </a:extLst>
          </p:cNvPr>
          <p:cNvSpPr>
            <a:spLocks noGrp="1" noRot="1" noChangeAspect="1" noChangeArrowheads="1" noTextEdit="1"/>
          </p:cNvSpPr>
          <p:nvPr>
            <p:ph type="sldImg"/>
          </p:nvPr>
        </p:nvSpPr>
        <p:spPr>
          <a:ln/>
        </p:spPr>
      </p:sp>
      <p:sp>
        <p:nvSpPr>
          <p:cNvPr id="558083" name="Rectangle 3">
            <a:extLst>
              <a:ext uri="{FF2B5EF4-FFF2-40B4-BE49-F238E27FC236}">
                <a16:creationId xmlns:a16="http://schemas.microsoft.com/office/drawing/2014/main" id="{C5C0A78F-BF74-4BB6-A69F-C2F9E9648AAF}"/>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787724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F479B3E-1140-48D4-BDA2-B2F9777604DA}"/>
              </a:ext>
            </a:extLst>
          </p:cNvPr>
          <p:cNvSpPr>
            <a:spLocks noGrp="1" noChangeArrowheads="1"/>
          </p:cNvSpPr>
          <p:nvPr>
            <p:ph type="sldNum" sz="quarter" idx="5"/>
          </p:nvPr>
        </p:nvSpPr>
        <p:spPr>
          <a:ln/>
        </p:spPr>
        <p:txBody>
          <a:bodyPr/>
          <a:lstStyle/>
          <a:p>
            <a:fld id="{BD766322-0915-4B2E-85E8-4636792C11BC}" type="slidenum">
              <a:rPr lang="en-US" altLang="zh-CN"/>
              <a:pPr/>
              <a:t>59</a:t>
            </a:fld>
            <a:endParaRPr lang="en-US" altLang="zh-CN"/>
          </a:p>
        </p:txBody>
      </p:sp>
      <p:sp>
        <p:nvSpPr>
          <p:cNvPr id="560130" name="Rectangle 2">
            <a:extLst>
              <a:ext uri="{FF2B5EF4-FFF2-40B4-BE49-F238E27FC236}">
                <a16:creationId xmlns:a16="http://schemas.microsoft.com/office/drawing/2014/main" id="{387FA411-AADC-42B7-BF52-EDADD6BDEC9B}"/>
              </a:ext>
            </a:extLst>
          </p:cNvPr>
          <p:cNvSpPr>
            <a:spLocks noGrp="1" noRot="1" noChangeAspect="1" noChangeArrowheads="1" noTextEdit="1"/>
          </p:cNvSpPr>
          <p:nvPr>
            <p:ph type="sldImg"/>
          </p:nvPr>
        </p:nvSpPr>
        <p:spPr>
          <a:ln/>
        </p:spPr>
      </p:sp>
      <p:sp>
        <p:nvSpPr>
          <p:cNvPr id="560131" name="Rectangle 3">
            <a:extLst>
              <a:ext uri="{FF2B5EF4-FFF2-40B4-BE49-F238E27FC236}">
                <a16:creationId xmlns:a16="http://schemas.microsoft.com/office/drawing/2014/main" id="{C067EFFF-0028-4A5C-90C0-1F549C54DDDC}"/>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DBAE3A7-76FF-41B2-BDF4-DA8F1BFDF58C}"/>
              </a:ext>
            </a:extLst>
          </p:cNvPr>
          <p:cNvSpPr>
            <a:spLocks noGrp="1" noChangeArrowheads="1"/>
          </p:cNvSpPr>
          <p:nvPr>
            <p:ph type="sldNum" sz="quarter" idx="5"/>
          </p:nvPr>
        </p:nvSpPr>
        <p:spPr>
          <a:ln/>
        </p:spPr>
        <p:txBody>
          <a:bodyPr/>
          <a:lstStyle/>
          <a:p>
            <a:fld id="{288F3B2F-3EB0-4DD8-BDF5-8F84A14E1570}" type="slidenum">
              <a:rPr lang="en-US" altLang="zh-CN"/>
              <a:pPr/>
              <a:t>61</a:t>
            </a:fld>
            <a:endParaRPr lang="en-US" altLang="zh-CN"/>
          </a:p>
        </p:txBody>
      </p:sp>
      <p:sp>
        <p:nvSpPr>
          <p:cNvPr id="563202" name="Rectangle 2">
            <a:extLst>
              <a:ext uri="{FF2B5EF4-FFF2-40B4-BE49-F238E27FC236}">
                <a16:creationId xmlns:a16="http://schemas.microsoft.com/office/drawing/2014/main" id="{A331E386-A8BC-4974-A7A0-EBD3EDB73018}"/>
              </a:ext>
            </a:extLst>
          </p:cNvPr>
          <p:cNvSpPr>
            <a:spLocks noGrp="1" noRot="1" noChangeAspect="1" noChangeArrowheads="1" noTextEdit="1"/>
          </p:cNvSpPr>
          <p:nvPr>
            <p:ph type="sldImg"/>
          </p:nvPr>
        </p:nvSpPr>
        <p:spPr>
          <a:ln/>
        </p:spPr>
      </p:sp>
      <p:sp>
        <p:nvSpPr>
          <p:cNvPr id="563203" name="Rectangle 3">
            <a:extLst>
              <a:ext uri="{FF2B5EF4-FFF2-40B4-BE49-F238E27FC236}">
                <a16:creationId xmlns:a16="http://schemas.microsoft.com/office/drawing/2014/main" id="{E2164D93-E2C0-44E5-B1FA-3B98187C08E4}"/>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703786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71CE45E-7213-4ED6-894F-CBB095B95F24}"/>
              </a:ext>
            </a:extLst>
          </p:cNvPr>
          <p:cNvSpPr>
            <a:spLocks noGrp="1" noChangeArrowheads="1"/>
          </p:cNvSpPr>
          <p:nvPr>
            <p:ph type="sldNum" sz="quarter" idx="5"/>
          </p:nvPr>
        </p:nvSpPr>
        <p:spPr>
          <a:ln/>
        </p:spPr>
        <p:txBody>
          <a:bodyPr/>
          <a:lstStyle/>
          <a:p>
            <a:fld id="{13A2E9F7-3441-4410-8406-55FFFCD11A86}" type="slidenum">
              <a:rPr lang="en-US" altLang="zh-CN"/>
              <a:pPr/>
              <a:t>62</a:t>
            </a:fld>
            <a:endParaRPr lang="en-US" altLang="zh-CN"/>
          </a:p>
        </p:txBody>
      </p:sp>
      <p:sp>
        <p:nvSpPr>
          <p:cNvPr id="564226" name="Rectangle 2">
            <a:extLst>
              <a:ext uri="{FF2B5EF4-FFF2-40B4-BE49-F238E27FC236}">
                <a16:creationId xmlns:a16="http://schemas.microsoft.com/office/drawing/2014/main" id="{84BEB90D-7E1C-43C2-A124-2C3541C7A64F}"/>
              </a:ext>
            </a:extLst>
          </p:cNvPr>
          <p:cNvSpPr>
            <a:spLocks noGrp="1" noRot="1" noChangeAspect="1" noChangeArrowheads="1" noTextEdit="1"/>
          </p:cNvSpPr>
          <p:nvPr>
            <p:ph type="sldImg"/>
          </p:nvPr>
        </p:nvSpPr>
        <p:spPr>
          <a:ln/>
        </p:spPr>
      </p:sp>
      <p:sp>
        <p:nvSpPr>
          <p:cNvPr id="564227" name="Rectangle 3">
            <a:extLst>
              <a:ext uri="{FF2B5EF4-FFF2-40B4-BE49-F238E27FC236}">
                <a16:creationId xmlns:a16="http://schemas.microsoft.com/office/drawing/2014/main" id="{547F71E4-8A01-4764-84AC-E84660E68DBA}"/>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646086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2859F6D-1C3E-27FD-38F0-4894F8C40FB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027E310B-8950-FB40-BEE0-86FA5DFA91B1}" type="slidenum">
              <a:rPr lang="zh-CN" altLang="zh-CN" sz="1200">
                <a:ea typeface="宋体" panose="02010600030101010101" pitchFamily="2" charset="-122"/>
              </a:rPr>
              <a:pPr algn="r"/>
              <a:t>66</a:t>
            </a:fld>
            <a:endParaRPr lang="zh-CN" altLang="zh-CN" sz="1200">
              <a:ea typeface="宋体" panose="02010600030101010101" pitchFamily="2" charset="-122"/>
            </a:endParaRPr>
          </a:p>
        </p:txBody>
      </p:sp>
      <p:sp>
        <p:nvSpPr>
          <p:cNvPr id="78851" name="Rectangle 2">
            <a:extLst>
              <a:ext uri="{FF2B5EF4-FFF2-40B4-BE49-F238E27FC236}">
                <a16:creationId xmlns:a16="http://schemas.microsoft.com/office/drawing/2014/main" id="{040E05C3-7135-3175-A419-0F66E7BAC40F}"/>
              </a:ext>
            </a:extLst>
          </p:cNvPr>
          <p:cNvSpPr>
            <a:spLocks noGrp="1" noRot="1" noChangeAspect="1" noChangeArrowheads="1" noTextEdit="1"/>
          </p:cNvSpPr>
          <p:nvPr>
            <p:ph type="sldImg"/>
          </p:nvPr>
        </p:nvSpPr>
        <p:spPr>
          <a:xfrm>
            <a:off x="1146175" y="534988"/>
            <a:ext cx="4568825" cy="3429000"/>
          </a:xfrm>
        </p:spPr>
      </p:sp>
      <p:sp>
        <p:nvSpPr>
          <p:cNvPr id="78852" name="Rectangle 3">
            <a:extLst>
              <a:ext uri="{FF2B5EF4-FFF2-40B4-BE49-F238E27FC236}">
                <a16:creationId xmlns:a16="http://schemas.microsoft.com/office/drawing/2014/main" id="{1C92C6B4-E2C7-03D3-07A3-1300F2A09944}"/>
              </a:ext>
            </a:extLst>
          </p:cNvPr>
          <p:cNvSpPr>
            <a:spLocks noGrp="1" noChangeArrowheads="1"/>
          </p:cNvSpPr>
          <p:nvPr>
            <p:ph type="body" idx="1"/>
          </p:nvPr>
        </p:nvSpPr>
        <p:spPr>
          <a:xfrm>
            <a:off x="685800" y="4248150"/>
            <a:ext cx="5486400" cy="4210050"/>
          </a:xfrm>
        </p:spPr>
        <p:txBody>
          <a:bodyPr lIns="91429" tIns="45714" rIns="91429" bIns="45714" anchor="t"/>
          <a:lstStyle/>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这个四步法是基于第四章中用来分析基本供求模型变化的三步法。</a:t>
            </a:r>
            <a:endParaRPr lang="en-US" altLang="zh-CN" dirty="0">
              <a:ea typeface="宋体" panose="02010600030101010101" pitchFamily="2" charset="-122"/>
            </a:endParaRPr>
          </a:p>
          <a:p>
            <a:r>
              <a:rPr lang="en-US" altLang="zh-CN" dirty="0">
                <a:ea typeface="宋体" panose="02010600030101010101" pitchFamily="2" charset="-122"/>
              </a:rPr>
              <a:t>This four-step approach is based on the three-step approach used in Chapter 4 to analyze changes in the basic supply &amp; demand model.  </a:t>
            </a:r>
          </a:p>
        </p:txBody>
      </p:sp>
    </p:spTree>
    <p:extLst>
      <p:ext uri="{BB962C8B-B14F-4D97-AF65-F5344CB8AC3E}">
        <p14:creationId xmlns:p14="http://schemas.microsoft.com/office/powerpoint/2010/main" val="1280441949"/>
      </p:ext>
    </p:extLst>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A1D249E8-DCF8-6052-9A1F-30AADE5089F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1E329456-8F43-F345-9292-EB9D7BA04BC5}" type="slidenum">
              <a:rPr lang="zh-CN" altLang="zh-CN" sz="1200">
                <a:ea typeface="宋体" panose="02010600030101010101" pitchFamily="2" charset="-122"/>
              </a:rPr>
              <a:pPr algn="r"/>
              <a:t>67</a:t>
            </a:fld>
            <a:endParaRPr lang="zh-CN" altLang="zh-CN" sz="1200">
              <a:ea typeface="宋体" panose="02010600030101010101" pitchFamily="2" charset="-122"/>
            </a:endParaRPr>
          </a:p>
        </p:txBody>
      </p:sp>
      <p:sp>
        <p:nvSpPr>
          <p:cNvPr id="80899" name="Rectangle 2">
            <a:extLst>
              <a:ext uri="{FF2B5EF4-FFF2-40B4-BE49-F238E27FC236}">
                <a16:creationId xmlns:a16="http://schemas.microsoft.com/office/drawing/2014/main" id="{A38B90D8-4335-9F24-A43B-1C23D5D88712}"/>
              </a:ext>
            </a:extLst>
          </p:cNvPr>
          <p:cNvSpPr>
            <a:spLocks noGrp="1" noRot="1" noChangeAspect="1" noChangeArrowheads="1" noTextEdit="1"/>
          </p:cNvSpPr>
          <p:nvPr>
            <p:ph type="sldImg"/>
          </p:nvPr>
        </p:nvSpPr>
        <p:spPr>
          <a:xfrm>
            <a:off x="1146175" y="534988"/>
            <a:ext cx="4568825" cy="3429000"/>
          </a:xfrm>
        </p:spPr>
      </p:sp>
      <p:sp>
        <p:nvSpPr>
          <p:cNvPr id="80900" name="Rectangle 3">
            <a:extLst>
              <a:ext uri="{FF2B5EF4-FFF2-40B4-BE49-F238E27FC236}">
                <a16:creationId xmlns:a16="http://schemas.microsoft.com/office/drawing/2014/main" id="{D84CC865-5167-5CC7-F8E6-125C3EAF9222}"/>
              </a:ext>
            </a:extLst>
          </p:cNvPr>
          <p:cNvSpPr>
            <a:spLocks noGrp="1" noChangeArrowheads="1"/>
          </p:cNvSpPr>
          <p:nvPr>
            <p:ph type="body" idx="1"/>
          </p:nvPr>
        </p:nvSpPr>
        <p:spPr>
          <a:xfrm>
            <a:off x="685800" y="4248150"/>
            <a:ext cx="5486400" cy="4210050"/>
          </a:xfrm>
        </p:spPr>
        <p:txBody>
          <a:bodyPr lIns="91429" tIns="45714" rIns="91429" bIns="45714" anchor="t"/>
          <a:lstStyle/>
          <a:p>
            <a:r>
              <a:rPr lang="en-US" altLang="zh-CN" i="1" dirty="0">
                <a:ea typeface="宋体" panose="02010600030101010101" pitchFamily="2" charset="-122"/>
              </a:rPr>
              <a:t>The results from this exercise apply to any event that shifts AD to the left, whether a stock market crash, recession abroad, wave of pessimism, or other. </a:t>
            </a:r>
            <a:r>
              <a:rPr lang="en-US" altLang="zh-CN" dirty="0">
                <a:ea typeface="宋体" panose="02010600030101010101" pitchFamily="2" charset="-122"/>
              </a:rPr>
              <a:t> </a:t>
            </a:r>
          </a:p>
          <a:p>
            <a:endParaRPr lang="en-US" altLang="zh-CN" dirty="0">
              <a:ea typeface="宋体" panose="02010600030101010101" pitchFamily="2" charset="-122"/>
            </a:endParaRPr>
          </a:p>
          <a:p>
            <a:r>
              <a:rPr lang="en-US" altLang="zh-CN" dirty="0">
                <a:ea typeface="宋体" panose="02010600030101010101" pitchFamily="2" charset="-122"/>
              </a:rPr>
              <a:t>The stock market crash reduces consumers’ wealth, which depresses their spending.  The AD curve shifts to the left.  </a:t>
            </a:r>
          </a:p>
          <a:p>
            <a:endParaRPr lang="en-US" altLang="zh-CN" dirty="0">
              <a:ea typeface="宋体" panose="02010600030101010101" pitchFamily="2" charset="-122"/>
            </a:endParaRPr>
          </a:p>
          <a:p>
            <a:r>
              <a:rPr lang="en-US" altLang="zh-CN" dirty="0">
                <a:ea typeface="宋体" panose="02010600030101010101" pitchFamily="2" charset="-122"/>
              </a:rPr>
              <a:t>The new short-run equilibrium is at point B, where P and Y are lower, and hence unemployment is higher.  (Remember Fact #3 about economic fluctuations:  unemployment and output move in opposite directions.)</a:t>
            </a:r>
          </a:p>
          <a:p>
            <a:endParaRPr lang="en-US" altLang="zh-CN" dirty="0">
              <a:ea typeface="宋体" panose="02010600030101010101" pitchFamily="2" charset="-122"/>
            </a:endParaRPr>
          </a:p>
          <a:p>
            <a:r>
              <a:rPr lang="en-US" altLang="zh-CN" dirty="0">
                <a:ea typeface="宋体" panose="02010600030101010101" pitchFamily="2" charset="-122"/>
              </a:rPr>
              <a:t>At point B, P &lt; P</a:t>
            </a:r>
            <a:r>
              <a:rPr lang="en-US" altLang="zh-CN" baseline="-25000" dirty="0">
                <a:ea typeface="宋体" panose="02010600030101010101" pitchFamily="2" charset="-122"/>
              </a:rPr>
              <a:t>E</a:t>
            </a:r>
            <a:r>
              <a:rPr lang="en-US" altLang="zh-CN" dirty="0">
                <a:ea typeface="宋体" panose="02010600030101010101" pitchFamily="2" charset="-122"/>
              </a:rPr>
              <a:t>.  Over time, P</a:t>
            </a:r>
            <a:r>
              <a:rPr lang="en-US" altLang="zh-CN" baseline="-25000" dirty="0">
                <a:ea typeface="宋体" panose="02010600030101010101" pitchFamily="2" charset="-122"/>
              </a:rPr>
              <a:t>E</a:t>
            </a:r>
            <a:r>
              <a:rPr lang="en-US" altLang="zh-CN" dirty="0">
                <a:ea typeface="宋体" panose="02010600030101010101" pitchFamily="2" charset="-122"/>
              </a:rPr>
              <a:t> falls, wages fall, and sticky prices become flexible and fall.  The SRAS curve moves rightward.  </a:t>
            </a:r>
          </a:p>
          <a:p>
            <a:endParaRPr lang="en-US" altLang="zh-CN" dirty="0">
              <a:ea typeface="宋体" panose="02010600030101010101" pitchFamily="2" charset="-122"/>
            </a:endParaRPr>
          </a:p>
          <a:p>
            <a:r>
              <a:rPr lang="en-US" altLang="zh-CN" dirty="0">
                <a:ea typeface="宋体" panose="02010600030101010101" pitchFamily="2" charset="-122"/>
              </a:rPr>
              <a:t>This process continues until the economy arrives at point C, where GDP and unemployment are back at their natural rates, and  P</a:t>
            </a:r>
            <a:r>
              <a:rPr lang="en-US" altLang="zh-CN" baseline="-25000" dirty="0">
                <a:ea typeface="宋体" panose="02010600030101010101" pitchFamily="2" charset="-122"/>
              </a:rPr>
              <a:t>E</a:t>
            </a:r>
            <a:r>
              <a:rPr lang="en-US" altLang="zh-CN" dirty="0">
                <a:ea typeface="宋体" panose="02010600030101010101" pitchFamily="2" charset="-122"/>
              </a:rPr>
              <a:t> = P once again. </a:t>
            </a:r>
          </a:p>
          <a:p>
            <a:endParaRPr lang="en-US" altLang="zh-CN" dirty="0">
              <a:ea typeface="宋体" panose="02010600030101010101" pitchFamily="2" charset="-122"/>
            </a:endParaRPr>
          </a:p>
          <a:p>
            <a:r>
              <a:rPr lang="en-US" altLang="zh-CN" dirty="0">
                <a:ea typeface="宋体" panose="02010600030101010101" pitchFamily="2" charset="-122"/>
              </a:rPr>
              <a:t>Notice that, in the absence of policy intervention, the economy “self-corrects.”  Of course, this process takes time, and policymakers may not want to wait.  At point B, policymakers could use fiscal or monetary policy to shift aggregate demand to the right and move the economy back to A.  </a:t>
            </a:r>
          </a:p>
        </p:txBody>
      </p:sp>
    </p:spTree>
    <p:extLst>
      <p:ext uri="{BB962C8B-B14F-4D97-AF65-F5344CB8AC3E}">
        <p14:creationId xmlns:p14="http://schemas.microsoft.com/office/powerpoint/2010/main" val="3752982957"/>
      </p:ext>
    </p:extLst>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E572EA87-7F80-5E7F-9DF8-F63CDE5853A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35E5175D-1A16-CE4F-824E-1DB9FF1F4E43}" type="slidenum">
              <a:rPr lang="zh-CN" altLang="zh-CN" sz="1200">
                <a:ea typeface="宋体" panose="02010600030101010101" pitchFamily="2" charset="-122"/>
              </a:rPr>
              <a:pPr algn="r"/>
              <a:t>68</a:t>
            </a:fld>
            <a:endParaRPr lang="zh-CN" altLang="zh-CN" sz="1200">
              <a:ea typeface="宋体" panose="02010600030101010101" pitchFamily="2" charset="-122"/>
            </a:endParaRPr>
          </a:p>
        </p:txBody>
      </p:sp>
      <p:sp>
        <p:nvSpPr>
          <p:cNvPr id="82947" name="Rectangle 2">
            <a:extLst>
              <a:ext uri="{FF2B5EF4-FFF2-40B4-BE49-F238E27FC236}">
                <a16:creationId xmlns:a16="http://schemas.microsoft.com/office/drawing/2014/main" id="{7E991888-08F3-D01F-B770-DCF2C70E8695}"/>
              </a:ext>
            </a:extLst>
          </p:cNvPr>
          <p:cNvSpPr>
            <a:spLocks noGrp="1" noRot="1" noChangeAspect="1" noChangeArrowheads="1" noTextEdit="1"/>
          </p:cNvSpPr>
          <p:nvPr>
            <p:ph type="sldImg"/>
          </p:nvPr>
        </p:nvSpPr>
        <p:spPr>
          <a:xfrm>
            <a:off x="1146175" y="534988"/>
            <a:ext cx="4568825" cy="3429000"/>
          </a:xfrm>
        </p:spPr>
      </p:sp>
      <p:sp>
        <p:nvSpPr>
          <p:cNvPr id="82948" name="Rectangle 3">
            <a:extLst>
              <a:ext uri="{FF2B5EF4-FFF2-40B4-BE49-F238E27FC236}">
                <a16:creationId xmlns:a16="http://schemas.microsoft.com/office/drawing/2014/main" id="{ED4BE31B-73E8-9E28-6B79-E71E25FE392B}"/>
              </a:ext>
            </a:extLst>
          </p:cNvPr>
          <p:cNvSpPr>
            <a:spLocks noGrp="1" noChangeArrowheads="1"/>
          </p:cNvSpPr>
          <p:nvPr>
            <p:ph type="body" idx="1"/>
          </p:nvPr>
        </p:nvSpPr>
        <p:spPr>
          <a:xfrm>
            <a:off x="685800" y="4248150"/>
            <a:ext cx="5486400" cy="4210050"/>
          </a:xfrm>
        </p:spPr>
        <p:txBody>
          <a:bodyPr lIns="91429" tIns="45714" rIns="91429" bIns="45714" anchor="t"/>
          <a:lstStyle/>
          <a:p>
            <a:r>
              <a:rPr lang="en-US" altLang="zh-CN">
                <a:ea typeface="宋体" panose="02010600030101010101" pitchFamily="2" charset="-122"/>
              </a:rPr>
              <a:t>Two possible causes of the Great Depression:  the fall in the money supply, and the stock market crash.  Either would shift the AD curve left, causing P and Y to fall and causing unemployment to rise.  </a:t>
            </a:r>
          </a:p>
          <a:p>
            <a:endParaRPr lang="en-US" altLang="zh-CN">
              <a:ea typeface="宋体" panose="02010600030101010101" pitchFamily="2" charset="-122"/>
            </a:endParaRPr>
          </a:p>
          <a:p>
            <a:r>
              <a:rPr lang="en-US" altLang="zh-CN">
                <a:ea typeface="宋体" panose="02010600030101010101" pitchFamily="2" charset="-122"/>
              </a:rPr>
              <a:t>Data source:  Bureau of Economic Analysis, U.S. Department of Commerce</a:t>
            </a:r>
          </a:p>
          <a:p>
            <a:r>
              <a:rPr lang="en-US" altLang="zh-CN">
                <a:ea typeface="宋体" panose="02010600030101010101" pitchFamily="2" charset="-122"/>
              </a:rPr>
              <a:t>http://www.bea.doc.gov/bea/dn/home/gdp.htm</a:t>
            </a:r>
          </a:p>
          <a:p>
            <a:endParaRPr lang="zh-CN" altLang="en-US">
              <a:ea typeface="宋体" panose="02010600030101010101" pitchFamily="2" charset="-122"/>
            </a:endParaRPr>
          </a:p>
        </p:txBody>
      </p:sp>
    </p:spTree>
    <p:extLst>
      <p:ext uri="{BB962C8B-B14F-4D97-AF65-F5344CB8AC3E}">
        <p14:creationId xmlns:p14="http://schemas.microsoft.com/office/powerpoint/2010/main" val="1399259258"/>
      </p:ext>
    </p:extLst>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EB98034E-55CE-4B6C-A7FB-DED40B5A4EF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3520B5B5-A1BE-C343-BECF-358FC722AEA4}" type="slidenum">
              <a:rPr lang="zh-CN" altLang="zh-CN" sz="1200">
                <a:ea typeface="宋体" panose="02010600030101010101" pitchFamily="2" charset="-122"/>
              </a:rPr>
              <a:pPr algn="r"/>
              <a:t>69</a:t>
            </a:fld>
            <a:endParaRPr lang="zh-CN" altLang="zh-CN" sz="1200">
              <a:ea typeface="宋体" panose="02010600030101010101" pitchFamily="2" charset="-122"/>
            </a:endParaRPr>
          </a:p>
        </p:txBody>
      </p:sp>
      <p:sp>
        <p:nvSpPr>
          <p:cNvPr id="84995" name="Rectangle 2">
            <a:extLst>
              <a:ext uri="{FF2B5EF4-FFF2-40B4-BE49-F238E27FC236}">
                <a16:creationId xmlns:a16="http://schemas.microsoft.com/office/drawing/2014/main" id="{61BB9B99-3C0A-E9EB-2D76-E744D27BB08E}"/>
              </a:ext>
            </a:extLst>
          </p:cNvPr>
          <p:cNvSpPr>
            <a:spLocks noGrp="1" noRot="1" noChangeAspect="1" noChangeArrowheads="1" noTextEdit="1"/>
          </p:cNvSpPr>
          <p:nvPr>
            <p:ph type="sldImg"/>
          </p:nvPr>
        </p:nvSpPr>
        <p:spPr>
          <a:xfrm>
            <a:off x="1146175" y="534988"/>
            <a:ext cx="4568825" cy="3429000"/>
          </a:xfrm>
        </p:spPr>
      </p:sp>
      <p:sp>
        <p:nvSpPr>
          <p:cNvPr id="84996" name="Rectangle 3">
            <a:extLst>
              <a:ext uri="{FF2B5EF4-FFF2-40B4-BE49-F238E27FC236}">
                <a16:creationId xmlns:a16="http://schemas.microsoft.com/office/drawing/2014/main" id="{A1EB8051-961F-1098-58EF-D4B2AC5B347D}"/>
              </a:ext>
            </a:extLst>
          </p:cNvPr>
          <p:cNvSpPr>
            <a:spLocks noGrp="1" noChangeArrowheads="1"/>
          </p:cNvSpPr>
          <p:nvPr>
            <p:ph type="body" idx="1"/>
          </p:nvPr>
        </p:nvSpPr>
        <p:spPr>
          <a:xfrm>
            <a:off x="685800" y="4248150"/>
            <a:ext cx="5486400" cy="4210050"/>
          </a:xfrm>
        </p:spPr>
        <p:txBody>
          <a:bodyPr lIns="91429" tIns="45714" rIns="91429" bIns="45714" anchor="t"/>
          <a:lstStyle/>
          <a:p>
            <a:r>
              <a:rPr lang="en-US" altLang="zh-CN">
                <a:ea typeface="宋体" panose="02010600030101010101" pitchFamily="2" charset="-122"/>
              </a:rPr>
              <a:t>This boom was clearly caused by a surge in govt spending.  Our model predicts an increase in G would shift AD to the right, increasing P and Y, and reducing unemployment.  These predictions are consistent with the data.  </a:t>
            </a:r>
          </a:p>
          <a:p>
            <a:endParaRPr lang="en-US" altLang="zh-CN">
              <a:ea typeface="宋体" panose="02010600030101010101" pitchFamily="2" charset="-122"/>
            </a:endParaRPr>
          </a:p>
          <a:p>
            <a:r>
              <a:rPr lang="en-US" altLang="zh-CN">
                <a:ea typeface="宋体" panose="02010600030101010101" pitchFamily="2" charset="-122"/>
              </a:rPr>
              <a:t>Source for GDP data:  Bureau of Economic Analysis, U.S. Department of Commerce</a:t>
            </a:r>
          </a:p>
          <a:p>
            <a:r>
              <a:rPr lang="en-US" altLang="zh-CN">
                <a:ea typeface="宋体" panose="02010600030101010101" pitchFamily="2" charset="-122"/>
              </a:rPr>
              <a:t>http://www.bea.doc.gov/bea/dn/home/gdp.htm</a:t>
            </a:r>
          </a:p>
          <a:p>
            <a:endParaRPr lang="en-US" altLang="zh-CN">
              <a:ea typeface="宋体" panose="02010600030101010101" pitchFamily="2" charset="-122"/>
            </a:endParaRPr>
          </a:p>
          <a:p>
            <a:r>
              <a:rPr lang="en-US" altLang="zh-CN">
                <a:ea typeface="宋体" panose="02010600030101010101" pitchFamily="2" charset="-122"/>
              </a:rPr>
              <a:t>Source for data on government outlays:  Economic Report of the President, 2005 edition, Table B-78.  http://www.gpoaccess.gov/eop/</a:t>
            </a:r>
          </a:p>
        </p:txBody>
      </p:sp>
    </p:spTree>
    <p:extLst>
      <p:ext uri="{BB962C8B-B14F-4D97-AF65-F5344CB8AC3E}">
        <p14:creationId xmlns:p14="http://schemas.microsoft.com/office/powerpoint/2010/main" val="3331632108"/>
      </p:ext>
    </p:extLst>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02FA4D54-E2B3-1C96-BAC4-15DEB3C73BAC}"/>
              </a:ext>
            </a:extLst>
          </p:cNvPr>
          <p:cNvSpPr>
            <a:spLocks noGrp="1" noRot="1" noChangeAspect="1" noChangeArrowheads="1" noTextEdit="1"/>
          </p:cNvSpPr>
          <p:nvPr>
            <p:ph type="sldImg"/>
          </p:nvPr>
        </p:nvSpPr>
        <p:spPr/>
      </p:sp>
      <p:sp>
        <p:nvSpPr>
          <p:cNvPr id="88067" name="Rectangle 3">
            <a:extLst>
              <a:ext uri="{FF2B5EF4-FFF2-40B4-BE49-F238E27FC236}">
                <a16:creationId xmlns:a16="http://schemas.microsoft.com/office/drawing/2014/main" id="{2EC0B334-D422-7DA0-0815-C29C05DC7475}"/>
              </a:ext>
            </a:extLst>
          </p:cNvPr>
          <p:cNvSpPr>
            <a:spLocks noGrp="1" noRot="1" noChangeArrowheads="1"/>
          </p:cNvSpPr>
          <p:nvPr>
            <p:ph type="body" idx="1"/>
          </p:nvPr>
        </p:nvSpPr>
        <p:spPr/>
        <p:txBody>
          <a:bodyPr/>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加拿大的经济繁荣增加了加拿大消费者的收入。反过来，他们的支出也会增加。他们的部分支出是购买美国产品，因此他们的支出增加导致美国出口增加。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这使得美国的</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AD</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曲线向右平移。新的短期均衡在点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B</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这里</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Y</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更高，因此失业率更低。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B</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US" altLang="zh-CN" dirty="0">
                <a:ea typeface="宋体" panose="02010600030101010101" pitchFamily="2" charset="-122"/>
              </a:rPr>
              <a:t> P &gt; P</a:t>
            </a:r>
            <a:r>
              <a:rPr lang="en-US" altLang="zh-CN" baseline="-25000" dirty="0">
                <a:ea typeface="宋体" panose="02010600030101010101" pitchFamily="2" charset="-122"/>
              </a:rPr>
              <a:t>E</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。随着时间的推移，</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PE</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上升，工资上涨，粘性价格变得灵活和上涨。</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曲线向左移动。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这个过程一直持续到经济到达</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C</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和失业率回到自然水平，对</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的预期赶上了现实。</a:t>
            </a:r>
          </a:p>
          <a:p>
            <a:endParaRPr lang="en-US" altLang="zh-CN" dirty="0">
              <a:ea typeface="宋体" panose="02010600030101010101" pitchFamily="2" charset="-122"/>
            </a:endParaRPr>
          </a:p>
          <a:p>
            <a:r>
              <a:rPr lang="en-US" altLang="zh-CN" dirty="0">
                <a:ea typeface="宋体" panose="02010600030101010101" pitchFamily="2" charset="-122"/>
              </a:rPr>
              <a:t>The boom in Canada increases the incomes of Canadian consumers.  In turn, their spending rises.  Some of their spending is on products from the U.S., so their spending increase causes U.S. exports to rise.  </a:t>
            </a:r>
          </a:p>
          <a:p>
            <a:endParaRPr lang="en-US" altLang="zh-CN" dirty="0">
              <a:ea typeface="宋体" panose="02010600030101010101" pitchFamily="2" charset="-122"/>
            </a:endParaRPr>
          </a:p>
          <a:p>
            <a:r>
              <a:rPr lang="en-US" altLang="zh-CN" dirty="0">
                <a:ea typeface="宋体" panose="02010600030101010101" pitchFamily="2" charset="-122"/>
              </a:rPr>
              <a:t>This shifts the U.S. AD curve to the right.  The new short-run equilibrium is at point B, where P and Y are higher, and hence unemployment is lower.  </a:t>
            </a:r>
          </a:p>
          <a:p>
            <a:endParaRPr lang="en-US" altLang="zh-CN" dirty="0">
              <a:ea typeface="宋体" panose="02010600030101010101" pitchFamily="2" charset="-122"/>
            </a:endParaRPr>
          </a:p>
          <a:p>
            <a:r>
              <a:rPr lang="en-US" altLang="zh-CN" dirty="0">
                <a:ea typeface="宋体" panose="02010600030101010101" pitchFamily="2" charset="-122"/>
              </a:rPr>
              <a:t>At B, P &gt; P</a:t>
            </a:r>
            <a:r>
              <a:rPr lang="en-US" altLang="zh-CN" baseline="-25000" dirty="0">
                <a:ea typeface="宋体" panose="02010600030101010101" pitchFamily="2" charset="-122"/>
              </a:rPr>
              <a:t>E</a:t>
            </a:r>
            <a:r>
              <a:rPr lang="en-US" altLang="zh-CN" dirty="0">
                <a:ea typeface="宋体" panose="02010600030101010101" pitchFamily="2" charset="-122"/>
              </a:rPr>
              <a:t>.  Over time, P</a:t>
            </a:r>
            <a:r>
              <a:rPr lang="en-US" altLang="zh-CN" baseline="-25000" dirty="0">
                <a:ea typeface="宋体" panose="02010600030101010101" pitchFamily="2" charset="-122"/>
              </a:rPr>
              <a:t>E</a:t>
            </a:r>
            <a:r>
              <a:rPr lang="en-US" altLang="zh-CN" dirty="0">
                <a:ea typeface="宋体" panose="02010600030101010101" pitchFamily="2" charset="-122"/>
              </a:rPr>
              <a:t> rises, wages rise, and sticky prices become flexible and rise.  The SRAS curve moves leftward.  </a:t>
            </a:r>
          </a:p>
          <a:p>
            <a:endParaRPr lang="en-US" altLang="zh-CN" dirty="0">
              <a:ea typeface="宋体" panose="02010600030101010101" pitchFamily="2" charset="-122"/>
            </a:endParaRPr>
          </a:p>
          <a:p>
            <a:r>
              <a:rPr lang="en-US" altLang="zh-CN" dirty="0">
                <a:ea typeface="宋体" panose="02010600030101010101" pitchFamily="2" charset="-122"/>
              </a:rPr>
              <a:t>This process continues until the economy arrives at point C, where GDP and unemployment are back at their natural rates and expectations about P have caught up to reality.</a:t>
            </a:r>
          </a:p>
        </p:txBody>
      </p:sp>
    </p:spTree>
    <p:extLst>
      <p:ext uri="{BB962C8B-B14F-4D97-AF65-F5344CB8AC3E}">
        <p14:creationId xmlns:p14="http://schemas.microsoft.com/office/powerpoint/2010/main" val="1929229832"/>
      </p:ext>
    </p:extLst>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BAC05423-13AC-C786-0C00-450C1A158F6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ADFBB4F1-63C8-1247-8DF2-B93FB5B45203}" type="slidenum">
              <a:rPr lang="zh-CN" altLang="zh-CN" sz="1200">
                <a:ea typeface="宋体" panose="02010600030101010101" pitchFamily="2" charset="-122"/>
              </a:rPr>
              <a:pPr algn="r"/>
              <a:t>74</a:t>
            </a:fld>
            <a:endParaRPr lang="zh-CN" altLang="zh-CN" sz="1200">
              <a:ea typeface="宋体" panose="02010600030101010101" pitchFamily="2" charset="-122"/>
            </a:endParaRPr>
          </a:p>
        </p:txBody>
      </p:sp>
      <p:sp>
        <p:nvSpPr>
          <p:cNvPr id="90115" name="Rectangle 2">
            <a:extLst>
              <a:ext uri="{FF2B5EF4-FFF2-40B4-BE49-F238E27FC236}">
                <a16:creationId xmlns:a16="http://schemas.microsoft.com/office/drawing/2014/main" id="{31A0D506-3F21-0669-6558-36D1CABF64C2}"/>
              </a:ext>
            </a:extLst>
          </p:cNvPr>
          <p:cNvSpPr>
            <a:spLocks noGrp="1" noRot="1" noChangeAspect="1" noChangeArrowheads="1" noTextEdit="1"/>
          </p:cNvSpPr>
          <p:nvPr>
            <p:ph type="sldImg"/>
          </p:nvPr>
        </p:nvSpPr>
        <p:spPr>
          <a:xfrm>
            <a:off x="1146175" y="534988"/>
            <a:ext cx="4568825" cy="3429000"/>
          </a:xfrm>
        </p:spPr>
      </p:sp>
      <p:sp>
        <p:nvSpPr>
          <p:cNvPr id="90116" name="Rectangle 3">
            <a:extLst>
              <a:ext uri="{FF2B5EF4-FFF2-40B4-BE49-F238E27FC236}">
                <a16:creationId xmlns:a16="http://schemas.microsoft.com/office/drawing/2014/main" id="{0CEDEB39-CFB3-2BA9-563A-10E78ECA87F1}"/>
              </a:ext>
            </a:extLst>
          </p:cNvPr>
          <p:cNvSpPr>
            <a:spLocks noGrp="1" noChangeArrowheads="1"/>
          </p:cNvSpPr>
          <p:nvPr>
            <p:ph type="body" idx="1"/>
          </p:nvPr>
        </p:nvSpPr>
        <p:spPr>
          <a:xfrm>
            <a:off x="685800" y="4248150"/>
            <a:ext cx="5486400" cy="4210050"/>
          </a:xfrm>
        </p:spPr>
        <p:txBody>
          <a:bodyPr lIns="91429" tIns="45714" rIns="91429" bIns="45714" anchor="t"/>
          <a:lstStyle/>
          <a:p>
            <a:r>
              <a:rPr lang="zh-CN" altLang="en-US" b="0" i="0" u="none" strike="noStrike" dirty="0">
                <a:solidFill>
                  <a:srgbClr val="101214"/>
                </a:solidFill>
                <a:effectLst/>
                <a:latin typeface="PingFang SC" panose="020B0400000000000000" pitchFamily="34" charset="-122"/>
                <a:ea typeface="PingFang SC" panose="020B0400000000000000" pitchFamily="34" charset="-122"/>
              </a:rPr>
              <a:t>油价上涨也可能影响</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LRAS</a:t>
            </a:r>
            <a:r>
              <a:rPr lang="zh-CN" altLang="e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为了简单起见，并与教科书一致，我们假设它只影响</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曲线。</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zh-CN" dirty="0">
                <a:ea typeface="宋体" panose="02010600030101010101" pitchFamily="2" charset="-122"/>
              </a:rPr>
              <a:t>An increase in oil prices might also affect LRAS.  For simplicity, and to be consistent with the textbook, we assume it only affects the SRAS curve.  </a:t>
            </a:r>
          </a:p>
          <a:p>
            <a:endParaRPr lang="zh-CN" altLang="zh-CN" dirty="0">
              <a:ea typeface="宋体" panose="02010600030101010101" pitchFamily="2" charset="-122"/>
            </a:endParaRPr>
          </a:p>
          <a:p>
            <a:endParaRPr lang="zh-CN" altLang="zh-CN" dirty="0">
              <a:ea typeface="宋体" panose="02010600030101010101" pitchFamily="2" charset="-122"/>
            </a:endParaRPr>
          </a:p>
        </p:txBody>
      </p:sp>
    </p:spTree>
    <p:extLst>
      <p:ext uri="{BB962C8B-B14F-4D97-AF65-F5344CB8AC3E}">
        <p14:creationId xmlns:p14="http://schemas.microsoft.com/office/powerpoint/2010/main" val="2223247038"/>
      </p:ext>
    </p:extLst>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第四步考虑从短期均衡转向长期均衡。根据粘性工资理论，关键问题时滞胀如何影响名义工资。</a:t>
            </a:r>
            <a:endParaRPr kumimoji="1" lang="en-US" altLang="zh-CN" dirty="0"/>
          </a:p>
          <a:p>
            <a:r>
              <a:rPr kumimoji="1" lang="zh-CN" altLang="en-US" dirty="0"/>
              <a:t>企业和工人最初对高物价水平的反应是提高对物价水平的预期，并确定更高的名义工资，但这种情况下，企业成本还会进一步上升，而且短期总供给曲线还会进一步向左移动，使滞胀问题加剧。</a:t>
            </a:r>
            <a:endParaRPr kumimoji="1" lang="en-US" altLang="zh-CN" dirty="0"/>
          </a:p>
          <a:p>
            <a:r>
              <a:rPr kumimoji="1" lang="zh-CN" altLang="en-US" dirty="0"/>
              <a:t>物价上升引起工资上升，更高的工资又引起更高的物价，这一现象也称为工资</a:t>
            </a:r>
            <a:r>
              <a:rPr kumimoji="1" lang="en-US" altLang="zh-CN" dirty="0"/>
              <a:t>——</a:t>
            </a:r>
            <a:r>
              <a:rPr kumimoji="1" lang="zh-CN" altLang="en-US" dirty="0"/>
              <a:t>物价螺旋式上升。</a:t>
            </a:r>
            <a:endParaRPr kumimoji="1" lang="en-US" altLang="zh-CN" dirty="0"/>
          </a:p>
          <a:p>
            <a:r>
              <a:rPr kumimoji="1" lang="zh-CN" altLang="en-US" dirty="0"/>
              <a:t>在某一点时，这种工资物价螺旋式上升会放慢。低产量与低就业水平将压低工人的工资，因为当失业率较高的时候工人的议价能力下降了。</a:t>
            </a:r>
            <a:endParaRPr kumimoji="1" lang="en-US" altLang="zh-CN" dirty="0"/>
          </a:p>
          <a:p>
            <a:r>
              <a:rPr kumimoji="1" lang="zh-CN" altLang="en-US" dirty="0"/>
              <a:t>当名义工资下降时，生产物品和服务变得有利可图了，短期总供给曲线向右移动。</a:t>
            </a:r>
            <a:endParaRPr kumimoji="1" lang="en-US" altLang="zh-CN"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75</a:t>
            </a:fld>
            <a:endParaRPr kumimoji="1" lang="zh-CN" altLang="en-US"/>
          </a:p>
        </p:txBody>
      </p:sp>
    </p:spTree>
    <p:extLst>
      <p:ext uri="{BB962C8B-B14F-4D97-AF65-F5344CB8AC3E}">
        <p14:creationId xmlns:p14="http://schemas.microsoft.com/office/powerpoint/2010/main" val="5735154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抵消性政策为了维持较高的产量和就业水平而接受了持久的高物价水平。</a:t>
            </a:r>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76</a:t>
            </a:fld>
            <a:endParaRPr kumimoji="1" lang="zh-CN" altLang="en-US"/>
          </a:p>
        </p:txBody>
      </p:sp>
    </p:spTree>
    <p:extLst>
      <p:ext uri="{BB962C8B-B14F-4D97-AF65-F5344CB8AC3E}">
        <p14:creationId xmlns:p14="http://schemas.microsoft.com/office/powerpoint/2010/main" val="167169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BF10AE53-CFEA-8CE4-EAE4-64D9D914BF5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657CCA0D-E272-1848-980D-5106D6AD488D}" type="slidenum">
              <a:rPr lang="zh-CN" altLang="zh-CN" sz="1200">
                <a:ea typeface="宋体" panose="02010600030101010101" pitchFamily="2" charset="-122"/>
              </a:rPr>
              <a:pPr algn="r"/>
              <a:t>77</a:t>
            </a:fld>
            <a:endParaRPr lang="zh-CN" altLang="zh-CN" sz="1200">
              <a:ea typeface="宋体" panose="02010600030101010101" pitchFamily="2" charset="-122"/>
            </a:endParaRPr>
          </a:p>
        </p:txBody>
      </p:sp>
      <p:sp>
        <p:nvSpPr>
          <p:cNvPr id="93187" name="Rectangle 2">
            <a:extLst>
              <a:ext uri="{FF2B5EF4-FFF2-40B4-BE49-F238E27FC236}">
                <a16:creationId xmlns:a16="http://schemas.microsoft.com/office/drawing/2014/main" id="{398D59F1-1E59-40F5-7DB1-B4418E07A089}"/>
              </a:ext>
            </a:extLst>
          </p:cNvPr>
          <p:cNvSpPr>
            <a:spLocks noGrp="1" noRot="1" noChangeAspect="1" noChangeArrowheads="1" noTextEdit="1"/>
          </p:cNvSpPr>
          <p:nvPr>
            <p:ph type="sldImg"/>
          </p:nvPr>
        </p:nvSpPr>
        <p:spPr>
          <a:xfrm>
            <a:off x="1146175" y="534988"/>
            <a:ext cx="4568825" cy="3429000"/>
          </a:xfrm>
        </p:spPr>
      </p:sp>
      <p:sp>
        <p:nvSpPr>
          <p:cNvPr id="93188" name="Rectangle 3">
            <a:extLst>
              <a:ext uri="{FF2B5EF4-FFF2-40B4-BE49-F238E27FC236}">
                <a16:creationId xmlns:a16="http://schemas.microsoft.com/office/drawing/2014/main" id="{ECE4144E-5A70-25F9-4820-76E3A7826DC1}"/>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第一次石油危机发生在</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1973</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年至</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1975</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石油价格在短短两年内翻了一番多，导致</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向左倾斜。正如我们的模型所预测的那样，价格水平上升，</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下降，失业率上升。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从</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1975</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年到</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1978</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年，石油价格的涨幅低于通货膨胀率，失业人数减少了</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170</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万，实际</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增长了</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16%</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。经济在自我修正。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但就在情况好转的时候，第二次石油危机来了。石油价格翻了一番，部分原因是</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1979</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年伊朗的革命。同样，正如我们的模型所预测的那样，</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SRAS</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向左移动，通货膨胀上升，失业率上升。该表显示，在此期间，实际</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增长了</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2.9%——</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但请记住，这不是年度增长率，而是整个时期的</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2.9%</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，这大大低于每年</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3%</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的长期平均增长率。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数据来源</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en" altLang="zh-CN" b="0" i="0" u="none" strike="noStrike" dirty="0">
                <a:solidFill>
                  <a:srgbClr val="101214"/>
                </a:solidFill>
                <a:effectLst/>
                <a:latin typeface="PingFang SC" panose="020B0400000000000000" pitchFamily="34" charset="-122"/>
                <a:ea typeface="PingFang SC" panose="020B0400000000000000" pitchFamily="34" charset="-122"/>
              </a:rPr>
              <a:t>CPI</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和失业率</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劳工统计局，</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http://</a:t>
            </a:r>
            <a:r>
              <a:rPr lang="en" altLang="zh-CN" b="0" i="0" u="none" strike="noStrike" dirty="0" err="1">
                <a:solidFill>
                  <a:srgbClr val="101214"/>
                </a:solidFill>
                <a:effectLst/>
                <a:latin typeface="PingFang SC" panose="020B0400000000000000" pitchFamily="34" charset="-122"/>
                <a:ea typeface="PingFang SC" panose="020B0400000000000000" pitchFamily="34" charset="-122"/>
              </a:rPr>
              <a:t>www.bls.gov</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 </a:t>
            </a:r>
          </a:p>
          <a:p>
            <a:pPr algn="l"/>
            <a:r>
              <a:rPr lang="en" altLang="zh-CN" b="0" i="0" u="none" strike="noStrike" dirty="0">
                <a:solidFill>
                  <a:srgbClr val="101214"/>
                </a:solidFill>
                <a:effectLst/>
                <a:latin typeface="PingFang SC" panose="020B0400000000000000" pitchFamily="34" charset="-122"/>
                <a:ea typeface="PingFang SC" panose="020B0400000000000000" pitchFamily="34" charset="-122"/>
              </a:rPr>
              <a:t>GDP</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和石油价格</a:t>
            </a:r>
            <a:r>
              <a:rPr lang="en-US" altLang="zh-CN" b="0" i="0" u="none" strike="noStrike" dirty="0">
                <a:solidFill>
                  <a:srgbClr val="101214"/>
                </a:solidFill>
                <a:effectLst/>
                <a:latin typeface="PingFang SC" panose="020B0400000000000000" pitchFamily="34" charset="-122"/>
                <a:ea typeface="PingFang SC" panose="020B0400000000000000" pitchFamily="34" charset="-122"/>
              </a:rPr>
              <a:t>:</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FRED</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数据库，圣路易斯联邦储备银行，</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http://</a:t>
            </a:r>
            <a:r>
              <a:rPr lang="en" altLang="zh-CN" b="0" i="0" u="none" strike="noStrike" dirty="0" err="1">
                <a:solidFill>
                  <a:srgbClr val="101214"/>
                </a:solidFill>
                <a:effectLst/>
                <a:latin typeface="PingFang SC" panose="020B0400000000000000" pitchFamily="34" charset="-122"/>
                <a:ea typeface="PingFang SC" panose="020B0400000000000000" pitchFamily="34" charset="-122"/>
              </a:rPr>
              <a:t>research.stlouisfed.org</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/fred2/</a:t>
            </a:r>
          </a:p>
          <a:p>
            <a:endParaRPr lang="en-US" altLang="zh-CN" dirty="0">
              <a:ea typeface="宋体" panose="02010600030101010101" pitchFamily="2" charset="-122"/>
            </a:endParaRPr>
          </a:p>
          <a:p>
            <a:r>
              <a:rPr lang="en-US" altLang="zh-CN" dirty="0">
                <a:ea typeface="宋体" panose="02010600030101010101" pitchFamily="2" charset="-122"/>
              </a:rPr>
              <a:t>The first oil shock:  1973-75</a:t>
            </a:r>
          </a:p>
          <a:p>
            <a:r>
              <a:rPr lang="en-US" altLang="zh-CN" dirty="0">
                <a:ea typeface="宋体" panose="02010600030101010101" pitchFamily="2" charset="-122"/>
              </a:rPr>
              <a:t>Oil prices more than doubled in just two years, causing SRAS to shift leftward.  As our model predicts, the price level rose, GDP fell, and unemployment rose.  </a:t>
            </a:r>
          </a:p>
          <a:p>
            <a:endParaRPr lang="en-US" altLang="zh-CN" dirty="0">
              <a:ea typeface="宋体" panose="02010600030101010101" pitchFamily="2" charset="-122"/>
            </a:endParaRPr>
          </a:p>
          <a:p>
            <a:r>
              <a:rPr lang="en-US" altLang="zh-CN" dirty="0">
                <a:ea typeface="宋体" panose="02010600030101010101" pitchFamily="2" charset="-122"/>
              </a:rPr>
              <a:t>From 1975 to 1978, oil prices rose at less than the rate of inflation, the number of unemployed persons fell by 1.7 million, and real GDP grew by 16%.  The economy was self-correcting.  </a:t>
            </a:r>
          </a:p>
          <a:p>
            <a:endParaRPr lang="en-US" altLang="zh-CN" dirty="0">
              <a:ea typeface="宋体" panose="02010600030101010101" pitchFamily="2" charset="-122"/>
            </a:endParaRPr>
          </a:p>
          <a:p>
            <a:r>
              <a:rPr lang="en-US" altLang="zh-CN" dirty="0">
                <a:ea typeface="宋体" panose="02010600030101010101" pitchFamily="2" charset="-122"/>
              </a:rPr>
              <a:t>But just when things were getting better, the second oil shock hit.  Oil prices doubled, due in part to a revolution in Iran in 1979.  Again, as our model predicts, SRAS shifted left, inflation rose, and unemployment increased.  The table shows that real GDP rose 2.9% during this period – but remember, this is not an annual rate, it is 2.9% for the entire period, which is substantially below the long-run average growth rate of about 3% per year.  </a:t>
            </a:r>
          </a:p>
          <a:p>
            <a:endParaRPr lang="en-US" altLang="zh-CN" dirty="0">
              <a:ea typeface="宋体" panose="02010600030101010101" pitchFamily="2" charset="-122"/>
            </a:endParaRPr>
          </a:p>
          <a:p>
            <a:r>
              <a:rPr lang="en-US" altLang="zh-CN" dirty="0">
                <a:ea typeface="宋体" panose="02010600030101010101" pitchFamily="2" charset="-122"/>
              </a:rPr>
              <a:t>Data sources:</a:t>
            </a:r>
          </a:p>
          <a:p>
            <a:endParaRPr lang="en-US" altLang="zh-CN" dirty="0">
              <a:ea typeface="宋体" panose="02010600030101010101" pitchFamily="2" charset="-122"/>
            </a:endParaRPr>
          </a:p>
          <a:p>
            <a:r>
              <a:rPr lang="en-US" altLang="zh-CN" dirty="0">
                <a:ea typeface="宋体" panose="02010600030101010101" pitchFamily="2" charset="-122"/>
              </a:rPr>
              <a:t>CPI and unemployment:  Bureau of Labor Statistics, http://</a:t>
            </a:r>
            <a:r>
              <a:rPr lang="en-US" altLang="zh-CN" dirty="0" err="1">
                <a:ea typeface="宋体" panose="02010600030101010101" pitchFamily="2" charset="-122"/>
              </a:rPr>
              <a:t>www.bls.gov</a:t>
            </a:r>
            <a:endParaRPr lang="en-US" altLang="zh-CN" dirty="0">
              <a:ea typeface="宋体" panose="02010600030101010101" pitchFamily="2" charset="-122"/>
            </a:endParaRPr>
          </a:p>
          <a:p>
            <a:endParaRPr lang="en-US" altLang="zh-CN" dirty="0">
              <a:ea typeface="宋体" panose="02010600030101010101" pitchFamily="2" charset="-122"/>
            </a:endParaRPr>
          </a:p>
          <a:p>
            <a:r>
              <a:rPr lang="en-US" altLang="zh-CN" dirty="0">
                <a:ea typeface="宋体" panose="02010600030101010101" pitchFamily="2" charset="-122"/>
              </a:rPr>
              <a:t>GDP and oil prices:  FRED database, Federal Reserve Bank of St Louis, http://</a:t>
            </a:r>
            <a:r>
              <a:rPr lang="en-US" altLang="zh-CN" dirty="0" err="1">
                <a:ea typeface="宋体" panose="02010600030101010101" pitchFamily="2" charset="-122"/>
              </a:rPr>
              <a:t>research.stlouisfed.org</a:t>
            </a:r>
            <a:r>
              <a:rPr lang="en-US" altLang="zh-CN" dirty="0">
                <a:ea typeface="宋体" panose="02010600030101010101" pitchFamily="2" charset="-122"/>
              </a:rPr>
              <a:t>/fred2/</a:t>
            </a:r>
          </a:p>
        </p:txBody>
      </p:sp>
    </p:spTree>
    <p:extLst>
      <p:ext uri="{BB962C8B-B14F-4D97-AF65-F5344CB8AC3E}">
        <p14:creationId xmlns:p14="http://schemas.microsoft.com/office/powerpoint/2010/main" val="1597556773"/>
      </p:ext>
    </p:extLst>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F8CA9034-544B-804F-E291-2F97A4CCC56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075599B4-CA13-F74D-AC0C-D8E60EDF516C}" type="slidenum">
              <a:rPr lang="zh-CN" altLang="zh-CN" sz="1200">
                <a:ea typeface="宋体" panose="02010600030101010101" pitchFamily="2" charset="-122"/>
              </a:rPr>
              <a:pPr algn="r"/>
              <a:t>79</a:t>
            </a:fld>
            <a:endParaRPr lang="zh-CN" altLang="zh-CN" sz="1200">
              <a:ea typeface="宋体" panose="02010600030101010101" pitchFamily="2" charset="-122"/>
            </a:endParaRPr>
          </a:p>
        </p:txBody>
      </p:sp>
      <p:sp>
        <p:nvSpPr>
          <p:cNvPr id="95235" name="Rectangle 2">
            <a:extLst>
              <a:ext uri="{FF2B5EF4-FFF2-40B4-BE49-F238E27FC236}">
                <a16:creationId xmlns:a16="http://schemas.microsoft.com/office/drawing/2014/main" id="{8083E316-435B-3DC1-F084-172B4E02F500}"/>
              </a:ext>
            </a:extLst>
          </p:cNvPr>
          <p:cNvSpPr>
            <a:spLocks noGrp="1" noRot="1" noChangeAspect="1" noChangeArrowheads="1" noTextEdit="1"/>
          </p:cNvSpPr>
          <p:nvPr>
            <p:ph type="sldImg"/>
          </p:nvPr>
        </p:nvSpPr>
        <p:spPr>
          <a:xfrm>
            <a:off x="1146175" y="534988"/>
            <a:ext cx="4568825" cy="3429000"/>
          </a:xfrm>
        </p:spPr>
      </p:sp>
      <p:sp>
        <p:nvSpPr>
          <p:cNvPr id="95236" name="Rectangle 3">
            <a:extLst>
              <a:ext uri="{FF2B5EF4-FFF2-40B4-BE49-F238E27FC236}">
                <a16:creationId xmlns:a16="http://schemas.microsoft.com/office/drawing/2014/main" id="{2EADF0E5-AC5E-D486-11B3-52FDDABA1A55}"/>
              </a:ext>
            </a:extLst>
          </p:cNvPr>
          <p:cNvSpPr>
            <a:spLocks noGrp="1" noChangeArrowheads="1"/>
          </p:cNvSpPr>
          <p:nvPr>
            <p:ph type="body" idx="1"/>
          </p:nvPr>
        </p:nvSpPr>
        <p:spPr>
          <a:xfrm>
            <a:off x="685800" y="4248150"/>
            <a:ext cx="5486400" cy="4210050"/>
          </a:xfrm>
        </p:spPr>
        <p:txBody>
          <a:bodyPr lIns="91429" tIns="45714" rIns="91429" bIns="45714" anchor="t"/>
          <a:lstStyle/>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本章和下一章的大部分理论都起源于凯恩斯的著作。这张幻灯片再现了他对古典宏观经济学长期焦点的著名批判。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在某种程度上，如果你觉得这个</a:t>
            </a:r>
            <a:r>
              <a:rPr lang="en" altLang="zh-CN" b="0" i="0" u="none" strike="noStrike" dirty="0">
                <a:solidFill>
                  <a:srgbClr val="101214"/>
                </a:solidFill>
                <a:effectLst/>
                <a:latin typeface="PingFang SC" panose="020B0400000000000000" pitchFamily="34" charset="-122"/>
                <a:ea typeface="PingFang SC" panose="020B0400000000000000" pitchFamily="34" charset="-122"/>
              </a:rPr>
              <a:t>ppt</a:t>
            </a:r>
            <a:r>
              <a:rPr lang="zh-CN" altLang="en-US" b="0" i="0" u="none" strike="noStrike" dirty="0">
                <a:solidFill>
                  <a:srgbClr val="101214"/>
                </a:solidFill>
                <a:effectLst/>
                <a:latin typeface="PingFang SC" panose="020B0400000000000000" pitchFamily="34" charset="-122"/>
                <a:ea typeface="PingFang SC" panose="020B0400000000000000" pitchFamily="34" charset="-122"/>
              </a:rPr>
              <a:t>文件太长，这张幻灯片可以剪掉。学生们可以很容易地在本章末尾教科书上的参考框中自己阅读有关凯恩斯的内容。 </a:t>
            </a:r>
          </a:p>
          <a:p>
            <a:pPr algn="l"/>
            <a:r>
              <a:rPr lang="zh-CN" altLang="en-US" b="0" i="0" u="none" strike="noStrike" dirty="0">
                <a:solidFill>
                  <a:srgbClr val="101214"/>
                </a:solidFill>
                <a:effectLst/>
                <a:latin typeface="PingFang SC" panose="020B0400000000000000" pitchFamily="34" charset="-122"/>
                <a:ea typeface="PingFang SC" panose="020B0400000000000000" pitchFamily="34" charset="-122"/>
              </a:rPr>
              <a:t>另一方面，在课堂上展示这一点可以让学生从他们坐下来的所有理论中得到很好的休息。学生们可能不会自己阅读供参考的方框。</a:t>
            </a:r>
          </a:p>
          <a:p>
            <a:endParaRPr lang="en-US" altLang="zh-CN" dirty="0">
              <a:ea typeface="宋体" panose="02010600030101010101" pitchFamily="2" charset="-122"/>
            </a:endParaRPr>
          </a:p>
          <a:p>
            <a:r>
              <a:rPr lang="en-US" altLang="zh-CN" dirty="0">
                <a:ea typeface="宋体" panose="02010600030101010101" pitchFamily="2" charset="-122"/>
              </a:rPr>
              <a:t>Much of the theory in this chapter and the one that follows originates in the work of Keynes.  This slide reproduces his famous critique of the long-run focus of classical macroeconomics.  </a:t>
            </a:r>
          </a:p>
          <a:p>
            <a:endParaRPr lang="en-US" altLang="zh-CN" dirty="0">
              <a:ea typeface="宋体" panose="02010600030101010101" pitchFamily="2" charset="-122"/>
            </a:endParaRPr>
          </a:p>
          <a:p>
            <a:r>
              <a:rPr lang="en-US" altLang="zh-CN" dirty="0">
                <a:ea typeface="宋体" panose="02010600030101010101" pitchFamily="2" charset="-122"/>
              </a:rPr>
              <a:t>In one way, this slide is a good candidate for cutting if you think this PowerPoint file is too long.  Students can easily read about Keynes on their own in the FYI box that appears in the textbook at the end of this chapter.  </a:t>
            </a:r>
          </a:p>
          <a:p>
            <a:endParaRPr lang="en-US" altLang="zh-CN" dirty="0">
              <a:ea typeface="宋体" panose="02010600030101010101" pitchFamily="2" charset="-122"/>
            </a:endParaRPr>
          </a:p>
          <a:p>
            <a:r>
              <a:rPr lang="en-US" altLang="zh-CN" dirty="0">
                <a:ea typeface="宋体" panose="02010600030101010101" pitchFamily="2" charset="-122"/>
              </a:rPr>
              <a:t>On the other hand, showing this in class gives students a nice break from all the theory they have sat through.  And students may not read the FYI box on their own.  </a:t>
            </a:r>
          </a:p>
        </p:txBody>
      </p:sp>
    </p:spTree>
    <p:extLst>
      <p:ext uri="{BB962C8B-B14F-4D97-AF65-F5344CB8AC3E}">
        <p14:creationId xmlns:p14="http://schemas.microsoft.com/office/powerpoint/2010/main" val="2432366971"/>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44858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4199985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1062031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35567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355154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114626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67215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132095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3077325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103922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460289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37E0-C852-4FFB-1755-F550F9BD7235}"/>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4BC59AA2-0437-7173-11E0-8D0F98A3BC88}"/>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Tree>
    <p:extLst>
      <p:ext uri="{BB962C8B-B14F-4D97-AF65-F5344CB8AC3E}">
        <p14:creationId xmlns:p14="http://schemas.microsoft.com/office/powerpoint/2010/main" val="2930215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05F85-C401-C788-F944-B7A6EF9F5A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878F71-FEA1-EE7B-1943-3174F5DF43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69827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8ECA0-53F7-9BF2-0237-4430EDA38EF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BBBE9AE-68BE-4F14-7E9E-B51AB88A4FC8}"/>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Tree>
    <p:extLst>
      <p:ext uri="{BB962C8B-B14F-4D97-AF65-F5344CB8AC3E}">
        <p14:creationId xmlns:p14="http://schemas.microsoft.com/office/powerpoint/2010/main" val="2528419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A03B3-25E5-4C62-85E6-9EDAE444EC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434D33-945F-D635-6177-D0A5D9B20594}"/>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C2C5F6F-CF55-8761-4967-F2027A71245A}"/>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531395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39FF-E59D-0F20-4506-2991DD9837C2}"/>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7B0B73-1810-56A5-037F-05B62BC2322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DB74764-D1E4-87B9-2A12-7EF9E319F3EA}"/>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A4EDC-DD11-8B0A-759C-780955B22EEC}"/>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66A007-4E75-AD89-E528-335EA2299858}"/>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38791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980A7-C011-6EC5-1586-E55EF40C7114}"/>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3668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618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C8A52-4877-26AA-1415-1C613EE5600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498628B-71CD-B8FC-CE63-5A6A5916B4E0}"/>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A28FB9-3306-776E-62C8-50EA1BC1729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1491097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CD4825-4941-C57A-51D9-10AC7BA87C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5BBFA41E-64CF-A958-73D4-BF8C7AB56E35}"/>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EEAC0442-E05E-FD75-82B5-2EBAA9D6238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2790852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2C798-DBA1-EF46-97F2-1111BF8DEB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CDDE83-F4C9-1804-E5EC-A6BBDFAAA88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04077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E07FA61-BABF-D675-25FB-6EFF371899A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53B934-A955-27C0-8F26-BA03D897A7C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047503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551697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431917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2491379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28083967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1318090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3364824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3694608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20448488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983856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3908630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40267211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62E093A-D4FD-FF0C-95A6-C95C6AF75C83}"/>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D05A7577-1BD5-859B-AE64-3998BB53ECDA}"/>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D915076C-AFFB-C633-27A1-51C9AB40AD0C}"/>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9340E616-2EFF-C0CA-68E3-76AC23FABEDA}"/>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2985182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25BE6-9699-A2B3-54A2-EB00933D62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6E5245-4975-C64F-B820-EF12F8551C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FA18E20B-DA43-1E62-3B6A-E7E85CC88F3A}"/>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46386611-8453-DC2C-881F-26A91F7E6125}"/>
              </a:ext>
            </a:extLst>
          </p:cNvPr>
          <p:cNvSpPr>
            <a:spLocks noGrp="1"/>
          </p:cNvSpPr>
          <p:nvPr>
            <p:ph type="sldNum" sz="quarter" idx="11"/>
          </p:nvPr>
        </p:nvSpPr>
        <p:spPr/>
        <p:txBody>
          <a:bodyPr/>
          <a:lstStyle>
            <a:lvl1pPr>
              <a:defRPr/>
            </a:lvl1pPr>
          </a:lstStyle>
          <a:p>
            <a:fld id="{B051FCA5-A2F0-8E45-9379-80C4F6EBC639}" type="slidenum">
              <a:rPr lang="zh-CN" altLang="zh-CN"/>
              <a:pPr/>
              <a:t>‹#›</a:t>
            </a:fld>
            <a:endParaRPr lang="en-US" altLang="zh-CN"/>
          </a:p>
        </p:txBody>
      </p:sp>
    </p:spTree>
    <p:extLst>
      <p:ext uri="{BB962C8B-B14F-4D97-AF65-F5344CB8AC3E}">
        <p14:creationId xmlns:p14="http://schemas.microsoft.com/office/powerpoint/2010/main" val="1460818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01BE8-F403-5F8D-54E6-181D76DF9E7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B2951E99-6B6A-CEB9-E4FF-4BEB1EC8D6D7}"/>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3470ED46-D259-CBC6-6AD5-152686DBAA9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9FEB97E0-90A2-398F-C708-2E137919814A}"/>
              </a:ext>
            </a:extLst>
          </p:cNvPr>
          <p:cNvSpPr>
            <a:spLocks noGrp="1"/>
          </p:cNvSpPr>
          <p:nvPr>
            <p:ph type="sldNum" sz="quarter" idx="11"/>
          </p:nvPr>
        </p:nvSpPr>
        <p:spPr/>
        <p:txBody>
          <a:bodyPr/>
          <a:lstStyle>
            <a:lvl1pPr>
              <a:defRPr/>
            </a:lvl1pPr>
          </a:lstStyle>
          <a:p>
            <a:fld id="{BD1BE090-09CA-8344-BCD4-B802B0B806EE}" type="slidenum">
              <a:rPr lang="zh-CN" altLang="zh-CN"/>
              <a:pPr/>
              <a:t>‹#›</a:t>
            </a:fld>
            <a:endParaRPr lang="en-US" altLang="zh-CN"/>
          </a:p>
        </p:txBody>
      </p:sp>
    </p:spTree>
    <p:extLst>
      <p:ext uri="{BB962C8B-B14F-4D97-AF65-F5344CB8AC3E}">
        <p14:creationId xmlns:p14="http://schemas.microsoft.com/office/powerpoint/2010/main" val="16098969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E6A088-A5E4-F23C-1700-F5F066FE6C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0970F3-C3D9-964A-601F-6142319E2961}"/>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94ADB4-4C60-8D4C-13A2-205500FAC3E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F20EB24-2C7B-1A84-305C-158FA3CBB16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610662FC-3123-AF7F-D290-838239580342}"/>
              </a:ext>
            </a:extLst>
          </p:cNvPr>
          <p:cNvSpPr>
            <a:spLocks noGrp="1"/>
          </p:cNvSpPr>
          <p:nvPr>
            <p:ph type="sldNum" sz="quarter" idx="11"/>
          </p:nvPr>
        </p:nvSpPr>
        <p:spPr/>
        <p:txBody>
          <a:bodyPr/>
          <a:lstStyle>
            <a:lvl1pPr>
              <a:defRPr/>
            </a:lvl1pPr>
          </a:lstStyle>
          <a:p>
            <a:fld id="{1F402D5B-4EF6-DD4B-B320-396F64754D48}" type="slidenum">
              <a:rPr lang="zh-CN" altLang="zh-CN"/>
              <a:pPr/>
              <a:t>‹#›</a:t>
            </a:fld>
            <a:endParaRPr lang="en-US" altLang="zh-CN"/>
          </a:p>
        </p:txBody>
      </p:sp>
    </p:spTree>
    <p:extLst>
      <p:ext uri="{BB962C8B-B14F-4D97-AF65-F5344CB8AC3E}">
        <p14:creationId xmlns:p14="http://schemas.microsoft.com/office/powerpoint/2010/main" val="34818368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DA780-E1BE-F5C9-B88A-E0FC50821476}"/>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6211110-B16B-2F66-FCAC-9B252B06AAEB}"/>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39BA422-FD5C-F0C4-755F-BBA6ACC00800}"/>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D8998F8-5F36-0CB1-7E95-79943212C95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E13E449-2E5B-742F-327B-DE0E937105AD}"/>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20108D55-DFD0-16C1-E974-1B8C5DD2B29B}"/>
              </a:ext>
            </a:extLst>
          </p:cNvPr>
          <p:cNvSpPr>
            <a:spLocks noGrp="1"/>
          </p:cNvSpPr>
          <p:nvPr>
            <p:ph type="ftr" sz="quarter" idx="10"/>
          </p:nvPr>
        </p:nvSpPr>
        <p:spPr/>
        <p:txBody>
          <a:bodyPr/>
          <a:lstStyle>
            <a:lvl1pPr>
              <a:defRPr/>
            </a:lvl1pPr>
          </a:lstStyle>
          <a:p>
            <a:r>
              <a:rPr lang="zh-CN" altLang="zh-CN"/>
              <a:t>失业</a:t>
            </a:r>
          </a:p>
        </p:txBody>
      </p:sp>
      <p:sp>
        <p:nvSpPr>
          <p:cNvPr id="8" name="灯片编号占位符 7">
            <a:extLst>
              <a:ext uri="{FF2B5EF4-FFF2-40B4-BE49-F238E27FC236}">
                <a16:creationId xmlns:a16="http://schemas.microsoft.com/office/drawing/2014/main" id="{87542D1F-8FF4-0AAD-7CFD-885387B04B2B}"/>
              </a:ext>
            </a:extLst>
          </p:cNvPr>
          <p:cNvSpPr>
            <a:spLocks noGrp="1"/>
          </p:cNvSpPr>
          <p:nvPr>
            <p:ph type="sldNum" sz="quarter" idx="11"/>
          </p:nvPr>
        </p:nvSpPr>
        <p:spPr/>
        <p:txBody>
          <a:bodyPr/>
          <a:lstStyle>
            <a:lvl1pPr>
              <a:defRPr/>
            </a:lvl1pPr>
          </a:lstStyle>
          <a:p>
            <a:fld id="{4F0A2AC6-4DC9-4A48-BB4A-60AD3ABC5960}" type="slidenum">
              <a:rPr lang="zh-CN" altLang="zh-CN"/>
              <a:pPr/>
              <a:t>‹#›</a:t>
            </a:fld>
            <a:endParaRPr lang="en-US" altLang="zh-CN"/>
          </a:p>
        </p:txBody>
      </p:sp>
    </p:spTree>
    <p:extLst>
      <p:ext uri="{BB962C8B-B14F-4D97-AF65-F5344CB8AC3E}">
        <p14:creationId xmlns:p14="http://schemas.microsoft.com/office/powerpoint/2010/main" val="3523028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54EA3-095D-A3E1-D232-795E1833FF0B}"/>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EEDE4DB-A6F6-EF2F-2DE5-9D75FD9BE5E6}"/>
              </a:ext>
            </a:extLst>
          </p:cNvPr>
          <p:cNvSpPr>
            <a:spLocks noGrp="1"/>
          </p:cNvSpPr>
          <p:nvPr>
            <p:ph type="ftr" sz="quarter" idx="10"/>
          </p:nvPr>
        </p:nvSpPr>
        <p:spPr/>
        <p:txBody>
          <a:bodyPr/>
          <a:lstStyle>
            <a:lvl1pPr>
              <a:defRPr/>
            </a:lvl1pPr>
          </a:lstStyle>
          <a:p>
            <a:r>
              <a:rPr lang="zh-CN" altLang="zh-CN"/>
              <a:t>失业</a:t>
            </a:r>
          </a:p>
        </p:txBody>
      </p:sp>
      <p:sp>
        <p:nvSpPr>
          <p:cNvPr id="4" name="灯片编号占位符 3">
            <a:extLst>
              <a:ext uri="{FF2B5EF4-FFF2-40B4-BE49-F238E27FC236}">
                <a16:creationId xmlns:a16="http://schemas.microsoft.com/office/drawing/2014/main" id="{F2A50AC6-89C4-B1F5-8123-5AB3994B2E6F}"/>
              </a:ext>
            </a:extLst>
          </p:cNvPr>
          <p:cNvSpPr>
            <a:spLocks noGrp="1"/>
          </p:cNvSpPr>
          <p:nvPr>
            <p:ph type="sldNum" sz="quarter" idx="11"/>
          </p:nvPr>
        </p:nvSpPr>
        <p:spPr/>
        <p:txBody>
          <a:bodyPr/>
          <a:lstStyle>
            <a:lvl1pPr>
              <a:defRPr/>
            </a:lvl1pPr>
          </a:lstStyle>
          <a:p>
            <a:fld id="{5F23D4F0-0404-334E-A4EB-1C015BC63AFF}" type="slidenum">
              <a:rPr lang="zh-CN" altLang="zh-CN"/>
              <a:pPr/>
              <a:t>‹#›</a:t>
            </a:fld>
            <a:endParaRPr lang="en-US" altLang="zh-CN"/>
          </a:p>
        </p:txBody>
      </p:sp>
    </p:spTree>
    <p:extLst>
      <p:ext uri="{BB962C8B-B14F-4D97-AF65-F5344CB8AC3E}">
        <p14:creationId xmlns:p14="http://schemas.microsoft.com/office/powerpoint/2010/main" val="326689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2F40646-60A2-E4E4-21C8-DBC2F7C5CE9C}"/>
              </a:ext>
            </a:extLst>
          </p:cNvPr>
          <p:cNvSpPr>
            <a:spLocks noGrp="1"/>
          </p:cNvSpPr>
          <p:nvPr>
            <p:ph type="ftr" sz="quarter" idx="10"/>
          </p:nvPr>
        </p:nvSpPr>
        <p:spPr/>
        <p:txBody>
          <a:bodyPr/>
          <a:lstStyle>
            <a:lvl1pPr>
              <a:defRPr/>
            </a:lvl1pPr>
          </a:lstStyle>
          <a:p>
            <a:r>
              <a:rPr lang="zh-CN" altLang="zh-CN"/>
              <a:t>失业</a:t>
            </a:r>
          </a:p>
        </p:txBody>
      </p:sp>
      <p:sp>
        <p:nvSpPr>
          <p:cNvPr id="3" name="灯片编号占位符 2">
            <a:extLst>
              <a:ext uri="{FF2B5EF4-FFF2-40B4-BE49-F238E27FC236}">
                <a16:creationId xmlns:a16="http://schemas.microsoft.com/office/drawing/2014/main" id="{2852A371-1A45-C904-A1CC-354A2C05F7A3}"/>
              </a:ext>
            </a:extLst>
          </p:cNvPr>
          <p:cNvSpPr>
            <a:spLocks noGrp="1"/>
          </p:cNvSpPr>
          <p:nvPr>
            <p:ph type="sldNum" sz="quarter" idx="11"/>
          </p:nvPr>
        </p:nvSpPr>
        <p:spPr/>
        <p:txBody>
          <a:bodyPr/>
          <a:lstStyle>
            <a:lvl1pPr>
              <a:defRPr/>
            </a:lvl1pPr>
          </a:lstStyle>
          <a:p>
            <a:fld id="{0EBDC2B9-F60A-AA4B-90BB-05AE46850CFA}" type="slidenum">
              <a:rPr lang="zh-CN" altLang="zh-CN"/>
              <a:pPr/>
              <a:t>‹#›</a:t>
            </a:fld>
            <a:endParaRPr lang="en-US" altLang="zh-CN"/>
          </a:p>
        </p:txBody>
      </p:sp>
    </p:spTree>
    <p:extLst>
      <p:ext uri="{BB962C8B-B14F-4D97-AF65-F5344CB8AC3E}">
        <p14:creationId xmlns:p14="http://schemas.microsoft.com/office/powerpoint/2010/main" val="8390502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52F29-BFA5-898F-A520-0A75CA6B3D71}"/>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9DAA7428-2BE1-7B38-AAEF-CB8A856A671B}"/>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2A15505-FA00-D873-A269-1CA68B069BA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30D1603-D265-D9D7-8BAF-EA59E8C91DBD}"/>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7BC7CD3E-0FB6-9F93-BD8F-8447E990AFDC}"/>
              </a:ext>
            </a:extLst>
          </p:cNvPr>
          <p:cNvSpPr>
            <a:spLocks noGrp="1"/>
          </p:cNvSpPr>
          <p:nvPr>
            <p:ph type="sldNum" sz="quarter" idx="11"/>
          </p:nvPr>
        </p:nvSpPr>
        <p:spPr/>
        <p:txBody>
          <a:bodyPr/>
          <a:lstStyle>
            <a:lvl1pPr>
              <a:defRPr/>
            </a:lvl1pPr>
          </a:lstStyle>
          <a:p>
            <a:fld id="{7E24587C-9CDC-4A4D-95D6-4E4C878F19EB}" type="slidenum">
              <a:rPr lang="zh-CN" altLang="zh-CN"/>
              <a:pPr/>
              <a:t>‹#›</a:t>
            </a:fld>
            <a:endParaRPr lang="en-US" altLang="zh-CN"/>
          </a:p>
        </p:txBody>
      </p:sp>
    </p:spTree>
    <p:extLst>
      <p:ext uri="{BB962C8B-B14F-4D97-AF65-F5344CB8AC3E}">
        <p14:creationId xmlns:p14="http://schemas.microsoft.com/office/powerpoint/2010/main" val="22199294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D7CB6-2815-851C-9963-93BB4B0E4F4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21912FC-2F18-1704-0891-C2EC885EB30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A9DDB3D8-0D11-6BBE-C6A8-9E1ED816CB1E}"/>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ED757EB3-C41B-F71C-9880-15AEA745BA4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F3756959-9B89-40D2-439A-08D16CEE3B49}"/>
              </a:ext>
            </a:extLst>
          </p:cNvPr>
          <p:cNvSpPr>
            <a:spLocks noGrp="1"/>
          </p:cNvSpPr>
          <p:nvPr>
            <p:ph type="sldNum" sz="quarter" idx="11"/>
          </p:nvPr>
        </p:nvSpPr>
        <p:spPr/>
        <p:txBody>
          <a:bodyPr/>
          <a:lstStyle>
            <a:lvl1pPr>
              <a:defRPr/>
            </a:lvl1pPr>
          </a:lstStyle>
          <a:p>
            <a:fld id="{A95D2E13-47B2-EE48-99AA-C099551196A2}" type="slidenum">
              <a:rPr lang="zh-CN" altLang="zh-CN"/>
              <a:pPr/>
              <a:t>‹#›</a:t>
            </a:fld>
            <a:endParaRPr lang="en-US" altLang="zh-CN"/>
          </a:p>
        </p:txBody>
      </p:sp>
    </p:spTree>
    <p:extLst>
      <p:ext uri="{BB962C8B-B14F-4D97-AF65-F5344CB8AC3E}">
        <p14:creationId xmlns:p14="http://schemas.microsoft.com/office/powerpoint/2010/main" val="3336455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9DFBF1-DE1E-869F-C5EB-F22F72BB7BC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76DBBD4-510B-532F-D5A2-5FA665CCB41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CB52DD2A-C144-F8FE-5D44-71B2FA57BEF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EF1AD0DC-18B8-B97C-537C-144B46BFDAD7}"/>
              </a:ext>
            </a:extLst>
          </p:cNvPr>
          <p:cNvSpPr>
            <a:spLocks noGrp="1"/>
          </p:cNvSpPr>
          <p:nvPr>
            <p:ph type="sldNum" sz="quarter" idx="11"/>
          </p:nvPr>
        </p:nvSpPr>
        <p:spPr/>
        <p:txBody>
          <a:bodyPr/>
          <a:lstStyle>
            <a:lvl1pPr>
              <a:defRPr/>
            </a:lvl1pPr>
          </a:lstStyle>
          <a:p>
            <a:fld id="{2FEF0E8A-4AF6-634E-8D80-88424E2EC811}" type="slidenum">
              <a:rPr lang="zh-CN" altLang="zh-CN"/>
              <a:pPr/>
              <a:t>‹#›</a:t>
            </a:fld>
            <a:endParaRPr lang="en-US" altLang="zh-CN"/>
          </a:p>
        </p:txBody>
      </p:sp>
    </p:spTree>
    <p:extLst>
      <p:ext uri="{BB962C8B-B14F-4D97-AF65-F5344CB8AC3E}">
        <p14:creationId xmlns:p14="http://schemas.microsoft.com/office/powerpoint/2010/main" val="37475970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4B0B9B1-11A6-DDF1-E52F-88C533173952}"/>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31515D9-4FFE-692B-B9C0-4E00B2D5CBF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259D0D84-E918-85ED-5A72-1E53A5050359}"/>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D52B6529-399C-E3F1-76D8-023374BFEA6E}"/>
              </a:ext>
            </a:extLst>
          </p:cNvPr>
          <p:cNvSpPr>
            <a:spLocks noGrp="1"/>
          </p:cNvSpPr>
          <p:nvPr>
            <p:ph type="sldNum" sz="quarter" idx="11"/>
          </p:nvPr>
        </p:nvSpPr>
        <p:spPr/>
        <p:txBody>
          <a:bodyPr/>
          <a:lstStyle>
            <a:lvl1pPr>
              <a:defRPr/>
            </a:lvl1pPr>
          </a:lstStyle>
          <a:p>
            <a:fld id="{B31C5811-928D-9447-A160-1F09DAF9FA61}" type="slidenum">
              <a:rPr lang="zh-CN" altLang="zh-CN"/>
              <a:pPr/>
              <a:t>‹#›</a:t>
            </a:fld>
            <a:endParaRPr lang="en-US" altLang="zh-CN"/>
          </a:p>
        </p:txBody>
      </p:sp>
    </p:spTree>
    <p:extLst>
      <p:ext uri="{BB962C8B-B14F-4D97-AF65-F5344CB8AC3E}">
        <p14:creationId xmlns:p14="http://schemas.microsoft.com/office/powerpoint/2010/main" val="13140784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5"/>
            <a:ext cx="4610100" cy="216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6"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1"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8">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0865776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en-US" dirty="0"/>
              <a:t>均衡国民收入的决定</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23108578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24272280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18080346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7261336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9009955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053912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870789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10718150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20688292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51640130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4" y="566377"/>
            <a:ext cx="3457575" cy="1204854"/>
          </a:xfrm>
        </p:spPr>
        <p:txBody>
          <a:bodyPr anchor="b"/>
          <a:lstStyle>
            <a:lvl1pPr algn="ctr">
              <a:defRPr sz="3023"/>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4" y="1817696"/>
            <a:ext cx="3457575" cy="835547"/>
          </a:xfrm>
        </p:spPr>
        <p:txBody>
          <a:bodyPr/>
          <a:lstStyle>
            <a:lvl1pPr marL="0" indent="0" algn="ctr">
              <a:buNone/>
              <a:defRPr sz="1209"/>
            </a:lvl1pPr>
            <a:lvl2pPr marL="230329" indent="0" algn="ctr">
              <a:buNone/>
              <a:defRPr sz="1007"/>
            </a:lvl2pPr>
            <a:lvl3pPr marL="460659" indent="0" algn="ctr">
              <a:buNone/>
              <a:defRPr sz="907"/>
            </a:lvl3pPr>
            <a:lvl4pPr marL="690989" indent="0" algn="ctr">
              <a:buNone/>
              <a:defRPr sz="806"/>
            </a:lvl4pPr>
            <a:lvl5pPr marL="921319" indent="0" algn="ctr">
              <a:buNone/>
              <a:defRPr sz="806"/>
            </a:lvl5pPr>
            <a:lvl6pPr marL="1151648" indent="0" algn="ctr">
              <a:buNone/>
              <a:defRPr sz="806"/>
            </a:lvl6pPr>
            <a:lvl7pPr marL="1381977" indent="0" algn="ctr">
              <a:buNone/>
              <a:defRPr sz="806"/>
            </a:lvl7pPr>
            <a:lvl8pPr marL="1612308" indent="0" algn="ctr">
              <a:buNone/>
              <a:defRPr sz="806"/>
            </a:lvl8pPr>
            <a:lvl9pPr marL="1842637" indent="0" algn="ctr">
              <a:buNone/>
              <a:defRPr sz="806"/>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421202055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lvl1pPr>
              <a:defRPr b="0">
                <a:latin typeface="Microsoft YaHei" panose="020B0503020204020204" pitchFamily="34" charset="-122"/>
                <a:ea typeface="Microsoft YaHei" panose="020B0503020204020204" pitchFamily="34" charset="-122"/>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sz="800"/>
            </a:lvl1pPr>
          </a:lstStyle>
          <a:p>
            <a:r>
              <a:rPr lang="zh-CN" altLang="zh-CN"/>
              <a:t>生活费用的衡量</a:t>
            </a:r>
            <a:endParaRPr lang="zh-CN" altLang="zh-CN" dirty="0"/>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093865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4769315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7707752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33464349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285712654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4803457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349863450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8500916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1107896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221563045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913AEBC-FA56-78FC-EAEB-10DA04C92989}"/>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AD05D23-97CC-48BC-410F-61A2D120A5FD}"/>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7DF4076F-8EC8-654B-EA7B-B1957B306900}"/>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4D144554-1F7F-5489-ED13-15E41282E73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12019061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865C76-1E8C-DDA6-955B-EBDD5BB43E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52C2C5-0D52-EA0C-48F5-B1188CDA762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990271-A6A1-BE5C-399F-E82D486146D8}"/>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A1604FF3-E6AE-2D85-5941-CB1E06EB1432}"/>
              </a:ext>
            </a:extLst>
          </p:cNvPr>
          <p:cNvSpPr>
            <a:spLocks noGrp="1"/>
          </p:cNvSpPr>
          <p:nvPr>
            <p:ph type="sldNum" sz="quarter" idx="11"/>
          </p:nvPr>
        </p:nvSpPr>
        <p:spPr/>
        <p:txBody>
          <a:bodyPr/>
          <a:lstStyle>
            <a:lvl1pPr>
              <a:defRPr/>
            </a:lvl1pPr>
          </a:lstStyle>
          <a:p>
            <a:fld id="{D5F37188-5717-5045-B75B-A8FAB37A0AF3}" type="slidenum">
              <a:rPr lang="zh-CN" altLang="zh-CN"/>
              <a:pPr/>
              <a:t>‹#›</a:t>
            </a:fld>
            <a:endParaRPr lang="en-US" altLang="zh-CN"/>
          </a:p>
        </p:txBody>
      </p:sp>
    </p:spTree>
    <p:extLst>
      <p:ext uri="{BB962C8B-B14F-4D97-AF65-F5344CB8AC3E}">
        <p14:creationId xmlns:p14="http://schemas.microsoft.com/office/powerpoint/2010/main" val="50290866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E38FF-7D26-DA02-36BC-76010B78D783}"/>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055F014-19A5-11AF-B6C7-ED7829230E64}"/>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5E52E18-009A-F26F-E5DA-EC4E9F1E6C2C}"/>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B318359B-4C79-8FA5-7F9C-E7BC409CD90D}"/>
              </a:ext>
            </a:extLst>
          </p:cNvPr>
          <p:cNvSpPr>
            <a:spLocks noGrp="1"/>
          </p:cNvSpPr>
          <p:nvPr>
            <p:ph type="sldNum" sz="quarter" idx="11"/>
          </p:nvPr>
        </p:nvSpPr>
        <p:spPr/>
        <p:txBody>
          <a:bodyPr/>
          <a:lstStyle>
            <a:lvl1pPr>
              <a:defRPr/>
            </a:lvl1pPr>
          </a:lstStyle>
          <a:p>
            <a:fld id="{BC742A95-D2CA-134D-8BA9-2A45D512CDEE}" type="slidenum">
              <a:rPr lang="zh-CN" altLang="zh-CN"/>
              <a:pPr/>
              <a:t>‹#›</a:t>
            </a:fld>
            <a:endParaRPr lang="en-US" altLang="zh-CN"/>
          </a:p>
        </p:txBody>
      </p:sp>
    </p:spTree>
    <p:extLst>
      <p:ext uri="{BB962C8B-B14F-4D97-AF65-F5344CB8AC3E}">
        <p14:creationId xmlns:p14="http://schemas.microsoft.com/office/powerpoint/2010/main" val="40090663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882E8-CA64-CC74-F543-77FA61953A1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DBBCA1-5E50-95C6-24EE-9CE05F3D7462}"/>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97D37ED-41A9-3CE6-AF2D-0D8BAE53B038}"/>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4BC0E6C4-2AA4-69C2-890C-06793C5E624D}"/>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B6029BD6-F5FB-6AD5-042D-5A6D44850C4B}"/>
              </a:ext>
            </a:extLst>
          </p:cNvPr>
          <p:cNvSpPr>
            <a:spLocks noGrp="1"/>
          </p:cNvSpPr>
          <p:nvPr>
            <p:ph type="sldNum" sz="quarter" idx="11"/>
          </p:nvPr>
        </p:nvSpPr>
        <p:spPr/>
        <p:txBody>
          <a:bodyPr/>
          <a:lstStyle>
            <a:lvl1pPr>
              <a:defRPr/>
            </a:lvl1pPr>
          </a:lstStyle>
          <a:p>
            <a:fld id="{F22C2D04-8537-F544-BF47-F9C134D75DB7}" type="slidenum">
              <a:rPr lang="zh-CN" altLang="zh-CN"/>
              <a:pPr/>
              <a:t>‹#›</a:t>
            </a:fld>
            <a:endParaRPr lang="en-US" altLang="zh-CN"/>
          </a:p>
        </p:txBody>
      </p:sp>
    </p:spTree>
    <p:extLst>
      <p:ext uri="{BB962C8B-B14F-4D97-AF65-F5344CB8AC3E}">
        <p14:creationId xmlns:p14="http://schemas.microsoft.com/office/powerpoint/2010/main" val="7558061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A865EC-42C4-3325-73AD-3A4DDB83D3D9}"/>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5FB373-5687-D3F4-1460-263F3B6E6E7F}"/>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80F3ED-0250-978B-B8FD-2BAE0C78765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39F04-1EB5-F9D6-A37B-DAF1DC91C8FD}"/>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C90B1D5-A84D-D9A4-6C5E-03A931DDEE55}"/>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5D18963C-3A8E-1BE8-DC30-12514288BCC7}"/>
              </a:ext>
            </a:extLst>
          </p:cNvPr>
          <p:cNvSpPr>
            <a:spLocks noGrp="1"/>
          </p:cNvSpPr>
          <p:nvPr>
            <p:ph type="ftr" sz="quarter" idx="10"/>
          </p:nvPr>
        </p:nvSpPr>
        <p:spPr/>
        <p:txBody>
          <a:bodyPr/>
          <a:lstStyle>
            <a:lvl1pPr>
              <a:defRPr/>
            </a:lvl1pPr>
          </a:lstStyle>
          <a:p>
            <a:r>
              <a:rPr lang="zh-CN" altLang="zh-CN"/>
              <a:t>储蓄、投资和金融体系</a:t>
            </a:r>
          </a:p>
        </p:txBody>
      </p:sp>
      <p:sp>
        <p:nvSpPr>
          <p:cNvPr id="8" name="灯片编号占位符 7">
            <a:extLst>
              <a:ext uri="{FF2B5EF4-FFF2-40B4-BE49-F238E27FC236}">
                <a16:creationId xmlns:a16="http://schemas.microsoft.com/office/drawing/2014/main" id="{CB475382-1BAE-A6E8-D2E4-174C61770AE3}"/>
              </a:ext>
            </a:extLst>
          </p:cNvPr>
          <p:cNvSpPr>
            <a:spLocks noGrp="1"/>
          </p:cNvSpPr>
          <p:nvPr>
            <p:ph type="sldNum" sz="quarter" idx="11"/>
          </p:nvPr>
        </p:nvSpPr>
        <p:spPr/>
        <p:txBody>
          <a:bodyPr/>
          <a:lstStyle>
            <a:lvl1pPr>
              <a:defRPr/>
            </a:lvl1pPr>
          </a:lstStyle>
          <a:p>
            <a:fld id="{D9933D98-7208-AF49-B27F-E9412298FFDB}" type="slidenum">
              <a:rPr lang="zh-CN" altLang="zh-CN"/>
              <a:pPr/>
              <a:t>‹#›</a:t>
            </a:fld>
            <a:endParaRPr lang="en-US" altLang="zh-CN"/>
          </a:p>
        </p:txBody>
      </p:sp>
    </p:spTree>
    <p:extLst>
      <p:ext uri="{BB962C8B-B14F-4D97-AF65-F5344CB8AC3E}">
        <p14:creationId xmlns:p14="http://schemas.microsoft.com/office/powerpoint/2010/main" val="155146761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6C815-0C85-9544-A368-1E719111616C}"/>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556DBF23-B046-00A0-A52F-7D34BC94221C}"/>
              </a:ext>
            </a:extLst>
          </p:cNvPr>
          <p:cNvSpPr>
            <a:spLocks noGrp="1"/>
          </p:cNvSpPr>
          <p:nvPr>
            <p:ph type="ftr" sz="quarter" idx="10"/>
          </p:nvPr>
        </p:nvSpPr>
        <p:spPr/>
        <p:txBody>
          <a:bodyPr/>
          <a:lstStyle>
            <a:lvl1pPr>
              <a:defRPr/>
            </a:lvl1pPr>
          </a:lstStyle>
          <a:p>
            <a:r>
              <a:rPr lang="zh-CN" altLang="zh-CN"/>
              <a:t>储蓄、投资和金融体系</a:t>
            </a:r>
          </a:p>
        </p:txBody>
      </p:sp>
      <p:sp>
        <p:nvSpPr>
          <p:cNvPr id="4" name="灯片编号占位符 3">
            <a:extLst>
              <a:ext uri="{FF2B5EF4-FFF2-40B4-BE49-F238E27FC236}">
                <a16:creationId xmlns:a16="http://schemas.microsoft.com/office/drawing/2014/main" id="{1D845473-B82B-769C-B586-234F6D24AE68}"/>
              </a:ext>
            </a:extLst>
          </p:cNvPr>
          <p:cNvSpPr>
            <a:spLocks noGrp="1"/>
          </p:cNvSpPr>
          <p:nvPr>
            <p:ph type="sldNum" sz="quarter" idx="11"/>
          </p:nvPr>
        </p:nvSpPr>
        <p:spPr/>
        <p:txBody>
          <a:bodyPr/>
          <a:lstStyle>
            <a:lvl1pPr>
              <a:defRPr/>
            </a:lvl1pPr>
          </a:lstStyle>
          <a:p>
            <a:fld id="{4CA00277-EA4E-B541-8928-37DC4A2E581D}" type="slidenum">
              <a:rPr lang="zh-CN" altLang="zh-CN"/>
              <a:pPr/>
              <a:t>‹#›</a:t>
            </a:fld>
            <a:endParaRPr lang="en-US" altLang="zh-CN"/>
          </a:p>
        </p:txBody>
      </p:sp>
    </p:spTree>
    <p:extLst>
      <p:ext uri="{BB962C8B-B14F-4D97-AF65-F5344CB8AC3E}">
        <p14:creationId xmlns:p14="http://schemas.microsoft.com/office/powerpoint/2010/main" val="269744783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5551265-6EEE-B36C-4D9A-340B667E1F32}"/>
              </a:ext>
            </a:extLst>
          </p:cNvPr>
          <p:cNvSpPr>
            <a:spLocks noGrp="1"/>
          </p:cNvSpPr>
          <p:nvPr>
            <p:ph type="ftr" sz="quarter" idx="10"/>
          </p:nvPr>
        </p:nvSpPr>
        <p:spPr/>
        <p:txBody>
          <a:bodyPr/>
          <a:lstStyle>
            <a:lvl1pPr>
              <a:defRPr/>
            </a:lvl1pPr>
          </a:lstStyle>
          <a:p>
            <a:r>
              <a:rPr lang="zh-CN" altLang="zh-CN"/>
              <a:t>储蓄、投资和金融体系</a:t>
            </a:r>
          </a:p>
        </p:txBody>
      </p:sp>
      <p:sp>
        <p:nvSpPr>
          <p:cNvPr id="3" name="灯片编号占位符 2">
            <a:extLst>
              <a:ext uri="{FF2B5EF4-FFF2-40B4-BE49-F238E27FC236}">
                <a16:creationId xmlns:a16="http://schemas.microsoft.com/office/drawing/2014/main" id="{BAD24D52-766A-C091-1491-EDC04DBE82AD}"/>
              </a:ext>
            </a:extLst>
          </p:cNvPr>
          <p:cNvSpPr>
            <a:spLocks noGrp="1"/>
          </p:cNvSpPr>
          <p:nvPr>
            <p:ph type="sldNum" sz="quarter" idx="11"/>
          </p:nvPr>
        </p:nvSpPr>
        <p:spPr/>
        <p:txBody>
          <a:bodyPr/>
          <a:lstStyle>
            <a:lvl1pPr>
              <a:defRPr/>
            </a:lvl1pPr>
          </a:lstStyle>
          <a:p>
            <a:fld id="{714CAD9D-8C32-FC49-BC3F-7C78B6FF6B46}" type="slidenum">
              <a:rPr lang="zh-CN" altLang="zh-CN"/>
              <a:pPr/>
              <a:t>‹#›</a:t>
            </a:fld>
            <a:endParaRPr lang="en-US" altLang="zh-CN"/>
          </a:p>
        </p:txBody>
      </p:sp>
    </p:spTree>
    <p:extLst>
      <p:ext uri="{BB962C8B-B14F-4D97-AF65-F5344CB8AC3E}">
        <p14:creationId xmlns:p14="http://schemas.microsoft.com/office/powerpoint/2010/main" val="31445674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AA1BE-E03B-C0DD-3459-8877A936FA3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C4BBF1E-DD76-D9EB-AAF0-1753F267FFF8}"/>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2CA0124-46D8-3225-FCC8-A066CE19B0F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8682A032-E73B-89F2-808C-B6BF1F62A8A9}"/>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16D41276-A2FD-8D79-A438-26534024B829}"/>
              </a:ext>
            </a:extLst>
          </p:cNvPr>
          <p:cNvSpPr>
            <a:spLocks noGrp="1"/>
          </p:cNvSpPr>
          <p:nvPr>
            <p:ph type="sldNum" sz="quarter" idx="11"/>
          </p:nvPr>
        </p:nvSpPr>
        <p:spPr/>
        <p:txBody>
          <a:bodyPr/>
          <a:lstStyle>
            <a:lvl1pPr>
              <a:defRPr/>
            </a:lvl1pPr>
          </a:lstStyle>
          <a:p>
            <a:fld id="{A1D3D78F-6B90-6F47-99F9-753905A1F931}" type="slidenum">
              <a:rPr lang="zh-CN" altLang="zh-CN"/>
              <a:pPr/>
              <a:t>‹#›</a:t>
            </a:fld>
            <a:endParaRPr lang="en-US" altLang="zh-CN"/>
          </a:p>
        </p:txBody>
      </p:sp>
    </p:spTree>
    <p:extLst>
      <p:ext uri="{BB962C8B-B14F-4D97-AF65-F5344CB8AC3E}">
        <p14:creationId xmlns:p14="http://schemas.microsoft.com/office/powerpoint/2010/main" val="286624785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7CDEC-CB2E-6AA3-3594-732949BA521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A5423ED-5B55-097A-C9B0-90F5E48035F6}"/>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FA6B09B1-B6DE-00F1-0CAB-97F86987F75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273A380-1AFB-0A19-E943-86D1DB6145DF}"/>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32E32E30-B1E1-A2DD-E1DC-8A779DB2C87D}"/>
              </a:ext>
            </a:extLst>
          </p:cNvPr>
          <p:cNvSpPr>
            <a:spLocks noGrp="1"/>
          </p:cNvSpPr>
          <p:nvPr>
            <p:ph type="sldNum" sz="quarter" idx="11"/>
          </p:nvPr>
        </p:nvSpPr>
        <p:spPr/>
        <p:txBody>
          <a:bodyPr/>
          <a:lstStyle>
            <a:lvl1pPr>
              <a:defRPr/>
            </a:lvl1pPr>
          </a:lstStyle>
          <a:p>
            <a:fld id="{EC7EC5F2-24F3-BF4B-9D15-216FEF53CCAE}" type="slidenum">
              <a:rPr lang="zh-CN" altLang="zh-CN"/>
              <a:pPr/>
              <a:t>‹#›</a:t>
            </a:fld>
            <a:endParaRPr lang="en-US" altLang="zh-CN"/>
          </a:p>
        </p:txBody>
      </p:sp>
    </p:spTree>
    <p:extLst>
      <p:ext uri="{BB962C8B-B14F-4D97-AF65-F5344CB8AC3E}">
        <p14:creationId xmlns:p14="http://schemas.microsoft.com/office/powerpoint/2010/main" val="28818828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EE332B-D91B-9E4E-F5A2-35532BB796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0D367C6-4DFB-1E9F-1435-8B5633B3B8A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A91252-9271-EC3D-BFD2-24D0CB2E77F2}"/>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3CB13E21-16D5-C5D6-5A22-0FF96FD58202}"/>
              </a:ext>
            </a:extLst>
          </p:cNvPr>
          <p:cNvSpPr>
            <a:spLocks noGrp="1"/>
          </p:cNvSpPr>
          <p:nvPr>
            <p:ph type="sldNum" sz="quarter" idx="11"/>
          </p:nvPr>
        </p:nvSpPr>
        <p:spPr/>
        <p:txBody>
          <a:bodyPr/>
          <a:lstStyle>
            <a:lvl1pPr>
              <a:defRPr/>
            </a:lvl1pPr>
          </a:lstStyle>
          <a:p>
            <a:fld id="{2EE71058-4E43-0542-987D-BF6AFCFF7EBD}" type="slidenum">
              <a:rPr lang="zh-CN" altLang="zh-CN"/>
              <a:pPr/>
              <a:t>‹#›</a:t>
            </a:fld>
            <a:endParaRPr lang="en-US" altLang="zh-CN"/>
          </a:p>
        </p:txBody>
      </p:sp>
    </p:spTree>
    <p:extLst>
      <p:ext uri="{BB962C8B-B14F-4D97-AF65-F5344CB8AC3E}">
        <p14:creationId xmlns:p14="http://schemas.microsoft.com/office/powerpoint/2010/main" val="23761196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C5A2A0-E392-4435-ECF8-8DDEAB03E7B8}"/>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37D4A8F-3CC8-F529-4BB4-45BCB97FC34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9E9550F-27AC-9823-A68E-1175E6C2E8DE}"/>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EBD5ABBF-6449-9A99-F8C5-4CBA4CC85CF9}"/>
              </a:ext>
            </a:extLst>
          </p:cNvPr>
          <p:cNvSpPr>
            <a:spLocks noGrp="1"/>
          </p:cNvSpPr>
          <p:nvPr>
            <p:ph type="sldNum" sz="quarter" idx="11"/>
          </p:nvPr>
        </p:nvSpPr>
        <p:spPr/>
        <p:txBody>
          <a:bodyPr/>
          <a:lstStyle>
            <a:lvl1pPr>
              <a:defRPr/>
            </a:lvl1pPr>
          </a:lstStyle>
          <a:p>
            <a:fld id="{E5CEB968-BD04-C74A-9891-6C4CFF90FA37}" type="slidenum">
              <a:rPr lang="zh-CN" altLang="zh-CN"/>
              <a:pPr/>
              <a:t>‹#›</a:t>
            </a:fld>
            <a:endParaRPr lang="en-US" altLang="zh-CN"/>
          </a:p>
        </p:txBody>
      </p:sp>
    </p:spTree>
    <p:extLst>
      <p:ext uri="{BB962C8B-B14F-4D97-AF65-F5344CB8AC3E}">
        <p14:creationId xmlns:p14="http://schemas.microsoft.com/office/powerpoint/2010/main" val="6983363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FFDEB9A-FE7D-1051-4208-856E7C05841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7188E2E1-FDA0-B5D9-84B7-A433F1384902}"/>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C756DFC6-196F-9AC3-0581-9BE8CBF55306}"/>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594D3A80-BD5A-1600-3481-C5603DECFE1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79884852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CB5C05-FBDF-341A-CCD0-AC5507CDA4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CC4EF02-FEFF-2C14-F67D-C9236443BA2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5AFC8F56-B222-2532-68E8-91AB4F1C284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53751CAD-20D1-C233-AFA2-0F59BC02DD3A}"/>
              </a:ext>
            </a:extLst>
          </p:cNvPr>
          <p:cNvSpPr>
            <a:spLocks noGrp="1"/>
          </p:cNvSpPr>
          <p:nvPr>
            <p:ph type="sldNum" sz="quarter" idx="11"/>
          </p:nvPr>
        </p:nvSpPr>
        <p:spPr/>
        <p:txBody>
          <a:bodyPr/>
          <a:lstStyle>
            <a:lvl1pPr>
              <a:defRPr/>
            </a:lvl1pPr>
          </a:lstStyle>
          <a:p>
            <a:fld id="{966E1FEE-F2FC-AB4C-B09C-16DD421BF41F}" type="slidenum">
              <a:rPr lang="zh-CN" altLang="zh-CN"/>
              <a:pPr/>
              <a:t>‹#›</a:t>
            </a:fld>
            <a:endParaRPr lang="en-US" altLang="zh-CN"/>
          </a:p>
        </p:txBody>
      </p:sp>
    </p:spTree>
    <p:extLst>
      <p:ext uri="{BB962C8B-B14F-4D97-AF65-F5344CB8AC3E}">
        <p14:creationId xmlns:p14="http://schemas.microsoft.com/office/powerpoint/2010/main" val="367650664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1D654-759B-9A87-1F1C-07FED230FBC1}"/>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D1B27ED2-E212-5434-DC6D-A5855A7A29CD}"/>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7A1E3DD6-909C-B538-ED8D-C0EC7BD25E4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9C943B11-B8B5-2419-BBB2-FD1915E704EE}"/>
              </a:ext>
            </a:extLst>
          </p:cNvPr>
          <p:cNvSpPr>
            <a:spLocks noGrp="1"/>
          </p:cNvSpPr>
          <p:nvPr>
            <p:ph type="sldNum" sz="quarter" idx="11"/>
          </p:nvPr>
        </p:nvSpPr>
        <p:spPr/>
        <p:txBody>
          <a:bodyPr/>
          <a:lstStyle>
            <a:lvl1pPr>
              <a:defRPr/>
            </a:lvl1pPr>
          </a:lstStyle>
          <a:p>
            <a:fld id="{EADFD29E-7D2B-3142-B772-DE78C399DBA5}" type="slidenum">
              <a:rPr lang="zh-CN" altLang="zh-CN"/>
              <a:pPr/>
              <a:t>‹#›</a:t>
            </a:fld>
            <a:endParaRPr lang="en-US" altLang="zh-CN"/>
          </a:p>
        </p:txBody>
      </p:sp>
    </p:spTree>
    <p:extLst>
      <p:ext uri="{BB962C8B-B14F-4D97-AF65-F5344CB8AC3E}">
        <p14:creationId xmlns:p14="http://schemas.microsoft.com/office/powerpoint/2010/main" val="123538557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537FB-E14A-0949-36FC-23E1C08BCB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79E38D4-BDAF-20A0-4377-EB8D8AD519B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0A62B9-907E-2A6A-7170-291131D51F3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B95B044-2CCD-7C34-AFE0-EA0664AD298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373743AC-B0C6-4BC9-8A24-B4860D349BD8}"/>
              </a:ext>
            </a:extLst>
          </p:cNvPr>
          <p:cNvSpPr>
            <a:spLocks noGrp="1"/>
          </p:cNvSpPr>
          <p:nvPr>
            <p:ph type="sldNum" sz="quarter" idx="11"/>
          </p:nvPr>
        </p:nvSpPr>
        <p:spPr/>
        <p:txBody>
          <a:bodyPr/>
          <a:lstStyle>
            <a:lvl1pPr>
              <a:defRPr/>
            </a:lvl1pPr>
          </a:lstStyle>
          <a:p>
            <a:fld id="{0C6A780A-0547-204E-9192-A3F4E9799DB5}" type="slidenum">
              <a:rPr lang="zh-CN" altLang="zh-CN"/>
              <a:pPr/>
              <a:t>‹#›</a:t>
            </a:fld>
            <a:endParaRPr lang="en-US" altLang="zh-CN"/>
          </a:p>
        </p:txBody>
      </p:sp>
    </p:spTree>
    <p:extLst>
      <p:ext uri="{BB962C8B-B14F-4D97-AF65-F5344CB8AC3E}">
        <p14:creationId xmlns:p14="http://schemas.microsoft.com/office/powerpoint/2010/main" val="211476028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F927D-F4AA-1E72-EC35-297C7568824E}"/>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9F7918D-A189-014C-F77D-95C839DE6E05}"/>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C65AE4A-6E2C-F2BA-8924-0A1E12E7387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49748A9-BB39-B407-1D39-9C472037297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C65ADF9-0504-F073-4906-F97098CA2819}"/>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C1ADD6E2-3DD6-A34E-7784-83AE6D95E28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8" name="灯片编号占位符 7">
            <a:extLst>
              <a:ext uri="{FF2B5EF4-FFF2-40B4-BE49-F238E27FC236}">
                <a16:creationId xmlns:a16="http://schemas.microsoft.com/office/drawing/2014/main" id="{E9D17F4C-066C-8A52-0D93-4E5CE5735FF8}"/>
              </a:ext>
            </a:extLst>
          </p:cNvPr>
          <p:cNvSpPr>
            <a:spLocks noGrp="1"/>
          </p:cNvSpPr>
          <p:nvPr>
            <p:ph type="sldNum" sz="quarter" idx="11"/>
          </p:nvPr>
        </p:nvSpPr>
        <p:spPr/>
        <p:txBody>
          <a:bodyPr/>
          <a:lstStyle>
            <a:lvl1pPr>
              <a:defRPr/>
            </a:lvl1pPr>
          </a:lstStyle>
          <a:p>
            <a:fld id="{91298798-A395-3245-907B-C6CC2A9E6D66}" type="slidenum">
              <a:rPr lang="zh-CN" altLang="zh-CN"/>
              <a:pPr/>
              <a:t>‹#›</a:t>
            </a:fld>
            <a:endParaRPr lang="en-US" altLang="zh-CN"/>
          </a:p>
        </p:txBody>
      </p:sp>
    </p:spTree>
    <p:extLst>
      <p:ext uri="{BB962C8B-B14F-4D97-AF65-F5344CB8AC3E}">
        <p14:creationId xmlns:p14="http://schemas.microsoft.com/office/powerpoint/2010/main" val="3055898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DD968-EBA9-80A5-1E89-579258BAF330}"/>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646323EE-162D-4F99-70DB-74CE33E90A0C}"/>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4" name="灯片编号占位符 3">
            <a:extLst>
              <a:ext uri="{FF2B5EF4-FFF2-40B4-BE49-F238E27FC236}">
                <a16:creationId xmlns:a16="http://schemas.microsoft.com/office/drawing/2014/main" id="{A2F88707-8A8D-235A-4670-E439CCE6B07B}"/>
              </a:ext>
            </a:extLst>
          </p:cNvPr>
          <p:cNvSpPr>
            <a:spLocks noGrp="1"/>
          </p:cNvSpPr>
          <p:nvPr>
            <p:ph type="sldNum" sz="quarter" idx="11"/>
          </p:nvPr>
        </p:nvSpPr>
        <p:spPr/>
        <p:txBody>
          <a:bodyPr/>
          <a:lstStyle>
            <a:lvl1pPr>
              <a:defRPr/>
            </a:lvl1pPr>
          </a:lstStyle>
          <a:p>
            <a:fld id="{5E06BA63-CDF4-A748-9244-36BF4EB5A578}" type="slidenum">
              <a:rPr lang="zh-CN" altLang="zh-CN"/>
              <a:pPr/>
              <a:t>‹#›</a:t>
            </a:fld>
            <a:endParaRPr lang="en-US" altLang="zh-CN"/>
          </a:p>
        </p:txBody>
      </p:sp>
    </p:spTree>
    <p:extLst>
      <p:ext uri="{BB962C8B-B14F-4D97-AF65-F5344CB8AC3E}">
        <p14:creationId xmlns:p14="http://schemas.microsoft.com/office/powerpoint/2010/main" val="159744503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389E356-5E4B-648A-96DF-F32F811C59B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3" name="灯片编号占位符 2">
            <a:extLst>
              <a:ext uri="{FF2B5EF4-FFF2-40B4-BE49-F238E27FC236}">
                <a16:creationId xmlns:a16="http://schemas.microsoft.com/office/drawing/2014/main" id="{58547BEA-F453-14DF-A7C6-4F6FF1630103}"/>
              </a:ext>
            </a:extLst>
          </p:cNvPr>
          <p:cNvSpPr>
            <a:spLocks noGrp="1"/>
          </p:cNvSpPr>
          <p:nvPr>
            <p:ph type="sldNum" sz="quarter" idx="11"/>
          </p:nvPr>
        </p:nvSpPr>
        <p:spPr/>
        <p:txBody>
          <a:bodyPr/>
          <a:lstStyle>
            <a:lvl1pPr>
              <a:defRPr/>
            </a:lvl1pPr>
          </a:lstStyle>
          <a:p>
            <a:fld id="{10BCB720-C51A-E240-913F-68A27FD87D60}" type="slidenum">
              <a:rPr lang="zh-CN" altLang="zh-CN"/>
              <a:pPr/>
              <a:t>‹#›</a:t>
            </a:fld>
            <a:endParaRPr lang="en-US" altLang="zh-CN"/>
          </a:p>
        </p:txBody>
      </p:sp>
    </p:spTree>
    <p:extLst>
      <p:ext uri="{BB962C8B-B14F-4D97-AF65-F5344CB8AC3E}">
        <p14:creationId xmlns:p14="http://schemas.microsoft.com/office/powerpoint/2010/main" val="29085745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1025-A295-F9BC-1225-13E1997AD7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944E6DE-5629-F8F1-381B-20B358B64DD1}"/>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86B7FAB-1DE0-1EF5-BBB9-945C1F3BF00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B1C3A1C-458F-6108-5FF2-8B3B931416A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F8907A46-6115-6C82-2C27-A19DAFF6BC9C}"/>
              </a:ext>
            </a:extLst>
          </p:cNvPr>
          <p:cNvSpPr>
            <a:spLocks noGrp="1"/>
          </p:cNvSpPr>
          <p:nvPr>
            <p:ph type="sldNum" sz="quarter" idx="11"/>
          </p:nvPr>
        </p:nvSpPr>
        <p:spPr/>
        <p:txBody>
          <a:bodyPr/>
          <a:lstStyle>
            <a:lvl1pPr>
              <a:defRPr/>
            </a:lvl1pPr>
          </a:lstStyle>
          <a:p>
            <a:fld id="{5142667C-68EE-4642-A4F3-496A64FF833A}" type="slidenum">
              <a:rPr lang="zh-CN" altLang="zh-CN"/>
              <a:pPr/>
              <a:t>‹#›</a:t>
            </a:fld>
            <a:endParaRPr lang="en-US" altLang="zh-CN"/>
          </a:p>
        </p:txBody>
      </p:sp>
    </p:spTree>
    <p:extLst>
      <p:ext uri="{BB962C8B-B14F-4D97-AF65-F5344CB8AC3E}">
        <p14:creationId xmlns:p14="http://schemas.microsoft.com/office/powerpoint/2010/main" val="129047250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4BAE9-5EFD-1E81-1E44-83B35CDEFAA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38EC81B0-0FC4-59A9-DF21-0D58AEA38EF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6F019806-BC98-3F05-A4B8-B6FF6BEA3073}"/>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D2A0BDA8-6C02-9BC3-900D-F97F578C24BF}"/>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EFC80D30-BA6D-6894-C7B5-EAB97CEF27F6}"/>
              </a:ext>
            </a:extLst>
          </p:cNvPr>
          <p:cNvSpPr>
            <a:spLocks noGrp="1"/>
          </p:cNvSpPr>
          <p:nvPr>
            <p:ph type="sldNum" sz="quarter" idx="11"/>
          </p:nvPr>
        </p:nvSpPr>
        <p:spPr/>
        <p:txBody>
          <a:bodyPr/>
          <a:lstStyle>
            <a:lvl1pPr>
              <a:defRPr/>
            </a:lvl1pPr>
          </a:lstStyle>
          <a:p>
            <a:fld id="{2AFC7DB8-8F70-4249-BF47-064636DE409F}" type="slidenum">
              <a:rPr lang="zh-CN" altLang="zh-CN"/>
              <a:pPr/>
              <a:t>‹#›</a:t>
            </a:fld>
            <a:endParaRPr lang="en-US" altLang="zh-CN"/>
          </a:p>
        </p:txBody>
      </p:sp>
    </p:spTree>
    <p:extLst>
      <p:ext uri="{BB962C8B-B14F-4D97-AF65-F5344CB8AC3E}">
        <p14:creationId xmlns:p14="http://schemas.microsoft.com/office/powerpoint/2010/main" val="155167612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070EA-5479-8C9D-2BC7-3EBB751F4B5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C602B8F-4993-250E-7AED-51D0E7DDCC9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990B6F2E-F7A0-8F8A-F8E0-7B027508FA9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C0F67A8-3313-C1E5-92A0-2612E579B099}"/>
              </a:ext>
            </a:extLst>
          </p:cNvPr>
          <p:cNvSpPr>
            <a:spLocks noGrp="1"/>
          </p:cNvSpPr>
          <p:nvPr>
            <p:ph type="sldNum" sz="quarter" idx="11"/>
          </p:nvPr>
        </p:nvSpPr>
        <p:spPr/>
        <p:txBody>
          <a:bodyPr/>
          <a:lstStyle>
            <a:lvl1pPr>
              <a:defRPr/>
            </a:lvl1pPr>
          </a:lstStyle>
          <a:p>
            <a:fld id="{BB77E4A8-8AD9-0342-BA1C-342D06E0EBCE}" type="slidenum">
              <a:rPr lang="zh-CN" altLang="zh-CN"/>
              <a:pPr/>
              <a:t>‹#›</a:t>
            </a:fld>
            <a:endParaRPr lang="en-US" altLang="zh-CN"/>
          </a:p>
        </p:txBody>
      </p:sp>
    </p:spTree>
    <p:extLst>
      <p:ext uri="{BB962C8B-B14F-4D97-AF65-F5344CB8AC3E}">
        <p14:creationId xmlns:p14="http://schemas.microsoft.com/office/powerpoint/2010/main" val="321619176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C1DC8E-9255-868F-13FC-FD34667A0A9D}"/>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D77E83C-9BFB-4551-8EE1-50C0450E10B3}"/>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E6A07A5B-F244-4EEC-E6E6-BAE3BC533733}"/>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7A1DB9A-41ED-1FFA-FDAA-05284D3E179F}"/>
              </a:ext>
            </a:extLst>
          </p:cNvPr>
          <p:cNvSpPr>
            <a:spLocks noGrp="1"/>
          </p:cNvSpPr>
          <p:nvPr>
            <p:ph type="sldNum" sz="quarter" idx="11"/>
          </p:nvPr>
        </p:nvSpPr>
        <p:spPr/>
        <p:txBody>
          <a:bodyPr/>
          <a:lstStyle>
            <a:lvl1pPr>
              <a:defRPr/>
            </a:lvl1pPr>
          </a:lstStyle>
          <a:p>
            <a:fld id="{133DC0D6-50E5-4741-A0A7-D9800ECF4329}" type="slidenum">
              <a:rPr lang="zh-CN" altLang="zh-CN"/>
              <a:pPr/>
              <a:t>‹#›</a:t>
            </a:fld>
            <a:endParaRPr lang="en-US" altLang="zh-CN"/>
          </a:p>
        </p:txBody>
      </p:sp>
    </p:spTree>
    <p:extLst>
      <p:ext uri="{BB962C8B-B14F-4D97-AF65-F5344CB8AC3E}">
        <p14:creationId xmlns:p14="http://schemas.microsoft.com/office/powerpoint/2010/main" val="73051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sz="900" i="1">
                <a:solidFill>
                  <a:srgbClr val="777777"/>
                </a:solidFill>
                <a:ea typeface="宋体" panose="02010600030101010101" pitchFamily="2" charset="-122"/>
              </a:defRPr>
            </a:lvl1pPr>
          </a:lstStyle>
          <a:p>
            <a:r>
              <a:rPr lang="en-US" altLang="zh-CN" dirty="0"/>
              <a:t>IS-LM</a:t>
            </a:r>
            <a:r>
              <a:rPr lang="zh-CN" altLang="en-US" dirty="0"/>
              <a:t>模型</a:t>
            </a:r>
            <a:endParaRPr lang="zh-CN" altLang="zh-CN" dirty="0"/>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21887057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a:extLst>
              <a:ext uri="{FF2B5EF4-FFF2-40B4-BE49-F238E27FC236}">
                <a16:creationId xmlns:a16="http://schemas.microsoft.com/office/drawing/2014/main" id="{97ADDFA9-4FB1-4040-1A89-B55CFAB9DA3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1" name="TextBox 6">
            <a:extLst>
              <a:ext uri="{FF2B5EF4-FFF2-40B4-BE49-F238E27FC236}">
                <a16:creationId xmlns:a16="http://schemas.microsoft.com/office/drawing/2014/main" id="{2352C8A3-570D-2836-6893-215C342169F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1109">
                <a:solidFill>
                  <a:srgbClr val="008080"/>
                </a:solidFill>
                <a:latin typeface="Tahoma" panose="020B0604030504040204" pitchFamily="34" charset="0"/>
                <a:ea typeface="宋体" panose="02010600030101010101" pitchFamily="2" charset="-122"/>
              </a:rPr>
              <a:t>C H A P T E R</a:t>
            </a:r>
          </a:p>
        </p:txBody>
      </p:sp>
      <p:sp>
        <p:nvSpPr>
          <p:cNvPr id="2052" name="Rectangle 2">
            <a:extLst>
              <a:ext uri="{FF2B5EF4-FFF2-40B4-BE49-F238E27FC236}">
                <a16:creationId xmlns:a16="http://schemas.microsoft.com/office/drawing/2014/main" id="{9690264A-A2AA-D1F2-E0AA-7B471C801FA6}"/>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2053" name="Rectangle 3">
            <a:extLst>
              <a:ext uri="{FF2B5EF4-FFF2-40B4-BE49-F238E27FC236}">
                <a16:creationId xmlns:a16="http://schemas.microsoft.com/office/drawing/2014/main" id="{BBB52232-5B15-D93A-29E1-6D368A4002F6}"/>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Tree>
    <p:extLst>
      <p:ext uri="{BB962C8B-B14F-4D97-AF65-F5344CB8AC3E}">
        <p14:creationId xmlns:p14="http://schemas.microsoft.com/office/powerpoint/2010/main" val="241988620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bldLvl="4" animBg="1" autoUpdateAnimBg="0"/>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238073169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6ECA6EC-9612-6EBD-6329-BCE42505C11B}"/>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9C65F63-6D34-3235-A7CB-E2D139D9C20B}"/>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7EFCC5-1D88-2D2D-3ACB-537A6BFA7FE9}"/>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失业</a:t>
            </a:r>
          </a:p>
        </p:txBody>
      </p:sp>
      <p:sp>
        <p:nvSpPr>
          <p:cNvPr id="1029" name="Rectangle 5">
            <a:extLst>
              <a:ext uri="{FF2B5EF4-FFF2-40B4-BE49-F238E27FC236}">
                <a16:creationId xmlns:a16="http://schemas.microsoft.com/office/drawing/2014/main" id="{1271616B-276C-3CA9-6F3F-B7B1EBEE6F7A}"/>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738C1631-73B5-174D-A282-E86D4BC290D0}" type="slidenum">
              <a:rPr lang="zh-CN" altLang="zh-CN"/>
              <a:pPr/>
              <a:t>‹#›</a:t>
            </a:fld>
            <a:endParaRPr lang="en-US" altLang="zh-CN"/>
          </a:p>
        </p:txBody>
      </p:sp>
    </p:spTree>
    <p:extLst>
      <p:ext uri="{BB962C8B-B14F-4D97-AF65-F5344CB8AC3E}">
        <p14:creationId xmlns:p14="http://schemas.microsoft.com/office/powerpoint/2010/main" val="2858994519"/>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7"/>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7"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7"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8"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166146543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4" b="1" kern="1200">
          <a:solidFill>
            <a:srgbClr val="333399"/>
          </a:solidFill>
          <a:latin typeface="+mj-lt"/>
          <a:ea typeface="+mj-ea"/>
          <a:cs typeface="+mj-cs"/>
        </a:defRPr>
      </a:lvl1pPr>
      <a:lvl2pPr algn="ctr" rtl="0" fontAlgn="base">
        <a:spcBef>
          <a:spcPct val="0"/>
        </a:spcBef>
        <a:spcAft>
          <a:spcPct val="0"/>
        </a:spcAft>
        <a:defRPr sz="1914" b="1">
          <a:solidFill>
            <a:srgbClr val="333399"/>
          </a:solidFill>
          <a:latin typeface="Book Antiqua" panose="02040602050305030304" pitchFamily="18" charset="0"/>
        </a:defRPr>
      </a:lvl2pPr>
      <a:lvl3pPr algn="ctr" rtl="0" fontAlgn="base">
        <a:spcBef>
          <a:spcPct val="0"/>
        </a:spcBef>
        <a:spcAft>
          <a:spcPct val="0"/>
        </a:spcAft>
        <a:defRPr sz="1914" b="1">
          <a:solidFill>
            <a:srgbClr val="333399"/>
          </a:solidFill>
          <a:latin typeface="Book Antiqua" panose="02040602050305030304" pitchFamily="18" charset="0"/>
        </a:defRPr>
      </a:lvl3pPr>
      <a:lvl4pPr algn="ctr" rtl="0" fontAlgn="base">
        <a:spcBef>
          <a:spcPct val="0"/>
        </a:spcBef>
        <a:spcAft>
          <a:spcPct val="0"/>
        </a:spcAft>
        <a:defRPr sz="1914" b="1">
          <a:solidFill>
            <a:srgbClr val="333399"/>
          </a:solidFill>
          <a:latin typeface="Book Antiqua" panose="02040602050305030304" pitchFamily="18" charset="0"/>
        </a:defRPr>
      </a:lvl4pPr>
      <a:lvl5pPr algn="ctr" rtl="0" fontAlgn="base">
        <a:spcBef>
          <a:spcPct val="0"/>
        </a:spcBef>
        <a:spcAft>
          <a:spcPct val="0"/>
        </a:spcAft>
        <a:defRPr sz="1914" b="1">
          <a:solidFill>
            <a:srgbClr val="333399"/>
          </a:solidFill>
          <a:latin typeface="Book Antiqua" panose="02040602050305030304" pitchFamily="18" charset="0"/>
        </a:defRPr>
      </a:lvl5pPr>
      <a:lvl6pPr marL="230329" algn="ctr" rtl="0" fontAlgn="base">
        <a:spcBef>
          <a:spcPct val="0"/>
        </a:spcBef>
        <a:spcAft>
          <a:spcPct val="0"/>
        </a:spcAft>
        <a:defRPr sz="1914" b="1">
          <a:solidFill>
            <a:srgbClr val="333399"/>
          </a:solidFill>
          <a:latin typeface="Book Antiqua" panose="02040602050305030304" pitchFamily="18" charset="0"/>
        </a:defRPr>
      </a:lvl6pPr>
      <a:lvl7pPr marL="460659" algn="ctr" rtl="0" fontAlgn="base">
        <a:spcBef>
          <a:spcPct val="0"/>
        </a:spcBef>
        <a:spcAft>
          <a:spcPct val="0"/>
        </a:spcAft>
        <a:defRPr sz="1914" b="1">
          <a:solidFill>
            <a:srgbClr val="333399"/>
          </a:solidFill>
          <a:latin typeface="Book Antiqua" panose="02040602050305030304" pitchFamily="18" charset="0"/>
        </a:defRPr>
      </a:lvl7pPr>
      <a:lvl8pPr marL="690989" algn="ctr" rtl="0" fontAlgn="base">
        <a:spcBef>
          <a:spcPct val="0"/>
        </a:spcBef>
        <a:spcAft>
          <a:spcPct val="0"/>
        </a:spcAft>
        <a:defRPr sz="1914" b="1">
          <a:solidFill>
            <a:srgbClr val="333399"/>
          </a:solidFill>
          <a:latin typeface="Book Antiqua" panose="02040602050305030304" pitchFamily="18" charset="0"/>
        </a:defRPr>
      </a:lvl8pPr>
      <a:lvl9pPr marL="921319" algn="ctr" rtl="0" fontAlgn="base">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fontAlgn="base">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fontAlgn="base">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fontAlgn="base">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fontAlgn="base">
        <a:spcBef>
          <a:spcPct val="15000"/>
        </a:spcBef>
        <a:spcAft>
          <a:spcPct val="0"/>
        </a:spcAft>
        <a:buChar char="–"/>
        <a:defRPr sz="1007" kern="1200">
          <a:solidFill>
            <a:schemeClr val="tx1"/>
          </a:solidFill>
          <a:latin typeface="+mn-lt"/>
          <a:ea typeface="+mn-ea"/>
          <a:cs typeface="+mn-cs"/>
        </a:defRPr>
      </a:lvl4pPr>
      <a:lvl5pPr marL="1036483" indent="-115165" algn="l" rtl="0" fontAlgn="base">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7"/>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7"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7"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8"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1211662017"/>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4" b="1" kern="1200">
          <a:solidFill>
            <a:srgbClr val="333399"/>
          </a:solidFill>
          <a:latin typeface="+mj-lt"/>
          <a:ea typeface="+mj-ea"/>
          <a:cs typeface="+mj-cs"/>
        </a:defRPr>
      </a:lvl1pPr>
      <a:lvl2pPr algn="ctr" rtl="0" eaLnBrk="0" fontAlgn="base" hangingPunct="0">
        <a:spcBef>
          <a:spcPct val="0"/>
        </a:spcBef>
        <a:spcAft>
          <a:spcPct val="0"/>
        </a:spcAft>
        <a:defRPr sz="1914" b="1">
          <a:solidFill>
            <a:srgbClr val="333399"/>
          </a:solidFill>
          <a:latin typeface="Book Antiqua" panose="02040602050305030304" pitchFamily="18" charset="0"/>
        </a:defRPr>
      </a:lvl2pPr>
      <a:lvl3pPr algn="ctr" rtl="0" eaLnBrk="0" fontAlgn="base" hangingPunct="0">
        <a:spcBef>
          <a:spcPct val="0"/>
        </a:spcBef>
        <a:spcAft>
          <a:spcPct val="0"/>
        </a:spcAft>
        <a:defRPr sz="1914" b="1">
          <a:solidFill>
            <a:srgbClr val="333399"/>
          </a:solidFill>
          <a:latin typeface="Book Antiqua" panose="02040602050305030304" pitchFamily="18" charset="0"/>
        </a:defRPr>
      </a:lvl3pPr>
      <a:lvl4pPr algn="ctr" rtl="0" eaLnBrk="0" fontAlgn="base" hangingPunct="0">
        <a:spcBef>
          <a:spcPct val="0"/>
        </a:spcBef>
        <a:spcAft>
          <a:spcPct val="0"/>
        </a:spcAft>
        <a:defRPr sz="1914" b="1">
          <a:solidFill>
            <a:srgbClr val="333399"/>
          </a:solidFill>
          <a:latin typeface="Book Antiqua" panose="02040602050305030304" pitchFamily="18" charset="0"/>
        </a:defRPr>
      </a:lvl4pPr>
      <a:lvl5pPr algn="ctr" rtl="0" eaLnBrk="0" fontAlgn="base" hangingPunct="0">
        <a:spcBef>
          <a:spcPct val="0"/>
        </a:spcBef>
        <a:spcAft>
          <a:spcPct val="0"/>
        </a:spcAft>
        <a:defRPr sz="1914" b="1">
          <a:solidFill>
            <a:srgbClr val="333399"/>
          </a:solidFill>
          <a:latin typeface="Book Antiqua" panose="02040602050305030304" pitchFamily="18" charset="0"/>
        </a:defRPr>
      </a:lvl5pPr>
      <a:lvl6pPr marL="230329" algn="ctr" rtl="0" eaLnBrk="0" fontAlgn="base" hangingPunct="0">
        <a:spcBef>
          <a:spcPct val="0"/>
        </a:spcBef>
        <a:spcAft>
          <a:spcPct val="0"/>
        </a:spcAft>
        <a:defRPr sz="1914" b="1">
          <a:solidFill>
            <a:srgbClr val="333399"/>
          </a:solidFill>
          <a:latin typeface="Book Antiqua" panose="02040602050305030304" pitchFamily="18" charset="0"/>
        </a:defRPr>
      </a:lvl6pPr>
      <a:lvl7pPr marL="460659" algn="ctr" rtl="0" eaLnBrk="0" fontAlgn="base" hangingPunct="0">
        <a:spcBef>
          <a:spcPct val="0"/>
        </a:spcBef>
        <a:spcAft>
          <a:spcPct val="0"/>
        </a:spcAft>
        <a:defRPr sz="1914" b="1">
          <a:solidFill>
            <a:srgbClr val="333399"/>
          </a:solidFill>
          <a:latin typeface="Book Antiqua" panose="02040602050305030304" pitchFamily="18" charset="0"/>
        </a:defRPr>
      </a:lvl7pPr>
      <a:lvl8pPr marL="690989" algn="ctr" rtl="0" eaLnBrk="0" fontAlgn="base" hangingPunct="0">
        <a:spcBef>
          <a:spcPct val="0"/>
        </a:spcBef>
        <a:spcAft>
          <a:spcPct val="0"/>
        </a:spcAft>
        <a:defRPr sz="1914" b="1">
          <a:solidFill>
            <a:srgbClr val="333399"/>
          </a:solidFill>
          <a:latin typeface="Book Antiqua" panose="02040602050305030304" pitchFamily="18" charset="0"/>
        </a:defRPr>
      </a:lvl8pPr>
      <a:lvl9pPr marL="921319" algn="ctr" rtl="0" eaLnBrk="0" fontAlgn="base" hangingPunct="0">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4CACF47-282E-9251-5E38-9773C995D331}"/>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84CF1F3-1A21-5094-568D-A55E8094DF8F}"/>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79294301-7CB8-9AE9-385D-320FE3C363A7}"/>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储蓄、投资和金融体系</a:t>
            </a:r>
          </a:p>
        </p:txBody>
      </p:sp>
      <p:sp>
        <p:nvSpPr>
          <p:cNvPr id="1029" name="Rectangle 5">
            <a:extLst>
              <a:ext uri="{FF2B5EF4-FFF2-40B4-BE49-F238E27FC236}">
                <a16:creationId xmlns:a16="http://schemas.microsoft.com/office/drawing/2014/main" id="{6F1A230D-A13F-6E34-8E84-B7BAF6D7C766}"/>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CBE2655C-3234-C049-B5D7-3DC99A4C04D4}" type="slidenum">
              <a:rPr lang="zh-CN" altLang="zh-CN"/>
              <a:pPr/>
              <a:t>‹#›</a:t>
            </a:fld>
            <a:endParaRPr lang="en-US" altLang="zh-CN"/>
          </a:p>
        </p:txBody>
      </p:sp>
    </p:spTree>
    <p:extLst>
      <p:ext uri="{BB962C8B-B14F-4D97-AF65-F5344CB8AC3E}">
        <p14:creationId xmlns:p14="http://schemas.microsoft.com/office/powerpoint/2010/main" val="276189433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4587AD2-2A40-9296-D56D-93FDBD7636EF}"/>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0FDC28A-B9AE-127F-83F8-0B1FDA078C1C}"/>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E3BF17-E6D7-590E-F8B0-BB3DF8E77868}"/>
              </a:ext>
            </a:extLst>
          </p:cNvPr>
          <p:cNvSpPr>
            <a:spLocks noGrp="1" noChangeArrowheads="1"/>
          </p:cNvSpPr>
          <p:nvPr>
            <p:ph type="ftr" sz="quarter" idx="3"/>
          </p:nvPr>
        </p:nvSpPr>
        <p:spPr bwMode="auto">
          <a:xfrm>
            <a:off x="144066" y="3226028"/>
            <a:ext cx="3974611"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latin typeface="+mn-lt"/>
                <a:ea typeface="宋体" panose="02010600030101010101" pitchFamily="2" charset="-122"/>
              </a:defRPr>
            </a:lvl1pPr>
          </a:lstStyle>
          <a:p>
            <a:r>
              <a:rPr lang="zh-CN" altLang="zh-CN"/>
              <a:t>消费者、生产者与市场效率</a:t>
            </a:r>
          </a:p>
        </p:txBody>
      </p:sp>
      <p:sp>
        <p:nvSpPr>
          <p:cNvPr id="1029" name="Rectangle 5">
            <a:extLst>
              <a:ext uri="{FF2B5EF4-FFF2-40B4-BE49-F238E27FC236}">
                <a16:creationId xmlns:a16="http://schemas.microsoft.com/office/drawing/2014/main" id="{E3242819-FC19-56A0-789F-5AA03E128747}"/>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latin typeface="Tahoma" panose="020B0604030504040204" pitchFamily="34" charset="0"/>
                <a:ea typeface="宋体" panose="02010600030101010101" pitchFamily="2" charset="-122"/>
              </a:defRPr>
            </a:lvl1pPr>
          </a:lstStyle>
          <a:p>
            <a:fld id="{56D20B8E-C68C-114D-8CC8-E6658F47B712}" type="slidenum">
              <a:rPr lang="zh-CN" altLang="zh-CN"/>
              <a:pPr/>
              <a:t>‹#›</a:t>
            </a:fld>
            <a:endParaRPr lang="en-US" altLang="zh-CN"/>
          </a:p>
        </p:txBody>
      </p:sp>
    </p:spTree>
    <p:extLst>
      <p:ext uri="{BB962C8B-B14F-4D97-AF65-F5344CB8AC3E}">
        <p14:creationId xmlns:p14="http://schemas.microsoft.com/office/powerpoint/2010/main" val="1163310630"/>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54.png"/><Relationship Id="rId7" Type="http://schemas.openxmlformats.org/officeDocument/2006/relationships/image" Target="../media/image90.png"/><Relationship Id="rId12" Type="http://schemas.openxmlformats.org/officeDocument/2006/relationships/image" Target="../media/image14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130.png"/><Relationship Id="rId5" Type="http://schemas.openxmlformats.org/officeDocument/2006/relationships/image" Target="../media/image70.png"/><Relationship Id="rId10" Type="http://schemas.openxmlformats.org/officeDocument/2006/relationships/image" Target="../media/image120.png"/><Relationship Id="rId4" Type="http://schemas.openxmlformats.org/officeDocument/2006/relationships/image" Target="../media/image67.png"/><Relationship Id="rId9" Type="http://schemas.openxmlformats.org/officeDocument/2006/relationships/image" Target="../media/image110.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jp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oleObject" Target="../embeddings/oleObject2.bin"/><Relationship Id="rId4" Type="http://schemas.openxmlformats.org/officeDocument/2006/relationships/image" Target="../media/image42.wmf"/></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40.png"/><Relationship Id="rId1" Type="http://schemas.openxmlformats.org/officeDocument/2006/relationships/slideLayout" Target="../slideLayouts/slideLayout2.xml"/><Relationship Id="rId5" Type="http://schemas.openxmlformats.org/officeDocument/2006/relationships/image" Target="../media/image370.png"/><Relationship Id="rId4" Type="http://schemas.openxmlformats.org/officeDocument/2006/relationships/image" Target="../media/image360.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45.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46.emf"/></Relationships>
</file>

<file path=ppt/slides/_rels/slide7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hyperlink" Target="../../../../../../../../Program%20Files/TurningPoint/2003/Questions.html" TargetMode="External"/></Relationships>
</file>

<file path=ppt/slides/_rels/slide8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0.png"/><Relationship Id="rId7" Type="http://schemas.openxmlformats.org/officeDocument/2006/relationships/image" Target="../media/image59.png"/><Relationship Id="rId2" Type="http://schemas.openxmlformats.org/officeDocument/2006/relationships/image" Target="../media/image540.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0.png"/><Relationship Id="rId9" Type="http://schemas.openxmlformats.org/officeDocument/2006/relationships/image" Target="../media/image6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2008" y="1471712"/>
            <a:ext cx="4387324" cy="612796"/>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a:rPr>
              <a:t>第四章 短期经济波动模型：</a:t>
            </a:r>
            <a:endParaRPr lang="en-US" altLang="zh-CN" sz="1600" b="1" spc="-15" dirty="0">
              <a:latin typeface="Garamond" panose="02020404030301010803" pitchFamily="18" charset="0"/>
              <a:ea typeface="KaiTi" panose="02010609060101010101" pitchFamily="49" charset="-122"/>
              <a:cs typeface="Times New Roman"/>
            </a:endParaRPr>
          </a:p>
          <a:p>
            <a:pPr marL="635" algn="ctr">
              <a:lnSpc>
                <a:spcPct val="130000"/>
              </a:lnSpc>
            </a:pPr>
            <a:r>
              <a:rPr lang="zh-CN" altLang="en-US" sz="1600" b="1" spc="-15" dirty="0">
                <a:solidFill>
                  <a:srgbClr val="011893"/>
                </a:solidFill>
                <a:latin typeface="Garamond" panose="02020404030301010803" pitchFamily="18" charset="0"/>
                <a:ea typeface="KaiTi" panose="02010609060101010101" pitchFamily="49" charset="-122"/>
                <a:cs typeface="Times New Roman"/>
              </a:rPr>
              <a:t>总需求</a:t>
            </a:r>
            <a:r>
              <a:rPr lang="en-US" altLang="zh-CN" sz="1600" b="1" spc="-15" dirty="0">
                <a:solidFill>
                  <a:srgbClr val="011893"/>
                </a:solidFill>
                <a:latin typeface="Garamond" panose="02020404030301010803" pitchFamily="18" charset="0"/>
                <a:ea typeface="KaiTi" panose="02010609060101010101" pitchFamily="49" charset="-122"/>
                <a:cs typeface="Times New Roman"/>
              </a:rPr>
              <a:t>-</a:t>
            </a:r>
            <a:r>
              <a:rPr lang="zh-CN" altLang="en-US" sz="1600" b="1" spc="-15" dirty="0">
                <a:solidFill>
                  <a:srgbClr val="011893"/>
                </a:solidFill>
                <a:latin typeface="Garamond" panose="02020404030301010803" pitchFamily="18" charset="0"/>
                <a:ea typeface="KaiTi" panose="02010609060101010101" pitchFamily="49" charset="-122"/>
                <a:cs typeface="Times New Roman"/>
              </a:rPr>
              <a:t>总供给分析</a:t>
            </a:r>
            <a:endParaRPr lang="en-US" altLang="zh-CN" sz="1600" b="1" spc="-15" dirty="0">
              <a:solidFill>
                <a:srgbClr val="011893"/>
              </a:solidFill>
              <a:latin typeface="Garamond" panose="02020404030301010803" pitchFamily="18" charset="0"/>
              <a:ea typeface="KaiTi" panose="02010609060101010101" pitchFamily="49" charset="-122"/>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Tree>
    <p:extLst>
      <p:ext uri="{BB962C8B-B14F-4D97-AF65-F5344CB8AC3E}">
        <p14:creationId xmlns:p14="http://schemas.microsoft.com/office/powerpoint/2010/main" val="361091061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52AE4F3F-8DA5-30E2-BF15-00A15F9F6A89}"/>
              </a:ext>
            </a:extLst>
          </p:cNvPr>
          <p:cNvSpPr txBox="1">
            <a:spLocks/>
          </p:cNvSpPr>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dirty="0">
                <a:solidFill>
                  <a:srgbClr val="C00000"/>
                </a:solidFill>
                <a:latin typeface="Microsoft YaHei" panose="020B0503020204020204" pitchFamily="34" charset="-122"/>
                <a:ea typeface="Microsoft YaHei" panose="020B0503020204020204" pitchFamily="34" charset="-122"/>
              </a:rPr>
              <a:t>本章内容</a:t>
            </a:r>
            <a:endParaRPr lang="en-US" altLang="zh-CN" sz="1800" kern="0" dirty="0">
              <a:solidFill>
                <a:srgbClr val="C00000"/>
              </a:solidFill>
              <a:latin typeface="Microsoft YaHei" panose="020B0503020204020204" pitchFamily="34" charset="-122"/>
              <a:ea typeface="Microsoft YaHei" panose="020B0503020204020204" pitchFamily="34" charset="-122"/>
            </a:endParaRPr>
          </a:p>
        </p:txBody>
      </p:sp>
      <p:sp>
        <p:nvSpPr>
          <p:cNvPr id="2" name="Rectangle 3">
            <a:extLst>
              <a:ext uri="{FF2B5EF4-FFF2-40B4-BE49-F238E27FC236}">
                <a16:creationId xmlns:a16="http://schemas.microsoft.com/office/drawing/2014/main" id="{F46EEACB-6D97-FCA1-E3DD-9171829BE6B6}"/>
              </a:ext>
            </a:extLst>
          </p:cNvPr>
          <p:cNvSpPr txBox="1">
            <a:spLocks noChangeArrowheads="1"/>
          </p:cNvSpPr>
          <p:nvPr/>
        </p:nvSpPr>
        <p:spPr>
          <a:xfrm>
            <a:off x="288826" y="616708"/>
            <a:ext cx="3888432" cy="1635897"/>
          </a:xfrm>
          <a:prstGeom prst="rect">
            <a:avLst/>
          </a:prstGeom>
        </p:spPr>
        <p:txBody>
          <a:bodyPr wrap="square" lIns="0" tIns="0" rIns="0" bIns="0">
            <a:spAutoFit/>
          </a:bodyPr>
          <a:lstStyle>
            <a:lvl1pPr marL="0" eaLnBrk="1" hangingPunct="1">
              <a:defRPr sz="1000" b="0" i="0">
                <a:solidFill>
                  <a:schemeClr val="tx1"/>
                </a:solidFill>
                <a:latin typeface="Times New Roman"/>
                <a:ea typeface="SimSun" panose="02010600030101010101" pitchFamily="2" charset="-122"/>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1</a:t>
            </a:r>
            <a:r>
              <a:rPr lang="zh-CN" altLang="en-US" sz="1200" kern="0" dirty="0">
                <a:latin typeface="Garamond" panose="02020404030301010803" pitchFamily="18" charset="0"/>
                <a:ea typeface="KaiTi" panose="02010609060101010101" pitchFamily="49" charset="-122"/>
              </a:rPr>
              <a:t>节  总需求曲线</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2</a:t>
            </a:r>
            <a:r>
              <a:rPr lang="zh-CN" altLang="en-US" sz="1200" kern="0" dirty="0">
                <a:latin typeface="Garamond" panose="02020404030301010803" pitchFamily="18" charset="0"/>
                <a:ea typeface="KaiTi" panose="02010609060101010101" pitchFamily="49" charset="-122"/>
              </a:rPr>
              <a:t>节  总供给的一般说明</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3</a:t>
            </a:r>
            <a:r>
              <a:rPr lang="zh-CN" altLang="en-US" sz="1200" kern="0" dirty="0">
                <a:latin typeface="Garamond" panose="02020404030301010803" pitchFamily="18" charset="0"/>
                <a:ea typeface="KaiTi" panose="02010609060101010101" pitchFamily="49" charset="-122"/>
              </a:rPr>
              <a:t>节  总供给曲线</a:t>
            </a:r>
          </a:p>
          <a:p>
            <a:pPr>
              <a:lnSpc>
                <a:spcPct val="150000"/>
              </a:lnSpc>
            </a:pPr>
            <a:r>
              <a:rPr lang="zh-CN" altLang="en-US" sz="1200" kern="0" dirty="0">
                <a:latin typeface="Garamond" panose="02020404030301010803" pitchFamily="18" charset="0"/>
                <a:ea typeface="KaiTi" panose="02010609060101010101" pitchFamily="49" charset="-122"/>
              </a:rPr>
              <a:t>（古典总供给曲线、凯恩斯总供给曲线、常规总供给曲线）</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4</a:t>
            </a:r>
            <a:r>
              <a:rPr lang="zh-CN" altLang="en-US" sz="1200" kern="0" dirty="0">
                <a:latin typeface="Garamond" panose="02020404030301010803" pitchFamily="18" charset="0"/>
                <a:ea typeface="KaiTi" panose="02010609060101010101" pitchFamily="49" charset="-122"/>
              </a:rPr>
              <a:t>节  总需求</a:t>
            </a:r>
            <a:r>
              <a:rPr lang="en-US" altLang="zh-CN" sz="1200" kern="0" dirty="0">
                <a:latin typeface="Garamond" panose="02020404030301010803" pitchFamily="18" charset="0"/>
                <a:ea typeface="KaiTi" panose="02010609060101010101" pitchFamily="49" charset="-122"/>
              </a:rPr>
              <a:t>-</a:t>
            </a:r>
            <a:r>
              <a:rPr lang="zh-CN" altLang="en-US" sz="1200" kern="0" dirty="0">
                <a:latin typeface="Garamond" panose="02020404030301010803" pitchFamily="18" charset="0"/>
                <a:ea typeface="KaiTi" panose="02010609060101010101" pitchFamily="49" charset="-122"/>
              </a:rPr>
              <a:t>总供给模型</a:t>
            </a:r>
          </a:p>
          <a:p>
            <a:pPr marL="171450" indent="-171450">
              <a:lnSpc>
                <a:spcPct val="150000"/>
              </a:lnSpc>
              <a:buFont typeface="Wingdings" pitchFamily="2" charset="2"/>
              <a:buChar char="u"/>
            </a:pPr>
            <a:endParaRPr lang="zh-CN" altLang="en-US" sz="1200" kern="0" dirty="0">
              <a:latin typeface="Garamond" panose="02020404030301010803" pitchFamily="18" charset="0"/>
              <a:ea typeface="KaiTi" panose="02010609060101010101" pitchFamily="49" charset="-122"/>
            </a:endParaRPr>
          </a:p>
        </p:txBody>
      </p:sp>
    </p:spTree>
    <p:extLst>
      <p:ext uri="{BB962C8B-B14F-4D97-AF65-F5344CB8AC3E}">
        <p14:creationId xmlns:p14="http://schemas.microsoft.com/office/powerpoint/2010/main" val="9640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slide(fromBottom)">
                                      <p:cBhvr>
                                        <p:cTn id="7" dur="500"/>
                                        <p:tgtEl>
                                          <p:spTgt spid="2">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slide(fromBottom)">
                                      <p:cBhvr>
                                        <p:cTn id="10" dur="500"/>
                                        <p:tgtEl>
                                          <p:spTgt spid="2">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slide(fromBottom)">
                                      <p:cBhvr>
                                        <p:cTn id="13" dur="500"/>
                                        <p:tgtEl>
                                          <p:spTgt spid="2">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slide(fromBottom)">
                                      <p:cBhvr>
                                        <p:cTn id="16" dur="500"/>
                                        <p:tgtEl>
                                          <p:spTgt spid="2">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slide(fromBottom)">
                                      <p:cBhvr>
                                        <p:cTn id="19"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945" y="853976"/>
            <a:ext cx="3976211" cy="2193800"/>
          </a:xfrm>
        </p:spPr>
        <p:txBody>
          <a:bodyPr/>
          <a:lstStyle/>
          <a:p>
            <a:r>
              <a:rPr lang="zh-CN" altLang="en-US" dirty="0"/>
              <a:t>本章放松了</a:t>
            </a:r>
            <a:r>
              <a:rPr lang="zh-CN" altLang="en-US" b="1" dirty="0"/>
              <a:t>价格水平固定不变</a:t>
            </a:r>
            <a:r>
              <a:rPr lang="zh-CN" altLang="en-US" dirty="0"/>
              <a:t>的假定，探讨产量（收入）和价格水平之间的关系。</a:t>
            </a:r>
            <a:endParaRPr lang="en-US" altLang="zh-CN" dirty="0"/>
          </a:p>
          <a:p>
            <a:r>
              <a:rPr lang="zh-CN" altLang="en-US" dirty="0"/>
              <a:t>总需求函数和总供给函数是宏观经济学重要的分析工具，也是理解宏观经济学中的一些重大问题的基础。</a:t>
            </a:r>
          </a:p>
        </p:txBody>
      </p:sp>
      <p:sp>
        <p:nvSpPr>
          <p:cNvPr id="4" name="标题 3">
            <a:extLst>
              <a:ext uri="{FF2B5EF4-FFF2-40B4-BE49-F238E27FC236}">
                <a16:creationId xmlns:a16="http://schemas.microsoft.com/office/drawing/2014/main" id="{E5084C75-CD5F-2D49-8201-6B5270FF978A}"/>
              </a:ext>
            </a:extLst>
          </p:cNvPr>
          <p:cNvSpPr>
            <a:spLocks noGrp="1"/>
          </p:cNvSpPr>
          <p:nvPr>
            <p:ph type="title"/>
          </p:nvPr>
        </p:nvSpPr>
        <p:spPr/>
        <p:txBody>
          <a:bodyPr/>
          <a:lstStyle/>
          <a:p>
            <a:r>
              <a:rPr kumimoji="1" lang="zh-CN" altLang="en-US" dirty="0"/>
              <a:t>本章假设</a:t>
            </a:r>
          </a:p>
        </p:txBody>
      </p:sp>
    </p:spTree>
    <p:extLst>
      <p:ext uri="{BB962C8B-B14F-4D97-AF65-F5344CB8AC3E}">
        <p14:creationId xmlns:p14="http://schemas.microsoft.com/office/powerpoint/2010/main" val="2262599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739AA96-EBA9-2EB6-7FB4-8EA7F3CB4A70}"/>
              </a:ext>
            </a:extLst>
          </p:cNvPr>
          <p:cNvPicPr>
            <a:picLocks noChangeAspect="1"/>
          </p:cNvPicPr>
          <p:nvPr/>
        </p:nvPicPr>
        <p:blipFill>
          <a:blip r:embed="rId3"/>
          <a:stretch>
            <a:fillRect/>
          </a:stretch>
        </p:blipFill>
        <p:spPr>
          <a:xfrm>
            <a:off x="0" y="488383"/>
            <a:ext cx="4610100" cy="1786337"/>
          </a:xfrm>
          <a:prstGeom prst="rect">
            <a:avLst/>
          </a:prstGeom>
        </p:spPr>
      </p:pic>
      <p:sp>
        <p:nvSpPr>
          <p:cNvPr id="2" name="标题 1">
            <a:extLst>
              <a:ext uri="{FF2B5EF4-FFF2-40B4-BE49-F238E27FC236}">
                <a16:creationId xmlns:a16="http://schemas.microsoft.com/office/drawing/2014/main" id="{A1581B0B-1F09-8F4B-1FDD-2714C14AD2D3}"/>
              </a:ext>
            </a:extLst>
          </p:cNvPr>
          <p:cNvSpPr>
            <a:spLocks noGrp="1"/>
          </p:cNvSpPr>
          <p:nvPr>
            <p:ph type="title"/>
          </p:nvPr>
        </p:nvSpPr>
        <p:spPr/>
        <p:txBody>
          <a:bodyPr/>
          <a:lstStyle/>
          <a:p>
            <a:r>
              <a:rPr kumimoji="1" lang="zh-CN" altLang="en-US" dirty="0"/>
              <a:t>从</a:t>
            </a:r>
            <a:r>
              <a:rPr kumimoji="1" lang="en-US" altLang="zh-CN" dirty="0"/>
              <a:t>IS-LM</a:t>
            </a:r>
            <a:r>
              <a:rPr kumimoji="1" lang="zh-CN" altLang="en-US" dirty="0"/>
              <a:t>模型到</a:t>
            </a:r>
            <a:r>
              <a:rPr kumimoji="1" lang="en-US" altLang="zh-CN" dirty="0"/>
              <a:t>AS- AD</a:t>
            </a:r>
            <a:r>
              <a:rPr kumimoji="1" lang="zh-CN" altLang="en-US" dirty="0"/>
              <a:t>模型</a:t>
            </a:r>
          </a:p>
        </p:txBody>
      </p:sp>
      <p:sp>
        <p:nvSpPr>
          <p:cNvPr id="4" name="页脚占位符 3">
            <a:extLst>
              <a:ext uri="{FF2B5EF4-FFF2-40B4-BE49-F238E27FC236}">
                <a16:creationId xmlns:a16="http://schemas.microsoft.com/office/drawing/2014/main" id="{8A289B5B-A33C-3794-AD29-E2AE7924E180}"/>
              </a:ext>
            </a:extLst>
          </p:cNvPr>
          <p:cNvSpPr>
            <a:spLocks noGrp="1"/>
          </p:cNvSpPr>
          <p:nvPr>
            <p:ph type="ftr" sz="quarter" idx="10"/>
          </p:nvPr>
        </p:nvSpPr>
        <p:spPr/>
        <p:txBody>
          <a:body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B6956E59-628B-FC70-820B-06BF102E51DE}"/>
              </a:ext>
            </a:extLst>
          </p:cNvPr>
          <p:cNvSpPr>
            <a:spLocks noGrp="1"/>
          </p:cNvSpPr>
          <p:nvPr>
            <p:ph type="sldNum" sz="quarter" idx="11"/>
          </p:nvPr>
        </p:nvSpPr>
        <p:spPr/>
        <p:txBody>
          <a:bodyPr/>
          <a:lstStyle/>
          <a:p>
            <a:fld id="{FF75CA96-F32A-7F4F-98C9-CA940BD9BB90}" type="slidenum">
              <a:rPr lang="zh-CN" altLang="zh-CN" smtClean="0"/>
              <a:pPr/>
              <a:t>4</a:t>
            </a:fld>
            <a:endParaRPr lang="en-US" altLang="zh-CN"/>
          </a:p>
        </p:txBody>
      </p:sp>
      <p:sp>
        <p:nvSpPr>
          <p:cNvPr id="3" name="内容占位符 2">
            <a:extLst>
              <a:ext uri="{FF2B5EF4-FFF2-40B4-BE49-F238E27FC236}">
                <a16:creationId xmlns:a16="http://schemas.microsoft.com/office/drawing/2014/main" id="{ECE244FF-C9A7-BB3C-A315-769FFBBC6627}"/>
              </a:ext>
            </a:extLst>
          </p:cNvPr>
          <p:cNvSpPr>
            <a:spLocks noGrp="1"/>
          </p:cNvSpPr>
          <p:nvPr>
            <p:ph idx="1"/>
          </p:nvPr>
        </p:nvSpPr>
        <p:spPr>
          <a:xfrm>
            <a:off x="72802" y="1946400"/>
            <a:ext cx="4306793" cy="1145044"/>
          </a:xfrm>
        </p:spPr>
        <p:txBody>
          <a:bodyPr/>
          <a:lstStyle/>
          <a:p>
            <a:r>
              <a:rPr kumimoji="1" lang="zh-CN" altLang="en-US" dirty="0"/>
              <a:t>假设</a:t>
            </a:r>
            <a:endParaRPr kumimoji="1" lang="en-US" altLang="zh-CN" dirty="0"/>
          </a:p>
          <a:p>
            <a:pPr lvl="1"/>
            <a:r>
              <a:rPr kumimoji="1" lang="zh-CN" altLang="en-US" dirty="0"/>
              <a:t>不存在折旧、公司未分配利润</a:t>
            </a:r>
            <a:endParaRPr kumimoji="1" lang="en-US" altLang="zh-CN" dirty="0"/>
          </a:p>
          <a:p>
            <a:pPr lvl="1"/>
            <a:r>
              <a:rPr kumimoji="1" lang="zh-CN" altLang="en-US" dirty="0"/>
              <a:t>短期，生产能力大量闲置</a:t>
            </a:r>
            <a:endParaRPr kumimoji="1" lang="en-US" altLang="zh-CN" dirty="0"/>
          </a:p>
          <a:p>
            <a:pPr lvl="1"/>
            <a:r>
              <a:rPr kumimoji="1" lang="zh-CN" altLang="en-US" dirty="0"/>
              <a:t>价格不变</a:t>
            </a:r>
          </a:p>
        </p:txBody>
      </p:sp>
      <p:sp>
        <p:nvSpPr>
          <p:cNvPr id="7" name="矩形 6">
            <a:extLst>
              <a:ext uri="{FF2B5EF4-FFF2-40B4-BE49-F238E27FC236}">
                <a16:creationId xmlns:a16="http://schemas.microsoft.com/office/drawing/2014/main" id="{538F4A99-9BE2-7412-F8EC-3A001F4897BD}"/>
              </a:ext>
            </a:extLst>
          </p:cNvPr>
          <p:cNvSpPr/>
          <p:nvPr/>
        </p:nvSpPr>
        <p:spPr>
          <a:xfrm>
            <a:off x="792882" y="650255"/>
            <a:ext cx="576064" cy="360040"/>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C5BB1BF0-A580-0DBD-737F-4BFB3EC8D67F}"/>
              </a:ext>
            </a:extLst>
          </p:cNvPr>
          <p:cNvSpPr/>
          <p:nvPr/>
        </p:nvSpPr>
        <p:spPr>
          <a:xfrm>
            <a:off x="347390" y="2684481"/>
            <a:ext cx="1008112" cy="252028"/>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4B2D7B55-5EF8-9B4D-4BE3-EABC225101B7}"/>
              </a:ext>
            </a:extLst>
          </p:cNvPr>
          <p:cNvSpPr/>
          <p:nvPr/>
        </p:nvSpPr>
        <p:spPr>
          <a:xfrm>
            <a:off x="2305050" y="884281"/>
            <a:ext cx="648072" cy="652358"/>
          </a:xfrm>
          <a:prstGeom prst="rect">
            <a:avLst/>
          </a:prstGeom>
          <a:noFill/>
          <a:ln>
            <a:solidFill>
              <a:srgbClr val="7030A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330282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E709A91-F677-D99B-84DB-8F9EF812674C}"/>
              </a:ext>
            </a:extLst>
          </p:cNvPr>
          <p:cNvSpPr/>
          <p:nvPr/>
        </p:nvSpPr>
        <p:spPr>
          <a:xfrm>
            <a:off x="0" y="1154311"/>
            <a:ext cx="4610100" cy="57606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3"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defTabSz="23052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ea typeface="等线" panose="02010600030101010101" pitchFamily="2" charset="-122"/>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solidFill>
                <a:prstClr val="black"/>
              </a:solidFill>
              <a:latin typeface="Times New Roman"/>
              <a:cs typeface="Times New Roman"/>
            </a:endParaRPr>
          </a:p>
        </p:txBody>
      </p:sp>
      <p:sp>
        <p:nvSpPr>
          <p:cNvPr id="4" name="文本框 3">
            <a:extLst>
              <a:ext uri="{FF2B5EF4-FFF2-40B4-BE49-F238E27FC236}">
                <a16:creationId xmlns:a16="http://schemas.microsoft.com/office/drawing/2014/main" id="{AC21A519-07F0-8968-038B-EF91CCC02214}"/>
              </a:ext>
            </a:extLst>
          </p:cNvPr>
          <p:cNvSpPr txBox="1"/>
          <p:nvPr/>
        </p:nvSpPr>
        <p:spPr>
          <a:xfrm>
            <a:off x="144810" y="1154311"/>
            <a:ext cx="4320480" cy="482440"/>
          </a:xfrm>
          <a:prstGeom prst="rect">
            <a:avLst/>
          </a:prstGeom>
          <a:noFill/>
        </p:spPr>
        <p:txBody>
          <a:bodyPr wrap="square">
            <a:spAutoFit/>
          </a:bodyPr>
          <a:lstStyle/>
          <a:p>
            <a:pPr algn="ctr" fontAlgn="base">
              <a:lnSpc>
                <a:spcPct val="150000"/>
              </a:lnSpc>
              <a:spcBef>
                <a:spcPct val="0"/>
              </a:spcBef>
              <a:spcAft>
                <a:spcPct val="0"/>
              </a:spcAft>
            </a:pPr>
            <a:r>
              <a:rPr kumimoji="1" lang="zh-CN" altLang="en-US" sz="1916" dirty="0">
                <a:latin typeface="Microsoft YaHei" panose="020B0503020204020204" pitchFamily="34" charset="-122"/>
                <a:ea typeface="Microsoft YaHei" panose="020B0503020204020204" pitchFamily="34" charset="-122"/>
                <a:cs typeface="+mj-cs"/>
              </a:rPr>
              <a:t>第</a:t>
            </a:r>
            <a:r>
              <a:rPr kumimoji="1" lang="en-US" altLang="zh-CN" sz="1916" dirty="0">
                <a:latin typeface="Microsoft YaHei" panose="020B0503020204020204" pitchFamily="34" charset="-122"/>
                <a:ea typeface="Microsoft YaHei" panose="020B0503020204020204" pitchFamily="34" charset="-122"/>
                <a:cs typeface="+mj-cs"/>
              </a:rPr>
              <a:t>1</a:t>
            </a:r>
            <a:r>
              <a:rPr kumimoji="1" lang="zh-CN" altLang="en-US" sz="1916" dirty="0">
                <a:latin typeface="Microsoft YaHei" panose="020B0503020204020204" pitchFamily="34" charset="-122"/>
                <a:ea typeface="Microsoft YaHei" panose="020B0503020204020204" pitchFamily="34" charset="-122"/>
                <a:cs typeface="+mj-cs"/>
              </a:rPr>
              <a:t>节  总需求曲线</a:t>
            </a:r>
          </a:p>
        </p:txBody>
      </p:sp>
    </p:spTree>
    <p:extLst>
      <p:ext uri="{BB962C8B-B14F-4D97-AF65-F5344CB8AC3E}">
        <p14:creationId xmlns:p14="http://schemas.microsoft.com/office/powerpoint/2010/main" val="938395858"/>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2879" y="127376"/>
            <a:ext cx="4240332" cy="594887"/>
          </a:xfrm>
        </p:spPr>
        <p:txBody>
          <a:bodyPr/>
          <a:lstStyle/>
          <a:p>
            <a:r>
              <a:rPr lang="zh-CN" altLang="en-US" dirty="0">
                <a:ln w="0"/>
                <a:effectLst>
                  <a:outerShdw blurRad="38100" dist="19050" dir="2700000" algn="tl" rotWithShape="0">
                    <a:schemeClr val="dk1">
                      <a:alpha val="40000"/>
                    </a:schemeClr>
                  </a:outerShdw>
                </a:effectLst>
              </a:rPr>
              <a:t>总需求曲线</a:t>
            </a:r>
            <a:br>
              <a:rPr lang="en-US" altLang="zh-CN" dirty="0">
                <a:ln w="0"/>
                <a:effectLst>
                  <a:outerShdw blurRad="38100" dist="19050" dir="2700000" algn="tl" rotWithShape="0">
                    <a:schemeClr val="dk1">
                      <a:alpha val="40000"/>
                    </a:schemeClr>
                  </a:outerShdw>
                </a:effectLst>
              </a:rPr>
            </a:br>
            <a:r>
              <a:rPr lang="en-US" altLang="zh-CN" dirty="0">
                <a:ln w="0"/>
                <a:effectLst>
                  <a:outerShdw blurRad="38100" dist="19050" dir="2700000" algn="tl" rotWithShape="0">
                    <a:schemeClr val="dk1">
                      <a:alpha val="40000"/>
                    </a:schemeClr>
                  </a:outerShdw>
                </a:effectLst>
              </a:rPr>
              <a:t>aggregate</a:t>
            </a:r>
            <a:r>
              <a:rPr lang="zh-CN" altLang="en-US" dirty="0">
                <a:ln w="0"/>
                <a:effectLst>
                  <a:outerShdw blurRad="38100" dist="19050" dir="2700000" algn="tl" rotWithShape="0">
                    <a:schemeClr val="dk1">
                      <a:alpha val="40000"/>
                    </a:schemeClr>
                  </a:outerShdw>
                </a:effectLst>
              </a:rPr>
              <a:t> </a:t>
            </a:r>
            <a:r>
              <a:rPr lang="en-US" altLang="zh-CN" dirty="0">
                <a:ln w="0"/>
                <a:effectLst>
                  <a:outerShdw blurRad="38100" dist="19050" dir="2700000" algn="tl" rotWithShape="0">
                    <a:schemeClr val="dk1">
                      <a:alpha val="40000"/>
                    </a:schemeClr>
                  </a:outerShdw>
                </a:effectLst>
              </a:rPr>
              <a:t>demand</a:t>
            </a:r>
            <a:r>
              <a:rPr lang="zh-CN" altLang="en-US" dirty="0">
                <a:ln w="0"/>
                <a:effectLst>
                  <a:outerShdw blurRad="38100" dist="19050" dir="2700000" algn="tl" rotWithShape="0">
                    <a:schemeClr val="dk1">
                      <a:alpha val="40000"/>
                    </a:schemeClr>
                  </a:outerShdw>
                </a:effectLst>
              </a:rPr>
              <a:t> </a:t>
            </a:r>
            <a:r>
              <a:rPr lang="en-US" altLang="zh-CN" dirty="0">
                <a:ln w="0"/>
                <a:effectLst>
                  <a:outerShdw blurRad="38100" dist="19050" dir="2700000" algn="tl" rotWithShape="0">
                    <a:schemeClr val="dk1">
                      <a:alpha val="40000"/>
                    </a:schemeClr>
                  </a:outerShdw>
                </a:effectLst>
              </a:rPr>
              <a:t>curve</a:t>
            </a:r>
            <a:endParaRPr lang="zh-CN" altLang="en-US" dirty="0">
              <a:ln w="0"/>
              <a:effectLst>
                <a:outerShdw blurRad="38100" dist="19050" dir="2700000" algn="tl" rotWithShape="0">
                  <a:schemeClr val="dk1">
                    <a:alpha val="40000"/>
                  </a:schemeClr>
                </a:outerShdw>
              </a:effectLst>
            </a:endParaRPr>
          </a:p>
        </p:txBody>
      </p:sp>
      <p:sp>
        <p:nvSpPr>
          <p:cNvPr id="3" name="内容占位符 2"/>
          <p:cNvSpPr>
            <a:spLocks noGrp="1"/>
          </p:cNvSpPr>
          <p:nvPr>
            <p:ph idx="1"/>
          </p:nvPr>
        </p:nvSpPr>
        <p:spPr>
          <a:xfrm>
            <a:off x="188086" y="722263"/>
            <a:ext cx="4191509" cy="2369180"/>
          </a:xfrm>
        </p:spPr>
        <p:txBody>
          <a:bodyPr/>
          <a:lstStyle/>
          <a:p>
            <a:r>
              <a:rPr lang="zh-CN" altLang="en-US" b="1" dirty="0"/>
              <a:t>总需求</a:t>
            </a:r>
            <a:r>
              <a:rPr lang="zh-CN" altLang="en-US" dirty="0"/>
              <a:t>曲线表示在</a:t>
            </a:r>
            <a:r>
              <a:rPr lang="zh-CN" altLang="en-US" u="sng" dirty="0"/>
              <a:t>每一种物价水平下</a:t>
            </a:r>
            <a:r>
              <a:rPr lang="zh-CN" altLang="en-US" dirty="0"/>
              <a:t>家庭、企业、政府和外国客户想要购买购买的物品和服务的数量。</a:t>
            </a:r>
            <a:endParaRPr lang="en-US" altLang="zh-CN" dirty="0"/>
          </a:p>
          <a:p>
            <a:r>
              <a:rPr lang="zh-CN" altLang="en-US" dirty="0"/>
              <a:t>总需求由</a:t>
            </a:r>
            <a:r>
              <a:rPr lang="zh-CN" altLang="en-US" dirty="0">
                <a:solidFill>
                  <a:srgbClr val="FF0000"/>
                </a:solidFill>
              </a:rPr>
              <a:t>消费</a:t>
            </a:r>
            <a:r>
              <a:rPr lang="zh-CN" altLang="en-US" dirty="0"/>
              <a:t>需求、</a:t>
            </a:r>
            <a:r>
              <a:rPr lang="zh-CN" altLang="en-US" dirty="0">
                <a:solidFill>
                  <a:srgbClr val="FF0000"/>
                </a:solidFill>
              </a:rPr>
              <a:t>投资</a:t>
            </a:r>
            <a:r>
              <a:rPr lang="zh-CN" altLang="en-US" dirty="0"/>
              <a:t>需求、</a:t>
            </a:r>
            <a:r>
              <a:rPr lang="zh-CN" altLang="en-US" dirty="0">
                <a:solidFill>
                  <a:srgbClr val="FF0000"/>
                </a:solidFill>
              </a:rPr>
              <a:t>政府</a:t>
            </a:r>
            <a:r>
              <a:rPr lang="zh-CN" altLang="en-US" dirty="0"/>
              <a:t>需求和</a:t>
            </a:r>
            <a:r>
              <a:rPr lang="zh-CN" altLang="en-US" dirty="0">
                <a:solidFill>
                  <a:srgbClr val="FF0000"/>
                </a:solidFill>
              </a:rPr>
              <a:t>国外</a:t>
            </a:r>
            <a:r>
              <a:rPr lang="zh-CN" altLang="en-US" dirty="0"/>
              <a:t>需求构成。</a:t>
            </a:r>
            <a:endParaRPr lang="en-US" altLang="zh-CN" dirty="0"/>
          </a:p>
          <a:p>
            <a:r>
              <a:rPr lang="zh-CN" altLang="en-US" dirty="0"/>
              <a:t>驱动总需求的因素：价格水平、收入、对未来的预期；税收、政府购买、货币供给。</a:t>
            </a:r>
          </a:p>
        </p:txBody>
      </p:sp>
      <p:sp>
        <p:nvSpPr>
          <p:cNvPr id="4" name="日期占位符 3"/>
          <p:cNvSpPr>
            <a:spLocks noGrp="1"/>
          </p:cNvSpPr>
          <p:nvPr>
            <p:ph type="dt" sz="half" idx="10"/>
          </p:nvPr>
        </p:nvSpPr>
        <p:spPr/>
        <p:txBody>
          <a:bodyPr/>
          <a:lstStyle/>
          <a:p>
            <a:pPr>
              <a:defRPr/>
            </a:pPr>
            <a:r>
              <a:rPr lang="en-US" altLang="zh-CN" dirty="0"/>
              <a:t>AS-AD</a:t>
            </a:r>
            <a:r>
              <a:rPr lang="zh-CN" altLang="en-US" dirty="0"/>
              <a:t>模型</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6</a:t>
            </a:fld>
            <a:endParaRPr lang="zh-CN" altLang="en-US"/>
          </a:p>
        </p:txBody>
      </p:sp>
    </p:spTree>
    <p:extLst>
      <p:ext uri="{BB962C8B-B14F-4D97-AF65-F5344CB8AC3E}">
        <p14:creationId xmlns:p14="http://schemas.microsoft.com/office/powerpoint/2010/main" val="3212049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n w="0"/>
                <a:effectLst>
                  <a:outerShdw blurRad="38100" dist="19050" dir="2700000" algn="tl" rotWithShape="0">
                    <a:schemeClr val="dk1">
                      <a:alpha val="40000"/>
                    </a:schemeClr>
                  </a:outerShdw>
                </a:effectLst>
              </a:rPr>
              <a:t>总需求曲线的含义</a:t>
            </a:r>
          </a:p>
        </p:txBody>
      </p:sp>
      <p:sp>
        <p:nvSpPr>
          <p:cNvPr id="3" name="内容占位符 2"/>
          <p:cNvSpPr>
            <a:spLocks noGrp="1"/>
          </p:cNvSpPr>
          <p:nvPr>
            <p:ph idx="1"/>
          </p:nvPr>
        </p:nvSpPr>
        <p:spPr/>
        <p:txBody>
          <a:bodyPr/>
          <a:lstStyle/>
          <a:p>
            <a:r>
              <a:rPr lang="zh-CN" altLang="en-US" b="1" dirty="0"/>
              <a:t>总需求函数的定义：</a:t>
            </a:r>
            <a:endParaRPr lang="en-US" altLang="zh-CN" b="1" dirty="0"/>
          </a:p>
          <a:p>
            <a:r>
              <a:rPr lang="zh-CN" altLang="en-US" dirty="0"/>
              <a:t>是指以产量（国民收入）所表示的</a:t>
            </a:r>
            <a:r>
              <a:rPr lang="zh-CN" altLang="en-US" b="1" dirty="0"/>
              <a:t>需求总量和价格水平之间</a:t>
            </a:r>
            <a:r>
              <a:rPr lang="zh-CN" altLang="en-US" dirty="0"/>
              <a:t>的关系。</a:t>
            </a:r>
            <a:endParaRPr lang="en-US" altLang="zh-CN" dirty="0"/>
          </a:p>
          <a:p>
            <a:r>
              <a:rPr lang="zh-CN" altLang="en-US" dirty="0"/>
              <a:t>它表示在某个特定的价格水平下，经济社会需要</a:t>
            </a:r>
            <a:r>
              <a:rPr lang="zh-CN" altLang="en-US" b="1" dirty="0"/>
              <a:t>多高水平的产量</a:t>
            </a:r>
            <a:r>
              <a:rPr lang="zh-CN" altLang="en-US" dirty="0"/>
              <a:t>。</a:t>
            </a:r>
          </a:p>
        </p:txBody>
      </p:sp>
      <p:sp>
        <p:nvSpPr>
          <p:cNvPr id="4" name="日期占位符 3"/>
          <p:cNvSpPr>
            <a:spLocks noGrp="1"/>
          </p:cNvSpPr>
          <p:nvPr>
            <p:ph type="dt" sz="half" idx="10"/>
          </p:nvPr>
        </p:nvSpPr>
        <p:spPr/>
        <p:txBody>
          <a:bodyPr/>
          <a:lstStyle/>
          <a:p>
            <a:pPr>
              <a:defRPr/>
            </a:pPr>
            <a:r>
              <a:rPr lang="en-US" altLang="zh-CN" dirty="0"/>
              <a:t>AS-AD</a:t>
            </a:r>
            <a:r>
              <a:rPr lang="zh-CN" altLang="en-US" dirty="0"/>
              <a:t>模型</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7</a:t>
            </a:fld>
            <a:endParaRPr lang="zh-CN" altLang="en-US"/>
          </a:p>
        </p:txBody>
      </p:sp>
    </p:spTree>
    <p:extLst>
      <p:ext uri="{BB962C8B-B14F-4D97-AF65-F5344CB8AC3E}">
        <p14:creationId xmlns:p14="http://schemas.microsoft.com/office/powerpoint/2010/main" val="3489992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167052-9538-188D-008E-833C6CA87B2F}"/>
              </a:ext>
            </a:extLst>
          </p:cNvPr>
          <p:cNvSpPr>
            <a:spLocks noGrp="1"/>
          </p:cNvSpPr>
          <p:nvPr>
            <p:ph type="title"/>
          </p:nvPr>
        </p:nvSpPr>
        <p:spPr/>
        <p:txBody>
          <a:bodyPr/>
          <a:lstStyle/>
          <a:p>
            <a:r>
              <a:rPr kumimoji="1" lang="en-US" altLang="zh-CN" dirty="0"/>
              <a:t>AD</a:t>
            </a:r>
            <a:r>
              <a:rPr kumimoji="1" lang="zh-CN" altLang="en-US" dirty="0"/>
              <a:t>曲线的推导：从</a:t>
            </a:r>
            <a:r>
              <a:rPr kumimoji="1" lang="en-US" altLang="zh-CN" dirty="0"/>
              <a:t>IS-LM</a:t>
            </a:r>
            <a:r>
              <a:rPr kumimoji="1" lang="zh-CN" altLang="en-US" dirty="0"/>
              <a:t>模型</a:t>
            </a:r>
          </a:p>
        </p:txBody>
      </p:sp>
      <p:sp>
        <p:nvSpPr>
          <p:cNvPr id="4" name="页脚占位符 3">
            <a:extLst>
              <a:ext uri="{FF2B5EF4-FFF2-40B4-BE49-F238E27FC236}">
                <a16:creationId xmlns:a16="http://schemas.microsoft.com/office/drawing/2014/main" id="{793D3ACA-1E99-B67C-9F7D-8261228AB273}"/>
              </a:ext>
            </a:extLst>
          </p:cNvPr>
          <p:cNvSpPr>
            <a:spLocks noGrp="1"/>
          </p:cNvSpPr>
          <p:nvPr>
            <p:ph type="ftr" sz="quarter" idx="10"/>
          </p:nvPr>
        </p:nvSpPr>
        <p:spPr/>
        <p:txBody>
          <a:bodyPr/>
          <a:lstStyle/>
          <a:p>
            <a:r>
              <a:rPr lang="en-US" altLang="zh-CN" dirty="0"/>
              <a:t>AS-AD</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42979157-F9BE-C231-DB8A-34505D9B0A3B}"/>
              </a:ext>
            </a:extLst>
          </p:cNvPr>
          <p:cNvSpPr>
            <a:spLocks noGrp="1"/>
          </p:cNvSpPr>
          <p:nvPr>
            <p:ph type="sldNum" sz="quarter" idx="11"/>
          </p:nvPr>
        </p:nvSpPr>
        <p:spPr/>
        <p:txBody>
          <a:bodyPr/>
          <a:lstStyle/>
          <a:p>
            <a:fld id="{FF75CA96-F32A-7F4F-98C9-CA940BD9BB90}" type="slidenum">
              <a:rPr lang="zh-CN" altLang="zh-CN" smtClean="0"/>
              <a:pPr/>
              <a:t>8</a:t>
            </a:fld>
            <a:endParaRPr lang="en-US" altLang="zh-CN"/>
          </a:p>
        </p:txBody>
      </p:sp>
      <p:grpSp>
        <p:nvGrpSpPr>
          <p:cNvPr id="10" name="组合 9">
            <a:extLst>
              <a:ext uri="{FF2B5EF4-FFF2-40B4-BE49-F238E27FC236}">
                <a16:creationId xmlns:a16="http://schemas.microsoft.com/office/drawing/2014/main" id="{B2489EA3-8C48-0F30-D716-201006FC335D}"/>
              </a:ext>
            </a:extLst>
          </p:cNvPr>
          <p:cNvGrpSpPr/>
          <p:nvPr/>
        </p:nvGrpSpPr>
        <p:grpSpPr>
          <a:xfrm>
            <a:off x="149513" y="619859"/>
            <a:ext cx="2500099" cy="2451819"/>
            <a:chOff x="149513" y="619859"/>
            <a:chExt cx="2500099" cy="2451819"/>
          </a:xfrm>
        </p:grpSpPr>
        <p:sp>
          <p:nvSpPr>
            <p:cNvPr id="25" name="文本框 24">
              <a:extLst>
                <a:ext uri="{FF2B5EF4-FFF2-40B4-BE49-F238E27FC236}">
                  <a16:creationId xmlns:a16="http://schemas.microsoft.com/office/drawing/2014/main" id="{6F12F542-5253-9345-6216-E480A03256F2}"/>
                </a:ext>
              </a:extLst>
            </p:cNvPr>
            <p:cNvSpPr txBox="1"/>
            <p:nvPr/>
          </p:nvSpPr>
          <p:spPr>
            <a:xfrm>
              <a:off x="1443637" y="1584802"/>
              <a:ext cx="336952" cy="230832"/>
            </a:xfrm>
            <a:prstGeom prst="rect">
              <a:avLst/>
            </a:prstGeom>
            <a:noFill/>
          </p:spPr>
          <p:txBody>
            <a:bodyPr wrap="none" rtlCol="0">
              <a:spAutoFit/>
            </a:bodyPr>
            <a:lstStyle/>
            <a:p>
              <a:r>
                <a:rPr kumimoji="1" lang="en-US" altLang="zh-CN" sz="900" dirty="0"/>
                <a:t>Y</a:t>
              </a:r>
              <a:r>
                <a:rPr kumimoji="1" lang="en-US" altLang="zh-CN" sz="900" baseline="-25000" dirty="0"/>
                <a:t>2</a:t>
              </a:r>
              <a:r>
                <a:rPr kumimoji="1" lang="en-US" altLang="zh-CN" sz="900" dirty="0"/>
                <a:t> </a:t>
              </a:r>
              <a:endParaRPr kumimoji="1" lang="zh-CN" altLang="en-US" sz="900" dirty="0"/>
            </a:p>
          </p:txBody>
        </p:sp>
        <p:cxnSp>
          <p:nvCxnSpPr>
            <p:cNvPr id="76" name="直线连接符 75">
              <a:extLst>
                <a:ext uri="{FF2B5EF4-FFF2-40B4-BE49-F238E27FC236}">
                  <a16:creationId xmlns:a16="http://schemas.microsoft.com/office/drawing/2014/main" id="{870E6135-74E0-BD0F-EEAD-EA48470639AA}"/>
                </a:ext>
              </a:extLst>
            </p:cNvPr>
            <p:cNvCxnSpPr>
              <a:cxnSpLocks/>
            </p:cNvCxnSpPr>
            <p:nvPr/>
          </p:nvCxnSpPr>
          <p:spPr>
            <a:xfrm>
              <a:off x="1426924" y="1221205"/>
              <a:ext cx="22128" cy="1616233"/>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71" name="直线连接符 70">
              <a:extLst>
                <a:ext uri="{FF2B5EF4-FFF2-40B4-BE49-F238E27FC236}">
                  <a16:creationId xmlns:a16="http://schemas.microsoft.com/office/drawing/2014/main" id="{208F5643-CA57-7E22-0585-C9EFEEAC5918}"/>
                </a:ext>
              </a:extLst>
            </p:cNvPr>
            <p:cNvCxnSpPr>
              <a:cxnSpLocks/>
              <a:stCxn id="22" idx="3"/>
              <a:endCxn id="59" idx="0"/>
            </p:cNvCxnSpPr>
            <p:nvPr/>
          </p:nvCxnSpPr>
          <p:spPr>
            <a:xfrm>
              <a:off x="1057984" y="1136048"/>
              <a:ext cx="14552" cy="170479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61" name="直线连接符 60">
              <a:extLst>
                <a:ext uri="{FF2B5EF4-FFF2-40B4-BE49-F238E27FC236}">
                  <a16:creationId xmlns:a16="http://schemas.microsoft.com/office/drawing/2014/main" id="{209481CC-0E22-EF17-1E95-6A6135890419}"/>
                </a:ext>
              </a:extLst>
            </p:cNvPr>
            <p:cNvCxnSpPr>
              <a:cxnSpLocks/>
              <a:endCxn id="23" idx="2"/>
            </p:cNvCxnSpPr>
            <p:nvPr/>
          </p:nvCxnSpPr>
          <p:spPr>
            <a:xfrm>
              <a:off x="435903" y="1113798"/>
              <a:ext cx="608571"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6" name="直线连接符 5">
              <a:extLst>
                <a:ext uri="{FF2B5EF4-FFF2-40B4-BE49-F238E27FC236}">
                  <a16:creationId xmlns:a16="http://schemas.microsoft.com/office/drawing/2014/main" id="{B1D8F449-41A3-D164-F27E-D54F0541349A}"/>
                </a:ext>
              </a:extLst>
            </p:cNvPr>
            <p:cNvCxnSpPr>
              <a:cxnSpLocks/>
            </p:cNvCxnSpPr>
            <p:nvPr/>
          </p:nvCxnSpPr>
          <p:spPr>
            <a:xfrm flipH="1">
              <a:off x="541524" y="692436"/>
              <a:ext cx="1053600" cy="838819"/>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 name="直线箭头连接符 6">
              <a:extLst>
                <a:ext uri="{FF2B5EF4-FFF2-40B4-BE49-F238E27FC236}">
                  <a16:creationId xmlns:a16="http://schemas.microsoft.com/office/drawing/2014/main" id="{AB0BE86F-DF54-BD71-94AC-5F27E188B2F0}"/>
                </a:ext>
              </a:extLst>
            </p:cNvPr>
            <p:cNvCxnSpPr>
              <a:cxnSpLocks/>
            </p:cNvCxnSpPr>
            <p:nvPr/>
          </p:nvCxnSpPr>
          <p:spPr>
            <a:xfrm>
              <a:off x="430911" y="1601890"/>
              <a:ext cx="20181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直线箭头连接符 7">
              <a:extLst>
                <a:ext uri="{FF2B5EF4-FFF2-40B4-BE49-F238E27FC236}">
                  <a16:creationId xmlns:a16="http://schemas.microsoft.com/office/drawing/2014/main" id="{0D757F13-93F4-8B26-B74C-8C13FCB8F766}"/>
                </a:ext>
              </a:extLst>
            </p:cNvPr>
            <p:cNvCxnSpPr>
              <a:cxnSpLocks/>
            </p:cNvCxnSpPr>
            <p:nvPr/>
          </p:nvCxnSpPr>
          <p:spPr>
            <a:xfrm flipH="1" flipV="1">
              <a:off x="430912" y="754587"/>
              <a:ext cx="9805" cy="8473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直线连接符 8">
              <a:extLst>
                <a:ext uri="{FF2B5EF4-FFF2-40B4-BE49-F238E27FC236}">
                  <a16:creationId xmlns:a16="http://schemas.microsoft.com/office/drawing/2014/main" id="{6D6C1FD3-E8CE-7FD0-1620-0E3FD15C813E}"/>
                </a:ext>
              </a:extLst>
            </p:cNvPr>
            <p:cNvCxnSpPr>
              <a:cxnSpLocks/>
            </p:cNvCxnSpPr>
            <p:nvPr/>
          </p:nvCxnSpPr>
          <p:spPr>
            <a:xfrm flipH="1">
              <a:off x="1078129" y="748304"/>
              <a:ext cx="968088" cy="769358"/>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86462C80-4CC3-8D0E-032C-6436BBFC5315}"/>
                </a:ext>
              </a:extLst>
            </p:cNvPr>
            <p:cNvSpPr txBox="1"/>
            <p:nvPr/>
          </p:nvSpPr>
          <p:spPr>
            <a:xfrm>
              <a:off x="169302" y="619859"/>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156D5C7-C27C-5340-4AAA-564A03521983}"/>
                    </a:ext>
                  </a:extLst>
                </p:cNvPr>
                <p:cNvSpPr txBox="1"/>
                <p:nvPr/>
              </p:nvSpPr>
              <p:spPr>
                <a:xfrm>
                  <a:off x="787012" y="641717"/>
                  <a:ext cx="675698"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100" b="0" i="1" dirty="0" smtClean="0">
                            <a:latin typeface="Cambria Math" panose="02040503050406030204" pitchFamily="18" charset="0"/>
                          </a:rPr>
                          <m:t>𝐿𝑀</m:t>
                        </m:r>
                        <m:r>
                          <a:rPr kumimoji="1" lang="en-US" altLang="zh-CN" sz="1100" b="0" i="1" dirty="0" smtClean="0">
                            <a:latin typeface="Cambria Math" panose="02040503050406030204" pitchFamily="18" charset="0"/>
                          </a:rPr>
                          <m:t>(</m:t>
                        </m:r>
                        <m:sSub>
                          <m:sSubPr>
                            <m:ctrlPr>
                              <a:rPr kumimoji="1" lang="en-US" altLang="zh-CN" sz="1100" b="0" i="1" dirty="0" smtClean="0">
                                <a:latin typeface="Cambria Math" panose="02040503050406030204" pitchFamily="18" charset="0"/>
                              </a:rPr>
                            </m:ctrlPr>
                          </m:sSubPr>
                          <m:e>
                            <m:r>
                              <a:rPr kumimoji="1" lang="en-US" altLang="zh-CN" sz="1100" b="0" i="1" dirty="0" smtClean="0">
                                <a:latin typeface="Cambria Math" panose="02040503050406030204" pitchFamily="18" charset="0"/>
                              </a:rPr>
                              <m:t>𝑃</m:t>
                            </m:r>
                          </m:e>
                          <m:sub>
                            <m:r>
                              <a:rPr kumimoji="1" lang="en-US" altLang="zh-CN" sz="1100" b="0" i="1" dirty="0" smtClean="0">
                                <a:latin typeface="Cambria Math" panose="02040503050406030204" pitchFamily="18" charset="0"/>
                              </a:rPr>
                              <m:t>1</m:t>
                            </m:r>
                          </m:sub>
                        </m:sSub>
                        <m:r>
                          <a:rPr kumimoji="1" lang="en-US" altLang="zh-CN" sz="1100" b="0" i="1" dirty="0" smtClean="0">
                            <a:latin typeface="Cambria Math" panose="02040503050406030204" pitchFamily="18" charset="0"/>
                          </a:rPr>
                          <m:t>)</m:t>
                        </m:r>
                      </m:oMath>
                    </m:oMathPara>
                  </a14:m>
                  <a:endParaRPr kumimoji="1" lang="zh-CN" altLang="en-US" sz="1100" dirty="0"/>
                </a:p>
              </p:txBody>
            </p:sp>
          </mc:Choice>
          <mc:Fallback xmlns="">
            <p:sp>
              <p:nvSpPr>
                <p:cNvPr id="12" name="文本框 11">
                  <a:extLst>
                    <a:ext uri="{FF2B5EF4-FFF2-40B4-BE49-F238E27FC236}">
                      <a16:creationId xmlns:a16="http://schemas.microsoft.com/office/drawing/2014/main" id="{2156D5C7-C27C-5340-4AAA-564A03521983}"/>
                    </a:ext>
                  </a:extLst>
                </p:cNvPr>
                <p:cNvSpPr txBox="1">
                  <a:spLocks noRot="1" noChangeAspect="1" noMove="1" noResize="1" noEditPoints="1" noAdjustHandles="1" noChangeArrowheads="1" noChangeShapeType="1" noTextEdit="1"/>
                </p:cNvSpPr>
                <p:nvPr/>
              </p:nvSpPr>
              <p:spPr>
                <a:xfrm>
                  <a:off x="787012" y="641717"/>
                  <a:ext cx="675698" cy="261610"/>
                </a:xfrm>
                <a:prstGeom prst="rect">
                  <a:avLst/>
                </a:prstGeom>
                <a:blipFill>
                  <a:blip r:embed="rId3"/>
                  <a:stretch>
                    <a:fillRect b="-4545"/>
                  </a:stretch>
                </a:blipFill>
              </p:spPr>
              <p:txBody>
                <a:bodyPr/>
                <a:lstStyle/>
                <a:p>
                  <a:r>
                    <a:rPr lang="zh-CN" altLang="en-US">
                      <a:noFill/>
                    </a:rPr>
                    <a:t> </a:t>
                  </a:r>
                </a:p>
              </p:txBody>
            </p:sp>
          </mc:Fallback>
        </mc:AlternateContent>
        <p:cxnSp>
          <p:nvCxnSpPr>
            <p:cNvPr id="16" name="直线连接符 15">
              <a:extLst>
                <a:ext uri="{FF2B5EF4-FFF2-40B4-BE49-F238E27FC236}">
                  <a16:creationId xmlns:a16="http://schemas.microsoft.com/office/drawing/2014/main" id="{BC850F0A-A07C-213C-D85B-04BE08A3D9CF}"/>
                </a:ext>
              </a:extLst>
            </p:cNvPr>
            <p:cNvCxnSpPr/>
            <p:nvPr/>
          </p:nvCxnSpPr>
          <p:spPr>
            <a:xfrm>
              <a:off x="430911" y="1241850"/>
              <a:ext cx="99028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3" name="直线连接符 12">
              <a:extLst>
                <a:ext uri="{FF2B5EF4-FFF2-40B4-BE49-F238E27FC236}">
                  <a16:creationId xmlns:a16="http://schemas.microsoft.com/office/drawing/2014/main" id="{4CF791C1-C4D5-7F49-CA06-80A5655CC72C}"/>
                </a:ext>
              </a:extLst>
            </p:cNvPr>
            <p:cNvCxnSpPr>
              <a:cxnSpLocks/>
            </p:cNvCxnSpPr>
            <p:nvPr/>
          </p:nvCxnSpPr>
          <p:spPr>
            <a:xfrm>
              <a:off x="604878" y="976002"/>
              <a:ext cx="1686237" cy="550026"/>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CE261B97-24FC-E215-6BC9-97D897D080C1}"/>
                    </a:ext>
                  </a:extLst>
                </p:cNvPr>
                <p:cNvSpPr txBox="1"/>
                <p:nvPr/>
              </p:nvSpPr>
              <p:spPr>
                <a:xfrm>
                  <a:off x="156155" y="944206"/>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18" name="文本框 17">
                  <a:extLst>
                    <a:ext uri="{FF2B5EF4-FFF2-40B4-BE49-F238E27FC236}">
                      <a16:creationId xmlns:a16="http://schemas.microsoft.com/office/drawing/2014/main" id="{CE261B97-24FC-E215-6BC9-97D897D080C1}"/>
                    </a:ext>
                  </a:extLst>
                </p:cNvPr>
                <p:cNvSpPr txBox="1">
                  <a:spLocks noRot="1" noChangeAspect="1" noMove="1" noResize="1" noEditPoints="1" noAdjustHandles="1" noChangeArrowheads="1" noChangeShapeType="1" noTextEdit="1"/>
                </p:cNvSpPr>
                <p:nvPr/>
              </p:nvSpPr>
              <p:spPr>
                <a:xfrm>
                  <a:off x="156155" y="944206"/>
                  <a:ext cx="353302" cy="276999"/>
                </a:xfrm>
                <a:prstGeom prst="rect">
                  <a:avLst/>
                </a:prstGeom>
                <a:blipFill>
                  <a:blip r:embed="rId4"/>
                  <a:stretch>
                    <a:fillRect/>
                  </a:stretch>
                </a:blipFill>
              </p:spPr>
              <p:txBody>
                <a:bodyPr/>
                <a:lstStyle/>
                <a:p>
                  <a:r>
                    <a:rPr lang="zh-CN" altLang="en-US">
                      <a:noFill/>
                    </a:rPr>
                    <a:t> </a:t>
                  </a:r>
                </a:p>
              </p:txBody>
            </p:sp>
          </mc:Fallback>
        </mc:AlternateContent>
        <p:sp>
          <p:nvSpPr>
            <p:cNvPr id="20" name="椭圆 19">
              <a:extLst>
                <a:ext uri="{FF2B5EF4-FFF2-40B4-BE49-F238E27FC236}">
                  <a16:creationId xmlns:a16="http://schemas.microsoft.com/office/drawing/2014/main" id="{2205E9AC-2398-3FCE-081B-FB04817C1D51}"/>
                </a:ext>
              </a:extLst>
            </p:cNvPr>
            <p:cNvSpPr/>
            <p:nvPr/>
          </p:nvSpPr>
          <p:spPr>
            <a:xfrm>
              <a:off x="1405051" y="122120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椭圆 21">
              <a:extLst>
                <a:ext uri="{FF2B5EF4-FFF2-40B4-BE49-F238E27FC236}">
                  <a16:creationId xmlns:a16="http://schemas.microsoft.com/office/drawing/2014/main" id="{FB93408F-2891-2D81-B7EB-9787E0015FE2}"/>
                </a:ext>
              </a:extLst>
            </p:cNvPr>
            <p:cNvSpPr/>
            <p:nvPr/>
          </p:nvSpPr>
          <p:spPr>
            <a:xfrm>
              <a:off x="1051289" y="109702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845B1B0D-B6C0-55A8-35DD-BC73276EBA06}"/>
                </a:ext>
              </a:extLst>
            </p:cNvPr>
            <p:cNvSpPr txBox="1"/>
            <p:nvPr/>
          </p:nvSpPr>
          <p:spPr>
            <a:xfrm>
              <a:off x="913669" y="882966"/>
              <a:ext cx="261610" cy="230832"/>
            </a:xfrm>
            <a:prstGeom prst="rect">
              <a:avLst/>
            </a:prstGeom>
            <a:noFill/>
          </p:spPr>
          <p:txBody>
            <a:bodyPr wrap="none" rtlCol="0">
              <a:spAutoFit/>
            </a:bodyPr>
            <a:lstStyle/>
            <a:p>
              <a:r>
                <a:rPr kumimoji="1" lang="en-US" altLang="zh-CN" sz="900" dirty="0"/>
                <a:t>E</a:t>
              </a:r>
              <a:endParaRPr kumimoji="1" lang="zh-CN" altLang="en-US" sz="900" dirty="0"/>
            </a:p>
          </p:txBody>
        </p:sp>
        <p:sp>
          <p:nvSpPr>
            <p:cNvPr id="24" name="文本框 23">
              <a:extLst>
                <a:ext uri="{FF2B5EF4-FFF2-40B4-BE49-F238E27FC236}">
                  <a16:creationId xmlns:a16="http://schemas.microsoft.com/office/drawing/2014/main" id="{F8B43E0E-A759-5F37-F7A7-2D78921DF066}"/>
                </a:ext>
              </a:extLst>
            </p:cNvPr>
            <p:cNvSpPr txBox="1"/>
            <p:nvPr/>
          </p:nvSpPr>
          <p:spPr>
            <a:xfrm>
              <a:off x="1318678" y="1020183"/>
              <a:ext cx="255198" cy="230832"/>
            </a:xfrm>
            <a:prstGeom prst="rect">
              <a:avLst/>
            </a:prstGeom>
            <a:noFill/>
          </p:spPr>
          <p:txBody>
            <a:bodyPr wrap="none" rtlCol="0">
              <a:spAutoFit/>
            </a:bodyPr>
            <a:lstStyle/>
            <a:p>
              <a:r>
                <a:rPr kumimoji="1" lang="en-US" altLang="zh-CN" sz="900" dirty="0"/>
                <a:t>F</a:t>
              </a:r>
              <a:endParaRPr kumimoji="1" lang="zh-CN" altLang="en-US" sz="900" dirty="0"/>
            </a:p>
          </p:txBody>
        </p:sp>
        <p:sp>
          <p:nvSpPr>
            <p:cNvPr id="34" name="文本框 33">
              <a:extLst>
                <a:ext uri="{FF2B5EF4-FFF2-40B4-BE49-F238E27FC236}">
                  <a16:creationId xmlns:a16="http://schemas.microsoft.com/office/drawing/2014/main" id="{DC649864-16F0-7F8D-2769-2AAB080320F0}"/>
                </a:ext>
              </a:extLst>
            </p:cNvPr>
            <p:cNvSpPr txBox="1"/>
            <p:nvPr/>
          </p:nvSpPr>
          <p:spPr>
            <a:xfrm>
              <a:off x="816489" y="1571567"/>
              <a:ext cx="336952" cy="230832"/>
            </a:xfrm>
            <a:prstGeom prst="rect">
              <a:avLst/>
            </a:prstGeom>
            <a:noFill/>
          </p:spPr>
          <p:txBody>
            <a:bodyPr wrap="none" rtlCol="0">
              <a:spAutoFit/>
            </a:bodyPr>
            <a:lstStyle/>
            <a:p>
              <a:r>
                <a:rPr kumimoji="1" lang="en-US" altLang="zh-CN" sz="900" dirty="0"/>
                <a:t>Y</a:t>
              </a:r>
              <a:r>
                <a:rPr kumimoji="1" lang="en-US" altLang="zh-CN" sz="900" baseline="-25000" dirty="0"/>
                <a:t>1</a:t>
              </a:r>
              <a:r>
                <a:rPr kumimoji="1" lang="en-US" altLang="zh-CN" sz="900" dirty="0"/>
                <a:t> </a:t>
              </a:r>
              <a:endParaRPr kumimoji="1" lang="zh-CN" altLang="en-US" sz="900" dirty="0"/>
            </a:p>
          </p:txBody>
        </p:sp>
        <p:cxnSp>
          <p:nvCxnSpPr>
            <p:cNvPr id="44" name="直线箭头连接符 43">
              <a:extLst>
                <a:ext uri="{FF2B5EF4-FFF2-40B4-BE49-F238E27FC236}">
                  <a16:creationId xmlns:a16="http://schemas.microsoft.com/office/drawing/2014/main" id="{4BE06318-487B-99B5-561A-F3C220546FE9}"/>
                </a:ext>
              </a:extLst>
            </p:cNvPr>
            <p:cNvCxnSpPr>
              <a:cxnSpLocks/>
            </p:cNvCxnSpPr>
            <p:nvPr/>
          </p:nvCxnSpPr>
          <p:spPr>
            <a:xfrm>
              <a:off x="458764" y="2864505"/>
              <a:ext cx="19182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直线箭头连接符 44">
              <a:extLst>
                <a:ext uri="{FF2B5EF4-FFF2-40B4-BE49-F238E27FC236}">
                  <a16:creationId xmlns:a16="http://schemas.microsoft.com/office/drawing/2014/main" id="{D701A665-77B0-1B00-C5C9-C28F47AD8BE6}"/>
                </a:ext>
              </a:extLst>
            </p:cNvPr>
            <p:cNvCxnSpPr>
              <a:cxnSpLocks/>
            </p:cNvCxnSpPr>
            <p:nvPr/>
          </p:nvCxnSpPr>
          <p:spPr>
            <a:xfrm flipH="1" flipV="1">
              <a:off x="458765" y="2017202"/>
              <a:ext cx="9805" cy="8473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文本框 46">
              <a:extLst>
                <a:ext uri="{FF2B5EF4-FFF2-40B4-BE49-F238E27FC236}">
                  <a16:creationId xmlns:a16="http://schemas.microsoft.com/office/drawing/2014/main" id="{E60F324B-4E41-813C-97D3-CEF2D59A8C7C}"/>
                </a:ext>
              </a:extLst>
            </p:cNvPr>
            <p:cNvSpPr txBox="1"/>
            <p:nvPr/>
          </p:nvSpPr>
          <p:spPr>
            <a:xfrm>
              <a:off x="197155" y="1882474"/>
              <a:ext cx="266420" cy="276999"/>
            </a:xfrm>
            <a:prstGeom prst="rect">
              <a:avLst/>
            </a:prstGeom>
            <a:noFill/>
          </p:spPr>
          <p:txBody>
            <a:bodyPr wrap="none" rtlCol="0">
              <a:spAutoFit/>
            </a:bodyPr>
            <a:lstStyle/>
            <a:p>
              <a:r>
                <a:rPr kumimoji="1" lang="en-US" altLang="zh-CN" sz="1200" i="1" dirty="0">
                  <a:latin typeface="Garamond" panose="02020404030301010803" pitchFamily="18" charset="0"/>
                </a:rPr>
                <a:t>P</a:t>
              </a:r>
              <a:endParaRPr kumimoji="1" lang="zh-CN" altLang="en-US" sz="1200" i="1" dirty="0">
                <a:latin typeface="Garamond" panose="02020404030301010803" pitchFamily="18" charset="0"/>
              </a:endParaRPr>
            </a:p>
          </p:txBody>
        </p:sp>
        <p:cxnSp>
          <p:nvCxnSpPr>
            <p:cNvPr id="48" name="直线连接符 47">
              <a:extLst>
                <a:ext uri="{FF2B5EF4-FFF2-40B4-BE49-F238E27FC236}">
                  <a16:creationId xmlns:a16="http://schemas.microsoft.com/office/drawing/2014/main" id="{39B009D3-B8F2-7F1F-9988-ADEBC160D48A}"/>
                </a:ext>
              </a:extLst>
            </p:cNvPr>
            <p:cNvCxnSpPr>
              <a:cxnSpLocks/>
            </p:cNvCxnSpPr>
            <p:nvPr/>
          </p:nvCxnSpPr>
          <p:spPr>
            <a:xfrm>
              <a:off x="604878" y="2076199"/>
              <a:ext cx="1714090" cy="712444"/>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p:cxnSp>
          <p:nvCxnSpPr>
            <p:cNvPr id="49" name="直线连接符 48">
              <a:extLst>
                <a:ext uri="{FF2B5EF4-FFF2-40B4-BE49-F238E27FC236}">
                  <a16:creationId xmlns:a16="http://schemas.microsoft.com/office/drawing/2014/main" id="{39E7AD52-1C65-DEE3-3D8D-60BBB1B0D778}"/>
                </a:ext>
              </a:extLst>
            </p:cNvPr>
            <p:cNvCxnSpPr>
              <a:cxnSpLocks/>
              <a:endCxn id="53" idx="2"/>
            </p:cNvCxnSpPr>
            <p:nvPr/>
          </p:nvCxnSpPr>
          <p:spPr>
            <a:xfrm>
              <a:off x="471634" y="2262570"/>
              <a:ext cx="573830" cy="1"/>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8424F966-057E-989E-59EE-6646A17F7425}"/>
                    </a:ext>
                  </a:extLst>
                </p:cNvPr>
                <p:cNvSpPr txBox="1"/>
                <p:nvPr/>
              </p:nvSpPr>
              <p:spPr>
                <a:xfrm>
                  <a:off x="164892" y="2130584"/>
                  <a:ext cx="376129"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𝑃</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50" name="文本框 49">
                  <a:extLst>
                    <a:ext uri="{FF2B5EF4-FFF2-40B4-BE49-F238E27FC236}">
                      <a16:creationId xmlns:a16="http://schemas.microsoft.com/office/drawing/2014/main" id="{8424F966-057E-989E-59EE-6646A17F7425}"/>
                    </a:ext>
                  </a:extLst>
                </p:cNvPr>
                <p:cNvSpPr txBox="1">
                  <a:spLocks noRot="1" noChangeAspect="1" noMove="1" noResize="1" noEditPoints="1" noAdjustHandles="1" noChangeArrowheads="1" noChangeShapeType="1" noTextEdit="1"/>
                </p:cNvSpPr>
                <p:nvPr/>
              </p:nvSpPr>
              <p:spPr>
                <a:xfrm>
                  <a:off x="164892" y="2130584"/>
                  <a:ext cx="376129" cy="276999"/>
                </a:xfrm>
                <a:prstGeom prst="rect">
                  <a:avLst/>
                </a:prstGeom>
                <a:blipFill>
                  <a:blip r:embed="rId5"/>
                  <a:stretch>
                    <a:fillRect/>
                  </a:stretch>
                </a:blipFill>
              </p:spPr>
              <p:txBody>
                <a:bodyPr/>
                <a:lstStyle/>
                <a:p>
                  <a:r>
                    <a:rPr lang="zh-CN" altLang="en-US">
                      <a:noFill/>
                    </a:rPr>
                    <a:t> </a:t>
                  </a:r>
                </a:p>
              </p:txBody>
            </p:sp>
          </mc:Fallback>
        </mc:AlternateContent>
        <p:sp>
          <p:nvSpPr>
            <p:cNvPr id="51" name="椭圆 50">
              <a:extLst>
                <a:ext uri="{FF2B5EF4-FFF2-40B4-BE49-F238E27FC236}">
                  <a16:creationId xmlns:a16="http://schemas.microsoft.com/office/drawing/2014/main" id="{354730E2-27BB-D8B9-DB3F-F3BD00F40A00}"/>
                </a:ext>
              </a:extLst>
            </p:cNvPr>
            <p:cNvSpPr/>
            <p:nvPr/>
          </p:nvSpPr>
          <p:spPr>
            <a:xfrm>
              <a:off x="1415207" y="238670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椭圆 52">
              <a:extLst>
                <a:ext uri="{FF2B5EF4-FFF2-40B4-BE49-F238E27FC236}">
                  <a16:creationId xmlns:a16="http://schemas.microsoft.com/office/drawing/2014/main" id="{D6B96DAE-B829-5E3B-952F-060F8CA00B32}"/>
                </a:ext>
              </a:extLst>
            </p:cNvPr>
            <p:cNvSpPr/>
            <p:nvPr/>
          </p:nvSpPr>
          <p:spPr>
            <a:xfrm>
              <a:off x="1045464" y="2239711"/>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文本框 53">
              <a:extLst>
                <a:ext uri="{FF2B5EF4-FFF2-40B4-BE49-F238E27FC236}">
                  <a16:creationId xmlns:a16="http://schemas.microsoft.com/office/drawing/2014/main" id="{FB5C15FE-3808-AC4F-DF99-82FD2747534A}"/>
                </a:ext>
              </a:extLst>
            </p:cNvPr>
            <p:cNvSpPr txBox="1"/>
            <p:nvPr/>
          </p:nvSpPr>
          <p:spPr>
            <a:xfrm>
              <a:off x="1050928" y="2065176"/>
              <a:ext cx="261610" cy="230832"/>
            </a:xfrm>
            <a:prstGeom prst="rect">
              <a:avLst/>
            </a:prstGeom>
            <a:noFill/>
          </p:spPr>
          <p:txBody>
            <a:bodyPr wrap="none" rtlCol="0">
              <a:spAutoFit/>
            </a:bodyPr>
            <a:lstStyle/>
            <a:p>
              <a:r>
                <a:rPr kumimoji="1" lang="en-US" altLang="zh-CN" sz="900" dirty="0"/>
                <a:t>A</a:t>
              </a:r>
              <a:endParaRPr kumimoji="1" lang="zh-CN" altLang="en-US" sz="900" dirty="0"/>
            </a:p>
          </p:txBody>
        </p:sp>
        <p:sp>
          <p:nvSpPr>
            <p:cNvPr id="55" name="文本框 54">
              <a:extLst>
                <a:ext uri="{FF2B5EF4-FFF2-40B4-BE49-F238E27FC236}">
                  <a16:creationId xmlns:a16="http://schemas.microsoft.com/office/drawing/2014/main" id="{CB0F0A83-6D16-C51A-0E51-A8A7F579A240}"/>
                </a:ext>
              </a:extLst>
            </p:cNvPr>
            <p:cNvSpPr txBox="1"/>
            <p:nvPr/>
          </p:nvSpPr>
          <p:spPr>
            <a:xfrm>
              <a:off x="1485315" y="2222786"/>
              <a:ext cx="261610"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56" name="文本框 55">
              <a:extLst>
                <a:ext uri="{FF2B5EF4-FFF2-40B4-BE49-F238E27FC236}">
                  <a16:creationId xmlns:a16="http://schemas.microsoft.com/office/drawing/2014/main" id="{C93AECC2-7E14-A703-9C8D-CB89421FD1F7}"/>
                </a:ext>
              </a:extLst>
            </p:cNvPr>
            <p:cNvSpPr txBox="1"/>
            <p:nvPr/>
          </p:nvSpPr>
          <p:spPr>
            <a:xfrm>
              <a:off x="1422790" y="2840846"/>
              <a:ext cx="331724" cy="230832"/>
            </a:xfrm>
            <a:prstGeom prst="rect">
              <a:avLst/>
            </a:prstGeom>
            <a:noFill/>
          </p:spPr>
          <p:txBody>
            <a:bodyPr wrap="square" rtlCol="0">
              <a:spAutoFit/>
            </a:bodyPr>
            <a:lstStyle/>
            <a:p>
              <a:r>
                <a:rPr kumimoji="1" lang="en-US" altLang="zh-CN" sz="900" dirty="0"/>
                <a:t>Y</a:t>
              </a:r>
              <a:r>
                <a:rPr kumimoji="1" lang="en-US" altLang="zh-CN" sz="900" baseline="-25000" dirty="0"/>
                <a:t>2</a:t>
              </a:r>
              <a:r>
                <a:rPr kumimoji="1" lang="en-US" altLang="zh-CN" sz="900" dirty="0"/>
                <a:t> </a:t>
              </a:r>
              <a:endParaRPr kumimoji="1" lang="zh-CN" altLang="en-US" sz="900" dirty="0"/>
            </a:p>
          </p:txBody>
        </p:sp>
        <p:sp>
          <p:nvSpPr>
            <p:cNvPr id="59" name="文本框 58">
              <a:extLst>
                <a:ext uri="{FF2B5EF4-FFF2-40B4-BE49-F238E27FC236}">
                  <a16:creationId xmlns:a16="http://schemas.microsoft.com/office/drawing/2014/main" id="{7E9F8D6B-197D-D1A5-480E-C2DAE4A5A64C}"/>
                </a:ext>
              </a:extLst>
            </p:cNvPr>
            <p:cNvSpPr txBox="1"/>
            <p:nvPr/>
          </p:nvSpPr>
          <p:spPr>
            <a:xfrm>
              <a:off x="904060" y="2840846"/>
              <a:ext cx="336952" cy="230832"/>
            </a:xfrm>
            <a:prstGeom prst="rect">
              <a:avLst/>
            </a:prstGeom>
            <a:noFill/>
          </p:spPr>
          <p:txBody>
            <a:bodyPr wrap="none" rtlCol="0">
              <a:spAutoFit/>
            </a:bodyPr>
            <a:lstStyle/>
            <a:p>
              <a:r>
                <a:rPr kumimoji="1" lang="en-US" altLang="zh-CN" sz="900" dirty="0"/>
                <a:t>Y</a:t>
              </a:r>
              <a:r>
                <a:rPr kumimoji="1" lang="en-US" altLang="zh-CN" sz="900" baseline="-25000" dirty="0"/>
                <a:t>1</a:t>
              </a:r>
              <a:r>
                <a:rPr kumimoji="1" lang="en-US" altLang="zh-CN" sz="900" dirty="0"/>
                <a:t> </a:t>
              </a:r>
              <a:endParaRPr kumimoji="1" lang="zh-CN" altLang="en-US" sz="900" dirty="0"/>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34523084-99B8-02F8-9C63-4C13AA15CED9}"/>
                    </a:ext>
                  </a:extLst>
                </p:cNvPr>
                <p:cNvSpPr txBox="1"/>
                <p:nvPr/>
              </p:nvSpPr>
              <p:spPr>
                <a:xfrm>
                  <a:off x="149513" y="1095805"/>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2</m:t>
                            </m:r>
                          </m:sub>
                        </m:sSub>
                      </m:oMath>
                    </m:oMathPara>
                  </a14:m>
                  <a:endParaRPr kumimoji="1" lang="zh-CN" altLang="en-US" sz="1200" dirty="0"/>
                </a:p>
              </p:txBody>
            </p:sp>
          </mc:Choice>
          <mc:Fallback xmlns="">
            <p:sp>
              <p:nvSpPr>
                <p:cNvPr id="63" name="文本框 62">
                  <a:extLst>
                    <a:ext uri="{FF2B5EF4-FFF2-40B4-BE49-F238E27FC236}">
                      <a16:creationId xmlns:a16="http://schemas.microsoft.com/office/drawing/2014/main" id="{34523084-99B8-02F8-9C63-4C13AA15CED9}"/>
                    </a:ext>
                  </a:extLst>
                </p:cNvPr>
                <p:cNvSpPr txBox="1">
                  <a:spLocks noRot="1" noChangeAspect="1" noMove="1" noResize="1" noEditPoints="1" noAdjustHandles="1" noChangeArrowheads="1" noChangeShapeType="1" noTextEdit="1"/>
                </p:cNvSpPr>
                <p:nvPr/>
              </p:nvSpPr>
              <p:spPr>
                <a:xfrm>
                  <a:off x="149513" y="1095805"/>
                  <a:ext cx="356893" cy="27699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D9777DDA-F644-44F7-BBC0-8DEE273384FA}"/>
                    </a:ext>
                  </a:extLst>
                </p:cNvPr>
                <p:cNvSpPr txBox="1"/>
                <p:nvPr/>
              </p:nvSpPr>
              <p:spPr>
                <a:xfrm>
                  <a:off x="1970645" y="639971"/>
                  <a:ext cx="678967"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100" b="0" i="1" dirty="0" smtClean="0">
                            <a:latin typeface="Cambria Math" panose="02040503050406030204" pitchFamily="18" charset="0"/>
                          </a:rPr>
                          <m:t>𝐿𝑀</m:t>
                        </m:r>
                        <m:r>
                          <a:rPr kumimoji="1" lang="en-US" altLang="zh-CN" sz="1100" b="0" i="1" dirty="0" smtClean="0">
                            <a:latin typeface="Cambria Math" panose="02040503050406030204" pitchFamily="18" charset="0"/>
                          </a:rPr>
                          <m:t>(</m:t>
                        </m:r>
                        <m:sSub>
                          <m:sSubPr>
                            <m:ctrlPr>
                              <a:rPr kumimoji="1" lang="en-US" altLang="zh-CN" sz="1100" b="0" i="1" dirty="0" smtClean="0">
                                <a:latin typeface="Cambria Math" panose="02040503050406030204" pitchFamily="18" charset="0"/>
                              </a:rPr>
                            </m:ctrlPr>
                          </m:sSubPr>
                          <m:e>
                            <m:r>
                              <a:rPr kumimoji="1" lang="en-US" altLang="zh-CN" sz="1100" b="0" i="1" dirty="0" smtClean="0">
                                <a:latin typeface="Cambria Math" panose="02040503050406030204" pitchFamily="18" charset="0"/>
                              </a:rPr>
                              <m:t>𝑃</m:t>
                            </m:r>
                          </m:e>
                          <m:sub>
                            <m:r>
                              <a:rPr kumimoji="1" lang="en-US" altLang="zh-CN" sz="1100" b="0" i="1" dirty="0" smtClean="0">
                                <a:latin typeface="Cambria Math" panose="02040503050406030204" pitchFamily="18" charset="0"/>
                              </a:rPr>
                              <m:t>2</m:t>
                            </m:r>
                          </m:sub>
                        </m:sSub>
                        <m:r>
                          <a:rPr kumimoji="1" lang="en-US" altLang="zh-CN" sz="1100" b="0" i="1" dirty="0" smtClean="0">
                            <a:latin typeface="Cambria Math" panose="02040503050406030204" pitchFamily="18" charset="0"/>
                          </a:rPr>
                          <m:t>)</m:t>
                        </m:r>
                      </m:oMath>
                    </m:oMathPara>
                  </a14:m>
                  <a:endParaRPr kumimoji="1" lang="zh-CN" altLang="en-US" sz="1100" dirty="0"/>
                </a:p>
              </p:txBody>
            </p:sp>
          </mc:Choice>
          <mc:Fallback xmlns="">
            <p:sp>
              <p:nvSpPr>
                <p:cNvPr id="64" name="文本框 63">
                  <a:extLst>
                    <a:ext uri="{FF2B5EF4-FFF2-40B4-BE49-F238E27FC236}">
                      <a16:creationId xmlns:a16="http://schemas.microsoft.com/office/drawing/2014/main" id="{D9777DDA-F644-44F7-BBC0-8DEE273384FA}"/>
                    </a:ext>
                  </a:extLst>
                </p:cNvPr>
                <p:cNvSpPr txBox="1">
                  <a:spLocks noRot="1" noChangeAspect="1" noMove="1" noResize="1" noEditPoints="1" noAdjustHandles="1" noChangeArrowheads="1" noChangeShapeType="1" noTextEdit="1"/>
                </p:cNvSpPr>
                <p:nvPr/>
              </p:nvSpPr>
              <p:spPr>
                <a:xfrm>
                  <a:off x="1970645" y="639971"/>
                  <a:ext cx="678967" cy="261610"/>
                </a:xfrm>
                <a:prstGeom prst="rect">
                  <a:avLst/>
                </a:prstGeom>
                <a:blipFill>
                  <a:blip r:embed="rId7"/>
                  <a:stretch>
                    <a:fillRect/>
                  </a:stretch>
                </a:blipFill>
              </p:spPr>
              <p:txBody>
                <a:bodyPr/>
                <a:lstStyle/>
                <a:p>
                  <a:r>
                    <a:rPr lang="zh-CN" altLang="en-US">
                      <a:noFill/>
                    </a:rPr>
                    <a:t> </a:t>
                  </a:r>
                </a:p>
              </p:txBody>
            </p:sp>
          </mc:Fallback>
        </mc:AlternateContent>
        <p:cxnSp>
          <p:nvCxnSpPr>
            <p:cNvPr id="66" name="直线箭头连接符 65">
              <a:extLst>
                <a:ext uri="{FF2B5EF4-FFF2-40B4-BE49-F238E27FC236}">
                  <a16:creationId xmlns:a16="http://schemas.microsoft.com/office/drawing/2014/main" id="{28118628-15EA-6431-E1C6-7ED945CC82F1}"/>
                </a:ext>
              </a:extLst>
            </p:cNvPr>
            <p:cNvCxnSpPr>
              <a:cxnSpLocks/>
            </p:cNvCxnSpPr>
            <p:nvPr/>
          </p:nvCxnSpPr>
          <p:spPr>
            <a:xfrm>
              <a:off x="1591365" y="787688"/>
              <a:ext cx="327791" cy="553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166B84F6-D557-F115-33B1-D10B3BE2136E}"/>
                    </a:ext>
                  </a:extLst>
                </p:cNvPr>
                <p:cNvSpPr txBox="1"/>
                <p:nvPr/>
              </p:nvSpPr>
              <p:spPr>
                <a:xfrm>
                  <a:off x="157005" y="2298166"/>
                  <a:ext cx="379719"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𝑃</m:t>
                            </m:r>
                          </m:e>
                          <m:sub>
                            <m:r>
                              <a:rPr kumimoji="1" lang="en-US" altLang="zh-CN" sz="1200" b="0" i="1" dirty="0" smtClean="0">
                                <a:latin typeface="Cambria Math" panose="02040503050406030204" pitchFamily="18" charset="0"/>
                              </a:rPr>
                              <m:t>2</m:t>
                            </m:r>
                          </m:sub>
                        </m:sSub>
                      </m:oMath>
                    </m:oMathPara>
                  </a14:m>
                  <a:endParaRPr kumimoji="1" lang="zh-CN" altLang="en-US" sz="1200" dirty="0"/>
                </a:p>
              </p:txBody>
            </p:sp>
          </mc:Choice>
          <mc:Fallback xmlns="">
            <p:sp>
              <p:nvSpPr>
                <p:cNvPr id="68" name="文本框 67">
                  <a:extLst>
                    <a:ext uri="{FF2B5EF4-FFF2-40B4-BE49-F238E27FC236}">
                      <a16:creationId xmlns:a16="http://schemas.microsoft.com/office/drawing/2014/main" id="{166B84F6-D557-F115-33B1-D10B3BE2136E}"/>
                    </a:ext>
                  </a:extLst>
                </p:cNvPr>
                <p:cNvSpPr txBox="1">
                  <a:spLocks noRot="1" noChangeAspect="1" noMove="1" noResize="1" noEditPoints="1" noAdjustHandles="1" noChangeArrowheads="1" noChangeShapeType="1" noTextEdit="1"/>
                </p:cNvSpPr>
                <p:nvPr/>
              </p:nvSpPr>
              <p:spPr>
                <a:xfrm>
                  <a:off x="157005" y="2298166"/>
                  <a:ext cx="379719" cy="27699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3ACF9251-08AD-A40F-940E-D19D237739A1}"/>
                    </a:ext>
                  </a:extLst>
                </p:cNvPr>
                <p:cNvSpPr txBox="1"/>
                <p:nvPr/>
              </p:nvSpPr>
              <p:spPr>
                <a:xfrm>
                  <a:off x="2170847" y="1291207"/>
                  <a:ext cx="354135"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100" b="0" i="1" dirty="0" smtClean="0">
                            <a:latin typeface="Cambria Math" panose="02040503050406030204" pitchFamily="18" charset="0"/>
                          </a:rPr>
                          <m:t>𝐼𝑆</m:t>
                        </m:r>
                      </m:oMath>
                    </m:oMathPara>
                  </a14:m>
                  <a:endParaRPr kumimoji="1" lang="zh-CN" altLang="en-US" sz="1100" dirty="0"/>
                </a:p>
              </p:txBody>
            </p:sp>
          </mc:Choice>
          <mc:Fallback xmlns="">
            <p:sp>
              <p:nvSpPr>
                <p:cNvPr id="69" name="文本框 68">
                  <a:extLst>
                    <a:ext uri="{FF2B5EF4-FFF2-40B4-BE49-F238E27FC236}">
                      <a16:creationId xmlns:a16="http://schemas.microsoft.com/office/drawing/2014/main" id="{3ACF9251-08AD-A40F-940E-D19D237739A1}"/>
                    </a:ext>
                  </a:extLst>
                </p:cNvPr>
                <p:cNvSpPr txBox="1">
                  <a:spLocks noRot="1" noChangeAspect="1" noMove="1" noResize="1" noEditPoints="1" noAdjustHandles="1" noChangeArrowheads="1" noChangeShapeType="1" noTextEdit="1"/>
                </p:cNvSpPr>
                <p:nvPr/>
              </p:nvSpPr>
              <p:spPr>
                <a:xfrm>
                  <a:off x="2170847" y="1291207"/>
                  <a:ext cx="354135" cy="261610"/>
                </a:xfrm>
                <a:prstGeom prst="rect">
                  <a:avLst/>
                </a:prstGeom>
                <a:blipFill>
                  <a:blip r:embed="rId9"/>
                  <a:stretch>
                    <a:fillRect/>
                  </a:stretch>
                </a:blipFill>
              </p:spPr>
              <p:txBody>
                <a:bodyPr/>
                <a:lstStyle/>
                <a:p>
                  <a:r>
                    <a:rPr lang="zh-CN" altLang="en-US">
                      <a:noFill/>
                    </a:rPr>
                    <a:t> </a:t>
                  </a:r>
                </a:p>
              </p:txBody>
            </p:sp>
          </mc:Fallback>
        </mc:AlternateContent>
        <p:cxnSp>
          <p:nvCxnSpPr>
            <p:cNvPr id="78" name="直线连接符 77">
              <a:extLst>
                <a:ext uri="{FF2B5EF4-FFF2-40B4-BE49-F238E27FC236}">
                  <a16:creationId xmlns:a16="http://schemas.microsoft.com/office/drawing/2014/main" id="{855D3A74-1C54-6EC3-292B-5012F85849A9}"/>
                </a:ext>
              </a:extLst>
            </p:cNvPr>
            <p:cNvCxnSpPr>
              <a:cxnSpLocks/>
            </p:cNvCxnSpPr>
            <p:nvPr/>
          </p:nvCxnSpPr>
          <p:spPr>
            <a:xfrm flipV="1">
              <a:off x="471634" y="2412379"/>
              <a:ext cx="937090" cy="15615"/>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85B0F5C3-0E03-CCBB-907B-DF91854AD260}"/>
                    </a:ext>
                  </a:extLst>
                </p:cNvPr>
                <p:cNvSpPr txBox="1"/>
                <p:nvPr/>
              </p:nvSpPr>
              <p:spPr>
                <a:xfrm>
                  <a:off x="2157282" y="2538056"/>
                  <a:ext cx="404277"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a:latin typeface="Cambria Math" panose="02040503050406030204" pitchFamily="18" charset="0"/>
                          </a:rPr>
                          <m:t>AD</m:t>
                        </m:r>
                      </m:oMath>
                    </m:oMathPara>
                  </a14:m>
                  <a:endParaRPr kumimoji="1" lang="zh-CN" altLang="en-US" sz="1100" dirty="0"/>
                </a:p>
              </p:txBody>
            </p:sp>
          </mc:Choice>
          <mc:Fallback xmlns="">
            <p:sp>
              <p:nvSpPr>
                <p:cNvPr id="80" name="文本框 79">
                  <a:extLst>
                    <a:ext uri="{FF2B5EF4-FFF2-40B4-BE49-F238E27FC236}">
                      <a16:creationId xmlns:a16="http://schemas.microsoft.com/office/drawing/2014/main" id="{85B0F5C3-0E03-CCBB-907B-DF91854AD260}"/>
                    </a:ext>
                  </a:extLst>
                </p:cNvPr>
                <p:cNvSpPr txBox="1">
                  <a:spLocks noRot="1" noChangeAspect="1" noMove="1" noResize="1" noEditPoints="1" noAdjustHandles="1" noChangeArrowheads="1" noChangeShapeType="1" noTextEdit="1"/>
                </p:cNvSpPr>
                <p:nvPr/>
              </p:nvSpPr>
              <p:spPr>
                <a:xfrm>
                  <a:off x="2157282" y="2538056"/>
                  <a:ext cx="404277" cy="261610"/>
                </a:xfrm>
                <a:prstGeom prst="rect">
                  <a:avLst/>
                </a:prstGeom>
                <a:blipFill>
                  <a:blip r:embed="rId10"/>
                  <a:stretch>
                    <a:fillRect/>
                  </a:stretch>
                </a:blipFill>
              </p:spPr>
              <p:txBody>
                <a:bodyPr/>
                <a:lstStyle/>
                <a:p>
                  <a:r>
                    <a:rPr lang="zh-CN" altLang="en-US">
                      <a:noFill/>
                    </a:rPr>
                    <a:t> </a:t>
                  </a:r>
                </a:p>
              </p:txBody>
            </p:sp>
          </mc:Fallback>
        </mc:AlternateContent>
      </p:grpSp>
      <p:sp>
        <p:nvSpPr>
          <p:cNvPr id="3" name="内容占位符 5">
            <a:extLst>
              <a:ext uri="{FF2B5EF4-FFF2-40B4-BE49-F238E27FC236}">
                <a16:creationId xmlns:a16="http://schemas.microsoft.com/office/drawing/2014/main" id="{20A17B4E-87BA-44F1-2DE7-D0DB049B6FE2}"/>
              </a:ext>
            </a:extLst>
          </p:cNvPr>
          <p:cNvSpPr>
            <a:spLocks noGrp="1"/>
          </p:cNvSpPr>
          <p:nvPr>
            <p:ph idx="1"/>
          </p:nvPr>
        </p:nvSpPr>
        <p:spPr>
          <a:xfrm>
            <a:off x="2573696" y="770776"/>
            <a:ext cx="2015959" cy="2363093"/>
          </a:xfrm>
        </p:spPr>
        <p:txBody>
          <a:bodyPr/>
          <a:lstStyle/>
          <a:p>
            <a:r>
              <a:rPr lang="zh-CN" altLang="en-US" sz="1100" dirty="0"/>
              <a:t>总需求曲线反映的是</a:t>
            </a:r>
            <a:r>
              <a:rPr lang="zh-CN" altLang="en-US" sz="1100" b="1" dirty="0"/>
              <a:t>产品市场与货币市场同时均衡时</a:t>
            </a:r>
            <a:r>
              <a:rPr lang="zh-CN" altLang="en-US" sz="1100" dirty="0"/>
              <a:t>，</a:t>
            </a:r>
            <a:r>
              <a:rPr lang="zh-CN" altLang="en-US" sz="1100" b="1" dirty="0"/>
              <a:t>价格水平和总需求量</a:t>
            </a:r>
            <a:r>
              <a:rPr lang="zh-CN" altLang="en-US" sz="1100" dirty="0"/>
              <a:t>之间的关系。</a:t>
            </a:r>
            <a:endParaRPr lang="en-US" altLang="zh-CN" sz="1100" dirty="0"/>
          </a:p>
          <a:p>
            <a:r>
              <a:rPr lang="zh-CN" altLang="en-US" sz="1100" dirty="0"/>
              <a:t>价格水平下降时，</a:t>
            </a:r>
            <a:r>
              <a:rPr lang="en-US" altLang="zh-CN" sz="1100" dirty="0"/>
              <a:t>LM</a:t>
            </a:r>
            <a:r>
              <a:rPr lang="zh-CN" altLang="en-US" sz="1100" dirty="0"/>
              <a:t>曲线向右移动，随着</a:t>
            </a:r>
            <a:r>
              <a:rPr lang="en-US" altLang="zh-CN" sz="1100" dirty="0"/>
              <a:t>P</a:t>
            </a:r>
            <a:r>
              <a:rPr lang="zh-CN" altLang="en-US" sz="1100" dirty="0"/>
              <a:t>的变化，</a:t>
            </a:r>
            <a:r>
              <a:rPr lang="en-US" altLang="zh-CN" sz="1100" dirty="0"/>
              <a:t>IS</a:t>
            </a:r>
            <a:r>
              <a:rPr lang="zh-CN" altLang="en-US" sz="1100" dirty="0"/>
              <a:t>与</a:t>
            </a:r>
            <a:r>
              <a:rPr lang="en-US" altLang="zh-CN" sz="1100" dirty="0"/>
              <a:t>LM</a:t>
            </a:r>
            <a:r>
              <a:rPr lang="zh-CN" altLang="en-US" sz="1100" dirty="0"/>
              <a:t>曲线上有许多交点，每一个交点都标志着一个特定的</a:t>
            </a:r>
            <a:r>
              <a:rPr lang="en-US" altLang="zh-CN" sz="1100" dirty="0"/>
              <a:t>y</a:t>
            </a:r>
            <a:r>
              <a:rPr lang="zh-CN" altLang="en-US" sz="1100" dirty="0"/>
              <a:t>和</a:t>
            </a:r>
            <a:r>
              <a:rPr lang="en-US" altLang="zh-CN" sz="1100" dirty="0"/>
              <a:t>r</a:t>
            </a:r>
            <a:r>
              <a:rPr lang="zh-CN" altLang="en-US" sz="1100" dirty="0"/>
              <a:t>，从而有很多个</a:t>
            </a:r>
            <a:r>
              <a:rPr lang="en-US" altLang="zh-CN" sz="1100" dirty="0"/>
              <a:t>y</a:t>
            </a:r>
            <a:r>
              <a:rPr lang="zh-CN" altLang="en-US" sz="1100" dirty="0"/>
              <a:t>和</a:t>
            </a:r>
            <a:r>
              <a:rPr lang="en-US" altLang="zh-CN" sz="1100" dirty="0"/>
              <a:t>P</a:t>
            </a:r>
            <a:r>
              <a:rPr lang="zh-CN" altLang="en-US" sz="1100" dirty="0"/>
              <a:t>的组合。</a:t>
            </a:r>
            <a:endParaRPr lang="en-US" altLang="zh-CN" sz="1100" dirty="0"/>
          </a:p>
        </p:txBody>
      </p:sp>
      <p:sp>
        <p:nvSpPr>
          <p:cNvPr id="17" name="文本框 16">
            <a:extLst>
              <a:ext uri="{FF2B5EF4-FFF2-40B4-BE49-F238E27FC236}">
                <a16:creationId xmlns:a16="http://schemas.microsoft.com/office/drawing/2014/main" id="{C6294907-EEDB-F9D1-15DA-C5039DD1EC70}"/>
              </a:ext>
            </a:extLst>
          </p:cNvPr>
          <p:cNvSpPr txBox="1"/>
          <p:nvPr/>
        </p:nvSpPr>
        <p:spPr>
          <a:xfrm>
            <a:off x="2440915" y="2788643"/>
            <a:ext cx="2147057" cy="553998"/>
          </a:xfrm>
          <a:prstGeom prst="rect">
            <a:avLst/>
          </a:prstGeom>
          <a:noFill/>
        </p:spPr>
        <p:txBody>
          <a:bodyPr wrap="square">
            <a:spAutoFit/>
          </a:bodyPr>
          <a:lstStyle/>
          <a:p>
            <a:r>
              <a:rPr lang="zh-CN" altLang="en-US" sz="1000" b="1" dirty="0">
                <a:latin typeface="Times New Roman" panose="02020603050405020304" pitchFamily="18" charset="0"/>
                <a:ea typeface="楷体" panose="02010609060101010101" pitchFamily="49" charset="-122"/>
                <a:cs typeface="Times New Roman" panose="02020603050405020304" pitchFamily="18" charset="0"/>
              </a:rPr>
              <a:t>注意：</a:t>
            </a:r>
            <a:r>
              <a:rPr lang="en-US" altLang="zh-CN" sz="1000" dirty="0">
                <a:latin typeface="Times New Roman" panose="02020603050405020304" pitchFamily="18" charset="0"/>
                <a:ea typeface="楷体" panose="02010609060101010101" pitchFamily="49" charset="-122"/>
                <a:cs typeface="Times New Roman" panose="02020603050405020304" pitchFamily="18" charset="0"/>
              </a:rPr>
              <a:t>P</a:t>
            </a:r>
            <a:r>
              <a:rPr lang="zh-CN" altLang="en-US" sz="1000" dirty="0">
                <a:latin typeface="Times New Roman" panose="02020603050405020304" pitchFamily="18" charset="0"/>
                <a:ea typeface="楷体" panose="02010609060101010101" pitchFamily="49" charset="-122"/>
                <a:cs typeface="Times New Roman" panose="02020603050405020304" pitchFamily="18" charset="0"/>
              </a:rPr>
              <a:t>的变化对</a:t>
            </a:r>
            <a:r>
              <a:rPr lang="en-US" altLang="zh-CN" sz="1000" dirty="0">
                <a:latin typeface="Times New Roman" panose="02020603050405020304" pitchFamily="18" charset="0"/>
                <a:ea typeface="楷体" panose="02010609060101010101" pitchFamily="49" charset="-122"/>
                <a:cs typeface="Times New Roman" panose="02020603050405020304" pitchFamily="18" charset="0"/>
              </a:rPr>
              <a:t>IS</a:t>
            </a:r>
            <a:r>
              <a:rPr lang="zh-CN" altLang="en-US" sz="1000" dirty="0">
                <a:latin typeface="Times New Roman" panose="02020603050405020304" pitchFamily="18" charset="0"/>
                <a:ea typeface="楷体" panose="02010609060101010101" pitchFamily="49" charset="-122"/>
                <a:cs typeface="Times New Roman" panose="02020603050405020304" pitchFamily="18" charset="0"/>
              </a:rPr>
              <a:t>曲线的位置没有影响。这是因为，决定</a:t>
            </a:r>
            <a:r>
              <a:rPr lang="en-US" altLang="zh-CN" sz="1000" dirty="0">
                <a:latin typeface="Times New Roman" panose="02020603050405020304" pitchFamily="18" charset="0"/>
                <a:ea typeface="楷体" panose="02010609060101010101" pitchFamily="49" charset="-122"/>
                <a:cs typeface="Times New Roman" panose="02020603050405020304" pitchFamily="18" charset="0"/>
              </a:rPr>
              <a:t>IS</a:t>
            </a:r>
            <a:r>
              <a:rPr lang="zh-CN" altLang="en-US" sz="1000" dirty="0">
                <a:latin typeface="Times New Roman" panose="02020603050405020304" pitchFamily="18" charset="0"/>
                <a:ea typeface="楷体" panose="02010609060101010101" pitchFamily="49" charset="-122"/>
                <a:cs typeface="Times New Roman" panose="02020603050405020304" pitchFamily="18" charset="0"/>
              </a:rPr>
              <a:t>曲线的变量是实际量。</a:t>
            </a:r>
          </a:p>
        </p:txBody>
      </p:sp>
    </p:spTree>
    <p:extLst>
      <p:ext uri="{BB962C8B-B14F-4D97-AF65-F5344CB8AC3E}">
        <p14:creationId xmlns:p14="http://schemas.microsoft.com/office/powerpoint/2010/main" val="522967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dirty="0">
                <a:ln w="0"/>
                <a:effectLst>
                  <a:outerShdw blurRad="38100" dist="19050" dir="2700000" algn="tl" rotWithShape="0">
                    <a:schemeClr val="dk1">
                      <a:alpha val="40000"/>
                    </a:schemeClr>
                  </a:outerShdw>
                </a:effectLst>
              </a:rPr>
              <a:t>总需求曲线的推导</a:t>
            </a:r>
          </a:p>
        </p:txBody>
      </p:sp>
      <p:sp>
        <p:nvSpPr>
          <p:cNvPr id="5" name="灯片编号占位符 4"/>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9</a:t>
            </a:fld>
            <a:endParaRPr lang="zh-CN" altLang="en-US"/>
          </a:p>
        </p:txBody>
      </p:sp>
      <mc:AlternateContent xmlns:mc="http://schemas.openxmlformats.org/markup-compatibility/2006" xmlns:a14="http://schemas.microsoft.com/office/drawing/2010/main">
        <mc:Choice Requires="a14">
          <p:sp>
            <p:nvSpPr>
              <p:cNvPr id="6" name="内容占位符 5"/>
              <p:cNvSpPr>
                <a:spLocks noGrp="1"/>
              </p:cNvSpPr>
              <p:nvPr>
                <p:ph idx="1"/>
              </p:nvPr>
            </p:nvSpPr>
            <p:spPr>
              <a:xfrm>
                <a:off x="288826" y="578247"/>
                <a:ext cx="3976211" cy="2193800"/>
              </a:xfrm>
            </p:spPr>
            <p:txBody>
              <a:bodyPr/>
              <a:lstStyle/>
              <a:p>
                <a:r>
                  <a:rPr lang="zh-CN" altLang="en-US" sz="1210" dirty="0"/>
                  <a:t>总需求可从</a:t>
                </a:r>
                <a:r>
                  <a:rPr lang="en-US" altLang="zh-CN" sz="1210" dirty="0"/>
                  <a:t>IS-LM</a:t>
                </a:r>
                <a:r>
                  <a:rPr lang="zh-CN" altLang="en-US" sz="1210" dirty="0"/>
                  <a:t>曲线推导而来。</a:t>
                </a:r>
                <a:endParaRPr lang="en-US" altLang="zh-CN" sz="1210" dirty="0"/>
              </a:p>
              <a:p>
                <a14:m>
                  <m:oMath xmlns:m="http://schemas.openxmlformats.org/officeDocument/2006/math">
                    <m:r>
                      <a:rPr lang="en-US" altLang="zh-CN" sz="1210" i="1">
                        <a:latin typeface="Cambria Math" panose="02040503050406030204" pitchFamily="18" charset="0"/>
                      </a:rPr>
                      <m:t>𝑦</m:t>
                    </m:r>
                    <m:r>
                      <a:rPr lang="en-US" altLang="zh-CN" sz="1210" i="1">
                        <a:latin typeface="Cambria Math" panose="02040503050406030204" pitchFamily="18" charset="0"/>
                      </a:rPr>
                      <m:t>=</m:t>
                    </m:r>
                    <m:r>
                      <a:rPr lang="en-US" altLang="zh-CN" sz="1210" i="1">
                        <a:latin typeface="Cambria Math" panose="02040503050406030204" pitchFamily="18" charset="0"/>
                      </a:rPr>
                      <m:t>𝑐</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𝑦</m:t>
                        </m:r>
                        <m:r>
                          <a:rPr lang="en-US" altLang="zh-CN" sz="1210" i="1">
                            <a:latin typeface="Cambria Math" panose="02040503050406030204" pitchFamily="18" charset="0"/>
                          </a:rPr>
                          <m:t>−</m:t>
                        </m:r>
                        <m:r>
                          <a:rPr lang="en-US" altLang="zh-CN" sz="1210" i="1">
                            <a:latin typeface="Cambria Math" panose="02040503050406030204" pitchFamily="18" charset="0"/>
                          </a:rPr>
                          <m:t>𝑡</m:t>
                        </m:r>
                      </m:e>
                    </m:d>
                    <m:r>
                      <a:rPr lang="en-US" altLang="zh-CN" sz="1210" i="1">
                        <a:latin typeface="Cambria Math" panose="02040503050406030204" pitchFamily="18" charset="0"/>
                      </a:rPr>
                      <m:t>+</m:t>
                    </m:r>
                    <m:r>
                      <a:rPr lang="en-US" altLang="zh-CN" sz="1210" i="1">
                        <a:latin typeface="Cambria Math" panose="02040503050406030204" pitchFamily="18" charset="0"/>
                      </a:rPr>
                      <m:t>𝑖</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𝑟</m:t>
                        </m:r>
                      </m:e>
                    </m:d>
                    <m:r>
                      <a:rPr lang="en-US" altLang="zh-CN" sz="1210" i="1">
                        <a:latin typeface="Cambria Math" panose="02040503050406030204" pitchFamily="18" charset="0"/>
                      </a:rPr>
                      <m:t>+</m:t>
                    </m:r>
                    <m:r>
                      <a:rPr lang="en-US" altLang="zh-CN" sz="1210" i="1">
                        <a:latin typeface="Cambria Math" panose="02040503050406030204" pitchFamily="18" charset="0"/>
                      </a:rPr>
                      <m:t>𝑔</m:t>
                    </m:r>
                  </m:oMath>
                </a14:m>
                <a:endParaRPr lang="en-US" altLang="zh-CN" sz="1210" dirty="0"/>
              </a:p>
              <a:p>
                <a14:m>
                  <m:oMath xmlns:m="http://schemas.openxmlformats.org/officeDocument/2006/math">
                    <m:f>
                      <m:fPr>
                        <m:ctrlPr>
                          <a:rPr lang="en-US" altLang="zh-CN" sz="1210" i="1">
                            <a:latin typeface="Cambria Math" panose="02040503050406030204" pitchFamily="18" charset="0"/>
                          </a:rPr>
                        </m:ctrlPr>
                      </m:fPr>
                      <m:num>
                        <m:r>
                          <a:rPr lang="en-US" altLang="zh-CN" sz="1210" i="1">
                            <a:latin typeface="Cambria Math" panose="02040503050406030204" pitchFamily="18" charset="0"/>
                          </a:rPr>
                          <m:t>𝑀</m:t>
                        </m:r>
                      </m:num>
                      <m:den>
                        <m:r>
                          <a:rPr lang="en-US" altLang="zh-CN" sz="1210" i="1">
                            <a:latin typeface="Cambria Math" panose="02040503050406030204" pitchFamily="18" charset="0"/>
                          </a:rPr>
                          <m:t>𝑃</m:t>
                        </m:r>
                      </m:den>
                    </m:f>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1</m:t>
                        </m:r>
                      </m:sub>
                    </m:sSub>
                    <m:d>
                      <m:dPr>
                        <m:ctrlPr>
                          <a:rPr lang="en-US" altLang="zh-CN" sz="1210" i="1">
                            <a:latin typeface="Cambria Math" panose="02040503050406030204" pitchFamily="18" charset="0"/>
                          </a:rPr>
                        </m:ctrlPr>
                      </m:dPr>
                      <m:e>
                        <m:r>
                          <a:rPr lang="en-US" altLang="zh-CN" sz="1210" i="1">
                            <a:latin typeface="Cambria Math" panose="02040503050406030204" pitchFamily="18" charset="0"/>
                          </a:rPr>
                          <m:t>𝑦</m:t>
                        </m:r>
                      </m:e>
                    </m:d>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2</m:t>
                        </m:r>
                      </m:sub>
                    </m:sSub>
                    <m:d>
                      <m:dPr>
                        <m:ctrlPr>
                          <a:rPr lang="en-US" altLang="zh-CN" sz="1210" i="1">
                            <a:latin typeface="Cambria Math" panose="02040503050406030204" pitchFamily="18" charset="0"/>
                          </a:rPr>
                        </m:ctrlPr>
                      </m:dPr>
                      <m:e>
                        <m:r>
                          <a:rPr lang="en-US" altLang="zh-CN" sz="1210" i="1">
                            <a:latin typeface="Cambria Math" panose="02040503050406030204" pitchFamily="18" charset="0"/>
                          </a:rPr>
                          <m:t>𝑟</m:t>
                        </m:r>
                      </m:e>
                    </m:d>
                    <m:r>
                      <a:rPr lang="en-US" altLang="zh-CN" sz="1210" i="1">
                        <a:latin typeface="Cambria Math" panose="02040503050406030204" pitchFamily="18" charset="0"/>
                      </a:rPr>
                      <m:t>=</m:t>
                    </m:r>
                    <m:r>
                      <a:rPr lang="en-US" altLang="zh-CN" sz="1210" i="1">
                        <a:latin typeface="Cambria Math" panose="02040503050406030204" pitchFamily="18" charset="0"/>
                      </a:rPr>
                      <m:t>𝑘𝑦</m:t>
                    </m:r>
                    <m:r>
                      <a:rPr lang="en-US" altLang="zh-CN" sz="1210" i="1">
                        <a:latin typeface="Cambria Math" panose="02040503050406030204" pitchFamily="18" charset="0"/>
                      </a:rPr>
                      <m:t>−</m:t>
                    </m:r>
                    <m:r>
                      <a:rPr lang="en-US" altLang="zh-CN" sz="1210" i="1">
                        <a:latin typeface="Cambria Math" panose="02040503050406030204" pitchFamily="18" charset="0"/>
                      </a:rPr>
                      <m:t>h𝑟</m:t>
                    </m:r>
                  </m:oMath>
                </a14:m>
                <a:endParaRPr lang="en-US" altLang="zh-CN" sz="1210" dirty="0"/>
              </a:p>
              <a:p>
                <a:r>
                  <a:rPr lang="zh-CN" altLang="en-US" sz="1210" dirty="0"/>
                  <a:t>将</a:t>
                </a:r>
                <a14:m>
                  <m:oMath xmlns:m="http://schemas.openxmlformats.org/officeDocument/2006/math">
                    <m:r>
                      <a:rPr lang="en-US" altLang="zh-CN" sz="1210" i="1">
                        <a:latin typeface="Cambria Math" panose="02040503050406030204" pitchFamily="18" charset="0"/>
                      </a:rPr>
                      <m:t>𝑦</m:t>
                    </m:r>
                    <m:r>
                      <a:rPr lang="zh-CN" altLang="en-US" sz="1210" i="1">
                        <a:latin typeface="Cambria Math" panose="02040503050406030204" pitchFamily="18" charset="0"/>
                      </a:rPr>
                      <m:t>与</m:t>
                    </m:r>
                    <m:r>
                      <a:rPr lang="en-US" altLang="zh-CN" sz="1210" i="1">
                        <a:latin typeface="Cambria Math" panose="02040503050406030204" pitchFamily="18" charset="0"/>
                      </a:rPr>
                      <m:t>𝑟</m:t>
                    </m:r>
                  </m:oMath>
                </a14:m>
                <a:r>
                  <a:rPr lang="zh-CN" altLang="en-US" sz="1210" dirty="0"/>
                  <a:t>当做未知数，</a:t>
                </a:r>
                <a:r>
                  <a:rPr lang="en-US" altLang="zh-CN" sz="1210" dirty="0"/>
                  <a:t>P</a:t>
                </a:r>
                <a:r>
                  <a:rPr lang="zh-CN" altLang="en-US" sz="1210" dirty="0"/>
                  <a:t>当作参数，联立方程组可解得不同价格水平</a:t>
                </a:r>
                <a:r>
                  <a:rPr lang="en-US" altLang="zh-CN" sz="1210" dirty="0"/>
                  <a:t>P</a:t>
                </a:r>
                <a:r>
                  <a:rPr lang="zh-CN" altLang="en-US" sz="1210" dirty="0"/>
                  <a:t>与不同的总需求量</a:t>
                </a:r>
                <a:r>
                  <a:rPr lang="en-US" altLang="zh-CN" sz="1210" dirty="0"/>
                  <a:t>y</a:t>
                </a:r>
                <a:r>
                  <a:rPr lang="zh-CN" altLang="en-US" sz="1210" dirty="0"/>
                  <a:t>之间的函数关系，即总需求函数。</a:t>
                </a:r>
              </a:p>
            </p:txBody>
          </p:sp>
        </mc:Choice>
        <mc:Fallback xmlns="">
          <p:sp>
            <p:nvSpPr>
              <p:cNvPr id="6" name="内容占位符 5"/>
              <p:cNvSpPr>
                <a:spLocks noGrp="1" noRot="1" noChangeAspect="1" noMove="1" noResize="1" noEditPoints="1" noAdjustHandles="1" noChangeArrowheads="1" noChangeShapeType="1" noTextEdit="1"/>
              </p:cNvSpPr>
              <p:nvPr>
                <p:ph idx="1"/>
              </p:nvPr>
            </p:nvSpPr>
            <p:spPr>
              <a:xfrm>
                <a:off x="288826" y="578247"/>
                <a:ext cx="3976211" cy="2193800"/>
              </a:xfrm>
              <a:blipFill>
                <a:blip r:embed="rId2"/>
                <a:stretch>
                  <a:fillRect l="-318" t="-1724"/>
                </a:stretch>
              </a:blipFill>
            </p:spPr>
            <p:txBody>
              <a:bodyPr/>
              <a:lstStyle/>
              <a:p>
                <a:r>
                  <a:rPr lang="zh-CN" altLang="en-US">
                    <a:noFill/>
                  </a:rPr>
                  <a:t> </a:t>
                </a:r>
              </a:p>
            </p:txBody>
          </p:sp>
        </mc:Fallback>
      </mc:AlternateContent>
      <p:sp>
        <p:nvSpPr>
          <p:cNvPr id="2" name="日期占位符 3">
            <a:extLst>
              <a:ext uri="{FF2B5EF4-FFF2-40B4-BE49-F238E27FC236}">
                <a16:creationId xmlns:a16="http://schemas.microsoft.com/office/drawing/2014/main" id="{05E949CB-8004-1F51-F22F-8878571A8D6B}"/>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649222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总需求函数</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400" dirty="0"/>
                  <a:t>某经济存在以下经济关系：消费</a:t>
                </a:r>
                <a14:m>
                  <m:oMath xmlns:m="http://schemas.openxmlformats.org/officeDocument/2006/math">
                    <m:r>
                      <a:rPr lang="en-US" altLang="zh-CN" sz="1400" i="1">
                        <a:latin typeface="Cambria Math" panose="02040503050406030204" pitchFamily="18" charset="0"/>
                      </a:rPr>
                      <m:t>𝐶</m:t>
                    </m:r>
                    <m:r>
                      <a:rPr lang="en-US" altLang="zh-CN" sz="1400" i="1">
                        <a:latin typeface="Cambria Math" panose="02040503050406030204" pitchFamily="18" charset="0"/>
                      </a:rPr>
                      <m:t>=800+0.8</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𝑌</m:t>
                        </m:r>
                      </m:e>
                      <m:sub>
                        <m:r>
                          <a:rPr lang="en-US" altLang="zh-CN" sz="1400" i="1">
                            <a:latin typeface="Cambria Math" panose="02040503050406030204" pitchFamily="18" charset="0"/>
                          </a:rPr>
                          <m:t>𝑑</m:t>
                        </m:r>
                      </m:sub>
                    </m:sSub>
                  </m:oMath>
                </a14:m>
                <a:r>
                  <a:rPr lang="zh-CN" altLang="en-US" sz="1400" dirty="0"/>
                  <a:t>，税收</a:t>
                </a:r>
                <a14:m>
                  <m:oMath xmlns:m="http://schemas.openxmlformats.org/officeDocument/2006/math">
                    <m:r>
                      <a:rPr lang="en-US" altLang="zh-CN" sz="1400" i="1">
                        <a:latin typeface="Cambria Math" panose="02040503050406030204" pitchFamily="18" charset="0"/>
                      </a:rPr>
                      <m:t>𝑇</m:t>
                    </m:r>
                    <m:r>
                      <a:rPr lang="en-US" altLang="zh-CN" sz="1400" i="1">
                        <a:latin typeface="Cambria Math" panose="02040503050406030204" pitchFamily="18" charset="0"/>
                      </a:rPr>
                      <m:t>=0.25</m:t>
                    </m:r>
                    <m:r>
                      <a:rPr lang="en-US" altLang="zh-CN" sz="1400" i="1">
                        <a:latin typeface="Cambria Math" panose="02040503050406030204" pitchFamily="18" charset="0"/>
                      </a:rPr>
                      <m:t>𝑌</m:t>
                    </m:r>
                  </m:oMath>
                </a14:m>
                <a:r>
                  <a:rPr lang="zh-CN" altLang="en-US" sz="1400" dirty="0"/>
                  <a:t>，政府支出</a:t>
                </a:r>
                <a:r>
                  <a:rPr lang="en-US" altLang="zh-CN" sz="1400" dirty="0"/>
                  <a:t>G=200</a:t>
                </a:r>
                <a:r>
                  <a:rPr lang="zh-CN" altLang="en-US" sz="1400" dirty="0"/>
                  <a:t>，投资</a:t>
                </a:r>
                <a14:m>
                  <m:oMath xmlns:m="http://schemas.openxmlformats.org/officeDocument/2006/math">
                    <m:r>
                      <a:rPr lang="en-US" altLang="zh-CN" sz="1400" i="1">
                        <a:latin typeface="Cambria Math" panose="02040503050406030204" pitchFamily="18" charset="0"/>
                      </a:rPr>
                      <m:t>𝐼</m:t>
                    </m:r>
                    <m:r>
                      <a:rPr lang="en-US" altLang="zh-CN" sz="1400" i="1">
                        <a:latin typeface="Cambria Math" panose="02040503050406030204" pitchFamily="18" charset="0"/>
                      </a:rPr>
                      <m:t>=200−50</m:t>
                    </m:r>
                    <m:r>
                      <a:rPr lang="en-US" altLang="zh-CN" sz="1400" i="1">
                        <a:latin typeface="Cambria Math" panose="02040503050406030204" pitchFamily="18" charset="0"/>
                      </a:rPr>
                      <m:t>𝑟</m:t>
                    </m:r>
                  </m:oMath>
                </a14:m>
                <a:r>
                  <a:rPr lang="zh-CN" altLang="en-US" sz="1400" dirty="0"/>
                  <a:t>，货币需求</a:t>
                </a:r>
                <a14:m>
                  <m:oMath xmlns:m="http://schemas.openxmlformats.org/officeDocument/2006/math">
                    <m:r>
                      <a:rPr lang="en-US" altLang="zh-CN" sz="1400" i="1">
                        <a:latin typeface="Cambria Math" panose="02040503050406030204" pitchFamily="18" charset="0"/>
                      </a:rPr>
                      <m:t>𝐿</m:t>
                    </m:r>
                    <m:r>
                      <a:rPr lang="en-US" altLang="zh-CN" sz="1400" i="1">
                        <a:latin typeface="Cambria Math" panose="02040503050406030204" pitchFamily="18" charset="0"/>
                      </a:rPr>
                      <m:t>=0.4</m:t>
                    </m:r>
                    <m:r>
                      <a:rPr lang="en-US" altLang="zh-CN" sz="1400" i="1">
                        <a:latin typeface="Cambria Math" panose="02040503050406030204" pitchFamily="18" charset="0"/>
                      </a:rPr>
                      <m:t>𝑌</m:t>
                    </m:r>
                    <m:r>
                      <a:rPr lang="en-US" altLang="zh-CN" sz="1400" i="1">
                        <a:latin typeface="Cambria Math" panose="02040503050406030204" pitchFamily="18" charset="0"/>
                      </a:rPr>
                      <m:t>−100</m:t>
                    </m:r>
                    <m:r>
                      <a:rPr lang="en-US" altLang="zh-CN" sz="1400" i="1">
                        <a:latin typeface="Cambria Math" panose="02040503050406030204" pitchFamily="18" charset="0"/>
                      </a:rPr>
                      <m:t>𝑟</m:t>
                    </m:r>
                    <m:r>
                      <a:rPr lang="zh-CN" altLang="en-US" sz="1400" i="1">
                        <a:latin typeface="Cambria Math" panose="02040503050406030204" pitchFamily="18" charset="0"/>
                      </a:rPr>
                      <m:t>，</m:t>
                    </m:r>
                  </m:oMath>
                </a14:m>
                <a:r>
                  <a:rPr lang="zh-CN" altLang="en-US" sz="1400" dirty="0"/>
                  <a:t>名义货币供给</a:t>
                </a:r>
                <a:r>
                  <a:rPr lang="en-US" altLang="zh-CN" sz="1400" dirty="0"/>
                  <a:t>900</a:t>
                </a:r>
                <a:r>
                  <a:rPr lang="zh-CN" altLang="en-US" sz="1400" dirty="0"/>
                  <a:t>，求：</a:t>
                </a:r>
                <a:endParaRPr lang="en-US" altLang="zh-CN" sz="1400" dirty="0"/>
              </a:p>
              <a:p>
                <a:r>
                  <a:rPr lang="en-US" altLang="zh-CN" sz="1400" dirty="0"/>
                  <a:t>1. </a:t>
                </a:r>
                <a:r>
                  <a:rPr lang="zh-CN" altLang="en-US" sz="1400" dirty="0"/>
                  <a:t>总需求函数；</a:t>
                </a:r>
                <a:endParaRPr lang="en-US" altLang="zh-CN" sz="1400" dirty="0"/>
              </a:p>
              <a:p>
                <a:r>
                  <a:rPr lang="en-US" altLang="zh-CN" sz="1400" dirty="0"/>
                  <a:t>2. P=1</a:t>
                </a:r>
                <a:r>
                  <a:rPr lang="zh-CN" altLang="en-US" sz="1400" dirty="0"/>
                  <a:t>时的收入和利率</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7"/>
                <a:ext cx="4110356" cy="1277752"/>
              </a:xfrm>
              <a:blipFill>
                <a:blip r:embed="rId2"/>
                <a:stretch>
                  <a:fillRect l="-615" t="-2970" r="-4615" b="-33663"/>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21250336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EE56-2C42-C632-60AE-2FC0905E71C9}"/>
            </a:ext>
          </a:extLst>
        </p:cNvPr>
        <p:cNvGrpSpPr/>
        <p:nvPr/>
      </p:nvGrpSpPr>
      <p:grpSpPr>
        <a:xfrm>
          <a:off x="0" y="0"/>
          <a:ext cx="0" cy="0"/>
          <a:chOff x="0" y="0"/>
          <a:chExt cx="0" cy="0"/>
        </a:xfrm>
      </p:grpSpPr>
      <p:sp>
        <p:nvSpPr>
          <p:cNvPr id="35842" name="Rectangle 8">
            <a:extLst>
              <a:ext uri="{FF2B5EF4-FFF2-40B4-BE49-F238E27FC236}">
                <a16:creationId xmlns:a16="http://schemas.microsoft.com/office/drawing/2014/main" id="{A68E91B6-3144-0EB9-E374-683F89DFDD4A}"/>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D532F22E-D0DB-0F62-8105-22E50EADBD40}"/>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E8D0B11C-4B17-B5AF-5F69-1C80155DC951}"/>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FF0CB2CC-0483-9BAC-7EF5-F5E22B880406}"/>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4E7BD22A-C5DD-8D38-D15D-49B1F820B5C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11</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048F34C8-B6FC-191F-E79C-3FA04343C841}"/>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总需求函数</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mc:Choice xmlns:a14="http://schemas.microsoft.com/office/drawing/2010/main" Requires="a14">
          <p:sp>
            <p:nvSpPr>
              <p:cNvPr id="2" name="内容占位符 2">
                <a:extLst>
                  <a:ext uri="{FF2B5EF4-FFF2-40B4-BE49-F238E27FC236}">
                    <a16:creationId xmlns:a16="http://schemas.microsoft.com/office/drawing/2014/main" id="{EC55FD97-5A06-5E1A-DDAD-1DAB073F6843}"/>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400" dirty="0"/>
                  <a:t>某经济存在以下经济关系：消费</a:t>
                </a:r>
                <a14:m>
                  <m:oMath xmlns:m="http://schemas.openxmlformats.org/officeDocument/2006/math">
                    <m:r>
                      <a:rPr lang="en-US" altLang="zh-CN" sz="1400" i="1">
                        <a:latin typeface="Cambria Math" panose="02040503050406030204" pitchFamily="18" charset="0"/>
                      </a:rPr>
                      <m:t>𝐶</m:t>
                    </m:r>
                    <m:r>
                      <a:rPr lang="en-US" altLang="zh-CN" sz="1400" i="1">
                        <a:latin typeface="Cambria Math" panose="02040503050406030204" pitchFamily="18" charset="0"/>
                      </a:rPr>
                      <m:t>=800+0.8</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𝑌</m:t>
                        </m:r>
                      </m:e>
                      <m:sub>
                        <m:r>
                          <a:rPr lang="en-US" altLang="zh-CN" sz="1400" i="1">
                            <a:latin typeface="Cambria Math" panose="02040503050406030204" pitchFamily="18" charset="0"/>
                          </a:rPr>
                          <m:t>𝑑</m:t>
                        </m:r>
                      </m:sub>
                    </m:sSub>
                  </m:oMath>
                </a14:m>
                <a:r>
                  <a:rPr lang="zh-CN" altLang="en-US" sz="1400" dirty="0"/>
                  <a:t>，税收</a:t>
                </a:r>
                <a14:m>
                  <m:oMath xmlns:m="http://schemas.openxmlformats.org/officeDocument/2006/math">
                    <m:r>
                      <a:rPr lang="en-US" altLang="zh-CN" sz="1400" i="1">
                        <a:latin typeface="Cambria Math" panose="02040503050406030204" pitchFamily="18" charset="0"/>
                      </a:rPr>
                      <m:t>𝑇</m:t>
                    </m:r>
                    <m:r>
                      <a:rPr lang="en-US" altLang="zh-CN" sz="1400" i="1">
                        <a:latin typeface="Cambria Math" panose="02040503050406030204" pitchFamily="18" charset="0"/>
                      </a:rPr>
                      <m:t>=0.25</m:t>
                    </m:r>
                    <m:r>
                      <a:rPr lang="en-US" altLang="zh-CN" sz="1400" i="1">
                        <a:latin typeface="Cambria Math" panose="02040503050406030204" pitchFamily="18" charset="0"/>
                      </a:rPr>
                      <m:t>𝑌</m:t>
                    </m:r>
                  </m:oMath>
                </a14:m>
                <a:r>
                  <a:rPr lang="zh-CN" altLang="en-US" sz="1400" dirty="0"/>
                  <a:t>，政府支出</a:t>
                </a:r>
                <a:r>
                  <a:rPr lang="en-US" altLang="zh-CN" sz="1400" dirty="0"/>
                  <a:t>G=200</a:t>
                </a:r>
                <a:r>
                  <a:rPr lang="zh-CN" altLang="en-US" sz="1400" dirty="0"/>
                  <a:t>，投资</a:t>
                </a:r>
                <a14:m>
                  <m:oMath xmlns:m="http://schemas.openxmlformats.org/officeDocument/2006/math">
                    <m:r>
                      <a:rPr lang="en-US" altLang="zh-CN" sz="1400" i="1">
                        <a:latin typeface="Cambria Math" panose="02040503050406030204" pitchFamily="18" charset="0"/>
                      </a:rPr>
                      <m:t>𝐼</m:t>
                    </m:r>
                    <m:r>
                      <a:rPr lang="en-US" altLang="zh-CN" sz="1400" i="1">
                        <a:latin typeface="Cambria Math" panose="02040503050406030204" pitchFamily="18" charset="0"/>
                      </a:rPr>
                      <m:t>=200−50</m:t>
                    </m:r>
                    <m:r>
                      <a:rPr lang="en-US" altLang="zh-CN" sz="1400" i="1">
                        <a:latin typeface="Cambria Math" panose="02040503050406030204" pitchFamily="18" charset="0"/>
                      </a:rPr>
                      <m:t>𝑟</m:t>
                    </m:r>
                  </m:oMath>
                </a14:m>
                <a:r>
                  <a:rPr lang="zh-CN" altLang="en-US" sz="1400" dirty="0"/>
                  <a:t>，货币需求</a:t>
                </a:r>
                <a14:m>
                  <m:oMath xmlns:m="http://schemas.openxmlformats.org/officeDocument/2006/math">
                    <m:r>
                      <a:rPr lang="en-US" altLang="zh-CN" sz="1400" i="1">
                        <a:latin typeface="Cambria Math" panose="02040503050406030204" pitchFamily="18" charset="0"/>
                      </a:rPr>
                      <m:t>𝐿</m:t>
                    </m:r>
                    <m:r>
                      <a:rPr lang="en-US" altLang="zh-CN" sz="1400" i="1">
                        <a:latin typeface="Cambria Math" panose="02040503050406030204" pitchFamily="18" charset="0"/>
                      </a:rPr>
                      <m:t>=0.4</m:t>
                    </m:r>
                    <m:r>
                      <a:rPr lang="en-US" altLang="zh-CN" sz="1400" i="1">
                        <a:latin typeface="Cambria Math" panose="02040503050406030204" pitchFamily="18" charset="0"/>
                      </a:rPr>
                      <m:t>𝑌</m:t>
                    </m:r>
                    <m:r>
                      <a:rPr lang="en-US" altLang="zh-CN" sz="1400" i="1">
                        <a:latin typeface="Cambria Math" panose="02040503050406030204" pitchFamily="18" charset="0"/>
                      </a:rPr>
                      <m:t>−100</m:t>
                    </m:r>
                    <m:r>
                      <a:rPr lang="en-US" altLang="zh-CN" sz="1400" i="1">
                        <a:latin typeface="Cambria Math" panose="02040503050406030204" pitchFamily="18" charset="0"/>
                      </a:rPr>
                      <m:t>𝑟</m:t>
                    </m:r>
                    <m:r>
                      <a:rPr lang="zh-CN" altLang="en-US" sz="1400" i="1">
                        <a:latin typeface="Cambria Math" panose="02040503050406030204" pitchFamily="18" charset="0"/>
                      </a:rPr>
                      <m:t>，</m:t>
                    </m:r>
                  </m:oMath>
                </a14:m>
                <a:r>
                  <a:rPr lang="zh-CN" altLang="en-US" sz="1400" dirty="0"/>
                  <a:t>名义货币供给</a:t>
                </a:r>
                <a:r>
                  <a:rPr lang="en-US" altLang="zh-CN" sz="1400" dirty="0"/>
                  <a:t>900</a:t>
                </a:r>
                <a:r>
                  <a:rPr lang="zh-CN" altLang="en-US" sz="1400" dirty="0"/>
                  <a:t>，求：</a:t>
                </a:r>
                <a:endParaRPr lang="en-US" altLang="zh-CN" sz="1400" dirty="0"/>
              </a:p>
              <a:p>
                <a:r>
                  <a:rPr lang="en-US" altLang="zh-CN" sz="1400" dirty="0"/>
                  <a:t>1. </a:t>
                </a:r>
                <a:r>
                  <a:rPr lang="zh-CN" altLang="en-US" sz="1400" dirty="0"/>
                  <a:t>总需求函数；</a:t>
                </a:r>
                <a:endParaRPr lang="en-US" altLang="zh-CN" sz="1400" dirty="0"/>
              </a:p>
              <a:p>
                <a:pPr lvl="1"/>
                <a14:m>
                  <m:oMath xmlns:m="http://schemas.openxmlformats.org/officeDocument/2006/math">
                    <m:r>
                      <a:rPr lang="en-US" altLang="zh-CN" sz="1200" b="0" i="1" dirty="0" smtClean="0">
                        <a:latin typeface="Cambria Math" panose="02040503050406030204" pitchFamily="18" charset="0"/>
                      </a:rPr>
                      <m:t>𝐼𝑆</m:t>
                    </m:r>
                    <m:r>
                      <a:rPr lang="zh-CN" altLang="en-US" sz="1200" i="1" dirty="0">
                        <a:latin typeface="Cambria Math" panose="02040503050406030204" pitchFamily="18" charset="0"/>
                      </a:rPr>
                      <m:t>：</m:t>
                    </m:r>
                    <m:r>
                      <a:rPr lang="en-US" altLang="zh-CN" sz="1200" i="1" dirty="0" smtClean="0">
                        <a:latin typeface="Cambria Math" panose="02040503050406030204" pitchFamily="18" charset="0"/>
                      </a:rPr>
                      <m:t>𝑟</m:t>
                    </m:r>
                    <m:r>
                      <a:rPr lang="en-US" altLang="zh-CN" sz="1200" i="1" dirty="0" smtClean="0">
                        <a:latin typeface="Cambria Math" panose="02040503050406030204" pitchFamily="18" charset="0"/>
                      </a:rPr>
                      <m:t>=24−0.008</m:t>
                    </m:r>
                    <m:r>
                      <a:rPr lang="en-US" altLang="zh-CN" sz="1200" i="1" dirty="0" smtClean="0">
                        <a:latin typeface="Cambria Math" panose="02040503050406030204" pitchFamily="18" charset="0"/>
                      </a:rPr>
                      <m:t>𝑌</m:t>
                    </m:r>
                  </m:oMath>
                </a14:m>
                <a:endParaRPr lang="en-US" altLang="zh-CN" sz="1349" dirty="0"/>
              </a:p>
              <a:p>
                <a:pPr lvl="1"/>
                <a14:m>
                  <m:oMath xmlns:m="http://schemas.openxmlformats.org/officeDocument/2006/math">
                    <m:r>
                      <a:rPr lang="en-US" altLang="zh-CN" sz="1200" i="1">
                        <a:latin typeface="Cambria Math" panose="02040503050406030204" pitchFamily="18" charset="0"/>
                      </a:rPr>
                      <m:t>𝐿𝑀</m:t>
                    </m:r>
                    <m:r>
                      <a:rPr lang="zh-CN" altLang="en-US" sz="1200" i="1">
                        <a:latin typeface="Cambria Math" panose="02040503050406030204" pitchFamily="18" charset="0"/>
                      </a:rPr>
                      <m:t>：</m:t>
                    </m:r>
                    <m:r>
                      <a:rPr lang="en-US" altLang="zh-CN" sz="1200" i="1">
                        <a:latin typeface="Cambria Math" panose="02040503050406030204" pitchFamily="18" charset="0"/>
                      </a:rPr>
                      <m:t>𝑟</m:t>
                    </m:r>
                    <m:r>
                      <m:rPr>
                        <m:nor/>
                      </m:rPr>
                      <a:rPr lang="en-US" altLang="zh-CN" sz="1200" i="1">
                        <a:latin typeface="Cambria Math" panose="02040503050406030204" pitchFamily="18" charset="0"/>
                      </a:rPr>
                      <m:t>=0.004</m:t>
                    </m:r>
                    <m:r>
                      <m:rPr>
                        <m:nor/>
                      </m:rPr>
                      <a:rPr lang="en-US" altLang="zh-CN" sz="1200" i="1">
                        <a:latin typeface="Cambria Math" panose="02040503050406030204" pitchFamily="18" charset="0"/>
                      </a:rPr>
                      <m:t>Y</m:t>
                    </m:r>
                    <m:r>
                      <m:rPr>
                        <m:nor/>
                      </m:rPr>
                      <a:rPr lang="en-US" altLang="zh-CN" sz="1200" i="1">
                        <a:latin typeface="Cambria Math" panose="02040503050406030204" pitchFamily="18" charset="0"/>
                      </a:rPr>
                      <m:t>−</m:t>
                    </m:r>
                    <m:f>
                      <m:fPr>
                        <m:ctrlPr>
                          <a:rPr lang="en-US" altLang="zh-CN" sz="1200" i="1">
                            <a:latin typeface="Cambria Math" panose="02040503050406030204" pitchFamily="18" charset="0"/>
                          </a:rPr>
                        </m:ctrlPr>
                      </m:fPr>
                      <m:num>
                        <m:r>
                          <a:rPr lang="en-US" altLang="zh-CN" sz="1200" i="1">
                            <a:latin typeface="Cambria Math" panose="02040503050406030204" pitchFamily="18" charset="0"/>
                          </a:rPr>
                          <m:t>9</m:t>
                        </m:r>
                      </m:num>
                      <m:den>
                        <m:r>
                          <a:rPr lang="en-US" altLang="zh-CN" sz="1200" i="1">
                            <a:latin typeface="Cambria Math" panose="02040503050406030204" pitchFamily="18" charset="0"/>
                          </a:rPr>
                          <m:t>𝑃</m:t>
                        </m:r>
                      </m:den>
                    </m:f>
                  </m:oMath>
                </a14:m>
                <a:endParaRPr lang="en-US" altLang="zh-CN" sz="1200" i="1" dirty="0">
                  <a:latin typeface="Cambria Math" panose="02040503050406030204" pitchFamily="18" charset="0"/>
                </a:endParaRPr>
              </a:p>
              <a:p>
                <a:pPr lvl="1"/>
                <a14:m>
                  <m:oMath xmlns:m="http://schemas.openxmlformats.org/officeDocument/2006/math">
                    <m:r>
                      <a:rPr lang="en-US" altLang="zh-CN" sz="1200" b="0" i="1" smtClean="0">
                        <a:latin typeface="Cambria Math" panose="02040503050406030204" pitchFamily="18" charset="0"/>
                      </a:rPr>
                      <m:t>𝐴𝐷</m:t>
                    </m:r>
                    <m:r>
                      <a:rPr lang="zh-CN" altLang="en-US" sz="1200" i="1">
                        <a:latin typeface="Cambria Math" panose="02040503050406030204" pitchFamily="18" charset="0"/>
                      </a:rPr>
                      <m:t>：</m:t>
                    </m:r>
                    <m:r>
                      <a:rPr lang="en-US" altLang="zh-CN" sz="1200" i="1">
                        <a:latin typeface="Cambria Math" panose="02040503050406030204" pitchFamily="18" charset="0"/>
                      </a:rPr>
                      <m:t>𝑌</m:t>
                    </m:r>
                    <m:r>
                      <a:rPr lang="en-US" altLang="zh-CN" sz="1200" i="1">
                        <a:latin typeface="Cambria Math" panose="02040503050406030204" pitchFamily="18" charset="0"/>
                      </a:rPr>
                      <m:t>=2000+</m:t>
                    </m:r>
                    <m:f>
                      <m:fPr>
                        <m:ctrlPr>
                          <a:rPr lang="en-US" altLang="zh-CN" sz="1200" i="1" smtClean="0">
                            <a:latin typeface="Cambria Math" panose="02040503050406030204" pitchFamily="18" charset="0"/>
                          </a:rPr>
                        </m:ctrlPr>
                      </m:fPr>
                      <m:num>
                        <m:r>
                          <a:rPr lang="en-US" altLang="zh-CN" sz="1200" b="0" i="1" smtClean="0">
                            <a:latin typeface="Cambria Math" panose="02040503050406030204" pitchFamily="18" charset="0"/>
                          </a:rPr>
                          <m:t>750</m:t>
                        </m:r>
                      </m:num>
                      <m:den>
                        <m:r>
                          <a:rPr lang="en-US" altLang="zh-CN" sz="1200" b="0" i="1" smtClean="0">
                            <a:latin typeface="Cambria Math" panose="02040503050406030204" pitchFamily="18" charset="0"/>
                          </a:rPr>
                          <m:t>𝑃</m:t>
                        </m:r>
                      </m:den>
                    </m:f>
                    <m:r>
                      <a:rPr lang="en-US" altLang="zh-CN" sz="1200" i="1">
                        <a:latin typeface="Cambria Math" panose="02040503050406030204" pitchFamily="18" charset="0"/>
                      </a:rPr>
                      <m:t>​</m:t>
                    </m:r>
                  </m:oMath>
                </a14:m>
                <a:endParaRPr lang="en-US" altLang="zh-CN" sz="1200" i="1" dirty="0">
                  <a:latin typeface="Cambria Math" panose="02040503050406030204" pitchFamily="18" charset="0"/>
                </a:endParaRPr>
              </a:p>
              <a:p>
                <a:r>
                  <a:rPr lang="en-US" altLang="zh-CN" sz="1400" dirty="0"/>
                  <a:t>2. P=1</a:t>
                </a:r>
                <a:r>
                  <a:rPr lang="zh-CN" altLang="en-US" sz="1400" dirty="0"/>
                  <a:t>时的收入和利率</a:t>
                </a:r>
                <a:endParaRPr lang="en-US" altLang="zh-CN" sz="1210" dirty="0">
                  <a:ea typeface="SimSun" panose="02010600030101010101" pitchFamily="2" charset="-122"/>
                  <a:cs typeface="Times New Roman" panose="02020603050405020304" pitchFamily="18" charset="0"/>
                </a:endParaRPr>
              </a:p>
              <a:p>
                <a:pPr lvl="1"/>
                <a14:m>
                  <m:oMath xmlns:m="http://schemas.openxmlformats.org/officeDocument/2006/math">
                    <m:sSup>
                      <m:sSupPr>
                        <m:ctrlPr>
                          <a:rPr lang="en-US" altLang="zh-CN" sz="1349" b="0" i="1" smtClean="0">
                            <a:latin typeface="Cambria Math" panose="02040503050406030204" pitchFamily="18" charset="0"/>
                          </a:rPr>
                        </m:ctrlPr>
                      </m:sSupPr>
                      <m:e>
                        <m:r>
                          <a:rPr lang="en-US" altLang="zh-CN" sz="1349" b="0" i="1" smtClean="0">
                            <a:latin typeface="Cambria Math" panose="02040503050406030204" pitchFamily="18" charset="0"/>
                          </a:rPr>
                          <m:t>𝑌</m:t>
                        </m:r>
                      </m:e>
                      <m:sup>
                        <m:r>
                          <a:rPr lang="en-US" altLang="zh-CN" sz="1349" b="0" i="1" smtClean="0">
                            <a:latin typeface="Cambria Math" panose="02040503050406030204" pitchFamily="18" charset="0"/>
                          </a:rPr>
                          <m:t>∗</m:t>
                        </m:r>
                      </m:sup>
                    </m:sSup>
                    <m:r>
                      <a:rPr lang="en-US" altLang="zh-CN" sz="1349" b="0" i="1" smtClean="0">
                        <a:latin typeface="Cambria Math" panose="02040503050406030204" pitchFamily="18" charset="0"/>
                      </a:rPr>
                      <m:t>=2750     </m:t>
                    </m:r>
                    <m:sSup>
                      <m:sSupPr>
                        <m:ctrlPr>
                          <a:rPr lang="en-US" altLang="zh-CN" sz="1349" b="0" i="1" smtClean="0">
                            <a:latin typeface="Cambria Math" panose="02040503050406030204" pitchFamily="18" charset="0"/>
                          </a:rPr>
                        </m:ctrlPr>
                      </m:sSupPr>
                      <m:e>
                        <m:r>
                          <a:rPr lang="en-US" altLang="zh-CN" sz="1349" b="0" i="1" smtClean="0">
                            <a:latin typeface="Cambria Math" panose="02040503050406030204" pitchFamily="18" charset="0"/>
                          </a:rPr>
                          <m:t>𝑟</m:t>
                        </m:r>
                      </m:e>
                      <m:sup>
                        <m:r>
                          <a:rPr lang="en-US" altLang="zh-CN" sz="1349" b="0" i="1" smtClean="0">
                            <a:latin typeface="Cambria Math" panose="02040503050406030204" pitchFamily="18" charset="0"/>
                          </a:rPr>
                          <m:t>∗</m:t>
                        </m:r>
                      </m:sup>
                    </m:sSup>
                    <m:r>
                      <a:rPr lang="en-US" altLang="zh-CN" sz="1349" b="0" i="1" smtClean="0">
                        <a:latin typeface="Cambria Math" panose="02040503050406030204" pitchFamily="18" charset="0"/>
                      </a:rPr>
                      <m:t>=2</m:t>
                    </m:r>
                  </m:oMath>
                </a14:m>
                <a:endParaRPr lang="en-US" altLang="zh-CN" sz="1349" dirty="0"/>
              </a:p>
            </p:txBody>
          </p:sp>
        </mc:Choice>
        <mc:Fallback>
          <p:sp>
            <p:nvSpPr>
              <p:cNvPr id="2" name="内容占位符 2">
                <a:extLst>
                  <a:ext uri="{FF2B5EF4-FFF2-40B4-BE49-F238E27FC236}">
                    <a16:creationId xmlns:a16="http://schemas.microsoft.com/office/drawing/2014/main" id="{EC55FD97-5A06-5E1A-DDAD-1DAB073F6843}"/>
                  </a:ext>
                </a:extLst>
              </p:cNvPr>
              <p:cNvSpPr>
                <a:spLocks noGrp="1" noRot="1" noChangeAspect="1" noMove="1" noResize="1" noEditPoints="1" noAdjustHandles="1" noChangeArrowheads="1" noChangeShapeType="1" noTextEdit="1"/>
              </p:cNvSpPr>
              <p:nvPr>
                <p:ph idx="1"/>
              </p:nvPr>
            </p:nvSpPr>
            <p:spPr>
              <a:xfrm>
                <a:off x="299336" y="778557"/>
                <a:ext cx="4110356" cy="1277752"/>
              </a:xfrm>
              <a:blipFill>
                <a:blip r:embed="rId2"/>
                <a:stretch>
                  <a:fillRect l="-593" t="-2871" r="-4748" b="-115311"/>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4933515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n w="0"/>
                <a:effectLst>
                  <a:outerShdw blurRad="38100" dist="19050" dir="2700000" algn="tl" rotWithShape="0">
                    <a:schemeClr val="dk1">
                      <a:alpha val="40000"/>
                    </a:schemeClr>
                  </a:outerShdw>
                </a:effectLst>
              </a:rPr>
              <a:t>为什么总需求曲线向右下方倾斜</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12</a:t>
            </a:fld>
            <a:endParaRPr lang="zh-CN" altLang="en-US"/>
          </a:p>
        </p:txBody>
      </p:sp>
      <p:grpSp>
        <p:nvGrpSpPr>
          <p:cNvPr id="37" name="组合 36"/>
          <p:cNvGrpSpPr/>
          <p:nvPr/>
        </p:nvGrpSpPr>
        <p:grpSpPr>
          <a:xfrm>
            <a:off x="2736821" y="1010295"/>
            <a:ext cx="1830138" cy="1950618"/>
            <a:chOff x="398722" y="1867031"/>
            <a:chExt cx="3630026" cy="3868994"/>
          </a:xfrm>
        </p:grpSpPr>
        <p:cxnSp>
          <p:nvCxnSpPr>
            <p:cNvPr id="8" name="直接箭头连接符 7"/>
            <p:cNvCxnSpPr/>
            <p:nvPr/>
          </p:nvCxnSpPr>
          <p:spPr>
            <a:xfrm>
              <a:off x="745958" y="4750067"/>
              <a:ext cx="3084897"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p:cNvCxnSpPr/>
            <p:nvPr/>
          </p:nvCxnSpPr>
          <p:spPr>
            <a:xfrm flipV="1">
              <a:off x="737339" y="1973179"/>
              <a:ext cx="0" cy="278170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2" name="任意多边形: 形状 11"/>
            <p:cNvSpPr/>
            <p:nvPr/>
          </p:nvSpPr>
          <p:spPr>
            <a:xfrm>
              <a:off x="1158949" y="2319268"/>
              <a:ext cx="2046767" cy="1802219"/>
            </a:xfrm>
            <a:custGeom>
              <a:avLst/>
              <a:gdLst>
                <a:gd name="connsiteX0" fmla="*/ 0 w 2046767"/>
                <a:gd name="connsiteY0" fmla="*/ 0 h 1802219"/>
                <a:gd name="connsiteX1" fmla="*/ 707065 w 2046767"/>
                <a:gd name="connsiteY1" fmla="*/ 1057940 h 1802219"/>
                <a:gd name="connsiteX2" fmla="*/ 2046767 w 2046767"/>
                <a:gd name="connsiteY2" fmla="*/ 1802219 h 1802219"/>
              </a:gdLst>
              <a:ahLst/>
              <a:cxnLst>
                <a:cxn ang="0">
                  <a:pos x="connsiteX0" y="connsiteY0"/>
                </a:cxn>
                <a:cxn ang="0">
                  <a:pos x="connsiteX1" y="connsiteY1"/>
                </a:cxn>
                <a:cxn ang="0">
                  <a:pos x="connsiteX2" y="connsiteY2"/>
                </a:cxn>
              </a:cxnLst>
              <a:rect l="l" t="t" r="r" b="b"/>
              <a:pathLst>
                <a:path w="2046767" h="1802219">
                  <a:moveTo>
                    <a:pt x="0" y="0"/>
                  </a:moveTo>
                  <a:cubicBezTo>
                    <a:pt x="182968" y="378785"/>
                    <a:pt x="365937" y="757570"/>
                    <a:pt x="707065" y="1057940"/>
                  </a:cubicBezTo>
                  <a:cubicBezTo>
                    <a:pt x="1048193" y="1358310"/>
                    <a:pt x="1547480" y="1580264"/>
                    <a:pt x="2046767" y="1802219"/>
                  </a:cubicBezTo>
                </a:path>
              </a:pathLst>
            </a:custGeom>
            <a:ln w="19050">
              <a:solidFill>
                <a:srgbClr val="0070C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8"/>
            </a:p>
          </p:txBody>
        </p:sp>
        <mc:AlternateContent xmlns:mc="http://schemas.openxmlformats.org/markup-compatibility/2006" xmlns:a14="http://schemas.microsoft.com/office/drawing/2010/main">
          <mc:Choice Requires="a14">
            <p:sp>
              <p:nvSpPr>
                <p:cNvPr id="13" name="文本框 12"/>
                <p:cNvSpPr txBox="1"/>
                <p:nvPr/>
              </p:nvSpPr>
              <p:spPr>
                <a:xfrm>
                  <a:off x="3277870" y="4072270"/>
                  <a:ext cx="359286"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908" i="1">
                            <a:latin typeface="Cambria Math" panose="02040503050406030204" pitchFamily="18" charset="0"/>
                          </a:rPr>
                          <m:t>AD</m:t>
                        </m:r>
                      </m:oMath>
                    </m:oMathPara>
                  </a14:m>
                  <a:endParaRPr lang="zh-CN" altLang="en-US" sz="908" dirty="0"/>
                </a:p>
              </p:txBody>
            </p:sp>
          </mc:Choice>
          <mc:Fallback xmlns="">
            <p:sp>
              <p:nvSpPr>
                <p:cNvPr id="13" name="文本框 12"/>
                <p:cNvSpPr txBox="1">
                  <a:spLocks noRot="1" noChangeAspect="1" noMove="1" noResize="1" noEditPoints="1" noAdjustHandles="1" noChangeArrowheads="1" noChangeShapeType="1" noTextEdit="1"/>
                </p:cNvSpPr>
                <p:nvPr/>
              </p:nvSpPr>
              <p:spPr>
                <a:xfrm>
                  <a:off x="3277870" y="4072270"/>
                  <a:ext cx="359286" cy="277127"/>
                </a:xfrm>
                <a:prstGeom prst="rect">
                  <a:avLst/>
                </a:prstGeom>
                <a:blipFill>
                  <a:blip r:embed="rId3"/>
                  <a:stretch>
                    <a:fillRect l="-12500" r="-6250"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1558765" y="2742979"/>
                  <a:ext cx="206670"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908" i="1">
                            <a:latin typeface="Cambria Math" panose="02040503050406030204" pitchFamily="18" charset="0"/>
                          </a:rPr>
                          <m:t>A</m:t>
                        </m:r>
                      </m:oMath>
                    </m:oMathPara>
                  </a14:m>
                  <a:endParaRPr lang="zh-CN" altLang="en-US" sz="908" dirty="0"/>
                </a:p>
              </p:txBody>
            </p:sp>
          </mc:Choice>
          <mc:Fallback xmlns="">
            <p:sp>
              <p:nvSpPr>
                <p:cNvPr id="15" name="文本框 14"/>
                <p:cNvSpPr txBox="1">
                  <a:spLocks noRot="1" noChangeAspect="1" noMove="1" noResize="1" noEditPoints="1" noAdjustHandles="1" noChangeArrowheads="1" noChangeShapeType="1" noTextEdit="1"/>
                </p:cNvSpPr>
                <p:nvPr/>
              </p:nvSpPr>
              <p:spPr>
                <a:xfrm>
                  <a:off x="1558765" y="2742979"/>
                  <a:ext cx="206670" cy="277127"/>
                </a:xfrm>
                <a:prstGeom prst="rect">
                  <a:avLst/>
                </a:prstGeom>
                <a:blipFill>
                  <a:blip r:embed="rId4"/>
                  <a:stretch>
                    <a:fillRect l="-22222" r="-2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2445488" y="3450265"/>
                  <a:ext cx="203488"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908" i="1">
                            <a:latin typeface="Cambria Math" panose="02040503050406030204" pitchFamily="18" charset="0"/>
                          </a:rPr>
                          <m:t>B</m:t>
                        </m:r>
                      </m:oMath>
                    </m:oMathPara>
                  </a14:m>
                  <a:endParaRPr lang="zh-CN" altLang="en-US" sz="908" dirty="0"/>
                </a:p>
              </p:txBody>
            </p:sp>
          </mc:Choice>
          <mc:Fallback xmlns="">
            <p:sp>
              <p:nvSpPr>
                <p:cNvPr id="16" name="文本框 15"/>
                <p:cNvSpPr txBox="1">
                  <a:spLocks noRot="1" noChangeAspect="1" noMove="1" noResize="1" noEditPoints="1" noAdjustHandles="1" noChangeArrowheads="1" noChangeShapeType="1" noTextEdit="1"/>
                </p:cNvSpPr>
                <p:nvPr/>
              </p:nvSpPr>
              <p:spPr>
                <a:xfrm>
                  <a:off x="2445488" y="3450265"/>
                  <a:ext cx="203488" cy="277127"/>
                </a:xfrm>
                <a:prstGeom prst="rect">
                  <a:avLst/>
                </a:prstGeom>
                <a:blipFill>
                  <a:blip r:embed="rId5"/>
                  <a:stretch>
                    <a:fillRect l="-22222" r="-22222" b="-16667"/>
                  </a:stretch>
                </a:blipFill>
              </p:spPr>
              <p:txBody>
                <a:bodyPr/>
                <a:lstStyle/>
                <a:p>
                  <a:r>
                    <a:rPr lang="zh-CN" altLang="en-US">
                      <a:noFill/>
                    </a:rPr>
                    <a:t> </a:t>
                  </a:r>
                </a:p>
              </p:txBody>
            </p:sp>
          </mc:Fallback>
        </mc:AlternateContent>
        <p:sp>
          <p:nvSpPr>
            <p:cNvPr id="17" name="流程图: 接点 16"/>
            <p:cNvSpPr/>
            <p:nvPr/>
          </p:nvSpPr>
          <p:spPr>
            <a:xfrm>
              <a:off x="1504507" y="2974259"/>
              <a:ext cx="54258" cy="45719"/>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8"/>
            </a:p>
          </p:txBody>
        </p:sp>
        <p:sp>
          <p:nvSpPr>
            <p:cNvPr id="18" name="流程图: 接点 17"/>
            <p:cNvSpPr/>
            <p:nvPr/>
          </p:nvSpPr>
          <p:spPr>
            <a:xfrm>
              <a:off x="2418359" y="3727265"/>
              <a:ext cx="54258" cy="45719"/>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8"/>
            </a:p>
          </p:txBody>
        </p:sp>
        <p:cxnSp>
          <p:nvCxnSpPr>
            <p:cNvPr id="20" name="直接连接符 19"/>
            <p:cNvCxnSpPr>
              <a:stCxn id="17" idx="0"/>
            </p:cNvCxnSpPr>
            <p:nvPr/>
          </p:nvCxnSpPr>
          <p:spPr>
            <a:xfrm>
              <a:off x="1531636" y="2974259"/>
              <a:ext cx="0" cy="177580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4" name="直接连接符 23"/>
            <p:cNvCxnSpPr>
              <a:stCxn id="17" idx="2"/>
            </p:cNvCxnSpPr>
            <p:nvPr/>
          </p:nvCxnSpPr>
          <p:spPr>
            <a:xfrm flipH="1" flipV="1">
              <a:off x="737339" y="2997118"/>
              <a:ext cx="767168" cy="1"/>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6" name="直接连接符 25"/>
            <p:cNvCxnSpPr>
              <a:stCxn id="18" idx="0"/>
            </p:cNvCxnSpPr>
            <p:nvPr/>
          </p:nvCxnSpPr>
          <p:spPr>
            <a:xfrm>
              <a:off x="2445488" y="3727265"/>
              <a:ext cx="0" cy="102280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8" name="直接连接符 27"/>
            <p:cNvCxnSpPr>
              <a:cxnSpLocks/>
            </p:cNvCxnSpPr>
            <p:nvPr/>
          </p:nvCxnSpPr>
          <p:spPr>
            <a:xfrm flipH="1">
              <a:off x="737339" y="3753845"/>
              <a:ext cx="1708149" cy="0"/>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文本框 28"/>
                <p:cNvSpPr txBox="1"/>
                <p:nvPr/>
              </p:nvSpPr>
              <p:spPr>
                <a:xfrm>
                  <a:off x="444304" y="1867031"/>
                  <a:ext cx="193952"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908" i="1">
                            <a:latin typeface="Cambria Math" panose="02040503050406030204" pitchFamily="18" charset="0"/>
                          </a:rPr>
                          <m:t>P</m:t>
                        </m:r>
                      </m:oMath>
                    </m:oMathPara>
                  </a14:m>
                  <a:endParaRPr lang="zh-CN" altLang="en-US" sz="908" dirty="0"/>
                </a:p>
              </p:txBody>
            </p:sp>
          </mc:Choice>
          <mc:Fallback xmlns="">
            <p:sp>
              <p:nvSpPr>
                <p:cNvPr id="29" name="文本框 28"/>
                <p:cNvSpPr txBox="1">
                  <a:spLocks noRot="1" noChangeAspect="1" noMove="1" noResize="1" noEditPoints="1" noAdjustHandles="1" noChangeArrowheads="1" noChangeShapeType="1" noTextEdit="1"/>
                </p:cNvSpPr>
                <p:nvPr/>
              </p:nvSpPr>
              <p:spPr>
                <a:xfrm>
                  <a:off x="444304" y="1867031"/>
                  <a:ext cx="193952" cy="277127"/>
                </a:xfrm>
                <a:prstGeom prst="rect">
                  <a:avLst/>
                </a:prstGeom>
                <a:blipFill>
                  <a:blip r:embed="rId6"/>
                  <a:stretch>
                    <a:fillRect l="-22222" r="-11111"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p:cNvSpPr txBox="1"/>
                <p:nvPr/>
              </p:nvSpPr>
              <p:spPr>
                <a:xfrm>
                  <a:off x="423365" y="2881477"/>
                  <a:ext cx="265680"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m:rPr>
                                <m:sty m:val="p"/>
                              </m:rPr>
                              <a:rPr lang="en-US" altLang="zh-CN" sz="908" i="1">
                                <a:latin typeface="Cambria Math" panose="02040503050406030204" pitchFamily="18" charset="0"/>
                              </a:rPr>
                              <m:t>P</m:t>
                            </m:r>
                          </m:e>
                          <m:sub>
                            <m:r>
                              <a:rPr lang="en-US" altLang="zh-CN" sz="908" i="1">
                                <a:latin typeface="Cambria Math" panose="02040503050406030204" pitchFamily="18" charset="0"/>
                              </a:rPr>
                              <m:t>1</m:t>
                            </m:r>
                          </m:sub>
                        </m:sSub>
                      </m:oMath>
                    </m:oMathPara>
                  </a14:m>
                  <a:endParaRPr lang="zh-CN" altLang="en-US" sz="908" dirty="0"/>
                </a:p>
              </p:txBody>
            </p:sp>
          </mc:Choice>
          <mc:Fallback xmlns="">
            <p:sp>
              <p:nvSpPr>
                <p:cNvPr id="30" name="文本框 29"/>
                <p:cNvSpPr txBox="1">
                  <a:spLocks noRot="1" noChangeAspect="1" noMove="1" noResize="1" noEditPoints="1" noAdjustHandles="1" noChangeArrowheads="1" noChangeShapeType="1" noTextEdit="1"/>
                </p:cNvSpPr>
                <p:nvPr/>
              </p:nvSpPr>
              <p:spPr>
                <a:xfrm>
                  <a:off x="423365" y="2881477"/>
                  <a:ext cx="265680" cy="277127"/>
                </a:xfrm>
                <a:prstGeom prst="rect">
                  <a:avLst/>
                </a:prstGeom>
                <a:blipFill>
                  <a:blip r:embed="rId7"/>
                  <a:stretch>
                    <a:fillRect l="-18182" r="-9091"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p:cNvSpPr txBox="1"/>
                <p:nvPr/>
              </p:nvSpPr>
              <p:spPr>
                <a:xfrm>
                  <a:off x="398722" y="3604466"/>
                  <a:ext cx="289972"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𝑃</m:t>
                            </m:r>
                          </m:e>
                          <m:sub>
                            <m:r>
                              <a:rPr lang="en-US" altLang="zh-CN" sz="908" i="1">
                                <a:latin typeface="Cambria Math" panose="02040503050406030204" pitchFamily="18" charset="0"/>
                              </a:rPr>
                              <m:t>2</m:t>
                            </m:r>
                          </m:sub>
                        </m:sSub>
                      </m:oMath>
                    </m:oMathPara>
                  </a14:m>
                  <a:endParaRPr lang="zh-CN" altLang="en-US" sz="908" dirty="0"/>
                </a:p>
              </p:txBody>
            </p:sp>
          </mc:Choice>
          <mc:Fallback xmlns="">
            <p:sp>
              <p:nvSpPr>
                <p:cNvPr id="31" name="文本框 30"/>
                <p:cNvSpPr txBox="1">
                  <a:spLocks noRot="1" noChangeAspect="1" noMove="1" noResize="1" noEditPoints="1" noAdjustHandles="1" noChangeArrowheads="1" noChangeShapeType="1" noTextEdit="1"/>
                </p:cNvSpPr>
                <p:nvPr/>
              </p:nvSpPr>
              <p:spPr>
                <a:xfrm>
                  <a:off x="398722" y="3604466"/>
                  <a:ext cx="289972" cy="277127"/>
                </a:xfrm>
                <a:prstGeom prst="rect">
                  <a:avLst/>
                </a:prstGeom>
                <a:blipFill>
                  <a:blip r:embed="rId8"/>
                  <a:stretch>
                    <a:fillRect l="-16667" r="-8333"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p:cNvSpPr txBox="1"/>
                <p:nvPr/>
              </p:nvSpPr>
              <p:spPr>
                <a:xfrm>
                  <a:off x="1392753" y="4795388"/>
                  <a:ext cx="289845"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1</m:t>
                            </m:r>
                          </m:sub>
                        </m:sSub>
                      </m:oMath>
                    </m:oMathPara>
                  </a14:m>
                  <a:endParaRPr lang="zh-CN" altLang="en-US" sz="908" dirty="0"/>
                </a:p>
              </p:txBody>
            </p:sp>
          </mc:Choice>
          <mc:Fallback xmlns="">
            <p:sp>
              <p:nvSpPr>
                <p:cNvPr id="32" name="文本框 31"/>
                <p:cNvSpPr txBox="1">
                  <a:spLocks noRot="1" noChangeAspect="1" noMove="1" noResize="1" noEditPoints="1" noAdjustHandles="1" noChangeArrowheads="1" noChangeShapeType="1" noTextEdit="1"/>
                </p:cNvSpPr>
                <p:nvPr/>
              </p:nvSpPr>
              <p:spPr>
                <a:xfrm>
                  <a:off x="1392753" y="4795388"/>
                  <a:ext cx="289845" cy="277127"/>
                </a:xfrm>
                <a:prstGeom prst="rect">
                  <a:avLst/>
                </a:prstGeom>
                <a:blipFill>
                  <a:blip r:embed="rId9"/>
                  <a:stretch>
                    <a:fillRect l="-15385"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p:cNvSpPr txBox="1"/>
                <p:nvPr/>
              </p:nvSpPr>
              <p:spPr>
                <a:xfrm>
                  <a:off x="2289615" y="4795388"/>
                  <a:ext cx="295186"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2</m:t>
                            </m:r>
                          </m:sub>
                        </m:sSub>
                      </m:oMath>
                    </m:oMathPara>
                  </a14:m>
                  <a:endParaRPr lang="zh-CN" altLang="en-US" sz="908" dirty="0"/>
                </a:p>
              </p:txBody>
            </p:sp>
          </mc:Choice>
          <mc:Fallback xmlns="">
            <p:sp>
              <p:nvSpPr>
                <p:cNvPr id="33" name="文本框 32"/>
                <p:cNvSpPr txBox="1">
                  <a:spLocks noRot="1" noChangeAspect="1" noMove="1" noResize="1" noEditPoints="1" noAdjustHandles="1" noChangeArrowheads="1" noChangeShapeType="1" noTextEdit="1"/>
                </p:cNvSpPr>
                <p:nvPr/>
              </p:nvSpPr>
              <p:spPr>
                <a:xfrm>
                  <a:off x="2289615" y="4795388"/>
                  <a:ext cx="295186" cy="277127"/>
                </a:xfrm>
                <a:prstGeom prst="rect">
                  <a:avLst/>
                </a:prstGeom>
                <a:blipFill>
                  <a:blip r:embed="rId10"/>
                  <a:stretch>
                    <a:fillRect l="-15385"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p:cNvSpPr txBox="1"/>
                <p:nvPr/>
              </p:nvSpPr>
              <p:spPr>
                <a:xfrm>
                  <a:off x="462778" y="4811888"/>
                  <a:ext cx="224983"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𝑂</m:t>
                        </m:r>
                      </m:oMath>
                    </m:oMathPara>
                  </a14:m>
                  <a:endParaRPr lang="zh-CN" altLang="en-US" sz="908" dirty="0"/>
                </a:p>
              </p:txBody>
            </p:sp>
          </mc:Choice>
          <mc:Fallback xmlns="">
            <p:sp>
              <p:nvSpPr>
                <p:cNvPr id="34" name="文本框 33"/>
                <p:cNvSpPr txBox="1">
                  <a:spLocks noRot="1" noChangeAspect="1" noMove="1" noResize="1" noEditPoints="1" noAdjustHandles="1" noChangeArrowheads="1" noChangeShapeType="1" noTextEdit="1"/>
                </p:cNvSpPr>
                <p:nvPr/>
              </p:nvSpPr>
              <p:spPr>
                <a:xfrm>
                  <a:off x="462778" y="4811888"/>
                  <a:ext cx="224983" cy="277127"/>
                </a:xfrm>
                <a:prstGeom prst="rect">
                  <a:avLst/>
                </a:prstGeom>
                <a:blipFill>
                  <a:blip r:embed="rId11"/>
                  <a:stretch>
                    <a:fillRect l="-20000" r="-20000"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p:cNvSpPr txBox="1"/>
                <p:nvPr/>
              </p:nvSpPr>
              <p:spPr>
                <a:xfrm>
                  <a:off x="3830855" y="4811888"/>
                  <a:ext cx="197893"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𝑦</m:t>
                        </m:r>
                      </m:oMath>
                    </m:oMathPara>
                  </a14:m>
                  <a:endParaRPr lang="zh-CN" altLang="en-US" sz="908" dirty="0"/>
                </a:p>
              </p:txBody>
            </p:sp>
          </mc:Choice>
          <mc:Fallback xmlns="">
            <p:sp>
              <p:nvSpPr>
                <p:cNvPr id="35" name="文本框 34"/>
                <p:cNvSpPr txBox="1">
                  <a:spLocks noRot="1" noChangeAspect="1" noMove="1" noResize="1" noEditPoints="1" noAdjustHandles="1" noChangeArrowheads="1" noChangeShapeType="1" noTextEdit="1"/>
                </p:cNvSpPr>
                <p:nvPr/>
              </p:nvSpPr>
              <p:spPr>
                <a:xfrm>
                  <a:off x="3830855" y="4811888"/>
                  <a:ext cx="197893" cy="277127"/>
                </a:xfrm>
                <a:prstGeom prst="rect">
                  <a:avLst/>
                </a:prstGeom>
                <a:blipFill>
                  <a:blip r:embed="rId12"/>
                  <a:stretch>
                    <a:fillRect l="-22222" r="-22222" b="-16667"/>
                  </a:stretch>
                </a:blipFill>
              </p:spPr>
              <p:txBody>
                <a:bodyPr/>
                <a:lstStyle/>
                <a:p>
                  <a:r>
                    <a:rPr lang="zh-CN" altLang="en-US">
                      <a:noFill/>
                    </a:rPr>
                    <a:t> </a:t>
                  </a:r>
                </a:p>
              </p:txBody>
            </p:sp>
          </mc:Fallback>
        </mc:AlternateContent>
        <p:sp>
          <p:nvSpPr>
            <p:cNvPr id="36" name="文本框 35"/>
            <p:cNvSpPr txBox="1"/>
            <p:nvPr/>
          </p:nvSpPr>
          <p:spPr>
            <a:xfrm>
              <a:off x="1013888" y="5278176"/>
              <a:ext cx="2336888" cy="457849"/>
            </a:xfrm>
            <a:prstGeom prst="rect">
              <a:avLst/>
            </a:prstGeom>
            <a:noFill/>
          </p:spPr>
          <p:txBody>
            <a:bodyPr wrap="square" rtlCol="0">
              <a:spAutoFit/>
            </a:bodyPr>
            <a:lstStyle/>
            <a:p>
              <a:pPr algn="ctr"/>
              <a:r>
                <a:rPr lang="zh-CN" altLang="en-US" sz="900" b="1" dirty="0">
                  <a:latin typeface="KaiTi" panose="02010609060101010101" pitchFamily="49" charset="-122"/>
                  <a:ea typeface="KaiTi" panose="02010609060101010101" pitchFamily="49" charset="-122"/>
                </a:rPr>
                <a:t>总需求曲线</a:t>
              </a:r>
            </a:p>
          </p:txBody>
        </p:sp>
      </p:grpSp>
      <p:sp>
        <p:nvSpPr>
          <p:cNvPr id="38" name="矩形 37"/>
          <p:cNvSpPr/>
          <p:nvPr/>
        </p:nvSpPr>
        <p:spPr>
          <a:xfrm>
            <a:off x="55589" y="807952"/>
            <a:ext cx="2589460" cy="2594172"/>
          </a:xfrm>
          <a:prstGeom prst="rect">
            <a:avLst/>
          </a:prstGeom>
        </p:spPr>
        <p:txBody>
          <a:bodyPr wrap="square">
            <a:spAutoFit/>
          </a:bodyPr>
          <a:lstStyle/>
          <a:p>
            <a:pPr>
              <a:lnSpc>
                <a:spcPts val="1412"/>
              </a:lnSpc>
            </a:pPr>
            <a:r>
              <a:rPr lang="en-US" altLang="zh-CN" sz="1008" b="1" dirty="0">
                <a:latin typeface="Garamond" panose="02020404030301010803" pitchFamily="18" charset="0"/>
                <a:ea typeface="SimSun" panose="02010600030101010101" pitchFamily="2" charset="-122"/>
              </a:rPr>
              <a:t>1. </a:t>
            </a:r>
            <a:r>
              <a:rPr lang="zh-CN" altLang="en-US" sz="1008" b="1" dirty="0">
                <a:latin typeface="Garamond" panose="02020404030301010803" pitchFamily="18" charset="0"/>
                <a:ea typeface="SimSun" panose="02010600030101010101" pitchFamily="2" charset="-122"/>
              </a:rPr>
              <a:t>财富效应：</a:t>
            </a:r>
            <a:r>
              <a:rPr lang="en-US" altLang="zh-CN" sz="1008" dirty="0">
                <a:latin typeface="Garamond" panose="02020404030301010803" pitchFamily="18" charset="0"/>
                <a:ea typeface="SimSun" panose="02010600030101010101" pitchFamily="2" charset="-122"/>
              </a:rPr>
              <a:t>C</a:t>
            </a:r>
            <a:r>
              <a:rPr lang="zh-CN" altLang="en-US" sz="1008" dirty="0">
                <a:latin typeface="Garamond" panose="02020404030301010803" pitchFamily="18" charset="0"/>
                <a:ea typeface="SimSun" panose="02010600030101010101" pitchFamily="2" charset="-122"/>
              </a:rPr>
              <a:t>与</a:t>
            </a:r>
            <a:r>
              <a:rPr lang="en-US" altLang="zh-CN" sz="1008" dirty="0">
                <a:latin typeface="Garamond" panose="02020404030301010803" pitchFamily="18" charset="0"/>
                <a:ea typeface="SimSun" panose="02010600030101010101" pitchFamily="2" charset="-122"/>
              </a:rPr>
              <a:t>P</a:t>
            </a:r>
            <a:endParaRPr lang="en-US" altLang="zh-CN" sz="1008" b="1" dirty="0">
              <a:latin typeface="Garamond" panose="02020404030301010803" pitchFamily="18" charset="0"/>
              <a:ea typeface="SimSun" panose="02010600030101010101" pitchFamily="2" charset="-122"/>
            </a:endParaRPr>
          </a:p>
          <a:p>
            <a:pPr>
              <a:lnSpc>
                <a:spcPts val="1412"/>
              </a:lnSpc>
            </a:pPr>
            <a:r>
              <a:rPr lang="zh-CN" altLang="en-US" sz="1008" dirty="0">
                <a:latin typeface="Garamond" panose="02020404030301010803" pitchFamily="18" charset="0"/>
                <a:ea typeface="SimSun" panose="02010600030101010101" pitchFamily="2" charset="-122"/>
              </a:rPr>
              <a:t>物价水平</a:t>
            </a:r>
            <a:r>
              <a:rPr lang="en-US" altLang="zh-CN" sz="1008" dirty="0">
                <a:latin typeface="Garamond" panose="02020404030301010803" pitchFamily="18" charset="0"/>
                <a:ea typeface="SimSun" panose="02010600030101010101" pitchFamily="2" charset="-122"/>
              </a:rPr>
              <a:t>P</a:t>
            </a:r>
            <a:r>
              <a:rPr lang="zh-CN" altLang="en-US" sz="1008" dirty="0">
                <a:latin typeface="Garamond" panose="02020404030301010803" pitchFamily="18" charset="0"/>
                <a:ea typeface="SimSun" panose="02010600030101010101" pitchFamily="2" charset="-122"/>
              </a:rPr>
              <a:t>下降时，提高了经济中货币的真实价值，并使消费者感觉更富有。</a:t>
            </a:r>
            <a:endParaRPr lang="en-US" altLang="zh-CN" sz="1008" dirty="0">
              <a:latin typeface="Garamond" panose="02020404030301010803" pitchFamily="18" charset="0"/>
              <a:ea typeface="SimSun" panose="02010600030101010101" pitchFamily="2" charset="-122"/>
            </a:endParaRPr>
          </a:p>
          <a:p>
            <a:pPr>
              <a:lnSpc>
                <a:spcPts val="1412"/>
              </a:lnSpc>
            </a:pPr>
            <a:endParaRPr lang="en-US" altLang="zh-CN" sz="1008" dirty="0">
              <a:latin typeface="Garamond" panose="02020404030301010803" pitchFamily="18" charset="0"/>
              <a:ea typeface="SimSun" panose="02010600030101010101" pitchFamily="2" charset="-122"/>
            </a:endParaRPr>
          </a:p>
          <a:p>
            <a:pPr>
              <a:lnSpc>
                <a:spcPts val="1412"/>
              </a:lnSpc>
            </a:pPr>
            <a:r>
              <a:rPr lang="en-US" altLang="zh-CN" sz="1008" b="1" dirty="0">
                <a:latin typeface="Garamond" panose="02020404030301010803" pitchFamily="18" charset="0"/>
                <a:ea typeface="SimSun" panose="02010600030101010101" pitchFamily="2" charset="-122"/>
              </a:rPr>
              <a:t>2. </a:t>
            </a:r>
            <a:r>
              <a:rPr lang="zh-CN" altLang="en-US" sz="1008" b="1" dirty="0">
                <a:latin typeface="Garamond" panose="02020404030301010803" pitchFamily="18" charset="0"/>
                <a:ea typeface="SimSun" panose="02010600030101010101" pitchFamily="2" charset="-122"/>
              </a:rPr>
              <a:t>利率效应：</a:t>
            </a:r>
            <a:r>
              <a:rPr lang="en-US" altLang="zh-CN" sz="1008" dirty="0">
                <a:latin typeface="Garamond" panose="02020404030301010803" pitchFamily="18" charset="0"/>
                <a:ea typeface="SimSun" panose="02010600030101010101" pitchFamily="2" charset="-122"/>
              </a:rPr>
              <a:t>I</a:t>
            </a:r>
            <a:r>
              <a:rPr lang="zh-CN" altLang="en-US" sz="1008" dirty="0">
                <a:latin typeface="Garamond" panose="02020404030301010803" pitchFamily="18" charset="0"/>
                <a:ea typeface="SimSun" panose="02010600030101010101" pitchFamily="2" charset="-122"/>
              </a:rPr>
              <a:t>与</a:t>
            </a:r>
            <a:r>
              <a:rPr lang="en-US" altLang="zh-CN" sz="1008" dirty="0">
                <a:latin typeface="Garamond" panose="02020404030301010803" pitchFamily="18" charset="0"/>
                <a:ea typeface="SimSun" panose="02010600030101010101" pitchFamily="2" charset="-122"/>
              </a:rPr>
              <a:t>P</a:t>
            </a:r>
          </a:p>
          <a:p>
            <a:pPr>
              <a:lnSpc>
                <a:spcPts val="1412"/>
              </a:lnSpc>
            </a:pPr>
            <a:r>
              <a:rPr lang="en-US" altLang="zh-CN" sz="1008" dirty="0">
                <a:latin typeface="Garamond" panose="02020404030301010803" pitchFamily="18" charset="0"/>
                <a:ea typeface="SimSun" panose="02010600030101010101" pitchFamily="2" charset="-122"/>
              </a:rPr>
              <a:t>P</a:t>
            </a:r>
            <a:r>
              <a:rPr lang="zh-CN" altLang="en-US" sz="1008" dirty="0">
                <a:latin typeface="Garamond" panose="02020404030301010803" pitchFamily="18" charset="0"/>
                <a:ea typeface="SimSun" panose="02010600030101010101" pitchFamily="2" charset="-122"/>
              </a:rPr>
              <a:t>越低，实际货币供给增加，货币市场上货币供给相对增加，会推动利率下降；利率下降使企业投资增加，从而使总需求增加。</a:t>
            </a:r>
            <a:endParaRPr lang="en-US" altLang="zh-CN" sz="1008" dirty="0">
              <a:latin typeface="Garamond" panose="02020404030301010803" pitchFamily="18" charset="0"/>
              <a:ea typeface="SimSun" panose="02010600030101010101" pitchFamily="2" charset="-122"/>
            </a:endParaRPr>
          </a:p>
          <a:p>
            <a:pPr>
              <a:lnSpc>
                <a:spcPts val="1412"/>
              </a:lnSpc>
            </a:pPr>
            <a:endParaRPr lang="zh-CN" altLang="en-US" sz="1008" dirty="0">
              <a:latin typeface="Garamond" panose="02020404030301010803" pitchFamily="18" charset="0"/>
              <a:ea typeface="SimSun" panose="02010600030101010101" pitchFamily="2" charset="-122"/>
            </a:endParaRPr>
          </a:p>
          <a:p>
            <a:pPr>
              <a:lnSpc>
                <a:spcPts val="1412"/>
              </a:lnSpc>
            </a:pPr>
            <a:r>
              <a:rPr lang="en-US" altLang="zh-CN" sz="1008" b="1" dirty="0">
                <a:latin typeface="Garamond" panose="02020404030301010803" pitchFamily="18" charset="0"/>
                <a:ea typeface="SimSun" panose="02010600030101010101" pitchFamily="2" charset="-122"/>
              </a:rPr>
              <a:t>3. </a:t>
            </a:r>
            <a:r>
              <a:rPr lang="zh-CN" altLang="en-US" sz="1008" b="1" dirty="0">
                <a:latin typeface="Garamond" panose="02020404030301010803" pitchFamily="18" charset="0"/>
                <a:ea typeface="SimSun" panose="02010600030101010101" pitchFamily="2" charset="-122"/>
              </a:rPr>
              <a:t>汇率效应：</a:t>
            </a:r>
            <a:r>
              <a:rPr lang="en-US" altLang="zh-CN" sz="1008" dirty="0">
                <a:latin typeface="Garamond" panose="02020404030301010803" pitchFamily="18" charset="0"/>
                <a:ea typeface="SimSun" panose="02010600030101010101" pitchFamily="2" charset="-122"/>
              </a:rPr>
              <a:t>NX</a:t>
            </a:r>
            <a:r>
              <a:rPr lang="zh-CN" altLang="en-US" sz="1008" dirty="0">
                <a:latin typeface="Garamond" panose="02020404030301010803" pitchFamily="18" charset="0"/>
                <a:ea typeface="SimSun" panose="02010600030101010101" pitchFamily="2" charset="-122"/>
              </a:rPr>
              <a:t>与</a:t>
            </a:r>
            <a:r>
              <a:rPr lang="en-US" altLang="zh-CN" sz="1008" dirty="0">
                <a:latin typeface="Garamond" panose="02020404030301010803" pitchFamily="18" charset="0"/>
                <a:ea typeface="SimSun" panose="02010600030101010101" pitchFamily="2" charset="-122"/>
              </a:rPr>
              <a:t>P</a:t>
            </a:r>
          </a:p>
          <a:p>
            <a:pPr>
              <a:lnSpc>
                <a:spcPts val="1412"/>
              </a:lnSpc>
            </a:pPr>
            <a:r>
              <a:rPr lang="en-US" altLang="zh-CN" sz="1008" dirty="0">
                <a:latin typeface="Garamond" panose="02020404030301010803" pitchFamily="18" charset="0"/>
                <a:ea typeface="SimSun" panose="02010600030101010101" pitchFamily="2" charset="-122"/>
              </a:rPr>
              <a:t>P </a:t>
            </a:r>
            <a:r>
              <a:rPr lang="zh-CN" altLang="en-US" sz="1008" dirty="0">
                <a:latin typeface="Garamond" panose="02020404030301010803" pitchFamily="18" charset="0"/>
                <a:ea typeface="SimSun" panose="02010600030101010101" pitchFamily="2" charset="-122"/>
              </a:rPr>
              <a:t>降低时，在汇率和国外价格水平不变的情况下，国内产品相对于国外产品更便宜，出口增加、进口减少，净出口 </a:t>
            </a:r>
            <a:r>
              <a:rPr lang="en-US" altLang="zh-CN" sz="1008" dirty="0">
                <a:latin typeface="Garamond" panose="02020404030301010803" pitchFamily="18" charset="0"/>
                <a:ea typeface="SimSun" panose="02010600030101010101" pitchFamily="2" charset="-122"/>
              </a:rPr>
              <a:t>NX </a:t>
            </a:r>
            <a:r>
              <a:rPr lang="zh-CN" altLang="en-US" sz="1008" dirty="0">
                <a:latin typeface="Garamond" panose="02020404030301010803" pitchFamily="18" charset="0"/>
                <a:ea typeface="SimSun" panose="02010600030101010101" pitchFamily="2" charset="-122"/>
              </a:rPr>
              <a:t>增加，从而使总需求增加。</a:t>
            </a:r>
            <a:endParaRPr lang="en-US" altLang="zh-CN" sz="1008" dirty="0">
              <a:latin typeface="Garamond" panose="02020404030301010803" pitchFamily="18" charset="0"/>
              <a:ea typeface="SimSun" panose="02010600030101010101" pitchFamily="2" charset="-122"/>
            </a:endParaRPr>
          </a:p>
        </p:txBody>
      </p:sp>
      <p:sp>
        <p:nvSpPr>
          <p:cNvPr id="5" name="内容占位符 2">
            <a:extLst>
              <a:ext uri="{FF2B5EF4-FFF2-40B4-BE49-F238E27FC236}">
                <a16:creationId xmlns:a16="http://schemas.microsoft.com/office/drawing/2014/main" id="{2A4EB957-8FEC-F26E-7E1E-164E02572CD7}"/>
              </a:ext>
            </a:extLst>
          </p:cNvPr>
          <p:cNvSpPr txBox="1">
            <a:spLocks/>
          </p:cNvSpPr>
          <p:nvPr/>
        </p:nvSpPr>
        <p:spPr bwMode="auto">
          <a:xfrm>
            <a:off x="59932" y="517137"/>
            <a:ext cx="4191509" cy="885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r>
              <a:rPr lang="zh-CN" altLang="en-US" u="sng" dirty="0"/>
              <a:t>总物价因素对总需求的影响</a:t>
            </a:r>
            <a:endParaRPr lang="en-US" altLang="zh-CN" dirty="0"/>
          </a:p>
        </p:txBody>
      </p:sp>
    </p:spTree>
    <p:extLst>
      <p:ext uri="{BB962C8B-B14F-4D97-AF65-F5344CB8AC3E}">
        <p14:creationId xmlns:p14="http://schemas.microsoft.com/office/powerpoint/2010/main" val="3211025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n w="0"/>
                <a:effectLst>
                  <a:outerShdw blurRad="38100" dist="19050" dir="2700000" algn="tl" rotWithShape="0">
                    <a:schemeClr val="dk1">
                      <a:alpha val="40000"/>
                    </a:schemeClr>
                  </a:outerShdw>
                </a:effectLst>
              </a:rPr>
              <a:t>总需求曲线的移动</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13</a:t>
            </a:fld>
            <a:endParaRPr lang="zh-CN" altLang="en-US" dirty="0"/>
          </a:p>
        </p:txBody>
      </p:sp>
      <p:sp>
        <p:nvSpPr>
          <p:cNvPr id="7" name="Rectangle 6">
            <a:extLst>
              <a:ext uri="{FF2B5EF4-FFF2-40B4-BE49-F238E27FC236}">
                <a16:creationId xmlns:a16="http://schemas.microsoft.com/office/drawing/2014/main" id="{B600D88E-FE53-F3AC-1452-577B1E9406A0}"/>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13</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1BA0B8D4-09F7-A27D-B6E4-0EEDC37C03A0}"/>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03188D8A-7A6B-2C37-78FF-ABCC6D880768}"/>
                  </a:ext>
                </a:extLst>
              </p:cNvPr>
              <p:cNvSpPr txBox="1">
                <a:spLocks/>
              </p:cNvSpPr>
              <p:nvPr/>
            </p:nvSpPr>
            <p:spPr bwMode="auto">
              <a:xfrm>
                <a:off x="188086" y="508698"/>
                <a:ext cx="4191509" cy="2717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r>
                  <a:rPr lang="zh-CN" altLang="en-US" u="sng" dirty="0"/>
                  <a:t>总物价之外的因素对总需求的影响</a:t>
                </a:r>
                <a:endParaRPr lang="en-US" altLang="zh-CN" u="sng" dirty="0"/>
              </a:p>
              <a:p>
                <a:pPr marL="0" indent="0">
                  <a:buNone/>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𝑌</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𝐶</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𝐼</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𝐺</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𝑁𝑋</m:t>
                      </m:r>
                    </m:oMath>
                  </m:oMathPara>
                </a14:m>
                <a:endParaRPr lang="en-US" altLang="zh-CN" b="0" dirty="0"/>
              </a:p>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𝑁𝑋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𝐼</m:t>
                      </m:r>
                      <m:r>
                        <a:rPr lang="en-US" altLang="zh-CN" i="1" dirty="0" smtClean="0">
                          <a:latin typeface="Cambria Math" panose="02040503050406030204" pitchFamily="18" charset="0"/>
                        </a:rPr>
                        <m:t>𝑀</m:t>
                      </m:r>
                    </m:oMath>
                  </m:oMathPara>
                </a14:m>
                <a:endParaRPr lang="en-US" altLang="zh-CN" dirty="0"/>
              </a:p>
            </p:txBody>
          </p:sp>
        </mc:Choice>
        <mc:Fallback xmlns="">
          <p:sp>
            <p:nvSpPr>
              <p:cNvPr id="9" name="内容占位符 2">
                <a:extLst>
                  <a:ext uri="{FF2B5EF4-FFF2-40B4-BE49-F238E27FC236}">
                    <a16:creationId xmlns:a16="http://schemas.microsoft.com/office/drawing/2014/main" id="{03188D8A-7A6B-2C37-78FF-ABCC6D880768}"/>
                  </a:ext>
                </a:extLst>
              </p:cNvPr>
              <p:cNvSpPr txBox="1">
                <a:spLocks noRot="1" noChangeAspect="1" noMove="1" noResize="1" noEditPoints="1" noAdjustHandles="1" noChangeArrowheads="1" noChangeShapeType="1" noTextEdit="1"/>
              </p:cNvSpPr>
              <p:nvPr/>
            </p:nvSpPr>
            <p:spPr bwMode="auto">
              <a:xfrm>
                <a:off x="188086" y="508698"/>
                <a:ext cx="4191509" cy="2717330"/>
              </a:xfrm>
              <a:prstGeom prst="rect">
                <a:avLst/>
              </a:prstGeom>
              <a:blipFill>
                <a:blip r:embed="rId3"/>
                <a:stretch>
                  <a:fillRect l="-604" t="-139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1" name="十字形 10">
            <a:extLst>
              <a:ext uri="{FF2B5EF4-FFF2-40B4-BE49-F238E27FC236}">
                <a16:creationId xmlns:a16="http://schemas.microsoft.com/office/drawing/2014/main" id="{27643284-AE15-CC0E-742F-3F7B8FDFD9A4}"/>
              </a:ext>
            </a:extLst>
          </p:cNvPr>
          <p:cNvSpPr/>
          <p:nvPr/>
        </p:nvSpPr>
        <p:spPr>
          <a:xfrm>
            <a:off x="1945009" y="2050130"/>
            <a:ext cx="576064" cy="504056"/>
          </a:xfrm>
          <a:prstGeom prst="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DE39BCE6-BFD1-8C27-59AC-B13720AE4E56}"/>
              </a:ext>
            </a:extLst>
          </p:cNvPr>
          <p:cNvSpPr txBox="1"/>
          <p:nvPr/>
        </p:nvSpPr>
        <p:spPr>
          <a:xfrm>
            <a:off x="213739" y="2079232"/>
            <a:ext cx="1642497" cy="548868"/>
          </a:xfrm>
          <a:prstGeom prst="rect">
            <a:avLst/>
          </a:prstGeom>
          <a:noFill/>
        </p:spPr>
        <p:txBody>
          <a:bodyPr wrap="square">
            <a:spAutoFit/>
          </a:bodyPr>
          <a:lstStyle/>
          <a:p>
            <a:pPr algn="r">
              <a:lnSpc>
                <a:spcPts val="1412"/>
              </a:lnSpc>
            </a:pPr>
            <a:r>
              <a:rPr lang="zh-CN" altLang="en-US" sz="1000" b="1" u="sng" dirty="0">
                <a:highlight>
                  <a:srgbClr val="00FFFF"/>
                </a:highlight>
                <a:latin typeface="Garamond" panose="02020404030301010803" pitchFamily="18" charset="0"/>
                <a:ea typeface="SimSun" panose="02010600030101010101" pitchFamily="2" charset="-122"/>
              </a:rPr>
              <a:t>投资方面的因素</a:t>
            </a:r>
            <a:endParaRPr lang="en-US" altLang="zh-CN" sz="1000" b="1" u="sng" dirty="0">
              <a:highlight>
                <a:srgbClr val="00FFFF"/>
              </a:highlight>
              <a:latin typeface="Garamond" panose="02020404030301010803" pitchFamily="18" charset="0"/>
              <a:ea typeface="SimSun" panose="02010600030101010101" pitchFamily="2" charset="-122"/>
            </a:endParaRPr>
          </a:p>
          <a:p>
            <a:r>
              <a:rPr lang="zh-CN" altLang="en-US" sz="900" dirty="0">
                <a:latin typeface="KaiTi" panose="02010609060101010101" pitchFamily="49" charset="-122"/>
                <a:ea typeface="KaiTi" panose="02010609060101010101" pitchFamily="49" charset="-122"/>
              </a:rPr>
              <a:t>利率（货币政策），技术进步，商业信息，政府购买</a:t>
            </a:r>
          </a:p>
        </p:txBody>
      </p:sp>
      <p:sp>
        <p:nvSpPr>
          <p:cNvPr id="15" name="文本框 14">
            <a:extLst>
              <a:ext uri="{FF2B5EF4-FFF2-40B4-BE49-F238E27FC236}">
                <a16:creationId xmlns:a16="http://schemas.microsoft.com/office/drawing/2014/main" id="{C4DFD6A8-BF76-6351-B523-92942C165F8B}"/>
              </a:ext>
            </a:extLst>
          </p:cNvPr>
          <p:cNvSpPr txBox="1"/>
          <p:nvPr/>
        </p:nvSpPr>
        <p:spPr>
          <a:xfrm>
            <a:off x="1729199" y="2637830"/>
            <a:ext cx="1109281" cy="428131"/>
          </a:xfrm>
          <a:prstGeom prst="rect">
            <a:avLst/>
          </a:prstGeom>
          <a:noFill/>
        </p:spPr>
        <p:txBody>
          <a:bodyPr wrap="square">
            <a:spAutoFit/>
          </a:bodyPr>
          <a:lstStyle/>
          <a:p>
            <a:pPr algn="ctr">
              <a:lnSpc>
                <a:spcPts val="1412"/>
              </a:lnSpc>
            </a:pPr>
            <a:r>
              <a:rPr lang="zh-CN" altLang="en-US" sz="1000" b="1" u="sng" dirty="0">
                <a:highlight>
                  <a:srgbClr val="00FFFF"/>
                </a:highlight>
                <a:latin typeface="Garamond" panose="02020404030301010803" pitchFamily="18" charset="0"/>
                <a:ea typeface="SimSun" panose="02010600030101010101" pitchFamily="2" charset="-122"/>
              </a:rPr>
              <a:t>政府购买开支的财政政策</a:t>
            </a:r>
            <a:endParaRPr lang="zh-CN" altLang="en-US" sz="900" dirty="0">
              <a:latin typeface="KaiTi" panose="02010609060101010101" pitchFamily="49" charset="-122"/>
              <a:ea typeface="KaiTi" panose="02010609060101010101" pitchFamily="49" charset="-122"/>
            </a:endParaRPr>
          </a:p>
        </p:txBody>
      </p:sp>
      <p:sp>
        <p:nvSpPr>
          <p:cNvPr id="16" name="文本框 15">
            <a:extLst>
              <a:ext uri="{FF2B5EF4-FFF2-40B4-BE49-F238E27FC236}">
                <a16:creationId xmlns:a16="http://schemas.microsoft.com/office/drawing/2014/main" id="{EDE36428-8AB6-0DD2-688A-489B7E47D47E}"/>
              </a:ext>
            </a:extLst>
          </p:cNvPr>
          <p:cNvSpPr txBox="1"/>
          <p:nvPr/>
        </p:nvSpPr>
        <p:spPr>
          <a:xfrm>
            <a:off x="1333495" y="1472160"/>
            <a:ext cx="1799093" cy="548868"/>
          </a:xfrm>
          <a:prstGeom prst="rect">
            <a:avLst/>
          </a:prstGeom>
          <a:noFill/>
        </p:spPr>
        <p:txBody>
          <a:bodyPr wrap="square">
            <a:spAutoFit/>
          </a:bodyPr>
          <a:lstStyle/>
          <a:p>
            <a:pPr algn="ctr">
              <a:lnSpc>
                <a:spcPts val="1412"/>
              </a:lnSpc>
            </a:pPr>
            <a:r>
              <a:rPr lang="zh-CN" altLang="en-US" sz="1000" b="1" u="sng" dirty="0">
                <a:highlight>
                  <a:srgbClr val="00FFFF"/>
                </a:highlight>
                <a:latin typeface="Garamond" panose="02020404030301010803" pitchFamily="18" charset="0"/>
                <a:ea typeface="SimSun" panose="02010600030101010101" pitchFamily="2" charset="-122"/>
              </a:rPr>
              <a:t>消费方面的因素</a:t>
            </a:r>
            <a:endParaRPr lang="en-US" altLang="zh-CN" sz="1000" b="1" u="sng" dirty="0">
              <a:highlight>
                <a:srgbClr val="00FFFF"/>
              </a:highlight>
              <a:latin typeface="Garamond" panose="02020404030301010803" pitchFamily="18" charset="0"/>
              <a:ea typeface="SimSun" panose="02010600030101010101" pitchFamily="2" charset="-122"/>
            </a:endParaRPr>
          </a:p>
          <a:p>
            <a:pPr algn="ctr"/>
            <a:r>
              <a:rPr lang="zh-CN" altLang="en-US" sz="900" dirty="0">
                <a:latin typeface="KaiTi" panose="02010609060101010101" pitchFamily="49" charset="-122"/>
                <a:ea typeface="KaiTi" panose="02010609060101010101" pitchFamily="49" charset="-122"/>
              </a:rPr>
              <a:t>消费信心，消费偏好，股票市场，税收政策</a:t>
            </a:r>
          </a:p>
        </p:txBody>
      </p:sp>
      <p:sp>
        <p:nvSpPr>
          <p:cNvPr id="17" name="文本框 16">
            <a:extLst>
              <a:ext uri="{FF2B5EF4-FFF2-40B4-BE49-F238E27FC236}">
                <a16:creationId xmlns:a16="http://schemas.microsoft.com/office/drawing/2014/main" id="{60CF4500-17E7-D39A-3C77-DE76D2767270}"/>
              </a:ext>
            </a:extLst>
          </p:cNvPr>
          <p:cNvSpPr txBox="1"/>
          <p:nvPr/>
        </p:nvSpPr>
        <p:spPr>
          <a:xfrm>
            <a:off x="2650789" y="2074660"/>
            <a:ext cx="1642497" cy="548868"/>
          </a:xfrm>
          <a:prstGeom prst="rect">
            <a:avLst/>
          </a:prstGeom>
          <a:noFill/>
        </p:spPr>
        <p:txBody>
          <a:bodyPr wrap="square">
            <a:spAutoFit/>
          </a:bodyPr>
          <a:lstStyle/>
          <a:p>
            <a:pPr>
              <a:lnSpc>
                <a:spcPts val="1412"/>
              </a:lnSpc>
            </a:pPr>
            <a:r>
              <a:rPr lang="zh-CN" altLang="en-US" sz="1000" b="1" u="sng" dirty="0">
                <a:highlight>
                  <a:srgbClr val="00FFFF"/>
                </a:highlight>
                <a:latin typeface="Garamond" panose="02020404030301010803" pitchFamily="18" charset="0"/>
                <a:ea typeface="SimSun" panose="02010600030101010101" pitchFamily="2" charset="-122"/>
              </a:rPr>
              <a:t>国际经济因素</a:t>
            </a:r>
            <a:endParaRPr lang="en-US" altLang="zh-CN" sz="1000" b="1" u="sng" dirty="0">
              <a:highlight>
                <a:srgbClr val="00FFFF"/>
              </a:highlight>
              <a:latin typeface="Garamond" panose="02020404030301010803" pitchFamily="18" charset="0"/>
              <a:ea typeface="SimSun" panose="02010600030101010101" pitchFamily="2" charset="-122"/>
            </a:endParaRPr>
          </a:p>
          <a:p>
            <a:r>
              <a:rPr lang="zh-CN" altLang="en-US" sz="900" dirty="0">
                <a:latin typeface="KaiTi" panose="02010609060101010101" pitchFamily="49" charset="-122"/>
                <a:ea typeface="KaiTi" panose="02010609060101010101" pitchFamily="49" charset="-122"/>
              </a:rPr>
              <a:t>汇率，国外价格，国外经济景气</a:t>
            </a:r>
          </a:p>
        </p:txBody>
      </p:sp>
      <p:sp>
        <p:nvSpPr>
          <p:cNvPr id="5" name="文本框 4">
            <a:extLst>
              <a:ext uri="{FF2B5EF4-FFF2-40B4-BE49-F238E27FC236}">
                <a16:creationId xmlns:a16="http://schemas.microsoft.com/office/drawing/2014/main" id="{EAD4DEAE-87DF-A4A6-7575-1BA2233D32FD}"/>
              </a:ext>
            </a:extLst>
          </p:cNvPr>
          <p:cNvSpPr txBox="1"/>
          <p:nvPr/>
        </p:nvSpPr>
        <p:spPr>
          <a:xfrm>
            <a:off x="2024406" y="2088091"/>
            <a:ext cx="549425" cy="415498"/>
          </a:xfrm>
          <a:prstGeom prst="rect">
            <a:avLst/>
          </a:prstGeom>
          <a:noFill/>
        </p:spPr>
        <p:txBody>
          <a:bodyPr wrap="square">
            <a:spAutoFit/>
          </a:bodyPr>
          <a:lstStyle/>
          <a:p>
            <a:r>
              <a:rPr lang="zh-CN" altLang="en-US" sz="1050" dirty="0">
                <a:latin typeface="KaiTi" panose="02010609060101010101" pitchFamily="49" charset="-122"/>
                <a:ea typeface="KaiTi" panose="02010609060101010101" pitchFamily="49" charset="-122"/>
              </a:rPr>
              <a:t>影响因素</a:t>
            </a:r>
          </a:p>
        </p:txBody>
      </p:sp>
    </p:spTree>
    <p:extLst>
      <p:ext uri="{BB962C8B-B14F-4D97-AF65-F5344CB8AC3E}">
        <p14:creationId xmlns:p14="http://schemas.microsoft.com/office/powerpoint/2010/main" val="2495219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BE0CED-C195-4972-AF62-5D3131032B05}"/>
              </a:ext>
            </a:extLst>
          </p:cNvPr>
          <p:cNvSpPr>
            <a:spLocks noGrp="1"/>
          </p:cNvSpPr>
          <p:nvPr>
            <p:ph type="title"/>
          </p:nvPr>
        </p:nvSpPr>
        <p:spPr/>
        <p:txBody>
          <a:bodyPr/>
          <a:lstStyle/>
          <a:p>
            <a:r>
              <a:rPr lang="zh-CN" altLang="en-US" dirty="0"/>
              <a:t>影响总需求曲线移动的宏观经济政策</a:t>
            </a:r>
          </a:p>
        </p:txBody>
      </p:sp>
      <p:sp>
        <p:nvSpPr>
          <p:cNvPr id="3" name="内容占位符 2">
            <a:extLst>
              <a:ext uri="{FF2B5EF4-FFF2-40B4-BE49-F238E27FC236}">
                <a16:creationId xmlns:a16="http://schemas.microsoft.com/office/drawing/2014/main" id="{78C3F4F4-478E-417E-945F-8F38AB6AC787}"/>
              </a:ext>
            </a:extLst>
          </p:cNvPr>
          <p:cNvSpPr>
            <a:spLocks noGrp="1"/>
          </p:cNvSpPr>
          <p:nvPr>
            <p:ph idx="1"/>
          </p:nvPr>
        </p:nvSpPr>
        <p:spPr/>
        <p:txBody>
          <a:bodyPr/>
          <a:lstStyle/>
          <a:p>
            <a:r>
              <a:rPr lang="zh-CN" altLang="en-US" u="sng" dirty="0"/>
              <a:t>财政政策：</a:t>
            </a:r>
            <a:r>
              <a:rPr lang="zh-CN" altLang="en-US" dirty="0"/>
              <a:t>政府变动税收和支出以便影响总需求进而影响就业和国民收入的政策。</a:t>
            </a:r>
          </a:p>
          <a:p>
            <a:r>
              <a:rPr lang="zh-CN" altLang="en-US" u="sng" dirty="0"/>
              <a:t>货币政策：</a:t>
            </a:r>
            <a:r>
              <a:rPr lang="zh-CN" altLang="en-US" dirty="0"/>
              <a:t>政府货币当局即中央银行通过银行体系变动货币供应量来调节总需求的政策。</a:t>
            </a:r>
            <a:endParaRPr lang="en-US" altLang="zh-CN" dirty="0"/>
          </a:p>
          <a:p>
            <a:endParaRPr lang="en-US" altLang="zh-CN" dirty="0"/>
          </a:p>
        </p:txBody>
      </p:sp>
      <p:sp>
        <p:nvSpPr>
          <p:cNvPr id="6" name="灯片编号占位符 5">
            <a:extLst>
              <a:ext uri="{FF2B5EF4-FFF2-40B4-BE49-F238E27FC236}">
                <a16:creationId xmlns:a16="http://schemas.microsoft.com/office/drawing/2014/main" id="{8609EA13-7EE2-4073-B558-B1495C47E45A}"/>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14</a:t>
            </a:fld>
            <a:endParaRPr lang="zh-CN" altLang="en-US"/>
          </a:p>
        </p:txBody>
      </p:sp>
      <p:sp>
        <p:nvSpPr>
          <p:cNvPr id="7" name="Rectangle 6">
            <a:extLst>
              <a:ext uri="{FF2B5EF4-FFF2-40B4-BE49-F238E27FC236}">
                <a16:creationId xmlns:a16="http://schemas.microsoft.com/office/drawing/2014/main" id="{3DB7A7FA-7598-3A1B-303B-2D75E039B443}"/>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14</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513F14C3-F668-899D-48B4-7FDD92B5EE79}"/>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1520169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财政政策与</a:t>
            </a:r>
            <a:r>
              <a:rPr lang="en-US" altLang="zh-CN" dirty="0"/>
              <a:t>AD</a:t>
            </a:r>
            <a:r>
              <a:rPr lang="zh-CN" altLang="en-US" dirty="0"/>
              <a:t>曲线的移动</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15</a:t>
            </a:fld>
            <a:endParaRPr lang="zh-CN" altLang="en-US" dirty="0"/>
          </a:p>
        </p:txBody>
      </p:sp>
      <p:pic>
        <p:nvPicPr>
          <p:cNvPr id="7" name="Picture 4" descr="xf1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4047" y="562821"/>
            <a:ext cx="1699109" cy="2101357"/>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2"/>
          <p:cNvSpPr>
            <a:spLocks noGrp="1"/>
          </p:cNvSpPr>
          <p:nvPr>
            <p:ph idx="1"/>
          </p:nvPr>
        </p:nvSpPr>
        <p:spPr>
          <a:xfrm>
            <a:off x="245199" y="547273"/>
            <a:ext cx="2411592" cy="2193800"/>
          </a:xfrm>
        </p:spPr>
        <p:txBody>
          <a:bodyPr/>
          <a:lstStyle/>
          <a:p>
            <a:r>
              <a:rPr lang="zh-CN" altLang="en-US" sz="1210" dirty="0"/>
              <a:t>右图中，</a:t>
            </a:r>
            <a:r>
              <a:rPr lang="en-US" altLang="zh-CN" sz="1210" dirty="0"/>
              <a:t>IS</a:t>
            </a:r>
            <a:r>
              <a:rPr lang="zh-CN" altLang="en-US" sz="1210" dirty="0"/>
              <a:t>曲线和</a:t>
            </a:r>
            <a:r>
              <a:rPr lang="en-US" altLang="zh-CN" sz="1210" dirty="0"/>
              <a:t>LM</a:t>
            </a:r>
            <a:r>
              <a:rPr lang="zh-CN" altLang="en-US" sz="1210" dirty="0"/>
              <a:t>曲线对应于一定的货币数量和价格水平</a:t>
            </a:r>
            <a:r>
              <a:rPr lang="en-US" altLang="zh-CN" sz="1210" dirty="0"/>
              <a:t>P</a:t>
            </a:r>
            <a:r>
              <a:rPr lang="zh-CN" altLang="en-US" sz="1210" dirty="0"/>
              <a:t>，均衡点为</a:t>
            </a:r>
            <a:r>
              <a:rPr lang="en-US" altLang="zh-CN" sz="1210" dirty="0"/>
              <a:t>E</a:t>
            </a:r>
          </a:p>
          <a:p>
            <a:r>
              <a:rPr lang="zh-CN" altLang="en-US" sz="1210" dirty="0"/>
              <a:t>当政府支出增加时，</a:t>
            </a:r>
            <a:r>
              <a:rPr lang="en-US" altLang="zh-CN" sz="1210" dirty="0"/>
              <a:t>IS</a:t>
            </a:r>
            <a:r>
              <a:rPr lang="zh-CN" altLang="en-US" sz="1210" dirty="0"/>
              <a:t>曲线右移，此时利率升高、收入增加。</a:t>
            </a:r>
            <a:endParaRPr lang="en-US" altLang="zh-CN" sz="1210" dirty="0"/>
          </a:p>
          <a:p>
            <a:r>
              <a:rPr lang="en-US" altLang="zh-CN" sz="1210" dirty="0"/>
              <a:t> P</a:t>
            </a:r>
            <a:r>
              <a:rPr lang="zh-CN" altLang="en-US" sz="1210" dirty="0"/>
              <a:t>既定时，均衡点右移。</a:t>
            </a:r>
            <a:endParaRPr lang="en-US" altLang="zh-CN" sz="1210" dirty="0"/>
          </a:p>
        </p:txBody>
      </p:sp>
      <p:sp>
        <p:nvSpPr>
          <p:cNvPr id="8" name="矩形 7"/>
          <p:cNvSpPr/>
          <p:nvPr/>
        </p:nvSpPr>
        <p:spPr>
          <a:xfrm>
            <a:off x="2673012" y="2614219"/>
            <a:ext cx="1620144" cy="369332"/>
          </a:xfrm>
          <a:prstGeom prst="rect">
            <a:avLst/>
          </a:prstGeom>
        </p:spPr>
        <p:txBody>
          <a:bodyPr wrap="square">
            <a:spAutoFit/>
          </a:bodyPr>
          <a:lstStyle/>
          <a:p>
            <a:pPr algn="ctr"/>
            <a:r>
              <a:rPr lang="zh-CN" altLang="en-US" sz="900" b="1" dirty="0">
                <a:latin typeface="KaiTi" panose="02010609060101010101" pitchFamily="49" charset="-122"/>
                <a:ea typeface="KaiTi" panose="02010609060101010101" pitchFamily="49" charset="-122"/>
              </a:rPr>
              <a:t>扩张性财政政策对总需求曲线的影响</a:t>
            </a:r>
          </a:p>
        </p:txBody>
      </p:sp>
      <p:sp>
        <p:nvSpPr>
          <p:cNvPr id="9" name="Rectangle 6">
            <a:extLst>
              <a:ext uri="{FF2B5EF4-FFF2-40B4-BE49-F238E27FC236}">
                <a16:creationId xmlns:a16="http://schemas.microsoft.com/office/drawing/2014/main" id="{775D1DE8-12E5-E1EE-5E71-7E09B5FFC1E4}"/>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15</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0" name="日期占位符 3">
            <a:extLst>
              <a:ext uri="{FF2B5EF4-FFF2-40B4-BE49-F238E27FC236}">
                <a16:creationId xmlns:a16="http://schemas.microsoft.com/office/drawing/2014/main" id="{1DC3B008-3B1B-A033-D470-A691C321C5F9}"/>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44786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总需求曲线的移动</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16</a:t>
            </a:fld>
            <a:endParaRPr lang="zh-CN" altLang="en-US" dirty="0"/>
          </a:p>
        </p:txBody>
      </p:sp>
      <p:sp>
        <p:nvSpPr>
          <p:cNvPr id="3" name="内容占位符 2"/>
          <p:cNvSpPr>
            <a:spLocks noGrp="1"/>
          </p:cNvSpPr>
          <p:nvPr>
            <p:ph idx="1"/>
          </p:nvPr>
        </p:nvSpPr>
        <p:spPr>
          <a:xfrm>
            <a:off x="172880" y="568745"/>
            <a:ext cx="4092158" cy="2193800"/>
          </a:xfrm>
        </p:spPr>
        <p:txBody>
          <a:bodyPr/>
          <a:lstStyle/>
          <a:p>
            <a:r>
              <a:rPr lang="zh-CN" altLang="en-US" sz="1210" b="1" dirty="0"/>
              <a:t>总结：</a:t>
            </a:r>
            <a:endParaRPr lang="en-US" altLang="zh-CN" sz="1210" b="1" dirty="0"/>
          </a:p>
          <a:p>
            <a:pPr lvl="1"/>
            <a:r>
              <a:rPr lang="zh-CN" altLang="en-US" sz="1159" dirty="0"/>
              <a:t>扩张性的政策会让</a:t>
            </a:r>
            <a:r>
              <a:rPr lang="en-US" altLang="zh-CN" sz="1159" dirty="0"/>
              <a:t>AD</a:t>
            </a:r>
            <a:r>
              <a:rPr lang="zh-CN" altLang="en-US" sz="1159" dirty="0"/>
              <a:t>曲线右移；紧缩性的政策会让</a:t>
            </a:r>
            <a:r>
              <a:rPr lang="en-US" altLang="zh-CN" sz="1159" dirty="0"/>
              <a:t>AD</a:t>
            </a:r>
            <a:r>
              <a:rPr lang="zh-CN" altLang="en-US" sz="1159" dirty="0"/>
              <a:t>曲线左移。无论是财政政策还是货币政策。</a:t>
            </a:r>
            <a:endParaRPr lang="en-US" altLang="zh-CN" sz="1159" dirty="0"/>
          </a:p>
        </p:txBody>
      </p:sp>
      <p:sp>
        <p:nvSpPr>
          <p:cNvPr id="9" name="内容占位符 2">
            <a:extLst>
              <a:ext uri="{FF2B5EF4-FFF2-40B4-BE49-F238E27FC236}">
                <a16:creationId xmlns:a16="http://schemas.microsoft.com/office/drawing/2014/main" id="{61B86CC7-7939-4580-B487-E3F156588392}"/>
              </a:ext>
            </a:extLst>
          </p:cNvPr>
          <p:cNvSpPr txBox="1">
            <a:spLocks/>
          </p:cNvSpPr>
          <p:nvPr/>
        </p:nvSpPr>
        <p:spPr bwMode="auto">
          <a:xfrm>
            <a:off x="316941" y="1349853"/>
            <a:ext cx="3976211" cy="147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61040">
              <a:buNone/>
            </a:pPr>
            <a:r>
              <a:rPr lang="zh-CN" altLang="en-US" sz="1210" dirty="0">
                <a:latin typeface="Garamond" panose="02020404030301010803" pitchFamily="18" charset="0"/>
                <a:ea typeface="SimSun" panose="02010600030101010101" pitchFamily="2" charset="-122"/>
              </a:rPr>
              <a:t>表</a:t>
            </a:r>
            <a:r>
              <a:rPr lang="en-US" altLang="zh-CN" sz="1210" dirty="0">
                <a:latin typeface="Garamond" panose="02020404030301010803" pitchFamily="18" charset="0"/>
                <a:ea typeface="SimSun" panose="02010600030101010101" pitchFamily="2" charset="-122"/>
              </a:rPr>
              <a:t>. </a:t>
            </a:r>
            <a:r>
              <a:rPr lang="en-US" altLang="zh-CN" sz="1210" b="1" dirty="0">
                <a:latin typeface="Garamond" panose="02020404030301010803" pitchFamily="18" charset="0"/>
                <a:ea typeface="SimSun" panose="02010600030101010101" pitchFamily="2" charset="-122"/>
              </a:rPr>
              <a:t>AD</a:t>
            </a:r>
            <a:r>
              <a:rPr lang="zh-CN" altLang="en-US" sz="1210" b="1" dirty="0">
                <a:latin typeface="Garamond" panose="02020404030301010803" pitchFamily="18" charset="0"/>
                <a:ea typeface="SimSun" panose="02010600030101010101" pitchFamily="2" charset="-122"/>
              </a:rPr>
              <a:t>曲线</a:t>
            </a:r>
            <a:r>
              <a:rPr lang="zh-CN" altLang="en-US" sz="1210" dirty="0">
                <a:latin typeface="Garamond" panose="02020404030301010803" pitchFamily="18" charset="0"/>
                <a:ea typeface="SimSun" panose="02010600030101010101" pitchFamily="2" charset="-122"/>
              </a:rPr>
              <a:t>移动的因素</a:t>
            </a:r>
          </a:p>
        </p:txBody>
      </p:sp>
      <p:graphicFrame>
        <p:nvGraphicFramePr>
          <p:cNvPr id="10" name="表格 9">
            <a:extLst>
              <a:ext uri="{FF2B5EF4-FFF2-40B4-BE49-F238E27FC236}">
                <a16:creationId xmlns:a16="http://schemas.microsoft.com/office/drawing/2014/main" id="{29519BB2-0AD2-4188-AC0D-7DF9B661B1DA}"/>
              </a:ext>
            </a:extLst>
          </p:cNvPr>
          <p:cNvGraphicFramePr>
            <a:graphicFrameLocks noGrp="1"/>
          </p:cNvGraphicFramePr>
          <p:nvPr>
            <p:extLst>
              <p:ext uri="{D42A27DB-BD31-4B8C-83A1-F6EECF244321}">
                <p14:modId xmlns:p14="http://schemas.microsoft.com/office/powerpoint/2010/main" val="111525466"/>
              </p:ext>
            </p:extLst>
          </p:nvPr>
        </p:nvGraphicFramePr>
        <p:xfrm>
          <a:off x="316942" y="1588787"/>
          <a:ext cx="3976211" cy="1303218"/>
        </p:xfrm>
        <a:graphic>
          <a:graphicData uri="http://schemas.openxmlformats.org/drawingml/2006/table">
            <a:tbl>
              <a:tblPr firstRow="1" bandRow="1">
                <a:tableStyleId>{9D7B26C5-4107-4FEC-AEDC-1716B250A1EF}</a:tableStyleId>
              </a:tblPr>
              <a:tblGrid>
                <a:gridCol w="433537">
                  <a:extLst>
                    <a:ext uri="{9D8B030D-6E8A-4147-A177-3AD203B41FA5}">
                      <a16:colId xmlns:a16="http://schemas.microsoft.com/office/drawing/2014/main" val="1796642534"/>
                    </a:ext>
                  </a:extLst>
                </a:gridCol>
                <a:gridCol w="2342574">
                  <a:extLst>
                    <a:ext uri="{9D8B030D-6E8A-4147-A177-3AD203B41FA5}">
                      <a16:colId xmlns:a16="http://schemas.microsoft.com/office/drawing/2014/main" val="1349936057"/>
                    </a:ext>
                  </a:extLst>
                </a:gridCol>
                <a:gridCol w="1200100">
                  <a:extLst>
                    <a:ext uri="{9D8B030D-6E8A-4147-A177-3AD203B41FA5}">
                      <a16:colId xmlns:a16="http://schemas.microsoft.com/office/drawing/2014/main" val="2650867943"/>
                    </a:ext>
                  </a:extLst>
                </a:gridCol>
              </a:tblGrid>
              <a:tr h="217203">
                <a:tc>
                  <a:txBody>
                    <a:bodyPr/>
                    <a:lstStyle/>
                    <a:p>
                      <a:pPr algn="ctr"/>
                      <a:r>
                        <a:rPr lang="zh-CN" altLang="en-US" sz="800" dirty="0">
                          <a:latin typeface="Garamond" panose="02020404030301010803" pitchFamily="18" charset="0"/>
                          <a:ea typeface="SimSun" panose="02010600030101010101" pitchFamily="2" charset="-122"/>
                        </a:rPr>
                        <a:t>序号</a:t>
                      </a: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因素及其变化</a:t>
                      </a: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总需求曲线的变化</a:t>
                      </a:r>
                    </a:p>
                  </a:txBody>
                  <a:tcPr marL="46101" marR="46101" marT="23051" marB="23051" anchor="ctr"/>
                </a:tc>
                <a:extLst>
                  <a:ext uri="{0D108BD9-81ED-4DB2-BD59-A6C34878D82A}">
                    <a16:rowId xmlns:a16="http://schemas.microsoft.com/office/drawing/2014/main" val="3354314759"/>
                  </a:ext>
                </a:extLst>
              </a:tr>
              <a:tr h="217203">
                <a:tc>
                  <a:txBody>
                    <a:bodyPr/>
                    <a:lstStyle/>
                    <a:p>
                      <a:pPr algn="ctr"/>
                      <a:r>
                        <a:rPr lang="en-US" altLang="zh-CN" sz="800" dirty="0">
                          <a:latin typeface="Garamond" panose="02020404030301010803" pitchFamily="18" charset="0"/>
                          <a:ea typeface="SimSun" panose="02010600030101010101" pitchFamily="2" charset="-122"/>
                        </a:rPr>
                        <a:t>1</a:t>
                      </a:r>
                      <a:endParaRPr lang="zh-CN" altLang="en-US" sz="800" dirty="0">
                        <a:latin typeface="Garamond" panose="02020404030301010803" pitchFamily="18" charset="0"/>
                        <a:ea typeface="SimSun" panose="02010600030101010101" pitchFamily="2" charset="-122"/>
                      </a:endParaRP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消费者支出增加的事件（如减税、股市高涨）</a:t>
                      </a:r>
                    </a:p>
                  </a:txBody>
                  <a:tcPr marL="46101" marR="46101" marT="23051" marB="230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dirty="0">
                        <a:latin typeface="Garamond" panose="02020404030301010803" pitchFamily="18" charset="0"/>
                        <a:ea typeface="SimSun" panose="02010600030101010101" pitchFamily="2" charset="-122"/>
                      </a:endParaRPr>
                    </a:p>
                  </a:txBody>
                  <a:tcPr marL="46101" marR="46101" marT="23051" marB="23051" anchor="ctr"/>
                </a:tc>
                <a:extLst>
                  <a:ext uri="{0D108BD9-81ED-4DB2-BD59-A6C34878D82A}">
                    <a16:rowId xmlns:a16="http://schemas.microsoft.com/office/drawing/2014/main" val="2317584649"/>
                  </a:ext>
                </a:extLst>
              </a:tr>
              <a:tr h="217203">
                <a:tc>
                  <a:txBody>
                    <a:bodyPr/>
                    <a:lstStyle/>
                    <a:p>
                      <a:pPr algn="ctr"/>
                      <a:r>
                        <a:rPr lang="en-US" altLang="zh-CN" sz="800" dirty="0">
                          <a:latin typeface="Garamond" panose="02020404030301010803" pitchFamily="18" charset="0"/>
                          <a:ea typeface="SimSun" panose="02010600030101010101" pitchFamily="2" charset="-122"/>
                        </a:rPr>
                        <a:t>2</a:t>
                      </a:r>
                      <a:endParaRPr lang="zh-CN" altLang="en-US" sz="800" dirty="0">
                        <a:latin typeface="Garamond" panose="02020404030301010803" pitchFamily="18" charset="0"/>
                        <a:ea typeface="SimSun" panose="02010600030101010101" pitchFamily="2" charset="-122"/>
                      </a:endParaRP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企业投资增加的事件（如企业乐观情绪增加）</a:t>
                      </a:r>
                    </a:p>
                  </a:txBody>
                  <a:tcPr marL="46101" marR="46101" marT="23051" marB="230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dirty="0">
                        <a:latin typeface="Garamond" panose="02020404030301010803" pitchFamily="18" charset="0"/>
                        <a:ea typeface="SimSun" panose="02010600030101010101" pitchFamily="2" charset="-122"/>
                      </a:endParaRPr>
                    </a:p>
                  </a:txBody>
                  <a:tcPr marL="46101" marR="46101" marT="23051" marB="23051" anchor="ctr"/>
                </a:tc>
                <a:extLst>
                  <a:ext uri="{0D108BD9-81ED-4DB2-BD59-A6C34878D82A}">
                    <a16:rowId xmlns:a16="http://schemas.microsoft.com/office/drawing/2014/main" val="1979721606"/>
                  </a:ext>
                </a:extLst>
              </a:tr>
              <a:tr h="217203">
                <a:tc>
                  <a:txBody>
                    <a:bodyPr/>
                    <a:lstStyle/>
                    <a:p>
                      <a:pPr algn="ctr"/>
                      <a:r>
                        <a:rPr lang="en-US" altLang="zh-CN" sz="800" dirty="0">
                          <a:latin typeface="Garamond" panose="02020404030301010803" pitchFamily="18" charset="0"/>
                          <a:ea typeface="SimSun" panose="02010600030101010101" pitchFamily="2" charset="-122"/>
                        </a:rPr>
                        <a:t>3</a:t>
                      </a:r>
                      <a:endParaRPr lang="zh-CN" altLang="en-US" sz="800" dirty="0">
                        <a:latin typeface="Garamond" panose="02020404030301010803" pitchFamily="18" charset="0"/>
                        <a:ea typeface="SimSun" panose="02010600030101010101" pitchFamily="2" charset="-122"/>
                      </a:endParaRP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政府购买增加（如增加城市公共项目支出）</a:t>
                      </a:r>
                    </a:p>
                  </a:txBody>
                  <a:tcPr marL="46101" marR="46101" marT="23051" marB="230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dirty="0">
                        <a:latin typeface="Garamond" panose="02020404030301010803" pitchFamily="18" charset="0"/>
                        <a:ea typeface="SimSun" panose="02010600030101010101" pitchFamily="2" charset="-122"/>
                      </a:endParaRPr>
                    </a:p>
                  </a:txBody>
                  <a:tcPr marL="46101" marR="46101" marT="23051" marB="23051" anchor="ctr"/>
                </a:tc>
                <a:extLst>
                  <a:ext uri="{0D108BD9-81ED-4DB2-BD59-A6C34878D82A}">
                    <a16:rowId xmlns:a16="http://schemas.microsoft.com/office/drawing/2014/main" val="2203000826"/>
                  </a:ext>
                </a:extLst>
              </a:tr>
              <a:tr h="217203">
                <a:tc>
                  <a:txBody>
                    <a:bodyPr/>
                    <a:lstStyle/>
                    <a:p>
                      <a:pPr algn="ctr"/>
                      <a:r>
                        <a:rPr lang="en-US" altLang="zh-CN" sz="800" dirty="0">
                          <a:latin typeface="Garamond" panose="02020404030301010803" pitchFamily="18" charset="0"/>
                          <a:ea typeface="SimSun" panose="02010600030101010101" pitchFamily="2" charset="-122"/>
                        </a:rPr>
                        <a:t>4</a:t>
                      </a:r>
                      <a:endParaRPr lang="zh-CN" altLang="en-US" sz="800" dirty="0">
                        <a:latin typeface="Garamond" panose="02020404030301010803" pitchFamily="18" charset="0"/>
                        <a:ea typeface="SimSun" panose="02010600030101010101" pitchFamily="2" charset="-122"/>
                      </a:endParaRP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净出口增加的事件（如国外经济繁荣）</a:t>
                      </a:r>
                    </a:p>
                  </a:txBody>
                  <a:tcPr marL="46101" marR="46101" marT="23051" marB="2305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dirty="0">
                        <a:latin typeface="Garamond" panose="02020404030301010803" pitchFamily="18" charset="0"/>
                        <a:ea typeface="SimSun" panose="02010600030101010101" pitchFamily="2" charset="-122"/>
                      </a:endParaRPr>
                    </a:p>
                  </a:txBody>
                  <a:tcPr marL="46101" marR="46101" marT="23051" marB="23051" anchor="ctr"/>
                </a:tc>
                <a:extLst>
                  <a:ext uri="{0D108BD9-81ED-4DB2-BD59-A6C34878D82A}">
                    <a16:rowId xmlns:a16="http://schemas.microsoft.com/office/drawing/2014/main" val="2022993756"/>
                  </a:ext>
                </a:extLst>
              </a:tr>
              <a:tr h="217203">
                <a:tc>
                  <a:txBody>
                    <a:bodyPr/>
                    <a:lstStyle/>
                    <a:p>
                      <a:pPr algn="ctr"/>
                      <a:r>
                        <a:rPr lang="en-US" altLang="zh-CN" sz="800" dirty="0">
                          <a:latin typeface="Garamond" panose="02020404030301010803" pitchFamily="18" charset="0"/>
                          <a:ea typeface="SimSun" panose="02010600030101010101" pitchFamily="2" charset="-122"/>
                        </a:rPr>
                        <a:t>5</a:t>
                      </a:r>
                      <a:endParaRPr lang="zh-CN" altLang="en-US" sz="800" dirty="0">
                        <a:latin typeface="Garamond" panose="02020404030301010803" pitchFamily="18" charset="0"/>
                        <a:ea typeface="SimSun" panose="02010600030101010101" pitchFamily="2" charset="-122"/>
                      </a:endParaRPr>
                    </a:p>
                  </a:txBody>
                  <a:tcPr marL="46101" marR="46101" marT="23051" marB="23051" anchor="ctr"/>
                </a:tc>
                <a:tc>
                  <a:txBody>
                    <a:bodyPr/>
                    <a:lstStyle/>
                    <a:p>
                      <a:pPr algn="ctr"/>
                      <a:r>
                        <a:rPr lang="zh-CN" altLang="en-US" sz="800" dirty="0">
                          <a:latin typeface="Garamond" panose="02020404030301010803" pitchFamily="18" charset="0"/>
                          <a:ea typeface="SimSun" panose="02010600030101010101" pitchFamily="2" charset="-122"/>
                        </a:rPr>
                        <a:t>货币供给增加</a:t>
                      </a:r>
                    </a:p>
                  </a:txBody>
                  <a:tcPr marL="46101" marR="46101" marT="23051" marB="23051" anchor="ctr"/>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nchor="ctr"/>
                </a:tc>
                <a:extLst>
                  <a:ext uri="{0D108BD9-81ED-4DB2-BD59-A6C34878D82A}">
                    <a16:rowId xmlns:a16="http://schemas.microsoft.com/office/drawing/2014/main" val="4162006577"/>
                  </a:ext>
                </a:extLst>
              </a:tr>
            </a:tbl>
          </a:graphicData>
        </a:graphic>
      </p:graphicFrame>
      <p:sp>
        <p:nvSpPr>
          <p:cNvPr id="7" name="Rectangle 6">
            <a:extLst>
              <a:ext uri="{FF2B5EF4-FFF2-40B4-BE49-F238E27FC236}">
                <a16:creationId xmlns:a16="http://schemas.microsoft.com/office/drawing/2014/main" id="{D4CE33E3-8676-256D-0404-B23F40B59F1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16</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AAD8D970-17F1-42EB-EED3-F8976E6E2629}"/>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graphicFrame>
        <p:nvGraphicFramePr>
          <p:cNvPr id="11" name="表格 10">
            <a:extLst>
              <a:ext uri="{FF2B5EF4-FFF2-40B4-BE49-F238E27FC236}">
                <a16:creationId xmlns:a16="http://schemas.microsoft.com/office/drawing/2014/main" id="{2536F5E3-0BAA-5CCD-56F6-275E323EE0E6}"/>
              </a:ext>
            </a:extLst>
          </p:cNvPr>
          <p:cNvGraphicFramePr>
            <a:graphicFrameLocks noGrp="1"/>
          </p:cNvGraphicFramePr>
          <p:nvPr>
            <p:extLst>
              <p:ext uri="{D42A27DB-BD31-4B8C-83A1-F6EECF244321}">
                <p14:modId xmlns:p14="http://schemas.microsoft.com/office/powerpoint/2010/main" val="3586735355"/>
              </p:ext>
            </p:extLst>
          </p:nvPr>
        </p:nvGraphicFramePr>
        <p:xfrm>
          <a:off x="3478772" y="1805990"/>
          <a:ext cx="533549" cy="1086015"/>
        </p:xfrm>
        <a:graphic>
          <a:graphicData uri="http://schemas.openxmlformats.org/drawingml/2006/table">
            <a:tbl>
              <a:tblPr firstRow="1" bandRow="1">
                <a:tableStyleId>{9D7B26C5-4107-4FEC-AEDC-1716B250A1EF}</a:tableStyleId>
              </a:tblPr>
              <a:tblGrid>
                <a:gridCol w="533549">
                  <a:extLst>
                    <a:ext uri="{9D8B030D-6E8A-4147-A177-3AD203B41FA5}">
                      <a16:colId xmlns:a16="http://schemas.microsoft.com/office/drawing/2014/main" val="1829409420"/>
                    </a:ext>
                  </a:extLst>
                </a:gridCol>
              </a:tblGrid>
              <a:tr h="217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dirty="0">
                          <a:latin typeface="Garamond" panose="02020404030301010803" pitchFamily="18" charset="0"/>
                          <a:ea typeface="SimSun" panose="02010600030101010101" pitchFamily="2" charset="-122"/>
                        </a:rPr>
                        <a:t>右移</a:t>
                      </a:r>
                    </a:p>
                  </a:txBody>
                  <a:tcPr marL="46101" marR="46101" marT="23051" marB="23051" anchor="ctr">
                    <a:lnL>
                      <a:noFill/>
                    </a:lnL>
                    <a:lnR>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42226938"/>
                  </a:ext>
                </a:extLst>
              </a:tr>
              <a:tr h="217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dirty="0">
                          <a:latin typeface="Garamond" panose="02020404030301010803" pitchFamily="18" charset="0"/>
                          <a:ea typeface="SimSun" panose="02010600030101010101" pitchFamily="2" charset="-122"/>
                        </a:rPr>
                        <a:t>右移</a:t>
                      </a:r>
                    </a:p>
                  </a:txBody>
                  <a:tcPr marL="46101" marR="46101" marT="23051" marB="23051" anchor="ctr">
                    <a:lnL>
                      <a:noFill/>
                    </a:lnL>
                    <a:lnR>
                      <a:noFill/>
                    </a:lnR>
                    <a:lnT w="12700" cmpd="sng">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974898514"/>
                  </a:ext>
                </a:extLst>
              </a:tr>
              <a:tr h="217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dirty="0">
                          <a:latin typeface="Garamond" panose="02020404030301010803" pitchFamily="18" charset="0"/>
                          <a:ea typeface="SimSun" panose="02010600030101010101" pitchFamily="2" charset="-122"/>
                        </a:rPr>
                        <a:t>右移</a:t>
                      </a:r>
                    </a:p>
                  </a:txBody>
                  <a:tcPr marL="46101" marR="46101" marT="23051" marB="23051"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359641075"/>
                  </a:ext>
                </a:extLst>
              </a:tr>
              <a:tr h="217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dirty="0">
                          <a:latin typeface="Garamond" panose="02020404030301010803" pitchFamily="18" charset="0"/>
                          <a:ea typeface="SimSun" panose="02010600030101010101" pitchFamily="2" charset="-122"/>
                        </a:rPr>
                        <a:t>右移</a:t>
                      </a:r>
                    </a:p>
                  </a:txBody>
                  <a:tcPr marL="46101" marR="46101" marT="23051" marB="23051"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242207147"/>
                  </a:ext>
                </a:extLst>
              </a:tr>
              <a:tr h="217203">
                <a:tc>
                  <a:txBody>
                    <a:bodyPr/>
                    <a:lstStyle/>
                    <a:p>
                      <a:pPr algn="ctr"/>
                      <a:r>
                        <a:rPr lang="zh-CN" altLang="en-US" sz="800" dirty="0">
                          <a:latin typeface="Garamond" panose="02020404030301010803" pitchFamily="18" charset="0"/>
                          <a:ea typeface="SimSun" panose="02010600030101010101" pitchFamily="2" charset="-122"/>
                        </a:rPr>
                        <a:t>右移</a:t>
                      </a:r>
                    </a:p>
                  </a:txBody>
                  <a:tcPr marL="46101" marR="46101" marT="23051" marB="23051" anchor="ctr">
                    <a:lnL>
                      <a:noFill/>
                    </a:lnL>
                    <a:lnR>
                      <a:noFill/>
                    </a:lnR>
                    <a:lnT>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26754422"/>
                  </a:ext>
                </a:extLst>
              </a:tr>
            </a:tbl>
          </a:graphicData>
        </a:graphic>
      </p:graphicFrame>
    </p:spTree>
    <p:extLst>
      <p:ext uri="{BB962C8B-B14F-4D97-AF65-F5344CB8AC3E}">
        <p14:creationId xmlns:p14="http://schemas.microsoft.com/office/powerpoint/2010/main" val="387078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71265"/>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17</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总需求函数</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2437294"/>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400" dirty="0"/>
                  <a:t>设消费函数为</a:t>
                </a:r>
                <a14:m>
                  <m:oMath xmlns:m="http://schemas.openxmlformats.org/officeDocument/2006/math">
                    <m:r>
                      <a:rPr lang="en-US" altLang="zh-CN" sz="1400" i="1">
                        <a:latin typeface="Cambria Math" panose="02040503050406030204" pitchFamily="18" charset="0"/>
                      </a:rPr>
                      <m:t>𝐶</m:t>
                    </m:r>
                    <m:r>
                      <a:rPr lang="en-US" altLang="zh-CN" sz="1400" i="1">
                        <a:latin typeface="Cambria Math" panose="02040503050406030204" pitchFamily="18" charset="0"/>
                      </a:rPr>
                      <m:t>=100+0.8</m:t>
                    </m:r>
                    <m:r>
                      <a:rPr lang="en-US" altLang="zh-CN" sz="1400" i="1">
                        <a:latin typeface="Cambria Math" panose="02040503050406030204" pitchFamily="18" charset="0"/>
                      </a:rPr>
                      <m:t>𝑌</m:t>
                    </m:r>
                    <m:r>
                      <a:rPr lang="zh-CN" altLang="en-US" sz="1400" i="1">
                        <a:latin typeface="Cambria Math" panose="02040503050406030204" pitchFamily="18" charset="0"/>
                      </a:rPr>
                      <m:t>，</m:t>
                    </m:r>
                  </m:oMath>
                </a14:m>
                <a:r>
                  <a:rPr lang="zh-CN" altLang="en-US" sz="1400" dirty="0"/>
                  <a:t>投资函数为</a:t>
                </a:r>
                <a14:m>
                  <m:oMath xmlns:m="http://schemas.openxmlformats.org/officeDocument/2006/math">
                    <m:r>
                      <a:rPr lang="en-US" altLang="zh-CN" sz="1400" i="1">
                        <a:latin typeface="Cambria Math" panose="02040503050406030204" pitchFamily="18" charset="0"/>
                      </a:rPr>
                      <m:t>𝐼</m:t>
                    </m:r>
                    <m:r>
                      <a:rPr lang="en-US" altLang="zh-CN" sz="1400" i="1">
                        <a:latin typeface="Cambria Math" panose="02040503050406030204" pitchFamily="18" charset="0"/>
                      </a:rPr>
                      <m:t>=20−2</m:t>
                    </m:r>
                    <m:r>
                      <a:rPr lang="en-US" altLang="zh-CN" sz="1400" i="1">
                        <a:latin typeface="Cambria Math" panose="02040503050406030204" pitchFamily="18" charset="0"/>
                      </a:rPr>
                      <m:t>𝑟</m:t>
                    </m:r>
                  </m:oMath>
                </a14:m>
                <a:r>
                  <a:rPr lang="zh-CN" altLang="en-US" sz="1400" dirty="0"/>
                  <a:t>，政府购买</a:t>
                </a:r>
                <a:r>
                  <a:rPr lang="en-US" altLang="zh-CN" sz="1400" dirty="0"/>
                  <a:t>G=50</a:t>
                </a:r>
                <a:r>
                  <a:rPr lang="zh-CN" altLang="en-US" sz="1400" dirty="0"/>
                  <a:t>，货币需求函数</a:t>
                </a:r>
                <a14:m>
                  <m:oMath xmlns:m="http://schemas.openxmlformats.org/officeDocument/2006/math">
                    <m:r>
                      <a:rPr lang="en-US" altLang="zh-CN" sz="1400" i="1">
                        <a:latin typeface="Cambria Math" panose="02040503050406030204" pitchFamily="18" charset="0"/>
                      </a:rPr>
                      <m:t>𝐿</m:t>
                    </m:r>
                    <m:r>
                      <a:rPr lang="en-US" altLang="zh-CN" sz="1400" i="1">
                        <a:latin typeface="Cambria Math" panose="02040503050406030204" pitchFamily="18" charset="0"/>
                      </a:rPr>
                      <m:t>=0.2</m:t>
                    </m:r>
                    <m:r>
                      <a:rPr lang="en-US" altLang="zh-CN" sz="1400" i="1">
                        <a:latin typeface="Cambria Math" panose="02040503050406030204" pitchFamily="18" charset="0"/>
                      </a:rPr>
                      <m:t>𝑌</m:t>
                    </m:r>
                    <m:r>
                      <a:rPr lang="en-US" altLang="zh-CN" sz="1400" i="1">
                        <a:latin typeface="Cambria Math" panose="02040503050406030204" pitchFamily="18" charset="0"/>
                      </a:rPr>
                      <m:t>−0.5</m:t>
                    </m:r>
                    <m:r>
                      <a:rPr lang="en-US" altLang="zh-CN" sz="1400" i="1">
                        <a:latin typeface="Cambria Math" panose="02040503050406030204" pitchFamily="18" charset="0"/>
                      </a:rPr>
                      <m:t>𝑟</m:t>
                    </m:r>
                  </m:oMath>
                </a14:m>
                <a:r>
                  <a:rPr lang="zh-CN" altLang="en-US" sz="1400" dirty="0"/>
                  <a:t>，货币供给</a:t>
                </a:r>
                <a:r>
                  <a:rPr lang="en-US" altLang="zh-CN" sz="1400" dirty="0"/>
                  <a:t>M=50</a:t>
                </a:r>
                <a:r>
                  <a:rPr lang="zh-CN" altLang="en-US" sz="1400" dirty="0"/>
                  <a:t>，价格水平为</a:t>
                </a:r>
                <a:r>
                  <a:rPr lang="en-US" altLang="zh-CN" sz="1400" dirty="0"/>
                  <a:t>P</a:t>
                </a:r>
                <a:r>
                  <a:rPr lang="zh-CN" altLang="en-US" sz="1400" dirty="0"/>
                  <a:t>。</a:t>
                </a:r>
                <a:endParaRPr lang="en-US" altLang="zh-CN" sz="1400" dirty="0"/>
              </a:p>
              <a:p>
                <a:r>
                  <a:rPr lang="en-US" altLang="zh-CN" sz="1400" dirty="0"/>
                  <a:t>1. </a:t>
                </a:r>
                <a:r>
                  <a:rPr lang="zh-CN" altLang="en-US" sz="1400" dirty="0"/>
                  <a:t>推导总需求曲线。</a:t>
                </a:r>
                <a:endParaRPr lang="en-US" altLang="zh-CN" sz="1400" dirty="0"/>
              </a:p>
              <a:p>
                <a:r>
                  <a:rPr lang="en-US" altLang="zh-CN" sz="1400" dirty="0"/>
                  <a:t>2. </a:t>
                </a:r>
                <a:r>
                  <a:rPr lang="zh-CN" altLang="en-US" sz="1400" dirty="0"/>
                  <a:t>当价格为</a:t>
                </a:r>
                <a:r>
                  <a:rPr lang="en-US" altLang="zh-CN" sz="1400" dirty="0"/>
                  <a:t>10</a:t>
                </a:r>
                <a:r>
                  <a:rPr lang="zh-CN" altLang="en-US" sz="1400" dirty="0"/>
                  <a:t>和</a:t>
                </a:r>
                <a:r>
                  <a:rPr lang="en-US" altLang="zh-CN" sz="1400" dirty="0"/>
                  <a:t>5</a:t>
                </a:r>
                <a:r>
                  <a:rPr lang="zh-CN" altLang="en-US" sz="1400" dirty="0"/>
                  <a:t>时，总需求分别为多少。</a:t>
                </a:r>
                <a:endParaRPr lang="en-US" altLang="zh-CN" sz="1400" dirty="0"/>
              </a:p>
              <a:p>
                <a:r>
                  <a:rPr lang="en-US" altLang="zh-CN" sz="1400" dirty="0"/>
                  <a:t>3. </a:t>
                </a:r>
                <a:r>
                  <a:rPr lang="zh-CN" altLang="en-US" sz="1400" dirty="0"/>
                  <a:t>推导政府购买增加</a:t>
                </a:r>
                <a:r>
                  <a:rPr lang="en-US" altLang="zh-CN" sz="1400" dirty="0"/>
                  <a:t>50</a:t>
                </a:r>
                <a:r>
                  <a:rPr lang="zh-CN" altLang="en-US" sz="1400" dirty="0"/>
                  <a:t>时的</a:t>
                </a:r>
                <a:r>
                  <a:rPr lang="en-US" altLang="zh-CN" sz="1400" dirty="0"/>
                  <a:t>AD</a:t>
                </a:r>
                <a:r>
                  <a:rPr lang="zh-CN" altLang="en-US" sz="1400" dirty="0"/>
                  <a:t>曲线，计算价格为</a:t>
                </a:r>
                <a:r>
                  <a:rPr lang="en-US" altLang="zh-CN" sz="1400" dirty="0"/>
                  <a:t>10</a:t>
                </a:r>
                <a:r>
                  <a:rPr lang="zh-CN" altLang="en-US" sz="1400" dirty="0"/>
                  <a:t>和</a:t>
                </a:r>
                <a:r>
                  <a:rPr lang="en-US" altLang="zh-CN" sz="1400" dirty="0"/>
                  <a:t>5</a:t>
                </a:r>
                <a:r>
                  <a:rPr lang="zh-CN" altLang="en-US" sz="1400" dirty="0"/>
                  <a:t>时的总需求。</a:t>
                </a:r>
                <a:endParaRPr lang="en-US" altLang="zh-CN" sz="1400" dirty="0"/>
              </a:p>
              <a:p>
                <a:r>
                  <a:rPr lang="en-US" altLang="zh-CN" sz="1400" dirty="0"/>
                  <a:t>4. </a:t>
                </a:r>
                <a:r>
                  <a:rPr lang="zh-CN" altLang="en-US" sz="1400" dirty="0"/>
                  <a:t>推导货币供给增加</a:t>
                </a:r>
                <a:r>
                  <a:rPr lang="en-US" altLang="zh-CN" sz="1400" dirty="0"/>
                  <a:t>20</a:t>
                </a:r>
                <a:r>
                  <a:rPr lang="zh-CN" altLang="en-US" sz="1400" dirty="0"/>
                  <a:t>时的</a:t>
                </a:r>
                <a:r>
                  <a:rPr lang="en-US" altLang="zh-CN" sz="1400" dirty="0"/>
                  <a:t>AD</a:t>
                </a:r>
                <a:r>
                  <a:rPr lang="zh-CN" altLang="en-US" sz="1400" dirty="0"/>
                  <a:t>曲线，计算价格为</a:t>
                </a:r>
                <a:r>
                  <a:rPr lang="en-US" altLang="zh-CN" sz="1400" dirty="0"/>
                  <a:t>10</a:t>
                </a:r>
                <a:r>
                  <a:rPr lang="zh-CN" altLang="en-US" sz="1400" dirty="0"/>
                  <a:t>和</a:t>
                </a:r>
                <a:r>
                  <a:rPr lang="en-US" altLang="zh-CN" sz="1400" dirty="0"/>
                  <a:t>5</a:t>
                </a:r>
                <a:r>
                  <a:rPr lang="zh-CN" altLang="en-US" sz="1400" dirty="0"/>
                  <a:t>时的总需求。</a:t>
                </a: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7"/>
                <a:ext cx="4110356" cy="2437294"/>
              </a:xfrm>
              <a:blipFill>
                <a:blip r:embed="rId2"/>
                <a:stretch>
                  <a:fillRect l="-615" t="-1554" b="-4663"/>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63765598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9142" y="4812"/>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18</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总需求函数：参考答案</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mc:Choice xmlns:a14="http://schemas.microsoft.com/office/drawing/2010/main"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2437294"/>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en-US" altLang="zh-CN" sz="1000" dirty="0"/>
                  <a:t>1.</a:t>
                </a:r>
                <a:r>
                  <a:rPr lang="zh-CN" altLang="en-US" sz="1000" dirty="0"/>
                  <a:t> </a:t>
                </a:r>
                <a:r>
                  <a:rPr lang="en-US" altLang="zh-CN" sz="1000" dirty="0"/>
                  <a:t>IS</a:t>
                </a:r>
                <a:r>
                  <a:rPr lang="zh-CN" altLang="en-US" sz="1000" dirty="0"/>
                  <a:t>方程：</a:t>
                </a:r>
                <a:endParaRPr lang="en-US" altLang="zh-CN" sz="1000" dirty="0"/>
              </a:p>
              <a:p>
                <a:r>
                  <a:rPr lang="en-US" altLang="zh-CN" sz="1000" dirty="0"/>
                  <a:t>Y=C+I+G=100+0.75Y+20-2r+50</a:t>
                </a:r>
              </a:p>
              <a:p>
                <a:r>
                  <a:rPr lang="en-US" altLang="zh-CN" sz="1000" dirty="0"/>
                  <a:t>Y=850-10r</a:t>
                </a:r>
                <a:r>
                  <a:rPr lang="zh-CN" altLang="en-US" sz="1000" dirty="0"/>
                  <a:t> </a:t>
                </a:r>
                <a:endParaRPr lang="en-US" altLang="zh-CN" sz="1000" dirty="0"/>
              </a:p>
              <a:p>
                <a:pPr marL="0" indent="0">
                  <a:buNone/>
                </a:pPr>
                <a:r>
                  <a:rPr lang="en-US" altLang="zh-CN" sz="1000" dirty="0"/>
                  <a:t>LM</a:t>
                </a:r>
                <a:r>
                  <a:rPr lang="zh-CN" altLang="en-US" sz="1000" dirty="0"/>
                  <a:t>方程：</a:t>
                </a:r>
                <a:r>
                  <a:rPr lang="en-US" altLang="zh-CN" sz="1000" dirty="0"/>
                  <a:t>50/P= </a:t>
                </a:r>
                <a14:m>
                  <m:oMath xmlns:m="http://schemas.openxmlformats.org/officeDocument/2006/math">
                    <m:r>
                      <a:rPr lang="en-US" altLang="zh-CN" sz="1000" i="1">
                        <a:latin typeface="Cambria Math" panose="02040503050406030204" pitchFamily="18" charset="0"/>
                      </a:rPr>
                      <m:t>0.2</m:t>
                    </m:r>
                    <m:r>
                      <a:rPr lang="en-US" altLang="zh-CN" sz="1000" i="1">
                        <a:latin typeface="Cambria Math" panose="02040503050406030204" pitchFamily="18" charset="0"/>
                      </a:rPr>
                      <m:t>𝑌</m:t>
                    </m:r>
                    <m:r>
                      <a:rPr lang="en-US" altLang="zh-CN" sz="1000" i="1">
                        <a:latin typeface="Cambria Math" panose="02040503050406030204" pitchFamily="18" charset="0"/>
                      </a:rPr>
                      <m:t>−0.5</m:t>
                    </m:r>
                    <m:r>
                      <a:rPr lang="en-US" altLang="zh-CN" sz="1000" i="1">
                        <a:latin typeface="Cambria Math" panose="02040503050406030204" pitchFamily="18" charset="0"/>
                      </a:rPr>
                      <m:t>𝑟</m:t>
                    </m:r>
                  </m:oMath>
                </a14:m>
                <a:endParaRPr lang="en-US" altLang="zh-CN" sz="1000" dirty="0"/>
              </a:p>
              <a:p>
                <a:pPr marL="0" indent="0">
                  <a:buNone/>
                </a:pPr>
                <a:r>
                  <a:rPr lang="zh-CN" altLang="en-US" sz="1000" dirty="0"/>
                  <a:t>联立方程可以得到</a:t>
                </a:r>
                <a:r>
                  <a:rPr lang="en-US" altLang="zh-CN" sz="1000" dirty="0"/>
                  <a:t>AD</a:t>
                </a:r>
                <a:r>
                  <a:rPr lang="zh-CN" altLang="en-US" sz="1000" dirty="0"/>
                  <a:t>曲线方程为：</a:t>
                </a:r>
                <a:endParaRPr lang="en-US" altLang="zh-CN" sz="1000" dirty="0"/>
              </a:p>
              <a:p>
                <a:pPr marL="0" indent="0">
                  <a:buNone/>
                </a:pPr>
                <a14:m>
                  <m:oMathPara xmlns:m="http://schemas.openxmlformats.org/officeDocument/2006/math">
                    <m:oMathParaPr>
                      <m:jc m:val="centerGroup"/>
                    </m:oMathParaPr>
                    <m:oMath xmlns:m="http://schemas.openxmlformats.org/officeDocument/2006/math">
                      <m:r>
                        <m:rPr>
                          <m:sty m:val="p"/>
                        </m:rPr>
                        <a:rPr lang="en-US" altLang="zh-CN" sz="1000" i="1">
                          <a:latin typeface="Cambria Math" panose="02040503050406030204" pitchFamily="18" charset="0"/>
                        </a:rPr>
                        <m:t>Y</m:t>
                      </m:r>
                      <m:r>
                        <a:rPr lang="en-US" altLang="zh-CN" sz="1000" b="0" i="1" dirty="0" smtClean="0">
                          <a:latin typeface="Cambria Math" panose="02040503050406030204" pitchFamily="18" charset="0"/>
                        </a:rPr>
                        <m:t>=</m:t>
                      </m:r>
                      <m:f>
                        <m:fPr>
                          <m:ctrlPr>
                            <a:rPr lang="en-US" altLang="zh-CN" sz="1000" i="1" dirty="0">
                              <a:latin typeface="Cambria Math" panose="02040503050406030204" pitchFamily="18" charset="0"/>
                            </a:rPr>
                          </m:ctrlPr>
                        </m:fPr>
                        <m:num>
                          <m:r>
                            <a:rPr lang="en-US" altLang="zh-CN" sz="1000" i="1" dirty="0">
                              <a:latin typeface="Cambria Math" panose="02040503050406030204" pitchFamily="18" charset="0"/>
                            </a:rPr>
                            <m:t>200</m:t>
                          </m:r>
                        </m:num>
                        <m:den>
                          <m:r>
                            <m:rPr>
                              <m:sty m:val="p"/>
                            </m:rPr>
                            <a:rPr lang="en-US" altLang="zh-CN" sz="1000" i="1" dirty="0">
                              <a:latin typeface="Cambria Math" panose="02040503050406030204" pitchFamily="18" charset="0"/>
                            </a:rPr>
                            <m:t>P</m:t>
                          </m:r>
                        </m:den>
                      </m:f>
                      <m:r>
                        <a:rPr lang="en-US" altLang="zh-CN" sz="1000" b="0" i="1" dirty="0" smtClean="0">
                          <a:latin typeface="Cambria Math" panose="02040503050406030204" pitchFamily="18" charset="0"/>
                        </a:rPr>
                        <m:t>+</m:t>
                      </m:r>
                      <m:r>
                        <a:rPr lang="en-US" altLang="zh-CN" sz="1000" b="0" i="1" smtClean="0">
                          <a:latin typeface="Cambria Math" panose="02040503050406030204" pitchFamily="18" charset="0"/>
                        </a:rPr>
                        <m:t>170</m:t>
                      </m:r>
                    </m:oMath>
                  </m:oMathPara>
                </a14:m>
                <a:endParaRPr lang="en-US" altLang="zh-CN" sz="1000" dirty="0"/>
              </a:p>
              <a:p>
                <a:pPr marL="0" indent="0">
                  <a:buNone/>
                </a:pPr>
                <a:r>
                  <a:rPr lang="en-US" altLang="zh-CN" sz="1000" dirty="0"/>
                  <a:t>2.</a:t>
                </a:r>
                <a:r>
                  <a:rPr lang="zh-CN" altLang="en-US" sz="1000" dirty="0"/>
                  <a:t>当价格为</a:t>
                </a:r>
                <a:r>
                  <a:rPr lang="en-US" altLang="zh-CN" sz="1000" dirty="0"/>
                  <a:t>10</a:t>
                </a:r>
                <a:r>
                  <a:rPr lang="zh-CN" altLang="en-US" sz="1000" dirty="0"/>
                  <a:t>和</a:t>
                </a:r>
                <a:r>
                  <a:rPr lang="en-US" altLang="zh-CN" sz="1000" dirty="0"/>
                  <a:t>5</a:t>
                </a:r>
                <a:r>
                  <a:rPr lang="zh-CN" altLang="en-US" sz="1000" dirty="0"/>
                  <a:t>时，总需求分别为</a:t>
                </a:r>
                <a:r>
                  <a:rPr lang="en-US" altLang="zh-CN" sz="1000" dirty="0"/>
                  <a:t>190</a:t>
                </a:r>
                <a:r>
                  <a:rPr lang="zh-CN" altLang="en-US" sz="1000" dirty="0"/>
                  <a:t>和</a:t>
                </a:r>
                <a:r>
                  <a:rPr lang="en-US" altLang="zh-CN" sz="1000" dirty="0"/>
                  <a:t>210.</a:t>
                </a:r>
              </a:p>
              <a:p>
                <a:pPr marL="0" indent="0">
                  <a:buNone/>
                </a:pPr>
                <a:r>
                  <a:rPr lang="en-US" altLang="zh-CN" sz="1000" dirty="0"/>
                  <a:t>3.IS</a:t>
                </a:r>
                <a:r>
                  <a:rPr lang="zh-CN" altLang="en-US" sz="1000" dirty="0"/>
                  <a:t>：</a:t>
                </a:r>
                <a:r>
                  <a:rPr lang="en-US" altLang="zh-CN" sz="1000" dirty="0"/>
                  <a:t>Y=1100-10r   AD</a:t>
                </a:r>
                <a:r>
                  <a:rPr lang="zh-CN" altLang="en-US" sz="1000" dirty="0"/>
                  <a:t>：</a:t>
                </a:r>
                <a:r>
                  <a:rPr lang="en-US" altLang="zh-CN" sz="1000" dirty="0"/>
                  <a:t>Y=220+200/P</a:t>
                </a:r>
              </a:p>
              <a:p>
                <a:pPr marL="0" indent="0">
                  <a:buNone/>
                </a:pPr>
                <a:r>
                  <a:rPr lang="en-US" altLang="zh-CN" sz="1000" dirty="0"/>
                  <a:t>4.LM</a:t>
                </a:r>
                <a:r>
                  <a:rPr lang="zh-CN" altLang="en-US" sz="1000" dirty="0"/>
                  <a:t>：</a:t>
                </a:r>
                <a:r>
                  <a:rPr lang="en-US" altLang="zh-CN" sz="1000" dirty="0"/>
                  <a:t>70/P= </a:t>
                </a:r>
                <a14:m>
                  <m:oMath xmlns:m="http://schemas.openxmlformats.org/officeDocument/2006/math">
                    <m:r>
                      <a:rPr lang="en-US" altLang="zh-CN" sz="1000" i="1">
                        <a:latin typeface="Cambria Math" panose="02040503050406030204" pitchFamily="18" charset="0"/>
                      </a:rPr>
                      <m:t>0.2</m:t>
                    </m:r>
                    <m:r>
                      <a:rPr lang="en-US" altLang="zh-CN" sz="1000" i="1">
                        <a:latin typeface="Cambria Math" panose="02040503050406030204" pitchFamily="18" charset="0"/>
                      </a:rPr>
                      <m:t>𝑌</m:t>
                    </m:r>
                    <m:r>
                      <a:rPr lang="en-US" altLang="zh-CN" sz="1000" i="1">
                        <a:latin typeface="Cambria Math" panose="02040503050406030204" pitchFamily="18" charset="0"/>
                      </a:rPr>
                      <m:t>−0.5</m:t>
                    </m:r>
                    <m:r>
                      <a:rPr lang="en-US" altLang="zh-CN" sz="1000" i="1">
                        <a:latin typeface="Cambria Math" panose="02040503050406030204" pitchFamily="18" charset="0"/>
                      </a:rPr>
                      <m:t>𝑟</m:t>
                    </m:r>
                  </m:oMath>
                </a14:m>
                <a:r>
                  <a:rPr lang="en-US" altLang="zh-CN" sz="1000" dirty="0"/>
                  <a:t>   AD</a:t>
                </a:r>
                <a:r>
                  <a:rPr lang="zh-CN" altLang="en-US" sz="1000" dirty="0"/>
                  <a:t>：</a:t>
                </a:r>
                <a:r>
                  <a:rPr lang="en-US" altLang="zh-CN" sz="1000" dirty="0"/>
                  <a:t>Y=170+280​/P</a:t>
                </a:r>
              </a:p>
              <a:p>
                <a:pPr marL="0" indent="0">
                  <a:buNone/>
                </a:pPr>
                <a:endParaRPr lang="en-US" altLang="zh-CN" sz="1000" dirty="0"/>
              </a:p>
            </p:txBody>
          </p:sp>
        </mc:Choice>
        <mc:Fallback>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7"/>
                <a:ext cx="4110356" cy="2437294"/>
              </a:xfrm>
              <a:blipFill>
                <a:blip r:embed="rId2"/>
                <a:stretch>
                  <a:fillRect t="-250"/>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187552712"/>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E709A91-F677-D99B-84DB-8F9EF812674C}"/>
              </a:ext>
            </a:extLst>
          </p:cNvPr>
          <p:cNvSpPr/>
          <p:nvPr/>
        </p:nvSpPr>
        <p:spPr>
          <a:xfrm>
            <a:off x="0" y="1154311"/>
            <a:ext cx="4610100" cy="57606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3"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defTabSz="23052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ea typeface="等线" panose="02010600030101010101" pitchFamily="2" charset="-122"/>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solidFill>
                <a:prstClr val="black"/>
              </a:solidFill>
              <a:latin typeface="Times New Roman"/>
              <a:cs typeface="Times New Roman"/>
            </a:endParaRPr>
          </a:p>
        </p:txBody>
      </p:sp>
      <p:sp>
        <p:nvSpPr>
          <p:cNvPr id="4" name="文本框 3">
            <a:extLst>
              <a:ext uri="{FF2B5EF4-FFF2-40B4-BE49-F238E27FC236}">
                <a16:creationId xmlns:a16="http://schemas.microsoft.com/office/drawing/2014/main" id="{AC21A519-07F0-8968-038B-EF91CCC02214}"/>
              </a:ext>
            </a:extLst>
          </p:cNvPr>
          <p:cNvSpPr txBox="1"/>
          <p:nvPr/>
        </p:nvSpPr>
        <p:spPr>
          <a:xfrm>
            <a:off x="144810" y="1154311"/>
            <a:ext cx="4320480" cy="482440"/>
          </a:xfrm>
          <a:prstGeom prst="rect">
            <a:avLst/>
          </a:prstGeom>
          <a:noFill/>
        </p:spPr>
        <p:txBody>
          <a:bodyPr wrap="square">
            <a:spAutoFit/>
          </a:bodyPr>
          <a:lstStyle/>
          <a:p>
            <a:pPr algn="ctr" fontAlgn="base">
              <a:lnSpc>
                <a:spcPct val="150000"/>
              </a:lnSpc>
              <a:spcBef>
                <a:spcPct val="0"/>
              </a:spcBef>
              <a:spcAft>
                <a:spcPct val="0"/>
              </a:spcAft>
            </a:pPr>
            <a:r>
              <a:rPr kumimoji="1" lang="zh-CN" altLang="en-US" sz="1916" dirty="0">
                <a:latin typeface="Microsoft YaHei" panose="020B0503020204020204" pitchFamily="34" charset="-122"/>
                <a:ea typeface="Microsoft YaHei" panose="020B0503020204020204" pitchFamily="34" charset="-122"/>
                <a:cs typeface="+mj-cs"/>
              </a:rPr>
              <a:t>第</a:t>
            </a:r>
            <a:r>
              <a:rPr kumimoji="1" lang="en-US" altLang="zh-CN" sz="1916" dirty="0">
                <a:latin typeface="Microsoft YaHei" panose="020B0503020204020204" pitchFamily="34" charset="-122"/>
                <a:ea typeface="Microsoft YaHei" panose="020B0503020204020204" pitchFamily="34" charset="-122"/>
                <a:cs typeface="+mj-cs"/>
              </a:rPr>
              <a:t>2</a:t>
            </a:r>
            <a:r>
              <a:rPr kumimoji="1" lang="zh-CN" altLang="en-US" sz="1916" dirty="0">
                <a:latin typeface="Microsoft YaHei" panose="020B0503020204020204" pitchFamily="34" charset="-122"/>
                <a:ea typeface="Microsoft YaHei" panose="020B0503020204020204" pitchFamily="34" charset="-122"/>
                <a:cs typeface="+mj-cs"/>
              </a:rPr>
              <a:t>节  总供给曲线</a:t>
            </a:r>
          </a:p>
        </p:txBody>
      </p:sp>
    </p:spTree>
    <p:extLst>
      <p:ext uri="{BB962C8B-B14F-4D97-AF65-F5344CB8AC3E}">
        <p14:creationId xmlns:p14="http://schemas.microsoft.com/office/powerpoint/2010/main" val="621081849"/>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A09EF-721C-41A9-A4ED-38E7EBCA36CA}"/>
              </a:ext>
            </a:extLst>
          </p:cNvPr>
          <p:cNvSpPr>
            <a:spLocks noGrp="1"/>
          </p:cNvSpPr>
          <p:nvPr>
            <p:ph type="title"/>
          </p:nvPr>
        </p:nvSpPr>
        <p:spPr/>
        <p:txBody>
          <a:bodyPr/>
          <a:lstStyle/>
          <a:p>
            <a:r>
              <a:rPr lang="zh-CN" altLang="en-US" dirty="0"/>
              <a:t>本节概要</a:t>
            </a:r>
          </a:p>
        </p:txBody>
      </p:sp>
      <p:sp>
        <p:nvSpPr>
          <p:cNvPr id="3" name="内容占位符 2">
            <a:extLst>
              <a:ext uri="{FF2B5EF4-FFF2-40B4-BE49-F238E27FC236}">
                <a16:creationId xmlns:a16="http://schemas.microsoft.com/office/drawing/2014/main" id="{7154353C-EE66-4D68-ABAB-28388F912AFB}"/>
              </a:ext>
            </a:extLst>
          </p:cNvPr>
          <p:cNvSpPr>
            <a:spLocks noGrp="1"/>
          </p:cNvSpPr>
          <p:nvPr>
            <p:ph idx="1"/>
          </p:nvPr>
        </p:nvSpPr>
        <p:spPr/>
        <p:txBody>
          <a:bodyPr/>
          <a:lstStyle/>
          <a:p>
            <a:r>
              <a:rPr lang="zh-CN" altLang="en-US" dirty="0"/>
              <a:t>总供给曲线描述的是</a:t>
            </a:r>
            <a:r>
              <a:rPr lang="zh-CN" altLang="en-US" b="1" dirty="0"/>
              <a:t>在各个价格水平上，厂商愿意供给的产出数量</a:t>
            </a:r>
            <a:r>
              <a:rPr lang="zh-CN" altLang="en-US" dirty="0"/>
              <a:t>。</a:t>
            </a:r>
            <a:endParaRPr lang="en-US" altLang="zh-CN" dirty="0"/>
          </a:p>
          <a:p>
            <a:r>
              <a:rPr lang="zh-CN" altLang="en-US" dirty="0"/>
              <a:t>在</a:t>
            </a:r>
            <a:r>
              <a:rPr lang="zh-CN" altLang="en-US" b="1" dirty="0"/>
              <a:t>短期与长期</a:t>
            </a:r>
            <a:r>
              <a:rPr lang="zh-CN" altLang="en-US" dirty="0"/>
              <a:t>，总供给曲线的斜率是不同的。</a:t>
            </a:r>
            <a:endParaRPr lang="en-US" altLang="zh-CN" dirty="0"/>
          </a:p>
          <a:p>
            <a:r>
              <a:rPr lang="zh-CN" altLang="en-US" dirty="0"/>
              <a:t>按照货币工资（</a:t>
            </a:r>
            <a:r>
              <a:rPr lang="en-US" altLang="zh-CN" dirty="0"/>
              <a:t>W</a:t>
            </a:r>
            <a:r>
              <a:rPr lang="zh-CN" altLang="en-US" dirty="0"/>
              <a:t>）和价格水平（</a:t>
            </a:r>
            <a:r>
              <a:rPr lang="en-US" altLang="zh-CN" dirty="0"/>
              <a:t>P</a:t>
            </a:r>
            <a:r>
              <a:rPr lang="zh-CN" altLang="en-US" dirty="0"/>
              <a:t>）进行调整所要求的时间长短，宏观经济学将总产出与总价格水平之间的关系分为三种：</a:t>
            </a:r>
            <a:endParaRPr lang="en-US" altLang="zh-CN" dirty="0"/>
          </a:p>
          <a:p>
            <a:r>
              <a:rPr lang="en-US" altLang="zh-CN" dirty="0"/>
              <a:t>1. </a:t>
            </a:r>
            <a:r>
              <a:rPr lang="zh-CN" altLang="en-US" dirty="0"/>
              <a:t>古典总供给曲线</a:t>
            </a:r>
            <a:endParaRPr lang="en-US" altLang="zh-CN" dirty="0"/>
          </a:p>
          <a:p>
            <a:r>
              <a:rPr lang="en-US" altLang="zh-CN" dirty="0"/>
              <a:t>2. </a:t>
            </a:r>
            <a:r>
              <a:rPr lang="zh-CN" altLang="en-US" dirty="0"/>
              <a:t>凯恩斯总供给曲线</a:t>
            </a:r>
            <a:endParaRPr lang="en-US" altLang="zh-CN" dirty="0"/>
          </a:p>
          <a:p>
            <a:r>
              <a:rPr lang="en-US" altLang="zh-CN" dirty="0"/>
              <a:t>3. </a:t>
            </a:r>
            <a:r>
              <a:rPr lang="zh-CN" altLang="en-US" dirty="0"/>
              <a:t>常规总供给曲线</a:t>
            </a:r>
            <a:endParaRPr lang="en-US" altLang="zh-CN" dirty="0"/>
          </a:p>
        </p:txBody>
      </p:sp>
      <p:sp>
        <p:nvSpPr>
          <p:cNvPr id="6" name="灯片编号占位符 5">
            <a:extLst>
              <a:ext uri="{FF2B5EF4-FFF2-40B4-BE49-F238E27FC236}">
                <a16:creationId xmlns:a16="http://schemas.microsoft.com/office/drawing/2014/main" id="{CDFB07B0-E6D5-4D91-87B5-EA86D3EDE164}"/>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20</a:t>
            </a:fld>
            <a:endParaRPr lang="zh-CN" altLang="en-US"/>
          </a:p>
        </p:txBody>
      </p:sp>
      <p:sp>
        <p:nvSpPr>
          <p:cNvPr id="7" name="Rectangle 6">
            <a:extLst>
              <a:ext uri="{FF2B5EF4-FFF2-40B4-BE49-F238E27FC236}">
                <a16:creationId xmlns:a16="http://schemas.microsoft.com/office/drawing/2014/main" id="{FC52CFFA-D3E4-237D-2736-17DEB886C294}"/>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AB58AB05-C0E2-B29B-802A-6D086AF028BA}"/>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009001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2879" y="127376"/>
            <a:ext cx="4240332" cy="378863"/>
          </a:xfrm>
        </p:spPr>
        <p:txBody>
          <a:bodyPr/>
          <a:lstStyle/>
          <a:p>
            <a:r>
              <a:rPr lang="zh-CN" altLang="en-US" dirty="0">
                <a:ln w="0"/>
                <a:effectLst>
                  <a:outerShdw blurRad="38100" dist="19050" dir="2700000" algn="tl" rotWithShape="0">
                    <a:schemeClr val="dk1">
                      <a:alpha val="40000"/>
                    </a:schemeClr>
                  </a:outerShdw>
                </a:effectLst>
              </a:rPr>
              <a:t>总供给曲线</a:t>
            </a:r>
            <a:r>
              <a:rPr lang="en-US" altLang="zh-CN" dirty="0">
                <a:ln w="0"/>
                <a:effectLst>
                  <a:outerShdw blurRad="38100" dist="19050" dir="2700000" algn="tl" rotWithShape="0">
                    <a:schemeClr val="dk1">
                      <a:alpha val="40000"/>
                    </a:schemeClr>
                  </a:outerShdw>
                </a:effectLst>
              </a:rPr>
              <a:t>aggregate</a:t>
            </a:r>
            <a:r>
              <a:rPr lang="zh-CN" altLang="en-US" dirty="0">
                <a:ln w="0"/>
                <a:effectLst>
                  <a:outerShdw blurRad="38100" dist="19050" dir="2700000" algn="tl" rotWithShape="0">
                    <a:schemeClr val="dk1">
                      <a:alpha val="40000"/>
                    </a:schemeClr>
                  </a:outerShdw>
                </a:effectLst>
              </a:rPr>
              <a:t> </a:t>
            </a:r>
            <a:r>
              <a:rPr lang="en-US" altLang="zh-CN" dirty="0">
                <a:ln w="0"/>
                <a:effectLst>
                  <a:outerShdw blurRad="38100" dist="19050" dir="2700000" algn="tl" rotWithShape="0">
                    <a:schemeClr val="dk1">
                      <a:alpha val="40000"/>
                    </a:schemeClr>
                  </a:outerShdw>
                </a:effectLst>
              </a:rPr>
              <a:t>supply</a:t>
            </a:r>
            <a:r>
              <a:rPr lang="zh-CN" altLang="en-US" dirty="0">
                <a:ln w="0"/>
                <a:effectLst>
                  <a:outerShdw blurRad="38100" dist="19050" dir="2700000" algn="tl" rotWithShape="0">
                    <a:schemeClr val="dk1">
                      <a:alpha val="40000"/>
                    </a:schemeClr>
                  </a:outerShdw>
                </a:effectLst>
              </a:rPr>
              <a:t> </a:t>
            </a:r>
            <a:r>
              <a:rPr lang="en-US" altLang="zh-CN" dirty="0">
                <a:ln w="0"/>
                <a:effectLst>
                  <a:outerShdw blurRad="38100" dist="19050" dir="2700000" algn="tl" rotWithShape="0">
                    <a:schemeClr val="dk1">
                      <a:alpha val="40000"/>
                    </a:schemeClr>
                  </a:outerShdw>
                </a:effectLst>
              </a:rPr>
              <a:t>curve</a:t>
            </a:r>
            <a:endParaRPr lang="zh-CN" altLang="en-US" dirty="0">
              <a:ln w="0"/>
              <a:effectLst>
                <a:outerShdw blurRad="38100" dist="19050" dir="2700000" algn="tl" rotWithShape="0">
                  <a:schemeClr val="dk1">
                    <a:alpha val="40000"/>
                  </a:schemeClr>
                </a:outerShdw>
              </a:effectLst>
            </a:endParaRPr>
          </a:p>
        </p:txBody>
      </p:sp>
      <p:sp>
        <p:nvSpPr>
          <p:cNvPr id="3" name="内容占位符 2"/>
          <p:cNvSpPr>
            <a:spLocks noGrp="1"/>
          </p:cNvSpPr>
          <p:nvPr>
            <p:ph idx="1"/>
          </p:nvPr>
        </p:nvSpPr>
        <p:spPr>
          <a:xfrm>
            <a:off x="188086" y="506239"/>
            <a:ext cx="4191509" cy="2585204"/>
          </a:xfrm>
        </p:spPr>
        <p:txBody>
          <a:bodyPr/>
          <a:lstStyle/>
          <a:p>
            <a:r>
              <a:rPr lang="zh-CN" altLang="en-US" b="1" dirty="0"/>
              <a:t>总供给</a:t>
            </a:r>
            <a:r>
              <a:rPr lang="zh-CN" altLang="en-US" dirty="0"/>
              <a:t>曲线表示在</a:t>
            </a:r>
            <a:r>
              <a:rPr lang="zh-CN" altLang="en-US" u="sng" dirty="0"/>
              <a:t>每一种物价水平下</a:t>
            </a:r>
            <a:r>
              <a:rPr lang="zh-CN" altLang="en-US" dirty="0"/>
              <a:t>企业生产并销售的物品与服务的数量。</a:t>
            </a:r>
            <a:endParaRPr lang="en-US" altLang="zh-CN" dirty="0"/>
          </a:p>
          <a:p>
            <a:r>
              <a:rPr lang="zh-CN" altLang="en-US" dirty="0"/>
              <a:t>总供给曲线的走势取决于所考察</a:t>
            </a:r>
            <a:r>
              <a:rPr lang="zh-CN" altLang="en-US"/>
              <a:t>的时间长短。</a:t>
            </a:r>
            <a:endParaRPr lang="en-US" altLang="zh-CN" dirty="0"/>
          </a:p>
        </p:txBody>
      </p:sp>
      <p:sp>
        <p:nvSpPr>
          <p:cNvPr id="4" name="日期占位符 3"/>
          <p:cNvSpPr>
            <a:spLocks noGrp="1"/>
          </p:cNvSpPr>
          <p:nvPr>
            <p:ph type="dt" sz="half" idx="10"/>
          </p:nvPr>
        </p:nvSpPr>
        <p:spPr/>
        <p:txBody>
          <a:bodyPr/>
          <a:lstStyle/>
          <a:p>
            <a:pPr>
              <a:defRPr/>
            </a:pPr>
            <a:r>
              <a:rPr lang="en-US" altLang="zh-CN" dirty="0"/>
              <a:t>AS-AD</a:t>
            </a:r>
            <a:r>
              <a:rPr lang="zh-CN" altLang="en-US" dirty="0"/>
              <a:t>模型</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21</a:t>
            </a:fld>
            <a:endParaRPr lang="zh-CN" altLang="en-US"/>
          </a:p>
        </p:txBody>
      </p:sp>
    </p:spTree>
    <p:extLst>
      <p:ext uri="{BB962C8B-B14F-4D97-AF65-F5344CB8AC3E}">
        <p14:creationId xmlns:p14="http://schemas.microsoft.com/office/powerpoint/2010/main" val="1797833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451EE1-E621-B732-F901-1BDE309B576F}"/>
              </a:ext>
            </a:extLst>
          </p:cNvPr>
          <p:cNvSpPr>
            <a:spLocks noGrp="1"/>
          </p:cNvSpPr>
          <p:nvPr>
            <p:ph type="title"/>
          </p:nvPr>
        </p:nvSpPr>
        <p:spPr/>
        <p:txBody>
          <a:bodyPr/>
          <a:lstStyle/>
          <a:p>
            <a:r>
              <a:rPr kumimoji="1" lang="zh-CN" altLang="en-US" dirty="0"/>
              <a:t>宏观经济学中的时间维度 </a:t>
            </a:r>
          </a:p>
        </p:txBody>
      </p:sp>
      <p:sp>
        <p:nvSpPr>
          <p:cNvPr id="3" name="内容占位符 2">
            <a:extLst>
              <a:ext uri="{FF2B5EF4-FFF2-40B4-BE49-F238E27FC236}">
                <a16:creationId xmlns:a16="http://schemas.microsoft.com/office/drawing/2014/main" id="{E48C89F6-1575-8CAC-EA56-6BF4120F15FE}"/>
              </a:ext>
            </a:extLst>
          </p:cNvPr>
          <p:cNvSpPr>
            <a:spLocks noGrp="1"/>
          </p:cNvSpPr>
          <p:nvPr>
            <p:ph idx="1"/>
          </p:nvPr>
        </p:nvSpPr>
        <p:spPr>
          <a:xfrm>
            <a:off x="188086" y="508698"/>
            <a:ext cx="4191509" cy="1077661"/>
          </a:xfrm>
        </p:spPr>
        <p:txBody>
          <a:bodyPr/>
          <a:lstStyle/>
          <a:p>
            <a:r>
              <a:rPr kumimoji="1" lang="zh-CN" altLang="en-US" sz="1200" dirty="0"/>
              <a:t>短期经济波动是指生产能力既定的，技术固定不变的时期，资本存量固定，即生产能力既定的。</a:t>
            </a:r>
          </a:p>
          <a:p>
            <a:r>
              <a:rPr kumimoji="1" lang="zh-CN" altLang="en-US" sz="1200" dirty="0"/>
              <a:t>长期经济增长是指技术进步，资本积累同时发生。从长期需求而言，市场机制是完善的，会让供给、需求双方相等。</a:t>
            </a:r>
          </a:p>
          <a:p>
            <a:endParaRPr kumimoji="1" lang="zh-CN" altLang="en-US" sz="1200" dirty="0"/>
          </a:p>
        </p:txBody>
      </p:sp>
      <p:sp>
        <p:nvSpPr>
          <p:cNvPr id="4" name="页脚占位符 3">
            <a:extLst>
              <a:ext uri="{FF2B5EF4-FFF2-40B4-BE49-F238E27FC236}">
                <a16:creationId xmlns:a16="http://schemas.microsoft.com/office/drawing/2014/main" id="{B8362212-0A85-63F6-1B7A-BE515F4BC7BD}"/>
              </a:ext>
            </a:extLst>
          </p:cNvPr>
          <p:cNvSpPr>
            <a:spLocks noGrp="1"/>
          </p:cNvSpPr>
          <p:nvPr>
            <p:ph type="ftr" sz="quarter" idx="10"/>
          </p:nvPr>
        </p:nvSpPr>
        <p:spPr/>
        <p:txBody>
          <a:bodyPr/>
          <a:lstStyle/>
          <a:p>
            <a:r>
              <a:rPr lang="en-US" altLang="zh-CN" dirty="0"/>
              <a:t>AS- AD</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3CEC60B2-6D41-E5CE-BA8B-B3D0921DEA6D}"/>
              </a:ext>
            </a:extLst>
          </p:cNvPr>
          <p:cNvSpPr>
            <a:spLocks noGrp="1"/>
          </p:cNvSpPr>
          <p:nvPr>
            <p:ph type="sldNum" sz="quarter" idx="11"/>
          </p:nvPr>
        </p:nvSpPr>
        <p:spPr/>
        <p:txBody>
          <a:bodyPr/>
          <a:lstStyle/>
          <a:p>
            <a:fld id="{FF75CA96-F32A-7F4F-98C9-CA940BD9BB90}" type="slidenum">
              <a:rPr lang="zh-CN" altLang="zh-CN" smtClean="0"/>
              <a:pPr/>
              <a:t>22</a:t>
            </a:fld>
            <a:endParaRPr lang="en-US" altLang="zh-CN"/>
          </a:p>
        </p:txBody>
      </p:sp>
      <p:sp>
        <p:nvSpPr>
          <p:cNvPr id="7" name="文本框 6">
            <a:extLst>
              <a:ext uri="{FF2B5EF4-FFF2-40B4-BE49-F238E27FC236}">
                <a16:creationId xmlns:a16="http://schemas.microsoft.com/office/drawing/2014/main" id="{98E40598-07E2-62AD-66EE-58BF3EDFB89A}"/>
              </a:ext>
            </a:extLst>
          </p:cNvPr>
          <p:cNvSpPr txBox="1"/>
          <p:nvPr/>
        </p:nvSpPr>
        <p:spPr>
          <a:xfrm>
            <a:off x="955077" y="1782289"/>
            <a:ext cx="1080120" cy="400110"/>
          </a:xfrm>
          <a:prstGeom prst="rect">
            <a:avLst/>
          </a:prstGeom>
          <a:noFill/>
        </p:spPr>
        <p:txBody>
          <a:bodyPr wrap="square" rtlCol="0">
            <a:spAutoFit/>
          </a:bodyPr>
          <a:lstStyle/>
          <a:p>
            <a:r>
              <a:rPr kumimoji="1" lang="zh-CN" altLang="en-US" sz="1100" dirty="0">
                <a:latin typeface="KaiTi" panose="02010609060101010101" pitchFamily="49" charset="-122"/>
                <a:ea typeface="KaiTi" panose="02010609060101010101" pitchFamily="49" charset="-122"/>
              </a:rPr>
              <a:t>短期</a:t>
            </a:r>
            <a:endParaRPr kumimoji="1" lang="en-US" altLang="zh-CN" sz="1100" dirty="0">
              <a:latin typeface="KaiTi" panose="02010609060101010101" pitchFamily="49" charset="-122"/>
              <a:ea typeface="KaiTi" panose="02010609060101010101" pitchFamily="49" charset="-122"/>
            </a:endParaRPr>
          </a:p>
          <a:p>
            <a:r>
              <a:rPr kumimoji="1" lang="zh-CN" altLang="en-US" sz="900" u="sng" dirty="0">
                <a:latin typeface="KaiTi" panose="02010609060101010101" pitchFamily="49" charset="-122"/>
                <a:ea typeface="KaiTi" panose="02010609060101010101" pitchFamily="49" charset="-122"/>
              </a:rPr>
              <a:t>生产能力既定</a:t>
            </a:r>
          </a:p>
        </p:txBody>
      </p:sp>
      <p:sp>
        <p:nvSpPr>
          <p:cNvPr id="8" name="文本框 7">
            <a:extLst>
              <a:ext uri="{FF2B5EF4-FFF2-40B4-BE49-F238E27FC236}">
                <a16:creationId xmlns:a16="http://schemas.microsoft.com/office/drawing/2014/main" id="{9585B38F-D37C-8DD7-6173-B0528029275D}"/>
              </a:ext>
            </a:extLst>
          </p:cNvPr>
          <p:cNvSpPr txBox="1"/>
          <p:nvPr/>
        </p:nvSpPr>
        <p:spPr>
          <a:xfrm>
            <a:off x="955077" y="2475947"/>
            <a:ext cx="991061" cy="400110"/>
          </a:xfrm>
          <a:prstGeom prst="rect">
            <a:avLst/>
          </a:prstGeom>
          <a:noFill/>
        </p:spPr>
        <p:txBody>
          <a:bodyPr wrap="square" rtlCol="0">
            <a:spAutoFit/>
          </a:bodyPr>
          <a:lstStyle/>
          <a:p>
            <a:r>
              <a:rPr kumimoji="1" lang="zh-CN" altLang="en-US" sz="1100" dirty="0">
                <a:latin typeface="KaiTi" panose="02010609060101010101" pitchFamily="49" charset="-122"/>
                <a:ea typeface="KaiTi" panose="02010609060101010101" pitchFamily="49" charset="-122"/>
              </a:rPr>
              <a:t>长期</a:t>
            </a:r>
            <a:endParaRPr kumimoji="1" lang="en-US" altLang="zh-CN" sz="1100" dirty="0">
              <a:latin typeface="KaiTi" panose="02010609060101010101" pitchFamily="49" charset="-122"/>
              <a:ea typeface="KaiTi" panose="02010609060101010101" pitchFamily="49" charset="-122"/>
            </a:endParaRPr>
          </a:p>
          <a:p>
            <a:r>
              <a:rPr kumimoji="1" lang="zh-CN" altLang="en-US" sz="900" u="sng" dirty="0">
                <a:latin typeface="KaiTi" panose="02010609060101010101" pitchFamily="49" charset="-122"/>
                <a:ea typeface="KaiTi" panose="02010609060101010101" pitchFamily="49" charset="-122"/>
              </a:rPr>
              <a:t>生产能力的增长</a:t>
            </a:r>
          </a:p>
        </p:txBody>
      </p:sp>
      <p:sp>
        <p:nvSpPr>
          <p:cNvPr id="9" name="文本框 8">
            <a:extLst>
              <a:ext uri="{FF2B5EF4-FFF2-40B4-BE49-F238E27FC236}">
                <a16:creationId xmlns:a16="http://schemas.microsoft.com/office/drawing/2014/main" id="{717230F8-ECAD-381F-592C-E8DFAF63865A}"/>
              </a:ext>
            </a:extLst>
          </p:cNvPr>
          <p:cNvSpPr txBox="1"/>
          <p:nvPr/>
        </p:nvSpPr>
        <p:spPr>
          <a:xfrm>
            <a:off x="1935722" y="1473074"/>
            <a:ext cx="2495668"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技术既定：</a:t>
            </a:r>
            <a:r>
              <a:rPr kumimoji="1" lang="en-US" altLang="zh-CN" sz="1100" dirty="0" err="1">
                <a:latin typeface="Garamond" panose="02020404030301010803" pitchFamily="18" charset="0"/>
                <a:ea typeface="KaiTi" panose="02010609060101010101" pitchFamily="49" charset="-122"/>
              </a:rPr>
              <a:t>longrun</a:t>
            </a:r>
            <a:r>
              <a:rPr kumimoji="1" lang="en-US" altLang="zh-CN" sz="1100" dirty="0">
                <a:latin typeface="Garamond" panose="02020404030301010803" pitchFamily="18" charset="0"/>
                <a:ea typeface="KaiTi" panose="02010609060101010101" pitchFamily="49" charset="-122"/>
              </a:rPr>
              <a:t> </a:t>
            </a:r>
            <a:r>
              <a:rPr kumimoji="1" lang="zh-CN" altLang="en-US" sz="1100" dirty="0">
                <a:latin typeface="Garamond" panose="02020404030301010803" pitchFamily="18" charset="0"/>
                <a:ea typeface="KaiTi" panose="02010609060101010101" pitchFamily="49" charset="-122"/>
              </a:rPr>
              <a:t>价格灵活</a:t>
            </a:r>
          </a:p>
        </p:txBody>
      </p:sp>
      <p:sp>
        <p:nvSpPr>
          <p:cNvPr id="10" name="文本框 9">
            <a:extLst>
              <a:ext uri="{FF2B5EF4-FFF2-40B4-BE49-F238E27FC236}">
                <a16:creationId xmlns:a16="http://schemas.microsoft.com/office/drawing/2014/main" id="{F668123D-68EF-E099-91D6-AB40BD5BF037}"/>
              </a:ext>
            </a:extLst>
          </p:cNvPr>
          <p:cNvSpPr txBox="1"/>
          <p:nvPr/>
        </p:nvSpPr>
        <p:spPr>
          <a:xfrm>
            <a:off x="1935721" y="2016315"/>
            <a:ext cx="2495667"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资本存量既定：</a:t>
            </a:r>
            <a:r>
              <a:rPr kumimoji="1" lang="en-US" altLang="zh-CN" sz="1100" dirty="0" err="1">
                <a:latin typeface="Garamond" panose="02020404030301010803" pitchFamily="18" charset="0"/>
                <a:ea typeface="KaiTi" panose="02010609060101010101" pitchFamily="49" charset="-122"/>
              </a:rPr>
              <a:t>shortrun</a:t>
            </a:r>
            <a:r>
              <a:rPr kumimoji="1" lang="en-US" altLang="zh-CN" sz="1100" dirty="0">
                <a:latin typeface="Garamond" panose="02020404030301010803" pitchFamily="18" charset="0"/>
                <a:ea typeface="KaiTi" panose="02010609060101010101" pitchFamily="49" charset="-122"/>
              </a:rPr>
              <a:t> </a:t>
            </a:r>
            <a:r>
              <a:rPr kumimoji="1" lang="zh-CN" altLang="en-US" sz="1100" dirty="0">
                <a:latin typeface="Garamond" panose="02020404030301010803" pitchFamily="18" charset="0"/>
                <a:ea typeface="KaiTi" panose="02010609060101010101" pitchFamily="49" charset="-122"/>
              </a:rPr>
              <a:t>价格刚性</a:t>
            </a:r>
          </a:p>
        </p:txBody>
      </p:sp>
      <p:cxnSp>
        <p:nvCxnSpPr>
          <p:cNvPr id="11" name="直线箭头连接符 10">
            <a:extLst>
              <a:ext uri="{FF2B5EF4-FFF2-40B4-BE49-F238E27FC236}">
                <a16:creationId xmlns:a16="http://schemas.microsoft.com/office/drawing/2014/main" id="{0A2BB1D6-913F-C30D-31B6-C17AA70F09D0}"/>
              </a:ext>
            </a:extLst>
          </p:cNvPr>
          <p:cNvCxnSpPr>
            <a:cxnSpLocks/>
            <a:endCxn id="7" idx="1"/>
          </p:cNvCxnSpPr>
          <p:nvPr/>
        </p:nvCxnSpPr>
        <p:spPr>
          <a:xfrm flipV="1">
            <a:off x="667045" y="1982344"/>
            <a:ext cx="288032" cy="3171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箭头连接符 11">
            <a:extLst>
              <a:ext uri="{FF2B5EF4-FFF2-40B4-BE49-F238E27FC236}">
                <a16:creationId xmlns:a16="http://schemas.microsoft.com/office/drawing/2014/main" id="{24C9F2FF-A63A-3465-A941-C5F0BA8476BC}"/>
              </a:ext>
            </a:extLst>
          </p:cNvPr>
          <p:cNvCxnSpPr>
            <a:endCxn id="8" idx="1"/>
          </p:cNvCxnSpPr>
          <p:nvPr/>
        </p:nvCxnSpPr>
        <p:spPr>
          <a:xfrm>
            <a:off x="667045" y="2331310"/>
            <a:ext cx="288032" cy="3446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左大括号 12">
            <a:extLst>
              <a:ext uri="{FF2B5EF4-FFF2-40B4-BE49-F238E27FC236}">
                <a16:creationId xmlns:a16="http://schemas.microsoft.com/office/drawing/2014/main" id="{9EFCBFA0-E017-E528-D978-1EAD10000C55}"/>
              </a:ext>
            </a:extLst>
          </p:cNvPr>
          <p:cNvSpPr/>
          <p:nvPr/>
        </p:nvSpPr>
        <p:spPr>
          <a:xfrm>
            <a:off x="1772612" y="1639098"/>
            <a:ext cx="188557" cy="544126"/>
          </a:xfrm>
          <a:prstGeom prst="leftBrace">
            <a:avLst>
              <a:gd name="adj1" fmla="val 3190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785B6281-6B55-E6AC-DB37-B699CC5E6438}"/>
              </a:ext>
            </a:extLst>
          </p:cNvPr>
          <p:cNvSpPr txBox="1"/>
          <p:nvPr/>
        </p:nvSpPr>
        <p:spPr>
          <a:xfrm>
            <a:off x="2035198" y="2339262"/>
            <a:ext cx="2495668"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技术进步</a:t>
            </a:r>
          </a:p>
        </p:txBody>
      </p:sp>
      <p:sp>
        <p:nvSpPr>
          <p:cNvPr id="15" name="文本框 14">
            <a:extLst>
              <a:ext uri="{FF2B5EF4-FFF2-40B4-BE49-F238E27FC236}">
                <a16:creationId xmlns:a16="http://schemas.microsoft.com/office/drawing/2014/main" id="{41B04C5B-8EDB-A452-6A19-2145A08E88D3}"/>
              </a:ext>
            </a:extLst>
          </p:cNvPr>
          <p:cNvSpPr txBox="1"/>
          <p:nvPr/>
        </p:nvSpPr>
        <p:spPr>
          <a:xfrm>
            <a:off x="2035197" y="2882503"/>
            <a:ext cx="2495667"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假设供求相等</a:t>
            </a:r>
          </a:p>
        </p:txBody>
      </p:sp>
      <p:sp>
        <p:nvSpPr>
          <p:cNvPr id="16" name="左大括号 15">
            <a:extLst>
              <a:ext uri="{FF2B5EF4-FFF2-40B4-BE49-F238E27FC236}">
                <a16:creationId xmlns:a16="http://schemas.microsoft.com/office/drawing/2014/main" id="{D02AE22D-3566-0280-36F1-8513996FB438}"/>
              </a:ext>
            </a:extLst>
          </p:cNvPr>
          <p:cNvSpPr/>
          <p:nvPr/>
        </p:nvSpPr>
        <p:spPr>
          <a:xfrm>
            <a:off x="1872088" y="2505286"/>
            <a:ext cx="188557" cy="544126"/>
          </a:xfrm>
          <a:prstGeom prst="leftBrace">
            <a:avLst>
              <a:gd name="adj1" fmla="val 3190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5A52F06F-31EC-C53C-48AD-C86145881C8E}"/>
              </a:ext>
            </a:extLst>
          </p:cNvPr>
          <p:cNvSpPr txBox="1"/>
          <p:nvPr/>
        </p:nvSpPr>
        <p:spPr>
          <a:xfrm>
            <a:off x="2035321" y="2610882"/>
            <a:ext cx="827828"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资本积累</a:t>
            </a:r>
          </a:p>
        </p:txBody>
      </p:sp>
      <p:sp>
        <p:nvSpPr>
          <p:cNvPr id="18" name="文本框 17">
            <a:extLst>
              <a:ext uri="{FF2B5EF4-FFF2-40B4-BE49-F238E27FC236}">
                <a16:creationId xmlns:a16="http://schemas.microsoft.com/office/drawing/2014/main" id="{B73CF8C0-200E-4AB8-8C30-53AA7A98C962}"/>
              </a:ext>
            </a:extLst>
          </p:cNvPr>
          <p:cNvSpPr txBox="1"/>
          <p:nvPr/>
        </p:nvSpPr>
        <p:spPr>
          <a:xfrm>
            <a:off x="3165375" y="2579070"/>
            <a:ext cx="1365489" cy="261610"/>
          </a:xfrm>
          <a:prstGeom prst="rect">
            <a:avLst/>
          </a:prstGeom>
          <a:noFill/>
        </p:spPr>
        <p:txBody>
          <a:bodyPr wrap="square" rtlCol="0">
            <a:spAutoFit/>
          </a:bodyPr>
          <a:lstStyle/>
          <a:p>
            <a:r>
              <a:rPr kumimoji="1" lang="en-US" altLang="zh-CN" sz="1100" dirty="0">
                <a:latin typeface="Garamond" panose="02020404030301010803" pitchFamily="18" charset="0"/>
                <a:ea typeface="KaiTi" panose="02010609060101010101" pitchFamily="49" charset="-122"/>
              </a:rPr>
              <a:t>The very long run </a:t>
            </a:r>
            <a:endParaRPr kumimoji="1" lang="zh-CN" altLang="en-US" sz="1100" dirty="0">
              <a:latin typeface="Garamond" panose="02020404030301010803" pitchFamily="18" charset="0"/>
              <a:ea typeface="KaiTi" panose="02010609060101010101" pitchFamily="49" charset="-122"/>
            </a:endParaRPr>
          </a:p>
        </p:txBody>
      </p:sp>
      <p:sp>
        <p:nvSpPr>
          <p:cNvPr id="19" name="左大括号 18">
            <a:extLst>
              <a:ext uri="{FF2B5EF4-FFF2-40B4-BE49-F238E27FC236}">
                <a16:creationId xmlns:a16="http://schemas.microsoft.com/office/drawing/2014/main" id="{7DA3F1F2-0D60-CA96-FF25-C813C1F2E3F0}"/>
              </a:ext>
            </a:extLst>
          </p:cNvPr>
          <p:cNvSpPr/>
          <p:nvPr/>
        </p:nvSpPr>
        <p:spPr>
          <a:xfrm rot="10800000">
            <a:off x="3046487" y="2505286"/>
            <a:ext cx="188557" cy="544126"/>
          </a:xfrm>
          <a:prstGeom prst="leftBrace">
            <a:avLst>
              <a:gd name="adj1" fmla="val 3190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5809BE29-C3AE-9218-02F9-FAC16646E8E8}"/>
              </a:ext>
            </a:extLst>
          </p:cNvPr>
          <p:cNvSpPr txBox="1"/>
          <p:nvPr/>
        </p:nvSpPr>
        <p:spPr>
          <a:xfrm>
            <a:off x="0" y="2107801"/>
            <a:ext cx="721692" cy="430887"/>
          </a:xfrm>
          <a:prstGeom prst="rect">
            <a:avLst/>
          </a:prstGeom>
          <a:noFill/>
        </p:spPr>
        <p:txBody>
          <a:bodyPr wrap="square" rtlCol="0">
            <a:spAutoFit/>
          </a:bodyPr>
          <a:lstStyle/>
          <a:p>
            <a:pPr algn="ctr"/>
            <a:r>
              <a:rPr kumimoji="1" lang="zh-CN" altLang="en-US" sz="1100" dirty="0">
                <a:latin typeface="KaiTi" panose="02010609060101010101" pitchFamily="49" charset="-122"/>
                <a:ea typeface="KaiTi" panose="02010609060101010101" pitchFamily="49" charset="-122"/>
              </a:rPr>
              <a:t>宏观</a:t>
            </a:r>
            <a:endParaRPr kumimoji="1" lang="en-US" altLang="zh-CN" sz="1100" dirty="0">
              <a:latin typeface="KaiTi" panose="02010609060101010101" pitchFamily="49" charset="-122"/>
              <a:ea typeface="KaiTi" panose="02010609060101010101" pitchFamily="49" charset="-122"/>
            </a:endParaRPr>
          </a:p>
          <a:p>
            <a:pPr algn="ctr"/>
            <a:r>
              <a:rPr kumimoji="1" lang="zh-CN" altLang="en-US" sz="1100" dirty="0">
                <a:latin typeface="KaiTi" panose="02010609060101010101" pitchFamily="49" charset="-122"/>
                <a:ea typeface="KaiTi" panose="02010609060101010101" pitchFamily="49" charset="-122"/>
              </a:rPr>
              <a:t>经济学</a:t>
            </a:r>
          </a:p>
        </p:txBody>
      </p:sp>
    </p:spTree>
    <p:extLst>
      <p:ext uri="{BB962C8B-B14F-4D97-AF65-F5344CB8AC3E}">
        <p14:creationId xmlns:p14="http://schemas.microsoft.com/office/powerpoint/2010/main" val="2127600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A41257-F178-35D0-FCE9-19FA58CBB8C5}"/>
              </a:ext>
            </a:extLst>
          </p:cNvPr>
          <p:cNvSpPr>
            <a:spLocks noGrp="1"/>
          </p:cNvSpPr>
          <p:nvPr>
            <p:ph type="title"/>
          </p:nvPr>
        </p:nvSpPr>
        <p:spPr/>
        <p:txBody>
          <a:bodyPr/>
          <a:lstStyle/>
          <a:p>
            <a:r>
              <a:rPr kumimoji="1" lang="zh-CN" altLang="en-US" dirty="0"/>
              <a:t>价格能否调整对宏观经济至关重要 </a:t>
            </a:r>
          </a:p>
        </p:txBody>
      </p:sp>
      <p:sp>
        <p:nvSpPr>
          <p:cNvPr id="4" name="页脚占位符 3">
            <a:extLst>
              <a:ext uri="{FF2B5EF4-FFF2-40B4-BE49-F238E27FC236}">
                <a16:creationId xmlns:a16="http://schemas.microsoft.com/office/drawing/2014/main" id="{9B078247-C7C0-AA12-91BC-64B9E8C759EA}"/>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6313DC26-9A01-1454-3E42-FA3A45073F9F}"/>
              </a:ext>
            </a:extLst>
          </p:cNvPr>
          <p:cNvSpPr>
            <a:spLocks noGrp="1"/>
          </p:cNvSpPr>
          <p:nvPr>
            <p:ph type="sldNum" sz="quarter" idx="11"/>
          </p:nvPr>
        </p:nvSpPr>
        <p:spPr/>
        <p:txBody>
          <a:bodyPr/>
          <a:lstStyle/>
          <a:p>
            <a:fld id="{FF75CA96-F32A-7F4F-98C9-CA940BD9BB90}" type="slidenum">
              <a:rPr lang="zh-CN" altLang="zh-CN" smtClean="0"/>
              <a:pPr/>
              <a:t>23</a:t>
            </a:fld>
            <a:endParaRPr lang="en-US" altLang="zh-CN"/>
          </a:p>
        </p:txBody>
      </p:sp>
      <p:sp>
        <p:nvSpPr>
          <p:cNvPr id="7" name="文本框 6">
            <a:extLst>
              <a:ext uri="{FF2B5EF4-FFF2-40B4-BE49-F238E27FC236}">
                <a16:creationId xmlns:a16="http://schemas.microsoft.com/office/drawing/2014/main" id="{DAD4603B-A9D9-A981-9765-2E39CD31E32F}"/>
              </a:ext>
            </a:extLst>
          </p:cNvPr>
          <p:cNvSpPr txBox="1"/>
          <p:nvPr/>
        </p:nvSpPr>
        <p:spPr>
          <a:xfrm>
            <a:off x="70275" y="1435955"/>
            <a:ext cx="721692" cy="430887"/>
          </a:xfrm>
          <a:prstGeom prst="rect">
            <a:avLst/>
          </a:prstGeom>
          <a:noFill/>
        </p:spPr>
        <p:txBody>
          <a:bodyPr wrap="square" rtlCol="0">
            <a:spAutoFit/>
          </a:bodyPr>
          <a:lstStyle/>
          <a:p>
            <a:pPr algn="ctr"/>
            <a:r>
              <a:rPr kumimoji="1" lang="zh-CN" altLang="en-US" sz="1100" dirty="0">
                <a:latin typeface="KaiTi" panose="02010609060101010101" pitchFamily="49" charset="-122"/>
                <a:ea typeface="KaiTi" panose="02010609060101010101" pitchFamily="49" charset="-122"/>
              </a:rPr>
              <a:t>宏观</a:t>
            </a:r>
            <a:endParaRPr kumimoji="1" lang="en-US" altLang="zh-CN" sz="1100" dirty="0">
              <a:latin typeface="KaiTi" panose="02010609060101010101" pitchFamily="49" charset="-122"/>
              <a:ea typeface="KaiTi" panose="02010609060101010101" pitchFamily="49" charset="-122"/>
            </a:endParaRPr>
          </a:p>
          <a:p>
            <a:pPr algn="ctr"/>
            <a:r>
              <a:rPr kumimoji="1" lang="zh-CN" altLang="en-US" sz="1100" dirty="0">
                <a:latin typeface="KaiTi" panose="02010609060101010101" pitchFamily="49" charset="-122"/>
                <a:ea typeface="KaiTi" panose="02010609060101010101" pitchFamily="49" charset="-122"/>
              </a:rPr>
              <a:t>经济学</a:t>
            </a:r>
          </a:p>
        </p:txBody>
      </p:sp>
      <p:sp>
        <p:nvSpPr>
          <p:cNvPr id="8" name="文本框 7">
            <a:extLst>
              <a:ext uri="{FF2B5EF4-FFF2-40B4-BE49-F238E27FC236}">
                <a16:creationId xmlns:a16="http://schemas.microsoft.com/office/drawing/2014/main" id="{CCBE81AF-259C-D421-1F16-387DD9C33FEC}"/>
              </a:ext>
            </a:extLst>
          </p:cNvPr>
          <p:cNvSpPr txBox="1"/>
          <p:nvPr/>
        </p:nvSpPr>
        <p:spPr>
          <a:xfrm>
            <a:off x="955077" y="1134217"/>
            <a:ext cx="1080120" cy="400110"/>
          </a:xfrm>
          <a:prstGeom prst="rect">
            <a:avLst/>
          </a:prstGeom>
          <a:noFill/>
        </p:spPr>
        <p:txBody>
          <a:bodyPr wrap="square" rtlCol="0">
            <a:spAutoFit/>
          </a:bodyPr>
          <a:lstStyle/>
          <a:p>
            <a:r>
              <a:rPr kumimoji="1" lang="zh-CN" altLang="en-US" sz="1100" dirty="0">
                <a:latin typeface="KaiTi" panose="02010609060101010101" pitchFamily="49" charset="-122"/>
                <a:ea typeface="KaiTi" panose="02010609060101010101" pitchFamily="49" charset="-122"/>
              </a:rPr>
              <a:t>短期经济波动</a:t>
            </a:r>
            <a:endParaRPr kumimoji="1" lang="en-US" altLang="zh-CN" sz="1100" dirty="0">
              <a:latin typeface="KaiTi" panose="02010609060101010101" pitchFamily="49" charset="-122"/>
              <a:ea typeface="KaiTi" panose="02010609060101010101" pitchFamily="49" charset="-122"/>
            </a:endParaRPr>
          </a:p>
          <a:p>
            <a:r>
              <a:rPr kumimoji="1" lang="zh-CN" altLang="en-US" sz="900" u="sng" dirty="0">
                <a:latin typeface="KaiTi" panose="02010609060101010101" pitchFamily="49" charset="-122"/>
                <a:ea typeface="KaiTi" panose="02010609060101010101" pitchFamily="49" charset="-122"/>
              </a:rPr>
              <a:t>生产能力既定</a:t>
            </a:r>
          </a:p>
        </p:txBody>
      </p:sp>
      <p:sp>
        <p:nvSpPr>
          <p:cNvPr id="9" name="文本框 8">
            <a:extLst>
              <a:ext uri="{FF2B5EF4-FFF2-40B4-BE49-F238E27FC236}">
                <a16:creationId xmlns:a16="http://schemas.microsoft.com/office/drawing/2014/main" id="{59C795BB-4C4B-9335-ADE1-6C9D6D2DCC66}"/>
              </a:ext>
            </a:extLst>
          </p:cNvPr>
          <p:cNvSpPr txBox="1"/>
          <p:nvPr/>
        </p:nvSpPr>
        <p:spPr>
          <a:xfrm>
            <a:off x="955077" y="1827875"/>
            <a:ext cx="1080118" cy="400110"/>
          </a:xfrm>
          <a:prstGeom prst="rect">
            <a:avLst/>
          </a:prstGeom>
          <a:noFill/>
        </p:spPr>
        <p:txBody>
          <a:bodyPr wrap="square" rtlCol="0">
            <a:spAutoFit/>
          </a:bodyPr>
          <a:lstStyle/>
          <a:p>
            <a:r>
              <a:rPr kumimoji="1" lang="zh-CN" altLang="en-US" sz="1100" dirty="0">
                <a:latin typeface="KaiTi" panose="02010609060101010101" pitchFamily="49" charset="-122"/>
                <a:ea typeface="KaiTi" panose="02010609060101010101" pitchFamily="49" charset="-122"/>
              </a:rPr>
              <a:t>长期经济增长</a:t>
            </a:r>
            <a:endParaRPr kumimoji="1" lang="en-US" altLang="zh-CN" sz="1100" dirty="0">
              <a:latin typeface="KaiTi" panose="02010609060101010101" pitchFamily="49" charset="-122"/>
              <a:ea typeface="KaiTi" panose="02010609060101010101" pitchFamily="49" charset="-122"/>
            </a:endParaRPr>
          </a:p>
          <a:p>
            <a:r>
              <a:rPr kumimoji="1" lang="zh-CN" altLang="en-US" sz="900" u="sng" dirty="0">
                <a:latin typeface="KaiTi" panose="02010609060101010101" pitchFamily="49" charset="-122"/>
                <a:ea typeface="KaiTi" panose="02010609060101010101" pitchFamily="49" charset="-122"/>
              </a:rPr>
              <a:t>生产能力的增长</a:t>
            </a:r>
          </a:p>
        </p:txBody>
      </p:sp>
      <p:sp>
        <p:nvSpPr>
          <p:cNvPr id="10" name="文本框 9">
            <a:extLst>
              <a:ext uri="{FF2B5EF4-FFF2-40B4-BE49-F238E27FC236}">
                <a16:creationId xmlns:a16="http://schemas.microsoft.com/office/drawing/2014/main" id="{B678F4D1-B5DD-4587-0F64-22E5215729C4}"/>
              </a:ext>
            </a:extLst>
          </p:cNvPr>
          <p:cNvSpPr txBox="1"/>
          <p:nvPr/>
        </p:nvSpPr>
        <p:spPr>
          <a:xfrm>
            <a:off x="2048845" y="912877"/>
            <a:ext cx="2495668"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短期总供给曲线</a:t>
            </a:r>
            <a:r>
              <a:rPr kumimoji="1" lang="en-US" altLang="zh-CN" sz="1100" dirty="0">
                <a:latin typeface="Garamond" panose="02020404030301010803" pitchFamily="18" charset="0"/>
                <a:ea typeface="KaiTi" panose="02010609060101010101" pitchFamily="49" charset="-122"/>
              </a:rPr>
              <a:t>short run </a:t>
            </a:r>
            <a:endParaRPr kumimoji="1" lang="zh-CN" altLang="en-US" sz="1100" dirty="0">
              <a:latin typeface="Garamond" panose="02020404030301010803" pitchFamily="18" charset="0"/>
              <a:ea typeface="KaiTi" panose="02010609060101010101" pitchFamily="49" charset="-122"/>
            </a:endParaRPr>
          </a:p>
        </p:txBody>
      </p:sp>
      <p:sp>
        <p:nvSpPr>
          <p:cNvPr id="11" name="文本框 10">
            <a:extLst>
              <a:ext uri="{FF2B5EF4-FFF2-40B4-BE49-F238E27FC236}">
                <a16:creationId xmlns:a16="http://schemas.microsoft.com/office/drawing/2014/main" id="{B5207207-6D69-CB8D-F595-3F48E99ECF30}"/>
              </a:ext>
            </a:extLst>
          </p:cNvPr>
          <p:cNvSpPr txBox="1"/>
          <p:nvPr/>
        </p:nvSpPr>
        <p:spPr>
          <a:xfrm>
            <a:off x="2048844" y="1456118"/>
            <a:ext cx="2495667"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长期总供给曲线</a:t>
            </a:r>
            <a:r>
              <a:rPr kumimoji="1" lang="en-US" altLang="zh-CN" sz="1100" dirty="0">
                <a:latin typeface="Garamond" panose="02020404030301010803" pitchFamily="18" charset="0"/>
                <a:ea typeface="KaiTi" panose="02010609060101010101" pitchFamily="49" charset="-122"/>
              </a:rPr>
              <a:t>long run </a:t>
            </a:r>
            <a:endParaRPr kumimoji="1" lang="zh-CN" altLang="en-US" sz="1100" dirty="0">
              <a:latin typeface="Garamond" panose="02020404030301010803" pitchFamily="18" charset="0"/>
              <a:ea typeface="KaiTi" panose="02010609060101010101" pitchFamily="49" charset="-122"/>
            </a:endParaRPr>
          </a:p>
        </p:txBody>
      </p:sp>
      <p:cxnSp>
        <p:nvCxnSpPr>
          <p:cNvPr id="13" name="直线箭头连接符 12">
            <a:extLst>
              <a:ext uri="{FF2B5EF4-FFF2-40B4-BE49-F238E27FC236}">
                <a16:creationId xmlns:a16="http://schemas.microsoft.com/office/drawing/2014/main" id="{F33FCC24-1289-3F81-77C6-B5CABBA7BD20}"/>
              </a:ext>
            </a:extLst>
          </p:cNvPr>
          <p:cNvCxnSpPr>
            <a:cxnSpLocks/>
            <a:endCxn id="8" idx="1"/>
          </p:cNvCxnSpPr>
          <p:nvPr/>
        </p:nvCxnSpPr>
        <p:spPr>
          <a:xfrm flipV="1">
            <a:off x="667045" y="1334272"/>
            <a:ext cx="288032" cy="3171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线箭头连接符 15">
            <a:extLst>
              <a:ext uri="{FF2B5EF4-FFF2-40B4-BE49-F238E27FC236}">
                <a16:creationId xmlns:a16="http://schemas.microsoft.com/office/drawing/2014/main" id="{2F5BE7D3-69CF-FE11-638D-9A020694E0EE}"/>
              </a:ext>
            </a:extLst>
          </p:cNvPr>
          <p:cNvCxnSpPr>
            <a:cxnSpLocks/>
            <a:endCxn id="9" idx="1"/>
          </p:cNvCxnSpPr>
          <p:nvPr/>
        </p:nvCxnSpPr>
        <p:spPr>
          <a:xfrm>
            <a:off x="667045" y="1683238"/>
            <a:ext cx="288032" cy="3446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左大括号 16">
            <a:extLst>
              <a:ext uri="{FF2B5EF4-FFF2-40B4-BE49-F238E27FC236}">
                <a16:creationId xmlns:a16="http://schemas.microsoft.com/office/drawing/2014/main" id="{396200F9-E130-505A-B4DA-1256567F13DA}"/>
              </a:ext>
            </a:extLst>
          </p:cNvPr>
          <p:cNvSpPr/>
          <p:nvPr/>
        </p:nvSpPr>
        <p:spPr>
          <a:xfrm>
            <a:off x="1885735" y="1078901"/>
            <a:ext cx="188557" cy="544126"/>
          </a:xfrm>
          <a:prstGeom prst="leftBrace">
            <a:avLst>
              <a:gd name="adj1" fmla="val 3190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09975048-9822-4188-7890-6F888761D717}"/>
              </a:ext>
            </a:extLst>
          </p:cNvPr>
          <p:cNvSpPr txBox="1"/>
          <p:nvPr/>
        </p:nvSpPr>
        <p:spPr>
          <a:xfrm>
            <a:off x="2089398" y="1129424"/>
            <a:ext cx="2495667"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（价格、工资刚性</a:t>
            </a:r>
            <a:r>
              <a:rPr kumimoji="1" lang="en-US" altLang="zh-CN" sz="1100" dirty="0">
                <a:latin typeface="Garamond" panose="02020404030301010803" pitchFamily="18" charset="0"/>
                <a:ea typeface="KaiTi" panose="02010609060101010101" pitchFamily="49" charset="-122"/>
              </a:rPr>
              <a:t>——</a:t>
            </a:r>
            <a:r>
              <a:rPr kumimoji="1" lang="zh-CN" altLang="en-US" sz="1100" dirty="0">
                <a:latin typeface="Garamond" panose="02020404030301010803" pitchFamily="18" charset="0"/>
                <a:ea typeface="KaiTi" panose="02010609060101010101" pitchFamily="49" charset="-122"/>
              </a:rPr>
              <a:t>合同限制）</a:t>
            </a:r>
          </a:p>
        </p:txBody>
      </p:sp>
      <p:sp>
        <p:nvSpPr>
          <p:cNvPr id="27" name="文本框 26">
            <a:extLst>
              <a:ext uri="{FF2B5EF4-FFF2-40B4-BE49-F238E27FC236}">
                <a16:creationId xmlns:a16="http://schemas.microsoft.com/office/drawing/2014/main" id="{BF8B62BA-94A1-4924-18DF-85A12BBCD1D6}"/>
              </a:ext>
            </a:extLst>
          </p:cNvPr>
          <p:cNvSpPr txBox="1"/>
          <p:nvPr/>
        </p:nvSpPr>
        <p:spPr>
          <a:xfrm>
            <a:off x="2080766" y="1736037"/>
            <a:ext cx="2495667" cy="261610"/>
          </a:xfrm>
          <a:prstGeom prst="rect">
            <a:avLst/>
          </a:prstGeom>
          <a:noFill/>
        </p:spPr>
        <p:txBody>
          <a:bodyPr wrap="square" rtlCol="0">
            <a:spAutoFit/>
          </a:bodyPr>
          <a:lstStyle/>
          <a:p>
            <a:r>
              <a:rPr kumimoji="1" lang="zh-CN" altLang="en-US" sz="1100" dirty="0">
                <a:latin typeface="Garamond" panose="02020404030301010803" pitchFamily="18" charset="0"/>
                <a:ea typeface="KaiTi" panose="02010609060101010101" pitchFamily="49" charset="-122"/>
              </a:rPr>
              <a:t>（价格、工资可以充分灵活调整）</a:t>
            </a:r>
          </a:p>
        </p:txBody>
      </p:sp>
    </p:spTree>
    <p:extLst>
      <p:ext uri="{BB962C8B-B14F-4D97-AF65-F5344CB8AC3E}">
        <p14:creationId xmlns:p14="http://schemas.microsoft.com/office/powerpoint/2010/main" val="3686270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779F14-C6AA-CC78-3DB0-09B7758468EB}"/>
              </a:ext>
            </a:extLst>
          </p:cNvPr>
          <p:cNvSpPr>
            <a:spLocks noGrp="1"/>
          </p:cNvSpPr>
          <p:nvPr>
            <p:ph type="title"/>
          </p:nvPr>
        </p:nvSpPr>
        <p:spPr/>
        <p:txBody>
          <a:bodyPr/>
          <a:lstStyle/>
          <a:p>
            <a:r>
              <a:rPr kumimoji="1" lang="zh-CN" altLang="en-US" dirty="0"/>
              <a:t>价格调整的实际情况</a:t>
            </a:r>
          </a:p>
        </p:txBody>
      </p:sp>
      <p:sp>
        <p:nvSpPr>
          <p:cNvPr id="4" name="页脚占位符 3">
            <a:extLst>
              <a:ext uri="{FF2B5EF4-FFF2-40B4-BE49-F238E27FC236}">
                <a16:creationId xmlns:a16="http://schemas.microsoft.com/office/drawing/2014/main" id="{155896FA-2A35-D539-56ED-E0695D00C483}"/>
              </a:ext>
            </a:extLst>
          </p:cNvPr>
          <p:cNvSpPr>
            <a:spLocks noGrp="1"/>
          </p:cNvSpPr>
          <p:nvPr>
            <p:ph type="ftr" sz="quarter" idx="10"/>
          </p:nvPr>
        </p:nvSpPr>
        <p:spPr/>
        <p:txBody>
          <a:bodyPr/>
          <a:lstStyle/>
          <a:p>
            <a:r>
              <a:rPr lang="en-US" altLang="zh-CN" dirty="0"/>
              <a:t>AS-AD</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BA215D2D-470D-8F0D-277E-04826A8F9DCD}"/>
              </a:ext>
            </a:extLst>
          </p:cNvPr>
          <p:cNvSpPr>
            <a:spLocks noGrp="1"/>
          </p:cNvSpPr>
          <p:nvPr>
            <p:ph type="sldNum" sz="quarter" idx="11"/>
          </p:nvPr>
        </p:nvSpPr>
        <p:spPr/>
        <p:txBody>
          <a:bodyPr/>
          <a:lstStyle/>
          <a:p>
            <a:fld id="{FF75CA96-F32A-7F4F-98C9-CA940BD9BB90}" type="slidenum">
              <a:rPr lang="zh-CN" altLang="zh-CN" smtClean="0"/>
              <a:pPr/>
              <a:t>24</a:t>
            </a:fld>
            <a:endParaRPr lang="en-US" altLang="zh-CN"/>
          </a:p>
        </p:txBody>
      </p:sp>
      <p:pic>
        <p:nvPicPr>
          <p:cNvPr id="6" name="内容占位符 5" descr="图形用户界面, 文本, 应用程序, 电子邮件&#10;&#10;描述已自动生成">
            <a:extLst>
              <a:ext uri="{FF2B5EF4-FFF2-40B4-BE49-F238E27FC236}">
                <a16:creationId xmlns:a16="http://schemas.microsoft.com/office/drawing/2014/main" id="{0B9DF324-EDB1-E004-2B33-650B0E9989F5}"/>
              </a:ext>
            </a:extLst>
          </p:cNvPr>
          <p:cNvPicPr>
            <a:picLocks noGrp="1" noChangeAspect="1"/>
          </p:cNvPicPr>
          <p:nvPr>
            <p:ph idx="1"/>
          </p:nvPr>
        </p:nvPicPr>
        <p:blipFill rotWithShape="1">
          <a:blip r:embed="rId2"/>
          <a:srcRect b="15552"/>
          <a:stretch/>
        </p:blipFill>
        <p:spPr>
          <a:xfrm>
            <a:off x="187325" y="540948"/>
            <a:ext cx="4192588" cy="21255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文本框 6">
            <a:extLst>
              <a:ext uri="{FF2B5EF4-FFF2-40B4-BE49-F238E27FC236}">
                <a16:creationId xmlns:a16="http://schemas.microsoft.com/office/drawing/2014/main" id="{69C4C756-2857-DF8A-F7C1-2FFB2CB01B16}"/>
              </a:ext>
            </a:extLst>
          </p:cNvPr>
          <p:cNvSpPr txBox="1"/>
          <p:nvPr/>
        </p:nvSpPr>
        <p:spPr>
          <a:xfrm>
            <a:off x="72802" y="2788997"/>
            <a:ext cx="4458062" cy="307777"/>
          </a:xfrm>
          <a:prstGeom prst="rect">
            <a:avLst/>
          </a:prstGeom>
          <a:noFill/>
        </p:spPr>
        <p:txBody>
          <a:bodyPr wrap="square" rtlCol="0">
            <a:spAutoFit/>
          </a:bodyPr>
          <a:lstStyle/>
          <a:p>
            <a:r>
              <a:rPr kumimoji="1" lang="en-US" altLang="zh-CN" sz="700" i="1" dirty="0">
                <a:latin typeface="+mn-ea"/>
              </a:rPr>
              <a:t>Source</a:t>
            </a:r>
            <a:r>
              <a:rPr kumimoji="1" lang="en-US" altLang="zh-CN" sz="700" dirty="0">
                <a:latin typeface="+mn-ea"/>
              </a:rPr>
              <a:t>: Table 4.1, Alan S. Blinder, “On Sticky Prices: Academic Theories Meet the Real World,” in N. G. Mankiw, ed., Monetary Policy (Chicago: University of Chicago Press, 1994), 117-154.</a:t>
            </a:r>
            <a:endParaRPr kumimoji="1" lang="zh-CN" altLang="en-US" sz="700" dirty="0">
              <a:latin typeface="+mn-ea"/>
            </a:endParaRPr>
          </a:p>
        </p:txBody>
      </p:sp>
    </p:spTree>
    <p:extLst>
      <p:ext uri="{BB962C8B-B14F-4D97-AF65-F5344CB8AC3E}">
        <p14:creationId xmlns:p14="http://schemas.microsoft.com/office/powerpoint/2010/main" val="2082809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94F219-EA87-C311-D1D4-2686AEC94178}"/>
              </a:ext>
            </a:extLst>
          </p:cNvPr>
          <p:cNvSpPr>
            <a:spLocks noGrp="1"/>
          </p:cNvSpPr>
          <p:nvPr>
            <p:ph type="title"/>
          </p:nvPr>
        </p:nvSpPr>
        <p:spPr/>
        <p:txBody>
          <a:bodyPr/>
          <a:lstStyle/>
          <a:p>
            <a:r>
              <a:rPr kumimoji="1" lang="en-US" altLang="zh-CN" dirty="0"/>
              <a:t>AS-AD</a:t>
            </a:r>
            <a:r>
              <a:rPr kumimoji="1" lang="zh-CN" altLang="en-US" dirty="0"/>
              <a:t>模型与</a:t>
            </a:r>
            <a:r>
              <a:rPr kumimoji="1" lang="en-US" altLang="zh-CN" dirty="0"/>
              <a:t>IS- LM</a:t>
            </a:r>
            <a:r>
              <a:rPr kumimoji="1" lang="zh-CN" altLang="en-US" dirty="0"/>
              <a:t>曲线</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EE7445F-27CC-C29D-79EB-D48858836BF4}"/>
                  </a:ext>
                </a:extLst>
              </p:cNvPr>
              <p:cNvSpPr>
                <a:spLocks noGrp="1"/>
              </p:cNvSpPr>
              <p:nvPr>
                <p:ph idx="1"/>
              </p:nvPr>
            </p:nvSpPr>
            <p:spPr/>
            <p:txBody>
              <a:bodyPr/>
              <a:lstStyle/>
              <a:p>
                <a:r>
                  <a:rPr kumimoji="1" lang="zh-CN" altLang="en-US" sz="1400" dirty="0"/>
                  <a:t>凯恩斯主义的</a:t>
                </a:r>
                <a:r>
                  <a:rPr kumimoji="1" lang="en-US" altLang="zh-CN" sz="1400" dirty="0"/>
                  <a:t>AS- AD</a:t>
                </a:r>
                <a:r>
                  <a:rPr kumimoji="1" lang="zh-CN" altLang="en-US" sz="1400" dirty="0"/>
                  <a:t>模型和</a:t>
                </a:r>
                <a:r>
                  <a:rPr kumimoji="1" lang="en-US" altLang="zh-CN" sz="1400" dirty="0"/>
                  <a:t>IS- LM</a:t>
                </a:r>
                <a:r>
                  <a:rPr kumimoji="1" lang="zh-CN" altLang="en-US" sz="1400" dirty="0"/>
                  <a:t>曲线</a:t>
                </a:r>
                <a:endParaRPr kumimoji="1" lang="en-US" altLang="zh-CN" sz="1400" dirty="0"/>
              </a:p>
              <a:p>
                <a:pPr lvl="1"/>
                <a:r>
                  <a:rPr kumimoji="1" lang="zh-CN" altLang="en-US" sz="1200" dirty="0"/>
                  <a:t>凯恩斯理论假设价格不变</a:t>
                </a:r>
                <a:endParaRPr kumimoji="1" lang="en-US" altLang="zh-CN" sz="1200" dirty="0"/>
              </a:p>
              <a:p>
                <a:pPr lvl="1"/>
                <a:r>
                  <a:rPr kumimoji="1" lang="en-US" altLang="zh-CN" sz="1200" dirty="0"/>
                  <a:t>AD</a:t>
                </a:r>
                <a:r>
                  <a:rPr kumimoji="1" lang="zh-CN" altLang="en-US" sz="1200" dirty="0"/>
                  <a:t>曲线：</a:t>
                </a:r>
                <a:endParaRPr kumimoji="1" lang="en-US" altLang="zh-CN" sz="1200" dirty="0"/>
              </a:p>
              <a:p>
                <a:pPr lvl="2"/>
                <a:r>
                  <a:rPr kumimoji="1" lang="en-US" altLang="zh-CN" sz="1200" dirty="0"/>
                  <a:t>IS: </a:t>
                </a:r>
                <a14:m>
                  <m:oMath xmlns:m="http://schemas.openxmlformats.org/officeDocument/2006/math">
                    <m:r>
                      <a:rPr kumimoji="1" lang="en-US" altLang="zh-CN" sz="1200" i="1" dirty="0" smtClean="0">
                        <a:latin typeface="Cambria Math" panose="02040503050406030204" pitchFamily="18" charset="0"/>
                      </a:rPr>
                      <m:t>𝑌</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𝐶</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𝑌</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𝑇</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𝐼</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𝑟</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𝐺</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𝑁𝑋</m:t>
                    </m:r>
                  </m:oMath>
                </a14:m>
                <a:endParaRPr kumimoji="1" lang="en-US" altLang="zh-CN" sz="1200" dirty="0"/>
              </a:p>
              <a:p>
                <a:pPr lvl="2"/>
                <a:r>
                  <a:rPr kumimoji="1" lang="en-US" altLang="zh-CN" sz="1200" dirty="0"/>
                  <a:t>LM:</a:t>
                </a:r>
                <a14:m>
                  <m:oMath xmlns:m="http://schemas.openxmlformats.org/officeDocument/2006/math">
                    <m:r>
                      <a:rPr kumimoji="1" lang="en-US" altLang="zh-CN" sz="1200" b="0" i="0" dirty="0" smtClean="0">
                        <a:latin typeface="Cambria Math" panose="02040503050406030204" pitchFamily="18" charset="0"/>
                      </a:rPr>
                      <m:t> </m:t>
                    </m:r>
                    <m:r>
                      <a:rPr kumimoji="1" lang="en-US" altLang="zh-CN" sz="1200" i="1" dirty="0" smtClean="0">
                        <a:latin typeface="Cambria Math" panose="02040503050406030204" pitchFamily="18" charset="0"/>
                      </a:rPr>
                      <m:t>𝑀</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𝑃</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𝐿</m:t>
                    </m:r>
                    <m:r>
                      <a:rPr kumimoji="1" lang="en-US" altLang="zh-CN" sz="1200" i="1" dirty="0" smtClean="0">
                        <a:latin typeface="Cambria Math" panose="02040503050406030204" pitchFamily="18" charset="0"/>
                      </a:rPr>
                      <m:t>(</m:t>
                    </m:r>
                    <m:r>
                      <a:rPr kumimoji="1" lang="en-US" altLang="zh-CN" sz="1200" i="1" dirty="0" err="1">
                        <a:latin typeface="Cambria Math" panose="02040503050406030204" pitchFamily="18" charset="0"/>
                      </a:rPr>
                      <m:t>𝑟</m:t>
                    </m:r>
                    <m:r>
                      <a:rPr kumimoji="1" lang="en-US" altLang="zh-CN" sz="1200" i="1" dirty="0" err="1">
                        <a:latin typeface="Cambria Math" panose="02040503050406030204" pitchFamily="18" charset="0"/>
                      </a:rPr>
                      <m:t>,</m:t>
                    </m:r>
                    <m:r>
                      <a:rPr kumimoji="1" lang="en-US" altLang="zh-CN" sz="1200" i="1" dirty="0" err="1">
                        <a:latin typeface="Cambria Math" panose="02040503050406030204" pitchFamily="18" charset="0"/>
                      </a:rPr>
                      <m:t>𝑌</m:t>
                    </m:r>
                    <m:r>
                      <a:rPr kumimoji="1" lang="en-US" altLang="zh-CN" sz="1200" i="1" dirty="0">
                        <a:latin typeface="Cambria Math" panose="02040503050406030204" pitchFamily="18" charset="0"/>
                      </a:rPr>
                      <m:t>)</m:t>
                    </m:r>
                  </m:oMath>
                </a14:m>
                <a:endParaRPr kumimoji="1" lang="en-US" altLang="zh-CN" sz="1200" dirty="0"/>
              </a:p>
              <a:p>
                <a:pPr lvl="1"/>
                <a:r>
                  <a:rPr kumimoji="1" lang="en-US" altLang="zh-CN" sz="1200" dirty="0"/>
                  <a:t>AS</a:t>
                </a:r>
                <a:r>
                  <a:rPr kumimoji="1" lang="zh-CN" altLang="en-US" sz="1200" dirty="0"/>
                  <a:t>曲线：</a:t>
                </a:r>
                <a:r>
                  <a:rPr kumimoji="1" lang="en-US" altLang="zh-CN" sz="1200" dirty="0"/>
                  <a:t>P=</a:t>
                </a:r>
                <a14:m>
                  <m:oMath xmlns:m="http://schemas.openxmlformats.org/officeDocument/2006/math">
                    <m:acc>
                      <m:accPr>
                        <m:chr m:val="̅"/>
                        <m:ctrlPr>
                          <a:rPr kumimoji="1" lang="en-US" altLang="zh-CN" sz="1200" i="1" smtClean="0">
                            <a:latin typeface="Cambria Math" panose="02040503050406030204" pitchFamily="18" charset="0"/>
                          </a:rPr>
                        </m:ctrlPr>
                      </m:accPr>
                      <m:e>
                        <m:r>
                          <m:rPr>
                            <m:sty m:val="p"/>
                          </m:rPr>
                          <a:rPr kumimoji="1" lang="en-US" altLang="zh-CN" sz="1200" i="1">
                            <a:latin typeface="Cambria Math" panose="02040503050406030204" pitchFamily="18" charset="0"/>
                          </a:rPr>
                          <m:t>P</m:t>
                        </m:r>
                      </m:e>
                    </m:acc>
                  </m:oMath>
                </a14:m>
                <a:endParaRPr kumimoji="1" lang="en-US" altLang="zh-CN" sz="1200" dirty="0"/>
              </a:p>
              <a:p>
                <a:r>
                  <a:rPr kumimoji="1" lang="zh-CN" altLang="en-US" sz="1400" dirty="0"/>
                  <a:t>古典主义的</a:t>
                </a:r>
                <a:r>
                  <a:rPr kumimoji="1" lang="en-US" altLang="zh-CN" sz="1400" dirty="0"/>
                  <a:t>AS- AD</a:t>
                </a:r>
                <a:r>
                  <a:rPr kumimoji="1" lang="zh-CN" altLang="en-US" sz="1400" dirty="0"/>
                  <a:t>模型与</a:t>
                </a:r>
                <a:r>
                  <a:rPr kumimoji="1" lang="en-US" altLang="zh-CN" sz="1400" dirty="0"/>
                  <a:t>IS- LM</a:t>
                </a:r>
                <a:r>
                  <a:rPr kumimoji="1" lang="zh-CN" altLang="en-US" sz="1400" dirty="0"/>
                  <a:t>曲线</a:t>
                </a:r>
                <a:endParaRPr kumimoji="1" lang="en-US" altLang="zh-CN" sz="1400" dirty="0"/>
              </a:p>
              <a:p>
                <a:pPr lvl="1"/>
                <a:r>
                  <a:rPr kumimoji="1" lang="zh-CN" altLang="en-US" sz="1200" dirty="0"/>
                  <a:t>古典主义假设</a:t>
                </a:r>
                <a:r>
                  <a:rPr kumimoji="1" lang="en-US" altLang="zh-CN" sz="1200" dirty="0"/>
                  <a:t>Y =</a:t>
                </a:r>
                <a14:m>
                  <m:oMath xmlns:m="http://schemas.openxmlformats.org/officeDocument/2006/math">
                    <m:acc>
                      <m:accPr>
                        <m:chr m:val="̅"/>
                        <m:ctrlPr>
                          <a:rPr kumimoji="1" lang="en-US" altLang="zh-CN" sz="1200" i="1" smtClean="0">
                            <a:latin typeface="Cambria Math" panose="02040503050406030204" pitchFamily="18" charset="0"/>
                          </a:rPr>
                        </m:ctrlPr>
                      </m:accPr>
                      <m:e>
                        <m:r>
                          <m:rPr>
                            <m:sty m:val="p"/>
                          </m:rPr>
                          <a:rPr kumimoji="1" lang="en-US" altLang="zh-CN" sz="1200" i="1">
                            <a:latin typeface="Cambria Math" panose="02040503050406030204" pitchFamily="18" charset="0"/>
                          </a:rPr>
                          <m:t>Y</m:t>
                        </m:r>
                      </m:e>
                    </m:acc>
                  </m:oMath>
                </a14:m>
                <a:endParaRPr kumimoji="1" lang="en-US" altLang="zh-CN" sz="1200" dirty="0"/>
              </a:p>
              <a:p>
                <a:pPr lvl="1"/>
                <a:r>
                  <a:rPr kumimoji="1" lang="en-US" altLang="zh-CN" sz="1200" dirty="0"/>
                  <a:t>AD</a:t>
                </a:r>
                <a:r>
                  <a:rPr kumimoji="1" lang="zh-CN" altLang="en-US" sz="1200" dirty="0"/>
                  <a:t>曲线：</a:t>
                </a:r>
                <a:endParaRPr kumimoji="1" lang="en-US" altLang="zh-CN" sz="1200" dirty="0"/>
              </a:p>
              <a:p>
                <a:pPr lvl="2"/>
                <a:r>
                  <a:rPr kumimoji="1" lang="en-US" altLang="zh-CN" sz="1200" dirty="0"/>
                  <a:t>IS: </a:t>
                </a:r>
                <a14:m>
                  <m:oMath xmlns:m="http://schemas.openxmlformats.org/officeDocument/2006/math">
                    <m:r>
                      <a:rPr kumimoji="1" lang="en-US" altLang="zh-CN" sz="1200" i="1" dirty="0" smtClean="0">
                        <a:latin typeface="Cambria Math" panose="02040503050406030204" pitchFamily="18" charset="0"/>
                      </a:rPr>
                      <m:t>𝑌</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𝐶</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𝑌</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𝑇</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𝐼</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𝑟</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𝐺</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𝑁𝑋</m:t>
                    </m:r>
                  </m:oMath>
                </a14:m>
                <a:endParaRPr kumimoji="1" lang="en-US" altLang="zh-CN" sz="1200" dirty="0"/>
              </a:p>
              <a:p>
                <a:pPr lvl="2"/>
                <a:r>
                  <a:rPr kumimoji="1" lang="en-US" altLang="zh-CN" sz="1200" dirty="0"/>
                  <a:t>LM: </a:t>
                </a:r>
                <a14:m>
                  <m:oMath xmlns:m="http://schemas.openxmlformats.org/officeDocument/2006/math">
                    <m:r>
                      <a:rPr kumimoji="1" lang="en-US" altLang="zh-CN" sz="1200" i="1" dirty="0" smtClean="0">
                        <a:latin typeface="Cambria Math" panose="02040503050406030204" pitchFamily="18" charset="0"/>
                      </a:rPr>
                      <m:t>𝑀</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𝑃</m:t>
                    </m:r>
                    <m:r>
                      <a:rPr kumimoji="1" lang="en-US" altLang="zh-CN" sz="1200" i="1" dirty="0" smtClean="0">
                        <a:latin typeface="Cambria Math" panose="02040503050406030204" pitchFamily="18" charset="0"/>
                      </a:rPr>
                      <m:t>=</m:t>
                    </m:r>
                    <m:r>
                      <a:rPr kumimoji="1" lang="en-US" altLang="zh-CN" sz="1200" i="1" dirty="0" smtClean="0">
                        <a:latin typeface="Cambria Math" panose="02040503050406030204" pitchFamily="18" charset="0"/>
                      </a:rPr>
                      <m:t>𝐿</m:t>
                    </m:r>
                    <m:r>
                      <a:rPr kumimoji="1" lang="en-US" altLang="zh-CN" sz="1200" i="1" dirty="0" smtClean="0">
                        <a:latin typeface="Cambria Math" panose="02040503050406030204" pitchFamily="18" charset="0"/>
                      </a:rPr>
                      <m:t>(</m:t>
                    </m:r>
                    <m:r>
                      <a:rPr kumimoji="1" lang="en-US" altLang="zh-CN" sz="1200" i="1" dirty="0" err="1">
                        <a:latin typeface="Cambria Math" panose="02040503050406030204" pitchFamily="18" charset="0"/>
                      </a:rPr>
                      <m:t>𝑟</m:t>
                    </m:r>
                    <m:r>
                      <a:rPr kumimoji="1" lang="en-US" altLang="zh-CN" sz="1200" i="1" dirty="0" err="1">
                        <a:latin typeface="Cambria Math" panose="02040503050406030204" pitchFamily="18" charset="0"/>
                      </a:rPr>
                      <m:t>,</m:t>
                    </m:r>
                    <m:r>
                      <a:rPr kumimoji="1" lang="en-US" altLang="zh-CN" sz="1200" i="1" dirty="0" err="1">
                        <a:latin typeface="Cambria Math" panose="02040503050406030204" pitchFamily="18" charset="0"/>
                      </a:rPr>
                      <m:t>𝑌</m:t>
                    </m:r>
                    <m:r>
                      <a:rPr kumimoji="1" lang="en-US" altLang="zh-CN" sz="1200" i="1" dirty="0">
                        <a:latin typeface="Cambria Math" panose="02040503050406030204" pitchFamily="18" charset="0"/>
                      </a:rPr>
                      <m:t>)</m:t>
                    </m:r>
                  </m:oMath>
                </a14:m>
                <a:endParaRPr kumimoji="1" lang="en-US" altLang="zh-CN" sz="1200" dirty="0"/>
              </a:p>
              <a:p>
                <a:pPr lvl="1"/>
                <a:r>
                  <a:rPr kumimoji="1" lang="en-US" altLang="zh-CN" sz="1200" dirty="0"/>
                  <a:t>AS</a:t>
                </a:r>
                <a:r>
                  <a:rPr kumimoji="1" lang="zh-CN" altLang="en-US" sz="1200" dirty="0"/>
                  <a:t>曲线：</a:t>
                </a:r>
                <a:r>
                  <a:rPr kumimoji="1" lang="en-US" altLang="zh-CN" sz="1200" dirty="0"/>
                  <a:t>P=</a:t>
                </a:r>
                <a14:m>
                  <m:oMath xmlns:m="http://schemas.openxmlformats.org/officeDocument/2006/math">
                    <m:acc>
                      <m:accPr>
                        <m:chr m:val="̅"/>
                        <m:ctrlPr>
                          <a:rPr kumimoji="1" lang="en-US" altLang="zh-CN" sz="1200" i="1" smtClean="0">
                            <a:latin typeface="Cambria Math" panose="02040503050406030204" pitchFamily="18" charset="0"/>
                          </a:rPr>
                        </m:ctrlPr>
                      </m:accPr>
                      <m:e>
                        <m:r>
                          <m:rPr>
                            <m:sty m:val="p"/>
                          </m:rPr>
                          <a:rPr kumimoji="1" lang="en-US" altLang="zh-CN" sz="1200" i="1">
                            <a:latin typeface="Cambria Math" panose="02040503050406030204" pitchFamily="18" charset="0"/>
                          </a:rPr>
                          <m:t>P</m:t>
                        </m:r>
                      </m:e>
                    </m:acc>
                  </m:oMath>
                </a14:m>
                <a:endParaRPr kumimoji="1" lang="zh-CN" altLang="en-US" sz="1200" dirty="0"/>
              </a:p>
            </p:txBody>
          </p:sp>
        </mc:Choice>
        <mc:Fallback xmlns="">
          <p:sp>
            <p:nvSpPr>
              <p:cNvPr id="3" name="内容占位符 2">
                <a:extLst>
                  <a:ext uri="{FF2B5EF4-FFF2-40B4-BE49-F238E27FC236}">
                    <a16:creationId xmlns:a16="http://schemas.microsoft.com/office/drawing/2014/main" id="{8EE7445F-27CC-C29D-79EB-D48858836BF4}"/>
                  </a:ext>
                </a:extLst>
              </p:cNvPr>
              <p:cNvSpPr>
                <a:spLocks noGrp="1" noRot="1" noChangeAspect="1" noMove="1" noResize="1" noEditPoints="1" noAdjustHandles="1" noChangeArrowheads="1" noChangeShapeType="1" noTextEdit="1"/>
              </p:cNvSpPr>
              <p:nvPr>
                <p:ph idx="1"/>
              </p:nvPr>
            </p:nvSpPr>
            <p:spPr>
              <a:blipFill>
                <a:blip r:embed="rId2"/>
                <a:stretch>
                  <a:fillRect l="-604" t="-1463" b="-78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86BC502-5E97-6A55-86D7-83D3FAFF18EA}"/>
              </a:ext>
            </a:extLst>
          </p:cNvPr>
          <p:cNvSpPr>
            <a:spLocks noGrp="1"/>
          </p:cNvSpPr>
          <p:nvPr>
            <p:ph type="ftr" sz="quarter" idx="10"/>
          </p:nvPr>
        </p:nvSpPr>
        <p:spPr/>
        <p:txBody>
          <a:bodyPr/>
          <a:lstStyle/>
          <a:p>
            <a:r>
              <a:rPr lang="en-US" altLang="zh-CN" dirty="0"/>
              <a:t>AS- AD</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E239D2D6-EA2E-A1CF-F1E5-E454F1BD2C54}"/>
              </a:ext>
            </a:extLst>
          </p:cNvPr>
          <p:cNvSpPr>
            <a:spLocks noGrp="1"/>
          </p:cNvSpPr>
          <p:nvPr>
            <p:ph type="sldNum" sz="quarter" idx="11"/>
          </p:nvPr>
        </p:nvSpPr>
        <p:spPr/>
        <p:txBody>
          <a:bodyPr/>
          <a:lstStyle/>
          <a:p>
            <a:fld id="{FF75CA96-F32A-7F4F-98C9-CA940BD9BB90}" type="slidenum">
              <a:rPr lang="zh-CN" altLang="zh-CN" smtClean="0"/>
              <a:pPr/>
              <a:t>25</a:t>
            </a:fld>
            <a:endParaRPr lang="en-US" altLang="zh-CN"/>
          </a:p>
        </p:txBody>
      </p:sp>
    </p:spTree>
    <p:extLst>
      <p:ext uri="{BB962C8B-B14F-4D97-AF65-F5344CB8AC3E}">
        <p14:creationId xmlns:p14="http://schemas.microsoft.com/office/powerpoint/2010/main" val="1537672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9512" y="758872"/>
            <a:ext cx="4191509" cy="2238599"/>
          </a:xfrm>
        </p:spPr>
        <p:txBody>
          <a:bodyPr/>
          <a:lstStyle/>
          <a:p>
            <a:r>
              <a:rPr lang="zh-CN" altLang="en-US" sz="1210" b="1" dirty="0"/>
              <a:t>假定：</a:t>
            </a:r>
            <a:r>
              <a:rPr lang="zh-CN" altLang="en-US" sz="1210" dirty="0"/>
              <a:t>劳动力市场处于充分就业的均衡状态</a:t>
            </a:r>
            <a:endParaRPr lang="en-US" altLang="zh-CN" sz="1210" dirty="0"/>
          </a:p>
          <a:p>
            <a:endParaRPr lang="en-US" altLang="zh-CN" sz="1210" dirty="0"/>
          </a:p>
          <a:p>
            <a:endParaRPr lang="en-US" altLang="zh-CN" sz="1210" dirty="0"/>
          </a:p>
          <a:p>
            <a:endParaRPr lang="en-US" altLang="zh-CN" sz="1210" dirty="0"/>
          </a:p>
          <a:p>
            <a:endParaRPr lang="en-US" altLang="zh-CN" sz="1210" dirty="0"/>
          </a:p>
          <a:p>
            <a:endParaRPr lang="en-US" altLang="zh-CN" sz="1210" dirty="0"/>
          </a:p>
          <a:p>
            <a:r>
              <a:rPr lang="zh-CN" altLang="en-US" sz="1210" dirty="0"/>
              <a:t>当经济出现技术进步时，潜在</a:t>
            </a:r>
            <a:endParaRPr lang="en-US" altLang="zh-CN" sz="1210" dirty="0"/>
          </a:p>
          <a:p>
            <a:pPr marL="0" indent="0">
              <a:buNone/>
            </a:pPr>
            <a:r>
              <a:rPr lang="en-US" altLang="zh-CN" sz="1210" dirty="0"/>
              <a:t>GDP</a:t>
            </a:r>
            <a:r>
              <a:rPr lang="zh-CN" altLang="en-US" sz="1210" dirty="0"/>
              <a:t>将随时间推移而增长，古典</a:t>
            </a:r>
            <a:r>
              <a:rPr lang="en-US" altLang="zh-CN" sz="1210" dirty="0"/>
              <a:t>AS</a:t>
            </a:r>
            <a:r>
              <a:rPr lang="zh-CN" altLang="en-US" sz="1210" dirty="0"/>
              <a:t>曲线会向右移动。</a:t>
            </a:r>
            <a:endParaRPr lang="en-US" altLang="zh-CN" sz="1210" dirty="0"/>
          </a:p>
          <a:p>
            <a:r>
              <a:rPr lang="zh-CN" altLang="en-US" sz="1210" dirty="0"/>
              <a:t>也就是说，潜在</a:t>
            </a:r>
            <a:r>
              <a:rPr lang="en-US" altLang="zh-CN" sz="1210" dirty="0"/>
              <a:t>GDP</a:t>
            </a:r>
            <a:r>
              <a:rPr lang="zh-CN" altLang="en-US" sz="1210" dirty="0"/>
              <a:t>“相对于价格而言，是外生的”</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26</a:t>
            </a:fld>
            <a:endParaRPr lang="zh-CN" altLang="en-US"/>
          </a:p>
        </p:txBody>
      </p:sp>
      <p:grpSp>
        <p:nvGrpSpPr>
          <p:cNvPr id="7" name="组合 6">
            <a:extLst>
              <a:ext uri="{FF2B5EF4-FFF2-40B4-BE49-F238E27FC236}">
                <a16:creationId xmlns:a16="http://schemas.microsoft.com/office/drawing/2014/main" id="{ED31D0A1-0F9D-46F2-A0ED-0ABA46027841}"/>
              </a:ext>
            </a:extLst>
          </p:cNvPr>
          <p:cNvGrpSpPr/>
          <p:nvPr/>
        </p:nvGrpSpPr>
        <p:grpSpPr>
          <a:xfrm>
            <a:off x="2665089" y="1180245"/>
            <a:ext cx="1784962" cy="1419416"/>
            <a:chOff x="5096577" y="2982085"/>
            <a:chExt cx="3540421" cy="2815370"/>
          </a:xfrm>
        </p:grpSpPr>
        <p:pic>
          <p:nvPicPr>
            <p:cNvPr id="8" name="Picture 4" descr="xf178">
              <a:extLst>
                <a:ext uri="{FF2B5EF4-FFF2-40B4-BE49-F238E27FC236}">
                  <a16:creationId xmlns:a16="http://schemas.microsoft.com/office/drawing/2014/main" id="{1FD2B949-CE3B-437B-8DC5-9D89BCBAC7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6577" y="2982085"/>
              <a:ext cx="3540421" cy="2361463"/>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02F4BD4E-1B2E-4651-96AE-F6A4C63904B8}"/>
                </a:ext>
              </a:extLst>
            </p:cNvPr>
            <p:cNvSpPr/>
            <p:nvPr/>
          </p:nvSpPr>
          <p:spPr>
            <a:xfrm>
              <a:off x="5816482" y="5293820"/>
              <a:ext cx="2235834" cy="503635"/>
            </a:xfrm>
            <a:prstGeom prst="rect">
              <a:avLst/>
            </a:prstGeom>
          </p:spPr>
          <p:txBody>
            <a:bodyPr wrap="none">
              <a:spAutoFit/>
            </a:bodyPr>
            <a:lstStyle/>
            <a:p>
              <a:pPr algn="ctr">
                <a:spcBef>
                  <a:spcPct val="50000"/>
                </a:spcBef>
              </a:pPr>
              <a:r>
                <a:rPr lang="zh-CN" altLang="en-US" sz="105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古典总供给曲线</a:t>
              </a:r>
            </a:p>
          </p:txBody>
        </p:sp>
      </p:grpSp>
      <p:sp>
        <p:nvSpPr>
          <p:cNvPr id="10" name="内容占位符 2">
            <a:extLst>
              <a:ext uri="{FF2B5EF4-FFF2-40B4-BE49-F238E27FC236}">
                <a16:creationId xmlns:a16="http://schemas.microsoft.com/office/drawing/2014/main" id="{75A0E672-59F8-4D8B-AAB2-F240FB8C19EB}"/>
              </a:ext>
            </a:extLst>
          </p:cNvPr>
          <p:cNvSpPr txBox="1">
            <a:spLocks/>
          </p:cNvSpPr>
          <p:nvPr/>
        </p:nvSpPr>
        <p:spPr bwMode="auto">
          <a:xfrm>
            <a:off x="281420" y="1072070"/>
            <a:ext cx="2383669" cy="1270210"/>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61040">
              <a:buNone/>
            </a:pPr>
            <a:r>
              <a:rPr lang="en-US" altLang="zh-CN" sz="1100" dirty="0">
                <a:latin typeface="KaiTi" panose="02010609060101010101" pitchFamily="49" charset="-122"/>
                <a:ea typeface="KaiTi" panose="02010609060101010101" pitchFamily="49" charset="-122"/>
              </a:rPr>
              <a:t>    </a:t>
            </a:r>
            <a:r>
              <a:rPr lang="zh-CN" altLang="en-US" sz="1100" dirty="0">
                <a:latin typeface="KaiTi" panose="02010609060101010101" pitchFamily="49" charset="-122"/>
                <a:ea typeface="KaiTi" panose="02010609060101010101" pitchFamily="49" charset="-122"/>
              </a:rPr>
              <a:t>古典学派认为，</a:t>
            </a:r>
            <a:r>
              <a:rPr lang="zh-CN" altLang="en-US" sz="1100" b="1" dirty="0">
                <a:latin typeface="KaiTi" panose="02010609060101010101" pitchFamily="49" charset="-122"/>
                <a:ea typeface="KaiTi" panose="02010609060101010101" pitchFamily="49" charset="-122"/>
              </a:rPr>
              <a:t>总供给曲线是一条位于经济的潜在产量或充分就业水平上的垂直线。</a:t>
            </a:r>
            <a:endParaRPr lang="en-US" altLang="zh-CN" sz="1100" b="1" dirty="0">
              <a:latin typeface="KaiTi" panose="02010609060101010101" pitchFamily="49" charset="-122"/>
              <a:ea typeface="KaiTi" panose="02010609060101010101" pitchFamily="49" charset="-122"/>
            </a:endParaRPr>
          </a:p>
          <a:p>
            <a:pPr marL="0" indent="0" defTabSz="461040">
              <a:buNone/>
            </a:pPr>
            <a:r>
              <a:rPr lang="zh-CN" altLang="en-US" sz="1100" dirty="0">
                <a:latin typeface="KaiTi" panose="02010609060101010101" pitchFamily="49" charset="-122"/>
                <a:ea typeface="KaiTi" panose="02010609060101010101" pitchFamily="49" charset="-122"/>
              </a:rPr>
              <a:t>    这是由于，当经济中所有的生产要素都得到最好的利用时，整个产品的产量将得到增加，而不论价格水平是多少。</a:t>
            </a:r>
            <a:endParaRPr lang="en-US" altLang="zh-CN" sz="1100" dirty="0">
              <a:latin typeface="KaiTi" panose="02010609060101010101" pitchFamily="49" charset="-122"/>
              <a:ea typeface="KaiTi" panose="02010609060101010101" pitchFamily="49" charset="-122"/>
            </a:endParaRPr>
          </a:p>
        </p:txBody>
      </p:sp>
      <p:sp>
        <p:nvSpPr>
          <p:cNvPr id="11" name="Rectangle 6">
            <a:extLst>
              <a:ext uri="{FF2B5EF4-FFF2-40B4-BE49-F238E27FC236}">
                <a16:creationId xmlns:a16="http://schemas.microsoft.com/office/drawing/2014/main" id="{FFB3C34A-2127-E347-464A-C2D4EC5658CD}"/>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26</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2" name="日期占位符 3">
            <a:extLst>
              <a:ext uri="{FF2B5EF4-FFF2-40B4-BE49-F238E27FC236}">
                <a16:creationId xmlns:a16="http://schemas.microsoft.com/office/drawing/2014/main" id="{FBC44CA5-6A12-6805-6A43-482742413F4F}"/>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3" name="标题 12">
            <a:extLst>
              <a:ext uri="{FF2B5EF4-FFF2-40B4-BE49-F238E27FC236}">
                <a16:creationId xmlns:a16="http://schemas.microsoft.com/office/drawing/2014/main" id="{093B3CE2-DCF2-DA8A-78D3-72BCFF6FAD81}"/>
              </a:ext>
            </a:extLst>
          </p:cNvPr>
          <p:cNvSpPr>
            <a:spLocks noGrp="1"/>
          </p:cNvSpPr>
          <p:nvPr>
            <p:ph type="title"/>
          </p:nvPr>
        </p:nvSpPr>
        <p:spPr>
          <a:xfrm>
            <a:off x="172879" y="127376"/>
            <a:ext cx="4240332" cy="631496"/>
          </a:xfrm>
        </p:spPr>
        <p:txBody>
          <a:bodyPr/>
          <a:lstStyle/>
          <a:p>
            <a:r>
              <a:rPr kumimoji="1" lang="zh-CN" altLang="en-US" dirty="0"/>
              <a:t>长期总供给曲线（古典）</a:t>
            </a:r>
          </a:p>
        </p:txBody>
      </p:sp>
    </p:spTree>
    <p:extLst>
      <p:ext uri="{BB962C8B-B14F-4D97-AF65-F5344CB8AC3E}">
        <p14:creationId xmlns:p14="http://schemas.microsoft.com/office/powerpoint/2010/main" val="14239624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1" dirty="0"/>
              <a:t>为什么古典总供给曲线具有垂直形状？</a:t>
            </a:r>
            <a:endParaRPr lang="en-US" altLang="zh-CN" b="1" dirty="0"/>
          </a:p>
          <a:p>
            <a:r>
              <a:rPr lang="en-US" altLang="zh-CN" dirty="0">
                <a:latin typeface="+mn-ea"/>
                <a:cs typeface="Times New Roman" panose="02020603050405020304" pitchFamily="18" charset="0"/>
              </a:rPr>
              <a:t>1. </a:t>
            </a:r>
            <a:r>
              <a:rPr lang="zh-CN" altLang="en-US" dirty="0">
                <a:latin typeface="+mn-ea"/>
                <a:cs typeface="Times New Roman" panose="02020603050405020304" pitchFamily="18" charset="0"/>
              </a:rPr>
              <a:t>古典学派假设货币工资</a:t>
            </a:r>
            <a:r>
              <a:rPr lang="en-US" altLang="zh-CN" dirty="0">
                <a:latin typeface="+mn-ea"/>
                <a:cs typeface="Times New Roman" panose="02020603050405020304" pitchFamily="18" charset="0"/>
              </a:rPr>
              <a:t>(W)</a:t>
            </a:r>
            <a:r>
              <a:rPr lang="zh-CN" altLang="en-US" dirty="0">
                <a:latin typeface="+mn-ea"/>
                <a:cs typeface="Times New Roman" panose="02020603050405020304" pitchFamily="18" charset="0"/>
              </a:rPr>
              <a:t>和价格水平</a:t>
            </a:r>
            <a:r>
              <a:rPr lang="en-US" altLang="zh-CN" dirty="0">
                <a:latin typeface="+mn-ea"/>
                <a:cs typeface="Times New Roman" panose="02020603050405020304" pitchFamily="18" charset="0"/>
              </a:rPr>
              <a:t>(P)</a:t>
            </a:r>
            <a:r>
              <a:rPr lang="zh-CN" altLang="en-US" dirty="0">
                <a:latin typeface="+mn-ea"/>
                <a:cs typeface="Times New Roman" panose="02020603050405020304" pitchFamily="18" charset="0"/>
              </a:rPr>
              <a:t>可以迅速进行调节，使得实际工资</a:t>
            </a:r>
            <a:r>
              <a:rPr lang="en-US" altLang="zh-CN" dirty="0">
                <a:latin typeface="+mn-ea"/>
                <a:cs typeface="Times New Roman" panose="02020603050405020304" pitchFamily="18" charset="0"/>
              </a:rPr>
              <a:t>(W/P)</a:t>
            </a:r>
            <a:r>
              <a:rPr lang="zh-CN" altLang="en-US" dirty="0">
                <a:latin typeface="+mn-ea"/>
                <a:cs typeface="Times New Roman" panose="02020603050405020304" pitchFamily="18" charset="0"/>
              </a:rPr>
              <a:t>总是处于充分就业时的水平，总产量也处于充分就业水平。</a:t>
            </a:r>
            <a:endParaRPr lang="en-US" altLang="zh-CN" dirty="0">
              <a:latin typeface="+mn-ea"/>
              <a:cs typeface="Times New Roman" panose="02020603050405020304" pitchFamily="18" charset="0"/>
            </a:endParaRPr>
          </a:p>
          <a:p>
            <a:pPr marL="0" indent="0">
              <a:buNone/>
            </a:pPr>
            <a:r>
              <a:rPr lang="zh-CN" altLang="en-US" dirty="0">
                <a:latin typeface="+mn-ea"/>
                <a:cs typeface="Times New Roman" panose="02020603050405020304" pitchFamily="18" charset="0"/>
              </a:rPr>
              <a:t>       只要存在</a:t>
            </a:r>
            <a:r>
              <a:rPr lang="en-US" altLang="zh-CN" dirty="0">
                <a:latin typeface="+mn-ea"/>
                <a:cs typeface="Times New Roman" panose="02020603050405020304" pitchFamily="18" charset="0"/>
              </a:rPr>
              <a:t>W</a:t>
            </a:r>
            <a:r>
              <a:rPr lang="zh-CN" altLang="en-US" dirty="0">
                <a:latin typeface="+mn-ea"/>
                <a:cs typeface="Times New Roman" panose="02020603050405020304" pitchFamily="18" charset="0"/>
              </a:rPr>
              <a:t>和</a:t>
            </a:r>
            <a:r>
              <a:rPr lang="en-US" altLang="zh-CN" dirty="0">
                <a:latin typeface="+mn-ea"/>
                <a:cs typeface="Times New Roman" panose="02020603050405020304" pitchFamily="18" charset="0"/>
              </a:rPr>
              <a:t>P</a:t>
            </a:r>
            <a:r>
              <a:rPr lang="zh-CN" altLang="en-US" dirty="0">
                <a:latin typeface="+mn-ea"/>
                <a:cs typeface="Times New Roman" panose="02020603050405020304" pitchFamily="18" charset="0"/>
              </a:rPr>
              <a:t>可迅速调整的假设，古典总供给曲线也是短期总供给曲线。</a:t>
            </a:r>
            <a:endParaRPr lang="en-US" altLang="zh-CN" dirty="0">
              <a:latin typeface="+mn-ea"/>
              <a:cs typeface="Times New Roman" panose="02020603050405020304" pitchFamily="18" charset="0"/>
            </a:endParaRPr>
          </a:p>
          <a:p>
            <a:r>
              <a:rPr lang="en-US" altLang="zh-CN" dirty="0">
                <a:latin typeface="+mn-ea"/>
                <a:cs typeface="Times New Roman" panose="02020603050405020304" pitchFamily="18" charset="0"/>
              </a:rPr>
              <a:t>2. </a:t>
            </a:r>
            <a:r>
              <a:rPr lang="zh-CN" altLang="en-US" dirty="0">
                <a:latin typeface="+mn-ea"/>
                <a:cs typeface="Times New Roman" panose="02020603050405020304" pitchFamily="18" charset="0"/>
              </a:rPr>
              <a:t>在长期，即使不采用</a:t>
            </a:r>
            <a:r>
              <a:rPr lang="en-US" altLang="zh-CN" dirty="0">
                <a:latin typeface="+mn-ea"/>
                <a:cs typeface="Times New Roman" panose="02020603050405020304" pitchFamily="18" charset="0"/>
              </a:rPr>
              <a:t>W</a:t>
            </a:r>
            <a:r>
              <a:rPr lang="zh-CN" altLang="en-US" dirty="0">
                <a:latin typeface="+mn-ea"/>
                <a:cs typeface="Times New Roman" panose="02020603050405020304" pitchFamily="18" charset="0"/>
              </a:rPr>
              <a:t>和</a:t>
            </a:r>
            <a:r>
              <a:rPr lang="en-US" altLang="zh-CN" dirty="0">
                <a:latin typeface="+mn-ea"/>
                <a:cs typeface="Times New Roman" panose="02020603050405020304" pitchFamily="18" charset="0"/>
              </a:rPr>
              <a:t>P</a:t>
            </a:r>
            <a:r>
              <a:rPr lang="zh-CN" altLang="en-US" dirty="0">
                <a:latin typeface="+mn-ea"/>
                <a:cs typeface="Times New Roman" panose="02020603050405020304" pitchFamily="18" charset="0"/>
              </a:rPr>
              <a:t>能够迅速调整的假设，货币工资和价格水平也被认为具有充分的时间来进行调整，使实际工资处于充分就业水平。</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27</a:t>
            </a:fld>
            <a:endParaRPr lang="zh-CN" altLang="en-US"/>
          </a:p>
        </p:txBody>
      </p:sp>
      <p:sp>
        <p:nvSpPr>
          <p:cNvPr id="7" name="Rectangle 6">
            <a:extLst>
              <a:ext uri="{FF2B5EF4-FFF2-40B4-BE49-F238E27FC236}">
                <a16:creationId xmlns:a16="http://schemas.microsoft.com/office/drawing/2014/main" id="{1707E6EC-99F2-E285-C17A-4209CD1BAA22}"/>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27</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0C0C0B5B-4608-AD8B-A28D-F40638473A9B}"/>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F8B9878C-7F60-4EB9-8C4F-83291B86ADA1}"/>
              </a:ext>
            </a:extLst>
          </p:cNvPr>
          <p:cNvSpPr>
            <a:spLocks noGrp="1"/>
          </p:cNvSpPr>
          <p:nvPr>
            <p:ph type="title"/>
          </p:nvPr>
        </p:nvSpPr>
        <p:spPr/>
        <p:txBody>
          <a:bodyPr/>
          <a:lstStyle/>
          <a:p>
            <a:r>
              <a:rPr kumimoji="1" lang="zh-CN" altLang="en-US" dirty="0"/>
              <a:t>古典总供给曲线</a:t>
            </a:r>
          </a:p>
        </p:txBody>
      </p:sp>
    </p:spTree>
    <p:extLst>
      <p:ext uri="{BB962C8B-B14F-4D97-AF65-F5344CB8AC3E}">
        <p14:creationId xmlns:p14="http://schemas.microsoft.com/office/powerpoint/2010/main" val="1597511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48746" y="530233"/>
                <a:ext cx="3976211" cy="640024"/>
              </a:xfrm>
            </p:spPr>
            <p:txBody>
              <a:bodyPr/>
              <a:lstStyle/>
              <a:p>
                <a:r>
                  <a:rPr lang="zh-CN" altLang="en-US" sz="1210" dirty="0"/>
                  <a:t>总需求曲线</a:t>
                </a:r>
                <a14:m>
                  <m:oMath xmlns:m="http://schemas.openxmlformats.org/officeDocument/2006/math">
                    <m:r>
                      <a:rPr lang="en-US" altLang="zh-CN" sz="1210" i="1">
                        <a:latin typeface="Cambria Math" panose="02040503050406030204" pitchFamily="18" charset="0"/>
                      </a:rPr>
                      <m:t>𝐴</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𝐷</m:t>
                        </m:r>
                      </m:e>
                      <m:sub>
                        <m:r>
                          <a:rPr lang="en-US" altLang="zh-CN" sz="1210" i="1">
                            <a:latin typeface="Cambria Math" panose="02040503050406030204" pitchFamily="18" charset="0"/>
                          </a:rPr>
                          <m:t>0</m:t>
                        </m:r>
                      </m:sub>
                    </m:sSub>
                  </m:oMath>
                </a14:m>
                <a:r>
                  <a:rPr lang="zh-CN" altLang="en-US" sz="1210" dirty="0"/>
                  <a:t>与古典总供给曲线</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𝑓</m:t>
                        </m:r>
                      </m:sub>
                    </m:sSub>
                  </m:oMath>
                </a14:m>
                <a:r>
                  <a:rPr lang="zh-CN" altLang="en-US" sz="1210" dirty="0"/>
                  <a:t>相交于</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0</m:t>
                        </m:r>
                      </m:sub>
                    </m:sSub>
                  </m:oMath>
                </a14:m>
                <a:r>
                  <a:rPr lang="zh-CN" altLang="en-US" sz="1210" dirty="0"/>
                  <a:t>，此时价格水平是</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𝑃</m:t>
                        </m:r>
                      </m:e>
                      <m:sub>
                        <m:r>
                          <a:rPr lang="en-US" altLang="zh-CN" sz="1210" i="1">
                            <a:latin typeface="Cambria Math" panose="02040503050406030204" pitchFamily="18" charset="0"/>
                          </a:rPr>
                          <m:t>0</m:t>
                        </m:r>
                      </m:sub>
                    </m:sSub>
                  </m:oMath>
                </a14:m>
                <a:r>
                  <a:rPr lang="zh-CN" altLang="en-US" sz="1210" dirty="0"/>
                  <a:t>，产量是充分就业时的产量</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𝑓</m:t>
                        </m:r>
                      </m:sub>
                    </m:sSub>
                    <m:r>
                      <a:rPr lang="zh-CN" altLang="en-US" sz="1210" i="1">
                        <a:latin typeface="Cambria Math" panose="02040503050406030204" pitchFamily="18" charset="0"/>
                      </a:rPr>
                      <m:t>。</m:t>
                    </m:r>
                  </m:oMath>
                </a14:m>
                <a:endParaRPr lang="zh-CN" altLang="en-US" sz="121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48746" y="530233"/>
                <a:ext cx="3976211" cy="640024"/>
              </a:xfrm>
              <a:blipFill>
                <a:blip r:embed="rId2"/>
                <a:stretch>
                  <a:fillRect l="-318" t="-1923"/>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28</a:t>
            </a:fld>
            <a:endParaRPr lang="zh-CN" altLang="en-US"/>
          </a:p>
        </p:txBody>
      </p:sp>
      <p:pic>
        <p:nvPicPr>
          <p:cNvPr id="7" name="Picture 4" descr="xf17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2228" y="1170257"/>
            <a:ext cx="1914601" cy="1477008"/>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2584213" y="2643610"/>
            <a:ext cx="1588897" cy="232051"/>
          </a:xfrm>
          <a:prstGeom prst="rect">
            <a:avLst/>
          </a:prstGeom>
        </p:spPr>
        <p:txBody>
          <a:bodyPr wrap="none">
            <a:spAutoFit/>
          </a:bodyPr>
          <a:lstStyle/>
          <a:p>
            <a:pPr algn="ctr">
              <a:spcBef>
                <a:spcPct val="50000"/>
              </a:spcBef>
            </a:pPr>
            <a:r>
              <a:rPr lang="zh-CN" altLang="en-US" sz="908"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古典总供给曲线的政策含义</a:t>
            </a:r>
          </a:p>
        </p:txBody>
      </p:sp>
      <mc:AlternateContent xmlns:mc="http://schemas.openxmlformats.org/markup-compatibility/2006" xmlns:a14="http://schemas.microsoft.com/office/drawing/2010/main">
        <mc:Choice Requires="a14">
          <p:sp>
            <p:nvSpPr>
              <p:cNvPr id="9" name="内容占位符 2"/>
              <p:cNvSpPr txBox="1">
                <a:spLocks/>
              </p:cNvSpPr>
              <p:nvPr/>
            </p:nvSpPr>
            <p:spPr bwMode="auto">
              <a:xfrm>
                <a:off x="286225" y="1170257"/>
                <a:ext cx="2155525" cy="182482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461040">
                  <a:lnSpc>
                    <a:spcPts val="1210"/>
                  </a:lnSpc>
                </a:pPr>
                <a:r>
                  <a:rPr lang="zh-CN" altLang="en-US" sz="1100" dirty="0">
                    <a:latin typeface="Garamond" panose="02020404030301010803" pitchFamily="18" charset="0"/>
                    <a:ea typeface="KaiTi" panose="02010609060101010101" pitchFamily="49" charset="-122"/>
                  </a:rPr>
                  <a:t>在</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𝐸</m:t>
                        </m:r>
                      </m:e>
                      <m:sub>
                        <m:r>
                          <a:rPr lang="en-US" altLang="zh-CN" sz="1100" i="1">
                            <a:latin typeface="Cambria Math" panose="02040503050406030204" pitchFamily="18" charset="0"/>
                          </a:rPr>
                          <m:t>0</m:t>
                        </m:r>
                      </m:sub>
                    </m:sSub>
                  </m:oMath>
                </a14:m>
                <a:r>
                  <a:rPr lang="zh-CN" altLang="en-US" sz="1100" dirty="0">
                    <a:latin typeface="Garamond" panose="02020404030301010803" pitchFamily="18" charset="0"/>
                    <a:ea typeface="KaiTi" panose="02010609060101010101" pitchFamily="49" charset="-122"/>
                  </a:rPr>
                  <a:t>的状态下，国家即使通过增加需求的政策使</a:t>
                </a:r>
                <a14:m>
                  <m:oMath xmlns:m="http://schemas.openxmlformats.org/officeDocument/2006/math">
                    <m:r>
                      <a:rPr lang="en-US" altLang="zh-CN" sz="1100" i="1">
                        <a:latin typeface="Cambria Math" panose="02040503050406030204" pitchFamily="18" charset="0"/>
                      </a:rPr>
                      <m:t>𝐴</m:t>
                    </m:r>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𝐷</m:t>
                        </m:r>
                      </m:e>
                      <m:sub>
                        <m:r>
                          <a:rPr lang="en-US" altLang="zh-CN" sz="1100" i="1">
                            <a:latin typeface="Cambria Math" panose="02040503050406030204" pitchFamily="18" charset="0"/>
                          </a:rPr>
                          <m:t>0</m:t>
                        </m:r>
                      </m:sub>
                    </m:sSub>
                  </m:oMath>
                </a14:m>
                <a:r>
                  <a:rPr lang="zh-CN" altLang="en-US" sz="1100" dirty="0">
                    <a:latin typeface="Garamond" panose="02020404030301010803" pitchFamily="18" charset="0"/>
                    <a:ea typeface="KaiTi" panose="02010609060101010101" pitchFamily="49" charset="-122"/>
                  </a:rPr>
                  <a:t>向右移动到</a:t>
                </a:r>
                <a14:m>
                  <m:oMath xmlns:m="http://schemas.openxmlformats.org/officeDocument/2006/math">
                    <m:r>
                      <a:rPr lang="en-US" altLang="zh-CN" sz="1100" i="1">
                        <a:latin typeface="Cambria Math" panose="02040503050406030204" pitchFamily="18" charset="0"/>
                      </a:rPr>
                      <m:t>𝐴</m:t>
                    </m:r>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𝐷</m:t>
                        </m:r>
                      </m:e>
                      <m:sub>
                        <m:r>
                          <a:rPr lang="en-US" altLang="zh-CN" sz="1100" i="1">
                            <a:latin typeface="Cambria Math" panose="02040503050406030204" pitchFamily="18" charset="0"/>
                          </a:rPr>
                          <m:t>1</m:t>
                        </m:r>
                      </m:sub>
                    </m:sSub>
                  </m:oMath>
                </a14:m>
                <a:r>
                  <a:rPr lang="zh-CN" altLang="en-US" sz="1100" dirty="0">
                    <a:latin typeface="Garamond" panose="02020404030301010803" pitchFamily="18" charset="0"/>
                    <a:ea typeface="KaiTi" panose="02010609060101010101" pitchFamily="49" charset="-122"/>
                  </a:rPr>
                  <a:t>的位置，其与</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𝑦</m:t>
                        </m:r>
                      </m:e>
                      <m:sub>
                        <m:r>
                          <a:rPr lang="en-US" altLang="zh-CN" sz="1100" i="1">
                            <a:latin typeface="Cambria Math" panose="02040503050406030204" pitchFamily="18" charset="0"/>
                          </a:rPr>
                          <m:t>𝑓</m:t>
                        </m:r>
                      </m:sub>
                    </m:sSub>
                  </m:oMath>
                </a14:m>
                <a:r>
                  <a:rPr lang="zh-CN" altLang="en-US" sz="1100" dirty="0">
                    <a:latin typeface="Garamond" panose="02020404030301010803" pitchFamily="18" charset="0"/>
                    <a:ea typeface="KaiTi" panose="02010609060101010101" pitchFamily="49" charset="-122"/>
                  </a:rPr>
                  <a:t>的新交点为</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𝐸</m:t>
                        </m:r>
                      </m:e>
                      <m:sub>
                        <m:r>
                          <a:rPr lang="en-US" altLang="zh-CN" sz="1100" i="1">
                            <a:latin typeface="Cambria Math" panose="02040503050406030204" pitchFamily="18" charset="0"/>
                          </a:rPr>
                          <m:t>1</m:t>
                        </m:r>
                      </m:sub>
                    </m:sSub>
                  </m:oMath>
                </a14:m>
                <a:r>
                  <a:rPr lang="zh-CN" altLang="en-US" sz="1100" dirty="0">
                    <a:latin typeface="Garamond" panose="02020404030301010803" pitchFamily="18" charset="0"/>
                    <a:ea typeface="KaiTi" panose="02010609060101010101" pitchFamily="49" charset="-122"/>
                  </a:rPr>
                  <a:t>，在</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𝐸</m:t>
                        </m:r>
                      </m:e>
                      <m:sub>
                        <m:r>
                          <a:rPr lang="en-US" altLang="zh-CN" sz="1100" i="1">
                            <a:latin typeface="Cambria Math" panose="02040503050406030204" pitchFamily="18" charset="0"/>
                          </a:rPr>
                          <m:t>1</m:t>
                        </m:r>
                      </m:sub>
                    </m:sSub>
                    <m:r>
                      <a:rPr lang="zh-CN" altLang="en-US" sz="1100" i="1">
                        <a:latin typeface="Cambria Math" panose="02040503050406030204" pitchFamily="18" charset="0"/>
                      </a:rPr>
                      <m:t>点</m:t>
                    </m:r>
                  </m:oMath>
                </a14:m>
                <a:r>
                  <a:rPr lang="zh-CN" altLang="en-US" sz="1100" dirty="0">
                    <a:latin typeface="Garamond" panose="02020404030301010803" pitchFamily="18" charset="0"/>
                    <a:ea typeface="KaiTi" panose="02010609060101010101" pitchFamily="49" charset="-122"/>
                  </a:rPr>
                  <a:t>，价格水平是</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𝑃</m:t>
                        </m:r>
                      </m:e>
                      <m:sub>
                        <m:r>
                          <a:rPr lang="en-US" altLang="zh-CN" sz="1100" i="1">
                            <a:latin typeface="Cambria Math" panose="02040503050406030204" pitchFamily="18" charset="0"/>
                          </a:rPr>
                          <m:t>1</m:t>
                        </m:r>
                      </m:sub>
                    </m:sSub>
                  </m:oMath>
                </a14:m>
                <a:r>
                  <a:rPr lang="zh-CN" altLang="en-US" sz="1100" dirty="0">
                    <a:latin typeface="Garamond" panose="02020404030301010803" pitchFamily="18" charset="0"/>
                    <a:ea typeface="KaiTi" panose="02010609060101010101" pitchFamily="49" charset="-122"/>
                  </a:rPr>
                  <a:t>，可是产量依然是</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𝑦</m:t>
                        </m:r>
                      </m:e>
                      <m:sub>
                        <m:r>
                          <a:rPr lang="en-US" altLang="zh-CN" sz="1100" i="1">
                            <a:latin typeface="Cambria Math" panose="02040503050406030204" pitchFamily="18" charset="0"/>
                          </a:rPr>
                          <m:t>𝑓</m:t>
                        </m:r>
                      </m:sub>
                    </m:sSub>
                  </m:oMath>
                </a14:m>
                <a:r>
                  <a:rPr lang="zh-CN" altLang="en-US" sz="1100" dirty="0">
                    <a:latin typeface="Garamond" panose="02020404030301010803" pitchFamily="18" charset="0"/>
                    <a:ea typeface="KaiTi" panose="02010609060101010101" pitchFamily="49" charset="-122"/>
                  </a:rPr>
                  <a:t>。</a:t>
                </a:r>
                <a:endParaRPr lang="en-US" altLang="zh-CN" sz="1100" dirty="0">
                  <a:latin typeface="Garamond" panose="02020404030301010803" pitchFamily="18" charset="0"/>
                  <a:ea typeface="KaiTi" panose="02010609060101010101" pitchFamily="49" charset="-122"/>
                </a:endParaRPr>
              </a:p>
              <a:p>
                <a:pPr algn="just" defTabSz="461040">
                  <a:lnSpc>
                    <a:spcPts val="1210"/>
                  </a:lnSpc>
                </a:pPr>
                <a:r>
                  <a:rPr lang="zh-CN" altLang="en-US" sz="1100" dirty="0">
                    <a:latin typeface="Garamond" panose="02020404030301010803" pitchFamily="18" charset="0"/>
                    <a:ea typeface="KaiTi" panose="02010609060101010101" pitchFamily="49" charset="-122"/>
                  </a:rPr>
                  <a:t>也就是说，增加需求的政策并不能改变产量，而只能造成物价上涨，甚至通货膨胀。</a:t>
                </a:r>
              </a:p>
            </p:txBody>
          </p:sp>
        </mc:Choice>
        <mc:Fallback xmlns="">
          <p:sp>
            <p:nvSpPr>
              <p:cNvPr id="9" name="内容占位符 2"/>
              <p:cNvSpPr txBox="1">
                <a:spLocks noRot="1" noChangeAspect="1" noMove="1" noResize="1" noEditPoints="1" noAdjustHandles="1" noChangeArrowheads="1" noChangeShapeType="1" noTextEdit="1"/>
              </p:cNvSpPr>
              <p:nvPr/>
            </p:nvSpPr>
            <p:spPr bwMode="auto">
              <a:xfrm>
                <a:off x="286225" y="1170257"/>
                <a:ext cx="2155525" cy="1824821"/>
              </a:xfrm>
              <a:prstGeom prst="rect">
                <a:avLst/>
              </a:prstGeom>
              <a:blipFill>
                <a:blip r:embed="rId4"/>
                <a:stretch>
                  <a:fillRect l="-1170" t="-2083" r="-175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Rectangle 6">
            <a:extLst>
              <a:ext uri="{FF2B5EF4-FFF2-40B4-BE49-F238E27FC236}">
                <a16:creationId xmlns:a16="http://schemas.microsoft.com/office/drawing/2014/main" id="{AD5921D3-926B-E5E0-8943-D3DBE7E3BD4C}"/>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28</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B7B5C547-A372-2C34-5643-E13F85DF1C6D}"/>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2" name="标题 11">
            <a:extLst>
              <a:ext uri="{FF2B5EF4-FFF2-40B4-BE49-F238E27FC236}">
                <a16:creationId xmlns:a16="http://schemas.microsoft.com/office/drawing/2014/main" id="{97C87328-CDF0-86A2-631F-580286DCF303}"/>
              </a:ext>
            </a:extLst>
          </p:cNvPr>
          <p:cNvSpPr>
            <a:spLocks noGrp="1"/>
          </p:cNvSpPr>
          <p:nvPr>
            <p:ph type="title"/>
          </p:nvPr>
        </p:nvSpPr>
        <p:spPr/>
        <p:txBody>
          <a:bodyPr/>
          <a:lstStyle/>
          <a:p>
            <a:r>
              <a:rPr kumimoji="1" lang="zh-CN" altLang="en-US" dirty="0"/>
              <a:t>长期总供给曲线的含义</a:t>
            </a:r>
          </a:p>
        </p:txBody>
      </p:sp>
    </p:spTree>
    <p:extLst>
      <p:ext uri="{BB962C8B-B14F-4D97-AF65-F5344CB8AC3E}">
        <p14:creationId xmlns:p14="http://schemas.microsoft.com/office/powerpoint/2010/main" val="4212034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CFF27F-7468-C933-70BA-91515F05A10E}"/>
              </a:ext>
            </a:extLst>
          </p:cNvPr>
          <p:cNvSpPr>
            <a:spLocks noGrp="1"/>
          </p:cNvSpPr>
          <p:nvPr>
            <p:ph type="title"/>
          </p:nvPr>
        </p:nvSpPr>
        <p:spPr/>
        <p:txBody>
          <a:bodyPr/>
          <a:lstStyle/>
          <a:p>
            <a:r>
              <a:rPr kumimoji="1" lang="zh-CN" altLang="en-US" dirty="0"/>
              <a:t>长期总供给曲线的分析</a:t>
            </a:r>
          </a:p>
        </p:txBody>
      </p:sp>
      <p:sp>
        <p:nvSpPr>
          <p:cNvPr id="4" name="页脚占位符 3">
            <a:extLst>
              <a:ext uri="{FF2B5EF4-FFF2-40B4-BE49-F238E27FC236}">
                <a16:creationId xmlns:a16="http://schemas.microsoft.com/office/drawing/2014/main" id="{F83FED37-25FE-BC95-29D9-C606C877BE72}"/>
              </a:ext>
            </a:extLst>
          </p:cNvPr>
          <p:cNvSpPr>
            <a:spLocks noGrp="1"/>
          </p:cNvSpPr>
          <p:nvPr>
            <p:ph type="ftr" sz="quarter" idx="10"/>
          </p:nvPr>
        </p:nvSpPr>
        <p:spPr/>
        <p:txBody>
          <a:bodyPr/>
          <a:lstStyle/>
          <a:p>
            <a:r>
              <a:rPr lang="en-US" altLang="zh-CN" dirty="0"/>
              <a:t>AS-AD</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11A65DEA-F7D2-8819-7C07-150B1FBB40EC}"/>
              </a:ext>
            </a:extLst>
          </p:cNvPr>
          <p:cNvSpPr>
            <a:spLocks noGrp="1"/>
          </p:cNvSpPr>
          <p:nvPr>
            <p:ph type="sldNum" sz="quarter" idx="11"/>
          </p:nvPr>
        </p:nvSpPr>
        <p:spPr/>
        <p:txBody>
          <a:bodyPr/>
          <a:lstStyle/>
          <a:p>
            <a:fld id="{FF75CA96-F32A-7F4F-98C9-CA940BD9BB90}" type="slidenum">
              <a:rPr lang="zh-CN" altLang="zh-CN" smtClean="0"/>
              <a:pPr/>
              <a:t>29</a:t>
            </a:fld>
            <a:endParaRPr lang="en-US" altLang="zh-CN"/>
          </a:p>
        </p:txBody>
      </p:sp>
      <p:pic>
        <p:nvPicPr>
          <p:cNvPr id="7" name="图片 6">
            <a:extLst>
              <a:ext uri="{FF2B5EF4-FFF2-40B4-BE49-F238E27FC236}">
                <a16:creationId xmlns:a16="http://schemas.microsoft.com/office/drawing/2014/main" id="{F63CC5D3-2B32-447F-B582-83F31FD497ED}"/>
              </a:ext>
            </a:extLst>
          </p:cNvPr>
          <p:cNvPicPr>
            <a:picLocks noChangeAspect="1"/>
          </p:cNvPicPr>
          <p:nvPr/>
        </p:nvPicPr>
        <p:blipFill rotWithShape="1">
          <a:blip r:embed="rId3"/>
          <a:srcRect l="68004"/>
          <a:stretch/>
        </p:blipFill>
        <p:spPr>
          <a:xfrm>
            <a:off x="3098597" y="687237"/>
            <a:ext cx="1475031" cy="2150503"/>
          </a:xfrm>
          <a:prstGeom prst="rect">
            <a:avLst/>
          </a:prstGeom>
        </p:spPr>
      </p:pic>
      <p:cxnSp>
        <p:nvCxnSpPr>
          <p:cNvPr id="11" name="直线连接符 10">
            <a:extLst>
              <a:ext uri="{FF2B5EF4-FFF2-40B4-BE49-F238E27FC236}">
                <a16:creationId xmlns:a16="http://schemas.microsoft.com/office/drawing/2014/main" id="{3F8C80E2-7EF1-603E-76B3-9D97F454C9AC}"/>
              </a:ext>
            </a:extLst>
          </p:cNvPr>
          <p:cNvCxnSpPr>
            <a:cxnSpLocks/>
            <a:endCxn id="21" idx="5"/>
          </p:cNvCxnSpPr>
          <p:nvPr/>
        </p:nvCxnSpPr>
        <p:spPr>
          <a:xfrm>
            <a:off x="841643" y="1759089"/>
            <a:ext cx="996667" cy="961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3" name="直线箭头连接符 12">
            <a:extLst>
              <a:ext uri="{FF2B5EF4-FFF2-40B4-BE49-F238E27FC236}">
                <a16:creationId xmlns:a16="http://schemas.microsoft.com/office/drawing/2014/main" id="{401D1995-A2BA-7EC8-AFCA-AA010A18D826}"/>
              </a:ext>
            </a:extLst>
          </p:cNvPr>
          <p:cNvCxnSpPr>
            <a:cxnSpLocks/>
          </p:cNvCxnSpPr>
          <p:nvPr/>
        </p:nvCxnSpPr>
        <p:spPr>
          <a:xfrm>
            <a:off x="853570" y="2617380"/>
            <a:ext cx="20181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线箭头连接符 13">
            <a:extLst>
              <a:ext uri="{FF2B5EF4-FFF2-40B4-BE49-F238E27FC236}">
                <a16:creationId xmlns:a16="http://schemas.microsoft.com/office/drawing/2014/main" id="{3370BA2A-6108-7B4B-8862-204C98D3D93A}"/>
              </a:ext>
            </a:extLst>
          </p:cNvPr>
          <p:cNvCxnSpPr>
            <a:cxnSpLocks/>
          </p:cNvCxnSpPr>
          <p:nvPr/>
        </p:nvCxnSpPr>
        <p:spPr>
          <a:xfrm flipH="1" flipV="1">
            <a:off x="830850" y="911947"/>
            <a:ext cx="22514" cy="1705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线连接符 14">
            <a:extLst>
              <a:ext uri="{FF2B5EF4-FFF2-40B4-BE49-F238E27FC236}">
                <a16:creationId xmlns:a16="http://schemas.microsoft.com/office/drawing/2014/main" id="{9B30300B-392B-815D-662A-D07EF92BEBE7}"/>
              </a:ext>
            </a:extLst>
          </p:cNvPr>
          <p:cNvCxnSpPr>
            <a:cxnSpLocks/>
          </p:cNvCxnSpPr>
          <p:nvPr/>
        </p:nvCxnSpPr>
        <p:spPr>
          <a:xfrm flipH="1">
            <a:off x="1822146" y="945048"/>
            <a:ext cx="4799" cy="1660709"/>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5D3C6DCE-3FFB-8212-4E2E-37847C235E21}"/>
              </a:ext>
            </a:extLst>
          </p:cNvPr>
          <p:cNvSpPr txBox="1"/>
          <p:nvPr/>
        </p:nvSpPr>
        <p:spPr>
          <a:xfrm>
            <a:off x="21036" y="669424"/>
            <a:ext cx="978153" cy="276999"/>
          </a:xfrm>
          <a:prstGeom prst="rect">
            <a:avLst/>
          </a:prstGeom>
          <a:noFill/>
        </p:spPr>
        <p:txBody>
          <a:bodyPr wrap="none" rtlCol="0">
            <a:spAutoFit/>
          </a:bodyPr>
          <a:lstStyle/>
          <a:p>
            <a:r>
              <a:rPr kumimoji="1" lang="en-US" altLang="zh-CN" sz="1200" i="1" dirty="0">
                <a:latin typeface="+mj-lt"/>
              </a:rPr>
              <a:t>price level, P</a:t>
            </a:r>
            <a:endParaRPr kumimoji="1" lang="zh-CN" altLang="en-US" sz="1200" i="1" dirty="0">
              <a:latin typeface="+mj-lt"/>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587EE60D-176D-B915-2956-B73518F3F19C}"/>
                  </a:ext>
                </a:extLst>
              </p:cNvPr>
              <p:cNvSpPr txBox="1"/>
              <p:nvPr/>
            </p:nvSpPr>
            <p:spPr>
              <a:xfrm>
                <a:off x="1539298" y="709415"/>
                <a:ext cx="556113"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100" b="0" i="1" dirty="0" smtClean="0">
                          <a:latin typeface="Cambria Math" panose="02040503050406030204" pitchFamily="18" charset="0"/>
                        </a:rPr>
                        <m:t>𝐿𝑅𝐴𝑆</m:t>
                      </m:r>
                    </m:oMath>
                  </m:oMathPara>
                </a14:m>
                <a:endParaRPr kumimoji="1" lang="zh-CN" altLang="en-US" sz="1100" dirty="0"/>
              </a:p>
            </p:txBody>
          </p:sp>
        </mc:Choice>
        <mc:Fallback xmlns="">
          <p:sp>
            <p:nvSpPr>
              <p:cNvPr id="17" name="文本框 16">
                <a:extLst>
                  <a:ext uri="{FF2B5EF4-FFF2-40B4-BE49-F238E27FC236}">
                    <a16:creationId xmlns:a16="http://schemas.microsoft.com/office/drawing/2014/main" id="{587EE60D-176D-B915-2956-B73518F3F19C}"/>
                  </a:ext>
                </a:extLst>
              </p:cNvPr>
              <p:cNvSpPr txBox="1">
                <a:spLocks noRot="1" noChangeAspect="1" noMove="1" noResize="1" noEditPoints="1" noAdjustHandles="1" noChangeArrowheads="1" noChangeShapeType="1" noTextEdit="1"/>
              </p:cNvSpPr>
              <p:nvPr/>
            </p:nvSpPr>
            <p:spPr>
              <a:xfrm>
                <a:off x="1539298" y="709415"/>
                <a:ext cx="556113" cy="261610"/>
              </a:xfrm>
              <a:prstGeom prst="rect">
                <a:avLst/>
              </a:prstGeom>
              <a:blipFill>
                <a:blip r:embed="rId4"/>
                <a:stretch>
                  <a:fillRect/>
                </a:stretch>
              </a:blipFill>
            </p:spPr>
            <p:txBody>
              <a:bodyPr/>
              <a:lstStyle/>
              <a:p>
                <a:r>
                  <a:rPr lang="zh-CN" altLang="en-US">
                    <a:noFill/>
                  </a:rPr>
                  <a:t> </a:t>
                </a:r>
              </a:p>
            </p:txBody>
          </p:sp>
        </mc:Fallback>
      </mc:AlternateContent>
      <p:cxnSp>
        <p:nvCxnSpPr>
          <p:cNvPr id="18" name="直线连接符 17">
            <a:extLst>
              <a:ext uri="{FF2B5EF4-FFF2-40B4-BE49-F238E27FC236}">
                <a16:creationId xmlns:a16="http://schemas.microsoft.com/office/drawing/2014/main" id="{0688F414-FAA7-21EF-349F-5DBBE4ACAC40}"/>
              </a:ext>
            </a:extLst>
          </p:cNvPr>
          <p:cNvCxnSpPr/>
          <p:nvPr/>
        </p:nvCxnSpPr>
        <p:spPr>
          <a:xfrm>
            <a:off x="854716" y="2189193"/>
            <a:ext cx="990289"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3" name="文本框 22">
            <a:extLst>
              <a:ext uri="{FF2B5EF4-FFF2-40B4-BE49-F238E27FC236}">
                <a16:creationId xmlns:a16="http://schemas.microsoft.com/office/drawing/2014/main" id="{0F65CF88-E746-CEF0-C043-97146C3C7182}"/>
              </a:ext>
            </a:extLst>
          </p:cNvPr>
          <p:cNvSpPr txBox="1"/>
          <p:nvPr/>
        </p:nvSpPr>
        <p:spPr>
          <a:xfrm>
            <a:off x="1188968" y="1579942"/>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24" name="文本框 23">
            <a:extLst>
              <a:ext uri="{FF2B5EF4-FFF2-40B4-BE49-F238E27FC236}">
                <a16:creationId xmlns:a16="http://schemas.microsoft.com/office/drawing/2014/main" id="{B390AEE6-49C8-8EFF-C12D-BD863D8AFB3B}"/>
              </a:ext>
            </a:extLst>
          </p:cNvPr>
          <p:cNvSpPr txBox="1"/>
          <p:nvPr/>
        </p:nvSpPr>
        <p:spPr>
          <a:xfrm>
            <a:off x="1795460" y="1588504"/>
            <a:ext cx="261610" cy="230832"/>
          </a:xfrm>
          <a:prstGeom prst="rect">
            <a:avLst/>
          </a:prstGeom>
          <a:noFill/>
        </p:spPr>
        <p:txBody>
          <a:bodyPr wrap="none" rtlCol="0">
            <a:spAutoFit/>
          </a:bodyPr>
          <a:lstStyle/>
          <a:p>
            <a:r>
              <a:rPr kumimoji="1" lang="en-US" altLang="zh-CN" sz="900" dirty="0"/>
              <a:t>A</a:t>
            </a:r>
            <a:endParaRPr kumimoji="1" lang="zh-CN" altLang="en-US" sz="900" dirty="0"/>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5FCE7217-4603-90FB-6C91-30784D2BEBFD}"/>
                  </a:ext>
                </a:extLst>
              </p:cNvPr>
              <p:cNvSpPr txBox="1"/>
              <p:nvPr/>
            </p:nvSpPr>
            <p:spPr>
              <a:xfrm>
                <a:off x="1886756" y="2581254"/>
                <a:ext cx="130292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100" b="0" i="1" dirty="0" smtClean="0">
                          <a:latin typeface="Cambria Math" panose="02040503050406030204" pitchFamily="18" charset="0"/>
                        </a:rPr>
                        <m:t>𝑖𝑛𝑐𝑜𝑚𝑒</m:t>
                      </m:r>
                      <m:r>
                        <a:rPr kumimoji="1" lang="en-US" altLang="zh-CN" sz="1100" b="0" i="1" dirty="0" smtClean="0">
                          <a:latin typeface="Cambria Math" panose="02040503050406030204" pitchFamily="18" charset="0"/>
                        </a:rPr>
                        <m:t>, </m:t>
                      </m:r>
                      <m:r>
                        <a:rPr kumimoji="1" lang="en-US" altLang="zh-CN" sz="1100" b="0" i="1" dirty="0" smtClean="0">
                          <a:latin typeface="Cambria Math" panose="02040503050406030204" pitchFamily="18" charset="0"/>
                        </a:rPr>
                        <m:t>𝑜𝑢𝑡𝑝𝑢𝑡</m:t>
                      </m:r>
                      <m:r>
                        <a:rPr kumimoji="1" lang="en-US" altLang="zh-CN" sz="1100" b="0" i="1" dirty="0" smtClean="0">
                          <a:latin typeface="Cambria Math" panose="02040503050406030204" pitchFamily="18" charset="0"/>
                        </a:rPr>
                        <m:t>, </m:t>
                      </m:r>
                      <m:r>
                        <a:rPr kumimoji="1" lang="en-US" altLang="zh-CN" sz="1100" b="0" i="1" dirty="0" smtClean="0">
                          <a:latin typeface="Cambria Math" panose="02040503050406030204" pitchFamily="18" charset="0"/>
                        </a:rPr>
                        <m:t>𝑌</m:t>
                      </m:r>
                    </m:oMath>
                  </m:oMathPara>
                </a14:m>
                <a:endParaRPr kumimoji="1" lang="zh-CN" altLang="en-US" sz="1100" dirty="0"/>
              </a:p>
            </p:txBody>
          </p:sp>
        </mc:Choice>
        <mc:Fallback xmlns="">
          <p:sp>
            <p:nvSpPr>
              <p:cNvPr id="39" name="文本框 38">
                <a:extLst>
                  <a:ext uri="{FF2B5EF4-FFF2-40B4-BE49-F238E27FC236}">
                    <a16:creationId xmlns:a16="http://schemas.microsoft.com/office/drawing/2014/main" id="{5FCE7217-4603-90FB-6C91-30784D2BEBFD}"/>
                  </a:ext>
                </a:extLst>
              </p:cNvPr>
              <p:cNvSpPr txBox="1">
                <a:spLocks noRot="1" noChangeAspect="1" noMove="1" noResize="1" noEditPoints="1" noAdjustHandles="1" noChangeArrowheads="1" noChangeShapeType="1" noTextEdit="1"/>
              </p:cNvSpPr>
              <p:nvPr/>
            </p:nvSpPr>
            <p:spPr>
              <a:xfrm>
                <a:off x="1886756" y="2581254"/>
                <a:ext cx="1302921" cy="261610"/>
              </a:xfrm>
              <a:prstGeom prst="rect">
                <a:avLst/>
              </a:prstGeom>
              <a:blipFill>
                <a:blip r:embed="rId5"/>
                <a:stretch>
                  <a:fillRect b="-4762"/>
                </a:stretch>
              </a:blipFill>
            </p:spPr>
            <p:txBody>
              <a:bodyPr/>
              <a:lstStyle/>
              <a:p>
                <a:r>
                  <a:rPr lang="zh-CN" altLang="en-US">
                    <a:noFill/>
                  </a:rPr>
                  <a:t> </a:t>
                </a:r>
              </a:p>
            </p:txBody>
          </p:sp>
        </mc:Fallback>
      </mc:AlternateContent>
      <p:cxnSp>
        <p:nvCxnSpPr>
          <p:cNvPr id="40" name="直线箭头连接符 39">
            <a:extLst>
              <a:ext uri="{FF2B5EF4-FFF2-40B4-BE49-F238E27FC236}">
                <a16:creationId xmlns:a16="http://schemas.microsoft.com/office/drawing/2014/main" id="{1955E5D6-006C-7C8C-5438-AC7289753001}"/>
              </a:ext>
            </a:extLst>
          </p:cNvPr>
          <p:cNvCxnSpPr>
            <a:cxnSpLocks/>
          </p:cNvCxnSpPr>
          <p:nvPr/>
        </p:nvCxnSpPr>
        <p:spPr>
          <a:xfrm>
            <a:off x="727897" y="1819336"/>
            <a:ext cx="0" cy="24834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8" name="任意形状 47">
            <a:extLst>
              <a:ext uri="{FF2B5EF4-FFF2-40B4-BE49-F238E27FC236}">
                <a16:creationId xmlns:a16="http://schemas.microsoft.com/office/drawing/2014/main" id="{59460822-BCFA-5BC9-B36D-64363529F655}"/>
              </a:ext>
            </a:extLst>
          </p:cNvPr>
          <p:cNvSpPr/>
          <p:nvPr/>
        </p:nvSpPr>
        <p:spPr>
          <a:xfrm>
            <a:off x="999189" y="1127944"/>
            <a:ext cx="1795608" cy="1230430"/>
          </a:xfrm>
          <a:custGeom>
            <a:avLst/>
            <a:gdLst>
              <a:gd name="connsiteX0" fmla="*/ 0 w 1746298"/>
              <a:gd name="connsiteY0" fmla="*/ 0 h 1457540"/>
              <a:gd name="connsiteX1" fmla="*/ 529389 w 1746298"/>
              <a:gd name="connsiteY1" fmla="*/ 1106905 h 1457540"/>
              <a:gd name="connsiteX2" fmla="*/ 1746298 w 1746298"/>
              <a:gd name="connsiteY2" fmla="*/ 1457540 h 1457540"/>
            </a:gdLst>
            <a:ahLst/>
            <a:cxnLst>
              <a:cxn ang="0">
                <a:pos x="connsiteX0" y="connsiteY0"/>
              </a:cxn>
              <a:cxn ang="0">
                <a:pos x="connsiteX1" y="connsiteY1"/>
              </a:cxn>
              <a:cxn ang="0">
                <a:pos x="connsiteX2" y="connsiteY2"/>
              </a:cxn>
            </a:cxnLst>
            <a:rect l="l" t="t" r="r" b="b"/>
            <a:pathLst>
              <a:path w="1746298" h="1457540">
                <a:moveTo>
                  <a:pt x="0" y="0"/>
                </a:moveTo>
                <a:cubicBezTo>
                  <a:pt x="119169" y="431991"/>
                  <a:pt x="238339" y="863982"/>
                  <a:pt x="529389" y="1106905"/>
                </a:cubicBezTo>
                <a:cubicBezTo>
                  <a:pt x="820439" y="1349828"/>
                  <a:pt x="1283368" y="1403684"/>
                  <a:pt x="1746298" y="1457540"/>
                </a:cubicBezTo>
              </a:path>
            </a:pathLst>
          </a:custGeom>
          <a:ln w="19050">
            <a:solidFill>
              <a:srgbClr val="C00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zh-CN" altLang="en-US" dirty="0"/>
          </a:p>
        </p:txBody>
      </p:sp>
      <p:sp>
        <p:nvSpPr>
          <p:cNvPr id="51" name="任意形状 50">
            <a:extLst>
              <a:ext uri="{FF2B5EF4-FFF2-40B4-BE49-F238E27FC236}">
                <a16:creationId xmlns:a16="http://schemas.microsoft.com/office/drawing/2014/main" id="{304A42E6-7D38-28A2-2AF8-AE8CBB216CEE}"/>
              </a:ext>
            </a:extLst>
          </p:cNvPr>
          <p:cNvSpPr/>
          <p:nvPr/>
        </p:nvSpPr>
        <p:spPr>
          <a:xfrm>
            <a:off x="1378670" y="1010941"/>
            <a:ext cx="1447733" cy="979797"/>
          </a:xfrm>
          <a:custGeom>
            <a:avLst/>
            <a:gdLst>
              <a:gd name="connsiteX0" fmla="*/ 0 w 1746298"/>
              <a:gd name="connsiteY0" fmla="*/ 0 h 1457540"/>
              <a:gd name="connsiteX1" fmla="*/ 529389 w 1746298"/>
              <a:gd name="connsiteY1" fmla="*/ 1106905 h 1457540"/>
              <a:gd name="connsiteX2" fmla="*/ 1746298 w 1746298"/>
              <a:gd name="connsiteY2" fmla="*/ 1457540 h 1457540"/>
            </a:gdLst>
            <a:ahLst/>
            <a:cxnLst>
              <a:cxn ang="0">
                <a:pos x="connsiteX0" y="connsiteY0"/>
              </a:cxn>
              <a:cxn ang="0">
                <a:pos x="connsiteX1" y="connsiteY1"/>
              </a:cxn>
              <a:cxn ang="0">
                <a:pos x="connsiteX2" y="connsiteY2"/>
              </a:cxn>
            </a:cxnLst>
            <a:rect l="l" t="t" r="r" b="b"/>
            <a:pathLst>
              <a:path w="1746298" h="1457540">
                <a:moveTo>
                  <a:pt x="0" y="0"/>
                </a:moveTo>
                <a:cubicBezTo>
                  <a:pt x="119169" y="431991"/>
                  <a:pt x="238339" y="863982"/>
                  <a:pt x="529389" y="1106905"/>
                </a:cubicBezTo>
                <a:cubicBezTo>
                  <a:pt x="820439" y="1349828"/>
                  <a:pt x="1283368" y="1403684"/>
                  <a:pt x="1746298" y="1457540"/>
                </a:cubicBezTo>
              </a:path>
            </a:pathLst>
          </a:custGeom>
          <a:ln w="19050">
            <a:solidFill>
              <a:srgbClr val="00B0F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zh-CN" altLang="en-US" dirty="0">
              <a:solidFill>
                <a:srgbClr val="00B0F0"/>
              </a:solidFill>
            </a:endParaRPr>
          </a:p>
        </p:txBody>
      </p:sp>
      <p:sp>
        <p:nvSpPr>
          <p:cNvPr id="22" name="椭圆 21">
            <a:extLst>
              <a:ext uri="{FF2B5EF4-FFF2-40B4-BE49-F238E27FC236}">
                <a16:creationId xmlns:a16="http://schemas.microsoft.com/office/drawing/2014/main" id="{AC329D43-889D-6F18-B033-2AB8ACEE9AE4}"/>
              </a:ext>
            </a:extLst>
          </p:cNvPr>
          <p:cNvSpPr/>
          <p:nvPr/>
        </p:nvSpPr>
        <p:spPr>
          <a:xfrm>
            <a:off x="1799286" y="216633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a:extLst>
              <a:ext uri="{FF2B5EF4-FFF2-40B4-BE49-F238E27FC236}">
                <a16:creationId xmlns:a16="http://schemas.microsoft.com/office/drawing/2014/main" id="{5687D2E4-CD84-49AC-E652-844DFD1B9AB7}"/>
              </a:ext>
            </a:extLst>
          </p:cNvPr>
          <p:cNvSpPr/>
          <p:nvPr/>
        </p:nvSpPr>
        <p:spPr>
          <a:xfrm>
            <a:off x="1799286" y="172968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椭圆 55">
            <a:extLst>
              <a:ext uri="{FF2B5EF4-FFF2-40B4-BE49-F238E27FC236}">
                <a16:creationId xmlns:a16="http://schemas.microsoft.com/office/drawing/2014/main" id="{CC586991-DEAF-9DAC-8266-D75A8AF0B506}"/>
              </a:ext>
            </a:extLst>
          </p:cNvPr>
          <p:cNvSpPr/>
          <p:nvPr/>
        </p:nvSpPr>
        <p:spPr>
          <a:xfrm>
            <a:off x="1229606" y="174150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文本框 56">
            <a:extLst>
              <a:ext uri="{FF2B5EF4-FFF2-40B4-BE49-F238E27FC236}">
                <a16:creationId xmlns:a16="http://schemas.microsoft.com/office/drawing/2014/main" id="{CC6710EA-2C6B-FEBD-766A-0A14E295D206}"/>
              </a:ext>
            </a:extLst>
          </p:cNvPr>
          <p:cNvSpPr txBox="1"/>
          <p:nvPr/>
        </p:nvSpPr>
        <p:spPr>
          <a:xfrm>
            <a:off x="1800788" y="2020144"/>
            <a:ext cx="261610" cy="230832"/>
          </a:xfrm>
          <a:prstGeom prst="rect">
            <a:avLst/>
          </a:prstGeom>
          <a:noFill/>
        </p:spPr>
        <p:txBody>
          <a:bodyPr wrap="none" rtlCol="0">
            <a:spAutoFit/>
          </a:bodyPr>
          <a:lstStyle/>
          <a:p>
            <a:r>
              <a:rPr kumimoji="1" lang="en-US" altLang="zh-CN" sz="900" dirty="0"/>
              <a:t>B</a:t>
            </a:r>
            <a:endParaRPr kumimoji="1" lang="zh-CN" altLang="en-US" sz="900" dirty="0"/>
          </a:p>
        </p:txBody>
      </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E1586B07-1A88-6335-0435-B4266B37E5F6}"/>
                  </a:ext>
                </a:extLst>
              </p:cNvPr>
              <p:cNvSpPr txBox="1"/>
              <p:nvPr/>
            </p:nvSpPr>
            <p:spPr>
              <a:xfrm>
                <a:off x="1661574" y="2604413"/>
                <a:ext cx="311560"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sz="1100" b="0" i="1" dirty="0" smtClean="0">
                              <a:latin typeface="Cambria Math" panose="02040503050406030204" pitchFamily="18" charset="0"/>
                            </a:rPr>
                          </m:ctrlPr>
                        </m:accPr>
                        <m:e>
                          <m:r>
                            <a:rPr kumimoji="1" lang="en-US" altLang="zh-CN" sz="1100" b="0" i="1" dirty="0" smtClean="0">
                              <a:latin typeface="Cambria Math" panose="02040503050406030204" pitchFamily="18" charset="0"/>
                            </a:rPr>
                            <m:t>𝑌</m:t>
                          </m:r>
                        </m:e>
                      </m:acc>
                    </m:oMath>
                  </m:oMathPara>
                </a14:m>
                <a:endParaRPr kumimoji="1" lang="zh-CN" altLang="en-US" sz="1100" dirty="0"/>
              </a:p>
            </p:txBody>
          </p:sp>
        </mc:Choice>
        <mc:Fallback xmlns="">
          <p:sp>
            <p:nvSpPr>
              <p:cNvPr id="59" name="文本框 58">
                <a:extLst>
                  <a:ext uri="{FF2B5EF4-FFF2-40B4-BE49-F238E27FC236}">
                    <a16:creationId xmlns:a16="http://schemas.microsoft.com/office/drawing/2014/main" id="{E1586B07-1A88-6335-0435-B4266B37E5F6}"/>
                  </a:ext>
                </a:extLst>
              </p:cNvPr>
              <p:cNvSpPr txBox="1">
                <a:spLocks noRot="1" noChangeAspect="1" noMove="1" noResize="1" noEditPoints="1" noAdjustHandles="1" noChangeArrowheads="1" noChangeShapeType="1" noTextEdit="1"/>
              </p:cNvSpPr>
              <p:nvPr/>
            </p:nvSpPr>
            <p:spPr>
              <a:xfrm>
                <a:off x="1661574" y="2604413"/>
                <a:ext cx="311560" cy="261610"/>
              </a:xfrm>
              <a:prstGeom prst="rect">
                <a:avLst/>
              </a:prstGeom>
              <a:blipFill>
                <a:blip r:embed="rId6"/>
                <a:stretch>
                  <a:fillRect/>
                </a:stretch>
              </a:blipFill>
            </p:spPr>
            <p:txBody>
              <a:bodyPr/>
              <a:lstStyle/>
              <a:p>
                <a:r>
                  <a:rPr lang="zh-CN" altLang="en-US">
                    <a:noFill/>
                  </a:rPr>
                  <a:t> </a:t>
                </a:r>
              </a:p>
            </p:txBody>
          </p:sp>
        </mc:Fallback>
      </mc:AlternateContent>
      <p:sp>
        <p:nvSpPr>
          <p:cNvPr id="60" name="文本框 59">
            <a:extLst>
              <a:ext uri="{FF2B5EF4-FFF2-40B4-BE49-F238E27FC236}">
                <a16:creationId xmlns:a16="http://schemas.microsoft.com/office/drawing/2014/main" id="{C8273846-BAD7-DC3A-8D3A-6918B90AC9A8}"/>
              </a:ext>
            </a:extLst>
          </p:cNvPr>
          <p:cNvSpPr txBox="1"/>
          <p:nvPr/>
        </p:nvSpPr>
        <p:spPr>
          <a:xfrm>
            <a:off x="2142111" y="1570758"/>
            <a:ext cx="804280" cy="307777"/>
          </a:xfrm>
          <a:prstGeom prst="rect">
            <a:avLst/>
          </a:prstGeom>
          <a:noFill/>
        </p:spPr>
        <p:txBody>
          <a:bodyPr wrap="square" rtlCol="0">
            <a:spAutoFit/>
          </a:bodyPr>
          <a:lstStyle/>
          <a:p>
            <a:r>
              <a:rPr kumimoji="1" lang="en-US" altLang="zh-CN" sz="700" dirty="0">
                <a:latin typeface="Garamond" panose="02020404030301010803" pitchFamily="18" charset="0"/>
                <a:ea typeface="KaiTi" panose="02010609060101010101" pitchFamily="49" charset="-122"/>
              </a:rPr>
              <a:t>1.</a:t>
            </a:r>
            <a:r>
              <a:rPr kumimoji="1" lang="zh-CN" altLang="en-US" sz="700" dirty="0">
                <a:latin typeface="Garamond" panose="02020404030301010803" pitchFamily="18" charset="0"/>
                <a:ea typeface="KaiTi" panose="02010609060101010101" pitchFamily="49" charset="-122"/>
              </a:rPr>
              <a:t> 央行减少货币供给</a:t>
            </a:r>
            <a:r>
              <a:rPr kumimoji="1" lang="en-US" altLang="zh-CN" sz="700" dirty="0">
                <a:latin typeface="Garamond" panose="02020404030301010803" pitchFamily="18" charset="0"/>
                <a:ea typeface="KaiTi" panose="02010609060101010101" pitchFamily="49" charset="-122"/>
              </a:rPr>
              <a:t>……</a:t>
            </a:r>
            <a:endParaRPr kumimoji="1" lang="zh-CN" altLang="en-US" sz="700" dirty="0">
              <a:latin typeface="Garamond" panose="02020404030301010803" pitchFamily="18" charset="0"/>
              <a:ea typeface="KaiTi" panose="02010609060101010101" pitchFamily="49" charset="-122"/>
            </a:endParaRPr>
          </a:p>
        </p:txBody>
      </p:sp>
      <p:cxnSp>
        <p:nvCxnSpPr>
          <p:cNvPr id="61" name="直线箭头连接符 60">
            <a:extLst>
              <a:ext uri="{FF2B5EF4-FFF2-40B4-BE49-F238E27FC236}">
                <a16:creationId xmlns:a16="http://schemas.microsoft.com/office/drawing/2014/main" id="{E127FBEF-BB0E-DFC1-2904-3F065F0FFEE4}"/>
              </a:ext>
            </a:extLst>
          </p:cNvPr>
          <p:cNvCxnSpPr>
            <a:cxnSpLocks/>
          </p:cNvCxnSpPr>
          <p:nvPr/>
        </p:nvCxnSpPr>
        <p:spPr>
          <a:xfrm flipH="1">
            <a:off x="1996678" y="2148983"/>
            <a:ext cx="322618" cy="0"/>
          </a:xfrm>
          <a:prstGeom prst="straightConnector1">
            <a:avLst/>
          </a:prstGeom>
          <a:ln>
            <a:solidFill>
              <a:srgbClr val="C00000"/>
            </a:solidFill>
            <a:tailEnd type="triangle"/>
          </a:ln>
        </p:spPr>
        <p:style>
          <a:lnRef idx="3">
            <a:schemeClr val="accent2"/>
          </a:lnRef>
          <a:fillRef idx="0">
            <a:schemeClr val="accent2"/>
          </a:fillRef>
          <a:effectRef idx="2">
            <a:schemeClr val="accent2"/>
          </a:effectRef>
          <a:fontRef idx="minor">
            <a:schemeClr val="tx1"/>
          </a:fontRef>
        </p:style>
      </p:cxnSp>
      <p:cxnSp>
        <p:nvCxnSpPr>
          <p:cNvPr id="64" name="直线连接符 63">
            <a:extLst>
              <a:ext uri="{FF2B5EF4-FFF2-40B4-BE49-F238E27FC236}">
                <a16:creationId xmlns:a16="http://schemas.microsoft.com/office/drawing/2014/main" id="{AFCECAF5-F6D4-3588-3B5D-AF3DF4849510}"/>
              </a:ext>
            </a:extLst>
          </p:cNvPr>
          <p:cNvCxnSpPr>
            <a:cxnSpLocks/>
          </p:cNvCxnSpPr>
          <p:nvPr/>
        </p:nvCxnSpPr>
        <p:spPr>
          <a:xfrm flipH="1">
            <a:off x="2203749" y="1893222"/>
            <a:ext cx="224848" cy="236892"/>
          </a:xfrm>
          <a:prstGeom prst="line">
            <a:avLst/>
          </a:prstGeom>
        </p:spPr>
        <p:style>
          <a:lnRef idx="1">
            <a:schemeClr val="dk1"/>
          </a:lnRef>
          <a:fillRef idx="0">
            <a:schemeClr val="dk1"/>
          </a:fillRef>
          <a:effectRef idx="0">
            <a:schemeClr val="dk1"/>
          </a:effectRef>
          <a:fontRef idx="minor">
            <a:schemeClr val="tx1"/>
          </a:fontRef>
        </p:style>
      </p:cxnSp>
      <p:sp>
        <p:nvSpPr>
          <p:cNvPr id="66" name="文本框 65">
            <a:extLst>
              <a:ext uri="{FF2B5EF4-FFF2-40B4-BE49-F238E27FC236}">
                <a16:creationId xmlns:a16="http://schemas.microsoft.com/office/drawing/2014/main" id="{A83330E0-C2A4-72D1-6BBC-539D9E083953}"/>
              </a:ext>
            </a:extLst>
          </p:cNvPr>
          <p:cNvSpPr txBox="1"/>
          <p:nvPr/>
        </p:nvSpPr>
        <p:spPr>
          <a:xfrm>
            <a:off x="56868" y="1767649"/>
            <a:ext cx="759483" cy="415498"/>
          </a:xfrm>
          <a:prstGeom prst="rect">
            <a:avLst/>
          </a:prstGeom>
          <a:noFill/>
        </p:spPr>
        <p:txBody>
          <a:bodyPr wrap="square" rtlCol="0">
            <a:spAutoFit/>
          </a:bodyPr>
          <a:lstStyle/>
          <a:p>
            <a:r>
              <a:rPr kumimoji="1" lang="en-US" altLang="zh-CN" sz="700" dirty="0">
                <a:latin typeface="Garamond" panose="02020404030301010803" pitchFamily="18" charset="0"/>
                <a:ea typeface="KaiTi" panose="02010609060101010101" pitchFamily="49" charset="-122"/>
              </a:rPr>
              <a:t>2.……</a:t>
            </a:r>
            <a:r>
              <a:rPr kumimoji="1" lang="zh-CN" altLang="en-US" sz="700" dirty="0">
                <a:latin typeface="Garamond" panose="02020404030301010803" pitchFamily="18" charset="0"/>
                <a:ea typeface="KaiTi" panose="02010609060101010101" pitchFamily="49" charset="-122"/>
              </a:rPr>
              <a:t>在长期价格会很快降低</a:t>
            </a:r>
            <a:r>
              <a:rPr kumimoji="1" lang="en-US" altLang="zh-CN" sz="700" dirty="0">
                <a:latin typeface="Garamond" panose="02020404030301010803" pitchFamily="18" charset="0"/>
                <a:ea typeface="KaiTi" panose="02010609060101010101" pitchFamily="49" charset="-122"/>
              </a:rPr>
              <a:t>……</a:t>
            </a:r>
            <a:endParaRPr kumimoji="1" lang="zh-CN" altLang="en-US" sz="700" dirty="0">
              <a:latin typeface="Garamond" panose="02020404030301010803" pitchFamily="18" charset="0"/>
              <a:ea typeface="KaiTi" panose="02010609060101010101" pitchFamily="49" charset="-122"/>
            </a:endParaRPr>
          </a:p>
        </p:txBody>
      </p:sp>
      <p:sp>
        <p:nvSpPr>
          <p:cNvPr id="67" name="文本框 66">
            <a:extLst>
              <a:ext uri="{FF2B5EF4-FFF2-40B4-BE49-F238E27FC236}">
                <a16:creationId xmlns:a16="http://schemas.microsoft.com/office/drawing/2014/main" id="{AF0641FA-5343-76DC-44B2-9110986DBF5A}"/>
              </a:ext>
            </a:extLst>
          </p:cNvPr>
          <p:cNvSpPr txBox="1"/>
          <p:nvPr/>
        </p:nvSpPr>
        <p:spPr>
          <a:xfrm>
            <a:off x="1160723" y="2781353"/>
            <a:ext cx="967489" cy="307777"/>
          </a:xfrm>
          <a:prstGeom prst="rect">
            <a:avLst/>
          </a:prstGeom>
          <a:noFill/>
        </p:spPr>
        <p:txBody>
          <a:bodyPr wrap="square" rtlCol="0">
            <a:spAutoFit/>
          </a:bodyPr>
          <a:lstStyle/>
          <a:p>
            <a:r>
              <a:rPr kumimoji="1" lang="en-US" altLang="zh-CN" sz="700" dirty="0">
                <a:latin typeface="Garamond" panose="02020404030301010803" pitchFamily="18" charset="0"/>
                <a:ea typeface="KaiTi" panose="02010609060101010101" pitchFamily="49" charset="-122"/>
              </a:rPr>
              <a:t>3.……</a:t>
            </a:r>
            <a:r>
              <a:rPr kumimoji="1" lang="zh-CN" altLang="en-US" sz="700" dirty="0">
                <a:latin typeface="Garamond" panose="02020404030301010803" pitchFamily="18" charset="0"/>
                <a:ea typeface="KaiTi" panose="02010609060101010101" pitchFamily="49" charset="-122"/>
              </a:rPr>
              <a:t>总产出会维持在相同的水平</a:t>
            </a:r>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3B45243F-7681-C60F-ADF4-3D59B0F7B792}"/>
                  </a:ext>
                </a:extLst>
              </p:cNvPr>
              <p:cNvSpPr txBox="1"/>
              <p:nvPr/>
            </p:nvSpPr>
            <p:spPr>
              <a:xfrm>
                <a:off x="2766274" y="1885017"/>
                <a:ext cx="415242" cy="2308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900" b="0" i="1" smtClean="0">
                          <a:latin typeface="Cambria Math" panose="02040503050406030204" pitchFamily="18" charset="0"/>
                        </a:rPr>
                        <m:t>𝐴</m:t>
                      </m:r>
                      <m:sSub>
                        <m:sSubPr>
                          <m:ctrlPr>
                            <a:rPr kumimoji="1" lang="en-US" altLang="zh-CN" sz="900" b="0" i="1" smtClean="0">
                              <a:latin typeface="Cambria Math" panose="02040503050406030204" pitchFamily="18" charset="0"/>
                            </a:rPr>
                          </m:ctrlPr>
                        </m:sSubPr>
                        <m:e>
                          <m:r>
                            <a:rPr kumimoji="1" lang="en-US" altLang="zh-CN" sz="900" b="0" i="1" smtClean="0">
                              <a:latin typeface="Cambria Math" panose="02040503050406030204" pitchFamily="18" charset="0"/>
                            </a:rPr>
                            <m:t>𝐷</m:t>
                          </m:r>
                        </m:e>
                        <m:sub>
                          <m:r>
                            <a:rPr kumimoji="1" lang="en-US" altLang="zh-CN" sz="900" b="0" i="1" smtClean="0">
                              <a:latin typeface="Cambria Math" panose="02040503050406030204" pitchFamily="18" charset="0"/>
                            </a:rPr>
                            <m:t>1</m:t>
                          </m:r>
                        </m:sub>
                      </m:sSub>
                    </m:oMath>
                  </m:oMathPara>
                </a14:m>
                <a:endParaRPr kumimoji="1" lang="zh-CN" altLang="en-US" sz="900" dirty="0"/>
              </a:p>
            </p:txBody>
          </p:sp>
        </mc:Choice>
        <mc:Fallback xmlns="">
          <p:sp>
            <p:nvSpPr>
              <p:cNvPr id="68" name="文本框 67">
                <a:extLst>
                  <a:ext uri="{FF2B5EF4-FFF2-40B4-BE49-F238E27FC236}">
                    <a16:creationId xmlns:a16="http://schemas.microsoft.com/office/drawing/2014/main" id="{3B45243F-7681-C60F-ADF4-3D59B0F7B792}"/>
                  </a:ext>
                </a:extLst>
              </p:cNvPr>
              <p:cNvSpPr txBox="1">
                <a:spLocks noRot="1" noChangeAspect="1" noMove="1" noResize="1" noEditPoints="1" noAdjustHandles="1" noChangeArrowheads="1" noChangeShapeType="1" noTextEdit="1"/>
              </p:cNvSpPr>
              <p:nvPr/>
            </p:nvSpPr>
            <p:spPr>
              <a:xfrm>
                <a:off x="2766274" y="1885017"/>
                <a:ext cx="415242" cy="2308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E59CA232-C52E-6DC1-1A3F-880D7F7FA367}"/>
                  </a:ext>
                </a:extLst>
              </p:cNvPr>
              <p:cNvSpPr txBox="1"/>
              <p:nvPr/>
            </p:nvSpPr>
            <p:spPr>
              <a:xfrm>
                <a:off x="2718679" y="2276481"/>
                <a:ext cx="417935" cy="2308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900" b="0" i="1" smtClean="0">
                          <a:latin typeface="Cambria Math" panose="02040503050406030204" pitchFamily="18" charset="0"/>
                        </a:rPr>
                        <m:t>𝐴</m:t>
                      </m:r>
                      <m:sSub>
                        <m:sSubPr>
                          <m:ctrlPr>
                            <a:rPr kumimoji="1" lang="en-US" altLang="zh-CN" sz="900" b="0" i="1" smtClean="0">
                              <a:latin typeface="Cambria Math" panose="02040503050406030204" pitchFamily="18" charset="0"/>
                            </a:rPr>
                          </m:ctrlPr>
                        </m:sSubPr>
                        <m:e>
                          <m:r>
                            <a:rPr kumimoji="1" lang="en-US" altLang="zh-CN" sz="900" b="0" i="1" smtClean="0">
                              <a:latin typeface="Cambria Math" panose="02040503050406030204" pitchFamily="18" charset="0"/>
                            </a:rPr>
                            <m:t>𝐷</m:t>
                          </m:r>
                        </m:e>
                        <m:sub>
                          <m:r>
                            <a:rPr kumimoji="1" lang="en-US" altLang="zh-CN" sz="900" b="0" i="1" smtClean="0">
                              <a:latin typeface="Cambria Math" panose="02040503050406030204" pitchFamily="18" charset="0"/>
                            </a:rPr>
                            <m:t>2</m:t>
                          </m:r>
                        </m:sub>
                      </m:sSub>
                    </m:oMath>
                  </m:oMathPara>
                </a14:m>
                <a:endParaRPr kumimoji="1" lang="zh-CN" altLang="en-US" sz="900" dirty="0"/>
              </a:p>
            </p:txBody>
          </p:sp>
        </mc:Choice>
        <mc:Fallback xmlns="">
          <p:sp>
            <p:nvSpPr>
              <p:cNvPr id="69" name="文本框 68">
                <a:extLst>
                  <a:ext uri="{FF2B5EF4-FFF2-40B4-BE49-F238E27FC236}">
                    <a16:creationId xmlns:a16="http://schemas.microsoft.com/office/drawing/2014/main" id="{E59CA232-C52E-6DC1-1A3F-880D7F7FA367}"/>
                  </a:ext>
                </a:extLst>
              </p:cNvPr>
              <p:cNvSpPr txBox="1">
                <a:spLocks noRot="1" noChangeAspect="1" noMove="1" noResize="1" noEditPoints="1" noAdjustHandles="1" noChangeArrowheads="1" noChangeShapeType="1" noTextEdit="1"/>
              </p:cNvSpPr>
              <p:nvPr/>
            </p:nvSpPr>
            <p:spPr>
              <a:xfrm>
                <a:off x="2718679" y="2276481"/>
                <a:ext cx="417935" cy="230832"/>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328979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42225-FF49-F17E-7A85-3390DB925CBD}"/>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00358763-91F3-BF19-A557-E7A2D2A6A9B4}"/>
              </a:ext>
            </a:extLst>
          </p:cNvPr>
          <p:cNvSpPr>
            <a:spLocks noGrp="1"/>
          </p:cNvSpPr>
          <p:nvPr>
            <p:ph idx="1"/>
          </p:nvPr>
        </p:nvSpPr>
        <p:spPr/>
        <p:txBody>
          <a:bodyPr/>
          <a:lstStyle/>
          <a:p>
            <a:pPr marL="0" indent="0">
              <a:buNone/>
            </a:pPr>
            <a:r>
              <a:rPr lang="zh-CN" altLang="en-US" i="1" u="sng" dirty="0">
                <a:highlight>
                  <a:srgbClr val="00FFFF"/>
                </a:highlight>
              </a:rPr>
              <a:t>短期总供给曲线的情形一：凯恩斯总供给曲线</a:t>
            </a:r>
            <a:endParaRPr lang="en-US" altLang="zh-CN" i="1" u="sng" dirty="0">
              <a:highlight>
                <a:srgbClr val="00FFFF"/>
              </a:highlight>
            </a:endParaRPr>
          </a:p>
          <a:p>
            <a:pPr marL="0" indent="0">
              <a:buNone/>
            </a:pPr>
            <a:r>
              <a:rPr lang="zh-CN" altLang="en-US" i="1" u="sng" dirty="0"/>
              <a:t>凯恩斯：</a:t>
            </a:r>
            <a:endParaRPr lang="en-US" altLang="zh-CN" i="1" u="sng" dirty="0"/>
          </a:p>
          <a:p>
            <a:pPr marL="0" indent="0">
              <a:buNone/>
            </a:pPr>
            <a:r>
              <a:rPr lang="en-US" altLang="zh-CN" dirty="0"/>
              <a:t>1.</a:t>
            </a:r>
            <a:r>
              <a:rPr lang="zh-CN" altLang="en-US" dirty="0"/>
              <a:t>长期，我们都将死去</a:t>
            </a:r>
            <a:endParaRPr lang="en-US" altLang="zh-CN" dirty="0"/>
          </a:p>
          <a:p>
            <a:pPr marL="0" indent="0">
              <a:buNone/>
            </a:pPr>
            <a:r>
              <a:rPr lang="en-US" altLang="zh-CN" dirty="0"/>
              <a:t>2.</a:t>
            </a:r>
            <a:r>
              <a:rPr lang="zh-CN" altLang="en-US" dirty="0"/>
              <a:t>长期观点并不能指导眼前的问题。因为在长期中，我们都死了。如果经济正处在暴风雨之中，经济学家却只能告诉人们：等风暴过去很久以后，海面自然会恢复平静，那么这样的解释既太容易，也没有多大用处。</a:t>
            </a:r>
            <a:endParaRPr lang="en-US" altLang="zh-CN" dirty="0"/>
          </a:p>
        </p:txBody>
      </p:sp>
      <p:sp>
        <p:nvSpPr>
          <p:cNvPr id="6" name="灯片编号占位符 5">
            <a:extLst>
              <a:ext uri="{FF2B5EF4-FFF2-40B4-BE49-F238E27FC236}">
                <a16:creationId xmlns:a16="http://schemas.microsoft.com/office/drawing/2014/main" id="{72C4CAC6-FC2A-D59B-8071-2D6CC14171CC}"/>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30</a:t>
            </a:fld>
            <a:endParaRPr lang="zh-CN" altLang="en-US"/>
          </a:p>
        </p:txBody>
      </p:sp>
      <p:sp>
        <p:nvSpPr>
          <p:cNvPr id="7" name="Rectangle 6">
            <a:extLst>
              <a:ext uri="{FF2B5EF4-FFF2-40B4-BE49-F238E27FC236}">
                <a16:creationId xmlns:a16="http://schemas.microsoft.com/office/drawing/2014/main" id="{D7BA3A98-0C59-8D41-14BB-51F4BB3BD58C}"/>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6C3CFE19-7CD9-61BF-BC97-CC9A1D1640A6}"/>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FF2D7ABB-337A-7E85-9FBA-CDB174C52132}"/>
              </a:ext>
            </a:extLst>
          </p:cNvPr>
          <p:cNvSpPr>
            <a:spLocks noGrp="1"/>
          </p:cNvSpPr>
          <p:nvPr>
            <p:ph type="title"/>
          </p:nvPr>
        </p:nvSpPr>
        <p:spPr/>
        <p:txBody>
          <a:bodyPr/>
          <a:lstStyle/>
          <a:p>
            <a:r>
              <a:rPr kumimoji="1" lang="zh-CN" altLang="en-US" dirty="0"/>
              <a:t>短期总供给曲线</a:t>
            </a:r>
          </a:p>
        </p:txBody>
      </p:sp>
    </p:spTree>
    <p:extLst>
      <p:ext uri="{BB962C8B-B14F-4D97-AF65-F5344CB8AC3E}">
        <p14:creationId xmlns:p14="http://schemas.microsoft.com/office/powerpoint/2010/main" val="1466274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i="1" u="sng" dirty="0">
                <a:highlight>
                  <a:srgbClr val="00FFFF"/>
                </a:highlight>
              </a:rPr>
              <a:t>短期总供给曲线的情形一：凯恩斯总供给曲线</a:t>
            </a:r>
            <a:endParaRPr lang="en-US" altLang="zh-CN" i="1" u="sng" dirty="0">
              <a:highlight>
                <a:srgbClr val="00FFFF"/>
              </a:highlight>
            </a:endParaRPr>
          </a:p>
          <a:p>
            <a:r>
              <a:rPr lang="zh-CN" altLang="en-US" dirty="0"/>
              <a:t>短期的含义：价格无法充分调整</a:t>
            </a:r>
            <a:endParaRPr lang="en-US" altLang="zh-CN" dirty="0"/>
          </a:p>
          <a:p>
            <a:r>
              <a:rPr lang="zh-CN" altLang="en-US" dirty="0"/>
              <a:t>凯恩斯总供给曲线的前提是短期分析。他认为，经济体中存在着大量失业和生产能力。</a:t>
            </a:r>
            <a:endParaRPr lang="en-US" altLang="zh-CN" dirty="0"/>
          </a:p>
          <a:p>
            <a:r>
              <a:rPr lang="zh-CN" altLang="en-US" b="1" dirty="0"/>
              <a:t>假设：</a:t>
            </a:r>
            <a:r>
              <a:rPr lang="zh-CN" altLang="en-US" dirty="0"/>
              <a:t>货币工资具有“刚性” ，即出于种种原因，货币工资不会轻易变动。</a:t>
            </a:r>
            <a:endParaRPr lang="en-US" altLang="zh-CN" dirty="0"/>
          </a:p>
          <a:p>
            <a:pPr lvl="1"/>
            <a:r>
              <a:rPr lang="zh-CN" altLang="en-US" dirty="0"/>
              <a:t>在刚性货币工资假定下，当产量增加时，价格和货币工资都不会发生变化。因此，凯恩斯的总供给曲线被认为是一条水平线。</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31</a:t>
            </a:fld>
            <a:endParaRPr lang="zh-CN" altLang="en-US"/>
          </a:p>
        </p:txBody>
      </p:sp>
      <p:sp>
        <p:nvSpPr>
          <p:cNvPr id="7" name="Rectangle 6">
            <a:extLst>
              <a:ext uri="{FF2B5EF4-FFF2-40B4-BE49-F238E27FC236}">
                <a16:creationId xmlns:a16="http://schemas.microsoft.com/office/drawing/2014/main" id="{D7BF22B9-E1D2-72EF-0693-7A60AA217204}"/>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31</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31DD6D67-4C05-3884-6BFA-437323B9F74A}"/>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38F56146-0102-72B1-8E10-648024F29A95}"/>
              </a:ext>
            </a:extLst>
          </p:cNvPr>
          <p:cNvSpPr>
            <a:spLocks noGrp="1"/>
          </p:cNvSpPr>
          <p:nvPr>
            <p:ph type="title"/>
          </p:nvPr>
        </p:nvSpPr>
        <p:spPr/>
        <p:txBody>
          <a:bodyPr/>
          <a:lstStyle/>
          <a:p>
            <a:r>
              <a:rPr kumimoji="1" lang="zh-CN" altLang="en-US" dirty="0"/>
              <a:t>短期总供给曲线</a:t>
            </a:r>
          </a:p>
        </p:txBody>
      </p:sp>
    </p:spTree>
    <p:extLst>
      <p:ext uri="{BB962C8B-B14F-4D97-AF65-F5344CB8AC3E}">
        <p14:creationId xmlns:p14="http://schemas.microsoft.com/office/powerpoint/2010/main" val="1071259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01628" y="496317"/>
                <a:ext cx="4006844" cy="228870"/>
              </a:xfrm>
            </p:spPr>
            <p:txBody>
              <a:bodyPr/>
              <a:lstStyle/>
              <a:p>
                <a:r>
                  <a:rPr lang="zh-CN" altLang="en-US" sz="1200" dirty="0"/>
                  <a:t>图中</a:t>
                </a:r>
                <a14:m>
                  <m:oMath xmlns:m="http://schemas.openxmlformats.org/officeDocument/2006/math">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𝑦</m:t>
                        </m:r>
                      </m:e>
                      <m:sub>
                        <m:r>
                          <a:rPr lang="en-US" altLang="zh-CN" sz="1200" i="1">
                            <a:latin typeface="Cambria Math" panose="02040503050406030204" pitchFamily="18" charset="0"/>
                          </a:rPr>
                          <m:t>𝑓</m:t>
                        </m:r>
                      </m:sub>
                    </m:sSub>
                  </m:oMath>
                </a14:m>
                <a:r>
                  <a:rPr lang="zh-CN" altLang="en-US" sz="1200" dirty="0"/>
                  <a:t>是充分就业时的产量。</a:t>
                </a:r>
                <a:endParaRPr lang="en-US" altLang="zh-CN" sz="12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01628" y="496317"/>
                <a:ext cx="4006844" cy="228870"/>
              </a:xfrm>
              <a:blipFill>
                <a:blip r:embed="rId3"/>
                <a:stretch>
                  <a:fillRect l="-315" t="-5000" b="-40000"/>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32</a:t>
            </a:fld>
            <a:endParaRPr lang="zh-CN" altLang="en-US"/>
          </a:p>
        </p:txBody>
      </p:sp>
      <p:pic>
        <p:nvPicPr>
          <p:cNvPr id="7" name="Picture 4" descr="xf17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3114" y="820647"/>
            <a:ext cx="2157245" cy="1891063"/>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2738575" y="2666354"/>
            <a:ext cx="1261884" cy="253916"/>
          </a:xfrm>
          <a:prstGeom prst="rect">
            <a:avLst/>
          </a:prstGeom>
        </p:spPr>
        <p:txBody>
          <a:bodyPr wrap="none">
            <a:spAutoFit/>
          </a:bodyPr>
          <a:lstStyle/>
          <a:p>
            <a:pPr algn="ctr">
              <a:spcBef>
                <a:spcPct val="50000"/>
              </a:spcBef>
            </a:pPr>
            <a:r>
              <a:rPr lang="zh-CN" altLang="en-US" sz="105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凯恩斯总供给曲线</a:t>
            </a:r>
          </a:p>
        </p:txBody>
      </p:sp>
      <mc:AlternateContent xmlns:mc="http://schemas.openxmlformats.org/markup-compatibility/2006" xmlns:a14="http://schemas.microsoft.com/office/drawing/2010/main">
        <mc:Choice Requires="a14">
          <p:sp>
            <p:nvSpPr>
              <p:cNvPr id="9" name="矩形 8"/>
              <p:cNvSpPr/>
              <p:nvPr/>
            </p:nvSpPr>
            <p:spPr>
              <a:xfrm>
                <a:off x="301628" y="770326"/>
                <a:ext cx="2219446" cy="2137188"/>
              </a:xfrm>
              <a:prstGeom prst="rect">
                <a:avLst/>
              </a:prstGeom>
            </p:spPr>
            <p:txBody>
              <a:bodyPr wrap="square">
                <a:spAutoFit/>
              </a:bodyPr>
              <a:lstStyle/>
              <a:p>
                <a:pPr marL="144075" indent="-144075">
                  <a:buFont typeface="Arial" panose="020B0604020202020204" pitchFamily="34" charset="0"/>
                  <a:buChar char="•"/>
                </a:pP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𝑃</m:t>
                        </m:r>
                      </m:e>
                      <m:sub>
                        <m:r>
                          <a:rPr lang="en-US" altLang="zh-CN" sz="1100" i="1">
                            <a:latin typeface="Cambria Math" panose="02040503050406030204" pitchFamily="18" charset="0"/>
                          </a:rPr>
                          <m:t>0</m:t>
                        </m:r>
                      </m:sub>
                    </m:sSub>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𝐸</m:t>
                        </m:r>
                      </m:e>
                      <m:sub>
                        <m:r>
                          <a:rPr lang="en-US" altLang="zh-CN" sz="1100" i="1">
                            <a:latin typeface="Cambria Math" panose="02040503050406030204" pitchFamily="18" charset="0"/>
                          </a:rPr>
                          <m:t>0</m:t>
                        </m:r>
                      </m:sub>
                    </m:sSub>
                    <m:r>
                      <a:rPr lang="zh-CN" altLang="en-US" sz="1100" i="1">
                        <a:latin typeface="Cambria Math" panose="02040503050406030204" pitchFamily="18" charset="0"/>
                      </a:rPr>
                      <m:t>是</m:t>
                    </m:r>
                  </m:oMath>
                </a14:m>
                <a:r>
                  <a:rPr lang="zh-CN" altLang="en-US" sz="1100" dirty="0">
                    <a:latin typeface="Garamond" panose="02020404030301010803" pitchFamily="18" charset="0"/>
                    <a:ea typeface="SimSun" panose="02010600030101010101" pitchFamily="2" charset="-122"/>
                  </a:rPr>
                  <a:t>水平线的意思是：当产量小于</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𝑦</m:t>
                        </m:r>
                      </m:e>
                      <m:sub>
                        <m:r>
                          <a:rPr lang="en-US" altLang="zh-CN" sz="1100" i="1">
                            <a:latin typeface="Cambria Math" panose="02040503050406030204" pitchFamily="18" charset="0"/>
                          </a:rPr>
                          <m:t>𝑓</m:t>
                        </m:r>
                      </m:sub>
                    </m:sSub>
                  </m:oMath>
                </a14:m>
                <a:r>
                  <a:rPr lang="zh-CN" altLang="en-US" sz="1100" dirty="0">
                    <a:latin typeface="Garamond" panose="02020404030301010803" pitchFamily="18" charset="0"/>
                    <a:ea typeface="SimSun" panose="02010600030101010101" pitchFamily="2" charset="-122"/>
                  </a:rPr>
                  <a:t>时，由于</a:t>
                </a:r>
                <a:r>
                  <a:rPr lang="en-US" altLang="zh-CN" sz="1100" dirty="0">
                    <a:latin typeface="Garamond" panose="02020404030301010803" pitchFamily="18" charset="0"/>
                    <a:ea typeface="SimSun" panose="02010600030101010101" pitchFamily="2" charset="-122"/>
                  </a:rPr>
                  <a:t>W</a:t>
                </a:r>
                <a:r>
                  <a:rPr lang="zh-CN" altLang="en-US" sz="1100" dirty="0">
                    <a:latin typeface="Garamond" panose="02020404030301010803" pitchFamily="18" charset="0"/>
                    <a:ea typeface="SimSun" panose="02010600030101010101" pitchFamily="2" charset="-122"/>
                  </a:rPr>
                  <a:t>和</a:t>
                </a:r>
                <a:r>
                  <a:rPr lang="en-US" altLang="zh-CN" sz="1100" dirty="0">
                    <a:latin typeface="Garamond" panose="02020404030301010803" pitchFamily="18" charset="0"/>
                    <a:ea typeface="SimSun" panose="02010600030101010101" pitchFamily="2" charset="-122"/>
                  </a:rPr>
                  <a:t>P</a:t>
                </a:r>
                <a:r>
                  <a:rPr lang="zh-CN" altLang="en-US" sz="1100" dirty="0">
                    <a:latin typeface="Garamond" panose="02020404030301010803" pitchFamily="18" charset="0"/>
                    <a:ea typeface="SimSun" panose="02010600030101010101" pitchFamily="2" charset="-122"/>
                  </a:rPr>
                  <a:t>都不会变动，所以在既有的价格</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𝑃</m:t>
                        </m:r>
                      </m:e>
                      <m:sub>
                        <m:r>
                          <a:rPr lang="en-US" altLang="zh-CN" sz="1100" i="1">
                            <a:latin typeface="Cambria Math" panose="02040503050406030204" pitchFamily="18" charset="0"/>
                          </a:rPr>
                          <m:t>0</m:t>
                        </m:r>
                      </m:sub>
                    </m:sSub>
                  </m:oMath>
                </a14:m>
                <a:r>
                  <a:rPr lang="zh-CN" altLang="en-US" sz="1100" dirty="0">
                    <a:latin typeface="Garamond" panose="02020404030301010803" pitchFamily="18" charset="0"/>
                    <a:ea typeface="SimSun" panose="02010600030101010101" pitchFamily="2" charset="-122"/>
                  </a:rPr>
                  <a:t>，经济社会能提供任何数量的</a:t>
                </a:r>
                <a14:m>
                  <m:oMath xmlns:m="http://schemas.openxmlformats.org/officeDocument/2006/math">
                    <m:r>
                      <a:rPr lang="en-US" altLang="zh-CN" sz="1100" i="1">
                        <a:latin typeface="Cambria Math" panose="02040503050406030204" pitchFamily="18" charset="0"/>
                      </a:rPr>
                      <m:t>𝑦</m:t>
                    </m:r>
                  </m:oMath>
                </a14:m>
                <a:r>
                  <a:rPr lang="zh-CN" altLang="en-US" sz="1100" dirty="0">
                    <a:latin typeface="Garamond" panose="02020404030301010803" pitchFamily="18" charset="0"/>
                    <a:ea typeface="SimSun" panose="02010600030101010101" pitchFamily="2" charset="-122"/>
                  </a:rPr>
                  <a:t>。</a:t>
                </a:r>
                <a:endParaRPr lang="en-US" altLang="zh-CN" sz="1100" dirty="0">
                  <a:latin typeface="Garamond" panose="02020404030301010803" pitchFamily="18" charset="0"/>
                  <a:ea typeface="SimSun" panose="02010600030101010101" pitchFamily="2" charset="-122"/>
                </a:endParaRPr>
              </a:p>
              <a:p>
                <a:pPr marL="144075" indent="-144075">
                  <a:buFont typeface="Arial" panose="020B0604020202020204" pitchFamily="34" charset="0"/>
                  <a:buChar char="•"/>
                </a:pPr>
                <a:r>
                  <a:rPr lang="zh-CN" altLang="en-US" sz="1100" dirty="0">
                    <a:latin typeface="Garamond" panose="02020404030301010803" pitchFamily="18" charset="0"/>
                    <a:ea typeface="SimSun" panose="02010600030101010101" pitchFamily="2" charset="-122"/>
                  </a:rPr>
                  <a:t>即，达到充分就业之前，经济社会能按照既定的价格提供任何数量的产量；</a:t>
                </a:r>
                <a:endParaRPr lang="en-US" altLang="zh-CN" sz="1100" dirty="0">
                  <a:latin typeface="Garamond" panose="02020404030301010803" pitchFamily="18" charset="0"/>
                  <a:ea typeface="SimSun" panose="02010600030101010101" pitchFamily="2" charset="-122"/>
                </a:endParaRPr>
              </a:p>
              <a:p>
                <a:pPr marL="144075" indent="-144075">
                  <a:buFont typeface="Arial" panose="020B0604020202020204" pitchFamily="34" charset="0"/>
                  <a:buChar char="•"/>
                </a:pPr>
                <a:r>
                  <a:rPr lang="zh-CN" altLang="en-US" sz="1100" dirty="0">
                    <a:latin typeface="Garamond" panose="02020404030301010803" pitchFamily="18" charset="0"/>
                    <a:ea typeface="SimSun" panose="02010600030101010101" pitchFamily="2" charset="-122"/>
                  </a:rPr>
                  <a:t>而达到充分就业之后，社会已经没有多余的生产能力，从而不可能生产更多的产品。因此，增加需求不但不会增加产量，反而会引起价格上升。</a:t>
                </a:r>
              </a:p>
            </p:txBody>
          </p:sp>
        </mc:Choice>
        <mc:Fallback xmlns="">
          <p:sp>
            <p:nvSpPr>
              <p:cNvPr id="9" name="矩形 8"/>
              <p:cNvSpPr>
                <a:spLocks noRot="1" noChangeAspect="1" noMove="1" noResize="1" noEditPoints="1" noAdjustHandles="1" noChangeArrowheads="1" noChangeShapeType="1" noTextEdit="1"/>
              </p:cNvSpPr>
              <p:nvPr/>
            </p:nvSpPr>
            <p:spPr>
              <a:xfrm>
                <a:off x="301628" y="770326"/>
                <a:ext cx="2219446" cy="2137188"/>
              </a:xfrm>
              <a:prstGeom prst="rect">
                <a:avLst/>
              </a:prstGeom>
              <a:blipFill>
                <a:blip r:embed="rId5"/>
                <a:stretch>
                  <a:fillRect r="-5682" b="-592"/>
                </a:stretch>
              </a:blipFill>
            </p:spPr>
            <p:txBody>
              <a:bodyPr/>
              <a:lstStyle/>
              <a:p>
                <a:r>
                  <a:rPr lang="zh-CN" altLang="en-US">
                    <a:noFill/>
                  </a:rPr>
                  <a:t> </a:t>
                </a:r>
              </a:p>
            </p:txBody>
          </p:sp>
        </mc:Fallback>
      </mc:AlternateContent>
      <p:sp>
        <p:nvSpPr>
          <p:cNvPr id="10" name="Rectangle 6">
            <a:extLst>
              <a:ext uri="{FF2B5EF4-FFF2-40B4-BE49-F238E27FC236}">
                <a16:creationId xmlns:a16="http://schemas.microsoft.com/office/drawing/2014/main" id="{859B07A6-40B2-D742-A0BB-AA596299705C}"/>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32</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BC49B116-4267-AB89-5276-382C705DF6A4}"/>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2" name="标题 11">
            <a:extLst>
              <a:ext uri="{FF2B5EF4-FFF2-40B4-BE49-F238E27FC236}">
                <a16:creationId xmlns:a16="http://schemas.microsoft.com/office/drawing/2014/main" id="{56C99D6D-8776-3966-56DC-278A6E782871}"/>
              </a:ext>
            </a:extLst>
          </p:cNvPr>
          <p:cNvSpPr>
            <a:spLocks noGrp="1"/>
          </p:cNvSpPr>
          <p:nvPr>
            <p:ph type="title"/>
          </p:nvPr>
        </p:nvSpPr>
        <p:spPr/>
        <p:txBody>
          <a:bodyPr/>
          <a:lstStyle/>
          <a:p>
            <a:r>
              <a:rPr kumimoji="1" lang="zh-CN" altLang="en-US" dirty="0"/>
              <a:t>凯恩斯总供给曲线</a:t>
            </a:r>
          </a:p>
        </p:txBody>
      </p:sp>
    </p:spTree>
    <p:extLst>
      <p:ext uri="{BB962C8B-B14F-4D97-AF65-F5344CB8AC3E}">
        <p14:creationId xmlns:p14="http://schemas.microsoft.com/office/powerpoint/2010/main" val="34369705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8086" y="794271"/>
            <a:ext cx="4191509" cy="2297172"/>
          </a:xfrm>
        </p:spPr>
        <p:txBody>
          <a:bodyPr/>
          <a:lstStyle/>
          <a:p>
            <a:r>
              <a:rPr lang="en-US" altLang="zh-CN" dirty="0"/>
              <a:t>1. </a:t>
            </a:r>
            <a:r>
              <a:rPr lang="zh-CN" altLang="en-US" dirty="0"/>
              <a:t>货币工资和价格具有刚性，也就是说二者完全不能进行调整；</a:t>
            </a:r>
            <a:endParaRPr lang="en-US" altLang="zh-CN" dirty="0"/>
          </a:p>
          <a:p>
            <a:r>
              <a:rPr lang="en-US" altLang="zh-CN" dirty="0"/>
              <a:t>2. </a:t>
            </a:r>
            <a:r>
              <a:rPr lang="zh-CN" altLang="en-US" dirty="0"/>
              <a:t>凯恩斯研究的是短期情况，即使不使用刚性工资的假设，由于时间太短，</a:t>
            </a:r>
            <a:r>
              <a:rPr lang="en-US" altLang="zh-CN" dirty="0"/>
              <a:t>W</a:t>
            </a:r>
            <a:r>
              <a:rPr lang="zh-CN" altLang="en-US" dirty="0"/>
              <a:t>和</a:t>
            </a:r>
            <a:r>
              <a:rPr lang="en-US" altLang="zh-CN" dirty="0"/>
              <a:t>P</a:t>
            </a:r>
            <a:r>
              <a:rPr lang="zh-CN" altLang="en-US" dirty="0"/>
              <a:t>也没有足够的时间来进行调整。</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33</a:t>
            </a:fld>
            <a:endParaRPr lang="zh-CN" altLang="en-US"/>
          </a:p>
        </p:txBody>
      </p:sp>
      <p:sp>
        <p:nvSpPr>
          <p:cNvPr id="7" name="Rectangle 6">
            <a:extLst>
              <a:ext uri="{FF2B5EF4-FFF2-40B4-BE49-F238E27FC236}">
                <a16:creationId xmlns:a16="http://schemas.microsoft.com/office/drawing/2014/main" id="{DFAEDF99-1571-344C-DBD2-1A3B60D8EF4F}"/>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33</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5BAF62E5-893B-0FFD-54B0-9D95C53018D7}"/>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61E65EB6-AF6E-7A13-8159-FD3B88596046}"/>
              </a:ext>
            </a:extLst>
          </p:cNvPr>
          <p:cNvSpPr>
            <a:spLocks noGrp="1"/>
          </p:cNvSpPr>
          <p:nvPr>
            <p:ph type="title"/>
          </p:nvPr>
        </p:nvSpPr>
        <p:spPr>
          <a:xfrm>
            <a:off x="172879" y="127376"/>
            <a:ext cx="4240332" cy="594887"/>
          </a:xfrm>
        </p:spPr>
        <p:txBody>
          <a:bodyPr/>
          <a:lstStyle/>
          <a:p>
            <a:r>
              <a:rPr lang="zh-CN" altLang="en-US" dirty="0"/>
              <a:t>为什么凯恩斯总供给曲线具有水平的形状？</a:t>
            </a:r>
            <a:endParaRPr lang="en-US" altLang="zh-CN" dirty="0"/>
          </a:p>
        </p:txBody>
      </p:sp>
    </p:spTree>
    <p:extLst>
      <p:ext uri="{BB962C8B-B14F-4D97-AF65-F5344CB8AC3E}">
        <p14:creationId xmlns:p14="http://schemas.microsoft.com/office/powerpoint/2010/main" val="2353530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1151" y="505302"/>
            <a:ext cx="3976211" cy="525696"/>
          </a:xfrm>
        </p:spPr>
        <p:txBody>
          <a:bodyPr/>
          <a:lstStyle/>
          <a:p>
            <a:r>
              <a:rPr lang="zh-CN" altLang="en-US" sz="1210" b="1" dirty="0"/>
              <a:t>凯恩斯总供给曲线的政策含义是</a:t>
            </a:r>
            <a:r>
              <a:rPr lang="zh-CN" altLang="en-US" sz="1210" dirty="0"/>
              <a:t>：只要国民收入或产量处在小于充分就业的水平，那么国家就可以使用增加需求的政策来使经济达到充分就业状态。</a:t>
            </a:r>
            <a:endParaRPr lang="en-US" altLang="zh-CN" sz="1210" dirty="0"/>
          </a:p>
          <a:p>
            <a:endParaRPr lang="zh-CN" altLang="en-US" sz="1210" dirty="0"/>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34</a:t>
            </a:fld>
            <a:endParaRPr lang="zh-CN" altLang="en-US"/>
          </a:p>
        </p:txBody>
      </p:sp>
      <p:grpSp>
        <p:nvGrpSpPr>
          <p:cNvPr id="9" name="组合 8"/>
          <p:cNvGrpSpPr/>
          <p:nvPr/>
        </p:nvGrpSpPr>
        <p:grpSpPr>
          <a:xfrm>
            <a:off x="2278569" y="1171452"/>
            <a:ext cx="2197534" cy="1816316"/>
            <a:chOff x="4364749" y="2813511"/>
            <a:chExt cx="4150601" cy="3463654"/>
          </a:xfrm>
        </p:grpSpPr>
        <p:pic>
          <p:nvPicPr>
            <p:cNvPr id="7" name="Picture 4" descr="xf17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4749" y="2813511"/>
              <a:ext cx="4150601" cy="3111317"/>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4865212" y="5807630"/>
              <a:ext cx="3497574" cy="469535"/>
            </a:xfrm>
            <a:prstGeom prst="rect">
              <a:avLst/>
            </a:prstGeom>
          </p:spPr>
          <p:txBody>
            <a:bodyPr wrap="none">
              <a:spAutoFit/>
            </a:bodyPr>
            <a:lstStyle/>
            <a:p>
              <a:pPr algn="ctr">
                <a:spcBef>
                  <a:spcPct val="50000"/>
                </a:spcBef>
              </a:pPr>
              <a:r>
                <a:rPr lang="zh-CN" altLang="en-US" sz="1000" b="1"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凯恩斯总供给曲线的政策含义</a:t>
              </a:r>
            </a:p>
          </p:txBody>
        </p:sp>
      </p:grpSp>
      <mc:AlternateContent xmlns:mc="http://schemas.openxmlformats.org/markup-compatibility/2006" xmlns:a14="http://schemas.microsoft.com/office/drawing/2010/main">
        <mc:Choice Requires="a14">
          <p:sp>
            <p:nvSpPr>
              <p:cNvPr id="10" name="内容占位符 2"/>
              <p:cNvSpPr txBox="1">
                <a:spLocks/>
              </p:cNvSpPr>
              <p:nvPr/>
            </p:nvSpPr>
            <p:spPr bwMode="auto">
              <a:xfrm>
                <a:off x="235637" y="1206408"/>
                <a:ext cx="2166165" cy="172429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461040"/>
                <a:r>
                  <a:rPr lang="zh-CN" altLang="en-US" sz="1210" b="1" dirty="0">
                    <a:latin typeface="Garamond" panose="02020404030301010803" pitchFamily="18" charset="0"/>
                    <a:ea typeface="SimSun" panose="02010600030101010101" pitchFamily="2" charset="-122"/>
                  </a:rPr>
                  <a:t>右图中，总需求曲线</a:t>
                </a:r>
                <a14:m>
                  <m:oMath xmlns:m="http://schemas.openxmlformats.org/officeDocument/2006/math">
                    <m:r>
                      <a:rPr lang="en-US" altLang="zh-CN" sz="1210" b="1" i="1">
                        <a:latin typeface="Cambria Math" panose="02040503050406030204" pitchFamily="18" charset="0"/>
                      </a:rPr>
                      <m:t>𝑨</m:t>
                    </m:r>
                    <m:sSub>
                      <m:sSubPr>
                        <m:ctrlPr>
                          <a:rPr lang="en-US" altLang="zh-CN" sz="1210" b="1" i="1">
                            <a:latin typeface="Cambria Math" panose="02040503050406030204" pitchFamily="18" charset="0"/>
                          </a:rPr>
                        </m:ctrlPr>
                      </m:sSubPr>
                      <m:e>
                        <m:r>
                          <a:rPr lang="en-US" altLang="zh-CN" sz="1210" b="1" i="1">
                            <a:latin typeface="Cambria Math" panose="02040503050406030204" pitchFamily="18" charset="0"/>
                          </a:rPr>
                          <m:t>𝑫</m:t>
                        </m:r>
                      </m:e>
                      <m:sub>
                        <m:r>
                          <a:rPr lang="en-US" altLang="zh-CN" sz="1210" b="1" i="1">
                            <a:latin typeface="Cambria Math" panose="02040503050406030204" pitchFamily="18" charset="0"/>
                          </a:rPr>
                          <m:t>𝟏</m:t>
                        </m:r>
                      </m:sub>
                    </m:sSub>
                  </m:oMath>
                </a14:m>
                <a:r>
                  <a:rPr lang="zh-CN" altLang="en-US" sz="1210" dirty="0">
                    <a:latin typeface="Garamond" panose="02020404030301010803" pitchFamily="18" charset="0"/>
                    <a:ea typeface="SimSun" panose="02010600030101010101" pitchFamily="2" charset="-122"/>
                  </a:rPr>
                  <a:t>与凯恩斯</a:t>
                </a:r>
                <a14:m>
                  <m:oMath xmlns:m="http://schemas.openxmlformats.org/officeDocument/2006/math">
                    <m:r>
                      <a:rPr lang="zh-CN" altLang="en-US" sz="1210" i="1" dirty="0">
                        <a:latin typeface="Cambria Math" panose="02040503050406030204" pitchFamily="18" charset="0"/>
                      </a:rPr>
                      <m:t>总供给曲线</m:t>
                    </m:r>
                    <m:sSub>
                      <m:sSubPr>
                        <m:ctrlPr>
                          <a:rPr lang="en-US" altLang="zh-CN" sz="1210" i="1" dirty="0">
                            <a:latin typeface="Cambria Math" panose="02040503050406030204" pitchFamily="18" charset="0"/>
                          </a:rPr>
                        </m:ctrlPr>
                      </m:sSubPr>
                      <m:e>
                        <m:r>
                          <m:rPr>
                            <m:sty m:val="p"/>
                          </m:rPr>
                          <a:rPr lang="en-US" altLang="zh-CN" sz="1210" i="1" dirty="0">
                            <a:latin typeface="Cambria Math" panose="02040503050406030204" pitchFamily="18" charset="0"/>
                          </a:rPr>
                          <m:t>P</m:t>
                        </m:r>
                      </m:e>
                      <m:sub>
                        <m:r>
                          <a:rPr lang="en-US" altLang="zh-CN" sz="1210" i="1" dirty="0">
                            <a:latin typeface="Cambria Math" panose="02040503050406030204" pitchFamily="18" charset="0"/>
                          </a:rPr>
                          <m:t>0</m:t>
                        </m:r>
                      </m:sub>
                    </m:sSub>
                    <m:sSub>
                      <m:sSubPr>
                        <m:ctrlPr>
                          <a:rPr lang="en-US" altLang="zh-CN" sz="1210" i="1" dirty="0">
                            <a:latin typeface="Cambria Math" panose="02040503050406030204" pitchFamily="18" charset="0"/>
                          </a:rPr>
                        </m:ctrlPr>
                      </m:sSubPr>
                      <m:e>
                        <m:r>
                          <a:rPr lang="en-US" altLang="zh-CN" sz="1210" i="1" dirty="0">
                            <a:latin typeface="Cambria Math" panose="02040503050406030204" pitchFamily="18" charset="0"/>
                          </a:rPr>
                          <m:t>𝐸</m:t>
                        </m:r>
                      </m:e>
                      <m:sub>
                        <m:r>
                          <a:rPr lang="en-US" altLang="zh-CN" sz="1210" i="1" dirty="0">
                            <a:latin typeface="Cambria Math" panose="02040503050406030204" pitchFamily="18" charset="0"/>
                          </a:rPr>
                          <m:t>0</m:t>
                        </m:r>
                      </m:sub>
                    </m:sSub>
                  </m:oMath>
                </a14:m>
                <a:r>
                  <a:rPr lang="zh-CN" altLang="en-US" sz="1210" dirty="0">
                    <a:latin typeface="Garamond" panose="02020404030301010803" pitchFamily="18" charset="0"/>
                    <a:ea typeface="SimSun" panose="02010600030101010101" pitchFamily="2" charset="-122"/>
                  </a:rPr>
                  <a:t>相交于</a:t>
                </a:r>
                <a14:m>
                  <m:oMath xmlns:m="http://schemas.openxmlformats.org/officeDocument/2006/math">
                    <m:sSub>
                      <m:sSubPr>
                        <m:ctrlPr>
                          <a:rPr lang="en-US" altLang="zh-CN" sz="1210" i="1" dirty="0">
                            <a:latin typeface="Cambria Math" panose="02040503050406030204" pitchFamily="18" charset="0"/>
                          </a:rPr>
                        </m:ctrlPr>
                      </m:sSubPr>
                      <m:e>
                        <m:r>
                          <a:rPr lang="en-US" altLang="zh-CN" sz="1210" i="1" dirty="0">
                            <a:latin typeface="Cambria Math" panose="02040503050406030204" pitchFamily="18" charset="0"/>
                          </a:rPr>
                          <m:t>𝐸</m:t>
                        </m:r>
                      </m:e>
                      <m:sub>
                        <m:r>
                          <a:rPr lang="en-US" altLang="zh-CN" sz="1210" i="1" dirty="0">
                            <a:latin typeface="Cambria Math" panose="02040503050406030204" pitchFamily="18" charset="0"/>
                          </a:rPr>
                          <m:t>1</m:t>
                        </m:r>
                      </m:sub>
                    </m:sSub>
                  </m:oMath>
                </a14:m>
                <a:r>
                  <a:rPr lang="zh-CN" altLang="en-US" sz="1210" dirty="0">
                    <a:latin typeface="Garamond" panose="02020404030301010803" pitchFamily="18" charset="0"/>
                    <a:ea typeface="SimSun" panose="02010600030101010101" pitchFamily="2" charset="-122"/>
                  </a:rPr>
                  <a:t>，此时的价格水平是</a:t>
                </a:r>
                <a14:m>
                  <m:oMath xmlns:m="http://schemas.openxmlformats.org/officeDocument/2006/math">
                    <m:sSub>
                      <m:sSubPr>
                        <m:ctrlPr>
                          <a:rPr lang="en-US" altLang="zh-CN" sz="1210" i="1" dirty="0">
                            <a:latin typeface="Cambria Math" panose="02040503050406030204" pitchFamily="18" charset="0"/>
                          </a:rPr>
                        </m:ctrlPr>
                      </m:sSubPr>
                      <m:e>
                        <m:r>
                          <m:rPr>
                            <m:sty m:val="p"/>
                          </m:rPr>
                          <a:rPr lang="en-US" altLang="zh-CN" sz="1210" i="1" dirty="0">
                            <a:latin typeface="Cambria Math" panose="02040503050406030204" pitchFamily="18" charset="0"/>
                          </a:rPr>
                          <m:t>P</m:t>
                        </m:r>
                      </m:e>
                      <m:sub>
                        <m:r>
                          <a:rPr lang="en-US" altLang="zh-CN" sz="1210" i="1" dirty="0">
                            <a:latin typeface="Cambria Math" panose="02040503050406030204" pitchFamily="18" charset="0"/>
                          </a:rPr>
                          <m:t>0</m:t>
                        </m:r>
                      </m:sub>
                    </m:sSub>
                    <m:r>
                      <a:rPr lang="zh-CN" altLang="en-US" sz="1210" i="1" dirty="0">
                        <a:latin typeface="Cambria Math" panose="02040503050406030204" pitchFamily="18" charset="0"/>
                      </a:rPr>
                      <m:t>产量</m:t>
                    </m:r>
                  </m:oMath>
                </a14:m>
                <a:r>
                  <a:rPr lang="zh-CN" altLang="en-US" sz="1210" dirty="0">
                    <a:latin typeface="Garamond" panose="02020404030301010803" pitchFamily="18" charset="0"/>
                    <a:ea typeface="SimSun" panose="02010600030101010101" pitchFamily="2" charset="-122"/>
                  </a:rPr>
                  <a:t>处于小于充分就业的产量水平。</a:t>
                </a:r>
                <a:endParaRPr lang="en-US" altLang="zh-CN" sz="1210" dirty="0">
                  <a:latin typeface="Garamond" panose="02020404030301010803" pitchFamily="18" charset="0"/>
                  <a:ea typeface="SimSun" panose="02010600030101010101" pitchFamily="2" charset="-122"/>
                </a:endParaRPr>
              </a:p>
              <a:p>
                <a:pPr algn="just" defTabSz="461040"/>
                <a:r>
                  <a:rPr lang="zh-CN" altLang="en-US" sz="1210" dirty="0">
                    <a:latin typeface="Garamond" panose="02020404030301010803" pitchFamily="18" charset="0"/>
                    <a:ea typeface="SimSun" panose="02010600030101010101" pitchFamily="2" charset="-122"/>
                  </a:rPr>
                  <a:t>为改善这一点，国家通过增加需求的政策使总需求曲线右移，此时价格水平不变，但国民收入达到充分就业状态。</a:t>
                </a:r>
              </a:p>
            </p:txBody>
          </p:sp>
        </mc:Choice>
        <mc:Fallback xmlns="">
          <p:sp>
            <p:nvSpPr>
              <p:cNvPr id="10" name="内容占位符 2"/>
              <p:cNvSpPr txBox="1">
                <a:spLocks noRot="1" noChangeAspect="1" noMove="1" noResize="1" noEditPoints="1" noAdjustHandles="1" noChangeArrowheads="1" noChangeShapeType="1" noTextEdit="1"/>
              </p:cNvSpPr>
              <p:nvPr/>
            </p:nvSpPr>
            <p:spPr bwMode="auto">
              <a:xfrm>
                <a:off x="235637" y="1206408"/>
                <a:ext cx="2166165" cy="1724290"/>
              </a:xfrm>
              <a:prstGeom prst="rect">
                <a:avLst/>
              </a:prstGeom>
              <a:blipFill>
                <a:blip r:embed="rId3"/>
                <a:stretch>
                  <a:fillRect l="-2326" t="-3676" r="-1744" b="-1029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1" name="Rectangle 6">
            <a:extLst>
              <a:ext uri="{FF2B5EF4-FFF2-40B4-BE49-F238E27FC236}">
                <a16:creationId xmlns:a16="http://schemas.microsoft.com/office/drawing/2014/main" id="{99240E05-47AF-C344-88C6-5042B8B196CE}"/>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34</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2" name="日期占位符 3">
            <a:extLst>
              <a:ext uri="{FF2B5EF4-FFF2-40B4-BE49-F238E27FC236}">
                <a16:creationId xmlns:a16="http://schemas.microsoft.com/office/drawing/2014/main" id="{7C718860-7334-9F83-7578-90DAE80E5727}"/>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3" name="标题 12">
            <a:extLst>
              <a:ext uri="{FF2B5EF4-FFF2-40B4-BE49-F238E27FC236}">
                <a16:creationId xmlns:a16="http://schemas.microsoft.com/office/drawing/2014/main" id="{0AB9B0C1-C440-ED2A-F8D2-1CA408B9D808}"/>
              </a:ext>
            </a:extLst>
          </p:cNvPr>
          <p:cNvSpPr>
            <a:spLocks noGrp="1"/>
          </p:cNvSpPr>
          <p:nvPr>
            <p:ph type="title"/>
          </p:nvPr>
        </p:nvSpPr>
        <p:spPr/>
        <p:txBody>
          <a:bodyPr/>
          <a:lstStyle/>
          <a:p>
            <a:r>
              <a:rPr lang="zh-CN" altLang="en-US" dirty="0">
                <a:latin typeface="SimSun" panose="02010600030101010101" pitchFamily="2" charset="-122"/>
                <a:ea typeface="SimSun" panose="02010600030101010101" pitchFamily="2" charset="-122"/>
              </a:rPr>
              <a:t>凯恩斯总供给曲线</a:t>
            </a:r>
            <a:endParaRPr kumimoji="1" lang="zh-CN" altLang="en-US"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33425029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8086" y="578254"/>
            <a:ext cx="4225125" cy="2513190"/>
          </a:xfrm>
        </p:spPr>
        <p:txBody>
          <a:bodyPr/>
          <a:lstStyle/>
          <a:p>
            <a:r>
              <a:rPr lang="zh-CN" altLang="en-US" i="1" u="sng" dirty="0">
                <a:highlight>
                  <a:srgbClr val="00FFFF"/>
                </a:highlight>
              </a:rPr>
              <a:t>短期总供给曲线的情形二：常规的总供给曲线</a:t>
            </a:r>
            <a:endParaRPr lang="en-US" altLang="zh-CN" i="1" u="sng" dirty="0">
              <a:highlight>
                <a:srgbClr val="00FFFF"/>
              </a:highlight>
            </a:endParaRPr>
          </a:p>
        </p:txBody>
      </p:sp>
      <p:sp>
        <p:nvSpPr>
          <p:cNvPr id="19" name="内容占位符 2">
            <a:extLst>
              <a:ext uri="{FF2B5EF4-FFF2-40B4-BE49-F238E27FC236}">
                <a16:creationId xmlns:a16="http://schemas.microsoft.com/office/drawing/2014/main" id="{DCBA3758-8388-447B-6490-96FA80911E1F}"/>
              </a:ext>
            </a:extLst>
          </p:cNvPr>
          <p:cNvSpPr txBox="1">
            <a:spLocks/>
          </p:cNvSpPr>
          <p:nvPr/>
        </p:nvSpPr>
        <p:spPr bwMode="auto">
          <a:xfrm>
            <a:off x="196889" y="990097"/>
            <a:ext cx="2360267" cy="1480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r>
              <a:rPr lang="zh-CN" altLang="en-US" sz="1400" dirty="0">
                <a:latin typeface="Garamond" panose="02020404030301010803" pitchFamily="18" charset="0"/>
                <a:ea typeface="SimSun" panose="02010600030101010101" pitchFamily="2" charset="-122"/>
              </a:rPr>
              <a:t>在通常的或常规的情况下，经济的短期总供给曲线位于凯恩斯总供给曲线和古典总供给曲线这两个极端之间</a:t>
            </a:r>
            <a:endParaRPr lang="en-US" altLang="zh-CN" sz="1400" dirty="0">
              <a:latin typeface="Garamond" panose="02020404030301010803" pitchFamily="18" charset="0"/>
              <a:ea typeface="SimSun" panose="02010600030101010101" pitchFamily="2" charset="-122"/>
            </a:endParaRPr>
          </a:p>
          <a:p>
            <a:endParaRPr lang="en-US" altLang="zh-CN" sz="1400" b="1" i="1" u="sng" dirty="0">
              <a:highlight>
                <a:srgbClr val="00FFFF"/>
              </a:highlight>
            </a:endParaRP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35</a:t>
            </a:fld>
            <a:endParaRPr lang="zh-CN" altLang="en-US"/>
          </a:p>
        </p:txBody>
      </p:sp>
      <p:sp>
        <p:nvSpPr>
          <p:cNvPr id="7" name="Rectangle 6">
            <a:extLst>
              <a:ext uri="{FF2B5EF4-FFF2-40B4-BE49-F238E27FC236}">
                <a16:creationId xmlns:a16="http://schemas.microsoft.com/office/drawing/2014/main" id="{F15FF945-1144-1DE2-D8FE-22E9F12B754C}"/>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35</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71EA6C77-5DEA-0858-A66D-108EBFEDDD81}"/>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0E4AC004-EFAF-9B8F-A302-5770B25BCE12}"/>
              </a:ext>
            </a:extLst>
          </p:cNvPr>
          <p:cNvSpPr>
            <a:spLocks noGrp="1"/>
          </p:cNvSpPr>
          <p:nvPr>
            <p:ph type="title"/>
          </p:nvPr>
        </p:nvSpPr>
        <p:spPr/>
        <p:txBody>
          <a:bodyPr/>
          <a:lstStyle/>
          <a:p>
            <a:r>
              <a:rPr kumimoji="1" lang="zh-CN" altLang="en-US" dirty="0">
                <a:latin typeface="SimSun" panose="02010600030101010101" pitchFamily="2" charset="-122"/>
                <a:ea typeface="SimSun" panose="02010600030101010101" pitchFamily="2" charset="-122"/>
              </a:rPr>
              <a:t>常规总供给曲线的形状</a:t>
            </a:r>
          </a:p>
        </p:txBody>
      </p:sp>
      <p:grpSp>
        <p:nvGrpSpPr>
          <p:cNvPr id="2" name="Group 6">
            <a:extLst>
              <a:ext uri="{FF2B5EF4-FFF2-40B4-BE49-F238E27FC236}">
                <a16:creationId xmlns:a16="http://schemas.microsoft.com/office/drawing/2014/main" id="{7F0590B0-1164-9F20-F66B-16BEB0320638}"/>
              </a:ext>
            </a:extLst>
          </p:cNvPr>
          <p:cNvGrpSpPr>
            <a:grpSpLocks/>
          </p:cNvGrpSpPr>
          <p:nvPr/>
        </p:nvGrpSpPr>
        <p:grpSpPr bwMode="auto">
          <a:xfrm>
            <a:off x="2593082" y="817594"/>
            <a:ext cx="1820129" cy="1992902"/>
            <a:chOff x="0" y="0"/>
            <a:chExt cx="2786" cy="2495"/>
          </a:xfrm>
        </p:grpSpPr>
        <p:grpSp>
          <p:nvGrpSpPr>
            <p:cNvPr id="4" name="Group 7">
              <a:extLst>
                <a:ext uri="{FF2B5EF4-FFF2-40B4-BE49-F238E27FC236}">
                  <a16:creationId xmlns:a16="http://schemas.microsoft.com/office/drawing/2014/main" id="{C493DAC3-94FE-72B9-4EE7-5C825952B0D9}"/>
                </a:ext>
              </a:extLst>
            </p:cNvPr>
            <p:cNvGrpSpPr>
              <a:grpSpLocks/>
            </p:cNvGrpSpPr>
            <p:nvPr/>
          </p:nvGrpSpPr>
          <p:grpSpPr bwMode="auto">
            <a:xfrm>
              <a:off x="118" y="252"/>
              <a:ext cx="2409" cy="2049"/>
              <a:chOff x="0" y="0"/>
              <a:chExt cx="2116" cy="2027"/>
            </a:xfrm>
          </p:grpSpPr>
          <p:sp>
            <p:nvSpPr>
              <p:cNvPr id="11" name="Line 5">
                <a:extLst>
                  <a:ext uri="{FF2B5EF4-FFF2-40B4-BE49-F238E27FC236}">
                    <a16:creationId xmlns:a16="http://schemas.microsoft.com/office/drawing/2014/main" id="{D25A898C-C7EF-E447-25C2-44F70967B4D9}"/>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12" name="Line 6">
                <a:extLst>
                  <a:ext uri="{FF2B5EF4-FFF2-40B4-BE49-F238E27FC236}">
                    <a16:creationId xmlns:a16="http://schemas.microsoft.com/office/drawing/2014/main" id="{5D1B549F-FFB4-D027-F0EA-F4FB7A98A579}"/>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5" name="Text Box 7">
              <a:extLst>
                <a:ext uri="{FF2B5EF4-FFF2-40B4-BE49-F238E27FC236}">
                  <a16:creationId xmlns:a16="http://schemas.microsoft.com/office/drawing/2014/main" id="{0BD1A178-91CA-34FB-3ECD-701743D0B775}"/>
                </a:ext>
              </a:extLst>
            </p:cNvPr>
            <p:cNvSpPr txBox="1">
              <a:spLocks noChangeArrowheads="1"/>
            </p:cNvSpPr>
            <p:nvPr/>
          </p:nvSpPr>
          <p:spPr bwMode="auto">
            <a:xfrm>
              <a:off x="0" y="0"/>
              <a:ext cx="267"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P</a:t>
              </a:r>
            </a:p>
          </p:txBody>
        </p:sp>
        <p:sp>
          <p:nvSpPr>
            <p:cNvPr id="10" name="Text Box 8">
              <a:extLst>
                <a:ext uri="{FF2B5EF4-FFF2-40B4-BE49-F238E27FC236}">
                  <a16:creationId xmlns:a16="http://schemas.microsoft.com/office/drawing/2014/main" id="{59FC66FB-35FE-3992-3960-5870B090DD68}"/>
                </a:ext>
              </a:extLst>
            </p:cNvPr>
            <p:cNvSpPr txBox="1">
              <a:spLocks noChangeArrowheads="1"/>
            </p:cNvSpPr>
            <p:nvPr/>
          </p:nvSpPr>
          <p:spPr bwMode="auto">
            <a:xfrm>
              <a:off x="2496" y="2151"/>
              <a:ext cx="29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Y</a:t>
              </a:r>
            </a:p>
          </p:txBody>
        </p:sp>
      </p:grpSp>
      <p:sp>
        <p:nvSpPr>
          <p:cNvPr id="13" name="Line 10">
            <a:extLst>
              <a:ext uri="{FF2B5EF4-FFF2-40B4-BE49-F238E27FC236}">
                <a16:creationId xmlns:a16="http://schemas.microsoft.com/office/drawing/2014/main" id="{C5331B75-7411-E154-B35D-FE4D1AB2F90F}"/>
              </a:ext>
            </a:extLst>
          </p:cNvPr>
          <p:cNvSpPr>
            <a:spLocks noChangeShapeType="1"/>
          </p:cNvSpPr>
          <p:nvPr/>
        </p:nvSpPr>
        <p:spPr bwMode="auto">
          <a:xfrm flipV="1">
            <a:off x="2717597" y="1335453"/>
            <a:ext cx="1198145" cy="1107705"/>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14" name="Text Box 11">
            <a:extLst>
              <a:ext uri="{FF2B5EF4-FFF2-40B4-BE49-F238E27FC236}">
                <a16:creationId xmlns:a16="http://schemas.microsoft.com/office/drawing/2014/main" id="{57066386-1376-CA44-D7D5-19BA945F7F8B}"/>
              </a:ext>
            </a:extLst>
          </p:cNvPr>
          <p:cNvSpPr txBox="1">
            <a:spLocks noChangeArrowheads="1"/>
          </p:cNvSpPr>
          <p:nvPr/>
        </p:nvSpPr>
        <p:spPr bwMode="auto">
          <a:xfrm>
            <a:off x="3827702" y="1148168"/>
            <a:ext cx="754744" cy="293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ea typeface="宋体" panose="02010600030101010101" pitchFamily="2" charset="-122"/>
              </a:rPr>
              <a:t>SRAS</a:t>
            </a:r>
            <a:endParaRPr lang="en-US" altLang="zh-CN" sz="1311" i="1" baseline="-25000" dirty="0">
              <a:ea typeface="宋体" panose="02010600030101010101" pitchFamily="2" charset="-122"/>
            </a:endParaRPr>
          </a:p>
        </p:txBody>
      </p:sp>
    </p:spTree>
    <p:extLst>
      <p:ext uri="{BB962C8B-B14F-4D97-AF65-F5344CB8AC3E}">
        <p14:creationId xmlns:p14="http://schemas.microsoft.com/office/powerpoint/2010/main" val="42400735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宏观经济学家提出了三种说明总供给曲线向右上方倾斜的理论，</a:t>
            </a:r>
            <a:r>
              <a:rPr lang="zh-CN" altLang="en-US" dirty="0">
                <a:latin typeface="SimHei" panose="02010609060101010101" pitchFamily="49" charset="-122"/>
                <a:ea typeface="SimHei" panose="02010609060101010101" pitchFamily="49" charset="-122"/>
              </a:rPr>
              <a:t>粘性工资理论、粘性价格理论、错觉理论</a:t>
            </a:r>
            <a:r>
              <a:rPr lang="zh-CN" altLang="en-US" dirty="0"/>
              <a:t>，这三种理论都有一个共性，即</a:t>
            </a:r>
            <a:endParaRPr lang="en-US" altLang="zh-CN" dirty="0"/>
          </a:p>
          <a:p>
            <a:r>
              <a:rPr lang="zh-CN" altLang="en-US" dirty="0">
                <a:latin typeface="KaiTi" panose="02010609060101010101" pitchFamily="49" charset="-122"/>
                <a:ea typeface="KaiTi" panose="02010609060101010101" pitchFamily="49" charset="-122"/>
              </a:rPr>
              <a:t>当经济中的实际物价水平背离了人们预期的物价水平时，供给量就背离了其长期水平或自然水平。</a:t>
            </a:r>
            <a:endParaRPr lang="en-US" altLang="zh-CN" dirty="0">
              <a:latin typeface="KaiTi" panose="02010609060101010101" pitchFamily="49" charset="-122"/>
              <a:ea typeface="KaiTi" panose="02010609060101010101" pitchFamily="49" charset="-122"/>
            </a:endParaRPr>
          </a:p>
          <a:p>
            <a:pPr lvl="1"/>
            <a:r>
              <a:rPr lang="zh-CN" altLang="en-US" dirty="0">
                <a:latin typeface="KaiTi" panose="02010609060101010101" pitchFamily="49" charset="-122"/>
                <a:ea typeface="KaiTi" panose="02010609060101010101" pitchFamily="49" charset="-122"/>
              </a:rPr>
              <a:t>当物价水平高于人们预期的水平时，产量会高于自然水平；</a:t>
            </a:r>
            <a:endParaRPr lang="en-US" altLang="zh-CN" dirty="0">
              <a:latin typeface="KaiTi" panose="02010609060101010101" pitchFamily="49" charset="-122"/>
              <a:ea typeface="KaiTi" panose="02010609060101010101" pitchFamily="49" charset="-122"/>
            </a:endParaRPr>
          </a:p>
          <a:p>
            <a:pPr lvl="1"/>
            <a:r>
              <a:rPr lang="zh-CN" altLang="en-US" dirty="0">
                <a:latin typeface="KaiTi" panose="02010609060101010101" pitchFamily="49" charset="-122"/>
                <a:ea typeface="KaiTi" panose="02010609060101010101" pitchFamily="49" charset="-122"/>
              </a:rPr>
              <a:t>当物价水平低于人们预期的水平时，产量会低于自然水平；</a:t>
            </a:r>
            <a:endParaRPr lang="en-US" altLang="zh-CN" dirty="0">
              <a:latin typeface="KaiTi" panose="02010609060101010101" pitchFamily="49" charset="-122"/>
              <a:ea typeface="KaiTi" panose="02010609060101010101" pitchFamily="49" charset="-122"/>
            </a:endParaRPr>
          </a:p>
          <a:p>
            <a:pPr lvl="1"/>
            <a:endParaRPr lang="zh-CN" altLang="en-US" dirty="0"/>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36</a:t>
            </a:fld>
            <a:endParaRPr lang="zh-CN" altLang="en-US"/>
          </a:p>
        </p:txBody>
      </p:sp>
      <p:sp>
        <p:nvSpPr>
          <p:cNvPr id="7" name="Rectangle 6">
            <a:extLst>
              <a:ext uri="{FF2B5EF4-FFF2-40B4-BE49-F238E27FC236}">
                <a16:creationId xmlns:a16="http://schemas.microsoft.com/office/drawing/2014/main" id="{F15FF945-1144-1DE2-D8FE-22E9F12B754C}"/>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36</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71EA6C77-5DEA-0858-A66D-108EBFEDDD81}"/>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0E4AC004-EFAF-9B8F-A302-5770B25BCE12}"/>
              </a:ext>
            </a:extLst>
          </p:cNvPr>
          <p:cNvSpPr>
            <a:spLocks noGrp="1"/>
          </p:cNvSpPr>
          <p:nvPr>
            <p:ph type="title"/>
          </p:nvPr>
        </p:nvSpPr>
        <p:spPr/>
        <p:txBody>
          <a:bodyPr/>
          <a:lstStyle/>
          <a:p>
            <a:r>
              <a:rPr kumimoji="1" lang="zh-CN" altLang="en-US" dirty="0">
                <a:latin typeface="SimSun" panose="02010600030101010101" pitchFamily="2" charset="-122"/>
                <a:ea typeface="SimSun" panose="02010600030101010101" pitchFamily="2" charset="-122"/>
              </a:rPr>
              <a:t>为什么短期总供给曲线向右上方倾斜？</a:t>
            </a:r>
          </a:p>
        </p:txBody>
      </p:sp>
    </p:spTree>
    <p:extLst>
      <p:ext uri="{BB962C8B-B14F-4D97-AF65-F5344CB8AC3E}">
        <p14:creationId xmlns:p14="http://schemas.microsoft.com/office/powerpoint/2010/main" val="1724899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11822139-D9BF-1D52-327E-BC31BD6C68A6}"/>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6A65B23B-A37B-C1F7-B7AA-6B16D23BA3AC}"/>
              </a:ext>
            </a:extLst>
          </p:cNvPr>
          <p:cNvSpPr>
            <a:spLocks noGrp="1"/>
          </p:cNvSpPr>
          <p:nvPr>
            <p:ph type="sldNum" sz="quarter" idx="11"/>
          </p:nvPr>
        </p:nvSpPr>
        <p:spPr/>
        <p:txBody>
          <a:bodyPr/>
          <a:lstStyle/>
          <a:p>
            <a:fld id="{6B879032-0367-5D46-BB0F-8773F1BFA6AE}" type="slidenum">
              <a:rPr lang="zh-CN" altLang="zh-CN"/>
              <a:pPr/>
              <a:t>37</a:t>
            </a:fld>
            <a:endParaRPr lang="zh-CN" altLang="zh-CN"/>
          </a:p>
        </p:txBody>
      </p:sp>
      <p:sp>
        <p:nvSpPr>
          <p:cNvPr id="59394" name="Rectangle 2">
            <a:extLst>
              <a:ext uri="{FF2B5EF4-FFF2-40B4-BE49-F238E27FC236}">
                <a16:creationId xmlns:a16="http://schemas.microsoft.com/office/drawing/2014/main" id="{3302A38C-05C0-305F-D871-A2316F8F195D}"/>
              </a:ext>
            </a:extLst>
          </p:cNvPr>
          <p:cNvSpPr>
            <a:spLocks noGrp="1" noChangeArrowheads="1"/>
          </p:cNvSpPr>
          <p:nvPr>
            <p:ph type="title" idx="4294967295"/>
          </p:nvPr>
        </p:nvSpPr>
        <p:spPr>
          <a:xfrm>
            <a:off x="230505" y="123243"/>
            <a:ext cx="4149090" cy="579190"/>
          </a:xfrm>
        </p:spPr>
        <p:txBody>
          <a:bodyPr/>
          <a:lstStyle/>
          <a:p>
            <a:r>
              <a:rPr lang="zh-CN" altLang="en-US" sz="1866" dirty="0">
                <a:ea typeface="宋体" panose="02010600030101010101" pitchFamily="2" charset="-122"/>
              </a:rPr>
              <a:t>短期总供给曲线向右上方倾斜的三种理论解释</a:t>
            </a:r>
            <a:endParaRPr lang="zh-CN" altLang="en-US" sz="1866" i="1" dirty="0">
              <a:ea typeface="宋体" panose="02010600030101010101" pitchFamily="2" charset="-122"/>
            </a:endParaRPr>
          </a:p>
        </p:txBody>
      </p:sp>
      <p:sp>
        <p:nvSpPr>
          <p:cNvPr id="59395" name="Rectangle 3">
            <a:extLst>
              <a:ext uri="{FF2B5EF4-FFF2-40B4-BE49-F238E27FC236}">
                <a16:creationId xmlns:a16="http://schemas.microsoft.com/office/drawing/2014/main" id="{A1C6BCF4-A91F-9C11-6311-708592523804}"/>
              </a:ext>
            </a:extLst>
          </p:cNvPr>
          <p:cNvSpPr>
            <a:spLocks noGrp="1" noChangeArrowheads="1"/>
          </p:cNvSpPr>
          <p:nvPr>
            <p:ph type="body" idx="4294967295"/>
          </p:nvPr>
        </p:nvSpPr>
        <p:spPr>
          <a:xfrm>
            <a:off x="230505" y="794271"/>
            <a:ext cx="4149891" cy="2267911"/>
          </a:xfrm>
        </p:spPr>
        <p:txBody>
          <a:bodyPr/>
          <a:lstStyle/>
          <a:p>
            <a:pPr>
              <a:buFont typeface="Wingdings" pitchFamily="2" charset="2"/>
              <a:buNone/>
            </a:pPr>
            <a:r>
              <a:rPr lang="zh-CN" altLang="zh-CN" dirty="0">
                <a:ea typeface="宋体" panose="02010600030101010101" pitchFamily="2" charset="-122"/>
              </a:rPr>
              <a:t>在每一种理论中，</a:t>
            </a:r>
          </a:p>
          <a:p>
            <a:pPr lvl="1">
              <a:lnSpc>
                <a:spcPct val="105000"/>
              </a:lnSpc>
              <a:spcBef>
                <a:spcPct val="30000"/>
              </a:spcBef>
            </a:pPr>
            <a:r>
              <a:rPr lang="zh-CN" altLang="zh-CN" sz="1412" dirty="0">
                <a:ea typeface="宋体" panose="02010600030101010101" pitchFamily="2" charset="-122"/>
              </a:rPr>
              <a:t>市场的不完全性</a:t>
            </a:r>
            <a:r>
              <a:rPr lang="zh-CN" altLang="en-US" sz="1412" dirty="0">
                <a:ea typeface="宋体" panose="02010600030101010101" pitchFamily="2" charset="-122"/>
              </a:rPr>
              <a:t>（价格无法自由调节）</a:t>
            </a:r>
            <a:endParaRPr lang="zh-CN" altLang="zh-CN" sz="1412" dirty="0">
              <a:ea typeface="宋体" panose="02010600030101010101" pitchFamily="2" charset="-122"/>
            </a:endParaRPr>
          </a:p>
          <a:p>
            <a:pPr lvl="1">
              <a:lnSpc>
                <a:spcPct val="105000"/>
              </a:lnSpc>
              <a:spcBef>
                <a:spcPct val="30000"/>
              </a:spcBef>
            </a:pPr>
            <a:r>
              <a:rPr lang="zh-CN" altLang="zh-CN" sz="1412" dirty="0">
                <a:ea typeface="宋体" panose="02010600030101010101" pitchFamily="2" charset="-122"/>
              </a:rPr>
              <a:t>结果： </a:t>
            </a:r>
            <a:br>
              <a:rPr lang="zh-CN" altLang="zh-CN" sz="1412" dirty="0">
                <a:ea typeface="宋体" panose="02010600030101010101" pitchFamily="2" charset="-122"/>
              </a:rPr>
            </a:br>
            <a:r>
              <a:rPr lang="zh-CN" altLang="zh-CN" sz="1412" b="1" dirty="0">
                <a:solidFill>
                  <a:srgbClr val="FF0000"/>
                </a:solidFill>
                <a:ea typeface="宋体" panose="02010600030101010101" pitchFamily="2" charset="-122"/>
              </a:rPr>
              <a:t>当经济中的实际物价水平背离了人们预期的物价水平时，供给量就背离了其长期水平或自然水平</a:t>
            </a:r>
          </a:p>
        </p:txBody>
      </p:sp>
      <p:sp>
        <p:nvSpPr>
          <p:cNvPr id="59396" name="FlagCount" hidden="1">
            <a:hlinkClick r:id="rId3" action="ppaction://hlinkfile"/>
            <a:extLst>
              <a:ext uri="{FF2B5EF4-FFF2-40B4-BE49-F238E27FC236}">
                <a16:creationId xmlns:a16="http://schemas.microsoft.com/office/drawing/2014/main" id="{F89D4721-68E5-0F47-F040-64875B85FB96}"/>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324875798"/>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18E504F-5D8E-295E-33E7-D2F4504E7FA2}"/>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F8EBA4CA-3FC8-4CEF-FE06-FA8C3F611248}"/>
              </a:ext>
            </a:extLst>
          </p:cNvPr>
          <p:cNvSpPr>
            <a:spLocks noGrp="1"/>
          </p:cNvSpPr>
          <p:nvPr>
            <p:ph type="sldNum" sz="quarter" idx="11"/>
          </p:nvPr>
        </p:nvSpPr>
        <p:spPr/>
        <p:txBody>
          <a:bodyPr/>
          <a:lstStyle/>
          <a:p>
            <a:fld id="{FF233D1B-8C37-F548-9E25-D26AE9293A47}" type="slidenum">
              <a:rPr lang="zh-CN" altLang="zh-CN"/>
              <a:pPr/>
              <a:t>38</a:t>
            </a:fld>
            <a:endParaRPr lang="zh-CN" altLang="zh-CN"/>
          </a:p>
        </p:txBody>
      </p:sp>
      <p:sp>
        <p:nvSpPr>
          <p:cNvPr id="61442" name="Rectangle 2">
            <a:extLst>
              <a:ext uri="{FF2B5EF4-FFF2-40B4-BE49-F238E27FC236}">
                <a16:creationId xmlns:a16="http://schemas.microsoft.com/office/drawing/2014/main" id="{0B127D6B-ED0F-CC1B-EFA6-3A52822E85C1}"/>
              </a:ext>
            </a:extLst>
          </p:cNvPr>
          <p:cNvSpPr>
            <a:spLocks noGrp="1" noChangeArrowheads="1"/>
          </p:cNvSpPr>
          <p:nvPr>
            <p:ph type="title" idx="4294967295"/>
          </p:nvPr>
        </p:nvSpPr>
        <p:spPr/>
        <p:txBody>
          <a:bodyPr/>
          <a:lstStyle/>
          <a:p>
            <a:r>
              <a:rPr lang="en-US" altLang="zh-CN" sz="1815">
                <a:ea typeface="宋体" panose="02010600030101010101" pitchFamily="2" charset="-122"/>
              </a:rPr>
              <a:t>1</a:t>
            </a:r>
            <a:r>
              <a:rPr lang="zh-CN" altLang="zh-CN" sz="1815">
                <a:ea typeface="宋体" panose="02010600030101010101" pitchFamily="2" charset="-122"/>
              </a:rPr>
              <a:t>. 粘性工资理论</a:t>
            </a:r>
          </a:p>
        </p:txBody>
      </p:sp>
      <p:sp>
        <p:nvSpPr>
          <p:cNvPr id="61443" name="Rectangle 3">
            <a:extLst>
              <a:ext uri="{FF2B5EF4-FFF2-40B4-BE49-F238E27FC236}">
                <a16:creationId xmlns:a16="http://schemas.microsoft.com/office/drawing/2014/main" id="{B0DF6985-40A6-1C0F-4A4F-E849E7CFF734}"/>
              </a:ext>
            </a:extLst>
          </p:cNvPr>
          <p:cNvSpPr>
            <a:spLocks noGrp="1" noChangeArrowheads="1"/>
          </p:cNvSpPr>
          <p:nvPr>
            <p:ph type="body" idx="4294967295"/>
          </p:nvPr>
        </p:nvSpPr>
        <p:spPr>
          <a:xfrm>
            <a:off x="188086" y="509819"/>
            <a:ext cx="4056248" cy="2580375"/>
          </a:xfrm>
        </p:spPr>
        <p:txBody>
          <a:bodyPr/>
          <a:lstStyle/>
          <a:p>
            <a:r>
              <a:rPr lang="zh-CN" altLang="zh-CN">
                <a:ea typeface="宋体" panose="02010600030101010101" pitchFamily="2" charset="-122"/>
              </a:rPr>
              <a:t>不完全性：  </a:t>
            </a:r>
            <a:br>
              <a:rPr lang="zh-CN" altLang="zh-CN">
                <a:ea typeface="宋体" panose="02010600030101010101" pitchFamily="2" charset="-122"/>
              </a:rPr>
            </a:br>
            <a:r>
              <a:rPr lang="zh-CN" altLang="zh-CN">
                <a:ea typeface="宋体" panose="02010600030101010101" pitchFamily="2" charset="-122"/>
              </a:rPr>
              <a:t>名义工资在短期中是</a:t>
            </a:r>
            <a:r>
              <a:rPr lang="zh-CN" altLang="zh-CN" b="1">
                <a:solidFill>
                  <a:srgbClr val="CC0000"/>
                </a:solidFill>
                <a:ea typeface="宋体" panose="02010600030101010101" pitchFamily="2" charset="-122"/>
              </a:rPr>
              <a:t>粘性</a:t>
            </a:r>
            <a:r>
              <a:rPr lang="zh-CN" altLang="zh-CN">
                <a:ea typeface="宋体" panose="02010600030101010101" pitchFamily="2" charset="-122"/>
              </a:rPr>
              <a:t>的，它们调整缓慢 </a:t>
            </a:r>
          </a:p>
          <a:p>
            <a:pPr lvl="1"/>
            <a:r>
              <a:rPr lang="zh-CN" altLang="zh-CN" sz="1412">
                <a:ea typeface="宋体" panose="02010600030101010101" pitchFamily="2" charset="-122"/>
              </a:rPr>
              <a:t>由于劳动合同，社会规范 </a:t>
            </a:r>
          </a:p>
          <a:p>
            <a:pPr>
              <a:spcBef>
                <a:spcPct val="60000"/>
              </a:spcBef>
            </a:pPr>
            <a:r>
              <a:rPr lang="zh-CN" altLang="zh-CN">
                <a:ea typeface="宋体" panose="02010600030101010101" pitchFamily="2" charset="-122"/>
              </a:rPr>
              <a:t>企业和工人在已知实际物价水平</a:t>
            </a:r>
            <a:r>
              <a:rPr lang="zh-CN" altLang="zh-CN" b="1" i="1">
                <a:ea typeface="宋体" panose="02010600030101010101" pitchFamily="2" charset="-122"/>
              </a:rPr>
              <a:t>P</a:t>
            </a:r>
            <a:r>
              <a:rPr lang="zh-CN" altLang="zh-CN">
                <a:ea typeface="宋体" panose="02010600030101010101" pitchFamily="2" charset="-122"/>
              </a:rPr>
              <a:t>之前就根据他们预期的物价水平</a:t>
            </a:r>
            <a:r>
              <a:rPr lang="zh-CN" altLang="zh-CN" b="1" i="1">
                <a:ea typeface="宋体" panose="02010600030101010101" pitchFamily="2" charset="-122"/>
              </a:rPr>
              <a:t>P</a:t>
            </a:r>
            <a:r>
              <a:rPr lang="zh-CN" altLang="zh-CN" b="1" baseline="-25000">
                <a:ea typeface="宋体" panose="02010600030101010101" pitchFamily="2" charset="-122"/>
              </a:rPr>
              <a:t>E</a:t>
            </a:r>
            <a:r>
              <a:rPr lang="zh-CN" altLang="zh-CN">
                <a:ea typeface="宋体" panose="02010600030101010101" pitchFamily="2" charset="-122"/>
              </a:rPr>
              <a:t>签订合同，设定名义工资 </a:t>
            </a:r>
          </a:p>
        </p:txBody>
      </p:sp>
      <p:sp>
        <p:nvSpPr>
          <p:cNvPr id="61444" name="FlagCount" hidden="1">
            <a:hlinkClick r:id="rId2" action="ppaction://hlinkfile"/>
            <a:extLst>
              <a:ext uri="{FF2B5EF4-FFF2-40B4-BE49-F238E27FC236}">
                <a16:creationId xmlns:a16="http://schemas.microsoft.com/office/drawing/2014/main" id="{0C72D1EB-D151-9588-2A33-8B3B9A945013}"/>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43512104"/>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B9DE0AF7-ECD0-71E4-C1EC-EE5F9E4F3204}"/>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4A0DB498-CFD1-46E8-3F8F-54C4BD6E315C}"/>
              </a:ext>
            </a:extLst>
          </p:cNvPr>
          <p:cNvSpPr>
            <a:spLocks noGrp="1"/>
          </p:cNvSpPr>
          <p:nvPr>
            <p:ph type="sldNum" sz="quarter" idx="11"/>
          </p:nvPr>
        </p:nvSpPr>
        <p:spPr/>
        <p:txBody>
          <a:bodyPr/>
          <a:lstStyle/>
          <a:p>
            <a:fld id="{B51FE30C-FFCF-4A48-BCB5-AC35636804E6}" type="slidenum">
              <a:rPr lang="zh-CN" altLang="zh-CN"/>
              <a:pPr/>
              <a:t>39</a:t>
            </a:fld>
            <a:endParaRPr lang="zh-CN" altLang="zh-CN"/>
          </a:p>
        </p:txBody>
      </p:sp>
      <p:sp>
        <p:nvSpPr>
          <p:cNvPr id="62466" name="Rectangle 2">
            <a:extLst>
              <a:ext uri="{FF2B5EF4-FFF2-40B4-BE49-F238E27FC236}">
                <a16:creationId xmlns:a16="http://schemas.microsoft.com/office/drawing/2014/main" id="{6883C112-FD37-9484-F654-75B7FC79B13B}"/>
              </a:ext>
            </a:extLst>
          </p:cNvPr>
          <p:cNvSpPr>
            <a:spLocks noGrp="1" noChangeArrowheads="1"/>
          </p:cNvSpPr>
          <p:nvPr>
            <p:ph type="title" idx="4294967295"/>
          </p:nvPr>
        </p:nvSpPr>
        <p:spPr/>
        <p:txBody>
          <a:bodyPr/>
          <a:lstStyle/>
          <a:p>
            <a:r>
              <a:rPr lang="en-US" altLang="zh-CN" sz="1815" dirty="0">
                <a:ea typeface="宋体" panose="02010600030101010101" pitchFamily="2" charset="-122"/>
              </a:rPr>
              <a:t>1.</a:t>
            </a:r>
            <a:r>
              <a:rPr lang="zh-CN" altLang="zh-CN" sz="1815">
                <a:ea typeface="宋体" panose="02010600030101010101" pitchFamily="2" charset="-122"/>
              </a:rPr>
              <a:t> </a:t>
            </a:r>
            <a:r>
              <a:rPr lang="zh-CN" altLang="en-US" sz="1815">
                <a:ea typeface="宋体" panose="02010600030101010101" pitchFamily="2" charset="-122"/>
              </a:rPr>
              <a:t>黏</a:t>
            </a:r>
            <a:r>
              <a:rPr lang="zh-CN" altLang="zh-CN" sz="1815">
                <a:ea typeface="宋体" panose="02010600030101010101" pitchFamily="2" charset="-122"/>
              </a:rPr>
              <a:t>性工资理论</a:t>
            </a:r>
          </a:p>
        </p:txBody>
      </p:sp>
      <p:sp>
        <p:nvSpPr>
          <p:cNvPr id="62467" name="Rectangle 3">
            <a:extLst>
              <a:ext uri="{FF2B5EF4-FFF2-40B4-BE49-F238E27FC236}">
                <a16:creationId xmlns:a16="http://schemas.microsoft.com/office/drawing/2014/main" id="{EA99503E-0ECD-5EE4-2D9F-5B2BD570BA9B}"/>
              </a:ext>
            </a:extLst>
          </p:cNvPr>
          <p:cNvSpPr>
            <a:spLocks noGrp="1" noChangeArrowheads="1"/>
          </p:cNvSpPr>
          <p:nvPr>
            <p:ph type="body" idx="4294967295"/>
          </p:nvPr>
        </p:nvSpPr>
        <p:spPr>
          <a:xfrm>
            <a:off x="188086" y="509819"/>
            <a:ext cx="4175502" cy="2580375"/>
          </a:xfrm>
        </p:spPr>
        <p:txBody>
          <a:bodyPr/>
          <a:lstStyle/>
          <a:p>
            <a:r>
              <a:rPr lang="zh-CN" altLang="zh-CN" dirty="0">
                <a:ea typeface="宋体" panose="02010600030101010101" pitchFamily="2" charset="-122"/>
              </a:rPr>
              <a:t>如果 </a:t>
            </a:r>
            <a:r>
              <a:rPr lang="zh-CN" altLang="zh-CN" b="1" i="1" dirty="0">
                <a:ea typeface="宋体" panose="02010600030101010101" pitchFamily="2" charset="-122"/>
              </a:rPr>
              <a:t>P</a:t>
            </a:r>
            <a:r>
              <a:rPr lang="zh-CN" altLang="zh-CN" dirty="0">
                <a:ea typeface="宋体" panose="02010600030101010101" pitchFamily="2" charset="-122"/>
              </a:rPr>
              <a:t> &gt; </a:t>
            </a:r>
            <a:r>
              <a:rPr lang="zh-CN" altLang="zh-CN" b="1" i="1" dirty="0">
                <a:ea typeface="宋体" panose="02010600030101010101" pitchFamily="2" charset="-122"/>
              </a:rPr>
              <a:t>P</a:t>
            </a:r>
            <a:r>
              <a:rPr lang="zh-CN" altLang="zh-CN" b="1" baseline="-25000" dirty="0">
                <a:ea typeface="宋体" panose="02010600030101010101" pitchFamily="2" charset="-122"/>
              </a:rPr>
              <a:t>E</a:t>
            </a:r>
            <a:br>
              <a:rPr lang="zh-CN" altLang="zh-CN" dirty="0">
                <a:ea typeface="宋体" panose="02010600030101010101" pitchFamily="2" charset="-122"/>
              </a:rPr>
            </a:br>
            <a:r>
              <a:rPr lang="zh-CN" altLang="zh-CN" dirty="0">
                <a:ea typeface="宋体" panose="02010600030101010101" pitchFamily="2" charset="-122"/>
              </a:rPr>
              <a:t>收入增加，但劳动成本不变 </a:t>
            </a:r>
          </a:p>
          <a:p>
            <a:pPr>
              <a:spcBef>
                <a:spcPct val="15000"/>
              </a:spcBef>
              <a:buFont typeface="Wingdings" pitchFamily="2" charset="2"/>
              <a:buNone/>
            </a:pPr>
            <a:r>
              <a:rPr lang="zh-CN" altLang="zh-CN" dirty="0">
                <a:ea typeface="宋体" panose="02010600030101010101" pitchFamily="2" charset="-122"/>
              </a:rPr>
              <a:t>	生产有利可图，于是企业提高产量和增加雇佣工人 </a:t>
            </a:r>
          </a:p>
          <a:p>
            <a:r>
              <a:rPr lang="zh-CN" altLang="zh-CN" dirty="0">
                <a:ea typeface="宋体" panose="02010600030101010101" pitchFamily="2" charset="-122"/>
              </a:rPr>
              <a:t>更高的物价水平引起更高的产量，因此</a:t>
            </a:r>
            <a:r>
              <a:rPr lang="zh-CN" altLang="zh-CN" b="1" dirty="0">
                <a:solidFill>
                  <a:srgbClr val="FF0000"/>
                </a:solidFill>
                <a:ea typeface="宋体" panose="02010600030101010101" pitchFamily="2" charset="-122"/>
              </a:rPr>
              <a:t>短期总供给曲线向右上方倾斜</a:t>
            </a:r>
            <a:endParaRPr lang="zh-CN" altLang="zh-CN" dirty="0">
              <a:ea typeface="宋体" panose="02010600030101010101" pitchFamily="2" charset="-122"/>
            </a:endParaRPr>
          </a:p>
        </p:txBody>
      </p:sp>
      <p:sp>
        <p:nvSpPr>
          <p:cNvPr id="62468" name="FlagCount" hidden="1">
            <a:hlinkClick r:id="rId3" action="ppaction://hlinkfile"/>
            <a:extLst>
              <a:ext uri="{FF2B5EF4-FFF2-40B4-BE49-F238E27FC236}">
                <a16:creationId xmlns:a16="http://schemas.microsoft.com/office/drawing/2014/main" id="{D586FEA6-6B91-FBF1-8F81-58F6E4E20C2E}"/>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023633418"/>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FDFD588-D535-E77B-FBB1-F3BA30CD75DE}"/>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AB024FC4-9132-E55C-D82A-0499882C1DBB}"/>
              </a:ext>
            </a:extLst>
          </p:cNvPr>
          <p:cNvSpPr>
            <a:spLocks noGrp="1"/>
          </p:cNvSpPr>
          <p:nvPr>
            <p:ph type="sldNum" sz="quarter" idx="11"/>
          </p:nvPr>
        </p:nvSpPr>
        <p:spPr/>
        <p:txBody>
          <a:bodyPr/>
          <a:lstStyle/>
          <a:p>
            <a:fld id="{EA648D73-E19B-9944-8465-6326A11F96A9}" type="slidenum">
              <a:rPr lang="zh-CN" altLang="zh-CN"/>
              <a:pPr/>
              <a:t>40</a:t>
            </a:fld>
            <a:endParaRPr lang="zh-CN" altLang="zh-CN"/>
          </a:p>
        </p:txBody>
      </p:sp>
      <p:sp>
        <p:nvSpPr>
          <p:cNvPr id="64514" name="Rectangle 2">
            <a:extLst>
              <a:ext uri="{FF2B5EF4-FFF2-40B4-BE49-F238E27FC236}">
                <a16:creationId xmlns:a16="http://schemas.microsoft.com/office/drawing/2014/main" id="{092EAE40-DE6B-8679-86BA-C23E26246460}"/>
              </a:ext>
            </a:extLst>
          </p:cNvPr>
          <p:cNvSpPr>
            <a:spLocks noGrp="1" noChangeArrowheads="1"/>
          </p:cNvSpPr>
          <p:nvPr>
            <p:ph type="title" idx="4294967295"/>
          </p:nvPr>
        </p:nvSpPr>
        <p:spPr/>
        <p:txBody>
          <a:bodyPr/>
          <a:lstStyle/>
          <a:p>
            <a:r>
              <a:rPr lang="en-US" altLang="zh-CN" sz="1815">
                <a:ea typeface="宋体" panose="02010600030101010101" pitchFamily="2" charset="-122"/>
              </a:rPr>
              <a:t>2.</a:t>
            </a:r>
            <a:r>
              <a:rPr lang="zh-CN" altLang="zh-CN" sz="1815">
                <a:ea typeface="宋体" panose="02010600030101010101" pitchFamily="2" charset="-122"/>
              </a:rPr>
              <a:t> 粘性价格理论</a:t>
            </a:r>
          </a:p>
        </p:txBody>
      </p:sp>
      <p:sp>
        <p:nvSpPr>
          <p:cNvPr id="64515" name="Rectangle 3">
            <a:extLst>
              <a:ext uri="{FF2B5EF4-FFF2-40B4-BE49-F238E27FC236}">
                <a16:creationId xmlns:a16="http://schemas.microsoft.com/office/drawing/2014/main" id="{33D2FE7E-0F0C-5157-6E52-67FCC1A7CD8D}"/>
              </a:ext>
            </a:extLst>
          </p:cNvPr>
          <p:cNvSpPr>
            <a:spLocks noGrp="1" noChangeArrowheads="1"/>
          </p:cNvSpPr>
          <p:nvPr>
            <p:ph type="body" idx="4294967295"/>
          </p:nvPr>
        </p:nvSpPr>
        <p:spPr>
          <a:xfrm>
            <a:off x="188086" y="509819"/>
            <a:ext cx="4056248" cy="2580375"/>
          </a:xfrm>
        </p:spPr>
        <p:txBody>
          <a:bodyPr/>
          <a:lstStyle/>
          <a:p>
            <a:r>
              <a:rPr lang="zh-CN" altLang="zh-CN" dirty="0">
                <a:ea typeface="宋体" panose="02010600030101010101" pitchFamily="2" charset="-122"/>
              </a:rPr>
              <a:t>不完全性：  </a:t>
            </a:r>
            <a:br>
              <a:rPr lang="zh-CN" altLang="zh-CN" dirty="0">
                <a:ea typeface="宋体" panose="02010600030101010101" pitchFamily="2" charset="-122"/>
              </a:rPr>
            </a:br>
            <a:r>
              <a:rPr lang="zh-CN" altLang="zh-CN" dirty="0">
                <a:ea typeface="宋体" panose="02010600030101010101" pitchFamily="2" charset="-122"/>
              </a:rPr>
              <a:t>许多</a:t>
            </a:r>
            <a:r>
              <a:rPr lang="zh-CN" altLang="en-US" dirty="0">
                <a:ea typeface="宋体" panose="02010600030101010101" pitchFamily="2" charset="-122"/>
              </a:rPr>
              <a:t>产品的</a:t>
            </a:r>
            <a:r>
              <a:rPr lang="zh-CN" altLang="zh-CN" dirty="0">
                <a:ea typeface="宋体" panose="02010600030101010101" pitchFamily="2" charset="-122"/>
              </a:rPr>
              <a:t>价格在短期内是粘性的</a:t>
            </a:r>
          </a:p>
          <a:p>
            <a:pPr marL="405011" lvl="1" indent="-174491"/>
            <a:r>
              <a:rPr lang="zh-CN" altLang="zh-CN" dirty="0">
                <a:ea typeface="宋体" panose="02010600030101010101" pitchFamily="2" charset="-122"/>
              </a:rPr>
              <a:t>由于存在</a:t>
            </a:r>
            <a:r>
              <a:rPr lang="zh-CN" altLang="zh-CN" b="1" dirty="0">
                <a:solidFill>
                  <a:srgbClr val="CC0000"/>
                </a:solidFill>
                <a:ea typeface="宋体" panose="02010600030101010101" pitchFamily="2" charset="-122"/>
              </a:rPr>
              <a:t>菜单成本，</a:t>
            </a:r>
            <a:r>
              <a:rPr lang="zh-CN" altLang="zh-CN" dirty="0">
                <a:ea typeface="宋体" panose="02010600030101010101" pitchFamily="2" charset="-122"/>
              </a:rPr>
              <a:t>调整价格是有成本的  </a:t>
            </a:r>
          </a:p>
          <a:p>
            <a:pPr marL="405011" lvl="1" indent="-174491"/>
            <a:r>
              <a:rPr lang="zh-CN" altLang="zh-CN" dirty="0">
                <a:ea typeface="宋体" panose="02010600030101010101" pitchFamily="2" charset="-122"/>
              </a:rPr>
              <a:t>例如：印刷新菜单的成本，改变价格标签所需要的时间 </a:t>
            </a:r>
          </a:p>
          <a:p>
            <a:r>
              <a:rPr lang="zh-CN" altLang="zh-CN" dirty="0">
                <a:ea typeface="宋体" panose="02010600030101010101" pitchFamily="2" charset="-122"/>
              </a:rPr>
              <a:t>企业根据预期物价水平</a:t>
            </a:r>
            <a:r>
              <a:rPr lang="zh-CN" altLang="zh-CN" b="1" i="1" dirty="0">
                <a:ea typeface="宋体" panose="02010600030101010101" pitchFamily="2" charset="-122"/>
              </a:rPr>
              <a:t>P</a:t>
            </a:r>
            <a:r>
              <a:rPr lang="zh-CN" altLang="zh-CN" b="1" baseline="-25000" dirty="0">
                <a:ea typeface="宋体" panose="02010600030101010101" pitchFamily="2" charset="-122"/>
              </a:rPr>
              <a:t>E</a:t>
            </a:r>
            <a:r>
              <a:rPr lang="zh-CN" altLang="zh-CN" dirty="0">
                <a:ea typeface="宋体" panose="02010600030101010101" pitchFamily="2" charset="-122"/>
              </a:rPr>
              <a:t>设定一个粘性价格</a:t>
            </a:r>
          </a:p>
        </p:txBody>
      </p:sp>
      <p:sp>
        <p:nvSpPr>
          <p:cNvPr id="64516" name="FlagCount" hidden="1">
            <a:hlinkClick r:id="rId2" action="ppaction://hlinkfile"/>
            <a:extLst>
              <a:ext uri="{FF2B5EF4-FFF2-40B4-BE49-F238E27FC236}">
                <a16:creationId xmlns:a16="http://schemas.microsoft.com/office/drawing/2014/main" id="{57CAE3DA-4EAC-2D0A-71EA-5876E9A8CE6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651411482"/>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8FCD2291-9D23-1AC3-C193-4DE57F0ABDCC}"/>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785885B1-B4DF-402F-1D1B-923E3B3C8199}"/>
              </a:ext>
            </a:extLst>
          </p:cNvPr>
          <p:cNvSpPr>
            <a:spLocks noGrp="1"/>
          </p:cNvSpPr>
          <p:nvPr>
            <p:ph type="sldNum" sz="quarter" idx="11"/>
          </p:nvPr>
        </p:nvSpPr>
        <p:spPr/>
        <p:txBody>
          <a:bodyPr/>
          <a:lstStyle/>
          <a:p>
            <a:fld id="{141A04D8-37F8-F24B-AA63-234DCE71C89E}" type="slidenum">
              <a:rPr lang="zh-CN" altLang="zh-CN"/>
              <a:pPr/>
              <a:t>41</a:t>
            </a:fld>
            <a:endParaRPr lang="zh-CN" altLang="zh-CN"/>
          </a:p>
        </p:txBody>
      </p:sp>
      <p:sp>
        <p:nvSpPr>
          <p:cNvPr id="65538" name="Rectangle 2">
            <a:extLst>
              <a:ext uri="{FF2B5EF4-FFF2-40B4-BE49-F238E27FC236}">
                <a16:creationId xmlns:a16="http://schemas.microsoft.com/office/drawing/2014/main" id="{5C4AC69B-EF38-9D5B-1925-212F85E2972E}"/>
              </a:ext>
            </a:extLst>
          </p:cNvPr>
          <p:cNvSpPr>
            <a:spLocks noGrp="1" noChangeArrowheads="1"/>
          </p:cNvSpPr>
          <p:nvPr>
            <p:ph type="title" idx="4294967295"/>
          </p:nvPr>
        </p:nvSpPr>
        <p:spPr/>
        <p:txBody>
          <a:bodyPr/>
          <a:lstStyle/>
          <a:p>
            <a:r>
              <a:rPr lang="en-US" altLang="zh-CN" sz="1815">
                <a:ea typeface="宋体" panose="02010600030101010101" pitchFamily="2" charset="-122"/>
              </a:rPr>
              <a:t>2. </a:t>
            </a:r>
            <a:r>
              <a:rPr lang="zh-CN" altLang="zh-CN" sz="1815">
                <a:ea typeface="宋体" panose="02010600030101010101" pitchFamily="2" charset="-122"/>
              </a:rPr>
              <a:t>粘性价格理论</a:t>
            </a:r>
          </a:p>
        </p:txBody>
      </p:sp>
      <p:sp>
        <p:nvSpPr>
          <p:cNvPr id="65539" name="Rectangle 3">
            <a:extLst>
              <a:ext uri="{FF2B5EF4-FFF2-40B4-BE49-F238E27FC236}">
                <a16:creationId xmlns:a16="http://schemas.microsoft.com/office/drawing/2014/main" id="{E5B7D6F8-BDBD-DD78-EFE6-062A9F77B68D}"/>
              </a:ext>
            </a:extLst>
          </p:cNvPr>
          <p:cNvSpPr>
            <a:spLocks noGrp="1" noChangeArrowheads="1"/>
          </p:cNvSpPr>
          <p:nvPr>
            <p:ph type="body" idx="4294967295"/>
          </p:nvPr>
        </p:nvSpPr>
        <p:spPr>
          <a:xfrm>
            <a:off x="230505" y="495413"/>
            <a:ext cx="4015429" cy="2667615"/>
          </a:xfrm>
        </p:spPr>
        <p:txBody>
          <a:bodyPr/>
          <a:lstStyle/>
          <a:p>
            <a:pPr>
              <a:lnSpc>
                <a:spcPct val="100000"/>
              </a:lnSpc>
            </a:pPr>
            <a:r>
              <a:rPr lang="zh-CN" altLang="zh-CN">
                <a:ea typeface="宋体" panose="02010600030101010101" pitchFamily="2" charset="-122"/>
              </a:rPr>
              <a:t>假设美联储未预料到地增加货币供给。在长期中，物价水平上升 </a:t>
            </a:r>
          </a:p>
          <a:p>
            <a:pPr>
              <a:lnSpc>
                <a:spcPct val="100000"/>
              </a:lnSpc>
            </a:pPr>
            <a:r>
              <a:rPr lang="zh-CN" altLang="zh-CN">
                <a:ea typeface="宋体" panose="02010600030101010101" pitchFamily="2" charset="-122"/>
              </a:rPr>
              <a:t>在短期内，没有菜单成本的企业会立即提高价格</a:t>
            </a:r>
          </a:p>
          <a:p>
            <a:pPr>
              <a:lnSpc>
                <a:spcPct val="100000"/>
              </a:lnSpc>
            </a:pPr>
            <a:r>
              <a:rPr lang="zh-CN" altLang="zh-CN">
                <a:ea typeface="宋体" panose="02010600030101010101" pitchFamily="2" charset="-122"/>
              </a:rPr>
              <a:t>有菜单成本的企业需要时间来提高价格。同时，他们的价格相对较低，这会增加对他们产品的需求。他们会提高产量和增加雇佣工人</a:t>
            </a:r>
          </a:p>
          <a:p>
            <a:pPr>
              <a:lnSpc>
                <a:spcPct val="100000"/>
              </a:lnSpc>
            </a:pPr>
            <a:r>
              <a:rPr lang="zh-CN" altLang="zh-CN">
                <a:ea typeface="宋体" panose="02010600030101010101" pitchFamily="2" charset="-122"/>
              </a:rPr>
              <a:t>因此，高物价水平与高产出联系在一起。所以</a:t>
            </a:r>
            <a:r>
              <a:rPr lang="zh-CN" altLang="zh-CN" b="1">
                <a:solidFill>
                  <a:srgbClr val="FF0000"/>
                </a:solidFill>
                <a:ea typeface="宋体" panose="02010600030101010101" pitchFamily="2" charset="-122"/>
              </a:rPr>
              <a:t>短期总供给曲线向右上方倾斜</a:t>
            </a:r>
            <a:endParaRPr lang="zh-CN" altLang="zh-CN">
              <a:ea typeface="宋体" panose="02010600030101010101" pitchFamily="2" charset="-122"/>
            </a:endParaRPr>
          </a:p>
        </p:txBody>
      </p:sp>
      <p:sp>
        <p:nvSpPr>
          <p:cNvPr id="65540" name="FlagCount" hidden="1">
            <a:hlinkClick r:id="rId2" action="ppaction://hlinkfile"/>
            <a:extLst>
              <a:ext uri="{FF2B5EF4-FFF2-40B4-BE49-F238E27FC236}">
                <a16:creationId xmlns:a16="http://schemas.microsoft.com/office/drawing/2014/main" id="{F9EDF47A-93B1-0D74-90B3-F415F7BF3C3F}"/>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058899471"/>
      </p:ext>
    </p:extLst>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F3421D31-F072-D9FF-5D23-8F5A8A2E0308}"/>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2F937D99-906A-9A91-789D-C6B1CF6FF12F}"/>
              </a:ext>
            </a:extLst>
          </p:cNvPr>
          <p:cNvSpPr>
            <a:spLocks noGrp="1"/>
          </p:cNvSpPr>
          <p:nvPr>
            <p:ph type="sldNum" sz="quarter" idx="11"/>
          </p:nvPr>
        </p:nvSpPr>
        <p:spPr/>
        <p:txBody>
          <a:bodyPr/>
          <a:lstStyle/>
          <a:p>
            <a:fld id="{631E8A1C-2E93-4243-BE53-E1C9022AACDB}" type="slidenum">
              <a:rPr lang="zh-CN" altLang="zh-CN"/>
              <a:pPr/>
              <a:t>42</a:t>
            </a:fld>
            <a:endParaRPr lang="zh-CN" altLang="zh-CN"/>
          </a:p>
        </p:txBody>
      </p:sp>
      <p:sp>
        <p:nvSpPr>
          <p:cNvPr id="66562" name="Rectangle 2">
            <a:extLst>
              <a:ext uri="{FF2B5EF4-FFF2-40B4-BE49-F238E27FC236}">
                <a16:creationId xmlns:a16="http://schemas.microsoft.com/office/drawing/2014/main" id="{25B9DFAA-1FB8-3725-A6E4-963AF88C94DA}"/>
              </a:ext>
            </a:extLst>
          </p:cNvPr>
          <p:cNvSpPr>
            <a:spLocks noGrp="1" noChangeArrowheads="1"/>
          </p:cNvSpPr>
          <p:nvPr>
            <p:ph type="title" idx="4294967295"/>
          </p:nvPr>
        </p:nvSpPr>
        <p:spPr/>
        <p:txBody>
          <a:bodyPr/>
          <a:lstStyle/>
          <a:p>
            <a:r>
              <a:rPr lang="en-US" altLang="zh-CN" sz="1815">
                <a:ea typeface="宋体" panose="02010600030101010101" pitchFamily="2" charset="-122"/>
              </a:rPr>
              <a:t>3.</a:t>
            </a:r>
            <a:r>
              <a:rPr lang="zh-CN" altLang="zh-CN" sz="1815">
                <a:ea typeface="宋体" panose="02010600030101010101" pitchFamily="2" charset="-122"/>
              </a:rPr>
              <a:t> 错觉理论</a:t>
            </a:r>
          </a:p>
        </p:txBody>
      </p:sp>
      <p:sp>
        <p:nvSpPr>
          <p:cNvPr id="66563" name="Rectangle 3">
            <a:extLst>
              <a:ext uri="{FF2B5EF4-FFF2-40B4-BE49-F238E27FC236}">
                <a16:creationId xmlns:a16="http://schemas.microsoft.com/office/drawing/2014/main" id="{2143923B-4062-1FEA-C9CC-C1A84080D783}"/>
              </a:ext>
            </a:extLst>
          </p:cNvPr>
          <p:cNvSpPr>
            <a:spLocks noGrp="1" noChangeArrowheads="1"/>
          </p:cNvSpPr>
          <p:nvPr>
            <p:ph type="body" idx="4294967295"/>
          </p:nvPr>
        </p:nvSpPr>
        <p:spPr>
          <a:xfrm>
            <a:off x="230505" y="473003"/>
            <a:ext cx="4015429" cy="2718038"/>
          </a:xfrm>
        </p:spPr>
        <p:txBody>
          <a:bodyPr/>
          <a:lstStyle/>
          <a:p>
            <a:r>
              <a:rPr lang="zh-CN" altLang="zh-CN">
                <a:ea typeface="宋体" panose="02010600030101010101" pitchFamily="2" charset="-122"/>
              </a:rPr>
              <a:t>不完全性：  </a:t>
            </a:r>
            <a:br>
              <a:rPr lang="zh-CN" altLang="zh-CN">
                <a:ea typeface="宋体" panose="02010600030101010101" pitchFamily="2" charset="-122"/>
              </a:rPr>
            </a:br>
            <a:r>
              <a:rPr lang="zh-CN" altLang="zh-CN">
                <a:ea typeface="宋体" panose="02010600030101010101" pitchFamily="2" charset="-122"/>
              </a:rPr>
              <a:t>企业可能会混淆物价水平的变动与它们出售产品相对价格的变动</a:t>
            </a:r>
          </a:p>
          <a:p>
            <a:pPr>
              <a:spcBef>
                <a:spcPct val="55000"/>
              </a:spcBef>
            </a:pPr>
            <a:r>
              <a:rPr lang="zh-CN" altLang="zh-CN">
                <a:ea typeface="宋体" panose="02010600030101010101" pitchFamily="2" charset="-122"/>
              </a:rPr>
              <a:t>如果</a:t>
            </a:r>
            <a:r>
              <a:rPr lang="zh-CN" altLang="zh-CN" b="1" i="1">
                <a:ea typeface="宋体" panose="02010600030101010101" pitchFamily="2" charset="-122"/>
              </a:rPr>
              <a:t>P</a:t>
            </a:r>
            <a:r>
              <a:rPr lang="zh-CN" altLang="zh-CN">
                <a:ea typeface="宋体" panose="02010600030101010101" pitchFamily="2" charset="-122"/>
              </a:rPr>
              <a:t>高于</a:t>
            </a:r>
            <a:r>
              <a:rPr lang="zh-CN" altLang="zh-CN" b="1" i="1">
                <a:ea typeface="宋体" panose="02010600030101010101" pitchFamily="2" charset="-122"/>
              </a:rPr>
              <a:t>P</a:t>
            </a:r>
            <a:r>
              <a:rPr lang="zh-CN" altLang="zh-CN" b="1" baseline="-25000">
                <a:ea typeface="宋体" panose="02010600030101010101" pitchFamily="2" charset="-122"/>
              </a:rPr>
              <a:t>E，</a:t>
            </a:r>
            <a:r>
              <a:rPr lang="zh-CN" altLang="zh-CN">
                <a:ea typeface="宋体" panose="02010600030101010101" pitchFamily="2" charset="-122"/>
              </a:rPr>
              <a:t>企业会在注意到所有产品价格上升之前看到它出售产品价格的上升，并据此认为它出售产品的相对价格上升，进而提高产量和增加雇佣工人  </a:t>
            </a:r>
          </a:p>
          <a:p>
            <a:pPr>
              <a:spcBef>
                <a:spcPct val="55000"/>
              </a:spcBef>
            </a:pPr>
            <a:r>
              <a:rPr lang="zh-CN" altLang="zh-CN">
                <a:ea typeface="宋体" panose="02010600030101010101" pitchFamily="2" charset="-122"/>
              </a:rPr>
              <a:t>因此，物价水平的上升引起产出的增加，</a:t>
            </a:r>
            <a:br>
              <a:rPr lang="zh-CN" altLang="zh-CN">
                <a:ea typeface="宋体" panose="02010600030101010101" pitchFamily="2" charset="-122"/>
              </a:rPr>
            </a:br>
            <a:r>
              <a:rPr lang="zh-CN" altLang="zh-CN">
                <a:ea typeface="宋体" panose="02010600030101010101" pitchFamily="2" charset="-122"/>
              </a:rPr>
              <a:t>使</a:t>
            </a:r>
            <a:r>
              <a:rPr lang="zh-CN" altLang="zh-CN" b="1">
                <a:solidFill>
                  <a:srgbClr val="FF0000"/>
                </a:solidFill>
                <a:ea typeface="宋体" panose="02010600030101010101" pitchFamily="2" charset="-122"/>
              </a:rPr>
              <a:t>短期总供给曲线向右上方倾斜</a:t>
            </a:r>
            <a:endParaRPr lang="zh-CN" altLang="zh-CN" b="1">
              <a:ea typeface="宋体" panose="02010600030101010101" pitchFamily="2" charset="-122"/>
            </a:endParaRPr>
          </a:p>
        </p:txBody>
      </p:sp>
      <p:sp>
        <p:nvSpPr>
          <p:cNvPr id="66564" name="FlagCount" hidden="1">
            <a:hlinkClick r:id="rId3" action="ppaction://hlinkfile"/>
            <a:extLst>
              <a:ext uri="{FF2B5EF4-FFF2-40B4-BE49-F238E27FC236}">
                <a16:creationId xmlns:a16="http://schemas.microsoft.com/office/drawing/2014/main" id="{FCD19ADF-F2EF-374E-4626-EE6180147E97}"/>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858349180"/>
      </p:ext>
    </p:extLst>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ECC9B66E-33EA-2438-4A14-E1C1A88A07A3}"/>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D236EF0F-30A8-AE6C-AFD7-32CF4A960789}"/>
              </a:ext>
            </a:extLst>
          </p:cNvPr>
          <p:cNvSpPr>
            <a:spLocks noGrp="1"/>
          </p:cNvSpPr>
          <p:nvPr>
            <p:ph type="sldNum" sz="quarter" idx="11"/>
          </p:nvPr>
        </p:nvSpPr>
        <p:spPr/>
        <p:txBody>
          <a:bodyPr/>
          <a:lstStyle/>
          <a:p>
            <a:fld id="{E7DBD5AB-2A44-5F48-B250-1BB55DA35BE9}" type="slidenum">
              <a:rPr lang="zh-CN" altLang="zh-CN"/>
              <a:pPr/>
              <a:t>43</a:t>
            </a:fld>
            <a:endParaRPr lang="zh-CN" altLang="zh-CN"/>
          </a:p>
        </p:txBody>
      </p:sp>
      <p:sp>
        <p:nvSpPr>
          <p:cNvPr id="68610" name="Rectangle 2">
            <a:extLst>
              <a:ext uri="{FF2B5EF4-FFF2-40B4-BE49-F238E27FC236}">
                <a16:creationId xmlns:a16="http://schemas.microsoft.com/office/drawing/2014/main" id="{D4A55FBD-D5D1-DCD9-516A-CB15BF45A1B5}"/>
              </a:ext>
            </a:extLst>
          </p:cNvPr>
          <p:cNvSpPr>
            <a:spLocks noGrp="1" noChangeArrowheads="1"/>
          </p:cNvSpPr>
          <p:nvPr>
            <p:ph type="title" idx="4294967295"/>
          </p:nvPr>
        </p:nvSpPr>
        <p:spPr>
          <a:xfrm>
            <a:off x="0" y="109637"/>
            <a:ext cx="4610100" cy="327349"/>
          </a:xfrm>
        </p:spPr>
        <p:txBody>
          <a:bodyPr/>
          <a:lstStyle/>
          <a:p>
            <a:r>
              <a:rPr lang="zh-CN" altLang="en-US" sz="1815" dirty="0">
                <a:ea typeface="宋体" panose="02010600030101010101" pitchFamily="2" charset="-122"/>
              </a:rPr>
              <a:t>三种理论的共同点</a:t>
            </a:r>
          </a:p>
        </p:txBody>
      </p:sp>
      <p:sp>
        <p:nvSpPr>
          <p:cNvPr id="68611" name="Rectangle 3">
            <a:extLst>
              <a:ext uri="{FF2B5EF4-FFF2-40B4-BE49-F238E27FC236}">
                <a16:creationId xmlns:a16="http://schemas.microsoft.com/office/drawing/2014/main" id="{FADE8AE3-2C2A-BC1D-C222-1B6CF1FCB598}"/>
              </a:ext>
            </a:extLst>
          </p:cNvPr>
          <p:cNvSpPr>
            <a:spLocks noGrp="1" noChangeArrowheads="1"/>
          </p:cNvSpPr>
          <p:nvPr>
            <p:ph type="body" idx="4294967295"/>
          </p:nvPr>
        </p:nvSpPr>
        <p:spPr>
          <a:xfrm>
            <a:off x="236108" y="473002"/>
            <a:ext cx="4147489" cy="493025"/>
          </a:xfrm>
        </p:spPr>
        <p:txBody>
          <a:bodyPr/>
          <a:lstStyle/>
          <a:p>
            <a:pPr marL="0" indent="0">
              <a:lnSpc>
                <a:spcPct val="95000"/>
              </a:lnSpc>
              <a:buNone/>
            </a:pPr>
            <a:r>
              <a:rPr lang="zh-CN" altLang="zh-CN" sz="1210">
                <a:ea typeface="宋体" panose="02010600030101010101" pitchFamily="2" charset="-122"/>
              </a:rPr>
              <a:t>在这三个理论中，当实际物价水平背离人们预期的物价水平时，短期产量就背离其长期水平（自然产量率）</a:t>
            </a:r>
            <a:r>
              <a:rPr lang="zh-CN" altLang="zh-CN" sz="1008">
                <a:ea typeface="宋体" panose="02010600030101010101" pitchFamily="2" charset="-122"/>
              </a:rPr>
              <a:t> </a:t>
            </a:r>
          </a:p>
        </p:txBody>
      </p:sp>
      <p:sp>
        <p:nvSpPr>
          <p:cNvPr id="68612" name="Rectangle 5">
            <a:extLst>
              <a:ext uri="{FF2B5EF4-FFF2-40B4-BE49-F238E27FC236}">
                <a16:creationId xmlns:a16="http://schemas.microsoft.com/office/drawing/2014/main" id="{4651B357-6B7F-1FB2-824C-2C9278BF5135}"/>
              </a:ext>
            </a:extLst>
          </p:cNvPr>
          <p:cNvSpPr>
            <a:spLocks noChangeArrowheads="1"/>
          </p:cNvSpPr>
          <p:nvPr/>
        </p:nvSpPr>
        <p:spPr bwMode="auto">
          <a:xfrm>
            <a:off x="1158128" y="1040461"/>
            <a:ext cx="2237019" cy="3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613" b="1" i="1">
                <a:ea typeface="宋体" panose="02010600030101010101" pitchFamily="2" charset="-122"/>
              </a:rPr>
              <a:t>Y</a:t>
            </a:r>
            <a:r>
              <a:rPr lang="en-US" altLang="zh-CN" sz="1613">
                <a:ea typeface="宋体" panose="02010600030101010101" pitchFamily="2" charset="-122"/>
              </a:rPr>
              <a:t>  =  </a:t>
            </a:r>
            <a:r>
              <a:rPr lang="en-US" altLang="zh-CN" sz="1613" b="1" i="1">
                <a:ea typeface="宋体" panose="02010600030101010101" pitchFamily="2" charset="-122"/>
              </a:rPr>
              <a:t>Y</a:t>
            </a:r>
            <a:r>
              <a:rPr lang="en-US" altLang="zh-CN" sz="1613" b="1" baseline="-25000">
                <a:ea typeface="宋体" panose="02010600030101010101" pitchFamily="2" charset="-122"/>
              </a:rPr>
              <a:t>N</a:t>
            </a:r>
            <a:r>
              <a:rPr lang="en-US" altLang="zh-CN" sz="1613">
                <a:ea typeface="宋体" panose="02010600030101010101" pitchFamily="2" charset="-122"/>
              </a:rPr>
              <a:t>  +  </a:t>
            </a:r>
            <a:r>
              <a:rPr lang="en-US" altLang="zh-CN" sz="1613" b="1" i="1">
                <a:latin typeface="Times New Roman" panose="02020603050405020304" pitchFamily="18" charset="0"/>
                <a:ea typeface="宋体" panose="02010600030101010101" pitchFamily="2" charset="-122"/>
              </a:rPr>
              <a:t>a</a:t>
            </a:r>
            <a:r>
              <a:rPr lang="en-US" altLang="zh-CN" sz="605">
                <a:ea typeface="宋体" panose="02010600030101010101" pitchFamily="2" charset="-122"/>
              </a:rPr>
              <a:t> </a:t>
            </a:r>
            <a:r>
              <a:rPr lang="en-US" altLang="zh-CN" sz="1613">
                <a:ea typeface="宋体" panose="02010600030101010101" pitchFamily="2" charset="-122"/>
              </a:rPr>
              <a:t>(</a:t>
            </a:r>
            <a:r>
              <a:rPr lang="en-US" altLang="zh-CN" sz="1613" b="1" i="1">
                <a:ea typeface="宋体" panose="02010600030101010101" pitchFamily="2" charset="-122"/>
              </a:rPr>
              <a:t>P</a:t>
            </a:r>
            <a:r>
              <a:rPr lang="en-US" altLang="zh-CN" sz="1613" b="1">
                <a:ea typeface="宋体" panose="02010600030101010101" pitchFamily="2" charset="-122"/>
              </a:rPr>
              <a:t>  </a:t>
            </a:r>
            <a:r>
              <a:rPr lang="en-US" altLang="zh-CN" sz="1613">
                <a:ea typeface="宋体" panose="02010600030101010101" pitchFamily="2" charset="-122"/>
              </a:rPr>
              <a:t>–  </a:t>
            </a:r>
            <a:r>
              <a:rPr lang="en-US" altLang="zh-CN" sz="1613" b="1" i="1">
                <a:ea typeface="宋体" panose="02010600030101010101" pitchFamily="2" charset="-122"/>
              </a:rPr>
              <a:t>P</a:t>
            </a:r>
            <a:r>
              <a:rPr lang="en-US" altLang="zh-CN" sz="1613" b="1" baseline="-25000">
                <a:ea typeface="宋体" panose="02010600030101010101" pitchFamily="2" charset="-122"/>
              </a:rPr>
              <a:t>E</a:t>
            </a:r>
            <a:r>
              <a:rPr lang="en-US" altLang="zh-CN" sz="1613">
                <a:ea typeface="宋体" panose="02010600030101010101" pitchFamily="2" charset="-122"/>
              </a:rPr>
              <a:t>)</a:t>
            </a:r>
          </a:p>
        </p:txBody>
      </p:sp>
      <p:grpSp>
        <p:nvGrpSpPr>
          <p:cNvPr id="68613" name="Group 5">
            <a:extLst>
              <a:ext uri="{FF2B5EF4-FFF2-40B4-BE49-F238E27FC236}">
                <a16:creationId xmlns:a16="http://schemas.microsoft.com/office/drawing/2014/main" id="{4EEA3A3A-00C8-10C7-55FA-7FE99AA8D3BF}"/>
              </a:ext>
            </a:extLst>
          </p:cNvPr>
          <p:cNvGrpSpPr>
            <a:grpSpLocks/>
          </p:cNvGrpSpPr>
          <p:nvPr/>
        </p:nvGrpSpPr>
        <p:grpSpPr bwMode="auto">
          <a:xfrm>
            <a:off x="175280" y="1155713"/>
            <a:ext cx="1023666" cy="609977"/>
            <a:chOff x="0" y="0"/>
            <a:chExt cx="1175" cy="506"/>
          </a:xfrm>
        </p:grpSpPr>
        <p:sp>
          <p:nvSpPr>
            <p:cNvPr id="68614" name="Line 12">
              <a:extLst>
                <a:ext uri="{FF2B5EF4-FFF2-40B4-BE49-F238E27FC236}">
                  <a16:creationId xmlns:a16="http://schemas.microsoft.com/office/drawing/2014/main" id="{F85FCDF7-A0B6-1FC5-64D8-C32A97123710}"/>
                </a:ext>
              </a:extLst>
            </p:cNvPr>
            <p:cNvSpPr>
              <a:spLocks noChangeShapeType="1"/>
            </p:cNvSpPr>
            <p:nvPr/>
          </p:nvSpPr>
          <p:spPr bwMode="auto">
            <a:xfrm flipV="1">
              <a:off x="768" y="0"/>
              <a:ext cx="407" cy="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68615" name="Text Box 6">
              <a:extLst>
                <a:ext uri="{FF2B5EF4-FFF2-40B4-BE49-F238E27FC236}">
                  <a16:creationId xmlns:a16="http://schemas.microsoft.com/office/drawing/2014/main" id="{3FB2BB14-3BDC-E58C-031E-3B32FF8248E2}"/>
                </a:ext>
              </a:extLst>
            </p:cNvPr>
            <p:cNvSpPr txBox="1">
              <a:spLocks noChangeArrowheads="1"/>
            </p:cNvSpPr>
            <p:nvPr/>
          </p:nvSpPr>
          <p:spPr bwMode="auto">
            <a:xfrm>
              <a:off x="0" y="107"/>
              <a:ext cx="780" cy="39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61">
                  <a:ea typeface="宋体" panose="02010600030101010101" pitchFamily="2" charset="-122"/>
                </a:rPr>
                <a:t>产量的供给量</a:t>
              </a:r>
            </a:p>
          </p:txBody>
        </p:sp>
      </p:grpSp>
      <p:grpSp>
        <p:nvGrpSpPr>
          <p:cNvPr id="68616" name="Group 8">
            <a:extLst>
              <a:ext uri="{FF2B5EF4-FFF2-40B4-BE49-F238E27FC236}">
                <a16:creationId xmlns:a16="http://schemas.microsoft.com/office/drawing/2014/main" id="{8C981276-843C-AB74-B9FD-959A19D823A0}"/>
              </a:ext>
            </a:extLst>
          </p:cNvPr>
          <p:cNvGrpSpPr>
            <a:grpSpLocks/>
          </p:cNvGrpSpPr>
          <p:nvPr/>
        </p:nvGrpSpPr>
        <p:grpSpPr bwMode="auto">
          <a:xfrm>
            <a:off x="372170" y="1351002"/>
            <a:ext cx="1443858" cy="888405"/>
            <a:chOff x="0" y="0"/>
            <a:chExt cx="1804" cy="1110"/>
          </a:xfrm>
        </p:grpSpPr>
        <p:sp>
          <p:nvSpPr>
            <p:cNvPr id="68617" name="Line 13">
              <a:extLst>
                <a:ext uri="{FF2B5EF4-FFF2-40B4-BE49-F238E27FC236}">
                  <a16:creationId xmlns:a16="http://schemas.microsoft.com/office/drawing/2014/main" id="{E9DC34E8-1E06-22A0-8FD9-5FD7E2FFB61B}"/>
                </a:ext>
              </a:extLst>
            </p:cNvPr>
            <p:cNvSpPr>
              <a:spLocks noChangeShapeType="1"/>
            </p:cNvSpPr>
            <p:nvPr/>
          </p:nvSpPr>
          <p:spPr bwMode="auto">
            <a:xfrm flipV="1">
              <a:off x="962" y="0"/>
              <a:ext cx="842" cy="7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68618" name="Text Box 7">
              <a:extLst>
                <a:ext uri="{FF2B5EF4-FFF2-40B4-BE49-F238E27FC236}">
                  <a16:creationId xmlns:a16="http://schemas.microsoft.com/office/drawing/2014/main" id="{4986F20D-25A0-AA07-71F9-FF05B6D3E6E5}"/>
                </a:ext>
              </a:extLst>
            </p:cNvPr>
            <p:cNvSpPr txBox="1">
              <a:spLocks noChangeArrowheads="1"/>
            </p:cNvSpPr>
            <p:nvPr/>
          </p:nvSpPr>
          <p:spPr bwMode="auto">
            <a:xfrm>
              <a:off x="0" y="510"/>
              <a:ext cx="1221" cy="60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61">
                  <a:ea typeface="宋体" panose="02010600030101010101" pitchFamily="2" charset="-122"/>
                </a:rPr>
                <a:t>自然产量率 </a:t>
              </a:r>
              <a:r>
                <a:rPr lang="en-US" altLang="zh-CN" sz="1261">
                  <a:ea typeface="宋体" panose="02010600030101010101" pitchFamily="2" charset="-122"/>
                </a:rPr>
                <a:t>(</a:t>
              </a:r>
              <a:r>
                <a:rPr lang="zh-CN" altLang="zh-CN" sz="1261">
                  <a:ea typeface="宋体" panose="02010600030101010101" pitchFamily="2" charset="-122"/>
                </a:rPr>
                <a:t>长期</a:t>
              </a:r>
              <a:r>
                <a:rPr lang="en-US" altLang="zh-CN" sz="1261">
                  <a:ea typeface="宋体" panose="02010600030101010101" pitchFamily="2" charset="-122"/>
                </a:rPr>
                <a:t>)</a:t>
              </a:r>
            </a:p>
          </p:txBody>
        </p:sp>
      </p:grpSp>
      <p:grpSp>
        <p:nvGrpSpPr>
          <p:cNvPr id="68619" name="Group 11">
            <a:extLst>
              <a:ext uri="{FF2B5EF4-FFF2-40B4-BE49-F238E27FC236}">
                <a16:creationId xmlns:a16="http://schemas.microsoft.com/office/drawing/2014/main" id="{E3B20D18-4223-021D-7D29-191A022153B9}"/>
              </a:ext>
            </a:extLst>
          </p:cNvPr>
          <p:cNvGrpSpPr>
            <a:grpSpLocks/>
          </p:cNvGrpSpPr>
          <p:nvPr/>
        </p:nvGrpSpPr>
        <p:grpSpPr bwMode="auto">
          <a:xfrm>
            <a:off x="1547905" y="1362207"/>
            <a:ext cx="1122912" cy="1742394"/>
            <a:chOff x="0" y="0"/>
            <a:chExt cx="1403" cy="2177"/>
          </a:xfrm>
        </p:grpSpPr>
        <p:sp>
          <p:nvSpPr>
            <p:cNvPr id="68620" name="Line 14">
              <a:extLst>
                <a:ext uri="{FF2B5EF4-FFF2-40B4-BE49-F238E27FC236}">
                  <a16:creationId xmlns:a16="http://schemas.microsoft.com/office/drawing/2014/main" id="{BE00933F-EF98-9A60-9A7F-EF9582728241}"/>
                </a:ext>
              </a:extLst>
            </p:cNvPr>
            <p:cNvSpPr>
              <a:spLocks noChangeShapeType="1"/>
            </p:cNvSpPr>
            <p:nvPr/>
          </p:nvSpPr>
          <p:spPr bwMode="auto">
            <a:xfrm flipH="1">
              <a:off x="812" y="0"/>
              <a:ext cx="183" cy="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68621" name="Text Box 8">
              <a:extLst>
                <a:ext uri="{FF2B5EF4-FFF2-40B4-BE49-F238E27FC236}">
                  <a16:creationId xmlns:a16="http://schemas.microsoft.com/office/drawing/2014/main" id="{22562A2F-F14F-4129-89B0-B5FD996291EE}"/>
                </a:ext>
              </a:extLst>
            </p:cNvPr>
            <p:cNvSpPr txBox="1">
              <a:spLocks noChangeArrowheads="1"/>
            </p:cNvSpPr>
            <p:nvPr/>
          </p:nvSpPr>
          <p:spPr bwMode="auto">
            <a:xfrm>
              <a:off x="0" y="597"/>
              <a:ext cx="1403" cy="158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46101"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613" b="1" i="1">
                  <a:latin typeface="Times New Roman" panose="02020603050405020304" pitchFamily="18" charset="0"/>
                  <a:ea typeface="宋体" panose="02010600030101010101" pitchFamily="2" charset="-122"/>
                </a:rPr>
                <a:t>a</a:t>
              </a:r>
              <a:r>
                <a:rPr lang="en-US" altLang="zh-CN" sz="1261">
                  <a:ea typeface="宋体" panose="02010600030101010101" pitchFamily="2" charset="-122"/>
                </a:rPr>
                <a:t> &gt; 0</a:t>
              </a:r>
              <a:r>
                <a:rPr lang="zh-CN" altLang="zh-CN" sz="1261">
                  <a:ea typeface="宋体" panose="02010600030101010101" pitchFamily="2" charset="-122"/>
                </a:rPr>
                <a:t>，衡量产量对物价水平未预期到的变动做出多大反应的数字</a:t>
              </a:r>
              <a:endParaRPr lang="zh-CN" altLang="zh-CN" sz="1261" b="1" i="1">
                <a:ea typeface="宋体" panose="02010600030101010101" pitchFamily="2" charset="-122"/>
              </a:endParaRPr>
            </a:p>
          </p:txBody>
        </p:sp>
      </p:grpSp>
      <p:grpSp>
        <p:nvGrpSpPr>
          <p:cNvPr id="68622" name="Group 14">
            <a:extLst>
              <a:ext uri="{FF2B5EF4-FFF2-40B4-BE49-F238E27FC236}">
                <a16:creationId xmlns:a16="http://schemas.microsoft.com/office/drawing/2014/main" id="{4B5B1C89-15BE-E902-B47B-882EF672D73A}"/>
              </a:ext>
            </a:extLst>
          </p:cNvPr>
          <p:cNvGrpSpPr>
            <a:grpSpLocks/>
          </p:cNvGrpSpPr>
          <p:nvPr/>
        </p:nvGrpSpPr>
        <p:grpSpPr bwMode="auto">
          <a:xfrm>
            <a:off x="2585978" y="1345400"/>
            <a:ext cx="1099701" cy="1134917"/>
            <a:chOff x="0" y="0"/>
            <a:chExt cx="1374" cy="1418"/>
          </a:xfrm>
        </p:grpSpPr>
        <p:sp>
          <p:nvSpPr>
            <p:cNvPr id="68623" name="Line 15">
              <a:extLst>
                <a:ext uri="{FF2B5EF4-FFF2-40B4-BE49-F238E27FC236}">
                  <a16:creationId xmlns:a16="http://schemas.microsoft.com/office/drawing/2014/main" id="{0E339479-4236-0F49-5CB1-96CFCBE218DE}"/>
                </a:ext>
              </a:extLst>
            </p:cNvPr>
            <p:cNvSpPr>
              <a:spLocks noChangeShapeType="1"/>
            </p:cNvSpPr>
            <p:nvPr/>
          </p:nvSpPr>
          <p:spPr bwMode="auto">
            <a:xfrm flipH="1" flipV="1">
              <a:off x="0" y="0"/>
              <a:ext cx="589" cy="9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68624" name="Text Box 9">
              <a:extLst>
                <a:ext uri="{FF2B5EF4-FFF2-40B4-BE49-F238E27FC236}">
                  <a16:creationId xmlns:a16="http://schemas.microsoft.com/office/drawing/2014/main" id="{12105844-3089-66F1-1368-4C29C540129D}"/>
                </a:ext>
              </a:extLst>
            </p:cNvPr>
            <p:cNvSpPr txBox="1">
              <a:spLocks noChangeArrowheads="1"/>
            </p:cNvSpPr>
            <p:nvPr/>
          </p:nvSpPr>
          <p:spPr bwMode="auto">
            <a:xfrm>
              <a:off x="312" y="818"/>
              <a:ext cx="1062" cy="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61">
                  <a:ea typeface="宋体" panose="02010600030101010101" pitchFamily="2" charset="-122"/>
                </a:rPr>
                <a:t>实际物价水平</a:t>
              </a:r>
            </a:p>
          </p:txBody>
        </p:sp>
      </p:grpSp>
      <p:grpSp>
        <p:nvGrpSpPr>
          <p:cNvPr id="68625" name="Group 17">
            <a:extLst>
              <a:ext uri="{FF2B5EF4-FFF2-40B4-BE49-F238E27FC236}">
                <a16:creationId xmlns:a16="http://schemas.microsoft.com/office/drawing/2014/main" id="{9009FB98-DD03-19B8-265B-0F8A423BB2B8}"/>
              </a:ext>
            </a:extLst>
          </p:cNvPr>
          <p:cNvGrpSpPr>
            <a:grpSpLocks/>
          </p:cNvGrpSpPr>
          <p:nvPr/>
        </p:nvGrpSpPr>
        <p:grpSpPr bwMode="auto">
          <a:xfrm>
            <a:off x="3098212" y="1362208"/>
            <a:ext cx="1130915" cy="572260"/>
            <a:chOff x="0" y="0"/>
            <a:chExt cx="1413" cy="715"/>
          </a:xfrm>
        </p:grpSpPr>
        <p:sp>
          <p:nvSpPr>
            <p:cNvPr id="68626" name="Line 16">
              <a:extLst>
                <a:ext uri="{FF2B5EF4-FFF2-40B4-BE49-F238E27FC236}">
                  <a16:creationId xmlns:a16="http://schemas.microsoft.com/office/drawing/2014/main" id="{635E7901-BD03-BD3D-7FF6-387A392FE8AB}"/>
                </a:ext>
              </a:extLst>
            </p:cNvPr>
            <p:cNvSpPr>
              <a:spLocks noChangeShapeType="1"/>
            </p:cNvSpPr>
            <p:nvPr/>
          </p:nvSpPr>
          <p:spPr bwMode="auto">
            <a:xfrm flipH="1" flipV="1">
              <a:off x="0" y="0"/>
              <a:ext cx="316" cy="3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68627" name="Text Box 11">
              <a:extLst>
                <a:ext uri="{FF2B5EF4-FFF2-40B4-BE49-F238E27FC236}">
                  <a16:creationId xmlns:a16="http://schemas.microsoft.com/office/drawing/2014/main" id="{5BA71A02-5791-3539-40DA-83DB2DE87E9A}"/>
                </a:ext>
              </a:extLst>
            </p:cNvPr>
            <p:cNvSpPr txBox="1">
              <a:spLocks noChangeArrowheads="1"/>
            </p:cNvSpPr>
            <p:nvPr/>
          </p:nvSpPr>
          <p:spPr bwMode="auto">
            <a:xfrm>
              <a:off x="302" y="115"/>
              <a:ext cx="1111" cy="6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61">
                  <a:ea typeface="宋体" panose="02010600030101010101" pitchFamily="2" charset="-122"/>
                </a:rPr>
                <a:t>预期的物价水平</a:t>
              </a:r>
            </a:p>
          </p:txBody>
        </p:sp>
      </p:grpSp>
      <p:sp>
        <p:nvSpPr>
          <p:cNvPr id="68628" name="FlagCount" hidden="1">
            <a:hlinkClick r:id="rId3" action="ppaction://hlinkfile"/>
            <a:extLst>
              <a:ext uri="{FF2B5EF4-FFF2-40B4-BE49-F238E27FC236}">
                <a16:creationId xmlns:a16="http://schemas.microsoft.com/office/drawing/2014/main" id="{2DE82010-EC03-F024-4813-B1565D82060A}"/>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7303208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left)">
                                      <p:cBhvr>
                                        <p:cTn id="7" dur="500"/>
                                        <p:tgtEl>
                                          <p:spTgt spid="686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nodeType="clickEffect">
                                  <p:stCondLst>
                                    <p:cond delay="0"/>
                                  </p:stCondLst>
                                  <p:childTnLst>
                                    <p:set>
                                      <p:cBhvr>
                                        <p:cTn id="11" dur="1" fill="hold">
                                          <p:stCondLst>
                                            <p:cond delay="0"/>
                                          </p:stCondLst>
                                        </p:cTn>
                                        <p:tgtEl>
                                          <p:spTgt spid="68613"/>
                                        </p:tgtEl>
                                        <p:attrNameLst>
                                          <p:attrName>style.visibility</p:attrName>
                                        </p:attrNameLst>
                                      </p:cBhvr>
                                      <p:to>
                                        <p:strVal val="visible"/>
                                      </p:to>
                                    </p:set>
                                    <p:animEffect transition="in" filter="strips(downLeft)">
                                      <p:cBhvr>
                                        <p:cTn id="12" dur="500"/>
                                        <p:tgtEl>
                                          <p:spTgt spid="686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nodeType="clickEffect">
                                  <p:stCondLst>
                                    <p:cond delay="0"/>
                                  </p:stCondLst>
                                  <p:childTnLst>
                                    <p:set>
                                      <p:cBhvr>
                                        <p:cTn id="16" dur="1" fill="hold">
                                          <p:stCondLst>
                                            <p:cond delay="0"/>
                                          </p:stCondLst>
                                        </p:cTn>
                                        <p:tgtEl>
                                          <p:spTgt spid="68616"/>
                                        </p:tgtEl>
                                        <p:attrNameLst>
                                          <p:attrName>style.visibility</p:attrName>
                                        </p:attrNameLst>
                                      </p:cBhvr>
                                      <p:to>
                                        <p:strVal val="visible"/>
                                      </p:to>
                                    </p:set>
                                    <p:animEffect transition="in" filter="strips(downLeft)">
                                      <p:cBhvr>
                                        <p:cTn id="17" dur="500"/>
                                        <p:tgtEl>
                                          <p:spTgt spid="686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68622"/>
                                        </p:tgtEl>
                                        <p:attrNameLst>
                                          <p:attrName>style.visibility</p:attrName>
                                        </p:attrNameLst>
                                      </p:cBhvr>
                                      <p:to>
                                        <p:strVal val="visible"/>
                                      </p:to>
                                    </p:set>
                                    <p:animEffect transition="in" filter="strips(downRight)">
                                      <p:cBhvr>
                                        <p:cTn id="22" dur="500"/>
                                        <p:tgtEl>
                                          <p:spTgt spid="686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68625"/>
                                        </p:tgtEl>
                                        <p:attrNameLst>
                                          <p:attrName>style.visibility</p:attrName>
                                        </p:attrNameLst>
                                      </p:cBhvr>
                                      <p:to>
                                        <p:strVal val="visible"/>
                                      </p:to>
                                    </p:set>
                                    <p:animEffect transition="in" filter="strips(downRight)">
                                      <p:cBhvr>
                                        <p:cTn id="27" dur="500"/>
                                        <p:tgtEl>
                                          <p:spTgt spid="686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12" fill="hold" nodeType="clickEffect">
                                  <p:stCondLst>
                                    <p:cond delay="0"/>
                                  </p:stCondLst>
                                  <p:childTnLst>
                                    <p:set>
                                      <p:cBhvr>
                                        <p:cTn id="31" dur="1" fill="hold">
                                          <p:stCondLst>
                                            <p:cond delay="0"/>
                                          </p:stCondLst>
                                        </p:cTn>
                                        <p:tgtEl>
                                          <p:spTgt spid="68619"/>
                                        </p:tgtEl>
                                        <p:attrNameLst>
                                          <p:attrName>style.visibility</p:attrName>
                                        </p:attrNameLst>
                                      </p:cBhvr>
                                      <p:to>
                                        <p:strVal val="visible"/>
                                      </p:to>
                                    </p:set>
                                    <p:animEffect transition="in" filter="strips(downLeft)">
                                      <p:cBhvr>
                                        <p:cTn id="32" dur="500"/>
                                        <p:tgtEl>
                                          <p:spTgt spid="68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19F32BB-20F5-D92B-81E8-C731392352E0}"/>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54B0FC9D-2D15-C919-7E71-90F0928CFA04}"/>
              </a:ext>
            </a:extLst>
          </p:cNvPr>
          <p:cNvSpPr>
            <a:spLocks noGrp="1"/>
          </p:cNvSpPr>
          <p:nvPr>
            <p:ph type="sldNum" sz="quarter" idx="11"/>
          </p:nvPr>
        </p:nvSpPr>
        <p:spPr/>
        <p:txBody>
          <a:bodyPr/>
          <a:lstStyle/>
          <a:p>
            <a:fld id="{1897E1C9-4B40-3649-9967-610D6883B228}" type="slidenum">
              <a:rPr lang="zh-CN" altLang="zh-CN"/>
              <a:pPr/>
              <a:t>44</a:t>
            </a:fld>
            <a:endParaRPr lang="zh-CN" altLang="zh-CN"/>
          </a:p>
        </p:txBody>
      </p:sp>
      <p:sp>
        <p:nvSpPr>
          <p:cNvPr id="70658" name="Rectangle 2">
            <a:extLst>
              <a:ext uri="{FF2B5EF4-FFF2-40B4-BE49-F238E27FC236}">
                <a16:creationId xmlns:a16="http://schemas.microsoft.com/office/drawing/2014/main" id="{54AFA55B-BA68-558D-4E54-C2988F66E4F9}"/>
              </a:ext>
            </a:extLst>
          </p:cNvPr>
          <p:cNvSpPr>
            <a:spLocks noGrp="1" noChangeArrowheads="1"/>
          </p:cNvSpPr>
          <p:nvPr>
            <p:ph type="title" idx="4294967295"/>
          </p:nvPr>
        </p:nvSpPr>
        <p:spPr>
          <a:xfrm>
            <a:off x="0" y="127245"/>
            <a:ext cx="4610100" cy="327349"/>
          </a:xfrm>
        </p:spPr>
        <p:txBody>
          <a:bodyPr/>
          <a:lstStyle/>
          <a:p>
            <a:r>
              <a:rPr lang="zh-CN" altLang="en-US" sz="1815">
                <a:ea typeface="宋体" panose="02010600030101010101" pitchFamily="2" charset="-122"/>
              </a:rPr>
              <a:t>三种理论的共同点</a:t>
            </a:r>
          </a:p>
        </p:txBody>
      </p:sp>
      <p:grpSp>
        <p:nvGrpSpPr>
          <p:cNvPr id="70659" name="Group 3">
            <a:extLst>
              <a:ext uri="{FF2B5EF4-FFF2-40B4-BE49-F238E27FC236}">
                <a16:creationId xmlns:a16="http://schemas.microsoft.com/office/drawing/2014/main" id="{656807D0-6365-558B-5233-3CD93F425EE9}"/>
              </a:ext>
            </a:extLst>
          </p:cNvPr>
          <p:cNvGrpSpPr>
            <a:grpSpLocks/>
          </p:cNvGrpSpPr>
          <p:nvPr/>
        </p:nvGrpSpPr>
        <p:grpSpPr bwMode="auto">
          <a:xfrm>
            <a:off x="2070544" y="801152"/>
            <a:ext cx="2229816" cy="2119312"/>
            <a:chOff x="0" y="0"/>
            <a:chExt cx="2786" cy="2477"/>
          </a:xfrm>
        </p:grpSpPr>
        <p:grpSp>
          <p:nvGrpSpPr>
            <p:cNvPr id="70660" name="Group 4">
              <a:extLst>
                <a:ext uri="{FF2B5EF4-FFF2-40B4-BE49-F238E27FC236}">
                  <a16:creationId xmlns:a16="http://schemas.microsoft.com/office/drawing/2014/main" id="{97F1566B-FAE4-3C2B-84D0-131C72D8797F}"/>
                </a:ext>
              </a:extLst>
            </p:cNvPr>
            <p:cNvGrpSpPr>
              <a:grpSpLocks/>
            </p:cNvGrpSpPr>
            <p:nvPr/>
          </p:nvGrpSpPr>
          <p:grpSpPr bwMode="auto">
            <a:xfrm>
              <a:off x="118" y="252"/>
              <a:ext cx="2409" cy="2049"/>
              <a:chOff x="0" y="0"/>
              <a:chExt cx="2116" cy="2027"/>
            </a:xfrm>
          </p:grpSpPr>
          <p:sp>
            <p:nvSpPr>
              <p:cNvPr id="70661" name="Line 6">
                <a:extLst>
                  <a:ext uri="{FF2B5EF4-FFF2-40B4-BE49-F238E27FC236}">
                    <a16:creationId xmlns:a16="http://schemas.microsoft.com/office/drawing/2014/main" id="{01B0487D-09A6-D343-6378-5927930A77D6}"/>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62" name="Line 7">
                <a:extLst>
                  <a:ext uri="{FF2B5EF4-FFF2-40B4-BE49-F238E27FC236}">
                    <a16:creationId xmlns:a16="http://schemas.microsoft.com/office/drawing/2014/main" id="{D5851D46-AB35-4936-8041-A4E75F5A728B}"/>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0663" name="Text Box 8">
              <a:extLst>
                <a:ext uri="{FF2B5EF4-FFF2-40B4-BE49-F238E27FC236}">
                  <a16:creationId xmlns:a16="http://schemas.microsoft.com/office/drawing/2014/main" id="{D6382C86-9300-FEB8-7CED-397B3E3A7168}"/>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70664" name="Text Box 9">
              <a:extLst>
                <a:ext uri="{FF2B5EF4-FFF2-40B4-BE49-F238E27FC236}">
                  <a16:creationId xmlns:a16="http://schemas.microsoft.com/office/drawing/2014/main" id="{BB951869-C7FF-7F67-9E65-75F0FC746AE7}"/>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70665" name="Group 9">
            <a:extLst>
              <a:ext uri="{FF2B5EF4-FFF2-40B4-BE49-F238E27FC236}">
                <a16:creationId xmlns:a16="http://schemas.microsoft.com/office/drawing/2014/main" id="{C5731901-33DA-4125-B79B-284B1AB2DC63}"/>
              </a:ext>
            </a:extLst>
          </p:cNvPr>
          <p:cNvGrpSpPr>
            <a:grpSpLocks/>
          </p:cNvGrpSpPr>
          <p:nvPr/>
        </p:nvGrpSpPr>
        <p:grpSpPr bwMode="auto">
          <a:xfrm>
            <a:off x="2461122" y="1194131"/>
            <a:ext cx="1788014" cy="1294990"/>
            <a:chOff x="0" y="0"/>
            <a:chExt cx="2234" cy="1618"/>
          </a:xfrm>
        </p:grpSpPr>
        <p:sp>
          <p:nvSpPr>
            <p:cNvPr id="70666" name="Line 11">
              <a:extLst>
                <a:ext uri="{FF2B5EF4-FFF2-40B4-BE49-F238E27FC236}">
                  <a16:creationId xmlns:a16="http://schemas.microsoft.com/office/drawing/2014/main" id="{3B53CB89-A553-B001-88F4-2D1ACD11F8EF}"/>
                </a:ext>
              </a:extLst>
            </p:cNvPr>
            <p:cNvSpPr>
              <a:spLocks noChangeShapeType="1"/>
            </p:cNvSpPr>
            <p:nvPr/>
          </p:nvSpPr>
          <p:spPr bwMode="auto">
            <a:xfrm flipV="1">
              <a:off x="0" y="234"/>
              <a:ext cx="1497"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67" name="Text Box 12">
              <a:extLst>
                <a:ext uri="{FF2B5EF4-FFF2-40B4-BE49-F238E27FC236}">
                  <a16:creationId xmlns:a16="http://schemas.microsoft.com/office/drawing/2014/main" id="{00FFC234-BCC3-C396-3FFD-A8CC2341F8BB}"/>
                </a:ext>
              </a:extLst>
            </p:cNvPr>
            <p:cNvSpPr txBox="1">
              <a:spLocks noChangeArrowheads="1"/>
            </p:cNvSpPr>
            <p:nvPr/>
          </p:nvSpPr>
          <p:spPr bwMode="auto">
            <a:xfrm>
              <a:off x="1387" y="0"/>
              <a:ext cx="847"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endParaRPr lang="en-US" altLang="zh-CN" sz="1210" i="1" baseline="-25000" dirty="0">
                <a:ea typeface="宋体" panose="02010600030101010101" pitchFamily="2" charset="-122"/>
              </a:endParaRPr>
            </a:p>
          </p:txBody>
        </p:sp>
      </p:grpSp>
      <p:grpSp>
        <p:nvGrpSpPr>
          <p:cNvPr id="70668" name="Group 12">
            <a:extLst>
              <a:ext uri="{FF2B5EF4-FFF2-40B4-BE49-F238E27FC236}">
                <a16:creationId xmlns:a16="http://schemas.microsoft.com/office/drawing/2014/main" id="{2F79BA57-1D16-998D-BC70-EF9146E56243}"/>
              </a:ext>
            </a:extLst>
          </p:cNvPr>
          <p:cNvGrpSpPr>
            <a:grpSpLocks/>
          </p:cNvGrpSpPr>
          <p:nvPr/>
        </p:nvGrpSpPr>
        <p:grpSpPr bwMode="auto">
          <a:xfrm>
            <a:off x="3027780" y="1033258"/>
            <a:ext cx="246512" cy="1942485"/>
            <a:chOff x="0" y="0"/>
            <a:chExt cx="308" cy="2427"/>
          </a:xfrm>
        </p:grpSpPr>
        <p:sp>
          <p:nvSpPr>
            <p:cNvPr id="70669" name="Line 14">
              <a:extLst>
                <a:ext uri="{FF2B5EF4-FFF2-40B4-BE49-F238E27FC236}">
                  <a16:creationId xmlns:a16="http://schemas.microsoft.com/office/drawing/2014/main" id="{D612B7E4-74A9-2B8F-9A1F-8F91189F0EA2}"/>
                </a:ext>
              </a:extLst>
            </p:cNvPr>
            <p:cNvSpPr>
              <a:spLocks noChangeShapeType="1"/>
            </p:cNvSpPr>
            <p:nvPr/>
          </p:nvSpPr>
          <p:spPr bwMode="auto">
            <a:xfrm rot="16200000" flipH="1">
              <a:off x="-955" y="1082"/>
              <a:ext cx="2167" cy="3"/>
            </a:xfrm>
            <a:prstGeom prst="line">
              <a:avLst/>
            </a:prstGeom>
            <a:noFill/>
            <a:ln w="19050">
              <a:solidFill>
                <a:srgbClr val="DE84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70" name="Text Box 18">
              <a:extLst>
                <a:ext uri="{FF2B5EF4-FFF2-40B4-BE49-F238E27FC236}">
                  <a16:creationId xmlns:a16="http://schemas.microsoft.com/office/drawing/2014/main" id="{92C5CFF7-4940-FA78-08F0-21D21CB03A94}"/>
                </a:ext>
              </a:extLst>
            </p:cNvPr>
            <p:cNvSpPr txBox="1">
              <a:spLocks noChangeArrowheads="1"/>
            </p:cNvSpPr>
            <p:nvPr/>
          </p:nvSpPr>
          <p:spPr bwMode="auto">
            <a:xfrm>
              <a:off x="0" y="2194"/>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grpSp>
        <p:nvGrpSpPr>
          <p:cNvPr id="70671" name="Group 15">
            <a:extLst>
              <a:ext uri="{FF2B5EF4-FFF2-40B4-BE49-F238E27FC236}">
                <a16:creationId xmlns:a16="http://schemas.microsoft.com/office/drawing/2014/main" id="{8BA16CA4-5AC9-D297-7556-894D8A38790D}"/>
              </a:ext>
            </a:extLst>
          </p:cNvPr>
          <p:cNvGrpSpPr>
            <a:grpSpLocks/>
          </p:cNvGrpSpPr>
          <p:nvPr/>
        </p:nvGrpSpPr>
        <p:grpSpPr bwMode="auto">
          <a:xfrm>
            <a:off x="808368" y="1048465"/>
            <a:ext cx="1290988" cy="750742"/>
            <a:chOff x="0" y="0"/>
            <a:chExt cx="1613" cy="938"/>
          </a:xfrm>
        </p:grpSpPr>
        <p:sp>
          <p:nvSpPr>
            <p:cNvPr id="70672" name="AutoShape 22">
              <a:extLst>
                <a:ext uri="{FF2B5EF4-FFF2-40B4-BE49-F238E27FC236}">
                  <a16:creationId xmlns:a16="http://schemas.microsoft.com/office/drawing/2014/main" id="{A783C347-B662-EABF-270A-2629F5CA063D}"/>
                </a:ext>
              </a:extLst>
            </p:cNvPr>
            <p:cNvSpPr>
              <a:spLocks/>
            </p:cNvSpPr>
            <p:nvPr/>
          </p:nvSpPr>
          <p:spPr bwMode="auto">
            <a:xfrm>
              <a:off x="1398" y="0"/>
              <a:ext cx="215" cy="938"/>
            </a:xfrm>
            <a:prstGeom prst="leftBrace">
              <a:avLst>
                <a:gd name="adj1" fmla="val 42335"/>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70673" name="Rectangle 23">
              <a:extLst>
                <a:ext uri="{FF2B5EF4-FFF2-40B4-BE49-F238E27FC236}">
                  <a16:creationId xmlns:a16="http://schemas.microsoft.com/office/drawing/2014/main" id="{8F1FBF9C-3F6D-3895-167F-FB9C69F46549}"/>
                </a:ext>
              </a:extLst>
            </p:cNvPr>
            <p:cNvSpPr>
              <a:spLocks noChangeArrowheads="1"/>
            </p:cNvSpPr>
            <p:nvPr/>
          </p:nvSpPr>
          <p:spPr bwMode="auto">
            <a:xfrm>
              <a:off x="0" y="272"/>
              <a:ext cx="1390" cy="35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261" b="1" i="1">
                  <a:ea typeface="宋体" panose="02010600030101010101" pitchFamily="2" charset="-122"/>
                </a:rPr>
                <a:t>P</a:t>
              </a:r>
              <a:r>
                <a:rPr lang="en-US" altLang="zh-CN" sz="1261">
                  <a:ea typeface="宋体" panose="02010600030101010101" pitchFamily="2" charset="-122"/>
                </a:rPr>
                <a:t> &gt; </a:t>
              </a:r>
              <a:r>
                <a:rPr lang="en-US" altLang="zh-CN" sz="1210" b="1" i="1">
                  <a:ea typeface="宋体" panose="02010600030101010101" pitchFamily="2" charset="-122"/>
                </a:rPr>
                <a:t>P</a:t>
              </a:r>
              <a:r>
                <a:rPr lang="en-US" altLang="zh-CN" sz="1210" b="1" baseline="-25000">
                  <a:ea typeface="宋体" panose="02010600030101010101" pitchFamily="2" charset="-122"/>
                </a:rPr>
                <a:t>E</a:t>
              </a:r>
              <a:r>
                <a:rPr lang="zh-CN" altLang="zh-CN" sz="1210" b="1" baseline="-25000">
                  <a:ea typeface="宋体" panose="02010600030101010101" pitchFamily="2" charset="-122"/>
                </a:rPr>
                <a:t>   </a:t>
              </a:r>
              <a:endParaRPr lang="en-US" altLang="zh-CN" sz="1210" b="1" baseline="-25000">
                <a:ea typeface="宋体" panose="02010600030101010101" pitchFamily="2" charset="-122"/>
              </a:endParaRPr>
            </a:p>
          </p:txBody>
        </p:sp>
      </p:grpSp>
      <p:grpSp>
        <p:nvGrpSpPr>
          <p:cNvPr id="70674" name="Group 18">
            <a:extLst>
              <a:ext uri="{FF2B5EF4-FFF2-40B4-BE49-F238E27FC236}">
                <a16:creationId xmlns:a16="http://schemas.microsoft.com/office/drawing/2014/main" id="{76EBFF94-1CFB-2D12-70ED-DA1AACFF4EFB}"/>
              </a:ext>
            </a:extLst>
          </p:cNvPr>
          <p:cNvGrpSpPr>
            <a:grpSpLocks/>
          </p:cNvGrpSpPr>
          <p:nvPr/>
        </p:nvGrpSpPr>
        <p:grpSpPr bwMode="auto">
          <a:xfrm>
            <a:off x="3202260" y="2824474"/>
            <a:ext cx="890005" cy="478618"/>
            <a:chOff x="-4" y="0"/>
            <a:chExt cx="1112" cy="598"/>
          </a:xfrm>
        </p:grpSpPr>
        <p:sp>
          <p:nvSpPr>
            <p:cNvPr id="70675" name="Rectangle 26">
              <a:extLst>
                <a:ext uri="{FF2B5EF4-FFF2-40B4-BE49-F238E27FC236}">
                  <a16:creationId xmlns:a16="http://schemas.microsoft.com/office/drawing/2014/main" id="{F0D9D469-D72B-DAC7-71B5-16B1872CC159}"/>
                </a:ext>
              </a:extLst>
            </p:cNvPr>
            <p:cNvSpPr>
              <a:spLocks noChangeArrowheads="1"/>
            </p:cNvSpPr>
            <p:nvPr/>
          </p:nvSpPr>
          <p:spPr bwMode="auto">
            <a:xfrm>
              <a:off x="210" y="265"/>
              <a:ext cx="828" cy="33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261" b="1" i="1" dirty="0">
                  <a:ea typeface="宋体" panose="02010600030101010101" pitchFamily="2" charset="-122"/>
                </a:rPr>
                <a:t>Y</a:t>
              </a:r>
              <a:r>
                <a:rPr lang="en-US" altLang="zh-CN" sz="1261" dirty="0">
                  <a:ea typeface="宋体" panose="02010600030101010101" pitchFamily="2" charset="-122"/>
                </a:rPr>
                <a:t> &gt; </a:t>
              </a:r>
              <a:r>
                <a:rPr lang="en-US" altLang="zh-CN" sz="1210" b="1" i="1" dirty="0">
                  <a:ea typeface="宋体" panose="02010600030101010101" pitchFamily="2" charset="-122"/>
                </a:rPr>
                <a:t>Y</a:t>
              </a:r>
              <a:r>
                <a:rPr lang="en-US" altLang="zh-CN" sz="1210" b="1" baseline="-25000" dirty="0">
                  <a:ea typeface="宋体" panose="02010600030101010101" pitchFamily="2" charset="-122"/>
                </a:rPr>
                <a:t>N</a:t>
              </a:r>
            </a:p>
          </p:txBody>
        </p:sp>
        <p:sp>
          <p:nvSpPr>
            <p:cNvPr id="70676" name="AutoShape 27">
              <a:extLst>
                <a:ext uri="{FF2B5EF4-FFF2-40B4-BE49-F238E27FC236}">
                  <a16:creationId xmlns:a16="http://schemas.microsoft.com/office/drawing/2014/main" id="{206B9E3D-0DDE-EF8B-A338-6717BFE34169}"/>
                </a:ext>
              </a:extLst>
            </p:cNvPr>
            <p:cNvSpPr>
              <a:spLocks/>
            </p:cNvSpPr>
            <p:nvPr/>
          </p:nvSpPr>
          <p:spPr bwMode="auto">
            <a:xfrm rot="16200000">
              <a:off x="444" y="-448"/>
              <a:ext cx="215" cy="1112"/>
            </a:xfrm>
            <a:prstGeom prst="leftBrace">
              <a:avLst>
                <a:gd name="adj1" fmla="val 50188"/>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grpSp>
        <p:nvGrpSpPr>
          <p:cNvPr id="70677" name="Group 21">
            <a:extLst>
              <a:ext uri="{FF2B5EF4-FFF2-40B4-BE49-F238E27FC236}">
                <a16:creationId xmlns:a16="http://schemas.microsoft.com/office/drawing/2014/main" id="{AD632987-229D-13CF-A92D-687FDE7C236D}"/>
              </a:ext>
            </a:extLst>
          </p:cNvPr>
          <p:cNvGrpSpPr>
            <a:grpSpLocks/>
          </p:cNvGrpSpPr>
          <p:nvPr/>
        </p:nvGrpSpPr>
        <p:grpSpPr bwMode="auto">
          <a:xfrm>
            <a:off x="776354" y="1981690"/>
            <a:ext cx="1290988" cy="750742"/>
            <a:chOff x="0" y="0"/>
            <a:chExt cx="1613" cy="938"/>
          </a:xfrm>
        </p:grpSpPr>
        <p:sp>
          <p:nvSpPr>
            <p:cNvPr id="70678" name="AutoShape 28">
              <a:extLst>
                <a:ext uri="{FF2B5EF4-FFF2-40B4-BE49-F238E27FC236}">
                  <a16:creationId xmlns:a16="http://schemas.microsoft.com/office/drawing/2014/main" id="{A1F58286-0405-61B2-054D-3FA89031E4A5}"/>
                </a:ext>
              </a:extLst>
            </p:cNvPr>
            <p:cNvSpPr>
              <a:spLocks/>
            </p:cNvSpPr>
            <p:nvPr/>
          </p:nvSpPr>
          <p:spPr bwMode="auto">
            <a:xfrm>
              <a:off x="1398" y="0"/>
              <a:ext cx="215" cy="938"/>
            </a:xfrm>
            <a:prstGeom prst="leftBrace">
              <a:avLst>
                <a:gd name="adj1" fmla="val 42335"/>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70679" name="Rectangle 29">
              <a:extLst>
                <a:ext uri="{FF2B5EF4-FFF2-40B4-BE49-F238E27FC236}">
                  <a16:creationId xmlns:a16="http://schemas.microsoft.com/office/drawing/2014/main" id="{86D28EE0-ECEA-9925-C69C-3FA59E4191C4}"/>
                </a:ext>
              </a:extLst>
            </p:cNvPr>
            <p:cNvSpPr>
              <a:spLocks noChangeArrowheads="1"/>
            </p:cNvSpPr>
            <p:nvPr/>
          </p:nvSpPr>
          <p:spPr bwMode="auto">
            <a:xfrm>
              <a:off x="0" y="285"/>
              <a:ext cx="1376" cy="353"/>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261" b="1" i="1">
                  <a:ea typeface="宋体" panose="02010600030101010101" pitchFamily="2" charset="-122"/>
                </a:rPr>
                <a:t>P</a:t>
              </a:r>
              <a:r>
                <a:rPr lang="en-US" altLang="zh-CN" sz="1261">
                  <a:ea typeface="宋体" panose="02010600030101010101" pitchFamily="2" charset="-122"/>
                </a:rPr>
                <a:t> &lt; </a:t>
              </a:r>
              <a:r>
                <a:rPr lang="en-US" altLang="zh-CN" sz="1210" b="1" i="1">
                  <a:ea typeface="宋体" panose="02010600030101010101" pitchFamily="2" charset="-122"/>
                </a:rPr>
                <a:t>P</a:t>
              </a:r>
              <a:r>
                <a:rPr lang="en-US" altLang="zh-CN" sz="1210" b="1" baseline="-25000">
                  <a:ea typeface="宋体" panose="02010600030101010101" pitchFamily="2" charset="-122"/>
                </a:rPr>
                <a:t>E</a:t>
              </a:r>
            </a:p>
          </p:txBody>
        </p:sp>
      </p:grpSp>
      <p:grpSp>
        <p:nvGrpSpPr>
          <p:cNvPr id="70680" name="Group 24">
            <a:extLst>
              <a:ext uri="{FF2B5EF4-FFF2-40B4-BE49-F238E27FC236}">
                <a16:creationId xmlns:a16="http://schemas.microsoft.com/office/drawing/2014/main" id="{342CE8E0-BCC7-25F6-9B22-1477D0685A83}"/>
              </a:ext>
            </a:extLst>
          </p:cNvPr>
          <p:cNvGrpSpPr>
            <a:grpSpLocks/>
          </p:cNvGrpSpPr>
          <p:nvPr/>
        </p:nvGrpSpPr>
        <p:grpSpPr bwMode="auto">
          <a:xfrm>
            <a:off x="2177792" y="2826875"/>
            <a:ext cx="879600" cy="474616"/>
            <a:chOff x="0" y="0"/>
            <a:chExt cx="1099" cy="593"/>
          </a:xfrm>
        </p:grpSpPr>
        <p:sp>
          <p:nvSpPr>
            <p:cNvPr id="70681" name="Rectangle 30">
              <a:extLst>
                <a:ext uri="{FF2B5EF4-FFF2-40B4-BE49-F238E27FC236}">
                  <a16:creationId xmlns:a16="http://schemas.microsoft.com/office/drawing/2014/main" id="{4C3D18AB-4227-A535-25D8-E2DD8002A580}"/>
                </a:ext>
              </a:extLst>
            </p:cNvPr>
            <p:cNvSpPr>
              <a:spLocks noChangeArrowheads="1"/>
            </p:cNvSpPr>
            <p:nvPr/>
          </p:nvSpPr>
          <p:spPr bwMode="auto">
            <a:xfrm>
              <a:off x="69" y="260"/>
              <a:ext cx="828" cy="333"/>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261" b="1" i="1" dirty="0">
                  <a:ea typeface="宋体" panose="02010600030101010101" pitchFamily="2" charset="-122"/>
                </a:rPr>
                <a:t>Y</a:t>
              </a:r>
              <a:r>
                <a:rPr lang="en-US" altLang="zh-CN" sz="1261" dirty="0">
                  <a:ea typeface="宋体" panose="02010600030101010101" pitchFamily="2" charset="-122"/>
                </a:rPr>
                <a:t> &lt; </a:t>
              </a:r>
              <a:r>
                <a:rPr lang="en-US" altLang="zh-CN" sz="1210" b="1" i="1" dirty="0">
                  <a:ea typeface="宋体" panose="02010600030101010101" pitchFamily="2" charset="-122"/>
                </a:rPr>
                <a:t>Y</a:t>
              </a:r>
              <a:r>
                <a:rPr lang="en-US" altLang="zh-CN" sz="1210" b="1" baseline="-25000" dirty="0">
                  <a:ea typeface="宋体" panose="02010600030101010101" pitchFamily="2" charset="-122"/>
                </a:rPr>
                <a:t>N</a:t>
              </a:r>
            </a:p>
          </p:txBody>
        </p:sp>
        <p:sp>
          <p:nvSpPr>
            <p:cNvPr id="70682" name="AutoShape 31">
              <a:extLst>
                <a:ext uri="{FF2B5EF4-FFF2-40B4-BE49-F238E27FC236}">
                  <a16:creationId xmlns:a16="http://schemas.microsoft.com/office/drawing/2014/main" id="{8B29EE08-7A38-B4EF-85F7-2B9DD09E0BB3}"/>
                </a:ext>
              </a:extLst>
            </p:cNvPr>
            <p:cNvSpPr>
              <a:spLocks/>
            </p:cNvSpPr>
            <p:nvPr/>
          </p:nvSpPr>
          <p:spPr bwMode="auto">
            <a:xfrm rot="16200000">
              <a:off x="442" y="-442"/>
              <a:ext cx="215" cy="1099"/>
            </a:xfrm>
            <a:prstGeom prst="leftBrace">
              <a:avLst>
                <a:gd name="adj1" fmla="val 49602"/>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grpSp>
        <p:nvGrpSpPr>
          <p:cNvPr id="70683" name="Group 27">
            <a:extLst>
              <a:ext uri="{FF2B5EF4-FFF2-40B4-BE49-F238E27FC236}">
                <a16:creationId xmlns:a16="http://schemas.microsoft.com/office/drawing/2014/main" id="{73F1026D-D627-90FA-3338-C337B8494A26}"/>
              </a:ext>
            </a:extLst>
          </p:cNvPr>
          <p:cNvGrpSpPr>
            <a:grpSpLocks/>
          </p:cNvGrpSpPr>
          <p:nvPr/>
        </p:nvGrpSpPr>
        <p:grpSpPr bwMode="auto">
          <a:xfrm>
            <a:off x="1901666" y="1776796"/>
            <a:ext cx="1265377" cy="186485"/>
            <a:chOff x="0" y="0"/>
            <a:chExt cx="1581" cy="233"/>
          </a:xfrm>
        </p:grpSpPr>
        <p:sp>
          <p:nvSpPr>
            <p:cNvPr id="70684" name="Line 19">
              <a:extLst>
                <a:ext uri="{FF2B5EF4-FFF2-40B4-BE49-F238E27FC236}">
                  <a16:creationId xmlns:a16="http://schemas.microsoft.com/office/drawing/2014/main" id="{698717E8-D9A9-0353-747D-9D1146E1FAEA}"/>
                </a:ext>
              </a:extLst>
            </p:cNvPr>
            <p:cNvSpPr>
              <a:spLocks noChangeShapeType="1"/>
            </p:cNvSpPr>
            <p:nvPr/>
          </p:nvSpPr>
          <p:spPr bwMode="auto">
            <a:xfrm flipH="1">
              <a:off x="332" y="117"/>
              <a:ext cx="120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85" name="Text Box 20">
              <a:extLst>
                <a:ext uri="{FF2B5EF4-FFF2-40B4-BE49-F238E27FC236}">
                  <a16:creationId xmlns:a16="http://schemas.microsoft.com/office/drawing/2014/main" id="{7B66C525-7A68-2C0E-DB46-E224A458B3AA}"/>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E</a:t>
              </a:r>
            </a:p>
          </p:txBody>
        </p:sp>
        <p:sp>
          <p:nvSpPr>
            <p:cNvPr id="70686" name="Oval 33">
              <a:extLst>
                <a:ext uri="{FF2B5EF4-FFF2-40B4-BE49-F238E27FC236}">
                  <a16:creationId xmlns:a16="http://schemas.microsoft.com/office/drawing/2014/main" id="{3D5042EA-B491-5D0C-C67A-404472C62AC3}"/>
                </a:ext>
              </a:extLst>
            </p:cNvPr>
            <p:cNvSpPr>
              <a:spLocks noChangeArrowheads="1"/>
            </p:cNvSpPr>
            <p:nvPr/>
          </p:nvSpPr>
          <p:spPr bwMode="auto">
            <a:xfrm>
              <a:off x="1493"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grpSp>
        <p:nvGrpSpPr>
          <p:cNvPr id="70687" name="Group 31">
            <a:extLst>
              <a:ext uri="{FF2B5EF4-FFF2-40B4-BE49-F238E27FC236}">
                <a16:creationId xmlns:a16="http://schemas.microsoft.com/office/drawing/2014/main" id="{75077C52-02CA-1514-A02B-FC0134625FA8}"/>
              </a:ext>
            </a:extLst>
          </p:cNvPr>
          <p:cNvGrpSpPr>
            <a:grpSpLocks/>
          </p:cNvGrpSpPr>
          <p:nvPr/>
        </p:nvGrpSpPr>
        <p:grpSpPr bwMode="auto">
          <a:xfrm>
            <a:off x="263320" y="1658342"/>
            <a:ext cx="1627141" cy="480219"/>
            <a:chOff x="0" y="0"/>
            <a:chExt cx="2033" cy="600"/>
          </a:xfrm>
        </p:grpSpPr>
        <p:sp>
          <p:nvSpPr>
            <p:cNvPr id="70688" name="Line 21">
              <a:extLst>
                <a:ext uri="{FF2B5EF4-FFF2-40B4-BE49-F238E27FC236}">
                  <a16:creationId xmlns:a16="http://schemas.microsoft.com/office/drawing/2014/main" id="{396804B9-244D-9E9C-3480-145C11A2E232}"/>
                </a:ext>
              </a:extLst>
            </p:cNvPr>
            <p:cNvSpPr>
              <a:spLocks noChangeShapeType="1"/>
            </p:cNvSpPr>
            <p:nvPr/>
          </p:nvSpPr>
          <p:spPr bwMode="auto">
            <a:xfrm>
              <a:off x="1262" y="269"/>
              <a:ext cx="771"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70689" name="Text Box 41">
              <a:extLst>
                <a:ext uri="{FF2B5EF4-FFF2-40B4-BE49-F238E27FC236}">
                  <a16:creationId xmlns:a16="http://schemas.microsoft.com/office/drawing/2014/main" id="{5B5D3128-68F7-7E14-EAE8-73E5D08A4F1B}"/>
                </a:ext>
              </a:extLst>
            </p:cNvPr>
            <p:cNvSpPr txBox="1">
              <a:spLocks noChangeArrowheads="1"/>
            </p:cNvSpPr>
            <p:nvPr/>
          </p:nvSpPr>
          <p:spPr bwMode="auto">
            <a:xfrm>
              <a:off x="0" y="0"/>
              <a:ext cx="1346" cy="600"/>
            </a:xfrm>
            <a:prstGeom prst="rect">
              <a:avLst/>
            </a:prstGeom>
            <a:solidFill>
              <a:schemeClr val="bg1"/>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61">
                  <a:ea typeface="宋体" panose="02010600030101010101" pitchFamily="2" charset="-122"/>
                </a:rPr>
                <a:t>预期物价水平</a:t>
              </a:r>
            </a:p>
          </p:txBody>
        </p:sp>
      </p:grpSp>
      <p:sp>
        <p:nvSpPr>
          <p:cNvPr id="70690" name="Line 47">
            <a:extLst>
              <a:ext uri="{FF2B5EF4-FFF2-40B4-BE49-F238E27FC236}">
                <a16:creationId xmlns:a16="http://schemas.microsoft.com/office/drawing/2014/main" id="{E5C3F739-27DD-9A5D-0149-3E39DD49665E}"/>
              </a:ext>
            </a:extLst>
          </p:cNvPr>
          <p:cNvSpPr>
            <a:spLocks noChangeShapeType="1"/>
          </p:cNvSpPr>
          <p:nvPr/>
        </p:nvSpPr>
        <p:spPr bwMode="auto">
          <a:xfrm flipV="1">
            <a:off x="3167043" y="1395022"/>
            <a:ext cx="501828" cy="463411"/>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91" name="Line 49">
            <a:extLst>
              <a:ext uri="{FF2B5EF4-FFF2-40B4-BE49-F238E27FC236}">
                <a16:creationId xmlns:a16="http://schemas.microsoft.com/office/drawing/2014/main" id="{F4C6BA27-1931-5947-7F2A-971EAC829E7E}"/>
              </a:ext>
            </a:extLst>
          </p:cNvPr>
          <p:cNvSpPr>
            <a:spLocks noChangeShapeType="1"/>
          </p:cNvSpPr>
          <p:nvPr/>
        </p:nvSpPr>
        <p:spPr bwMode="auto">
          <a:xfrm flipV="1">
            <a:off x="2471526" y="1901653"/>
            <a:ext cx="645894" cy="599473"/>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0692" name="FlagCount" hidden="1">
            <a:hlinkClick r:id="rId3" action="ppaction://hlinkfile"/>
            <a:extLst>
              <a:ext uri="{FF2B5EF4-FFF2-40B4-BE49-F238E27FC236}">
                <a16:creationId xmlns:a16="http://schemas.microsoft.com/office/drawing/2014/main" id="{B7036EE9-6A73-6A62-E8A8-702EA33E86DC}"/>
              </a:ext>
            </a:extLst>
          </p:cNvPr>
          <p:cNvSpPr>
            <a:spLocks noChangeArrowheads="1"/>
          </p:cNvSpPr>
          <p:nvPr/>
        </p:nvSpPr>
        <p:spPr bwMode="auto">
          <a:xfrm>
            <a:off x="4168299" y="334539"/>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
        <p:nvSpPr>
          <p:cNvPr id="70693" name="Rectangle 53">
            <a:extLst>
              <a:ext uri="{FF2B5EF4-FFF2-40B4-BE49-F238E27FC236}">
                <a16:creationId xmlns:a16="http://schemas.microsoft.com/office/drawing/2014/main" id="{F774E39A-20BA-A75F-D6A1-633AB4D69B4A}"/>
              </a:ext>
            </a:extLst>
          </p:cNvPr>
          <p:cNvSpPr>
            <a:spLocks noChangeArrowheads="1"/>
          </p:cNvSpPr>
          <p:nvPr/>
        </p:nvSpPr>
        <p:spPr bwMode="auto">
          <a:xfrm>
            <a:off x="72803" y="514621"/>
            <a:ext cx="1950520" cy="355362"/>
          </a:xfrm>
          <a:prstGeom prst="rect">
            <a:avLst/>
          </a:prstGeom>
          <a:solidFill>
            <a:srgbClr val="CCFFCC"/>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412" b="1" i="1" dirty="0">
                <a:ea typeface="宋体" panose="02010600030101010101" pitchFamily="2" charset="-122"/>
              </a:rPr>
              <a:t>Y</a:t>
            </a:r>
            <a:r>
              <a:rPr lang="en-US" altLang="zh-CN" sz="1412" dirty="0">
                <a:ea typeface="宋体" panose="02010600030101010101" pitchFamily="2" charset="-122"/>
              </a:rPr>
              <a:t>  = </a:t>
            </a:r>
            <a:r>
              <a:rPr lang="en-US" altLang="zh-CN" sz="504" dirty="0">
                <a:ea typeface="宋体" panose="02010600030101010101" pitchFamily="2" charset="-122"/>
              </a:rPr>
              <a:t> </a:t>
            </a:r>
            <a:r>
              <a:rPr lang="en-US" altLang="zh-CN" sz="1412" b="1" i="1" dirty="0">
                <a:ea typeface="宋体" panose="02010600030101010101" pitchFamily="2" charset="-122"/>
              </a:rPr>
              <a:t>Y</a:t>
            </a:r>
            <a:r>
              <a:rPr lang="en-US" altLang="zh-CN" sz="1412" b="1" baseline="-25000" dirty="0">
                <a:ea typeface="宋体" panose="02010600030101010101" pitchFamily="2" charset="-122"/>
              </a:rPr>
              <a:t>N</a:t>
            </a:r>
            <a:r>
              <a:rPr lang="en-US" altLang="zh-CN" sz="1412" dirty="0">
                <a:ea typeface="宋体" panose="02010600030101010101" pitchFamily="2" charset="-122"/>
              </a:rPr>
              <a:t>  +  </a:t>
            </a:r>
            <a:r>
              <a:rPr lang="en-US" altLang="zh-CN" sz="1412" b="1" i="1" dirty="0">
                <a:latin typeface="Times New Roman" panose="02020603050405020304" pitchFamily="18" charset="0"/>
                <a:ea typeface="宋体" panose="02010600030101010101" pitchFamily="2" charset="-122"/>
              </a:rPr>
              <a:t>a</a:t>
            </a:r>
            <a:r>
              <a:rPr lang="en-US" altLang="zh-CN" sz="504" dirty="0">
                <a:ea typeface="宋体" panose="02010600030101010101" pitchFamily="2" charset="-122"/>
              </a:rPr>
              <a:t> </a:t>
            </a:r>
            <a:r>
              <a:rPr lang="en-US" altLang="zh-CN" sz="1412" dirty="0">
                <a:ea typeface="宋体" panose="02010600030101010101" pitchFamily="2" charset="-122"/>
              </a:rPr>
              <a:t>(</a:t>
            </a:r>
            <a:r>
              <a:rPr lang="en-US" altLang="zh-CN" sz="1412" b="1" i="1" dirty="0">
                <a:ea typeface="宋体" panose="02010600030101010101" pitchFamily="2" charset="-122"/>
              </a:rPr>
              <a:t>P</a:t>
            </a:r>
            <a:r>
              <a:rPr lang="en-US" altLang="zh-CN" sz="1412" b="1" dirty="0">
                <a:ea typeface="宋体" panose="02010600030101010101" pitchFamily="2" charset="-122"/>
              </a:rPr>
              <a:t>  </a:t>
            </a:r>
            <a:r>
              <a:rPr lang="en-US" altLang="zh-CN" sz="1412" dirty="0">
                <a:ea typeface="宋体" panose="02010600030101010101" pitchFamily="2" charset="-122"/>
              </a:rPr>
              <a:t>–  </a:t>
            </a:r>
            <a:r>
              <a:rPr lang="en-US" altLang="zh-CN" sz="1412" b="1" i="1" dirty="0">
                <a:ea typeface="宋体" panose="02010600030101010101" pitchFamily="2" charset="-122"/>
              </a:rPr>
              <a:t>P</a:t>
            </a:r>
            <a:r>
              <a:rPr lang="en-US" altLang="zh-CN" sz="1412" b="1" baseline="-25000" dirty="0">
                <a:ea typeface="宋体" panose="02010600030101010101" pitchFamily="2" charset="-122"/>
              </a:rPr>
              <a:t>E</a:t>
            </a:r>
            <a:r>
              <a:rPr lang="en-US" altLang="zh-CN" sz="1412" dirty="0">
                <a:ea typeface="宋体" panose="02010600030101010101" pitchFamily="2" charset="-122"/>
              </a:rPr>
              <a:t>)</a:t>
            </a:r>
          </a:p>
        </p:txBody>
      </p:sp>
    </p:spTree>
    <p:extLst>
      <p:ext uri="{BB962C8B-B14F-4D97-AF65-F5344CB8AC3E}">
        <p14:creationId xmlns:p14="http://schemas.microsoft.com/office/powerpoint/2010/main" val="212054590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0665"/>
                                        </p:tgtEl>
                                        <p:attrNameLst>
                                          <p:attrName>style.visibility</p:attrName>
                                        </p:attrNameLst>
                                      </p:cBhvr>
                                      <p:to>
                                        <p:strVal val="visible"/>
                                      </p:to>
                                    </p:set>
                                    <p:animEffect transition="in" filter="dissolve">
                                      <p:cBhvr>
                                        <p:cTn id="7" dur="500"/>
                                        <p:tgtEl>
                                          <p:spTgt spid="70665"/>
                                        </p:tgtEl>
                                      </p:cBhvr>
                                    </p:animEffect>
                                  </p:childTnLst>
                                </p:cTn>
                              </p:par>
                              <p:par>
                                <p:cTn id="8" presetID="9" presetClass="entr" presetSubtype="0" fill="hold" nodeType="withEffect">
                                  <p:stCondLst>
                                    <p:cond delay="0"/>
                                  </p:stCondLst>
                                  <p:childTnLst>
                                    <p:set>
                                      <p:cBhvr>
                                        <p:cTn id="9" dur="1" fill="hold">
                                          <p:stCondLst>
                                            <p:cond delay="0"/>
                                          </p:stCondLst>
                                        </p:cTn>
                                        <p:tgtEl>
                                          <p:spTgt spid="70659"/>
                                        </p:tgtEl>
                                        <p:attrNameLst>
                                          <p:attrName>style.visibility</p:attrName>
                                        </p:attrNameLst>
                                      </p:cBhvr>
                                      <p:to>
                                        <p:strVal val="visible"/>
                                      </p:to>
                                    </p:set>
                                    <p:animEffect transition="in" filter="dissolve">
                                      <p:cBhvr>
                                        <p:cTn id="10" dur="500"/>
                                        <p:tgtEl>
                                          <p:spTgt spid="7065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70668"/>
                                        </p:tgtEl>
                                        <p:attrNameLst>
                                          <p:attrName>style.visibility</p:attrName>
                                        </p:attrNameLst>
                                      </p:cBhvr>
                                      <p:to>
                                        <p:strVal val="visible"/>
                                      </p:to>
                                    </p:set>
                                    <p:animEffect transition="in" filter="wipe(down)">
                                      <p:cBhvr>
                                        <p:cTn id="15" dur="500"/>
                                        <p:tgtEl>
                                          <p:spTgt spid="7066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0687"/>
                                        </p:tgtEl>
                                        <p:attrNameLst>
                                          <p:attrName>style.visibility</p:attrName>
                                        </p:attrNameLst>
                                      </p:cBhvr>
                                      <p:to>
                                        <p:strVal val="visible"/>
                                      </p:to>
                                    </p:set>
                                    <p:animEffect transition="in" filter="wipe(left)">
                                      <p:cBhvr>
                                        <p:cTn id="20" dur="500"/>
                                        <p:tgtEl>
                                          <p:spTgt spid="70687"/>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70683"/>
                                        </p:tgtEl>
                                        <p:attrNameLst>
                                          <p:attrName>style.visibility</p:attrName>
                                        </p:attrNameLst>
                                      </p:cBhvr>
                                      <p:to>
                                        <p:strVal val="visible"/>
                                      </p:to>
                                    </p:set>
                                    <p:animEffect transition="in" filter="wipe(left)">
                                      <p:cBhvr>
                                        <p:cTn id="24" dur="500"/>
                                        <p:tgtEl>
                                          <p:spTgt spid="7068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12" fill="hold" nodeType="clickEffect">
                                  <p:stCondLst>
                                    <p:cond delay="0"/>
                                  </p:stCondLst>
                                  <p:childTnLst>
                                    <p:set>
                                      <p:cBhvr>
                                        <p:cTn id="28" dur="1" fill="hold">
                                          <p:stCondLst>
                                            <p:cond delay="0"/>
                                          </p:stCondLst>
                                        </p:cTn>
                                        <p:tgtEl>
                                          <p:spTgt spid="70671"/>
                                        </p:tgtEl>
                                        <p:attrNameLst>
                                          <p:attrName>style.visibility</p:attrName>
                                        </p:attrNameLst>
                                      </p:cBhvr>
                                      <p:to>
                                        <p:strVal val="visible"/>
                                      </p:to>
                                    </p:set>
                                    <p:animEffect transition="in" filter="strips(downLeft)">
                                      <p:cBhvr>
                                        <p:cTn id="29" dur="500"/>
                                        <p:tgtEl>
                                          <p:spTgt spid="70671"/>
                                        </p:tgtEl>
                                      </p:cBhvr>
                                    </p:animEffect>
                                  </p:childTnLst>
                                </p:cTn>
                              </p:par>
                              <p:par>
                                <p:cTn id="30" presetID="9" presetClass="entr" presetSubtype="0" fill="hold" nodeType="withEffect">
                                  <p:stCondLst>
                                    <p:cond delay="0"/>
                                  </p:stCondLst>
                                  <p:childTnLst>
                                    <p:set>
                                      <p:cBhvr>
                                        <p:cTn id="31" dur="1" fill="hold">
                                          <p:stCondLst>
                                            <p:cond delay="0"/>
                                          </p:stCondLst>
                                        </p:cTn>
                                        <p:tgtEl>
                                          <p:spTgt spid="70690"/>
                                        </p:tgtEl>
                                        <p:attrNameLst>
                                          <p:attrName>style.visibility</p:attrName>
                                        </p:attrNameLst>
                                      </p:cBhvr>
                                      <p:to>
                                        <p:strVal val="visible"/>
                                      </p:to>
                                    </p:set>
                                    <p:animEffect transition="in" filter="dissolve">
                                      <p:cBhvr>
                                        <p:cTn id="32" dur="500"/>
                                        <p:tgtEl>
                                          <p:spTgt spid="70690"/>
                                        </p:tgtEl>
                                      </p:cBhvr>
                                    </p:animEffect>
                                  </p:childTnLst>
                                </p:cTn>
                              </p:par>
                              <p:par>
                                <p:cTn id="33" presetID="18" presetClass="entr" presetSubtype="3" fill="hold" nodeType="withEffect">
                                  <p:stCondLst>
                                    <p:cond delay="0"/>
                                  </p:stCondLst>
                                  <p:childTnLst>
                                    <p:set>
                                      <p:cBhvr>
                                        <p:cTn id="34" dur="1" fill="hold">
                                          <p:stCondLst>
                                            <p:cond delay="0"/>
                                          </p:stCondLst>
                                        </p:cTn>
                                        <p:tgtEl>
                                          <p:spTgt spid="70674"/>
                                        </p:tgtEl>
                                        <p:attrNameLst>
                                          <p:attrName>style.visibility</p:attrName>
                                        </p:attrNameLst>
                                      </p:cBhvr>
                                      <p:to>
                                        <p:strVal val="visible"/>
                                      </p:to>
                                    </p:set>
                                    <p:animEffect transition="in" filter="strips(upRight)">
                                      <p:cBhvr>
                                        <p:cTn id="35" dur="500"/>
                                        <p:tgtEl>
                                          <p:spTgt spid="7067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xit" presetSubtype="0" fill="hold" nodeType="clickEffect">
                                  <p:stCondLst>
                                    <p:cond delay="0"/>
                                  </p:stCondLst>
                                  <p:childTnLst>
                                    <p:animEffect transition="out" filter="dissolve">
                                      <p:cBhvr>
                                        <p:cTn id="39" dur="500"/>
                                        <p:tgtEl>
                                          <p:spTgt spid="70671"/>
                                        </p:tgtEl>
                                      </p:cBhvr>
                                    </p:animEffect>
                                    <p:set>
                                      <p:cBhvr>
                                        <p:cTn id="40" dur="1" fill="hold">
                                          <p:stCondLst>
                                            <p:cond delay="499"/>
                                          </p:stCondLst>
                                        </p:cTn>
                                        <p:tgtEl>
                                          <p:spTgt spid="70671"/>
                                        </p:tgtEl>
                                        <p:attrNameLst>
                                          <p:attrName>style.visibility</p:attrName>
                                        </p:attrNameLst>
                                      </p:cBhvr>
                                      <p:to>
                                        <p:strVal val="hidden"/>
                                      </p:to>
                                    </p:set>
                                  </p:childTnLst>
                                </p:cTn>
                              </p:par>
                              <p:par>
                                <p:cTn id="41" presetID="9" presetClass="exit" presetSubtype="0" fill="hold" nodeType="withEffect">
                                  <p:stCondLst>
                                    <p:cond delay="0"/>
                                  </p:stCondLst>
                                  <p:childTnLst>
                                    <p:animEffect transition="out" filter="dissolve">
                                      <p:cBhvr>
                                        <p:cTn id="42" dur="500"/>
                                        <p:tgtEl>
                                          <p:spTgt spid="70674"/>
                                        </p:tgtEl>
                                      </p:cBhvr>
                                    </p:animEffect>
                                    <p:set>
                                      <p:cBhvr>
                                        <p:cTn id="43" dur="1" fill="hold">
                                          <p:stCondLst>
                                            <p:cond delay="499"/>
                                          </p:stCondLst>
                                        </p:cTn>
                                        <p:tgtEl>
                                          <p:spTgt spid="70674"/>
                                        </p:tgtEl>
                                        <p:attrNameLst>
                                          <p:attrName>style.visibility</p:attrName>
                                        </p:attrNameLst>
                                      </p:cBhvr>
                                      <p:to>
                                        <p:strVal val="hidden"/>
                                      </p:to>
                                    </p:set>
                                  </p:childTnLst>
                                </p:cTn>
                              </p:par>
                              <p:par>
                                <p:cTn id="44" presetID="9" presetClass="exit" presetSubtype="0" fill="hold" nodeType="withEffect">
                                  <p:stCondLst>
                                    <p:cond delay="0"/>
                                  </p:stCondLst>
                                  <p:childTnLst>
                                    <p:animEffect transition="out" filter="dissolve">
                                      <p:cBhvr>
                                        <p:cTn id="45" dur="500"/>
                                        <p:tgtEl>
                                          <p:spTgt spid="70690"/>
                                        </p:tgtEl>
                                      </p:cBhvr>
                                    </p:animEffect>
                                    <p:set>
                                      <p:cBhvr>
                                        <p:cTn id="46" dur="1" fill="hold">
                                          <p:stCondLst>
                                            <p:cond delay="499"/>
                                          </p:stCondLst>
                                        </p:cTn>
                                        <p:tgtEl>
                                          <p:spTgt spid="70690"/>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8" presetClass="entr" presetSubtype="12" fill="hold" nodeType="clickEffect">
                                  <p:stCondLst>
                                    <p:cond delay="0"/>
                                  </p:stCondLst>
                                  <p:childTnLst>
                                    <p:set>
                                      <p:cBhvr>
                                        <p:cTn id="50" dur="1" fill="hold">
                                          <p:stCondLst>
                                            <p:cond delay="0"/>
                                          </p:stCondLst>
                                        </p:cTn>
                                        <p:tgtEl>
                                          <p:spTgt spid="70677"/>
                                        </p:tgtEl>
                                        <p:attrNameLst>
                                          <p:attrName>style.visibility</p:attrName>
                                        </p:attrNameLst>
                                      </p:cBhvr>
                                      <p:to>
                                        <p:strVal val="visible"/>
                                      </p:to>
                                    </p:set>
                                    <p:animEffect transition="in" filter="strips(downLeft)">
                                      <p:cBhvr>
                                        <p:cTn id="51" dur="500"/>
                                        <p:tgtEl>
                                          <p:spTgt spid="70677"/>
                                        </p:tgtEl>
                                      </p:cBhvr>
                                    </p:animEffect>
                                  </p:childTnLst>
                                </p:cTn>
                              </p:par>
                              <p:par>
                                <p:cTn id="52" presetID="9" presetClass="entr" presetSubtype="0" fill="hold" nodeType="withEffect">
                                  <p:stCondLst>
                                    <p:cond delay="0"/>
                                  </p:stCondLst>
                                  <p:childTnLst>
                                    <p:set>
                                      <p:cBhvr>
                                        <p:cTn id="53" dur="1" fill="hold">
                                          <p:stCondLst>
                                            <p:cond delay="0"/>
                                          </p:stCondLst>
                                        </p:cTn>
                                        <p:tgtEl>
                                          <p:spTgt spid="70691"/>
                                        </p:tgtEl>
                                        <p:attrNameLst>
                                          <p:attrName>style.visibility</p:attrName>
                                        </p:attrNameLst>
                                      </p:cBhvr>
                                      <p:to>
                                        <p:strVal val="visible"/>
                                      </p:to>
                                    </p:set>
                                    <p:animEffect transition="in" filter="dissolve">
                                      <p:cBhvr>
                                        <p:cTn id="54" dur="500"/>
                                        <p:tgtEl>
                                          <p:spTgt spid="70691"/>
                                        </p:tgtEl>
                                      </p:cBhvr>
                                    </p:animEffect>
                                  </p:childTnLst>
                                </p:cTn>
                              </p:par>
                              <p:par>
                                <p:cTn id="55" presetID="18" presetClass="entr" presetSubtype="3" fill="hold" nodeType="withEffect">
                                  <p:stCondLst>
                                    <p:cond delay="0"/>
                                  </p:stCondLst>
                                  <p:childTnLst>
                                    <p:set>
                                      <p:cBhvr>
                                        <p:cTn id="56" dur="1" fill="hold">
                                          <p:stCondLst>
                                            <p:cond delay="0"/>
                                          </p:stCondLst>
                                        </p:cTn>
                                        <p:tgtEl>
                                          <p:spTgt spid="70680"/>
                                        </p:tgtEl>
                                        <p:attrNameLst>
                                          <p:attrName>style.visibility</p:attrName>
                                        </p:attrNameLst>
                                      </p:cBhvr>
                                      <p:to>
                                        <p:strVal val="visible"/>
                                      </p:to>
                                    </p:set>
                                    <p:animEffect transition="in" filter="strips(upRight)">
                                      <p:cBhvr>
                                        <p:cTn id="57" dur="500"/>
                                        <p:tgtEl>
                                          <p:spTgt spid="7068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xit" presetSubtype="0" fill="hold" nodeType="clickEffect">
                                  <p:stCondLst>
                                    <p:cond delay="0"/>
                                  </p:stCondLst>
                                  <p:childTnLst>
                                    <p:animEffect transition="out" filter="dissolve">
                                      <p:cBhvr>
                                        <p:cTn id="61" dur="500"/>
                                        <p:tgtEl>
                                          <p:spTgt spid="70677"/>
                                        </p:tgtEl>
                                      </p:cBhvr>
                                    </p:animEffect>
                                    <p:set>
                                      <p:cBhvr>
                                        <p:cTn id="62" dur="1" fill="hold">
                                          <p:stCondLst>
                                            <p:cond delay="499"/>
                                          </p:stCondLst>
                                        </p:cTn>
                                        <p:tgtEl>
                                          <p:spTgt spid="70677"/>
                                        </p:tgtEl>
                                        <p:attrNameLst>
                                          <p:attrName>style.visibility</p:attrName>
                                        </p:attrNameLst>
                                      </p:cBhvr>
                                      <p:to>
                                        <p:strVal val="hidden"/>
                                      </p:to>
                                    </p:set>
                                  </p:childTnLst>
                                </p:cTn>
                              </p:par>
                              <p:par>
                                <p:cTn id="63" presetID="9" presetClass="exit" presetSubtype="0" fill="hold" nodeType="withEffect">
                                  <p:stCondLst>
                                    <p:cond delay="0"/>
                                  </p:stCondLst>
                                  <p:childTnLst>
                                    <p:animEffect transition="out" filter="dissolve">
                                      <p:cBhvr>
                                        <p:cTn id="64" dur="500"/>
                                        <p:tgtEl>
                                          <p:spTgt spid="70691"/>
                                        </p:tgtEl>
                                      </p:cBhvr>
                                    </p:animEffect>
                                    <p:set>
                                      <p:cBhvr>
                                        <p:cTn id="65" dur="1" fill="hold">
                                          <p:stCondLst>
                                            <p:cond delay="499"/>
                                          </p:stCondLst>
                                        </p:cTn>
                                        <p:tgtEl>
                                          <p:spTgt spid="70691"/>
                                        </p:tgtEl>
                                        <p:attrNameLst>
                                          <p:attrName>style.visibility</p:attrName>
                                        </p:attrNameLst>
                                      </p:cBhvr>
                                      <p:to>
                                        <p:strVal val="hidden"/>
                                      </p:to>
                                    </p:set>
                                  </p:childTnLst>
                                </p:cTn>
                              </p:par>
                              <p:par>
                                <p:cTn id="66" presetID="9" presetClass="exit" presetSubtype="0" fill="hold" nodeType="withEffect">
                                  <p:stCondLst>
                                    <p:cond delay="0"/>
                                  </p:stCondLst>
                                  <p:childTnLst>
                                    <p:animEffect transition="out" filter="dissolve">
                                      <p:cBhvr>
                                        <p:cTn id="67" dur="500"/>
                                        <p:tgtEl>
                                          <p:spTgt spid="70680"/>
                                        </p:tgtEl>
                                      </p:cBhvr>
                                    </p:animEffect>
                                    <p:set>
                                      <p:cBhvr>
                                        <p:cTn id="68" dur="1" fill="hold">
                                          <p:stCondLst>
                                            <p:cond delay="499"/>
                                          </p:stCondLst>
                                        </p:cTn>
                                        <p:tgtEl>
                                          <p:spTgt spid="706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9715D17-2430-F367-038B-B0F978DF7BAE}"/>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95BE8163-5420-DF26-019C-0F802E03FD27}"/>
              </a:ext>
            </a:extLst>
          </p:cNvPr>
          <p:cNvSpPr>
            <a:spLocks noGrp="1"/>
          </p:cNvSpPr>
          <p:nvPr>
            <p:ph type="sldNum" sz="quarter" idx="11"/>
          </p:nvPr>
        </p:nvSpPr>
        <p:spPr/>
        <p:txBody>
          <a:bodyPr/>
          <a:lstStyle/>
          <a:p>
            <a:fld id="{61BE183C-642D-8648-8947-1EE082880ED5}" type="slidenum">
              <a:rPr lang="zh-CN" altLang="zh-CN"/>
              <a:pPr/>
              <a:t>45</a:t>
            </a:fld>
            <a:endParaRPr lang="zh-CN" altLang="zh-CN"/>
          </a:p>
        </p:txBody>
      </p:sp>
      <p:sp>
        <p:nvSpPr>
          <p:cNvPr id="72706" name="Rectangle 2">
            <a:extLst>
              <a:ext uri="{FF2B5EF4-FFF2-40B4-BE49-F238E27FC236}">
                <a16:creationId xmlns:a16="http://schemas.microsoft.com/office/drawing/2014/main" id="{A6D13232-BE7B-A2F1-1AFF-E2AB5F4F464E}"/>
              </a:ext>
            </a:extLst>
          </p:cNvPr>
          <p:cNvSpPr>
            <a:spLocks noGrp="1" noChangeArrowheads="1"/>
          </p:cNvSpPr>
          <p:nvPr>
            <p:ph type="title" idx="4294967295"/>
          </p:nvPr>
        </p:nvSpPr>
        <p:spPr>
          <a:xfrm>
            <a:off x="0" y="128846"/>
            <a:ext cx="4610100" cy="327349"/>
          </a:xfrm>
        </p:spPr>
        <p:txBody>
          <a:bodyPr/>
          <a:lstStyle/>
          <a:p>
            <a:r>
              <a:rPr lang="zh-CN" altLang="en-US" sz="1815">
                <a:ea typeface="宋体" panose="02010600030101010101" pitchFamily="2" charset="-122"/>
              </a:rPr>
              <a:t>短期总供给曲线与长期总供给曲线</a:t>
            </a:r>
          </a:p>
        </p:txBody>
      </p:sp>
      <p:sp>
        <p:nvSpPr>
          <p:cNvPr id="72707" name="Rectangle 3">
            <a:extLst>
              <a:ext uri="{FF2B5EF4-FFF2-40B4-BE49-F238E27FC236}">
                <a16:creationId xmlns:a16="http://schemas.microsoft.com/office/drawing/2014/main" id="{611DDE7C-B608-7257-0198-72D428554A51}"/>
              </a:ext>
            </a:extLst>
          </p:cNvPr>
          <p:cNvSpPr>
            <a:spLocks noGrp="1" noChangeArrowheads="1"/>
          </p:cNvSpPr>
          <p:nvPr>
            <p:ph type="body" idx="4294967295"/>
          </p:nvPr>
        </p:nvSpPr>
        <p:spPr/>
        <p:txBody>
          <a:bodyPr/>
          <a:lstStyle/>
          <a:p>
            <a:r>
              <a:rPr lang="zh-CN" altLang="zh-CN">
                <a:ea typeface="宋体" panose="02010600030101010101" pitchFamily="2" charset="-122"/>
              </a:rPr>
              <a:t>在这些理论中的不完全性都是暂时的。随时间推移：</a:t>
            </a:r>
          </a:p>
          <a:p>
            <a:pPr lvl="1">
              <a:lnSpc>
                <a:spcPct val="105000"/>
              </a:lnSpc>
            </a:pPr>
            <a:r>
              <a:rPr lang="zh-CN" altLang="zh-CN">
                <a:ea typeface="宋体" panose="02010600030101010101" pitchFamily="2" charset="-122"/>
              </a:rPr>
              <a:t>粘性工资与粘性价格都将具有伸缩性</a:t>
            </a:r>
          </a:p>
          <a:p>
            <a:pPr lvl="1">
              <a:lnSpc>
                <a:spcPct val="105000"/>
              </a:lnSpc>
            </a:pPr>
            <a:r>
              <a:rPr lang="zh-CN" altLang="zh-CN">
                <a:ea typeface="宋体" panose="02010600030101010101" pitchFamily="2" charset="-122"/>
              </a:rPr>
              <a:t>相对价格的错觉也会得到纠正</a:t>
            </a:r>
          </a:p>
          <a:p>
            <a:pPr>
              <a:spcBef>
                <a:spcPct val="60000"/>
              </a:spcBef>
            </a:pPr>
            <a:r>
              <a:rPr lang="zh-CN" altLang="zh-CN">
                <a:ea typeface="宋体" panose="02010600030101010101" pitchFamily="2" charset="-122"/>
              </a:rPr>
              <a:t>在长期中， </a:t>
            </a:r>
          </a:p>
          <a:p>
            <a:pPr lvl="1">
              <a:lnSpc>
                <a:spcPct val="105000"/>
              </a:lnSpc>
            </a:pPr>
            <a:r>
              <a:rPr lang="zh-CN" altLang="zh-CN" b="1" i="1">
                <a:ea typeface="宋体" panose="02010600030101010101" pitchFamily="2" charset="-122"/>
              </a:rPr>
              <a:t>P</a:t>
            </a:r>
            <a:r>
              <a:rPr lang="zh-CN" altLang="zh-CN" b="1" baseline="-25000">
                <a:ea typeface="宋体" panose="02010600030101010101" pitchFamily="2" charset="-122"/>
              </a:rPr>
              <a:t>E</a:t>
            </a:r>
            <a:r>
              <a:rPr lang="zh-CN" altLang="zh-CN">
                <a:ea typeface="宋体" panose="02010600030101010101" pitchFamily="2" charset="-122"/>
              </a:rPr>
              <a:t> = </a:t>
            </a:r>
            <a:r>
              <a:rPr lang="zh-CN" altLang="zh-CN" b="1" i="1">
                <a:ea typeface="宋体" panose="02010600030101010101" pitchFamily="2" charset="-122"/>
              </a:rPr>
              <a:t>P</a:t>
            </a:r>
            <a:r>
              <a:rPr lang="zh-CN" altLang="zh-CN">
                <a:ea typeface="宋体" panose="02010600030101010101" pitchFamily="2" charset="-122"/>
              </a:rPr>
              <a:t> </a:t>
            </a:r>
          </a:p>
          <a:p>
            <a:pPr lvl="1">
              <a:lnSpc>
                <a:spcPct val="105000"/>
              </a:lnSpc>
            </a:pPr>
            <a:r>
              <a:rPr lang="zh-CN" altLang="zh-CN">
                <a:ea typeface="宋体" panose="02010600030101010101" pitchFamily="2" charset="-122"/>
              </a:rPr>
              <a:t>总供给曲线垂直</a:t>
            </a:r>
          </a:p>
        </p:txBody>
      </p:sp>
      <p:sp>
        <p:nvSpPr>
          <p:cNvPr id="72708" name="FlagCount" hidden="1">
            <a:hlinkClick r:id="rId2" action="ppaction://hlinkfile"/>
            <a:extLst>
              <a:ext uri="{FF2B5EF4-FFF2-40B4-BE49-F238E27FC236}">
                <a16:creationId xmlns:a16="http://schemas.microsoft.com/office/drawing/2014/main" id="{918B32A0-9573-D6BD-406D-C02750A6D5AB}"/>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500252276"/>
      </p:ext>
    </p:extLst>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1934CC7C-D708-10DE-6ED7-EBE4AF39679A}"/>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987C38DB-1B06-1A83-6C15-D55E2FEA6859}"/>
              </a:ext>
            </a:extLst>
          </p:cNvPr>
          <p:cNvSpPr>
            <a:spLocks noGrp="1"/>
          </p:cNvSpPr>
          <p:nvPr>
            <p:ph type="sldNum" sz="quarter" idx="11"/>
          </p:nvPr>
        </p:nvSpPr>
        <p:spPr/>
        <p:txBody>
          <a:bodyPr/>
          <a:lstStyle/>
          <a:p>
            <a:fld id="{8223C9AD-75C9-9D4A-918A-F599F9BBB86D}" type="slidenum">
              <a:rPr lang="zh-CN" altLang="zh-CN"/>
              <a:pPr/>
              <a:t>46</a:t>
            </a:fld>
            <a:endParaRPr lang="zh-CN" altLang="zh-CN"/>
          </a:p>
        </p:txBody>
      </p:sp>
      <p:grpSp>
        <p:nvGrpSpPr>
          <p:cNvPr id="73730" name="Group 2">
            <a:extLst>
              <a:ext uri="{FF2B5EF4-FFF2-40B4-BE49-F238E27FC236}">
                <a16:creationId xmlns:a16="http://schemas.microsoft.com/office/drawing/2014/main" id="{DE02B321-5F78-B8A4-2431-AB0BD35BC24D}"/>
              </a:ext>
            </a:extLst>
          </p:cNvPr>
          <p:cNvGrpSpPr>
            <a:grpSpLocks/>
          </p:cNvGrpSpPr>
          <p:nvPr/>
        </p:nvGrpSpPr>
        <p:grpSpPr bwMode="auto">
          <a:xfrm>
            <a:off x="2828489" y="906800"/>
            <a:ext cx="686713" cy="2004113"/>
            <a:chOff x="-17" y="-86"/>
            <a:chExt cx="858" cy="2504"/>
          </a:xfrm>
        </p:grpSpPr>
        <p:sp>
          <p:nvSpPr>
            <p:cNvPr id="73731" name="Line 42">
              <a:extLst>
                <a:ext uri="{FF2B5EF4-FFF2-40B4-BE49-F238E27FC236}">
                  <a16:creationId xmlns:a16="http://schemas.microsoft.com/office/drawing/2014/main" id="{DD4049BA-674C-E39D-161C-66199778B9E1}"/>
                </a:ext>
              </a:extLst>
            </p:cNvPr>
            <p:cNvSpPr>
              <a:spLocks noChangeShapeType="1"/>
            </p:cNvSpPr>
            <p:nvPr/>
          </p:nvSpPr>
          <p:spPr bwMode="auto">
            <a:xfrm rot="16200000" flipH="1">
              <a:off x="-716" y="1333"/>
              <a:ext cx="2167" cy="3"/>
            </a:xfrm>
            <a:prstGeom prst="line">
              <a:avLst/>
            </a:prstGeom>
            <a:noFill/>
            <a:ln w="38100">
              <a:solidFill>
                <a:srgbClr val="DE84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3732" name="Text Box 43">
              <a:extLst>
                <a:ext uri="{FF2B5EF4-FFF2-40B4-BE49-F238E27FC236}">
                  <a16:creationId xmlns:a16="http://schemas.microsoft.com/office/drawing/2014/main" id="{D9FF35FC-FDF8-6962-EBB9-011F5CC15296}"/>
                </a:ext>
              </a:extLst>
            </p:cNvPr>
            <p:cNvSpPr txBox="1">
              <a:spLocks noChangeArrowheads="1"/>
            </p:cNvSpPr>
            <p:nvPr/>
          </p:nvSpPr>
          <p:spPr bwMode="auto">
            <a:xfrm>
              <a:off x="-17" y="-86"/>
              <a:ext cx="858"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ea typeface="宋体" panose="02010600030101010101" pitchFamily="2" charset="-122"/>
                </a:rPr>
                <a:t>LRAS</a:t>
              </a:r>
              <a:endParaRPr lang="en-US" altLang="zh-CN" sz="1311" i="1" baseline="-25000" dirty="0">
                <a:ea typeface="宋体" panose="02010600030101010101" pitchFamily="2" charset="-122"/>
              </a:endParaRPr>
            </a:p>
          </p:txBody>
        </p:sp>
      </p:grpSp>
      <p:sp>
        <p:nvSpPr>
          <p:cNvPr id="73733" name="Rectangle 2">
            <a:extLst>
              <a:ext uri="{FF2B5EF4-FFF2-40B4-BE49-F238E27FC236}">
                <a16:creationId xmlns:a16="http://schemas.microsoft.com/office/drawing/2014/main" id="{DFF4EDA8-9D21-561E-9BF3-17DCAE19A520}"/>
              </a:ext>
            </a:extLst>
          </p:cNvPr>
          <p:cNvSpPr>
            <a:spLocks noGrp="1" noChangeArrowheads="1"/>
          </p:cNvSpPr>
          <p:nvPr>
            <p:ph type="title" idx="4294967295"/>
          </p:nvPr>
        </p:nvSpPr>
        <p:spPr>
          <a:xfrm>
            <a:off x="0" y="104034"/>
            <a:ext cx="4610100" cy="372170"/>
          </a:xfrm>
          <a:noFill/>
        </p:spPr>
        <p:txBody>
          <a:bodyPr/>
          <a:lstStyle/>
          <a:p>
            <a:pPr>
              <a:lnSpc>
                <a:spcPct val="110000"/>
              </a:lnSpc>
            </a:pPr>
            <a:r>
              <a:rPr lang="zh-CN" altLang="en-US" sz="1815">
                <a:ea typeface="宋体" panose="02010600030101010101" pitchFamily="2" charset="-122"/>
              </a:rPr>
              <a:t>短期总供给曲线与长期总供给曲线</a:t>
            </a:r>
          </a:p>
        </p:txBody>
      </p:sp>
      <p:grpSp>
        <p:nvGrpSpPr>
          <p:cNvPr id="73734" name="Group 6">
            <a:extLst>
              <a:ext uri="{FF2B5EF4-FFF2-40B4-BE49-F238E27FC236}">
                <a16:creationId xmlns:a16="http://schemas.microsoft.com/office/drawing/2014/main" id="{2E0B9E4E-D710-8D43-817F-FC4E4672DD2B}"/>
              </a:ext>
            </a:extLst>
          </p:cNvPr>
          <p:cNvGrpSpPr>
            <a:grpSpLocks/>
          </p:cNvGrpSpPr>
          <p:nvPr/>
        </p:nvGrpSpPr>
        <p:grpSpPr bwMode="auto">
          <a:xfrm>
            <a:off x="2075346" y="949219"/>
            <a:ext cx="2229816" cy="2134459"/>
            <a:chOff x="0" y="0"/>
            <a:chExt cx="2786" cy="2495"/>
          </a:xfrm>
        </p:grpSpPr>
        <p:grpSp>
          <p:nvGrpSpPr>
            <p:cNvPr id="73735" name="Group 7">
              <a:extLst>
                <a:ext uri="{FF2B5EF4-FFF2-40B4-BE49-F238E27FC236}">
                  <a16:creationId xmlns:a16="http://schemas.microsoft.com/office/drawing/2014/main" id="{66F772E4-37A6-086E-9435-49AD9B65A33B}"/>
                </a:ext>
              </a:extLst>
            </p:cNvPr>
            <p:cNvGrpSpPr>
              <a:grpSpLocks/>
            </p:cNvGrpSpPr>
            <p:nvPr/>
          </p:nvGrpSpPr>
          <p:grpSpPr bwMode="auto">
            <a:xfrm>
              <a:off x="118" y="252"/>
              <a:ext cx="2409" cy="2049"/>
              <a:chOff x="0" y="0"/>
              <a:chExt cx="2116" cy="2027"/>
            </a:xfrm>
          </p:grpSpPr>
          <p:sp>
            <p:nvSpPr>
              <p:cNvPr id="73736" name="Line 5">
                <a:extLst>
                  <a:ext uri="{FF2B5EF4-FFF2-40B4-BE49-F238E27FC236}">
                    <a16:creationId xmlns:a16="http://schemas.microsoft.com/office/drawing/2014/main" id="{5C15E857-473F-4EEE-49E3-E280A26F07B6}"/>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3737" name="Line 6">
                <a:extLst>
                  <a:ext uri="{FF2B5EF4-FFF2-40B4-BE49-F238E27FC236}">
                    <a16:creationId xmlns:a16="http://schemas.microsoft.com/office/drawing/2014/main" id="{178901C2-58B2-BAA3-B677-F0BED3B04DC2}"/>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3738" name="Text Box 7">
              <a:extLst>
                <a:ext uri="{FF2B5EF4-FFF2-40B4-BE49-F238E27FC236}">
                  <a16:creationId xmlns:a16="http://schemas.microsoft.com/office/drawing/2014/main" id="{E60E2260-5AED-AEE6-BEFB-99C195F467EA}"/>
                </a:ext>
              </a:extLst>
            </p:cNvPr>
            <p:cNvSpPr txBox="1">
              <a:spLocks noChangeArrowheads="1"/>
            </p:cNvSpPr>
            <p:nvPr/>
          </p:nvSpPr>
          <p:spPr bwMode="auto">
            <a:xfrm>
              <a:off x="0" y="0"/>
              <a:ext cx="267"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P</a:t>
              </a:r>
            </a:p>
          </p:txBody>
        </p:sp>
        <p:sp>
          <p:nvSpPr>
            <p:cNvPr id="73739" name="Text Box 8">
              <a:extLst>
                <a:ext uri="{FF2B5EF4-FFF2-40B4-BE49-F238E27FC236}">
                  <a16:creationId xmlns:a16="http://schemas.microsoft.com/office/drawing/2014/main" id="{55045EC4-F4AB-039E-E334-EDA7D319420E}"/>
                </a:ext>
              </a:extLst>
            </p:cNvPr>
            <p:cNvSpPr txBox="1">
              <a:spLocks noChangeArrowheads="1"/>
            </p:cNvSpPr>
            <p:nvPr/>
          </p:nvSpPr>
          <p:spPr bwMode="auto">
            <a:xfrm>
              <a:off x="2496" y="2151"/>
              <a:ext cx="29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Y</a:t>
              </a:r>
            </a:p>
          </p:txBody>
        </p:sp>
      </p:grpSp>
      <p:grpSp>
        <p:nvGrpSpPr>
          <p:cNvPr id="73740" name="Group 12">
            <a:extLst>
              <a:ext uri="{FF2B5EF4-FFF2-40B4-BE49-F238E27FC236}">
                <a16:creationId xmlns:a16="http://schemas.microsoft.com/office/drawing/2014/main" id="{6FD18E92-57BC-768C-1966-F5332B6906A5}"/>
              </a:ext>
            </a:extLst>
          </p:cNvPr>
          <p:cNvGrpSpPr>
            <a:grpSpLocks/>
          </p:cNvGrpSpPr>
          <p:nvPr/>
        </p:nvGrpSpPr>
        <p:grpSpPr bwMode="auto">
          <a:xfrm>
            <a:off x="2465924" y="1342199"/>
            <a:ext cx="1864849" cy="1294990"/>
            <a:chOff x="0" y="0"/>
            <a:chExt cx="2330" cy="1618"/>
          </a:xfrm>
        </p:grpSpPr>
        <p:sp>
          <p:nvSpPr>
            <p:cNvPr id="73741" name="Line 10">
              <a:extLst>
                <a:ext uri="{FF2B5EF4-FFF2-40B4-BE49-F238E27FC236}">
                  <a16:creationId xmlns:a16="http://schemas.microsoft.com/office/drawing/2014/main" id="{54004A4A-F6FB-7DCC-EE5E-F5A7D51C0234}"/>
                </a:ext>
              </a:extLst>
            </p:cNvPr>
            <p:cNvSpPr>
              <a:spLocks noChangeShapeType="1"/>
            </p:cNvSpPr>
            <p:nvPr/>
          </p:nvSpPr>
          <p:spPr bwMode="auto">
            <a:xfrm flipV="1">
              <a:off x="0" y="234"/>
              <a:ext cx="1497"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3742" name="Text Box 11">
              <a:extLst>
                <a:ext uri="{FF2B5EF4-FFF2-40B4-BE49-F238E27FC236}">
                  <a16:creationId xmlns:a16="http://schemas.microsoft.com/office/drawing/2014/main" id="{8112F443-C123-D8E5-6E5A-926DF14E01F9}"/>
                </a:ext>
              </a:extLst>
            </p:cNvPr>
            <p:cNvSpPr txBox="1">
              <a:spLocks noChangeArrowheads="1"/>
            </p:cNvSpPr>
            <p:nvPr/>
          </p:nvSpPr>
          <p:spPr bwMode="auto">
            <a:xfrm>
              <a:off x="1387" y="0"/>
              <a:ext cx="943"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ea typeface="宋体" panose="02010600030101010101" pitchFamily="2" charset="-122"/>
                </a:rPr>
                <a:t>SRAS</a:t>
              </a:r>
              <a:endParaRPr lang="en-US" altLang="zh-CN" sz="1311" i="1" baseline="-25000" dirty="0">
                <a:ea typeface="宋体" panose="02010600030101010101" pitchFamily="2" charset="-122"/>
              </a:endParaRPr>
            </a:p>
          </p:txBody>
        </p:sp>
      </p:grpSp>
      <p:grpSp>
        <p:nvGrpSpPr>
          <p:cNvPr id="73743" name="Group 15">
            <a:extLst>
              <a:ext uri="{FF2B5EF4-FFF2-40B4-BE49-F238E27FC236}">
                <a16:creationId xmlns:a16="http://schemas.microsoft.com/office/drawing/2014/main" id="{8D9F6F4F-DF50-4B34-AB61-44792340EAFD}"/>
              </a:ext>
            </a:extLst>
          </p:cNvPr>
          <p:cNvGrpSpPr>
            <a:grpSpLocks/>
          </p:cNvGrpSpPr>
          <p:nvPr/>
        </p:nvGrpSpPr>
        <p:grpSpPr bwMode="auto">
          <a:xfrm>
            <a:off x="1906468" y="1924864"/>
            <a:ext cx="1265377" cy="201691"/>
            <a:chOff x="0" y="0"/>
            <a:chExt cx="1581" cy="252"/>
          </a:xfrm>
        </p:grpSpPr>
        <p:sp>
          <p:nvSpPr>
            <p:cNvPr id="73744" name="Line 32">
              <a:extLst>
                <a:ext uri="{FF2B5EF4-FFF2-40B4-BE49-F238E27FC236}">
                  <a16:creationId xmlns:a16="http://schemas.microsoft.com/office/drawing/2014/main" id="{D55B5207-2021-8B34-4142-438EBED1DB41}"/>
                </a:ext>
              </a:extLst>
            </p:cNvPr>
            <p:cNvSpPr>
              <a:spLocks noChangeShapeType="1"/>
            </p:cNvSpPr>
            <p:nvPr/>
          </p:nvSpPr>
          <p:spPr bwMode="auto">
            <a:xfrm flipH="1">
              <a:off x="332" y="117"/>
              <a:ext cx="120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3745" name="Text Box 33">
              <a:extLst>
                <a:ext uri="{FF2B5EF4-FFF2-40B4-BE49-F238E27FC236}">
                  <a16:creationId xmlns:a16="http://schemas.microsoft.com/office/drawing/2014/main" id="{8F7820C9-3E60-9A3E-8BA2-73DEF3B7028B}"/>
                </a:ext>
              </a:extLst>
            </p:cNvPr>
            <p:cNvSpPr txBox="1">
              <a:spLocks noChangeArrowheads="1"/>
            </p:cNvSpPr>
            <p:nvPr/>
          </p:nvSpPr>
          <p:spPr bwMode="auto">
            <a:xfrm>
              <a:off x="0" y="0"/>
              <a:ext cx="3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P</a:t>
              </a:r>
              <a:r>
                <a:rPr lang="en-US" altLang="zh-CN" sz="1311" b="1" baseline="-25000">
                  <a:ea typeface="宋体" panose="02010600030101010101" pitchFamily="2" charset="-122"/>
                </a:rPr>
                <a:t>E</a:t>
              </a:r>
            </a:p>
          </p:txBody>
        </p:sp>
        <p:sp>
          <p:nvSpPr>
            <p:cNvPr id="73746" name="Oval 34">
              <a:extLst>
                <a:ext uri="{FF2B5EF4-FFF2-40B4-BE49-F238E27FC236}">
                  <a16:creationId xmlns:a16="http://schemas.microsoft.com/office/drawing/2014/main" id="{487E2667-FDF2-1C82-14CB-1ACC95103A36}"/>
                </a:ext>
              </a:extLst>
            </p:cNvPr>
            <p:cNvSpPr>
              <a:spLocks noChangeArrowheads="1"/>
            </p:cNvSpPr>
            <p:nvPr/>
          </p:nvSpPr>
          <p:spPr bwMode="auto">
            <a:xfrm>
              <a:off x="1493"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73747" name="Text Box 44">
            <a:extLst>
              <a:ext uri="{FF2B5EF4-FFF2-40B4-BE49-F238E27FC236}">
                <a16:creationId xmlns:a16="http://schemas.microsoft.com/office/drawing/2014/main" id="{54F5D4F0-428B-465B-740D-D3FE42150C2C}"/>
              </a:ext>
            </a:extLst>
          </p:cNvPr>
          <p:cNvSpPr txBox="1">
            <a:spLocks noChangeArrowheads="1"/>
          </p:cNvSpPr>
          <p:nvPr/>
        </p:nvSpPr>
        <p:spPr bwMode="auto">
          <a:xfrm>
            <a:off x="3015774" y="2938926"/>
            <a:ext cx="246512" cy="186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sp>
        <p:nvSpPr>
          <p:cNvPr id="73748" name="Rectangle 45">
            <a:extLst>
              <a:ext uri="{FF2B5EF4-FFF2-40B4-BE49-F238E27FC236}">
                <a16:creationId xmlns:a16="http://schemas.microsoft.com/office/drawing/2014/main" id="{9157DB21-F5B1-60CC-D934-0846304323D9}"/>
              </a:ext>
            </a:extLst>
          </p:cNvPr>
          <p:cNvSpPr>
            <a:spLocks noGrp="1" noChangeArrowheads="1"/>
          </p:cNvSpPr>
          <p:nvPr>
            <p:ph type="body" idx="4294967295"/>
          </p:nvPr>
        </p:nvSpPr>
        <p:spPr>
          <a:xfrm>
            <a:off x="270523" y="2018506"/>
            <a:ext cx="1449461" cy="693116"/>
          </a:xfrm>
          <a:noFill/>
          <a:ln>
            <a:solidFill>
              <a:srgbClr val="FF0000"/>
            </a:solidFill>
            <a:miter lim="800000"/>
            <a:headEnd/>
            <a:tailEnd/>
          </a:ln>
        </p:spPr>
        <p:txBody>
          <a:bodyPr/>
          <a:lstStyle/>
          <a:p>
            <a:pPr marL="146477" indent="-146477">
              <a:lnSpc>
                <a:spcPct val="125000"/>
              </a:lnSpc>
              <a:buNone/>
            </a:pPr>
            <a:r>
              <a:rPr lang="zh-CN" altLang="zh-CN" sz="1311">
                <a:ea typeface="宋体" panose="02010600030101010101" pitchFamily="2" charset="-122"/>
              </a:rPr>
              <a:t>       在长期中，</a:t>
            </a:r>
          </a:p>
          <a:p>
            <a:pPr marL="146477" indent="-146477" algn="ctr">
              <a:lnSpc>
                <a:spcPct val="125000"/>
              </a:lnSpc>
              <a:buNone/>
            </a:pPr>
            <a:r>
              <a:rPr lang="zh-CN" altLang="zh-CN" sz="1311" b="1" i="1">
                <a:ea typeface="宋体" panose="02010600030101010101" pitchFamily="2" charset="-122"/>
              </a:rPr>
              <a:t>P</a:t>
            </a:r>
            <a:r>
              <a:rPr lang="zh-CN" altLang="zh-CN" sz="1311" b="1" baseline="-25000">
                <a:ea typeface="宋体" panose="02010600030101010101" pitchFamily="2" charset="-122"/>
              </a:rPr>
              <a:t>E</a:t>
            </a:r>
            <a:r>
              <a:rPr lang="zh-CN" altLang="zh-CN" sz="1311">
                <a:ea typeface="宋体" panose="02010600030101010101" pitchFamily="2" charset="-122"/>
              </a:rPr>
              <a:t> = </a:t>
            </a:r>
            <a:r>
              <a:rPr lang="zh-CN" altLang="zh-CN" sz="1311" b="1" i="1">
                <a:ea typeface="宋体" panose="02010600030101010101" pitchFamily="2" charset="-122"/>
              </a:rPr>
              <a:t>P</a:t>
            </a:r>
            <a:r>
              <a:rPr lang="zh-CN" altLang="zh-CN" sz="1311">
                <a:ea typeface="宋体" panose="02010600030101010101" pitchFamily="2" charset="-122"/>
              </a:rPr>
              <a:t> ，</a:t>
            </a:r>
            <a:r>
              <a:rPr lang="zh-CN" altLang="zh-CN" sz="1311" b="1" i="1">
                <a:ea typeface="宋体" panose="02010600030101010101" pitchFamily="2" charset="-122"/>
              </a:rPr>
              <a:t>Y</a:t>
            </a:r>
            <a:r>
              <a:rPr lang="zh-CN" altLang="zh-CN" sz="1311">
                <a:ea typeface="宋体" panose="02010600030101010101" pitchFamily="2" charset="-122"/>
              </a:rPr>
              <a:t> = </a:t>
            </a:r>
            <a:r>
              <a:rPr lang="zh-CN" altLang="zh-CN" sz="1311" b="1" i="1">
                <a:ea typeface="宋体" panose="02010600030101010101" pitchFamily="2" charset="-122"/>
              </a:rPr>
              <a:t>Y</a:t>
            </a:r>
            <a:r>
              <a:rPr lang="zh-CN" altLang="zh-CN" sz="1311" b="1" baseline="-25000">
                <a:ea typeface="宋体" panose="02010600030101010101" pitchFamily="2" charset="-122"/>
              </a:rPr>
              <a:t>N</a:t>
            </a:r>
            <a:r>
              <a:rPr lang="zh-CN" altLang="zh-CN" sz="1311">
                <a:ea typeface="宋体" panose="02010600030101010101" pitchFamily="2" charset="-122"/>
              </a:rPr>
              <a:t>.</a:t>
            </a:r>
          </a:p>
        </p:txBody>
      </p:sp>
      <p:sp>
        <p:nvSpPr>
          <p:cNvPr id="73749" name="FlagCount" hidden="1">
            <a:hlinkClick r:id="rId3" action="ppaction://hlinkfile"/>
            <a:extLst>
              <a:ext uri="{FF2B5EF4-FFF2-40B4-BE49-F238E27FC236}">
                <a16:creationId xmlns:a16="http://schemas.microsoft.com/office/drawing/2014/main" id="{D7FD9C9C-258A-13B2-88FC-B15B20297C5A}"/>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
        <p:nvSpPr>
          <p:cNvPr id="73750" name="Rectangle 47">
            <a:extLst>
              <a:ext uri="{FF2B5EF4-FFF2-40B4-BE49-F238E27FC236}">
                <a16:creationId xmlns:a16="http://schemas.microsoft.com/office/drawing/2014/main" id="{D870EC55-44D3-FD8A-70A8-5370259F4782}"/>
              </a:ext>
            </a:extLst>
          </p:cNvPr>
          <p:cNvSpPr>
            <a:spLocks noChangeArrowheads="1"/>
          </p:cNvSpPr>
          <p:nvPr/>
        </p:nvSpPr>
        <p:spPr bwMode="auto">
          <a:xfrm>
            <a:off x="72813" y="1119697"/>
            <a:ext cx="1920896" cy="355362"/>
          </a:xfrm>
          <a:prstGeom prst="rect">
            <a:avLst/>
          </a:prstGeom>
          <a:solidFill>
            <a:srgbClr val="CCFFCC"/>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1412" b="1" i="1" dirty="0">
                <a:ea typeface="宋体" panose="02010600030101010101" pitchFamily="2" charset="-122"/>
              </a:rPr>
              <a:t>Y</a:t>
            </a:r>
            <a:r>
              <a:rPr lang="en-US" altLang="zh-CN" sz="1412" dirty="0">
                <a:ea typeface="宋体" panose="02010600030101010101" pitchFamily="2" charset="-122"/>
              </a:rPr>
              <a:t>  = </a:t>
            </a:r>
            <a:r>
              <a:rPr lang="en-US" altLang="zh-CN" sz="504" dirty="0">
                <a:ea typeface="宋体" panose="02010600030101010101" pitchFamily="2" charset="-122"/>
              </a:rPr>
              <a:t> </a:t>
            </a:r>
            <a:r>
              <a:rPr lang="en-US" altLang="zh-CN" sz="1412" b="1" i="1" dirty="0">
                <a:ea typeface="宋体" panose="02010600030101010101" pitchFamily="2" charset="-122"/>
              </a:rPr>
              <a:t>Y</a:t>
            </a:r>
            <a:r>
              <a:rPr lang="en-US" altLang="zh-CN" sz="1412" b="1" baseline="-25000" dirty="0">
                <a:ea typeface="宋体" panose="02010600030101010101" pitchFamily="2" charset="-122"/>
              </a:rPr>
              <a:t>N</a:t>
            </a:r>
            <a:r>
              <a:rPr lang="en-US" altLang="zh-CN" sz="1412" dirty="0">
                <a:ea typeface="宋体" panose="02010600030101010101" pitchFamily="2" charset="-122"/>
              </a:rPr>
              <a:t>  +  </a:t>
            </a:r>
            <a:r>
              <a:rPr lang="en-US" altLang="zh-CN" sz="1412" b="1" i="1" dirty="0">
                <a:latin typeface="Times New Roman" panose="02020603050405020304" pitchFamily="18" charset="0"/>
                <a:ea typeface="宋体" panose="02010600030101010101" pitchFamily="2" charset="-122"/>
              </a:rPr>
              <a:t>a</a:t>
            </a:r>
            <a:r>
              <a:rPr lang="en-US" altLang="zh-CN" sz="504" dirty="0">
                <a:ea typeface="宋体" panose="02010600030101010101" pitchFamily="2" charset="-122"/>
              </a:rPr>
              <a:t> </a:t>
            </a:r>
            <a:r>
              <a:rPr lang="en-US" altLang="zh-CN" sz="1412" dirty="0">
                <a:ea typeface="宋体" panose="02010600030101010101" pitchFamily="2" charset="-122"/>
              </a:rPr>
              <a:t>(</a:t>
            </a:r>
            <a:r>
              <a:rPr lang="en-US" altLang="zh-CN" sz="1412" b="1" i="1" dirty="0">
                <a:ea typeface="宋体" panose="02010600030101010101" pitchFamily="2" charset="-122"/>
              </a:rPr>
              <a:t>P</a:t>
            </a:r>
            <a:r>
              <a:rPr lang="en-US" altLang="zh-CN" sz="1412" b="1" dirty="0">
                <a:ea typeface="宋体" panose="02010600030101010101" pitchFamily="2" charset="-122"/>
              </a:rPr>
              <a:t>  </a:t>
            </a:r>
            <a:r>
              <a:rPr lang="en-US" altLang="zh-CN" sz="1412" dirty="0">
                <a:ea typeface="宋体" panose="02010600030101010101" pitchFamily="2" charset="-122"/>
              </a:rPr>
              <a:t>–  </a:t>
            </a:r>
            <a:r>
              <a:rPr lang="en-US" altLang="zh-CN" sz="1412" b="1" i="1" dirty="0">
                <a:ea typeface="宋体" panose="02010600030101010101" pitchFamily="2" charset="-122"/>
              </a:rPr>
              <a:t>P</a:t>
            </a:r>
            <a:r>
              <a:rPr lang="en-US" altLang="zh-CN" sz="1412" b="1" baseline="-25000" dirty="0">
                <a:ea typeface="宋体" panose="02010600030101010101" pitchFamily="2" charset="-122"/>
              </a:rPr>
              <a:t>E</a:t>
            </a:r>
            <a:r>
              <a:rPr lang="en-US" altLang="zh-CN" sz="1412" dirty="0">
                <a:ea typeface="宋体" panose="02010600030101010101" pitchFamily="2" charset="-122"/>
              </a:rPr>
              <a:t>)</a:t>
            </a:r>
          </a:p>
        </p:txBody>
      </p:sp>
    </p:spTree>
    <p:extLst>
      <p:ext uri="{BB962C8B-B14F-4D97-AF65-F5344CB8AC3E}">
        <p14:creationId xmlns:p14="http://schemas.microsoft.com/office/powerpoint/2010/main" val="2479020861"/>
      </p:ext>
    </p:extLst>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E709A91-F677-D99B-84DB-8F9EF812674C}"/>
              </a:ext>
            </a:extLst>
          </p:cNvPr>
          <p:cNvSpPr/>
          <p:nvPr/>
        </p:nvSpPr>
        <p:spPr>
          <a:xfrm>
            <a:off x="0" y="1154311"/>
            <a:ext cx="4610100" cy="57606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3"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defTabSz="23052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ea typeface="等线" panose="02010600030101010101" pitchFamily="2" charset="-122"/>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solidFill>
                <a:prstClr val="black"/>
              </a:solidFill>
              <a:latin typeface="Times New Roman"/>
              <a:cs typeface="Times New Roman"/>
            </a:endParaRPr>
          </a:p>
        </p:txBody>
      </p:sp>
      <p:sp>
        <p:nvSpPr>
          <p:cNvPr id="4" name="文本框 3">
            <a:extLst>
              <a:ext uri="{FF2B5EF4-FFF2-40B4-BE49-F238E27FC236}">
                <a16:creationId xmlns:a16="http://schemas.microsoft.com/office/drawing/2014/main" id="{AC21A519-07F0-8968-038B-EF91CCC02214}"/>
              </a:ext>
            </a:extLst>
          </p:cNvPr>
          <p:cNvSpPr txBox="1"/>
          <p:nvPr/>
        </p:nvSpPr>
        <p:spPr>
          <a:xfrm>
            <a:off x="144810" y="1154311"/>
            <a:ext cx="4320480" cy="482440"/>
          </a:xfrm>
          <a:prstGeom prst="rect">
            <a:avLst/>
          </a:prstGeom>
          <a:noFill/>
        </p:spPr>
        <p:txBody>
          <a:bodyPr wrap="square">
            <a:spAutoFit/>
          </a:bodyPr>
          <a:lstStyle/>
          <a:p>
            <a:pPr algn="ctr" fontAlgn="base">
              <a:lnSpc>
                <a:spcPct val="150000"/>
              </a:lnSpc>
              <a:spcBef>
                <a:spcPct val="0"/>
              </a:spcBef>
              <a:spcAft>
                <a:spcPct val="0"/>
              </a:spcAft>
            </a:pPr>
            <a:r>
              <a:rPr kumimoji="1" lang="zh-CN" altLang="en-US" sz="1916" dirty="0">
                <a:latin typeface="Microsoft YaHei" panose="020B0503020204020204" pitchFamily="34" charset="-122"/>
                <a:ea typeface="Microsoft YaHei" panose="020B0503020204020204" pitchFamily="34" charset="-122"/>
                <a:cs typeface="+mj-cs"/>
              </a:rPr>
              <a:t>第</a:t>
            </a:r>
            <a:r>
              <a:rPr kumimoji="1" lang="en-US" altLang="zh-CN" sz="1916" dirty="0">
                <a:latin typeface="Microsoft YaHei" panose="020B0503020204020204" pitchFamily="34" charset="-122"/>
                <a:ea typeface="Microsoft YaHei" panose="020B0503020204020204" pitchFamily="34" charset="-122"/>
                <a:cs typeface="+mj-cs"/>
              </a:rPr>
              <a:t>3</a:t>
            </a:r>
            <a:r>
              <a:rPr kumimoji="1" lang="zh-CN" altLang="en-US" sz="1916" dirty="0">
                <a:latin typeface="Microsoft YaHei" panose="020B0503020204020204" pitchFamily="34" charset="-122"/>
                <a:ea typeface="Microsoft YaHei" panose="020B0503020204020204" pitchFamily="34" charset="-122"/>
                <a:cs typeface="+mj-cs"/>
              </a:rPr>
              <a:t>节  总供给与劳动力市场</a:t>
            </a:r>
          </a:p>
        </p:txBody>
      </p:sp>
      <p:sp>
        <p:nvSpPr>
          <p:cNvPr id="3" name="文本框 2">
            <a:extLst>
              <a:ext uri="{FF2B5EF4-FFF2-40B4-BE49-F238E27FC236}">
                <a16:creationId xmlns:a16="http://schemas.microsoft.com/office/drawing/2014/main" id="{02DA8F33-1A44-66DA-3805-196B4B01BA54}"/>
              </a:ext>
            </a:extLst>
          </p:cNvPr>
          <p:cNvSpPr txBox="1"/>
          <p:nvPr/>
        </p:nvSpPr>
        <p:spPr>
          <a:xfrm>
            <a:off x="1224930" y="1746266"/>
            <a:ext cx="2356658" cy="369332"/>
          </a:xfrm>
          <a:prstGeom prst="rect">
            <a:avLst/>
          </a:prstGeom>
          <a:noFill/>
        </p:spPr>
        <p:txBody>
          <a:bodyPr wrap="square">
            <a:spAutoFit/>
          </a:bodyPr>
          <a:lstStyle/>
          <a:p>
            <a:pPr algn="ctr"/>
            <a:r>
              <a:rPr lang="zh-CN" altLang="en-US" sz="1800" dirty="0">
                <a:latin typeface="KaiTi" panose="02010609060101010101" pitchFamily="49" charset="-122"/>
                <a:ea typeface="KaiTi" panose="02010609060101010101" pitchFamily="49" charset="-122"/>
              </a:rPr>
              <a:t>补充知识自学</a:t>
            </a:r>
            <a:endParaRPr lang="zh-CN" altLang="en-US"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765435369"/>
      </p:ext>
    </p:extLst>
  </p:cSld>
  <p:clrMapOvr>
    <a:masterClrMapping/>
  </p:clrMapOvr>
  <p:transition>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10" b="1" dirty="0"/>
              <a:t>社会总产出</a:t>
            </a:r>
            <a:r>
              <a:rPr lang="en-US" altLang="zh-CN" sz="1210" b="1" dirty="0"/>
              <a:t>total product</a:t>
            </a:r>
          </a:p>
          <a:p>
            <a:r>
              <a:rPr lang="zh-CN" altLang="en-US" sz="1210" dirty="0"/>
              <a:t>是指一个国家或社会在一定时期内（通常为一年内）向社会所提供的最终产品和劳务的总量，既包括实物总量，也包括价值总量。</a:t>
            </a:r>
            <a:endParaRPr lang="en-US" altLang="zh-CN" sz="1210" dirty="0"/>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48</a:t>
            </a:fld>
            <a:endParaRPr lang="zh-CN" altLang="en-US"/>
          </a:p>
        </p:txBody>
      </p:sp>
      <p:sp>
        <p:nvSpPr>
          <p:cNvPr id="7" name="标题 6">
            <a:extLst>
              <a:ext uri="{FF2B5EF4-FFF2-40B4-BE49-F238E27FC236}">
                <a16:creationId xmlns:a16="http://schemas.microsoft.com/office/drawing/2014/main" id="{31B139D8-705F-D566-888A-7FD4DE609DE3}"/>
              </a:ext>
            </a:extLst>
          </p:cNvPr>
          <p:cNvSpPr>
            <a:spLocks noGrp="1"/>
          </p:cNvSpPr>
          <p:nvPr>
            <p:ph type="title"/>
          </p:nvPr>
        </p:nvSpPr>
        <p:spPr/>
        <p:txBody>
          <a:bodyPr/>
          <a:lstStyle/>
          <a:p>
            <a:r>
              <a:rPr kumimoji="1" lang="zh-CN" altLang="en-US" dirty="0"/>
              <a:t>总供给的决定因素</a:t>
            </a:r>
          </a:p>
        </p:txBody>
      </p:sp>
      <p:sp>
        <p:nvSpPr>
          <p:cNvPr id="10" name="Rectangle 6">
            <a:extLst>
              <a:ext uri="{FF2B5EF4-FFF2-40B4-BE49-F238E27FC236}">
                <a16:creationId xmlns:a16="http://schemas.microsoft.com/office/drawing/2014/main" id="{C32683C1-B277-56D5-18E5-06E17B5D7D5F}"/>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48</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53569AAF-A7B2-1C35-1504-737FCD496DEE}"/>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2894637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81B8BD1-9BFE-4172-8AD2-A8D66FE958B5}"/>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49</a:t>
            </a:fld>
            <a:endParaRPr lang="zh-CN" altLang="en-US"/>
          </a:p>
        </p:txBody>
      </p:sp>
      <p:pic>
        <p:nvPicPr>
          <p:cNvPr id="8" name="图片 7">
            <a:extLst>
              <a:ext uri="{FF2B5EF4-FFF2-40B4-BE49-F238E27FC236}">
                <a16:creationId xmlns:a16="http://schemas.microsoft.com/office/drawing/2014/main" id="{22D05E96-3072-4A3B-97DE-BA960DBA9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944" y="904803"/>
            <a:ext cx="1141635" cy="726000"/>
          </a:xfrm>
          <a:prstGeom prst="rect">
            <a:avLst/>
          </a:prstGeom>
          <a:ln>
            <a:noFill/>
          </a:ln>
          <a:effectLst>
            <a:outerShdw blurRad="292100" dist="139700" dir="2700000" algn="tl" rotWithShape="0">
              <a:srgbClr val="333333">
                <a:alpha val="65000"/>
              </a:srgbClr>
            </a:outerShdw>
          </a:effectLst>
        </p:spPr>
      </p:pic>
      <p:pic>
        <p:nvPicPr>
          <p:cNvPr id="9" name="图片 8">
            <a:extLst>
              <a:ext uri="{FF2B5EF4-FFF2-40B4-BE49-F238E27FC236}">
                <a16:creationId xmlns:a16="http://schemas.microsoft.com/office/drawing/2014/main" id="{4A43DAA6-8A73-4089-8098-83B0E683AA2F}"/>
              </a:ext>
            </a:extLst>
          </p:cNvPr>
          <p:cNvPicPr>
            <a:picLocks noChangeAspect="1"/>
          </p:cNvPicPr>
          <p:nvPr/>
        </p:nvPicPr>
        <p:blipFill>
          <a:blip r:embed="rId3"/>
          <a:stretch>
            <a:fillRect/>
          </a:stretch>
        </p:blipFill>
        <p:spPr>
          <a:xfrm>
            <a:off x="1734233" y="904803"/>
            <a:ext cx="1141635" cy="726000"/>
          </a:xfrm>
          <a:prstGeom prst="rect">
            <a:avLst/>
          </a:prstGeom>
          <a:ln>
            <a:noFill/>
          </a:ln>
          <a:effectLst>
            <a:outerShdw blurRad="292100" dist="139700" dir="2700000" algn="tl" rotWithShape="0">
              <a:srgbClr val="333333">
                <a:alpha val="65000"/>
              </a:srgbClr>
            </a:outerShdw>
          </a:effectLst>
        </p:spPr>
      </p:pic>
      <p:pic>
        <p:nvPicPr>
          <p:cNvPr id="11" name="图片 10">
            <a:extLst>
              <a:ext uri="{FF2B5EF4-FFF2-40B4-BE49-F238E27FC236}">
                <a16:creationId xmlns:a16="http://schemas.microsoft.com/office/drawing/2014/main" id="{21EAA63E-015F-421E-88E2-EFEC8EFA1ECE}"/>
              </a:ext>
            </a:extLst>
          </p:cNvPr>
          <p:cNvPicPr>
            <a:picLocks noChangeAspect="1"/>
          </p:cNvPicPr>
          <p:nvPr/>
        </p:nvPicPr>
        <p:blipFill rotWithShape="1">
          <a:blip r:embed="rId4">
            <a:extLst>
              <a:ext uri="{28A0092B-C50C-407E-A947-70E740481C1C}">
                <a14:useLocalDpi xmlns:a14="http://schemas.microsoft.com/office/drawing/2010/main" val="0"/>
              </a:ext>
            </a:extLst>
          </a:blip>
          <a:srcRect l="12303" t="20305" r="5979" b="27873"/>
          <a:stretch/>
        </p:blipFill>
        <p:spPr>
          <a:xfrm>
            <a:off x="316944" y="1982930"/>
            <a:ext cx="1141635" cy="723964"/>
          </a:xfrm>
          <a:prstGeom prst="rect">
            <a:avLst/>
          </a:prstGeom>
          <a:ln>
            <a:noFill/>
          </a:ln>
          <a:effectLst>
            <a:outerShdw blurRad="292100" dist="139700" dir="2700000" algn="tl" rotWithShape="0">
              <a:srgbClr val="333333">
                <a:alpha val="65000"/>
              </a:srgbClr>
            </a:outerShdw>
          </a:effectLst>
        </p:spPr>
      </p:pic>
      <p:pic>
        <p:nvPicPr>
          <p:cNvPr id="13" name="图片 12">
            <a:extLst>
              <a:ext uri="{FF2B5EF4-FFF2-40B4-BE49-F238E27FC236}">
                <a16:creationId xmlns:a16="http://schemas.microsoft.com/office/drawing/2014/main" id="{E20B0037-6CD5-42C7-AD7B-88B32B5374B7}"/>
              </a:ext>
            </a:extLst>
          </p:cNvPr>
          <p:cNvPicPr>
            <a:picLocks noChangeAspect="1"/>
          </p:cNvPicPr>
          <p:nvPr/>
        </p:nvPicPr>
        <p:blipFill>
          <a:blip r:embed="rId5"/>
          <a:stretch>
            <a:fillRect/>
          </a:stretch>
        </p:blipFill>
        <p:spPr>
          <a:xfrm>
            <a:off x="1734233" y="1982930"/>
            <a:ext cx="1141635" cy="726000"/>
          </a:xfrm>
          <a:prstGeom prst="rect">
            <a:avLst/>
          </a:prstGeom>
          <a:ln>
            <a:noFill/>
          </a:ln>
          <a:effectLst>
            <a:outerShdw blurRad="292100" dist="139700" dir="2700000" algn="tl" rotWithShape="0">
              <a:srgbClr val="333333">
                <a:alpha val="65000"/>
              </a:srgbClr>
            </a:outerShdw>
          </a:effectLst>
        </p:spPr>
      </p:pic>
      <p:sp>
        <p:nvSpPr>
          <p:cNvPr id="14" name="矩形 13">
            <a:extLst>
              <a:ext uri="{FF2B5EF4-FFF2-40B4-BE49-F238E27FC236}">
                <a16:creationId xmlns:a16="http://schemas.microsoft.com/office/drawing/2014/main" id="{C028CEF8-D1C5-4D89-BC8D-E2BB0D90A16D}"/>
              </a:ext>
            </a:extLst>
          </p:cNvPr>
          <p:cNvSpPr/>
          <p:nvPr/>
        </p:nvSpPr>
        <p:spPr>
          <a:xfrm>
            <a:off x="316944" y="1644597"/>
            <a:ext cx="1141636" cy="371768"/>
          </a:xfrm>
          <a:prstGeom prst="rect">
            <a:avLst/>
          </a:prstGeom>
        </p:spPr>
        <p:txBody>
          <a:bodyPr wrap="square">
            <a:spAutoFit/>
          </a:bodyPr>
          <a:lstStyle/>
          <a:p>
            <a:pPr algn="ctr"/>
            <a:r>
              <a:rPr lang="zh-CN" altLang="en-US" sz="908" dirty="0"/>
              <a:t>生产力发展水平</a:t>
            </a:r>
            <a:endParaRPr lang="en-US" altLang="zh-CN" sz="908" dirty="0"/>
          </a:p>
          <a:p>
            <a:pPr algn="ctr"/>
            <a:r>
              <a:rPr lang="zh-CN" altLang="en-US" sz="908" dirty="0"/>
              <a:t>（技术）</a:t>
            </a:r>
            <a:endParaRPr lang="en-US" altLang="zh-CN" sz="908" dirty="0"/>
          </a:p>
        </p:txBody>
      </p:sp>
      <p:sp>
        <p:nvSpPr>
          <p:cNvPr id="15" name="矩形 14">
            <a:extLst>
              <a:ext uri="{FF2B5EF4-FFF2-40B4-BE49-F238E27FC236}">
                <a16:creationId xmlns:a16="http://schemas.microsoft.com/office/drawing/2014/main" id="{720CD680-80C3-4D7D-9920-2DAD0DAD9D5F}"/>
              </a:ext>
            </a:extLst>
          </p:cNvPr>
          <p:cNvSpPr/>
          <p:nvPr/>
        </p:nvSpPr>
        <p:spPr>
          <a:xfrm>
            <a:off x="1734233" y="1637273"/>
            <a:ext cx="1141635" cy="511487"/>
          </a:xfrm>
          <a:prstGeom prst="rect">
            <a:avLst/>
          </a:prstGeom>
        </p:spPr>
        <p:txBody>
          <a:bodyPr wrap="square">
            <a:spAutoFit/>
          </a:bodyPr>
          <a:lstStyle/>
          <a:p>
            <a:pPr algn="ctr"/>
            <a:r>
              <a:rPr lang="zh-CN" altLang="en-US" sz="908" dirty="0"/>
              <a:t>资本供应与资本费用</a:t>
            </a:r>
            <a:endParaRPr lang="en-US" altLang="zh-CN" sz="908" dirty="0"/>
          </a:p>
          <a:p>
            <a:pPr algn="ctr"/>
            <a:r>
              <a:rPr lang="zh-CN" altLang="en-US" sz="908" dirty="0"/>
              <a:t>（资本）</a:t>
            </a:r>
          </a:p>
        </p:txBody>
      </p:sp>
      <p:sp>
        <p:nvSpPr>
          <p:cNvPr id="16" name="矩形 15">
            <a:extLst>
              <a:ext uri="{FF2B5EF4-FFF2-40B4-BE49-F238E27FC236}">
                <a16:creationId xmlns:a16="http://schemas.microsoft.com/office/drawing/2014/main" id="{CA1C9D53-D7E7-4B0B-95C4-B47A04372FDD}"/>
              </a:ext>
            </a:extLst>
          </p:cNvPr>
          <p:cNvSpPr/>
          <p:nvPr/>
        </p:nvSpPr>
        <p:spPr>
          <a:xfrm>
            <a:off x="316944" y="2749626"/>
            <a:ext cx="1141635" cy="232051"/>
          </a:xfrm>
          <a:prstGeom prst="rect">
            <a:avLst/>
          </a:prstGeom>
        </p:spPr>
        <p:txBody>
          <a:bodyPr wrap="square">
            <a:spAutoFit/>
          </a:bodyPr>
          <a:lstStyle/>
          <a:p>
            <a:pPr algn="ctr"/>
            <a:r>
              <a:rPr lang="zh-CN" altLang="en-US" sz="908" dirty="0"/>
              <a:t>劳动力</a:t>
            </a:r>
          </a:p>
        </p:txBody>
      </p:sp>
      <p:sp>
        <p:nvSpPr>
          <p:cNvPr id="17" name="矩形 16">
            <a:extLst>
              <a:ext uri="{FF2B5EF4-FFF2-40B4-BE49-F238E27FC236}">
                <a16:creationId xmlns:a16="http://schemas.microsoft.com/office/drawing/2014/main" id="{A6445CE4-6831-45C2-ABC0-636995C01F06}"/>
              </a:ext>
            </a:extLst>
          </p:cNvPr>
          <p:cNvSpPr/>
          <p:nvPr/>
        </p:nvSpPr>
        <p:spPr>
          <a:xfrm>
            <a:off x="1734233" y="2749626"/>
            <a:ext cx="1141635" cy="371768"/>
          </a:xfrm>
          <a:prstGeom prst="rect">
            <a:avLst/>
          </a:prstGeom>
        </p:spPr>
        <p:txBody>
          <a:bodyPr wrap="square">
            <a:spAutoFit/>
          </a:bodyPr>
          <a:lstStyle/>
          <a:p>
            <a:r>
              <a:rPr lang="zh-CN" altLang="en-US" sz="908" dirty="0"/>
              <a:t>生产要素组合方式</a:t>
            </a:r>
            <a:endParaRPr lang="en-US" altLang="zh-CN" sz="908" dirty="0"/>
          </a:p>
          <a:p>
            <a:r>
              <a:rPr lang="zh-CN" altLang="en-US" sz="908" dirty="0"/>
              <a:t>（企业管理水平）</a:t>
            </a:r>
          </a:p>
        </p:txBody>
      </p:sp>
      <p:pic>
        <p:nvPicPr>
          <p:cNvPr id="18" name="图片 17">
            <a:extLst>
              <a:ext uri="{FF2B5EF4-FFF2-40B4-BE49-F238E27FC236}">
                <a16:creationId xmlns:a16="http://schemas.microsoft.com/office/drawing/2014/main" id="{70F6EC1A-3550-45D0-8F38-02E8CDA282C9}"/>
              </a:ext>
            </a:extLst>
          </p:cNvPr>
          <p:cNvPicPr>
            <a:picLocks noChangeAspect="1"/>
          </p:cNvPicPr>
          <p:nvPr/>
        </p:nvPicPr>
        <p:blipFill>
          <a:blip r:embed="rId6"/>
          <a:stretch>
            <a:fillRect/>
          </a:stretch>
        </p:blipFill>
        <p:spPr>
          <a:xfrm>
            <a:off x="3200752" y="1445544"/>
            <a:ext cx="1211768" cy="723964"/>
          </a:xfrm>
          <a:prstGeom prst="rect">
            <a:avLst/>
          </a:prstGeom>
          <a:ln>
            <a:noFill/>
          </a:ln>
          <a:effectLst>
            <a:outerShdw blurRad="292100" dist="139700" dir="2700000" algn="tl" rotWithShape="0">
              <a:srgbClr val="333333">
                <a:alpha val="65000"/>
              </a:srgbClr>
            </a:outerShdw>
          </a:effectLst>
        </p:spPr>
      </p:pic>
      <p:sp>
        <p:nvSpPr>
          <p:cNvPr id="19" name="矩形 18">
            <a:extLst>
              <a:ext uri="{FF2B5EF4-FFF2-40B4-BE49-F238E27FC236}">
                <a16:creationId xmlns:a16="http://schemas.microsoft.com/office/drawing/2014/main" id="{0F6C39D8-EEFD-436E-8305-1A0E4A9E4AF0}"/>
              </a:ext>
            </a:extLst>
          </p:cNvPr>
          <p:cNvSpPr/>
          <p:nvPr/>
        </p:nvSpPr>
        <p:spPr>
          <a:xfrm>
            <a:off x="3200751" y="2169508"/>
            <a:ext cx="1211768" cy="232051"/>
          </a:xfrm>
          <a:prstGeom prst="rect">
            <a:avLst/>
          </a:prstGeom>
        </p:spPr>
        <p:txBody>
          <a:bodyPr wrap="square">
            <a:spAutoFit/>
          </a:bodyPr>
          <a:lstStyle/>
          <a:p>
            <a:pPr algn="ctr"/>
            <a:r>
              <a:rPr lang="zh-CN" altLang="en-US" sz="908" dirty="0"/>
              <a:t>政府政策</a:t>
            </a:r>
          </a:p>
        </p:txBody>
      </p:sp>
      <p:sp>
        <p:nvSpPr>
          <p:cNvPr id="3" name="标题 2">
            <a:extLst>
              <a:ext uri="{FF2B5EF4-FFF2-40B4-BE49-F238E27FC236}">
                <a16:creationId xmlns:a16="http://schemas.microsoft.com/office/drawing/2014/main" id="{73B9B3EA-CD89-5347-9D63-DB06A2F3DD2F}"/>
              </a:ext>
            </a:extLst>
          </p:cNvPr>
          <p:cNvSpPr>
            <a:spLocks noGrp="1"/>
          </p:cNvSpPr>
          <p:nvPr>
            <p:ph type="title"/>
          </p:nvPr>
        </p:nvSpPr>
        <p:spPr/>
        <p:txBody>
          <a:bodyPr/>
          <a:lstStyle/>
          <a:p>
            <a:r>
              <a:rPr kumimoji="1" lang="zh-CN" altLang="en-US" dirty="0"/>
              <a:t>总供给的决定因素</a:t>
            </a:r>
          </a:p>
        </p:txBody>
      </p:sp>
      <p:sp>
        <p:nvSpPr>
          <p:cNvPr id="7" name="Rectangle 6">
            <a:extLst>
              <a:ext uri="{FF2B5EF4-FFF2-40B4-BE49-F238E27FC236}">
                <a16:creationId xmlns:a16="http://schemas.microsoft.com/office/drawing/2014/main" id="{9820EF00-A1D3-AD6C-FE91-F3FE3E054532}"/>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49</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0" name="日期占位符 3">
            <a:extLst>
              <a:ext uri="{FF2B5EF4-FFF2-40B4-BE49-F238E27FC236}">
                <a16:creationId xmlns:a16="http://schemas.microsoft.com/office/drawing/2014/main" id="{A9DC89B5-AC4A-78EC-4202-BBD2894987B1}"/>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501522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96CF692-65D7-4F1B-AC7E-8597145F5AC0}"/>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50</a:t>
            </a:fld>
            <a:endParaRPr lang="en-US" altLang="zh-CN"/>
          </a:p>
        </p:txBody>
      </p:sp>
      <p:sp>
        <p:nvSpPr>
          <p:cNvPr id="3" name="标题 2">
            <a:extLst>
              <a:ext uri="{FF2B5EF4-FFF2-40B4-BE49-F238E27FC236}">
                <a16:creationId xmlns:a16="http://schemas.microsoft.com/office/drawing/2014/main" id="{10B25C1F-F5F7-4571-9BF8-5B8D020A1EB7}"/>
              </a:ext>
            </a:extLst>
          </p:cNvPr>
          <p:cNvSpPr>
            <a:spLocks noGrp="1"/>
          </p:cNvSpPr>
          <p:nvPr>
            <p:ph type="title"/>
          </p:nvPr>
        </p:nvSpPr>
        <p:spPr/>
        <p:txBody>
          <a:bodyPr/>
          <a:lstStyle/>
          <a:p>
            <a:r>
              <a:rPr lang="zh-CN" altLang="en-US" dirty="0"/>
              <a:t>总供给函数</a:t>
            </a:r>
          </a:p>
        </p:txBody>
      </p:sp>
      <p:sp>
        <p:nvSpPr>
          <p:cNvPr id="9" name="内容占位符 2">
            <a:extLst>
              <a:ext uri="{FF2B5EF4-FFF2-40B4-BE49-F238E27FC236}">
                <a16:creationId xmlns:a16="http://schemas.microsoft.com/office/drawing/2014/main" id="{08072A58-A27D-4C5A-A1B5-12555F85B3A2}"/>
              </a:ext>
            </a:extLst>
          </p:cNvPr>
          <p:cNvSpPr>
            <a:spLocks noGrp="1"/>
          </p:cNvSpPr>
          <p:nvPr>
            <p:ph idx="1"/>
          </p:nvPr>
        </p:nvSpPr>
        <p:spPr>
          <a:xfrm>
            <a:off x="316945" y="922007"/>
            <a:ext cx="3976211" cy="2193800"/>
          </a:xfrm>
        </p:spPr>
        <p:txBody>
          <a:bodyPr/>
          <a:lstStyle/>
          <a:p>
            <a:r>
              <a:rPr lang="zh-CN" altLang="en-US" b="1" dirty="0"/>
              <a:t>总供给</a:t>
            </a:r>
            <a:r>
              <a:rPr lang="en-US" altLang="zh-CN" b="1" dirty="0"/>
              <a:t>[Aggregate Supply]</a:t>
            </a:r>
          </a:p>
          <a:p>
            <a:r>
              <a:rPr lang="en-US" altLang="zh-CN" dirty="0"/>
              <a:t>    ——</a:t>
            </a:r>
            <a:r>
              <a:rPr lang="zh-CN" altLang="en-US" dirty="0"/>
              <a:t>某一时期一个经济社会中各企业所愿意生产的商品与劳务的价值的总和。 </a:t>
            </a:r>
          </a:p>
          <a:p>
            <a:r>
              <a:rPr lang="zh-CN" altLang="en-US" b="1" dirty="0"/>
              <a:t>总供给函数</a:t>
            </a:r>
          </a:p>
          <a:p>
            <a:r>
              <a:rPr lang="zh-CN" altLang="en-US" dirty="0"/>
              <a:t>   </a:t>
            </a:r>
            <a:r>
              <a:rPr lang="en-US" altLang="zh-CN" dirty="0"/>
              <a:t>——</a:t>
            </a:r>
            <a:r>
              <a:rPr lang="zh-CN" altLang="en-US" dirty="0"/>
              <a:t>表示社会总供给量与价格总水平之间的关系。 </a:t>
            </a:r>
          </a:p>
          <a:p>
            <a:endParaRPr lang="zh-CN" altLang="en-US" dirty="0"/>
          </a:p>
        </p:txBody>
      </p:sp>
      <p:sp>
        <p:nvSpPr>
          <p:cNvPr id="2" name="Rectangle 6">
            <a:extLst>
              <a:ext uri="{FF2B5EF4-FFF2-40B4-BE49-F238E27FC236}">
                <a16:creationId xmlns:a16="http://schemas.microsoft.com/office/drawing/2014/main" id="{5C69E261-700E-D290-01F1-8901E41B9BCB}"/>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4" name="日期占位符 3">
            <a:extLst>
              <a:ext uri="{FF2B5EF4-FFF2-40B4-BE49-F238E27FC236}">
                <a16:creationId xmlns:a16="http://schemas.microsoft.com/office/drawing/2014/main" id="{2D969F0B-0208-57A4-2CC4-D8D540DB13A0}"/>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总供给函数</a:t>
            </a:r>
            <a:endParaRPr lang="zh-CN" altLang="en-US" dirty="0">
              <a:ln w="0"/>
              <a:solidFill>
                <a:schemeClr val="accent1"/>
              </a:solidFill>
              <a:effectLst>
                <a:outerShdw blurRad="38100" dist="25400" dir="5400000" algn="ctr" rotWithShape="0">
                  <a:srgbClr val="6E747A">
                    <a:alpha val="43000"/>
                  </a:srgbClr>
                </a:outerShdw>
              </a:effectLst>
            </a:endParaRPr>
          </a:p>
        </p:txBody>
      </p:sp>
      <p:sp>
        <p:nvSpPr>
          <p:cNvPr id="3" name="内容占位符 2"/>
          <p:cNvSpPr>
            <a:spLocks noGrp="1"/>
          </p:cNvSpPr>
          <p:nvPr>
            <p:ph idx="1"/>
          </p:nvPr>
        </p:nvSpPr>
        <p:spPr>
          <a:xfrm>
            <a:off x="316944" y="558603"/>
            <a:ext cx="4081413" cy="999751"/>
          </a:xfrm>
        </p:spPr>
        <p:txBody>
          <a:bodyPr/>
          <a:lstStyle/>
          <a:p>
            <a:r>
              <a:rPr lang="zh-CN" altLang="en-US" sz="1210" b="1" dirty="0"/>
              <a:t>总供给</a:t>
            </a:r>
            <a:r>
              <a:rPr lang="en-US" altLang="zh-CN" sz="1210" b="1" dirty="0"/>
              <a:t>/</a:t>
            </a:r>
            <a:r>
              <a:rPr lang="zh-CN" altLang="en-US" sz="1210" b="1" dirty="0"/>
              <a:t>总产出是什么？</a:t>
            </a:r>
            <a:endParaRPr lang="en-US" altLang="zh-CN" sz="1210" b="1" dirty="0"/>
          </a:p>
          <a:p>
            <a:r>
              <a:rPr lang="zh-CN" altLang="en-US" sz="1210" b="1" dirty="0"/>
              <a:t>生产函数</a:t>
            </a:r>
            <a:r>
              <a:rPr lang="zh-CN" altLang="en-US" sz="1210" dirty="0"/>
              <a:t>是指投入与产出之间的数量关系。</a:t>
            </a:r>
            <a:endParaRPr lang="en-US" altLang="zh-CN" sz="1210" dirty="0"/>
          </a:p>
          <a:p>
            <a:r>
              <a:rPr lang="zh-CN" altLang="en-US" sz="1210" b="1" dirty="0"/>
              <a:t>宏观生产函数</a:t>
            </a:r>
            <a:r>
              <a:rPr lang="zh-CN" altLang="en-US" sz="1210" dirty="0"/>
              <a:t>又称总量生产函数，是指整个国民经济的生产函数，它表示总投入和总产出之间的关系。</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51</a:t>
            </a:fld>
            <a:endParaRPr lang="zh-CN" altLang="en-US"/>
          </a:p>
        </p:txBody>
      </p:sp>
      <mc:AlternateContent xmlns:mc="http://schemas.openxmlformats.org/markup-compatibility/2006" xmlns:a14="http://schemas.microsoft.com/office/drawing/2010/main">
        <mc:Choice Requires="a14">
          <p:sp>
            <p:nvSpPr>
              <p:cNvPr id="10" name="矩形 9"/>
              <p:cNvSpPr/>
              <p:nvPr/>
            </p:nvSpPr>
            <p:spPr>
              <a:xfrm>
                <a:off x="344928" y="1723493"/>
                <a:ext cx="3920243" cy="10618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    假定一个经济社会在一定技术水平下使用总量意义下的劳动和资本两种要素进行生产，则宏观生产函数可以表示为：</a:t>
                </a:r>
                <a:endParaRPr lang="en-US" altLang="zh-CN" sz="1050" dirty="0">
                  <a:latin typeface="Times New Roman" panose="02020603050405020304" pitchFamily="18" charset="0"/>
                  <a:ea typeface="楷体" panose="02010609060101010101" pitchFamily="49"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050" i="1">
                          <a:latin typeface="Cambria Math" panose="02040503050406030204" pitchFamily="18" charset="0"/>
                        </a:rPr>
                        <m:t>𝑦</m:t>
                      </m:r>
                      <m:r>
                        <a:rPr lang="en-US" altLang="zh-CN" sz="1050" i="1">
                          <a:latin typeface="Cambria Math" panose="02040503050406030204" pitchFamily="18" charset="0"/>
                        </a:rPr>
                        <m:t>=</m:t>
                      </m:r>
                      <m:r>
                        <a:rPr lang="en-US" altLang="zh-CN" sz="1050" i="1">
                          <a:latin typeface="Cambria Math" panose="02040503050406030204" pitchFamily="18" charset="0"/>
                        </a:rPr>
                        <m:t>𝐴</m:t>
                      </m:r>
                      <m:r>
                        <a:rPr lang="en-US" altLang="zh-CN" sz="1050" i="1">
                          <a:latin typeface="Cambria Math" panose="02040503050406030204" pitchFamily="18" charset="0"/>
                        </a:rPr>
                        <m:t>·</m:t>
                      </m:r>
                      <m:r>
                        <m:rPr>
                          <m:sty m:val="p"/>
                        </m:rPr>
                        <a:rPr lang="en-US" altLang="zh-CN" sz="1050" i="1">
                          <a:latin typeface="Cambria Math" panose="02040503050406030204" pitchFamily="18" charset="0"/>
                        </a:rPr>
                        <m:t>F</m:t>
                      </m:r>
                      <m:r>
                        <a:rPr lang="en-US" altLang="zh-CN" sz="1050" i="1">
                          <a:latin typeface="Cambria Math" panose="02040503050406030204" pitchFamily="18" charset="0"/>
                        </a:rPr>
                        <m:t>(</m:t>
                      </m:r>
                      <m:r>
                        <m:rPr>
                          <m:sty m:val="p"/>
                        </m:rPr>
                        <a:rPr lang="en-US" altLang="zh-CN" sz="1050" i="1">
                          <a:latin typeface="Cambria Math" panose="02040503050406030204" pitchFamily="18" charset="0"/>
                        </a:rPr>
                        <m:t>N</m:t>
                      </m:r>
                      <m:r>
                        <a:rPr lang="en-US" altLang="zh-CN" sz="1050" i="1">
                          <a:latin typeface="Cambria Math" panose="02040503050406030204" pitchFamily="18" charset="0"/>
                        </a:rPr>
                        <m:t>,</m:t>
                      </m:r>
                      <m:r>
                        <a:rPr lang="en-US" altLang="zh-CN" sz="1050" i="1">
                          <a:latin typeface="Cambria Math" panose="02040503050406030204" pitchFamily="18" charset="0"/>
                        </a:rPr>
                        <m:t>𝐾</m:t>
                      </m:r>
                      <m:r>
                        <a:rPr lang="en-US" altLang="zh-CN" sz="1050" i="1">
                          <a:latin typeface="Cambria Math" panose="02040503050406030204" pitchFamily="18" charset="0"/>
                        </a:rPr>
                        <m:t>)</m:t>
                      </m:r>
                    </m:oMath>
                  </m:oMathPara>
                </a14:m>
                <a:endParaRPr lang="en-US" altLang="zh-CN" sz="105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    y</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是总产出；</a:t>
                </a:r>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是整个社会的劳动量；</a:t>
                </a:r>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K</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是整个社会的资本存量，</a:t>
                </a:r>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表示技术系数。</a:t>
                </a:r>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F(·)</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表示在一定技术水平和制度环境中生产要素的组合方式。</a:t>
                </a:r>
                <a:endParaRPr lang="en-US" altLang="zh-CN" sz="105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0" name="矩形 9"/>
              <p:cNvSpPr>
                <a:spLocks noRot="1" noChangeAspect="1" noMove="1" noResize="1" noEditPoints="1" noAdjustHandles="1" noChangeArrowheads="1" noChangeShapeType="1" noTextEdit="1"/>
              </p:cNvSpPr>
              <p:nvPr/>
            </p:nvSpPr>
            <p:spPr>
              <a:xfrm>
                <a:off x="344928" y="1723493"/>
                <a:ext cx="3920243" cy="1061829"/>
              </a:xfrm>
              <a:prstGeom prst="rect">
                <a:avLst/>
              </a:prstGeom>
              <a:blipFill>
                <a:blip r:embed="rId2"/>
                <a:stretch>
                  <a:fillRect t="-1176" r="-2894" b="-2353"/>
                </a:stretch>
              </a:blipFill>
            </p:spPr>
            <p:txBody>
              <a:bodyPr/>
              <a:lstStyle/>
              <a:p>
                <a:r>
                  <a:rPr lang="zh-CN" altLang="en-US">
                    <a:noFill/>
                  </a:rPr>
                  <a:t> </a:t>
                </a:r>
              </a:p>
            </p:txBody>
          </p:sp>
        </mc:Fallback>
      </mc:AlternateContent>
      <p:sp>
        <p:nvSpPr>
          <p:cNvPr id="7" name="Rectangle 6">
            <a:extLst>
              <a:ext uri="{FF2B5EF4-FFF2-40B4-BE49-F238E27FC236}">
                <a16:creationId xmlns:a16="http://schemas.microsoft.com/office/drawing/2014/main" id="{4DD9D175-FAE7-16F9-6D17-D0704216D494}"/>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51</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A4240AF2-AC78-B9E4-C1BC-10EB80E1E61F}"/>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11285009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52</a:t>
            </a:fld>
            <a:endParaRPr lang="zh-CN" altLang="en-US"/>
          </a:p>
        </p:txBody>
      </p:sp>
      <p:pic>
        <p:nvPicPr>
          <p:cNvPr id="8" name="Picture 4" descr="xf1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7118" y="1632574"/>
            <a:ext cx="2299654" cy="139506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2731652" y="2990541"/>
            <a:ext cx="1210589" cy="246221"/>
          </a:xfrm>
          <a:prstGeom prst="rect">
            <a:avLst/>
          </a:prstGeom>
        </p:spPr>
        <p:txBody>
          <a:bodyPr wrap="none">
            <a:spAutoFit/>
          </a:bodyPr>
          <a:lstStyle/>
          <a:p>
            <a:pPr algn="ctr">
              <a:spcBef>
                <a:spcPct val="50000"/>
              </a:spcBef>
            </a:pPr>
            <a:r>
              <a:rPr lang="zh-CN" altLang="en-US" sz="100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短期宏观生产函数</a:t>
            </a:r>
          </a:p>
        </p:txBody>
      </p:sp>
      <mc:AlternateContent xmlns:mc="http://schemas.openxmlformats.org/markup-compatibility/2006" xmlns:a14="http://schemas.microsoft.com/office/drawing/2010/main">
        <mc:Choice Requires="a14">
          <p:sp>
            <p:nvSpPr>
              <p:cNvPr id="12" name="内容占位符 2"/>
              <p:cNvSpPr txBox="1">
                <a:spLocks/>
              </p:cNvSpPr>
              <p:nvPr/>
            </p:nvSpPr>
            <p:spPr bwMode="auto">
              <a:xfrm>
                <a:off x="238898" y="557894"/>
                <a:ext cx="4081413" cy="107468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61040"/>
                <a:r>
                  <a:rPr lang="zh-CN" altLang="en-US" sz="1200" b="1" dirty="0">
                    <a:latin typeface="Garamond" panose="02020404030301010803" pitchFamily="18" charset="0"/>
                    <a:ea typeface="SimSun" panose="02010600030101010101" pitchFamily="2" charset="-122"/>
                  </a:rPr>
                  <a:t>宏观生产函数</a:t>
                </a:r>
                <a:r>
                  <a:rPr lang="zh-CN" altLang="en-US" sz="1200" dirty="0">
                    <a:latin typeface="Garamond" panose="02020404030301010803" pitchFamily="18" charset="0"/>
                    <a:ea typeface="SimSun" panose="02010600030101010101" pitchFamily="2" charset="-122"/>
                  </a:rPr>
                  <a:t>可以分为短期和长期两种。</a:t>
                </a:r>
                <a:endParaRPr lang="en-US" altLang="zh-CN" sz="1200" dirty="0">
                  <a:latin typeface="Garamond" panose="02020404030301010803" pitchFamily="18" charset="0"/>
                  <a:ea typeface="SimSun" panose="02010600030101010101" pitchFamily="2" charset="-122"/>
                </a:endParaRPr>
              </a:p>
              <a:p>
                <a:pPr defTabSz="461040"/>
                <a:r>
                  <a:rPr lang="zh-CN" altLang="en-US" sz="1200" dirty="0">
                    <a:latin typeface="Garamond" panose="02020404030301010803" pitchFamily="18" charset="0"/>
                    <a:ea typeface="SimSun" panose="02010600030101010101" pitchFamily="2" charset="-122"/>
                  </a:rPr>
                  <a:t>在短期宏观生产函数中，资本存量和技术水平都不可能有较大的改变，所以二者认为是常数，用</a:t>
                </a:r>
                <a14:m>
                  <m:oMath xmlns:m="http://schemas.openxmlformats.org/officeDocument/2006/math">
                    <m:acc>
                      <m:accPr>
                        <m:chr m:val="̅"/>
                        <m:ctrlPr>
                          <a:rPr lang="zh-CN" altLang="en-US" sz="1200" i="1">
                            <a:latin typeface="Cambria Math" panose="02040503050406030204" pitchFamily="18" charset="0"/>
                          </a:rPr>
                        </m:ctrlPr>
                      </m:accPr>
                      <m:e>
                        <m:r>
                          <m:rPr>
                            <m:sty m:val="p"/>
                          </m:rPr>
                          <a:rPr lang="en-US" altLang="zh-CN" sz="1200" i="1">
                            <a:latin typeface="Cambria Math" panose="02040503050406030204" pitchFamily="18" charset="0"/>
                          </a:rPr>
                          <m:t>K</m:t>
                        </m:r>
                      </m:e>
                    </m:acc>
                  </m:oMath>
                </a14:m>
                <a:r>
                  <a:rPr lang="zh-CN" altLang="en-US" sz="1200" dirty="0">
                    <a:latin typeface="Garamond" panose="02020404030301010803" pitchFamily="18" charset="0"/>
                    <a:ea typeface="SimSun" panose="02010600030101010101" pitchFamily="2" charset="-122"/>
                  </a:rPr>
                  <a:t>表示不变资本存量，则短期生产函数表示为：</a:t>
                </a:r>
                <a:endParaRPr lang="en-US" altLang="zh-CN" sz="1200" dirty="0">
                  <a:latin typeface="Garamond" panose="02020404030301010803" pitchFamily="18" charset="0"/>
                  <a:ea typeface="SimSun" panose="02010600030101010101" pitchFamily="2" charset="-122"/>
                </a:endParaRPr>
              </a:p>
              <a:p>
                <a:pPr marL="0" indent="0" defTabSz="461040">
                  <a:buNone/>
                </a:pPr>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rPr>
                        <m:t>𝑦</m:t>
                      </m:r>
                      <m:r>
                        <a:rPr lang="en-US" altLang="zh-CN" sz="1200" i="1">
                          <a:latin typeface="Cambria Math" panose="02040503050406030204" pitchFamily="18" charset="0"/>
                        </a:rPr>
                        <m:t>=</m:t>
                      </m:r>
                      <m:r>
                        <m:rPr>
                          <m:sty m:val="p"/>
                        </m:rPr>
                        <a:rPr lang="en-US" altLang="zh-CN" sz="1200" i="1">
                          <a:latin typeface="Cambria Math" panose="02040503050406030204" pitchFamily="18" charset="0"/>
                        </a:rPr>
                        <m:t>A</m:t>
                      </m:r>
                      <m:r>
                        <a:rPr lang="en-US" altLang="zh-CN" sz="1200" i="1">
                          <a:latin typeface="Cambria Math" panose="02040503050406030204" pitchFamily="18" charset="0"/>
                        </a:rPr>
                        <m:t>·</m:t>
                      </m:r>
                      <m:r>
                        <a:rPr lang="en-US" altLang="zh-CN" sz="1200" i="1">
                          <a:latin typeface="Cambria Math" panose="02040503050406030204" pitchFamily="18" charset="0"/>
                        </a:rPr>
                        <m:t>𝑓</m:t>
                      </m:r>
                      <m:r>
                        <a:rPr lang="en-US" altLang="zh-CN" sz="1200" i="1">
                          <a:latin typeface="Cambria Math" panose="02040503050406030204" pitchFamily="18" charset="0"/>
                        </a:rPr>
                        <m:t>(</m:t>
                      </m:r>
                      <m:r>
                        <a:rPr lang="en-US" altLang="zh-CN" sz="1200" i="1">
                          <a:latin typeface="Cambria Math" panose="02040503050406030204" pitchFamily="18" charset="0"/>
                        </a:rPr>
                        <m:t>𝑁</m:t>
                      </m:r>
                      <m:r>
                        <a:rPr lang="en-US" altLang="zh-CN" sz="1200" i="1">
                          <a:latin typeface="Cambria Math" panose="02040503050406030204" pitchFamily="18" charset="0"/>
                        </a:rPr>
                        <m:t>, </m:t>
                      </m:r>
                      <m:acc>
                        <m:accPr>
                          <m:chr m:val="̅"/>
                          <m:ctrlPr>
                            <a:rPr lang="en-US" altLang="zh-CN" sz="1200" i="1">
                              <a:latin typeface="Cambria Math" panose="02040503050406030204" pitchFamily="18" charset="0"/>
                            </a:rPr>
                          </m:ctrlPr>
                        </m:accPr>
                        <m:e>
                          <m:r>
                            <a:rPr lang="en-US" altLang="zh-CN" sz="1200" i="1">
                              <a:latin typeface="Cambria Math" panose="02040503050406030204" pitchFamily="18" charset="0"/>
                            </a:rPr>
                            <m:t>𝐾</m:t>
                          </m:r>
                        </m:e>
                      </m:acc>
                      <m:r>
                        <a:rPr lang="en-US" altLang="zh-CN" sz="1200" i="1">
                          <a:latin typeface="Cambria Math" panose="02040503050406030204" pitchFamily="18" charset="0"/>
                        </a:rPr>
                        <m:t>)</m:t>
                      </m:r>
                    </m:oMath>
                  </m:oMathPara>
                </a14:m>
                <a:endParaRPr lang="en-US" altLang="zh-CN" sz="1200" dirty="0">
                  <a:latin typeface="Garamond" panose="02020404030301010803" pitchFamily="18" charset="0"/>
                  <a:ea typeface="SimSun" panose="02010600030101010101" pitchFamily="2" charset="-122"/>
                </a:endParaRPr>
              </a:p>
              <a:p>
                <a:pPr defTabSz="461040"/>
                <a:endParaRPr lang="en-US" altLang="zh-CN" sz="1200" dirty="0">
                  <a:latin typeface="Garamond" panose="02020404030301010803" pitchFamily="18" charset="0"/>
                  <a:ea typeface="SimSun" panose="02010600030101010101" pitchFamily="2" charset="-122"/>
                </a:endParaRPr>
              </a:p>
            </p:txBody>
          </p:sp>
        </mc:Choice>
        <mc:Fallback xmlns="">
          <p:sp>
            <p:nvSpPr>
              <p:cNvPr id="12" name="内容占位符 2"/>
              <p:cNvSpPr txBox="1">
                <a:spLocks noRot="1" noChangeAspect="1" noMove="1" noResize="1" noEditPoints="1" noAdjustHandles="1" noChangeArrowheads="1" noChangeShapeType="1" noTextEdit="1"/>
              </p:cNvSpPr>
              <p:nvPr/>
            </p:nvSpPr>
            <p:spPr bwMode="auto">
              <a:xfrm>
                <a:off x="238898" y="557894"/>
                <a:ext cx="4081413" cy="1074680"/>
              </a:xfrm>
              <a:prstGeom prst="rect">
                <a:avLst/>
              </a:prstGeom>
              <a:blipFill>
                <a:blip r:embed="rId3"/>
                <a:stretch>
                  <a:fillRect l="-929" t="-5882" r="-92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矩形 9"/>
          <p:cNvSpPr/>
          <p:nvPr/>
        </p:nvSpPr>
        <p:spPr>
          <a:xfrm>
            <a:off x="238898" y="1719420"/>
            <a:ext cx="2050070" cy="141423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1261"/>
              </a:lnSpc>
            </a:pPr>
            <a:r>
              <a:rPr lang="zh-CN" altLang="en-US" sz="1050" b="1" dirty="0">
                <a:latin typeface="Times New Roman" panose="02020603050405020304" pitchFamily="18" charset="0"/>
                <a:ea typeface="楷体" panose="02010609060101010101" pitchFamily="49" charset="-122"/>
                <a:cs typeface="Times New Roman" panose="02020603050405020304" pitchFamily="18" charset="0"/>
              </a:rPr>
              <a:t>宏观生产函数的两条重要性质：</a:t>
            </a:r>
            <a:endParaRPr lang="en-US" altLang="zh-CN" sz="1050" b="1" dirty="0">
              <a:latin typeface="Times New Roman" panose="02020603050405020304" pitchFamily="18" charset="0"/>
              <a:ea typeface="楷体" panose="02010609060101010101" pitchFamily="49" charset="-122"/>
              <a:cs typeface="Times New Roman" panose="02020603050405020304" pitchFamily="18" charset="0"/>
            </a:endParaRPr>
          </a:p>
          <a:p>
            <a:pPr marL="172890" indent="-172890">
              <a:lnSpc>
                <a:spcPts val="1261"/>
              </a:lnSpc>
              <a:buAutoNum type="arabicPeriod"/>
            </a:pP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总产出随总就业量的增加而增加；</a:t>
            </a:r>
            <a:endParaRPr lang="en-US" altLang="zh-CN" sz="1050" dirty="0">
              <a:latin typeface="Times New Roman" panose="02020603050405020304" pitchFamily="18" charset="0"/>
              <a:ea typeface="楷体" panose="02010609060101010101" pitchFamily="49" charset="-122"/>
              <a:cs typeface="Times New Roman" panose="02020603050405020304" pitchFamily="18" charset="0"/>
            </a:endParaRPr>
          </a:p>
          <a:p>
            <a:pPr marL="172890" indent="-172890">
              <a:lnSpc>
                <a:spcPts val="1261"/>
              </a:lnSpc>
              <a:buAutoNum type="arabicPeriod"/>
            </a:pP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在技术不变和</a:t>
            </a:r>
            <a:r>
              <a:rPr lang="en-US" altLang="zh-CN" sz="1050" dirty="0">
                <a:latin typeface="Times New Roman" panose="02020603050405020304" pitchFamily="18" charset="0"/>
                <a:ea typeface="楷体" panose="02010609060101010101" pitchFamily="49" charset="-122"/>
                <a:cs typeface="Times New Roman" panose="02020603050405020304" pitchFamily="18" charset="0"/>
              </a:rPr>
              <a:t>K</a:t>
            </a:r>
            <a:r>
              <a:rPr lang="zh-CN" altLang="en-US" sz="1050" dirty="0">
                <a:latin typeface="Times New Roman" panose="02020603050405020304" pitchFamily="18" charset="0"/>
                <a:ea typeface="楷体" panose="02010609060101010101" pitchFamily="49" charset="-122"/>
                <a:cs typeface="Times New Roman" panose="02020603050405020304" pitchFamily="18" charset="0"/>
              </a:rPr>
              <a:t>为常数的假设条件下，由于“边际报酬递减规律”，随着总就业量的增加，总产出按递减的比率增加。</a:t>
            </a:r>
            <a:endParaRPr lang="en-US" altLang="zh-CN" sz="105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标题 2">
            <a:extLst>
              <a:ext uri="{FF2B5EF4-FFF2-40B4-BE49-F238E27FC236}">
                <a16:creationId xmlns:a16="http://schemas.microsoft.com/office/drawing/2014/main" id="{300C7A5C-148B-F2CB-BB91-F4F39B753B1F}"/>
              </a:ext>
            </a:extLst>
          </p:cNvPr>
          <p:cNvSpPr>
            <a:spLocks noGrp="1"/>
          </p:cNvSpPr>
          <p:nvPr>
            <p:ph type="title"/>
          </p:nvPr>
        </p:nvSpPr>
        <p:spPr/>
        <p:txBody>
          <a:bodyPr/>
          <a:lstStyle/>
          <a:p>
            <a:r>
              <a:rPr lang="zh-CN" altLang="en-US" dirty="0"/>
              <a:t>总供给函数</a:t>
            </a:r>
            <a:endParaRPr kumimoji="1" lang="zh-CN" altLang="en-US" dirty="0"/>
          </a:p>
        </p:txBody>
      </p:sp>
      <p:sp>
        <p:nvSpPr>
          <p:cNvPr id="7" name="Rectangle 6">
            <a:extLst>
              <a:ext uri="{FF2B5EF4-FFF2-40B4-BE49-F238E27FC236}">
                <a16:creationId xmlns:a16="http://schemas.microsoft.com/office/drawing/2014/main" id="{3BA96277-0F7B-0171-0538-BB2B100A2F62}"/>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52</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F2D822CC-4FED-9A10-78F2-BEF363C889B8}"/>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8347380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4939" y="519507"/>
            <a:ext cx="3976211" cy="1285460"/>
          </a:xfrm>
        </p:spPr>
        <p:txBody>
          <a:bodyPr/>
          <a:lstStyle/>
          <a:p>
            <a:r>
              <a:rPr lang="zh-CN" altLang="en-US" sz="1210" b="1" dirty="0"/>
              <a:t>长期生产函数与短期生产函数的不同之处</a:t>
            </a:r>
            <a:r>
              <a:rPr lang="zh-CN" altLang="en-US" sz="1210" dirty="0"/>
              <a:t>在于：</a:t>
            </a:r>
            <a:endParaRPr lang="en-US" altLang="zh-CN" sz="1210" dirty="0"/>
          </a:p>
          <a:p>
            <a:r>
              <a:rPr lang="zh-CN" altLang="en-US" sz="1210" dirty="0"/>
              <a:t>在长期生产函数中，包括生产函数中三个主要自变量在内的一切自变量都可以改变。</a:t>
            </a:r>
            <a:endParaRPr lang="en-US" altLang="zh-CN" sz="1210" dirty="0"/>
          </a:p>
          <a:p>
            <a:r>
              <a:rPr lang="zh-CN" altLang="en-US" sz="1210" dirty="0"/>
              <a:t>一是技术水平存在足够的改善技术的时间；</a:t>
            </a:r>
            <a:endParaRPr lang="en-US" altLang="zh-CN" sz="1210" dirty="0"/>
          </a:p>
          <a:p>
            <a:r>
              <a:rPr lang="zh-CN" altLang="en-US" sz="1210" dirty="0"/>
              <a:t>二是人口的增长能够影响充分就业的劳动者的数量；</a:t>
            </a:r>
            <a:endParaRPr lang="en-US" altLang="zh-CN" sz="1210" dirty="0"/>
          </a:p>
          <a:p>
            <a:r>
              <a:rPr lang="zh-CN" altLang="en-US" sz="1210" dirty="0"/>
              <a:t>三是资本存量也会随着积累的增加有很大的变化。</a:t>
            </a:r>
            <a:endParaRPr lang="en-US" altLang="zh-CN" sz="1210" dirty="0"/>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53</a:t>
            </a:fld>
            <a:endParaRPr lang="zh-CN" altLang="en-US"/>
          </a:p>
        </p:txBody>
      </p:sp>
      <mc:AlternateContent xmlns:mc="http://schemas.openxmlformats.org/markup-compatibility/2006" xmlns:a14="http://schemas.microsoft.com/office/drawing/2010/main">
        <mc:Choice Requires="a14">
          <p:sp>
            <p:nvSpPr>
              <p:cNvPr id="7" name="矩形 6"/>
              <p:cNvSpPr/>
              <p:nvPr/>
            </p:nvSpPr>
            <p:spPr>
              <a:xfrm>
                <a:off x="316944" y="2162423"/>
                <a:ext cx="3976211" cy="8932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长期生产函数可表示为：</a:t>
                </a:r>
                <a:endParaRPr lang="en-US" altLang="zh-CN" sz="1008" dirty="0">
                  <a:latin typeface="Times New Roman" panose="02020603050405020304" pitchFamily="18" charset="0"/>
                  <a:ea typeface="楷体" panose="02010609060101010101" pitchFamily="49"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sz="1008" i="1">
                              <a:latin typeface="Cambria Math" panose="02040503050406030204" pitchFamily="18" charset="0"/>
                            </a:rPr>
                          </m:ctrlPr>
                        </m:sSubPr>
                        <m:e>
                          <m:r>
                            <a:rPr lang="en-US" altLang="zh-CN" sz="1008" i="1">
                              <a:latin typeface="Cambria Math" panose="02040503050406030204" pitchFamily="18" charset="0"/>
                            </a:rPr>
                            <m:t>𝑦</m:t>
                          </m:r>
                        </m:e>
                        <m:sub>
                          <m:r>
                            <a:rPr lang="en-US" altLang="zh-CN" sz="1008" i="1">
                              <a:latin typeface="Cambria Math" panose="02040503050406030204" pitchFamily="18" charset="0"/>
                            </a:rPr>
                            <m:t>𝑓</m:t>
                          </m:r>
                        </m:sub>
                      </m:sSub>
                      <m:r>
                        <a:rPr lang="en-US" altLang="zh-CN" sz="1008" i="1">
                          <a:latin typeface="Cambria Math" panose="02040503050406030204" pitchFamily="18" charset="0"/>
                        </a:rPr>
                        <m:t>=</m:t>
                      </m:r>
                      <m:r>
                        <a:rPr lang="en-US" altLang="zh-CN" sz="1008" i="1">
                          <a:latin typeface="Cambria Math" panose="02040503050406030204" pitchFamily="18" charset="0"/>
                        </a:rPr>
                        <m:t>𝐹</m:t>
                      </m:r>
                      <m:r>
                        <a:rPr lang="en-US" altLang="zh-CN" sz="1008" i="1">
                          <a:latin typeface="Cambria Math" panose="02040503050406030204" pitchFamily="18" charset="0"/>
                        </a:rPr>
                        <m:t>(</m:t>
                      </m:r>
                      <m:sSup>
                        <m:sSupPr>
                          <m:ctrlPr>
                            <a:rPr lang="en-US" altLang="zh-CN" sz="1008" i="1">
                              <a:latin typeface="Cambria Math" panose="02040503050406030204" pitchFamily="18" charset="0"/>
                            </a:rPr>
                          </m:ctrlPr>
                        </m:sSupPr>
                        <m:e>
                          <m:r>
                            <a:rPr lang="en-US" altLang="zh-CN" sz="1008" i="1">
                              <a:latin typeface="Cambria Math" panose="02040503050406030204" pitchFamily="18" charset="0"/>
                            </a:rPr>
                            <m:t>𝑁</m:t>
                          </m:r>
                        </m:e>
                        <m:sup>
                          <m:r>
                            <a:rPr lang="en-US" altLang="zh-CN" sz="1008" i="1">
                              <a:latin typeface="Cambria Math" panose="02040503050406030204" pitchFamily="18" charset="0"/>
                            </a:rPr>
                            <m:t>∗</m:t>
                          </m:r>
                        </m:sup>
                      </m:sSup>
                      <m:r>
                        <a:rPr lang="en-US" altLang="zh-CN" sz="1008" i="1">
                          <a:latin typeface="Cambria Math" panose="02040503050406030204" pitchFamily="18" charset="0"/>
                        </a:rPr>
                        <m:t>,</m:t>
                      </m:r>
                      <m:sSup>
                        <m:sSupPr>
                          <m:ctrlPr>
                            <a:rPr lang="en-US" altLang="zh-CN" sz="1008" i="1">
                              <a:latin typeface="Cambria Math" panose="02040503050406030204" pitchFamily="18" charset="0"/>
                            </a:rPr>
                          </m:ctrlPr>
                        </m:sSupPr>
                        <m:e>
                          <m:r>
                            <a:rPr lang="en-US" altLang="zh-CN" sz="1008" i="1">
                              <a:latin typeface="Cambria Math" panose="02040503050406030204" pitchFamily="18" charset="0"/>
                            </a:rPr>
                            <m:t>𝐾</m:t>
                          </m:r>
                        </m:e>
                        <m:sup>
                          <m:r>
                            <a:rPr lang="en-US" altLang="zh-CN" sz="1008" i="1">
                              <a:latin typeface="Cambria Math" panose="02040503050406030204" pitchFamily="18" charset="0"/>
                            </a:rPr>
                            <m:t>∗</m:t>
                          </m:r>
                        </m:sup>
                      </m:sSup>
                      <m:r>
                        <a:rPr lang="en-US" altLang="zh-CN" sz="1008" i="1">
                          <a:latin typeface="Cambria Math" panose="02040503050406030204" pitchFamily="18" charset="0"/>
                        </a:rPr>
                        <m:t>)</m:t>
                      </m:r>
                    </m:oMath>
                  </m:oMathPara>
                </a14:m>
                <a:endParaRPr lang="en-US" altLang="zh-CN" sz="1008"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1008" dirty="0"/>
                  <a:t>      </a:t>
                </a:r>
                <a14:m>
                  <m:oMath xmlns:m="http://schemas.openxmlformats.org/officeDocument/2006/math">
                    <m:sSup>
                      <m:sSupPr>
                        <m:ctrlPr>
                          <a:rPr lang="en-US" altLang="zh-CN" sz="1008" i="1">
                            <a:latin typeface="Cambria Math" panose="02040503050406030204" pitchFamily="18" charset="0"/>
                          </a:rPr>
                        </m:ctrlPr>
                      </m:sSupPr>
                      <m:e>
                        <m:r>
                          <a:rPr lang="en-US" altLang="zh-CN" sz="1008" i="1">
                            <a:latin typeface="Cambria Math" panose="02040503050406030204" pitchFamily="18" charset="0"/>
                          </a:rPr>
                          <m:t>𝑁</m:t>
                        </m:r>
                      </m:e>
                      <m:sup>
                        <m:r>
                          <a:rPr lang="en-US" altLang="zh-CN" sz="1008" i="1">
                            <a:latin typeface="Cambria Math" panose="02040503050406030204" pitchFamily="18" charset="0"/>
                          </a:rPr>
                          <m:t>∗</m:t>
                        </m:r>
                      </m:sup>
                    </m:sSup>
                  </m:oMath>
                </a14:m>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是短期中的充分就业量；</a:t>
                </a:r>
                <a:r>
                  <a:rPr lang="en-US" altLang="zh-CN" sz="1008" dirty="0">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sSup>
                      <m:sSupPr>
                        <m:ctrlPr>
                          <a:rPr lang="en-US" altLang="zh-CN" sz="1008" i="1">
                            <a:latin typeface="Cambria Math" panose="02040503050406030204" pitchFamily="18" charset="0"/>
                          </a:rPr>
                        </m:ctrlPr>
                      </m:sSupPr>
                      <m:e>
                        <m:r>
                          <a:rPr lang="en-US" altLang="zh-CN" sz="1008" i="1">
                            <a:latin typeface="Cambria Math" panose="02040503050406030204" pitchFamily="18" charset="0"/>
                          </a:rPr>
                          <m:t>𝐾</m:t>
                        </m:r>
                      </m:e>
                      <m:sup>
                        <m:r>
                          <a:rPr lang="en-US" altLang="zh-CN" sz="1008" i="1">
                            <a:latin typeface="Cambria Math" panose="02040503050406030204" pitchFamily="18" charset="0"/>
                          </a:rPr>
                          <m:t>∗</m:t>
                        </m:r>
                      </m:sup>
                    </m:sSup>
                  </m:oMath>
                </a14:m>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是各期的资本存量；技术水平的变化没有明确表示出来；</a:t>
                </a:r>
                <a:r>
                  <a:rPr lang="en-US" altLang="zh-CN" sz="1008" dirty="0">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sSub>
                      <m:sSubPr>
                        <m:ctrlPr>
                          <a:rPr lang="en-US" altLang="zh-CN" sz="1008" i="1">
                            <a:latin typeface="Cambria Math" panose="02040503050406030204" pitchFamily="18" charset="0"/>
                          </a:rPr>
                        </m:ctrlPr>
                      </m:sSubPr>
                      <m:e>
                        <m:r>
                          <a:rPr lang="en-US" altLang="zh-CN" sz="1008" i="1">
                            <a:latin typeface="Cambria Math" panose="02040503050406030204" pitchFamily="18" charset="0"/>
                          </a:rPr>
                          <m:t>𝑦</m:t>
                        </m:r>
                      </m:e>
                      <m:sub>
                        <m:r>
                          <a:rPr lang="en-US" altLang="zh-CN" sz="1008" i="1">
                            <a:latin typeface="Cambria Math" panose="02040503050406030204" pitchFamily="18" charset="0"/>
                          </a:rPr>
                          <m:t>𝑓</m:t>
                        </m:r>
                      </m:sub>
                    </m:sSub>
                  </m:oMath>
                </a14:m>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是各期的充分就业时的产量，也称为潜在产量。</a:t>
                </a:r>
              </a:p>
            </p:txBody>
          </p:sp>
        </mc:Choice>
        <mc:Fallback xmlns="">
          <p:sp>
            <p:nvSpPr>
              <p:cNvPr id="7" name="矩形 6"/>
              <p:cNvSpPr>
                <a:spLocks noRot="1" noChangeAspect="1" noMove="1" noResize="1" noEditPoints="1" noAdjustHandles="1" noChangeArrowheads="1" noChangeShapeType="1" noTextEdit="1"/>
              </p:cNvSpPr>
              <p:nvPr/>
            </p:nvSpPr>
            <p:spPr>
              <a:xfrm>
                <a:off x="316944" y="2162423"/>
                <a:ext cx="3976211" cy="893258"/>
              </a:xfrm>
              <a:prstGeom prst="rect">
                <a:avLst/>
              </a:prstGeom>
              <a:blipFill>
                <a:blip r:embed="rId2"/>
                <a:stretch>
                  <a:fillRect b="-1389"/>
                </a:stretch>
              </a:blipFill>
            </p:spPr>
            <p:txBody>
              <a:bodyPr/>
              <a:lstStyle/>
              <a:p>
                <a:r>
                  <a:rPr lang="zh-CN" altLang="en-US">
                    <a:noFill/>
                  </a:rPr>
                  <a:t> </a:t>
                </a:r>
              </a:p>
            </p:txBody>
          </p:sp>
        </mc:Fallback>
      </mc:AlternateContent>
      <p:sp>
        <p:nvSpPr>
          <p:cNvPr id="8" name="标题 7">
            <a:extLst>
              <a:ext uri="{FF2B5EF4-FFF2-40B4-BE49-F238E27FC236}">
                <a16:creationId xmlns:a16="http://schemas.microsoft.com/office/drawing/2014/main" id="{260B7F73-EE88-6788-0A24-C74558A5083C}"/>
              </a:ext>
            </a:extLst>
          </p:cNvPr>
          <p:cNvSpPr>
            <a:spLocks noGrp="1"/>
          </p:cNvSpPr>
          <p:nvPr>
            <p:ph type="title"/>
          </p:nvPr>
        </p:nvSpPr>
        <p:spPr/>
        <p:txBody>
          <a:bodyPr/>
          <a:lstStyle/>
          <a:p>
            <a:r>
              <a:rPr lang="zh-CN" altLang="en-US" dirty="0"/>
              <a:t>长期与短期总供给函数</a:t>
            </a:r>
            <a:endParaRPr kumimoji="1" lang="zh-CN" altLang="en-US" dirty="0"/>
          </a:p>
        </p:txBody>
      </p:sp>
      <p:sp>
        <p:nvSpPr>
          <p:cNvPr id="9" name="Rectangle 6">
            <a:extLst>
              <a:ext uri="{FF2B5EF4-FFF2-40B4-BE49-F238E27FC236}">
                <a16:creationId xmlns:a16="http://schemas.microsoft.com/office/drawing/2014/main" id="{86CA0926-E32C-F71A-FD24-051FA242BCCE}"/>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53</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0" name="日期占位符 3">
            <a:extLst>
              <a:ext uri="{FF2B5EF4-FFF2-40B4-BE49-F238E27FC236}">
                <a16:creationId xmlns:a16="http://schemas.microsoft.com/office/drawing/2014/main" id="{DBE8C36C-5D9A-A8C0-9BC8-E2C93DAB5305}"/>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7665035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短期总供给函数</a:t>
            </a:r>
            <a:endParaRPr lang="zh-CN" altLang="en-US" dirty="0">
              <a:ln w="0"/>
              <a:solidFill>
                <a:schemeClr val="accent1"/>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凯恩斯理论研究的是</a:t>
                </a:r>
                <a:r>
                  <a:rPr lang="zh-CN" altLang="en-US" b="1" dirty="0"/>
                  <a:t>短期生产函数</a:t>
                </a:r>
                <a:r>
                  <a:rPr lang="zh-CN" altLang="en-US" dirty="0"/>
                  <a:t>。</a:t>
                </a:r>
                <a:endParaRPr lang="en-US" altLang="zh-CN" dirty="0"/>
              </a:p>
              <a:p>
                <a:r>
                  <a:rPr lang="zh-CN" altLang="en-US" dirty="0"/>
                  <a:t>如</a:t>
                </a:r>
                <a14:m>
                  <m:oMath xmlns:m="http://schemas.openxmlformats.org/officeDocument/2006/math">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rPr>
                      <m:t>(</m:t>
                    </m:r>
                    <m:r>
                      <a:rPr lang="en-US" altLang="zh-CN" i="1">
                        <a:latin typeface="Cambria Math" panose="02040503050406030204" pitchFamily="18" charset="0"/>
                      </a:rPr>
                      <m:t>𝑁</m:t>
                    </m:r>
                    <m:r>
                      <a:rPr lang="en-US" altLang="zh-CN" i="1">
                        <a:latin typeface="Cambria Math" panose="02040503050406030204" pitchFamily="18" charset="0"/>
                      </a:rPr>
                      <m:t>, </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𝐾</m:t>
                        </m:r>
                      </m:e>
                    </m:acc>
                    <m:r>
                      <a:rPr lang="en-US" altLang="zh-CN" i="1">
                        <a:latin typeface="Cambria Math" panose="02040503050406030204" pitchFamily="18" charset="0"/>
                      </a:rPr>
                      <m:t>)</m:t>
                    </m:r>
                  </m:oMath>
                </a14:m>
                <a:r>
                  <a:rPr lang="zh-CN" altLang="en-US" dirty="0"/>
                  <a:t>，在一定时期和一定条件下，总供给将主要由经济的总就业水平决定。</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391" t="-2521"/>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54</a:t>
            </a:fld>
            <a:endParaRPr lang="zh-CN" altLang="en-US"/>
          </a:p>
        </p:txBody>
      </p:sp>
      <p:sp>
        <p:nvSpPr>
          <p:cNvPr id="7" name="Rectangle 6">
            <a:extLst>
              <a:ext uri="{FF2B5EF4-FFF2-40B4-BE49-F238E27FC236}">
                <a16:creationId xmlns:a16="http://schemas.microsoft.com/office/drawing/2014/main" id="{7E9DB010-EDD3-F6D9-7DD7-D5DD40551FC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54</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978F5871-EC78-6CB4-1C18-504B399DBA60}"/>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40447148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945" y="922007"/>
            <a:ext cx="3976211" cy="2188226"/>
          </a:xfrm>
        </p:spPr>
        <p:txBody>
          <a:bodyPr/>
          <a:lstStyle/>
          <a:p>
            <a:r>
              <a:rPr lang="zh-CN" altLang="en-US" sz="1210" dirty="0"/>
              <a:t>下面对最简单的劳动市场</a:t>
            </a:r>
            <a:r>
              <a:rPr lang="en-US" altLang="zh-CN" sz="1210" dirty="0"/>
              <a:t>——</a:t>
            </a:r>
            <a:r>
              <a:rPr lang="zh-CN" altLang="en-US" sz="1210" b="1" dirty="0"/>
              <a:t>完全竞争的劳动市场</a:t>
            </a:r>
            <a:r>
              <a:rPr lang="zh-CN" altLang="en-US" sz="1210" dirty="0"/>
              <a:t>加以说明。</a:t>
            </a:r>
            <a:endParaRPr lang="en-US" altLang="zh-CN" sz="1210" dirty="0"/>
          </a:p>
          <a:p>
            <a:r>
              <a:rPr lang="zh-CN" altLang="en-US" sz="1210" dirty="0"/>
              <a:t>微观经济意义下的</a:t>
            </a:r>
            <a:r>
              <a:rPr lang="zh-CN" altLang="en-US" sz="1210" b="1" dirty="0"/>
              <a:t>完全竞争要素市场</a:t>
            </a:r>
            <a:r>
              <a:rPr lang="zh-CN" altLang="en-US" sz="1210" dirty="0"/>
              <a:t>的特征：</a:t>
            </a:r>
            <a:endParaRPr lang="en-US" altLang="zh-CN" sz="1210" dirty="0"/>
          </a:p>
          <a:p>
            <a:r>
              <a:rPr lang="en-US" altLang="zh-CN" sz="1210" dirty="0"/>
              <a:t>1. </a:t>
            </a:r>
            <a:r>
              <a:rPr lang="zh-CN" altLang="en-US" sz="1210" dirty="0"/>
              <a:t>要素的供求双方人数都很多；</a:t>
            </a:r>
            <a:endParaRPr lang="en-US" altLang="zh-CN" sz="1210" dirty="0"/>
          </a:p>
          <a:p>
            <a:r>
              <a:rPr lang="en-US" altLang="zh-CN" sz="1210" dirty="0"/>
              <a:t>2. </a:t>
            </a:r>
            <a:r>
              <a:rPr lang="zh-CN" altLang="en-US" sz="1210" dirty="0"/>
              <a:t>要素之间没有任何区别；</a:t>
            </a:r>
            <a:endParaRPr lang="en-US" altLang="zh-CN" sz="1210" dirty="0"/>
          </a:p>
          <a:p>
            <a:r>
              <a:rPr lang="en-US" altLang="zh-CN" sz="1210" dirty="0"/>
              <a:t>3. </a:t>
            </a:r>
            <a:r>
              <a:rPr lang="zh-CN" altLang="en-US" sz="1210" dirty="0"/>
              <a:t>要素供求双方都具有完全的信息以及要素可以充分自由地流动</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55</a:t>
            </a:fld>
            <a:endParaRPr lang="zh-CN" altLang="en-US"/>
          </a:p>
        </p:txBody>
      </p:sp>
      <p:sp>
        <p:nvSpPr>
          <p:cNvPr id="7" name="Rectangle 6">
            <a:extLst>
              <a:ext uri="{FF2B5EF4-FFF2-40B4-BE49-F238E27FC236}">
                <a16:creationId xmlns:a16="http://schemas.microsoft.com/office/drawing/2014/main" id="{98066CA9-48A8-5C10-7173-54360BDC3DF6}"/>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55</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E2B9C3C9-A6DC-1D8E-327A-52FDEFF664CA}"/>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11C2B3AC-4BD8-B5F5-AE30-3AEC159E16C6}"/>
              </a:ext>
            </a:extLst>
          </p:cNvPr>
          <p:cNvSpPr>
            <a:spLocks noGrp="1"/>
          </p:cNvSpPr>
          <p:nvPr>
            <p:ph type="title"/>
          </p:nvPr>
        </p:nvSpPr>
        <p:spPr>
          <a:xfrm>
            <a:off x="172879" y="127376"/>
            <a:ext cx="4240332" cy="738903"/>
          </a:xfrm>
        </p:spPr>
        <p:txBody>
          <a:bodyPr/>
          <a:lstStyle/>
          <a:p>
            <a:r>
              <a:rPr kumimoji="1" lang="zh-CN" altLang="en-US" dirty="0"/>
              <a:t>劳动市场</a:t>
            </a:r>
            <a:br>
              <a:rPr kumimoji="1" lang="en-US" altLang="zh-CN" dirty="0"/>
            </a:br>
            <a:r>
              <a:rPr kumimoji="1" lang="zh-CN" altLang="en-US" dirty="0"/>
              <a:t>经济中的就业是如何决定的？</a:t>
            </a:r>
          </a:p>
        </p:txBody>
      </p:sp>
    </p:spTree>
    <p:extLst>
      <p:ext uri="{BB962C8B-B14F-4D97-AF65-F5344CB8AC3E}">
        <p14:creationId xmlns:p14="http://schemas.microsoft.com/office/powerpoint/2010/main" val="1173646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1" name="Rectangle 3">
            <a:extLst>
              <a:ext uri="{FF2B5EF4-FFF2-40B4-BE49-F238E27FC236}">
                <a16:creationId xmlns:a16="http://schemas.microsoft.com/office/drawing/2014/main" id="{7786216A-677F-40E2-965B-ECBA63AF2CE3}"/>
              </a:ext>
            </a:extLst>
          </p:cNvPr>
          <p:cNvSpPr>
            <a:spLocks noGrp="1" noChangeArrowheads="1"/>
          </p:cNvSpPr>
          <p:nvPr>
            <p:ph type="body" idx="1"/>
          </p:nvPr>
        </p:nvSpPr>
        <p:spPr>
          <a:xfrm>
            <a:off x="316945" y="590760"/>
            <a:ext cx="3976211" cy="2555460"/>
          </a:xfrm>
        </p:spPr>
        <p:txBody>
          <a:bodyPr/>
          <a:lstStyle/>
          <a:p>
            <a:pPr marL="0" indent="0">
              <a:buNone/>
            </a:pPr>
            <a:r>
              <a:rPr lang="zh-CN" altLang="en-US" b="1" dirty="0"/>
              <a:t>劳动的需求：</a:t>
            </a:r>
            <a:endParaRPr lang="en-US" altLang="zh-CN" b="1" dirty="0"/>
          </a:p>
          <a:p>
            <a:pPr marL="0" indent="0">
              <a:buNone/>
            </a:pPr>
            <a:r>
              <a:rPr lang="en-US" altLang="zh-CN" dirty="0"/>
              <a:t>——</a:t>
            </a:r>
            <a:r>
              <a:rPr lang="zh-CN" altLang="en-US" dirty="0"/>
              <a:t>表示劳动的需求量与实际工资之间的关系</a:t>
            </a:r>
            <a:endParaRPr lang="en-US" altLang="zh-CN" dirty="0"/>
          </a:p>
          <a:p>
            <a:r>
              <a:rPr lang="zh-CN" altLang="en-US" b="1" dirty="0"/>
              <a:t>实际工资</a:t>
            </a:r>
            <a:r>
              <a:rPr lang="en-US" altLang="zh-CN" b="1" dirty="0"/>
              <a:t>[Real Wage ]</a:t>
            </a:r>
          </a:p>
          <a:p>
            <a:r>
              <a:rPr lang="zh-CN" altLang="en-US" b="1" dirty="0"/>
              <a:t>货币工资</a:t>
            </a:r>
            <a:r>
              <a:rPr lang="en-US" altLang="zh-CN" b="1" dirty="0"/>
              <a:t>[Money Wage ]</a:t>
            </a:r>
          </a:p>
        </p:txBody>
      </p:sp>
      <p:sp>
        <p:nvSpPr>
          <p:cNvPr id="519172" name="Text Box 4">
            <a:extLst>
              <a:ext uri="{FF2B5EF4-FFF2-40B4-BE49-F238E27FC236}">
                <a16:creationId xmlns:a16="http://schemas.microsoft.com/office/drawing/2014/main" id="{E0F24A9D-C4AA-4358-8ABB-0B7AB89356CB}"/>
              </a:ext>
            </a:extLst>
          </p:cNvPr>
          <p:cNvSpPr txBox="1">
            <a:spLocks noChangeArrowheads="1"/>
          </p:cNvSpPr>
          <p:nvPr/>
        </p:nvSpPr>
        <p:spPr bwMode="auto">
          <a:xfrm>
            <a:off x="316944" y="2137761"/>
            <a:ext cx="2785269" cy="30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12" dirty="0">
                <a:latin typeface="宋体" panose="02010600030101010101" pitchFamily="2" charset="-122"/>
              </a:rPr>
              <a:t>实际工资</a:t>
            </a:r>
            <a:r>
              <a:rPr kumimoji="1" lang="en-US" altLang="zh-CN" sz="1412" dirty="0">
                <a:latin typeface="Times New Roman" panose="02020603050405020304" pitchFamily="18" charset="0"/>
              </a:rPr>
              <a:t>=                      </a:t>
            </a:r>
            <a:r>
              <a:rPr kumimoji="1" lang="en-US" altLang="zh-CN" sz="1412" dirty="0">
                <a:latin typeface="Times New Roman" panose="02020603050405020304" pitchFamily="18" charset="0"/>
                <a:sym typeface="Symbol" panose="05050102010706020507" pitchFamily="18" charset="2"/>
              </a:rPr>
              <a:t>100</a:t>
            </a:r>
            <a:endParaRPr kumimoji="1" lang="en-US" altLang="zh-CN" sz="1412" dirty="0">
              <a:latin typeface="Times New Roman" panose="02020603050405020304" pitchFamily="18" charset="0"/>
            </a:endParaRPr>
          </a:p>
        </p:txBody>
      </p:sp>
      <p:sp>
        <p:nvSpPr>
          <p:cNvPr id="519173" name="Text Box 5">
            <a:extLst>
              <a:ext uri="{FF2B5EF4-FFF2-40B4-BE49-F238E27FC236}">
                <a16:creationId xmlns:a16="http://schemas.microsoft.com/office/drawing/2014/main" id="{C8E2D389-FADB-44E8-81E6-E26DDEA42758}"/>
              </a:ext>
            </a:extLst>
          </p:cNvPr>
          <p:cNvSpPr txBox="1">
            <a:spLocks noChangeArrowheads="1"/>
          </p:cNvSpPr>
          <p:nvPr/>
        </p:nvSpPr>
        <p:spPr bwMode="auto">
          <a:xfrm>
            <a:off x="1148923" y="2060964"/>
            <a:ext cx="1121311" cy="483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pPr>
            <a:r>
              <a:rPr kumimoji="1" lang="zh-CN" altLang="en-US" sz="1412" u="sng" dirty="0">
                <a:latin typeface="宋体" panose="02010600030101010101" pitchFamily="2" charset="-122"/>
              </a:rPr>
              <a:t>货币工资</a:t>
            </a:r>
          </a:p>
          <a:p>
            <a:pPr algn="ctr">
              <a:lnSpc>
                <a:spcPct val="90000"/>
              </a:lnSpc>
            </a:pPr>
            <a:r>
              <a:rPr kumimoji="1" lang="zh-CN" altLang="en-US" sz="1412" dirty="0">
                <a:latin typeface="宋体" panose="02010600030101010101" pitchFamily="2" charset="-122"/>
              </a:rPr>
              <a:t>物价指数</a:t>
            </a:r>
          </a:p>
        </p:txBody>
      </p:sp>
      <p:sp>
        <p:nvSpPr>
          <p:cNvPr id="519174" name="Text Box 6">
            <a:extLst>
              <a:ext uri="{FF2B5EF4-FFF2-40B4-BE49-F238E27FC236}">
                <a16:creationId xmlns:a16="http://schemas.microsoft.com/office/drawing/2014/main" id="{87EC914F-6383-4413-A317-5CBAF9A05E50}"/>
              </a:ext>
            </a:extLst>
          </p:cNvPr>
          <p:cNvSpPr txBox="1">
            <a:spLocks noChangeArrowheads="1"/>
          </p:cNvSpPr>
          <p:nvPr/>
        </p:nvSpPr>
        <p:spPr bwMode="auto">
          <a:xfrm>
            <a:off x="324948" y="2560353"/>
            <a:ext cx="4109872" cy="30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12" dirty="0">
                <a:latin typeface="宋体" panose="02010600030101010101" pitchFamily="2" charset="-122"/>
              </a:rPr>
              <a:t>例：实际工资</a:t>
            </a:r>
            <a:r>
              <a:rPr kumimoji="1" lang="en-US" altLang="zh-CN" sz="1412" dirty="0">
                <a:latin typeface="Times New Roman" panose="02020603050405020304" pitchFamily="18" charset="0"/>
              </a:rPr>
              <a:t>=                 </a:t>
            </a:r>
            <a:r>
              <a:rPr kumimoji="1" lang="en-US" altLang="zh-CN" sz="1412" dirty="0">
                <a:latin typeface="Times New Roman" panose="02020603050405020304" pitchFamily="18" charset="0"/>
                <a:sym typeface="Symbol" panose="05050102010706020507" pitchFamily="18" charset="2"/>
              </a:rPr>
              <a:t>100=2000</a:t>
            </a:r>
            <a:r>
              <a:rPr kumimoji="1" lang="zh-CN" altLang="en-US" sz="1412" dirty="0">
                <a:latin typeface="Times New Roman" panose="02020603050405020304" pitchFamily="18" charset="0"/>
                <a:sym typeface="Symbol" panose="05050102010706020507" pitchFamily="18" charset="2"/>
              </a:rPr>
              <a:t>元</a:t>
            </a:r>
          </a:p>
        </p:txBody>
      </p:sp>
      <p:sp>
        <p:nvSpPr>
          <p:cNvPr id="519175" name="Text Box 7">
            <a:extLst>
              <a:ext uri="{FF2B5EF4-FFF2-40B4-BE49-F238E27FC236}">
                <a16:creationId xmlns:a16="http://schemas.microsoft.com/office/drawing/2014/main" id="{448B09BD-E4A4-4287-AE2C-D7AB6094D7A0}"/>
              </a:ext>
            </a:extLst>
          </p:cNvPr>
          <p:cNvSpPr txBox="1">
            <a:spLocks noChangeArrowheads="1"/>
          </p:cNvSpPr>
          <p:nvPr/>
        </p:nvSpPr>
        <p:spPr bwMode="auto">
          <a:xfrm>
            <a:off x="1509087" y="2495182"/>
            <a:ext cx="870797" cy="439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lnSpc>
                <a:spcPct val="80000"/>
              </a:lnSpc>
            </a:pPr>
            <a:r>
              <a:rPr kumimoji="1" lang="en-US" altLang="zh-CN" sz="1412" u="sng" dirty="0">
                <a:latin typeface="Times New Roman" panose="02020603050405020304" pitchFamily="18" charset="0"/>
              </a:rPr>
              <a:t>2200</a:t>
            </a:r>
            <a:r>
              <a:rPr kumimoji="1" lang="zh-CN" altLang="en-US" sz="1412" u="sng" dirty="0">
                <a:latin typeface="Times New Roman" panose="02020603050405020304" pitchFamily="18" charset="0"/>
              </a:rPr>
              <a:t>元</a:t>
            </a:r>
          </a:p>
          <a:p>
            <a:pPr algn="ctr" eaLnBrk="0" hangingPunct="0">
              <a:lnSpc>
                <a:spcPct val="80000"/>
              </a:lnSpc>
            </a:pPr>
            <a:r>
              <a:rPr kumimoji="1" lang="en-US" altLang="zh-CN" sz="1412" dirty="0">
                <a:latin typeface="Times New Roman" panose="02020603050405020304" pitchFamily="18" charset="0"/>
              </a:rPr>
              <a:t>110</a:t>
            </a:r>
          </a:p>
        </p:txBody>
      </p:sp>
      <p:sp>
        <p:nvSpPr>
          <p:cNvPr id="3" name="标题 2">
            <a:extLst>
              <a:ext uri="{FF2B5EF4-FFF2-40B4-BE49-F238E27FC236}">
                <a16:creationId xmlns:a16="http://schemas.microsoft.com/office/drawing/2014/main" id="{E9AD105D-AC4E-4DC4-A8B8-398FCDD5D785}"/>
              </a:ext>
            </a:extLst>
          </p:cNvPr>
          <p:cNvSpPr>
            <a:spLocks noGrp="1"/>
          </p:cNvSpPr>
          <p:nvPr>
            <p:ph type="title"/>
          </p:nvPr>
        </p:nvSpPr>
        <p:spPr/>
        <p:txBody>
          <a:bodyPr/>
          <a:lstStyle/>
          <a:p>
            <a:r>
              <a:rPr lang="zh-CN" altLang="en-US" dirty="0"/>
              <a:t>劳动市场</a:t>
            </a:r>
          </a:p>
        </p:txBody>
      </p:sp>
      <p:sp>
        <p:nvSpPr>
          <p:cNvPr id="6" name="灯片编号占位符 5">
            <a:extLst>
              <a:ext uri="{FF2B5EF4-FFF2-40B4-BE49-F238E27FC236}">
                <a16:creationId xmlns:a16="http://schemas.microsoft.com/office/drawing/2014/main" id="{26C11CBD-59FD-4ABE-B7A8-B830BC952599}"/>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56</a:t>
            </a:fld>
            <a:endParaRPr lang="zh-CN" altLang="en-US"/>
          </a:p>
        </p:txBody>
      </p:sp>
      <p:sp>
        <p:nvSpPr>
          <p:cNvPr id="2" name="Rectangle 6">
            <a:extLst>
              <a:ext uri="{FF2B5EF4-FFF2-40B4-BE49-F238E27FC236}">
                <a16:creationId xmlns:a16="http://schemas.microsoft.com/office/drawing/2014/main" id="{FB0B8488-5837-CE74-008D-7BA251A5B25F}"/>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56</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7" name="日期占位符 3">
            <a:extLst>
              <a:ext uri="{FF2B5EF4-FFF2-40B4-BE49-F238E27FC236}">
                <a16:creationId xmlns:a16="http://schemas.microsoft.com/office/drawing/2014/main" id="{B9BDCFDD-2FAE-2262-A5CC-E5829E4419DA}"/>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220248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9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9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9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9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1"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4939" y="635687"/>
            <a:ext cx="3976211" cy="768333"/>
          </a:xfrm>
        </p:spPr>
        <p:txBody>
          <a:bodyPr/>
          <a:lstStyle/>
          <a:p>
            <a:r>
              <a:rPr lang="zh-CN" altLang="en-US" sz="1210" dirty="0"/>
              <a:t>由于劳动的边际产品随着劳动投入的增加而降低，因此劳动的需求函数是</a:t>
            </a:r>
            <a:r>
              <a:rPr lang="zh-CN" altLang="en-US" sz="1210" b="1" dirty="0"/>
              <a:t>实际工资</a:t>
            </a:r>
            <a:r>
              <a:rPr lang="zh-CN" altLang="en-US" sz="1210" dirty="0"/>
              <a:t>的减函数。</a:t>
            </a:r>
            <a:endParaRPr lang="en-US" altLang="zh-CN" sz="1210" dirty="0"/>
          </a:p>
          <a:p>
            <a:r>
              <a:rPr lang="zh-CN" altLang="en-US" sz="1210" dirty="0"/>
              <a:t>上述微观经济学意义上的劳动需求与实际工资的关系，对于总量意义的劳动市场也是成立的。</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57</a:t>
            </a:fld>
            <a:endParaRPr lang="zh-CN" altLang="en-US"/>
          </a:p>
        </p:txBody>
      </p:sp>
      <p:grpSp>
        <p:nvGrpSpPr>
          <p:cNvPr id="9" name="组合 8"/>
          <p:cNvGrpSpPr/>
          <p:nvPr/>
        </p:nvGrpSpPr>
        <p:grpSpPr>
          <a:xfrm>
            <a:off x="2378187" y="1638192"/>
            <a:ext cx="2035024" cy="1530191"/>
            <a:chOff x="4439744" y="3137836"/>
            <a:chExt cx="4036411" cy="3035091"/>
          </a:xfrm>
        </p:grpSpPr>
        <p:pic>
          <p:nvPicPr>
            <p:cNvPr id="7" name="Picture 4" descr="xf1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9744" y="3137836"/>
              <a:ext cx="4036411" cy="2690578"/>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5765300" y="5712660"/>
              <a:ext cx="2277443" cy="460267"/>
            </a:xfrm>
            <a:prstGeom prst="rect">
              <a:avLst/>
            </a:prstGeom>
          </p:spPr>
          <p:txBody>
            <a:bodyPr wrap="square">
              <a:spAutoFit/>
            </a:bodyPr>
            <a:lstStyle/>
            <a:p>
              <a:pPr algn="ctr">
                <a:spcBef>
                  <a:spcPct val="50000"/>
                </a:spcBef>
              </a:pPr>
              <a:r>
                <a:rPr lang="zh-CN" altLang="en-US" sz="908"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劳动需求曲线</a:t>
              </a:r>
            </a:p>
          </p:txBody>
        </p:sp>
      </p:grpSp>
      <mc:AlternateContent xmlns:mc="http://schemas.openxmlformats.org/markup-compatibility/2006" xmlns:a14="http://schemas.microsoft.com/office/drawing/2010/main">
        <mc:Choice Requires="a14">
          <p:sp>
            <p:nvSpPr>
              <p:cNvPr id="10" name="内容占位符 2"/>
              <p:cNvSpPr txBox="1">
                <a:spLocks/>
              </p:cNvSpPr>
              <p:nvPr/>
            </p:nvSpPr>
            <p:spPr bwMode="auto">
              <a:xfrm>
                <a:off x="341700" y="1638192"/>
                <a:ext cx="2031780" cy="1048098"/>
              </a:xfrm>
              <a:prstGeom prst="rect">
                <a:avLst/>
              </a:prstGeom>
              <a:ln w="9525">
                <a:noFill/>
                <a:miter lim="800000"/>
                <a:headEnd/>
                <a:tailEnd/>
              </a:ln>
              <a:extLst>
                <a:ext uri="{909E8E84-426E-40DD-AFC4-6F175D3DCCD1}">
                  <a14:hiddenFill>
                    <a:solidFill>
                      <a:srgbClr val="FFFFFF"/>
                    </a:solidFill>
                  </a14:hiddenFill>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461040">
                  <a:lnSpc>
                    <a:spcPts val="1210"/>
                  </a:lnSpc>
                  <a:buNone/>
                </a:pPr>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    用</a:t>
                </a:r>
                <a14:m>
                  <m:oMath xmlns:m="http://schemas.openxmlformats.org/officeDocument/2006/math">
                    <m:sSub>
                      <m:sSubPr>
                        <m:ctrlPr>
                          <a:rPr lang="en-US" altLang="zh-CN" sz="1008" i="1">
                            <a:latin typeface="Cambria Math" panose="02040503050406030204" pitchFamily="18" charset="0"/>
                          </a:rPr>
                        </m:ctrlPr>
                      </m:sSubPr>
                      <m:e>
                        <m:r>
                          <a:rPr lang="en-US" altLang="zh-CN" sz="1008" i="1">
                            <a:latin typeface="Cambria Math" panose="02040503050406030204" pitchFamily="18" charset="0"/>
                          </a:rPr>
                          <m:t>𝑁</m:t>
                        </m:r>
                      </m:e>
                      <m:sub>
                        <m:r>
                          <a:rPr lang="en-US" altLang="zh-CN" sz="1008" i="1">
                            <a:latin typeface="Cambria Math" panose="02040503050406030204" pitchFamily="18" charset="0"/>
                          </a:rPr>
                          <m:t>𝑑</m:t>
                        </m:r>
                      </m:sub>
                    </m:sSub>
                  </m:oMath>
                </a14:m>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表示劳动需求量，劳动需求函数表示为：</a:t>
                </a:r>
                <a:endParaRPr lang="en-US" altLang="zh-CN" sz="1008" i="1" dirty="0">
                  <a:latin typeface="Cambria Math" panose="02040503050406030204" pitchFamily="18" charset="0"/>
                  <a:ea typeface="楷体" panose="02010609060101010101" pitchFamily="49" charset="-122"/>
                  <a:cs typeface="Times New Roman" panose="02020603050405020304" pitchFamily="18" charset="0"/>
                </a:endParaRPr>
              </a:p>
              <a:p>
                <a:pPr marL="0" indent="0" algn="just" defTabSz="461040">
                  <a:lnSpc>
                    <a:spcPts val="1210"/>
                  </a:lnSpc>
                  <a:buNone/>
                </a:pPr>
                <a14:m>
                  <m:oMathPara xmlns:m="http://schemas.openxmlformats.org/officeDocument/2006/math">
                    <m:oMathParaPr>
                      <m:jc m:val="centerGroup"/>
                    </m:oMathParaPr>
                    <m:oMath xmlns:m="http://schemas.openxmlformats.org/officeDocument/2006/math">
                      <m:sSub>
                        <m:sSubPr>
                          <m:ctrlPr>
                            <a:rPr lang="en-US" altLang="zh-CN" sz="1008" i="1">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1008" i="1">
                              <a:latin typeface="Cambria Math" panose="02040503050406030204" pitchFamily="18" charset="0"/>
                              <a:ea typeface="楷体" panose="02010609060101010101" pitchFamily="49" charset="-122"/>
                              <a:cs typeface="Times New Roman" panose="02020603050405020304" pitchFamily="18" charset="0"/>
                            </a:rPr>
                            <m:t>𝑁</m:t>
                          </m:r>
                        </m:e>
                        <m:sub>
                          <m:r>
                            <a:rPr lang="en-US" altLang="zh-CN" sz="1008" i="1">
                              <a:latin typeface="Cambria Math" panose="02040503050406030204" pitchFamily="18" charset="0"/>
                              <a:ea typeface="楷体" panose="02010609060101010101" pitchFamily="49" charset="-122"/>
                              <a:cs typeface="Times New Roman" panose="02020603050405020304" pitchFamily="18" charset="0"/>
                            </a:rPr>
                            <m:t>𝑑</m:t>
                          </m:r>
                        </m:sub>
                      </m:sSub>
                      <m:r>
                        <a:rPr lang="en-US" altLang="zh-CN" sz="1008" i="1">
                          <a:latin typeface="Cambria Math" panose="02040503050406030204" pitchFamily="18" charset="0"/>
                          <a:ea typeface="楷体" panose="02010609060101010101" pitchFamily="49" charset="-122"/>
                          <a:cs typeface="Times New Roman" panose="02020603050405020304" pitchFamily="18" charset="0"/>
                        </a:rPr>
                        <m:t>=</m:t>
                      </m:r>
                      <m:sSub>
                        <m:sSubPr>
                          <m:ctrlPr>
                            <a:rPr lang="en-US" altLang="zh-CN" sz="1008" i="1">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1008" i="1">
                              <a:latin typeface="Cambria Math" panose="02040503050406030204" pitchFamily="18" charset="0"/>
                              <a:ea typeface="楷体" panose="02010609060101010101" pitchFamily="49" charset="-122"/>
                              <a:cs typeface="Times New Roman" panose="02020603050405020304" pitchFamily="18" charset="0"/>
                            </a:rPr>
                            <m:t>𝑁</m:t>
                          </m:r>
                        </m:e>
                        <m:sub>
                          <m:r>
                            <a:rPr lang="en-US" altLang="zh-CN" sz="1008" i="1">
                              <a:latin typeface="Cambria Math" panose="02040503050406030204" pitchFamily="18" charset="0"/>
                              <a:ea typeface="楷体" panose="02010609060101010101" pitchFamily="49" charset="-122"/>
                              <a:cs typeface="Times New Roman" panose="02020603050405020304" pitchFamily="18" charset="0"/>
                            </a:rPr>
                            <m:t>𝑑</m:t>
                          </m:r>
                        </m:sub>
                      </m:sSub>
                      <m:d>
                        <m:dPr>
                          <m:ctrlPr>
                            <a:rPr lang="en-US" altLang="zh-CN" sz="1008" i="1">
                              <a:latin typeface="Cambria Math" panose="02040503050406030204" pitchFamily="18" charset="0"/>
                              <a:ea typeface="楷体" panose="02010609060101010101" pitchFamily="49" charset="-122"/>
                              <a:cs typeface="Times New Roman" panose="02020603050405020304" pitchFamily="18" charset="0"/>
                            </a:rPr>
                          </m:ctrlPr>
                        </m:dPr>
                        <m:e>
                          <m:f>
                            <m:fPr>
                              <m:ctrlPr>
                                <a:rPr lang="en-US" altLang="zh-CN" sz="1008" i="1">
                                  <a:latin typeface="Cambria Math" panose="02040503050406030204" pitchFamily="18" charset="0"/>
                                  <a:ea typeface="楷体" panose="02010609060101010101" pitchFamily="49" charset="-122"/>
                                  <a:cs typeface="Times New Roman" panose="02020603050405020304" pitchFamily="18" charset="0"/>
                                </a:rPr>
                              </m:ctrlPr>
                            </m:fPr>
                            <m:num>
                              <m:r>
                                <a:rPr lang="en-US" altLang="zh-CN" sz="1008" i="1">
                                  <a:latin typeface="Cambria Math" panose="02040503050406030204" pitchFamily="18" charset="0"/>
                                  <a:ea typeface="楷体" panose="02010609060101010101" pitchFamily="49" charset="-122"/>
                                  <a:cs typeface="Times New Roman" panose="02020603050405020304" pitchFamily="18" charset="0"/>
                                </a:rPr>
                                <m:t>𝑊</m:t>
                              </m:r>
                            </m:num>
                            <m:den>
                              <m:r>
                                <a:rPr lang="en-US" altLang="zh-CN" sz="1008" i="1">
                                  <a:latin typeface="Cambria Math" panose="02040503050406030204" pitchFamily="18" charset="0"/>
                                  <a:ea typeface="楷体" panose="02010609060101010101" pitchFamily="49" charset="-122"/>
                                  <a:cs typeface="Times New Roman" panose="02020603050405020304" pitchFamily="18" charset="0"/>
                                </a:rPr>
                                <m:t>𝑃</m:t>
                              </m:r>
                            </m:den>
                          </m:f>
                        </m:e>
                      </m:d>
                    </m:oMath>
                  </m:oMathPara>
                </a14:m>
                <a:endParaRPr lang="en-US" altLang="zh-CN" sz="1008" dirty="0">
                  <a:latin typeface="Times New Roman" panose="02020603050405020304" pitchFamily="18" charset="0"/>
                  <a:ea typeface="楷体" panose="02010609060101010101" pitchFamily="49" charset="-122"/>
                  <a:cs typeface="Times New Roman" panose="02020603050405020304" pitchFamily="18" charset="0"/>
                </a:endParaRPr>
              </a:p>
              <a:p>
                <a:pPr marL="0" indent="0" algn="just" defTabSz="461040">
                  <a:lnSpc>
                    <a:spcPts val="1210"/>
                  </a:lnSpc>
                  <a:buNone/>
                </a:pPr>
                <a:r>
                  <a:rPr lang="zh-CN" altLang="en-US" sz="1008" dirty="0">
                    <a:latin typeface="Times New Roman" panose="02020603050405020304" pitchFamily="18" charset="0"/>
                    <a:ea typeface="楷体" panose="02010609060101010101" pitchFamily="49" charset="-122"/>
                    <a:cs typeface="Times New Roman" panose="02020603050405020304" pitchFamily="18" charset="0"/>
                  </a:rPr>
                  <a:t>     实际工资低时，劳动的需求量大；实际工资高时，劳动的需求量小。如右图所示。</a:t>
                </a:r>
              </a:p>
            </p:txBody>
          </p:sp>
        </mc:Choice>
        <mc:Fallback xmlns="">
          <p:sp>
            <p:nvSpPr>
              <p:cNvPr id="10" name="内容占位符 2"/>
              <p:cNvSpPr txBox="1">
                <a:spLocks noRot="1" noChangeAspect="1" noMove="1" noResize="1" noEditPoints="1" noAdjustHandles="1" noChangeArrowheads="1" noChangeShapeType="1" noTextEdit="1"/>
              </p:cNvSpPr>
              <p:nvPr/>
            </p:nvSpPr>
            <p:spPr bwMode="auto">
              <a:xfrm>
                <a:off x="341700" y="1638192"/>
                <a:ext cx="2031780" cy="1048098"/>
              </a:xfrm>
              <a:prstGeom prst="rect">
                <a:avLst/>
              </a:prstGeom>
              <a:blipFill>
                <a:blip r:embed="rId3"/>
                <a:stretch>
                  <a:fillRect l="-1242" t="-2410" r="-1863" b="-8434"/>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11" name="Rectangle 6">
            <a:extLst>
              <a:ext uri="{FF2B5EF4-FFF2-40B4-BE49-F238E27FC236}">
                <a16:creationId xmlns:a16="http://schemas.microsoft.com/office/drawing/2014/main" id="{777D9D74-F143-0D11-1199-884922A99FA7}"/>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57</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2" name="日期占位符 3">
            <a:extLst>
              <a:ext uri="{FF2B5EF4-FFF2-40B4-BE49-F238E27FC236}">
                <a16:creationId xmlns:a16="http://schemas.microsoft.com/office/drawing/2014/main" id="{107B779F-786F-13CD-0D0D-46C7EB67B168}"/>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3" name="标题 12">
            <a:extLst>
              <a:ext uri="{FF2B5EF4-FFF2-40B4-BE49-F238E27FC236}">
                <a16:creationId xmlns:a16="http://schemas.microsoft.com/office/drawing/2014/main" id="{2047ED28-9200-BDAF-DEDA-B0A925871775}"/>
              </a:ext>
            </a:extLst>
          </p:cNvPr>
          <p:cNvSpPr>
            <a:spLocks noGrp="1"/>
          </p:cNvSpPr>
          <p:nvPr>
            <p:ph type="title"/>
          </p:nvPr>
        </p:nvSpPr>
        <p:spPr/>
        <p:txBody>
          <a:bodyPr/>
          <a:lstStyle/>
          <a:p>
            <a:r>
              <a:rPr kumimoji="1" lang="zh-CN" altLang="en-US" dirty="0"/>
              <a:t>劳动市场</a:t>
            </a:r>
          </a:p>
        </p:txBody>
      </p:sp>
    </p:spTree>
    <p:extLst>
      <p:ext uri="{BB962C8B-B14F-4D97-AF65-F5344CB8AC3E}">
        <p14:creationId xmlns:p14="http://schemas.microsoft.com/office/powerpoint/2010/main" val="3777553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劳动市场</a:t>
            </a:r>
            <a:endParaRPr lang="zh-CN" altLang="en-US" dirty="0">
              <a:ln w="0"/>
              <a:solidFill>
                <a:schemeClr val="accent1"/>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16035" y="1046700"/>
                <a:ext cx="3976211" cy="666273"/>
              </a:xfrm>
            </p:spPr>
            <p:txBody>
              <a:bodyPr/>
              <a:lstStyle/>
              <a:p>
                <a:r>
                  <a:rPr lang="zh-CN" altLang="en-US" sz="1100" dirty="0"/>
                  <a:t>总量意义上的劳动供给是实际工资的函数：</a:t>
                </a:r>
                <a:endParaRPr lang="en-US" altLang="zh-CN" sz="1100" dirty="0"/>
              </a:p>
              <a:p>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𝑁</m:t>
                        </m:r>
                      </m:e>
                      <m:sub>
                        <m:r>
                          <a:rPr lang="en-US" altLang="zh-CN" sz="1100" i="1">
                            <a:latin typeface="Cambria Math" panose="02040503050406030204" pitchFamily="18" charset="0"/>
                          </a:rPr>
                          <m:t>𝑠</m:t>
                        </m:r>
                      </m:sub>
                    </m:sSub>
                    <m:r>
                      <a:rPr lang="en-US" altLang="zh-CN" sz="1100" i="1">
                        <a:latin typeface="Cambria Math" panose="02040503050406030204" pitchFamily="18" charset="0"/>
                      </a:rPr>
                      <m:t>=</m:t>
                    </m:r>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𝑁</m:t>
                        </m:r>
                      </m:e>
                      <m:sub>
                        <m:r>
                          <a:rPr lang="en-US" altLang="zh-CN" sz="1100" i="1">
                            <a:latin typeface="Cambria Math" panose="02040503050406030204" pitchFamily="18" charset="0"/>
                          </a:rPr>
                          <m:t>𝑠</m:t>
                        </m:r>
                      </m:sub>
                    </m:sSub>
                    <m:d>
                      <m:dPr>
                        <m:ctrlPr>
                          <a:rPr lang="en-US" altLang="zh-CN" sz="1100" i="1">
                            <a:latin typeface="Cambria Math" panose="02040503050406030204" pitchFamily="18" charset="0"/>
                          </a:rPr>
                        </m:ctrlPr>
                      </m:dPr>
                      <m:e>
                        <m:f>
                          <m:fPr>
                            <m:ctrlPr>
                              <a:rPr lang="en-US" altLang="zh-CN" sz="1100" i="1">
                                <a:latin typeface="Cambria Math" panose="02040503050406030204" pitchFamily="18" charset="0"/>
                              </a:rPr>
                            </m:ctrlPr>
                          </m:fPr>
                          <m:num>
                            <m:r>
                              <a:rPr lang="en-US" altLang="zh-CN" sz="1100" i="1">
                                <a:latin typeface="Cambria Math" panose="02040503050406030204" pitchFamily="18" charset="0"/>
                              </a:rPr>
                              <m:t>𝑊</m:t>
                            </m:r>
                          </m:num>
                          <m:den>
                            <m:r>
                              <a:rPr lang="en-US" altLang="zh-CN" sz="1100" i="1">
                                <a:latin typeface="Cambria Math" panose="02040503050406030204" pitchFamily="18" charset="0"/>
                              </a:rPr>
                              <m:t>𝑃</m:t>
                            </m:r>
                          </m:den>
                        </m:f>
                      </m:e>
                    </m:d>
                  </m:oMath>
                </a14:m>
                <a:endParaRPr lang="en-US" altLang="zh-CN" sz="1100" dirty="0"/>
              </a:p>
              <a:p>
                <a:endParaRPr lang="zh-CN" altLang="en-US" sz="16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16035" y="1046700"/>
                <a:ext cx="3976211" cy="666273"/>
              </a:xfrm>
              <a:blipFill>
                <a:blip r:embed="rId2"/>
                <a:stretch>
                  <a:fillRect t="-3774"/>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58</a:t>
            </a:fld>
            <a:endParaRPr lang="zh-CN" altLang="en-US"/>
          </a:p>
        </p:txBody>
      </p:sp>
      <p:grpSp>
        <p:nvGrpSpPr>
          <p:cNvPr id="9" name="组合 8"/>
          <p:cNvGrpSpPr/>
          <p:nvPr/>
        </p:nvGrpSpPr>
        <p:grpSpPr>
          <a:xfrm>
            <a:off x="2331037" y="1412890"/>
            <a:ext cx="1849693" cy="1512911"/>
            <a:chOff x="4846537" y="3437408"/>
            <a:chExt cx="3668813" cy="3000816"/>
          </a:xfrm>
        </p:grpSpPr>
        <p:pic>
          <p:nvPicPr>
            <p:cNvPr id="7" name="Picture 4" descr="xf1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6537" y="3437408"/>
              <a:ext cx="3668813" cy="248192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5799520" y="5919328"/>
              <a:ext cx="2045062" cy="518896"/>
            </a:xfrm>
            <a:prstGeom prst="rect">
              <a:avLst/>
            </a:prstGeom>
          </p:spPr>
          <p:txBody>
            <a:bodyPr wrap="none">
              <a:spAutoFit/>
            </a:bodyPr>
            <a:lstStyle/>
            <a:p>
              <a:pPr algn="ctr">
                <a:spcBef>
                  <a:spcPct val="50000"/>
                </a:spcBef>
              </a:pPr>
              <a:r>
                <a:rPr lang="zh-CN" altLang="en-US" sz="110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劳动供给曲线</a:t>
              </a:r>
            </a:p>
          </p:txBody>
        </p:sp>
      </p:grpSp>
      <p:sp>
        <p:nvSpPr>
          <p:cNvPr id="10" name="矩形 9"/>
          <p:cNvSpPr/>
          <p:nvPr/>
        </p:nvSpPr>
        <p:spPr>
          <a:xfrm>
            <a:off x="316944" y="1782509"/>
            <a:ext cx="1987196" cy="938719"/>
          </a:xfrm>
          <a:prstGeom prst="rect">
            <a:avLst/>
          </a:prstGeom>
        </p:spPr>
        <p:txBody>
          <a:bodyPr wrap="square">
            <a:spAutoFit/>
          </a:bodyPr>
          <a:lstStyle/>
          <a:p>
            <a:pPr marL="172890" indent="-172890">
              <a:buFont typeface="Arial" panose="020B0604020202020204" pitchFamily="34" charset="0"/>
              <a:buChar char="•"/>
            </a:pPr>
            <a:r>
              <a:rPr lang="zh-CN" altLang="en-US" sz="1100" dirty="0">
                <a:latin typeface="SimSun" panose="02010600030101010101" pitchFamily="2" charset="-122"/>
                <a:ea typeface="SimSun" panose="02010600030101010101" pitchFamily="2" charset="-122"/>
              </a:rPr>
              <a:t>实际工资低时，劳动供给量小</a:t>
            </a:r>
            <a:endParaRPr lang="en-US" altLang="zh-CN" sz="1100" dirty="0">
              <a:latin typeface="SimSun" panose="02010600030101010101" pitchFamily="2" charset="-122"/>
              <a:ea typeface="SimSun" panose="02010600030101010101" pitchFamily="2" charset="-122"/>
            </a:endParaRPr>
          </a:p>
          <a:p>
            <a:pPr marL="172890" indent="-172890">
              <a:buFont typeface="Arial" panose="020B0604020202020204" pitchFamily="34" charset="0"/>
              <a:buChar char="•"/>
            </a:pPr>
            <a:endParaRPr lang="en-US" altLang="zh-CN" sz="1100" dirty="0">
              <a:latin typeface="SimSun" panose="02010600030101010101" pitchFamily="2" charset="-122"/>
              <a:ea typeface="SimSun" panose="02010600030101010101" pitchFamily="2" charset="-122"/>
            </a:endParaRPr>
          </a:p>
          <a:p>
            <a:pPr marL="172890" indent="-172890">
              <a:buFont typeface="Arial" panose="020B0604020202020204" pitchFamily="34" charset="0"/>
              <a:buChar char="•"/>
            </a:pPr>
            <a:r>
              <a:rPr lang="zh-CN" altLang="en-US" sz="1100" dirty="0">
                <a:latin typeface="SimSun" panose="02010600030101010101" pitchFamily="2" charset="-122"/>
                <a:ea typeface="SimSun" panose="02010600030101010101" pitchFamily="2" charset="-122"/>
              </a:rPr>
              <a:t>实际工资高时，劳动供给量大</a:t>
            </a:r>
            <a:endParaRPr lang="en-US" altLang="zh-CN" sz="1100" dirty="0">
              <a:latin typeface="SimSun" panose="02010600030101010101" pitchFamily="2" charset="-122"/>
              <a:ea typeface="SimSun" panose="02010600030101010101" pitchFamily="2" charset="-122"/>
            </a:endParaRPr>
          </a:p>
        </p:txBody>
      </p:sp>
      <p:sp>
        <p:nvSpPr>
          <p:cNvPr id="11" name="矩形 10">
            <a:extLst>
              <a:ext uri="{FF2B5EF4-FFF2-40B4-BE49-F238E27FC236}">
                <a16:creationId xmlns:a16="http://schemas.microsoft.com/office/drawing/2014/main" id="{9EA623E2-AAAA-494D-BBF0-4D9B44C1DBBB}"/>
              </a:ext>
            </a:extLst>
          </p:cNvPr>
          <p:cNvSpPr/>
          <p:nvPr/>
        </p:nvSpPr>
        <p:spPr>
          <a:xfrm>
            <a:off x="316035" y="594931"/>
            <a:ext cx="3860605" cy="430887"/>
          </a:xfrm>
          <a:prstGeom prst="rect">
            <a:avLst/>
          </a:prstGeom>
        </p:spPr>
        <p:txBody>
          <a:bodyPr wrap="square">
            <a:spAutoFit/>
          </a:bodyPr>
          <a:lstStyle/>
          <a:p>
            <a:r>
              <a:rPr lang="zh-CN" altLang="en-US" sz="1100" b="1" dirty="0">
                <a:latin typeface="宋体" panose="02010600030101010101" pitchFamily="2" charset="-122"/>
              </a:rPr>
              <a:t>劳动的供给：</a:t>
            </a:r>
          </a:p>
          <a:p>
            <a:pPr>
              <a:buFont typeface="Wingdings" panose="05000000000000000000" pitchFamily="2" charset="2"/>
              <a:buNone/>
            </a:pPr>
            <a:r>
              <a:rPr lang="zh-CN" altLang="en-US" sz="1100" b="1" dirty="0">
                <a:latin typeface="宋体" panose="02010600030101010101" pitchFamily="2" charset="-122"/>
              </a:rPr>
              <a:t>  </a:t>
            </a:r>
            <a:r>
              <a:rPr lang="en-US" altLang="zh-CN" sz="1100" dirty="0">
                <a:latin typeface="Arial" panose="020B0604020202020204" pitchFamily="34" charset="0"/>
              </a:rPr>
              <a:t>——</a:t>
            </a:r>
            <a:r>
              <a:rPr lang="zh-CN" altLang="en-US" sz="1100" dirty="0">
                <a:latin typeface="宋体" panose="02010600030101010101" pitchFamily="2" charset="-122"/>
              </a:rPr>
              <a:t>表示劳动的供给量与实际工资率之间的关系。</a:t>
            </a:r>
          </a:p>
        </p:txBody>
      </p:sp>
      <p:sp>
        <p:nvSpPr>
          <p:cNvPr id="12" name="Rectangle 6">
            <a:extLst>
              <a:ext uri="{FF2B5EF4-FFF2-40B4-BE49-F238E27FC236}">
                <a16:creationId xmlns:a16="http://schemas.microsoft.com/office/drawing/2014/main" id="{1BA7C87E-EFEF-AFE8-BFD0-F0F11509381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58</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3" name="日期占位符 3">
            <a:extLst>
              <a:ext uri="{FF2B5EF4-FFF2-40B4-BE49-F238E27FC236}">
                <a16:creationId xmlns:a16="http://schemas.microsoft.com/office/drawing/2014/main" id="{14720827-072E-4343-58D2-87AD2CEB45D1}"/>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2129451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a:extLst>
              <a:ext uri="{FF2B5EF4-FFF2-40B4-BE49-F238E27FC236}">
                <a16:creationId xmlns:a16="http://schemas.microsoft.com/office/drawing/2014/main" id="{778FB6D4-DBB9-456C-A049-CE534A91907E}"/>
              </a:ext>
            </a:extLst>
          </p:cNvPr>
          <p:cNvSpPr>
            <a:spLocks noGrp="1" noChangeArrowheads="1"/>
          </p:cNvSpPr>
          <p:nvPr>
            <p:ph type="title"/>
          </p:nvPr>
        </p:nvSpPr>
        <p:spPr>
          <a:xfrm>
            <a:off x="316945" y="2455021"/>
            <a:ext cx="3976211" cy="228038"/>
          </a:xfrm>
        </p:spPr>
        <p:txBody>
          <a:bodyPr/>
          <a:lstStyle/>
          <a:p>
            <a:pPr algn="ctr">
              <a:lnSpc>
                <a:spcPct val="100000"/>
              </a:lnSpc>
            </a:pPr>
            <a:r>
              <a:rPr lang="zh-CN" altLang="en-US" sz="1050" b="1" dirty="0">
                <a:solidFill>
                  <a:schemeClr val="tx1"/>
                </a:solidFill>
                <a:latin typeface="KaiTi" panose="02010609060101010101" pitchFamily="49" charset="-122"/>
                <a:ea typeface="KaiTi" panose="02010609060101010101" pitchFamily="49" charset="-122"/>
              </a:rPr>
              <a:t>劳动需求曲线与劳动供给曲线</a:t>
            </a:r>
          </a:p>
        </p:txBody>
      </p:sp>
      <p:graphicFrame>
        <p:nvGraphicFramePr>
          <p:cNvPr id="521219" name="Object 3">
            <a:extLst>
              <a:ext uri="{FF2B5EF4-FFF2-40B4-BE49-F238E27FC236}">
                <a16:creationId xmlns:a16="http://schemas.microsoft.com/office/drawing/2014/main" id="{A00E0FDC-1275-454C-ABB2-34E41AE3FC99}"/>
              </a:ext>
            </a:extLst>
          </p:cNvPr>
          <p:cNvGraphicFramePr>
            <a:graphicFrameLocks noChangeAspect="1"/>
          </p:cNvGraphicFramePr>
          <p:nvPr/>
        </p:nvGraphicFramePr>
        <p:xfrm>
          <a:off x="316944" y="1082366"/>
          <a:ext cx="1745147" cy="1308860"/>
        </p:xfrm>
        <a:graphic>
          <a:graphicData uri="http://schemas.openxmlformats.org/presentationml/2006/ole">
            <mc:AlternateContent xmlns:mc="http://schemas.openxmlformats.org/markup-compatibility/2006">
              <mc:Choice xmlns:v="urn:schemas-microsoft-com:vml" Requires="v">
                <p:oleObj name="Slide" r:id="rId3" imgW="4497480" imgH="3371760" progId="PowerPoint.Slide.8">
                  <p:embed/>
                </p:oleObj>
              </mc:Choice>
              <mc:Fallback>
                <p:oleObj name="Slide" r:id="rId3" imgW="4497480" imgH="3371760" progId="PowerPoint.Slide.8">
                  <p:embed/>
                  <p:pic>
                    <p:nvPicPr>
                      <p:cNvPr id="521219" name="Object 3">
                        <a:extLst>
                          <a:ext uri="{FF2B5EF4-FFF2-40B4-BE49-F238E27FC236}">
                            <a16:creationId xmlns:a16="http://schemas.microsoft.com/office/drawing/2014/main" id="{A00E0FDC-1275-454C-ABB2-34E41AE3FC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944" y="1082366"/>
                        <a:ext cx="1745147" cy="1308860"/>
                      </a:xfrm>
                      <a:prstGeom prst="rect">
                        <a:avLst/>
                      </a:prstGeom>
                      <a:noFill/>
                      <a:ln>
                        <a:noFill/>
                      </a:ln>
                      <a:effectLst/>
                    </p:spPr>
                  </p:pic>
                </p:oleObj>
              </mc:Fallback>
            </mc:AlternateContent>
          </a:graphicData>
        </a:graphic>
      </p:graphicFrame>
      <p:graphicFrame>
        <p:nvGraphicFramePr>
          <p:cNvPr id="8" name="Object 4">
            <a:extLst>
              <a:ext uri="{FF2B5EF4-FFF2-40B4-BE49-F238E27FC236}">
                <a16:creationId xmlns:a16="http://schemas.microsoft.com/office/drawing/2014/main" id="{AE8126B5-2100-4786-BAFC-AC70F981B88C}"/>
              </a:ext>
            </a:extLst>
          </p:cNvPr>
          <p:cNvGraphicFramePr>
            <a:graphicFrameLocks noChangeAspect="1"/>
          </p:cNvGraphicFramePr>
          <p:nvPr/>
        </p:nvGraphicFramePr>
        <p:xfrm>
          <a:off x="2432403" y="1082366"/>
          <a:ext cx="1745147" cy="1308860"/>
        </p:xfrm>
        <a:graphic>
          <a:graphicData uri="http://schemas.openxmlformats.org/presentationml/2006/ole">
            <mc:AlternateContent xmlns:mc="http://schemas.openxmlformats.org/markup-compatibility/2006">
              <mc:Choice xmlns:v="urn:schemas-microsoft-com:vml" Requires="v">
                <p:oleObj name="Slide" r:id="rId5" imgW="4572000" imgH="3429000" progId="PowerPoint.Slide.8">
                  <p:embed/>
                </p:oleObj>
              </mc:Choice>
              <mc:Fallback>
                <p:oleObj name="Slide" r:id="rId5" imgW="4572000" imgH="3429000" progId="PowerPoint.Slide.8">
                  <p:embed/>
                  <p:pic>
                    <p:nvPicPr>
                      <p:cNvPr id="8" name="Object 4">
                        <a:extLst>
                          <a:ext uri="{FF2B5EF4-FFF2-40B4-BE49-F238E27FC236}">
                            <a16:creationId xmlns:a16="http://schemas.microsoft.com/office/drawing/2014/main" id="{AE8126B5-2100-4786-BAFC-AC70F981B8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2403" y="1082366"/>
                        <a:ext cx="1745147" cy="1308860"/>
                      </a:xfrm>
                      <a:prstGeom prst="rect">
                        <a:avLst/>
                      </a:prstGeom>
                      <a:noFill/>
                      <a:ln>
                        <a:noFill/>
                      </a:ln>
                      <a:effectLst/>
                    </p:spPr>
                  </p:pic>
                </p:oleObj>
              </mc:Fallback>
            </mc:AlternateContent>
          </a:graphicData>
        </a:graphic>
      </p:graphicFrame>
      <p:sp>
        <p:nvSpPr>
          <p:cNvPr id="9" name="灯片编号占位符 8">
            <a:extLst>
              <a:ext uri="{FF2B5EF4-FFF2-40B4-BE49-F238E27FC236}">
                <a16:creationId xmlns:a16="http://schemas.microsoft.com/office/drawing/2014/main" id="{7C11C575-4DA0-4502-83FA-55A4EFDACCEF}"/>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59</a:t>
            </a:fld>
            <a:endParaRPr lang="zh-CN" altLang="en-US"/>
          </a:p>
        </p:txBody>
      </p:sp>
      <p:sp>
        <p:nvSpPr>
          <p:cNvPr id="2" name="Rectangle 6">
            <a:extLst>
              <a:ext uri="{FF2B5EF4-FFF2-40B4-BE49-F238E27FC236}">
                <a16:creationId xmlns:a16="http://schemas.microsoft.com/office/drawing/2014/main" id="{7780E5E0-47AF-780C-146F-6C6EA816695B}"/>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59</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5" name="日期占位符 3">
            <a:extLst>
              <a:ext uri="{FF2B5EF4-FFF2-40B4-BE49-F238E27FC236}">
                <a16:creationId xmlns:a16="http://schemas.microsoft.com/office/drawing/2014/main" id="{9AB1CE54-BFA6-9AA6-EC1B-733E2A633088}"/>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6" name="标题 1">
            <a:extLst>
              <a:ext uri="{FF2B5EF4-FFF2-40B4-BE49-F238E27FC236}">
                <a16:creationId xmlns:a16="http://schemas.microsoft.com/office/drawing/2014/main" id="{E4DFE1D8-8C62-B008-D767-29AFDE72DF73}"/>
              </a:ext>
            </a:extLst>
          </p:cNvPr>
          <p:cNvSpPr txBox="1">
            <a:spLocks/>
          </p:cNvSpPr>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a:lstStyle>
          <a:p>
            <a:r>
              <a:rPr lang="zh-CN" altLang="en-US" dirty="0"/>
              <a:t>劳动需求曲线与劳动供给曲线</a:t>
            </a:r>
            <a:endParaRPr lang="zh-CN" altLang="en-US"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劳动市场的均衡</a:t>
            </a:r>
            <a:endParaRPr lang="zh-CN" altLang="en-US" dirty="0">
              <a:ln w="0"/>
              <a:solidFill>
                <a:schemeClr val="accent1"/>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16944" y="582574"/>
                <a:ext cx="3976211" cy="482022"/>
              </a:xfrm>
            </p:spPr>
            <p:txBody>
              <a:bodyPr/>
              <a:lstStyle/>
              <a:p>
                <a:pPr marL="0" indent="0">
                  <a:buNone/>
                </a:pPr>
                <a:r>
                  <a:rPr lang="zh-CN" altLang="en-US" sz="1100" b="1" dirty="0"/>
                  <a:t>劳动力市场的均衡：</a:t>
                </a:r>
                <a:endParaRPr lang="en-US" altLang="zh-CN" sz="1100" b="1" dirty="0"/>
              </a:p>
              <a:p>
                <a:pPr marL="0" indent="0">
                  <a:buNone/>
                </a:pPr>
                <a:r>
                  <a:rPr lang="zh-CN" altLang="en-US" sz="1100" dirty="0"/>
                  <a:t>    在实际工资</a:t>
                </a:r>
                <a:r>
                  <a:rPr lang="en-US" altLang="zh-CN" sz="1100" dirty="0"/>
                  <a:t> </a:t>
                </a:r>
                <a14:m>
                  <m:oMath xmlns:m="http://schemas.openxmlformats.org/officeDocument/2006/math">
                    <m:sSub>
                      <m:sSubPr>
                        <m:ctrlPr>
                          <a:rPr lang="en-US" altLang="zh-CN" sz="1100" i="1">
                            <a:latin typeface="Cambria Math" panose="02040503050406030204" pitchFamily="18" charset="0"/>
                          </a:rPr>
                        </m:ctrlPr>
                      </m:sSubPr>
                      <m:e>
                        <m:d>
                          <m:dPr>
                            <m:ctrlPr>
                              <a:rPr lang="en-US" altLang="zh-CN" sz="1100" i="1">
                                <a:latin typeface="Cambria Math" panose="02040503050406030204" pitchFamily="18" charset="0"/>
                              </a:rPr>
                            </m:ctrlPr>
                          </m:dPr>
                          <m:e>
                            <m:f>
                              <m:fPr>
                                <m:ctrlPr>
                                  <a:rPr lang="en-US" altLang="zh-CN" sz="1100" i="1">
                                    <a:latin typeface="Cambria Math" panose="02040503050406030204" pitchFamily="18" charset="0"/>
                                  </a:rPr>
                                </m:ctrlPr>
                              </m:fPr>
                              <m:num>
                                <m:r>
                                  <a:rPr lang="en-US" altLang="zh-CN" sz="1100" i="1">
                                    <a:latin typeface="Cambria Math" panose="02040503050406030204" pitchFamily="18" charset="0"/>
                                  </a:rPr>
                                  <m:t>𝑊</m:t>
                                </m:r>
                              </m:num>
                              <m:den>
                                <m:r>
                                  <a:rPr lang="en-US" altLang="zh-CN" sz="1100" i="1">
                                    <a:latin typeface="Cambria Math" panose="02040503050406030204" pitchFamily="18" charset="0"/>
                                  </a:rPr>
                                  <m:t>𝑃</m:t>
                                </m:r>
                              </m:den>
                            </m:f>
                          </m:e>
                        </m:d>
                      </m:e>
                      <m:sub>
                        <m:r>
                          <a:rPr lang="en-US" altLang="zh-CN" sz="1100" i="1">
                            <a:latin typeface="Cambria Math" panose="02040503050406030204" pitchFamily="18" charset="0"/>
                          </a:rPr>
                          <m:t>0</m:t>
                        </m:r>
                      </m:sub>
                    </m:sSub>
                    <m:r>
                      <a:rPr lang="zh-CN" altLang="en-US" sz="1100" i="1">
                        <a:latin typeface="Cambria Math" panose="02040503050406030204" pitchFamily="18" charset="0"/>
                      </a:rPr>
                      <m:t>的</m:t>
                    </m:r>
                  </m:oMath>
                </a14:m>
                <a:r>
                  <a:rPr lang="zh-CN" altLang="en-US" sz="1100" dirty="0"/>
                  <a:t>水平上，企业所选择的劳动数量恰好等于公众所提供的劳动数量，即就业水平为</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𝑁</m:t>
                        </m:r>
                      </m:e>
                      <m:sub>
                        <m:r>
                          <a:rPr lang="en-US" altLang="zh-CN" sz="1100" i="1">
                            <a:latin typeface="Cambria Math" panose="02040503050406030204" pitchFamily="18" charset="0"/>
                          </a:rPr>
                          <m:t>0</m:t>
                        </m:r>
                      </m:sub>
                    </m:sSub>
                  </m:oMath>
                </a14:m>
                <a:r>
                  <a:rPr lang="zh-CN" altLang="en-US" sz="1100" dirty="0"/>
                  <a:t>。</a:t>
                </a:r>
                <a:endParaRPr lang="en-US" altLang="zh-CN" sz="11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16944" y="582574"/>
                <a:ext cx="3976211" cy="482022"/>
              </a:xfrm>
              <a:blipFill>
                <a:blip r:embed="rId2"/>
                <a:stretch>
                  <a:fillRect t="-2632" b="-84211"/>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60</a:t>
            </a:fld>
            <a:endParaRPr lang="zh-CN" altLang="en-US" dirty="0"/>
          </a:p>
        </p:txBody>
      </p:sp>
      <p:grpSp>
        <p:nvGrpSpPr>
          <p:cNvPr id="10" name="组合 9"/>
          <p:cNvGrpSpPr/>
          <p:nvPr/>
        </p:nvGrpSpPr>
        <p:grpSpPr>
          <a:xfrm>
            <a:off x="2370312" y="1500042"/>
            <a:ext cx="1864750" cy="1459675"/>
            <a:chOff x="2759273" y="3296338"/>
            <a:chExt cx="3698677" cy="2895223"/>
          </a:xfrm>
        </p:grpSpPr>
        <p:pic>
          <p:nvPicPr>
            <p:cNvPr id="11" name="Picture 4" descr="xf1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9274" y="3296338"/>
              <a:ext cx="3698676" cy="2539563"/>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2759273" y="5791451"/>
              <a:ext cx="36986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p>
              <a:pPr algn="ctr"/>
              <a:r>
                <a:rPr lang="zh-CN" altLang="en-US" sz="1008" b="1"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cs typeface="+mj-cs"/>
                </a:rPr>
                <a:t>劳动市场的均衡</a:t>
              </a:r>
            </a:p>
          </p:txBody>
        </p:sp>
      </p:grpSp>
      <mc:AlternateContent xmlns:mc="http://schemas.openxmlformats.org/markup-compatibility/2006" xmlns:a14="http://schemas.microsoft.com/office/drawing/2010/main">
        <mc:Choice Requires="a14">
          <p:sp>
            <p:nvSpPr>
              <p:cNvPr id="13" name="矩形 12"/>
              <p:cNvSpPr/>
              <p:nvPr/>
            </p:nvSpPr>
            <p:spPr>
              <a:xfrm>
                <a:off x="316944" y="1441001"/>
                <a:ext cx="2053368" cy="83997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zh-CN" altLang="en-US" sz="1000" dirty="0">
                    <a:latin typeface="Garamond" panose="02020404030301010803" pitchFamily="18" charset="0"/>
                    <a:ea typeface="SimSun" panose="02010600030101010101" pitchFamily="2" charset="-122"/>
                    <a:cs typeface="Times New Roman" panose="02020603050405020304" pitchFamily="18" charset="0"/>
                  </a:rPr>
                  <a:t>    </a:t>
                </a:r>
                <a:r>
                  <a:rPr lang="zh-CN" altLang="en-US" sz="1050" dirty="0">
                    <a:solidFill>
                      <a:schemeClr val="tx1"/>
                    </a:solidFill>
                    <a:latin typeface="Garamond" panose="02020404030301010803" pitchFamily="18" charset="0"/>
                    <a:ea typeface="SimSun" panose="02010600030101010101" pitchFamily="2" charset="-122"/>
                  </a:rPr>
                  <a:t>若实际工资太高，如</a:t>
                </a:r>
                <a14:m>
                  <m:oMath xmlns:m="http://schemas.openxmlformats.org/officeDocument/2006/math">
                    <m:sSub>
                      <m:sSubPr>
                        <m:ctrlPr>
                          <a:rPr lang="en-US" altLang="zh-CN" sz="1050" i="1">
                            <a:solidFill>
                              <a:schemeClr val="tx1"/>
                            </a:solidFill>
                            <a:latin typeface="Cambria Math" panose="02040503050406030204" pitchFamily="18" charset="0"/>
                          </a:rPr>
                        </m:ctrlPr>
                      </m:sSubPr>
                      <m:e>
                        <m:d>
                          <m:dPr>
                            <m:ctrlPr>
                              <a:rPr lang="en-US" altLang="zh-CN" sz="1050" i="1">
                                <a:solidFill>
                                  <a:schemeClr val="tx1"/>
                                </a:solidFill>
                                <a:latin typeface="Cambria Math" panose="02040503050406030204" pitchFamily="18" charset="0"/>
                              </a:rPr>
                            </m:ctrlPr>
                          </m:dPr>
                          <m:e>
                            <m:f>
                              <m:fPr>
                                <m:ctrlPr>
                                  <a:rPr lang="en-US" altLang="zh-CN" sz="1050" i="1">
                                    <a:solidFill>
                                      <a:schemeClr val="tx1"/>
                                    </a:solidFill>
                                    <a:latin typeface="Cambria Math" panose="02040503050406030204" pitchFamily="18" charset="0"/>
                                  </a:rPr>
                                </m:ctrlPr>
                              </m:fPr>
                              <m:num>
                                <m:r>
                                  <a:rPr lang="en-US" altLang="zh-CN" sz="1050">
                                    <a:solidFill>
                                      <a:schemeClr val="tx1"/>
                                    </a:solidFill>
                                    <a:latin typeface="Cambria Math" panose="02040503050406030204" pitchFamily="18" charset="0"/>
                                  </a:rPr>
                                  <m:t>𝑊</m:t>
                                </m:r>
                              </m:num>
                              <m:den>
                                <m:r>
                                  <a:rPr lang="en-US" altLang="zh-CN" sz="1050">
                                    <a:solidFill>
                                      <a:schemeClr val="tx1"/>
                                    </a:solidFill>
                                    <a:latin typeface="Cambria Math" panose="02040503050406030204" pitchFamily="18" charset="0"/>
                                  </a:rPr>
                                  <m:t>𝑃</m:t>
                                </m:r>
                              </m:den>
                            </m:f>
                          </m:e>
                        </m:d>
                      </m:e>
                      <m:sub>
                        <m:r>
                          <a:rPr lang="en-US" altLang="zh-CN" sz="1050">
                            <a:solidFill>
                              <a:schemeClr val="tx1"/>
                            </a:solidFill>
                            <a:latin typeface="Cambria Math" panose="02040503050406030204" pitchFamily="18" charset="0"/>
                          </a:rPr>
                          <m:t>2</m:t>
                        </m:r>
                      </m:sub>
                    </m:sSub>
                  </m:oMath>
                </a14:m>
                <a:r>
                  <a:rPr lang="zh-CN" altLang="en-US" sz="1050" dirty="0">
                    <a:solidFill>
                      <a:schemeClr val="tx1"/>
                    </a:solidFill>
                    <a:latin typeface="Garamond" panose="02020404030301010803" pitchFamily="18" charset="0"/>
                    <a:ea typeface="SimSun" panose="02010600030101010101" pitchFamily="2" charset="-122"/>
                  </a:rPr>
                  <a:t>，则劳动供给量是</a:t>
                </a:r>
                <a14:m>
                  <m:oMath xmlns:m="http://schemas.openxmlformats.org/officeDocument/2006/math">
                    <m:sSub>
                      <m:sSubPr>
                        <m:ctrlPr>
                          <a:rPr lang="en-US" altLang="zh-CN" sz="1050" i="1">
                            <a:solidFill>
                              <a:schemeClr val="tx1"/>
                            </a:solidFill>
                            <a:latin typeface="Cambria Math" panose="02040503050406030204" pitchFamily="18" charset="0"/>
                          </a:rPr>
                        </m:ctrlPr>
                      </m:sSubPr>
                      <m:e>
                        <m:r>
                          <a:rPr lang="en-US" altLang="zh-CN" sz="1050">
                            <a:solidFill>
                              <a:schemeClr val="tx1"/>
                            </a:solidFill>
                            <a:latin typeface="Cambria Math" panose="02040503050406030204" pitchFamily="18" charset="0"/>
                          </a:rPr>
                          <m:t>𝑁</m:t>
                        </m:r>
                      </m:e>
                      <m:sub>
                        <m:r>
                          <a:rPr lang="en-US" altLang="zh-CN" sz="1050">
                            <a:solidFill>
                              <a:schemeClr val="tx1"/>
                            </a:solidFill>
                            <a:latin typeface="Cambria Math" panose="02040503050406030204" pitchFamily="18" charset="0"/>
                          </a:rPr>
                          <m:t>2</m:t>
                        </m:r>
                      </m:sub>
                    </m:sSub>
                  </m:oMath>
                </a14:m>
                <a:r>
                  <a:rPr lang="zh-CN" altLang="en-US" sz="1050" dirty="0">
                    <a:solidFill>
                      <a:schemeClr val="tx1"/>
                    </a:solidFill>
                    <a:latin typeface="Garamond" panose="02020404030301010803" pitchFamily="18" charset="0"/>
                    <a:ea typeface="SimSun" panose="02010600030101010101" pitchFamily="2" charset="-122"/>
                  </a:rPr>
                  <a:t>，而劳动的需求量是</a:t>
                </a:r>
                <a14:m>
                  <m:oMath xmlns:m="http://schemas.openxmlformats.org/officeDocument/2006/math">
                    <m:sSub>
                      <m:sSubPr>
                        <m:ctrlPr>
                          <a:rPr lang="en-US" altLang="zh-CN" sz="1050" i="1">
                            <a:solidFill>
                              <a:schemeClr val="tx1"/>
                            </a:solidFill>
                            <a:latin typeface="Cambria Math" panose="02040503050406030204" pitchFamily="18" charset="0"/>
                          </a:rPr>
                        </m:ctrlPr>
                      </m:sSubPr>
                      <m:e>
                        <m:r>
                          <a:rPr lang="en-US" altLang="zh-CN" sz="1050">
                            <a:solidFill>
                              <a:schemeClr val="tx1"/>
                            </a:solidFill>
                            <a:latin typeface="Cambria Math" panose="02040503050406030204" pitchFamily="18" charset="0"/>
                          </a:rPr>
                          <m:t>𝑁</m:t>
                        </m:r>
                      </m:e>
                      <m:sub>
                        <m:r>
                          <a:rPr lang="en-US" altLang="zh-CN" sz="1050">
                            <a:solidFill>
                              <a:schemeClr val="tx1"/>
                            </a:solidFill>
                            <a:latin typeface="Cambria Math" panose="02040503050406030204" pitchFamily="18" charset="0"/>
                          </a:rPr>
                          <m:t>1</m:t>
                        </m:r>
                      </m:sub>
                    </m:sSub>
                    <m:r>
                      <a:rPr lang="zh-CN" altLang="en-US" sz="1050">
                        <a:solidFill>
                          <a:schemeClr val="tx1"/>
                        </a:solidFill>
                        <a:latin typeface="Cambria Math" panose="02040503050406030204" pitchFamily="18" charset="0"/>
                      </a:rPr>
                      <m:t>。</m:t>
                    </m:r>
                  </m:oMath>
                </a14:m>
                <a:r>
                  <a:rPr lang="zh-CN" altLang="en-US" sz="1050" dirty="0">
                    <a:solidFill>
                      <a:schemeClr val="tx1"/>
                    </a:solidFill>
                    <a:latin typeface="Garamond" panose="02020404030301010803" pitchFamily="18" charset="0"/>
                    <a:ea typeface="SimSun" panose="02010600030101010101" pitchFamily="2" charset="-122"/>
                  </a:rPr>
                  <a:t>这意味着劳动供过于求。</a:t>
                </a:r>
                <a:endParaRPr lang="en-US" altLang="zh-CN" sz="1050" dirty="0">
                  <a:solidFill>
                    <a:schemeClr val="tx1"/>
                  </a:solidFill>
                  <a:latin typeface="Garamond" panose="02020404030301010803" pitchFamily="18" charset="0"/>
                  <a:ea typeface="SimSun" panose="02010600030101010101" pitchFamily="2" charset="-122"/>
                </a:endParaRPr>
              </a:p>
            </p:txBody>
          </p:sp>
        </mc:Choice>
        <mc:Fallback xmlns="">
          <p:sp>
            <p:nvSpPr>
              <p:cNvPr id="13" name="矩形 12"/>
              <p:cNvSpPr>
                <a:spLocks noRot="1" noChangeAspect="1" noMove="1" noResize="1" noEditPoints="1" noAdjustHandles="1" noChangeArrowheads="1" noChangeShapeType="1" noTextEdit="1"/>
              </p:cNvSpPr>
              <p:nvPr/>
            </p:nvSpPr>
            <p:spPr>
              <a:xfrm>
                <a:off x="316944" y="1441001"/>
                <a:ext cx="2053368" cy="839974"/>
              </a:xfrm>
              <a:prstGeom prst="rect">
                <a:avLst/>
              </a:prstGeom>
              <a:blipFill>
                <a:blip r:embed="rId4"/>
                <a:stretch>
                  <a:fillRect b="-2985"/>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16944" y="2289669"/>
                <a:ext cx="2053368" cy="853503"/>
              </a:xfrm>
              <a:prstGeom prst="rect">
                <a:avLst/>
              </a:prstGeom>
            </p:spPr>
            <p:txBody>
              <a:bodyPr wrap="square">
                <a:spAutoFit/>
              </a:bodyPr>
              <a:lstStyle/>
              <a:p>
                <a:r>
                  <a:rPr lang="zh-CN" altLang="en-US" sz="1100" dirty="0">
                    <a:latin typeface="Garamond" panose="02020404030301010803" pitchFamily="18" charset="0"/>
                    <a:ea typeface="SimSun" panose="02010600030101010101" pitchFamily="2" charset="-122"/>
                  </a:rPr>
                  <a:t>    在价格和工资具有完全伸缩性的完全竞争的经济中，劳动市场的均衡是：</a:t>
                </a:r>
                <a:endParaRPr lang="en-US" altLang="zh-CN" sz="1100" dirty="0">
                  <a:latin typeface="Garamond" panose="02020404030301010803" pitchFamily="18" charset="0"/>
                  <a:ea typeface="SimSun" panose="02010600030101010101" pitchFamily="2" charset="-122"/>
                </a:endParaRPr>
              </a:p>
              <a:p>
                <a:pPr algn="ct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𝑁</m:t>
                        </m:r>
                      </m:e>
                      <m:sub>
                        <m:r>
                          <a:rPr lang="en-US" altLang="zh-CN" sz="1100" i="1">
                            <a:latin typeface="Cambria Math" panose="02040503050406030204" pitchFamily="18" charset="0"/>
                          </a:rPr>
                          <m:t>𝑠</m:t>
                        </m:r>
                      </m:sub>
                    </m:sSub>
                    <m:d>
                      <m:dPr>
                        <m:ctrlPr>
                          <a:rPr lang="en-US" altLang="zh-CN" sz="1100" i="1">
                            <a:latin typeface="Cambria Math" panose="02040503050406030204" pitchFamily="18" charset="0"/>
                          </a:rPr>
                        </m:ctrlPr>
                      </m:dPr>
                      <m:e>
                        <m:f>
                          <m:fPr>
                            <m:ctrlPr>
                              <a:rPr lang="en-US" altLang="zh-CN" sz="1100" i="1">
                                <a:latin typeface="Cambria Math" panose="02040503050406030204" pitchFamily="18" charset="0"/>
                              </a:rPr>
                            </m:ctrlPr>
                          </m:fPr>
                          <m:num>
                            <m:r>
                              <a:rPr lang="en-US" altLang="zh-CN" sz="1100" i="1">
                                <a:latin typeface="Cambria Math" panose="02040503050406030204" pitchFamily="18" charset="0"/>
                              </a:rPr>
                              <m:t>𝑊</m:t>
                            </m:r>
                          </m:num>
                          <m:den>
                            <m:r>
                              <a:rPr lang="en-US" altLang="zh-CN" sz="1100" i="1">
                                <a:latin typeface="Cambria Math" panose="02040503050406030204" pitchFamily="18" charset="0"/>
                              </a:rPr>
                              <m:t>𝑃</m:t>
                            </m:r>
                          </m:den>
                        </m:f>
                      </m:e>
                    </m:d>
                  </m:oMath>
                </a14:m>
                <a:r>
                  <a:rPr lang="en-US" altLang="zh-CN" sz="1100"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100" i="1">
                            <a:latin typeface="Cambria Math" panose="02040503050406030204" pitchFamily="18" charset="0"/>
                          </a:rPr>
                        </m:ctrlPr>
                      </m:sSubPr>
                      <m:e>
                        <m:r>
                          <a:rPr lang="en-US" altLang="zh-CN" sz="1100" i="1">
                            <a:latin typeface="Cambria Math" panose="02040503050406030204" pitchFamily="18" charset="0"/>
                          </a:rPr>
                          <m:t>𝑁</m:t>
                        </m:r>
                      </m:e>
                      <m:sub>
                        <m:r>
                          <m:rPr>
                            <m:sty m:val="p"/>
                          </m:rPr>
                          <a:rPr lang="en-US" altLang="zh-CN" sz="1100" i="1">
                            <a:latin typeface="Cambria Math" panose="02040503050406030204" pitchFamily="18" charset="0"/>
                          </a:rPr>
                          <m:t>d</m:t>
                        </m:r>
                      </m:sub>
                    </m:sSub>
                    <m:d>
                      <m:dPr>
                        <m:ctrlPr>
                          <a:rPr lang="en-US" altLang="zh-CN" sz="1100" i="1">
                            <a:latin typeface="Cambria Math" panose="02040503050406030204" pitchFamily="18" charset="0"/>
                          </a:rPr>
                        </m:ctrlPr>
                      </m:dPr>
                      <m:e>
                        <m:f>
                          <m:fPr>
                            <m:ctrlPr>
                              <a:rPr lang="en-US" altLang="zh-CN" sz="1100" i="1">
                                <a:latin typeface="Cambria Math" panose="02040503050406030204" pitchFamily="18" charset="0"/>
                              </a:rPr>
                            </m:ctrlPr>
                          </m:fPr>
                          <m:num>
                            <m:r>
                              <a:rPr lang="en-US" altLang="zh-CN" sz="1100" i="1">
                                <a:latin typeface="Cambria Math" panose="02040503050406030204" pitchFamily="18" charset="0"/>
                              </a:rPr>
                              <m:t>𝑊</m:t>
                            </m:r>
                          </m:num>
                          <m:den>
                            <m:r>
                              <a:rPr lang="en-US" altLang="zh-CN" sz="1100" i="1">
                                <a:latin typeface="Cambria Math" panose="02040503050406030204" pitchFamily="18" charset="0"/>
                              </a:rPr>
                              <m:t>𝑃</m:t>
                            </m:r>
                          </m:den>
                        </m:f>
                      </m:e>
                    </m:d>
                  </m:oMath>
                </a14:m>
                <a:endParaRPr lang="zh-CN" altLang="en-US" sz="1100" dirty="0">
                  <a:latin typeface="Garamond" panose="02020404030301010803" pitchFamily="18" charset="0"/>
                  <a:ea typeface="SimSun" panose="02010600030101010101" pitchFamily="2" charset="-122"/>
                </a:endParaRPr>
              </a:p>
            </p:txBody>
          </p:sp>
        </mc:Choice>
        <mc:Fallback xmlns="">
          <p:sp>
            <p:nvSpPr>
              <p:cNvPr id="14" name="矩形 13"/>
              <p:cNvSpPr>
                <a:spLocks noRot="1" noChangeAspect="1" noMove="1" noResize="1" noEditPoints="1" noAdjustHandles="1" noChangeArrowheads="1" noChangeShapeType="1" noTextEdit="1"/>
              </p:cNvSpPr>
              <p:nvPr/>
            </p:nvSpPr>
            <p:spPr>
              <a:xfrm>
                <a:off x="316944" y="2289669"/>
                <a:ext cx="2053368" cy="853503"/>
              </a:xfrm>
              <a:prstGeom prst="rect">
                <a:avLst/>
              </a:prstGeom>
              <a:blipFill>
                <a:blip r:embed="rId5"/>
                <a:stretch>
                  <a:fillRect t="-1471"/>
                </a:stretch>
              </a:blipFill>
            </p:spPr>
            <p:txBody>
              <a:bodyPr/>
              <a:lstStyle/>
              <a:p>
                <a:r>
                  <a:rPr lang="zh-CN" altLang="en-US">
                    <a:noFill/>
                  </a:rPr>
                  <a:t> </a:t>
                </a:r>
              </a:p>
            </p:txBody>
          </p:sp>
        </mc:Fallback>
      </mc:AlternateContent>
      <p:sp>
        <p:nvSpPr>
          <p:cNvPr id="7" name="Rectangle 6">
            <a:extLst>
              <a:ext uri="{FF2B5EF4-FFF2-40B4-BE49-F238E27FC236}">
                <a16:creationId xmlns:a16="http://schemas.microsoft.com/office/drawing/2014/main" id="{C328E921-66BB-3439-8137-20E5887BF5EE}"/>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D7EAFB88-3C87-C98E-D93D-83C88F0A21A3}"/>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31579614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AD1B20A-A60F-46D8-B931-C277CF61A2B9}"/>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61</a:t>
            </a:fld>
            <a:endParaRPr lang="en-US" altLang="zh-CN"/>
          </a:p>
        </p:txBody>
      </p:sp>
      <p:sp>
        <p:nvSpPr>
          <p:cNvPr id="524291" name="Rectangle 3">
            <a:extLst>
              <a:ext uri="{FF2B5EF4-FFF2-40B4-BE49-F238E27FC236}">
                <a16:creationId xmlns:a16="http://schemas.microsoft.com/office/drawing/2014/main" id="{8E124660-DAFD-4423-AC3B-B082333DEAD6}"/>
              </a:ext>
            </a:extLst>
          </p:cNvPr>
          <p:cNvSpPr>
            <a:spLocks noGrp="1" noChangeArrowheads="1"/>
          </p:cNvSpPr>
          <p:nvPr>
            <p:ph type="body" idx="1"/>
          </p:nvPr>
        </p:nvSpPr>
        <p:spPr>
          <a:xfrm>
            <a:off x="288826" y="650256"/>
            <a:ext cx="4134672" cy="2451144"/>
          </a:xfrm>
        </p:spPr>
        <p:txBody>
          <a:bodyPr/>
          <a:lstStyle/>
          <a:p>
            <a:pPr>
              <a:lnSpc>
                <a:spcPct val="100000"/>
              </a:lnSpc>
              <a:spcBef>
                <a:spcPct val="0"/>
              </a:spcBef>
            </a:pPr>
            <a:r>
              <a:rPr lang="en-US" altLang="zh-CN" b="1" dirty="0">
                <a:solidFill>
                  <a:schemeClr val="tx2"/>
                </a:solidFill>
              </a:rPr>
              <a:t>1. </a:t>
            </a:r>
            <a:r>
              <a:rPr lang="zh-CN" altLang="en-US" b="1" dirty="0">
                <a:solidFill>
                  <a:schemeClr val="tx2"/>
                </a:solidFill>
              </a:rPr>
              <a:t>有伸缩性的工资理论</a:t>
            </a:r>
          </a:p>
          <a:p>
            <a:pPr>
              <a:lnSpc>
                <a:spcPct val="100000"/>
              </a:lnSpc>
              <a:spcBef>
                <a:spcPct val="0"/>
              </a:spcBef>
              <a:buFont typeface="Wingdings" panose="05000000000000000000" pitchFamily="2" charset="2"/>
              <a:buNone/>
            </a:pPr>
            <a:r>
              <a:rPr lang="en-US" altLang="zh-CN" sz="1210" dirty="0"/>
              <a:t>        ——</a:t>
            </a:r>
            <a:r>
              <a:rPr lang="zh-CN" altLang="en-US" sz="1210" dirty="0"/>
              <a:t>实际工资率与一般商品的价格一样完全由劳动市场的供求决定，并调节着劳动的供求。</a:t>
            </a:r>
            <a:endParaRPr lang="en-US" altLang="zh-CN" sz="1210" dirty="0"/>
          </a:p>
          <a:p>
            <a:pPr>
              <a:lnSpc>
                <a:spcPct val="100000"/>
              </a:lnSpc>
              <a:spcBef>
                <a:spcPct val="0"/>
              </a:spcBef>
              <a:buFont typeface="Wingdings" panose="05000000000000000000" pitchFamily="2" charset="2"/>
              <a:buNone/>
            </a:pPr>
            <a:endParaRPr lang="en-US" altLang="zh-CN" sz="1210" dirty="0"/>
          </a:p>
          <a:p>
            <a:pPr>
              <a:lnSpc>
                <a:spcPct val="100000"/>
              </a:lnSpc>
              <a:spcBef>
                <a:spcPct val="0"/>
              </a:spcBef>
              <a:buFont typeface="Wingdings" panose="05000000000000000000" pitchFamily="2" charset="2"/>
              <a:buNone/>
            </a:pPr>
            <a:endParaRPr lang="zh-CN" altLang="en-US" sz="1210" dirty="0"/>
          </a:p>
          <a:p>
            <a:pPr>
              <a:lnSpc>
                <a:spcPct val="100000"/>
              </a:lnSpc>
              <a:spcBef>
                <a:spcPct val="0"/>
              </a:spcBef>
            </a:pPr>
            <a:r>
              <a:rPr lang="zh-CN" altLang="en-US" dirty="0"/>
              <a:t>在此假设前提下，市场自发均衡时只可能存在自愿失业或自然失业，即达到充分就业状态，所以，经济中的产出水平等于潜在产出。</a:t>
            </a:r>
          </a:p>
        </p:txBody>
      </p:sp>
      <p:sp>
        <p:nvSpPr>
          <p:cNvPr id="2" name="Rectangle 6">
            <a:extLst>
              <a:ext uri="{FF2B5EF4-FFF2-40B4-BE49-F238E27FC236}">
                <a16:creationId xmlns:a16="http://schemas.microsoft.com/office/drawing/2014/main" id="{C52D901F-7F65-B1F9-D4A2-AE6F5231540F}"/>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61</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 name="日期占位符 3">
            <a:extLst>
              <a:ext uri="{FF2B5EF4-FFF2-40B4-BE49-F238E27FC236}">
                <a16:creationId xmlns:a16="http://schemas.microsoft.com/office/drawing/2014/main" id="{2F20D735-632D-4CD0-468D-9A7CD50A1E14}"/>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8" name="标题 1">
            <a:extLst>
              <a:ext uri="{FF2B5EF4-FFF2-40B4-BE49-F238E27FC236}">
                <a16:creationId xmlns:a16="http://schemas.microsoft.com/office/drawing/2014/main" id="{21F03A4D-6D7E-E333-680C-57B441F51786}"/>
              </a:ext>
            </a:extLst>
          </p:cNvPr>
          <p:cNvSpPr>
            <a:spLocks noGrp="1"/>
          </p:cNvSpPr>
          <p:nvPr>
            <p:ph type="title"/>
          </p:nvPr>
        </p:nvSpPr>
        <p:spPr>
          <a:xfrm>
            <a:off x="172879" y="127376"/>
            <a:ext cx="4240332" cy="343671"/>
          </a:xfrm>
        </p:spPr>
        <p:txBody>
          <a:bodyPr/>
          <a:lstStyle/>
          <a:p>
            <a:r>
              <a:rPr lang="zh-CN" altLang="en-US" dirty="0"/>
              <a:t>劳动市场的工资决定理论</a:t>
            </a:r>
            <a:endParaRPr lang="zh-CN" altLang="en-US"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61955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4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4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42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a:extLst>
              <a:ext uri="{FF2B5EF4-FFF2-40B4-BE49-F238E27FC236}">
                <a16:creationId xmlns:a16="http://schemas.microsoft.com/office/drawing/2014/main" id="{D60615CC-654B-417E-8931-D95918791EC8}"/>
              </a:ext>
            </a:extLst>
          </p:cNvPr>
          <p:cNvSpPr>
            <a:spLocks noGrp="1" noChangeArrowheads="1"/>
          </p:cNvSpPr>
          <p:nvPr>
            <p:ph type="body" idx="1"/>
          </p:nvPr>
        </p:nvSpPr>
        <p:spPr>
          <a:xfrm>
            <a:off x="316945" y="650255"/>
            <a:ext cx="3976211" cy="2235817"/>
          </a:xfrm>
          <a:solidFill>
            <a:schemeClr val="bg1"/>
          </a:solidFill>
        </p:spPr>
        <p:txBody>
          <a:bodyPr/>
          <a:lstStyle/>
          <a:p>
            <a:pPr>
              <a:lnSpc>
                <a:spcPct val="100000"/>
              </a:lnSpc>
              <a:spcBef>
                <a:spcPct val="0"/>
              </a:spcBef>
            </a:pPr>
            <a:r>
              <a:rPr lang="en-US" altLang="zh-CN" b="1" dirty="0">
                <a:solidFill>
                  <a:schemeClr val="tx2"/>
                </a:solidFill>
              </a:rPr>
              <a:t>2. </a:t>
            </a:r>
            <a:r>
              <a:rPr lang="zh-CN" altLang="en-US" b="1" dirty="0">
                <a:solidFill>
                  <a:schemeClr val="tx2"/>
                </a:solidFill>
              </a:rPr>
              <a:t>粘性的工资理论</a:t>
            </a:r>
            <a:endParaRPr lang="zh-CN" altLang="en-US" b="1" dirty="0"/>
          </a:p>
          <a:p>
            <a:pPr>
              <a:lnSpc>
                <a:spcPct val="100000"/>
              </a:lnSpc>
              <a:spcBef>
                <a:spcPct val="0"/>
              </a:spcBef>
              <a:buFont typeface="Wingdings" panose="05000000000000000000" pitchFamily="2" charset="2"/>
              <a:buNone/>
            </a:pPr>
            <a:r>
              <a:rPr lang="zh-CN" altLang="en-US" dirty="0"/>
              <a:t>    </a:t>
            </a:r>
            <a:r>
              <a:rPr lang="en-US" altLang="zh-CN" sz="1210" dirty="0"/>
              <a:t>——</a:t>
            </a:r>
            <a:r>
              <a:rPr lang="zh-CN" altLang="en-US" sz="1210" dirty="0"/>
              <a:t>劳动市场上的交易方式与一般商品市场是不同的，除货币工资具有“刚性”和“货币幻觉”外，劳动供求双方通常采取的是签定和约的方式，因而工资与一般商品的价格不同，难以随供求关系的变动而随时变动，即工资具有粘性。</a:t>
            </a:r>
            <a:endParaRPr lang="en-US" altLang="zh-CN" sz="1210" dirty="0"/>
          </a:p>
          <a:p>
            <a:pPr>
              <a:lnSpc>
                <a:spcPct val="100000"/>
              </a:lnSpc>
              <a:spcBef>
                <a:spcPct val="0"/>
              </a:spcBef>
              <a:buFont typeface="Wingdings" panose="05000000000000000000" pitchFamily="2" charset="2"/>
              <a:buNone/>
            </a:pPr>
            <a:endParaRPr lang="zh-CN" altLang="en-US" sz="1210" dirty="0"/>
          </a:p>
          <a:p>
            <a:pPr>
              <a:lnSpc>
                <a:spcPct val="100000"/>
              </a:lnSpc>
              <a:spcBef>
                <a:spcPct val="0"/>
              </a:spcBef>
            </a:pPr>
            <a:r>
              <a:rPr lang="zh-CN" altLang="en-US" dirty="0"/>
              <a:t>在此假设前提下，市场自发均衡时有可能存在非自愿失业或非自然失业，所以，经济中的产出水平有可能低于潜在产出。</a:t>
            </a:r>
            <a:endParaRPr lang="zh-CN" altLang="en-US" sz="1815" dirty="0"/>
          </a:p>
        </p:txBody>
      </p:sp>
      <p:sp>
        <p:nvSpPr>
          <p:cNvPr id="7" name="灯片编号占位符 6">
            <a:extLst>
              <a:ext uri="{FF2B5EF4-FFF2-40B4-BE49-F238E27FC236}">
                <a16:creationId xmlns:a16="http://schemas.microsoft.com/office/drawing/2014/main" id="{EAE9F8DD-80DF-4336-A4A9-4353231D2715}"/>
              </a:ext>
            </a:extLst>
          </p:cNvPr>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62</a:t>
            </a:fld>
            <a:endParaRPr lang="zh-CN" altLang="en-US"/>
          </a:p>
        </p:txBody>
      </p:sp>
      <p:sp>
        <p:nvSpPr>
          <p:cNvPr id="8" name="Rectangle 6">
            <a:extLst>
              <a:ext uri="{FF2B5EF4-FFF2-40B4-BE49-F238E27FC236}">
                <a16:creationId xmlns:a16="http://schemas.microsoft.com/office/drawing/2014/main" id="{134A2E2E-AB11-6583-14C1-48A569B88B9F}"/>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62</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9" name="日期占位符 3">
            <a:extLst>
              <a:ext uri="{FF2B5EF4-FFF2-40B4-BE49-F238E27FC236}">
                <a16:creationId xmlns:a16="http://schemas.microsoft.com/office/drawing/2014/main" id="{5FA9852D-116E-F77C-35CD-FFACA4950BDA}"/>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0" name="标题 1">
            <a:extLst>
              <a:ext uri="{FF2B5EF4-FFF2-40B4-BE49-F238E27FC236}">
                <a16:creationId xmlns:a16="http://schemas.microsoft.com/office/drawing/2014/main" id="{CDE1C8A4-A8A5-72F7-0FEE-FD3E996BF34B}"/>
              </a:ext>
            </a:extLst>
          </p:cNvPr>
          <p:cNvSpPr>
            <a:spLocks noGrp="1"/>
          </p:cNvSpPr>
          <p:nvPr>
            <p:ph type="title"/>
          </p:nvPr>
        </p:nvSpPr>
        <p:spPr>
          <a:xfrm>
            <a:off x="172879" y="127376"/>
            <a:ext cx="4240332" cy="343671"/>
          </a:xfrm>
        </p:spPr>
        <p:txBody>
          <a:bodyPr/>
          <a:lstStyle/>
          <a:p>
            <a:r>
              <a:rPr lang="zh-CN" altLang="en-US" dirty="0"/>
              <a:t>劳动市场的工资决定理论</a:t>
            </a:r>
            <a:endParaRPr lang="zh-CN" altLang="en-US"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425103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531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53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531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53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4" grpId="0" build="p"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劳动市场的两点说明</a:t>
            </a:r>
            <a:endParaRPr lang="zh-CN" altLang="en-US" dirty="0">
              <a:ln w="0"/>
              <a:solidFill>
                <a:schemeClr val="accent1"/>
              </a:solidFill>
              <a:effectLst>
                <a:outerShdw blurRad="38100" dist="25400" dir="5400000" algn="ctr" rotWithShape="0">
                  <a:srgbClr val="6E747A">
                    <a:alpha val="43000"/>
                  </a:srgbClr>
                </a:outerShdw>
              </a:effectLst>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dirty="0"/>
                  <a:t>1. </a:t>
                </a:r>
                <a:r>
                  <a:rPr lang="zh-CN" altLang="en-US" dirty="0"/>
                  <a:t>在</a:t>
                </a:r>
                <a:r>
                  <a:rPr lang="zh-CN" altLang="en-US" u="sng" dirty="0"/>
                  <a:t>有伸缩性</a:t>
                </a:r>
                <a:r>
                  <a:rPr lang="zh-CN" altLang="en-US" dirty="0"/>
                  <a:t>的工资和价格下，实际工资调整到劳动供求相等的水平，从而使劳动市场处于均衡的状态，在宏观经济中被称为充分就业的状态</a:t>
                </a:r>
                <a:endParaRPr lang="en-US" altLang="zh-CN" dirty="0"/>
              </a:p>
              <a:p>
                <a:r>
                  <a:rPr lang="en-US" altLang="zh-CN" dirty="0"/>
                  <a:t>2. </a:t>
                </a:r>
                <a:r>
                  <a:rPr lang="zh-CN" altLang="en-US" dirty="0"/>
                  <a:t>在任一时点上，资本存量</a:t>
                </a:r>
                <a:r>
                  <a:rPr lang="en-US" altLang="zh-CN" dirty="0"/>
                  <a:t>K</a:t>
                </a:r>
                <a:r>
                  <a:rPr lang="zh-CN" altLang="en-US" dirty="0"/>
                  <a:t>都是由以往的投资决策决定的。</a:t>
                </a:r>
                <a:endParaRPr lang="en-US" altLang="zh-CN" dirty="0"/>
              </a:p>
              <a:p>
                <a:r>
                  <a:rPr lang="zh-CN" altLang="en-US" dirty="0"/>
                  <a:t>将就业水平</a:t>
                </a:r>
                <a:r>
                  <a:rPr lang="en-US" altLang="zh-CN" dirty="0"/>
                  <a:t>N</a:t>
                </a:r>
                <a:r>
                  <a:rPr lang="zh-CN" altLang="en-US" dirty="0"/>
                  <a:t>和既定的资本存量</a:t>
                </a:r>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𝐾</m:t>
                        </m:r>
                      </m:e>
                    </m:acc>
                    <m:r>
                      <a:rPr lang="zh-CN" altLang="en-US" i="1">
                        <a:latin typeface="Cambria Math" panose="02040503050406030204" pitchFamily="18" charset="0"/>
                      </a:rPr>
                      <m:t>代入</m:t>
                    </m:r>
                  </m:oMath>
                </a14:m>
                <a:r>
                  <a:rPr lang="zh-CN" altLang="en-US" dirty="0"/>
                  <a:t>到短期总量生产函数</a:t>
                </a:r>
                <a14:m>
                  <m:oMath xmlns:m="http://schemas.openxmlformats.org/officeDocument/2006/math">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𝐾</m:t>
                        </m:r>
                      </m:e>
                    </m:acc>
                    <m:r>
                      <a:rPr lang="en-US" altLang="zh-CN" b="0" i="1" smtClean="0">
                        <a:latin typeface="Cambria Math" panose="02040503050406030204" pitchFamily="18" charset="0"/>
                      </a:rPr>
                      <m:t>)</m:t>
                    </m:r>
                  </m:oMath>
                </a14:m>
                <a:r>
                  <a:rPr lang="zh-CN" altLang="en-US" dirty="0"/>
                  <a:t>就得到产量水平。</a:t>
                </a:r>
                <a:endParaRPr lang="en-US" altLang="zh-CN" dirty="0"/>
              </a:p>
              <a:p>
                <a:r>
                  <a:rPr lang="zh-CN" altLang="en-US" dirty="0"/>
                  <a:t>劳动市场在经济的总供给方面处于主导地位，因为它决定了经济的总供给或产量。</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04" t="-1463"/>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63</a:t>
            </a:fld>
            <a:endParaRPr lang="zh-CN" altLang="en-US"/>
          </a:p>
        </p:txBody>
      </p:sp>
      <p:sp>
        <p:nvSpPr>
          <p:cNvPr id="7" name="Rectangle 6">
            <a:extLst>
              <a:ext uri="{FF2B5EF4-FFF2-40B4-BE49-F238E27FC236}">
                <a16:creationId xmlns:a16="http://schemas.microsoft.com/office/drawing/2014/main" id="{4D9DF35A-00FD-2952-B670-C3B447DA9855}"/>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63</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50592F89-8A5E-156B-A4FE-1AAFA90B4351}"/>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22097376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4897" y="794271"/>
            <a:ext cx="4191509" cy="2301797"/>
          </a:xfrm>
        </p:spPr>
        <p:txBody>
          <a:bodyPr/>
          <a:lstStyle/>
          <a:p>
            <a:r>
              <a:rPr lang="zh-CN" altLang="en-US" dirty="0"/>
              <a:t>首先，就长期而论，除了厂房、设备等不变生产要素以外，宏观经济学的长期在很大程度上还涉及人口、技术水平等因素的变化，而这些因素的变化往往需要数年、数十年的时间。</a:t>
            </a:r>
          </a:p>
          <a:p>
            <a:endParaRPr lang="zh-CN" altLang="en-US" dirty="0"/>
          </a:p>
          <a:p>
            <a:r>
              <a:rPr lang="zh-CN" altLang="en-US" dirty="0"/>
              <a:t>其次，就短期而论，宏观经济学的总供给曲线涉及的因素主要为货币工资和价格水平的调整所需要的时间长短。</a:t>
            </a:r>
          </a:p>
          <a:p>
            <a:endParaRPr lang="zh-CN" altLang="en-US" dirty="0"/>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64</a:t>
            </a:fld>
            <a:endParaRPr lang="zh-CN" altLang="en-US"/>
          </a:p>
        </p:txBody>
      </p:sp>
      <p:sp>
        <p:nvSpPr>
          <p:cNvPr id="7" name="Rectangle 6">
            <a:extLst>
              <a:ext uri="{FF2B5EF4-FFF2-40B4-BE49-F238E27FC236}">
                <a16:creationId xmlns:a16="http://schemas.microsoft.com/office/drawing/2014/main" id="{2E13F5D6-6949-5C2D-1988-DBB3700579E0}"/>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64</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20335F62-684A-79DB-76B9-5234209CF7F5}"/>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9" name="标题 8">
            <a:extLst>
              <a:ext uri="{FF2B5EF4-FFF2-40B4-BE49-F238E27FC236}">
                <a16:creationId xmlns:a16="http://schemas.microsoft.com/office/drawing/2014/main" id="{4635AA3A-A203-BE1D-11D3-A84CD653B4D9}"/>
              </a:ext>
            </a:extLst>
          </p:cNvPr>
          <p:cNvSpPr>
            <a:spLocks noGrp="1"/>
          </p:cNvSpPr>
          <p:nvPr>
            <p:ph type="title"/>
          </p:nvPr>
        </p:nvSpPr>
        <p:spPr>
          <a:xfrm>
            <a:off x="172879" y="127376"/>
            <a:ext cx="4240332" cy="666895"/>
          </a:xfrm>
        </p:spPr>
        <p:txBody>
          <a:bodyPr/>
          <a:lstStyle/>
          <a:p>
            <a:r>
              <a:rPr kumimoji="1" lang="zh-CN" altLang="en-US" dirty="0"/>
              <a:t>长期和短期在国民收入决定中的特殊含义</a:t>
            </a:r>
          </a:p>
        </p:txBody>
      </p:sp>
    </p:spTree>
    <p:extLst>
      <p:ext uri="{BB962C8B-B14F-4D97-AF65-F5344CB8AC3E}">
        <p14:creationId xmlns:p14="http://schemas.microsoft.com/office/powerpoint/2010/main" val="39943056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E709A91-F677-D99B-84DB-8F9EF812674C}"/>
              </a:ext>
            </a:extLst>
          </p:cNvPr>
          <p:cNvSpPr/>
          <p:nvPr/>
        </p:nvSpPr>
        <p:spPr>
          <a:xfrm>
            <a:off x="0" y="1154311"/>
            <a:ext cx="4610100" cy="57606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3"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defTabSz="23052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ea typeface="等线" panose="02010600030101010101" pitchFamily="2" charset="-122"/>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solidFill>
                <a:prstClr val="black"/>
              </a:solidFill>
              <a:latin typeface="Times New Roman"/>
              <a:cs typeface="Times New Roman"/>
            </a:endParaRPr>
          </a:p>
        </p:txBody>
      </p:sp>
      <p:sp>
        <p:nvSpPr>
          <p:cNvPr id="4" name="文本框 3">
            <a:extLst>
              <a:ext uri="{FF2B5EF4-FFF2-40B4-BE49-F238E27FC236}">
                <a16:creationId xmlns:a16="http://schemas.microsoft.com/office/drawing/2014/main" id="{AC21A519-07F0-8968-038B-EF91CCC02214}"/>
              </a:ext>
            </a:extLst>
          </p:cNvPr>
          <p:cNvSpPr txBox="1"/>
          <p:nvPr/>
        </p:nvSpPr>
        <p:spPr>
          <a:xfrm>
            <a:off x="144810" y="1154311"/>
            <a:ext cx="4320480" cy="482440"/>
          </a:xfrm>
          <a:prstGeom prst="rect">
            <a:avLst/>
          </a:prstGeom>
          <a:noFill/>
        </p:spPr>
        <p:txBody>
          <a:bodyPr wrap="square">
            <a:spAutoFit/>
          </a:bodyPr>
          <a:lstStyle/>
          <a:p>
            <a:pPr algn="ctr" fontAlgn="base">
              <a:lnSpc>
                <a:spcPct val="150000"/>
              </a:lnSpc>
              <a:spcBef>
                <a:spcPct val="0"/>
              </a:spcBef>
              <a:spcAft>
                <a:spcPct val="0"/>
              </a:spcAft>
            </a:pPr>
            <a:r>
              <a:rPr kumimoji="1" lang="zh-CN" altLang="en-US" sz="1916" dirty="0">
                <a:latin typeface="Microsoft YaHei" panose="020B0503020204020204" pitchFamily="34" charset="-122"/>
                <a:ea typeface="Microsoft YaHei" panose="020B0503020204020204" pitchFamily="34" charset="-122"/>
                <a:cs typeface="+mj-cs"/>
              </a:rPr>
              <a:t>第</a:t>
            </a:r>
            <a:r>
              <a:rPr kumimoji="1" lang="en-US" altLang="zh-CN" sz="1916" dirty="0">
                <a:latin typeface="Microsoft YaHei" panose="020B0503020204020204" pitchFamily="34" charset="-122"/>
                <a:ea typeface="Microsoft YaHei" panose="020B0503020204020204" pitchFamily="34" charset="-122"/>
                <a:cs typeface="+mj-cs"/>
              </a:rPr>
              <a:t>4</a:t>
            </a:r>
            <a:r>
              <a:rPr kumimoji="1" lang="zh-CN" altLang="en-US" sz="1916" dirty="0">
                <a:latin typeface="Microsoft YaHei" panose="020B0503020204020204" pitchFamily="34" charset="-122"/>
                <a:ea typeface="Microsoft YaHei" panose="020B0503020204020204" pitchFamily="34" charset="-122"/>
                <a:cs typeface="+mj-cs"/>
              </a:rPr>
              <a:t>节  总需求</a:t>
            </a:r>
            <a:r>
              <a:rPr kumimoji="1" lang="en-US" altLang="zh-CN" sz="1916" dirty="0">
                <a:latin typeface="Microsoft YaHei" panose="020B0503020204020204" pitchFamily="34" charset="-122"/>
                <a:ea typeface="Microsoft YaHei" panose="020B0503020204020204" pitchFamily="34" charset="-122"/>
                <a:cs typeface="+mj-cs"/>
              </a:rPr>
              <a:t>-</a:t>
            </a:r>
            <a:r>
              <a:rPr kumimoji="1" lang="zh-CN" altLang="en-US" sz="1916" dirty="0">
                <a:latin typeface="Microsoft YaHei" panose="020B0503020204020204" pitchFamily="34" charset="-122"/>
                <a:ea typeface="Microsoft YaHei" panose="020B0503020204020204" pitchFamily="34" charset="-122"/>
                <a:cs typeface="+mj-cs"/>
              </a:rPr>
              <a:t>总供给分析</a:t>
            </a:r>
          </a:p>
        </p:txBody>
      </p:sp>
    </p:spTree>
    <p:extLst>
      <p:ext uri="{BB962C8B-B14F-4D97-AF65-F5344CB8AC3E}">
        <p14:creationId xmlns:p14="http://schemas.microsoft.com/office/powerpoint/2010/main" val="841203415"/>
      </p:ext>
    </p:extLst>
  </p:cSld>
  <p:clrMapOvr>
    <a:masterClrMapping/>
  </p:clrMapOvr>
  <p:transition>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635594D-A9B9-A4FC-2724-50B74A905D5B}"/>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E4480804-C43B-A6B6-0160-702C65C9712C}"/>
              </a:ext>
            </a:extLst>
          </p:cNvPr>
          <p:cNvSpPr>
            <a:spLocks noGrp="1"/>
          </p:cNvSpPr>
          <p:nvPr>
            <p:ph type="sldNum" sz="quarter" idx="11"/>
          </p:nvPr>
        </p:nvSpPr>
        <p:spPr/>
        <p:txBody>
          <a:bodyPr/>
          <a:lstStyle/>
          <a:p>
            <a:fld id="{04E9C777-D245-8941-93D2-A5F8B4098521}" type="slidenum">
              <a:rPr lang="zh-CN" altLang="zh-CN"/>
              <a:pPr/>
              <a:t>66</a:t>
            </a:fld>
            <a:endParaRPr lang="zh-CN" altLang="zh-CN"/>
          </a:p>
        </p:txBody>
      </p:sp>
      <p:sp>
        <p:nvSpPr>
          <p:cNvPr id="77826" name="Rectangle 2">
            <a:extLst>
              <a:ext uri="{FF2B5EF4-FFF2-40B4-BE49-F238E27FC236}">
                <a16:creationId xmlns:a16="http://schemas.microsoft.com/office/drawing/2014/main" id="{EBAA25F7-02B0-6F38-E28F-25941D9B3E68}"/>
              </a:ext>
            </a:extLst>
          </p:cNvPr>
          <p:cNvSpPr>
            <a:spLocks noGrp="1" noChangeArrowheads="1"/>
          </p:cNvSpPr>
          <p:nvPr>
            <p:ph type="title" idx="4294967295"/>
          </p:nvPr>
        </p:nvSpPr>
        <p:spPr/>
        <p:txBody>
          <a:bodyPr/>
          <a:lstStyle/>
          <a:p>
            <a:r>
              <a:rPr lang="zh-CN" altLang="en-US" sz="1815">
                <a:ea typeface="宋体" panose="02010600030101010101" pitchFamily="2" charset="-122"/>
              </a:rPr>
              <a:t>经济波动</a:t>
            </a:r>
          </a:p>
        </p:txBody>
      </p:sp>
      <p:sp>
        <p:nvSpPr>
          <p:cNvPr id="77827" name="Rectangle 3">
            <a:extLst>
              <a:ext uri="{FF2B5EF4-FFF2-40B4-BE49-F238E27FC236}">
                <a16:creationId xmlns:a16="http://schemas.microsoft.com/office/drawing/2014/main" id="{AD367D4E-0930-CFCC-0C96-32182121F72E}"/>
              </a:ext>
            </a:extLst>
          </p:cNvPr>
          <p:cNvSpPr>
            <a:spLocks noGrp="1" noChangeArrowheads="1"/>
          </p:cNvSpPr>
          <p:nvPr>
            <p:ph type="body" idx="4294967295"/>
          </p:nvPr>
        </p:nvSpPr>
        <p:spPr>
          <a:xfrm>
            <a:off x="230505" y="506618"/>
            <a:ext cx="4149090" cy="2745251"/>
          </a:xfrm>
        </p:spPr>
        <p:txBody>
          <a:bodyPr/>
          <a:lstStyle/>
          <a:p>
            <a:r>
              <a:rPr lang="zh-CN" altLang="zh-CN" sz="1361">
                <a:ea typeface="宋体" panose="02010600030101010101" pitchFamily="2" charset="-122"/>
              </a:rPr>
              <a:t>是引起</a:t>
            </a:r>
            <a:r>
              <a:rPr lang="zh-CN" altLang="zh-CN" sz="1361" i="1">
                <a:ea typeface="宋体" panose="02010600030101010101" pitchFamily="2" charset="-122"/>
              </a:rPr>
              <a:t>AD</a:t>
            </a:r>
            <a:r>
              <a:rPr lang="zh-CN" altLang="zh-CN" sz="1361">
                <a:ea typeface="宋体" panose="02010600030101010101" pitchFamily="2" charset="-122"/>
              </a:rPr>
              <a:t>或</a:t>
            </a:r>
            <a:r>
              <a:rPr lang="zh-CN" altLang="zh-CN" sz="1361" i="1">
                <a:ea typeface="宋体" panose="02010600030101010101" pitchFamily="2" charset="-122"/>
              </a:rPr>
              <a:t>AS</a:t>
            </a:r>
            <a:r>
              <a:rPr lang="zh-CN" altLang="zh-CN" sz="1361">
                <a:ea typeface="宋体" panose="02010600030101010101" pitchFamily="2" charset="-122"/>
              </a:rPr>
              <a:t>曲线移动的事件所致</a:t>
            </a:r>
          </a:p>
          <a:p>
            <a:pPr>
              <a:spcBef>
                <a:spcPct val="40000"/>
              </a:spcBef>
            </a:pPr>
            <a:r>
              <a:rPr lang="zh-CN" altLang="zh-CN" sz="1361">
                <a:ea typeface="宋体" panose="02010600030101010101" pitchFamily="2" charset="-122"/>
              </a:rPr>
              <a:t>分析经济波动的4个步骤：</a:t>
            </a:r>
          </a:p>
          <a:p>
            <a:pPr marL="461040" lvl="1" indent="-230520">
              <a:lnSpc>
                <a:spcPct val="105000"/>
              </a:lnSpc>
              <a:spcBef>
                <a:spcPct val="35000"/>
              </a:spcBef>
              <a:buNone/>
            </a:pPr>
            <a:r>
              <a:rPr lang="zh-CN" altLang="zh-CN" sz="1311" b="1">
                <a:solidFill>
                  <a:srgbClr val="339966"/>
                </a:solidFill>
                <a:ea typeface="宋体" panose="02010600030101010101" pitchFamily="2" charset="-122"/>
              </a:rPr>
              <a:t>1.</a:t>
            </a:r>
            <a:r>
              <a:rPr lang="zh-CN" altLang="zh-CN" sz="1311">
                <a:solidFill>
                  <a:srgbClr val="339966"/>
                </a:solidFill>
                <a:ea typeface="宋体" panose="02010600030101010101" pitchFamily="2" charset="-122"/>
              </a:rPr>
              <a:t>	</a:t>
            </a:r>
            <a:r>
              <a:rPr lang="zh-CN" altLang="zh-CN">
                <a:ea typeface="宋体" panose="02010600030101010101" pitchFamily="2" charset="-122"/>
              </a:rPr>
              <a:t>确定某个事件是使总需求曲线移动，还是使总供给曲线移动（或者两条曲线都移动）</a:t>
            </a:r>
          </a:p>
          <a:p>
            <a:pPr marL="461040" lvl="1" indent="-230520">
              <a:lnSpc>
                <a:spcPct val="105000"/>
              </a:lnSpc>
              <a:spcBef>
                <a:spcPct val="35000"/>
              </a:spcBef>
              <a:buNone/>
            </a:pPr>
            <a:r>
              <a:rPr lang="zh-CN" altLang="zh-CN" sz="1311" b="1">
                <a:solidFill>
                  <a:srgbClr val="339966"/>
                </a:solidFill>
                <a:ea typeface="宋体" panose="02010600030101010101" pitchFamily="2" charset="-122"/>
              </a:rPr>
              <a:t>2. </a:t>
            </a:r>
            <a:r>
              <a:rPr lang="zh-CN" altLang="zh-CN" sz="1311">
                <a:solidFill>
                  <a:srgbClr val="339966"/>
                </a:solidFill>
                <a:ea typeface="宋体" panose="02010600030101010101" pitchFamily="2" charset="-122"/>
              </a:rPr>
              <a:t>	</a:t>
            </a:r>
            <a:r>
              <a:rPr lang="zh-CN" altLang="zh-CN">
                <a:ea typeface="宋体" panose="02010600030101010101" pitchFamily="2" charset="-122"/>
              </a:rPr>
              <a:t>确定曲线移动的方向</a:t>
            </a:r>
          </a:p>
          <a:p>
            <a:pPr marL="461040" lvl="1" indent="-230520">
              <a:lnSpc>
                <a:spcPct val="105000"/>
              </a:lnSpc>
              <a:spcBef>
                <a:spcPct val="35000"/>
              </a:spcBef>
              <a:buNone/>
            </a:pPr>
            <a:r>
              <a:rPr lang="zh-CN" altLang="zh-CN" sz="1311" b="1">
                <a:solidFill>
                  <a:srgbClr val="339966"/>
                </a:solidFill>
                <a:ea typeface="宋体" panose="02010600030101010101" pitchFamily="2" charset="-122"/>
              </a:rPr>
              <a:t>3. </a:t>
            </a:r>
            <a:r>
              <a:rPr lang="zh-CN" altLang="zh-CN" sz="1311">
                <a:solidFill>
                  <a:srgbClr val="339966"/>
                </a:solidFill>
                <a:ea typeface="宋体" panose="02010600030101010101" pitchFamily="2" charset="-122"/>
              </a:rPr>
              <a:t>	</a:t>
            </a:r>
            <a:r>
              <a:rPr lang="zh-CN" altLang="zh-CN">
                <a:ea typeface="宋体" panose="02010600030101010101" pitchFamily="2" charset="-122"/>
              </a:rPr>
              <a:t>用总需求和总供给图说明这种移动如何影响短期的产量和物价水平 </a:t>
            </a:r>
          </a:p>
          <a:p>
            <a:pPr marL="461040" lvl="1" indent="-230520">
              <a:lnSpc>
                <a:spcPct val="105000"/>
              </a:lnSpc>
              <a:spcBef>
                <a:spcPct val="35000"/>
              </a:spcBef>
              <a:buNone/>
            </a:pPr>
            <a:r>
              <a:rPr lang="zh-CN" altLang="zh-CN" sz="1311" b="1">
                <a:solidFill>
                  <a:srgbClr val="339966"/>
                </a:solidFill>
                <a:ea typeface="宋体" panose="02010600030101010101" pitchFamily="2" charset="-122"/>
              </a:rPr>
              <a:t>4. </a:t>
            </a:r>
            <a:r>
              <a:rPr lang="zh-CN" altLang="zh-CN">
                <a:ea typeface="宋体" panose="02010600030101010101" pitchFamily="2" charset="-122"/>
              </a:rPr>
              <a:t>用总需求和总供给图分析经济如何从其新的短期均衡变动到其长期均衡</a:t>
            </a:r>
          </a:p>
        </p:txBody>
      </p:sp>
      <p:sp>
        <p:nvSpPr>
          <p:cNvPr id="77828" name="FlagCount" hidden="1">
            <a:hlinkClick r:id="rId3" action="ppaction://hlinkfile"/>
            <a:extLst>
              <a:ext uri="{FF2B5EF4-FFF2-40B4-BE49-F238E27FC236}">
                <a16:creationId xmlns:a16="http://schemas.microsoft.com/office/drawing/2014/main" id="{3A962FC0-C197-BBE9-C6A3-F22818B0541A}"/>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947485957"/>
      </p:ext>
    </p:extLst>
  </p:cSld>
  <p:clrMapOvr>
    <a:masterClrMapping/>
  </p:clrMapOvr>
  <p:transition>
    <p:wipe dir="r"/>
  </p:transition>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B561F19C-5EAA-5317-1213-31117C376408}"/>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35ED5028-4FD3-0AE0-89BC-01BFAD601DF7}"/>
              </a:ext>
            </a:extLst>
          </p:cNvPr>
          <p:cNvSpPr>
            <a:spLocks noGrp="1"/>
          </p:cNvSpPr>
          <p:nvPr>
            <p:ph type="sldNum" sz="quarter" idx="11"/>
          </p:nvPr>
        </p:nvSpPr>
        <p:spPr/>
        <p:txBody>
          <a:bodyPr/>
          <a:lstStyle/>
          <a:p>
            <a:fld id="{972074B2-F9A9-D34B-975D-8F72ACC64E81}" type="slidenum">
              <a:rPr lang="zh-CN" altLang="zh-CN"/>
              <a:pPr/>
              <a:t>67</a:t>
            </a:fld>
            <a:endParaRPr lang="zh-CN" altLang="zh-CN"/>
          </a:p>
        </p:txBody>
      </p:sp>
      <p:grpSp>
        <p:nvGrpSpPr>
          <p:cNvPr id="79874" name="Group 2">
            <a:extLst>
              <a:ext uri="{FF2B5EF4-FFF2-40B4-BE49-F238E27FC236}">
                <a16:creationId xmlns:a16="http://schemas.microsoft.com/office/drawing/2014/main" id="{0060404C-6E0A-CA05-35B5-2B1697E439CC}"/>
              </a:ext>
            </a:extLst>
          </p:cNvPr>
          <p:cNvGrpSpPr>
            <a:grpSpLocks/>
          </p:cNvGrpSpPr>
          <p:nvPr/>
        </p:nvGrpSpPr>
        <p:grpSpPr bwMode="auto">
          <a:xfrm>
            <a:off x="3049389" y="747527"/>
            <a:ext cx="593871" cy="2219411"/>
            <a:chOff x="0" y="0"/>
            <a:chExt cx="742" cy="2773"/>
          </a:xfrm>
        </p:grpSpPr>
        <p:sp>
          <p:nvSpPr>
            <p:cNvPr id="79875" name="Line 17">
              <a:extLst>
                <a:ext uri="{FF2B5EF4-FFF2-40B4-BE49-F238E27FC236}">
                  <a16:creationId xmlns:a16="http://schemas.microsoft.com/office/drawing/2014/main" id="{49AADE3D-67AC-78D0-E306-44576D089CBA}"/>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876" name="Text Box 19">
              <a:extLst>
                <a:ext uri="{FF2B5EF4-FFF2-40B4-BE49-F238E27FC236}">
                  <a16:creationId xmlns:a16="http://schemas.microsoft.com/office/drawing/2014/main" id="{D10D68DD-CF19-F265-7BB7-A87096E1D26D}"/>
                </a:ext>
              </a:extLst>
            </p:cNvPr>
            <p:cNvSpPr txBox="1">
              <a:spLocks noChangeArrowheads="1"/>
            </p:cNvSpPr>
            <p:nvPr/>
          </p:nvSpPr>
          <p:spPr bwMode="auto">
            <a:xfrm>
              <a:off x="0" y="0"/>
              <a:ext cx="74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79877" name="Rectangle 51">
              <a:extLst>
                <a:ext uri="{FF2B5EF4-FFF2-40B4-BE49-F238E27FC236}">
                  <a16:creationId xmlns:a16="http://schemas.microsoft.com/office/drawing/2014/main" id="{9AAF5913-E498-DC0C-B9B9-EEE2502D4821}"/>
                </a:ext>
              </a:extLst>
            </p:cNvPr>
            <p:cNvSpPr>
              <a:spLocks noChangeArrowheads="1"/>
            </p:cNvSpPr>
            <p:nvPr/>
          </p:nvSpPr>
          <p:spPr bwMode="auto">
            <a:xfrm>
              <a:off x="221" y="2425"/>
              <a:ext cx="455"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sp>
        <p:nvSpPr>
          <p:cNvPr id="79878" name="Rectangle 3">
            <a:extLst>
              <a:ext uri="{FF2B5EF4-FFF2-40B4-BE49-F238E27FC236}">
                <a16:creationId xmlns:a16="http://schemas.microsoft.com/office/drawing/2014/main" id="{4A157E05-DADB-54AA-C0A8-2E0FB21FD558}"/>
              </a:ext>
            </a:extLst>
          </p:cNvPr>
          <p:cNvSpPr>
            <a:spLocks noGrp="1" noChangeArrowheads="1"/>
          </p:cNvSpPr>
          <p:nvPr>
            <p:ph type="title" idx="4294967295"/>
          </p:nvPr>
        </p:nvSpPr>
        <p:spPr>
          <a:xfrm>
            <a:off x="0" y="84025"/>
            <a:ext cx="4610100" cy="327349"/>
          </a:xfrm>
        </p:spPr>
        <p:txBody>
          <a:bodyPr/>
          <a:lstStyle/>
          <a:p>
            <a:r>
              <a:rPr lang="zh-CN" altLang="en-US" sz="1815">
                <a:ea typeface="宋体" panose="02010600030101010101" pitchFamily="2" charset="-122"/>
              </a:rPr>
              <a:t>总需求移动的影响</a:t>
            </a:r>
            <a:endParaRPr lang="zh-CN" altLang="en-US" sz="1815" i="1">
              <a:ea typeface="宋体" panose="02010600030101010101" pitchFamily="2" charset="-122"/>
            </a:endParaRPr>
          </a:p>
        </p:txBody>
      </p:sp>
      <p:sp>
        <p:nvSpPr>
          <p:cNvPr id="79879" name="Rectangle 4">
            <a:extLst>
              <a:ext uri="{FF2B5EF4-FFF2-40B4-BE49-F238E27FC236}">
                <a16:creationId xmlns:a16="http://schemas.microsoft.com/office/drawing/2014/main" id="{9CF933A7-7800-2D98-0A29-D8E2B4F099B1}"/>
              </a:ext>
            </a:extLst>
          </p:cNvPr>
          <p:cNvSpPr>
            <a:spLocks noGrp="1" noChangeArrowheads="1"/>
          </p:cNvSpPr>
          <p:nvPr>
            <p:ph type="body" idx="4294967295"/>
          </p:nvPr>
        </p:nvSpPr>
        <p:spPr>
          <a:xfrm>
            <a:off x="165676" y="452193"/>
            <a:ext cx="2056937" cy="2731644"/>
          </a:xfrm>
        </p:spPr>
        <p:txBody>
          <a:bodyPr/>
          <a:lstStyle/>
          <a:p>
            <a:pPr marL="233722" indent="-233722">
              <a:lnSpc>
                <a:spcPct val="95000"/>
              </a:lnSpc>
              <a:spcBef>
                <a:spcPct val="35000"/>
              </a:spcBef>
              <a:buNone/>
            </a:pPr>
            <a:r>
              <a:rPr lang="zh-CN" altLang="zh-CN" sz="1311" u="sng">
                <a:ea typeface="宋体" panose="02010600030101010101" pitchFamily="2" charset="-122"/>
              </a:rPr>
              <a:t>事件：股票市场崩溃 </a:t>
            </a:r>
          </a:p>
          <a:p>
            <a:pPr marL="233722" indent="-233722">
              <a:lnSpc>
                <a:spcPct val="95000"/>
              </a:lnSpc>
              <a:spcBef>
                <a:spcPct val="35000"/>
              </a:spcBef>
              <a:buNone/>
            </a:pPr>
            <a:r>
              <a:rPr lang="zh-CN" altLang="zh-CN" sz="1261" b="1">
                <a:solidFill>
                  <a:srgbClr val="339966"/>
                </a:solidFill>
                <a:ea typeface="宋体" panose="02010600030101010101" pitchFamily="2" charset="-122"/>
              </a:rPr>
              <a:t>1. </a:t>
            </a:r>
            <a:r>
              <a:rPr lang="zh-CN" altLang="zh-CN" sz="1311">
                <a:ea typeface="宋体" panose="02010600030101010101" pitchFamily="2" charset="-122"/>
              </a:rPr>
              <a:t>影响消费，</a:t>
            </a:r>
            <a:r>
              <a:rPr lang="zh-CN" altLang="zh-CN" sz="1311" i="1">
                <a:ea typeface="宋体" panose="02010600030101010101" pitchFamily="2" charset="-122"/>
              </a:rPr>
              <a:t>AD</a:t>
            </a:r>
            <a:r>
              <a:rPr lang="zh-CN" altLang="zh-CN" sz="1311">
                <a:ea typeface="宋体" panose="02010600030101010101" pitchFamily="2" charset="-122"/>
              </a:rPr>
              <a:t>曲线</a:t>
            </a:r>
          </a:p>
          <a:p>
            <a:pPr marL="233722" indent="-233722">
              <a:lnSpc>
                <a:spcPct val="95000"/>
              </a:lnSpc>
              <a:spcBef>
                <a:spcPct val="35000"/>
              </a:spcBef>
              <a:buNone/>
            </a:pPr>
            <a:r>
              <a:rPr lang="zh-CN" altLang="zh-CN" sz="1261" b="1">
                <a:solidFill>
                  <a:srgbClr val="339966"/>
                </a:solidFill>
                <a:ea typeface="宋体" panose="02010600030101010101" pitchFamily="2" charset="-122"/>
              </a:rPr>
              <a:t>2. </a:t>
            </a:r>
            <a:r>
              <a:rPr lang="zh-CN" altLang="zh-CN" sz="1311">
                <a:ea typeface="宋体" panose="02010600030101010101" pitchFamily="2" charset="-122"/>
              </a:rPr>
              <a:t>消费减少，所以</a:t>
            </a:r>
            <a:r>
              <a:rPr lang="zh-CN" altLang="zh-CN" sz="1311" i="1">
                <a:ea typeface="宋体" panose="02010600030101010101" pitchFamily="2" charset="-122"/>
              </a:rPr>
              <a:t>AD</a:t>
            </a:r>
            <a:r>
              <a:rPr lang="zh-CN" altLang="zh-CN" sz="1311">
                <a:ea typeface="宋体" panose="02010600030101010101" pitchFamily="2" charset="-122"/>
              </a:rPr>
              <a:t>曲线向左移动</a:t>
            </a:r>
          </a:p>
          <a:p>
            <a:pPr marL="233722" indent="-233722">
              <a:lnSpc>
                <a:spcPct val="95000"/>
              </a:lnSpc>
              <a:spcBef>
                <a:spcPct val="35000"/>
              </a:spcBef>
              <a:buNone/>
            </a:pPr>
            <a:r>
              <a:rPr lang="zh-CN" altLang="zh-CN" sz="1261" b="1">
                <a:solidFill>
                  <a:srgbClr val="339966"/>
                </a:solidFill>
                <a:ea typeface="宋体" panose="02010600030101010101" pitchFamily="2" charset="-122"/>
              </a:rPr>
              <a:t>3. 	</a:t>
            </a:r>
            <a:r>
              <a:rPr lang="zh-CN" altLang="zh-CN" sz="1311">
                <a:ea typeface="宋体" panose="02010600030101010101" pitchFamily="2" charset="-122"/>
              </a:rPr>
              <a:t>短期在B点达到均衡</a:t>
            </a:r>
            <a:br>
              <a:rPr lang="zh-CN" altLang="zh-CN" sz="1311">
                <a:ea typeface="宋体" panose="02010600030101010101" pitchFamily="2" charset="-122"/>
              </a:rPr>
            </a:br>
            <a:r>
              <a:rPr lang="zh-CN" altLang="zh-CN" sz="1311">
                <a:ea typeface="宋体" panose="02010600030101010101" pitchFamily="2" charset="-122"/>
              </a:rPr>
              <a:t>物价水平与产出都下降，失业增加</a:t>
            </a:r>
          </a:p>
          <a:p>
            <a:pPr marL="233722" indent="-233722">
              <a:lnSpc>
                <a:spcPct val="95000"/>
              </a:lnSpc>
              <a:spcBef>
                <a:spcPct val="35000"/>
              </a:spcBef>
              <a:buNone/>
            </a:pPr>
            <a:r>
              <a:rPr lang="zh-CN" altLang="zh-CN" sz="1261" b="1">
                <a:solidFill>
                  <a:srgbClr val="339966"/>
                </a:solidFill>
                <a:ea typeface="宋体" panose="02010600030101010101" pitchFamily="2" charset="-122"/>
              </a:rPr>
              <a:t>4. 	</a:t>
            </a:r>
            <a:r>
              <a:rPr lang="zh-CN" altLang="zh-CN" sz="1311">
                <a:ea typeface="宋体" panose="02010600030101010101" pitchFamily="2" charset="-122"/>
              </a:rPr>
              <a:t>在长期中，</a:t>
            </a:r>
            <a:r>
              <a:rPr lang="zh-CN" altLang="zh-CN" sz="1311" b="1" i="1">
                <a:ea typeface="宋体" panose="02010600030101010101" pitchFamily="2" charset="-122"/>
              </a:rPr>
              <a:t>P</a:t>
            </a:r>
            <a:r>
              <a:rPr lang="zh-CN" altLang="zh-CN" sz="1311" b="1" baseline="-25000">
                <a:ea typeface="宋体" panose="02010600030101010101" pitchFamily="2" charset="-122"/>
              </a:rPr>
              <a:t>E</a:t>
            </a:r>
            <a:r>
              <a:rPr lang="zh-CN" altLang="zh-CN" sz="1311">
                <a:ea typeface="宋体" panose="02010600030101010101" pitchFamily="2" charset="-122"/>
              </a:rPr>
              <a:t>下降，</a:t>
            </a:r>
            <a:br>
              <a:rPr lang="zh-CN" altLang="zh-CN" sz="1311">
                <a:ea typeface="宋体" panose="02010600030101010101" pitchFamily="2" charset="-122"/>
              </a:rPr>
            </a:br>
            <a:r>
              <a:rPr lang="zh-CN" altLang="zh-CN" sz="1311" i="1">
                <a:ea typeface="宋体" panose="02010600030101010101" pitchFamily="2" charset="-122"/>
              </a:rPr>
              <a:t>SRAS</a:t>
            </a:r>
            <a:r>
              <a:rPr lang="zh-CN" altLang="zh-CN" sz="1311">
                <a:ea typeface="宋体" panose="02010600030101010101" pitchFamily="2" charset="-122"/>
              </a:rPr>
              <a:t>曲线一直向右移动，直到达到长期均衡点C。产出与失业回到起始水平</a:t>
            </a:r>
          </a:p>
        </p:txBody>
      </p:sp>
      <p:grpSp>
        <p:nvGrpSpPr>
          <p:cNvPr id="79880" name="Group 8">
            <a:extLst>
              <a:ext uri="{FF2B5EF4-FFF2-40B4-BE49-F238E27FC236}">
                <a16:creationId xmlns:a16="http://schemas.microsoft.com/office/drawing/2014/main" id="{54F2DE4E-7EF1-9AEF-FE1D-0ACD36EE0CEA}"/>
              </a:ext>
            </a:extLst>
          </p:cNvPr>
          <p:cNvGrpSpPr>
            <a:grpSpLocks/>
          </p:cNvGrpSpPr>
          <p:nvPr/>
        </p:nvGrpSpPr>
        <p:grpSpPr bwMode="auto">
          <a:xfrm>
            <a:off x="2321858" y="719515"/>
            <a:ext cx="2013717" cy="2119312"/>
            <a:chOff x="0" y="0"/>
            <a:chExt cx="2786" cy="2477"/>
          </a:xfrm>
        </p:grpSpPr>
        <p:grpSp>
          <p:nvGrpSpPr>
            <p:cNvPr id="79881" name="Group 9">
              <a:extLst>
                <a:ext uri="{FF2B5EF4-FFF2-40B4-BE49-F238E27FC236}">
                  <a16:creationId xmlns:a16="http://schemas.microsoft.com/office/drawing/2014/main" id="{BFB1DA15-F24C-5031-2174-A88A3965AECE}"/>
                </a:ext>
              </a:extLst>
            </p:cNvPr>
            <p:cNvGrpSpPr>
              <a:grpSpLocks/>
            </p:cNvGrpSpPr>
            <p:nvPr/>
          </p:nvGrpSpPr>
          <p:grpSpPr bwMode="auto">
            <a:xfrm>
              <a:off x="118" y="252"/>
              <a:ext cx="2409" cy="2049"/>
              <a:chOff x="0" y="0"/>
              <a:chExt cx="2116" cy="2027"/>
            </a:xfrm>
          </p:grpSpPr>
          <p:sp>
            <p:nvSpPr>
              <p:cNvPr id="79882" name="Line 7">
                <a:extLst>
                  <a:ext uri="{FF2B5EF4-FFF2-40B4-BE49-F238E27FC236}">
                    <a16:creationId xmlns:a16="http://schemas.microsoft.com/office/drawing/2014/main" id="{36E3C5F1-8A60-5B55-4905-46F2C856F20B}"/>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883" name="Line 8">
                <a:extLst>
                  <a:ext uri="{FF2B5EF4-FFF2-40B4-BE49-F238E27FC236}">
                    <a16:creationId xmlns:a16="http://schemas.microsoft.com/office/drawing/2014/main" id="{2E161441-173A-65D6-C794-2F0534247164}"/>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9884" name="Text Box 9">
              <a:extLst>
                <a:ext uri="{FF2B5EF4-FFF2-40B4-BE49-F238E27FC236}">
                  <a16:creationId xmlns:a16="http://schemas.microsoft.com/office/drawing/2014/main" id="{275A997E-2C90-DE57-61E7-2DB108FB2889}"/>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79885" name="Text Box 10">
              <a:extLst>
                <a:ext uri="{FF2B5EF4-FFF2-40B4-BE49-F238E27FC236}">
                  <a16:creationId xmlns:a16="http://schemas.microsoft.com/office/drawing/2014/main" id="{A88334D8-6E94-E27F-3016-A2701425CE9A}"/>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79886" name="Group 14">
            <a:extLst>
              <a:ext uri="{FF2B5EF4-FFF2-40B4-BE49-F238E27FC236}">
                <a16:creationId xmlns:a16="http://schemas.microsoft.com/office/drawing/2014/main" id="{F79AA4D2-4704-A6CC-91E0-F60F7B85A7A8}"/>
              </a:ext>
            </a:extLst>
          </p:cNvPr>
          <p:cNvGrpSpPr>
            <a:grpSpLocks/>
          </p:cNvGrpSpPr>
          <p:nvPr/>
        </p:nvGrpSpPr>
        <p:grpSpPr bwMode="auto">
          <a:xfrm>
            <a:off x="2673218" y="974031"/>
            <a:ext cx="1486277" cy="1550306"/>
            <a:chOff x="0" y="0"/>
            <a:chExt cx="1857" cy="1937"/>
          </a:xfrm>
        </p:grpSpPr>
        <p:sp>
          <p:nvSpPr>
            <p:cNvPr id="79887" name="Line 11">
              <a:extLst>
                <a:ext uri="{FF2B5EF4-FFF2-40B4-BE49-F238E27FC236}">
                  <a16:creationId xmlns:a16="http://schemas.microsoft.com/office/drawing/2014/main" id="{B655C672-B860-8463-A98B-E638B235B74A}"/>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888" name="Text Box 12">
              <a:extLst>
                <a:ext uri="{FF2B5EF4-FFF2-40B4-BE49-F238E27FC236}">
                  <a16:creationId xmlns:a16="http://schemas.microsoft.com/office/drawing/2014/main" id="{CE13525F-07DA-DB9D-4D58-65DEDDEB7E53}"/>
                </a:ext>
              </a:extLst>
            </p:cNvPr>
            <p:cNvSpPr txBox="1">
              <a:spLocks noChangeArrowheads="1"/>
            </p:cNvSpPr>
            <p:nvPr/>
          </p:nvSpPr>
          <p:spPr bwMode="auto">
            <a:xfrm>
              <a:off x="1388" y="1356"/>
              <a:ext cx="469"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AD</a:t>
              </a:r>
              <a:r>
                <a:rPr lang="en-US" altLang="zh-CN" sz="1210" baseline="-25000">
                  <a:ea typeface="宋体" panose="02010600030101010101" pitchFamily="2" charset="-122"/>
                </a:rPr>
                <a:t>1</a:t>
              </a:r>
            </a:p>
          </p:txBody>
        </p:sp>
      </p:grpSp>
      <p:grpSp>
        <p:nvGrpSpPr>
          <p:cNvPr id="79889" name="Group 17">
            <a:extLst>
              <a:ext uri="{FF2B5EF4-FFF2-40B4-BE49-F238E27FC236}">
                <a16:creationId xmlns:a16="http://schemas.microsoft.com/office/drawing/2014/main" id="{2E5FD167-A537-06B5-6C5E-2FDE3C0BFFAE}"/>
              </a:ext>
            </a:extLst>
          </p:cNvPr>
          <p:cNvGrpSpPr>
            <a:grpSpLocks/>
          </p:cNvGrpSpPr>
          <p:nvPr/>
        </p:nvGrpSpPr>
        <p:grpSpPr bwMode="auto">
          <a:xfrm>
            <a:off x="2566769" y="1050065"/>
            <a:ext cx="1709579" cy="1309396"/>
            <a:chOff x="0" y="0"/>
            <a:chExt cx="2136" cy="1636"/>
          </a:xfrm>
        </p:grpSpPr>
        <p:sp>
          <p:nvSpPr>
            <p:cNvPr id="79890" name="Line 13">
              <a:extLst>
                <a:ext uri="{FF2B5EF4-FFF2-40B4-BE49-F238E27FC236}">
                  <a16:creationId xmlns:a16="http://schemas.microsoft.com/office/drawing/2014/main" id="{627C4652-7306-E37C-F6DA-0AB502F314FA}"/>
                </a:ext>
              </a:extLst>
            </p:cNvPr>
            <p:cNvSpPr>
              <a:spLocks noChangeShapeType="1"/>
            </p:cNvSpPr>
            <p:nvPr/>
          </p:nvSpPr>
          <p:spPr bwMode="auto">
            <a:xfrm flipV="1">
              <a:off x="0" y="252"/>
              <a:ext cx="1497"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891" name="Text Box 14">
              <a:extLst>
                <a:ext uri="{FF2B5EF4-FFF2-40B4-BE49-F238E27FC236}">
                  <a16:creationId xmlns:a16="http://schemas.microsoft.com/office/drawing/2014/main" id="{0ED795E2-F377-BCF9-1227-B8D95E36F427}"/>
                </a:ext>
              </a:extLst>
            </p:cNvPr>
            <p:cNvSpPr txBox="1">
              <a:spLocks noChangeArrowheads="1"/>
            </p:cNvSpPr>
            <p:nvPr/>
          </p:nvSpPr>
          <p:spPr bwMode="auto">
            <a:xfrm>
              <a:off x="1394" y="0"/>
              <a:ext cx="742"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SRAS</a:t>
              </a:r>
              <a:r>
                <a:rPr lang="en-US" altLang="zh-CN" sz="1210" baseline="-25000">
                  <a:ea typeface="宋体" panose="02010600030101010101" pitchFamily="2" charset="-122"/>
                </a:rPr>
                <a:t>1</a:t>
              </a:r>
            </a:p>
          </p:txBody>
        </p:sp>
      </p:grpSp>
      <p:grpSp>
        <p:nvGrpSpPr>
          <p:cNvPr id="79892" name="Group 20">
            <a:extLst>
              <a:ext uri="{FF2B5EF4-FFF2-40B4-BE49-F238E27FC236}">
                <a16:creationId xmlns:a16="http://schemas.microsoft.com/office/drawing/2014/main" id="{1F8A2C5C-5A16-34AA-3563-8F9F05C7EAD5}"/>
              </a:ext>
            </a:extLst>
          </p:cNvPr>
          <p:cNvGrpSpPr>
            <a:grpSpLocks/>
          </p:cNvGrpSpPr>
          <p:nvPr/>
        </p:nvGrpSpPr>
        <p:grpSpPr bwMode="auto">
          <a:xfrm>
            <a:off x="2553964" y="1500671"/>
            <a:ext cx="1314199" cy="1351816"/>
            <a:chOff x="0" y="0"/>
            <a:chExt cx="1642" cy="1689"/>
          </a:xfrm>
        </p:grpSpPr>
        <p:sp>
          <p:nvSpPr>
            <p:cNvPr id="79893" name="Text Box 21">
              <a:extLst>
                <a:ext uri="{FF2B5EF4-FFF2-40B4-BE49-F238E27FC236}">
                  <a16:creationId xmlns:a16="http://schemas.microsoft.com/office/drawing/2014/main" id="{2AC1DB27-7513-8EA0-46E3-D2179E1A6630}"/>
                </a:ext>
              </a:extLst>
            </p:cNvPr>
            <p:cNvSpPr txBox="1">
              <a:spLocks noChangeArrowheads="1"/>
            </p:cNvSpPr>
            <p:nvPr/>
          </p:nvSpPr>
          <p:spPr bwMode="auto">
            <a:xfrm>
              <a:off x="1185" y="1108"/>
              <a:ext cx="457"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AD</a:t>
              </a:r>
              <a:r>
                <a:rPr lang="en-US" altLang="zh-CN" sz="1210" baseline="-25000">
                  <a:ea typeface="宋体" panose="02010600030101010101" pitchFamily="2" charset="-122"/>
                </a:rPr>
                <a:t>2</a:t>
              </a:r>
            </a:p>
          </p:txBody>
        </p:sp>
        <p:sp>
          <p:nvSpPr>
            <p:cNvPr id="79894" name="Line 22">
              <a:extLst>
                <a:ext uri="{FF2B5EF4-FFF2-40B4-BE49-F238E27FC236}">
                  <a16:creationId xmlns:a16="http://schemas.microsoft.com/office/drawing/2014/main" id="{8F2A6D2B-D745-40BB-B96D-E02022DF5D06}"/>
                </a:ext>
              </a:extLst>
            </p:cNvPr>
            <p:cNvSpPr>
              <a:spLocks noChangeShapeType="1"/>
            </p:cNvSpPr>
            <p:nvPr/>
          </p:nvSpPr>
          <p:spPr bwMode="auto">
            <a:xfrm>
              <a:off x="0" y="0"/>
              <a:ext cx="1235" cy="121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grpSp>
        <p:nvGrpSpPr>
          <p:cNvPr id="79895" name="Group 23">
            <a:extLst>
              <a:ext uri="{FF2B5EF4-FFF2-40B4-BE49-F238E27FC236}">
                <a16:creationId xmlns:a16="http://schemas.microsoft.com/office/drawing/2014/main" id="{B127B1ED-8F5E-0BE4-1411-155397B0E715}"/>
              </a:ext>
            </a:extLst>
          </p:cNvPr>
          <p:cNvGrpSpPr>
            <a:grpSpLocks/>
          </p:cNvGrpSpPr>
          <p:nvPr/>
        </p:nvGrpSpPr>
        <p:grpSpPr bwMode="auto">
          <a:xfrm>
            <a:off x="3002968" y="1586310"/>
            <a:ext cx="1394235" cy="1014862"/>
            <a:chOff x="0" y="0"/>
            <a:chExt cx="1742" cy="1268"/>
          </a:xfrm>
        </p:grpSpPr>
        <p:sp>
          <p:nvSpPr>
            <p:cNvPr id="79896" name="Line 23">
              <a:extLst>
                <a:ext uri="{FF2B5EF4-FFF2-40B4-BE49-F238E27FC236}">
                  <a16:creationId xmlns:a16="http://schemas.microsoft.com/office/drawing/2014/main" id="{24D48E9B-F6BF-3320-A78B-170808E598F7}"/>
                </a:ext>
              </a:extLst>
            </p:cNvPr>
            <p:cNvSpPr>
              <a:spLocks noChangeShapeType="1"/>
            </p:cNvSpPr>
            <p:nvPr/>
          </p:nvSpPr>
          <p:spPr bwMode="auto">
            <a:xfrm flipV="1">
              <a:off x="0" y="246"/>
              <a:ext cx="1092" cy="1022"/>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897" name="Text Box 24">
              <a:extLst>
                <a:ext uri="{FF2B5EF4-FFF2-40B4-BE49-F238E27FC236}">
                  <a16:creationId xmlns:a16="http://schemas.microsoft.com/office/drawing/2014/main" id="{AF5FC7CA-4019-7E01-1C60-E3A769B3D355}"/>
                </a:ext>
              </a:extLst>
            </p:cNvPr>
            <p:cNvSpPr txBox="1">
              <a:spLocks noChangeArrowheads="1"/>
            </p:cNvSpPr>
            <p:nvPr/>
          </p:nvSpPr>
          <p:spPr bwMode="auto">
            <a:xfrm>
              <a:off x="1000" y="0"/>
              <a:ext cx="742"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SRAS</a:t>
              </a:r>
              <a:r>
                <a:rPr lang="en-US" altLang="zh-CN" sz="1210" baseline="-25000">
                  <a:ea typeface="宋体" panose="02010600030101010101" pitchFamily="2" charset="-122"/>
                </a:rPr>
                <a:t>2</a:t>
              </a:r>
            </a:p>
          </p:txBody>
        </p:sp>
      </p:grpSp>
      <p:grpSp>
        <p:nvGrpSpPr>
          <p:cNvPr id="79898" name="Group 26">
            <a:extLst>
              <a:ext uri="{FF2B5EF4-FFF2-40B4-BE49-F238E27FC236}">
                <a16:creationId xmlns:a16="http://schemas.microsoft.com/office/drawing/2014/main" id="{A05F35FC-CA8E-FD84-C39C-B97EB5C58208}"/>
              </a:ext>
            </a:extLst>
          </p:cNvPr>
          <p:cNvGrpSpPr>
            <a:grpSpLocks/>
          </p:cNvGrpSpPr>
          <p:nvPr/>
        </p:nvGrpSpPr>
        <p:grpSpPr bwMode="auto">
          <a:xfrm>
            <a:off x="2158584" y="1542290"/>
            <a:ext cx="1221356" cy="186485"/>
            <a:chOff x="0" y="0"/>
            <a:chExt cx="1526" cy="233"/>
          </a:xfrm>
        </p:grpSpPr>
        <p:sp>
          <p:nvSpPr>
            <p:cNvPr id="79899" name="Line 15">
              <a:extLst>
                <a:ext uri="{FF2B5EF4-FFF2-40B4-BE49-F238E27FC236}">
                  <a16:creationId xmlns:a16="http://schemas.microsoft.com/office/drawing/2014/main" id="{055103B2-648D-3AA7-374D-56E8781BD717}"/>
                </a:ext>
              </a:extLst>
            </p:cNvPr>
            <p:cNvSpPr>
              <a:spLocks noChangeShapeType="1"/>
            </p:cNvSpPr>
            <p:nvPr/>
          </p:nvSpPr>
          <p:spPr bwMode="auto">
            <a:xfrm flipV="1">
              <a:off x="316" y="120"/>
              <a:ext cx="11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900" name="Text Box 16">
              <a:extLst>
                <a:ext uri="{FF2B5EF4-FFF2-40B4-BE49-F238E27FC236}">
                  <a16:creationId xmlns:a16="http://schemas.microsoft.com/office/drawing/2014/main" id="{CC58FB2B-882A-C81A-CDC9-8243585201C7}"/>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1</a:t>
              </a:r>
            </a:p>
          </p:txBody>
        </p:sp>
        <p:sp>
          <p:nvSpPr>
            <p:cNvPr id="79901" name="Oval 28">
              <a:extLst>
                <a:ext uri="{FF2B5EF4-FFF2-40B4-BE49-F238E27FC236}">
                  <a16:creationId xmlns:a16="http://schemas.microsoft.com/office/drawing/2014/main" id="{7608ADC2-1376-F77A-C0B4-6A81A51EC146}"/>
                </a:ext>
              </a:extLst>
            </p:cNvPr>
            <p:cNvSpPr>
              <a:spLocks noChangeArrowheads="1"/>
            </p:cNvSpPr>
            <p:nvPr/>
          </p:nvSpPr>
          <p:spPr bwMode="auto">
            <a:xfrm>
              <a:off x="1438" y="78"/>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79902" name="Text Box 58">
            <a:extLst>
              <a:ext uri="{FF2B5EF4-FFF2-40B4-BE49-F238E27FC236}">
                <a16:creationId xmlns:a16="http://schemas.microsoft.com/office/drawing/2014/main" id="{E2C7EA08-FEE0-2596-B2DB-672328BF6EBD}"/>
              </a:ext>
            </a:extLst>
          </p:cNvPr>
          <p:cNvSpPr txBox="1">
            <a:spLocks noChangeArrowheads="1"/>
          </p:cNvSpPr>
          <p:nvPr/>
        </p:nvSpPr>
        <p:spPr bwMode="auto">
          <a:xfrm>
            <a:off x="3406351" y="1541489"/>
            <a:ext cx="160874" cy="186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A</a:t>
            </a:r>
            <a:endParaRPr lang="en-US" altLang="zh-CN" sz="1210" baseline="-25000">
              <a:ea typeface="宋体" panose="02010600030101010101" pitchFamily="2" charset="-122"/>
            </a:endParaRPr>
          </a:p>
        </p:txBody>
      </p:sp>
      <p:grpSp>
        <p:nvGrpSpPr>
          <p:cNvPr id="79903" name="Group 31">
            <a:extLst>
              <a:ext uri="{FF2B5EF4-FFF2-40B4-BE49-F238E27FC236}">
                <a16:creationId xmlns:a16="http://schemas.microsoft.com/office/drawing/2014/main" id="{1C288984-35C7-4C59-AFDE-EFFA41752718}"/>
              </a:ext>
            </a:extLst>
          </p:cNvPr>
          <p:cNvGrpSpPr>
            <a:grpSpLocks/>
          </p:cNvGrpSpPr>
          <p:nvPr/>
        </p:nvGrpSpPr>
        <p:grpSpPr bwMode="auto">
          <a:xfrm>
            <a:off x="2161785" y="1856833"/>
            <a:ext cx="1076490" cy="1038073"/>
            <a:chOff x="0" y="0"/>
            <a:chExt cx="1345" cy="1297"/>
          </a:xfrm>
        </p:grpSpPr>
        <p:grpSp>
          <p:nvGrpSpPr>
            <p:cNvPr id="79904" name="Group 32">
              <a:extLst>
                <a:ext uri="{FF2B5EF4-FFF2-40B4-BE49-F238E27FC236}">
                  <a16:creationId xmlns:a16="http://schemas.microsoft.com/office/drawing/2014/main" id="{148EDBF9-B515-609D-7246-9384BDE965E5}"/>
                </a:ext>
              </a:extLst>
            </p:cNvPr>
            <p:cNvGrpSpPr>
              <a:grpSpLocks/>
            </p:cNvGrpSpPr>
            <p:nvPr/>
          </p:nvGrpSpPr>
          <p:grpSpPr bwMode="auto">
            <a:xfrm>
              <a:off x="0" y="0"/>
              <a:ext cx="1220" cy="1297"/>
              <a:chOff x="0" y="0"/>
              <a:chExt cx="1220" cy="1297"/>
            </a:xfrm>
          </p:grpSpPr>
          <p:sp>
            <p:nvSpPr>
              <p:cNvPr id="79905" name="Oval 33">
                <a:extLst>
                  <a:ext uri="{FF2B5EF4-FFF2-40B4-BE49-F238E27FC236}">
                    <a16:creationId xmlns:a16="http://schemas.microsoft.com/office/drawing/2014/main" id="{65DFE4DA-3882-771D-15B1-36CA48C7BD57}"/>
                  </a:ext>
                </a:extLst>
              </p:cNvPr>
              <p:cNvSpPr>
                <a:spLocks noChangeArrowheads="1"/>
              </p:cNvSpPr>
              <p:nvPr/>
            </p:nvSpPr>
            <p:spPr bwMode="auto">
              <a:xfrm>
                <a:off x="1009" y="71"/>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nvGrpSpPr>
              <p:cNvPr id="79906" name="Group 34">
                <a:extLst>
                  <a:ext uri="{FF2B5EF4-FFF2-40B4-BE49-F238E27FC236}">
                    <a16:creationId xmlns:a16="http://schemas.microsoft.com/office/drawing/2014/main" id="{EABEACCD-BD36-44FA-4550-03091FFBC69F}"/>
                  </a:ext>
                </a:extLst>
              </p:cNvPr>
              <p:cNvGrpSpPr>
                <a:grpSpLocks/>
              </p:cNvGrpSpPr>
              <p:nvPr/>
            </p:nvGrpSpPr>
            <p:grpSpPr bwMode="auto">
              <a:xfrm>
                <a:off x="309" y="116"/>
                <a:ext cx="746" cy="924"/>
                <a:chOff x="0" y="0"/>
                <a:chExt cx="795" cy="646"/>
              </a:xfrm>
            </p:grpSpPr>
            <p:sp>
              <p:nvSpPr>
                <p:cNvPr id="79907" name="Line 35">
                  <a:extLst>
                    <a:ext uri="{FF2B5EF4-FFF2-40B4-BE49-F238E27FC236}">
                      <a16:creationId xmlns:a16="http://schemas.microsoft.com/office/drawing/2014/main" id="{B87347B0-92DF-A65D-493C-DE2A6B98CEE8}"/>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908" name="Line 36">
                  <a:extLst>
                    <a:ext uri="{FF2B5EF4-FFF2-40B4-BE49-F238E27FC236}">
                      <a16:creationId xmlns:a16="http://schemas.microsoft.com/office/drawing/2014/main" id="{0D7EB209-1C40-9AB3-BFB7-74F89F96DB20}"/>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9909" name="Text Box 37">
                <a:extLst>
                  <a:ext uri="{FF2B5EF4-FFF2-40B4-BE49-F238E27FC236}">
                    <a16:creationId xmlns:a16="http://schemas.microsoft.com/office/drawing/2014/main" id="{A73FBFD2-F943-4703-F116-EA9393A9E8DA}"/>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2</a:t>
                </a:r>
              </a:p>
            </p:txBody>
          </p:sp>
          <p:sp>
            <p:nvSpPr>
              <p:cNvPr id="79910" name="Text Box 50">
                <a:extLst>
                  <a:ext uri="{FF2B5EF4-FFF2-40B4-BE49-F238E27FC236}">
                    <a16:creationId xmlns:a16="http://schemas.microsoft.com/office/drawing/2014/main" id="{CACAF259-F14D-2054-C5A1-E041D5BACAEA}"/>
                  </a:ext>
                </a:extLst>
              </p:cNvPr>
              <p:cNvSpPr txBox="1">
                <a:spLocks noChangeArrowheads="1"/>
              </p:cNvSpPr>
              <p:nvPr/>
            </p:nvSpPr>
            <p:spPr bwMode="auto">
              <a:xfrm>
                <a:off x="912" y="1064"/>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2</a:t>
                </a:r>
              </a:p>
            </p:txBody>
          </p:sp>
        </p:grpSp>
        <p:sp>
          <p:nvSpPr>
            <p:cNvPr id="79911" name="Text Box 59">
              <a:extLst>
                <a:ext uri="{FF2B5EF4-FFF2-40B4-BE49-F238E27FC236}">
                  <a16:creationId xmlns:a16="http://schemas.microsoft.com/office/drawing/2014/main" id="{4FC0EF9B-1D2D-4953-FB9D-BC3F234F6179}"/>
                </a:ext>
              </a:extLst>
            </p:cNvPr>
            <p:cNvSpPr txBox="1">
              <a:spLocks noChangeArrowheads="1"/>
            </p:cNvSpPr>
            <p:nvPr/>
          </p:nvSpPr>
          <p:spPr bwMode="auto">
            <a:xfrm>
              <a:off x="1144" y="4"/>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B</a:t>
              </a:r>
              <a:endParaRPr lang="en-US" altLang="zh-CN" sz="1210" baseline="-25000">
                <a:ea typeface="宋体" panose="02010600030101010101" pitchFamily="2" charset="-122"/>
              </a:endParaRPr>
            </a:p>
          </p:txBody>
        </p:sp>
      </p:grpSp>
      <p:grpSp>
        <p:nvGrpSpPr>
          <p:cNvPr id="79912" name="Group 40">
            <a:extLst>
              <a:ext uri="{FF2B5EF4-FFF2-40B4-BE49-F238E27FC236}">
                <a16:creationId xmlns:a16="http://schemas.microsoft.com/office/drawing/2014/main" id="{2374E061-26DB-70EF-52D0-D73C4A5F6B2E}"/>
              </a:ext>
            </a:extLst>
          </p:cNvPr>
          <p:cNvGrpSpPr>
            <a:grpSpLocks/>
          </p:cNvGrpSpPr>
          <p:nvPr/>
        </p:nvGrpSpPr>
        <p:grpSpPr bwMode="auto">
          <a:xfrm>
            <a:off x="2160184" y="2188184"/>
            <a:ext cx="1398237" cy="192088"/>
            <a:chOff x="0" y="0"/>
            <a:chExt cx="1747" cy="240"/>
          </a:xfrm>
        </p:grpSpPr>
        <p:grpSp>
          <p:nvGrpSpPr>
            <p:cNvPr id="79913" name="Group 41">
              <a:extLst>
                <a:ext uri="{FF2B5EF4-FFF2-40B4-BE49-F238E27FC236}">
                  <a16:creationId xmlns:a16="http://schemas.microsoft.com/office/drawing/2014/main" id="{3436E5A0-BA22-38AC-33DD-6AAF5FC25BBE}"/>
                </a:ext>
              </a:extLst>
            </p:cNvPr>
            <p:cNvGrpSpPr>
              <a:grpSpLocks/>
            </p:cNvGrpSpPr>
            <p:nvPr/>
          </p:nvGrpSpPr>
          <p:grpSpPr bwMode="auto">
            <a:xfrm>
              <a:off x="0" y="0"/>
              <a:ext cx="1525" cy="233"/>
              <a:chOff x="0" y="0"/>
              <a:chExt cx="1525" cy="233"/>
            </a:xfrm>
          </p:grpSpPr>
          <p:sp>
            <p:nvSpPr>
              <p:cNvPr id="79914" name="Oval 29">
                <a:extLst>
                  <a:ext uri="{FF2B5EF4-FFF2-40B4-BE49-F238E27FC236}">
                    <a16:creationId xmlns:a16="http://schemas.microsoft.com/office/drawing/2014/main" id="{B13B44CB-12FB-68E5-8FFD-B03A58CD6939}"/>
                  </a:ext>
                </a:extLst>
              </p:cNvPr>
              <p:cNvSpPr>
                <a:spLocks noChangeArrowheads="1"/>
              </p:cNvSpPr>
              <p:nvPr/>
            </p:nvSpPr>
            <p:spPr bwMode="auto">
              <a:xfrm>
                <a:off x="1437"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79915" name="Line 44">
                <a:extLst>
                  <a:ext uri="{FF2B5EF4-FFF2-40B4-BE49-F238E27FC236}">
                    <a16:creationId xmlns:a16="http://schemas.microsoft.com/office/drawing/2014/main" id="{A6587900-E0C6-F6EA-8685-DF525AFB14A7}"/>
                  </a:ext>
                </a:extLst>
              </p:cNvPr>
              <p:cNvSpPr>
                <a:spLocks noChangeShapeType="1"/>
              </p:cNvSpPr>
              <p:nvPr/>
            </p:nvSpPr>
            <p:spPr bwMode="auto">
              <a:xfrm>
                <a:off x="312" y="115"/>
                <a:ext cx="1159"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9916" name="Text Box 45">
                <a:extLst>
                  <a:ext uri="{FF2B5EF4-FFF2-40B4-BE49-F238E27FC236}">
                    <a16:creationId xmlns:a16="http://schemas.microsoft.com/office/drawing/2014/main" id="{41304A6F-9B44-2CC9-78C4-066418C289DF}"/>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3</a:t>
                </a:r>
              </a:p>
            </p:txBody>
          </p:sp>
        </p:grpSp>
        <p:sp>
          <p:nvSpPr>
            <p:cNvPr id="79917" name="Text Box 60">
              <a:extLst>
                <a:ext uri="{FF2B5EF4-FFF2-40B4-BE49-F238E27FC236}">
                  <a16:creationId xmlns:a16="http://schemas.microsoft.com/office/drawing/2014/main" id="{D1343F59-E591-3A4D-8EB3-3E6B16761AD6}"/>
                </a:ext>
              </a:extLst>
            </p:cNvPr>
            <p:cNvSpPr txBox="1">
              <a:spLocks noChangeArrowheads="1"/>
            </p:cNvSpPr>
            <p:nvPr/>
          </p:nvSpPr>
          <p:spPr bwMode="auto">
            <a:xfrm>
              <a:off x="1546" y="7"/>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C</a:t>
              </a:r>
              <a:endParaRPr lang="en-US" altLang="zh-CN" sz="1210" baseline="-25000">
                <a:ea typeface="宋体" panose="02010600030101010101" pitchFamily="2" charset="-122"/>
              </a:endParaRPr>
            </a:p>
          </p:txBody>
        </p:sp>
      </p:grpSp>
      <p:sp>
        <p:nvSpPr>
          <p:cNvPr id="79918" name="FlagCount" hidden="1">
            <a:hlinkClick r:id="rId3" action="ppaction://hlinkfile"/>
            <a:extLst>
              <a:ext uri="{FF2B5EF4-FFF2-40B4-BE49-F238E27FC236}">
                <a16:creationId xmlns:a16="http://schemas.microsoft.com/office/drawing/2014/main" id="{31DE7730-DC01-F4D1-845E-D91F8529B361}"/>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3898450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9879">
                                            <p:txEl>
                                              <p:pRg st="0" end="0"/>
                                            </p:txEl>
                                          </p:spTgt>
                                        </p:tgtEl>
                                        <p:attrNameLst>
                                          <p:attrName>style.visibility</p:attrName>
                                        </p:attrNameLst>
                                      </p:cBhvr>
                                      <p:to>
                                        <p:strVal val="visible"/>
                                      </p:to>
                                    </p:set>
                                    <p:animEffect transition="in" filter="wipe(left)">
                                      <p:cBhvr>
                                        <p:cTn id="7" dur="500"/>
                                        <p:tgtEl>
                                          <p:spTgt spid="798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9879">
                                            <p:txEl>
                                              <p:pRg st="1" end="1"/>
                                            </p:txEl>
                                          </p:spTgt>
                                        </p:tgtEl>
                                        <p:attrNameLst>
                                          <p:attrName>style.visibility</p:attrName>
                                        </p:attrNameLst>
                                      </p:cBhvr>
                                      <p:to>
                                        <p:strVal val="visible"/>
                                      </p:to>
                                    </p:set>
                                    <p:animEffect transition="in" filter="wipe(left)">
                                      <p:cBhvr>
                                        <p:cTn id="12" dur="500"/>
                                        <p:tgtEl>
                                          <p:spTgt spid="798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9879">
                                            <p:txEl>
                                              <p:pRg st="2" end="2"/>
                                            </p:txEl>
                                          </p:spTgt>
                                        </p:tgtEl>
                                        <p:attrNameLst>
                                          <p:attrName>style.visibility</p:attrName>
                                        </p:attrNameLst>
                                      </p:cBhvr>
                                      <p:to>
                                        <p:strVal val="visible"/>
                                      </p:to>
                                    </p:set>
                                    <p:animEffect transition="in" filter="wipe(left)">
                                      <p:cBhvr>
                                        <p:cTn id="17" dur="500"/>
                                        <p:tgtEl>
                                          <p:spTgt spid="79879">
                                            <p:txEl>
                                              <p:pRg st="2" end="2"/>
                                            </p:txEl>
                                          </p:spTgt>
                                        </p:tgtEl>
                                      </p:cBhvr>
                                    </p:animEffect>
                                  </p:childTnLst>
                                </p:cTn>
                              </p:par>
                            </p:childTnLst>
                          </p:cTn>
                        </p:par>
                        <p:par>
                          <p:cTn id="18" fill="hold" nodeType="afterGroup">
                            <p:stCondLst>
                              <p:cond delay="500"/>
                            </p:stCondLst>
                            <p:childTnLst>
                              <p:par>
                                <p:cTn id="19" presetID="18" presetClass="entr" presetSubtype="6" fill="hold" nodeType="afterEffect">
                                  <p:stCondLst>
                                    <p:cond delay="0"/>
                                  </p:stCondLst>
                                  <p:childTnLst>
                                    <p:set>
                                      <p:cBhvr>
                                        <p:cTn id="20" dur="1" fill="hold">
                                          <p:stCondLst>
                                            <p:cond delay="0"/>
                                          </p:stCondLst>
                                        </p:cTn>
                                        <p:tgtEl>
                                          <p:spTgt spid="79892"/>
                                        </p:tgtEl>
                                        <p:attrNameLst>
                                          <p:attrName>style.visibility</p:attrName>
                                        </p:attrNameLst>
                                      </p:cBhvr>
                                      <p:to>
                                        <p:strVal val="visible"/>
                                      </p:to>
                                    </p:set>
                                    <p:animEffect transition="in" filter="strips(downRight)">
                                      <p:cBhvr>
                                        <p:cTn id="21" dur="500"/>
                                        <p:tgtEl>
                                          <p:spTgt spid="7989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79879">
                                            <p:txEl>
                                              <p:pRg st="3" end="3"/>
                                            </p:txEl>
                                          </p:spTgt>
                                        </p:tgtEl>
                                        <p:attrNameLst>
                                          <p:attrName>style.visibility</p:attrName>
                                        </p:attrNameLst>
                                      </p:cBhvr>
                                      <p:to>
                                        <p:strVal val="visible"/>
                                      </p:to>
                                    </p:set>
                                    <p:animEffect transition="in" filter="wipe(left)">
                                      <p:cBhvr>
                                        <p:cTn id="26" dur="500"/>
                                        <p:tgtEl>
                                          <p:spTgt spid="79879">
                                            <p:txEl>
                                              <p:pRg st="3" end="3"/>
                                            </p:txEl>
                                          </p:spTgt>
                                        </p:tgtEl>
                                      </p:cBhvr>
                                    </p:animEffect>
                                  </p:childTnLst>
                                </p:cTn>
                              </p:par>
                            </p:childTnLst>
                          </p:cTn>
                        </p:par>
                        <p:par>
                          <p:cTn id="27" fill="hold" nodeType="afterGroup">
                            <p:stCondLst>
                              <p:cond delay="500"/>
                            </p:stCondLst>
                            <p:childTnLst>
                              <p:par>
                                <p:cTn id="28" presetID="18" presetClass="entr" presetSubtype="12" fill="hold" nodeType="afterEffect">
                                  <p:stCondLst>
                                    <p:cond delay="0"/>
                                  </p:stCondLst>
                                  <p:childTnLst>
                                    <p:set>
                                      <p:cBhvr>
                                        <p:cTn id="29" dur="1" fill="hold">
                                          <p:stCondLst>
                                            <p:cond delay="0"/>
                                          </p:stCondLst>
                                        </p:cTn>
                                        <p:tgtEl>
                                          <p:spTgt spid="79903"/>
                                        </p:tgtEl>
                                        <p:attrNameLst>
                                          <p:attrName>style.visibility</p:attrName>
                                        </p:attrNameLst>
                                      </p:cBhvr>
                                      <p:to>
                                        <p:strVal val="visible"/>
                                      </p:to>
                                    </p:set>
                                    <p:animEffect transition="in" filter="strips(downLeft)">
                                      <p:cBhvr>
                                        <p:cTn id="30" dur="500"/>
                                        <p:tgtEl>
                                          <p:spTgt spid="7990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9879">
                                            <p:txEl>
                                              <p:pRg st="4" end="4"/>
                                            </p:txEl>
                                          </p:spTgt>
                                        </p:tgtEl>
                                        <p:attrNameLst>
                                          <p:attrName>style.visibility</p:attrName>
                                        </p:attrNameLst>
                                      </p:cBhvr>
                                      <p:to>
                                        <p:strVal val="visible"/>
                                      </p:to>
                                    </p:set>
                                    <p:animEffect transition="in" filter="wipe(left)">
                                      <p:cBhvr>
                                        <p:cTn id="35" dur="500"/>
                                        <p:tgtEl>
                                          <p:spTgt spid="79879">
                                            <p:txEl>
                                              <p:pRg st="4" end="4"/>
                                            </p:txEl>
                                          </p:spTgt>
                                        </p:tgtEl>
                                      </p:cBhvr>
                                    </p:animEffect>
                                  </p:childTnLst>
                                </p:cTn>
                              </p:par>
                            </p:childTnLst>
                          </p:cTn>
                        </p:par>
                        <p:par>
                          <p:cTn id="36" fill="hold" nodeType="afterGroup">
                            <p:stCondLst>
                              <p:cond delay="500"/>
                            </p:stCondLst>
                            <p:childTnLst>
                              <p:par>
                                <p:cTn id="37" presetID="18" presetClass="entr" presetSubtype="12" fill="hold" nodeType="afterEffect">
                                  <p:stCondLst>
                                    <p:cond delay="0"/>
                                  </p:stCondLst>
                                  <p:childTnLst>
                                    <p:set>
                                      <p:cBhvr>
                                        <p:cTn id="38" dur="1" fill="hold">
                                          <p:stCondLst>
                                            <p:cond delay="0"/>
                                          </p:stCondLst>
                                        </p:cTn>
                                        <p:tgtEl>
                                          <p:spTgt spid="79895"/>
                                        </p:tgtEl>
                                        <p:attrNameLst>
                                          <p:attrName>style.visibility</p:attrName>
                                        </p:attrNameLst>
                                      </p:cBhvr>
                                      <p:to>
                                        <p:strVal val="visible"/>
                                      </p:to>
                                    </p:set>
                                    <p:animEffect transition="in" filter="strips(downLeft)">
                                      <p:cBhvr>
                                        <p:cTn id="39" dur="500"/>
                                        <p:tgtEl>
                                          <p:spTgt spid="79895"/>
                                        </p:tgtEl>
                                      </p:cBhvr>
                                    </p:animEffect>
                                  </p:childTnLst>
                                </p:cTn>
                              </p:par>
                            </p:childTnLst>
                          </p:cTn>
                        </p:par>
                        <p:par>
                          <p:cTn id="40" fill="hold" nodeType="afterGroup">
                            <p:stCondLst>
                              <p:cond delay="1000"/>
                            </p:stCondLst>
                            <p:childTnLst>
                              <p:par>
                                <p:cTn id="41" presetID="22" presetClass="entr" presetSubtype="2" fill="hold" nodeType="afterEffect">
                                  <p:stCondLst>
                                    <p:cond delay="0"/>
                                  </p:stCondLst>
                                  <p:childTnLst>
                                    <p:set>
                                      <p:cBhvr>
                                        <p:cTn id="42" dur="1" fill="hold">
                                          <p:stCondLst>
                                            <p:cond delay="0"/>
                                          </p:stCondLst>
                                        </p:cTn>
                                        <p:tgtEl>
                                          <p:spTgt spid="79912"/>
                                        </p:tgtEl>
                                        <p:attrNameLst>
                                          <p:attrName>style.visibility</p:attrName>
                                        </p:attrNameLst>
                                      </p:cBhvr>
                                      <p:to>
                                        <p:strVal val="visible"/>
                                      </p:to>
                                    </p:set>
                                    <p:animEffect transition="in" filter="wipe(right)">
                                      <p:cBhvr>
                                        <p:cTn id="43" dur="500"/>
                                        <p:tgtEl>
                                          <p:spTgt spid="79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9" grpId="0" build="p" bldLvl="5"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6BFAC07-6B38-AE23-25B1-31696CB63B79}"/>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6BCCA648-6D19-C7C9-D6C0-E527C942057B}"/>
              </a:ext>
            </a:extLst>
          </p:cNvPr>
          <p:cNvSpPr>
            <a:spLocks noGrp="1"/>
          </p:cNvSpPr>
          <p:nvPr>
            <p:ph type="sldNum" sz="quarter" idx="11"/>
          </p:nvPr>
        </p:nvSpPr>
        <p:spPr/>
        <p:txBody>
          <a:bodyPr/>
          <a:lstStyle/>
          <a:p>
            <a:fld id="{BB6764DC-03DA-F64B-8F0C-714352340962}" type="slidenum">
              <a:rPr lang="zh-CN" altLang="zh-CN"/>
              <a:pPr/>
              <a:t>68</a:t>
            </a:fld>
            <a:endParaRPr lang="zh-CN" altLang="zh-CN"/>
          </a:p>
        </p:txBody>
      </p:sp>
      <p:sp>
        <p:nvSpPr>
          <p:cNvPr id="81922" name="Rectangle 2">
            <a:extLst>
              <a:ext uri="{FF2B5EF4-FFF2-40B4-BE49-F238E27FC236}">
                <a16:creationId xmlns:a16="http://schemas.microsoft.com/office/drawing/2014/main" id="{A369E8E9-867A-53F8-7728-C24294D1DA36}"/>
              </a:ext>
            </a:extLst>
          </p:cNvPr>
          <p:cNvSpPr>
            <a:spLocks noGrp="1" noChangeArrowheads="1"/>
          </p:cNvSpPr>
          <p:nvPr>
            <p:ph type="title" idx="4294967295"/>
          </p:nvPr>
        </p:nvSpPr>
        <p:spPr>
          <a:xfrm>
            <a:off x="230505" y="128846"/>
            <a:ext cx="4149090" cy="417790"/>
          </a:xfrm>
        </p:spPr>
        <p:txBody>
          <a:bodyPr/>
          <a:lstStyle/>
          <a:p>
            <a:pPr>
              <a:lnSpc>
                <a:spcPct val="105000"/>
              </a:lnSpc>
            </a:pPr>
            <a:r>
              <a:rPr lang="zh-CN" altLang="zh-CN" sz="1815">
                <a:ea typeface="宋体" panose="02010600030101010101" pitchFamily="2" charset="-122"/>
              </a:rPr>
              <a:t>总需求两次重大的移动：  </a:t>
            </a:r>
            <a:br>
              <a:rPr lang="zh-CN" altLang="zh-CN" sz="1815">
                <a:ea typeface="宋体" panose="02010600030101010101" pitchFamily="2" charset="-122"/>
              </a:rPr>
            </a:br>
            <a:r>
              <a:rPr lang="en-US" altLang="zh-CN" sz="1815">
                <a:solidFill>
                  <a:srgbClr val="996633"/>
                </a:solidFill>
                <a:ea typeface="宋体" panose="02010600030101010101" pitchFamily="2" charset="-122"/>
              </a:rPr>
              <a:t>1. </a:t>
            </a:r>
            <a:r>
              <a:rPr lang="zh-CN" altLang="zh-CN" sz="1815">
                <a:solidFill>
                  <a:srgbClr val="996633"/>
                </a:solidFill>
                <a:ea typeface="宋体" panose="02010600030101010101" pitchFamily="2" charset="-122"/>
              </a:rPr>
              <a:t>大萧条</a:t>
            </a:r>
          </a:p>
        </p:txBody>
      </p:sp>
      <p:sp>
        <p:nvSpPr>
          <p:cNvPr id="81923" name="Rectangle 3">
            <a:extLst>
              <a:ext uri="{FF2B5EF4-FFF2-40B4-BE49-F238E27FC236}">
                <a16:creationId xmlns:a16="http://schemas.microsoft.com/office/drawing/2014/main" id="{7807D63A-3D8A-09E7-E4F1-A7C01B2F9A10}"/>
              </a:ext>
            </a:extLst>
          </p:cNvPr>
          <p:cNvSpPr>
            <a:spLocks noGrp="1" noChangeArrowheads="1"/>
          </p:cNvSpPr>
          <p:nvPr>
            <p:ph type="body" idx="4294967295"/>
          </p:nvPr>
        </p:nvSpPr>
        <p:spPr>
          <a:xfrm>
            <a:off x="254516" y="700306"/>
            <a:ext cx="1939284" cy="2548361"/>
          </a:xfrm>
        </p:spPr>
        <p:txBody>
          <a:bodyPr/>
          <a:lstStyle/>
          <a:p>
            <a:pPr marL="0" indent="0">
              <a:spcBef>
                <a:spcPct val="25000"/>
              </a:spcBef>
              <a:buNone/>
            </a:pPr>
            <a:r>
              <a:rPr lang="zh-CN" altLang="zh-CN" sz="1311">
                <a:ea typeface="宋体" panose="02010600030101010101" pitchFamily="2" charset="-122"/>
              </a:rPr>
              <a:t>从1929-1933年， </a:t>
            </a:r>
          </a:p>
          <a:p>
            <a:pPr marL="201705" lvl="1">
              <a:lnSpc>
                <a:spcPct val="105000"/>
              </a:lnSpc>
              <a:spcBef>
                <a:spcPct val="25000"/>
              </a:spcBef>
              <a:buClr>
                <a:srgbClr val="339966"/>
              </a:buClr>
            </a:pPr>
            <a:r>
              <a:rPr lang="zh-CN" altLang="zh-CN" sz="1311">
                <a:ea typeface="宋体" panose="02010600030101010101" pitchFamily="2" charset="-122"/>
              </a:rPr>
              <a:t>由于银行体系出现问题，货币供给量下降 28% </a:t>
            </a:r>
          </a:p>
          <a:p>
            <a:pPr marL="201705" lvl="1">
              <a:lnSpc>
                <a:spcPct val="105000"/>
              </a:lnSpc>
              <a:spcBef>
                <a:spcPct val="25000"/>
              </a:spcBef>
              <a:buClr>
                <a:srgbClr val="339966"/>
              </a:buClr>
            </a:pPr>
            <a:r>
              <a:rPr lang="zh-CN" altLang="zh-CN" sz="1311">
                <a:ea typeface="宋体" panose="02010600030101010101" pitchFamily="2" charset="-122"/>
              </a:rPr>
              <a:t>股价价格下降90%，消费与投资减少</a:t>
            </a:r>
            <a:endParaRPr lang="zh-CN" altLang="zh-CN" sz="1311" b="1" i="1">
              <a:ea typeface="宋体" panose="02010600030101010101" pitchFamily="2" charset="-122"/>
            </a:endParaRPr>
          </a:p>
          <a:p>
            <a:pPr marL="201705" lvl="1">
              <a:lnSpc>
                <a:spcPct val="105000"/>
              </a:lnSpc>
              <a:spcBef>
                <a:spcPct val="25000"/>
              </a:spcBef>
              <a:buClr>
                <a:srgbClr val="339966"/>
              </a:buClr>
            </a:pPr>
            <a:r>
              <a:rPr lang="zh-CN" altLang="zh-CN" sz="1311" b="1" i="1">
                <a:ea typeface="宋体" panose="02010600030101010101" pitchFamily="2" charset="-122"/>
              </a:rPr>
              <a:t>Y</a:t>
            </a:r>
            <a:r>
              <a:rPr lang="zh-CN" altLang="zh-CN" sz="1311">
                <a:ea typeface="宋体" panose="02010600030101010101" pitchFamily="2" charset="-122"/>
              </a:rPr>
              <a:t>下降27%</a:t>
            </a:r>
          </a:p>
          <a:p>
            <a:pPr marL="201705" lvl="1">
              <a:lnSpc>
                <a:spcPct val="105000"/>
              </a:lnSpc>
              <a:spcBef>
                <a:spcPct val="25000"/>
              </a:spcBef>
              <a:buClr>
                <a:srgbClr val="339966"/>
              </a:buClr>
            </a:pPr>
            <a:r>
              <a:rPr lang="zh-CN" altLang="zh-CN" sz="1311" b="1" i="1">
                <a:ea typeface="宋体" panose="02010600030101010101" pitchFamily="2" charset="-122"/>
              </a:rPr>
              <a:t>P</a:t>
            </a:r>
            <a:r>
              <a:rPr lang="zh-CN" altLang="zh-CN" sz="1311">
                <a:ea typeface="宋体" panose="02010600030101010101" pitchFamily="2" charset="-122"/>
              </a:rPr>
              <a:t>下降22%</a:t>
            </a:r>
          </a:p>
          <a:p>
            <a:pPr marL="201705" lvl="1">
              <a:lnSpc>
                <a:spcPct val="105000"/>
              </a:lnSpc>
              <a:spcBef>
                <a:spcPct val="25000"/>
              </a:spcBef>
              <a:buClr>
                <a:srgbClr val="339966"/>
              </a:buClr>
            </a:pPr>
            <a:r>
              <a:rPr lang="zh-CN" altLang="zh-CN" sz="1311">
                <a:ea typeface="宋体" panose="02010600030101010101" pitchFamily="2" charset="-122"/>
              </a:rPr>
              <a:t>失业率从3%上升到25%</a:t>
            </a:r>
          </a:p>
        </p:txBody>
      </p:sp>
      <p:graphicFrame>
        <p:nvGraphicFramePr>
          <p:cNvPr id="81924" name="Object 178">
            <a:extLst>
              <a:ext uri="{FF2B5EF4-FFF2-40B4-BE49-F238E27FC236}">
                <a16:creationId xmlns:a16="http://schemas.microsoft.com/office/drawing/2014/main" id="{554ED0A8-8266-6163-D4B6-3F94E4BE2522}"/>
              </a:ext>
            </a:extLst>
          </p:cNvPr>
          <p:cNvGraphicFramePr>
            <a:graphicFrameLocks noChangeAspect="1"/>
          </p:cNvGraphicFramePr>
          <p:nvPr/>
        </p:nvGraphicFramePr>
        <p:xfrm>
          <a:off x="2345068" y="990038"/>
          <a:ext cx="2032126" cy="2068942"/>
        </p:xfrm>
        <a:graphic>
          <a:graphicData uri="http://schemas.openxmlformats.org/presentationml/2006/ole">
            <mc:AlternateContent xmlns:mc="http://schemas.openxmlformats.org/markup-compatibility/2006">
              <mc:Choice xmlns:v="urn:schemas-microsoft-com:vml" Requires="v">
                <p:oleObj r:id="rId3" imgW="3149600" imgH="3213100" progId="MSGraph.Chart.8">
                  <p:embed/>
                </p:oleObj>
              </mc:Choice>
              <mc:Fallback>
                <p:oleObj r:id="rId3" imgW="3149600" imgH="3213100" progId="MSGraph.Chart.8">
                  <p:embed/>
                  <p:pic>
                    <p:nvPicPr>
                      <p:cNvPr id="81924" name="Object 178">
                        <a:extLst>
                          <a:ext uri="{FF2B5EF4-FFF2-40B4-BE49-F238E27FC236}">
                            <a16:creationId xmlns:a16="http://schemas.microsoft.com/office/drawing/2014/main" id="{554ED0A8-8266-6163-D4B6-3F94E4BE25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5068" y="990038"/>
                        <a:ext cx="2032126" cy="2068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5" name="Text Box 179">
            <a:extLst>
              <a:ext uri="{FF2B5EF4-FFF2-40B4-BE49-F238E27FC236}">
                <a16:creationId xmlns:a16="http://schemas.microsoft.com/office/drawing/2014/main" id="{409FFA36-FADF-D7CA-36DB-4BB566308E9A}"/>
              </a:ext>
            </a:extLst>
          </p:cNvPr>
          <p:cNvSpPr txBox="1">
            <a:spLocks noChangeArrowheads="1"/>
          </p:cNvSpPr>
          <p:nvPr/>
        </p:nvSpPr>
        <p:spPr bwMode="auto">
          <a:xfrm>
            <a:off x="2542759" y="688301"/>
            <a:ext cx="1766404"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10" b="1">
                <a:ea typeface="宋体" panose="02010600030101010101" pitchFamily="2" charset="-122"/>
              </a:rPr>
              <a:t>美国真实</a:t>
            </a:r>
            <a:r>
              <a:rPr lang="en-US" altLang="zh-CN" sz="1210" b="1">
                <a:ea typeface="宋体" panose="02010600030101010101" pitchFamily="2" charset="-122"/>
              </a:rPr>
              <a:t>GDP</a:t>
            </a:r>
            <a:r>
              <a:rPr lang="zh-CN" altLang="zh-CN" sz="1210" b="1">
                <a:ea typeface="宋体" panose="02010600030101010101" pitchFamily="2" charset="-122"/>
              </a:rPr>
              <a:t>，</a:t>
            </a:r>
            <a:r>
              <a:rPr lang="zh-CN" altLang="zh-CN" sz="1210">
                <a:ea typeface="宋体" panose="02010600030101010101" pitchFamily="2" charset="-122"/>
              </a:rPr>
              <a:t> </a:t>
            </a:r>
            <a:br>
              <a:rPr lang="zh-CN" altLang="zh-CN" sz="1210">
                <a:ea typeface="宋体" panose="02010600030101010101" pitchFamily="2" charset="-122"/>
              </a:rPr>
            </a:br>
            <a:r>
              <a:rPr lang="zh-CN" altLang="zh-CN" sz="1210">
                <a:ea typeface="宋体" panose="02010600030101010101" pitchFamily="2" charset="-122"/>
              </a:rPr>
              <a:t>2000年的十亿美元</a:t>
            </a:r>
          </a:p>
        </p:txBody>
      </p:sp>
      <p:sp>
        <p:nvSpPr>
          <p:cNvPr id="81926" name="FlagCount" hidden="1">
            <a:hlinkClick r:id="rId5" action="ppaction://hlinkfile"/>
            <a:extLst>
              <a:ext uri="{FF2B5EF4-FFF2-40B4-BE49-F238E27FC236}">
                <a16:creationId xmlns:a16="http://schemas.microsoft.com/office/drawing/2014/main" id="{8B01EC97-BC83-346D-E82B-027AB629F527}"/>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319539387"/>
      </p:ext>
    </p:extLst>
  </p:cSld>
  <p:clrMapOvr>
    <a:masterClrMapping/>
  </p:clrMapOvr>
  <p:transition>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4477068-6E64-84E1-1D65-4420F01B2652}"/>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F784AFEB-5A8E-4C02-44DD-FE5E5C9400D0}"/>
              </a:ext>
            </a:extLst>
          </p:cNvPr>
          <p:cNvSpPr>
            <a:spLocks noGrp="1"/>
          </p:cNvSpPr>
          <p:nvPr>
            <p:ph type="sldNum" sz="quarter" idx="11"/>
          </p:nvPr>
        </p:nvSpPr>
        <p:spPr/>
        <p:txBody>
          <a:bodyPr/>
          <a:lstStyle/>
          <a:p>
            <a:fld id="{40E0398A-586E-2643-B085-919FF3AC24EF}" type="slidenum">
              <a:rPr lang="zh-CN" altLang="zh-CN"/>
              <a:pPr/>
              <a:t>69</a:t>
            </a:fld>
            <a:endParaRPr lang="zh-CN" altLang="zh-CN"/>
          </a:p>
        </p:txBody>
      </p:sp>
      <p:sp>
        <p:nvSpPr>
          <p:cNvPr id="83970" name="Rectangle 2">
            <a:extLst>
              <a:ext uri="{FF2B5EF4-FFF2-40B4-BE49-F238E27FC236}">
                <a16:creationId xmlns:a16="http://schemas.microsoft.com/office/drawing/2014/main" id="{973E05E2-7907-FB46-576E-75D55930ADC6}"/>
              </a:ext>
            </a:extLst>
          </p:cNvPr>
          <p:cNvSpPr>
            <a:spLocks noGrp="1" noChangeArrowheads="1"/>
          </p:cNvSpPr>
          <p:nvPr>
            <p:ph type="title" idx="4294967295"/>
          </p:nvPr>
        </p:nvSpPr>
        <p:spPr>
          <a:xfrm>
            <a:off x="230505" y="128846"/>
            <a:ext cx="4149090" cy="417790"/>
          </a:xfrm>
        </p:spPr>
        <p:txBody>
          <a:bodyPr/>
          <a:lstStyle/>
          <a:p>
            <a:pPr>
              <a:lnSpc>
                <a:spcPct val="105000"/>
              </a:lnSpc>
            </a:pPr>
            <a:r>
              <a:rPr lang="zh-CN" altLang="zh-CN" sz="1815">
                <a:ea typeface="宋体" panose="02010600030101010101" pitchFamily="2" charset="-122"/>
              </a:rPr>
              <a:t>总需求两次重大的移动： </a:t>
            </a:r>
            <a:br>
              <a:rPr lang="zh-CN" altLang="zh-CN" sz="1815">
                <a:ea typeface="宋体" panose="02010600030101010101" pitchFamily="2" charset="-122"/>
              </a:rPr>
            </a:br>
            <a:r>
              <a:rPr lang="en-US" altLang="zh-CN" sz="1815">
                <a:solidFill>
                  <a:srgbClr val="996633"/>
                </a:solidFill>
                <a:ea typeface="宋体" panose="02010600030101010101" pitchFamily="2" charset="-122"/>
              </a:rPr>
              <a:t>2. </a:t>
            </a:r>
            <a:r>
              <a:rPr lang="zh-CN" altLang="zh-CN" sz="1815">
                <a:solidFill>
                  <a:srgbClr val="996633"/>
                </a:solidFill>
                <a:ea typeface="宋体" panose="02010600030101010101" pitchFamily="2" charset="-122"/>
              </a:rPr>
              <a:t>第二次世界大战</a:t>
            </a:r>
          </a:p>
        </p:txBody>
      </p:sp>
      <p:sp>
        <p:nvSpPr>
          <p:cNvPr id="83971" name="Rectangle 3">
            <a:extLst>
              <a:ext uri="{FF2B5EF4-FFF2-40B4-BE49-F238E27FC236}">
                <a16:creationId xmlns:a16="http://schemas.microsoft.com/office/drawing/2014/main" id="{1127C0EB-C376-1A6B-782A-2FB0E26B8FF9}"/>
              </a:ext>
            </a:extLst>
          </p:cNvPr>
          <p:cNvSpPr>
            <a:spLocks noGrp="1" noChangeArrowheads="1"/>
          </p:cNvSpPr>
          <p:nvPr>
            <p:ph type="body" idx="4294967295"/>
          </p:nvPr>
        </p:nvSpPr>
        <p:spPr>
          <a:xfrm>
            <a:off x="279328" y="769138"/>
            <a:ext cx="1872853" cy="2257828"/>
          </a:xfrm>
        </p:spPr>
        <p:txBody>
          <a:bodyPr/>
          <a:lstStyle/>
          <a:p>
            <a:pPr marL="0" indent="0">
              <a:lnSpc>
                <a:spcPct val="85000"/>
              </a:lnSpc>
              <a:spcBef>
                <a:spcPct val="30000"/>
              </a:spcBef>
              <a:buNone/>
            </a:pPr>
            <a:r>
              <a:rPr lang="zh-CN" altLang="zh-CN">
                <a:ea typeface="宋体" panose="02010600030101010101" pitchFamily="2" charset="-122"/>
              </a:rPr>
              <a:t>从1939-1944年， </a:t>
            </a:r>
          </a:p>
          <a:p>
            <a:pPr marL="201705" lvl="1">
              <a:lnSpc>
                <a:spcPct val="105000"/>
              </a:lnSpc>
              <a:spcBef>
                <a:spcPct val="30000"/>
              </a:spcBef>
              <a:buClr>
                <a:srgbClr val="339966"/>
              </a:buClr>
            </a:pPr>
            <a:r>
              <a:rPr lang="zh-CN" altLang="zh-CN" sz="1412">
                <a:ea typeface="宋体" panose="02010600030101010101" pitchFamily="2" charset="-122"/>
              </a:rPr>
              <a:t>政府支出从91亿美元上升到913亿美元</a:t>
            </a:r>
            <a:endParaRPr lang="zh-CN" altLang="zh-CN" sz="1412" b="1" i="1">
              <a:ea typeface="宋体" panose="02010600030101010101" pitchFamily="2" charset="-122"/>
            </a:endParaRPr>
          </a:p>
          <a:p>
            <a:pPr marL="201705" lvl="1">
              <a:lnSpc>
                <a:spcPct val="105000"/>
              </a:lnSpc>
              <a:spcBef>
                <a:spcPct val="30000"/>
              </a:spcBef>
              <a:buClr>
                <a:srgbClr val="339966"/>
              </a:buClr>
            </a:pPr>
            <a:r>
              <a:rPr lang="zh-CN" altLang="zh-CN" sz="1412" b="1" i="1">
                <a:ea typeface="宋体" panose="02010600030101010101" pitchFamily="2" charset="-122"/>
              </a:rPr>
              <a:t>Y</a:t>
            </a:r>
            <a:r>
              <a:rPr lang="zh-CN" altLang="zh-CN" sz="1412">
                <a:ea typeface="宋体" panose="02010600030101010101" pitchFamily="2" charset="-122"/>
              </a:rPr>
              <a:t>增加90%</a:t>
            </a:r>
          </a:p>
          <a:p>
            <a:pPr marL="201705" lvl="1">
              <a:lnSpc>
                <a:spcPct val="105000"/>
              </a:lnSpc>
              <a:spcBef>
                <a:spcPct val="30000"/>
              </a:spcBef>
              <a:buClr>
                <a:srgbClr val="339966"/>
              </a:buClr>
            </a:pPr>
            <a:r>
              <a:rPr lang="zh-CN" altLang="zh-CN" sz="1412" b="1" i="1">
                <a:ea typeface="宋体" panose="02010600030101010101" pitchFamily="2" charset="-122"/>
              </a:rPr>
              <a:t>P</a:t>
            </a:r>
            <a:r>
              <a:rPr lang="zh-CN" altLang="zh-CN" sz="1412">
                <a:ea typeface="宋体" panose="02010600030101010101" pitchFamily="2" charset="-122"/>
              </a:rPr>
              <a:t>上升20%</a:t>
            </a:r>
          </a:p>
          <a:p>
            <a:pPr marL="201705" lvl="1">
              <a:lnSpc>
                <a:spcPct val="105000"/>
              </a:lnSpc>
              <a:spcBef>
                <a:spcPct val="30000"/>
              </a:spcBef>
              <a:buClr>
                <a:srgbClr val="339966"/>
              </a:buClr>
            </a:pPr>
            <a:r>
              <a:rPr lang="zh-CN" altLang="zh-CN" sz="1412">
                <a:ea typeface="宋体" panose="02010600030101010101" pitchFamily="2" charset="-122"/>
              </a:rPr>
              <a:t>失业率从17%下降到1%</a:t>
            </a:r>
          </a:p>
        </p:txBody>
      </p:sp>
      <p:graphicFrame>
        <p:nvGraphicFramePr>
          <p:cNvPr id="83972" name="Object 0">
            <a:extLst>
              <a:ext uri="{FF2B5EF4-FFF2-40B4-BE49-F238E27FC236}">
                <a16:creationId xmlns:a16="http://schemas.microsoft.com/office/drawing/2014/main" id="{C001E680-0831-C9D3-6FE1-A31594B7EC12}"/>
              </a:ext>
            </a:extLst>
          </p:cNvPr>
          <p:cNvGraphicFramePr>
            <a:graphicFrameLocks noChangeAspect="1"/>
          </p:cNvGraphicFramePr>
          <p:nvPr/>
        </p:nvGraphicFramePr>
        <p:xfrm>
          <a:off x="2272235" y="996441"/>
          <a:ext cx="2086550" cy="2123367"/>
        </p:xfrm>
        <a:graphic>
          <a:graphicData uri="http://schemas.openxmlformats.org/presentationml/2006/ole">
            <mc:AlternateContent xmlns:mc="http://schemas.openxmlformats.org/markup-compatibility/2006">
              <mc:Choice xmlns:v="urn:schemas-microsoft-com:vml" Requires="v">
                <p:oleObj r:id="rId3" imgW="3149600" imgH="3213100" progId="MSGraph.Chart.8">
                  <p:embed/>
                </p:oleObj>
              </mc:Choice>
              <mc:Fallback>
                <p:oleObj r:id="rId3" imgW="3149600" imgH="3213100" progId="MSGraph.Chart.8">
                  <p:embed/>
                  <p:pic>
                    <p:nvPicPr>
                      <p:cNvPr id="83972" name="Object 0">
                        <a:extLst>
                          <a:ext uri="{FF2B5EF4-FFF2-40B4-BE49-F238E27FC236}">
                            <a16:creationId xmlns:a16="http://schemas.microsoft.com/office/drawing/2014/main" id="{C001E680-0831-C9D3-6FE1-A31594B7EC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2235" y="996441"/>
                        <a:ext cx="2086550" cy="2123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3" name="Text Box 5">
            <a:extLst>
              <a:ext uri="{FF2B5EF4-FFF2-40B4-BE49-F238E27FC236}">
                <a16:creationId xmlns:a16="http://schemas.microsoft.com/office/drawing/2014/main" id="{C55C173B-54ED-42B6-2011-986AC2D686DF}"/>
              </a:ext>
            </a:extLst>
          </p:cNvPr>
          <p:cNvSpPr txBox="1">
            <a:spLocks noChangeArrowheads="1"/>
          </p:cNvSpPr>
          <p:nvPr/>
        </p:nvSpPr>
        <p:spPr bwMode="auto">
          <a:xfrm>
            <a:off x="2542759" y="688301"/>
            <a:ext cx="1766404"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zh-CN" altLang="zh-CN" sz="1210" b="1">
                <a:ea typeface="宋体" panose="02010600030101010101" pitchFamily="2" charset="-122"/>
              </a:rPr>
              <a:t>美国真实 </a:t>
            </a:r>
            <a:r>
              <a:rPr lang="en-US" altLang="zh-CN" sz="1210" b="1">
                <a:ea typeface="宋体" panose="02010600030101010101" pitchFamily="2" charset="-122"/>
              </a:rPr>
              <a:t>GDP</a:t>
            </a:r>
            <a:r>
              <a:rPr lang="zh-CN" altLang="zh-CN" sz="1210">
                <a:ea typeface="宋体" panose="02010600030101010101" pitchFamily="2" charset="-122"/>
              </a:rPr>
              <a:t>， </a:t>
            </a:r>
            <a:br>
              <a:rPr lang="zh-CN" altLang="zh-CN" sz="1210">
                <a:ea typeface="宋体" panose="02010600030101010101" pitchFamily="2" charset="-122"/>
              </a:rPr>
            </a:br>
            <a:r>
              <a:rPr lang="zh-CN" altLang="zh-CN" sz="1210">
                <a:ea typeface="宋体" panose="02010600030101010101" pitchFamily="2" charset="-122"/>
              </a:rPr>
              <a:t>2000年的十亿美元</a:t>
            </a:r>
          </a:p>
        </p:txBody>
      </p:sp>
      <p:sp>
        <p:nvSpPr>
          <p:cNvPr id="83974" name="FlagCount" hidden="1">
            <a:hlinkClick r:id="rId5" action="ppaction://hlinkfile"/>
            <a:extLst>
              <a:ext uri="{FF2B5EF4-FFF2-40B4-BE49-F238E27FC236}">
                <a16:creationId xmlns:a16="http://schemas.microsoft.com/office/drawing/2014/main" id="{00860633-2319-FBB6-EDD3-DAB4CC0C30E2}"/>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241317974"/>
      </p:ext>
    </p:extLst>
  </p:cSld>
  <p:clrMapOvr>
    <a:masterClrMapping/>
  </p:clrMapOvr>
  <p:transition>
    <p:wipe dir="r"/>
  </p:transition>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AD6CB9FB-C2E2-1ECD-23B4-175F1C1FDC7B}"/>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D070E56A-163A-5D7E-91FA-D97DEA09CEF5}"/>
              </a:ext>
            </a:extLst>
          </p:cNvPr>
          <p:cNvSpPr>
            <a:spLocks noGrp="1"/>
          </p:cNvSpPr>
          <p:nvPr>
            <p:ph type="sldNum" sz="quarter" idx="11"/>
          </p:nvPr>
        </p:nvSpPr>
        <p:spPr/>
        <p:txBody>
          <a:bodyPr/>
          <a:lstStyle/>
          <a:p>
            <a:fld id="{20B685C0-79EC-7F42-A4B1-FDBA64A910F3}" type="slidenum">
              <a:rPr lang="zh-CN" altLang="zh-CN"/>
              <a:pPr/>
              <a:t>70</a:t>
            </a:fld>
            <a:endParaRPr lang="zh-CN" altLang="zh-CN"/>
          </a:p>
        </p:txBody>
      </p:sp>
      <p:sp>
        <p:nvSpPr>
          <p:cNvPr id="75778" name="Rectangle 2">
            <a:extLst>
              <a:ext uri="{FF2B5EF4-FFF2-40B4-BE49-F238E27FC236}">
                <a16:creationId xmlns:a16="http://schemas.microsoft.com/office/drawing/2014/main" id="{3BE57A90-FBD9-76CD-07D4-C0BF51E47FB6}"/>
              </a:ext>
            </a:extLst>
          </p:cNvPr>
          <p:cNvSpPr>
            <a:spLocks noGrp="1" noChangeArrowheads="1"/>
          </p:cNvSpPr>
          <p:nvPr>
            <p:ph type="title" idx="4294967295"/>
          </p:nvPr>
        </p:nvSpPr>
        <p:spPr/>
        <p:txBody>
          <a:bodyPr/>
          <a:lstStyle/>
          <a:p>
            <a:r>
              <a:rPr lang="zh-CN" altLang="en-US" sz="1815">
                <a:ea typeface="宋体" panose="02010600030101010101" pitchFamily="2" charset="-122"/>
              </a:rPr>
              <a:t>为什么短期总供给曲线会移动</a:t>
            </a:r>
          </a:p>
        </p:txBody>
      </p:sp>
      <p:sp>
        <p:nvSpPr>
          <p:cNvPr id="75779" name="Rectangle 3">
            <a:extLst>
              <a:ext uri="{FF2B5EF4-FFF2-40B4-BE49-F238E27FC236}">
                <a16:creationId xmlns:a16="http://schemas.microsoft.com/office/drawing/2014/main" id="{6AC5B761-96ED-6726-FABB-17D109A69670}"/>
              </a:ext>
            </a:extLst>
          </p:cNvPr>
          <p:cNvSpPr>
            <a:spLocks noGrp="1" noChangeArrowheads="1"/>
          </p:cNvSpPr>
          <p:nvPr>
            <p:ph type="body" idx="4294967295"/>
          </p:nvPr>
        </p:nvSpPr>
        <p:spPr>
          <a:xfrm>
            <a:off x="230505" y="517823"/>
            <a:ext cx="1860848" cy="2758056"/>
          </a:xfrm>
        </p:spPr>
        <p:txBody>
          <a:bodyPr/>
          <a:lstStyle/>
          <a:p>
            <a:pPr marL="0" indent="0">
              <a:lnSpc>
                <a:spcPct val="85000"/>
              </a:lnSpc>
              <a:buNone/>
            </a:pPr>
            <a:r>
              <a:rPr lang="zh-CN" altLang="zh-CN" sz="1311">
                <a:ea typeface="宋体" panose="02010600030101010101" pitchFamily="2" charset="-122"/>
              </a:rPr>
              <a:t>移动长期总供给曲线的任何事件都会使短期总供给曲线移动</a:t>
            </a:r>
          </a:p>
          <a:p>
            <a:pPr marL="0" indent="0">
              <a:lnSpc>
                <a:spcPct val="85000"/>
              </a:lnSpc>
              <a:buNone/>
            </a:pPr>
            <a:r>
              <a:rPr lang="zh-CN" altLang="zh-CN" sz="1311">
                <a:ea typeface="宋体" panose="02010600030101010101" pitchFamily="2" charset="-122"/>
              </a:rPr>
              <a:t>预期物价水平</a:t>
            </a:r>
            <a:r>
              <a:rPr lang="zh-CN" altLang="zh-CN" sz="1311" b="1" i="1">
                <a:ea typeface="宋体" panose="02010600030101010101" pitchFamily="2" charset="-122"/>
              </a:rPr>
              <a:t>P</a:t>
            </a:r>
            <a:r>
              <a:rPr lang="zh-CN" altLang="zh-CN" sz="1311" b="1" baseline="-25000">
                <a:ea typeface="宋体" panose="02010600030101010101" pitchFamily="2" charset="-122"/>
              </a:rPr>
              <a:t>E </a:t>
            </a:r>
            <a:r>
              <a:rPr lang="zh-CN" altLang="zh-CN" sz="1311">
                <a:ea typeface="宋体" panose="02010600030101010101" pitchFamily="2" charset="-122"/>
              </a:rPr>
              <a:t>变化也会移动短期总供给曲线： </a:t>
            </a:r>
          </a:p>
          <a:p>
            <a:pPr marL="0" indent="0">
              <a:lnSpc>
                <a:spcPct val="85000"/>
              </a:lnSpc>
              <a:buNone/>
            </a:pPr>
            <a:r>
              <a:rPr lang="zh-CN" altLang="zh-CN" sz="1311">
                <a:ea typeface="宋体" panose="02010600030101010101" pitchFamily="2" charset="-122"/>
              </a:rPr>
              <a:t>如果</a:t>
            </a:r>
            <a:r>
              <a:rPr lang="zh-CN" altLang="zh-CN" sz="1311" b="1" i="1">
                <a:ea typeface="宋体" panose="02010600030101010101" pitchFamily="2" charset="-122"/>
              </a:rPr>
              <a:t>P</a:t>
            </a:r>
            <a:r>
              <a:rPr lang="zh-CN" altLang="zh-CN" sz="1311" b="1" baseline="-25000">
                <a:ea typeface="宋体" panose="02010600030101010101" pitchFamily="2" charset="-122"/>
              </a:rPr>
              <a:t>E</a:t>
            </a:r>
            <a:r>
              <a:rPr lang="zh-CN" altLang="zh-CN" sz="1311">
                <a:ea typeface="宋体" panose="02010600030101010101" pitchFamily="2" charset="-122"/>
              </a:rPr>
              <a:t>上升， </a:t>
            </a:r>
          </a:p>
          <a:p>
            <a:pPr marL="0" indent="0">
              <a:lnSpc>
                <a:spcPct val="85000"/>
              </a:lnSpc>
              <a:spcBef>
                <a:spcPct val="10000"/>
              </a:spcBef>
              <a:buNone/>
            </a:pPr>
            <a:r>
              <a:rPr lang="zh-CN" altLang="zh-CN" sz="1311">
                <a:ea typeface="宋体" panose="02010600030101010101" pitchFamily="2" charset="-122"/>
              </a:rPr>
              <a:t>工人与企业会制定更高的工资 </a:t>
            </a:r>
          </a:p>
          <a:p>
            <a:pPr marL="0" indent="0">
              <a:lnSpc>
                <a:spcPct val="85000"/>
              </a:lnSpc>
              <a:buNone/>
            </a:pPr>
            <a:r>
              <a:rPr lang="zh-CN" altLang="zh-CN" sz="1311">
                <a:ea typeface="宋体" panose="02010600030101010101" pitchFamily="2" charset="-122"/>
              </a:rPr>
              <a:t>在每个P，生产获利减少，</a:t>
            </a:r>
            <a:r>
              <a:rPr lang="zh-CN" altLang="zh-CN" sz="1311" b="1" i="1">
                <a:ea typeface="宋体" panose="02010600030101010101" pitchFamily="2" charset="-122"/>
              </a:rPr>
              <a:t>Y</a:t>
            </a:r>
            <a:r>
              <a:rPr lang="zh-CN" altLang="zh-CN" sz="1311">
                <a:ea typeface="宋体" panose="02010600030101010101" pitchFamily="2" charset="-122"/>
              </a:rPr>
              <a:t>下降，短期总供给曲线向左移动</a:t>
            </a:r>
          </a:p>
        </p:txBody>
      </p:sp>
      <p:grpSp>
        <p:nvGrpSpPr>
          <p:cNvPr id="75780" name="Group 4">
            <a:extLst>
              <a:ext uri="{FF2B5EF4-FFF2-40B4-BE49-F238E27FC236}">
                <a16:creationId xmlns:a16="http://schemas.microsoft.com/office/drawing/2014/main" id="{6D6A3434-6FA5-45D4-525D-77E2B4892D9B}"/>
              </a:ext>
            </a:extLst>
          </p:cNvPr>
          <p:cNvGrpSpPr>
            <a:grpSpLocks/>
          </p:cNvGrpSpPr>
          <p:nvPr/>
        </p:nvGrpSpPr>
        <p:grpSpPr bwMode="auto">
          <a:xfrm>
            <a:off x="2866906" y="873185"/>
            <a:ext cx="724331" cy="1935282"/>
            <a:chOff x="-163" y="0"/>
            <a:chExt cx="905" cy="2418"/>
          </a:xfrm>
        </p:grpSpPr>
        <p:sp>
          <p:nvSpPr>
            <p:cNvPr id="75781" name="Line 5">
              <a:extLst>
                <a:ext uri="{FF2B5EF4-FFF2-40B4-BE49-F238E27FC236}">
                  <a16:creationId xmlns:a16="http://schemas.microsoft.com/office/drawing/2014/main" id="{A4EAC7D0-C966-89F7-2D33-8B2AA4F1558B}"/>
                </a:ext>
              </a:extLst>
            </p:cNvPr>
            <p:cNvSpPr>
              <a:spLocks noChangeShapeType="1"/>
            </p:cNvSpPr>
            <p:nvPr/>
          </p:nvSpPr>
          <p:spPr bwMode="auto">
            <a:xfrm rot="16200000" flipH="1">
              <a:off x="-716" y="1333"/>
              <a:ext cx="2167" cy="3"/>
            </a:xfrm>
            <a:prstGeom prst="line">
              <a:avLst/>
            </a:prstGeom>
            <a:noFill/>
            <a:ln w="38100">
              <a:solidFill>
                <a:srgbClr val="5F5F5F"/>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782" name="Text Box 6">
              <a:extLst>
                <a:ext uri="{FF2B5EF4-FFF2-40B4-BE49-F238E27FC236}">
                  <a16:creationId xmlns:a16="http://schemas.microsoft.com/office/drawing/2014/main" id="{8C9BACF1-E559-87C0-660E-3CB53B131F02}"/>
                </a:ext>
              </a:extLst>
            </p:cNvPr>
            <p:cNvSpPr txBox="1">
              <a:spLocks noChangeArrowheads="1"/>
            </p:cNvSpPr>
            <p:nvPr/>
          </p:nvSpPr>
          <p:spPr bwMode="auto">
            <a:xfrm>
              <a:off x="-163" y="0"/>
              <a:ext cx="905"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solidFill>
                    <a:srgbClr val="5F5F5F"/>
                  </a:solidFill>
                  <a:ea typeface="宋体" panose="02010600030101010101" pitchFamily="2" charset="-122"/>
                </a:rPr>
                <a:t>LRAS</a:t>
              </a:r>
              <a:endParaRPr lang="en-US" altLang="zh-CN" sz="1311" i="1" baseline="-25000" dirty="0">
                <a:solidFill>
                  <a:srgbClr val="5F5F5F"/>
                </a:solidFill>
                <a:ea typeface="宋体" panose="02010600030101010101" pitchFamily="2" charset="-122"/>
              </a:endParaRPr>
            </a:p>
          </p:txBody>
        </p:sp>
      </p:grpSp>
      <p:grpSp>
        <p:nvGrpSpPr>
          <p:cNvPr id="75783" name="Group 7">
            <a:extLst>
              <a:ext uri="{FF2B5EF4-FFF2-40B4-BE49-F238E27FC236}">
                <a16:creationId xmlns:a16="http://schemas.microsoft.com/office/drawing/2014/main" id="{8DAF6D2F-62FF-6430-F5CF-52852E84EA69}"/>
              </a:ext>
            </a:extLst>
          </p:cNvPr>
          <p:cNvGrpSpPr>
            <a:grpSpLocks/>
          </p:cNvGrpSpPr>
          <p:nvPr/>
        </p:nvGrpSpPr>
        <p:grpSpPr bwMode="auto">
          <a:xfrm>
            <a:off x="2329862" y="846773"/>
            <a:ext cx="1855245" cy="2134459"/>
            <a:chOff x="0" y="0"/>
            <a:chExt cx="2786" cy="2495"/>
          </a:xfrm>
        </p:grpSpPr>
        <p:grpSp>
          <p:nvGrpSpPr>
            <p:cNvPr id="75784" name="Group 8">
              <a:extLst>
                <a:ext uri="{FF2B5EF4-FFF2-40B4-BE49-F238E27FC236}">
                  <a16:creationId xmlns:a16="http://schemas.microsoft.com/office/drawing/2014/main" id="{4AD9AA73-B526-340F-B82F-093619F9D91A}"/>
                </a:ext>
              </a:extLst>
            </p:cNvPr>
            <p:cNvGrpSpPr>
              <a:grpSpLocks/>
            </p:cNvGrpSpPr>
            <p:nvPr/>
          </p:nvGrpSpPr>
          <p:grpSpPr bwMode="auto">
            <a:xfrm>
              <a:off x="118" y="252"/>
              <a:ext cx="2409" cy="2049"/>
              <a:chOff x="0" y="0"/>
              <a:chExt cx="2116" cy="2027"/>
            </a:xfrm>
          </p:grpSpPr>
          <p:sp>
            <p:nvSpPr>
              <p:cNvPr id="75785" name="Line 9">
                <a:extLst>
                  <a:ext uri="{FF2B5EF4-FFF2-40B4-BE49-F238E27FC236}">
                    <a16:creationId xmlns:a16="http://schemas.microsoft.com/office/drawing/2014/main" id="{48836D3C-9279-2D01-1EE1-90FBCFE71705}"/>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786" name="Line 10">
                <a:extLst>
                  <a:ext uri="{FF2B5EF4-FFF2-40B4-BE49-F238E27FC236}">
                    <a16:creationId xmlns:a16="http://schemas.microsoft.com/office/drawing/2014/main" id="{8C09E32A-1254-EFF4-1BC6-47C1CDEB1E7C}"/>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5787" name="Text Box 11">
              <a:extLst>
                <a:ext uri="{FF2B5EF4-FFF2-40B4-BE49-F238E27FC236}">
                  <a16:creationId xmlns:a16="http://schemas.microsoft.com/office/drawing/2014/main" id="{7BB9A17E-3571-F68F-CEC5-D92B2DAE0D34}"/>
                </a:ext>
              </a:extLst>
            </p:cNvPr>
            <p:cNvSpPr txBox="1">
              <a:spLocks noChangeArrowheads="1"/>
            </p:cNvSpPr>
            <p:nvPr/>
          </p:nvSpPr>
          <p:spPr bwMode="auto">
            <a:xfrm>
              <a:off x="0" y="0"/>
              <a:ext cx="267"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P</a:t>
              </a:r>
            </a:p>
          </p:txBody>
        </p:sp>
        <p:sp>
          <p:nvSpPr>
            <p:cNvPr id="75788" name="Text Box 12">
              <a:extLst>
                <a:ext uri="{FF2B5EF4-FFF2-40B4-BE49-F238E27FC236}">
                  <a16:creationId xmlns:a16="http://schemas.microsoft.com/office/drawing/2014/main" id="{055723AC-481F-3165-BD5E-A1C6E9AF0709}"/>
                </a:ext>
              </a:extLst>
            </p:cNvPr>
            <p:cNvSpPr txBox="1">
              <a:spLocks noChangeArrowheads="1"/>
            </p:cNvSpPr>
            <p:nvPr/>
          </p:nvSpPr>
          <p:spPr bwMode="auto">
            <a:xfrm>
              <a:off x="2496" y="2151"/>
              <a:ext cx="29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Y</a:t>
              </a:r>
            </a:p>
          </p:txBody>
        </p:sp>
      </p:grpSp>
      <p:grpSp>
        <p:nvGrpSpPr>
          <p:cNvPr id="75789" name="Group 13">
            <a:extLst>
              <a:ext uri="{FF2B5EF4-FFF2-40B4-BE49-F238E27FC236}">
                <a16:creationId xmlns:a16="http://schemas.microsoft.com/office/drawing/2014/main" id="{53BB37FF-2A54-14D3-7600-DB9D2C493BD9}"/>
              </a:ext>
            </a:extLst>
          </p:cNvPr>
          <p:cNvGrpSpPr>
            <a:grpSpLocks/>
          </p:cNvGrpSpPr>
          <p:nvPr/>
        </p:nvGrpSpPr>
        <p:grpSpPr bwMode="auto">
          <a:xfrm>
            <a:off x="2824487" y="1251757"/>
            <a:ext cx="1706378" cy="1311798"/>
            <a:chOff x="0" y="0"/>
            <a:chExt cx="2132" cy="1639"/>
          </a:xfrm>
        </p:grpSpPr>
        <p:sp>
          <p:nvSpPr>
            <p:cNvPr id="75790" name="Line 14">
              <a:extLst>
                <a:ext uri="{FF2B5EF4-FFF2-40B4-BE49-F238E27FC236}">
                  <a16:creationId xmlns:a16="http://schemas.microsoft.com/office/drawing/2014/main" id="{AB948679-3C56-E363-807F-BA609E0EB2F5}"/>
                </a:ext>
              </a:extLst>
            </p:cNvPr>
            <p:cNvSpPr>
              <a:spLocks noChangeShapeType="1"/>
            </p:cNvSpPr>
            <p:nvPr/>
          </p:nvSpPr>
          <p:spPr bwMode="auto">
            <a:xfrm flipV="1">
              <a:off x="0" y="255"/>
              <a:ext cx="1393" cy="138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791" name="Text Box 15">
              <a:extLst>
                <a:ext uri="{FF2B5EF4-FFF2-40B4-BE49-F238E27FC236}">
                  <a16:creationId xmlns:a16="http://schemas.microsoft.com/office/drawing/2014/main" id="{F77B8591-D7CB-CEBE-F98F-AB85A67BC6F8}"/>
                </a:ext>
              </a:extLst>
            </p:cNvPr>
            <p:cNvSpPr txBox="1">
              <a:spLocks noChangeArrowheads="1"/>
            </p:cNvSpPr>
            <p:nvPr/>
          </p:nvSpPr>
          <p:spPr bwMode="auto">
            <a:xfrm>
              <a:off x="1298" y="0"/>
              <a:ext cx="834"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ea typeface="宋体" panose="02010600030101010101" pitchFamily="2" charset="-122"/>
                </a:rPr>
                <a:t>SRAS</a:t>
              </a:r>
              <a:endParaRPr lang="en-US" altLang="zh-CN" sz="1311" i="1" baseline="-25000" dirty="0">
                <a:ea typeface="宋体" panose="02010600030101010101" pitchFamily="2" charset="-122"/>
              </a:endParaRPr>
            </a:p>
          </p:txBody>
        </p:sp>
      </p:grpSp>
      <p:grpSp>
        <p:nvGrpSpPr>
          <p:cNvPr id="75792" name="Group 16">
            <a:extLst>
              <a:ext uri="{FF2B5EF4-FFF2-40B4-BE49-F238E27FC236}">
                <a16:creationId xmlns:a16="http://schemas.microsoft.com/office/drawing/2014/main" id="{F6A03750-4FF4-BA42-602A-60BE3156F599}"/>
              </a:ext>
            </a:extLst>
          </p:cNvPr>
          <p:cNvGrpSpPr>
            <a:grpSpLocks/>
          </p:cNvGrpSpPr>
          <p:nvPr/>
        </p:nvGrpSpPr>
        <p:grpSpPr bwMode="auto">
          <a:xfrm>
            <a:off x="2172190" y="2007301"/>
            <a:ext cx="1154926" cy="201691"/>
            <a:chOff x="0" y="0"/>
            <a:chExt cx="1581" cy="252"/>
          </a:xfrm>
        </p:grpSpPr>
        <p:sp>
          <p:nvSpPr>
            <p:cNvPr id="75793" name="Line 17">
              <a:extLst>
                <a:ext uri="{FF2B5EF4-FFF2-40B4-BE49-F238E27FC236}">
                  <a16:creationId xmlns:a16="http://schemas.microsoft.com/office/drawing/2014/main" id="{F2C604C8-5CFF-5B2D-24D3-35C2B2D14A4B}"/>
                </a:ext>
              </a:extLst>
            </p:cNvPr>
            <p:cNvSpPr>
              <a:spLocks noChangeShapeType="1"/>
            </p:cNvSpPr>
            <p:nvPr/>
          </p:nvSpPr>
          <p:spPr bwMode="auto">
            <a:xfrm flipH="1">
              <a:off x="332" y="117"/>
              <a:ext cx="120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794" name="Text Box 18">
              <a:extLst>
                <a:ext uri="{FF2B5EF4-FFF2-40B4-BE49-F238E27FC236}">
                  <a16:creationId xmlns:a16="http://schemas.microsoft.com/office/drawing/2014/main" id="{6E98A544-97FD-648F-884B-558F735B6708}"/>
                </a:ext>
              </a:extLst>
            </p:cNvPr>
            <p:cNvSpPr txBox="1">
              <a:spLocks noChangeArrowheads="1"/>
            </p:cNvSpPr>
            <p:nvPr/>
          </p:nvSpPr>
          <p:spPr bwMode="auto">
            <a:xfrm>
              <a:off x="0" y="0"/>
              <a:ext cx="3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ea typeface="宋体" panose="02010600030101010101" pitchFamily="2" charset="-122"/>
                </a:rPr>
                <a:t>P</a:t>
              </a:r>
              <a:r>
                <a:rPr lang="en-US" altLang="zh-CN" sz="1311" b="1" baseline="-25000">
                  <a:ea typeface="宋体" panose="02010600030101010101" pitchFamily="2" charset="-122"/>
                </a:rPr>
                <a:t>E</a:t>
              </a:r>
            </a:p>
          </p:txBody>
        </p:sp>
        <p:sp>
          <p:nvSpPr>
            <p:cNvPr id="75795" name="Oval 19">
              <a:extLst>
                <a:ext uri="{FF2B5EF4-FFF2-40B4-BE49-F238E27FC236}">
                  <a16:creationId xmlns:a16="http://schemas.microsoft.com/office/drawing/2014/main" id="{F18A88E7-D053-80AB-8605-6C988BB413DC}"/>
                </a:ext>
              </a:extLst>
            </p:cNvPr>
            <p:cNvSpPr>
              <a:spLocks noChangeArrowheads="1"/>
            </p:cNvSpPr>
            <p:nvPr/>
          </p:nvSpPr>
          <p:spPr bwMode="auto">
            <a:xfrm>
              <a:off x="1493"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75796" name="Text Box 20">
            <a:extLst>
              <a:ext uri="{FF2B5EF4-FFF2-40B4-BE49-F238E27FC236}">
                <a16:creationId xmlns:a16="http://schemas.microsoft.com/office/drawing/2014/main" id="{3B3AAE4E-B5F5-335C-357F-3628D8AA8421}"/>
              </a:ext>
            </a:extLst>
          </p:cNvPr>
          <p:cNvSpPr txBox="1">
            <a:spLocks noChangeArrowheads="1"/>
          </p:cNvSpPr>
          <p:nvPr/>
        </p:nvSpPr>
        <p:spPr bwMode="auto">
          <a:xfrm>
            <a:off x="3171045" y="2836479"/>
            <a:ext cx="246512" cy="186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nvGrpSpPr>
          <p:cNvPr id="75797" name="Group 21">
            <a:extLst>
              <a:ext uri="{FF2B5EF4-FFF2-40B4-BE49-F238E27FC236}">
                <a16:creationId xmlns:a16="http://schemas.microsoft.com/office/drawing/2014/main" id="{60241FA7-BC1E-67EF-E655-4B4E47E98084}"/>
              </a:ext>
            </a:extLst>
          </p:cNvPr>
          <p:cNvGrpSpPr>
            <a:grpSpLocks/>
          </p:cNvGrpSpPr>
          <p:nvPr/>
        </p:nvGrpSpPr>
        <p:grpSpPr bwMode="auto">
          <a:xfrm>
            <a:off x="2521149" y="1094086"/>
            <a:ext cx="1683166" cy="1317400"/>
            <a:chOff x="0" y="0"/>
            <a:chExt cx="2103" cy="1646"/>
          </a:xfrm>
        </p:grpSpPr>
        <p:sp>
          <p:nvSpPr>
            <p:cNvPr id="75798" name="Line 22">
              <a:extLst>
                <a:ext uri="{FF2B5EF4-FFF2-40B4-BE49-F238E27FC236}">
                  <a16:creationId xmlns:a16="http://schemas.microsoft.com/office/drawing/2014/main" id="{0E68A973-649B-278D-4601-0B246567DC2A}"/>
                </a:ext>
              </a:extLst>
            </p:cNvPr>
            <p:cNvSpPr>
              <a:spLocks noChangeShapeType="1"/>
            </p:cNvSpPr>
            <p:nvPr/>
          </p:nvSpPr>
          <p:spPr bwMode="auto">
            <a:xfrm flipV="1">
              <a:off x="0" y="262"/>
              <a:ext cx="1393" cy="138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799" name="Text Box 23">
              <a:extLst>
                <a:ext uri="{FF2B5EF4-FFF2-40B4-BE49-F238E27FC236}">
                  <a16:creationId xmlns:a16="http://schemas.microsoft.com/office/drawing/2014/main" id="{3CB9D1D4-409A-A5E0-0CE5-8D54E72A2625}"/>
                </a:ext>
              </a:extLst>
            </p:cNvPr>
            <p:cNvSpPr txBox="1">
              <a:spLocks noChangeArrowheads="1"/>
            </p:cNvSpPr>
            <p:nvPr/>
          </p:nvSpPr>
          <p:spPr bwMode="auto">
            <a:xfrm>
              <a:off x="1228" y="0"/>
              <a:ext cx="875"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i="1" dirty="0">
                  <a:solidFill>
                    <a:srgbClr val="CC0000"/>
                  </a:solidFill>
                  <a:ea typeface="宋体" panose="02010600030101010101" pitchFamily="2" charset="-122"/>
                </a:rPr>
                <a:t>SRAS</a:t>
              </a:r>
              <a:endParaRPr lang="en-US" altLang="zh-CN" sz="1311" i="1" baseline="-25000" dirty="0">
                <a:solidFill>
                  <a:srgbClr val="CC0000"/>
                </a:solidFill>
                <a:ea typeface="宋体" panose="02010600030101010101" pitchFamily="2" charset="-122"/>
              </a:endParaRPr>
            </a:p>
          </p:txBody>
        </p:sp>
      </p:grpSp>
      <p:grpSp>
        <p:nvGrpSpPr>
          <p:cNvPr id="75800" name="Group 24">
            <a:extLst>
              <a:ext uri="{FF2B5EF4-FFF2-40B4-BE49-F238E27FC236}">
                <a16:creationId xmlns:a16="http://schemas.microsoft.com/office/drawing/2014/main" id="{07F98B44-F196-418F-9EF6-D1E3C9144123}"/>
              </a:ext>
            </a:extLst>
          </p:cNvPr>
          <p:cNvGrpSpPr>
            <a:grpSpLocks/>
          </p:cNvGrpSpPr>
          <p:nvPr/>
        </p:nvGrpSpPr>
        <p:grpSpPr bwMode="auto">
          <a:xfrm>
            <a:off x="2176191" y="1548693"/>
            <a:ext cx="1154926" cy="217699"/>
            <a:chOff x="0" y="0"/>
            <a:chExt cx="1443" cy="272"/>
          </a:xfrm>
        </p:grpSpPr>
        <p:sp>
          <p:nvSpPr>
            <p:cNvPr id="75801" name="Line 25">
              <a:extLst>
                <a:ext uri="{FF2B5EF4-FFF2-40B4-BE49-F238E27FC236}">
                  <a16:creationId xmlns:a16="http://schemas.microsoft.com/office/drawing/2014/main" id="{6641F8C3-61C1-A433-2EB8-ADED092D5325}"/>
                </a:ext>
              </a:extLst>
            </p:cNvPr>
            <p:cNvSpPr>
              <a:spLocks noChangeShapeType="1"/>
            </p:cNvSpPr>
            <p:nvPr/>
          </p:nvSpPr>
          <p:spPr bwMode="auto">
            <a:xfrm flipH="1">
              <a:off x="303" y="121"/>
              <a:ext cx="1101"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5802" name="Text Box 26">
              <a:extLst>
                <a:ext uri="{FF2B5EF4-FFF2-40B4-BE49-F238E27FC236}">
                  <a16:creationId xmlns:a16="http://schemas.microsoft.com/office/drawing/2014/main" id="{DCAA4E6B-F844-EDFA-0714-B839990B9C83}"/>
                </a:ext>
              </a:extLst>
            </p:cNvPr>
            <p:cNvSpPr txBox="1">
              <a:spLocks noChangeArrowheads="1"/>
            </p:cNvSpPr>
            <p:nvPr/>
          </p:nvSpPr>
          <p:spPr bwMode="auto">
            <a:xfrm>
              <a:off x="0" y="0"/>
              <a:ext cx="28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311" b="1" i="1">
                  <a:solidFill>
                    <a:srgbClr val="CC0000"/>
                  </a:solidFill>
                  <a:ea typeface="宋体" panose="02010600030101010101" pitchFamily="2" charset="-122"/>
                </a:rPr>
                <a:t>P</a:t>
              </a:r>
              <a:r>
                <a:rPr lang="en-US" altLang="zh-CN" sz="1311" b="1" baseline="-25000">
                  <a:solidFill>
                    <a:srgbClr val="CC0000"/>
                  </a:solidFill>
                  <a:ea typeface="宋体" panose="02010600030101010101" pitchFamily="2" charset="-122"/>
                </a:rPr>
                <a:t>E</a:t>
              </a:r>
            </a:p>
          </p:txBody>
        </p:sp>
        <p:sp>
          <p:nvSpPr>
            <p:cNvPr id="75803" name="Oval 27">
              <a:extLst>
                <a:ext uri="{FF2B5EF4-FFF2-40B4-BE49-F238E27FC236}">
                  <a16:creationId xmlns:a16="http://schemas.microsoft.com/office/drawing/2014/main" id="{0D4AB3B7-5844-F638-88D5-98731FF8A684}"/>
                </a:ext>
              </a:extLst>
            </p:cNvPr>
            <p:cNvSpPr>
              <a:spLocks noChangeArrowheads="1"/>
            </p:cNvSpPr>
            <p:nvPr/>
          </p:nvSpPr>
          <p:spPr bwMode="auto">
            <a:xfrm>
              <a:off x="1363" y="74"/>
              <a:ext cx="80"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75804" name="Line 28">
            <a:extLst>
              <a:ext uri="{FF2B5EF4-FFF2-40B4-BE49-F238E27FC236}">
                <a16:creationId xmlns:a16="http://schemas.microsoft.com/office/drawing/2014/main" id="{78F2CFAF-B486-F023-6694-227340AE7A59}"/>
              </a:ext>
            </a:extLst>
          </p:cNvPr>
          <p:cNvSpPr>
            <a:spLocks noChangeShapeType="1"/>
          </p:cNvSpPr>
          <p:nvPr/>
        </p:nvSpPr>
        <p:spPr bwMode="auto">
          <a:xfrm flipV="1">
            <a:off x="2262631" y="1744782"/>
            <a:ext cx="0" cy="289732"/>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75805" name="Line 31">
            <a:extLst>
              <a:ext uri="{FF2B5EF4-FFF2-40B4-BE49-F238E27FC236}">
                <a16:creationId xmlns:a16="http://schemas.microsoft.com/office/drawing/2014/main" id="{0463F162-A2F0-EF01-F08C-7ACC8A56AB1B}"/>
              </a:ext>
            </a:extLst>
          </p:cNvPr>
          <p:cNvSpPr>
            <a:spLocks noChangeShapeType="1"/>
          </p:cNvSpPr>
          <p:nvPr/>
        </p:nvSpPr>
        <p:spPr bwMode="auto">
          <a:xfrm flipH="1">
            <a:off x="2876510" y="2100143"/>
            <a:ext cx="356963" cy="0"/>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75806" name="Line 32">
            <a:extLst>
              <a:ext uri="{FF2B5EF4-FFF2-40B4-BE49-F238E27FC236}">
                <a16:creationId xmlns:a16="http://schemas.microsoft.com/office/drawing/2014/main" id="{9D2EEC80-9C84-2843-DFB1-88B666EF4E07}"/>
              </a:ext>
            </a:extLst>
          </p:cNvPr>
          <p:cNvSpPr>
            <a:spLocks noChangeShapeType="1"/>
          </p:cNvSpPr>
          <p:nvPr/>
        </p:nvSpPr>
        <p:spPr bwMode="auto">
          <a:xfrm flipH="1">
            <a:off x="3479185" y="1499870"/>
            <a:ext cx="356963" cy="0"/>
          </a:xfrm>
          <a:prstGeom prst="line">
            <a:avLst/>
          </a:prstGeom>
          <a:noFill/>
          <a:ln w="3810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75807" name="FlagCount" hidden="1">
            <a:hlinkClick r:id="rId2" action="ppaction://hlinkfile"/>
            <a:extLst>
              <a:ext uri="{FF2B5EF4-FFF2-40B4-BE49-F238E27FC236}">
                <a16:creationId xmlns:a16="http://schemas.microsoft.com/office/drawing/2014/main" id="{8148985E-3825-3517-4408-F55D7756EC96}"/>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82473732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500"/>
                                        <p:tgtEl>
                                          <p:spTgt spid="75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5779">
                                            <p:txEl>
                                              <p:pRg st="1" end="1"/>
                                            </p:txEl>
                                          </p:spTgt>
                                        </p:tgtEl>
                                        <p:attrNameLst>
                                          <p:attrName>style.visibility</p:attrName>
                                        </p:attrNameLst>
                                      </p:cBhvr>
                                      <p:to>
                                        <p:strVal val="visible"/>
                                      </p:to>
                                    </p:set>
                                    <p:animEffect transition="in" filter="wipe(left)">
                                      <p:cBhvr>
                                        <p:cTn id="12" dur="500"/>
                                        <p:tgtEl>
                                          <p:spTgt spid="757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5779">
                                            <p:txEl>
                                              <p:pRg st="2" end="2"/>
                                            </p:txEl>
                                          </p:spTgt>
                                        </p:tgtEl>
                                        <p:attrNameLst>
                                          <p:attrName>style.visibility</p:attrName>
                                        </p:attrNameLst>
                                      </p:cBhvr>
                                      <p:to>
                                        <p:strVal val="visible"/>
                                      </p:to>
                                    </p:set>
                                    <p:animEffect transition="in" filter="wipe(left)">
                                      <p:cBhvr>
                                        <p:cTn id="17" dur="500"/>
                                        <p:tgtEl>
                                          <p:spTgt spid="75779">
                                            <p:txEl>
                                              <p:pRg st="2" end="2"/>
                                            </p:txEl>
                                          </p:spTgt>
                                        </p:tgtEl>
                                      </p:cBhvr>
                                    </p:animEffect>
                                  </p:childTnLst>
                                </p:cTn>
                              </p:par>
                            </p:childTnLst>
                          </p:cTn>
                        </p:par>
                        <p:par>
                          <p:cTn id="18" fill="hold" nodeType="afterGroup">
                            <p:stCondLst>
                              <p:cond delay="500"/>
                            </p:stCondLst>
                            <p:childTnLst>
                              <p:par>
                                <p:cTn id="19" presetID="22" presetClass="entr" presetSubtype="4" fill="hold" nodeType="afterEffect">
                                  <p:stCondLst>
                                    <p:cond delay="0"/>
                                  </p:stCondLst>
                                  <p:childTnLst>
                                    <p:set>
                                      <p:cBhvr>
                                        <p:cTn id="20" dur="1" fill="hold">
                                          <p:stCondLst>
                                            <p:cond delay="0"/>
                                          </p:stCondLst>
                                        </p:cTn>
                                        <p:tgtEl>
                                          <p:spTgt spid="75804"/>
                                        </p:tgtEl>
                                        <p:attrNameLst>
                                          <p:attrName>style.visibility</p:attrName>
                                        </p:attrNameLst>
                                      </p:cBhvr>
                                      <p:to>
                                        <p:strVal val="visible"/>
                                      </p:to>
                                    </p:set>
                                    <p:animEffect transition="in" filter="wipe(down)">
                                      <p:cBhvr>
                                        <p:cTn id="21" dur="500"/>
                                        <p:tgtEl>
                                          <p:spTgt spid="75804"/>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75800"/>
                                        </p:tgtEl>
                                        <p:attrNameLst>
                                          <p:attrName>style.visibility</p:attrName>
                                        </p:attrNameLst>
                                      </p:cBhvr>
                                      <p:to>
                                        <p:strVal val="visible"/>
                                      </p:to>
                                    </p:set>
                                    <p:animEffect transition="in" filter="wipe(left)">
                                      <p:cBhvr>
                                        <p:cTn id="25" dur="500"/>
                                        <p:tgtEl>
                                          <p:spTgt spid="7580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5779">
                                            <p:txEl>
                                              <p:pRg st="3" end="3"/>
                                            </p:txEl>
                                          </p:spTgt>
                                        </p:tgtEl>
                                        <p:attrNameLst>
                                          <p:attrName>style.visibility</p:attrName>
                                        </p:attrNameLst>
                                      </p:cBhvr>
                                      <p:to>
                                        <p:strVal val="visible"/>
                                      </p:to>
                                    </p:set>
                                    <p:animEffect transition="in" filter="wipe(left)">
                                      <p:cBhvr>
                                        <p:cTn id="30" dur="500"/>
                                        <p:tgtEl>
                                          <p:spTgt spid="75779">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5779">
                                            <p:txEl>
                                              <p:pRg st="4" end="4"/>
                                            </p:txEl>
                                          </p:spTgt>
                                        </p:tgtEl>
                                        <p:attrNameLst>
                                          <p:attrName>style.visibility</p:attrName>
                                        </p:attrNameLst>
                                      </p:cBhvr>
                                      <p:to>
                                        <p:strVal val="visible"/>
                                      </p:to>
                                    </p:set>
                                    <p:animEffect transition="in" filter="wipe(left)">
                                      <p:cBhvr>
                                        <p:cTn id="35" dur="500"/>
                                        <p:tgtEl>
                                          <p:spTgt spid="75779">
                                            <p:txEl>
                                              <p:pRg st="4" end="4"/>
                                            </p:txEl>
                                          </p:spTgt>
                                        </p:tgtEl>
                                      </p:cBhvr>
                                    </p:animEffect>
                                  </p:childTnLst>
                                </p:cTn>
                              </p:par>
                            </p:childTnLst>
                          </p:cTn>
                        </p:par>
                        <p:par>
                          <p:cTn id="36" fill="hold" nodeType="afterGroup">
                            <p:stCondLst>
                              <p:cond delay="500"/>
                            </p:stCondLst>
                            <p:childTnLst>
                              <p:par>
                                <p:cTn id="37" presetID="22" presetClass="entr" presetSubtype="2" fill="hold" nodeType="afterEffect">
                                  <p:stCondLst>
                                    <p:cond delay="0"/>
                                  </p:stCondLst>
                                  <p:childTnLst>
                                    <p:set>
                                      <p:cBhvr>
                                        <p:cTn id="38" dur="1" fill="hold">
                                          <p:stCondLst>
                                            <p:cond delay="0"/>
                                          </p:stCondLst>
                                        </p:cTn>
                                        <p:tgtEl>
                                          <p:spTgt spid="75805"/>
                                        </p:tgtEl>
                                        <p:attrNameLst>
                                          <p:attrName>style.visibility</p:attrName>
                                        </p:attrNameLst>
                                      </p:cBhvr>
                                      <p:to>
                                        <p:strVal val="visible"/>
                                      </p:to>
                                    </p:set>
                                    <p:animEffect transition="in" filter="wipe(right)">
                                      <p:cBhvr>
                                        <p:cTn id="39" dur="500"/>
                                        <p:tgtEl>
                                          <p:spTgt spid="75805"/>
                                        </p:tgtEl>
                                      </p:cBhvr>
                                    </p:animEffect>
                                  </p:childTnLst>
                                </p:cTn>
                              </p:par>
                              <p:par>
                                <p:cTn id="40" presetID="22" presetClass="entr" presetSubtype="2" fill="hold" nodeType="withEffect">
                                  <p:stCondLst>
                                    <p:cond delay="0"/>
                                  </p:stCondLst>
                                  <p:childTnLst>
                                    <p:set>
                                      <p:cBhvr>
                                        <p:cTn id="41" dur="1" fill="hold">
                                          <p:stCondLst>
                                            <p:cond delay="0"/>
                                          </p:stCondLst>
                                        </p:cTn>
                                        <p:tgtEl>
                                          <p:spTgt spid="75806"/>
                                        </p:tgtEl>
                                        <p:attrNameLst>
                                          <p:attrName>style.visibility</p:attrName>
                                        </p:attrNameLst>
                                      </p:cBhvr>
                                      <p:to>
                                        <p:strVal val="visible"/>
                                      </p:to>
                                    </p:set>
                                    <p:animEffect transition="in" filter="wipe(right)">
                                      <p:cBhvr>
                                        <p:cTn id="42" dur="500"/>
                                        <p:tgtEl>
                                          <p:spTgt spid="75806"/>
                                        </p:tgtEl>
                                      </p:cBhvr>
                                    </p:animEffect>
                                  </p:childTnLst>
                                </p:cTn>
                              </p:par>
                            </p:childTnLst>
                          </p:cTn>
                        </p:par>
                        <p:par>
                          <p:cTn id="43" fill="hold" nodeType="afterGroup">
                            <p:stCondLst>
                              <p:cond delay="1000"/>
                            </p:stCondLst>
                            <p:childTnLst>
                              <p:par>
                                <p:cTn id="44" presetID="18" presetClass="entr" presetSubtype="12" fill="hold" nodeType="afterEffect">
                                  <p:stCondLst>
                                    <p:cond delay="0"/>
                                  </p:stCondLst>
                                  <p:childTnLst>
                                    <p:set>
                                      <p:cBhvr>
                                        <p:cTn id="45" dur="1" fill="hold">
                                          <p:stCondLst>
                                            <p:cond delay="0"/>
                                          </p:stCondLst>
                                        </p:cTn>
                                        <p:tgtEl>
                                          <p:spTgt spid="75797"/>
                                        </p:tgtEl>
                                        <p:attrNameLst>
                                          <p:attrName>style.visibility</p:attrName>
                                        </p:attrNameLst>
                                      </p:cBhvr>
                                      <p:to>
                                        <p:strVal val="visible"/>
                                      </p:to>
                                    </p:set>
                                    <p:animEffect transition="in" filter="strips(downLeft)">
                                      <p:cBhvr>
                                        <p:cTn id="46" dur="500"/>
                                        <p:tgtEl>
                                          <p:spTgt spid="75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bldLvl="5"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3697366-C7DA-C472-418A-F3316515B398}"/>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441CEFEA-4CE2-D4A6-C47D-5C644F22973C}"/>
              </a:ext>
            </a:extLst>
          </p:cNvPr>
          <p:cNvSpPr>
            <a:spLocks noGrp="1"/>
          </p:cNvSpPr>
          <p:nvPr>
            <p:ph type="sldNum" sz="quarter" idx="11"/>
          </p:nvPr>
        </p:nvSpPr>
        <p:spPr/>
        <p:txBody>
          <a:bodyPr/>
          <a:lstStyle/>
          <a:p>
            <a:fld id="{4470DF4D-0BBB-4E4F-B39F-8675EE122BF7}" type="slidenum">
              <a:rPr lang="zh-CN" altLang="zh-CN"/>
              <a:pPr/>
              <a:t>71</a:t>
            </a:fld>
            <a:endParaRPr lang="zh-CN" altLang="zh-CN"/>
          </a:p>
        </p:txBody>
      </p:sp>
      <p:sp>
        <p:nvSpPr>
          <p:cNvPr id="76802" name="Rectangle 3">
            <a:extLst>
              <a:ext uri="{FF2B5EF4-FFF2-40B4-BE49-F238E27FC236}">
                <a16:creationId xmlns:a16="http://schemas.microsoft.com/office/drawing/2014/main" id="{BD507090-237E-274C-CD84-0578268687F3}"/>
              </a:ext>
            </a:extLst>
          </p:cNvPr>
          <p:cNvSpPr>
            <a:spLocks noGrp="1" noChangeArrowheads="1"/>
          </p:cNvSpPr>
          <p:nvPr>
            <p:ph type="title" idx="4294967295"/>
          </p:nvPr>
        </p:nvSpPr>
        <p:spPr>
          <a:xfrm>
            <a:off x="0" y="100833"/>
            <a:ext cx="4610100" cy="327349"/>
          </a:xfrm>
        </p:spPr>
        <p:txBody>
          <a:bodyPr/>
          <a:lstStyle/>
          <a:p>
            <a:r>
              <a:rPr lang="zh-CN" altLang="en-US" sz="1866" dirty="0">
                <a:ea typeface="宋体" panose="02010600030101010101" pitchFamily="2" charset="-122"/>
              </a:rPr>
              <a:t>经济长期均衡与短期均衡的动态分析</a:t>
            </a:r>
          </a:p>
        </p:txBody>
      </p:sp>
      <p:sp>
        <p:nvSpPr>
          <p:cNvPr id="76803" name="Rectangle 4">
            <a:extLst>
              <a:ext uri="{FF2B5EF4-FFF2-40B4-BE49-F238E27FC236}">
                <a16:creationId xmlns:a16="http://schemas.microsoft.com/office/drawing/2014/main" id="{9364A5C2-797B-D4F9-BCD3-9938531C2775}"/>
              </a:ext>
            </a:extLst>
          </p:cNvPr>
          <p:cNvSpPr>
            <a:spLocks noGrp="1" noChangeArrowheads="1"/>
          </p:cNvSpPr>
          <p:nvPr>
            <p:ph type="body" idx="4294967295"/>
          </p:nvPr>
        </p:nvSpPr>
        <p:spPr>
          <a:xfrm>
            <a:off x="202492" y="604263"/>
            <a:ext cx="1597528" cy="1623939"/>
          </a:xfrm>
        </p:spPr>
        <p:txBody>
          <a:bodyPr/>
          <a:lstStyle/>
          <a:p>
            <a:pPr marL="0" indent="0">
              <a:lnSpc>
                <a:spcPct val="110000"/>
              </a:lnSpc>
              <a:spcBef>
                <a:spcPct val="30000"/>
              </a:spcBef>
              <a:buNone/>
              <a:tabLst>
                <a:tab pos="172090" algn="l"/>
              </a:tabLst>
            </a:pPr>
            <a:r>
              <a:rPr lang="zh-CN" altLang="zh-CN">
                <a:ea typeface="宋体" panose="02010600030101010101" pitchFamily="2" charset="-122"/>
              </a:rPr>
              <a:t>在长期均衡中，</a:t>
            </a:r>
          </a:p>
          <a:p>
            <a:pPr marL="0" indent="0">
              <a:lnSpc>
                <a:spcPct val="110000"/>
              </a:lnSpc>
              <a:spcBef>
                <a:spcPct val="30000"/>
              </a:spcBef>
              <a:buNone/>
              <a:tabLst>
                <a:tab pos="172090" algn="l"/>
              </a:tabLst>
            </a:pPr>
            <a:r>
              <a:rPr lang="zh-CN" altLang="zh-CN">
                <a:ea typeface="宋体" panose="02010600030101010101" pitchFamily="2" charset="-122"/>
              </a:rPr>
              <a:t>	</a:t>
            </a:r>
            <a:r>
              <a:rPr lang="zh-CN" altLang="zh-CN" b="1" i="1">
                <a:ea typeface="宋体" panose="02010600030101010101" pitchFamily="2" charset="-122"/>
              </a:rPr>
              <a:t>P</a:t>
            </a:r>
            <a:r>
              <a:rPr lang="zh-CN" altLang="zh-CN" b="1" baseline="-25000">
                <a:ea typeface="宋体" panose="02010600030101010101" pitchFamily="2" charset="-122"/>
              </a:rPr>
              <a:t>E</a:t>
            </a:r>
            <a:r>
              <a:rPr lang="zh-CN" altLang="zh-CN">
                <a:ea typeface="宋体" panose="02010600030101010101" pitchFamily="2" charset="-122"/>
              </a:rPr>
              <a:t> = </a:t>
            </a:r>
            <a:r>
              <a:rPr lang="zh-CN" altLang="zh-CN" b="1" i="1">
                <a:ea typeface="宋体" panose="02010600030101010101" pitchFamily="2" charset="-122"/>
              </a:rPr>
              <a:t>P</a:t>
            </a:r>
            <a:r>
              <a:rPr lang="zh-CN" altLang="zh-CN">
                <a:ea typeface="宋体" panose="02010600030101010101" pitchFamily="2" charset="-122"/>
              </a:rPr>
              <a:t>, </a:t>
            </a:r>
          </a:p>
          <a:p>
            <a:pPr marL="0" indent="0">
              <a:lnSpc>
                <a:spcPct val="110000"/>
              </a:lnSpc>
              <a:spcBef>
                <a:spcPct val="30000"/>
              </a:spcBef>
              <a:buNone/>
              <a:tabLst>
                <a:tab pos="172090" algn="l"/>
              </a:tabLst>
            </a:pPr>
            <a:r>
              <a:rPr lang="zh-CN" altLang="zh-CN">
                <a:ea typeface="宋体" panose="02010600030101010101" pitchFamily="2" charset="-122"/>
              </a:rPr>
              <a:t>	</a:t>
            </a:r>
            <a:r>
              <a:rPr lang="zh-CN" altLang="zh-CN" b="1" i="1">
                <a:ea typeface="宋体" panose="02010600030101010101" pitchFamily="2" charset="-122"/>
              </a:rPr>
              <a:t>Y</a:t>
            </a:r>
            <a:r>
              <a:rPr lang="zh-CN" altLang="zh-CN">
                <a:ea typeface="宋体" panose="02010600030101010101" pitchFamily="2" charset="-122"/>
              </a:rPr>
              <a:t> = </a:t>
            </a:r>
            <a:r>
              <a:rPr lang="zh-CN" altLang="zh-CN" b="1" i="1">
                <a:ea typeface="宋体" panose="02010600030101010101" pitchFamily="2" charset="-122"/>
              </a:rPr>
              <a:t>Y</a:t>
            </a:r>
            <a:r>
              <a:rPr lang="zh-CN" altLang="zh-CN" b="1" baseline="-25000">
                <a:ea typeface="宋体" panose="02010600030101010101" pitchFamily="2" charset="-122"/>
              </a:rPr>
              <a:t>N </a:t>
            </a:r>
            <a:r>
              <a:rPr lang="zh-CN" altLang="zh-CN">
                <a:ea typeface="宋体" panose="02010600030101010101" pitchFamily="2" charset="-122"/>
              </a:rPr>
              <a:t>, </a:t>
            </a:r>
          </a:p>
          <a:p>
            <a:pPr marL="0" indent="0">
              <a:lnSpc>
                <a:spcPct val="110000"/>
              </a:lnSpc>
              <a:spcBef>
                <a:spcPct val="30000"/>
              </a:spcBef>
              <a:buNone/>
              <a:tabLst>
                <a:tab pos="172090" algn="l"/>
              </a:tabLst>
            </a:pPr>
            <a:r>
              <a:rPr lang="zh-CN" altLang="zh-CN">
                <a:ea typeface="宋体" panose="02010600030101010101" pitchFamily="2" charset="-122"/>
              </a:rPr>
              <a:t>失业率等于自然失业率</a:t>
            </a:r>
          </a:p>
        </p:txBody>
      </p:sp>
      <p:grpSp>
        <p:nvGrpSpPr>
          <p:cNvPr id="76804" name="Group 4">
            <a:extLst>
              <a:ext uri="{FF2B5EF4-FFF2-40B4-BE49-F238E27FC236}">
                <a16:creationId xmlns:a16="http://schemas.microsoft.com/office/drawing/2014/main" id="{D0D2D4C8-5E37-AEC5-25B2-A42B9591480C}"/>
              </a:ext>
            </a:extLst>
          </p:cNvPr>
          <p:cNvGrpSpPr>
            <a:grpSpLocks/>
          </p:cNvGrpSpPr>
          <p:nvPr/>
        </p:nvGrpSpPr>
        <p:grpSpPr bwMode="auto">
          <a:xfrm>
            <a:off x="2064141" y="596259"/>
            <a:ext cx="2229816" cy="2119312"/>
            <a:chOff x="0" y="0"/>
            <a:chExt cx="2786" cy="2477"/>
          </a:xfrm>
        </p:grpSpPr>
        <p:grpSp>
          <p:nvGrpSpPr>
            <p:cNvPr id="76805" name="Group 5">
              <a:extLst>
                <a:ext uri="{FF2B5EF4-FFF2-40B4-BE49-F238E27FC236}">
                  <a16:creationId xmlns:a16="http://schemas.microsoft.com/office/drawing/2014/main" id="{B9123917-D47B-6D1A-0172-15C2F593668E}"/>
                </a:ext>
              </a:extLst>
            </p:cNvPr>
            <p:cNvGrpSpPr>
              <a:grpSpLocks/>
            </p:cNvGrpSpPr>
            <p:nvPr/>
          </p:nvGrpSpPr>
          <p:grpSpPr bwMode="auto">
            <a:xfrm>
              <a:off x="118" y="252"/>
              <a:ext cx="2409" cy="2049"/>
              <a:chOff x="0" y="0"/>
              <a:chExt cx="2116" cy="2027"/>
            </a:xfrm>
          </p:grpSpPr>
          <p:sp>
            <p:nvSpPr>
              <p:cNvPr id="76806" name="Line 7">
                <a:extLst>
                  <a:ext uri="{FF2B5EF4-FFF2-40B4-BE49-F238E27FC236}">
                    <a16:creationId xmlns:a16="http://schemas.microsoft.com/office/drawing/2014/main" id="{53CE6D37-08B8-7D1C-0008-0B2491FE05E6}"/>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6807" name="Line 8">
                <a:extLst>
                  <a:ext uri="{FF2B5EF4-FFF2-40B4-BE49-F238E27FC236}">
                    <a16:creationId xmlns:a16="http://schemas.microsoft.com/office/drawing/2014/main" id="{61D28AA6-F092-BC13-44DE-37FE1A450705}"/>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76808" name="Text Box 9">
              <a:extLst>
                <a:ext uri="{FF2B5EF4-FFF2-40B4-BE49-F238E27FC236}">
                  <a16:creationId xmlns:a16="http://schemas.microsoft.com/office/drawing/2014/main" id="{AB289C20-6CF4-1C5D-83B1-636238D4F950}"/>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76809" name="Text Box 10">
              <a:extLst>
                <a:ext uri="{FF2B5EF4-FFF2-40B4-BE49-F238E27FC236}">
                  <a16:creationId xmlns:a16="http://schemas.microsoft.com/office/drawing/2014/main" id="{ADEA016C-028C-EF5E-D1E6-B0C476D12817}"/>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sp>
        <p:nvSpPr>
          <p:cNvPr id="76810" name="Line 11">
            <a:extLst>
              <a:ext uri="{FF2B5EF4-FFF2-40B4-BE49-F238E27FC236}">
                <a16:creationId xmlns:a16="http://schemas.microsoft.com/office/drawing/2014/main" id="{FFAEE98B-62C8-FAF2-F64A-33AC5871D0EA}"/>
              </a:ext>
            </a:extLst>
          </p:cNvPr>
          <p:cNvSpPr>
            <a:spLocks noChangeShapeType="1"/>
          </p:cNvSpPr>
          <p:nvPr/>
        </p:nvSpPr>
        <p:spPr bwMode="auto">
          <a:xfrm>
            <a:off x="2537156" y="1078078"/>
            <a:ext cx="1168532" cy="115172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6811" name="Text Box 12">
            <a:extLst>
              <a:ext uri="{FF2B5EF4-FFF2-40B4-BE49-F238E27FC236}">
                <a16:creationId xmlns:a16="http://schemas.microsoft.com/office/drawing/2014/main" id="{CA657EEE-3AB6-39A1-927D-A1215AE0131F}"/>
              </a:ext>
            </a:extLst>
          </p:cNvPr>
          <p:cNvSpPr txBox="1">
            <a:spLocks noChangeArrowheads="1"/>
          </p:cNvSpPr>
          <p:nvPr/>
        </p:nvSpPr>
        <p:spPr bwMode="auto">
          <a:xfrm>
            <a:off x="3666470" y="2169775"/>
            <a:ext cx="357763" cy="46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i="1">
                <a:ea typeface="宋体" panose="02010600030101010101" pitchFamily="2" charset="-122"/>
              </a:rPr>
              <a:t>AD</a:t>
            </a:r>
            <a:endParaRPr lang="en-US" altLang="zh-CN" sz="1210" i="1" baseline="-25000">
              <a:ea typeface="宋体" panose="02010600030101010101" pitchFamily="2" charset="-122"/>
            </a:endParaRPr>
          </a:p>
        </p:txBody>
      </p:sp>
      <p:sp>
        <p:nvSpPr>
          <p:cNvPr id="76812" name="Line 13">
            <a:extLst>
              <a:ext uri="{FF2B5EF4-FFF2-40B4-BE49-F238E27FC236}">
                <a16:creationId xmlns:a16="http://schemas.microsoft.com/office/drawing/2014/main" id="{24B95C7B-87B4-6301-3993-12082B0D33FB}"/>
              </a:ext>
            </a:extLst>
          </p:cNvPr>
          <p:cNvSpPr>
            <a:spLocks noChangeShapeType="1"/>
          </p:cNvSpPr>
          <p:nvPr/>
        </p:nvSpPr>
        <p:spPr bwMode="auto">
          <a:xfrm flipV="1">
            <a:off x="2454718" y="1176523"/>
            <a:ext cx="1198146" cy="1107705"/>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6813" name="Text Box 14">
            <a:extLst>
              <a:ext uri="{FF2B5EF4-FFF2-40B4-BE49-F238E27FC236}">
                <a16:creationId xmlns:a16="http://schemas.microsoft.com/office/drawing/2014/main" id="{967BA6B9-037A-5CE8-B9A6-FAD769908C77}"/>
              </a:ext>
            </a:extLst>
          </p:cNvPr>
          <p:cNvSpPr txBox="1">
            <a:spLocks noChangeArrowheads="1"/>
          </p:cNvSpPr>
          <p:nvPr/>
        </p:nvSpPr>
        <p:spPr bwMode="auto">
          <a:xfrm>
            <a:off x="3604042" y="989237"/>
            <a:ext cx="717926" cy="27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i="1" dirty="0">
                <a:ea typeface="宋体" panose="02010600030101010101" pitchFamily="2" charset="-122"/>
              </a:rPr>
              <a:t>SRAS</a:t>
            </a:r>
            <a:endParaRPr lang="en-US" altLang="zh-CN" sz="1210" i="1" baseline="-25000" dirty="0">
              <a:ea typeface="宋体" panose="02010600030101010101" pitchFamily="2" charset="-122"/>
            </a:endParaRPr>
          </a:p>
        </p:txBody>
      </p:sp>
      <p:sp>
        <p:nvSpPr>
          <p:cNvPr id="76814" name="Line 15">
            <a:extLst>
              <a:ext uri="{FF2B5EF4-FFF2-40B4-BE49-F238E27FC236}">
                <a16:creationId xmlns:a16="http://schemas.microsoft.com/office/drawing/2014/main" id="{A43F1718-6787-01E4-033B-D4236F2DEDA1}"/>
              </a:ext>
            </a:extLst>
          </p:cNvPr>
          <p:cNvSpPr>
            <a:spLocks noChangeShapeType="1"/>
          </p:cNvSpPr>
          <p:nvPr/>
        </p:nvSpPr>
        <p:spPr bwMode="auto">
          <a:xfrm>
            <a:off x="2164186" y="1658342"/>
            <a:ext cx="962038"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6815" name="Text Box 16">
            <a:extLst>
              <a:ext uri="{FF2B5EF4-FFF2-40B4-BE49-F238E27FC236}">
                <a16:creationId xmlns:a16="http://schemas.microsoft.com/office/drawing/2014/main" id="{04595337-5DF4-12FD-6574-25F853ECC704}"/>
              </a:ext>
            </a:extLst>
          </p:cNvPr>
          <p:cNvSpPr txBox="1">
            <a:spLocks noChangeArrowheads="1"/>
          </p:cNvSpPr>
          <p:nvPr/>
        </p:nvSpPr>
        <p:spPr bwMode="auto">
          <a:xfrm>
            <a:off x="1908069" y="1560698"/>
            <a:ext cx="246512" cy="19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61" b="1" i="1">
                <a:ea typeface="宋体" panose="02010600030101010101" pitchFamily="2" charset="-122"/>
              </a:rPr>
              <a:t>P</a:t>
            </a:r>
            <a:r>
              <a:rPr lang="en-US" altLang="zh-CN" sz="1261" b="1" baseline="-25000">
                <a:ea typeface="宋体" panose="02010600030101010101" pitchFamily="2" charset="-122"/>
              </a:rPr>
              <a:t>E</a:t>
            </a:r>
          </a:p>
        </p:txBody>
      </p:sp>
      <p:sp>
        <p:nvSpPr>
          <p:cNvPr id="76816" name="Line 17">
            <a:extLst>
              <a:ext uri="{FF2B5EF4-FFF2-40B4-BE49-F238E27FC236}">
                <a16:creationId xmlns:a16="http://schemas.microsoft.com/office/drawing/2014/main" id="{49EAF6B2-07EB-4742-B29E-AA5383CB1A08}"/>
              </a:ext>
            </a:extLst>
          </p:cNvPr>
          <p:cNvSpPr>
            <a:spLocks noChangeShapeType="1"/>
          </p:cNvSpPr>
          <p:nvPr/>
        </p:nvSpPr>
        <p:spPr bwMode="auto">
          <a:xfrm rot="16200000" flipH="1">
            <a:off x="2260230" y="1694359"/>
            <a:ext cx="1734390" cy="2401"/>
          </a:xfrm>
          <a:prstGeom prst="line">
            <a:avLst/>
          </a:prstGeom>
          <a:noFill/>
          <a:ln w="38100">
            <a:solidFill>
              <a:srgbClr val="DE84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76817" name="Text Box 19">
            <a:extLst>
              <a:ext uri="{FF2B5EF4-FFF2-40B4-BE49-F238E27FC236}">
                <a16:creationId xmlns:a16="http://schemas.microsoft.com/office/drawing/2014/main" id="{58D7794D-FEF3-F0F3-FEFA-ADE8FD70042D}"/>
              </a:ext>
            </a:extLst>
          </p:cNvPr>
          <p:cNvSpPr txBox="1">
            <a:spLocks noChangeArrowheads="1"/>
          </p:cNvSpPr>
          <p:nvPr/>
        </p:nvSpPr>
        <p:spPr bwMode="auto">
          <a:xfrm>
            <a:off x="2652764" y="624271"/>
            <a:ext cx="748786" cy="27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76818" name="Oval 28">
            <a:extLst>
              <a:ext uri="{FF2B5EF4-FFF2-40B4-BE49-F238E27FC236}">
                <a16:creationId xmlns:a16="http://schemas.microsoft.com/office/drawing/2014/main" id="{178A64B1-5EF6-92D5-67C4-BB5B1746869A}"/>
              </a:ext>
            </a:extLst>
          </p:cNvPr>
          <p:cNvSpPr>
            <a:spLocks noChangeArrowheads="1"/>
          </p:cNvSpPr>
          <p:nvPr/>
        </p:nvSpPr>
        <p:spPr bwMode="auto">
          <a:xfrm>
            <a:off x="3094210" y="1621526"/>
            <a:ext cx="70432" cy="696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76819" name="Rectangle 52">
            <a:extLst>
              <a:ext uri="{FF2B5EF4-FFF2-40B4-BE49-F238E27FC236}">
                <a16:creationId xmlns:a16="http://schemas.microsoft.com/office/drawing/2014/main" id="{FE420921-CAFD-202B-7C23-BDD9BD1236BF}"/>
              </a:ext>
            </a:extLst>
          </p:cNvPr>
          <p:cNvSpPr>
            <a:spLocks noChangeArrowheads="1"/>
          </p:cNvSpPr>
          <p:nvPr/>
        </p:nvSpPr>
        <p:spPr bwMode="auto">
          <a:xfrm>
            <a:off x="3008571" y="2557952"/>
            <a:ext cx="370614" cy="286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61" b="1" i="1">
                <a:ea typeface="宋体" panose="02010600030101010101" pitchFamily="2" charset="-122"/>
              </a:rPr>
              <a:t>Y</a:t>
            </a:r>
            <a:r>
              <a:rPr lang="en-US" altLang="zh-CN" sz="1261" b="1" baseline="-25000">
                <a:ea typeface="宋体" panose="02010600030101010101" pitchFamily="2" charset="-122"/>
              </a:rPr>
              <a:t>N</a:t>
            </a:r>
          </a:p>
        </p:txBody>
      </p:sp>
      <p:sp>
        <p:nvSpPr>
          <p:cNvPr id="76820" name="FlagCount" hidden="1">
            <a:hlinkClick r:id="rId2" action="ppaction://hlinkfile"/>
            <a:extLst>
              <a:ext uri="{FF2B5EF4-FFF2-40B4-BE49-F238E27FC236}">
                <a16:creationId xmlns:a16="http://schemas.microsoft.com/office/drawing/2014/main" id="{21230D1F-DA3B-9D88-C0C1-DED0DFBECDC9}"/>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73443770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wipe(left)">
                                      <p:cBhvr>
                                        <p:cTn id="7" dur="500"/>
                                        <p:tgtEl>
                                          <p:spTgt spid="768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6803">
                                            <p:txEl>
                                              <p:pRg st="1" end="1"/>
                                            </p:txEl>
                                          </p:spTgt>
                                        </p:tgtEl>
                                        <p:attrNameLst>
                                          <p:attrName>style.visibility</p:attrName>
                                        </p:attrNameLst>
                                      </p:cBhvr>
                                      <p:to>
                                        <p:strVal val="visible"/>
                                      </p:to>
                                    </p:set>
                                    <p:animEffect transition="in" filter="wipe(left)">
                                      <p:cBhvr>
                                        <p:cTn id="12" dur="500"/>
                                        <p:tgtEl>
                                          <p:spTgt spid="768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6803">
                                            <p:txEl>
                                              <p:pRg st="2" end="2"/>
                                            </p:txEl>
                                          </p:spTgt>
                                        </p:tgtEl>
                                        <p:attrNameLst>
                                          <p:attrName>style.visibility</p:attrName>
                                        </p:attrNameLst>
                                      </p:cBhvr>
                                      <p:to>
                                        <p:strVal val="visible"/>
                                      </p:to>
                                    </p:set>
                                    <p:animEffect transition="in" filter="wipe(left)">
                                      <p:cBhvr>
                                        <p:cTn id="17" dur="500"/>
                                        <p:tgtEl>
                                          <p:spTgt spid="768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6803">
                                            <p:txEl>
                                              <p:pRg st="3" end="3"/>
                                            </p:txEl>
                                          </p:spTgt>
                                        </p:tgtEl>
                                        <p:attrNameLst>
                                          <p:attrName>style.visibility</p:attrName>
                                        </p:attrNameLst>
                                      </p:cBhvr>
                                      <p:to>
                                        <p:strVal val="visible"/>
                                      </p:to>
                                    </p:set>
                                    <p:animEffect transition="in" filter="wipe(left)">
                                      <p:cBhvr>
                                        <p:cTn id="22" dur="500"/>
                                        <p:tgtEl>
                                          <p:spTgt spid="768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bldLvl="5"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12445A09-CA97-FA4A-5500-71DB061D5C32}"/>
              </a:ext>
            </a:extLst>
          </p:cNvPr>
          <p:cNvSpPr>
            <a:spLocks noGrp="1" noChangeArrowheads="1"/>
          </p:cNvSpPr>
          <p:nvPr>
            <p:ph type="body" idx="1"/>
          </p:nvPr>
        </p:nvSpPr>
        <p:spPr>
          <a:xfrm>
            <a:off x="289732" y="742725"/>
            <a:ext cx="4143488" cy="2406697"/>
          </a:xfrm>
        </p:spPr>
        <p:txBody>
          <a:bodyPr/>
          <a:lstStyle/>
          <a:p>
            <a:r>
              <a:rPr lang="zh-CN" altLang="zh-CN">
                <a:ea typeface="宋体" panose="02010600030101010101" pitchFamily="2" charset="-122"/>
              </a:rPr>
              <a:t>画出美国经济的</a:t>
            </a:r>
            <a:r>
              <a:rPr lang="zh-CN" altLang="zh-CN" i="1">
                <a:ea typeface="宋体" panose="02010600030101010101" pitchFamily="2" charset="-122"/>
              </a:rPr>
              <a:t>AD</a:t>
            </a:r>
            <a:r>
              <a:rPr lang="zh-CN" altLang="zh-CN">
                <a:ea typeface="宋体" panose="02010600030101010101" pitchFamily="2" charset="-122"/>
              </a:rPr>
              <a:t>-</a:t>
            </a:r>
            <a:r>
              <a:rPr lang="zh-CN" altLang="zh-CN" i="1">
                <a:ea typeface="宋体" panose="02010600030101010101" pitchFamily="2" charset="-122"/>
              </a:rPr>
              <a:t>SRAS</a:t>
            </a:r>
            <a:r>
              <a:rPr lang="zh-CN" altLang="zh-CN">
                <a:ea typeface="宋体" panose="02010600030101010101" pitchFamily="2" charset="-122"/>
              </a:rPr>
              <a:t>-</a:t>
            </a:r>
            <a:r>
              <a:rPr lang="zh-CN" altLang="zh-CN" i="1">
                <a:ea typeface="宋体" panose="02010600030101010101" pitchFamily="2" charset="-122"/>
              </a:rPr>
              <a:t>LRAS</a:t>
            </a:r>
            <a:r>
              <a:rPr lang="zh-CN" altLang="zh-CN">
                <a:ea typeface="宋体" panose="02010600030101010101" pitchFamily="2" charset="-122"/>
              </a:rPr>
              <a:t>图形，从经济的长期均衡开始</a:t>
            </a:r>
          </a:p>
          <a:p>
            <a:r>
              <a:rPr lang="zh-CN" altLang="zh-CN">
                <a:ea typeface="宋体" panose="02010600030101010101" pitchFamily="2" charset="-122"/>
              </a:rPr>
              <a:t>加拿大出现经济繁荣，用你的图形分析这对美国 GDP，物价水平和失业率的短期与长期影响</a:t>
            </a:r>
          </a:p>
        </p:txBody>
      </p:sp>
      <p:sp>
        <p:nvSpPr>
          <p:cNvPr id="86019" name="Rectangle 8">
            <a:extLst>
              <a:ext uri="{FF2B5EF4-FFF2-40B4-BE49-F238E27FC236}">
                <a16:creationId xmlns:a16="http://schemas.microsoft.com/office/drawing/2014/main" id="{F8CF04C3-5B28-86CA-24A9-966D4A079652}"/>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86020" name="Rectangle 4">
            <a:extLst>
              <a:ext uri="{FF2B5EF4-FFF2-40B4-BE49-F238E27FC236}">
                <a16:creationId xmlns:a16="http://schemas.microsoft.com/office/drawing/2014/main" id="{28F8CF52-1F8B-B59C-6E32-421DD935A55D}"/>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dirty="0">
                <a:solidFill>
                  <a:srgbClr val="339966"/>
                </a:solidFill>
                <a:effectLst>
                  <a:outerShdw blurRad="38100" dist="38100" dir="2700000" algn="tl">
                    <a:srgbClr val="C0C0C0"/>
                  </a:outerShdw>
                </a:effectLst>
                <a:ea typeface="宋体" panose="02010600030101010101" pitchFamily="2" charset="-122"/>
              </a:rPr>
              <a:t>模型的应用</a:t>
            </a:r>
          </a:p>
        </p:txBody>
      </p:sp>
      <p:grpSp>
        <p:nvGrpSpPr>
          <p:cNvPr id="86021" name="Group 5">
            <a:extLst>
              <a:ext uri="{FF2B5EF4-FFF2-40B4-BE49-F238E27FC236}">
                <a16:creationId xmlns:a16="http://schemas.microsoft.com/office/drawing/2014/main" id="{11B8E23A-6AE9-ABCE-6F0E-E924A0579631}"/>
              </a:ext>
            </a:extLst>
          </p:cNvPr>
          <p:cNvGrpSpPr>
            <a:grpSpLocks/>
          </p:cNvGrpSpPr>
          <p:nvPr/>
        </p:nvGrpSpPr>
        <p:grpSpPr bwMode="auto">
          <a:xfrm>
            <a:off x="299336" y="148055"/>
            <a:ext cx="4139486" cy="529041"/>
            <a:chOff x="0" y="0"/>
            <a:chExt cx="5000" cy="661"/>
          </a:xfrm>
        </p:grpSpPr>
        <p:sp>
          <p:nvSpPr>
            <p:cNvPr id="86022" name="Line 9">
              <a:extLst>
                <a:ext uri="{FF2B5EF4-FFF2-40B4-BE49-F238E27FC236}">
                  <a16:creationId xmlns:a16="http://schemas.microsoft.com/office/drawing/2014/main" id="{DECD316F-9903-CD49-AD0D-23CF6D05C7E5}"/>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6023" name="Line 10">
              <a:extLst>
                <a:ext uri="{FF2B5EF4-FFF2-40B4-BE49-F238E27FC236}">
                  <a16:creationId xmlns:a16="http://schemas.microsoft.com/office/drawing/2014/main" id="{7BA0F4DB-8BBE-6E2E-5D4D-DC0A7ECB09B4}"/>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6024" name="Rectangle 8">
            <a:extLst>
              <a:ext uri="{FF2B5EF4-FFF2-40B4-BE49-F238E27FC236}">
                <a16:creationId xmlns:a16="http://schemas.microsoft.com/office/drawing/2014/main" id="{1C7AA153-0627-B9ED-D64F-AD5BAEE6468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fld id="{215006C2-4D53-FB4F-AEF5-75A51C0CBBCA}" type="slidenum">
              <a:rPr lang="zh-CN" altLang="zh-CN" sz="857">
                <a:solidFill>
                  <a:srgbClr val="777777"/>
                </a:solidFill>
                <a:latin typeface="Tahoma" panose="020B0604030504040204" pitchFamily="34" charset="0"/>
                <a:ea typeface="宋体" panose="02010600030101010101" pitchFamily="2" charset="-122"/>
              </a:rPr>
              <a:pPr algn="r"/>
              <a:t>72</a:t>
            </a:fld>
            <a:endParaRPr lang="en-US" altLang="zh-CN" sz="857">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90353662"/>
      </p:ext>
    </p:extLst>
  </p:cSld>
  <p:clrMapOvr>
    <a:masterClrMapping/>
  </p:clrMapOvr>
  <p:transition spd="med">
    <p:diamon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8">
            <a:extLst>
              <a:ext uri="{FF2B5EF4-FFF2-40B4-BE49-F238E27FC236}">
                <a16:creationId xmlns:a16="http://schemas.microsoft.com/office/drawing/2014/main" id="{1D76BBB3-B145-7DB0-7208-99B16CE3E5FA}"/>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87043" name="Rectangle 4">
            <a:extLst>
              <a:ext uri="{FF2B5EF4-FFF2-40B4-BE49-F238E27FC236}">
                <a16:creationId xmlns:a16="http://schemas.microsoft.com/office/drawing/2014/main" id="{B57E1016-4404-129E-86DB-7E86700C0DC4}"/>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dirty="0">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87044" name="Group 4">
            <a:extLst>
              <a:ext uri="{FF2B5EF4-FFF2-40B4-BE49-F238E27FC236}">
                <a16:creationId xmlns:a16="http://schemas.microsoft.com/office/drawing/2014/main" id="{164BB27B-E3D7-D9B9-F6AE-34C3F6EF40F6}"/>
              </a:ext>
            </a:extLst>
          </p:cNvPr>
          <p:cNvGrpSpPr>
            <a:grpSpLocks/>
          </p:cNvGrpSpPr>
          <p:nvPr/>
        </p:nvGrpSpPr>
        <p:grpSpPr bwMode="auto">
          <a:xfrm>
            <a:off x="299336" y="148055"/>
            <a:ext cx="4139486" cy="529041"/>
            <a:chOff x="0" y="0"/>
            <a:chExt cx="5000" cy="661"/>
          </a:xfrm>
        </p:grpSpPr>
        <p:sp>
          <p:nvSpPr>
            <p:cNvPr id="87045" name="Line 9">
              <a:extLst>
                <a:ext uri="{FF2B5EF4-FFF2-40B4-BE49-F238E27FC236}">
                  <a16:creationId xmlns:a16="http://schemas.microsoft.com/office/drawing/2014/main" id="{D84FAFA8-B4BB-35AD-B7BC-5C825B14B0C2}"/>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46" name="Line 10">
              <a:extLst>
                <a:ext uri="{FF2B5EF4-FFF2-40B4-BE49-F238E27FC236}">
                  <a16:creationId xmlns:a16="http://schemas.microsoft.com/office/drawing/2014/main" id="{7A4FEBDE-6A1A-1019-CC27-7DB777599B6E}"/>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7047" name="Rectangle 7">
            <a:extLst>
              <a:ext uri="{FF2B5EF4-FFF2-40B4-BE49-F238E27FC236}">
                <a16:creationId xmlns:a16="http://schemas.microsoft.com/office/drawing/2014/main" id="{7E3C5187-071B-3894-8DE7-8B50BAE38483}"/>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fld id="{4781D3FC-83CD-6544-94CF-D6572D7137FB}" type="slidenum">
              <a:rPr lang="zh-CN" altLang="zh-CN" sz="857">
                <a:solidFill>
                  <a:srgbClr val="777777"/>
                </a:solidFill>
                <a:latin typeface="Tahoma" panose="020B0604030504040204" pitchFamily="34" charset="0"/>
                <a:ea typeface="宋体" panose="02010600030101010101" pitchFamily="2" charset="-122"/>
              </a:rPr>
              <a:pPr algn="r"/>
              <a:t>73</a:t>
            </a:fld>
            <a:endParaRPr lang="zh-CN" altLang="zh-CN" sz="857">
              <a:solidFill>
                <a:srgbClr val="777777"/>
              </a:solidFill>
              <a:latin typeface="Tahoma" panose="020B0604030504040204" pitchFamily="34" charset="0"/>
              <a:ea typeface="宋体" panose="02010600030101010101" pitchFamily="2" charset="-122"/>
            </a:endParaRPr>
          </a:p>
        </p:txBody>
      </p:sp>
      <p:grpSp>
        <p:nvGrpSpPr>
          <p:cNvPr id="87048" name="Group 8">
            <a:extLst>
              <a:ext uri="{FF2B5EF4-FFF2-40B4-BE49-F238E27FC236}">
                <a16:creationId xmlns:a16="http://schemas.microsoft.com/office/drawing/2014/main" id="{56B77E0B-A9A3-8538-05B4-72F6331AD6F7}"/>
              </a:ext>
            </a:extLst>
          </p:cNvPr>
          <p:cNvGrpSpPr>
            <a:grpSpLocks/>
          </p:cNvGrpSpPr>
          <p:nvPr/>
        </p:nvGrpSpPr>
        <p:grpSpPr bwMode="auto">
          <a:xfrm>
            <a:off x="2995765" y="845172"/>
            <a:ext cx="593871" cy="2219411"/>
            <a:chOff x="0" y="0"/>
            <a:chExt cx="742" cy="2773"/>
          </a:xfrm>
        </p:grpSpPr>
        <p:sp>
          <p:nvSpPr>
            <p:cNvPr id="87049" name="Line 8">
              <a:extLst>
                <a:ext uri="{FF2B5EF4-FFF2-40B4-BE49-F238E27FC236}">
                  <a16:creationId xmlns:a16="http://schemas.microsoft.com/office/drawing/2014/main" id="{8ABAC535-2203-4FFB-921B-8262BAA05423}"/>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50" name="Text Box 9">
              <a:extLst>
                <a:ext uri="{FF2B5EF4-FFF2-40B4-BE49-F238E27FC236}">
                  <a16:creationId xmlns:a16="http://schemas.microsoft.com/office/drawing/2014/main" id="{EB1F83D8-D7ED-30D9-21F4-1FB8D4D8E406}"/>
                </a:ext>
              </a:extLst>
            </p:cNvPr>
            <p:cNvSpPr txBox="1">
              <a:spLocks noChangeArrowheads="1"/>
            </p:cNvSpPr>
            <p:nvPr/>
          </p:nvSpPr>
          <p:spPr bwMode="auto">
            <a:xfrm>
              <a:off x="0" y="0"/>
              <a:ext cx="74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87051" name="Rectangle 10">
              <a:extLst>
                <a:ext uri="{FF2B5EF4-FFF2-40B4-BE49-F238E27FC236}">
                  <a16:creationId xmlns:a16="http://schemas.microsoft.com/office/drawing/2014/main" id="{8A816486-2341-6C93-0FEB-66F4C87DF59A}"/>
                </a:ext>
              </a:extLst>
            </p:cNvPr>
            <p:cNvSpPr>
              <a:spLocks noChangeArrowheads="1"/>
            </p:cNvSpPr>
            <p:nvPr/>
          </p:nvSpPr>
          <p:spPr bwMode="auto">
            <a:xfrm>
              <a:off x="221" y="2425"/>
              <a:ext cx="455"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grpSp>
        <p:nvGrpSpPr>
          <p:cNvPr id="87052" name="Group 12">
            <a:extLst>
              <a:ext uri="{FF2B5EF4-FFF2-40B4-BE49-F238E27FC236}">
                <a16:creationId xmlns:a16="http://schemas.microsoft.com/office/drawing/2014/main" id="{40C60C29-B0D9-4FEB-6015-0B1088BF6FA3}"/>
              </a:ext>
            </a:extLst>
          </p:cNvPr>
          <p:cNvGrpSpPr>
            <a:grpSpLocks/>
          </p:cNvGrpSpPr>
          <p:nvPr/>
        </p:nvGrpSpPr>
        <p:grpSpPr bwMode="auto">
          <a:xfrm>
            <a:off x="2408297" y="817159"/>
            <a:ext cx="2013717" cy="2119312"/>
            <a:chOff x="0" y="0"/>
            <a:chExt cx="2786" cy="2477"/>
          </a:xfrm>
        </p:grpSpPr>
        <p:grpSp>
          <p:nvGrpSpPr>
            <p:cNvPr id="87053" name="Group 13">
              <a:extLst>
                <a:ext uri="{FF2B5EF4-FFF2-40B4-BE49-F238E27FC236}">
                  <a16:creationId xmlns:a16="http://schemas.microsoft.com/office/drawing/2014/main" id="{A2F78608-A264-0461-1EE6-C3FF20DF3278}"/>
                </a:ext>
              </a:extLst>
            </p:cNvPr>
            <p:cNvGrpSpPr>
              <a:grpSpLocks/>
            </p:cNvGrpSpPr>
            <p:nvPr/>
          </p:nvGrpSpPr>
          <p:grpSpPr bwMode="auto">
            <a:xfrm>
              <a:off x="118" y="252"/>
              <a:ext cx="2409" cy="2049"/>
              <a:chOff x="0" y="0"/>
              <a:chExt cx="2116" cy="2027"/>
            </a:xfrm>
          </p:grpSpPr>
          <p:sp>
            <p:nvSpPr>
              <p:cNvPr id="87054" name="Line 13">
                <a:extLst>
                  <a:ext uri="{FF2B5EF4-FFF2-40B4-BE49-F238E27FC236}">
                    <a16:creationId xmlns:a16="http://schemas.microsoft.com/office/drawing/2014/main" id="{94922791-167B-E039-24BF-6DFA15A3755C}"/>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55" name="Line 14">
                <a:extLst>
                  <a:ext uri="{FF2B5EF4-FFF2-40B4-BE49-F238E27FC236}">
                    <a16:creationId xmlns:a16="http://schemas.microsoft.com/office/drawing/2014/main" id="{455BEE5C-4A21-6120-4AC5-7901A9D039DE}"/>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7056" name="Text Box 15">
              <a:extLst>
                <a:ext uri="{FF2B5EF4-FFF2-40B4-BE49-F238E27FC236}">
                  <a16:creationId xmlns:a16="http://schemas.microsoft.com/office/drawing/2014/main" id="{C6A4578A-34C4-9717-2328-7A54C3261CC5}"/>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87057" name="Text Box 16">
              <a:extLst>
                <a:ext uri="{FF2B5EF4-FFF2-40B4-BE49-F238E27FC236}">
                  <a16:creationId xmlns:a16="http://schemas.microsoft.com/office/drawing/2014/main" id="{431C7345-D7E5-204A-7A3D-C3552345EB62}"/>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87058" name="Group 18">
            <a:extLst>
              <a:ext uri="{FF2B5EF4-FFF2-40B4-BE49-F238E27FC236}">
                <a16:creationId xmlns:a16="http://schemas.microsoft.com/office/drawing/2014/main" id="{70150B02-7F6F-ADB9-7369-8C80349FC5F1}"/>
              </a:ext>
            </a:extLst>
          </p:cNvPr>
          <p:cNvGrpSpPr>
            <a:grpSpLocks/>
          </p:cNvGrpSpPr>
          <p:nvPr/>
        </p:nvGrpSpPr>
        <p:grpSpPr bwMode="auto">
          <a:xfrm>
            <a:off x="2759657" y="1071676"/>
            <a:ext cx="1608733" cy="1363821"/>
            <a:chOff x="0" y="0"/>
            <a:chExt cx="2010" cy="1704"/>
          </a:xfrm>
        </p:grpSpPr>
        <p:sp>
          <p:nvSpPr>
            <p:cNvPr id="87059" name="Line 18">
              <a:extLst>
                <a:ext uri="{FF2B5EF4-FFF2-40B4-BE49-F238E27FC236}">
                  <a16:creationId xmlns:a16="http://schemas.microsoft.com/office/drawing/2014/main" id="{449F31B5-954B-1B99-F0E4-D5B723B1475E}"/>
                </a:ext>
              </a:extLst>
            </p:cNvPr>
            <p:cNvSpPr>
              <a:spLocks noChangeShapeType="1"/>
            </p:cNvSpPr>
            <p:nvPr/>
          </p:nvSpPr>
          <p:spPr bwMode="auto">
            <a:xfrm>
              <a:off x="0" y="0"/>
              <a:ext cx="1460" cy="1439"/>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60" name="Text Box 19">
              <a:extLst>
                <a:ext uri="{FF2B5EF4-FFF2-40B4-BE49-F238E27FC236}">
                  <a16:creationId xmlns:a16="http://schemas.microsoft.com/office/drawing/2014/main" id="{4418CFFC-C951-828D-B7A4-0B82D7559CC1}"/>
                </a:ext>
              </a:extLst>
            </p:cNvPr>
            <p:cNvSpPr txBox="1">
              <a:spLocks noChangeArrowheads="1"/>
            </p:cNvSpPr>
            <p:nvPr/>
          </p:nvSpPr>
          <p:spPr bwMode="auto">
            <a:xfrm>
              <a:off x="1388" y="1356"/>
              <a:ext cx="62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2</a:t>
              </a:r>
            </a:p>
          </p:txBody>
        </p:sp>
      </p:grpSp>
      <p:grpSp>
        <p:nvGrpSpPr>
          <p:cNvPr id="87061" name="Group 21">
            <a:extLst>
              <a:ext uri="{FF2B5EF4-FFF2-40B4-BE49-F238E27FC236}">
                <a16:creationId xmlns:a16="http://schemas.microsoft.com/office/drawing/2014/main" id="{D1A5A192-3E45-61AD-BD58-C2D0DCB64FBA}"/>
              </a:ext>
            </a:extLst>
          </p:cNvPr>
          <p:cNvGrpSpPr>
            <a:grpSpLocks/>
          </p:cNvGrpSpPr>
          <p:nvPr/>
        </p:nvGrpSpPr>
        <p:grpSpPr bwMode="auto">
          <a:xfrm>
            <a:off x="2576374" y="949219"/>
            <a:ext cx="1800821" cy="1309396"/>
            <a:chOff x="0" y="0"/>
            <a:chExt cx="2250" cy="1636"/>
          </a:xfrm>
        </p:grpSpPr>
        <p:sp>
          <p:nvSpPr>
            <p:cNvPr id="87062" name="Line 21">
              <a:extLst>
                <a:ext uri="{FF2B5EF4-FFF2-40B4-BE49-F238E27FC236}">
                  <a16:creationId xmlns:a16="http://schemas.microsoft.com/office/drawing/2014/main" id="{9665A9C3-5C0F-DB0E-ACB9-F074BEB960E8}"/>
                </a:ext>
              </a:extLst>
            </p:cNvPr>
            <p:cNvSpPr>
              <a:spLocks noChangeShapeType="1"/>
            </p:cNvSpPr>
            <p:nvPr/>
          </p:nvSpPr>
          <p:spPr bwMode="auto">
            <a:xfrm flipV="1">
              <a:off x="0" y="252"/>
              <a:ext cx="1497" cy="1384"/>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63" name="Text Box 22">
              <a:extLst>
                <a:ext uri="{FF2B5EF4-FFF2-40B4-BE49-F238E27FC236}">
                  <a16:creationId xmlns:a16="http://schemas.microsoft.com/office/drawing/2014/main" id="{E769B4DF-65D5-700D-71B8-8BFF480BE067}"/>
                </a:ext>
              </a:extLst>
            </p:cNvPr>
            <p:cNvSpPr txBox="1">
              <a:spLocks noChangeArrowheads="1"/>
            </p:cNvSpPr>
            <p:nvPr/>
          </p:nvSpPr>
          <p:spPr bwMode="auto">
            <a:xfrm>
              <a:off x="1394" y="0"/>
              <a:ext cx="856"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2</a:t>
              </a:r>
            </a:p>
          </p:txBody>
        </p:sp>
      </p:grpSp>
      <p:grpSp>
        <p:nvGrpSpPr>
          <p:cNvPr id="87064" name="Group 24">
            <a:extLst>
              <a:ext uri="{FF2B5EF4-FFF2-40B4-BE49-F238E27FC236}">
                <a16:creationId xmlns:a16="http://schemas.microsoft.com/office/drawing/2014/main" id="{2A796FBD-ABD9-2B89-6C09-F3D62D30B803}"/>
              </a:ext>
            </a:extLst>
          </p:cNvPr>
          <p:cNvGrpSpPr>
            <a:grpSpLocks/>
          </p:cNvGrpSpPr>
          <p:nvPr/>
        </p:nvGrpSpPr>
        <p:grpSpPr bwMode="auto">
          <a:xfrm>
            <a:off x="2640403" y="1598315"/>
            <a:ext cx="1421448" cy="1165331"/>
            <a:chOff x="0" y="0"/>
            <a:chExt cx="1776" cy="1456"/>
          </a:xfrm>
        </p:grpSpPr>
        <p:sp>
          <p:nvSpPr>
            <p:cNvPr id="87065" name="Text Box 24">
              <a:extLst>
                <a:ext uri="{FF2B5EF4-FFF2-40B4-BE49-F238E27FC236}">
                  <a16:creationId xmlns:a16="http://schemas.microsoft.com/office/drawing/2014/main" id="{91D2B9BB-142D-5388-445D-43FA843DA068}"/>
                </a:ext>
              </a:extLst>
            </p:cNvPr>
            <p:cNvSpPr txBox="1">
              <a:spLocks noChangeArrowheads="1"/>
            </p:cNvSpPr>
            <p:nvPr/>
          </p:nvSpPr>
          <p:spPr bwMode="auto">
            <a:xfrm>
              <a:off x="1185" y="1108"/>
              <a:ext cx="591"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1</a:t>
              </a:r>
            </a:p>
          </p:txBody>
        </p:sp>
        <p:sp>
          <p:nvSpPr>
            <p:cNvPr id="87066" name="Line 25">
              <a:extLst>
                <a:ext uri="{FF2B5EF4-FFF2-40B4-BE49-F238E27FC236}">
                  <a16:creationId xmlns:a16="http://schemas.microsoft.com/office/drawing/2014/main" id="{B520973B-D535-4DD8-0E9B-02C95D0DECC4}"/>
                </a:ext>
              </a:extLst>
            </p:cNvPr>
            <p:cNvSpPr>
              <a:spLocks noChangeShapeType="1"/>
            </p:cNvSpPr>
            <p:nvPr/>
          </p:nvSpPr>
          <p:spPr bwMode="auto">
            <a:xfrm>
              <a:off x="0" y="0"/>
              <a:ext cx="1235" cy="121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grpSp>
        <p:nvGrpSpPr>
          <p:cNvPr id="87067" name="Group 27">
            <a:extLst>
              <a:ext uri="{FF2B5EF4-FFF2-40B4-BE49-F238E27FC236}">
                <a16:creationId xmlns:a16="http://schemas.microsoft.com/office/drawing/2014/main" id="{9558BDBB-B1A3-8D60-6CE7-8F778D01DD29}"/>
              </a:ext>
            </a:extLst>
          </p:cNvPr>
          <p:cNvGrpSpPr>
            <a:grpSpLocks/>
          </p:cNvGrpSpPr>
          <p:nvPr/>
        </p:nvGrpSpPr>
        <p:grpSpPr bwMode="auto">
          <a:xfrm>
            <a:off x="3012573" y="1485464"/>
            <a:ext cx="1485476" cy="1014862"/>
            <a:chOff x="0" y="0"/>
            <a:chExt cx="1856" cy="1268"/>
          </a:xfrm>
        </p:grpSpPr>
        <p:sp>
          <p:nvSpPr>
            <p:cNvPr id="87068" name="Line 27">
              <a:extLst>
                <a:ext uri="{FF2B5EF4-FFF2-40B4-BE49-F238E27FC236}">
                  <a16:creationId xmlns:a16="http://schemas.microsoft.com/office/drawing/2014/main" id="{5EF7A96E-FE7B-86BC-2377-DDA52382A049}"/>
                </a:ext>
              </a:extLst>
            </p:cNvPr>
            <p:cNvSpPr>
              <a:spLocks noChangeShapeType="1"/>
            </p:cNvSpPr>
            <p:nvPr/>
          </p:nvSpPr>
          <p:spPr bwMode="auto">
            <a:xfrm flipV="1">
              <a:off x="0" y="246"/>
              <a:ext cx="1092" cy="1022"/>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69" name="Text Box 28">
              <a:extLst>
                <a:ext uri="{FF2B5EF4-FFF2-40B4-BE49-F238E27FC236}">
                  <a16:creationId xmlns:a16="http://schemas.microsoft.com/office/drawing/2014/main" id="{1DC827EB-2396-3F0E-A806-BBE5BE569C3C}"/>
                </a:ext>
              </a:extLst>
            </p:cNvPr>
            <p:cNvSpPr txBox="1">
              <a:spLocks noChangeArrowheads="1"/>
            </p:cNvSpPr>
            <p:nvPr/>
          </p:nvSpPr>
          <p:spPr bwMode="auto">
            <a:xfrm>
              <a:off x="1000" y="0"/>
              <a:ext cx="856"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1</a:t>
              </a:r>
            </a:p>
          </p:txBody>
        </p:sp>
      </p:grpSp>
      <p:grpSp>
        <p:nvGrpSpPr>
          <p:cNvPr id="87070" name="Group 30">
            <a:extLst>
              <a:ext uri="{FF2B5EF4-FFF2-40B4-BE49-F238E27FC236}">
                <a16:creationId xmlns:a16="http://schemas.microsoft.com/office/drawing/2014/main" id="{E56C52B8-1B80-B6B4-7959-C9201144BD1C}"/>
              </a:ext>
            </a:extLst>
          </p:cNvPr>
          <p:cNvGrpSpPr>
            <a:grpSpLocks/>
          </p:cNvGrpSpPr>
          <p:nvPr/>
        </p:nvGrpSpPr>
        <p:grpSpPr bwMode="auto">
          <a:xfrm>
            <a:off x="2246624" y="2144964"/>
            <a:ext cx="1078891" cy="186484"/>
            <a:chOff x="0" y="0"/>
            <a:chExt cx="1348" cy="233"/>
          </a:xfrm>
        </p:grpSpPr>
        <p:sp>
          <p:nvSpPr>
            <p:cNvPr id="87071" name="Oval 32">
              <a:extLst>
                <a:ext uri="{FF2B5EF4-FFF2-40B4-BE49-F238E27FC236}">
                  <a16:creationId xmlns:a16="http://schemas.microsoft.com/office/drawing/2014/main" id="{DBEB0E36-48CA-3202-8DB6-5D3868A2C8D1}"/>
                </a:ext>
              </a:extLst>
            </p:cNvPr>
            <p:cNvSpPr>
              <a:spLocks noChangeArrowheads="1"/>
            </p:cNvSpPr>
            <p:nvPr/>
          </p:nvSpPr>
          <p:spPr bwMode="auto">
            <a:xfrm>
              <a:off x="1260" y="7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87072" name="Line 38">
              <a:extLst>
                <a:ext uri="{FF2B5EF4-FFF2-40B4-BE49-F238E27FC236}">
                  <a16:creationId xmlns:a16="http://schemas.microsoft.com/office/drawing/2014/main" id="{6F99E9B8-5151-763F-9684-59706355E6A5}"/>
                </a:ext>
              </a:extLst>
            </p:cNvPr>
            <p:cNvSpPr>
              <a:spLocks noChangeShapeType="1"/>
            </p:cNvSpPr>
            <p:nvPr/>
          </p:nvSpPr>
          <p:spPr bwMode="auto">
            <a:xfrm>
              <a:off x="312" y="119"/>
              <a:ext cx="9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73" name="Text Box 39">
              <a:extLst>
                <a:ext uri="{FF2B5EF4-FFF2-40B4-BE49-F238E27FC236}">
                  <a16:creationId xmlns:a16="http://schemas.microsoft.com/office/drawing/2014/main" id="{7221FCD3-2DE8-0DF9-F216-D341C6ABE959}"/>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1</a:t>
              </a:r>
            </a:p>
          </p:txBody>
        </p:sp>
      </p:grpSp>
      <p:grpSp>
        <p:nvGrpSpPr>
          <p:cNvPr id="87074" name="Group 34">
            <a:extLst>
              <a:ext uri="{FF2B5EF4-FFF2-40B4-BE49-F238E27FC236}">
                <a16:creationId xmlns:a16="http://schemas.microsoft.com/office/drawing/2014/main" id="{9DF21A32-7BEF-BDC5-7208-862AB4D9ADA2}"/>
              </a:ext>
            </a:extLst>
          </p:cNvPr>
          <p:cNvGrpSpPr>
            <a:grpSpLocks/>
          </p:cNvGrpSpPr>
          <p:nvPr/>
        </p:nvGrpSpPr>
        <p:grpSpPr bwMode="auto">
          <a:xfrm>
            <a:off x="2245023" y="1504672"/>
            <a:ext cx="1254972" cy="190487"/>
            <a:chOff x="0" y="0"/>
            <a:chExt cx="1568" cy="238"/>
          </a:xfrm>
        </p:grpSpPr>
        <p:grpSp>
          <p:nvGrpSpPr>
            <p:cNvPr id="87075" name="Group 35">
              <a:extLst>
                <a:ext uri="{FF2B5EF4-FFF2-40B4-BE49-F238E27FC236}">
                  <a16:creationId xmlns:a16="http://schemas.microsoft.com/office/drawing/2014/main" id="{EA12102C-DE45-7E8B-D369-6DD410D01EC7}"/>
                </a:ext>
              </a:extLst>
            </p:cNvPr>
            <p:cNvGrpSpPr>
              <a:grpSpLocks/>
            </p:cNvGrpSpPr>
            <p:nvPr/>
          </p:nvGrpSpPr>
          <p:grpSpPr bwMode="auto">
            <a:xfrm>
              <a:off x="0" y="5"/>
              <a:ext cx="1350" cy="233"/>
              <a:chOff x="0" y="0"/>
              <a:chExt cx="1350" cy="233"/>
            </a:xfrm>
          </p:grpSpPr>
          <p:sp>
            <p:nvSpPr>
              <p:cNvPr id="87076" name="Line 29">
                <a:extLst>
                  <a:ext uri="{FF2B5EF4-FFF2-40B4-BE49-F238E27FC236}">
                    <a16:creationId xmlns:a16="http://schemas.microsoft.com/office/drawing/2014/main" id="{20527C81-62BB-581B-6217-4F379F961C70}"/>
                  </a:ext>
                </a:extLst>
              </p:cNvPr>
              <p:cNvSpPr>
                <a:spLocks noChangeShapeType="1"/>
              </p:cNvSpPr>
              <p:nvPr/>
            </p:nvSpPr>
            <p:spPr bwMode="auto">
              <a:xfrm>
                <a:off x="316" y="113"/>
                <a:ext cx="995" cy="3"/>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77" name="Text Box 30">
                <a:extLst>
                  <a:ext uri="{FF2B5EF4-FFF2-40B4-BE49-F238E27FC236}">
                    <a16:creationId xmlns:a16="http://schemas.microsoft.com/office/drawing/2014/main" id="{C292778C-20AD-2195-2B15-B346EFFBF4F1}"/>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3</a:t>
                </a:r>
              </a:p>
            </p:txBody>
          </p:sp>
          <p:sp>
            <p:nvSpPr>
              <p:cNvPr id="87078" name="Oval 31">
                <a:extLst>
                  <a:ext uri="{FF2B5EF4-FFF2-40B4-BE49-F238E27FC236}">
                    <a16:creationId xmlns:a16="http://schemas.microsoft.com/office/drawing/2014/main" id="{A59E17CE-CD3A-5A56-B642-C36D4A1BE3A6}"/>
                  </a:ext>
                </a:extLst>
              </p:cNvPr>
              <p:cNvSpPr>
                <a:spLocks noChangeArrowheads="1"/>
              </p:cNvSpPr>
              <p:nvPr/>
            </p:nvSpPr>
            <p:spPr bwMode="auto">
              <a:xfrm>
                <a:off x="1262" y="69"/>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87079" name="Text Box 41">
              <a:extLst>
                <a:ext uri="{FF2B5EF4-FFF2-40B4-BE49-F238E27FC236}">
                  <a16:creationId xmlns:a16="http://schemas.microsoft.com/office/drawing/2014/main" id="{5E541D5A-EECE-2C73-4C71-ECB5DEDE3E05}"/>
                </a:ext>
              </a:extLst>
            </p:cNvPr>
            <p:cNvSpPr txBox="1">
              <a:spLocks noChangeArrowheads="1"/>
            </p:cNvSpPr>
            <p:nvPr/>
          </p:nvSpPr>
          <p:spPr bwMode="auto">
            <a:xfrm>
              <a:off x="1367"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C</a:t>
              </a:r>
              <a:endParaRPr lang="en-US" altLang="zh-CN" sz="1210" baseline="-25000">
                <a:ea typeface="宋体" panose="02010600030101010101" pitchFamily="2" charset="-122"/>
              </a:endParaRPr>
            </a:p>
          </p:txBody>
        </p:sp>
      </p:grpSp>
      <p:grpSp>
        <p:nvGrpSpPr>
          <p:cNvPr id="87080" name="Group 40">
            <a:extLst>
              <a:ext uri="{FF2B5EF4-FFF2-40B4-BE49-F238E27FC236}">
                <a16:creationId xmlns:a16="http://schemas.microsoft.com/office/drawing/2014/main" id="{025C9C49-8D76-95E0-F193-2BF71116CD78}"/>
              </a:ext>
            </a:extLst>
          </p:cNvPr>
          <p:cNvGrpSpPr>
            <a:grpSpLocks/>
          </p:cNvGrpSpPr>
          <p:nvPr/>
        </p:nvGrpSpPr>
        <p:grpSpPr bwMode="auto">
          <a:xfrm>
            <a:off x="2248224" y="1832022"/>
            <a:ext cx="1597528" cy="1168532"/>
            <a:chOff x="0" y="0"/>
            <a:chExt cx="1996" cy="1460"/>
          </a:xfrm>
        </p:grpSpPr>
        <p:grpSp>
          <p:nvGrpSpPr>
            <p:cNvPr id="87081" name="Group 41">
              <a:extLst>
                <a:ext uri="{FF2B5EF4-FFF2-40B4-BE49-F238E27FC236}">
                  <a16:creationId xmlns:a16="http://schemas.microsoft.com/office/drawing/2014/main" id="{953889D1-1404-FD34-01E1-6309F2CD0688}"/>
                </a:ext>
              </a:extLst>
            </p:cNvPr>
            <p:cNvGrpSpPr>
              <a:grpSpLocks/>
            </p:cNvGrpSpPr>
            <p:nvPr/>
          </p:nvGrpSpPr>
          <p:grpSpPr bwMode="auto">
            <a:xfrm>
              <a:off x="0" y="1"/>
              <a:ext cx="1904" cy="1459"/>
              <a:chOff x="0" y="0"/>
              <a:chExt cx="1904" cy="1459"/>
            </a:xfrm>
          </p:grpSpPr>
          <p:sp>
            <p:nvSpPr>
              <p:cNvPr id="87082" name="Oval 33">
                <a:extLst>
                  <a:ext uri="{FF2B5EF4-FFF2-40B4-BE49-F238E27FC236}">
                    <a16:creationId xmlns:a16="http://schemas.microsoft.com/office/drawing/2014/main" id="{4838EEAE-586C-5D6C-C5B7-043F41694292}"/>
                  </a:ext>
                </a:extLst>
              </p:cNvPr>
              <p:cNvSpPr>
                <a:spLocks noChangeArrowheads="1"/>
              </p:cNvSpPr>
              <p:nvPr/>
            </p:nvSpPr>
            <p:spPr bwMode="auto">
              <a:xfrm>
                <a:off x="1681" y="71"/>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nvGrpSpPr>
              <p:cNvPr id="87083" name="Group 43">
                <a:extLst>
                  <a:ext uri="{FF2B5EF4-FFF2-40B4-BE49-F238E27FC236}">
                    <a16:creationId xmlns:a16="http://schemas.microsoft.com/office/drawing/2014/main" id="{CB9986C8-C90C-3D23-4F76-3ABD32EED1BE}"/>
                  </a:ext>
                </a:extLst>
              </p:cNvPr>
              <p:cNvGrpSpPr>
                <a:grpSpLocks/>
              </p:cNvGrpSpPr>
              <p:nvPr/>
            </p:nvGrpSpPr>
            <p:grpSpPr bwMode="auto">
              <a:xfrm>
                <a:off x="308" y="116"/>
                <a:ext cx="1416" cy="1072"/>
                <a:chOff x="0" y="0"/>
                <a:chExt cx="795" cy="646"/>
              </a:xfrm>
            </p:grpSpPr>
            <p:sp>
              <p:nvSpPr>
                <p:cNvPr id="87084" name="Line 35">
                  <a:extLst>
                    <a:ext uri="{FF2B5EF4-FFF2-40B4-BE49-F238E27FC236}">
                      <a16:creationId xmlns:a16="http://schemas.microsoft.com/office/drawing/2014/main" id="{D57F954C-F33A-4942-C762-8FD48E484421}"/>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7085" name="Line 36">
                  <a:extLst>
                    <a:ext uri="{FF2B5EF4-FFF2-40B4-BE49-F238E27FC236}">
                      <a16:creationId xmlns:a16="http://schemas.microsoft.com/office/drawing/2014/main" id="{C58DCFAA-EAF7-E189-F2E1-F173538D6DE0}"/>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7086" name="Text Box 37">
                <a:extLst>
                  <a:ext uri="{FF2B5EF4-FFF2-40B4-BE49-F238E27FC236}">
                    <a16:creationId xmlns:a16="http://schemas.microsoft.com/office/drawing/2014/main" id="{A4E6B0D8-C027-DD4C-B954-90AD274B87C8}"/>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2</a:t>
                </a:r>
              </a:p>
            </p:txBody>
          </p:sp>
          <p:sp>
            <p:nvSpPr>
              <p:cNvPr id="87087" name="Text Box 40">
                <a:extLst>
                  <a:ext uri="{FF2B5EF4-FFF2-40B4-BE49-F238E27FC236}">
                    <a16:creationId xmlns:a16="http://schemas.microsoft.com/office/drawing/2014/main" id="{B5925CC8-0219-38F0-18D1-108F0C312154}"/>
                  </a:ext>
                </a:extLst>
              </p:cNvPr>
              <p:cNvSpPr txBox="1">
                <a:spLocks noChangeArrowheads="1"/>
              </p:cNvSpPr>
              <p:nvPr/>
            </p:nvSpPr>
            <p:spPr bwMode="auto">
              <a:xfrm>
                <a:off x="1596" y="1226"/>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2</a:t>
                </a:r>
              </a:p>
            </p:txBody>
          </p:sp>
        </p:grpSp>
        <p:sp>
          <p:nvSpPr>
            <p:cNvPr id="87088" name="Text Box 42">
              <a:extLst>
                <a:ext uri="{FF2B5EF4-FFF2-40B4-BE49-F238E27FC236}">
                  <a16:creationId xmlns:a16="http://schemas.microsoft.com/office/drawing/2014/main" id="{99FBEDC1-58AD-A188-263A-8D22A76B7C02}"/>
                </a:ext>
              </a:extLst>
            </p:cNvPr>
            <p:cNvSpPr txBox="1">
              <a:spLocks noChangeArrowheads="1"/>
            </p:cNvSpPr>
            <p:nvPr/>
          </p:nvSpPr>
          <p:spPr bwMode="auto">
            <a:xfrm>
              <a:off x="1795"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B</a:t>
              </a:r>
              <a:endParaRPr lang="en-US" altLang="zh-CN" sz="1210" baseline="-25000">
                <a:ea typeface="宋体" panose="02010600030101010101" pitchFamily="2" charset="-122"/>
              </a:endParaRPr>
            </a:p>
          </p:txBody>
        </p:sp>
      </p:grpSp>
      <p:sp>
        <p:nvSpPr>
          <p:cNvPr id="87089" name="Text Box 43">
            <a:extLst>
              <a:ext uri="{FF2B5EF4-FFF2-40B4-BE49-F238E27FC236}">
                <a16:creationId xmlns:a16="http://schemas.microsoft.com/office/drawing/2014/main" id="{35645098-0677-CEE3-9DDC-E6D265B6E2EE}"/>
              </a:ext>
            </a:extLst>
          </p:cNvPr>
          <p:cNvSpPr txBox="1">
            <a:spLocks noChangeArrowheads="1"/>
          </p:cNvSpPr>
          <p:nvPr/>
        </p:nvSpPr>
        <p:spPr bwMode="auto">
          <a:xfrm>
            <a:off x="3346325" y="2131358"/>
            <a:ext cx="160873" cy="186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A</a:t>
            </a:r>
            <a:endParaRPr lang="en-US" altLang="zh-CN" sz="1210" baseline="-25000">
              <a:ea typeface="宋体" panose="02010600030101010101" pitchFamily="2" charset="-122"/>
            </a:endParaRPr>
          </a:p>
        </p:txBody>
      </p:sp>
      <p:sp>
        <p:nvSpPr>
          <p:cNvPr id="87090" name="Rectangle 46">
            <a:extLst>
              <a:ext uri="{FF2B5EF4-FFF2-40B4-BE49-F238E27FC236}">
                <a16:creationId xmlns:a16="http://schemas.microsoft.com/office/drawing/2014/main" id="{87BBFFA7-204B-CB60-E80A-429852BEA80F}"/>
              </a:ext>
            </a:extLst>
          </p:cNvPr>
          <p:cNvSpPr>
            <a:spLocks noChangeArrowheads="1"/>
          </p:cNvSpPr>
          <p:nvPr/>
        </p:nvSpPr>
        <p:spPr bwMode="auto">
          <a:xfrm>
            <a:off x="269723" y="726718"/>
            <a:ext cx="2121766" cy="262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04813" indent="-404813">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spcBef>
                <a:spcPct val="30000"/>
              </a:spcBef>
              <a:buFont typeface="Wingdings" pitchFamily="2" charset="2"/>
              <a:buNone/>
            </a:pPr>
            <a:r>
              <a:rPr lang="zh-CN" altLang="zh-CN" sz="1311" u="sng">
                <a:ea typeface="宋体" panose="02010600030101010101" pitchFamily="2" charset="-122"/>
              </a:rPr>
              <a:t>事件：加拿大经济繁荣</a:t>
            </a:r>
          </a:p>
          <a:p>
            <a:pPr>
              <a:spcBef>
                <a:spcPct val="30000"/>
              </a:spcBef>
              <a:buFont typeface="Wingdings" pitchFamily="2" charset="2"/>
              <a:buNone/>
            </a:pPr>
            <a:r>
              <a:rPr lang="zh-CN" altLang="zh-CN" sz="1210" b="1">
                <a:solidFill>
                  <a:srgbClr val="339966"/>
                </a:solidFill>
                <a:ea typeface="宋体" panose="02010600030101010101" pitchFamily="2" charset="-122"/>
              </a:rPr>
              <a:t>1. </a:t>
            </a:r>
            <a:r>
              <a:rPr lang="zh-CN" altLang="zh-CN" sz="1210">
                <a:ea typeface="宋体" panose="02010600030101010101" pitchFamily="2" charset="-122"/>
              </a:rPr>
              <a:t>影响</a:t>
            </a:r>
            <a:r>
              <a:rPr lang="zh-CN" altLang="zh-CN" sz="1311">
                <a:ea typeface="宋体" panose="02010600030101010101" pitchFamily="2" charset="-122"/>
              </a:rPr>
              <a:t> NX</a:t>
            </a:r>
            <a:r>
              <a:rPr lang="zh-CN" altLang="zh-CN" sz="1311" b="1">
                <a:ea typeface="宋体" panose="02010600030101010101" pitchFamily="2" charset="-122"/>
              </a:rPr>
              <a:t>，</a:t>
            </a:r>
            <a:r>
              <a:rPr lang="zh-CN" altLang="zh-CN" sz="1311" i="1">
                <a:ea typeface="宋体" panose="02010600030101010101" pitchFamily="2" charset="-122"/>
              </a:rPr>
              <a:t>AD</a:t>
            </a:r>
            <a:r>
              <a:rPr lang="zh-CN" altLang="zh-CN" sz="1311">
                <a:ea typeface="宋体" panose="02010600030101010101" pitchFamily="2" charset="-122"/>
              </a:rPr>
              <a:t>曲线</a:t>
            </a:r>
          </a:p>
          <a:p>
            <a:pPr>
              <a:spcBef>
                <a:spcPct val="30000"/>
              </a:spcBef>
              <a:buFont typeface="Wingdings" pitchFamily="2" charset="2"/>
              <a:buNone/>
            </a:pPr>
            <a:r>
              <a:rPr lang="zh-CN" altLang="zh-CN" sz="1210" b="1">
                <a:solidFill>
                  <a:srgbClr val="339966"/>
                </a:solidFill>
                <a:ea typeface="宋体" panose="02010600030101010101" pitchFamily="2" charset="-122"/>
              </a:rPr>
              <a:t>2. 	</a:t>
            </a:r>
            <a:r>
              <a:rPr lang="zh-CN" altLang="zh-CN" sz="1311" i="1">
                <a:ea typeface="宋体" panose="02010600030101010101" pitchFamily="2" charset="-122"/>
              </a:rPr>
              <a:t>AD</a:t>
            </a:r>
            <a:r>
              <a:rPr lang="zh-CN" altLang="zh-CN" sz="1311">
                <a:ea typeface="宋体" panose="02010600030101010101" pitchFamily="2" charset="-122"/>
              </a:rPr>
              <a:t>曲线向右移动</a:t>
            </a:r>
          </a:p>
          <a:p>
            <a:pPr>
              <a:spcBef>
                <a:spcPct val="30000"/>
              </a:spcBef>
              <a:buFont typeface="Wingdings" pitchFamily="2" charset="2"/>
              <a:buNone/>
            </a:pPr>
            <a:r>
              <a:rPr lang="zh-CN" altLang="zh-CN" sz="1210" b="1">
                <a:solidFill>
                  <a:srgbClr val="339966"/>
                </a:solidFill>
                <a:ea typeface="宋体" panose="02010600030101010101" pitchFamily="2" charset="-122"/>
              </a:rPr>
              <a:t>3. 	</a:t>
            </a:r>
            <a:r>
              <a:rPr lang="zh-CN" altLang="zh-CN" sz="1311">
                <a:ea typeface="宋体" panose="02010600030101010101" pitchFamily="2" charset="-122"/>
              </a:rPr>
              <a:t>短期均衡在点B。</a:t>
            </a:r>
            <a:r>
              <a:rPr lang="zh-CN" altLang="zh-CN" sz="1311" b="1" i="1">
                <a:ea typeface="宋体" panose="02010600030101010101" pitchFamily="2" charset="-122"/>
              </a:rPr>
              <a:t>P</a:t>
            </a:r>
            <a:r>
              <a:rPr lang="zh-CN" altLang="zh-CN" sz="1311">
                <a:ea typeface="宋体" panose="02010600030101010101" pitchFamily="2" charset="-122"/>
              </a:rPr>
              <a:t>与</a:t>
            </a:r>
            <a:r>
              <a:rPr lang="zh-CN" altLang="zh-CN" sz="1311" b="1" i="1">
                <a:ea typeface="宋体" panose="02010600030101010101" pitchFamily="2" charset="-122"/>
              </a:rPr>
              <a:t>Y</a:t>
            </a:r>
            <a:r>
              <a:rPr lang="zh-CN" altLang="zh-CN" sz="1311">
                <a:ea typeface="宋体" panose="02010600030101010101" pitchFamily="2" charset="-122"/>
              </a:rPr>
              <a:t>  增加，失业率降低</a:t>
            </a:r>
          </a:p>
          <a:p>
            <a:pPr>
              <a:spcBef>
                <a:spcPct val="30000"/>
              </a:spcBef>
              <a:buFont typeface="Wingdings" pitchFamily="2" charset="2"/>
              <a:buNone/>
            </a:pPr>
            <a:r>
              <a:rPr lang="zh-CN" altLang="zh-CN" sz="1210" b="1">
                <a:solidFill>
                  <a:srgbClr val="339966"/>
                </a:solidFill>
                <a:ea typeface="宋体" panose="02010600030101010101" pitchFamily="2" charset="-122"/>
              </a:rPr>
              <a:t>4. 	</a:t>
            </a:r>
            <a:r>
              <a:rPr lang="zh-CN" altLang="zh-CN" sz="1311">
                <a:ea typeface="宋体" panose="02010600030101010101" pitchFamily="2" charset="-122"/>
              </a:rPr>
              <a:t>随时间的推移，</a:t>
            </a:r>
            <a:r>
              <a:rPr lang="zh-CN" altLang="zh-CN" sz="1311" b="1" i="1">
                <a:ea typeface="宋体" panose="02010600030101010101" pitchFamily="2" charset="-122"/>
              </a:rPr>
              <a:t>P</a:t>
            </a:r>
            <a:r>
              <a:rPr lang="zh-CN" altLang="zh-CN" sz="1311" b="1" baseline="-25000">
                <a:ea typeface="宋体" panose="02010600030101010101" pitchFamily="2" charset="-122"/>
              </a:rPr>
              <a:t>E</a:t>
            </a:r>
            <a:r>
              <a:rPr lang="zh-CN" altLang="zh-CN" sz="1311">
                <a:ea typeface="宋体" panose="02010600030101010101" pitchFamily="2" charset="-122"/>
              </a:rPr>
              <a:t>上升，</a:t>
            </a:r>
            <a:r>
              <a:rPr lang="zh-CN" altLang="zh-CN" sz="1311" i="1">
                <a:ea typeface="宋体" panose="02010600030101010101" pitchFamily="2" charset="-122"/>
              </a:rPr>
              <a:t>SRAS</a:t>
            </a:r>
            <a:r>
              <a:rPr lang="zh-CN" altLang="zh-CN" sz="1311">
                <a:ea typeface="宋体" panose="02010600030101010101" pitchFamily="2" charset="-122"/>
              </a:rPr>
              <a:t>曲线一直向左移动，直到达到长期均衡点C。</a:t>
            </a:r>
            <a:r>
              <a:rPr lang="zh-CN" altLang="zh-CN" sz="1311" b="1" i="1">
                <a:ea typeface="宋体" panose="02010600030101010101" pitchFamily="2" charset="-122"/>
              </a:rPr>
              <a:t>Y</a:t>
            </a:r>
            <a:r>
              <a:rPr lang="zh-CN" altLang="zh-CN" sz="1311">
                <a:ea typeface="宋体" panose="02010600030101010101" pitchFamily="2" charset="-122"/>
              </a:rPr>
              <a:t>与失业率回到起始水平</a:t>
            </a:r>
          </a:p>
        </p:txBody>
      </p:sp>
      <p:sp>
        <p:nvSpPr>
          <p:cNvPr id="87091" name="FlagCount" hidden="1">
            <a:hlinkClick r:id="rId3"/>
            <a:extLst>
              <a:ext uri="{FF2B5EF4-FFF2-40B4-BE49-F238E27FC236}">
                <a16:creationId xmlns:a16="http://schemas.microsoft.com/office/drawing/2014/main" id="{49606C9E-D775-A54A-044E-68EC936C2AC2}"/>
              </a:ext>
            </a:extLst>
          </p:cNvPr>
          <p:cNvSpPr>
            <a:spLocks noChangeArrowheads="1"/>
          </p:cNvSpPr>
          <p:nvPr/>
        </p:nvSpPr>
        <p:spPr bwMode="auto">
          <a:xfrm>
            <a:off x="4149090" y="161660"/>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812404760"/>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7090">
                                            <p:txEl>
                                              <p:pRg st="1" end="1"/>
                                            </p:txEl>
                                          </p:spTgt>
                                        </p:tgtEl>
                                        <p:attrNameLst>
                                          <p:attrName>style.visibility</p:attrName>
                                        </p:attrNameLst>
                                      </p:cBhvr>
                                      <p:to>
                                        <p:strVal val="visible"/>
                                      </p:to>
                                    </p:set>
                                    <p:animEffect transition="in" filter="wipe(left)">
                                      <p:cBhvr>
                                        <p:cTn id="7" dur="500"/>
                                        <p:tgtEl>
                                          <p:spTgt spid="8709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7090">
                                            <p:txEl>
                                              <p:pRg st="2" end="2"/>
                                            </p:txEl>
                                          </p:spTgt>
                                        </p:tgtEl>
                                        <p:attrNameLst>
                                          <p:attrName>style.visibility</p:attrName>
                                        </p:attrNameLst>
                                      </p:cBhvr>
                                      <p:to>
                                        <p:strVal val="visible"/>
                                      </p:to>
                                    </p:set>
                                    <p:animEffect transition="in" filter="wipe(left)">
                                      <p:cBhvr>
                                        <p:cTn id="12" dur="500"/>
                                        <p:tgtEl>
                                          <p:spTgt spid="8709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7090">
                                            <p:txEl>
                                              <p:pRg st="3" end="3"/>
                                            </p:txEl>
                                          </p:spTgt>
                                        </p:tgtEl>
                                        <p:attrNameLst>
                                          <p:attrName>style.visibility</p:attrName>
                                        </p:attrNameLst>
                                      </p:cBhvr>
                                      <p:to>
                                        <p:strVal val="visible"/>
                                      </p:to>
                                    </p:set>
                                    <p:animEffect transition="in" filter="wipe(left)">
                                      <p:cBhvr>
                                        <p:cTn id="17" dur="500"/>
                                        <p:tgtEl>
                                          <p:spTgt spid="87090">
                                            <p:txEl>
                                              <p:pRg st="3" end="3"/>
                                            </p:txEl>
                                          </p:spTgt>
                                        </p:tgtEl>
                                      </p:cBhvr>
                                    </p:animEffect>
                                  </p:childTnLst>
                                </p:cTn>
                              </p:par>
                            </p:childTnLst>
                          </p:cTn>
                        </p:par>
                        <p:par>
                          <p:cTn id="18" fill="hold" nodeType="afterGroup">
                            <p:stCondLst>
                              <p:cond delay="500"/>
                            </p:stCondLst>
                            <p:childTnLst>
                              <p:par>
                                <p:cTn id="19" presetID="18" presetClass="entr" presetSubtype="6" fill="hold" nodeType="afterEffect">
                                  <p:stCondLst>
                                    <p:cond delay="0"/>
                                  </p:stCondLst>
                                  <p:childTnLst>
                                    <p:set>
                                      <p:cBhvr>
                                        <p:cTn id="20" dur="1" fill="hold">
                                          <p:stCondLst>
                                            <p:cond delay="0"/>
                                          </p:stCondLst>
                                        </p:cTn>
                                        <p:tgtEl>
                                          <p:spTgt spid="87058"/>
                                        </p:tgtEl>
                                        <p:attrNameLst>
                                          <p:attrName>style.visibility</p:attrName>
                                        </p:attrNameLst>
                                      </p:cBhvr>
                                      <p:to>
                                        <p:strVal val="visible"/>
                                      </p:to>
                                    </p:set>
                                    <p:animEffect transition="in" filter="strips(downRight)">
                                      <p:cBhvr>
                                        <p:cTn id="21" dur="500"/>
                                        <p:tgtEl>
                                          <p:spTgt spid="87058"/>
                                        </p:tgtEl>
                                      </p:cBhvr>
                                    </p:animEffect>
                                  </p:childTnLst>
                                </p:cTn>
                              </p:par>
                            </p:childTnLst>
                          </p:cTn>
                        </p:par>
                        <p:par>
                          <p:cTn id="22" fill="hold" nodeType="afterGroup">
                            <p:stCondLst>
                              <p:cond delay="1000"/>
                            </p:stCondLst>
                            <p:childTnLst>
                              <p:par>
                                <p:cTn id="23" presetID="18" presetClass="entr" presetSubtype="12" fill="hold" nodeType="afterEffect">
                                  <p:stCondLst>
                                    <p:cond delay="0"/>
                                  </p:stCondLst>
                                  <p:childTnLst>
                                    <p:set>
                                      <p:cBhvr>
                                        <p:cTn id="24" dur="1" fill="hold">
                                          <p:stCondLst>
                                            <p:cond delay="0"/>
                                          </p:stCondLst>
                                        </p:cTn>
                                        <p:tgtEl>
                                          <p:spTgt spid="87080"/>
                                        </p:tgtEl>
                                        <p:attrNameLst>
                                          <p:attrName>style.visibility</p:attrName>
                                        </p:attrNameLst>
                                      </p:cBhvr>
                                      <p:to>
                                        <p:strVal val="visible"/>
                                      </p:to>
                                    </p:set>
                                    <p:animEffect transition="in" filter="strips(downLeft)">
                                      <p:cBhvr>
                                        <p:cTn id="25" dur="500"/>
                                        <p:tgtEl>
                                          <p:spTgt spid="8708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87090">
                                            <p:txEl>
                                              <p:pRg st="4" end="4"/>
                                            </p:txEl>
                                          </p:spTgt>
                                        </p:tgtEl>
                                        <p:attrNameLst>
                                          <p:attrName>style.visibility</p:attrName>
                                        </p:attrNameLst>
                                      </p:cBhvr>
                                      <p:to>
                                        <p:strVal val="visible"/>
                                      </p:to>
                                    </p:set>
                                    <p:animEffect transition="in" filter="wipe(left)">
                                      <p:cBhvr>
                                        <p:cTn id="30" dur="500"/>
                                        <p:tgtEl>
                                          <p:spTgt spid="87090">
                                            <p:txEl>
                                              <p:pRg st="4" end="4"/>
                                            </p:txEl>
                                          </p:spTgt>
                                        </p:tgtEl>
                                      </p:cBhvr>
                                    </p:animEffect>
                                  </p:childTnLst>
                                </p:cTn>
                              </p:par>
                            </p:childTnLst>
                          </p:cTn>
                        </p:par>
                        <p:par>
                          <p:cTn id="31" fill="hold" nodeType="afterGroup">
                            <p:stCondLst>
                              <p:cond delay="500"/>
                            </p:stCondLst>
                            <p:childTnLst>
                              <p:par>
                                <p:cTn id="32" presetID="18" presetClass="entr" presetSubtype="12" fill="hold" nodeType="afterEffect">
                                  <p:stCondLst>
                                    <p:cond delay="0"/>
                                  </p:stCondLst>
                                  <p:childTnLst>
                                    <p:set>
                                      <p:cBhvr>
                                        <p:cTn id="33" dur="1" fill="hold">
                                          <p:stCondLst>
                                            <p:cond delay="0"/>
                                          </p:stCondLst>
                                        </p:cTn>
                                        <p:tgtEl>
                                          <p:spTgt spid="87061"/>
                                        </p:tgtEl>
                                        <p:attrNameLst>
                                          <p:attrName>style.visibility</p:attrName>
                                        </p:attrNameLst>
                                      </p:cBhvr>
                                      <p:to>
                                        <p:strVal val="visible"/>
                                      </p:to>
                                    </p:set>
                                    <p:animEffect transition="in" filter="strips(downLeft)">
                                      <p:cBhvr>
                                        <p:cTn id="34" dur="500"/>
                                        <p:tgtEl>
                                          <p:spTgt spid="87061"/>
                                        </p:tgtEl>
                                      </p:cBhvr>
                                    </p:animEffect>
                                  </p:childTnLst>
                                </p:cTn>
                              </p:par>
                            </p:childTnLst>
                          </p:cTn>
                        </p:par>
                        <p:par>
                          <p:cTn id="35" fill="hold" nodeType="afterGroup">
                            <p:stCondLst>
                              <p:cond delay="1000"/>
                            </p:stCondLst>
                            <p:childTnLst>
                              <p:par>
                                <p:cTn id="36" presetID="22" presetClass="entr" presetSubtype="2" fill="hold" nodeType="afterEffect">
                                  <p:stCondLst>
                                    <p:cond delay="0"/>
                                  </p:stCondLst>
                                  <p:childTnLst>
                                    <p:set>
                                      <p:cBhvr>
                                        <p:cTn id="37" dur="1" fill="hold">
                                          <p:stCondLst>
                                            <p:cond delay="0"/>
                                          </p:stCondLst>
                                        </p:cTn>
                                        <p:tgtEl>
                                          <p:spTgt spid="87074"/>
                                        </p:tgtEl>
                                        <p:attrNameLst>
                                          <p:attrName>style.visibility</p:attrName>
                                        </p:attrNameLst>
                                      </p:cBhvr>
                                      <p:to>
                                        <p:strVal val="visible"/>
                                      </p:to>
                                    </p:set>
                                    <p:animEffect transition="in" filter="wipe(right)">
                                      <p:cBhvr>
                                        <p:cTn id="38" dur="500"/>
                                        <p:tgtEl>
                                          <p:spTgt spid="87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90" grpId="0" build="p" bldLvl="5"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EE914E13-2093-B208-1702-5978EDB536B1}"/>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666A6123-1548-1591-89D3-2A8F765DDCF4}"/>
              </a:ext>
            </a:extLst>
          </p:cNvPr>
          <p:cNvSpPr>
            <a:spLocks noGrp="1"/>
          </p:cNvSpPr>
          <p:nvPr>
            <p:ph type="sldNum" sz="quarter" idx="11"/>
          </p:nvPr>
        </p:nvSpPr>
        <p:spPr/>
        <p:txBody>
          <a:bodyPr/>
          <a:lstStyle/>
          <a:p>
            <a:fld id="{CFBE057A-3E77-4141-8534-43CF7CEF4FAF}" type="slidenum">
              <a:rPr lang="zh-CN" altLang="zh-CN"/>
              <a:pPr/>
              <a:t>74</a:t>
            </a:fld>
            <a:endParaRPr lang="zh-CN" altLang="zh-CN"/>
          </a:p>
        </p:txBody>
      </p:sp>
      <p:grpSp>
        <p:nvGrpSpPr>
          <p:cNvPr id="89090" name="Group 2">
            <a:extLst>
              <a:ext uri="{FF2B5EF4-FFF2-40B4-BE49-F238E27FC236}">
                <a16:creationId xmlns:a16="http://schemas.microsoft.com/office/drawing/2014/main" id="{E58AB9EF-E877-7A4F-DE86-89F0FBAAD628}"/>
              </a:ext>
            </a:extLst>
          </p:cNvPr>
          <p:cNvGrpSpPr>
            <a:grpSpLocks/>
          </p:cNvGrpSpPr>
          <p:nvPr/>
        </p:nvGrpSpPr>
        <p:grpSpPr bwMode="auto">
          <a:xfrm>
            <a:off x="3127825" y="747527"/>
            <a:ext cx="593871" cy="2219411"/>
            <a:chOff x="0" y="0"/>
            <a:chExt cx="742" cy="2773"/>
          </a:xfrm>
        </p:grpSpPr>
        <p:sp>
          <p:nvSpPr>
            <p:cNvPr id="89091" name="Line 3">
              <a:extLst>
                <a:ext uri="{FF2B5EF4-FFF2-40B4-BE49-F238E27FC236}">
                  <a16:creationId xmlns:a16="http://schemas.microsoft.com/office/drawing/2014/main" id="{0D6852EA-2204-AF94-B0CC-566681D891B6}"/>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092" name="Text Box 4">
              <a:extLst>
                <a:ext uri="{FF2B5EF4-FFF2-40B4-BE49-F238E27FC236}">
                  <a16:creationId xmlns:a16="http://schemas.microsoft.com/office/drawing/2014/main" id="{E7FC4C8C-DD40-0E00-9F36-2A50DA487E0C}"/>
                </a:ext>
              </a:extLst>
            </p:cNvPr>
            <p:cNvSpPr txBox="1">
              <a:spLocks noChangeArrowheads="1"/>
            </p:cNvSpPr>
            <p:nvPr/>
          </p:nvSpPr>
          <p:spPr bwMode="auto">
            <a:xfrm>
              <a:off x="0" y="0"/>
              <a:ext cx="74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89093" name="Rectangle 5">
              <a:extLst>
                <a:ext uri="{FF2B5EF4-FFF2-40B4-BE49-F238E27FC236}">
                  <a16:creationId xmlns:a16="http://schemas.microsoft.com/office/drawing/2014/main" id="{E8BFB0C3-F8A8-A9C1-2EC0-D0C5180AA8AB}"/>
                </a:ext>
              </a:extLst>
            </p:cNvPr>
            <p:cNvSpPr>
              <a:spLocks noChangeArrowheads="1"/>
            </p:cNvSpPr>
            <p:nvPr/>
          </p:nvSpPr>
          <p:spPr bwMode="auto">
            <a:xfrm>
              <a:off x="221" y="2425"/>
              <a:ext cx="455"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sp>
        <p:nvSpPr>
          <p:cNvPr id="89094" name="Rectangle 6">
            <a:extLst>
              <a:ext uri="{FF2B5EF4-FFF2-40B4-BE49-F238E27FC236}">
                <a16:creationId xmlns:a16="http://schemas.microsoft.com/office/drawing/2014/main" id="{9C19156F-B9E3-F2A0-123F-EED66CAC5622}"/>
              </a:ext>
            </a:extLst>
          </p:cNvPr>
          <p:cNvSpPr>
            <a:spLocks noGrp="1" noChangeArrowheads="1"/>
          </p:cNvSpPr>
          <p:nvPr>
            <p:ph type="title" idx="4294967295"/>
          </p:nvPr>
        </p:nvSpPr>
        <p:spPr>
          <a:xfrm>
            <a:off x="0" y="84025"/>
            <a:ext cx="4610100" cy="327349"/>
          </a:xfrm>
        </p:spPr>
        <p:txBody>
          <a:bodyPr/>
          <a:lstStyle/>
          <a:p>
            <a:r>
              <a:rPr lang="zh-CN" altLang="en-US" sz="1815">
                <a:ea typeface="宋体" panose="02010600030101010101" pitchFamily="2" charset="-122"/>
              </a:rPr>
              <a:t>短期总供给移动的影响</a:t>
            </a:r>
            <a:endParaRPr lang="zh-CN" altLang="en-US" sz="1815" i="1">
              <a:ea typeface="宋体" panose="02010600030101010101" pitchFamily="2" charset="-122"/>
            </a:endParaRPr>
          </a:p>
        </p:txBody>
      </p:sp>
      <p:sp>
        <p:nvSpPr>
          <p:cNvPr id="89095" name="Rectangle 7">
            <a:extLst>
              <a:ext uri="{FF2B5EF4-FFF2-40B4-BE49-F238E27FC236}">
                <a16:creationId xmlns:a16="http://schemas.microsoft.com/office/drawing/2014/main" id="{F2DC7AD3-FA83-6553-B3C9-ACC391507871}"/>
              </a:ext>
            </a:extLst>
          </p:cNvPr>
          <p:cNvSpPr>
            <a:spLocks noGrp="1" noChangeArrowheads="1"/>
          </p:cNvSpPr>
          <p:nvPr>
            <p:ph type="body" idx="4294967295"/>
          </p:nvPr>
        </p:nvSpPr>
        <p:spPr>
          <a:xfrm>
            <a:off x="154471" y="408173"/>
            <a:ext cx="2126568" cy="2847697"/>
          </a:xfrm>
        </p:spPr>
        <p:txBody>
          <a:bodyPr/>
          <a:lstStyle/>
          <a:p>
            <a:pPr marL="204107" indent="-204107">
              <a:lnSpc>
                <a:spcPct val="100000"/>
              </a:lnSpc>
              <a:spcBef>
                <a:spcPct val="25000"/>
              </a:spcBef>
              <a:buNone/>
            </a:pPr>
            <a:r>
              <a:rPr lang="zh-CN" altLang="zh-CN" u="sng" dirty="0">
                <a:ea typeface="宋体" panose="02010600030101010101" pitchFamily="2" charset="-122"/>
              </a:rPr>
              <a:t>事件：油价上涨</a:t>
            </a:r>
          </a:p>
          <a:p>
            <a:pPr marL="204107" indent="-204107">
              <a:lnSpc>
                <a:spcPct val="100000"/>
              </a:lnSpc>
              <a:spcBef>
                <a:spcPct val="25000"/>
              </a:spcBef>
              <a:buNone/>
            </a:pPr>
            <a:r>
              <a:rPr lang="zh-CN" altLang="zh-CN" b="1" dirty="0">
                <a:solidFill>
                  <a:srgbClr val="339966"/>
                </a:solidFill>
                <a:ea typeface="宋体" panose="02010600030101010101" pitchFamily="2" charset="-122"/>
              </a:rPr>
              <a:t>1. 	</a:t>
            </a:r>
            <a:r>
              <a:rPr lang="zh-CN" altLang="zh-CN" dirty="0">
                <a:ea typeface="宋体" panose="02010600030101010101" pitchFamily="2" charset="-122"/>
              </a:rPr>
              <a:t>成本上升，</a:t>
            </a:r>
            <a:r>
              <a:rPr lang="zh-CN" altLang="zh-CN" i="1" dirty="0">
                <a:ea typeface="宋体" panose="02010600030101010101" pitchFamily="2" charset="-122"/>
              </a:rPr>
              <a:t>SRAS曲线</a:t>
            </a:r>
            <a:r>
              <a:rPr lang="zh-CN" altLang="zh-CN" dirty="0">
                <a:ea typeface="宋体" panose="02010600030101010101" pitchFamily="2" charset="-122"/>
              </a:rPr>
              <a:t>移动（假设 LRAS 不变）</a:t>
            </a:r>
          </a:p>
          <a:p>
            <a:pPr marL="204107" indent="-204107">
              <a:lnSpc>
                <a:spcPct val="100000"/>
              </a:lnSpc>
              <a:spcBef>
                <a:spcPct val="25000"/>
              </a:spcBef>
              <a:buNone/>
            </a:pPr>
            <a:r>
              <a:rPr lang="zh-CN" altLang="zh-CN" b="1" dirty="0">
                <a:solidFill>
                  <a:srgbClr val="339966"/>
                </a:solidFill>
                <a:ea typeface="宋体" panose="02010600030101010101" pitchFamily="2" charset="-122"/>
              </a:rPr>
              <a:t>2. 	</a:t>
            </a:r>
            <a:r>
              <a:rPr lang="zh-CN" altLang="zh-CN" i="1" dirty="0">
                <a:ea typeface="宋体" panose="02010600030101010101" pitchFamily="2" charset="-122"/>
              </a:rPr>
              <a:t>SRAS</a:t>
            </a:r>
            <a:r>
              <a:rPr lang="zh-CN" altLang="zh-CN" dirty="0">
                <a:ea typeface="宋体" panose="02010600030101010101" pitchFamily="2" charset="-122"/>
              </a:rPr>
              <a:t>曲线向左移动</a:t>
            </a:r>
          </a:p>
          <a:p>
            <a:pPr marL="204107" indent="-204107">
              <a:lnSpc>
                <a:spcPct val="100000"/>
              </a:lnSpc>
              <a:spcBef>
                <a:spcPct val="25000"/>
              </a:spcBef>
              <a:buNone/>
            </a:pPr>
            <a:r>
              <a:rPr lang="zh-CN" altLang="zh-CN" b="1" dirty="0">
                <a:solidFill>
                  <a:srgbClr val="339966"/>
                </a:solidFill>
                <a:ea typeface="宋体" panose="02010600030101010101" pitchFamily="2" charset="-122"/>
              </a:rPr>
              <a:t>3. 	</a:t>
            </a:r>
            <a:r>
              <a:rPr lang="zh-CN" altLang="zh-CN" dirty="0">
                <a:ea typeface="宋体" panose="02010600030101010101" pitchFamily="2" charset="-122"/>
              </a:rPr>
              <a:t>短期均衡在点B，</a:t>
            </a:r>
            <a:r>
              <a:rPr lang="zh-CN" altLang="zh-CN" b="1" i="1" dirty="0">
                <a:ea typeface="宋体" panose="02010600030101010101" pitchFamily="2" charset="-122"/>
              </a:rPr>
              <a:t>P</a:t>
            </a:r>
            <a:r>
              <a:rPr lang="zh-CN" altLang="zh-CN" dirty="0">
                <a:ea typeface="宋体" panose="02010600030101010101" pitchFamily="2" charset="-122"/>
              </a:rPr>
              <a:t>上升，</a:t>
            </a:r>
            <a:r>
              <a:rPr lang="zh-CN" altLang="zh-CN" b="1" i="1" dirty="0">
                <a:ea typeface="宋体" panose="02010600030101010101" pitchFamily="2" charset="-122"/>
              </a:rPr>
              <a:t>Y</a:t>
            </a:r>
            <a:r>
              <a:rPr lang="zh-CN" altLang="zh-CN" dirty="0">
                <a:ea typeface="宋体" panose="02010600030101010101" pitchFamily="2" charset="-122"/>
              </a:rPr>
              <a:t>下降，失业率上升</a:t>
            </a:r>
          </a:p>
          <a:p>
            <a:pPr marL="204107" indent="-204107">
              <a:lnSpc>
                <a:spcPct val="100000"/>
              </a:lnSpc>
              <a:spcBef>
                <a:spcPct val="25000"/>
              </a:spcBef>
              <a:buNone/>
            </a:pPr>
            <a:r>
              <a:rPr lang="zh-CN" altLang="zh-CN" dirty="0">
                <a:ea typeface="宋体" panose="02010600030101010101" pitchFamily="2" charset="-122"/>
              </a:rPr>
              <a:t>    从A点到B点，</a:t>
            </a:r>
            <a:r>
              <a:rPr lang="zh-CN" altLang="zh-CN" b="1" dirty="0">
                <a:solidFill>
                  <a:srgbClr val="CC0000"/>
                </a:solidFill>
                <a:ea typeface="宋体" panose="02010600030101010101" pitchFamily="2" charset="-122"/>
              </a:rPr>
              <a:t>滞</a:t>
            </a:r>
            <a:r>
              <a:rPr lang="zh-CN" altLang="en-US" b="1" dirty="0">
                <a:solidFill>
                  <a:srgbClr val="CC0000"/>
                </a:solidFill>
                <a:ea typeface="宋体" panose="02010600030101010101" pitchFamily="2" charset="-122"/>
              </a:rPr>
              <a:t>胀</a:t>
            </a:r>
            <a:r>
              <a:rPr lang="zh-CN" altLang="zh-CN" b="1" dirty="0">
                <a:solidFill>
                  <a:srgbClr val="CC0000"/>
                </a:solidFill>
                <a:ea typeface="宋体" panose="02010600030101010101" pitchFamily="2" charset="-122"/>
              </a:rPr>
              <a:t>：</a:t>
            </a:r>
            <a:br>
              <a:rPr lang="zh-CN" altLang="zh-CN" dirty="0">
                <a:ea typeface="宋体" panose="02010600030101010101" pitchFamily="2" charset="-122"/>
              </a:rPr>
            </a:br>
            <a:r>
              <a:rPr lang="zh-CN" altLang="zh-CN" dirty="0">
                <a:ea typeface="宋体" panose="02010600030101010101" pitchFamily="2" charset="-122"/>
              </a:rPr>
              <a:t>产出下降而物价水平上升的一段时期</a:t>
            </a:r>
          </a:p>
        </p:txBody>
      </p:sp>
      <p:grpSp>
        <p:nvGrpSpPr>
          <p:cNvPr id="89096" name="Group 8">
            <a:extLst>
              <a:ext uri="{FF2B5EF4-FFF2-40B4-BE49-F238E27FC236}">
                <a16:creationId xmlns:a16="http://schemas.microsoft.com/office/drawing/2014/main" id="{CE1F390A-5C0C-4F45-3AE1-9D10E229CF4E}"/>
              </a:ext>
            </a:extLst>
          </p:cNvPr>
          <p:cNvGrpSpPr>
            <a:grpSpLocks/>
          </p:cNvGrpSpPr>
          <p:nvPr/>
        </p:nvGrpSpPr>
        <p:grpSpPr bwMode="auto">
          <a:xfrm>
            <a:off x="2321858" y="719515"/>
            <a:ext cx="2013717" cy="2119312"/>
            <a:chOff x="0" y="0"/>
            <a:chExt cx="2786" cy="2477"/>
          </a:xfrm>
        </p:grpSpPr>
        <p:grpSp>
          <p:nvGrpSpPr>
            <p:cNvPr id="89097" name="Group 9">
              <a:extLst>
                <a:ext uri="{FF2B5EF4-FFF2-40B4-BE49-F238E27FC236}">
                  <a16:creationId xmlns:a16="http://schemas.microsoft.com/office/drawing/2014/main" id="{5933057F-6C95-DBF1-2044-30775007BB92}"/>
                </a:ext>
              </a:extLst>
            </p:cNvPr>
            <p:cNvGrpSpPr>
              <a:grpSpLocks/>
            </p:cNvGrpSpPr>
            <p:nvPr/>
          </p:nvGrpSpPr>
          <p:grpSpPr bwMode="auto">
            <a:xfrm>
              <a:off x="118" y="252"/>
              <a:ext cx="2409" cy="2049"/>
              <a:chOff x="0" y="0"/>
              <a:chExt cx="2116" cy="2027"/>
            </a:xfrm>
          </p:grpSpPr>
          <p:sp>
            <p:nvSpPr>
              <p:cNvPr id="89098" name="Line 10">
                <a:extLst>
                  <a:ext uri="{FF2B5EF4-FFF2-40B4-BE49-F238E27FC236}">
                    <a16:creationId xmlns:a16="http://schemas.microsoft.com/office/drawing/2014/main" id="{DAF4D12D-1D16-5961-5DAD-0702713FAD97}"/>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099" name="Line 11">
                <a:extLst>
                  <a:ext uri="{FF2B5EF4-FFF2-40B4-BE49-F238E27FC236}">
                    <a16:creationId xmlns:a16="http://schemas.microsoft.com/office/drawing/2014/main" id="{390C1107-5476-A8C8-A1E4-775EB02DECEA}"/>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9100" name="Text Box 12">
              <a:extLst>
                <a:ext uri="{FF2B5EF4-FFF2-40B4-BE49-F238E27FC236}">
                  <a16:creationId xmlns:a16="http://schemas.microsoft.com/office/drawing/2014/main" id="{D622647F-31D2-5C4E-D186-AE666E6E93BE}"/>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89101" name="Text Box 13">
              <a:extLst>
                <a:ext uri="{FF2B5EF4-FFF2-40B4-BE49-F238E27FC236}">
                  <a16:creationId xmlns:a16="http://schemas.microsoft.com/office/drawing/2014/main" id="{FC08A2C4-70BB-96CA-4C6C-0F4D5B35DCCC}"/>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89102" name="Group 14">
            <a:extLst>
              <a:ext uri="{FF2B5EF4-FFF2-40B4-BE49-F238E27FC236}">
                <a16:creationId xmlns:a16="http://schemas.microsoft.com/office/drawing/2014/main" id="{91FD4769-D244-59ED-2FFA-2243A0784771}"/>
              </a:ext>
            </a:extLst>
          </p:cNvPr>
          <p:cNvGrpSpPr>
            <a:grpSpLocks/>
          </p:cNvGrpSpPr>
          <p:nvPr/>
        </p:nvGrpSpPr>
        <p:grpSpPr bwMode="auto">
          <a:xfrm>
            <a:off x="2693227" y="1291776"/>
            <a:ext cx="1577519" cy="1363821"/>
            <a:chOff x="0" y="0"/>
            <a:chExt cx="1971" cy="1704"/>
          </a:xfrm>
        </p:grpSpPr>
        <p:sp>
          <p:nvSpPr>
            <p:cNvPr id="89103" name="Line 15">
              <a:extLst>
                <a:ext uri="{FF2B5EF4-FFF2-40B4-BE49-F238E27FC236}">
                  <a16:creationId xmlns:a16="http://schemas.microsoft.com/office/drawing/2014/main" id="{1260AC67-8CA4-31AE-6BAA-77BA7F3C8BD2}"/>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104" name="Text Box 16">
              <a:extLst>
                <a:ext uri="{FF2B5EF4-FFF2-40B4-BE49-F238E27FC236}">
                  <a16:creationId xmlns:a16="http://schemas.microsoft.com/office/drawing/2014/main" id="{289D7E6B-ADF9-2F97-F023-1F6E51A2B9D1}"/>
                </a:ext>
              </a:extLst>
            </p:cNvPr>
            <p:cNvSpPr txBox="1">
              <a:spLocks noChangeArrowheads="1"/>
            </p:cNvSpPr>
            <p:nvPr/>
          </p:nvSpPr>
          <p:spPr bwMode="auto">
            <a:xfrm>
              <a:off x="1388" y="1356"/>
              <a:ext cx="583"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1</a:t>
              </a:r>
            </a:p>
          </p:txBody>
        </p:sp>
      </p:grpSp>
      <p:grpSp>
        <p:nvGrpSpPr>
          <p:cNvPr id="89105" name="Group 17">
            <a:extLst>
              <a:ext uri="{FF2B5EF4-FFF2-40B4-BE49-F238E27FC236}">
                <a16:creationId xmlns:a16="http://schemas.microsoft.com/office/drawing/2014/main" id="{00199539-5512-739D-35A2-C15E5AB7E9DB}"/>
              </a:ext>
            </a:extLst>
          </p:cNvPr>
          <p:cNvGrpSpPr>
            <a:grpSpLocks/>
          </p:cNvGrpSpPr>
          <p:nvPr/>
        </p:nvGrpSpPr>
        <p:grpSpPr bwMode="auto">
          <a:xfrm>
            <a:off x="2919730" y="1347801"/>
            <a:ext cx="1611134" cy="1126913"/>
            <a:chOff x="0" y="0"/>
            <a:chExt cx="2013" cy="1408"/>
          </a:xfrm>
        </p:grpSpPr>
        <p:sp>
          <p:nvSpPr>
            <p:cNvPr id="89106" name="Line 18">
              <a:extLst>
                <a:ext uri="{FF2B5EF4-FFF2-40B4-BE49-F238E27FC236}">
                  <a16:creationId xmlns:a16="http://schemas.microsoft.com/office/drawing/2014/main" id="{7681784F-635F-684B-A15F-20C0EFA33D09}"/>
                </a:ext>
              </a:extLst>
            </p:cNvPr>
            <p:cNvSpPr>
              <a:spLocks noChangeShapeType="1"/>
            </p:cNvSpPr>
            <p:nvPr/>
          </p:nvSpPr>
          <p:spPr bwMode="auto">
            <a:xfrm flipV="1">
              <a:off x="0" y="252"/>
              <a:ext cx="1256" cy="115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107" name="Text Box 19">
              <a:extLst>
                <a:ext uri="{FF2B5EF4-FFF2-40B4-BE49-F238E27FC236}">
                  <a16:creationId xmlns:a16="http://schemas.microsoft.com/office/drawing/2014/main" id="{D5809159-41ED-A71E-4706-C908743C15F9}"/>
                </a:ext>
              </a:extLst>
            </p:cNvPr>
            <p:cNvSpPr txBox="1">
              <a:spLocks noChangeArrowheads="1"/>
            </p:cNvSpPr>
            <p:nvPr/>
          </p:nvSpPr>
          <p:spPr bwMode="auto">
            <a:xfrm>
              <a:off x="1153" y="0"/>
              <a:ext cx="86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1</a:t>
              </a:r>
            </a:p>
          </p:txBody>
        </p:sp>
      </p:grpSp>
      <p:grpSp>
        <p:nvGrpSpPr>
          <p:cNvPr id="89108" name="Group 20">
            <a:extLst>
              <a:ext uri="{FF2B5EF4-FFF2-40B4-BE49-F238E27FC236}">
                <a16:creationId xmlns:a16="http://schemas.microsoft.com/office/drawing/2014/main" id="{8AD2E6C7-687C-3898-732A-15F10BC4B03A}"/>
              </a:ext>
            </a:extLst>
          </p:cNvPr>
          <p:cNvGrpSpPr>
            <a:grpSpLocks/>
          </p:cNvGrpSpPr>
          <p:nvPr/>
        </p:nvGrpSpPr>
        <p:grpSpPr bwMode="auto">
          <a:xfrm>
            <a:off x="2568370" y="985236"/>
            <a:ext cx="1838437" cy="1228559"/>
            <a:chOff x="0" y="0"/>
            <a:chExt cx="2297" cy="1535"/>
          </a:xfrm>
        </p:grpSpPr>
        <p:sp>
          <p:nvSpPr>
            <p:cNvPr id="89109" name="Line 24">
              <a:extLst>
                <a:ext uri="{FF2B5EF4-FFF2-40B4-BE49-F238E27FC236}">
                  <a16:creationId xmlns:a16="http://schemas.microsoft.com/office/drawing/2014/main" id="{462FA217-4EC9-5F9C-FF9D-6F2BE06E1F0A}"/>
                </a:ext>
              </a:extLst>
            </p:cNvPr>
            <p:cNvSpPr>
              <a:spLocks noChangeShapeType="1"/>
            </p:cNvSpPr>
            <p:nvPr/>
          </p:nvSpPr>
          <p:spPr bwMode="auto">
            <a:xfrm flipV="1">
              <a:off x="0" y="218"/>
              <a:ext cx="1407" cy="131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110" name="Text Box 25">
              <a:extLst>
                <a:ext uri="{FF2B5EF4-FFF2-40B4-BE49-F238E27FC236}">
                  <a16:creationId xmlns:a16="http://schemas.microsoft.com/office/drawing/2014/main" id="{E58D3E98-FC4E-9155-558D-38D57E9734AE}"/>
                </a:ext>
              </a:extLst>
            </p:cNvPr>
            <p:cNvSpPr txBox="1">
              <a:spLocks noChangeArrowheads="1"/>
            </p:cNvSpPr>
            <p:nvPr/>
          </p:nvSpPr>
          <p:spPr bwMode="auto">
            <a:xfrm>
              <a:off x="1350" y="0"/>
              <a:ext cx="947"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2</a:t>
              </a:r>
            </a:p>
          </p:txBody>
        </p:sp>
      </p:grpSp>
      <p:grpSp>
        <p:nvGrpSpPr>
          <p:cNvPr id="89111" name="Group 23">
            <a:extLst>
              <a:ext uri="{FF2B5EF4-FFF2-40B4-BE49-F238E27FC236}">
                <a16:creationId xmlns:a16="http://schemas.microsoft.com/office/drawing/2014/main" id="{0300E0D5-5244-EB99-E4B1-F5C53B6C85EC}"/>
              </a:ext>
            </a:extLst>
          </p:cNvPr>
          <p:cNvGrpSpPr>
            <a:grpSpLocks/>
          </p:cNvGrpSpPr>
          <p:nvPr/>
        </p:nvGrpSpPr>
        <p:grpSpPr bwMode="auto">
          <a:xfrm>
            <a:off x="2158584" y="1904855"/>
            <a:ext cx="1478273" cy="203293"/>
            <a:chOff x="0" y="0"/>
            <a:chExt cx="1847" cy="254"/>
          </a:xfrm>
        </p:grpSpPr>
        <p:grpSp>
          <p:nvGrpSpPr>
            <p:cNvPr id="89112" name="Group 24">
              <a:extLst>
                <a:ext uri="{FF2B5EF4-FFF2-40B4-BE49-F238E27FC236}">
                  <a16:creationId xmlns:a16="http://schemas.microsoft.com/office/drawing/2014/main" id="{30E2B84A-DE23-F48E-60F4-F90971A40C89}"/>
                </a:ext>
              </a:extLst>
            </p:cNvPr>
            <p:cNvGrpSpPr>
              <a:grpSpLocks/>
            </p:cNvGrpSpPr>
            <p:nvPr/>
          </p:nvGrpSpPr>
          <p:grpSpPr bwMode="auto">
            <a:xfrm>
              <a:off x="0" y="21"/>
              <a:ext cx="1622" cy="233"/>
              <a:chOff x="0" y="0"/>
              <a:chExt cx="1622" cy="233"/>
            </a:xfrm>
          </p:grpSpPr>
          <p:sp>
            <p:nvSpPr>
              <p:cNvPr id="89113" name="Line 26">
                <a:extLst>
                  <a:ext uri="{FF2B5EF4-FFF2-40B4-BE49-F238E27FC236}">
                    <a16:creationId xmlns:a16="http://schemas.microsoft.com/office/drawing/2014/main" id="{1C545E04-1B1F-3BE6-97A7-B55A5A630D35}"/>
                  </a:ext>
                </a:extLst>
              </p:cNvPr>
              <p:cNvSpPr>
                <a:spLocks noChangeShapeType="1"/>
              </p:cNvSpPr>
              <p:nvPr/>
            </p:nvSpPr>
            <p:spPr bwMode="auto">
              <a:xfrm flipV="1">
                <a:off x="312" y="116"/>
                <a:ext cx="12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114" name="Text Box 27">
                <a:extLst>
                  <a:ext uri="{FF2B5EF4-FFF2-40B4-BE49-F238E27FC236}">
                    <a16:creationId xmlns:a16="http://schemas.microsoft.com/office/drawing/2014/main" id="{76FCD9F7-027D-17A1-EB92-1EC6386403E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1</a:t>
                </a:r>
              </a:p>
            </p:txBody>
          </p:sp>
          <p:sp>
            <p:nvSpPr>
              <p:cNvPr id="89115" name="Oval 28">
                <a:extLst>
                  <a:ext uri="{FF2B5EF4-FFF2-40B4-BE49-F238E27FC236}">
                    <a16:creationId xmlns:a16="http://schemas.microsoft.com/office/drawing/2014/main" id="{1979359A-CC13-4D4B-18DD-FE6E75DADB82}"/>
                  </a:ext>
                </a:extLst>
              </p:cNvPr>
              <p:cNvSpPr>
                <a:spLocks noChangeArrowheads="1"/>
              </p:cNvSpPr>
              <p:nvPr/>
            </p:nvSpPr>
            <p:spPr bwMode="auto">
              <a:xfrm>
                <a:off x="1534"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89116" name="Text Box 38">
              <a:extLst>
                <a:ext uri="{FF2B5EF4-FFF2-40B4-BE49-F238E27FC236}">
                  <a16:creationId xmlns:a16="http://schemas.microsoft.com/office/drawing/2014/main" id="{CB5D833D-8473-1C84-EAAE-BF88D8BAB32C}"/>
                </a:ext>
              </a:extLst>
            </p:cNvPr>
            <p:cNvSpPr txBox="1">
              <a:spLocks noChangeArrowheads="1"/>
            </p:cNvSpPr>
            <p:nvPr/>
          </p:nvSpPr>
          <p:spPr bwMode="auto">
            <a:xfrm>
              <a:off x="1646"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A</a:t>
              </a:r>
              <a:endParaRPr lang="en-US" altLang="zh-CN" sz="1210" baseline="-25000">
                <a:ea typeface="宋体" panose="02010600030101010101" pitchFamily="2" charset="-122"/>
              </a:endParaRPr>
            </a:p>
          </p:txBody>
        </p:sp>
      </p:grpSp>
      <p:grpSp>
        <p:nvGrpSpPr>
          <p:cNvPr id="89117" name="Group 29">
            <a:extLst>
              <a:ext uri="{FF2B5EF4-FFF2-40B4-BE49-F238E27FC236}">
                <a16:creationId xmlns:a16="http://schemas.microsoft.com/office/drawing/2014/main" id="{E539CF28-AA8E-EEF3-8588-10C88AAE76A1}"/>
              </a:ext>
            </a:extLst>
          </p:cNvPr>
          <p:cNvGrpSpPr>
            <a:grpSpLocks/>
          </p:cNvGrpSpPr>
          <p:nvPr/>
        </p:nvGrpSpPr>
        <p:grpSpPr bwMode="auto">
          <a:xfrm>
            <a:off x="2158584" y="1490266"/>
            <a:ext cx="1096499" cy="1404640"/>
            <a:chOff x="0" y="0"/>
            <a:chExt cx="1370" cy="1755"/>
          </a:xfrm>
        </p:grpSpPr>
        <p:sp>
          <p:nvSpPr>
            <p:cNvPr id="89118" name="Oval 30">
              <a:extLst>
                <a:ext uri="{FF2B5EF4-FFF2-40B4-BE49-F238E27FC236}">
                  <a16:creationId xmlns:a16="http://schemas.microsoft.com/office/drawing/2014/main" id="{D2A14E73-92DD-A531-FF8B-DE9E8E8DF884}"/>
                </a:ext>
              </a:extLst>
            </p:cNvPr>
            <p:cNvSpPr>
              <a:spLocks noChangeArrowheads="1"/>
            </p:cNvSpPr>
            <p:nvPr/>
          </p:nvSpPr>
          <p:spPr bwMode="auto">
            <a:xfrm>
              <a:off x="1145" y="22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nvGrpSpPr>
            <p:cNvPr id="89119" name="Group 31">
              <a:extLst>
                <a:ext uri="{FF2B5EF4-FFF2-40B4-BE49-F238E27FC236}">
                  <a16:creationId xmlns:a16="http://schemas.microsoft.com/office/drawing/2014/main" id="{CFE08F0F-94F6-018E-0E0D-CC17038BB54D}"/>
                </a:ext>
              </a:extLst>
            </p:cNvPr>
            <p:cNvGrpSpPr>
              <a:grpSpLocks/>
            </p:cNvGrpSpPr>
            <p:nvPr/>
          </p:nvGrpSpPr>
          <p:grpSpPr bwMode="auto">
            <a:xfrm>
              <a:off x="314" y="268"/>
              <a:ext cx="875" cy="1230"/>
              <a:chOff x="0" y="0"/>
              <a:chExt cx="795" cy="646"/>
            </a:xfrm>
          </p:grpSpPr>
          <p:sp>
            <p:nvSpPr>
              <p:cNvPr id="89120" name="Line 32">
                <a:extLst>
                  <a:ext uri="{FF2B5EF4-FFF2-40B4-BE49-F238E27FC236}">
                    <a16:creationId xmlns:a16="http://schemas.microsoft.com/office/drawing/2014/main" id="{8FA8EE0F-5860-3AC1-0D32-DF6BEC7DA026}"/>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89121" name="Line 33">
                <a:extLst>
                  <a:ext uri="{FF2B5EF4-FFF2-40B4-BE49-F238E27FC236}">
                    <a16:creationId xmlns:a16="http://schemas.microsoft.com/office/drawing/2014/main" id="{296240A9-60E9-4662-A174-CA5A7064A5E6}"/>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89122" name="Text Box 34">
              <a:extLst>
                <a:ext uri="{FF2B5EF4-FFF2-40B4-BE49-F238E27FC236}">
                  <a16:creationId xmlns:a16="http://schemas.microsoft.com/office/drawing/2014/main" id="{B8676E67-10E6-75B3-39ED-A1AAE861D5FF}"/>
                </a:ext>
              </a:extLst>
            </p:cNvPr>
            <p:cNvSpPr txBox="1">
              <a:spLocks noChangeArrowheads="1"/>
            </p:cNvSpPr>
            <p:nvPr/>
          </p:nvSpPr>
          <p:spPr bwMode="auto">
            <a:xfrm>
              <a:off x="0" y="15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2</a:t>
              </a:r>
            </a:p>
          </p:txBody>
        </p:sp>
        <p:sp>
          <p:nvSpPr>
            <p:cNvPr id="89123" name="Text Box 37">
              <a:extLst>
                <a:ext uri="{FF2B5EF4-FFF2-40B4-BE49-F238E27FC236}">
                  <a16:creationId xmlns:a16="http://schemas.microsoft.com/office/drawing/2014/main" id="{B7DCEE1A-6DA2-9B80-0AFE-59FB65AB0B9A}"/>
                </a:ext>
              </a:extLst>
            </p:cNvPr>
            <p:cNvSpPr txBox="1">
              <a:spLocks noChangeArrowheads="1"/>
            </p:cNvSpPr>
            <p:nvPr/>
          </p:nvSpPr>
          <p:spPr bwMode="auto">
            <a:xfrm>
              <a:off x="1062" y="152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2</a:t>
              </a:r>
            </a:p>
          </p:txBody>
        </p:sp>
        <p:sp>
          <p:nvSpPr>
            <p:cNvPr id="89124" name="Text Box 39">
              <a:extLst>
                <a:ext uri="{FF2B5EF4-FFF2-40B4-BE49-F238E27FC236}">
                  <a16:creationId xmlns:a16="http://schemas.microsoft.com/office/drawing/2014/main" id="{81FCEF0B-E66D-F625-8E35-51A8126C3D61}"/>
                </a:ext>
              </a:extLst>
            </p:cNvPr>
            <p:cNvSpPr txBox="1">
              <a:spLocks noChangeArrowheads="1"/>
            </p:cNvSpPr>
            <p:nvPr/>
          </p:nvSpPr>
          <p:spPr bwMode="auto">
            <a:xfrm>
              <a:off x="1100"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B</a:t>
              </a:r>
              <a:endParaRPr lang="en-US" altLang="zh-CN" sz="1210" baseline="-25000">
                <a:ea typeface="宋体" panose="02010600030101010101" pitchFamily="2" charset="-122"/>
              </a:endParaRPr>
            </a:p>
          </p:txBody>
        </p:sp>
      </p:grpSp>
      <p:sp>
        <p:nvSpPr>
          <p:cNvPr id="89125" name="Line 56">
            <a:extLst>
              <a:ext uri="{FF2B5EF4-FFF2-40B4-BE49-F238E27FC236}">
                <a16:creationId xmlns:a16="http://schemas.microsoft.com/office/drawing/2014/main" id="{AF7BCED0-2BC2-CA40-127B-4BCA56D24242}"/>
              </a:ext>
            </a:extLst>
          </p:cNvPr>
          <p:cNvSpPr>
            <a:spLocks noChangeShapeType="1"/>
          </p:cNvSpPr>
          <p:nvPr/>
        </p:nvSpPr>
        <p:spPr bwMode="auto">
          <a:xfrm flipH="1">
            <a:off x="3115820" y="2665201"/>
            <a:ext cx="290532" cy="0"/>
          </a:xfrm>
          <a:prstGeom prst="line">
            <a:avLst/>
          </a:prstGeom>
          <a:noFill/>
          <a:ln w="38100">
            <a:solidFill>
              <a:srgbClr val="FF66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dirty="0"/>
          </a:p>
        </p:txBody>
      </p:sp>
      <p:sp>
        <p:nvSpPr>
          <p:cNvPr id="89126" name="Line 57">
            <a:extLst>
              <a:ext uri="{FF2B5EF4-FFF2-40B4-BE49-F238E27FC236}">
                <a16:creationId xmlns:a16="http://schemas.microsoft.com/office/drawing/2014/main" id="{0A2D2A5D-BFFC-024A-35ED-07B469C8913F}"/>
              </a:ext>
            </a:extLst>
          </p:cNvPr>
          <p:cNvSpPr>
            <a:spLocks noChangeShapeType="1"/>
          </p:cNvSpPr>
          <p:nvPr/>
        </p:nvSpPr>
        <p:spPr bwMode="auto">
          <a:xfrm flipV="1">
            <a:off x="2433909" y="1711967"/>
            <a:ext cx="0" cy="291333"/>
          </a:xfrm>
          <a:prstGeom prst="line">
            <a:avLst/>
          </a:prstGeom>
          <a:noFill/>
          <a:ln w="38100">
            <a:solidFill>
              <a:srgbClr val="FF66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89127" name="FlagCount" hidden="1">
            <a:hlinkClick r:id="rId3" action="ppaction://hlinkfile"/>
            <a:extLst>
              <a:ext uri="{FF2B5EF4-FFF2-40B4-BE49-F238E27FC236}">
                <a16:creationId xmlns:a16="http://schemas.microsoft.com/office/drawing/2014/main" id="{F5D3620A-BFE3-4FD5-BB76-C405C83D3E9F}"/>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201556728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9095">
                                            <p:txEl>
                                              <p:pRg st="0" end="0"/>
                                            </p:txEl>
                                          </p:spTgt>
                                        </p:tgtEl>
                                        <p:attrNameLst>
                                          <p:attrName>style.visibility</p:attrName>
                                        </p:attrNameLst>
                                      </p:cBhvr>
                                      <p:to>
                                        <p:strVal val="visible"/>
                                      </p:to>
                                    </p:set>
                                    <p:animEffect transition="in" filter="wipe(left)">
                                      <p:cBhvr>
                                        <p:cTn id="7" dur="500"/>
                                        <p:tgtEl>
                                          <p:spTgt spid="890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9095">
                                            <p:txEl>
                                              <p:pRg st="1" end="1"/>
                                            </p:txEl>
                                          </p:spTgt>
                                        </p:tgtEl>
                                        <p:attrNameLst>
                                          <p:attrName>style.visibility</p:attrName>
                                        </p:attrNameLst>
                                      </p:cBhvr>
                                      <p:to>
                                        <p:strVal val="visible"/>
                                      </p:to>
                                    </p:set>
                                    <p:animEffect transition="in" filter="wipe(left)">
                                      <p:cBhvr>
                                        <p:cTn id="12" dur="500"/>
                                        <p:tgtEl>
                                          <p:spTgt spid="890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9095">
                                            <p:txEl>
                                              <p:pRg st="2" end="2"/>
                                            </p:txEl>
                                          </p:spTgt>
                                        </p:tgtEl>
                                        <p:attrNameLst>
                                          <p:attrName>style.visibility</p:attrName>
                                        </p:attrNameLst>
                                      </p:cBhvr>
                                      <p:to>
                                        <p:strVal val="visible"/>
                                      </p:to>
                                    </p:set>
                                    <p:animEffect transition="in" filter="wipe(left)">
                                      <p:cBhvr>
                                        <p:cTn id="17" dur="500"/>
                                        <p:tgtEl>
                                          <p:spTgt spid="89095">
                                            <p:txEl>
                                              <p:pRg st="2" end="2"/>
                                            </p:txEl>
                                          </p:spTgt>
                                        </p:tgtEl>
                                      </p:cBhvr>
                                    </p:animEffect>
                                  </p:childTnLst>
                                </p:cTn>
                              </p:par>
                            </p:childTnLst>
                          </p:cTn>
                        </p:par>
                        <p:par>
                          <p:cTn id="18" fill="hold" nodeType="afterGroup">
                            <p:stCondLst>
                              <p:cond delay="500"/>
                            </p:stCondLst>
                            <p:childTnLst>
                              <p:par>
                                <p:cTn id="19" presetID="18" presetClass="entr" presetSubtype="12" fill="hold" nodeType="afterEffect">
                                  <p:stCondLst>
                                    <p:cond delay="0"/>
                                  </p:stCondLst>
                                  <p:childTnLst>
                                    <p:set>
                                      <p:cBhvr>
                                        <p:cTn id="20" dur="1" fill="hold">
                                          <p:stCondLst>
                                            <p:cond delay="0"/>
                                          </p:stCondLst>
                                        </p:cTn>
                                        <p:tgtEl>
                                          <p:spTgt spid="89108"/>
                                        </p:tgtEl>
                                        <p:attrNameLst>
                                          <p:attrName>style.visibility</p:attrName>
                                        </p:attrNameLst>
                                      </p:cBhvr>
                                      <p:to>
                                        <p:strVal val="visible"/>
                                      </p:to>
                                    </p:set>
                                    <p:animEffect transition="in" filter="strips(downLeft)">
                                      <p:cBhvr>
                                        <p:cTn id="21" dur="500"/>
                                        <p:tgtEl>
                                          <p:spTgt spid="8910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89095">
                                            <p:txEl>
                                              <p:pRg st="3" end="3"/>
                                            </p:txEl>
                                          </p:spTgt>
                                        </p:tgtEl>
                                        <p:attrNameLst>
                                          <p:attrName>style.visibility</p:attrName>
                                        </p:attrNameLst>
                                      </p:cBhvr>
                                      <p:to>
                                        <p:strVal val="visible"/>
                                      </p:to>
                                    </p:set>
                                    <p:animEffect transition="in" filter="wipe(left)">
                                      <p:cBhvr>
                                        <p:cTn id="26" dur="500"/>
                                        <p:tgtEl>
                                          <p:spTgt spid="89095">
                                            <p:txEl>
                                              <p:pRg st="3" end="3"/>
                                            </p:txEl>
                                          </p:spTgt>
                                        </p:tgtEl>
                                      </p:cBhvr>
                                    </p:animEffect>
                                  </p:childTnLst>
                                </p:cTn>
                              </p:par>
                            </p:childTnLst>
                          </p:cTn>
                        </p:par>
                        <p:par>
                          <p:cTn id="27" fill="hold" nodeType="afterGroup">
                            <p:stCondLst>
                              <p:cond delay="500"/>
                            </p:stCondLst>
                            <p:childTnLst>
                              <p:par>
                                <p:cTn id="28" presetID="18" presetClass="entr" presetSubtype="12" fill="hold" nodeType="afterEffect">
                                  <p:stCondLst>
                                    <p:cond delay="0"/>
                                  </p:stCondLst>
                                  <p:childTnLst>
                                    <p:set>
                                      <p:cBhvr>
                                        <p:cTn id="29" dur="1" fill="hold">
                                          <p:stCondLst>
                                            <p:cond delay="0"/>
                                          </p:stCondLst>
                                        </p:cTn>
                                        <p:tgtEl>
                                          <p:spTgt spid="89117"/>
                                        </p:tgtEl>
                                        <p:attrNameLst>
                                          <p:attrName>style.visibility</p:attrName>
                                        </p:attrNameLst>
                                      </p:cBhvr>
                                      <p:to>
                                        <p:strVal val="visible"/>
                                      </p:to>
                                    </p:set>
                                    <p:animEffect transition="in" filter="strips(downLeft)">
                                      <p:cBhvr>
                                        <p:cTn id="30" dur="500"/>
                                        <p:tgtEl>
                                          <p:spTgt spid="8911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89095">
                                            <p:txEl>
                                              <p:pRg st="4" end="4"/>
                                            </p:txEl>
                                          </p:spTgt>
                                        </p:tgtEl>
                                        <p:attrNameLst>
                                          <p:attrName>style.visibility</p:attrName>
                                        </p:attrNameLst>
                                      </p:cBhvr>
                                      <p:to>
                                        <p:strVal val="visible"/>
                                      </p:to>
                                    </p:set>
                                    <p:animEffect transition="in" filter="wipe(left)">
                                      <p:cBhvr>
                                        <p:cTn id="35" dur="500"/>
                                        <p:tgtEl>
                                          <p:spTgt spid="89095">
                                            <p:txEl>
                                              <p:pRg st="4" end="4"/>
                                            </p:txEl>
                                          </p:spTgt>
                                        </p:tgtEl>
                                      </p:cBhvr>
                                    </p:animEffect>
                                  </p:childTnLst>
                                </p:cTn>
                              </p:par>
                            </p:childTnLst>
                          </p:cTn>
                        </p:par>
                        <p:par>
                          <p:cTn id="36" fill="hold" nodeType="afterGroup">
                            <p:stCondLst>
                              <p:cond delay="500"/>
                            </p:stCondLst>
                            <p:childTnLst>
                              <p:par>
                                <p:cTn id="37" presetID="17" presetClass="entr" presetSubtype="2" fill="hold" nodeType="afterEffect">
                                  <p:stCondLst>
                                    <p:cond delay="0"/>
                                  </p:stCondLst>
                                  <p:childTnLst>
                                    <p:set>
                                      <p:cBhvr>
                                        <p:cTn id="38" dur="1" fill="hold">
                                          <p:stCondLst>
                                            <p:cond delay="0"/>
                                          </p:stCondLst>
                                        </p:cTn>
                                        <p:tgtEl>
                                          <p:spTgt spid="89125"/>
                                        </p:tgtEl>
                                        <p:attrNameLst>
                                          <p:attrName>style.visibility</p:attrName>
                                        </p:attrNameLst>
                                      </p:cBhvr>
                                      <p:to>
                                        <p:strVal val="visible"/>
                                      </p:to>
                                    </p:set>
                                    <p:anim calcmode="lin" valueType="num">
                                      <p:cBhvr>
                                        <p:cTn id="39" dur="500" fill="hold"/>
                                        <p:tgtEl>
                                          <p:spTgt spid="89125"/>
                                        </p:tgtEl>
                                        <p:attrNameLst>
                                          <p:attrName>ppt_x</p:attrName>
                                        </p:attrNameLst>
                                      </p:cBhvr>
                                      <p:tavLst>
                                        <p:tav tm="0">
                                          <p:val>
                                            <p:strVal val="#ppt_x+#ppt_w/2"/>
                                          </p:val>
                                        </p:tav>
                                        <p:tav tm="100000">
                                          <p:val>
                                            <p:strVal val="#ppt_x"/>
                                          </p:val>
                                        </p:tav>
                                      </p:tavLst>
                                    </p:anim>
                                    <p:anim calcmode="lin" valueType="num">
                                      <p:cBhvr>
                                        <p:cTn id="40" dur="500" fill="hold"/>
                                        <p:tgtEl>
                                          <p:spTgt spid="89125"/>
                                        </p:tgtEl>
                                        <p:attrNameLst>
                                          <p:attrName>ppt_y</p:attrName>
                                        </p:attrNameLst>
                                      </p:cBhvr>
                                      <p:tavLst>
                                        <p:tav tm="0">
                                          <p:val>
                                            <p:strVal val="#ppt_y"/>
                                          </p:val>
                                        </p:tav>
                                        <p:tav tm="100000">
                                          <p:val>
                                            <p:strVal val="#ppt_y"/>
                                          </p:val>
                                        </p:tav>
                                      </p:tavLst>
                                    </p:anim>
                                    <p:anim calcmode="lin" valueType="num">
                                      <p:cBhvr>
                                        <p:cTn id="41" dur="500" fill="hold"/>
                                        <p:tgtEl>
                                          <p:spTgt spid="89125"/>
                                        </p:tgtEl>
                                        <p:attrNameLst>
                                          <p:attrName>ppt_w</p:attrName>
                                        </p:attrNameLst>
                                      </p:cBhvr>
                                      <p:tavLst>
                                        <p:tav tm="0">
                                          <p:val>
                                            <p:fltVal val="0"/>
                                          </p:val>
                                        </p:tav>
                                        <p:tav tm="100000">
                                          <p:val>
                                            <p:strVal val="#ppt_w"/>
                                          </p:val>
                                        </p:tav>
                                      </p:tavLst>
                                    </p:anim>
                                    <p:anim calcmode="lin" valueType="num">
                                      <p:cBhvr>
                                        <p:cTn id="42" dur="500" fill="hold"/>
                                        <p:tgtEl>
                                          <p:spTgt spid="89125"/>
                                        </p:tgtEl>
                                        <p:attrNameLst>
                                          <p:attrName>ppt_h</p:attrName>
                                        </p:attrNameLst>
                                      </p:cBhvr>
                                      <p:tavLst>
                                        <p:tav tm="0">
                                          <p:val>
                                            <p:strVal val="#ppt_h"/>
                                          </p:val>
                                        </p:tav>
                                        <p:tav tm="100000">
                                          <p:val>
                                            <p:strVal val="#ppt_h"/>
                                          </p:val>
                                        </p:tav>
                                      </p:tavLst>
                                    </p:anim>
                                  </p:childTnLst>
                                </p:cTn>
                              </p:par>
                            </p:childTnLst>
                          </p:cTn>
                        </p:par>
                        <p:par>
                          <p:cTn id="43" fill="hold" nodeType="afterGroup">
                            <p:stCondLst>
                              <p:cond delay="1000"/>
                            </p:stCondLst>
                            <p:childTnLst>
                              <p:par>
                                <p:cTn id="44" presetID="17" presetClass="entr" presetSubtype="4" fill="hold" nodeType="afterEffect">
                                  <p:stCondLst>
                                    <p:cond delay="0"/>
                                  </p:stCondLst>
                                  <p:childTnLst>
                                    <p:set>
                                      <p:cBhvr>
                                        <p:cTn id="45" dur="1" fill="hold">
                                          <p:stCondLst>
                                            <p:cond delay="0"/>
                                          </p:stCondLst>
                                        </p:cTn>
                                        <p:tgtEl>
                                          <p:spTgt spid="89126"/>
                                        </p:tgtEl>
                                        <p:attrNameLst>
                                          <p:attrName>style.visibility</p:attrName>
                                        </p:attrNameLst>
                                      </p:cBhvr>
                                      <p:to>
                                        <p:strVal val="visible"/>
                                      </p:to>
                                    </p:set>
                                    <p:anim calcmode="lin" valueType="num">
                                      <p:cBhvr>
                                        <p:cTn id="46" dur="500" fill="hold"/>
                                        <p:tgtEl>
                                          <p:spTgt spid="89126"/>
                                        </p:tgtEl>
                                        <p:attrNameLst>
                                          <p:attrName>ppt_x</p:attrName>
                                        </p:attrNameLst>
                                      </p:cBhvr>
                                      <p:tavLst>
                                        <p:tav tm="0">
                                          <p:val>
                                            <p:strVal val="#ppt_x"/>
                                          </p:val>
                                        </p:tav>
                                        <p:tav tm="100000">
                                          <p:val>
                                            <p:strVal val="#ppt_x"/>
                                          </p:val>
                                        </p:tav>
                                      </p:tavLst>
                                    </p:anim>
                                    <p:anim calcmode="lin" valueType="num">
                                      <p:cBhvr>
                                        <p:cTn id="47" dur="500" fill="hold"/>
                                        <p:tgtEl>
                                          <p:spTgt spid="89126"/>
                                        </p:tgtEl>
                                        <p:attrNameLst>
                                          <p:attrName>ppt_y</p:attrName>
                                        </p:attrNameLst>
                                      </p:cBhvr>
                                      <p:tavLst>
                                        <p:tav tm="0">
                                          <p:val>
                                            <p:strVal val="#ppt_y+#ppt_h/2"/>
                                          </p:val>
                                        </p:tav>
                                        <p:tav tm="100000">
                                          <p:val>
                                            <p:strVal val="#ppt_y"/>
                                          </p:val>
                                        </p:tav>
                                      </p:tavLst>
                                    </p:anim>
                                    <p:anim calcmode="lin" valueType="num">
                                      <p:cBhvr>
                                        <p:cTn id="48" dur="500" fill="hold"/>
                                        <p:tgtEl>
                                          <p:spTgt spid="89126"/>
                                        </p:tgtEl>
                                        <p:attrNameLst>
                                          <p:attrName>ppt_w</p:attrName>
                                        </p:attrNameLst>
                                      </p:cBhvr>
                                      <p:tavLst>
                                        <p:tav tm="0">
                                          <p:val>
                                            <p:strVal val="#ppt_w"/>
                                          </p:val>
                                        </p:tav>
                                        <p:tav tm="100000">
                                          <p:val>
                                            <p:strVal val="#ppt_w"/>
                                          </p:val>
                                        </p:tav>
                                      </p:tavLst>
                                    </p:anim>
                                    <p:anim calcmode="lin" valueType="num">
                                      <p:cBhvr>
                                        <p:cTn id="49" dur="500" fill="hold"/>
                                        <p:tgtEl>
                                          <p:spTgt spid="891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5" grpId="0" build="p" bldLvl="5"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E816272-D9AA-F6D9-AF03-1162CC8A66CE}"/>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066EC776-5052-74AF-471D-2220DA92559D}"/>
              </a:ext>
            </a:extLst>
          </p:cNvPr>
          <p:cNvSpPr>
            <a:spLocks noGrp="1"/>
          </p:cNvSpPr>
          <p:nvPr>
            <p:ph type="sldNum" sz="quarter" idx="11"/>
          </p:nvPr>
        </p:nvSpPr>
        <p:spPr/>
        <p:txBody>
          <a:bodyPr/>
          <a:lstStyle/>
          <a:p>
            <a:fld id="{3E9388CC-6AAC-8A4F-88B9-84D67BBA1E59}" type="slidenum">
              <a:rPr lang="zh-CN" altLang="zh-CN"/>
              <a:pPr/>
              <a:t>75</a:t>
            </a:fld>
            <a:endParaRPr lang="zh-CN" altLang="zh-CN"/>
          </a:p>
        </p:txBody>
      </p:sp>
      <p:grpSp>
        <p:nvGrpSpPr>
          <p:cNvPr id="91138" name="Group 2">
            <a:extLst>
              <a:ext uri="{FF2B5EF4-FFF2-40B4-BE49-F238E27FC236}">
                <a16:creationId xmlns:a16="http://schemas.microsoft.com/office/drawing/2014/main" id="{D9B14D64-351F-48BE-9327-6D34EFAEA0D1}"/>
              </a:ext>
            </a:extLst>
          </p:cNvPr>
          <p:cNvGrpSpPr>
            <a:grpSpLocks/>
          </p:cNvGrpSpPr>
          <p:nvPr/>
        </p:nvGrpSpPr>
        <p:grpSpPr bwMode="auto">
          <a:xfrm>
            <a:off x="3127825" y="747527"/>
            <a:ext cx="593871" cy="2219411"/>
            <a:chOff x="0" y="0"/>
            <a:chExt cx="742" cy="2773"/>
          </a:xfrm>
        </p:grpSpPr>
        <p:sp>
          <p:nvSpPr>
            <p:cNvPr id="91139" name="Line 3">
              <a:extLst>
                <a:ext uri="{FF2B5EF4-FFF2-40B4-BE49-F238E27FC236}">
                  <a16:creationId xmlns:a16="http://schemas.microsoft.com/office/drawing/2014/main" id="{0C1AF0FD-86B7-E3BE-9B30-268C0562B2F0}"/>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40" name="Text Box 4">
              <a:extLst>
                <a:ext uri="{FF2B5EF4-FFF2-40B4-BE49-F238E27FC236}">
                  <a16:creationId xmlns:a16="http://schemas.microsoft.com/office/drawing/2014/main" id="{1C1A9797-44B7-F7C6-50A2-C553809B8D8B}"/>
                </a:ext>
              </a:extLst>
            </p:cNvPr>
            <p:cNvSpPr txBox="1">
              <a:spLocks noChangeArrowheads="1"/>
            </p:cNvSpPr>
            <p:nvPr/>
          </p:nvSpPr>
          <p:spPr bwMode="auto">
            <a:xfrm>
              <a:off x="0" y="0"/>
              <a:ext cx="74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91141" name="Rectangle 5">
              <a:extLst>
                <a:ext uri="{FF2B5EF4-FFF2-40B4-BE49-F238E27FC236}">
                  <a16:creationId xmlns:a16="http://schemas.microsoft.com/office/drawing/2014/main" id="{9B5715C8-BD35-72DA-44E9-3C7E9EC6F546}"/>
                </a:ext>
              </a:extLst>
            </p:cNvPr>
            <p:cNvSpPr>
              <a:spLocks noChangeArrowheads="1"/>
            </p:cNvSpPr>
            <p:nvPr/>
          </p:nvSpPr>
          <p:spPr bwMode="auto">
            <a:xfrm>
              <a:off x="221" y="2425"/>
              <a:ext cx="455"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sp>
        <p:nvSpPr>
          <p:cNvPr id="91142" name="Rectangle 6">
            <a:extLst>
              <a:ext uri="{FF2B5EF4-FFF2-40B4-BE49-F238E27FC236}">
                <a16:creationId xmlns:a16="http://schemas.microsoft.com/office/drawing/2014/main" id="{0DAE4E5C-D218-361D-4A29-36BE98836825}"/>
              </a:ext>
            </a:extLst>
          </p:cNvPr>
          <p:cNvSpPr>
            <a:spLocks noGrp="1" noChangeArrowheads="1"/>
          </p:cNvSpPr>
          <p:nvPr>
            <p:ph type="title" idx="4294967295"/>
          </p:nvPr>
        </p:nvSpPr>
        <p:spPr>
          <a:xfrm>
            <a:off x="0" y="84025"/>
            <a:ext cx="4610100" cy="327349"/>
          </a:xfrm>
        </p:spPr>
        <p:txBody>
          <a:bodyPr/>
          <a:lstStyle/>
          <a:p>
            <a:r>
              <a:rPr lang="zh-CN" altLang="en-US" sz="1815" dirty="0">
                <a:ea typeface="宋体" panose="02010600030101010101" pitchFamily="2" charset="-122"/>
              </a:rPr>
              <a:t>总供给曲线的不利移动</a:t>
            </a:r>
            <a:endParaRPr lang="zh-CN" altLang="en-US" sz="1815" i="1" dirty="0">
              <a:ea typeface="宋体" panose="02010600030101010101" pitchFamily="2" charset="-122"/>
            </a:endParaRPr>
          </a:p>
        </p:txBody>
      </p:sp>
      <p:sp>
        <p:nvSpPr>
          <p:cNvPr id="91143" name="Rectangle 7">
            <a:extLst>
              <a:ext uri="{FF2B5EF4-FFF2-40B4-BE49-F238E27FC236}">
                <a16:creationId xmlns:a16="http://schemas.microsoft.com/office/drawing/2014/main" id="{C00EADDB-75F4-CFAD-8805-0D23C1ACAE60}"/>
              </a:ext>
            </a:extLst>
          </p:cNvPr>
          <p:cNvSpPr>
            <a:spLocks noGrp="1" noChangeArrowheads="1"/>
          </p:cNvSpPr>
          <p:nvPr>
            <p:ph type="body" idx="4294967295"/>
          </p:nvPr>
        </p:nvSpPr>
        <p:spPr>
          <a:xfrm>
            <a:off x="84839" y="585854"/>
            <a:ext cx="2126569" cy="1198946"/>
          </a:xfrm>
        </p:spPr>
        <p:txBody>
          <a:bodyPr/>
          <a:lstStyle/>
          <a:p>
            <a:pPr marL="204107" indent="-204107">
              <a:lnSpc>
                <a:spcPct val="85000"/>
              </a:lnSpc>
              <a:spcBef>
                <a:spcPct val="25000"/>
              </a:spcBef>
              <a:buNone/>
            </a:pPr>
            <a:r>
              <a:rPr lang="zh-CN" altLang="zh-CN" dirty="0">
                <a:ea typeface="宋体" panose="02010600030101010101" pitchFamily="2" charset="-122"/>
              </a:rPr>
              <a:t>如果政策制定者不作为： </a:t>
            </a:r>
          </a:p>
          <a:p>
            <a:pPr marL="204107" indent="-204107">
              <a:lnSpc>
                <a:spcPct val="85000"/>
              </a:lnSpc>
              <a:spcBef>
                <a:spcPct val="25000"/>
              </a:spcBef>
              <a:buNone/>
            </a:pPr>
            <a:r>
              <a:rPr lang="zh-CN" altLang="zh-CN" b="1" dirty="0">
                <a:solidFill>
                  <a:srgbClr val="339966"/>
                </a:solidFill>
                <a:ea typeface="宋体" panose="02010600030101010101" pitchFamily="2" charset="-122"/>
              </a:rPr>
              <a:t>4. </a:t>
            </a:r>
            <a:r>
              <a:rPr lang="zh-CN" altLang="zh-CN" dirty="0">
                <a:ea typeface="宋体" panose="02010600030101010101" pitchFamily="2" charset="-122"/>
              </a:rPr>
              <a:t>低就业使工资下降，</a:t>
            </a:r>
            <a:r>
              <a:rPr lang="zh-CN" altLang="zh-CN" i="1" dirty="0">
                <a:ea typeface="宋体" panose="02010600030101010101" pitchFamily="2" charset="-122"/>
              </a:rPr>
              <a:t>SRAS</a:t>
            </a:r>
            <a:r>
              <a:rPr lang="zh-CN" altLang="zh-CN" dirty="0">
                <a:ea typeface="宋体" panose="02010600030101010101" pitchFamily="2" charset="-122"/>
              </a:rPr>
              <a:t>曲线一直向右移动，直到长期均衡点A</a:t>
            </a:r>
          </a:p>
        </p:txBody>
      </p:sp>
      <p:grpSp>
        <p:nvGrpSpPr>
          <p:cNvPr id="91144" name="Group 8">
            <a:extLst>
              <a:ext uri="{FF2B5EF4-FFF2-40B4-BE49-F238E27FC236}">
                <a16:creationId xmlns:a16="http://schemas.microsoft.com/office/drawing/2014/main" id="{BA2EFB3C-0679-9012-3059-CD63257AC3CF}"/>
              </a:ext>
            </a:extLst>
          </p:cNvPr>
          <p:cNvGrpSpPr>
            <a:grpSpLocks/>
          </p:cNvGrpSpPr>
          <p:nvPr/>
        </p:nvGrpSpPr>
        <p:grpSpPr bwMode="auto">
          <a:xfrm>
            <a:off x="2321858" y="719515"/>
            <a:ext cx="2013717" cy="2119312"/>
            <a:chOff x="0" y="0"/>
            <a:chExt cx="2786" cy="2477"/>
          </a:xfrm>
        </p:grpSpPr>
        <p:grpSp>
          <p:nvGrpSpPr>
            <p:cNvPr id="91145" name="Group 9">
              <a:extLst>
                <a:ext uri="{FF2B5EF4-FFF2-40B4-BE49-F238E27FC236}">
                  <a16:creationId xmlns:a16="http://schemas.microsoft.com/office/drawing/2014/main" id="{EC45EDC3-55A1-70D8-6F0B-59B5CDBFFB71}"/>
                </a:ext>
              </a:extLst>
            </p:cNvPr>
            <p:cNvGrpSpPr>
              <a:grpSpLocks/>
            </p:cNvGrpSpPr>
            <p:nvPr/>
          </p:nvGrpSpPr>
          <p:grpSpPr bwMode="auto">
            <a:xfrm>
              <a:off x="118" y="252"/>
              <a:ext cx="2409" cy="2049"/>
              <a:chOff x="0" y="0"/>
              <a:chExt cx="2116" cy="2027"/>
            </a:xfrm>
          </p:grpSpPr>
          <p:sp>
            <p:nvSpPr>
              <p:cNvPr id="91146" name="Line 10">
                <a:extLst>
                  <a:ext uri="{FF2B5EF4-FFF2-40B4-BE49-F238E27FC236}">
                    <a16:creationId xmlns:a16="http://schemas.microsoft.com/office/drawing/2014/main" id="{78BEF08A-0E6A-0A2B-5B38-3C6800C50B0B}"/>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47" name="Line 11">
                <a:extLst>
                  <a:ext uri="{FF2B5EF4-FFF2-40B4-BE49-F238E27FC236}">
                    <a16:creationId xmlns:a16="http://schemas.microsoft.com/office/drawing/2014/main" id="{1AB33FF6-BE17-001B-D896-ADC39A897638}"/>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91148" name="Text Box 12">
              <a:extLst>
                <a:ext uri="{FF2B5EF4-FFF2-40B4-BE49-F238E27FC236}">
                  <a16:creationId xmlns:a16="http://schemas.microsoft.com/office/drawing/2014/main" id="{590CCFAB-885B-450A-F31C-2DA4E0CFDCAF}"/>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91149" name="Text Box 13">
              <a:extLst>
                <a:ext uri="{FF2B5EF4-FFF2-40B4-BE49-F238E27FC236}">
                  <a16:creationId xmlns:a16="http://schemas.microsoft.com/office/drawing/2014/main" id="{3EA878CF-8C7F-1AB1-5CC8-B1627593F095}"/>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91150" name="Group 14">
            <a:extLst>
              <a:ext uri="{FF2B5EF4-FFF2-40B4-BE49-F238E27FC236}">
                <a16:creationId xmlns:a16="http://schemas.microsoft.com/office/drawing/2014/main" id="{8BDDCFCE-66F1-6996-3324-D4647F555D8D}"/>
              </a:ext>
            </a:extLst>
          </p:cNvPr>
          <p:cNvGrpSpPr>
            <a:grpSpLocks/>
          </p:cNvGrpSpPr>
          <p:nvPr/>
        </p:nvGrpSpPr>
        <p:grpSpPr bwMode="auto">
          <a:xfrm>
            <a:off x="2693227" y="1291776"/>
            <a:ext cx="1649551" cy="1363821"/>
            <a:chOff x="0" y="0"/>
            <a:chExt cx="2061" cy="1704"/>
          </a:xfrm>
        </p:grpSpPr>
        <p:sp>
          <p:nvSpPr>
            <p:cNvPr id="91151" name="Line 15">
              <a:extLst>
                <a:ext uri="{FF2B5EF4-FFF2-40B4-BE49-F238E27FC236}">
                  <a16:creationId xmlns:a16="http://schemas.microsoft.com/office/drawing/2014/main" id="{DCCF44EF-73A5-C1F7-C19E-CB9FC3A0DC54}"/>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2" name="Text Box 16">
              <a:extLst>
                <a:ext uri="{FF2B5EF4-FFF2-40B4-BE49-F238E27FC236}">
                  <a16:creationId xmlns:a16="http://schemas.microsoft.com/office/drawing/2014/main" id="{983C7041-799A-237C-B2E7-4F6357711D23}"/>
                </a:ext>
              </a:extLst>
            </p:cNvPr>
            <p:cNvSpPr txBox="1">
              <a:spLocks noChangeArrowheads="1"/>
            </p:cNvSpPr>
            <p:nvPr/>
          </p:nvSpPr>
          <p:spPr bwMode="auto">
            <a:xfrm>
              <a:off x="1388" y="1356"/>
              <a:ext cx="673"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1</a:t>
              </a:r>
            </a:p>
          </p:txBody>
        </p:sp>
      </p:grpSp>
      <p:grpSp>
        <p:nvGrpSpPr>
          <p:cNvPr id="91153" name="Group 17">
            <a:extLst>
              <a:ext uri="{FF2B5EF4-FFF2-40B4-BE49-F238E27FC236}">
                <a16:creationId xmlns:a16="http://schemas.microsoft.com/office/drawing/2014/main" id="{5DBC6B4E-71E2-A54A-CD16-DCC1E13D21AD}"/>
              </a:ext>
            </a:extLst>
          </p:cNvPr>
          <p:cNvGrpSpPr>
            <a:grpSpLocks/>
          </p:cNvGrpSpPr>
          <p:nvPr/>
        </p:nvGrpSpPr>
        <p:grpSpPr bwMode="auto">
          <a:xfrm>
            <a:off x="2919730" y="1347801"/>
            <a:ext cx="1626341" cy="1126913"/>
            <a:chOff x="0" y="0"/>
            <a:chExt cx="2032" cy="1408"/>
          </a:xfrm>
        </p:grpSpPr>
        <p:sp>
          <p:nvSpPr>
            <p:cNvPr id="91154" name="Line 18">
              <a:extLst>
                <a:ext uri="{FF2B5EF4-FFF2-40B4-BE49-F238E27FC236}">
                  <a16:creationId xmlns:a16="http://schemas.microsoft.com/office/drawing/2014/main" id="{7D5CC12C-8F91-1A68-58BB-36B8BA6E1709}"/>
                </a:ext>
              </a:extLst>
            </p:cNvPr>
            <p:cNvSpPr>
              <a:spLocks noChangeShapeType="1"/>
            </p:cNvSpPr>
            <p:nvPr/>
          </p:nvSpPr>
          <p:spPr bwMode="auto">
            <a:xfrm flipV="1">
              <a:off x="0" y="252"/>
              <a:ext cx="1256" cy="115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5" name="Text Box 19">
              <a:extLst>
                <a:ext uri="{FF2B5EF4-FFF2-40B4-BE49-F238E27FC236}">
                  <a16:creationId xmlns:a16="http://schemas.microsoft.com/office/drawing/2014/main" id="{FA9DAE91-DFA5-5609-4ED4-B5F02AF91E47}"/>
                </a:ext>
              </a:extLst>
            </p:cNvPr>
            <p:cNvSpPr txBox="1">
              <a:spLocks noChangeArrowheads="1"/>
            </p:cNvSpPr>
            <p:nvPr/>
          </p:nvSpPr>
          <p:spPr bwMode="auto">
            <a:xfrm>
              <a:off x="1153" y="0"/>
              <a:ext cx="87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1</a:t>
              </a:r>
            </a:p>
          </p:txBody>
        </p:sp>
      </p:grpSp>
      <p:grpSp>
        <p:nvGrpSpPr>
          <p:cNvPr id="91156" name="Group 20">
            <a:extLst>
              <a:ext uri="{FF2B5EF4-FFF2-40B4-BE49-F238E27FC236}">
                <a16:creationId xmlns:a16="http://schemas.microsoft.com/office/drawing/2014/main" id="{9F09D942-3E36-F41F-0099-AD5124B40425}"/>
              </a:ext>
            </a:extLst>
          </p:cNvPr>
          <p:cNvGrpSpPr>
            <a:grpSpLocks/>
          </p:cNvGrpSpPr>
          <p:nvPr/>
        </p:nvGrpSpPr>
        <p:grpSpPr bwMode="auto">
          <a:xfrm>
            <a:off x="2568370" y="985236"/>
            <a:ext cx="1776009" cy="1228559"/>
            <a:chOff x="0" y="0"/>
            <a:chExt cx="2219" cy="1535"/>
          </a:xfrm>
        </p:grpSpPr>
        <p:sp>
          <p:nvSpPr>
            <p:cNvPr id="91157" name="Line 21">
              <a:extLst>
                <a:ext uri="{FF2B5EF4-FFF2-40B4-BE49-F238E27FC236}">
                  <a16:creationId xmlns:a16="http://schemas.microsoft.com/office/drawing/2014/main" id="{694850CA-F298-986F-4FA5-F884C8AE5E04}"/>
                </a:ext>
              </a:extLst>
            </p:cNvPr>
            <p:cNvSpPr>
              <a:spLocks noChangeShapeType="1"/>
            </p:cNvSpPr>
            <p:nvPr/>
          </p:nvSpPr>
          <p:spPr bwMode="auto">
            <a:xfrm flipV="1">
              <a:off x="0" y="218"/>
              <a:ext cx="1407" cy="131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8" name="Text Box 22">
              <a:extLst>
                <a:ext uri="{FF2B5EF4-FFF2-40B4-BE49-F238E27FC236}">
                  <a16:creationId xmlns:a16="http://schemas.microsoft.com/office/drawing/2014/main" id="{957D9DD5-0511-30D9-C329-0E9234B69BDA}"/>
                </a:ext>
              </a:extLst>
            </p:cNvPr>
            <p:cNvSpPr txBox="1">
              <a:spLocks noChangeArrowheads="1"/>
            </p:cNvSpPr>
            <p:nvPr/>
          </p:nvSpPr>
          <p:spPr bwMode="auto">
            <a:xfrm>
              <a:off x="1350" y="0"/>
              <a:ext cx="86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2</a:t>
              </a:r>
            </a:p>
          </p:txBody>
        </p:sp>
      </p:grpSp>
      <p:grpSp>
        <p:nvGrpSpPr>
          <p:cNvPr id="91159" name="Group 23">
            <a:extLst>
              <a:ext uri="{FF2B5EF4-FFF2-40B4-BE49-F238E27FC236}">
                <a16:creationId xmlns:a16="http://schemas.microsoft.com/office/drawing/2014/main" id="{3CE40815-456A-046F-99A7-5482F734A4AB}"/>
              </a:ext>
            </a:extLst>
          </p:cNvPr>
          <p:cNvGrpSpPr>
            <a:grpSpLocks/>
          </p:cNvGrpSpPr>
          <p:nvPr/>
        </p:nvGrpSpPr>
        <p:grpSpPr bwMode="auto">
          <a:xfrm>
            <a:off x="2158584" y="1904855"/>
            <a:ext cx="1478273" cy="203293"/>
            <a:chOff x="0" y="0"/>
            <a:chExt cx="1847" cy="254"/>
          </a:xfrm>
        </p:grpSpPr>
        <p:grpSp>
          <p:nvGrpSpPr>
            <p:cNvPr id="91160" name="Group 24">
              <a:extLst>
                <a:ext uri="{FF2B5EF4-FFF2-40B4-BE49-F238E27FC236}">
                  <a16:creationId xmlns:a16="http://schemas.microsoft.com/office/drawing/2014/main" id="{DA5C66DF-5864-7F25-ACB1-FA7C57CF5F0A}"/>
                </a:ext>
              </a:extLst>
            </p:cNvPr>
            <p:cNvGrpSpPr>
              <a:grpSpLocks/>
            </p:cNvGrpSpPr>
            <p:nvPr/>
          </p:nvGrpSpPr>
          <p:grpSpPr bwMode="auto">
            <a:xfrm>
              <a:off x="0" y="21"/>
              <a:ext cx="1622" cy="233"/>
              <a:chOff x="0" y="0"/>
              <a:chExt cx="1622" cy="233"/>
            </a:xfrm>
          </p:grpSpPr>
          <p:sp>
            <p:nvSpPr>
              <p:cNvPr id="91161" name="Line 25">
                <a:extLst>
                  <a:ext uri="{FF2B5EF4-FFF2-40B4-BE49-F238E27FC236}">
                    <a16:creationId xmlns:a16="http://schemas.microsoft.com/office/drawing/2014/main" id="{8161494E-858A-2107-FF98-AC1961236BAB}"/>
                  </a:ext>
                </a:extLst>
              </p:cNvPr>
              <p:cNvSpPr>
                <a:spLocks noChangeShapeType="1"/>
              </p:cNvSpPr>
              <p:nvPr/>
            </p:nvSpPr>
            <p:spPr bwMode="auto">
              <a:xfrm flipV="1">
                <a:off x="312" y="116"/>
                <a:ext cx="12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62" name="Text Box 26">
                <a:extLst>
                  <a:ext uri="{FF2B5EF4-FFF2-40B4-BE49-F238E27FC236}">
                    <a16:creationId xmlns:a16="http://schemas.microsoft.com/office/drawing/2014/main" id="{478D8B31-B32B-CCD1-E9A0-75D8EFBA700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1</a:t>
                </a:r>
              </a:p>
            </p:txBody>
          </p:sp>
          <p:sp>
            <p:nvSpPr>
              <p:cNvPr id="91163" name="Oval 27">
                <a:extLst>
                  <a:ext uri="{FF2B5EF4-FFF2-40B4-BE49-F238E27FC236}">
                    <a16:creationId xmlns:a16="http://schemas.microsoft.com/office/drawing/2014/main" id="{F3FBDBDD-896A-5AEA-1286-4635D773BF56}"/>
                  </a:ext>
                </a:extLst>
              </p:cNvPr>
              <p:cNvSpPr>
                <a:spLocks noChangeArrowheads="1"/>
              </p:cNvSpPr>
              <p:nvPr/>
            </p:nvSpPr>
            <p:spPr bwMode="auto">
              <a:xfrm>
                <a:off x="1534"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91164" name="Text Box 28">
              <a:extLst>
                <a:ext uri="{FF2B5EF4-FFF2-40B4-BE49-F238E27FC236}">
                  <a16:creationId xmlns:a16="http://schemas.microsoft.com/office/drawing/2014/main" id="{F2340980-05FC-E564-B653-9ED14B5E3866}"/>
                </a:ext>
              </a:extLst>
            </p:cNvPr>
            <p:cNvSpPr txBox="1">
              <a:spLocks noChangeArrowheads="1"/>
            </p:cNvSpPr>
            <p:nvPr/>
          </p:nvSpPr>
          <p:spPr bwMode="auto">
            <a:xfrm>
              <a:off x="1646"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A</a:t>
              </a:r>
              <a:endParaRPr lang="en-US" altLang="zh-CN" sz="1210" baseline="-25000">
                <a:ea typeface="宋体" panose="02010600030101010101" pitchFamily="2" charset="-122"/>
              </a:endParaRPr>
            </a:p>
          </p:txBody>
        </p:sp>
      </p:grpSp>
      <p:grpSp>
        <p:nvGrpSpPr>
          <p:cNvPr id="91165" name="Group 29">
            <a:extLst>
              <a:ext uri="{FF2B5EF4-FFF2-40B4-BE49-F238E27FC236}">
                <a16:creationId xmlns:a16="http://schemas.microsoft.com/office/drawing/2014/main" id="{769C6FA7-DABC-B84A-DA9E-5A585089848E}"/>
              </a:ext>
            </a:extLst>
          </p:cNvPr>
          <p:cNvGrpSpPr>
            <a:grpSpLocks/>
          </p:cNvGrpSpPr>
          <p:nvPr/>
        </p:nvGrpSpPr>
        <p:grpSpPr bwMode="auto">
          <a:xfrm>
            <a:off x="2158584" y="1490266"/>
            <a:ext cx="1096499" cy="1404640"/>
            <a:chOff x="0" y="0"/>
            <a:chExt cx="1370" cy="1755"/>
          </a:xfrm>
        </p:grpSpPr>
        <p:sp>
          <p:nvSpPr>
            <p:cNvPr id="91166" name="Oval 30">
              <a:extLst>
                <a:ext uri="{FF2B5EF4-FFF2-40B4-BE49-F238E27FC236}">
                  <a16:creationId xmlns:a16="http://schemas.microsoft.com/office/drawing/2014/main" id="{ECA8C904-10C9-A17C-95DF-3AB0B7942BF9}"/>
                </a:ext>
              </a:extLst>
            </p:cNvPr>
            <p:cNvSpPr>
              <a:spLocks noChangeArrowheads="1"/>
            </p:cNvSpPr>
            <p:nvPr/>
          </p:nvSpPr>
          <p:spPr bwMode="auto">
            <a:xfrm>
              <a:off x="1145" y="22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nvGrpSpPr>
            <p:cNvPr id="91167" name="Group 31">
              <a:extLst>
                <a:ext uri="{FF2B5EF4-FFF2-40B4-BE49-F238E27FC236}">
                  <a16:creationId xmlns:a16="http://schemas.microsoft.com/office/drawing/2014/main" id="{96DE0D0A-EB21-1AAC-83CC-5558F1BAE9CA}"/>
                </a:ext>
              </a:extLst>
            </p:cNvPr>
            <p:cNvGrpSpPr>
              <a:grpSpLocks/>
            </p:cNvGrpSpPr>
            <p:nvPr/>
          </p:nvGrpSpPr>
          <p:grpSpPr bwMode="auto">
            <a:xfrm>
              <a:off x="314" y="268"/>
              <a:ext cx="875" cy="1230"/>
              <a:chOff x="0" y="0"/>
              <a:chExt cx="795" cy="646"/>
            </a:xfrm>
          </p:grpSpPr>
          <p:sp>
            <p:nvSpPr>
              <p:cNvPr id="91168" name="Line 32">
                <a:extLst>
                  <a:ext uri="{FF2B5EF4-FFF2-40B4-BE49-F238E27FC236}">
                    <a16:creationId xmlns:a16="http://schemas.microsoft.com/office/drawing/2014/main" id="{D7B51ACA-7DB6-C263-2648-AF36A9270145}"/>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69" name="Line 33">
                <a:extLst>
                  <a:ext uri="{FF2B5EF4-FFF2-40B4-BE49-F238E27FC236}">
                    <a16:creationId xmlns:a16="http://schemas.microsoft.com/office/drawing/2014/main" id="{F161E95A-7028-93FC-54C0-31386F8B694E}"/>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91170" name="Text Box 34">
              <a:extLst>
                <a:ext uri="{FF2B5EF4-FFF2-40B4-BE49-F238E27FC236}">
                  <a16:creationId xmlns:a16="http://schemas.microsoft.com/office/drawing/2014/main" id="{09D362B0-3288-5F43-64A7-E4D8EC8C7C4C}"/>
                </a:ext>
              </a:extLst>
            </p:cNvPr>
            <p:cNvSpPr txBox="1">
              <a:spLocks noChangeArrowheads="1"/>
            </p:cNvSpPr>
            <p:nvPr/>
          </p:nvSpPr>
          <p:spPr bwMode="auto">
            <a:xfrm>
              <a:off x="0" y="15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2</a:t>
              </a:r>
            </a:p>
          </p:txBody>
        </p:sp>
        <p:sp>
          <p:nvSpPr>
            <p:cNvPr id="91171" name="Text Box 35">
              <a:extLst>
                <a:ext uri="{FF2B5EF4-FFF2-40B4-BE49-F238E27FC236}">
                  <a16:creationId xmlns:a16="http://schemas.microsoft.com/office/drawing/2014/main" id="{4181729B-E863-A267-A1F0-463697B41B54}"/>
                </a:ext>
              </a:extLst>
            </p:cNvPr>
            <p:cNvSpPr txBox="1">
              <a:spLocks noChangeArrowheads="1"/>
            </p:cNvSpPr>
            <p:nvPr/>
          </p:nvSpPr>
          <p:spPr bwMode="auto">
            <a:xfrm>
              <a:off x="1062" y="152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2</a:t>
              </a:r>
            </a:p>
          </p:txBody>
        </p:sp>
        <p:sp>
          <p:nvSpPr>
            <p:cNvPr id="91172" name="Text Box 36">
              <a:extLst>
                <a:ext uri="{FF2B5EF4-FFF2-40B4-BE49-F238E27FC236}">
                  <a16:creationId xmlns:a16="http://schemas.microsoft.com/office/drawing/2014/main" id="{691A3FDA-3F67-9C6F-7CF1-19FA3F48DB89}"/>
                </a:ext>
              </a:extLst>
            </p:cNvPr>
            <p:cNvSpPr txBox="1">
              <a:spLocks noChangeArrowheads="1"/>
            </p:cNvSpPr>
            <p:nvPr/>
          </p:nvSpPr>
          <p:spPr bwMode="auto">
            <a:xfrm>
              <a:off x="1100"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B</a:t>
              </a:r>
              <a:endParaRPr lang="en-US" altLang="zh-CN" sz="1210" baseline="-25000">
                <a:ea typeface="宋体" panose="02010600030101010101" pitchFamily="2" charset="-122"/>
              </a:endParaRPr>
            </a:p>
          </p:txBody>
        </p:sp>
      </p:grpSp>
      <p:sp>
        <p:nvSpPr>
          <p:cNvPr id="91182" name="Line 47">
            <a:extLst>
              <a:ext uri="{FF2B5EF4-FFF2-40B4-BE49-F238E27FC236}">
                <a16:creationId xmlns:a16="http://schemas.microsoft.com/office/drawing/2014/main" id="{9EC94DA8-333D-0BAC-5E33-3E34F0010C72}"/>
              </a:ext>
            </a:extLst>
          </p:cNvPr>
          <p:cNvSpPr>
            <a:spLocks noChangeShapeType="1"/>
          </p:cNvSpPr>
          <p:nvPr/>
        </p:nvSpPr>
        <p:spPr bwMode="auto">
          <a:xfrm flipH="1">
            <a:off x="3121422" y="2665201"/>
            <a:ext cx="290533" cy="0"/>
          </a:xfrm>
          <a:prstGeom prst="line">
            <a:avLst/>
          </a:prstGeom>
          <a:noFill/>
          <a:ln w="38100">
            <a:solidFill>
              <a:srgbClr val="008000"/>
            </a:solidFill>
            <a:round/>
            <a:headEnd type="triangle" w="lg" len="med"/>
            <a:tailEnd/>
          </a:ln>
          <a:extLst>
            <a:ext uri="{909E8E84-426E-40DD-AFC4-6F175D3DCCD1}">
              <a14:hiddenFill xmlns:a14="http://schemas.microsoft.com/office/drawing/2010/main">
                <a:noFill/>
              </a14:hiddenFill>
            </a:ext>
          </a:extLst>
        </p:spPr>
        <p:txBody>
          <a:bodyPr/>
          <a:lstStyle/>
          <a:p>
            <a:endParaRPr lang="zh-CN" altLang="en-US" sz="908"/>
          </a:p>
        </p:txBody>
      </p:sp>
      <p:sp>
        <p:nvSpPr>
          <p:cNvPr id="91184" name="Arc 51">
            <a:extLst>
              <a:ext uri="{FF2B5EF4-FFF2-40B4-BE49-F238E27FC236}">
                <a16:creationId xmlns:a16="http://schemas.microsoft.com/office/drawing/2014/main" id="{2B1F9A6B-0731-F77C-5B3D-E205EADBF900}"/>
              </a:ext>
            </a:extLst>
          </p:cNvPr>
          <p:cNvSpPr>
            <a:spLocks/>
          </p:cNvSpPr>
          <p:nvPr/>
        </p:nvSpPr>
        <p:spPr bwMode="auto">
          <a:xfrm flipH="1" flipV="1">
            <a:off x="3111017" y="1665546"/>
            <a:ext cx="351360" cy="344957"/>
          </a:xfrm>
          <a:custGeom>
            <a:avLst/>
            <a:gdLst>
              <a:gd name="T0" fmla="*/ 171267656 w 21073"/>
              <a:gd name="T1" fmla="*/ 0 h 21075"/>
              <a:gd name="T2" fmla="*/ 762220967 w 21073"/>
              <a:gd name="T3" fmla="*/ 558935709 h 21075"/>
              <a:gd name="T4" fmla="*/ 0 w 21073"/>
              <a:gd name="T5" fmla="*/ 721168466 h 21075"/>
              <a:gd name="T6" fmla="*/ 0 60000 65536"/>
              <a:gd name="T7" fmla="*/ 0 60000 65536"/>
              <a:gd name="T8" fmla="*/ 0 60000 65536"/>
              <a:gd name="T9" fmla="*/ 0 w 21073"/>
              <a:gd name="T10" fmla="*/ 0 h 21075"/>
              <a:gd name="T11" fmla="*/ 21073 w 21073"/>
              <a:gd name="T12" fmla="*/ 21075 h 21075"/>
            </a:gdLst>
            <a:ahLst/>
            <a:cxnLst>
              <a:cxn ang="T6">
                <a:pos x="T0" y="T1"/>
              </a:cxn>
              <a:cxn ang="T7">
                <a:pos x="T2" y="T3"/>
              </a:cxn>
              <a:cxn ang="T8">
                <a:pos x="T4" y="T5"/>
              </a:cxn>
            </a:cxnLst>
            <a:rect l="T9" t="T10" r="T11" b="T12"/>
            <a:pathLst>
              <a:path w="21073" h="21075" fill="none" extrusionOk="0">
                <a:moveTo>
                  <a:pt x="4734" y="0"/>
                </a:moveTo>
                <a:cubicBezTo>
                  <a:pt x="12879" y="1830"/>
                  <a:pt x="19240" y="8189"/>
                  <a:pt x="21073" y="16333"/>
                </a:cubicBezTo>
              </a:path>
              <a:path w="21073" h="21075" stroke="0" extrusionOk="0">
                <a:moveTo>
                  <a:pt x="4734" y="0"/>
                </a:moveTo>
                <a:cubicBezTo>
                  <a:pt x="12879" y="1830"/>
                  <a:pt x="19240" y="8189"/>
                  <a:pt x="21073" y="16333"/>
                </a:cubicBezTo>
                <a:lnTo>
                  <a:pt x="0" y="21075"/>
                </a:lnTo>
                <a:close/>
              </a:path>
            </a:pathLst>
          </a:custGeom>
          <a:noFill/>
          <a:ln w="38100">
            <a:solidFill>
              <a:srgbClr val="00CC00"/>
            </a:solidFill>
            <a:miter lim="800000"/>
            <a:headEnd type="triangle" w="lg" len="me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91185" name="FlagCount" hidden="1">
            <a:hlinkClick r:id="rId3" action="ppaction://hlinkfile"/>
            <a:extLst>
              <a:ext uri="{FF2B5EF4-FFF2-40B4-BE49-F238E27FC236}">
                <a16:creationId xmlns:a16="http://schemas.microsoft.com/office/drawing/2014/main" id="{AA40F31F-6A83-4176-DD63-B3F850A86C5E}"/>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93807854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1143">
                                            <p:txEl>
                                              <p:pRg st="0" end="0"/>
                                            </p:txEl>
                                          </p:spTgt>
                                        </p:tgtEl>
                                        <p:attrNameLst>
                                          <p:attrName>style.visibility</p:attrName>
                                        </p:attrNameLst>
                                      </p:cBhvr>
                                      <p:to>
                                        <p:strVal val="visible"/>
                                      </p:to>
                                    </p:set>
                                    <p:animEffect transition="in" filter="wipe(left)">
                                      <p:cBhvr>
                                        <p:cTn id="7" dur="500"/>
                                        <p:tgtEl>
                                          <p:spTgt spid="911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143">
                                            <p:txEl>
                                              <p:pRg st="1" end="1"/>
                                            </p:txEl>
                                          </p:spTgt>
                                        </p:tgtEl>
                                        <p:attrNameLst>
                                          <p:attrName>style.visibility</p:attrName>
                                        </p:attrNameLst>
                                      </p:cBhvr>
                                      <p:to>
                                        <p:strVal val="visible"/>
                                      </p:to>
                                    </p:set>
                                    <p:animEffect transition="in" filter="wipe(left)">
                                      <p:cBhvr>
                                        <p:cTn id="12" dur="500"/>
                                        <p:tgtEl>
                                          <p:spTgt spid="91143">
                                            <p:txEl>
                                              <p:pRg st="1" end="1"/>
                                            </p:txEl>
                                          </p:spTgt>
                                        </p:tgtEl>
                                      </p:cBhvr>
                                    </p:animEffect>
                                  </p:childTnLst>
                                </p:cTn>
                              </p:par>
                            </p:childTnLst>
                          </p:cTn>
                        </p:par>
                        <p:par>
                          <p:cTn id="13" fill="hold" nodeType="afterGroup">
                            <p:stCondLst>
                              <p:cond delay="500"/>
                            </p:stCondLst>
                            <p:childTnLst>
                              <p:par>
                                <p:cTn id="14" presetID="18" presetClass="entr" presetSubtype="6" fill="hold" nodeType="afterEffect">
                                  <p:stCondLst>
                                    <p:cond delay="0"/>
                                  </p:stCondLst>
                                  <p:childTnLst>
                                    <p:set>
                                      <p:cBhvr>
                                        <p:cTn id="15" dur="1" fill="hold">
                                          <p:stCondLst>
                                            <p:cond delay="0"/>
                                          </p:stCondLst>
                                        </p:cTn>
                                        <p:tgtEl>
                                          <p:spTgt spid="91184"/>
                                        </p:tgtEl>
                                        <p:attrNameLst>
                                          <p:attrName>style.visibility</p:attrName>
                                        </p:attrNameLst>
                                      </p:cBhvr>
                                      <p:to>
                                        <p:strVal val="visible"/>
                                      </p:to>
                                    </p:set>
                                    <p:animEffect transition="in" filter="strips(downRight)">
                                      <p:cBhvr>
                                        <p:cTn id="16" dur="500"/>
                                        <p:tgtEl>
                                          <p:spTgt spid="91184"/>
                                        </p:tgtEl>
                                      </p:cBhvr>
                                    </p:animEffect>
                                  </p:childTnLst>
                                  <p:subTnLst>
                                    <p:set>
                                      <p:cBhvr override="childStyle">
                                        <p:cTn dur="1" fill="hold" display="0" masterRel="nextClick" afterEffect="1"/>
                                        <p:tgtEl>
                                          <p:spTgt spid="91184"/>
                                        </p:tgtEl>
                                        <p:attrNameLst>
                                          <p:attrName>style.visibility</p:attrName>
                                        </p:attrNameLst>
                                      </p:cBhvr>
                                      <p:to>
                                        <p:strVal val="hidden"/>
                                      </p:to>
                                    </p:set>
                                  </p:subTnLst>
                                </p:cTn>
                              </p:par>
                            </p:childTnLst>
                          </p:cTn>
                        </p:par>
                        <p:par>
                          <p:cTn id="17" fill="hold" nodeType="afterGroup">
                            <p:stCondLst>
                              <p:cond delay="1000"/>
                            </p:stCondLst>
                            <p:childTnLst>
                              <p:par>
                                <p:cTn id="18" presetID="17" presetClass="entr" presetSubtype="8" fill="hold" nodeType="afterEffect">
                                  <p:stCondLst>
                                    <p:cond delay="0"/>
                                  </p:stCondLst>
                                  <p:childTnLst>
                                    <p:set>
                                      <p:cBhvr>
                                        <p:cTn id="19" dur="1" fill="hold">
                                          <p:stCondLst>
                                            <p:cond delay="0"/>
                                          </p:stCondLst>
                                        </p:cTn>
                                        <p:tgtEl>
                                          <p:spTgt spid="91182"/>
                                        </p:tgtEl>
                                        <p:attrNameLst>
                                          <p:attrName>style.visibility</p:attrName>
                                        </p:attrNameLst>
                                      </p:cBhvr>
                                      <p:to>
                                        <p:strVal val="visible"/>
                                      </p:to>
                                    </p:set>
                                    <p:anim calcmode="lin" valueType="num">
                                      <p:cBhvr>
                                        <p:cTn id="20" dur="500" fill="hold"/>
                                        <p:tgtEl>
                                          <p:spTgt spid="91182"/>
                                        </p:tgtEl>
                                        <p:attrNameLst>
                                          <p:attrName>ppt_x</p:attrName>
                                        </p:attrNameLst>
                                      </p:cBhvr>
                                      <p:tavLst>
                                        <p:tav tm="0">
                                          <p:val>
                                            <p:strVal val="#ppt_x-#ppt_w/2"/>
                                          </p:val>
                                        </p:tav>
                                        <p:tav tm="100000">
                                          <p:val>
                                            <p:strVal val="#ppt_x"/>
                                          </p:val>
                                        </p:tav>
                                      </p:tavLst>
                                    </p:anim>
                                    <p:anim calcmode="lin" valueType="num">
                                      <p:cBhvr>
                                        <p:cTn id="21" dur="500" fill="hold"/>
                                        <p:tgtEl>
                                          <p:spTgt spid="91182"/>
                                        </p:tgtEl>
                                        <p:attrNameLst>
                                          <p:attrName>ppt_y</p:attrName>
                                        </p:attrNameLst>
                                      </p:cBhvr>
                                      <p:tavLst>
                                        <p:tav tm="0">
                                          <p:val>
                                            <p:strVal val="#ppt_y"/>
                                          </p:val>
                                        </p:tav>
                                        <p:tav tm="100000">
                                          <p:val>
                                            <p:strVal val="#ppt_y"/>
                                          </p:val>
                                        </p:tav>
                                      </p:tavLst>
                                    </p:anim>
                                    <p:anim calcmode="lin" valueType="num">
                                      <p:cBhvr>
                                        <p:cTn id="22" dur="500" fill="hold"/>
                                        <p:tgtEl>
                                          <p:spTgt spid="91182"/>
                                        </p:tgtEl>
                                        <p:attrNameLst>
                                          <p:attrName>ppt_w</p:attrName>
                                        </p:attrNameLst>
                                      </p:cBhvr>
                                      <p:tavLst>
                                        <p:tav tm="0">
                                          <p:val>
                                            <p:fltVal val="0"/>
                                          </p:val>
                                        </p:tav>
                                        <p:tav tm="100000">
                                          <p:val>
                                            <p:strVal val="#ppt_w"/>
                                          </p:val>
                                        </p:tav>
                                      </p:tavLst>
                                    </p:anim>
                                    <p:anim calcmode="lin" valueType="num">
                                      <p:cBhvr>
                                        <p:cTn id="23" dur="500" fill="hold"/>
                                        <p:tgtEl>
                                          <p:spTgt spid="911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build="p" bldLvl="5" autoUpdateAnimBg="0"/>
      <p:bldP spid="91184" grpId="0" animBg="1"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E816272-D9AA-F6D9-AF03-1162CC8A66CE}"/>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066EC776-5052-74AF-471D-2220DA92559D}"/>
              </a:ext>
            </a:extLst>
          </p:cNvPr>
          <p:cNvSpPr>
            <a:spLocks noGrp="1"/>
          </p:cNvSpPr>
          <p:nvPr>
            <p:ph type="sldNum" sz="quarter" idx="11"/>
          </p:nvPr>
        </p:nvSpPr>
        <p:spPr/>
        <p:txBody>
          <a:bodyPr/>
          <a:lstStyle/>
          <a:p>
            <a:fld id="{3E9388CC-6AAC-8A4F-88B9-84D67BBA1E59}" type="slidenum">
              <a:rPr lang="zh-CN" altLang="zh-CN"/>
              <a:pPr/>
              <a:t>76</a:t>
            </a:fld>
            <a:endParaRPr lang="zh-CN" altLang="zh-CN"/>
          </a:p>
        </p:txBody>
      </p:sp>
      <p:grpSp>
        <p:nvGrpSpPr>
          <p:cNvPr id="91138" name="Group 2">
            <a:extLst>
              <a:ext uri="{FF2B5EF4-FFF2-40B4-BE49-F238E27FC236}">
                <a16:creationId xmlns:a16="http://schemas.microsoft.com/office/drawing/2014/main" id="{D9B14D64-351F-48BE-9327-6D34EFAEA0D1}"/>
              </a:ext>
            </a:extLst>
          </p:cNvPr>
          <p:cNvGrpSpPr>
            <a:grpSpLocks/>
          </p:cNvGrpSpPr>
          <p:nvPr/>
        </p:nvGrpSpPr>
        <p:grpSpPr bwMode="auto">
          <a:xfrm>
            <a:off x="3127825" y="747527"/>
            <a:ext cx="593871" cy="2219411"/>
            <a:chOff x="0" y="0"/>
            <a:chExt cx="742" cy="2773"/>
          </a:xfrm>
        </p:grpSpPr>
        <p:sp>
          <p:nvSpPr>
            <p:cNvPr id="91139" name="Line 3">
              <a:extLst>
                <a:ext uri="{FF2B5EF4-FFF2-40B4-BE49-F238E27FC236}">
                  <a16:creationId xmlns:a16="http://schemas.microsoft.com/office/drawing/2014/main" id="{0C1AF0FD-86B7-E3BE-9B30-268C0562B2F0}"/>
                </a:ext>
              </a:extLst>
            </p:cNvPr>
            <p:cNvSpPr>
              <a:spLocks noChangeShapeType="1"/>
            </p:cNvSpPr>
            <p:nvPr/>
          </p:nvSpPr>
          <p:spPr bwMode="auto">
            <a:xfrm rot="16200000" flipH="1">
              <a:off x="-718" y="1333"/>
              <a:ext cx="2167" cy="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40" name="Text Box 4">
              <a:extLst>
                <a:ext uri="{FF2B5EF4-FFF2-40B4-BE49-F238E27FC236}">
                  <a16:creationId xmlns:a16="http://schemas.microsoft.com/office/drawing/2014/main" id="{1C1A9797-44B7-F7C6-50A2-C553809B8D8B}"/>
                </a:ext>
              </a:extLst>
            </p:cNvPr>
            <p:cNvSpPr txBox="1">
              <a:spLocks noChangeArrowheads="1"/>
            </p:cNvSpPr>
            <p:nvPr/>
          </p:nvSpPr>
          <p:spPr bwMode="auto">
            <a:xfrm>
              <a:off x="0" y="0"/>
              <a:ext cx="74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a:ea typeface="宋体" panose="02010600030101010101" pitchFamily="2" charset="-122"/>
                </a:rPr>
                <a:t>LRAS</a:t>
              </a:r>
              <a:endParaRPr lang="en-US" altLang="zh-CN" sz="1210" i="1" baseline="-25000">
                <a:ea typeface="宋体" panose="02010600030101010101" pitchFamily="2" charset="-122"/>
              </a:endParaRPr>
            </a:p>
          </p:txBody>
        </p:sp>
        <p:sp>
          <p:nvSpPr>
            <p:cNvPr id="91141" name="Rectangle 5">
              <a:extLst>
                <a:ext uri="{FF2B5EF4-FFF2-40B4-BE49-F238E27FC236}">
                  <a16:creationId xmlns:a16="http://schemas.microsoft.com/office/drawing/2014/main" id="{9B5715C8-BD35-72DA-44E9-3C7E9EC6F546}"/>
                </a:ext>
              </a:extLst>
            </p:cNvPr>
            <p:cNvSpPr>
              <a:spLocks noChangeArrowheads="1"/>
            </p:cNvSpPr>
            <p:nvPr/>
          </p:nvSpPr>
          <p:spPr bwMode="auto">
            <a:xfrm>
              <a:off x="221" y="2425"/>
              <a:ext cx="455"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N</a:t>
              </a:r>
            </a:p>
          </p:txBody>
        </p:sp>
      </p:grpSp>
      <p:sp>
        <p:nvSpPr>
          <p:cNvPr id="91142" name="Rectangle 6">
            <a:extLst>
              <a:ext uri="{FF2B5EF4-FFF2-40B4-BE49-F238E27FC236}">
                <a16:creationId xmlns:a16="http://schemas.microsoft.com/office/drawing/2014/main" id="{0DAE4E5C-D218-361D-4A29-36BE98836825}"/>
              </a:ext>
            </a:extLst>
          </p:cNvPr>
          <p:cNvSpPr>
            <a:spLocks noGrp="1" noChangeArrowheads="1"/>
          </p:cNvSpPr>
          <p:nvPr>
            <p:ph type="title" idx="4294967295"/>
          </p:nvPr>
        </p:nvSpPr>
        <p:spPr>
          <a:xfrm>
            <a:off x="0" y="84025"/>
            <a:ext cx="4610100" cy="327349"/>
          </a:xfrm>
        </p:spPr>
        <p:txBody>
          <a:bodyPr/>
          <a:lstStyle/>
          <a:p>
            <a:r>
              <a:rPr lang="zh-CN" altLang="en-US" sz="1815">
                <a:ea typeface="宋体" panose="02010600030101010101" pitchFamily="2" charset="-122"/>
              </a:rPr>
              <a:t>抵消短期总供给的不利移动</a:t>
            </a:r>
            <a:endParaRPr lang="zh-CN" altLang="en-US" sz="1815" i="1">
              <a:ea typeface="宋体" panose="02010600030101010101" pitchFamily="2" charset="-122"/>
            </a:endParaRPr>
          </a:p>
        </p:txBody>
      </p:sp>
      <p:grpSp>
        <p:nvGrpSpPr>
          <p:cNvPr id="91144" name="Group 8">
            <a:extLst>
              <a:ext uri="{FF2B5EF4-FFF2-40B4-BE49-F238E27FC236}">
                <a16:creationId xmlns:a16="http://schemas.microsoft.com/office/drawing/2014/main" id="{BA2EFB3C-0679-9012-3059-CD63257AC3CF}"/>
              </a:ext>
            </a:extLst>
          </p:cNvPr>
          <p:cNvGrpSpPr>
            <a:grpSpLocks/>
          </p:cNvGrpSpPr>
          <p:nvPr/>
        </p:nvGrpSpPr>
        <p:grpSpPr bwMode="auto">
          <a:xfrm>
            <a:off x="2321858" y="719515"/>
            <a:ext cx="2013717" cy="2119312"/>
            <a:chOff x="0" y="0"/>
            <a:chExt cx="2786" cy="2477"/>
          </a:xfrm>
        </p:grpSpPr>
        <p:grpSp>
          <p:nvGrpSpPr>
            <p:cNvPr id="91145" name="Group 9">
              <a:extLst>
                <a:ext uri="{FF2B5EF4-FFF2-40B4-BE49-F238E27FC236}">
                  <a16:creationId xmlns:a16="http://schemas.microsoft.com/office/drawing/2014/main" id="{EC45EDC3-55A1-70D8-6F0B-59B5CDBFFB71}"/>
                </a:ext>
              </a:extLst>
            </p:cNvPr>
            <p:cNvGrpSpPr>
              <a:grpSpLocks/>
            </p:cNvGrpSpPr>
            <p:nvPr/>
          </p:nvGrpSpPr>
          <p:grpSpPr bwMode="auto">
            <a:xfrm>
              <a:off x="118" y="252"/>
              <a:ext cx="2409" cy="2049"/>
              <a:chOff x="0" y="0"/>
              <a:chExt cx="2116" cy="2027"/>
            </a:xfrm>
          </p:grpSpPr>
          <p:sp>
            <p:nvSpPr>
              <p:cNvPr id="91146" name="Line 10">
                <a:extLst>
                  <a:ext uri="{FF2B5EF4-FFF2-40B4-BE49-F238E27FC236}">
                    <a16:creationId xmlns:a16="http://schemas.microsoft.com/office/drawing/2014/main" id="{78BEF08A-0E6A-0A2B-5B38-3C6800C50B0B}"/>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47" name="Line 11">
                <a:extLst>
                  <a:ext uri="{FF2B5EF4-FFF2-40B4-BE49-F238E27FC236}">
                    <a16:creationId xmlns:a16="http://schemas.microsoft.com/office/drawing/2014/main" id="{1AB33FF6-BE17-001B-D896-ADC39A897638}"/>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91148" name="Text Box 12">
              <a:extLst>
                <a:ext uri="{FF2B5EF4-FFF2-40B4-BE49-F238E27FC236}">
                  <a16:creationId xmlns:a16="http://schemas.microsoft.com/office/drawing/2014/main" id="{590CCFAB-885B-450A-F31C-2DA4E0CFDCAF}"/>
                </a:ext>
              </a:extLst>
            </p:cNvPr>
            <p:cNvSpPr txBox="1">
              <a:spLocks noChangeArrowheads="1"/>
            </p:cNvSpPr>
            <p:nvPr/>
          </p:nvSpPr>
          <p:spPr bwMode="auto">
            <a:xfrm>
              <a:off x="0" y="0"/>
              <a:ext cx="2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p>
          </p:txBody>
        </p:sp>
        <p:sp>
          <p:nvSpPr>
            <p:cNvPr id="91149" name="Text Box 13">
              <a:extLst>
                <a:ext uri="{FF2B5EF4-FFF2-40B4-BE49-F238E27FC236}">
                  <a16:creationId xmlns:a16="http://schemas.microsoft.com/office/drawing/2014/main" id="{3EA878CF-8C7F-1AB1-5CC8-B1627593F095}"/>
                </a:ext>
              </a:extLst>
            </p:cNvPr>
            <p:cNvSpPr txBox="1">
              <a:spLocks noChangeArrowheads="1"/>
            </p:cNvSpPr>
            <p:nvPr/>
          </p:nvSpPr>
          <p:spPr bwMode="auto">
            <a:xfrm>
              <a:off x="2496" y="2151"/>
              <a:ext cx="2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p>
          </p:txBody>
        </p:sp>
      </p:grpSp>
      <p:grpSp>
        <p:nvGrpSpPr>
          <p:cNvPr id="91150" name="Group 14">
            <a:extLst>
              <a:ext uri="{FF2B5EF4-FFF2-40B4-BE49-F238E27FC236}">
                <a16:creationId xmlns:a16="http://schemas.microsoft.com/office/drawing/2014/main" id="{8BDDCFCE-66F1-6996-3324-D4647F555D8D}"/>
              </a:ext>
            </a:extLst>
          </p:cNvPr>
          <p:cNvGrpSpPr>
            <a:grpSpLocks/>
          </p:cNvGrpSpPr>
          <p:nvPr/>
        </p:nvGrpSpPr>
        <p:grpSpPr bwMode="auto">
          <a:xfrm>
            <a:off x="2693227" y="1291776"/>
            <a:ext cx="1649551" cy="1363821"/>
            <a:chOff x="0" y="0"/>
            <a:chExt cx="2061" cy="1704"/>
          </a:xfrm>
        </p:grpSpPr>
        <p:sp>
          <p:nvSpPr>
            <p:cNvPr id="91151" name="Line 15">
              <a:extLst>
                <a:ext uri="{FF2B5EF4-FFF2-40B4-BE49-F238E27FC236}">
                  <a16:creationId xmlns:a16="http://schemas.microsoft.com/office/drawing/2014/main" id="{DCCF44EF-73A5-C1F7-C19E-CB9FC3A0DC54}"/>
                </a:ext>
              </a:extLst>
            </p:cNvPr>
            <p:cNvSpPr>
              <a:spLocks noChangeShapeType="1"/>
            </p:cNvSpPr>
            <p:nvPr/>
          </p:nvSpPr>
          <p:spPr bwMode="auto">
            <a:xfrm>
              <a:off x="0" y="0"/>
              <a:ext cx="1460" cy="143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2" name="Text Box 16">
              <a:extLst>
                <a:ext uri="{FF2B5EF4-FFF2-40B4-BE49-F238E27FC236}">
                  <a16:creationId xmlns:a16="http://schemas.microsoft.com/office/drawing/2014/main" id="{983C7041-799A-237C-B2E7-4F6357711D23}"/>
                </a:ext>
              </a:extLst>
            </p:cNvPr>
            <p:cNvSpPr txBox="1">
              <a:spLocks noChangeArrowheads="1"/>
            </p:cNvSpPr>
            <p:nvPr/>
          </p:nvSpPr>
          <p:spPr bwMode="auto">
            <a:xfrm>
              <a:off x="1388" y="1356"/>
              <a:ext cx="673"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1</a:t>
              </a:r>
            </a:p>
          </p:txBody>
        </p:sp>
      </p:grpSp>
      <p:grpSp>
        <p:nvGrpSpPr>
          <p:cNvPr id="91153" name="Group 17">
            <a:extLst>
              <a:ext uri="{FF2B5EF4-FFF2-40B4-BE49-F238E27FC236}">
                <a16:creationId xmlns:a16="http://schemas.microsoft.com/office/drawing/2014/main" id="{5DBC6B4E-71E2-A54A-CD16-DCC1E13D21AD}"/>
              </a:ext>
            </a:extLst>
          </p:cNvPr>
          <p:cNvGrpSpPr>
            <a:grpSpLocks/>
          </p:cNvGrpSpPr>
          <p:nvPr/>
        </p:nvGrpSpPr>
        <p:grpSpPr bwMode="auto">
          <a:xfrm>
            <a:off x="2919730" y="1347801"/>
            <a:ext cx="1626341" cy="1126913"/>
            <a:chOff x="0" y="0"/>
            <a:chExt cx="2032" cy="1408"/>
          </a:xfrm>
        </p:grpSpPr>
        <p:sp>
          <p:nvSpPr>
            <p:cNvPr id="91154" name="Line 18">
              <a:extLst>
                <a:ext uri="{FF2B5EF4-FFF2-40B4-BE49-F238E27FC236}">
                  <a16:creationId xmlns:a16="http://schemas.microsoft.com/office/drawing/2014/main" id="{7D5CC12C-8F91-1A68-58BB-36B8BA6E1709}"/>
                </a:ext>
              </a:extLst>
            </p:cNvPr>
            <p:cNvSpPr>
              <a:spLocks noChangeShapeType="1"/>
            </p:cNvSpPr>
            <p:nvPr/>
          </p:nvSpPr>
          <p:spPr bwMode="auto">
            <a:xfrm flipV="1">
              <a:off x="0" y="252"/>
              <a:ext cx="1256" cy="115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5" name="Text Box 19">
              <a:extLst>
                <a:ext uri="{FF2B5EF4-FFF2-40B4-BE49-F238E27FC236}">
                  <a16:creationId xmlns:a16="http://schemas.microsoft.com/office/drawing/2014/main" id="{FA9DAE91-DFA5-5609-4ED4-B5F02AF91E47}"/>
                </a:ext>
              </a:extLst>
            </p:cNvPr>
            <p:cNvSpPr txBox="1">
              <a:spLocks noChangeArrowheads="1"/>
            </p:cNvSpPr>
            <p:nvPr/>
          </p:nvSpPr>
          <p:spPr bwMode="auto">
            <a:xfrm>
              <a:off x="1153" y="0"/>
              <a:ext cx="87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1</a:t>
              </a:r>
            </a:p>
          </p:txBody>
        </p:sp>
      </p:grpSp>
      <p:grpSp>
        <p:nvGrpSpPr>
          <p:cNvPr id="91156" name="Group 20">
            <a:extLst>
              <a:ext uri="{FF2B5EF4-FFF2-40B4-BE49-F238E27FC236}">
                <a16:creationId xmlns:a16="http://schemas.microsoft.com/office/drawing/2014/main" id="{9F09D942-3E36-F41F-0099-AD5124B40425}"/>
              </a:ext>
            </a:extLst>
          </p:cNvPr>
          <p:cNvGrpSpPr>
            <a:grpSpLocks/>
          </p:cNvGrpSpPr>
          <p:nvPr/>
        </p:nvGrpSpPr>
        <p:grpSpPr bwMode="auto">
          <a:xfrm>
            <a:off x="2568370" y="985236"/>
            <a:ext cx="1776009" cy="1228559"/>
            <a:chOff x="0" y="0"/>
            <a:chExt cx="2219" cy="1535"/>
          </a:xfrm>
        </p:grpSpPr>
        <p:sp>
          <p:nvSpPr>
            <p:cNvPr id="91157" name="Line 21">
              <a:extLst>
                <a:ext uri="{FF2B5EF4-FFF2-40B4-BE49-F238E27FC236}">
                  <a16:creationId xmlns:a16="http://schemas.microsoft.com/office/drawing/2014/main" id="{694850CA-F298-986F-4FA5-F884C8AE5E04}"/>
                </a:ext>
              </a:extLst>
            </p:cNvPr>
            <p:cNvSpPr>
              <a:spLocks noChangeShapeType="1"/>
            </p:cNvSpPr>
            <p:nvPr/>
          </p:nvSpPr>
          <p:spPr bwMode="auto">
            <a:xfrm flipV="1">
              <a:off x="0" y="218"/>
              <a:ext cx="1407" cy="131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58" name="Text Box 22">
              <a:extLst>
                <a:ext uri="{FF2B5EF4-FFF2-40B4-BE49-F238E27FC236}">
                  <a16:creationId xmlns:a16="http://schemas.microsoft.com/office/drawing/2014/main" id="{957D9DD5-0511-30D9-C329-0E9234B69BDA}"/>
                </a:ext>
              </a:extLst>
            </p:cNvPr>
            <p:cNvSpPr txBox="1">
              <a:spLocks noChangeArrowheads="1"/>
            </p:cNvSpPr>
            <p:nvPr/>
          </p:nvSpPr>
          <p:spPr bwMode="auto">
            <a:xfrm>
              <a:off x="1350" y="0"/>
              <a:ext cx="86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SRAS</a:t>
              </a:r>
              <a:r>
                <a:rPr lang="en-US" altLang="zh-CN" sz="1210" baseline="-25000" dirty="0">
                  <a:ea typeface="宋体" panose="02010600030101010101" pitchFamily="2" charset="-122"/>
                </a:rPr>
                <a:t>2</a:t>
              </a:r>
            </a:p>
          </p:txBody>
        </p:sp>
      </p:grpSp>
      <p:grpSp>
        <p:nvGrpSpPr>
          <p:cNvPr id="91159" name="Group 23">
            <a:extLst>
              <a:ext uri="{FF2B5EF4-FFF2-40B4-BE49-F238E27FC236}">
                <a16:creationId xmlns:a16="http://schemas.microsoft.com/office/drawing/2014/main" id="{3CE40815-456A-046F-99A7-5482F734A4AB}"/>
              </a:ext>
            </a:extLst>
          </p:cNvPr>
          <p:cNvGrpSpPr>
            <a:grpSpLocks/>
          </p:cNvGrpSpPr>
          <p:nvPr/>
        </p:nvGrpSpPr>
        <p:grpSpPr bwMode="auto">
          <a:xfrm>
            <a:off x="2158584" y="1904855"/>
            <a:ext cx="1478273" cy="203293"/>
            <a:chOff x="0" y="0"/>
            <a:chExt cx="1847" cy="254"/>
          </a:xfrm>
        </p:grpSpPr>
        <p:grpSp>
          <p:nvGrpSpPr>
            <p:cNvPr id="91160" name="Group 24">
              <a:extLst>
                <a:ext uri="{FF2B5EF4-FFF2-40B4-BE49-F238E27FC236}">
                  <a16:creationId xmlns:a16="http://schemas.microsoft.com/office/drawing/2014/main" id="{DA5C66DF-5864-7F25-ACB1-FA7C57CF5F0A}"/>
                </a:ext>
              </a:extLst>
            </p:cNvPr>
            <p:cNvGrpSpPr>
              <a:grpSpLocks/>
            </p:cNvGrpSpPr>
            <p:nvPr/>
          </p:nvGrpSpPr>
          <p:grpSpPr bwMode="auto">
            <a:xfrm>
              <a:off x="0" y="21"/>
              <a:ext cx="1622" cy="233"/>
              <a:chOff x="0" y="0"/>
              <a:chExt cx="1622" cy="233"/>
            </a:xfrm>
          </p:grpSpPr>
          <p:sp>
            <p:nvSpPr>
              <p:cNvPr id="91161" name="Line 25">
                <a:extLst>
                  <a:ext uri="{FF2B5EF4-FFF2-40B4-BE49-F238E27FC236}">
                    <a16:creationId xmlns:a16="http://schemas.microsoft.com/office/drawing/2014/main" id="{8161494E-858A-2107-FF98-AC1961236BAB}"/>
                  </a:ext>
                </a:extLst>
              </p:cNvPr>
              <p:cNvSpPr>
                <a:spLocks noChangeShapeType="1"/>
              </p:cNvSpPr>
              <p:nvPr/>
            </p:nvSpPr>
            <p:spPr bwMode="auto">
              <a:xfrm flipV="1">
                <a:off x="312" y="116"/>
                <a:ext cx="1263" cy="1"/>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62" name="Text Box 26">
                <a:extLst>
                  <a:ext uri="{FF2B5EF4-FFF2-40B4-BE49-F238E27FC236}">
                    <a16:creationId xmlns:a16="http://schemas.microsoft.com/office/drawing/2014/main" id="{478D8B31-B32B-CCD1-E9A0-75D8EFBA700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1</a:t>
                </a:r>
              </a:p>
            </p:txBody>
          </p:sp>
          <p:sp>
            <p:nvSpPr>
              <p:cNvPr id="91163" name="Oval 27">
                <a:extLst>
                  <a:ext uri="{FF2B5EF4-FFF2-40B4-BE49-F238E27FC236}">
                    <a16:creationId xmlns:a16="http://schemas.microsoft.com/office/drawing/2014/main" id="{F3FBDBDD-896A-5AEA-1286-4635D773BF56}"/>
                  </a:ext>
                </a:extLst>
              </p:cNvPr>
              <p:cNvSpPr>
                <a:spLocks noChangeArrowheads="1"/>
              </p:cNvSpPr>
              <p:nvPr/>
            </p:nvSpPr>
            <p:spPr bwMode="auto">
              <a:xfrm>
                <a:off x="1534"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91164" name="Text Box 28">
              <a:extLst>
                <a:ext uri="{FF2B5EF4-FFF2-40B4-BE49-F238E27FC236}">
                  <a16:creationId xmlns:a16="http://schemas.microsoft.com/office/drawing/2014/main" id="{F2340980-05FC-E564-B653-9ED14B5E3866}"/>
                </a:ext>
              </a:extLst>
            </p:cNvPr>
            <p:cNvSpPr txBox="1">
              <a:spLocks noChangeArrowheads="1"/>
            </p:cNvSpPr>
            <p:nvPr/>
          </p:nvSpPr>
          <p:spPr bwMode="auto">
            <a:xfrm>
              <a:off x="1646"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A</a:t>
              </a:r>
              <a:endParaRPr lang="en-US" altLang="zh-CN" sz="1210" baseline="-25000">
                <a:ea typeface="宋体" panose="02010600030101010101" pitchFamily="2" charset="-122"/>
              </a:endParaRPr>
            </a:p>
          </p:txBody>
        </p:sp>
      </p:grpSp>
      <p:grpSp>
        <p:nvGrpSpPr>
          <p:cNvPr id="91165" name="Group 29">
            <a:extLst>
              <a:ext uri="{FF2B5EF4-FFF2-40B4-BE49-F238E27FC236}">
                <a16:creationId xmlns:a16="http://schemas.microsoft.com/office/drawing/2014/main" id="{769C6FA7-DABC-B84A-DA9E-5A585089848E}"/>
              </a:ext>
            </a:extLst>
          </p:cNvPr>
          <p:cNvGrpSpPr>
            <a:grpSpLocks/>
          </p:cNvGrpSpPr>
          <p:nvPr/>
        </p:nvGrpSpPr>
        <p:grpSpPr bwMode="auto">
          <a:xfrm>
            <a:off x="2158584" y="1490266"/>
            <a:ext cx="1096499" cy="1404640"/>
            <a:chOff x="0" y="0"/>
            <a:chExt cx="1370" cy="1755"/>
          </a:xfrm>
        </p:grpSpPr>
        <p:sp>
          <p:nvSpPr>
            <p:cNvPr id="91166" name="Oval 30">
              <a:extLst>
                <a:ext uri="{FF2B5EF4-FFF2-40B4-BE49-F238E27FC236}">
                  <a16:creationId xmlns:a16="http://schemas.microsoft.com/office/drawing/2014/main" id="{ECA8C904-10C9-A17C-95DF-3AB0B7942BF9}"/>
                </a:ext>
              </a:extLst>
            </p:cNvPr>
            <p:cNvSpPr>
              <a:spLocks noChangeArrowheads="1"/>
            </p:cNvSpPr>
            <p:nvPr/>
          </p:nvSpPr>
          <p:spPr bwMode="auto">
            <a:xfrm>
              <a:off x="1145" y="22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nvGrpSpPr>
            <p:cNvPr id="91167" name="Group 31">
              <a:extLst>
                <a:ext uri="{FF2B5EF4-FFF2-40B4-BE49-F238E27FC236}">
                  <a16:creationId xmlns:a16="http://schemas.microsoft.com/office/drawing/2014/main" id="{96DE0D0A-EB21-1AAC-83CC-5558F1BAE9CA}"/>
                </a:ext>
              </a:extLst>
            </p:cNvPr>
            <p:cNvGrpSpPr>
              <a:grpSpLocks/>
            </p:cNvGrpSpPr>
            <p:nvPr/>
          </p:nvGrpSpPr>
          <p:grpSpPr bwMode="auto">
            <a:xfrm>
              <a:off x="314" y="268"/>
              <a:ext cx="875" cy="1230"/>
              <a:chOff x="0" y="0"/>
              <a:chExt cx="795" cy="646"/>
            </a:xfrm>
          </p:grpSpPr>
          <p:sp>
            <p:nvSpPr>
              <p:cNvPr id="91168" name="Line 32">
                <a:extLst>
                  <a:ext uri="{FF2B5EF4-FFF2-40B4-BE49-F238E27FC236}">
                    <a16:creationId xmlns:a16="http://schemas.microsoft.com/office/drawing/2014/main" id="{D7B51ACA-7DB6-C263-2648-AF36A9270145}"/>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69" name="Line 33">
                <a:extLst>
                  <a:ext uri="{FF2B5EF4-FFF2-40B4-BE49-F238E27FC236}">
                    <a16:creationId xmlns:a16="http://schemas.microsoft.com/office/drawing/2014/main" id="{F161E95A-7028-93FC-54C0-31386F8B694E}"/>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91170" name="Text Box 34">
              <a:extLst>
                <a:ext uri="{FF2B5EF4-FFF2-40B4-BE49-F238E27FC236}">
                  <a16:creationId xmlns:a16="http://schemas.microsoft.com/office/drawing/2014/main" id="{09D362B0-3288-5F43-64A7-E4D8EC8C7C4C}"/>
                </a:ext>
              </a:extLst>
            </p:cNvPr>
            <p:cNvSpPr txBox="1">
              <a:spLocks noChangeArrowheads="1"/>
            </p:cNvSpPr>
            <p:nvPr/>
          </p:nvSpPr>
          <p:spPr bwMode="auto">
            <a:xfrm>
              <a:off x="0" y="15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2</a:t>
              </a:r>
            </a:p>
          </p:txBody>
        </p:sp>
        <p:sp>
          <p:nvSpPr>
            <p:cNvPr id="91171" name="Text Box 35">
              <a:extLst>
                <a:ext uri="{FF2B5EF4-FFF2-40B4-BE49-F238E27FC236}">
                  <a16:creationId xmlns:a16="http://schemas.microsoft.com/office/drawing/2014/main" id="{4181729B-E863-A267-A1F0-463697B41B54}"/>
                </a:ext>
              </a:extLst>
            </p:cNvPr>
            <p:cNvSpPr txBox="1">
              <a:spLocks noChangeArrowheads="1"/>
            </p:cNvSpPr>
            <p:nvPr/>
          </p:nvSpPr>
          <p:spPr bwMode="auto">
            <a:xfrm>
              <a:off x="1062" y="1522"/>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Y</a:t>
              </a:r>
              <a:r>
                <a:rPr lang="en-US" altLang="zh-CN" sz="1210" b="1" baseline="-25000">
                  <a:ea typeface="宋体" panose="02010600030101010101" pitchFamily="2" charset="-122"/>
                </a:rPr>
                <a:t>2</a:t>
              </a:r>
            </a:p>
          </p:txBody>
        </p:sp>
        <p:sp>
          <p:nvSpPr>
            <p:cNvPr id="91172" name="Text Box 36">
              <a:extLst>
                <a:ext uri="{FF2B5EF4-FFF2-40B4-BE49-F238E27FC236}">
                  <a16:creationId xmlns:a16="http://schemas.microsoft.com/office/drawing/2014/main" id="{691A3FDA-3F67-9C6F-7CF1-19FA3F48DB89}"/>
                </a:ext>
              </a:extLst>
            </p:cNvPr>
            <p:cNvSpPr txBox="1">
              <a:spLocks noChangeArrowheads="1"/>
            </p:cNvSpPr>
            <p:nvPr/>
          </p:nvSpPr>
          <p:spPr bwMode="auto">
            <a:xfrm>
              <a:off x="1100" y="0"/>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B</a:t>
              </a:r>
              <a:endParaRPr lang="en-US" altLang="zh-CN" sz="1210" baseline="-25000">
                <a:ea typeface="宋体" panose="02010600030101010101" pitchFamily="2" charset="-122"/>
              </a:endParaRPr>
            </a:p>
          </p:txBody>
        </p:sp>
      </p:grpSp>
      <p:grpSp>
        <p:nvGrpSpPr>
          <p:cNvPr id="91173" name="Group 37">
            <a:extLst>
              <a:ext uri="{FF2B5EF4-FFF2-40B4-BE49-F238E27FC236}">
                <a16:creationId xmlns:a16="http://schemas.microsoft.com/office/drawing/2014/main" id="{E589EF0A-FBBE-9FB4-54DA-FDA6DF726F11}"/>
              </a:ext>
            </a:extLst>
          </p:cNvPr>
          <p:cNvGrpSpPr>
            <a:grpSpLocks/>
          </p:cNvGrpSpPr>
          <p:nvPr/>
        </p:nvGrpSpPr>
        <p:grpSpPr bwMode="auto">
          <a:xfrm>
            <a:off x="3007770" y="1002844"/>
            <a:ext cx="1451061" cy="1243767"/>
            <a:chOff x="0" y="0"/>
            <a:chExt cx="1813" cy="1554"/>
          </a:xfrm>
        </p:grpSpPr>
        <p:sp>
          <p:nvSpPr>
            <p:cNvPr id="91174" name="Line 38">
              <a:extLst>
                <a:ext uri="{FF2B5EF4-FFF2-40B4-BE49-F238E27FC236}">
                  <a16:creationId xmlns:a16="http://schemas.microsoft.com/office/drawing/2014/main" id="{2C6F1D89-CB63-B10F-18CB-408718DCADAA}"/>
                </a:ext>
              </a:extLst>
            </p:cNvPr>
            <p:cNvSpPr>
              <a:spLocks noChangeShapeType="1"/>
            </p:cNvSpPr>
            <p:nvPr/>
          </p:nvSpPr>
          <p:spPr bwMode="auto">
            <a:xfrm>
              <a:off x="0" y="0"/>
              <a:ext cx="1306" cy="1289"/>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75" name="Text Box 39">
              <a:extLst>
                <a:ext uri="{FF2B5EF4-FFF2-40B4-BE49-F238E27FC236}">
                  <a16:creationId xmlns:a16="http://schemas.microsoft.com/office/drawing/2014/main" id="{2FB8AACA-AE4F-08D7-EF41-8EFA6159ED88}"/>
                </a:ext>
              </a:extLst>
            </p:cNvPr>
            <p:cNvSpPr txBox="1">
              <a:spLocks noChangeArrowheads="1"/>
            </p:cNvSpPr>
            <p:nvPr/>
          </p:nvSpPr>
          <p:spPr bwMode="auto">
            <a:xfrm>
              <a:off x="1234" y="1206"/>
              <a:ext cx="57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i="1" dirty="0">
                  <a:ea typeface="宋体" panose="02010600030101010101" pitchFamily="2" charset="-122"/>
                </a:rPr>
                <a:t>AD</a:t>
              </a:r>
              <a:r>
                <a:rPr lang="en-US" altLang="zh-CN" sz="1210" baseline="-25000" dirty="0">
                  <a:ea typeface="宋体" panose="02010600030101010101" pitchFamily="2" charset="-122"/>
                </a:rPr>
                <a:t>2</a:t>
              </a:r>
            </a:p>
          </p:txBody>
        </p:sp>
      </p:grpSp>
      <p:grpSp>
        <p:nvGrpSpPr>
          <p:cNvPr id="91176" name="Group 40">
            <a:extLst>
              <a:ext uri="{FF2B5EF4-FFF2-40B4-BE49-F238E27FC236}">
                <a16:creationId xmlns:a16="http://schemas.microsoft.com/office/drawing/2014/main" id="{79D6E5B1-7EA5-7DDE-49CB-F4C43E4A25AF}"/>
              </a:ext>
            </a:extLst>
          </p:cNvPr>
          <p:cNvGrpSpPr>
            <a:grpSpLocks/>
          </p:cNvGrpSpPr>
          <p:nvPr/>
        </p:nvGrpSpPr>
        <p:grpSpPr bwMode="auto">
          <a:xfrm>
            <a:off x="2157783" y="1318188"/>
            <a:ext cx="1471871" cy="191286"/>
            <a:chOff x="0" y="0"/>
            <a:chExt cx="1839" cy="239"/>
          </a:xfrm>
        </p:grpSpPr>
        <p:sp>
          <p:nvSpPr>
            <p:cNvPr id="91177" name="Line 41">
              <a:extLst>
                <a:ext uri="{FF2B5EF4-FFF2-40B4-BE49-F238E27FC236}">
                  <a16:creationId xmlns:a16="http://schemas.microsoft.com/office/drawing/2014/main" id="{2451EDBC-7B2B-EFC9-9355-EAEB9B5EF17C}"/>
                </a:ext>
              </a:extLst>
            </p:cNvPr>
            <p:cNvSpPr>
              <a:spLocks noChangeShapeType="1"/>
            </p:cNvSpPr>
            <p:nvPr/>
          </p:nvSpPr>
          <p:spPr bwMode="auto">
            <a:xfrm>
              <a:off x="318" y="115"/>
              <a:ext cx="1262" cy="3"/>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1178" name="Text Box 42">
              <a:extLst>
                <a:ext uri="{FF2B5EF4-FFF2-40B4-BE49-F238E27FC236}">
                  <a16:creationId xmlns:a16="http://schemas.microsoft.com/office/drawing/2014/main" id="{2318340D-F9C9-3573-4AAC-16A3F65A76E2}"/>
                </a:ext>
              </a:extLst>
            </p:cNvPr>
            <p:cNvSpPr txBox="1">
              <a:spLocks noChangeArrowheads="1"/>
            </p:cNvSpPr>
            <p:nvPr/>
          </p:nvSpPr>
          <p:spPr bwMode="auto">
            <a:xfrm>
              <a:off x="0" y="0"/>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b="1" i="1">
                  <a:ea typeface="宋体" panose="02010600030101010101" pitchFamily="2" charset="-122"/>
                </a:rPr>
                <a:t>P</a:t>
              </a:r>
              <a:r>
                <a:rPr lang="en-US" altLang="zh-CN" sz="1210" b="1" baseline="-25000">
                  <a:ea typeface="宋体" panose="02010600030101010101" pitchFamily="2" charset="-122"/>
                </a:rPr>
                <a:t>3</a:t>
              </a:r>
            </a:p>
          </p:txBody>
        </p:sp>
        <p:sp>
          <p:nvSpPr>
            <p:cNvPr id="91179" name="Text Box 43">
              <a:extLst>
                <a:ext uri="{FF2B5EF4-FFF2-40B4-BE49-F238E27FC236}">
                  <a16:creationId xmlns:a16="http://schemas.microsoft.com/office/drawing/2014/main" id="{14D98B1B-1E51-D7F5-3D7C-306A52D3FACB}"/>
                </a:ext>
              </a:extLst>
            </p:cNvPr>
            <p:cNvSpPr txBox="1">
              <a:spLocks noChangeArrowheads="1"/>
            </p:cNvSpPr>
            <p:nvPr/>
          </p:nvSpPr>
          <p:spPr bwMode="auto">
            <a:xfrm>
              <a:off x="1638" y="6"/>
              <a:ext cx="2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1210">
                  <a:ea typeface="宋体" panose="02010600030101010101" pitchFamily="2" charset="-122"/>
                </a:rPr>
                <a:t>C</a:t>
              </a:r>
              <a:endParaRPr lang="en-US" altLang="zh-CN" sz="1210" baseline="-25000">
                <a:ea typeface="宋体" panose="02010600030101010101" pitchFamily="2" charset="-122"/>
              </a:endParaRPr>
            </a:p>
          </p:txBody>
        </p:sp>
        <p:sp>
          <p:nvSpPr>
            <p:cNvPr id="91180" name="Oval 44">
              <a:extLst>
                <a:ext uri="{FF2B5EF4-FFF2-40B4-BE49-F238E27FC236}">
                  <a16:creationId xmlns:a16="http://schemas.microsoft.com/office/drawing/2014/main" id="{0DF59CB7-5170-BE3B-1CE9-298C549A0678}"/>
                </a:ext>
              </a:extLst>
            </p:cNvPr>
            <p:cNvSpPr>
              <a:spLocks noChangeArrowheads="1"/>
            </p:cNvSpPr>
            <p:nvPr/>
          </p:nvSpPr>
          <p:spPr bwMode="auto">
            <a:xfrm>
              <a:off x="1534" y="7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grpSp>
      <p:sp>
        <p:nvSpPr>
          <p:cNvPr id="91181" name="Rectangle 46">
            <a:extLst>
              <a:ext uri="{FF2B5EF4-FFF2-40B4-BE49-F238E27FC236}">
                <a16:creationId xmlns:a16="http://schemas.microsoft.com/office/drawing/2014/main" id="{1AA78765-11A7-8B84-D9AF-046810A668ED}"/>
              </a:ext>
            </a:extLst>
          </p:cNvPr>
          <p:cNvSpPr>
            <a:spLocks noChangeArrowheads="1"/>
          </p:cNvSpPr>
          <p:nvPr/>
        </p:nvSpPr>
        <p:spPr bwMode="auto">
          <a:xfrm>
            <a:off x="123882" y="590914"/>
            <a:ext cx="1934481" cy="212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pPr>
            <a:r>
              <a:rPr lang="zh-CN" altLang="zh-CN" sz="1412" dirty="0">
                <a:ea typeface="宋体" panose="02010600030101010101" pitchFamily="2" charset="-122"/>
              </a:rPr>
              <a:t>如果政策制定者使用财政或货币政策来增加总需求，以此抵消总供给的移动： </a:t>
            </a:r>
            <a:endParaRPr lang="en-US" altLang="zh-CN" sz="1412" dirty="0">
              <a:ea typeface="宋体" panose="02010600030101010101" pitchFamily="2" charset="-122"/>
            </a:endParaRPr>
          </a:p>
          <a:p>
            <a:pPr>
              <a:lnSpc>
                <a:spcPct val="105000"/>
              </a:lnSpc>
            </a:pPr>
            <a:r>
              <a:rPr lang="en-US" altLang="zh-CN" sz="1412" dirty="0">
                <a:ea typeface="宋体" panose="02010600030101010101" pitchFamily="2" charset="-122"/>
              </a:rPr>
              <a:t>AD</a:t>
            </a:r>
            <a:r>
              <a:rPr lang="zh-CN" altLang="en-US" sz="1412" dirty="0">
                <a:ea typeface="宋体" panose="02010600030101010101" pitchFamily="2" charset="-122"/>
              </a:rPr>
              <a:t>曲线右移到</a:t>
            </a:r>
            <a:r>
              <a:rPr lang="en-US" altLang="zh-CN" sz="1412" dirty="0">
                <a:ea typeface="宋体" panose="02010600030101010101" pitchFamily="2" charset="-122"/>
              </a:rPr>
              <a:t>AD</a:t>
            </a:r>
            <a:r>
              <a:rPr lang="en-US" altLang="zh-CN" sz="1412" baseline="-25000" dirty="0">
                <a:ea typeface="宋体" panose="02010600030101010101" pitchFamily="2" charset="-122"/>
              </a:rPr>
              <a:t>2</a:t>
            </a:r>
          </a:p>
          <a:p>
            <a:pPr>
              <a:lnSpc>
                <a:spcPct val="105000"/>
              </a:lnSpc>
            </a:pPr>
            <a:r>
              <a:rPr lang="zh-CN" altLang="en-US" sz="1412" dirty="0">
                <a:ea typeface="宋体" panose="02010600030101010101" pitchFamily="2" charset="-122"/>
              </a:rPr>
              <a:t>经济直接从</a:t>
            </a:r>
            <a:r>
              <a:rPr lang="en-US" altLang="zh-CN" sz="1412" dirty="0">
                <a:ea typeface="宋体" panose="02010600030101010101" pitchFamily="2" charset="-122"/>
              </a:rPr>
              <a:t>A</a:t>
            </a:r>
            <a:r>
              <a:rPr lang="zh-CN" altLang="en-US" sz="1412" dirty="0">
                <a:ea typeface="宋体" panose="02010600030101010101" pitchFamily="2" charset="-122"/>
              </a:rPr>
              <a:t>点移到</a:t>
            </a:r>
            <a:r>
              <a:rPr lang="en-US" altLang="zh-CN" sz="1412" dirty="0">
                <a:ea typeface="宋体" panose="02010600030101010101" pitchFamily="2" charset="-122"/>
              </a:rPr>
              <a:t>C</a:t>
            </a:r>
            <a:r>
              <a:rPr lang="zh-CN" altLang="en-US" sz="1412" dirty="0">
                <a:ea typeface="宋体" panose="02010600030101010101" pitchFamily="2" charset="-122"/>
              </a:rPr>
              <a:t>点</a:t>
            </a:r>
            <a:endParaRPr lang="en-US" altLang="zh-CN" sz="1412" dirty="0">
              <a:ea typeface="宋体" panose="02010600030101010101" pitchFamily="2" charset="-122"/>
            </a:endParaRPr>
          </a:p>
          <a:p>
            <a:pPr>
              <a:lnSpc>
                <a:spcPct val="105000"/>
              </a:lnSpc>
            </a:pPr>
            <a:r>
              <a:rPr lang="zh-CN" altLang="zh-CN" sz="1412" b="1" i="1" dirty="0">
                <a:ea typeface="宋体" panose="02010600030101010101" pitchFamily="2" charset="-122"/>
              </a:rPr>
              <a:t>Y </a:t>
            </a:r>
            <a:r>
              <a:rPr lang="zh-CN" altLang="zh-CN" sz="1412" dirty="0">
                <a:ea typeface="宋体" panose="02010600030101010101" pitchFamily="2" charset="-122"/>
              </a:rPr>
              <a:t>回到 </a:t>
            </a:r>
            <a:r>
              <a:rPr lang="zh-CN" altLang="zh-CN" sz="1412" b="1" i="1" dirty="0">
                <a:ea typeface="宋体" panose="02010600030101010101" pitchFamily="2" charset="-122"/>
              </a:rPr>
              <a:t>Y</a:t>
            </a:r>
            <a:r>
              <a:rPr lang="zh-CN" altLang="zh-CN" sz="1412" b="1" baseline="-25000" dirty="0">
                <a:ea typeface="宋体" panose="02010600030101010101" pitchFamily="2" charset="-122"/>
              </a:rPr>
              <a:t>N</a:t>
            </a:r>
          </a:p>
          <a:p>
            <a:pPr>
              <a:lnSpc>
                <a:spcPct val="105000"/>
              </a:lnSpc>
            </a:pPr>
            <a:r>
              <a:rPr lang="zh-CN" altLang="zh-CN" sz="1412" dirty="0">
                <a:ea typeface="宋体" panose="02010600030101010101" pitchFamily="2" charset="-122"/>
              </a:rPr>
              <a:t>但 </a:t>
            </a:r>
            <a:r>
              <a:rPr lang="zh-CN" altLang="zh-CN" sz="1412" b="1" i="1" dirty="0">
                <a:ea typeface="宋体" panose="02010600030101010101" pitchFamily="2" charset="-122"/>
              </a:rPr>
              <a:t>P </a:t>
            </a:r>
            <a:r>
              <a:rPr lang="zh-CN" altLang="zh-CN" sz="1412" dirty="0">
                <a:ea typeface="宋体" panose="02010600030101010101" pitchFamily="2" charset="-122"/>
              </a:rPr>
              <a:t>会永远都更高</a:t>
            </a:r>
          </a:p>
        </p:txBody>
      </p:sp>
      <p:sp>
        <p:nvSpPr>
          <p:cNvPr id="91182" name="Line 47">
            <a:extLst>
              <a:ext uri="{FF2B5EF4-FFF2-40B4-BE49-F238E27FC236}">
                <a16:creationId xmlns:a16="http://schemas.microsoft.com/office/drawing/2014/main" id="{9EC94DA8-333D-0BAC-5E33-3E34F0010C72}"/>
              </a:ext>
            </a:extLst>
          </p:cNvPr>
          <p:cNvSpPr>
            <a:spLocks noChangeShapeType="1"/>
          </p:cNvSpPr>
          <p:nvPr/>
        </p:nvSpPr>
        <p:spPr bwMode="auto">
          <a:xfrm flipH="1">
            <a:off x="3121422" y="2665201"/>
            <a:ext cx="290533" cy="0"/>
          </a:xfrm>
          <a:prstGeom prst="line">
            <a:avLst/>
          </a:prstGeom>
          <a:noFill/>
          <a:ln w="38100">
            <a:solidFill>
              <a:srgbClr val="008000"/>
            </a:solidFill>
            <a:round/>
            <a:headEnd type="triangle" w="lg" len="med"/>
            <a:tailEnd/>
          </a:ln>
          <a:extLst>
            <a:ext uri="{909E8E84-426E-40DD-AFC4-6F175D3DCCD1}">
              <a14:hiddenFill xmlns:a14="http://schemas.microsoft.com/office/drawing/2010/main">
                <a:noFill/>
              </a14:hiddenFill>
            </a:ext>
          </a:extLst>
        </p:spPr>
        <p:txBody>
          <a:bodyPr/>
          <a:lstStyle/>
          <a:p>
            <a:endParaRPr lang="zh-CN" altLang="en-US" sz="908"/>
          </a:p>
        </p:txBody>
      </p:sp>
      <p:sp>
        <p:nvSpPr>
          <p:cNvPr id="91183" name="Line 48">
            <a:extLst>
              <a:ext uri="{FF2B5EF4-FFF2-40B4-BE49-F238E27FC236}">
                <a16:creationId xmlns:a16="http://schemas.microsoft.com/office/drawing/2014/main" id="{C002731C-04F2-30C4-0827-6906F07CBDAD}"/>
              </a:ext>
            </a:extLst>
          </p:cNvPr>
          <p:cNvSpPr>
            <a:spLocks noChangeShapeType="1"/>
          </p:cNvSpPr>
          <p:nvPr/>
        </p:nvSpPr>
        <p:spPr bwMode="auto">
          <a:xfrm flipV="1">
            <a:off x="2433108" y="1411030"/>
            <a:ext cx="0" cy="291333"/>
          </a:xfrm>
          <a:prstGeom prst="line">
            <a:avLst/>
          </a:prstGeom>
          <a:noFill/>
          <a:ln w="38100">
            <a:solidFill>
              <a:srgbClr val="0080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sz="908"/>
          </a:p>
        </p:txBody>
      </p:sp>
      <p:sp>
        <p:nvSpPr>
          <p:cNvPr id="91184" name="Arc 51">
            <a:extLst>
              <a:ext uri="{FF2B5EF4-FFF2-40B4-BE49-F238E27FC236}">
                <a16:creationId xmlns:a16="http://schemas.microsoft.com/office/drawing/2014/main" id="{2B1F9A6B-0731-F77C-5B3D-E205EADBF900}"/>
              </a:ext>
            </a:extLst>
          </p:cNvPr>
          <p:cNvSpPr>
            <a:spLocks/>
          </p:cNvSpPr>
          <p:nvPr/>
        </p:nvSpPr>
        <p:spPr bwMode="auto">
          <a:xfrm flipH="1" flipV="1">
            <a:off x="3111017" y="1665546"/>
            <a:ext cx="351360" cy="344957"/>
          </a:xfrm>
          <a:custGeom>
            <a:avLst/>
            <a:gdLst>
              <a:gd name="T0" fmla="*/ 171267656 w 21073"/>
              <a:gd name="T1" fmla="*/ 0 h 21075"/>
              <a:gd name="T2" fmla="*/ 762220967 w 21073"/>
              <a:gd name="T3" fmla="*/ 558935709 h 21075"/>
              <a:gd name="T4" fmla="*/ 0 w 21073"/>
              <a:gd name="T5" fmla="*/ 721168466 h 21075"/>
              <a:gd name="T6" fmla="*/ 0 60000 65536"/>
              <a:gd name="T7" fmla="*/ 0 60000 65536"/>
              <a:gd name="T8" fmla="*/ 0 60000 65536"/>
              <a:gd name="T9" fmla="*/ 0 w 21073"/>
              <a:gd name="T10" fmla="*/ 0 h 21075"/>
              <a:gd name="T11" fmla="*/ 21073 w 21073"/>
              <a:gd name="T12" fmla="*/ 21075 h 21075"/>
            </a:gdLst>
            <a:ahLst/>
            <a:cxnLst>
              <a:cxn ang="T6">
                <a:pos x="T0" y="T1"/>
              </a:cxn>
              <a:cxn ang="T7">
                <a:pos x="T2" y="T3"/>
              </a:cxn>
              <a:cxn ang="T8">
                <a:pos x="T4" y="T5"/>
              </a:cxn>
            </a:cxnLst>
            <a:rect l="T9" t="T10" r="T11" b="T12"/>
            <a:pathLst>
              <a:path w="21073" h="21075" fill="none" extrusionOk="0">
                <a:moveTo>
                  <a:pt x="4734" y="0"/>
                </a:moveTo>
                <a:cubicBezTo>
                  <a:pt x="12879" y="1830"/>
                  <a:pt x="19240" y="8189"/>
                  <a:pt x="21073" y="16333"/>
                </a:cubicBezTo>
              </a:path>
              <a:path w="21073" h="21075" stroke="0" extrusionOk="0">
                <a:moveTo>
                  <a:pt x="4734" y="0"/>
                </a:moveTo>
                <a:cubicBezTo>
                  <a:pt x="12879" y="1830"/>
                  <a:pt x="19240" y="8189"/>
                  <a:pt x="21073" y="16333"/>
                </a:cubicBezTo>
                <a:lnTo>
                  <a:pt x="0" y="21075"/>
                </a:lnTo>
                <a:close/>
              </a:path>
            </a:pathLst>
          </a:custGeom>
          <a:noFill/>
          <a:ln w="38100">
            <a:solidFill>
              <a:srgbClr val="00CC00"/>
            </a:solidFill>
            <a:miter lim="800000"/>
            <a:headEnd type="triangle" w="lg" len="me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91185" name="FlagCount" hidden="1">
            <a:hlinkClick r:id="rId3" action="ppaction://hlinkfile"/>
            <a:extLst>
              <a:ext uri="{FF2B5EF4-FFF2-40B4-BE49-F238E27FC236}">
                <a16:creationId xmlns:a16="http://schemas.microsoft.com/office/drawing/2014/main" id="{AA40F31F-6A83-4176-DD63-B3F850A86C5E}"/>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52324562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6" fill="hold" nodeType="afterEffect">
                                  <p:stCondLst>
                                    <p:cond delay="0"/>
                                  </p:stCondLst>
                                  <p:childTnLst>
                                    <p:set>
                                      <p:cBhvr>
                                        <p:cTn id="6" dur="1" fill="hold">
                                          <p:stCondLst>
                                            <p:cond delay="0"/>
                                          </p:stCondLst>
                                        </p:cTn>
                                        <p:tgtEl>
                                          <p:spTgt spid="91184"/>
                                        </p:tgtEl>
                                        <p:attrNameLst>
                                          <p:attrName>style.visibility</p:attrName>
                                        </p:attrNameLst>
                                      </p:cBhvr>
                                      <p:to>
                                        <p:strVal val="visible"/>
                                      </p:to>
                                    </p:set>
                                    <p:animEffect transition="in" filter="strips(downRight)">
                                      <p:cBhvr>
                                        <p:cTn id="7" dur="500"/>
                                        <p:tgtEl>
                                          <p:spTgt spid="91184"/>
                                        </p:tgtEl>
                                      </p:cBhvr>
                                    </p:animEffect>
                                  </p:childTnLst>
                                  <p:subTnLst>
                                    <p:set>
                                      <p:cBhvr override="childStyle">
                                        <p:cTn dur="1" fill="hold" display="0" masterRel="nextClick" afterEffect="1"/>
                                        <p:tgtEl>
                                          <p:spTgt spid="91184"/>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181">
                                            <p:txEl>
                                              <p:pRg st="0" end="0"/>
                                            </p:txEl>
                                          </p:spTgt>
                                        </p:tgtEl>
                                        <p:attrNameLst>
                                          <p:attrName>style.visibility</p:attrName>
                                        </p:attrNameLst>
                                      </p:cBhvr>
                                      <p:to>
                                        <p:strVal val="visible"/>
                                      </p:to>
                                    </p:set>
                                    <p:animEffect transition="in" filter="wipe(left)">
                                      <p:cBhvr>
                                        <p:cTn id="12" dur="500"/>
                                        <p:tgtEl>
                                          <p:spTgt spid="9118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1181">
                                            <p:txEl>
                                              <p:pRg st="1" end="1"/>
                                            </p:txEl>
                                          </p:spTgt>
                                        </p:tgtEl>
                                        <p:attrNameLst>
                                          <p:attrName>style.visibility</p:attrName>
                                        </p:attrNameLst>
                                      </p:cBhvr>
                                      <p:to>
                                        <p:strVal val="visible"/>
                                      </p:to>
                                    </p:set>
                                    <p:animEffect transition="in" filter="wipe(left)">
                                      <p:cBhvr>
                                        <p:cTn id="17" dur="500"/>
                                        <p:tgtEl>
                                          <p:spTgt spid="9118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1181">
                                            <p:txEl>
                                              <p:pRg st="2" end="2"/>
                                            </p:txEl>
                                          </p:spTgt>
                                        </p:tgtEl>
                                        <p:attrNameLst>
                                          <p:attrName>style.visibility</p:attrName>
                                        </p:attrNameLst>
                                      </p:cBhvr>
                                      <p:to>
                                        <p:strVal val="visible"/>
                                      </p:to>
                                    </p:set>
                                    <p:animEffect transition="in" filter="wipe(left)">
                                      <p:cBhvr>
                                        <p:cTn id="22" dur="500"/>
                                        <p:tgtEl>
                                          <p:spTgt spid="9118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1181">
                                            <p:txEl>
                                              <p:pRg st="3" end="3"/>
                                            </p:txEl>
                                          </p:spTgt>
                                        </p:tgtEl>
                                        <p:attrNameLst>
                                          <p:attrName>style.visibility</p:attrName>
                                        </p:attrNameLst>
                                      </p:cBhvr>
                                      <p:to>
                                        <p:strVal val="visible"/>
                                      </p:to>
                                    </p:set>
                                    <p:animEffect transition="in" filter="wipe(left)">
                                      <p:cBhvr>
                                        <p:cTn id="27" dur="500"/>
                                        <p:tgtEl>
                                          <p:spTgt spid="91181">
                                            <p:txEl>
                                              <p:pRg st="3" end="3"/>
                                            </p:txEl>
                                          </p:spTgt>
                                        </p:tgtEl>
                                      </p:cBhvr>
                                    </p:animEffect>
                                  </p:childTnLst>
                                </p:cTn>
                              </p:par>
                            </p:childTnLst>
                          </p:cTn>
                        </p:par>
                        <p:par>
                          <p:cTn id="28" fill="hold" nodeType="afterGroup">
                            <p:stCondLst>
                              <p:cond delay="500"/>
                            </p:stCondLst>
                            <p:childTnLst>
                              <p:par>
                                <p:cTn id="29" presetID="18" presetClass="entr" presetSubtype="6" fill="hold" nodeType="afterEffect">
                                  <p:stCondLst>
                                    <p:cond delay="0"/>
                                  </p:stCondLst>
                                  <p:childTnLst>
                                    <p:set>
                                      <p:cBhvr>
                                        <p:cTn id="30" dur="1" fill="hold">
                                          <p:stCondLst>
                                            <p:cond delay="0"/>
                                          </p:stCondLst>
                                        </p:cTn>
                                        <p:tgtEl>
                                          <p:spTgt spid="91173"/>
                                        </p:tgtEl>
                                        <p:attrNameLst>
                                          <p:attrName>style.visibility</p:attrName>
                                        </p:attrNameLst>
                                      </p:cBhvr>
                                      <p:to>
                                        <p:strVal val="visible"/>
                                      </p:to>
                                    </p:set>
                                    <p:animEffect transition="in" filter="strips(downRight)">
                                      <p:cBhvr>
                                        <p:cTn id="31" dur="500"/>
                                        <p:tgtEl>
                                          <p:spTgt spid="9117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91181">
                                            <p:txEl>
                                              <p:pRg st="4" end="4"/>
                                            </p:txEl>
                                          </p:spTgt>
                                        </p:tgtEl>
                                        <p:attrNameLst>
                                          <p:attrName>style.visibility</p:attrName>
                                        </p:attrNameLst>
                                      </p:cBhvr>
                                      <p:to>
                                        <p:strVal val="visible"/>
                                      </p:to>
                                    </p:set>
                                    <p:animEffect transition="in" filter="wipe(left)">
                                      <p:cBhvr>
                                        <p:cTn id="36" dur="500"/>
                                        <p:tgtEl>
                                          <p:spTgt spid="91181">
                                            <p:txEl>
                                              <p:pRg st="4" end="4"/>
                                            </p:txEl>
                                          </p:spTgt>
                                        </p:tgtEl>
                                      </p:cBhvr>
                                    </p:animEffect>
                                  </p:childTnLst>
                                </p:cTn>
                              </p:par>
                            </p:childTnLst>
                          </p:cTn>
                        </p:par>
                        <p:par>
                          <p:cTn id="37" fill="hold" nodeType="afterGroup">
                            <p:stCondLst>
                              <p:cond delay="500"/>
                            </p:stCondLst>
                            <p:childTnLst>
                              <p:par>
                                <p:cTn id="38" presetID="17" presetClass="entr" presetSubtype="8" fill="hold" nodeType="afterEffect">
                                  <p:stCondLst>
                                    <p:cond delay="0"/>
                                  </p:stCondLst>
                                  <p:childTnLst>
                                    <p:set>
                                      <p:cBhvr>
                                        <p:cTn id="39" dur="1" fill="hold">
                                          <p:stCondLst>
                                            <p:cond delay="0"/>
                                          </p:stCondLst>
                                        </p:cTn>
                                        <p:tgtEl>
                                          <p:spTgt spid="91182"/>
                                        </p:tgtEl>
                                        <p:attrNameLst>
                                          <p:attrName>style.visibility</p:attrName>
                                        </p:attrNameLst>
                                      </p:cBhvr>
                                      <p:to>
                                        <p:strVal val="visible"/>
                                      </p:to>
                                    </p:set>
                                    <p:anim calcmode="lin" valueType="num">
                                      <p:cBhvr>
                                        <p:cTn id="40" dur="500" fill="hold"/>
                                        <p:tgtEl>
                                          <p:spTgt spid="91182"/>
                                        </p:tgtEl>
                                        <p:attrNameLst>
                                          <p:attrName>ppt_x</p:attrName>
                                        </p:attrNameLst>
                                      </p:cBhvr>
                                      <p:tavLst>
                                        <p:tav tm="0">
                                          <p:val>
                                            <p:strVal val="#ppt_x-#ppt_w/2"/>
                                          </p:val>
                                        </p:tav>
                                        <p:tav tm="100000">
                                          <p:val>
                                            <p:strVal val="#ppt_x"/>
                                          </p:val>
                                        </p:tav>
                                      </p:tavLst>
                                    </p:anim>
                                    <p:anim calcmode="lin" valueType="num">
                                      <p:cBhvr>
                                        <p:cTn id="41" dur="500" fill="hold"/>
                                        <p:tgtEl>
                                          <p:spTgt spid="91182"/>
                                        </p:tgtEl>
                                        <p:attrNameLst>
                                          <p:attrName>ppt_y</p:attrName>
                                        </p:attrNameLst>
                                      </p:cBhvr>
                                      <p:tavLst>
                                        <p:tav tm="0">
                                          <p:val>
                                            <p:strVal val="#ppt_y"/>
                                          </p:val>
                                        </p:tav>
                                        <p:tav tm="100000">
                                          <p:val>
                                            <p:strVal val="#ppt_y"/>
                                          </p:val>
                                        </p:tav>
                                      </p:tavLst>
                                    </p:anim>
                                    <p:anim calcmode="lin" valueType="num">
                                      <p:cBhvr>
                                        <p:cTn id="42" dur="500" fill="hold"/>
                                        <p:tgtEl>
                                          <p:spTgt spid="91182"/>
                                        </p:tgtEl>
                                        <p:attrNameLst>
                                          <p:attrName>ppt_w</p:attrName>
                                        </p:attrNameLst>
                                      </p:cBhvr>
                                      <p:tavLst>
                                        <p:tav tm="0">
                                          <p:val>
                                            <p:fltVal val="0"/>
                                          </p:val>
                                        </p:tav>
                                        <p:tav tm="100000">
                                          <p:val>
                                            <p:strVal val="#ppt_w"/>
                                          </p:val>
                                        </p:tav>
                                      </p:tavLst>
                                    </p:anim>
                                    <p:anim calcmode="lin" valueType="num">
                                      <p:cBhvr>
                                        <p:cTn id="43" dur="500" fill="hold"/>
                                        <p:tgtEl>
                                          <p:spTgt spid="91182"/>
                                        </p:tgtEl>
                                        <p:attrNameLst>
                                          <p:attrName>ppt_h</p:attrName>
                                        </p:attrNameLst>
                                      </p:cBhvr>
                                      <p:tavLst>
                                        <p:tav tm="0">
                                          <p:val>
                                            <p:strVal val="#ppt_h"/>
                                          </p:val>
                                        </p:tav>
                                        <p:tav tm="100000">
                                          <p:val>
                                            <p:strVal val="#ppt_h"/>
                                          </p:val>
                                        </p:tav>
                                      </p:tavLst>
                                    </p:anim>
                                  </p:childTnLst>
                                </p:cTn>
                              </p:par>
                            </p:childTnLst>
                          </p:cTn>
                        </p:par>
                        <p:par>
                          <p:cTn id="44" fill="hold" nodeType="afterGroup">
                            <p:stCondLst>
                              <p:cond delay="1000"/>
                            </p:stCondLst>
                            <p:childTnLst>
                              <p:par>
                                <p:cTn id="45" presetID="17" presetClass="entr" presetSubtype="4" fill="hold" nodeType="afterEffect">
                                  <p:stCondLst>
                                    <p:cond delay="0"/>
                                  </p:stCondLst>
                                  <p:childTnLst>
                                    <p:set>
                                      <p:cBhvr>
                                        <p:cTn id="46" dur="1" fill="hold">
                                          <p:stCondLst>
                                            <p:cond delay="0"/>
                                          </p:stCondLst>
                                        </p:cTn>
                                        <p:tgtEl>
                                          <p:spTgt spid="91183"/>
                                        </p:tgtEl>
                                        <p:attrNameLst>
                                          <p:attrName>style.visibility</p:attrName>
                                        </p:attrNameLst>
                                      </p:cBhvr>
                                      <p:to>
                                        <p:strVal val="visible"/>
                                      </p:to>
                                    </p:set>
                                    <p:anim calcmode="lin" valueType="num">
                                      <p:cBhvr>
                                        <p:cTn id="47" dur="500" fill="hold"/>
                                        <p:tgtEl>
                                          <p:spTgt spid="91183"/>
                                        </p:tgtEl>
                                        <p:attrNameLst>
                                          <p:attrName>ppt_x</p:attrName>
                                        </p:attrNameLst>
                                      </p:cBhvr>
                                      <p:tavLst>
                                        <p:tav tm="0">
                                          <p:val>
                                            <p:strVal val="#ppt_x"/>
                                          </p:val>
                                        </p:tav>
                                        <p:tav tm="100000">
                                          <p:val>
                                            <p:strVal val="#ppt_x"/>
                                          </p:val>
                                        </p:tav>
                                      </p:tavLst>
                                    </p:anim>
                                    <p:anim calcmode="lin" valueType="num">
                                      <p:cBhvr>
                                        <p:cTn id="48" dur="500" fill="hold"/>
                                        <p:tgtEl>
                                          <p:spTgt spid="91183"/>
                                        </p:tgtEl>
                                        <p:attrNameLst>
                                          <p:attrName>ppt_y</p:attrName>
                                        </p:attrNameLst>
                                      </p:cBhvr>
                                      <p:tavLst>
                                        <p:tav tm="0">
                                          <p:val>
                                            <p:strVal val="#ppt_y+#ppt_h/2"/>
                                          </p:val>
                                        </p:tav>
                                        <p:tav tm="100000">
                                          <p:val>
                                            <p:strVal val="#ppt_y"/>
                                          </p:val>
                                        </p:tav>
                                      </p:tavLst>
                                    </p:anim>
                                    <p:anim calcmode="lin" valueType="num">
                                      <p:cBhvr>
                                        <p:cTn id="49" dur="500" fill="hold"/>
                                        <p:tgtEl>
                                          <p:spTgt spid="91183"/>
                                        </p:tgtEl>
                                        <p:attrNameLst>
                                          <p:attrName>ppt_w</p:attrName>
                                        </p:attrNameLst>
                                      </p:cBhvr>
                                      <p:tavLst>
                                        <p:tav tm="0">
                                          <p:val>
                                            <p:strVal val="#ppt_w"/>
                                          </p:val>
                                        </p:tav>
                                        <p:tav tm="100000">
                                          <p:val>
                                            <p:strVal val="#ppt_w"/>
                                          </p:val>
                                        </p:tav>
                                      </p:tavLst>
                                    </p:anim>
                                    <p:anim calcmode="lin" valueType="num">
                                      <p:cBhvr>
                                        <p:cTn id="50" dur="500" fill="hold"/>
                                        <p:tgtEl>
                                          <p:spTgt spid="91183"/>
                                        </p:tgtEl>
                                        <p:attrNameLst>
                                          <p:attrName>ppt_h</p:attrName>
                                        </p:attrNameLst>
                                      </p:cBhvr>
                                      <p:tavLst>
                                        <p:tav tm="0">
                                          <p:val>
                                            <p:fltVal val="0"/>
                                          </p:val>
                                        </p:tav>
                                        <p:tav tm="100000">
                                          <p:val>
                                            <p:strVal val="#ppt_h"/>
                                          </p:val>
                                        </p:tav>
                                      </p:tavLst>
                                    </p:anim>
                                  </p:childTnLst>
                                </p:cTn>
                              </p:par>
                            </p:childTnLst>
                          </p:cTn>
                        </p:par>
                        <p:par>
                          <p:cTn id="51" fill="hold" nodeType="afterGroup">
                            <p:stCondLst>
                              <p:cond delay="1500"/>
                            </p:stCondLst>
                            <p:childTnLst>
                              <p:par>
                                <p:cTn id="52" presetID="22" presetClass="entr" presetSubtype="8" fill="hold" nodeType="afterEffect">
                                  <p:stCondLst>
                                    <p:cond delay="0"/>
                                  </p:stCondLst>
                                  <p:childTnLst>
                                    <p:set>
                                      <p:cBhvr>
                                        <p:cTn id="53" dur="1" fill="hold">
                                          <p:stCondLst>
                                            <p:cond delay="0"/>
                                          </p:stCondLst>
                                        </p:cTn>
                                        <p:tgtEl>
                                          <p:spTgt spid="91176"/>
                                        </p:tgtEl>
                                        <p:attrNameLst>
                                          <p:attrName>style.visibility</p:attrName>
                                        </p:attrNameLst>
                                      </p:cBhvr>
                                      <p:to>
                                        <p:strVal val="visible"/>
                                      </p:to>
                                    </p:set>
                                    <p:animEffect transition="in" filter="wipe(left)">
                                      <p:cBhvr>
                                        <p:cTn id="54" dur="500"/>
                                        <p:tgtEl>
                                          <p:spTgt spid="91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81" grpId="0" build="p" autoUpdateAnimBg="0"/>
      <p:bldP spid="91184"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4AA2021-1288-3616-ABBC-C6F4270C793D}"/>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289D1742-3F4D-18DF-4BC1-586FC4436887}"/>
              </a:ext>
            </a:extLst>
          </p:cNvPr>
          <p:cNvSpPr>
            <a:spLocks noGrp="1"/>
          </p:cNvSpPr>
          <p:nvPr>
            <p:ph type="sldNum" sz="quarter" idx="11"/>
          </p:nvPr>
        </p:nvSpPr>
        <p:spPr/>
        <p:txBody>
          <a:bodyPr/>
          <a:lstStyle/>
          <a:p>
            <a:fld id="{50C7FDCD-DFA3-4A48-9E67-6928A5DA6A42}" type="slidenum">
              <a:rPr lang="zh-CN" altLang="zh-CN"/>
              <a:pPr/>
              <a:t>77</a:t>
            </a:fld>
            <a:endParaRPr lang="zh-CN" altLang="zh-CN"/>
          </a:p>
        </p:txBody>
      </p:sp>
      <p:sp>
        <p:nvSpPr>
          <p:cNvPr id="92162" name="Rectangle 95">
            <a:extLst>
              <a:ext uri="{FF2B5EF4-FFF2-40B4-BE49-F238E27FC236}">
                <a16:creationId xmlns:a16="http://schemas.microsoft.com/office/drawing/2014/main" id="{25509453-3406-3E00-11C7-9FBFB4F9174C}"/>
              </a:ext>
            </a:extLst>
          </p:cNvPr>
          <p:cNvSpPr>
            <a:spLocks noChangeArrowheads="1"/>
          </p:cNvSpPr>
          <p:nvPr/>
        </p:nvSpPr>
        <p:spPr bwMode="auto">
          <a:xfrm>
            <a:off x="504230" y="730720"/>
            <a:ext cx="3553619" cy="211776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92163" name="Rectangle 9">
            <a:extLst>
              <a:ext uri="{FF2B5EF4-FFF2-40B4-BE49-F238E27FC236}">
                <a16:creationId xmlns:a16="http://schemas.microsoft.com/office/drawing/2014/main" id="{A983FE93-4F57-0EE4-5FC8-E2D5D1CC6BD4}"/>
              </a:ext>
            </a:extLst>
          </p:cNvPr>
          <p:cNvSpPr>
            <a:spLocks noChangeArrowheads="1"/>
          </p:cNvSpPr>
          <p:nvPr/>
        </p:nvSpPr>
        <p:spPr bwMode="auto">
          <a:xfrm>
            <a:off x="498628" y="729119"/>
            <a:ext cx="1655954" cy="39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endParaRPr lang="zh-CN" altLang="zh-CN" sz="1311">
              <a:ea typeface="宋体" panose="02010600030101010101" pitchFamily="2" charset="-122"/>
            </a:endParaRPr>
          </a:p>
        </p:txBody>
      </p:sp>
      <p:sp>
        <p:nvSpPr>
          <p:cNvPr id="92164" name="Rectangle 6">
            <a:extLst>
              <a:ext uri="{FF2B5EF4-FFF2-40B4-BE49-F238E27FC236}">
                <a16:creationId xmlns:a16="http://schemas.microsoft.com/office/drawing/2014/main" id="{638DF698-457C-3E9A-635E-D95EEC39705E}"/>
              </a:ext>
            </a:extLst>
          </p:cNvPr>
          <p:cNvSpPr>
            <a:spLocks noGrp="1" noChangeArrowheads="1"/>
          </p:cNvSpPr>
          <p:nvPr>
            <p:ph type="title" idx="4294967295"/>
          </p:nvPr>
        </p:nvSpPr>
        <p:spPr>
          <a:xfrm>
            <a:off x="0" y="140051"/>
            <a:ext cx="4610100" cy="327349"/>
          </a:xfrm>
        </p:spPr>
        <p:txBody>
          <a:bodyPr/>
          <a:lstStyle/>
          <a:p>
            <a:r>
              <a:rPr lang="en-US" altLang="zh-CN" sz="1815">
                <a:ea typeface="宋体" panose="02010600030101010101" pitchFamily="2" charset="-122"/>
              </a:rPr>
              <a:t>20</a:t>
            </a:r>
            <a:r>
              <a:rPr lang="zh-CN" altLang="en-US" sz="1815">
                <a:ea typeface="宋体" panose="02010600030101010101" pitchFamily="2" charset="-122"/>
              </a:rPr>
              <a:t>世纪</a:t>
            </a:r>
            <a:r>
              <a:rPr lang="en-US" altLang="zh-CN" sz="1815">
                <a:ea typeface="宋体" panose="02010600030101010101" pitchFamily="2" charset="-122"/>
              </a:rPr>
              <a:t>70</a:t>
            </a:r>
            <a:r>
              <a:rPr lang="zh-CN" altLang="en-US" sz="1815">
                <a:ea typeface="宋体" panose="02010600030101010101" pitchFamily="2" charset="-122"/>
              </a:rPr>
              <a:t>年代的石油冲击及其影响</a:t>
            </a:r>
          </a:p>
        </p:txBody>
      </p:sp>
      <p:sp>
        <p:nvSpPr>
          <p:cNvPr id="92165" name="Rectangle 21">
            <a:extLst>
              <a:ext uri="{FF2B5EF4-FFF2-40B4-BE49-F238E27FC236}">
                <a16:creationId xmlns:a16="http://schemas.microsoft.com/office/drawing/2014/main" id="{B724C055-1C82-032B-5BD8-B5512521B07A}"/>
              </a:ext>
            </a:extLst>
          </p:cNvPr>
          <p:cNvSpPr>
            <a:spLocks noChangeArrowheads="1"/>
          </p:cNvSpPr>
          <p:nvPr/>
        </p:nvSpPr>
        <p:spPr bwMode="auto">
          <a:xfrm>
            <a:off x="498628" y="2330649"/>
            <a:ext cx="1655954" cy="52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0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zh-CN" altLang="zh-CN" sz="1311">
                <a:ea typeface="宋体" panose="02010600030101010101" pitchFamily="2" charset="-122"/>
              </a:rPr>
              <a:t>失业量的变化</a:t>
            </a:r>
          </a:p>
        </p:txBody>
      </p:sp>
      <p:sp>
        <p:nvSpPr>
          <p:cNvPr id="92166" name="Rectangle 18">
            <a:extLst>
              <a:ext uri="{FF2B5EF4-FFF2-40B4-BE49-F238E27FC236}">
                <a16:creationId xmlns:a16="http://schemas.microsoft.com/office/drawing/2014/main" id="{B7964208-5F34-DC91-2062-B0EC3C4BE35C}"/>
              </a:ext>
            </a:extLst>
          </p:cNvPr>
          <p:cNvSpPr>
            <a:spLocks noChangeArrowheads="1"/>
          </p:cNvSpPr>
          <p:nvPr/>
        </p:nvSpPr>
        <p:spPr bwMode="auto">
          <a:xfrm>
            <a:off x="498628" y="1928866"/>
            <a:ext cx="1655954" cy="401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0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zh-CN" altLang="zh-CN" sz="1311">
                <a:ea typeface="宋体" panose="02010600030101010101" pitchFamily="2" charset="-122"/>
              </a:rPr>
              <a:t>真实GDP</a:t>
            </a:r>
          </a:p>
        </p:txBody>
      </p:sp>
      <p:sp>
        <p:nvSpPr>
          <p:cNvPr id="92167" name="Rectangle 15">
            <a:extLst>
              <a:ext uri="{FF2B5EF4-FFF2-40B4-BE49-F238E27FC236}">
                <a16:creationId xmlns:a16="http://schemas.microsoft.com/office/drawing/2014/main" id="{E4975C2F-6A47-7B90-A374-A7DD8D2FB06F}"/>
              </a:ext>
            </a:extLst>
          </p:cNvPr>
          <p:cNvSpPr>
            <a:spLocks noChangeArrowheads="1"/>
          </p:cNvSpPr>
          <p:nvPr/>
        </p:nvSpPr>
        <p:spPr bwMode="auto">
          <a:xfrm>
            <a:off x="498628" y="1527083"/>
            <a:ext cx="1655954" cy="401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0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ea typeface="宋体" panose="02010600030101010101" pitchFamily="2" charset="-122"/>
              </a:rPr>
              <a:t>CPI</a:t>
            </a:r>
          </a:p>
        </p:txBody>
      </p:sp>
      <p:grpSp>
        <p:nvGrpSpPr>
          <p:cNvPr id="92168" name="Group 8">
            <a:extLst>
              <a:ext uri="{FF2B5EF4-FFF2-40B4-BE49-F238E27FC236}">
                <a16:creationId xmlns:a16="http://schemas.microsoft.com/office/drawing/2014/main" id="{178E67F0-0A1A-9F1F-04C0-24E1FD35419B}"/>
              </a:ext>
            </a:extLst>
          </p:cNvPr>
          <p:cNvGrpSpPr>
            <a:grpSpLocks/>
          </p:cNvGrpSpPr>
          <p:nvPr/>
        </p:nvGrpSpPr>
        <p:grpSpPr bwMode="auto">
          <a:xfrm>
            <a:off x="3103814" y="1127701"/>
            <a:ext cx="959637" cy="1723185"/>
            <a:chOff x="0" y="0"/>
            <a:chExt cx="1199" cy="2153"/>
          </a:xfrm>
        </p:grpSpPr>
        <p:sp>
          <p:nvSpPr>
            <p:cNvPr id="92169" name="Rectangle 23">
              <a:extLst>
                <a:ext uri="{FF2B5EF4-FFF2-40B4-BE49-F238E27FC236}">
                  <a16:creationId xmlns:a16="http://schemas.microsoft.com/office/drawing/2014/main" id="{AEE1CCF2-8583-1DCD-E151-11B9B360FA35}"/>
                </a:ext>
              </a:extLst>
            </p:cNvPr>
            <p:cNvSpPr>
              <a:spLocks noChangeArrowheads="1"/>
            </p:cNvSpPr>
            <p:nvPr/>
          </p:nvSpPr>
          <p:spPr bwMode="auto">
            <a:xfrm>
              <a:off x="0" y="1503"/>
              <a:ext cx="1199"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marL="339725" indent="-33972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95000"/>
                </a:lnSpc>
                <a:spcBef>
                  <a:spcPct val="45000"/>
                </a:spcBef>
                <a:buClr>
                  <a:srgbClr val="00B85C"/>
                </a:buClr>
                <a:buSzPct val="120000"/>
                <a:buFont typeface="Wingdings" pitchFamily="2" charset="2"/>
                <a:buNone/>
              </a:pPr>
              <a:r>
                <a:rPr lang="zh-CN" altLang="zh-CN" sz="1311">
                  <a:solidFill>
                    <a:srgbClr val="FF0000"/>
                  </a:solidFill>
                  <a:ea typeface="宋体" panose="02010600030101010101" pitchFamily="2" charset="-122"/>
                </a:rPr>
                <a:t>+ 1.4 百万</a:t>
              </a:r>
            </a:p>
          </p:txBody>
        </p:sp>
        <p:sp>
          <p:nvSpPr>
            <p:cNvPr id="92170" name="Rectangle 20">
              <a:extLst>
                <a:ext uri="{FF2B5EF4-FFF2-40B4-BE49-F238E27FC236}">
                  <a16:creationId xmlns:a16="http://schemas.microsoft.com/office/drawing/2014/main" id="{25D737B8-DEA8-37BF-DA5C-8A62CF11754E}"/>
                </a:ext>
              </a:extLst>
            </p:cNvPr>
            <p:cNvSpPr>
              <a:spLocks noChangeArrowheads="1"/>
            </p:cNvSpPr>
            <p:nvPr/>
          </p:nvSpPr>
          <p:spPr bwMode="auto">
            <a:xfrm>
              <a:off x="0" y="1001"/>
              <a:ext cx="119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+ 2.9%</a:t>
              </a:r>
            </a:p>
          </p:txBody>
        </p:sp>
        <p:sp>
          <p:nvSpPr>
            <p:cNvPr id="92171" name="Rectangle 17">
              <a:extLst>
                <a:ext uri="{FF2B5EF4-FFF2-40B4-BE49-F238E27FC236}">
                  <a16:creationId xmlns:a16="http://schemas.microsoft.com/office/drawing/2014/main" id="{A917A698-4A21-0D6F-6216-7F5233D4592F}"/>
                </a:ext>
              </a:extLst>
            </p:cNvPr>
            <p:cNvSpPr>
              <a:spLocks noChangeArrowheads="1"/>
            </p:cNvSpPr>
            <p:nvPr/>
          </p:nvSpPr>
          <p:spPr bwMode="auto">
            <a:xfrm>
              <a:off x="0" y="499"/>
              <a:ext cx="119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+ 26%</a:t>
              </a:r>
            </a:p>
          </p:txBody>
        </p:sp>
        <p:sp>
          <p:nvSpPr>
            <p:cNvPr id="92172" name="Rectangle 14">
              <a:extLst>
                <a:ext uri="{FF2B5EF4-FFF2-40B4-BE49-F238E27FC236}">
                  <a16:creationId xmlns:a16="http://schemas.microsoft.com/office/drawing/2014/main" id="{5233179C-7390-47EB-00D5-6B8189B5EAE9}"/>
                </a:ext>
              </a:extLst>
            </p:cNvPr>
            <p:cNvSpPr>
              <a:spLocks noChangeArrowheads="1"/>
            </p:cNvSpPr>
            <p:nvPr/>
          </p:nvSpPr>
          <p:spPr bwMode="auto">
            <a:xfrm>
              <a:off x="0" y="0"/>
              <a:ext cx="1199"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+ 99%</a:t>
              </a:r>
            </a:p>
          </p:txBody>
        </p:sp>
      </p:grpSp>
      <p:grpSp>
        <p:nvGrpSpPr>
          <p:cNvPr id="92173" name="Group 13">
            <a:extLst>
              <a:ext uri="{FF2B5EF4-FFF2-40B4-BE49-F238E27FC236}">
                <a16:creationId xmlns:a16="http://schemas.microsoft.com/office/drawing/2014/main" id="{5FCA298B-0080-342C-0FAD-8210CC778F6C}"/>
              </a:ext>
            </a:extLst>
          </p:cNvPr>
          <p:cNvGrpSpPr>
            <a:grpSpLocks/>
          </p:cNvGrpSpPr>
          <p:nvPr/>
        </p:nvGrpSpPr>
        <p:grpSpPr bwMode="auto">
          <a:xfrm>
            <a:off x="2154581" y="1127701"/>
            <a:ext cx="1158571" cy="1723185"/>
            <a:chOff x="0" y="0"/>
            <a:chExt cx="1186" cy="2153"/>
          </a:xfrm>
        </p:grpSpPr>
        <p:sp>
          <p:nvSpPr>
            <p:cNvPr id="92174" name="Rectangle 22">
              <a:extLst>
                <a:ext uri="{FF2B5EF4-FFF2-40B4-BE49-F238E27FC236}">
                  <a16:creationId xmlns:a16="http://schemas.microsoft.com/office/drawing/2014/main" id="{C3981ECD-16D1-E772-757B-1B5DC293BE7A}"/>
                </a:ext>
              </a:extLst>
            </p:cNvPr>
            <p:cNvSpPr>
              <a:spLocks noChangeArrowheads="1"/>
            </p:cNvSpPr>
            <p:nvPr/>
          </p:nvSpPr>
          <p:spPr bwMode="auto">
            <a:xfrm>
              <a:off x="0" y="1503"/>
              <a:ext cx="1186"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marL="339725" indent="-33972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95000"/>
                </a:lnSpc>
                <a:spcBef>
                  <a:spcPct val="45000"/>
                </a:spcBef>
                <a:buClr>
                  <a:srgbClr val="00B85C"/>
                </a:buClr>
                <a:buSzPct val="120000"/>
                <a:buFont typeface="Wingdings" pitchFamily="2" charset="2"/>
                <a:buNone/>
              </a:pPr>
              <a:r>
                <a:rPr lang="zh-CN" altLang="zh-CN" sz="1311" dirty="0">
                  <a:solidFill>
                    <a:srgbClr val="FF0000"/>
                  </a:solidFill>
                  <a:ea typeface="宋体" panose="02010600030101010101" pitchFamily="2" charset="-122"/>
                </a:rPr>
                <a:t>+ 3.5 百万</a:t>
              </a:r>
            </a:p>
          </p:txBody>
        </p:sp>
        <p:sp>
          <p:nvSpPr>
            <p:cNvPr id="92175" name="Rectangle 19">
              <a:extLst>
                <a:ext uri="{FF2B5EF4-FFF2-40B4-BE49-F238E27FC236}">
                  <a16:creationId xmlns:a16="http://schemas.microsoft.com/office/drawing/2014/main" id="{1AE517C0-F35F-4EE5-0A08-7959033EB29A}"/>
                </a:ext>
              </a:extLst>
            </p:cNvPr>
            <p:cNvSpPr>
              <a:spLocks noChangeArrowheads="1"/>
            </p:cNvSpPr>
            <p:nvPr/>
          </p:nvSpPr>
          <p:spPr bwMode="auto">
            <a:xfrm>
              <a:off x="0" y="1001"/>
              <a:ext cx="118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0.7%</a:t>
              </a:r>
            </a:p>
          </p:txBody>
        </p:sp>
        <p:sp>
          <p:nvSpPr>
            <p:cNvPr id="92176" name="Rectangle 16">
              <a:extLst>
                <a:ext uri="{FF2B5EF4-FFF2-40B4-BE49-F238E27FC236}">
                  <a16:creationId xmlns:a16="http://schemas.microsoft.com/office/drawing/2014/main" id="{9FDFB507-CAFB-8FE0-86C9-D0AAA8014162}"/>
                </a:ext>
              </a:extLst>
            </p:cNvPr>
            <p:cNvSpPr>
              <a:spLocks noChangeArrowheads="1"/>
            </p:cNvSpPr>
            <p:nvPr/>
          </p:nvSpPr>
          <p:spPr bwMode="auto">
            <a:xfrm>
              <a:off x="0" y="499"/>
              <a:ext cx="118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+ 21%</a:t>
              </a:r>
            </a:p>
          </p:txBody>
        </p:sp>
        <p:sp>
          <p:nvSpPr>
            <p:cNvPr id="92177" name="Rectangle 13">
              <a:extLst>
                <a:ext uri="{FF2B5EF4-FFF2-40B4-BE49-F238E27FC236}">
                  <a16:creationId xmlns:a16="http://schemas.microsoft.com/office/drawing/2014/main" id="{D3AD9D1F-734C-5A4D-D55B-4825E9E9BB26}"/>
                </a:ext>
              </a:extLst>
            </p:cNvPr>
            <p:cNvSpPr>
              <a:spLocks noChangeArrowheads="1"/>
            </p:cNvSpPr>
            <p:nvPr/>
          </p:nvSpPr>
          <p:spPr bwMode="auto">
            <a:xfrm>
              <a:off x="0" y="0"/>
              <a:ext cx="1186"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525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en-US" altLang="zh-CN" sz="1311">
                  <a:solidFill>
                    <a:srgbClr val="FF0000"/>
                  </a:solidFill>
                  <a:ea typeface="宋体" panose="02010600030101010101" pitchFamily="2" charset="-122"/>
                </a:rPr>
                <a:t>+ 138%</a:t>
              </a:r>
            </a:p>
          </p:txBody>
        </p:sp>
      </p:grpSp>
      <p:sp>
        <p:nvSpPr>
          <p:cNvPr id="92178" name="Rectangle 12">
            <a:extLst>
              <a:ext uri="{FF2B5EF4-FFF2-40B4-BE49-F238E27FC236}">
                <a16:creationId xmlns:a16="http://schemas.microsoft.com/office/drawing/2014/main" id="{26E3AE0F-C469-C23D-7C95-1740F4C4D66A}"/>
              </a:ext>
            </a:extLst>
          </p:cNvPr>
          <p:cNvSpPr>
            <a:spLocks noChangeArrowheads="1"/>
          </p:cNvSpPr>
          <p:nvPr/>
        </p:nvSpPr>
        <p:spPr bwMode="auto">
          <a:xfrm>
            <a:off x="498628" y="1127701"/>
            <a:ext cx="1655954" cy="39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02"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05000"/>
              </a:lnSpc>
              <a:spcBef>
                <a:spcPct val="45000"/>
              </a:spcBef>
              <a:buClr>
                <a:srgbClr val="00B85C"/>
              </a:buClr>
              <a:buSzPct val="120000"/>
              <a:buFont typeface="Wingdings" pitchFamily="2" charset="2"/>
              <a:buNone/>
            </a:pPr>
            <a:r>
              <a:rPr lang="zh-CN" altLang="zh-CN" sz="1311">
                <a:ea typeface="宋体" panose="02010600030101010101" pitchFamily="2" charset="-122"/>
              </a:rPr>
              <a:t>真实石油价格</a:t>
            </a:r>
          </a:p>
        </p:txBody>
      </p:sp>
      <p:sp>
        <p:nvSpPr>
          <p:cNvPr id="92179" name="Rectangle 11">
            <a:extLst>
              <a:ext uri="{FF2B5EF4-FFF2-40B4-BE49-F238E27FC236}">
                <a16:creationId xmlns:a16="http://schemas.microsoft.com/office/drawing/2014/main" id="{E7812DF2-48BE-4F78-29F8-6F8EDD9FC386}"/>
              </a:ext>
            </a:extLst>
          </p:cNvPr>
          <p:cNvSpPr>
            <a:spLocks noChangeArrowheads="1"/>
          </p:cNvSpPr>
          <p:nvPr/>
        </p:nvSpPr>
        <p:spPr bwMode="auto">
          <a:xfrm>
            <a:off x="3103814" y="729119"/>
            <a:ext cx="959637" cy="39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311">
                <a:ea typeface="宋体" panose="02010600030101010101" pitchFamily="2" charset="-122"/>
              </a:rPr>
              <a:t>1978-80</a:t>
            </a:r>
          </a:p>
        </p:txBody>
      </p:sp>
      <p:sp>
        <p:nvSpPr>
          <p:cNvPr id="92180" name="Rectangle 10">
            <a:extLst>
              <a:ext uri="{FF2B5EF4-FFF2-40B4-BE49-F238E27FC236}">
                <a16:creationId xmlns:a16="http://schemas.microsoft.com/office/drawing/2014/main" id="{BF6F15C4-4FD6-1946-052B-A1FBD65CE81D}"/>
              </a:ext>
            </a:extLst>
          </p:cNvPr>
          <p:cNvSpPr>
            <a:spLocks noChangeArrowheads="1"/>
          </p:cNvSpPr>
          <p:nvPr/>
        </p:nvSpPr>
        <p:spPr bwMode="auto">
          <a:xfrm>
            <a:off x="2154582" y="729119"/>
            <a:ext cx="949232" cy="39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lnSpc>
                <a:spcPct val="105000"/>
              </a:lnSpc>
              <a:spcBef>
                <a:spcPct val="45000"/>
              </a:spcBef>
              <a:buClr>
                <a:srgbClr val="00B85C"/>
              </a:buClr>
              <a:buSzPct val="120000"/>
              <a:buFont typeface="Wingdings" pitchFamily="2" charset="2"/>
              <a:buNone/>
            </a:pPr>
            <a:r>
              <a:rPr lang="en-US" altLang="zh-CN" sz="1311">
                <a:ea typeface="宋体" panose="02010600030101010101" pitchFamily="2" charset="-122"/>
              </a:rPr>
              <a:t>1973-75</a:t>
            </a:r>
          </a:p>
        </p:txBody>
      </p:sp>
      <p:sp>
        <p:nvSpPr>
          <p:cNvPr id="92181" name="Line 24">
            <a:extLst>
              <a:ext uri="{FF2B5EF4-FFF2-40B4-BE49-F238E27FC236}">
                <a16:creationId xmlns:a16="http://schemas.microsoft.com/office/drawing/2014/main" id="{5780AE25-F320-96EC-906F-59B19FF11A3F}"/>
              </a:ext>
            </a:extLst>
          </p:cNvPr>
          <p:cNvSpPr>
            <a:spLocks noChangeShapeType="1"/>
          </p:cNvSpPr>
          <p:nvPr/>
        </p:nvSpPr>
        <p:spPr bwMode="auto">
          <a:xfrm>
            <a:off x="498628" y="729119"/>
            <a:ext cx="35648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2" name="Line 25">
            <a:extLst>
              <a:ext uri="{FF2B5EF4-FFF2-40B4-BE49-F238E27FC236}">
                <a16:creationId xmlns:a16="http://schemas.microsoft.com/office/drawing/2014/main" id="{DB8E9846-AA69-FD05-39EB-D87DF92A213E}"/>
              </a:ext>
            </a:extLst>
          </p:cNvPr>
          <p:cNvSpPr>
            <a:spLocks noChangeShapeType="1"/>
          </p:cNvSpPr>
          <p:nvPr/>
        </p:nvSpPr>
        <p:spPr bwMode="auto">
          <a:xfrm>
            <a:off x="498628" y="1127701"/>
            <a:ext cx="35648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3" name="Line 26">
            <a:extLst>
              <a:ext uri="{FF2B5EF4-FFF2-40B4-BE49-F238E27FC236}">
                <a16:creationId xmlns:a16="http://schemas.microsoft.com/office/drawing/2014/main" id="{726D4838-37AE-F1E9-FF71-E8DD7D1AF64E}"/>
              </a:ext>
            </a:extLst>
          </p:cNvPr>
          <p:cNvSpPr>
            <a:spLocks noChangeShapeType="1"/>
          </p:cNvSpPr>
          <p:nvPr/>
        </p:nvSpPr>
        <p:spPr bwMode="auto">
          <a:xfrm>
            <a:off x="498628" y="1527082"/>
            <a:ext cx="35648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4" name="Line 27">
            <a:extLst>
              <a:ext uri="{FF2B5EF4-FFF2-40B4-BE49-F238E27FC236}">
                <a16:creationId xmlns:a16="http://schemas.microsoft.com/office/drawing/2014/main" id="{CE0C2630-4EA0-90E8-7001-D2093050F33E}"/>
              </a:ext>
            </a:extLst>
          </p:cNvPr>
          <p:cNvSpPr>
            <a:spLocks noChangeShapeType="1"/>
          </p:cNvSpPr>
          <p:nvPr/>
        </p:nvSpPr>
        <p:spPr bwMode="auto">
          <a:xfrm>
            <a:off x="498628" y="1928865"/>
            <a:ext cx="35648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5" name="Line 28">
            <a:extLst>
              <a:ext uri="{FF2B5EF4-FFF2-40B4-BE49-F238E27FC236}">
                <a16:creationId xmlns:a16="http://schemas.microsoft.com/office/drawing/2014/main" id="{A78B2434-C8FB-EC08-0567-C6B95CBD8F87}"/>
              </a:ext>
            </a:extLst>
          </p:cNvPr>
          <p:cNvSpPr>
            <a:spLocks noChangeShapeType="1"/>
          </p:cNvSpPr>
          <p:nvPr/>
        </p:nvSpPr>
        <p:spPr bwMode="auto">
          <a:xfrm>
            <a:off x="498628" y="2330648"/>
            <a:ext cx="35648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6" name="Line 29">
            <a:extLst>
              <a:ext uri="{FF2B5EF4-FFF2-40B4-BE49-F238E27FC236}">
                <a16:creationId xmlns:a16="http://schemas.microsoft.com/office/drawing/2014/main" id="{90EE7EA1-1F2B-7808-1CCB-789BCBBDBBDF}"/>
              </a:ext>
            </a:extLst>
          </p:cNvPr>
          <p:cNvSpPr>
            <a:spLocks noChangeShapeType="1"/>
          </p:cNvSpPr>
          <p:nvPr/>
        </p:nvSpPr>
        <p:spPr bwMode="auto">
          <a:xfrm>
            <a:off x="498628" y="2850885"/>
            <a:ext cx="35648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7" name="Line 30">
            <a:extLst>
              <a:ext uri="{FF2B5EF4-FFF2-40B4-BE49-F238E27FC236}">
                <a16:creationId xmlns:a16="http://schemas.microsoft.com/office/drawing/2014/main" id="{7D75CA63-D699-044A-BA20-9F6EDBE35487}"/>
              </a:ext>
            </a:extLst>
          </p:cNvPr>
          <p:cNvSpPr>
            <a:spLocks noChangeShapeType="1"/>
          </p:cNvSpPr>
          <p:nvPr/>
        </p:nvSpPr>
        <p:spPr bwMode="auto">
          <a:xfrm>
            <a:off x="498627" y="729119"/>
            <a:ext cx="0" cy="2121766"/>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8" name="Line 31">
            <a:extLst>
              <a:ext uri="{FF2B5EF4-FFF2-40B4-BE49-F238E27FC236}">
                <a16:creationId xmlns:a16="http://schemas.microsoft.com/office/drawing/2014/main" id="{7413CB5F-DAD7-3194-E68A-DC9394A0B909}"/>
              </a:ext>
            </a:extLst>
          </p:cNvPr>
          <p:cNvSpPr>
            <a:spLocks noChangeShapeType="1"/>
          </p:cNvSpPr>
          <p:nvPr/>
        </p:nvSpPr>
        <p:spPr bwMode="auto">
          <a:xfrm>
            <a:off x="2154581" y="729119"/>
            <a:ext cx="0" cy="21217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89" name="Line 32">
            <a:extLst>
              <a:ext uri="{FF2B5EF4-FFF2-40B4-BE49-F238E27FC236}">
                <a16:creationId xmlns:a16="http://schemas.microsoft.com/office/drawing/2014/main" id="{6A47A54E-7CEE-D963-237F-82E2939FA832}"/>
              </a:ext>
            </a:extLst>
          </p:cNvPr>
          <p:cNvSpPr>
            <a:spLocks noChangeShapeType="1"/>
          </p:cNvSpPr>
          <p:nvPr/>
        </p:nvSpPr>
        <p:spPr bwMode="auto">
          <a:xfrm>
            <a:off x="3103814" y="729119"/>
            <a:ext cx="0" cy="21217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90" name="Line 33">
            <a:extLst>
              <a:ext uri="{FF2B5EF4-FFF2-40B4-BE49-F238E27FC236}">
                <a16:creationId xmlns:a16="http://schemas.microsoft.com/office/drawing/2014/main" id="{20E4C608-19AC-DDD0-2752-4C0449BEDE59}"/>
              </a:ext>
            </a:extLst>
          </p:cNvPr>
          <p:cNvSpPr>
            <a:spLocks noChangeShapeType="1"/>
          </p:cNvSpPr>
          <p:nvPr/>
        </p:nvSpPr>
        <p:spPr bwMode="auto">
          <a:xfrm>
            <a:off x="4063451" y="729119"/>
            <a:ext cx="0" cy="2121766"/>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92191" name="FlagCount" hidden="1">
            <a:hlinkClick r:id="rId3" action="ppaction://hlinkfile"/>
            <a:extLst>
              <a:ext uri="{FF2B5EF4-FFF2-40B4-BE49-F238E27FC236}">
                <a16:creationId xmlns:a16="http://schemas.microsoft.com/office/drawing/2014/main" id="{F2C510E8-B475-60CD-C33B-3B75BDFC1B47}"/>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1655075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2173"/>
                                        </p:tgtEl>
                                        <p:attrNameLst>
                                          <p:attrName>style.visibility</p:attrName>
                                        </p:attrNameLst>
                                      </p:cBhvr>
                                      <p:to>
                                        <p:strVal val="visible"/>
                                      </p:to>
                                    </p:set>
                                    <p:animEffect transition="in" filter="wipe(up)">
                                      <p:cBhvr>
                                        <p:cTn id="7" dur="500"/>
                                        <p:tgtEl>
                                          <p:spTgt spid="92173"/>
                                        </p:tgtEl>
                                      </p:cBhvr>
                                    </p:animEffect>
                                  </p:childTnLst>
                                  <p:subTnLst>
                                    <p:animClr clrSpc="rgb" dir="cw">
                                      <p:cBhvr override="childStyle">
                                        <p:cTn dur="1" fill="hold" display="0" masterRel="nextClick" afterEffect="1"/>
                                        <p:tgtEl>
                                          <p:spTgt spid="92173"/>
                                        </p:tgtEl>
                                        <p:attrNameLst>
                                          <p:attrName>ppt_c</p:attrName>
                                        </p:attrNameLst>
                                      </p:cBhvr>
                                      <p:to>
                                        <a:schemeClr val="tx1"/>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2168"/>
                                        </p:tgtEl>
                                        <p:attrNameLst>
                                          <p:attrName>style.visibility</p:attrName>
                                        </p:attrNameLst>
                                      </p:cBhvr>
                                      <p:to>
                                        <p:strVal val="visible"/>
                                      </p:to>
                                    </p:set>
                                    <p:animEffect transition="in" filter="wipe(up)">
                                      <p:cBhvr>
                                        <p:cTn id="12" dur="500"/>
                                        <p:tgtEl>
                                          <p:spTgt spid="92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内容占位符 6"/>
          <p:cNvGraphicFramePr>
            <a:graphicFrameLocks noGrp="1"/>
          </p:cNvGraphicFramePr>
          <p:nvPr>
            <p:ph idx="1"/>
          </p:nvPr>
        </p:nvGraphicFramePr>
        <p:xfrm>
          <a:off x="320113" y="942566"/>
          <a:ext cx="4001161" cy="1837224"/>
        </p:xfrm>
        <a:graphic>
          <a:graphicData uri="http://schemas.openxmlformats.org/drawingml/2006/table">
            <a:tbl>
              <a:tblPr firstRow="1" bandRow="1">
                <a:tableStyleId>{5940675A-B579-460E-94D1-54222C63F5DA}</a:tableStyleId>
              </a:tblPr>
              <a:tblGrid>
                <a:gridCol w="398896">
                  <a:extLst>
                    <a:ext uri="{9D8B030D-6E8A-4147-A177-3AD203B41FA5}">
                      <a16:colId xmlns:a16="http://schemas.microsoft.com/office/drawing/2014/main" val="3730117908"/>
                    </a:ext>
                  </a:extLst>
                </a:gridCol>
                <a:gridCol w="2397644">
                  <a:extLst>
                    <a:ext uri="{9D8B030D-6E8A-4147-A177-3AD203B41FA5}">
                      <a16:colId xmlns:a16="http://schemas.microsoft.com/office/drawing/2014/main" val="1747321122"/>
                    </a:ext>
                  </a:extLst>
                </a:gridCol>
                <a:gridCol w="1204621">
                  <a:extLst>
                    <a:ext uri="{9D8B030D-6E8A-4147-A177-3AD203B41FA5}">
                      <a16:colId xmlns:a16="http://schemas.microsoft.com/office/drawing/2014/main" val="335340976"/>
                    </a:ext>
                  </a:extLst>
                </a:gridCol>
              </a:tblGrid>
              <a:tr h="229653">
                <a:tc>
                  <a:txBody>
                    <a:bodyPr/>
                    <a:lstStyle/>
                    <a:p>
                      <a:pPr algn="ctr"/>
                      <a:r>
                        <a:rPr lang="zh-CN" altLang="en-US" sz="900" b="1" dirty="0">
                          <a:latin typeface="楷体" panose="02010609060101010101" pitchFamily="49" charset="-122"/>
                          <a:ea typeface="楷体" panose="02010609060101010101" pitchFamily="49" charset="-122"/>
                        </a:rPr>
                        <a:t>序号</a:t>
                      </a:r>
                    </a:p>
                  </a:txBody>
                  <a:tcPr marL="46101" marR="46101" marT="23051" marB="23051" anchor="ctr"/>
                </a:tc>
                <a:tc>
                  <a:txBody>
                    <a:bodyPr/>
                    <a:lstStyle/>
                    <a:p>
                      <a:pPr algn="ctr"/>
                      <a:r>
                        <a:rPr lang="zh-CN" altLang="en-US" sz="900" b="1" dirty="0">
                          <a:latin typeface="楷体" panose="02010609060101010101" pitchFamily="49" charset="-122"/>
                          <a:ea typeface="楷体" panose="02010609060101010101" pitchFamily="49" charset="-122"/>
                        </a:rPr>
                        <a:t>因素及变化</a:t>
                      </a:r>
                    </a:p>
                  </a:txBody>
                  <a:tcPr marL="46101" marR="46101" marT="23051" marB="23051" anchor="ctr"/>
                </a:tc>
                <a:tc>
                  <a:txBody>
                    <a:bodyPr/>
                    <a:lstStyle/>
                    <a:p>
                      <a:pPr algn="ctr"/>
                      <a:r>
                        <a:rPr lang="zh-CN" altLang="en-US" sz="900" b="1" dirty="0">
                          <a:latin typeface="楷体" panose="02010609060101010101" pitchFamily="49" charset="-122"/>
                          <a:ea typeface="楷体" panose="02010609060101010101" pitchFamily="49" charset="-122"/>
                        </a:rPr>
                        <a:t>总供给曲线的变化</a:t>
                      </a:r>
                    </a:p>
                  </a:txBody>
                  <a:tcPr marL="46101" marR="46101" marT="23051" marB="23051" anchor="ctr"/>
                </a:tc>
                <a:extLst>
                  <a:ext uri="{0D108BD9-81ED-4DB2-BD59-A6C34878D82A}">
                    <a16:rowId xmlns:a16="http://schemas.microsoft.com/office/drawing/2014/main" val="642135051"/>
                  </a:ext>
                </a:extLst>
              </a:tr>
              <a:tr h="229653">
                <a:tc>
                  <a:txBody>
                    <a:bodyPr/>
                    <a:lstStyle/>
                    <a:p>
                      <a:pPr algn="ctr"/>
                      <a:r>
                        <a:rPr lang="en-US" altLang="zh-CN" sz="900" dirty="0">
                          <a:latin typeface="楷体" panose="02010609060101010101" pitchFamily="49" charset="-122"/>
                          <a:ea typeface="楷体" panose="02010609060101010101" pitchFamily="49" charset="-122"/>
                        </a:rPr>
                        <a:t>1</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可得到的劳动供给量增加（劳动市场相对宽松）</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3717059952"/>
                  </a:ext>
                </a:extLst>
              </a:tr>
              <a:tr h="229653">
                <a:tc>
                  <a:txBody>
                    <a:bodyPr/>
                    <a:lstStyle/>
                    <a:p>
                      <a:pPr algn="ctr"/>
                      <a:r>
                        <a:rPr lang="en-US" altLang="zh-CN" sz="900" dirty="0">
                          <a:latin typeface="楷体" panose="02010609060101010101" pitchFamily="49" charset="-122"/>
                          <a:ea typeface="楷体" panose="02010609060101010101" pitchFamily="49" charset="-122"/>
                        </a:rPr>
                        <a:t>2</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资本增加</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1270521026"/>
                  </a:ext>
                </a:extLst>
              </a:tr>
              <a:tr h="229653">
                <a:tc>
                  <a:txBody>
                    <a:bodyPr/>
                    <a:lstStyle/>
                    <a:p>
                      <a:pPr algn="ctr"/>
                      <a:r>
                        <a:rPr lang="en-US" altLang="zh-CN" sz="900" dirty="0">
                          <a:latin typeface="楷体" panose="02010609060101010101" pitchFamily="49" charset="-122"/>
                          <a:ea typeface="楷体" panose="02010609060101010101" pitchFamily="49" charset="-122"/>
                        </a:rPr>
                        <a:t>3</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自然资源可获得性增加</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2395081805"/>
                  </a:ext>
                </a:extLst>
              </a:tr>
              <a:tr h="229653">
                <a:tc>
                  <a:txBody>
                    <a:bodyPr/>
                    <a:lstStyle/>
                    <a:p>
                      <a:pPr algn="ctr"/>
                      <a:r>
                        <a:rPr lang="en-US" altLang="zh-CN" sz="900" dirty="0">
                          <a:latin typeface="楷体" panose="02010609060101010101" pitchFamily="49" charset="-122"/>
                          <a:ea typeface="楷体" panose="02010609060101010101" pitchFamily="49" charset="-122"/>
                        </a:rPr>
                        <a:t>4</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技术进步</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2075348028"/>
                  </a:ext>
                </a:extLst>
              </a:tr>
              <a:tr h="229653">
                <a:tc>
                  <a:txBody>
                    <a:bodyPr/>
                    <a:lstStyle/>
                    <a:p>
                      <a:pPr algn="ctr"/>
                      <a:r>
                        <a:rPr lang="en-US" altLang="zh-CN" sz="900" dirty="0">
                          <a:latin typeface="楷体" panose="02010609060101010101" pitchFamily="49" charset="-122"/>
                          <a:ea typeface="楷体" panose="02010609060101010101" pitchFamily="49" charset="-122"/>
                        </a:rPr>
                        <a:t>5</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预期价格水平下降</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2463434496"/>
                  </a:ext>
                </a:extLst>
              </a:tr>
              <a:tr h="229653">
                <a:tc>
                  <a:txBody>
                    <a:bodyPr/>
                    <a:lstStyle/>
                    <a:p>
                      <a:pPr algn="ctr"/>
                      <a:r>
                        <a:rPr lang="en-US" altLang="zh-CN" sz="900" dirty="0">
                          <a:latin typeface="楷体" panose="02010609060101010101" pitchFamily="49" charset="-122"/>
                          <a:ea typeface="楷体" panose="02010609060101010101" pitchFamily="49" charset="-122"/>
                        </a:rPr>
                        <a:t>6</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投入品价格下降</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2187538484"/>
                  </a:ext>
                </a:extLst>
              </a:tr>
              <a:tr h="229653">
                <a:tc>
                  <a:txBody>
                    <a:bodyPr/>
                    <a:lstStyle/>
                    <a:p>
                      <a:pPr algn="ctr"/>
                      <a:r>
                        <a:rPr lang="en-US" altLang="zh-CN" sz="900" dirty="0">
                          <a:latin typeface="楷体" panose="02010609060101010101" pitchFamily="49" charset="-122"/>
                          <a:ea typeface="楷体" panose="02010609060101010101" pitchFamily="49" charset="-122"/>
                        </a:rPr>
                        <a:t>7</a:t>
                      </a:r>
                      <a:endParaRPr lang="zh-CN" altLang="en-US" sz="900" dirty="0">
                        <a:latin typeface="楷体" panose="02010609060101010101" pitchFamily="49" charset="-122"/>
                        <a:ea typeface="楷体" panose="02010609060101010101" pitchFamily="49" charset="-122"/>
                      </a:endParaRPr>
                    </a:p>
                  </a:txBody>
                  <a:tcPr marL="46101" marR="46101" marT="23051" marB="23051" anchor="ctr"/>
                </a:tc>
                <a:tc>
                  <a:txBody>
                    <a:bodyPr/>
                    <a:lstStyle/>
                    <a:p>
                      <a:pPr algn="ctr"/>
                      <a:r>
                        <a:rPr lang="zh-CN" altLang="en-US" sz="900" dirty="0">
                          <a:latin typeface="楷体" panose="02010609060101010101" pitchFamily="49" charset="-122"/>
                          <a:ea typeface="楷体" panose="02010609060101010101" pitchFamily="49" charset="-122"/>
                        </a:rPr>
                        <a:t>名义工资下降</a:t>
                      </a:r>
                    </a:p>
                  </a:txBody>
                  <a:tcPr marL="46101" marR="46101" marT="23051" marB="23051" anchor="ctr"/>
                </a:tc>
                <a:tc>
                  <a:txBody>
                    <a:bodyPr/>
                    <a:lstStyle/>
                    <a:p>
                      <a:pPr algn="ctr"/>
                      <a:endParaRPr lang="zh-CN" altLang="en-US" sz="900" dirty="0">
                        <a:latin typeface="楷体" panose="02010609060101010101" pitchFamily="49" charset="-122"/>
                        <a:ea typeface="楷体" panose="02010609060101010101" pitchFamily="49" charset="-122"/>
                      </a:endParaRPr>
                    </a:p>
                  </a:txBody>
                  <a:tcPr marL="46101" marR="46101" marT="23051" marB="23051" anchor="ctr"/>
                </a:tc>
                <a:extLst>
                  <a:ext uri="{0D108BD9-81ED-4DB2-BD59-A6C34878D82A}">
                    <a16:rowId xmlns:a16="http://schemas.microsoft.com/office/drawing/2014/main" val="1301168802"/>
                  </a:ext>
                </a:extLst>
              </a:tr>
            </a:tbl>
          </a:graphicData>
        </a:graphic>
      </p:graphicFrame>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78</a:t>
            </a:fld>
            <a:endParaRPr lang="zh-CN" altLang="en-US"/>
          </a:p>
        </p:txBody>
      </p:sp>
      <p:sp>
        <p:nvSpPr>
          <p:cNvPr id="8" name="文本框 7"/>
          <p:cNvSpPr txBox="1"/>
          <p:nvPr/>
        </p:nvSpPr>
        <p:spPr>
          <a:xfrm>
            <a:off x="320113" y="680956"/>
            <a:ext cx="4001161" cy="261610"/>
          </a:xfrm>
          <a:prstGeom prst="rect">
            <a:avLst/>
          </a:prstGeom>
        </p:spPr>
        <p:txBody>
          <a:bodyPr wrap="square">
            <a:spAutoFit/>
          </a:bodyPr>
          <a:lstStyle>
            <a:defPPr>
              <a:defRPr lang="en-US"/>
            </a:defPPr>
            <a:lvl1pPr algn="ctr">
              <a:spcBef>
                <a:spcPct val="50000"/>
              </a:spcBef>
              <a:defRPr>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defRPr>
            </a:lvl1pPr>
          </a:lstStyle>
          <a:p>
            <a:r>
              <a:rPr lang="zh-CN" altLang="en-US" sz="1100" dirty="0">
                <a:solidFill>
                  <a:schemeClr val="tx1"/>
                </a:solidFill>
                <a:latin typeface="KaiTi" panose="02010609060101010101" pitchFamily="49" charset="-122"/>
                <a:ea typeface="KaiTi" panose="02010609060101010101" pitchFamily="49" charset="-122"/>
              </a:rPr>
              <a:t>导致总供给曲线移动的因素</a:t>
            </a:r>
          </a:p>
        </p:txBody>
      </p:sp>
      <p:sp>
        <p:nvSpPr>
          <p:cNvPr id="3" name="Rectangle 6">
            <a:extLst>
              <a:ext uri="{FF2B5EF4-FFF2-40B4-BE49-F238E27FC236}">
                <a16:creationId xmlns:a16="http://schemas.microsoft.com/office/drawing/2014/main" id="{3757BD4B-15B6-AEAD-7CF2-EFC4F24994AE}"/>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78</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9" name="日期占位符 3">
            <a:extLst>
              <a:ext uri="{FF2B5EF4-FFF2-40B4-BE49-F238E27FC236}">
                <a16:creationId xmlns:a16="http://schemas.microsoft.com/office/drawing/2014/main" id="{30C3ED82-FFD6-3DFD-DF7F-344883928096}"/>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
        <p:nvSpPr>
          <p:cNvPr id="10" name="标题 9">
            <a:extLst>
              <a:ext uri="{FF2B5EF4-FFF2-40B4-BE49-F238E27FC236}">
                <a16:creationId xmlns:a16="http://schemas.microsoft.com/office/drawing/2014/main" id="{80B26A10-5E67-7343-1CA0-742082CE4998}"/>
              </a:ext>
            </a:extLst>
          </p:cNvPr>
          <p:cNvSpPr>
            <a:spLocks noGrp="1"/>
          </p:cNvSpPr>
          <p:nvPr>
            <p:ph type="title"/>
          </p:nvPr>
        </p:nvSpPr>
        <p:spPr/>
        <p:txBody>
          <a:bodyPr/>
          <a:lstStyle/>
          <a:p>
            <a:r>
              <a:rPr kumimoji="1" lang="zh-CN" altLang="en-US" dirty="0"/>
              <a:t>总供给曲线的移动</a:t>
            </a:r>
          </a:p>
        </p:txBody>
      </p:sp>
      <p:graphicFrame>
        <p:nvGraphicFramePr>
          <p:cNvPr id="11" name="表格 10">
            <a:extLst>
              <a:ext uri="{FF2B5EF4-FFF2-40B4-BE49-F238E27FC236}">
                <a16:creationId xmlns:a16="http://schemas.microsoft.com/office/drawing/2014/main" id="{41B6FED5-4D7A-8EF3-4C65-EB4DFD5AC9A5}"/>
              </a:ext>
            </a:extLst>
          </p:cNvPr>
          <p:cNvGraphicFramePr>
            <a:graphicFrameLocks noGrp="1"/>
          </p:cNvGraphicFramePr>
          <p:nvPr/>
        </p:nvGraphicFramePr>
        <p:xfrm>
          <a:off x="3457178" y="1172219"/>
          <a:ext cx="605557" cy="1607571"/>
        </p:xfrm>
        <a:graphic>
          <a:graphicData uri="http://schemas.openxmlformats.org/drawingml/2006/table">
            <a:tbl>
              <a:tblPr firstRow="1" bandRow="1">
                <a:tableStyleId>{5940675A-B579-460E-94D1-54222C63F5DA}</a:tableStyleId>
              </a:tblPr>
              <a:tblGrid>
                <a:gridCol w="605557">
                  <a:extLst>
                    <a:ext uri="{9D8B030D-6E8A-4147-A177-3AD203B41FA5}">
                      <a16:colId xmlns:a16="http://schemas.microsoft.com/office/drawing/2014/main" val="1356095696"/>
                    </a:ext>
                  </a:extLst>
                </a:gridCol>
              </a:tblGrid>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32916859"/>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7981347"/>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95526913"/>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5793644"/>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8657860"/>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30691814"/>
                  </a:ext>
                </a:extLst>
              </a:tr>
              <a:tr h="229653">
                <a:tc>
                  <a:txBody>
                    <a:bodyPr/>
                    <a:lstStyle/>
                    <a:p>
                      <a:pPr algn="ctr"/>
                      <a:r>
                        <a:rPr lang="zh-CN" altLang="en-US" sz="900" dirty="0">
                          <a:latin typeface="楷体" panose="02010609060101010101" pitchFamily="49" charset="-122"/>
                          <a:ea typeface="楷体" panose="02010609060101010101" pitchFamily="49" charset="-122"/>
                        </a:rPr>
                        <a:t>右移</a:t>
                      </a:r>
                    </a:p>
                  </a:txBody>
                  <a:tcPr marL="46101" marR="46101" marT="23051" marB="2305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35610159"/>
                  </a:ext>
                </a:extLst>
              </a:tr>
            </a:tbl>
          </a:graphicData>
        </a:graphic>
      </p:graphicFrame>
    </p:spTree>
    <p:extLst>
      <p:ext uri="{BB962C8B-B14F-4D97-AF65-F5344CB8AC3E}">
        <p14:creationId xmlns:p14="http://schemas.microsoft.com/office/powerpoint/2010/main" val="249927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28A33F92-8252-1340-83A9-7AF76B4374AA}"/>
              </a:ext>
            </a:extLst>
          </p:cNvPr>
          <p:cNvSpPr>
            <a:spLocks noGrp="1"/>
          </p:cNvSpPr>
          <p:nvPr>
            <p:ph type="ftr" sz="quarter" idx="10"/>
          </p:nvPr>
        </p:nvSpPr>
        <p:spPr/>
        <p:txBody>
          <a:bodyPr/>
          <a:lstStyle/>
          <a:p>
            <a:r>
              <a:rPr lang="zh-CN" altLang="zh-CN"/>
              <a:t>总需求与总供给</a:t>
            </a:r>
          </a:p>
        </p:txBody>
      </p:sp>
      <p:sp>
        <p:nvSpPr>
          <p:cNvPr id="3" name="灯片编号占位符 2">
            <a:extLst>
              <a:ext uri="{FF2B5EF4-FFF2-40B4-BE49-F238E27FC236}">
                <a16:creationId xmlns:a16="http://schemas.microsoft.com/office/drawing/2014/main" id="{C785A4A8-548B-6BFD-992E-8E1A76B7C46C}"/>
              </a:ext>
            </a:extLst>
          </p:cNvPr>
          <p:cNvSpPr>
            <a:spLocks noGrp="1"/>
          </p:cNvSpPr>
          <p:nvPr>
            <p:ph type="sldNum" sz="quarter" idx="11"/>
          </p:nvPr>
        </p:nvSpPr>
        <p:spPr/>
        <p:txBody>
          <a:bodyPr/>
          <a:lstStyle/>
          <a:p>
            <a:fld id="{27CCF546-5FB0-9D42-9D39-DAE7F543A941}" type="slidenum">
              <a:rPr lang="zh-CN" altLang="zh-CN"/>
              <a:pPr/>
              <a:t>79</a:t>
            </a:fld>
            <a:endParaRPr lang="zh-CN" altLang="zh-CN"/>
          </a:p>
        </p:txBody>
      </p:sp>
      <p:sp>
        <p:nvSpPr>
          <p:cNvPr id="94210" name="Rectangle 2">
            <a:extLst>
              <a:ext uri="{FF2B5EF4-FFF2-40B4-BE49-F238E27FC236}">
                <a16:creationId xmlns:a16="http://schemas.microsoft.com/office/drawing/2014/main" id="{6F665BC6-F645-1E3D-399A-11528E6B0A8F}"/>
              </a:ext>
            </a:extLst>
          </p:cNvPr>
          <p:cNvSpPr>
            <a:spLocks noGrp="1" noChangeArrowheads="1"/>
          </p:cNvSpPr>
          <p:nvPr>
            <p:ph type="title" idx="4294967295"/>
          </p:nvPr>
        </p:nvSpPr>
        <p:spPr>
          <a:xfrm>
            <a:off x="230505" y="123243"/>
            <a:ext cx="4149090" cy="324948"/>
          </a:xfrm>
        </p:spPr>
        <p:txBody>
          <a:bodyPr/>
          <a:lstStyle/>
          <a:p>
            <a:r>
              <a:rPr lang="zh-CN" altLang="en-US" sz="1815">
                <a:ea typeface="宋体" panose="02010600030101010101" pitchFamily="2" charset="-122"/>
              </a:rPr>
              <a:t>约翰</a:t>
            </a:r>
            <a:r>
              <a:rPr lang="en-US" altLang="zh-CN" sz="1815">
                <a:ea typeface="宋体" panose="02010600030101010101" pitchFamily="2" charset="-122"/>
              </a:rPr>
              <a:t>.</a:t>
            </a:r>
            <a:r>
              <a:rPr lang="zh-CN" altLang="en-US" sz="1815">
                <a:ea typeface="宋体" panose="02010600030101010101" pitchFamily="2" charset="-122"/>
              </a:rPr>
              <a:t>梅纳德</a:t>
            </a:r>
            <a:r>
              <a:rPr lang="en-US" altLang="zh-CN" sz="1815">
                <a:ea typeface="宋体" panose="02010600030101010101" pitchFamily="2" charset="-122"/>
              </a:rPr>
              <a:t>.</a:t>
            </a:r>
            <a:r>
              <a:rPr lang="zh-CN" altLang="en-US" sz="1815">
                <a:ea typeface="宋体" panose="02010600030101010101" pitchFamily="2" charset="-122"/>
              </a:rPr>
              <a:t>凯恩斯 </a:t>
            </a:r>
            <a:r>
              <a:rPr lang="en-US" altLang="zh-CN" sz="1815">
                <a:ea typeface="宋体" panose="02010600030101010101" pitchFamily="2" charset="-122"/>
              </a:rPr>
              <a:t>1883-1946</a:t>
            </a:r>
          </a:p>
        </p:txBody>
      </p:sp>
      <p:sp>
        <p:nvSpPr>
          <p:cNvPr id="94211" name="Rectangle 3">
            <a:extLst>
              <a:ext uri="{FF2B5EF4-FFF2-40B4-BE49-F238E27FC236}">
                <a16:creationId xmlns:a16="http://schemas.microsoft.com/office/drawing/2014/main" id="{6D911799-1D07-A745-36E8-37F74E3B2C1C}"/>
              </a:ext>
            </a:extLst>
          </p:cNvPr>
          <p:cNvSpPr>
            <a:spLocks noGrp="1" noChangeArrowheads="1"/>
          </p:cNvSpPr>
          <p:nvPr>
            <p:ph type="body" idx="4294967295"/>
          </p:nvPr>
        </p:nvSpPr>
        <p:spPr>
          <a:xfrm>
            <a:off x="202492" y="529028"/>
            <a:ext cx="2970153" cy="1383030"/>
          </a:xfrm>
        </p:spPr>
        <p:txBody>
          <a:bodyPr/>
          <a:lstStyle/>
          <a:p>
            <a:pPr marL="144876" indent="-144876">
              <a:lnSpc>
                <a:spcPct val="85000"/>
              </a:lnSpc>
              <a:spcBef>
                <a:spcPct val="30000"/>
              </a:spcBef>
            </a:pPr>
            <a:r>
              <a:rPr lang="zh-CN" altLang="zh-CN" dirty="0">
                <a:ea typeface="宋体" panose="02010600030101010101" pitchFamily="2" charset="-122"/>
              </a:rPr>
              <a:t>《就业、利息与货币通论》 1936年</a:t>
            </a:r>
          </a:p>
          <a:p>
            <a:pPr marL="144876" indent="-144876">
              <a:lnSpc>
                <a:spcPct val="85000"/>
              </a:lnSpc>
              <a:spcBef>
                <a:spcPct val="30000"/>
              </a:spcBef>
            </a:pPr>
            <a:r>
              <a:rPr lang="zh-CN" altLang="zh-CN" dirty="0">
                <a:ea typeface="宋体" panose="02010600030101010101" pitchFamily="2" charset="-122"/>
              </a:rPr>
              <a:t>衰退和萧条之所以发生，是因为对物品与劳务的总需求不足；政策制定者应该移动总需求</a:t>
            </a:r>
          </a:p>
          <a:p>
            <a:pPr marL="144876" indent="-144876">
              <a:lnSpc>
                <a:spcPct val="85000"/>
              </a:lnSpc>
              <a:spcBef>
                <a:spcPct val="30000"/>
              </a:spcBef>
            </a:pPr>
            <a:r>
              <a:rPr lang="zh-CN" altLang="zh-CN" dirty="0">
                <a:ea typeface="宋体" panose="02010600030101010101" pitchFamily="2" charset="-122"/>
              </a:rPr>
              <a:t>对古典经济学理论的著名批评：</a:t>
            </a:r>
          </a:p>
        </p:txBody>
      </p:sp>
      <p:pic>
        <p:nvPicPr>
          <p:cNvPr id="94212" name="Picture 4" descr="keynes100 (from textbook - no permission yet)">
            <a:extLst>
              <a:ext uri="{FF2B5EF4-FFF2-40B4-BE49-F238E27FC236}">
                <a16:creationId xmlns:a16="http://schemas.microsoft.com/office/drawing/2014/main" id="{16126818-9673-3FFE-4126-1EEAD6F19B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3483" y="544235"/>
            <a:ext cx="1115708" cy="152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3" name="Text Box 8">
            <a:extLst>
              <a:ext uri="{FF2B5EF4-FFF2-40B4-BE49-F238E27FC236}">
                <a16:creationId xmlns:a16="http://schemas.microsoft.com/office/drawing/2014/main" id="{E959C080-173C-C635-58C9-3317975D45D3}"/>
              </a:ext>
            </a:extLst>
          </p:cNvPr>
          <p:cNvSpPr txBox="1">
            <a:spLocks noChangeArrowheads="1"/>
          </p:cNvSpPr>
          <p:nvPr/>
        </p:nvSpPr>
        <p:spPr bwMode="auto">
          <a:xfrm>
            <a:off x="235307" y="2087338"/>
            <a:ext cx="4096266" cy="137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nSpc>
                <a:spcPct val="110000"/>
              </a:lnSpc>
              <a:spcBef>
                <a:spcPct val="50000"/>
              </a:spcBef>
            </a:pPr>
            <a:r>
              <a:rPr lang="zh-CN" altLang="zh-CN" sz="1412">
                <a:solidFill>
                  <a:srgbClr val="0000FF"/>
                </a:solidFill>
                <a:ea typeface="宋体" panose="02010600030101010101" pitchFamily="2" charset="-122"/>
              </a:rPr>
              <a:t>长期是对当前事情的一个误导。在长期中我们都会死。如果在暴风雨季节，经济学家只能告诉我们，暴风雨在长期中会过去，海洋必将平静，那么他们给自己的任务就太容易且无用了</a:t>
            </a:r>
          </a:p>
          <a:p>
            <a:pPr>
              <a:lnSpc>
                <a:spcPct val="110000"/>
              </a:lnSpc>
              <a:spcBef>
                <a:spcPct val="50000"/>
              </a:spcBef>
            </a:pPr>
            <a:endParaRPr lang="zh-CN" altLang="zh-CN" sz="1412">
              <a:solidFill>
                <a:srgbClr val="0000FF"/>
              </a:solidFill>
              <a:ea typeface="宋体" panose="02010600030101010101" pitchFamily="2" charset="-122"/>
            </a:endParaRPr>
          </a:p>
        </p:txBody>
      </p:sp>
      <p:sp>
        <p:nvSpPr>
          <p:cNvPr id="94214" name="Rectangle 9">
            <a:extLst>
              <a:ext uri="{FF2B5EF4-FFF2-40B4-BE49-F238E27FC236}">
                <a16:creationId xmlns:a16="http://schemas.microsoft.com/office/drawing/2014/main" id="{2D54B434-72A3-708F-E622-63FD8C3245AE}"/>
              </a:ext>
            </a:extLst>
          </p:cNvPr>
          <p:cNvSpPr>
            <a:spLocks noChangeArrowheads="1"/>
          </p:cNvSpPr>
          <p:nvPr/>
        </p:nvSpPr>
        <p:spPr bwMode="auto">
          <a:xfrm>
            <a:off x="3263887" y="556241"/>
            <a:ext cx="1097300" cy="1504685"/>
          </a:xfrm>
          <a:prstGeom prst="rect">
            <a:avLst/>
          </a:prstGeom>
          <a:noFill/>
          <a:ln w="38100">
            <a:solidFill>
              <a:srgbClr val="00808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zh-CN" altLang="zh-CN" sz="908">
              <a:ea typeface="宋体" panose="02010600030101010101" pitchFamily="2" charset="-122"/>
            </a:endParaRPr>
          </a:p>
        </p:txBody>
      </p:sp>
      <p:sp>
        <p:nvSpPr>
          <p:cNvPr id="94215" name="FlagCount" hidden="1">
            <a:hlinkClick r:id="rId4" action="ppaction://hlinkfile"/>
            <a:extLst>
              <a:ext uri="{FF2B5EF4-FFF2-40B4-BE49-F238E27FC236}">
                <a16:creationId xmlns:a16="http://schemas.microsoft.com/office/drawing/2014/main" id="{5D986190-15C8-BE3E-B7B5-060A946D2AE8}"/>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r>
              <a:rPr lang="en-US" altLang="zh-CN" sz="706" b="1">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76381205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4213"/>
                                        </p:tgtEl>
                                        <p:attrNameLst>
                                          <p:attrName>style.visibility</p:attrName>
                                        </p:attrNameLst>
                                      </p:cBhvr>
                                      <p:to>
                                        <p:strVal val="visible"/>
                                      </p:to>
                                    </p:set>
                                    <p:animEffect transition="in" filter="dissolve">
                                      <p:cBhvr>
                                        <p:cTn id="7" dur="500"/>
                                        <p:tgtEl>
                                          <p:spTgt spid="94213"/>
                                        </p:tgtEl>
                                      </p:cBhvr>
                                    </p:animEffect>
                                  </p:childTnLst>
                                  <p:subTnLst>
                                    <p:animClr clrSpc="rgb" dir="cw">
                                      <p:cBhvr override="childStyle">
                                        <p:cTn dur="1" fill="hold" display="0" masterRel="nextClick" afterEffect="1"/>
                                        <p:tgtEl>
                                          <p:spTgt spid="94213"/>
                                        </p:tgtEl>
                                        <p:attrNameLst>
                                          <p:attrName>ppt_c</p:attrName>
                                        </p:attrNameLst>
                                      </p:cBhvr>
                                      <p:to>
                                        <a:srgbClr val="0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3"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80</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4</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a:t>
            </a:r>
            <a:r>
              <a:rPr lang="en-US" altLang="zh-CN"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a:t>
            </a: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总供给</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175945"/>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400" dirty="0"/>
                  <a:t>假定某经济中存在以下关系：</a:t>
                </a:r>
                <a14:m>
                  <m:oMath xmlns:m="http://schemas.openxmlformats.org/officeDocument/2006/math">
                    <m:r>
                      <a:rPr lang="en-US" altLang="zh-CN" sz="1400" i="1">
                        <a:latin typeface="Cambria Math" panose="02040503050406030204" pitchFamily="18" charset="0"/>
                      </a:rPr>
                      <m:t>𝑐</m:t>
                    </m:r>
                    <m:r>
                      <a:rPr lang="en-US" altLang="zh-CN" sz="1400" i="1">
                        <a:latin typeface="Cambria Math" panose="02040503050406030204" pitchFamily="18" charset="0"/>
                      </a:rPr>
                      <m:t>=800+0.8</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𝑑</m:t>
                        </m:r>
                      </m:sub>
                    </m:sSub>
                  </m:oMath>
                </a14:m>
                <a:r>
                  <a:rPr lang="zh-CN" altLang="en-US" sz="1400" dirty="0"/>
                  <a:t>，</a:t>
                </a:r>
                <a14:m>
                  <m:oMath xmlns:m="http://schemas.openxmlformats.org/officeDocument/2006/math">
                    <m:r>
                      <a:rPr lang="en-US" altLang="zh-CN" sz="1400" i="1" dirty="0">
                        <a:latin typeface="Cambria Math" panose="02040503050406030204" pitchFamily="18" charset="0"/>
                      </a:rPr>
                      <m:t>𝑇</m:t>
                    </m:r>
                    <m:r>
                      <a:rPr lang="en-US" altLang="zh-CN" sz="1400" i="1" dirty="0">
                        <a:latin typeface="Cambria Math" panose="02040503050406030204" pitchFamily="18" charset="0"/>
                      </a:rPr>
                      <m:t>=</m:t>
                    </m:r>
                    <m:r>
                      <a:rPr lang="en-US" altLang="zh-CN" sz="1400" i="1" dirty="0">
                        <a:latin typeface="Cambria Math" panose="02040503050406030204" pitchFamily="18" charset="0"/>
                      </a:rPr>
                      <m:t>𝑡𝑦</m:t>
                    </m:r>
                    <m:r>
                      <a:rPr lang="en-US" altLang="zh-CN" sz="1400" i="1" dirty="0">
                        <a:latin typeface="Cambria Math" panose="02040503050406030204" pitchFamily="18" charset="0"/>
                      </a:rPr>
                      <m:t>=0.25</m:t>
                    </m:r>
                    <m:r>
                      <a:rPr lang="en-US" altLang="zh-CN" sz="1400" i="1" dirty="0">
                        <a:latin typeface="Cambria Math" panose="02040503050406030204" pitchFamily="18" charset="0"/>
                      </a:rPr>
                      <m:t>𝑦</m:t>
                    </m:r>
                    <m:r>
                      <a:rPr lang="en-US" altLang="zh-CN" sz="1400" i="1" dirty="0">
                        <a:latin typeface="Cambria Math" panose="02040503050406030204" pitchFamily="18" charset="0"/>
                      </a:rPr>
                      <m:t>,</m:t>
                    </m:r>
                    <m:r>
                      <a:rPr lang="en-US" altLang="zh-CN" sz="1400" i="1" dirty="0">
                        <a:latin typeface="Cambria Math" panose="02040503050406030204" pitchFamily="18" charset="0"/>
                      </a:rPr>
                      <m:t>𝑖</m:t>
                    </m:r>
                    <m:r>
                      <a:rPr lang="en-US" altLang="zh-CN" sz="1400" i="1" dirty="0">
                        <a:latin typeface="Cambria Math" panose="02040503050406030204" pitchFamily="18" charset="0"/>
                      </a:rPr>
                      <m:t>=200−50</m:t>
                    </m:r>
                    <m:r>
                      <a:rPr lang="en-US" altLang="zh-CN" sz="1400" i="1" dirty="0">
                        <a:latin typeface="Cambria Math" panose="02040503050406030204" pitchFamily="18" charset="0"/>
                      </a:rPr>
                      <m:t>𝑟</m:t>
                    </m:r>
                    <m:r>
                      <a:rPr lang="en-US" altLang="zh-CN" sz="1400" i="1" dirty="0">
                        <a:latin typeface="Cambria Math" panose="02040503050406030204" pitchFamily="18" charset="0"/>
                      </a:rPr>
                      <m:t>,</m:t>
                    </m:r>
                    <m:r>
                      <a:rPr lang="en-US" altLang="zh-CN" sz="1400" i="1" dirty="0">
                        <a:latin typeface="Cambria Math" panose="02040503050406030204" pitchFamily="18" charset="0"/>
                      </a:rPr>
                      <m:t>𝑔</m:t>
                    </m:r>
                    <m:r>
                      <a:rPr lang="en-US" altLang="zh-CN" sz="1400" i="1" dirty="0">
                        <a:latin typeface="Cambria Math" panose="02040503050406030204" pitchFamily="18" charset="0"/>
                      </a:rPr>
                      <m:t>=200, </m:t>
                    </m:r>
                    <m:r>
                      <a:rPr lang="en-US" altLang="zh-CN" sz="1400" i="1" dirty="0">
                        <a:latin typeface="Cambria Math" panose="02040503050406030204" pitchFamily="18" charset="0"/>
                      </a:rPr>
                      <m:t>𝐿</m:t>
                    </m:r>
                    <m:r>
                      <a:rPr lang="en-US" altLang="zh-CN" sz="1400" i="1" dirty="0">
                        <a:latin typeface="Cambria Math" panose="02040503050406030204" pitchFamily="18" charset="0"/>
                      </a:rPr>
                      <m:t>=0.4</m:t>
                    </m:r>
                    <m:r>
                      <a:rPr lang="en-US" altLang="zh-CN" sz="1400" i="1" dirty="0">
                        <a:latin typeface="Cambria Math" panose="02040503050406030204" pitchFamily="18" charset="0"/>
                      </a:rPr>
                      <m:t>𝑦</m:t>
                    </m:r>
                    <m:r>
                      <a:rPr lang="en-US" altLang="zh-CN" sz="1400" i="1" dirty="0">
                        <a:latin typeface="Cambria Math" panose="02040503050406030204" pitchFamily="18" charset="0"/>
                      </a:rPr>
                      <m:t>−100</m:t>
                    </m:r>
                    <m:r>
                      <a:rPr lang="en-US" altLang="zh-CN" sz="1400" i="1" dirty="0">
                        <a:latin typeface="Cambria Math" panose="02040503050406030204" pitchFamily="18" charset="0"/>
                      </a:rPr>
                      <m:t>𝑟</m:t>
                    </m:r>
                    <m:r>
                      <a:rPr lang="en-US" altLang="zh-CN" sz="1400" i="1" dirty="0">
                        <a:latin typeface="Cambria Math" panose="02040503050406030204" pitchFamily="18" charset="0"/>
                      </a:rPr>
                      <m:t>,</m:t>
                    </m:r>
                    <m:r>
                      <a:rPr lang="en-US" altLang="zh-CN" sz="1400" i="1" dirty="0">
                        <a:latin typeface="Cambria Math" panose="02040503050406030204" pitchFamily="18" charset="0"/>
                      </a:rPr>
                      <m:t>𝑀</m:t>
                    </m:r>
                    <m:r>
                      <a:rPr lang="en-US" altLang="zh-CN" sz="1400" i="1" dirty="0">
                        <a:latin typeface="Cambria Math" panose="02040503050406030204" pitchFamily="18" charset="0"/>
                      </a:rPr>
                      <m:t>=900.</m:t>
                    </m:r>
                  </m:oMath>
                </a14:m>
                <a:endParaRPr lang="en-US" altLang="zh-CN" sz="1400" dirty="0"/>
              </a:p>
              <a:p>
                <a:r>
                  <a:rPr lang="en-US" altLang="zh-CN" sz="1400" dirty="0"/>
                  <a:t>(1)</a:t>
                </a:r>
                <a:r>
                  <a:rPr lang="zh-CN" altLang="en-US" sz="1400" dirty="0"/>
                  <a:t>求总需求函数；</a:t>
                </a:r>
                <a:endParaRPr lang="en-US" altLang="zh-CN" sz="1400" dirty="0"/>
              </a:p>
              <a:p>
                <a:r>
                  <a:rPr lang="en-US" altLang="zh-CN" sz="1400" dirty="0"/>
                  <a:t>(2)</a:t>
                </a:r>
                <a:r>
                  <a:rPr lang="zh-CN" altLang="en-US" sz="1400" dirty="0"/>
                  <a:t>若总供给函数</a:t>
                </a:r>
                <a14:m>
                  <m:oMath xmlns:m="http://schemas.openxmlformats.org/officeDocument/2006/math">
                    <m:r>
                      <a:rPr lang="en-US" altLang="zh-CN" sz="1400" i="1">
                        <a:latin typeface="Cambria Math" panose="02040503050406030204" pitchFamily="18" charset="0"/>
                      </a:rPr>
                      <m:t>𝑦</m:t>
                    </m:r>
                    <m:r>
                      <a:rPr lang="en-US" altLang="zh-CN" sz="1400" i="1">
                        <a:latin typeface="Cambria Math" panose="02040503050406030204" pitchFamily="18" charset="0"/>
                      </a:rPr>
                      <m:t>=2350+400</m:t>
                    </m:r>
                    <m:r>
                      <a:rPr lang="en-US" altLang="zh-CN" sz="1400" i="1">
                        <a:latin typeface="Cambria Math" panose="02040503050406030204" pitchFamily="18" charset="0"/>
                      </a:rPr>
                      <m:t>𝑃</m:t>
                    </m:r>
                  </m:oMath>
                </a14:m>
                <a:r>
                  <a:rPr lang="zh-CN" altLang="en-US" sz="1400" dirty="0"/>
                  <a:t>，供求均衡时的收入和价格为多少；</a:t>
                </a:r>
                <a:endParaRPr lang="en-US" altLang="zh-CN" sz="1400" dirty="0"/>
              </a:p>
              <a:p>
                <a:r>
                  <a:rPr lang="en-US" altLang="zh-CN" sz="1400" dirty="0"/>
                  <a:t>(3)</a:t>
                </a:r>
                <a:r>
                  <a:rPr lang="zh-CN" altLang="en-US" sz="1400" dirty="0"/>
                  <a:t>若充分就业收入为</a:t>
                </a:r>
                <a:r>
                  <a:rPr lang="en-US" altLang="zh-CN" sz="1400" dirty="0"/>
                  <a:t>2850</a:t>
                </a:r>
                <a:r>
                  <a:rPr lang="zh-CN" altLang="en-US" sz="1400" dirty="0"/>
                  <a:t>，如用货币政策实现充分就业，货币供给量要求变动多少？</a:t>
                </a: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175945"/>
              </a:xfrm>
              <a:blipFill>
                <a:blip r:embed="rId2"/>
                <a:stretch>
                  <a:fillRect l="-615" t="-1744" b="-1163"/>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687378267"/>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81</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4</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a:t>
            </a:r>
            <a:r>
              <a:rPr lang="en-US" altLang="zh-CN"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a:t>
            </a: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总供给</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175945"/>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400" dirty="0"/>
                  <a:t>（</a:t>
                </a:r>
                <a:r>
                  <a:rPr lang="en-US" altLang="zh-CN" sz="1400" dirty="0"/>
                  <a:t>1</a:t>
                </a:r>
                <a:r>
                  <a:rPr lang="zh-CN" altLang="en-US" sz="1400" dirty="0"/>
                  <a:t>）根据产品市场的均衡条件</a:t>
                </a:r>
                <a14:m>
                  <m:oMath xmlns:m="http://schemas.openxmlformats.org/officeDocument/2006/math">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r>
                      <a:rPr lang="en-US" altLang="zh-CN" sz="1400" i="1">
                        <a:latin typeface="Cambria Math" panose="02040503050406030204" pitchFamily="18" charset="0"/>
                      </a:rPr>
                      <m:t>𝑐</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𝑖</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𝑔</m:t>
                    </m:r>
                  </m:oMath>
                </a14:m>
                <a:endParaRPr lang="en-US" altLang="zh-CN" sz="1400" b="0" i="1" dirty="0">
                  <a:latin typeface="Cambria Math" panose="02040503050406030204" pitchFamily="18" charset="0"/>
                </a:endParaRPr>
              </a:p>
              <a:p>
                <a14:m>
                  <m:oMath xmlns:m="http://schemas.openxmlformats.org/officeDocument/2006/math">
                    <m:r>
                      <m:rPr>
                        <m:nor/>
                      </m:rPr>
                      <a:rPr lang="en-US" altLang="zh-CN" sz="1400" dirty="0"/>
                      <m:t>y</m:t>
                    </m:r>
                    <m:r>
                      <a:rPr lang="en-US" altLang="zh-CN" sz="1400" b="0" i="1" dirty="0" smtClean="0">
                        <a:latin typeface="Cambria Math" panose="02040503050406030204" pitchFamily="18" charset="0"/>
                      </a:rPr>
                      <m:t>=</m:t>
                    </m:r>
                    <m:r>
                      <a:rPr lang="en-US" altLang="zh-CN" sz="1400" i="1">
                        <a:latin typeface="Cambria Math" panose="02040503050406030204" pitchFamily="18" charset="0"/>
                      </a:rPr>
                      <m:t>800+0.8</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−0.25</m:t>
                        </m:r>
                        <m:r>
                          <a:rPr lang="en-US" altLang="zh-CN" sz="1400" b="0" i="1" smtClean="0">
                            <a:latin typeface="Cambria Math" panose="02040503050406030204" pitchFamily="18" charset="0"/>
                          </a:rPr>
                          <m:t>𝑦</m:t>
                        </m:r>
                      </m:e>
                    </m:d>
                    <m:r>
                      <a:rPr lang="en-US" altLang="zh-CN" sz="1400" b="0" i="1" smtClean="0">
                        <a:latin typeface="Cambria Math" panose="02040503050406030204" pitchFamily="18" charset="0"/>
                      </a:rPr>
                      <m:t>+</m:t>
                    </m:r>
                    <m:r>
                      <a:rPr lang="en-US" altLang="zh-CN" sz="1400" i="1" dirty="0">
                        <a:latin typeface="Cambria Math" panose="02040503050406030204" pitchFamily="18" charset="0"/>
                      </a:rPr>
                      <m:t>200−50</m:t>
                    </m:r>
                    <m:r>
                      <a:rPr lang="en-US" altLang="zh-CN" sz="1400" i="1" dirty="0">
                        <a:latin typeface="Cambria Math" panose="02040503050406030204" pitchFamily="18" charset="0"/>
                      </a:rPr>
                      <m:t>𝑟</m:t>
                    </m:r>
                    <m:r>
                      <a:rPr lang="en-US" altLang="zh-CN" sz="1400" b="0" i="1" dirty="0" smtClean="0">
                        <a:latin typeface="Cambria Math" panose="02040503050406030204" pitchFamily="18" charset="0"/>
                      </a:rPr>
                      <m:t>+</m:t>
                    </m:r>
                    <m:r>
                      <a:rPr lang="en-US" altLang="zh-CN" sz="1400" i="1" dirty="0">
                        <a:latin typeface="Cambria Math" panose="02040503050406030204" pitchFamily="18" charset="0"/>
                      </a:rPr>
                      <m:t>200</m:t>
                    </m:r>
                  </m:oMath>
                </a14:m>
                <a:endParaRPr lang="en-US" altLang="zh-CN" sz="1400" dirty="0"/>
              </a:p>
              <a:p>
                <a:r>
                  <a:rPr lang="en-US" altLang="zh-CN" sz="1400" dirty="0"/>
                  <a:t>y=3000-125r</a:t>
                </a:r>
              </a:p>
              <a:p>
                <a:r>
                  <a:rPr lang="zh-CN" altLang="en-US" sz="1400" dirty="0"/>
                  <a:t>根据货币市场的均衡条件</a:t>
                </a:r>
                <a14:m>
                  <m:oMath xmlns:m="http://schemas.openxmlformats.org/officeDocument/2006/math">
                    <m:r>
                      <m:rPr>
                        <m:sty m:val="p"/>
                      </m:rPr>
                      <a:rPr lang="en-US" altLang="zh-CN" sz="1400" i="1" dirty="0">
                        <a:latin typeface="Cambria Math" panose="02040503050406030204" pitchFamily="18" charset="0"/>
                      </a:rPr>
                      <m:t>M</m:t>
                    </m:r>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𝑃</m:t>
                    </m:r>
                    <m:r>
                      <a:rPr lang="en-US" altLang="zh-CN" sz="1400" i="1">
                        <a:latin typeface="Cambria Math" panose="02040503050406030204" pitchFamily="18" charset="0"/>
                      </a:rPr>
                      <m:t>=</m:t>
                    </m:r>
                    <m:r>
                      <a:rPr lang="en-US" altLang="zh-CN" sz="1400" b="0" i="1" smtClean="0">
                        <a:latin typeface="Cambria Math" panose="02040503050406030204" pitchFamily="18" charset="0"/>
                      </a:rPr>
                      <m:t>𝐿</m:t>
                    </m:r>
                  </m:oMath>
                </a14:m>
                <a:endParaRPr lang="en-US" altLang="zh-CN" sz="1400" i="1" dirty="0">
                  <a:latin typeface="Cambria Math" panose="02040503050406030204" pitchFamily="18" charset="0"/>
                </a:endParaRPr>
              </a:p>
              <a:p>
                <a14:m>
                  <m:oMath xmlns:m="http://schemas.openxmlformats.org/officeDocument/2006/math">
                    <m:r>
                      <m:rPr>
                        <m:nor/>
                      </m:rPr>
                      <a:rPr lang="en-US" altLang="zh-CN" sz="1400" b="0" i="0" dirty="0" smtClean="0"/>
                      <m:t>900/</m:t>
                    </m:r>
                    <m:r>
                      <a:rPr lang="en-US" altLang="zh-CN" sz="1400" b="0" i="1" dirty="0" smtClean="0">
                        <a:latin typeface="Cambria Math" panose="02040503050406030204" pitchFamily="18" charset="0"/>
                      </a:rPr>
                      <m:t>𝑃</m:t>
                    </m:r>
                    <m:r>
                      <a:rPr lang="en-US" altLang="zh-CN" sz="1400" b="0" i="1" dirty="0" smtClean="0">
                        <a:latin typeface="Cambria Math" panose="02040503050406030204" pitchFamily="18" charset="0"/>
                      </a:rPr>
                      <m:t>=0.4</m:t>
                    </m:r>
                    <m:r>
                      <a:rPr lang="en-US" altLang="zh-CN" sz="1400" b="0" i="1" dirty="0" smtClean="0">
                        <a:latin typeface="Cambria Math" panose="02040503050406030204" pitchFamily="18" charset="0"/>
                      </a:rPr>
                      <m:t>𝑦</m:t>
                    </m:r>
                    <m:r>
                      <a:rPr lang="en-US" altLang="zh-CN" sz="1400" b="0" i="1" dirty="0" smtClean="0">
                        <a:latin typeface="Cambria Math" panose="02040503050406030204" pitchFamily="18" charset="0"/>
                      </a:rPr>
                      <m:t>−100</m:t>
                    </m:r>
                    <m:r>
                      <a:rPr lang="en-US" altLang="zh-CN" sz="1400" b="0" i="1" dirty="0" smtClean="0">
                        <a:latin typeface="Cambria Math" panose="02040503050406030204" pitchFamily="18" charset="0"/>
                      </a:rPr>
                      <m:t>𝑟</m:t>
                    </m:r>
                  </m:oMath>
                </a14:m>
                <a:endParaRPr lang="en-US" altLang="zh-CN" sz="1400" dirty="0"/>
              </a:p>
              <a:p>
                <a:r>
                  <a:rPr lang="zh-CN" altLang="en-US" sz="1400" dirty="0"/>
                  <a:t>得到总需求函数为：</a:t>
                </a:r>
                <a:endParaRPr lang="en-US" altLang="zh-CN" sz="1400" dirty="0"/>
              </a:p>
              <a:p>
                <a:r>
                  <a:rPr lang="en-US" altLang="zh-CN" sz="1400" dirty="0"/>
                  <a:t>y=2000+750/P</a:t>
                </a:r>
                <a:endParaRPr lang="zh-CN" altLang="en-US" sz="1400" dirty="0"/>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175945"/>
              </a:xfrm>
              <a:blipFill>
                <a:blip r:embed="rId2"/>
                <a:stretch>
                  <a:fillRect l="-615" t="-1744" b="-5814"/>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666449206"/>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82</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4</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总需求</a:t>
            </a:r>
            <a:r>
              <a:rPr lang="en-US" altLang="zh-CN"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a:t>
            </a: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总供给</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462108"/>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200" dirty="0"/>
                  <a:t>（</a:t>
                </a:r>
                <a:r>
                  <a:rPr lang="en-US" altLang="zh-CN" sz="1200" dirty="0"/>
                  <a:t>2</a:t>
                </a:r>
                <a:r>
                  <a:rPr lang="zh-CN" altLang="en-US" sz="1200" dirty="0"/>
                  <a:t>）若总供给曲线为</a:t>
                </a:r>
                <a14:m>
                  <m:oMath xmlns:m="http://schemas.openxmlformats.org/officeDocument/2006/math">
                    <m:r>
                      <a:rPr lang="en-US" altLang="zh-CN" sz="1200" i="1">
                        <a:latin typeface="Cambria Math" panose="02040503050406030204" pitchFamily="18" charset="0"/>
                      </a:rPr>
                      <m:t>𝑦</m:t>
                    </m:r>
                    <m:r>
                      <a:rPr lang="en-US" altLang="zh-CN" sz="1200" i="1">
                        <a:latin typeface="Cambria Math" panose="02040503050406030204" pitchFamily="18" charset="0"/>
                      </a:rPr>
                      <m:t>=2350+400</m:t>
                    </m:r>
                    <m:r>
                      <a:rPr lang="en-US" altLang="zh-CN" sz="1200" i="1">
                        <a:latin typeface="Cambria Math" panose="02040503050406030204" pitchFamily="18" charset="0"/>
                      </a:rPr>
                      <m:t>𝑃</m:t>
                    </m:r>
                  </m:oMath>
                </a14:m>
                <a:r>
                  <a:rPr lang="zh-CN" altLang="en-US" sz="1200" dirty="0"/>
                  <a:t>，联立</a:t>
                </a:r>
                <a:r>
                  <a:rPr lang="en-US" altLang="zh-CN" sz="1200" dirty="0"/>
                  <a:t>AS-AD</a:t>
                </a:r>
                <a:r>
                  <a:rPr lang="zh-CN" altLang="en-US" sz="1200" dirty="0"/>
                  <a:t>得：</a:t>
                </a:r>
                <a:endParaRPr lang="en-US" altLang="zh-CN" sz="1200" dirty="0"/>
              </a:p>
              <a:p>
                <a:r>
                  <a:rPr lang="en-US" altLang="zh-CN" sz="1200" dirty="0"/>
                  <a:t>P=1</a:t>
                </a:r>
                <a:r>
                  <a:rPr lang="zh-CN" altLang="en-US" sz="1200" dirty="0"/>
                  <a:t>， </a:t>
                </a:r>
                <a:r>
                  <a:rPr lang="en-US" altLang="zh-CN" sz="1200" dirty="0"/>
                  <a:t>y=2750</a:t>
                </a:r>
              </a:p>
              <a:p>
                <a:r>
                  <a:rPr lang="zh-CN" altLang="en-US" sz="1200" dirty="0"/>
                  <a:t>（</a:t>
                </a:r>
                <a:r>
                  <a:rPr lang="en-US" altLang="zh-CN" sz="1200" dirty="0"/>
                  <a:t>3</a:t>
                </a:r>
                <a:r>
                  <a:rPr lang="zh-CN" altLang="en-US" sz="1200" dirty="0"/>
                  <a:t>）假设充分就业的</a:t>
                </a:r>
                <a:r>
                  <a:rPr lang="en-US" altLang="zh-CN" sz="1200" dirty="0"/>
                  <a:t>y</a:t>
                </a:r>
                <a:r>
                  <a:rPr lang="zh-CN" altLang="en-US" sz="1200" dirty="0"/>
                  <a:t>‘</a:t>
                </a:r>
                <a:r>
                  <a:rPr lang="en-US" altLang="zh-CN" sz="1200" dirty="0"/>
                  <a:t>=2850</a:t>
                </a:r>
                <a:r>
                  <a:rPr lang="zh-CN" altLang="en-US" sz="1200" dirty="0"/>
                  <a:t>，若通过货币政策来实现，则此时</a:t>
                </a:r>
                <a:r>
                  <a:rPr lang="en-US" altLang="zh-CN" sz="1200" dirty="0"/>
                  <a:t>AS</a:t>
                </a:r>
                <a:r>
                  <a:rPr lang="zh-CN" altLang="en-US" sz="1200" dirty="0"/>
                  <a:t>曲线不变，将</a:t>
                </a:r>
                <a:r>
                  <a:rPr lang="en-US" altLang="zh-CN" sz="1200" dirty="0"/>
                  <a:t>y</a:t>
                </a:r>
                <a:r>
                  <a:rPr lang="zh-CN" altLang="en-US" sz="1200" dirty="0"/>
                  <a:t>‘代入</a:t>
                </a:r>
                <a:r>
                  <a:rPr lang="en-US" altLang="zh-CN" sz="1200" dirty="0"/>
                  <a:t>AS</a:t>
                </a:r>
                <a:r>
                  <a:rPr lang="zh-CN" altLang="en-US" sz="1200" dirty="0"/>
                  <a:t>曲线得到</a:t>
                </a:r>
                <a:r>
                  <a:rPr lang="en-US" altLang="zh-CN" sz="1200" dirty="0"/>
                  <a:t>P’=1.25</a:t>
                </a:r>
              </a:p>
              <a:p>
                <a:r>
                  <a:rPr lang="zh-CN" altLang="en-US" sz="1200" dirty="0"/>
                  <a:t>则此时的</a:t>
                </a:r>
                <a:r>
                  <a:rPr lang="en-US" altLang="zh-CN" sz="1200" dirty="0"/>
                  <a:t>IS</a:t>
                </a:r>
                <a:r>
                  <a:rPr lang="zh-CN" altLang="en-US" sz="1200" dirty="0"/>
                  <a:t>曲线不变（产品市场并未改变）：</a:t>
                </a:r>
                <a:r>
                  <a:rPr lang="en-US" altLang="zh-CN" sz="1200" dirty="0"/>
                  <a:t>y’=3000-125r’ </a:t>
                </a:r>
                <a:r>
                  <a:rPr lang="zh-CN" altLang="en-US" sz="1200" dirty="0"/>
                  <a:t>得到</a:t>
                </a:r>
                <a:r>
                  <a:rPr lang="en-US" altLang="zh-CN" sz="1200" dirty="0"/>
                  <a:t>r’=1</a:t>
                </a:r>
              </a:p>
              <a:p>
                <a:r>
                  <a:rPr lang="zh-CN" altLang="en-US" sz="1200" dirty="0"/>
                  <a:t>此时</a:t>
                </a:r>
                <a:r>
                  <a:rPr lang="en-US" altLang="zh-CN" sz="1200" dirty="0"/>
                  <a:t>LM</a:t>
                </a:r>
                <a:r>
                  <a:rPr lang="zh-CN" altLang="en-US" sz="1200" dirty="0"/>
                  <a:t>曲线变为：</a:t>
                </a:r>
                <a:endParaRPr lang="en-US" altLang="zh-CN" sz="1200" dirty="0"/>
              </a:p>
              <a:p>
                <a:r>
                  <a:rPr lang="en-US" altLang="zh-CN" sz="1200" dirty="0"/>
                  <a:t>M’/1.25=0.4y’-100r’ </a:t>
                </a:r>
                <a:r>
                  <a:rPr lang="zh-CN" altLang="en-US" sz="1200" dirty="0"/>
                  <a:t>将</a:t>
                </a:r>
                <a:r>
                  <a:rPr lang="en-US" altLang="zh-CN" sz="1200" dirty="0"/>
                  <a:t>y</a:t>
                </a:r>
                <a:r>
                  <a:rPr lang="zh-CN" altLang="en-US" sz="1200" dirty="0"/>
                  <a:t>‘</a:t>
                </a:r>
                <a:r>
                  <a:rPr lang="en-US" altLang="zh-CN" sz="1200" dirty="0"/>
                  <a:t>=2850</a:t>
                </a:r>
                <a:r>
                  <a:rPr lang="zh-CN" altLang="en-US" sz="1200" dirty="0"/>
                  <a:t>，</a:t>
                </a:r>
                <a:r>
                  <a:rPr lang="en-US" altLang="zh-CN" sz="1200" dirty="0"/>
                  <a:t>r’=1</a:t>
                </a:r>
                <a:r>
                  <a:rPr lang="zh-CN" altLang="en-US" sz="1200" dirty="0"/>
                  <a:t>，</a:t>
                </a:r>
                <a:r>
                  <a:rPr lang="en-US" altLang="zh-CN" sz="1200" dirty="0"/>
                  <a:t> P’=1.25</a:t>
                </a:r>
                <a:r>
                  <a:rPr lang="zh-CN" altLang="en-US" sz="1200" dirty="0"/>
                  <a:t>代入得：</a:t>
                </a:r>
                <a:endParaRPr lang="en-US" altLang="zh-CN" sz="1200" dirty="0"/>
              </a:p>
              <a:p>
                <a:r>
                  <a:rPr lang="en-US" altLang="zh-CN" sz="1200" dirty="0"/>
                  <a:t>M</a:t>
                </a:r>
                <a:r>
                  <a:rPr lang="zh-CN" altLang="en-US" sz="1200" dirty="0"/>
                  <a:t>‘</a:t>
                </a:r>
                <a:r>
                  <a:rPr lang="en-US" altLang="zh-CN" sz="1200" dirty="0"/>
                  <a:t>=1040</a:t>
                </a:r>
                <a:r>
                  <a:rPr lang="zh-CN" altLang="en-US" sz="1200" dirty="0"/>
                  <a:t>*</a:t>
                </a:r>
                <a:r>
                  <a:rPr lang="en-US" altLang="zh-CN" sz="1200" dirty="0"/>
                  <a:t>1.25=1300</a:t>
                </a:r>
              </a:p>
              <a:p>
                <a:r>
                  <a:rPr lang="zh-CN" altLang="en-US" sz="1200" dirty="0"/>
                  <a:t>即货币供应量变动：</a:t>
                </a:r>
                <a:r>
                  <a:rPr lang="en-US" altLang="zh-CN" sz="1200" dirty="0"/>
                  <a:t>1300-900=400</a:t>
                </a:r>
              </a:p>
              <a:p>
                <a:endParaRPr lang="en-US" altLang="zh-CN" sz="1200" dirty="0"/>
              </a:p>
              <a:p>
                <a:endParaRPr lang="zh-CN" altLang="en-US" sz="1200" dirty="0"/>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462108"/>
              </a:xfrm>
              <a:blipFill>
                <a:blip r:embed="rId2"/>
                <a:stretch>
                  <a:fillRect l="-308" t="-1538" r="-3692" b="-7179"/>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671166688"/>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SimSun" panose="02010600030101010101" pitchFamily="2" charset="-122"/>
                <a:ea typeface="SimSun" panose="02010600030101010101" pitchFamily="2" charset="-122"/>
              </a:rPr>
              <a:t>宏观经济的短期目标</a:t>
            </a:r>
          </a:p>
        </p:txBody>
      </p:sp>
      <p:sp>
        <p:nvSpPr>
          <p:cNvPr id="3" name="内容占位符 2"/>
          <p:cNvSpPr>
            <a:spLocks noGrp="1"/>
          </p:cNvSpPr>
          <p:nvPr>
            <p:ph idx="1"/>
          </p:nvPr>
        </p:nvSpPr>
        <p:spPr>
          <a:xfrm>
            <a:off x="295863" y="508674"/>
            <a:ext cx="3976211" cy="406804"/>
          </a:xfrm>
        </p:spPr>
        <p:txBody>
          <a:bodyPr/>
          <a:lstStyle/>
          <a:p>
            <a:r>
              <a:rPr lang="zh-CN" altLang="en-US" sz="1210" dirty="0"/>
              <a:t>短期中宏观经济的目标是</a:t>
            </a:r>
            <a:r>
              <a:rPr lang="zh-CN" altLang="en-US" sz="1210" u="sng" dirty="0"/>
              <a:t>充分就业和物价稳定</a:t>
            </a:r>
            <a:r>
              <a:rPr lang="zh-CN" altLang="en-US" sz="1210" dirty="0"/>
              <a:t>，即不存在非自愿失业，物价既不上升也不下降。</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83</a:t>
            </a:fld>
            <a:endParaRPr lang="zh-CN" altLang="en-US"/>
          </a:p>
        </p:txBody>
      </p:sp>
      <p:pic>
        <p:nvPicPr>
          <p:cNvPr id="7" name="Picture 4" descr="xf17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5860" y="1012469"/>
            <a:ext cx="1793229" cy="165401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内容占位符 2"/>
              <p:cNvSpPr txBox="1">
                <a:spLocks/>
              </p:cNvSpPr>
              <p:nvPr/>
            </p:nvSpPr>
            <p:spPr bwMode="auto">
              <a:xfrm>
                <a:off x="316944" y="1024108"/>
                <a:ext cx="2386181" cy="1819685"/>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61040"/>
                <a:r>
                  <a:rPr lang="zh-CN" altLang="en-US" sz="1210" dirty="0">
                    <a:latin typeface="Garamond" panose="02020404030301010803" pitchFamily="18" charset="0"/>
                    <a:ea typeface="楷体" panose="02010609060101010101" pitchFamily="49" charset="-122"/>
                  </a:rPr>
                  <a:t>当经济处于</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0</m:t>
                        </m:r>
                      </m:sub>
                    </m:sSub>
                  </m:oMath>
                </a14:m>
                <a:r>
                  <a:rPr lang="zh-CN" altLang="en-US" sz="1210" dirty="0">
                    <a:latin typeface="Garamond" panose="02020404030301010803" pitchFamily="18" charset="0"/>
                    <a:ea typeface="楷体" panose="02010609060101010101" pitchFamily="49" charset="-122"/>
                  </a:rPr>
                  <a:t>时，产量处于充分就业的水平，价格水平为</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𝑃</m:t>
                        </m:r>
                      </m:e>
                      <m:sub>
                        <m:r>
                          <a:rPr lang="en-US" altLang="zh-CN" sz="1210" i="1">
                            <a:latin typeface="Cambria Math" panose="02040503050406030204" pitchFamily="18" charset="0"/>
                          </a:rPr>
                          <m:t>0</m:t>
                        </m:r>
                      </m:sub>
                    </m:sSub>
                    <m:r>
                      <a:rPr lang="zh-CN" altLang="en-US" sz="1210" i="1">
                        <a:latin typeface="Cambria Math" panose="02040503050406030204" pitchFamily="18" charset="0"/>
                      </a:rPr>
                      <m:t>，</m:t>
                    </m:r>
                  </m:oMath>
                </a14:m>
                <a:r>
                  <a:rPr lang="zh-CN" altLang="en-US" sz="1210" dirty="0">
                    <a:latin typeface="Garamond" panose="02020404030301010803" pitchFamily="18" charset="0"/>
                    <a:ea typeface="楷体" panose="02010609060101010101" pitchFamily="49" charset="-122"/>
                  </a:rPr>
                  <a:t>此时的价格水平既不会上升也不会下降，这是宏观经济管理的短期目标，即充分就业和价格稳定。</a:t>
                </a:r>
                <a:endParaRPr lang="en-US" altLang="zh-CN" sz="1210" dirty="0">
                  <a:latin typeface="Garamond" panose="02020404030301010803" pitchFamily="18" charset="0"/>
                  <a:ea typeface="楷体" panose="02010609060101010101" pitchFamily="49" charset="-122"/>
                </a:endParaRPr>
              </a:p>
              <a:p>
                <a:pPr defTabSz="461040"/>
                <a:r>
                  <a:rPr lang="zh-CN" altLang="en-US" sz="1210" dirty="0">
                    <a:latin typeface="Garamond" panose="02020404030301010803" pitchFamily="18" charset="0"/>
                    <a:ea typeface="楷体" panose="02010609060101010101" pitchFamily="49" charset="-122"/>
                  </a:rPr>
                  <a:t>只有在偶然的情况下，</a:t>
                </a:r>
                <a:r>
                  <a:rPr lang="en-US" altLang="zh-CN" sz="1210" dirty="0">
                    <a:latin typeface="Garamond" panose="02020404030301010803" pitchFamily="18" charset="0"/>
                    <a:ea typeface="楷体" panose="02010609060101010101" pitchFamily="49" charset="-122"/>
                  </a:rPr>
                  <a:t>AD</a:t>
                </a:r>
                <a:r>
                  <a:rPr lang="zh-CN" altLang="en-US" sz="1210" dirty="0">
                    <a:latin typeface="Garamond" panose="02020404030301010803" pitchFamily="18" charset="0"/>
                    <a:ea typeface="楷体" panose="02010609060101010101" pitchFamily="49" charset="-122"/>
                  </a:rPr>
                  <a:t>和</a:t>
                </a:r>
                <a:r>
                  <a:rPr lang="en-US" altLang="zh-CN" sz="1210" dirty="0">
                    <a:latin typeface="Garamond" panose="02020404030301010803" pitchFamily="18" charset="0"/>
                    <a:ea typeface="楷体" panose="02010609060101010101" pitchFamily="49" charset="-122"/>
                  </a:rPr>
                  <a:t>AS</a:t>
                </a:r>
                <a:r>
                  <a:rPr lang="zh-CN" altLang="en-US" sz="1210" dirty="0">
                    <a:latin typeface="Garamond" panose="02020404030301010803" pitchFamily="18" charset="0"/>
                    <a:ea typeface="楷体" panose="02010609060101010101" pitchFamily="49" charset="-122"/>
                  </a:rPr>
                  <a:t>曲线相交于</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0</m:t>
                        </m:r>
                      </m:sub>
                    </m:sSub>
                  </m:oMath>
                </a14:m>
                <a:r>
                  <a:rPr lang="zh-CN" altLang="en-US" sz="1210" dirty="0">
                    <a:latin typeface="Garamond" panose="02020404030301010803" pitchFamily="18" charset="0"/>
                    <a:ea typeface="楷体" panose="02010609060101010101" pitchFamily="49" charset="-122"/>
                  </a:rPr>
                  <a:t>点，经济中的许多因素都会导致</a:t>
                </a:r>
                <a:r>
                  <a:rPr lang="en-US" altLang="zh-CN" sz="1210" dirty="0">
                    <a:latin typeface="Garamond" panose="02020404030301010803" pitchFamily="18" charset="0"/>
                    <a:ea typeface="楷体" panose="02010609060101010101" pitchFamily="49" charset="-122"/>
                  </a:rPr>
                  <a:t>AS</a:t>
                </a:r>
                <a:r>
                  <a:rPr lang="zh-CN" altLang="en-US" sz="1210" dirty="0">
                    <a:latin typeface="Garamond" panose="02020404030301010803" pitchFamily="18" charset="0"/>
                    <a:ea typeface="楷体" panose="02010609060101010101" pitchFamily="49" charset="-122"/>
                  </a:rPr>
                  <a:t>和</a:t>
                </a:r>
                <a:r>
                  <a:rPr lang="en-US" altLang="zh-CN" sz="1210" dirty="0">
                    <a:latin typeface="Garamond" panose="02020404030301010803" pitchFamily="18" charset="0"/>
                    <a:ea typeface="楷体" panose="02010609060101010101" pitchFamily="49" charset="-122"/>
                  </a:rPr>
                  <a:t>AD</a:t>
                </a:r>
                <a:r>
                  <a:rPr lang="zh-CN" altLang="en-US" sz="1210" dirty="0">
                    <a:latin typeface="Garamond" panose="02020404030301010803" pitchFamily="18" charset="0"/>
                    <a:ea typeface="楷体" panose="02010609060101010101" pitchFamily="49" charset="-122"/>
                  </a:rPr>
                  <a:t>曲线的移动，使经济脱离</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0</m:t>
                        </m:r>
                      </m:sub>
                    </m:sSub>
                  </m:oMath>
                </a14:m>
                <a:r>
                  <a:rPr lang="zh-CN" altLang="en-US" sz="1210" dirty="0">
                    <a:latin typeface="Garamond" panose="02020404030301010803" pitchFamily="18" charset="0"/>
                    <a:ea typeface="楷体" panose="02010609060101010101" pitchFamily="49" charset="-122"/>
                  </a:rPr>
                  <a:t>。</a:t>
                </a:r>
              </a:p>
            </p:txBody>
          </p:sp>
        </mc:Choice>
        <mc:Fallback xmlns="">
          <p:sp>
            <p:nvSpPr>
              <p:cNvPr id="9" name="内容占位符 2"/>
              <p:cNvSpPr txBox="1">
                <a:spLocks noRot="1" noChangeAspect="1" noMove="1" noResize="1" noEditPoints="1" noAdjustHandles="1" noChangeArrowheads="1" noChangeShapeType="1" noTextEdit="1"/>
              </p:cNvSpPr>
              <p:nvPr/>
            </p:nvSpPr>
            <p:spPr bwMode="auto">
              <a:xfrm>
                <a:off x="316944" y="1024108"/>
                <a:ext cx="2386181" cy="1819685"/>
              </a:xfrm>
              <a:prstGeom prst="rect">
                <a:avLst/>
              </a:prstGeom>
              <a:blipFill>
                <a:blip r:embed="rId3"/>
                <a:stretch>
                  <a:fillRect l="-1579" t="-2759" r="-526" b="-4138"/>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8" name="矩形 7"/>
          <p:cNvSpPr/>
          <p:nvPr/>
        </p:nvSpPr>
        <p:spPr>
          <a:xfrm>
            <a:off x="2881113" y="2611742"/>
            <a:ext cx="1532097" cy="246221"/>
          </a:xfrm>
          <a:prstGeom prst="rect">
            <a:avLst/>
          </a:prstGeom>
        </p:spPr>
        <p:txBody>
          <a:bodyPr wrap="square">
            <a:spAutoFit/>
          </a:bodyPr>
          <a:lstStyle/>
          <a:p>
            <a:pPr algn="ctr">
              <a:spcBef>
                <a:spcPct val="50000"/>
              </a:spcBef>
            </a:pPr>
            <a:r>
              <a:rPr lang="zh-CN" altLang="en-US" sz="100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宏观经济的短期目标</a:t>
            </a:r>
          </a:p>
        </p:txBody>
      </p:sp>
      <p:sp>
        <p:nvSpPr>
          <p:cNvPr id="10" name="Rectangle 6">
            <a:extLst>
              <a:ext uri="{FF2B5EF4-FFF2-40B4-BE49-F238E27FC236}">
                <a16:creationId xmlns:a16="http://schemas.microsoft.com/office/drawing/2014/main" id="{D1001E05-B19E-7041-B021-E6800499248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83</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11" name="日期占位符 3">
            <a:extLst>
              <a:ext uri="{FF2B5EF4-FFF2-40B4-BE49-F238E27FC236}">
                <a16:creationId xmlns:a16="http://schemas.microsoft.com/office/drawing/2014/main" id="{AAD0FA26-B6D9-C5BC-05B0-CB2D36356CD8}"/>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24904174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SimSun" panose="02010600030101010101" pitchFamily="2" charset="-122"/>
                <a:ea typeface="SimSun" panose="02010600030101010101" pitchFamily="2" charset="-122"/>
              </a:rPr>
              <a:t>总需求曲线移动的后果</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84</a:t>
            </a:fld>
            <a:endParaRPr lang="zh-CN" altLang="en-US"/>
          </a:p>
        </p:txBody>
      </p:sp>
      <p:pic>
        <p:nvPicPr>
          <p:cNvPr id="7" name="Picture 4" descr="xf17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053" y="681399"/>
            <a:ext cx="2040465" cy="209795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2690200" y="2972161"/>
            <a:ext cx="1531188" cy="253916"/>
          </a:xfrm>
          <a:prstGeom prst="rect">
            <a:avLst/>
          </a:prstGeom>
        </p:spPr>
        <p:txBody>
          <a:bodyPr wrap="none">
            <a:spAutoFit/>
          </a:bodyPr>
          <a:lstStyle/>
          <a:p>
            <a:pPr algn="ctr">
              <a:spcBef>
                <a:spcPct val="50000"/>
              </a:spcBef>
            </a:pPr>
            <a:r>
              <a:rPr lang="zh-CN" altLang="en-US" sz="1050"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总需求曲线移动的后果</a:t>
            </a:r>
          </a:p>
        </p:txBody>
      </p:sp>
      <mc:AlternateContent xmlns:mc="http://schemas.openxmlformats.org/markup-compatibility/2006" xmlns:a14="http://schemas.microsoft.com/office/drawing/2010/main">
        <mc:Choice Requires="a14">
          <p:sp>
            <p:nvSpPr>
              <p:cNvPr id="10" name="内容占位符 2"/>
              <p:cNvSpPr txBox="1">
                <a:spLocks/>
              </p:cNvSpPr>
              <p:nvPr/>
            </p:nvSpPr>
            <p:spPr bwMode="auto">
              <a:xfrm>
                <a:off x="231344" y="628479"/>
                <a:ext cx="2271991" cy="2587372"/>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61040">
                  <a:buNone/>
                </a:pPr>
                <a:r>
                  <a:rPr lang="zh-CN" altLang="en-US" sz="1210" dirty="0">
                    <a:latin typeface="Garamond" panose="02020404030301010803" pitchFamily="18" charset="0"/>
                    <a:ea typeface="楷体" panose="02010609060101010101" pitchFamily="49" charset="-122"/>
                  </a:rPr>
                  <a:t>   假定由于总需求减少，</a:t>
                </a:r>
                <a:r>
                  <a:rPr lang="en-US" altLang="zh-CN" sz="1210" dirty="0">
                    <a:latin typeface="Garamond" panose="02020404030301010803" pitchFamily="18" charset="0"/>
                    <a:ea typeface="楷体" panose="02010609060101010101" pitchFamily="49" charset="-122"/>
                  </a:rPr>
                  <a:t>AD</a:t>
                </a:r>
                <a:r>
                  <a:rPr lang="zh-CN" altLang="en-US" sz="1210" dirty="0">
                    <a:latin typeface="Garamond" panose="02020404030301010803" pitchFamily="18" charset="0"/>
                    <a:ea typeface="楷体" panose="02010609060101010101" pitchFamily="49" charset="-122"/>
                  </a:rPr>
                  <a:t>曲线左移，</a:t>
                </a:r>
                <a:r>
                  <a:rPr lang="en-US" altLang="zh-CN" sz="1210" dirty="0">
                    <a:latin typeface="Garamond" panose="02020404030301010803" pitchFamily="18" charset="0"/>
                    <a:ea typeface="楷体" panose="02010609060101010101" pitchFamily="49" charset="-122"/>
                  </a:rPr>
                  <a:t>AS</a:t>
                </a:r>
                <a:r>
                  <a:rPr lang="zh-CN" altLang="en-US" sz="1210" dirty="0">
                    <a:latin typeface="Garamond" panose="02020404030301010803" pitchFamily="18" charset="0"/>
                    <a:ea typeface="楷体" panose="02010609060101010101" pitchFamily="49" charset="-122"/>
                  </a:rPr>
                  <a:t>和</a:t>
                </a:r>
                <a:r>
                  <a:rPr lang="en-US" altLang="zh-CN" sz="1210" dirty="0">
                    <a:latin typeface="Garamond" panose="02020404030301010803" pitchFamily="18" charset="0"/>
                    <a:ea typeface="楷体" panose="02010609060101010101" pitchFamily="49" charset="-122"/>
                  </a:rPr>
                  <a:t>AD</a:t>
                </a:r>
                <a:r>
                  <a:rPr lang="zh-CN" altLang="en-US" sz="1210" dirty="0">
                    <a:latin typeface="Garamond" panose="02020404030301010803" pitchFamily="18" charset="0"/>
                    <a:ea typeface="楷体" panose="02010609060101010101" pitchFamily="49" charset="-122"/>
                  </a:rPr>
                  <a:t>相交于</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1</m:t>
                        </m:r>
                      </m:sub>
                    </m:sSub>
                  </m:oMath>
                </a14:m>
                <a:r>
                  <a:rPr lang="zh-CN" altLang="en-US" sz="1210" dirty="0">
                    <a:latin typeface="Garamond" panose="02020404030301010803" pitchFamily="18" charset="0"/>
                    <a:ea typeface="楷体" panose="02010609060101010101" pitchFamily="49" charset="-122"/>
                  </a:rPr>
                  <a:t>。</a:t>
                </a:r>
                <a:endParaRPr lang="en-US" altLang="zh-CN" sz="1210" dirty="0">
                  <a:latin typeface="Garamond" panose="02020404030301010803" pitchFamily="18" charset="0"/>
                  <a:ea typeface="楷体" panose="02010609060101010101" pitchFamily="49" charset="-122"/>
                </a:endParaRPr>
              </a:p>
              <a:p>
                <a:pPr marL="0" indent="0" defTabSz="461040">
                  <a:buNone/>
                </a:pPr>
                <a:r>
                  <a:rPr lang="en-US" altLang="zh-CN" sz="1210" dirty="0">
                    <a:latin typeface="Garamond" panose="02020404030301010803" pitchFamily="18" charset="0"/>
                    <a:ea typeface="楷体" panose="02010609060101010101" pitchFamily="49" charset="-122"/>
                  </a:rPr>
                  <a:t>   </a:t>
                </a:r>
                <a:r>
                  <a:rPr lang="zh-CN" altLang="en-US" sz="1210" dirty="0">
                    <a:latin typeface="Garamond" panose="02020404030301010803" pitchFamily="18" charset="0"/>
                    <a:ea typeface="楷体" panose="02010609060101010101" pitchFamily="49" charset="-122"/>
                  </a:rPr>
                  <a:t>这表明经济社会处于衰退状态，其产量和价格分别是</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𝑦</m:t>
                        </m:r>
                      </m:e>
                      <m:sub>
                        <m:r>
                          <a:rPr lang="en-US" altLang="zh-CN" sz="1210" i="1">
                            <a:latin typeface="Cambria Math" panose="02040503050406030204" pitchFamily="18" charset="0"/>
                            <a:ea typeface="楷体" panose="02010609060101010101" pitchFamily="49" charset="-122"/>
                          </a:rPr>
                          <m:t>1</m:t>
                        </m:r>
                      </m:sub>
                    </m:sSub>
                    <m:r>
                      <a:rPr lang="zh-CN" altLang="en-US" sz="1210" i="1">
                        <a:latin typeface="Cambria Math" panose="02040503050406030204" pitchFamily="18" charset="0"/>
                        <a:ea typeface="楷体" panose="02010609060101010101" pitchFamily="49" charset="-122"/>
                      </a:rPr>
                      <m:t>和</m:t>
                    </m:r>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𝑃</m:t>
                        </m:r>
                      </m:e>
                      <m:sub>
                        <m:r>
                          <a:rPr lang="en-US" altLang="zh-CN" sz="1210" i="1">
                            <a:latin typeface="Cambria Math" panose="02040503050406030204" pitchFamily="18" charset="0"/>
                            <a:ea typeface="楷体" panose="02010609060101010101" pitchFamily="49" charset="-122"/>
                          </a:rPr>
                          <m:t>1</m:t>
                        </m:r>
                      </m:sub>
                    </m:sSub>
                  </m:oMath>
                </a14:m>
                <a:r>
                  <a:rPr lang="zh-CN" altLang="en-US" sz="1210" dirty="0">
                    <a:latin typeface="Garamond" panose="02020404030301010803" pitchFamily="18" charset="0"/>
                    <a:ea typeface="楷体" panose="02010609060101010101" pitchFamily="49" charset="-122"/>
                  </a:rPr>
                  <a:t>，这两者都低于充分就业时的数字。</a:t>
                </a:r>
                <a:endParaRPr lang="en-US" altLang="zh-CN" sz="1210" dirty="0">
                  <a:latin typeface="Garamond" panose="02020404030301010803" pitchFamily="18" charset="0"/>
                  <a:ea typeface="楷体" panose="02010609060101010101" pitchFamily="49" charset="-122"/>
                </a:endParaRPr>
              </a:p>
              <a:p>
                <a:pPr marL="0" indent="0" defTabSz="461040">
                  <a:buNone/>
                </a:pPr>
                <a:r>
                  <a:rPr lang="en-US" altLang="zh-CN" sz="1210" dirty="0">
                    <a:latin typeface="Garamond" panose="02020404030301010803" pitchFamily="18" charset="0"/>
                    <a:ea typeface="楷体" panose="02010609060101010101" pitchFamily="49" charset="-122"/>
                  </a:rPr>
                  <a:t>   AS</a:t>
                </a:r>
                <a:r>
                  <a:rPr lang="zh-CN" altLang="en-US" sz="1210" dirty="0">
                    <a:latin typeface="Garamond" panose="02020404030301010803" pitchFamily="18" charset="0"/>
                    <a:ea typeface="楷体" panose="02010609060101010101" pitchFamily="49" charset="-122"/>
                  </a:rPr>
                  <a:t>曲线形状表明，两者下降的并不相同。在小于充分就业的水平时，越是偏离充分就业，经济中的过剩生产能力越多，价格下降的空间就越来越小。</a:t>
                </a:r>
                <a:endParaRPr lang="en-US" altLang="zh-CN" sz="1210" dirty="0">
                  <a:latin typeface="Garamond" panose="02020404030301010803" pitchFamily="18" charset="0"/>
                  <a:ea typeface="楷体" panose="02010609060101010101" pitchFamily="49" charset="-122"/>
                </a:endParaRPr>
              </a:p>
              <a:p>
                <a:pPr marL="0" indent="0" defTabSz="461040">
                  <a:buNone/>
                </a:pPr>
                <a:r>
                  <a:rPr lang="zh-CN" altLang="en-US" sz="1210" b="1" dirty="0">
                    <a:highlight>
                      <a:srgbClr val="FFFF00"/>
                    </a:highlight>
                    <a:latin typeface="Garamond" panose="02020404030301010803" pitchFamily="18" charset="0"/>
                    <a:ea typeface="楷体" panose="02010609060101010101" pitchFamily="49" charset="-122"/>
                  </a:rPr>
                  <a:t>思考：解释</a:t>
                </a:r>
                <a:r>
                  <a:rPr lang="en-US" altLang="zh-CN" sz="1210" b="1" dirty="0">
                    <a:highlight>
                      <a:srgbClr val="FFFF00"/>
                    </a:highlight>
                    <a:latin typeface="Garamond" panose="02020404030301010803" pitchFamily="18" charset="0"/>
                    <a:ea typeface="楷体" panose="02010609060101010101" pitchFamily="49" charset="-122"/>
                  </a:rPr>
                  <a:t>AD</a:t>
                </a:r>
                <a:r>
                  <a:rPr lang="zh-CN" altLang="en-US" sz="1210" b="1" dirty="0">
                    <a:highlight>
                      <a:srgbClr val="FFFF00"/>
                    </a:highlight>
                    <a:latin typeface="Garamond" panose="02020404030301010803" pitchFamily="18" charset="0"/>
                    <a:ea typeface="楷体" panose="02010609060101010101" pitchFamily="49" charset="-122"/>
                  </a:rPr>
                  <a:t>曲线右移的情况？</a:t>
                </a:r>
                <a:endParaRPr lang="en-US" altLang="zh-CN" sz="1210" b="1" dirty="0">
                  <a:highlight>
                    <a:srgbClr val="FFFF00"/>
                  </a:highlight>
                  <a:latin typeface="Garamond" panose="02020404030301010803" pitchFamily="18" charset="0"/>
                  <a:ea typeface="楷体" panose="02010609060101010101" pitchFamily="49" charset="-122"/>
                </a:endParaRPr>
              </a:p>
              <a:p>
                <a:pPr marL="0" indent="0" defTabSz="461040">
                  <a:buNone/>
                </a:pPr>
                <a:endParaRPr lang="en-US" altLang="zh-CN" sz="1210" dirty="0">
                  <a:latin typeface="Garamond" panose="02020404030301010803" pitchFamily="18" charset="0"/>
                  <a:ea typeface="楷体" panose="02010609060101010101" pitchFamily="49" charset="-122"/>
                </a:endParaRPr>
              </a:p>
            </p:txBody>
          </p:sp>
        </mc:Choice>
        <mc:Fallback xmlns="">
          <p:sp>
            <p:nvSpPr>
              <p:cNvPr id="10" name="内容占位符 2"/>
              <p:cNvSpPr txBox="1">
                <a:spLocks noRot="1" noChangeAspect="1" noMove="1" noResize="1" noEditPoints="1" noAdjustHandles="1" noChangeArrowheads="1" noChangeShapeType="1" noTextEdit="1"/>
              </p:cNvSpPr>
              <p:nvPr/>
            </p:nvSpPr>
            <p:spPr bwMode="auto">
              <a:xfrm>
                <a:off x="231344" y="628479"/>
                <a:ext cx="2271991" cy="2587372"/>
              </a:xfrm>
              <a:prstGeom prst="rect">
                <a:avLst/>
              </a:prstGeom>
              <a:blipFill>
                <a:blip r:embed="rId3"/>
                <a:stretch>
                  <a:fillRect l="-2210" t="-1456" r="-1105" b="-2427"/>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Rectangle 6">
            <a:extLst>
              <a:ext uri="{FF2B5EF4-FFF2-40B4-BE49-F238E27FC236}">
                <a16:creationId xmlns:a16="http://schemas.microsoft.com/office/drawing/2014/main" id="{93487213-B58E-2A55-F5D9-3B43A39D9A11}"/>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84</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3EB9A58D-E393-2258-D64E-9FB020A690B3}"/>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15436745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SimSun" panose="02010600030101010101" pitchFamily="2" charset="-122"/>
                <a:ea typeface="SimSun" panose="02010600030101010101" pitchFamily="2" charset="-122"/>
              </a:rPr>
              <a:t>总供给曲线移动的后果</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85</a:t>
            </a:fld>
            <a:endParaRPr lang="zh-CN" altLang="en-US"/>
          </a:p>
        </p:txBody>
      </p:sp>
      <p:pic>
        <p:nvPicPr>
          <p:cNvPr id="8" name="Picture 4" descr="xf17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9994" y="962470"/>
            <a:ext cx="1887483" cy="175180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2809106" y="2666479"/>
            <a:ext cx="1354858" cy="232051"/>
          </a:xfrm>
          <a:prstGeom prst="rect">
            <a:avLst/>
          </a:prstGeom>
        </p:spPr>
        <p:txBody>
          <a:bodyPr wrap="none">
            <a:spAutoFit/>
          </a:bodyPr>
          <a:lstStyle/>
          <a:p>
            <a:pPr algn="ctr">
              <a:spcBef>
                <a:spcPct val="50000"/>
              </a:spcBef>
            </a:pPr>
            <a:r>
              <a:rPr lang="zh-CN" altLang="en-US" sz="908"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总供给曲线移动的后果</a:t>
            </a:r>
          </a:p>
        </p:txBody>
      </p:sp>
      <mc:AlternateContent xmlns:mc="http://schemas.openxmlformats.org/markup-compatibility/2006" xmlns:a14="http://schemas.microsoft.com/office/drawing/2010/main">
        <mc:Choice Requires="a14">
          <p:sp>
            <p:nvSpPr>
              <p:cNvPr id="10" name="内容占位符 2"/>
              <p:cNvSpPr txBox="1">
                <a:spLocks/>
              </p:cNvSpPr>
              <p:nvPr/>
            </p:nvSpPr>
            <p:spPr bwMode="auto">
              <a:xfrm>
                <a:off x="253058" y="596176"/>
                <a:ext cx="2271991" cy="2304390"/>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61040">
                  <a:buNone/>
                </a:pPr>
                <a:r>
                  <a:rPr lang="zh-CN" altLang="en-US" sz="1210" dirty="0">
                    <a:latin typeface="Garamond" panose="02020404030301010803" pitchFamily="18" charset="0"/>
                    <a:ea typeface="楷体" panose="02010609060101010101" pitchFamily="49" charset="-122"/>
                  </a:rPr>
                  <a:t>   假定由于某种原因</a:t>
                </a:r>
                <a:r>
                  <a:rPr lang="en-US" altLang="zh-CN" sz="1210" dirty="0">
                    <a:latin typeface="Garamond" panose="02020404030301010803" pitchFamily="18" charset="0"/>
                    <a:ea typeface="楷体" panose="02010609060101010101" pitchFamily="49" charset="-122"/>
                  </a:rPr>
                  <a:t>(</a:t>
                </a:r>
                <a:r>
                  <a:rPr lang="zh-CN" altLang="en-US" sz="1210" dirty="0">
                    <a:latin typeface="Garamond" panose="02020404030301010803" pitchFamily="18" charset="0"/>
                    <a:ea typeface="楷体" panose="02010609060101010101" pitchFamily="49" charset="-122"/>
                  </a:rPr>
                  <a:t>如大面积粮食歉收，石油供给紧缺，原材料价格猛涨等</a:t>
                </a:r>
                <a:r>
                  <a:rPr lang="en-US" altLang="zh-CN" sz="1210" dirty="0">
                    <a:latin typeface="Garamond" panose="02020404030301010803" pitchFamily="18" charset="0"/>
                    <a:ea typeface="楷体" panose="02010609060101010101" pitchFamily="49" charset="-122"/>
                  </a:rPr>
                  <a:t>)</a:t>
                </a:r>
                <a:r>
                  <a:rPr lang="zh-CN" altLang="en-US" sz="1210" dirty="0">
                    <a:latin typeface="Garamond" panose="02020404030301010803" pitchFamily="18" charset="0"/>
                    <a:ea typeface="楷体" panose="02010609060101010101" pitchFamily="49" charset="-122"/>
                  </a:rPr>
                  <a:t>，</a:t>
                </a:r>
                <a:r>
                  <a:rPr lang="en-US" altLang="zh-CN" sz="1210" dirty="0">
                    <a:latin typeface="Garamond" panose="02020404030301010803" pitchFamily="18" charset="0"/>
                    <a:ea typeface="楷体" panose="02010609060101010101" pitchFamily="49" charset="-122"/>
                  </a:rPr>
                  <a:t>AS</a:t>
                </a:r>
                <a:r>
                  <a:rPr lang="zh-CN" altLang="en-US" sz="1210" dirty="0">
                    <a:latin typeface="Garamond" panose="02020404030301010803" pitchFamily="18" charset="0"/>
                    <a:ea typeface="楷体" panose="02010609060101010101" pitchFamily="49" charset="-122"/>
                  </a:rPr>
                  <a:t>曲线左移，</a:t>
                </a:r>
                <a:r>
                  <a:rPr lang="en-US" altLang="zh-CN" sz="1210" dirty="0">
                    <a:latin typeface="Garamond" panose="02020404030301010803" pitchFamily="18" charset="0"/>
                    <a:ea typeface="楷体" panose="02010609060101010101" pitchFamily="49" charset="-122"/>
                  </a:rPr>
                  <a:t>AS</a:t>
                </a:r>
                <a:r>
                  <a:rPr lang="zh-CN" altLang="en-US" sz="1210" dirty="0">
                    <a:latin typeface="Garamond" panose="02020404030301010803" pitchFamily="18" charset="0"/>
                    <a:ea typeface="楷体" panose="02010609060101010101" pitchFamily="49" charset="-122"/>
                  </a:rPr>
                  <a:t>和</a:t>
                </a:r>
                <a:r>
                  <a:rPr lang="en-US" altLang="zh-CN" sz="1210" dirty="0">
                    <a:latin typeface="Garamond" panose="02020404030301010803" pitchFamily="18" charset="0"/>
                    <a:ea typeface="楷体" panose="02010609060101010101" pitchFamily="49" charset="-122"/>
                  </a:rPr>
                  <a:t>AD</a:t>
                </a:r>
                <a:r>
                  <a:rPr lang="zh-CN" altLang="en-US" sz="1210" dirty="0">
                    <a:latin typeface="Garamond" panose="02020404030301010803" pitchFamily="18" charset="0"/>
                    <a:ea typeface="楷体" panose="02010609060101010101" pitchFamily="49" charset="-122"/>
                  </a:rPr>
                  <a:t>相交于</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1</m:t>
                        </m:r>
                      </m:sub>
                    </m:sSub>
                  </m:oMath>
                </a14:m>
                <a:r>
                  <a:rPr lang="zh-CN" altLang="en-US" sz="1210" dirty="0">
                    <a:latin typeface="Garamond" panose="02020404030301010803" pitchFamily="18" charset="0"/>
                    <a:ea typeface="楷体" panose="02010609060101010101" pitchFamily="49" charset="-122"/>
                  </a:rPr>
                  <a:t>。</a:t>
                </a:r>
                <a:endParaRPr lang="en-US" altLang="zh-CN" sz="1210" dirty="0">
                  <a:latin typeface="Garamond" panose="02020404030301010803" pitchFamily="18" charset="0"/>
                  <a:ea typeface="楷体" panose="02010609060101010101" pitchFamily="49" charset="-122"/>
                </a:endParaRPr>
              </a:p>
              <a:p>
                <a:pPr marL="0" indent="0" defTabSz="461040">
                  <a:buNone/>
                </a:pPr>
                <a:r>
                  <a:rPr lang="en-US" altLang="zh-CN" sz="1210" dirty="0">
                    <a:latin typeface="Garamond" panose="02020404030301010803" pitchFamily="18" charset="0"/>
                    <a:ea typeface="楷体" panose="02010609060101010101" pitchFamily="49" charset="-122"/>
                  </a:rPr>
                  <a:t>  </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𝐸</m:t>
                        </m:r>
                      </m:e>
                      <m:sub>
                        <m:r>
                          <a:rPr lang="en-US" altLang="zh-CN" sz="1210" i="1">
                            <a:latin typeface="Cambria Math" panose="02040503050406030204" pitchFamily="18" charset="0"/>
                          </a:rPr>
                          <m:t>1</m:t>
                        </m:r>
                      </m:sub>
                    </m:sSub>
                  </m:oMath>
                </a14:m>
                <a:r>
                  <a:rPr lang="zh-CN" altLang="en-US" sz="1210" dirty="0">
                    <a:latin typeface="Garamond" panose="02020404030301010803" pitchFamily="18" charset="0"/>
                    <a:ea typeface="楷体" panose="02010609060101010101" pitchFamily="49" charset="-122"/>
                  </a:rPr>
                  <a:t>表明经济社会处于滞胀状态，其产量和价格分别是</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𝑦</m:t>
                        </m:r>
                      </m:e>
                      <m:sub>
                        <m:r>
                          <a:rPr lang="en-US" altLang="zh-CN" sz="1210" i="1">
                            <a:latin typeface="Cambria Math" panose="02040503050406030204" pitchFamily="18" charset="0"/>
                            <a:ea typeface="楷体" panose="02010609060101010101" pitchFamily="49" charset="-122"/>
                          </a:rPr>
                          <m:t>1</m:t>
                        </m:r>
                      </m:sub>
                    </m:sSub>
                    <m:r>
                      <a:rPr lang="zh-CN" altLang="en-US" sz="1210" i="1">
                        <a:latin typeface="Cambria Math" panose="02040503050406030204" pitchFamily="18" charset="0"/>
                        <a:ea typeface="楷体" panose="02010609060101010101" pitchFamily="49" charset="-122"/>
                      </a:rPr>
                      <m:t>和</m:t>
                    </m:r>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𝑃</m:t>
                        </m:r>
                      </m:e>
                      <m:sub>
                        <m:r>
                          <a:rPr lang="en-US" altLang="zh-CN" sz="1210" i="1">
                            <a:latin typeface="Cambria Math" panose="02040503050406030204" pitchFamily="18" charset="0"/>
                            <a:ea typeface="楷体" panose="02010609060101010101" pitchFamily="49" charset="-122"/>
                          </a:rPr>
                          <m:t>1</m:t>
                        </m:r>
                      </m:sub>
                    </m:sSub>
                  </m:oMath>
                </a14:m>
                <a:r>
                  <a:rPr lang="zh-CN" altLang="en-US" sz="1210" dirty="0">
                    <a:latin typeface="Garamond" panose="02020404030301010803" pitchFamily="18" charset="0"/>
                    <a:ea typeface="楷体" panose="02010609060101010101" pitchFamily="49" charset="-122"/>
                  </a:rPr>
                  <a:t>，表明失业和通货膨胀的并存。</a:t>
                </a:r>
                <a:endParaRPr lang="en-US" altLang="zh-CN" sz="1210" dirty="0">
                  <a:latin typeface="Garamond" panose="02020404030301010803" pitchFamily="18" charset="0"/>
                  <a:ea typeface="楷体" panose="02010609060101010101" pitchFamily="49" charset="-122"/>
                </a:endParaRPr>
              </a:p>
              <a:p>
                <a:pPr marL="0" indent="0" defTabSz="461040">
                  <a:buNone/>
                </a:pPr>
                <a:r>
                  <a:rPr lang="en-US" altLang="zh-CN" sz="1210" dirty="0">
                    <a:latin typeface="Garamond" panose="02020404030301010803" pitchFamily="18" charset="0"/>
                    <a:ea typeface="楷体" panose="02010609060101010101" pitchFamily="49" charset="-122"/>
                  </a:rPr>
                  <a:t>   AS</a:t>
                </a:r>
                <a:r>
                  <a:rPr lang="zh-CN" altLang="en-US" sz="1210" dirty="0">
                    <a:latin typeface="Garamond" panose="02020404030301010803" pitchFamily="18" charset="0"/>
                    <a:ea typeface="楷体" panose="02010609060101010101" pitchFamily="49" charset="-122"/>
                  </a:rPr>
                  <a:t>偏离程度越大，失业和通货膨胀也会更为严重。</a:t>
                </a:r>
                <a:endParaRPr lang="en-US" altLang="zh-CN" sz="1210" dirty="0">
                  <a:latin typeface="Garamond" panose="02020404030301010803" pitchFamily="18" charset="0"/>
                  <a:ea typeface="楷体" panose="02010609060101010101" pitchFamily="49" charset="-122"/>
                </a:endParaRPr>
              </a:p>
              <a:p>
                <a:pPr marL="0" indent="0" defTabSz="461040">
                  <a:buNone/>
                </a:pPr>
                <a:r>
                  <a:rPr lang="zh-CN" altLang="en-US" sz="1210" b="1" dirty="0">
                    <a:highlight>
                      <a:srgbClr val="FFFF00"/>
                    </a:highlight>
                    <a:latin typeface="Garamond" panose="02020404030301010803" pitchFamily="18" charset="0"/>
                    <a:ea typeface="楷体" panose="02010609060101010101" pitchFamily="49" charset="-122"/>
                  </a:rPr>
                  <a:t>思考：如何解释</a:t>
                </a:r>
                <a:r>
                  <a:rPr lang="en-US" altLang="zh-CN" sz="1210" b="1" dirty="0">
                    <a:highlight>
                      <a:srgbClr val="FFFF00"/>
                    </a:highlight>
                    <a:latin typeface="Garamond" panose="02020404030301010803" pitchFamily="18" charset="0"/>
                    <a:ea typeface="楷体" panose="02010609060101010101" pitchFamily="49" charset="-122"/>
                  </a:rPr>
                  <a:t>AS</a:t>
                </a:r>
                <a:r>
                  <a:rPr lang="zh-CN" altLang="en-US" sz="1210" b="1" dirty="0">
                    <a:highlight>
                      <a:srgbClr val="FFFF00"/>
                    </a:highlight>
                    <a:latin typeface="Garamond" panose="02020404030301010803" pitchFamily="18" charset="0"/>
                    <a:ea typeface="楷体" panose="02010609060101010101" pitchFamily="49" charset="-122"/>
                  </a:rPr>
                  <a:t>曲线右移的情况？</a:t>
                </a:r>
                <a:endParaRPr lang="en-US" altLang="zh-CN" sz="1210" b="1" dirty="0">
                  <a:highlight>
                    <a:srgbClr val="FFFF00"/>
                  </a:highlight>
                  <a:latin typeface="Garamond" panose="02020404030301010803" pitchFamily="18" charset="0"/>
                  <a:ea typeface="楷体" panose="02010609060101010101" pitchFamily="49" charset="-122"/>
                </a:endParaRPr>
              </a:p>
              <a:p>
                <a:pPr marL="0" indent="0" defTabSz="461040">
                  <a:buNone/>
                </a:pPr>
                <a:endParaRPr lang="en-US" altLang="zh-CN" sz="1210" dirty="0">
                  <a:latin typeface="Garamond" panose="02020404030301010803" pitchFamily="18" charset="0"/>
                  <a:ea typeface="楷体" panose="02010609060101010101" pitchFamily="49" charset="-122"/>
                </a:endParaRPr>
              </a:p>
            </p:txBody>
          </p:sp>
        </mc:Choice>
        <mc:Fallback xmlns="">
          <p:sp>
            <p:nvSpPr>
              <p:cNvPr id="10" name="内容占位符 2"/>
              <p:cNvSpPr txBox="1">
                <a:spLocks noRot="1" noChangeAspect="1" noMove="1" noResize="1" noEditPoints="1" noAdjustHandles="1" noChangeArrowheads="1" noChangeShapeType="1" noTextEdit="1"/>
              </p:cNvSpPr>
              <p:nvPr/>
            </p:nvSpPr>
            <p:spPr bwMode="auto">
              <a:xfrm>
                <a:off x="253058" y="596176"/>
                <a:ext cx="2271991" cy="2304390"/>
              </a:xfrm>
              <a:prstGeom prst="rect">
                <a:avLst/>
              </a:prstGeom>
              <a:blipFill>
                <a:blip r:embed="rId3"/>
                <a:stretch>
                  <a:fillRect l="-2210" t="-2186" r="-1105" b="-546"/>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Rectangle 6">
            <a:extLst>
              <a:ext uri="{FF2B5EF4-FFF2-40B4-BE49-F238E27FC236}">
                <a16:creationId xmlns:a16="http://schemas.microsoft.com/office/drawing/2014/main" id="{11F96D00-1A49-52EF-4758-2DD12B3D156E}"/>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85</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7" name="日期占位符 3">
            <a:extLst>
              <a:ext uri="{FF2B5EF4-FFF2-40B4-BE49-F238E27FC236}">
                <a16:creationId xmlns:a16="http://schemas.microsoft.com/office/drawing/2014/main" id="{F9CDD2DB-888F-FBFA-11B7-747F4B364935}"/>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dirty="0"/>
              <a:t>AS-AD</a:t>
            </a:r>
            <a:r>
              <a:rPr lang="zh-CN" altLang="en-US" dirty="0"/>
              <a:t>模型</a:t>
            </a:r>
          </a:p>
        </p:txBody>
      </p:sp>
    </p:spTree>
    <p:extLst>
      <p:ext uri="{BB962C8B-B14F-4D97-AF65-F5344CB8AC3E}">
        <p14:creationId xmlns:p14="http://schemas.microsoft.com/office/powerpoint/2010/main" val="243917144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SimSun" panose="02010600030101010101" pitchFamily="2" charset="-122"/>
                <a:ea typeface="SimSun" panose="02010600030101010101" pitchFamily="2" charset="-122"/>
              </a:rPr>
              <a:t>AS-AD</a:t>
            </a:r>
            <a:r>
              <a:rPr lang="zh-CN" altLang="en-US" dirty="0">
                <a:latin typeface="SimSun" panose="02010600030101010101" pitchFamily="2" charset="-122"/>
                <a:ea typeface="SimSun" panose="02010600030101010101" pitchFamily="2" charset="-122"/>
              </a:rPr>
              <a:t>模型的政策含义</a:t>
            </a: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b="0" kern="1200" cap="none" spc="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n-cs"/>
              </a:defRPr>
            </a:lvl1pPr>
            <a:lvl2pPr marL="457200" algn="l" defTabSz="457200" rtl="0" eaLnBrk="0" fontAlgn="base" hangingPunct="0">
              <a:spcBef>
                <a:spcPct val="0"/>
              </a:spcBef>
              <a:spcAft>
                <a:spcPct val="0"/>
              </a:spcAft>
              <a:defRPr kern="1200">
                <a:solidFill>
                  <a:schemeClr val="dk1"/>
                </a:solidFill>
                <a:latin typeface="+mn-lt"/>
                <a:ea typeface="+mn-ea"/>
                <a:cs typeface="+mn-cs"/>
              </a:defRPr>
            </a:lvl2pPr>
            <a:lvl3pPr marL="914400" algn="l" defTabSz="457200" rtl="0" eaLnBrk="0" fontAlgn="base" hangingPunct="0">
              <a:spcBef>
                <a:spcPct val="0"/>
              </a:spcBef>
              <a:spcAft>
                <a:spcPct val="0"/>
              </a:spcAft>
              <a:defRPr kern="1200">
                <a:solidFill>
                  <a:schemeClr val="dk1"/>
                </a:solidFill>
                <a:latin typeface="+mn-lt"/>
                <a:ea typeface="+mn-ea"/>
                <a:cs typeface="+mn-cs"/>
              </a:defRPr>
            </a:lvl3pPr>
            <a:lvl4pPr marL="1371600" algn="l" defTabSz="457200" rtl="0" eaLnBrk="0" fontAlgn="base" hangingPunct="0">
              <a:spcBef>
                <a:spcPct val="0"/>
              </a:spcBef>
              <a:spcAft>
                <a:spcPct val="0"/>
              </a:spcAft>
              <a:defRPr kern="1200">
                <a:solidFill>
                  <a:schemeClr val="dk1"/>
                </a:solidFill>
                <a:latin typeface="+mn-lt"/>
                <a:ea typeface="+mn-ea"/>
                <a:cs typeface="+mn-cs"/>
              </a:defRPr>
            </a:lvl4pPr>
            <a:lvl5pPr marL="1828800" algn="l" defTabSz="457200"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defRPr/>
            </a:pPr>
            <a:fld id="{FAD6B5C5-F173-4E8F-B7DC-6ED3A3EC0E6C}" type="slidenum">
              <a:rPr lang="zh-CN" altLang="en-US" smtClean="0"/>
              <a:pPr>
                <a:defRPr/>
              </a:pPr>
              <a:t>86</a:t>
            </a:fld>
            <a:endParaRPr lang="zh-CN" altLang="en-US"/>
          </a:p>
        </p:txBody>
      </p:sp>
      <p:sp>
        <p:nvSpPr>
          <p:cNvPr id="3" name="内容占位符 2"/>
          <p:cNvSpPr>
            <a:spLocks noGrp="1"/>
          </p:cNvSpPr>
          <p:nvPr>
            <p:ph idx="1"/>
          </p:nvPr>
        </p:nvSpPr>
        <p:spPr>
          <a:xfrm>
            <a:off x="290977" y="569248"/>
            <a:ext cx="3976211" cy="2193800"/>
          </a:xfrm>
        </p:spPr>
        <p:txBody>
          <a:bodyPr/>
          <a:lstStyle/>
          <a:p>
            <a:r>
              <a:rPr lang="zh-CN" altLang="en-US" dirty="0"/>
              <a:t>当经济遭受衰退时，政府如何运用移动总需求曲线的财政货币政策稳定经济。</a:t>
            </a:r>
          </a:p>
        </p:txBody>
      </p:sp>
      <p:grpSp>
        <p:nvGrpSpPr>
          <p:cNvPr id="37" name="组合 36"/>
          <p:cNvGrpSpPr/>
          <p:nvPr/>
        </p:nvGrpSpPr>
        <p:grpSpPr>
          <a:xfrm>
            <a:off x="2609768" y="1144499"/>
            <a:ext cx="1803443" cy="1619580"/>
            <a:chOff x="5228307" y="2684721"/>
            <a:chExt cx="3577077" cy="3212390"/>
          </a:xfrm>
        </p:grpSpPr>
        <p:cxnSp>
          <p:nvCxnSpPr>
            <p:cNvPr id="9" name="直接箭头连接符 8"/>
            <p:cNvCxnSpPr/>
            <p:nvPr/>
          </p:nvCxnSpPr>
          <p:spPr>
            <a:xfrm>
              <a:off x="5597002" y="5591503"/>
              <a:ext cx="29396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flipV="1">
              <a:off x="5597091" y="2748013"/>
              <a:ext cx="0" cy="2849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任意多边形: 形状 12"/>
            <p:cNvSpPr/>
            <p:nvPr/>
          </p:nvSpPr>
          <p:spPr>
            <a:xfrm>
              <a:off x="6094394" y="3079675"/>
              <a:ext cx="2141621" cy="1843238"/>
            </a:xfrm>
            <a:custGeom>
              <a:avLst/>
              <a:gdLst>
                <a:gd name="connsiteX0" fmla="*/ 0 w 2141621"/>
                <a:gd name="connsiteY0" fmla="*/ 0 h 1843238"/>
                <a:gd name="connsiteX1" fmla="*/ 842210 w 2141621"/>
                <a:gd name="connsiteY1" fmla="*/ 1078030 h 1843238"/>
                <a:gd name="connsiteX2" fmla="*/ 2141621 w 2141621"/>
                <a:gd name="connsiteY2" fmla="*/ 1843238 h 1843238"/>
              </a:gdLst>
              <a:ahLst/>
              <a:cxnLst>
                <a:cxn ang="0">
                  <a:pos x="connsiteX0" y="connsiteY0"/>
                </a:cxn>
                <a:cxn ang="0">
                  <a:pos x="connsiteX1" y="connsiteY1"/>
                </a:cxn>
                <a:cxn ang="0">
                  <a:pos x="connsiteX2" y="connsiteY2"/>
                </a:cxn>
              </a:cxnLst>
              <a:rect l="l" t="t" r="r" b="b"/>
              <a:pathLst>
                <a:path w="2141621" h="1843238">
                  <a:moveTo>
                    <a:pt x="0" y="0"/>
                  </a:moveTo>
                  <a:cubicBezTo>
                    <a:pt x="242636" y="385412"/>
                    <a:pt x="485273" y="770824"/>
                    <a:pt x="842210" y="1078030"/>
                  </a:cubicBezTo>
                  <a:cubicBezTo>
                    <a:pt x="1199147" y="1385236"/>
                    <a:pt x="1670384" y="1614237"/>
                    <a:pt x="2141621" y="1843238"/>
                  </a:cubicBezTo>
                </a:path>
              </a:pathLst>
            </a:custGeom>
            <a:ln w="158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8"/>
            </a:p>
          </p:txBody>
        </p:sp>
        <p:sp>
          <p:nvSpPr>
            <p:cNvPr id="14" name="任意多边形: 形状 13"/>
            <p:cNvSpPr/>
            <p:nvPr/>
          </p:nvSpPr>
          <p:spPr>
            <a:xfrm>
              <a:off x="5845743" y="3568878"/>
              <a:ext cx="2141621" cy="1843238"/>
            </a:xfrm>
            <a:custGeom>
              <a:avLst/>
              <a:gdLst>
                <a:gd name="connsiteX0" fmla="*/ 0 w 2141621"/>
                <a:gd name="connsiteY0" fmla="*/ 0 h 1843238"/>
                <a:gd name="connsiteX1" fmla="*/ 842210 w 2141621"/>
                <a:gd name="connsiteY1" fmla="*/ 1078030 h 1843238"/>
                <a:gd name="connsiteX2" fmla="*/ 2141621 w 2141621"/>
                <a:gd name="connsiteY2" fmla="*/ 1843238 h 1843238"/>
              </a:gdLst>
              <a:ahLst/>
              <a:cxnLst>
                <a:cxn ang="0">
                  <a:pos x="connsiteX0" y="connsiteY0"/>
                </a:cxn>
                <a:cxn ang="0">
                  <a:pos x="connsiteX1" y="connsiteY1"/>
                </a:cxn>
                <a:cxn ang="0">
                  <a:pos x="connsiteX2" y="connsiteY2"/>
                </a:cxn>
              </a:cxnLst>
              <a:rect l="l" t="t" r="r" b="b"/>
              <a:pathLst>
                <a:path w="2141621" h="1843238">
                  <a:moveTo>
                    <a:pt x="0" y="0"/>
                  </a:moveTo>
                  <a:cubicBezTo>
                    <a:pt x="242636" y="385412"/>
                    <a:pt x="485273" y="770824"/>
                    <a:pt x="842210" y="1078030"/>
                  </a:cubicBezTo>
                  <a:cubicBezTo>
                    <a:pt x="1199147" y="1385236"/>
                    <a:pt x="1670384" y="1614237"/>
                    <a:pt x="2141621" y="1843238"/>
                  </a:cubicBezTo>
                </a:path>
              </a:pathLst>
            </a:custGeom>
            <a:ln w="158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8"/>
            </a:p>
          </p:txBody>
        </p:sp>
        <p:sp>
          <p:nvSpPr>
            <p:cNvPr id="15" name="任意多边形: 形状 14"/>
            <p:cNvSpPr/>
            <p:nvPr/>
          </p:nvSpPr>
          <p:spPr>
            <a:xfrm>
              <a:off x="5900286" y="3469907"/>
              <a:ext cx="2286000" cy="1694047"/>
            </a:xfrm>
            <a:custGeom>
              <a:avLst/>
              <a:gdLst>
                <a:gd name="connsiteX0" fmla="*/ 0 w 2286000"/>
                <a:gd name="connsiteY0" fmla="*/ 1694047 h 1694047"/>
                <a:gd name="connsiteX1" fmla="*/ 1309036 w 2286000"/>
                <a:gd name="connsiteY1" fmla="*/ 1188720 h 1694047"/>
                <a:gd name="connsiteX2" fmla="*/ 2286000 w 2286000"/>
                <a:gd name="connsiteY2" fmla="*/ 0 h 1694047"/>
                <a:gd name="connsiteX3" fmla="*/ 2286000 w 2286000"/>
                <a:gd name="connsiteY3" fmla="*/ 0 h 1694047"/>
                <a:gd name="connsiteX4" fmla="*/ 2286000 w 2286000"/>
                <a:gd name="connsiteY4" fmla="*/ 0 h 1694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0" h="1694047">
                  <a:moveTo>
                    <a:pt x="0" y="1694047"/>
                  </a:moveTo>
                  <a:cubicBezTo>
                    <a:pt x="464018" y="1582554"/>
                    <a:pt x="928036" y="1471061"/>
                    <a:pt x="1309036" y="1188720"/>
                  </a:cubicBezTo>
                  <a:cubicBezTo>
                    <a:pt x="1690036" y="906379"/>
                    <a:pt x="2286000" y="0"/>
                    <a:pt x="2286000" y="0"/>
                  </a:cubicBezTo>
                  <a:lnTo>
                    <a:pt x="2286000" y="0"/>
                  </a:lnTo>
                  <a:lnTo>
                    <a:pt x="2286000" y="0"/>
                  </a:lnTo>
                </a:path>
              </a:pathLst>
            </a:custGeom>
            <a:ln w="158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8"/>
            </a:p>
          </p:txBody>
        </p:sp>
        <p:sp>
          <p:nvSpPr>
            <p:cNvPr id="16" name="椭圆 15"/>
            <p:cNvSpPr/>
            <p:nvPr/>
          </p:nvSpPr>
          <p:spPr>
            <a:xfrm flipV="1">
              <a:off x="7373680" y="4462321"/>
              <a:ext cx="53162"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8"/>
            </a:p>
          </p:txBody>
        </p:sp>
        <p:sp>
          <p:nvSpPr>
            <p:cNvPr id="17" name="椭圆 16"/>
            <p:cNvSpPr/>
            <p:nvPr/>
          </p:nvSpPr>
          <p:spPr>
            <a:xfrm flipV="1">
              <a:off x="6911237" y="4806271"/>
              <a:ext cx="53162"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8"/>
            </a:p>
          </p:txBody>
        </p:sp>
        <p:cxnSp>
          <p:nvCxnSpPr>
            <p:cNvPr id="19" name="直接连接符 18"/>
            <p:cNvCxnSpPr>
              <a:stCxn id="17" idx="4"/>
            </p:cNvCxnSpPr>
            <p:nvPr/>
          </p:nvCxnSpPr>
          <p:spPr>
            <a:xfrm>
              <a:off x="6937818" y="4806271"/>
              <a:ext cx="0" cy="78523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1" name="直接连接符 20"/>
            <p:cNvCxnSpPr>
              <a:stCxn id="17" idx="2"/>
            </p:cNvCxnSpPr>
            <p:nvPr/>
          </p:nvCxnSpPr>
          <p:spPr>
            <a:xfrm flipH="1">
              <a:off x="5597091" y="4829130"/>
              <a:ext cx="131414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a:cxnSpLocks/>
            </p:cNvCxnSpPr>
            <p:nvPr/>
          </p:nvCxnSpPr>
          <p:spPr>
            <a:xfrm>
              <a:off x="7416210" y="4485180"/>
              <a:ext cx="0" cy="1106323"/>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8" name="文本框 27"/>
                <p:cNvSpPr txBox="1"/>
                <p:nvPr/>
              </p:nvSpPr>
              <p:spPr>
                <a:xfrm>
                  <a:off x="8223861" y="3192908"/>
                  <a:ext cx="301162" cy="277127"/>
                </a:xfrm>
                <a:prstGeom prst="rect">
                  <a:avLst/>
                </a:prstGeom>
                <a:noFill/>
              </p:spPr>
              <p:txBody>
                <a:bodyPr wrap="none" lIns="0" tIns="0" rIns="0" bIns="0" rtlCol="0">
                  <a:spAutoFit/>
                </a:bodyPr>
                <a:lstStyle/>
                <a:p>
                  <a14:m>
                    <m:oMath xmlns:m="http://schemas.openxmlformats.org/officeDocument/2006/math">
                      <m:r>
                        <a:rPr lang="en-US" altLang="zh-CN" sz="908" i="1">
                          <a:latin typeface="Cambria Math" panose="02040503050406030204" pitchFamily="18" charset="0"/>
                        </a:rPr>
                        <m:t>𝐴</m:t>
                      </m:r>
                    </m:oMath>
                  </a14:m>
                  <a:r>
                    <a:rPr lang="en-US" altLang="zh-CN" sz="908" dirty="0"/>
                    <a:t>S</a:t>
                  </a:r>
                  <a:endParaRPr lang="zh-CN" altLang="en-US" sz="908" dirty="0"/>
                </a:p>
              </p:txBody>
            </p:sp>
          </mc:Choice>
          <mc:Fallback xmlns="">
            <p:sp>
              <p:nvSpPr>
                <p:cNvPr id="28" name="文本框 27"/>
                <p:cNvSpPr txBox="1">
                  <a:spLocks noRot="1" noChangeAspect="1" noMove="1" noResize="1" noEditPoints="1" noAdjustHandles="1" noChangeArrowheads="1" noChangeShapeType="1" noTextEdit="1"/>
                </p:cNvSpPr>
                <p:nvPr/>
              </p:nvSpPr>
              <p:spPr>
                <a:xfrm>
                  <a:off x="8223861" y="3192908"/>
                  <a:ext cx="301162" cy="277127"/>
                </a:xfrm>
                <a:prstGeom prst="rect">
                  <a:avLst/>
                </a:prstGeom>
                <a:blipFill>
                  <a:blip r:embed="rId2"/>
                  <a:stretch>
                    <a:fillRect l="-23077" t="-25000" r="-46154"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p:cNvSpPr txBox="1"/>
                <p:nvPr/>
              </p:nvSpPr>
              <p:spPr>
                <a:xfrm>
                  <a:off x="8344991" y="4784414"/>
                  <a:ext cx="460393"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𝐴</m:t>
                        </m:r>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𝐷</m:t>
                            </m:r>
                          </m:e>
                          <m:sub>
                            <m:r>
                              <a:rPr lang="en-US" altLang="zh-CN" sz="908" i="1">
                                <a:latin typeface="Cambria Math" panose="02040503050406030204" pitchFamily="18" charset="0"/>
                              </a:rPr>
                              <m:t>1</m:t>
                            </m:r>
                          </m:sub>
                        </m:sSub>
                      </m:oMath>
                    </m:oMathPara>
                  </a14:m>
                  <a:endParaRPr lang="zh-CN" altLang="en-US" sz="908" dirty="0"/>
                </a:p>
              </p:txBody>
            </p:sp>
          </mc:Choice>
          <mc:Fallback xmlns="">
            <p:sp>
              <p:nvSpPr>
                <p:cNvPr id="29" name="文本框 28"/>
                <p:cNvSpPr txBox="1">
                  <a:spLocks noRot="1" noChangeAspect="1" noMove="1" noResize="1" noEditPoints="1" noAdjustHandles="1" noChangeArrowheads="1" noChangeShapeType="1" noTextEdit="1"/>
                </p:cNvSpPr>
                <p:nvPr/>
              </p:nvSpPr>
              <p:spPr>
                <a:xfrm>
                  <a:off x="8344991" y="4784414"/>
                  <a:ext cx="460393" cy="277127"/>
                </a:xfrm>
                <a:prstGeom prst="rect">
                  <a:avLst/>
                </a:prstGeom>
                <a:blipFill>
                  <a:blip r:embed="rId3"/>
                  <a:stretch>
                    <a:fillRect l="-10526"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p:cNvSpPr txBox="1"/>
                <p:nvPr/>
              </p:nvSpPr>
              <p:spPr>
                <a:xfrm>
                  <a:off x="8025501" y="5265699"/>
                  <a:ext cx="465735"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𝐴</m:t>
                        </m:r>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𝐷</m:t>
                            </m:r>
                          </m:e>
                          <m:sub>
                            <m:r>
                              <a:rPr lang="en-US" altLang="zh-CN" sz="908" i="1">
                                <a:latin typeface="Cambria Math" panose="02040503050406030204" pitchFamily="18" charset="0"/>
                              </a:rPr>
                              <m:t>0</m:t>
                            </m:r>
                          </m:sub>
                        </m:sSub>
                      </m:oMath>
                    </m:oMathPara>
                  </a14:m>
                  <a:endParaRPr lang="zh-CN" altLang="en-US" sz="908" dirty="0"/>
                </a:p>
              </p:txBody>
            </p:sp>
          </mc:Choice>
          <mc:Fallback xmlns="">
            <p:sp>
              <p:nvSpPr>
                <p:cNvPr id="30" name="文本框 29"/>
                <p:cNvSpPr txBox="1">
                  <a:spLocks noRot="1" noChangeAspect="1" noMove="1" noResize="1" noEditPoints="1" noAdjustHandles="1" noChangeArrowheads="1" noChangeShapeType="1" noTextEdit="1"/>
                </p:cNvSpPr>
                <p:nvPr/>
              </p:nvSpPr>
              <p:spPr>
                <a:xfrm>
                  <a:off x="8025501" y="5265699"/>
                  <a:ext cx="465735" cy="277127"/>
                </a:xfrm>
                <a:prstGeom prst="rect">
                  <a:avLst/>
                </a:prstGeom>
                <a:blipFill>
                  <a:blip r:embed="rId4"/>
                  <a:stretch>
                    <a:fillRect l="-10526" r="-5263"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p:cNvSpPr txBox="1"/>
                <p:nvPr/>
              </p:nvSpPr>
              <p:spPr>
                <a:xfrm>
                  <a:off x="5293896" y="2684721"/>
                  <a:ext cx="212265"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𝑃</m:t>
                        </m:r>
                      </m:oMath>
                    </m:oMathPara>
                  </a14:m>
                  <a:endParaRPr lang="zh-CN" altLang="en-US" sz="908" dirty="0"/>
                </a:p>
              </p:txBody>
            </p:sp>
          </mc:Choice>
          <mc:Fallback xmlns="">
            <p:sp>
              <p:nvSpPr>
                <p:cNvPr id="31" name="文本框 30"/>
                <p:cNvSpPr txBox="1">
                  <a:spLocks noRot="1" noChangeAspect="1" noMove="1" noResize="1" noEditPoints="1" noAdjustHandles="1" noChangeArrowheads="1" noChangeShapeType="1" noTextEdit="1"/>
                </p:cNvSpPr>
                <p:nvPr/>
              </p:nvSpPr>
              <p:spPr>
                <a:xfrm>
                  <a:off x="5293896" y="2684721"/>
                  <a:ext cx="212265" cy="277127"/>
                </a:xfrm>
                <a:prstGeom prst="rect">
                  <a:avLst/>
                </a:prstGeom>
                <a:blipFill>
                  <a:blip r:embed="rId5"/>
                  <a:stretch>
                    <a:fillRect l="-22222" r="-22222"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p:cNvSpPr txBox="1"/>
                <p:nvPr/>
              </p:nvSpPr>
              <p:spPr>
                <a:xfrm>
                  <a:off x="5228307" y="4645914"/>
                  <a:ext cx="289972"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𝑃</m:t>
                            </m:r>
                          </m:e>
                          <m:sub>
                            <m:r>
                              <a:rPr lang="en-US" altLang="zh-CN" sz="908" i="1">
                                <a:latin typeface="Cambria Math" panose="02040503050406030204" pitchFamily="18" charset="0"/>
                              </a:rPr>
                              <m:t>0</m:t>
                            </m:r>
                          </m:sub>
                        </m:sSub>
                      </m:oMath>
                    </m:oMathPara>
                  </a14:m>
                  <a:endParaRPr lang="zh-CN" altLang="en-US" sz="908" dirty="0"/>
                </a:p>
              </p:txBody>
            </p:sp>
          </mc:Choice>
          <mc:Fallback xmlns="">
            <p:sp>
              <p:nvSpPr>
                <p:cNvPr id="32" name="文本框 31"/>
                <p:cNvSpPr txBox="1">
                  <a:spLocks noRot="1" noChangeAspect="1" noMove="1" noResize="1" noEditPoints="1" noAdjustHandles="1" noChangeArrowheads="1" noChangeShapeType="1" noTextEdit="1"/>
                </p:cNvSpPr>
                <p:nvPr/>
              </p:nvSpPr>
              <p:spPr>
                <a:xfrm>
                  <a:off x="5228307" y="4645914"/>
                  <a:ext cx="289972" cy="277127"/>
                </a:xfrm>
                <a:prstGeom prst="rect">
                  <a:avLst/>
                </a:prstGeom>
                <a:blipFill>
                  <a:blip r:embed="rId6"/>
                  <a:stretch>
                    <a:fillRect l="-16667" r="-8333"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p:cNvSpPr txBox="1"/>
                <p:nvPr/>
              </p:nvSpPr>
              <p:spPr>
                <a:xfrm>
                  <a:off x="6798552" y="4494307"/>
                  <a:ext cx="302436"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𝐸</m:t>
                            </m:r>
                          </m:e>
                          <m:sub>
                            <m:r>
                              <a:rPr lang="en-US" altLang="zh-CN" sz="908" i="1">
                                <a:latin typeface="Cambria Math" panose="02040503050406030204" pitchFamily="18" charset="0"/>
                              </a:rPr>
                              <m:t>0</m:t>
                            </m:r>
                          </m:sub>
                        </m:sSub>
                      </m:oMath>
                    </m:oMathPara>
                  </a14:m>
                  <a:endParaRPr lang="zh-CN" altLang="en-US" sz="908" dirty="0"/>
                </a:p>
              </p:txBody>
            </p:sp>
          </mc:Choice>
          <mc:Fallback xmlns="">
            <p:sp>
              <p:nvSpPr>
                <p:cNvPr id="33" name="文本框 32"/>
                <p:cNvSpPr txBox="1">
                  <a:spLocks noRot="1" noChangeAspect="1" noMove="1" noResize="1" noEditPoints="1" noAdjustHandles="1" noChangeArrowheads="1" noChangeShapeType="1" noTextEdit="1"/>
                </p:cNvSpPr>
                <p:nvPr/>
              </p:nvSpPr>
              <p:spPr>
                <a:xfrm>
                  <a:off x="6798552" y="4494307"/>
                  <a:ext cx="302436" cy="277127"/>
                </a:xfrm>
                <a:prstGeom prst="rect">
                  <a:avLst/>
                </a:prstGeom>
                <a:blipFill>
                  <a:blip r:embed="rId7"/>
                  <a:stretch>
                    <a:fillRect l="-15385" r="-7692"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p:cNvSpPr txBox="1"/>
                <p:nvPr/>
              </p:nvSpPr>
              <p:spPr>
                <a:xfrm>
                  <a:off x="7230276" y="4075660"/>
                  <a:ext cx="297094"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𝐸</m:t>
                            </m:r>
                          </m:e>
                          <m:sub>
                            <m:r>
                              <a:rPr lang="en-US" altLang="zh-CN" sz="908" i="1">
                                <a:latin typeface="Cambria Math" panose="02040503050406030204" pitchFamily="18" charset="0"/>
                              </a:rPr>
                              <m:t>1</m:t>
                            </m:r>
                          </m:sub>
                        </m:sSub>
                      </m:oMath>
                    </m:oMathPara>
                  </a14:m>
                  <a:endParaRPr lang="zh-CN" altLang="en-US" sz="908" dirty="0"/>
                </a:p>
              </p:txBody>
            </p:sp>
          </mc:Choice>
          <mc:Fallback xmlns="">
            <p:sp>
              <p:nvSpPr>
                <p:cNvPr id="34" name="文本框 33"/>
                <p:cNvSpPr txBox="1">
                  <a:spLocks noRot="1" noChangeAspect="1" noMove="1" noResize="1" noEditPoints="1" noAdjustHandles="1" noChangeArrowheads="1" noChangeShapeType="1" noTextEdit="1"/>
                </p:cNvSpPr>
                <p:nvPr/>
              </p:nvSpPr>
              <p:spPr>
                <a:xfrm>
                  <a:off x="7230276" y="4075660"/>
                  <a:ext cx="297094" cy="277127"/>
                </a:xfrm>
                <a:prstGeom prst="rect">
                  <a:avLst/>
                </a:prstGeom>
                <a:blipFill>
                  <a:blip r:embed="rId8"/>
                  <a:stretch>
                    <a:fillRect l="-15385"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p:cNvSpPr txBox="1"/>
                <p:nvPr/>
              </p:nvSpPr>
              <p:spPr>
                <a:xfrm>
                  <a:off x="6745087" y="5597091"/>
                  <a:ext cx="295186" cy="277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0</m:t>
                            </m:r>
                          </m:sub>
                        </m:sSub>
                      </m:oMath>
                    </m:oMathPara>
                  </a14:m>
                  <a:endParaRPr lang="zh-CN" altLang="en-US" sz="908" dirty="0"/>
                </a:p>
              </p:txBody>
            </p:sp>
          </mc:Choice>
          <mc:Fallback xmlns="">
            <p:sp>
              <p:nvSpPr>
                <p:cNvPr id="35" name="文本框 34"/>
                <p:cNvSpPr txBox="1">
                  <a:spLocks noRot="1" noChangeAspect="1" noMove="1" noResize="1" noEditPoints="1" noAdjustHandles="1" noChangeArrowheads="1" noChangeShapeType="1" noTextEdit="1"/>
                </p:cNvSpPr>
                <p:nvPr/>
              </p:nvSpPr>
              <p:spPr>
                <a:xfrm>
                  <a:off x="6745087" y="5597091"/>
                  <a:ext cx="295186" cy="277127"/>
                </a:xfrm>
                <a:prstGeom prst="rect">
                  <a:avLst/>
                </a:prstGeom>
                <a:blipFill>
                  <a:blip r:embed="rId9"/>
                  <a:stretch>
                    <a:fillRect l="-15385"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p:cNvSpPr txBox="1"/>
                <p:nvPr/>
              </p:nvSpPr>
              <p:spPr>
                <a:xfrm>
                  <a:off x="7332256" y="5597091"/>
                  <a:ext cx="289462" cy="3000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𝑓</m:t>
                            </m:r>
                          </m:sub>
                        </m:sSub>
                      </m:oMath>
                    </m:oMathPara>
                  </a14:m>
                  <a:endParaRPr lang="zh-CN" altLang="en-US" sz="908" dirty="0"/>
                </a:p>
              </p:txBody>
            </p:sp>
          </mc:Choice>
          <mc:Fallback xmlns="">
            <p:sp>
              <p:nvSpPr>
                <p:cNvPr id="36" name="文本框 35"/>
                <p:cNvSpPr txBox="1">
                  <a:spLocks noRot="1" noChangeAspect="1" noMove="1" noResize="1" noEditPoints="1" noAdjustHandles="1" noChangeArrowheads="1" noChangeShapeType="1" noTextEdit="1"/>
                </p:cNvSpPr>
                <p:nvPr/>
              </p:nvSpPr>
              <p:spPr>
                <a:xfrm>
                  <a:off x="7332256" y="5597091"/>
                  <a:ext cx="289462" cy="300020"/>
                </a:xfrm>
                <a:prstGeom prst="rect">
                  <a:avLst/>
                </a:prstGeom>
                <a:blipFill>
                  <a:blip r:embed="rId10"/>
                  <a:stretch>
                    <a:fillRect l="-15385" r="-7692" b="-2307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9" name="内容占位符 2"/>
              <p:cNvSpPr txBox="1">
                <a:spLocks/>
              </p:cNvSpPr>
              <p:nvPr/>
            </p:nvSpPr>
            <p:spPr bwMode="auto">
              <a:xfrm>
                <a:off x="256951" y="1176409"/>
                <a:ext cx="2271991" cy="1794580"/>
              </a:xfrm>
              <a:prstGeom prst="rect">
                <a:avLst/>
              </a:prstGeom>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style>
              <a:lnRef idx="2">
                <a:schemeClr val="accent1"/>
              </a:lnRef>
              <a:fillRef idx="1">
                <a:schemeClr val="lt1"/>
              </a:fillRef>
              <a:effectRef idx="0">
                <a:schemeClr val="accent1"/>
              </a:effectRef>
              <a:fontRef idx="minor">
                <a:schemeClr val="dk1"/>
              </a:fontRef>
            </p:style>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61040">
                  <a:buNone/>
                </a:pPr>
                <a:r>
                  <a:rPr lang="zh-CN" altLang="en-US" sz="1210" dirty="0">
                    <a:latin typeface="Garamond" panose="02020404030301010803" pitchFamily="18" charset="0"/>
                    <a:ea typeface="KaiTi" panose="02010609060101010101" pitchFamily="49" charset="-122"/>
                  </a:rPr>
                  <a:t>   右图中，假定由于受到冲击，经济实际产量为</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𝑦</m:t>
                        </m:r>
                      </m:e>
                      <m:sub>
                        <m:r>
                          <a:rPr lang="en-US" altLang="zh-CN" sz="1210" i="1">
                            <a:latin typeface="Cambria Math" panose="02040503050406030204" pitchFamily="18" charset="0"/>
                            <a:ea typeface="楷体" panose="02010609060101010101" pitchFamily="49" charset="-122"/>
                          </a:rPr>
                          <m:t>0</m:t>
                        </m:r>
                      </m:sub>
                    </m:sSub>
                  </m:oMath>
                </a14:m>
                <a:r>
                  <a:rPr lang="zh-CN" altLang="en-US" sz="1210" dirty="0">
                    <a:latin typeface="Garamond" panose="02020404030301010803" pitchFamily="18" charset="0"/>
                    <a:ea typeface="KaiTi" panose="02010609060101010101" pitchFamily="49" charset="-122"/>
                  </a:rPr>
                  <a:t>，低于经济的潜在产量，说明经济正经受衰退，即经济处于高失业、低收入的时期。</a:t>
                </a:r>
                <a:endParaRPr lang="en-US" altLang="zh-CN" sz="1210" dirty="0">
                  <a:latin typeface="Garamond" panose="02020404030301010803" pitchFamily="18" charset="0"/>
                  <a:ea typeface="KaiTi" panose="02010609060101010101" pitchFamily="49" charset="-122"/>
                </a:endParaRPr>
              </a:p>
              <a:p>
                <a:pPr marL="0" indent="0" defTabSz="461040">
                  <a:buNone/>
                </a:pPr>
                <a:r>
                  <a:rPr lang="zh-CN" altLang="en-US" sz="1210" dirty="0">
                    <a:latin typeface="Garamond" panose="02020404030301010803" pitchFamily="18" charset="0"/>
                    <a:ea typeface="KaiTi" panose="02010609060101010101" pitchFamily="49" charset="-122"/>
                  </a:rPr>
                  <a:t>   政府利用扩张性的财政政策或扩张性的货币政策将需求曲线右移，可以实现稳定经济的目的。</a:t>
                </a:r>
                <a:endParaRPr lang="en-US" altLang="zh-CN" sz="1210" dirty="0">
                  <a:latin typeface="Garamond" panose="02020404030301010803" pitchFamily="18" charset="0"/>
                  <a:ea typeface="KaiTi" panose="02010609060101010101" pitchFamily="49" charset="-122"/>
                </a:endParaRPr>
              </a:p>
            </p:txBody>
          </p:sp>
        </mc:Choice>
        <mc:Fallback xmlns="">
          <p:sp>
            <p:nvSpPr>
              <p:cNvPr id="39" name="内容占位符 2"/>
              <p:cNvSpPr txBox="1">
                <a:spLocks noRot="1" noChangeAspect="1" noMove="1" noResize="1" noEditPoints="1" noAdjustHandles="1" noChangeArrowheads="1" noChangeShapeType="1" noTextEdit="1"/>
              </p:cNvSpPr>
              <p:nvPr/>
            </p:nvSpPr>
            <p:spPr bwMode="auto">
              <a:xfrm>
                <a:off x="256951" y="1176409"/>
                <a:ext cx="2271991" cy="1794580"/>
              </a:xfrm>
              <a:prstGeom prst="rect">
                <a:avLst/>
              </a:prstGeom>
              <a:blipFill>
                <a:blip r:embed="rId11"/>
                <a:stretch>
                  <a:fillRect l="-1657" t="-2797" r="-1105"/>
                </a:stretch>
              </a:blip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8" name="矩形 37"/>
          <p:cNvSpPr/>
          <p:nvPr/>
        </p:nvSpPr>
        <p:spPr>
          <a:xfrm>
            <a:off x="2721700" y="2774770"/>
            <a:ext cx="1705915" cy="232051"/>
          </a:xfrm>
          <a:prstGeom prst="rect">
            <a:avLst/>
          </a:prstGeom>
        </p:spPr>
        <p:txBody>
          <a:bodyPr wrap="none">
            <a:spAutoFit/>
          </a:bodyPr>
          <a:lstStyle/>
          <a:p>
            <a:pPr algn="ctr">
              <a:spcBef>
                <a:spcPct val="50000"/>
              </a:spcBef>
            </a:pPr>
            <a:r>
              <a:rPr lang="zh-CN" altLang="en-US" sz="908" b="1" dirty="0">
                <a:ln w="0"/>
                <a:effectLst>
                  <a:outerShdw blurRad="38100" dist="25400" dir="5400000" algn="ctr" rotWithShape="0">
                    <a:srgbClr val="6E747A">
                      <a:alpha val="43000"/>
                    </a:srgbClr>
                  </a:outerShdw>
                </a:effectLst>
                <a:latin typeface="KaiTi" panose="02010609060101010101" pitchFamily="49" charset="-122"/>
                <a:ea typeface="KaiTi" panose="02010609060101010101" pitchFamily="49" charset="-122"/>
              </a:rPr>
              <a:t>政府用需求管理政策稳定经济</a:t>
            </a:r>
          </a:p>
        </p:txBody>
      </p:sp>
      <p:sp>
        <p:nvSpPr>
          <p:cNvPr id="7" name="Rectangle 6">
            <a:extLst>
              <a:ext uri="{FF2B5EF4-FFF2-40B4-BE49-F238E27FC236}">
                <a16:creationId xmlns:a16="http://schemas.microsoft.com/office/drawing/2014/main" id="{656870AB-AF76-F77E-3C76-13D92BFDA376}"/>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86</a:t>
            </a:fld>
            <a:endParaRPr lang="zh-CN" altLang="zh-CN" sz="857" dirty="0">
              <a:solidFill>
                <a:srgbClr val="777777"/>
              </a:solidFill>
              <a:latin typeface="Tahoma" panose="020B0604030504040204" pitchFamily="34" charset="0"/>
              <a:ea typeface="宋体" panose="02010600030101010101" pitchFamily="2" charset="-122"/>
            </a:endParaRPr>
          </a:p>
        </p:txBody>
      </p:sp>
      <p:sp>
        <p:nvSpPr>
          <p:cNvPr id="8" name="日期占位符 3">
            <a:extLst>
              <a:ext uri="{FF2B5EF4-FFF2-40B4-BE49-F238E27FC236}">
                <a16:creationId xmlns:a16="http://schemas.microsoft.com/office/drawing/2014/main" id="{67657178-C0BA-0997-058C-EB78D636DDFB}"/>
              </a:ext>
            </a:extLst>
          </p:cNvPr>
          <p:cNvSpPr txBox="1">
            <a:spLocks/>
          </p:cNvSpPr>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defPPr>
              <a:defRPr lang="zh-CN"/>
            </a:defPPr>
            <a:lvl1pPr marL="0" algn="l" defTabSz="914400" rtl="0" eaLnBrk="1" latinLnBrk="0" hangingPunct="1">
              <a:defRPr sz="900" i="1"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t>AS-AD</a:t>
            </a:r>
            <a:r>
              <a:rPr lang="zh-CN" altLang="en-US"/>
              <a:t>模型</a:t>
            </a:r>
            <a:endParaRPr lang="zh-CN" altLang="en-US" dirty="0"/>
          </a:p>
        </p:txBody>
      </p:sp>
    </p:spTree>
    <p:extLst>
      <p:ext uri="{BB962C8B-B14F-4D97-AF65-F5344CB8AC3E}">
        <p14:creationId xmlns:p14="http://schemas.microsoft.com/office/powerpoint/2010/main" val="10895414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7530" y="1545879"/>
            <a:ext cx="4415040" cy="368993"/>
          </a:xfrm>
        </p:spPr>
        <p:txBody>
          <a:bodyPr>
            <a:normAutofit fontScale="90000"/>
          </a:bodyPr>
          <a:lstStyle/>
          <a:p>
            <a:pPr algn="ctr"/>
            <a:r>
              <a:rPr kumimoji="1" lang="en-US" altLang="zh-CN" sz="2398" dirty="0"/>
              <a:t>Thanks!</a:t>
            </a:r>
            <a:endParaRPr kumimoji="1" lang="zh-CN" altLang="en-US" sz="2398" dirty="0"/>
          </a:p>
        </p:txBody>
      </p:sp>
    </p:spTree>
    <p:extLst>
      <p:ext uri="{BB962C8B-B14F-4D97-AF65-F5344CB8AC3E}">
        <p14:creationId xmlns:p14="http://schemas.microsoft.com/office/powerpoint/2010/main" val="3461542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D46E611-EC7A-1058-4ED3-B1531FEEE017}"/>
              </a:ext>
            </a:extLst>
          </p:cNvPr>
          <p:cNvSpPr txBox="1">
            <a:spLocks noChangeArrowheads="1"/>
          </p:cNvSpPr>
          <p:nvPr/>
        </p:nvSpPr>
        <p:spPr bwMode="auto">
          <a:xfrm>
            <a:off x="2017018" y="542861"/>
            <a:ext cx="2495552" cy="275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a:lstStyle>
          <a:p>
            <a:pPr marL="0" indent="0">
              <a:lnSpc>
                <a:spcPct val="85000"/>
              </a:lnSpc>
              <a:spcBef>
                <a:spcPct val="30000"/>
              </a:spcBef>
              <a:buNone/>
            </a:pPr>
            <a:r>
              <a:rPr lang="zh-CN" altLang="en-US" b="1" dirty="0">
                <a:ea typeface="宋体" panose="02010600030101010101" pitchFamily="2" charset="-122"/>
              </a:rPr>
              <a:t>考试内容：</a:t>
            </a:r>
            <a:endParaRPr lang="en-US" altLang="zh-CN" b="1" dirty="0">
              <a:ea typeface="宋体" panose="02010600030101010101" pitchFamily="2" charset="-122"/>
            </a:endParaRPr>
          </a:p>
          <a:p>
            <a:pPr marL="144876" indent="-144876">
              <a:lnSpc>
                <a:spcPct val="85000"/>
              </a:lnSpc>
              <a:spcBef>
                <a:spcPct val="30000"/>
              </a:spcBef>
            </a:pPr>
            <a:r>
              <a:rPr lang="en-US" altLang="zh-CN" sz="1411" dirty="0">
                <a:ea typeface="宋体" panose="02010600030101010101" pitchFamily="2" charset="-122"/>
              </a:rPr>
              <a:t>1-4</a:t>
            </a:r>
            <a:r>
              <a:rPr lang="zh-CN" altLang="en-US" sz="1411" dirty="0">
                <a:ea typeface="宋体" panose="02010600030101010101" pitchFamily="2" charset="-122"/>
              </a:rPr>
              <a:t>章全部内容</a:t>
            </a:r>
            <a:endParaRPr lang="en-US" altLang="zh-CN" sz="1411" dirty="0">
              <a:ea typeface="宋体" panose="02010600030101010101" pitchFamily="2" charset="-122"/>
            </a:endParaRPr>
          </a:p>
          <a:p>
            <a:pPr marL="144876" indent="-144876" eaLnBrk="0" fontAlgn="base" hangingPunct="0">
              <a:lnSpc>
                <a:spcPct val="85000"/>
              </a:lnSpc>
              <a:spcBef>
                <a:spcPct val="30000"/>
              </a:spcBef>
              <a:spcAft>
                <a:spcPct val="0"/>
              </a:spcAft>
              <a:buClr>
                <a:srgbClr val="339966"/>
              </a:buClr>
              <a:buSzPct val="120000"/>
              <a:buFont typeface="Wingdings" pitchFamily="2" charset="2"/>
            </a:pPr>
            <a:r>
              <a:rPr lang="en-US" altLang="zh-CN" sz="1411" dirty="0">
                <a:ea typeface="宋体" panose="02010600030101010101" pitchFamily="2" charset="-122"/>
              </a:rPr>
              <a:t>6</a:t>
            </a:r>
            <a:r>
              <a:rPr lang="zh-CN" altLang="en-US" sz="1411" dirty="0">
                <a:ea typeface="宋体" panose="02010600030101010101" pitchFamily="2" charset="-122"/>
              </a:rPr>
              <a:t>章 挤出效应及其计算</a:t>
            </a:r>
            <a:endParaRPr lang="en-US" altLang="zh-CN" sz="1411" dirty="0">
              <a:ea typeface="宋体" panose="02010600030101010101" pitchFamily="2" charset="-122"/>
            </a:endParaRPr>
          </a:p>
          <a:p>
            <a:pPr marL="144876" indent="-144876" eaLnBrk="0" fontAlgn="base" hangingPunct="0">
              <a:lnSpc>
                <a:spcPct val="85000"/>
              </a:lnSpc>
              <a:spcBef>
                <a:spcPct val="30000"/>
              </a:spcBef>
              <a:spcAft>
                <a:spcPct val="0"/>
              </a:spcAft>
              <a:buClr>
                <a:srgbClr val="339966"/>
              </a:buClr>
              <a:buSzPct val="120000"/>
              <a:buFont typeface="Wingdings" pitchFamily="2" charset="2"/>
            </a:pPr>
            <a:r>
              <a:rPr lang="en-US" altLang="zh-CN" sz="1411" dirty="0">
                <a:ea typeface="宋体" panose="02010600030101010101" pitchFamily="2" charset="-122"/>
              </a:rPr>
              <a:t>7</a:t>
            </a:r>
            <a:r>
              <a:rPr lang="zh-CN" altLang="en-US" sz="1411" dirty="0">
                <a:ea typeface="宋体" panose="02010600030101010101" pitchFamily="2" charset="-122"/>
              </a:rPr>
              <a:t>章 通货膨胀与失业理论</a:t>
            </a:r>
          </a:p>
          <a:p>
            <a:pPr marL="144876" indent="-144876">
              <a:lnSpc>
                <a:spcPct val="85000"/>
              </a:lnSpc>
              <a:spcBef>
                <a:spcPct val="30000"/>
              </a:spcBef>
            </a:pPr>
            <a:endParaRPr lang="en-US" altLang="zh-CN" dirty="0">
              <a:ea typeface="宋体" panose="02010600030101010101" pitchFamily="2" charset="-122"/>
            </a:endParaRPr>
          </a:p>
          <a:p>
            <a:pPr marL="144876" indent="-144876">
              <a:lnSpc>
                <a:spcPct val="85000"/>
              </a:lnSpc>
              <a:spcBef>
                <a:spcPct val="30000"/>
              </a:spcBef>
            </a:pPr>
            <a:endParaRPr lang="en-US" altLang="zh-CN" dirty="0">
              <a:ea typeface="宋体" panose="02010600030101010101" pitchFamily="2" charset="-122"/>
            </a:endParaRPr>
          </a:p>
          <a:p>
            <a:pPr marL="0" indent="0">
              <a:lnSpc>
                <a:spcPct val="85000"/>
              </a:lnSpc>
              <a:spcBef>
                <a:spcPct val="30000"/>
              </a:spcBef>
              <a:buNone/>
            </a:pPr>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7530" y="146199"/>
            <a:ext cx="4415040" cy="368993"/>
          </a:xfrm>
        </p:spPr>
        <p:txBody>
          <a:bodyPr>
            <a:normAutofit fontScale="90000"/>
          </a:bodyPr>
          <a:lstStyle/>
          <a:p>
            <a:pPr algn="ctr"/>
            <a:r>
              <a:rPr kumimoji="1" lang="zh-CN" altLang="en-US" sz="2398" dirty="0"/>
              <a:t>考试内容</a:t>
            </a:r>
          </a:p>
        </p:txBody>
      </p:sp>
      <p:sp>
        <p:nvSpPr>
          <p:cNvPr id="3" name="Rectangle 3">
            <a:extLst>
              <a:ext uri="{FF2B5EF4-FFF2-40B4-BE49-F238E27FC236}">
                <a16:creationId xmlns:a16="http://schemas.microsoft.com/office/drawing/2014/main" id="{B2032909-2524-B8C8-4369-244040117163}"/>
              </a:ext>
            </a:extLst>
          </p:cNvPr>
          <p:cNvSpPr txBox="1">
            <a:spLocks noChangeArrowheads="1"/>
          </p:cNvSpPr>
          <p:nvPr/>
        </p:nvSpPr>
        <p:spPr bwMode="auto">
          <a:xfrm>
            <a:off x="202492" y="542862"/>
            <a:ext cx="1814526" cy="27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a:lstStyle>
          <a:p>
            <a:pPr marL="0" indent="0">
              <a:lnSpc>
                <a:spcPct val="85000"/>
              </a:lnSpc>
              <a:spcBef>
                <a:spcPct val="30000"/>
              </a:spcBef>
              <a:buNone/>
            </a:pPr>
            <a:r>
              <a:rPr lang="zh-CN" altLang="en-US" b="1" dirty="0">
                <a:ea typeface="宋体" panose="02010600030101010101" pitchFamily="2" charset="-122"/>
              </a:rPr>
              <a:t>考试题型：</a:t>
            </a:r>
            <a:endParaRPr lang="en-US" altLang="zh-CN" b="1" dirty="0">
              <a:ea typeface="宋体" panose="02010600030101010101" pitchFamily="2" charset="-122"/>
            </a:endParaRPr>
          </a:p>
          <a:p>
            <a:pPr marL="144876" indent="-144876">
              <a:lnSpc>
                <a:spcPct val="85000"/>
              </a:lnSpc>
              <a:spcBef>
                <a:spcPct val="30000"/>
              </a:spcBef>
            </a:pPr>
            <a:r>
              <a:rPr lang="zh-CN" altLang="en-US" dirty="0">
                <a:ea typeface="宋体" panose="02010600030101010101" pitchFamily="2" charset="-122"/>
              </a:rPr>
              <a:t>选择题</a:t>
            </a:r>
            <a:r>
              <a:rPr lang="en-US" altLang="zh-CN" dirty="0">
                <a:ea typeface="宋体" panose="02010600030101010101" pitchFamily="2" charset="-122"/>
              </a:rPr>
              <a:t>10</a:t>
            </a:r>
            <a:r>
              <a:rPr lang="zh-CN" altLang="en-US" dirty="0">
                <a:ea typeface="宋体" panose="02010600030101010101" pitchFamily="2" charset="-122"/>
              </a:rPr>
              <a:t>*</a:t>
            </a:r>
            <a:r>
              <a:rPr lang="en-US" altLang="zh-CN" dirty="0">
                <a:ea typeface="宋体" panose="02010600030101010101" pitchFamily="2" charset="-122"/>
              </a:rPr>
              <a:t>2=20</a:t>
            </a:r>
            <a:r>
              <a:rPr lang="zh-CN" altLang="en-US" dirty="0">
                <a:ea typeface="宋体" panose="02010600030101010101" pitchFamily="2" charset="-122"/>
              </a:rPr>
              <a:t>分</a:t>
            </a:r>
            <a:endParaRPr lang="en-US" altLang="zh-CN" dirty="0">
              <a:ea typeface="宋体" panose="02010600030101010101" pitchFamily="2" charset="-122"/>
            </a:endParaRPr>
          </a:p>
          <a:p>
            <a:pPr marL="144876" indent="-144876">
              <a:lnSpc>
                <a:spcPct val="85000"/>
              </a:lnSpc>
              <a:spcBef>
                <a:spcPct val="30000"/>
              </a:spcBef>
            </a:pPr>
            <a:r>
              <a:rPr lang="zh-CN" altLang="en-US" dirty="0">
                <a:ea typeface="宋体" panose="02010600030101010101" pitchFamily="2" charset="-122"/>
              </a:rPr>
              <a:t>名词解释</a:t>
            </a:r>
            <a:r>
              <a:rPr lang="en-US" altLang="zh-CN" dirty="0">
                <a:ea typeface="宋体" panose="02010600030101010101" pitchFamily="2" charset="-122"/>
              </a:rPr>
              <a:t>5</a:t>
            </a:r>
            <a:r>
              <a:rPr lang="zh-CN" altLang="en-US" dirty="0">
                <a:ea typeface="宋体" panose="02010600030101010101" pitchFamily="2" charset="-122"/>
              </a:rPr>
              <a:t>*</a:t>
            </a:r>
            <a:r>
              <a:rPr lang="en-US" altLang="zh-CN" dirty="0">
                <a:ea typeface="宋体" panose="02010600030101010101" pitchFamily="2" charset="-122"/>
              </a:rPr>
              <a:t>2=10</a:t>
            </a:r>
            <a:r>
              <a:rPr lang="zh-CN" altLang="en-US" dirty="0">
                <a:ea typeface="宋体" panose="02010600030101010101" pitchFamily="2" charset="-122"/>
              </a:rPr>
              <a:t>分</a:t>
            </a:r>
            <a:endParaRPr lang="en-US" altLang="zh-CN" dirty="0">
              <a:ea typeface="宋体" panose="02010600030101010101" pitchFamily="2" charset="-122"/>
            </a:endParaRPr>
          </a:p>
          <a:p>
            <a:pPr marL="144876" indent="-144876">
              <a:lnSpc>
                <a:spcPct val="85000"/>
              </a:lnSpc>
              <a:spcBef>
                <a:spcPct val="30000"/>
              </a:spcBef>
            </a:pPr>
            <a:r>
              <a:rPr lang="zh-CN" altLang="en-US" dirty="0">
                <a:ea typeface="宋体" panose="02010600030101010101" pitchFamily="2" charset="-122"/>
              </a:rPr>
              <a:t>简答题</a:t>
            </a:r>
            <a:r>
              <a:rPr lang="en-US" altLang="zh-CN" dirty="0">
                <a:ea typeface="宋体" panose="02010600030101010101" pitchFamily="2" charset="-122"/>
              </a:rPr>
              <a:t>4</a:t>
            </a:r>
            <a:r>
              <a:rPr lang="zh-CN" altLang="en-US" dirty="0">
                <a:ea typeface="宋体" panose="02010600030101010101" pitchFamily="2" charset="-122"/>
              </a:rPr>
              <a:t>*</a:t>
            </a:r>
            <a:r>
              <a:rPr lang="en-US" altLang="zh-CN" dirty="0">
                <a:ea typeface="宋体" panose="02010600030101010101" pitchFamily="2" charset="-122"/>
              </a:rPr>
              <a:t>5=20</a:t>
            </a:r>
            <a:r>
              <a:rPr lang="zh-CN" altLang="en-US" dirty="0">
                <a:ea typeface="宋体" panose="02010600030101010101" pitchFamily="2" charset="-122"/>
              </a:rPr>
              <a:t>分</a:t>
            </a:r>
            <a:endParaRPr lang="en-US" altLang="zh-CN" dirty="0">
              <a:ea typeface="宋体" panose="02010600030101010101" pitchFamily="2" charset="-122"/>
            </a:endParaRPr>
          </a:p>
          <a:p>
            <a:pPr marL="144876" indent="-144876">
              <a:lnSpc>
                <a:spcPct val="85000"/>
              </a:lnSpc>
              <a:spcBef>
                <a:spcPct val="30000"/>
              </a:spcBef>
            </a:pPr>
            <a:r>
              <a:rPr lang="zh-CN" altLang="en-US" dirty="0">
                <a:ea typeface="宋体" panose="02010600030101010101" pitchFamily="2" charset="-122"/>
              </a:rPr>
              <a:t>分析题</a:t>
            </a:r>
            <a:r>
              <a:rPr lang="en-US" altLang="zh-CN" dirty="0">
                <a:ea typeface="宋体" panose="02010600030101010101" pitchFamily="2" charset="-122"/>
              </a:rPr>
              <a:t>1</a:t>
            </a:r>
            <a:r>
              <a:rPr lang="zh-CN" altLang="en-US" dirty="0">
                <a:ea typeface="宋体" panose="02010600030101010101" pitchFamily="2" charset="-122"/>
              </a:rPr>
              <a:t>*</a:t>
            </a:r>
            <a:r>
              <a:rPr lang="en-US" altLang="zh-CN" dirty="0">
                <a:ea typeface="宋体" panose="02010600030101010101" pitchFamily="2" charset="-122"/>
              </a:rPr>
              <a:t>10=10</a:t>
            </a:r>
            <a:r>
              <a:rPr lang="zh-CN" altLang="en-US" dirty="0">
                <a:ea typeface="宋体" panose="02010600030101010101" pitchFamily="2" charset="-122"/>
              </a:rPr>
              <a:t>分</a:t>
            </a:r>
            <a:endParaRPr lang="en-US" altLang="zh-CN" dirty="0">
              <a:ea typeface="宋体" panose="02010600030101010101" pitchFamily="2" charset="-122"/>
            </a:endParaRPr>
          </a:p>
          <a:p>
            <a:pPr marL="144876" indent="-144876">
              <a:lnSpc>
                <a:spcPct val="85000"/>
              </a:lnSpc>
              <a:spcBef>
                <a:spcPct val="30000"/>
              </a:spcBef>
            </a:pPr>
            <a:r>
              <a:rPr lang="zh-CN" altLang="en-US" dirty="0">
                <a:ea typeface="宋体" panose="02010600030101010101" pitchFamily="2" charset="-122"/>
              </a:rPr>
              <a:t>计算题</a:t>
            </a:r>
            <a:r>
              <a:rPr lang="en-US" altLang="zh-CN" dirty="0">
                <a:ea typeface="宋体" panose="02010600030101010101" pitchFamily="2" charset="-122"/>
              </a:rPr>
              <a:t>2</a:t>
            </a:r>
            <a:r>
              <a:rPr lang="zh-CN" altLang="en-US" dirty="0">
                <a:ea typeface="宋体" panose="02010600030101010101" pitchFamily="2" charset="-122"/>
              </a:rPr>
              <a:t>*</a:t>
            </a:r>
            <a:r>
              <a:rPr lang="en-US" altLang="zh-CN" dirty="0">
                <a:ea typeface="宋体" panose="02010600030101010101" pitchFamily="2" charset="-122"/>
              </a:rPr>
              <a:t>20=40</a:t>
            </a:r>
          </a:p>
          <a:p>
            <a:pPr marL="144876" indent="-144876">
              <a:lnSpc>
                <a:spcPct val="85000"/>
              </a:lnSpc>
              <a:spcBef>
                <a:spcPct val="30000"/>
              </a:spcBef>
            </a:pPr>
            <a:endParaRPr lang="en-US" altLang="zh-CN" dirty="0">
              <a:ea typeface="宋体" panose="02010600030101010101" pitchFamily="2" charset="-122"/>
            </a:endParaRPr>
          </a:p>
          <a:p>
            <a:pPr marL="0" indent="0">
              <a:lnSpc>
                <a:spcPct val="85000"/>
              </a:lnSpc>
              <a:spcBef>
                <a:spcPct val="30000"/>
              </a:spcBef>
              <a:buNone/>
            </a:pPr>
            <a:endParaRPr lang="en-US" altLang="zh-CN" dirty="0">
              <a:ea typeface="宋体" panose="02010600030101010101" pitchFamily="2" charset="-122"/>
            </a:endParaRPr>
          </a:p>
        </p:txBody>
      </p:sp>
    </p:spTree>
    <p:extLst>
      <p:ext uri="{BB962C8B-B14F-4D97-AF65-F5344CB8AC3E}">
        <p14:creationId xmlns:p14="http://schemas.microsoft.com/office/powerpoint/2010/main" val="1002306376"/>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Office 主题​​</Template>
  <TotalTime>24708</TotalTime>
  <Words>9627</Words>
  <Application>Microsoft Office PowerPoint</Application>
  <PresentationFormat>自定义</PresentationFormat>
  <Paragraphs>1084</Paragraphs>
  <Slides>88</Slides>
  <Notes>31</Notes>
  <HiddenSlides>0</HiddenSlides>
  <MMClips>0</MMClips>
  <ScaleCrop>false</ScaleCrop>
  <HeadingPairs>
    <vt:vector size="8" baseType="variant">
      <vt:variant>
        <vt:lpstr>已用的字体</vt:lpstr>
      </vt:variant>
      <vt:variant>
        <vt:i4>17</vt:i4>
      </vt:variant>
      <vt:variant>
        <vt:lpstr>主题</vt:lpstr>
      </vt:variant>
      <vt:variant>
        <vt:i4>8</vt:i4>
      </vt:variant>
      <vt:variant>
        <vt:lpstr>嵌入 OLE 服务器</vt:lpstr>
      </vt:variant>
      <vt:variant>
        <vt:i4>2</vt:i4>
      </vt:variant>
      <vt:variant>
        <vt:lpstr>幻灯片标题</vt:lpstr>
      </vt:variant>
      <vt:variant>
        <vt:i4>88</vt:i4>
      </vt:variant>
    </vt:vector>
  </HeadingPairs>
  <TitlesOfParts>
    <vt:vector size="115" baseType="lpstr">
      <vt:lpstr>PingFang SC</vt:lpstr>
      <vt:lpstr>DengXian</vt:lpstr>
      <vt:lpstr>DengXian</vt:lpstr>
      <vt:lpstr>SimHei</vt:lpstr>
      <vt:lpstr>KaiTi</vt:lpstr>
      <vt:lpstr>KaiTi</vt:lpstr>
      <vt:lpstr>宋体</vt:lpstr>
      <vt:lpstr>宋体</vt:lpstr>
      <vt:lpstr>Microsoft YaHei</vt:lpstr>
      <vt:lpstr>Arial</vt:lpstr>
      <vt:lpstr>Book Antiqua</vt:lpstr>
      <vt:lpstr>Calibri</vt:lpstr>
      <vt:lpstr>Cambria Math</vt:lpstr>
      <vt:lpstr>Garamond</vt:lpstr>
      <vt:lpstr>Tahoma</vt:lpstr>
      <vt:lpstr>Times New Roman</vt:lpstr>
      <vt:lpstr>Wingdings</vt:lpstr>
      <vt:lpstr>Custom Design</vt:lpstr>
      <vt:lpstr>1_Custom Design</vt:lpstr>
      <vt:lpstr>2_Custom Design</vt:lpstr>
      <vt:lpstr>3_Custom Design</vt:lpstr>
      <vt:lpstr>4_Custom Design</vt:lpstr>
      <vt:lpstr>5_Custom Design</vt:lpstr>
      <vt:lpstr>6_Custom Design</vt:lpstr>
      <vt:lpstr>7_Custom Design</vt:lpstr>
      <vt:lpstr>Slide</vt:lpstr>
      <vt:lpstr>Microsoft Graph Chart</vt:lpstr>
      <vt:lpstr>宏观经济学</vt:lpstr>
      <vt:lpstr>PowerPoint 演示文稿</vt:lpstr>
      <vt:lpstr>本章假设</vt:lpstr>
      <vt:lpstr>从IS-LM模型到AS- AD模型</vt:lpstr>
      <vt:lpstr>PowerPoint 演示文稿</vt:lpstr>
      <vt:lpstr>总需求曲线 aggregate demand curve</vt:lpstr>
      <vt:lpstr>总需求曲线的含义</vt:lpstr>
      <vt:lpstr>AD曲线的推导：从IS-LM模型</vt:lpstr>
      <vt:lpstr>总需求曲线的推导</vt:lpstr>
      <vt:lpstr>主动学习   1       总需求函数</vt:lpstr>
      <vt:lpstr>主动学习   1       总需求函数</vt:lpstr>
      <vt:lpstr>为什么总需求曲线向右下方倾斜</vt:lpstr>
      <vt:lpstr>总需求曲线的移动</vt:lpstr>
      <vt:lpstr>影响总需求曲线移动的宏观经济政策</vt:lpstr>
      <vt:lpstr>财政政策与AD曲线的移动</vt:lpstr>
      <vt:lpstr>总需求曲线的移动</vt:lpstr>
      <vt:lpstr>主动学习   2       总需求函数</vt:lpstr>
      <vt:lpstr>主动学习   2       总需求函数：参考答案</vt:lpstr>
      <vt:lpstr>PowerPoint 演示文稿</vt:lpstr>
      <vt:lpstr>本节概要</vt:lpstr>
      <vt:lpstr>总供给曲线aggregate supply curve</vt:lpstr>
      <vt:lpstr>宏观经济学中的时间维度 </vt:lpstr>
      <vt:lpstr>价格能否调整对宏观经济至关重要 </vt:lpstr>
      <vt:lpstr>价格调整的实际情况</vt:lpstr>
      <vt:lpstr>AS-AD模型与IS- LM曲线</vt:lpstr>
      <vt:lpstr>长期总供给曲线（古典）</vt:lpstr>
      <vt:lpstr>古典总供给曲线</vt:lpstr>
      <vt:lpstr>长期总供给曲线的含义</vt:lpstr>
      <vt:lpstr>长期总供给曲线的分析</vt:lpstr>
      <vt:lpstr>短期总供给曲线</vt:lpstr>
      <vt:lpstr>短期总供给曲线</vt:lpstr>
      <vt:lpstr>凯恩斯总供给曲线</vt:lpstr>
      <vt:lpstr>为什么凯恩斯总供给曲线具有水平的形状？</vt:lpstr>
      <vt:lpstr>凯恩斯总供给曲线</vt:lpstr>
      <vt:lpstr>常规总供给曲线的形状</vt:lpstr>
      <vt:lpstr>为什么短期总供给曲线向右上方倾斜？</vt:lpstr>
      <vt:lpstr>短期总供给曲线向右上方倾斜的三种理论解释</vt:lpstr>
      <vt:lpstr>1. 粘性工资理论</vt:lpstr>
      <vt:lpstr>1. 黏性工资理论</vt:lpstr>
      <vt:lpstr>2. 粘性价格理论</vt:lpstr>
      <vt:lpstr>2. 粘性价格理论</vt:lpstr>
      <vt:lpstr>3. 错觉理论</vt:lpstr>
      <vt:lpstr>三种理论的共同点</vt:lpstr>
      <vt:lpstr>三种理论的共同点</vt:lpstr>
      <vt:lpstr>短期总供给曲线与长期总供给曲线</vt:lpstr>
      <vt:lpstr>短期总供给曲线与长期总供给曲线</vt:lpstr>
      <vt:lpstr>PowerPoint 演示文稿</vt:lpstr>
      <vt:lpstr>总供给的决定因素</vt:lpstr>
      <vt:lpstr>总供给的决定因素</vt:lpstr>
      <vt:lpstr>总供给函数</vt:lpstr>
      <vt:lpstr>总供给函数</vt:lpstr>
      <vt:lpstr>总供给函数</vt:lpstr>
      <vt:lpstr>长期与短期总供给函数</vt:lpstr>
      <vt:lpstr>短期总供给函数</vt:lpstr>
      <vt:lpstr>劳动市场 经济中的就业是如何决定的？</vt:lpstr>
      <vt:lpstr>劳动市场</vt:lpstr>
      <vt:lpstr>劳动市场</vt:lpstr>
      <vt:lpstr>劳动市场</vt:lpstr>
      <vt:lpstr>劳动需求曲线与劳动供给曲线</vt:lpstr>
      <vt:lpstr>劳动市场的均衡</vt:lpstr>
      <vt:lpstr>劳动市场的工资决定理论</vt:lpstr>
      <vt:lpstr>劳动市场的工资决定理论</vt:lpstr>
      <vt:lpstr>劳动市场的两点说明</vt:lpstr>
      <vt:lpstr>长期和短期在国民收入决定中的特殊含义</vt:lpstr>
      <vt:lpstr>PowerPoint 演示文稿</vt:lpstr>
      <vt:lpstr>经济波动</vt:lpstr>
      <vt:lpstr>总需求移动的影响</vt:lpstr>
      <vt:lpstr>总需求两次重大的移动：   1. 大萧条</vt:lpstr>
      <vt:lpstr>总需求两次重大的移动：  2. 第二次世界大战</vt:lpstr>
      <vt:lpstr>为什么短期总供给曲线会移动</vt:lpstr>
      <vt:lpstr>经济长期均衡与短期均衡的动态分析</vt:lpstr>
      <vt:lpstr>主动学习  3    模型的应用</vt:lpstr>
      <vt:lpstr>主动学习  3    参考答案</vt:lpstr>
      <vt:lpstr>短期总供给移动的影响</vt:lpstr>
      <vt:lpstr>总供给曲线的不利移动</vt:lpstr>
      <vt:lpstr>抵消短期总供给的不利移动</vt:lpstr>
      <vt:lpstr>20世纪70年代的石油冲击及其影响</vt:lpstr>
      <vt:lpstr>总供给曲线的移动</vt:lpstr>
      <vt:lpstr>约翰.梅纳德.凯恩斯 1883-1946</vt:lpstr>
      <vt:lpstr>主动学习   4      总需求-总供给</vt:lpstr>
      <vt:lpstr>参考答案   4     总需求-总供给</vt:lpstr>
      <vt:lpstr>参考答案   4      总需求-总供给</vt:lpstr>
      <vt:lpstr>宏观经济的短期目标</vt:lpstr>
      <vt:lpstr>总需求曲线移动的后果</vt:lpstr>
      <vt:lpstr>总供给曲线移动的后果</vt:lpstr>
      <vt:lpstr>AS-AD模型的政策含义</vt:lpstr>
      <vt:lpstr>Thanks!</vt:lpstr>
      <vt:lpstr>考试内容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Leo</cp:lastModifiedBy>
  <cp:revision>2540</cp:revision>
  <dcterms:created xsi:type="dcterms:W3CDTF">2022-08-17T03:42:51Z</dcterms:created>
  <dcterms:modified xsi:type="dcterms:W3CDTF">2026-05-25T14:47:44Z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2014-11-25T00:00:00Z</vt:filetime>
  </property>
  <property fmtid="{D5CDD505-2E9C-101B-9397-08002B2CF9AE}" pid="3" name="Creator">
    <vt:lpwstr>LaTeX with Beamer class version 3.33</vt:lpwstr>
  </property>
  <property fmtid="{D5CDD505-2E9C-101B-9397-08002B2CF9AE}" pid="4" name="LastSaved">
    <vt:filetime>2018-11-23T00:00:00Z</vt:filetime>
  </property>
</Properties>
</file>