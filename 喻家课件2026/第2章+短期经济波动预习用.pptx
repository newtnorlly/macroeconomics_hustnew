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7.xml" ContentType="application/vnd.openxmlformats-officedocument.theme+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8.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1"/>
    <p:sldMasterId id="2147483681" r:id="rId2"/>
    <p:sldMasterId id="2147483705" r:id="rId3"/>
    <p:sldMasterId id="2147483717" r:id="rId4"/>
    <p:sldMasterId id="2147483731" r:id="rId5"/>
    <p:sldMasterId id="2147483757" r:id="rId6"/>
    <p:sldMasterId id="2147483769" r:id="rId7"/>
    <p:sldMasterId id="2147483794" r:id="rId8"/>
    <p:sldMasterId id="2147483806" r:id="rId9"/>
  </p:sldMasterIdLst>
  <p:notesMasterIdLst>
    <p:notesMasterId r:id="rId103"/>
  </p:notesMasterIdLst>
  <p:sldIdLst>
    <p:sldId id="1097" r:id="rId10"/>
    <p:sldId id="962" r:id="rId11"/>
    <p:sldId id="1204" r:id="rId12"/>
    <p:sldId id="1290" r:id="rId13"/>
    <p:sldId id="1201" r:id="rId14"/>
    <p:sldId id="278" r:id="rId15"/>
    <p:sldId id="1190" r:id="rId16"/>
    <p:sldId id="1191" r:id="rId17"/>
    <p:sldId id="1192" r:id="rId18"/>
    <p:sldId id="1193" r:id="rId19"/>
    <p:sldId id="1194" r:id="rId20"/>
    <p:sldId id="1195" r:id="rId21"/>
    <p:sldId id="1118" r:id="rId22"/>
    <p:sldId id="1196" r:id="rId23"/>
    <p:sldId id="1121" r:id="rId24"/>
    <p:sldId id="448" r:id="rId25"/>
    <p:sldId id="1197" r:id="rId26"/>
    <p:sldId id="1198" r:id="rId27"/>
    <p:sldId id="1199" r:id="rId28"/>
    <p:sldId id="1200" r:id="rId29"/>
    <p:sldId id="340" r:id="rId30"/>
    <p:sldId id="1205" r:id="rId31"/>
    <p:sldId id="1219" r:id="rId32"/>
    <p:sldId id="1221" r:id="rId33"/>
    <p:sldId id="1220" r:id="rId34"/>
    <p:sldId id="1222" r:id="rId35"/>
    <p:sldId id="1223" r:id="rId36"/>
    <p:sldId id="1224" r:id="rId37"/>
    <p:sldId id="1206" r:id="rId38"/>
    <p:sldId id="1207" r:id="rId39"/>
    <p:sldId id="1208" r:id="rId40"/>
    <p:sldId id="1211" r:id="rId41"/>
    <p:sldId id="1212" r:id="rId42"/>
    <p:sldId id="1216" r:id="rId43"/>
    <p:sldId id="1246" r:id="rId44"/>
    <p:sldId id="1247" r:id="rId45"/>
    <p:sldId id="1248" r:id="rId46"/>
    <p:sldId id="1227" r:id="rId47"/>
    <p:sldId id="1143" r:id="rId48"/>
    <p:sldId id="1225" r:id="rId49"/>
    <p:sldId id="1239" r:id="rId50"/>
    <p:sldId id="1228" r:id="rId51"/>
    <p:sldId id="1149" r:id="rId52"/>
    <p:sldId id="1249" r:id="rId53"/>
    <p:sldId id="1251" r:id="rId54"/>
    <p:sldId id="1150" r:id="rId55"/>
    <p:sldId id="1252" r:id="rId56"/>
    <p:sldId id="1250" r:id="rId57"/>
    <p:sldId id="1254" r:id="rId58"/>
    <p:sldId id="1255" r:id="rId59"/>
    <p:sldId id="1256" r:id="rId60"/>
    <p:sldId id="1229" r:id="rId61"/>
    <p:sldId id="1257" r:id="rId62"/>
    <p:sldId id="1258" r:id="rId63"/>
    <p:sldId id="1293" r:id="rId64"/>
    <p:sldId id="1262" r:id="rId65"/>
    <p:sldId id="1261" r:id="rId66"/>
    <p:sldId id="1260" r:id="rId67"/>
    <p:sldId id="1263" r:id="rId68"/>
    <p:sldId id="491" r:id="rId69"/>
    <p:sldId id="1302" r:id="rId70"/>
    <p:sldId id="1303" r:id="rId71"/>
    <p:sldId id="483" r:id="rId72"/>
    <p:sldId id="484" r:id="rId73"/>
    <p:sldId id="492" r:id="rId74"/>
    <p:sldId id="335" r:id="rId75"/>
    <p:sldId id="493" r:id="rId76"/>
    <p:sldId id="495" r:id="rId77"/>
    <p:sldId id="485" r:id="rId78"/>
    <p:sldId id="486" r:id="rId79"/>
    <p:sldId id="487" r:id="rId80"/>
    <p:sldId id="488" r:id="rId81"/>
    <p:sldId id="496" r:id="rId82"/>
    <p:sldId id="1292" r:id="rId83"/>
    <p:sldId id="1170" r:id="rId84"/>
    <p:sldId id="1171" r:id="rId85"/>
    <p:sldId id="1172" r:id="rId86"/>
    <p:sldId id="1173" r:id="rId87"/>
    <p:sldId id="1304" r:id="rId88"/>
    <p:sldId id="1175" r:id="rId89"/>
    <p:sldId id="1176" r:id="rId90"/>
    <p:sldId id="1178" r:id="rId91"/>
    <p:sldId id="1179" r:id="rId92"/>
    <p:sldId id="1306" r:id="rId93"/>
    <p:sldId id="1181" r:id="rId94"/>
    <p:sldId id="1182" r:id="rId95"/>
    <p:sldId id="1295" r:id="rId96"/>
    <p:sldId id="1184" r:id="rId97"/>
    <p:sldId id="1305" r:id="rId98"/>
    <p:sldId id="1185" r:id="rId99"/>
    <p:sldId id="1298" r:id="rId100"/>
    <p:sldId id="1300" r:id="rId101"/>
    <p:sldId id="367" r:id="rId102"/>
  </p:sldIdLst>
  <p:sldSz cx="4610100" cy="3460750"/>
  <p:notesSz cx="4610100" cy="346075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FB591DDA-E7B4-E04D-B3E3-4101BC46824A}">
          <p14:sldIdLst>
            <p14:sldId id="1097"/>
            <p14:sldId id="962"/>
            <p14:sldId id="1204"/>
          </p14:sldIdLst>
        </p14:section>
        <p14:section name="经济循环" id="{4136150C-581C-EF40-81FA-CC69820A71C9}">
          <p14:sldIdLst>
            <p14:sldId id="1290"/>
            <p14:sldId id="1201"/>
            <p14:sldId id="278"/>
            <p14:sldId id="1190"/>
            <p14:sldId id="1191"/>
            <p14:sldId id="1192"/>
            <p14:sldId id="1193"/>
            <p14:sldId id="1194"/>
            <p14:sldId id="1195"/>
            <p14:sldId id="1118"/>
            <p14:sldId id="1196"/>
            <p14:sldId id="1121"/>
            <p14:sldId id="448"/>
            <p14:sldId id="1197"/>
            <p14:sldId id="1198"/>
            <p14:sldId id="1199"/>
            <p14:sldId id="1200"/>
            <p14:sldId id="340"/>
          </p14:sldIdLst>
        </p14:section>
        <p14:section name="均衡产出的条件" id="{E6249817-2F0E-46AA-B52A-2E0B9167087C}">
          <p14:sldIdLst>
            <p14:sldId id="1205"/>
            <p14:sldId id="1219"/>
            <p14:sldId id="1221"/>
            <p14:sldId id="1220"/>
            <p14:sldId id="1222"/>
            <p14:sldId id="1223"/>
            <p14:sldId id="1224"/>
            <p14:sldId id="1206"/>
            <p14:sldId id="1207"/>
            <p14:sldId id="1208"/>
            <p14:sldId id="1211"/>
            <p14:sldId id="1212"/>
            <p14:sldId id="1216"/>
          </p14:sldIdLst>
        </p14:section>
        <p14:section name="消费函数" id="{122C411D-D009-8E44-AEB5-4CABCCB03C88}">
          <p14:sldIdLst>
            <p14:sldId id="1246"/>
            <p14:sldId id="1247"/>
            <p14:sldId id="1248"/>
            <p14:sldId id="1227"/>
            <p14:sldId id="1143"/>
            <p14:sldId id="1225"/>
            <p14:sldId id="1239"/>
            <p14:sldId id="1228"/>
            <p14:sldId id="1149"/>
            <p14:sldId id="1249"/>
            <p14:sldId id="1251"/>
            <p14:sldId id="1150"/>
            <p14:sldId id="1252"/>
            <p14:sldId id="1250"/>
            <p14:sldId id="1254"/>
            <p14:sldId id="1255"/>
            <p14:sldId id="1256"/>
          </p14:sldIdLst>
        </p14:section>
        <p14:section name="凯恩斯交叉" id="{A0772F44-2E93-F049-92EC-330148DF7BB5}">
          <p14:sldIdLst>
            <p14:sldId id="1229"/>
            <p14:sldId id="1257"/>
            <p14:sldId id="1258"/>
            <p14:sldId id="1293"/>
            <p14:sldId id="1262"/>
            <p14:sldId id="1261"/>
            <p14:sldId id="1260"/>
          </p14:sldIdLst>
        </p14:section>
        <p14:section name="投资需求" id="{FC246493-8ECD-6E49-8ED3-C86EC7725904}">
          <p14:sldIdLst>
            <p14:sldId id="1263"/>
            <p14:sldId id="491"/>
            <p14:sldId id="1302"/>
            <p14:sldId id="1303"/>
            <p14:sldId id="483"/>
            <p14:sldId id="484"/>
            <p14:sldId id="492"/>
            <p14:sldId id="335"/>
            <p14:sldId id="493"/>
            <p14:sldId id="495"/>
            <p14:sldId id="485"/>
            <p14:sldId id="486"/>
            <p14:sldId id="487"/>
            <p14:sldId id="488"/>
            <p14:sldId id="496"/>
          </p14:sldIdLst>
        </p14:section>
        <p14:section name="乘数论" id="{500FB684-5CD4-854E-BFCF-1845B8C39135}">
          <p14:sldIdLst>
            <p14:sldId id="1292"/>
            <p14:sldId id="1170"/>
            <p14:sldId id="1171"/>
            <p14:sldId id="1172"/>
            <p14:sldId id="1173"/>
            <p14:sldId id="1304"/>
            <p14:sldId id="1175"/>
            <p14:sldId id="1176"/>
            <p14:sldId id="1178"/>
            <p14:sldId id="1179"/>
            <p14:sldId id="1306"/>
            <p14:sldId id="1181"/>
            <p14:sldId id="1182"/>
            <p14:sldId id="1295"/>
            <p14:sldId id="1184"/>
            <p14:sldId id="1305"/>
            <p14:sldId id="1185"/>
            <p14:sldId id="1298"/>
            <p14:sldId id="1300"/>
            <p14:sldId id="367"/>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DDB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1387"/>
    <p:restoredTop sz="95659"/>
  </p:normalViewPr>
  <p:slideViewPr>
    <p:cSldViewPr>
      <p:cViewPr varScale="1">
        <p:scale>
          <a:sx n="238" d="100"/>
          <a:sy n="238" d="100"/>
        </p:scale>
        <p:origin x="688" y="184"/>
      </p:cViewPr>
      <p:guideLst>
        <p:guide orient="horz" pos="2880"/>
        <p:guide pos="2160"/>
      </p:guideLst>
    </p:cSldViewPr>
  </p:slideViewPr>
  <p:notesTextViewPr>
    <p:cViewPr>
      <p:scale>
        <a:sx n="100" d="100"/>
        <a:sy n="100" d="100"/>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7.xml"/><Relationship Id="rId21" Type="http://schemas.openxmlformats.org/officeDocument/2006/relationships/slide" Target="slides/slide12.xml"/><Relationship Id="rId42" Type="http://schemas.openxmlformats.org/officeDocument/2006/relationships/slide" Target="slides/slide33.xml"/><Relationship Id="rId47" Type="http://schemas.openxmlformats.org/officeDocument/2006/relationships/slide" Target="slides/slide38.xml"/><Relationship Id="rId63" Type="http://schemas.openxmlformats.org/officeDocument/2006/relationships/slide" Target="slides/slide54.xml"/><Relationship Id="rId68" Type="http://schemas.openxmlformats.org/officeDocument/2006/relationships/slide" Target="slides/slide59.xml"/><Relationship Id="rId84" Type="http://schemas.openxmlformats.org/officeDocument/2006/relationships/slide" Target="slides/slide75.xml"/><Relationship Id="rId89" Type="http://schemas.openxmlformats.org/officeDocument/2006/relationships/slide" Target="slides/slide80.xml"/><Relationship Id="rId16" Type="http://schemas.openxmlformats.org/officeDocument/2006/relationships/slide" Target="slides/slide7.xml"/><Relationship Id="rId107" Type="http://schemas.openxmlformats.org/officeDocument/2006/relationships/tableStyles" Target="tableStyles.xml"/><Relationship Id="rId11" Type="http://schemas.openxmlformats.org/officeDocument/2006/relationships/slide" Target="slides/slide2.xml"/><Relationship Id="rId32" Type="http://schemas.openxmlformats.org/officeDocument/2006/relationships/slide" Target="slides/slide23.xml"/><Relationship Id="rId37" Type="http://schemas.openxmlformats.org/officeDocument/2006/relationships/slide" Target="slides/slide28.xml"/><Relationship Id="rId53" Type="http://schemas.openxmlformats.org/officeDocument/2006/relationships/slide" Target="slides/slide44.xml"/><Relationship Id="rId58" Type="http://schemas.openxmlformats.org/officeDocument/2006/relationships/slide" Target="slides/slide49.xml"/><Relationship Id="rId74" Type="http://schemas.openxmlformats.org/officeDocument/2006/relationships/slide" Target="slides/slide65.xml"/><Relationship Id="rId79" Type="http://schemas.openxmlformats.org/officeDocument/2006/relationships/slide" Target="slides/slide70.xml"/><Relationship Id="rId102" Type="http://schemas.openxmlformats.org/officeDocument/2006/relationships/slide" Target="slides/slide93.xml"/><Relationship Id="rId5" Type="http://schemas.openxmlformats.org/officeDocument/2006/relationships/slideMaster" Target="slideMasters/slideMaster5.xml"/><Relationship Id="rId90" Type="http://schemas.openxmlformats.org/officeDocument/2006/relationships/slide" Target="slides/slide81.xml"/><Relationship Id="rId95" Type="http://schemas.openxmlformats.org/officeDocument/2006/relationships/slide" Target="slides/slide86.xml"/><Relationship Id="rId22" Type="http://schemas.openxmlformats.org/officeDocument/2006/relationships/slide" Target="slides/slide13.xml"/><Relationship Id="rId27" Type="http://schemas.openxmlformats.org/officeDocument/2006/relationships/slide" Target="slides/slide18.xml"/><Relationship Id="rId43" Type="http://schemas.openxmlformats.org/officeDocument/2006/relationships/slide" Target="slides/slide34.xml"/><Relationship Id="rId48" Type="http://schemas.openxmlformats.org/officeDocument/2006/relationships/slide" Target="slides/slide39.xml"/><Relationship Id="rId64" Type="http://schemas.openxmlformats.org/officeDocument/2006/relationships/slide" Target="slides/slide55.xml"/><Relationship Id="rId69" Type="http://schemas.openxmlformats.org/officeDocument/2006/relationships/slide" Target="slides/slide60.xml"/><Relationship Id="rId80" Type="http://schemas.openxmlformats.org/officeDocument/2006/relationships/slide" Target="slides/slide71.xml"/><Relationship Id="rId85" Type="http://schemas.openxmlformats.org/officeDocument/2006/relationships/slide" Target="slides/slide76.xml"/><Relationship Id="rId12" Type="http://schemas.openxmlformats.org/officeDocument/2006/relationships/slide" Target="slides/slide3.xml"/><Relationship Id="rId17" Type="http://schemas.openxmlformats.org/officeDocument/2006/relationships/slide" Target="slides/slide8.xml"/><Relationship Id="rId33" Type="http://schemas.openxmlformats.org/officeDocument/2006/relationships/slide" Target="slides/slide24.xml"/><Relationship Id="rId38" Type="http://schemas.openxmlformats.org/officeDocument/2006/relationships/slide" Target="slides/slide29.xml"/><Relationship Id="rId59" Type="http://schemas.openxmlformats.org/officeDocument/2006/relationships/slide" Target="slides/slide50.xml"/><Relationship Id="rId103" Type="http://schemas.openxmlformats.org/officeDocument/2006/relationships/notesMaster" Target="notesMasters/notesMaster1.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slide" Target="slides/slide45.xml"/><Relationship Id="rId62" Type="http://schemas.openxmlformats.org/officeDocument/2006/relationships/slide" Target="slides/slide53.xml"/><Relationship Id="rId70" Type="http://schemas.openxmlformats.org/officeDocument/2006/relationships/slide" Target="slides/slide61.xml"/><Relationship Id="rId75" Type="http://schemas.openxmlformats.org/officeDocument/2006/relationships/slide" Target="slides/slide66.xml"/><Relationship Id="rId83" Type="http://schemas.openxmlformats.org/officeDocument/2006/relationships/slide" Target="slides/slide74.xml"/><Relationship Id="rId88" Type="http://schemas.openxmlformats.org/officeDocument/2006/relationships/slide" Target="slides/slide79.xml"/><Relationship Id="rId91" Type="http://schemas.openxmlformats.org/officeDocument/2006/relationships/slide" Target="slides/slide82.xml"/><Relationship Id="rId96" Type="http://schemas.openxmlformats.org/officeDocument/2006/relationships/slide" Target="slides/slide87.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slide" Target="slides/slide48.xml"/><Relationship Id="rId106" Type="http://schemas.openxmlformats.org/officeDocument/2006/relationships/theme" Target="theme/theme1.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slide" Target="slides/slide51.xml"/><Relationship Id="rId65" Type="http://schemas.openxmlformats.org/officeDocument/2006/relationships/slide" Target="slides/slide56.xml"/><Relationship Id="rId73" Type="http://schemas.openxmlformats.org/officeDocument/2006/relationships/slide" Target="slides/slide64.xml"/><Relationship Id="rId78" Type="http://schemas.openxmlformats.org/officeDocument/2006/relationships/slide" Target="slides/slide69.xml"/><Relationship Id="rId81" Type="http://schemas.openxmlformats.org/officeDocument/2006/relationships/slide" Target="slides/slide72.xml"/><Relationship Id="rId86" Type="http://schemas.openxmlformats.org/officeDocument/2006/relationships/slide" Target="slides/slide77.xml"/><Relationship Id="rId94" Type="http://schemas.openxmlformats.org/officeDocument/2006/relationships/slide" Target="slides/slide85.xml"/><Relationship Id="rId99" Type="http://schemas.openxmlformats.org/officeDocument/2006/relationships/slide" Target="slides/slide90.xml"/><Relationship Id="rId101" Type="http://schemas.openxmlformats.org/officeDocument/2006/relationships/slide" Target="slides/slide92.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 Target="slides/slide4.xml"/><Relationship Id="rId18" Type="http://schemas.openxmlformats.org/officeDocument/2006/relationships/slide" Target="slides/slide9.xml"/><Relationship Id="rId39" Type="http://schemas.openxmlformats.org/officeDocument/2006/relationships/slide" Target="slides/slide30.xml"/><Relationship Id="rId34" Type="http://schemas.openxmlformats.org/officeDocument/2006/relationships/slide" Target="slides/slide25.xml"/><Relationship Id="rId50" Type="http://schemas.openxmlformats.org/officeDocument/2006/relationships/slide" Target="slides/slide41.xml"/><Relationship Id="rId55" Type="http://schemas.openxmlformats.org/officeDocument/2006/relationships/slide" Target="slides/slide46.xml"/><Relationship Id="rId76" Type="http://schemas.openxmlformats.org/officeDocument/2006/relationships/slide" Target="slides/slide67.xml"/><Relationship Id="rId97" Type="http://schemas.openxmlformats.org/officeDocument/2006/relationships/slide" Target="slides/slide88.xml"/><Relationship Id="rId104" Type="http://schemas.openxmlformats.org/officeDocument/2006/relationships/presProps" Target="presProps.xml"/><Relationship Id="rId7" Type="http://schemas.openxmlformats.org/officeDocument/2006/relationships/slideMaster" Target="slideMasters/slideMaster7.xml"/><Relationship Id="rId71" Type="http://schemas.openxmlformats.org/officeDocument/2006/relationships/slide" Target="slides/slide62.xml"/><Relationship Id="rId92" Type="http://schemas.openxmlformats.org/officeDocument/2006/relationships/slide" Target="slides/slide83.xml"/><Relationship Id="rId2" Type="http://schemas.openxmlformats.org/officeDocument/2006/relationships/slideMaster" Target="slideMasters/slideMaster2.xml"/><Relationship Id="rId29" Type="http://schemas.openxmlformats.org/officeDocument/2006/relationships/slide" Target="slides/slide20.xml"/><Relationship Id="rId24" Type="http://schemas.openxmlformats.org/officeDocument/2006/relationships/slide" Target="slides/slide15.xml"/><Relationship Id="rId40" Type="http://schemas.openxmlformats.org/officeDocument/2006/relationships/slide" Target="slides/slide31.xml"/><Relationship Id="rId45" Type="http://schemas.openxmlformats.org/officeDocument/2006/relationships/slide" Target="slides/slide36.xml"/><Relationship Id="rId66" Type="http://schemas.openxmlformats.org/officeDocument/2006/relationships/slide" Target="slides/slide57.xml"/><Relationship Id="rId87" Type="http://schemas.openxmlformats.org/officeDocument/2006/relationships/slide" Target="slides/slide78.xml"/><Relationship Id="rId61" Type="http://schemas.openxmlformats.org/officeDocument/2006/relationships/slide" Target="slides/slide52.xml"/><Relationship Id="rId82" Type="http://schemas.openxmlformats.org/officeDocument/2006/relationships/slide" Target="slides/slide73.xml"/><Relationship Id="rId19" Type="http://schemas.openxmlformats.org/officeDocument/2006/relationships/slide" Target="slides/slide10.xml"/><Relationship Id="rId14" Type="http://schemas.openxmlformats.org/officeDocument/2006/relationships/slide" Target="slides/slide5.xml"/><Relationship Id="rId30" Type="http://schemas.openxmlformats.org/officeDocument/2006/relationships/slide" Target="slides/slide21.xml"/><Relationship Id="rId35" Type="http://schemas.openxmlformats.org/officeDocument/2006/relationships/slide" Target="slides/slide26.xml"/><Relationship Id="rId56" Type="http://schemas.openxmlformats.org/officeDocument/2006/relationships/slide" Target="slides/slide47.xml"/><Relationship Id="rId77" Type="http://schemas.openxmlformats.org/officeDocument/2006/relationships/slide" Target="slides/slide68.xml"/><Relationship Id="rId100" Type="http://schemas.openxmlformats.org/officeDocument/2006/relationships/slide" Target="slides/slide91.xml"/><Relationship Id="rId105" Type="http://schemas.openxmlformats.org/officeDocument/2006/relationships/viewProps" Target="viewProps.xml"/><Relationship Id="rId8" Type="http://schemas.openxmlformats.org/officeDocument/2006/relationships/slideMaster" Target="slideMasters/slideMaster8.xml"/><Relationship Id="rId51" Type="http://schemas.openxmlformats.org/officeDocument/2006/relationships/slide" Target="slides/slide42.xml"/><Relationship Id="rId72" Type="http://schemas.openxmlformats.org/officeDocument/2006/relationships/slide" Target="slides/slide63.xml"/><Relationship Id="rId93" Type="http://schemas.openxmlformats.org/officeDocument/2006/relationships/slide" Target="slides/slide84.xml"/><Relationship Id="rId98" Type="http://schemas.openxmlformats.org/officeDocument/2006/relationships/slide" Target="slides/slide89.xml"/><Relationship Id="rId3" Type="http://schemas.openxmlformats.org/officeDocument/2006/relationships/slideMaster" Target="slideMasters/slideMaster3.xml"/><Relationship Id="rId25" Type="http://schemas.openxmlformats.org/officeDocument/2006/relationships/slide" Target="slides/slide16.xml"/><Relationship Id="rId46" Type="http://schemas.openxmlformats.org/officeDocument/2006/relationships/slide" Target="slides/slide37.xml"/><Relationship Id="rId67"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92E002F3-C090-FD4F-93E3-8CAD6EC2E916}" type="datetimeFigureOut">
              <a:rPr kumimoji="1" lang="zh-CN" altLang="en-US" smtClean="0"/>
              <a:t>2023/3/13</a:t>
            </a:fld>
            <a:endParaRPr kumimoji="1" lang="zh-CN" altLang="en-US"/>
          </a:p>
        </p:txBody>
      </p:sp>
      <p:sp>
        <p:nvSpPr>
          <p:cNvPr id="4" name="幻灯片图像占位符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00DCDE1B-E8D0-FE4B-8B2C-D7C099D60E23}" type="slidenum">
              <a:rPr kumimoji="1" lang="zh-CN" altLang="en-US" smtClean="0"/>
              <a:t>‹#›</a:t>
            </a:fld>
            <a:endParaRPr kumimoji="1" lang="zh-CN" altLang="en-US"/>
          </a:p>
        </p:txBody>
      </p:sp>
    </p:spTree>
    <p:extLst>
      <p:ext uri="{BB962C8B-B14F-4D97-AF65-F5344CB8AC3E}">
        <p14:creationId xmlns:p14="http://schemas.microsoft.com/office/powerpoint/2010/main" val="25307365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notesMaster" Target="../notesMasters/notesMaster1.xml"/><Relationship Id="rId1" Type="http://schemas.openxmlformats.org/officeDocument/2006/relationships/themeOverride" Target="../theme/themeOverride1.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54.xml"/><Relationship Id="rId2" Type="http://schemas.openxmlformats.org/officeDocument/2006/relationships/notesMaster" Target="../notesMasters/notesMaster1.xml"/><Relationship Id="rId1" Type="http://schemas.openxmlformats.org/officeDocument/2006/relationships/themeOverride" Target="../theme/themeOverride2.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6FFFBBD5-78B9-388B-0FC6-068E983C52EE}"/>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19FE7FF-6CBD-0C48-A86F-A4F0B28E0DE6}"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3315" name="Rectangle 2">
            <a:extLst>
              <a:ext uri="{FF2B5EF4-FFF2-40B4-BE49-F238E27FC236}">
                <a16:creationId xmlns:a16="http://schemas.microsoft.com/office/drawing/2014/main" id="{21A2B47C-2C02-6CAF-5658-27B74DA1DF4B}"/>
              </a:ext>
            </a:extLst>
          </p:cNvPr>
          <p:cNvSpPr>
            <a:spLocks noGrp="1" noRot="1" noChangeAspect="1" noChangeArrowheads="1" noTextEdit="1"/>
          </p:cNvSpPr>
          <p:nvPr>
            <p:ph type="sldImg"/>
          </p:nvPr>
        </p:nvSpPr>
        <p:spPr/>
      </p:sp>
      <p:sp>
        <p:nvSpPr>
          <p:cNvPr id="13316" name="Rectangle 3">
            <a:extLst>
              <a:ext uri="{FF2B5EF4-FFF2-40B4-BE49-F238E27FC236}">
                <a16:creationId xmlns:a16="http://schemas.microsoft.com/office/drawing/2014/main" id="{8D9A2C46-7E79-695E-F8CA-73700A5BFADF}"/>
              </a:ext>
            </a:extLst>
          </p:cNvPr>
          <p:cNvSpPr>
            <a:spLocks noGrp="1" noChangeArrowheads="1"/>
          </p:cNvSpPr>
          <p:nvPr>
            <p:ph type="body" idx="1"/>
          </p:nvPr>
        </p:nvSpPr>
        <p:spPr/>
        <p:txBody>
          <a:bodyPr anchor="t"/>
          <a:lstStyle/>
          <a:p>
            <a:r>
              <a:rPr lang="en-US" altLang="zh-CN">
                <a:ea typeface="宋体" panose="02010600030101010101" pitchFamily="2" charset="-122"/>
              </a:rPr>
              <a:t>In case anyone asks, “T” here (and in general) is net of transfer payments.  </a:t>
            </a:r>
          </a:p>
          <a:p>
            <a:endParaRPr lang="en-US" altLang="zh-CN">
              <a:ea typeface="宋体" panose="02010600030101010101" pitchFamily="2" charset="-122"/>
            </a:endParaRPr>
          </a:p>
          <a:p>
            <a:r>
              <a:rPr lang="en-US" altLang="zh-CN">
                <a:ea typeface="宋体" panose="02010600030101010101" pitchFamily="2" charset="-122"/>
              </a:rPr>
              <a:t>After presenting this slide and the next, it might be useful to point out the following: </a:t>
            </a:r>
          </a:p>
          <a:p>
            <a:endParaRPr lang="en-US" altLang="zh-CN">
              <a:ea typeface="宋体" panose="02010600030101010101" pitchFamily="2" charset="-122"/>
            </a:endParaRPr>
          </a:p>
          <a:p>
            <a:r>
              <a:rPr lang="en-US" altLang="zh-CN">
                <a:ea typeface="宋体" panose="02010600030101010101" pitchFamily="2" charset="-122"/>
              </a:rPr>
              <a:t>In general, “saving” is just some measure of income minus some measure of expenditure. </a:t>
            </a:r>
          </a:p>
          <a:p>
            <a:endParaRPr lang="en-US" altLang="zh-CN">
              <a:ea typeface="宋体" panose="02010600030101010101" pitchFamily="2" charset="-122"/>
            </a:endParaRPr>
          </a:p>
          <a:p>
            <a:r>
              <a:rPr lang="en-US" altLang="zh-CN">
                <a:ea typeface="宋体" panose="02010600030101010101" pitchFamily="2" charset="-122"/>
              </a:rPr>
              <a:t>For private (household) saving, the measure of income is “disposable income,” or gross income minus taxes (“take-home pay.”)  The measure of expenditure is consumption.  </a:t>
            </a:r>
          </a:p>
          <a:p>
            <a:endParaRPr lang="en-US" altLang="zh-CN">
              <a:ea typeface="宋体" panose="02010600030101010101" pitchFamily="2" charset="-122"/>
            </a:endParaRPr>
          </a:p>
          <a:p>
            <a:r>
              <a:rPr lang="en-US" altLang="zh-CN">
                <a:ea typeface="宋体" panose="02010600030101010101" pitchFamily="2" charset="-122"/>
              </a:rPr>
              <a:t>For public (government) saving, the measure of income is T, total taxes, which is the government’s source of “income.”  The measure of expenditure is simply G, government purchases.  </a:t>
            </a:r>
          </a:p>
          <a:p>
            <a:endParaRPr lang="en-US" altLang="zh-CN">
              <a:ea typeface="宋体" panose="02010600030101010101" pitchFamily="2" charset="-122"/>
            </a:endParaRPr>
          </a:p>
          <a:p>
            <a:r>
              <a:rPr lang="en-US" altLang="zh-CN">
                <a:ea typeface="宋体" panose="02010600030101010101" pitchFamily="2" charset="-122"/>
              </a:rPr>
              <a:t>In the case of national saving (covered on the next slide), the measure of income is GDP, and the measure of expenditure is C+G.  </a:t>
            </a:r>
          </a:p>
          <a:p>
            <a:endParaRPr lang="zh-CN" altLang="zh-CN">
              <a:ea typeface="宋体" panose="02010600030101010101" pitchFamily="2" charset="-122"/>
            </a:endParaRPr>
          </a:p>
        </p:txBody>
      </p:sp>
    </p:spTree>
    <p:extLst>
      <p:ext uri="{BB962C8B-B14F-4D97-AF65-F5344CB8AC3E}">
        <p14:creationId xmlns:p14="http://schemas.microsoft.com/office/powerpoint/2010/main" val="1248861821"/>
      </p:ext>
    </p:extLst>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bwMode="auto">
      <p:bgPr>
        <a:solidFill>
          <a:schemeClr val="bg1"/>
        </a:solidFill>
        <a:effectLst/>
      </p:bgPr>
    </p:bg>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6192AFA3-3404-4DD8-CA3D-1E04B97DC185}"/>
              </a:ext>
            </a:extLst>
          </p:cNvPr>
          <p:cNvSpPr>
            <a:spLocks noGrp="1" noRot="1" noChangeAspect="1" noChangeArrowheads="1" noTextEdit="1"/>
          </p:cNvSpPr>
          <p:nvPr>
            <p:ph type="sldImg"/>
          </p:nvPr>
        </p:nvSpPr>
        <p:spPr/>
      </p:sp>
      <p:sp>
        <p:nvSpPr>
          <p:cNvPr id="43011" name="Rectangle 3">
            <a:extLst>
              <a:ext uri="{FF2B5EF4-FFF2-40B4-BE49-F238E27FC236}">
                <a16:creationId xmlns:a16="http://schemas.microsoft.com/office/drawing/2014/main" id="{11E96309-5A5E-1F2A-CFAE-6E8C840A7D15}"/>
              </a:ext>
            </a:extLst>
          </p:cNvPr>
          <p:cNvSpPr>
            <a:spLocks noGrp="1" noRot="1" noChangeArrowheads="1"/>
          </p:cNvSpPr>
          <p:nvPr>
            <p:ph type="body" idx="1"/>
          </p:nvPr>
        </p:nvSpPr>
        <p:spPr/>
        <p:txBody>
          <a:bodyPr/>
          <a:lstStyle/>
          <a:p>
            <a:r>
              <a:rPr lang="en-US" altLang="zh-CN">
                <a:ea typeface="宋体" panose="02010600030101010101" pitchFamily="2" charset="-122"/>
              </a:rPr>
              <a:t>Suggestion:  Show these questions, and give your students 1-3 minutes to formulate their answers.  When you are ready to discuss the answers, go to the next slide….</a:t>
            </a:r>
          </a:p>
        </p:txBody>
      </p:sp>
    </p:spTree>
    <p:extLst>
      <p:ext uri="{BB962C8B-B14F-4D97-AF65-F5344CB8AC3E}">
        <p14:creationId xmlns:p14="http://schemas.microsoft.com/office/powerpoint/2010/main" val="546376333"/>
      </p:ext>
    </p:extLst>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41935A3D-9A84-C230-12CD-A3705EF384BE}"/>
              </a:ext>
            </a:extLst>
          </p:cNvPr>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a:extLst>
              <a:ext uri="{FF2B5EF4-FFF2-40B4-BE49-F238E27FC236}">
                <a16:creationId xmlns:a16="http://schemas.microsoft.com/office/drawing/2014/main" id="{491B5931-8231-4852-0BC5-B7E3C34E2E25}"/>
              </a:ext>
            </a:extLst>
          </p:cNvPr>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807"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2" name="Rectangle 4">
            <a:extLst>
              <a:ext uri="{FF2B5EF4-FFF2-40B4-BE49-F238E27FC236}">
                <a16:creationId xmlns:a16="http://schemas.microsoft.com/office/drawing/2014/main" id="{19C8ED5A-B8BA-407F-1B8A-95BABBFD1137}"/>
              </a:ext>
            </a:extLst>
          </p:cNvPr>
          <p:cNvSpPr>
            <a:spLocks noGrp="1" noChangeArrowheads="1"/>
          </p:cNvSpPr>
          <p:nvPr>
            <p:ph type="subTitle" idx="1"/>
          </p:nvPr>
        </p:nvSpPr>
        <p:spPr>
          <a:xfrm>
            <a:off x="1002056" y="65690"/>
            <a:ext cx="614680" cy="499886"/>
          </a:xfrm>
        </p:spPr>
        <p:txBody>
          <a:bodyPr/>
          <a:lstStyle>
            <a:lvl1pPr marL="0" indent="0" algn="ctr">
              <a:buFont typeface="Wingdings" pitchFamily="2" charset="2"/>
              <a:buNone/>
              <a:defRPr sz="2924" i="1">
                <a:solidFill>
                  <a:srgbClr val="008080"/>
                </a:solidFill>
                <a:latin typeface="Tahoma" panose="020B0604030504040204" pitchFamily="34" charset="0"/>
              </a:defRPr>
            </a:lvl1pPr>
          </a:lstStyle>
          <a:p>
            <a:pPr lvl="0"/>
            <a:r>
              <a:rPr lang="en-US" altLang="zh-CN" noProof="0"/>
              <a:t>34</a:t>
            </a:r>
          </a:p>
        </p:txBody>
      </p:sp>
      <p:sp>
        <p:nvSpPr>
          <p:cNvPr id="2053" name="TextBox 6">
            <a:extLst>
              <a:ext uri="{FF2B5EF4-FFF2-40B4-BE49-F238E27FC236}">
                <a16:creationId xmlns:a16="http://schemas.microsoft.com/office/drawing/2014/main" id="{2E8F76B5-DB72-8047-3719-8D5532E00F05}"/>
              </a:ext>
            </a:extLst>
          </p:cNvPr>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zh-CN" sz="1109">
                <a:solidFill>
                  <a:srgbClr val="008080"/>
                </a:solidFill>
                <a:latin typeface="Tahoma" panose="020B0604030504040204" pitchFamily="34" charset="0"/>
                <a:ea typeface="宋体" panose="02010600030101010101" pitchFamily="2" charset="-122"/>
              </a:rPr>
              <a:t>C H A P T E R</a:t>
            </a:r>
          </a:p>
        </p:txBody>
      </p:sp>
    </p:spTree>
    <p:extLst>
      <p:ext uri="{BB962C8B-B14F-4D97-AF65-F5344CB8AC3E}">
        <p14:creationId xmlns:p14="http://schemas.microsoft.com/office/powerpoint/2010/main" val="4485824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B2969B-25F4-19CF-7110-46FDB163AB1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8AEA5B3-4A8E-D7D9-A8CF-691963703F8A}"/>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689F3023-AF92-FEB4-6931-5E03D409045A}"/>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758CCCD3-A9D2-A435-7BEA-9BE363F51E44}"/>
              </a:ext>
            </a:extLst>
          </p:cNvPr>
          <p:cNvSpPr>
            <a:spLocks noGrp="1"/>
          </p:cNvSpPr>
          <p:nvPr>
            <p:ph type="sldNum" sz="quarter" idx="11"/>
          </p:nvPr>
        </p:nvSpPr>
        <p:spPr/>
        <p:txBody>
          <a:bodyPr/>
          <a:lstStyle>
            <a:lvl1pPr>
              <a:defRPr/>
            </a:lvl1pPr>
          </a:lstStyle>
          <a:p>
            <a:fld id="{FF75CA96-F32A-7F4F-98C9-CA940BD9BB90}" type="slidenum">
              <a:rPr lang="zh-CN" altLang="zh-CN"/>
              <a:pPr/>
              <a:t>‹#›</a:t>
            </a:fld>
            <a:endParaRPr lang="en-US" altLang="zh-CN"/>
          </a:p>
        </p:txBody>
      </p:sp>
    </p:spTree>
    <p:extLst>
      <p:ext uri="{BB962C8B-B14F-4D97-AF65-F5344CB8AC3E}">
        <p14:creationId xmlns:p14="http://schemas.microsoft.com/office/powerpoint/2010/main" val="41999859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2C82CA-FB1A-B587-8FA3-E217A3974672}"/>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1C70CCF4-A08A-47F3-F87A-BD26298653B9}"/>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0EA98238-AB0D-60C4-86D0-6DA654E3988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38AA8455-D023-9D39-A2C0-8F1EC0151E5F}"/>
              </a:ext>
            </a:extLst>
          </p:cNvPr>
          <p:cNvSpPr>
            <a:spLocks noGrp="1"/>
          </p:cNvSpPr>
          <p:nvPr>
            <p:ph type="sldNum" sz="quarter" idx="11"/>
          </p:nvPr>
        </p:nvSpPr>
        <p:spPr/>
        <p:txBody>
          <a:bodyPr/>
          <a:lstStyle>
            <a:lvl1pPr>
              <a:defRPr/>
            </a:lvl1pPr>
          </a:lstStyle>
          <a:p>
            <a:fld id="{4BC52F8A-5993-F941-9059-8758F3FCE6C7}" type="slidenum">
              <a:rPr lang="zh-CN" altLang="zh-CN"/>
              <a:pPr/>
              <a:t>‹#›</a:t>
            </a:fld>
            <a:endParaRPr lang="en-US" altLang="zh-CN"/>
          </a:p>
        </p:txBody>
      </p:sp>
    </p:spTree>
    <p:extLst>
      <p:ext uri="{BB962C8B-B14F-4D97-AF65-F5344CB8AC3E}">
        <p14:creationId xmlns:p14="http://schemas.microsoft.com/office/powerpoint/2010/main" val="10620317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06021E-9DB9-20E1-A73F-C9B46526E6B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2997747-9F0F-1660-7476-A2BA9EB7C9AB}"/>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9907E63-7377-4DAC-EE38-72500CA49B65}"/>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0AAACD4D-BBDD-427B-B352-CFC4A69F84A7}"/>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F807AA87-8918-41FF-A4ED-1B9F17A6C0C9}"/>
              </a:ext>
            </a:extLst>
          </p:cNvPr>
          <p:cNvSpPr>
            <a:spLocks noGrp="1"/>
          </p:cNvSpPr>
          <p:nvPr>
            <p:ph type="sldNum" sz="quarter" idx="11"/>
          </p:nvPr>
        </p:nvSpPr>
        <p:spPr/>
        <p:txBody>
          <a:bodyPr/>
          <a:lstStyle>
            <a:lvl1pPr>
              <a:defRPr/>
            </a:lvl1pPr>
          </a:lstStyle>
          <a:p>
            <a:fld id="{AE84F7AA-C74F-4642-B3C6-9CC2F1DD8A1E}" type="slidenum">
              <a:rPr lang="zh-CN" altLang="zh-CN"/>
              <a:pPr/>
              <a:t>‹#›</a:t>
            </a:fld>
            <a:endParaRPr lang="en-US" altLang="zh-CN"/>
          </a:p>
        </p:txBody>
      </p:sp>
    </p:spTree>
    <p:extLst>
      <p:ext uri="{BB962C8B-B14F-4D97-AF65-F5344CB8AC3E}">
        <p14:creationId xmlns:p14="http://schemas.microsoft.com/office/powerpoint/2010/main" val="355671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05AFB8-249E-4E4B-38E2-F236687409D4}"/>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2D370CB-90B1-3528-0CBE-C148F9BEEB01}"/>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AC02913-2448-1E14-5C79-F80BF6D03945}"/>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C42B077-084E-4D0D-3F33-500F816EBB4E}"/>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D1C847C-3D3C-65FB-F047-D6766F5E8447}"/>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ED7830D2-8EC1-AA78-A964-BF68F3FE0B01}"/>
              </a:ext>
            </a:extLst>
          </p:cNvPr>
          <p:cNvSpPr>
            <a:spLocks noGrp="1"/>
          </p:cNvSpPr>
          <p:nvPr>
            <p:ph type="ftr" sz="quarter" idx="10"/>
          </p:nvPr>
        </p:nvSpPr>
        <p:spPr/>
        <p:txBody>
          <a:bodyPr/>
          <a:lstStyle>
            <a:lvl1pPr>
              <a:defRPr/>
            </a:lvl1pPr>
          </a:lstStyle>
          <a:p>
            <a:r>
              <a:rPr lang="zh-CN" altLang="zh-CN"/>
              <a:t>一国收入的衡量</a:t>
            </a:r>
          </a:p>
        </p:txBody>
      </p:sp>
      <p:sp>
        <p:nvSpPr>
          <p:cNvPr id="8" name="灯片编号占位符 7">
            <a:extLst>
              <a:ext uri="{FF2B5EF4-FFF2-40B4-BE49-F238E27FC236}">
                <a16:creationId xmlns:a16="http://schemas.microsoft.com/office/drawing/2014/main" id="{2AC4B6E4-73A7-D3AB-840B-5797034BD258}"/>
              </a:ext>
            </a:extLst>
          </p:cNvPr>
          <p:cNvSpPr>
            <a:spLocks noGrp="1"/>
          </p:cNvSpPr>
          <p:nvPr>
            <p:ph type="sldNum" sz="quarter" idx="11"/>
          </p:nvPr>
        </p:nvSpPr>
        <p:spPr/>
        <p:txBody>
          <a:bodyPr/>
          <a:lstStyle>
            <a:lvl1pPr>
              <a:defRPr/>
            </a:lvl1pPr>
          </a:lstStyle>
          <a:p>
            <a:fld id="{97981451-FC73-D44F-A0E8-CF0A9828A28E}" type="slidenum">
              <a:rPr lang="zh-CN" altLang="zh-CN"/>
              <a:pPr/>
              <a:t>‹#›</a:t>
            </a:fld>
            <a:endParaRPr lang="en-US" altLang="zh-CN"/>
          </a:p>
        </p:txBody>
      </p:sp>
    </p:spTree>
    <p:extLst>
      <p:ext uri="{BB962C8B-B14F-4D97-AF65-F5344CB8AC3E}">
        <p14:creationId xmlns:p14="http://schemas.microsoft.com/office/powerpoint/2010/main" val="33551545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3326B6-F9B5-C4FE-D19D-A44CB462F287}"/>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F546BCEE-6FE9-1F0F-8B04-352FFA526B05}"/>
              </a:ext>
            </a:extLst>
          </p:cNvPr>
          <p:cNvSpPr>
            <a:spLocks noGrp="1"/>
          </p:cNvSpPr>
          <p:nvPr>
            <p:ph type="ftr" sz="quarter" idx="10"/>
          </p:nvPr>
        </p:nvSpPr>
        <p:spPr/>
        <p:txBody>
          <a:bodyPr/>
          <a:lstStyle>
            <a:lvl1pPr>
              <a:defRPr/>
            </a:lvl1pPr>
          </a:lstStyle>
          <a:p>
            <a:r>
              <a:rPr lang="zh-CN" altLang="zh-CN"/>
              <a:t>一国收入的衡量</a:t>
            </a:r>
          </a:p>
        </p:txBody>
      </p:sp>
      <p:sp>
        <p:nvSpPr>
          <p:cNvPr id="4" name="灯片编号占位符 3">
            <a:extLst>
              <a:ext uri="{FF2B5EF4-FFF2-40B4-BE49-F238E27FC236}">
                <a16:creationId xmlns:a16="http://schemas.microsoft.com/office/drawing/2014/main" id="{D05CFC99-3A41-48E5-7D43-D8F6C33950F8}"/>
              </a:ext>
            </a:extLst>
          </p:cNvPr>
          <p:cNvSpPr>
            <a:spLocks noGrp="1"/>
          </p:cNvSpPr>
          <p:nvPr>
            <p:ph type="sldNum" sz="quarter" idx="11"/>
          </p:nvPr>
        </p:nvSpPr>
        <p:spPr/>
        <p:txBody>
          <a:bodyPr/>
          <a:lstStyle>
            <a:lvl1pPr>
              <a:defRPr/>
            </a:lvl1pPr>
          </a:lstStyle>
          <a:p>
            <a:fld id="{E81E734D-8C0F-6D40-9298-031592D104B3}" type="slidenum">
              <a:rPr lang="zh-CN" altLang="zh-CN"/>
              <a:pPr/>
              <a:t>‹#›</a:t>
            </a:fld>
            <a:endParaRPr lang="en-US" altLang="zh-CN"/>
          </a:p>
        </p:txBody>
      </p:sp>
    </p:spTree>
    <p:extLst>
      <p:ext uri="{BB962C8B-B14F-4D97-AF65-F5344CB8AC3E}">
        <p14:creationId xmlns:p14="http://schemas.microsoft.com/office/powerpoint/2010/main" val="1146266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DDBA7C99-02A5-B5FE-F091-24A24365F0ED}"/>
              </a:ext>
            </a:extLst>
          </p:cNvPr>
          <p:cNvSpPr>
            <a:spLocks noGrp="1"/>
          </p:cNvSpPr>
          <p:nvPr>
            <p:ph type="ftr" sz="quarter" idx="10"/>
          </p:nvPr>
        </p:nvSpPr>
        <p:spPr/>
        <p:txBody>
          <a:bodyPr/>
          <a:lstStyle>
            <a:lvl1pPr>
              <a:defRPr/>
            </a:lvl1pPr>
          </a:lstStyle>
          <a:p>
            <a:r>
              <a:rPr lang="zh-CN" altLang="zh-CN"/>
              <a:t>一国收入的衡量</a:t>
            </a:r>
          </a:p>
        </p:txBody>
      </p:sp>
      <p:sp>
        <p:nvSpPr>
          <p:cNvPr id="3" name="灯片编号占位符 2">
            <a:extLst>
              <a:ext uri="{FF2B5EF4-FFF2-40B4-BE49-F238E27FC236}">
                <a16:creationId xmlns:a16="http://schemas.microsoft.com/office/drawing/2014/main" id="{07D6182D-7913-6BAF-1D42-EA8A1E69B9C9}"/>
              </a:ext>
            </a:extLst>
          </p:cNvPr>
          <p:cNvSpPr>
            <a:spLocks noGrp="1"/>
          </p:cNvSpPr>
          <p:nvPr>
            <p:ph type="sldNum" sz="quarter" idx="11"/>
          </p:nvPr>
        </p:nvSpPr>
        <p:spPr/>
        <p:txBody>
          <a:bodyPr/>
          <a:lstStyle>
            <a:lvl1pPr>
              <a:defRPr/>
            </a:lvl1pPr>
          </a:lstStyle>
          <a:p>
            <a:fld id="{8FC9ECCE-9A67-6F4D-96F4-AF59AF685F27}" type="slidenum">
              <a:rPr lang="zh-CN" altLang="zh-CN"/>
              <a:pPr/>
              <a:t>‹#›</a:t>
            </a:fld>
            <a:endParaRPr lang="en-US" altLang="zh-CN"/>
          </a:p>
        </p:txBody>
      </p:sp>
    </p:spTree>
    <p:extLst>
      <p:ext uri="{BB962C8B-B14F-4D97-AF65-F5344CB8AC3E}">
        <p14:creationId xmlns:p14="http://schemas.microsoft.com/office/powerpoint/2010/main" val="15672151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698957-A6CA-4DCA-9EBD-104E13C2511F}"/>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ADF2D2DD-7EAD-C198-8156-80E75A539679}"/>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93CE5EA-1FFA-802A-BA18-3B5A7CA17265}"/>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B33BE68B-D6E4-6525-920B-C21DEFD5950B}"/>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396AD26E-8095-F0DF-CF80-77F8B7CB9CCB}"/>
              </a:ext>
            </a:extLst>
          </p:cNvPr>
          <p:cNvSpPr>
            <a:spLocks noGrp="1"/>
          </p:cNvSpPr>
          <p:nvPr>
            <p:ph type="sldNum" sz="quarter" idx="11"/>
          </p:nvPr>
        </p:nvSpPr>
        <p:spPr/>
        <p:txBody>
          <a:bodyPr/>
          <a:lstStyle>
            <a:lvl1pPr>
              <a:defRPr/>
            </a:lvl1pPr>
          </a:lstStyle>
          <a:p>
            <a:fld id="{F4D19EBE-0DD8-064C-BD84-2B44820FB47D}" type="slidenum">
              <a:rPr lang="zh-CN" altLang="zh-CN"/>
              <a:pPr/>
              <a:t>‹#›</a:t>
            </a:fld>
            <a:endParaRPr lang="en-US" altLang="zh-CN"/>
          </a:p>
        </p:txBody>
      </p:sp>
    </p:spTree>
    <p:extLst>
      <p:ext uri="{BB962C8B-B14F-4D97-AF65-F5344CB8AC3E}">
        <p14:creationId xmlns:p14="http://schemas.microsoft.com/office/powerpoint/2010/main" val="13209503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0D1473-EDF3-A6F4-9AC2-F83CFF9A260B}"/>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D778AB14-D248-DBF6-4FCB-531DC4C3B2CF}"/>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7F66A29A-D42B-4877-586D-ED45FF448D09}"/>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631EF206-C39B-0A75-CE85-8E32D4BECF9B}"/>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CFFF9A0C-7C84-334E-2DD0-22ACCD0C4D06}"/>
              </a:ext>
            </a:extLst>
          </p:cNvPr>
          <p:cNvSpPr>
            <a:spLocks noGrp="1"/>
          </p:cNvSpPr>
          <p:nvPr>
            <p:ph type="sldNum" sz="quarter" idx="11"/>
          </p:nvPr>
        </p:nvSpPr>
        <p:spPr/>
        <p:txBody>
          <a:bodyPr/>
          <a:lstStyle>
            <a:lvl1pPr>
              <a:defRPr/>
            </a:lvl1pPr>
          </a:lstStyle>
          <a:p>
            <a:fld id="{0CA6175B-25A3-0348-9995-252FAA117B57}" type="slidenum">
              <a:rPr lang="zh-CN" altLang="zh-CN"/>
              <a:pPr/>
              <a:t>‹#›</a:t>
            </a:fld>
            <a:endParaRPr lang="en-US" altLang="zh-CN"/>
          </a:p>
        </p:txBody>
      </p:sp>
    </p:spTree>
    <p:extLst>
      <p:ext uri="{BB962C8B-B14F-4D97-AF65-F5344CB8AC3E}">
        <p14:creationId xmlns:p14="http://schemas.microsoft.com/office/powerpoint/2010/main" val="30773254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2BB31E-358D-AED5-28AE-60318A5F80C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9905587-FCC5-EAE6-593F-46F1E7E358E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4803DE6D-37CC-5638-DA07-FD884825E5E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F54638FC-90B0-31EB-D5BD-4B52DE14C60F}"/>
              </a:ext>
            </a:extLst>
          </p:cNvPr>
          <p:cNvSpPr>
            <a:spLocks noGrp="1"/>
          </p:cNvSpPr>
          <p:nvPr>
            <p:ph type="sldNum" sz="quarter" idx="11"/>
          </p:nvPr>
        </p:nvSpPr>
        <p:spPr/>
        <p:txBody>
          <a:bodyPr/>
          <a:lstStyle>
            <a:lvl1pPr>
              <a:defRPr/>
            </a:lvl1pPr>
          </a:lstStyle>
          <a:p>
            <a:fld id="{87C2A238-9660-194D-A420-58FAEDDE43DF}" type="slidenum">
              <a:rPr lang="zh-CN" altLang="zh-CN"/>
              <a:pPr/>
              <a:t>‹#›</a:t>
            </a:fld>
            <a:endParaRPr lang="en-US" altLang="zh-CN"/>
          </a:p>
        </p:txBody>
      </p:sp>
    </p:spTree>
    <p:extLst>
      <p:ext uri="{BB962C8B-B14F-4D97-AF65-F5344CB8AC3E}">
        <p14:creationId xmlns:p14="http://schemas.microsoft.com/office/powerpoint/2010/main" val="1039225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28693FB-E290-D71F-D054-241792819295}"/>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4A3DB65-3656-3B1B-B8BA-7287FE9BA804}"/>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3CC8F5D0-50A9-4805-F724-3EC1E4B8C50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49A068E9-7CF4-BE31-5C02-B726FD63E3D8}"/>
              </a:ext>
            </a:extLst>
          </p:cNvPr>
          <p:cNvSpPr>
            <a:spLocks noGrp="1"/>
          </p:cNvSpPr>
          <p:nvPr>
            <p:ph type="sldNum" sz="quarter" idx="11"/>
          </p:nvPr>
        </p:nvSpPr>
        <p:spPr/>
        <p:txBody>
          <a:bodyPr/>
          <a:lstStyle>
            <a:lvl1pPr>
              <a:defRPr/>
            </a:lvl1pPr>
          </a:lstStyle>
          <a:p>
            <a:fld id="{BB8105D9-7A7C-6B49-807E-0CBDD1F99FD3}" type="slidenum">
              <a:rPr lang="zh-CN" altLang="zh-CN"/>
              <a:pPr/>
              <a:t>‹#›</a:t>
            </a:fld>
            <a:endParaRPr lang="en-US" altLang="zh-CN"/>
          </a:p>
        </p:txBody>
      </p:sp>
    </p:spTree>
    <p:extLst>
      <p:ext uri="{BB962C8B-B14F-4D97-AF65-F5344CB8AC3E}">
        <p14:creationId xmlns:p14="http://schemas.microsoft.com/office/powerpoint/2010/main" val="14602892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2F37E0-C852-4FFB-1755-F550F9BD7235}"/>
              </a:ext>
            </a:extLst>
          </p:cNvPr>
          <p:cNvSpPr>
            <a:spLocks noGrp="1"/>
          </p:cNvSpPr>
          <p:nvPr>
            <p:ph type="ctrTitle"/>
          </p:nvPr>
        </p:nvSpPr>
        <p:spPr>
          <a:xfrm>
            <a:off x="576263" y="566377"/>
            <a:ext cx="3457575" cy="1204854"/>
          </a:xfrm>
        </p:spPr>
        <p:txBody>
          <a:bodyPr anchor="b"/>
          <a:lstStyle>
            <a:lvl1pPr algn="ctr">
              <a:defRPr sz="3025"/>
            </a:lvl1pPr>
          </a:lstStyle>
          <a:p>
            <a:r>
              <a:rPr lang="zh-CN" altLang="en-US"/>
              <a:t>单击此处编辑母版标题样式</a:t>
            </a:r>
          </a:p>
        </p:txBody>
      </p:sp>
      <p:sp>
        <p:nvSpPr>
          <p:cNvPr id="3" name="副标题 2">
            <a:extLst>
              <a:ext uri="{FF2B5EF4-FFF2-40B4-BE49-F238E27FC236}">
                <a16:creationId xmlns:a16="http://schemas.microsoft.com/office/drawing/2014/main" id="{4BC59AA2-0437-7173-11E0-8D0F98A3BC88}"/>
              </a:ext>
            </a:extLst>
          </p:cNvPr>
          <p:cNvSpPr>
            <a:spLocks noGrp="1"/>
          </p:cNvSpPr>
          <p:nvPr>
            <p:ph type="subTitle" idx="1"/>
          </p:nvPr>
        </p:nvSpPr>
        <p:spPr>
          <a:xfrm>
            <a:off x="576263" y="1817695"/>
            <a:ext cx="3457575" cy="835547"/>
          </a:xfrm>
        </p:spPr>
        <p:txBody>
          <a:bodyPr/>
          <a:lstStyle>
            <a:lvl1pPr marL="0" indent="0" algn="ctr">
              <a:buNone/>
              <a:defRPr sz="1210"/>
            </a:lvl1pPr>
            <a:lvl2pPr marL="230520" indent="0" algn="ctr">
              <a:buNone/>
              <a:defRPr sz="1008"/>
            </a:lvl2pPr>
            <a:lvl3pPr marL="461040" indent="0" algn="ctr">
              <a:buNone/>
              <a:defRPr sz="908"/>
            </a:lvl3pPr>
            <a:lvl4pPr marL="691561" indent="0" algn="ctr">
              <a:buNone/>
              <a:defRPr sz="807"/>
            </a:lvl4pPr>
            <a:lvl5pPr marL="922081" indent="0" algn="ctr">
              <a:buNone/>
              <a:defRPr sz="807"/>
            </a:lvl5pPr>
            <a:lvl6pPr marL="1152601" indent="0" algn="ctr">
              <a:buNone/>
              <a:defRPr sz="807"/>
            </a:lvl6pPr>
            <a:lvl7pPr marL="1383121" indent="0" algn="ctr">
              <a:buNone/>
              <a:defRPr sz="807"/>
            </a:lvl7pPr>
            <a:lvl8pPr marL="1613642" indent="0" algn="ctr">
              <a:buNone/>
              <a:defRPr sz="807"/>
            </a:lvl8pPr>
            <a:lvl9pPr marL="1844162" indent="0" algn="ctr">
              <a:buNone/>
              <a:defRPr sz="807"/>
            </a:lvl9pPr>
          </a:lstStyle>
          <a:p>
            <a:r>
              <a:rPr lang="zh-CN" altLang="en-US"/>
              <a:t>单击此处编辑母版副标题样式</a:t>
            </a:r>
          </a:p>
        </p:txBody>
      </p:sp>
    </p:spTree>
    <p:extLst>
      <p:ext uri="{BB962C8B-B14F-4D97-AF65-F5344CB8AC3E}">
        <p14:creationId xmlns:p14="http://schemas.microsoft.com/office/powerpoint/2010/main" val="29302150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205F85-C401-C788-F944-B7A6EF9F5A3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7878F71-FEA1-EE7B-1943-3174F5DF435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23698275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A8ECA0-53F7-9BF2-0237-4430EDA38EF5}"/>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2BBBE9AE-68BE-4F14-7E9E-B51AB88A4FC8}"/>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Tree>
    <p:extLst>
      <p:ext uri="{BB962C8B-B14F-4D97-AF65-F5344CB8AC3E}">
        <p14:creationId xmlns:p14="http://schemas.microsoft.com/office/powerpoint/2010/main" val="25284197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4A03B3-25E5-4C62-85E6-9EDAE444EC0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7434D33-945F-D635-6177-D0A5D9B20594}"/>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C2C5F6F-CF55-8761-4967-F2027A71245A}"/>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15313958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FB39FF-E59D-0F20-4506-2991DD9837C2}"/>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C7B0B73-1810-56A5-037F-05B62BC23221}"/>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DB74764-D1E4-87B9-2A12-7EF9E319F3EA}"/>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17A4EDC-DD11-8B0A-759C-780955B22EEC}"/>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0966A007-4E75-AD89-E528-335EA2299858}"/>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37387914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C980A7-C011-6EC5-1586-E55EF40C7114}"/>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936688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16182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EC8A52-4877-26AA-1415-1C613EE56008}"/>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4498628B-71CD-B8FC-CE63-5A6A5916B4E0}"/>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B1A28FB9-3306-776E-62C8-50EA1BC17290}"/>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Tree>
    <p:extLst>
      <p:ext uri="{BB962C8B-B14F-4D97-AF65-F5344CB8AC3E}">
        <p14:creationId xmlns:p14="http://schemas.microsoft.com/office/powerpoint/2010/main" val="1491097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CD4825-4941-C57A-51D9-10AC7BA87CB8}"/>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5BBFA41E-64CF-A958-73D4-BF8C7AB56E35}"/>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EEAC0442-E05E-FD75-82B5-2EBAA9D62380}"/>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Tree>
    <p:extLst>
      <p:ext uri="{BB962C8B-B14F-4D97-AF65-F5344CB8AC3E}">
        <p14:creationId xmlns:p14="http://schemas.microsoft.com/office/powerpoint/2010/main" val="27908523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B2C798-DBA1-EF46-97F2-1111BF8DEB3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EECDDE83-F4C9-1804-E5EC-A6BBDFAAA887}"/>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6040779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E07FA61-BABF-D675-25FB-6EFF371899A0}"/>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653B934-A955-27C0-8F26-BA03D897A7CE}"/>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31047503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F93D6D-994E-C2E4-1F89-B1586BED4BC3}"/>
              </a:ext>
            </a:extLst>
          </p:cNvPr>
          <p:cNvSpPr>
            <a:spLocks noGrp="1"/>
          </p:cNvSpPr>
          <p:nvPr>
            <p:ph type="ctrTitle"/>
          </p:nvPr>
        </p:nvSpPr>
        <p:spPr>
          <a:xfrm>
            <a:off x="576263" y="566377"/>
            <a:ext cx="3457575" cy="1204854"/>
          </a:xfrm>
        </p:spPr>
        <p:txBody>
          <a:bodyPr anchor="b"/>
          <a:lstStyle>
            <a:lvl1pPr algn="ctr">
              <a:defRPr sz="3025"/>
            </a:lvl1pPr>
          </a:lstStyle>
          <a:p>
            <a:r>
              <a:rPr lang="zh-CN" altLang="en-US"/>
              <a:t>单击此处编辑母版标题样式</a:t>
            </a:r>
          </a:p>
        </p:txBody>
      </p:sp>
      <p:sp>
        <p:nvSpPr>
          <p:cNvPr id="3" name="副标题 2">
            <a:extLst>
              <a:ext uri="{FF2B5EF4-FFF2-40B4-BE49-F238E27FC236}">
                <a16:creationId xmlns:a16="http://schemas.microsoft.com/office/drawing/2014/main" id="{6091BA48-9804-3E43-8EC4-3F5DD95DCFC2}"/>
              </a:ext>
            </a:extLst>
          </p:cNvPr>
          <p:cNvSpPr>
            <a:spLocks noGrp="1"/>
          </p:cNvSpPr>
          <p:nvPr>
            <p:ph type="subTitle" idx="1"/>
          </p:nvPr>
        </p:nvSpPr>
        <p:spPr>
          <a:xfrm>
            <a:off x="576263" y="1817695"/>
            <a:ext cx="3457575" cy="835547"/>
          </a:xfrm>
        </p:spPr>
        <p:txBody>
          <a:bodyPr/>
          <a:lstStyle>
            <a:lvl1pPr marL="0" indent="0" algn="ctr">
              <a:buNone/>
              <a:defRPr sz="1210"/>
            </a:lvl1pPr>
            <a:lvl2pPr marL="230520" indent="0" algn="ctr">
              <a:buNone/>
              <a:defRPr sz="1008"/>
            </a:lvl2pPr>
            <a:lvl3pPr marL="461040" indent="0" algn="ctr">
              <a:buNone/>
              <a:defRPr sz="908"/>
            </a:lvl3pPr>
            <a:lvl4pPr marL="691561" indent="0" algn="ctr">
              <a:buNone/>
              <a:defRPr sz="807"/>
            </a:lvl4pPr>
            <a:lvl5pPr marL="922081" indent="0" algn="ctr">
              <a:buNone/>
              <a:defRPr sz="807"/>
            </a:lvl5pPr>
            <a:lvl6pPr marL="1152601" indent="0" algn="ctr">
              <a:buNone/>
              <a:defRPr sz="807"/>
            </a:lvl6pPr>
            <a:lvl7pPr marL="1383121" indent="0" algn="ctr">
              <a:buNone/>
              <a:defRPr sz="807"/>
            </a:lvl7pPr>
            <a:lvl8pPr marL="1613642" indent="0" algn="ctr">
              <a:buNone/>
              <a:defRPr sz="807"/>
            </a:lvl8pPr>
            <a:lvl9pPr marL="1844162" indent="0" algn="ctr">
              <a:buNone/>
              <a:defRPr sz="807"/>
            </a:lvl9pPr>
          </a:lstStyle>
          <a:p>
            <a:r>
              <a:rPr lang="zh-CN" altLang="en-US"/>
              <a:t>单击此处编辑母版副标题样式</a:t>
            </a:r>
          </a:p>
        </p:txBody>
      </p:sp>
      <p:sp>
        <p:nvSpPr>
          <p:cNvPr id="4" name="页脚占位符 3">
            <a:extLst>
              <a:ext uri="{FF2B5EF4-FFF2-40B4-BE49-F238E27FC236}">
                <a16:creationId xmlns:a16="http://schemas.microsoft.com/office/drawing/2014/main" id="{709ADA9D-A152-0D1E-29D9-A602055E5CBF}"/>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6E6AC2BB-516C-E850-92F8-B59DA6A4A3BA}"/>
              </a:ext>
            </a:extLst>
          </p:cNvPr>
          <p:cNvSpPr>
            <a:spLocks noGrp="1"/>
          </p:cNvSpPr>
          <p:nvPr>
            <p:ph type="sldNum" sz="quarter" idx="11"/>
          </p:nvPr>
        </p:nvSpPr>
        <p:spPr/>
        <p:txBody>
          <a:bodyPr/>
          <a:lstStyle>
            <a:lvl1pPr>
              <a:defRPr/>
            </a:lvl1pPr>
          </a:lstStyle>
          <a:p>
            <a:fld id="{E77CCB4B-E2D9-3A4A-A6BD-2C4CD873DC31}" type="slidenum">
              <a:rPr lang="zh-CN" altLang="zh-CN"/>
              <a:pPr/>
              <a:t>‹#›</a:t>
            </a:fld>
            <a:endParaRPr lang="en-US" altLang="zh-CN"/>
          </a:p>
        </p:txBody>
      </p:sp>
    </p:spTree>
    <p:extLst>
      <p:ext uri="{BB962C8B-B14F-4D97-AF65-F5344CB8AC3E}">
        <p14:creationId xmlns:p14="http://schemas.microsoft.com/office/powerpoint/2010/main" val="5516974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B26DC9-2B1F-4161-DB36-67CFC1289B3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A122839-8434-8E16-7599-3C039EEFDAA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D1C51B69-4275-556E-6005-80E8DB7FFA15}"/>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F8FFB1E1-D800-D615-DF98-7B8E434A2ACF}"/>
              </a:ext>
            </a:extLst>
          </p:cNvPr>
          <p:cNvSpPr>
            <a:spLocks noGrp="1"/>
          </p:cNvSpPr>
          <p:nvPr>
            <p:ph type="sldNum" sz="quarter" idx="11"/>
          </p:nvPr>
        </p:nvSpPr>
        <p:spPr/>
        <p:txBody>
          <a:bodyPr/>
          <a:lstStyle>
            <a:lvl1pPr>
              <a:defRPr/>
            </a:lvl1pPr>
          </a:lstStyle>
          <a:p>
            <a:fld id="{D0AF8388-590D-5544-BA51-2E0AA1E4222F}" type="slidenum">
              <a:rPr lang="zh-CN" altLang="zh-CN"/>
              <a:pPr/>
              <a:t>‹#›</a:t>
            </a:fld>
            <a:endParaRPr lang="en-US" altLang="zh-CN"/>
          </a:p>
        </p:txBody>
      </p:sp>
    </p:spTree>
    <p:extLst>
      <p:ext uri="{BB962C8B-B14F-4D97-AF65-F5344CB8AC3E}">
        <p14:creationId xmlns:p14="http://schemas.microsoft.com/office/powerpoint/2010/main" val="54319175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F9701F-9811-F48F-C319-3027DC7F7F76}"/>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3CC7E3EA-E881-11E6-1983-73B78DACA66B}"/>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A8017190-597F-673A-9695-9F40D78FDF7A}"/>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58CF7D0A-5147-849D-6909-9C4D629AD21F}"/>
              </a:ext>
            </a:extLst>
          </p:cNvPr>
          <p:cNvSpPr>
            <a:spLocks noGrp="1"/>
          </p:cNvSpPr>
          <p:nvPr>
            <p:ph type="sldNum" sz="quarter" idx="11"/>
          </p:nvPr>
        </p:nvSpPr>
        <p:spPr/>
        <p:txBody>
          <a:bodyPr/>
          <a:lstStyle>
            <a:lvl1pPr>
              <a:defRPr/>
            </a:lvl1pPr>
          </a:lstStyle>
          <a:p>
            <a:fld id="{8F48CC5D-4DBB-054F-BB91-0B5FDA710E9B}" type="slidenum">
              <a:rPr lang="zh-CN" altLang="zh-CN"/>
              <a:pPr/>
              <a:t>‹#›</a:t>
            </a:fld>
            <a:endParaRPr lang="en-US" altLang="zh-CN"/>
          </a:p>
        </p:txBody>
      </p:sp>
    </p:spTree>
    <p:extLst>
      <p:ext uri="{BB962C8B-B14F-4D97-AF65-F5344CB8AC3E}">
        <p14:creationId xmlns:p14="http://schemas.microsoft.com/office/powerpoint/2010/main" val="249137929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DCF396-6D7D-7D69-872F-E1559065AC2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30A97E8-7850-2701-0973-861D35464698}"/>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17858D8-6369-CF9F-E8A2-F852152FD1DE}"/>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EC240147-A5BB-56C9-58F9-E9140EA6CC0C}"/>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BD98DEE7-6B01-53DC-16D8-69F5BEAAC5C8}"/>
              </a:ext>
            </a:extLst>
          </p:cNvPr>
          <p:cNvSpPr>
            <a:spLocks noGrp="1"/>
          </p:cNvSpPr>
          <p:nvPr>
            <p:ph type="sldNum" sz="quarter" idx="11"/>
          </p:nvPr>
        </p:nvSpPr>
        <p:spPr/>
        <p:txBody>
          <a:bodyPr/>
          <a:lstStyle>
            <a:lvl1pPr>
              <a:defRPr/>
            </a:lvl1pPr>
          </a:lstStyle>
          <a:p>
            <a:fld id="{8C019746-BD08-8747-84D5-7DDD436B0041}" type="slidenum">
              <a:rPr lang="zh-CN" altLang="zh-CN"/>
              <a:pPr/>
              <a:t>‹#›</a:t>
            </a:fld>
            <a:endParaRPr lang="en-US" altLang="zh-CN"/>
          </a:p>
        </p:txBody>
      </p:sp>
    </p:spTree>
    <p:extLst>
      <p:ext uri="{BB962C8B-B14F-4D97-AF65-F5344CB8AC3E}">
        <p14:creationId xmlns:p14="http://schemas.microsoft.com/office/powerpoint/2010/main" val="280839675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D4E7AC-08EB-D5AE-B96D-E2D76AFDEB15}"/>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A818EAB-F5FD-394E-F5BD-A159A709A077}"/>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9EE72BD-0817-A371-2A68-C5B31D09F762}"/>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8B4D3CF-28A6-AE81-E47D-6045104D26D8}"/>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41E6D47-B987-7B78-551D-543DDB6B6252}"/>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E332F845-FECF-E3A7-DA37-16BF4D6B7B30}"/>
              </a:ext>
            </a:extLst>
          </p:cNvPr>
          <p:cNvSpPr>
            <a:spLocks noGrp="1"/>
          </p:cNvSpPr>
          <p:nvPr>
            <p:ph type="ftr" sz="quarter" idx="10"/>
          </p:nvPr>
        </p:nvSpPr>
        <p:spPr/>
        <p:txBody>
          <a:bodyPr/>
          <a:lstStyle>
            <a:lvl1pPr>
              <a:defRPr/>
            </a:lvl1pPr>
          </a:lstStyle>
          <a:p>
            <a:r>
              <a:rPr lang="zh-CN" altLang="zh-CN"/>
              <a:t>生活费用的衡量</a:t>
            </a:r>
          </a:p>
        </p:txBody>
      </p:sp>
      <p:sp>
        <p:nvSpPr>
          <p:cNvPr id="8" name="灯片编号占位符 7">
            <a:extLst>
              <a:ext uri="{FF2B5EF4-FFF2-40B4-BE49-F238E27FC236}">
                <a16:creationId xmlns:a16="http://schemas.microsoft.com/office/drawing/2014/main" id="{5006AFBB-D687-028F-2B3E-E0FB67CE0D40}"/>
              </a:ext>
            </a:extLst>
          </p:cNvPr>
          <p:cNvSpPr>
            <a:spLocks noGrp="1"/>
          </p:cNvSpPr>
          <p:nvPr>
            <p:ph type="sldNum" sz="quarter" idx="11"/>
          </p:nvPr>
        </p:nvSpPr>
        <p:spPr/>
        <p:txBody>
          <a:bodyPr/>
          <a:lstStyle>
            <a:lvl1pPr>
              <a:defRPr/>
            </a:lvl1pPr>
          </a:lstStyle>
          <a:p>
            <a:fld id="{3E524CE4-D4D3-7C45-A556-874CE046BFC4}" type="slidenum">
              <a:rPr lang="zh-CN" altLang="zh-CN"/>
              <a:pPr/>
              <a:t>‹#›</a:t>
            </a:fld>
            <a:endParaRPr lang="en-US" altLang="zh-CN"/>
          </a:p>
        </p:txBody>
      </p:sp>
    </p:spTree>
    <p:extLst>
      <p:ext uri="{BB962C8B-B14F-4D97-AF65-F5344CB8AC3E}">
        <p14:creationId xmlns:p14="http://schemas.microsoft.com/office/powerpoint/2010/main" val="13180901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8C1F7D-26D0-1C08-2FD1-DDE5BC241A34}"/>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00B4B64F-2781-4346-AD74-3DE88DA994FE}"/>
              </a:ext>
            </a:extLst>
          </p:cNvPr>
          <p:cNvSpPr>
            <a:spLocks noGrp="1"/>
          </p:cNvSpPr>
          <p:nvPr>
            <p:ph type="ftr" sz="quarter" idx="10"/>
          </p:nvPr>
        </p:nvSpPr>
        <p:spPr/>
        <p:txBody>
          <a:bodyPr/>
          <a:lstStyle>
            <a:lvl1pPr>
              <a:defRPr/>
            </a:lvl1pPr>
          </a:lstStyle>
          <a:p>
            <a:r>
              <a:rPr lang="zh-CN" altLang="zh-CN"/>
              <a:t>生活费用的衡量</a:t>
            </a:r>
          </a:p>
        </p:txBody>
      </p:sp>
      <p:sp>
        <p:nvSpPr>
          <p:cNvPr id="4" name="灯片编号占位符 3">
            <a:extLst>
              <a:ext uri="{FF2B5EF4-FFF2-40B4-BE49-F238E27FC236}">
                <a16:creationId xmlns:a16="http://schemas.microsoft.com/office/drawing/2014/main" id="{0C0DA622-DC99-C5F7-4F01-E8EB4228D669}"/>
              </a:ext>
            </a:extLst>
          </p:cNvPr>
          <p:cNvSpPr>
            <a:spLocks noGrp="1"/>
          </p:cNvSpPr>
          <p:nvPr>
            <p:ph type="sldNum" sz="quarter" idx="11"/>
          </p:nvPr>
        </p:nvSpPr>
        <p:spPr/>
        <p:txBody>
          <a:bodyPr/>
          <a:lstStyle>
            <a:lvl1pPr>
              <a:defRPr/>
            </a:lvl1pPr>
          </a:lstStyle>
          <a:p>
            <a:fld id="{D38FD99F-3486-9049-BE4B-55AEF4F9BB20}" type="slidenum">
              <a:rPr lang="zh-CN" altLang="zh-CN"/>
              <a:pPr/>
              <a:t>‹#›</a:t>
            </a:fld>
            <a:endParaRPr lang="en-US" altLang="zh-CN"/>
          </a:p>
        </p:txBody>
      </p:sp>
    </p:spTree>
    <p:extLst>
      <p:ext uri="{BB962C8B-B14F-4D97-AF65-F5344CB8AC3E}">
        <p14:creationId xmlns:p14="http://schemas.microsoft.com/office/powerpoint/2010/main" val="33648246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99DE83B1-A7D5-A18F-1C0C-4631A6538C9E}"/>
              </a:ext>
            </a:extLst>
          </p:cNvPr>
          <p:cNvSpPr>
            <a:spLocks noGrp="1"/>
          </p:cNvSpPr>
          <p:nvPr>
            <p:ph type="ftr" sz="quarter" idx="10"/>
          </p:nvPr>
        </p:nvSpPr>
        <p:spPr/>
        <p:txBody>
          <a:bodyPr/>
          <a:lstStyle>
            <a:lvl1pPr>
              <a:defRPr/>
            </a:lvl1pPr>
          </a:lstStyle>
          <a:p>
            <a:r>
              <a:rPr lang="zh-CN" altLang="zh-CN"/>
              <a:t>生活费用的衡量</a:t>
            </a:r>
          </a:p>
        </p:txBody>
      </p:sp>
      <p:sp>
        <p:nvSpPr>
          <p:cNvPr id="3" name="灯片编号占位符 2">
            <a:extLst>
              <a:ext uri="{FF2B5EF4-FFF2-40B4-BE49-F238E27FC236}">
                <a16:creationId xmlns:a16="http://schemas.microsoft.com/office/drawing/2014/main" id="{6C3C26B4-465B-E739-50FA-1A446808F3EB}"/>
              </a:ext>
            </a:extLst>
          </p:cNvPr>
          <p:cNvSpPr>
            <a:spLocks noGrp="1"/>
          </p:cNvSpPr>
          <p:nvPr>
            <p:ph type="sldNum" sz="quarter" idx="11"/>
          </p:nvPr>
        </p:nvSpPr>
        <p:spPr/>
        <p:txBody>
          <a:bodyPr/>
          <a:lstStyle>
            <a:lvl1pPr>
              <a:defRPr/>
            </a:lvl1pPr>
          </a:lstStyle>
          <a:p>
            <a:fld id="{EAD2A00F-3126-DD4B-82C2-10BEB7EF7B41}" type="slidenum">
              <a:rPr lang="zh-CN" altLang="zh-CN"/>
              <a:pPr/>
              <a:t>‹#›</a:t>
            </a:fld>
            <a:endParaRPr lang="en-US" altLang="zh-CN"/>
          </a:p>
        </p:txBody>
      </p:sp>
    </p:spTree>
    <p:extLst>
      <p:ext uri="{BB962C8B-B14F-4D97-AF65-F5344CB8AC3E}">
        <p14:creationId xmlns:p14="http://schemas.microsoft.com/office/powerpoint/2010/main" val="369460896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C84AB1-3EED-B433-1007-6BC072FB9AE2}"/>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C941EF50-8010-742D-18C1-D12264A9A3D7}"/>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F30C14B-F25E-A4B7-FD84-EA0A436DCBF4}"/>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5BF2F1DC-CB49-84A7-2D63-35E1404890BD}"/>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7EAB6EB8-7399-0F47-86D3-B3BF1263C860}"/>
              </a:ext>
            </a:extLst>
          </p:cNvPr>
          <p:cNvSpPr>
            <a:spLocks noGrp="1"/>
          </p:cNvSpPr>
          <p:nvPr>
            <p:ph type="sldNum" sz="quarter" idx="11"/>
          </p:nvPr>
        </p:nvSpPr>
        <p:spPr/>
        <p:txBody>
          <a:bodyPr/>
          <a:lstStyle>
            <a:lvl1pPr>
              <a:defRPr/>
            </a:lvl1pPr>
          </a:lstStyle>
          <a:p>
            <a:fld id="{A03B7D81-BB90-0947-B5D0-55F35EC80EB2}" type="slidenum">
              <a:rPr lang="zh-CN" altLang="zh-CN"/>
              <a:pPr/>
              <a:t>‹#›</a:t>
            </a:fld>
            <a:endParaRPr lang="en-US" altLang="zh-CN"/>
          </a:p>
        </p:txBody>
      </p:sp>
    </p:spTree>
    <p:extLst>
      <p:ext uri="{BB962C8B-B14F-4D97-AF65-F5344CB8AC3E}">
        <p14:creationId xmlns:p14="http://schemas.microsoft.com/office/powerpoint/2010/main" val="20448488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4193E0-9740-434C-4FB9-F7433950871D}"/>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0B8E671B-C5F2-4717-E9CD-876EF4AD615C}"/>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339518FB-4D23-33BB-B98D-565791E1DA2D}"/>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B5A5A2E9-01C9-C553-01C0-236F50E1B3F2}"/>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3B931CDD-FCAA-49EF-7E3F-CB5E1EE05166}"/>
              </a:ext>
            </a:extLst>
          </p:cNvPr>
          <p:cNvSpPr>
            <a:spLocks noGrp="1"/>
          </p:cNvSpPr>
          <p:nvPr>
            <p:ph type="sldNum" sz="quarter" idx="11"/>
          </p:nvPr>
        </p:nvSpPr>
        <p:spPr/>
        <p:txBody>
          <a:bodyPr/>
          <a:lstStyle>
            <a:lvl1pPr>
              <a:defRPr/>
            </a:lvl1pPr>
          </a:lstStyle>
          <a:p>
            <a:fld id="{E7CBFEAC-A4C7-8C41-94E9-893F56F0A61D}" type="slidenum">
              <a:rPr lang="zh-CN" altLang="zh-CN"/>
              <a:pPr/>
              <a:t>‹#›</a:t>
            </a:fld>
            <a:endParaRPr lang="en-US" altLang="zh-CN"/>
          </a:p>
        </p:txBody>
      </p:sp>
    </p:spTree>
    <p:extLst>
      <p:ext uri="{BB962C8B-B14F-4D97-AF65-F5344CB8AC3E}">
        <p14:creationId xmlns:p14="http://schemas.microsoft.com/office/powerpoint/2010/main" val="98385630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E672A6-36E6-5BD1-57BB-11A48434E53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5016762-B61A-FE9D-C36B-4F7CF7F204DB}"/>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7E8C3C2C-F35F-B777-33C8-1C7160CC1140}"/>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1356938B-A164-C18E-8B50-E176A0719A07}"/>
              </a:ext>
            </a:extLst>
          </p:cNvPr>
          <p:cNvSpPr>
            <a:spLocks noGrp="1"/>
          </p:cNvSpPr>
          <p:nvPr>
            <p:ph type="sldNum" sz="quarter" idx="11"/>
          </p:nvPr>
        </p:nvSpPr>
        <p:spPr/>
        <p:txBody>
          <a:bodyPr/>
          <a:lstStyle>
            <a:lvl1pPr>
              <a:defRPr/>
            </a:lvl1pPr>
          </a:lstStyle>
          <a:p>
            <a:fld id="{696BD5E4-A9C4-1D46-BE6B-B0C64B4E3D02}" type="slidenum">
              <a:rPr lang="zh-CN" altLang="zh-CN"/>
              <a:pPr/>
              <a:t>‹#›</a:t>
            </a:fld>
            <a:endParaRPr lang="en-US" altLang="zh-CN"/>
          </a:p>
        </p:txBody>
      </p:sp>
    </p:spTree>
    <p:extLst>
      <p:ext uri="{BB962C8B-B14F-4D97-AF65-F5344CB8AC3E}">
        <p14:creationId xmlns:p14="http://schemas.microsoft.com/office/powerpoint/2010/main" val="39086302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EE4EA72-1D8E-1C9F-BD87-D49D5FD33810}"/>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69A91E5-A1FF-3EDF-5C72-87DC0E09937A}"/>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64ABEF12-CC41-AC5C-FC66-3AA2D5EDCD51}"/>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F3D4FD1E-F446-1251-1014-FCD174BCF689}"/>
              </a:ext>
            </a:extLst>
          </p:cNvPr>
          <p:cNvSpPr>
            <a:spLocks noGrp="1"/>
          </p:cNvSpPr>
          <p:nvPr>
            <p:ph type="sldNum" sz="quarter" idx="11"/>
          </p:nvPr>
        </p:nvSpPr>
        <p:spPr/>
        <p:txBody>
          <a:bodyPr/>
          <a:lstStyle>
            <a:lvl1pPr>
              <a:defRPr/>
            </a:lvl1pPr>
          </a:lstStyle>
          <a:p>
            <a:fld id="{6ACBF6CB-DBDA-A840-B3EE-516AA779242A}" type="slidenum">
              <a:rPr lang="zh-CN" altLang="zh-CN"/>
              <a:pPr/>
              <a:t>‹#›</a:t>
            </a:fld>
            <a:endParaRPr lang="en-US" altLang="zh-CN"/>
          </a:p>
        </p:txBody>
      </p:sp>
    </p:spTree>
    <p:extLst>
      <p:ext uri="{BB962C8B-B14F-4D97-AF65-F5344CB8AC3E}">
        <p14:creationId xmlns:p14="http://schemas.microsoft.com/office/powerpoint/2010/main" val="402672111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162E093A-D4FD-FF0C-95A6-C95C6AF75C83}"/>
              </a:ext>
            </a:extLst>
          </p:cNvPr>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a:extLst>
              <a:ext uri="{FF2B5EF4-FFF2-40B4-BE49-F238E27FC236}">
                <a16:creationId xmlns:a16="http://schemas.microsoft.com/office/drawing/2014/main" id="{D05A7577-1BD5-859B-AE64-3998BB53ECDA}"/>
              </a:ext>
            </a:extLst>
          </p:cNvPr>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807"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2" name="Rectangle 4">
            <a:extLst>
              <a:ext uri="{FF2B5EF4-FFF2-40B4-BE49-F238E27FC236}">
                <a16:creationId xmlns:a16="http://schemas.microsoft.com/office/drawing/2014/main" id="{D915076C-AFFB-C633-27A1-51C9AB40AD0C}"/>
              </a:ext>
            </a:extLst>
          </p:cNvPr>
          <p:cNvSpPr>
            <a:spLocks noGrp="1" noChangeArrowheads="1"/>
          </p:cNvSpPr>
          <p:nvPr>
            <p:ph type="subTitle" idx="1"/>
          </p:nvPr>
        </p:nvSpPr>
        <p:spPr>
          <a:xfrm>
            <a:off x="1002056" y="65690"/>
            <a:ext cx="614680" cy="499886"/>
          </a:xfrm>
        </p:spPr>
        <p:txBody>
          <a:bodyPr/>
          <a:lstStyle>
            <a:lvl1pPr marL="0" indent="0" algn="ctr">
              <a:buFont typeface="Wingdings" pitchFamily="2" charset="2"/>
              <a:buNone/>
              <a:defRPr sz="2924" i="1">
                <a:solidFill>
                  <a:srgbClr val="008080"/>
                </a:solidFill>
                <a:latin typeface="Tahoma" panose="020B0604030504040204" pitchFamily="34" charset="0"/>
              </a:defRPr>
            </a:lvl1pPr>
          </a:lstStyle>
          <a:p>
            <a:pPr lvl="0"/>
            <a:r>
              <a:rPr lang="en-US" altLang="zh-CN" noProof="0"/>
              <a:t>34</a:t>
            </a:r>
          </a:p>
        </p:txBody>
      </p:sp>
      <p:sp>
        <p:nvSpPr>
          <p:cNvPr id="2053" name="TextBox 6">
            <a:extLst>
              <a:ext uri="{FF2B5EF4-FFF2-40B4-BE49-F238E27FC236}">
                <a16:creationId xmlns:a16="http://schemas.microsoft.com/office/drawing/2014/main" id="{9340E616-2EFF-C0CA-68E3-76AC23FABEDA}"/>
              </a:ext>
            </a:extLst>
          </p:cNvPr>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zh-CN" sz="1109">
                <a:solidFill>
                  <a:srgbClr val="008080"/>
                </a:solidFill>
                <a:latin typeface="Tahoma" panose="020B0604030504040204" pitchFamily="34" charset="0"/>
                <a:ea typeface="宋体" panose="02010600030101010101" pitchFamily="2" charset="-122"/>
              </a:rPr>
              <a:t>C H A P T E R</a:t>
            </a:r>
          </a:p>
        </p:txBody>
      </p:sp>
    </p:spTree>
    <p:extLst>
      <p:ext uri="{BB962C8B-B14F-4D97-AF65-F5344CB8AC3E}">
        <p14:creationId xmlns:p14="http://schemas.microsoft.com/office/powerpoint/2010/main" val="29851824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325BE6-9699-A2B3-54A2-EB00933D623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A6E5245-4975-C64F-B820-EF12F8551CA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FA18E20B-DA43-1E62-3B6A-E7E85CC88F3A}"/>
              </a:ext>
            </a:extLst>
          </p:cNvPr>
          <p:cNvSpPr>
            <a:spLocks noGrp="1"/>
          </p:cNvSpPr>
          <p:nvPr>
            <p:ph type="ftr" sz="quarter" idx="10"/>
          </p:nvPr>
        </p:nvSpPr>
        <p:spPr/>
        <p:txBody>
          <a:bodyPr/>
          <a:lstStyle>
            <a:lvl1pPr>
              <a:defRPr/>
            </a:lvl1pPr>
          </a:lstStyle>
          <a:p>
            <a:r>
              <a:rPr lang="zh-CN" altLang="zh-CN"/>
              <a:t>失业</a:t>
            </a:r>
          </a:p>
        </p:txBody>
      </p:sp>
      <p:sp>
        <p:nvSpPr>
          <p:cNvPr id="5" name="灯片编号占位符 4">
            <a:extLst>
              <a:ext uri="{FF2B5EF4-FFF2-40B4-BE49-F238E27FC236}">
                <a16:creationId xmlns:a16="http://schemas.microsoft.com/office/drawing/2014/main" id="{46386611-8453-DC2C-881F-26A91F7E6125}"/>
              </a:ext>
            </a:extLst>
          </p:cNvPr>
          <p:cNvSpPr>
            <a:spLocks noGrp="1"/>
          </p:cNvSpPr>
          <p:nvPr>
            <p:ph type="sldNum" sz="quarter" idx="11"/>
          </p:nvPr>
        </p:nvSpPr>
        <p:spPr/>
        <p:txBody>
          <a:bodyPr/>
          <a:lstStyle>
            <a:lvl1pPr>
              <a:defRPr/>
            </a:lvl1pPr>
          </a:lstStyle>
          <a:p>
            <a:fld id="{B051FCA5-A2F0-8E45-9379-80C4F6EBC639}" type="slidenum">
              <a:rPr lang="zh-CN" altLang="zh-CN"/>
              <a:pPr/>
              <a:t>‹#›</a:t>
            </a:fld>
            <a:endParaRPr lang="en-US" altLang="zh-CN"/>
          </a:p>
        </p:txBody>
      </p:sp>
    </p:spTree>
    <p:extLst>
      <p:ext uri="{BB962C8B-B14F-4D97-AF65-F5344CB8AC3E}">
        <p14:creationId xmlns:p14="http://schemas.microsoft.com/office/powerpoint/2010/main" val="14608188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501BE8-F403-5F8D-54E6-181D76DF9E75}"/>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B2951E99-6B6A-CEB9-E4FF-4BEB1EC8D6D7}"/>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3470ED46-D259-CBC6-6AD5-152686DBAA9E}"/>
              </a:ext>
            </a:extLst>
          </p:cNvPr>
          <p:cNvSpPr>
            <a:spLocks noGrp="1"/>
          </p:cNvSpPr>
          <p:nvPr>
            <p:ph type="ftr" sz="quarter" idx="10"/>
          </p:nvPr>
        </p:nvSpPr>
        <p:spPr/>
        <p:txBody>
          <a:bodyPr/>
          <a:lstStyle>
            <a:lvl1pPr>
              <a:defRPr/>
            </a:lvl1pPr>
          </a:lstStyle>
          <a:p>
            <a:r>
              <a:rPr lang="zh-CN" altLang="zh-CN"/>
              <a:t>失业</a:t>
            </a:r>
          </a:p>
        </p:txBody>
      </p:sp>
      <p:sp>
        <p:nvSpPr>
          <p:cNvPr id="5" name="灯片编号占位符 4">
            <a:extLst>
              <a:ext uri="{FF2B5EF4-FFF2-40B4-BE49-F238E27FC236}">
                <a16:creationId xmlns:a16="http://schemas.microsoft.com/office/drawing/2014/main" id="{9FEB97E0-90A2-398F-C708-2E137919814A}"/>
              </a:ext>
            </a:extLst>
          </p:cNvPr>
          <p:cNvSpPr>
            <a:spLocks noGrp="1"/>
          </p:cNvSpPr>
          <p:nvPr>
            <p:ph type="sldNum" sz="quarter" idx="11"/>
          </p:nvPr>
        </p:nvSpPr>
        <p:spPr/>
        <p:txBody>
          <a:bodyPr/>
          <a:lstStyle>
            <a:lvl1pPr>
              <a:defRPr/>
            </a:lvl1pPr>
          </a:lstStyle>
          <a:p>
            <a:fld id="{BD1BE090-09CA-8344-BCD4-B802B0B806EE}" type="slidenum">
              <a:rPr lang="zh-CN" altLang="zh-CN"/>
              <a:pPr/>
              <a:t>‹#›</a:t>
            </a:fld>
            <a:endParaRPr lang="en-US" altLang="zh-CN"/>
          </a:p>
        </p:txBody>
      </p:sp>
    </p:spTree>
    <p:extLst>
      <p:ext uri="{BB962C8B-B14F-4D97-AF65-F5344CB8AC3E}">
        <p14:creationId xmlns:p14="http://schemas.microsoft.com/office/powerpoint/2010/main" val="16098969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E6A088-A5E4-F23C-1700-F5F066FE6C3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E0970F3-C3D9-964A-601F-6142319E2961}"/>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194ADB4-4C60-8D4C-13A2-205500FAC3E2}"/>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DF20EB24-2C7B-1A84-305C-158FA3CBB167}"/>
              </a:ext>
            </a:extLst>
          </p:cNvPr>
          <p:cNvSpPr>
            <a:spLocks noGrp="1"/>
          </p:cNvSpPr>
          <p:nvPr>
            <p:ph type="ftr" sz="quarter" idx="10"/>
          </p:nvPr>
        </p:nvSpPr>
        <p:spPr/>
        <p:txBody>
          <a:bodyPr/>
          <a:lstStyle>
            <a:lvl1pPr>
              <a:defRPr/>
            </a:lvl1pPr>
          </a:lstStyle>
          <a:p>
            <a:r>
              <a:rPr lang="zh-CN" altLang="zh-CN"/>
              <a:t>失业</a:t>
            </a:r>
          </a:p>
        </p:txBody>
      </p:sp>
      <p:sp>
        <p:nvSpPr>
          <p:cNvPr id="6" name="灯片编号占位符 5">
            <a:extLst>
              <a:ext uri="{FF2B5EF4-FFF2-40B4-BE49-F238E27FC236}">
                <a16:creationId xmlns:a16="http://schemas.microsoft.com/office/drawing/2014/main" id="{610662FC-3123-AF7F-D290-838239580342}"/>
              </a:ext>
            </a:extLst>
          </p:cNvPr>
          <p:cNvSpPr>
            <a:spLocks noGrp="1"/>
          </p:cNvSpPr>
          <p:nvPr>
            <p:ph type="sldNum" sz="quarter" idx="11"/>
          </p:nvPr>
        </p:nvSpPr>
        <p:spPr/>
        <p:txBody>
          <a:bodyPr/>
          <a:lstStyle>
            <a:lvl1pPr>
              <a:defRPr/>
            </a:lvl1pPr>
          </a:lstStyle>
          <a:p>
            <a:fld id="{1F402D5B-4EF6-DD4B-B320-396F64754D48}" type="slidenum">
              <a:rPr lang="zh-CN" altLang="zh-CN"/>
              <a:pPr/>
              <a:t>‹#›</a:t>
            </a:fld>
            <a:endParaRPr lang="en-US" altLang="zh-CN"/>
          </a:p>
        </p:txBody>
      </p:sp>
    </p:spTree>
    <p:extLst>
      <p:ext uri="{BB962C8B-B14F-4D97-AF65-F5344CB8AC3E}">
        <p14:creationId xmlns:p14="http://schemas.microsoft.com/office/powerpoint/2010/main" val="348183680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9DA780-E1BE-F5C9-B88A-E0FC50821476}"/>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D6211110-B16B-2F66-FCAC-9B252B06AAEB}"/>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39BA422-FD5C-F0C4-755F-BBA6ACC00800}"/>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2D8998F8-5F36-0CB1-7E95-79943212C958}"/>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1E13E449-2E5B-742F-327B-DE0E937105AD}"/>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20108D55-DFD0-16C1-E974-1B8C5DD2B29B}"/>
              </a:ext>
            </a:extLst>
          </p:cNvPr>
          <p:cNvSpPr>
            <a:spLocks noGrp="1"/>
          </p:cNvSpPr>
          <p:nvPr>
            <p:ph type="ftr" sz="quarter" idx="10"/>
          </p:nvPr>
        </p:nvSpPr>
        <p:spPr/>
        <p:txBody>
          <a:bodyPr/>
          <a:lstStyle>
            <a:lvl1pPr>
              <a:defRPr/>
            </a:lvl1pPr>
          </a:lstStyle>
          <a:p>
            <a:r>
              <a:rPr lang="zh-CN" altLang="zh-CN"/>
              <a:t>失业</a:t>
            </a:r>
          </a:p>
        </p:txBody>
      </p:sp>
      <p:sp>
        <p:nvSpPr>
          <p:cNvPr id="8" name="灯片编号占位符 7">
            <a:extLst>
              <a:ext uri="{FF2B5EF4-FFF2-40B4-BE49-F238E27FC236}">
                <a16:creationId xmlns:a16="http://schemas.microsoft.com/office/drawing/2014/main" id="{87542D1F-8FF4-0AAD-7CFD-885387B04B2B}"/>
              </a:ext>
            </a:extLst>
          </p:cNvPr>
          <p:cNvSpPr>
            <a:spLocks noGrp="1"/>
          </p:cNvSpPr>
          <p:nvPr>
            <p:ph type="sldNum" sz="quarter" idx="11"/>
          </p:nvPr>
        </p:nvSpPr>
        <p:spPr/>
        <p:txBody>
          <a:bodyPr/>
          <a:lstStyle>
            <a:lvl1pPr>
              <a:defRPr/>
            </a:lvl1pPr>
          </a:lstStyle>
          <a:p>
            <a:fld id="{4F0A2AC6-4DC9-4A48-BB4A-60AD3ABC5960}" type="slidenum">
              <a:rPr lang="zh-CN" altLang="zh-CN"/>
              <a:pPr/>
              <a:t>‹#›</a:t>
            </a:fld>
            <a:endParaRPr lang="en-US" altLang="zh-CN"/>
          </a:p>
        </p:txBody>
      </p:sp>
    </p:spTree>
    <p:extLst>
      <p:ext uri="{BB962C8B-B14F-4D97-AF65-F5344CB8AC3E}">
        <p14:creationId xmlns:p14="http://schemas.microsoft.com/office/powerpoint/2010/main" val="35230283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354EA3-095D-A3E1-D232-795E1833FF0B}"/>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FEEDE4DB-A6F6-EF2F-2DE5-9D75FD9BE5E6}"/>
              </a:ext>
            </a:extLst>
          </p:cNvPr>
          <p:cNvSpPr>
            <a:spLocks noGrp="1"/>
          </p:cNvSpPr>
          <p:nvPr>
            <p:ph type="ftr" sz="quarter" idx="10"/>
          </p:nvPr>
        </p:nvSpPr>
        <p:spPr/>
        <p:txBody>
          <a:bodyPr/>
          <a:lstStyle>
            <a:lvl1pPr>
              <a:defRPr/>
            </a:lvl1pPr>
          </a:lstStyle>
          <a:p>
            <a:r>
              <a:rPr lang="zh-CN" altLang="zh-CN"/>
              <a:t>失业</a:t>
            </a:r>
          </a:p>
        </p:txBody>
      </p:sp>
      <p:sp>
        <p:nvSpPr>
          <p:cNvPr id="4" name="灯片编号占位符 3">
            <a:extLst>
              <a:ext uri="{FF2B5EF4-FFF2-40B4-BE49-F238E27FC236}">
                <a16:creationId xmlns:a16="http://schemas.microsoft.com/office/drawing/2014/main" id="{F2A50AC6-89C4-B1F5-8123-5AB3994B2E6F}"/>
              </a:ext>
            </a:extLst>
          </p:cNvPr>
          <p:cNvSpPr>
            <a:spLocks noGrp="1"/>
          </p:cNvSpPr>
          <p:nvPr>
            <p:ph type="sldNum" sz="quarter" idx="11"/>
          </p:nvPr>
        </p:nvSpPr>
        <p:spPr/>
        <p:txBody>
          <a:bodyPr/>
          <a:lstStyle>
            <a:lvl1pPr>
              <a:defRPr/>
            </a:lvl1pPr>
          </a:lstStyle>
          <a:p>
            <a:fld id="{5F23D4F0-0404-334E-A4EB-1C015BC63AFF}" type="slidenum">
              <a:rPr lang="zh-CN" altLang="zh-CN"/>
              <a:pPr/>
              <a:t>‹#›</a:t>
            </a:fld>
            <a:endParaRPr lang="en-US" altLang="zh-CN"/>
          </a:p>
        </p:txBody>
      </p:sp>
    </p:spTree>
    <p:extLst>
      <p:ext uri="{BB962C8B-B14F-4D97-AF65-F5344CB8AC3E}">
        <p14:creationId xmlns:p14="http://schemas.microsoft.com/office/powerpoint/2010/main" val="3266898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D2F40646-60A2-E4E4-21C8-DBC2F7C5CE9C}"/>
              </a:ext>
            </a:extLst>
          </p:cNvPr>
          <p:cNvSpPr>
            <a:spLocks noGrp="1"/>
          </p:cNvSpPr>
          <p:nvPr>
            <p:ph type="ftr" sz="quarter" idx="10"/>
          </p:nvPr>
        </p:nvSpPr>
        <p:spPr/>
        <p:txBody>
          <a:bodyPr/>
          <a:lstStyle>
            <a:lvl1pPr>
              <a:defRPr/>
            </a:lvl1pPr>
          </a:lstStyle>
          <a:p>
            <a:r>
              <a:rPr lang="zh-CN" altLang="zh-CN"/>
              <a:t>失业</a:t>
            </a:r>
          </a:p>
        </p:txBody>
      </p:sp>
      <p:sp>
        <p:nvSpPr>
          <p:cNvPr id="3" name="灯片编号占位符 2">
            <a:extLst>
              <a:ext uri="{FF2B5EF4-FFF2-40B4-BE49-F238E27FC236}">
                <a16:creationId xmlns:a16="http://schemas.microsoft.com/office/drawing/2014/main" id="{2852A371-1A45-C904-A1CC-354A2C05F7A3}"/>
              </a:ext>
            </a:extLst>
          </p:cNvPr>
          <p:cNvSpPr>
            <a:spLocks noGrp="1"/>
          </p:cNvSpPr>
          <p:nvPr>
            <p:ph type="sldNum" sz="quarter" idx="11"/>
          </p:nvPr>
        </p:nvSpPr>
        <p:spPr/>
        <p:txBody>
          <a:bodyPr/>
          <a:lstStyle>
            <a:lvl1pPr>
              <a:defRPr/>
            </a:lvl1pPr>
          </a:lstStyle>
          <a:p>
            <a:fld id="{0EBDC2B9-F60A-AA4B-90BB-05AE46850CFA}" type="slidenum">
              <a:rPr lang="zh-CN" altLang="zh-CN"/>
              <a:pPr/>
              <a:t>‹#›</a:t>
            </a:fld>
            <a:endParaRPr lang="en-US" altLang="zh-CN"/>
          </a:p>
        </p:txBody>
      </p:sp>
    </p:spTree>
    <p:extLst>
      <p:ext uri="{BB962C8B-B14F-4D97-AF65-F5344CB8AC3E}">
        <p14:creationId xmlns:p14="http://schemas.microsoft.com/office/powerpoint/2010/main" val="83905028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452F29-BFA5-898F-A520-0A75CA6B3D71}"/>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9DAA7428-2BE1-7B38-AAEF-CB8A856A671B}"/>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02A15505-FA00-D873-A269-1CA68B069BA4}"/>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530D1603-D265-D9D7-8BAF-EA59E8C91DBD}"/>
              </a:ext>
            </a:extLst>
          </p:cNvPr>
          <p:cNvSpPr>
            <a:spLocks noGrp="1"/>
          </p:cNvSpPr>
          <p:nvPr>
            <p:ph type="ftr" sz="quarter" idx="10"/>
          </p:nvPr>
        </p:nvSpPr>
        <p:spPr/>
        <p:txBody>
          <a:bodyPr/>
          <a:lstStyle>
            <a:lvl1pPr>
              <a:defRPr/>
            </a:lvl1pPr>
          </a:lstStyle>
          <a:p>
            <a:r>
              <a:rPr lang="zh-CN" altLang="zh-CN"/>
              <a:t>失业</a:t>
            </a:r>
          </a:p>
        </p:txBody>
      </p:sp>
      <p:sp>
        <p:nvSpPr>
          <p:cNvPr id="6" name="灯片编号占位符 5">
            <a:extLst>
              <a:ext uri="{FF2B5EF4-FFF2-40B4-BE49-F238E27FC236}">
                <a16:creationId xmlns:a16="http://schemas.microsoft.com/office/drawing/2014/main" id="{7BC7CD3E-0FB6-9F93-BD8F-8447E990AFDC}"/>
              </a:ext>
            </a:extLst>
          </p:cNvPr>
          <p:cNvSpPr>
            <a:spLocks noGrp="1"/>
          </p:cNvSpPr>
          <p:nvPr>
            <p:ph type="sldNum" sz="quarter" idx="11"/>
          </p:nvPr>
        </p:nvSpPr>
        <p:spPr/>
        <p:txBody>
          <a:bodyPr/>
          <a:lstStyle>
            <a:lvl1pPr>
              <a:defRPr/>
            </a:lvl1pPr>
          </a:lstStyle>
          <a:p>
            <a:fld id="{7E24587C-9CDC-4A4D-95D6-4E4C878F19EB}" type="slidenum">
              <a:rPr lang="zh-CN" altLang="zh-CN"/>
              <a:pPr/>
              <a:t>‹#›</a:t>
            </a:fld>
            <a:endParaRPr lang="en-US" altLang="zh-CN"/>
          </a:p>
        </p:txBody>
      </p:sp>
    </p:spTree>
    <p:extLst>
      <p:ext uri="{BB962C8B-B14F-4D97-AF65-F5344CB8AC3E}">
        <p14:creationId xmlns:p14="http://schemas.microsoft.com/office/powerpoint/2010/main" val="221992944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6D7CB6-2815-851C-9963-93BB4B0E4F4B}"/>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D21912FC-2F18-1704-0891-C2EC885EB302}"/>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A9DDB3D8-0D11-6BBE-C6A8-9E1ED816CB1E}"/>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ED757EB3-C41B-F71C-9880-15AEA745BA47}"/>
              </a:ext>
            </a:extLst>
          </p:cNvPr>
          <p:cNvSpPr>
            <a:spLocks noGrp="1"/>
          </p:cNvSpPr>
          <p:nvPr>
            <p:ph type="ftr" sz="quarter" idx="10"/>
          </p:nvPr>
        </p:nvSpPr>
        <p:spPr/>
        <p:txBody>
          <a:bodyPr/>
          <a:lstStyle>
            <a:lvl1pPr>
              <a:defRPr/>
            </a:lvl1pPr>
          </a:lstStyle>
          <a:p>
            <a:r>
              <a:rPr lang="zh-CN" altLang="zh-CN"/>
              <a:t>失业</a:t>
            </a:r>
          </a:p>
        </p:txBody>
      </p:sp>
      <p:sp>
        <p:nvSpPr>
          <p:cNvPr id="6" name="灯片编号占位符 5">
            <a:extLst>
              <a:ext uri="{FF2B5EF4-FFF2-40B4-BE49-F238E27FC236}">
                <a16:creationId xmlns:a16="http://schemas.microsoft.com/office/drawing/2014/main" id="{F3756959-9B89-40D2-439A-08D16CEE3B49}"/>
              </a:ext>
            </a:extLst>
          </p:cNvPr>
          <p:cNvSpPr>
            <a:spLocks noGrp="1"/>
          </p:cNvSpPr>
          <p:nvPr>
            <p:ph type="sldNum" sz="quarter" idx="11"/>
          </p:nvPr>
        </p:nvSpPr>
        <p:spPr/>
        <p:txBody>
          <a:bodyPr/>
          <a:lstStyle>
            <a:lvl1pPr>
              <a:defRPr/>
            </a:lvl1pPr>
          </a:lstStyle>
          <a:p>
            <a:fld id="{A95D2E13-47B2-EE48-99AA-C099551196A2}" type="slidenum">
              <a:rPr lang="zh-CN" altLang="zh-CN"/>
              <a:pPr/>
              <a:t>‹#›</a:t>
            </a:fld>
            <a:endParaRPr lang="en-US" altLang="zh-CN"/>
          </a:p>
        </p:txBody>
      </p:sp>
    </p:spTree>
    <p:extLst>
      <p:ext uri="{BB962C8B-B14F-4D97-AF65-F5344CB8AC3E}">
        <p14:creationId xmlns:p14="http://schemas.microsoft.com/office/powerpoint/2010/main" val="33364552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9DFBF1-DE1E-869F-C5EB-F22F72BB7BC0}"/>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76DBBD4-510B-532F-D5A2-5FA665CCB413}"/>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CB52DD2A-C144-F8FE-5D44-71B2FA57BEFE}"/>
              </a:ext>
            </a:extLst>
          </p:cNvPr>
          <p:cNvSpPr>
            <a:spLocks noGrp="1"/>
          </p:cNvSpPr>
          <p:nvPr>
            <p:ph type="ftr" sz="quarter" idx="10"/>
          </p:nvPr>
        </p:nvSpPr>
        <p:spPr/>
        <p:txBody>
          <a:bodyPr/>
          <a:lstStyle>
            <a:lvl1pPr>
              <a:defRPr/>
            </a:lvl1pPr>
          </a:lstStyle>
          <a:p>
            <a:r>
              <a:rPr lang="zh-CN" altLang="zh-CN"/>
              <a:t>失业</a:t>
            </a:r>
          </a:p>
        </p:txBody>
      </p:sp>
      <p:sp>
        <p:nvSpPr>
          <p:cNvPr id="5" name="灯片编号占位符 4">
            <a:extLst>
              <a:ext uri="{FF2B5EF4-FFF2-40B4-BE49-F238E27FC236}">
                <a16:creationId xmlns:a16="http://schemas.microsoft.com/office/drawing/2014/main" id="{EF1AD0DC-18B8-B97C-537C-144B46BFDAD7}"/>
              </a:ext>
            </a:extLst>
          </p:cNvPr>
          <p:cNvSpPr>
            <a:spLocks noGrp="1"/>
          </p:cNvSpPr>
          <p:nvPr>
            <p:ph type="sldNum" sz="quarter" idx="11"/>
          </p:nvPr>
        </p:nvSpPr>
        <p:spPr/>
        <p:txBody>
          <a:bodyPr/>
          <a:lstStyle>
            <a:lvl1pPr>
              <a:defRPr/>
            </a:lvl1pPr>
          </a:lstStyle>
          <a:p>
            <a:fld id="{2FEF0E8A-4AF6-634E-8D80-88424E2EC811}" type="slidenum">
              <a:rPr lang="zh-CN" altLang="zh-CN"/>
              <a:pPr/>
              <a:t>‹#›</a:t>
            </a:fld>
            <a:endParaRPr lang="en-US" altLang="zh-CN"/>
          </a:p>
        </p:txBody>
      </p:sp>
    </p:spTree>
    <p:extLst>
      <p:ext uri="{BB962C8B-B14F-4D97-AF65-F5344CB8AC3E}">
        <p14:creationId xmlns:p14="http://schemas.microsoft.com/office/powerpoint/2010/main" val="374759703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4B0B9B1-11A6-DDF1-E52F-88C533173952}"/>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731515D9-4FFE-692B-B9C0-4E00B2D5CBF4}"/>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259D0D84-E918-85ED-5A72-1E53A5050359}"/>
              </a:ext>
            </a:extLst>
          </p:cNvPr>
          <p:cNvSpPr>
            <a:spLocks noGrp="1"/>
          </p:cNvSpPr>
          <p:nvPr>
            <p:ph type="ftr" sz="quarter" idx="10"/>
          </p:nvPr>
        </p:nvSpPr>
        <p:spPr/>
        <p:txBody>
          <a:bodyPr/>
          <a:lstStyle>
            <a:lvl1pPr>
              <a:defRPr/>
            </a:lvl1pPr>
          </a:lstStyle>
          <a:p>
            <a:r>
              <a:rPr lang="zh-CN" altLang="zh-CN"/>
              <a:t>失业</a:t>
            </a:r>
          </a:p>
        </p:txBody>
      </p:sp>
      <p:sp>
        <p:nvSpPr>
          <p:cNvPr id="5" name="灯片编号占位符 4">
            <a:extLst>
              <a:ext uri="{FF2B5EF4-FFF2-40B4-BE49-F238E27FC236}">
                <a16:creationId xmlns:a16="http://schemas.microsoft.com/office/drawing/2014/main" id="{D52B6529-399C-E3F1-76D8-023374BFEA6E}"/>
              </a:ext>
            </a:extLst>
          </p:cNvPr>
          <p:cNvSpPr>
            <a:spLocks noGrp="1"/>
          </p:cNvSpPr>
          <p:nvPr>
            <p:ph type="sldNum" sz="quarter" idx="11"/>
          </p:nvPr>
        </p:nvSpPr>
        <p:spPr/>
        <p:txBody>
          <a:bodyPr/>
          <a:lstStyle>
            <a:lvl1pPr>
              <a:defRPr/>
            </a:lvl1pPr>
          </a:lstStyle>
          <a:p>
            <a:fld id="{B31C5811-928D-9447-A160-1F09DAF9FA61}" type="slidenum">
              <a:rPr lang="zh-CN" altLang="zh-CN"/>
              <a:pPr/>
              <a:t>‹#›</a:t>
            </a:fld>
            <a:endParaRPr lang="en-US" altLang="zh-CN"/>
          </a:p>
        </p:txBody>
      </p:sp>
    </p:spTree>
    <p:extLst>
      <p:ext uri="{BB962C8B-B14F-4D97-AF65-F5344CB8AC3E}">
        <p14:creationId xmlns:p14="http://schemas.microsoft.com/office/powerpoint/2010/main" val="131407847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345758" y="566377"/>
            <a:ext cx="3918585" cy="1204854"/>
          </a:xfrm>
        </p:spPr>
        <p:txBody>
          <a:bodyPr anchor="b"/>
          <a:lstStyle>
            <a:lvl1pPr algn="ctr">
              <a:defRPr sz="3025">
                <a:solidFill>
                  <a:srgbClr val="C00000"/>
                </a:solidFill>
                <a:latin typeface="Garamond" panose="02020404030301010803" pitchFamily="18" charset="0"/>
                <a:ea typeface="SimSun" panose="02010600030101010101" pitchFamily="2" charset="-122"/>
              </a:defRPr>
            </a:lvl1pPr>
          </a:lstStyle>
          <a:p>
            <a:r>
              <a:rPr lang="zh-CN" altLang="en-US"/>
              <a:t>单击此处编辑母版标题样式</a:t>
            </a:r>
            <a:endParaRPr lang="en-US" dirty="0"/>
          </a:p>
        </p:txBody>
      </p:sp>
      <p:sp>
        <p:nvSpPr>
          <p:cNvPr id="3" name="Subtitle 2"/>
          <p:cNvSpPr>
            <a:spLocks noGrp="1"/>
          </p:cNvSpPr>
          <p:nvPr>
            <p:ph type="subTitle" idx="1"/>
          </p:nvPr>
        </p:nvSpPr>
        <p:spPr>
          <a:xfrm>
            <a:off x="576263" y="1817695"/>
            <a:ext cx="3457575" cy="835547"/>
          </a:xfrm>
        </p:spPr>
        <p:txBody>
          <a:bodyPr/>
          <a:lstStyle>
            <a:lvl1pPr marL="0" indent="0" algn="ctr">
              <a:buNone/>
              <a:defRPr sz="1210"/>
            </a:lvl1pPr>
            <a:lvl2pPr marL="230520" indent="0" algn="ctr">
              <a:buNone/>
              <a:defRPr sz="1008"/>
            </a:lvl2pPr>
            <a:lvl3pPr marL="461040" indent="0" algn="ctr">
              <a:buNone/>
              <a:defRPr sz="908"/>
            </a:lvl3pPr>
            <a:lvl4pPr marL="691561" indent="0" algn="ctr">
              <a:buNone/>
              <a:defRPr sz="807"/>
            </a:lvl4pPr>
            <a:lvl5pPr marL="922081" indent="0" algn="ctr">
              <a:buNone/>
              <a:defRPr sz="807"/>
            </a:lvl5pPr>
            <a:lvl6pPr marL="1152601" indent="0" algn="ctr">
              <a:buNone/>
              <a:defRPr sz="807"/>
            </a:lvl6pPr>
            <a:lvl7pPr marL="1383121" indent="0" algn="ctr">
              <a:buNone/>
              <a:defRPr sz="807"/>
            </a:lvl7pPr>
            <a:lvl8pPr marL="1613642" indent="0" algn="ctr">
              <a:buNone/>
              <a:defRPr sz="807"/>
            </a:lvl8pPr>
            <a:lvl9pPr marL="1844162" indent="0" algn="ctr">
              <a:buNone/>
              <a:defRPr sz="807"/>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lvl1pPr>
              <a:defRPr/>
            </a:lvl1pPr>
          </a:lstStyle>
          <a:p>
            <a:pPr>
              <a:defRPr/>
            </a:pPr>
            <a:fld id="{E0717907-4000-4848-859E-92EAEFBB09E5}" type="datetime1">
              <a:rPr lang="zh-CN" altLang="en-US" smtClean="0"/>
              <a:t>2023/3/13</a:t>
            </a:fld>
            <a:endParaRPr lang="zh-CN" altLang="en-US"/>
          </a:p>
        </p:txBody>
      </p:sp>
      <p:sp>
        <p:nvSpPr>
          <p:cNvPr id="5"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164AE66C-D93E-4875-B9B4-E980903F94FB}" type="slidenum">
              <a:rPr lang="zh-CN" altLang="en-US"/>
              <a:pPr>
                <a:defRPr/>
              </a:pPr>
              <a:t>‹#›</a:t>
            </a:fld>
            <a:endParaRPr lang="zh-CN" altLang="en-US"/>
          </a:p>
        </p:txBody>
      </p:sp>
    </p:spTree>
    <p:extLst>
      <p:ext uri="{BB962C8B-B14F-4D97-AF65-F5344CB8AC3E}">
        <p14:creationId xmlns:p14="http://schemas.microsoft.com/office/powerpoint/2010/main" val="191133873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3C1DD118-5890-49BE-99BE-BB5FEBFAC173}" type="datetime1">
              <a:rPr lang="zh-CN" altLang="en-US" smtClean="0"/>
              <a:t>2023/3/13</a:t>
            </a:fld>
            <a:endParaRPr lang="zh-CN" altLang="en-US"/>
          </a:p>
        </p:txBody>
      </p:sp>
      <p:sp>
        <p:nvSpPr>
          <p:cNvPr id="5"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FAD6B5C5-F173-4E8F-B7DC-6ED3A3EC0E6C}" type="slidenum">
              <a:rPr lang="zh-CN" altLang="en-US"/>
              <a:pPr>
                <a:defRPr/>
              </a:pPr>
              <a:t>‹#›</a:t>
            </a:fld>
            <a:endParaRPr lang="zh-CN" altLang="en-US"/>
          </a:p>
        </p:txBody>
      </p:sp>
    </p:spTree>
    <p:extLst>
      <p:ext uri="{BB962C8B-B14F-4D97-AF65-F5344CB8AC3E}">
        <p14:creationId xmlns:p14="http://schemas.microsoft.com/office/powerpoint/2010/main" val="165720703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endParaRPr lang="en-US" dirty="0"/>
          </a:p>
        </p:txBody>
      </p:sp>
      <p:sp>
        <p:nvSpPr>
          <p:cNvPr id="3" name="Text Placeholder 2"/>
          <p:cNvSpPr>
            <a:spLocks noGrp="1"/>
          </p:cNvSpPr>
          <p:nvPr>
            <p:ph type="body" idx="1"/>
          </p:nvPr>
        </p:nvSpPr>
        <p:spPr>
          <a:xfrm>
            <a:off x="314544" y="2315980"/>
            <a:ext cx="3976211" cy="757039"/>
          </a:xfrm>
        </p:spPr>
        <p:txBody>
          <a:bodyPr/>
          <a:lstStyle>
            <a:lvl1pPr marL="0" indent="0">
              <a:buNone/>
              <a:defRPr sz="1210">
                <a:solidFill>
                  <a:schemeClr val="tx1"/>
                </a:solidFill>
              </a:defRPr>
            </a:lvl1pPr>
            <a:lvl2pPr marL="230520" indent="0">
              <a:buNone/>
              <a:defRPr sz="1008">
                <a:solidFill>
                  <a:schemeClr val="tx1">
                    <a:tint val="75000"/>
                  </a:schemeClr>
                </a:solidFill>
              </a:defRPr>
            </a:lvl2pPr>
            <a:lvl3pPr marL="461040" indent="0">
              <a:buNone/>
              <a:defRPr sz="908">
                <a:solidFill>
                  <a:schemeClr val="tx1">
                    <a:tint val="75000"/>
                  </a:schemeClr>
                </a:solidFill>
              </a:defRPr>
            </a:lvl3pPr>
            <a:lvl4pPr marL="691561" indent="0">
              <a:buNone/>
              <a:defRPr sz="807">
                <a:solidFill>
                  <a:schemeClr val="tx1">
                    <a:tint val="75000"/>
                  </a:schemeClr>
                </a:solidFill>
              </a:defRPr>
            </a:lvl4pPr>
            <a:lvl5pPr marL="922081" indent="0">
              <a:buNone/>
              <a:defRPr sz="807">
                <a:solidFill>
                  <a:schemeClr val="tx1">
                    <a:tint val="75000"/>
                  </a:schemeClr>
                </a:solidFill>
              </a:defRPr>
            </a:lvl5pPr>
            <a:lvl6pPr marL="1152601" indent="0">
              <a:buNone/>
              <a:defRPr sz="807">
                <a:solidFill>
                  <a:schemeClr val="tx1">
                    <a:tint val="75000"/>
                  </a:schemeClr>
                </a:solidFill>
              </a:defRPr>
            </a:lvl6pPr>
            <a:lvl7pPr marL="1383121" indent="0">
              <a:buNone/>
              <a:defRPr sz="807">
                <a:solidFill>
                  <a:schemeClr val="tx1">
                    <a:tint val="75000"/>
                  </a:schemeClr>
                </a:solidFill>
              </a:defRPr>
            </a:lvl7pPr>
            <a:lvl8pPr marL="1613642" indent="0">
              <a:buNone/>
              <a:defRPr sz="807">
                <a:solidFill>
                  <a:schemeClr val="tx1">
                    <a:tint val="75000"/>
                  </a:schemeClr>
                </a:solidFill>
              </a:defRPr>
            </a:lvl8pPr>
            <a:lvl9pPr marL="1844162" indent="0">
              <a:buNone/>
              <a:defRPr sz="807">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lvl1pPr>
              <a:defRPr/>
            </a:lvl1pPr>
          </a:lstStyle>
          <a:p>
            <a:pPr>
              <a:defRPr/>
            </a:pPr>
            <a:fld id="{84E2CD93-5C73-4564-9D5D-2BA1109C02B2}" type="datetime1">
              <a:rPr lang="zh-CN" altLang="en-US" smtClean="0"/>
              <a:t>2023/3/13</a:t>
            </a:fld>
            <a:endParaRPr lang="zh-CN" altLang="en-US"/>
          </a:p>
        </p:txBody>
      </p:sp>
      <p:sp>
        <p:nvSpPr>
          <p:cNvPr id="5"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6AEDC0A7-F598-4694-B7B2-077FFC1FB214}" type="slidenum">
              <a:rPr lang="zh-CN" altLang="en-US"/>
              <a:pPr>
                <a:defRPr/>
              </a:pPr>
              <a:t>‹#›</a:t>
            </a:fld>
            <a:endParaRPr lang="zh-CN" altLang="en-US"/>
          </a:p>
        </p:txBody>
      </p:sp>
    </p:spTree>
    <p:extLst>
      <p:ext uri="{BB962C8B-B14F-4D97-AF65-F5344CB8AC3E}">
        <p14:creationId xmlns:p14="http://schemas.microsoft.com/office/powerpoint/2010/main" val="28118481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316944" y="921265"/>
            <a:ext cx="1959293" cy="219581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2333863" y="921265"/>
            <a:ext cx="1959293" cy="219581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3"/>
          <p:cNvSpPr>
            <a:spLocks noGrp="1"/>
          </p:cNvSpPr>
          <p:nvPr>
            <p:ph type="dt" sz="half" idx="10"/>
          </p:nvPr>
        </p:nvSpPr>
        <p:spPr/>
        <p:txBody>
          <a:bodyPr/>
          <a:lstStyle>
            <a:lvl1pPr>
              <a:defRPr/>
            </a:lvl1pPr>
          </a:lstStyle>
          <a:p>
            <a:pPr>
              <a:defRPr/>
            </a:pPr>
            <a:fld id="{FD61B8AF-C163-4629-AADE-0B407E4AD744}" type="datetime1">
              <a:rPr lang="zh-CN" altLang="en-US" smtClean="0"/>
              <a:t>2023/3/13</a:t>
            </a:fld>
            <a:endParaRPr lang="zh-CN" altLang="en-US"/>
          </a:p>
        </p:txBody>
      </p:sp>
      <p:sp>
        <p:nvSpPr>
          <p:cNvPr id="6"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D88AC015-5C64-4ACE-A962-588A0DF6AE76}" type="slidenum">
              <a:rPr lang="zh-CN" altLang="en-US"/>
              <a:pPr>
                <a:defRPr/>
              </a:pPr>
              <a:t>‹#›</a:t>
            </a:fld>
            <a:endParaRPr lang="zh-CN" altLang="en-US"/>
          </a:p>
        </p:txBody>
      </p:sp>
    </p:spTree>
    <p:extLst>
      <p:ext uri="{BB962C8B-B14F-4D97-AF65-F5344CB8AC3E}">
        <p14:creationId xmlns:p14="http://schemas.microsoft.com/office/powerpoint/2010/main" val="58097114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317545" y="184254"/>
            <a:ext cx="3976211" cy="668918"/>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317545" y="848365"/>
            <a:ext cx="19502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编辑母版文本样式</a:t>
            </a:r>
          </a:p>
        </p:txBody>
      </p:sp>
      <p:sp>
        <p:nvSpPr>
          <p:cNvPr id="4" name="Content Placeholder 3"/>
          <p:cNvSpPr>
            <a:spLocks noGrp="1"/>
          </p:cNvSpPr>
          <p:nvPr>
            <p:ph sz="half" idx="2"/>
          </p:nvPr>
        </p:nvSpPr>
        <p:spPr>
          <a:xfrm>
            <a:off x="317545" y="1264135"/>
            <a:ext cx="1950288" cy="1859352"/>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2333863" y="848365"/>
            <a:ext cx="19598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编辑母版文本样式</a:t>
            </a:r>
          </a:p>
        </p:txBody>
      </p:sp>
      <p:sp>
        <p:nvSpPr>
          <p:cNvPr id="6" name="Content Placeholder 5"/>
          <p:cNvSpPr>
            <a:spLocks noGrp="1"/>
          </p:cNvSpPr>
          <p:nvPr>
            <p:ph sz="quarter" idx="4"/>
          </p:nvPr>
        </p:nvSpPr>
        <p:spPr>
          <a:xfrm>
            <a:off x="2333863" y="1264135"/>
            <a:ext cx="1959893" cy="1859352"/>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3"/>
          <p:cNvSpPr>
            <a:spLocks noGrp="1"/>
          </p:cNvSpPr>
          <p:nvPr>
            <p:ph type="dt" sz="half" idx="10"/>
          </p:nvPr>
        </p:nvSpPr>
        <p:spPr/>
        <p:txBody>
          <a:bodyPr/>
          <a:lstStyle>
            <a:lvl1pPr>
              <a:defRPr/>
            </a:lvl1pPr>
          </a:lstStyle>
          <a:p>
            <a:pPr>
              <a:defRPr/>
            </a:pPr>
            <a:fld id="{1D2CBBFE-F0A2-4DA6-A3D8-7555D963EE69}" type="datetime1">
              <a:rPr lang="zh-CN" altLang="en-US" smtClean="0"/>
              <a:t>2023/3/13</a:t>
            </a:fld>
            <a:endParaRPr lang="zh-CN" altLang="en-US"/>
          </a:p>
        </p:txBody>
      </p:sp>
      <p:sp>
        <p:nvSpPr>
          <p:cNvPr id="8"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9" name="Slide Number Placeholder 5"/>
          <p:cNvSpPr>
            <a:spLocks noGrp="1"/>
          </p:cNvSpPr>
          <p:nvPr>
            <p:ph type="sldNum" sz="quarter" idx="12"/>
          </p:nvPr>
        </p:nvSpPr>
        <p:spPr/>
        <p:txBody>
          <a:bodyPr/>
          <a:lstStyle>
            <a:lvl1pPr>
              <a:defRPr/>
            </a:lvl1pPr>
          </a:lstStyle>
          <a:p>
            <a:pPr>
              <a:defRPr/>
            </a:pPr>
            <a:fld id="{9A4E9772-D260-4B6D-9762-C1ACB07CF1A4}" type="slidenum">
              <a:rPr lang="zh-CN" altLang="en-US"/>
              <a:pPr>
                <a:defRPr/>
              </a:pPr>
              <a:t>‹#›</a:t>
            </a:fld>
            <a:endParaRPr lang="zh-CN" altLang="en-US"/>
          </a:p>
        </p:txBody>
      </p:sp>
    </p:spTree>
    <p:extLst>
      <p:ext uri="{BB962C8B-B14F-4D97-AF65-F5344CB8AC3E}">
        <p14:creationId xmlns:p14="http://schemas.microsoft.com/office/powerpoint/2010/main" val="383185576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3"/>
          <p:cNvSpPr>
            <a:spLocks noGrp="1"/>
          </p:cNvSpPr>
          <p:nvPr>
            <p:ph type="dt" sz="half" idx="10"/>
          </p:nvPr>
        </p:nvSpPr>
        <p:spPr/>
        <p:txBody>
          <a:bodyPr/>
          <a:lstStyle>
            <a:lvl1pPr>
              <a:defRPr/>
            </a:lvl1pPr>
          </a:lstStyle>
          <a:p>
            <a:pPr>
              <a:defRPr/>
            </a:pPr>
            <a:fld id="{889CF19F-E5C3-4817-9343-88CD27FBF3E0}" type="datetime1">
              <a:rPr lang="zh-CN" altLang="en-US" smtClean="0"/>
              <a:t>2023/3/13</a:t>
            </a:fld>
            <a:endParaRPr lang="zh-CN" altLang="en-US"/>
          </a:p>
        </p:txBody>
      </p:sp>
      <p:sp>
        <p:nvSpPr>
          <p:cNvPr id="4"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5" name="Slide Number Placeholder 5"/>
          <p:cNvSpPr>
            <a:spLocks noGrp="1"/>
          </p:cNvSpPr>
          <p:nvPr>
            <p:ph type="sldNum" sz="quarter" idx="12"/>
          </p:nvPr>
        </p:nvSpPr>
        <p:spPr/>
        <p:txBody>
          <a:bodyPr/>
          <a:lstStyle>
            <a:lvl1pPr>
              <a:defRPr/>
            </a:lvl1pPr>
          </a:lstStyle>
          <a:p>
            <a:pPr>
              <a:defRPr/>
            </a:pPr>
            <a:fld id="{EC1AE1EE-FD52-4D68-B5DB-95147DAA2186}" type="slidenum">
              <a:rPr lang="zh-CN" altLang="en-US"/>
              <a:pPr>
                <a:defRPr/>
              </a:pPr>
              <a:t>‹#›</a:t>
            </a:fld>
            <a:endParaRPr lang="zh-CN" altLang="en-US"/>
          </a:p>
        </p:txBody>
      </p:sp>
    </p:spTree>
    <p:extLst>
      <p:ext uri="{BB962C8B-B14F-4D97-AF65-F5344CB8AC3E}">
        <p14:creationId xmlns:p14="http://schemas.microsoft.com/office/powerpoint/2010/main" val="231406194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073F6EFB-730A-47E5-A5C2-4668C163DA6B}" type="datetime1">
              <a:rPr lang="zh-CN" altLang="en-US" smtClean="0"/>
              <a:t>2023/3/13</a:t>
            </a:fld>
            <a:endParaRPr lang="zh-CN" altLang="en-US"/>
          </a:p>
        </p:txBody>
      </p:sp>
      <p:sp>
        <p:nvSpPr>
          <p:cNvPr id="3"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4" name="Slide Number Placeholder 5"/>
          <p:cNvSpPr>
            <a:spLocks noGrp="1"/>
          </p:cNvSpPr>
          <p:nvPr>
            <p:ph type="sldNum" sz="quarter" idx="12"/>
          </p:nvPr>
        </p:nvSpPr>
        <p:spPr/>
        <p:txBody>
          <a:bodyPr/>
          <a:lstStyle>
            <a:lvl1pPr>
              <a:defRPr/>
            </a:lvl1pPr>
          </a:lstStyle>
          <a:p>
            <a:pPr>
              <a:defRPr/>
            </a:pPr>
            <a:fld id="{C45A43E4-5C02-4FFA-9B9C-4EA269E3E4C1}" type="slidenum">
              <a:rPr lang="zh-CN" altLang="en-US"/>
              <a:pPr>
                <a:defRPr/>
              </a:pPr>
              <a:t>‹#›</a:t>
            </a:fld>
            <a:endParaRPr lang="zh-CN" altLang="en-US"/>
          </a:p>
        </p:txBody>
      </p:sp>
    </p:spTree>
    <p:extLst>
      <p:ext uri="{BB962C8B-B14F-4D97-AF65-F5344CB8AC3E}">
        <p14:creationId xmlns:p14="http://schemas.microsoft.com/office/powerpoint/2010/main" val="258415277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317545" y="230717"/>
            <a:ext cx="1486877" cy="807508"/>
          </a:xfrm>
        </p:spPr>
        <p:txBody>
          <a:bodyPr anchor="b"/>
          <a:lstStyle>
            <a:lvl1pPr>
              <a:defRPr sz="1613"/>
            </a:lvl1pPr>
          </a:lstStyle>
          <a:p>
            <a:r>
              <a:rPr lang="zh-CN" altLang="en-US"/>
              <a:t>单击此处编辑母版标题样式</a:t>
            </a:r>
            <a:endParaRPr lang="en-US" dirty="0"/>
          </a:p>
        </p:txBody>
      </p:sp>
      <p:sp>
        <p:nvSpPr>
          <p:cNvPr id="3" name="Content Placeholder 2"/>
          <p:cNvSpPr>
            <a:spLocks noGrp="1"/>
          </p:cNvSpPr>
          <p:nvPr>
            <p:ph idx="1"/>
          </p:nvPr>
        </p:nvSpPr>
        <p:spPr>
          <a:xfrm>
            <a:off x="19598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317545" y="1038225"/>
            <a:ext cx="14868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编辑母版文本样式</a:t>
            </a:r>
          </a:p>
        </p:txBody>
      </p:sp>
      <p:sp>
        <p:nvSpPr>
          <p:cNvPr id="5" name="Date Placeholder 3"/>
          <p:cNvSpPr>
            <a:spLocks noGrp="1"/>
          </p:cNvSpPr>
          <p:nvPr>
            <p:ph type="dt" sz="half" idx="10"/>
          </p:nvPr>
        </p:nvSpPr>
        <p:spPr/>
        <p:txBody>
          <a:bodyPr/>
          <a:lstStyle>
            <a:lvl1pPr>
              <a:defRPr/>
            </a:lvl1pPr>
          </a:lstStyle>
          <a:p>
            <a:pPr>
              <a:defRPr/>
            </a:pPr>
            <a:fld id="{5755972E-1A7F-4721-B0B2-9FE2CA01B53B}" type="datetime1">
              <a:rPr lang="zh-CN" altLang="en-US" smtClean="0"/>
              <a:t>2023/3/13</a:t>
            </a:fld>
            <a:endParaRPr lang="zh-CN" altLang="en-US"/>
          </a:p>
        </p:txBody>
      </p:sp>
      <p:sp>
        <p:nvSpPr>
          <p:cNvPr id="6"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4F3CE963-05B5-426D-8DD8-55C8BCB1E553}" type="slidenum">
              <a:rPr lang="zh-CN" altLang="en-US"/>
              <a:pPr>
                <a:defRPr/>
              </a:pPr>
              <a:t>‹#›</a:t>
            </a:fld>
            <a:endParaRPr lang="zh-CN" altLang="en-US"/>
          </a:p>
        </p:txBody>
      </p:sp>
    </p:spTree>
    <p:extLst>
      <p:ext uri="{BB962C8B-B14F-4D97-AF65-F5344CB8AC3E}">
        <p14:creationId xmlns:p14="http://schemas.microsoft.com/office/powerpoint/2010/main" val="406821281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317545" y="230717"/>
            <a:ext cx="1486877" cy="807508"/>
          </a:xfrm>
        </p:spPr>
        <p:txBody>
          <a:bodyPr anchor="b"/>
          <a:lstStyle>
            <a:lvl1pPr>
              <a:defRPr sz="1613"/>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959893" y="498284"/>
            <a:ext cx="2333863" cy="2459376"/>
          </a:xfrm>
        </p:spPr>
        <p:txBody>
          <a:bodyPr rtlCol="0">
            <a:normAutofit/>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317545" y="1038225"/>
            <a:ext cx="14868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编辑母版文本样式</a:t>
            </a:r>
          </a:p>
        </p:txBody>
      </p:sp>
      <p:sp>
        <p:nvSpPr>
          <p:cNvPr id="5" name="Date Placeholder 3"/>
          <p:cNvSpPr>
            <a:spLocks noGrp="1"/>
          </p:cNvSpPr>
          <p:nvPr>
            <p:ph type="dt" sz="half" idx="10"/>
          </p:nvPr>
        </p:nvSpPr>
        <p:spPr/>
        <p:txBody>
          <a:bodyPr/>
          <a:lstStyle>
            <a:lvl1pPr>
              <a:defRPr/>
            </a:lvl1pPr>
          </a:lstStyle>
          <a:p>
            <a:pPr>
              <a:defRPr/>
            </a:pPr>
            <a:fld id="{07A7919C-243A-418B-8F91-31D3F1F4EAE0}" type="datetime1">
              <a:rPr lang="zh-CN" altLang="en-US" smtClean="0"/>
              <a:t>2023/3/13</a:t>
            </a:fld>
            <a:endParaRPr lang="zh-CN" altLang="en-US"/>
          </a:p>
        </p:txBody>
      </p:sp>
      <p:sp>
        <p:nvSpPr>
          <p:cNvPr id="6"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7" name="Slide Number Placeholder 5"/>
          <p:cNvSpPr>
            <a:spLocks noGrp="1"/>
          </p:cNvSpPr>
          <p:nvPr>
            <p:ph type="sldNum" sz="quarter" idx="12"/>
          </p:nvPr>
        </p:nvSpPr>
        <p:spPr/>
        <p:txBody>
          <a:bodyPr/>
          <a:lstStyle>
            <a:lvl1pPr>
              <a:defRPr/>
            </a:lvl1pPr>
          </a:lstStyle>
          <a:p>
            <a:pPr>
              <a:defRPr/>
            </a:pPr>
            <a:fld id="{B37A9C5D-3E79-4A5E-9A50-FA793561A4F7}" type="slidenum">
              <a:rPr lang="zh-CN" altLang="en-US"/>
              <a:pPr>
                <a:defRPr/>
              </a:pPr>
              <a:t>‹#›</a:t>
            </a:fld>
            <a:endParaRPr lang="zh-CN" altLang="en-US"/>
          </a:p>
        </p:txBody>
      </p:sp>
    </p:spTree>
    <p:extLst>
      <p:ext uri="{BB962C8B-B14F-4D97-AF65-F5344CB8AC3E}">
        <p14:creationId xmlns:p14="http://schemas.microsoft.com/office/powerpoint/2010/main" val="338978965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CF4F6EC1-0C7F-4D60-BAFF-1151C51CB5E6}" type="datetime1">
              <a:rPr lang="zh-CN" altLang="en-US" smtClean="0"/>
              <a:t>2023/3/13</a:t>
            </a:fld>
            <a:endParaRPr lang="zh-CN" altLang="en-US"/>
          </a:p>
        </p:txBody>
      </p:sp>
      <p:sp>
        <p:nvSpPr>
          <p:cNvPr id="5"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FDFF417A-3AC2-4628-96D9-6511A09D2330}" type="slidenum">
              <a:rPr lang="zh-CN" altLang="en-US"/>
              <a:pPr>
                <a:defRPr/>
              </a:pPr>
              <a:t>‹#›</a:t>
            </a:fld>
            <a:endParaRPr lang="zh-CN" altLang="en-US"/>
          </a:p>
        </p:txBody>
      </p:sp>
    </p:spTree>
    <p:extLst>
      <p:ext uri="{BB962C8B-B14F-4D97-AF65-F5344CB8AC3E}">
        <p14:creationId xmlns:p14="http://schemas.microsoft.com/office/powerpoint/2010/main" val="274962515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99103" y="184253"/>
            <a:ext cx="994053" cy="2932826"/>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316945" y="184253"/>
            <a:ext cx="2924532" cy="2932826"/>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CE37F267-0B34-4A2A-BDDF-8CDCC5B69520}" type="datetime1">
              <a:rPr lang="zh-CN" altLang="en-US" smtClean="0"/>
              <a:t>2023/3/13</a:t>
            </a:fld>
            <a:endParaRPr lang="zh-CN" altLang="en-US"/>
          </a:p>
        </p:txBody>
      </p:sp>
      <p:sp>
        <p:nvSpPr>
          <p:cNvPr id="5" name="Footer Placeholder 4"/>
          <p:cNvSpPr>
            <a:spLocks noGrp="1"/>
          </p:cNvSpPr>
          <p:nvPr>
            <p:ph type="ftr" sz="quarter" idx="11"/>
          </p:nvPr>
        </p:nvSpPr>
        <p:spPr/>
        <p:txBody>
          <a:bodyPr/>
          <a:lstStyle>
            <a:lvl1pPr>
              <a:defRPr/>
            </a:lvl1pPr>
          </a:lstStyle>
          <a:p>
            <a:pPr>
              <a:defRPr/>
            </a:pPr>
            <a:r>
              <a:rPr lang="zh-CN" altLang="en-US"/>
              <a:t>宏观经济学</a:t>
            </a:r>
            <a:r>
              <a:rPr lang="en-US" altLang="zh-CN"/>
              <a:t>/Yang Zhiqing</a:t>
            </a:r>
            <a:endParaRPr lang="zh-CN" altLang="en-US"/>
          </a:p>
        </p:txBody>
      </p:sp>
      <p:sp>
        <p:nvSpPr>
          <p:cNvPr id="6" name="Slide Number Placeholder 5"/>
          <p:cNvSpPr>
            <a:spLocks noGrp="1"/>
          </p:cNvSpPr>
          <p:nvPr>
            <p:ph type="sldNum" sz="quarter" idx="12"/>
          </p:nvPr>
        </p:nvSpPr>
        <p:spPr/>
        <p:txBody>
          <a:bodyPr/>
          <a:lstStyle>
            <a:lvl1pPr>
              <a:defRPr/>
            </a:lvl1pPr>
          </a:lstStyle>
          <a:p>
            <a:pPr>
              <a:defRPr/>
            </a:pPr>
            <a:fld id="{BABD9B7A-ECF0-49BC-A2CC-180F72059867}" type="slidenum">
              <a:rPr lang="zh-CN" altLang="en-US"/>
              <a:pPr>
                <a:defRPr/>
              </a:pPr>
              <a:t>‹#›</a:t>
            </a:fld>
            <a:endParaRPr lang="zh-CN" altLang="en-US"/>
          </a:p>
        </p:txBody>
      </p:sp>
    </p:spTree>
    <p:extLst>
      <p:ext uri="{BB962C8B-B14F-4D97-AF65-F5344CB8AC3E}">
        <p14:creationId xmlns:p14="http://schemas.microsoft.com/office/powerpoint/2010/main" val="108581235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41935A3D-9A84-C230-12CD-A3705EF384BE}"/>
              </a:ext>
            </a:extLst>
          </p:cNvPr>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a:extLst>
              <a:ext uri="{FF2B5EF4-FFF2-40B4-BE49-F238E27FC236}">
                <a16:creationId xmlns:a16="http://schemas.microsoft.com/office/drawing/2014/main" id="{491B5931-8231-4852-0BC5-B7E3C34E2E25}"/>
              </a:ext>
            </a:extLst>
          </p:cNvPr>
          <p:cNvSpPr txBox="1">
            <a:spLocks noChangeArrowheads="1"/>
          </p:cNvSpPr>
          <p:nvPr userDrawn="1"/>
        </p:nvSpPr>
        <p:spPr bwMode="auto">
          <a:xfrm>
            <a:off x="0" y="3252465"/>
            <a:ext cx="4610100" cy="216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806"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2" name="Rectangle 4">
            <a:extLst>
              <a:ext uri="{FF2B5EF4-FFF2-40B4-BE49-F238E27FC236}">
                <a16:creationId xmlns:a16="http://schemas.microsoft.com/office/drawing/2014/main" id="{19C8ED5A-B8BA-407F-1B8A-95BABBFD1137}"/>
              </a:ext>
            </a:extLst>
          </p:cNvPr>
          <p:cNvSpPr>
            <a:spLocks noGrp="1" noChangeArrowheads="1"/>
          </p:cNvSpPr>
          <p:nvPr>
            <p:ph type="subTitle" idx="1"/>
          </p:nvPr>
        </p:nvSpPr>
        <p:spPr>
          <a:xfrm>
            <a:off x="1002056" y="65690"/>
            <a:ext cx="614680" cy="499886"/>
          </a:xfrm>
        </p:spPr>
        <p:txBody>
          <a:bodyPr/>
          <a:lstStyle>
            <a:lvl1pPr marL="0" indent="0" algn="ctr">
              <a:buFont typeface="Wingdings" pitchFamily="2" charset="2"/>
              <a:buNone/>
              <a:defRPr sz="2921" i="1">
                <a:solidFill>
                  <a:srgbClr val="008080"/>
                </a:solidFill>
                <a:latin typeface="Tahoma" panose="020B0604030504040204" pitchFamily="34" charset="0"/>
              </a:defRPr>
            </a:lvl1pPr>
          </a:lstStyle>
          <a:p>
            <a:pPr lvl="0"/>
            <a:r>
              <a:rPr lang="en-US" altLang="zh-CN" noProof="0"/>
              <a:t>34</a:t>
            </a:r>
          </a:p>
        </p:txBody>
      </p:sp>
      <p:sp>
        <p:nvSpPr>
          <p:cNvPr id="2053" name="TextBox 6">
            <a:extLst>
              <a:ext uri="{FF2B5EF4-FFF2-40B4-BE49-F238E27FC236}">
                <a16:creationId xmlns:a16="http://schemas.microsoft.com/office/drawing/2014/main" id="{2E8F76B5-DB72-8047-3719-8D5532E00F05}"/>
              </a:ext>
            </a:extLst>
          </p:cNvPr>
          <p:cNvSpPr txBox="1">
            <a:spLocks noChangeArrowheads="1"/>
          </p:cNvSpPr>
          <p:nvPr userDrawn="1"/>
        </p:nvSpPr>
        <p:spPr bwMode="auto">
          <a:xfrm>
            <a:off x="164875" y="152209"/>
            <a:ext cx="987650" cy="433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zh-CN" sz="1108">
                <a:solidFill>
                  <a:srgbClr val="008080"/>
                </a:solidFill>
                <a:latin typeface="Tahoma" panose="020B0604030504040204" pitchFamily="34" charset="0"/>
                <a:ea typeface="宋体" panose="02010600030101010101" pitchFamily="2" charset="-122"/>
              </a:rPr>
              <a:t>C H A P T E R</a:t>
            </a:r>
          </a:p>
        </p:txBody>
      </p:sp>
    </p:spTree>
    <p:extLst>
      <p:ext uri="{BB962C8B-B14F-4D97-AF65-F5344CB8AC3E}">
        <p14:creationId xmlns:p14="http://schemas.microsoft.com/office/powerpoint/2010/main" val="308657760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B2969B-25F4-19CF-7110-46FDB163AB1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8AEA5B3-4A8E-D7D9-A8CF-691963703F8A}"/>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689F3023-AF92-FEB4-6931-5E03D409045A}"/>
              </a:ext>
            </a:extLst>
          </p:cNvPr>
          <p:cNvSpPr>
            <a:spLocks noGrp="1"/>
          </p:cNvSpPr>
          <p:nvPr>
            <p:ph type="ftr" sz="quarter" idx="10"/>
          </p:nvPr>
        </p:nvSpPr>
        <p:spPr/>
        <p:txBody>
          <a:bodyPr/>
          <a:lstStyle>
            <a:lvl1pPr>
              <a:defRPr/>
            </a:lvl1pPr>
          </a:lstStyle>
          <a:p>
            <a:r>
              <a:rPr lang="zh-CN" altLang="en-US" dirty="0"/>
              <a:t>均衡国民收入的决定</a:t>
            </a:r>
            <a:endParaRPr lang="zh-CN" altLang="zh-CN" dirty="0"/>
          </a:p>
        </p:txBody>
      </p:sp>
      <p:sp>
        <p:nvSpPr>
          <p:cNvPr id="5" name="灯片编号占位符 4">
            <a:extLst>
              <a:ext uri="{FF2B5EF4-FFF2-40B4-BE49-F238E27FC236}">
                <a16:creationId xmlns:a16="http://schemas.microsoft.com/office/drawing/2014/main" id="{758CCCD3-A9D2-A435-7BEA-9BE363F51E44}"/>
              </a:ext>
            </a:extLst>
          </p:cNvPr>
          <p:cNvSpPr>
            <a:spLocks noGrp="1"/>
          </p:cNvSpPr>
          <p:nvPr>
            <p:ph type="sldNum" sz="quarter" idx="11"/>
          </p:nvPr>
        </p:nvSpPr>
        <p:spPr/>
        <p:txBody>
          <a:bodyPr/>
          <a:lstStyle>
            <a:lvl1pPr>
              <a:defRPr/>
            </a:lvl1pPr>
          </a:lstStyle>
          <a:p>
            <a:fld id="{FF75CA96-F32A-7F4F-98C9-CA940BD9BB90}" type="slidenum">
              <a:rPr lang="zh-CN" altLang="zh-CN"/>
              <a:pPr/>
              <a:t>‹#›</a:t>
            </a:fld>
            <a:endParaRPr lang="en-US" altLang="zh-CN"/>
          </a:p>
        </p:txBody>
      </p:sp>
    </p:spTree>
    <p:extLst>
      <p:ext uri="{BB962C8B-B14F-4D97-AF65-F5344CB8AC3E}">
        <p14:creationId xmlns:p14="http://schemas.microsoft.com/office/powerpoint/2010/main" val="231085781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2C82CA-FB1A-B587-8FA3-E217A3974672}"/>
              </a:ext>
            </a:extLst>
          </p:cNvPr>
          <p:cNvSpPr>
            <a:spLocks noGrp="1"/>
          </p:cNvSpPr>
          <p:nvPr>
            <p:ph type="title"/>
          </p:nvPr>
        </p:nvSpPr>
        <p:spPr>
          <a:xfrm>
            <a:off x="314545" y="862785"/>
            <a:ext cx="3976211" cy="1439576"/>
          </a:xfrm>
        </p:spPr>
        <p:txBody>
          <a:bodyPr anchor="b"/>
          <a:lstStyle>
            <a:lvl1pPr>
              <a:defRPr sz="3023"/>
            </a:lvl1pPr>
          </a:lstStyle>
          <a:p>
            <a:r>
              <a:rPr lang="zh-CN" altLang="en-US"/>
              <a:t>单击此处编辑母版标题样式</a:t>
            </a:r>
          </a:p>
        </p:txBody>
      </p:sp>
      <p:sp>
        <p:nvSpPr>
          <p:cNvPr id="3" name="文本占位符 2">
            <a:extLst>
              <a:ext uri="{FF2B5EF4-FFF2-40B4-BE49-F238E27FC236}">
                <a16:creationId xmlns:a16="http://schemas.microsoft.com/office/drawing/2014/main" id="{1C70CCF4-A08A-47F3-F87A-BD26298653B9}"/>
              </a:ext>
            </a:extLst>
          </p:cNvPr>
          <p:cNvSpPr>
            <a:spLocks noGrp="1"/>
          </p:cNvSpPr>
          <p:nvPr>
            <p:ph type="body" idx="1"/>
          </p:nvPr>
        </p:nvSpPr>
        <p:spPr>
          <a:xfrm>
            <a:off x="314545" y="2315980"/>
            <a:ext cx="3976211" cy="757039"/>
          </a:xfrm>
        </p:spPr>
        <p:txBody>
          <a:bodyPr/>
          <a:lstStyle>
            <a:lvl1pPr marL="0" indent="0">
              <a:buNone/>
              <a:defRPr sz="1209"/>
            </a:lvl1pPr>
            <a:lvl2pPr marL="230329" indent="0">
              <a:buNone/>
              <a:defRPr sz="1007"/>
            </a:lvl2pPr>
            <a:lvl3pPr marL="460659" indent="0">
              <a:buNone/>
              <a:defRPr sz="907"/>
            </a:lvl3pPr>
            <a:lvl4pPr marL="690989" indent="0">
              <a:buNone/>
              <a:defRPr sz="806"/>
            </a:lvl4pPr>
            <a:lvl5pPr marL="921319" indent="0">
              <a:buNone/>
              <a:defRPr sz="806"/>
            </a:lvl5pPr>
            <a:lvl6pPr marL="1151648" indent="0">
              <a:buNone/>
              <a:defRPr sz="806"/>
            </a:lvl6pPr>
            <a:lvl7pPr marL="1381977" indent="0">
              <a:buNone/>
              <a:defRPr sz="806"/>
            </a:lvl7pPr>
            <a:lvl8pPr marL="1612308" indent="0">
              <a:buNone/>
              <a:defRPr sz="806"/>
            </a:lvl8pPr>
            <a:lvl9pPr marL="1842637" indent="0">
              <a:buNone/>
              <a:defRPr sz="806"/>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0EA98238-AB0D-60C4-86D0-6DA654E3988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38AA8455-D023-9D39-A2C0-8F1EC0151E5F}"/>
              </a:ext>
            </a:extLst>
          </p:cNvPr>
          <p:cNvSpPr>
            <a:spLocks noGrp="1"/>
          </p:cNvSpPr>
          <p:nvPr>
            <p:ph type="sldNum" sz="quarter" idx="11"/>
          </p:nvPr>
        </p:nvSpPr>
        <p:spPr/>
        <p:txBody>
          <a:bodyPr/>
          <a:lstStyle>
            <a:lvl1pPr>
              <a:defRPr/>
            </a:lvl1pPr>
          </a:lstStyle>
          <a:p>
            <a:fld id="{4BC52F8A-5993-F941-9059-8758F3FCE6C7}" type="slidenum">
              <a:rPr lang="zh-CN" altLang="zh-CN"/>
              <a:pPr/>
              <a:t>‹#›</a:t>
            </a:fld>
            <a:endParaRPr lang="en-US" altLang="zh-CN"/>
          </a:p>
        </p:txBody>
      </p:sp>
    </p:spTree>
    <p:extLst>
      <p:ext uri="{BB962C8B-B14F-4D97-AF65-F5344CB8AC3E}">
        <p14:creationId xmlns:p14="http://schemas.microsoft.com/office/powerpoint/2010/main" val="242722806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06021E-9DB9-20E1-A73F-C9B46526E6B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2997747-9F0F-1660-7476-A2BA9EB7C9AB}"/>
              </a:ext>
            </a:extLst>
          </p:cNvPr>
          <p:cNvSpPr>
            <a:spLocks noGrp="1"/>
          </p:cNvSpPr>
          <p:nvPr>
            <p:ph sz="half" idx="1"/>
          </p:nvPr>
        </p:nvSpPr>
        <p:spPr>
          <a:xfrm>
            <a:off x="188087"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9907E63-7377-4DAC-EE38-72500CA49B65}"/>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0AAACD4D-BBDD-427B-B352-CFC4A69F84A7}"/>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F807AA87-8918-41FF-A4ED-1B9F17A6C0C9}"/>
              </a:ext>
            </a:extLst>
          </p:cNvPr>
          <p:cNvSpPr>
            <a:spLocks noGrp="1"/>
          </p:cNvSpPr>
          <p:nvPr>
            <p:ph type="sldNum" sz="quarter" idx="11"/>
          </p:nvPr>
        </p:nvSpPr>
        <p:spPr/>
        <p:txBody>
          <a:bodyPr/>
          <a:lstStyle>
            <a:lvl1pPr>
              <a:defRPr/>
            </a:lvl1pPr>
          </a:lstStyle>
          <a:p>
            <a:fld id="{AE84F7AA-C74F-4642-B3C6-9CC2F1DD8A1E}" type="slidenum">
              <a:rPr lang="zh-CN" altLang="zh-CN"/>
              <a:pPr/>
              <a:t>‹#›</a:t>
            </a:fld>
            <a:endParaRPr lang="en-US" altLang="zh-CN"/>
          </a:p>
        </p:txBody>
      </p:sp>
    </p:spTree>
    <p:extLst>
      <p:ext uri="{BB962C8B-B14F-4D97-AF65-F5344CB8AC3E}">
        <p14:creationId xmlns:p14="http://schemas.microsoft.com/office/powerpoint/2010/main" val="180803463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05AFB8-249E-4E4B-38E2-F236687409D4}"/>
              </a:ext>
            </a:extLst>
          </p:cNvPr>
          <p:cNvSpPr>
            <a:spLocks noGrp="1"/>
          </p:cNvSpPr>
          <p:nvPr>
            <p:ph type="title"/>
          </p:nvPr>
        </p:nvSpPr>
        <p:spPr>
          <a:xfrm>
            <a:off x="317746"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2D370CB-90B1-3528-0CBE-C148F9BEEB01}"/>
              </a:ext>
            </a:extLst>
          </p:cNvPr>
          <p:cNvSpPr>
            <a:spLocks noGrp="1"/>
          </p:cNvSpPr>
          <p:nvPr>
            <p:ph type="body" idx="1"/>
          </p:nvPr>
        </p:nvSpPr>
        <p:spPr>
          <a:xfrm>
            <a:off x="317745" y="848365"/>
            <a:ext cx="1950488" cy="415770"/>
          </a:xfrm>
        </p:spPr>
        <p:txBody>
          <a:bodyPr anchor="b"/>
          <a:lstStyle>
            <a:lvl1pPr marL="0" indent="0">
              <a:buNone/>
              <a:defRPr sz="1209" b="1"/>
            </a:lvl1pPr>
            <a:lvl2pPr marL="230329" indent="0">
              <a:buNone/>
              <a:defRPr sz="1007" b="1"/>
            </a:lvl2pPr>
            <a:lvl3pPr marL="460659" indent="0">
              <a:buNone/>
              <a:defRPr sz="907" b="1"/>
            </a:lvl3pPr>
            <a:lvl4pPr marL="690989" indent="0">
              <a:buNone/>
              <a:defRPr sz="806" b="1"/>
            </a:lvl4pPr>
            <a:lvl5pPr marL="921319" indent="0">
              <a:buNone/>
              <a:defRPr sz="806" b="1"/>
            </a:lvl5pPr>
            <a:lvl6pPr marL="1151648" indent="0">
              <a:buNone/>
              <a:defRPr sz="806" b="1"/>
            </a:lvl6pPr>
            <a:lvl7pPr marL="1381977" indent="0">
              <a:buNone/>
              <a:defRPr sz="806" b="1"/>
            </a:lvl7pPr>
            <a:lvl8pPr marL="1612308" indent="0">
              <a:buNone/>
              <a:defRPr sz="806" b="1"/>
            </a:lvl8pPr>
            <a:lvl9pPr marL="1842637" indent="0">
              <a:buNone/>
              <a:defRPr sz="806"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AC02913-2448-1E14-5C79-F80BF6D03945}"/>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C42B077-084E-4D0D-3F33-500F816EBB4E}"/>
              </a:ext>
            </a:extLst>
          </p:cNvPr>
          <p:cNvSpPr>
            <a:spLocks noGrp="1"/>
          </p:cNvSpPr>
          <p:nvPr>
            <p:ph type="body" sz="quarter" idx="3"/>
          </p:nvPr>
        </p:nvSpPr>
        <p:spPr>
          <a:xfrm>
            <a:off x="2333864" y="848365"/>
            <a:ext cx="1960093" cy="415770"/>
          </a:xfrm>
        </p:spPr>
        <p:txBody>
          <a:bodyPr anchor="b"/>
          <a:lstStyle>
            <a:lvl1pPr marL="0" indent="0">
              <a:buNone/>
              <a:defRPr sz="1209" b="1"/>
            </a:lvl1pPr>
            <a:lvl2pPr marL="230329" indent="0">
              <a:buNone/>
              <a:defRPr sz="1007" b="1"/>
            </a:lvl2pPr>
            <a:lvl3pPr marL="460659" indent="0">
              <a:buNone/>
              <a:defRPr sz="907" b="1"/>
            </a:lvl3pPr>
            <a:lvl4pPr marL="690989" indent="0">
              <a:buNone/>
              <a:defRPr sz="806" b="1"/>
            </a:lvl4pPr>
            <a:lvl5pPr marL="921319" indent="0">
              <a:buNone/>
              <a:defRPr sz="806" b="1"/>
            </a:lvl5pPr>
            <a:lvl6pPr marL="1151648" indent="0">
              <a:buNone/>
              <a:defRPr sz="806" b="1"/>
            </a:lvl6pPr>
            <a:lvl7pPr marL="1381977" indent="0">
              <a:buNone/>
              <a:defRPr sz="806" b="1"/>
            </a:lvl7pPr>
            <a:lvl8pPr marL="1612308" indent="0">
              <a:buNone/>
              <a:defRPr sz="806" b="1"/>
            </a:lvl8pPr>
            <a:lvl9pPr marL="1842637" indent="0">
              <a:buNone/>
              <a:defRPr sz="806"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D1C847C-3D3C-65FB-F047-D6766F5E8447}"/>
              </a:ext>
            </a:extLst>
          </p:cNvPr>
          <p:cNvSpPr>
            <a:spLocks noGrp="1"/>
          </p:cNvSpPr>
          <p:nvPr>
            <p:ph sz="quarter" idx="4"/>
          </p:nvPr>
        </p:nvSpPr>
        <p:spPr>
          <a:xfrm>
            <a:off x="2333864"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ED7830D2-8EC1-AA78-A964-BF68F3FE0B01}"/>
              </a:ext>
            </a:extLst>
          </p:cNvPr>
          <p:cNvSpPr>
            <a:spLocks noGrp="1"/>
          </p:cNvSpPr>
          <p:nvPr>
            <p:ph type="ftr" sz="quarter" idx="10"/>
          </p:nvPr>
        </p:nvSpPr>
        <p:spPr/>
        <p:txBody>
          <a:bodyPr/>
          <a:lstStyle>
            <a:lvl1pPr>
              <a:defRPr/>
            </a:lvl1pPr>
          </a:lstStyle>
          <a:p>
            <a:r>
              <a:rPr lang="zh-CN" altLang="zh-CN"/>
              <a:t>一国收入的衡量</a:t>
            </a:r>
          </a:p>
        </p:txBody>
      </p:sp>
      <p:sp>
        <p:nvSpPr>
          <p:cNvPr id="8" name="灯片编号占位符 7">
            <a:extLst>
              <a:ext uri="{FF2B5EF4-FFF2-40B4-BE49-F238E27FC236}">
                <a16:creationId xmlns:a16="http://schemas.microsoft.com/office/drawing/2014/main" id="{2AC4B6E4-73A7-D3AB-840B-5797034BD258}"/>
              </a:ext>
            </a:extLst>
          </p:cNvPr>
          <p:cNvSpPr>
            <a:spLocks noGrp="1"/>
          </p:cNvSpPr>
          <p:nvPr>
            <p:ph type="sldNum" sz="quarter" idx="11"/>
          </p:nvPr>
        </p:nvSpPr>
        <p:spPr/>
        <p:txBody>
          <a:bodyPr/>
          <a:lstStyle>
            <a:lvl1pPr>
              <a:defRPr/>
            </a:lvl1pPr>
          </a:lstStyle>
          <a:p>
            <a:fld id="{97981451-FC73-D44F-A0E8-CF0A9828A28E}" type="slidenum">
              <a:rPr lang="zh-CN" altLang="zh-CN"/>
              <a:pPr/>
              <a:t>‹#›</a:t>
            </a:fld>
            <a:endParaRPr lang="en-US" altLang="zh-CN"/>
          </a:p>
        </p:txBody>
      </p:sp>
    </p:spTree>
    <p:extLst>
      <p:ext uri="{BB962C8B-B14F-4D97-AF65-F5344CB8AC3E}">
        <p14:creationId xmlns:p14="http://schemas.microsoft.com/office/powerpoint/2010/main" val="372613360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3326B6-F9B5-C4FE-D19D-A44CB462F287}"/>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F546BCEE-6FE9-1F0F-8B04-352FFA526B05}"/>
              </a:ext>
            </a:extLst>
          </p:cNvPr>
          <p:cNvSpPr>
            <a:spLocks noGrp="1"/>
          </p:cNvSpPr>
          <p:nvPr>
            <p:ph type="ftr" sz="quarter" idx="10"/>
          </p:nvPr>
        </p:nvSpPr>
        <p:spPr/>
        <p:txBody>
          <a:bodyPr/>
          <a:lstStyle>
            <a:lvl1pPr>
              <a:defRPr/>
            </a:lvl1pPr>
          </a:lstStyle>
          <a:p>
            <a:r>
              <a:rPr lang="zh-CN" altLang="zh-CN"/>
              <a:t>一国收入的衡量</a:t>
            </a:r>
          </a:p>
        </p:txBody>
      </p:sp>
      <p:sp>
        <p:nvSpPr>
          <p:cNvPr id="4" name="灯片编号占位符 3">
            <a:extLst>
              <a:ext uri="{FF2B5EF4-FFF2-40B4-BE49-F238E27FC236}">
                <a16:creationId xmlns:a16="http://schemas.microsoft.com/office/drawing/2014/main" id="{D05CFC99-3A41-48E5-7D43-D8F6C33950F8}"/>
              </a:ext>
            </a:extLst>
          </p:cNvPr>
          <p:cNvSpPr>
            <a:spLocks noGrp="1"/>
          </p:cNvSpPr>
          <p:nvPr>
            <p:ph type="sldNum" sz="quarter" idx="11"/>
          </p:nvPr>
        </p:nvSpPr>
        <p:spPr/>
        <p:txBody>
          <a:bodyPr/>
          <a:lstStyle>
            <a:lvl1pPr>
              <a:defRPr/>
            </a:lvl1pPr>
          </a:lstStyle>
          <a:p>
            <a:fld id="{E81E734D-8C0F-6D40-9298-031592D104B3}" type="slidenum">
              <a:rPr lang="zh-CN" altLang="zh-CN"/>
              <a:pPr/>
              <a:t>‹#›</a:t>
            </a:fld>
            <a:endParaRPr lang="en-US" altLang="zh-CN"/>
          </a:p>
        </p:txBody>
      </p:sp>
    </p:spTree>
    <p:extLst>
      <p:ext uri="{BB962C8B-B14F-4D97-AF65-F5344CB8AC3E}">
        <p14:creationId xmlns:p14="http://schemas.microsoft.com/office/powerpoint/2010/main" val="90099558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DDBA7C99-02A5-B5FE-F091-24A24365F0ED}"/>
              </a:ext>
            </a:extLst>
          </p:cNvPr>
          <p:cNvSpPr>
            <a:spLocks noGrp="1"/>
          </p:cNvSpPr>
          <p:nvPr>
            <p:ph type="ftr" sz="quarter" idx="10"/>
          </p:nvPr>
        </p:nvSpPr>
        <p:spPr/>
        <p:txBody>
          <a:bodyPr/>
          <a:lstStyle>
            <a:lvl1pPr>
              <a:defRPr/>
            </a:lvl1pPr>
          </a:lstStyle>
          <a:p>
            <a:r>
              <a:rPr lang="zh-CN" altLang="zh-CN"/>
              <a:t>一国收入的衡量</a:t>
            </a:r>
          </a:p>
        </p:txBody>
      </p:sp>
      <p:sp>
        <p:nvSpPr>
          <p:cNvPr id="3" name="灯片编号占位符 2">
            <a:extLst>
              <a:ext uri="{FF2B5EF4-FFF2-40B4-BE49-F238E27FC236}">
                <a16:creationId xmlns:a16="http://schemas.microsoft.com/office/drawing/2014/main" id="{07D6182D-7913-6BAF-1D42-EA8A1E69B9C9}"/>
              </a:ext>
            </a:extLst>
          </p:cNvPr>
          <p:cNvSpPr>
            <a:spLocks noGrp="1"/>
          </p:cNvSpPr>
          <p:nvPr>
            <p:ph type="sldNum" sz="quarter" idx="11"/>
          </p:nvPr>
        </p:nvSpPr>
        <p:spPr/>
        <p:txBody>
          <a:bodyPr/>
          <a:lstStyle>
            <a:lvl1pPr>
              <a:defRPr/>
            </a:lvl1pPr>
          </a:lstStyle>
          <a:p>
            <a:fld id="{8FC9ECCE-9A67-6F4D-96F4-AF59AF685F27}" type="slidenum">
              <a:rPr lang="zh-CN" altLang="zh-CN"/>
              <a:pPr/>
              <a:t>‹#›</a:t>
            </a:fld>
            <a:endParaRPr lang="en-US" altLang="zh-CN"/>
          </a:p>
        </p:txBody>
      </p:sp>
    </p:spTree>
    <p:extLst>
      <p:ext uri="{BB962C8B-B14F-4D97-AF65-F5344CB8AC3E}">
        <p14:creationId xmlns:p14="http://schemas.microsoft.com/office/powerpoint/2010/main" val="150539122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698957-A6CA-4DCA-9EBD-104E13C2511F}"/>
              </a:ext>
            </a:extLst>
          </p:cNvPr>
          <p:cNvSpPr>
            <a:spLocks noGrp="1"/>
          </p:cNvSpPr>
          <p:nvPr>
            <p:ph type="title"/>
          </p:nvPr>
        </p:nvSpPr>
        <p:spPr>
          <a:xfrm>
            <a:off x="317745" y="230717"/>
            <a:ext cx="1487077" cy="807508"/>
          </a:xfrm>
        </p:spPr>
        <p:txBody>
          <a:bodyPr anchor="b"/>
          <a:lstStyle>
            <a:lvl1pPr>
              <a:defRPr sz="1611"/>
            </a:lvl1pPr>
          </a:lstStyle>
          <a:p>
            <a:r>
              <a:rPr lang="zh-CN" altLang="en-US"/>
              <a:t>单击此处编辑母版标题样式</a:t>
            </a:r>
          </a:p>
        </p:txBody>
      </p:sp>
      <p:sp>
        <p:nvSpPr>
          <p:cNvPr id="3" name="内容占位符 2">
            <a:extLst>
              <a:ext uri="{FF2B5EF4-FFF2-40B4-BE49-F238E27FC236}">
                <a16:creationId xmlns:a16="http://schemas.microsoft.com/office/drawing/2014/main" id="{ADF2D2DD-7EAD-C198-8156-80E75A539679}"/>
              </a:ext>
            </a:extLst>
          </p:cNvPr>
          <p:cNvSpPr>
            <a:spLocks noGrp="1"/>
          </p:cNvSpPr>
          <p:nvPr>
            <p:ph idx="1"/>
          </p:nvPr>
        </p:nvSpPr>
        <p:spPr>
          <a:xfrm>
            <a:off x="1960094" y="498284"/>
            <a:ext cx="2333863" cy="2459376"/>
          </a:xfrm>
        </p:spPr>
        <p:txBody>
          <a:bodyPr/>
          <a:lstStyle>
            <a:lvl1pPr>
              <a:defRPr sz="1611"/>
            </a:lvl1pPr>
            <a:lvl2pPr>
              <a:defRPr sz="1411"/>
            </a:lvl2pPr>
            <a:lvl3pPr>
              <a:defRPr sz="1209"/>
            </a:lvl3pPr>
            <a:lvl4pPr>
              <a:defRPr sz="1007"/>
            </a:lvl4pPr>
            <a:lvl5pPr>
              <a:defRPr sz="1007"/>
            </a:lvl5pPr>
            <a:lvl6pPr>
              <a:defRPr sz="1007"/>
            </a:lvl6pPr>
            <a:lvl7pPr>
              <a:defRPr sz="1007"/>
            </a:lvl7pPr>
            <a:lvl8pPr>
              <a:defRPr sz="1007"/>
            </a:lvl8pPr>
            <a:lvl9pPr>
              <a:defRPr sz="1007"/>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93CE5EA-1FFA-802A-BA18-3B5A7CA17265}"/>
              </a:ext>
            </a:extLst>
          </p:cNvPr>
          <p:cNvSpPr>
            <a:spLocks noGrp="1"/>
          </p:cNvSpPr>
          <p:nvPr>
            <p:ph type="body" sz="half" idx="2"/>
          </p:nvPr>
        </p:nvSpPr>
        <p:spPr>
          <a:xfrm>
            <a:off x="317745" y="1038225"/>
            <a:ext cx="1487077" cy="1923440"/>
          </a:xfrm>
        </p:spPr>
        <p:txBody>
          <a:bodyPr/>
          <a:lstStyle>
            <a:lvl1pPr marL="0" indent="0">
              <a:buNone/>
              <a:defRPr sz="806"/>
            </a:lvl1pPr>
            <a:lvl2pPr marL="230329" indent="0">
              <a:buNone/>
              <a:defRPr sz="705"/>
            </a:lvl2pPr>
            <a:lvl3pPr marL="460659" indent="0">
              <a:buNone/>
              <a:defRPr sz="605"/>
            </a:lvl3pPr>
            <a:lvl4pPr marL="690989" indent="0">
              <a:buNone/>
              <a:defRPr sz="504"/>
            </a:lvl4pPr>
            <a:lvl5pPr marL="921319" indent="0">
              <a:buNone/>
              <a:defRPr sz="504"/>
            </a:lvl5pPr>
            <a:lvl6pPr marL="1151648" indent="0">
              <a:buNone/>
              <a:defRPr sz="504"/>
            </a:lvl6pPr>
            <a:lvl7pPr marL="1381977" indent="0">
              <a:buNone/>
              <a:defRPr sz="504"/>
            </a:lvl7pPr>
            <a:lvl8pPr marL="1612308" indent="0">
              <a:buNone/>
              <a:defRPr sz="504"/>
            </a:lvl8pPr>
            <a:lvl9pPr marL="1842637"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B33BE68B-D6E4-6525-920B-C21DEFD5950B}"/>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396AD26E-8095-F0DF-CF80-77F8B7CB9CCB}"/>
              </a:ext>
            </a:extLst>
          </p:cNvPr>
          <p:cNvSpPr>
            <a:spLocks noGrp="1"/>
          </p:cNvSpPr>
          <p:nvPr>
            <p:ph type="sldNum" sz="quarter" idx="11"/>
          </p:nvPr>
        </p:nvSpPr>
        <p:spPr/>
        <p:txBody>
          <a:bodyPr/>
          <a:lstStyle>
            <a:lvl1pPr>
              <a:defRPr/>
            </a:lvl1pPr>
          </a:lstStyle>
          <a:p>
            <a:fld id="{F4D19EBE-0DD8-064C-BD84-2B44820FB47D}" type="slidenum">
              <a:rPr lang="zh-CN" altLang="zh-CN"/>
              <a:pPr/>
              <a:t>‹#›</a:t>
            </a:fld>
            <a:endParaRPr lang="en-US" altLang="zh-CN"/>
          </a:p>
        </p:txBody>
      </p:sp>
    </p:spTree>
    <p:extLst>
      <p:ext uri="{BB962C8B-B14F-4D97-AF65-F5344CB8AC3E}">
        <p14:creationId xmlns:p14="http://schemas.microsoft.com/office/powerpoint/2010/main" val="8707891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0D1473-EDF3-A6F4-9AC2-F83CFF9A260B}"/>
              </a:ext>
            </a:extLst>
          </p:cNvPr>
          <p:cNvSpPr>
            <a:spLocks noGrp="1"/>
          </p:cNvSpPr>
          <p:nvPr>
            <p:ph type="title"/>
          </p:nvPr>
        </p:nvSpPr>
        <p:spPr>
          <a:xfrm>
            <a:off x="317745" y="230717"/>
            <a:ext cx="1487077" cy="807508"/>
          </a:xfrm>
        </p:spPr>
        <p:txBody>
          <a:bodyPr anchor="b"/>
          <a:lstStyle>
            <a:lvl1pPr>
              <a:defRPr sz="1611"/>
            </a:lvl1pPr>
          </a:lstStyle>
          <a:p>
            <a:r>
              <a:rPr lang="zh-CN" altLang="en-US"/>
              <a:t>单击此处编辑母版标题样式</a:t>
            </a:r>
          </a:p>
        </p:txBody>
      </p:sp>
      <p:sp>
        <p:nvSpPr>
          <p:cNvPr id="3" name="图片占位符 2">
            <a:extLst>
              <a:ext uri="{FF2B5EF4-FFF2-40B4-BE49-F238E27FC236}">
                <a16:creationId xmlns:a16="http://schemas.microsoft.com/office/drawing/2014/main" id="{D778AB14-D248-DBF6-4FCB-531DC4C3B2CF}"/>
              </a:ext>
            </a:extLst>
          </p:cNvPr>
          <p:cNvSpPr>
            <a:spLocks noGrp="1"/>
          </p:cNvSpPr>
          <p:nvPr>
            <p:ph type="pic" idx="1"/>
          </p:nvPr>
        </p:nvSpPr>
        <p:spPr>
          <a:xfrm>
            <a:off x="1960094" y="498284"/>
            <a:ext cx="2333863" cy="2459376"/>
          </a:xfrm>
        </p:spPr>
        <p:txBody>
          <a:bodyPr/>
          <a:lstStyle>
            <a:lvl1pPr marL="0" indent="0">
              <a:buNone/>
              <a:defRPr sz="1611"/>
            </a:lvl1pPr>
            <a:lvl2pPr marL="230329" indent="0">
              <a:buNone/>
              <a:defRPr sz="1411"/>
            </a:lvl2pPr>
            <a:lvl3pPr marL="460659" indent="0">
              <a:buNone/>
              <a:defRPr sz="1209"/>
            </a:lvl3pPr>
            <a:lvl4pPr marL="690989" indent="0">
              <a:buNone/>
              <a:defRPr sz="1007"/>
            </a:lvl4pPr>
            <a:lvl5pPr marL="921319" indent="0">
              <a:buNone/>
              <a:defRPr sz="1007"/>
            </a:lvl5pPr>
            <a:lvl6pPr marL="1151648" indent="0">
              <a:buNone/>
              <a:defRPr sz="1007"/>
            </a:lvl6pPr>
            <a:lvl7pPr marL="1381977" indent="0">
              <a:buNone/>
              <a:defRPr sz="1007"/>
            </a:lvl7pPr>
            <a:lvl8pPr marL="1612308" indent="0">
              <a:buNone/>
              <a:defRPr sz="1007"/>
            </a:lvl8pPr>
            <a:lvl9pPr marL="1842637" indent="0">
              <a:buNone/>
              <a:defRPr sz="1007"/>
            </a:lvl9pPr>
          </a:lstStyle>
          <a:p>
            <a:endParaRPr lang="zh-CN" altLang="en-US"/>
          </a:p>
        </p:txBody>
      </p:sp>
      <p:sp>
        <p:nvSpPr>
          <p:cNvPr id="4" name="文本占位符 3">
            <a:extLst>
              <a:ext uri="{FF2B5EF4-FFF2-40B4-BE49-F238E27FC236}">
                <a16:creationId xmlns:a16="http://schemas.microsoft.com/office/drawing/2014/main" id="{7F66A29A-D42B-4877-586D-ED45FF448D09}"/>
              </a:ext>
            </a:extLst>
          </p:cNvPr>
          <p:cNvSpPr>
            <a:spLocks noGrp="1"/>
          </p:cNvSpPr>
          <p:nvPr>
            <p:ph type="body" sz="half" idx="2"/>
          </p:nvPr>
        </p:nvSpPr>
        <p:spPr>
          <a:xfrm>
            <a:off x="317745" y="1038225"/>
            <a:ext cx="1487077" cy="1923440"/>
          </a:xfrm>
        </p:spPr>
        <p:txBody>
          <a:bodyPr/>
          <a:lstStyle>
            <a:lvl1pPr marL="0" indent="0">
              <a:buNone/>
              <a:defRPr sz="806"/>
            </a:lvl1pPr>
            <a:lvl2pPr marL="230329" indent="0">
              <a:buNone/>
              <a:defRPr sz="705"/>
            </a:lvl2pPr>
            <a:lvl3pPr marL="460659" indent="0">
              <a:buNone/>
              <a:defRPr sz="605"/>
            </a:lvl3pPr>
            <a:lvl4pPr marL="690989" indent="0">
              <a:buNone/>
              <a:defRPr sz="504"/>
            </a:lvl4pPr>
            <a:lvl5pPr marL="921319" indent="0">
              <a:buNone/>
              <a:defRPr sz="504"/>
            </a:lvl5pPr>
            <a:lvl6pPr marL="1151648" indent="0">
              <a:buNone/>
              <a:defRPr sz="504"/>
            </a:lvl6pPr>
            <a:lvl7pPr marL="1381977" indent="0">
              <a:buNone/>
              <a:defRPr sz="504"/>
            </a:lvl7pPr>
            <a:lvl8pPr marL="1612308" indent="0">
              <a:buNone/>
              <a:defRPr sz="504"/>
            </a:lvl8pPr>
            <a:lvl9pPr marL="1842637"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631EF206-C39B-0A75-CE85-8E32D4BECF9B}"/>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CFFF9A0C-7C84-334E-2DD0-22ACCD0C4D06}"/>
              </a:ext>
            </a:extLst>
          </p:cNvPr>
          <p:cNvSpPr>
            <a:spLocks noGrp="1"/>
          </p:cNvSpPr>
          <p:nvPr>
            <p:ph type="sldNum" sz="quarter" idx="11"/>
          </p:nvPr>
        </p:nvSpPr>
        <p:spPr/>
        <p:txBody>
          <a:bodyPr/>
          <a:lstStyle>
            <a:lvl1pPr>
              <a:defRPr/>
            </a:lvl1pPr>
          </a:lstStyle>
          <a:p>
            <a:fld id="{0CA6175B-25A3-0348-9995-252FAA117B57}" type="slidenum">
              <a:rPr lang="zh-CN" altLang="zh-CN"/>
              <a:pPr/>
              <a:t>‹#›</a:t>
            </a:fld>
            <a:endParaRPr lang="en-US" altLang="zh-CN"/>
          </a:p>
        </p:txBody>
      </p:sp>
    </p:spTree>
    <p:extLst>
      <p:ext uri="{BB962C8B-B14F-4D97-AF65-F5344CB8AC3E}">
        <p14:creationId xmlns:p14="http://schemas.microsoft.com/office/powerpoint/2010/main" val="107181501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2BB31E-358D-AED5-28AE-60318A5F80C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9905587-FCC5-EAE6-593F-46F1E7E358E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4803DE6D-37CC-5638-DA07-FD884825E5E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F54638FC-90B0-31EB-D5BD-4B52DE14C60F}"/>
              </a:ext>
            </a:extLst>
          </p:cNvPr>
          <p:cNvSpPr>
            <a:spLocks noGrp="1"/>
          </p:cNvSpPr>
          <p:nvPr>
            <p:ph type="sldNum" sz="quarter" idx="11"/>
          </p:nvPr>
        </p:nvSpPr>
        <p:spPr/>
        <p:txBody>
          <a:bodyPr/>
          <a:lstStyle>
            <a:lvl1pPr>
              <a:defRPr/>
            </a:lvl1pPr>
          </a:lstStyle>
          <a:p>
            <a:fld id="{87C2A238-9660-194D-A420-58FAEDDE43DF}" type="slidenum">
              <a:rPr lang="zh-CN" altLang="zh-CN"/>
              <a:pPr/>
              <a:t>‹#›</a:t>
            </a:fld>
            <a:endParaRPr lang="en-US" altLang="zh-CN"/>
          </a:p>
        </p:txBody>
      </p:sp>
    </p:spTree>
    <p:extLst>
      <p:ext uri="{BB962C8B-B14F-4D97-AF65-F5344CB8AC3E}">
        <p14:creationId xmlns:p14="http://schemas.microsoft.com/office/powerpoint/2010/main" val="206882926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28693FB-E290-D71F-D054-241792819295}"/>
              </a:ext>
            </a:extLst>
          </p:cNvPr>
          <p:cNvSpPr>
            <a:spLocks noGrp="1"/>
          </p:cNvSpPr>
          <p:nvPr>
            <p:ph type="title" orient="vert"/>
          </p:nvPr>
        </p:nvSpPr>
        <p:spPr>
          <a:xfrm>
            <a:off x="3353528"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4A3DB65-3656-3B1B-B8BA-7287FE9BA804}"/>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3CC8F5D0-50A9-4805-F724-3EC1E4B8C50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49A068E9-7CF4-BE31-5C02-B726FD63E3D8}"/>
              </a:ext>
            </a:extLst>
          </p:cNvPr>
          <p:cNvSpPr>
            <a:spLocks noGrp="1"/>
          </p:cNvSpPr>
          <p:nvPr>
            <p:ph type="sldNum" sz="quarter" idx="11"/>
          </p:nvPr>
        </p:nvSpPr>
        <p:spPr/>
        <p:txBody>
          <a:bodyPr/>
          <a:lstStyle>
            <a:lvl1pPr>
              <a:defRPr/>
            </a:lvl1pPr>
          </a:lstStyle>
          <a:p>
            <a:fld id="{BB8105D9-7A7C-6B49-807E-0CBDD1F99FD3}" type="slidenum">
              <a:rPr lang="zh-CN" altLang="zh-CN"/>
              <a:pPr/>
              <a:t>‹#›</a:t>
            </a:fld>
            <a:endParaRPr lang="en-US" altLang="zh-CN"/>
          </a:p>
        </p:txBody>
      </p:sp>
    </p:spTree>
    <p:extLst>
      <p:ext uri="{BB962C8B-B14F-4D97-AF65-F5344CB8AC3E}">
        <p14:creationId xmlns:p14="http://schemas.microsoft.com/office/powerpoint/2010/main" val="51640130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F93D6D-994E-C2E4-1F89-B1586BED4BC3}"/>
              </a:ext>
            </a:extLst>
          </p:cNvPr>
          <p:cNvSpPr>
            <a:spLocks noGrp="1"/>
          </p:cNvSpPr>
          <p:nvPr>
            <p:ph type="ctrTitle"/>
          </p:nvPr>
        </p:nvSpPr>
        <p:spPr>
          <a:xfrm>
            <a:off x="576264" y="566377"/>
            <a:ext cx="3457575" cy="1204854"/>
          </a:xfrm>
        </p:spPr>
        <p:txBody>
          <a:bodyPr anchor="b"/>
          <a:lstStyle>
            <a:lvl1pPr algn="ctr">
              <a:defRPr sz="3023"/>
            </a:lvl1pPr>
          </a:lstStyle>
          <a:p>
            <a:r>
              <a:rPr lang="zh-CN" altLang="en-US"/>
              <a:t>单击此处编辑母版标题样式</a:t>
            </a:r>
          </a:p>
        </p:txBody>
      </p:sp>
      <p:sp>
        <p:nvSpPr>
          <p:cNvPr id="3" name="副标题 2">
            <a:extLst>
              <a:ext uri="{FF2B5EF4-FFF2-40B4-BE49-F238E27FC236}">
                <a16:creationId xmlns:a16="http://schemas.microsoft.com/office/drawing/2014/main" id="{6091BA48-9804-3E43-8EC4-3F5DD95DCFC2}"/>
              </a:ext>
            </a:extLst>
          </p:cNvPr>
          <p:cNvSpPr>
            <a:spLocks noGrp="1"/>
          </p:cNvSpPr>
          <p:nvPr>
            <p:ph type="subTitle" idx="1"/>
          </p:nvPr>
        </p:nvSpPr>
        <p:spPr>
          <a:xfrm>
            <a:off x="576264" y="1817696"/>
            <a:ext cx="3457575" cy="835547"/>
          </a:xfrm>
        </p:spPr>
        <p:txBody>
          <a:bodyPr/>
          <a:lstStyle>
            <a:lvl1pPr marL="0" indent="0" algn="ctr">
              <a:buNone/>
              <a:defRPr sz="1209"/>
            </a:lvl1pPr>
            <a:lvl2pPr marL="230329" indent="0" algn="ctr">
              <a:buNone/>
              <a:defRPr sz="1007"/>
            </a:lvl2pPr>
            <a:lvl3pPr marL="460659" indent="0" algn="ctr">
              <a:buNone/>
              <a:defRPr sz="907"/>
            </a:lvl3pPr>
            <a:lvl4pPr marL="690989" indent="0" algn="ctr">
              <a:buNone/>
              <a:defRPr sz="806"/>
            </a:lvl4pPr>
            <a:lvl5pPr marL="921319" indent="0" algn="ctr">
              <a:buNone/>
              <a:defRPr sz="806"/>
            </a:lvl5pPr>
            <a:lvl6pPr marL="1151648" indent="0" algn="ctr">
              <a:buNone/>
              <a:defRPr sz="806"/>
            </a:lvl6pPr>
            <a:lvl7pPr marL="1381977" indent="0" algn="ctr">
              <a:buNone/>
              <a:defRPr sz="806"/>
            </a:lvl7pPr>
            <a:lvl8pPr marL="1612308" indent="0" algn="ctr">
              <a:buNone/>
              <a:defRPr sz="806"/>
            </a:lvl8pPr>
            <a:lvl9pPr marL="1842637" indent="0" algn="ctr">
              <a:buNone/>
              <a:defRPr sz="806"/>
            </a:lvl9pPr>
          </a:lstStyle>
          <a:p>
            <a:r>
              <a:rPr lang="zh-CN" altLang="en-US"/>
              <a:t>单击此处编辑母版副标题样式</a:t>
            </a:r>
          </a:p>
        </p:txBody>
      </p:sp>
      <p:sp>
        <p:nvSpPr>
          <p:cNvPr id="4" name="页脚占位符 3">
            <a:extLst>
              <a:ext uri="{FF2B5EF4-FFF2-40B4-BE49-F238E27FC236}">
                <a16:creationId xmlns:a16="http://schemas.microsoft.com/office/drawing/2014/main" id="{709ADA9D-A152-0D1E-29D9-A602055E5CBF}"/>
              </a:ext>
            </a:extLst>
          </p:cNvPr>
          <p:cNvSpPr>
            <a:spLocks noGrp="1"/>
          </p:cNvSpPr>
          <p:nvPr>
            <p:ph type="ftr" sz="quarter" idx="10"/>
          </p:nvPr>
        </p:nvSpPr>
        <p:spPr/>
        <p:txBody>
          <a:bodyPr/>
          <a:lstStyle>
            <a:lvl1pPr>
              <a:defRPr sz="1000"/>
            </a:lvl1pPr>
          </a:lstStyle>
          <a:p>
            <a:r>
              <a:rPr lang="zh-CN" altLang="zh-CN"/>
              <a:t>生活费用的衡量</a:t>
            </a:r>
          </a:p>
        </p:txBody>
      </p:sp>
      <p:sp>
        <p:nvSpPr>
          <p:cNvPr id="5" name="灯片编号占位符 4">
            <a:extLst>
              <a:ext uri="{FF2B5EF4-FFF2-40B4-BE49-F238E27FC236}">
                <a16:creationId xmlns:a16="http://schemas.microsoft.com/office/drawing/2014/main" id="{6E6AC2BB-516C-E850-92F8-B59DA6A4A3BA}"/>
              </a:ext>
            </a:extLst>
          </p:cNvPr>
          <p:cNvSpPr>
            <a:spLocks noGrp="1"/>
          </p:cNvSpPr>
          <p:nvPr>
            <p:ph type="sldNum" sz="quarter" idx="11"/>
          </p:nvPr>
        </p:nvSpPr>
        <p:spPr/>
        <p:txBody>
          <a:bodyPr/>
          <a:lstStyle>
            <a:lvl1pPr>
              <a:defRPr/>
            </a:lvl1pPr>
          </a:lstStyle>
          <a:p>
            <a:fld id="{E77CCB4B-E2D9-3A4A-A6BD-2C4CD873DC31}" type="slidenum">
              <a:rPr lang="zh-CN" altLang="zh-CN"/>
              <a:pPr/>
              <a:t>‹#›</a:t>
            </a:fld>
            <a:endParaRPr lang="en-US" altLang="zh-CN"/>
          </a:p>
        </p:txBody>
      </p:sp>
    </p:spTree>
    <p:extLst>
      <p:ext uri="{BB962C8B-B14F-4D97-AF65-F5344CB8AC3E}">
        <p14:creationId xmlns:p14="http://schemas.microsoft.com/office/powerpoint/2010/main" val="421202055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B26DC9-2B1F-4161-DB36-67CFC1289B3E}"/>
              </a:ext>
            </a:extLst>
          </p:cNvPr>
          <p:cNvSpPr>
            <a:spLocks noGrp="1"/>
          </p:cNvSpPr>
          <p:nvPr>
            <p:ph type="title"/>
          </p:nvPr>
        </p:nvSpPr>
        <p:spPr/>
        <p:txBody>
          <a:bodyPr/>
          <a:lstStyle>
            <a:lvl1pPr>
              <a:defRPr b="0">
                <a:latin typeface="Microsoft YaHei" panose="020B0503020204020204" pitchFamily="34" charset="-122"/>
                <a:ea typeface="Microsoft YaHei" panose="020B0503020204020204" pitchFamily="34" charset="-122"/>
              </a:defRPr>
            </a:lvl1pPr>
          </a:lstStyle>
          <a:p>
            <a:r>
              <a:rPr lang="zh-CN" altLang="en-US"/>
              <a:t>单击此处编辑母版标题样式</a:t>
            </a:r>
          </a:p>
        </p:txBody>
      </p:sp>
      <p:sp>
        <p:nvSpPr>
          <p:cNvPr id="3" name="内容占位符 2">
            <a:extLst>
              <a:ext uri="{FF2B5EF4-FFF2-40B4-BE49-F238E27FC236}">
                <a16:creationId xmlns:a16="http://schemas.microsoft.com/office/drawing/2014/main" id="{AA122839-8434-8E16-7599-3C039EEFDAA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D1C51B69-4275-556E-6005-80E8DB7FFA15}"/>
              </a:ext>
            </a:extLst>
          </p:cNvPr>
          <p:cNvSpPr>
            <a:spLocks noGrp="1"/>
          </p:cNvSpPr>
          <p:nvPr>
            <p:ph type="ftr" sz="quarter" idx="10"/>
          </p:nvPr>
        </p:nvSpPr>
        <p:spPr/>
        <p:txBody>
          <a:bodyPr/>
          <a:lstStyle>
            <a:lvl1pPr>
              <a:defRPr sz="800"/>
            </a:lvl1pPr>
          </a:lstStyle>
          <a:p>
            <a:r>
              <a:rPr lang="zh-CN" altLang="zh-CN"/>
              <a:t>生活费用的衡量</a:t>
            </a:r>
            <a:endParaRPr lang="zh-CN" altLang="zh-CN" dirty="0"/>
          </a:p>
        </p:txBody>
      </p:sp>
      <p:sp>
        <p:nvSpPr>
          <p:cNvPr id="5" name="灯片编号占位符 4">
            <a:extLst>
              <a:ext uri="{FF2B5EF4-FFF2-40B4-BE49-F238E27FC236}">
                <a16:creationId xmlns:a16="http://schemas.microsoft.com/office/drawing/2014/main" id="{F8FFB1E1-D800-D615-DF98-7B8E434A2ACF}"/>
              </a:ext>
            </a:extLst>
          </p:cNvPr>
          <p:cNvSpPr>
            <a:spLocks noGrp="1"/>
          </p:cNvSpPr>
          <p:nvPr>
            <p:ph type="sldNum" sz="quarter" idx="11"/>
          </p:nvPr>
        </p:nvSpPr>
        <p:spPr/>
        <p:txBody>
          <a:bodyPr/>
          <a:lstStyle>
            <a:lvl1pPr>
              <a:defRPr/>
            </a:lvl1pPr>
          </a:lstStyle>
          <a:p>
            <a:fld id="{D0AF8388-590D-5544-BA51-2E0AA1E4222F}" type="slidenum">
              <a:rPr lang="zh-CN" altLang="zh-CN"/>
              <a:pPr/>
              <a:t>‹#›</a:t>
            </a:fld>
            <a:endParaRPr lang="en-US" altLang="zh-CN"/>
          </a:p>
        </p:txBody>
      </p:sp>
    </p:spTree>
    <p:extLst>
      <p:ext uri="{BB962C8B-B14F-4D97-AF65-F5344CB8AC3E}">
        <p14:creationId xmlns:p14="http://schemas.microsoft.com/office/powerpoint/2010/main" val="50938655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F9701F-9811-F48F-C319-3027DC7F7F76}"/>
              </a:ext>
            </a:extLst>
          </p:cNvPr>
          <p:cNvSpPr>
            <a:spLocks noGrp="1"/>
          </p:cNvSpPr>
          <p:nvPr>
            <p:ph type="title"/>
          </p:nvPr>
        </p:nvSpPr>
        <p:spPr>
          <a:xfrm>
            <a:off x="314545" y="862785"/>
            <a:ext cx="3976211" cy="1439576"/>
          </a:xfrm>
        </p:spPr>
        <p:txBody>
          <a:bodyPr anchor="b"/>
          <a:lstStyle>
            <a:lvl1pPr>
              <a:defRPr sz="3023"/>
            </a:lvl1pPr>
          </a:lstStyle>
          <a:p>
            <a:r>
              <a:rPr lang="zh-CN" altLang="en-US"/>
              <a:t>单击此处编辑母版标题样式</a:t>
            </a:r>
          </a:p>
        </p:txBody>
      </p:sp>
      <p:sp>
        <p:nvSpPr>
          <p:cNvPr id="3" name="文本占位符 2">
            <a:extLst>
              <a:ext uri="{FF2B5EF4-FFF2-40B4-BE49-F238E27FC236}">
                <a16:creationId xmlns:a16="http://schemas.microsoft.com/office/drawing/2014/main" id="{3CC7E3EA-E881-11E6-1983-73B78DACA66B}"/>
              </a:ext>
            </a:extLst>
          </p:cNvPr>
          <p:cNvSpPr>
            <a:spLocks noGrp="1"/>
          </p:cNvSpPr>
          <p:nvPr>
            <p:ph type="body" idx="1"/>
          </p:nvPr>
        </p:nvSpPr>
        <p:spPr>
          <a:xfrm>
            <a:off x="314545" y="2315980"/>
            <a:ext cx="3976211" cy="757039"/>
          </a:xfrm>
        </p:spPr>
        <p:txBody>
          <a:bodyPr/>
          <a:lstStyle>
            <a:lvl1pPr marL="0" indent="0">
              <a:buNone/>
              <a:defRPr sz="1209"/>
            </a:lvl1pPr>
            <a:lvl2pPr marL="230329" indent="0">
              <a:buNone/>
              <a:defRPr sz="1007"/>
            </a:lvl2pPr>
            <a:lvl3pPr marL="460659" indent="0">
              <a:buNone/>
              <a:defRPr sz="907"/>
            </a:lvl3pPr>
            <a:lvl4pPr marL="690989" indent="0">
              <a:buNone/>
              <a:defRPr sz="806"/>
            </a:lvl4pPr>
            <a:lvl5pPr marL="921319" indent="0">
              <a:buNone/>
              <a:defRPr sz="806"/>
            </a:lvl5pPr>
            <a:lvl6pPr marL="1151648" indent="0">
              <a:buNone/>
              <a:defRPr sz="806"/>
            </a:lvl6pPr>
            <a:lvl7pPr marL="1381977" indent="0">
              <a:buNone/>
              <a:defRPr sz="806"/>
            </a:lvl7pPr>
            <a:lvl8pPr marL="1612308" indent="0">
              <a:buNone/>
              <a:defRPr sz="806"/>
            </a:lvl8pPr>
            <a:lvl9pPr marL="1842637" indent="0">
              <a:buNone/>
              <a:defRPr sz="806"/>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A8017190-597F-673A-9695-9F40D78FDF7A}"/>
              </a:ext>
            </a:extLst>
          </p:cNvPr>
          <p:cNvSpPr>
            <a:spLocks noGrp="1"/>
          </p:cNvSpPr>
          <p:nvPr>
            <p:ph type="ftr" sz="quarter" idx="10"/>
          </p:nvPr>
        </p:nvSpPr>
        <p:spPr/>
        <p:txBody>
          <a:bodyPr/>
          <a:lstStyle>
            <a:lvl1pPr>
              <a:defRPr sz="1000"/>
            </a:lvl1pPr>
          </a:lstStyle>
          <a:p>
            <a:r>
              <a:rPr lang="zh-CN" altLang="zh-CN"/>
              <a:t>生活费用的衡量</a:t>
            </a:r>
          </a:p>
        </p:txBody>
      </p:sp>
      <p:sp>
        <p:nvSpPr>
          <p:cNvPr id="5" name="灯片编号占位符 4">
            <a:extLst>
              <a:ext uri="{FF2B5EF4-FFF2-40B4-BE49-F238E27FC236}">
                <a16:creationId xmlns:a16="http://schemas.microsoft.com/office/drawing/2014/main" id="{58CF7D0A-5147-849D-6909-9C4D629AD21F}"/>
              </a:ext>
            </a:extLst>
          </p:cNvPr>
          <p:cNvSpPr>
            <a:spLocks noGrp="1"/>
          </p:cNvSpPr>
          <p:nvPr>
            <p:ph type="sldNum" sz="quarter" idx="11"/>
          </p:nvPr>
        </p:nvSpPr>
        <p:spPr/>
        <p:txBody>
          <a:bodyPr/>
          <a:lstStyle>
            <a:lvl1pPr>
              <a:defRPr/>
            </a:lvl1pPr>
          </a:lstStyle>
          <a:p>
            <a:fld id="{8F48CC5D-4DBB-054F-BB91-0B5FDA710E9B}" type="slidenum">
              <a:rPr lang="zh-CN" altLang="zh-CN"/>
              <a:pPr/>
              <a:t>‹#›</a:t>
            </a:fld>
            <a:endParaRPr lang="en-US" altLang="zh-CN"/>
          </a:p>
        </p:txBody>
      </p:sp>
    </p:spTree>
    <p:extLst>
      <p:ext uri="{BB962C8B-B14F-4D97-AF65-F5344CB8AC3E}">
        <p14:creationId xmlns:p14="http://schemas.microsoft.com/office/powerpoint/2010/main" val="47693156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DCF396-6D7D-7D69-872F-E1559065AC2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30A97E8-7850-2701-0973-861D35464698}"/>
              </a:ext>
            </a:extLst>
          </p:cNvPr>
          <p:cNvSpPr>
            <a:spLocks noGrp="1"/>
          </p:cNvSpPr>
          <p:nvPr>
            <p:ph sz="half" idx="1"/>
          </p:nvPr>
        </p:nvSpPr>
        <p:spPr>
          <a:xfrm>
            <a:off x="188087"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17858D8-6369-CF9F-E8A2-F852152FD1DE}"/>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EC240147-A5BB-56C9-58F9-E9140EA6CC0C}"/>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BD98DEE7-6B01-53DC-16D8-69F5BEAAC5C8}"/>
              </a:ext>
            </a:extLst>
          </p:cNvPr>
          <p:cNvSpPr>
            <a:spLocks noGrp="1"/>
          </p:cNvSpPr>
          <p:nvPr>
            <p:ph type="sldNum" sz="quarter" idx="11"/>
          </p:nvPr>
        </p:nvSpPr>
        <p:spPr/>
        <p:txBody>
          <a:bodyPr/>
          <a:lstStyle>
            <a:lvl1pPr>
              <a:defRPr/>
            </a:lvl1pPr>
          </a:lstStyle>
          <a:p>
            <a:fld id="{8C019746-BD08-8747-84D5-7DDD436B0041}" type="slidenum">
              <a:rPr lang="zh-CN" altLang="zh-CN"/>
              <a:pPr/>
              <a:t>‹#›</a:t>
            </a:fld>
            <a:endParaRPr lang="en-US" altLang="zh-CN"/>
          </a:p>
        </p:txBody>
      </p:sp>
    </p:spTree>
    <p:extLst>
      <p:ext uri="{BB962C8B-B14F-4D97-AF65-F5344CB8AC3E}">
        <p14:creationId xmlns:p14="http://schemas.microsoft.com/office/powerpoint/2010/main" val="77077526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D4E7AC-08EB-D5AE-B96D-E2D76AFDEB15}"/>
              </a:ext>
            </a:extLst>
          </p:cNvPr>
          <p:cNvSpPr>
            <a:spLocks noGrp="1"/>
          </p:cNvSpPr>
          <p:nvPr>
            <p:ph type="title"/>
          </p:nvPr>
        </p:nvSpPr>
        <p:spPr>
          <a:xfrm>
            <a:off x="317746"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A818EAB-F5FD-394E-F5BD-A159A709A077}"/>
              </a:ext>
            </a:extLst>
          </p:cNvPr>
          <p:cNvSpPr>
            <a:spLocks noGrp="1"/>
          </p:cNvSpPr>
          <p:nvPr>
            <p:ph type="body" idx="1"/>
          </p:nvPr>
        </p:nvSpPr>
        <p:spPr>
          <a:xfrm>
            <a:off x="317745" y="848365"/>
            <a:ext cx="1950488" cy="415770"/>
          </a:xfrm>
        </p:spPr>
        <p:txBody>
          <a:bodyPr anchor="b"/>
          <a:lstStyle>
            <a:lvl1pPr marL="0" indent="0">
              <a:buNone/>
              <a:defRPr sz="1209" b="1"/>
            </a:lvl1pPr>
            <a:lvl2pPr marL="230329" indent="0">
              <a:buNone/>
              <a:defRPr sz="1007" b="1"/>
            </a:lvl2pPr>
            <a:lvl3pPr marL="460659" indent="0">
              <a:buNone/>
              <a:defRPr sz="907" b="1"/>
            </a:lvl3pPr>
            <a:lvl4pPr marL="690989" indent="0">
              <a:buNone/>
              <a:defRPr sz="806" b="1"/>
            </a:lvl4pPr>
            <a:lvl5pPr marL="921319" indent="0">
              <a:buNone/>
              <a:defRPr sz="806" b="1"/>
            </a:lvl5pPr>
            <a:lvl6pPr marL="1151648" indent="0">
              <a:buNone/>
              <a:defRPr sz="806" b="1"/>
            </a:lvl6pPr>
            <a:lvl7pPr marL="1381977" indent="0">
              <a:buNone/>
              <a:defRPr sz="806" b="1"/>
            </a:lvl7pPr>
            <a:lvl8pPr marL="1612308" indent="0">
              <a:buNone/>
              <a:defRPr sz="806" b="1"/>
            </a:lvl8pPr>
            <a:lvl9pPr marL="1842637" indent="0">
              <a:buNone/>
              <a:defRPr sz="806"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9EE72BD-0817-A371-2A68-C5B31D09F762}"/>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8B4D3CF-28A6-AE81-E47D-6045104D26D8}"/>
              </a:ext>
            </a:extLst>
          </p:cNvPr>
          <p:cNvSpPr>
            <a:spLocks noGrp="1"/>
          </p:cNvSpPr>
          <p:nvPr>
            <p:ph type="body" sz="quarter" idx="3"/>
          </p:nvPr>
        </p:nvSpPr>
        <p:spPr>
          <a:xfrm>
            <a:off x="2333864" y="848365"/>
            <a:ext cx="1960093" cy="415770"/>
          </a:xfrm>
        </p:spPr>
        <p:txBody>
          <a:bodyPr anchor="b"/>
          <a:lstStyle>
            <a:lvl1pPr marL="0" indent="0">
              <a:buNone/>
              <a:defRPr sz="1209" b="1"/>
            </a:lvl1pPr>
            <a:lvl2pPr marL="230329" indent="0">
              <a:buNone/>
              <a:defRPr sz="1007" b="1"/>
            </a:lvl2pPr>
            <a:lvl3pPr marL="460659" indent="0">
              <a:buNone/>
              <a:defRPr sz="907" b="1"/>
            </a:lvl3pPr>
            <a:lvl4pPr marL="690989" indent="0">
              <a:buNone/>
              <a:defRPr sz="806" b="1"/>
            </a:lvl4pPr>
            <a:lvl5pPr marL="921319" indent="0">
              <a:buNone/>
              <a:defRPr sz="806" b="1"/>
            </a:lvl5pPr>
            <a:lvl6pPr marL="1151648" indent="0">
              <a:buNone/>
              <a:defRPr sz="806" b="1"/>
            </a:lvl6pPr>
            <a:lvl7pPr marL="1381977" indent="0">
              <a:buNone/>
              <a:defRPr sz="806" b="1"/>
            </a:lvl7pPr>
            <a:lvl8pPr marL="1612308" indent="0">
              <a:buNone/>
              <a:defRPr sz="806" b="1"/>
            </a:lvl8pPr>
            <a:lvl9pPr marL="1842637" indent="0">
              <a:buNone/>
              <a:defRPr sz="806"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41E6D47-B987-7B78-551D-543DDB6B6252}"/>
              </a:ext>
            </a:extLst>
          </p:cNvPr>
          <p:cNvSpPr>
            <a:spLocks noGrp="1"/>
          </p:cNvSpPr>
          <p:nvPr>
            <p:ph sz="quarter" idx="4"/>
          </p:nvPr>
        </p:nvSpPr>
        <p:spPr>
          <a:xfrm>
            <a:off x="2333864"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E332F845-FECF-E3A7-DA37-16BF4D6B7B30}"/>
              </a:ext>
            </a:extLst>
          </p:cNvPr>
          <p:cNvSpPr>
            <a:spLocks noGrp="1"/>
          </p:cNvSpPr>
          <p:nvPr>
            <p:ph type="ftr" sz="quarter" idx="10"/>
          </p:nvPr>
        </p:nvSpPr>
        <p:spPr/>
        <p:txBody>
          <a:bodyPr/>
          <a:lstStyle>
            <a:lvl1pPr>
              <a:defRPr/>
            </a:lvl1pPr>
          </a:lstStyle>
          <a:p>
            <a:r>
              <a:rPr lang="zh-CN" altLang="zh-CN"/>
              <a:t>生活费用的衡量</a:t>
            </a:r>
          </a:p>
        </p:txBody>
      </p:sp>
      <p:sp>
        <p:nvSpPr>
          <p:cNvPr id="8" name="灯片编号占位符 7">
            <a:extLst>
              <a:ext uri="{FF2B5EF4-FFF2-40B4-BE49-F238E27FC236}">
                <a16:creationId xmlns:a16="http://schemas.microsoft.com/office/drawing/2014/main" id="{5006AFBB-D687-028F-2B3E-E0FB67CE0D40}"/>
              </a:ext>
            </a:extLst>
          </p:cNvPr>
          <p:cNvSpPr>
            <a:spLocks noGrp="1"/>
          </p:cNvSpPr>
          <p:nvPr>
            <p:ph type="sldNum" sz="quarter" idx="11"/>
          </p:nvPr>
        </p:nvSpPr>
        <p:spPr/>
        <p:txBody>
          <a:bodyPr/>
          <a:lstStyle>
            <a:lvl1pPr>
              <a:defRPr/>
            </a:lvl1pPr>
          </a:lstStyle>
          <a:p>
            <a:fld id="{3E524CE4-D4D3-7C45-A556-874CE046BFC4}" type="slidenum">
              <a:rPr lang="zh-CN" altLang="zh-CN"/>
              <a:pPr/>
              <a:t>‹#›</a:t>
            </a:fld>
            <a:endParaRPr lang="en-US" altLang="zh-CN"/>
          </a:p>
        </p:txBody>
      </p:sp>
    </p:spTree>
    <p:extLst>
      <p:ext uri="{BB962C8B-B14F-4D97-AF65-F5344CB8AC3E}">
        <p14:creationId xmlns:p14="http://schemas.microsoft.com/office/powerpoint/2010/main" val="334643497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8C1F7D-26D0-1C08-2FD1-DDE5BC241A34}"/>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00B4B64F-2781-4346-AD74-3DE88DA994FE}"/>
              </a:ext>
            </a:extLst>
          </p:cNvPr>
          <p:cNvSpPr>
            <a:spLocks noGrp="1"/>
          </p:cNvSpPr>
          <p:nvPr>
            <p:ph type="ftr" sz="quarter" idx="10"/>
          </p:nvPr>
        </p:nvSpPr>
        <p:spPr/>
        <p:txBody>
          <a:bodyPr/>
          <a:lstStyle>
            <a:lvl1pPr>
              <a:defRPr/>
            </a:lvl1pPr>
          </a:lstStyle>
          <a:p>
            <a:r>
              <a:rPr lang="zh-CN" altLang="zh-CN"/>
              <a:t>生活费用的衡量</a:t>
            </a:r>
          </a:p>
        </p:txBody>
      </p:sp>
      <p:sp>
        <p:nvSpPr>
          <p:cNvPr id="4" name="灯片编号占位符 3">
            <a:extLst>
              <a:ext uri="{FF2B5EF4-FFF2-40B4-BE49-F238E27FC236}">
                <a16:creationId xmlns:a16="http://schemas.microsoft.com/office/drawing/2014/main" id="{0C0DA622-DC99-C5F7-4F01-E8EB4228D669}"/>
              </a:ext>
            </a:extLst>
          </p:cNvPr>
          <p:cNvSpPr>
            <a:spLocks noGrp="1"/>
          </p:cNvSpPr>
          <p:nvPr>
            <p:ph type="sldNum" sz="quarter" idx="11"/>
          </p:nvPr>
        </p:nvSpPr>
        <p:spPr/>
        <p:txBody>
          <a:bodyPr/>
          <a:lstStyle>
            <a:lvl1pPr>
              <a:defRPr/>
            </a:lvl1pPr>
          </a:lstStyle>
          <a:p>
            <a:fld id="{D38FD99F-3486-9049-BE4B-55AEF4F9BB20}" type="slidenum">
              <a:rPr lang="zh-CN" altLang="zh-CN"/>
              <a:pPr/>
              <a:t>‹#›</a:t>
            </a:fld>
            <a:endParaRPr lang="en-US" altLang="zh-CN"/>
          </a:p>
        </p:txBody>
      </p:sp>
    </p:spTree>
    <p:extLst>
      <p:ext uri="{BB962C8B-B14F-4D97-AF65-F5344CB8AC3E}">
        <p14:creationId xmlns:p14="http://schemas.microsoft.com/office/powerpoint/2010/main" val="285712654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99DE83B1-A7D5-A18F-1C0C-4631A6538C9E}"/>
              </a:ext>
            </a:extLst>
          </p:cNvPr>
          <p:cNvSpPr>
            <a:spLocks noGrp="1"/>
          </p:cNvSpPr>
          <p:nvPr>
            <p:ph type="ftr" sz="quarter" idx="10"/>
          </p:nvPr>
        </p:nvSpPr>
        <p:spPr/>
        <p:txBody>
          <a:bodyPr/>
          <a:lstStyle>
            <a:lvl1pPr>
              <a:defRPr/>
            </a:lvl1pPr>
          </a:lstStyle>
          <a:p>
            <a:r>
              <a:rPr lang="zh-CN" altLang="zh-CN"/>
              <a:t>生活费用的衡量</a:t>
            </a:r>
          </a:p>
        </p:txBody>
      </p:sp>
      <p:sp>
        <p:nvSpPr>
          <p:cNvPr id="3" name="灯片编号占位符 2">
            <a:extLst>
              <a:ext uri="{FF2B5EF4-FFF2-40B4-BE49-F238E27FC236}">
                <a16:creationId xmlns:a16="http://schemas.microsoft.com/office/drawing/2014/main" id="{6C3C26B4-465B-E739-50FA-1A446808F3EB}"/>
              </a:ext>
            </a:extLst>
          </p:cNvPr>
          <p:cNvSpPr>
            <a:spLocks noGrp="1"/>
          </p:cNvSpPr>
          <p:nvPr>
            <p:ph type="sldNum" sz="quarter" idx="11"/>
          </p:nvPr>
        </p:nvSpPr>
        <p:spPr/>
        <p:txBody>
          <a:bodyPr/>
          <a:lstStyle>
            <a:lvl1pPr>
              <a:defRPr/>
            </a:lvl1pPr>
          </a:lstStyle>
          <a:p>
            <a:fld id="{EAD2A00F-3126-DD4B-82C2-10BEB7EF7B41}" type="slidenum">
              <a:rPr lang="zh-CN" altLang="zh-CN"/>
              <a:pPr/>
              <a:t>‹#›</a:t>
            </a:fld>
            <a:endParaRPr lang="en-US" altLang="zh-CN"/>
          </a:p>
        </p:txBody>
      </p:sp>
    </p:spTree>
    <p:extLst>
      <p:ext uri="{BB962C8B-B14F-4D97-AF65-F5344CB8AC3E}">
        <p14:creationId xmlns:p14="http://schemas.microsoft.com/office/powerpoint/2010/main" val="48034570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C84AB1-3EED-B433-1007-6BC072FB9AE2}"/>
              </a:ext>
            </a:extLst>
          </p:cNvPr>
          <p:cNvSpPr>
            <a:spLocks noGrp="1"/>
          </p:cNvSpPr>
          <p:nvPr>
            <p:ph type="title"/>
          </p:nvPr>
        </p:nvSpPr>
        <p:spPr>
          <a:xfrm>
            <a:off x="317745" y="230717"/>
            <a:ext cx="1487077" cy="807508"/>
          </a:xfrm>
        </p:spPr>
        <p:txBody>
          <a:bodyPr anchor="b"/>
          <a:lstStyle>
            <a:lvl1pPr>
              <a:defRPr sz="1611"/>
            </a:lvl1pPr>
          </a:lstStyle>
          <a:p>
            <a:r>
              <a:rPr lang="zh-CN" altLang="en-US"/>
              <a:t>单击此处编辑母版标题样式</a:t>
            </a:r>
          </a:p>
        </p:txBody>
      </p:sp>
      <p:sp>
        <p:nvSpPr>
          <p:cNvPr id="3" name="内容占位符 2">
            <a:extLst>
              <a:ext uri="{FF2B5EF4-FFF2-40B4-BE49-F238E27FC236}">
                <a16:creationId xmlns:a16="http://schemas.microsoft.com/office/drawing/2014/main" id="{C941EF50-8010-742D-18C1-D12264A9A3D7}"/>
              </a:ext>
            </a:extLst>
          </p:cNvPr>
          <p:cNvSpPr>
            <a:spLocks noGrp="1"/>
          </p:cNvSpPr>
          <p:nvPr>
            <p:ph idx="1"/>
          </p:nvPr>
        </p:nvSpPr>
        <p:spPr>
          <a:xfrm>
            <a:off x="1960094" y="498284"/>
            <a:ext cx="2333863" cy="2459376"/>
          </a:xfrm>
        </p:spPr>
        <p:txBody>
          <a:bodyPr/>
          <a:lstStyle>
            <a:lvl1pPr>
              <a:defRPr sz="1611"/>
            </a:lvl1pPr>
            <a:lvl2pPr>
              <a:defRPr sz="1411"/>
            </a:lvl2pPr>
            <a:lvl3pPr>
              <a:defRPr sz="1209"/>
            </a:lvl3pPr>
            <a:lvl4pPr>
              <a:defRPr sz="1007"/>
            </a:lvl4pPr>
            <a:lvl5pPr>
              <a:defRPr sz="1007"/>
            </a:lvl5pPr>
            <a:lvl6pPr>
              <a:defRPr sz="1007"/>
            </a:lvl6pPr>
            <a:lvl7pPr>
              <a:defRPr sz="1007"/>
            </a:lvl7pPr>
            <a:lvl8pPr>
              <a:defRPr sz="1007"/>
            </a:lvl8pPr>
            <a:lvl9pPr>
              <a:defRPr sz="1007"/>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F30C14B-F25E-A4B7-FD84-EA0A436DCBF4}"/>
              </a:ext>
            </a:extLst>
          </p:cNvPr>
          <p:cNvSpPr>
            <a:spLocks noGrp="1"/>
          </p:cNvSpPr>
          <p:nvPr>
            <p:ph type="body" sz="half" idx="2"/>
          </p:nvPr>
        </p:nvSpPr>
        <p:spPr>
          <a:xfrm>
            <a:off x="317745" y="1038225"/>
            <a:ext cx="1487077" cy="1923440"/>
          </a:xfrm>
        </p:spPr>
        <p:txBody>
          <a:bodyPr/>
          <a:lstStyle>
            <a:lvl1pPr marL="0" indent="0">
              <a:buNone/>
              <a:defRPr sz="806"/>
            </a:lvl1pPr>
            <a:lvl2pPr marL="230329" indent="0">
              <a:buNone/>
              <a:defRPr sz="705"/>
            </a:lvl2pPr>
            <a:lvl3pPr marL="460659" indent="0">
              <a:buNone/>
              <a:defRPr sz="605"/>
            </a:lvl3pPr>
            <a:lvl4pPr marL="690989" indent="0">
              <a:buNone/>
              <a:defRPr sz="504"/>
            </a:lvl4pPr>
            <a:lvl5pPr marL="921319" indent="0">
              <a:buNone/>
              <a:defRPr sz="504"/>
            </a:lvl5pPr>
            <a:lvl6pPr marL="1151648" indent="0">
              <a:buNone/>
              <a:defRPr sz="504"/>
            </a:lvl6pPr>
            <a:lvl7pPr marL="1381977" indent="0">
              <a:buNone/>
              <a:defRPr sz="504"/>
            </a:lvl7pPr>
            <a:lvl8pPr marL="1612308" indent="0">
              <a:buNone/>
              <a:defRPr sz="504"/>
            </a:lvl8pPr>
            <a:lvl9pPr marL="1842637"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5BF2F1DC-CB49-84A7-2D63-35E1404890BD}"/>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7EAB6EB8-7399-0F47-86D3-B3BF1263C860}"/>
              </a:ext>
            </a:extLst>
          </p:cNvPr>
          <p:cNvSpPr>
            <a:spLocks noGrp="1"/>
          </p:cNvSpPr>
          <p:nvPr>
            <p:ph type="sldNum" sz="quarter" idx="11"/>
          </p:nvPr>
        </p:nvSpPr>
        <p:spPr/>
        <p:txBody>
          <a:bodyPr/>
          <a:lstStyle>
            <a:lvl1pPr>
              <a:defRPr/>
            </a:lvl1pPr>
          </a:lstStyle>
          <a:p>
            <a:fld id="{A03B7D81-BB90-0947-B5D0-55F35EC80EB2}" type="slidenum">
              <a:rPr lang="zh-CN" altLang="zh-CN"/>
              <a:pPr/>
              <a:t>‹#›</a:t>
            </a:fld>
            <a:endParaRPr lang="en-US" altLang="zh-CN"/>
          </a:p>
        </p:txBody>
      </p:sp>
    </p:spTree>
    <p:extLst>
      <p:ext uri="{BB962C8B-B14F-4D97-AF65-F5344CB8AC3E}">
        <p14:creationId xmlns:p14="http://schemas.microsoft.com/office/powerpoint/2010/main" val="349863450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4193E0-9740-434C-4FB9-F7433950871D}"/>
              </a:ext>
            </a:extLst>
          </p:cNvPr>
          <p:cNvSpPr>
            <a:spLocks noGrp="1"/>
          </p:cNvSpPr>
          <p:nvPr>
            <p:ph type="title"/>
          </p:nvPr>
        </p:nvSpPr>
        <p:spPr>
          <a:xfrm>
            <a:off x="317745" y="230717"/>
            <a:ext cx="1487077" cy="807508"/>
          </a:xfrm>
        </p:spPr>
        <p:txBody>
          <a:bodyPr anchor="b"/>
          <a:lstStyle>
            <a:lvl1pPr>
              <a:defRPr sz="1611"/>
            </a:lvl1pPr>
          </a:lstStyle>
          <a:p>
            <a:r>
              <a:rPr lang="zh-CN" altLang="en-US"/>
              <a:t>单击此处编辑母版标题样式</a:t>
            </a:r>
          </a:p>
        </p:txBody>
      </p:sp>
      <p:sp>
        <p:nvSpPr>
          <p:cNvPr id="3" name="图片占位符 2">
            <a:extLst>
              <a:ext uri="{FF2B5EF4-FFF2-40B4-BE49-F238E27FC236}">
                <a16:creationId xmlns:a16="http://schemas.microsoft.com/office/drawing/2014/main" id="{0B8E671B-C5F2-4717-E9CD-876EF4AD615C}"/>
              </a:ext>
            </a:extLst>
          </p:cNvPr>
          <p:cNvSpPr>
            <a:spLocks noGrp="1"/>
          </p:cNvSpPr>
          <p:nvPr>
            <p:ph type="pic" idx="1"/>
          </p:nvPr>
        </p:nvSpPr>
        <p:spPr>
          <a:xfrm>
            <a:off x="1960094" y="498284"/>
            <a:ext cx="2333863" cy="2459376"/>
          </a:xfrm>
        </p:spPr>
        <p:txBody>
          <a:bodyPr/>
          <a:lstStyle>
            <a:lvl1pPr marL="0" indent="0">
              <a:buNone/>
              <a:defRPr sz="1611"/>
            </a:lvl1pPr>
            <a:lvl2pPr marL="230329" indent="0">
              <a:buNone/>
              <a:defRPr sz="1411"/>
            </a:lvl2pPr>
            <a:lvl3pPr marL="460659" indent="0">
              <a:buNone/>
              <a:defRPr sz="1209"/>
            </a:lvl3pPr>
            <a:lvl4pPr marL="690989" indent="0">
              <a:buNone/>
              <a:defRPr sz="1007"/>
            </a:lvl4pPr>
            <a:lvl5pPr marL="921319" indent="0">
              <a:buNone/>
              <a:defRPr sz="1007"/>
            </a:lvl5pPr>
            <a:lvl6pPr marL="1151648" indent="0">
              <a:buNone/>
              <a:defRPr sz="1007"/>
            </a:lvl6pPr>
            <a:lvl7pPr marL="1381977" indent="0">
              <a:buNone/>
              <a:defRPr sz="1007"/>
            </a:lvl7pPr>
            <a:lvl8pPr marL="1612308" indent="0">
              <a:buNone/>
              <a:defRPr sz="1007"/>
            </a:lvl8pPr>
            <a:lvl9pPr marL="1842637" indent="0">
              <a:buNone/>
              <a:defRPr sz="1007"/>
            </a:lvl9pPr>
          </a:lstStyle>
          <a:p>
            <a:endParaRPr lang="zh-CN" altLang="en-US"/>
          </a:p>
        </p:txBody>
      </p:sp>
      <p:sp>
        <p:nvSpPr>
          <p:cNvPr id="4" name="文本占位符 3">
            <a:extLst>
              <a:ext uri="{FF2B5EF4-FFF2-40B4-BE49-F238E27FC236}">
                <a16:creationId xmlns:a16="http://schemas.microsoft.com/office/drawing/2014/main" id="{339518FB-4D23-33BB-B98D-565791E1DA2D}"/>
              </a:ext>
            </a:extLst>
          </p:cNvPr>
          <p:cNvSpPr>
            <a:spLocks noGrp="1"/>
          </p:cNvSpPr>
          <p:nvPr>
            <p:ph type="body" sz="half" idx="2"/>
          </p:nvPr>
        </p:nvSpPr>
        <p:spPr>
          <a:xfrm>
            <a:off x="317745" y="1038225"/>
            <a:ext cx="1487077" cy="1923440"/>
          </a:xfrm>
        </p:spPr>
        <p:txBody>
          <a:bodyPr/>
          <a:lstStyle>
            <a:lvl1pPr marL="0" indent="0">
              <a:buNone/>
              <a:defRPr sz="806"/>
            </a:lvl1pPr>
            <a:lvl2pPr marL="230329" indent="0">
              <a:buNone/>
              <a:defRPr sz="705"/>
            </a:lvl2pPr>
            <a:lvl3pPr marL="460659" indent="0">
              <a:buNone/>
              <a:defRPr sz="605"/>
            </a:lvl3pPr>
            <a:lvl4pPr marL="690989" indent="0">
              <a:buNone/>
              <a:defRPr sz="504"/>
            </a:lvl4pPr>
            <a:lvl5pPr marL="921319" indent="0">
              <a:buNone/>
              <a:defRPr sz="504"/>
            </a:lvl5pPr>
            <a:lvl6pPr marL="1151648" indent="0">
              <a:buNone/>
              <a:defRPr sz="504"/>
            </a:lvl6pPr>
            <a:lvl7pPr marL="1381977" indent="0">
              <a:buNone/>
              <a:defRPr sz="504"/>
            </a:lvl7pPr>
            <a:lvl8pPr marL="1612308" indent="0">
              <a:buNone/>
              <a:defRPr sz="504"/>
            </a:lvl8pPr>
            <a:lvl9pPr marL="1842637"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B5A5A2E9-01C9-C553-01C0-236F50E1B3F2}"/>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3B931CDD-FCAA-49EF-7E3F-CB5E1EE05166}"/>
              </a:ext>
            </a:extLst>
          </p:cNvPr>
          <p:cNvSpPr>
            <a:spLocks noGrp="1"/>
          </p:cNvSpPr>
          <p:nvPr>
            <p:ph type="sldNum" sz="quarter" idx="11"/>
          </p:nvPr>
        </p:nvSpPr>
        <p:spPr/>
        <p:txBody>
          <a:bodyPr/>
          <a:lstStyle>
            <a:lvl1pPr>
              <a:defRPr/>
            </a:lvl1pPr>
          </a:lstStyle>
          <a:p>
            <a:fld id="{E7CBFEAC-A4C7-8C41-94E9-893F56F0A61D}" type="slidenum">
              <a:rPr lang="zh-CN" altLang="zh-CN"/>
              <a:pPr/>
              <a:t>‹#›</a:t>
            </a:fld>
            <a:endParaRPr lang="en-US" altLang="zh-CN"/>
          </a:p>
        </p:txBody>
      </p:sp>
    </p:spTree>
    <p:extLst>
      <p:ext uri="{BB962C8B-B14F-4D97-AF65-F5344CB8AC3E}">
        <p14:creationId xmlns:p14="http://schemas.microsoft.com/office/powerpoint/2010/main" val="85009168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E672A6-36E6-5BD1-57BB-11A48434E53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5016762-B61A-FE9D-C36B-4F7CF7F204DB}"/>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7E8C3C2C-F35F-B777-33C8-1C7160CC1140}"/>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1356938B-A164-C18E-8B50-E176A0719A07}"/>
              </a:ext>
            </a:extLst>
          </p:cNvPr>
          <p:cNvSpPr>
            <a:spLocks noGrp="1"/>
          </p:cNvSpPr>
          <p:nvPr>
            <p:ph type="sldNum" sz="quarter" idx="11"/>
          </p:nvPr>
        </p:nvSpPr>
        <p:spPr/>
        <p:txBody>
          <a:bodyPr/>
          <a:lstStyle>
            <a:lvl1pPr>
              <a:defRPr/>
            </a:lvl1pPr>
          </a:lstStyle>
          <a:p>
            <a:fld id="{696BD5E4-A9C4-1D46-BE6B-B0C64B4E3D02}" type="slidenum">
              <a:rPr lang="zh-CN" altLang="zh-CN"/>
              <a:pPr/>
              <a:t>‹#›</a:t>
            </a:fld>
            <a:endParaRPr lang="en-US" altLang="zh-CN"/>
          </a:p>
        </p:txBody>
      </p:sp>
    </p:spTree>
    <p:extLst>
      <p:ext uri="{BB962C8B-B14F-4D97-AF65-F5344CB8AC3E}">
        <p14:creationId xmlns:p14="http://schemas.microsoft.com/office/powerpoint/2010/main" val="110789680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EE4EA72-1D8E-1C9F-BD87-D49D5FD33810}"/>
              </a:ext>
            </a:extLst>
          </p:cNvPr>
          <p:cNvSpPr>
            <a:spLocks noGrp="1"/>
          </p:cNvSpPr>
          <p:nvPr>
            <p:ph type="title" orient="vert"/>
          </p:nvPr>
        </p:nvSpPr>
        <p:spPr>
          <a:xfrm>
            <a:off x="3353528"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69A91E5-A1FF-3EDF-5C72-87DC0E09937A}"/>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64ABEF12-CC41-AC5C-FC66-3AA2D5EDCD51}"/>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F3D4FD1E-F446-1251-1014-FCD174BCF689}"/>
              </a:ext>
            </a:extLst>
          </p:cNvPr>
          <p:cNvSpPr>
            <a:spLocks noGrp="1"/>
          </p:cNvSpPr>
          <p:nvPr>
            <p:ph type="sldNum" sz="quarter" idx="11"/>
          </p:nvPr>
        </p:nvSpPr>
        <p:spPr/>
        <p:txBody>
          <a:bodyPr/>
          <a:lstStyle>
            <a:lvl1pPr>
              <a:defRPr/>
            </a:lvl1pPr>
          </a:lstStyle>
          <a:p>
            <a:fld id="{6ACBF6CB-DBDA-A840-B3EE-516AA779242A}" type="slidenum">
              <a:rPr lang="zh-CN" altLang="zh-CN"/>
              <a:pPr/>
              <a:t>‹#›</a:t>
            </a:fld>
            <a:endParaRPr lang="en-US" altLang="zh-CN"/>
          </a:p>
        </p:txBody>
      </p:sp>
    </p:spTree>
    <p:extLst>
      <p:ext uri="{BB962C8B-B14F-4D97-AF65-F5344CB8AC3E}">
        <p14:creationId xmlns:p14="http://schemas.microsoft.com/office/powerpoint/2010/main" val="221563045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53671" y="38454"/>
            <a:ext cx="4264343" cy="422981"/>
          </a:xfrm>
        </p:spPr>
        <p:txBody>
          <a:bodyPr/>
          <a:lstStyle/>
          <a:p>
            <a:r>
              <a:rPr lang="zh-CN" altLang="en-US"/>
              <a:t>单击此处编辑母版标题样式</a:t>
            </a:r>
          </a:p>
        </p:txBody>
      </p:sp>
      <p:sp>
        <p:nvSpPr>
          <p:cNvPr id="3" name="表格占位符 2"/>
          <p:cNvSpPr>
            <a:spLocks noGrp="1"/>
          </p:cNvSpPr>
          <p:nvPr>
            <p:ph type="tbl" idx="1"/>
          </p:nvPr>
        </p:nvSpPr>
        <p:spPr>
          <a:xfrm>
            <a:off x="230505" y="581600"/>
            <a:ext cx="4149090" cy="2648435"/>
          </a:xfrm>
        </p:spPr>
        <p:txBody>
          <a:bodyPr/>
          <a:lstStyle/>
          <a:p>
            <a:endParaRPr lang="zh-CN" altLang="en-US"/>
          </a:p>
        </p:txBody>
      </p:sp>
      <p:sp>
        <p:nvSpPr>
          <p:cNvPr id="4" name="页脚占位符 3"/>
          <p:cNvSpPr>
            <a:spLocks noGrp="1"/>
          </p:cNvSpPr>
          <p:nvPr>
            <p:ph type="ftr" sz="quarter" idx="10"/>
          </p:nvPr>
        </p:nvSpPr>
        <p:spPr>
          <a:xfrm>
            <a:off x="1920875" y="3260475"/>
            <a:ext cx="2497138" cy="161822"/>
          </a:xfrm>
        </p:spPr>
        <p:txBody>
          <a:bodyPr/>
          <a:lstStyle>
            <a:lvl1pPr>
              <a:defRPr/>
            </a:lvl1pPr>
          </a:lstStyle>
          <a:p>
            <a:pPr algn="ctr" defTabSz="230520">
              <a:defRPr/>
            </a:pPr>
            <a:r>
              <a:rPr lang="zh-CN" altLang="en-US" sz="605" i="0">
                <a:solidFill>
                  <a:prstClr val="black">
                    <a:tint val="75000"/>
                  </a:prstClr>
                </a:solidFill>
                <a:latin typeface="Calibri" panose="020F0502020204030204"/>
                <a:ea typeface="等线" panose="02010600030101010101" pitchFamily="2" charset="-122"/>
              </a:rPr>
              <a:t>宏观经济学</a:t>
            </a:r>
            <a:r>
              <a:rPr lang="en-US" altLang="zh-CN" sz="605" i="0">
                <a:solidFill>
                  <a:prstClr val="black">
                    <a:tint val="75000"/>
                  </a:prstClr>
                </a:solidFill>
                <a:latin typeface="Calibri" panose="020F0502020204030204"/>
                <a:ea typeface="等线" panose="02010600030101010101" pitchFamily="2" charset="-122"/>
              </a:rPr>
              <a:t>/Yang Zhiqing</a:t>
            </a:r>
            <a:endParaRPr lang="zh-CN" altLang="en-US" sz="605" i="0">
              <a:solidFill>
                <a:prstClr val="black">
                  <a:tint val="75000"/>
                </a:prstClr>
              </a:solidFill>
              <a:latin typeface="Calibri" panose="020F0502020204030204"/>
              <a:ea typeface="等线" panose="02010600030101010101" pitchFamily="2" charset="-122"/>
            </a:endParaRPr>
          </a:p>
        </p:txBody>
      </p:sp>
      <p:sp>
        <p:nvSpPr>
          <p:cNvPr id="5" name="日期占位符 4"/>
          <p:cNvSpPr>
            <a:spLocks noGrp="1"/>
          </p:cNvSpPr>
          <p:nvPr>
            <p:ph type="dt" sz="half" idx="11"/>
          </p:nvPr>
        </p:nvSpPr>
        <p:spPr>
          <a:xfrm>
            <a:off x="1" y="461434"/>
            <a:ext cx="4264343" cy="115358"/>
          </a:xfrm>
        </p:spPr>
        <p:txBody>
          <a:bodyPr/>
          <a:lstStyle>
            <a:lvl1pPr>
              <a:defRPr/>
            </a:lvl1pPr>
          </a:lstStyle>
          <a:p>
            <a:pPr defTabSz="230520">
              <a:defRPr/>
            </a:pPr>
            <a:fld id="{33ACA6DB-E184-4768-B508-8EA00BF0EC69}" type="datetime1">
              <a:rPr lang="zh-CN" altLang="en-US" sz="605" smtClean="0">
                <a:solidFill>
                  <a:prstClr val="black">
                    <a:tint val="75000"/>
                  </a:prstClr>
                </a:solidFill>
                <a:latin typeface="Calibri" panose="020F0502020204030204"/>
                <a:ea typeface="等线" panose="02010600030101010101" pitchFamily="2" charset="-122"/>
              </a:rPr>
              <a:pPr defTabSz="230520">
                <a:defRPr/>
              </a:pPr>
              <a:t>2023/3/13</a:t>
            </a:fld>
            <a:endParaRPr lang="en-US" altLang="zh-CN" sz="605">
              <a:solidFill>
                <a:prstClr val="black">
                  <a:tint val="75000"/>
                </a:prstClr>
              </a:solidFill>
              <a:latin typeface="Calibri" panose="020F0502020204030204"/>
              <a:ea typeface="等线" panose="02010600030101010101" pitchFamily="2" charset="-122"/>
            </a:endParaRPr>
          </a:p>
        </p:txBody>
      </p:sp>
    </p:spTree>
    <p:extLst>
      <p:ext uri="{BB962C8B-B14F-4D97-AF65-F5344CB8AC3E}">
        <p14:creationId xmlns:p14="http://schemas.microsoft.com/office/powerpoint/2010/main" val="968454768"/>
      </p:ext>
    </p:extLst>
  </p:cSld>
  <p:clrMapOvr>
    <a:masterClrMapping/>
  </p:clrMapOvr>
  <p:transition>
    <p:random/>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1913AEBC-FA56-78FC-EAEB-10DA04C92989}"/>
              </a:ext>
            </a:extLst>
          </p:cNvPr>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a:extLst>
              <a:ext uri="{FF2B5EF4-FFF2-40B4-BE49-F238E27FC236}">
                <a16:creationId xmlns:a16="http://schemas.microsoft.com/office/drawing/2014/main" id="{4AD05D23-97CC-48BC-410F-61A2D120A5FD}"/>
              </a:ext>
            </a:extLst>
          </p:cNvPr>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807"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2" name="Rectangle 4">
            <a:extLst>
              <a:ext uri="{FF2B5EF4-FFF2-40B4-BE49-F238E27FC236}">
                <a16:creationId xmlns:a16="http://schemas.microsoft.com/office/drawing/2014/main" id="{7DF4076F-8EC8-654B-EA7B-B1957B306900}"/>
              </a:ext>
            </a:extLst>
          </p:cNvPr>
          <p:cNvSpPr>
            <a:spLocks noGrp="1" noChangeArrowheads="1"/>
          </p:cNvSpPr>
          <p:nvPr>
            <p:ph type="subTitle" idx="1"/>
          </p:nvPr>
        </p:nvSpPr>
        <p:spPr>
          <a:xfrm>
            <a:off x="1002056" y="65690"/>
            <a:ext cx="614680" cy="499886"/>
          </a:xfrm>
        </p:spPr>
        <p:txBody>
          <a:bodyPr/>
          <a:lstStyle>
            <a:lvl1pPr marL="0" indent="0" algn="ctr">
              <a:buFont typeface="Wingdings" pitchFamily="2" charset="2"/>
              <a:buNone/>
              <a:defRPr sz="2924" i="1">
                <a:solidFill>
                  <a:srgbClr val="008080"/>
                </a:solidFill>
                <a:latin typeface="Tahoma" panose="020B0604030504040204" pitchFamily="34" charset="0"/>
              </a:defRPr>
            </a:lvl1pPr>
          </a:lstStyle>
          <a:p>
            <a:pPr lvl="0"/>
            <a:r>
              <a:rPr lang="en-US" altLang="zh-CN" noProof="0"/>
              <a:t>34</a:t>
            </a:r>
          </a:p>
        </p:txBody>
      </p:sp>
      <p:sp>
        <p:nvSpPr>
          <p:cNvPr id="2053" name="TextBox 6">
            <a:extLst>
              <a:ext uri="{FF2B5EF4-FFF2-40B4-BE49-F238E27FC236}">
                <a16:creationId xmlns:a16="http://schemas.microsoft.com/office/drawing/2014/main" id="{4D144554-1F7F-5489-ED13-15E41282E73B}"/>
              </a:ext>
            </a:extLst>
          </p:cNvPr>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zh-CN" sz="1109">
                <a:solidFill>
                  <a:srgbClr val="008080"/>
                </a:solidFill>
                <a:latin typeface="Tahoma" panose="020B0604030504040204" pitchFamily="34" charset="0"/>
                <a:ea typeface="宋体" panose="02010600030101010101" pitchFamily="2" charset="-122"/>
              </a:rPr>
              <a:t>C H A P T E R</a:t>
            </a:r>
          </a:p>
        </p:txBody>
      </p:sp>
    </p:spTree>
    <p:extLst>
      <p:ext uri="{BB962C8B-B14F-4D97-AF65-F5344CB8AC3E}">
        <p14:creationId xmlns:p14="http://schemas.microsoft.com/office/powerpoint/2010/main" val="120190614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865C76-1E8C-DDA6-955B-EBDD5BB43EA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652C2C5-0D52-EA0C-48F5-B1188CDA762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13990271-A6A1-BE5C-399F-E82D486146D8}"/>
              </a:ext>
            </a:extLst>
          </p:cNvPr>
          <p:cNvSpPr>
            <a:spLocks noGrp="1"/>
          </p:cNvSpPr>
          <p:nvPr>
            <p:ph type="ftr" sz="quarter" idx="10"/>
          </p:nvPr>
        </p:nvSpPr>
        <p:spPr/>
        <p:txBody>
          <a:bodyPr/>
          <a:lstStyle>
            <a:lvl1pPr>
              <a:defRPr/>
            </a:lvl1pPr>
          </a:lstStyle>
          <a:p>
            <a:r>
              <a:rPr lang="zh-CN" altLang="zh-CN"/>
              <a:t>储蓄、投资和金融体系</a:t>
            </a:r>
          </a:p>
        </p:txBody>
      </p:sp>
      <p:sp>
        <p:nvSpPr>
          <p:cNvPr id="5" name="灯片编号占位符 4">
            <a:extLst>
              <a:ext uri="{FF2B5EF4-FFF2-40B4-BE49-F238E27FC236}">
                <a16:creationId xmlns:a16="http://schemas.microsoft.com/office/drawing/2014/main" id="{A1604FF3-E6AE-2D85-5941-CB1E06EB1432}"/>
              </a:ext>
            </a:extLst>
          </p:cNvPr>
          <p:cNvSpPr>
            <a:spLocks noGrp="1"/>
          </p:cNvSpPr>
          <p:nvPr>
            <p:ph type="sldNum" sz="quarter" idx="11"/>
          </p:nvPr>
        </p:nvSpPr>
        <p:spPr/>
        <p:txBody>
          <a:bodyPr/>
          <a:lstStyle>
            <a:lvl1pPr>
              <a:defRPr/>
            </a:lvl1pPr>
          </a:lstStyle>
          <a:p>
            <a:fld id="{D5F37188-5717-5045-B75B-A8FAB37A0AF3}" type="slidenum">
              <a:rPr lang="zh-CN" altLang="zh-CN"/>
              <a:pPr/>
              <a:t>‹#›</a:t>
            </a:fld>
            <a:endParaRPr lang="en-US" altLang="zh-CN"/>
          </a:p>
        </p:txBody>
      </p:sp>
    </p:spTree>
    <p:extLst>
      <p:ext uri="{BB962C8B-B14F-4D97-AF65-F5344CB8AC3E}">
        <p14:creationId xmlns:p14="http://schemas.microsoft.com/office/powerpoint/2010/main" val="50290866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5E38FF-7D26-DA02-36BC-76010B78D783}"/>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2055F014-19A5-11AF-B6C7-ED7829230E64}"/>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05E52E18-009A-F26F-E5DA-EC4E9F1E6C2C}"/>
              </a:ext>
            </a:extLst>
          </p:cNvPr>
          <p:cNvSpPr>
            <a:spLocks noGrp="1"/>
          </p:cNvSpPr>
          <p:nvPr>
            <p:ph type="ftr" sz="quarter" idx="10"/>
          </p:nvPr>
        </p:nvSpPr>
        <p:spPr/>
        <p:txBody>
          <a:bodyPr/>
          <a:lstStyle>
            <a:lvl1pPr>
              <a:defRPr/>
            </a:lvl1pPr>
          </a:lstStyle>
          <a:p>
            <a:r>
              <a:rPr lang="zh-CN" altLang="zh-CN"/>
              <a:t>储蓄、投资和金融体系</a:t>
            </a:r>
          </a:p>
        </p:txBody>
      </p:sp>
      <p:sp>
        <p:nvSpPr>
          <p:cNvPr id="5" name="灯片编号占位符 4">
            <a:extLst>
              <a:ext uri="{FF2B5EF4-FFF2-40B4-BE49-F238E27FC236}">
                <a16:creationId xmlns:a16="http://schemas.microsoft.com/office/drawing/2014/main" id="{B318359B-4C79-8FA5-7F9C-E7BC409CD90D}"/>
              </a:ext>
            </a:extLst>
          </p:cNvPr>
          <p:cNvSpPr>
            <a:spLocks noGrp="1"/>
          </p:cNvSpPr>
          <p:nvPr>
            <p:ph type="sldNum" sz="quarter" idx="11"/>
          </p:nvPr>
        </p:nvSpPr>
        <p:spPr/>
        <p:txBody>
          <a:bodyPr/>
          <a:lstStyle>
            <a:lvl1pPr>
              <a:defRPr/>
            </a:lvl1pPr>
          </a:lstStyle>
          <a:p>
            <a:fld id="{BC742A95-D2CA-134D-8BA9-2A45D512CDEE}" type="slidenum">
              <a:rPr lang="zh-CN" altLang="zh-CN"/>
              <a:pPr/>
              <a:t>‹#›</a:t>
            </a:fld>
            <a:endParaRPr lang="en-US" altLang="zh-CN"/>
          </a:p>
        </p:txBody>
      </p:sp>
    </p:spTree>
    <p:extLst>
      <p:ext uri="{BB962C8B-B14F-4D97-AF65-F5344CB8AC3E}">
        <p14:creationId xmlns:p14="http://schemas.microsoft.com/office/powerpoint/2010/main" val="400906639"/>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7882E8-CA64-CC74-F543-77FA61953A1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CDBBCA1-5E50-95C6-24EE-9CE05F3D7462}"/>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97D37ED-41A9-3CE6-AF2D-0D8BAE53B038}"/>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4BC0E6C4-2AA4-69C2-890C-06793C5E624D}"/>
              </a:ext>
            </a:extLst>
          </p:cNvPr>
          <p:cNvSpPr>
            <a:spLocks noGrp="1"/>
          </p:cNvSpPr>
          <p:nvPr>
            <p:ph type="ftr" sz="quarter" idx="10"/>
          </p:nvPr>
        </p:nvSpPr>
        <p:spPr/>
        <p:txBody>
          <a:bodyPr/>
          <a:lstStyle>
            <a:lvl1pPr>
              <a:defRPr/>
            </a:lvl1pPr>
          </a:lstStyle>
          <a:p>
            <a:r>
              <a:rPr lang="zh-CN" altLang="zh-CN"/>
              <a:t>储蓄、投资和金融体系</a:t>
            </a:r>
          </a:p>
        </p:txBody>
      </p:sp>
      <p:sp>
        <p:nvSpPr>
          <p:cNvPr id="6" name="灯片编号占位符 5">
            <a:extLst>
              <a:ext uri="{FF2B5EF4-FFF2-40B4-BE49-F238E27FC236}">
                <a16:creationId xmlns:a16="http://schemas.microsoft.com/office/drawing/2014/main" id="{B6029BD6-F5FB-6AD5-042D-5A6D44850C4B}"/>
              </a:ext>
            </a:extLst>
          </p:cNvPr>
          <p:cNvSpPr>
            <a:spLocks noGrp="1"/>
          </p:cNvSpPr>
          <p:nvPr>
            <p:ph type="sldNum" sz="quarter" idx="11"/>
          </p:nvPr>
        </p:nvSpPr>
        <p:spPr/>
        <p:txBody>
          <a:bodyPr/>
          <a:lstStyle>
            <a:lvl1pPr>
              <a:defRPr/>
            </a:lvl1pPr>
          </a:lstStyle>
          <a:p>
            <a:fld id="{F22C2D04-8537-F544-BF47-F9C134D75DB7}" type="slidenum">
              <a:rPr lang="zh-CN" altLang="zh-CN"/>
              <a:pPr/>
              <a:t>‹#›</a:t>
            </a:fld>
            <a:endParaRPr lang="en-US" altLang="zh-CN"/>
          </a:p>
        </p:txBody>
      </p:sp>
    </p:spTree>
    <p:extLst>
      <p:ext uri="{BB962C8B-B14F-4D97-AF65-F5344CB8AC3E}">
        <p14:creationId xmlns:p14="http://schemas.microsoft.com/office/powerpoint/2010/main" val="75580618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A865EC-42C4-3325-73AD-3A4DDB83D3D9}"/>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25FB373-5687-D3F4-1460-263F3B6E6E7F}"/>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080F3ED-0250-978B-B8FD-2BAE0C78765D}"/>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6E39F04-1EB5-F9D6-A37B-DAF1DC91C8FD}"/>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C90B1D5-A84D-D9A4-6C5E-03A931DDEE55}"/>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5D18963C-3A8E-1BE8-DC30-12514288BCC7}"/>
              </a:ext>
            </a:extLst>
          </p:cNvPr>
          <p:cNvSpPr>
            <a:spLocks noGrp="1"/>
          </p:cNvSpPr>
          <p:nvPr>
            <p:ph type="ftr" sz="quarter" idx="10"/>
          </p:nvPr>
        </p:nvSpPr>
        <p:spPr/>
        <p:txBody>
          <a:bodyPr/>
          <a:lstStyle>
            <a:lvl1pPr>
              <a:defRPr/>
            </a:lvl1pPr>
          </a:lstStyle>
          <a:p>
            <a:r>
              <a:rPr lang="zh-CN" altLang="zh-CN"/>
              <a:t>储蓄、投资和金融体系</a:t>
            </a:r>
          </a:p>
        </p:txBody>
      </p:sp>
      <p:sp>
        <p:nvSpPr>
          <p:cNvPr id="8" name="灯片编号占位符 7">
            <a:extLst>
              <a:ext uri="{FF2B5EF4-FFF2-40B4-BE49-F238E27FC236}">
                <a16:creationId xmlns:a16="http://schemas.microsoft.com/office/drawing/2014/main" id="{CB475382-1BAE-A6E8-D2E4-174C61770AE3}"/>
              </a:ext>
            </a:extLst>
          </p:cNvPr>
          <p:cNvSpPr>
            <a:spLocks noGrp="1"/>
          </p:cNvSpPr>
          <p:nvPr>
            <p:ph type="sldNum" sz="quarter" idx="11"/>
          </p:nvPr>
        </p:nvSpPr>
        <p:spPr/>
        <p:txBody>
          <a:bodyPr/>
          <a:lstStyle>
            <a:lvl1pPr>
              <a:defRPr/>
            </a:lvl1pPr>
          </a:lstStyle>
          <a:p>
            <a:fld id="{D9933D98-7208-AF49-B27F-E9412298FFDB}" type="slidenum">
              <a:rPr lang="zh-CN" altLang="zh-CN"/>
              <a:pPr/>
              <a:t>‹#›</a:t>
            </a:fld>
            <a:endParaRPr lang="en-US" altLang="zh-CN"/>
          </a:p>
        </p:txBody>
      </p:sp>
    </p:spTree>
    <p:extLst>
      <p:ext uri="{BB962C8B-B14F-4D97-AF65-F5344CB8AC3E}">
        <p14:creationId xmlns:p14="http://schemas.microsoft.com/office/powerpoint/2010/main" val="155146761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66C815-0C85-9544-A368-1E719111616C}"/>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556DBF23-B046-00A0-A52F-7D34BC94221C}"/>
              </a:ext>
            </a:extLst>
          </p:cNvPr>
          <p:cNvSpPr>
            <a:spLocks noGrp="1"/>
          </p:cNvSpPr>
          <p:nvPr>
            <p:ph type="ftr" sz="quarter" idx="10"/>
          </p:nvPr>
        </p:nvSpPr>
        <p:spPr/>
        <p:txBody>
          <a:bodyPr/>
          <a:lstStyle>
            <a:lvl1pPr>
              <a:defRPr/>
            </a:lvl1pPr>
          </a:lstStyle>
          <a:p>
            <a:r>
              <a:rPr lang="zh-CN" altLang="zh-CN"/>
              <a:t>储蓄、投资和金融体系</a:t>
            </a:r>
          </a:p>
        </p:txBody>
      </p:sp>
      <p:sp>
        <p:nvSpPr>
          <p:cNvPr id="4" name="灯片编号占位符 3">
            <a:extLst>
              <a:ext uri="{FF2B5EF4-FFF2-40B4-BE49-F238E27FC236}">
                <a16:creationId xmlns:a16="http://schemas.microsoft.com/office/drawing/2014/main" id="{1D845473-B82B-769C-B586-234F6D24AE68}"/>
              </a:ext>
            </a:extLst>
          </p:cNvPr>
          <p:cNvSpPr>
            <a:spLocks noGrp="1"/>
          </p:cNvSpPr>
          <p:nvPr>
            <p:ph type="sldNum" sz="quarter" idx="11"/>
          </p:nvPr>
        </p:nvSpPr>
        <p:spPr/>
        <p:txBody>
          <a:bodyPr/>
          <a:lstStyle>
            <a:lvl1pPr>
              <a:defRPr/>
            </a:lvl1pPr>
          </a:lstStyle>
          <a:p>
            <a:fld id="{4CA00277-EA4E-B541-8928-37DC4A2E581D}" type="slidenum">
              <a:rPr lang="zh-CN" altLang="zh-CN"/>
              <a:pPr/>
              <a:t>‹#›</a:t>
            </a:fld>
            <a:endParaRPr lang="en-US" altLang="zh-CN"/>
          </a:p>
        </p:txBody>
      </p:sp>
    </p:spTree>
    <p:extLst>
      <p:ext uri="{BB962C8B-B14F-4D97-AF65-F5344CB8AC3E}">
        <p14:creationId xmlns:p14="http://schemas.microsoft.com/office/powerpoint/2010/main" val="269744783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75551265-6EEE-B36C-4D9A-340B667E1F32}"/>
              </a:ext>
            </a:extLst>
          </p:cNvPr>
          <p:cNvSpPr>
            <a:spLocks noGrp="1"/>
          </p:cNvSpPr>
          <p:nvPr>
            <p:ph type="ftr" sz="quarter" idx="10"/>
          </p:nvPr>
        </p:nvSpPr>
        <p:spPr/>
        <p:txBody>
          <a:bodyPr/>
          <a:lstStyle>
            <a:lvl1pPr>
              <a:defRPr/>
            </a:lvl1pPr>
          </a:lstStyle>
          <a:p>
            <a:r>
              <a:rPr lang="zh-CN" altLang="zh-CN"/>
              <a:t>储蓄、投资和金融体系</a:t>
            </a:r>
          </a:p>
        </p:txBody>
      </p:sp>
      <p:sp>
        <p:nvSpPr>
          <p:cNvPr id="3" name="灯片编号占位符 2">
            <a:extLst>
              <a:ext uri="{FF2B5EF4-FFF2-40B4-BE49-F238E27FC236}">
                <a16:creationId xmlns:a16="http://schemas.microsoft.com/office/drawing/2014/main" id="{BAD24D52-766A-C091-1491-EDC04DBE82AD}"/>
              </a:ext>
            </a:extLst>
          </p:cNvPr>
          <p:cNvSpPr>
            <a:spLocks noGrp="1"/>
          </p:cNvSpPr>
          <p:nvPr>
            <p:ph type="sldNum" sz="quarter" idx="11"/>
          </p:nvPr>
        </p:nvSpPr>
        <p:spPr/>
        <p:txBody>
          <a:bodyPr/>
          <a:lstStyle>
            <a:lvl1pPr>
              <a:defRPr/>
            </a:lvl1pPr>
          </a:lstStyle>
          <a:p>
            <a:fld id="{714CAD9D-8C32-FC49-BC3F-7C78B6FF6B46}" type="slidenum">
              <a:rPr lang="zh-CN" altLang="zh-CN"/>
              <a:pPr/>
              <a:t>‹#›</a:t>
            </a:fld>
            <a:endParaRPr lang="en-US" altLang="zh-CN"/>
          </a:p>
        </p:txBody>
      </p:sp>
    </p:spTree>
    <p:extLst>
      <p:ext uri="{BB962C8B-B14F-4D97-AF65-F5344CB8AC3E}">
        <p14:creationId xmlns:p14="http://schemas.microsoft.com/office/powerpoint/2010/main" val="314456744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CAA1BE-E03B-C0DD-3459-8877A936FA36}"/>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CC4BBF1E-DD76-D9EB-AAF0-1753F267FFF8}"/>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52CA0124-46D8-3225-FCC8-A066CE19B0F2}"/>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8682A032-E73B-89F2-808C-B6BF1F62A8A9}"/>
              </a:ext>
            </a:extLst>
          </p:cNvPr>
          <p:cNvSpPr>
            <a:spLocks noGrp="1"/>
          </p:cNvSpPr>
          <p:nvPr>
            <p:ph type="ftr" sz="quarter" idx="10"/>
          </p:nvPr>
        </p:nvSpPr>
        <p:spPr/>
        <p:txBody>
          <a:bodyPr/>
          <a:lstStyle>
            <a:lvl1pPr>
              <a:defRPr/>
            </a:lvl1pPr>
          </a:lstStyle>
          <a:p>
            <a:r>
              <a:rPr lang="zh-CN" altLang="zh-CN"/>
              <a:t>储蓄、投资和金融体系</a:t>
            </a:r>
          </a:p>
        </p:txBody>
      </p:sp>
      <p:sp>
        <p:nvSpPr>
          <p:cNvPr id="6" name="灯片编号占位符 5">
            <a:extLst>
              <a:ext uri="{FF2B5EF4-FFF2-40B4-BE49-F238E27FC236}">
                <a16:creationId xmlns:a16="http://schemas.microsoft.com/office/drawing/2014/main" id="{16D41276-A2FD-8D79-A438-26534024B829}"/>
              </a:ext>
            </a:extLst>
          </p:cNvPr>
          <p:cNvSpPr>
            <a:spLocks noGrp="1"/>
          </p:cNvSpPr>
          <p:nvPr>
            <p:ph type="sldNum" sz="quarter" idx="11"/>
          </p:nvPr>
        </p:nvSpPr>
        <p:spPr/>
        <p:txBody>
          <a:bodyPr/>
          <a:lstStyle>
            <a:lvl1pPr>
              <a:defRPr/>
            </a:lvl1pPr>
          </a:lstStyle>
          <a:p>
            <a:fld id="{A1D3D78F-6B90-6F47-99F9-753905A1F931}" type="slidenum">
              <a:rPr lang="zh-CN" altLang="zh-CN"/>
              <a:pPr/>
              <a:t>‹#›</a:t>
            </a:fld>
            <a:endParaRPr lang="en-US" altLang="zh-CN"/>
          </a:p>
        </p:txBody>
      </p:sp>
    </p:spTree>
    <p:extLst>
      <p:ext uri="{BB962C8B-B14F-4D97-AF65-F5344CB8AC3E}">
        <p14:creationId xmlns:p14="http://schemas.microsoft.com/office/powerpoint/2010/main" val="286624785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C7CDEC-CB2E-6AA3-3594-732949BA521B}"/>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0A5423ED-5B55-097A-C9B0-90F5E48035F6}"/>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FA6B09B1-B6DE-00F1-0CAB-97F86987F752}"/>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C273A380-1AFB-0A19-E943-86D1DB6145DF}"/>
              </a:ext>
            </a:extLst>
          </p:cNvPr>
          <p:cNvSpPr>
            <a:spLocks noGrp="1"/>
          </p:cNvSpPr>
          <p:nvPr>
            <p:ph type="ftr" sz="quarter" idx="10"/>
          </p:nvPr>
        </p:nvSpPr>
        <p:spPr/>
        <p:txBody>
          <a:bodyPr/>
          <a:lstStyle>
            <a:lvl1pPr>
              <a:defRPr/>
            </a:lvl1pPr>
          </a:lstStyle>
          <a:p>
            <a:r>
              <a:rPr lang="zh-CN" altLang="zh-CN"/>
              <a:t>储蓄、投资和金融体系</a:t>
            </a:r>
          </a:p>
        </p:txBody>
      </p:sp>
      <p:sp>
        <p:nvSpPr>
          <p:cNvPr id="6" name="灯片编号占位符 5">
            <a:extLst>
              <a:ext uri="{FF2B5EF4-FFF2-40B4-BE49-F238E27FC236}">
                <a16:creationId xmlns:a16="http://schemas.microsoft.com/office/drawing/2014/main" id="{32E32E30-B1E1-A2DD-E1DC-8A779DB2C87D}"/>
              </a:ext>
            </a:extLst>
          </p:cNvPr>
          <p:cNvSpPr>
            <a:spLocks noGrp="1"/>
          </p:cNvSpPr>
          <p:nvPr>
            <p:ph type="sldNum" sz="quarter" idx="11"/>
          </p:nvPr>
        </p:nvSpPr>
        <p:spPr/>
        <p:txBody>
          <a:bodyPr/>
          <a:lstStyle>
            <a:lvl1pPr>
              <a:defRPr/>
            </a:lvl1pPr>
          </a:lstStyle>
          <a:p>
            <a:fld id="{EC7EC5F2-24F3-BF4B-9D15-216FEF53CCAE}" type="slidenum">
              <a:rPr lang="zh-CN" altLang="zh-CN"/>
              <a:pPr/>
              <a:t>‹#›</a:t>
            </a:fld>
            <a:endParaRPr lang="en-US" altLang="zh-CN"/>
          </a:p>
        </p:txBody>
      </p:sp>
    </p:spTree>
    <p:extLst>
      <p:ext uri="{BB962C8B-B14F-4D97-AF65-F5344CB8AC3E}">
        <p14:creationId xmlns:p14="http://schemas.microsoft.com/office/powerpoint/2010/main" val="288188286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EE332B-D91B-9E4E-F5A2-35532BB7968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0D367C6-4DFB-1E9F-1435-8B5633B3B8A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13A91252-9271-EC3D-BFD2-24D0CB2E77F2}"/>
              </a:ext>
            </a:extLst>
          </p:cNvPr>
          <p:cNvSpPr>
            <a:spLocks noGrp="1"/>
          </p:cNvSpPr>
          <p:nvPr>
            <p:ph type="ftr" sz="quarter" idx="10"/>
          </p:nvPr>
        </p:nvSpPr>
        <p:spPr/>
        <p:txBody>
          <a:bodyPr/>
          <a:lstStyle>
            <a:lvl1pPr>
              <a:defRPr/>
            </a:lvl1pPr>
          </a:lstStyle>
          <a:p>
            <a:r>
              <a:rPr lang="zh-CN" altLang="zh-CN"/>
              <a:t>储蓄、投资和金融体系</a:t>
            </a:r>
          </a:p>
        </p:txBody>
      </p:sp>
      <p:sp>
        <p:nvSpPr>
          <p:cNvPr id="5" name="灯片编号占位符 4">
            <a:extLst>
              <a:ext uri="{FF2B5EF4-FFF2-40B4-BE49-F238E27FC236}">
                <a16:creationId xmlns:a16="http://schemas.microsoft.com/office/drawing/2014/main" id="{3CB13E21-16D5-C5D6-5A22-0FF96FD58202}"/>
              </a:ext>
            </a:extLst>
          </p:cNvPr>
          <p:cNvSpPr>
            <a:spLocks noGrp="1"/>
          </p:cNvSpPr>
          <p:nvPr>
            <p:ph type="sldNum" sz="quarter" idx="11"/>
          </p:nvPr>
        </p:nvSpPr>
        <p:spPr/>
        <p:txBody>
          <a:bodyPr/>
          <a:lstStyle>
            <a:lvl1pPr>
              <a:defRPr/>
            </a:lvl1pPr>
          </a:lstStyle>
          <a:p>
            <a:fld id="{2EE71058-4E43-0542-987D-BF6AFCFF7EBD}" type="slidenum">
              <a:rPr lang="zh-CN" altLang="zh-CN"/>
              <a:pPr/>
              <a:t>‹#›</a:t>
            </a:fld>
            <a:endParaRPr lang="en-US" altLang="zh-CN"/>
          </a:p>
        </p:txBody>
      </p:sp>
    </p:spTree>
    <p:extLst>
      <p:ext uri="{BB962C8B-B14F-4D97-AF65-F5344CB8AC3E}">
        <p14:creationId xmlns:p14="http://schemas.microsoft.com/office/powerpoint/2010/main" val="237611964"/>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CC5A2A0-E392-4435-ECF8-8DDEAB03E7B8}"/>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37D4A8F-3CC8-F529-4BB4-45BCB97FC34E}"/>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49E9550F-27AC-9823-A68E-1175E6C2E8DE}"/>
              </a:ext>
            </a:extLst>
          </p:cNvPr>
          <p:cNvSpPr>
            <a:spLocks noGrp="1"/>
          </p:cNvSpPr>
          <p:nvPr>
            <p:ph type="ftr" sz="quarter" idx="10"/>
          </p:nvPr>
        </p:nvSpPr>
        <p:spPr/>
        <p:txBody>
          <a:bodyPr/>
          <a:lstStyle>
            <a:lvl1pPr>
              <a:defRPr/>
            </a:lvl1pPr>
          </a:lstStyle>
          <a:p>
            <a:r>
              <a:rPr lang="zh-CN" altLang="zh-CN"/>
              <a:t>储蓄、投资和金融体系</a:t>
            </a:r>
          </a:p>
        </p:txBody>
      </p:sp>
      <p:sp>
        <p:nvSpPr>
          <p:cNvPr id="5" name="灯片编号占位符 4">
            <a:extLst>
              <a:ext uri="{FF2B5EF4-FFF2-40B4-BE49-F238E27FC236}">
                <a16:creationId xmlns:a16="http://schemas.microsoft.com/office/drawing/2014/main" id="{EBD5ABBF-6449-9A99-F8C5-4CBA4CC85CF9}"/>
              </a:ext>
            </a:extLst>
          </p:cNvPr>
          <p:cNvSpPr>
            <a:spLocks noGrp="1"/>
          </p:cNvSpPr>
          <p:nvPr>
            <p:ph type="sldNum" sz="quarter" idx="11"/>
          </p:nvPr>
        </p:nvSpPr>
        <p:spPr/>
        <p:txBody>
          <a:bodyPr/>
          <a:lstStyle>
            <a:lvl1pPr>
              <a:defRPr/>
            </a:lvl1pPr>
          </a:lstStyle>
          <a:p>
            <a:fld id="{E5CEB968-BD04-C74A-9891-6C4CFF90FA37}" type="slidenum">
              <a:rPr lang="zh-CN" altLang="zh-CN"/>
              <a:pPr/>
              <a:t>‹#›</a:t>
            </a:fld>
            <a:endParaRPr lang="en-US" altLang="zh-CN"/>
          </a:p>
        </p:txBody>
      </p:sp>
    </p:spTree>
    <p:extLst>
      <p:ext uri="{BB962C8B-B14F-4D97-AF65-F5344CB8AC3E}">
        <p14:creationId xmlns:p14="http://schemas.microsoft.com/office/powerpoint/2010/main" val="69833632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0FFDEB9A-FE7D-1051-4208-856E7C05841E}"/>
              </a:ext>
            </a:extLst>
          </p:cNvPr>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a:extLst>
              <a:ext uri="{FF2B5EF4-FFF2-40B4-BE49-F238E27FC236}">
                <a16:creationId xmlns:a16="http://schemas.microsoft.com/office/drawing/2014/main" id="{7188E2E1-FDA0-B5D9-84B7-A433F1384902}"/>
              </a:ext>
            </a:extLst>
          </p:cNvPr>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807"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2" name="Rectangle 4">
            <a:extLst>
              <a:ext uri="{FF2B5EF4-FFF2-40B4-BE49-F238E27FC236}">
                <a16:creationId xmlns:a16="http://schemas.microsoft.com/office/drawing/2014/main" id="{C756DFC6-196F-9AC3-0581-9BE8CBF55306}"/>
              </a:ext>
            </a:extLst>
          </p:cNvPr>
          <p:cNvSpPr>
            <a:spLocks noGrp="1" noChangeArrowheads="1"/>
          </p:cNvSpPr>
          <p:nvPr>
            <p:ph type="subTitle" idx="1"/>
          </p:nvPr>
        </p:nvSpPr>
        <p:spPr>
          <a:xfrm>
            <a:off x="1002056" y="65690"/>
            <a:ext cx="614680" cy="499886"/>
          </a:xfrm>
        </p:spPr>
        <p:txBody>
          <a:bodyPr/>
          <a:lstStyle>
            <a:lvl1pPr marL="0" indent="0" algn="ctr">
              <a:buFont typeface="Wingdings" pitchFamily="2" charset="2"/>
              <a:buNone/>
              <a:defRPr sz="2924" i="1">
                <a:solidFill>
                  <a:srgbClr val="008080"/>
                </a:solidFill>
                <a:latin typeface="Tahoma" panose="020B0604030504040204" pitchFamily="34" charset="0"/>
              </a:defRPr>
            </a:lvl1pPr>
          </a:lstStyle>
          <a:p>
            <a:pPr lvl="0"/>
            <a:r>
              <a:rPr lang="en-US" altLang="zh-CN" noProof="0"/>
              <a:t>34</a:t>
            </a:r>
          </a:p>
        </p:txBody>
      </p:sp>
      <p:sp>
        <p:nvSpPr>
          <p:cNvPr id="2053" name="TextBox 6">
            <a:extLst>
              <a:ext uri="{FF2B5EF4-FFF2-40B4-BE49-F238E27FC236}">
                <a16:creationId xmlns:a16="http://schemas.microsoft.com/office/drawing/2014/main" id="{594D3A80-BD5A-1600-3481-C5603DECFE1B}"/>
              </a:ext>
            </a:extLst>
          </p:cNvPr>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zh-CN" sz="1109">
                <a:solidFill>
                  <a:srgbClr val="008080"/>
                </a:solidFill>
                <a:latin typeface="Tahoma" panose="020B0604030504040204" pitchFamily="34" charset="0"/>
                <a:ea typeface="宋体" panose="02010600030101010101" pitchFamily="2" charset="-122"/>
              </a:rPr>
              <a:t>C H A P T E R</a:t>
            </a:r>
          </a:p>
        </p:txBody>
      </p:sp>
    </p:spTree>
    <p:extLst>
      <p:ext uri="{BB962C8B-B14F-4D97-AF65-F5344CB8AC3E}">
        <p14:creationId xmlns:p14="http://schemas.microsoft.com/office/powerpoint/2010/main" val="3798848524"/>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CB5C05-FBDF-341A-CCD0-AC5507CDA41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CC4EF02-FEFF-2C14-F67D-C9236443BA2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5AFC8F56-B222-2532-68E8-91AB4F1C2845}"/>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5" name="灯片编号占位符 4">
            <a:extLst>
              <a:ext uri="{FF2B5EF4-FFF2-40B4-BE49-F238E27FC236}">
                <a16:creationId xmlns:a16="http://schemas.microsoft.com/office/drawing/2014/main" id="{53751CAD-20D1-C233-AFA2-0F59BC02DD3A}"/>
              </a:ext>
            </a:extLst>
          </p:cNvPr>
          <p:cNvSpPr>
            <a:spLocks noGrp="1"/>
          </p:cNvSpPr>
          <p:nvPr>
            <p:ph type="sldNum" sz="quarter" idx="11"/>
          </p:nvPr>
        </p:nvSpPr>
        <p:spPr/>
        <p:txBody>
          <a:bodyPr/>
          <a:lstStyle>
            <a:lvl1pPr>
              <a:defRPr/>
            </a:lvl1pPr>
          </a:lstStyle>
          <a:p>
            <a:fld id="{966E1FEE-F2FC-AB4C-B09C-16DD421BF41F}" type="slidenum">
              <a:rPr lang="zh-CN" altLang="zh-CN"/>
              <a:pPr/>
              <a:t>‹#›</a:t>
            </a:fld>
            <a:endParaRPr lang="en-US" altLang="zh-CN"/>
          </a:p>
        </p:txBody>
      </p:sp>
    </p:spTree>
    <p:extLst>
      <p:ext uri="{BB962C8B-B14F-4D97-AF65-F5344CB8AC3E}">
        <p14:creationId xmlns:p14="http://schemas.microsoft.com/office/powerpoint/2010/main" val="367650664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31D654-759B-9A87-1F1C-07FED230FBC1}"/>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D1B27ED2-E212-5434-DC6D-A5855A7A29CD}"/>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7A1E3DD6-909C-B538-ED8D-C0EC7BD25E48}"/>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5" name="灯片编号占位符 4">
            <a:extLst>
              <a:ext uri="{FF2B5EF4-FFF2-40B4-BE49-F238E27FC236}">
                <a16:creationId xmlns:a16="http://schemas.microsoft.com/office/drawing/2014/main" id="{9C943B11-B8B5-2419-BBB2-FD1915E704EE}"/>
              </a:ext>
            </a:extLst>
          </p:cNvPr>
          <p:cNvSpPr>
            <a:spLocks noGrp="1"/>
          </p:cNvSpPr>
          <p:nvPr>
            <p:ph type="sldNum" sz="quarter" idx="11"/>
          </p:nvPr>
        </p:nvSpPr>
        <p:spPr/>
        <p:txBody>
          <a:bodyPr/>
          <a:lstStyle>
            <a:lvl1pPr>
              <a:defRPr/>
            </a:lvl1pPr>
          </a:lstStyle>
          <a:p>
            <a:fld id="{EADFD29E-7D2B-3142-B772-DE78C399DBA5}" type="slidenum">
              <a:rPr lang="zh-CN" altLang="zh-CN"/>
              <a:pPr/>
              <a:t>‹#›</a:t>
            </a:fld>
            <a:endParaRPr lang="en-US" altLang="zh-CN"/>
          </a:p>
        </p:txBody>
      </p:sp>
    </p:spTree>
    <p:extLst>
      <p:ext uri="{BB962C8B-B14F-4D97-AF65-F5344CB8AC3E}">
        <p14:creationId xmlns:p14="http://schemas.microsoft.com/office/powerpoint/2010/main" val="1235385572"/>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B537FB-E14A-0949-36FC-23E1C08BCB5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79E38D4-BDAF-20A0-4377-EB8D8AD519B8}"/>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60A62B9-907E-2A6A-7170-291131D51F32}"/>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DB95B044-2CCD-7C34-AFE0-EA0664AD2985}"/>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6" name="灯片编号占位符 5">
            <a:extLst>
              <a:ext uri="{FF2B5EF4-FFF2-40B4-BE49-F238E27FC236}">
                <a16:creationId xmlns:a16="http://schemas.microsoft.com/office/drawing/2014/main" id="{373743AC-B0C6-4BC9-8A24-B4860D349BD8}"/>
              </a:ext>
            </a:extLst>
          </p:cNvPr>
          <p:cNvSpPr>
            <a:spLocks noGrp="1"/>
          </p:cNvSpPr>
          <p:nvPr>
            <p:ph type="sldNum" sz="quarter" idx="11"/>
          </p:nvPr>
        </p:nvSpPr>
        <p:spPr/>
        <p:txBody>
          <a:bodyPr/>
          <a:lstStyle>
            <a:lvl1pPr>
              <a:defRPr/>
            </a:lvl1pPr>
          </a:lstStyle>
          <a:p>
            <a:fld id="{0C6A780A-0547-204E-9192-A3F4E9799DB5}" type="slidenum">
              <a:rPr lang="zh-CN" altLang="zh-CN"/>
              <a:pPr/>
              <a:t>‹#›</a:t>
            </a:fld>
            <a:endParaRPr lang="en-US" altLang="zh-CN"/>
          </a:p>
        </p:txBody>
      </p:sp>
    </p:spTree>
    <p:extLst>
      <p:ext uri="{BB962C8B-B14F-4D97-AF65-F5344CB8AC3E}">
        <p14:creationId xmlns:p14="http://schemas.microsoft.com/office/powerpoint/2010/main" val="2114760287"/>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3F927D-F4AA-1E72-EC35-297C7568824E}"/>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9F7918D-A189-014C-F77D-95C839DE6E05}"/>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C65AE4A-6E2C-F2BA-8924-0A1E12E7387D}"/>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549748A9-BB39-B407-1D39-9C4720372978}"/>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C65ADF9-0504-F073-4906-F97098CA2819}"/>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C1ADD6E2-3DD6-A34E-7784-83AE6D95E280}"/>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8" name="灯片编号占位符 7">
            <a:extLst>
              <a:ext uri="{FF2B5EF4-FFF2-40B4-BE49-F238E27FC236}">
                <a16:creationId xmlns:a16="http://schemas.microsoft.com/office/drawing/2014/main" id="{E9D17F4C-066C-8A52-0D93-4E5CE5735FF8}"/>
              </a:ext>
            </a:extLst>
          </p:cNvPr>
          <p:cNvSpPr>
            <a:spLocks noGrp="1"/>
          </p:cNvSpPr>
          <p:nvPr>
            <p:ph type="sldNum" sz="quarter" idx="11"/>
          </p:nvPr>
        </p:nvSpPr>
        <p:spPr/>
        <p:txBody>
          <a:bodyPr/>
          <a:lstStyle>
            <a:lvl1pPr>
              <a:defRPr/>
            </a:lvl1pPr>
          </a:lstStyle>
          <a:p>
            <a:fld id="{91298798-A395-3245-907B-C6CC2A9E6D66}" type="slidenum">
              <a:rPr lang="zh-CN" altLang="zh-CN"/>
              <a:pPr/>
              <a:t>‹#›</a:t>
            </a:fld>
            <a:endParaRPr lang="en-US" altLang="zh-CN"/>
          </a:p>
        </p:txBody>
      </p:sp>
    </p:spTree>
    <p:extLst>
      <p:ext uri="{BB962C8B-B14F-4D97-AF65-F5344CB8AC3E}">
        <p14:creationId xmlns:p14="http://schemas.microsoft.com/office/powerpoint/2010/main" val="305589812"/>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2DD968-EBA9-80A5-1E89-579258BAF330}"/>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646323EE-162D-4F99-70DB-74CE33E90A0C}"/>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4" name="灯片编号占位符 3">
            <a:extLst>
              <a:ext uri="{FF2B5EF4-FFF2-40B4-BE49-F238E27FC236}">
                <a16:creationId xmlns:a16="http://schemas.microsoft.com/office/drawing/2014/main" id="{A2F88707-8A8D-235A-4670-E439CCE6B07B}"/>
              </a:ext>
            </a:extLst>
          </p:cNvPr>
          <p:cNvSpPr>
            <a:spLocks noGrp="1"/>
          </p:cNvSpPr>
          <p:nvPr>
            <p:ph type="sldNum" sz="quarter" idx="11"/>
          </p:nvPr>
        </p:nvSpPr>
        <p:spPr/>
        <p:txBody>
          <a:bodyPr/>
          <a:lstStyle>
            <a:lvl1pPr>
              <a:defRPr/>
            </a:lvl1pPr>
          </a:lstStyle>
          <a:p>
            <a:fld id="{5E06BA63-CDF4-A748-9244-36BF4EB5A578}" type="slidenum">
              <a:rPr lang="zh-CN" altLang="zh-CN"/>
              <a:pPr/>
              <a:t>‹#›</a:t>
            </a:fld>
            <a:endParaRPr lang="en-US" altLang="zh-CN"/>
          </a:p>
        </p:txBody>
      </p:sp>
    </p:spTree>
    <p:extLst>
      <p:ext uri="{BB962C8B-B14F-4D97-AF65-F5344CB8AC3E}">
        <p14:creationId xmlns:p14="http://schemas.microsoft.com/office/powerpoint/2010/main" val="1597445036"/>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6389E356-5E4B-648A-96DF-F32F811C59B8}"/>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3" name="灯片编号占位符 2">
            <a:extLst>
              <a:ext uri="{FF2B5EF4-FFF2-40B4-BE49-F238E27FC236}">
                <a16:creationId xmlns:a16="http://schemas.microsoft.com/office/drawing/2014/main" id="{58547BEA-F453-14DF-A7C6-4F6FF1630103}"/>
              </a:ext>
            </a:extLst>
          </p:cNvPr>
          <p:cNvSpPr>
            <a:spLocks noGrp="1"/>
          </p:cNvSpPr>
          <p:nvPr>
            <p:ph type="sldNum" sz="quarter" idx="11"/>
          </p:nvPr>
        </p:nvSpPr>
        <p:spPr/>
        <p:txBody>
          <a:bodyPr/>
          <a:lstStyle>
            <a:lvl1pPr>
              <a:defRPr/>
            </a:lvl1pPr>
          </a:lstStyle>
          <a:p>
            <a:fld id="{10BCB720-C51A-E240-913F-68A27FD87D60}" type="slidenum">
              <a:rPr lang="zh-CN" altLang="zh-CN"/>
              <a:pPr/>
              <a:t>‹#›</a:t>
            </a:fld>
            <a:endParaRPr lang="en-US" altLang="zh-CN"/>
          </a:p>
        </p:txBody>
      </p:sp>
    </p:spTree>
    <p:extLst>
      <p:ext uri="{BB962C8B-B14F-4D97-AF65-F5344CB8AC3E}">
        <p14:creationId xmlns:p14="http://schemas.microsoft.com/office/powerpoint/2010/main" val="2908574515"/>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841025-A295-F9BC-1225-13E1997AD7B8}"/>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4944E6DE-5629-F8F1-381B-20B358B64DD1}"/>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086B7FAB-1DE0-1EF5-BBB9-945C1F3BF004}"/>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CB1C3A1C-458F-6108-5FF2-8B3B931416A0}"/>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6" name="灯片编号占位符 5">
            <a:extLst>
              <a:ext uri="{FF2B5EF4-FFF2-40B4-BE49-F238E27FC236}">
                <a16:creationId xmlns:a16="http://schemas.microsoft.com/office/drawing/2014/main" id="{F8907A46-6115-6C82-2C27-A19DAFF6BC9C}"/>
              </a:ext>
            </a:extLst>
          </p:cNvPr>
          <p:cNvSpPr>
            <a:spLocks noGrp="1"/>
          </p:cNvSpPr>
          <p:nvPr>
            <p:ph type="sldNum" sz="quarter" idx="11"/>
          </p:nvPr>
        </p:nvSpPr>
        <p:spPr/>
        <p:txBody>
          <a:bodyPr/>
          <a:lstStyle>
            <a:lvl1pPr>
              <a:defRPr/>
            </a:lvl1pPr>
          </a:lstStyle>
          <a:p>
            <a:fld id="{5142667C-68EE-4642-A4F3-496A64FF833A}" type="slidenum">
              <a:rPr lang="zh-CN" altLang="zh-CN"/>
              <a:pPr/>
              <a:t>‹#›</a:t>
            </a:fld>
            <a:endParaRPr lang="en-US" altLang="zh-CN"/>
          </a:p>
        </p:txBody>
      </p:sp>
    </p:spTree>
    <p:extLst>
      <p:ext uri="{BB962C8B-B14F-4D97-AF65-F5344CB8AC3E}">
        <p14:creationId xmlns:p14="http://schemas.microsoft.com/office/powerpoint/2010/main" val="1290472501"/>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14BAE9-5EFD-1E81-1E44-83B35CDEFAA6}"/>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38EC81B0-0FC4-59A9-DF21-0D58AEA38EF2}"/>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6F019806-BC98-3F05-A4B8-B6FF6BEA3073}"/>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D2A0BDA8-6C02-9BC3-900D-F97F578C24BF}"/>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6" name="灯片编号占位符 5">
            <a:extLst>
              <a:ext uri="{FF2B5EF4-FFF2-40B4-BE49-F238E27FC236}">
                <a16:creationId xmlns:a16="http://schemas.microsoft.com/office/drawing/2014/main" id="{EFC80D30-BA6D-6894-C7B5-EAB97CEF27F6}"/>
              </a:ext>
            </a:extLst>
          </p:cNvPr>
          <p:cNvSpPr>
            <a:spLocks noGrp="1"/>
          </p:cNvSpPr>
          <p:nvPr>
            <p:ph type="sldNum" sz="quarter" idx="11"/>
          </p:nvPr>
        </p:nvSpPr>
        <p:spPr/>
        <p:txBody>
          <a:bodyPr/>
          <a:lstStyle>
            <a:lvl1pPr>
              <a:defRPr/>
            </a:lvl1pPr>
          </a:lstStyle>
          <a:p>
            <a:fld id="{2AFC7DB8-8F70-4249-BF47-064636DE409F}" type="slidenum">
              <a:rPr lang="zh-CN" altLang="zh-CN"/>
              <a:pPr/>
              <a:t>‹#›</a:t>
            </a:fld>
            <a:endParaRPr lang="en-US" altLang="zh-CN"/>
          </a:p>
        </p:txBody>
      </p:sp>
    </p:spTree>
    <p:extLst>
      <p:ext uri="{BB962C8B-B14F-4D97-AF65-F5344CB8AC3E}">
        <p14:creationId xmlns:p14="http://schemas.microsoft.com/office/powerpoint/2010/main" val="1551676129"/>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D070EA-5479-8C9D-2BC7-3EBB751F4B5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C602B8F-4993-250E-7AED-51D0E7DDCC96}"/>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990B6F2E-F7A0-8F8A-F8E0-7B027508FA98}"/>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5" name="灯片编号占位符 4">
            <a:extLst>
              <a:ext uri="{FF2B5EF4-FFF2-40B4-BE49-F238E27FC236}">
                <a16:creationId xmlns:a16="http://schemas.microsoft.com/office/drawing/2014/main" id="{AC0F67A8-3313-C1E5-92A0-2612E579B099}"/>
              </a:ext>
            </a:extLst>
          </p:cNvPr>
          <p:cNvSpPr>
            <a:spLocks noGrp="1"/>
          </p:cNvSpPr>
          <p:nvPr>
            <p:ph type="sldNum" sz="quarter" idx="11"/>
          </p:nvPr>
        </p:nvSpPr>
        <p:spPr/>
        <p:txBody>
          <a:bodyPr/>
          <a:lstStyle>
            <a:lvl1pPr>
              <a:defRPr/>
            </a:lvl1pPr>
          </a:lstStyle>
          <a:p>
            <a:fld id="{BB77E4A8-8AD9-0342-BA1C-342D06E0EBCE}" type="slidenum">
              <a:rPr lang="zh-CN" altLang="zh-CN"/>
              <a:pPr/>
              <a:t>‹#›</a:t>
            </a:fld>
            <a:endParaRPr lang="en-US" altLang="zh-CN"/>
          </a:p>
        </p:txBody>
      </p:sp>
    </p:spTree>
    <p:extLst>
      <p:ext uri="{BB962C8B-B14F-4D97-AF65-F5344CB8AC3E}">
        <p14:creationId xmlns:p14="http://schemas.microsoft.com/office/powerpoint/2010/main" val="3216191768"/>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0C1DC8E-9255-868F-13FC-FD34667A0A9D}"/>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D77E83C-9BFB-4551-8EE1-50C0450E10B3}"/>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E6A07A5B-F244-4EEC-E6E6-BAE3BC533733}"/>
              </a:ext>
            </a:extLst>
          </p:cNvPr>
          <p:cNvSpPr>
            <a:spLocks noGrp="1"/>
          </p:cNvSpPr>
          <p:nvPr>
            <p:ph type="ftr" sz="quarter" idx="10"/>
          </p:nvPr>
        </p:nvSpPr>
        <p:spPr/>
        <p:txBody>
          <a:bodyPr/>
          <a:lstStyle>
            <a:lvl1pPr>
              <a:defRPr/>
            </a:lvl1pPr>
          </a:lstStyle>
          <a:p>
            <a:r>
              <a:rPr lang="zh-CN" altLang="zh-CN"/>
              <a:t>消费者、生产者与市场效率</a:t>
            </a:r>
          </a:p>
        </p:txBody>
      </p:sp>
      <p:sp>
        <p:nvSpPr>
          <p:cNvPr id="5" name="灯片编号占位符 4">
            <a:extLst>
              <a:ext uri="{FF2B5EF4-FFF2-40B4-BE49-F238E27FC236}">
                <a16:creationId xmlns:a16="http://schemas.microsoft.com/office/drawing/2014/main" id="{A7A1DB9A-41ED-1FFA-FDAA-05284D3E179F}"/>
              </a:ext>
            </a:extLst>
          </p:cNvPr>
          <p:cNvSpPr>
            <a:spLocks noGrp="1"/>
          </p:cNvSpPr>
          <p:nvPr>
            <p:ph type="sldNum" sz="quarter" idx="11"/>
          </p:nvPr>
        </p:nvSpPr>
        <p:spPr/>
        <p:txBody>
          <a:bodyPr/>
          <a:lstStyle>
            <a:lvl1pPr>
              <a:defRPr/>
            </a:lvl1pPr>
          </a:lstStyle>
          <a:p>
            <a:fld id="{133DC0D6-50E5-4741-A0A7-D9800ECF4329}" type="slidenum">
              <a:rPr lang="zh-CN" altLang="zh-CN"/>
              <a:pPr/>
              <a:t>‹#›</a:t>
            </a:fld>
            <a:endParaRPr lang="en-US" altLang="zh-CN"/>
          </a:p>
        </p:txBody>
      </p:sp>
    </p:spTree>
    <p:extLst>
      <p:ext uri="{BB962C8B-B14F-4D97-AF65-F5344CB8AC3E}">
        <p14:creationId xmlns:p14="http://schemas.microsoft.com/office/powerpoint/2010/main" val="7305128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13" Type="http://schemas.openxmlformats.org/officeDocument/2006/relationships/theme" Target="../theme/theme7.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slideLayout" Target="../slideLayouts/slideLayout78.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6.xml"/><Relationship Id="rId3" Type="http://schemas.openxmlformats.org/officeDocument/2006/relationships/slideLayout" Target="../slideLayouts/slideLayout81.xml"/><Relationship Id="rId7" Type="http://schemas.openxmlformats.org/officeDocument/2006/relationships/slideLayout" Target="../slideLayouts/slideLayout85.xml"/><Relationship Id="rId12" Type="http://schemas.openxmlformats.org/officeDocument/2006/relationships/theme" Target="../theme/theme8.xml"/><Relationship Id="rId2" Type="http://schemas.openxmlformats.org/officeDocument/2006/relationships/slideLayout" Target="../slideLayouts/slideLayout80.xml"/><Relationship Id="rId1" Type="http://schemas.openxmlformats.org/officeDocument/2006/relationships/slideLayout" Target="../slideLayouts/slideLayout79.xml"/><Relationship Id="rId6" Type="http://schemas.openxmlformats.org/officeDocument/2006/relationships/slideLayout" Target="../slideLayouts/slideLayout84.xml"/><Relationship Id="rId11" Type="http://schemas.openxmlformats.org/officeDocument/2006/relationships/slideLayout" Target="../slideLayouts/slideLayout89.xml"/><Relationship Id="rId5" Type="http://schemas.openxmlformats.org/officeDocument/2006/relationships/slideLayout" Target="../slideLayouts/slideLayout83.xml"/><Relationship Id="rId10" Type="http://schemas.openxmlformats.org/officeDocument/2006/relationships/slideLayout" Target="../slideLayouts/slideLayout88.xml"/><Relationship Id="rId4" Type="http://schemas.openxmlformats.org/officeDocument/2006/relationships/slideLayout" Target="../slideLayouts/slideLayout82.xml"/><Relationship Id="rId9" Type="http://schemas.openxmlformats.org/officeDocument/2006/relationships/slideLayout" Target="../slideLayouts/slideLayout87.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7.xml"/><Relationship Id="rId3" Type="http://schemas.openxmlformats.org/officeDocument/2006/relationships/slideLayout" Target="../slideLayouts/slideLayout92.xml"/><Relationship Id="rId7" Type="http://schemas.openxmlformats.org/officeDocument/2006/relationships/slideLayout" Target="../slideLayouts/slideLayout96.xml"/><Relationship Id="rId12" Type="http://schemas.openxmlformats.org/officeDocument/2006/relationships/theme" Target="../theme/theme9.xml"/><Relationship Id="rId2" Type="http://schemas.openxmlformats.org/officeDocument/2006/relationships/slideLayout" Target="../slideLayouts/slideLayout91.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0" Type="http://schemas.openxmlformats.org/officeDocument/2006/relationships/slideLayout" Target="../slideLayouts/slideLayout99.xml"/><Relationship Id="rId4" Type="http://schemas.openxmlformats.org/officeDocument/2006/relationships/slideLayout" Target="../slideLayouts/slideLayout93.xml"/><Relationship Id="rId9" Type="http://schemas.openxmlformats.org/officeDocument/2006/relationships/slideLayout" Target="../slideLayouts/slideLayout9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0AB9185-A928-FF30-2C81-3D5D86318B48}"/>
              </a:ext>
            </a:extLst>
          </p:cNvPr>
          <p:cNvSpPr>
            <a:spLocks noGrp="1" noChangeArrowheads="1"/>
          </p:cNvSpPr>
          <p:nvPr>
            <p:ph type="title"/>
          </p:nvPr>
        </p:nvSpPr>
        <p:spPr bwMode="auto">
          <a:xfrm>
            <a:off x="172879" y="127376"/>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36833D83-7EF3-A484-BED8-4F01F83D16F3}"/>
              </a:ext>
            </a:extLst>
          </p:cNvPr>
          <p:cNvSpPr>
            <a:spLocks noGrp="1" noChangeArrowheads="1"/>
          </p:cNvSpPr>
          <p:nvPr>
            <p:ph type="body" idx="1"/>
          </p:nvPr>
        </p:nvSpPr>
        <p:spPr bwMode="auto">
          <a:xfrm>
            <a:off x="188086"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a:extLst>
              <a:ext uri="{FF2B5EF4-FFF2-40B4-BE49-F238E27FC236}">
                <a16:creationId xmlns:a16="http://schemas.microsoft.com/office/drawing/2014/main" id="{17959DA7-9AB0-50DC-878D-6E12E44718D0}"/>
              </a:ext>
            </a:extLst>
          </p:cNvPr>
          <p:cNvSpPr>
            <a:spLocks noGrp="1" noChangeArrowheads="1"/>
          </p:cNvSpPr>
          <p:nvPr>
            <p:ph type="ftr" sz="quarter" idx="3"/>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sz="900" i="1">
                <a:solidFill>
                  <a:srgbClr val="777777"/>
                </a:solidFill>
                <a:ea typeface="宋体" panose="02010600030101010101" pitchFamily="2" charset="-122"/>
              </a:defRPr>
            </a:lvl1pPr>
          </a:lstStyle>
          <a:p>
            <a:r>
              <a:rPr lang="zh-CN" altLang="zh-CN"/>
              <a:t>一国收入的衡量</a:t>
            </a:r>
          </a:p>
        </p:txBody>
      </p:sp>
      <p:sp>
        <p:nvSpPr>
          <p:cNvPr id="1029" name="Rectangle 5">
            <a:extLst>
              <a:ext uri="{FF2B5EF4-FFF2-40B4-BE49-F238E27FC236}">
                <a16:creationId xmlns:a16="http://schemas.microsoft.com/office/drawing/2014/main" id="{DEB50AA6-39F8-61BE-F746-A93974A559E4}"/>
              </a:ext>
            </a:extLst>
          </p:cNvPr>
          <p:cNvSpPr>
            <a:spLocks noGrp="1" noChangeArrowheads="1"/>
          </p:cNvSpPr>
          <p:nvPr>
            <p:ph type="sldNum" sz="quarter" idx="4"/>
          </p:nvPr>
        </p:nvSpPr>
        <p:spPr bwMode="auto">
          <a:xfrm>
            <a:off x="4185907"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57">
                <a:solidFill>
                  <a:srgbClr val="777777"/>
                </a:solidFill>
                <a:ea typeface="宋体" panose="02010600030101010101" pitchFamily="2" charset="-122"/>
              </a:defRPr>
            </a:lvl1pPr>
          </a:lstStyle>
          <a:p>
            <a:fld id="{F133D32A-41AB-3244-B29B-0A71F7EBCF2E}" type="slidenum">
              <a:rPr lang="zh-CN" altLang="zh-CN"/>
              <a:pPr/>
              <a:t>‹#›</a:t>
            </a:fld>
            <a:endParaRPr lang="en-US" altLang="zh-CN"/>
          </a:p>
        </p:txBody>
      </p:sp>
    </p:spTree>
    <p:extLst>
      <p:ext uri="{BB962C8B-B14F-4D97-AF65-F5344CB8AC3E}">
        <p14:creationId xmlns:p14="http://schemas.microsoft.com/office/powerpoint/2010/main" val="218870577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6" b="0" kern="1200">
          <a:solidFill>
            <a:srgbClr val="333399"/>
          </a:solidFill>
          <a:latin typeface="Microsoft YaHei" panose="020B0503020204020204" pitchFamily="34" charset="-122"/>
          <a:ea typeface="Microsoft YaHei" panose="020B0503020204020204" pitchFamily="34" charset="-122"/>
          <a:cs typeface="+mj-cs"/>
        </a:defRPr>
      </a:lvl1pPr>
      <a:lvl2pPr algn="ctr" rtl="0" fontAlgn="base">
        <a:spcBef>
          <a:spcPct val="0"/>
        </a:spcBef>
        <a:spcAft>
          <a:spcPct val="0"/>
        </a:spcAft>
        <a:defRPr sz="1916" b="1">
          <a:solidFill>
            <a:srgbClr val="333399"/>
          </a:solidFill>
          <a:latin typeface="Book Antiqua" panose="02040602050305030304" pitchFamily="18" charset="0"/>
        </a:defRPr>
      </a:lvl2pPr>
      <a:lvl3pPr algn="ctr" rtl="0" fontAlgn="base">
        <a:spcBef>
          <a:spcPct val="0"/>
        </a:spcBef>
        <a:spcAft>
          <a:spcPct val="0"/>
        </a:spcAft>
        <a:defRPr sz="1916" b="1">
          <a:solidFill>
            <a:srgbClr val="333399"/>
          </a:solidFill>
          <a:latin typeface="Book Antiqua" panose="02040602050305030304" pitchFamily="18" charset="0"/>
        </a:defRPr>
      </a:lvl3pPr>
      <a:lvl4pPr algn="ctr" rtl="0" fontAlgn="base">
        <a:spcBef>
          <a:spcPct val="0"/>
        </a:spcBef>
        <a:spcAft>
          <a:spcPct val="0"/>
        </a:spcAft>
        <a:defRPr sz="1916" b="1">
          <a:solidFill>
            <a:srgbClr val="333399"/>
          </a:solidFill>
          <a:latin typeface="Book Antiqua" panose="02040602050305030304" pitchFamily="18" charset="0"/>
        </a:defRPr>
      </a:lvl4pPr>
      <a:lvl5pPr algn="ctr" rtl="0" fontAlgn="base">
        <a:spcBef>
          <a:spcPct val="0"/>
        </a:spcBef>
        <a:spcAft>
          <a:spcPct val="0"/>
        </a:spcAft>
        <a:defRPr sz="1916" b="1">
          <a:solidFill>
            <a:srgbClr val="333399"/>
          </a:solidFill>
          <a:latin typeface="Book Antiqua" panose="02040602050305030304" pitchFamily="18" charset="0"/>
        </a:defRPr>
      </a:lvl5pPr>
      <a:lvl6pPr marL="230520" algn="ctr" rtl="0" fontAlgn="base">
        <a:spcBef>
          <a:spcPct val="0"/>
        </a:spcBef>
        <a:spcAft>
          <a:spcPct val="0"/>
        </a:spcAft>
        <a:defRPr sz="1916" b="1">
          <a:solidFill>
            <a:srgbClr val="333399"/>
          </a:solidFill>
          <a:latin typeface="Book Antiqua" panose="02040602050305030304" pitchFamily="18" charset="0"/>
        </a:defRPr>
      </a:lvl6pPr>
      <a:lvl7pPr marL="461040" algn="ctr" rtl="0" fontAlgn="base">
        <a:spcBef>
          <a:spcPct val="0"/>
        </a:spcBef>
        <a:spcAft>
          <a:spcPct val="0"/>
        </a:spcAft>
        <a:defRPr sz="1916" b="1">
          <a:solidFill>
            <a:srgbClr val="333399"/>
          </a:solidFill>
          <a:latin typeface="Book Antiqua" panose="02040602050305030304" pitchFamily="18" charset="0"/>
        </a:defRPr>
      </a:lvl7pPr>
      <a:lvl8pPr marL="691561" algn="ctr" rtl="0" fontAlgn="base">
        <a:spcBef>
          <a:spcPct val="0"/>
        </a:spcBef>
        <a:spcAft>
          <a:spcPct val="0"/>
        </a:spcAft>
        <a:defRPr sz="1916" b="1">
          <a:solidFill>
            <a:srgbClr val="333399"/>
          </a:solidFill>
          <a:latin typeface="Book Antiqua" panose="02040602050305030304" pitchFamily="18" charset="0"/>
        </a:defRPr>
      </a:lvl8pPr>
      <a:lvl9pPr marL="922081" algn="ctr" rtl="0" fontAlgn="base">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fontAlgn="base">
        <a:spcBef>
          <a:spcPct val="15000"/>
        </a:spcBef>
        <a:spcAft>
          <a:spcPct val="0"/>
        </a:spcAft>
        <a:buChar char="–"/>
        <a:defRPr sz="1008" kern="1200">
          <a:solidFill>
            <a:schemeClr val="tx1"/>
          </a:solidFill>
          <a:latin typeface="+mn-lt"/>
          <a:ea typeface="+mn-ea"/>
          <a:cs typeface="+mn-cs"/>
        </a:defRPr>
      </a:lvl4pPr>
      <a:lvl5pPr marL="1037341" indent="-115260" algn="l" rtl="0" fontAlgn="base">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2050" name="Text Box 14">
            <a:extLst>
              <a:ext uri="{FF2B5EF4-FFF2-40B4-BE49-F238E27FC236}">
                <a16:creationId xmlns:a16="http://schemas.microsoft.com/office/drawing/2014/main" id="{97ADDFA9-4FB1-4040-1A89-B55CFAB9DA35}"/>
              </a:ext>
            </a:extLst>
          </p:cNvPr>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zh-CN" sz="807"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1" name="TextBox 6">
            <a:extLst>
              <a:ext uri="{FF2B5EF4-FFF2-40B4-BE49-F238E27FC236}">
                <a16:creationId xmlns:a16="http://schemas.microsoft.com/office/drawing/2014/main" id="{2352C8A3-570D-2836-6893-215C342169F5}"/>
              </a:ext>
            </a:extLst>
          </p:cNvPr>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1109">
                <a:solidFill>
                  <a:srgbClr val="008080"/>
                </a:solidFill>
                <a:latin typeface="Tahoma" panose="020B0604030504040204" pitchFamily="34" charset="0"/>
                <a:ea typeface="宋体" panose="02010600030101010101" pitchFamily="2" charset="-122"/>
              </a:rPr>
              <a:t>C H A P T E R</a:t>
            </a:r>
          </a:p>
        </p:txBody>
      </p:sp>
      <p:sp>
        <p:nvSpPr>
          <p:cNvPr id="2052" name="Rectangle 2">
            <a:extLst>
              <a:ext uri="{FF2B5EF4-FFF2-40B4-BE49-F238E27FC236}">
                <a16:creationId xmlns:a16="http://schemas.microsoft.com/office/drawing/2014/main" id="{9690264A-A2AA-D1F2-E0AA-7B471C801FA6}"/>
              </a:ext>
            </a:extLst>
          </p:cNvPr>
          <p:cNvSpPr>
            <a:spLocks noGrp="1" noChangeArrowheads="1"/>
          </p:cNvSpPr>
          <p:nvPr>
            <p:ph type="title"/>
          </p:nvPr>
        </p:nvSpPr>
        <p:spPr bwMode="auto">
          <a:xfrm>
            <a:off x="172879" y="127376"/>
            <a:ext cx="4240332" cy="34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2053" name="Rectangle 3">
            <a:extLst>
              <a:ext uri="{FF2B5EF4-FFF2-40B4-BE49-F238E27FC236}">
                <a16:creationId xmlns:a16="http://schemas.microsoft.com/office/drawing/2014/main" id="{BBB52232-5B15-D93A-29E1-6D368A4002F6}"/>
              </a:ext>
            </a:extLst>
          </p:cNvPr>
          <p:cNvSpPr>
            <a:spLocks noGrp="1" noChangeArrowheads="1"/>
          </p:cNvSpPr>
          <p:nvPr>
            <p:ph type="body" idx="1"/>
          </p:nvPr>
        </p:nvSpPr>
        <p:spPr bwMode="auto">
          <a:xfrm>
            <a:off x="188086" y="508698"/>
            <a:ext cx="4191509" cy="2582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Tree>
    <p:extLst>
      <p:ext uri="{BB962C8B-B14F-4D97-AF65-F5344CB8AC3E}">
        <p14:creationId xmlns:p14="http://schemas.microsoft.com/office/powerpoint/2010/main" val="2419886205"/>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053">
                                            <p:txEl>
                                              <p:pRg st="0" end="0"/>
                                            </p:txEl>
                                          </p:spTgt>
                                        </p:tgtEl>
                                        <p:attrNameLst>
                                          <p:attrName>style.visibility</p:attrName>
                                        </p:attrNameLst>
                                      </p:cBhvr>
                                      <p:to>
                                        <p:strVal val="visible"/>
                                      </p:to>
                                    </p:set>
                                    <p:animEffect transition="in" filter="wipe(left)">
                                      <p:cBhvr>
                                        <p:cTn id="7" dur="500"/>
                                        <p:tgtEl>
                                          <p:spTgt spid="205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053">
                                            <p:txEl>
                                              <p:pRg st="1" end="1"/>
                                            </p:txEl>
                                          </p:spTgt>
                                        </p:tgtEl>
                                        <p:attrNameLst>
                                          <p:attrName>style.visibility</p:attrName>
                                        </p:attrNameLst>
                                      </p:cBhvr>
                                      <p:to>
                                        <p:strVal val="visible"/>
                                      </p:to>
                                    </p:set>
                                    <p:animEffect transition="in" filter="wipe(left)">
                                      <p:cBhvr>
                                        <p:cTn id="12" dur="500"/>
                                        <p:tgtEl>
                                          <p:spTgt spid="205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053">
                                            <p:txEl>
                                              <p:pRg st="2" end="2"/>
                                            </p:txEl>
                                          </p:spTgt>
                                        </p:tgtEl>
                                        <p:attrNameLst>
                                          <p:attrName>style.visibility</p:attrName>
                                        </p:attrNameLst>
                                      </p:cBhvr>
                                      <p:to>
                                        <p:strVal val="visible"/>
                                      </p:to>
                                    </p:set>
                                    <p:animEffect transition="in" filter="wipe(left)">
                                      <p:cBhvr>
                                        <p:cTn id="17" dur="500"/>
                                        <p:tgtEl>
                                          <p:spTgt spid="205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053">
                                            <p:txEl>
                                              <p:pRg st="3" end="3"/>
                                            </p:txEl>
                                          </p:spTgt>
                                        </p:tgtEl>
                                        <p:attrNameLst>
                                          <p:attrName>style.visibility</p:attrName>
                                        </p:attrNameLst>
                                      </p:cBhvr>
                                      <p:to>
                                        <p:strVal val="visible"/>
                                      </p:to>
                                    </p:set>
                                    <p:animEffect transition="in" filter="wipe(left)">
                                      <p:cBhvr>
                                        <p:cTn id="22" dur="500"/>
                                        <p:tgtEl>
                                          <p:spTgt spid="2053">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2053">
                                            <p:txEl>
                                              <p:pRg st="4" end="4"/>
                                            </p:txEl>
                                          </p:spTgt>
                                        </p:tgtEl>
                                        <p:attrNameLst>
                                          <p:attrName>style.visibility</p:attrName>
                                        </p:attrNameLst>
                                      </p:cBhvr>
                                      <p:to>
                                        <p:strVal val="visible"/>
                                      </p:to>
                                    </p:set>
                                    <p:animEffect transition="in" filter="wipe(left)">
                                      <p:cBhvr>
                                        <p:cTn id="25" dur="500"/>
                                        <p:tgtEl>
                                          <p:spTgt spid="205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3" grpId="0" build="p" bldLvl="4" animBg="1" autoUpdateAnimBg="0"/>
    </p:bldLst>
  </p:timing>
  <p:txStyles>
    <p:titleStyle>
      <a:lvl1pPr algn="ctr" rtl="0" eaLnBrk="0" fontAlgn="base" hangingPunct="0">
        <a:spcBef>
          <a:spcPct val="0"/>
        </a:spcBef>
        <a:spcAft>
          <a:spcPct val="0"/>
        </a:spcAft>
        <a:defRPr sz="1916" b="1" kern="1200">
          <a:solidFill>
            <a:srgbClr val="333399"/>
          </a:solidFill>
          <a:latin typeface="+mj-lt"/>
          <a:ea typeface="+mj-ea"/>
          <a:cs typeface="+mj-cs"/>
        </a:defRPr>
      </a:lvl1pPr>
      <a:lvl2pPr algn="ctr" rtl="0" eaLnBrk="0" fontAlgn="base" hangingPunct="0">
        <a:spcBef>
          <a:spcPct val="0"/>
        </a:spcBef>
        <a:spcAft>
          <a:spcPct val="0"/>
        </a:spcAft>
        <a:defRPr sz="1916" b="1">
          <a:solidFill>
            <a:srgbClr val="333399"/>
          </a:solidFill>
          <a:latin typeface="Book Antiqua" panose="02040602050305030304" pitchFamily="18" charset="0"/>
        </a:defRPr>
      </a:lvl2pPr>
      <a:lvl3pPr algn="ctr" rtl="0" eaLnBrk="0" fontAlgn="base" hangingPunct="0">
        <a:spcBef>
          <a:spcPct val="0"/>
        </a:spcBef>
        <a:spcAft>
          <a:spcPct val="0"/>
        </a:spcAft>
        <a:defRPr sz="1916" b="1">
          <a:solidFill>
            <a:srgbClr val="333399"/>
          </a:solidFill>
          <a:latin typeface="Book Antiqua" panose="02040602050305030304" pitchFamily="18" charset="0"/>
        </a:defRPr>
      </a:lvl3pPr>
      <a:lvl4pPr algn="ctr" rtl="0" eaLnBrk="0" fontAlgn="base" hangingPunct="0">
        <a:spcBef>
          <a:spcPct val="0"/>
        </a:spcBef>
        <a:spcAft>
          <a:spcPct val="0"/>
        </a:spcAft>
        <a:defRPr sz="1916" b="1">
          <a:solidFill>
            <a:srgbClr val="333399"/>
          </a:solidFill>
          <a:latin typeface="Book Antiqua" panose="02040602050305030304" pitchFamily="18" charset="0"/>
        </a:defRPr>
      </a:lvl4pPr>
      <a:lvl5pPr algn="ctr" rtl="0" eaLnBrk="0" fontAlgn="base" hangingPunct="0">
        <a:spcBef>
          <a:spcPct val="0"/>
        </a:spcBef>
        <a:spcAft>
          <a:spcPct val="0"/>
        </a:spcAft>
        <a:defRPr sz="1916" b="1">
          <a:solidFill>
            <a:srgbClr val="333399"/>
          </a:solidFill>
          <a:latin typeface="Book Antiqua" panose="02040602050305030304" pitchFamily="18" charset="0"/>
        </a:defRPr>
      </a:lvl5pPr>
      <a:lvl6pPr marL="230520" algn="ctr" rtl="0" eaLnBrk="0" fontAlgn="base" hangingPunct="0">
        <a:spcBef>
          <a:spcPct val="0"/>
        </a:spcBef>
        <a:spcAft>
          <a:spcPct val="0"/>
        </a:spcAft>
        <a:defRPr sz="1916" b="1">
          <a:solidFill>
            <a:srgbClr val="333399"/>
          </a:solidFill>
          <a:latin typeface="Book Antiqua" panose="02040602050305030304" pitchFamily="18" charset="0"/>
        </a:defRPr>
      </a:lvl6pPr>
      <a:lvl7pPr marL="461040" algn="ctr" rtl="0" eaLnBrk="0" fontAlgn="base" hangingPunct="0">
        <a:spcBef>
          <a:spcPct val="0"/>
        </a:spcBef>
        <a:spcAft>
          <a:spcPct val="0"/>
        </a:spcAft>
        <a:defRPr sz="1916" b="1">
          <a:solidFill>
            <a:srgbClr val="333399"/>
          </a:solidFill>
          <a:latin typeface="Book Antiqua" panose="02040602050305030304" pitchFamily="18" charset="0"/>
        </a:defRPr>
      </a:lvl7pPr>
      <a:lvl8pPr marL="691561" algn="ctr" rtl="0" eaLnBrk="0" fontAlgn="base" hangingPunct="0">
        <a:spcBef>
          <a:spcPct val="0"/>
        </a:spcBef>
        <a:spcAft>
          <a:spcPct val="0"/>
        </a:spcAft>
        <a:defRPr sz="1916" b="1">
          <a:solidFill>
            <a:srgbClr val="333399"/>
          </a:solidFill>
          <a:latin typeface="Book Antiqua" panose="02040602050305030304" pitchFamily="18" charset="0"/>
        </a:defRPr>
      </a:lvl8pPr>
      <a:lvl9pPr marL="922081" algn="ctr" rtl="0" eaLnBrk="0" fontAlgn="base" hangingPunct="0">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316B7D8-77CD-8C49-78C1-2F609C50D049}"/>
              </a:ext>
            </a:extLst>
          </p:cNvPr>
          <p:cNvSpPr>
            <a:spLocks noGrp="1" noChangeArrowheads="1"/>
          </p:cNvSpPr>
          <p:nvPr>
            <p:ph type="title"/>
          </p:nvPr>
        </p:nvSpPr>
        <p:spPr bwMode="auto">
          <a:xfrm>
            <a:off x="172879" y="127376"/>
            <a:ext cx="4240332" cy="34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C2A03781-C384-2C28-9929-995631B198EE}"/>
              </a:ext>
            </a:extLst>
          </p:cNvPr>
          <p:cNvSpPr>
            <a:spLocks noGrp="1" noChangeArrowheads="1"/>
          </p:cNvSpPr>
          <p:nvPr>
            <p:ph type="body" idx="1"/>
          </p:nvPr>
        </p:nvSpPr>
        <p:spPr bwMode="auto">
          <a:xfrm>
            <a:off x="188086" y="508698"/>
            <a:ext cx="4191509" cy="2582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5">
            <a:extLst>
              <a:ext uri="{FF2B5EF4-FFF2-40B4-BE49-F238E27FC236}">
                <a16:creationId xmlns:a16="http://schemas.microsoft.com/office/drawing/2014/main" id="{AFD0D887-92EB-A616-E943-EBACA5D0FDFB}"/>
              </a:ext>
            </a:extLst>
          </p:cNvPr>
          <p:cNvSpPr>
            <a:spLocks noGrp="1" noChangeArrowheads="1"/>
          </p:cNvSpPr>
          <p:nvPr>
            <p:ph type="ftr" sz="quarter" idx="3"/>
          </p:nvPr>
        </p:nvSpPr>
        <p:spPr bwMode="auto">
          <a:xfrm>
            <a:off x="144066" y="3226028"/>
            <a:ext cx="3698485" cy="185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i="1">
                <a:solidFill>
                  <a:srgbClr val="777777"/>
                </a:solidFill>
                <a:ea typeface="宋体" panose="02010600030101010101" pitchFamily="2" charset="-122"/>
              </a:defRPr>
            </a:lvl1pPr>
          </a:lstStyle>
          <a:p>
            <a:r>
              <a:rPr lang="zh-CN" altLang="zh-CN"/>
              <a:t>生活费用的衡量</a:t>
            </a:r>
          </a:p>
        </p:txBody>
      </p:sp>
      <p:sp>
        <p:nvSpPr>
          <p:cNvPr id="1029" name="Rectangle 6">
            <a:extLst>
              <a:ext uri="{FF2B5EF4-FFF2-40B4-BE49-F238E27FC236}">
                <a16:creationId xmlns:a16="http://schemas.microsoft.com/office/drawing/2014/main" id="{7FB91B5B-167F-00F6-8C2F-A84B46F3621E}"/>
              </a:ext>
            </a:extLst>
          </p:cNvPr>
          <p:cNvSpPr>
            <a:spLocks noGrp="1" noChangeArrowheads="1"/>
          </p:cNvSpPr>
          <p:nvPr>
            <p:ph type="sldNum" sz="quarter" idx="4"/>
          </p:nvPr>
        </p:nvSpPr>
        <p:spPr bwMode="auto">
          <a:xfrm>
            <a:off x="4185907" y="3217216"/>
            <a:ext cx="344957" cy="185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857">
                <a:solidFill>
                  <a:srgbClr val="777777"/>
                </a:solidFill>
                <a:ea typeface="宋体" panose="02010600030101010101" pitchFamily="2" charset="-122"/>
              </a:defRPr>
            </a:lvl1pPr>
          </a:lstStyle>
          <a:p>
            <a:fld id="{67E89DB2-10D5-B24A-866F-85E347D83F90}" type="slidenum">
              <a:rPr lang="zh-CN" altLang="zh-CN"/>
              <a:pPr/>
              <a:t>‹#›</a:t>
            </a:fld>
            <a:endParaRPr lang="en-US" altLang="zh-CN"/>
          </a:p>
        </p:txBody>
      </p:sp>
    </p:spTree>
    <p:extLst>
      <p:ext uri="{BB962C8B-B14F-4D97-AF65-F5344CB8AC3E}">
        <p14:creationId xmlns:p14="http://schemas.microsoft.com/office/powerpoint/2010/main" val="2380731690"/>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txStyles>
    <p:titleStyle>
      <a:lvl1pPr algn="ctr" rtl="0" eaLnBrk="0" fontAlgn="base" hangingPunct="0">
        <a:spcBef>
          <a:spcPct val="0"/>
        </a:spcBef>
        <a:spcAft>
          <a:spcPct val="0"/>
        </a:spcAft>
        <a:defRPr sz="1916" b="1" kern="1200">
          <a:solidFill>
            <a:srgbClr val="333399"/>
          </a:solidFill>
          <a:latin typeface="+mj-lt"/>
          <a:ea typeface="+mj-ea"/>
          <a:cs typeface="+mj-cs"/>
        </a:defRPr>
      </a:lvl1pPr>
      <a:lvl2pPr algn="ctr" rtl="0" eaLnBrk="0" fontAlgn="base" hangingPunct="0">
        <a:spcBef>
          <a:spcPct val="0"/>
        </a:spcBef>
        <a:spcAft>
          <a:spcPct val="0"/>
        </a:spcAft>
        <a:defRPr sz="1916" b="1">
          <a:solidFill>
            <a:srgbClr val="333399"/>
          </a:solidFill>
          <a:latin typeface="Book Antiqua" panose="02040602050305030304" pitchFamily="18" charset="0"/>
        </a:defRPr>
      </a:lvl2pPr>
      <a:lvl3pPr algn="ctr" rtl="0" eaLnBrk="0" fontAlgn="base" hangingPunct="0">
        <a:spcBef>
          <a:spcPct val="0"/>
        </a:spcBef>
        <a:spcAft>
          <a:spcPct val="0"/>
        </a:spcAft>
        <a:defRPr sz="1916" b="1">
          <a:solidFill>
            <a:srgbClr val="333399"/>
          </a:solidFill>
          <a:latin typeface="Book Antiqua" panose="02040602050305030304" pitchFamily="18" charset="0"/>
        </a:defRPr>
      </a:lvl3pPr>
      <a:lvl4pPr algn="ctr" rtl="0" eaLnBrk="0" fontAlgn="base" hangingPunct="0">
        <a:spcBef>
          <a:spcPct val="0"/>
        </a:spcBef>
        <a:spcAft>
          <a:spcPct val="0"/>
        </a:spcAft>
        <a:defRPr sz="1916" b="1">
          <a:solidFill>
            <a:srgbClr val="333399"/>
          </a:solidFill>
          <a:latin typeface="Book Antiqua" panose="02040602050305030304" pitchFamily="18" charset="0"/>
        </a:defRPr>
      </a:lvl4pPr>
      <a:lvl5pPr algn="ctr" rtl="0" eaLnBrk="0" fontAlgn="base" hangingPunct="0">
        <a:spcBef>
          <a:spcPct val="0"/>
        </a:spcBef>
        <a:spcAft>
          <a:spcPct val="0"/>
        </a:spcAft>
        <a:defRPr sz="1916" b="1">
          <a:solidFill>
            <a:srgbClr val="333399"/>
          </a:solidFill>
          <a:latin typeface="Book Antiqua" panose="02040602050305030304" pitchFamily="18" charset="0"/>
        </a:defRPr>
      </a:lvl5pPr>
      <a:lvl6pPr marL="230520" algn="ctr" rtl="0" eaLnBrk="0" fontAlgn="base" hangingPunct="0">
        <a:spcBef>
          <a:spcPct val="0"/>
        </a:spcBef>
        <a:spcAft>
          <a:spcPct val="0"/>
        </a:spcAft>
        <a:defRPr sz="1916" b="1">
          <a:solidFill>
            <a:srgbClr val="333399"/>
          </a:solidFill>
          <a:latin typeface="Book Antiqua" panose="02040602050305030304" pitchFamily="18" charset="0"/>
        </a:defRPr>
      </a:lvl6pPr>
      <a:lvl7pPr marL="461040" algn="ctr" rtl="0" eaLnBrk="0" fontAlgn="base" hangingPunct="0">
        <a:spcBef>
          <a:spcPct val="0"/>
        </a:spcBef>
        <a:spcAft>
          <a:spcPct val="0"/>
        </a:spcAft>
        <a:defRPr sz="1916" b="1">
          <a:solidFill>
            <a:srgbClr val="333399"/>
          </a:solidFill>
          <a:latin typeface="Book Antiqua" panose="02040602050305030304" pitchFamily="18" charset="0"/>
        </a:defRPr>
      </a:lvl7pPr>
      <a:lvl8pPr marL="691561" algn="ctr" rtl="0" eaLnBrk="0" fontAlgn="base" hangingPunct="0">
        <a:spcBef>
          <a:spcPct val="0"/>
        </a:spcBef>
        <a:spcAft>
          <a:spcPct val="0"/>
        </a:spcAft>
        <a:defRPr sz="1916" b="1">
          <a:solidFill>
            <a:srgbClr val="333399"/>
          </a:solidFill>
          <a:latin typeface="Book Antiqua" panose="02040602050305030304" pitchFamily="18" charset="0"/>
        </a:defRPr>
      </a:lvl8pPr>
      <a:lvl9pPr marL="922081" algn="ctr" rtl="0" eaLnBrk="0" fontAlgn="base" hangingPunct="0">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E6ECA6EC-9612-6EBD-6329-BCE42505C11B}"/>
              </a:ext>
            </a:extLst>
          </p:cNvPr>
          <p:cNvSpPr>
            <a:spLocks noGrp="1" noChangeArrowheads="1"/>
          </p:cNvSpPr>
          <p:nvPr>
            <p:ph type="title"/>
          </p:nvPr>
        </p:nvSpPr>
        <p:spPr bwMode="auto">
          <a:xfrm>
            <a:off x="172879" y="127376"/>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39C65F63-6D34-3235-A7CB-E2D139D9C20B}"/>
              </a:ext>
            </a:extLst>
          </p:cNvPr>
          <p:cNvSpPr>
            <a:spLocks noGrp="1" noChangeArrowheads="1"/>
          </p:cNvSpPr>
          <p:nvPr>
            <p:ph type="body" idx="1"/>
          </p:nvPr>
        </p:nvSpPr>
        <p:spPr bwMode="auto">
          <a:xfrm>
            <a:off x="188086"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a:extLst>
              <a:ext uri="{FF2B5EF4-FFF2-40B4-BE49-F238E27FC236}">
                <a16:creationId xmlns:a16="http://schemas.microsoft.com/office/drawing/2014/main" id="{DC7EFCC5-1D88-2D2D-3ACB-537A6BFA7FE9}"/>
              </a:ext>
            </a:extLst>
          </p:cNvPr>
          <p:cNvSpPr>
            <a:spLocks noGrp="1" noChangeArrowheads="1"/>
          </p:cNvSpPr>
          <p:nvPr>
            <p:ph type="ftr" sz="quarter" idx="3"/>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i="1">
                <a:solidFill>
                  <a:srgbClr val="777777"/>
                </a:solidFill>
                <a:ea typeface="宋体" panose="02010600030101010101" pitchFamily="2" charset="-122"/>
              </a:defRPr>
            </a:lvl1pPr>
          </a:lstStyle>
          <a:p>
            <a:r>
              <a:rPr lang="zh-CN" altLang="zh-CN"/>
              <a:t>失业</a:t>
            </a:r>
          </a:p>
        </p:txBody>
      </p:sp>
      <p:sp>
        <p:nvSpPr>
          <p:cNvPr id="1029" name="Rectangle 5">
            <a:extLst>
              <a:ext uri="{FF2B5EF4-FFF2-40B4-BE49-F238E27FC236}">
                <a16:creationId xmlns:a16="http://schemas.microsoft.com/office/drawing/2014/main" id="{1271616B-276C-3CA9-6F3F-B7B1EBEE6F7A}"/>
              </a:ext>
            </a:extLst>
          </p:cNvPr>
          <p:cNvSpPr>
            <a:spLocks noGrp="1" noChangeArrowheads="1"/>
          </p:cNvSpPr>
          <p:nvPr>
            <p:ph type="sldNum" sz="quarter" idx="4"/>
          </p:nvPr>
        </p:nvSpPr>
        <p:spPr bwMode="auto">
          <a:xfrm>
            <a:off x="4185907"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57">
                <a:solidFill>
                  <a:srgbClr val="777777"/>
                </a:solidFill>
                <a:ea typeface="宋体" panose="02010600030101010101" pitchFamily="2" charset="-122"/>
              </a:defRPr>
            </a:lvl1pPr>
          </a:lstStyle>
          <a:p>
            <a:fld id="{738C1631-73B5-174D-A282-E86D4BC290D0}" type="slidenum">
              <a:rPr lang="zh-CN" altLang="zh-CN"/>
              <a:pPr/>
              <a:t>‹#›</a:t>
            </a:fld>
            <a:endParaRPr lang="en-US" altLang="zh-CN"/>
          </a:p>
        </p:txBody>
      </p:sp>
    </p:spTree>
    <p:extLst>
      <p:ext uri="{BB962C8B-B14F-4D97-AF65-F5344CB8AC3E}">
        <p14:creationId xmlns:p14="http://schemas.microsoft.com/office/powerpoint/2010/main" val="2858994519"/>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6" b="1" kern="1200">
          <a:solidFill>
            <a:srgbClr val="333399"/>
          </a:solidFill>
          <a:latin typeface="+mj-lt"/>
          <a:ea typeface="+mj-ea"/>
          <a:cs typeface="+mj-cs"/>
        </a:defRPr>
      </a:lvl1pPr>
      <a:lvl2pPr algn="ctr" rtl="0" fontAlgn="base">
        <a:spcBef>
          <a:spcPct val="0"/>
        </a:spcBef>
        <a:spcAft>
          <a:spcPct val="0"/>
        </a:spcAft>
        <a:defRPr sz="1916" b="1">
          <a:solidFill>
            <a:srgbClr val="333399"/>
          </a:solidFill>
          <a:latin typeface="Book Antiqua" panose="02040602050305030304" pitchFamily="18" charset="0"/>
        </a:defRPr>
      </a:lvl2pPr>
      <a:lvl3pPr algn="ctr" rtl="0" fontAlgn="base">
        <a:spcBef>
          <a:spcPct val="0"/>
        </a:spcBef>
        <a:spcAft>
          <a:spcPct val="0"/>
        </a:spcAft>
        <a:defRPr sz="1916" b="1">
          <a:solidFill>
            <a:srgbClr val="333399"/>
          </a:solidFill>
          <a:latin typeface="Book Antiqua" panose="02040602050305030304" pitchFamily="18" charset="0"/>
        </a:defRPr>
      </a:lvl3pPr>
      <a:lvl4pPr algn="ctr" rtl="0" fontAlgn="base">
        <a:spcBef>
          <a:spcPct val="0"/>
        </a:spcBef>
        <a:spcAft>
          <a:spcPct val="0"/>
        </a:spcAft>
        <a:defRPr sz="1916" b="1">
          <a:solidFill>
            <a:srgbClr val="333399"/>
          </a:solidFill>
          <a:latin typeface="Book Antiqua" panose="02040602050305030304" pitchFamily="18" charset="0"/>
        </a:defRPr>
      </a:lvl4pPr>
      <a:lvl5pPr algn="ctr" rtl="0" fontAlgn="base">
        <a:spcBef>
          <a:spcPct val="0"/>
        </a:spcBef>
        <a:spcAft>
          <a:spcPct val="0"/>
        </a:spcAft>
        <a:defRPr sz="1916" b="1">
          <a:solidFill>
            <a:srgbClr val="333399"/>
          </a:solidFill>
          <a:latin typeface="Book Antiqua" panose="02040602050305030304" pitchFamily="18" charset="0"/>
        </a:defRPr>
      </a:lvl5pPr>
      <a:lvl6pPr marL="230520" algn="ctr" rtl="0" fontAlgn="base">
        <a:spcBef>
          <a:spcPct val="0"/>
        </a:spcBef>
        <a:spcAft>
          <a:spcPct val="0"/>
        </a:spcAft>
        <a:defRPr sz="1916" b="1">
          <a:solidFill>
            <a:srgbClr val="333399"/>
          </a:solidFill>
          <a:latin typeface="Book Antiqua" panose="02040602050305030304" pitchFamily="18" charset="0"/>
        </a:defRPr>
      </a:lvl6pPr>
      <a:lvl7pPr marL="461040" algn="ctr" rtl="0" fontAlgn="base">
        <a:spcBef>
          <a:spcPct val="0"/>
        </a:spcBef>
        <a:spcAft>
          <a:spcPct val="0"/>
        </a:spcAft>
        <a:defRPr sz="1916" b="1">
          <a:solidFill>
            <a:srgbClr val="333399"/>
          </a:solidFill>
          <a:latin typeface="Book Antiqua" panose="02040602050305030304" pitchFamily="18" charset="0"/>
        </a:defRPr>
      </a:lvl7pPr>
      <a:lvl8pPr marL="691561" algn="ctr" rtl="0" fontAlgn="base">
        <a:spcBef>
          <a:spcPct val="0"/>
        </a:spcBef>
        <a:spcAft>
          <a:spcPct val="0"/>
        </a:spcAft>
        <a:defRPr sz="1916" b="1">
          <a:solidFill>
            <a:srgbClr val="333399"/>
          </a:solidFill>
          <a:latin typeface="Book Antiqua" panose="02040602050305030304" pitchFamily="18" charset="0"/>
        </a:defRPr>
      </a:lvl8pPr>
      <a:lvl9pPr marL="922081" algn="ctr" rtl="0" fontAlgn="base">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fontAlgn="base">
        <a:spcBef>
          <a:spcPct val="15000"/>
        </a:spcBef>
        <a:spcAft>
          <a:spcPct val="0"/>
        </a:spcAft>
        <a:buChar char="–"/>
        <a:defRPr sz="1008" kern="1200">
          <a:solidFill>
            <a:schemeClr val="tx1"/>
          </a:solidFill>
          <a:latin typeface="+mn-lt"/>
          <a:ea typeface="+mn-ea"/>
          <a:cs typeface="+mn-cs"/>
        </a:defRPr>
      </a:lvl4pPr>
      <a:lvl5pPr marL="1037341" indent="-115260" algn="l" rtl="0" fontAlgn="base">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316945" y="184253"/>
            <a:ext cx="3976211" cy="668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Text Placeholder 2"/>
          <p:cNvSpPr>
            <a:spLocks noGrp="1"/>
          </p:cNvSpPr>
          <p:nvPr>
            <p:ph type="body" idx="1"/>
          </p:nvPr>
        </p:nvSpPr>
        <p:spPr bwMode="auto">
          <a:xfrm>
            <a:off x="316945" y="921265"/>
            <a:ext cx="3976211" cy="2195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Date Placeholder 3"/>
          <p:cNvSpPr>
            <a:spLocks noGrp="1"/>
          </p:cNvSpPr>
          <p:nvPr>
            <p:ph type="dt" sz="half" idx="2"/>
          </p:nvPr>
        </p:nvSpPr>
        <p:spPr>
          <a:xfrm>
            <a:off x="316944" y="3207603"/>
            <a:ext cx="1037273" cy="184253"/>
          </a:xfrm>
          <a:prstGeom prst="rect">
            <a:avLst/>
          </a:prstGeom>
        </p:spPr>
        <p:txBody>
          <a:bodyPr vert="horz" lIns="91440" tIns="45720" rIns="91440" bIns="45720" rtlCol="0" anchor="ctr"/>
          <a:lstStyle>
            <a:lvl1pPr algn="l" eaLnBrk="1" fontAlgn="auto" hangingPunct="1">
              <a:spcBef>
                <a:spcPts val="0"/>
              </a:spcBef>
              <a:spcAft>
                <a:spcPts val="0"/>
              </a:spcAft>
              <a:defRPr sz="605">
                <a:solidFill>
                  <a:schemeClr val="tx1">
                    <a:tint val="75000"/>
                  </a:schemeClr>
                </a:solidFill>
                <a:latin typeface="+mn-lt"/>
              </a:defRPr>
            </a:lvl1pPr>
          </a:lstStyle>
          <a:p>
            <a:pPr>
              <a:defRPr/>
            </a:pPr>
            <a:fld id="{5DDF8B5E-781A-40CC-9EC9-5F86CF8F000F}" type="datetime1">
              <a:rPr lang="zh-CN" altLang="en-US" smtClean="0"/>
              <a:t>2023/3/13</a:t>
            </a:fld>
            <a:endParaRPr lang="zh-CN" altLang="en-US"/>
          </a:p>
        </p:txBody>
      </p:sp>
      <p:sp>
        <p:nvSpPr>
          <p:cNvPr id="5" name="Footer Placeholder 4"/>
          <p:cNvSpPr>
            <a:spLocks noGrp="1"/>
          </p:cNvSpPr>
          <p:nvPr>
            <p:ph type="ftr" sz="quarter" idx="3"/>
          </p:nvPr>
        </p:nvSpPr>
        <p:spPr>
          <a:xfrm>
            <a:off x="1527096" y="3207603"/>
            <a:ext cx="1555909" cy="184253"/>
          </a:xfrm>
          <a:prstGeom prst="rect">
            <a:avLst/>
          </a:prstGeom>
        </p:spPr>
        <p:txBody>
          <a:bodyPr vert="horz" lIns="91440" tIns="45720" rIns="91440" bIns="45720" rtlCol="0" anchor="ctr"/>
          <a:lstStyle>
            <a:lvl1pPr algn="ctr" eaLnBrk="1" fontAlgn="auto" hangingPunct="1">
              <a:spcBef>
                <a:spcPts val="0"/>
              </a:spcBef>
              <a:spcAft>
                <a:spcPts val="0"/>
              </a:spcAft>
              <a:defRPr sz="605">
                <a:solidFill>
                  <a:schemeClr val="tx1">
                    <a:tint val="75000"/>
                  </a:schemeClr>
                </a:solidFill>
                <a:latin typeface="+mn-lt"/>
              </a:defRPr>
            </a:lvl1pPr>
          </a:lstStyle>
          <a:p>
            <a:pPr>
              <a:defRPr/>
            </a:pPr>
            <a:r>
              <a:rPr lang="zh-CN" altLang="en-US"/>
              <a:t>宏观经济学</a:t>
            </a:r>
            <a:r>
              <a:rPr lang="en-US" altLang="zh-CN"/>
              <a:t>/Yang Zhiqing</a:t>
            </a:r>
            <a:endParaRPr lang="zh-CN" altLang="en-US"/>
          </a:p>
        </p:txBody>
      </p:sp>
      <p:sp>
        <p:nvSpPr>
          <p:cNvPr id="6" name="Slide Number Placeholder 5"/>
          <p:cNvSpPr>
            <a:spLocks noGrp="1"/>
          </p:cNvSpPr>
          <p:nvPr>
            <p:ph type="sldNum" sz="quarter" idx="4"/>
          </p:nvPr>
        </p:nvSpPr>
        <p:spPr>
          <a:xfrm>
            <a:off x="3255883" y="3207603"/>
            <a:ext cx="1037273" cy="184253"/>
          </a:xfrm>
          <a:prstGeom prst="rect">
            <a:avLst/>
          </a:prstGeom>
        </p:spPr>
        <p:txBody>
          <a:bodyPr vert="horz" lIns="91440" tIns="45720" rIns="91440" bIns="45720" rtlCol="0" anchor="ctr"/>
          <a:lstStyle>
            <a:lvl1pPr algn="r" eaLnBrk="1" fontAlgn="auto" hangingPunct="1">
              <a:spcBef>
                <a:spcPts val="0"/>
              </a:spcBef>
              <a:spcAft>
                <a:spcPts val="0"/>
              </a:spcAft>
              <a:defRPr sz="605">
                <a:solidFill>
                  <a:schemeClr val="tx1">
                    <a:tint val="75000"/>
                  </a:schemeClr>
                </a:solidFill>
                <a:latin typeface="+mn-lt"/>
              </a:defRPr>
            </a:lvl1pPr>
          </a:lstStyle>
          <a:p>
            <a:pPr>
              <a:defRPr/>
            </a:pPr>
            <a:fld id="{A998689A-74B8-4B27-BFD6-2B1D6C2F642A}" type="slidenum">
              <a:rPr lang="zh-CN" altLang="en-US"/>
              <a:pPr>
                <a:defRPr/>
              </a:pPr>
              <a:t>‹#›</a:t>
            </a:fld>
            <a:endParaRPr lang="zh-CN" altLang="en-US"/>
          </a:p>
        </p:txBody>
      </p:sp>
    </p:spTree>
    <p:extLst>
      <p:ext uri="{BB962C8B-B14F-4D97-AF65-F5344CB8AC3E}">
        <p14:creationId xmlns:p14="http://schemas.microsoft.com/office/powerpoint/2010/main" val="2183398519"/>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Lst>
  <p:hf hdr="0"/>
  <p:txStyles>
    <p:titleStyle>
      <a:lvl1pPr algn="l" rtl="0" eaLnBrk="0" fontAlgn="base" hangingPunct="0">
        <a:lnSpc>
          <a:spcPct val="90000"/>
        </a:lnSpc>
        <a:spcBef>
          <a:spcPct val="0"/>
        </a:spcBef>
        <a:spcAft>
          <a:spcPct val="0"/>
        </a:spcAft>
        <a:defRPr sz="2218" b="0" kern="1200" cap="none" spc="0">
          <a:ln w="0"/>
          <a:solidFill>
            <a:srgbClr val="C00000"/>
          </a:solidFill>
          <a:effectLst>
            <a:outerShdw blurRad="38100" dist="25400" dir="5400000" algn="ctr" rotWithShape="0">
              <a:srgbClr val="6E747A">
                <a:alpha val="43000"/>
              </a:srgbClr>
            </a:outerShdw>
          </a:effectLst>
          <a:latin typeface="Garamond" panose="02020404030301010803" pitchFamily="18" charset="0"/>
          <a:ea typeface="+mj-ea"/>
          <a:cs typeface="+mj-cs"/>
        </a:defRPr>
      </a:lvl1pPr>
      <a:lvl2pPr algn="l" rtl="0" eaLnBrk="0" fontAlgn="base" hangingPunct="0">
        <a:lnSpc>
          <a:spcPct val="90000"/>
        </a:lnSpc>
        <a:spcBef>
          <a:spcPct val="0"/>
        </a:spcBef>
        <a:spcAft>
          <a:spcPct val="0"/>
        </a:spcAft>
        <a:defRPr sz="2218">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2218">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2218">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2218">
          <a:solidFill>
            <a:schemeClr val="tx1"/>
          </a:solidFill>
          <a:latin typeface="Calibri Light" panose="020F0302020204030204" pitchFamily="34" charset="0"/>
        </a:defRPr>
      </a:lvl5pPr>
      <a:lvl6pPr marL="230520" algn="l" rtl="0" fontAlgn="base">
        <a:lnSpc>
          <a:spcPct val="90000"/>
        </a:lnSpc>
        <a:spcBef>
          <a:spcPct val="0"/>
        </a:spcBef>
        <a:spcAft>
          <a:spcPct val="0"/>
        </a:spcAft>
        <a:defRPr sz="2218">
          <a:solidFill>
            <a:schemeClr val="tx1"/>
          </a:solidFill>
          <a:latin typeface="Calibri Light" panose="020F0302020204030204" pitchFamily="34" charset="0"/>
        </a:defRPr>
      </a:lvl6pPr>
      <a:lvl7pPr marL="461040" algn="l" rtl="0" fontAlgn="base">
        <a:lnSpc>
          <a:spcPct val="90000"/>
        </a:lnSpc>
        <a:spcBef>
          <a:spcPct val="0"/>
        </a:spcBef>
        <a:spcAft>
          <a:spcPct val="0"/>
        </a:spcAft>
        <a:defRPr sz="2218">
          <a:solidFill>
            <a:schemeClr val="tx1"/>
          </a:solidFill>
          <a:latin typeface="Calibri Light" panose="020F0302020204030204" pitchFamily="34" charset="0"/>
        </a:defRPr>
      </a:lvl7pPr>
      <a:lvl8pPr marL="691561" algn="l" rtl="0" fontAlgn="base">
        <a:lnSpc>
          <a:spcPct val="90000"/>
        </a:lnSpc>
        <a:spcBef>
          <a:spcPct val="0"/>
        </a:spcBef>
        <a:spcAft>
          <a:spcPct val="0"/>
        </a:spcAft>
        <a:defRPr sz="2218">
          <a:solidFill>
            <a:schemeClr val="tx1"/>
          </a:solidFill>
          <a:latin typeface="Calibri Light" panose="020F0302020204030204" pitchFamily="34" charset="0"/>
        </a:defRPr>
      </a:lvl8pPr>
      <a:lvl9pPr marL="922081" algn="l" rtl="0" fontAlgn="base">
        <a:lnSpc>
          <a:spcPct val="90000"/>
        </a:lnSpc>
        <a:spcBef>
          <a:spcPct val="0"/>
        </a:spcBef>
        <a:spcAft>
          <a:spcPct val="0"/>
        </a:spcAft>
        <a:defRPr sz="2218">
          <a:solidFill>
            <a:schemeClr val="tx1"/>
          </a:solidFill>
          <a:latin typeface="Calibri Light" panose="020F0302020204030204" pitchFamily="34" charset="0"/>
        </a:defRPr>
      </a:lvl9pPr>
    </p:titleStyle>
    <p:bodyStyle>
      <a:lvl1pPr marL="115260" indent="-115260" algn="l" rtl="0" eaLnBrk="0" fontAlgn="base" hangingPunct="0">
        <a:lnSpc>
          <a:spcPct val="90000"/>
        </a:lnSpc>
        <a:spcBef>
          <a:spcPts val="504"/>
        </a:spcBef>
        <a:spcAft>
          <a:spcPct val="0"/>
        </a:spcAft>
        <a:buFont typeface="Arial" panose="020B0604020202020204" pitchFamily="34" charset="0"/>
        <a:buChar char="•"/>
        <a:defRPr sz="1412" kern="1200">
          <a:solidFill>
            <a:schemeClr val="tx1"/>
          </a:solidFill>
          <a:latin typeface="+mn-lt"/>
          <a:ea typeface="+mn-ea"/>
          <a:cs typeface="+mn-cs"/>
        </a:defRPr>
      </a:lvl1pPr>
      <a:lvl2pPr marL="345780" indent="-115260" algn="l" rtl="0" eaLnBrk="0" fontAlgn="base" hangingPunct="0">
        <a:lnSpc>
          <a:spcPct val="90000"/>
        </a:lnSpc>
        <a:spcBef>
          <a:spcPts val="252"/>
        </a:spcBef>
        <a:spcAft>
          <a:spcPct val="0"/>
        </a:spcAft>
        <a:buFont typeface="Arial" panose="020B0604020202020204" pitchFamily="34" charset="0"/>
        <a:buChar char="•"/>
        <a:defRPr sz="1210" kern="1200">
          <a:solidFill>
            <a:schemeClr val="tx1"/>
          </a:solidFill>
          <a:latin typeface="+mn-lt"/>
          <a:ea typeface="+mn-ea"/>
          <a:cs typeface="+mn-cs"/>
        </a:defRPr>
      </a:lvl2pPr>
      <a:lvl3pPr marL="576301" indent="-115260" algn="l" rtl="0" eaLnBrk="0" fontAlgn="base" hangingPunct="0">
        <a:lnSpc>
          <a:spcPct val="90000"/>
        </a:lnSpc>
        <a:spcBef>
          <a:spcPts val="252"/>
        </a:spcBef>
        <a:spcAft>
          <a:spcPct val="0"/>
        </a:spcAft>
        <a:buFont typeface="Arial" panose="020B0604020202020204" pitchFamily="34" charset="0"/>
        <a:buChar char="•"/>
        <a:defRPr sz="1008" kern="1200">
          <a:solidFill>
            <a:schemeClr val="tx1"/>
          </a:solidFill>
          <a:latin typeface="+mn-lt"/>
          <a:ea typeface="+mn-ea"/>
          <a:cs typeface="+mn-cs"/>
        </a:defRPr>
      </a:lvl3pPr>
      <a:lvl4pPr marL="806821" indent="-115260" algn="l" rtl="0" eaLnBrk="0" fontAlgn="base" hangingPunct="0">
        <a:lnSpc>
          <a:spcPct val="90000"/>
        </a:lnSpc>
        <a:spcBef>
          <a:spcPts val="252"/>
        </a:spcBef>
        <a:spcAft>
          <a:spcPct val="0"/>
        </a:spcAft>
        <a:buFont typeface="Arial" panose="020B0604020202020204" pitchFamily="34" charset="0"/>
        <a:buChar char="•"/>
        <a:defRPr kern="1200">
          <a:solidFill>
            <a:schemeClr val="tx1"/>
          </a:solidFill>
          <a:latin typeface="+mn-lt"/>
          <a:ea typeface="+mn-ea"/>
          <a:cs typeface="+mn-cs"/>
        </a:defRPr>
      </a:lvl4pPr>
      <a:lvl5pPr marL="1037341" indent="-115260" algn="l" rtl="0" eaLnBrk="0" fontAlgn="base" hangingPunct="0">
        <a:lnSpc>
          <a:spcPct val="90000"/>
        </a:lnSpc>
        <a:spcBef>
          <a:spcPts val="252"/>
        </a:spcBef>
        <a:spcAft>
          <a:spcPct val="0"/>
        </a:spcAft>
        <a:buFont typeface="Arial" panose="020B0604020202020204" pitchFamily="34" charset="0"/>
        <a:buChar char="•"/>
        <a:defRPr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en-US"/>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0AB9185-A928-FF30-2C81-3D5D86318B48}"/>
              </a:ext>
            </a:extLst>
          </p:cNvPr>
          <p:cNvSpPr>
            <a:spLocks noGrp="1" noChangeArrowheads="1"/>
          </p:cNvSpPr>
          <p:nvPr>
            <p:ph type="title"/>
          </p:nvPr>
        </p:nvSpPr>
        <p:spPr bwMode="auto">
          <a:xfrm>
            <a:off x="172879" y="127377"/>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36833D83-7EF3-A484-BED8-4F01F83D16F3}"/>
              </a:ext>
            </a:extLst>
          </p:cNvPr>
          <p:cNvSpPr>
            <a:spLocks noGrp="1" noChangeArrowheads="1"/>
          </p:cNvSpPr>
          <p:nvPr>
            <p:ph type="body" idx="1"/>
          </p:nvPr>
        </p:nvSpPr>
        <p:spPr bwMode="auto">
          <a:xfrm>
            <a:off x="188087"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a:extLst>
              <a:ext uri="{FF2B5EF4-FFF2-40B4-BE49-F238E27FC236}">
                <a16:creationId xmlns:a16="http://schemas.microsoft.com/office/drawing/2014/main" id="{17959DA7-9AB0-50DC-878D-6E12E44718D0}"/>
              </a:ext>
            </a:extLst>
          </p:cNvPr>
          <p:cNvSpPr>
            <a:spLocks noGrp="1" noChangeArrowheads="1"/>
          </p:cNvSpPr>
          <p:nvPr>
            <p:ph type="ftr" sz="quarter" idx="3"/>
          </p:nvPr>
        </p:nvSpPr>
        <p:spPr bwMode="auto">
          <a:xfrm>
            <a:off x="144067"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i="1">
                <a:solidFill>
                  <a:srgbClr val="777777"/>
                </a:solidFill>
                <a:ea typeface="宋体" panose="02010600030101010101" pitchFamily="2" charset="-122"/>
              </a:defRPr>
            </a:lvl1pPr>
          </a:lstStyle>
          <a:p>
            <a:r>
              <a:rPr lang="zh-CN" altLang="zh-CN"/>
              <a:t>一国收入的衡量</a:t>
            </a:r>
          </a:p>
        </p:txBody>
      </p:sp>
      <p:sp>
        <p:nvSpPr>
          <p:cNvPr id="1029" name="Rectangle 5">
            <a:extLst>
              <a:ext uri="{FF2B5EF4-FFF2-40B4-BE49-F238E27FC236}">
                <a16:creationId xmlns:a16="http://schemas.microsoft.com/office/drawing/2014/main" id="{DEB50AA6-39F8-61BE-F746-A93974A559E4}"/>
              </a:ext>
            </a:extLst>
          </p:cNvPr>
          <p:cNvSpPr>
            <a:spLocks noGrp="1" noChangeArrowheads="1"/>
          </p:cNvSpPr>
          <p:nvPr>
            <p:ph type="sldNum" sz="quarter" idx="4"/>
          </p:nvPr>
        </p:nvSpPr>
        <p:spPr bwMode="auto">
          <a:xfrm>
            <a:off x="4185908"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56">
                <a:solidFill>
                  <a:srgbClr val="777777"/>
                </a:solidFill>
                <a:ea typeface="宋体" panose="02010600030101010101" pitchFamily="2" charset="-122"/>
              </a:defRPr>
            </a:lvl1pPr>
          </a:lstStyle>
          <a:p>
            <a:fld id="{F133D32A-41AB-3244-B29B-0A71F7EBCF2E}" type="slidenum">
              <a:rPr lang="zh-CN" altLang="zh-CN"/>
              <a:pPr/>
              <a:t>‹#›</a:t>
            </a:fld>
            <a:endParaRPr lang="en-US" altLang="zh-CN"/>
          </a:p>
        </p:txBody>
      </p:sp>
    </p:spTree>
    <p:extLst>
      <p:ext uri="{BB962C8B-B14F-4D97-AF65-F5344CB8AC3E}">
        <p14:creationId xmlns:p14="http://schemas.microsoft.com/office/powerpoint/2010/main" val="1661465439"/>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4" b="1" kern="1200">
          <a:solidFill>
            <a:srgbClr val="333399"/>
          </a:solidFill>
          <a:latin typeface="+mj-lt"/>
          <a:ea typeface="+mj-ea"/>
          <a:cs typeface="+mj-cs"/>
        </a:defRPr>
      </a:lvl1pPr>
      <a:lvl2pPr algn="ctr" rtl="0" fontAlgn="base">
        <a:spcBef>
          <a:spcPct val="0"/>
        </a:spcBef>
        <a:spcAft>
          <a:spcPct val="0"/>
        </a:spcAft>
        <a:defRPr sz="1914" b="1">
          <a:solidFill>
            <a:srgbClr val="333399"/>
          </a:solidFill>
          <a:latin typeface="Book Antiqua" panose="02040602050305030304" pitchFamily="18" charset="0"/>
        </a:defRPr>
      </a:lvl2pPr>
      <a:lvl3pPr algn="ctr" rtl="0" fontAlgn="base">
        <a:spcBef>
          <a:spcPct val="0"/>
        </a:spcBef>
        <a:spcAft>
          <a:spcPct val="0"/>
        </a:spcAft>
        <a:defRPr sz="1914" b="1">
          <a:solidFill>
            <a:srgbClr val="333399"/>
          </a:solidFill>
          <a:latin typeface="Book Antiqua" panose="02040602050305030304" pitchFamily="18" charset="0"/>
        </a:defRPr>
      </a:lvl3pPr>
      <a:lvl4pPr algn="ctr" rtl="0" fontAlgn="base">
        <a:spcBef>
          <a:spcPct val="0"/>
        </a:spcBef>
        <a:spcAft>
          <a:spcPct val="0"/>
        </a:spcAft>
        <a:defRPr sz="1914" b="1">
          <a:solidFill>
            <a:srgbClr val="333399"/>
          </a:solidFill>
          <a:latin typeface="Book Antiqua" panose="02040602050305030304" pitchFamily="18" charset="0"/>
        </a:defRPr>
      </a:lvl4pPr>
      <a:lvl5pPr algn="ctr" rtl="0" fontAlgn="base">
        <a:spcBef>
          <a:spcPct val="0"/>
        </a:spcBef>
        <a:spcAft>
          <a:spcPct val="0"/>
        </a:spcAft>
        <a:defRPr sz="1914" b="1">
          <a:solidFill>
            <a:srgbClr val="333399"/>
          </a:solidFill>
          <a:latin typeface="Book Antiqua" panose="02040602050305030304" pitchFamily="18" charset="0"/>
        </a:defRPr>
      </a:lvl5pPr>
      <a:lvl6pPr marL="230329" algn="ctr" rtl="0" fontAlgn="base">
        <a:spcBef>
          <a:spcPct val="0"/>
        </a:spcBef>
        <a:spcAft>
          <a:spcPct val="0"/>
        </a:spcAft>
        <a:defRPr sz="1914" b="1">
          <a:solidFill>
            <a:srgbClr val="333399"/>
          </a:solidFill>
          <a:latin typeface="Book Antiqua" panose="02040602050305030304" pitchFamily="18" charset="0"/>
        </a:defRPr>
      </a:lvl6pPr>
      <a:lvl7pPr marL="460659" algn="ctr" rtl="0" fontAlgn="base">
        <a:spcBef>
          <a:spcPct val="0"/>
        </a:spcBef>
        <a:spcAft>
          <a:spcPct val="0"/>
        </a:spcAft>
        <a:defRPr sz="1914" b="1">
          <a:solidFill>
            <a:srgbClr val="333399"/>
          </a:solidFill>
          <a:latin typeface="Book Antiqua" panose="02040602050305030304" pitchFamily="18" charset="0"/>
        </a:defRPr>
      </a:lvl7pPr>
      <a:lvl8pPr marL="690989" algn="ctr" rtl="0" fontAlgn="base">
        <a:spcBef>
          <a:spcPct val="0"/>
        </a:spcBef>
        <a:spcAft>
          <a:spcPct val="0"/>
        </a:spcAft>
        <a:defRPr sz="1914" b="1">
          <a:solidFill>
            <a:srgbClr val="333399"/>
          </a:solidFill>
          <a:latin typeface="Book Antiqua" panose="02040602050305030304" pitchFamily="18" charset="0"/>
        </a:defRPr>
      </a:lvl8pPr>
      <a:lvl9pPr marL="921319" algn="ctr" rtl="0" fontAlgn="base">
        <a:spcBef>
          <a:spcPct val="0"/>
        </a:spcBef>
        <a:spcAft>
          <a:spcPct val="0"/>
        </a:spcAft>
        <a:defRPr sz="1914" b="1">
          <a:solidFill>
            <a:srgbClr val="333399"/>
          </a:solidFill>
          <a:latin typeface="Book Antiqua" panose="02040602050305030304" pitchFamily="18" charset="0"/>
        </a:defRPr>
      </a:lvl9pPr>
    </p:titleStyle>
    <p:bodyStyle>
      <a:lvl1pPr marL="172747" indent="-172747" algn="l" rtl="0" fontAlgn="base">
        <a:lnSpc>
          <a:spcPct val="105000"/>
        </a:lnSpc>
        <a:spcBef>
          <a:spcPct val="45000"/>
        </a:spcBef>
        <a:spcAft>
          <a:spcPct val="0"/>
        </a:spcAft>
        <a:buClr>
          <a:srgbClr val="339966"/>
        </a:buClr>
        <a:buSzPct val="120000"/>
        <a:buFont typeface="Wingdings" pitchFamily="2" charset="2"/>
        <a:buChar char="§"/>
        <a:defRPr sz="1411" kern="1200">
          <a:solidFill>
            <a:schemeClr val="tx1"/>
          </a:solidFill>
          <a:latin typeface="+mn-lt"/>
          <a:ea typeface="+mn-ea"/>
          <a:cs typeface="+mn-cs"/>
        </a:defRPr>
      </a:lvl1pPr>
      <a:lvl2pPr marL="374285" indent="-143956" algn="l" rtl="0" fontAlgn="base">
        <a:spcBef>
          <a:spcPct val="15000"/>
        </a:spcBef>
        <a:spcAft>
          <a:spcPct val="0"/>
        </a:spcAft>
        <a:buClr>
          <a:srgbClr val="996633"/>
        </a:buClr>
        <a:buSzPct val="120000"/>
        <a:buFont typeface="Wingdings" pitchFamily="2" charset="2"/>
        <a:buChar char="§"/>
        <a:defRPr sz="1360" kern="1200">
          <a:solidFill>
            <a:schemeClr val="tx1"/>
          </a:solidFill>
          <a:latin typeface="+mn-lt"/>
          <a:ea typeface="+mn-ea"/>
          <a:cs typeface="+mn-cs"/>
        </a:defRPr>
      </a:lvl2pPr>
      <a:lvl3pPr marL="575825" indent="-115165" algn="l" rtl="0" fontAlgn="base">
        <a:spcBef>
          <a:spcPct val="15000"/>
        </a:spcBef>
        <a:spcAft>
          <a:spcPct val="0"/>
        </a:spcAft>
        <a:buClr>
          <a:srgbClr val="339966"/>
        </a:buClr>
        <a:buSzPct val="120000"/>
        <a:buFont typeface="Wingdings" pitchFamily="2" charset="2"/>
        <a:buChar char="§"/>
        <a:defRPr sz="1260" kern="1200">
          <a:solidFill>
            <a:schemeClr val="tx1"/>
          </a:solidFill>
          <a:latin typeface="+mn-lt"/>
          <a:ea typeface="+mn-ea"/>
          <a:cs typeface="+mn-cs"/>
        </a:defRPr>
      </a:lvl3pPr>
      <a:lvl4pPr marL="806154" indent="-115165" algn="l" rtl="0" fontAlgn="base">
        <a:spcBef>
          <a:spcPct val="15000"/>
        </a:spcBef>
        <a:spcAft>
          <a:spcPct val="0"/>
        </a:spcAft>
        <a:buChar char="–"/>
        <a:defRPr sz="1007" kern="1200">
          <a:solidFill>
            <a:schemeClr val="tx1"/>
          </a:solidFill>
          <a:latin typeface="+mn-lt"/>
          <a:ea typeface="+mn-ea"/>
          <a:cs typeface="+mn-cs"/>
        </a:defRPr>
      </a:lvl4pPr>
      <a:lvl5pPr marL="1036483" indent="-115165" algn="l" rtl="0" fontAlgn="base">
        <a:spcBef>
          <a:spcPct val="20000"/>
        </a:spcBef>
        <a:spcAft>
          <a:spcPct val="0"/>
        </a:spcAft>
        <a:buChar char="»"/>
        <a:defRPr sz="1007" kern="1200">
          <a:solidFill>
            <a:schemeClr val="tx1"/>
          </a:solidFill>
          <a:latin typeface="+mn-lt"/>
          <a:ea typeface="+mn-ea"/>
          <a:cs typeface="+mn-cs"/>
        </a:defRPr>
      </a:lvl5pPr>
      <a:lvl6pPr marL="1266813"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6pPr>
      <a:lvl7pPr marL="1497143"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7pPr>
      <a:lvl8pPr marL="1727472"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8pPr>
      <a:lvl9pPr marL="1957802"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9pPr>
    </p:bodyStyle>
    <p:otherStyle>
      <a:defPPr>
        <a:defRPr lang="zh-CN"/>
      </a:defPPr>
      <a:lvl1pPr marL="0" algn="l" defTabSz="460659" rtl="0" eaLnBrk="1" latinLnBrk="0" hangingPunct="1">
        <a:defRPr sz="907" kern="1200">
          <a:solidFill>
            <a:schemeClr val="tx1"/>
          </a:solidFill>
          <a:latin typeface="+mn-lt"/>
          <a:ea typeface="+mn-ea"/>
          <a:cs typeface="+mn-cs"/>
        </a:defRPr>
      </a:lvl1pPr>
      <a:lvl2pPr marL="230329" algn="l" defTabSz="460659" rtl="0" eaLnBrk="1" latinLnBrk="0" hangingPunct="1">
        <a:defRPr sz="907" kern="1200">
          <a:solidFill>
            <a:schemeClr val="tx1"/>
          </a:solidFill>
          <a:latin typeface="+mn-lt"/>
          <a:ea typeface="+mn-ea"/>
          <a:cs typeface="+mn-cs"/>
        </a:defRPr>
      </a:lvl2pPr>
      <a:lvl3pPr marL="460659" algn="l" defTabSz="460659" rtl="0" eaLnBrk="1" latinLnBrk="0" hangingPunct="1">
        <a:defRPr sz="907" kern="1200">
          <a:solidFill>
            <a:schemeClr val="tx1"/>
          </a:solidFill>
          <a:latin typeface="+mn-lt"/>
          <a:ea typeface="+mn-ea"/>
          <a:cs typeface="+mn-cs"/>
        </a:defRPr>
      </a:lvl3pPr>
      <a:lvl4pPr marL="690989" algn="l" defTabSz="460659" rtl="0" eaLnBrk="1" latinLnBrk="0" hangingPunct="1">
        <a:defRPr sz="907" kern="1200">
          <a:solidFill>
            <a:schemeClr val="tx1"/>
          </a:solidFill>
          <a:latin typeface="+mn-lt"/>
          <a:ea typeface="+mn-ea"/>
          <a:cs typeface="+mn-cs"/>
        </a:defRPr>
      </a:lvl4pPr>
      <a:lvl5pPr marL="921319" algn="l" defTabSz="460659" rtl="0" eaLnBrk="1" latinLnBrk="0" hangingPunct="1">
        <a:defRPr sz="907" kern="1200">
          <a:solidFill>
            <a:schemeClr val="tx1"/>
          </a:solidFill>
          <a:latin typeface="+mn-lt"/>
          <a:ea typeface="+mn-ea"/>
          <a:cs typeface="+mn-cs"/>
        </a:defRPr>
      </a:lvl5pPr>
      <a:lvl6pPr marL="1151648" algn="l" defTabSz="460659" rtl="0" eaLnBrk="1" latinLnBrk="0" hangingPunct="1">
        <a:defRPr sz="907" kern="1200">
          <a:solidFill>
            <a:schemeClr val="tx1"/>
          </a:solidFill>
          <a:latin typeface="+mn-lt"/>
          <a:ea typeface="+mn-ea"/>
          <a:cs typeface="+mn-cs"/>
        </a:defRPr>
      </a:lvl6pPr>
      <a:lvl7pPr marL="1381977" algn="l" defTabSz="460659" rtl="0" eaLnBrk="1" latinLnBrk="0" hangingPunct="1">
        <a:defRPr sz="907" kern="1200">
          <a:solidFill>
            <a:schemeClr val="tx1"/>
          </a:solidFill>
          <a:latin typeface="+mn-lt"/>
          <a:ea typeface="+mn-ea"/>
          <a:cs typeface="+mn-cs"/>
        </a:defRPr>
      </a:lvl7pPr>
      <a:lvl8pPr marL="1612308" algn="l" defTabSz="460659" rtl="0" eaLnBrk="1" latinLnBrk="0" hangingPunct="1">
        <a:defRPr sz="907" kern="1200">
          <a:solidFill>
            <a:schemeClr val="tx1"/>
          </a:solidFill>
          <a:latin typeface="+mn-lt"/>
          <a:ea typeface="+mn-ea"/>
          <a:cs typeface="+mn-cs"/>
        </a:defRPr>
      </a:lvl8pPr>
      <a:lvl9pPr marL="1842637" algn="l" defTabSz="460659" rtl="0" eaLnBrk="1" latinLnBrk="0" hangingPunct="1">
        <a:defRPr sz="907"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316B7D8-77CD-8C49-78C1-2F609C50D049}"/>
              </a:ext>
            </a:extLst>
          </p:cNvPr>
          <p:cNvSpPr>
            <a:spLocks noGrp="1" noChangeArrowheads="1"/>
          </p:cNvSpPr>
          <p:nvPr>
            <p:ph type="title"/>
          </p:nvPr>
        </p:nvSpPr>
        <p:spPr bwMode="auto">
          <a:xfrm>
            <a:off x="172879" y="127377"/>
            <a:ext cx="4240332" cy="34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C2A03781-C384-2C28-9929-995631B198EE}"/>
              </a:ext>
            </a:extLst>
          </p:cNvPr>
          <p:cNvSpPr>
            <a:spLocks noGrp="1" noChangeArrowheads="1"/>
          </p:cNvSpPr>
          <p:nvPr>
            <p:ph type="body" idx="1"/>
          </p:nvPr>
        </p:nvSpPr>
        <p:spPr bwMode="auto">
          <a:xfrm>
            <a:off x="188087" y="508698"/>
            <a:ext cx="4191509" cy="2582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5">
            <a:extLst>
              <a:ext uri="{FF2B5EF4-FFF2-40B4-BE49-F238E27FC236}">
                <a16:creationId xmlns:a16="http://schemas.microsoft.com/office/drawing/2014/main" id="{AFD0D887-92EB-A616-E943-EBACA5D0FDFB}"/>
              </a:ext>
            </a:extLst>
          </p:cNvPr>
          <p:cNvSpPr>
            <a:spLocks noGrp="1" noChangeArrowheads="1"/>
          </p:cNvSpPr>
          <p:nvPr>
            <p:ph type="ftr" sz="quarter" idx="3"/>
          </p:nvPr>
        </p:nvSpPr>
        <p:spPr bwMode="auto">
          <a:xfrm>
            <a:off x="144067" y="3226028"/>
            <a:ext cx="3698485" cy="185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i="1">
                <a:solidFill>
                  <a:srgbClr val="777777"/>
                </a:solidFill>
                <a:ea typeface="宋体" panose="02010600030101010101" pitchFamily="2" charset="-122"/>
              </a:defRPr>
            </a:lvl1pPr>
          </a:lstStyle>
          <a:p>
            <a:r>
              <a:rPr lang="zh-CN" altLang="zh-CN"/>
              <a:t>生活费用的衡量</a:t>
            </a:r>
          </a:p>
        </p:txBody>
      </p:sp>
      <p:sp>
        <p:nvSpPr>
          <p:cNvPr id="1029" name="Rectangle 6">
            <a:extLst>
              <a:ext uri="{FF2B5EF4-FFF2-40B4-BE49-F238E27FC236}">
                <a16:creationId xmlns:a16="http://schemas.microsoft.com/office/drawing/2014/main" id="{7FB91B5B-167F-00F6-8C2F-A84B46F3621E}"/>
              </a:ext>
            </a:extLst>
          </p:cNvPr>
          <p:cNvSpPr>
            <a:spLocks noGrp="1" noChangeArrowheads="1"/>
          </p:cNvSpPr>
          <p:nvPr>
            <p:ph type="sldNum" sz="quarter" idx="4"/>
          </p:nvPr>
        </p:nvSpPr>
        <p:spPr bwMode="auto">
          <a:xfrm>
            <a:off x="4185908" y="3217216"/>
            <a:ext cx="344957" cy="185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856">
                <a:solidFill>
                  <a:srgbClr val="777777"/>
                </a:solidFill>
                <a:ea typeface="宋体" panose="02010600030101010101" pitchFamily="2" charset="-122"/>
              </a:defRPr>
            </a:lvl1pPr>
          </a:lstStyle>
          <a:p>
            <a:fld id="{67E89DB2-10D5-B24A-866F-85E347D83F90}" type="slidenum">
              <a:rPr lang="zh-CN" altLang="zh-CN"/>
              <a:pPr/>
              <a:t>‹#›</a:t>
            </a:fld>
            <a:endParaRPr lang="en-US" altLang="zh-CN"/>
          </a:p>
        </p:txBody>
      </p:sp>
    </p:spTree>
    <p:extLst>
      <p:ext uri="{BB962C8B-B14F-4D97-AF65-F5344CB8AC3E}">
        <p14:creationId xmlns:p14="http://schemas.microsoft.com/office/powerpoint/2010/main" val="1211662017"/>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txStyles>
    <p:titleStyle>
      <a:lvl1pPr algn="ctr" rtl="0" eaLnBrk="0" fontAlgn="base" hangingPunct="0">
        <a:spcBef>
          <a:spcPct val="0"/>
        </a:spcBef>
        <a:spcAft>
          <a:spcPct val="0"/>
        </a:spcAft>
        <a:defRPr sz="1914" b="1" kern="1200">
          <a:solidFill>
            <a:srgbClr val="333399"/>
          </a:solidFill>
          <a:latin typeface="+mj-lt"/>
          <a:ea typeface="+mj-ea"/>
          <a:cs typeface="+mj-cs"/>
        </a:defRPr>
      </a:lvl1pPr>
      <a:lvl2pPr algn="ctr" rtl="0" eaLnBrk="0" fontAlgn="base" hangingPunct="0">
        <a:spcBef>
          <a:spcPct val="0"/>
        </a:spcBef>
        <a:spcAft>
          <a:spcPct val="0"/>
        </a:spcAft>
        <a:defRPr sz="1914" b="1">
          <a:solidFill>
            <a:srgbClr val="333399"/>
          </a:solidFill>
          <a:latin typeface="Book Antiqua" panose="02040602050305030304" pitchFamily="18" charset="0"/>
        </a:defRPr>
      </a:lvl2pPr>
      <a:lvl3pPr algn="ctr" rtl="0" eaLnBrk="0" fontAlgn="base" hangingPunct="0">
        <a:spcBef>
          <a:spcPct val="0"/>
        </a:spcBef>
        <a:spcAft>
          <a:spcPct val="0"/>
        </a:spcAft>
        <a:defRPr sz="1914" b="1">
          <a:solidFill>
            <a:srgbClr val="333399"/>
          </a:solidFill>
          <a:latin typeface="Book Antiqua" panose="02040602050305030304" pitchFamily="18" charset="0"/>
        </a:defRPr>
      </a:lvl3pPr>
      <a:lvl4pPr algn="ctr" rtl="0" eaLnBrk="0" fontAlgn="base" hangingPunct="0">
        <a:spcBef>
          <a:spcPct val="0"/>
        </a:spcBef>
        <a:spcAft>
          <a:spcPct val="0"/>
        </a:spcAft>
        <a:defRPr sz="1914" b="1">
          <a:solidFill>
            <a:srgbClr val="333399"/>
          </a:solidFill>
          <a:latin typeface="Book Antiqua" panose="02040602050305030304" pitchFamily="18" charset="0"/>
        </a:defRPr>
      </a:lvl4pPr>
      <a:lvl5pPr algn="ctr" rtl="0" eaLnBrk="0" fontAlgn="base" hangingPunct="0">
        <a:spcBef>
          <a:spcPct val="0"/>
        </a:spcBef>
        <a:spcAft>
          <a:spcPct val="0"/>
        </a:spcAft>
        <a:defRPr sz="1914" b="1">
          <a:solidFill>
            <a:srgbClr val="333399"/>
          </a:solidFill>
          <a:latin typeface="Book Antiqua" panose="02040602050305030304" pitchFamily="18" charset="0"/>
        </a:defRPr>
      </a:lvl5pPr>
      <a:lvl6pPr marL="230329" algn="ctr" rtl="0" eaLnBrk="0" fontAlgn="base" hangingPunct="0">
        <a:spcBef>
          <a:spcPct val="0"/>
        </a:spcBef>
        <a:spcAft>
          <a:spcPct val="0"/>
        </a:spcAft>
        <a:defRPr sz="1914" b="1">
          <a:solidFill>
            <a:srgbClr val="333399"/>
          </a:solidFill>
          <a:latin typeface="Book Antiqua" panose="02040602050305030304" pitchFamily="18" charset="0"/>
        </a:defRPr>
      </a:lvl6pPr>
      <a:lvl7pPr marL="460659" algn="ctr" rtl="0" eaLnBrk="0" fontAlgn="base" hangingPunct="0">
        <a:spcBef>
          <a:spcPct val="0"/>
        </a:spcBef>
        <a:spcAft>
          <a:spcPct val="0"/>
        </a:spcAft>
        <a:defRPr sz="1914" b="1">
          <a:solidFill>
            <a:srgbClr val="333399"/>
          </a:solidFill>
          <a:latin typeface="Book Antiqua" panose="02040602050305030304" pitchFamily="18" charset="0"/>
        </a:defRPr>
      </a:lvl7pPr>
      <a:lvl8pPr marL="690989" algn="ctr" rtl="0" eaLnBrk="0" fontAlgn="base" hangingPunct="0">
        <a:spcBef>
          <a:spcPct val="0"/>
        </a:spcBef>
        <a:spcAft>
          <a:spcPct val="0"/>
        </a:spcAft>
        <a:defRPr sz="1914" b="1">
          <a:solidFill>
            <a:srgbClr val="333399"/>
          </a:solidFill>
          <a:latin typeface="Book Antiqua" panose="02040602050305030304" pitchFamily="18" charset="0"/>
        </a:defRPr>
      </a:lvl8pPr>
      <a:lvl9pPr marL="921319" algn="ctr" rtl="0" eaLnBrk="0" fontAlgn="base" hangingPunct="0">
        <a:spcBef>
          <a:spcPct val="0"/>
        </a:spcBef>
        <a:spcAft>
          <a:spcPct val="0"/>
        </a:spcAft>
        <a:defRPr sz="1914" b="1">
          <a:solidFill>
            <a:srgbClr val="333399"/>
          </a:solidFill>
          <a:latin typeface="Book Antiqua" panose="02040602050305030304" pitchFamily="18" charset="0"/>
        </a:defRPr>
      </a:lvl9pPr>
    </p:titleStyle>
    <p:bodyStyle>
      <a:lvl1pPr marL="172747" indent="-172747" algn="l" rtl="0" eaLnBrk="0" fontAlgn="base" hangingPunct="0">
        <a:lnSpc>
          <a:spcPct val="105000"/>
        </a:lnSpc>
        <a:spcBef>
          <a:spcPct val="45000"/>
        </a:spcBef>
        <a:spcAft>
          <a:spcPct val="0"/>
        </a:spcAft>
        <a:buClr>
          <a:srgbClr val="339966"/>
        </a:buClr>
        <a:buSzPct val="120000"/>
        <a:buFont typeface="Wingdings" pitchFamily="2" charset="2"/>
        <a:buChar char="§"/>
        <a:defRPr sz="1411" kern="1200">
          <a:solidFill>
            <a:schemeClr val="tx1"/>
          </a:solidFill>
          <a:latin typeface="+mn-lt"/>
          <a:ea typeface="+mn-ea"/>
          <a:cs typeface="+mn-cs"/>
        </a:defRPr>
      </a:lvl1pPr>
      <a:lvl2pPr marL="374285" indent="-143956" algn="l" rtl="0" eaLnBrk="0" fontAlgn="base" hangingPunct="0">
        <a:spcBef>
          <a:spcPct val="15000"/>
        </a:spcBef>
        <a:spcAft>
          <a:spcPct val="0"/>
        </a:spcAft>
        <a:buClr>
          <a:srgbClr val="996633"/>
        </a:buClr>
        <a:buSzPct val="120000"/>
        <a:buFont typeface="Wingdings" pitchFamily="2" charset="2"/>
        <a:buChar char="§"/>
        <a:defRPr sz="1360" kern="1200">
          <a:solidFill>
            <a:schemeClr val="tx1"/>
          </a:solidFill>
          <a:latin typeface="+mn-lt"/>
          <a:ea typeface="+mn-ea"/>
          <a:cs typeface="+mn-cs"/>
        </a:defRPr>
      </a:lvl2pPr>
      <a:lvl3pPr marL="575825" indent="-115165" algn="l" rtl="0" eaLnBrk="0" fontAlgn="base" hangingPunct="0">
        <a:spcBef>
          <a:spcPct val="15000"/>
        </a:spcBef>
        <a:spcAft>
          <a:spcPct val="0"/>
        </a:spcAft>
        <a:buClr>
          <a:srgbClr val="339966"/>
        </a:buClr>
        <a:buSzPct val="120000"/>
        <a:buFont typeface="Wingdings" pitchFamily="2" charset="2"/>
        <a:buChar char="§"/>
        <a:defRPr sz="1260" kern="1200">
          <a:solidFill>
            <a:schemeClr val="tx1"/>
          </a:solidFill>
          <a:latin typeface="+mn-lt"/>
          <a:ea typeface="+mn-ea"/>
          <a:cs typeface="+mn-cs"/>
        </a:defRPr>
      </a:lvl3pPr>
      <a:lvl4pPr marL="806154" indent="-115165" algn="l" rtl="0" eaLnBrk="0" fontAlgn="base" hangingPunct="0">
        <a:spcBef>
          <a:spcPct val="15000"/>
        </a:spcBef>
        <a:spcAft>
          <a:spcPct val="0"/>
        </a:spcAft>
        <a:buChar char="–"/>
        <a:defRPr sz="1007" kern="1200">
          <a:solidFill>
            <a:schemeClr val="tx1"/>
          </a:solidFill>
          <a:latin typeface="+mn-lt"/>
          <a:ea typeface="+mn-ea"/>
          <a:cs typeface="+mn-cs"/>
        </a:defRPr>
      </a:lvl4pPr>
      <a:lvl5pPr marL="1036483" indent="-115165" algn="l" rtl="0" eaLnBrk="0" fontAlgn="base" hangingPunct="0">
        <a:spcBef>
          <a:spcPct val="20000"/>
        </a:spcBef>
        <a:spcAft>
          <a:spcPct val="0"/>
        </a:spcAft>
        <a:buChar char="»"/>
        <a:defRPr sz="1007" kern="1200">
          <a:solidFill>
            <a:schemeClr val="tx1"/>
          </a:solidFill>
          <a:latin typeface="+mn-lt"/>
          <a:ea typeface="+mn-ea"/>
          <a:cs typeface="+mn-cs"/>
        </a:defRPr>
      </a:lvl5pPr>
      <a:lvl6pPr marL="1266813"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6pPr>
      <a:lvl7pPr marL="1497143"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7pPr>
      <a:lvl8pPr marL="1727472"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8pPr>
      <a:lvl9pPr marL="1957802" indent="-115165" algn="l" defTabSz="460659" rtl="0" eaLnBrk="1" latinLnBrk="0" hangingPunct="1">
        <a:lnSpc>
          <a:spcPct val="90000"/>
        </a:lnSpc>
        <a:spcBef>
          <a:spcPts val="252"/>
        </a:spcBef>
        <a:buFont typeface="Arial" panose="020B0604020202020204" pitchFamily="34" charset="0"/>
        <a:buChar char="•"/>
        <a:defRPr sz="907" kern="1200">
          <a:solidFill>
            <a:schemeClr val="tx1"/>
          </a:solidFill>
          <a:latin typeface="+mn-lt"/>
          <a:ea typeface="+mn-ea"/>
          <a:cs typeface="+mn-cs"/>
        </a:defRPr>
      </a:lvl9pPr>
    </p:bodyStyle>
    <p:otherStyle>
      <a:defPPr>
        <a:defRPr lang="zh-CN"/>
      </a:defPPr>
      <a:lvl1pPr marL="0" algn="l" defTabSz="460659" rtl="0" eaLnBrk="1" latinLnBrk="0" hangingPunct="1">
        <a:defRPr sz="907" kern="1200">
          <a:solidFill>
            <a:schemeClr val="tx1"/>
          </a:solidFill>
          <a:latin typeface="+mn-lt"/>
          <a:ea typeface="+mn-ea"/>
          <a:cs typeface="+mn-cs"/>
        </a:defRPr>
      </a:lvl1pPr>
      <a:lvl2pPr marL="230329" algn="l" defTabSz="460659" rtl="0" eaLnBrk="1" latinLnBrk="0" hangingPunct="1">
        <a:defRPr sz="907" kern="1200">
          <a:solidFill>
            <a:schemeClr val="tx1"/>
          </a:solidFill>
          <a:latin typeface="+mn-lt"/>
          <a:ea typeface="+mn-ea"/>
          <a:cs typeface="+mn-cs"/>
        </a:defRPr>
      </a:lvl2pPr>
      <a:lvl3pPr marL="460659" algn="l" defTabSz="460659" rtl="0" eaLnBrk="1" latinLnBrk="0" hangingPunct="1">
        <a:defRPr sz="907" kern="1200">
          <a:solidFill>
            <a:schemeClr val="tx1"/>
          </a:solidFill>
          <a:latin typeface="+mn-lt"/>
          <a:ea typeface="+mn-ea"/>
          <a:cs typeface="+mn-cs"/>
        </a:defRPr>
      </a:lvl3pPr>
      <a:lvl4pPr marL="690989" algn="l" defTabSz="460659" rtl="0" eaLnBrk="1" latinLnBrk="0" hangingPunct="1">
        <a:defRPr sz="907" kern="1200">
          <a:solidFill>
            <a:schemeClr val="tx1"/>
          </a:solidFill>
          <a:latin typeface="+mn-lt"/>
          <a:ea typeface="+mn-ea"/>
          <a:cs typeface="+mn-cs"/>
        </a:defRPr>
      </a:lvl4pPr>
      <a:lvl5pPr marL="921319" algn="l" defTabSz="460659" rtl="0" eaLnBrk="1" latinLnBrk="0" hangingPunct="1">
        <a:defRPr sz="907" kern="1200">
          <a:solidFill>
            <a:schemeClr val="tx1"/>
          </a:solidFill>
          <a:latin typeface="+mn-lt"/>
          <a:ea typeface="+mn-ea"/>
          <a:cs typeface="+mn-cs"/>
        </a:defRPr>
      </a:lvl5pPr>
      <a:lvl6pPr marL="1151648" algn="l" defTabSz="460659" rtl="0" eaLnBrk="1" latinLnBrk="0" hangingPunct="1">
        <a:defRPr sz="907" kern="1200">
          <a:solidFill>
            <a:schemeClr val="tx1"/>
          </a:solidFill>
          <a:latin typeface="+mn-lt"/>
          <a:ea typeface="+mn-ea"/>
          <a:cs typeface="+mn-cs"/>
        </a:defRPr>
      </a:lvl6pPr>
      <a:lvl7pPr marL="1381977" algn="l" defTabSz="460659" rtl="0" eaLnBrk="1" latinLnBrk="0" hangingPunct="1">
        <a:defRPr sz="907" kern="1200">
          <a:solidFill>
            <a:schemeClr val="tx1"/>
          </a:solidFill>
          <a:latin typeface="+mn-lt"/>
          <a:ea typeface="+mn-ea"/>
          <a:cs typeface="+mn-cs"/>
        </a:defRPr>
      </a:lvl7pPr>
      <a:lvl8pPr marL="1612308" algn="l" defTabSz="460659" rtl="0" eaLnBrk="1" latinLnBrk="0" hangingPunct="1">
        <a:defRPr sz="907" kern="1200">
          <a:solidFill>
            <a:schemeClr val="tx1"/>
          </a:solidFill>
          <a:latin typeface="+mn-lt"/>
          <a:ea typeface="+mn-ea"/>
          <a:cs typeface="+mn-cs"/>
        </a:defRPr>
      </a:lvl8pPr>
      <a:lvl9pPr marL="1842637" algn="l" defTabSz="460659" rtl="0" eaLnBrk="1" latinLnBrk="0" hangingPunct="1">
        <a:defRPr sz="907"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24CACF47-282E-9251-5E38-9773C995D331}"/>
              </a:ext>
            </a:extLst>
          </p:cNvPr>
          <p:cNvSpPr>
            <a:spLocks noGrp="1" noChangeArrowheads="1"/>
          </p:cNvSpPr>
          <p:nvPr>
            <p:ph type="title"/>
          </p:nvPr>
        </p:nvSpPr>
        <p:spPr bwMode="auto">
          <a:xfrm>
            <a:off x="172879" y="127376"/>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584CF1F3-1A21-5094-568D-A55E8094DF8F}"/>
              </a:ext>
            </a:extLst>
          </p:cNvPr>
          <p:cNvSpPr>
            <a:spLocks noGrp="1" noChangeArrowheads="1"/>
          </p:cNvSpPr>
          <p:nvPr>
            <p:ph type="body" idx="1"/>
          </p:nvPr>
        </p:nvSpPr>
        <p:spPr bwMode="auto">
          <a:xfrm>
            <a:off x="188086"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a:extLst>
              <a:ext uri="{FF2B5EF4-FFF2-40B4-BE49-F238E27FC236}">
                <a16:creationId xmlns:a16="http://schemas.microsoft.com/office/drawing/2014/main" id="{79294301-7CB8-9AE9-385D-320FE3C363A7}"/>
              </a:ext>
            </a:extLst>
          </p:cNvPr>
          <p:cNvSpPr>
            <a:spLocks noGrp="1" noChangeArrowheads="1"/>
          </p:cNvSpPr>
          <p:nvPr>
            <p:ph type="ftr" sz="quarter" idx="3"/>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i="1">
                <a:solidFill>
                  <a:srgbClr val="777777"/>
                </a:solidFill>
                <a:ea typeface="宋体" panose="02010600030101010101" pitchFamily="2" charset="-122"/>
              </a:defRPr>
            </a:lvl1pPr>
          </a:lstStyle>
          <a:p>
            <a:r>
              <a:rPr lang="zh-CN" altLang="zh-CN"/>
              <a:t>储蓄、投资和金融体系</a:t>
            </a:r>
          </a:p>
        </p:txBody>
      </p:sp>
      <p:sp>
        <p:nvSpPr>
          <p:cNvPr id="1029" name="Rectangle 5">
            <a:extLst>
              <a:ext uri="{FF2B5EF4-FFF2-40B4-BE49-F238E27FC236}">
                <a16:creationId xmlns:a16="http://schemas.microsoft.com/office/drawing/2014/main" id="{6F1A230D-A13F-6E34-8E84-B7BAF6D7C766}"/>
              </a:ext>
            </a:extLst>
          </p:cNvPr>
          <p:cNvSpPr>
            <a:spLocks noGrp="1" noChangeArrowheads="1"/>
          </p:cNvSpPr>
          <p:nvPr>
            <p:ph type="sldNum" sz="quarter" idx="4"/>
          </p:nvPr>
        </p:nvSpPr>
        <p:spPr bwMode="auto">
          <a:xfrm>
            <a:off x="4185907"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57">
                <a:solidFill>
                  <a:srgbClr val="777777"/>
                </a:solidFill>
                <a:ea typeface="宋体" panose="02010600030101010101" pitchFamily="2" charset="-122"/>
              </a:defRPr>
            </a:lvl1pPr>
          </a:lstStyle>
          <a:p>
            <a:fld id="{CBE2655C-3234-C049-B5D7-3DC99A4C04D4}" type="slidenum">
              <a:rPr lang="zh-CN" altLang="zh-CN"/>
              <a:pPr/>
              <a:t>‹#›</a:t>
            </a:fld>
            <a:endParaRPr lang="en-US" altLang="zh-CN"/>
          </a:p>
        </p:txBody>
      </p:sp>
    </p:spTree>
    <p:extLst>
      <p:ext uri="{BB962C8B-B14F-4D97-AF65-F5344CB8AC3E}">
        <p14:creationId xmlns:p14="http://schemas.microsoft.com/office/powerpoint/2010/main" val="2761894336"/>
      </p:ext>
    </p:extLst>
  </p:cSld>
  <p:clrMap bg1="lt1" tx1="dk1" bg2="lt2" tx2="dk2" accent1="accent1" accent2="accent2" accent3="accent3" accent4="accent4" accent5="accent5" accent6="accent6" hlink="hlink" folHlink="folHlink"/>
  <p:sldLayoutIdLst>
    <p:sldLayoutId id="2147483795" r:id="rId1"/>
    <p:sldLayoutId id="2147483796" r:id="rId2"/>
    <p:sldLayoutId id="2147483797" r:id="rId3"/>
    <p:sldLayoutId id="2147483798" r:id="rId4"/>
    <p:sldLayoutId id="2147483799" r:id="rId5"/>
    <p:sldLayoutId id="2147483800" r:id="rId6"/>
    <p:sldLayoutId id="2147483801" r:id="rId7"/>
    <p:sldLayoutId id="2147483802" r:id="rId8"/>
    <p:sldLayoutId id="2147483803" r:id="rId9"/>
    <p:sldLayoutId id="2147483804" r:id="rId10"/>
    <p:sldLayoutId id="2147483805"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6" b="1" kern="1200">
          <a:solidFill>
            <a:srgbClr val="333399"/>
          </a:solidFill>
          <a:latin typeface="+mj-lt"/>
          <a:ea typeface="+mj-ea"/>
          <a:cs typeface="+mj-cs"/>
        </a:defRPr>
      </a:lvl1pPr>
      <a:lvl2pPr algn="ctr" rtl="0" fontAlgn="base">
        <a:spcBef>
          <a:spcPct val="0"/>
        </a:spcBef>
        <a:spcAft>
          <a:spcPct val="0"/>
        </a:spcAft>
        <a:defRPr sz="1916" b="1">
          <a:solidFill>
            <a:srgbClr val="333399"/>
          </a:solidFill>
          <a:latin typeface="Book Antiqua" panose="02040602050305030304" pitchFamily="18" charset="0"/>
        </a:defRPr>
      </a:lvl2pPr>
      <a:lvl3pPr algn="ctr" rtl="0" fontAlgn="base">
        <a:spcBef>
          <a:spcPct val="0"/>
        </a:spcBef>
        <a:spcAft>
          <a:spcPct val="0"/>
        </a:spcAft>
        <a:defRPr sz="1916" b="1">
          <a:solidFill>
            <a:srgbClr val="333399"/>
          </a:solidFill>
          <a:latin typeface="Book Antiqua" panose="02040602050305030304" pitchFamily="18" charset="0"/>
        </a:defRPr>
      </a:lvl3pPr>
      <a:lvl4pPr algn="ctr" rtl="0" fontAlgn="base">
        <a:spcBef>
          <a:spcPct val="0"/>
        </a:spcBef>
        <a:spcAft>
          <a:spcPct val="0"/>
        </a:spcAft>
        <a:defRPr sz="1916" b="1">
          <a:solidFill>
            <a:srgbClr val="333399"/>
          </a:solidFill>
          <a:latin typeface="Book Antiqua" panose="02040602050305030304" pitchFamily="18" charset="0"/>
        </a:defRPr>
      </a:lvl4pPr>
      <a:lvl5pPr algn="ctr" rtl="0" fontAlgn="base">
        <a:spcBef>
          <a:spcPct val="0"/>
        </a:spcBef>
        <a:spcAft>
          <a:spcPct val="0"/>
        </a:spcAft>
        <a:defRPr sz="1916" b="1">
          <a:solidFill>
            <a:srgbClr val="333399"/>
          </a:solidFill>
          <a:latin typeface="Book Antiqua" panose="02040602050305030304" pitchFamily="18" charset="0"/>
        </a:defRPr>
      </a:lvl5pPr>
      <a:lvl6pPr marL="230520" algn="ctr" rtl="0" fontAlgn="base">
        <a:spcBef>
          <a:spcPct val="0"/>
        </a:spcBef>
        <a:spcAft>
          <a:spcPct val="0"/>
        </a:spcAft>
        <a:defRPr sz="1916" b="1">
          <a:solidFill>
            <a:srgbClr val="333399"/>
          </a:solidFill>
          <a:latin typeface="Book Antiqua" panose="02040602050305030304" pitchFamily="18" charset="0"/>
        </a:defRPr>
      </a:lvl6pPr>
      <a:lvl7pPr marL="461040" algn="ctr" rtl="0" fontAlgn="base">
        <a:spcBef>
          <a:spcPct val="0"/>
        </a:spcBef>
        <a:spcAft>
          <a:spcPct val="0"/>
        </a:spcAft>
        <a:defRPr sz="1916" b="1">
          <a:solidFill>
            <a:srgbClr val="333399"/>
          </a:solidFill>
          <a:latin typeface="Book Antiqua" panose="02040602050305030304" pitchFamily="18" charset="0"/>
        </a:defRPr>
      </a:lvl7pPr>
      <a:lvl8pPr marL="691561" algn="ctr" rtl="0" fontAlgn="base">
        <a:spcBef>
          <a:spcPct val="0"/>
        </a:spcBef>
        <a:spcAft>
          <a:spcPct val="0"/>
        </a:spcAft>
        <a:defRPr sz="1916" b="1">
          <a:solidFill>
            <a:srgbClr val="333399"/>
          </a:solidFill>
          <a:latin typeface="Book Antiqua" panose="02040602050305030304" pitchFamily="18" charset="0"/>
        </a:defRPr>
      </a:lvl8pPr>
      <a:lvl9pPr marL="922081" algn="ctr" rtl="0" fontAlgn="base">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fontAlgn="base">
        <a:spcBef>
          <a:spcPct val="15000"/>
        </a:spcBef>
        <a:spcAft>
          <a:spcPct val="0"/>
        </a:spcAft>
        <a:buChar char="–"/>
        <a:defRPr sz="1008" kern="1200">
          <a:solidFill>
            <a:schemeClr val="tx1"/>
          </a:solidFill>
          <a:latin typeface="+mn-lt"/>
          <a:ea typeface="+mn-ea"/>
          <a:cs typeface="+mn-cs"/>
        </a:defRPr>
      </a:lvl4pPr>
      <a:lvl5pPr marL="1037341" indent="-115260" algn="l" rtl="0" fontAlgn="base">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4587AD2-2A40-9296-D56D-93FDBD7636EF}"/>
              </a:ext>
            </a:extLst>
          </p:cNvPr>
          <p:cNvSpPr>
            <a:spLocks noGrp="1" noChangeArrowheads="1"/>
          </p:cNvSpPr>
          <p:nvPr>
            <p:ph type="title"/>
          </p:nvPr>
        </p:nvSpPr>
        <p:spPr bwMode="auto">
          <a:xfrm>
            <a:off x="172879" y="127376"/>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50FDC28A-B9AE-127F-83F8-0B1FDA078C1C}"/>
              </a:ext>
            </a:extLst>
          </p:cNvPr>
          <p:cNvSpPr>
            <a:spLocks noGrp="1" noChangeArrowheads="1"/>
          </p:cNvSpPr>
          <p:nvPr>
            <p:ph type="body" idx="1"/>
          </p:nvPr>
        </p:nvSpPr>
        <p:spPr bwMode="auto">
          <a:xfrm>
            <a:off x="188086"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a:extLst>
              <a:ext uri="{FF2B5EF4-FFF2-40B4-BE49-F238E27FC236}">
                <a16:creationId xmlns:a16="http://schemas.microsoft.com/office/drawing/2014/main" id="{DCE3BF17-E6D7-590E-F8B0-BB3DF8E77868}"/>
              </a:ext>
            </a:extLst>
          </p:cNvPr>
          <p:cNvSpPr>
            <a:spLocks noGrp="1" noChangeArrowheads="1"/>
          </p:cNvSpPr>
          <p:nvPr>
            <p:ph type="ftr" sz="quarter" idx="3"/>
          </p:nvPr>
        </p:nvSpPr>
        <p:spPr bwMode="auto">
          <a:xfrm>
            <a:off x="144066" y="3226028"/>
            <a:ext cx="3974611"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i="1">
                <a:solidFill>
                  <a:srgbClr val="777777"/>
                </a:solidFill>
                <a:latin typeface="+mn-lt"/>
                <a:ea typeface="宋体" panose="02010600030101010101" pitchFamily="2" charset="-122"/>
              </a:defRPr>
            </a:lvl1pPr>
          </a:lstStyle>
          <a:p>
            <a:r>
              <a:rPr lang="zh-CN" altLang="zh-CN"/>
              <a:t>消费者、生产者与市场效率</a:t>
            </a:r>
          </a:p>
        </p:txBody>
      </p:sp>
      <p:sp>
        <p:nvSpPr>
          <p:cNvPr id="1029" name="Rectangle 5">
            <a:extLst>
              <a:ext uri="{FF2B5EF4-FFF2-40B4-BE49-F238E27FC236}">
                <a16:creationId xmlns:a16="http://schemas.microsoft.com/office/drawing/2014/main" id="{E3242819-FC19-56A0-789F-5AA03E128747}"/>
              </a:ext>
            </a:extLst>
          </p:cNvPr>
          <p:cNvSpPr>
            <a:spLocks noGrp="1" noChangeArrowheads="1"/>
          </p:cNvSpPr>
          <p:nvPr>
            <p:ph type="sldNum" sz="quarter" idx="4"/>
          </p:nvPr>
        </p:nvSpPr>
        <p:spPr bwMode="auto">
          <a:xfrm>
            <a:off x="4185907"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57">
                <a:solidFill>
                  <a:srgbClr val="777777"/>
                </a:solidFill>
                <a:latin typeface="Tahoma" panose="020B0604030504040204" pitchFamily="34" charset="0"/>
                <a:ea typeface="宋体" panose="02010600030101010101" pitchFamily="2" charset="-122"/>
              </a:defRPr>
            </a:lvl1pPr>
          </a:lstStyle>
          <a:p>
            <a:fld id="{56D20B8E-C68C-114D-8CC8-E6658F47B712}" type="slidenum">
              <a:rPr lang="zh-CN" altLang="zh-CN"/>
              <a:pPr/>
              <a:t>‹#›</a:t>
            </a:fld>
            <a:endParaRPr lang="en-US" altLang="zh-CN"/>
          </a:p>
        </p:txBody>
      </p:sp>
    </p:spTree>
    <p:extLst>
      <p:ext uri="{BB962C8B-B14F-4D97-AF65-F5344CB8AC3E}">
        <p14:creationId xmlns:p14="http://schemas.microsoft.com/office/powerpoint/2010/main" val="1163310630"/>
      </p:ext>
    </p:extLst>
  </p:cSld>
  <p:clrMap bg1="lt1" tx1="dk1" bg2="lt2" tx2="dk2" accent1="accent1" accent2="accent2" accent3="accent3" accent4="accent4" accent5="accent5" accent6="accent6" hlink="hlink" folHlink="folHlink"/>
  <p:sldLayoutIdLst>
    <p:sldLayoutId id="2147483807" r:id="rId1"/>
    <p:sldLayoutId id="2147483808" r:id="rId2"/>
    <p:sldLayoutId id="2147483809" r:id="rId3"/>
    <p:sldLayoutId id="2147483810" r:id="rId4"/>
    <p:sldLayoutId id="2147483811" r:id="rId5"/>
    <p:sldLayoutId id="2147483812" r:id="rId6"/>
    <p:sldLayoutId id="2147483813" r:id="rId7"/>
    <p:sldLayoutId id="2147483814" r:id="rId8"/>
    <p:sldLayoutId id="2147483815" r:id="rId9"/>
    <p:sldLayoutId id="2147483816" r:id="rId10"/>
    <p:sldLayoutId id="2147483817"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6" b="1" kern="1200">
          <a:solidFill>
            <a:srgbClr val="333399"/>
          </a:solidFill>
          <a:latin typeface="+mj-lt"/>
          <a:ea typeface="+mj-ea"/>
          <a:cs typeface="+mj-cs"/>
        </a:defRPr>
      </a:lvl1pPr>
      <a:lvl2pPr algn="ctr" rtl="0" fontAlgn="base">
        <a:spcBef>
          <a:spcPct val="0"/>
        </a:spcBef>
        <a:spcAft>
          <a:spcPct val="0"/>
        </a:spcAft>
        <a:defRPr sz="1916" b="1">
          <a:solidFill>
            <a:srgbClr val="333399"/>
          </a:solidFill>
          <a:latin typeface="Book Antiqua" panose="02040602050305030304" pitchFamily="18" charset="0"/>
        </a:defRPr>
      </a:lvl2pPr>
      <a:lvl3pPr algn="ctr" rtl="0" fontAlgn="base">
        <a:spcBef>
          <a:spcPct val="0"/>
        </a:spcBef>
        <a:spcAft>
          <a:spcPct val="0"/>
        </a:spcAft>
        <a:defRPr sz="1916" b="1">
          <a:solidFill>
            <a:srgbClr val="333399"/>
          </a:solidFill>
          <a:latin typeface="Book Antiqua" panose="02040602050305030304" pitchFamily="18" charset="0"/>
        </a:defRPr>
      </a:lvl3pPr>
      <a:lvl4pPr algn="ctr" rtl="0" fontAlgn="base">
        <a:spcBef>
          <a:spcPct val="0"/>
        </a:spcBef>
        <a:spcAft>
          <a:spcPct val="0"/>
        </a:spcAft>
        <a:defRPr sz="1916" b="1">
          <a:solidFill>
            <a:srgbClr val="333399"/>
          </a:solidFill>
          <a:latin typeface="Book Antiqua" panose="02040602050305030304" pitchFamily="18" charset="0"/>
        </a:defRPr>
      </a:lvl4pPr>
      <a:lvl5pPr algn="ctr" rtl="0" fontAlgn="base">
        <a:spcBef>
          <a:spcPct val="0"/>
        </a:spcBef>
        <a:spcAft>
          <a:spcPct val="0"/>
        </a:spcAft>
        <a:defRPr sz="1916" b="1">
          <a:solidFill>
            <a:srgbClr val="333399"/>
          </a:solidFill>
          <a:latin typeface="Book Antiqua" panose="02040602050305030304" pitchFamily="18" charset="0"/>
        </a:defRPr>
      </a:lvl5pPr>
      <a:lvl6pPr marL="230520" algn="ctr" rtl="0" fontAlgn="base">
        <a:spcBef>
          <a:spcPct val="0"/>
        </a:spcBef>
        <a:spcAft>
          <a:spcPct val="0"/>
        </a:spcAft>
        <a:defRPr sz="1916" b="1">
          <a:solidFill>
            <a:srgbClr val="333399"/>
          </a:solidFill>
          <a:latin typeface="Book Antiqua" panose="02040602050305030304" pitchFamily="18" charset="0"/>
        </a:defRPr>
      </a:lvl6pPr>
      <a:lvl7pPr marL="461040" algn="ctr" rtl="0" fontAlgn="base">
        <a:spcBef>
          <a:spcPct val="0"/>
        </a:spcBef>
        <a:spcAft>
          <a:spcPct val="0"/>
        </a:spcAft>
        <a:defRPr sz="1916" b="1">
          <a:solidFill>
            <a:srgbClr val="333399"/>
          </a:solidFill>
          <a:latin typeface="Book Antiqua" panose="02040602050305030304" pitchFamily="18" charset="0"/>
        </a:defRPr>
      </a:lvl7pPr>
      <a:lvl8pPr marL="691561" algn="ctr" rtl="0" fontAlgn="base">
        <a:spcBef>
          <a:spcPct val="0"/>
        </a:spcBef>
        <a:spcAft>
          <a:spcPct val="0"/>
        </a:spcAft>
        <a:defRPr sz="1916" b="1">
          <a:solidFill>
            <a:srgbClr val="333399"/>
          </a:solidFill>
          <a:latin typeface="Book Antiqua" panose="02040602050305030304" pitchFamily="18" charset="0"/>
        </a:defRPr>
      </a:lvl8pPr>
      <a:lvl9pPr marL="922081" algn="ctr" rtl="0" fontAlgn="base">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fontAlgn="base">
        <a:spcBef>
          <a:spcPct val="15000"/>
        </a:spcBef>
        <a:spcAft>
          <a:spcPct val="0"/>
        </a:spcAft>
        <a:buChar char="–"/>
        <a:defRPr sz="1008" kern="1200">
          <a:solidFill>
            <a:schemeClr val="tx1"/>
          </a:solidFill>
          <a:latin typeface="+mn-lt"/>
          <a:ea typeface="+mn-ea"/>
          <a:cs typeface="+mn-cs"/>
        </a:defRPr>
      </a:lvl4pPr>
      <a:lvl5pPr marL="1037341" indent="-115260" algn="l" rtl="0" fontAlgn="base">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5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4.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6.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6.xml"/></Relationships>
</file>

<file path=ppt/slides/_rels/slide17.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7.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7.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7.xml"/></Relationships>
</file>

<file path=ppt/slides/_rels/slide26.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3.xml"/></Relationships>
</file>

<file path=ppt/slides/_rels/slide27.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3.xml"/></Relationships>
</file>

<file path=ppt/slides/_rels/slide28.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3.xml"/></Relationships>
</file>

<file path=ppt/slides/_rels/slide29.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3.xml"/></Relationships>
</file>

<file path=ppt/slides/_rels/slide30.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3.xml"/></Relationships>
</file>

<file path=ppt/slides/_rels/slide31.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3.xml"/></Relationships>
</file>

<file path=ppt/slides/_rels/slide32.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3.xml"/></Relationships>
</file>

<file path=ppt/slides/_rels/slide33.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3.xml"/></Relationships>
</file>

<file path=ppt/slides/_rels/slide34.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3.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8.xml"/><Relationship Id="rId5" Type="http://schemas.openxmlformats.org/officeDocument/2006/relationships/image" Target="../media/image4.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3.xml"/></Relationships>
</file>

<file path=ppt/slides/_rels/slide37.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3.xml"/></Relationships>
</file>

<file path=ppt/slides/_rels/slide38.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7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4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3.xml"/></Relationships>
</file>

<file path=ppt/slides/_rels/slide41.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image" Target="../media/image310.png"/><Relationship Id="rId1" Type="http://schemas.openxmlformats.org/officeDocument/2006/relationships/slideLayout" Target="../slideLayouts/slideLayout73.xml"/><Relationship Id="rId4" Type="http://schemas.openxmlformats.org/officeDocument/2006/relationships/image" Target="../media/image330.png"/></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2.png"/><Relationship Id="rId2" Type="http://schemas.openxmlformats.org/officeDocument/2006/relationships/image" Target="../media/image38.png"/><Relationship Id="rId1" Type="http://schemas.openxmlformats.org/officeDocument/2006/relationships/slideLayout" Target="../slideLayouts/slideLayout73.xml"/><Relationship Id="rId6" Type="http://schemas.openxmlformats.org/officeDocument/2006/relationships/image" Target="../media/image360.png"/><Relationship Id="rId5" Type="http://schemas.openxmlformats.org/officeDocument/2006/relationships/image" Target="../media/image41.png"/><Relationship Id="rId4" Type="http://schemas.openxmlformats.org/officeDocument/2006/relationships/image" Target="../media/image4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4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png"/><Relationship Id="rId1" Type="http://schemas.openxmlformats.org/officeDocument/2006/relationships/slideLayout" Target="../slideLayouts/slideLayout68.xml"/><Relationship Id="rId4" Type="http://schemas.openxmlformats.org/officeDocument/2006/relationships/image" Target="../media/image380.png"/></Relationships>
</file>

<file path=ppt/slides/_rels/slide45.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68.xml"/></Relationships>
</file>

<file path=ppt/slides/_rels/slide46.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43.png"/><Relationship Id="rId1" Type="http://schemas.openxmlformats.org/officeDocument/2006/relationships/slideLayout" Target="../slideLayouts/slideLayout68.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 Id="rId9" Type="http://schemas.openxmlformats.org/officeDocument/2006/relationships/image" Target="../media/image50.png"/></Relationships>
</file>

<file path=ppt/slides/_rels/slide47.xml.rels><?xml version="1.0" encoding="UTF-8" standalone="yes"?>
<Relationships xmlns="http://schemas.openxmlformats.org/package/2006/relationships"><Relationship Id="rId8" Type="http://schemas.openxmlformats.org/officeDocument/2006/relationships/image" Target="../media/image450.png"/><Relationship Id="rId3" Type="http://schemas.openxmlformats.org/officeDocument/2006/relationships/image" Target="../media/image400.png"/><Relationship Id="rId7" Type="http://schemas.openxmlformats.org/officeDocument/2006/relationships/image" Target="../media/image440.png"/><Relationship Id="rId2" Type="http://schemas.openxmlformats.org/officeDocument/2006/relationships/image" Target="../media/image390.png"/><Relationship Id="rId1" Type="http://schemas.openxmlformats.org/officeDocument/2006/relationships/slideLayout" Target="../slideLayouts/slideLayout68.xml"/><Relationship Id="rId6" Type="http://schemas.openxmlformats.org/officeDocument/2006/relationships/image" Target="../media/image430.png"/><Relationship Id="rId5" Type="http://schemas.openxmlformats.org/officeDocument/2006/relationships/image" Target="../media/image420.png"/><Relationship Id="rId10" Type="http://schemas.openxmlformats.org/officeDocument/2006/relationships/image" Target="../media/image470.png"/><Relationship Id="rId4" Type="http://schemas.openxmlformats.org/officeDocument/2006/relationships/image" Target="../media/image411.png"/><Relationship Id="rId9" Type="http://schemas.openxmlformats.org/officeDocument/2006/relationships/image" Target="../media/image46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4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8.xml"/></Relationships>
</file>

<file path=ppt/slides/_rels/slide5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68.xml"/></Relationships>
</file>

<file path=ppt/slides/_rels/slide51.xml.rels><?xml version="1.0" encoding="UTF-8" standalone="yes"?>
<Relationships xmlns="http://schemas.openxmlformats.org/package/2006/relationships"><Relationship Id="rId2" Type="http://schemas.openxmlformats.org/officeDocument/2006/relationships/image" Target="../media/image350.png"/><Relationship Id="rId1" Type="http://schemas.openxmlformats.org/officeDocument/2006/relationships/slideLayout" Target="../slideLayouts/slideLayout68.xml"/></Relationships>
</file>

<file path=ppt/slides/_rels/slide5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8.xml"/></Relationships>
</file>

<file path=ppt/slides/_rels/slide53.xml.rels><?xml version="1.0" encoding="UTF-8" standalone="yes"?>
<Relationships xmlns="http://schemas.openxmlformats.org/package/2006/relationships"><Relationship Id="rId2" Type="http://schemas.openxmlformats.org/officeDocument/2006/relationships/image" Target="../media/image490.png"/><Relationship Id="rId1" Type="http://schemas.openxmlformats.org/officeDocument/2006/relationships/slideLayout" Target="../slideLayouts/slideLayout68.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8.xml"/></Relationships>
</file>

<file path=ppt/slides/_rels/slide55.xml.rels><?xml version="1.0" encoding="UTF-8" standalone="yes"?>
<Relationships xmlns="http://schemas.openxmlformats.org/package/2006/relationships"><Relationship Id="rId2" Type="http://schemas.openxmlformats.org/officeDocument/2006/relationships/image" Target="../media/image501.png"/><Relationship Id="rId1" Type="http://schemas.openxmlformats.org/officeDocument/2006/relationships/slideLayout" Target="../slideLayouts/slideLayout68.xml"/></Relationships>
</file>

<file path=ppt/slides/_rels/slide5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15.png"/><Relationship Id="rId1" Type="http://schemas.openxmlformats.org/officeDocument/2006/relationships/slideLayout" Target="../slideLayouts/slideLayout68.xml"/></Relationships>
</file>

<file path=ppt/slides/_rels/slide57.xml.rels><?xml version="1.0" encoding="UTF-8" standalone="yes"?>
<Relationships xmlns="http://schemas.openxmlformats.org/package/2006/relationships"><Relationship Id="rId2" Type="http://schemas.openxmlformats.org/officeDocument/2006/relationships/image" Target="../media/image370.png"/><Relationship Id="rId1" Type="http://schemas.openxmlformats.org/officeDocument/2006/relationships/slideLayout" Target="../slideLayouts/slideLayout6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8.xml"/><Relationship Id="rId5" Type="http://schemas.openxmlformats.org/officeDocument/2006/relationships/image" Target="../media/image4.png"/><Relationship Id="rId4" Type="http://schemas.openxmlformats.org/officeDocument/2006/relationships/image" Target="../media/image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6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8.xml"/></Relationships>
</file>

<file path=ppt/slides/_rels/slide63.xml.rels><?xml version="1.0" encoding="UTF-8" standalone="yes"?>
<Relationships xmlns="http://schemas.openxmlformats.org/package/2006/relationships"><Relationship Id="rId3" Type="http://schemas.openxmlformats.org/officeDocument/2006/relationships/image" Target="../media/image500.png"/><Relationship Id="rId2" Type="http://schemas.openxmlformats.org/officeDocument/2006/relationships/image" Target="../media/image17.png"/><Relationship Id="rId1" Type="http://schemas.openxmlformats.org/officeDocument/2006/relationships/slideLayout" Target="../slideLayouts/slideLayout68.xml"/></Relationships>
</file>

<file path=ppt/slides/_rels/slide64.xml.rels><?xml version="1.0" encoding="UTF-8" standalone="yes"?>
<Relationships xmlns="http://schemas.openxmlformats.org/package/2006/relationships"><Relationship Id="rId2" Type="http://schemas.openxmlformats.org/officeDocument/2006/relationships/image" Target="../media/image3400.png"/><Relationship Id="rId1" Type="http://schemas.openxmlformats.org/officeDocument/2006/relationships/slideLayout" Target="../slideLayouts/slideLayout68.xml"/></Relationships>
</file>

<file path=ppt/slides/_rels/slide65.xml.rels><?xml version="1.0" encoding="UTF-8" standalone="yes"?>
<Relationships xmlns="http://schemas.openxmlformats.org/package/2006/relationships"><Relationship Id="rId2" Type="http://schemas.openxmlformats.org/officeDocument/2006/relationships/image" Target="../media/image510.png"/><Relationship Id="rId1" Type="http://schemas.openxmlformats.org/officeDocument/2006/relationships/slideLayout" Target="../slideLayouts/slideLayout6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67.xml.rels><?xml version="1.0" encoding="UTF-8" standalone="yes"?>
<Relationships xmlns="http://schemas.openxmlformats.org/package/2006/relationships"><Relationship Id="rId2" Type="http://schemas.openxmlformats.org/officeDocument/2006/relationships/image" Target="../media/image530.png"/><Relationship Id="rId1" Type="http://schemas.openxmlformats.org/officeDocument/2006/relationships/slideLayout" Target="../slideLayouts/slideLayout68.xml"/></Relationships>
</file>

<file path=ppt/slides/_rels/slide68.xml.rels><?xml version="1.0" encoding="UTF-8" standalone="yes"?>
<Relationships xmlns="http://schemas.openxmlformats.org/package/2006/relationships"><Relationship Id="rId2" Type="http://schemas.openxmlformats.org/officeDocument/2006/relationships/image" Target="../media/image540.png"/><Relationship Id="rId1" Type="http://schemas.openxmlformats.org/officeDocument/2006/relationships/slideLayout" Target="../slideLayouts/slideLayout68.xml"/></Relationships>
</file>

<file path=ppt/slides/_rels/slide6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8.xml"/></Relationships>
</file>

<file path=ppt/slides/_rels/slide7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19.png"/><Relationship Id="rId1" Type="http://schemas.openxmlformats.org/officeDocument/2006/relationships/slideLayout" Target="../slideLayouts/slideLayout68.xml"/></Relationships>
</file>

<file path=ppt/slides/_rels/slide7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6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8.xml"/><Relationship Id="rId5" Type="http://schemas.openxmlformats.org/officeDocument/2006/relationships/image" Target="../media/image4.png"/><Relationship Id="rId4" Type="http://schemas.openxmlformats.org/officeDocument/2006/relationships/image" Target="../media/image3.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7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68.xml"/></Relationships>
</file>

<file path=ppt/slides/_rels/slide7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8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8.xml"/></Relationships>
</file>

<file path=ppt/slides/_rels/slide8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68.xml"/></Relationships>
</file>

<file path=ppt/slides/_rels/slide8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85.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68.xml"/></Relationships>
</file>

<file path=ppt/slides/_rels/slide8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8.xml"/></Relationships>
</file>

<file path=ppt/slides/_rels/slide8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8.xml"/></Relationships>
</file>

<file path=ppt/slides/_rels/slide8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8.xml"/></Relationships>
</file>

<file path=ppt/slides/_rels/slide8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8.xml"/></Relationships>
</file>

<file path=ppt/slides/_rels/slide9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8.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object 30"/>
          <p:cNvSpPr/>
          <p:nvPr/>
        </p:nvSpPr>
        <p:spPr>
          <a:xfrm>
            <a:off x="-152" y="0"/>
            <a:ext cx="4608093" cy="143256"/>
          </a:xfrm>
          <a:prstGeom prst="rect">
            <a:avLst/>
          </a:prstGeom>
          <a:blipFill>
            <a:blip r:embed="rId2" cstate="print"/>
            <a:stretch>
              <a:fillRect/>
            </a:stretch>
          </a:blipFill>
        </p:spPr>
        <p:txBody>
          <a:bodyPr wrap="square" lIns="0" tIns="0" rIns="0" bIns="0" rtlCol="0"/>
          <a:lstStyle/>
          <a:p>
            <a:endParaRPr/>
          </a:p>
        </p:txBody>
      </p:sp>
      <p:sp>
        <p:nvSpPr>
          <p:cNvPr id="31" name="object 31"/>
          <p:cNvSpPr/>
          <p:nvPr/>
        </p:nvSpPr>
        <p:spPr>
          <a:xfrm>
            <a:off x="87882" y="573405"/>
            <a:ext cx="4432935" cy="82550"/>
          </a:xfrm>
          <a:custGeom>
            <a:avLst/>
            <a:gdLst/>
            <a:ahLst/>
            <a:cxnLst/>
            <a:rect l="l" t="t" r="r" b="b"/>
            <a:pathLst>
              <a:path w="4432935" h="82550">
                <a:moveTo>
                  <a:pt x="4381767" y="0"/>
                </a:moveTo>
                <a:lnTo>
                  <a:pt x="50799" y="0"/>
                </a:lnTo>
                <a:lnTo>
                  <a:pt x="45925" y="233"/>
                </a:lnTo>
                <a:lnTo>
                  <a:pt x="10386" y="20111"/>
                </a:lnTo>
                <a:lnTo>
                  <a:pt x="0" y="50800"/>
                </a:lnTo>
                <a:lnTo>
                  <a:pt x="0" y="82384"/>
                </a:lnTo>
                <a:lnTo>
                  <a:pt x="4432567" y="82384"/>
                </a:lnTo>
                <a:lnTo>
                  <a:pt x="4432567" y="50800"/>
                </a:lnTo>
                <a:lnTo>
                  <a:pt x="4415984" y="13334"/>
                </a:lnTo>
                <a:lnTo>
                  <a:pt x="4381767" y="0"/>
                </a:lnTo>
                <a:close/>
              </a:path>
            </a:pathLst>
          </a:custGeom>
          <a:solidFill>
            <a:srgbClr val="FFFFFF"/>
          </a:solidFill>
        </p:spPr>
        <p:txBody>
          <a:bodyPr wrap="square" lIns="0" tIns="0" rIns="0" bIns="0" rtlCol="0"/>
          <a:lstStyle/>
          <a:p>
            <a:endParaRPr/>
          </a:p>
        </p:txBody>
      </p:sp>
      <p:sp>
        <p:nvSpPr>
          <p:cNvPr id="32" name="object 32"/>
          <p:cNvSpPr/>
          <p:nvPr/>
        </p:nvSpPr>
        <p:spPr>
          <a:xfrm>
            <a:off x="133126" y="1250219"/>
            <a:ext cx="112479" cy="109537"/>
          </a:xfrm>
          <a:prstGeom prst="rect">
            <a:avLst/>
          </a:prstGeom>
          <a:blipFill>
            <a:blip r:embed="rId3" cstate="print"/>
            <a:stretch>
              <a:fillRect/>
            </a:stretch>
          </a:blipFill>
        </p:spPr>
        <p:txBody>
          <a:bodyPr wrap="square" lIns="0" tIns="0" rIns="0" bIns="0" rtlCol="0"/>
          <a:lstStyle/>
          <a:p>
            <a:endParaRPr/>
          </a:p>
        </p:txBody>
      </p:sp>
      <p:sp>
        <p:nvSpPr>
          <p:cNvPr id="33" name="object 33"/>
          <p:cNvSpPr/>
          <p:nvPr/>
        </p:nvSpPr>
        <p:spPr>
          <a:xfrm>
            <a:off x="4451394" y="1234344"/>
            <a:ext cx="122237" cy="125301"/>
          </a:xfrm>
          <a:prstGeom prst="rect">
            <a:avLst/>
          </a:prstGeom>
          <a:blipFill>
            <a:blip r:embed="rId4" cstate="print"/>
            <a:stretch>
              <a:fillRect/>
            </a:stretch>
          </a:blipFill>
        </p:spPr>
        <p:txBody>
          <a:bodyPr wrap="square" lIns="0" tIns="0" rIns="0" bIns="0" rtlCol="0"/>
          <a:lstStyle/>
          <a:p>
            <a:endParaRPr/>
          </a:p>
        </p:txBody>
      </p:sp>
      <p:sp>
        <p:nvSpPr>
          <p:cNvPr id="34" name="object 34"/>
          <p:cNvSpPr/>
          <p:nvPr/>
        </p:nvSpPr>
        <p:spPr>
          <a:xfrm>
            <a:off x="189482" y="128594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5" name="object 35"/>
          <p:cNvSpPr/>
          <p:nvPr/>
        </p:nvSpPr>
        <p:spPr>
          <a:xfrm>
            <a:off x="189482" y="12922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6" name="object 36"/>
          <p:cNvSpPr/>
          <p:nvPr/>
        </p:nvSpPr>
        <p:spPr>
          <a:xfrm>
            <a:off x="189482" y="12986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7" name="object 37"/>
          <p:cNvSpPr/>
          <p:nvPr/>
        </p:nvSpPr>
        <p:spPr>
          <a:xfrm>
            <a:off x="189482" y="12986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8" name="object 38"/>
          <p:cNvSpPr/>
          <p:nvPr/>
        </p:nvSpPr>
        <p:spPr>
          <a:xfrm>
            <a:off x="189482" y="1304988"/>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8D8D8D"/>
          </a:solidFill>
        </p:spPr>
        <p:txBody>
          <a:bodyPr wrap="square" lIns="0" tIns="0" rIns="0" bIns="0" rtlCol="0"/>
          <a:lstStyle/>
          <a:p>
            <a:endParaRPr/>
          </a:p>
        </p:txBody>
      </p:sp>
      <p:sp>
        <p:nvSpPr>
          <p:cNvPr id="39" name="object 39"/>
          <p:cNvSpPr/>
          <p:nvPr/>
        </p:nvSpPr>
        <p:spPr>
          <a:xfrm>
            <a:off x="189482" y="1311339"/>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9B9B9B"/>
          </a:solidFill>
        </p:spPr>
        <p:txBody>
          <a:bodyPr wrap="square" lIns="0" tIns="0" rIns="0" bIns="0" rtlCol="0"/>
          <a:lstStyle/>
          <a:p>
            <a:endParaRPr/>
          </a:p>
        </p:txBody>
      </p:sp>
      <p:sp>
        <p:nvSpPr>
          <p:cNvPr id="40" name="object 40"/>
          <p:cNvSpPr/>
          <p:nvPr/>
        </p:nvSpPr>
        <p:spPr>
          <a:xfrm>
            <a:off x="189482" y="13176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A9A9A9"/>
          </a:solidFill>
        </p:spPr>
        <p:txBody>
          <a:bodyPr wrap="square" lIns="0" tIns="0" rIns="0" bIns="0" rtlCol="0"/>
          <a:lstStyle/>
          <a:p>
            <a:endParaRPr/>
          </a:p>
        </p:txBody>
      </p:sp>
      <p:sp>
        <p:nvSpPr>
          <p:cNvPr id="41" name="object 41"/>
          <p:cNvSpPr/>
          <p:nvPr/>
        </p:nvSpPr>
        <p:spPr>
          <a:xfrm>
            <a:off x="189482" y="13240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B8B8B8"/>
          </a:solidFill>
        </p:spPr>
        <p:txBody>
          <a:bodyPr wrap="square" lIns="0" tIns="0" rIns="0" bIns="0" rtlCol="0"/>
          <a:lstStyle/>
          <a:p>
            <a:endParaRPr/>
          </a:p>
        </p:txBody>
      </p:sp>
      <p:sp>
        <p:nvSpPr>
          <p:cNvPr id="42" name="object 42"/>
          <p:cNvSpPr/>
          <p:nvPr/>
        </p:nvSpPr>
        <p:spPr>
          <a:xfrm>
            <a:off x="189482" y="1330388"/>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C6C6C6"/>
          </a:solidFill>
        </p:spPr>
        <p:txBody>
          <a:bodyPr wrap="square" lIns="0" tIns="0" rIns="0" bIns="0" rtlCol="0"/>
          <a:lstStyle/>
          <a:p>
            <a:endParaRPr/>
          </a:p>
        </p:txBody>
      </p:sp>
      <p:sp>
        <p:nvSpPr>
          <p:cNvPr id="43" name="object 43"/>
          <p:cNvSpPr/>
          <p:nvPr/>
        </p:nvSpPr>
        <p:spPr>
          <a:xfrm>
            <a:off x="189482" y="1336739"/>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D4D4D4"/>
          </a:solidFill>
        </p:spPr>
        <p:txBody>
          <a:bodyPr wrap="square" lIns="0" tIns="0" rIns="0" bIns="0" rtlCol="0"/>
          <a:lstStyle/>
          <a:p>
            <a:endParaRPr/>
          </a:p>
        </p:txBody>
      </p:sp>
      <p:sp>
        <p:nvSpPr>
          <p:cNvPr id="44" name="object 44"/>
          <p:cNvSpPr/>
          <p:nvPr/>
        </p:nvSpPr>
        <p:spPr>
          <a:xfrm>
            <a:off x="189482" y="13430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E2E2E2"/>
          </a:solidFill>
        </p:spPr>
        <p:txBody>
          <a:bodyPr wrap="square" lIns="0" tIns="0" rIns="0" bIns="0" rtlCol="0"/>
          <a:lstStyle/>
          <a:p>
            <a:endParaRPr/>
          </a:p>
        </p:txBody>
      </p:sp>
      <p:sp>
        <p:nvSpPr>
          <p:cNvPr id="45" name="object 45"/>
          <p:cNvSpPr/>
          <p:nvPr/>
        </p:nvSpPr>
        <p:spPr>
          <a:xfrm>
            <a:off x="4520450" y="623404"/>
            <a:ext cx="50800" cy="50800"/>
          </a:xfrm>
          <a:custGeom>
            <a:avLst/>
            <a:gdLst/>
            <a:ahLst/>
            <a:cxnLst/>
            <a:rect l="l" t="t" r="r" b="b"/>
            <a:pathLst>
              <a:path w="50800" h="50800">
                <a:moveTo>
                  <a:pt x="50799" y="50792"/>
                </a:moveTo>
                <a:lnTo>
                  <a:pt x="34262" y="13294"/>
                </a:lnTo>
                <a:lnTo>
                  <a:pt x="0" y="0"/>
                </a:lnTo>
              </a:path>
            </a:pathLst>
          </a:custGeom>
          <a:ln w="11112">
            <a:solidFill>
              <a:srgbClr val="FFFFFF"/>
            </a:solidFill>
          </a:ln>
        </p:spPr>
        <p:txBody>
          <a:bodyPr wrap="square" lIns="0" tIns="0" rIns="0" bIns="0" rtlCol="0"/>
          <a:lstStyle/>
          <a:p>
            <a:endParaRPr/>
          </a:p>
        </p:txBody>
      </p:sp>
      <p:sp>
        <p:nvSpPr>
          <p:cNvPr id="46" name="object 46"/>
          <p:cNvSpPr/>
          <p:nvPr/>
        </p:nvSpPr>
        <p:spPr>
          <a:xfrm>
            <a:off x="4520450" y="717271"/>
            <a:ext cx="27305" cy="8255"/>
          </a:xfrm>
          <a:custGeom>
            <a:avLst/>
            <a:gdLst/>
            <a:ahLst/>
            <a:cxnLst/>
            <a:rect l="l" t="t" r="r" b="b"/>
            <a:pathLst>
              <a:path w="27304" h="8254">
                <a:moveTo>
                  <a:pt x="0" y="7733"/>
                </a:moveTo>
                <a:lnTo>
                  <a:pt x="22932" y="2274"/>
                </a:lnTo>
                <a:lnTo>
                  <a:pt x="26954" y="0"/>
                </a:lnTo>
              </a:path>
            </a:pathLst>
          </a:custGeom>
          <a:ln w="11112">
            <a:solidFill>
              <a:srgbClr val="FFFFFF"/>
            </a:solidFill>
          </a:ln>
        </p:spPr>
        <p:txBody>
          <a:bodyPr wrap="square" lIns="0" tIns="0" rIns="0" bIns="0" rtlCol="0"/>
          <a:lstStyle/>
          <a:p>
            <a:endParaRPr/>
          </a:p>
        </p:txBody>
      </p:sp>
      <p:sp>
        <p:nvSpPr>
          <p:cNvPr id="47" name="object 47"/>
          <p:cNvSpPr/>
          <p:nvPr/>
        </p:nvSpPr>
        <p:spPr>
          <a:xfrm>
            <a:off x="4520450" y="626579"/>
            <a:ext cx="47625" cy="47625"/>
          </a:xfrm>
          <a:custGeom>
            <a:avLst/>
            <a:gdLst/>
            <a:ahLst/>
            <a:cxnLst/>
            <a:rect l="l" t="t" r="r" b="b"/>
            <a:pathLst>
              <a:path w="47625" h="47625">
                <a:moveTo>
                  <a:pt x="47625" y="47625"/>
                </a:moveTo>
                <a:lnTo>
                  <a:pt x="30293" y="10875"/>
                </a:lnTo>
                <a:lnTo>
                  <a:pt x="3343" y="168"/>
                </a:lnTo>
                <a:lnTo>
                  <a:pt x="0" y="0"/>
                </a:lnTo>
              </a:path>
            </a:pathLst>
          </a:custGeom>
          <a:ln w="11112">
            <a:solidFill>
              <a:srgbClr val="F7F7F7"/>
            </a:solidFill>
          </a:ln>
        </p:spPr>
        <p:txBody>
          <a:bodyPr wrap="square" lIns="0" tIns="0" rIns="0" bIns="0" rtlCol="0"/>
          <a:lstStyle/>
          <a:p>
            <a:endParaRPr/>
          </a:p>
        </p:txBody>
      </p:sp>
      <p:sp>
        <p:nvSpPr>
          <p:cNvPr id="48" name="object 48"/>
          <p:cNvSpPr/>
          <p:nvPr/>
        </p:nvSpPr>
        <p:spPr>
          <a:xfrm>
            <a:off x="4520450" y="674204"/>
            <a:ext cx="47625" cy="47625"/>
          </a:xfrm>
          <a:custGeom>
            <a:avLst/>
            <a:gdLst/>
            <a:ahLst/>
            <a:cxnLst/>
            <a:rect l="l" t="t" r="r" b="b"/>
            <a:pathLst>
              <a:path w="47625" h="47625">
                <a:moveTo>
                  <a:pt x="0" y="47624"/>
                </a:moveTo>
                <a:lnTo>
                  <a:pt x="36749" y="30298"/>
                </a:lnTo>
                <a:lnTo>
                  <a:pt x="47379" y="4871"/>
                </a:lnTo>
                <a:lnTo>
                  <a:pt x="47625" y="0"/>
                </a:lnTo>
              </a:path>
            </a:pathLst>
          </a:custGeom>
          <a:ln w="11112">
            <a:solidFill>
              <a:srgbClr val="F7F7F7"/>
            </a:solidFill>
          </a:ln>
        </p:spPr>
        <p:txBody>
          <a:bodyPr wrap="square" lIns="0" tIns="0" rIns="0" bIns="0" rtlCol="0"/>
          <a:lstStyle/>
          <a:p>
            <a:endParaRPr/>
          </a:p>
        </p:txBody>
      </p:sp>
      <p:sp>
        <p:nvSpPr>
          <p:cNvPr id="49" name="object 49"/>
          <p:cNvSpPr/>
          <p:nvPr/>
        </p:nvSpPr>
        <p:spPr>
          <a:xfrm>
            <a:off x="4520450" y="629754"/>
            <a:ext cx="44450" cy="44450"/>
          </a:xfrm>
          <a:custGeom>
            <a:avLst/>
            <a:gdLst/>
            <a:ahLst/>
            <a:cxnLst/>
            <a:rect l="l" t="t" r="r" b="b"/>
            <a:pathLst>
              <a:path w="44450" h="44450">
                <a:moveTo>
                  <a:pt x="44450" y="44450"/>
                </a:moveTo>
                <a:lnTo>
                  <a:pt x="44189" y="39608"/>
                </a:lnTo>
                <a:lnTo>
                  <a:pt x="43845" y="37495"/>
                </a:lnTo>
                <a:lnTo>
                  <a:pt x="43425" y="34918"/>
                </a:lnTo>
                <a:lnTo>
                  <a:pt x="18358" y="3958"/>
                </a:lnTo>
                <a:lnTo>
                  <a:pt x="6954" y="605"/>
                </a:lnTo>
                <a:lnTo>
                  <a:pt x="4843" y="260"/>
                </a:lnTo>
                <a:lnTo>
                  <a:pt x="0" y="0"/>
                </a:lnTo>
              </a:path>
            </a:pathLst>
          </a:custGeom>
          <a:ln w="11112">
            <a:solidFill>
              <a:srgbClr val="F0F0F0"/>
            </a:solidFill>
          </a:ln>
        </p:spPr>
        <p:txBody>
          <a:bodyPr wrap="square" lIns="0" tIns="0" rIns="0" bIns="0" rtlCol="0"/>
          <a:lstStyle/>
          <a:p>
            <a:endParaRPr/>
          </a:p>
        </p:txBody>
      </p:sp>
      <p:sp>
        <p:nvSpPr>
          <p:cNvPr id="50" name="object 50"/>
          <p:cNvSpPr/>
          <p:nvPr/>
        </p:nvSpPr>
        <p:spPr>
          <a:xfrm>
            <a:off x="4520450" y="674204"/>
            <a:ext cx="44450" cy="44450"/>
          </a:xfrm>
          <a:custGeom>
            <a:avLst/>
            <a:gdLst/>
            <a:ahLst/>
            <a:cxnLst/>
            <a:rect l="l" t="t" r="r" b="b"/>
            <a:pathLst>
              <a:path w="44450" h="44450">
                <a:moveTo>
                  <a:pt x="0" y="44449"/>
                </a:moveTo>
                <a:lnTo>
                  <a:pt x="35874" y="26251"/>
                </a:lnTo>
                <a:lnTo>
                  <a:pt x="44189" y="4843"/>
                </a:lnTo>
                <a:lnTo>
                  <a:pt x="44450" y="0"/>
                </a:lnTo>
              </a:path>
            </a:pathLst>
          </a:custGeom>
          <a:ln w="11112">
            <a:solidFill>
              <a:srgbClr val="F0F0F0"/>
            </a:solidFill>
          </a:ln>
        </p:spPr>
        <p:txBody>
          <a:bodyPr wrap="square" lIns="0" tIns="0" rIns="0" bIns="0" rtlCol="0"/>
          <a:lstStyle/>
          <a:p>
            <a:endParaRPr/>
          </a:p>
        </p:txBody>
      </p:sp>
      <p:sp>
        <p:nvSpPr>
          <p:cNvPr id="51" name="object 51"/>
          <p:cNvSpPr/>
          <p:nvPr/>
        </p:nvSpPr>
        <p:spPr>
          <a:xfrm>
            <a:off x="4520450" y="632929"/>
            <a:ext cx="41275" cy="41275"/>
          </a:xfrm>
          <a:custGeom>
            <a:avLst/>
            <a:gdLst/>
            <a:ahLst/>
            <a:cxnLst/>
            <a:rect l="l" t="t" r="r" b="b"/>
            <a:pathLst>
              <a:path w="41275" h="41275">
                <a:moveTo>
                  <a:pt x="41275" y="41275"/>
                </a:moveTo>
                <a:lnTo>
                  <a:pt x="40997" y="36461"/>
                </a:lnTo>
                <a:lnTo>
                  <a:pt x="40185" y="31810"/>
                </a:lnTo>
                <a:lnTo>
                  <a:pt x="39703" y="30178"/>
                </a:lnTo>
                <a:lnTo>
                  <a:pt x="38869" y="27354"/>
                </a:lnTo>
                <a:lnTo>
                  <a:pt x="11096" y="1572"/>
                </a:lnTo>
                <a:lnTo>
                  <a:pt x="9464" y="1090"/>
                </a:lnTo>
                <a:lnTo>
                  <a:pt x="4814" y="277"/>
                </a:lnTo>
                <a:lnTo>
                  <a:pt x="0" y="0"/>
                </a:lnTo>
              </a:path>
            </a:pathLst>
          </a:custGeom>
          <a:ln w="11112">
            <a:solidFill>
              <a:srgbClr val="E8E8E8"/>
            </a:solidFill>
          </a:ln>
        </p:spPr>
        <p:txBody>
          <a:bodyPr wrap="square" lIns="0" tIns="0" rIns="0" bIns="0" rtlCol="0"/>
          <a:lstStyle/>
          <a:p>
            <a:endParaRPr/>
          </a:p>
        </p:txBody>
      </p:sp>
      <p:sp>
        <p:nvSpPr>
          <p:cNvPr id="52" name="object 52"/>
          <p:cNvSpPr/>
          <p:nvPr/>
        </p:nvSpPr>
        <p:spPr>
          <a:xfrm>
            <a:off x="4520450" y="674204"/>
            <a:ext cx="41275" cy="41275"/>
          </a:xfrm>
          <a:custGeom>
            <a:avLst/>
            <a:gdLst/>
            <a:ahLst/>
            <a:cxnLst/>
            <a:rect l="l" t="t" r="r" b="b"/>
            <a:pathLst>
              <a:path w="41275" h="41275">
                <a:moveTo>
                  <a:pt x="0" y="41274"/>
                </a:moveTo>
                <a:lnTo>
                  <a:pt x="34849" y="22127"/>
                </a:lnTo>
                <a:lnTo>
                  <a:pt x="40997" y="4813"/>
                </a:lnTo>
                <a:lnTo>
                  <a:pt x="41275" y="0"/>
                </a:lnTo>
              </a:path>
            </a:pathLst>
          </a:custGeom>
          <a:ln w="11112">
            <a:solidFill>
              <a:srgbClr val="E8E8E8"/>
            </a:solidFill>
          </a:ln>
        </p:spPr>
        <p:txBody>
          <a:bodyPr wrap="square" lIns="0" tIns="0" rIns="0" bIns="0" rtlCol="0"/>
          <a:lstStyle/>
          <a:p>
            <a:endParaRPr/>
          </a:p>
        </p:txBody>
      </p:sp>
      <p:sp>
        <p:nvSpPr>
          <p:cNvPr id="53" name="object 53"/>
          <p:cNvSpPr/>
          <p:nvPr/>
        </p:nvSpPr>
        <p:spPr>
          <a:xfrm>
            <a:off x="4520450" y="636104"/>
            <a:ext cx="38100" cy="38100"/>
          </a:xfrm>
          <a:custGeom>
            <a:avLst/>
            <a:gdLst/>
            <a:ahLst/>
            <a:cxnLst/>
            <a:rect l="l" t="t" r="r" b="b"/>
            <a:pathLst>
              <a:path w="38100" h="38100">
                <a:moveTo>
                  <a:pt x="38100" y="38100"/>
                </a:moveTo>
                <a:lnTo>
                  <a:pt x="37803" y="33322"/>
                </a:lnTo>
                <a:lnTo>
                  <a:pt x="36936" y="28722"/>
                </a:lnTo>
                <a:lnTo>
                  <a:pt x="35536" y="24334"/>
                </a:lnTo>
                <a:lnTo>
                  <a:pt x="34266" y="21566"/>
                </a:lnTo>
                <a:lnTo>
                  <a:pt x="33636" y="20193"/>
                </a:lnTo>
                <a:lnTo>
                  <a:pt x="16532" y="3833"/>
                </a:lnTo>
                <a:lnTo>
                  <a:pt x="13771" y="2565"/>
                </a:lnTo>
                <a:lnTo>
                  <a:pt x="9382" y="1164"/>
                </a:lnTo>
                <a:lnTo>
                  <a:pt x="4779" y="297"/>
                </a:lnTo>
                <a:lnTo>
                  <a:pt x="0" y="0"/>
                </a:lnTo>
              </a:path>
            </a:pathLst>
          </a:custGeom>
          <a:ln w="11112">
            <a:solidFill>
              <a:srgbClr val="E1E1E1"/>
            </a:solidFill>
          </a:ln>
        </p:spPr>
        <p:txBody>
          <a:bodyPr wrap="square" lIns="0" tIns="0" rIns="0" bIns="0" rtlCol="0"/>
          <a:lstStyle/>
          <a:p>
            <a:endParaRPr/>
          </a:p>
        </p:txBody>
      </p:sp>
      <p:sp>
        <p:nvSpPr>
          <p:cNvPr id="54" name="object 54"/>
          <p:cNvSpPr/>
          <p:nvPr/>
        </p:nvSpPr>
        <p:spPr>
          <a:xfrm>
            <a:off x="4520450" y="674204"/>
            <a:ext cx="38100" cy="38100"/>
          </a:xfrm>
          <a:custGeom>
            <a:avLst/>
            <a:gdLst/>
            <a:ahLst/>
            <a:cxnLst/>
            <a:rect l="l" t="t" r="r" b="b"/>
            <a:pathLst>
              <a:path w="38100" h="38100">
                <a:moveTo>
                  <a:pt x="0" y="38099"/>
                </a:moveTo>
                <a:lnTo>
                  <a:pt x="33636" y="17911"/>
                </a:lnTo>
                <a:lnTo>
                  <a:pt x="37803" y="4779"/>
                </a:lnTo>
                <a:lnTo>
                  <a:pt x="38100" y="0"/>
                </a:lnTo>
              </a:path>
            </a:pathLst>
          </a:custGeom>
          <a:ln w="11112">
            <a:solidFill>
              <a:srgbClr val="E1E1E1"/>
            </a:solidFill>
          </a:ln>
        </p:spPr>
        <p:txBody>
          <a:bodyPr wrap="square" lIns="0" tIns="0" rIns="0" bIns="0" rtlCol="0"/>
          <a:lstStyle/>
          <a:p>
            <a:endParaRPr/>
          </a:p>
        </p:txBody>
      </p:sp>
      <p:sp>
        <p:nvSpPr>
          <p:cNvPr id="55" name="object 55"/>
          <p:cNvSpPr/>
          <p:nvPr/>
        </p:nvSpPr>
        <p:spPr>
          <a:xfrm>
            <a:off x="4520450" y="639279"/>
            <a:ext cx="34925" cy="34925"/>
          </a:xfrm>
          <a:custGeom>
            <a:avLst/>
            <a:gdLst/>
            <a:ahLst/>
            <a:cxnLst/>
            <a:rect l="l" t="t" r="r" b="b"/>
            <a:pathLst>
              <a:path w="34925" h="34925">
                <a:moveTo>
                  <a:pt x="34925" y="34925"/>
                </a:moveTo>
                <a:lnTo>
                  <a:pt x="13595" y="2745"/>
                </a:lnTo>
                <a:lnTo>
                  <a:pt x="0" y="0"/>
                </a:lnTo>
              </a:path>
            </a:pathLst>
          </a:custGeom>
          <a:ln w="11112">
            <a:solidFill>
              <a:srgbClr val="D9D9D9"/>
            </a:solidFill>
          </a:ln>
        </p:spPr>
        <p:txBody>
          <a:bodyPr wrap="square" lIns="0" tIns="0" rIns="0" bIns="0" rtlCol="0"/>
          <a:lstStyle/>
          <a:p>
            <a:endParaRPr/>
          </a:p>
        </p:txBody>
      </p:sp>
      <p:sp>
        <p:nvSpPr>
          <p:cNvPr id="56" name="object 56"/>
          <p:cNvSpPr/>
          <p:nvPr/>
        </p:nvSpPr>
        <p:spPr>
          <a:xfrm>
            <a:off x="4520450" y="674204"/>
            <a:ext cx="34925" cy="34925"/>
          </a:xfrm>
          <a:custGeom>
            <a:avLst/>
            <a:gdLst/>
            <a:ahLst/>
            <a:cxnLst/>
            <a:rect l="l" t="t" r="r" b="b"/>
            <a:pathLst>
              <a:path w="34925" h="34925">
                <a:moveTo>
                  <a:pt x="0" y="34924"/>
                </a:moveTo>
                <a:lnTo>
                  <a:pt x="32181" y="13595"/>
                </a:lnTo>
                <a:lnTo>
                  <a:pt x="34606" y="4739"/>
                </a:lnTo>
                <a:lnTo>
                  <a:pt x="34925" y="0"/>
                </a:lnTo>
              </a:path>
            </a:pathLst>
          </a:custGeom>
          <a:ln w="11112">
            <a:solidFill>
              <a:srgbClr val="D9D9D9"/>
            </a:solidFill>
          </a:ln>
        </p:spPr>
        <p:txBody>
          <a:bodyPr wrap="square" lIns="0" tIns="0" rIns="0" bIns="0" rtlCol="0"/>
          <a:lstStyle/>
          <a:p>
            <a:endParaRPr/>
          </a:p>
        </p:txBody>
      </p:sp>
      <p:sp>
        <p:nvSpPr>
          <p:cNvPr id="57" name="object 57"/>
          <p:cNvSpPr/>
          <p:nvPr/>
        </p:nvSpPr>
        <p:spPr>
          <a:xfrm>
            <a:off x="4520450" y="642454"/>
            <a:ext cx="31750" cy="31750"/>
          </a:xfrm>
          <a:custGeom>
            <a:avLst/>
            <a:gdLst/>
            <a:ahLst/>
            <a:cxnLst/>
            <a:rect l="l" t="t" r="r" b="b"/>
            <a:pathLst>
              <a:path w="31750" h="31750">
                <a:moveTo>
                  <a:pt x="31750" y="31750"/>
                </a:moveTo>
                <a:lnTo>
                  <a:pt x="4690" y="344"/>
                </a:lnTo>
                <a:lnTo>
                  <a:pt x="0" y="0"/>
                </a:lnTo>
              </a:path>
            </a:pathLst>
          </a:custGeom>
          <a:ln w="11112">
            <a:solidFill>
              <a:srgbClr val="D2D2D2"/>
            </a:solidFill>
          </a:ln>
        </p:spPr>
        <p:txBody>
          <a:bodyPr wrap="square" lIns="0" tIns="0" rIns="0" bIns="0" rtlCol="0"/>
          <a:lstStyle/>
          <a:p>
            <a:endParaRPr/>
          </a:p>
        </p:txBody>
      </p:sp>
      <p:sp>
        <p:nvSpPr>
          <p:cNvPr id="58" name="object 58"/>
          <p:cNvSpPr/>
          <p:nvPr/>
        </p:nvSpPr>
        <p:spPr>
          <a:xfrm>
            <a:off x="4520450" y="674204"/>
            <a:ext cx="31750" cy="31750"/>
          </a:xfrm>
          <a:custGeom>
            <a:avLst/>
            <a:gdLst/>
            <a:ahLst/>
            <a:cxnLst/>
            <a:rect l="l" t="t" r="r" b="b"/>
            <a:pathLst>
              <a:path w="31750" h="31750">
                <a:moveTo>
                  <a:pt x="0" y="31749"/>
                </a:moveTo>
                <a:lnTo>
                  <a:pt x="31405" y="4692"/>
                </a:lnTo>
                <a:lnTo>
                  <a:pt x="31750" y="0"/>
                </a:lnTo>
              </a:path>
            </a:pathLst>
          </a:custGeom>
          <a:ln w="11112">
            <a:solidFill>
              <a:srgbClr val="D2D2D2"/>
            </a:solidFill>
          </a:ln>
        </p:spPr>
        <p:txBody>
          <a:bodyPr wrap="square" lIns="0" tIns="0" rIns="0" bIns="0" rtlCol="0"/>
          <a:lstStyle/>
          <a:p>
            <a:endParaRPr/>
          </a:p>
        </p:txBody>
      </p:sp>
      <p:sp>
        <p:nvSpPr>
          <p:cNvPr id="59" name="object 59"/>
          <p:cNvSpPr/>
          <p:nvPr/>
        </p:nvSpPr>
        <p:spPr>
          <a:xfrm>
            <a:off x="4520450" y="645629"/>
            <a:ext cx="28575" cy="28575"/>
          </a:xfrm>
          <a:custGeom>
            <a:avLst/>
            <a:gdLst/>
            <a:ahLst/>
            <a:cxnLst/>
            <a:rect l="l" t="t" r="r" b="b"/>
            <a:pathLst>
              <a:path w="28575" h="28575">
                <a:moveTo>
                  <a:pt x="28575" y="28575"/>
                </a:moveTo>
                <a:lnTo>
                  <a:pt x="0" y="0"/>
                </a:lnTo>
              </a:path>
            </a:pathLst>
          </a:custGeom>
          <a:ln w="11112">
            <a:solidFill>
              <a:srgbClr val="CACACA"/>
            </a:solidFill>
          </a:ln>
        </p:spPr>
        <p:txBody>
          <a:bodyPr wrap="square" lIns="0" tIns="0" rIns="0" bIns="0" rtlCol="0"/>
          <a:lstStyle/>
          <a:p>
            <a:endParaRPr/>
          </a:p>
        </p:txBody>
      </p:sp>
      <p:sp>
        <p:nvSpPr>
          <p:cNvPr id="60" name="object 60"/>
          <p:cNvSpPr/>
          <p:nvPr/>
        </p:nvSpPr>
        <p:spPr>
          <a:xfrm>
            <a:off x="4520450" y="674204"/>
            <a:ext cx="28575" cy="28575"/>
          </a:xfrm>
          <a:custGeom>
            <a:avLst/>
            <a:gdLst/>
            <a:ahLst/>
            <a:cxnLst/>
            <a:rect l="l" t="t" r="r" b="b"/>
            <a:pathLst>
              <a:path w="28575" h="28575">
                <a:moveTo>
                  <a:pt x="0" y="28574"/>
                </a:moveTo>
                <a:lnTo>
                  <a:pt x="28201" y="4636"/>
                </a:lnTo>
                <a:lnTo>
                  <a:pt x="28575" y="0"/>
                </a:lnTo>
              </a:path>
            </a:pathLst>
          </a:custGeom>
          <a:ln w="11112">
            <a:solidFill>
              <a:srgbClr val="CACACA"/>
            </a:solidFill>
          </a:ln>
        </p:spPr>
        <p:txBody>
          <a:bodyPr wrap="square" lIns="0" tIns="0" rIns="0" bIns="0" rtlCol="0"/>
          <a:lstStyle/>
          <a:p>
            <a:endParaRPr/>
          </a:p>
        </p:txBody>
      </p:sp>
      <p:sp>
        <p:nvSpPr>
          <p:cNvPr id="61" name="object 61"/>
          <p:cNvSpPr/>
          <p:nvPr/>
        </p:nvSpPr>
        <p:spPr>
          <a:xfrm>
            <a:off x="4520450" y="648804"/>
            <a:ext cx="25400" cy="25400"/>
          </a:xfrm>
          <a:custGeom>
            <a:avLst/>
            <a:gdLst/>
            <a:ahLst/>
            <a:cxnLst/>
            <a:rect l="l" t="t" r="r" b="b"/>
            <a:pathLst>
              <a:path w="25400" h="25400">
                <a:moveTo>
                  <a:pt x="25400" y="25400"/>
                </a:moveTo>
                <a:lnTo>
                  <a:pt x="0" y="0"/>
                </a:lnTo>
              </a:path>
            </a:pathLst>
          </a:custGeom>
          <a:ln w="11112">
            <a:solidFill>
              <a:srgbClr val="C3C3C3"/>
            </a:solidFill>
          </a:ln>
        </p:spPr>
        <p:txBody>
          <a:bodyPr wrap="square" lIns="0" tIns="0" rIns="0" bIns="0" rtlCol="0"/>
          <a:lstStyle/>
          <a:p>
            <a:endParaRPr/>
          </a:p>
        </p:txBody>
      </p:sp>
      <p:sp>
        <p:nvSpPr>
          <p:cNvPr id="62" name="object 62"/>
          <p:cNvSpPr/>
          <p:nvPr/>
        </p:nvSpPr>
        <p:spPr>
          <a:xfrm>
            <a:off x="4520450" y="674204"/>
            <a:ext cx="25400" cy="25400"/>
          </a:xfrm>
          <a:custGeom>
            <a:avLst/>
            <a:gdLst/>
            <a:ahLst/>
            <a:cxnLst/>
            <a:rect l="l" t="t" r="r" b="b"/>
            <a:pathLst>
              <a:path w="25400" h="25400">
                <a:moveTo>
                  <a:pt x="0" y="25399"/>
                </a:moveTo>
                <a:lnTo>
                  <a:pt x="24990" y="4567"/>
                </a:lnTo>
                <a:lnTo>
                  <a:pt x="25400" y="0"/>
                </a:lnTo>
              </a:path>
            </a:pathLst>
          </a:custGeom>
          <a:ln w="11112">
            <a:solidFill>
              <a:srgbClr val="C3C3C3"/>
            </a:solidFill>
          </a:ln>
        </p:spPr>
        <p:txBody>
          <a:bodyPr wrap="square" lIns="0" tIns="0" rIns="0" bIns="0" rtlCol="0"/>
          <a:lstStyle/>
          <a:p>
            <a:endParaRPr/>
          </a:p>
        </p:txBody>
      </p:sp>
      <p:sp>
        <p:nvSpPr>
          <p:cNvPr id="63" name="object 63"/>
          <p:cNvSpPr/>
          <p:nvPr/>
        </p:nvSpPr>
        <p:spPr>
          <a:xfrm>
            <a:off x="4520450" y="651979"/>
            <a:ext cx="22225" cy="22225"/>
          </a:xfrm>
          <a:custGeom>
            <a:avLst/>
            <a:gdLst/>
            <a:ahLst/>
            <a:cxnLst/>
            <a:rect l="l" t="t" r="r" b="b"/>
            <a:pathLst>
              <a:path w="22225" h="22225">
                <a:moveTo>
                  <a:pt x="22225" y="22225"/>
                </a:moveTo>
                <a:lnTo>
                  <a:pt x="0" y="0"/>
                </a:lnTo>
              </a:path>
            </a:pathLst>
          </a:custGeom>
          <a:ln w="11112">
            <a:solidFill>
              <a:srgbClr val="BBBBBB"/>
            </a:solidFill>
          </a:ln>
        </p:spPr>
        <p:txBody>
          <a:bodyPr wrap="square" lIns="0" tIns="0" rIns="0" bIns="0" rtlCol="0"/>
          <a:lstStyle/>
          <a:p>
            <a:endParaRPr/>
          </a:p>
        </p:txBody>
      </p:sp>
      <p:sp>
        <p:nvSpPr>
          <p:cNvPr id="64" name="object 64"/>
          <p:cNvSpPr/>
          <p:nvPr/>
        </p:nvSpPr>
        <p:spPr>
          <a:xfrm>
            <a:off x="4520450" y="674204"/>
            <a:ext cx="22225" cy="22225"/>
          </a:xfrm>
          <a:custGeom>
            <a:avLst/>
            <a:gdLst/>
            <a:ahLst/>
            <a:cxnLst/>
            <a:rect l="l" t="t" r="r" b="b"/>
            <a:pathLst>
              <a:path w="22225" h="22225">
                <a:moveTo>
                  <a:pt x="0" y="22224"/>
                </a:moveTo>
                <a:lnTo>
                  <a:pt x="21773" y="4480"/>
                </a:lnTo>
                <a:lnTo>
                  <a:pt x="22225" y="0"/>
                </a:lnTo>
              </a:path>
            </a:pathLst>
          </a:custGeom>
          <a:ln w="11112">
            <a:solidFill>
              <a:srgbClr val="BBBBBB"/>
            </a:solidFill>
          </a:ln>
        </p:spPr>
        <p:txBody>
          <a:bodyPr wrap="square" lIns="0" tIns="0" rIns="0" bIns="0" rtlCol="0"/>
          <a:lstStyle/>
          <a:p>
            <a:endParaRPr/>
          </a:p>
        </p:txBody>
      </p:sp>
      <p:sp>
        <p:nvSpPr>
          <p:cNvPr id="65" name="object 65"/>
          <p:cNvSpPr/>
          <p:nvPr/>
        </p:nvSpPr>
        <p:spPr>
          <a:xfrm>
            <a:off x="4520450" y="655154"/>
            <a:ext cx="19050" cy="19050"/>
          </a:xfrm>
          <a:custGeom>
            <a:avLst/>
            <a:gdLst/>
            <a:ahLst/>
            <a:cxnLst/>
            <a:rect l="l" t="t" r="r" b="b"/>
            <a:pathLst>
              <a:path w="19050" h="19050">
                <a:moveTo>
                  <a:pt x="19050" y="19050"/>
                </a:moveTo>
                <a:lnTo>
                  <a:pt x="0" y="0"/>
                </a:lnTo>
              </a:path>
            </a:pathLst>
          </a:custGeom>
          <a:ln w="11112">
            <a:solidFill>
              <a:srgbClr val="B3B3B3"/>
            </a:solidFill>
          </a:ln>
        </p:spPr>
        <p:txBody>
          <a:bodyPr wrap="square" lIns="0" tIns="0" rIns="0" bIns="0" rtlCol="0"/>
          <a:lstStyle/>
          <a:p>
            <a:endParaRPr/>
          </a:p>
        </p:txBody>
      </p:sp>
      <p:sp>
        <p:nvSpPr>
          <p:cNvPr id="66" name="object 66"/>
          <p:cNvSpPr/>
          <p:nvPr/>
        </p:nvSpPr>
        <p:spPr>
          <a:xfrm>
            <a:off x="4520450" y="674204"/>
            <a:ext cx="19050" cy="19050"/>
          </a:xfrm>
          <a:custGeom>
            <a:avLst/>
            <a:gdLst/>
            <a:ahLst/>
            <a:cxnLst/>
            <a:rect l="l" t="t" r="r" b="b"/>
            <a:pathLst>
              <a:path w="19050" h="19050">
                <a:moveTo>
                  <a:pt x="0" y="19049"/>
                </a:moveTo>
                <a:lnTo>
                  <a:pt x="18546" y="4370"/>
                </a:lnTo>
                <a:lnTo>
                  <a:pt x="19050" y="0"/>
                </a:lnTo>
              </a:path>
            </a:pathLst>
          </a:custGeom>
          <a:ln w="11112">
            <a:solidFill>
              <a:srgbClr val="B3B3B3"/>
            </a:solidFill>
          </a:ln>
        </p:spPr>
        <p:txBody>
          <a:bodyPr wrap="square" lIns="0" tIns="0" rIns="0" bIns="0" rtlCol="0"/>
          <a:lstStyle/>
          <a:p>
            <a:endParaRPr/>
          </a:p>
        </p:txBody>
      </p:sp>
      <p:sp>
        <p:nvSpPr>
          <p:cNvPr id="67" name="object 67"/>
          <p:cNvSpPr/>
          <p:nvPr/>
        </p:nvSpPr>
        <p:spPr>
          <a:xfrm>
            <a:off x="4520450" y="658329"/>
            <a:ext cx="15875" cy="15875"/>
          </a:xfrm>
          <a:custGeom>
            <a:avLst/>
            <a:gdLst/>
            <a:ahLst/>
            <a:cxnLst/>
            <a:rect l="l" t="t" r="r" b="b"/>
            <a:pathLst>
              <a:path w="15875" h="15875">
                <a:moveTo>
                  <a:pt x="15875" y="15875"/>
                </a:moveTo>
                <a:lnTo>
                  <a:pt x="15875" y="7112"/>
                </a:lnTo>
                <a:lnTo>
                  <a:pt x="8763" y="0"/>
                </a:lnTo>
                <a:lnTo>
                  <a:pt x="0" y="0"/>
                </a:lnTo>
              </a:path>
            </a:pathLst>
          </a:custGeom>
          <a:ln w="11112">
            <a:solidFill>
              <a:srgbClr val="ACACAC"/>
            </a:solidFill>
          </a:ln>
        </p:spPr>
        <p:txBody>
          <a:bodyPr wrap="square" lIns="0" tIns="0" rIns="0" bIns="0" rtlCol="0"/>
          <a:lstStyle/>
          <a:p>
            <a:endParaRPr/>
          </a:p>
        </p:txBody>
      </p:sp>
      <p:sp>
        <p:nvSpPr>
          <p:cNvPr id="68" name="object 68"/>
          <p:cNvSpPr/>
          <p:nvPr/>
        </p:nvSpPr>
        <p:spPr>
          <a:xfrm>
            <a:off x="4520450" y="674204"/>
            <a:ext cx="15875" cy="15875"/>
          </a:xfrm>
          <a:custGeom>
            <a:avLst/>
            <a:gdLst/>
            <a:ahLst/>
            <a:cxnLst/>
            <a:rect l="l" t="t" r="r" b="b"/>
            <a:pathLst>
              <a:path w="15875" h="15875">
                <a:moveTo>
                  <a:pt x="0" y="15875"/>
                </a:moveTo>
                <a:lnTo>
                  <a:pt x="8763" y="15875"/>
                </a:lnTo>
                <a:lnTo>
                  <a:pt x="15875" y="8775"/>
                </a:lnTo>
                <a:lnTo>
                  <a:pt x="15875" y="0"/>
                </a:lnTo>
              </a:path>
            </a:pathLst>
          </a:custGeom>
          <a:ln w="11112">
            <a:solidFill>
              <a:srgbClr val="ACACAC"/>
            </a:solidFill>
          </a:ln>
        </p:spPr>
        <p:txBody>
          <a:bodyPr wrap="square" lIns="0" tIns="0" rIns="0" bIns="0" rtlCol="0"/>
          <a:lstStyle/>
          <a:p>
            <a:endParaRPr/>
          </a:p>
        </p:txBody>
      </p:sp>
      <p:sp>
        <p:nvSpPr>
          <p:cNvPr id="69" name="object 69"/>
          <p:cNvSpPr/>
          <p:nvPr/>
        </p:nvSpPr>
        <p:spPr>
          <a:xfrm>
            <a:off x="4520450" y="661504"/>
            <a:ext cx="12700" cy="12700"/>
          </a:xfrm>
          <a:custGeom>
            <a:avLst/>
            <a:gdLst/>
            <a:ahLst/>
            <a:cxnLst/>
            <a:rect l="l" t="t" r="r" b="b"/>
            <a:pathLst>
              <a:path w="12700" h="12700">
                <a:moveTo>
                  <a:pt x="12700" y="12700"/>
                </a:moveTo>
                <a:lnTo>
                  <a:pt x="12700" y="5689"/>
                </a:lnTo>
                <a:lnTo>
                  <a:pt x="7010" y="0"/>
                </a:lnTo>
                <a:lnTo>
                  <a:pt x="0" y="0"/>
                </a:lnTo>
              </a:path>
            </a:pathLst>
          </a:custGeom>
          <a:ln w="11112">
            <a:solidFill>
              <a:srgbClr val="A4A4A4"/>
            </a:solidFill>
          </a:ln>
        </p:spPr>
        <p:txBody>
          <a:bodyPr wrap="square" lIns="0" tIns="0" rIns="0" bIns="0" rtlCol="0"/>
          <a:lstStyle/>
          <a:p>
            <a:endParaRPr/>
          </a:p>
        </p:txBody>
      </p:sp>
      <p:sp>
        <p:nvSpPr>
          <p:cNvPr id="70" name="object 70"/>
          <p:cNvSpPr/>
          <p:nvPr/>
        </p:nvSpPr>
        <p:spPr>
          <a:xfrm>
            <a:off x="4520450" y="674204"/>
            <a:ext cx="12700" cy="12700"/>
          </a:xfrm>
          <a:custGeom>
            <a:avLst/>
            <a:gdLst/>
            <a:ahLst/>
            <a:cxnLst/>
            <a:rect l="l" t="t" r="r" b="b"/>
            <a:pathLst>
              <a:path w="12700" h="12700">
                <a:moveTo>
                  <a:pt x="0" y="12700"/>
                </a:moveTo>
                <a:lnTo>
                  <a:pt x="7010" y="12700"/>
                </a:lnTo>
                <a:lnTo>
                  <a:pt x="12700" y="7010"/>
                </a:lnTo>
                <a:lnTo>
                  <a:pt x="12700" y="0"/>
                </a:lnTo>
              </a:path>
            </a:pathLst>
          </a:custGeom>
          <a:ln w="11112">
            <a:solidFill>
              <a:srgbClr val="A4A4A4"/>
            </a:solidFill>
          </a:ln>
        </p:spPr>
        <p:txBody>
          <a:bodyPr wrap="square" lIns="0" tIns="0" rIns="0" bIns="0" rtlCol="0"/>
          <a:lstStyle/>
          <a:p>
            <a:endParaRPr/>
          </a:p>
        </p:txBody>
      </p:sp>
      <p:sp>
        <p:nvSpPr>
          <p:cNvPr id="71" name="object 71"/>
          <p:cNvSpPr/>
          <p:nvPr/>
        </p:nvSpPr>
        <p:spPr>
          <a:xfrm>
            <a:off x="4520450" y="664679"/>
            <a:ext cx="9525" cy="9525"/>
          </a:xfrm>
          <a:custGeom>
            <a:avLst/>
            <a:gdLst/>
            <a:ahLst/>
            <a:cxnLst/>
            <a:rect l="l" t="t" r="r" b="b"/>
            <a:pathLst>
              <a:path w="9525" h="9525">
                <a:moveTo>
                  <a:pt x="9525" y="9525"/>
                </a:moveTo>
                <a:lnTo>
                  <a:pt x="9525" y="4267"/>
                </a:lnTo>
                <a:lnTo>
                  <a:pt x="5258" y="0"/>
                </a:lnTo>
                <a:lnTo>
                  <a:pt x="0" y="0"/>
                </a:lnTo>
              </a:path>
            </a:pathLst>
          </a:custGeom>
          <a:ln w="11112">
            <a:solidFill>
              <a:srgbClr val="9D9D9D"/>
            </a:solidFill>
          </a:ln>
        </p:spPr>
        <p:txBody>
          <a:bodyPr wrap="square" lIns="0" tIns="0" rIns="0" bIns="0" rtlCol="0"/>
          <a:lstStyle/>
          <a:p>
            <a:endParaRPr/>
          </a:p>
        </p:txBody>
      </p:sp>
      <p:sp>
        <p:nvSpPr>
          <p:cNvPr id="72" name="object 72"/>
          <p:cNvSpPr/>
          <p:nvPr/>
        </p:nvSpPr>
        <p:spPr>
          <a:xfrm>
            <a:off x="4520450" y="674204"/>
            <a:ext cx="9525" cy="9525"/>
          </a:xfrm>
          <a:custGeom>
            <a:avLst/>
            <a:gdLst/>
            <a:ahLst/>
            <a:cxnLst/>
            <a:rect l="l" t="t" r="r" b="b"/>
            <a:pathLst>
              <a:path w="9525" h="9525">
                <a:moveTo>
                  <a:pt x="0" y="9525"/>
                </a:moveTo>
                <a:lnTo>
                  <a:pt x="5258" y="9525"/>
                </a:lnTo>
                <a:lnTo>
                  <a:pt x="9525" y="5257"/>
                </a:lnTo>
                <a:lnTo>
                  <a:pt x="9525" y="0"/>
                </a:lnTo>
              </a:path>
            </a:pathLst>
          </a:custGeom>
          <a:ln w="11112">
            <a:solidFill>
              <a:srgbClr val="9D9D9D"/>
            </a:solidFill>
          </a:ln>
        </p:spPr>
        <p:txBody>
          <a:bodyPr wrap="square" lIns="0" tIns="0" rIns="0" bIns="0" rtlCol="0"/>
          <a:lstStyle/>
          <a:p>
            <a:endParaRPr/>
          </a:p>
        </p:txBody>
      </p:sp>
      <p:sp>
        <p:nvSpPr>
          <p:cNvPr id="73" name="object 73"/>
          <p:cNvSpPr/>
          <p:nvPr/>
        </p:nvSpPr>
        <p:spPr>
          <a:xfrm>
            <a:off x="4520450" y="667854"/>
            <a:ext cx="6350" cy="6350"/>
          </a:xfrm>
          <a:custGeom>
            <a:avLst/>
            <a:gdLst/>
            <a:ahLst/>
            <a:cxnLst/>
            <a:rect l="l" t="t" r="r" b="b"/>
            <a:pathLst>
              <a:path w="6350" h="6350">
                <a:moveTo>
                  <a:pt x="6350" y="6350"/>
                </a:moveTo>
                <a:lnTo>
                  <a:pt x="6350" y="2857"/>
                </a:lnTo>
                <a:lnTo>
                  <a:pt x="3505" y="0"/>
                </a:lnTo>
                <a:lnTo>
                  <a:pt x="0" y="0"/>
                </a:lnTo>
              </a:path>
            </a:pathLst>
          </a:custGeom>
          <a:ln w="11112">
            <a:solidFill>
              <a:srgbClr val="959595"/>
            </a:solidFill>
          </a:ln>
        </p:spPr>
        <p:txBody>
          <a:bodyPr wrap="square" lIns="0" tIns="0" rIns="0" bIns="0" rtlCol="0"/>
          <a:lstStyle/>
          <a:p>
            <a:endParaRPr/>
          </a:p>
        </p:txBody>
      </p:sp>
      <p:sp>
        <p:nvSpPr>
          <p:cNvPr id="74" name="object 74"/>
          <p:cNvSpPr/>
          <p:nvPr/>
        </p:nvSpPr>
        <p:spPr>
          <a:xfrm>
            <a:off x="4520450" y="674204"/>
            <a:ext cx="6350" cy="6350"/>
          </a:xfrm>
          <a:custGeom>
            <a:avLst/>
            <a:gdLst/>
            <a:ahLst/>
            <a:cxnLst/>
            <a:rect l="l" t="t" r="r" b="b"/>
            <a:pathLst>
              <a:path w="6350" h="6350">
                <a:moveTo>
                  <a:pt x="0" y="6350"/>
                </a:moveTo>
                <a:lnTo>
                  <a:pt x="3505" y="6350"/>
                </a:lnTo>
                <a:lnTo>
                  <a:pt x="6350" y="3505"/>
                </a:lnTo>
                <a:lnTo>
                  <a:pt x="6350" y="0"/>
                </a:lnTo>
              </a:path>
            </a:pathLst>
          </a:custGeom>
          <a:ln w="11112">
            <a:solidFill>
              <a:srgbClr val="959595"/>
            </a:solidFill>
          </a:ln>
        </p:spPr>
        <p:txBody>
          <a:bodyPr wrap="square" lIns="0" tIns="0" rIns="0" bIns="0" rtlCol="0"/>
          <a:lstStyle/>
          <a:p>
            <a:endParaRPr/>
          </a:p>
        </p:txBody>
      </p:sp>
      <p:sp>
        <p:nvSpPr>
          <p:cNvPr id="75" name="object 75"/>
          <p:cNvSpPr/>
          <p:nvPr/>
        </p:nvSpPr>
        <p:spPr>
          <a:xfrm>
            <a:off x="4520450" y="671029"/>
            <a:ext cx="3175" cy="3175"/>
          </a:xfrm>
          <a:custGeom>
            <a:avLst/>
            <a:gdLst/>
            <a:ahLst/>
            <a:cxnLst/>
            <a:rect l="l" t="t" r="r" b="b"/>
            <a:pathLst>
              <a:path w="3175" h="3175">
                <a:moveTo>
                  <a:pt x="3175" y="3175"/>
                </a:moveTo>
                <a:lnTo>
                  <a:pt x="3175" y="1435"/>
                </a:lnTo>
                <a:lnTo>
                  <a:pt x="1752" y="0"/>
                </a:lnTo>
                <a:lnTo>
                  <a:pt x="0" y="0"/>
                </a:lnTo>
              </a:path>
            </a:pathLst>
          </a:custGeom>
          <a:ln w="11112">
            <a:solidFill>
              <a:srgbClr val="8E8E8E"/>
            </a:solidFill>
          </a:ln>
        </p:spPr>
        <p:txBody>
          <a:bodyPr wrap="square" lIns="0" tIns="0" rIns="0" bIns="0" rtlCol="0"/>
          <a:lstStyle/>
          <a:p>
            <a:endParaRPr/>
          </a:p>
        </p:txBody>
      </p:sp>
      <p:sp>
        <p:nvSpPr>
          <p:cNvPr id="76" name="object 76"/>
          <p:cNvSpPr/>
          <p:nvPr/>
        </p:nvSpPr>
        <p:spPr>
          <a:xfrm>
            <a:off x="4520450" y="674204"/>
            <a:ext cx="3175" cy="3175"/>
          </a:xfrm>
          <a:custGeom>
            <a:avLst/>
            <a:gdLst/>
            <a:ahLst/>
            <a:cxnLst/>
            <a:rect l="l" t="t" r="r" b="b"/>
            <a:pathLst>
              <a:path w="3175" h="3175">
                <a:moveTo>
                  <a:pt x="0" y="3175"/>
                </a:moveTo>
                <a:lnTo>
                  <a:pt x="1752" y="3175"/>
                </a:lnTo>
                <a:lnTo>
                  <a:pt x="3175" y="1752"/>
                </a:lnTo>
                <a:lnTo>
                  <a:pt x="3175" y="0"/>
                </a:lnTo>
              </a:path>
            </a:pathLst>
          </a:custGeom>
          <a:ln w="11112">
            <a:solidFill>
              <a:srgbClr val="8E8E8E"/>
            </a:solidFill>
          </a:ln>
        </p:spPr>
        <p:txBody>
          <a:bodyPr wrap="square" lIns="0" tIns="0" rIns="0" bIns="0" rtlCol="0"/>
          <a:lstStyle/>
          <a:p>
            <a:endParaRPr/>
          </a:p>
        </p:txBody>
      </p:sp>
      <p:sp>
        <p:nvSpPr>
          <p:cNvPr id="77" name="object 77"/>
          <p:cNvSpPr/>
          <p:nvPr/>
        </p:nvSpPr>
        <p:spPr>
          <a:xfrm>
            <a:off x="4520450" y="667854"/>
            <a:ext cx="6350" cy="12700"/>
          </a:xfrm>
          <a:custGeom>
            <a:avLst/>
            <a:gdLst/>
            <a:ahLst/>
            <a:cxnLst/>
            <a:rect l="l" t="t" r="r" b="b"/>
            <a:pathLst>
              <a:path w="6350" h="12700">
                <a:moveTo>
                  <a:pt x="3505" y="0"/>
                </a:moveTo>
                <a:lnTo>
                  <a:pt x="0" y="0"/>
                </a:lnTo>
                <a:lnTo>
                  <a:pt x="0" y="12700"/>
                </a:lnTo>
                <a:lnTo>
                  <a:pt x="3505" y="12700"/>
                </a:lnTo>
                <a:lnTo>
                  <a:pt x="6350" y="9855"/>
                </a:lnTo>
                <a:lnTo>
                  <a:pt x="6350" y="2857"/>
                </a:lnTo>
                <a:lnTo>
                  <a:pt x="3505" y="0"/>
                </a:lnTo>
                <a:close/>
              </a:path>
            </a:pathLst>
          </a:custGeom>
          <a:solidFill>
            <a:srgbClr val="7F7F7F"/>
          </a:solidFill>
        </p:spPr>
        <p:txBody>
          <a:bodyPr wrap="square" lIns="0" tIns="0" rIns="0" bIns="0" rtlCol="0"/>
          <a:lstStyle/>
          <a:p>
            <a:endParaRPr/>
          </a:p>
        </p:txBody>
      </p:sp>
      <p:sp>
        <p:nvSpPr>
          <p:cNvPr id="78" name="object 78"/>
          <p:cNvSpPr/>
          <p:nvPr/>
        </p:nvSpPr>
        <p:spPr>
          <a:xfrm>
            <a:off x="4522033"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8D8D8D"/>
          </a:solidFill>
        </p:spPr>
        <p:txBody>
          <a:bodyPr wrap="square" lIns="0" tIns="0" rIns="0" bIns="0" rtlCol="0"/>
          <a:lstStyle/>
          <a:p>
            <a:endParaRPr/>
          </a:p>
        </p:txBody>
      </p:sp>
      <p:sp>
        <p:nvSpPr>
          <p:cNvPr id="79" name="object 79"/>
          <p:cNvSpPr/>
          <p:nvPr/>
        </p:nvSpPr>
        <p:spPr>
          <a:xfrm>
            <a:off x="4528384"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9B9B9B"/>
          </a:solidFill>
        </p:spPr>
        <p:txBody>
          <a:bodyPr wrap="square" lIns="0" tIns="0" rIns="0" bIns="0" rtlCol="0"/>
          <a:lstStyle/>
          <a:p>
            <a:endParaRPr/>
          </a:p>
        </p:txBody>
      </p:sp>
      <p:sp>
        <p:nvSpPr>
          <p:cNvPr id="80" name="object 80"/>
          <p:cNvSpPr/>
          <p:nvPr/>
        </p:nvSpPr>
        <p:spPr>
          <a:xfrm>
            <a:off x="4534730"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A9A9A9"/>
          </a:solidFill>
        </p:spPr>
        <p:txBody>
          <a:bodyPr wrap="square" lIns="0" tIns="0" rIns="0" bIns="0" rtlCol="0"/>
          <a:lstStyle/>
          <a:p>
            <a:endParaRPr/>
          </a:p>
        </p:txBody>
      </p:sp>
      <p:sp>
        <p:nvSpPr>
          <p:cNvPr id="81" name="object 81"/>
          <p:cNvSpPr/>
          <p:nvPr/>
        </p:nvSpPr>
        <p:spPr>
          <a:xfrm>
            <a:off x="4541081"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B8B8B8"/>
          </a:solidFill>
        </p:spPr>
        <p:txBody>
          <a:bodyPr wrap="square" lIns="0" tIns="0" rIns="0" bIns="0" rtlCol="0"/>
          <a:lstStyle/>
          <a:p>
            <a:endParaRPr/>
          </a:p>
        </p:txBody>
      </p:sp>
      <p:sp>
        <p:nvSpPr>
          <p:cNvPr id="82" name="object 82"/>
          <p:cNvSpPr/>
          <p:nvPr/>
        </p:nvSpPr>
        <p:spPr>
          <a:xfrm>
            <a:off x="4547441"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C6C6C6"/>
          </a:solidFill>
        </p:spPr>
        <p:txBody>
          <a:bodyPr wrap="square" lIns="0" tIns="0" rIns="0" bIns="0" rtlCol="0"/>
          <a:lstStyle/>
          <a:p>
            <a:endParaRPr/>
          </a:p>
        </p:txBody>
      </p:sp>
      <p:sp>
        <p:nvSpPr>
          <p:cNvPr id="83" name="object 83"/>
          <p:cNvSpPr/>
          <p:nvPr/>
        </p:nvSpPr>
        <p:spPr>
          <a:xfrm>
            <a:off x="4553765"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D4D4D4"/>
          </a:solidFill>
        </p:spPr>
        <p:txBody>
          <a:bodyPr wrap="square" lIns="0" tIns="0" rIns="0" bIns="0" rtlCol="0"/>
          <a:lstStyle/>
          <a:p>
            <a:endParaRPr/>
          </a:p>
        </p:txBody>
      </p:sp>
      <p:sp>
        <p:nvSpPr>
          <p:cNvPr id="84" name="object 84"/>
          <p:cNvSpPr/>
          <p:nvPr/>
        </p:nvSpPr>
        <p:spPr>
          <a:xfrm>
            <a:off x="4560134"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E2E2E2"/>
          </a:solidFill>
        </p:spPr>
        <p:txBody>
          <a:bodyPr wrap="square" lIns="0" tIns="0" rIns="0" bIns="0" rtlCol="0"/>
          <a:lstStyle/>
          <a:p>
            <a:endParaRPr/>
          </a:p>
        </p:txBody>
      </p:sp>
      <p:sp>
        <p:nvSpPr>
          <p:cNvPr id="85" name="object 85"/>
          <p:cNvSpPr/>
          <p:nvPr/>
        </p:nvSpPr>
        <p:spPr>
          <a:xfrm>
            <a:off x="87882" y="617270"/>
            <a:ext cx="4432935" cy="686435"/>
          </a:xfrm>
          <a:custGeom>
            <a:avLst/>
            <a:gdLst/>
            <a:ahLst/>
            <a:cxnLst/>
            <a:rect l="l" t="t" r="r" b="b"/>
            <a:pathLst>
              <a:path w="4432935" h="686435">
                <a:moveTo>
                  <a:pt x="4432567" y="0"/>
                </a:moveTo>
                <a:lnTo>
                  <a:pt x="0" y="0"/>
                </a:lnTo>
                <a:lnTo>
                  <a:pt x="0" y="635330"/>
                </a:lnTo>
                <a:lnTo>
                  <a:pt x="16583" y="672795"/>
                </a:lnTo>
                <a:lnTo>
                  <a:pt x="50799" y="686130"/>
                </a:lnTo>
                <a:lnTo>
                  <a:pt x="4381767" y="686130"/>
                </a:lnTo>
                <a:lnTo>
                  <a:pt x="4419233" y="669547"/>
                </a:lnTo>
                <a:lnTo>
                  <a:pt x="4432567" y="635330"/>
                </a:lnTo>
                <a:lnTo>
                  <a:pt x="4432567" y="0"/>
                </a:lnTo>
                <a:close/>
              </a:path>
            </a:pathLst>
          </a:custGeom>
          <a:solidFill>
            <a:srgbClr val="FFFFFF"/>
          </a:solidFill>
        </p:spPr>
        <p:txBody>
          <a:bodyPr wrap="square" lIns="0" tIns="0" rIns="0" bIns="0" rtlCol="0"/>
          <a:lstStyle/>
          <a:p>
            <a:endParaRPr/>
          </a:p>
        </p:txBody>
      </p:sp>
      <p:sp>
        <p:nvSpPr>
          <p:cNvPr id="86" name="object 86"/>
          <p:cNvSpPr/>
          <p:nvPr/>
        </p:nvSpPr>
        <p:spPr>
          <a:xfrm>
            <a:off x="4520450" y="661504"/>
            <a:ext cx="0" cy="610235"/>
          </a:xfrm>
          <a:custGeom>
            <a:avLst/>
            <a:gdLst/>
            <a:ahLst/>
            <a:cxnLst/>
            <a:rect l="l" t="t" r="r" b="b"/>
            <a:pathLst>
              <a:path h="610235">
                <a:moveTo>
                  <a:pt x="0" y="610146"/>
                </a:moveTo>
                <a:lnTo>
                  <a:pt x="0" y="0"/>
                </a:lnTo>
              </a:path>
            </a:pathLst>
          </a:custGeom>
          <a:ln w="3175">
            <a:solidFill>
              <a:srgbClr val="7F7F7F"/>
            </a:solidFill>
          </a:ln>
        </p:spPr>
        <p:txBody>
          <a:bodyPr wrap="square" lIns="0" tIns="0" rIns="0" bIns="0" rtlCol="0"/>
          <a:lstStyle/>
          <a:p>
            <a:endParaRPr/>
          </a:p>
        </p:txBody>
      </p:sp>
      <p:sp>
        <p:nvSpPr>
          <p:cNvPr id="87" name="object 87"/>
          <p:cNvSpPr/>
          <p:nvPr/>
        </p:nvSpPr>
        <p:spPr>
          <a:xfrm>
            <a:off x="4520450" y="648804"/>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88" name="object 88"/>
          <p:cNvSpPr/>
          <p:nvPr/>
        </p:nvSpPr>
        <p:spPr>
          <a:xfrm>
            <a:off x="4520450" y="636104"/>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89" name="object 89"/>
          <p:cNvSpPr/>
          <p:nvPr/>
        </p:nvSpPr>
        <p:spPr>
          <a:xfrm>
            <a:off x="4520450" y="623404"/>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sp>
        <p:nvSpPr>
          <p:cNvPr id="90" name="object 90"/>
          <p:cNvSpPr/>
          <p:nvPr/>
        </p:nvSpPr>
        <p:spPr>
          <a:xfrm>
            <a:off x="4520450" y="604354"/>
            <a:ext cx="0" cy="19050"/>
          </a:xfrm>
          <a:custGeom>
            <a:avLst/>
            <a:gdLst/>
            <a:ahLst/>
            <a:cxnLst/>
            <a:rect l="l" t="t" r="r" b="b"/>
            <a:pathLst>
              <a:path h="19050">
                <a:moveTo>
                  <a:pt x="0" y="19050"/>
                </a:moveTo>
                <a:lnTo>
                  <a:pt x="0" y="0"/>
                </a:lnTo>
              </a:path>
            </a:pathLst>
          </a:custGeom>
          <a:ln w="3175">
            <a:solidFill>
              <a:srgbClr val="FFFFFF"/>
            </a:solidFill>
          </a:ln>
        </p:spPr>
        <p:txBody>
          <a:bodyPr wrap="square" lIns="0" tIns="0" rIns="0" bIns="0" rtlCol="0"/>
          <a:lstStyle/>
          <a:p>
            <a:endParaRPr/>
          </a:p>
        </p:txBody>
      </p:sp>
      <p:sp>
        <p:nvSpPr>
          <p:cNvPr id="91" name="object 91"/>
          <p:cNvSpPr txBox="1">
            <a:spLocks noGrp="1"/>
          </p:cNvSpPr>
          <p:nvPr>
            <p:ph type="title"/>
          </p:nvPr>
        </p:nvSpPr>
        <p:spPr>
          <a:xfrm>
            <a:off x="1229818" y="641054"/>
            <a:ext cx="2148696" cy="307777"/>
          </a:xfrm>
          <a:prstGeom prst="rect">
            <a:avLst/>
          </a:prstGeom>
        </p:spPr>
        <p:txBody>
          <a:bodyPr vert="horz" wrap="square" lIns="0" tIns="0" rIns="0" bIns="0" rtlCol="0">
            <a:spAutoFit/>
          </a:bodyPr>
          <a:lstStyle/>
          <a:p>
            <a:pPr marL="12700" algn="ctr">
              <a:lnSpc>
                <a:spcPct val="100000"/>
              </a:lnSpc>
            </a:pPr>
            <a:r>
              <a:rPr lang="zh-CN" altLang="en-US" sz="2000" spc="10" dirty="0">
                <a:latin typeface="DengXian" panose="02010600030101010101" pitchFamily="2" charset="-122"/>
                <a:ea typeface="DengXian" panose="02010600030101010101" pitchFamily="2" charset="-122"/>
              </a:rPr>
              <a:t>宏观经济学</a:t>
            </a:r>
            <a:endParaRPr sz="2000" dirty="0">
              <a:latin typeface="DengXian" panose="02010600030101010101" pitchFamily="2" charset="-122"/>
              <a:ea typeface="DengXian" panose="02010600030101010101" pitchFamily="2" charset="-122"/>
            </a:endParaRPr>
          </a:p>
        </p:txBody>
      </p:sp>
      <p:sp>
        <p:nvSpPr>
          <p:cNvPr id="92" name="object 92"/>
          <p:cNvSpPr txBox="1"/>
          <p:nvPr/>
        </p:nvSpPr>
        <p:spPr>
          <a:xfrm>
            <a:off x="1415984" y="1016050"/>
            <a:ext cx="1827530" cy="184666"/>
          </a:xfrm>
          <a:prstGeom prst="rect">
            <a:avLst/>
          </a:prstGeom>
        </p:spPr>
        <p:txBody>
          <a:bodyPr vert="horz" wrap="square" lIns="0" tIns="0" rIns="0" bIns="0" rtlCol="0">
            <a:spAutoFit/>
          </a:bodyPr>
          <a:lstStyle/>
          <a:p>
            <a:pPr marL="12700" algn="ctr">
              <a:lnSpc>
                <a:spcPct val="100000"/>
              </a:lnSpc>
            </a:pPr>
            <a:r>
              <a:rPr lang="en-US" altLang="zh-CN" sz="1200" spc="-10" dirty="0">
                <a:solidFill>
                  <a:srgbClr val="CC0000"/>
                </a:solidFill>
                <a:latin typeface="Times New Roman"/>
                <a:cs typeface="Times New Roman"/>
              </a:rPr>
              <a:t>Macroeconomics</a:t>
            </a:r>
            <a:endParaRPr sz="1400" baseline="27777" dirty="0">
              <a:latin typeface="Times New Roman"/>
              <a:cs typeface="Times New Roman"/>
            </a:endParaRPr>
          </a:p>
        </p:txBody>
      </p:sp>
      <p:sp>
        <p:nvSpPr>
          <p:cNvPr id="93" name="object 93"/>
          <p:cNvSpPr txBox="1"/>
          <p:nvPr/>
        </p:nvSpPr>
        <p:spPr>
          <a:xfrm>
            <a:off x="2152904" y="1682877"/>
            <a:ext cx="302895" cy="15389"/>
          </a:xfrm>
          <a:prstGeom prst="rect">
            <a:avLst/>
          </a:prstGeom>
        </p:spPr>
        <p:txBody>
          <a:bodyPr vert="horz" wrap="square" lIns="0" tIns="0" rIns="0" bIns="0" rtlCol="0">
            <a:spAutoFit/>
          </a:bodyPr>
          <a:lstStyle/>
          <a:p>
            <a:pPr marL="12700">
              <a:lnSpc>
                <a:spcPct val="100000"/>
              </a:lnSpc>
            </a:pPr>
            <a:r>
              <a:rPr sz="100" i="1" spc="60" dirty="0">
                <a:latin typeface="Times New Roman"/>
                <a:cs typeface="Times New Roman"/>
              </a:rPr>
              <a:t>  </a:t>
            </a:r>
            <a:endParaRPr sz="100">
              <a:latin typeface="Times New Roman"/>
              <a:cs typeface="Times New Roman"/>
            </a:endParaRPr>
          </a:p>
        </p:txBody>
      </p:sp>
      <p:sp>
        <p:nvSpPr>
          <p:cNvPr id="94" name="object 94"/>
          <p:cNvSpPr txBox="1"/>
          <p:nvPr/>
        </p:nvSpPr>
        <p:spPr>
          <a:xfrm>
            <a:off x="92008" y="1471712"/>
            <a:ext cx="4387324" cy="292709"/>
          </a:xfrm>
          <a:prstGeom prst="rect">
            <a:avLst/>
          </a:prstGeom>
        </p:spPr>
        <p:txBody>
          <a:bodyPr vert="horz" wrap="square" lIns="0" tIns="0" rIns="0" bIns="0" rtlCol="0">
            <a:spAutoFit/>
          </a:bodyPr>
          <a:lstStyle/>
          <a:p>
            <a:pPr marL="635" algn="ctr">
              <a:lnSpc>
                <a:spcPct val="130000"/>
              </a:lnSpc>
            </a:pPr>
            <a:r>
              <a:rPr lang="zh-CN" altLang="en-US" sz="1600" b="1" spc="-15" dirty="0">
                <a:latin typeface="Garamond" panose="02020404030301010803" pitchFamily="18" charset="0"/>
                <a:ea typeface="KaiTi" panose="02010609060101010101" pitchFamily="49" charset="-122"/>
                <a:cs typeface="Times New Roman"/>
              </a:rPr>
              <a:t>第二章 短期经济波动模型：产品市场的均衡</a:t>
            </a:r>
            <a:endParaRPr lang="en-US" altLang="zh-CN" sz="1600" b="1" spc="-15" dirty="0">
              <a:latin typeface="Garamond" panose="02020404030301010803" pitchFamily="18" charset="0"/>
              <a:ea typeface="KaiTi" panose="02010609060101010101" pitchFamily="49" charset="-122"/>
              <a:cs typeface="Times New Roman"/>
            </a:endParaRPr>
          </a:p>
        </p:txBody>
      </p:sp>
      <p:sp>
        <p:nvSpPr>
          <p:cNvPr id="95" name="object 99">
            <a:extLst>
              <a:ext uri="{FF2B5EF4-FFF2-40B4-BE49-F238E27FC236}">
                <a16:creationId xmlns:a16="http://schemas.microsoft.com/office/drawing/2014/main" id="{E8E3B86C-982D-8D12-0168-A78FC8884DE8}"/>
              </a:ext>
            </a:extLst>
          </p:cNvPr>
          <p:cNvSpPr/>
          <p:nvPr/>
        </p:nvSpPr>
        <p:spPr>
          <a:xfrm>
            <a:off x="-152" y="3345713"/>
            <a:ext cx="4608093" cy="111252"/>
          </a:xfrm>
          <a:prstGeom prst="rect">
            <a:avLst/>
          </a:prstGeom>
          <a:blipFill>
            <a:blip r:embed="rId5" cstate="print"/>
            <a:stretch>
              <a:fillRect/>
            </a:stretch>
          </a:blipFill>
        </p:spPr>
        <p:txBody>
          <a:bodyPr wrap="square" lIns="0" tIns="0" rIns="0" bIns="0" rtlCol="0"/>
          <a:lstStyle/>
          <a:p>
            <a:endParaRPr/>
          </a:p>
        </p:txBody>
      </p:sp>
      <p:sp>
        <p:nvSpPr>
          <p:cNvPr id="96" name="object 100">
            <a:extLst>
              <a:ext uri="{FF2B5EF4-FFF2-40B4-BE49-F238E27FC236}">
                <a16:creationId xmlns:a16="http://schemas.microsoft.com/office/drawing/2014/main" id="{FCB83B91-3B30-5E31-0A02-C4B58223A209}"/>
              </a:ext>
            </a:extLst>
          </p:cNvPr>
          <p:cNvSpPr txBox="1"/>
          <p:nvPr/>
        </p:nvSpPr>
        <p:spPr>
          <a:xfrm>
            <a:off x="68074" y="3347973"/>
            <a:ext cx="1401445" cy="89768"/>
          </a:xfrm>
          <a:prstGeom prst="rect">
            <a:avLst/>
          </a:prstGeom>
        </p:spPr>
        <p:txBody>
          <a:bodyPr vert="horz" wrap="square" lIns="0" tIns="0" rIns="0" bIns="0" rtlCol="0">
            <a:spAutoFit/>
          </a:bodyPr>
          <a:lstStyle/>
          <a:p>
            <a:pPr marL="12700">
              <a:lnSpc>
                <a:spcPts val="700"/>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600" spc="-5" dirty="0">
                <a:solidFill>
                  <a:srgbClr val="F2F2F2"/>
                </a:solidFill>
                <a:latin typeface="Times New Roman"/>
                <a:cs typeface="Times New Roman"/>
              </a:rPr>
              <a:t>(</a:t>
            </a:r>
            <a:r>
              <a:rPr lang="en-US" sz="600" spc="-5" dirty="0">
                <a:solidFill>
                  <a:srgbClr val="F2F2F2"/>
                </a:solidFill>
                <a:latin typeface="Times New Roman"/>
                <a:cs typeface="Times New Roman"/>
              </a:rPr>
              <a:t>Zhiqing Yang</a:t>
            </a:r>
            <a:r>
              <a:rPr sz="600" spc="135" dirty="0">
                <a:solidFill>
                  <a:srgbClr val="F2F2F2"/>
                </a:solidFill>
                <a:latin typeface="Times New Roman"/>
                <a:cs typeface="Times New Roman"/>
              </a:rPr>
              <a:t> </a:t>
            </a:r>
            <a:r>
              <a:rPr lang="en-US" altLang="zh-CN" sz="600" spc="-5" dirty="0" err="1">
                <a:solidFill>
                  <a:srgbClr val="F2F2F2"/>
                </a:solidFill>
                <a:latin typeface="Times New Roman"/>
                <a:cs typeface="Times New Roman"/>
              </a:rPr>
              <a:t>yangzhiqing</a:t>
            </a:r>
            <a:r>
              <a:rPr sz="600" spc="-5" dirty="0" err="1">
                <a:solidFill>
                  <a:srgbClr val="F2F2F2"/>
                </a:solidFill>
                <a:latin typeface="Times New Roman"/>
                <a:cs typeface="Times New Roman"/>
              </a:rPr>
              <a:t>@</a:t>
            </a:r>
            <a:r>
              <a:rPr lang="en-US" sz="600" spc="-5" dirty="0" err="1">
                <a:solidFill>
                  <a:srgbClr val="F2F2F2"/>
                </a:solidFill>
                <a:latin typeface="Times New Roman"/>
                <a:cs typeface="Times New Roman"/>
              </a:rPr>
              <a:t>hust.edu.cn</a:t>
            </a:r>
            <a:r>
              <a:rPr sz="600" spc="-5" dirty="0">
                <a:solidFill>
                  <a:srgbClr val="F2F2F2"/>
                </a:solidFill>
                <a:latin typeface="Times New Roman"/>
                <a:cs typeface="Times New Roman"/>
              </a:rPr>
              <a:t>)</a:t>
            </a:r>
            <a:endParaRPr sz="600" dirty="0">
              <a:latin typeface="Times New Roman"/>
              <a:cs typeface="Times New Roman"/>
            </a:endParaRPr>
          </a:p>
        </p:txBody>
      </p:sp>
      <p:sp>
        <p:nvSpPr>
          <p:cNvPr id="104" name="object 102">
            <a:extLst>
              <a:ext uri="{FF2B5EF4-FFF2-40B4-BE49-F238E27FC236}">
                <a16:creationId xmlns:a16="http://schemas.microsoft.com/office/drawing/2014/main" id="{12EBC35F-69B2-4F45-2870-CA7DEA30B00E}"/>
              </a:ext>
            </a:extLst>
          </p:cNvPr>
          <p:cNvSpPr txBox="1"/>
          <p:nvPr/>
        </p:nvSpPr>
        <p:spPr>
          <a:xfrm>
            <a:off x="3762247" y="3347973"/>
            <a:ext cx="448945" cy="89768"/>
          </a:xfrm>
          <a:prstGeom prst="rect">
            <a:avLst/>
          </a:prstGeom>
        </p:spPr>
        <p:txBody>
          <a:bodyPr vert="horz" wrap="square" lIns="0" tIns="0" rIns="0" bIns="0" rtlCol="0">
            <a:spAutoFit/>
          </a:bodyPr>
          <a:lstStyle/>
          <a:p>
            <a:pPr marL="12700">
              <a:lnSpc>
                <a:spcPts val="700"/>
              </a:lnSpc>
            </a:pPr>
            <a:r>
              <a:rPr sz="600" spc="-5" dirty="0">
                <a:solidFill>
                  <a:srgbClr val="7A0000"/>
                </a:solidFill>
                <a:latin typeface="Times New Roman"/>
                <a:cs typeface="Times New Roman"/>
              </a:rPr>
              <a:t>20</a:t>
            </a:r>
            <a:r>
              <a:rPr lang="en-US" sz="600" spc="-5" dirty="0">
                <a:solidFill>
                  <a:srgbClr val="7A0000"/>
                </a:solidFill>
                <a:latin typeface="Times New Roman"/>
                <a:cs typeface="Times New Roman"/>
              </a:rPr>
              <a:t>23</a:t>
            </a:r>
            <a:r>
              <a:rPr sz="600" spc="-5" dirty="0">
                <a:solidFill>
                  <a:srgbClr val="7A0000"/>
                </a:solidFill>
                <a:latin typeface="Times New Roman"/>
                <a:cs typeface="Times New Roman"/>
              </a:rPr>
              <a:t>-</a:t>
            </a:r>
            <a:r>
              <a:rPr lang="en-US" sz="600" spc="-5" dirty="0">
                <a:solidFill>
                  <a:srgbClr val="7A0000"/>
                </a:solidFill>
                <a:latin typeface="Times New Roman"/>
                <a:cs typeface="Times New Roman"/>
              </a:rPr>
              <a:t>Feb</a:t>
            </a:r>
            <a:endParaRPr sz="600" dirty="0">
              <a:latin typeface="Times New Roman"/>
              <a:cs typeface="Times New Roman"/>
            </a:endParaRPr>
          </a:p>
        </p:txBody>
      </p:sp>
    </p:spTree>
    <p:extLst>
      <p:ext uri="{BB962C8B-B14F-4D97-AF65-F5344CB8AC3E}">
        <p14:creationId xmlns:p14="http://schemas.microsoft.com/office/powerpoint/2010/main" val="3610910616"/>
      </p:ext>
    </p:extLst>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a:extLst>
              <a:ext uri="{FF2B5EF4-FFF2-40B4-BE49-F238E27FC236}">
                <a16:creationId xmlns:a16="http://schemas.microsoft.com/office/drawing/2014/main" id="{52AE4F3F-8DA5-30E2-BF15-00A15F9F6A89}"/>
              </a:ext>
            </a:extLst>
          </p:cNvPr>
          <p:cNvSpPr txBox="1">
            <a:spLocks/>
          </p:cNvSpPr>
          <p:nvPr/>
        </p:nvSpPr>
        <p:spPr>
          <a:xfrm>
            <a:off x="-1" y="144712"/>
            <a:ext cx="4603865" cy="471996"/>
          </a:xfrm>
          <a:prstGeom prst="rect">
            <a:avLst/>
          </a:prstGeom>
          <a:noFill/>
        </p:spPr>
        <p:txBody>
          <a:bodyPr wrap="square" lIns="0" tIns="0" rIns="0" bIns="0">
            <a:normAutofit/>
          </a:bodyPr>
          <a:lstStyle>
            <a:lvl1pPr marL="0" eaLnBrk="1" hangingPunct="1">
              <a:defRPr sz="1000" b="0" i="0">
                <a:solidFill>
                  <a:schemeClr val="tx1"/>
                </a:solidFill>
                <a:latin typeface="Times New Roman"/>
                <a:ea typeface="+mn-ea"/>
                <a:cs typeface="Times New Roman"/>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algn="ctr">
              <a:lnSpc>
                <a:spcPct val="140000"/>
              </a:lnSpc>
            </a:pPr>
            <a:r>
              <a:rPr lang="zh-CN" altLang="en-US" sz="1800" kern="0" dirty="0">
                <a:solidFill>
                  <a:srgbClr val="C00000"/>
                </a:solidFill>
                <a:latin typeface="Microsoft YaHei" panose="020B0503020204020204" pitchFamily="34" charset="-122"/>
                <a:ea typeface="Microsoft YaHei" panose="020B0503020204020204" pitchFamily="34" charset="-122"/>
              </a:rPr>
              <a:t>本章内容</a:t>
            </a:r>
            <a:endParaRPr lang="en-US" altLang="zh-CN" sz="1800" kern="0" dirty="0">
              <a:solidFill>
                <a:srgbClr val="C00000"/>
              </a:solidFill>
              <a:latin typeface="Microsoft YaHei" panose="020B0503020204020204" pitchFamily="34" charset="-122"/>
              <a:ea typeface="Microsoft YaHei" panose="020B0503020204020204" pitchFamily="34" charset="-122"/>
            </a:endParaRPr>
          </a:p>
        </p:txBody>
      </p:sp>
      <p:sp>
        <p:nvSpPr>
          <p:cNvPr id="2" name="Rectangle 3">
            <a:extLst>
              <a:ext uri="{FF2B5EF4-FFF2-40B4-BE49-F238E27FC236}">
                <a16:creationId xmlns:a16="http://schemas.microsoft.com/office/drawing/2014/main" id="{F46EEACB-6D97-FCA1-E3DD-9171829BE6B6}"/>
              </a:ext>
            </a:extLst>
          </p:cNvPr>
          <p:cNvSpPr txBox="1">
            <a:spLocks noChangeArrowheads="1"/>
          </p:cNvSpPr>
          <p:nvPr/>
        </p:nvSpPr>
        <p:spPr>
          <a:xfrm>
            <a:off x="288826" y="616708"/>
            <a:ext cx="3888432" cy="1618713"/>
          </a:xfrm>
          <a:prstGeom prst="rect">
            <a:avLst/>
          </a:prstGeom>
        </p:spPr>
        <p:txBody>
          <a:bodyPr wrap="square" lIns="0" tIns="0" rIns="0" bIns="0">
            <a:spAutoFit/>
          </a:bodyPr>
          <a:lstStyle>
            <a:lvl1pPr marL="0" eaLnBrk="1" hangingPunct="1">
              <a:defRPr sz="1000" b="0" i="0">
                <a:solidFill>
                  <a:schemeClr val="tx1"/>
                </a:solidFill>
                <a:latin typeface="Times New Roman"/>
                <a:ea typeface="SimSun" panose="02010600030101010101" pitchFamily="2" charset="-122"/>
                <a:cs typeface="Times New Roman"/>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marL="171450" indent="-171450">
              <a:lnSpc>
                <a:spcPct val="150000"/>
              </a:lnSpc>
              <a:buFont typeface="Wingdings" pitchFamily="2" charset="2"/>
              <a:buChar char="u"/>
            </a:pPr>
            <a:r>
              <a:rPr lang="zh-CN" altLang="en-US" sz="1200" kern="0" dirty="0">
                <a:latin typeface="Garamond" panose="02020404030301010803" pitchFamily="18" charset="0"/>
                <a:ea typeface="KaiTi" panose="02010609060101010101" pitchFamily="49" charset="-122"/>
              </a:rPr>
              <a:t>第</a:t>
            </a:r>
            <a:r>
              <a:rPr lang="en-US" altLang="zh-CN" sz="1200" kern="0" dirty="0">
                <a:latin typeface="Garamond" panose="02020404030301010803" pitchFamily="18" charset="0"/>
                <a:ea typeface="KaiTi" panose="02010609060101010101" pitchFamily="49" charset="-122"/>
              </a:rPr>
              <a:t>1</a:t>
            </a:r>
            <a:r>
              <a:rPr lang="zh-CN" altLang="en-US" sz="1200" kern="0" dirty="0">
                <a:latin typeface="Garamond" panose="02020404030301010803" pitchFamily="18" charset="0"/>
                <a:ea typeface="KaiTi" panose="02010609060101010101" pitchFamily="49" charset="-122"/>
              </a:rPr>
              <a:t>节 均衡国民收入的决定</a:t>
            </a:r>
            <a:endParaRPr lang="en-US" altLang="zh-CN" sz="1200" kern="0" dirty="0">
              <a:latin typeface="Garamond" panose="02020404030301010803" pitchFamily="18" charset="0"/>
              <a:ea typeface="KaiTi" panose="02010609060101010101" pitchFamily="49" charset="-122"/>
            </a:endParaRPr>
          </a:p>
          <a:p>
            <a:pPr marL="171450" indent="-171450">
              <a:lnSpc>
                <a:spcPct val="150000"/>
              </a:lnSpc>
              <a:buFont typeface="Wingdings" pitchFamily="2" charset="2"/>
              <a:buChar char="u"/>
            </a:pPr>
            <a:r>
              <a:rPr lang="zh-CN" altLang="en-US" sz="1200" kern="0" dirty="0">
                <a:latin typeface="Garamond" panose="02020404030301010803" pitchFamily="18" charset="0"/>
                <a:ea typeface="KaiTi" panose="02010609060101010101" pitchFamily="49" charset="-122"/>
              </a:rPr>
              <a:t>第</a:t>
            </a:r>
            <a:r>
              <a:rPr lang="en-US" altLang="zh-CN" sz="1200" kern="0" dirty="0">
                <a:latin typeface="Garamond" panose="02020404030301010803" pitchFamily="18" charset="0"/>
                <a:ea typeface="KaiTi" panose="02010609060101010101" pitchFamily="49" charset="-122"/>
              </a:rPr>
              <a:t>2</a:t>
            </a:r>
            <a:r>
              <a:rPr lang="zh-CN" altLang="en-US" sz="1200" kern="0" dirty="0">
                <a:latin typeface="Garamond" panose="02020404030301010803" pitchFamily="18" charset="0"/>
                <a:ea typeface="KaiTi" panose="02010609060101010101" pitchFamily="49" charset="-122"/>
              </a:rPr>
              <a:t>节</a:t>
            </a:r>
            <a:r>
              <a:rPr lang="en-US" altLang="zh-CN" sz="1200" kern="0" dirty="0">
                <a:latin typeface="Garamond" panose="02020404030301010803" pitchFamily="18" charset="0"/>
                <a:ea typeface="KaiTi" panose="02010609060101010101" pitchFamily="49" charset="-122"/>
              </a:rPr>
              <a:t> </a:t>
            </a:r>
            <a:r>
              <a:rPr lang="zh-CN" altLang="en-US" sz="1200" kern="0" dirty="0">
                <a:latin typeface="Garamond" panose="02020404030301010803" pitchFamily="18" charset="0"/>
                <a:ea typeface="KaiTi" panose="02010609060101010101" pitchFamily="49" charset="-122"/>
              </a:rPr>
              <a:t>短期国民收入的决定因素：消费需求和储蓄</a:t>
            </a:r>
          </a:p>
          <a:p>
            <a:pPr marL="171450" indent="-171450">
              <a:lnSpc>
                <a:spcPct val="150000"/>
              </a:lnSpc>
              <a:buFont typeface="Wingdings" pitchFamily="2" charset="2"/>
              <a:buChar char="u"/>
            </a:pPr>
            <a:r>
              <a:rPr lang="zh-CN" altLang="en-US" sz="1200" kern="0" dirty="0">
                <a:latin typeface="Garamond" panose="02020404030301010803" pitchFamily="18" charset="0"/>
                <a:ea typeface="KaiTi" panose="02010609060101010101" pitchFamily="49" charset="-122"/>
              </a:rPr>
              <a:t>第</a:t>
            </a:r>
            <a:r>
              <a:rPr lang="en-US" altLang="zh-CN" sz="1200" kern="0" dirty="0">
                <a:latin typeface="Garamond" panose="02020404030301010803" pitchFamily="18" charset="0"/>
                <a:ea typeface="KaiTi" panose="02010609060101010101" pitchFamily="49" charset="-122"/>
              </a:rPr>
              <a:t>3</a:t>
            </a:r>
            <a:r>
              <a:rPr lang="zh-CN" altLang="en-US" sz="1200" kern="0" dirty="0">
                <a:latin typeface="Garamond" panose="02020404030301010803" pitchFamily="18" charset="0"/>
                <a:ea typeface="KaiTi" panose="02010609060101010101" pitchFamily="49" charset="-122"/>
              </a:rPr>
              <a:t>节</a:t>
            </a:r>
            <a:r>
              <a:rPr lang="en-US" altLang="zh-CN" sz="1200" kern="0" dirty="0">
                <a:latin typeface="Garamond" panose="02020404030301010803" pitchFamily="18" charset="0"/>
                <a:ea typeface="KaiTi" panose="02010609060101010101" pitchFamily="49" charset="-122"/>
              </a:rPr>
              <a:t> </a:t>
            </a:r>
            <a:r>
              <a:rPr lang="zh-CN" altLang="en-US" sz="1200" kern="0" dirty="0">
                <a:latin typeface="Garamond" panose="02020404030301010803" pitchFamily="18" charset="0"/>
                <a:ea typeface="KaiTi" panose="02010609060101010101" pitchFamily="49" charset="-122"/>
              </a:rPr>
              <a:t>短期国民收入的决定因素：投资需求</a:t>
            </a:r>
          </a:p>
          <a:p>
            <a:pPr marL="171450" indent="-171450">
              <a:lnSpc>
                <a:spcPct val="150000"/>
              </a:lnSpc>
              <a:buFont typeface="Wingdings" pitchFamily="2" charset="2"/>
              <a:buChar char="u"/>
            </a:pPr>
            <a:r>
              <a:rPr lang="zh-CN" altLang="en-US" sz="1200" kern="0" dirty="0">
                <a:solidFill>
                  <a:schemeClr val="tx1">
                    <a:lumMod val="50000"/>
                    <a:lumOff val="50000"/>
                  </a:schemeClr>
                </a:solidFill>
                <a:latin typeface="Garamond" panose="02020404030301010803" pitchFamily="18" charset="0"/>
                <a:ea typeface="KaiTi" panose="02010609060101010101" pitchFamily="49" charset="-122"/>
              </a:rPr>
              <a:t>第</a:t>
            </a:r>
            <a:r>
              <a:rPr lang="en-US" altLang="zh-CN" sz="1200" kern="0" dirty="0">
                <a:solidFill>
                  <a:schemeClr val="tx1">
                    <a:lumMod val="50000"/>
                    <a:lumOff val="50000"/>
                  </a:schemeClr>
                </a:solidFill>
                <a:latin typeface="Garamond" panose="02020404030301010803" pitchFamily="18" charset="0"/>
                <a:ea typeface="KaiTi" panose="02010609060101010101" pitchFamily="49" charset="-122"/>
              </a:rPr>
              <a:t>4</a:t>
            </a:r>
            <a:r>
              <a:rPr lang="zh-CN" altLang="en-US" sz="1200" kern="0" dirty="0">
                <a:solidFill>
                  <a:schemeClr val="tx1">
                    <a:lumMod val="50000"/>
                    <a:lumOff val="50000"/>
                  </a:schemeClr>
                </a:solidFill>
                <a:latin typeface="Garamond" panose="02020404030301010803" pitchFamily="18" charset="0"/>
                <a:ea typeface="KaiTi" panose="02010609060101010101" pitchFamily="49" charset="-122"/>
              </a:rPr>
              <a:t>节</a:t>
            </a:r>
            <a:r>
              <a:rPr lang="en-US" altLang="zh-CN" sz="1200" kern="0" dirty="0">
                <a:solidFill>
                  <a:schemeClr val="tx1">
                    <a:lumMod val="50000"/>
                    <a:lumOff val="50000"/>
                  </a:schemeClr>
                </a:solidFill>
                <a:latin typeface="Garamond" panose="02020404030301010803" pitchFamily="18" charset="0"/>
                <a:ea typeface="KaiTi" panose="02010609060101010101" pitchFamily="49" charset="-122"/>
              </a:rPr>
              <a:t> </a:t>
            </a:r>
            <a:r>
              <a:rPr lang="zh-CN" altLang="en-US" sz="1200" kern="0" dirty="0">
                <a:solidFill>
                  <a:schemeClr val="tx1">
                    <a:lumMod val="50000"/>
                    <a:lumOff val="50000"/>
                  </a:schemeClr>
                </a:solidFill>
                <a:latin typeface="Garamond" panose="02020404030301010803" pitchFamily="18" charset="0"/>
                <a:ea typeface="KaiTi" panose="02010609060101010101" pitchFamily="49" charset="-122"/>
              </a:rPr>
              <a:t>短期国民收入的决定因素：政府需求</a:t>
            </a:r>
            <a:endParaRPr lang="en-US" altLang="zh-CN" sz="1200" kern="0" dirty="0">
              <a:solidFill>
                <a:schemeClr val="tx1">
                  <a:lumMod val="50000"/>
                  <a:lumOff val="50000"/>
                </a:schemeClr>
              </a:solidFill>
              <a:latin typeface="Garamond" panose="02020404030301010803" pitchFamily="18" charset="0"/>
              <a:ea typeface="KaiTi" panose="02010609060101010101" pitchFamily="49" charset="-122"/>
            </a:endParaRPr>
          </a:p>
          <a:p>
            <a:pPr marL="171450" indent="-171450">
              <a:lnSpc>
                <a:spcPct val="150000"/>
              </a:lnSpc>
              <a:buFont typeface="Wingdings" pitchFamily="2" charset="2"/>
              <a:buChar char="u"/>
            </a:pPr>
            <a:r>
              <a:rPr lang="zh-CN" altLang="en-US" sz="1200" kern="0" dirty="0">
                <a:solidFill>
                  <a:schemeClr val="tx1">
                    <a:lumMod val="50000"/>
                    <a:lumOff val="50000"/>
                  </a:schemeClr>
                </a:solidFill>
                <a:latin typeface="Garamond" panose="02020404030301010803" pitchFamily="18" charset="0"/>
                <a:ea typeface="KaiTi" panose="02010609060101010101" pitchFamily="49" charset="-122"/>
              </a:rPr>
              <a:t>第</a:t>
            </a:r>
            <a:r>
              <a:rPr lang="en-US" altLang="zh-CN" sz="1200" kern="0" dirty="0">
                <a:solidFill>
                  <a:schemeClr val="tx1">
                    <a:lumMod val="50000"/>
                    <a:lumOff val="50000"/>
                  </a:schemeClr>
                </a:solidFill>
                <a:latin typeface="Garamond" panose="02020404030301010803" pitchFamily="18" charset="0"/>
                <a:ea typeface="KaiTi" panose="02010609060101010101" pitchFamily="49" charset="-122"/>
              </a:rPr>
              <a:t>5</a:t>
            </a:r>
            <a:r>
              <a:rPr lang="zh-CN" altLang="en-US" sz="1200" kern="0" dirty="0">
                <a:solidFill>
                  <a:schemeClr val="tx1">
                    <a:lumMod val="50000"/>
                    <a:lumOff val="50000"/>
                  </a:schemeClr>
                </a:solidFill>
                <a:latin typeface="Garamond" panose="02020404030301010803" pitchFamily="18" charset="0"/>
                <a:ea typeface="KaiTi" panose="02010609060101010101" pitchFamily="49" charset="-122"/>
              </a:rPr>
              <a:t>节</a:t>
            </a:r>
            <a:r>
              <a:rPr lang="en-US" altLang="zh-CN" sz="1200" kern="0" dirty="0">
                <a:solidFill>
                  <a:schemeClr val="tx1">
                    <a:lumMod val="50000"/>
                    <a:lumOff val="50000"/>
                  </a:schemeClr>
                </a:solidFill>
                <a:latin typeface="Garamond" panose="02020404030301010803" pitchFamily="18" charset="0"/>
                <a:ea typeface="KaiTi" panose="02010609060101010101" pitchFamily="49" charset="-122"/>
              </a:rPr>
              <a:t> </a:t>
            </a:r>
            <a:r>
              <a:rPr lang="zh-CN" altLang="en-US" sz="1200" kern="0" dirty="0">
                <a:solidFill>
                  <a:schemeClr val="tx1">
                    <a:lumMod val="50000"/>
                    <a:lumOff val="50000"/>
                  </a:schemeClr>
                </a:solidFill>
                <a:latin typeface="Garamond" panose="02020404030301010803" pitchFamily="18" charset="0"/>
                <a:ea typeface="KaiTi" panose="02010609060101010101" pitchFamily="49" charset="-122"/>
              </a:rPr>
              <a:t>短期国民收入的决定因素：国外需求</a:t>
            </a:r>
          </a:p>
          <a:p>
            <a:pPr marL="171450" indent="-171450">
              <a:lnSpc>
                <a:spcPct val="150000"/>
              </a:lnSpc>
              <a:buFont typeface="Wingdings" pitchFamily="2" charset="2"/>
              <a:buChar char="u"/>
            </a:pPr>
            <a:r>
              <a:rPr lang="zh-CN" altLang="en-US" sz="1200" kern="0" dirty="0">
                <a:latin typeface="Garamond" panose="02020404030301010803" pitchFamily="18" charset="0"/>
                <a:ea typeface="KaiTi" panose="02010609060101010101" pitchFamily="49" charset="-122"/>
              </a:rPr>
              <a:t>第</a:t>
            </a:r>
            <a:r>
              <a:rPr lang="en-US" altLang="zh-CN" sz="1200" kern="0" dirty="0">
                <a:latin typeface="Garamond" panose="02020404030301010803" pitchFamily="18" charset="0"/>
                <a:ea typeface="KaiTi" panose="02010609060101010101" pitchFamily="49" charset="-122"/>
              </a:rPr>
              <a:t>6</a:t>
            </a:r>
            <a:r>
              <a:rPr lang="zh-CN" altLang="en-US" sz="1200" kern="0" dirty="0">
                <a:latin typeface="Garamond" panose="02020404030301010803" pitchFamily="18" charset="0"/>
                <a:ea typeface="KaiTi" panose="02010609060101010101" pitchFamily="49" charset="-122"/>
              </a:rPr>
              <a:t>节</a:t>
            </a:r>
            <a:r>
              <a:rPr lang="en-US" altLang="zh-CN" sz="1200" kern="0" dirty="0">
                <a:latin typeface="Garamond" panose="02020404030301010803" pitchFamily="18" charset="0"/>
                <a:ea typeface="KaiTi" panose="02010609060101010101" pitchFamily="49" charset="-122"/>
              </a:rPr>
              <a:t> </a:t>
            </a:r>
            <a:r>
              <a:rPr lang="zh-CN" altLang="en-US" sz="1200" kern="0" dirty="0">
                <a:latin typeface="Garamond" panose="02020404030301010803" pitchFamily="18" charset="0"/>
                <a:ea typeface="KaiTi" panose="02010609060101010101" pitchFamily="49" charset="-122"/>
              </a:rPr>
              <a:t>影响需求的重要因素：乘数</a:t>
            </a:r>
            <a:endParaRPr lang="en-US" altLang="zh-CN" sz="1200" kern="0" dirty="0">
              <a:latin typeface="Garamond" panose="02020404030301010803" pitchFamily="18" charset="0"/>
              <a:ea typeface="KaiTi" panose="02010609060101010101" pitchFamily="49" charset="-122"/>
            </a:endParaRPr>
          </a:p>
        </p:txBody>
      </p:sp>
    </p:spTree>
    <p:extLst>
      <p:ext uri="{BB962C8B-B14F-4D97-AF65-F5344CB8AC3E}">
        <p14:creationId xmlns:p14="http://schemas.microsoft.com/office/powerpoint/2010/main" val="96403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slide(fromBottom)">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slide(fromBottom)">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slide(fromBottom)">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slide(fromBottom)">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slide(fromBottom)">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slide(fromBottom)">
                                      <p:cBhvr>
                                        <p:cTn id="32"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BC16D33D-9AD0-96D6-7FE0-3ADC88F52A1F}"/>
              </a:ext>
            </a:extLst>
          </p:cNvPr>
          <p:cNvSpPr>
            <a:spLocks noGrp="1"/>
          </p:cNvSpPr>
          <p:nvPr>
            <p:ph type="sldNum" sz="quarter" idx="11"/>
          </p:nvPr>
        </p:nvSpPr>
        <p:spPr/>
        <p:txBody>
          <a:bodyPr/>
          <a:lstStyle/>
          <a:p>
            <a:pPr marL="0" marR="0" lvl="0" indent="0" algn="r" defTabSz="461040" rtl="0" eaLnBrk="1" fontAlgn="base" latinLnBrk="0" hangingPunct="1">
              <a:lnSpc>
                <a:spcPct val="100000"/>
              </a:lnSpc>
              <a:spcBef>
                <a:spcPct val="0"/>
              </a:spcBef>
              <a:spcAft>
                <a:spcPct val="0"/>
              </a:spcAft>
              <a:buClrTx/>
              <a:buSzTx/>
              <a:buFontTx/>
              <a:buNone/>
              <a:tabLst/>
              <a:defRPr/>
            </a:pPr>
            <a:fld id="{5F29D802-9977-DB49-B2F7-003DFC871645}" type="slidenum">
              <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rPr>
              <a:pPr marL="0" marR="0" lvl="0" indent="0" algn="r" defTabSz="461040" rtl="0" eaLnBrk="1" fontAlgn="base" latinLnBrk="0" hangingPunct="1">
                <a:lnSpc>
                  <a:spcPct val="100000"/>
                </a:lnSpc>
                <a:spcBef>
                  <a:spcPct val="0"/>
                </a:spcBef>
                <a:spcAft>
                  <a:spcPct val="0"/>
                </a:spcAft>
                <a:buClrTx/>
                <a:buSzTx/>
                <a:buFontTx/>
                <a:buNone/>
                <a:tabLst/>
                <a:defRPr/>
              </a:pPr>
              <a:t>3</a:t>
            </a:fld>
            <a:endParaRPr kumimoji="0" lang="en-US"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12290" name="Rectangle 2">
            <a:extLst>
              <a:ext uri="{FF2B5EF4-FFF2-40B4-BE49-F238E27FC236}">
                <a16:creationId xmlns:a16="http://schemas.microsoft.com/office/drawing/2014/main" id="{18BFC437-1F24-3543-F330-B91B1615E4E3}"/>
              </a:ext>
            </a:extLst>
          </p:cNvPr>
          <p:cNvSpPr>
            <a:spLocks noGrp="1" noChangeArrowheads="1"/>
          </p:cNvSpPr>
          <p:nvPr>
            <p:ph type="title" idx="4294967295"/>
          </p:nvPr>
        </p:nvSpPr>
        <p:spPr/>
        <p:txBody>
          <a:bodyPr/>
          <a:lstStyle/>
          <a:p>
            <a:r>
              <a:rPr lang="zh-CN" altLang="en-US" sz="1815" b="0" dirty="0">
                <a:latin typeface="Microsoft YaHei" panose="020B0503020204020204" pitchFamily="34" charset="-122"/>
                <a:ea typeface="Microsoft YaHei" panose="020B0503020204020204" pitchFamily="34" charset="-122"/>
              </a:rPr>
              <a:t>本章假设</a:t>
            </a:r>
            <a:endParaRPr lang="zh-CN" altLang="zh-CN" sz="1815" b="0" dirty="0">
              <a:latin typeface="Microsoft YaHei" panose="020B0503020204020204" pitchFamily="34" charset="-122"/>
              <a:ea typeface="Microsoft YaHei" panose="020B0503020204020204" pitchFamily="34" charset="-122"/>
            </a:endParaRPr>
          </a:p>
        </p:txBody>
      </p:sp>
      <p:sp>
        <p:nvSpPr>
          <p:cNvPr id="12291" name="Rectangle 3">
            <a:extLst>
              <a:ext uri="{FF2B5EF4-FFF2-40B4-BE49-F238E27FC236}">
                <a16:creationId xmlns:a16="http://schemas.microsoft.com/office/drawing/2014/main" id="{011EDE44-8033-68EF-2BE3-82AE6A931918}"/>
              </a:ext>
            </a:extLst>
          </p:cNvPr>
          <p:cNvSpPr>
            <a:spLocks noGrp="1" noChangeArrowheads="1"/>
          </p:cNvSpPr>
          <p:nvPr>
            <p:ph type="body" idx="4294967295"/>
          </p:nvPr>
        </p:nvSpPr>
        <p:spPr>
          <a:xfrm>
            <a:off x="269723" y="523425"/>
            <a:ext cx="3999422" cy="2583577"/>
          </a:xfrm>
        </p:spPr>
        <p:txBody>
          <a:bodyPr/>
          <a:lstStyle/>
          <a:p>
            <a:r>
              <a:rPr lang="zh-CN" altLang="en-US" sz="1412" dirty="0">
                <a:latin typeface="SimSun" panose="02010600030101010101" pitchFamily="2" charset="-122"/>
                <a:ea typeface="SimSun" panose="02010600030101010101" pitchFamily="2" charset="-122"/>
              </a:rPr>
              <a:t>企业投资是外生变量，即不随利率和产量变化而变动</a:t>
            </a:r>
          </a:p>
          <a:p>
            <a:r>
              <a:rPr lang="zh-CN" altLang="en-US" sz="1412" dirty="0">
                <a:latin typeface="SimSun" panose="02010600030101010101" pitchFamily="2" charset="-122"/>
                <a:ea typeface="SimSun" panose="02010600030101010101" pitchFamily="2" charset="-122"/>
              </a:rPr>
              <a:t>不论需求量为多少，经济制度均能以不变的价格提供相应的供给量（价格黏性）</a:t>
            </a:r>
            <a:endParaRPr lang="en-US" altLang="zh-CN" sz="1412" dirty="0">
              <a:latin typeface="SimSun" panose="02010600030101010101" pitchFamily="2" charset="-122"/>
              <a:ea typeface="SimSun" panose="02010600030101010101" pitchFamily="2" charset="-122"/>
            </a:endParaRPr>
          </a:p>
          <a:p>
            <a:r>
              <a:rPr lang="zh-CN" altLang="en-US" sz="1412" dirty="0">
                <a:latin typeface="SimSun" panose="02010600030101010101" pitchFamily="2" charset="-122"/>
                <a:ea typeface="SimSun" panose="02010600030101010101" pitchFamily="2" charset="-122"/>
              </a:rPr>
              <a:t>折旧和公司未分配利润为零</a:t>
            </a:r>
          </a:p>
          <a:p>
            <a:r>
              <a:rPr lang="zh-CN" altLang="en-US" sz="1412" dirty="0">
                <a:latin typeface="SimSun" panose="02010600030101010101" pitchFamily="2" charset="-122"/>
                <a:ea typeface="SimSun" panose="02010600030101010101" pitchFamily="2" charset="-122"/>
              </a:rPr>
              <a:t>只考虑短期内的国民收入的决定</a:t>
            </a:r>
          </a:p>
          <a:p>
            <a:endParaRPr lang="zh-CN" altLang="en-US" sz="1412" dirty="0">
              <a:latin typeface="SimSun" panose="02010600030101010101" pitchFamily="2" charset="-122"/>
              <a:ea typeface="SimSun" panose="02010600030101010101" pitchFamily="2" charset="-122"/>
            </a:endParaRPr>
          </a:p>
        </p:txBody>
      </p:sp>
    </p:spTree>
    <p:extLst>
      <p:ext uri="{BB962C8B-B14F-4D97-AF65-F5344CB8AC3E}">
        <p14:creationId xmlns:p14="http://schemas.microsoft.com/office/powerpoint/2010/main" val="4273337507"/>
      </p:ext>
    </p:extLst>
  </p:cSld>
  <p:clrMapOvr>
    <a:masterClrMapping/>
  </p:clrMapOvr>
  <p:transition>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object 30"/>
          <p:cNvSpPr/>
          <p:nvPr/>
        </p:nvSpPr>
        <p:spPr>
          <a:xfrm>
            <a:off x="1963" y="1588"/>
            <a:ext cx="4603865" cy="143124"/>
          </a:xfrm>
          <a:prstGeom prst="rect">
            <a:avLst/>
          </a:prstGeom>
          <a:blipFill>
            <a:blip r:embed="rId2" cstate="print"/>
            <a:stretch>
              <a:fillRect/>
            </a:stretch>
          </a:blipFill>
        </p:spPr>
        <p:txBody>
          <a:bodyPr wrap="square" lIns="0" tIns="0" rIns="0" bIns="0" rtlCol="0"/>
          <a:lstStyle/>
          <a:p>
            <a:pPr defTabSz="230520"/>
            <a:endParaRPr sz="1798">
              <a:solidFill>
                <a:prstClr val="black"/>
              </a:solidFill>
              <a:latin typeface="Calibri" panose="020F0502020204030204"/>
            </a:endParaRPr>
          </a:p>
        </p:txBody>
      </p:sp>
      <p:sp>
        <p:nvSpPr>
          <p:cNvPr id="31" name="object 31"/>
          <p:cNvSpPr/>
          <p:nvPr/>
        </p:nvSpPr>
        <p:spPr>
          <a:xfrm>
            <a:off x="89917" y="574467"/>
            <a:ext cx="4428868" cy="82474"/>
          </a:xfrm>
          <a:custGeom>
            <a:avLst/>
            <a:gdLst/>
            <a:ahLst/>
            <a:cxnLst/>
            <a:rect l="l" t="t" r="r" b="b"/>
            <a:pathLst>
              <a:path w="4432935" h="82550">
                <a:moveTo>
                  <a:pt x="4381767" y="0"/>
                </a:moveTo>
                <a:lnTo>
                  <a:pt x="50799" y="0"/>
                </a:lnTo>
                <a:lnTo>
                  <a:pt x="45925" y="233"/>
                </a:lnTo>
                <a:lnTo>
                  <a:pt x="10386" y="20111"/>
                </a:lnTo>
                <a:lnTo>
                  <a:pt x="0" y="50800"/>
                </a:lnTo>
                <a:lnTo>
                  <a:pt x="0" y="82384"/>
                </a:lnTo>
                <a:lnTo>
                  <a:pt x="4432567" y="82384"/>
                </a:lnTo>
                <a:lnTo>
                  <a:pt x="4432567" y="50800"/>
                </a:lnTo>
                <a:lnTo>
                  <a:pt x="4415984" y="13334"/>
                </a:lnTo>
                <a:lnTo>
                  <a:pt x="4381767" y="0"/>
                </a:lnTo>
                <a:close/>
              </a:path>
            </a:pathLst>
          </a:custGeom>
          <a:solidFill>
            <a:srgbClr val="FFFFFF"/>
          </a:solidFill>
        </p:spPr>
        <p:txBody>
          <a:bodyPr wrap="square" lIns="0" tIns="0" rIns="0" bIns="0" rtlCol="0"/>
          <a:lstStyle/>
          <a:p>
            <a:pPr defTabSz="230520"/>
            <a:endParaRPr sz="1798">
              <a:solidFill>
                <a:prstClr val="black"/>
              </a:solidFill>
              <a:latin typeface="Calibri" panose="020F0502020204030204"/>
            </a:endParaRPr>
          </a:p>
        </p:txBody>
      </p:sp>
      <p:sp>
        <p:nvSpPr>
          <p:cNvPr id="33" name="object 33"/>
          <p:cNvSpPr/>
          <p:nvPr/>
        </p:nvSpPr>
        <p:spPr>
          <a:xfrm>
            <a:off x="4449426" y="1234800"/>
            <a:ext cx="122125" cy="125186"/>
          </a:xfrm>
          <a:prstGeom prst="rect">
            <a:avLst/>
          </a:prstGeom>
          <a:blipFill>
            <a:blip r:embed="rId3" cstate="print"/>
            <a:stretch>
              <a:fillRect/>
            </a:stretch>
          </a:blipFill>
        </p:spPr>
        <p:txBody>
          <a:bodyPr wrap="square" lIns="0" tIns="0" rIns="0" bIns="0" rtlCol="0"/>
          <a:lstStyle/>
          <a:p>
            <a:pPr defTabSz="230520"/>
            <a:endParaRPr sz="1798">
              <a:solidFill>
                <a:prstClr val="black"/>
              </a:solidFill>
              <a:latin typeface="Calibri" panose="020F0502020204030204"/>
            </a:endParaRPr>
          </a:p>
        </p:txBody>
      </p:sp>
      <p:sp>
        <p:nvSpPr>
          <p:cNvPr id="34" name="object 34"/>
          <p:cNvSpPr/>
          <p:nvPr/>
        </p:nvSpPr>
        <p:spPr>
          <a:xfrm>
            <a:off x="191423" y="1286349"/>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pPr defTabSz="230520"/>
            <a:endParaRPr sz="1798">
              <a:solidFill>
                <a:prstClr val="black"/>
              </a:solidFill>
              <a:latin typeface="Calibri" panose="020F0502020204030204"/>
            </a:endParaRPr>
          </a:p>
        </p:txBody>
      </p:sp>
      <p:sp>
        <p:nvSpPr>
          <p:cNvPr id="35" name="object 35"/>
          <p:cNvSpPr/>
          <p:nvPr/>
        </p:nvSpPr>
        <p:spPr>
          <a:xfrm>
            <a:off x="191423" y="1292693"/>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pPr defTabSz="230520"/>
            <a:endParaRPr sz="1798">
              <a:solidFill>
                <a:prstClr val="black"/>
              </a:solidFill>
              <a:latin typeface="Calibri" panose="020F0502020204030204"/>
            </a:endParaRPr>
          </a:p>
        </p:txBody>
      </p:sp>
      <p:sp>
        <p:nvSpPr>
          <p:cNvPr id="36" name="object 36"/>
          <p:cNvSpPr/>
          <p:nvPr/>
        </p:nvSpPr>
        <p:spPr>
          <a:xfrm>
            <a:off x="191423" y="1299034"/>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pPr defTabSz="230520"/>
            <a:endParaRPr sz="1798">
              <a:solidFill>
                <a:prstClr val="black"/>
              </a:solidFill>
              <a:latin typeface="Calibri" panose="020F0502020204030204"/>
            </a:endParaRPr>
          </a:p>
        </p:txBody>
      </p:sp>
      <p:sp>
        <p:nvSpPr>
          <p:cNvPr id="37" name="object 37"/>
          <p:cNvSpPr/>
          <p:nvPr/>
        </p:nvSpPr>
        <p:spPr>
          <a:xfrm>
            <a:off x="191423" y="1299034"/>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pPr defTabSz="230520"/>
            <a:endParaRPr sz="1798">
              <a:solidFill>
                <a:prstClr val="black"/>
              </a:solidFill>
              <a:latin typeface="Calibri" panose="020F0502020204030204"/>
            </a:endParaRPr>
          </a:p>
        </p:txBody>
      </p:sp>
      <p:sp>
        <p:nvSpPr>
          <p:cNvPr id="38" name="object 38"/>
          <p:cNvSpPr/>
          <p:nvPr/>
        </p:nvSpPr>
        <p:spPr>
          <a:xfrm>
            <a:off x="191423" y="1305379"/>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8D8D8D"/>
          </a:solidFill>
        </p:spPr>
        <p:txBody>
          <a:bodyPr wrap="square" lIns="0" tIns="0" rIns="0" bIns="0" rtlCol="0"/>
          <a:lstStyle/>
          <a:p>
            <a:pPr defTabSz="230520"/>
            <a:endParaRPr sz="1798">
              <a:solidFill>
                <a:prstClr val="black"/>
              </a:solidFill>
              <a:latin typeface="Calibri" panose="020F0502020204030204"/>
            </a:endParaRPr>
          </a:p>
        </p:txBody>
      </p:sp>
      <p:sp>
        <p:nvSpPr>
          <p:cNvPr id="39" name="object 39"/>
          <p:cNvSpPr/>
          <p:nvPr/>
        </p:nvSpPr>
        <p:spPr>
          <a:xfrm>
            <a:off x="191423" y="1311724"/>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9B9B9B"/>
          </a:solidFill>
        </p:spPr>
        <p:txBody>
          <a:bodyPr wrap="square" lIns="0" tIns="0" rIns="0" bIns="0" rtlCol="0"/>
          <a:lstStyle/>
          <a:p>
            <a:pPr defTabSz="230520"/>
            <a:endParaRPr sz="1798">
              <a:solidFill>
                <a:prstClr val="black"/>
              </a:solidFill>
              <a:latin typeface="Calibri" panose="020F0502020204030204"/>
            </a:endParaRPr>
          </a:p>
        </p:txBody>
      </p:sp>
      <p:sp>
        <p:nvSpPr>
          <p:cNvPr id="40" name="object 40"/>
          <p:cNvSpPr/>
          <p:nvPr/>
        </p:nvSpPr>
        <p:spPr>
          <a:xfrm>
            <a:off x="191423" y="1318069"/>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A9A9A9"/>
          </a:solidFill>
        </p:spPr>
        <p:txBody>
          <a:bodyPr wrap="square" lIns="0" tIns="0" rIns="0" bIns="0" rtlCol="0"/>
          <a:lstStyle/>
          <a:p>
            <a:pPr defTabSz="230520"/>
            <a:endParaRPr sz="1798">
              <a:solidFill>
                <a:prstClr val="black"/>
              </a:solidFill>
              <a:latin typeface="Calibri" panose="020F0502020204030204"/>
            </a:endParaRPr>
          </a:p>
        </p:txBody>
      </p:sp>
      <p:sp>
        <p:nvSpPr>
          <p:cNvPr id="41" name="object 41"/>
          <p:cNvSpPr/>
          <p:nvPr/>
        </p:nvSpPr>
        <p:spPr>
          <a:xfrm>
            <a:off x="191423" y="1324411"/>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B8B8B8"/>
          </a:solidFill>
        </p:spPr>
        <p:txBody>
          <a:bodyPr wrap="square" lIns="0" tIns="0" rIns="0" bIns="0" rtlCol="0"/>
          <a:lstStyle/>
          <a:p>
            <a:pPr defTabSz="230520"/>
            <a:endParaRPr sz="1798">
              <a:solidFill>
                <a:prstClr val="black"/>
              </a:solidFill>
              <a:latin typeface="Calibri" panose="020F0502020204030204"/>
            </a:endParaRPr>
          </a:p>
        </p:txBody>
      </p:sp>
      <p:sp>
        <p:nvSpPr>
          <p:cNvPr id="42" name="object 42"/>
          <p:cNvSpPr/>
          <p:nvPr/>
        </p:nvSpPr>
        <p:spPr>
          <a:xfrm>
            <a:off x="191423" y="1330756"/>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C6C6C6"/>
          </a:solidFill>
        </p:spPr>
        <p:txBody>
          <a:bodyPr wrap="square" lIns="0" tIns="0" rIns="0" bIns="0" rtlCol="0"/>
          <a:lstStyle/>
          <a:p>
            <a:pPr defTabSz="230520"/>
            <a:endParaRPr sz="1798">
              <a:solidFill>
                <a:prstClr val="black"/>
              </a:solidFill>
              <a:latin typeface="Calibri" panose="020F0502020204030204"/>
            </a:endParaRPr>
          </a:p>
        </p:txBody>
      </p:sp>
      <p:sp>
        <p:nvSpPr>
          <p:cNvPr id="43" name="object 43"/>
          <p:cNvSpPr/>
          <p:nvPr/>
        </p:nvSpPr>
        <p:spPr>
          <a:xfrm>
            <a:off x="191423" y="1337101"/>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D4D4D4"/>
          </a:solidFill>
        </p:spPr>
        <p:txBody>
          <a:bodyPr wrap="square" lIns="0" tIns="0" rIns="0" bIns="0" rtlCol="0"/>
          <a:lstStyle/>
          <a:p>
            <a:pPr defTabSz="230520"/>
            <a:endParaRPr sz="1798">
              <a:solidFill>
                <a:prstClr val="black"/>
              </a:solidFill>
              <a:latin typeface="Calibri" panose="020F0502020204030204"/>
            </a:endParaRPr>
          </a:p>
        </p:txBody>
      </p:sp>
      <p:sp>
        <p:nvSpPr>
          <p:cNvPr id="44" name="object 44"/>
          <p:cNvSpPr/>
          <p:nvPr/>
        </p:nvSpPr>
        <p:spPr>
          <a:xfrm>
            <a:off x="191423" y="1343446"/>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E2E2E2"/>
          </a:solidFill>
        </p:spPr>
        <p:txBody>
          <a:bodyPr wrap="square" lIns="0" tIns="0" rIns="0" bIns="0" rtlCol="0"/>
          <a:lstStyle/>
          <a:p>
            <a:pPr defTabSz="230520"/>
            <a:endParaRPr sz="1798">
              <a:solidFill>
                <a:prstClr val="black"/>
              </a:solidFill>
              <a:latin typeface="Calibri" panose="020F0502020204030204"/>
            </a:endParaRPr>
          </a:p>
        </p:txBody>
      </p:sp>
      <p:sp>
        <p:nvSpPr>
          <p:cNvPr id="45" name="object 45"/>
          <p:cNvSpPr/>
          <p:nvPr/>
        </p:nvSpPr>
        <p:spPr>
          <a:xfrm>
            <a:off x="4518418" y="624420"/>
            <a:ext cx="50753" cy="50753"/>
          </a:xfrm>
          <a:custGeom>
            <a:avLst/>
            <a:gdLst/>
            <a:ahLst/>
            <a:cxnLst/>
            <a:rect l="l" t="t" r="r" b="b"/>
            <a:pathLst>
              <a:path w="50800" h="50800">
                <a:moveTo>
                  <a:pt x="50799" y="50792"/>
                </a:moveTo>
                <a:lnTo>
                  <a:pt x="34262" y="13294"/>
                </a:lnTo>
                <a:lnTo>
                  <a:pt x="0" y="0"/>
                </a:lnTo>
              </a:path>
            </a:pathLst>
          </a:custGeom>
          <a:ln w="11112">
            <a:solidFill>
              <a:srgbClr val="FFFFFF"/>
            </a:solidFill>
          </a:ln>
        </p:spPr>
        <p:txBody>
          <a:bodyPr wrap="square" lIns="0" tIns="0" rIns="0" bIns="0" rtlCol="0"/>
          <a:lstStyle/>
          <a:p>
            <a:pPr defTabSz="230520"/>
            <a:endParaRPr sz="1798">
              <a:solidFill>
                <a:prstClr val="black"/>
              </a:solidFill>
              <a:latin typeface="Calibri" panose="020F0502020204030204"/>
            </a:endParaRPr>
          </a:p>
        </p:txBody>
      </p:sp>
      <p:sp>
        <p:nvSpPr>
          <p:cNvPr id="46" name="object 46"/>
          <p:cNvSpPr/>
          <p:nvPr/>
        </p:nvSpPr>
        <p:spPr>
          <a:xfrm>
            <a:off x="4518418" y="718201"/>
            <a:ext cx="27280" cy="8248"/>
          </a:xfrm>
          <a:custGeom>
            <a:avLst/>
            <a:gdLst/>
            <a:ahLst/>
            <a:cxnLst/>
            <a:rect l="l" t="t" r="r" b="b"/>
            <a:pathLst>
              <a:path w="27304" h="8254">
                <a:moveTo>
                  <a:pt x="0" y="7733"/>
                </a:moveTo>
                <a:lnTo>
                  <a:pt x="22932" y="2274"/>
                </a:lnTo>
                <a:lnTo>
                  <a:pt x="26954" y="0"/>
                </a:lnTo>
              </a:path>
            </a:pathLst>
          </a:custGeom>
          <a:ln w="11112">
            <a:solidFill>
              <a:srgbClr val="FFFFFF"/>
            </a:solidFill>
          </a:ln>
        </p:spPr>
        <p:txBody>
          <a:bodyPr wrap="square" lIns="0" tIns="0" rIns="0" bIns="0" rtlCol="0"/>
          <a:lstStyle/>
          <a:p>
            <a:pPr defTabSz="230520"/>
            <a:endParaRPr sz="1798">
              <a:solidFill>
                <a:prstClr val="black"/>
              </a:solidFill>
              <a:latin typeface="Calibri" panose="020F0502020204030204"/>
            </a:endParaRPr>
          </a:p>
        </p:txBody>
      </p:sp>
      <p:sp>
        <p:nvSpPr>
          <p:cNvPr id="47" name="object 47"/>
          <p:cNvSpPr/>
          <p:nvPr/>
        </p:nvSpPr>
        <p:spPr>
          <a:xfrm>
            <a:off x="4518418" y="627592"/>
            <a:ext cx="47581" cy="47581"/>
          </a:xfrm>
          <a:custGeom>
            <a:avLst/>
            <a:gdLst/>
            <a:ahLst/>
            <a:cxnLst/>
            <a:rect l="l" t="t" r="r" b="b"/>
            <a:pathLst>
              <a:path w="47625" h="47625">
                <a:moveTo>
                  <a:pt x="47625" y="47625"/>
                </a:moveTo>
                <a:lnTo>
                  <a:pt x="30293" y="10875"/>
                </a:lnTo>
                <a:lnTo>
                  <a:pt x="3343" y="168"/>
                </a:lnTo>
                <a:lnTo>
                  <a:pt x="0" y="0"/>
                </a:lnTo>
              </a:path>
            </a:pathLst>
          </a:custGeom>
          <a:ln w="11112">
            <a:solidFill>
              <a:srgbClr val="F7F7F7"/>
            </a:solidFill>
          </a:ln>
        </p:spPr>
        <p:txBody>
          <a:bodyPr wrap="square" lIns="0" tIns="0" rIns="0" bIns="0" rtlCol="0"/>
          <a:lstStyle/>
          <a:p>
            <a:pPr defTabSz="230520"/>
            <a:endParaRPr sz="1798">
              <a:solidFill>
                <a:prstClr val="black"/>
              </a:solidFill>
              <a:latin typeface="Calibri" panose="020F0502020204030204"/>
            </a:endParaRPr>
          </a:p>
        </p:txBody>
      </p:sp>
      <p:sp>
        <p:nvSpPr>
          <p:cNvPr id="48" name="object 48"/>
          <p:cNvSpPr/>
          <p:nvPr/>
        </p:nvSpPr>
        <p:spPr>
          <a:xfrm>
            <a:off x="4518418" y="675173"/>
            <a:ext cx="47581" cy="47581"/>
          </a:xfrm>
          <a:custGeom>
            <a:avLst/>
            <a:gdLst/>
            <a:ahLst/>
            <a:cxnLst/>
            <a:rect l="l" t="t" r="r" b="b"/>
            <a:pathLst>
              <a:path w="47625" h="47625">
                <a:moveTo>
                  <a:pt x="0" y="47624"/>
                </a:moveTo>
                <a:lnTo>
                  <a:pt x="36749" y="30298"/>
                </a:lnTo>
                <a:lnTo>
                  <a:pt x="47379" y="4871"/>
                </a:lnTo>
                <a:lnTo>
                  <a:pt x="47625" y="0"/>
                </a:lnTo>
              </a:path>
            </a:pathLst>
          </a:custGeom>
          <a:ln w="11112">
            <a:solidFill>
              <a:srgbClr val="F7F7F7"/>
            </a:solidFill>
          </a:ln>
        </p:spPr>
        <p:txBody>
          <a:bodyPr wrap="square" lIns="0" tIns="0" rIns="0" bIns="0" rtlCol="0"/>
          <a:lstStyle/>
          <a:p>
            <a:pPr defTabSz="230520"/>
            <a:endParaRPr sz="1798">
              <a:solidFill>
                <a:prstClr val="black"/>
              </a:solidFill>
              <a:latin typeface="Calibri" panose="020F0502020204030204"/>
            </a:endParaRPr>
          </a:p>
        </p:txBody>
      </p:sp>
      <p:sp>
        <p:nvSpPr>
          <p:cNvPr id="49" name="object 49"/>
          <p:cNvSpPr/>
          <p:nvPr/>
        </p:nvSpPr>
        <p:spPr>
          <a:xfrm>
            <a:off x="4518418" y="630764"/>
            <a:ext cx="44409" cy="44409"/>
          </a:xfrm>
          <a:custGeom>
            <a:avLst/>
            <a:gdLst/>
            <a:ahLst/>
            <a:cxnLst/>
            <a:rect l="l" t="t" r="r" b="b"/>
            <a:pathLst>
              <a:path w="44450" h="44450">
                <a:moveTo>
                  <a:pt x="44450" y="44450"/>
                </a:moveTo>
                <a:lnTo>
                  <a:pt x="44189" y="39608"/>
                </a:lnTo>
                <a:lnTo>
                  <a:pt x="43845" y="37495"/>
                </a:lnTo>
                <a:lnTo>
                  <a:pt x="43425" y="34918"/>
                </a:lnTo>
                <a:lnTo>
                  <a:pt x="18358" y="3958"/>
                </a:lnTo>
                <a:lnTo>
                  <a:pt x="6954" y="605"/>
                </a:lnTo>
                <a:lnTo>
                  <a:pt x="4843" y="260"/>
                </a:lnTo>
                <a:lnTo>
                  <a:pt x="0" y="0"/>
                </a:lnTo>
              </a:path>
            </a:pathLst>
          </a:custGeom>
          <a:ln w="11112">
            <a:solidFill>
              <a:srgbClr val="F0F0F0"/>
            </a:solidFill>
          </a:ln>
        </p:spPr>
        <p:txBody>
          <a:bodyPr wrap="square" lIns="0" tIns="0" rIns="0" bIns="0" rtlCol="0"/>
          <a:lstStyle/>
          <a:p>
            <a:pPr defTabSz="230520"/>
            <a:endParaRPr sz="1798">
              <a:solidFill>
                <a:prstClr val="black"/>
              </a:solidFill>
              <a:latin typeface="Calibri" panose="020F0502020204030204"/>
            </a:endParaRPr>
          </a:p>
        </p:txBody>
      </p:sp>
      <p:sp>
        <p:nvSpPr>
          <p:cNvPr id="50" name="object 50"/>
          <p:cNvSpPr/>
          <p:nvPr/>
        </p:nvSpPr>
        <p:spPr>
          <a:xfrm>
            <a:off x="4518418" y="675173"/>
            <a:ext cx="44409" cy="44409"/>
          </a:xfrm>
          <a:custGeom>
            <a:avLst/>
            <a:gdLst/>
            <a:ahLst/>
            <a:cxnLst/>
            <a:rect l="l" t="t" r="r" b="b"/>
            <a:pathLst>
              <a:path w="44450" h="44450">
                <a:moveTo>
                  <a:pt x="0" y="44449"/>
                </a:moveTo>
                <a:lnTo>
                  <a:pt x="35874" y="26251"/>
                </a:lnTo>
                <a:lnTo>
                  <a:pt x="44189" y="4843"/>
                </a:lnTo>
                <a:lnTo>
                  <a:pt x="44450" y="0"/>
                </a:lnTo>
              </a:path>
            </a:pathLst>
          </a:custGeom>
          <a:ln w="11112">
            <a:solidFill>
              <a:srgbClr val="F0F0F0"/>
            </a:solidFill>
          </a:ln>
        </p:spPr>
        <p:txBody>
          <a:bodyPr wrap="square" lIns="0" tIns="0" rIns="0" bIns="0" rtlCol="0"/>
          <a:lstStyle/>
          <a:p>
            <a:pPr defTabSz="230520"/>
            <a:endParaRPr sz="1798">
              <a:solidFill>
                <a:prstClr val="black"/>
              </a:solidFill>
              <a:latin typeface="Calibri" panose="020F0502020204030204"/>
            </a:endParaRPr>
          </a:p>
        </p:txBody>
      </p:sp>
      <p:sp>
        <p:nvSpPr>
          <p:cNvPr id="51" name="object 51"/>
          <p:cNvSpPr/>
          <p:nvPr/>
        </p:nvSpPr>
        <p:spPr>
          <a:xfrm>
            <a:off x="4518418" y="633936"/>
            <a:ext cx="41237" cy="41237"/>
          </a:xfrm>
          <a:custGeom>
            <a:avLst/>
            <a:gdLst/>
            <a:ahLst/>
            <a:cxnLst/>
            <a:rect l="l" t="t" r="r" b="b"/>
            <a:pathLst>
              <a:path w="41275" h="41275">
                <a:moveTo>
                  <a:pt x="41275" y="41275"/>
                </a:moveTo>
                <a:lnTo>
                  <a:pt x="40997" y="36461"/>
                </a:lnTo>
                <a:lnTo>
                  <a:pt x="40185" y="31810"/>
                </a:lnTo>
                <a:lnTo>
                  <a:pt x="39703" y="30178"/>
                </a:lnTo>
                <a:lnTo>
                  <a:pt x="38869" y="27354"/>
                </a:lnTo>
                <a:lnTo>
                  <a:pt x="11096" y="1572"/>
                </a:lnTo>
                <a:lnTo>
                  <a:pt x="9464" y="1090"/>
                </a:lnTo>
                <a:lnTo>
                  <a:pt x="4814" y="277"/>
                </a:lnTo>
                <a:lnTo>
                  <a:pt x="0" y="0"/>
                </a:lnTo>
              </a:path>
            </a:pathLst>
          </a:custGeom>
          <a:ln w="11112">
            <a:solidFill>
              <a:srgbClr val="E8E8E8"/>
            </a:solidFill>
          </a:ln>
        </p:spPr>
        <p:txBody>
          <a:bodyPr wrap="square" lIns="0" tIns="0" rIns="0" bIns="0" rtlCol="0"/>
          <a:lstStyle/>
          <a:p>
            <a:pPr defTabSz="230520"/>
            <a:endParaRPr sz="1798">
              <a:solidFill>
                <a:prstClr val="black"/>
              </a:solidFill>
              <a:latin typeface="Calibri" panose="020F0502020204030204"/>
            </a:endParaRPr>
          </a:p>
        </p:txBody>
      </p:sp>
      <p:sp>
        <p:nvSpPr>
          <p:cNvPr id="52" name="object 52"/>
          <p:cNvSpPr/>
          <p:nvPr/>
        </p:nvSpPr>
        <p:spPr>
          <a:xfrm>
            <a:off x="4518418" y="675174"/>
            <a:ext cx="41237" cy="41237"/>
          </a:xfrm>
          <a:custGeom>
            <a:avLst/>
            <a:gdLst/>
            <a:ahLst/>
            <a:cxnLst/>
            <a:rect l="l" t="t" r="r" b="b"/>
            <a:pathLst>
              <a:path w="41275" h="41275">
                <a:moveTo>
                  <a:pt x="0" y="41274"/>
                </a:moveTo>
                <a:lnTo>
                  <a:pt x="34849" y="22127"/>
                </a:lnTo>
                <a:lnTo>
                  <a:pt x="40997" y="4813"/>
                </a:lnTo>
                <a:lnTo>
                  <a:pt x="41275" y="0"/>
                </a:lnTo>
              </a:path>
            </a:pathLst>
          </a:custGeom>
          <a:ln w="11112">
            <a:solidFill>
              <a:srgbClr val="E8E8E8"/>
            </a:solidFill>
          </a:ln>
        </p:spPr>
        <p:txBody>
          <a:bodyPr wrap="square" lIns="0" tIns="0" rIns="0" bIns="0" rtlCol="0"/>
          <a:lstStyle/>
          <a:p>
            <a:pPr defTabSz="230520"/>
            <a:endParaRPr sz="1798">
              <a:solidFill>
                <a:prstClr val="black"/>
              </a:solidFill>
              <a:latin typeface="Calibri" panose="020F0502020204030204"/>
            </a:endParaRPr>
          </a:p>
        </p:txBody>
      </p:sp>
      <p:sp>
        <p:nvSpPr>
          <p:cNvPr id="53" name="object 53"/>
          <p:cNvSpPr/>
          <p:nvPr/>
        </p:nvSpPr>
        <p:spPr>
          <a:xfrm>
            <a:off x="4518418" y="637108"/>
            <a:ext cx="38065" cy="38065"/>
          </a:xfrm>
          <a:custGeom>
            <a:avLst/>
            <a:gdLst/>
            <a:ahLst/>
            <a:cxnLst/>
            <a:rect l="l" t="t" r="r" b="b"/>
            <a:pathLst>
              <a:path w="38100" h="38100">
                <a:moveTo>
                  <a:pt x="38100" y="38100"/>
                </a:moveTo>
                <a:lnTo>
                  <a:pt x="37803" y="33322"/>
                </a:lnTo>
                <a:lnTo>
                  <a:pt x="36936" y="28722"/>
                </a:lnTo>
                <a:lnTo>
                  <a:pt x="35536" y="24334"/>
                </a:lnTo>
                <a:lnTo>
                  <a:pt x="34266" y="21566"/>
                </a:lnTo>
                <a:lnTo>
                  <a:pt x="33636" y="20193"/>
                </a:lnTo>
                <a:lnTo>
                  <a:pt x="16532" y="3833"/>
                </a:lnTo>
                <a:lnTo>
                  <a:pt x="13771" y="2565"/>
                </a:lnTo>
                <a:lnTo>
                  <a:pt x="9382" y="1164"/>
                </a:lnTo>
                <a:lnTo>
                  <a:pt x="4779" y="297"/>
                </a:lnTo>
                <a:lnTo>
                  <a:pt x="0" y="0"/>
                </a:lnTo>
              </a:path>
            </a:pathLst>
          </a:custGeom>
          <a:ln w="11112">
            <a:solidFill>
              <a:srgbClr val="E1E1E1"/>
            </a:solidFill>
          </a:ln>
        </p:spPr>
        <p:txBody>
          <a:bodyPr wrap="square" lIns="0" tIns="0" rIns="0" bIns="0" rtlCol="0"/>
          <a:lstStyle/>
          <a:p>
            <a:pPr defTabSz="230520"/>
            <a:endParaRPr sz="1798">
              <a:solidFill>
                <a:prstClr val="black"/>
              </a:solidFill>
              <a:latin typeface="Calibri" panose="020F0502020204030204"/>
            </a:endParaRPr>
          </a:p>
        </p:txBody>
      </p:sp>
      <p:sp>
        <p:nvSpPr>
          <p:cNvPr id="54" name="object 54"/>
          <p:cNvSpPr/>
          <p:nvPr/>
        </p:nvSpPr>
        <p:spPr>
          <a:xfrm>
            <a:off x="4518418" y="675173"/>
            <a:ext cx="38065" cy="38065"/>
          </a:xfrm>
          <a:custGeom>
            <a:avLst/>
            <a:gdLst/>
            <a:ahLst/>
            <a:cxnLst/>
            <a:rect l="l" t="t" r="r" b="b"/>
            <a:pathLst>
              <a:path w="38100" h="38100">
                <a:moveTo>
                  <a:pt x="0" y="38099"/>
                </a:moveTo>
                <a:lnTo>
                  <a:pt x="33636" y="17911"/>
                </a:lnTo>
                <a:lnTo>
                  <a:pt x="37803" y="4779"/>
                </a:lnTo>
                <a:lnTo>
                  <a:pt x="38100" y="0"/>
                </a:lnTo>
              </a:path>
            </a:pathLst>
          </a:custGeom>
          <a:ln w="11112">
            <a:solidFill>
              <a:srgbClr val="E1E1E1"/>
            </a:solidFill>
          </a:ln>
        </p:spPr>
        <p:txBody>
          <a:bodyPr wrap="square" lIns="0" tIns="0" rIns="0" bIns="0" rtlCol="0"/>
          <a:lstStyle/>
          <a:p>
            <a:pPr defTabSz="230520"/>
            <a:endParaRPr sz="1798">
              <a:solidFill>
                <a:prstClr val="black"/>
              </a:solidFill>
              <a:latin typeface="Calibri" panose="020F0502020204030204"/>
            </a:endParaRPr>
          </a:p>
        </p:txBody>
      </p:sp>
      <p:sp>
        <p:nvSpPr>
          <p:cNvPr id="55" name="object 55"/>
          <p:cNvSpPr/>
          <p:nvPr/>
        </p:nvSpPr>
        <p:spPr>
          <a:xfrm>
            <a:off x="4518418" y="640281"/>
            <a:ext cx="34893" cy="34893"/>
          </a:xfrm>
          <a:custGeom>
            <a:avLst/>
            <a:gdLst/>
            <a:ahLst/>
            <a:cxnLst/>
            <a:rect l="l" t="t" r="r" b="b"/>
            <a:pathLst>
              <a:path w="34925" h="34925">
                <a:moveTo>
                  <a:pt x="34925" y="34925"/>
                </a:moveTo>
                <a:lnTo>
                  <a:pt x="13595" y="2745"/>
                </a:lnTo>
                <a:lnTo>
                  <a:pt x="0" y="0"/>
                </a:lnTo>
              </a:path>
            </a:pathLst>
          </a:custGeom>
          <a:ln w="11112">
            <a:solidFill>
              <a:srgbClr val="D9D9D9"/>
            </a:solidFill>
          </a:ln>
        </p:spPr>
        <p:txBody>
          <a:bodyPr wrap="square" lIns="0" tIns="0" rIns="0" bIns="0" rtlCol="0"/>
          <a:lstStyle/>
          <a:p>
            <a:pPr defTabSz="230520"/>
            <a:endParaRPr sz="1798">
              <a:solidFill>
                <a:prstClr val="black"/>
              </a:solidFill>
              <a:latin typeface="Calibri" panose="020F0502020204030204"/>
            </a:endParaRPr>
          </a:p>
        </p:txBody>
      </p:sp>
      <p:sp>
        <p:nvSpPr>
          <p:cNvPr id="56" name="object 56"/>
          <p:cNvSpPr/>
          <p:nvPr/>
        </p:nvSpPr>
        <p:spPr>
          <a:xfrm>
            <a:off x="4518418" y="675174"/>
            <a:ext cx="34893" cy="34893"/>
          </a:xfrm>
          <a:custGeom>
            <a:avLst/>
            <a:gdLst/>
            <a:ahLst/>
            <a:cxnLst/>
            <a:rect l="l" t="t" r="r" b="b"/>
            <a:pathLst>
              <a:path w="34925" h="34925">
                <a:moveTo>
                  <a:pt x="0" y="34924"/>
                </a:moveTo>
                <a:lnTo>
                  <a:pt x="32181" y="13595"/>
                </a:lnTo>
                <a:lnTo>
                  <a:pt x="34606" y="4739"/>
                </a:lnTo>
                <a:lnTo>
                  <a:pt x="34925" y="0"/>
                </a:lnTo>
              </a:path>
            </a:pathLst>
          </a:custGeom>
          <a:ln w="11112">
            <a:solidFill>
              <a:srgbClr val="D9D9D9"/>
            </a:solidFill>
          </a:ln>
        </p:spPr>
        <p:txBody>
          <a:bodyPr wrap="square" lIns="0" tIns="0" rIns="0" bIns="0" rtlCol="0"/>
          <a:lstStyle/>
          <a:p>
            <a:pPr defTabSz="230520"/>
            <a:endParaRPr sz="1798">
              <a:solidFill>
                <a:prstClr val="black"/>
              </a:solidFill>
              <a:latin typeface="Calibri" panose="020F0502020204030204"/>
            </a:endParaRPr>
          </a:p>
        </p:txBody>
      </p:sp>
      <p:sp>
        <p:nvSpPr>
          <p:cNvPr id="57" name="object 57"/>
          <p:cNvSpPr/>
          <p:nvPr/>
        </p:nvSpPr>
        <p:spPr>
          <a:xfrm>
            <a:off x="4518418" y="643452"/>
            <a:ext cx="31721" cy="31721"/>
          </a:xfrm>
          <a:custGeom>
            <a:avLst/>
            <a:gdLst/>
            <a:ahLst/>
            <a:cxnLst/>
            <a:rect l="l" t="t" r="r" b="b"/>
            <a:pathLst>
              <a:path w="31750" h="31750">
                <a:moveTo>
                  <a:pt x="31750" y="31750"/>
                </a:moveTo>
                <a:lnTo>
                  <a:pt x="4690" y="344"/>
                </a:lnTo>
                <a:lnTo>
                  <a:pt x="0" y="0"/>
                </a:lnTo>
              </a:path>
            </a:pathLst>
          </a:custGeom>
          <a:ln w="11112">
            <a:solidFill>
              <a:srgbClr val="D2D2D2"/>
            </a:solidFill>
          </a:ln>
        </p:spPr>
        <p:txBody>
          <a:bodyPr wrap="square" lIns="0" tIns="0" rIns="0" bIns="0" rtlCol="0"/>
          <a:lstStyle/>
          <a:p>
            <a:pPr defTabSz="230520"/>
            <a:endParaRPr sz="1798">
              <a:solidFill>
                <a:prstClr val="black"/>
              </a:solidFill>
              <a:latin typeface="Calibri" panose="020F0502020204030204"/>
            </a:endParaRPr>
          </a:p>
        </p:txBody>
      </p:sp>
      <p:sp>
        <p:nvSpPr>
          <p:cNvPr id="58" name="object 58"/>
          <p:cNvSpPr/>
          <p:nvPr/>
        </p:nvSpPr>
        <p:spPr>
          <a:xfrm>
            <a:off x="4518418" y="675173"/>
            <a:ext cx="31721" cy="31721"/>
          </a:xfrm>
          <a:custGeom>
            <a:avLst/>
            <a:gdLst/>
            <a:ahLst/>
            <a:cxnLst/>
            <a:rect l="l" t="t" r="r" b="b"/>
            <a:pathLst>
              <a:path w="31750" h="31750">
                <a:moveTo>
                  <a:pt x="0" y="31749"/>
                </a:moveTo>
                <a:lnTo>
                  <a:pt x="31405" y="4692"/>
                </a:lnTo>
                <a:lnTo>
                  <a:pt x="31750" y="0"/>
                </a:lnTo>
              </a:path>
            </a:pathLst>
          </a:custGeom>
          <a:ln w="11112">
            <a:solidFill>
              <a:srgbClr val="D2D2D2"/>
            </a:solidFill>
          </a:ln>
        </p:spPr>
        <p:txBody>
          <a:bodyPr wrap="square" lIns="0" tIns="0" rIns="0" bIns="0" rtlCol="0"/>
          <a:lstStyle/>
          <a:p>
            <a:pPr defTabSz="230520"/>
            <a:endParaRPr sz="1798">
              <a:solidFill>
                <a:prstClr val="black"/>
              </a:solidFill>
              <a:latin typeface="Calibri" panose="020F0502020204030204"/>
            </a:endParaRPr>
          </a:p>
        </p:txBody>
      </p:sp>
      <p:sp>
        <p:nvSpPr>
          <p:cNvPr id="59" name="object 59"/>
          <p:cNvSpPr/>
          <p:nvPr/>
        </p:nvSpPr>
        <p:spPr>
          <a:xfrm>
            <a:off x="4518418" y="646624"/>
            <a:ext cx="28549" cy="28549"/>
          </a:xfrm>
          <a:custGeom>
            <a:avLst/>
            <a:gdLst/>
            <a:ahLst/>
            <a:cxnLst/>
            <a:rect l="l" t="t" r="r" b="b"/>
            <a:pathLst>
              <a:path w="28575" h="28575">
                <a:moveTo>
                  <a:pt x="28575" y="28575"/>
                </a:moveTo>
                <a:lnTo>
                  <a:pt x="0" y="0"/>
                </a:lnTo>
              </a:path>
            </a:pathLst>
          </a:custGeom>
          <a:ln w="11112">
            <a:solidFill>
              <a:srgbClr val="CACACA"/>
            </a:solidFill>
          </a:ln>
        </p:spPr>
        <p:txBody>
          <a:bodyPr wrap="square" lIns="0" tIns="0" rIns="0" bIns="0" rtlCol="0"/>
          <a:lstStyle/>
          <a:p>
            <a:pPr defTabSz="230520"/>
            <a:endParaRPr sz="1798">
              <a:solidFill>
                <a:prstClr val="black"/>
              </a:solidFill>
              <a:latin typeface="Calibri" panose="020F0502020204030204"/>
            </a:endParaRPr>
          </a:p>
        </p:txBody>
      </p:sp>
      <p:sp>
        <p:nvSpPr>
          <p:cNvPr id="60" name="object 60"/>
          <p:cNvSpPr/>
          <p:nvPr/>
        </p:nvSpPr>
        <p:spPr>
          <a:xfrm>
            <a:off x="4518418" y="675173"/>
            <a:ext cx="28549" cy="28549"/>
          </a:xfrm>
          <a:custGeom>
            <a:avLst/>
            <a:gdLst/>
            <a:ahLst/>
            <a:cxnLst/>
            <a:rect l="l" t="t" r="r" b="b"/>
            <a:pathLst>
              <a:path w="28575" h="28575">
                <a:moveTo>
                  <a:pt x="0" y="28574"/>
                </a:moveTo>
                <a:lnTo>
                  <a:pt x="28201" y="4636"/>
                </a:lnTo>
                <a:lnTo>
                  <a:pt x="28575" y="0"/>
                </a:lnTo>
              </a:path>
            </a:pathLst>
          </a:custGeom>
          <a:ln w="11112">
            <a:solidFill>
              <a:srgbClr val="CACACA"/>
            </a:solidFill>
          </a:ln>
        </p:spPr>
        <p:txBody>
          <a:bodyPr wrap="square" lIns="0" tIns="0" rIns="0" bIns="0" rtlCol="0"/>
          <a:lstStyle/>
          <a:p>
            <a:pPr defTabSz="230520"/>
            <a:endParaRPr sz="1798">
              <a:solidFill>
                <a:prstClr val="black"/>
              </a:solidFill>
              <a:latin typeface="Calibri" panose="020F0502020204030204"/>
            </a:endParaRPr>
          </a:p>
        </p:txBody>
      </p:sp>
      <p:sp>
        <p:nvSpPr>
          <p:cNvPr id="61" name="object 61"/>
          <p:cNvSpPr/>
          <p:nvPr/>
        </p:nvSpPr>
        <p:spPr>
          <a:xfrm>
            <a:off x="4518417" y="649796"/>
            <a:ext cx="25377" cy="25377"/>
          </a:xfrm>
          <a:custGeom>
            <a:avLst/>
            <a:gdLst/>
            <a:ahLst/>
            <a:cxnLst/>
            <a:rect l="l" t="t" r="r" b="b"/>
            <a:pathLst>
              <a:path w="25400" h="25400">
                <a:moveTo>
                  <a:pt x="25400" y="25400"/>
                </a:moveTo>
                <a:lnTo>
                  <a:pt x="0" y="0"/>
                </a:lnTo>
              </a:path>
            </a:pathLst>
          </a:custGeom>
          <a:ln w="11112">
            <a:solidFill>
              <a:srgbClr val="C3C3C3"/>
            </a:solidFill>
          </a:ln>
        </p:spPr>
        <p:txBody>
          <a:bodyPr wrap="square" lIns="0" tIns="0" rIns="0" bIns="0" rtlCol="0"/>
          <a:lstStyle/>
          <a:p>
            <a:pPr defTabSz="230520"/>
            <a:endParaRPr sz="1798">
              <a:solidFill>
                <a:prstClr val="black"/>
              </a:solidFill>
              <a:latin typeface="Calibri" panose="020F0502020204030204"/>
            </a:endParaRPr>
          </a:p>
        </p:txBody>
      </p:sp>
      <p:sp>
        <p:nvSpPr>
          <p:cNvPr id="62" name="object 62"/>
          <p:cNvSpPr/>
          <p:nvPr/>
        </p:nvSpPr>
        <p:spPr>
          <a:xfrm>
            <a:off x="4518417" y="675173"/>
            <a:ext cx="25377" cy="25377"/>
          </a:xfrm>
          <a:custGeom>
            <a:avLst/>
            <a:gdLst/>
            <a:ahLst/>
            <a:cxnLst/>
            <a:rect l="l" t="t" r="r" b="b"/>
            <a:pathLst>
              <a:path w="25400" h="25400">
                <a:moveTo>
                  <a:pt x="0" y="25399"/>
                </a:moveTo>
                <a:lnTo>
                  <a:pt x="24990" y="4567"/>
                </a:lnTo>
                <a:lnTo>
                  <a:pt x="25400" y="0"/>
                </a:lnTo>
              </a:path>
            </a:pathLst>
          </a:custGeom>
          <a:ln w="11112">
            <a:solidFill>
              <a:srgbClr val="C3C3C3"/>
            </a:solidFill>
          </a:ln>
        </p:spPr>
        <p:txBody>
          <a:bodyPr wrap="square" lIns="0" tIns="0" rIns="0" bIns="0" rtlCol="0"/>
          <a:lstStyle/>
          <a:p>
            <a:pPr defTabSz="230520"/>
            <a:endParaRPr sz="1798">
              <a:solidFill>
                <a:prstClr val="black"/>
              </a:solidFill>
              <a:latin typeface="Calibri" panose="020F0502020204030204"/>
            </a:endParaRPr>
          </a:p>
        </p:txBody>
      </p:sp>
      <p:sp>
        <p:nvSpPr>
          <p:cNvPr id="63" name="object 63"/>
          <p:cNvSpPr/>
          <p:nvPr/>
        </p:nvSpPr>
        <p:spPr>
          <a:xfrm>
            <a:off x="4518418" y="652969"/>
            <a:ext cx="22205" cy="22205"/>
          </a:xfrm>
          <a:custGeom>
            <a:avLst/>
            <a:gdLst/>
            <a:ahLst/>
            <a:cxnLst/>
            <a:rect l="l" t="t" r="r" b="b"/>
            <a:pathLst>
              <a:path w="22225" h="22225">
                <a:moveTo>
                  <a:pt x="22225" y="22225"/>
                </a:moveTo>
                <a:lnTo>
                  <a:pt x="0" y="0"/>
                </a:lnTo>
              </a:path>
            </a:pathLst>
          </a:custGeom>
          <a:ln w="11112">
            <a:solidFill>
              <a:srgbClr val="BBBBBB"/>
            </a:solidFill>
          </a:ln>
        </p:spPr>
        <p:txBody>
          <a:bodyPr wrap="square" lIns="0" tIns="0" rIns="0" bIns="0" rtlCol="0"/>
          <a:lstStyle/>
          <a:p>
            <a:pPr defTabSz="230520"/>
            <a:endParaRPr sz="1798">
              <a:solidFill>
                <a:prstClr val="black"/>
              </a:solidFill>
              <a:latin typeface="Calibri" panose="020F0502020204030204"/>
            </a:endParaRPr>
          </a:p>
        </p:txBody>
      </p:sp>
      <p:sp>
        <p:nvSpPr>
          <p:cNvPr id="64" name="object 64"/>
          <p:cNvSpPr/>
          <p:nvPr/>
        </p:nvSpPr>
        <p:spPr>
          <a:xfrm>
            <a:off x="4518418" y="675173"/>
            <a:ext cx="22205" cy="22205"/>
          </a:xfrm>
          <a:custGeom>
            <a:avLst/>
            <a:gdLst/>
            <a:ahLst/>
            <a:cxnLst/>
            <a:rect l="l" t="t" r="r" b="b"/>
            <a:pathLst>
              <a:path w="22225" h="22225">
                <a:moveTo>
                  <a:pt x="0" y="22224"/>
                </a:moveTo>
                <a:lnTo>
                  <a:pt x="21773" y="4480"/>
                </a:lnTo>
                <a:lnTo>
                  <a:pt x="22225" y="0"/>
                </a:lnTo>
              </a:path>
            </a:pathLst>
          </a:custGeom>
          <a:ln w="11112">
            <a:solidFill>
              <a:srgbClr val="BBBBBB"/>
            </a:solidFill>
          </a:ln>
        </p:spPr>
        <p:txBody>
          <a:bodyPr wrap="square" lIns="0" tIns="0" rIns="0" bIns="0" rtlCol="0"/>
          <a:lstStyle/>
          <a:p>
            <a:pPr defTabSz="230520"/>
            <a:endParaRPr sz="1798">
              <a:solidFill>
                <a:prstClr val="black"/>
              </a:solidFill>
              <a:latin typeface="Calibri" panose="020F0502020204030204"/>
            </a:endParaRPr>
          </a:p>
        </p:txBody>
      </p:sp>
      <p:sp>
        <p:nvSpPr>
          <p:cNvPr id="65" name="object 65"/>
          <p:cNvSpPr/>
          <p:nvPr/>
        </p:nvSpPr>
        <p:spPr>
          <a:xfrm>
            <a:off x="4518418" y="656141"/>
            <a:ext cx="19032" cy="19032"/>
          </a:xfrm>
          <a:custGeom>
            <a:avLst/>
            <a:gdLst/>
            <a:ahLst/>
            <a:cxnLst/>
            <a:rect l="l" t="t" r="r" b="b"/>
            <a:pathLst>
              <a:path w="19050" h="19050">
                <a:moveTo>
                  <a:pt x="19050" y="19050"/>
                </a:moveTo>
                <a:lnTo>
                  <a:pt x="0" y="0"/>
                </a:lnTo>
              </a:path>
            </a:pathLst>
          </a:custGeom>
          <a:ln w="11112">
            <a:solidFill>
              <a:srgbClr val="B3B3B3"/>
            </a:solidFill>
          </a:ln>
        </p:spPr>
        <p:txBody>
          <a:bodyPr wrap="square" lIns="0" tIns="0" rIns="0" bIns="0" rtlCol="0"/>
          <a:lstStyle/>
          <a:p>
            <a:pPr defTabSz="230520"/>
            <a:endParaRPr sz="1798">
              <a:solidFill>
                <a:prstClr val="black"/>
              </a:solidFill>
              <a:latin typeface="Calibri" panose="020F0502020204030204"/>
            </a:endParaRPr>
          </a:p>
        </p:txBody>
      </p:sp>
      <p:sp>
        <p:nvSpPr>
          <p:cNvPr id="66" name="object 66"/>
          <p:cNvSpPr/>
          <p:nvPr/>
        </p:nvSpPr>
        <p:spPr>
          <a:xfrm>
            <a:off x="4518418" y="675173"/>
            <a:ext cx="19032" cy="19032"/>
          </a:xfrm>
          <a:custGeom>
            <a:avLst/>
            <a:gdLst/>
            <a:ahLst/>
            <a:cxnLst/>
            <a:rect l="l" t="t" r="r" b="b"/>
            <a:pathLst>
              <a:path w="19050" h="19050">
                <a:moveTo>
                  <a:pt x="0" y="19049"/>
                </a:moveTo>
                <a:lnTo>
                  <a:pt x="18546" y="4370"/>
                </a:lnTo>
                <a:lnTo>
                  <a:pt x="19050" y="0"/>
                </a:lnTo>
              </a:path>
            </a:pathLst>
          </a:custGeom>
          <a:ln w="11112">
            <a:solidFill>
              <a:srgbClr val="B3B3B3"/>
            </a:solidFill>
          </a:ln>
        </p:spPr>
        <p:txBody>
          <a:bodyPr wrap="square" lIns="0" tIns="0" rIns="0" bIns="0" rtlCol="0"/>
          <a:lstStyle/>
          <a:p>
            <a:pPr defTabSz="230520"/>
            <a:endParaRPr sz="1798">
              <a:solidFill>
                <a:prstClr val="black"/>
              </a:solidFill>
              <a:latin typeface="Calibri" panose="020F0502020204030204"/>
            </a:endParaRPr>
          </a:p>
        </p:txBody>
      </p:sp>
      <p:sp>
        <p:nvSpPr>
          <p:cNvPr id="67" name="object 67"/>
          <p:cNvSpPr/>
          <p:nvPr/>
        </p:nvSpPr>
        <p:spPr>
          <a:xfrm>
            <a:off x="4518418" y="659313"/>
            <a:ext cx="15861" cy="15861"/>
          </a:xfrm>
          <a:custGeom>
            <a:avLst/>
            <a:gdLst/>
            <a:ahLst/>
            <a:cxnLst/>
            <a:rect l="l" t="t" r="r" b="b"/>
            <a:pathLst>
              <a:path w="15875" h="15875">
                <a:moveTo>
                  <a:pt x="15875" y="15875"/>
                </a:moveTo>
                <a:lnTo>
                  <a:pt x="15875" y="7112"/>
                </a:lnTo>
                <a:lnTo>
                  <a:pt x="8763" y="0"/>
                </a:lnTo>
                <a:lnTo>
                  <a:pt x="0" y="0"/>
                </a:lnTo>
              </a:path>
            </a:pathLst>
          </a:custGeom>
          <a:ln w="11112">
            <a:solidFill>
              <a:srgbClr val="ACACAC"/>
            </a:solidFill>
          </a:ln>
        </p:spPr>
        <p:txBody>
          <a:bodyPr wrap="square" lIns="0" tIns="0" rIns="0" bIns="0" rtlCol="0"/>
          <a:lstStyle/>
          <a:p>
            <a:pPr defTabSz="230520"/>
            <a:endParaRPr sz="1798">
              <a:solidFill>
                <a:prstClr val="black"/>
              </a:solidFill>
              <a:latin typeface="Calibri" panose="020F0502020204030204"/>
            </a:endParaRPr>
          </a:p>
        </p:txBody>
      </p:sp>
      <p:sp>
        <p:nvSpPr>
          <p:cNvPr id="68" name="object 68"/>
          <p:cNvSpPr/>
          <p:nvPr/>
        </p:nvSpPr>
        <p:spPr>
          <a:xfrm>
            <a:off x="4518418" y="675173"/>
            <a:ext cx="15861" cy="15861"/>
          </a:xfrm>
          <a:custGeom>
            <a:avLst/>
            <a:gdLst/>
            <a:ahLst/>
            <a:cxnLst/>
            <a:rect l="l" t="t" r="r" b="b"/>
            <a:pathLst>
              <a:path w="15875" h="15875">
                <a:moveTo>
                  <a:pt x="0" y="15875"/>
                </a:moveTo>
                <a:lnTo>
                  <a:pt x="8763" y="15875"/>
                </a:lnTo>
                <a:lnTo>
                  <a:pt x="15875" y="8775"/>
                </a:lnTo>
                <a:lnTo>
                  <a:pt x="15875" y="0"/>
                </a:lnTo>
              </a:path>
            </a:pathLst>
          </a:custGeom>
          <a:ln w="11112">
            <a:solidFill>
              <a:srgbClr val="ACACAC"/>
            </a:solidFill>
          </a:ln>
        </p:spPr>
        <p:txBody>
          <a:bodyPr wrap="square" lIns="0" tIns="0" rIns="0" bIns="0" rtlCol="0"/>
          <a:lstStyle/>
          <a:p>
            <a:pPr defTabSz="230520"/>
            <a:endParaRPr sz="1798">
              <a:solidFill>
                <a:prstClr val="black"/>
              </a:solidFill>
              <a:latin typeface="Calibri" panose="020F0502020204030204"/>
            </a:endParaRPr>
          </a:p>
        </p:txBody>
      </p:sp>
      <p:sp>
        <p:nvSpPr>
          <p:cNvPr id="69" name="object 69"/>
          <p:cNvSpPr/>
          <p:nvPr/>
        </p:nvSpPr>
        <p:spPr>
          <a:xfrm>
            <a:off x="4518418" y="662485"/>
            <a:ext cx="12688" cy="12688"/>
          </a:xfrm>
          <a:custGeom>
            <a:avLst/>
            <a:gdLst/>
            <a:ahLst/>
            <a:cxnLst/>
            <a:rect l="l" t="t" r="r" b="b"/>
            <a:pathLst>
              <a:path w="12700" h="12700">
                <a:moveTo>
                  <a:pt x="12700" y="12700"/>
                </a:moveTo>
                <a:lnTo>
                  <a:pt x="12700" y="5689"/>
                </a:lnTo>
                <a:lnTo>
                  <a:pt x="7010" y="0"/>
                </a:lnTo>
                <a:lnTo>
                  <a:pt x="0" y="0"/>
                </a:lnTo>
              </a:path>
            </a:pathLst>
          </a:custGeom>
          <a:ln w="11112">
            <a:solidFill>
              <a:srgbClr val="A4A4A4"/>
            </a:solidFill>
          </a:ln>
        </p:spPr>
        <p:txBody>
          <a:bodyPr wrap="square" lIns="0" tIns="0" rIns="0" bIns="0" rtlCol="0"/>
          <a:lstStyle/>
          <a:p>
            <a:pPr defTabSz="230520"/>
            <a:endParaRPr sz="1798">
              <a:solidFill>
                <a:prstClr val="black"/>
              </a:solidFill>
              <a:latin typeface="Calibri" panose="020F0502020204030204"/>
            </a:endParaRPr>
          </a:p>
        </p:txBody>
      </p:sp>
      <p:sp>
        <p:nvSpPr>
          <p:cNvPr id="70" name="object 70"/>
          <p:cNvSpPr/>
          <p:nvPr/>
        </p:nvSpPr>
        <p:spPr>
          <a:xfrm>
            <a:off x="4518418" y="675173"/>
            <a:ext cx="12688" cy="12688"/>
          </a:xfrm>
          <a:custGeom>
            <a:avLst/>
            <a:gdLst/>
            <a:ahLst/>
            <a:cxnLst/>
            <a:rect l="l" t="t" r="r" b="b"/>
            <a:pathLst>
              <a:path w="12700" h="12700">
                <a:moveTo>
                  <a:pt x="0" y="12700"/>
                </a:moveTo>
                <a:lnTo>
                  <a:pt x="7010" y="12700"/>
                </a:lnTo>
                <a:lnTo>
                  <a:pt x="12700" y="7010"/>
                </a:lnTo>
                <a:lnTo>
                  <a:pt x="12700" y="0"/>
                </a:lnTo>
              </a:path>
            </a:pathLst>
          </a:custGeom>
          <a:ln w="11112">
            <a:solidFill>
              <a:srgbClr val="A4A4A4"/>
            </a:solidFill>
          </a:ln>
        </p:spPr>
        <p:txBody>
          <a:bodyPr wrap="square" lIns="0" tIns="0" rIns="0" bIns="0" rtlCol="0"/>
          <a:lstStyle/>
          <a:p>
            <a:pPr defTabSz="230520"/>
            <a:endParaRPr sz="1798">
              <a:solidFill>
                <a:prstClr val="black"/>
              </a:solidFill>
              <a:latin typeface="Calibri" panose="020F0502020204030204"/>
            </a:endParaRPr>
          </a:p>
        </p:txBody>
      </p:sp>
      <p:sp>
        <p:nvSpPr>
          <p:cNvPr id="71" name="object 71"/>
          <p:cNvSpPr/>
          <p:nvPr/>
        </p:nvSpPr>
        <p:spPr>
          <a:xfrm>
            <a:off x="4518419" y="665658"/>
            <a:ext cx="9516" cy="9516"/>
          </a:xfrm>
          <a:custGeom>
            <a:avLst/>
            <a:gdLst/>
            <a:ahLst/>
            <a:cxnLst/>
            <a:rect l="l" t="t" r="r" b="b"/>
            <a:pathLst>
              <a:path w="9525" h="9525">
                <a:moveTo>
                  <a:pt x="9525" y="9525"/>
                </a:moveTo>
                <a:lnTo>
                  <a:pt x="9525" y="4267"/>
                </a:lnTo>
                <a:lnTo>
                  <a:pt x="5258" y="0"/>
                </a:lnTo>
                <a:lnTo>
                  <a:pt x="0" y="0"/>
                </a:lnTo>
              </a:path>
            </a:pathLst>
          </a:custGeom>
          <a:ln w="11112">
            <a:solidFill>
              <a:srgbClr val="9D9D9D"/>
            </a:solidFill>
          </a:ln>
        </p:spPr>
        <p:txBody>
          <a:bodyPr wrap="square" lIns="0" tIns="0" rIns="0" bIns="0" rtlCol="0"/>
          <a:lstStyle/>
          <a:p>
            <a:pPr defTabSz="230520"/>
            <a:endParaRPr sz="1798">
              <a:solidFill>
                <a:prstClr val="black"/>
              </a:solidFill>
              <a:latin typeface="Calibri" panose="020F0502020204030204"/>
            </a:endParaRPr>
          </a:p>
        </p:txBody>
      </p:sp>
      <p:sp>
        <p:nvSpPr>
          <p:cNvPr id="72" name="object 72"/>
          <p:cNvSpPr/>
          <p:nvPr/>
        </p:nvSpPr>
        <p:spPr>
          <a:xfrm>
            <a:off x="4518419" y="675174"/>
            <a:ext cx="9516" cy="9516"/>
          </a:xfrm>
          <a:custGeom>
            <a:avLst/>
            <a:gdLst/>
            <a:ahLst/>
            <a:cxnLst/>
            <a:rect l="l" t="t" r="r" b="b"/>
            <a:pathLst>
              <a:path w="9525" h="9525">
                <a:moveTo>
                  <a:pt x="0" y="9525"/>
                </a:moveTo>
                <a:lnTo>
                  <a:pt x="5258" y="9525"/>
                </a:lnTo>
                <a:lnTo>
                  <a:pt x="9525" y="5257"/>
                </a:lnTo>
                <a:lnTo>
                  <a:pt x="9525" y="0"/>
                </a:lnTo>
              </a:path>
            </a:pathLst>
          </a:custGeom>
          <a:ln w="11112">
            <a:solidFill>
              <a:srgbClr val="9D9D9D"/>
            </a:solidFill>
          </a:ln>
        </p:spPr>
        <p:txBody>
          <a:bodyPr wrap="square" lIns="0" tIns="0" rIns="0" bIns="0" rtlCol="0"/>
          <a:lstStyle/>
          <a:p>
            <a:pPr defTabSz="230520"/>
            <a:endParaRPr sz="1798">
              <a:solidFill>
                <a:prstClr val="black"/>
              </a:solidFill>
              <a:latin typeface="Calibri" panose="020F0502020204030204"/>
            </a:endParaRPr>
          </a:p>
        </p:txBody>
      </p:sp>
      <p:sp>
        <p:nvSpPr>
          <p:cNvPr id="73" name="object 73"/>
          <p:cNvSpPr/>
          <p:nvPr/>
        </p:nvSpPr>
        <p:spPr>
          <a:xfrm>
            <a:off x="4518418" y="668829"/>
            <a:ext cx="6344" cy="6344"/>
          </a:xfrm>
          <a:custGeom>
            <a:avLst/>
            <a:gdLst/>
            <a:ahLst/>
            <a:cxnLst/>
            <a:rect l="l" t="t" r="r" b="b"/>
            <a:pathLst>
              <a:path w="6350" h="6350">
                <a:moveTo>
                  <a:pt x="6350" y="6350"/>
                </a:moveTo>
                <a:lnTo>
                  <a:pt x="6350" y="2857"/>
                </a:lnTo>
                <a:lnTo>
                  <a:pt x="3505" y="0"/>
                </a:lnTo>
                <a:lnTo>
                  <a:pt x="0" y="0"/>
                </a:lnTo>
              </a:path>
            </a:pathLst>
          </a:custGeom>
          <a:ln w="11112">
            <a:solidFill>
              <a:srgbClr val="959595"/>
            </a:solidFill>
          </a:ln>
        </p:spPr>
        <p:txBody>
          <a:bodyPr wrap="square" lIns="0" tIns="0" rIns="0" bIns="0" rtlCol="0"/>
          <a:lstStyle/>
          <a:p>
            <a:pPr defTabSz="230520"/>
            <a:endParaRPr sz="1798">
              <a:solidFill>
                <a:prstClr val="black"/>
              </a:solidFill>
              <a:latin typeface="Calibri" panose="020F0502020204030204"/>
            </a:endParaRPr>
          </a:p>
        </p:txBody>
      </p:sp>
      <p:sp>
        <p:nvSpPr>
          <p:cNvPr id="74" name="object 74"/>
          <p:cNvSpPr/>
          <p:nvPr/>
        </p:nvSpPr>
        <p:spPr>
          <a:xfrm>
            <a:off x="4518418" y="675174"/>
            <a:ext cx="6344" cy="6344"/>
          </a:xfrm>
          <a:custGeom>
            <a:avLst/>
            <a:gdLst/>
            <a:ahLst/>
            <a:cxnLst/>
            <a:rect l="l" t="t" r="r" b="b"/>
            <a:pathLst>
              <a:path w="6350" h="6350">
                <a:moveTo>
                  <a:pt x="0" y="6350"/>
                </a:moveTo>
                <a:lnTo>
                  <a:pt x="3505" y="6350"/>
                </a:lnTo>
                <a:lnTo>
                  <a:pt x="6350" y="3505"/>
                </a:lnTo>
                <a:lnTo>
                  <a:pt x="6350" y="0"/>
                </a:lnTo>
              </a:path>
            </a:pathLst>
          </a:custGeom>
          <a:ln w="11112">
            <a:solidFill>
              <a:srgbClr val="959595"/>
            </a:solidFill>
          </a:ln>
        </p:spPr>
        <p:txBody>
          <a:bodyPr wrap="square" lIns="0" tIns="0" rIns="0" bIns="0" rtlCol="0"/>
          <a:lstStyle/>
          <a:p>
            <a:pPr defTabSz="230520"/>
            <a:endParaRPr sz="1798">
              <a:solidFill>
                <a:prstClr val="black"/>
              </a:solidFill>
              <a:latin typeface="Calibri" panose="020F0502020204030204"/>
            </a:endParaRPr>
          </a:p>
        </p:txBody>
      </p:sp>
      <p:sp>
        <p:nvSpPr>
          <p:cNvPr id="75" name="object 75"/>
          <p:cNvSpPr/>
          <p:nvPr/>
        </p:nvSpPr>
        <p:spPr>
          <a:xfrm>
            <a:off x="4518418" y="672001"/>
            <a:ext cx="3172" cy="3172"/>
          </a:xfrm>
          <a:custGeom>
            <a:avLst/>
            <a:gdLst/>
            <a:ahLst/>
            <a:cxnLst/>
            <a:rect l="l" t="t" r="r" b="b"/>
            <a:pathLst>
              <a:path w="3175" h="3175">
                <a:moveTo>
                  <a:pt x="3175" y="3175"/>
                </a:moveTo>
                <a:lnTo>
                  <a:pt x="3175" y="1435"/>
                </a:lnTo>
                <a:lnTo>
                  <a:pt x="1752" y="0"/>
                </a:lnTo>
                <a:lnTo>
                  <a:pt x="0" y="0"/>
                </a:lnTo>
              </a:path>
            </a:pathLst>
          </a:custGeom>
          <a:ln w="11112">
            <a:solidFill>
              <a:srgbClr val="8E8E8E"/>
            </a:solidFill>
          </a:ln>
        </p:spPr>
        <p:txBody>
          <a:bodyPr wrap="square" lIns="0" tIns="0" rIns="0" bIns="0" rtlCol="0"/>
          <a:lstStyle/>
          <a:p>
            <a:pPr defTabSz="230520"/>
            <a:endParaRPr sz="1798">
              <a:solidFill>
                <a:prstClr val="black"/>
              </a:solidFill>
              <a:latin typeface="Calibri" panose="020F0502020204030204"/>
            </a:endParaRPr>
          </a:p>
        </p:txBody>
      </p:sp>
      <p:sp>
        <p:nvSpPr>
          <p:cNvPr id="76" name="object 76"/>
          <p:cNvSpPr/>
          <p:nvPr/>
        </p:nvSpPr>
        <p:spPr>
          <a:xfrm>
            <a:off x="4518418" y="675173"/>
            <a:ext cx="3172" cy="3172"/>
          </a:xfrm>
          <a:custGeom>
            <a:avLst/>
            <a:gdLst/>
            <a:ahLst/>
            <a:cxnLst/>
            <a:rect l="l" t="t" r="r" b="b"/>
            <a:pathLst>
              <a:path w="3175" h="3175">
                <a:moveTo>
                  <a:pt x="0" y="3175"/>
                </a:moveTo>
                <a:lnTo>
                  <a:pt x="1752" y="3175"/>
                </a:lnTo>
                <a:lnTo>
                  <a:pt x="3175" y="1752"/>
                </a:lnTo>
                <a:lnTo>
                  <a:pt x="3175" y="0"/>
                </a:lnTo>
              </a:path>
            </a:pathLst>
          </a:custGeom>
          <a:ln w="11112">
            <a:solidFill>
              <a:srgbClr val="8E8E8E"/>
            </a:solidFill>
          </a:ln>
        </p:spPr>
        <p:txBody>
          <a:bodyPr wrap="square" lIns="0" tIns="0" rIns="0" bIns="0" rtlCol="0"/>
          <a:lstStyle/>
          <a:p>
            <a:pPr defTabSz="230520"/>
            <a:endParaRPr sz="1798">
              <a:solidFill>
                <a:prstClr val="black"/>
              </a:solidFill>
              <a:latin typeface="Calibri" panose="020F0502020204030204"/>
            </a:endParaRPr>
          </a:p>
        </p:txBody>
      </p:sp>
      <p:sp>
        <p:nvSpPr>
          <p:cNvPr id="77" name="object 77"/>
          <p:cNvSpPr/>
          <p:nvPr/>
        </p:nvSpPr>
        <p:spPr>
          <a:xfrm>
            <a:off x="4518418" y="668829"/>
            <a:ext cx="6344" cy="12688"/>
          </a:xfrm>
          <a:custGeom>
            <a:avLst/>
            <a:gdLst/>
            <a:ahLst/>
            <a:cxnLst/>
            <a:rect l="l" t="t" r="r" b="b"/>
            <a:pathLst>
              <a:path w="6350" h="12700">
                <a:moveTo>
                  <a:pt x="3505" y="0"/>
                </a:moveTo>
                <a:lnTo>
                  <a:pt x="0" y="0"/>
                </a:lnTo>
                <a:lnTo>
                  <a:pt x="0" y="12700"/>
                </a:lnTo>
                <a:lnTo>
                  <a:pt x="3505" y="12700"/>
                </a:lnTo>
                <a:lnTo>
                  <a:pt x="6350" y="9855"/>
                </a:lnTo>
                <a:lnTo>
                  <a:pt x="6350" y="2857"/>
                </a:lnTo>
                <a:lnTo>
                  <a:pt x="3505" y="0"/>
                </a:lnTo>
                <a:close/>
              </a:path>
            </a:pathLst>
          </a:custGeom>
          <a:solidFill>
            <a:srgbClr val="7F7F7F"/>
          </a:solidFill>
        </p:spPr>
        <p:txBody>
          <a:bodyPr wrap="square" lIns="0" tIns="0" rIns="0" bIns="0" rtlCol="0"/>
          <a:lstStyle/>
          <a:p>
            <a:pPr defTabSz="230520"/>
            <a:endParaRPr sz="1798">
              <a:solidFill>
                <a:prstClr val="black"/>
              </a:solidFill>
              <a:latin typeface="Calibri" panose="020F0502020204030204"/>
            </a:endParaRPr>
          </a:p>
        </p:txBody>
      </p:sp>
      <p:sp>
        <p:nvSpPr>
          <p:cNvPr id="78" name="object 78"/>
          <p:cNvSpPr/>
          <p:nvPr/>
        </p:nvSpPr>
        <p:spPr>
          <a:xfrm>
            <a:off x="4520000"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8D8D8D"/>
          </a:solidFill>
        </p:spPr>
        <p:txBody>
          <a:bodyPr wrap="square" lIns="0" tIns="0" rIns="0" bIns="0" rtlCol="0"/>
          <a:lstStyle/>
          <a:p>
            <a:pPr defTabSz="230520"/>
            <a:endParaRPr sz="1798">
              <a:solidFill>
                <a:prstClr val="black"/>
              </a:solidFill>
              <a:latin typeface="Calibri" panose="020F0502020204030204"/>
            </a:endParaRPr>
          </a:p>
        </p:txBody>
      </p:sp>
      <p:sp>
        <p:nvSpPr>
          <p:cNvPr id="79" name="object 79"/>
          <p:cNvSpPr/>
          <p:nvPr/>
        </p:nvSpPr>
        <p:spPr>
          <a:xfrm>
            <a:off x="4526345"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9B9B9B"/>
          </a:solidFill>
        </p:spPr>
        <p:txBody>
          <a:bodyPr wrap="square" lIns="0" tIns="0" rIns="0" bIns="0" rtlCol="0"/>
          <a:lstStyle/>
          <a:p>
            <a:pPr defTabSz="230520"/>
            <a:endParaRPr sz="1798">
              <a:solidFill>
                <a:prstClr val="black"/>
              </a:solidFill>
              <a:latin typeface="Calibri" panose="020F0502020204030204"/>
            </a:endParaRPr>
          </a:p>
        </p:txBody>
      </p:sp>
      <p:sp>
        <p:nvSpPr>
          <p:cNvPr id="80" name="object 80"/>
          <p:cNvSpPr/>
          <p:nvPr/>
        </p:nvSpPr>
        <p:spPr>
          <a:xfrm>
            <a:off x="4532686"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A9A9A9"/>
          </a:solidFill>
        </p:spPr>
        <p:txBody>
          <a:bodyPr wrap="square" lIns="0" tIns="0" rIns="0" bIns="0" rtlCol="0"/>
          <a:lstStyle/>
          <a:p>
            <a:pPr defTabSz="230520"/>
            <a:endParaRPr sz="1798">
              <a:solidFill>
                <a:prstClr val="black"/>
              </a:solidFill>
              <a:latin typeface="Calibri" panose="020F0502020204030204"/>
            </a:endParaRPr>
          </a:p>
        </p:txBody>
      </p:sp>
      <p:sp>
        <p:nvSpPr>
          <p:cNvPr id="81" name="object 81"/>
          <p:cNvSpPr/>
          <p:nvPr/>
        </p:nvSpPr>
        <p:spPr>
          <a:xfrm>
            <a:off x="4539030"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B8B8B8"/>
          </a:solidFill>
        </p:spPr>
        <p:txBody>
          <a:bodyPr wrap="square" lIns="0" tIns="0" rIns="0" bIns="0" rtlCol="0"/>
          <a:lstStyle/>
          <a:p>
            <a:pPr defTabSz="230520"/>
            <a:endParaRPr sz="1798">
              <a:solidFill>
                <a:prstClr val="black"/>
              </a:solidFill>
              <a:latin typeface="Calibri" panose="020F0502020204030204"/>
            </a:endParaRPr>
          </a:p>
        </p:txBody>
      </p:sp>
      <p:sp>
        <p:nvSpPr>
          <p:cNvPr id="82" name="object 82"/>
          <p:cNvSpPr/>
          <p:nvPr/>
        </p:nvSpPr>
        <p:spPr>
          <a:xfrm>
            <a:off x="4545384"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C6C6C6"/>
          </a:solidFill>
        </p:spPr>
        <p:txBody>
          <a:bodyPr wrap="square" lIns="0" tIns="0" rIns="0" bIns="0" rtlCol="0"/>
          <a:lstStyle/>
          <a:p>
            <a:pPr defTabSz="230520"/>
            <a:endParaRPr sz="1798">
              <a:solidFill>
                <a:prstClr val="black"/>
              </a:solidFill>
              <a:latin typeface="Calibri" panose="020F0502020204030204"/>
            </a:endParaRPr>
          </a:p>
        </p:txBody>
      </p:sp>
      <p:sp>
        <p:nvSpPr>
          <p:cNvPr id="83" name="object 83"/>
          <p:cNvSpPr/>
          <p:nvPr/>
        </p:nvSpPr>
        <p:spPr>
          <a:xfrm>
            <a:off x="4551703"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D4D4D4"/>
          </a:solidFill>
        </p:spPr>
        <p:txBody>
          <a:bodyPr wrap="square" lIns="0" tIns="0" rIns="0" bIns="0" rtlCol="0"/>
          <a:lstStyle/>
          <a:p>
            <a:pPr defTabSz="230520"/>
            <a:endParaRPr sz="1798">
              <a:solidFill>
                <a:prstClr val="black"/>
              </a:solidFill>
              <a:latin typeface="Calibri" panose="020F0502020204030204"/>
            </a:endParaRPr>
          </a:p>
        </p:txBody>
      </p:sp>
      <p:sp>
        <p:nvSpPr>
          <p:cNvPr id="84" name="object 84"/>
          <p:cNvSpPr/>
          <p:nvPr/>
        </p:nvSpPr>
        <p:spPr>
          <a:xfrm>
            <a:off x="4558066"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E2E2E2"/>
          </a:solidFill>
        </p:spPr>
        <p:txBody>
          <a:bodyPr wrap="square" lIns="0" tIns="0" rIns="0" bIns="0" rtlCol="0"/>
          <a:lstStyle/>
          <a:p>
            <a:pPr defTabSz="230520"/>
            <a:endParaRPr sz="1798">
              <a:solidFill>
                <a:prstClr val="black"/>
              </a:solidFill>
              <a:latin typeface="Calibri" panose="020F0502020204030204"/>
            </a:endParaRPr>
          </a:p>
        </p:txBody>
      </p:sp>
      <p:sp>
        <p:nvSpPr>
          <p:cNvPr id="86" name="object 86"/>
          <p:cNvSpPr/>
          <p:nvPr/>
        </p:nvSpPr>
        <p:spPr>
          <a:xfrm>
            <a:off x="4518417" y="662485"/>
            <a:ext cx="0" cy="609675"/>
          </a:xfrm>
          <a:custGeom>
            <a:avLst/>
            <a:gdLst/>
            <a:ahLst/>
            <a:cxnLst/>
            <a:rect l="l" t="t" r="r" b="b"/>
            <a:pathLst>
              <a:path h="610235">
                <a:moveTo>
                  <a:pt x="0" y="610146"/>
                </a:moveTo>
                <a:lnTo>
                  <a:pt x="0" y="0"/>
                </a:lnTo>
              </a:path>
            </a:pathLst>
          </a:custGeom>
          <a:ln w="3175">
            <a:solidFill>
              <a:srgbClr val="7F7F7F"/>
            </a:solidFill>
          </a:ln>
        </p:spPr>
        <p:txBody>
          <a:bodyPr wrap="square" lIns="0" tIns="0" rIns="0" bIns="0" rtlCol="0"/>
          <a:lstStyle/>
          <a:p>
            <a:pPr defTabSz="230520"/>
            <a:endParaRPr sz="1798">
              <a:solidFill>
                <a:prstClr val="black"/>
              </a:solidFill>
              <a:latin typeface="Calibri" panose="020F0502020204030204"/>
            </a:endParaRPr>
          </a:p>
        </p:txBody>
      </p:sp>
      <p:sp>
        <p:nvSpPr>
          <p:cNvPr id="87" name="object 87"/>
          <p:cNvSpPr/>
          <p:nvPr/>
        </p:nvSpPr>
        <p:spPr>
          <a:xfrm>
            <a:off x="4518417" y="649797"/>
            <a:ext cx="0" cy="12688"/>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pPr defTabSz="230520"/>
            <a:endParaRPr sz="1798">
              <a:solidFill>
                <a:prstClr val="black"/>
              </a:solidFill>
              <a:latin typeface="Calibri" panose="020F0502020204030204"/>
            </a:endParaRPr>
          </a:p>
        </p:txBody>
      </p:sp>
      <p:sp>
        <p:nvSpPr>
          <p:cNvPr id="88" name="object 88"/>
          <p:cNvSpPr/>
          <p:nvPr/>
        </p:nvSpPr>
        <p:spPr>
          <a:xfrm>
            <a:off x="4518417" y="637108"/>
            <a:ext cx="0" cy="12688"/>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pPr defTabSz="230520"/>
            <a:endParaRPr sz="1798">
              <a:solidFill>
                <a:prstClr val="black"/>
              </a:solidFill>
              <a:latin typeface="Calibri" panose="020F0502020204030204"/>
            </a:endParaRPr>
          </a:p>
        </p:txBody>
      </p:sp>
      <p:sp>
        <p:nvSpPr>
          <p:cNvPr id="89" name="object 89"/>
          <p:cNvSpPr/>
          <p:nvPr/>
        </p:nvSpPr>
        <p:spPr>
          <a:xfrm>
            <a:off x="4518417" y="624420"/>
            <a:ext cx="0" cy="12688"/>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pPr defTabSz="230520"/>
            <a:endParaRPr sz="1798">
              <a:solidFill>
                <a:prstClr val="black"/>
              </a:solidFill>
              <a:latin typeface="Calibri" panose="020F0502020204030204"/>
            </a:endParaRPr>
          </a:p>
        </p:txBody>
      </p:sp>
      <p:sp>
        <p:nvSpPr>
          <p:cNvPr id="90" name="object 90"/>
          <p:cNvSpPr/>
          <p:nvPr/>
        </p:nvSpPr>
        <p:spPr>
          <a:xfrm>
            <a:off x="4518417" y="605387"/>
            <a:ext cx="0" cy="19032"/>
          </a:xfrm>
          <a:custGeom>
            <a:avLst/>
            <a:gdLst/>
            <a:ahLst/>
            <a:cxnLst/>
            <a:rect l="l" t="t" r="r" b="b"/>
            <a:pathLst>
              <a:path h="19050">
                <a:moveTo>
                  <a:pt x="0" y="19050"/>
                </a:moveTo>
                <a:lnTo>
                  <a:pt x="0" y="0"/>
                </a:lnTo>
              </a:path>
            </a:pathLst>
          </a:custGeom>
          <a:ln w="3175">
            <a:solidFill>
              <a:srgbClr val="FFFFFF"/>
            </a:solidFill>
          </a:ln>
        </p:spPr>
        <p:txBody>
          <a:bodyPr wrap="square" lIns="0" tIns="0" rIns="0" bIns="0" rtlCol="0"/>
          <a:lstStyle/>
          <a:p>
            <a:pPr defTabSz="230520"/>
            <a:endParaRPr sz="1798">
              <a:solidFill>
                <a:prstClr val="black"/>
              </a:solidFill>
              <a:latin typeface="Calibri" panose="020F0502020204030204"/>
            </a:endParaRPr>
          </a:p>
        </p:txBody>
      </p:sp>
      <p:sp>
        <p:nvSpPr>
          <p:cNvPr id="93" name="object 93"/>
          <p:cNvSpPr txBox="1"/>
          <p:nvPr/>
        </p:nvSpPr>
        <p:spPr>
          <a:xfrm>
            <a:off x="2153044" y="1682921"/>
            <a:ext cx="302617" cy="15389"/>
          </a:xfrm>
          <a:prstGeom prst="rect">
            <a:avLst/>
          </a:prstGeom>
        </p:spPr>
        <p:txBody>
          <a:bodyPr vert="horz" wrap="square" lIns="0" tIns="0" rIns="0" bIns="0" rtlCol="0">
            <a:spAutoFit/>
          </a:bodyPr>
          <a:lstStyle/>
          <a:p>
            <a:pPr marL="12690" defTabSz="230520"/>
            <a:r>
              <a:rPr sz="100" i="1" spc="60" dirty="0">
                <a:solidFill>
                  <a:prstClr val="black"/>
                </a:solidFill>
                <a:latin typeface="Times New Roman"/>
                <a:cs typeface="Times New Roman"/>
              </a:rPr>
              <a:t>  </a:t>
            </a:r>
            <a:endParaRPr sz="100">
              <a:solidFill>
                <a:prstClr val="black"/>
              </a:solidFill>
              <a:latin typeface="Times New Roman"/>
              <a:cs typeface="Times New Roman"/>
            </a:endParaRPr>
          </a:p>
        </p:txBody>
      </p:sp>
      <p:sp>
        <p:nvSpPr>
          <p:cNvPr id="94" name="object 94"/>
          <p:cNvSpPr txBox="1"/>
          <p:nvPr/>
        </p:nvSpPr>
        <p:spPr>
          <a:xfrm>
            <a:off x="78226" y="673587"/>
            <a:ext cx="4383299" cy="785664"/>
          </a:xfrm>
          <a:prstGeom prst="rect">
            <a:avLst/>
          </a:prstGeom>
        </p:spPr>
        <p:txBody>
          <a:bodyPr vert="horz" wrap="square" lIns="0" tIns="0" rIns="0" bIns="0" rtlCol="0">
            <a:spAutoFit/>
          </a:bodyPr>
          <a:lstStyle/>
          <a:p>
            <a:pPr marL="634" algn="ctr" defTabSz="230520">
              <a:lnSpc>
                <a:spcPct val="130000"/>
              </a:lnSpc>
            </a:pPr>
            <a:r>
              <a:rPr lang="zh-CN" altLang="en-US" sz="1599" b="1" spc="-15" dirty="0">
                <a:solidFill>
                  <a:srgbClr val="C00000"/>
                </a:solidFill>
                <a:latin typeface="Garamond" panose="02020404030301010803" pitchFamily="18" charset="0"/>
                <a:ea typeface="KaiTi" panose="02010609060101010101" pitchFamily="49" charset="-122"/>
                <a:cs typeface="Times New Roman"/>
              </a:rPr>
              <a:t>第二章 短期经济波动模型：产品市场的均衡</a:t>
            </a:r>
            <a:endParaRPr lang="en-US" altLang="zh-CN" sz="1599" b="1" spc="-15" dirty="0">
              <a:solidFill>
                <a:srgbClr val="C00000"/>
              </a:solidFill>
              <a:latin typeface="Garamond" panose="02020404030301010803" pitchFamily="18" charset="0"/>
              <a:ea typeface="KaiTi" panose="02010609060101010101" pitchFamily="49" charset="-122"/>
              <a:cs typeface="Times New Roman"/>
            </a:endParaRPr>
          </a:p>
          <a:p>
            <a:pPr marL="634" algn="ctr" defTabSz="230520">
              <a:lnSpc>
                <a:spcPct val="130000"/>
              </a:lnSpc>
            </a:pPr>
            <a:r>
              <a:rPr lang="zh-CN" altLang="en-US" sz="1399" b="1" dirty="0">
                <a:latin typeface="Garamond" panose="02020404030301010803" pitchFamily="18" charset="0"/>
                <a:ea typeface="KaiTi" panose="02010609060101010101" pitchFamily="49" charset="-122"/>
              </a:rPr>
              <a:t>第</a:t>
            </a:r>
            <a:r>
              <a:rPr lang="en-US" altLang="zh-CN" sz="1399" b="1" dirty="0">
                <a:latin typeface="Garamond" panose="02020404030301010803" pitchFamily="18" charset="0"/>
                <a:ea typeface="KaiTi" panose="02010609060101010101" pitchFamily="49" charset="-122"/>
              </a:rPr>
              <a:t>1</a:t>
            </a:r>
            <a:r>
              <a:rPr lang="zh-CN" altLang="en-US" sz="1399" b="1" dirty="0">
                <a:latin typeface="Garamond" panose="02020404030301010803" pitchFamily="18" charset="0"/>
                <a:ea typeface="KaiTi" panose="02010609060101010101" pitchFamily="49" charset="-122"/>
              </a:rPr>
              <a:t>节 均衡国民收入决定理论</a:t>
            </a:r>
            <a:endParaRPr lang="en-US" altLang="zh-CN" sz="1399" b="1" dirty="0">
              <a:latin typeface="Garamond" panose="02020404030301010803" pitchFamily="18" charset="0"/>
              <a:ea typeface="KaiTi" panose="02010609060101010101" pitchFamily="49" charset="-122"/>
            </a:endParaRPr>
          </a:p>
          <a:p>
            <a:pPr marL="634" algn="ctr" defTabSz="230520">
              <a:lnSpc>
                <a:spcPct val="130000"/>
              </a:lnSpc>
            </a:pPr>
            <a:endParaRPr sz="999" b="1" dirty="0">
              <a:solidFill>
                <a:prstClr val="black"/>
              </a:solidFill>
              <a:latin typeface="Garamond" panose="02020404030301010803" pitchFamily="18" charset="0"/>
              <a:cs typeface="Times New Roman"/>
            </a:endParaRPr>
          </a:p>
        </p:txBody>
      </p:sp>
      <p:sp>
        <p:nvSpPr>
          <p:cNvPr id="95" name="object 99">
            <a:extLst>
              <a:ext uri="{FF2B5EF4-FFF2-40B4-BE49-F238E27FC236}">
                <a16:creationId xmlns:a16="http://schemas.microsoft.com/office/drawing/2014/main" id="{E8E3B86C-982D-8D12-0168-A78FC8884DE8}"/>
              </a:ext>
            </a:extLst>
          </p:cNvPr>
          <p:cNvSpPr/>
          <p:nvPr/>
        </p:nvSpPr>
        <p:spPr>
          <a:xfrm>
            <a:off x="1963" y="3344231"/>
            <a:ext cx="4603865" cy="111150"/>
          </a:xfrm>
          <a:prstGeom prst="rect">
            <a:avLst/>
          </a:prstGeom>
          <a:blipFill>
            <a:blip r:embed="rId4" cstate="print"/>
            <a:stretch>
              <a:fillRect/>
            </a:stretch>
          </a:blipFill>
        </p:spPr>
        <p:txBody>
          <a:bodyPr wrap="square" lIns="0" tIns="0" rIns="0" bIns="0" rtlCol="0"/>
          <a:lstStyle/>
          <a:p>
            <a:pPr defTabSz="230520"/>
            <a:endParaRPr sz="1798">
              <a:solidFill>
                <a:prstClr val="black"/>
              </a:solidFill>
              <a:latin typeface="Calibri" panose="020F0502020204030204"/>
            </a:endParaRPr>
          </a:p>
        </p:txBody>
      </p:sp>
      <p:sp>
        <p:nvSpPr>
          <p:cNvPr id="96" name="object 100">
            <a:extLst>
              <a:ext uri="{FF2B5EF4-FFF2-40B4-BE49-F238E27FC236}">
                <a16:creationId xmlns:a16="http://schemas.microsoft.com/office/drawing/2014/main" id="{FCB83B91-3B30-5E31-0A02-C4B58223A209}"/>
              </a:ext>
            </a:extLst>
          </p:cNvPr>
          <p:cNvSpPr txBox="1"/>
          <p:nvPr/>
        </p:nvSpPr>
        <p:spPr>
          <a:xfrm>
            <a:off x="70127" y="3346489"/>
            <a:ext cx="1400159" cy="89768"/>
          </a:xfrm>
          <a:prstGeom prst="rect">
            <a:avLst/>
          </a:prstGeom>
        </p:spPr>
        <p:txBody>
          <a:bodyPr vert="horz" wrap="square" lIns="0" tIns="0" rIns="0" bIns="0" rtlCol="0">
            <a:spAutoFit/>
          </a:bodyPr>
          <a:lstStyle/>
          <a:p>
            <a:pPr marL="12690" defTabSz="230520">
              <a:lnSpc>
                <a:spcPts val="699"/>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599" spc="-5" dirty="0">
                <a:solidFill>
                  <a:srgbClr val="F2F2F2"/>
                </a:solidFill>
                <a:latin typeface="Times New Roman"/>
                <a:cs typeface="Times New Roman"/>
              </a:rPr>
              <a:t>(</a:t>
            </a:r>
            <a:r>
              <a:rPr lang="en-US" sz="599" spc="-5" dirty="0">
                <a:solidFill>
                  <a:srgbClr val="F2F2F2"/>
                </a:solidFill>
                <a:latin typeface="Times New Roman"/>
                <a:cs typeface="Times New Roman"/>
              </a:rPr>
              <a:t>Zhiqing Yang</a:t>
            </a:r>
            <a:r>
              <a:rPr sz="599" spc="135" dirty="0">
                <a:solidFill>
                  <a:srgbClr val="F2F2F2"/>
                </a:solidFill>
                <a:latin typeface="Times New Roman"/>
                <a:cs typeface="Times New Roman"/>
              </a:rPr>
              <a:t> </a:t>
            </a:r>
            <a:r>
              <a:rPr lang="en-US" altLang="zh-CN" sz="599" spc="-5" dirty="0" err="1">
                <a:solidFill>
                  <a:srgbClr val="F2F2F2"/>
                </a:solidFill>
                <a:latin typeface="Times New Roman"/>
                <a:ea typeface="等线" panose="02010600030101010101" pitchFamily="2" charset="-122"/>
                <a:cs typeface="Times New Roman"/>
              </a:rPr>
              <a:t>yangzhiqing</a:t>
            </a:r>
            <a:r>
              <a:rPr sz="599" spc="-5" dirty="0" err="1">
                <a:solidFill>
                  <a:srgbClr val="F2F2F2"/>
                </a:solidFill>
                <a:latin typeface="Times New Roman"/>
                <a:cs typeface="Times New Roman"/>
              </a:rPr>
              <a:t>@</a:t>
            </a:r>
            <a:r>
              <a:rPr lang="en-US" sz="599" spc="-5" dirty="0" err="1">
                <a:solidFill>
                  <a:srgbClr val="F2F2F2"/>
                </a:solidFill>
                <a:latin typeface="Times New Roman"/>
                <a:cs typeface="Times New Roman"/>
              </a:rPr>
              <a:t>hust.edu.cn</a:t>
            </a:r>
            <a:r>
              <a:rPr sz="599" spc="-5" dirty="0">
                <a:solidFill>
                  <a:srgbClr val="F2F2F2"/>
                </a:solidFill>
                <a:latin typeface="Times New Roman"/>
                <a:cs typeface="Times New Roman"/>
              </a:rPr>
              <a:t>)</a:t>
            </a:r>
            <a:endParaRPr sz="599" dirty="0">
              <a:solidFill>
                <a:prstClr val="black"/>
              </a:solidFill>
              <a:latin typeface="Times New Roman"/>
              <a:cs typeface="Times New Roman"/>
            </a:endParaRPr>
          </a:p>
        </p:txBody>
      </p:sp>
      <p:sp>
        <p:nvSpPr>
          <p:cNvPr id="104" name="object 102">
            <a:extLst>
              <a:ext uri="{FF2B5EF4-FFF2-40B4-BE49-F238E27FC236}">
                <a16:creationId xmlns:a16="http://schemas.microsoft.com/office/drawing/2014/main" id="{12EBC35F-69B2-4F45-2870-CA7DEA30B00E}"/>
              </a:ext>
            </a:extLst>
          </p:cNvPr>
          <p:cNvSpPr txBox="1"/>
          <p:nvPr/>
        </p:nvSpPr>
        <p:spPr>
          <a:xfrm>
            <a:off x="3760911" y="3346489"/>
            <a:ext cx="448533" cy="89768"/>
          </a:xfrm>
          <a:prstGeom prst="rect">
            <a:avLst/>
          </a:prstGeom>
        </p:spPr>
        <p:txBody>
          <a:bodyPr vert="horz" wrap="square" lIns="0" tIns="0" rIns="0" bIns="0" rtlCol="0">
            <a:spAutoFit/>
          </a:bodyPr>
          <a:lstStyle/>
          <a:p>
            <a:pPr marL="12690" defTabSz="230520">
              <a:lnSpc>
                <a:spcPts val="699"/>
              </a:lnSpc>
            </a:pPr>
            <a:r>
              <a:rPr sz="599" spc="-5" dirty="0">
                <a:solidFill>
                  <a:srgbClr val="7A0000"/>
                </a:solidFill>
                <a:latin typeface="Times New Roman"/>
                <a:cs typeface="Times New Roman"/>
              </a:rPr>
              <a:t>20</a:t>
            </a:r>
            <a:r>
              <a:rPr lang="en-US" sz="599" spc="-5" dirty="0">
                <a:solidFill>
                  <a:srgbClr val="7A0000"/>
                </a:solidFill>
                <a:latin typeface="Times New Roman"/>
                <a:cs typeface="Times New Roman"/>
              </a:rPr>
              <a:t>23</a:t>
            </a:r>
            <a:r>
              <a:rPr sz="599" spc="-5" dirty="0">
                <a:solidFill>
                  <a:srgbClr val="7A0000"/>
                </a:solidFill>
                <a:latin typeface="Times New Roman"/>
                <a:cs typeface="Times New Roman"/>
              </a:rPr>
              <a:t>-</a:t>
            </a:r>
            <a:r>
              <a:rPr lang="en-US" sz="599" spc="-5" dirty="0">
                <a:solidFill>
                  <a:srgbClr val="7A0000"/>
                </a:solidFill>
                <a:latin typeface="Times New Roman"/>
                <a:cs typeface="Times New Roman"/>
              </a:rPr>
              <a:t>Feb</a:t>
            </a:r>
            <a:endParaRPr sz="599" dirty="0">
              <a:solidFill>
                <a:prstClr val="black"/>
              </a:solidFill>
              <a:latin typeface="Times New Roman"/>
              <a:cs typeface="Times New Roman"/>
            </a:endParaRPr>
          </a:p>
        </p:txBody>
      </p:sp>
      <p:sp>
        <p:nvSpPr>
          <p:cNvPr id="2" name="文本框 1">
            <a:extLst>
              <a:ext uri="{FF2B5EF4-FFF2-40B4-BE49-F238E27FC236}">
                <a16:creationId xmlns:a16="http://schemas.microsoft.com/office/drawing/2014/main" id="{214EB552-41E9-EAB0-533D-D748796F6D3D}"/>
              </a:ext>
            </a:extLst>
          </p:cNvPr>
          <p:cNvSpPr txBox="1"/>
          <p:nvPr/>
        </p:nvSpPr>
        <p:spPr>
          <a:xfrm>
            <a:off x="182236" y="1318065"/>
            <a:ext cx="4236441" cy="293607"/>
          </a:xfrm>
          <a:prstGeom prst="rect">
            <a:avLst/>
          </a:prstGeom>
          <a:noFill/>
        </p:spPr>
        <p:txBody>
          <a:bodyPr wrap="square">
            <a:spAutoFit/>
          </a:bodyPr>
          <a:lstStyle/>
          <a:p>
            <a:pPr marL="634" algn="ctr" defTabSz="230520">
              <a:lnSpc>
                <a:spcPct val="130000"/>
              </a:lnSpc>
            </a:pPr>
            <a:r>
              <a:rPr lang="zh-CN" altLang="en-US" sz="1100" b="1" dirty="0">
                <a:latin typeface="Garamond" panose="02020404030301010803" pitchFamily="18" charset="0"/>
                <a:ea typeface="KaiTi" panose="02010609060101010101" pitchFamily="49" charset="-122"/>
              </a:rPr>
              <a:t>总供给如何决定于总需求？</a:t>
            </a:r>
            <a:endParaRPr lang="en-US" altLang="zh-CN" sz="1100" b="1" dirty="0">
              <a:latin typeface="Garamond" panose="02020404030301010803" pitchFamily="18" charset="0"/>
              <a:ea typeface="KaiTi" panose="02010609060101010101" pitchFamily="49" charset="-122"/>
            </a:endParaRPr>
          </a:p>
        </p:txBody>
      </p:sp>
    </p:spTree>
    <p:extLst>
      <p:ext uri="{BB962C8B-B14F-4D97-AF65-F5344CB8AC3E}">
        <p14:creationId xmlns:p14="http://schemas.microsoft.com/office/powerpoint/2010/main" val="938395858"/>
      </p:ext>
    </p:ext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461040" rtl="0" eaLnBrk="1" fontAlgn="base" latinLnBrk="0" hangingPunct="1">
              <a:lnSpc>
                <a:spcPct val="100000"/>
              </a:lnSpc>
              <a:spcBef>
                <a:spcPct val="0"/>
              </a:spcBef>
              <a:spcAft>
                <a:spcPct val="0"/>
              </a:spcAft>
              <a:buClrTx/>
              <a:buSzTx/>
              <a:buFontTx/>
              <a:buNone/>
              <a:tabLst/>
              <a:defRPr/>
            </a:pPr>
            <a:fld id="{40B57475-AFD4-3C48-860A-4FC9F25FD75E}" type="slidenum">
              <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rPr>
              <a:pPr marL="0" marR="0" lvl="0" indent="0" algn="r" defTabSz="461040" rtl="0" eaLnBrk="1" fontAlgn="base" latinLnBrk="0" hangingPunct="1">
                <a:lnSpc>
                  <a:spcPct val="100000"/>
                </a:lnSpc>
                <a:spcBef>
                  <a:spcPct val="0"/>
                </a:spcBef>
                <a:spcAft>
                  <a:spcPct val="0"/>
                </a:spcAft>
                <a:buClrTx/>
                <a:buSzTx/>
                <a:buFontTx/>
                <a:buNone/>
                <a:tabLst/>
                <a:defRPr/>
              </a:pPr>
              <a:t>5</a:t>
            </a:fld>
            <a:endPar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pPr eaLnBrk="1" hangingPunct="1"/>
            <a:r>
              <a:rPr lang="zh-CN" altLang="en-US" sz="1815" b="1" dirty="0">
                <a:solidFill>
                  <a:srgbClr val="333399"/>
                </a:solidFill>
                <a:latin typeface="+mj-lt"/>
                <a:ea typeface="宋体" panose="02010600030101010101" pitchFamily="2" charset="-122"/>
              </a:rPr>
              <a:t>国民收入核算方法</a:t>
            </a:r>
            <a:endParaRPr lang="zh-CN" altLang="zh-CN" sz="1815" dirty="0">
              <a:ea typeface="宋体" panose="02010600030101010101" pitchFamily="2" charset="-122"/>
            </a:endParaRPr>
          </a:p>
        </p:txBody>
      </p:sp>
      <p:sp>
        <p:nvSpPr>
          <p:cNvPr id="11269" name="Rectangle 3">
            <a:extLst>
              <a:ext uri="{FF2B5EF4-FFF2-40B4-BE49-F238E27FC236}">
                <a16:creationId xmlns:a16="http://schemas.microsoft.com/office/drawing/2014/main" id="{682390F6-8267-98BE-91F5-48320642B532}"/>
              </a:ext>
            </a:extLst>
          </p:cNvPr>
          <p:cNvSpPr>
            <a:spLocks noGrp="1" noChangeArrowheads="1"/>
          </p:cNvSpPr>
          <p:nvPr>
            <p:ph type="body" idx="4294967295"/>
          </p:nvPr>
        </p:nvSpPr>
        <p:spPr/>
        <p:txBody>
          <a:bodyPr/>
          <a:lstStyle/>
          <a:p>
            <a:pPr marL="172890" indent="-172890">
              <a:lnSpc>
                <a:spcPct val="105000"/>
              </a:lnSpc>
              <a:spcBef>
                <a:spcPct val="45000"/>
              </a:spcBef>
              <a:buClr>
                <a:srgbClr val="339966"/>
              </a:buClr>
              <a:buSzPct val="120000"/>
              <a:buFont typeface="Wingdings" pitchFamily="2" charset="2"/>
              <a:buChar char="§"/>
            </a:pPr>
            <a:r>
              <a:rPr lang="zh-CN" altLang="en-US" b="1" dirty="0">
                <a:solidFill>
                  <a:srgbClr val="CC0000"/>
                </a:solidFill>
                <a:ea typeface="宋体" panose="02010600030101010101" pitchFamily="2" charset="-122"/>
              </a:rPr>
              <a:t>总产出、总收入、总支出的定义</a:t>
            </a:r>
            <a:endParaRPr lang="en-US" altLang="zh-CN" b="1" dirty="0">
              <a:solidFill>
                <a:srgbClr val="CC0000"/>
              </a:solidFill>
              <a:ea typeface="宋体" panose="02010600030101010101" pitchFamily="2" charset="-122"/>
            </a:endParaRPr>
          </a:p>
          <a:p>
            <a:pPr marL="172890" indent="-172890">
              <a:lnSpc>
                <a:spcPct val="105000"/>
              </a:lnSpc>
              <a:spcBef>
                <a:spcPct val="45000"/>
              </a:spcBef>
              <a:buClr>
                <a:srgbClr val="339966"/>
              </a:buClr>
              <a:buSzPct val="120000"/>
              <a:buFont typeface="Wingdings" pitchFamily="2" charset="2"/>
              <a:buChar char="§"/>
            </a:pPr>
            <a:r>
              <a:rPr lang="zh-CN" altLang="en-US" b="1" dirty="0">
                <a:ea typeface="宋体" panose="02010600030101010101" pitchFamily="2" charset="-122"/>
              </a:rPr>
              <a:t>总产出</a:t>
            </a:r>
            <a:r>
              <a:rPr lang="zh-CN" altLang="en-US" dirty="0">
                <a:ea typeface="宋体" panose="02010600030101010101" pitchFamily="2" charset="-122"/>
              </a:rPr>
              <a:t>：就是</a:t>
            </a:r>
            <a:r>
              <a:rPr lang="en-US" altLang="zh-CN" dirty="0">
                <a:ea typeface="宋体" panose="02010600030101010101" pitchFamily="2" charset="-122"/>
              </a:rPr>
              <a:t>GDP</a:t>
            </a:r>
            <a:r>
              <a:rPr lang="zh-CN" altLang="en-US" dirty="0">
                <a:ea typeface="宋体" panose="02010600030101010101" pitchFamily="2" charset="-122"/>
              </a:rPr>
              <a:t>，即是一国或一定地区在一定时间内运用生产要素所生产的全部最终产品（物品和劳务）的市场价值</a:t>
            </a:r>
          </a:p>
          <a:p>
            <a:pPr marL="172890" indent="-172890">
              <a:lnSpc>
                <a:spcPct val="105000"/>
              </a:lnSpc>
              <a:spcBef>
                <a:spcPct val="45000"/>
              </a:spcBef>
              <a:buClr>
                <a:srgbClr val="339966"/>
              </a:buClr>
              <a:buSzPct val="120000"/>
              <a:buFont typeface="Wingdings" pitchFamily="2" charset="2"/>
              <a:buChar char="§"/>
            </a:pPr>
            <a:r>
              <a:rPr lang="zh-CN" altLang="en-US" b="1" dirty="0">
                <a:ea typeface="宋体" panose="02010600030101010101" pitchFamily="2" charset="-122"/>
              </a:rPr>
              <a:t>总收入</a:t>
            </a:r>
            <a:r>
              <a:rPr lang="zh-CN" altLang="en-US" dirty="0">
                <a:ea typeface="宋体" panose="02010600030101010101" pitchFamily="2" charset="-122"/>
              </a:rPr>
              <a:t>：生产</a:t>
            </a:r>
            <a:r>
              <a:rPr lang="en-US" altLang="zh-CN" dirty="0">
                <a:ea typeface="宋体" panose="02010600030101010101" pitchFamily="2" charset="-122"/>
              </a:rPr>
              <a:t>GDP</a:t>
            </a:r>
            <a:r>
              <a:rPr lang="zh-CN" altLang="en-US" dirty="0">
                <a:ea typeface="宋体" panose="02010600030101010101" pitchFamily="2" charset="-122"/>
              </a:rPr>
              <a:t>的要素所有者的全部收入（工资、利息、租金、正常利润）</a:t>
            </a:r>
          </a:p>
          <a:p>
            <a:pPr marL="172890" indent="-172890">
              <a:lnSpc>
                <a:spcPct val="105000"/>
              </a:lnSpc>
              <a:spcBef>
                <a:spcPct val="45000"/>
              </a:spcBef>
              <a:buClr>
                <a:srgbClr val="339966"/>
              </a:buClr>
              <a:buSzPct val="120000"/>
              <a:buFont typeface="Wingdings" pitchFamily="2" charset="2"/>
              <a:buChar char="§"/>
            </a:pPr>
            <a:r>
              <a:rPr lang="zh-CN" altLang="en-US" b="1" dirty="0">
                <a:ea typeface="宋体" panose="02010600030101010101" pitchFamily="2" charset="-122"/>
              </a:rPr>
              <a:t>总支出</a:t>
            </a:r>
            <a:r>
              <a:rPr lang="zh-CN" altLang="en-US" dirty="0">
                <a:ea typeface="宋体" panose="02010600030101010101" pitchFamily="2" charset="-122"/>
              </a:rPr>
              <a:t>：全社会购买最终产品</a:t>
            </a:r>
            <a:r>
              <a:rPr lang="en-US" altLang="zh-CN" dirty="0">
                <a:ea typeface="宋体" panose="02010600030101010101" pitchFamily="2" charset="-122"/>
              </a:rPr>
              <a:t>GDP</a:t>
            </a:r>
            <a:r>
              <a:rPr lang="zh-CN" altLang="en-US" dirty="0">
                <a:ea typeface="宋体" panose="02010600030101010101" pitchFamily="2" charset="-122"/>
              </a:rPr>
              <a:t>的总支出</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61040" rtl="0" eaLnBrk="1" fontAlgn="base" latinLnBrk="0" hangingPunct="1">
              <a:lnSpc>
                <a:spcPct val="100000"/>
              </a:lnSpc>
              <a:spcBef>
                <a:spcPct val="0"/>
              </a:spcBef>
              <a:spcAft>
                <a:spcPct val="0"/>
              </a:spcAft>
              <a:buClrTx/>
              <a:buSzTx/>
              <a:buFontTx/>
              <a:buNone/>
              <a:tabLst/>
              <a:defRPr/>
            </a:pPr>
            <a:r>
              <a:rPr kumimoji="0" lang="en-US" altLang="zh-CN" sz="706"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t>0</a:t>
            </a:r>
          </a:p>
        </p:txBody>
      </p:sp>
      <p:sp>
        <p:nvSpPr>
          <p:cNvPr id="2" name="页脚占位符 1">
            <a:extLst>
              <a:ext uri="{FF2B5EF4-FFF2-40B4-BE49-F238E27FC236}">
                <a16:creationId xmlns:a16="http://schemas.microsoft.com/office/drawing/2014/main" id="{BF3A450A-E0EB-10C1-50DF-5B851CF0361D}"/>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61040" rtl="0" eaLnBrk="1" fontAlgn="base" latinLnBrk="0" hangingPunct="1">
              <a:lnSpc>
                <a:spcPct val="100000"/>
              </a:lnSpc>
              <a:spcBef>
                <a:spcPct val="0"/>
              </a:spcBef>
              <a:spcAft>
                <a:spcPct val="0"/>
              </a:spcAft>
              <a:buClrTx/>
              <a:buSzTx/>
              <a:buFontTx/>
              <a:buNone/>
              <a:tabLst/>
              <a:defRPr/>
            </a:pP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第</a:t>
            </a:r>
            <a:r>
              <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1</a:t>
            </a: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节 均衡国民收入的决定</a:t>
            </a:r>
            <a:endPar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436025206"/>
      </p:ext>
    </p:extLst>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461040" rtl="0" eaLnBrk="1" fontAlgn="base" latinLnBrk="0" hangingPunct="1">
              <a:lnSpc>
                <a:spcPct val="100000"/>
              </a:lnSpc>
              <a:spcBef>
                <a:spcPct val="0"/>
              </a:spcBef>
              <a:spcAft>
                <a:spcPct val="0"/>
              </a:spcAft>
              <a:buClrTx/>
              <a:buSzTx/>
              <a:buFontTx/>
              <a:buNone/>
              <a:tabLst/>
              <a:defRPr/>
            </a:pPr>
            <a:fld id="{40B57475-AFD4-3C48-860A-4FC9F25FD75E}" type="slidenum">
              <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rPr>
              <a:pPr marL="0" marR="0" lvl="0" indent="0" algn="r" defTabSz="461040" rtl="0" eaLnBrk="1" fontAlgn="base" latinLnBrk="0" hangingPunct="1">
                <a:lnSpc>
                  <a:spcPct val="100000"/>
                </a:lnSpc>
                <a:spcBef>
                  <a:spcPct val="0"/>
                </a:spcBef>
                <a:spcAft>
                  <a:spcPct val="0"/>
                </a:spcAft>
                <a:buClrTx/>
                <a:buSzTx/>
                <a:buFontTx/>
                <a:buNone/>
                <a:tabLst/>
                <a:defRPr/>
              </a:pPr>
              <a:t>6</a:t>
            </a:fld>
            <a:endPar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pPr eaLnBrk="1" hangingPunct="1"/>
            <a:r>
              <a:rPr lang="zh-CN" altLang="en-US" sz="1815" b="1" dirty="0">
                <a:solidFill>
                  <a:srgbClr val="333399"/>
                </a:solidFill>
                <a:latin typeface="+mj-lt"/>
                <a:ea typeface="宋体" panose="02010600030101010101" pitchFamily="2" charset="-122"/>
              </a:rPr>
              <a:t>国民收入核算思想</a:t>
            </a:r>
            <a:endParaRPr lang="zh-CN" altLang="zh-CN" sz="1815" dirty="0">
              <a:ea typeface="宋体" panose="02010600030101010101" pitchFamily="2" charset="-122"/>
            </a:endParaRPr>
          </a:p>
        </p:txBody>
      </p:sp>
      <p:sp>
        <p:nvSpPr>
          <p:cNvPr id="11269" name="Rectangle 3">
            <a:extLst>
              <a:ext uri="{FF2B5EF4-FFF2-40B4-BE49-F238E27FC236}">
                <a16:creationId xmlns:a16="http://schemas.microsoft.com/office/drawing/2014/main" id="{682390F6-8267-98BE-91F5-48320642B532}"/>
              </a:ext>
            </a:extLst>
          </p:cNvPr>
          <p:cNvSpPr>
            <a:spLocks noGrp="1" noChangeArrowheads="1"/>
          </p:cNvSpPr>
          <p:nvPr>
            <p:ph type="body" idx="4294967295"/>
          </p:nvPr>
        </p:nvSpPr>
        <p:spPr/>
        <p:txBody>
          <a:bodyPr/>
          <a:lstStyle/>
          <a:p>
            <a:pPr marL="0" indent="0" eaLnBrk="1" hangingPunct="1">
              <a:buSzTx/>
              <a:buNone/>
            </a:pPr>
            <a:r>
              <a:rPr lang="zh-CN" altLang="en-US" b="1" dirty="0">
                <a:ea typeface="宋体" panose="02010600030101010101" pitchFamily="2" charset="-122"/>
              </a:rPr>
              <a:t>循环流量图复习：总产出、总收入、总支出的关系</a:t>
            </a:r>
          </a:p>
          <a:p>
            <a:pPr marL="268940" indent="-268940" eaLnBrk="1" hangingPunct="1">
              <a:buSzTx/>
              <a:buFont typeface="Wingdings" pitchFamily="2" charset="2"/>
              <a:buAutoNum type="arabicPeriod"/>
            </a:pPr>
            <a:r>
              <a:rPr lang="zh-CN" altLang="en-US" b="1" dirty="0">
                <a:ea typeface="宋体" panose="02010600030101010101" pitchFamily="2" charset="-122"/>
              </a:rPr>
              <a:t>（总）产出</a:t>
            </a:r>
            <a:r>
              <a:rPr lang="en-US" altLang="zh-CN" b="1" dirty="0">
                <a:ea typeface="宋体" panose="02010600030101010101" pitchFamily="2" charset="-122"/>
              </a:rPr>
              <a:t>=</a:t>
            </a:r>
            <a:r>
              <a:rPr lang="zh-CN" altLang="en-US" b="1" dirty="0">
                <a:ea typeface="宋体" panose="02010600030101010101" pitchFamily="2" charset="-122"/>
              </a:rPr>
              <a:t>（总）收入</a:t>
            </a:r>
          </a:p>
          <a:p>
            <a:pPr marL="172890" indent="-172890">
              <a:lnSpc>
                <a:spcPct val="105000"/>
              </a:lnSpc>
              <a:spcBef>
                <a:spcPct val="45000"/>
              </a:spcBef>
              <a:buClr>
                <a:srgbClr val="339966"/>
              </a:buClr>
              <a:buSzPct val="120000"/>
              <a:buFont typeface="Wingdings" pitchFamily="2" charset="2"/>
              <a:buChar char="§"/>
            </a:pPr>
            <a:r>
              <a:rPr lang="zh-CN" altLang="en-US" sz="1400" dirty="0">
                <a:ea typeface="宋体" panose="02010600030101010101" pitchFamily="2" charset="-122"/>
              </a:rPr>
              <a:t>产出是生产要素共同创造的，产出值自然要转化为要素提供者的收入。</a:t>
            </a:r>
          </a:p>
          <a:p>
            <a:pPr marL="172890" indent="-172890">
              <a:lnSpc>
                <a:spcPct val="105000"/>
              </a:lnSpc>
              <a:spcBef>
                <a:spcPct val="45000"/>
              </a:spcBef>
              <a:buClr>
                <a:srgbClr val="339966"/>
              </a:buClr>
              <a:buSzPct val="120000"/>
              <a:buFont typeface="Wingdings" pitchFamily="2" charset="2"/>
              <a:buChar char="§"/>
            </a:pPr>
            <a:r>
              <a:rPr lang="zh-CN" altLang="en-US" sz="1400" dirty="0">
                <a:ea typeface="宋体" panose="02010600030101010101" pitchFamily="2" charset="-122"/>
              </a:rPr>
              <a:t>一个企业的产出总等于收入，一个国家的总产出也必然等于总收入。</a:t>
            </a:r>
            <a:endParaRPr lang="zh-CN" altLang="zh-CN" dirty="0">
              <a:ea typeface="宋体" panose="02010600030101010101" pitchFamily="2" charset="-122"/>
            </a:endParaRP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61040" rtl="0" eaLnBrk="1" fontAlgn="base" latinLnBrk="0" hangingPunct="1">
              <a:lnSpc>
                <a:spcPct val="100000"/>
              </a:lnSpc>
              <a:spcBef>
                <a:spcPct val="0"/>
              </a:spcBef>
              <a:spcAft>
                <a:spcPct val="0"/>
              </a:spcAft>
              <a:buClrTx/>
              <a:buSzTx/>
              <a:buFontTx/>
              <a:buNone/>
              <a:tabLst/>
              <a:defRPr/>
            </a:pPr>
            <a:r>
              <a:rPr kumimoji="0" lang="en-US" altLang="zh-CN" sz="706"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t>0</a:t>
            </a:r>
          </a:p>
        </p:txBody>
      </p:sp>
      <p:sp>
        <p:nvSpPr>
          <p:cNvPr id="3" name="页脚占位符 1">
            <a:extLst>
              <a:ext uri="{FF2B5EF4-FFF2-40B4-BE49-F238E27FC236}">
                <a16:creationId xmlns:a16="http://schemas.microsoft.com/office/drawing/2014/main" id="{F46E35B2-851E-7689-FB77-9D796F0D648D}"/>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61040" rtl="0" eaLnBrk="1" fontAlgn="base" latinLnBrk="0" hangingPunct="1">
              <a:lnSpc>
                <a:spcPct val="100000"/>
              </a:lnSpc>
              <a:spcBef>
                <a:spcPct val="0"/>
              </a:spcBef>
              <a:spcAft>
                <a:spcPct val="0"/>
              </a:spcAft>
              <a:buClrTx/>
              <a:buSzTx/>
              <a:buFontTx/>
              <a:buNone/>
              <a:tabLst/>
              <a:defRPr/>
            </a:pP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第</a:t>
            </a:r>
            <a:r>
              <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1</a:t>
            </a: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节 均衡国民收入的决定</a:t>
            </a:r>
            <a:endPar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461040" rtl="0" eaLnBrk="1" fontAlgn="base" latinLnBrk="0" hangingPunct="1">
              <a:lnSpc>
                <a:spcPct val="100000"/>
              </a:lnSpc>
              <a:spcBef>
                <a:spcPct val="0"/>
              </a:spcBef>
              <a:spcAft>
                <a:spcPct val="0"/>
              </a:spcAft>
              <a:buClrTx/>
              <a:buSzTx/>
              <a:buFontTx/>
              <a:buNone/>
              <a:tabLst/>
              <a:defRPr/>
            </a:pPr>
            <a:fld id="{40B57475-AFD4-3C48-860A-4FC9F25FD75E}" type="slidenum">
              <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rPr>
              <a:pPr marL="0" marR="0" lvl="0" indent="0" algn="r" defTabSz="461040" rtl="0" eaLnBrk="1" fontAlgn="base" latinLnBrk="0" hangingPunct="1">
                <a:lnSpc>
                  <a:spcPct val="100000"/>
                </a:lnSpc>
                <a:spcBef>
                  <a:spcPct val="0"/>
                </a:spcBef>
                <a:spcAft>
                  <a:spcPct val="0"/>
                </a:spcAft>
                <a:buClrTx/>
                <a:buSzTx/>
                <a:buFontTx/>
                <a:buNone/>
                <a:tabLst/>
                <a:defRPr/>
              </a:pPr>
              <a:t>7</a:t>
            </a:fld>
            <a:endPar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pPr eaLnBrk="1" hangingPunct="1"/>
            <a:r>
              <a:rPr lang="zh-CN" altLang="en-US" sz="1815" b="1" dirty="0">
                <a:solidFill>
                  <a:srgbClr val="333399"/>
                </a:solidFill>
                <a:latin typeface="+mj-lt"/>
                <a:ea typeface="宋体" panose="02010600030101010101" pitchFamily="2" charset="-122"/>
              </a:rPr>
              <a:t>国民收入核算思想</a:t>
            </a:r>
            <a:endParaRPr lang="zh-CN" altLang="zh-CN" sz="1815" dirty="0">
              <a:ea typeface="宋体" panose="02010600030101010101" pitchFamily="2" charset="-122"/>
            </a:endParaRPr>
          </a:p>
        </p:txBody>
      </p:sp>
      <p:sp>
        <p:nvSpPr>
          <p:cNvPr id="11269" name="Rectangle 3">
            <a:extLst>
              <a:ext uri="{FF2B5EF4-FFF2-40B4-BE49-F238E27FC236}">
                <a16:creationId xmlns:a16="http://schemas.microsoft.com/office/drawing/2014/main" id="{682390F6-8267-98BE-91F5-48320642B532}"/>
              </a:ext>
            </a:extLst>
          </p:cNvPr>
          <p:cNvSpPr>
            <a:spLocks noGrp="1" noChangeArrowheads="1"/>
          </p:cNvSpPr>
          <p:nvPr>
            <p:ph type="body" idx="4294967295"/>
          </p:nvPr>
        </p:nvSpPr>
        <p:spPr/>
        <p:txBody>
          <a:bodyPr/>
          <a:lstStyle/>
          <a:p>
            <a:pPr marL="0" indent="0" eaLnBrk="1" hangingPunct="1">
              <a:buSzTx/>
              <a:buNone/>
            </a:pPr>
            <a:r>
              <a:rPr lang="zh-CN" altLang="en-US" b="1" dirty="0">
                <a:ea typeface="宋体" panose="02010600030101010101" pitchFamily="2" charset="-122"/>
              </a:rPr>
              <a:t>循环流量图复习：总产出、总收入、总支出的关系</a:t>
            </a:r>
          </a:p>
          <a:p>
            <a:pPr marL="0" indent="0" eaLnBrk="1" hangingPunct="1">
              <a:buSzTx/>
              <a:buNone/>
            </a:pPr>
            <a:r>
              <a:rPr lang="en-US" altLang="zh-CN" b="1" dirty="0">
                <a:ea typeface="宋体" panose="02010600030101010101" pitchFamily="2" charset="-122"/>
              </a:rPr>
              <a:t>2.</a:t>
            </a:r>
            <a:r>
              <a:rPr lang="zh-CN" altLang="en-US" b="1" dirty="0">
                <a:ea typeface="宋体" panose="02010600030101010101" pitchFamily="2" charset="-122"/>
              </a:rPr>
              <a:t> （总）产出</a:t>
            </a:r>
            <a:r>
              <a:rPr lang="en-US" altLang="zh-CN" b="1" dirty="0">
                <a:ea typeface="宋体" panose="02010600030101010101" pitchFamily="2" charset="-122"/>
              </a:rPr>
              <a:t>=</a:t>
            </a:r>
            <a:r>
              <a:rPr lang="zh-CN" altLang="en-US" b="1" dirty="0">
                <a:ea typeface="宋体" panose="02010600030101010101" pitchFamily="2" charset="-122"/>
              </a:rPr>
              <a:t>（总）支出</a:t>
            </a:r>
          </a:p>
          <a:p>
            <a:pPr marL="172890" indent="-172890">
              <a:lnSpc>
                <a:spcPct val="105000"/>
              </a:lnSpc>
              <a:spcBef>
                <a:spcPct val="45000"/>
              </a:spcBef>
              <a:buClr>
                <a:srgbClr val="339966"/>
              </a:buClr>
              <a:buSzPct val="120000"/>
              <a:buFont typeface="Wingdings" pitchFamily="2" charset="2"/>
              <a:buChar char="§"/>
            </a:pPr>
            <a:r>
              <a:rPr lang="zh-CN" altLang="en-US" sz="1400" dirty="0">
                <a:ea typeface="宋体" panose="02010600030101010101" pitchFamily="2" charset="-122"/>
              </a:rPr>
              <a:t>产出是为购买者而生产的，自然最终产品的销售收入，就是最终产品购买者的支出。</a:t>
            </a:r>
          </a:p>
          <a:p>
            <a:pPr marL="172890" indent="-172890">
              <a:lnSpc>
                <a:spcPct val="105000"/>
              </a:lnSpc>
              <a:spcBef>
                <a:spcPct val="45000"/>
              </a:spcBef>
              <a:buClr>
                <a:srgbClr val="339966"/>
              </a:buClr>
              <a:buSzPct val="120000"/>
              <a:buFont typeface="Wingdings" pitchFamily="2" charset="2"/>
              <a:buChar char="§"/>
            </a:pPr>
            <a:r>
              <a:rPr lang="zh-CN" altLang="en-US" sz="1400" dirty="0">
                <a:ea typeface="宋体" panose="02010600030101010101" pitchFamily="2" charset="-122"/>
              </a:rPr>
              <a:t>具体地说，总产出=市场购买总支出+存货总投资（支出）</a:t>
            </a:r>
          </a:p>
          <a:p>
            <a:pPr marL="172890" indent="-172890">
              <a:lnSpc>
                <a:spcPct val="105000"/>
              </a:lnSpc>
              <a:spcBef>
                <a:spcPct val="45000"/>
              </a:spcBef>
              <a:buClr>
                <a:srgbClr val="339966"/>
              </a:buClr>
              <a:buSzPct val="120000"/>
              <a:buFont typeface="Wingdings" pitchFamily="2" charset="2"/>
              <a:buChar char="§"/>
            </a:pPr>
            <a:r>
              <a:rPr lang="zh-CN" altLang="en-US" sz="1400" dirty="0">
                <a:ea typeface="宋体" panose="02010600030101010101" pitchFamily="2" charset="-122"/>
              </a:rPr>
              <a:t>用公式表示即为：总收入=总产出=总支出</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61040" rtl="0" eaLnBrk="1" fontAlgn="base" latinLnBrk="0" hangingPunct="1">
              <a:lnSpc>
                <a:spcPct val="100000"/>
              </a:lnSpc>
              <a:spcBef>
                <a:spcPct val="0"/>
              </a:spcBef>
              <a:spcAft>
                <a:spcPct val="0"/>
              </a:spcAft>
              <a:buClrTx/>
              <a:buSzTx/>
              <a:buFontTx/>
              <a:buNone/>
              <a:tabLst/>
              <a:defRPr/>
            </a:pPr>
            <a:r>
              <a:rPr kumimoji="0" lang="en-US" altLang="zh-CN" sz="706"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t>0</a:t>
            </a:r>
          </a:p>
        </p:txBody>
      </p:sp>
      <p:sp>
        <p:nvSpPr>
          <p:cNvPr id="3" name="页脚占位符 1">
            <a:extLst>
              <a:ext uri="{FF2B5EF4-FFF2-40B4-BE49-F238E27FC236}">
                <a16:creationId xmlns:a16="http://schemas.microsoft.com/office/drawing/2014/main" id="{B4DD9EC1-F978-BD96-A93B-B3675B3D8935}"/>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61040" rtl="0" eaLnBrk="1" fontAlgn="base" latinLnBrk="0" hangingPunct="1">
              <a:lnSpc>
                <a:spcPct val="100000"/>
              </a:lnSpc>
              <a:spcBef>
                <a:spcPct val="0"/>
              </a:spcBef>
              <a:spcAft>
                <a:spcPct val="0"/>
              </a:spcAft>
              <a:buClrTx/>
              <a:buSzTx/>
              <a:buFontTx/>
              <a:buNone/>
              <a:tabLst/>
              <a:defRPr/>
            </a:pP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第</a:t>
            </a:r>
            <a:r>
              <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1</a:t>
            </a: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节 均衡国民收入的决定</a:t>
            </a:r>
            <a:endPar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786266729"/>
      </p:ext>
    </p:extLst>
  </p:cSld>
  <p:clrMapOvr>
    <a:masterClrMapping/>
  </p:clrMapOvr>
  <p:transition>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461040" rtl="0" eaLnBrk="1" fontAlgn="base" latinLnBrk="0" hangingPunct="1">
              <a:lnSpc>
                <a:spcPct val="100000"/>
              </a:lnSpc>
              <a:spcBef>
                <a:spcPct val="0"/>
              </a:spcBef>
              <a:spcAft>
                <a:spcPct val="0"/>
              </a:spcAft>
              <a:buClrTx/>
              <a:buSzTx/>
              <a:buFontTx/>
              <a:buNone/>
              <a:tabLst/>
              <a:defRPr/>
            </a:pPr>
            <a:fld id="{40B57475-AFD4-3C48-860A-4FC9F25FD75E}" type="slidenum">
              <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rPr>
              <a:pPr marL="0" marR="0" lvl="0" indent="0" algn="r" defTabSz="461040" rtl="0" eaLnBrk="1" fontAlgn="base" latinLnBrk="0" hangingPunct="1">
                <a:lnSpc>
                  <a:spcPct val="100000"/>
                </a:lnSpc>
                <a:spcBef>
                  <a:spcPct val="0"/>
                </a:spcBef>
                <a:spcAft>
                  <a:spcPct val="0"/>
                </a:spcAft>
                <a:buClrTx/>
                <a:buSzTx/>
                <a:buFontTx/>
                <a:buNone/>
                <a:tabLst/>
                <a:defRPr/>
              </a:pPr>
              <a:t>8</a:t>
            </a:fld>
            <a:endPar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pPr eaLnBrk="1" hangingPunct="1"/>
            <a:r>
              <a:rPr lang="zh-CN" altLang="en-US" sz="1815" b="1" dirty="0">
                <a:solidFill>
                  <a:srgbClr val="333399"/>
                </a:solidFill>
                <a:latin typeface="+mj-lt"/>
                <a:ea typeface="宋体" panose="02010600030101010101" pitchFamily="2" charset="-122"/>
              </a:rPr>
              <a:t>国民收入核算思想</a:t>
            </a:r>
            <a:endParaRPr lang="zh-CN" altLang="zh-CN" sz="1815" dirty="0">
              <a:ea typeface="宋体" panose="02010600030101010101" pitchFamily="2" charset="-122"/>
            </a:endParaRPr>
          </a:p>
        </p:txBody>
      </p:sp>
      <p:sp>
        <p:nvSpPr>
          <p:cNvPr id="11269" name="Rectangle 3">
            <a:extLst>
              <a:ext uri="{FF2B5EF4-FFF2-40B4-BE49-F238E27FC236}">
                <a16:creationId xmlns:a16="http://schemas.microsoft.com/office/drawing/2014/main" id="{682390F6-8267-98BE-91F5-48320642B532}"/>
              </a:ext>
            </a:extLst>
          </p:cNvPr>
          <p:cNvSpPr>
            <a:spLocks noGrp="1" noChangeArrowheads="1"/>
          </p:cNvSpPr>
          <p:nvPr>
            <p:ph type="body" idx="4294967295"/>
          </p:nvPr>
        </p:nvSpPr>
        <p:spPr/>
        <p:txBody>
          <a:bodyPr/>
          <a:lstStyle/>
          <a:p>
            <a:r>
              <a:rPr lang="zh-CN" altLang="en-US" dirty="0">
                <a:latin typeface="SimSun" panose="02010600030101010101" pitchFamily="2" charset="-122"/>
                <a:ea typeface="SimSun" panose="02010600030101010101" pitchFamily="2" charset="-122"/>
              </a:rPr>
              <a:t>认识总“收入</a:t>
            </a:r>
            <a:r>
              <a:rPr lang="en-US" altLang="zh-CN" dirty="0">
                <a:latin typeface="SimSun" panose="02010600030101010101" pitchFamily="2" charset="-122"/>
                <a:ea typeface="SimSun" panose="02010600030101010101" pitchFamily="2" charset="-122"/>
              </a:rPr>
              <a:t>=</a:t>
            </a:r>
            <a:r>
              <a:rPr lang="zh-CN" altLang="en-US" dirty="0">
                <a:latin typeface="SimSun" panose="02010600030101010101" pitchFamily="2" charset="-122"/>
                <a:ea typeface="SimSun" panose="02010600030101010101" pitchFamily="2" charset="-122"/>
              </a:rPr>
              <a:t>总产出</a:t>
            </a:r>
            <a:r>
              <a:rPr lang="en-US" altLang="zh-CN" dirty="0">
                <a:latin typeface="SimSun" panose="02010600030101010101" pitchFamily="2" charset="-122"/>
                <a:ea typeface="SimSun" panose="02010600030101010101" pitchFamily="2" charset="-122"/>
              </a:rPr>
              <a:t>=</a:t>
            </a:r>
            <a:r>
              <a:rPr lang="zh-CN" altLang="en-US" dirty="0">
                <a:latin typeface="SimSun" panose="02010600030101010101" pitchFamily="2" charset="-122"/>
                <a:ea typeface="SimSun" panose="02010600030101010101" pitchFamily="2" charset="-122"/>
              </a:rPr>
              <a:t>总支出”这一公式对于弄清如何核算</a:t>
            </a:r>
            <a:r>
              <a:rPr lang="en-US" altLang="zh-CN" dirty="0">
                <a:latin typeface="SimSun" panose="02010600030101010101" pitchFamily="2" charset="-122"/>
                <a:ea typeface="SimSun" panose="02010600030101010101" pitchFamily="2" charset="-122"/>
              </a:rPr>
              <a:t>GDP</a:t>
            </a:r>
            <a:r>
              <a:rPr lang="zh-CN" altLang="en-US" dirty="0">
                <a:latin typeface="SimSun" panose="02010600030101010101" pitchFamily="2" charset="-122"/>
                <a:ea typeface="SimSun" panose="02010600030101010101" pitchFamily="2" charset="-122"/>
              </a:rPr>
              <a:t>有重大意义。</a:t>
            </a:r>
          </a:p>
          <a:p>
            <a:r>
              <a:rPr lang="zh-CN" altLang="en-US" dirty="0">
                <a:latin typeface="SimSun" panose="02010600030101010101" pitchFamily="2" charset="-122"/>
                <a:ea typeface="SimSun" panose="02010600030101010101" pitchFamily="2" charset="-122"/>
              </a:rPr>
              <a:t>⑴从理论上说，</a:t>
            </a:r>
            <a:r>
              <a:rPr lang="en-US" altLang="zh-CN" dirty="0">
                <a:latin typeface="SimSun" panose="02010600030101010101" pitchFamily="2" charset="-122"/>
                <a:ea typeface="SimSun" panose="02010600030101010101" pitchFamily="2" charset="-122"/>
              </a:rPr>
              <a:t>GDP=∑</a:t>
            </a:r>
            <a:r>
              <a:rPr lang="en-US" altLang="zh-CN" dirty="0" err="1">
                <a:latin typeface="SimSun" panose="02010600030101010101" pitchFamily="2" charset="-122"/>
                <a:ea typeface="SimSun" panose="02010600030101010101" pitchFamily="2" charset="-122"/>
              </a:rPr>
              <a:t>PiQi</a:t>
            </a:r>
            <a:r>
              <a:rPr lang="zh-CN" altLang="en-US" dirty="0">
                <a:latin typeface="SimSun" panose="02010600030101010101" pitchFamily="2" charset="-122"/>
                <a:ea typeface="SimSun" panose="02010600030101010101" pitchFamily="2" charset="-122"/>
              </a:rPr>
              <a:t>。如果用（</a:t>
            </a:r>
            <a:r>
              <a:rPr lang="en-US" altLang="zh-CN" dirty="0">
                <a:latin typeface="SimSun" panose="02010600030101010101" pitchFamily="2" charset="-122"/>
                <a:ea typeface="SimSun" panose="02010600030101010101" pitchFamily="2" charset="-122"/>
              </a:rPr>
              <a:t>Q1</a:t>
            </a:r>
            <a:r>
              <a:rPr lang="zh-CN" altLang="en-US" dirty="0">
                <a:latin typeface="SimSun" panose="02010600030101010101" pitchFamily="2" charset="-122"/>
                <a:ea typeface="SimSun" panose="02010600030101010101" pitchFamily="2" charset="-122"/>
              </a:rPr>
              <a:t>，</a:t>
            </a:r>
            <a:r>
              <a:rPr lang="en-US" altLang="zh-CN" dirty="0">
                <a:latin typeface="SimSun" panose="02010600030101010101" pitchFamily="2" charset="-122"/>
                <a:ea typeface="SimSun" panose="02010600030101010101" pitchFamily="2" charset="-122"/>
              </a:rPr>
              <a:t>Q2</a:t>
            </a:r>
            <a:r>
              <a:rPr lang="zh-CN" altLang="en-US" dirty="0">
                <a:latin typeface="SimSun" panose="02010600030101010101" pitchFamily="2" charset="-122"/>
                <a:ea typeface="SimSun" panose="02010600030101010101" pitchFamily="2" charset="-122"/>
              </a:rPr>
              <a:t>，</a:t>
            </a:r>
            <a:r>
              <a:rPr lang="en-US" altLang="zh-CN" dirty="0">
                <a:latin typeface="SimSun" panose="02010600030101010101" pitchFamily="2" charset="-122"/>
                <a:ea typeface="SimSun" panose="02010600030101010101" pitchFamily="2" charset="-122"/>
              </a:rPr>
              <a:t>……Qi</a:t>
            </a:r>
            <a:r>
              <a:rPr lang="zh-CN" altLang="en-US" dirty="0">
                <a:latin typeface="SimSun" panose="02010600030101010101" pitchFamily="2" charset="-122"/>
                <a:ea typeface="SimSun" panose="02010600030101010101" pitchFamily="2" charset="-122"/>
              </a:rPr>
              <a:t>代表各种最终产品的数量，用</a:t>
            </a:r>
            <a:r>
              <a:rPr lang="en-US" altLang="zh-CN" dirty="0">
                <a:latin typeface="SimSun" panose="02010600030101010101" pitchFamily="2" charset="-122"/>
                <a:ea typeface="SimSun" panose="02010600030101010101" pitchFamily="2" charset="-122"/>
              </a:rPr>
              <a:t>P1</a:t>
            </a:r>
            <a:r>
              <a:rPr lang="zh-CN" altLang="en-US" dirty="0">
                <a:latin typeface="SimSun" panose="02010600030101010101" pitchFamily="2" charset="-122"/>
                <a:ea typeface="SimSun" panose="02010600030101010101" pitchFamily="2" charset="-122"/>
              </a:rPr>
              <a:t>，</a:t>
            </a:r>
            <a:r>
              <a:rPr lang="en-US" altLang="zh-CN" dirty="0">
                <a:latin typeface="SimSun" panose="02010600030101010101" pitchFamily="2" charset="-122"/>
                <a:ea typeface="SimSun" panose="02010600030101010101" pitchFamily="2" charset="-122"/>
              </a:rPr>
              <a:t>P2</a:t>
            </a:r>
            <a:r>
              <a:rPr lang="zh-CN" altLang="en-US" dirty="0">
                <a:latin typeface="SimSun" panose="02010600030101010101" pitchFamily="2" charset="-122"/>
                <a:ea typeface="SimSun" panose="02010600030101010101" pitchFamily="2" charset="-122"/>
              </a:rPr>
              <a:t>，</a:t>
            </a:r>
            <a:r>
              <a:rPr lang="en-US" altLang="zh-CN" dirty="0">
                <a:latin typeface="SimSun" panose="02010600030101010101" pitchFamily="2" charset="-122"/>
                <a:ea typeface="SimSun" panose="02010600030101010101" pitchFamily="2" charset="-122"/>
              </a:rPr>
              <a:t>……Pi</a:t>
            </a:r>
            <a:r>
              <a:rPr lang="zh-CN" altLang="en-US" dirty="0">
                <a:latin typeface="SimSun" panose="02010600030101010101" pitchFamily="2" charset="-122"/>
                <a:ea typeface="SimSun" panose="02010600030101010101" pitchFamily="2" charset="-122"/>
              </a:rPr>
              <a:t>代表各种最终产品的价格，则</a:t>
            </a:r>
            <a:r>
              <a:rPr lang="en-US" altLang="zh-CN" dirty="0">
                <a:latin typeface="SimSun" panose="02010600030101010101" pitchFamily="2" charset="-122"/>
                <a:ea typeface="SimSun" panose="02010600030101010101" pitchFamily="2" charset="-122"/>
              </a:rPr>
              <a:t>Q1P1+Q2P2+……+</a:t>
            </a:r>
            <a:r>
              <a:rPr lang="en-US" altLang="zh-CN" dirty="0" err="1">
                <a:latin typeface="SimSun" panose="02010600030101010101" pitchFamily="2" charset="-122"/>
                <a:ea typeface="SimSun" panose="02010600030101010101" pitchFamily="2" charset="-122"/>
              </a:rPr>
              <a:t>QiPi</a:t>
            </a:r>
            <a:r>
              <a:rPr lang="en-US" altLang="zh-CN" dirty="0">
                <a:latin typeface="SimSun" panose="02010600030101010101" pitchFamily="2" charset="-122"/>
                <a:ea typeface="SimSun" panose="02010600030101010101" pitchFamily="2" charset="-122"/>
              </a:rPr>
              <a:t>=GDP</a:t>
            </a:r>
            <a:r>
              <a:rPr lang="zh-CN" altLang="en-US" dirty="0">
                <a:latin typeface="SimSun" panose="02010600030101010101" pitchFamily="2" charset="-122"/>
                <a:ea typeface="SimSun" panose="02010600030101010101" pitchFamily="2" charset="-122"/>
              </a:rPr>
              <a:t>。但实际上，这种计算不可能。</a:t>
            </a:r>
          </a:p>
          <a:p>
            <a:r>
              <a:rPr lang="zh-CN" altLang="en-US" dirty="0">
                <a:latin typeface="SimSun" panose="02010600030101010101" pitchFamily="2" charset="-122"/>
                <a:ea typeface="SimSun" panose="02010600030101010101" pitchFamily="2" charset="-122"/>
              </a:rPr>
              <a:t>⑵通过“收入</a:t>
            </a:r>
            <a:r>
              <a:rPr lang="en-US" altLang="zh-CN" dirty="0">
                <a:latin typeface="SimSun" panose="02010600030101010101" pitchFamily="2" charset="-122"/>
                <a:ea typeface="SimSun" panose="02010600030101010101" pitchFamily="2" charset="-122"/>
              </a:rPr>
              <a:t>=</a:t>
            </a:r>
            <a:r>
              <a:rPr lang="zh-CN" altLang="en-US" dirty="0">
                <a:latin typeface="SimSun" panose="02010600030101010101" pitchFamily="2" charset="-122"/>
                <a:ea typeface="SimSun" panose="02010600030101010101" pitchFamily="2" charset="-122"/>
              </a:rPr>
              <a:t>总产出</a:t>
            </a:r>
            <a:r>
              <a:rPr lang="en-US" altLang="zh-CN" dirty="0">
                <a:latin typeface="SimSun" panose="02010600030101010101" pitchFamily="2" charset="-122"/>
                <a:ea typeface="SimSun" panose="02010600030101010101" pitchFamily="2" charset="-122"/>
              </a:rPr>
              <a:t>=</a:t>
            </a:r>
            <a:r>
              <a:rPr lang="zh-CN" altLang="en-US" dirty="0">
                <a:latin typeface="SimSun" panose="02010600030101010101" pitchFamily="2" charset="-122"/>
                <a:ea typeface="SimSun" panose="02010600030101010101" pitchFamily="2" charset="-122"/>
              </a:rPr>
              <a:t>总支出”这一公式，我们就可以通过其它比较简单的方法（支出法、收入法）来计算清楚</a:t>
            </a:r>
            <a:r>
              <a:rPr lang="en-US" altLang="zh-CN" dirty="0">
                <a:latin typeface="SimSun" panose="02010600030101010101" pitchFamily="2" charset="-122"/>
                <a:ea typeface="SimSun" panose="02010600030101010101" pitchFamily="2" charset="-122"/>
              </a:rPr>
              <a:t>GDP</a:t>
            </a:r>
            <a:r>
              <a:rPr lang="zh-CN" altLang="en-US" dirty="0">
                <a:latin typeface="SimSun" panose="02010600030101010101" pitchFamily="2" charset="-122"/>
                <a:ea typeface="SimSun" panose="02010600030101010101" pitchFamily="2" charset="-122"/>
              </a:rPr>
              <a:t>。</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61040" rtl="0" eaLnBrk="1" fontAlgn="base" latinLnBrk="0" hangingPunct="1">
              <a:lnSpc>
                <a:spcPct val="100000"/>
              </a:lnSpc>
              <a:spcBef>
                <a:spcPct val="0"/>
              </a:spcBef>
              <a:spcAft>
                <a:spcPct val="0"/>
              </a:spcAft>
              <a:buClrTx/>
              <a:buSzTx/>
              <a:buFontTx/>
              <a:buNone/>
              <a:tabLst/>
              <a:defRPr/>
            </a:pPr>
            <a:r>
              <a:rPr kumimoji="0" lang="en-US" altLang="zh-CN" sz="706"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t>0</a:t>
            </a:r>
          </a:p>
        </p:txBody>
      </p:sp>
      <p:sp>
        <p:nvSpPr>
          <p:cNvPr id="2" name="页脚占位符 1">
            <a:extLst>
              <a:ext uri="{FF2B5EF4-FFF2-40B4-BE49-F238E27FC236}">
                <a16:creationId xmlns:a16="http://schemas.microsoft.com/office/drawing/2014/main" id="{BF3A450A-E0EB-10C1-50DF-5B851CF0361D}"/>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61040" rtl="0" eaLnBrk="1" fontAlgn="base" latinLnBrk="0" hangingPunct="1">
              <a:lnSpc>
                <a:spcPct val="100000"/>
              </a:lnSpc>
              <a:spcBef>
                <a:spcPct val="0"/>
              </a:spcBef>
              <a:spcAft>
                <a:spcPct val="0"/>
              </a:spcAft>
              <a:buClrTx/>
              <a:buSzTx/>
              <a:buFontTx/>
              <a:buNone/>
              <a:tabLst/>
              <a:defRPr/>
            </a:pP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国民收入核算</a:t>
            </a:r>
            <a:endPar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692848357"/>
      </p:ext>
    </p:extLst>
  </p:cSld>
  <p:clrMapOvr>
    <a:masterClrMapping/>
  </p:clrMapOvr>
  <p:transition>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461040" rtl="0" eaLnBrk="1" fontAlgn="base" latinLnBrk="0" hangingPunct="1">
              <a:lnSpc>
                <a:spcPct val="100000"/>
              </a:lnSpc>
              <a:spcBef>
                <a:spcPct val="0"/>
              </a:spcBef>
              <a:spcAft>
                <a:spcPct val="0"/>
              </a:spcAft>
              <a:buClrTx/>
              <a:buSzTx/>
              <a:buFontTx/>
              <a:buNone/>
              <a:tabLst/>
              <a:defRPr/>
            </a:pPr>
            <a:fld id="{40B57475-AFD4-3C48-860A-4FC9F25FD75E}" type="slidenum">
              <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rPr>
              <a:pPr marL="0" marR="0" lvl="0" indent="0" algn="r" defTabSz="461040" rtl="0" eaLnBrk="1" fontAlgn="base" latinLnBrk="0" hangingPunct="1">
                <a:lnSpc>
                  <a:spcPct val="100000"/>
                </a:lnSpc>
                <a:spcBef>
                  <a:spcPct val="0"/>
                </a:spcBef>
                <a:spcAft>
                  <a:spcPct val="0"/>
                </a:spcAft>
                <a:buClrTx/>
                <a:buSzTx/>
                <a:buFontTx/>
                <a:buNone/>
                <a:tabLst/>
                <a:defRPr/>
              </a:pPr>
              <a:t>9</a:t>
            </a:fld>
            <a:endPar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pPr eaLnBrk="1" hangingPunct="1"/>
            <a:r>
              <a:rPr lang="zh-CN" altLang="en-US" sz="1815" dirty="0">
                <a:ea typeface="宋体" panose="02010600030101010101" pitchFamily="2" charset="-122"/>
              </a:rPr>
              <a:t>支出法</a:t>
            </a:r>
            <a:r>
              <a:rPr lang="en-US" altLang="zh-CN" sz="1400" b="1" dirty="0"/>
              <a:t>expenditure </a:t>
            </a:r>
            <a:r>
              <a:rPr lang="en-US" altLang="zh-CN" sz="1400" b="1" dirty="0" err="1"/>
              <a:t>approch</a:t>
            </a:r>
            <a:endParaRPr lang="zh-CN" altLang="zh-CN" sz="1815" dirty="0">
              <a:ea typeface="宋体" panose="02010600030101010101" pitchFamily="2" charset="-122"/>
            </a:endParaRPr>
          </a:p>
        </p:txBody>
      </p:sp>
      <p:sp>
        <p:nvSpPr>
          <p:cNvPr id="11269" name="Rectangle 3">
            <a:extLst>
              <a:ext uri="{FF2B5EF4-FFF2-40B4-BE49-F238E27FC236}">
                <a16:creationId xmlns:a16="http://schemas.microsoft.com/office/drawing/2014/main" id="{682390F6-8267-98BE-91F5-48320642B532}"/>
              </a:ext>
            </a:extLst>
          </p:cNvPr>
          <p:cNvSpPr>
            <a:spLocks noGrp="1" noChangeArrowheads="1"/>
          </p:cNvSpPr>
          <p:nvPr>
            <p:ph type="body" idx="4294967295"/>
          </p:nvPr>
        </p:nvSpPr>
        <p:spPr/>
        <p:txBody>
          <a:bodyPr/>
          <a:lstStyle/>
          <a:p>
            <a:r>
              <a:rPr lang="zh-CN" altLang="en-US" dirty="0">
                <a:latin typeface="SimSun" panose="02010600030101010101" pitchFamily="2" charset="-122"/>
                <a:ea typeface="SimSun" panose="02010600030101010101" pitchFamily="2" charset="-122"/>
              </a:rPr>
              <a:t>又称产品支出法、产品流动法、最终产品法</a:t>
            </a:r>
            <a:endParaRPr lang="en-US" altLang="zh-CN" dirty="0">
              <a:latin typeface="SimSun" panose="02010600030101010101" pitchFamily="2" charset="-122"/>
              <a:ea typeface="SimSun" panose="02010600030101010101" pitchFamily="2" charset="-122"/>
            </a:endParaRPr>
          </a:p>
          <a:p>
            <a:r>
              <a:rPr lang="zh-CN" altLang="en-US" dirty="0">
                <a:latin typeface="SimSun" panose="02010600030101010101" pitchFamily="2" charset="-122"/>
                <a:ea typeface="SimSun" panose="02010600030101010101" pitchFamily="2" charset="-122"/>
              </a:rPr>
              <a:t>把一年内购买的各种最终产品支出加总起来，计算出该年内生产出来的产品和劳务的市场价值。</a:t>
            </a:r>
            <a:endParaRPr lang="en-US" altLang="zh-CN" dirty="0">
              <a:latin typeface="SimSun" panose="02010600030101010101" pitchFamily="2" charset="-122"/>
              <a:ea typeface="SimSun" panose="02010600030101010101" pitchFamily="2" charset="-122"/>
            </a:endParaRPr>
          </a:p>
          <a:p>
            <a:r>
              <a:rPr lang="en-US" altLang="zh-CN" dirty="0">
                <a:latin typeface="SimSun" panose="02010600030101010101" pitchFamily="2" charset="-122"/>
                <a:ea typeface="SimSun" panose="02010600030101010101" pitchFamily="2" charset="-122"/>
              </a:rPr>
              <a:t>GDP=</a:t>
            </a:r>
            <a:r>
              <a:rPr lang="zh-CN" altLang="en-US" dirty="0">
                <a:latin typeface="SimSun" panose="02010600030101010101" pitchFamily="2" charset="-122"/>
                <a:ea typeface="SimSun" panose="02010600030101010101" pitchFamily="2" charset="-122"/>
              </a:rPr>
              <a:t>消费</a:t>
            </a:r>
            <a:r>
              <a:rPr lang="en-US" altLang="zh-CN" dirty="0">
                <a:latin typeface="SimSun" panose="02010600030101010101" pitchFamily="2" charset="-122"/>
                <a:ea typeface="SimSun" panose="02010600030101010101" pitchFamily="2" charset="-122"/>
              </a:rPr>
              <a:t>+</a:t>
            </a:r>
            <a:r>
              <a:rPr lang="zh-CN" altLang="en-US" dirty="0">
                <a:latin typeface="SimSun" panose="02010600030101010101" pitchFamily="2" charset="-122"/>
                <a:ea typeface="SimSun" panose="02010600030101010101" pitchFamily="2" charset="-122"/>
              </a:rPr>
              <a:t>投资</a:t>
            </a:r>
            <a:r>
              <a:rPr lang="en-US" altLang="zh-CN" dirty="0">
                <a:latin typeface="SimSun" panose="02010600030101010101" pitchFamily="2" charset="-122"/>
                <a:ea typeface="SimSun" panose="02010600030101010101" pitchFamily="2" charset="-122"/>
              </a:rPr>
              <a:t>+</a:t>
            </a:r>
            <a:r>
              <a:rPr lang="zh-CN" altLang="en-US" dirty="0">
                <a:latin typeface="SimSun" panose="02010600030101010101" pitchFamily="2" charset="-122"/>
                <a:ea typeface="SimSun" panose="02010600030101010101" pitchFamily="2" charset="-122"/>
              </a:rPr>
              <a:t>政府购买</a:t>
            </a:r>
            <a:r>
              <a:rPr lang="en-US" altLang="zh-CN" dirty="0">
                <a:latin typeface="SimSun" panose="02010600030101010101" pitchFamily="2" charset="-122"/>
                <a:ea typeface="SimSun" panose="02010600030101010101" pitchFamily="2" charset="-122"/>
              </a:rPr>
              <a:t>+</a:t>
            </a:r>
            <a:r>
              <a:rPr lang="zh-CN" altLang="en-US" dirty="0">
                <a:latin typeface="SimSun" panose="02010600030101010101" pitchFamily="2" charset="-122"/>
                <a:ea typeface="SimSun" panose="02010600030101010101" pitchFamily="2" charset="-122"/>
              </a:rPr>
              <a:t>净出口</a:t>
            </a:r>
            <a:endParaRPr lang="en-US" altLang="zh-CN" dirty="0">
              <a:latin typeface="SimSun" panose="02010600030101010101" pitchFamily="2" charset="-122"/>
              <a:ea typeface="SimSun" panose="02010600030101010101" pitchFamily="2" charset="-122"/>
            </a:endParaRPr>
          </a:p>
          <a:p>
            <a:r>
              <a:rPr lang="en-US" altLang="zh-CN" dirty="0">
                <a:latin typeface="SimSun" panose="02010600030101010101" pitchFamily="2" charset="-122"/>
                <a:ea typeface="SimSun" panose="02010600030101010101" pitchFamily="2" charset="-122"/>
              </a:rPr>
              <a:t>GDP=C+I+G+(X-M)</a:t>
            </a:r>
          </a:p>
          <a:p>
            <a:endParaRPr lang="en-US" altLang="zh-CN" dirty="0">
              <a:latin typeface="SimSun" panose="02010600030101010101" pitchFamily="2" charset="-122"/>
              <a:ea typeface="SimSun" panose="02010600030101010101" pitchFamily="2" charset="-122"/>
            </a:endParaRPr>
          </a:p>
          <a:p>
            <a:r>
              <a:rPr lang="zh-CN" altLang="en-US" b="1" dirty="0">
                <a:solidFill>
                  <a:schemeClr val="accent2">
                    <a:lumMod val="75000"/>
                  </a:schemeClr>
                </a:solidFill>
                <a:latin typeface="SimSun" panose="02010600030101010101" pitchFamily="2" charset="-122"/>
                <a:ea typeface="SimSun" panose="02010600030101010101" pitchFamily="2" charset="-122"/>
              </a:rPr>
              <a:t>概念理解：消费和投资</a:t>
            </a:r>
            <a:r>
              <a:rPr lang="zh-CN" altLang="en-US" dirty="0">
                <a:latin typeface="SimSun" panose="02010600030101010101" pitchFamily="2" charset="-122"/>
                <a:ea typeface="SimSun" panose="02010600030101010101" pitchFamily="2" charset="-122"/>
              </a:rPr>
              <a:t>。</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61040" rtl="0" eaLnBrk="1" fontAlgn="base" latinLnBrk="0" hangingPunct="1">
              <a:lnSpc>
                <a:spcPct val="100000"/>
              </a:lnSpc>
              <a:spcBef>
                <a:spcPct val="0"/>
              </a:spcBef>
              <a:spcAft>
                <a:spcPct val="0"/>
              </a:spcAft>
              <a:buClrTx/>
              <a:buSzTx/>
              <a:buFontTx/>
              <a:buNone/>
              <a:tabLst/>
              <a:defRPr/>
            </a:pPr>
            <a:r>
              <a:rPr kumimoji="0" lang="en-US" altLang="zh-CN" sz="706"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t>0</a:t>
            </a:r>
          </a:p>
        </p:txBody>
      </p:sp>
      <p:sp>
        <p:nvSpPr>
          <p:cNvPr id="2" name="页脚占位符 1">
            <a:extLst>
              <a:ext uri="{FF2B5EF4-FFF2-40B4-BE49-F238E27FC236}">
                <a16:creationId xmlns:a16="http://schemas.microsoft.com/office/drawing/2014/main" id="{BF3A450A-E0EB-10C1-50DF-5B851CF0361D}"/>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61040" rtl="0" eaLnBrk="1" fontAlgn="base" latinLnBrk="0" hangingPunct="1">
              <a:lnSpc>
                <a:spcPct val="100000"/>
              </a:lnSpc>
              <a:spcBef>
                <a:spcPct val="0"/>
              </a:spcBef>
              <a:spcAft>
                <a:spcPct val="0"/>
              </a:spcAft>
              <a:buClrTx/>
              <a:buSzTx/>
              <a:buFontTx/>
              <a:buNone/>
              <a:tabLst/>
              <a:defRPr/>
            </a:pP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国民收入核算</a:t>
            </a:r>
            <a:endPar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791912402"/>
      </p:ext>
    </p:extLst>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461040" rtl="0" eaLnBrk="1" fontAlgn="base" latinLnBrk="0" hangingPunct="1">
              <a:lnSpc>
                <a:spcPct val="100000"/>
              </a:lnSpc>
              <a:spcBef>
                <a:spcPct val="0"/>
              </a:spcBef>
              <a:spcAft>
                <a:spcPct val="0"/>
              </a:spcAft>
              <a:buClrTx/>
              <a:buSzTx/>
              <a:buFontTx/>
              <a:buNone/>
              <a:tabLst/>
              <a:defRPr/>
            </a:pPr>
            <a:fld id="{40B57475-AFD4-3C48-860A-4FC9F25FD75E}" type="slidenum">
              <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rPr>
              <a:pPr marL="0" marR="0" lvl="0" indent="0" algn="r" defTabSz="461040" rtl="0" eaLnBrk="1" fontAlgn="base" latinLnBrk="0" hangingPunct="1">
                <a:lnSpc>
                  <a:spcPct val="100000"/>
                </a:lnSpc>
                <a:spcBef>
                  <a:spcPct val="0"/>
                </a:spcBef>
                <a:spcAft>
                  <a:spcPct val="0"/>
                </a:spcAft>
                <a:buClrTx/>
                <a:buSzTx/>
                <a:buFontTx/>
                <a:buNone/>
                <a:tabLst/>
                <a:defRPr/>
              </a:pPr>
              <a:t>10</a:t>
            </a:fld>
            <a:endPar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pPr eaLnBrk="1" hangingPunct="1"/>
            <a:r>
              <a:rPr lang="zh-CN" altLang="en-US" sz="1800" b="1" dirty="0"/>
              <a:t>收入法</a:t>
            </a:r>
            <a:r>
              <a:rPr lang="en-US" altLang="zh-CN" sz="1800" b="1" dirty="0"/>
              <a:t>income approach</a:t>
            </a:r>
            <a:endParaRPr lang="zh-CN" altLang="zh-CN" sz="1800" dirty="0">
              <a:ea typeface="宋体" panose="02010600030101010101" pitchFamily="2" charset="-122"/>
            </a:endParaRPr>
          </a:p>
        </p:txBody>
      </p:sp>
      <p:sp>
        <p:nvSpPr>
          <p:cNvPr id="11269" name="Rectangle 3">
            <a:extLst>
              <a:ext uri="{FF2B5EF4-FFF2-40B4-BE49-F238E27FC236}">
                <a16:creationId xmlns:a16="http://schemas.microsoft.com/office/drawing/2014/main" id="{682390F6-8267-98BE-91F5-48320642B532}"/>
              </a:ext>
            </a:extLst>
          </p:cNvPr>
          <p:cNvSpPr>
            <a:spLocks noGrp="1" noChangeArrowheads="1"/>
          </p:cNvSpPr>
          <p:nvPr>
            <p:ph type="body" idx="4294967295"/>
          </p:nvPr>
        </p:nvSpPr>
        <p:spPr/>
        <p:txBody>
          <a:bodyPr/>
          <a:lstStyle/>
          <a:p>
            <a:r>
              <a:rPr lang="zh-CN" altLang="en-US" dirty="0">
                <a:latin typeface="Garamond" panose="02020404030301010803" pitchFamily="18" charset="0"/>
                <a:ea typeface="SimSun" panose="02010600030101010101" pitchFamily="2" charset="-122"/>
              </a:rPr>
              <a:t>又称所得法、要素支付法</a:t>
            </a:r>
            <a:endParaRPr lang="en-US" altLang="zh-CN" dirty="0">
              <a:latin typeface="Garamond" panose="02020404030301010803" pitchFamily="18" charset="0"/>
              <a:ea typeface="SimSun" panose="02010600030101010101" pitchFamily="2" charset="-122"/>
            </a:endParaRPr>
          </a:p>
          <a:p>
            <a:r>
              <a:rPr lang="zh-CN" altLang="en-US" dirty="0">
                <a:latin typeface="Garamond" panose="02020404030301010803" pitchFamily="18" charset="0"/>
                <a:ea typeface="SimSun" panose="02010600030101010101" pitchFamily="2" charset="-122"/>
              </a:rPr>
              <a:t>把生产过程中各种生产要素所得到的收入，即工资、利润、利息和租金相加起来。</a:t>
            </a:r>
            <a:endParaRPr lang="en-US" altLang="zh-CN" dirty="0">
              <a:latin typeface="Garamond" panose="02020404030301010803" pitchFamily="18" charset="0"/>
              <a:ea typeface="SimSun" panose="02010600030101010101" pitchFamily="2" charset="-122"/>
            </a:endParaRPr>
          </a:p>
          <a:p>
            <a:pPr marL="403411" lvl="2" indent="0">
              <a:buNone/>
            </a:pPr>
            <a:r>
              <a:rPr lang="en-US" altLang="zh-CN" dirty="0">
                <a:latin typeface="Garamond" panose="02020404030301010803" pitchFamily="18" charset="0"/>
                <a:ea typeface="SimSun" panose="02010600030101010101" pitchFamily="2" charset="-122"/>
              </a:rPr>
              <a:t>1</a:t>
            </a:r>
            <a:r>
              <a:rPr lang="zh-CN" altLang="en-US" dirty="0">
                <a:latin typeface="Garamond" panose="02020404030301010803" pitchFamily="18" charset="0"/>
                <a:ea typeface="SimSun" panose="02010600030101010101" pitchFamily="2" charset="-122"/>
              </a:rPr>
              <a:t>）工资、利息和租金等生产报酬</a:t>
            </a:r>
            <a:endParaRPr lang="en-US" altLang="zh-CN" dirty="0">
              <a:latin typeface="Garamond" panose="02020404030301010803" pitchFamily="18" charset="0"/>
              <a:ea typeface="SimSun" panose="02010600030101010101" pitchFamily="2" charset="-122"/>
            </a:endParaRPr>
          </a:p>
          <a:p>
            <a:pPr marL="403411" lvl="2" indent="0">
              <a:buNone/>
            </a:pPr>
            <a:r>
              <a:rPr lang="en-US" altLang="zh-CN" dirty="0">
                <a:latin typeface="Garamond" panose="02020404030301010803" pitchFamily="18" charset="0"/>
                <a:ea typeface="SimSun" panose="02010600030101010101" pitchFamily="2" charset="-122"/>
              </a:rPr>
              <a:t>2</a:t>
            </a:r>
            <a:r>
              <a:rPr lang="zh-CN" altLang="en-US" dirty="0">
                <a:latin typeface="Garamond" panose="02020404030301010803" pitchFamily="18" charset="0"/>
                <a:ea typeface="SimSun" panose="02010600030101010101" pitchFamily="2" charset="-122"/>
              </a:rPr>
              <a:t>）非公司企业主收入</a:t>
            </a:r>
            <a:endParaRPr lang="en-US" altLang="zh-CN" dirty="0">
              <a:latin typeface="Garamond" panose="02020404030301010803" pitchFamily="18" charset="0"/>
              <a:ea typeface="SimSun" panose="02010600030101010101" pitchFamily="2" charset="-122"/>
            </a:endParaRPr>
          </a:p>
          <a:p>
            <a:pPr marL="403411" lvl="2" indent="0">
              <a:buNone/>
            </a:pPr>
            <a:r>
              <a:rPr lang="en-US" altLang="zh-CN" dirty="0">
                <a:latin typeface="Garamond" panose="02020404030301010803" pitchFamily="18" charset="0"/>
                <a:ea typeface="SimSun" panose="02010600030101010101" pitchFamily="2" charset="-122"/>
              </a:rPr>
              <a:t>3</a:t>
            </a:r>
            <a:r>
              <a:rPr lang="zh-CN" altLang="en-US" dirty="0">
                <a:latin typeface="Garamond" panose="02020404030301010803" pitchFamily="18" charset="0"/>
                <a:ea typeface="SimSun" panose="02010600030101010101" pitchFamily="2" charset="-122"/>
              </a:rPr>
              <a:t>）公司税前利润</a:t>
            </a:r>
            <a:endParaRPr lang="en-US" altLang="zh-CN" dirty="0">
              <a:latin typeface="Garamond" panose="02020404030301010803" pitchFamily="18" charset="0"/>
              <a:ea typeface="SimSun" panose="02010600030101010101" pitchFamily="2" charset="-122"/>
            </a:endParaRPr>
          </a:p>
          <a:p>
            <a:pPr marL="403411" lvl="2" indent="0">
              <a:buNone/>
            </a:pPr>
            <a:r>
              <a:rPr lang="en-US" altLang="zh-CN" dirty="0">
                <a:latin typeface="Garamond" panose="02020404030301010803" pitchFamily="18" charset="0"/>
                <a:ea typeface="SimSun" panose="02010600030101010101" pitchFamily="2" charset="-122"/>
              </a:rPr>
              <a:t>4</a:t>
            </a:r>
            <a:r>
              <a:rPr lang="zh-CN" altLang="en-US" dirty="0">
                <a:latin typeface="Garamond" panose="02020404030301010803" pitchFamily="18" charset="0"/>
                <a:ea typeface="SimSun" panose="02010600030101010101" pitchFamily="2" charset="-122"/>
              </a:rPr>
              <a:t>）企业转移支付及企业间接税</a:t>
            </a:r>
            <a:endParaRPr lang="en-US" altLang="zh-CN" dirty="0">
              <a:latin typeface="Garamond" panose="02020404030301010803" pitchFamily="18" charset="0"/>
              <a:ea typeface="SimSun" panose="02010600030101010101" pitchFamily="2" charset="-122"/>
            </a:endParaRPr>
          </a:p>
          <a:p>
            <a:pPr marL="403411" lvl="2" indent="0">
              <a:buNone/>
            </a:pPr>
            <a:r>
              <a:rPr lang="en-US" altLang="zh-CN" dirty="0">
                <a:latin typeface="Garamond" panose="02020404030301010803" pitchFamily="18" charset="0"/>
                <a:ea typeface="SimSun" panose="02010600030101010101" pitchFamily="2" charset="-122"/>
              </a:rPr>
              <a:t>5</a:t>
            </a:r>
            <a:r>
              <a:rPr lang="zh-CN" altLang="en-US" dirty="0">
                <a:latin typeface="Garamond" panose="02020404030301010803" pitchFamily="18" charset="0"/>
                <a:ea typeface="SimSun" panose="02010600030101010101" pitchFamily="2" charset="-122"/>
              </a:rPr>
              <a:t>）资本折旧</a:t>
            </a:r>
            <a:endParaRPr lang="en-US" altLang="zh-CN" dirty="0">
              <a:latin typeface="Garamond" panose="02020404030301010803" pitchFamily="18" charset="0"/>
              <a:ea typeface="SimSun" panose="02010600030101010101" pitchFamily="2" charset="-122"/>
            </a:endParaRP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61040" rtl="0" eaLnBrk="1" fontAlgn="base" latinLnBrk="0" hangingPunct="1">
              <a:lnSpc>
                <a:spcPct val="100000"/>
              </a:lnSpc>
              <a:spcBef>
                <a:spcPct val="0"/>
              </a:spcBef>
              <a:spcAft>
                <a:spcPct val="0"/>
              </a:spcAft>
              <a:buClrTx/>
              <a:buSzTx/>
              <a:buFontTx/>
              <a:buNone/>
              <a:tabLst/>
              <a:defRPr/>
            </a:pPr>
            <a:r>
              <a:rPr kumimoji="0" lang="en-US" altLang="zh-CN" sz="706"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t>0</a:t>
            </a:r>
          </a:p>
        </p:txBody>
      </p:sp>
      <p:sp>
        <p:nvSpPr>
          <p:cNvPr id="2" name="页脚占位符 1">
            <a:extLst>
              <a:ext uri="{FF2B5EF4-FFF2-40B4-BE49-F238E27FC236}">
                <a16:creationId xmlns:a16="http://schemas.microsoft.com/office/drawing/2014/main" id="{BF3A450A-E0EB-10C1-50DF-5B851CF0361D}"/>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61040" rtl="0" eaLnBrk="1" fontAlgn="base" latinLnBrk="0" hangingPunct="1">
              <a:lnSpc>
                <a:spcPct val="100000"/>
              </a:lnSpc>
              <a:spcBef>
                <a:spcPct val="0"/>
              </a:spcBef>
              <a:spcAft>
                <a:spcPct val="0"/>
              </a:spcAft>
              <a:buClrTx/>
              <a:buSzTx/>
              <a:buFontTx/>
              <a:buNone/>
              <a:tabLst/>
              <a:defRPr/>
            </a:pP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国民收入核算</a:t>
            </a:r>
            <a:endPar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277738770"/>
      </p:ext>
    </p:extLst>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461040" rtl="0" eaLnBrk="1" fontAlgn="base" latinLnBrk="0" hangingPunct="1">
              <a:lnSpc>
                <a:spcPct val="100000"/>
              </a:lnSpc>
              <a:spcBef>
                <a:spcPct val="0"/>
              </a:spcBef>
              <a:spcAft>
                <a:spcPct val="0"/>
              </a:spcAft>
              <a:buClrTx/>
              <a:buSzTx/>
              <a:buFontTx/>
              <a:buNone/>
              <a:tabLst/>
              <a:defRPr/>
            </a:pPr>
            <a:fld id="{40B57475-AFD4-3C48-860A-4FC9F25FD75E}" type="slidenum">
              <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rPr>
              <a:pPr marL="0" marR="0" lvl="0" indent="0" algn="r" defTabSz="461040" rtl="0" eaLnBrk="1" fontAlgn="base" latinLnBrk="0" hangingPunct="1">
                <a:lnSpc>
                  <a:spcPct val="100000"/>
                </a:lnSpc>
                <a:spcBef>
                  <a:spcPct val="0"/>
                </a:spcBef>
                <a:spcAft>
                  <a:spcPct val="0"/>
                </a:spcAft>
                <a:buClrTx/>
                <a:buSzTx/>
                <a:buFontTx/>
                <a:buNone/>
                <a:tabLst/>
                <a:defRPr/>
              </a:pPr>
              <a:t>11</a:t>
            </a:fld>
            <a:endPar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pPr eaLnBrk="1" hangingPunct="1"/>
            <a:r>
              <a:rPr lang="zh-CN" altLang="en-US" sz="1800" b="1" dirty="0"/>
              <a:t>收入法</a:t>
            </a:r>
            <a:r>
              <a:rPr lang="en-US" altLang="zh-CN" sz="1800" b="1" dirty="0"/>
              <a:t>income approach</a:t>
            </a:r>
            <a:endParaRPr lang="zh-CN" altLang="zh-CN" sz="1800" dirty="0">
              <a:ea typeface="宋体" panose="02010600030101010101" pitchFamily="2" charset="-122"/>
            </a:endParaRPr>
          </a:p>
        </p:txBody>
      </p:sp>
      <p:sp>
        <p:nvSpPr>
          <p:cNvPr id="11269" name="Rectangle 3">
            <a:extLst>
              <a:ext uri="{FF2B5EF4-FFF2-40B4-BE49-F238E27FC236}">
                <a16:creationId xmlns:a16="http://schemas.microsoft.com/office/drawing/2014/main" id="{682390F6-8267-98BE-91F5-48320642B532}"/>
              </a:ext>
            </a:extLst>
          </p:cNvPr>
          <p:cNvSpPr>
            <a:spLocks noGrp="1" noChangeArrowheads="1"/>
          </p:cNvSpPr>
          <p:nvPr>
            <p:ph type="body" idx="4294967295"/>
          </p:nvPr>
        </p:nvSpPr>
        <p:spPr/>
        <p:txBody>
          <a:bodyPr/>
          <a:lstStyle/>
          <a:p>
            <a:r>
              <a:rPr lang="zh-CN" altLang="en-US" dirty="0">
                <a:latin typeface="Garamond" panose="02020404030301010803" pitchFamily="18" charset="0"/>
                <a:ea typeface="SimSun" panose="02010600030101010101" pitchFamily="2" charset="-122"/>
              </a:rPr>
              <a:t>收入法是从生产要素收入的角度，把生产要素在生产中所得到的各种收入相加来计算的</a:t>
            </a:r>
            <a:r>
              <a:rPr lang="en" altLang="zh-CN" dirty="0">
                <a:latin typeface="Garamond" panose="02020404030301010803" pitchFamily="18" charset="0"/>
                <a:ea typeface="SimSun" panose="02010600030101010101" pitchFamily="2" charset="-122"/>
              </a:rPr>
              <a:t>GDP</a:t>
            </a:r>
            <a:r>
              <a:rPr lang="zh-CN" altLang="en" dirty="0">
                <a:latin typeface="Garamond" panose="02020404030301010803" pitchFamily="18" charset="0"/>
                <a:ea typeface="SimSun" panose="02010600030101010101" pitchFamily="2" charset="-122"/>
              </a:rPr>
              <a:t>，</a:t>
            </a:r>
            <a:r>
              <a:rPr lang="zh-CN" altLang="en-US" dirty="0">
                <a:latin typeface="Garamond" panose="02020404030301010803" pitchFamily="18" charset="0"/>
                <a:ea typeface="SimSun" panose="02010600030101010101" pitchFamily="2" charset="-122"/>
              </a:rPr>
              <a:t>即把劳动所得到的工资、土地所有者得到的地租、资本所得到的利息以及企业家才能得到的利润相加来计算</a:t>
            </a:r>
            <a:r>
              <a:rPr lang="en" altLang="zh-CN" dirty="0">
                <a:latin typeface="Garamond" panose="02020404030301010803" pitchFamily="18" charset="0"/>
                <a:ea typeface="SimSun" panose="02010600030101010101" pitchFamily="2" charset="-122"/>
              </a:rPr>
              <a:t>GDP</a:t>
            </a:r>
            <a:r>
              <a:rPr lang="zh-CN" altLang="en" dirty="0">
                <a:latin typeface="Garamond" panose="02020404030301010803" pitchFamily="18" charset="0"/>
                <a:ea typeface="SimSun" panose="02010600030101010101" pitchFamily="2" charset="-122"/>
              </a:rPr>
              <a:t>。</a:t>
            </a:r>
            <a:endParaRPr lang="en-US" altLang="zh-CN" dirty="0">
              <a:latin typeface="Garamond" panose="02020404030301010803" pitchFamily="18" charset="0"/>
              <a:ea typeface="SimSun" panose="02010600030101010101" pitchFamily="2" charset="-122"/>
            </a:endParaRPr>
          </a:p>
          <a:p>
            <a:r>
              <a:rPr lang="zh-CN" altLang="en-US" dirty="0">
                <a:latin typeface="Garamond" panose="02020404030301010803" pitchFamily="18" charset="0"/>
                <a:ea typeface="SimSun" panose="02010600030101010101" pitchFamily="2" charset="-122"/>
              </a:rPr>
              <a:t>但不能仅从字面上狭隘理解成只包括</a:t>
            </a:r>
            <a:r>
              <a:rPr lang="zh-CN" altLang="en-US" u="sng" dirty="0">
                <a:latin typeface="Garamond" panose="02020404030301010803" pitchFamily="18" charset="0"/>
                <a:ea typeface="SimSun" panose="02010600030101010101" pitchFamily="2" charset="-122"/>
              </a:rPr>
              <a:t>工资、地租、利息、企业家才能</a:t>
            </a:r>
            <a:r>
              <a:rPr lang="zh-CN" altLang="en-US" dirty="0">
                <a:latin typeface="Garamond" panose="02020404030301010803" pitchFamily="18" charset="0"/>
                <a:ea typeface="SimSun" panose="02010600030101010101" pitchFamily="2" charset="-122"/>
              </a:rPr>
              <a:t>四个项目。</a:t>
            </a:r>
            <a:endParaRPr lang="zh-CN" altLang="en" dirty="0">
              <a:latin typeface="Garamond" panose="02020404030301010803" pitchFamily="18" charset="0"/>
              <a:ea typeface="SimSun" panose="02010600030101010101" pitchFamily="2" charset="-122"/>
            </a:endParaRPr>
          </a:p>
          <a:p>
            <a:r>
              <a:rPr lang="zh-CN" altLang="en-US" dirty="0">
                <a:latin typeface="Garamond" panose="02020404030301010803" pitchFamily="18" charset="0"/>
                <a:ea typeface="SimSun" panose="02010600030101010101" pitchFamily="2" charset="-122"/>
              </a:rPr>
              <a:t>严格地说，最终产品市场价值除了生产要素构成的成本，还有间接税、折旧、公司未分配的利润等内容</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61040" rtl="0" eaLnBrk="1" fontAlgn="base" latinLnBrk="0" hangingPunct="1">
              <a:lnSpc>
                <a:spcPct val="100000"/>
              </a:lnSpc>
              <a:spcBef>
                <a:spcPct val="0"/>
              </a:spcBef>
              <a:spcAft>
                <a:spcPct val="0"/>
              </a:spcAft>
              <a:buClrTx/>
              <a:buSzTx/>
              <a:buFontTx/>
              <a:buNone/>
              <a:tabLst/>
              <a:defRPr/>
            </a:pPr>
            <a:r>
              <a:rPr kumimoji="0" lang="en-US" altLang="zh-CN" sz="706"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t>0</a:t>
            </a:r>
          </a:p>
        </p:txBody>
      </p:sp>
      <p:sp>
        <p:nvSpPr>
          <p:cNvPr id="2" name="页脚占位符 1">
            <a:extLst>
              <a:ext uri="{FF2B5EF4-FFF2-40B4-BE49-F238E27FC236}">
                <a16:creationId xmlns:a16="http://schemas.microsoft.com/office/drawing/2014/main" id="{BF3A450A-E0EB-10C1-50DF-5B851CF0361D}"/>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61040" rtl="0" eaLnBrk="1" fontAlgn="base" latinLnBrk="0" hangingPunct="1">
              <a:lnSpc>
                <a:spcPct val="100000"/>
              </a:lnSpc>
              <a:spcBef>
                <a:spcPct val="0"/>
              </a:spcBef>
              <a:spcAft>
                <a:spcPct val="0"/>
              </a:spcAft>
              <a:buClrTx/>
              <a:buSzTx/>
              <a:buFontTx/>
              <a:buNone/>
              <a:tabLst/>
              <a:defRPr/>
            </a:pP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国民收入核算</a:t>
            </a:r>
            <a:endPar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922095119"/>
      </p:ext>
    </p:extLst>
  </p:cSld>
  <p:clrMapOvr>
    <a:masterClrMapping/>
  </p:clrMapOvr>
  <p:transition>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461040" rtl="0" eaLnBrk="1" fontAlgn="base" latinLnBrk="0" hangingPunct="1">
              <a:lnSpc>
                <a:spcPct val="100000"/>
              </a:lnSpc>
              <a:spcBef>
                <a:spcPct val="0"/>
              </a:spcBef>
              <a:spcAft>
                <a:spcPct val="0"/>
              </a:spcAft>
              <a:buClrTx/>
              <a:buSzTx/>
              <a:buFontTx/>
              <a:buNone/>
              <a:tabLst/>
              <a:defRPr/>
            </a:pPr>
            <a:fld id="{40B57475-AFD4-3C48-860A-4FC9F25FD75E}" type="slidenum">
              <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rPr>
              <a:pPr marL="0" marR="0" lvl="0" indent="0" algn="r" defTabSz="461040" rtl="0" eaLnBrk="1" fontAlgn="base" latinLnBrk="0" hangingPunct="1">
                <a:lnSpc>
                  <a:spcPct val="100000"/>
                </a:lnSpc>
                <a:spcBef>
                  <a:spcPct val="0"/>
                </a:spcBef>
                <a:spcAft>
                  <a:spcPct val="0"/>
                </a:spcAft>
                <a:buClrTx/>
                <a:buSzTx/>
                <a:buFontTx/>
                <a:buNone/>
                <a:tabLst/>
                <a:defRPr/>
              </a:pPr>
              <a:t>12</a:t>
            </a:fld>
            <a:endPar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pPr eaLnBrk="1" hangingPunct="1"/>
            <a:r>
              <a:rPr lang="zh-CN" altLang="en-US" sz="1800" b="1" dirty="0"/>
              <a:t>收入法</a:t>
            </a:r>
            <a:r>
              <a:rPr lang="en-US" altLang="zh-CN" sz="1800" b="1" dirty="0"/>
              <a:t>income approach</a:t>
            </a:r>
            <a:endParaRPr lang="zh-CN" altLang="zh-CN" sz="1800" dirty="0">
              <a:ea typeface="宋体" panose="02010600030101010101" pitchFamily="2" charset="-122"/>
            </a:endParaRPr>
          </a:p>
        </p:txBody>
      </p:sp>
      <p:sp>
        <p:nvSpPr>
          <p:cNvPr id="11269" name="Rectangle 3">
            <a:extLst>
              <a:ext uri="{FF2B5EF4-FFF2-40B4-BE49-F238E27FC236}">
                <a16:creationId xmlns:a16="http://schemas.microsoft.com/office/drawing/2014/main" id="{682390F6-8267-98BE-91F5-48320642B532}"/>
              </a:ext>
            </a:extLst>
          </p:cNvPr>
          <p:cNvSpPr>
            <a:spLocks noGrp="1" noChangeArrowheads="1"/>
          </p:cNvSpPr>
          <p:nvPr>
            <p:ph type="body" idx="4294967295"/>
          </p:nvPr>
        </p:nvSpPr>
        <p:spPr/>
        <p:txBody>
          <a:bodyPr/>
          <a:lstStyle/>
          <a:p>
            <a:r>
              <a:rPr lang="zh-CN" altLang="en-US" dirty="0">
                <a:latin typeface="Garamond" panose="02020404030301010803" pitchFamily="18" charset="0"/>
                <a:ea typeface="SimSun" panose="02010600030101010101" pitchFamily="2" charset="-122"/>
              </a:rPr>
              <a:t>用收入法核算</a:t>
            </a:r>
            <a:r>
              <a:rPr lang="en" altLang="zh-CN" dirty="0">
                <a:latin typeface="Garamond" panose="02020404030301010803" pitchFamily="18" charset="0"/>
                <a:ea typeface="SimSun" panose="02010600030101010101" pitchFamily="2" charset="-122"/>
              </a:rPr>
              <a:t>GDP</a:t>
            </a:r>
            <a:r>
              <a:rPr lang="zh-CN" altLang="en-US" dirty="0">
                <a:latin typeface="Garamond" panose="02020404030301010803" pitchFamily="18" charset="0"/>
                <a:ea typeface="SimSun" panose="02010600030101010101" pitchFamily="2" charset="-122"/>
              </a:rPr>
              <a:t>应包括以下项目：</a:t>
            </a:r>
          </a:p>
          <a:p>
            <a:r>
              <a:rPr lang="en" altLang="zh-CN" dirty="0">
                <a:latin typeface="Garamond" panose="02020404030301010803" pitchFamily="18" charset="0"/>
                <a:ea typeface="SimSun" panose="02010600030101010101" pitchFamily="2" charset="-122"/>
              </a:rPr>
              <a:t>GDP=</a:t>
            </a:r>
            <a:r>
              <a:rPr lang="zh-CN" altLang="en-US" dirty="0">
                <a:latin typeface="Garamond" panose="02020404030301010803" pitchFamily="18" charset="0"/>
                <a:ea typeface="SimSun" panose="02010600030101010101" pitchFamily="2" charset="-122"/>
              </a:rPr>
              <a:t>工资</a:t>
            </a:r>
            <a:r>
              <a:rPr lang="en-US" altLang="zh-CN" dirty="0">
                <a:latin typeface="Garamond" panose="02020404030301010803" pitchFamily="18" charset="0"/>
                <a:ea typeface="SimSun" panose="02010600030101010101" pitchFamily="2" charset="-122"/>
              </a:rPr>
              <a:t>+</a:t>
            </a:r>
            <a:r>
              <a:rPr lang="zh-CN" altLang="en-US" dirty="0">
                <a:latin typeface="Garamond" panose="02020404030301010803" pitchFamily="18" charset="0"/>
                <a:ea typeface="SimSun" panose="02010600030101010101" pitchFamily="2" charset="-122"/>
              </a:rPr>
              <a:t>利息</a:t>
            </a:r>
            <a:r>
              <a:rPr lang="en-US" altLang="zh-CN" dirty="0">
                <a:latin typeface="Garamond" panose="02020404030301010803" pitchFamily="18" charset="0"/>
                <a:ea typeface="SimSun" panose="02010600030101010101" pitchFamily="2" charset="-122"/>
              </a:rPr>
              <a:t>+</a:t>
            </a:r>
            <a:r>
              <a:rPr lang="zh-CN" altLang="en-US" dirty="0">
                <a:latin typeface="Garamond" panose="02020404030301010803" pitchFamily="18" charset="0"/>
                <a:ea typeface="SimSun" panose="02010600030101010101" pitchFamily="2" charset="-122"/>
              </a:rPr>
              <a:t>利润</a:t>
            </a:r>
            <a:r>
              <a:rPr lang="en-US" altLang="zh-CN" dirty="0">
                <a:latin typeface="Garamond" panose="02020404030301010803" pitchFamily="18" charset="0"/>
                <a:ea typeface="SimSun" panose="02010600030101010101" pitchFamily="2" charset="-122"/>
              </a:rPr>
              <a:t>+</a:t>
            </a:r>
            <a:r>
              <a:rPr lang="zh-CN" altLang="en-US" dirty="0">
                <a:latin typeface="Garamond" panose="02020404030301010803" pitchFamily="18" charset="0"/>
                <a:ea typeface="SimSun" panose="02010600030101010101" pitchFamily="2" charset="-122"/>
              </a:rPr>
              <a:t>租金</a:t>
            </a:r>
            <a:r>
              <a:rPr lang="en-US" altLang="zh-CN" dirty="0">
                <a:latin typeface="Garamond" panose="02020404030301010803" pitchFamily="18" charset="0"/>
                <a:ea typeface="SimSun" panose="02010600030101010101" pitchFamily="2" charset="-122"/>
              </a:rPr>
              <a:t>+</a:t>
            </a:r>
            <a:r>
              <a:rPr lang="zh-CN" altLang="en-US" dirty="0">
                <a:latin typeface="Garamond" panose="02020404030301010803" pitchFamily="18" charset="0"/>
                <a:ea typeface="SimSun" panose="02010600030101010101" pitchFamily="2" charset="-122"/>
              </a:rPr>
              <a:t>间接税和企业转移支付</a:t>
            </a:r>
            <a:r>
              <a:rPr lang="en-US" altLang="zh-CN" dirty="0">
                <a:latin typeface="Garamond" panose="02020404030301010803" pitchFamily="18" charset="0"/>
                <a:ea typeface="SimSun" panose="02010600030101010101" pitchFamily="2" charset="-122"/>
              </a:rPr>
              <a:t>+</a:t>
            </a:r>
            <a:r>
              <a:rPr lang="zh-CN" altLang="en-US" dirty="0">
                <a:latin typeface="Garamond" panose="02020404030301010803" pitchFamily="18" charset="0"/>
                <a:ea typeface="SimSun" panose="02010600030101010101" pitchFamily="2" charset="-122"/>
              </a:rPr>
              <a:t>折旧</a:t>
            </a:r>
          </a:p>
          <a:p>
            <a:r>
              <a:rPr lang="zh-CN" altLang="en-US" b="1" dirty="0">
                <a:latin typeface="Garamond" panose="02020404030301010803" pitchFamily="18" charset="0"/>
                <a:ea typeface="SimSun" panose="02010600030101010101" pitchFamily="2" charset="-122"/>
              </a:rPr>
              <a:t>间接税与直接税说明：</a:t>
            </a:r>
          </a:p>
          <a:p>
            <a:r>
              <a:rPr lang="zh-CN" altLang="en-US" dirty="0">
                <a:latin typeface="Garamond" panose="02020404030301010803" pitchFamily="18" charset="0"/>
                <a:ea typeface="SimSun" panose="02010600030101010101" pitchFamily="2" charset="-122"/>
              </a:rPr>
              <a:t>⑴间接税：对商品和劳务征收的税，特点是税负不由纳税人直接承担，可以转嫁出去。</a:t>
            </a:r>
          </a:p>
          <a:p>
            <a:r>
              <a:rPr lang="zh-CN" altLang="en-US" dirty="0">
                <a:latin typeface="Garamond" panose="02020404030301010803" pitchFamily="18" charset="0"/>
                <a:ea typeface="SimSun" panose="02010600030101010101" pitchFamily="2" charset="-122"/>
              </a:rPr>
              <a:t>⑵直接税：对财产和收入征收的税，特点是税负不能转嫁，由纳税人直接承担。 </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61040" rtl="0" eaLnBrk="1" fontAlgn="base" latinLnBrk="0" hangingPunct="1">
              <a:lnSpc>
                <a:spcPct val="100000"/>
              </a:lnSpc>
              <a:spcBef>
                <a:spcPct val="0"/>
              </a:spcBef>
              <a:spcAft>
                <a:spcPct val="0"/>
              </a:spcAft>
              <a:buClrTx/>
              <a:buSzTx/>
              <a:buFontTx/>
              <a:buNone/>
              <a:tabLst/>
              <a:defRPr/>
            </a:pPr>
            <a:r>
              <a:rPr kumimoji="0" lang="en-US" altLang="zh-CN" sz="706"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t>0</a:t>
            </a:r>
          </a:p>
        </p:txBody>
      </p:sp>
      <p:sp>
        <p:nvSpPr>
          <p:cNvPr id="2" name="页脚占位符 1">
            <a:extLst>
              <a:ext uri="{FF2B5EF4-FFF2-40B4-BE49-F238E27FC236}">
                <a16:creationId xmlns:a16="http://schemas.microsoft.com/office/drawing/2014/main" id="{BF3A450A-E0EB-10C1-50DF-5B851CF0361D}"/>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61040" rtl="0" eaLnBrk="1" fontAlgn="base" latinLnBrk="0" hangingPunct="1">
              <a:lnSpc>
                <a:spcPct val="100000"/>
              </a:lnSpc>
              <a:spcBef>
                <a:spcPct val="0"/>
              </a:spcBef>
              <a:spcAft>
                <a:spcPct val="0"/>
              </a:spcAft>
              <a:buClrTx/>
              <a:buSzTx/>
              <a:buFontTx/>
              <a:buNone/>
              <a:tabLst/>
              <a:defRPr/>
            </a:pP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国民收入核算</a:t>
            </a:r>
            <a:endPar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509110410"/>
      </p:ext>
    </p:extLst>
  </p:cSld>
  <p:clrMapOvr>
    <a:masterClrMapping/>
  </p:clrMapOvr>
  <p:transition>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16945" y="228065"/>
            <a:ext cx="3976211" cy="2862289"/>
          </a:xfrm>
        </p:spPr>
        <p:txBody>
          <a:bodyPr/>
          <a:lstStyle/>
          <a:p>
            <a:pPr marL="0" indent="0" eaLnBrk="1" hangingPunct="1">
              <a:spcBef>
                <a:spcPct val="20000"/>
              </a:spcBef>
              <a:buClr>
                <a:srgbClr val="6699FF"/>
              </a:buClr>
              <a:buNone/>
            </a:pPr>
            <a:r>
              <a:rPr lang="zh-CN" altLang="en-US" sz="908" dirty="0">
                <a:latin typeface="+mn-ea"/>
              </a:rPr>
              <a:t>在美国的国民收入统计中，按收入法主要包括以下几个项目：</a:t>
            </a:r>
          </a:p>
          <a:p>
            <a:pPr marL="0" indent="0" eaLnBrk="1" hangingPunct="1">
              <a:spcBef>
                <a:spcPct val="20000"/>
              </a:spcBef>
              <a:buClr>
                <a:srgbClr val="6699FF"/>
              </a:buClr>
              <a:buNone/>
            </a:pPr>
            <a:r>
              <a:rPr lang="zh-CN" altLang="en-US" sz="908" dirty="0">
                <a:latin typeface="+mn-ea"/>
              </a:rPr>
              <a:t>         工资和其它补助</a:t>
            </a:r>
            <a:endParaRPr lang="en-US" altLang="zh-CN" sz="908" dirty="0">
              <a:latin typeface="+mn-ea"/>
            </a:endParaRPr>
          </a:p>
          <a:p>
            <a:pPr marL="0" indent="0" eaLnBrk="1" hangingPunct="1">
              <a:spcBef>
                <a:spcPct val="20000"/>
              </a:spcBef>
              <a:buClr>
                <a:srgbClr val="6699FF"/>
              </a:buClr>
              <a:buNone/>
            </a:pPr>
            <a:r>
              <a:rPr lang="en-US" altLang="zh-CN" sz="908" dirty="0">
                <a:latin typeface="+mn-ea"/>
              </a:rPr>
              <a:t>         </a:t>
            </a:r>
            <a:r>
              <a:rPr lang="zh-CN" altLang="en-US" sz="908" dirty="0">
                <a:latin typeface="+mn-ea"/>
              </a:rPr>
              <a:t>净利息</a:t>
            </a:r>
          </a:p>
          <a:p>
            <a:pPr marL="0" indent="0" eaLnBrk="1" hangingPunct="1">
              <a:spcBef>
                <a:spcPct val="20000"/>
              </a:spcBef>
              <a:buClr>
                <a:srgbClr val="6699FF"/>
              </a:buClr>
              <a:buNone/>
            </a:pPr>
            <a:r>
              <a:rPr lang="zh-CN" altLang="en-US" sz="908" dirty="0">
                <a:latin typeface="+mn-ea"/>
              </a:rPr>
              <a:t>         租金收入</a:t>
            </a:r>
          </a:p>
          <a:p>
            <a:pPr marL="0" indent="0" eaLnBrk="1" hangingPunct="1">
              <a:spcBef>
                <a:spcPct val="20000"/>
              </a:spcBef>
              <a:buClr>
                <a:srgbClr val="6699FF"/>
              </a:buClr>
              <a:buNone/>
            </a:pPr>
            <a:r>
              <a:rPr lang="zh-CN" altLang="en-US" sz="908" dirty="0">
                <a:latin typeface="+mn-ea"/>
              </a:rPr>
              <a:t>         利润</a:t>
            </a:r>
          </a:p>
          <a:p>
            <a:pPr marL="0" indent="0" eaLnBrk="1" hangingPunct="1">
              <a:spcBef>
                <a:spcPct val="20000"/>
              </a:spcBef>
              <a:buClr>
                <a:srgbClr val="6699FF"/>
              </a:buClr>
              <a:buNone/>
            </a:pPr>
            <a:r>
              <a:rPr lang="zh-CN" altLang="en-US" sz="908" dirty="0">
                <a:latin typeface="+mn-ea"/>
              </a:rPr>
              <a:t>         公司利润</a:t>
            </a:r>
          </a:p>
          <a:p>
            <a:pPr marL="0" indent="0" eaLnBrk="1" hangingPunct="1">
              <a:spcBef>
                <a:spcPct val="20000"/>
              </a:spcBef>
              <a:buClr>
                <a:srgbClr val="6699FF"/>
              </a:buClr>
              <a:buNone/>
            </a:pPr>
            <a:r>
              <a:rPr lang="zh-CN" altLang="en-US" sz="908" dirty="0">
                <a:latin typeface="+mn-ea"/>
              </a:rPr>
              <a:t>             红利</a:t>
            </a:r>
            <a:endParaRPr lang="en-US" altLang="zh-CN" sz="908" dirty="0">
              <a:latin typeface="+mn-ea"/>
            </a:endParaRPr>
          </a:p>
          <a:p>
            <a:pPr marL="0" indent="0" eaLnBrk="1" hangingPunct="1">
              <a:spcBef>
                <a:spcPct val="20000"/>
              </a:spcBef>
              <a:buClr>
                <a:srgbClr val="6699FF"/>
              </a:buClr>
              <a:buNone/>
            </a:pPr>
            <a:r>
              <a:rPr lang="zh-CN" altLang="en-US" sz="908" dirty="0">
                <a:latin typeface="+mn-ea"/>
              </a:rPr>
              <a:t>             未分配利润</a:t>
            </a:r>
          </a:p>
          <a:p>
            <a:pPr marL="0" indent="0" eaLnBrk="1" hangingPunct="1">
              <a:spcBef>
                <a:spcPct val="20000"/>
              </a:spcBef>
              <a:buClr>
                <a:srgbClr val="6699FF"/>
              </a:buClr>
              <a:buNone/>
            </a:pPr>
            <a:r>
              <a:rPr lang="zh-CN" altLang="en-US" sz="908" dirty="0">
                <a:latin typeface="+mn-ea"/>
              </a:rPr>
              <a:t>         非公司利润</a:t>
            </a:r>
          </a:p>
          <a:p>
            <a:pPr marL="0" indent="0" eaLnBrk="1" hangingPunct="1">
              <a:spcBef>
                <a:spcPct val="20000"/>
              </a:spcBef>
              <a:buClr>
                <a:srgbClr val="6699FF"/>
              </a:buClr>
              <a:buNone/>
            </a:pPr>
            <a:r>
              <a:rPr lang="en-US" altLang="zh-CN" sz="908" dirty="0">
                <a:latin typeface="+mn-ea"/>
              </a:rPr>
              <a:t>             </a:t>
            </a:r>
            <a:r>
              <a:rPr lang="zh-CN" altLang="en-US" sz="908" dirty="0">
                <a:latin typeface="+mn-ea"/>
              </a:rPr>
              <a:t>全营企业</a:t>
            </a:r>
          </a:p>
          <a:p>
            <a:pPr marL="0" indent="0" eaLnBrk="1" hangingPunct="1">
              <a:spcBef>
                <a:spcPct val="20000"/>
              </a:spcBef>
              <a:buClr>
                <a:srgbClr val="6699FF"/>
              </a:buClr>
              <a:buNone/>
            </a:pPr>
            <a:r>
              <a:rPr lang="zh-CN" altLang="en-US" sz="908" dirty="0">
                <a:latin typeface="+mn-ea"/>
              </a:rPr>
              <a:t>             农民</a:t>
            </a:r>
          </a:p>
          <a:p>
            <a:pPr marL="0" indent="0" eaLnBrk="1" hangingPunct="1">
              <a:spcBef>
                <a:spcPct val="20000"/>
              </a:spcBef>
              <a:buClr>
                <a:srgbClr val="6699FF"/>
              </a:buClr>
              <a:buNone/>
            </a:pPr>
            <a:r>
              <a:rPr lang="zh-CN" altLang="en-US" sz="908" dirty="0">
                <a:latin typeface="+mn-ea"/>
              </a:rPr>
              <a:t>     企业税</a:t>
            </a:r>
            <a:endParaRPr lang="en-US" altLang="zh-CN" sz="908" dirty="0">
              <a:latin typeface="+mn-ea"/>
            </a:endParaRPr>
          </a:p>
          <a:p>
            <a:pPr marL="0" indent="0" eaLnBrk="1" hangingPunct="1">
              <a:spcBef>
                <a:spcPct val="20000"/>
              </a:spcBef>
              <a:buClr>
                <a:srgbClr val="6699FF"/>
              </a:buClr>
              <a:buNone/>
            </a:pPr>
            <a:r>
              <a:rPr lang="en-US" altLang="zh-CN" sz="908" dirty="0">
                <a:latin typeface="+mn-ea"/>
              </a:rPr>
              <a:t>             </a:t>
            </a:r>
            <a:r>
              <a:rPr lang="zh-CN" altLang="en-US" sz="908" dirty="0">
                <a:latin typeface="+mn-ea"/>
              </a:rPr>
              <a:t>间接税</a:t>
            </a:r>
          </a:p>
          <a:p>
            <a:pPr marL="0" indent="0" eaLnBrk="1" hangingPunct="1">
              <a:spcBef>
                <a:spcPct val="20000"/>
              </a:spcBef>
              <a:buClr>
                <a:srgbClr val="6699FF"/>
              </a:buClr>
              <a:buNone/>
            </a:pPr>
            <a:r>
              <a:rPr lang="zh-CN" altLang="en-US" sz="908" dirty="0">
                <a:latin typeface="+mn-ea"/>
              </a:rPr>
              <a:t>             公司税</a:t>
            </a:r>
          </a:p>
          <a:p>
            <a:pPr marL="0" indent="0" eaLnBrk="1" hangingPunct="1">
              <a:spcBef>
                <a:spcPct val="20000"/>
              </a:spcBef>
              <a:buClr>
                <a:srgbClr val="6699FF"/>
              </a:buClr>
              <a:buNone/>
            </a:pPr>
            <a:r>
              <a:rPr lang="zh-CN" altLang="en-US" sz="908" dirty="0">
                <a:latin typeface="+mn-ea"/>
              </a:rPr>
              <a:t>     资本折旧</a:t>
            </a:r>
          </a:p>
          <a:p>
            <a:pPr marL="0" indent="0" eaLnBrk="1" hangingPunct="1">
              <a:spcBef>
                <a:spcPct val="20000"/>
              </a:spcBef>
              <a:buClr>
                <a:srgbClr val="6699FF"/>
              </a:buClr>
              <a:buNone/>
            </a:pPr>
            <a:r>
              <a:rPr lang="zh-CN" altLang="en-US" sz="908" dirty="0">
                <a:latin typeface="+mn-ea"/>
              </a:rPr>
              <a:t>     误差调整</a:t>
            </a:r>
          </a:p>
          <a:p>
            <a:pPr marL="0" indent="0" eaLnBrk="1" hangingPunct="1">
              <a:spcBef>
                <a:spcPct val="20000"/>
              </a:spcBef>
              <a:buClr>
                <a:srgbClr val="6699FF"/>
              </a:buClr>
              <a:buNone/>
            </a:pPr>
            <a:r>
              <a:rPr lang="en-US" altLang="zh-CN" sz="908" dirty="0">
                <a:latin typeface="+mn-ea"/>
              </a:rPr>
              <a:t>————————————</a:t>
            </a:r>
            <a:r>
              <a:rPr lang="zh-CN" altLang="en-US" sz="908" dirty="0">
                <a:latin typeface="+mn-ea"/>
              </a:rPr>
              <a:t>        </a:t>
            </a:r>
          </a:p>
          <a:p>
            <a:pPr marL="0" indent="0" eaLnBrk="1" hangingPunct="1">
              <a:spcBef>
                <a:spcPct val="20000"/>
              </a:spcBef>
              <a:buClr>
                <a:srgbClr val="6699FF"/>
              </a:buClr>
              <a:buNone/>
            </a:pPr>
            <a:r>
              <a:rPr lang="zh-CN" altLang="en-US" sz="908" dirty="0">
                <a:latin typeface="+mn-ea"/>
              </a:rPr>
              <a:t> 总计：</a:t>
            </a:r>
            <a:r>
              <a:rPr lang="en-US" altLang="zh-CN" sz="908" dirty="0">
                <a:latin typeface="+mn-ea"/>
              </a:rPr>
              <a:t>GDP</a:t>
            </a:r>
          </a:p>
          <a:p>
            <a:pPr marL="0" indent="0">
              <a:buNone/>
            </a:pPr>
            <a:endParaRPr lang="zh-CN" altLang="en-US" dirty="0">
              <a:latin typeface="+mn-ea"/>
            </a:endParaRPr>
          </a:p>
        </p:txBody>
      </p:sp>
    </p:spTree>
    <p:extLst>
      <p:ext uri="{BB962C8B-B14F-4D97-AF65-F5344CB8AC3E}">
        <p14:creationId xmlns:p14="http://schemas.microsoft.com/office/powerpoint/2010/main" val="8611528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461040" rtl="0" eaLnBrk="1" fontAlgn="base" latinLnBrk="0" hangingPunct="1">
              <a:lnSpc>
                <a:spcPct val="100000"/>
              </a:lnSpc>
              <a:spcBef>
                <a:spcPct val="0"/>
              </a:spcBef>
              <a:spcAft>
                <a:spcPct val="0"/>
              </a:spcAft>
              <a:buClrTx/>
              <a:buSzTx/>
              <a:buFontTx/>
              <a:buNone/>
              <a:tabLst/>
              <a:defRPr/>
            </a:pPr>
            <a:fld id="{40B57475-AFD4-3C48-860A-4FC9F25FD75E}" type="slidenum">
              <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rPr>
              <a:pPr marL="0" marR="0" lvl="0" indent="0" algn="r" defTabSz="461040" rtl="0" eaLnBrk="1" fontAlgn="base" latinLnBrk="0" hangingPunct="1">
                <a:lnSpc>
                  <a:spcPct val="100000"/>
                </a:lnSpc>
                <a:spcBef>
                  <a:spcPct val="0"/>
                </a:spcBef>
                <a:spcAft>
                  <a:spcPct val="0"/>
                </a:spcAft>
                <a:buClrTx/>
                <a:buSzTx/>
                <a:buFontTx/>
                <a:buNone/>
                <a:tabLst/>
                <a:defRPr/>
              </a:pPr>
              <a:t>14</a:t>
            </a:fld>
            <a:endPar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pPr eaLnBrk="1" hangingPunct="1"/>
            <a:r>
              <a:rPr lang="zh-CN" altLang="en-US" sz="1800" b="1" dirty="0"/>
              <a:t>部门法（</a:t>
            </a:r>
            <a:r>
              <a:rPr lang="en" altLang="zh-CN" sz="1800" b="1" dirty="0"/>
              <a:t>sector approach</a:t>
            </a:r>
            <a:r>
              <a:rPr lang="zh-CN" altLang="en" sz="1800" b="1" dirty="0"/>
              <a:t>）</a:t>
            </a:r>
            <a:r>
              <a:rPr lang="en-US" altLang="zh-CN" sz="1800" dirty="0"/>
              <a:t>/</a:t>
            </a:r>
            <a:r>
              <a:rPr lang="zh-CN" altLang="en-US" sz="1800" b="1" dirty="0"/>
              <a:t>生产法</a:t>
            </a:r>
            <a:endParaRPr lang="zh-CN" altLang="zh-CN" sz="1800" dirty="0">
              <a:ea typeface="宋体" panose="02010600030101010101" pitchFamily="2" charset="-122"/>
            </a:endParaRPr>
          </a:p>
        </p:txBody>
      </p:sp>
      <p:sp>
        <p:nvSpPr>
          <p:cNvPr id="11269" name="Rectangle 3">
            <a:extLst>
              <a:ext uri="{FF2B5EF4-FFF2-40B4-BE49-F238E27FC236}">
                <a16:creationId xmlns:a16="http://schemas.microsoft.com/office/drawing/2014/main" id="{682390F6-8267-98BE-91F5-48320642B532}"/>
              </a:ext>
            </a:extLst>
          </p:cNvPr>
          <p:cNvSpPr>
            <a:spLocks noGrp="1" noChangeArrowheads="1"/>
          </p:cNvSpPr>
          <p:nvPr>
            <p:ph type="body" idx="4294967295"/>
          </p:nvPr>
        </p:nvSpPr>
        <p:spPr/>
        <p:txBody>
          <a:bodyPr/>
          <a:lstStyle/>
          <a:p>
            <a:r>
              <a:rPr lang="zh-CN" altLang="en-US" dirty="0">
                <a:latin typeface="Garamond" panose="02020404030301010803" pitchFamily="18" charset="0"/>
                <a:ea typeface="SimSun" panose="02010600030101010101" pitchFamily="2" charset="-122"/>
              </a:rPr>
              <a:t>部门法核算</a:t>
            </a:r>
            <a:r>
              <a:rPr lang="en-US" altLang="zh-CN" dirty="0">
                <a:latin typeface="Garamond" panose="02020404030301010803" pitchFamily="18" charset="0"/>
                <a:ea typeface="SimSun" panose="02010600030101010101" pitchFamily="2" charset="-122"/>
              </a:rPr>
              <a:t>GDP</a:t>
            </a:r>
            <a:r>
              <a:rPr lang="zh-CN" altLang="en-US" dirty="0">
                <a:latin typeface="Garamond" panose="02020404030301010803" pitchFamily="18" charset="0"/>
                <a:ea typeface="SimSun" panose="02010600030101010101" pitchFamily="2" charset="-122"/>
              </a:rPr>
              <a:t>是按提供产品和劳务的各部门的产值来计算</a:t>
            </a:r>
          </a:p>
          <a:p>
            <a:r>
              <a:rPr lang="zh-CN" altLang="en-US" dirty="0">
                <a:latin typeface="Garamond" panose="02020404030301010803" pitchFamily="18" charset="0"/>
                <a:ea typeface="SimSun" panose="02010600030101010101" pitchFamily="2" charset="-122"/>
              </a:rPr>
              <a:t>用生产法核算</a:t>
            </a:r>
            <a:r>
              <a:rPr lang="en" altLang="zh-CN" dirty="0">
                <a:latin typeface="Garamond" panose="02020404030301010803" pitchFamily="18" charset="0"/>
                <a:ea typeface="SimSun" panose="02010600030101010101" pitchFamily="2" charset="-122"/>
              </a:rPr>
              <a:t>GDP</a:t>
            </a:r>
            <a:r>
              <a:rPr lang="zh-CN" altLang="en" dirty="0">
                <a:latin typeface="Garamond" panose="02020404030301010803" pitchFamily="18" charset="0"/>
                <a:ea typeface="SimSun" panose="02010600030101010101" pitchFamily="2" charset="-122"/>
              </a:rPr>
              <a:t>，</a:t>
            </a:r>
            <a:r>
              <a:rPr lang="zh-CN" altLang="en-US" dirty="0">
                <a:latin typeface="Garamond" panose="02020404030301010803" pitchFamily="18" charset="0"/>
                <a:ea typeface="SimSun" panose="02010600030101010101" pitchFamily="2" charset="-122"/>
              </a:rPr>
              <a:t>是指按提供物质产品与劳务的各个部门的新增产值来计算国内生产总值。生产法又叫部门法。</a:t>
            </a:r>
          </a:p>
          <a:p>
            <a:r>
              <a:rPr lang="zh-CN" altLang="en-US" dirty="0">
                <a:latin typeface="Garamond" panose="02020404030301010803" pitchFamily="18" charset="0"/>
                <a:ea typeface="SimSun" panose="02010600030101010101" pitchFamily="2" charset="-122"/>
              </a:rPr>
              <a:t>运用这种方法进行计算时，各生产部门要把使用的中间产品的产值扣除，只计算所增加的价值。商业和服务等部门也按增值法计算。卫生、教育、行政、家庭服务等部门无法计算其增值，就按工资收入来计算其服务的价值。</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61040" rtl="0" eaLnBrk="1" fontAlgn="base" latinLnBrk="0" hangingPunct="1">
              <a:lnSpc>
                <a:spcPct val="100000"/>
              </a:lnSpc>
              <a:spcBef>
                <a:spcPct val="0"/>
              </a:spcBef>
              <a:spcAft>
                <a:spcPct val="0"/>
              </a:spcAft>
              <a:buClrTx/>
              <a:buSzTx/>
              <a:buFontTx/>
              <a:buNone/>
              <a:tabLst/>
              <a:defRPr/>
            </a:pPr>
            <a:r>
              <a:rPr kumimoji="0" lang="en-US" altLang="zh-CN" sz="706"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t>0</a:t>
            </a:r>
          </a:p>
        </p:txBody>
      </p:sp>
      <p:sp>
        <p:nvSpPr>
          <p:cNvPr id="2" name="页脚占位符 1">
            <a:extLst>
              <a:ext uri="{FF2B5EF4-FFF2-40B4-BE49-F238E27FC236}">
                <a16:creationId xmlns:a16="http://schemas.microsoft.com/office/drawing/2014/main" id="{BF3A450A-E0EB-10C1-50DF-5B851CF0361D}"/>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61040" rtl="0" eaLnBrk="1" fontAlgn="base" latinLnBrk="0" hangingPunct="1">
              <a:lnSpc>
                <a:spcPct val="100000"/>
              </a:lnSpc>
              <a:spcBef>
                <a:spcPct val="0"/>
              </a:spcBef>
              <a:spcAft>
                <a:spcPct val="0"/>
              </a:spcAft>
              <a:buClrTx/>
              <a:buSzTx/>
              <a:buFontTx/>
              <a:buNone/>
              <a:tabLst/>
              <a:defRPr/>
            </a:pP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国民收入核算</a:t>
            </a:r>
            <a:endPar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668084502"/>
      </p:ext>
    </p:extLst>
  </p:cSld>
  <p:clrMapOvr>
    <a:masterClrMapping/>
  </p:clrMapOvr>
  <p:transition>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16944" y="185672"/>
            <a:ext cx="3667153" cy="317764"/>
          </a:xfrm>
        </p:spPr>
        <p:txBody>
          <a:bodyPr/>
          <a:lstStyle/>
          <a:p>
            <a:pPr>
              <a:lnSpc>
                <a:spcPct val="100000"/>
              </a:lnSpc>
            </a:pPr>
            <a:r>
              <a:rPr lang="zh-CN" altLang="en-US" sz="1008" b="1" dirty="0"/>
              <a:t>国内生产总值构成（来源：国家统计局）：部门法</a:t>
            </a:r>
            <a:r>
              <a:rPr lang="en-US" altLang="zh-CN" sz="1008" b="1" dirty="0"/>
              <a:t>/</a:t>
            </a:r>
            <a:r>
              <a:rPr lang="zh-CN" altLang="en-US" sz="1008" b="1" dirty="0"/>
              <a:t>生产法</a:t>
            </a:r>
          </a:p>
        </p:txBody>
      </p:sp>
      <p:sp>
        <p:nvSpPr>
          <p:cNvPr id="3" name="内容占位符 2"/>
          <p:cNvSpPr>
            <a:spLocks noGrp="1"/>
          </p:cNvSpPr>
          <p:nvPr>
            <p:ph idx="1"/>
          </p:nvPr>
        </p:nvSpPr>
        <p:spPr/>
        <p:txBody>
          <a:bodyPr/>
          <a:lstStyle/>
          <a:p>
            <a:endParaRPr lang="zh-CN" altLang="en-US" dirty="0"/>
          </a:p>
        </p:txBody>
      </p:sp>
      <p:pic>
        <p:nvPicPr>
          <p:cNvPr id="9" name="图片 8"/>
          <p:cNvPicPr>
            <a:picLocks noChangeAspect="1"/>
          </p:cNvPicPr>
          <p:nvPr/>
        </p:nvPicPr>
        <p:blipFill>
          <a:blip r:embed="rId2"/>
          <a:stretch>
            <a:fillRect/>
          </a:stretch>
        </p:blipFill>
        <p:spPr>
          <a:xfrm>
            <a:off x="80053" y="503435"/>
            <a:ext cx="4449994" cy="2612371"/>
          </a:xfrm>
          <a:prstGeom prst="rect">
            <a:avLst/>
          </a:prstGeom>
        </p:spPr>
      </p:pic>
    </p:spTree>
    <p:extLst>
      <p:ext uri="{BB962C8B-B14F-4D97-AF65-F5344CB8AC3E}">
        <p14:creationId xmlns:p14="http://schemas.microsoft.com/office/powerpoint/2010/main" val="26942709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endParaRPr lang="zh-CN" altLang="en-US"/>
          </a:p>
        </p:txBody>
      </p:sp>
      <p:pic>
        <p:nvPicPr>
          <p:cNvPr id="7" name="图片 6"/>
          <p:cNvPicPr>
            <a:picLocks noChangeAspect="1"/>
          </p:cNvPicPr>
          <p:nvPr/>
        </p:nvPicPr>
        <p:blipFill>
          <a:blip r:embed="rId2"/>
          <a:stretch>
            <a:fillRect/>
          </a:stretch>
        </p:blipFill>
        <p:spPr>
          <a:xfrm>
            <a:off x="37367" y="728316"/>
            <a:ext cx="4535366" cy="2411747"/>
          </a:xfrm>
          <a:prstGeom prst="rect">
            <a:avLst/>
          </a:prstGeom>
        </p:spPr>
      </p:pic>
      <p:sp>
        <p:nvSpPr>
          <p:cNvPr id="8" name="标题 1"/>
          <p:cNvSpPr>
            <a:spLocks noGrp="1"/>
          </p:cNvSpPr>
          <p:nvPr>
            <p:ph type="title"/>
          </p:nvPr>
        </p:nvSpPr>
        <p:spPr>
          <a:xfrm>
            <a:off x="241727" y="313707"/>
            <a:ext cx="3494880" cy="317764"/>
          </a:xfrm>
        </p:spPr>
        <p:txBody>
          <a:bodyPr/>
          <a:lstStyle/>
          <a:p>
            <a:pPr>
              <a:lnSpc>
                <a:spcPct val="100000"/>
              </a:lnSpc>
            </a:pPr>
            <a:r>
              <a:rPr lang="zh-CN" altLang="en-US" sz="1008" b="1" dirty="0"/>
              <a:t>国内生产总值构成（来源：国家统计局）：部门法</a:t>
            </a:r>
            <a:r>
              <a:rPr lang="en-US" altLang="zh-CN" sz="1008" b="1" dirty="0"/>
              <a:t>/</a:t>
            </a:r>
            <a:r>
              <a:rPr lang="zh-CN" altLang="en-US" sz="1008" b="1" dirty="0"/>
              <a:t>生产法</a:t>
            </a:r>
          </a:p>
        </p:txBody>
      </p:sp>
    </p:spTree>
    <p:extLst>
      <p:ext uri="{BB962C8B-B14F-4D97-AF65-F5344CB8AC3E}">
        <p14:creationId xmlns:p14="http://schemas.microsoft.com/office/powerpoint/2010/main" val="16979940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461040" rtl="0" eaLnBrk="1" fontAlgn="base" latinLnBrk="0" hangingPunct="1">
              <a:lnSpc>
                <a:spcPct val="100000"/>
              </a:lnSpc>
              <a:spcBef>
                <a:spcPct val="0"/>
              </a:spcBef>
              <a:spcAft>
                <a:spcPct val="0"/>
              </a:spcAft>
              <a:buClrTx/>
              <a:buSzTx/>
              <a:buFontTx/>
              <a:buNone/>
              <a:tabLst/>
              <a:defRPr/>
            </a:pPr>
            <a:fld id="{40B57475-AFD4-3C48-860A-4FC9F25FD75E}" type="slidenum">
              <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rPr>
              <a:pPr marL="0" marR="0" lvl="0" indent="0" algn="r" defTabSz="461040" rtl="0" eaLnBrk="1" fontAlgn="base" latinLnBrk="0" hangingPunct="1">
                <a:lnSpc>
                  <a:spcPct val="100000"/>
                </a:lnSpc>
                <a:spcBef>
                  <a:spcPct val="0"/>
                </a:spcBef>
                <a:spcAft>
                  <a:spcPct val="0"/>
                </a:spcAft>
                <a:buClrTx/>
                <a:buSzTx/>
                <a:buFontTx/>
                <a:buNone/>
                <a:tabLst/>
                <a:defRPr/>
              </a:pPr>
              <a:t>17</a:t>
            </a:fld>
            <a:endPar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r>
              <a:rPr lang="zh-CN" altLang="en-US" sz="1800" dirty="0"/>
              <a:t>三种核算方法的关系</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61040" rtl="0" eaLnBrk="1" fontAlgn="base" latinLnBrk="0" hangingPunct="1">
              <a:lnSpc>
                <a:spcPct val="100000"/>
              </a:lnSpc>
              <a:spcBef>
                <a:spcPct val="0"/>
              </a:spcBef>
              <a:spcAft>
                <a:spcPct val="0"/>
              </a:spcAft>
              <a:buClrTx/>
              <a:buSzTx/>
              <a:buFontTx/>
              <a:buNone/>
              <a:tabLst/>
              <a:defRPr/>
            </a:pPr>
            <a:r>
              <a:rPr kumimoji="0" lang="en-US" altLang="zh-CN" sz="706"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t>0</a:t>
            </a:r>
          </a:p>
        </p:txBody>
      </p:sp>
      <p:sp>
        <p:nvSpPr>
          <p:cNvPr id="2" name="页脚占位符 1">
            <a:extLst>
              <a:ext uri="{FF2B5EF4-FFF2-40B4-BE49-F238E27FC236}">
                <a16:creationId xmlns:a16="http://schemas.microsoft.com/office/drawing/2014/main" id="{BF3A450A-E0EB-10C1-50DF-5B851CF0361D}"/>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61040" rtl="0" eaLnBrk="1" fontAlgn="base" latinLnBrk="0" hangingPunct="1">
              <a:lnSpc>
                <a:spcPct val="100000"/>
              </a:lnSpc>
              <a:spcBef>
                <a:spcPct val="0"/>
              </a:spcBef>
              <a:spcAft>
                <a:spcPct val="0"/>
              </a:spcAft>
              <a:buClrTx/>
              <a:buSzTx/>
              <a:buFontTx/>
              <a:buNone/>
              <a:tabLst/>
              <a:defRPr/>
            </a:pP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国民收入核算</a:t>
            </a:r>
            <a:endPar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3" name="Text Box 4">
            <a:extLst>
              <a:ext uri="{FF2B5EF4-FFF2-40B4-BE49-F238E27FC236}">
                <a16:creationId xmlns:a16="http://schemas.microsoft.com/office/drawing/2014/main" id="{261285DC-8242-4F8D-95E4-C17DC267487B}"/>
              </a:ext>
            </a:extLst>
          </p:cNvPr>
          <p:cNvSpPr txBox="1">
            <a:spLocks noChangeArrowheads="1"/>
          </p:cNvSpPr>
          <p:nvPr/>
        </p:nvSpPr>
        <p:spPr bwMode="auto">
          <a:xfrm>
            <a:off x="1446989" y="707998"/>
            <a:ext cx="2044224" cy="447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230520" fontAlgn="base">
              <a:lnSpc>
                <a:spcPct val="85000"/>
              </a:lnSpc>
              <a:spcBef>
                <a:spcPct val="50000"/>
              </a:spcBef>
              <a:spcAft>
                <a:spcPct val="0"/>
              </a:spcAft>
              <a:buClr>
                <a:srgbClr val="44546A"/>
              </a:buClr>
              <a:buSzPct val="65000"/>
              <a:buNone/>
            </a:pPr>
            <a:r>
              <a:rPr lang="zh-CN" altLang="en-US" sz="1050" dirty="0">
                <a:solidFill>
                  <a:prstClr val="black"/>
                </a:solidFill>
                <a:latin typeface="SimSun" panose="02010600030101010101" pitchFamily="2" charset="-122"/>
                <a:ea typeface="SimSun" panose="02010600030101010101" pitchFamily="2" charset="-122"/>
              </a:rPr>
              <a:t>最终产品的价值的形成过程：</a:t>
            </a:r>
          </a:p>
          <a:p>
            <a:pPr algn="ctr" defTabSz="230520" fontAlgn="base">
              <a:lnSpc>
                <a:spcPct val="85000"/>
              </a:lnSpc>
              <a:spcBef>
                <a:spcPct val="50000"/>
              </a:spcBef>
              <a:spcAft>
                <a:spcPct val="0"/>
              </a:spcAft>
              <a:buClr>
                <a:srgbClr val="44546A"/>
              </a:buClr>
              <a:buSzPct val="65000"/>
              <a:buNone/>
            </a:pPr>
            <a:r>
              <a:rPr lang="zh-CN" altLang="en-US" sz="1050" dirty="0">
                <a:solidFill>
                  <a:prstClr val="black"/>
                </a:solidFill>
                <a:latin typeface="SimSun" panose="02010600030101010101" pitchFamily="2" charset="-122"/>
                <a:ea typeface="SimSun" panose="02010600030101010101" pitchFamily="2" charset="-122"/>
              </a:rPr>
              <a:t>所有企业资产增值的总和</a:t>
            </a:r>
          </a:p>
        </p:txBody>
      </p:sp>
      <p:sp>
        <p:nvSpPr>
          <p:cNvPr id="4" name="Text Box 6">
            <a:extLst>
              <a:ext uri="{FF2B5EF4-FFF2-40B4-BE49-F238E27FC236}">
                <a16:creationId xmlns:a16="http://schemas.microsoft.com/office/drawing/2014/main" id="{3AAA9ED3-7899-3B1A-DA0D-5EA355B921B6}"/>
              </a:ext>
            </a:extLst>
          </p:cNvPr>
          <p:cNvSpPr txBox="1">
            <a:spLocks noChangeArrowheads="1"/>
          </p:cNvSpPr>
          <p:nvPr/>
        </p:nvSpPr>
        <p:spPr bwMode="auto">
          <a:xfrm>
            <a:off x="1979689" y="1334778"/>
            <a:ext cx="588623" cy="614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230520" fontAlgn="base">
              <a:spcBef>
                <a:spcPct val="50000"/>
              </a:spcBef>
              <a:spcAft>
                <a:spcPct val="0"/>
              </a:spcAft>
              <a:buClr>
                <a:srgbClr val="44546A"/>
              </a:buClr>
              <a:buSzPct val="65000"/>
              <a:buNone/>
            </a:pPr>
            <a:r>
              <a:rPr lang="zh-CN" altLang="en-US" sz="1050" dirty="0">
                <a:ln w="0"/>
                <a:solidFill>
                  <a:srgbClr val="002060"/>
                </a:solidFill>
                <a:effectLst>
                  <a:outerShdw blurRad="38100" dist="25400" dir="5400000" algn="ctr" rotWithShape="0">
                    <a:srgbClr val="6E747A">
                      <a:alpha val="43000"/>
                    </a:srgbClr>
                  </a:outerShdw>
                </a:effectLst>
                <a:latin typeface="SimSun" panose="02010600030101010101" pitchFamily="2" charset="-122"/>
                <a:ea typeface="SimSun" panose="02010600030101010101" pitchFamily="2" charset="-122"/>
              </a:rPr>
              <a:t>生产法</a:t>
            </a:r>
          </a:p>
          <a:p>
            <a:pPr algn="ctr" defTabSz="230520" fontAlgn="base">
              <a:spcBef>
                <a:spcPct val="50000"/>
              </a:spcBef>
              <a:spcAft>
                <a:spcPct val="0"/>
              </a:spcAft>
              <a:buClr>
                <a:srgbClr val="44546A"/>
              </a:buClr>
              <a:buSzPct val="65000"/>
              <a:buNone/>
            </a:pPr>
            <a:r>
              <a:rPr lang="zh-CN" altLang="en-US" sz="1050" dirty="0">
                <a:ln w="0"/>
                <a:solidFill>
                  <a:srgbClr val="002060"/>
                </a:solidFill>
                <a:effectLst>
                  <a:outerShdw blurRad="38100" dist="25400" dir="5400000" algn="ctr" rotWithShape="0">
                    <a:srgbClr val="6E747A">
                      <a:alpha val="43000"/>
                    </a:srgbClr>
                  </a:outerShdw>
                </a:effectLst>
                <a:latin typeface="SimSun" panose="02010600030101010101" pitchFamily="2" charset="-122"/>
                <a:ea typeface="SimSun" panose="02010600030101010101" pitchFamily="2" charset="-122"/>
              </a:rPr>
              <a:t>概念</a:t>
            </a:r>
          </a:p>
        </p:txBody>
      </p:sp>
      <p:sp>
        <p:nvSpPr>
          <p:cNvPr id="5" name="Oval 7">
            <a:extLst>
              <a:ext uri="{FF2B5EF4-FFF2-40B4-BE49-F238E27FC236}">
                <a16:creationId xmlns:a16="http://schemas.microsoft.com/office/drawing/2014/main" id="{F7B6934E-5117-F5C5-DD7C-5495C926CDC0}"/>
              </a:ext>
            </a:extLst>
          </p:cNvPr>
          <p:cNvSpPr>
            <a:spLocks noChangeArrowheads="1"/>
          </p:cNvSpPr>
          <p:nvPr/>
        </p:nvSpPr>
        <p:spPr bwMode="auto">
          <a:xfrm>
            <a:off x="1771995" y="1868333"/>
            <a:ext cx="998855" cy="614680"/>
          </a:xfrm>
          <a:prstGeom prst="ellipse">
            <a:avLst/>
          </a:prstGeom>
          <a:noFill/>
          <a:ln w="31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defTabSz="230520" fontAlgn="base">
              <a:spcBef>
                <a:spcPct val="0"/>
              </a:spcBef>
              <a:spcAft>
                <a:spcPct val="0"/>
              </a:spcAft>
              <a:buClrTx/>
              <a:buNone/>
            </a:pPr>
            <a:endParaRPr lang="zh-CN" altLang="en-US" sz="1050">
              <a:solidFill>
                <a:prstClr val="black"/>
              </a:solidFill>
              <a:latin typeface="SimSun" panose="02010600030101010101" pitchFamily="2" charset="-122"/>
              <a:ea typeface="SimSun" panose="02010600030101010101" pitchFamily="2" charset="-122"/>
            </a:endParaRPr>
          </a:p>
        </p:txBody>
      </p:sp>
      <p:sp>
        <p:nvSpPr>
          <p:cNvPr id="6" name="Text Box 8">
            <a:extLst>
              <a:ext uri="{FF2B5EF4-FFF2-40B4-BE49-F238E27FC236}">
                <a16:creationId xmlns:a16="http://schemas.microsoft.com/office/drawing/2014/main" id="{634B4B54-9BD9-65DD-7A25-BA0CA86D7388}"/>
              </a:ext>
            </a:extLst>
          </p:cNvPr>
          <p:cNvSpPr txBox="1">
            <a:spLocks noChangeArrowheads="1"/>
          </p:cNvSpPr>
          <p:nvPr/>
        </p:nvSpPr>
        <p:spPr bwMode="auto">
          <a:xfrm>
            <a:off x="1918946" y="2062857"/>
            <a:ext cx="714725"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230520" fontAlgn="base">
              <a:spcBef>
                <a:spcPct val="50000"/>
              </a:spcBef>
              <a:spcAft>
                <a:spcPct val="0"/>
              </a:spcAft>
              <a:buClr>
                <a:srgbClr val="44546A"/>
              </a:buClr>
              <a:buSzPct val="65000"/>
              <a:buNone/>
            </a:pPr>
            <a:r>
              <a:rPr lang="zh-CN" altLang="en-US" sz="1050">
                <a:solidFill>
                  <a:prstClr val="black"/>
                </a:solidFill>
                <a:latin typeface="SimSun" panose="02010600030101010101" pitchFamily="2" charset="-122"/>
                <a:ea typeface="SimSun" panose="02010600030101010101" pitchFamily="2" charset="-122"/>
              </a:rPr>
              <a:t>最终产品</a:t>
            </a:r>
          </a:p>
        </p:txBody>
      </p:sp>
      <p:sp>
        <p:nvSpPr>
          <p:cNvPr id="7" name="Text Box 9">
            <a:extLst>
              <a:ext uri="{FF2B5EF4-FFF2-40B4-BE49-F238E27FC236}">
                <a16:creationId xmlns:a16="http://schemas.microsoft.com/office/drawing/2014/main" id="{CD1B7FDA-8CAD-0C29-7FC5-87BE630FCFD7}"/>
              </a:ext>
            </a:extLst>
          </p:cNvPr>
          <p:cNvSpPr txBox="1">
            <a:spLocks noChangeArrowheads="1"/>
          </p:cNvSpPr>
          <p:nvPr/>
        </p:nvSpPr>
        <p:spPr bwMode="auto">
          <a:xfrm>
            <a:off x="208095" y="1685154"/>
            <a:ext cx="972443" cy="981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defTabSz="230520" fontAlgn="base">
              <a:spcBef>
                <a:spcPct val="50000"/>
              </a:spcBef>
              <a:spcAft>
                <a:spcPct val="0"/>
              </a:spcAft>
              <a:buClr>
                <a:srgbClr val="44546A"/>
              </a:buClr>
              <a:buSzPct val="65000"/>
              <a:buNone/>
            </a:pPr>
            <a:r>
              <a:rPr lang="zh-CN" altLang="en-US" sz="1050" dirty="0">
                <a:solidFill>
                  <a:prstClr val="black"/>
                </a:solidFill>
                <a:latin typeface="SimSun" panose="02010600030101010101" pitchFamily="2" charset="-122"/>
                <a:ea typeface="SimSun" panose="02010600030101010101" pitchFamily="2" charset="-122"/>
              </a:rPr>
              <a:t>居民</a:t>
            </a:r>
            <a:r>
              <a:rPr lang="en-US" altLang="zh-CN" sz="1050" dirty="0">
                <a:solidFill>
                  <a:prstClr val="black"/>
                </a:solidFill>
                <a:latin typeface="SimSun" panose="02010600030101010101" pitchFamily="2" charset="-122"/>
                <a:ea typeface="SimSun" panose="02010600030101010101" pitchFamily="2" charset="-122"/>
              </a:rPr>
              <a:t>(</a:t>
            </a:r>
            <a:r>
              <a:rPr lang="zh-CN" altLang="en-US" sz="1050" dirty="0">
                <a:solidFill>
                  <a:prstClr val="black"/>
                </a:solidFill>
                <a:latin typeface="SimSun" panose="02010600030101010101" pitchFamily="2" charset="-122"/>
                <a:ea typeface="SimSun" panose="02010600030101010101" pitchFamily="2" charset="-122"/>
              </a:rPr>
              <a:t>消费</a:t>
            </a:r>
            <a:r>
              <a:rPr lang="en-US" altLang="zh-CN" sz="1050" dirty="0">
                <a:solidFill>
                  <a:prstClr val="black"/>
                </a:solidFill>
                <a:latin typeface="SimSun" panose="02010600030101010101" pitchFamily="2" charset="-122"/>
                <a:ea typeface="SimSun" panose="02010600030101010101" pitchFamily="2" charset="-122"/>
              </a:rPr>
              <a:t>)</a:t>
            </a:r>
          </a:p>
          <a:p>
            <a:pPr algn="just" defTabSz="230520" fontAlgn="base">
              <a:spcBef>
                <a:spcPct val="50000"/>
              </a:spcBef>
              <a:spcAft>
                <a:spcPct val="0"/>
              </a:spcAft>
              <a:buClr>
                <a:srgbClr val="44546A"/>
              </a:buClr>
              <a:buSzPct val="65000"/>
              <a:buNone/>
            </a:pPr>
            <a:r>
              <a:rPr lang="zh-CN" altLang="en-US" sz="1050" dirty="0">
                <a:solidFill>
                  <a:prstClr val="black"/>
                </a:solidFill>
                <a:latin typeface="SimSun" panose="02010600030101010101" pitchFamily="2" charset="-122"/>
                <a:ea typeface="SimSun" panose="02010600030101010101" pitchFamily="2" charset="-122"/>
              </a:rPr>
              <a:t>企业</a:t>
            </a:r>
            <a:r>
              <a:rPr lang="en-US" altLang="zh-CN" sz="1050" dirty="0">
                <a:solidFill>
                  <a:prstClr val="black"/>
                </a:solidFill>
                <a:latin typeface="SimSun" panose="02010600030101010101" pitchFamily="2" charset="-122"/>
                <a:ea typeface="SimSun" panose="02010600030101010101" pitchFamily="2" charset="-122"/>
              </a:rPr>
              <a:t>(</a:t>
            </a:r>
            <a:r>
              <a:rPr lang="zh-CN" altLang="en-US" sz="1050" dirty="0">
                <a:solidFill>
                  <a:prstClr val="black"/>
                </a:solidFill>
                <a:latin typeface="SimSun" panose="02010600030101010101" pitchFamily="2" charset="-122"/>
                <a:ea typeface="SimSun" panose="02010600030101010101" pitchFamily="2" charset="-122"/>
              </a:rPr>
              <a:t>投资</a:t>
            </a:r>
            <a:r>
              <a:rPr lang="en-US" altLang="zh-CN" sz="1050" dirty="0">
                <a:solidFill>
                  <a:prstClr val="black"/>
                </a:solidFill>
                <a:latin typeface="SimSun" panose="02010600030101010101" pitchFamily="2" charset="-122"/>
                <a:ea typeface="SimSun" panose="02010600030101010101" pitchFamily="2" charset="-122"/>
              </a:rPr>
              <a:t>)</a:t>
            </a:r>
          </a:p>
          <a:p>
            <a:pPr algn="just" defTabSz="230520" fontAlgn="base">
              <a:spcBef>
                <a:spcPct val="50000"/>
              </a:spcBef>
              <a:spcAft>
                <a:spcPct val="0"/>
              </a:spcAft>
              <a:buClr>
                <a:srgbClr val="44546A"/>
              </a:buClr>
              <a:buSzPct val="65000"/>
              <a:buNone/>
            </a:pPr>
            <a:r>
              <a:rPr lang="zh-CN" altLang="en-US" sz="1050" dirty="0">
                <a:solidFill>
                  <a:prstClr val="black"/>
                </a:solidFill>
                <a:latin typeface="SimSun" panose="02010600030101010101" pitchFamily="2" charset="-122"/>
                <a:ea typeface="SimSun" panose="02010600030101010101" pitchFamily="2" charset="-122"/>
              </a:rPr>
              <a:t>政府</a:t>
            </a:r>
            <a:r>
              <a:rPr lang="en-US" altLang="zh-CN" sz="1050" dirty="0">
                <a:solidFill>
                  <a:prstClr val="black"/>
                </a:solidFill>
                <a:latin typeface="SimSun" panose="02010600030101010101" pitchFamily="2" charset="-122"/>
                <a:ea typeface="SimSun" panose="02010600030101010101" pitchFamily="2" charset="-122"/>
              </a:rPr>
              <a:t>(</a:t>
            </a:r>
            <a:r>
              <a:rPr lang="zh-CN" altLang="en-US" sz="1050" dirty="0">
                <a:solidFill>
                  <a:prstClr val="black"/>
                </a:solidFill>
                <a:latin typeface="SimSun" panose="02010600030101010101" pitchFamily="2" charset="-122"/>
                <a:ea typeface="SimSun" panose="02010600030101010101" pitchFamily="2" charset="-122"/>
              </a:rPr>
              <a:t>购买</a:t>
            </a:r>
            <a:r>
              <a:rPr lang="en-US" altLang="zh-CN" sz="1050" dirty="0">
                <a:solidFill>
                  <a:prstClr val="black"/>
                </a:solidFill>
                <a:latin typeface="SimSun" panose="02010600030101010101" pitchFamily="2" charset="-122"/>
                <a:ea typeface="SimSun" panose="02010600030101010101" pitchFamily="2" charset="-122"/>
              </a:rPr>
              <a:t>)</a:t>
            </a:r>
          </a:p>
          <a:p>
            <a:pPr algn="just" defTabSz="230520" fontAlgn="base">
              <a:spcBef>
                <a:spcPct val="50000"/>
              </a:spcBef>
              <a:spcAft>
                <a:spcPct val="0"/>
              </a:spcAft>
              <a:buClr>
                <a:srgbClr val="44546A"/>
              </a:buClr>
              <a:buSzPct val="65000"/>
              <a:buNone/>
            </a:pPr>
            <a:r>
              <a:rPr lang="zh-CN" altLang="en-US" sz="1050" dirty="0">
                <a:solidFill>
                  <a:prstClr val="black"/>
                </a:solidFill>
                <a:latin typeface="SimSun" panose="02010600030101010101" pitchFamily="2" charset="-122"/>
                <a:ea typeface="SimSun" panose="02010600030101010101" pitchFamily="2" charset="-122"/>
              </a:rPr>
              <a:t>国外</a:t>
            </a:r>
            <a:r>
              <a:rPr lang="en-US" altLang="zh-CN" sz="1050" dirty="0">
                <a:solidFill>
                  <a:prstClr val="black"/>
                </a:solidFill>
                <a:latin typeface="SimSun" panose="02010600030101010101" pitchFamily="2" charset="-122"/>
                <a:ea typeface="SimSun" panose="02010600030101010101" pitchFamily="2" charset="-122"/>
              </a:rPr>
              <a:t>(</a:t>
            </a:r>
            <a:r>
              <a:rPr lang="zh-CN" altLang="en-US" sz="1050" dirty="0">
                <a:solidFill>
                  <a:prstClr val="black"/>
                </a:solidFill>
                <a:latin typeface="SimSun" panose="02010600030101010101" pitchFamily="2" charset="-122"/>
                <a:ea typeface="SimSun" panose="02010600030101010101" pitchFamily="2" charset="-122"/>
              </a:rPr>
              <a:t>净出口</a:t>
            </a:r>
            <a:r>
              <a:rPr lang="en-US" altLang="zh-CN" sz="1050" dirty="0">
                <a:solidFill>
                  <a:prstClr val="black"/>
                </a:solidFill>
                <a:latin typeface="SimSun" panose="02010600030101010101" pitchFamily="2" charset="-122"/>
                <a:ea typeface="SimSun" panose="02010600030101010101" pitchFamily="2" charset="-122"/>
              </a:rPr>
              <a:t>)</a:t>
            </a:r>
          </a:p>
        </p:txBody>
      </p:sp>
      <p:sp>
        <p:nvSpPr>
          <p:cNvPr id="8" name="AutoShape 10">
            <a:extLst>
              <a:ext uri="{FF2B5EF4-FFF2-40B4-BE49-F238E27FC236}">
                <a16:creationId xmlns:a16="http://schemas.microsoft.com/office/drawing/2014/main" id="{A765D3D5-2D12-D107-DC54-2122185F7083}"/>
              </a:ext>
            </a:extLst>
          </p:cNvPr>
          <p:cNvSpPr>
            <a:spLocks/>
          </p:cNvSpPr>
          <p:nvPr/>
        </p:nvSpPr>
        <p:spPr bwMode="auto">
          <a:xfrm>
            <a:off x="1080480" y="1720266"/>
            <a:ext cx="153670" cy="943630"/>
          </a:xfrm>
          <a:prstGeom prst="rightBrace">
            <a:avLst>
              <a:gd name="adj1" fmla="val 51172"/>
              <a:gd name="adj2" fmla="val 50000"/>
            </a:avLst>
          </a:prstGeom>
          <a:noFill/>
          <a:ln w="31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defTabSz="230520" fontAlgn="base">
              <a:spcBef>
                <a:spcPct val="0"/>
              </a:spcBef>
              <a:spcAft>
                <a:spcPct val="0"/>
              </a:spcAft>
              <a:buClrTx/>
              <a:buNone/>
            </a:pPr>
            <a:endParaRPr lang="zh-CN" altLang="en-US" sz="1050">
              <a:solidFill>
                <a:prstClr val="black"/>
              </a:solidFill>
              <a:latin typeface="SimSun" panose="02010600030101010101" pitchFamily="2" charset="-122"/>
              <a:ea typeface="SimSun" panose="02010600030101010101" pitchFamily="2" charset="-122"/>
            </a:endParaRPr>
          </a:p>
        </p:txBody>
      </p:sp>
      <p:sp>
        <p:nvSpPr>
          <p:cNvPr id="9" name="Line 11">
            <a:extLst>
              <a:ext uri="{FF2B5EF4-FFF2-40B4-BE49-F238E27FC236}">
                <a16:creationId xmlns:a16="http://schemas.microsoft.com/office/drawing/2014/main" id="{4B8BF4B9-DDED-95F7-B213-F61C642AE9DF}"/>
              </a:ext>
            </a:extLst>
          </p:cNvPr>
          <p:cNvSpPr>
            <a:spLocks noChangeShapeType="1"/>
          </p:cNvSpPr>
          <p:nvPr/>
        </p:nvSpPr>
        <p:spPr bwMode="auto">
          <a:xfrm>
            <a:off x="1272567" y="2178074"/>
            <a:ext cx="461010" cy="0"/>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230520" eaLnBrk="0" fontAlgn="base" hangingPunct="0">
              <a:spcBef>
                <a:spcPct val="0"/>
              </a:spcBef>
              <a:spcAft>
                <a:spcPct val="0"/>
              </a:spcAft>
            </a:pPr>
            <a:endParaRPr lang="zh-CN" altLang="en-US" sz="1050">
              <a:solidFill>
                <a:prstClr val="black"/>
              </a:solidFill>
              <a:latin typeface="SimSun" panose="02010600030101010101" pitchFamily="2" charset="-122"/>
              <a:ea typeface="SimSun" panose="02010600030101010101" pitchFamily="2" charset="-122"/>
            </a:endParaRPr>
          </a:p>
        </p:txBody>
      </p:sp>
      <p:sp>
        <p:nvSpPr>
          <p:cNvPr id="10" name="Text Box 12">
            <a:extLst>
              <a:ext uri="{FF2B5EF4-FFF2-40B4-BE49-F238E27FC236}">
                <a16:creationId xmlns:a16="http://schemas.microsoft.com/office/drawing/2014/main" id="{A61B8F09-B59C-EFC7-1BCE-B17EB83AD536}"/>
              </a:ext>
            </a:extLst>
          </p:cNvPr>
          <p:cNvSpPr txBox="1">
            <a:spLocks noChangeArrowheads="1"/>
          </p:cNvSpPr>
          <p:nvPr/>
        </p:nvSpPr>
        <p:spPr bwMode="auto">
          <a:xfrm>
            <a:off x="1236234" y="1920086"/>
            <a:ext cx="644294" cy="496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230520" fontAlgn="base">
              <a:spcBef>
                <a:spcPct val="50000"/>
              </a:spcBef>
              <a:spcAft>
                <a:spcPct val="0"/>
              </a:spcAft>
              <a:buClr>
                <a:srgbClr val="44546A"/>
              </a:buClr>
              <a:buSzPct val="65000"/>
              <a:buNone/>
            </a:pPr>
            <a:r>
              <a:rPr lang="zh-CN" altLang="en-US" sz="1050" dirty="0">
                <a:ln w="0"/>
                <a:solidFill>
                  <a:srgbClr val="002060"/>
                </a:solidFill>
                <a:effectLst>
                  <a:outerShdw blurRad="38100" dist="25400" dir="5400000" algn="ctr" rotWithShape="0">
                    <a:srgbClr val="6E747A">
                      <a:alpha val="43000"/>
                    </a:srgbClr>
                  </a:outerShdw>
                </a:effectLst>
                <a:latin typeface="SimSun" panose="02010600030101010101" pitchFamily="2" charset="-122"/>
                <a:ea typeface="SimSun" panose="02010600030101010101" pitchFamily="2" charset="-122"/>
              </a:rPr>
              <a:t>流向</a:t>
            </a:r>
          </a:p>
          <a:p>
            <a:pPr algn="ctr" defTabSz="230520" fontAlgn="base">
              <a:spcBef>
                <a:spcPct val="50000"/>
              </a:spcBef>
              <a:spcAft>
                <a:spcPct val="0"/>
              </a:spcAft>
              <a:buClr>
                <a:srgbClr val="44546A"/>
              </a:buClr>
              <a:buSzPct val="65000"/>
              <a:buNone/>
            </a:pPr>
            <a:r>
              <a:rPr lang="zh-CN" altLang="en-US" sz="1050" dirty="0">
                <a:ln w="0"/>
                <a:solidFill>
                  <a:srgbClr val="002060"/>
                </a:solidFill>
                <a:effectLst>
                  <a:outerShdw blurRad="38100" dist="25400" dir="5400000" algn="ctr" rotWithShape="0">
                    <a:srgbClr val="6E747A">
                      <a:alpha val="43000"/>
                    </a:srgbClr>
                  </a:outerShdw>
                </a:effectLst>
                <a:latin typeface="SimSun" panose="02010600030101010101" pitchFamily="2" charset="-122"/>
                <a:ea typeface="SimSun" panose="02010600030101010101" pitchFamily="2" charset="-122"/>
              </a:rPr>
              <a:t>支出法</a:t>
            </a:r>
          </a:p>
        </p:txBody>
      </p:sp>
      <p:sp>
        <p:nvSpPr>
          <p:cNvPr id="11" name="Line 13">
            <a:extLst>
              <a:ext uri="{FF2B5EF4-FFF2-40B4-BE49-F238E27FC236}">
                <a16:creationId xmlns:a16="http://schemas.microsoft.com/office/drawing/2014/main" id="{D5045F97-E164-ABB0-5019-D1F6C0DD406B}"/>
              </a:ext>
            </a:extLst>
          </p:cNvPr>
          <p:cNvSpPr>
            <a:spLocks noChangeShapeType="1"/>
          </p:cNvSpPr>
          <p:nvPr/>
        </p:nvSpPr>
        <p:spPr bwMode="auto">
          <a:xfrm>
            <a:off x="2809267" y="2187678"/>
            <a:ext cx="537845" cy="0"/>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230520" eaLnBrk="0" fontAlgn="base" hangingPunct="0">
              <a:spcBef>
                <a:spcPct val="0"/>
              </a:spcBef>
              <a:spcAft>
                <a:spcPct val="0"/>
              </a:spcAft>
            </a:pPr>
            <a:endParaRPr lang="zh-CN" altLang="en-US" sz="1050">
              <a:solidFill>
                <a:prstClr val="black"/>
              </a:solidFill>
              <a:latin typeface="SimSun" panose="02010600030101010101" pitchFamily="2" charset="-122"/>
              <a:ea typeface="SimSun" panose="02010600030101010101" pitchFamily="2" charset="-122"/>
            </a:endParaRPr>
          </a:p>
        </p:txBody>
      </p:sp>
      <p:sp>
        <p:nvSpPr>
          <p:cNvPr id="12" name="Text Box 14">
            <a:extLst>
              <a:ext uri="{FF2B5EF4-FFF2-40B4-BE49-F238E27FC236}">
                <a16:creationId xmlns:a16="http://schemas.microsoft.com/office/drawing/2014/main" id="{BE4F842B-C97D-35D3-F8F7-C75FA9AEF669}"/>
              </a:ext>
            </a:extLst>
          </p:cNvPr>
          <p:cNvSpPr txBox="1">
            <a:spLocks noChangeArrowheads="1"/>
          </p:cNvSpPr>
          <p:nvPr/>
        </p:nvSpPr>
        <p:spPr bwMode="auto">
          <a:xfrm>
            <a:off x="2809267" y="1920086"/>
            <a:ext cx="666704" cy="496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230520" fontAlgn="base">
              <a:spcBef>
                <a:spcPct val="50000"/>
              </a:spcBef>
              <a:spcAft>
                <a:spcPct val="0"/>
              </a:spcAft>
              <a:buClr>
                <a:srgbClr val="44546A"/>
              </a:buClr>
              <a:buSzPct val="65000"/>
              <a:buNone/>
            </a:pPr>
            <a:r>
              <a:rPr lang="zh-CN" altLang="en-US" sz="1050">
                <a:ln w="0"/>
                <a:solidFill>
                  <a:srgbClr val="002060"/>
                </a:solidFill>
                <a:effectLst>
                  <a:outerShdw blurRad="38100" dist="25400" dir="5400000" algn="ctr" rotWithShape="0">
                    <a:srgbClr val="6E747A">
                      <a:alpha val="43000"/>
                    </a:srgbClr>
                  </a:outerShdw>
                </a:effectLst>
                <a:latin typeface="SimSun" panose="02010600030101010101" pitchFamily="2" charset="-122"/>
                <a:ea typeface="SimSun" panose="02010600030101010101" pitchFamily="2" charset="-122"/>
              </a:rPr>
              <a:t>渊源</a:t>
            </a:r>
          </a:p>
          <a:p>
            <a:pPr algn="ctr" defTabSz="230520" fontAlgn="base">
              <a:spcBef>
                <a:spcPct val="50000"/>
              </a:spcBef>
              <a:spcAft>
                <a:spcPct val="0"/>
              </a:spcAft>
              <a:buClr>
                <a:srgbClr val="44546A"/>
              </a:buClr>
              <a:buSzPct val="65000"/>
              <a:buNone/>
            </a:pPr>
            <a:r>
              <a:rPr lang="zh-CN" altLang="en-US" sz="1050">
                <a:ln w="0"/>
                <a:solidFill>
                  <a:srgbClr val="002060"/>
                </a:solidFill>
                <a:effectLst>
                  <a:outerShdw blurRad="38100" dist="25400" dir="5400000" algn="ctr" rotWithShape="0">
                    <a:srgbClr val="6E747A">
                      <a:alpha val="43000"/>
                    </a:srgbClr>
                  </a:outerShdw>
                </a:effectLst>
                <a:latin typeface="SimSun" panose="02010600030101010101" pitchFamily="2" charset="-122"/>
                <a:ea typeface="SimSun" panose="02010600030101010101" pitchFamily="2" charset="-122"/>
              </a:rPr>
              <a:t>收入法</a:t>
            </a:r>
          </a:p>
        </p:txBody>
      </p:sp>
      <p:sp>
        <p:nvSpPr>
          <p:cNvPr id="13" name="Text Box 15">
            <a:extLst>
              <a:ext uri="{FF2B5EF4-FFF2-40B4-BE49-F238E27FC236}">
                <a16:creationId xmlns:a16="http://schemas.microsoft.com/office/drawing/2014/main" id="{ACF21A76-6D19-5BE0-11A5-9CAB42448C91}"/>
              </a:ext>
            </a:extLst>
          </p:cNvPr>
          <p:cNvSpPr txBox="1">
            <a:spLocks noChangeArrowheads="1"/>
          </p:cNvSpPr>
          <p:nvPr/>
        </p:nvSpPr>
        <p:spPr bwMode="auto">
          <a:xfrm>
            <a:off x="3493591" y="1730375"/>
            <a:ext cx="1037273" cy="981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defTabSz="230520" fontAlgn="base">
              <a:spcBef>
                <a:spcPct val="50000"/>
              </a:spcBef>
              <a:spcAft>
                <a:spcPct val="0"/>
              </a:spcAft>
              <a:buClr>
                <a:srgbClr val="44546A"/>
              </a:buClr>
              <a:buSzPct val="65000"/>
              <a:buNone/>
            </a:pPr>
            <a:r>
              <a:rPr lang="zh-CN" altLang="en-US" sz="1050">
                <a:solidFill>
                  <a:prstClr val="black"/>
                </a:solidFill>
                <a:latin typeface="SimSun" panose="02010600030101010101" pitchFamily="2" charset="-122"/>
                <a:ea typeface="SimSun" panose="02010600030101010101" pitchFamily="2" charset="-122"/>
              </a:rPr>
              <a:t>劳动工资</a:t>
            </a:r>
          </a:p>
          <a:p>
            <a:pPr algn="just" defTabSz="230520" fontAlgn="base">
              <a:spcBef>
                <a:spcPct val="50000"/>
              </a:spcBef>
              <a:spcAft>
                <a:spcPct val="0"/>
              </a:spcAft>
              <a:buClr>
                <a:srgbClr val="44546A"/>
              </a:buClr>
              <a:buSzPct val="65000"/>
              <a:buNone/>
            </a:pPr>
            <a:r>
              <a:rPr lang="zh-CN" altLang="en-US" sz="1050">
                <a:solidFill>
                  <a:prstClr val="black"/>
                </a:solidFill>
                <a:latin typeface="SimSun" panose="02010600030101010101" pitchFamily="2" charset="-122"/>
                <a:ea typeface="SimSun" panose="02010600030101010101" pitchFamily="2" charset="-122"/>
              </a:rPr>
              <a:t>资本利息</a:t>
            </a:r>
          </a:p>
          <a:p>
            <a:pPr algn="just" defTabSz="230520" fontAlgn="base">
              <a:spcBef>
                <a:spcPct val="50000"/>
              </a:spcBef>
              <a:spcAft>
                <a:spcPct val="0"/>
              </a:spcAft>
              <a:buClr>
                <a:srgbClr val="44546A"/>
              </a:buClr>
              <a:buSzPct val="65000"/>
              <a:buNone/>
            </a:pPr>
            <a:r>
              <a:rPr lang="zh-CN" altLang="en-US" sz="1050">
                <a:solidFill>
                  <a:prstClr val="black"/>
                </a:solidFill>
                <a:latin typeface="SimSun" panose="02010600030101010101" pitchFamily="2" charset="-122"/>
                <a:ea typeface="SimSun" panose="02010600030101010101" pitchFamily="2" charset="-122"/>
              </a:rPr>
              <a:t>土地租金</a:t>
            </a:r>
          </a:p>
          <a:p>
            <a:pPr algn="just" defTabSz="230520" fontAlgn="base">
              <a:spcBef>
                <a:spcPct val="50000"/>
              </a:spcBef>
              <a:spcAft>
                <a:spcPct val="0"/>
              </a:spcAft>
              <a:buClr>
                <a:srgbClr val="44546A"/>
              </a:buClr>
              <a:buSzPct val="65000"/>
              <a:buNone/>
            </a:pPr>
            <a:r>
              <a:rPr lang="zh-CN" altLang="en-US" sz="1050">
                <a:solidFill>
                  <a:prstClr val="black"/>
                </a:solidFill>
                <a:latin typeface="SimSun" panose="02010600030101010101" pitchFamily="2" charset="-122"/>
                <a:ea typeface="SimSun" panose="02010600030101010101" pitchFamily="2" charset="-122"/>
              </a:rPr>
              <a:t>企业家利润</a:t>
            </a:r>
          </a:p>
        </p:txBody>
      </p:sp>
      <p:sp>
        <p:nvSpPr>
          <p:cNvPr id="14" name="AutoShape 16">
            <a:extLst>
              <a:ext uri="{FF2B5EF4-FFF2-40B4-BE49-F238E27FC236}">
                <a16:creationId xmlns:a16="http://schemas.microsoft.com/office/drawing/2014/main" id="{2FEB0CC4-0F4C-0E70-8491-CD8E40EBF2C5}"/>
              </a:ext>
            </a:extLst>
          </p:cNvPr>
          <p:cNvSpPr>
            <a:spLocks/>
          </p:cNvSpPr>
          <p:nvPr/>
        </p:nvSpPr>
        <p:spPr bwMode="auto">
          <a:xfrm>
            <a:off x="3385530" y="1749079"/>
            <a:ext cx="153670" cy="943630"/>
          </a:xfrm>
          <a:prstGeom prst="leftBrace">
            <a:avLst>
              <a:gd name="adj1" fmla="val 51172"/>
              <a:gd name="adj2" fmla="val 50000"/>
            </a:avLst>
          </a:prstGeom>
          <a:noFill/>
          <a:ln w="31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defTabSz="230520" fontAlgn="base">
              <a:spcBef>
                <a:spcPct val="0"/>
              </a:spcBef>
              <a:spcAft>
                <a:spcPct val="0"/>
              </a:spcAft>
              <a:buClrTx/>
              <a:buNone/>
            </a:pPr>
            <a:endParaRPr lang="zh-CN" altLang="en-US" sz="1050">
              <a:solidFill>
                <a:prstClr val="black"/>
              </a:solidFill>
              <a:latin typeface="SimSun" panose="02010600030101010101" pitchFamily="2" charset="-122"/>
              <a:ea typeface="SimSun" panose="02010600030101010101" pitchFamily="2" charset="-122"/>
            </a:endParaRPr>
          </a:p>
        </p:txBody>
      </p:sp>
      <p:sp>
        <p:nvSpPr>
          <p:cNvPr id="15" name="Line 17">
            <a:extLst>
              <a:ext uri="{FF2B5EF4-FFF2-40B4-BE49-F238E27FC236}">
                <a16:creationId xmlns:a16="http://schemas.microsoft.com/office/drawing/2014/main" id="{3F721BA5-D24D-ED96-4369-602FB434C792}"/>
              </a:ext>
            </a:extLst>
          </p:cNvPr>
          <p:cNvSpPr>
            <a:spLocks noChangeShapeType="1"/>
          </p:cNvSpPr>
          <p:nvPr/>
        </p:nvSpPr>
        <p:spPr bwMode="auto">
          <a:xfrm>
            <a:off x="2277025" y="1284867"/>
            <a:ext cx="0" cy="544248"/>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230520" eaLnBrk="0" fontAlgn="base" hangingPunct="0">
              <a:spcBef>
                <a:spcPct val="0"/>
              </a:spcBef>
              <a:spcAft>
                <a:spcPct val="0"/>
              </a:spcAft>
            </a:pPr>
            <a:endParaRPr lang="zh-CN" altLang="en-US" sz="1050">
              <a:solidFill>
                <a:prstClr val="black"/>
              </a:solidFill>
              <a:latin typeface="SimSun" panose="02010600030101010101" pitchFamily="2" charset="-122"/>
              <a:ea typeface="SimSun" panose="02010600030101010101" pitchFamily="2" charset="-122"/>
            </a:endParaRPr>
          </a:p>
        </p:txBody>
      </p:sp>
    </p:spTree>
    <p:extLst>
      <p:ext uri="{BB962C8B-B14F-4D97-AF65-F5344CB8AC3E}">
        <p14:creationId xmlns:p14="http://schemas.microsoft.com/office/powerpoint/2010/main" val="695083910"/>
      </p:ext>
    </p:extLst>
  </p:cSld>
  <p:clrMapOvr>
    <a:masterClrMapping/>
  </p:clrMapOvr>
  <p:transition>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461040" rtl="0" eaLnBrk="1" fontAlgn="base" latinLnBrk="0" hangingPunct="1">
              <a:lnSpc>
                <a:spcPct val="100000"/>
              </a:lnSpc>
              <a:spcBef>
                <a:spcPct val="0"/>
              </a:spcBef>
              <a:spcAft>
                <a:spcPct val="0"/>
              </a:spcAft>
              <a:buClrTx/>
              <a:buSzTx/>
              <a:buFontTx/>
              <a:buNone/>
              <a:tabLst/>
              <a:defRPr/>
            </a:pPr>
            <a:fld id="{40B57475-AFD4-3C48-860A-4FC9F25FD75E}" type="slidenum">
              <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rPr>
              <a:pPr marL="0" marR="0" lvl="0" indent="0" algn="r" defTabSz="461040" rtl="0" eaLnBrk="1" fontAlgn="base" latinLnBrk="0" hangingPunct="1">
                <a:lnSpc>
                  <a:spcPct val="100000"/>
                </a:lnSpc>
                <a:spcBef>
                  <a:spcPct val="0"/>
                </a:spcBef>
                <a:spcAft>
                  <a:spcPct val="0"/>
                </a:spcAft>
                <a:buClrTx/>
                <a:buSzTx/>
                <a:buFontTx/>
                <a:buNone/>
                <a:tabLst/>
                <a:defRPr/>
              </a:pPr>
              <a:t>18</a:t>
            </a:fld>
            <a:endPar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pPr marL="0" indent="0">
              <a:buNone/>
            </a:pPr>
            <a:r>
              <a:rPr lang="zh-CN" altLang="en-US" sz="1800" b="1" dirty="0"/>
              <a:t>三种核算</a:t>
            </a:r>
            <a:r>
              <a:rPr lang="en-US" altLang="zh-CN" sz="1800" b="1" dirty="0"/>
              <a:t>GDP</a:t>
            </a:r>
            <a:r>
              <a:rPr lang="zh-CN" altLang="en-US" sz="1800" b="1" dirty="0"/>
              <a:t>的方法的比较</a:t>
            </a:r>
          </a:p>
        </p:txBody>
      </p:sp>
      <p:sp>
        <p:nvSpPr>
          <p:cNvPr id="11269" name="Rectangle 3">
            <a:extLst>
              <a:ext uri="{FF2B5EF4-FFF2-40B4-BE49-F238E27FC236}">
                <a16:creationId xmlns:a16="http://schemas.microsoft.com/office/drawing/2014/main" id="{682390F6-8267-98BE-91F5-48320642B532}"/>
              </a:ext>
            </a:extLst>
          </p:cNvPr>
          <p:cNvSpPr>
            <a:spLocks noGrp="1" noChangeArrowheads="1"/>
          </p:cNvSpPr>
          <p:nvPr>
            <p:ph type="body" idx="4294967295"/>
          </p:nvPr>
        </p:nvSpPr>
        <p:spPr/>
        <p:txBody>
          <a:bodyPr/>
          <a:lstStyle/>
          <a:p>
            <a:r>
              <a:rPr lang="zh-CN" altLang="en-US" b="1" dirty="0">
                <a:latin typeface="SimSun" panose="02010600030101010101" pitchFamily="2" charset="-122"/>
                <a:ea typeface="SimSun" panose="02010600030101010101" pitchFamily="2" charset="-122"/>
              </a:rPr>
              <a:t>生产法最准确。</a:t>
            </a:r>
            <a:r>
              <a:rPr lang="zh-CN" altLang="en-US" dirty="0">
                <a:latin typeface="SimSun" panose="02010600030101010101" pitchFamily="2" charset="-122"/>
                <a:ea typeface="SimSun" panose="02010600030101010101" pitchFamily="2" charset="-122"/>
              </a:rPr>
              <a:t>但这种方法的可操作性不强；</a:t>
            </a:r>
          </a:p>
          <a:p>
            <a:r>
              <a:rPr lang="zh-CN" altLang="en-US" b="1" dirty="0">
                <a:latin typeface="SimSun" panose="02010600030101010101" pitchFamily="2" charset="-122"/>
                <a:ea typeface="SimSun" panose="02010600030101010101" pitchFamily="2" charset="-122"/>
              </a:rPr>
              <a:t>支出法</a:t>
            </a:r>
            <a:r>
              <a:rPr lang="zh-CN" altLang="en-US" dirty="0">
                <a:latin typeface="SimSun" panose="02010600030101010101" pitchFamily="2" charset="-122"/>
                <a:ea typeface="SimSun" panose="02010600030101010101" pitchFamily="2" charset="-122"/>
              </a:rPr>
              <a:t>最具可操作性，但不尽准确。</a:t>
            </a:r>
          </a:p>
          <a:p>
            <a:r>
              <a:rPr lang="zh-CN" altLang="en-US" b="1" dirty="0">
                <a:latin typeface="SimSun" panose="02010600030101010101" pitchFamily="2" charset="-122"/>
                <a:ea typeface="SimSun" panose="02010600030101010101" pitchFamily="2" charset="-122"/>
              </a:rPr>
              <a:t>收入法</a:t>
            </a:r>
            <a:r>
              <a:rPr lang="zh-CN" altLang="en-US" dirty="0">
                <a:latin typeface="SimSun" panose="02010600030101010101" pitchFamily="2" charset="-122"/>
                <a:ea typeface="SimSun" panose="02010600030101010101" pitchFamily="2" charset="-122"/>
              </a:rPr>
              <a:t>介乎于一、二种方法之间。</a:t>
            </a:r>
          </a:p>
          <a:p>
            <a:r>
              <a:rPr lang="zh-CN" altLang="en-US" dirty="0">
                <a:latin typeface="SimSun" panose="02010600030101010101" pitchFamily="2" charset="-122"/>
                <a:ea typeface="SimSun" panose="02010600030101010101" pitchFamily="2" charset="-122"/>
              </a:rPr>
              <a:t>常用的是支出法与生产法。尤其是支出法。现在各国一般都把它作为核算国民收入最基本的方法。</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61040" rtl="0" eaLnBrk="1" fontAlgn="base" latinLnBrk="0" hangingPunct="1">
              <a:lnSpc>
                <a:spcPct val="100000"/>
              </a:lnSpc>
              <a:spcBef>
                <a:spcPct val="0"/>
              </a:spcBef>
              <a:spcAft>
                <a:spcPct val="0"/>
              </a:spcAft>
              <a:buClrTx/>
              <a:buSzTx/>
              <a:buFontTx/>
              <a:buNone/>
              <a:tabLst/>
              <a:defRPr/>
            </a:pPr>
            <a:r>
              <a:rPr kumimoji="0" lang="en-US" altLang="zh-CN" sz="706"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t>0</a:t>
            </a:r>
          </a:p>
        </p:txBody>
      </p:sp>
      <p:sp>
        <p:nvSpPr>
          <p:cNvPr id="2" name="页脚占位符 1">
            <a:extLst>
              <a:ext uri="{FF2B5EF4-FFF2-40B4-BE49-F238E27FC236}">
                <a16:creationId xmlns:a16="http://schemas.microsoft.com/office/drawing/2014/main" id="{BF3A450A-E0EB-10C1-50DF-5B851CF0361D}"/>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61040" rtl="0" eaLnBrk="1" fontAlgn="base" latinLnBrk="0" hangingPunct="1">
              <a:lnSpc>
                <a:spcPct val="100000"/>
              </a:lnSpc>
              <a:spcBef>
                <a:spcPct val="0"/>
              </a:spcBef>
              <a:spcAft>
                <a:spcPct val="0"/>
              </a:spcAft>
              <a:buClrTx/>
              <a:buSzTx/>
              <a:buFontTx/>
              <a:buNone/>
              <a:tabLst/>
              <a:defRPr/>
            </a:pP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国民收入核算</a:t>
            </a:r>
            <a:endPar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822891587"/>
      </p:ext>
    </p:extLst>
  </p:cSld>
  <p:clrMapOvr>
    <a:masterClrMapping/>
  </p:clrMapOvr>
  <p:transition>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461040" rtl="0" eaLnBrk="1" fontAlgn="base" latinLnBrk="0" hangingPunct="1">
              <a:lnSpc>
                <a:spcPct val="100000"/>
              </a:lnSpc>
              <a:spcBef>
                <a:spcPct val="0"/>
              </a:spcBef>
              <a:spcAft>
                <a:spcPct val="0"/>
              </a:spcAft>
              <a:buClrTx/>
              <a:buSzTx/>
              <a:buFontTx/>
              <a:buNone/>
              <a:tabLst/>
              <a:defRPr/>
            </a:pPr>
            <a:fld id="{40B57475-AFD4-3C48-860A-4FC9F25FD75E}" type="slidenum">
              <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rPr>
              <a:pPr marL="0" marR="0" lvl="0" indent="0" algn="r" defTabSz="461040" rtl="0" eaLnBrk="1" fontAlgn="base" latinLnBrk="0" hangingPunct="1">
                <a:lnSpc>
                  <a:spcPct val="100000"/>
                </a:lnSpc>
                <a:spcBef>
                  <a:spcPct val="0"/>
                </a:spcBef>
                <a:spcAft>
                  <a:spcPct val="0"/>
                </a:spcAft>
                <a:buClrTx/>
                <a:buSzTx/>
                <a:buFontTx/>
                <a:buNone/>
                <a:tabLst/>
                <a:defRPr/>
              </a:pPr>
              <a:t>19</a:t>
            </a:fld>
            <a:endPar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pPr marL="0" indent="0">
              <a:buNone/>
            </a:pPr>
            <a:r>
              <a:rPr lang="zh-CN" altLang="en-US" sz="1800" dirty="0"/>
              <a:t>国民收入核算中其他总量的核算</a:t>
            </a:r>
            <a:endParaRPr lang="zh-CN" altLang="en-US" sz="1800" b="1" dirty="0"/>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61040" rtl="0" eaLnBrk="1" fontAlgn="base" latinLnBrk="0" hangingPunct="1">
              <a:lnSpc>
                <a:spcPct val="100000"/>
              </a:lnSpc>
              <a:spcBef>
                <a:spcPct val="0"/>
              </a:spcBef>
              <a:spcAft>
                <a:spcPct val="0"/>
              </a:spcAft>
              <a:buClrTx/>
              <a:buSzTx/>
              <a:buFontTx/>
              <a:buNone/>
              <a:tabLst/>
              <a:defRPr/>
            </a:pPr>
            <a:r>
              <a:rPr kumimoji="0" lang="en-US" altLang="zh-CN" sz="706"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t>0</a:t>
            </a:r>
          </a:p>
        </p:txBody>
      </p:sp>
      <p:sp>
        <p:nvSpPr>
          <p:cNvPr id="2" name="页脚占位符 1">
            <a:extLst>
              <a:ext uri="{FF2B5EF4-FFF2-40B4-BE49-F238E27FC236}">
                <a16:creationId xmlns:a16="http://schemas.microsoft.com/office/drawing/2014/main" id="{BF3A450A-E0EB-10C1-50DF-5B851CF0361D}"/>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61040" rtl="0" eaLnBrk="1" fontAlgn="base" latinLnBrk="0" hangingPunct="1">
              <a:lnSpc>
                <a:spcPct val="100000"/>
              </a:lnSpc>
              <a:spcBef>
                <a:spcPct val="0"/>
              </a:spcBef>
              <a:spcAft>
                <a:spcPct val="0"/>
              </a:spcAft>
              <a:buClrTx/>
              <a:buSzTx/>
              <a:buFontTx/>
              <a:buNone/>
              <a:tabLst/>
              <a:defRPr/>
            </a:pP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国民收入核算</a:t>
            </a:r>
            <a:endPar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endParaRPr>
          </a:p>
        </p:txBody>
      </p:sp>
      <p:graphicFrame>
        <p:nvGraphicFramePr>
          <p:cNvPr id="3" name="内容占位符 7">
            <a:extLst>
              <a:ext uri="{FF2B5EF4-FFF2-40B4-BE49-F238E27FC236}">
                <a16:creationId xmlns:a16="http://schemas.microsoft.com/office/drawing/2014/main" id="{F4C29F7B-1E87-F2CA-8A54-4C3B0E29E7A2}"/>
              </a:ext>
            </a:extLst>
          </p:cNvPr>
          <p:cNvGraphicFramePr>
            <a:graphicFrameLocks/>
          </p:cNvGraphicFramePr>
          <p:nvPr>
            <p:extLst>
              <p:ext uri="{D42A27DB-BD31-4B8C-83A1-F6EECF244321}">
                <p14:modId xmlns:p14="http://schemas.microsoft.com/office/powerpoint/2010/main" val="1482613137"/>
              </p:ext>
            </p:extLst>
          </p:nvPr>
        </p:nvGraphicFramePr>
        <p:xfrm>
          <a:off x="265451" y="471047"/>
          <a:ext cx="3917137" cy="2701682"/>
        </p:xfrm>
        <a:graphic>
          <a:graphicData uri="http://schemas.openxmlformats.org/drawingml/2006/table">
            <a:tbl>
              <a:tblPr firstRow="1" bandRow="1">
                <a:tableStyleId>{5940675A-B579-460E-94D1-54222C63F5DA}</a:tableStyleId>
              </a:tblPr>
              <a:tblGrid>
                <a:gridCol w="3917137">
                  <a:extLst>
                    <a:ext uri="{9D8B030D-6E8A-4147-A177-3AD203B41FA5}">
                      <a16:colId xmlns:a16="http://schemas.microsoft.com/office/drawing/2014/main" val="3849347649"/>
                    </a:ext>
                  </a:extLst>
                </a:gridCol>
              </a:tblGrid>
              <a:tr h="186965">
                <a:tc>
                  <a:txBody>
                    <a:bodyPr/>
                    <a:lstStyle/>
                    <a:p>
                      <a:r>
                        <a:rPr lang="zh-CN" altLang="en-US" sz="1200" dirty="0">
                          <a:latin typeface="Garamond" panose="02020404030301010803" pitchFamily="18" charset="0"/>
                          <a:ea typeface="SimSun" panose="02010600030101010101" pitchFamily="2" charset="-122"/>
                        </a:rPr>
                        <a:t>国内生产总值</a:t>
                      </a:r>
                      <a:r>
                        <a:rPr lang="en-US" altLang="zh-CN" sz="1200" dirty="0">
                          <a:latin typeface="Garamond" panose="02020404030301010803" pitchFamily="18" charset="0"/>
                          <a:ea typeface="SimSun" panose="02010600030101010101" pitchFamily="2" charset="-122"/>
                        </a:rPr>
                        <a:t>(GDP)</a:t>
                      </a:r>
                      <a:endParaRPr lang="zh-CN" altLang="en-US" sz="1200" dirty="0">
                        <a:latin typeface="Garamond" panose="02020404030301010803" pitchFamily="18" charset="0"/>
                        <a:ea typeface="SimSun" panose="02010600030101010101" pitchFamily="2" charset="-122"/>
                      </a:endParaRPr>
                    </a:p>
                  </a:txBody>
                  <a:tcPr marL="46101" marR="46101" marT="23051" marB="23051"/>
                </a:tc>
                <a:extLst>
                  <a:ext uri="{0D108BD9-81ED-4DB2-BD59-A6C34878D82A}">
                    <a16:rowId xmlns:a16="http://schemas.microsoft.com/office/drawing/2014/main" val="1549793461"/>
                  </a:ext>
                </a:extLst>
              </a:tr>
              <a:tr h="186965">
                <a:tc>
                  <a:txBody>
                    <a:bodyPr/>
                    <a:lstStyle/>
                    <a:p>
                      <a:r>
                        <a:rPr lang="en-US" altLang="zh-CN" sz="1200" dirty="0">
                          <a:latin typeface="Garamond" panose="02020404030301010803" pitchFamily="18" charset="0"/>
                          <a:ea typeface="SimSun" panose="02010600030101010101" pitchFamily="2" charset="-122"/>
                        </a:rPr>
                        <a:t>    </a:t>
                      </a:r>
                      <a:r>
                        <a:rPr lang="zh-CN" altLang="en-US" sz="1200" dirty="0">
                          <a:latin typeface="Garamond" panose="02020404030301010803" pitchFamily="18" charset="0"/>
                          <a:ea typeface="SimSun" panose="02010600030101010101" pitchFamily="2" charset="-122"/>
                        </a:rPr>
                        <a:t>减：折旧</a:t>
                      </a:r>
                    </a:p>
                  </a:txBody>
                  <a:tcPr marL="46101" marR="46101" marT="23051" marB="23051"/>
                </a:tc>
                <a:extLst>
                  <a:ext uri="{0D108BD9-81ED-4DB2-BD59-A6C34878D82A}">
                    <a16:rowId xmlns:a16="http://schemas.microsoft.com/office/drawing/2014/main" val="1789703098"/>
                  </a:ext>
                </a:extLst>
              </a:tr>
              <a:tr h="186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Garamond" panose="02020404030301010803" pitchFamily="18" charset="0"/>
                          <a:ea typeface="SimSun" panose="02010600030101010101" pitchFamily="2" charset="-122"/>
                        </a:rPr>
                        <a:t>国内生产净值</a:t>
                      </a:r>
                      <a:r>
                        <a:rPr lang="en-US" altLang="zh-CN" sz="1200" dirty="0">
                          <a:latin typeface="Garamond" panose="02020404030301010803" pitchFamily="18" charset="0"/>
                          <a:ea typeface="SimSun" panose="02010600030101010101" pitchFamily="2" charset="-122"/>
                        </a:rPr>
                        <a:t>(NDP)</a:t>
                      </a:r>
                      <a:endParaRPr lang="zh-CN" altLang="en-US" sz="1200" dirty="0">
                        <a:latin typeface="Garamond" panose="02020404030301010803" pitchFamily="18" charset="0"/>
                        <a:ea typeface="SimSun" panose="02010600030101010101" pitchFamily="2" charset="-122"/>
                      </a:endParaRPr>
                    </a:p>
                  </a:txBody>
                  <a:tcPr marL="46101" marR="46101" marT="23051" marB="23051"/>
                </a:tc>
                <a:extLst>
                  <a:ext uri="{0D108BD9-81ED-4DB2-BD59-A6C34878D82A}">
                    <a16:rowId xmlns:a16="http://schemas.microsoft.com/office/drawing/2014/main" val="2180354354"/>
                  </a:ext>
                </a:extLst>
              </a:tr>
              <a:tr h="186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Garamond" panose="02020404030301010803" pitchFamily="18" charset="0"/>
                          <a:ea typeface="SimSun" panose="02010600030101010101" pitchFamily="2" charset="-122"/>
                        </a:rPr>
                        <a:t>    </a:t>
                      </a:r>
                      <a:r>
                        <a:rPr lang="zh-CN" altLang="en-US" sz="1200" dirty="0">
                          <a:latin typeface="Garamond" panose="02020404030301010803" pitchFamily="18" charset="0"/>
                          <a:ea typeface="SimSun" panose="02010600030101010101" pitchFamily="2" charset="-122"/>
                        </a:rPr>
                        <a:t>减：间接税、企业转移支付</a:t>
                      </a:r>
                    </a:p>
                  </a:txBody>
                  <a:tcPr marL="46101" marR="46101" marT="23051" marB="23051"/>
                </a:tc>
                <a:extLst>
                  <a:ext uri="{0D108BD9-81ED-4DB2-BD59-A6C34878D82A}">
                    <a16:rowId xmlns:a16="http://schemas.microsoft.com/office/drawing/2014/main" val="904636172"/>
                  </a:ext>
                </a:extLst>
              </a:tr>
              <a:tr h="186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Garamond" panose="02020404030301010803" pitchFamily="18" charset="0"/>
                          <a:ea typeface="SimSun" panose="02010600030101010101" pitchFamily="2" charset="-122"/>
                        </a:rPr>
                        <a:t>    </a:t>
                      </a:r>
                      <a:r>
                        <a:rPr lang="zh-CN" altLang="en-US" sz="1200" dirty="0">
                          <a:latin typeface="Garamond" panose="02020404030301010803" pitchFamily="18" charset="0"/>
                          <a:ea typeface="SimSun" panose="02010600030101010101" pitchFamily="2" charset="-122"/>
                        </a:rPr>
                        <a:t>加：政府补助金</a:t>
                      </a:r>
                    </a:p>
                  </a:txBody>
                  <a:tcPr marL="46101" marR="46101" marT="23051" marB="23051"/>
                </a:tc>
                <a:extLst>
                  <a:ext uri="{0D108BD9-81ED-4DB2-BD59-A6C34878D82A}">
                    <a16:rowId xmlns:a16="http://schemas.microsoft.com/office/drawing/2014/main" val="3098046245"/>
                  </a:ext>
                </a:extLst>
              </a:tr>
              <a:tr h="186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Garamond" panose="02020404030301010803" pitchFamily="18" charset="0"/>
                          <a:ea typeface="SimSun" panose="02010600030101010101" pitchFamily="2" charset="-122"/>
                        </a:rPr>
                        <a:t>国民收入</a:t>
                      </a:r>
                      <a:r>
                        <a:rPr lang="en-US" altLang="zh-CN" sz="1200" dirty="0">
                          <a:latin typeface="Garamond" panose="02020404030301010803" pitchFamily="18" charset="0"/>
                          <a:ea typeface="SimSun" panose="02010600030101010101" pitchFamily="2" charset="-122"/>
                        </a:rPr>
                        <a:t>(NI)</a:t>
                      </a:r>
                      <a:endParaRPr lang="zh-CN" altLang="en-US" sz="1200" dirty="0">
                        <a:latin typeface="Garamond" panose="02020404030301010803" pitchFamily="18" charset="0"/>
                        <a:ea typeface="SimSun" panose="02010600030101010101" pitchFamily="2" charset="-122"/>
                      </a:endParaRPr>
                    </a:p>
                  </a:txBody>
                  <a:tcPr marL="46101" marR="46101" marT="23051" marB="23051"/>
                </a:tc>
                <a:extLst>
                  <a:ext uri="{0D108BD9-81ED-4DB2-BD59-A6C34878D82A}">
                    <a16:rowId xmlns:a16="http://schemas.microsoft.com/office/drawing/2014/main" val="3778438750"/>
                  </a:ext>
                </a:extLst>
              </a:tr>
              <a:tr h="186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Garamond" panose="02020404030301010803" pitchFamily="18" charset="0"/>
                          <a:ea typeface="SimSun" panose="02010600030101010101" pitchFamily="2" charset="-122"/>
                        </a:rPr>
                        <a:t>    </a:t>
                      </a:r>
                      <a:r>
                        <a:rPr lang="zh-CN" altLang="en-US" sz="1200" dirty="0">
                          <a:latin typeface="Garamond" panose="02020404030301010803" pitchFamily="18" charset="0"/>
                          <a:ea typeface="SimSun" panose="02010600030101010101" pitchFamily="2" charset="-122"/>
                        </a:rPr>
                        <a:t>减：企业向政府交纳的所得税、留存收益</a:t>
                      </a:r>
                    </a:p>
                  </a:txBody>
                  <a:tcPr marL="46101" marR="46101" marT="23051" marB="23051"/>
                </a:tc>
                <a:extLst>
                  <a:ext uri="{0D108BD9-81ED-4DB2-BD59-A6C34878D82A}">
                    <a16:rowId xmlns:a16="http://schemas.microsoft.com/office/drawing/2014/main" val="4142205329"/>
                  </a:ext>
                </a:extLst>
              </a:tr>
              <a:tr h="186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Garamond" panose="02020404030301010803" pitchFamily="18" charset="0"/>
                          <a:ea typeface="SimSun" panose="02010600030101010101" pitchFamily="2" charset="-122"/>
                        </a:rPr>
                        <a:t>    </a:t>
                      </a:r>
                      <a:r>
                        <a:rPr lang="zh-CN" altLang="en-US" sz="1200" dirty="0">
                          <a:latin typeface="Garamond" panose="02020404030301010803" pitchFamily="18" charset="0"/>
                          <a:ea typeface="SimSun" panose="02010600030101010101" pitchFamily="2" charset="-122"/>
                        </a:rPr>
                        <a:t>加：政府给个人的退伍军人津贴、工人失业救济金、职工养老金等</a:t>
                      </a:r>
                    </a:p>
                  </a:txBody>
                  <a:tcPr marL="46101" marR="46101" marT="23051" marB="23051"/>
                </a:tc>
                <a:extLst>
                  <a:ext uri="{0D108BD9-81ED-4DB2-BD59-A6C34878D82A}">
                    <a16:rowId xmlns:a16="http://schemas.microsoft.com/office/drawing/2014/main" val="991712465"/>
                  </a:ext>
                </a:extLst>
              </a:tr>
              <a:tr h="186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Garamond" panose="02020404030301010803" pitchFamily="18" charset="0"/>
                          <a:ea typeface="SimSun" panose="02010600030101010101" pitchFamily="2" charset="-122"/>
                        </a:rPr>
                        <a:t>个人收入</a:t>
                      </a:r>
                      <a:r>
                        <a:rPr lang="en-US" altLang="zh-CN" sz="1200" dirty="0">
                          <a:latin typeface="Garamond" panose="02020404030301010803" pitchFamily="18" charset="0"/>
                          <a:ea typeface="SimSun" panose="02010600030101010101" pitchFamily="2" charset="-122"/>
                        </a:rPr>
                        <a:t>(PI)</a:t>
                      </a:r>
                      <a:endParaRPr lang="zh-CN" altLang="en-US" sz="1200" dirty="0">
                        <a:latin typeface="Garamond" panose="02020404030301010803" pitchFamily="18" charset="0"/>
                        <a:ea typeface="SimSun" panose="02010600030101010101" pitchFamily="2" charset="-122"/>
                      </a:endParaRPr>
                    </a:p>
                  </a:txBody>
                  <a:tcPr marL="46101" marR="46101" marT="23051" marB="23051"/>
                </a:tc>
                <a:extLst>
                  <a:ext uri="{0D108BD9-81ED-4DB2-BD59-A6C34878D82A}">
                    <a16:rowId xmlns:a16="http://schemas.microsoft.com/office/drawing/2014/main" val="4189940330"/>
                  </a:ext>
                </a:extLst>
              </a:tr>
              <a:tr h="186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latin typeface="Garamond" panose="02020404030301010803" pitchFamily="18" charset="0"/>
                          <a:ea typeface="SimSun" panose="02010600030101010101" pitchFamily="2" charset="-122"/>
                        </a:rPr>
                        <a:t>    </a:t>
                      </a:r>
                      <a:r>
                        <a:rPr lang="zh-CN" altLang="en-US" sz="1200" dirty="0">
                          <a:latin typeface="Garamond" panose="02020404030301010803" pitchFamily="18" charset="0"/>
                          <a:ea typeface="SimSun" panose="02010600030101010101" pitchFamily="2" charset="-122"/>
                        </a:rPr>
                        <a:t>减：个人所得税和其他非税支付</a:t>
                      </a:r>
                    </a:p>
                  </a:txBody>
                  <a:tcPr marL="46101" marR="46101" marT="23051" marB="23051"/>
                </a:tc>
                <a:extLst>
                  <a:ext uri="{0D108BD9-81ED-4DB2-BD59-A6C34878D82A}">
                    <a16:rowId xmlns:a16="http://schemas.microsoft.com/office/drawing/2014/main" val="1468205936"/>
                  </a:ext>
                </a:extLst>
              </a:tr>
              <a:tr h="186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Garamond" panose="02020404030301010803" pitchFamily="18" charset="0"/>
                          <a:ea typeface="SimSun" panose="02010600030101010101" pitchFamily="2" charset="-122"/>
                        </a:rPr>
                        <a:t>个人可支配收入</a:t>
                      </a:r>
                      <a:r>
                        <a:rPr lang="en-US" altLang="zh-CN" sz="1200" dirty="0">
                          <a:latin typeface="Garamond" panose="02020404030301010803" pitchFamily="18" charset="0"/>
                          <a:ea typeface="SimSun" panose="02010600030101010101" pitchFamily="2" charset="-122"/>
                        </a:rPr>
                        <a:t>(DPI)</a:t>
                      </a:r>
                      <a:endParaRPr lang="zh-CN" altLang="en-US" sz="1200" dirty="0">
                        <a:latin typeface="Garamond" panose="02020404030301010803" pitchFamily="18" charset="0"/>
                        <a:ea typeface="SimSun" panose="02010600030101010101" pitchFamily="2" charset="-122"/>
                      </a:endParaRPr>
                    </a:p>
                  </a:txBody>
                  <a:tcPr marL="46101" marR="46101" marT="23051" marB="23051"/>
                </a:tc>
                <a:extLst>
                  <a:ext uri="{0D108BD9-81ED-4DB2-BD59-A6C34878D82A}">
                    <a16:rowId xmlns:a16="http://schemas.microsoft.com/office/drawing/2014/main" val="3935906635"/>
                  </a:ext>
                </a:extLst>
              </a:tr>
            </a:tbl>
          </a:graphicData>
        </a:graphic>
      </p:graphicFrame>
    </p:spTree>
    <p:extLst>
      <p:ext uri="{BB962C8B-B14F-4D97-AF65-F5344CB8AC3E}">
        <p14:creationId xmlns:p14="http://schemas.microsoft.com/office/powerpoint/2010/main" val="2064301313"/>
      </p:ext>
    </p:extLst>
  </p:cSld>
  <p:clrMapOvr>
    <a:masterClrMapping/>
  </p:clrMapOvr>
  <p:transition>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461040" rtl="0" eaLnBrk="1" fontAlgn="base" latinLnBrk="0" hangingPunct="1">
              <a:lnSpc>
                <a:spcPct val="100000"/>
              </a:lnSpc>
              <a:spcBef>
                <a:spcPct val="0"/>
              </a:spcBef>
              <a:spcAft>
                <a:spcPct val="0"/>
              </a:spcAft>
              <a:buClrTx/>
              <a:buSzTx/>
              <a:buFontTx/>
              <a:buNone/>
              <a:tabLst/>
              <a:defRPr/>
            </a:pPr>
            <a:fld id="{40B57475-AFD4-3C48-860A-4FC9F25FD75E}" type="slidenum">
              <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rPr>
              <a:pPr marL="0" marR="0" lvl="0" indent="0" algn="r" defTabSz="461040" rtl="0" eaLnBrk="1" fontAlgn="base" latinLnBrk="0" hangingPunct="1">
                <a:lnSpc>
                  <a:spcPct val="100000"/>
                </a:lnSpc>
                <a:spcBef>
                  <a:spcPct val="0"/>
                </a:spcBef>
                <a:spcAft>
                  <a:spcPct val="0"/>
                </a:spcAft>
                <a:buClrTx/>
                <a:buSzTx/>
                <a:buFontTx/>
                <a:buNone/>
                <a:tabLst/>
                <a:defRPr/>
              </a:pPr>
              <a:t>20</a:t>
            </a:fld>
            <a:endParaRPr kumimoji="0" lang="zh-CN" altLang="zh-CN" sz="857" b="0" i="0" u="none" strike="noStrike" kern="1200" cap="none" spc="0" normalizeH="0" baseline="0" noProof="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pPr marL="0" indent="0">
              <a:buNone/>
            </a:pPr>
            <a:r>
              <a:rPr lang="zh-CN" altLang="en-US" sz="1800" dirty="0"/>
              <a:t>国民收入核算中其他总量的核算</a:t>
            </a:r>
            <a:endParaRPr lang="zh-CN" altLang="en-US" sz="1800" b="1" dirty="0"/>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461040" rtl="0" eaLnBrk="1" fontAlgn="base" latinLnBrk="0" hangingPunct="1">
              <a:lnSpc>
                <a:spcPct val="100000"/>
              </a:lnSpc>
              <a:spcBef>
                <a:spcPct val="0"/>
              </a:spcBef>
              <a:spcAft>
                <a:spcPct val="0"/>
              </a:spcAft>
              <a:buClrTx/>
              <a:buSzTx/>
              <a:buFontTx/>
              <a:buNone/>
              <a:tabLst/>
              <a:defRPr/>
            </a:pPr>
            <a:r>
              <a:rPr kumimoji="0" lang="en-US" altLang="zh-CN" sz="706" b="1"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rPr>
              <a:t>0</a:t>
            </a:r>
          </a:p>
        </p:txBody>
      </p:sp>
      <p:sp>
        <p:nvSpPr>
          <p:cNvPr id="2" name="页脚占位符 1">
            <a:extLst>
              <a:ext uri="{FF2B5EF4-FFF2-40B4-BE49-F238E27FC236}">
                <a16:creationId xmlns:a16="http://schemas.microsoft.com/office/drawing/2014/main" id="{BF3A450A-E0EB-10C1-50DF-5B851CF0361D}"/>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461040" rtl="0" eaLnBrk="1" fontAlgn="base" latinLnBrk="0" hangingPunct="1">
              <a:lnSpc>
                <a:spcPct val="100000"/>
              </a:lnSpc>
              <a:spcBef>
                <a:spcPct val="0"/>
              </a:spcBef>
              <a:spcAft>
                <a:spcPct val="0"/>
              </a:spcAft>
              <a:buClrTx/>
              <a:buSzTx/>
              <a:buFontTx/>
              <a:buNone/>
              <a:tabLst/>
              <a:defRPr/>
            </a:pPr>
            <a:r>
              <a:rPr kumimoji="0" lang="zh-CN" altLang="en-US"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rPr>
              <a:t>国民收入核算</a:t>
            </a:r>
            <a:endParaRPr kumimoji="0" lang="en-US" altLang="zh-CN" sz="908" b="0" i="1" u="none" strike="noStrike" kern="1200" cap="none" spc="0" normalizeH="0" baseline="0" noProof="0" dirty="0">
              <a:ln>
                <a:noFill/>
              </a:ln>
              <a:solidFill>
                <a:srgbClr val="777777"/>
              </a:solidFill>
              <a:effectLst/>
              <a:uLnTx/>
              <a:uFillTx/>
              <a:latin typeface="Arial" panose="020B0604020202020204" pitchFamily="34" charset="0"/>
              <a:ea typeface="宋体" panose="02010600030101010101" pitchFamily="2" charset="-122"/>
              <a:cs typeface="+mn-cs"/>
            </a:endParaRPr>
          </a:p>
        </p:txBody>
      </p:sp>
      <p:sp>
        <p:nvSpPr>
          <p:cNvPr id="4" name="Rectangle 3">
            <a:extLst>
              <a:ext uri="{FF2B5EF4-FFF2-40B4-BE49-F238E27FC236}">
                <a16:creationId xmlns:a16="http://schemas.microsoft.com/office/drawing/2014/main" id="{2996E226-76CD-0123-A7CB-3DF656BCF266}"/>
              </a:ext>
            </a:extLst>
          </p:cNvPr>
          <p:cNvSpPr txBox="1">
            <a:spLocks noChangeArrowheads="1"/>
          </p:cNvSpPr>
          <p:nvPr/>
        </p:nvSpPr>
        <p:spPr bwMode="auto">
          <a:xfrm>
            <a:off x="188086" y="508698"/>
            <a:ext cx="4191509" cy="2582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pPr marL="0" indent="0">
              <a:buNone/>
            </a:pPr>
            <a:r>
              <a:rPr lang="zh-CN" altLang="en-US" dirty="0">
                <a:latin typeface="Garamond" panose="02020404030301010803" pitchFamily="18" charset="0"/>
                <a:ea typeface="SimSun" panose="02010600030101010101" pitchFamily="2" charset="-122"/>
              </a:rPr>
              <a:t>特别说明：</a:t>
            </a:r>
          </a:p>
          <a:p>
            <a:r>
              <a:rPr lang="en-US" altLang="zh-CN" dirty="0">
                <a:latin typeface="Garamond" panose="02020404030301010803" pitchFamily="18" charset="0"/>
                <a:ea typeface="SimSun" panose="02010600030101010101" pitchFamily="2" charset="-122"/>
              </a:rPr>
              <a:t>1</a:t>
            </a:r>
            <a:r>
              <a:rPr lang="zh-CN" altLang="en-US" dirty="0">
                <a:latin typeface="Garamond" panose="02020404030301010803" pitchFamily="18" charset="0"/>
                <a:ea typeface="SimSun" panose="02010600030101010101" pitchFamily="2" charset="-122"/>
              </a:rPr>
              <a:t>、关于国外要素净支付。国内生产总值加上来自国外的要素净支付就可以得到国民生产总值。</a:t>
            </a:r>
          </a:p>
          <a:p>
            <a:r>
              <a:rPr lang="en-US" altLang="zh-CN" dirty="0">
                <a:latin typeface="Garamond" panose="02020404030301010803" pitchFamily="18" charset="0"/>
                <a:ea typeface="SimSun" panose="02010600030101010101" pitchFamily="2" charset="-122"/>
              </a:rPr>
              <a:t>2</a:t>
            </a:r>
            <a:r>
              <a:rPr lang="zh-CN" altLang="en-US" dirty="0">
                <a:latin typeface="Garamond" panose="02020404030301010803" pitchFamily="18" charset="0"/>
                <a:ea typeface="SimSun" panose="02010600030101010101" pitchFamily="2" charset="-122"/>
              </a:rPr>
              <a:t>、国民收入不会都给个人，从中要减去公司保留利润和社会保障缴款。</a:t>
            </a:r>
          </a:p>
          <a:p>
            <a:r>
              <a:rPr lang="en-US" altLang="zh-CN" dirty="0">
                <a:latin typeface="Garamond" panose="02020404030301010803" pitchFamily="18" charset="0"/>
                <a:ea typeface="SimSun" panose="02010600030101010101" pitchFamily="2" charset="-122"/>
              </a:rPr>
              <a:t>3</a:t>
            </a:r>
            <a:r>
              <a:rPr lang="zh-CN" altLang="en-US" dirty="0">
                <a:latin typeface="Garamond" panose="02020404030301010803" pitchFamily="18" charset="0"/>
                <a:ea typeface="SimSun" panose="02010600030101010101" pitchFamily="2" charset="-122"/>
              </a:rPr>
              <a:t>、国民收入可以指上述五个相互联系而又不同的数字表示。但在宏观经济学文献中，除非特别说明，国民收入一般是指</a:t>
            </a:r>
            <a:r>
              <a:rPr lang="en" altLang="zh-CN" dirty="0">
                <a:latin typeface="Garamond" panose="02020404030301010803" pitchFamily="18" charset="0"/>
                <a:ea typeface="SimSun" panose="02010600030101010101" pitchFamily="2" charset="-122"/>
              </a:rPr>
              <a:t>GDP </a:t>
            </a:r>
            <a:r>
              <a:rPr lang="zh-CN" altLang="en-US" dirty="0">
                <a:latin typeface="Garamond" panose="02020404030301010803" pitchFamily="18" charset="0"/>
                <a:ea typeface="SimSun" panose="02010600030101010101" pitchFamily="2" charset="-122"/>
              </a:rPr>
              <a:t>。</a:t>
            </a:r>
          </a:p>
        </p:txBody>
      </p:sp>
    </p:spTree>
    <p:extLst>
      <p:ext uri="{BB962C8B-B14F-4D97-AF65-F5344CB8AC3E}">
        <p14:creationId xmlns:p14="http://schemas.microsoft.com/office/powerpoint/2010/main" val="3289035742"/>
      </p:ext>
    </p:extLst>
  </p:cSld>
  <p:clrMapOvr>
    <a:masterClrMapping/>
  </p:clrMapOvr>
  <p:transition>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0607" name="Group 79">
            <a:extLst>
              <a:ext uri="{FF2B5EF4-FFF2-40B4-BE49-F238E27FC236}">
                <a16:creationId xmlns:a16="http://schemas.microsoft.com/office/drawing/2014/main" id="{E3AAF835-8B12-4DA8-AD57-91F4070DA694}"/>
              </a:ext>
            </a:extLst>
          </p:cNvPr>
          <p:cNvGraphicFramePr>
            <a:graphicFrameLocks noGrp="1"/>
          </p:cNvGraphicFramePr>
          <p:nvPr/>
        </p:nvGraphicFramePr>
        <p:xfrm>
          <a:off x="0" y="84826"/>
          <a:ext cx="4610100" cy="3367935"/>
        </p:xfrm>
        <a:graphic>
          <a:graphicData uri="http://schemas.openxmlformats.org/drawingml/2006/table">
            <a:tbl>
              <a:tblPr/>
              <a:tblGrid>
                <a:gridCol w="922020">
                  <a:extLst>
                    <a:ext uri="{9D8B030D-6E8A-4147-A177-3AD203B41FA5}">
                      <a16:colId xmlns:a16="http://schemas.microsoft.com/office/drawing/2014/main" val="20000"/>
                    </a:ext>
                  </a:extLst>
                </a:gridCol>
                <a:gridCol w="939095">
                  <a:extLst>
                    <a:ext uri="{9D8B030D-6E8A-4147-A177-3AD203B41FA5}">
                      <a16:colId xmlns:a16="http://schemas.microsoft.com/office/drawing/2014/main" val="20001"/>
                    </a:ext>
                  </a:extLst>
                </a:gridCol>
                <a:gridCol w="828110">
                  <a:extLst>
                    <a:ext uri="{9D8B030D-6E8A-4147-A177-3AD203B41FA5}">
                      <a16:colId xmlns:a16="http://schemas.microsoft.com/office/drawing/2014/main" val="20002"/>
                    </a:ext>
                  </a:extLst>
                </a:gridCol>
                <a:gridCol w="1018064">
                  <a:extLst>
                    <a:ext uri="{9D8B030D-6E8A-4147-A177-3AD203B41FA5}">
                      <a16:colId xmlns:a16="http://schemas.microsoft.com/office/drawing/2014/main" val="20003"/>
                    </a:ext>
                  </a:extLst>
                </a:gridCol>
                <a:gridCol w="902811">
                  <a:extLst>
                    <a:ext uri="{9D8B030D-6E8A-4147-A177-3AD203B41FA5}">
                      <a16:colId xmlns:a16="http://schemas.microsoft.com/office/drawing/2014/main" val="20004"/>
                    </a:ext>
                  </a:extLst>
                </a:gridCol>
              </a:tblGrid>
              <a:tr h="261234">
                <a:tc rowSpan="5">
                  <a:txBody>
                    <a:bodyPr/>
                    <a:lstStyle/>
                    <a:p>
                      <a:pPr marL="0" marR="0" lvl="0" indent="0" algn="ctr" defTabSz="914400" rtl="0" eaLnBrk="0" fontAlgn="base" latinLnBrk="0" hangingPunct="0">
                        <a:lnSpc>
                          <a:spcPct val="100000"/>
                        </a:lnSpc>
                        <a:spcBef>
                          <a:spcPct val="20000"/>
                        </a:spcBef>
                        <a:spcAft>
                          <a:spcPct val="0"/>
                        </a:spcAft>
                        <a:buClrTx/>
                        <a:buSzTx/>
                        <a:buFontTx/>
                        <a:buNone/>
                        <a:tabLst/>
                        <a:defRPr/>
                      </a:pPr>
                      <a:r>
                        <a:rPr kumimoji="0" lang="zh-CN" altLang="en-US" sz="1400" b="0" i="0" u="none" strike="noStrike" cap="none" normalizeH="0" baseline="0" dirty="0">
                          <a:ln>
                            <a:noFill/>
                          </a:ln>
                          <a:solidFill>
                            <a:schemeClr val="tx1"/>
                          </a:solidFill>
                          <a:effectLst/>
                          <a:latin typeface="Times New Roman" pitchFamily="18" charset="0"/>
                          <a:ea typeface="宋体" pitchFamily="2" charset="-122"/>
                        </a:rPr>
                        <a:t>国内生产总值</a:t>
                      </a:r>
                      <a:r>
                        <a:rPr kumimoji="0" lang="en-US" altLang="zh-CN" sz="1400" b="0" i="0" u="none" strike="noStrike" cap="none" normalizeH="0" baseline="0" dirty="0">
                          <a:ln>
                            <a:noFill/>
                          </a:ln>
                          <a:solidFill>
                            <a:schemeClr val="tx1"/>
                          </a:solidFill>
                          <a:effectLst/>
                          <a:latin typeface="Times New Roman" pitchFamily="18" charset="0"/>
                          <a:ea typeface="宋体" pitchFamily="2" charset="-122"/>
                        </a:rPr>
                        <a:t>(GDP)</a:t>
                      </a:r>
                    </a:p>
                  </a:txBody>
                  <a:tcPr marL="46101" marR="46101" marT="23048" marB="2304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TlToBr>
                      <a:noFill/>
                    </a:lnTlToBr>
                    <a:lnBlToTr>
                      <a:noFill/>
                    </a:lnBlToTr>
                    <a:solidFill>
                      <a:srgbClr val="0070C0"/>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000" b="0" i="0" u="none" strike="noStrike" cap="none" normalizeH="0" baseline="0" dirty="0">
                          <a:ln>
                            <a:noFill/>
                          </a:ln>
                          <a:solidFill>
                            <a:schemeClr val="tx1"/>
                          </a:solidFill>
                          <a:effectLst/>
                          <a:latin typeface="Times New Roman" pitchFamily="18" charset="0"/>
                          <a:ea typeface="宋体" pitchFamily="2" charset="-122"/>
                        </a:rPr>
                        <a:t>Depreciation</a:t>
                      </a:r>
                    </a:p>
                  </a:txBody>
                  <a:tcPr marL="46101" marR="46101" marT="23048" marB="230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pitchFamily="2" charset="-122"/>
                      </a:endParaRPr>
                    </a:p>
                  </a:txBody>
                  <a:tcPr marL="46101" marR="46101" marT="23048" marB="23048" horzOverflow="overflow">
                    <a:lnL w="12700" cap="flat" cmpd="sng" algn="ctr">
                      <a:solidFill>
                        <a:schemeClr val="tx1"/>
                      </a:solidFill>
                      <a:prstDash val="sysDot"/>
                      <a:round/>
                      <a:headEnd type="none" w="med" len="med"/>
                      <a:tailEnd type="none" w="med" len="med"/>
                    </a:lnL>
                    <a:lnR>
                      <a:noFill/>
                    </a:lnR>
                    <a:lnT cap="flat">
                      <a:noFill/>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en-US" sz="1200" b="0" i="0" u="none" strike="noStrike" cap="none" normalizeH="0" baseline="0">
                        <a:ln>
                          <a:noFill/>
                        </a:ln>
                        <a:solidFill>
                          <a:schemeClr val="tx1"/>
                        </a:solidFill>
                        <a:effectLst/>
                        <a:latin typeface="Times New Roman" pitchFamily="18" charset="0"/>
                        <a:ea typeface="宋体" pitchFamily="2" charset="-122"/>
                      </a:endParaRPr>
                    </a:p>
                  </a:txBody>
                  <a:tcPr marL="46101" marR="46101" marT="23048" marB="23048" horzOverflow="overflow">
                    <a:lnL>
                      <a:noFill/>
                    </a:lnL>
                    <a:lnR>
                      <a:noFill/>
                    </a:lnR>
                    <a:lnT cap="fla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pitchFamily="2" charset="-122"/>
                      </a:endParaRPr>
                    </a:p>
                  </a:txBody>
                  <a:tcPr marL="46101" marR="46101" marT="23048" marB="23048"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280892">
                <a:tc v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hlinkClick r:id="" action="ppaction://noaction">
                            <a:extLst>
                              <a:ext uri="{A12FA001-AC4F-418D-AE19-62706E023703}">
                                <ahyp:hlinkClr xmlns:ahyp="http://schemas.microsoft.com/office/drawing/2018/hyperlinkcolor" val="tx"/>
                              </a:ext>
                            </a:extLst>
                          </a:hlinkClick>
                        </a:rPr>
                        <a:t>Gross</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hlinkClick r:id="" action="ppaction://noaction">
                            <a:extLst>
                              <a:ext uri="{A12FA001-AC4F-418D-AE19-62706E023703}">
                                <ahyp:hlinkClr xmlns:ahyp="http://schemas.microsoft.com/office/drawing/2018/hyperlinkcolor" val="tx"/>
                              </a:ext>
                            </a:extLst>
                          </a:hlinkClick>
                        </a:rPr>
                        <a:t>Domestic</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hlinkClick r:id="" action="ppaction://noaction">
                            <a:extLst>
                              <a:ext uri="{A12FA001-AC4F-418D-AE19-62706E023703}">
                                <ahyp:hlinkClr xmlns:ahyp="http://schemas.microsoft.com/office/drawing/2018/hyperlinkcolor" val="tx"/>
                              </a:ext>
                            </a:extLst>
                          </a:hlinkClick>
                        </a:rPr>
                        <a:t>Product</a:t>
                      </a:r>
                      <a:endParaRPr kumimoji="0" lang="en-US" altLang="zh-CN" sz="2800" b="0" i="0" u="none" strike="noStrike" cap="none" normalizeH="0" baseline="0" dirty="0">
                        <a:ln>
                          <a:noFill/>
                        </a:ln>
                        <a:solidFill>
                          <a:schemeClr val="tx1"/>
                        </a:solidFill>
                        <a:effectLst/>
                        <a:latin typeface="Times New Roman" pitchFamily="18" charset="0"/>
                        <a:ea typeface="宋体" pitchFamily="2" charset="-122"/>
                      </a:endParaRPr>
                    </a:p>
                  </a:txBody>
                  <a:tcPr marT="45715" marB="4571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B0F0"/>
                    </a:solidFill>
                  </a:tcPr>
                </a:tc>
                <a:tc rowSpan="4">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400" b="0" i="0" u="none" strike="noStrike" cap="none" normalizeH="0" baseline="0" dirty="0">
                          <a:ln>
                            <a:noFill/>
                          </a:ln>
                          <a:solidFill>
                            <a:schemeClr val="tx1"/>
                          </a:solidFill>
                          <a:effectLst/>
                          <a:latin typeface="Times New Roman" pitchFamily="18" charset="0"/>
                          <a:ea typeface="宋体" pitchFamily="2" charset="-122"/>
                        </a:rPr>
                        <a:t>国内生产净值</a:t>
                      </a:r>
                      <a:r>
                        <a:rPr kumimoji="0" lang="en-US" altLang="zh-CN" sz="1400" b="0" i="0" u="none" strike="noStrike" cap="none" normalizeH="0" baseline="0" dirty="0">
                          <a:ln>
                            <a:noFill/>
                          </a:ln>
                          <a:solidFill>
                            <a:schemeClr val="tx1"/>
                          </a:solidFill>
                          <a:effectLst/>
                          <a:latin typeface="Times New Roman" pitchFamily="18" charset="0"/>
                          <a:ea typeface="宋体" pitchFamily="2" charset="-122"/>
                        </a:rPr>
                        <a:t>(Net Domestic Product)</a:t>
                      </a:r>
                    </a:p>
                  </a:txBody>
                  <a:tcPr marL="46101" marR="46101" marT="23048" marB="2304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TlToBr>
                      <a:noFill/>
                    </a:lnTlToBr>
                    <a:lnBlToTr>
                      <a:noFill/>
                    </a:lnBlToTr>
                    <a:solidFill>
                      <a:srgbClr val="00B0F0"/>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Indirect tax</a:t>
                      </a:r>
                    </a:p>
                  </a:txBody>
                  <a:tcPr marL="46101" marR="46101" marT="23048" marB="230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en-US" sz="1200" b="0" i="0" u="none" strike="noStrike" cap="none" normalizeH="0" baseline="0">
                        <a:ln>
                          <a:noFill/>
                        </a:ln>
                        <a:solidFill>
                          <a:schemeClr val="tx1"/>
                        </a:solidFill>
                        <a:effectLst/>
                        <a:latin typeface="Times New Roman" pitchFamily="18" charset="0"/>
                        <a:ea typeface="宋体" pitchFamily="2" charset="-122"/>
                      </a:endParaRPr>
                    </a:p>
                  </a:txBody>
                  <a:tcPr marL="46101" marR="46101" marT="23048" marB="23048" horzOverflow="overflow">
                    <a:lnL w="12700" cap="flat" cmpd="sng" algn="ctr">
                      <a:solidFill>
                        <a:schemeClr val="tx1"/>
                      </a:solidFill>
                      <a:prstDash val="sysDot"/>
                      <a:round/>
                      <a:headEnd type="none" w="med" len="med"/>
                      <a:tailEnd type="none" w="med" len="med"/>
                    </a:lnL>
                    <a:lnR>
                      <a:noFill/>
                    </a:lnR>
                    <a:lnT>
                      <a:noFill/>
                    </a:lnT>
                    <a:lnB w="12700" cap="flat" cmpd="sng" algn="ctr">
                      <a:solidFill>
                        <a:schemeClr val="tx1"/>
                      </a:solidFill>
                      <a:prstDash val="sysDot"/>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pitchFamily="2" charset="-122"/>
                      </a:endParaRPr>
                    </a:p>
                  </a:txBody>
                  <a:tcPr marL="46101" marR="46101" marT="23048" marB="23048"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654629">
                <a:tc vMerge="1">
                  <a:txBody>
                    <a:bodyPr/>
                    <a:lstStyle/>
                    <a:p>
                      <a:endParaRPr lang="zh-CN" altLang="en-US"/>
                    </a:p>
                  </a:txBody>
                  <a:tcPr/>
                </a:tc>
                <a:tc v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Net Domestic Product</a:t>
                      </a:r>
                    </a:p>
                  </a:txBody>
                  <a:tcPr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rowSpan="3">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400" b="0" i="0" u="none" strike="noStrike" cap="none" normalizeH="0" baseline="0" dirty="0">
                          <a:ln>
                            <a:noFill/>
                          </a:ln>
                          <a:solidFill>
                            <a:schemeClr val="tx1"/>
                          </a:solidFill>
                          <a:effectLst/>
                          <a:latin typeface="Times New Roman" pitchFamily="18" charset="0"/>
                          <a:ea typeface="宋体" pitchFamily="2" charset="-122"/>
                        </a:rPr>
                        <a:t>国民收入</a:t>
                      </a:r>
                      <a:r>
                        <a:rPr kumimoji="0" lang="en-US" altLang="zh-CN" sz="1400" b="0" i="0" u="none" strike="noStrike" cap="none" normalizeH="0" baseline="0" dirty="0">
                          <a:ln>
                            <a:noFill/>
                          </a:ln>
                          <a:solidFill>
                            <a:schemeClr val="tx1"/>
                          </a:solidFill>
                          <a:effectLst/>
                          <a:latin typeface="Times New Roman" pitchFamily="18" charset="0"/>
                          <a:ea typeface="宋体" pitchFamily="2" charset="-122"/>
                        </a:rPr>
                        <a:t>(National Income)</a:t>
                      </a:r>
                    </a:p>
                  </a:txBody>
                  <a:tcPr marL="46101" marR="46101" marT="23048" marB="2304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TlToBr>
                      <a:noFill/>
                    </a:lnTlToBr>
                    <a:lnBlToTr>
                      <a:noFill/>
                    </a:lnBlToTr>
                    <a:solidFill>
                      <a:srgbClr val="76D6FF"/>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Char char="•"/>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Retained profit</a:t>
                      </a:r>
                    </a:p>
                    <a:p>
                      <a:pPr marL="0" marR="0" lvl="0" indent="0" algn="l" defTabSz="914400" rtl="0" eaLnBrk="0" fontAlgn="base" latinLnBrk="0" hangingPunct="0">
                        <a:lnSpc>
                          <a:spcPct val="100000"/>
                        </a:lnSpc>
                        <a:spcBef>
                          <a:spcPct val="20000"/>
                        </a:spcBef>
                        <a:spcAft>
                          <a:spcPct val="0"/>
                        </a:spcAft>
                        <a:buClrTx/>
                        <a:buSzTx/>
                        <a:buFontTx/>
                        <a:buChar char="•"/>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Corporate profit tax</a:t>
                      </a:r>
                    </a:p>
                    <a:p>
                      <a:pPr marL="0" marR="0" lvl="0" indent="0" algn="l" defTabSz="914400" rtl="0" eaLnBrk="0" fontAlgn="base" latinLnBrk="0" hangingPunct="0">
                        <a:lnSpc>
                          <a:spcPct val="100000"/>
                        </a:lnSpc>
                        <a:spcBef>
                          <a:spcPct val="20000"/>
                        </a:spcBef>
                        <a:spcAft>
                          <a:spcPct val="0"/>
                        </a:spcAft>
                        <a:buClrTx/>
                        <a:buSzTx/>
                        <a:buFontTx/>
                        <a:buChar char="•"/>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Social insurance </a:t>
                      </a:r>
                    </a:p>
                  </a:txBody>
                  <a:tcPr marL="46101" marR="46101" marT="23048" marB="230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en-US" sz="1400" b="0" i="0" u="none" strike="noStrike" cap="none" normalizeH="0" baseline="0">
                        <a:ln>
                          <a:noFill/>
                        </a:ln>
                        <a:solidFill>
                          <a:schemeClr val="tx1"/>
                        </a:solidFill>
                        <a:effectLst/>
                        <a:latin typeface="Times New Roman" pitchFamily="18" charset="0"/>
                        <a:ea typeface="宋体" pitchFamily="2" charset="-122"/>
                      </a:endParaRPr>
                    </a:p>
                  </a:txBody>
                  <a:tcPr marL="46101" marR="46101" marT="23048" marB="23048" horzOverflow="overflow">
                    <a:lnL w="12700" cap="flat" cmpd="sng" algn="ctr">
                      <a:solidFill>
                        <a:schemeClr val="tx1"/>
                      </a:solidFill>
                      <a:prstDash val="sysDot"/>
                      <a:round/>
                      <a:headEnd type="none" w="med" len="med"/>
                      <a:tailEnd type="none" w="med" len="med"/>
                    </a:lnL>
                    <a:lnR cap="flat">
                      <a:noFill/>
                    </a:lnR>
                    <a:lnT>
                      <a:noFill/>
                    </a:lnT>
                    <a:lnB w="12700" cap="flat" cmpd="sng" algn="ctr">
                      <a:solidFill>
                        <a:schemeClr val="tx1"/>
                      </a:solidFill>
                      <a:prstDash val="sysDot"/>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2563">
                <a:tc vMerge="1">
                  <a:txBody>
                    <a:bodyPr/>
                    <a:lstStyle/>
                    <a:p>
                      <a:endParaRPr lang="zh-CN" altLang="en-US"/>
                    </a:p>
                  </a:txBody>
                  <a:tcPr/>
                </a:tc>
                <a:tc vMerge="1">
                  <a:txBody>
                    <a:bodyPr/>
                    <a:lstStyle/>
                    <a:p>
                      <a:endParaRPr lang="zh-CN" altLang="en-US"/>
                    </a:p>
                  </a:txBody>
                  <a:tcPr/>
                </a:tc>
                <a:tc v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National Income</a:t>
                      </a:r>
                    </a:p>
                  </a:txBody>
                  <a:tcPr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c rowSpan="3">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400" b="0" i="0" u="none" strike="noStrike" cap="none" normalizeH="0" baseline="0" dirty="0">
                          <a:ln>
                            <a:noFill/>
                          </a:ln>
                          <a:solidFill>
                            <a:schemeClr val="tx1"/>
                          </a:solidFill>
                          <a:effectLst/>
                          <a:latin typeface="Times New Roman" pitchFamily="18" charset="0"/>
                          <a:ea typeface="宋体" pitchFamily="2" charset="-122"/>
                        </a:rPr>
                        <a:t>个人收入</a:t>
                      </a:r>
                      <a:endParaRPr kumimoji="0" lang="en-US" altLang="zh-CN" sz="1400" b="0" i="0" u="none" strike="noStrike" cap="none" normalizeH="0" baseline="0" dirty="0">
                        <a:ln>
                          <a:noFill/>
                        </a:ln>
                        <a:solidFill>
                          <a:schemeClr val="tx1"/>
                        </a:solidFill>
                        <a:effectLst/>
                        <a:latin typeface="Times New Roman" pitchFamily="18" charset="0"/>
                        <a:ea typeface="宋体" pitchFamily="2" charset="-122"/>
                      </a:endParaRP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1400" b="0" i="0" u="none" strike="noStrike" cap="none" normalizeH="0" baseline="0" dirty="0">
                          <a:ln>
                            <a:noFill/>
                          </a:ln>
                          <a:solidFill>
                            <a:schemeClr val="tx1"/>
                          </a:solidFill>
                          <a:effectLst/>
                          <a:latin typeface="Times New Roman" pitchFamily="18" charset="0"/>
                          <a:ea typeface="宋体" pitchFamily="2" charset="-122"/>
                        </a:rPr>
                        <a:t>(Personal Income)</a:t>
                      </a:r>
                    </a:p>
                  </a:txBody>
                  <a:tcPr marL="46101" marR="46101" marT="23048" marB="23048"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76D6FF">
                        <a:alpha val="50196"/>
                      </a:srgbClr>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Char char="•"/>
                        <a:tabLst/>
                      </a:pPr>
                      <a:r>
                        <a:rPr kumimoji="0" lang="en-US" altLang="zh-CN" sz="800" b="0" i="0" u="none" strike="noStrike" cap="none" normalizeH="0" baseline="0" dirty="0">
                          <a:ln>
                            <a:noFill/>
                          </a:ln>
                          <a:solidFill>
                            <a:schemeClr val="tx1"/>
                          </a:solidFill>
                          <a:effectLst/>
                          <a:latin typeface="Times New Roman" pitchFamily="18" charset="0"/>
                          <a:ea typeface="宋体" pitchFamily="2" charset="-122"/>
                        </a:rPr>
                        <a:t>Personal income tax</a:t>
                      </a:r>
                    </a:p>
                    <a:p>
                      <a:pPr marL="0" marR="0" lvl="0" indent="0" algn="l" defTabSz="914400" rtl="0" eaLnBrk="0" fontAlgn="base" latinLnBrk="0" hangingPunct="0">
                        <a:lnSpc>
                          <a:spcPct val="100000"/>
                        </a:lnSpc>
                        <a:spcBef>
                          <a:spcPct val="20000"/>
                        </a:spcBef>
                        <a:spcAft>
                          <a:spcPct val="0"/>
                        </a:spcAft>
                        <a:buClrTx/>
                        <a:buSzTx/>
                        <a:buFontTx/>
                        <a:buChar char="•"/>
                        <a:tabLst/>
                      </a:pPr>
                      <a:r>
                        <a:rPr kumimoji="0" lang="en-US" altLang="zh-CN" sz="800" b="0" i="0" u="none" strike="noStrike" cap="none" normalizeH="0" baseline="0" dirty="0">
                          <a:ln>
                            <a:noFill/>
                          </a:ln>
                          <a:solidFill>
                            <a:schemeClr val="tx1"/>
                          </a:solidFill>
                          <a:effectLst/>
                          <a:latin typeface="Times New Roman" pitchFamily="18" charset="0"/>
                          <a:ea typeface="宋体" pitchFamily="2" charset="-122"/>
                        </a:rPr>
                        <a:t>Non tax payment</a:t>
                      </a:r>
                    </a:p>
                  </a:txBody>
                  <a:tcPr marL="46101" marR="46101" marT="23048" marB="230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65047">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Times New Roman" pitchFamily="18" charset="0"/>
                          <a:ea typeface="宋体" pitchFamily="2" charset="-122"/>
                        </a:rPr>
                        <a:t>Personal Income</a:t>
                      </a:r>
                    </a:p>
                  </a:txBody>
                  <a:tcPr marT="45715" marB="4571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CCFF99"/>
                    </a:solidFill>
                  </a:tcPr>
                </a:tc>
                <a:tc rowSpan="3">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zh-CN" altLang="en-US" sz="1400" b="0" i="0" u="none" strike="noStrike" cap="none" normalizeH="0" baseline="0" dirty="0">
                          <a:ln>
                            <a:noFill/>
                          </a:ln>
                          <a:solidFill>
                            <a:schemeClr val="tx1"/>
                          </a:solidFill>
                          <a:effectLst/>
                          <a:latin typeface="Times New Roman" pitchFamily="18" charset="0"/>
                          <a:ea typeface="宋体" pitchFamily="2" charset="-122"/>
                        </a:rPr>
                        <a:t>个人可支配收入</a:t>
                      </a:r>
                      <a:r>
                        <a:rPr kumimoji="0" lang="en-US" altLang="zh-CN" sz="1400" b="0" i="0" u="none" strike="noStrike" cap="none" normalizeH="0" baseline="0" dirty="0">
                          <a:ln>
                            <a:noFill/>
                          </a:ln>
                          <a:solidFill>
                            <a:schemeClr val="tx1"/>
                          </a:solidFill>
                          <a:effectLst/>
                          <a:latin typeface="Times New Roman" pitchFamily="18" charset="0"/>
                          <a:ea typeface="宋体" pitchFamily="2" charset="-122"/>
                        </a:rPr>
                        <a:t>(Disposable Personal Income)</a:t>
                      </a:r>
                    </a:p>
                  </a:txBody>
                  <a:tcPr marL="46101" marR="46101" marT="23048" marB="2304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76D6FF">
                        <a:alpha val="29804"/>
                      </a:srgbClr>
                    </a:solidFill>
                  </a:tcPr>
                </a:tc>
                <a:extLst>
                  <a:ext uri="{0D108BD9-81ED-4DB2-BD59-A6C34878D82A}">
                    <a16:rowId xmlns:a16="http://schemas.microsoft.com/office/drawing/2014/main" val="10004"/>
                  </a:ext>
                </a:extLst>
              </a:tr>
              <a:tr h="414904">
                <a:tc rowSpan="2">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en-US" sz="1400" b="0" i="0" u="none" strike="noStrike" cap="none" normalizeH="0" baseline="0" dirty="0">
                        <a:ln>
                          <a:noFill/>
                        </a:ln>
                        <a:solidFill>
                          <a:schemeClr val="tx1"/>
                        </a:solidFill>
                        <a:effectLst/>
                        <a:latin typeface="Times New Roman" pitchFamily="18" charset="0"/>
                        <a:ea typeface="宋体" pitchFamily="2" charset="-122"/>
                      </a:endParaRPr>
                    </a:p>
                  </a:txBody>
                  <a:tcPr marL="46101" marR="46101" marT="23048" marB="23048" anchor="ctr" horzOverflow="overflow">
                    <a:lnL cap="flat">
                      <a:noFill/>
                    </a:lnL>
                    <a:lnR>
                      <a:noFill/>
                    </a:lnR>
                    <a:lnB cap="flat">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en-US" sz="1200" b="0" i="0" u="none" strike="noStrike" cap="none" normalizeH="0" baseline="0" dirty="0">
                        <a:ln>
                          <a:noFill/>
                        </a:ln>
                        <a:solidFill>
                          <a:schemeClr val="tx1"/>
                        </a:solidFill>
                        <a:effectLst/>
                        <a:latin typeface="Times New Roman" pitchFamily="18" charset="0"/>
                        <a:ea typeface="宋体" pitchFamily="2" charset="-122"/>
                      </a:endParaRPr>
                    </a:p>
                  </a:txBody>
                  <a:tcPr marL="46101" marR="46101" marT="23048" marB="23048" horzOverflow="overflow">
                    <a:lnL>
                      <a:noFill/>
                    </a:lnL>
                    <a:lnR w="12700" cap="flat" cmpd="sng" algn="ctr">
                      <a:solidFill>
                        <a:schemeClr val="tx1"/>
                      </a:solidFill>
                      <a:prstDash val="solid"/>
                      <a:round/>
                      <a:headEnd type="none" w="med" len="med"/>
                      <a:tailEnd type="none" w="med" len="med"/>
                    </a:lnR>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altLang="zh-CN" sz="1200" b="0" i="0" u="none" strike="noStrike" cap="none" normalizeH="0" baseline="0" dirty="0">
                          <a:ln>
                            <a:noFill/>
                          </a:ln>
                          <a:solidFill>
                            <a:schemeClr val="tx1"/>
                          </a:solidFill>
                          <a:effectLst/>
                          <a:latin typeface="Times New Roman" pitchFamily="18" charset="0"/>
                          <a:ea typeface="宋体" pitchFamily="2" charset="-122"/>
                        </a:rPr>
                        <a:t>Subsidies to firms</a:t>
                      </a:r>
                    </a:p>
                  </a:txBody>
                  <a:tcPr marL="46101" marR="46101" marT="23048" marB="230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a:noFill/>
                    </a:lnTlToBr>
                    <a:lnBlToTr>
                      <a:noFill/>
                    </a:lnBlToTr>
                    <a:solidFill>
                      <a:srgbClr val="76D6FF"/>
                    </a:solidFill>
                  </a:tcPr>
                </a:tc>
                <a:tc vMerge="1">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en-US" sz="2400" b="0" i="0" u="none" strike="noStrike" cap="none" normalizeH="0" baseline="0" dirty="0">
                        <a:ln>
                          <a:noFill/>
                        </a:ln>
                        <a:solidFill>
                          <a:schemeClr val="tx1"/>
                        </a:solidFill>
                        <a:effectLst/>
                        <a:latin typeface="Times New Roman" pitchFamily="18" charset="0"/>
                        <a:ea typeface="宋体" pitchFamily="2" charset="-122"/>
                      </a:endParaRPr>
                    </a:p>
                  </a:txBody>
                  <a:tcPr marT="45715" marB="4571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99"/>
                    </a:solidFill>
                  </a:tcPr>
                </a:tc>
                <a:tc vMerge="1">
                  <a:txBody>
                    <a:bodyPr/>
                    <a:lstStyle/>
                    <a:p>
                      <a:endParaRPr lang="zh-CN" altLang="en-US"/>
                    </a:p>
                  </a:txBody>
                  <a:tcPr/>
                </a:tc>
                <a:extLst>
                  <a:ext uri="{0D108BD9-81ED-4DB2-BD59-A6C34878D82A}">
                    <a16:rowId xmlns:a16="http://schemas.microsoft.com/office/drawing/2014/main" val="10005"/>
                  </a:ext>
                </a:extLst>
              </a:tr>
              <a:tr h="488666">
                <a:tc vMerge="1">
                  <a:txBody>
                    <a:bodyPr/>
                    <a:lstStyle/>
                    <a:p>
                      <a:endParaRPr lang="zh-CN" altLang="en-US"/>
                    </a:p>
                  </a:txBody>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en-US" sz="1200" b="0" i="0" u="none" strike="noStrike" cap="none" normalizeH="0" baseline="0" dirty="0">
                        <a:ln>
                          <a:noFill/>
                        </a:ln>
                        <a:solidFill>
                          <a:schemeClr val="tx1"/>
                        </a:solidFill>
                        <a:effectLst/>
                        <a:latin typeface="Times New Roman" pitchFamily="18" charset="0"/>
                        <a:ea typeface="宋体" pitchFamily="2" charset="-122"/>
                      </a:endParaRPr>
                    </a:p>
                  </a:txBody>
                  <a:tcPr marL="46101" marR="46101" marT="23048" marB="23048" horzOverflow="overflow">
                    <a:lnL>
                      <a:noFill/>
                    </a:lnL>
                    <a:lnR>
                      <a:noFill/>
                    </a:lnR>
                    <a:lnT>
                      <a:noFill/>
                    </a:lnT>
                    <a:lnB cap="flat">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en-US" sz="900" b="0" i="0" u="none" strike="noStrike" cap="none" normalizeH="0" baseline="0" dirty="0">
                        <a:ln>
                          <a:noFill/>
                        </a:ln>
                        <a:solidFill>
                          <a:schemeClr val="tx1"/>
                        </a:solidFill>
                        <a:effectLst/>
                        <a:latin typeface="Times New Roman" pitchFamily="18" charset="0"/>
                        <a:ea typeface="宋体" pitchFamily="2" charset="-122"/>
                      </a:endParaRPr>
                    </a:p>
                  </a:txBody>
                  <a:tcPr marL="46101" marR="46101" marT="23048" marB="23048"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Char char="•"/>
                        <a:tabLst/>
                      </a:pPr>
                      <a:r>
                        <a:rPr kumimoji="0" lang="en-US" altLang="zh-CN" sz="900" b="0" i="0" u="none" strike="noStrike" cap="none" normalizeH="0" baseline="0" dirty="0">
                          <a:ln>
                            <a:noFill/>
                          </a:ln>
                          <a:solidFill>
                            <a:schemeClr val="tx1"/>
                          </a:solidFill>
                          <a:effectLst/>
                          <a:latin typeface="Times New Roman" pitchFamily="18" charset="0"/>
                          <a:ea typeface="宋体" pitchFamily="2" charset="-122"/>
                        </a:rPr>
                        <a:t>Transfer from gov.</a:t>
                      </a:r>
                    </a:p>
                  </a:txBody>
                  <a:tcPr marL="46101" marR="46101" marT="23048" marB="2304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76D6FF">
                        <a:alpha val="50196"/>
                      </a:srgbClr>
                    </a:solidFill>
                  </a:tcPr>
                </a:tc>
                <a:tc vMerge="1">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zh-CN" altLang="en-US" sz="2800" b="0" i="0" u="none" strike="noStrike" cap="none" normalizeH="0" baseline="0" dirty="0">
                        <a:ln>
                          <a:noFill/>
                        </a:ln>
                        <a:solidFill>
                          <a:schemeClr val="tx1"/>
                        </a:solidFill>
                        <a:effectLst/>
                        <a:latin typeface="Times New Roman" pitchFamily="18" charset="0"/>
                        <a:ea typeface="宋体" pitchFamily="2" charset="-122"/>
                      </a:endParaRPr>
                    </a:p>
                  </a:txBody>
                  <a:tcPr marT="45715" marB="4571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ysDot"/>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FFFF"/>
                    </a:solidFill>
                  </a:tcPr>
                </a:tc>
                <a:extLst>
                  <a:ext uri="{0D108BD9-81ED-4DB2-BD59-A6C34878D82A}">
                    <a16:rowId xmlns:a16="http://schemas.microsoft.com/office/drawing/2014/main" val="10006"/>
                  </a:ext>
                </a:extLst>
              </a:tr>
            </a:tbl>
          </a:graphicData>
        </a:graphic>
      </p:graphicFrame>
      <p:sp>
        <p:nvSpPr>
          <p:cNvPr id="2" name="文本框 1">
            <a:extLst>
              <a:ext uri="{FF2B5EF4-FFF2-40B4-BE49-F238E27FC236}">
                <a16:creationId xmlns:a16="http://schemas.microsoft.com/office/drawing/2014/main" id="{FB7D939D-508B-35B7-0833-64AA133DF647}"/>
              </a:ext>
            </a:extLst>
          </p:cNvPr>
          <p:cNvSpPr txBox="1"/>
          <p:nvPr/>
        </p:nvSpPr>
        <p:spPr>
          <a:xfrm>
            <a:off x="0" y="2606838"/>
            <a:ext cx="3365684" cy="559512"/>
          </a:xfrm>
          <a:prstGeom prst="rect">
            <a:avLst/>
          </a:prstGeom>
          <a:noFill/>
        </p:spPr>
        <p:txBody>
          <a:bodyPr wrap="square">
            <a:spAutoFit/>
          </a:bodyPr>
          <a:lstStyle/>
          <a:p>
            <a:pPr marL="173524" indent="-172890" defTabSz="230520">
              <a:lnSpc>
                <a:spcPct val="130000"/>
              </a:lnSpc>
              <a:buFont typeface="Wingdings" pitchFamily="2" charset="2"/>
              <a:buChar char="u"/>
            </a:pPr>
            <a:r>
              <a:rPr lang="zh-CN" altLang="en-US" sz="1210" b="1" dirty="0">
                <a:solidFill>
                  <a:srgbClr val="000000"/>
                </a:solidFill>
                <a:latin typeface="Garamond" panose="02020404030301010803" pitchFamily="18" charset="0"/>
                <a:ea typeface="KaiTi" panose="02010609060101010101" pitchFamily="49" charset="-122"/>
              </a:rPr>
              <a:t>回顾：</a:t>
            </a:r>
            <a:r>
              <a:rPr lang="en-US" altLang="zh-CN" sz="1210" b="1" dirty="0">
                <a:solidFill>
                  <a:srgbClr val="000000"/>
                </a:solidFill>
                <a:latin typeface="Garamond" panose="02020404030301010803" pitchFamily="18" charset="0"/>
                <a:ea typeface="KaiTi" panose="02010609060101010101" pitchFamily="49" charset="-122"/>
              </a:rPr>
              <a:t>GDP</a:t>
            </a:r>
            <a:r>
              <a:rPr lang="zh-CN" altLang="en-US" sz="1210" b="1" dirty="0">
                <a:solidFill>
                  <a:srgbClr val="000000"/>
                </a:solidFill>
                <a:latin typeface="Garamond" panose="02020404030301010803" pitchFamily="18" charset="0"/>
                <a:ea typeface="KaiTi" panose="02010609060101010101" pitchFamily="49" charset="-122"/>
              </a:rPr>
              <a:t>相关指标</a:t>
            </a:r>
            <a:endParaRPr lang="en-US" altLang="zh-CN" sz="1210" b="1" dirty="0">
              <a:solidFill>
                <a:srgbClr val="000000"/>
              </a:solidFill>
              <a:latin typeface="Garamond" panose="02020404030301010803" pitchFamily="18" charset="0"/>
              <a:ea typeface="KaiTi" panose="02010609060101010101" pitchFamily="49" charset="-122"/>
            </a:endParaRPr>
          </a:p>
          <a:p>
            <a:pPr marL="634" defTabSz="230520">
              <a:lnSpc>
                <a:spcPct val="130000"/>
              </a:lnSpc>
            </a:pPr>
            <a:r>
              <a:rPr lang="zh-CN" altLang="en-US" sz="1210" b="1" dirty="0">
                <a:solidFill>
                  <a:srgbClr val="000000"/>
                </a:solidFill>
                <a:latin typeface="Garamond" panose="02020404030301010803" pitchFamily="18" charset="0"/>
                <a:ea typeface="KaiTi" panose="02010609060101010101" pitchFamily="49" charset="-122"/>
              </a:rPr>
              <a:t>（封闭经济体）</a:t>
            </a:r>
            <a:endParaRPr lang="en-US" altLang="zh-CN" sz="1210" b="1" dirty="0">
              <a:solidFill>
                <a:srgbClr val="000000"/>
              </a:solidFill>
              <a:latin typeface="Garamond" panose="02020404030301010803" pitchFamily="18" charset="0"/>
              <a:ea typeface="KaiTi" panose="02010609060101010101" pitchFamily="49" charset="-122"/>
            </a:endParaRPr>
          </a:p>
        </p:txBody>
      </p:sp>
      <p:sp>
        <p:nvSpPr>
          <p:cNvPr id="3" name="矩形 2">
            <a:extLst>
              <a:ext uri="{FF2B5EF4-FFF2-40B4-BE49-F238E27FC236}">
                <a16:creationId xmlns:a16="http://schemas.microsoft.com/office/drawing/2014/main" id="{C88C19F6-2CAD-83FA-EB53-7F6C203EF065}"/>
              </a:ext>
            </a:extLst>
          </p:cNvPr>
          <p:cNvSpPr/>
          <p:nvPr/>
        </p:nvSpPr>
        <p:spPr>
          <a:xfrm>
            <a:off x="1883109" y="1204902"/>
            <a:ext cx="793093" cy="320363"/>
          </a:xfrm>
          <a:prstGeom prst="rect">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defTabSz="230520"/>
            <a:endParaRPr kumimoji="1" lang="zh-CN" altLang="en-US" sz="908">
              <a:solidFill>
                <a:srgbClr val="000000"/>
              </a:solidFill>
              <a:latin typeface="Arial"/>
            </a:endParaRPr>
          </a:p>
        </p:txBody>
      </p:sp>
      <p:sp>
        <p:nvSpPr>
          <p:cNvPr id="4" name="矩形 3">
            <a:extLst>
              <a:ext uri="{FF2B5EF4-FFF2-40B4-BE49-F238E27FC236}">
                <a16:creationId xmlns:a16="http://schemas.microsoft.com/office/drawing/2014/main" id="{A5B93BD0-50B9-2CB9-F2B8-72257A6EBD76}"/>
              </a:ext>
            </a:extLst>
          </p:cNvPr>
          <p:cNvSpPr/>
          <p:nvPr/>
        </p:nvSpPr>
        <p:spPr>
          <a:xfrm>
            <a:off x="3741474" y="2016228"/>
            <a:ext cx="813930" cy="524822"/>
          </a:xfrm>
          <a:prstGeom prst="rect">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defTabSz="230520"/>
            <a:endParaRPr kumimoji="1" lang="zh-CN" altLang="en-US" sz="908">
              <a:solidFill>
                <a:srgbClr val="000000"/>
              </a:solidFill>
              <a:latin typeface="Arial"/>
            </a:endParaRPr>
          </a:p>
        </p:txBody>
      </p:sp>
      <p:sp>
        <p:nvSpPr>
          <p:cNvPr id="5" name="页脚占位符 1">
            <a:extLst>
              <a:ext uri="{FF2B5EF4-FFF2-40B4-BE49-F238E27FC236}">
                <a16:creationId xmlns:a16="http://schemas.microsoft.com/office/drawing/2014/main" id="{BB05C02A-9C8F-8F8D-1F46-B8FA91FE1C74}"/>
              </a:ext>
            </a:extLst>
          </p:cNvPr>
          <p:cNvSpPr>
            <a:spLocks noGrp="1"/>
          </p:cNvSpPr>
          <p:nvPr>
            <p:ph type="ftr" sz="quarter" idx="10"/>
          </p:nvPr>
        </p:nvSpPr>
        <p:spPr>
          <a:xfrm>
            <a:off x="144067" y="3224656"/>
            <a:ext cx="3698485" cy="184884"/>
          </a:xfrm>
        </p:spPr>
        <p:txBody>
          <a:bodyPr/>
          <a:lstStyle/>
          <a:p>
            <a:pPr defTabSz="460659" fontAlgn="base">
              <a:spcBef>
                <a:spcPct val="0"/>
              </a:spcBef>
              <a:spcAft>
                <a:spcPct val="0"/>
              </a:spcAft>
              <a:defRPr/>
            </a:pPr>
            <a:r>
              <a:rPr lang="zh-CN" altLang="en-US" sz="907" dirty="0">
                <a:latin typeface="Arial" panose="020B0604020202020204" pitchFamily="34" charset="0"/>
              </a:rPr>
              <a:t>均衡国民收入的决定</a:t>
            </a:r>
            <a:endParaRPr lang="zh-CN" altLang="zh-CN" sz="907" dirty="0">
              <a:latin typeface="Arial" panose="020B0604020202020204" pitchFamily="34"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1"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1"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6" presetClass="emph" presetSubtype="0" fill="hold" grpId="0" nodeType="clickEffect">
                                  <p:stCondLst>
                                    <p:cond delay="0"/>
                                  </p:stCondLst>
                                  <p:childTnLst>
                                    <p:animEffect transition="out" filter="fade">
                                      <p:cBhvr>
                                        <p:cTn id="21" dur="500" tmFilter="0, 0; .2, .5; .8, .5; 1, 0"/>
                                        <p:tgtEl>
                                          <p:spTgt spid="3"/>
                                        </p:tgtEl>
                                      </p:cBhvr>
                                    </p:animEffect>
                                    <p:animScale>
                                      <p:cBhvr>
                                        <p:cTn id="22" dur="250" autoRev="1" fill="hold"/>
                                        <p:tgtEl>
                                          <p:spTgt spid="3"/>
                                        </p:tgtEl>
                                      </p:cBhvr>
                                      <p:by x="105000" y="105000"/>
                                    </p:animScale>
                                  </p:childTnLst>
                                </p:cTn>
                              </p:par>
                            </p:childTnLst>
                          </p:cTn>
                        </p:par>
                      </p:childTnLst>
                    </p:cTn>
                  </p:par>
                  <p:par>
                    <p:cTn id="23" fill="hold">
                      <p:stCondLst>
                        <p:cond delay="indefinite"/>
                      </p:stCondLst>
                      <p:childTnLst>
                        <p:par>
                          <p:cTn id="24" fill="hold">
                            <p:stCondLst>
                              <p:cond delay="0"/>
                            </p:stCondLst>
                            <p:childTnLst>
                              <p:par>
                                <p:cTn id="25" presetID="26" presetClass="emph" presetSubtype="0" fill="hold" grpId="0" nodeType="clickEffect">
                                  <p:stCondLst>
                                    <p:cond delay="0"/>
                                  </p:stCondLst>
                                  <p:childTnLst>
                                    <p:animEffect transition="out" filter="fade">
                                      <p:cBhvr>
                                        <p:cTn id="26" dur="500" tmFilter="0, 0; .2, .5; .8, .5; 1, 0"/>
                                        <p:tgtEl>
                                          <p:spTgt spid="4"/>
                                        </p:tgtEl>
                                      </p:cBhvr>
                                    </p:animEffect>
                                    <p:animScale>
                                      <p:cBhvr>
                                        <p:cTn id="2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3" grpId="1" animBg="1"/>
      <p:bldP spid="4" grpId="0" animBg="1"/>
      <p:bldP spid="4"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8A5177-C3F7-E583-0D40-F8FB9BD6F2A2}"/>
              </a:ext>
            </a:extLst>
          </p:cNvPr>
          <p:cNvSpPr>
            <a:spLocks noGrp="1"/>
          </p:cNvSpPr>
          <p:nvPr>
            <p:ph type="title"/>
          </p:nvPr>
        </p:nvSpPr>
        <p:spPr/>
        <p:txBody>
          <a:bodyPr/>
          <a:lstStyle/>
          <a:p>
            <a:r>
              <a:rPr kumimoji="1" lang="zh-CN" altLang="en-US" b="0" dirty="0">
                <a:latin typeface="Microsoft YaHei" panose="020B0503020204020204" pitchFamily="34" charset="-122"/>
                <a:ea typeface="Microsoft YaHei" panose="020B0503020204020204" pitchFamily="34" charset="-122"/>
              </a:rPr>
              <a:t>宏观经济循环</a:t>
            </a:r>
          </a:p>
        </p:txBody>
      </p:sp>
      <p:sp>
        <p:nvSpPr>
          <p:cNvPr id="4" name="页脚占位符 3">
            <a:extLst>
              <a:ext uri="{FF2B5EF4-FFF2-40B4-BE49-F238E27FC236}">
                <a16:creationId xmlns:a16="http://schemas.microsoft.com/office/drawing/2014/main" id="{D1D345D8-13EA-BA0E-56F8-56628BB4B2C3}"/>
              </a:ext>
            </a:extLst>
          </p:cNvPr>
          <p:cNvSpPr>
            <a:spLocks noGrp="1"/>
          </p:cNvSpPr>
          <p:nvPr>
            <p:ph type="ftr" sz="quarter" idx="10"/>
          </p:nvPr>
        </p:nvSpPr>
        <p:spPr/>
        <p:txBody>
          <a:bodyPr/>
          <a:lstStyle/>
          <a:p>
            <a:pPr defTabSz="230520"/>
            <a:r>
              <a:rPr lang="zh-CN" altLang="en-US" sz="908" dirty="0">
                <a:latin typeface="Arial"/>
              </a:rPr>
              <a:t>均衡国民收入的决定</a:t>
            </a:r>
            <a:endParaRPr lang="zh-CN" altLang="zh-CN" sz="908" dirty="0">
              <a:latin typeface="Arial"/>
            </a:endParaRPr>
          </a:p>
        </p:txBody>
      </p:sp>
      <p:sp>
        <p:nvSpPr>
          <p:cNvPr id="5" name="灯片编号占位符 4">
            <a:extLst>
              <a:ext uri="{FF2B5EF4-FFF2-40B4-BE49-F238E27FC236}">
                <a16:creationId xmlns:a16="http://schemas.microsoft.com/office/drawing/2014/main" id="{A5A3A2C9-9B3B-7FD1-9C4C-7D984BAFBA52}"/>
              </a:ext>
            </a:extLst>
          </p:cNvPr>
          <p:cNvSpPr>
            <a:spLocks noGrp="1"/>
          </p:cNvSpPr>
          <p:nvPr>
            <p:ph type="sldNum" sz="quarter" idx="11"/>
          </p:nvPr>
        </p:nvSpPr>
        <p:spPr/>
        <p:txBody>
          <a:bodyPr/>
          <a:lstStyle/>
          <a:p>
            <a:pPr defTabSz="230520"/>
            <a:fld id="{FF75CA96-F32A-7F4F-98C9-CA940BD9BB90}" type="slidenum">
              <a:rPr lang="zh-CN" altLang="zh-CN">
                <a:latin typeface="Arial"/>
              </a:rPr>
              <a:pPr defTabSz="230520"/>
              <a:t>22</a:t>
            </a:fld>
            <a:endParaRPr lang="en-US" altLang="zh-CN">
              <a:latin typeface="Arial"/>
            </a:endParaRPr>
          </a:p>
        </p:txBody>
      </p:sp>
      <p:cxnSp>
        <p:nvCxnSpPr>
          <p:cNvPr id="54" name="AutoShape 4">
            <a:extLst>
              <a:ext uri="{FF2B5EF4-FFF2-40B4-BE49-F238E27FC236}">
                <a16:creationId xmlns:a16="http://schemas.microsoft.com/office/drawing/2014/main" id="{61724670-20AE-527D-15E9-CAA1C19F5010}"/>
              </a:ext>
            </a:extLst>
          </p:cNvPr>
          <p:cNvCxnSpPr>
            <a:cxnSpLocks noChangeShapeType="1"/>
            <a:stCxn id="50" idx="0"/>
            <a:endCxn id="9" idx="3"/>
          </p:cNvCxnSpPr>
          <p:nvPr/>
        </p:nvCxnSpPr>
        <p:spPr bwMode="auto">
          <a:xfrm rot="16200000" flipV="1">
            <a:off x="2954472" y="827372"/>
            <a:ext cx="658444" cy="1203710"/>
          </a:xfrm>
          <a:prstGeom prst="curvedConnector2">
            <a:avLst/>
          </a:prstGeom>
          <a:ln>
            <a:tailEnd type="triangle" w="lg" len="lg"/>
          </a:ln>
        </p:spPr>
        <p:style>
          <a:lnRef idx="2">
            <a:schemeClr val="accent2"/>
          </a:lnRef>
          <a:fillRef idx="1">
            <a:schemeClr val="lt1"/>
          </a:fillRef>
          <a:effectRef idx="0">
            <a:schemeClr val="accent2"/>
          </a:effectRef>
          <a:fontRef idx="minor">
            <a:schemeClr val="dk1"/>
          </a:fontRef>
        </p:style>
      </p:cxnSp>
      <p:sp>
        <p:nvSpPr>
          <p:cNvPr id="55" name="Text Box 5">
            <a:extLst>
              <a:ext uri="{FF2B5EF4-FFF2-40B4-BE49-F238E27FC236}">
                <a16:creationId xmlns:a16="http://schemas.microsoft.com/office/drawing/2014/main" id="{DA1BDE47-43B6-8902-939F-0575B4A9B0FD}"/>
              </a:ext>
            </a:extLst>
          </p:cNvPr>
          <p:cNvSpPr txBox="1">
            <a:spLocks noChangeArrowheads="1"/>
          </p:cNvSpPr>
          <p:nvPr/>
        </p:nvSpPr>
        <p:spPr bwMode="auto">
          <a:xfrm>
            <a:off x="3147461" y="1187965"/>
            <a:ext cx="704039" cy="247440"/>
          </a:xfrm>
          <a:prstGeom prst="rect">
            <a:avLst/>
          </a:prstGeom>
          <a:ln/>
        </p:spPr>
        <p:style>
          <a:lnRef idx="2">
            <a:schemeClr val="accent2"/>
          </a:lnRef>
          <a:fillRef idx="1">
            <a:schemeClr val="lt1"/>
          </a:fillRef>
          <a:effectRef idx="0">
            <a:schemeClr val="accent2"/>
          </a:effectRef>
          <a:fontRef idx="minor">
            <a:schemeClr val="dk1"/>
          </a:fontRef>
        </p:style>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1008" dirty="0">
                <a:solidFill>
                  <a:srgbClr val="000000"/>
                </a:solidFill>
                <a:latin typeface="SimSun" panose="02010600030101010101" pitchFamily="2" charset="-122"/>
                <a:ea typeface="SimSun" panose="02010600030101010101" pitchFamily="2" charset="-122"/>
              </a:rPr>
              <a:t>企业储蓄</a:t>
            </a:r>
          </a:p>
        </p:txBody>
      </p:sp>
      <p:sp>
        <p:nvSpPr>
          <p:cNvPr id="9" name="Text Box 6">
            <a:extLst>
              <a:ext uri="{FF2B5EF4-FFF2-40B4-BE49-F238E27FC236}">
                <a16:creationId xmlns:a16="http://schemas.microsoft.com/office/drawing/2014/main" id="{6B9CE313-FACF-C053-AA12-19E7E64D2F33}"/>
              </a:ext>
            </a:extLst>
          </p:cNvPr>
          <p:cNvSpPr txBox="1">
            <a:spLocks noChangeArrowheads="1"/>
          </p:cNvSpPr>
          <p:nvPr/>
        </p:nvSpPr>
        <p:spPr bwMode="auto">
          <a:xfrm>
            <a:off x="1734367" y="960736"/>
            <a:ext cx="947472" cy="278538"/>
          </a:xfrm>
          <a:prstGeom prst="rect">
            <a:avLst/>
          </a:prstGeom>
          <a:solidFill>
            <a:schemeClr val="bg1">
              <a:lumMod val="85000"/>
            </a:schemeClr>
          </a:solidFill>
          <a:ln/>
        </p:spPr>
        <p:style>
          <a:lnRef idx="2">
            <a:schemeClr val="accent2"/>
          </a:lnRef>
          <a:fillRef idx="1">
            <a:schemeClr val="lt1"/>
          </a:fillRef>
          <a:effectRef idx="0">
            <a:schemeClr val="accent2"/>
          </a:effectRef>
          <a:fontRef idx="minor">
            <a:schemeClr val="dk1"/>
          </a:fontRef>
        </p:style>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1210" dirty="0">
                <a:solidFill>
                  <a:srgbClr val="000000"/>
                </a:solidFill>
                <a:latin typeface="SimSun" panose="02010600030101010101" pitchFamily="2" charset="-122"/>
                <a:ea typeface="SimSun" panose="02010600030101010101" pitchFamily="2" charset="-122"/>
              </a:rPr>
              <a:t>货币市场</a:t>
            </a:r>
          </a:p>
        </p:txBody>
      </p:sp>
      <p:sp>
        <p:nvSpPr>
          <p:cNvPr id="48" name="AutoShape 8">
            <a:extLst>
              <a:ext uri="{FF2B5EF4-FFF2-40B4-BE49-F238E27FC236}">
                <a16:creationId xmlns:a16="http://schemas.microsoft.com/office/drawing/2014/main" id="{14482736-93A8-5DC1-CC71-729F7BCC660A}"/>
              </a:ext>
            </a:extLst>
          </p:cNvPr>
          <p:cNvSpPr>
            <a:spLocks noChangeArrowheads="1"/>
          </p:cNvSpPr>
          <p:nvPr/>
        </p:nvSpPr>
        <p:spPr bwMode="auto">
          <a:xfrm>
            <a:off x="385659" y="1797354"/>
            <a:ext cx="656511" cy="429326"/>
          </a:xfrm>
          <a:prstGeom prst="roundRect">
            <a:avLst>
              <a:gd name="adj" fmla="val 16667"/>
            </a:avLst>
          </a:prstGeom>
          <a:solidFill>
            <a:schemeClr val="accent6">
              <a:lumMod val="20000"/>
              <a:lumOff val="80000"/>
            </a:schemeClr>
          </a:solidFill>
          <a:ln/>
        </p:spPr>
        <p:style>
          <a:lnRef idx="2">
            <a:schemeClr val="accent2"/>
          </a:lnRef>
          <a:fillRef idx="1">
            <a:schemeClr val="lt1"/>
          </a:fillRef>
          <a:effectRef idx="0">
            <a:schemeClr val="accent2"/>
          </a:effectRef>
          <a:fontRef idx="minor">
            <a:schemeClr val="dk1"/>
          </a:fontRef>
        </p:style>
        <p:txBody>
          <a:bodyPr anchor="ctr">
            <a:flatTx/>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endParaRPr lang="zh-CN" altLang="en-US" sz="908">
              <a:solidFill>
                <a:srgbClr val="000000"/>
              </a:solidFill>
              <a:latin typeface="SimSun" panose="02010600030101010101" pitchFamily="2" charset="-122"/>
              <a:ea typeface="SimSun" panose="02010600030101010101" pitchFamily="2" charset="-122"/>
            </a:endParaRPr>
          </a:p>
        </p:txBody>
      </p:sp>
      <p:sp>
        <p:nvSpPr>
          <p:cNvPr id="49" name="AutoShape 9">
            <a:extLst>
              <a:ext uri="{FF2B5EF4-FFF2-40B4-BE49-F238E27FC236}">
                <a16:creationId xmlns:a16="http://schemas.microsoft.com/office/drawing/2014/main" id="{F0390D0A-7693-C8E2-CF24-2A1614A33E9F}"/>
              </a:ext>
            </a:extLst>
          </p:cNvPr>
          <p:cNvSpPr>
            <a:spLocks noChangeArrowheads="1"/>
          </p:cNvSpPr>
          <p:nvPr/>
        </p:nvSpPr>
        <p:spPr bwMode="auto">
          <a:xfrm>
            <a:off x="1916660" y="1798042"/>
            <a:ext cx="656832" cy="428637"/>
          </a:xfrm>
          <a:prstGeom prst="roundRect">
            <a:avLst>
              <a:gd name="adj" fmla="val 16667"/>
            </a:avLst>
          </a:prstGeom>
          <a:solidFill>
            <a:schemeClr val="accent6">
              <a:lumMod val="20000"/>
              <a:lumOff val="80000"/>
            </a:schemeClr>
          </a:solidFill>
          <a:ln/>
        </p:spPr>
        <p:style>
          <a:lnRef idx="2">
            <a:schemeClr val="accent2"/>
          </a:lnRef>
          <a:fillRef idx="1">
            <a:schemeClr val="lt1"/>
          </a:fillRef>
          <a:effectRef idx="0">
            <a:schemeClr val="accent2"/>
          </a:effectRef>
          <a:fontRef idx="minor">
            <a:schemeClr val="dk1"/>
          </a:fontRef>
        </p:style>
        <p:txBody>
          <a:bodyPr anchor="ctr">
            <a:flatTx/>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endParaRPr lang="zh-CN" altLang="en-US" sz="908">
              <a:solidFill>
                <a:srgbClr val="000000"/>
              </a:solidFill>
              <a:latin typeface="SimSun" panose="02010600030101010101" pitchFamily="2" charset="-122"/>
              <a:ea typeface="SimSun" panose="02010600030101010101" pitchFamily="2" charset="-122"/>
            </a:endParaRPr>
          </a:p>
        </p:txBody>
      </p:sp>
      <p:sp>
        <p:nvSpPr>
          <p:cNvPr id="50" name="AutoShape 10">
            <a:extLst>
              <a:ext uri="{FF2B5EF4-FFF2-40B4-BE49-F238E27FC236}">
                <a16:creationId xmlns:a16="http://schemas.microsoft.com/office/drawing/2014/main" id="{66116FCA-E892-8170-118F-43084649589D}"/>
              </a:ext>
            </a:extLst>
          </p:cNvPr>
          <p:cNvSpPr>
            <a:spLocks noChangeArrowheads="1"/>
          </p:cNvSpPr>
          <p:nvPr/>
        </p:nvSpPr>
        <p:spPr bwMode="auto">
          <a:xfrm>
            <a:off x="3557293" y="1758449"/>
            <a:ext cx="656511" cy="468230"/>
          </a:xfrm>
          <a:prstGeom prst="roundRect">
            <a:avLst>
              <a:gd name="adj" fmla="val 16667"/>
            </a:avLst>
          </a:prstGeom>
          <a:solidFill>
            <a:schemeClr val="accent6">
              <a:lumMod val="20000"/>
              <a:lumOff val="80000"/>
            </a:schemeClr>
          </a:solidFill>
          <a:ln/>
        </p:spPr>
        <p:style>
          <a:lnRef idx="2">
            <a:schemeClr val="accent2"/>
          </a:lnRef>
          <a:fillRef idx="1">
            <a:schemeClr val="lt1"/>
          </a:fillRef>
          <a:effectRef idx="0">
            <a:schemeClr val="accent2"/>
          </a:effectRef>
          <a:fontRef idx="minor">
            <a:schemeClr val="dk1"/>
          </a:fontRef>
        </p:style>
        <p:txBody>
          <a:bodyPr anchor="ctr">
            <a:flatTx/>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endParaRPr lang="zh-CN" altLang="en-US" sz="908">
              <a:solidFill>
                <a:srgbClr val="000000"/>
              </a:solidFill>
              <a:latin typeface="SimSun" panose="02010600030101010101" pitchFamily="2" charset="-122"/>
              <a:ea typeface="SimSun" panose="02010600030101010101" pitchFamily="2" charset="-122"/>
            </a:endParaRPr>
          </a:p>
        </p:txBody>
      </p:sp>
      <p:sp>
        <p:nvSpPr>
          <p:cNvPr id="51" name="Text Box 11">
            <a:extLst>
              <a:ext uri="{FF2B5EF4-FFF2-40B4-BE49-F238E27FC236}">
                <a16:creationId xmlns:a16="http://schemas.microsoft.com/office/drawing/2014/main" id="{20B11ACD-EDDF-4C75-3BE5-BC870CCACA71}"/>
              </a:ext>
            </a:extLst>
          </p:cNvPr>
          <p:cNvSpPr txBox="1">
            <a:spLocks noChangeArrowheads="1"/>
          </p:cNvSpPr>
          <p:nvPr/>
        </p:nvSpPr>
        <p:spPr bwMode="auto">
          <a:xfrm>
            <a:off x="467376" y="1846586"/>
            <a:ext cx="495649" cy="278538"/>
          </a:xfrm>
          <a:prstGeom prst="rect">
            <a:avLst/>
          </a:prstGeom>
          <a:noFill/>
          <a:ln>
            <a:noFill/>
          </a:ln>
        </p:spPr>
        <p:style>
          <a:lnRef idx="2">
            <a:schemeClr val="accent2"/>
          </a:lnRef>
          <a:fillRef idx="1">
            <a:schemeClr val="lt1"/>
          </a:fillRef>
          <a:effectRef idx="0">
            <a:schemeClr val="accent2"/>
          </a:effectRef>
          <a:fontRef idx="minor">
            <a:schemeClr val="dk1"/>
          </a:fontRef>
        </p:style>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1210" dirty="0">
                <a:solidFill>
                  <a:srgbClr val="000000"/>
                </a:solidFill>
                <a:latin typeface="SimSun" panose="02010600030101010101" pitchFamily="2" charset="-122"/>
                <a:ea typeface="SimSun" panose="02010600030101010101" pitchFamily="2" charset="-122"/>
              </a:rPr>
              <a:t>家庭</a:t>
            </a:r>
          </a:p>
        </p:txBody>
      </p:sp>
      <p:sp>
        <p:nvSpPr>
          <p:cNvPr id="52" name="Text Box 12">
            <a:extLst>
              <a:ext uri="{FF2B5EF4-FFF2-40B4-BE49-F238E27FC236}">
                <a16:creationId xmlns:a16="http://schemas.microsoft.com/office/drawing/2014/main" id="{A27DD192-49E9-1EF2-22B3-CA68E6304CC6}"/>
              </a:ext>
            </a:extLst>
          </p:cNvPr>
          <p:cNvSpPr txBox="1">
            <a:spLocks noChangeArrowheads="1"/>
          </p:cNvSpPr>
          <p:nvPr/>
        </p:nvSpPr>
        <p:spPr bwMode="auto">
          <a:xfrm>
            <a:off x="1978766" y="1843143"/>
            <a:ext cx="495649" cy="278538"/>
          </a:xfrm>
          <a:prstGeom prst="rect">
            <a:avLst/>
          </a:prstGeom>
          <a:noFill/>
          <a:ln>
            <a:noFill/>
          </a:ln>
        </p:spPr>
        <p:style>
          <a:lnRef idx="2">
            <a:schemeClr val="accent2"/>
          </a:lnRef>
          <a:fillRef idx="1">
            <a:schemeClr val="lt1"/>
          </a:fillRef>
          <a:effectRef idx="0">
            <a:schemeClr val="accent2"/>
          </a:effectRef>
          <a:fontRef idx="minor">
            <a:schemeClr val="dk1"/>
          </a:fontRef>
        </p:style>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1210" dirty="0">
                <a:solidFill>
                  <a:srgbClr val="000000"/>
                </a:solidFill>
                <a:latin typeface="SimSun" panose="02010600030101010101" pitchFamily="2" charset="-122"/>
                <a:ea typeface="SimSun" panose="02010600030101010101" pitchFamily="2" charset="-122"/>
              </a:rPr>
              <a:t>政府</a:t>
            </a:r>
          </a:p>
        </p:txBody>
      </p:sp>
      <p:sp>
        <p:nvSpPr>
          <p:cNvPr id="53" name="Text Box 13">
            <a:extLst>
              <a:ext uri="{FF2B5EF4-FFF2-40B4-BE49-F238E27FC236}">
                <a16:creationId xmlns:a16="http://schemas.microsoft.com/office/drawing/2014/main" id="{A5990DDA-BE5E-C1EE-873E-C3C5D63F514F}"/>
              </a:ext>
            </a:extLst>
          </p:cNvPr>
          <p:cNvSpPr txBox="1">
            <a:spLocks noChangeArrowheads="1"/>
          </p:cNvSpPr>
          <p:nvPr/>
        </p:nvSpPr>
        <p:spPr bwMode="auto">
          <a:xfrm>
            <a:off x="3593302" y="1858292"/>
            <a:ext cx="583530" cy="278538"/>
          </a:xfrm>
          <a:prstGeom prst="rect">
            <a:avLst/>
          </a:prstGeom>
          <a:noFill/>
          <a:ln>
            <a:noFill/>
          </a:ln>
        </p:spPr>
        <p:style>
          <a:lnRef idx="2">
            <a:schemeClr val="accent2"/>
          </a:lnRef>
          <a:fillRef idx="1">
            <a:schemeClr val="lt1"/>
          </a:fillRef>
          <a:effectRef idx="0">
            <a:schemeClr val="accent2"/>
          </a:effectRef>
          <a:fontRef idx="minor">
            <a:schemeClr val="dk1"/>
          </a:fontRef>
        </p:style>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1210" dirty="0">
                <a:solidFill>
                  <a:srgbClr val="000000"/>
                </a:solidFill>
                <a:latin typeface="SimSun" panose="02010600030101010101" pitchFamily="2" charset="-122"/>
                <a:ea typeface="SimSun" panose="02010600030101010101" pitchFamily="2" charset="-122"/>
              </a:rPr>
              <a:t>企业</a:t>
            </a:r>
          </a:p>
        </p:txBody>
      </p:sp>
      <p:cxnSp>
        <p:nvCxnSpPr>
          <p:cNvPr id="46" name="AutoShape 15">
            <a:extLst>
              <a:ext uri="{FF2B5EF4-FFF2-40B4-BE49-F238E27FC236}">
                <a16:creationId xmlns:a16="http://schemas.microsoft.com/office/drawing/2014/main" id="{48FD0E6B-86B2-3A8C-9856-B680F402355F}"/>
              </a:ext>
            </a:extLst>
          </p:cNvPr>
          <p:cNvCxnSpPr>
            <a:cxnSpLocks noChangeShapeType="1"/>
            <a:stCxn id="48" idx="0"/>
            <a:endCxn id="9" idx="1"/>
          </p:cNvCxnSpPr>
          <p:nvPr/>
        </p:nvCxnSpPr>
        <p:spPr bwMode="auto">
          <a:xfrm rot="5400000" flipH="1" flipV="1">
            <a:off x="875467" y="938454"/>
            <a:ext cx="697349" cy="1020452"/>
          </a:xfrm>
          <a:prstGeom prst="curvedConnector2">
            <a:avLst/>
          </a:prstGeom>
          <a:ln>
            <a:tailEnd type="triangle" w="lg" len="lg"/>
          </a:ln>
        </p:spPr>
        <p:style>
          <a:lnRef idx="2">
            <a:schemeClr val="accent2"/>
          </a:lnRef>
          <a:fillRef idx="1">
            <a:schemeClr val="lt1"/>
          </a:fillRef>
          <a:effectRef idx="0">
            <a:schemeClr val="accent2"/>
          </a:effectRef>
          <a:fontRef idx="minor">
            <a:schemeClr val="dk1"/>
          </a:fontRef>
        </p:style>
      </p:cxnSp>
      <p:sp>
        <p:nvSpPr>
          <p:cNvPr id="47" name="Text Box 16">
            <a:extLst>
              <a:ext uri="{FF2B5EF4-FFF2-40B4-BE49-F238E27FC236}">
                <a16:creationId xmlns:a16="http://schemas.microsoft.com/office/drawing/2014/main" id="{D7E69DD4-B34F-B164-A3A9-ABAA1F671762}"/>
              </a:ext>
            </a:extLst>
          </p:cNvPr>
          <p:cNvSpPr txBox="1">
            <a:spLocks noChangeArrowheads="1"/>
          </p:cNvSpPr>
          <p:nvPr/>
        </p:nvSpPr>
        <p:spPr bwMode="auto">
          <a:xfrm>
            <a:off x="829670" y="1177333"/>
            <a:ext cx="704039" cy="247440"/>
          </a:xfrm>
          <a:prstGeom prst="rect">
            <a:avLst/>
          </a:prstGeom>
          <a:ln/>
        </p:spPr>
        <p:style>
          <a:lnRef idx="2">
            <a:schemeClr val="accent2"/>
          </a:lnRef>
          <a:fillRef idx="1">
            <a:schemeClr val="lt1"/>
          </a:fillRef>
          <a:effectRef idx="0">
            <a:schemeClr val="accent2"/>
          </a:effectRef>
          <a:fontRef idx="minor">
            <a:schemeClr val="dk1"/>
          </a:fontRef>
        </p:style>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1008" dirty="0">
                <a:solidFill>
                  <a:srgbClr val="000000"/>
                </a:solidFill>
                <a:latin typeface="SimSun" panose="02010600030101010101" pitchFamily="2" charset="-122"/>
                <a:ea typeface="SimSun" panose="02010600030101010101" pitchFamily="2" charset="-122"/>
              </a:rPr>
              <a:t>私人储蓄</a:t>
            </a:r>
          </a:p>
        </p:txBody>
      </p:sp>
      <p:sp>
        <p:nvSpPr>
          <p:cNvPr id="41" name="Line 18">
            <a:extLst>
              <a:ext uri="{FF2B5EF4-FFF2-40B4-BE49-F238E27FC236}">
                <a16:creationId xmlns:a16="http://schemas.microsoft.com/office/drawing/2014/main" id="{7FB2FEDB-083C-C782-369C-C658EE60D42E}"/>
              </a:ext>
            </a:extLst>
          </p:cNvPr>
          <p:cNvSpPr>
            <a:spLocks noChangeShapeType="1"/>
          </p:cNvSpPr>
          <p:nvPr/>
        </p:nvSpPr>
        <p:spPr bwMode="auto">
          <a:xfrm flipH="1">
            <a:off x="2206806" y="1311909"/>
            <a:ext cx="964" cy="477864"/>
          </a:xfrm>
          <a:prstGeom prst="line">
            <a:avLst/>
          </a:prstGeom>
          <a:ln>
            <a:tailEnd type="triangle" w="lg" len="lg"/>
          </a:ln>
        </p:spPr>
        <p:style>
          <a:lnRef idx="2">
            <a:schemeClr val="accent2"/>
          </a:lnRef>
          <a:fillRef idx="1">
            <a:schemeClr val="lt1"/>
          </a:fillRef>
          <a:effectRef idx="0">
            <a:schemeClr val="accent2"/>
          </a:effectRef>
          <a:fontRef idx="minor">
            <a:schemeClr val="dk1"/>
          </a:fontRef>
        </p:style>
        <p:txBody>
          <a:bodyPr/>
          <a:lstStyle/>
          <a:p>
            <a:pPr algn="ctr" defTabSz="230520"/>
            <a:endParaRPr lang="zh-CN" altLang="en-US" sz="908">
              <a:solidFill>
                <a:srgbClr val="000000"/>
              </a:solidFill>
              <a:latin typeface="SimSun" panose="02010600030101010101" pitchFamily="2" charset="-122"/>
              <a:ea typeface="SimSun" panose="02010600030101010101" pitchFamily="2" charset="-122"/>
            </a:endParaRPr>
          </a:p>
        </p:txBody>
      </p:sp>
      <p:sp>
        <p:nvSpPr>
          <p:cNvPr id="42" name="Line 19">
            <a:extLst>
              <a:ext uri="{FF2B5EF4-FFF2-40B4-BE49-F238E27FC236}">
                <a16:creationId xmlns:a16="http://schemas.microsoft.com/office/drawing/2014/main" id="{D37ABF54-87D8-7264-7B6A-EF2D00B4B610}"/>
              </a:ext>
            </a:extLst>
          </p:cNvPr>
          <p:cNvSpPr>
            <a:spLocks noChangeShapeType="1"/>
          </p:cNvSpPr>
          <p:nvPr/>
        </p:nvSpPr>
        <p:spPr bwMode="auto">
          <a:xfrm flipH="1">
            <a:off x="1041527" y="1311909"/>
            <a:ext cx="1166243" cy="485444"/>
          </a:xfrm>
          <a:prstGeom prst="line">
            <a:avLst/>
          </a:prstGeom>
          <a:ln>
            <a:tailEnd type="triangle" w="lg" len="lg"/>
          </a:ln>
        </p:spPr>
        <p:style>
          <a:lnRef idx="2">
            <a:schemeClr val="accent2"/>
          </a:lnRef>
          <a:fillRef idx="1">
            <a:schemeClr val="lt1"/>
          </a:fillRef>
          <a:effectRef idx="0">
            <a:schemeClr val="accent2"/>
          </a:effectRef>
          <a:fontRef idx="minor">
            <a:schemeClr val="dk1"/>
          </a:fontRef>
        </p:style>
        <p:txBody>
          <a:bodyPr/>
          <a:lstStyle/>
          <a:p>
            <a:pPr algn="ctr" defTabSz="230520"/>
            <a:endParaRPr lang="zh-CN" altLang="en-US" sz="908">
              <a:solidFill>
                <a:srgbClr val="000000"/>
              </a:solidFill>
              <a:latin typeface="SimSun" panose="02010600030101010101" pitchFamily="2" charset="-122"/>
              <a:ea typeface="SimSun" panose="02010600030101010101" pitchFamily="2" charset="-122"/>
            </a:endParaRPr>
          </a:p>
        </p:txBody>
      </p:sp>
      <p:sp>
        <p:nvSpPr>
          <p:cNvPr id="43" name="Line 20">
            <a:extLst>
              <a:ext uri="{FF2B5EF4-FFF2-40B4-BE49-F238E27FC236}">
                <a16:creationId xmlns:a16="http://schemas.microsoft.com/office/drawing/2014/main" id="{F1AE79A2-6C08-0EF0-6553-D054130BCA31}"/>
              </a:ext>
            </a:extLst>
          </p:cNvPr>
          <p:cNvSpPr>
            <a:spLocks noChangeShapeType="1"/>
          </p:cNvSpPr>
          <p:nvPr/>
        </p:nvSpPr>
        <p:spPr bwMode="auto">
          <a:xfrm>
            <a:off x="2207770" y="1311908"/>
            <a:ext cx="1348559" cy="468218"/>
          </a:xfrm>
          <a:prstGeom prst="line">
            <a:avLst/>
          </a:prstGeom>
          <a:ln>
            <a:tailEnd type="triangle" w="lg" len="lg"/>
          </a:ln>
        </p:spPr>
        <p:style>
          <a:lnRef idx="2">
            <a:schemeClr val="accent2"/>
          </a:lnRef>
          <a:fillRef idx="1">
            <a:schemeClr val="lt1"/>
          </a:fillRef>
          <a:effectRef idx="0">
            <a:schemeClr val="accent2"/>
          </a:effectRef>
          <a:fontRef idx="minor">
            <a:schemeClr val="dk1"/>
          </a:fontRef>
        </p:style>
        <p:txBody>
          <a:bodyPr/>
          <a:lstStyle/>
          <a:p>
            <a:pPr algn="ctr" defTabSz="230520"/>
            <a:endParaRPr lang="zh-CN" altLang="en-US" sz="908">
              <a:solidFill>
                <a:srgbClr val="000000"/>
              </a:solidFill>
              <a:latin typeface="SimSun" panose="02010600030101010101" pitchFamily="2" charset="-122"/>
              <a:ea typeface="SimSun" panose="02010600030101010101" pitchFamily="2" charset="-122"/>
            </a:endParaRPr>
          </a:p>
        </p:txBody>
      </p:sp>
      <p:sp>
        <p:nvSpPr>
          <p:cNvPr id="44" name="Text Box 21">
            <a:extLst>
              <a:ext uri="{FF2B5EF4-FFF2-40B4-BE49-F238E27FC236}">
                <a16:creationId xmlns:a16="http://schemas.microsoft.com/office/drawing/2014/main" id="{E7C27DFC-E942-6659-A43A-C9022A20AD31}"/>
              </a:ext>
            </a:extLst>
          </p:cNvPr>
          <p:cNvSpPr txBox="1">
            <a:spLocks noChangeArrowheads="1"/>
          </p:cNvSpPr>
          <p:nvPr/>
        </p:nvSpPr>
        <p:spPr bwMode="auto">
          <a:xfrm>
            <a:off x="2787194" y="1387706"/>
            <a:ext cx="218651" cy="371768"/>
          </a:xfrm>
          <a:prstGeom prst="rect">
            <a:avLst/>
          </a:prstGeom>
          <a:ln/>
        </p:spPr>
        <p:style>
          <a:lnRef idx="2">
            <a:schemeClr val="accent2"/>
          </a:lnRef>
          <a:fillRef idx="1">
            <a:schemeClr val="lt1"/>
          </a:fillRef>
          <a:effectRef idx="0">
            <a:schemeClr val="accent2"/>
          </a:effectRef>
          <a:fontRef idx="minor">
            <a:schemeClr val="dk1"/>
          </a:fontRef>
        </p:style>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908" dirty="0">
                <a:solidFill>
                  <a:srgbClr val="000000"/>
                </a:solidFill>
                <a:latin typeface="SimSun" panose="02010600030101010101" pitchFamily="2" charset="-122"/>
                <a:ea typeface="SimSun" panose="02010600030101010101" pitchFamily="2" charset="-122"/>
              </a:rPr>
              <a:t>借    贷</a:t>
            </a:r>
          </a:p>
        </p:txBody>
      </p:sp>
      <p:sp>
        <p:nvSpPr>
          <p:cNvPr id="45" name="Text Box 22">
            <a:extLst>
              <a:ext uri="{FF2B5EF4-FFF2-40B4-BE49-F238E27FC236}">
                <a16:creationId xmlns:a16="http://schemas.microsoft.com/office/drawing/2014/main" id="{50B0F4F6-7482-38F8-3472-CCF0A161B3D5}"/>
              </a:ext>
            </a:extLst>
          </p:cNvPr>
          <p:cNvSpPr txBox="1">
            <a:spLocks noChangeArrowheads="1"/>
          </p:cNvSpPr>
          <p:nvPr/>
        </p:nvSpPr>
        <p:spPr bwMode="auto">
          <a:xfrm>
            <a:off x="1515805" y="1390117"/>
            <a:ext cx="217686" cy="371768"/>
          </a:xfrm>
          <a:prstGeom prst="rect">
            <a:avLst/>
          </a:prstGeom>
          <a:ln/>
        </p:spPr>
        <p:style>
          <a:lnRef idx="2">
            <a:schemeClr val="accent2"/>
          </a:lnRef>
          <a:fillRef idx="1">
            <a:schemeClr val="lt1"/>
          </a:fillRef>
          <a:effectRef idx="0">
            <a:schemeClr val="accent2"/>
          </a:effectRef>
          <a:fontRef idx="minor">
            <a:schemeClr val="dk1"/>
          </a:fontRef>
        </p:style>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908" dirty="0">
                <a:solidFill>
                  <a:srgbClr val="000000"/>
                </a:solidFill>
                <a:latin typeface="SimSun" panose="02010600030101010101" pitchFamily="2" charset="-122"/>
                <a:ea typeface="SimSun" panose="02010600030101010101" pitchFamily="2" charset="-122"/>
              </a:rPr>
              <a:t>借     贷</a:t>
            </a:r>
          </a:p>
        </p:txBody>
      </p:sp>
      <p:cxnSp>
        <p:nvCxnSpPr>
          <p:cNvPr id="34" name="AutoShape 25">
            <a:extLst>
              <a:ext uri="{FF2B5EF4-FFF2-40B4-BE49-F238E27FC236}">
                <a16:creationId xmlns:a16="http://schemas.microsoft.com/office/drawing/2014/main" id="{899985C2-5A8A-F36E-C626-10718C84369D}"/>
              </a:ext>
            </a:extLst>
          </p:cNvPr>
          <p:cNvCxnSpPr>
            <a:cxnSpLocks noChangeShapeType="1"/>
            <a:stCxn id="50" idx="0"/>
            <a:endCxn id="39" idx="3"/>
          </p:cNvCxnSpPr>
          <p:nvPr/>
        </p:nvCxnSpPr>
        <p:spPr bwMode="auto">
          <a:xfrm rot="16200000" flipV="1">
            <a:off x="2832633" y="705533"/>
            <a:ext cx="1038937" cy="1066896"/>
          </a:xfrm>
          <a:prstGeom prst="bentConnector2">
            <a:avLst/>
          </a:prstGeom>
          <a:ln>
            <a:tailEnd type="triangle" w="lg" len="lg"/>
          </a:ln>
        </p:spPr>
        <p:style>
          <a:lnRef idx="2">
            <a:schemeClr val="accent2"/>
          </a:lnRef>
          <a:fillRef idx="1">
            <a:schemeClr val="lt1"/>
          </a:fillRef>
          <a:effectRef idx="0">
            <a:schemeClr val="accent2"/>
          </a:effectRef>
          <a:fontRef idx="minor">
            <a:schemeClr val="dk1"/>
          </a:fontRef>
        </p:style>
      </p:cxnSp>
      <p:sp>
        <p:nvSpPr>
          <p:cNvPr id="39" name="Text Box 27">
            <a:extLst>
              <a:ext uri="{FF2B5EF4-FFF2-40B4-BE49-F238E27FC236}">
                <a16:creationId xmlns:a16="http://schemas.microsoft.com/office/drawing/2014/main" id="{9D8C9045-AB36-0021-1F61-64C88C498A0F}"/>
              </a:ext>
            </a:extLst>
          </p:cNvPr>
          <p:cNvSpPr txBox="1">
            <a:spLocks noChangeArrowheads="1"/>
          </p:cNvSpPr>
          <p:nvPr/>
        </p:nvSpPr>
        <p:spPr bwMode="auto">
          <a:xfrm>
            <a:off x="1502435" y="595792"/>
            <a:ext cx="1316218" cy="247440"/>
          </a:xfrm>
          <a:prstGeom prst="rect">
            <a:avLst/>
          </a:prstGeom>
          <a:solidFill>
            <a:schemeClr val="bg1">
              <a:lumMod val="85000"/>
            </a:schemeClr>
          </a:solidFill>
          <a:ln/>
        </p:spPr>
        <p:style>
          <a:lnRef idx="2">
            <a:schemeClr val="accent2"/>
          </a:lnRef>
          <a:fillRef idx="1">
            <a:schemeClr val="lt1"/>
          </a:fillRef>
          <a:effectRef idx="0">
            <a:schemeClr val="accent2"/>
          </a:effectRef>
          <a:fontRef idx="minor">
            <a:schemeClr val="dk1"/>
          </a:fontRef>
        </p:style>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1008" dirty="0">
                <a:solidFill>
                  <a:srgbClr val="000000"/>
                </a:solidFill>
                <a:latin typeface="SimSun" panose="02010600030101010101" pitchFamily="2" charset="-122"/>
                <a:ea typeface="SimSun" panose="02010600030101010101" pitchFamily="2" charset="-122"/>
              </a:rPr>
              <a:t>生产要素市场</a:t>
            </a:r>
          </a:p>
        </p:txBody>
      </p:sp>
      <p:sp>
        <p:nvSpPr>
          <p:cNvPr id="40" name="Text Box 28">
            <a:extLst>
              <a:ext uri="{FF2B5EF4-FFF2-40B4-BE49-F238E27FC236}">
                <a16:creationId xmlns:a16="http://schemas.microsoft.com/office/drawing/2014/main" id="{882CD2C9-612F-D01C-2D1F-872ED62F19B0}"/>
              </a:ext>
            </a:extLst>
          </p:cNvPr>
          <p:cNvSpPr txBox="1">
            <a:spLocks noChangeArrowheads="1"/>
          </p:cNvSpPr>
          <p:nvPr/>
        </p:nvSpPr>
        <p:spPr bwMode="auto">
          <a:xfrm>
            <a:off x="1431211" y="2765157"/>
            <a:ext cx="1564716" cy="278538"/>
          </a:xfrm>
          <a:prstGeom prst="rect">
            <a:avLst/>
          </a:prstGeom>
          <a:solidFill>
            <a:schemeClr val="bg1">
              <a:lumMod val="85000"/>
            </a:schemeClr>
          </a:solidFill>
          <a:ln/>
        </p:spPr>
        <p:style>
          <a:lnRef idx="2">
            <a:schemeClr val="accent2"/>
          </a:lnRef>
          <a:fillRef idx="1">
            <a:schemeClr val="lt1"/>
          </a:fillRef>
          <a:effectRef idx="0">
            <a:schemeClr val="accent2"/>
          </a:effectRef>
          <a:fontRef idx="minor">
            <a:schemeClr val="dk1"/>
          </a:fontRef>
        </p:style>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1210" dirty="0">
                <a:solidFill>
                  <a:srgbClr val="000000"/>
                </a:solidFill>
                <a:latin typeface="SimSun" panose="02010600030101010101" pitchFamily="2" charset="-122"/>
                <a:ea typeface="SimSun" panose="02010600030101010101" pitchFamily="2" charset="-122"/>
              </a:rPr>
              <a:t>产品与服务市场</a:t>
            </a:r>
          </a:p>
        </p:txBody>
      </p:sp>
      <p:cxnSp>
        <p:nvCxnSpPr>
          <p:cNvPr id="36" name="AutoShape 29">
            <a:extLst>
              <a:ext uri="{FF2B5EF4-FFF2-40B4-BE49-F238E27FC236}">
                <a16:creationId xmlns:a16="http://schemas.microsoft.com/office/drawing/2014/main" id="{D928FCB3-31C3-83F8-85DA-944825496330}"/>
              </a:ext>
            </a:extLst>
          </p:cNvPr>
          <p:cNvCxnSpPr>
            <a:cxnSpLocks noChangeShapeType="1"/>
            <a:stCxn id="39" idx="1"/>
            <a:endCxn id="48" idx="0"/>
          </p:cNvCxnSpPr>
          <p:nvPr/>
        </p:nvCxnSpPr>
        <p:spPr bwMode="auto">
          <a:xfrm rot="10800000" flipV="1">
            <a:off x="713915" y="719512"/>
            <a:ext cx="788520" cy="1077842"/>
          </a:xfrm>
          <a:prstGeom prst="bentConnector2">
            <a:avLst/>
          </a:prstGeom>
          <a:ln>
            <a:tailEnd type="triangle" w="lg" len="lg"/>
          </a:ln>
        </p:spPr>
        <p:style>
          <a:lnRef idx="2">
            <a:schemeClr val="accent2"/>
          </a:lnRef>
          <a:fillRef idx="1">
            <a:schemeClr val="lt1"/>
          </a:fillRef>
          <a:effectRef idx="0">
            <a:schemeClr val="accent2"/>
          </a:effectRef>
          <a:fontRef idx="minor">
            <a:schemeClr val="dk1"/>
          </a:fontRef>
        </p:style>
      </p:cxnSp>
      <p:cxnSp>
        <p:nvCxnSpPr>
          <p:cNvPr id="37" name="AutoShape 30">
            <a:extLst>
              <a:ext uri="{FF2B5EF4-FFF2-40B4-BE49-F238E27FC236}">
                <a16:creationId xmlns:a16="http://schemas.microsoft.com/office/drawing/2014/main" id="{37618D8F-0445-5AB0-7806-1864B0162A7D}"/>
              </a:ext>
            </a:extLst>
          </p:cNvPr>
          <p:cNvCxnSpPr>
            <a:cxnSpLocks noChangeShapeType="1"/>
            <a:stCxn id="48" idx="2"/>
            <a:endCxn id="40" idx="1"/>
          </p:cNvCxnSpPr>
          <p:nvPr/>
        </p:nvCxnSpPr>
        <p:spPr bwMode="auto">
          <a:xfrm rot="16200000" flipH="1">
            <a:off x="733690" y="2206905"/>
            <a:ext cx="677746" cy="717296"/>
          </a:xfrm>
          <a:prstGeom prst="bentConnector2">
            <a:avLst/>
          </a:prstGeom>
          <a:ln>
            <a:tailEnd type="triangle" w="lg" len="lg"/>
          </a:ln>
        </p:spPr>
        <p:style>
          <a:lnRef idx="2">
            <a:schemeClr val="accent2"/>
          </a:lnRef>
          <a:fillRef idx="1">
            <a:schemeClr val="lt1"/>
          </a:fillRef>
          <a:effectRef idx="0">
            <a:schemeClr val="accent2"/>
          </a:effectRef>
          <a:fontRef idx="minor">
            <a:schemeClr val="dk1"/>
          </a:fontRef>
        </p:style>
      </p:cxnSp>
      <p:cxnSp>
        <p:nvCxnSpPr>
          <p:cNvPr id="38" name="AutoShape 31">
            <a:extLst>
              <a:ext uri="{FF2B5EF4-FFF2-40B4-BE49-F238E27FC236}">
                <a16:creationId xmlns:a16="http://schemas.microsoft.com/office/drawing/2014/main" id="{EBEFA119-0F3D-C88F-C2E2-151B68E3CAFF}"/>
              </a:ext>
            </a:extLst>
          </p:cNvPr>
          <p:cNvCxnSpPr>
            <a:cxnSpLocks noChangeShapeType="1"/>
            <a:stCxn id="40" idx="3"/>
            <a:endCxn id="50" idx="2"/>
          </p:cNvCxnSpPr>
          <p:nvPr/>
        </p:nvCxnSpPr>
        <p:spPr bwMode="auto">
          <a:xfrm flipV="1">
            <a:off x="2995927" y="2226679"/>
            <a:ext cx="889622" cy="677747"/>
          </a:xfrm>
          <a:prstGeom prst="bentConnector2">
            <a:avLst/>
          </a:prstGeom>
          <a:ln>
            <a:tailEnd type="triangle" w="lg" len="lg"/>
          </a:ln>
        </p:spPr>
        <p:style>
          <a:lnRef idx="2">
            <a:schemeClr val="accent2"/>
          </a:lnRef>
          <a:fillRef idx="1">
            <a:schemeClr val="lt1"/>
          </a:fillRef>
          <a:effectRef idx="0">
            <a:schemeClr val="accent2"/>
          </a:effectRef>
          <a:fontRef idx="minor">
            <a:schemeClr val="dk1"/>
          </a:fontRef>
        </p:style>
      </p:cxnSp>
      <p:sp>
        <p:nvSpPr>
          <p:cNvPr id="30" name="Text Box 32">
            <a:extLst>
              <a:ext uri="{FF2B5EF4-FFF2-40B4-BE49-F238E27FC236}">
                <a16:creationId xmlns:a16="http://schemas.microsoft.com/office/drawing/2014/main" id="{24335635-0977-3381-47C2-BF6A73CE3339}"/>
              </a:ext>
            </a:extLst>
          </p:cNvPr>
          <p:cNvSpPr txBox="1">
            <a:spLocks noChangeArrowheads="1"/>
          </p:cNvSpPr>
          <p:nvPr/>
        </p:nvSpPr>
        <p:spPr bwMode="auto">
          <a:xfrm>
            <a:off x="312034" y="898463"/>
            <a:ext cx="788790" cy="247440"/>
          </a:xfrm>
          <a:prstGeom prst="rect">
            <a:avLst/>
          </a:prstGeom>
          <a:ln/>
        </p:spPr>
        <p:style>
          <a:lnRef idx="2">
            <a:schemeClr val="accent2"/>
          </a:lnRef>
          <a:fillRef idx="1">
            <a:schemeClr val="lt1"/>
          </a:fillRef>
          <a:effectRef idx="0">
            <a:schemeClr val="accent2"/>
          </a:effectRef>
          <a:fontRef idx="minor">
            <a:schemeClr val="dk1"/>
          </a:fontRef>
        </p:style>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1008" dirty="0">
                <a:solidFill>
                  <a:srgbClr val="000000"/>
                </a:solidFill>
                <a:latin typeface="SimSun" panose="02010600030101010101" pitchFamily="2" charset="-122"/>
                <a:ea typeface="SimSun" panose="02010600030101010101" pitchFamily="2" charset="-122"/>
              </a:rPr>
              <a:t>家庭收入</a:t>
            </a:r>
          </a:p>
        </p:txBody>
      </p:sp>
      <p:sp>
        <p:nvSpPr>
          <p:cNvPr id="31" name="Text Box 33">
            <a:extLst>
              <a:ext uri="{FF2B5EF4-FFF2-40B4-BE49-F238E27FC236}">
                <a16:creationId xmlns:a16="http://schemas.microsoft.com/office/drawing/2014/main" id="{794E8E5C-769E-66DC-916F-A3747403D42B}"/>
              </a:ext>
            </a:extLst>
          </p:cNvPr>
          <p:cNvSpPr txBox="1">
            <a:spLocks noChangeArrowheads="1"/>
          </p:cNvSpPr>
          <p:nvPr/>
        </p:nvSpPr>
        <p:spPr bwMode="auto">
          <a:xfrm>
            <a:off x="3442200" y="909201"/>
            <a:ext cx="886781" cy="232051"/>
          </a:xfrm>
          <a:prstGeom prst="rect">
            <a:avLst/>
          </a:prstGeom>
          <a:ln/>
        </p:spPr>
        <p:style>
          <a:lnRef idx="2">
            <a:schemeClr val="accent2"/>
          </a:lnRef>
          <a:fillRef idx="1">
            <a:schemeClr val="lt1"/>
          </a:fillRef>
          <a:effectRef idx="0">
            <a:schemeClr val="accent2"/>
          </a:effectRef>
          <a:fontRef idx="minor">
            <a:schemeClr val="dk1"/>
          </a:fontRef>
        </p:style>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908" dirty="0">
                <a:solidFill>
                  <a:srgbClr val="000000"/>
                </a:solidFill>
                <a:latin typeface="SimSun" panose="02010600030101010101" pitchFamily="2" charset="-122"/>
                <a:ea typeface="SimSun" panose="02010600030101010101" pitchFamily="2" charset="-122"/>
              </a:rPr>
              <a:t>生产要素支付</a:t>
            </a:r>
          </a:p>
        </p:txBody>
      </p:sp>
      <p:sp>
        <p:nvSpPr>
          <p:cNvPr id="32" name="Text Box 34">
            <a:extLst>
              <a:ext uri="{FF2B5EF4-FFF2-40B4-BE49-F238E27FC236}">
                <a16:creationId xmlns:a16="http://schemas.microsoft.com/office/drawing/2014/main" id="{074EE7DF-EE8C-B85F-2DD5-61CD5799C8DB}"/>
              </a:ext>
            </a:extLst>
          </p:cNvPr>
          <p:cNvSpPr txBox="1">
            <a:spLocks noChangeArrowheads="1"/>
          </p:cNvSpPr>
          <p:nvPr/>
        </p:nvSpPr>
        <p:spPr bwMode="auto">
          <a:xfrm>
            <a:off x="733378" y="2803075"/>
            <a:ext cx="444352" cy="247440"/>
          </a:xfrm>
          <a:prstGeom prst="rect">
            <a:avLst/>
          </a:prstGeom>
          <a:ln/>
        </p:spPr>
        <p:style>
          <a:lnRef idx="2">
            <a:schemeClr val="accent2"/>
          </a:lnRef>
          <a:fillRef idx="1">
            <a:schemeClr val="lt1"/>
          </a:fillRef>
          <a:effectRef idx="0">
            <a:schemeClr val="accent2"/>
          </a:effectRef>
          <a:fontRef idx="minor">
            <a:schemeClr val="dk1"/>
          </a:fontRef>
        </p:style>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1008" dirty="0">
                <a:solidFill>
                  <a:srgbClr val="000000"/>
                </a:solidFill>
                <a:latin typeface="SimSun" panose="02010600030101010101" pitchFamily="2" charset="-122"/>
                <a:ea typeface="SimSun" panose="02010600030101010101" pitchFamily="2" charset="-122"/>
              </a:rPr>
              <a:t>消费</a:t>
            </a:r>
          </a:p>
        </p:txBody>
      </p:sp>
      <p:sp>
        <p:nvSpPr>
          <p:cNvPr id="33" name="Text Box 35">
            <a:extLst>
              <a:ext uri="{FF2B5EF4-FFF2-40B4-BE49-F238E27FC236}">
                <a16:creationId xmlns:a16="http://schemas.microsoft.com/office/drawing/2014/main" id="{C72583EF-4D30-AFAD-FF33-9F7C153AA796}"/>
              </a:ext>
            </a:extLst>
          </p:cNvPr>
          <p:cNvSpPr txBox="1">
            <a:spLocks noChangeArrowheads="1"/>
          </p:cNvSpPr>
          <p:nvPr/>
        </p:nvSpPr>
        <p:spPr bwMode="auto">
          <a:xfrm>
            <a:off x="3279426" y="2784284"/>
            <a:ext cx="704039" cy="247440"/>
          </a:xfrm>
          <a:prstGeom prst="rect">
            <a:avLst/>
          </a:prstGeom>
          <a:ln/>
        </p:spPr>
        <p:style>
          <a:lnRef idx="2">
            <a:schemeClr val="accent2"/>
          </a:lnRef>
          <a:fillRef idx="1">
            <a:schemeClr val="lt1"/>
          </a:fillRef>
          <a:effectRef idx="0">
            <a:schemeClr val="accent2"/>
          </a:effectRef>
          <a:fontRef idx="minor">
            <a:schemeClr val="dk1"/>
          </a:fontRef>
        </p:style>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1008" dirty="0">
                <a:solidFill>
                  <a:srgbClr val="000000"/>
                </a:solidFill>
                <a:latin typeface="SimSun" panose="02010600030101010101" pitchFamily="2" charset="-122"/>
                <a:ea typeface="SimSun" panose="02010600030101010101" pitchFamily="2" charset="-122"/>
              </a:rPr>
              <a:t>企业收入</a:t>
            </a:r>
          </a:p>
        </p:txBody>
      </p:sp>
      <p:sp>
        <p:nvSpPr>
          <p:cNvPr id="27" name="Line 37">
            <a:extLst>
              <a:ext uri="{FF2B5EF4-FFF2-40B4-BE49-F238E27FC236}">
                <a16:creationId xmlns:a16="http://schemas.microsoft.com/office/drawing/2014/main" id="{BC362229-009C-DB5F-63FE-2051DB0020C2}"/>
              </a:ext>
            </a:extLst>
          </p:cNvPr>
          <p:cNvSpPr>
            <a:spLocks noChangeShapeType="1"/>
          </p:cNvSpPr>
          <p:nvPr/>
        </p:nvSpPr>
        <p:spPr bwMode="auto">
          <a:xfrm>
            <a:off x="2215016" y="2290373"/>
            <a:ext cx="964" cy="468919"/>
          </a:xfrm>
          <a:prstGeom prst="line">
            <a:avLst/>
          </a:prstGeom>
          <a:ln>
            <a:tailEnd type="triangle" w="lg" len="lg"/>
          </a:ln>
        </p:spPr>
        <p:style>
          <a:lnRef idx="2">
            <a:schemeClr val="accent2"/>
          </a:lnRef>
          <a:fillRef idx="1">
            <a:schemeClr val="lt1"/>
          </a:fillRef>
          <a:effectRef idx="0">
            <a:schemeClr val="accent2"/>
          </a:effectRef>
          <a:fontRef idx="minor">
            <a:schemeClr val="dk1"/>
          </a:fontRef>
        </p:style>
        <p:txBody>
          <a:bodyPr/>
          <a:lstStyle/>
          <a:p>
            <a:pPr algn="ctr" defTabSz="230520"/>
            <a:endParaRPr lang="zh-CN" altLang="en-US" sz="908">
              <a:solidFill>
                <a:srgbClr val="000000"/>
              </a:solidFill>
              <a:latin typeface="SimSun" panose="02010600030101010101" pitchFamily="2" charset="-122"/>
              <a:ea typeface="SimSun" panose="02010600030101010101" pitchFamily="2" charset="-122"/>
            </a:endParaRPr>
          </a:p>
        </p:txBody>
      </p:sp>
      <p:sp>
        <p:nvSpPr>
          <p:cNvPr id="28" name="Text Box 38">
            <a:extLst>
              <a:ext uri="{FF2B5EF4-FFF2-40B4-BE49-F238E27FC236}">
                <a16:creationId xmlns:a16="http://schemas.microsoft.com/office/drawing/2014/main" id="{8F106B46-EF9B-7A63-AB3D-B79EB4F4BFBB}"/>
              </a:ext>
            </a:extLst>
          </p:cNvPr>
          <p:cNvSpPr txBox="1">
            <a:spLocks noChangeArrowheads="1"/>
          </p:cNvSpPr>
          <p:nvPr/>
        </p:nvSpPr>
        <p:spPr bwMode="auto">
          <a:xfrm>
            <a:off x="1861710" y="2328244"/>
            <a:ext cx="704039" cy="247440"/>
          </a:xfrm>
          <a:prstGeom prst="rect">
            <a:avLst/>
          </a:prstGeom>
          <a:ln/>
        </p:spPr>
        <p:style>
          <a:lnRef idx="2">
            <a:schemeClr val="accent2"/>
          </a:lnRef>
          <a:fillRef idx="1">
            <a:schemeClr val="lt1"/>
          </a:fillRef>
          <a:effectRef idx="0">
            <a:schemeClr val="accent2"/>
          </a:effectRef>
          <a:fontRef idx="minor">
            <a:schemeClr val="dk1"/>
          </a:fontRef>
        </p:style>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1008" dirty="0">
                <a:solidFill>
                  <a:srgbClr val="000000"/>
                </a:solidFill>
                <a:latin typeface="SimSun" panose="02010600030101010101" pitchFamily="2" charset="-122"/>
                <a:ea typeface="SimSun" panose="02010600030101010101" pitchFamily="2" charset="-122"/>
              </a:rPr>
              <a:t>政府购买</a:t>
            </a:r>
          </a:p>
        </p:txBody>
      </p:sp>
      <p:sp>
        <p:nvSpPr>
          <p:cNvPr id="25" name="Line 40">
            <a:extLst>
              <a:ext uri="{FF2B5EF4-FFF2-40B4-BE49-F238E27FC236}">
                <a16:creationId xmlns:a16="http://schemas.microsoft.com/office/drawing/2014/main" id="{A35BE428-8440-9468-5A21-850880B391EC}"/>
              </a:ext>
            </a:extLst>
          </p:cNvPr>
          <p:cNvSpPr>
            <a:spLocks noChangeShapeType="1"/>
          </p:cNvSpPr>
          <p:nvPr/>
        </p:nvSpPr>
        <p:spPr bwMode="auto">
          <a:xfrm flipH="1">
            <a:off x="1065998" y="2124488"/>
            <a:ext cx="837196" cy="0"/>
          </a:xfrm>
          <a:prstGeom prst="line">
            <a:avLst/>
          </a:prstGeom>
          <a:ln>
            <a:tailEnd type="triangle" w="lg" len="lg"/>
          </a:ln>
        </p:spPr>
        <p:style>
          <a:lnRef idx="2">
            <a:schemeClr val="accent2"/>
          </a:lnRef>
          <a:fillRef idx="1">
            <a:schemeClr val="lt1"/>
          </a:fillRef>
          <a:effectRef idx="0">
            <a:schemeClr val="accent2"/>
          </a:effectRef>
          <a:fontRef idx="minor">
            <a:schemeClr val="dk1"/>
          </a:fontRef>
        </p:style>
        <p:txBody>
          <a:bodyPr/>
          <a:lstStyle/>
          <a:p>
            <a:pPr algn="ctr" defTabSz="230520"/>
            <a:endParaRPr lang="zh-CN" altLang="en-US" sz="908">
              <a:solidFill>
                <a:srgbClr val="000000"/>
              </a:solidFill>
              <a:latin typeface="SimSun" panose="02010600030101010101" pitchFamily="2" charset="-122"/>
              <a:ea typeface="SimSun" panose="02010600030101010101" pitchFamily="2" charset="-122"/>
            </a:endParaRPr>
          </a:p>
        </p:txBody>
      </p:sp>
      <p:sp>
        <p:nvSpPr>
          <p:cNvPr id="26" name="Text Box 41">
            <a:extLst>
              <a:ext uri="{FF2B5EF4-FFF2-40B4-BE49-F238E27FC236}">
                <a16:creationId xmlns:a16="http://schemas.microsoft.com/office/drawing/2014/main" id="{1DC5C966-E994-1F86-FDE0-93248F047DE7}"/>
              </a:ext>
            </a:extLst>
          </p:cNvPr>
          <p:cNvSpPr txBox="1">
            <a:spLocks noChangeArrowheads="1"/>
          </p:cNvSpPr>
          <p:nvPr/>
        </p:nvSpPr>
        <p:spPr bwMode="auto">
          <a:xfrm>
            <a:off x="1135077" y="2162221"/>
            <a:ext cx="664615" cy="371768"/>
          </a:xfrm>
          <a:prstGeom prst="rect">
            <a:avLst/>
          </a:prstGeom>
          <a:ln/>
        </p:spPr>
        <p:style>
          <a:lnRef idx="2">
            <a:schemeClr val="accent2"/>
          </a:lnRef>
          <a:fillRef idx="1">
            <a:schemeClr val="lt1"/>
          </a:fillRef>
          <a:effectRef idx="0">
            <a:schemeClr val="accent2"/>
          </a:effectRef>
          <a:fontRef idx="minor">
            <a:schemeClr val="dk1"/>
          </a:fontRef>
        </p:style>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908" dirty="0">
                <a:solidFill>
                  <a:srgbClr val="000000"/>
                </a:solidFill>
                <a:latin typeface="SimSun" panose="02010600030101010101" pitchFamily="2" charset="-122"/>
                <a:ea typeface="SimSun" panose="02010600030101010101" pitchFamily="2" charset="-122"/>
              </a:rPr>
              <a:t>公共产品与服务</a:t>
            </a:r>
          </a:p>
        </p:txBody>
      </p:sp>
      <p:sp>
        <p:nvSpPr>
          <p:cNvPr id="23" name="Line 43">
            <a:extLst>
              <a:ext uri="{FF2B5EF4-FFF2-40B4-BE49-F238E27FC236}">
                <a16:creationId xmlns:a16="http://schemas.microsoft.com/office/drawing/2014/main" id="{A27FC9DD-9399-224C-002F-7F77C8EAF27A}"/>
              </a:ext>
            </a:extLst>
          </p:cNvPr>
          <p:cNvSpPr>
            <a:spLocks noChangeShapeType="1"/>
          </p:cNvSpPr>
          <p:nvPr/>
        </p:nvSpPr>
        <p:spPr bwMode="auto">
          <a:xfrm>
            <a:off x="2572528" y="2109622"/>
            <a:ext cx="948436" cy="0"/>
          </a:xfrm>
          <a:prstGeom prst="line">
            <a:avLst/>
          </a:prstGeom>
          <a:ln>
            <a:tailEnd type="triangle" w="lg" len="lg"/>
          </a:ln>
        </p:spPr>
        <p:style>
          <a:lnRef idx="2">
            <a:schemeClr val="accent2"/>
          </a:lnRef>
          <a:fillRef idx="1">
            <a:schemeClr val="lt1"/>
          </a:fillRef>
          <a:effectRef idx="0">
            <a:schemeClr val="accent2"/>
          </a:effectRef>
          <a:fontRef idx="minor">
            <a:schemeClr val="dk1"/>
          </a:fontRef>
        </p:style>
        <p:txBody>
          <a:bodyPr/>
          <a:lstStyle/>
          <a:p>
            <a:pPr algn="ctr" defTabSz="230520"/>
            <a:endParaRPr lang="zh-CN" altLang="en-US" sz="908">
              <a:solidFill>
                <a:srgbClr val="000000"/>
              </a:solidFill>
              <a:latin typeface="SimSun" panose="02010600030101010101" pitchFamily="2" charset="-122"/>
              <a:ea typeface="SimSun" panose="02010600030101010101" pitchFamily="2" charset="-122"/>
            </a:endParaRPr>
          </a:p>
        </p:txBody>
      </p:sp>
      <p:sp>
        <p:nvSpPr>
          <p:cNvPr id="24" name="Text Box 44">
            <a:extLst>
              <a:ext uri="{FF2B5EF4-FFF2-40B4-BE49-F238E27FC236}">
                <a16:creationId xmlns:a16="http://schemas.microsoft.com/office/drawing/2014/main" id="{9E8A541A-6C6C-7300-84C9-5F0D4ABF47E5}"/>
              </a:ext>
            </a:extLst>
          </p:cNvPr>
          <p:cNvSpPr txBox="1">
            <a:spLocks noChangeArrowheads="1"/>
          </p:cNvSpPr>
          <p:nvPr/>
        </p:nvSpPr>
        <p:spPr bwMode="auto">
          <a:xfrm>
            <a:off x="2750962" y="2179908"/>
            <a:ext cx="641721" cy="511487"/>
          </a:xfrm>
          <a:prstGeom prst="rect">
            <a:avLst/>
          </a:prstGeom>
          <a:ln/>
        </p:spPr>
        <p:style>
          <a:lnRef idx="2">
            <a:schemeClr val="accent2"/>
          </a:lnRef>
          <a:fillRef idx="1">
            <a:schemeClr val="lt1"/>
          </a:fillRef>
          <a:effectRef idx="0">
            <a:schemeClr val="accent2"/>
          </a:effectRef>
          <a:fontRef idx="minor">
            <a:schemeClr val="dk1"/>
          </a:fontRef>
        </p:style>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908" dirty="0">
                <a:solidFill>
                  <a:srgbClr val="000000"/>
                </a:solidFill>
                <a:latin typeface="SimSun" panose="02010600030101010101" pitchFamily="2" charset="-122"/>
                <a:ea typeface="SimSun" panose="02010600030101010101" pitchFamily="2" charset="-122"/>
              </a:rPr>
              <a:t>公共产品与服务</a:t>
            </a:r>
          </a:p>
        </p:txBody>
      </p:sp>
      <p:sp>
        <p:nvSpPr>
          <p:cNvPr id="21" name="Line 46">
            <a:extLst>
              <a:ext uri="{FF2B5EF4-FFF2-40B4-BE49-F238E27FC236}">
                <a16:creationId xmlns:a16="http://schemas.microsoft.com/office/drawing/2014/main" id="{1D83EE53-B97C-DDC8-4D46-535CF3D366AA}"/>
              </a:ext>
            </a:extLst>
          </p:cNvPr>
          <p:cNvSpPr>
            <a:spLocks noChangeShapeType="1"/>
          </p:cNvSpPr>
          <p:nvPr/>
        </p:nvSpPr>
        <p:spPr bwMode="auto">
          <a:xfrm flipH="1" flipV="1">
            <a:off x="2572528" y="1936445"/>
            <a:ext cx="911142" cy="344"/>
          </a:xfrm>
          <a:prstGeom prst="line">
            <a:avLst/>
          </a:prstGeom>
          <a:ln>
            <a:tailEnd type="triangle" w="lg" len="lg"/>
          </a:ln>
        </p:spPr>
        <p:style>
          <a:lnRef idx="2">
            <a:schemeClr val="accent2"/>
          </a:lnRef>
          <a:fillRef idx="1">
            <a:schemeClr val="lt1"/>
          </a:fillRef>
          <a:effectRef idx="0">
            <a:schemeClr val="accent2"/>
          </a:effectRef>
          <a:fontRef idx="minor">
            <a:schemeClr val="dk1"/>
          </a:fontRef>
        </p:style>
        <p:txBody>
          <a:bodyPr/>
          <a:lstStyle/>
          <a:p>
            <a:pPr algn="ctr" defTabSz="230520"/>
            <a:endParaRPr lang="zh-CN" altLang="en-US" sz="908">
              <a:solidFill>
                <a:srgbClr val="000000"/>
              </a:solidFill>
              <a:latin typeface="SimSun" panose="02010600030101010101" pitchFamily="2" charset="-122"/>
              <a:ea typeface="SimSun" panose="02010600030101010101" pitchFamily="2" charset="-122"/>
            </a:endParaRPr>
          </a:p>
        </p:txBody>
      </p:sp>
      <p:sp>
        <p:nvSpPr>
          <p:cNvPr id="22" name="Text Box 47">
            <a:extLst>
              <a:ext uri="{FF2B5EF4-FFF2-40B4-BE49-F238E27FC236}">
                <a16:creationId xmlns:a16="http://schemas.microsoft.com/office/drawing/2014/main" id="{0079DF80-78DE-71C1-DB4A-B03B6A8E5206}"/>
              </a:ext>
            </a:extLst>
          </p:cNvPr>
          <p:cNvSpPr txBox="1">
            <a:spLocks noChangeArrowheads="1"/>
          </p:cNvSpPr>
          <p:nvPr/>
        </p:nvSpPr>
        <p:spPr bwMode="auto">
          <a:xfrm>
            <a:off x="2869492" y="1816634"/>
            <a:ext cx="404631" cy="371768"/>
          </a:xfrm>
          <a:prstGeom prst="rect">
            <a:avLst/>
          </a:prstGeom>
          <a:ln/>
        </p:spPr>
        <p:style>
          <a:lnRef idx="2">
            <a:schemeClr val="accent2"/>
          </a:lnRef>
          <a:fillRef idx="1">
            <a:schemeClr val="lt1"/>
          </a:fillRef>
          <a:effectRef idx="0">
            <a:schemeClr val="accent2"/>
          </a:effectRef>
          <a:fontRef idx="minor">
            <a:schemeClr val="dk1"/>
          </a:fontRef>
        </p:style>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908" dirty="0">
                <a:solidFill>
                  <a:srgbClr val="000000"/>
                </a:solidFill>
                <a:latin typeface="SimSun" panose="02010600030101010101" pitchFamily="2" charset="-122"/>
                <a:ea typeface="SimSun" panose="02010600030101010101" pitchFamily="2" charset="-122"/>
              </a:rPr>
              <a:t>税收</a:t>
            </a:r>
          </a:p>
        </p:txBody>
      </p:sp>
      <p:sp>
        <p:nvSpPr>
          <p:cNvPr id="19" name="Line 49">
            <a:extLst>
              <a:ext uri="{FF2B5EF4-FFF2-40B4-BE49-F238E27FC236}">
                <a16:creationId xmlns:a16="http://schemas.microsoft.com/office/drawing/2014/main" id="{DCB9DE67-A309-1EAE-FF8F-CA1D8EB8A448}"/>
              </a:ext>
            </a:extLst>
          </p:cNvPr>
          <p:cNvSpPr>
            <a:spLocks noChangeShapeType="1"/>
          </p:cNvSpPr>
          <p:nvPr/>
        </p:nvSpPr>
        <p:spPr bwMode="auto">
          <a:xfrm flipV="1">
            <a:off x="1041527" y="1936445"/>
            <a:ext cx="800866" cy="344"/>
          </a:xfrm>
          <a:prstGeom prst="line">
            <a:avLst/>
          </a:prstGeom>
          <a:ln>
            <a:tailEnd type="triangle" w="lg" len="lg"/>
          </a:ln>
        </p:spPr>
        <p:style>
          <a:lnRef idx="2">
            <a:schemeClr val="accent2"/>
          </a:lnRef>
          <a:fillRef idx="1">
            <a:schemeClr val="lt1"/>
          </a:fillRef>
          <a:effectRef idx="0">
            <a:schemeClr val="accent2"/>
          </a:effectRef>
          <a:fontRef idx="minor">
            <a:schemeClr val="dk1"/>
          </a:fontRef>
        </p:style>
        <p:txBody>
          <a:bodyPr/>
          <a:lstStyle/>
          <a:p>
            <a:pPr algn="ctr" defTabSz="230520"/>
            <a:endParaRPr lang="zh-CN" altLang="en-US" sz="908">
              <a:solidFill>
                <a:srgbClr val="000000"/>
              </a:solidFill>
              <a:latin typeface="SimSun" panose="02010600030101010101" pitchFamily="2" charset="-122"/>
              <a:ea typeface="SimSun" panose="02010600030101010101" pitchFamily="2" charset="-122"/>
            </a:endParaRPr>
          </a:p>
        </p:txBody>
      </p:sp>
      <p:sp>
        <p:nvSpPr>
          <p:cNvPr id="20" name="Text Box 50">
            <a:extLst>
              <a:ext uri="{FF2B5EF4-FFF2-40B4-BE49-F238E27FC236}">
                <a16:creationId xmlns:a16="http://schemas.microsoft.com/office/drawing/2014/main" id="{DACC108D-0009-6A33-2733-3363E0F57002}"/>
              </a:ext>
            </a:extLst>
          </p:cNvPr>
          <p:cNvSpPr txBox="1">
            <a:spLocks noChangeArrowheads="1"/>
          </p:cNvSpPr>
          <p:nvPr/>
        </p:nvSpPr>
        <p:spPr bwMode="auto">
          <a:xfrm>
            <a:off x="1260237" y="1819732"/>
            <a:ext cx="379848" cy="371768"/>
          </a:xfrm>
          <a:prstGeom prst="rect">
            <a:avLst/>
          </a:prstGeom>
          <a:ln/>
        </p:spPr>
        <p:style>
          <a:lnRef idx="2">
            <a:schemeClr val="accent2"/>
          </a:lnRef>
          <a:fillRef idx="1">
            <a:schemeClr val="lt1"/>
          </a:fillRef>
          <a:effectRef idx="0">
            <a:schemeClr val="accent2"/>
          </a:effectRef>
          <a:fontRef idx="minor">
            <a:schemeClr val="dk1"/>
          </a:fontRef>
        </p:style>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defTabSz="230520" eaLnBrk="1" hangingPunct="1"/>
            <a:r>
              <a:rPr lang="zh-CN" altLang="en-US" sz="908" dirty="0">
                <a:solidFill>
                  <a:srgbClr val="000000"/>
                </a:solidFill>
                <a:latin typeface="SimSun" panose="02010600030101010101" pitchFamily="2" charset="-122"/>
                <a:ea typeface="SimSun" panose="02010600030101010101" pitchFamily="2" charset="-122"/>
              </a:rPr>
              <a:t>税收</a:t>
            </a:r>
          </a:p>
        </p:txBody>
      </p:sp>
      <p:sp>
        <p:nvSpPr>
          <p:cNvPr id="57" name="文本框 56">
            <a:extLst>
              <a:ext uri="{FF2B5EF4-FFF2-40B4-BE49-F238E27FC236}">
                <a16:creationId xmlns:a16="http://schemas.microsoft.com/office/drawing/2014/main" id="{4684C389-495F-1E2A-3F9D-477C5BE10BDA}"/>
              </a:ext>
            </a:extLst>
          </p:cNvPr>
          <p:cNvSpPr txBox="1"/>
          <p:nvPr/>
        </p:nvSpPr>
        <p:spPr>
          <a:xfrm>
            <a:off x="94056" y="1437234"/>
            <a:ext cx="659637" cy="278538"/>
          </a:xfrm>
          <a:prstGeom prst="rect">
            <a:avLst/>
          </a:prstGeom>
          <a:noFill/>
        </p:spPr>
        <p:txBody>
          <a:bodyPr wrap="square">
            <a:spAutoFit/>
          </a:bodyPr>
          <a:lstStyle/>
          <a:p>
            <a:pPr defTabSz="230520"/>
            <a:r>
              <a:rPr lang="zh-CN" altLang="en-US" sz="1210" b="1" dirty="0">
                <a:solidFill>
                  <a:srgbClr val="FF0000"/>
                </a:solidFill>
                <a:latin typeface="SimSun" panose="02010600030101010101" pitchFamily="2" charset="-122"/>
                <a:ea typeface="SimSun" panose="02010600030101010101" pitchFamily="2" charset="-122"/>
              </a:rPr>
              <a:t>总收入</a:t>
            </a:r>
            <a:endParaRPr lang="zh-CN" altLang="en-US" sz="1210" b="1" dirty="0">
              <a:solidFill>
                <a:srgbClr val="FF0000"/>
              </a:solidFill>
              <a:latin typeface="Arial"/>
            </a:endParaRPr>
          </a:p>
        </p:txBody>
      </p:sp>
      <p:sp>
        <p:nvSpPr>
          <p:cNvPr id="58" name="文本框 57">
            <a:extLst>
              <a:ext uri="{FF2B5EF4-FFF2-40B4-BE49-F238E27FC236}">
                <a16:creationId xmlns:a16="http://schemas.microsoft.com/office/drawing/2014/main" id="{2309E9DE-3BCD-E33A-F907-EB4B51F4BC20}"/>
              </a:ext>
            </a:extLst>
          </p:cNvPr>
          <p:cNvSpPr txBox="1"/>
          <p:nvPr/>
        </p:nvSpPr>
        <p:spPr>
          <a:xfrm>
            <a:off x="87279" y="2273009"/>
            <a:ext cx="744880" cy="464743"/>
          </a:xfrm>
          <a:prstGeom prst="rect">
            <a:avLst/>
          </a:prstGeom>
          <a:noFill/>
        </p:spPr>
        <p:txBody>
          <a:bodyPr wrap="square">
            <a:spAutoFit/>
          </a:bodyPr>
          <a:lstStyle/>
          <a:p>
            <a:pPr defTabSz="230520"/>
            <a:r>
              <a:rPr lang="zh-CN" altLang="en-US" sz="1210" b="1" dirty="0">
                <a:solidFill>
                  <a:srgbClr val="FF0000"/>
                </a:solidFill>
                <a:latin typeface="SimSun" panose="02010600030101010101" pitchFamily="2" charset="-122"/>
                <a:ea typeface="SimSun" panose="02010600030101010101" pitchFamily="2" charset="-122"/>
              </a:rPr>
              <a:t>总需求</a:t>
            </a:r>
            <a:r>
              <a:rPr lang="en-US" altLang="zh-CN" sz="1210" b="1" dirty="0">
                <a:solidFill>
                  <a:srgbClr val="FF0000"/>
                </a:solidFill>
                <a:latin typeface="SimSun" panose="02010600030101010101" pitchFamily="2" charset="-122"/>
                <a:ea typeface="SimSun" panose="02010600030101010101" pitchFamily="2" charset="-122"/>
              </a:rPr>
              <a:t>/</a:t>
            </a:r>
            <a:r>
              <a:rPr lang="zh-CN" altLang="en-US" sz="1210" b="1" dirty="0">
                <a:solidFill>
                  <a:srgbClr val="FF0000"/>
                </a:solidFill>
                <a:latin typeface="SimSun" panose="02010600030101010101" pitchFamily="2" charset="-122"/>
                <a:ea typeface="SimSun" panose="02010600030101010101" pitchFamily="2" charset="-122"/>
              </a:rPr>
              <a:t>总支出</a:t>
            </a:r>
            <a:endParaRPr lang="zh-CN" altLang="en-US" sz="1210" b="1" dirty="0">
              <a:solidFill>
                <a:srgbClr val="FF0000"/>
              </a:solidFill>
              <a:latin typeface="Arial"/>
            </a:endParaRPr>
          </a:p>
        </p:txBody>
      </p:sp>
      <p:sp>
        <p:nvSpPr>
          <p:cNvPr id="59" name="文本框 58">
            <a:extLst>
              <a:ext uri="{FF2B5EF4-FFF2-40B4-BE49-F238E27FC236}">
                <a16:creationId xmlns:a16="http://schemas.microsoft.com/office/drawing/2014/main" id="{728DE3D9-53F1-7A1A-0488-3708BC01AA03}"/>
              </a:ext>
            </a:extLst>
          </p:cNvPr>
          <p:cNvSpPr txBox="1"/>
          <p:nvPr/>
        </p:nvSpPr>
        <p:spPr>
          <a:xfrm>
            <a:off x="3903508" y="2258422"/>
            <a:ext cx="761988" cy="464743"/>
          </a:xfrm>
          <a:prstGeom prst="rect">
            <a:avLst/>
          </a:prstGeom>
          <a:noFill/>
        </p:spPr>
        <p:txBody>
          <a:bodyPr wrap="square">
            <a:spAutoFit/>
          </a:bodyPr>
          <a:lstStyle/>
          <a:p>
            <a:pPr defTabSz="230520"/>
            <a:r>
              <a:rPr lang="zh-CN" altLang="en-US" sz="1210" b="1" dirty="0">
                <a:solidFill>
                  <a:srgbClr val="FF0000"/>
                </a:solidFill>
                <a:latin typeface="SimSun" panose="02010600030101010101" pitchFamily="2" charset="-122"/>
                <a:ea typeface="SimSun" panose="02010600030101010101" pitchFamily="2" charset="-122"/>
              </a:rPr>
              <a:t>总供给</a:t>
            </a:r>
            <a:r>
              <a:rPr lang="en-US" altLang="zh-CN" sz="1210" b="1" dirty="0">
                <a:solidFill>
                  <a:srgbClr val="FF0000"/>
                </a:solidFill>
                <a:latin typeface="SimSun" panose="02010600030101010101" pitchFamily="2" charset="-122"/>
                <a:ea typeface="SimSun" panose="02010600030101010101" pitchFamily="2" charset="-122"/>
              </a:rPr>
              <a:t>/</a:t>
            </a:r>
            <a:r>
              <a:rPr lang="zh-CN" altLang="en-US" sz="1210" b="1" dirty="0">
                <a:solidFill>
                  <a:srgbClr val="FF0000"/>
                </a:solidFill>
                <a:latin typeface="SimSun" panose="02010600030101010101" pitchFamily="2" charset="-122"/>
                <a:ea typeface="SimSun" panose="02010600030101010101" pitchFamily="2" charset="-122"/>
              </a:rPr>
              <a:t>总产出</a:t>
            </a:r>
            <a:endParaRPr lang="zh-CN" altLang="en-US" sz="1210" b="1" dirty="0">
              <a:solidFill>
                <a:srgbClr val="FF0000"/>
              </a:solidFill>
              <a:latin typeface="Arial"/>
            </a:endParaRPr>
          </a:p>
        </p:txBody>
      </p:sp>
    </p:spTree>
    <p:extLst>
      <p:ext uri="{BB962C8B-B14F-4D97-AF65-F5344CB8AC3E}">
        <p14:creationId xmlns:p14="http://schemas.microsoft.com/office/powerpoint/2010/main" val="2292621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wipe(left)">
                                      <p:cBhvr>
                                        <p:cTn id="7" dur="500"/>
                                        <p:tgtEl>
                                          <p:spTgt spid="5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8"/>
                                        </p:tgtEl>
                                        <p:attrNameLst>
                                          <p:attrName>style.visibility</p:attrName>
                                        </p:attrNameLst>
                                      </p:cBhvr>
                                      <p:to>
                                        <p:strVal val="visible"/>
                                      </p:to>
                                    </p:set>
                                    <p:animEffect transition="in" filter="wipe(left)">
                                      <p:cBhvr>
                                        <p:cTn id="12" dur="500"/>
                                        <p:tgtEl>
                                          <p:spTgt spid="5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9"/>
                                        </p:tgtEl>
                                        <p:attrNameLst>
                                          <p:attrName>style.visibility</p:attrName>
                                        </p:attrNameLst>
                                      </p:cBhvr>
                                      <p:to>
                                        <p:strVal val="visible"/>
                                      </p:to>
                                    </p:set>
                                    <p:animEffect transition="in" filter="wipe(left)">
                                      <p:cBhvr>
                                        <p:cTn id="17"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58" grpId="0"/>
      <p:bldP spid="5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37A286-1251-2B83-FB48-5332A295C1C8}"/>
              </a:ext>
            </a:extLst>
          </p:cNvPr>
          <p:cNvSpPr>
            <a:spLocks noGrp="1"/>
          </p:cNvSpPr>
          <p:nvPr>
            <p:ph type="title"/>
          </p:nvPr>
        </p:nvSpPr>
        <p:spPr/>
        <p:txBody>
          <a:bodyPr/>
          <a:lstStyle/>
          <a:p>
            <a:r>
              <a:rPr kumimoji="1" lang="zh-CN" altLang="en-US" b="0" dirty="0">
                <a:latin typeface="Microsoft YaHei" panose="020B0503020204020204" pitchFamily="34" charset="-122"/>
                <a:ea typeface="Microsoft YaHei" panose="020B0503020204020204" pitchFamily="34" charset="-122"/>
              </a:rPr>
              <a:t>国民收入恒等式</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B41DC8A9-6D34-64CC-930E-37E3DDC1F0B1}"/>
                  </a:ext>
                </a:extLst>
              </p:cNvPr>
              <p:cNvSpPr>
                <a:spLocks noGrp="1"/>
              </p:cNvSpPr>
              <p:nvPr>
                <p:ph idx="1"/>
              </p:nvPr>
            </p:nvSpPr>
            <p:spPr/>
            <p:txBody>
              <a:bodyPr/>
              <a:lstStyle/>
              <a:p>
                <a:pPr>
                  <a:lnSpc>
                    <a:spcPct val="150000"/>
                  </a:lnSpc>
                </a:pPr>
                <a:r>
                  <a:rPr kumimoji="1" lang="zh-CN" altLang="en-US" dirty="0">
                    <a:latin typeface="Microsoft YaHei" panose="020B0503020204020204" pitchFamily="34" charset="-122"/>
                    <a:ea typeface="Microsoft YaHei" panose="020B0503020204020204" pitchFamily="34" charset="-122"/>
                  </a:rPr>
                  <a:t>总需求（总支出）与均衡总产量</a:t>
                </a:r>
                <a:endParaRPr kumimoji="1" lang="en-US" altLang="zh-CN" dirty="0">
                  <a:latin typeface="Microsoft YaHei" panose="020B0503020204020204" pitchFamily="34" charset="-122"/>
                  <a:ea typeface="Microsoft YaHei" panose="020B0503020204020204" pitchFamily="34" charset="-122"/>
                </a:endParaRPr>
              </a:p>
              <a:p>
                <a:pPr marL="201538" lvl="1" indent="0">
                  <a:lnSpc>
                    <a:spcPct val="110000"/>
                  </a:lnSpc>
                  <a:buNone/>
                </a:pPr>
                <a:r>
                  <a:rPr kumimoji="1" lang="zh-CN" altLang="en-US" dirty="0">
                    <a:ea typeface="Cambria Math" panose="02040503050406030204" pitchFamily="18" charset="0"/>
                  </a:rPr>
                  <a:t>总产量</a:t>
                </a:r>
                <a:r>
                  <a:rPr kumimoji="1" lang="en-US" altLang="zh-CN" dirty="0">
                    <a:ea typeface="Cambria Math" panose="02040503050406030204" pitchFamily="18" charset="0"/>
                  </a:rPr>
                  <a:t>/</a:t>
                </a:r>
                <a:r>
                  <a:rPr kumimoji="1" lang="zh-CN" altLang="en-US" dirty="0">
                    <a:solidFill>
                      <a:srgbClr val="FF0000"/>
                    </a:solidFill>
                    <a:ea typeface="Cambria Math" panose="02040503050406030204" pitchFamily="18" charset="0"/>
                  </a:rPr>
                  <a:t>供给</a:t>
                </a:r>
                <a:r>
                  <a:rPr kumimoji="1" lang="zh-CN" altLang="en-US" dirty="0">
                    <a:ea typeface="Cambria Math" panose="02040503050406030204" pitchFamily="18" charset="0"/>
                  </a:rPr>
                  <a:t>：</a:t>
                </a:r>
                <a14:m>
                  <m:oMath xmlns:m="http://schemas.openxmlformats.org/officeDocument/2006/math">
                    <m:r>
                      <m:rPr>
                        <m:sty m:val="p"/>
                      </m:rPr>
                      <a:rPr kumimoji="1" lang="en-US" altLang="zh-CN">
                        <a:latin typeface="Cambria Math" panose="02040503050406030204" pitchFamily="18" charset="0"/>
                        <a:ea typeface="Cambria Math" panose="02040503050406030204" pitchFamily="18" charset="0"/>
                      </a:rPr>
                      <m:t>Y</m:t>
                    </m:r>
                    <m:r>
                      <a:rPr kumimoji="1" lang="en-US" altLang="zh-CN">
                        <a:latin typeface="Cambria Math" panose="02040503050406030204" pitchFamily="18" charset="0"/>
                        <a:ea typeface="Cambria Math" panose="02040503050406030204" pitchFamily="18" charset="0"/>
                      </a:rPr>
                      <m:t>≡</m:t>
                    </m:r>
                    <m:r>
                      <a:rPr kumimoji="1" lang="en-US" altLang="zh-CN">
                        <a:latin typeface="Cambria Math" panose="02040503050406030204" pitchFamily="18" charset="0"/>
                        <a:ea typeface="Cambria Math" panose="02040503050406030204" pitchFamily="18" charset="0"/>
                      </a:rPr>
                      <m:t>𝐶</m:t>
                    </m:r>
                    <m:r>
                      <a:rPr kumimoji="1" lang="en-US" altLang="zh-CN">
                        <a:latin typeface="Cambria Math" panose="02040503050406030204" pitchFamily="18" charset="0"/>
                        <a:ea typeface="Cambria Math" panose="02040503050406030204" pitchFamily="18" charset="0"/>
                      </a:rPr>
                      <m:t>+</m:t>
                    </m:r>
                    <m:r>
                      <m:rPr>
                        <m:sty m:val="p"/>
                      </m:rPr>
                      <a:rPr kumimoji="1" lang="en-US" altLang="zh-CN" b="0" i="0" smtClean="0">
                        <a:latin typeface="Cambria Math" panose="02040503050406030204" pitchFamily="18" charset="0"/>
                        <a:ea typeface="Cambria Math" panose="02040503050406030204" pitchFamily="18" charset="0"/>
                      </a:rPr>
                      <m:t>I</m:t>
                    </m:r>
                    <m:r>
                      <a:rPr kumimoji="1" lang="en-US" altLang="zh-CN">
                        <a:latin typeface="Cambria Math" panose="02040503050406030204" pitchFamily="18" charset="0"/>
                        <a:ea typeface="Cambria Math" panose="02040503050406030204" pitchFamily="18" charset="0"/>
                      </a:rPr>
                      <m:t>+</m:t>
                    </m:r>
                    <m:r>
                      <a:rPr kumimoji="1" lang="en-US" altLang="zh-CN">
                        <a:latin typeface="Cambria Math" panose="02040503050406030204" pitchFamily="18" charset="0"/>
                        <a:ea typeface="Cambria Math" panose="02040503050406030204" pitchFamily="18" charset="0"/>
                      </a:rPr>
                      <m:t>𝐺</m:t>
                    </m:r>
                    <m:r>
                      <a:rPr kumimoji="1" lang="en-US" altLang="zh-CN">
                        <a:latin typeface="Cambria Math" panose="02040503050406030204" pitchFamily="18" charset="0"/>
                        <a:ea typeface="Cambria Math" panose="02040503050406030204" pitchFamily="18" charset="0"/>
                      </a:rPr>
                      <m:t>+</m:t>
                    </m:r>
                    <m:r>
                      <a:rPr kumimoji="1" lang="en-US" altLang="zh-CN">
                        <a:latin typeface="Cambria Math" panose="02040503050406030204" pitchFamily="18" charset="0"/>
                        <a:ea typeface="Cambria Math" panose="02040503050406030204" pitchFamily="18" charset="0"/>
                      </a:rPr>
                      <m:t>𝑁𝑋</m:t>
                    </m:r>
                    <m:r>
                      <a:rPr kumimoji="1" lang="en-US" altLang="zh-CN" i="1" dirty="0" smtClean="0">
                        <a:latin typeface="Cambria Math" panose="02040503050406030204" pitchFamily="18" charset="0"/>
                        <a:ea typeface="Cambria Math" panose="02040503050406030204" pitchFamily="18" charset="0"/>
                      </a:rPr>
                      <m:t> </m:t>
                    </m:r>
                  </m:oMath>
                </a14:m>
                <a:r>
                  <a:rPr kumimoji="1" lang="en-US" altLang="zh-CN" dirty="0">
                    <a:latin typeface="Cambria Math" panose="02040503050406030204" pitchFamily="18" charset="0"/>
                    <a:ea typeface="Cambria Math" panose="02040503050406030204" pitchFamily="18" charset="0"/>
                  </a:rPr>
                  <a:t>----</a:t>
                </a:r>
                <a:r>
                  <a:rPr kumimoji="1" lang="zh-CN" altLang="en-US" dirty="0">
                    <a:latin typeface="Cambria Math" panose="02040503050406030204" pitchFamily="18" charset="0"/>
                    <a:ea typeface="Cambria Math" panose="02040503050406030204" pitchFamily="18" charset="0"/>
                  </a:rPr>
                  <a:t>事后实现支出</a:t>
                </a:r>
                <a:endParaRPr kumimoji="1" lang="en-US" altLang="zh-CN" dirty="0">
                  <a:latin typeface="Cambria Math" panose="02040503050406030204" pitchFamily="18" charset="0"/>
                  <a:ea typeface="Cambria Math" panose="02040503050406030204" pitchFamily="18" charset="0"/>
                </a:endParaRPr>
              </a:p>
              <a:p>
                <a:pPr marL="201538" lvl="1" indent="0">
                  <a:lnSpc>
                    <a:spcPct val="110000"/>
                  </a:lnSpc>
                  <a:buNone/>
                </a:pPr>
                <a:r>
                  <a:rPr kumimoji="1" lang="zh-CN" altLang="en-US" dirty="0">
                    <a:ea typeface="Cambria Math" panose="02040503050406030204" pitchFamily="18" charset="0"/>
                  </a:rPr>
                  <a:t>总支出</a:t>
                </a:r>
                <a:r>
                  <a:rPr kumimoji="1" lang="en-US" altLang="zh-CN" dirty="0">
                    <a:ea typeface="Cambria Math" panose="02040503050406030204" pitchFamily="18" charset="0"/>
                  </a:rPr>
                  <a:t>/</a:t>
                </a:r>
                <a:r>
                  <a:rPr kumimoji="1" lang="zh-CN" altLang="en-US" dirty="0">
                    <a:solidFill>
                      <a:srgbClr val="FF0000"/>
                    </a:solidFill>
                    <a:ea typeface="Cambria Math" panose="02040503050406030204" pitchFamily="18" charset="0"/>
                  </a:rPr>
                  <a:t>需求</a:t>
                </a:r>
                <a:r>
                  <a:rPr kumimoji="1" lang="zh-CN" altLang="en-US" dirty="0">
                    <a:ea typeface="Cambria Math" panose="02040503050406030204" pitchFamily="18" charset="0"/>
                  </a:rPr>
                  <a:t>：</a:t>
                </a:r>
                <a14:m>
                  <m:oMath xmlns:m="http://schemas.openxmlformats.org/officeDocument/2006/math">
                    <m:r>
                      <a:rPr kumimoji="1" lang="en-US" altLang="zh-CN" i="1" dirty="0" smtClean="0">
                        <a:latin typeface="Cambria Math" panose="02040503050406030204" pitchFamily="18" charset="0"/>
                        <a:ea typeface="Cambria Math" panose="02040503050406030204" pitchFamily="18" charset="0"/>
                      </a:rPr>
                      <m:t>𝐴𝐷</m:t>
                    </m:r>
                    <m:r>
                      <a:rPr kumimoji="1" lang="en-US" altLang="zh-CN" i="1" dirty="0" smtClean="0">
                        <a:latin typeface="Cambria Math" panose="02040503050406030204" pitchFamily="18" charset="0"/>
                        <a:ea typeface="Cambria Math" panose="02040503050406030204" pitchFamily="18" charset="0"/>
                      </a:rPr>
                      <m:t>(</m:t>
                    </m:r>
                    <m:r>
                      <a:rPr kumimoji="1" lang="en-US" altLang="zh-CN" i="1" dirty="0" smtClean="0">
                        <a:latin typeface="Cambria Math" panose="02040503050406030204" pitchFamily="18" charset="0"/>
                        <a:ea typeface="Cambria Math" panose="02040503050406030204" pitchFamily="18" charset="0"/>
                      </a:rPr>
                      <m:t>𝑃𝐸</m:t>
                    </m:r>
                    <m:r>
                      <a:rPr kumimoji="1" lang="en-US" altLang="zh-CN" i="1" dirty="0">
                        <a:latin typeface="Cambria Math" panose="02040503050406030204" pitchFamily="18" charset="0"/>
                        <a:ea typeface="Cambria Math" panose="02040503050406030204" pitchFamily="18" charset="0"/>
                      </a:rPr>
                      <m:t>) </m:t>
                    </m:r>
                    <m:r>
                      <a:rPr kumimoji="1" lang="en-US" altLang="zh-CN">
                        <a:latin typeface="Cambria Math" panose="02040503050406030204" pitchFamily="18" charset="0"/>
                        <a:ea typeface="Cambria Math" panose="02040503050406030204" pitchFamily="18" charset="0"/>
                      </a:rPr>
                      <m:t>≡</m:t>
                    </m:r>
                    <m:r>
                      <a:rPr kumimoji="1" lang="en-US" altLang="zh-CN" i="1" dirty="0" smtClean="0">
                        <a:latin typeface="Cambria Math" panose="02040503050406030204" pitchFamily="18" charset="0"/>
                        <a:ea typeface="Cambria Math" panose="02040503050406030204" pitchFamily="18" charset="0"/>
                      </a:rPr>
                      <m:t> </m:t>
                    </m:r>
                    <m:r>
                      <a:rPr kumimoji="1" lang="en-US" altLang="zh-CN">
                        <a:latin typeface="Cambria Math" panose="02040503050406030204" pitchFamily="18" charset="0"/>
                        <a:ea typeface="Cambria Math" panose="02040503050406030204" pitchFamily="18" charset="0"/>
                      </a:rPr>
                      <m:t>𝐶</m:t>
                    </m:r>
                    <m:r>
                      <a:rPr kumimoji="1" lang="en-US" altLang="zh-CN">
                        <a:latin typeface="Cambria Math" panose="02040503050406030204" pitchFamily="18" charset="0"/>
                        <a:ea typeface="Cambria Math" panose="02040503050406030204" pitchFamily="18" charset="0"/>
                      </a:rPr>
                      <m:t>+</m:t>
                    </m:r>
                    <m:sSup>
                      <m:sSupPr>
                        <m:ctrlPr>
                          <a:rPr kumimoji="1" lang="en-US" altLang="zh-CN" b="0" i="1" smtClean="0">
                            <a:latin typeface="Cambria Math" panose="02040503050406030204" pitchFamily="18" charset="0"/>
                            <a:ea typeface="Cambria Math" panose="02040503050406030204" pitchFamily="18" charset="0"/>
                          </a:rPr>
                        </m:ctrlPr>
                      </m:sSupPr>
                      <m:e>
                        <m:r>
                          <m:rPr>
                            <m:sty m:val="p"/>
                          </m:rPr>
                          <a:rPr kumimoji="1" lang="en-US" altLang="zh-CN" b="0" i="0" smtClean="0">
                            <a:latin typeface="Cambria Math" panose="02040503050406030204" pitchFamily="18" charset="0"/>
                            <a:ea typeface="Cambria Math" panose="02040503050406030204" pitchFamily="18" charset="0"/>
                          </a:rPr>
                          <m:t>I</m:t>
                        </m:r>
                      </m:e>
                      <m:sup>
                        <m:r>
                          <a:rPr kumimoji="1" lang="en-US" altLang="zh-CN" b="0" i="1" smtClean="0">
                            <a:latin typeface="Cambria Math" panose="02040503050406030204" pitchFamily="18" charset="0"/>
                            <a:ea typeface="Cambria Math" panose="02040503050406030204" pitchFamily="18" charset="0"/>
                          </a:rPr>
                          <m:t>𝑝</m:t>
                        </m:r>
                      </m:sup>
                    </m:sSup>
                    <m:r>
                      <a:rPr kumimoji="1" lang="en-US" altLang="zh-CN">
                        <a:latin typeface="Cambria Math" panose="02040503050406030204" pitchFamily="18" charset="0"/>
                        <a:ea typeface="Cambria Math" panose="02040503050406030204" pitchFamily="18" charset="0"/>
                      </a:rPr>
                      <m:t>+</m:t>
                    </m:r>
                    <m:r>
                      <a:rPr kumimoji="1" lang="en-US" altLang="zh-CN">
                        <a:latin typeface="Cambria Math" panose="02040503050406030204" pitchFamily="18" charset="0"/>
                        <a:ea typeface="Cambria Math" panose="02040503050406030204" pitchFamily="18" charset="0"/>
                      </a:rPr>
                      <m:t>𝐺</m:t>
                    </m:r>
                    <m:r>
                      <a:rPr kumimoji="1" lang="en-US" altLang="zh-CN">
                        <a:latin typeface="Cambria Math" panose="02040503050406030204" pitchFamily="18" charset="0"/>
                        <a:ea typeface="Cambria Math" panose="02040503050406030204" pitchFamily="18" charset="0"/>
                      </a:rPr>
                      <m:t>+</m:t>
                    </m:r>
                    <m:r>
                      <a:rPr kumimoji="1" lang="en-US" altLang="zh-CN">
                        <a:latin typeface="Cambria Math" panose="02040503050406030204" pitchFamily="18" charset="0"/>
                        <a:ea typeface="Cambria Math" panose="02040503050406030204" pitchFamily="18" charset="0"/>
                      </a:rPr>
                      <m:t>𝑁𝑋</m:t>
                    </m:r>
                    <m:r>
                      <a:rPr kumimoji="1" lang="zh-CN" altLang="en-US" i="1" dirty="0" smtClean="0">
                        <a:latin typeface="Cambria Math" panose="02040503050406030204" pitchFamily="18" charset="0"/>
                        <a:ea typeface="Cambria Math" panose="02040503050406030204" pitchFamily="18" charset="0"/>
                      </a:rPr>
                      <m:t>  </m:t>
                    </m:r>
                  </m:oMath>
                </a14:m>
                <a:r>
                  <a:rPr kumimoji="1" lang="en-US" altLang="zh-CN" dirty="0">
                    <a:latin typeface="Cambria Math" panose="02040503050406030204" pitchFamily="18" charset="0"/>
                    <a:ea typeface="Cambria Math" panose="02040503050406030204" pitchFamily="18" charset="0"/>
                  </a:rPr>
                  <a:t>----</a:t>
                </a:r>
                <a:r>
                  <a:rPr kumimoji="1" lang="zh-CN" altLang="en-US" dirty="0">
                    <a:latin typeface="Cambria Math" panose="02040503050406030204" pitchFamily="18" charset="0"/>
                    <a:ea typeface="Cambria Math" panose="02040503050406030204" pitchFamily="18" charset="0"/>
                  </a:rPr>
                  <a:t>事前计划支出</a:t>
                </a:r>
                <a:endParaRPr kumimoji="1" lang="en-US" altLang="zh-CN" dirty="0">
                  <a:latin typeface="Cambria Math" panose="02040503050406030204" pitchFamily="18" charset="0"/>
                  <a:ea typeface="Cambria Math" panose="02040503050406030204" pitchFamily="18" charset="0"/>
                </a:endParaRPr>
              </a:p>
              <a:p>
                <a:pPr marL="201538" lvl="1" indent="0">
                  <a:lnSpc>
                    <a:spcPct val="110000"/>
                  </a:lnSpc>
                  <a:buNone/>
                </a:pPr>
                <a:r>
                  <a:rPr kumimoji="1" lang="en-US" altLang="zh-CN" dirty="0">
                    <a:latin typeface="Cambria Math" panose="02040503050406030204" pitchFamily="18" charset="0"/>
                    <a:ea typeface="Cambria Math" panose="02040503050406030204" pitchFamily="18" charset="0"/>
                  </a:rPr>
                  <a:t>Where</a:t>
                </a:r>
                <a:r>
                  <a:rPr kumimoji="1" lang="zh-CN" altLang="en-US" dirty="0">
                    <a:latin typeface="Cambria Math" panose="02040503050406030204" pitchFamily="18" charset="0"/>
                    <a:ea typeface="Cambria Math" panose="02040503050406030204" pitchFamily="18" charset="0"/>
                  </a:rPr>
                  <a:t> </a:t>
                </a:r>
                <a:r>
                  <a:rPr kumimoji="1" lang="en-US" altLang="zh-CN" dirty="0">
                    <a:latin typeface="Cambria Math" panose="02040503050406030204" pitchFamily="18" charset="0"/>
                    <a:ea typeface="Cambria Math" panose="02040503050406030204" pitchFamily="18" charset="0"/>
                  </a:rPr>
                  <a:t>NX=X-M</a:t>
                </a:r>
              </a:p>
            </p:txBody>
          </p:sp>
        </mc:Choice>
        <mc:Fallback xmlns="">
          <p:sp>
            <p:nvSpPr>
              <p:cNvPr id="3" name="内容占位符 2">
                <a:extLst>
                  <a:ext uri="{FF2B5EF4-FFF2-40B4-BE49-F238E27FC236}">
                    <a16:creationId xmlns:a16="http://schemas.microsoft.com/office/drawing/2014/main" id="{B41DC8A9-6D34-64CC-930E-37E3DDC1F0B1}"/>
                  </a:ext>
                </a:extLst>
              </p:cNvPr>
              <p:cNvSpPr>
                <a:spLocks noGrp="1" noRot="1" noChangeAspect="1" noMove="1" noResize="1" noEditPoints="1" noAdjustHandles="1" noChangeArrowheads="1" noChangeShapeType="1" noTextEdit="1"/>
              </p:cNvSpPr>
              <p:nvPr>
                <p:ph idx="1"/>
              </p:nvPr>
            </p:nvSpPr>
            <p:spPr>
              <a:blipFill>
                <a:blip r:embed="rId2"/>
                <a:stretch>
                  <a:fillRect l="-1832" r="-916"/>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D49A763B-6A36-5622-0DB8-8E55B9A6B004}"/>
              </a:ext>
            </a:extLst>
          </p:cNvPr>
          <p:cNvSpPr>
            <a:spLocks noGrp="1"/>
          </p:cNvSpPr>
          <p:nvPr>
            <p:ph type="ftr" sz="quarter" idx="10"/>
          </p:nvPr>
        </p:nvSpPr>
        <p:spPr/>
        <p:txBody>
          <a:bodyPr/>
          <a:lstStyle/>
          <a:p>
            <a:pPr defTabSz="230520"/>
            <a:r>
              <a:rPr lang="zh-CN" altLang="en-US" sz="908" dirty="0">
                <a:latin typeface="Arial"/>
              </a:rPr>
              <a:t>均衡国民收入的决定</a:t>
            </a:r>
            <a:endParaRPr lang="zh-CN" altLang="zh-CN" sz="908" dirty="0">
              <a:latin typeface="Arial"/>
            </a:endParaRPr>
          </a:p>
        </p:txBody>
      </p:sp>
      <p:sp>
        <p:nvSpPr>
          <p:cNvPr id="5" name="灯片编号占位符 4">
            <a:extLst>
              <a:ext uri="{FF2B5EF4-FFF2-40B4-BE49-F238E27FC236}">
                <a16:creationId xmlns:a16="http://schemas.microsoft.com/office/drawing/2014/main" id="{76F322CD-A014-6FB9-B3BB-4991627F2BEB}"/>
              </a:ext>
            </a:extLst>
          </p:cNvPr>
          <p:cNvSpPr>
            <a:spLocks noGrp="1"/>
          </p:cNvSpPr>
          <p:nvPr>
            <p:ph type="sldNum" sz="quarter" idx="11"/>
          </p:nvPr>
        </p:nvSpPr>
        <p:spPr/>
        <p:txBody>
          <a:bodyPr/>
          <a:lstStyle/>
          <a:p>
            <a:pPr defTabSz="230520"/>
            <a:fld id="{FF75CA96-F32A-7F4F-98C9-CA940BD9BB90}" type="slidenum">
              <a:rPr lang="zh-CN" altLang="zh-CN">
                <a:latin typeface="Arial"/>
              </a:rPr>
              <a:pPr defTabSz="230520"/>
              <a:t>23</a:t>
            </a:fld>
            <a:endParaRPr lang="en-US" altLang="zh-CN">
              <a:latin typeface="Arial"/>
            </a:endParaRPr>
          </a:p>
        </p:txBody>
      </p:sp>
      <p:sp>
        <p:nvSpPr>
          <p:cNvPr id="6" name="矩形 5">
            <a:extLst>
              <a:ext uri="{FF2B5EF4-FFF2-40B4-BE49-F238E27FC236}">
                <a16:creationId xmlns:a16="http://schemas.microsoft.com/office/drawing/2014/main" id="{29A84594-5020-65A7-8F63-268BDBDB1ADA}"/>
              </a:ext>
            </a:extLst>
          </p:cNvPr>
          <p:cNvSpPr/>
          <p:nvPr/>
        </p:nvSpPr>
        <p:spPr>
          <a:xfrm>
            <a:off x="2117521" y="868912"/>
            <a:ext cx="187529" cy="250039"/>
          </a:xfrm>
          <a:prstGeom prst="rect">
            <a:avLst/>
          </a:prstGeom>
          <a:noFill/>
          <a:ln w="2222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defTabSz="230520"/>
            <a:endParaRPr kumimoji="1" lang="zh-CN" altLang="en-US" sz="908">
              <a:solidFill>
                <a:srgbClr val="000000"/>
              </a:solidFill>
              <a:latin typeface="Arial"/>
            </a:endParaRPr>
          </a:p>
        </p:txBody>
      </p:sp>
      <p:sp>
        <p:nvSpPr>
          <p:cNvPr id="7" name="矩形 6">
            <a:extLst>
              <a:ext uri="{FF2B5EF4-FFF2-40B4-BE49-F238E27FC236}">
                <a16:creationId xmlns:a16="http://schemas.microsoft.com/office/drawing/2014/main" id="{25EB4C8B-91BA-2FDB-4682-46F6B2D22F52}"/>
              </a:ext>
            </a:extLst>
          </p:cNvPr>
          <p:cNvSpPr/>
          <p:nvPr/>
        </p:nvSpPr>
        <p:spPr>
          <a:xfrm>
            <a:off x="2702249" y="1118951"/>
            <a:ext cx="187529" cy="250039"/>
          </a:xfrm>
          <a:prstGeom prst="rect">
            <a:avLst/>
          </a:prstGeom>
          <a:noFill/>
          <a:ln w="2222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defTabSz="230520"/>
            <a:endParaRPr kumimoji="1" lang="zh-CN" altLang="en-US" sz="908">
              <a:solidFill>
                <a:srgbClr val="000000"/>
              </a:solidFill>
              <a:latin typeface="Arial"/>
            </a:endParaRPr>
          </a:p>
        </p:txBody>
      </p:sp>
    </p:spTree>
    <p:extLst>
      <p:ext uri="{BB962C8B-B14F-4D97-AF65-F5344CB8AC3E}">
        <p14:creationId xmlns:p14="http://schemas.microsoft.com/office/powerpoint/2010/main" val="1517475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1" nodeType="clickEffect">
                                  <p:stCondLst>
                                    <p:cond delay="0"/>
                                  </p:stCondLst>
                                  <p:childTnLst>
                                    <p:animEffect transition="out" filter="fade">
                                      <p:cBhvr>
                                        <p:cTn id="11" dur="500" tmFilter="0, 0; .2, .5; .8, .5; 1, 0"/>
                                        <p:tgtEl>
                                          <p:spTgt spid="6"/>
                                        </p:tgtEl>
                                      </p:cBhvr>
                                    </p:animEffect>
                                    <p:animScale>
                                      <p:cBhvr>
                                        <p:cTn id="12" dur="250" autoRev="1" fill="hold"/>
                                        <p:tgtEl>
                                          <p:spTgt spid="6"/>
                                        </p:tgtEl>
                                      </p:cBhvr>
                                      <p:by x="105000" y="105000"/>
                                    </p:animScale>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6" presetClass="emph" presetSubtype="0" fill="hold" grpId="1" nodeType="clickEffect">
                                  <p:stCondLst>
                                    <p:cond delay="0"/>
                                  </p:stCondLst>
                                  <p:childTnLst>
                                    <p:animEffect transition="out" filter="fade">
                                      <p:cBhvr>
                                        <p:cTn id="21" dur="500" tmFilter="0, 0; .2, .5; .8, .5; 1, 0"/>
                                        <p:tgtEl>
                                          <p:spTgt spid="7"/>
                                        </p:tgtEl>
                                      </p:cBhvr>
                                    </p:animEffect>
                                    <p:animScale>
                                      <p:cBhvr>
                                        <p:cTn id="22" dur="250" autoRev="1"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1888DD-C2B2-B0DD-15DF-723455A9F945}"/>
              </a:ext>
            </a:extLst>
          </p:cNvPr>
          <p:cNvSpPr>
            <a:spLocks noGrp="1"/>
          </p:cNvSpPr>
          <p:nvPr>
            <p:ph type="title"/>
          </p:nvPr>
        </p:nvSpPr>
        <p:spPr/>
        <p:txBody>
          <a:bodyPr/>
          <a:lstStyle/>
          <a:p>
            <a:r>
              <a:rPr kumimoji="1" lang="zh-CN" altLang="en-US" b="0" dirty="0">
                <a:latin typeface="Microsoft YaHei" panose="020B0503020204020204" pitchFamily="34" charset="-122"/>
                <a:ea typeface="Microsoft YaHei" panose="020B0503020204020204" pitchFamily="34" charset="-122"/>
              </a:rPr>
              <a:t>均衡产出的条件：投资储蓄恒等式</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B61F366-A393-DAAE-1C4F-CA525215198C}"/>
                  </a:ext>
                </a:extLst>
              </p:cNvPr>
              <p:cNvSpPr>
                <a:spLocks noGrp="1"/>
              </p:cNvSpPr>
              <p:nvPr>
                <p:ph idx="1"/>
              </p:nvPr>
            </p:nvSpPr>
            <p:spPr/>
            <p:txBody>
              <a:bodyPr/>
              <a:lstStyle/>
              <a:p>
                <a:pPr>
                  <a:lnSpc>
                    <a:spcPct val="150000"/>
                  </a:lnSpc>
                </a:pPr>
                <a:r>
                  <a:rPr kumimoji="1" lang="zh-CN" altLang="en-US" b="1" dirty="0">
                    <a:latin typeface="SimSun" panose="02010600030101010101" pitchFamily="2" charset="-122"/>
                    <a:ea typeface="SimSun" panose="02010600030101010101" pitchFamily="2" charset="-122"/>
                  </a:rPr>
                  <a:t>均衡产出</a:t>
                </a:r>
                <a:r>
                  <a:rPr kumimoji="1" lang="zh-CN" altLang="en-US" dirty="0">
                    <a:latin typeface="SimSun" panose="02010600030101010101" pitchFamily="2" charset="-122"/>
                    <a:ea typeface="SimSun" panose="02010600030101010101" pitchFamily="2" charset="-122"/>
                  </a:rPr>
                  <a:t>是指产出水平和总需求水平相一致时，企业生产保持稳定的一种状态</a:t>
                </a:r>
                <a:endParaRPr kumimoji="1" lang="en-US" altLang="zh-CN" dirty="0">
                  <a:solidFill>
                    <a:srgbClr val="FF0000"/>
                  </a:solidFill>
                  <a:latin typeface="Microsoft YaHei" panose="020B0503020204020204" pitchFamily="34" charset="-122"/>
                  <a:ea typeface="Microsoft YaHei" panose="020B0503020204020204" pitchFamily="34" charset="-122"/>
                </a:endParaRPr>
              </a:p>
              <a:p>
                <a:pPr>
                  <a:lnSpc>
                    <a:spcPct val="150000"/>
                  </a:lnSpc>
                </a:pPr>
                <a:r>
                  <a:rPr kumimoji="1" lang="zh-CN" altLang="en-US" dirty="0">
                    <a:solidFill>
                      <a:srgbClr val="FF0000"/>
                    </a:solidFill>
                    <a:latin typeface="Microsoft YaHei" panose="020B0503020204020204" pitchFamily="34" charset="-122"/>
                    <a:ea typeface="Microsoft YaHei" panose="020B0503020204020204" pitchFamily="34" charset="-122"/>
                  </a:rPr>
                  <a:t>均衡总产量的决定：</a:t>
                </a:r>
                <a:endParaRPr kumimoji="1" lang="en-US" altLang="zh-CN" dirty="0">
                  <a:solidFill>
                    <a:srgbClr val="FF0000"/>
                  </a:solidFill>
                  <a:latin typeface="Microsoft YaHei" panose="020B0503020204020204" pitchFamily="34" charset="-122"/>
                  <a:ea typeface="Microsoft YaHei" panose="020B0503020204020204" pitchFamily="34" charset="-122"/>
                </a:endParaRPr>
              </a:p>
              <a:p>
                <a:pPr marL="201538" lvl="1" indent="0">
                  <a:lnSpc>
                    <a:spcPct val="110000"/>
                  </a:lnSpc>
                  <a:buNone/>
                </a:pPr>
                <a14:m>
                  <m:oMathPara xmlns:m="http://schemas.openxmlformats.org/officeDocument/2006/math">
                    <m:oMathParaPr>
                      <m:jc m:val="centerGroup"/>
                    </m:oMathParaPr>
                    <m:oMath xmlns:m="http://schemas.openxmlformats.org/officeDocument/2006/math">
                      <m:r>
                        <a:rPr kumimoji="1" lang="en-US" altLang="zh-CN" b="0" i="1" dirty="0" smtClean="0">
                          <a:solidFill>
                            <a:schemeClr val="tx1"/>
                          </a:solidFill>
                          <a:latin typeface="Cambria Math" panose="02040503050406030204" pitchFamily="18" charset="0"/>
                          <a:ea typeface="Cambria Math" panose="02040503050406030204" pitchFamily="18" charset="0"/>
                        </a:rPr>
                        <m:t>𝑌</m:t>
                      </m:r>
                      <m:r>
                        <a:rPr kumimoji="1" lang="en-US" altLang="zh-CN" i="1" dirty="0" smtClean="0">
                          <a:solidFill>
                            <a:schemeClr val="tx1"/>
                          </a:solidFill>
                          <a:latin typeface="Cambria Math" panose="02040503050406030204" pitchFamily="18" charset="0"/>
                          <a:ea typeface="SimSun" panose="02010600030101010101" pitchFamily="2" charset="-122"/>
                        </a:rPr>
                        <m:t>= </m:t>
                      </m:r>
                      <m:r>
                        <a:rPr kumimoji="1" lang="en-US" altLang="zh-CN" i="1" dirty="0">
                          <a:solidFill>
                            <a:schemeClr val="tx1"/>
                          </a:solidFill>
                          <a:latin typeface="Cambria Math" panose="02040503050406030204" pitchFamily="18" charset="0"/>
                          <a:ea typeface="SimSun" panose="02010600030101010101" pitchFamily="2" charset="-122"/>
                        </a:rPr>
                        <m:t>𝐴𝐷</m:t>
                      </m:r>
                      <m:d>
                        <m:dPr>
                          <m:ctrlPr>
                            <a:rPr kumimoji="1" lang="en-US" altLang="zh-CN" i="1" dirty="0">
                              <a:solidFill>
                                <a:schemeClr val="tx1"/>
                              </a:solidFill>
                              <a:latin typeface="Cambria Math" panose="02040503050406030204" pitchFamily="18" charset="0"/>
                              <a:ea typeface="SimSun" panose="02010600030101010101" pitchFamily="2" charset="-122"/>
                            </a:rPr>
                          </m:ctrlPr>
                        </m:dPr>
                        <m:e>
                          <m:r>
                            <a:rPr kumimoji="1" lang="en-US" altLang="zh-CN" i="1" dirty="0">
                              <a:solidFill>
                                <a:schemeClr val="tx1"/>
                              </a:solidFill>
                              <a:latin typeface="Cambria Math" panose="02040503050406030204" pitchFamily="18" charset="0"/>
                              <a:ea typeface="SimSun" panose="02010600030101010101" pitchFamily="2" charset="-122"/>
                            </a:rPr>
                            <m:t>𝑃𝐸</m:t>
                          </m:r>
                        </m:e>
                      </m:d>
                      <m:r>
                        <a:rPr kumimoji="1" lang="en-US" altLang="zh-CN" i="1" dirty="0" smtClean="0">
                          <a:solidFill>
                            <a:schemeClr val="tx1"/>
                          </a:solidFill>
                          <a:latin typeface="Cambria Math" panose="02040503050406030204" pitchFamily="18" charset="0"/>
                          <a:ea typeface="Cambria Math" panose="02040503050406030204" pitchFamily="18" charset="0"/>
                        </a:rPr>
                        <m:t>≡</m:t>
                      </m:r>
                      <m:r>
                        <a:rPr kumimoji="1" lang="en-US" altLang="zh-CN" i="1" dirty="0" smtClean="0">
                          <a:solidFill>
                            <a:schemeClr val="tx1"/>
                          </a:solidFill>
                          <a:latin typeface="Cambria Math" panose="02040503050406030204" pitchFamily="18" charset="0"/>
                          <a:ea typeface="SimSun" panose="02010600030101010101" pitchFamily="2" charset="-122"/>
                        </a:rPr>
                        <m:t> </m:t>
                      </m:r>
                      <m:r>
                        <a:rPr kumimoji="1" lang="en-US" altLang="zh-CN" i="1" dirty="0" smtClean="0">
                          <a:solidFill>
                            <a:schemeClr val="tx1"/>
                          </a:solidFill>
                          <a:latin typeface="Cambria Math" panose="02040503050406030204" pitchFamily="18" charset="0"/>
                          <a:ea typeface="Cambria Math" panose="02040503050406030204" pitchFamily="18" charset="0"/>
                        </a:rPr>
                        <m:t>𝐶</m:t>
                      </m:r>
                      <m:r>
                        <a:rPr kumimoji="1" lang="en-US" altLang="zh-CN" i="1" dirty="0" smtClean="0">
                          <a:solidFill>
                            <a:schemeClr val="tx1"/>
                          </a:solidFill>
                          <a:latin typeface="Cambria Math" panose="02040503050406030204" pitchFamily="18" charset="0"/>
                          <a:ea typeface="Cambria Math" panose="02040503050406030204" pitchFamily="18" charset="0"/>
                        </a:rPr>
                        <m:t>+</m:t>
                      </m:r>
                      <m:sSup>
                        <m:sSupPr>
                          <m:ctrlPr>
                            <a:rPr kumimoji="1" lang="en-US" altLang="zh-CN" b="0" i="1" dirty="0" smtClean="0">
                              <a:solidFill>
                                <a:schemeClr val="tx1"/>
                              </a:solidFill>
                              <a:latin typeface="Cambria Math" panose="02040503050406030204" pitchFamily="18" charset="0"/>
                              <a:ea typeface="Cambria Math" panose="02040503050406030204" pitchFamily="18" charset="0"/>
                            </a:rPr>
                          </m:ctrlPr>
                        </m:sSupPr>
                        <m:e>
                          <m:r>
                            <a:rPr kumimoji="1" lang="en-US" altLang="zh-CN" b="0" i="1" dirty="0" smtClean="0">
                              <a:solidFill>
                                <a:schemeClr val="tx1"/>
                              </a:solidFill>
                              <a:latin typeface="Cambria Math" panose="02040503050406030204" pitchFamily="18" charset="0"/>
                              <a:ea typeface="Cambria Math" panose="02040503050406030204" pitchFamily="18" charset="0"/>
                            </a:rPr>
                            <m:t>𝐼</m:t>
                          </m:r>
                        </m:e>
                        <m:sup>
                          <m:r>
                            <a:rPr kumimoji="1" lang="en-US" altLang="zh-CN" b="0" i="1" dirty="0" smtClean="0">
                              <a:solidFill>
                                <a:schemeClr val="tx1"/>
                              </a:solidFill>
                              <a:latin typeface="Cambria Math" panose="02040503050406030204" pitchFamily="18" charset="0"/>
                              <a:ea typeface="Cambria Math" panose="02040503050406030204" pitchFamily="18" charset="0"/>
                            </a:rPr>
                            <m:t>𝑝</m:t>
                          </m:r>
                        </m:sup>
                      </m:sSup>
                      <m:r>
                        <a:rPr kumimoji="1" lang="en-US" altLang="zh-CN" b="0" i="1" dirty="0" smtClean="0">
                          <a:solidFill>
                            <a:schemeClr val="tx1"/>
                          </a:solidFill>
                          <a:latin typeface="Cambria Math" panose="02040503050406030204" pitchFamily="18" charset="0"/>
                          <a:ea typeface="Cambria Math" panose="02040503050406030204" pitchFamily="18" charset="0"/>
                        </a:rPr>
                        <m:t>+</m:t>
                      </m:r>
                      <m:r>
                        <a:rPr kumimoji="1" lang="en-US" altLang="zh-CN" i="1" dirty="0" smtClean="0">
                          <a:solidFill>
                            <a:schemeClr val="tx1"/>
                          </a:solidFill>
                          <a:latin typeface="Cambria Math" panose="02040503050406030204" pitchFamily="18" charset="0"/>
                          <a:ea typeface="Cambria Math" panose="02040503050406030204" pitchFamily="18" charset="0"/>
                        </a:rPr>
                        <m:t>𝐺</m:t>
                      </m:r>
                      <m:r>
                        <a:rPr kumimoji="1" lang="en-US" altLang="zh-CN" i="1" dirty="0" smtClean="0">
                          <a:latin typeface="Cambria Math" panose="02040503050406030204" pitchFamily="18" charset="0"/>
                          <a:ea typeface="Cambria Math" panose="02040503050406030204" pitchFamily="18" charset="0"/>
                        </a:rPr>
                        <m:t>+</m:t>
                      </m:r>
                      <m:r>
                        <a:rPr kumimoji="1" lang="en-US" altLang="zh-CN" i="1" dirty="0" smtClean="0">
                          <a:latin typeface="Cambria Math" panose="02040503050406030204" pitchFamily="18" charset="0"/>
                          <a:ea typeface="Cambria Math" panose="02040503050406030204" pitchFamily="18" charset="0"/>
                        </a:rPr>
                        <m:t>𝑁𝑋</m:t>
                      </m:r>
                      <m:r>
                        <a:rPr kumimoji="1" lang="zh-CN" altLang="en-US" i="1" dirty="0">
                          <a:latin typeface="Cambria Math" panose="02040503050406030204" pitchFamily="18" charset="0"/>
                          <a:ea typeface="SimSun" panose="02010600030101010101" pitchFamily="2" charset="-122"/>
                        </a:rPr>
                        <m:t> </m:t>
                      </m:r>
                    </m:oMath>
                  </m:oMathPara>
                </a14:m>
                <a:endParaRPr kumimoji="1" lang="en-US" altLang="zh-CN" dirty="0">
                  <a:latin typeface="Garamond" panose="02020404030301010803" pitchFamily="18" charset="0"/>
                  <a:ea typeface="SimSun" panose="02010600030101010101" pitchFamily="2" charset="-122"/>
                </a:endParaRPr>
              </a:p>
              <a:p>
                <a:pPr marL="201538" lvl="1" indent="0">
                  <a:lnSpc>
                    <a:spcPct val="110000"/>
                  </a:lnSpc>
                  <a:buNone/>
                </a:pPr>
                <a14:m>
                  <m:oMath xmlns:m="http://schemas.openxmlformats.org/officeDocument/2006/math">
                    <m:r>
                      <m:rPr>
                        <m:sty m:val="p"/>
                      </m:rPr>
                      <a:rPr kumimoji="1" lang="en-US" altLang="zh-CN" b="0" i="0" smtClean="0">
                        <a:latin typeface="Cambria Math" panose="02040503050406030204" pitchFamily="18" charset="0"/>
                        <a:ea typeface="Cambria Math" panose="02040503050406030204" pitchFamily="18" charset="0"/>
                      </a:rPr>
                      <m:t>Y</m:t>
                    </m:r>
                  </m:oMath>
                </a14:m>
                <a:r>
                  <a:rPr kumimoji="1" lang="zh-CN" altLang="en-US" dirty="0">
                    <a:latin typeface="Garamond" panose="02020404030301010803" pitchFamily="18" charset="0"/>
                    <a:ea typeface="SimSun" panose="02010600030101010101" pitchFamily="2" charset="-122"/>
                  </a:rPr>
                  <a:t>是总产量（</a:t>
                </a:r>
                <a:r>
                  <a:rPr kumimoji="1" lang="en-US" altLang="zh-CN" dirty="0">
                    <a:latin typeface="Garamond" panose="02020404030301010803" pitchFamily="18" charset="0"/>
                    <a:ea typeface="SimSun" panose="02010600030101010101" pitchFamily="2" charset="-122"/>
                  </a:rPr>
                  <a:t>GDP</a:t>
                </a:r>
                <a:r>
                  <a:rPr kumimoji="1" lang="zh-CN" altLang="en-US" dirty="0">
                    <a:latin typeface="Garamond" panose="02020404030301010803" pitchFamily="18" charset="0"/>
                    <a:ea typeface="SimSun" panose="02010600030101010101" pitchFamily="2" charset="-122"/>
                  </a:rPr>
                  <a:t>）：对总产量的实际总支出</a:t>
                </a:r>
                <a:endParaRPr kumimoji="1" lang="en-US" altLang="zh-CN" dirty="0">
                  <a:latin typeface="Garamond" panose="02020404030301010803" pitchFamily="18" charset="0"/>
                  <a:ea typeface="SimSun" panose="02010600030101010101" pitchFamily="2" charset="-122"/>
                </a:endParaRPr>
              </a:p>
              <a:p>
                <a:pPr marL="201538" lvl="1" indent="0">
                  <a:lnSpc>
                    <a:spcPct val="110000"/>
                  </a:lnSpc>
                  <a:buNone/>
                </a:pPr>
                <a:r>
                  <a:rPr kumimoji="1" lang="en-US" altLang="zh-CN" dirty="0">
                    <a:latin typeface="Garamond" panose="02020404030301010803" pitchFamily="18" charset="0"/>
                    <a:ea typeface="SimSun" panose="02010600030101010101" pitchFamily="2" charset="-122"/>
                  </a:rPr>
                  <a:t>AD</a:t>
                </a:r>
                <a:r>
                  <a:rPr kumimoji="1" lang="zh-CN" altLang="en-US" dirty="0">
                    <a:latin typeface="Garamond" panose="02020404030301010803" pitchFamily="18" charset="0"/>
                    <a:ea typeface="SimSun" panose="02010600030101010101" pitchFamily="2" charset="-122"/>
                  </a:rPr>
                  <a:t>是总需求：对总产量的计划支出</a:t>
                </a:r>
              </a:p>
            </p:txBody>
          </p:sp>
        </mc:Choice>
        <mc:Fallback xmlns="">
          <p:sp>
            <p:nvSpPr>
              <p:cNvPr id="3" name="内容占位符 2">
                <a:extLst>
                  <a:ext uri="{FF2B5EF4-FFF2-40B4-BE49-F238E27FC236}">
                    <a16:creationId xmlns:a16="http://schemas.microsoft.com/office/drawing/2014/main" id="{6B61F366-A393-DAAE-1C4F-CA525215198C}"/>
                  </a:ext>
                </a:extLst>
              </p:cNvPr>
              <p:cNvSpPr>
                <a:spLocks noGrp="1" noRot="1" noChangeAspect="1" noMove="1" noResize="1" noEditPoints="1" noAdjustHandles="1" noChangeArrowheads="1" noChangeShapeType="1" noTextEdit="1"/>
              </p:cNvSpPr>
              <p:nvPr>
                <p:ph idx="1"/>
              </p:nvPr>
            </p:nvSpPr>
            <p:spPr>
              <a:blipFill>
                <a:blip r:embed="rId2"/>
                <a:stretch>
                  <a:fillRect l="-1832"/>
                </a:stretch>
              </a:blipFill>
            </p:spPr>
            <p:txBody>
              <a:bodyPr/>
              <a:lstStyle/>
              <a:p>
                <a:r>
                  <a:rPr lang="zh-CN" altLang="en-US">
                    <a:noFill/>
                  </a:rPr>
                  <a:t> </a:t>
                </a:r>
              </a:p>
            </p:txBody>
          </p:sp>
        </mc:Fallback>
      </mc:AlternateContent>
      <p:sp>
        <p:nvSpPr>
          <p:cNvPr id="4" name="页脚占位符 3">
            <a:extLst>
              <a:ext uri="{FF2B5EF4-FFF2-40B4-BE49-F238E27FC236}">
                <a16:creationId xmlns:a16="http://schemas.microsoft.com/office/drawing/2014/main" id="{9161B42C-4DC7-AFBC-C05F-A8F2AE27B44C}"/>
              </a:ext>
            </a:extLst>
          </p:cNvPr>
          <p:cNvSpPr>
            <a:spLocks noGrp="1"/>
          </p:cNvSpPr>
          <p:nvPr>
            <p:ph type="ftr" sz="quarter" idx="10"/>
          </p:nvPr>
        </p:nvSpPr>
        <p:spPr/>
        <p:txBody>
          <a:bodyPr/>
          <a:lstStyle/>
          <a:p>
            <a:pPr defTabSz="230520"/>
            <a:r>
              <a:rPr lang="zh-CN" altLang="en-US" sz="908">
                <a:latin typeface="Arial"/>
              </a:rPr>
              <a:t>均衡国民收入的决定</a:t>
            </a:r>
            <a:endParaRPr lang="zh-CN" altLang="zh-CN" sz="908" dirty="0">
              <a:latin typeface="Arial"/>
            </a:endParaRPr>
          </a:p>
        </p:txBody>
      </p:sp>
      <p:sp>
        <p:nvSpPr>
          <p:cNvPr id="5" name="灯片编号占位符 4">
            <a:extLst>
              <a:ext uri="{FF2B5EF4-FFF2-40B4-BE49-F238E27FC236}">
                <a16:creationId xmlns:a16="http://schemas.microsoft.com/office/drawing/2014/main" id="{73C7A3E6-237E-82EA-51B4-4BE6B15400CD}"/>
              </a:ext>
            </a:extLst>
          </p:cNvPr>
          <p:cNvSpPr>
            <a:spLocks noGrp="1"/>
          </p:cNvSpPr>
          <p:nvPr>
            <p:ph type="sldNum" sz="quarter" idx="11"/>
          </p:nvPr>
        </p:nvSpPr>
        <p:spPr/>
        <p:txBody>
          <a:bodyPr/>
          <a:lstStyle/>
          <a:p>
            <a:pPr defTabSz="230520"/>
            <a:fld id="{FF75CA96-F32A-7F4F-98C9-CA940BD9BB90}" type="slidenum">
              <a:rPr lang="zh-CN" altLang="zh-CN">
                <a:latin typeface="Arial"/>
              </a:rPr>
              <a:pPr defTabSz="230520"/>
              <a:t>24</a:t>
            </a:fld>
            <a:endParaRPr lang="en-US" altLang="zh-CN">
              <a:latin typeface="Arial"/>
            </a:endParaRPr>
          </a:p>
        </p:txBody>
      </p:sp>
    </p:spTree>
    <p:extLst>
      <p:ext uri="{BB962C8B-B14F-4D97-AF65-F5344CB8AC3E}">
        <p14:creationId xmlns:p14="http://schemas.microsoft.com/office/powerpoint/2010/main" val="10430041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xf131">
            <a:extLst>
              <a:ext uri="{FF2B5EF4-FFF2-40B4-BE49-F238E27FC236}">
                <a16:creationId xmlns:a16="http://schemas.microsoft.com/office/drawing/2014/main" id="{B1D4C4FA-25CA-B36F-B9B1-CA35C4A74FF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8366" y="1115132"/>
            <a:ext cx="4261230" cy="2046254"/>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888BA4DB-521D-BA94-F712-86AADC953216}"/>
              </a:ext>
            </a:extLst>
          </p:cNvPr>
          <p:cNvSpPr>
            <a:spLocks noGrp="1"/>
          </p:cNvSpPr>
          <p:nvPr>
            <p:ph type="title"/>
          </p:nvPr>
        </p:nvSpPr>
        <p:spPr/>
        <p:txBody>
          <a:bodyPr/>
          <a:lstStyle/>
          <a:p>
            <a:r>
              <a:rPr kumimoji="1" lang="zh-CN" altLang="en-US" b="0" dirty="0">
                <a:latin typeface="Microsoft YaHei" panose="020B0503020204020204" pitchFamily="34" charset="-122"/>
                <a:ea typeface="Microsoft YaHei" panose="020B0503020204020204" pitchFamily="34" charset="-122"/>
              </a:rPr>
              <a:t>均衡产出的条件</a:t>
            </a:r>
          </a:p>
        </p:txBody>
      </p:sp>
      <p:sp>
        <p:nvSpPr>
          <p:cNvPr id="3" name="内容占位符 2">
            <a:extLst>
              <a:ext uri="{FF2B5EF4-FFF2-40B4-BE49-F238E27FC236}">
                <a16:creationId xmlns:a16="http://schemas.microsoft.com/office/drawing/2014/main" id="{4BF6AD10-AE71-3C8E-6B1F-6341191E441F}"/>
              </a:ext>
            </a:extLst>
          </p:cNvPr>
          <p:cNvSpPr>
            <a:spLocks noGrp="1"/>
          </p:cNvSpPr>
          <p:nvPr>
            <p:ph idx="1"/>
          </p:nvPr>
        </p:nvSpPr>
        <p:spPr/>
        <p:txBody>
          <a:bodyPr/>
          <a:lstStyle/>
          <a:p>
            <a:r>
              <a:rPr kumimoji="1" lang="zh-CN" altLang="en-US" sz="1210" dirty="0">
                <a:solidFill>
                  <a:srgbClr val="FF0000"/>
                </a:solidFill>
                <a:latin typeface="Microsoft YaHei" panose="020B0503020204020204" pitchFamily="34" charset="-122"/>
                <a:ea typeface="Microsoft YaHei" panose="020B0503020204020204" pitchFamily="34" charset="-122"/>
              </a:rPr>
              <a:t>为什么总产量决定于计划总支出即总需求？</a:t>
            </a:r>
            <a:endParaRPr kumimoji="1" lang="en-US" altLang="zh-CN" sz="1210" dirty="0">
              <a:solidFill>
                <a:srgbClr val="FF0000"/>
              </a:solidFill>
              <a:latin typeface="Microsoft YaHei" panose="020B0503020204020204" pitchFamily="34" charset="-122"/>
              <a:ea typeface="Microsoft YaHei" panose="020B0503020204020204" pitchFamily="34" charset="-122"/>
            </a:endParaRPr>
          </a:p>
          <a:p>
            <a:pPr marL="201538" lvl="1" indent="0">
              <a:lnSpc>
                <a:spcPct val="130000"/>
              </a:lnSpc>
              <a:buNone/>
            </a:pPr>
            <a:r>
              <a:rPr kumimoji="1" lang="zh-CN" altLang="en-US" sz="1008" dirty="0">
                <a:latin typeface="Garamond" panose="02020404030301010803" pitchFamily="18" charset="0"/>
                <a:ea typeface="SimSun" panose="02010600030101010101" pitchFamily="2" charset="-122"/>
              </a:rPr>
              <a:t>存货调整机制</a:t>
            </a:r>
            <a:endParaRPr kumimoji="1" lang="en-US" altLang="zh-CN" sz="1008" dirty="0">
              <a:latin typeface="Garamond" panose="02020404030301010803" pitchFamily="18" charset="0"/>
              <a:ea typeface="SimSun" panose="02010600030101010101" pitchFamily="2" charset="-122"/>
            </a:endParaRPr>
          </a:p>
          <a:p>
            <a:pPr marL="201538" lvl="1" indent="0">
              <a:lnSpc>
                <a:spcPct val="130000"/>
              </a:lnSpc>
              <a:buNone/>
            </a:pPr>
            <a:r>
              <a:rPr kumimoji="1" lang="en-US" altLang="zh-CN" sz="1008" dirty="0">
                <a:latin typeface="Garamond" panose="02020404030301010803" pitchFamily="18" charset="0"/>
                <a:ea typeface="SimSun" panose="02010600030101010101" pitchFamily="2" charset="-122"/>
              </a:rPr>
              <a:t>	</a:t>
            </a:r>
            <a:r>
              <a:rPr kumimoji="1" lang="zh-CN" altLang="en-US" sz="1008" dirty="0">
                <a:latin typeface="Garamond" panose="02020404030301010803" pitchFamily="18" charset="0"/>
                <a:ea typeface="SimSun" panose="02010600030101010101" pitchFamily="2" charset="-122"/>
              </a:rPr>
              <a:t>定义非计划的存货投资为  </a:t>
            </a:r>
            <a:r>
              <a:rPr kumimoji="1" lang="en-US" altLang="zh-CN" sz="1008" dirty="0">
                <a:latin typeface="Garamond" panose="02020404030301010803" pitchFamily="18" charset="0"/>
                <a:ea typeface="SimSun" panose="02010600030101010101" pitchFamily="2" charset="-122"/>
              </a:rPr>
              <a:t>IU=Y-AD</a:t>
            </a:r>
          </a:p>
        </p:txBody>
      </p:sp>
      <p:sp>
        <p:nvSpPr>
          <p:cNvPr id="4" name="页脚占位符 3">
            <a:extLst>
              <a:ext uri="{FF2B5EF4-FFF2-40B4-BE49-F238E27FC236}">
                <a16:creationId xmlns:a16="http://schemas.microsoft.com/office/drawing/2014/main" id="{E863F3B2-0186-B035-2E3B-717DE88DA246}"/>
              </a:ext>
            </a:extLst>
          </p:cNvPr>
          <p:cNvSpPr>
            <a:spLocks noGrp="1"/>
          </p:cNvSpPr>
          <p:nvPr>
            <p:ph type="ftr" sz="quarter" idx="10"/>
          </p:nvPr>
        </p:nvSpPr>
        <p:spPr/>
        <p:txBody>
          <a:bodyPr/>
          <a:lstStyle/>
          <a:p>
            <a:pPr defTabSz="230520"/>
            <a:r>
              <a:rPr lang="zh-CN" altLang="en-US" sz="908" dirty="0">
                <a:latin typeface="Arial"/>
              </a:rPr>
              <a:t>均衡国民收入的决定</a:t>
            </a:r>
            <a:endParaRPr lang="zh-CN" altLang="zh-CN" sz="908" dirty="0">
              <a:latin typeface="Arial"/>
            </a:endParaRPr>
          </a:p>
        </p:txBody>
      </p:sp>
      <p:sp>
        <p:nvSpPr>
          <p:cNvPr id="5" name="灯片编号占位符 4">
            <a:extLst>
              <a:ext uri="{FF2B5EF4-FFF2-40B4-BE49-F238E27FC236}">
                <a16:creationId xmlns:a16="http://schemas.microsoft.com/office/drawing/2014/main" id="{4BDA6B4C-2AC5-6BB7-6692-407B96D90D88}"/>
              </a:ext>
            </a:extLst>
          </p:cNvPr>
          <p:cNvSpPr>
            <a:spLocks noGrp="1"/>
          </p:cNvSpPr>
          <p:nvPr>
            <p:ph type="sldNum" sz="quarter" idx="11"/>
          </p:nvPr>
        </p:nvSpPr>
        <p:spPr/>
        <p:txBody>
          <a:bodyPr/>
          <a:lstStyle/>
          <a:p>
            <a:pPr defTabSz="230520"/>
            <a:fld id="{FF75CA96-F32A-7F4F-98C9-CA940BD9BB90}" type="slidenum">
              <a:rPr lang="zh-CN" altLang="zh-CN">
                <a:latin typeface="Arial"/>
              </a:rPr>
              <a:pPr defTabSz="230520"/>
              <a:t>25</a:t>
            </a:fld>
            <a:endParaRPr lang="en-US" altLang="zh-CN">
              <a:latin typeface="Arial"/>
            </a:endParaRPr>
          </a:p>
        </p:txBody>
      </p:sp>
      <p:sp>
        <p:nvSpPr>
          <p:cNvPr id="7" name="文本框 6">
            <a:extLst>
              <a:ext uri="{FF2B5EF4-FFF2-40B4-BE49-F238E27FC236}">
                <a16:creationId xmlns:a16="http://schemas.microsoft.com/office/drawing/2014/main" id="{AB2E1040-37DA-8C01-7F29-9EB371BE17FD}"/>
              </a:ext>
            </a:extLst>
          </p:cNvPr>
          <p:cNvSpPr txBox="1"/>
          <p:nvPr/>
        </p:nvSpPr>
        <p:spPr>
          <a:xfrm>
            <a:off x="121945" y="3027422"/>
            <a:ext cx="4236441" cy="313740"/>
          </a:xfrm>
          <a:prstGeom prst="rect">
            <a:avLst/>
          </a:prstGeom>
          <a:noFill/>
        </p:spPr>
        <p:txBody>
          <a:bodyPr wrap="square">
            <a:spAutoFit/>
          </a:bodyPr>
          <a:lstStyle/>
          <a:p>
            <a:pPr marL="634" algn="ctr" defTabSz="230520">
              <a:lnSpc>
                <a:spcPct val="130000"/>
              </a:lnSpc>
            </a:pPr>
            <a:r>
              <a:rPr lang="zh-CN" altLang="en-US" sz="1210" b="1" dirty="0">
                <a:solidFill>
                  <a:srgbClr val="000000"/>
                </a:solidFill>
                <a:latin typeface="Garamond" panose="02020404030301010803" pitchFamily="18" charset="0"/>
                <a:ea typeface="KaiTi" panose="02010609060101010101" pitchFamily="49" charset="-122"/>
              </a:rPr>
              <a:t>图</a:t>
            </a:r>
            <a:r>
              <a:rPr lang="en-US" altLang="zh-CN" sz="1210" b="1" dirty="0">
                <a:solidFill>
                  <a:srgbClr val="000000"/>
                </a:solidFill>
                <a:latin typeface="Garamond" panose="02020404030301010803" pitchFamily="18" charset="0"/>
                <a:ea typeface="KaiTi" panose="02010609060101010101" pitchFamily="49" charset="-122"/>
              </a:rPr>
              <a:t>2</a:t>
            </a:r>
            <a:r>
              <a:rPr lang="zh-CN" altLang="en-US" sz="1210" b="1" dirty="0">
                <a:solidFill>
                  <a:srgbClr val="000000"/>
                </a:solidFill>
                <a:latin typeface="Garamond" panose="02020404030301010803" pitchFamily="18" charset="0"/>
                <a:ea typeface="KaiTi" panose="02010609060101010101" pitchFamily="49" charset="-122"/>
              </a:rPr>
              <a:t> 均衡产出与经济波动</a:t>
            </a:r>
            <a:endParaRPr lang="en-US" altLang="zh-CN" sz="1210" b="1" dirty="0">
              <a:solidFill>
                <a:srgbClr val="000000"/>
              </a:solidFill>
              <a:latin typeface="Garamond" panose="02020404030301010803" pitchFamily="18" charset="0"/>
              <a:ea typeface="KaiTi" panose="02010609060101010101" pitchFamily="49" charset="-122"/>
            </a:endParaRPr>
          </a:p>
        </p:txBody>
      </p:sp>
      <p:sp>
        <p:nvSpPr>
          <p:cNvPr id="9" name="矩形 8">
            <a:extLst>
              <a:ext uri="{FF2B5EF4-FFF2-40B4-BE49-F238E27FC236}">
                <a16:creationId xmlns:a16="http://schemas.microsoft.com/office/drawing/2014/main" id="{9EA15723-93BE-257B-D1E2-7F5F2CEB5EC0}"/>
              </a:ext>
            </a:extLst>
          </p:cNvPr>
          <p:cNvSpPr/>
          <p:nvPr/>
        </p:nvSpPr>
        <p:spPr>
          <a:xfrm>
            <a:off x="2101287" y="955639"/>
            <a:ext cx="688865" cy="243752"/>
          </a:xfrm>
          <a:prstGeom prst="rect">
            <a:avLst/>
          </a:prstGeom>
          <a:noFill/>
          <a:ln w="28575">
            <a:solidFill>
              <a:srgbClr val="00B0F0"/>
            </a:solidFill>
          </a:ln>
        </p:spPr>
        <p:style>
          <a:lnRef idx="2">
            <a:schemeClr val="accent6"/>
          </a:lnRef>
          <a:fillRef idx="1">
            <a:schemeClr val="lt1"/>
          </a:fillRef>
          <a:effectRef idx="0">
            <a:schemeClr val="accent6"/>
          </a:effectRef>
          <a:fontRef idx="minor">
            <a:schemeClr val="dk1"/>
          </a:fontRef>
        </p:style>
        <p:txBody>
          <a:bodyPr rtlCol="0" anchor="ctr"/>
          <a:lstStyle/>
          <a:p>
            <a:pPr algn="ctr" defTabSz="230520"/>
            <a:endParaRPr kumimoji="1" lang="zh-CN" altLang="en-US" sz="908">
              <a:solidFill>
                <a:srgbClr val="000000"/>
              </a:solidFill>
              <a:latin typeface="Arial"/>
            </a:endParaRPr>
          </a:p>
        </p:txBody>
      </p:sp>
    </p:spTree>
    <p:extLst>
      <p:ext uri="{BB962C8B-B14F-4D97-AF65-F5344CB8AC3E}">
        <p14:creationId xmlns:p14="http://schemas.microsoft.com/office/powerpoint/2010/main" val="4081466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left)">
                                      <p:cBhvr>
                                        <p:cTn id="10" dur="500"/>
                                        <p:tgtEl>
                                          <p:spTgt spid="3">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left)">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wipe(left)">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left)">
                                      <p:cBhvr>
                                        <p:cTn id="28" dur="500"/>
                                        <p:tgtEl>
                                          <p:spTgt spid="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1"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wipe(left)">
                                      <p:cBhvr>
                                        <p:cTn id="3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p:bldP spid="7" grpId="1"/>
      <p:bldP spid="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26</a:t>
            </a:fld>
            <a:endParaRPr lang="zh-CN" altLang="zh-CN" sz="856">
              <a:solidFill>
                <a:srgbClr val="777777"/>
              </a:solidFill>
              <a:ea typeface="宋体" panose="02010600030101010101" pitchFamily="2" charset="-122"/>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r>
              <a:rPr kumimoji="1" lang="zh-CN" altLang="en-US" b="0" dirty="0">
                <a:latin typeface="Microsoft YaHei" panose="020B0503020204020204" pitchFamily="34" charset="-122"/>
                <a:ea typeface="Microsoft YaHei" panose="020B0503020204020204" pitchFamily="34" charset="-122"/>
              </a:rPr>
              <a:t>均衡产出的条件：两部门经济</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0193" y="131115"/>
            <a:ext cx="191912" cy="159926"/>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0659" eaLnBrk="1" fontAlgn="base" hangingPunct="1">
              <a:spcBef>
                <a:spcPct val="0"/>
              </a:spcBef>
              <a:spcAft>
                <a:spcPct val="0"/>
              </a:spcAft>
              <a:defRPr/>
            </a:pPr>
            <a:r>
              <a:rPr lang="en-US" altLang="zh-CN" sz="705" b="1">
                <a:solidFill>
                  <a:srgbClr val="000000"/>
                </a:solidFill>
                <a:latin typeface="Tahoma" panose="020B0604030504040204" pitchFamily="34" charset="0"/>
                <a:ea typeface="宋体" panose="02010600030101010101" pitchFamily="2" charset="-122"/>
              </a:rPr>
              <a:t>0</a:t>
            </a:r>
          </a:p>
        </p:txBody>
      </p:sp>
      <p:sp>
        <p:nvSpPr>
          <p:cNvPr id="2" name="页脚占位符 1">
            <a:extLst>
              <a:ext uri="{FF2B5EF4-FFF2-40B4-BE49-F238E27FC236}">
                <a16:creationId xmlns:a16="http://schemas.microsoft.com/office/drawing/2014/main" id="{BF3A450A-E0EB-10C1-50DF-5B851CF0361D}"/>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均衡国民收入的决定</a:t>
            </a:r>
            <a:endParaRPr lang="en-US" altLang="zh-CN" sz="907" i="1" dirty="0">
              <a:solidFill>
                <a:srgbClr val="777777"/>
              </a:solidFill>
              <a:ea typeface="宋体" panose="02010600030101010101" pitchFamily="2" charset="-122"/>
            </a:endParaRPr>
          </a:p>
        </p:txBody>
      </p:sp>
      <p:sp>
        <p:nvSpPr>
          <p:cNvPr id="4" name="Rectangle 3">
            <a:extLst>
              <a:ext uri="{FF2B5EF4-FFF2-40B4-BE49-F238E27FC236}">
                <a16:creationId xmlns:a16="http://schemas.microsoft.com/office/drawing/2014/main" id="{2996E226-76CD-0123-A7CB-3DF656BCF266}"/>
              </a:ext>
            </a:extLst>
          </p:cNvPr>
          <p:cNvSpPr txBox="1">
            <a:spLocks noChangeArrowheads="1"/>
          </p:cNvSpPr>
          <p:nvPr/>
        </p:nvSpPr>
        <p:spPr bwMode="auto">
          <a:xfrm>
            <a:off x="190028" y="509819"/>
            <a:ext cx="4187664" cy="258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56" tIns="45678" rIns="91356" bIns="45678" numCol="1" anchor="t" anchorCtr="0" compatLnSpc="1">
            <a:prstTxWarp prst="textNoShape">
              <a:avLst/>
            </a:prstTxWarp>
          </a:bodyPr>
          <a:lst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pPr marL="0" indent="0" defTabSz="913644">
              <a:buNone/>
            </a:pPr>
            <a:r>
              <a:rPr lang="zh-CN" altLang="en-US" sz="1411" dirty="0">
                <a:solidFill>
                  <a:srgbClr val="000000"/>
                </a:solidFill>
                <a:latin typeface="Garamond" panose="02020404030301010803" pitchFamily="18" charset="0"/>
                <a:ea typeface="SimSun" panose="02010600030101010101" pitchFamily="2" charset="-122"/>
              </a:rPr>
              <a:t>两部门经济（</a:t>
            </a:r>
            <a:r>
              <a:rPr lang="en-US" altLang="zh-CN" sz="1411" dirty="0">
                <a:solidFill>
                  <a:srgbClr val="000000"/>
                </a:solidFill>
                <a:latin typeface="Garamond" panose="02020404030301010803" pitchFamily="18" charset="0"/>
                <a:ea typeface="SimSun" panose="02010600030101010101" pitchFamily="2" charset="-122"/>
              </a:rPr>
              <a:t>two sector economy</a:t>
            </a:r>
            <a:r>
              <a:rPr lang="zh-CN" altLang="en-US" sz="1411" dirty="0">
                <a:solidFill>
                  <a:srgbClr val="000000"/>
                </a:solidFill>
                <a:latin typeface="Garamond" panose="02020404030301010803" pitchFamily="18" charset="0"/>
                <a:ea typeface="SimSun" panose="02010600030101010101" pitchFamily="2" charset="-122"/>
              </a:rPr>
              <a:t>）假设：</a:t>
            </a:r>
          </a:p>
          <a:p>
            <a:pPr marL="172747" indent="-172747" defTabSz="913644"/>
            <a:r>
              <a:rPr lang="zh-CN" altLang="en-US" sz="1411" dirty="0">
                <a:solidFill>
                  <a:srgbClr val="000000"/>
                </a:solidFill>
                <a:latin typeface="Garamond" panose="02020404030301010803" pitchFamily="18" charset="0"/>
                <a:ea typeface="SimSun" panose="02010600030101010101" pitchFamily="2" charset="-122"/>
              </a:rPr>
              <a:t>由厂商和居民户这两种经济单位所组成的经济</a:t>
            </a:r>
            <a:endParaRPr lang="en-US" altLang="zh-CN" sz="1411" dirty="0">
              <a:solidFill>
                <a:srgbClr val="000000"/>
              </a:solidFill>
              <a:latin typeface="Garamond" panose="02020404030301010803" pitchFamily="18" charset="0"/>
              <a:ea typeface="SimSun" panose="02010600030101010101" pitchFamily="2" charset="-122"/>
            </a:endParaRPr>
          </a:p>
          <a:p>
            <a:pPr marL="172747" indent="-172747" defTabSz="913644"/>
            <a:r>
              <a:rPr lang="zh-CN" altLang="en-US" sz="1411" dirty="0">
                <a:solidFill>
                  <a:srgbClr val="000000"/>
                </a:solidFill>
                <a:latin typeface="Garamond" panose="02020404030301010803" pitchFamily="18" charset="0"/>
                <a:ea typeface="SimSun" panose="02010600030101010101" pitchFamily="2" charset="-122"/>
              </a:rPr>
              <a:t>没有折旧，没有间接税收，没有政府支出，没有进出口贸易，是一种最简单的经济。</a:t>
            </a:r>
          </a:p>
        </p:txBody>
      </p:sp>
    </p:spTree>
    <p:extLst>
      <p:ext uri="{BB962C8B-B14F-4D97-AF65-F5344CB8AC3E}">
        <p14:creationId xmlns:p14="http://schemas.microsoft.com/office/powerpoint/2010/main" val="2907374577"/>
      </p:ext>
    </p:extLst>
  </p:cSld>
  <p:clrMapOvr>
    <a:masterClrMapping/>
  </p:clrMapOvr>
  <p:transition>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27</a:t>
            </a:fld>
            <a:endParaRPr lang="zh-CN" altLang="zh-CN" sz="856">
              <a:solidFill>
                <a:srgbClr val="777777"/>
              </a:solidFill>
              <a:ea typeface="宋体" panose="02010600030101010101" pitchFamily="2" charset="-122"/>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r>
              <a:rPr kumimoji="1" lang="zh-CN" altLang="en-US" b="0" dirty="0">
                <a:latin typeface="Microsoft YaHei" panose="020B0503020204020204" pitchFamily="34" charset="-122"/>
                <a:ea typeface="Microsoft YaHei" panose="020B0503020204020204" pitchFamily="34" charset="-122"/>
              </a:rPr>
              <a:t>两部门经济循环</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0193" y="131115"/>
            <a:ext cx="191912" cy="159926"/>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0659" eaLnBrk="1" fontAlgn="base" hangingPunct="1">
              <a:spcBef>
                <a:spcPct val="0"/>
              </a:spcBef>
              <a:spcAft>
                <a:spcPct val="0"/>
              </a:spcAft>
              <a:defRPr/>
            </a:pPr>
            <a:r>
              <a:rPr lang="en-US" altLang="zh-CN" sz="705" b="1">
                <a:solidFill>
                  <a:srgbClr val="000000"/>
                </a:solidFill>
                <a:latin typeface="Tahoma" panose="020B0604030504040204" pitchFamily="34" charset="0"/>
                <a:ea typeface="宋体" panose="02010600030101010101" pitchFamily="2" charset="-122"/>
              </a:rPr>
              <a:t>0</a:t>
            </a:r>
          </a:p>
        </p:txBody>
      </p:sp>
      <p:sp>
        <p:nvSpPr>
          <p:cNvPr id="3" name="内容占位符 2">
            <a:extLst>
              <a:ext uri="{FF2B5EF4-FFF2-40B4-BE49-F238E27FC236}">
                <a16:creationId xmlns:a16="http://schemas.microsoft.com/office/drawing/2014/main" id="{DE423034-7B27-87ED-F1B0-5CDA737DB772}"/>
              </a:ext>
            </a:extLst>
          </p:cNvPr>
          <p:cNvSpPr txBox="1">
            <a:spLocks/>
          </p:cNvSpPr>
          <p:nvPr/>
        </p:nvSpPr>
        <p:spPr>
          <a:xfrm>
            <a:off x="225756" y="472202"/>
            <a:ext cx="3972563" cy="2553128"/>
          </a:xfrm>
          <a:prstGeom prst="rect">
            <a:avLst/>
          </a:prstGeom>
        </p:spPr>
        <p:txBody>
          <a:bodyPr/>
          <a:lst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pPr marL="172747" indent="-172747" defTabSz="913644"/>
            <a:r>
              <a:rPr lang="zh-CN" altLang="en-US" sz="1411" dirty="0">
                <a:solidFill>
                  <a:srgbClr val="000000"/>
                </a:solidFill>
                <a:latin typeface="SimSun" panose="02010600030101010101" pitchFamily="2" charset="-122"/>
                <a:ea typeface="SimSun" panose="02010600030101010101" pitchFamily="2" charset="-122"/>
              </a:rPr>
              <a:t>收入流量循环模型图：</a:t>
            </a:r>
          </a:p>
          <a:p>
            <a:pPr marL="172747" indent="-172747" defTabSz="913644"/>
            <a:endParaRPr lang="en-US" altLang="zh-CN" sz="1411" dirty="0">
              <a:solidFill>
                <a:srgbClr val="000000"/>
              </a:solidFill>
              <a:latin typeface="SimSun" panose="02010600030101010101" pitchFamily="2" charset="-122"/>
              <a:ea typeface="SimSun" panose="02010600030101010101" pitchFamily="2" charset="-122"/>
            </a:endParaRPr>
          </a:p>
          <a:p>
            <a:pPr marL="172747" indent="-172747" defTabSz="913644"/>
            <a:endParaRPr lang="en-US" altLang="zh-CN" sz="1411" dirty="0">
              <a:solidFill>
                <a:srgbClr val="000000"/>
              </a:solidFill>
              <a:latin typeface="SimSun" panose="02010600030101010101" pitchFamily="2" charset="-122"/>
              <a:ea typeface="SimSun" panose="02010600030101010101" pitchFamily="2" charset="-122"/>
            </a:endParaRPr>
          </a:p>
          <a:p>
            <a:pPr marL="172747" indent="-172747" defTabSz="913644"/>
            <a:endParaRPr lang="en-US" altLang="zh-CN" sz="1411" dirty="0">
              <a:solidFill>
                <a:srgbClr val="000000"/>
              </a:solidFill>
              <a:latin typeface="SimSun" panose="02010600030101010101" pitchFamily="2" charset="-122"/>
              <a:ea typeface="SimSun" panose="02010600030101010101" pitchFamily="2" charset="-122"/>
            </a:endParaRPr>
          </a:p>
          <a:p>
            <a:pPr marL="172747" indent="-172747" defTabSz="913644"/>
            <a:endParaRPr lang="en-US" altLang="zh-CN" sz="1411" dirty="0">
              <a:solidFill>
                <a:srgbClr val="000000"/>
              </a:solidFill>
              <a:latin typeface="SimSun" panose="02010600030101010101" pitchFamily="2" charset="-122"/>
              <a:ea typeface="SimSun" panose="02010600030101010101" pitchFamily="2" charset="-122"/>
            </a:endParaRPr>
          </a:p>
          <a:p>
            <a:pPr marL="172747" indent="-172747" defTabSz="913644"/>
            <a:r>
              <a:rPr lang="zh-CN" altLang="en-US" sz="1411" dirty="0">
                <a:solidFill>
                  <a:srgbClr val="000000"/>
                </a:solidFill>
                <a:latin typeface="SimSun" panose="02010600030101010101" pitchFamily="2" charset="-122"/>
                <a:ea typeface="SimSun" panose="02010600030101010101" pitchFamily="2" charset="-122"/>
              </a:rPr>
              <a:t>从该图中可以看出：只要家户部门把所得到的所有收入都用于购买厂商的产品与劳务，这个循环就可以以原有的规模一直维持下去。</a:t>
            </a:r>
          </a:p>
          <a:p>
            <a:pPr marL="0" indent="0" defTabSz="913644">
              <a:buNone/>
            </a:pPr>
            <a:endParaRPr lang="zh-CN" altLang="en-US" sz="1411" dirty="0">
              <a:solidFill>
                <a:srgbClr val="000000"/>
              </a:solidFill>
              <a:latin typeface="SimSun" panose="02010600030101010101" pitchFamily="2" charset="-122"/>
              <a:ea typeface="SimSun" panose="02010600030101010101" pitchFamily="2" charset="-122"/>
            </a:endParaRPr>
          </a:p>
        </p:txBody>
      </p:sp>
      <p:grpSp>
        <p:nvGrpSpPr>
          <p:cNvPr id="5" name="组合 1">
            <a:extLst>
              <a:ext uri="{FF2B5EF4-FFF2-40B4-BE49-F238E27FC236}">
                <a16:creationId xmlns:a16="http://schemas.microsoft.com/office/drawing/2014/main" id="{3B816011-9C7C-CE39-14DB-7A236A32D96A}"/>
              </a:ext>
            </a:extLst>
          </p:cNvPr>
          <p:cNvGrpSpPr>
            <a:grpSpLocks/>
          </p:cNvGrpSpPr>
          <p:nvPr/>
        </p:nvGrpSpPr>
        <p:grpSpPr bwMode="auto">
          <a:xfrm>
            <a:off x="708809" y="781718"/>
            <a:ext cx="2840287" cy="1080608"/>
            <a:chOff x="1447800" y="1238250"/>
            <a:chExt cx="5638800" cy="2145324"/>
          </a:xfrm>
        </p:grpSpPr>
        <p:sp>
          <p:nvSpPr>
            <p:cNvPr id="6" name="Rectangle 4">
              <a:extLst>
                <a:ext uri="{FF2B5EF4-FFF2-40B4-BE49-F238E27FC236}">
                  <a16:creationId xmlns:a16="http://schemas.microsoft.com/office/drawing/2014/main" id="{2938EFC3-C5E3-1942-4033-54F56D112B33}"/>
                </a:ext>
              </a:extLst>
            </p:cNvPr>
            <p:cNvSpPr>
              <a:spLocks noChangeArrowheads="1"/>
            </p:cNvSpPr>
            <p:nvPr/>
          </p:nvSpPr>
          <p:spPr bwMode="auto">
            <a:xfrm>
              <a:off x="1447800" y="2057400"/>
              <a:ext cx="914400" cy="381000"/>
            </a:xfrm>
            <a:prstGeom prst="rect">
              <a:avLst/>
            </a:prstGeom>
            <a:noFill/>
            <a:ln w="19050">
              <a:solidFill>
                <a:srgbClr val="00206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230329" fontAlgn="base">
                <a:spcBef>
                  <a:spcPct val="0"/>
                </a:spcBef>
                <a:spcAft>
                  <a:spcPct val="0"/>
                </a:spcAft>
                <a:buClrTx/>
                <a:buNone/>
              </a:pPr>
              <a:r>
                <a:rPr lang="zh-CN" altLang="en-US" sz="907" dirty="0">
                  <a:solidFill>
                    <a:prstClr val="black"/>
                  </a:solidFill>
                  <a:latin typeface="SimSun" panose="02010600030101010101" pitchFamily="2" charset="-122"/>
                  <a:ea typeface="SimSun" panose="02010600030101010101" pitchFamily="2" charset="-122"/>
                </a:rPr>
                <a:t>家户</a:t>
              </a:r>
            </a:p>
          </p:txBody>
        </p:sp>
        <p:sp>
          <p:nvSpPr>
            <p:cNvPr id="7" name="Rectangle 5">
              <a:extLst>
                <a:ext uri="{FF2B5EF4-FFF2-40B4-BE49-F238E27FC236}">
                  <a16:creationId xmlns:a16="http://schemas.microsoft.com/office/drawing/2014/main" id="{B7005203-5B18-5685-87A9-6CB4CCFA8290}"/>
                </a:ext>
              </a:extLst>
            </p:cNvPr>
            <p:cNvSpPr>
              <a:spLocks noChangeArrowheads="1"/>
            </p:cNvSpPr>
            <p:nvPr/>
          </p:nvSpPr>
          <p:spPr bwMode="auto">
            <a:xfrm>
              <a:off x="6172200" y="2057400"/>
              <a:ext cx="914400" cy="381000"/>
            </a:xfrm>
            <a:prstGeom prst="rect">
              <a:avLst/>
            </a:prstGeom>
            <a:noFill/>
            <a:ln w="19050">
              <a:solidFill>
                <a:srgbClr val="00206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230329" fontAlgn="base">
                <a:spcBef>
                  <a:spcPct val="0"/>
                </a:spcBef>
                <a:spcAft>
                  <a:spcPct val="0"/>
                </a:spcAft>
                <a:buClrTx/>
                <a:buNone/>
              </a:pPr>
              <a:r>
                <a:rPr lang="zh-CN" altLang="en-US" sz="907">
                  <a:solidFill>
                    <a:prstClr val="black"/>
                  </a:solidFill>
                  <a:latin typeface="SimSun" panose="02010600030101010101" pitchFamily="2" charset="-122"/>
                  <a:ea typeface="SimSun" panose="02010600030101010101" pitchFamily="2" charset="-122"/>
                </a:rPr>
                <a:t>厂商</a:t>
              </a:r>
            </a:p>
          </p:txBody>
        </p:sp>
        <p:sp>
          <p:nvSpPr>
            <p:cNvPr id="8" name="Text Box 6">
              <a:extLst>
                <a:ext uri="{FF2B5EF4-FFF2-40B4-BE49-F238E27FC236}">
                  <a16:creationId xmlns:a16="http://schemas.microsoft.com/office/drawing/2014/main" id="{D49DF7AA-C7E8-B3C6-7279-B331661F02E8}"/>
                </a:ext>
              </a:extLst>
            </p:cNvPr>
            <p:cNvSpPr txBox="1">
              <a:spLocks noChangeArrowheads="1"/>
            </p:cNvSpPr>
            <p:nvPr/>
          </p:nvSpPr>
          <p:spPr bwMode="auto">
            <a:xfrm>
              <a:off x="1908175" y="1238250"/>
              <a:ext cx="4751386" cy="41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7167" tIns="33583" rIns="67167" bIns="33583">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230329" fontAlgn="base">
                <a:spcBef>
                  <a:spcPct val="50000"/>
                </a:spcBef>
                <a:spcAft>
                  <a:spcPct val="0"/>
                </a:spcAft>
                <a:buClrTx/>
                <a:buNone/>
              </a:pPr>
              <a:r>
                <a:rPr lang="zh-CN" altLang="en-US" sz="907" dirty="0">
                  <a:solidFill>
                    <a:prstClr val="black"/>
                  </a:solidFill>
                  <a:latin typeface="SimSun" panose="02010600030101010101" pitchFamily="2" charset="-122"/>
                  <a:ea typeface="SimSun" panose="02010600030101010101" pitchFamily="2" charset="-122"/>
                </a:rPr>
                <a:t>厂商向居民户支付生产要素报酬</a:t>
              </a:r>
            </a:p>
          </p:txBody>
        </p:sp>
        <p:sp>
          <p:nvSpPr>
            <p:cNvPr id="9" name="Text Box 7">
              <a:extLst>
                <a:ext uri="{FF2B5EF4-FFF2-40B4-BE49-F238E27FC236}">
                  <a16:creationId xmlns:a16="http://schemas.microsoft.com/office/drawing/2014/main" id="{D2B8B47D-7097-B6EC-8D60-79BD9228A844}"/>
                </a:ext>
              </a:extLst>
            </p:cNvPr>
            <p:cNvSpPr txBox="1">
              <a:spLocks noChangeArrowheads="1"/>
            </p:cNvSpPr>
            <p:nvPr/>
          </p:nvSpPr>
          <p:spPr bwMode="auto">
            <a:xfrm>
              <a:off x="1763714" y="2971800"/>
              <a:ext cx="4968875" cy="41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7167" tIns="33583" rIns="67167" bIns="33583">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230329" fontAlgn="base">
                <a:spcBef>
                  <a:spcPct val="50000"/>
                </a:spcBef>
                <a:spcAft>
                  <a:spcPct val="0"/>
                </a:spcAft>
                <a:buClrTx/>
                <a:buNone/>
              </a:pPr>
              <a:r>
                <a:rPr lang="zh-CN" altLang="en-US" sz="907" dirty="0">
                  <a:solidFill>
                    <a:prstClr val="black"/>
                  </a:solidFill>
                  <a:latin typeface="SimSun" panose="02010600030101010101" pitchFamily="2" charset="-122"/>
                  <a:ea typeface="SimSun" panose="02010600030101010101" pitchFamily="2" charset="-122"/>
                </a:rPr>
                <a:t>居民户向厂商购买各种产品与劳务</a:t>
              </a:r>
            </a:p>
          </p:txBody>
        </p:sp>
        <p:sp>
          <p:nvSpPr>
            <p:cNvPr id="10" name="Line 8">
              <a:extLst>
                <a:ext uri="{FF2B5EF4-FFF2-40B4-BE49-F238E27FC236}">
                  <a16:creationId xmlns:a16="http://schemas.microsoft.com/office/drawing/2014/main" id="{EFD5A139-4565-3AA7-3A09-52AEFB23E488}"/>
                </a:ext>
              </a:extLst>
            </p:cNvPr>
            <p:cNvSpPr>
              <a:spLocks noChangeShapeType="1"/>
            </p:cNvSpPr>
            <p:nvPr/>
          </p:nvSpPr>
          <p:spPr bwMode="auto">
            <a:xfrm>
              <a:off x="1905000" y="1676400"/>
              <a:ext cx="0" cy="304800"/>
            </a:xfrm>
            <a:prstGeom prst="line">
              <a:avLst/>
            </a:prstGeom>
            <a:noFill/>
            <a:ln w="19050">
              <a:solidFill>
                <a:srgbClr val="00206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prstClr val="black"/>
                </a:solidFill>
                <a:latin typeface="SimSun" panose="02010600030101010101" pitchFamily="2" charset="-122"/>
                <a:ea typeface="SimSun" panose="02010600030101010101" pitchFamily="2" charset="-122"/>
              </a:endParaRPr>
            </a:p>
          </p:txBody>
        </p:sp>
        <p:sp>
          <p:nvSpPr>
            <p:cNvPr id="11" name="Line 9">
              <a:extLst>
                <a:ext uri="{FF2B5EF4-FFF2-40B4-BE49-F238E27FC236}">
                  <a16:creationId xmlns:a16="http://schemas.microsoft.com/office/drawing/2014/main" id="{F6EDD905-4389-5D98-00C4-676294FBB7A3}"/>
                </a:ext>
              </a:extLst>
            </p:cNvPr>
            <p:cNvSpPr>
              <a:spLocks noChangeShapeType="1"/>
            </p:cNvSpPr>
            <p:nvPr/>
          </p:nvSpPr>
          <p:spPr bwMode="auto">
            <a:xfrm>
              <a:off x="1905000" y="1676400"/>
              <a:ext cx="4724400" cy="0"/>
            </a:xfrm>
            <a:prstGeom prst="line">
              <a:avLst/>
            </a:prstGeom>
            <a:noFill/>
            <a:ln w="19050">
              <a:solidFill>
                <a:srgbClr val="00206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prstClr val="black"/>
                </a:solidFill>
                <a:latin typeface="SimSun" panose="02010600030101010101" pitchFamily="2" charset="-122"/>
                <a:ea typeface="SimSun" panose="02010600030101010101" pitchFamily="2" charset="-122"/>
              </a:endParaRPr>
            </a:p>
          </p:txBody>
        </p:sp>
        <p:sp>
          <p:nvSpPr>
            <p:cNvPr id="12" name="Line 10">
              <a:extLst>
                <a:ext uri="{FF2B5EF4-FFF2-40B4-BE49-F238E27FC236}">
                  <a16:creationId xmlns:a16="http://schemas.microsoft.com/office/drawing/2014/main" id="{18AADAD5-75D9-373F-84D8-1648A1CAE50E}"/>
                </a:ext>
              </a:extLst>
            </p:cNvPr>
            <p:cNvSpPr>
              <a:spLocks noChangeShapeType="1"/>
            </p:cNvSpPr>
            <p:nvPr/>
          </p:nvSpPr>
          <p:spPr bwMode="auto">
            <a:xfrm>
              <a:off x="6629400" y="1676400"/>
              <a:ext cx="0" cy="304800"/>
            </a:xfrm>
            <a:prstGeom prst="line">
              <a:avLst/>
            </a:prstGeom>
            <a:noFill/>
            <a:ln w="19050">
              <a:solidFill>
                <a:srgbClr val="00206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prstClr val="black"/>
                </a:solidFill>
                <a:latin typeface="SimSun" panose="02010600030101010101" pitchFamily="2" charset="-122"/>
                <a:ea typeface="SimSun" panose="02010600030101010101" pitchFamily="2" charset="-122"/>
              </a:endParaRPr>
            </a:p>
          </p:txBody>
        </p:sp>
        <p:sp>
          <p:nvSpPr>
            <p:cNvPr id="13" name="Line 11">
              <a:extLst>
                <a:ext uri="{FF2B5EF4-FFF2-40B4-BE49-F238E27FC236}">
                  <a16:creationId xmlns:a16="http://schemas.microsoft.com/office/drawing/2014/main" id="{58C10750-614F-5ECC-3117-4FED7B3585DA}"/>
                </a:ext>
              </a:extLst>
            </p:cNvPr>
            <p:cNvSpPr>
              <a:spLocks noChangeShapeType="1"/>
            </p:cNvSpPr>
            <p:nvPr/>
          </p:nvSpPr>
          <p:spPr bwMode="auto">
            <a:xfrm>
              <a:off x="1905000" y="2438400"/>
              <a:ext cx="0" cy="457200"/>
            </a:xfrm>
            <a:prstGeom prst="line">
              <a:avLst/>
            </a:prstGeom>
            <a:noFill/>
            <a:ln w="19050">
              <a:solidFill>
                <a:srgbClr val="00206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prstClr val="black"/>
                </a:solidFill>
                <a:latin typeface="SimSun" panose="02010600030101010101" pitchFamily="2" charset="-122"/>
                <a:ea typeface="SimSun" panose="02010600030101010101" pitchFamily="2" charset="-122"/>
              </a:endParaRPr>
            </a:p>
          </p:txBody>
        </p:sp>
        <p:sp>
          <p:nvSpPr>
            <p:cNvPr id="14" name="Line 12">
              <a:extLst>
                <a:ext uri="{FF2B5EF4-FFF2-40B4-BE49-F238E27FC236}">
                  <a16:creationId xmlns:a16="http://schemas.microsoft.com/office/drawing/2014/main" id="{8293625C-9CB3-1D93-ECDF-9D7E21F2B612}"/>
                </a:ext>
              </a:extLst>
            </p:cNvPr>
            <p:cNvSpPr>
              <a:spLocks noChangeShapeType="1"/>
            </p:cNvSpPr>
            <p:nvPr/>
          </p:nvSpPr>
          <p:spPr bwMode="auto">
            <a:xfrm>
              <a:off x="1905000" y="2895600"/>
              <a:ext cx="4724400" cy="0"/>
            </a:xfrm>
            <a:prstGeom prst="line">
              <a:avLst/>
            </a:prstGeom>
            <a:noFill/>
            <a:ln w="19050">
              <a:solidFill>
                <a:srgbClr val="00206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prstClr val="black"/>
                </a:solidFill>
                <a:latin typeface="SimSun" panose="02010600030101010101" pitchFamily="2" charset="-122"/>
                <a:ea typeface="SimSun" panose="02010600030101010101" pitchFamily="2" charset="-122"/>
              </a:endParaRPr>
            </a:p>
          </p:txBody>
        </p:sp>
        <p:sp>
          <p:nvSpPr>
            <p:cNvPr id="15" name="Line 13">
              <a:extLst>
                <a:ext uri="{FF2B5EF4-FFF2-40B4-BE49-F238E27FC236}">
                  <a16:creationId xmlns:a16="http://schemas.microsoft.com/office/drawing/2014/main" id="{35C65301-95B2-81E2-C560-D2F75A36547C}"/>
                </a:ext>
              </a:extLst>
            </p:cNvPr>
            <p:cNvSpPr>
              <a:spLocks noChangeShapeType="1"/>
            </p:cNvSpPr>
            <p:nvPr/>
          </p:nvSpPr>
          <p:spPr bwMode="auto">
            <a:xfrm flipV="1">
              <a:off x="6629400" y="2438400"/>
              <a:ext cx="0" cy="457200"/>
            </a:xfrm>
            <a:prstGeom prst="line">
              <a:avLst/>
            </a:prstGeom>
            <a:noFill/>
            <a:ln w="19050">
              <a:solidFill>
                <a:srgbClr val="00206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prstClr val="black"/>
                </a:solidFill>
                <a:latin typeface="SimSun" panose="02010600030101010101" pitchFamily="2" charset="-122"/>
                <a:ea typeface="SimSun" panose="02010600030101010101" pitchFamily="2" charset="-122"/>
              </a:endParaRPr>
            </a:p>
          </p:txBody>
        </p:sp>
      </p:grpSp>
      <p:sp>
        <p:nvSpPr>
          <p:cNvPr id="4" name="页脚占位符 1">
            <a:extLst>
              <a:ext uri="{FF2B5EF4-FFF2-40B4-BE49-F238E27FC236}">
                <a16:creationId xmlns:a16="http://schemas.microsoft.com/office/drawing/2014/main" id="{A9B89E8C-251C-54F0-82D9-EF8C595BF64D}"/>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均衡国民收入的决定</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563916559"/>
      </p:ext>
    </p:extLst>
  </p:cSld>
  <p:clrMapOvr>
    <a:masterClrMapping/>
  </p:clrMapOvr>
  <p:transition>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28</a:t>
            </a:fld>
            <a:endParaRPr lang="zh-CN" altLang="zh-CN" sz="856">
              <a:solidFill>
                <a:srgbClr val="777777"/>
              </a:solidFill>
              <a:ea typeface="宋体" panose="02010600030101010101" pitchFamily="2" charset="-122"/>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r>
              <a:rPr kumimoji="1" lang="zh-CN" altLang="en-US" b="0" dirty="0">
                <a:latin typeface="Microsoft YaHei" panose="020B0503020204020204" pitchFamily="34" charset="-122"/>
                <a:ea typeface="Microsoft YaHei" panose="020B0503020204020204" pitchFamily="34" charset="-122"/>
              </a:rPr>
              <a:t>两部门经济条件下的国民收入构成</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0193" y="131115"/>
            <a:ext cx="191912" cy="159926"/>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0659" eaLnBrk="1" fontAlgn="base" hangingPunct="1">
              <a:spcBef>
                <a:spcPct val="0"/>
              </a:spcBef>
              <a:spcAft>
                <a:spcPct val="0"/>
              </a:spcAft>
              <a:defRPr/>
            </a:pPr>
            <a:r>
              <a:rPr lang="en-US" altLang="zh-CN" sz="705" b="1">
                <a:solidFill>
                  <a:srgbClr val="000000"/>
                </a:solidFill>
                <a:latin typeface="Tahoma" panose="020B0604030504040204" pitchFamily="34" charset="0"/>
                <a:ea typeface="宋体" panose="02010600030101010101" pitchFamily="2" charset="-122"/>
              </a:rPr>
              <a:t>0</a:t>
            </a:r>
          </a:p>
        </p:txBody>
      </p:sp>
      <p:sp>
        <p:nvSpPr>
          <p:cNvPr id="3" name="内容占位符 2">
            <a:extLst>
              <a:ext uri="{FF2B5EF4-FFF2-40B4-BE49-F238E27FC236}">
                <a16:creationId xmlns:a16="http://schemas.microsoft.com/office/drawing/2014/main" id="{DE423034-7B27-87ED-F1B0-5CDA737DB772}"/>
              </a:ext>
            </a:extLst>
          </p:cNvPr>
          <p:cNvSpPr txBox="1">
            <a:spLocks/>
          </p:cNvSpPr>
          <p:nvPr/>
        </p:nvSpPr>
        <p:spPr>
          <a:xfrm>
            <a:off x="225756" y="579304"/>
            <a:ext cx="1791262" cy="2446026"/>
          </a:xfrm>
          <a:prstGeom prst="rect">
            <a:avLst/>
          </a:prstGeom>
          <a:ln>
            <a:solidFill>
              <a:srgbClr val="00B0F0"/>
            </a:solidFill>
          </a:ln>
        </p:spPr>
        <p:txBody>
          <a:bodyPr/>
          <a:lst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pPr marL="0" indent="0" defTabSz="913644">
              <a:buNone/>
            </a:pPr>
            <a:r>
              <a:rPr lang="zh-CN" altLang="en-US" sz="1399" dirty="0">
                <a:solidFill>
                  <a:srgbClr val="000000"/>
                </a:solidFill>
                <a:latin typeface="Garamond" panose="02020404030301010803" pitchFamily="18" charset="0"/>
                <a:ea typeface="SimSun" panose="02010600030101010101" pitchFamily="2" charset="-122"/>
              </a:rPr>
              <a:t>从支出角度看，由于把企业库存作为存货投资，即</a:t>
            </a:r>
          </a:p>
          <a:p>
            <a:pPr marL="0" indent="0" defTabSz="913644">
              <a:buNone/>
            </a:pPr>
            <a:r>
              <a:rPr lang="zh-CN" altLang="en-US" sz="1399" dirty="0">
                <a:solidFill>
                  <a:srgbClr val="000000"/>
                </a:solidFill>
                <a:latin typeface="Garamond" panose="02020404030301010803" pitchFamily="18" charset="0"/>
                <a:ea typeface="SimSun" panose="02010600030101010101" pitchFamily="2" charset="-122"/>
              </a:rPr>
              <a:t>国内生产总值</a:t>
            </a:r>
            <a:endParaRPr lang="en-US" altLang="zh-CN" sz="1399" dirty="0">
              <a:solidFill>
                <a:srgbClr val="000000"/>
              </a:solidFill>
              <a:latin typeface="Garamond" panose="02020404030301010803" pitchFamily="18" charset="0"/>
              <a:ea typeface="SimSun" panose="02010600030101010101" pitchFamily="2" charset="-122"/>
            </a:endParaRPr>
          </a:p>
          <a:p>
            <a:pPr marL="0" indent="0" defTabSz="913644">
              <a:buNone/>
            </a:pPr>
            <a:r>
              <a:rPr lang="zh-CN" altLang="en-US" sz="1399" dirty="0">
                <a:solidFill>
                  <a:srgbClr val="000000"/>
                </a:solidFill>
                <a:latin typeface="Garamond" panose="02020404030301010803" pitchFamily="18" charset="0"/>
                <a:ea typeface="SimSun" panose="02010600030101010101" pitchFamily="2" charset="-122"/>
              </a:rPr>
              <a:t>≡消费支出</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投资支出</a:t>
            </a:r>
            <a:endParaRPr lang="en-US" altLang="zh-CN" sz="1399" dirty="0">
              <a:solidFill>
                <a:srgbClr val="000000"/>
              </a:solidFill>
              <a:latin typeface="Garamond" panose="02020404030301010803" pitchFamily="18" charset="0"/>
              <a:ea typeface="SimSun" panose="02010600030101010101" pitchFamily="2" charset="-122"/>
            </a:endParaRPr>
          </a:p>
          <a:p>
            <a:pPr marL="0" indent="0" defTabSz="913644">
              <a:buNone/>
            </a:pPr>
            <a:r>
              <a:rPr lang="zh-CN" altLang="en-US" sz="1399" dirty="0">
                <a:solidFill>
                  <a:srgbClr val="000000"/>
                </a:solidFill>
                <a:latin typeface="Garamond" panose="02020404030301010803" pitchFamily="18" charset="0"/>
                <a:ea typeface="SimSun" panose="02010600030101010101" pitchFamily="2" charset="-122"/>
              </a:rPr>
              <a:t>≡消费</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投资</a:t>
            </a:r>
            <a:endParaRPr lang="en-US" altLang="zh-CN" sz="1399" dirty="0">
              <a:solidFill>
                <a:srgbClr val="000000"/>
              </a:solidFill>
              <a:latin typeface="Garamond" panose="02020404030301010803" pitchFamily="18" charset="0"/>
              <a:ea typeface="SimSun" panose="02010600030101010101" pitchFamily="2" charset="-122"/>
            </a:endParaRPr>
          </a:p>
          <a:p>
            <a:pPr marL="0" indent="0" defTabSz="913644">
              <a:buNone/>
            </a:pPr>
            <a:r>
              <a:rPr lang="zh-CN" altLang="en-US" sz="1399" dirty="0">
                <a:solidFill>
                  <a:srgbClr val="000000"/>
                </a:solidFill>
                <a:latin typeface="Garamond" panose="02020404030301010803" pitchFamily="18" charset="0"/>
                <a:ea typeface="SimSun" panose="02010600030101010101" pitchFamily="2" charset="-122"/>
              </a:rPr>
              <a:t>即</a:t>
            </a:r>
            <a:r>
              <a:rPr lang="en-US" altLang="zh-CN" sz="1399" dirty="0">
                <a:solidFill>
                  <a:srgbClr val="000000"/>
                </a:solidFill>
                <a:latin typeface="Garamond" panose="02020404030301010803" pitchFamily="18" charset="0"/>
                <a:ea typeface="SimSun" panose="02010600030101010101" pitchFamily="2" charset="-122"/>
              </a:rPr>
              <a:t>Y=C+I</a:t>
            </a:r>
          </a:p>
        </p:txBody>
      </p:sp>
      <p:sp>
        <p:nvSpPr>
          <p:cNvPr id="4" name="页脚占位符 1">
            <a:extLst>
              <a:ext uri="{FF2B5EF4-FFF2-40B4-BE49-F238E27FC236}">
                <a16:creationId xmlns:a16="http://schemas.microsoft.com/office/drawing/2014/main" id="{A47D6DE2-475E-45D7-D161-8A5D635E9EF5}"/>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均衡国民收入的决定</a:t>
            </a:r>
            <a:endParaRPr lang="en-US" altLang="zh-CN" sz="907" i="1" dirty="0">
              <a:solidFill>
                <a:srgbClr val="777777"/>
              </a:solidFill>
              <a:ea typeface="宋体" panose="02010600030101010101" pitchFamily="2" charset="-122"/>
            </a:endParaRPr>
          </a:p>
        </p:txBody>
      </p:sp>
      <p:sp>
        <p:nvSpPr>
          <p:cNvPr id="2" name="矩形 1"/>
          <p:cNvSpPr/>
          <p:nvPr/>
        </p:nvSpPr>
        <p:spPr>
          <a:xfrm>
            <a:off x="2089025" y="579304"/>
            <a:ext cx="2209619" cy="2601097"/>
          </a:xfrm>
          <a:prstGeom prst="rect">
            <a:avLst/>
          </a:prstGeom>
          <a:ln>
            <a:solidFill>
              <a:srgbClr val="00B0F0"/>
            </a:solidFill>
          </a:ln>
        </p:spPr>
        <p:txBody>
          <a:bodyPr wrap="square">
            <a:spAutoFit/>
          </a:bodyPr>
          <a:lstStyle/>
          <a:p>
            <a:pPr defTabSz="913644" eaLnBrk="0" fontAlgn="base" hangingPunct="0">
              <a:lnSpc>
                <a:spcPct val="105000"/>
              </a:lnSpc>
              <a:spcBef>
                <a:spcPct val="45000"/>
              </a:spcBef>
              <a:spcAft>
                <a:spcPct val="0"/>
              </a:spcAft>
              <a:buClr>
                <a:srgbClr val="339966"/>
              </a:buClr>
              <a:buSzPct val="120000"/>
            </a:pPr>
            <a:r>
              <a:rPr lang="zh-CN" altLang="en-US" sz="1399" dirty="0">
                <a:solidFill>
                  <a:srgbClr val="000000"/>
                </a:solidFill>
                <a:latin typeface="Garamond" panose="02020404030301010803" pitchFamily="18" charset="0"/>
                <a:ea typeface="SimSun" panose="02010600030101010101" pitchFamily="2" charset="-122"/>
              </a:rPr>
              <a:t>从收入角度看，国内生产总值就等于总收入，而总收入要么消费，要么储蓄</a:t>
            </a:r>
            <a:endParaRPr lang="en-US" altLang="zh-CN" sz="1399" dirty="0">
              <a:solidFill>
                <a:srgbClr val="000000"/>
              </a:solidFill>
              <a:latin typeface="Garamond" panose="02020404030301010803" pitchFamily="18" charset="0"/>
              <a:ea typeface="SimSun" panose="02010600030101010101" pitchFamily="2" charset="-122"/>
            </a:endParaRPr>
          </a:p>
          <a:p>
            <a:pPr defTabSz="913644" eaLnBrk="0" fontAlgn="base" hangingPunct="0">
              <a:lnSpc>
                <a:spcPct val="105000"/>
              </a:lnSpc>
              <a:spcBef>
                <a:spcPct val="45000"/>
              </a:spcBef>
              <a:spcAft>
                <a:spcPct val="0"/>
              </a:spcAft>
              <a:buClr>
                <a:srgbClr val="339966"/>
              </a:buClr>
              <a:buSzPct val="120000"/>
            </a:pPr>
            <a:r>
              <a:rPr lang="zh-CN" altLang="en-US" sz="1399" dirty="0">
                <a:solidFill>
                  <a:srgbClr val="000000"/>
                </a:solidFill>
                <a:latin typeface="Garamond" panose="02020404030301010803" pitchFamily="18" charset="0"/>
                <a:ea typeface="SimSun" panose="02010600030101010101" pitchFamily="2" charset="-122"/>
              </a:rPr>
              <a:t> 国民收入≡产值的总和</a:t>
            </a:r>
            <a:endParaRPr lang="en-US" altLang="zh-CN" sz="1399" dirty="0">
              <a:solidFill>
                <a:srgbClr val="000000"/>
              </a:solidFill>
              <a:latin typeface="Garamond" panose="02020404030301010803" pitchFamily="18" charset="0"/>
              <a:ea typeface="SimSun" panose="02010600030101010101" pitchFamily="2" charset="-122"/>
            </a:endParaRPr>
          </a:p>
          <a:p>
            <a:pPr defTabSz="913644" eaLnBrk="0" fontAlgn="base" hangingPunct="0">
              <a:lnSpc>
                <a:spcPct val="105000"/>
              </a:lnSpc>
              <a:spcBef>
                <a:spcPct val="45000"/>
              </a:spcBef>
              <a:spcAft>
                <a:spcPct val="0"/>
              </a:spcAft>
              <a:buClr>
                <a:srgbClr val="339966"/>
              </a:buClr>
              <a:buSzPct val="120000"/>
            </a:pPr>
            <a:r>
              <a:rPr lang="zh-CN" altLang="en-US" sz="1399" dirty="0">
                <a:solidFill>
                  <a:srgbClr val="000000"/>
                </a:solidFill>
                <a:latin typeface="Garamond" panose="02020404030301010803" pitchFamily="18" charset="0"/>
                <a:ea typeface="SimSun" panose="02010600030101010101" pitchFamily="2" charset="-122"/>
              </a:rPr>
              <a:t>≡各种生产要素的收入总和</a:t>
            </a:r>
          </a:p>
          <a:p>
            <a:pPr defTabSz="913644" eaLnBrk="0" fontAlgn="base" hangingPunct="0">
              <a:lnSpc>
                <a:spcPct val="105000"/>
              </a:lnSpc>
              <a:spcBef>
                <a:spcPct val="45000"/>
              </a:spcBef>
              <a:spcAft>
                <a:spcPct val="0"/>
              </a:spcAft>
              <a:buClr>
                <a:srgbClr val="339966"/>
              </a:buClr>
              <a:buSzPct val="120000"/>
            </a:pPr>
            <a:r>
              <a:rPr lang="zh-CN" altLang="en-US" sz="1399" dirty="0">
                <a:solidFill>
                  <a:srgbClr val="000000"/>
                </a:solidFill>
                <a:latin typeface="Garamond" panose="02020404030301010803" pitchFamily="18" charset="0"/>
                <a:ea typeface="SimSun" panose="02010600030101010101" pitchFamily="2" charset="-122"/>
              </a:rPr>
              <a:t>≡工资</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利息</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租金</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利润</a:t>
            </a:r>
          </a:p>
          <a:p>
            <a:pPr defTabSz="913644" eaLnBrk="0" fontAlgn="base" hangingPunct="0">
              <a:lnSpc>
                <a:spcPct val="105000"/>
              </a:lnSpc>
              <a:spcBef>
                <a:spcPct val="45000"/>
              </a:spcBef>
              <a:spcAft>
                <a:spcPct val="0"/>
              </a:spcAft>
              <a:buClr>
                <a:srgbClr val="339966"/>
              </a:buClr>
              <a:buSzPct val="120000"/>
            </a:pPr>
            <a:r>
              <a:rPr lang="zh-CN" altLang="en-US" sz="1399" dirty="0">
                <a:solidFill>
                  <a:srgbClr val="000000"/>
                </a:solidFill>
                <a:latin typeface="Garamond" panose="02020404030301010803" pitchFamily="18" charset="0"/>
                <a:ea typeface="SimSun" panose="02010600030101010101" pitchFamily="2" charset="-122"/>
              </a:rPr>
              <a:t>≡消费</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储蓄</a:t>
            </a:r>
            <a:endParaRPr lang="en-US" altLang="zh-CN" sz="1399" dirty="0">
              <a:solidFill>
                <a:srgbClr val="000000"/>
              </a:solidFill>
              <a:latin typeface="Garamond" panose="02020404030301010803" pitchFamily="18" charset="0"/>
              <a:ea typeface="SimSun" panose="02010600030101010101" pitchFamily="2" charset="-122"/>
            </a:endParaRPr>
          </a:p>
          <a:p>
            <a:pPr defTabSz="913644" eaLnBrk="0" fontAlgn="base" hangingPunct="0">
              <a:lnSpc>
                <a:spcPct val="105000"/>
              </a:lnSpc>
              <a:spcBef>
                <a:spcPct val="45000"/>
              </a:spcBef>
              <a:spcAft>
                <a:spcPct val="0"/>
              </a:spcAft>
              <a:buClr>
                <a:srgbClr val="339966"/>
              </a:buClr>
              <a:buSzPct val="120000"/>
            </a:pPr>
            <a:r>
              <a:rPr lang="zh-CN" altLang="en-US" sz="1399" dirty="0">
                <a:solidFill>
                  <a:srgbClr val="000000"/>
                </a:solidFill>
                <a:latin typeface="Garamond" panose="02020404030301010803" pitchFamily="18" charset="0"/>
                <a:ea typeface="SimSun" panose="02010600030101010101" pitchFamily="2" charset="-122"/>
              </a:rPr>
              <a:t>即</a:t>
            </a:r>
            <a:r>
              <a:rPr lang="en-US" altLang="zh-CN" sz="1399" dirty="0">
                <a:solidFill>
                  <a:srgbClr val="000000"/>
                </a:solidFill>
                <a:latin typeface="Garamond" panose="02020404030301010803" pitchFamily="18" charset="0"/>
                <a:ea typeface="SimSun" panose="02010600030101010101" pitchFamily="2" charset="-122"/>
              </a:rPr>
              <a:t>Y=C+S</a:t>
            </a:r>
          </a:p>
        </p:txBody>
      </p:sp>
    </p:spTree>
    <p:extLst>
      <p:ext uri="{BB962C8B-B14F-4D97-AF65-F5344CB8AC3E}">
        <p14:creationId xmlns:p14="http://schemas.microsoft.com/office/powerpoint/2010/main" val="474193353"/>
      </p:ext>
    </p:extLst>
  </p:cSld>
  <p:clrMapOvr>
    <a:masterClrMapping/>
  </p:clrMapOvr>
  <p:transition>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29</a:t>
            </a:fld>
            <a:endParaRPr lang="zh-CN" altLang="zh-CN" sz="856">
              <a:solidFill>
                <a:srgbClr val="777777"/>
              </a:solidFill>
              <a:ea typeface="宋体" panose="02010600030101010101" pitchFamily="2" charset="-122"/>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r>
              <a:rPr kumimoji="1" lang="zh-CN" altLang="en-US" b="0" dirty="0">
                <a:latin typeface="Microsoft YaHei" panose="020B0503020204020204" pitchFamily="34" charset="-122"/>
                <a:ea typeface="Microsoft YaHei" panose="020B0503020204020204" pitchFamily="34" charset="-122"/>
              </a:rPr>
              <a:t>储蓄</a:t>
            </a:r>
            <a:r>
              <a:rPr kumimoji="1" lang="en-US" altLang="zh-CN" b="0" dirty="0">
                <a:latin typeface="Microsoft YaHei" panose="020B0503020204020204" pitchFamily="34" charset="-122"/>
                <a:ea typeface="Microsoft YaHei" panose="020B0503020204020204" pitchFamily="34" charset="-122"/>
              </a:rPr>
              <a:t>——</a:t>
            </a:r>
            <a:r>
              <a:rPr kumimoji="1" lang="zh-CN" altLang="en-US" b="0" dirty="0">
                <a:latin typeface="Microsoft YaHei" panose="020B0503020204020204" pitchFamily="34" charset="-122"/>
                <a:ea typeface="Microsoft YaHei" panose="020B0503020204020204" pitchFamily="34" charset="-122"/>
              </a:rPr>
              <a:t>投资恒等式</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0193" y="131115"/>
            <a:ext cx="191912" cy="159926"/>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0659" eaLnBrk="1" fontAlgn="base" hangingPunct="1">
              <a:spcBef>
                <a:spcPct val="0"/>
              </a:spcBef>
              <a:spcAft>
                <a:spcPct val="0"/>
              </a:spcAft>
              <a:defRPr/>
            </a:pPr>
            <a:r>
              <a:rPr lang="en-US" altLang="zh-CN" sz="705" b="1">
                <a:solidFill>
                  <a:srgbClr val="000000"/>
                </a:solidFill>
                <a:latin typeface="Tahoma" panose="020B0604030504040204" pitchFamily="34" charset="0"/>
                <a:ea typeface="宋体" panose="02010600030101010101" pitchFamily="2" charset="-122"/>
              </a:rPr>
              <a:t>0</a:t>
            </a:r>
          </a:p>
        </p:txBody>
      </p:sp>
      <p:sp>
        <p:nvSpPr>
          <p:cNvPr id="3" name="内容占位符 2">
            <a:extLst>
              <a:ext uri="{FF2B5EF4-FFF2-40B4-BE49-F238E27FC236}">
                <a16:creationId xmlns:a16="http://schemas.microsoft.com/office/drawing/2014/main" id="{DE423034-7B27-87ED-F1B0-5CDA737DB772}"/>
              </a:ext>
            </a:extLst>
          </p:cNvPr>
          <p:cNvSpPr txBox="1">
            <a:spLocks/>
          </p:cNvSpPr>
          <p:nvPr/>
        </p:nvSpPr>
        <p:spPr>
          <a:xfrm>
            <a:off x="225756" y="472202"/>
            <a:ext cx="3972563" cy="2553128"/>
          </a:xfrm>
          <a:prstGeom prst="rect">
            <a:avLst/>
          </a:prstGeom>
        </p:spPr>
        <p:txBody>
          <a:bodyPr/>
          <a:lst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pPr marL="172747" indent="-172747" defTabSz="913644"/>
            <a:r>
              <a:rPr lang="zh-CN" altLang="en-US" sz="1399" dirty="0">
                <a:solidFill>
                  <a:srgbClr val="000000"/>
                </a:solidFill>
                <a:latin typeface="Garamond" panose="02020404030301010803" pitchFamily="18" charset="0"/>
                <a:ea typeface="SimSun" panose="02010600030101010101" pitchFamily="2" charset="-122"/>
              </a:rPr>
              <a:t>由  </a:t>
            </a:r>
            <a:r>
              <a:rPr lang="en-US" altLang="zh-CN" sz="1399" dirty="0">
                <a:solidFill>
                  <a:srgbClr val="000000"/>
                </a:solidFill>
                <a:latin typeface="Garamond" panose="02020404030301010803" pitchFamily="18" charset="0"/>
                <a:ea typeface="SimSun" panose="02010600030101010101" pitchFamily="2" charset="-122"/>
              </a:rPr>
              <a:t>C+I ≡ Y ≡ C+S</a:t>
            </a:r>
            <a:r>
              <a:rPr lang="zh-CN" altLang="en-US" sz="1399" dirty="0">
                <a:solidFill>
                  <a:srgbClr val="000000"/>
                </a:solidFill>
                <a:latin typeface="Garamond" panose="02020404030301010803" pitchFamily="18" charset="0"/>
                <a:ea typeface="SimSun" panose="02010600030101010101" pitchFamily="2" charset="-122"/>
              </a:rPr>
              <a:t>，可以得到    </a:t>
            </a:r>
            <a:r>
              <a:rPr lang="en-US" altLang="zh-CN" sz="1399" dirty="0">
                <a:solidFill>
                  <a:srgbClr val="000000"/>
                </a:solidFill>
                <a:latin typeface="Garamond" panose="02020404030301010803" pitchFamily="18" charset="0"/>
                <a:ea typeface="SimSun" panose="02010600030101010101" pitchFamily="2" charset="-122"/>
              </a:rPr>
              <a:t>I ≡ S</a:t>
            </a:r>
            <a:r>
              <a:rPr lang="zh-CN" altLang="en-US" sz="1399" dirty="0">
                <a:solidFill>
                  <a:srgbClr val="000000"/>
                </a:solidFill>
                <a:latin typeface="Garamond" panose="02020404030301010803" pitchFamily="18" charset="0"/>
                <a:ea typeface="SimSun" panose="02010600030101010101" pitchFamily="2" charset="-122"/>
              </a:rPr>
              <a:t>，即：投资</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储蓄</a:t>
            </a:r>
          </a:p>
          <a:p>
            <a:pPr marL="172747" indent="-172747" defTabSz="913644"/>
            <a:r>
              <a:rPr lang="zh-CN" altLang="en-US" sz="1399" dirty="0">
                <a:solidFill>
                  <a:srgbClr val="000000"/>
                </a:solidFill>
                <a:latin typeface="Garamond" panose="02020404030301010803" pitchFamily="18" charset="0"/>
                <a:ea typeface="SimSun" panose="02010600030101010101" pitchFamily="2" charset="-122"/>
              </a:rPr>
              <a:t>对储蓄</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投资恒等式的说明</a:t>
            </a:r>
          </a:p>
          <a:p>
            <a:pPr marL="172747" indent="-172747" defTabSz="913644"/>
            <a:r>
              <a:rPr lang="zh-CN" altLang="en-US" sz="1399" dirty="0">
                <a:solidFill>
                  <a:srgbClr val="000000"/>
                </a:solidFill>
                <a:latin typeface="Garamond" panose="02020404030301010803" pitchFamily="18" charset="0"/>
                <a:ea typeface="SimSun" panose="02010600030101010101" pitchFamily="2" charset="-122"/>
              </a:rPr>
              <a:t>⑴恒等式是在假设的两部门经济条件下，根据储蓄与投资的定义得出的，而不是根据经济运行实际得出的。</a:t>
            </a:r>
          </a:p>
          <a:p>
            <a:pPr marL="172747" indent="-172747" defTabSz="913644"/>
            <a:r>
              <a:rPr lang="zh-CN" altLang="en-US" sz="1399" dirty="0">
                <a:solidFill>
                  <a:srgbClr val="000000"/>
                </a:solidFill>
                <a:latin typeface="Garamond" panose="02020404030301010803" pitchFamily="18" charset="0"/>
                <a:ea typeface="SimSun" panose="02010600030101010101" pitchFamily="2" charset="-122"/>
              </a:rPr>
              <a:t>⑵恒等式是指整个经济，而不是针对某个人或某个企业而言。</a:t>
            </a:r>
          </a:p>
          <a:p>
            <a:pPr marL="172747" indent="-172747" defTabSz="913644"/>
            <a:r>
              <a:rPr lang="zh-CN" altLang="en-US" sz="1399" dirty="0">
                <a:solidFill>
                  <a:srgbClr val="000000"/>
                </a:solidFill>
                <a:latin typeface="Garamond" panose="02020404030301010803" pitchFamily="18" charset="0"/>
                <a:ea typeface="SimSun" panose="02010600030101010101" pitchFamily="2" charset="-122"/>
              </a:rPr>
              <a:t>⑶恒等式是</a:t>
            </a:r>
            <a:r>
              <a:rPr lang="zh-CN" altLang="en-US" sz="1399" dirty="0">
                <a:solidFill>
                  <a:srgbClr val="000000"/>
                </a:solidFill>
                <a:highlight>
                  <a:srgbClr val="FFFF00"/>
                </a:highlight>
                <a:latin typeface="Garamond" panose="02020404030301010803" pitchFamily="18" charset="0"/>
                <a:ea typeface="SimSun" panose="02010600030101010101" pitchFamily="2" charset="-122"/>
              </a:rPr>
              <a:t>事后实际发生</a:t>
            </a:r>
            <a:r>
              <a:rPr lang="zh-CN" altLang="en-US" sz="1399" dirty="0">
                <a:solidFill>
                  <a:srgbClr val="000000"/>
                </a:solidFill>
                <a:latin typeface="Garamond" panose="02020404030301010803" pitchFamily="18" charset="0"/>
                <a:ea typeface="SimSun" panose="02010600030101010101" pitchFamily="2" charset="-122"/>
              </a:rPr>
              <a:t>的国民收入均衡；是按照当年市场价格计算的。</a:t>
            </a:r>
          </a:p>
          <a:p>
            <a:pPr marL="172747" indent="-172747" defTabSz="913644"/>
            <a:endParaRPr lang="en-US" altLang="zh-CN" sz="1399" dirty="0">
              <a:solidFill>
                <a:srgbClr val="000000"/>
              </a:solidFill>
              <a:latin typeface="Garamond" panose="02020404030301010803" pitchFamily="18" charset="0"/>
              <a:ea typeface="SimSun" panose="02010600030101010101" pitchFamily="2" charset="-122"/>
            </a:endParaRPr>
          </a:p>
        </p:txBody>
      </p:sp>
      <p:sp>
        <p:nvSpPr>
          <p:cNvPr id="4" name="页脚占位符 1">
            <a:extLst>
              <a:ext uri="{FF2B5EF4-FFF2-40B4-BE49-F238E27FC236}">
                <a16:creationId xmlns:a16="http://schemas.microsoft.com/office/drawing/2014/main" id="{5EED95CB-64C7-49D4-3A4B-4718DCA63322}"/>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均衡国民收入的决定</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512024514"/>
      </p:ext>
    </p:extLst>
  </p:cSld>
  <p:clrMapOvr>
    <a:masterClrMapping/>
  </p:clrMapOvr>
  <p:transition>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30</a:t>
            </a:fld>
            <a:endParaRPr lang="zh-CN" altLang="zh-CN" sz="856">
              <a:solidFill>
                <a:srgbClr val="777777"/>
              </a:solidFill>
              <a:ea typeface="宋体" panose="02010600030101010101" pitchFamily="2" charset="-122"/>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a:xfrm>
            <a:off x="174835" y="128848"/>
            <a:ext cx="4236442" cy="376485"/>
          </a:xfrm>
        </p:spPr>
        <p:txBody>
          <a:bodyPr/>
          <a:lstStyle/>
          <a:p>
            <a:r>
              <a:rPr kumimoji="1" lang="zh-CN" altLang="en-US" b="0" dirty="0">
                <a:latin typeface="Microsoft YaHei" panose="020B0503020204020204" pitchFamily="34" charset="-122"/>
                <a:ea typeface="Microsoft YaHei" panose="020B0503020204020204" pitchFamily="34" charset="-122"/>
              </a:rPr>
              <a:t>三部门经济：储蓄</a:t>
            </a:r>
            <a:r>
              <a:rPr kumimoji="1" lang="en-US" altLang="zh-CN" b="0" dirty="0">
                <a:latin typeface="Microsoft YaHei" panose="020B0503020204020204" pitchFamily="34" charset="-122"/>
                <a:ea typeface="Microsoft YaHei" panose="020B0503020204020204" pitchFamily="34" charset="-122"/>
              </a:rPr>
              <a:t>——</a:t>
            </a:r>
            <a:r>
              <a:rPr kumimoji="1" lang="zh-CN" altLang="en-US" b="0" dirty="0">
                <a:latin typeface="Microsoft YaHei" panose="020B0503020204020204" pitchFamily="34" charset="-122"/>
                <a:ea typeface="Microsoft YaHei" panose="020B0503020204020204" pitchFamily="34" charset="-122"/>
              </a:rPr>
              <a:t>投资恒等式</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0193" y="131115"/>
            <a:ext cx="191912" cy="159926"/>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0659" eaLnBrk="1" fontAlgn="base" hangingPunct="1">
              <a:spcBef>
                <a:spcPct val="0"/>
              </a:spcBef>
              <a:spcAft>
                <a:spcPct val="0"/>
              </a:spcAft>
              <a:defRPr/>
            </a:pPr>
            <a:r>
              <a:rPr lang="en-US" altLang="zh-CN" sz="705" b="1">
                <a:solidFill>
                  <a:srgbClr val="000000"/>
                </a:solidFill>
                <a:latin typeface="Tahoma" panose="020B0604030504040204" pitchFamily="34" charset="0"/>
                <a:ea typeface="宋体" panose="02010600030101010101" pitchFamily="2" charset="-122"/>
              </a:rPr>
              <a:t>0</a:t>
            </a:r>
          </a:p>
        </p:txBody>
      </p:sp>
      <p:sp>
        <p:nvSpPr>
          <p:cNvPr id="3" name="内容占位符 2">
            <a:extLst>
              <a:ext uri="{FF2B5EF4-FFF2-40B4-BE49-F238E27FC236}">
                <a16:creationId xmlns:a16="http://schemas.microsoft.com/office/drawing/2014/main" id="{DE423034-7B27-87ED-F1B0-5CDA737DB772}"/>
              </a:ext>
            </a:extLst>
          </p:cNvPr>
          <p:cNvSpPr txBox="1">
            <a:spLocks/>
          </p:cNvSpPr>
          <p:nvPr/>
        </p:nvSpPr>
        <p:spPr>
          <a:xfrm>
            <a:off x="220971" y="606699"/>
            <a:ext cx="3972563" cy="2302142"/>
          </a:xfrm>
          <a:prstGeom prst="rect">
            <a:avLst/>
          </a:prstGeom>
        </p:spPr>
        <p:txBody>
          <a:bodyPr/>
          <a:lst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pPr marL="172747" indent="-172747" defTabSz="913644">
              <a:defRPr/>
            </a:pPr>
            <a:r>
              <a:rPr lang="zh-CN" altLang="en-US" sz="1399" dirty="0">
                <a:solidFill>
                  <a:srgbClr val="000000"/>
                </a:solidFill>
                <a:latin typeface="Garamond" panose="02020404030301010803" pitchFamily="18" charset="0"/>
                <a:ea typeface="SimSun" panose="02010600030101010101" pitchFamily="2" charset="-122"/>
              </a:rPr>
              <a:t>三部门经济（</a:t>
            </a:r>
            <a:r>
              <a:rPr lang="en" altLang="zh-CN" sz="1399" dirty="0">
                <a:solidFill>
                  <a:srgbClr val="000000"/>
                </a:solidFill>
                <a:latin typeface="Garamond" panose="02020404030301010803" pitchFamily="18" charset="0"/>
                <a:ea typeface="SimSun" panose="02010600030101010101" pitchFamily="2" charset="-122"/>
              </a:rPr>
              <a:t>three sector economy</a:t>
            </a:r>
            <a:r>
              <a:rPr lang="zh-CN" altLang="e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是指由厂商、居民户与政府这三种经济单位所组成的经济。在这种经济中，政府通过税收与居民户及厂商发生联系。</a:t>
            </a:r>
          </a:p>
          <a:p>
            <a:pPr marL="172747" indent="-172747" defTabSz="913644">
              <a:defRPr/>
            </a:pPr>
            <a:r>
              <a:rPr lang="zh-CN" altLang="en-US" sz="1399" dirty="0">
                <a:solidFill>
                  <a:srgbClr val="000000"/>
                </a:solidFill>
                <a:latin typeface="Garamond" panose="02020404030301010803" pitchFamily="18" charset="0"/>
                <a:ea typeface="SimSun" panose="02010600030101010101" pitchFamily="2" charset="-122"/>
              </a:rPr>
              <a:t>收入流量循环模型图：</a:t>
            </a:r>
          </a:p>
          <a:p>
            <a:pPr marL="172747" indent="-172747" defTabSz="913644">
              <a:defRPr/>
            </a:pPr>
            <a:endParaRPr lang="en-US" altLang="zh-CN" sz="1399" dirty="0">
              <a:solidFill>
                <a:srgbClr val="000000"/>
              </a:solidFill>
              <a:latin typeface="Garamond" panose="02020404030301010803" pitchFamily="18" charset="0"/>
              <a:ea typeface="SimSun" panose="02010600030101010101" pitchFamily="2" charset="-122"/>
            </a:endParaRPr>
          </a:p>
        </p:txBody>
      </p:sp>
      <p:grpSp>
        <p:nvGrpSpPr>
          <p:cNvPr id="4" name="组合 1">
            <a:extLst>
              <a:ext uri="{FF2B5EF4-FFF2-40B4-BE49-F238E27FC236}">
                <a16:creationId xmlns:a16="http://schemas.microsoft.com/office/drawing/2014/main" id="{CBDA7449-F8A2-826A-071B-2273F368C1A4}"/>
              </a:ext>
            </a:extLst>
          </p:cNvPr>
          <p:cNvGrpSpPr>
            <a:grpSpLocks/>
          </p:cNvGrpSpPr>
          <p:nvPr/>
        </p:nvGrpSpPr>
        <p:grpSpPr bwMode="auto">
          <a:xfrm>
            <a:off x="364347" y="1978380"/>
            <a:ext cx="3881406" cy="1073155"/>
            <a:chOff x="825500" y="3048000"/>
            <a:chExt cx="7175500" cy="2564404"/>
          </a:xfrm>
          <a:solidFill>
            <a:schemeClr val="accent6">
              <a:lumMod val="20000"/>
              <a:lumOff val="80000"/>
            </a:schemeClr>
          </a:solidFill>
        </p:grpSpPr>
        <p:sp>
          <p:nvSpPr>
            <p:cNvPr id="5" name="Rectangle 4">
              <a:extLst>
                <a:ext uri="{FF2B5EF4-FFF2-40B4-BE49-F238E27FC236}">
                  <a16:creationId xmlns:a16="http://schemas.microsoft.com/office/drawing/2014/main" id="{AD0755FE-7D2F-8A52-7F92-EEBB60D4795E}"/>
                </a:ext>
              </a:extLst>
            </p:cNvPr>
            <p:cNvSpPr>
              <a:spLocks noChangeArrowheads="1"/>
            </p:cNvSpPr>
            <p:nvPr/>
          </p:nvSpPr>
          <p:spPr bwMode="auto">
            <a:xfrm>
              <a:off x="3657600" y="3048000"/>
              <a:ext cx="1143000" cy="457200"/>
            </a:xfrm>
            <a:prstGeom prst="rect">
              <a:avLst/>
            </a:prstGeom>
            <a:grp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230329" fontAlgn="base">
                <a:spcBef>
                  <a:spcPct val="0"/>
                </a:spcBef>
                <a:spcAft>
                  <a:spcPct val="0"/>
                </a:spcAft>
                <a:buClrTx/>
                <a:buNone/>
              </a:pPr>
              <a:r>
                <a:rPr lang="zh-CN" altLang="en-US" sz="907" dirty="0">
                  <a:solidFill>
                    <a:srgbClr val="000000"/>
                  </a:solidFill>
                  <a:latin typeface="SimSun" panose="02010600030101010101" pitchFamily="2" charset="-122"/>
                  <a:ea typeface="SimSun" panose="02010600030101010101" pitchFamily="2" charset="-122"/>
                </a:rPr>
                <a:t>政   府</a:t>
              </a:r>
            </a:p>
          </p:txBody>
        </p:sp>
        <p:sp>
          <p:nvSpPr>
            <p:cNvPr id="6" name="Rectangle 5">
              <a:extLst>
                <a:ext uri="{FF2B5EF4-FFF2-40B4-BE49-F238E27FC236}">
                  <a16:creationId xmlns:a16="http://schemas.microsoft.com/office/drawing/2014/main" id="{FDFDF632-8FD3-40CB-2EE4-87AFB6B05493}"/>
                </a:ext>
              </a:extLst>
            </p:cNvPr>
            <p:cNvSpPr>
              <a:spLocks noChangeArrowheads="1"/>
            </p:cNvSpPr>
            <p:nvPr/>
          </p:nvSpPr>
          <p:spPr bwMode="auto">
            <a:xfrm>
              <a:off x="6858000" y="5029200"/>
              <a:ext cx="1143000" cy="533400"/>
            </a:xfrm>
            <a:prstGeom prst="rect">
              <a:avLst/>
            </a:prstGeom>
            <a:grp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230329" fontAlgn="base">
                <a:spcBef>
                  <a:spcPct val="0"/>
                </a:spcBef>
                <a:spcAft>
                  <a:spcPct val="0"/>
                </a:spcAft>
                <a:buClrTx/>
                <a:buNone/>
              </a:pPr>
              <a:r>
                <a:rPr lang="zh-CN" altLang="en-US" sz="907">
                  <a:solidFill>
                    <a:srgbClr val="000000"/>
                  </a:solidFill>
                  <a:latin typeface="SimSun" panose="02010600030101010101" pitchFamily="2" charset="-122"/>
                  <a:ea typeface="SimSun" panose="02010600030101010101" pitchFamily="2" charset="-122"/>
                </a:rPr>
                <a:t>厂商</a:t>
              </a:r>
            </a:p>
          </p:txBody>
        </p:sp>
        <p:sp>
          <p:nvSpPr>
            <p:cNvPr id="7" name="Rectangle 6">
              <a:extLst>
                <a:ext uri="{FF2B5EF4-FFF2-40B4-BE49-F238E27FC236}">
                  <a16:creationId xmlns:a16="http://schemas.microsoft.com/office/drawing/2014/main" id="{7B3434A6-6191-3897-5923-5817E0A9EBEE}"/>
                </a:ext>
              </a:extLst>
            </p:cNvPr>
            <p:cNvSpPr>
              <a:spLocks noChangeArrowheads="1"/>
            </p:cNvSpPr>
            <p:nvPr/>
          </p:nvSpPr>
          <p:spPr bwMode="auto">
            <a:xfrm>
              <a:off x="825500" y="5029200"/>
              <a:ext cx="1143000" cy="533400"/>
            </a:xfrm>
            <a:prstGeom prst="rect">
              <a:avLst/>
            </a:prstGeom>
            <a:grp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230329" fontAlgn="base">
                <a:spcBef>
                  <a:spcPct val="0"/>
                </a:spcBef>
                <a:spcAft>
                  <a:spcPct val="0"/>
                </a:spcAft>
                <a:buClrTx/>
                <a:buNone/>
              </a:pPr>
              <a:r>
                <a:rPr lang="zh-CN" altLang="en-US" sz="907" dirty="0">
                  <a:solidFill>
                    <a:srgbClr val="000000"/>
                  </a:solidFill>
                  <a:latin typeface="SimSun" panose="02010600030101010101" pitchFamily="2" charset="-122"/>
                  <a:ea typeface="SimSun" panose="02010600030101010101" pitchFamily="2" charset="-122"/>
                </a:rPr>
                <a:t>居民户</a:t>
              </a:r>
            </a:p>
          </p:txBody>
        </p:sp>
        <p:sp>
          <p:nvSpPr>
            <p:cNvPr id="8" name="Line 7">
              <a:extLst>
                <a:ext uri="{FF2B5EF4-FFF2-40B4-BE49-F238E27FC236}">
                  <a16:creationId xmlns:a16="http://schemas.microsoft.com/office/drawing/2014/main" id="{CF07EE74-D79E-BE6F-AFD9-766D5DD1754A}"/>
                </a:ext>
              </a:extLst>
            </p:cNvPr>
            <p:cNvSpPr>
              <a:spLocks noChangeShapeType="1"/>
            </p:cNvSpPr>
            <p:nvPr/>
          </p:nvSpPr>
          <p:spPr bwMode="auto">
            <a:xfrm>
              <a:off x="1066800" y="3200400"/>
              <a:ext cx="0" cy="1828800"/>
            </a:xfrm>
            <a:prstGeom prst="line">
              <a:avLst/>
            </a:prstGeom>
            <a:grpFill/>
            <a:ln w="15875">
              <a:solidFill>
                <a:srgbClr val="00206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srgbClr val="000000"/>
                </a:solidFill>
                <a:latin typeface="SimSun" panose="02010600030101010101" pitchFamily="2" charset="-122"/>
                <a:ea typeface="SimSun" panose="02010600030101010101" pitchFamily="2" charset="-122"/>
              </a:endParaRPr>
            </a:p>
          </p:txBody>
        </p:sp>
        <p:sp>
          <p:nvSpPr>
            <p:cNvPr id="9" name="Line 8">
              <a:extLst>
                <a:ext uri="{FF2B5EF4-FFF2-40B4-BE49-F238E27FC236}">
                  <a16:creationId xmlns:a16="http://schemas.microsoft.com/office/drawing/2014/main" id="{95FFD061-C27F-1050-A219-CE34B149DFAE}"/>
                </a:ext>
              </a:extLst>
            </p:cNvPr>
            <p:cNvSpPr>
              <a:spLocks noChangeShapeType="1"/>
            </p:cNvSpPr>
            <p:nvPr/>
          </p:nvSpPr>
          <p:spPr bwMode="auto">
            <a:xfrm>
              <a:off x="1066800" y="3200400"/>
              <a:ext cx="2590800" cy="0"/>
            </a:xfrm>
            <a:prstGeom prst="line">
              <a:avLst/>
            </a:prstGeom>
            <a:grpFill/>
            <a:ln w="15875">
              <a:solidFill>
                <a:srgbClr val="002060"/>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srgbClr val="000000"/>
                </a:solidFill>
                <a:latin typeface="SimSun" panose="02010600030101010101" pitchFamily="2" charset="-122"/>
                <a:ea typeface="SimSun" panose="02010600030101010101" pitchFamily="2" charset="-122"/>
              </a:endParaRPr>
            </a:p>
          </p:txBody>
        </p:sp>
        <p:sp>
          <p:nvSpPr>
            <p:cNvPr id="10" name="Line 9">
              <a:extLst>
                <a:ext uri="{FF2B5EF4-FFF2-40B4-BE49-F238E27FC236}">
                  <a16:creationId xmlns:a16="http://schemas.microsoft.com/office/drawing/2014/main" id="{4C0B8456-72E7-016C-92F9-7D7885B3D6B5}"/>
                </a:ext>
              </a:extLst>
            </p:cNvPr>
            <p:cNvSpPr>
              <a:spLocks noChangeShapeType="1"/>
            </p:cNvSpPr>
            <p:nvPr/>
          </p:nvSpPr>
          <p:spPr bwMode="auto">
            <a:xfrm flipH="1">
              <a:off x="1752600" y="3429000"/>
              <a:ext cx="1905000" cy="0"/>
            </a:xfrm>
            <a:prstGeom prst="line">
              <a:avLst/>
            </a:prstGeom>
            <a:grpFill/>
            <a:ln w="15875">
              <a:solidFill>
                <a:srgbClr val="00206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srgbClr val="000000"/>
                </a:solidFill>
                <a:latin typeface="SimSun" panose="02010600030101010101" pitchFamily="2" charset="-122"/>
                <a:ea typeface="SimSun" panose="02010600030101010101" pitchFamily="2" charset="-122"/>
              </a:endParaRPr>
            </a:p>
          </p:txBody>
        </p:sp>
        <p:sp>
          <p:nvSpPr>
            <p:cNvPr id="11" name="Line 10">
              <a:extLst>
                <a:ext uri="{FF2B5EF4-FFF2-40B4-BE49-F238E27FC236}">
                  <a16:creationId xmlns:a16="http://schemas.microsoft.com/office/drawing/2014/main" id="{66AA8748-4C53-BF4C-6DF5-5F547997EF93}"/>
                </a:ext>
              </a:extLst>
            </p:cNvPr>
            <p:cNvSpPr>
              <a:spLocks noChangeShapeType="1"/>
            </p:cNvSpPr>
            <p:nvPr/>
          </p:nvSpPr>
          <p:spPr bwMode="auto">
            <a:xfrm>
              <a:off x="1752600" y="3429000"/>
              <a:ext cx="0" cy="1600200"/>
            </a:xfrm>
            <a:prstGeom prst="line">
              <a:avLst/>
            </a:prstGeom>
            <a:grpFill/>
            <a:ln w="15875">
              <a:solidFill>
                <a:srgbClr val="002060"/>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srgbClr val="000000"/>
                </a:solidFill>
                <a:latin typeface="SimSun" panose="02010600030101010101" pitchFamily="2" charset="-122"/>
                <a:ea typeface="SimSun" panose="02010600030101010101" pitchFamily="2" charset="-122"/>
              </a:endParaRPr>
            </a:p>
          </p:txBody>
        </p:sp>
        <p:sp>
          <p:nvSpPr>
            <p:cNvPr id="12" name="Line 11">
              <a:extLst>
                <a:ext uri="{FF2B5EF4-FFF2-40B4-BE49-F238E27FC236}">
                  <a16:creationId xmlns:a16="http://schemas.microsoft.com/office/drawing/2014/main" id="{5EB6B665-70F7-9132-6CAD-9AA8C5D07FAD}"/>
                </a:ext>
              </a:extLst>
            </p:cNvPr>
            <p:cNvSpPr>
              <a:spLocks noChangeShapeType="1"/>
            </p:cNvSpPr>
            <p:nvPr/>
          </p:nvSpPr>
          <p:spPr bwMode="auto">
            <a:xfrm>
              <a:off x="4800600" y="3200400"/>
              <a:ext cx="2819400" cy="0"/>
            </a:xfrm>
            <a:prstGeom prst="line">
              <a:avLst/>
            </a:prstGeom>
            <a:grpFill/>
            <a:ln w="15875">
              <a:solidFill>
                <a:srgbClr val="00206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srgbClr val="000000"/>
                </a:solidFill>
                <a:latin typeface="SimSun" panose="02010600030101010101" pitchFamily="2" charset="-122"/>
                <a:ea typeface="SimSun" panose="02010600030101010101" pitchFamily="2" charset="-122"/>
              </a:endParaRPr>
            </a:p>
          </p:txBody>
        </p:sp>
        <p:sp>
          <p:nvSpPr>
            <p:cNvPr id="13" name="Line 13">
              <a:extLst>
                <a:ext uri="{FF2B5EF4-FFF2-40B4-BE49-F238E27FC236}">
                  <a16:creationId xmlns:a16="http://schemas.microsoft.com/office/drawing/2014/main" id="{146C1F35-3CE3-3882-DA26-20861171A53A}"/>
                </a:ext>
              </a:extLst>
            </p:cNvPr>
            <p:cNvSpPr>
              <a:spLocks noChangeShapeType="1"/>
            </p:cNvSpPr>
            <p:nvPr/>
          </p:nvSpPr>
          <p:spPr bwMode="auto">
            <a:xfrm>
              <a:off x="7620000" y="3200400"/>
              <a:ext cx="0" cy="1828800"/>
            </a:xfrm>
            <a:prstGeom prst="line">
              <a:avLst/>
            </a:prstGeom>
            <a:grpFill/>
            <a:ln w="15875">
              <a:solidFill>
                <a:srgbClr val="002060"/>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srgbClr val="000000"/>
                </a:solidFill>
                <a:latin typeface="SimSun" panose="02010600030101010101" pitchFamily="2" charset="-122"/>
                <a:ea typeface="SimSun" panose="02010600030101010101" pitchFamily="2" charset="-122"/>
              </a:endParaRPr>
            </a:p>
          </p:txBody>
        </p:sp>
        <p:sp>
          <p:nvSpPr>
            <p:cNvPr id="14" name="Line 14">
              <a:extLst>
                <a:ext uri="{FF2B5EF4-FFF2-40B4-BE49-F238E27FC236}">
                  <a16:creationId xmlns:a16="http://schemas.microsoft.com/office/drawing/2014/main" id="{FB56C458-57F7-D7B9-F1CF-7770D197A98B}"/>
                </a:ext>
              </a:extLst>
            </p:cNvPr>
            <p:cNvSpPr>
              <a:spLocks noChangeShapeType="1"/>
            </p:cNvSpPr>
            <p:nvPr/>
          </p:nvSpPr>
          <p:spPr bwMode="auto">
            <a:xfrm flipV="1">
              <a:off x="7086600" y="3429000"/>
              <a:ext cx="0" cy="1600200"/>
            </a:xfrm>
            <a:prstGeom prst="line">
              <a:avLst/>
            </a:prstGeom>
            <a:grpFill/>
            <a:ln w="15875">
              <a:solidFill>
                <a:srgbClr val="00206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srgbClr val="000000"/>
                </a:solidFill>
                <a:latin typeface="SimSun" panose="02010600030101010101" pitchFamily="2" charset="-122"/>
                <a:ea typeface="SimSun" panose="02010600030101010101" pitchFamily="2" charset="-122"/>
              </a:endParaRPr>
            </a:p>
          </p:txBody>
        </p:sp>
        <p:sp>
          <p:nvSpPr>
            <p:cNvPr id="15" name="Line 15">
              <a:extLst>
                <a:ext uri="{FF2B5EF4-FFF2-40B4-BE49-F238E27FC236}">
                  <a16:creationId xmlns:a16="http://schemas.microsoft.com/office/drawing/2014/main" id="{6CD7BDE0-8AD2-114C-71C3-5325932C6858}"/>
                </a:ext>
              </a:extLst>
            </p:cNvPr>
            <p:cNvSpPr>
              <a:spLocks noChangeShapeType="1"/>
            </p:cNvSpPr>
            <p:nvPr/>
          </p:nvSpPr>
          <p:spPr bwMode="auto">
            <a:xfrm flipH="1">
              <a:off x="4800600" y="3441700"/>
              <a:ext cx="2286000" cy="0"/>
            </a:xfrm>
            <a:prstGeom prst="line">
              <a:avLst/>
            </a:prstGeom>
            <a:grpFill/>
            <a:ln w="15875">
              <a:solidFill>
                <a:srgbClr val="002060"/>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srgbClr val="000000"/>
                </a:solidFill>
                <a:latin typeface="SimSun" panose="02010600030101010101" pitchFamily="2" charset="-122"/>
                <a:ea typeface="SimSun" panose="02010600030101010101" pitchFamily="2" charset="-122"/>
              </a:endParaRPr>
            </a:p>
          </p:txBody>
        </p:sp>
        <p:sp>
          <p:nvSpPr>
            <p:cNvPr id="16" name="Line 16">
              <a:extLst>
                <a:ext uri="{FF2B5EF4-FFF2-40B4-BE49-F238E27FC236}">
                  <a16:creationId xmlns:a16="http://schemas.microsoft.com/office/drawing/2014/main" id="{043C780B-96AF-D600-B2A4-C8C21F8D4FD6}"/>
                </a:ext>
              </a:extLst>
            </p:cNvPr>
            <p:cNvSpPr>
              <a:spLocks noChangeShapeType="1"/>
            </p:cNvSpPr>
            <p:nvPr/>
          </p:nvSpPr>
          <p:spPr bwMode="auto">
            <a:xfrm>
              <a:off x="1981200" y="5473700"/>
              <a:ext cx="4876800" cy="0"/>
            </a:xfrm>
            <a:prstGeom prst="line">
              <a:avLst/>
            </a:prstGeom>
            <a:grpFill/>
            <a:ln w="15875">
              <a:solidFill>
                <a:srgbClr val="002060"/>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srgbClr val="000000"/>
                </a:solidFill>
                <a:latin typeface="SimSun" panose="02010600030101010101" pitchFamily="2" charset="-122"/>
                <a:ea typeface="SimSun" panose="02010600030101010101" pitchFamily="2" charset="-122"/>
              </a:endParaRPr>
            </a:p>
          </p:txBody>
        </p:sp>
        <p:sp>
          <p:nvSpPr>
            <p:cNvPr id="17" name="Line 17">
              <a:extLst>
                <a:ext uri="{FF2B5EF4-FFF2-40B4-BE49-F238E27FC236}">
                  <a16:creationId xmlns:a16="http://schemas.microsoft.com/office/drawing/2014/main" id="{8470B0A8-D8AC-7528-2C24-5373E675F6B2}"/>
                </a:ext>
              </a:extLst>
            </p:cNvPr>
            <p:cNvSpPr>
              <a:spLocks noChangeShapeType="1"/>
            </p:cNvSpPr>
            <p:nvPr/>
          </p:nvSpPr>
          <p:spPr bwMode="auto">
            <a:xfrm flipH="1">
              <a:off x="1981200" y="5118100"/>
              <a:ext cx="4876800" cy="0"/>
            </a:xfrm>
            <a:prstGeom prst="line">
              <a:avLst/>
            </a:prstGeom>
            <a:grpFill/>
            <a:ln w="15875">
              <a:solidFill>
                <a:srgbClr val="002060"/>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7167" tIns="33583" rIns="67167" bIns="33583" anchor="ctr"/>
            <a:lstStyle/>
            <a:p>
              <a:pPr defTabSz="230329" eaLnBrk="0" fontAlgn="base" hangingPunct="0">
                <a:spcBef>
                  <a:spcPct val="0"/>
                </a:spcBef>
                <a:spcAft>
                  <a:spcPct val="0"/>
                </a:spcAft>
              </a:pPr>
              <a:endParaRPr lang="zh-CN" altLang="en-US" sz="907">
                <a:solidFill>
                  <a:srgbClr val="000000"/>
                </a:solidFill>
                <a:latin typeface="SimSun" panose="02010600030101010101" pitchFamily="2" charset="-122"/>
                <a:ea typeface="SimSun" panose="02010600030101010101" pitchFamily="2" charset="-122"/>
              </a:endParaRPr>
            </a:p>
          </p:txBody>
        </p:sp>
        <p:sp>
          <p:nvSpPr>
            <p:cNvPr id="18" name="Text Box 18">
              <a:extLst>
                <a:ext uri="{FF2B5EF4-FFF2-40B4-BE49-F238E27FC236}">
                  <a16:creationId xmlns:a16="http://schemas.microsoft.com/office/drawing/2014/main" id="{0FC3D44A-57DE-86A4-044C-8AF0B58240EC}"/>
                </a:ext>
              </a:extLst>
            </p:cNvPr>
            <p:cNvSpPr txBox="1">
              <a:spLocks noChangeArrowheads="1"/>
            </p:cNvSpPr>
            <p:nvPr/>
          </p:nvSpPr>
          <p:spPr bwMode="auto">
            <a:xfrm>
              <a:off x="2209800" y="5080000"/>
              <a:ext cx="4267199" cy="532404"/>
            </a:xfrm>
            <a:prstGeom prst="rect">
              <a:avLst/>
            </a:prstGeom>
            <a:grpFill/>
            <a:ln>
              <a:noFill/>
            </a:ln>
            <a:effectLst/>
            <a:extLs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7167" tIns="33583" rIns="67167" bIns="33583">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230329" fontAlgn="base">
                <a:spcBef>
                  <a:spcPct val="50000"/>
                </a:spcBef>
                <a:spcAft>
                  <a:spcPct val="0"/>
                </a:spcAft>
                <a:buClrTx/>
                <a:buNone/>
              </a:pPr>
              <a:r>
                <a:rPr lang="zh-CN" altLang="en-US" sz="1007">
                  <a:solidFill>
                    <a:srgbClr val="000000"/>
                  </a:solidFill>
                  <a:latin typeface="SimSun" panose="02010600030101010101" pitchFamily="2" charset="-122"/>
                  <a:ea typeface="SimSun" panose="02010600030101010101" pitchFamily="2" charset="-122"/>
                </a:rPr>
                <a:t>居民户向厂商购买各种产品与劳务</a:t>
              </a:r>
            </a:p>
          </p:txBody>
        </p:sp>
        <p:sp>
          <p:nvSpPr>
            <p:cNvPr id="19" name="Text Box 19">
              <a:extLst>
                <a:ext uri="{FF2B5EF4-FFF2-40B4-BE49-F238E27FC236}">
                  <a16:creationId xmlns:a16="http://schemas.microsoft.com/office/drawing/2014/main" id="{5EDD74B8-23EC-C5E9-DB5A-F496F349E235}"/>
                </a:ext>
              </a:extLst>
            </p:cNvPr>
            <p:cNvSpPr txBox="1">
              <a:spLocks noChangeArrowheads="1"/>
            </p:cNvSpPr>
            <p:nvPr/>
          </p:nvSpPr>
          <p:spPr bwMode="auto">
            <a:xfrm>
              <a:off x="2222500" y="4699001"/>
              <a:ext cx="4267199" cy="532404"/>
            </a:xfrm>
            <a:prstGeom prst="rect">
              <a:avLst/>
            </a:prstGeom>
            <a:grpFill/>
            <a:ln>
              <a:noFill/>
            </a:ln>
            <a:effectLst/>
            <a:extLs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7167" tIns="33583" rIns="67167" bIns="33583">
              <a:spAutoFit/>
            </a:bodyPr>
            <a:lstStyle>
              <a:lvl1pPr>
                <a:spcBef>
                  <a:spcPct val="20000"/>
                </a:spcBef>
                <a:buClr>
                  <a:schemeClr va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defTabSz="230329" fontAlgn="base">
                <a:spcBef>
                  <a:spcPct val="50000"/>
                </a:spcBef>
                <a:spcAft>
                  <a:spcPct val="0"/>
                </a:spcAft>
                <a:buClrTx/>
                <a:buNone/>
              </a:pPr>
              <a:r>
                <a:rPr lang="zh-CN" altLang="en-US" sz="1007">
                  <a:solidFill>
                    <a:srgbClr val="000000"/>
                  </a:solidFill>
                  <a:latin typeface="SimSun" panose="02010600030101010101" pitchFamily="2" charset="-122"/>
                  <a:ea typeface="SimSun" panose="02010600030101010101" pitchFamily="2" charset="-122"/>
                </a:rPr>
                <a:t>厂商向居民支付生产要素报酬</a:t>
              </a:r>
            </a:p>
          </p:txBody>
        </p:sp>
      </p:grpSp>
      <p:sp>
        <p:nvSpPr>
          <p:cNvPr id="20" name="页脚占位符 1">
            <a:extLst>
              <a:ext uri="{FF2B5EF4-FFF2-40B4-BE49-F238E27FC236}">
                <a16:creationId xmlns:a16="http://schemas.microsoft.com/office/drawing/2014/main" id="{1FB1F52E-0612-261E-C67B-ECFBBD7B7FAA}"/>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均衡国民收入的决定</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4271770893"/>
      </p:ext>
    </p:extLst>
  </p:cSld>
  <p:clrMapOvr>
    <a:masterClrMapping/>
  </p:clrMapOvr>
  <p:transition>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31</a:t>
            </a:fld>
            <a:endParaRPr lang="zh-CN" altLang="zh-CN" sz="856">
              <a:solidFill>
                <a:srgbClr val="777777"/>
              </a:solidFill>
              <a:ea typeface="宋体" panose="02010600030101010101" pitchFamily="2" charset="-122"/>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a:xfrm>
            <a:off x="174835" y="128848"/>
            <a:ext cx="4236442" cy="396386"/>
          </a:xfrm>
        </p:spPr>
        <p:txBody>
          <a:bodyPr/>
          <a:lstStyle/>
          <a:p>
            <a:r>
              <a:rPr kumimoji="1" lang="zh-CN" altLang="en-US" b="0" dirty="0">
                <a:latin typeface="Microsoft YaHei" panose="020B0503020204020204" pitchFamily="34" charset="-122"/>
                <a:ea typeface="Microsoft YaHei" panose="020B0503020204020204" pitchFamily="34" charset="-122"/>
              </a:rPr>
              <a:t>三部门经济：储蓄</a:t>
            </a:r>
            <a:r>
              <a:rPr kumimoji="1" lang="en-US" altLang="zh-CN" b="0" dirty="0">
                <a:latin typeface="Microsoft YaHei" panose="020B0503020204020204" pitchFamily="34" charset="-122"/>
                <a:ea typeface="Microsoft YaHei" panose="020B0503020204020204" pitchFamily="34" charset="-122"/>
              </a:rPr>
              <a:t>——</a:t>
            </a:r>
            <a:r>
              <a:rPr kumimoji="1" lang="zh-CN" altLang="en-US" b="0" dirty="0">
                <a:latin typeface="Microsoft YaHei" panose="020B0503020204020204" pitchFamily="34" charset="-122"/>
                <a:ea typeface="Microsoft YaHei" panose="020B0503020204020204" pitchFamily="34" charset="-122"/>
              </a:rPr>
              <a:t>投资恒等式</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0193" y="131115"/>
            <a:ext cx="191912" cy="159926"/>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0659" eaLnBrk="1" fontAlgn="base" hangingPunct="1">
              <a:spcBef>
                <a:spcPct val="0"/>
              </a:spcBef>
              <a:spcAft>
                <a:spcPct val="0"/>
              </a:spcAft>
              <a:defRPr/>
            </a:pPr>
            <a:r>
              <a:rPr lang="en-US" altLang="zh-CN" sz="705" b="1">
                <a:solidFill>
                  <a:srgbClr val="000000"/>
                </a:solidFill>
                <a:latin typeface="Tahoma" panose="020B0604030504040204" pitchFamily="34" charset="0"/>
                <a:ea typeface="宋体" panose="02010600030101010101" pitchFamily="2" charset="-122"/>
              </a:rPr>
              <a:t>0</a:t>
            </a:r>
          </a:p>
        </p:txBody>
      </p:sp>
      <p:sp>
        <p:nvSpPr>
          <p:cNvPr id="3" name="内容占位符 2">
            <a:extLst>
              <a:ext uri="{FF2B5EF4-FFF2-40B4-BE49-F238E27FC236}">
                <a16:creationId xmlns:a16="http://schemas.microsoft.com/office/drawing/2014/main" id="{DE423034-7B27-87ED-F1B0-5CDA737DB772}"/>
              </a:ext>
            </a:extLst>
          </p:cNvPr>
          <p:cNvSpPr txBox="1">
            <a:spLocks/>
          </p:cNvSpPr>
          <p:nvPr/>
        </p:nvSpPr>
        <p:spPr>
          <a:xfrm>
            <a:off x="225756" y="723188"/>
            <a:ext cx="1983913" cy="2302142"/>
          </a:xfrm>
          <a:prstGeom prst="rect">
            <a:avLst/>
          </a:prstGeom>
          <a:ln>
            <a:solidFill>
              <a:srgbClr val="0070C0"/>
            </a:solidFill>
          </a:ln>
        </p:spPr>
        <p:txBody>
          <a:bodyPr/>
          <a:lst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pPr marL="87171" indent="-87171" defTabSz="913644">
              <a:buClr>
                <a:srgbClr val="002060"/>
              </a:buClr>
              <a:buFont typeface="Wingdings" pitchFamily="2" charset="2"/>
              <a:buChar char="u"/>
              <a:defRPr/>
            </a:pPr>
            <a:r>
              <a:rPr lang="zh-CN" altLang="en-US" sz="1008" b="1" dirty="0">
                <a:solidFill>
                  <a:srgbClr val="000000"/>
                </a:solidFill>
                <a:latin typeface="Garamond" panose="02020404030301010803" pitchFamily="18" charset="0"/>
                <a:ea typeface="SimSun" panose="02010600030101010101" pitchFamily="2" charset="-122"/>
              </a:rPr>
              <a:t>从支出（总需求）看：</a:t>
            </a:r>
          </a:p>
          <a:p>
            <a:pPr marL="0" indent="0" defTabSz="913644">
              <a:buClr>
                <a:srgbClr val="002060"/>
              </a:buClr>
              <a:buNone/>
              <a:defRPr/>
            </a:pPr>
            <a:r>
              <a:rPr lang="zh-CN" altLang="en-US" sz="1008" dirty="0">
                <a:solidFill>
                  <a:srgbClr val="000000"/>
                </a:solidFill>
                <a:latin typeface="Garamond" panose="02020404030301010803" pitchFamily="18" charset="0"/>
                <a:ea typeface="SimSun" panose="02010600030101010101" pitchFamily="2" charset="-122"/>
              </a:rPr>
              <a:t>国内生产总值</a:t>
            </a:r>
            <a:endParaRPr lang="en-US" altLang="zh-CN" sz="1008" dirty="0">
              <a:solidFill>
                <a:srgbClr val="000000"/>
              </a:solidFill>
              <a:latin typeface="Garamond" panose="02020404030301010803" pitchFamily="18" charset="0"/>
              <a:ea typeface="SimSun" panose="02010600030101010101" pitchFamily="2" charset="-122"/>
            </a:endParaRPr>
          </a:p>
          <a:p>
            <a:pPr marL="0" indent="0" defTabSz="913644">
              <a:buClr>
                <a:srgbClr val="002060"/>
              </a:buClr>
              <a:buNone/>
              <a:defRPr/>
            </a:pPr>
            <a:r>
              <a:rPr lang="zh-CN" altLang="en-US" sz="1008" dirty="0">
                <a:solidFill>
                  <a:srgbClr val="000000"/>
                </a:solidFill>
                <a:latin typeface="Garamond" panose="02020404030301010803" pitchFamily="18" charset="0"/>
                <a:ea typeface="SimSun" panose="02010600030101010101" pitchFamily="2" charset="-122"/>
              </a:rPr>
              <a:t>≡消费支出</a:t>
            </a:r>
            <a:r>
              <a:rPr lang="en-US" altLang="zh-CN" sz="1008" dirty="0">
                <a:solidFill>
                  <a:srgbClr val="000000"/>
                </a:solidFill>
                <a:latin typeface="Garamond" panose="02020404030301010803" pitchFamily="18" charset="0"/>
                <a:ea typeface="SimSun" panose="02010600030101010101" pitchFamily="2" charset="-122"/>
              </a:rPr>
              <a:t>+</a:t>
            </a:r>
            <a:r>
              <a:rPr lang="zh-CN" altLang="en-US" sz="1008" dirty="0">
                <a:solidFill>
                  <a:srgbClr val="000000"/>
                </a:solidFill>
                <a:latin typeface="Garamond" panose="02020404030301010803" pitchFamily="18" charset="0"/>
                <a:ea typeface="SimSun" panose="02010600030101010101" pitchFamily="2" charset="-122"/>
              </a:rPr>
              <a:t>投资支出</a:t>
            </a:r>
            <a:r>
              <a:rPr lang="en-US" altLang="zh-CN" sz="1008" dirty="0">
                <a:solidFill>
                  <a:srgbClr val="000000"/>
                </a:solidFill>
                <a:latin typeface="Garamond" panose="02020404030301010803" pitchFamily="18" charset="0"/>
                <a:ea typeface="SimSun" panose="02010600030101010101" pitchFamily="2" charset="-122"/>
              </a:rPr>
              <a:t>+</a:t>
            </a:r>
            <a:r>
              <a:rPr lang="zh-CN" altLang="en-US" sz="1008" dirty="0">
                <a:solidFill>
                  <a:srgbClr val="000000"/>
                </a:solidFill>
                <a:latin typeface="Garamond" panose="02020404030301010803" pitchFamily="18" charset="0"/>
                <a:ea typeface="SimSun" panose="02010600030101010101" pitchFamily="2" charset="-122"/>
              </a:rPr>
              <a:t>政府支出</a:t>
            </a:r>
            <a:endParaRPr lang="en-US" altLang="zh-CN" sz="1008" dirty="0">
              <a:solidFill>
                <a:srgbClr val="000000"/>
              </a:solidFill>
              <a:latin typeface="Garamond" panose="02020404030301010803" pitchFamily="18" charset="0"/>
              <a:ea typeface="SimSun" panose="02010600030101010101" pitchFamily="2" charset="-122"/>
            </a:endParaRPr>
          </a:p>
          <a:p>
            <a:pPr marL="0" indent="0" defTabSz="913644">
              <a:buClr>
                <a:srgbClr val="002060"/>
              </a:buClr>
              <a:buNone/>
              <a:defRPr/>
            </a:pPr>
            <a:r>
              <a:rPr lang="zh-CN" altLang="en-US" sz="1008" dirty="0">
                <a:solidFill>
                  <a:srgbClr val="000000"/>
                </a:solidFill>
                <a:latin typeface="Garamond" panose="02020404030301010803" pitchFamily="18" charset="0"/>
                <a:ea typeface="SimSun" panose="02010600030101010101" pitchFamily="2" charset="-122"/>
              </a:rPr>
              <a:t>≡消费</a:t>
            </a:r>
            <a:r>
              <a:rPr lang="en-US" altLang="zh-CN" sz="1008" dirty="0">
                <a:solidFill>
                  <a:srgbClr val="000000"/>
                </a:solidFill>
                <a:latin typeface="Garamond" panose="02020404030301010803" pitchFamily="18" charset="0"/>
                <a:ea typeface="SimSun" panose="02010600030101010101" pitchFamily="2" charset="-122"/>
              </a:rPr>
              <a:t>+</a:t>
            </a:r>
            <a:r>
              <a:rPr lang="zh-CN" altLang="en-US" sz="1008" dirty="0">
                <a:solidFill>
                  <a:srgbClr val="000000"/>
                </a:solidFill>
                <a:latin typeface="Garamond" panose="02020404030301010803" pitchFamily="18" charset="0"/>
                <a:ea typeface="SimSun" panose="02010600030101010101" pitchFamily="2" charset="-122"/>
              </a:rPr>
              <a:t>投资</a:t>
            </a:r>
            <a:r>
              <a:rPr lang="en-US" altLang="zh-CN" sz="1008" dirty="0">
                <a:solidFill>
                  <a:srgbClr val="000000"/>
                </a:solidFill>
                <a:latin typeface="Garamond" panose="02020404030301010803" pitchFamily="18" charset="0"/>
                <a:ea typeface="SimSun" panose="02010600030101010101" pitchFamily="2" charset="-122"/>
              </a:rPr>
              <a:t>+</a:t>
            </a:r>
            <a:r>
              <a:rPr lang="zh-CN" altLang="en-US" sz="1008" dirty="0">
                <a:solidFill>
                  <a:srgbClr val="000000"/>
                </a:solidFill>
                <a:latin typeface="Garamond" panose="02020404030301010803" pitchFamily="18" charset="0"/>
                <a:ea typeface="SimSun" panose="02010600030101010101" pitchFamily="2" charset="-122"/>
              </a:rPr>
              <a:t>政府购买</a:t>
            </a:r>
          </a:p>
          <a:p>
            <a:pPr marL="0" indent="0" defTabSz="913644">
              <a:buClr>
                <a:srgbClr val="002060"/>
              </a:buClr>
              <a:buNone/>
              <a:defRPr/>
            </a:pPr>
            <a:r>
              <a:rPr lang="zh-CN" altLang="en-US" sz="1008" dirty="0">
                <a:solidFill>
                  <a:srgbClr val="000000"/>
                </a:solidFill>
                <a:latin typeface="Garamond" panose="02020404030301010803" pitchFamily="18" charset="0"/>
                <a:ea typeface="SimSun" panose="02010600030101010101" pitchFamily="2" charset="-122"/>
              </a:rPr>
              <a:t>即</a:t>
            </a:r>
            <a:endParaRPr lang="en-US" altLang="zh-CN" sz="1008" dirty="0">
              <a:solidFill>
                <a:srgbClr val="000000"/>
              </a:solidFill>
              <a:latin typeface="Garamond" panose="02020404030301010803" pitchFamily="18" charset="0"/>
              <a:ea typeface="SimSun" panose="02010600030101010101" pitchFamily="2" charset="-122"/>
            </a:endParaRPr>
          </a:p>
          <a:p>
            <a:pPr marL="0" indent="0" defTabSz="913644">
              <a:buClr>
                <a:srgbClr val="002060"/>
              </a:buClr>
              <a:buNone/>
              <a:defRPr/>
            </a:pPr>
            <a:r>
              <a:rPr lang="en" altLang="zh-CN" sz="1008" dirty="0">
                <a:solidFill>
                  <a:srgbClr val="000000"/>
                </a:solidFill>
                <a:latin typeface="Garamond" panose="02020404030301010803" pitchFamily="18" charset="0"/>
                <a:ea typeface="SimSun" panose="02010600030101010101" pitchFamily="2" charset="-122"/>
              </a:rPr>
              <a:t>Y=C+I+</a:t>
            </a:r>
            <a:r>
              <a:rPr lang="en" altLang="zh-CN" sz="1008" b="1" dirty="0">
                <a:solidFill>
                  <a:srgbClr val="FF0000"/>
                </a:solidFill>
                <a:latin typeface="Garamond" panose="02020404030301010803" pitchFamily="18" charset="0"/>
                <a:ea typeface="SimSun" panose="02010600030101010101" pitchFamily="2" charset="-122"/>
              </a:rPr>
              <a:t>G</a:t>
            </a:r>
          </a:p>
        </p:txBody>
      </p:sp>
      <p:sp>
        <p:nvSpPr>
          <p:cNvPr id="6" name="内容占位符 2">
            <a:extLst>
              <a:ext uri="{FF2B5EF4-FFF2-40B4-BE49-F238E27FC236}">
                <a16:creationId xmlns:a16="http://schemas.microsoft.com/office/drawing/2014/main" id="{0216410C-AAE9-FF88-5F2C-CDDFE9F8192D}"/>
              </a:ext>
            </a:extLst>
          </p:cNvPr>
          <p:cNvSpPr txBox="1">
            <a:spLocks/>
          </p:cNvSpPr>
          <p:nvPr/>
        </p:nvSpPr>
        <p:spPr>
          <a:xfrm>
            <a:off x="2293056" y="718831"/>
            <a:ext cx="2117894" cy="2302142"/>
          </a:xfrm>
          <a:prstGeom prst="rect">
            <a:avLst/>
          </a:prstGeom>
          <a:ln>
            <a:solidFill>
              <a:srgbClr val="0070C0"/>
            </a:solidFill>
          </a:ln>
        </p:spPr>
        <p:txBody>
          <a:bodyPr/>
          <a:lst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pPr marL="87171" indent="-87171" defTabSz="913644">
              <a:buClr>
                <a:srgbClr val="002060"/>
              </a:buClr>
              <a:buFont typeface="Wingdings" pitchFamily="2" charset="2"/>
              <a:buChar char="u"/>
              <a:defRPr/>
            </a:pPr>
            <a:r>
              <a:rPr lang="zh-CN" altLang="en-US" sz="1008" b="1" dirty="0">
                <a:solidFill>
                  <a:srgbClr val="000000"/>
                </a:solidFill>
                <a:latin typeface="Garamond" panose="02020404030301010803" pitchFamily="18" charset="0"/>
                <a:ea typeface="SimSun" panose="02010600030101010101" pitchFamily="2" charset="-122"/>
              </a:rPr>
              <a:t>从收入（总供给）看：</a:t>
            </a:r>
            <a:endParaRPr lang="en-US" altLang="zh-CN" sz="1008" b="1" dirty="0">
              <a:solidFill>
                <a:srgbClr val="000000"/>
              </a:solidFill>
              <a:latin typeface="Garamond" panose="02020404030301010803" pitchFamily="18" charset="0"/>
              <a:ea typeface="SimSun" panose="02010600030101010101" pitchFamily="2" charset="-122"/>
            </a:endParaRPr>
          </a:p>
          <a:p>
            <a:pPr marL="0" indent="0" defTabSz="913644">
              <a:buClr>
                <a:srgbClr val="002060"/>
              </a:buClr>
              <a:buNone/>
              <a:defRPr/>
            </a:pPr>
            <a:r>
              <a:rPr lang="zh-CN" altLang="en-US" sz="1008" dirty="0">
                <a:solidFill>
                  <a:srgbClr val="000000"/>
                </a:solidFill>
                <a:latin typeface="Garamond" panose="02020404030301010803" pitchFamily="18" charset="0"/>
                <a:ea typeface="SimSun" panose="02010600030101010101" pitchFamily="2" charset="-122"/>
              </a:rPr>
              <a:t>国民收入</a:t>
            </a:r>
            <a:endParaRPr lang="en-US" altLang="zh-CN" sz="1008" dirty="0">
              <a:solidFill>
                <a:srgbClr val="000000"/>
              </a:solidFill>
              <a:latin typeface="Garamond" panose="02020404030301010803" pitchFamily="18" charset="0"/>
              <a:ea typeface="SimSun" panose="02010600030101010101" pitchFamily="2" charset="-122"/>
            </a:endParaRPr>
          </a:p>
          <a:p>
            <a:pPr marL="0" indent="0" defTabSz="913644">
              <a:buClr>
                <a:srgbClr val="002060"/>
              </a:buClr>
              <a:buNone/>
              <a:defRPr/>
            </a:pPr>
            <a:r>
              <a:rPr lang="zh-CN" altLang="en-US" sz="1008" dirty="0">
                <a:solidFill>
                  <a:srgbClr val="000000"/>
                </a:solidFill>
                <a:latin typeface="Garamond" panose="02020404030301010803" pitchFamily="18" charset="0"/>
                <a:ea typeface="SimSun" panose="02010600030101010101" pitchFamily="2" charset="-122"/>
              </a:rPr>
              <a:t>≡各种生产要素的收入总和</a:t>
            </a:r>
            <a:endParaRPr lang="en-US" altLang="zh-CN" sz="1008" dirty="0">
              <a:solidFill>
                <a:srgbClr val="000000"/>
              </a:solidFill>
              <a:latin typeface="Garamond" panose="02020404030301010803" pitchFamily="18" charset="0"/>
              <a:ea typeface="SimSun" panose="02010600030101010101" pitchFamily="2" charset="-122"/>
            </a:endParaRPr>
          </a:p>
          <a:p>
            <a:pPr marL="0" indent="0" defTabSz="913644">
              <a:buClr>
                <a:srgbClr val="002060"/>
              </a:buClr>
              <a:buNone/>
              <a:defRPr/>
            </a:pPr>
            <a:r>
              <a:rPr lang="zh-CN" altLang="en-US" sz="1008" dirty="0">
                <a:solidFill>
                  <a:srgbClr val="000000"/>
                </a:solidFill>
                <a:latin typeface="Garamond" panose="02020404030301010803" pitchFamily="18" charset="0"/>
                <a:ea typeface="SimSun" panose="02010600030101010101" pitchFamily="2" charset="-122"/>
              </a:rPr>
              <a:t>≡工资</a:t>
            </a:r>
            <a:r>
              <a:rPr lang="en-US" altLang="zh-CN" sz="1008" dirty="0">
                <a:solidFill>
                  <a:srgbClr val="000000"/>
                </a:solidFill>
                <a:latin typeface="Garamond" panose="02020404030301010803" pitchFamily="18" charset="0"/>
                <a:ea typeface="SimSun" panose="02010600030101010101" pitchFamily="2" charset="-122"/>
              </a:rPr>
              <a:t>+</a:t>
            </a:r>
            <a:r>
              <a:rPr lang="zh-CN" altLang="en-US" sz="1008" dirty="0">
                <a:solidFill>
                  <a:srgbClr val="000000"/>
                </a:solidFill>
                <a:latin typeface="Garamond" panose="02020404030301010803" pitchFamily="18" charset="0"/>
                <a:ea typeface="SimSun" panose="02010600030101010101" pitchFamily="2" charset="-122"/>
              </a:rPr>
              <a:t>利息</a:t>
            </a:r>
            <a:r>
              <a:rPr lang="en-US" altLang="zh-CN" sz="1008" dirty="0">
                <a:solidFill>
                  <a:srgbClr val="000000"/>
                </a:solidFill>
                <a:latin typeface="Garamond" panose="02020404030301010803" pitchFamily="18" charset="0"/>
                <a:ea typeface="SimSun" panose="02010600030101010101" pitchFamily="2" charset="-122"/>
              </a:rPr>
              <a:t>+</a:t>
            </a:r>
            <a:r>
              <a:rPr lang="zh-CN" altLang="en-US" sz="1008" dirty="0">
                <a:solidFill>
                  <a:srgbClr val="000000"/>
                </a:solidFill>
                <a:latin typeface="Garamond" panose="02020404030301010803" pitchFamily="18" charset="0"/>
                <a:ea typeface="SimSun" panose="02010600030101010101" pitchFamily="2" charset="-122"/>
              </a:rPr>
              <a:t>租金</a:t>
            </a:r>
            <a:r>
              <a:rPr lang="en-US" altLang="zh-CN" sz="1008" dirty="0">
                <a:solidFill>
                  <a:srgbClr val="000000"/>
                </a:solidFill>
                <a:latin typeface="Garamond" panose="02020404030301010803" pitchFamily="18" charset="0"/>
                <a:ea typeface="SimSun" panose="02010600030101010101" pitchFamily="2" charset="-122"/>
              </a:rPr>
              <a:t>+</a:t>
            </a:r>
            <a:r>
              <a:rPr lang="zh-CN" altLang="en-US" sz="1008" dirty="0">
                <a:solidFill>
                  <a:srgbClr val="000000"/>
                </a:solidFill>
                <a:latin typeface="Garamond" panose="02020404030301010803" pitchFamily="18" charset="0"/>
                <a:ea typeface="SimSun" panose="02010600030101010101" pitchFamily="2" charset="-122"/>
              </a:rPr>
              <a:t>利润</a:t>
            </a:r>
            <a:endParaRPr lang="en-US" altLang="zh-CN" sz="1008" dirty="0">
              <a:solidFill>
                <a:srgbClr val="000000"/>
              </a:solidFill>
              <a:latin typeface="Garamond" panose="02020404030301010803" pitchFamily="18" charset="0"/>
              <a:ea typeface="SimSun" panose="02010600030101010101" pitchFamily="2" charset="-122"/>
            </a:endParaRPr>
          </a:p>
          <a:p>
            <a:pPr marL="0" indent="0" defTabSz="913644">
              <a:buClr>
                <a:srgbClr val="002060"/>
              </a:buClr>
              <a:buNone/>
              <a:defRPr/>
            </a:pPr>
            <a:r>
              <a:rPr lang="zh-CN" altLang="en-US" sz="1008" dirty="0">
                <a:solidFill>
                  <a:srgbClr val="000000"/>
                </a:solidFill>
                <a:latin typeface="Garamond" panose="02020404030301010803" pitchFamily="18" charset="0"/>
                <a:ea typeface="SimSun" panose="02010600030101010101" pitchFamily="2" charset="-122"/>
              </a:rPr>
              <a:t>≡消费</a:t>
            </a:r>
            <a:r>
              <a:rPr lang="en-US" altLang="zh-CN" sz="1008" dirty="0">
                <a:solidFill>
                  <a:srgbClr val="000000"/>
                </a:solidFill>
                <a:latin typeface="Garamond" panose="02020404030301010803" pitchFamily="18" charset="0"/>
                <a:ea typeface="SimSun" panose="02010600030101010101" pitchFamily="2" charset="-122"/>
              </a:rPr>
              <a:t>+</a:t>
            </a:r>
            <a:r>
              <a:rPr lang="zh-CN" altLang="en-US" sz="1008" dirty="0">
                <a:solidFill>
                  <a:srgbClr val="000000"/>
                </a:solidFill>
                <a:latin typeface="Garamond" panose="02020404030301010803" pitchFamily="18" charset="0"/>
                <a:ea typeface="SimSun" panose="02010600030101010101" pitchFamily="2" charset="-122"/>
              </a:rPr>
              <a:t>储蓄</a:t>
            </a:r>
            <a:r>
              <a:rPr lang="en-US" altLang="zh-CN" sz="1008" dirty="0">
                <a:solidFill>
                  <a:srgbClr val="000000"/>
                </a:solidFill>
                <a:latin typeface="Garamond" panose="02020404030301010803" pitchFamily="18" charset="0"/>
                <a:ea typeface="SimSun" panose="02010600030101010101" pitchFamily="2" charset="-122"/>
              </a:rPr>
              <a:t>+</a:t>
            </a:r>
            <a:r>
              <a:rPr lang="zh-CN" altLang="en-US" sz="1008" dirty="0">
                <a:solidFill>
                  <a:srgbClr val="000000"/>
                </a:solidFill>
                <a:latin typeface="Garamond" panose="02020404030301010803" pitchFamily="18" charset="0"/>
                <a:ea typeface="SimSun" panose="02010600030101010101" pitchFamily="2" charset="-122"/>
              </a:rPr>
              <a:t>税收</a:t>
            </a:r>
            <a:endParaRPr lang="en-US" altLang="zh-CN" sz="1008" dirty="0">
              <a:solidFill>
                <a:srgbClr val="000000"/>
              </a:solidFill>
              <a:latin typeface="Garamond" panose="02020404030301010803" pitchFamily="18" charset="0"/>
              <a:ea typeface="SimSun" panose="02010600030101010101" pitchFamily="2" charset="-122"/>
            </a:endParaRPr>
          </a:p>
          <a:p>
            <a:pPr marL="0" indent="0" defTabSz="913644">
              <a:buClr>
                <a:srgbClr val="002060"/>
              </a:buClr>
              <a:buNone/>
              <a:defRPr/>
            </a:pPr>
            <a:r>
              <a:rPr lang="zh-CN" altLang="en-US" sz="1008" dirty="0">
                <a:solidFill>
                  <a:srgbClr val="000000"/>
                </a:solidFill>
                <a:latin typeface="Garamond" panose="02020404030301010803" pitchFamily="18" charset="0"/>
                <a:ea typeface="SimSun" panose="02010600030101010101" pitchFamily="2" charset="-122"/>
              </a:rPr>
              <a:t>即</a:t>
            </a:r>
            <a:endParaRPr lang="en-US" altLang="zh-CN" sz="1008" dirty="0">
              <a:solidFill>
                <a:srgbClr val="000000"/>
              </a:solidFill>
              <a:latin typeface="Garamond" panose="02020404030301010803" pitchFamily="18" charset="0"/>
              <a:ea typeface="SimSun" panose="02010600030101010101" pitchFamily="2" charset="-122"/>
            </a:endParaRPr>
          </a:p>
          <a:p>
            <a:pPr marL="0" indent="0" defTabSz="913644">
              <a:buClr>
                <a:srgbClr val="002060"/>
              </a:buClr>
              <a:buNone/>
              <a:defRPr/>
            </a:pPr>
            <a:r>
              <a:rPr lang="en" altLang="zh-CN" sz="1008" dirty="0">
                <a:solidFill>
                  <a:srgbClr val="000000"/>
                </a:solidFill>
                <a:latin typeface="Garamond" panose="02020404030301010803" pitchFamily="18" charset="0"/>
                <a:ea typeface="SimSun" panose="02010600030101010101" pitchFamily="2" charset="-122"/>
              </a:rPr>
              <a:t>Y ≡C+S+</a:t>
            </a:r>
            <a:r>
              <a:rPr lang="en" altLang="zh-CN" sz="1008" b="1" dirty="0">
                <a:solidFill>
                  <a:srgbClr val="FF0000"/>
                </a:solidFill>
                <a:latin typeface="Garamond" panose="02020404030301010803" pitchFamily="18" charset="0"/>
                <a:ea typeface="SimSun" panose="02010600030101010101" pitchFamily="2" charset="-122"/>
              </a:rPr>
              <a:t>T</a:t>
            </a:r>
          </a:p>
          <a:p>
            <a:pPr marL="0" indent="0" defTabSz="913644">
              <a:buClr>
                <a:srgbClr val="002060"/>
              </a:buClr>
              <a:buNone/>
              <a:defRPr/>
            </a:pPr>
            <a:r>
              <a:rPr lang="en" altLang="zh-CN" sz="1008" dirty="0">
                <a:solidFill>
                  <a:srgbClr val="000000"/>
                </a:solidFill>
                <a:latin typeface="Garamond" panose="02020404030301010803" pitchFamily="18" charset="0"/>
                <a:ea typeface="SimSun" panose="02010600030101010101" pitchFamily="2" charset="-122"/>
              </a:rPr>
              <a:t>Y ≡C+S</a:t>
            </a:r>
            <a:r>
              <a:rPr lang="en" altLang="zh-CN" sz="1008" b="1" dirty="0">
                <a:solidFill>
                  <a:srgbClr val="FF0000"/>
                </a:solidFill>
                <a:latin typeface="Garamond" panose="02020404030301010803" pitchFamily="18" charset="0"/>
                <a:ea typeface="SimSun" panose="02010600030101010101" pitchFamily="2" charset="-122"/>
              </a:rPr>
              <a:t>+(T</a:t>
            </a:r>
            <a:r>
              <a:rPr lang="en" altLang="zh-CN" sz="1008" b="1" baseline="-25000" dirty="0">
                <a:solidFill>
                  <a:srgbClr val="FF0000"/>
                </a:solidFill>
                <a:latin typeface="Garamond" panose="02020404030301010803" pitchFamily="18" charset="0"/>
                <a:ea typeface="SimSun" panose="02010600030101010101" pitchFamily="2" charset="-122"/>
              </a:rPr>
              <a:t>0 </a:t>
            </a:r>
            <a:r>
              <a:rPr lang="en-US" altLang="zh-CN" sz="1008" b="1" dirty="0">
                <a:solidFill>
                  <a:srgbClr val="FF0000"/>
                </a:solidFill>
                <a:latin typeface="Garamond" panose="02020404030301010803" pitchFamily="18" charset="0"/>
                <a:ea typeface="SimSun" panose="02010600030101010101" pitchFamily="2" charset="-122"/>
              </a:rPr>
              <a:t>-Tr)</a:t>
            </a:r>
            <a:endParaRPr lang="zh-CN" altLang="en-US" sz="1008" b="1" dirty="0">
              <a:solidFill>
                <a:srgbClr val="FF0000"/>
              </a:solidFill>
              <a:latin typeface="Garamond" panose="02020404030301010803" pitchFamily="18" charset="0"/>
              <a:ea typeface="SimSun" panose="02010600030101010101" pitchFamily="2" charset="-122"/>
            </a:endParaRPr>
          </a:p>
          <a:p>
            <a:pPr marL="0" indent="0" defTabSz="913644">
              <a:buClr>
                <a:srgbClr val="002060"/>
              </a:buClr>
              <a:buNone/>
              <a:defRPr/>
            </a:pPr>
            <a:r>
              <a:rPr lang="zh-CN" altLang="en" sz="908" dirty="0">
                <a:solidFill>
                  <a:srgbClr val="000000"/>
                </a:solidFill>
                <a:latin typeface="Garamond" panose="02020404030301010803" pitchFamily="18" charset="0"/>
                <a:ea typeface="KaiTi" panose="02010609060101010101" pitchFamily="49" charset="-122"/>
              </a:rPr>
              <a:t>其中</a:t>
            </a:r>
            <a:r>
              <a:rPr lang="zh-CN" altLang="en-US" sz="908" dirty="0">
                <a:solidFill>
                  <a:srgbClr val="000000"/>
                </a:solidFill>
                <a:latin typeface="Garamond" panose="02020404030301010803" pitchFamily="18" charset="0"/>
                <a:ea typeface="KaiTi" panose="02010609060101010101" pitchFamily="49" charset="-122"/>
              </a:rPr>
              <a:t>，</a:t>
            </a:r>
            <a:r>
              <a:rPr lang="en" altLang="zh-CN" sz="908" dirty="0">
                <a:solidFill>
                  <a:srgbClr val="000000"/>
                </a:solidFill>
                <a:latin typeface="Garamond" panose="02020404030301010803" pitchFamily="18" charset="0"/>
                <a:ea typeface="KaiTi" panose="02010609060101010101" pitchFamily="49" charset="-122"/>
              </a:rPr>
              <a:t>T0</a:t>
            </a:r>
            <a:r>
              <a:rPr lang="zh-CN" altLang="en-US" sz="908" dirty="0">
                <a:solidFill>
                  <a:srgbClr val="000000"/>
                </a:solidFill>
                <a:latin typeface="Garamond" panose="02020404030301010803" pitchFamily="18" charset="0"/>
                <a:ea typeface="KaiTi" panose="02010609060101010101" pitchFamily="49" charset="-122"/>
              </a:rPr>
              <a:t>表示全部税收，</a:t>
            </a:r>
            <a:r>
              <a:rPr lang="en" altLang="zh-CN" sz="908" dirty="0">
                <a:solidFill>
                  <a:srgbClr val="000000"/>
                </a:solidFill>
                <a:latin typeface="Garamond" panose="02020404030301010803" pitchFamily="18" charset="0"/>
                <a:ea typeface="KaiTi" panose="02010609060101010101" pitchFamily="49" charset="-122"/>
              </a:rPr>
              <a:t>Tr</a:t>
            </a:r>
            <a:r>
              <a:rPr lang="zh-CN" altLang="en-US" sz="908" dirty="0">
                <a:solidFill>
                  <a:srgbClr val="000000"/>
                </a:solidFill>
                <a:latin typeface="Garamond" panose="02020404030301010803" pitchFamily="18" charset="0"/>
                <a:ea typeface="KaiTi" panose="02010609060101010101" pitchFamily="49" charset="-122"/>
              </a:rPr>
              <a:t>表示政府转移支付，用</a:t>
            </a:r>
            <a:r>
              <a:rPr lang="en" altLang="zh-CN" sz="908" dirty="0">
                <a:solidFill>
                  <a:srgbClr val="000000"/>
                </a:solidFill>
                <a:latin typeface="Garamond" panose="02020404030301010803" pitchFamily="18" charset="0"/>
                <a:ea typeface="KaiTi" panose="02010609060101010101" pitchFamily="49" charset="-122"/>
              </a:rPr>
              <a:t>T</a:t>
            </a:r>
            <a:r>
              <a:rPr lang="zh-CN" altLang="en-US" sz="908" dirty="0">
                <a:solidFill>
                  <a:srgbClr val="000000"/>
                </a:solidFill>
                <a:latin typeface="Garamond" panose="02020404030301010803" pitchFamily="18" charset="0"/>
                <a:ea typeface="KaiTi" panose="02010609060101010101" pitchFamily="49" charset="-122"/>
              </a:rPr>
              <a:t>表示政府净收入，</a:t>
            </a:r>
            <a:r>
              <a:rPr lang="en" altLang="zh-CN" sz="908" dirty="0">
                <a:solidFill>
                  <a:srgbClr val="000000"/>
                </a:solidFill>
                <a:latin typeface="Garamond" panose="02020404030301010803" pitchFamily="18" charset="0"/>
                <a:ea typeface="KaiTi" panose="02010609060101010101" pitchFamily="49" charset="-122"/>
              </a:rPr>
              <a:t>T = T</a:t>
            </a:r>
            <a:r>
              <a:rPr lang="en" altLang="zh-CN" sz="908" baseline="-25000" dirty="0">
                <a:solidFill>
                  <a:srgbClr val="000000"/>
                </a:solidFill>
                <a:latin typeface="Garamond" panose="02020404030301010803" pitchFamily="18" charset="0"/>
                <a:ea typeface="KaiTi" panose="02010609060101010101" pitchFamily="49" charset="-122"/>
              </a:rPr>
              <a:t>0</a:t>
            </a:r>
            <a:r>
              <a:rPr lang="en" altLang="zh-CN" sz="908" dirty="0">
                <a:solidFill>
                  <a:srgbClr val="000000"/>
                </a:solidFill>
                <a:latin typeface="Garamond" panose="02020404030301010803" pitchFamily="18" charset="0"/>
                <a:ea typeface="KaiTi" panose="02010609060101010101" pitchFamily="49" charset="-122"/>
              </a:rPr>
              <a:t> - Tr </a:t>
            </a:r>
            <a:r>
              <a:rPr lang="zh-CN" altLang="en" sz="908" dirty="0">
                <a:solidFill>
                  <a:srgbClr val="000000"/>
                </a:solidFill>
                <a:latin typeface="Garamond" panose="02020404030301010803" pitchFamily="18" charset="0"/>
                <a:ea typeface="KaiTi" panose="02010609060101010101" pitchFamily="49" charset="-122"/>
              </a:rPr>
              <a:t>。</a:t>
            </a:r>
            <a:endParaRPr lang="zh-CN" altLang="en-US" sz="1008" dirty="0">
              <a:solidFill>
                <a:srgbClr val="000000"/>
              </a:solidFill>
              <a:latin typeface="Garamond" panose="02020404030301010803" pitchFamily="18" charset="0"/>
              <a:ea typeface="SimSun" panose="02010600030101010101" pitchFamily="2" charset="-122"/>
            </a:endParaRPr>
          </a:p>
        </p:txBody>
      </p:sp>
      <p:sp>
        <p:nvSpPr>
          <p:cNvPr id="7" name="页脚占位符 1">
            <a:extLst>
              <a:ext uri="{FF2B5EF4-FFF2-40B4-BE49-F238E27FC236}">
                <a16:creationId xmlns:a16="http://schemas.microsoft.com/office/drawing/2014/main" id="{FCF264B9-C59C-26D2-3C82-BAD081D1C28B}"/>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均衡国民收入的决定</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9305499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32</a:t>
            </a:fld>
            <a:endParaRPr lang="zh-CN" altLang="zh-CN" sz="856">
              <a:solidFill>
                <a:srgbClr val="777777"/>
              </a:solidFill>
              <a:ea typeface="宋体" panose="02010600030101010101" pitchFamily="2" charset="-122"/>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r>
              <a:rPr kumimoji="1" lang="zh-CN" altLang="en-US" b="0" dirty="0">
                <a:latin typeface="Microsoft YaHei" panose="020B0503020204020204" pitchFamily="34" charset="-122"/>
                <a:ea typeface="Microsoft YaHei" panose="020B0503020204020204" pitchFamily="34" charset="-122"/>
              </a:rPr>
              <a:t>三部门经济循环模型</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0193" y="131115"/>
            <a:ext cx="191912" cy="159926"/>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0659" eaLnBrk="1" fontAlgn="base" hangingPunct="1">
              <a:spcBef>
                <a:spcPct val="0"/>
              </a:spcBef>
              <a:spcAft>
                <a:spcPct val="0"/>
              </a:spcAft>
              <a:defRPr/>
            </a:pPr>
            <a:r>
              <a:rPr lang="en-US" altLang="zh-CN" sz="705" b="1">
                <a:solidFill>
                  <a:srgbClr val="000000"/>
                </a:solidFill>
                <a:latin typeface="Tahoma" panose="020B0604030504040204" pitchFamily="34" charset="0"/>
                <a:ea typeface="宋体" panose="02010600030101010101" pitchFamily="2" charset="-122"/>
              </a:rPr>
              <a:t>0</a:t>
            </a:r>
          </a:p>
        </p:txBody>
      </p:sp>
      <p:sp>
        <p:nvSpPr>
          <p:cNvPr id="3" name="内容占位符 2">
            <a:extLst>
              <a:ext uri="{FF2B5EF4-FFF2-40B4-BE49-F238E27FC236}">
                <a16:creationId xmlns:a16="http://schemas.microsoft.com/office/drawing/2014/main" id="{DE423034-7B27-87ED-F1B0-5CDA737DB772}"/>
              </a:ext>
            </a:extLst>
          </p:cNvPr>
          <p:cNvSpPr txBox="1">
            <a:spLocks/>
          </p:cNvSpPr>
          <p:nvPr/>
        </p:nvSpPr>
        <p:spPr>
          <a:xfrm>
            <a:off x="225756" y="472202"/>
            <a:ext cx="3972563" cy="2553128"/>
          </a:xfrm>
          <a:prstGeom prst="rect">
            <a:avLst/>
          </a:prstGeom>
        </p:spPr>
        <p:txBody>
          <a:bodyPr/>
          <a:lst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pPr marL="172747" indent="-172747" defTabSz="913644"/>
            <a:r>
              <a:rPr lang="zh-CN" altLang="en-US" sz="1399" dirty="0">
                <a:solidFill>
                  <a:srgbClr val="000000"/>
                </a:solidFill>
                <a:latin typeface="Garamond" panose="02020404030301010803" pitchFamily="18" charset="0"/>
                <a:ea typeface="SimSun" panose="02010600030101010101" pitchFamily="2" charset="-122"/>
              </a:rPr>
              <a:t>三部门经济的储蓄</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投资恒等式</a:t>
            </a:r>
          </a:p>
          <a:p>
            <a:pPr marL="0" indent="0" defTabSz="913644">
              <a:buNone/>
            </a:pPr>
            <a:r>
              <a:rPr lang="zh-CN" altLang="en-US" sz="1399" dirty="0">
                <a:solidFill>
                  <a:srgbClr val="000000"/>
                </a:solidFill>
                <a:latin typeface="Garamond" panose="02020404030301010803" pitchFamily="18" charset="0"/>
                <a:ea typeface="SimSun" panose="02010600030101010101" pitchFamily="2" charset="-122"/>
              </a:rPr>
              <a:t>       总需求：</a:t>
            </a:r>
            <a:r>
              <a:rPr lang="en-US" altLang="zh-CN" sz="1399" dirty="0">
                <a:solidFill>
                  <a:srgbClr val="000000"/>
                </a:solidFill>
                <a:latin typeface="Garamond" panose="02020404030301010803" pitchFamily="18" charset="0"/>
                <a:ea typeface="SimSun" panose="02010600030101010101" pitchFamily="2" charset="-122"/>
              </a:rPr>
              <a:t>Y ≡C+I+G</a:t>
            </a:r>
          </a:p>
          <a:p>
            <a:pPr marL="0" indent="0" defTabSz="913644">
              <a:buNone/>
            </a:pPr>
            <a:r>
              <a:rPr lang="en-US" altLang="zh-CN" sz="1399" dirty="0">
                <a:solidFill>
                  <a:srgbClr val="000000"/>
                </a:solidFill>
                <a:latin typeface="Garamond" panose="02020404030301010803" pitchFamily="18" charset="0"/>
                <a:ea typeface="SimSun" panose="02010600030101010101" pitchFamily="2" charset="-122"/>
              </a:rPr>
              <a:t>       </a:t>
            </a:r>
            <a:r>
              <a:rPr lang="zh-CN" altLang="en-US" sz="1399" dirty="0">
                <a:solidFill>
                  <a:srgbClr val="000000"/>
                </a:solidFill>
                <a:latin typeface="Garamond" panose="02020404030301010803" pitchFamily="18" charset="0"/>
                <a:ea typeface="SimSun" panose="02010600030101010101" pitchFamily="2" charset="-122"/>
              </a:rPr>
              <a:t>总供给：</a:t>
            </a:r>
            <a:r>
              <a:rPr lang="en-US" altLang="zh-CN" sz="1399" dirty="0">
                <a:solidFill>
                  <a:srgbClr val="000000"/>
                </a:solidFill>
                <a:latin typeface="Garamond" panose="02020404030301010803" pitchFamily="18" charset="0"/>
                <a:ea typeface="SimSun" panose="02010600030101010101" pitchFamily="2" charset="-122"/>
              </a:rPr>
              <a:t>Y ≡C+S+T       </a:t>
            </a:r>
          </a:p>
          <a:p>
            <a:pPr marL="0" indent="0" defTabSz="913644">
              <a:buNone/>
            </a:pPr>
            <a:r>
              <a:rPr lang="en-US" altLang="zh-CN" sz="1399" dirty="0">
                <a:solidFill>
                  <a:srgbClr val="000000"/>
                </a:solidFill>
                <a:latin typeface="Garamond" panose="02020404030301010803" pitchFamily="18" charset="0"/>
                <a:ea typeface="SimSun" panose="02010600030101010101" pitchFamily="2" charset="-122"/>
              </a:rPr>
              <a:t>  →I+G ≡ S+T</a:t>
            </a:r>
          </a:p>
          <a:p>
            <a:pPr marL="0" indent="0" defTabSz="913644">
              <a:buNone/>
            </a:pPr>
            <a:r>
              <a:rPr lang="en-US" altLang="zh-CN" sz="1399" dirty="0">
                <a:solidFill>
                  <a:srgbClr val="000000"/>
                </a:solidFill>
                <a:latin typeface="Garamond" panose="02020404030301010803" pitchFamily="18" charset="0"/>
                <a:ea typeface="SimSun" panose="02010600030101010101" pitchFamily="2" charset="-122"/>
              </a:rPr>
              <a:t>  →I≡S+</a:t>
            </a:r>
            <a:r>
              <a:rPr lang="zh-CN" altLang="en-US" sz="1399" dirty="0">
                <a:solidFill>
                  <a:srgbClr val="000000"/>
                </a:solidFill>
                <a:latin typeface="Garamond" panose="02020404030301010803" pitchFamily="18" charset="0"/>
                <a:ea typeface="SimSun" panose="02010600030101010101" pitchFamily="2" charset="-122"/>
              </a:rPr>
              <a:t>（</a:t>
            </a:r>
            <a:r>
              <a:rPr lang="en-US" altLang="zh-CN" sz="1399" dirty="0">
                <a:solidFill>
                  <a:srgbClr val="000000"/>
                </a:solidFill>
                <a:latin typeface="Garamond" panose="02020404030301010803" pitchFamily="18" charset="0"/>
                <a:ea typeface="SimSun" panose="02010600030101010101" pitchFamily="2" charset="-122"/>
              </a:rPr>
              <a:t>T</a:t>
            </a:r>
            <a:r>
              <a:rPr lang="zh-CN" altLang="en-US" sz="1399" dirty="0">
                <a:solidFill>
                  <a:srgbClr val="000000"/>
                </a:solidFill>
                <a:latin typeface="Garamond" panose="02020404030301010803" pitchFamily="18" charset="0"/>
                <a:ea typeface="SimSun" panose="02010600030101010101" pitchFamily="2" charset="-122"/>
              </a:rPr>
              <a:t>－</a:t>
            </a:r>
            <a:r>
              <a:rPr lang="en-US" altLang="zh-CN" sz="1399" dirty="0">
                <a:solidFill>
                  <a:srgbClr val="000000"/>
                </a:solidFill>
                <a:latin typeface="Garamond" panose="02020404030301010803" pitchFamily="18" charset="0"/>
                <a:ea typeface="SimSun" panose="02010600030101010101" pitchFamily="2" charset="-122"/>
              </a:rPr>
              <a:t>G</a:t>
            </a:r>
            <a:r>
              <a:rPr lang="zh-CN" altLang="en-US" sz="1399" dirty="0">
                <a:solidFill>
                  <a:srgbClr val="000000"/>
                </a:solidFill>
                <a:latin typeface="Garamond" panose="02020404030301010803" pitchFamily="18" charset="0"/>
                <a:ea typeface="SimSun" panose="02010600030101010101" pitchFamily="2" charset="-122"/>
              </a:rPr>
              <a:t>）</a:t>
            </a:r>
            <a:endParaRPr lang="en-US" altLang="zh-CN" sz="1399" dirty="0">
              <a:solidFill>
                <a:srgbClr val="000000"/>
              </a:solidFill>
              <a:latin typeface="Garamond" panose="02020404030301010803" pitchFamily="18" charset="0"/>
              <a:ea typeface="SimSun" panose="02010600030101010101" pitchFamily="2" charset="-122"/>
            </a:endParaRPr>
          </a:p>
          <a:p>
            <a:pPr marL="0" indent="0" defTabSz="913644">
              <a:buNone/>
            </a:pPr>
            <a:r>
              <a:rPr lang="zh-CN" altLang="en-US" sz="1399" dirty="0">
                <a:solidFill>
                  <a:srgbClr val="000000"/>
                </a:solidFill>
                <a:latin typeface="Garamond" panose="02020404030301010803" pitchFamily="18" charset="0"/>
                <a:ea typeface="SimSun" panose="02010600030101010101" pitchFamily="2" charset="-122"/>
              </a:rPr>
              <a:t>即：投资</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储蓄</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私人储蓄</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政府储蓄</a:t>
            </a:r>
          </a:p>
          <a:p>
            <a:pPr marL="172747" indent="-172747" defTabSz="913644">
              <a:defRPr/>
            </a:pPr>
            <a:endParaRPr lang="en-US" altLang="zh-CN" sz="1399" dirty="0">
              <a:solidFill>
                <a:srgbClr val="000000"/>
              </a:solidFill>
              <a:latin typeface="Garamond" panose="02020404030301010803" pitchFamily="18" charset="0"/>
              <a:ea typeface="SimSun" panose="02010600030101010101" pitchFamily="2" charset="-122"/>
            </a:endParaRPr>
          </a:p>
        </p:txBody>
      </p:sp>
      <p:sp>
        <p:nvSpPr>
          <p:cNvPr id="4" name="页脚占位符 1">
            <a:extLst>
              <a:ext uri="{FF2B5EF4-FFF2-40B4-BE49-F238E27FC236}">
                <a16:creationId xmlns:a16="http://schemas.microsoft.com/office/drawing/2014/main" id="{C2FBA354-EB29-F149-D496-F726EC7A14DE}"/>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均衡国民收入的决定</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991423775"/>
      </p:ext>
    </p:extLst>
  </p:cSld>
  <p:clrMapOvr>
    <a:masterClrMapping/>
  </p:clrMapOvr>
  <p:transition>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33</a:t>
            </a:fld>
            <a:endParaRPr lang="zh-CN" altLang="zh-CN" sz="856">
              <a:solidFill>
                <a:srgbClr val="777777"/>
              </a:solidFill>
              <a:ea typeface="宋体" panose="02010600030101010101" pitchFamily="2" charset="-122"/>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r>
              <a:rPr kumimoji="1" lang="zh-CN" altLang="en-US" b="0" dirty="0">
                <a:latin typeface="Microsoft YaHei" panose="020B0503020204020204" pitchFamily="34" charset="-122"/>
                <a:ea typeface="Microsoft YaHei" panose="020B0503020204020204" pitchFamily="34" charset="-122"/>
              </a:rPr>
              <a:t>四部门经济循环模型</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0193" y="131115"/>
            <a:ext cx="191912" cy="159926"/>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0659" eaLnBrk="1" fontAlgn="base" hangingPunct="1">
              <a:spcBef>
                <a:spcPct val="0"/>
              </a:spcBef>
              <a:spcAft>
                <a:spcPct val="0"/>
              </a:spcAft>
              <a:defRPr/>
            </a:pPr>
            <a:r>
              <a:rPr lang="en-US" altLang="zh-CN" sz="705" b="1">
                <a:solidFill>
                  <a:srgbClr val="000000"/>
                </a:solidFill>
                <a:latin typeface="Tahoma" panose="020B0604030504040204" pitchFamily="34" charset="0"/>
                <a:ea typeface="宋体" panose="02010600030101010101" pitchFamily="2" charset="-122"/>
              </a:rPr>
              <a:t>0</a:t>
            </a:r>
          </a:p>
        </p:txBody>
      </p:sp>
      <p:sp>
        <p:nvSpPr>
          <p:cNvPr id="3" name="内容占位符 2">
            <a:extLst>
              <a:ext uri="{FF2B5EF4-FFF2-40B4-BE49-F238E27FC236}">
                <a16:creationId xmlns:a16="http://schemas.microsoft.com/office/drawing/2014/main" id="{DE423034-7B27-87ED-F1B0-5CDA737DB772}"/>
              </a:ext>
            </a:extLst>
          </p:cNvPr>
          <p:cNvSpPr txBox="1">
            <a:spLocks/>
          </p:cNvSpPr>
          <p:nvPr/>
        </p:nvSpPr>
        <p:spPr>
          <a:xfrm>
            <a:off x="225756" y="472202"/>
            <a:ext cx="3972563" cy="2553128"/>
          </a:xfrm>
          <a:prstGeom prst="rect">
            <a:avLst/>
          </a:prstGeom>
        </p:spPr>
        <p:txBody>
          <a:bodyPr/>
          <a:lst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pPr marL="172747" indent="-172747" defTabSz="913644"/>
            <a:r>
              <a:rPr lang="zh-CN" altLang="en-US" sz="1399" dirty="0">
                <a:solidFill>
                  <a:srgbClr val="000000"/>
                </a:solidFill>
                <a:latin typeface="Garamond" panose="02020404030301010803" pitchFamily="18" charset="0"/>
                <a:ea typeface="SimSun" panose="02010600030101010101" pitchFamily="2" charset="-122"/>
              </a:rPr>
              <a:t>四部门经济（</a:t>
            </a:r>
            <a:r>
              <a:rPr lang="en" altLang="zh-CN" sz="1399" dirty="0">
                <a:solidFill>
                  <a:srgbClr val="000000"/>
                </a:solidFill>
                <a:latin typeface="Garamond" panose="02020404030301010803" pitchFamily="18" charset="0"/>
                <a:ea typeface="SimSun" panose="02010600030101010101" pitchFamily="2" charset="-122"/>
              </a:rPr>
              <a:t>four sector economy</a:t>
            </a:r>
            <a:r>
              <a:rPr lang="zh-CN" altLang="e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是指由厂商、居民户、政府和国外这四种经济单位所组成的经济。</a:t>
            </a:r>
          </a:p>
          <a:p>
            <a:pPr marL="172747" indent="-172747" defTabSz="913644"/>
            <a:r>
              <a:rPr lang="zh-CN" altLang="en-US" sz="1399" dirty="0">
                <a:solidFill>
                  <a:srgbClr val="000000"/>
                </a:solidFill>
                <a:latin typeface="Garamond" panose="02020404030301010803" pitchFamily="18" charset="0"/>
                <a:ea typeface="SimSun" panose="02010600030101010101" pitchFamily="2" charset="-122"/>
              </a:rPr>
              <a:t>在这种经济中，国外的作用是：</a:t>
            </a:r>
            <a:endParaRPr lang="en-US" altLang="zh-CN" sz="1399" dirty="0">
              <a:solidFill>
                <a:srgbClr val="000000"/>
              </a:solidFill>
              <a:latin typeface="Garamond" panose="02020404030301010803" pitchFamily="18" charset="0"/>
              <a:ea typeface="SimSun" panose="02010600030101010101" pitchFamily="2" charset="-122"/>
            </a:endParaRPr>
          </a:p>
          <a:p>
            <a:pPr marL="172747" indent="-172747" defTabSz="913644"/>
            <a:r>
              <a:rPr lang="zh-CN" altLang="en-US" sz="1399" dirty="0">
                <a:solidFill>
                  <a:srgbClr val="000000"/>
                </a:solidFill>
                <a:latin typeface="Garamond" panose="02020404030301010803" pitchFamily="18" charset="0"/>
                <a:ea typeface="SimSun" panose="02010600030101010101" pitchFamily="2" charset="-122"/>
              </a:rPr>
              <a:t>作为国外生产要素的供给者</a:t>
            </a:r>
            <a:endParaRPr lang="en-US" altLang="zh-CN" sz="1399" dirty="0">
              <a:solidFill>
                <a:srgbClr val="000000"/>
              </a:solidFill>
              <a:latin typeface="Garamond" panose="02020404030301010803" pitchFamily="18" charset="0"/>
              <a:ea typeface="SimSun" panose="02010600030101010101" pitchFamily="2" charset="-122"/>
            </a:endParaRPr>
          </a:p>
          <a:p>
            <a:pPr marL="172747" indent="-172747" defTabSz="913644"/>
            <a:r>
              <a:rPr lang="zh-CN" altLang="en-US" sz="1399" dirty="0">
                <a:solidFill>
                  <a:srgbClr val="000000"/>
                </a:solidFill>
                <a:latin typeface="Garamond" panose="02020404030301010803" pitchFamily="18" charset="0"/>
                <a:ea typeface="SimSun" panose="02010600030101010101" pitchFamily="2" charset="-122"/>
              </a:rPr>
              <a:t>作为国内产品与劳务的需求者</a:t>
            </a:r>
            <a:endParaRPr lang="en-US" altLang="zh-CN" sz="1399" dirty="0">
              <a:solidFill>
                <a:srgbClr val="000000"/>
              </a:solidFill>
              <a:latin typeface="Garamond" panose="02020404030301010803" pitchFamily="18" charset="0"/>
              <a:ea typeface="SimSun" panose="02010600030101010101" pitchFamily="2" charset="-122"/>
            </a:endParaRPr>
          </a:p>
        </p:txBody>
      </p:sp>
      <p:sp>
        <p:nvSpPr>
          <p:cNvPr id="4" name="页脚占位符 1">
            <a:extLst>
              <a:ext uri="{FF2B5EF4-FFF2-40B4-BE49-F238E27FC236}">
                <a16:creationId xmlns:a16="http://schemas.microsoft.com/office/drawing/2014/main" id="{BCC312BC-B5C5-4632-66EF-EC27434E26C0}"/>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均衡国民收入的决定</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646551329"/>
      </p:ext>
    </p:extLst>
  </p:cSld>
  <p:clrMapOvr>
    <a:masterClrMapping/>
  </p:clrMapOvr>
  <p:transition>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34</a:t>
            </a:fld>
            <a:endParaRPr lang="zh-CN" altLang="zh-CN" sz="856">
              <a:solidFill>
                <a:srgbClr val="777777"/>
              </a:solidFill>
              <a:ea typeface="宋体" panose="02010600030101010101" pitchFamily="2" charset="-122"/>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r>
              <a:rPr kumimoji="1" lang="zh-CN" altLang="en-US" b="0" dirty="0">
                <a:latin typeface="Microsoft YaHei" panose="020B0503020204020204" pitchFamily="34" charset="-122"/>
                <a:ea typeface="Microsoft YaHei" panose="020B0503020204020204" pitchFamily="34" charset="-122"/>
              </a:rPr>
              <a:t>四部门经济的储蓄</a:t>
            </a:r>
            <a:r>
              <a:rPr kumimoji="1" lang="en-US" altLang="zh-CN" b="0" dirty="0">
                <a:latin typeface="Microsoft YaHei" panose="020B0503020204020204" pitchFamily="34" charset="-122"/>
                <a:ea typeface="Microsoft YaHei" panose="020B0503020204020204" pitchFamily="34" charset="-122"/>
              </a:rPr>
              <a:t>——</a:t>
            </a:r>
            <a:r>
              <a:rPr kumimoji="1" lang="zh-CN" altLang="en-US" b="0" dirty="0">
                <a:latin typeface="Microsoft YaHei" panose="020B0503020204020204" pitchFamily="34" charset="-122"/>
                <a:ea typeface="Microsoft YaHei" panose="020B0503020204020204" pitchFamily="34" charset="-122"/>
              </a:rPr>
              <a:t>投资恒等式</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0193" y="131115"/>
            <a:ext cx="191912" cy="159926"/>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0659" eaLnBrk="1" fontAlgn="base" hangingPunct="1">
              <a:spcBef>
                <a:spcPct val="0"/>
              </a:spcBef>
              <a:spcAft>
                <a:spcPct val="0"/>
              </a:spcAft>
              <a:defRPr/>
            </a:pPr>
            <a:r>
              <a:rPr lang="en-US" altLang="zh-CN" sz="705" b="1">
                <a:solidFill>
                  <a:srgbClr val="000000"/>
                </a:solidFill>
                <a:latin typeface="Tahoma" panose="020B0604030504040204" pitchFamily="34" charset="0"/>
                <a:ea typeface="宋体" panose="02010600030101010101" pitchFamily="2" charset="-122"/>
              </a:rPr>
              <a:t>0</a:t>
            </a:r>
          </a:p>
        </p:txBody>
      </p:sp>
      <p:sp>
        <p:nvSpPr>
          <p:cNvPr id="3" name="内容占位符 2">
            <a:extLst>
              <a:ext uri="{FF2B5EF4-FFF2-40B4-BE49-F238E27FC236}">
                <a16:creationId xmlns:a16="http://schemas.microsoft.com/office/drawing/2014/main" id="{DE423034-7B27-87ED-F1B0-5CDA737DB772}"/>
              </a:ext>
            </a:extLst>
          </p:cNvPr>
          <p:cNvSpPr txBox="1">
            <a:spLocks/>
          </p:cNvSpPr>
          <p:nvPr/>
        </p:nvSpPr>
        <p:spPr>
          <a:xfrm>
            <a:off x="225756" y="589982"/>
            <a:ext cx="3972563" cy="2435348"/>
          </a:xfrm>
          <a:prstGeom prst="rect">
            <a:avLst/>
          </a:prstGeom>
        </p:spPr>
        <p:txBody>
          <a:bodyPr/>
          <a:lst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pPr marL="172747" indent="-172747" defTabSz="913644">
              <a:defRPr/>
            </a:pPr>
            <a:r>
              <a:rPr lang="zh-CN" altLang="en-US" sz="1399" dirty="0">
                <a:solidFill>
                  <a:srgbClr val="000000"/>
                </a:solidFill>
                <a:latin typeface="Garamond" panose="02020404030301010803" pitchFamily="18" charset="0"/>
                <a:ea typeface="SimSun" panose="02010600030101010101" pitchFamily="2" charset="-122"/>
              </a:rPr>
              <a:t>总需求：</a:t>
            </a:r>
            <a:r>
              <a:rPr lang="en" altLang="zh-CN" sz="1399" dirty="0">
                <a:solidFill>
                  <a:srgbClr val="000000"/>
                </a:solidFill>
                <a:latin typeface="Garamond" panose="02020404030301010803" pitchFamily="18" charset="0"/>
                <a:ea typeface="SimSun" panose="02010600030101010101" pitchFamily="2" charset="-122"/>
              </a:rPr>
              <a:t>Y ≡ C+I+G+</a:t>
            </a:r>
            <a:r>
              <a:rPr lang="zh-CN" altLang="en" sz="1399" dirty="0">
                <a:solidFill>
                  <a:srgbClr val="FF0000"/>
                </a:solidFill>
                <a:latin typeface="Garamond" panose="02020404030301010803" pitchFamily="18" charset="0"/>
                <a:ea typeface="SimSun" panose="02010600030101010101" pitchFamily="2" charset="-122"/>
              </a:rPr>
              <a:t>（</a:t>
            </a:r>
            <a:r>
              <a:rPr lang="en" altLang="zh-CN" sz="1399" dirty="0">
                <a:solidFill>
                  <a:srgbClr val="FF0000"/>
                </a:solidFill>
                <a:latin typeface="Garamond" panose="02020404030301010803" pitchFamily="18" charset="0"/>
                <a:ea typeface="SimSun" panose="02010600030101010101" pitchFamily="2" charset="-122"/>
              </a:rPr>
              <a:t>X</a:t>
            </a:r>
            <a:r>
              <a:rPr lang="zh-CN" altLang="en" sz="1399" dirty="0">
                <a:solidFill>
                  <a:srgbClr val="FF0000"/>
                </a:solidFill>
                <a:latin typeface="Garamond" panose="02020404030301010803" pitchFamily="18" charset="0"/>
                <a:ea typeface="SimSun" panose="02010600030101010101" pitchFamily="2" charset="-122"/>
              </a:rPr>
              <a:t>－</a:t>
            </a:r>
            <a:r>
              <a:rPr lang="en" altLang="zh-CN" sz="1399" dirty="0">
                <a:solidFill>
                  <a:srgbClr val="FF0000"/>
                </a:solidFill>
                <a:latin typeface="Garamond" panose="02020404030301010803" pitchFamily="18" charset="0"/>
                <a:ea typeface="SimSun" panose="02010600030101010101" pitchFamily="2" charset="-122"/>
              </a:rPr>
              <a:t>M</a:t>
            </a:r>
            <a:r>
              <a:rPr lang="zh-CN" altLang="en" sz="1399" dirty="0">
                <a:solidFill>
                  <a:srgbClr val="FF0000"/>
                </a:solidFill>
                <a:latin typeface="Garamond" panose="02020404030301010803" pitchFamily="18" charset="0"/>
                <a:ea typeface="SimSun" panose="02010600030101010101" pitchFamily="2" charset="-122"/>
              </a:rPr>
              <a:t>）</a:t>
            </a:r>
          </a:p>
          <a:p>
            <a:pPr marL="172747" indent="-172747" defTabSz="913644">
              <a:defRPr/>
            </a:pPr>
            <a:r>
              <a:rPr lang="zh-CN" altLang="en-US" sz="1399" dirty="0">
                <a:solidFill>
                  <a:srgbClr val="000000"/>
                </a:solidFill>
                <a:latin typeface="Garamond" panose="02020404030301010803" pitchFamily="18" charset="0"/>
                <a:ea typeface="SimSun" panose="02010600030101010101" pitchFamily="2" charset="-122"/>
              </a:rPr>
              <a:t>总供给：</a:t>
            </a:r>
            <a:r>
              <a:rPr lang="en" altLang="zh-CN" sz="1399" dirty="0">
                <a:solidFill>
                  <a:srgbClr val="000000"/>
                </a:solidFill>
                <a:latin typeface="Garamond" panose="02020404030301010803" pitchFamily="18" charset="0"/>
                <a:ea typeface="SimSun" panose="02010600030101010101" pitchFamily="2" charset="-122"/>
              </a:rPr>
              <a:t>Y ≡ </a:t>
            </a:r>
            <a:r>
              <a:rPr lang="en" altLang="zh-CN" sz="1399" dirty="0" err="1">
                <a:solidFill>
                  <a:srgbClr val="000000"/>
                </a:solidFill>
                <a:latin typeface="Garamond" panose="02020404030301010803" pitchFamily="18" charset="0"/>
                <a:ea typeface="SimSun" panose="02010600030101010101" pitchFamily="2" charset="-122"/>
              </a:rPr>
              <a:t>C+S+T+</a:t>
            </a:r>
            <a:r>
              <a:rPr lang="en" altLang="zh-CN" sz="1399" dirty="0" err="1">
                <a:solidFill>
                  <a:srgbClr val="FF0000"/>
                </a:solidFill>
                <a:latin typeface="Garamond" panose="02020404030301010803" pitchFamily="18" charset="0"/>
                <a:ea typeface="SimSun" panose="02010600030101010101" pitchFamily="2" charset="-122"/>
              </a:rPr>
              <a:t>Kr</a:t>
            </a:r>
            <a:endParaRPr lang="en" altLang="zh-CN" sz="1399" dirty="0">
              <a:solidFill>
                <a:srgbClr val="FF0000"/>
              </a:solidFill>
              <a:latin typeface="Garamond" panose="02020404030301010803" pitchFamily="18" charset="0"/>
              <a:ea typeface="SimSun" panose="02010600030101010101" pitchFamily="2" charset="-122"/>
            </a:endParaRPr>
          </a:p>
          <a:p>
            <a:pPr marL="172747" indent="-172747" defTabSz="913644">
              <a:defRPr/>
            </a:pPr>
            <a:r>
              <a:rPr lang="en" altLang="zh-CN" sz="1399" dirty="0">
                <a:solidFill>
                  <a:srgbClr val="000000"/>
                </a:solidFill>
                <a:latin typeface="Garamond" panose="02020404030301010803" pitchFamily="18" charset="0"/>
                <a:ea typeface="SimSun" panose="02010600030101010101" pitchFamily="2" charset="-122"/>
              </a:rPr>
              <a:t>   I+G +</a:t>
            </a:r>
            <a:r>
              <a:rPr lang="zh-CN" altLang="en" sz="1399" dirty="0">
                <a:solidFill>
                  <a:srgbClr val="000000"/>
                </a:solidFill>
                <a:latin typeface="Garamond" panose="02020404030301010803" pitchFamily="18" charset="0"/>
                <a:ea typeface="SimSun" panose="02010600030101010101" pitchFamily="2" charset="-122"/>
              </a:rPr>
              <a:t>（</a:t>
            </a:r>
            <a:r>
              <a:rPr lang="en" altLang="zh-CN" sz="1399" dirty="0">
                <a:solidFill>
                  <a:srgbClr val="000000"/>
                </a:solidFill>
                <a:latin typeface="Garamond" panose="02020404030301010803" pitchFamily="18" charset="0"/>
                <a:ea typeface="SimSun" panose="02010600030101010101" pitchFamily="2" charset="-122"/>
              </a:rPr>
              <a:t>X-M</a:t>
            </a:r>
            <a:r>
              <a:rPr lang="zh-CN" altLang="en" sz="1399" dirty="0">
                <a:solidFill>
                  <a:srgbClr val="000000"/>
                </a:solidFill>
                <a:latin typeface="Garamond" panose="02020404030301010803" pitchFamily="18" charset="0"/>
                <a:ea typeface="SimSun" panose="02010600030101010101" pitchFamily="2" charset="-122"/>
              </a:rPr>
              <a:t>）≡</a:t>
            </a:r>
            <a:r>
              <a:rPr lang="en" altLang="zh-CN" sz="1399" dirty="0" err="1">
                <a:solidFill>
                  <a:srgbClr val="000000"/>
                </a:solidFill>
                <a:latin typeface="Garamond" panose="02020404030301010803" pitchFamily="18" charset="0"/>
                <a:ea typeface="SimSun" panose="02010600030101010101" pitchFamily="2" charset="-122"/>
              </a:rPr>
              <a:t>S+T+Kr</a:t>
            </a:r>
            <a:r>
              <a:rPr lang="en" altLang="zh-CN" sz="1399" dirty="0">
                <a:solidFill>
                  <a:srgbClr val="000000"/>
                </a:solidFill>
                <a:latin typeface="Garamond" panose="02020404030301010803" pitchFamily="18" charset="0"/>
                <a:ea typeface="SimSun" panose="02010600030101010101" pitchFamily="2" charset="-122"/>
              </a:rPr>
              <a:t> </a:t>
            </a:r>
          </a:p>
          <a:p>
            <a:pPr marL="172747" indent="-172747" defTabSz="913644">
              <a:defRPr/>
            </a:pPr>
            <a:r>
              <a:rPr lang="en" altLang="zh-CN" sz="1399" dirty="0">
                <a:solidFill>
                  <a:srgbClr val="000000"/>
                </a:solidFill>
                <a:latin typeface="Garamond" panose="02020404030301010803" pitchFamily="18" charset="0"/>
                <a:ea typeface="SimSun" panose="02010600030101010101" pitchFamily="2" charset="-122"/>
              </a:rPr>
              <a:t>   I ≡S+</a:t>
            </a:r>
            <a:r>
              <a:rPr lang="zh-CN" altLang="en" sz="1399" dirty="0">
                <a:solidFill>
                  <a:srgbClr val="000000"/>
                </a:solidFill>
                <a:latin typeface="Garamond" panose="02020404030301010803" pitchFamily="18" charset="0"/>
                <a:ea typeface="SimSun" panose="02010600030101010101" pitchFamily="2" charset="-122"/>
              </a:rPr>
              <a:t>（</a:t>
            </a:r>
            <a:r>
              <a:rPr lang="en" altLang="zh-CN" sz="1399" dirty="0">
                <a:solidFill>
                  <a:srgbClr val="000000"/>
                </a:solidFill>
                <a:latin typeface="Garamond" panose="02020404030301010803" pitchFamily="18" charset="0"/>
                <a:ea typeface="SimSun" panose="02010600030101010101" pitchFamily="2" charset="-122"/>
              </a:rPr>
              <a:t>T-G</a:t>
            </a:r>
            <a:r>
              <a:rPr lang="zh-CN" altLang="en" sz="1399" dirty="0">
                <a:solidFill>
                  <a:srgbClr val="000000"/>
                </a:solidFill>
                <a:latin typeface="Garamond" panose="02020404030301010803" pitchFamily="18" charset="0"/>
                <a:ea typeface="SimSun" panose="02010600030101010101" pitchFamily="2" charset="-122"/>
              </a:rPr>
              <a:t>）</a:t>
            </a:r>
            <a:r>
              <a:rPr lang="en" altLang="zh-CN" sz="1399" dirty="0">
                <a:solidFill>
                  <a:srgbClr val="000000"/>
                </a:solidFill>
                <a:latin typeface="Garamond" panose="02020404030301010803" pitchFamily="18" charset="0"/>
                <a:ea typeface="SimSun" panose="02010600030101010101" pitchFamily="2" charset="-122"/>
              </a:rPr>
              <a:t>+</a:t>
            </a:r>
            <a:r>
              <a:rPr lang="en" altLang="zh-CN" sz="1399" dirty="0">
                <a:solidFill>
                  <a:srgbClr val="FF0000"/>
                </a:solidFill>
                <a:latin typeface="Garamond" panose="02020404030301010803" pitchFamily="18" charset="0"/>
                <a:ea typeface="SimSun" panose="02010600030101010101" pitchFamily="2" charset="-122"/>
              </a:rPr>
              <a:t>[Kr</a:t>
            </a:r>
            <a:r>
              <a:rPr lang="en-US" altLang="zh-CN" sz="1399" dirty="0">
                <a:solidFill>
                  <a:srgbClr val="FF0000"/>
                </a:solidFill>
                <a:latin typeface="Garamond" panose="02020404030301010803" pitchFamily="18" charset="0"/>
                <a:ea typeface="SimSun" panose="02010600030101010101" pitchFamily="2" charset="-122"/>
              </a:rPr>
              <a:t>-(X-M)]</a:t>
            </a:r>
            <a:endParaRPr lang="zh-CN" altLang="en" sz="1399" dirty="0">
              <a:solidFill>
                <a:srgbClr val="FF0000"/>
              </a:solidFill>
              <a:latin typeface="Garamond" panose="02020404030301010803" pitchFamily="18" charset="0"/>
              <a:ea typeface="SimSun" panose="02010600030101010101" pitchFamily="2" charset="-122"/>
            </a:endParaRPr>
          </a:p>
          <a:p>
            <a:pPr marL="172747" indent="-172747" defTabSz="913644">
              <a:defRPr/>
            </a:pPr>
            <a:r>
              <a:rPr lang="zh-CN" altLang="en" sz="1399" dirty="0">
                <a:solidFill>
                  <a:srgbClr val="000000"/>
                </a:solidFill>
                <a:latin typeface="Garamond" panose="02020404030301010803" pitchFamily="18" charset="0"/>
                <a:ea typeface="SimSun" panose="02010600030101010101" pitchFamily="2" charset="-122"/>
              </a:rPr>
              <a:t>  </a:t>
            </a:r>
            <a:r>
              <a:rPr lang="zh-CN" altLang="en-US" sz="1210" dirty="0">
                <a:solidFill>
                  <a:srgbClr val="000000"/>
                </a:solidFill>
                <a:latin typeface="Garamond" panose="02020404030301010803" pitchFamily="18" charset="0"/>
                <a:ea typeface="KaiTi" panose="02010609060101010101" pitchFamily="49" charset="-122"/>
              </a:rPr>
              <a:t>其中：  </a:t>
            </a:r>
            <a:r>
              <a:rPr lang="en" altLang="zh-CN" sz="1210" dirty="0">
                <a:solidFill>
                  <a:srgbClr val="000000"/>
                </a:solidFill>
                <a:latin typeface="Garamond" panose="02020404030301010803" pitchFamily="18" charset="0"/>
                <a:ea typeface="KaiTi" panose="02010609060101010101" pitchFamily="49" charset="-122"/>
              </a:rPr>
              <a:t>S</a:t>
            </a:r>
            <a:r>
              <a:rPr lang="zh-CN" altLang="en-US" sz="1210" dirty="0">
                <a:solidFill>
                  <a:srgbClr val="000000"/>
                </a:solidFill>
                <a:latin typeface="Garamond" panose="02020404030301010803" pitchFamily="18" charset="0"/>
                <a:ea typeface="KaiTi" panose="02010609060101010101" pitchFamily="49" charset="-122"/>
              </a:rPr>
              <a:t>代表居民私人储蓄；（</a:t>
            </a:r>
            <a:r>
              <a:rPr lang="en" altLang="zh-CN" sz="1210" dirty="0">
                <a:solidFill>
                  <a:srgbClr val="000000"/>
                </a:solidFill>
                <a:latin typeface="Garamond" panose="02020404030301010803" pitchFamily="18" charset="0"/>
                <a:ea typeface="KaiTi" panose="02010609060101010101" pitchFamily="49" charset="-122"/>
              </a:rPr>
              <a:t>T</a:t>
            </a:r>
            <a:r>
              <a:rPr lang="zh-CN" altLang="en" sz="1210" dirty="0">
                <a:solidFill>
                  <a:srgbClr val="000000"/>
                </a:solidFill>
                <a:latin typeface="Garamond" panose="02020404030301010803" pitchFamily="18" charset="0"/>
                <a:ea typeface="KaiTi" panose="02010609060101010101" pitchFamily="49" charset="-122"/>
              </a:rPr>
              <a:t>－</a:t>
            </a:r>
            <a:r>
              <a:rPr lang="en" altLang="zh-CN" sz="1210" dirty="0">
                <a:solidFill>
                  <a:srgbClr val="000000"/>
                </a:solidFill>
                <a:latin typeface="Garamond" panose="02020404030301010803" pitchFamily="18" charset="0"/>
                <a:ea typeface="KaiTi" panose="02010609060101010101" pitchFamily="49" charset="-122"/>
              </a:rPr>
              <a:t>G</a:t>
            </a:r>
            <a:r>
              <a:rPr lang="zh-CN" altLang="en" sz="1210" dirty="0">
                <a:solidFill>
                  <a:srgbClr val="000000"/>
                </a:solidFill>
                <a:latin typeface="Garamond" panose="02020404030301010803" pitchFamily="18" charset="0"/>
                <a:ea typeface="KaiTi" panose="02010609060101010101" pitchFamily="49" charset="-122"/>
              </a:rPr>
              <a:t>）</a:t>
            </a:r>
            <a:r>
              <a:rPr lang="zh-CN" altLang="en-US" sz="1210" dirty="0">
                <a:solidFill>
                  <a:srgbClr val="000000"/>
                </a:solidFill>
                <a:latin typeface="Garamond" panose="02020404030301010803" pitchFamily="18" charset="0"/>
                <a:ea typeface="KaiTi" panose="02010609060101010101" pitchFamily="49" charset="-122"/>
              </a:rPr>
              <a:t>代表政府储蓄； </a:t>
            </a:r>
            <a:r>
              <a:rPr lang="en" altLang="zh-CN" sz="1210" dirty="0">
                <a:solidFill>
                  <a:srgbClr val="000000"/>
                </a:solidFill>
                <a:latin typeface="Garamond" panose="02020404030301010803" pitchFamily="18" charset="0"/>
                <a:ea typeface="KaiTi" panose="02010609060101010101" pitchFamily="49" charset="-122"/>
              </a:rPr>
              <a:t>Kr </a:t>
            </a:r>
            <a:r>
              <a:rPr lang="zh-CN" altLang="en" sz="1210" dirty="0">
                <a:solidFill>
                  <a:srgbClr val="000000"/>
                </a:solidFill>
                <a:latin typeface="Garamond" panose="02020404030301010803" pitchFamily="18" charset="0"/>
                <a:ea typeface="KaiTi" panose="02010609060101010101" pitchFamily="49" charset="-122"/>
              </a:rPr>
              <a:t>是</a:t>
            </a:r>
            <a:r>
              <a:rPr lang="zh-CN" altLang="en-US" sz="1210" dirty="0">
                <a:solidFill>
                  <a:srgbClr val="000000"/>
                </a:solidFill>
                <a:latin typeface="Garamond" panose="02020404030301010803" pitchFamily="18" charset="0"/>
                <a:ea typeface="KaiTi" panose="02010609060101010101" pitchFamily="49" charset="-122"/>
              </a:rPr>
              <a:t>要素净流入；</a:t>
            </a:r>
            <a:r>
              <a:rPr lang="en" altLang="zh-CN" sz="1210" dirty="0">
                <a:solidFill>
                  <a:srgbClr val="FF0000"/>
                </a:solidFill>
                <a:latin typeface="Garamond" panose="02020404030301010803" pitchFamily="18" charset="0"/>
                <a:ea typeface="SimSun" panose="02010600030101010101" pitchFamily="2" charset="-122"/>
              </a:rPr>
              <a:t>Kr</a:t>
            </a:r>
            <a:r>
              <a:rPr lang="en-US" altLang="zh-CN" sz="1210" dirty="0">
                <a:solidFill>
                  <a:srgbClr val="FF0000"/>
                </a:solidFill>
                <a:latin typeface="Garamond" panose="02020404030301010803" pitchFamily="18" charset="0"/>
                <a:ea typeface="SimSun" panose="02010600030101010101" pitchFamily="2" charset="-122"/>
              </a:rPr>
              <a:t>-(X-M)</a:t>
            </a:r>
            <a:r>
              <a:rPr lang="zh-CN" altLang="en-US" sz="1210" dirty="0">
                <a:solidFill>
                  <a:srgbClr val="000000"/>
                </a:solidFill>
                <a:latin typeface="Garamond" panose="02020404030301010803" pitchFamily="18" charset="0"/>
                <a:ea typeface="KaiTi" panose="02010609060101010101" pitchFamily="49" charset="-122"/>
              </a:rPr>
              <a:t>代表外国对本国的储蓄</a:t>
            </a:r>
          </a:p>
          <a:p>
            <a:pPr marL="172747" indent="-172747" defTabSz="913644">
              <a:defRPr/>
            </a:pPr>
            <a:r>
              <a:rPr lang="zh-CN" altLang="en-US" sz="1399" dirty="0">
                <a:solidFill>
                  <a:srgbClr val="000000"/>
                </a:solidFill>
                <a:latin typeface="Garamond" panose="02020404030301010803" pitchFamily="18" charset="0"/>
                <a:ea typeface="SimSun" panose="02010600030101010101" pitchFamily="2" charset="-122"/>
              </a:rPr>
              <a:t>即：投资</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储蓄</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私人储蓄</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政府储蓄</a:t>
            </a:r>
            <a:r>
              <a:rPr lang="en-US" altLang="zh-CN" sz="1399" dirty="0">
                <a:solidFill>
                  <a:srgbClr val="000000"/>
                </a:solidFill>
                <a:latin typeface="Garamond" panose="02020404030301010803" pitchFamily="18" charset="0"/>
                <a:ea typeface="SimSun" panose="02010600030101010101" pitchFamily="2" charset="-122"/>
              </a:rPr>
              <a:t>+</a:t>
            </a:r>
            <a:r>
              <a:rPr lang="zh-CN" altLang="en-US" sz="1399" dirty="0">
                <a:solidFill>
                  <a:srgbClr val="000000"/>
                </a:solidFill>
                <a:latin typeface="Garamond" panose="02020404030301010803" pitchFamily="18" charset="0"/>
                <a:ea typeface="SimSun" panose="02010600030101010101" pitchFamily="2" charset="-122"/>
              </a:rPr>
              <a:t>国外储蓄</a:t>
            </a:r>
            <a:endParaRPr lang="en-US" altLang="zh-CN" sz="1399" dirty="0">
              <a:solidFill>
                <a:srgbClr val="000000"/>
              </a:solidFill>
              <a:latin typeface="Garamond" panose="02020404030301010803" pitchFamily="18" charset="0"/>
              <a:ea typeface="SimSun" panose="02010600030101010101" pitchFamily="2" charset="-122"/>
            </a:endParaRPr>
          </a:p>
        </p:txBody>
      </p:sp>
      <p:sp>
        <p:nvSpPr>
          <p:cNvPr id="4" name="页脚占位符 1">
            <a:extLst>
              <a:ext uri="{FF2B5EF4-FFF2-40B4-BE49-F238E27FC236}">
                <a16:creationId xmlns:a16="http://schemas.microsoft.com/office/drawing/2014/main" id="{E82138A3-AFDC-4BE2-CD15-F614A197EDDC}"/>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均衡国民收入的决定</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439534272"/>
      </p:ext>
    </p:extLst>
  </p:cSld>
  <p:clrMapOvr>
    <a:masterClrMapping/>
  </p:clrMapOvr>
  <p:transition>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object 30"/>
          <p:cNvSpPr/>
          <p:nvPr/>
        </p:nvSpPr>
        <p:spPr>
          <a:xfrm>
            <a:off x="1963" y="1588"/>
            <a:ext cx="4603865" cy="143124"/>
          </a:xfrm>
          <a:prstGeom prst="rect">
            <a:avLst/>
          </a:prstGeom>
          <a:blipFill>
            <a:blip r:embed="rId2" cstate="print"/>
            <a:stretch>
              <a:fillRect/>
            </a:stretch>
          </a:blipFill>
        </p:spPr>
        <p:txBody>
          <a:bodyPr wrap="square" lIns="0" tIns="0" rIns="0" bIns="0" rtlCol="0"/>
          <a:lstStyle/>
          <a:p>
            <a:endParaRPr sz="1798"/>
          </a:p>
        </p:txBody>
      </p:sp>
      <p:sp>
        <p:nvSpPr>
          <p:cNvPr id="31" name="object 31"/>
          <p:cNvSpPr/>
          <p:nvPr/>
        </p:nvSpPr>
        <p:spPr>
          <a:xfrm>
            <a:off x="89917" y="574467"/>
            <a:ext cx="4428868" cy="82474"/>
          </a:xfrm>
          <a:custGeom>
            <a:avLst/>
            <a:gdLst/>
            <a:ahLst/>
            <a:cxnLst/>
            <a:rect l="l" t="t" r="r" b="b"/>
            <a:pathLst>
              <a:path w="4432935" h="82550">
                <a:moveTo>
                  <a:pt x="4381767" y="0"/>
                </a:moveTo>
                <a:lnTo>
                  <a:pt x="50799" y="0"/>
                </a:lnTo>
                <a:lnTo>
                  <a:pt x="45925" y="233"/>
                </a:lnTo>
                <a:lnTo>
                  <a:pt x="10386" y="20111"/>
                </a:lnTo>
                <a:lnTo>
                  <a:pt x="0" y="50800"/>
                </a:lnTo>
                <a:lnTo>
                  <a:pt x="0" y="82384"/>
                </a:lnTo>
                <a:lnTo>
                  <a:pt x="4432567" y="82384"/>
                </a:lnTo>
                <a:lnTo>
                  <a:pt x="4432567" y="50800"/>
                </a:lnTo>
                <a:lnTo>
                  <a:pt x="4415984" y="13334"/>
                </a:lnTo>
                <a:lnTo>
                  <a:pt x="4381767" y="0"/>
                </a:lnTo>
                <a:close/>
              </a:path>
            </a:pathLst>
          </a:custGeom>
          <a:solidFill>
            <a:srgbClr val="FFFFFF"/>
          </a:solidFill>
        </p:spPr>
        <p:txBody>
          <a:bodyPr wrap="square" lIns="0" tIns="0" rIns="0" bIns="0" rtlCol="0"/>
          <a:lstStyle/>
          <a:p>
            <a:endParaRPr sz="1798"/>
          </a:p>
        </p:txBody>
      </p:sp>
      <p:sp>
        <p:nvSpPr>
          <p:cNvPr id="32" name="object 32"/>
          <p:cNvSpPr/>
          <p:nvPr/>
        </p:nvSpPr>
        <p:spPr>
          <a:xfrm>
            <a:off x="135119" y="1250660"/>
            <a:ext cx="112376" cy="109436"/>
          </a:xfrm>
          <a:prstGeom prst="rect">
            <a:avLst/>
          </a:prstGeom>
          <a:blipFill>
            <a:blip r:embed="rId3" cstate="print"/>
            <a:stretch>
              <a:fillRect/>
            </a:stretch>
          </a:blipFill>
        </p:spPr>
        <p:txBody>
          <a:bodyPr wrap="square" lIns="0" tIns="0" rIns="0" bIns="0" rtlCol="0"/>
          <a:lstStyle/>
          <a:p>
            <a:endParaRPr sz="1798"/>
          </a:p>
        </p:txBody>
      </p:sp>
      <p:sp>
        <p:nvSpPr>
          <p:cNvPr id="33" name="object 33"/>
          <p:cNvSpPr/>
          <p:nvPr/>
        </p:nvSpPr>
        <p:spPr>
          <a:xfrm>
            <a:off x="4449426" y="1234800"/>
            <a:ext cx="122125" cy="125186"/>
          </a:xfrm>
          <a:prstGeom prst="rect">
            <a:avLst/>
          </a:prstGeom>
          <a:blipFill>
            <a:blip r:embed="rId4" cstate="print"/>
            <a:stretch>
              <a:fillRect/>
            </a:stretch>
          </a:blipFill>
        </p:spPr>
        <p:txBody>
          <a:bodyPr wrap="square" lIns="0" tIns="0" rIns="0" bIns="0" rtlCol="0"/>
          <a:lstStyle/>
          <a:p>
            <a:endParaRPr sz="1798"/>
          </a:p>
        </p:txBody>
      </p:sp>
      <p:sp>
        <p:nvSpPr>
          <p:cNvPr id="34" name="object 34"/>
          <p:cNvSpPr/>
          <p:nvPr/>
        </p:nvSpPr>
        <p:spPr>
          <a:xfrm>
            <a:off x="191423" y="1286349"/>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5" name="object 35"/>
          <p:cNvSpPr/>
          <p:nvPr/>
        </p:nvSpPr>
        <p:spPr>
          <a:xfrm>
            <a:off x="191423" y="1292693"/>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6" name="object 36"/>
          <p:cNvSpPr/>
          <p:nvPr/>
        </p:nvSpPr>
        <p:spPr>
          <a:xfrm>
            <a:off x="191423" y="1299034"/>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7" name="object 37"/>
          <p:cNvSpPr/>
          <p:nvPr/>
        </p:nvSpPr>
        <p:spPr>
          <a:xfrm>
            <a:off x="191423" y="1299034"/>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8" name="object 38"/>
          <p:cNvSpPr/>
          <p:nvPr/>
        </p:nvSpPr>
        <p:spPr>
          <a:xfrm>
            <a:off x="191423" y="1305379"/>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8D8D8D"/>
          </a:solidFill>
        </p:spPr>
        <p:txBody>
          <a:bodyPr wrap="square" lIns="0" tIns="0" rIns="0" bIns="0" rtlCol="0"/>
          <a:lstStyle/>
          <a:p>
            <a:endParaRPr sz="1798"/>
          </a:p>
        </p:txBody>
      </p:sp>
      <p:sp>
        <p:nvSpPr>
          <p:cNvPr id="39" name="object 39"/>
          <p:cNvSpPr/>
          <p:nvPr/>
        </p:nvSpPr>
        <p:spPr>
          <a:xfrm>
            <a:off x="191423" y="1311724"/>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9B9B9B"/>
          </a:solidFill>
        </p:spPr>
        <p:txBody>
          <a:bodyPr wrap="square" lIns="0" tIns="0" rIns="0" bIns="0" rtlCol="0"/>
          <a:lstStyle/>
          <a:p>
            <a:endParaRPr sz="1798"/>
          </a:p>
        </p:txBody>
      </p:sp>
      <p:sp>
        <p:nvSpPr>
          <p:cNvPr id="40" name="object 40"/>
          <p:cNvSpPr/>
          <p:nvPr/>
        </p:nvSpPr>
        <p:spPr>
          <a:xfrm>
            <a:off x="191423" y="1318069"/>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A9A9A9"/>
          </a:solidFill>
        </p:spPr>
        <p:txBody>
          <a:bodyPr wrap="square" lIns="0" tIns="0" rIns="0" bIns="0" rtlCol="0"/>
          <a:lstStyle/>
          <a:p>
            <a:endParaRPr sz="1798"/>
          </a:p>
        </p:txBody>
      </p:sp>
      <p:sp>
        <p:nvSpPr>
          <p:cNvPr id="41" name="object 41"/>
          <p:cNvSpPr/>
          <p:nvPr/>
        </p:nvSpPr>
        <p:spPr>
          <a:xfrm>
            <a:off x="191423" y="1324411"/>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B8B8B8"/>
          </a:solidFill>
        </p:spPr>
        <p:txBody>
          <a:bodyPr wrap="square" lIns="0" tIns="0" rIns="0" bIns="0" rtlCol="0"/>
          <a:lstStyle/>
          <a:p>
            <a:endParaRPr sz="1798"/>
          </a:p>
        </p:txBody>
      </p:sp>
      <p:sp>
        <p:nvSpPr>
          <p:cNvPr id="42" name="object 42"/>
          <p:cNvSpPr/>
          <p:nvPr/>
        </p:nvSpPr>
        <p:spPr>
          <a:xfrm>
            <a:off x="191423" y="1330756"/>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C6C6C6"/>
          </a:solidFill>
        </p:spPr>
        <p:txBody>
          <a:bodyPr wrap="square" lIns="0" tIns="0" rIns="0" bIns="0" rtlCol="0"/>
          <a:lstStyle/>
          <a:p>
            <a:endParaRPr sz="1798"/>
          </a:p>
        </p:txBody>
      </p:sp>
      <p:sp>
        <p:nvSpPr>
          <p:cNvPr id="43" name="object 43"/>
          <p:cNvSpPr/>
          <p:nvPr/>
        </p:nvSpPr>
        <p:spPr>
          <a:xfrm>
            <a:off x="191423" y="1337101"/>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D4D4D4"/>
          </a:solidFill>
        </p:spPr>
        <p:txBody>
          <a:bodyPr wrap="square" lIns="0" tIns="0" rIns="0" bIns="0" rtlCol="0"/>
          <a:lstStyle/>
          <a:p>
            <a:endParaRPr sz="1798"/>
          </a:p>
        </p:txBody>
      </p:sp>
      <p:sp>
        <p:nvSpPr>
          <p:cNvPr id="44" name="object 44"/>
          <p:cNvSpPr/>
          <p:nvPr/>
        </p:nvSpPr>
        <p:spPr>
          <a:xfrm>
            <a:off x="191423" y="1343446"/>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E2E2E2"/>
          </a:solidFill>
        </p:spPr>
        <p:txBody>
          <a:bodyPr wrap="square" lIns="0" tIns="0" rIns="0" bIns="0" rtlCol="0"/>
          <a:lstStyle/>
          <a:p>
            <a:endParaRPr sz="1798"/>
          </a:p>
        </p:txBody>
      </p:sp>
      <p:sp>
        <p:nvSpPr>
          <p:cNvPr id="45" name="object 45"/>
          <p:cNvSpPr/>
          <p:nvPr/>
        </p:nvSpPr>
        <p:spPr>
          <a:xfrm>
            <a:off x="4518418" y="624420"/>
            <a:ext cx="50753" cy="50753"/>
          </a:xfrm>
          <a:custGeom>
            <a:avLst/>
            <a:gdLst/>
            <a:ahLst/>
            <a:cxnLst/>
            <a:rect l="l" t="t" r="r" b="b"/>
            <a:pathLst>
              <a:path w="50800" h="50800">
                <a:moveTo>
                  <a:pt x="50799" y="50792"/>
                </a:moveTo>
                <a:lnTo>
                  <a:pt x="34262" y="13294"/>
                </a:lnTo>
                <a:lnTo>
                  <a:pt x="0" y="0"/>
                </a:lnTo>
              </a:path>
            </a:pathLst>
          </a:custGeom>
          <a:ln w="11112">
            <a:solidFill>
              <a:srgbClr val="FFFFFF"/>
            </a:solidFill>
          </a:ln>
        </p:spPr>
        <p:txBody>
          <a:bodyPr wrap="square" lIns="0" tIns="0" rIns="0" bIns="0" rtlCol="0"/>
          <a:lstStyle/>
          <a:p>
            <a:endParaRPr sz="1798"/>
          </a:p>
        </p:txBody>
      </p:sp>
      <p:sp>
        <p:nvSpPr>
          <p:cNvPr id="46" name="object 46"/>
          <p:cNvSpPr/>
          <p:nvPr/>
        </p:nvSpPr>
        <p:spPr>
          <a:xfrm>
            <a:off x="4518418" y="718201"/>
            <a:ext cx="27280" cy="8248"/>
          </a:xfrm>
          <a:custGeom>
            <a:avLst/>
            <a:gdLst/>
            <a:ahLst/>
            <a:cxnLst/>
            <a:rect l="l" t="t" r="r" b="b"/>
            <a:pathLst>
              <a:path w="27304" h="8254">
                <a:moveTo>
                  <a:pt x="0" y="7733"/>
                </a:moveTo>
                <a:lnTo>
                  <a:pt x="22932" y="2274"/>
                </a:lnTo>
                <a:lnTo>
                  <a:pt x="26954" y="0"/>
                </a:lnTo>
              </a:path>
            </a:pathLst>
          </a:custGeom>
          <a:ln w="11112">
            <a:solidFill>
              <a:srgbClr val="FFFFFF"/>
            </a:solidFill>
          </a:ln>
        </p:spPr>
        <p:txBody>
          <a:bodyPr wrap="square" lIns="0" tIns="0" rIns="0" bIns="0" rtlCol="0"/>
          <a:lstStyle/>
          <a:p>
            <a:endParaRPr sz="1798"/>
          </a:p>
        </p:txBody>
      </p:sp>
      <p:sp>
        <p:nvSpPr>
          <p:cNvPr id="47" name="object 47"/>
          <p:cNvSpPr/>
          <p:nvPr/>
        </p:nvSpPr>
        <p:spPr>
          <a:xfrm>
            <a:off x="4518418" y="627592"/>
            <a:ext cx="47581" cy="47581"/>
          </a:xfrm>
          <a:custGeom>
            <a:avLst/>
            <a:gdLst/>
            <a:ahLst/>
            <a:cxnLst/>
            <a:rect l="l" t="t" r="r" b="b"/>
            <a:pathLst>
              <a:path w="47625" h="47625">
                <a:moveTo>
                  <a:pt x="47625" y="47625"/>
                </a:moveTo>
                <a:lnTo>
                  <a:pt x="30293" y="10875"/>
                </a:lnTo>
                <a:lnTo>
                  <a:pt x="3343" y="168"/>
                </a:lnTo>
                <a:lnTo>
                  <a:pt x="0" y="0"/>
                </a:lnTo>
              </a:path>
            </a:pathLst>
          </a:custGeom>
          <a:ln w="11112">
            <a:solidFill>
              <a:srgbClr val="F7F7F7"/>
            </a:solidFill>
          </a:ln>
        </p:spPr>
        <p:txBody>
          <a:bodyPr wrap="square" lIns="0" tIns="0" rIns="0" bIns="0" rtlCol="0"/>
          <a:lstStyle/>
          <a:p>
            <a:endParaRPr sz="1798"/>
          </a:p>
        </p:txBody>
      </p:sp>
      <p:sp>
        <p:nvSpPr>
          <p:cNvPr id="48" name="object 48"/>
          <p:cNvSpPr/>
          <p:nvPr/>
        </p:nvSpPr>
        <p:spPr>
          <a:xfrm>
            <a:off x="4518418" y="675173"/>
            <a:ext cx="47581" cy="47581"/>
          </a:xfrm>
          <a:custGeom>
            <a:avLst/>
            <a:gdLst/>
            <a:ahLst/>
            <a:cxnLst/>
            <a:rect l="l" t="t" r="r" b="b"/>
            <a:pathLst>
              <a:path w="47625" h="47625">
                <a:moveTo>
                  <a:pt x="0" y="47624"/>
                </a:moveTo>
                <a:lnTo>
                  <a:pt x="36749" y="30298"/>
                </a:lnTo>
                <a:lnTo>
                  <a:pt x="47379" y="4871"/>
                </a:lnTo>
                <a:lnTo>
                  <a:pt x="47625" y="0"/>
                </a:lnTo>
              </a:path>
            </a:pathLst>
          </a:custGeom>
          <a:ln w="11112">
            <a:solidFill>
              <a:srgbClr val="F7F7F7"/>
            </a:solidFill>
          </a:ln>
        </p:spPr>
        <p:txBody>
          <a:bodyPr wrap="square" lIns="0" tIns="0" rIns="0" bIns="0" rtlCol="0"/>
          <a:lstStyle/>
          <a:p>
            <a:endParaRPr sz="1798"/>
          </a:p>
        </p:txBody>
      </p:sp>
      <p:sp>
        <p:nvSpPr>
          <p:cNvPr id="49" name="object 49"/>
          <p:cNvSpPr/>
          <p:nvPr/>
        </p:nvSpPr>
        <p:spPr>
          <a:xfrm>
            <a:off x="4518418" y="630764"/>
            <a:ext cx="44409" cy="44409"/>
          </a:xfrm>
          <a:custGeom>
            <a:avLst/>
            <a:gdLst/>
            <a:ahLst/>
            <a:cxnLst/>
            <a:rect l="l" t="t" r="r" b="b"/>
            <a:pathLst>
              <a:path w="44450" h="44450">
                <a:moveTo>
                  <a:pt x="44450" y="44450"/>
                </a:moveTo>
                <a:lnTo>
                  <a:pt x="44189" y="39608"/>
                </a:lnTo>
                <a:lnTo>
                  <a:pt x="43845" y="37495"/>
                </a:lnTo>
                <a:lnTo>
                  <a:pt x="43425" y="34918"/>
                </a:lnTo>
                <a:lnTo>
                  <a:pt x="18358" y="3958"/>
                </a:lnTo>
                <a:lnTo>
                  <a:pt x="6954" y="605"/>
                </a:lnTo>
                <a:lnTo>
                  <a:pt x="4843" y="260"/>
                </a:lnTo>
                <a:lnTo>
                  <a:pt x="0" y="0"/>
                </a:lnTo>
              </a:path>
            </a:pathLst>
          </a:custGeom>
          <a:ln w="11112">
            <a:solidFill>
              <a:srgbClr val="F0F0F0"/>
            </a:solidFill>
          </a:ln>
        </p:spPr>
        <p:txBody>
          <a:bodyPr wrap="square" lIns="0" tIns="0" rIns="0" bIns="0" rtlCol="0"/>
          <a:lstStyle/>
          <a:p>
            <a:endParaRPr sz="1798"/>
          </a:p>
        </p:txBody>
      </p:sp>
      <p:sp>
        <p:nvSpPr>
          <p:cNvPr id="50" name="object 50"/>
          <p:cNvSpPr/>
          <p:nvPr/>
        </p:nvSpPr>
        <p:spPr>
          <a:xfrm>
            <a:off x="4518418" y="675173"/>
            <a:ext cx="44409" cy="44409"/>
          </a:xfrm>
          <a:custGeom>
            <a:avLst/>
            <a:gdLst/>
            <a:ahLst/>
            <a:cxnLst/>
            <a:rect l="l" t="t" r="r" b="b"/>
            <a:pathLst>
              <a:path w="44450" h="44450">
                <a:moveTo>
                  <a:pt x="0" y="44449"/>
                </a:moveTo>
                <a:lnTo>
                  <a:pt x="35874" y="26251"/>
                </a:lnTo>
                <a:lnTo>
                  <a:pt x="44189" y="4843"/>
                </a:lnTo>
                <a:lnTo>
                  <a:pt x="44450" y="0"/>
                </a:lnTo>
              </a:path>
            </a:pathLst>
          </a:custGeom>
          <a:ln w="11112">
            <a:solidFill>
              <a:srgbClr val="F0F0F0"/>
            </a:solidFill>
          </a:ln>
        </p:spPr>
        <p:txBody>
          <a:bodyPr wrap="square" lIns="0" tIns="0" rIns="0" bIns="0" rtlCol="0"/>
          <a:lstStyle/>
          <a:p>
            <a:endParaRPr sz="1798"/>
          </a:p>
        </p:txBody>
      </p:sp>
      <p:sp>
        <p:nvSpPr>
          <p:cNvPr id="51" name="object 51"/>
          <p:cNvSpPr/>
          <p:nvPr/>
        </p:nvSpPr>
        <p:spPr>
          <a:xfrm>
            <a:off x="4518418" y="633936"/>
            <a:ext cx="41237" cy="41237"/>
          </a:xfrm>
          <a:custGeom>
            <a:avLst/>
            <a:gdLst/>
            <a:ahLst/>
            <a:cxnLst/>
            <a:rect l="l" t="t" r="r" b="b"/>
            <a:pathLst>
              <a:path w="41275" h="41275">
                <a:moveTo>
                  <a:pt x="41275" y="41275"/>
                </a:moveTo>
                <a:lnTo>
                  <a:pt x="40997" y="36461"/>
                </a:lnTo>
                <a:lnTo>
                  <a:pt x="40185" y="31810"/>
                </a:lnTo>
                <a:lnTo>
                  <a:pt x="39703" y="30178"/>
                </a:lnTo>
                <a:lnTo>
                  <a:pt x="38869" y="27354"/>
                </a:lnTo>
                <a:lnTo>
                  <a:pt x="11096" y="1572"/>
                </a:lnTo>
                <a:lnTo>
                  <a:pt x="9464" y="1090"/>
                </a:lnTo>
                <a:lnTo>
                  <a:pt x="4814" y="277"/>
                </a:lnTo>
                <a:lnTo>
                  <a:pt x="0" y="0"/>
                </a:lnTo>
              </a:path>
            </a:pathLst>
          </a:custGeom>
          <a:ln w="11112">
            <a:solidFill>
              <a:srgbClr val="E8E8E8"/>
            </a:solidFill>
          </a:ln>
        </p:spPr>
        <p:txBody>
          <a:bodyPr wrap="square" lIns="0" tIns="0" rIns="0" bIns="0" rtlCol="0"/>
          <a:lstStyle/>
          <a:p>
            <a:endParaRPr sz="1798"/>
          </a:p>
        </p:txBody>
      </p:sp>
      <p:sp>
        <p:nvSpPr>
          <p:cNvPr id="52" name="object 52"/>
          <p:cNvSpPr/>
          <p:nvPr/>
        </p:nvSpPr>
        <p:spPr>
          <a:xfrm>
            <a:off x="4518418" y="675174"/>
            <a:ext cx="41237" cy="41237"/>
          </a:xfrm>
          <a:custGeom>
            <a:avLst/>
            <a:gdLst/>
            <a:ahLst/>
            <a:cxnLst/>
            <a:rect l="l" t="t" r="r" b="b"/>
            <a:pathLst>
              <a:path w="41275" h="41275">
                <a:moveTo>
                  <a:pt x="0" y="41274"/>
                </a:moveTo>
                <a:lnTo>
                  <a:pt x="34849" y="22127"/>
                </a:lnTo>
                <a:lnTo>
                  <a:pt x="40997" y="4813"/>
                </a:lnTo>
                <a:lnTo>
                  <a:pt x="41275" y="0"/>
                </a:lnTo>
              </a:path>
            </a:pathLst>
          </a:custGeom>
          <a:ln w="11112">
            <a:solidFill>
              <a:srgbClr val="E8E8E8"/>
            </a:solidFill>
          </a:ln>
        </p:spPr>
        <p:txBody>
          <a:bodyPr wrap="square" lIns="0" tIns="0" rIns="0" bIns="0" rtlCol="0"/>
          <a:lstStyle/>
          <a:p>
            <a:endParaRPr sz="1798"/>
          </a:p>
        </p:txBody>
      </p:sp>
      <p:sp>
        <p:nvSpPr>
          <p:cNvPr id="53" name="object 53"/>
          <p:cNvSpPr/>
          <p:nvPr/>
        </p:nvSpPr>
        <p:spPr>
          <a:xfrm>
            <a:off x="4518418" y="637108"/>
            <a:ext cx="38065" cy="38065"/>
          </a:xfrm>
          <a:custGeom>
            <a:avLst/>
            <a:gdLst/>
            <a:ahLst/>
            <a:cxnLst/>
            <a:rect l="l" t="t" r="r" b="b"/>
            <a:pathLst>
              <a:path w="38100" h="38100">
                <a:moveTo>
                  <a:pt x="38100" y="38100"/>
                </a:moveTo>
                <a:lnTo>
                  <a:pt x="37803" y="33322"/>
                </a:lnTo>
                <a:lnTo>
                  <a:pt x="36936" y="28722"/>
                </a:lnTo>
                <a:lnTo>
                  <a:pt x="35536" y="24334"/>
                </a:lnTo>
                <a:lnTo>
                  <a:pt x="34266" y="21566"/>
                </a:lnTo>
                <a:lnTo>
                  <a:pt x="33636" y="20193"/>
                </a:lnTo>
                <a:lnTo>
                  <a:pt x="16532" y="3833"/>
                </a:lnTo>
                <a:lnTo>
                  <a:pt x="13771" y="2565"/>
                </a:lnTo>
                <a:lnTo>
                  <a:pt x="9382" y="1164"/>
                </a:lnTo>
                <a:lnTo>
                  <a:pt x="4779" y="297"/>
                </a:lnTo>
                <a:lnTo>
                  <a:pt x="0" y="0"/>
                </a:lnTo>
              </a:path>
            </a:pathLst>
          </a:custGeom>
          <a:ln w="11112">
            <a:solidFill>
              <a:srgbClr val="E1E1E1"/>
            </a:solidFill>
          </a:ln>
        </p:spPr>
        <p:txBody>
          <a:bodyPr wrap="square" lIns="0" tIns="0" rIns="0" bIns="0" rtlCol="0"/>
          <a:lstStyle/>
          <a:p>
            <a:endParaRPr sz="1798"/>
          </a:p>
        </p:txBody>
      </p:sp>
      <p:sp>
        <p:nvSpPr>
          <p:cNvPr id="54" name="object 54"/>
          <p:cNvSpPr/>
          <p:nvPr/>
        </p:nvSpPr>
        <p:spPr>
          <a:xfrm>
            <a:off x="4518418" y="675173"/>
            <a:ext cx="38065" cy="38065"/>
          </a:xfrm>
          <a:custGeom>
            <a:avLst/>
            <a:gdLst/>
            <a:ahLst/>
            <a:cxnLst/>
            <a:rect l="l" t="t" r="r" b="b"/>
            <a:pathLst>
              <a:path w="38100" h="38100">
                <a:moveTo>
                  <a:pt x="0" y="38099"/>
                </a:moveTo>
                <a:lnTo>
                  <a:pt x="33636" y="17911"/>
                </a:lnTo>
                <a:lnTo>
                  <a:pt x="37803" y="4779"/>
                </a:lnTo>
                <a:lnTo>
                  <a:pt x="38100" y="0"/>
                </a:lnTo>
              </a:path>
            </a:pathLst>
          </a:custGeom>
          <a:ln w="11112">
            <a:solidFill>
              <a:srgbClr val="E1E1E1"/>
            </a:solidFill>
          </a:ln>
        </p:spPr>
        <p:txBody>
          <a:bodyPr wrap="square" lIns="0" tIns="0" rIns="0" bIns="0" rtlCol="0"/>
          <a:lstStyle/>
          <a:p>
            <a:endParaRPr sz="1798"/>
          </a:p>
        </p:txBody>
      </p:sp>
      <p:sp>
        <p:nvSpPr>
          <p:cNvPr id="55" name="object 55"/>
          <p:cNvSpPr/>
          <p:nvPr/>
        </p:nvSpPr>
        <p:spPr>
          <a:xfrm>
            <a:off x="4518418" y="640281"/>
            <a:ext cx="34893" cy="34893"/>
          </a:xfrm>
          <a:custGeom>
            <a:avLst/>
            <a:gdLst/>
            <a:ahLst/>
            <a:cxnLst/>
            <a:rect l="l" t="t" r="r" b="b"/>
            <a:pathLst>
              <a:path w="34925" h="34925">
                <a:moveTo>
                  <a:pt x="34925" y="34925"/>
                </a:moveTo>
                <a:lnTo>
                  <a:pt x="13595" y="2745"/>
                </a:lnTo>
                <a:lnTo>
                  <a:pt x="0" y="0"/>
                </a:lnTo>
              </a:path>
            </a:pathLst>
          </a:custGeom>
          <a:ln w="11112">
            <a:solidFill>
              <a:srgbClr val="D9D9D9"/>
            </a:solidFill>
          </a:ln>
        </p:spPr>
        <p:txBody>
          <a:bodyPr wrap="square" lIns="0" tIns="0" rIns="0" bIns="0" rtlCol="0"/>
          <a:lstStyle/>
          <a:p>
            <a:endParaRPr sz="1798"/>
          </a:p>
        </p:txBody>
      </p:sp>
      <p:sp>
        <p:nvSpPr>
          <p:cNvPr id="56" name="object 56"/>
          <p:cNvSpPr/>
          <p:nvPr/>
        </p:nvSpPr>
        <p:spPr>
          <a:xfrm>
            <a:off x="4518418" y="675174"/>
            <a:ext cx="34893" cy="34893"/>
          </a:xfrm>
          <a:custGeom>
            <a:avLst/>
            <a:gdLst/>
            <a:ahLst/>
            <a:cxnLst/>
            <a:rect l="l" t="t" r="r" b="b"/>
            <a:pathLst>
              <a:path w="34925" h="34925">
                <a:moveTo>
                  <a:pt x="0" y="34924"/>
                </a:moveTo>
                <a:lnTo>
                  <a:pt x="32181" y="13595"/>
                </a:lnTo>
                <a:lnTo>
                  <a:pt x="34606" y="4739"/>
                </a:lnTo>
                <a:lnTo>
                  <a:pt x="34925" y="0"/>
                </a:lnTo>
              </a:path>
            </a:pathLst>
          </a:custGeom>
          <a:ln w="11112">
            <a:solidFill>
              <a:srgbClr val="D9D9D9"/>
            </a:solidFill>
          </a:ln>
        </p:spPr>
        <p:txBody>
          <a:bodyPr wrap="square" lIns="0" tIns="0" rIns="0" bIns="0" rtlCol="0"/>
          <a:lstStyle/>
          <a:p>
            <a:endParaRPr sz="1798"/>
          </a:p>
        </p:txBody>
      </p:sp>
      <p:sp>
        <p:nvSpPr>
          <p:cNvPr id="57" name="object 57"/>
          <p:cNvSpPr/>
          <p:nvPr/>
        </p:nvSpPr>
        <p:spPr>
          <a:xfrm>
            <a:off x="4518418" y="643452"/>
            <a:ext cx="31721" cy="31721"/>
          </a:xfrm>
          <a:custGeom>
            <a:avLst/>
            <a:gdLst/>
            <a:ahLst/>
            <a:cxnLst/>
            <a:rect l="l" t="t" r="r" b="b"/>
            <a:pathLst>
              <a:path w="31750" h="31750">
                <a:moveTo>
                  <a:pt x="31750" y="31750"/>
                </a:moveTo>
                <a:lnTo>
                  <a:pt x="4690" y="344"/>
                </a:lnTo>
                <a:lnTo>
                  <a:pt x="0" y="0"/>
                </a:lnTo>
              </a:path>
            </a:pathLst>
          </a:custGeom>
          <a:ln w="11112">
            <a:solidFill>
              <a:srgbClr val="D2D2D2"/>
            </a:solidFill>
          </a:ln>
        </p:spPr>
        <p:txBody>
          <a:bodyPr wrap="square" lIns="0" tIns="0" rIns="0" bIns="0" rtlCol="0"/>
          <a:lstStyle/>
          <a:p>
            <a:endParaRPr sz="1798"/>
          </a:p>
        </p:txBody>
      </p:sp>
      <p:sp>
        <p:nvSpPr>
          <p:cNvPr id="58" name="object 58"/>
          <p:cNvSpPr/>
          <p:nvPr/>
        </p:nvSpPr>
        <p:spPr>
          <a:xfrm>
            <a:off x="4518418" y="675173"/>
            <a:ext cx="31721" cy="31721"/>
          </a:xfrm>
          <a:custGeom>
            <a:avLst/>
            <a:gdLst/>
            <a:ahLst/>
            <a:cxnLst/>
            <a:rect l="l" t="t" r="r" b="b"/>
            <a:pathLst>
              <a:path w="31750" h="31750">
                <a:moveTo>
                  <a:pt x="0" y="31749"/>
                </a:moveTo>
                <a:lnTo>
                  <a:pt x="31405" y="4692"/>
                </a:lnTo>
                <a:lnTo>
                  <a:pt x="31750" y="0"/>
                </a:lnTo>
              </a:path>
            </a:pathLst>
          </a:custGeom>
          <a:ln w="11112">
            <a:solidFill>
              <a:srgbClr val="D2D2D2"/>
            </a:solidFill>
          </a:ln>
        </p:spPr>
        <p:txBody>
          <a:bodyPr wrap="square" lIns="0" tIns="0" rIns="0" bIns="0" rtlCol="0"/>
          <a:lstStyle/>
          <a:p>
            <a:endParaRPr sz="1798"/>
          </a:p>
        </p:txBody>
      </p:sp>
      <p:sp>
        <p:nvSpPr>
          <p:cNvPr id="59" name="object 59"/>
          <p:cNvSpPr/>
          <p:nvPr/>
        </p:nvSpPr>
        <p:spPr>
          <a:xfrm>
            <a:off x="4518418" y="646624"/>
            <a:ext cx="28549" cy="28549"/>
          </a:xfrm>
          <a:custGeom>
            <a:avLst/>
            <a:gdLst/>
            <a:ahLst/>
            <a:cxnLst/>
            <a:rect l="l" t="t" r="r" b="b"/>
            <a:pathLst>
              <a:path w="28575" h="28575">
                <a:moveTo>
                  <a:pt x="28575" y="28575"/>
                </a:moveTo>
                <a:lnTo>
                  <a:pt x="0" y="0"/>
                </a:lnTo>
              </a:path>
            </a:pathLst>
          </a:custGeom>
          <a:ln w="11112">
            <a:solidFill>
              <a:srgbClr val="CACACA"/>
            </a:solidFill>
          </a:ln>
        </p:spPr>
        <p:txBody>
          <a:bodyPr wrap="square" lIns="0" tIns="0" rIns="0" bIns="0" rtlCol="0"/>
          <a:lstStyle/>
          <a:p>
            <a:endParaRPr sz="1798"/>
          </a:p>
        </p:txBody>
      </p:sp>
      <p:sp>
        <p:nvSpPr>
          <p:cNvPr id="60" name="object 60"/>
          <p:cNvSpPr/>
          <p:nvPr/>
        </p:nvSpPr>
        <p:spPr>
          <a:xfrm>
            <a:off x="4518418" y="675173"/>
            <a:ext cx="28549" cy="28549"/>
          </a:xfrm>
          <a:custGeom>
            <a:avLst/>
            <a:gdLst/>
            <a:ahLst/>
            <a:cxnLst/>
            <a:rect l="l" t="t" r="r" b="b"/>
            <a:pathLst>
              <a:path w="28575" h="28575">
                <a:moveTo>
                  <a:pt x="0" y="28574"/>
                </a:moveTo>
                <a:lnTo>
                  <a:pt x="28201" y="4636"/>
                </a:lnTo>
                <a:lnTo>
                  <a:pt x="28575" y="0"/>
                </a:lnTo>
              </a:path>
            </a:pathLst>
          </a:custGeom>
          <a:ln w="11112">
            <a:solidFill>
              <a:srgbClr val="CACACA"/>
            </a:solidFill>
          </a:ln>
        </p:spPr>
        <p:txBody>
          <a:bodyPr wrap="square" lIns="0" tIns="0" rIns="0" bIns="0" rtlCol="0"/>
          <a:lstStyle/>
          <a:p>
            <a:endParaRPr sz="1798"/>
          </a:p>
        </p:txBody>
      </p:sp>
      <p:sp>
        <p:nvSpPr>
          <p:cNvPr id="61" name="object 61"/>
          <p:cNvSpPr/>
          <p:nvPr/>
        </p:nvSpPr>
        <p:spPr>
          <a:xfrm>
            <a:off x="4518417" y="649796"/>
            <a:ext cx="25377" cy="25377"/>
          </a:xfrm>
          <a:custGeom>
            <a:avLst/>
            <a:gdLst/>
            <a:ahLst/>
            <a:cxnLst/>
            <a:rect l="l" t="t" r="r" b="b"/>
            <a:pathLst>
              <a:path w="25400" h="25400">
                <a:moveTo>
                  <a:pt x="25400" y="25400"/>
                </a:moveTo>
                <a:lnTo>
                  <a:pt x="0" y="0"/>
                </a:lnTo>
              </a:path>
            </a:pathLst>
          </a:custGeom>
          <a:ln w="11112">
            <a:solidFill>
              <a:srgbClr val="C3C3C3"/>
            </a:solidFill>
          </a:ln>
        </p:spPr>
        <p:txBody>
          <a:bodyPr wrap="square" lIns="0" tIns="0" rIns="0" bIns="0" rtlCol="0"/>
          <a:lstStyle/>
          <a:p>
            <a:endParaRPr sz="1798"/>
          </a:p>
        </p:txBody>
      </p:sp>
      <p:sp>
        <p:nvSpPr>
          <p:cNvPr id="62" name="object 62"/>
          <p:cNvSpPr/>
          <p:nvPr/>
        </p:nvSpPr>
        <p:spPr>
          <a:xfrm>
            <a:off x="4518417" y="675173"/>
            <a:ext cx="25377" cy="25377"/>
          </a:xfrm>
          <a:custGeom>
            <a:avLst/>
            <a:gdLst/>
            <a:ahLst/>
            <a:cxnLst/>
            <a:rect l="l" t="t" r="r" b="b"/>
            <a:pathLst>
              <a:path w="25400" h="25400">
                <a:moveTo>
                  <a:pt x="0" y="25399"/>
                </a:moveTo>
                <a:lnTo>
                  <a:pt x="24990" y="4567"/>
                </a:lnTo>
                <a:lnTo>
                  <a:pt x="25400" y="0"/>
                </a:lnTo>
              </a:path>
            </a:pathLst>
          </a:custGeom>
          <a:ln w="11112">
            <a:solidFill>
              <a:srgbClr val="C3C3C3"/>
            </a:solidFill>
          </a:ln>
        </p:spPr>
        <p:txBody>
          <a:bodyPr wrap="square" lIns="0" tIns="0" rIns="0" bIns="0" rtlCol="0"/>
          <a:lstStyle/>
          <a:p>
            <a:endParaRPr sz="1798"/>
          </a:p>
        </p:txBody>
      </p:sp>
      <p:sp>
        <p:nvSpPr>
          <p:cNvPr id="63" name="object 63"/>
          <p:cNvSpPr/>
          <p:nvPr/>
        </p:nvSpPr>
        <p:spPr>
          <a:xfrm>
            <a:off x="4518418" y="652969"/>
            <a:ext cx="22205" cy="22205"/>
          </a:xfrm>
          <a:custGeom>
            <a:avLst/>
            <a:gdLst/>
            <a:ahLst/>
            <a:cxnLst/>
            <a:rect l="l" t="t" r="r" b="b"/>
            <a:pathLst>
              <a:path w="22225" h="22225">
                <a:moveTo>
                  <a:pt x="22225" y="22225"/>
                </a:moveTo>
                <a:lnTo>
                  <a:pt x="0" y="0"/>
                </a:lnTo>
              </a:path>
            </a:pathLst>
          </a:custGeom>
          <a:ln w="11112">
            <a:solidFill>
              <a:srgbClr val="BBBBBB"/>
            </a:solidFill>
          </a:ln>
        </p:spPr>
        <p:txBody>
          <a:bodyPr wrap="square" lIns="0" tIns="0" rIns="0" bIns="0" rtlCol="0"/>
          <a:lstStyle/>
          <a:p>
            <a:endParaRPr sz="1798"/>
          </a:p>
        </p:txBody>
      </p:sp>
      <p:sp>
        <p:nvSpPr>
          <p:cNvPr id="64" name="object 64"/>
          <p:cNvSpPr/>
          <p:nvPr/>
        </p:nvSpPr>
        <p:spPr>
          <a:xfrm>
            <a:off x="4518418" y="675173"/>
            <a:ext cx="22205" cy="22205"/>
          </a:xfrm>
          <a:custGeom>
            <a:avLst/>
            <a:gdLst/>
            <a:ahLst/>
            <a:cxnLst/>
            <a:rect l="l" t="t" r="r" b="b"/>
            <a:pathLst>
              <a:path w="22225" h="22225">
                <a:moveTo>
                  <a:pt x="0" y="22224"/>
                </a:moveTo>
                <a:lnTo>
                  <a:pt x="21773" y="4480"/>
                </a:lnTo>
                <a:lnTo>
                  <a:pt x="22225" y="0"/>
                </a:lnTo>
              </a:path>
            </a:pathLst>
          </a:custGeom>
          <a:ln w="11112">
            <a:solidFill>
              <a:srgbClr val="BBBBBB"/>
            </a:solidFill>
          </a:ln>
        </p:spPr>
        <p:txBody>
          <a:bodyPr wrap="square" lIns="0" tIns="0" rIns="0" bIns="0" rtlCol="0"/>
          <a:lstStyle/>
          <a:p>
            <a:endParaRPr sz="1798"/>
          </a:p>
        </p:txBody>
      </p:sp>
      <p:sp>
        <p:nvSpPr>
          <p:cNvPr id="65" name="object 65"/>
          <p:cNvSpPr/>
          <p:nvPr/>
        </p:nvSpPr>
        <p:spPr>
          <a:xfrm>
            <a:off x="4518418" y="656141"/>
            <a:ext cx="19032" cy="19032"/>
          </a:xfrm>
          <a:custGeom>
            <a:avLst/>
            <a:gdLst/>
            <a:ahLst/>
            <a:cxnLst/>
            <a:rect l="l" t="t" r="r" b="b"/>
            <a:pathLst>
              <a:path w="19050" h="19050">
                <a:moveTo>
                  <a:pt x="19050" y="19050"/>
                </a:moveTo>
                <a:lnTo>
                  <a:pt x="0" y="0"/>
                </a:lnTo>
              </a:path>
            </a:pathLst>
          </a:custGeom>
          <a:ln w="11112">
            <a:solidFill>
              <a:srgbClr val="B3B3B3"/>
            </a:solidFill>
          </a:ln>
        </p:spPr>
        <p:txBody>
          <a:bodyPr wrap="square" lIns="0" tIns="0" rIns="0" bIns="0" rtlCol="0"/>
          <a:lstStyle/>
          <a:p>
            <a:endParaRPr sz="1798"/>
          </a:p>
        </p:txBody>
      </p:sp>
      <p:sp>
        <p:nvSpPr>
          <p:cNvPr id="66" name="object 66"/>
          <p:cNvSpPr/>
          <p:nvPr/>
        </p:nvSpPr>
        <p:spPr>
          <a:xfrm>
            <a:off x="4518418" y="675173"/>
            <a:ext cx="19032" cy="19032"/>
          </a:xfrm>
          <a:custGeom>
            <a:avLst/>
            <a:gdLst/>
            <a:ahLst/>
            <a:cxnLst/>
            <a:rect l="l" t="t" r="r" b="b"/>
            <a:pathLst>
              <a:path w="19050" h="19050">
                <a:moveTo>
                  <a:pt x="0" y="19049"/>
                </a:moveTo>
                <a:lnTo>
                  <a:pt x="18546" y="4370"/>
                </a:lnTo>
                <a:lnTo>
                  <a:pt x="19050" y="0"/>
                </a:lnTo>
              </a:path>
            </a:pathLst>
          </a:custGeom>
          <a:ln w="11112">
            <a:solidFill>
              <a:srgbClr val="B3B3B3"/>
            </a:solidFill>
          </a:ln>
        </p:spPr>
        <p:txBody>
          <a:bodyPr wrap="square" lIns="0" tIns="0" rIns="0" bIns="0" rtlCol="0"/>
          <a:lstStyle/>
          <a:p>
            <a:endParaRPr sz="1798"/>
          </a:p>
        </p:txBody>
      </p:sp>
      <p:sp>
        <p:nvSpPr>
          <p:cNvPr id="67" name="object 67"/>
          <p:cNvSpPr/>
          <p:nvPr/>
        </p:nvSpPr>
        <p:spPr>
          <a:xfrm>
            <a:off x="4518418" y="659313"/>
            <a:ext cx="15861" cy="15861"/>
          </a:xfrm>
          <a:custGeom>
            <a:avLst/>
            <a:gdLst/>
            <a:ahLst/>
            <a:cxnLst/>
            <a:rect l="l" t="t" r="r" b="b"/>
            <a:pathLst>
              <a:path w="15875" h="15875">
                <a:moveTo>
                  <a:pt x="15875" y="15875"/>
                </a:moveTo>
                <a:lnTo>
                  <a:pt x="15875" y="7112"/>
                </a:lnTo>
                <a:lnTo>
                  <a:pt x="8763" y="0"/>
                </a:lnTo>
                <a:lnTo>
                  <a:pt x="0" y="0"/>
                </a:lnTo>
              </a:path>
            </a:pathLst>
          </a:custGeom>
          <a:ln w="11112">
            <a:solidFill>
              <a:srgbClr val="ACACAC"/>
            </a:solidFill>
          </a:ln>
        </p:spPr>
        <p:txBody>
          <a:bodyPr wrap="square" lIns="0" tIns="0" rIns="0" bIns="0" rtlCol="0"/>
          <a:lstStyle/>
          <a:p>
            <a:endParaRPr sz="1798"/>
          </a:p>
        </p:txBody>
      </p:sp>
      <p:sp>
        <p:nvSpPr>
          <p:cNvPr id="68" name="object 68"/>
          <p:cNvSpPr/>
          <p:nvPr/>
        </p:nvSpPr>
        <p:spPr>
          <a:xfrm>
            <a:off x="4518418" y="675173"/>
            <a:ext cx="15861" cy="15861"/>
          </a:xfrm>
          <a:custGeom>
            <a:avLst/>
            <a:gdLst/>
            <a:ahLst/>
            <a:cxnLst/>
            <a:rect l="l" t="t" r="r" b="b"/>
            <a:pathLst>
              <a:path w="15875" h="15875">
                <a:moveTo>
                  <a:pt x="0" y="15875"/>
                </a:moveTo>
                <a:lnTo>
                  <a:pt x="8763" y="15875"/>
                </a:lnTo>
                <a:lnTo>
                  <a:pt x="15875" y="8775"/>
                </a:lnTo>
                <a:lnTo>
                  <a:pt x="15875" y="0"/>
                </a:lnTo>
              </a:path>
            </a:pathLst>
          </a:custGeom>
          <a:ln w="11112">
            <a:solidFill>
              <a:srgbClr val="ACACAC"/>
            </a:solidFill>
          </a:ln>
        </p:spPr>
        <p:txBody>
          <a:bodyPr wrap="square" lIns="0" tIns="0" rIns="0" bIns="0" rtlCol="0"/>
          <a:lstStyle/>
          <a:p>
            <a:endParaRPr sz="1798"/>
          </a:p>
        </p:txBody>
      </p:sp>
      <p:sp>
        <p:nvSpPr>
          <p:cNvPr id="69" name="object 69"/>
          <p:cNvSpPr/>
          <p:nvPr/>
        </p:nvSpPr>
        <p:spPr>
          <a:xfrm>
            <a:off x="4518418" y="662485"/>
            <a:ext cx="12688" cy="12688"/>
          </a:xfrm>
          <a:custGeom>
            <a:avLst/>
            <a:gdLst/>
            <a:ahLst/>
            <a:cxnLst/>
            <a:rect l="l" t="t" r="r" b="b"/>
            <a:pathLst>
              <a:path w="12700" h="12700">
                <a:moveTo>
                  <a:pt x="12700" y="12700"/>
                </a:moveTo>
                <a:lnTo>
                  <a:pt x="12700" y="5689"/>
                </a:lnTo>
                <a:lnTo>
                  <a:pt x="7010" y="0"/>
                </a:lnTo>
                <a:lnTo>
                  <a:pt x="0" y="0"/>
                </a:lnTo>
              </a:path>
            </a:pathLst>
          </a:custGeom>
          <a:ln w="11112">
            <a:solidFill>
              <a:srgbClr val="A4A4A4"/>
            </a:solidFill>
          </a:ln>
        </p:spPr>
        <p:txBody>
          <a:bodyPr wrap="square" lIns="0" tIns="0" rIns="0" bIns="0" rtlCol="0"/>
          <a:lstStyle/>
          <a:p>
            <a:endParaRPr sz="1798"/>
          </a:p>
        </p:txBody>
      </p:sp>
      <p:sp>
        <p:nvSpPr>
          <p:cNvPr id="70" name="object 70"/>
          <p:cNvSpPr/>
          <p:nvPr/>
        </p:nvSpPr>
        <p:spPr>
          <a:xfrm>
            <a:off x="4518418" y="675173"/>
            <a:ext cx="12688" cy="12688"/>
          </a:xfrm>
          <a:custGeom>
            <a:avLst/>
            <a:gdLst/>
            <a:ahLst/>
            <a:cxnLst/>
            <a:rect l="l" t="t" r="r" b="b"/>
            <a:pathLst>
              <a:path w="12700" h="12700">
                <a:moveTo>
                  <a:pt x="0" y="12700"/>
                </a:moveTo>
                <a:lnTo>
                  <a:pt x="7010" y="12700"/>
                </a:lnTo>
                <a:lnTo>
                  <a:pt x="12700" y="7010"/>
                </a:lnTo>
                <a:lnTo>
                  <a:pt x="12700" y="0"/>
                </a:lnTo>
              </a:path>
            </a:pathLst>
          </a:custGeom>
          <a:ln w="11112">
            <a:solidFill>
              <a:srgbClr val="A4A4A4"/>
            </a:solidFill>
          </a:ln>
        </p:spPr>
        <p:txBody>
          <a:bodyPr wrap="square" lIns="0" tIns="0" rIns="0" bIns="0" rtlCol="0"/>
          <a:lstStyle/>
          <a:p>
            <a:endParaRPr sz="1798"/>
          </a:p>
        </p:txBody>
      </p:sp>
      <p:sp>
        <p:nvSpPr>
          <p:cNvPr id="71" name="object 71"/>
          <p:cNvSpPr/>
          <p:nvPr/>
        </p:nvSpPr>
        <p:spPr>
          <a:xfrm>
            <a:off x="4518419" y="665658"/>
            <a:ext cx="9516" cy="9516"/>
          </a:xfrm>
          <a:custGeom>
            <a:avLst/>
            <a:gdLst/>
            <a:ahLst/>
            <a:cxnLst/>
            <a:rect l="l" t="t" r="r" b="b"/>
            <a:pathLst>
              <a:path w="9525" h="9525">
                <a:moveTo>
                  <a:pt x="9525" y="9525"/>
                </a:moveTo>
                <a:lnTo>
                  <a:pt x="9525" y="4267"/>
                </a:lnTo>
                <a:lnTo>
                  <a:pt x="5258" y="0"/>
                </a:lnTo>
                <a:lnTo>
                  <a:pt x="0" y="0"/>
                </a:lnTo>
              </a:path>
            </a:pathLst>
          </a:custGeom>
          <a:ln w="11112">
            <a:solidFill>
              <a:srgbClr val="9D9D9D"/>
            </a:solidFill>
          </a:ln>
        </p:spPr>
        <p:txBody>
          <a:bodyPr wrap="square" lIns="0" tIns="0" rIns="0" bIns="0" rtlCol="0"/>
          <a:lstStyle/>
          <a:p>
            <a:endParaRPr sz="1798"/>
          </a:p>
        </p:txBody>
      </p:sp>
      <p:sp>
        <p:nvSpPr>
          <p:cNvPr id="72" name="object 72"/>
          <p:cNvSpPr/>
          <p:nvPr/>
        </p:nvSpPr>
        <p:spPr>
          <a:xfrm>
            <a:off x="4518419" y="675174"/>
            <a:ext cx="9516" cy="9516"/>
          </a:xfrm>
          <a:custGeom>
            <a:avLst/>
            <a:gdLst/>
            <a:ahLst/>
            <a:cxnLst/>
            <a:rect l="l" t="t" r="r" b="b"/>
            <a:pathLst>
              <a:path w="9525" h="9525">
                <a:moveTo>
                  <a:pt x="0" y="9525"/>
                </a:moveTo>
                <a:lnTo>
                  <a:pt x="5258" y="9525"/>
                </a:lnTo>
                <a:lnTo>
                  <a:pt x="9525" y="5257"/>
                </a:lnTo>
                <a:lnTo>
                  <a:pt x="9525" y="0"/>
                </a:lnTo>
              </a:path>
            </a:pathLst>
          </a:custGeom>
          <a:ln w="11112">
            <a:solidFill>
              <a:srgbClr val="9D9D9D"/>
            </a:solidFill>
          </a:ln>
        </p:spPr>
        <p:txBody>
          <a:bodyPr wrap="square" lIns="0" tIns="0" rIns="0" bIns="0" rtlCol="0"/>
          <a:lstStyle/>
          <a:p>
            <a:endParaRPr sz="1798"/>
          </a:p>
        </p:txBody>
      </p:sp>
      <p:sp>
        <p:nvSpPr>
          <p:cNvPr id="73" name="object 73"/>
          <p:cNvSpPr/>
          <p:nvPr/>
        </p:nvSpPr>
        <p:spPr>
          <a:xfrm>
            <a:off x="4518418" y="668829"/>
            <a:ext cx="6344" cy="6344"/>
          </a:xfrm>
          <a:custGeom>
            <a:avLst/>
            <a:gdLst/>
            <a:ahLst/>
            <a:cxnLst/>
            <a:rect l="l" t="t" r="r" b="b"/>
            <a:pathLst>
              <a:path w="6350" h="6350">
                <a:moveTo>
                  <a:pt x="6350" y="6350"/>
                </a:moveTo>
                <a:lnTo>
                  <a:pt x="6350" y="2857"/>
                </a:lnTo>
                <a:lnTo>
                  <a:pt x="3505" y="0"/>
                </a:lnTo>
                <a:lnTo>
                  <a:pt x="0" y="0"/>
                </a:lnTo>
              </a:path>
            </a:pathLst>
          </a:custGeom>
          <a:ln w="11112">
            <a:solidFill>
              <a:srgbClr val="959595"/>
            </a:solidFill>
          </a:ln>
        </p:spPr>
        <p:txBody>
          <a:bodyPr wrap="square" lIns="0" tIns="0" rIns="0" bIns="0" rtlCol="0"/>
          <a:lstStyle/>
          <a:p>
            <a:endParaRPr sz="1798"/>
          </a:p>
        </p:txBody>
      </p:sp>
      <p:sp>
        <p:nvSpPr>
          <p:cNvPr id="74" name="object 74"/>
          <p:cNvSpPr/>
          <p:nvPr/>
        </p:nvSpPr>
        <p:spPr>
          <a:xfrm>
            <a:off x="4518418" y="675174"/>
            <a:ext cx="6344" cy="6344"/>
          </a:xfrm>
          <a:custGeom>
            <a:avLst/>
            <a:gdLst/>
            <a:ahLst/>
            <a:cxnLst/>
            <a:rect l="l" t="t" r="r" b="b"/>
            <a:pathLst>
              <a:path w="6350" h="6350">
                <a:moveTo>
                  <a:pt x="0" y="6350"/>
                </a:moveTo>
                <a:lnTo>
                  <a:pt x="3505" y="6350"/>
                </a:lnTo>
                <a:lnTo>
                  <a:pt x="6350" y="3505"/>
                </a:lnTo>
                <a:lnTo>
                  <a:pt x="6350" y="0"/>
                </a:lnTo>
              </a:path>
            </a:pathLst>
          </a:custGeom>
          <a:ln w="11112">
            <a:solidFill>
              <a:srgbClr val="959595"/>
            </a:solidFill>
          </a:ln>
        </p:spPr>
        <p:txBody>
          <a:bodyPr wrap="square" lIns="0" tIns="0" rIns="0" bIns="0" rtlCol="0"/>
          <a:lstStyle/>
          <a:p>
            <a:endParaRPr sz="1798"/>
          </a:p>
        </p:txBody>
      </p:sp>
      <p:sp>
        <p:nvSpPr>
          <p:cNvPr id="75" name="object 75"/>
          <p:cNvSpPr/>
          <p:nvPr/>
        </p:nvSpPr>
        <p:spPr>
          <a:xfrm>
            <a:off x="4518418" y="672001"/>
            <a:ext cx="3172" cy="3172"/>
          </a:xfrm>
          <a:custGeom>
            <a:avLst/>
            <a:gdLst/>
            <a:ahLst/>
            <a:cxnLst/>
            <a:rect l="l" t="t" r="r" b="b"/>
            <a:pathLst>
              <a:path w="3175" h="3175">
                <a:moveTo>
                  <a:pt x="3175" y="3175"/>
                </a:moveTo>
                <a:lnTo>
                  <a:pt x="3175" y="1435"/>
                </a:lnTo>
                <a:lnTo>
                  <a:pt x="1752" y="0"/>
                </a:lnTo>
                <a:lnTo>
                  <a:pt x="0" y="0"/>
                </a:lnTo>
              </a:path>
            </a:pathLst>
          </a:custGeom>
          <a:ln w="11112">
            <a:solidFill>
              <a:srgbClr val="8E8E8E"/>
            </a:solidFill>
          </a:ln>
        </p:spPr>
        <p:txBody>
          <a:bodyPr wrap="square" lIns="0" tIns="0" rIns="0" bIns="0" rtlCol="0"/>
          <a:lstStyle/>
          <a:p>
            <a:endParaRPr sz="1798"/>
          </a:p>
        </p:txBody>
      </p:sp>
      <p:sp>
        <p:nvSpPr>
          <p:cNvPr id="76" name="object 76"/>
          <p:cNvSpPr/>
          <p:nvPr/>
        </p:nvSpPr>
        <p:spPr>
          <a:xfrm>
            <a:off x="4518418" y="675173"/>
            <a:ext cx="3172" cy="3172"/>
          </a:xfrm>
          <a:custGeom>
            <a:avLst/>
            <a:gdLst/>
            <a:ahLst/>
            <a:cxnLst/>
            <a:rect l="l" t="t" r="r" b="b"/>
            <a:pathLst>
              <a:path w="3175" h="3175">
                <a:moveTo>
                  <a:pt x="0" y="3175"/>
                </a:moveTo>
                <a:lnTo>
                  <a:pt x="1752" y="3175"/>
                </a:lnTo>
                <a:lnTo>
                  <a:pt x="3175" y="1752"/>
                </a:lnTo>
                <a:lnTo>
                  <a:pt x="3175" y="0"/>
                </a:lnTo>
              </a:path>
            </a:pathLst>
          </a:custGeom>
          <a:ln w="11112">
            <a:solidFill>
              <a:srgbClr val="8E8E8E"/>
            </a:solidFill>
          </a:ln>
        </p:spPr>
        <p:txBody>
          <a:bodyPr wrap="square" lIns="0" tIns="0" rIns="0" bIns="0" rtlCol="0"/>
          <a:lstStyle/>
          <a:p>
            <a:endParaRPr sz="1798"/>
          </a:p>
        </p:txBody>
      </p:sp>
      <p:sp>
        <p:nvSpPr>
          <p:cNvPr id="77" name="object 77"/>
          <p:cNvSpPr/>
          <p:nvPr/>
        </p:nvSpPr>
        <p:spPr>
          <a:xfrm>
            <a:off x="4518418" y="668829"/>
            <a:ext cx="6344" cy="12688"/>
          </a:xfrm>
          <a:custGeom>
            <a:avLst/>
            <a:gdLst/>
            <a:ahLst/>
            <a:cxnLst/>
            <a:rect l="l" t="t" r="r" b="b"/>
            <a:pathLst>
              <a:path w="6350" h="12700">
                <a:moveTo>
                  <a:pt x="3505" y="0"/>
                </a:moveTo>
                <a:lnTo>
                  <a:pt x="0" y="0"/>
                </a:lnTo>
                <a:lnTo>
                  <a:pt x="0" y="12700"/>
                </a:lnTo>
                <a:lnTo>
                  <a:pt x="3505" y="12700"/>
                </a:lnTo>
                <a:lnTo>
                  <a:pt x="6350" y="9855"/>
                </a:lnTo>
                <a:lnTo>
                  <a:pt x="6350" y="2857"/>
                </a:lnTo>
                <a:lnTo>
                  <a:pt x="3505" y="0"/>
                </a:lnTo>
                <a:close/>
              </a:path>
            </a:pathLst>
          </a:custGeom>
          <a:solidFill>
            <a:srgbClr val="7F7F7F"/>
          </a:solidFill>
        </p:spPr>
        <p:txBody>
          <a:bodyPr wrap="square" lIns="0" tIns="0" rIns="0" bIns="0" rtlCol="0"/>
          <a:lstStyle/>
          <a:p>
            <a:endParaRPr sz="1798"/>
          </a:p>
        </p:txBody>
      </p:sp>
      <p:sp>
        <p:nvSpPr>
          <p:cNvPr id="78" name="object 78"/>
          <p:cNvSpPr/>
          <p:nvPr/>
        </p:nvSpPr>
        <p:spPr>
          <a:xfrm>
            <a:off x="4520000"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8D8D8D"/>
          </a:solidFill>
        </p:spPr>
        <p:txBody>
          <a:bodyPr wrap="square" lIns="0" tIns="0" rIns="0" bIns="0" rtlCol="0"/>
          <a:lstStyle/>
          <a:p>
            <a:endParaRPr sz="1798"/>
          </a:p>
        </p:txBody>
      </p:sp>
      <p:sp>
        <p:nvSpPr>
          <p:cNvPr id="79" name="object 79"/>
          <p:cNvSpPr/>
          <p:nvPr/>
        </p:nvSpPr>
        <p:spPr>
          <a:xfrm>
            <a:off x="4526345"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9B9B9B"/>
          </a:solidFill>
        </p:spPr>
        <p:txBody>
          <a:bodyPr wrap="square" lIns="0" tIns="0" rIns="0" bIns="0" rtlCol="0"/>
          <a:lstStyle/>
          <a:p>
            <a:endParaRPr sz="1798"/>
          </a:p>
        </p:txBody>
      </p:sp>
      <p:sp>
        <p:nvSpPr>
          <p:cNvPr id="80" name="object 80"/>
          <p:cNvSpPr/>
          <p:nvPr/>
        </p:nvSpPr>
        <p:spPr>
          <a:xfrm>
            <a:off x="4532686"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A9A9A9"/>
          </a:solidFill>
        </p:spPr>
        <p:txBody>
          <a:bodyPr wrap="square" lIns="0" tIns="0" rIns="0" bIns="0" rtlCol="0"/>
          <a:lstStyle/>
          <a:p>
            <a:endParaRPr sz="1798"/>
          </a:p>
        </p:txBody>
      </p:sp>
      <p:sp>
        <p:nvSpPr>
          <p:cNvPr id="81" name="object 81"/>
          <p:cNvSpPr/>
          <p:nvPr/>
        </p:nvSpPr>
        <p:spPr>
          <a:xfrm>
            <a:off x="4539030"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B8B8B8"/>
          </a:solidFill>
        </p:spPr>
        <p:txBody>
          <a:bodyPr wrap="square" lIns="0" tIns="0" rIns="0" bIns="0" rtlCol="0"/>
          <a:lstStyle/>
          <a:p>
            <a:endParaRPr sz="1798"/>
          </a:p>
        </p:txBody>
      </p:sp>
      <p:sp>
        <p:nvSpPr>
          <p:cNvPr id="82" name="object 82"/>
          <p:cNvSpPr/>
          <p:nvPr/>
        </p:nvSpPr>
        <p:spPr>
          <a:xfrm>
            <a:off x="4545384"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C6C6C6"/>
          </a:solidFill>
        </p:spPr>
        <p:txBody>
          <a:bodyPr wrap="square" lIns="0" tIns="0" rIns="0" bIns="0" rtlCol="0"/>
          <a:lstStyle/>
          <a:p>
            <a:endParaRPr sz="1798"/>
          </a:p>
        </p:txBody>
      </p:sp>
      <p:sp>
        <p:nvSpPr>
          <p:cNvPr id="83" name="object 83"/>
          <p:cNvSpPr/>
          <p:nvPr/>
        </p:nvSpPr>
        <p:spPr>
          <a:xfrm>
            <a:off x="4551703"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D4D4D4"/>
          </a:solidFill>
        </p:spPr>
        <p:txBody>
          <a:bodyPr wrap="square" lIns="0" tIns="0" rIns="0" bIns="0" rtlCol="0"/>
          <a:lstStyle/>
          <a:p>
            <a:endParaRPr sz="1798"/>
          </a:p>
        </p:txBody>
      </p:sp>
      <p:sp>
        <p:nvSpPr>
          <p:cNvPr id="84" name="object 84"/>
          <p:cNvSpPr/>
          <p:nvPr/>
        </p:nvSpPr>
        <p:spPr>
          <a:xfrm>
            <a:off x="4558066"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E2E2E2"/>
          </a:solidFill>
        </p:spPr>
        <p:txBody>
          <a:bodyPr wrap="square" lIns="0" tIns="0" rIns="0" bIns="0" rtlCol="0"/>
          <a:lstStyle/>
          <a:p>
            <a:endParaRPr sz="1798"/>
          </a:p>
        </p:txBody>
      </p:sp>
      <p:sp>
        <p:nvSpPr>
          <p:cNvPr id="85" name="object 85"/>
          <p:cNvSpPr/>
          <p:nvPr/>
        </p:nvSpPr>
        <p:spPr>
          <a:xfrm>
            <a:off x="89917" y="618292"/>
            <a:ext cx="4428868" cy="685805"/>
          </a:xfrm>
          <a:custGeom>
            <a:avLst/>
            <a:gdLst/>
            <a:ahLst/>
            <a:cxnLst/>
            <a:rect l="l" t="t" r="r" b="b"/>
            <a:pathLst>
              <a:path w="4432935" h="686435">
                <a:moveTo>
                  <a:pt x="4432567" y="0"/>
                </a:moveTo>
                <a:lnTo>
                  <a:pt x="0" y="0"/>
                </a:lnTo>
                <a:lnTo>
                  <a:pt x="0" y="635330"/>
                </a:lnTo>
                <a:lnTo>
                  <a:pt x="16583" y="672795"/>
                </a:lnTo>
                <a:lnTo>
                  <a:pt x="50799" y="686130"/>
                </a:lnTo>
                <a:lnTo>
                  <a:pt x="4381767" y="686130"/>
                </a:lnTo>
                <a:lnTo>
                  <a:pt x="4419233" y="669547"/>
                </a:lnTo>
                <a:lnTo>
                  <a:pt x="4432567" y="635330"/>
                </a:lnTo>
                <a:lnTo>
                  <a:pt x="4432567" y="0"/>
                </a:lnTo>
                <a:close/>
              </a:path>
            </a:pathLst>
          </a:custGeom>
          <a:solidFill>
            <a:srgbClr val="FFFFFF"/>
          </a:solidFill>
        </p:spPr>
        <p:txBody>
          <a:bodyPr wrap="square" lIns="0" tIns="0" rIns="0" bIns="0" rtlCol="0"/>
          <a:lstStyle/>
          <a:p>
            <a:endParaRPr sz="1798"/>
          </a:p>
        </p:txBody>
      </p:sp>
      <p:sp>
        <p:nvSpPr>
          <p:cNvPr id="86" name="object 86"/>
          <p:cNvSpPr/>
          <p:nvPr/>
        </p:nvSpPr>
        <p:spPr>
          <a:xfrm>
            <a:off x="4518417" y="662485"/>
            <a:ext cx="0" cy="609675"/>
          </a:xfrm>
          <a:custGeom>
            <a:avLst/>
            <a:gdLst/>
            <a:ahLst/>
            <a:cxnLst/>
            <a:rect l="l" t="t" r="r" b="b"/>
            <a:pathLst>
              <a:path h="610235">
                <a:moveTo>
                  <a:pt x="0" y="610146"/>
                </a:moveTo>
                <a:lnTo>
                  <a:pt x="0" y="0"/>
                </a:lnTo>
              </a:path>
            </a:pathLst>
          </a:custGeom>
          <a:ln w="3175">
            <a:solidFill>
              <a:srgbClr val="7F7F7F"/>
            </a:solidFill>
          </a:ln>
        </p:spPr>
        <p:txBody>
          <a:bodyPr wrap="square" lIns="0" tIns="0" rIns="0" bIns="0" rtlCol="0"/>
          <a:lstStyle/>
          <a:p>
            <a:endParaRPr sz="1798"/>
          </a:p>
        </p:txBody>
      </p:sp>
      <p:sp>
        <p:nvSpPr>
          <p:cNvPr id="87" name="object 87"/>
          <p:cNvSpPr/>
          <p:nvPr/>
        </p:nvSpPr>
        <p:spPr>
          <a:xfrm>
            <a:off x="4518417" y="649797"/>
            <a:ext cx="0" cy="12688"/>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sz="1798"/>
          </a:p>
        </p:txBody>
      </p:sp>
      <p:sp>
        <p:nvSpPr>
          <p:cNvPr id="88" name="object 88"/>
          <p:cNvSpPr/>
          <p:nvPr/>
        </p:nvSpPr>
        <p:spPr>
          <a:xfrm>
            <a:off x="4518417" y="637108"/>
            <a:ext cx="0" cy="12688"/>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sz="1798"/>
          </a:p>
        </p:txBody>
      </p:sp>
      <p:sp>
        <p:nvSpPr>
          <p:cNvPr id="89" name="object 89"/>
          <p:cNvSpPr/>
          <p:nvPr/>
        </p:nvSpPr>
        <p:spPr>
          <a:xfrm>
            <a:off x="4518417" y="624420"/>
            <a:ext cx="0" cy="12688"/>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sz="1798"/>
          </a:p>
        </p:txBody>
      </p:sp>
      <p:sp>
        <p:nvSpPr>
          <p:cNvPr id="90" name="object 90"/>
          <p:cNvSpPr/>
          <p:nvPr/>
        </p:nvSpPr>
        <p:spPr>
          <a:xfrm>
            <a:off x="4518417" y="605387"/>
            <a:ext cx="0" cy="19032"/>
          </a:xfrm>
          <a:custGeom>
            <a:avLst/>
            <a:gdLst/>
            <a:ahLst/>
            <a:cxnLst/>
            <a:rect l="l" t="t" r="r" b="b"/>
            <a:pathLst>
              <a:path h="19050">
                <a:moveTo>
                  <a:pt x="0" y="19050"/>
                </a:moveTo>
                <a:lnTo>
                  <a:pt x="0" y="0"/>
                </a:lnTo>
              </a:path>
            </a:pathLst>
          </a:custGeom>
          <a:ln w="3175">
            <a:solidFill>
              <a:srgbClr val="FFFFFF"/>
            </a:solidFill>
          </a:ln>
        </p:spPr>
        <p:txBody>
          <a:bodyPr wrap="square" lIns="0" tIns="0" rIns="0" bIns="0" rtlCol="0"/>
          <a:lstStyle/>
          <a:p>
            <a:endParaRPr sz="1798"/>
          </a:p>
        </p:txBody>
      </p:sp>
      <p:sp>
        <p:nvSpPr>
          <p:cNvPr id="93" name="object 93"/>
          <p:cNvSpPr txBox="1"/>
          <p:nvPr/>
        </p:nvSpPr>
        <p:spPr>
          <a:xfrm>
            <a:off x="2153044" y="1682921"/>
            <a:ext cx="302617" cy="15389"/>
          </a:xfrm>
          <a:prstGeom prst="rect">
            <a:avLst/>
          </a:prstGeom>
        </p:spPr>
        <p:txBody>
          <a:bodyPr vert="horz" wrap="square" lIns="0" tIns="0" rIns="0" bIns="0" rtlCol="0">
            <a:spAutoFit/>
          </a:bodyPr>
          <a:lstStyle/>
          <a:p>
            <a:pPr marL="12690"/>
            <a:r>
              <a:rPr sz="100" i="1" spc="60" dirty="0">
                <a:latin typeface="Times New Roman"/>
                <a:cs typeface="Times New Roman"/>
              </a:rPr>
              <a:t>  </a:t>
            </a:r>
            <a:endParaRPr sz="100">
              <a:latin typeface="Times New Roman"/>
              <a:cs typeface="Times New Roman"/>
            </a:endParaRPr>
          </a:p>
        </p:txBody>
      </p:sp>
      <p:sp>
        <p:nvSpPr>
          <p:cNvPr id="95" name="object 99">
            <a:extLst>
              <a:ext uri="{FF2B5EF4-FFF2-40B4-BE49-F238E27FC236}">
                <a16:creationId xmlns:a16="http://schemas.microsoft.com/office/drawing/2014/main" id="{E8E3B86C-982D-8D12-0168-A78FC8884DE8}"/>
              </a:ext>
            </a:extLst>
          </p:cNvPr>
          <p:cNvSpPr/>
          <p:nvPr/>
        </p:nvSpPr>
        <p:spPr>
          <a:xfrm>
            <a:off x="1963" y="3344231"/>
            <a:ext cx="4603865" cy="111150"/>
          </a:xfrm>
          <a:prstGeom prst="rect">
            <a:avLst/>
          </a:prstGeom>
          <a:blipFill>
            <a:blip r:embed="rId5" cstate="print"/>
            <a:stretch>
              <a:fillRect/>
            </a:stretch>
          </a:blipFill>
        </p:spPr>
        <p:txBody>
          <a:bodyPr wrap="square" lIns="0" tIns="0" rIns="0" bIns="0" rtlCol="0"/>
          <a:lstStyle/>
          <a:p>
            <a:endParaRPr sz="1798"/>
          </a:p>
        </p:txBody>
      </p:sp>
      <p:sp>
        <p:nvSpPr>
          <p:cNvPr id="96" name="object 100">
            <a:extLst>
              <a:ext uri="{FF2B5EF4-FFF2-40B4-BE49-F238E27FC236}">
                <a16:creationId xmlns:a16="http://schemas.microsoft.com/office/drawing/2014/main" id="{FCB83B91-3B30-5E31-0A02-C4B58223A209}"/>
              </a:ext>
            </a:extLst>
          </p:cNvPr>
          <p:cNvSpPr txBox="1"/>
          <p:nvPr/>
        </p:nvSpPr>
        <p:spPr>
          <a:xfrm>
            <a:off x="70127" y="3346489"/>
            <a:ext cx="1400159" cy="89768"/>
          </a:xfrm>
          <a:prstGeom prst="rect">
            <a:avLst/>
          </a:prstGeom>
        </p:spPr>
        <p:txBody>
          <a:bodyPr vert="horz" wrap="square" lIns="0" tIns="0" rIns="0" bIns="0" rtlCol="0">
            <a:spAutoFit/>
          </a:bodyPr>
          <a:lstStyle/>
          <a:p>
            <a:pPr marL="12690">
              <a:lnSpc>
                <a:spcPts val="699"/>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599" spc="-5" dirty="0">
                <a:solidFill>
                  <a:srgbClr val="F2F2F2"/>
                </a:solidFill>
                <a:latin typeface="Times New Roman"/>
                <a:cs typeface="Times New Roman"/>
              </a:rPr>
              <a:t>(</a:t>
            </a:r>
            <a:r>
              <a:rPr lang="en-US" sz="599" spc="-5" dirty="0">
                <a:solidFill>
                  <a:srgbClr val="F2F2F2"/>
                </a:solidFill>
                <a:latin typeface="Times New Roman"/>
                <a:cs typeface="Times New Roman"/>
              </a:rPr>
              <a:t>Zhiqing Yang</a:t>
            </a:r>
            <a:r>
              <a:rPr sz="599" spc="135" dirty="0">
                <a:solidFill>
                  <a:srgbClr val="F2F2F2"/>
                </a:solidFill>
                <a:latin typeface="Times New Roman"/>
                <a:cs typeface="Times New Roman"/>
              </a:rPr>
              <a:t> </a:t>
            </a:r>
            <a:r>
              <a:rPr lang="en-US" altLang="zh-CN" sz="599" spc="-5" dirty="0" err="1">
                <a:solidFill>
                  <a:srgbClr val="F2F2F2"/>
                </a:solidFill>
                <a:latin typeface="Times New Roman"/>
                <a:cs typeface="Times New Roman"/>
              </a:rPr>
              <a:t>yangzhiqing</a:t>
            </a:r>
            <a:r>
              <a:rPr sz="599" spc="-5" dirty="0" err="1">
                <a:solidFill>
                  <a:srgbClr val="F2F2F2"/>
                </a:solidFill>
                <a:latin typeface="Times New Roman"/>
                <a:cs typeface="Times New Roman"/>
              </a:rPr>
              <a:t>@</a:t>
            </a:r>
            <a:r>
              <a:rPr lang="en-US" sz="599" spc="-5" dirty="0" err="1">
                <a:solidFill>
                  <a:srgbClr val="F2F2F2"/>
                </a:solidFill>
                <a:latin typeface="Times New Roman"/>
                <a:cs typeface="Times New Roman"/>
              </a:rPr>
              <a:t>hust.edu.cn</a:t>
            </a:r>
            <a:r>
              <a:rPr sz="599" spc="-5" dirty="0">
                <a:solidFill>
                  <a:srgbClr val="F2F2F2"/>
                </a:solidFill>
                <a:latin typeface="Times New Roman"/>
                <a:cs typeface="Times New Roman"/>
              </a:rPr>
              <a:t>)</a:t>
            </a:r>
            <a:endParaRPr sz="599" dirty="0">
              <a:latin typeface="Times New Roman"/>
              <a:cs typeface="Times New Roman"/>
            </a:endParaRPr>
          </a:p>
        </p:txBody>
      </p:sp>
      <p:sp>
        <p:nvSpPr>
          <p:cNvPr id="104" name="object 102">
            <a:extLst>
              <a:ext uri="{FF2B5EF4-FFF2-40B4-BE49-F238E27FC236}">
                <a16:creationId xmlns:a16="http://schemas.microsoft.com/office/drawing/2014/main" id="{12EBC35F-69B2-4F45-2870-CA7DEA30B00E}"/>
              </a:ext>
            </a:extLst>
          </p:cNvPr>
          <p:cNvSpPr txBox="1"/>
          <p:nvPr/>
        </p:nvSpPr>
        <p:spPr>
          <a:xfrm>
            <a:off x="3760911" y="3346489"/>
            <a:ext cx="448533" cy="89768"/>
          </a:xfrm>
          <a:prstGeom prst="rect">
            <a:avLst/>
          </a:prstGeom>
        </p:spPr>
        <p:txBody>
          <a:bodyPr vert="horz" wrap="square" lIns="0" tIns="0" rIns="0" bIns="0" rtlCol="0">
            <a:spAutoFit/>
          </a:bodyPr>
          <a:lstStyle/>
          <a:p>
            <a:pPr marL="12690">
              <a:lnSpc>
                <a:spcPts val="699"/>
              </a:lnSpc>
            </a:pPr>
            <a:r>
              <a:rPr sz="599" spc="-5" dirty="0">
                <a:solidFill>
                  <a:srgbClr val="7A0000"/>
                </a:solidFill>
                <a:latin typeface="Times New Roman"/>
                <a:cs typeface="Times New Roman"/>
              </a:rPr>
              <a:t>20</a:t>
            </a:r>
            <a:r>
              <a:rPr lang="en-US" sz="599" spc="-5" dirty="0">
                <a:solidFill>
                  <a:srgbClr val="7A0000"/>
                </a:solidFill>
                <a:latin typeface="Times New Roman"/>
                <a:cs typeface="Times New Roman"/>
              </a:rPr>
              <a:t>23</a:t>
            </a:r>
            <a:r>
              <a:rPr sz="599" spc="-5" dirty="0">
                <a:solidFill>
                  <a:srgbClr val="7A0000"/>
                </a:solidFill>
                <a:latin typeface="Times New Roman"/>
                <a:cs typeface="Times New Roman"/>
              </a:rPr>
              <a:t>-</a:t>
            </a:r>
            <a:r>
              <a:rPr lang="en-US" sz="599" spc="-5" dirty="0">
                <a:solidFill>
                  <a:srgbClr val="7A0000"/>
                </a:solidFill>
                <a:latin typeface="Times New Roman"/>
                <a:cs typeface="Times New Roman"/>
              </a:rPr>
              <a:t>Feb</a:t>
            </a:r>
            <a:endParaRPr sz="599" dirty="0">
              <a:latin typeface="Times New Roman"/>
              <a:cs typeface="Times New Roman"/>
            </a:endParaRPr>
          </a:p>
        </p:txBody>
      </p:sp>
      <p:sp>
        <p:nvSpPr>
          <p:cNvPr id="2" name="文本框 1">
            <a:extLst>
              <a:ext uri="{FF2B5EF4-FFF2-40B4-BE49-F238E27FC236}">
                <a16:creationId xmlns:a16="http://schemas.microsoft.com/office/drawing/2014/main" id="{214EB552-41E9-EAB0-533D-D748796F6D3D}"/>
              </a:ext>
            </a:extLst>
          </p:cNvPr>
          <p:cNvSpPr txBox="1"/>
          <p:nvPr/>
        </p:nvSpPr>
        <p:spPr>
          <a:xfrm>
            <a:off x="247495" y="1375180"/>
            <a:ext cx="4236441" cy="348300"/>
          </a:xfrm>
          <a:prstGeom prst="rect">
            <a:avLst/>
          </a:prstGeom>
          <a:noFill/>
        </p:spPr>
        <p:txBody>
          <a:bodyPr wrap="square">
            <a:spAutoFit/>
          </a:bodyPr>
          <a:lstStyle/>
          <a:p>
            <a:pPr marL="634" algn="ctr">
              <a:lnSpc>
                <a:spcPct val="130000"/>
              </a:lnSpc>
            </a:pPr>
            <a:r>
              <a:rPr lang="zh-CN" altLang="en-US" sz="1399" b="1" dirty="0">
                <a:solidFill>
                  <a:srgbClr val="333399"/>
                </a:solidFill>
                <a:latin typeface="Garamond" panose="02020404030301010803" pitchFamily="18" charset="0"/>
                <a:ea typeface="KaiTi" panose="02010609060101010101" pitchFamily="49" charset="-122"/>
                <a:cs typeface="+mj-cs"/>
              </a:rPr>
              <a:t>总收入是如何驱动总消费的？</a:t>
            </a:r>
            <a:endParaRPr lang="en-US" altLang="zh-CN" sz="1399" b="1" dirty="0">
              <a:solidFill>
                <a:srgbClr val="333399"/>
              </a:solidFill>
              <a:latin typeface="Garamond" panose="02020404030301010803" pitchFamily="18" charset="0"/>
              <a:ea typeface="KaiTi" panose="02010609060101010101" pitchFamily="49" charset="-122"/>
              <a:cs typeface="+mj-cs"/>
            </a:endParaRPr>
          </a:p>
        </p:txBody>
      </p:sp>
      <p:sp>
        <p:nvSpPr>
          <p:cNvPr id="4" name="object 94">
            <a:extLst>
              <a:ext uri="{FF2B5EF4-FFF2-40B4-BE49-F238E27FC236}">
                <a16:creationId xmlns:a16="http://schemas.microsoft.com/office/drawing/2014/main" id="{4875BD8C-AFDC-896C-3D5C-B151B0DFB7CB}"/>
              </a:ext>
            </a:extLst>
          </p:cNvPr>
          <p:cNvSpPr txBox="1"/>
          <p:nvPr/>
        </p:nvSpPr>
        <p:spPr>
          <a:xfrm>
            <a:off x="133790" y="681295"/>
            <a:ext cx="4383299" cy="785664"/>
          </a:xfrm>
          <a:prstGeom prst="rect">
            <a:avLst/>
          </a:prstGeom>
        </p:spPr>
        <p:txBody>
          <a:bodyPr vert="horz" wrap="square" lIns="0" tIns="0" rIns="0" bIns="0" rtlCol="0">
            <a:spAutoFit/>
          </a:bodyPr>
          <a:lstStyle/>
          <a:p>
            <a:pPr marL="634" algn="ctr">
              <a:lnSpc>
                <a:spcPct val="130000"/>
              </a:lnSpc>
            </a:pPr>
            <a:r>
              <a:rPr lang="zh-CN" altLang="en-US" sz="1599" b="1" spc="-15" dirty="0">
                <a:latin typeface="Garamond" panose="02020404030301010803" pitchFamily="18" charset="0"/>
                <a:ea typeface="KaiTi" panose="02010609060101010101" pitchFamily="49" charset="-122"/>
                <a:cs typeface="Times New Roman"/>
              </a:rPr>
              <a:t>第二章 短期经济波动模型：产品市场的均衡</a:t>
            </a:r>
            <a:endParaRPr lang="en-US" altLang="zh-CN" sz="1599" b="1" spc="-15" dirty="0">
              <a:latin typeface="Garamond" panose="02020404030301010803" pitchFamily="18" charset="0"/>
              <a:ea typeface="KaiTi" panose="02010609060101010101" pitchFamily="49" charset="-122"/>
              <a:cs typeface="Times New Roman"/>
            </a:endParaRPr>
          </a:p>
          <a:p>
            <a:pPr marL="634" algn="ctr">
              <a:lnSpc>
                <a:spcPct val="130000"/>
              </a:lnSpc>
            </a:pPr>
            <a:r>
              <a:rPr lang="zh-CN" altLang="en-US" sz="1399" b="1" dirty="0">
                <a:solidFill>
                  <a:srgbClr val="333399"/>
                </a:solidFill>
                <a:latin typeface="Garamond" panose="02020404030301010803" pitchFamily="18" charset="0"/>
                <a:ea typeface="KaiTi" panose="02010609060101010101" pitchFamily="49" charset="-122"/>
                <a:cs typeface="+mj-cs"/>
              </a:rPr>
              <a:t>第</a:t>
            </a:r>
            <a:r>
              <a:rPr lang="en-US" altLang="zh-CN" sz="1399" b="1" dirty="0">
                <a:solidFill>
                  <a:srgbClr val="333399"/>
                </a:solidFill>
                <a:latin typeface="Garamond" panose="02020404030301010803" pitchFamily="18" charset="0"/>
                <a:ea typeface="KaiTi" panose="02010609060101010101" pitchFamily="49" charset="-122"/>
                <a:cs typeface="+mj-cs"/>
              </a:rPr>
              <a:t>2</a:t>
            </a:r>
            <a:r>
              <a:rPr lang="zh-CN" altLang="en-US" sz="1399" b="1" dirty="0">
                <a:solidFill>
                  <a:srgbClr val="333399"/>
                </a:solidFill>
                <a:latin typeface="Garamond" panose="02020404030301010803" pitchFamily="18" charset="0"/>
                <a:ea typeface="KaiTi" panose="02010609060101010101" pitchFamily="49" charset="-122"/>
                <a:cs typeface="+mj-cs"/>
              </a:rPr>
              <a:t>节 消费需求与储蓄</a:t>
            </a:r>
            <a:endParaRPr lang="en-US" altLang="zh-CN" sz="1399" b="1" dirty="0">
              <a:solidFill>
                <a:srgbClr val="333399"/>
              </a:solidFill>
              <a:latin typeface="Garamond" panose="02020404030301010803" pitchFamily="18" charset="0"/>
              <a:ea typeface="KaiTi" panose="02010609060101010101" pitchFamily="49" charset="-122"/>
              <a:cs typeface="+mj-cs"/>
            </a:endParaRPr>
          </a:p>
          <a:p>
            <a:pPr marL="634" algn="ctr">
              <a:lnSpc>
                <a:spcPct val="130000"/>
              </a:lnSpc>
            </a:pPr>
            <a:endParaRPr sz="999" b="1" dirty="0">
              <a:latin typeface="Garamond" panose="02020404030301010803" pitchFamily="18" charset="0"/>
              <a:cs typeface="Times New Roman"/>
            </a:endParaRPr>
          </a:p>
        </p:txBody>
      </p:sp>
    </p:spTree>
    <p:extLst>
      <p:ext uri="{BB962C8B-B14F-4D97-AF65-F5344CB8AC3E}">
        <p14:creationId xmlns:p14="http://schemas.microsoft.com/office/powerpoint/2010/main" val="4243567004"/>
      </p:ext>
    </p:ext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36</a:t>
            </a:fld>
            <a:endParaRPr lang="zh-CN" altLang="zh-CN" sz="856">
              <a:solidFill>
                <a:srgbClr val="777777"/>
              </a:solidFill>
              <a:ea typeface="宋体" panose="02010600030101010101" pitchFamily="2" charset="-122"/>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r>
              <a:rPr kumimoji="1" lang="zh-CN" altLang="en-US" b="0" dirty="0">
                <a:latin typeface="Microsoft YaHei" panose="020B0503020204020204" pitchFamily="34" charset="-122"/>
                <a:ea typeface="Microsoft YaHei" panose="020B0503020204020204" pitchFamily="34" charset="-122"/>
              </a:rPr>
              <a:t>凯恩斯消费理论</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0193" y="131115"/>
            <a:ext cx="191912" cy="159926"/>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0659" eaLnBrk="1" fontAlgn="base" hangingPunct="1">
              <a:spcBef>
                <a:spcPct val="0"/>
              </a:spcBef>
              <a:spcAft>
                <a:spcPct val="0"/>
              </a:spcAft>
              <a:defRPr/>
            </a:pPr>
            <a:r>
              <a:rPr lang="en-US" altLang="zh-CN" sz="705" b="1">
                <a:solidFill>
                  <a:srgbClr val="000000"/>
                </a:solidFill>
                <a:latin typeface="Tahoma" panose="020B0604030504040204" pitchFamily="34" charset="0"/>
                <a:ea typeface="宋体" panose="02010600030101010101" pitchFamily="2" charset="-122"/>
              </a:rPr>
              <a:t>0</a:t>
            </a:r>
          </a:p>
        </p:txBody>
      </p:sp>
      <p:sp>
        <p:nvSpPr>
          <p:cNvPr id="6" name="Rectangle 3">
            <a:extLst>
              <a:ext uri="{FF2B5EF4-FFF2-40B4-BE49-F238E27FC236}">
                <a16:creationId xmlns:a16="http://schemas.microsoft.com/office/drawing/2014/main" id="{865B6715-8C44-6790-F2B1-5B2FBF6A61CB}"/>
              </a:ext>
            </a:extLst>
          </p:cNvPr>
          <p:cNvSpPr txBox="1">
            <a:spLocks noChangeArrowheads="1"/>
          </p:cNvSpPr>
          <p:nvPr/>
        </p:nvSpPr>
        <p:spPr>
          <a:xfrm>
            <a:off x="207971" y="577850"/>
            <a:ext cx="4240332" cy="2636639"/>
          </a:xfrm>
          <a:prstGeom prst="rect">
            <a:avLst/>
          </a:prstGeom>
        </p:spPr>
        <p:txBody>
          <a:bodyPr>
            <a:normAutofit/>
          </a:bodyPr>
          <a:lstStyle>
            <a:lvl1pPr marL="342616" indent="-342616" algn="l" rtl="0" eaLnBrk="0" fontAlgn="base" hangingPunct="0">
              <a:lnSpc>
                <a:spcPct val="105000"/>
              </a:lnSpc>
              <a:spcBef>
                <a:spcPct val="45000"/>
              </a:spcBef>
              <a:spcAft>
                <a:spcPct val="0"/>
              </a:spcAft>
              <a:buClr>
                <a:srgbClr val="339966"/>
              </a:buClr>
              <a:buSzPct val="120000"/>
              <a:buFont typeface="Wingdings" pitchFamily="2" charset="2"/>
              <a:buChar char="§"/>
              <a:defRPr sz="2798" kern="1200">
                <a:solidFill>
                  <a:schemeClr val="tx1"/>
                </a:solidFill>
                <a:latin typeface="+mn-lt"/>
                <a:ea typeface="+mn-ea"/>
                <a:cs typeface="+mn-cs"/>
              </a:defRPr>
            </a:lvl1pPr>
            <a:lvl2pPr marL="742335" indent="-285513" algn="l" rtl="0" eaLnBrk="0" fontAlgn="base" hangingPunct="0">
              <a:spcBef>
                <a:spcPct val="15000"/>
              </a:spcBef>
              <a:spcAft>
                <a:spcPct val="0"/>
              </a:spcAft>
              <a:buClr>
                <a:srgbClr val="996633"/>
              </a:buClr>
              <a:buSzPct val="120000"/>
              <a:buFont typeface="Wingdings" pitchFamily="2" charset="2"/>
              <a:buChar char="§"/>
              <a:defRPr sz="2697" kern="1200">
                <a:solidFill>
                  <a:schemeClr val="tx1"/>
                </a:solidFill>
                <a:latin typeface="+mn-lt"/>
                <a:ea typeface="+mn-ea"/>
                <a:cs typeface="+mn-cs"/>
              </a:defRPr>
            </a:lvl2pPr>
            <a:lvl3pPr marL="1142056" indent="-228411" algn="l" rtl="0" eaLnBrk="0" fontAlgn="base" hangingPunct="0">
              <a:spcBef>
                <a:spcPct val="15000"/>
              </a:spcBef>
              <a:spcAft>
                <a:spcPct val="0"/>
              </a:spcAft>
              <a:buClr>
                <a:srgbClr val="339966"/>
              </a:buClr>
              <a:buSzPct val="120000"/>
              <a:buFont typeface="Wingdings" pitchFamily="2" charset="2"/>
              <a:buChar char="§"/>
              <a:defRPr sz="2499" kern="1200">
                <a:solidFill>
                  <a:schemeClr val="tx1"/>
                </a:solidFill>
                <a:latin typeface="+mn-lt"/>
                <a:ea typeface="+mn-ea"/>
                <a:cs typeface="+mn-cs"/>
              </a:defRPr>
            </a:lvl3pPr>
            <a:lvl4pPr marL="1598877" indent="-228411" algn="l" rtl="0" eaLnBrk="0" fontAlgn="base" hangingPunct="0">
              <a:spcBef>
                <a:spcPct val="15000"/>
              </a:spcBef>
              <a:spcAft>
                <a:spcPct val="0"/>
              </a:spcAft>
              <a:buChar char="–"/>
              <a:defRPr sz="1998" kern="1200">
                <a:solidFill>
                  <a:schemeClr val="tx1"/>
                </a:solidFill>
                <a:latin typeface="+mn-lt"/>
                <a:ea typeface="+mn-ea"/>
                <a:cs typeface="+mn-cs"/>
              </a:defRPr>
            </a:lvl4pPr>
            <a:lvl5pPr marL="2055699" indent="-228411" algn="l" rtl="0" eaLnBrk="0" fontAlgn="base" hangingPunct="0">
              <a:spcBef>
                <a:spcPct val="20000"/>
              </a:spcBef>
              <a:spcAft>
                <a:spcPct val="0"/>
              </a:spcAft>
              <a:buChar char="»"/>
              <a:defRPr sz="1998" kern="1200">
                <a:solidFill>
                  <a:schemeClr val="tx1"/>
                </a:solidFill>
                <a:latin typeface="+mn-lt"/>
                <a:ea typeface="+mn-ea"/>
                <a:cs typeface="+mn-cs"/>
              </a:defRPr>
            </a:lvl5pPr>
            <a:lvl6pPr marL="2512520" indent="-228411" algn="l" defTabSz="913643" rtl="0" eaLnBrk="1" latinLnBrk="0" hangingPunct="1">
              <a:lnSpc>
                <a:spcPct val="90000"/>
              </a:lnSpc>
              <a:spcBef>
                <a:spcPts val="499"/>
              </a:spcBef>
              <a:buFont typeface="Arial" panose="020B0604020202020204" pitchFamily="34" charset="0"/>
              <a:buChar char="•"/>
              <a:defRPr sz="1799" kern="1200">
                <a:solidFill>
                  <a:schemeClr val="tx1"/>
                </a:solidFill>
                <a:latin typeface="+mn-lt"/>
                <a:ea typeface="+mn-ea"/>
                <a:cs typeface="+mn-cs"/>
              </a:defRPr>
            </a:lvl6pPr>
            <a:lvl7pPr marL="2969344" indent="-228411" algn="l" defTabSz="913643" rtl="0" eaLnBrk="1" latinLnBrk="0" hangingPunct="1">
              <a:lnSpc>
                <a:spcPct val="90000"/>
              </a:lnSpc>
              <a:spcBef>
                <a:spcPts val="499"/>
              </a:spcBef>
              <a:buFont typeface="Arial" panose="020B0604020202020204" pitchFamily="34" charset="0"/>
              <a:buChar char="•"/>
              <a:defRPr sz="1799" kern="1200">
                <a:solidFill>
                  <a:schemeClr val="tx1"/>
                </a:solidFill>
                <a:latin typeface="+mn-lt"/>
                <a:ea typeface="+mn-ea"/>
                <a:cs typeface="+mn-cs"/>
              </a:defRPr>
            </a:lvl7pPr>
            <a:lvl8pPr marL="3426165" indent="-228411" algn="l" defTabSz="913643" rtl="0" eaLnBrk="1" latinLnBrk="0" hangingPunct="1">
              <a:lnSpc>
                <a:spcPct val="90000"/>
              </a:lnSpc>
              <a:spcBef>
                <a:spcPts val="499"/>
              </a:spcBef>
              <a:buFont typeface="Arial" panose="020B0604020202020204" pitchFamily="34" charset="0"/>
              <a:buChar char="•"/>
              <a:defRPr sz="1799" kern="1200">
                <a:solidFill>
                  <a:schemeClr val="tx1"/>
                </a:solidFill>
                <a:latin typeface="+mn-lt"/>
                <a:ea typeface="+mn-ea"/>
                <a:cs typeface="+mn-cs"/>
              </a:defRPr>
            </a:lvl8pPr>
            <a:lvl9pPr marL="3882987" indent="-228411" algn="l" defTabSz="913643" rtl="0" eaLnBrk="1" latinLnBrk="0" hangingPunct="1">
              <a:lnSpc>
                <a:spcPct val="90000"/>
              </a:lnSpc>
              <a:spcBef>
                <a:spcPts val="499"/>
              </a:spcBef>
              <a:buFont typeface="Arial" panose="020B0604020202020204" pitchFamily="34" charset="0"/>
              <a:buChar char="•"/>
              <a:defRPr sz="1799" kern="1200">
                <a:solidFill>
                  <a:schemeClr val="tx1"/>
                </a:solidFill>
                <a:latin typeface="+mn-lt"/>
                <a:ea typeface="+mn-ea"/>
                <a:cs typeface="+mn-cs"/>
              </a:defRPr>
            </a:lvl9pPr>
          </a:lstStyle>
          <a:p>
            <a:pPr defTabSz="461040">
              <a:buClr>
                <a:srgbClr val="002060"/>
              </a:buClr>
              <a:buFont typeface="Wingdings" pitchFamily="2" charset="2"/>
              <a:buChar char="u"/>
            </a:pPr>
            <a:r>
              <a:rPr lang="zh-CN" altLang="en-US" sz="1210" dirty="0">
                <a:latin typeface="Microsoft YaHei" panose="020B0503020204020204" pitchFamily="34" charset="-122"/>
                <a:ea typeface="Microsoft YaHei" panose="020B0503020204020204" pitchFamily="34" charset="-122"/>
              </a:rPr>
              <a:t>讨论：你认为消费需求与什么因素有关？</a:t>
            </a:r>
            <a:endParaRPr lang="en-US" altLang="zh-CN" sz="1210" dirty="0">
              <a:latin typeface="Microsoft YaHei" panose="020B0503020204020204" pitchFamily="34" charset="-122"/>
              <a:ea typeface="Microsoft YaHei" panose="020B0503020204020204" pitchFamily="34" charset="-122"/>
            </a:endParaRPr>
          </a:p>
          <a:p>
            <a:pPr defTabSz="461040">
              <a:buClr>
                <a:srgbClr val="002060"/>
              </a:buClr>
              <a:buFont typeface="Wingdings" pitchFamily="2" charset="2"/>
              <a:buChar char="u"/>
            </a:pPr>
            <a:endParaRPr lang="en-US" altLang="zh-CN" sz="1210" dirty="0">
              <a:latin typeface="Microsoft YaHei" panose="020B0503020204020204" pitchFamily="34" charset="-122"/>
              <a:ea typeface="Microsoft YaHei" panose="020B0503020204020204" pitchFamily="34" charset="-122"/>
            </a:endParaRPr>
          </a:p>
          <a:p>
            <a:pPr marL="0" indent="0" defTabSz="461040">
              <a:buClr>
                <a:srgbClr val="002060"/>
              </a:buClr>
              <a:buNone/>
            </a:pPr>
            <a:r>
              <a:rPr lang="zh-CN" altLang="en-US" sz="1008" dirty="0">
                <a:latin typeface="KaiTi" panose="02010609060101010101" pitchFamily="49" charset="-122"/>
                <a:ea typeface="KaiTi" panose="02010609060101010101" pitchFamily="49" charset="-122"/>
              </a:rPr>
              <a:t>提示：消费是指家庭除购买新住房之外用于物品和劳务的总支出</a:t>
            </a:r>
          </a:p>
          <a:p>
            <a:pPr marL="0" indent="0" defTabSz="461040">
              <a:buClr>
                <a:srgbClr val="002060"/>
              </a:buClr>
              <a:buNone/>
            </a:pPr>
            <a:endParaRPr lang="en-US" altLang="zh-CN" sz="1008" dirty="0">
              <a:latin typeface="KaiTi" panose="02010609060101010101" pitchFamily="49" charset="-122"/>
              <a:ea typeface="KaiTi" panose="02010609060101010101" pitchFamily="49" charset="-122"/>
            </a:endParaRPr>
          </a:p>
          <a:p>
            <a:pPr defTabSz="461040">
              <a:buNone/>
            </a:pPr>
            <a:r>
              <a:rPr lang="en-US" altLang="zh-CN" sz="1210" dirty="0">
                <a:latin typeface="SimSun" panose="02010600030101010101" pitchFamily="2" charset="-122"/>
                <a:ea typeface="SimSun" panose="02010600030101010101" pitchFamily="2" charset="-122"/>
              </a:rPr>
              <a:t>              </a:t>
            </a:r>
          </a:p>
        </p:txBody>
      </p:sp>
      <p:sp>
        <p:nvSpPr>
          <p:cNvPr id="2" name="页脚占位符 1">
            <a:extLst>
              <a:ext uri="{FF2B5EF4-FFF2-40B4-BE49-F238E27FC236}">
                <a16:creationId xmlns:a16="http://schemas.microsoft.com/office/drawing/2014/main" id="{5786230B-2B80-C448-0F70-8BAF78435EBB}"/>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916322476"/>
      </p:ext>
    </p:extLst>
  </p:cSld>
  <p:clrMapOvr>
    <a:masterClrMapping/>
  </p:clrMapOvr>
  <p:transition>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37</a:t>
            </a:fld>
            <a:endParaRPr lang="zh-CN" altLang="zh-CN" sz="856">
              <a:solidFill>
                <a:srgbClr val="777777"/>
              </a:solidFill>
              <a:ea typeface="宋体" panose="02010600030101010101" pitchFamily="2" charset="-122"/>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r>
              <a:rPr kumimoji="1" lang="zh-CN" altLang="en-US" b="0" dirty="0">
                <a:latin typeface="Microsoft YaHei" panose="020B0503020204020204" pitchFamily="34" charset="-122"/>
                <a:ea typeface="Microsoft YaHei" panose="020B0503020204020204" pitchFamily="34" charset="-122"/>
              </a:rPr>
              <a:t>消费函数</a:t>
            </a:r>
            <a:r>
              <a:rPr kumimoji="1" lang="en" altLang="zh-CN" b="0" dirty="0">
                <a:latin typeface="Microsoft YaHei" panose="020B0503020204020204" pitchFamily="34" charset="-122"/>
                <a:ea typeface="Microsoft YaHei" panose="020B0503020204020204" pitchFamily="34" charset="-122"/>
              </a:rPr>
              <a:t>consumption function</a:t>
            </a:r>
            <a:endParaRPr kumimoji="1" lang="zh-CN" altLang="en-US" b="0" dirty="0">
              <a:latin typeface="Microsoft YaHei" panose="020B0503020204020204" pitchFamily="34" charset="-122"/>
              <a:ea typeface="Microsoft YaHei" panose="020B0503020204020204" pitchFamily="34" charset="-122"/>
            </a:endParaRP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0193" y="131115"/>
            <a:ext cx="191912" cy="159926"/>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0659" eaLnBrk="1" fontAlgn="base" hangingPunct="1">
              <a:spcBef>
                <a:spcPct val="0"/>
              </a:spcBef>
              <a:spcAft>
                <a:spcPct val="0"/>
              </a:spcAft>
              <a:defRPr/>
            </a:pPr>
            <a:r>
              <a:rPr lang="en-US" altLang="zh-CN" sz="705" b="1">
                <a:solidFill>
                  <a:srgbClr val="000000"/>
                </a:solidFill>
                <a:latin typeface="Tahoma" panose="020B0604030504040204" pitchFamily="34" charset="0"/>
                <a:ea typeface="宋体" panose="02010600030101010101" pitchFamily="2" charset="-122"/>
              </a:rPr>
              <a:t>0</a:t>
            </a:r>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A424EDBF-0FFB-6024-1A57-071919C5FAB7}"/>
                  </a:ext>
                </a:extLst>
              </p:cNvPr>
              <p:cNvSpPr txBox="1">
                <a:spLocks/>
              </p:cNvSpPr>
              <p:nvPr/>
            </p:nvSpPr>
            <p:spPr>
              <a:xfrm>
                <a:off x="225756" y="589982"/>
                <a:ext cx="3972563" cy="2435348"/>
              </a:xfrm>
              <a:prstGeom prst="rect">
                <a:avLst/>
              </a:prstGeom>
            </p:spPr>
            <p:txBody>
              <a:bodyPr/>
              <a:lst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pPr marL="0" indent="0" defTabSz="913644">
                  <a:buNone/>
                  <a:defRPr/>
                </a:pPr>
                <a:r>
                  <a:rPr lang="zh-CN" altLang="en-US" sz="1210" dirty="0">
                    <a:solidFill>
                      <a:srgbClr val="000000"/>
                    </a:solidFill>
                    <a:latin typeface="Garamond" panose="02020404030301010803" pitchFamily="18" charset="0"/>
                    <a:ea typeface="SimSun" panose="02010600030101010101" pitchFamily="2" charset="-122"/>
                  </a:rPr>
                  <a:t>凯恩斯认为：</a:t>
                </a:r>
              </a:p>
              <a:p>
                <a:pPr marL="172747" indent="-172747" defTabSz="913644">
                  <a:defRPr/>
                </a:pPr>
                <a:r>
                  <a:rPr lang="zh-CN" altLang="en-US" sz="1210" dirty="0">
                    <a:solidFill>
                      <a:srgbClr val="000000"/>
                    </a:solidFill>
                    <a:latin typeface="Garamond" panose="02020404030301010803" pitchFamily="18" charset="0"/>
                    <a:ea typeface="KaiTi" panose="02010609060101010101" pitchFamily="49" charset="-122"/>
                  </a:rPr>
                  <a:t>消费依赖于个人可支配收入；</a:t>
                </a:r>
              </a:p>
              <a:p>
                <a:pPr marL="172747" indent="-172747" defTabSz="913644">
                  <a:defRPr/>
                </a:pPr>
                <a:r>
                  <a:rPr lang="zh-CN" altLang="en-US" sz="1210" dirty="0">
                    <a:solidFill>
                      <a:srgbClr val="000000"/>
                    </a:solidFill>
                    <a:latin typeface="Garamond" panose="02020404030301010803" pitchFamily="18" charset="0"/>
                    <a:ea typeface="KaiTi" panose="02010609060101010101" pitchFamily="49" charset="-122"/>
                  </a:rPr>
                  <a:t>消费和可支配收入呈正相关；</a:t>
                </a:r>
              </a:p>
              <a:p>
                <a:pPr marL="172747" indent="-172747" defTabSz="913644">
                  <a:defRPr/>
                </a:pPr>
                <a:r>
                  <a:rPr lang="zh-CN" altLang="en-US" sz="1210" dirty="0">
                    <a:solidFill>
                      <a:srgbClr val="000000"/>
                    </a:solidFill>
                    <a:latin typeface="Garamond" panose="02020404030301010803" pitchFamily="18" charset="0"/>
                    <a:ea typeface="KaiTi" panose="02010609060101010101" pitchFamily="49" charset="-122"/>
                  </a:rPr>
                  <a:t>当可支配收入变化</a:t>
                </a:r>
                <a:r>
                  <a:rPr lang="en-US" altLang="zh-CN" sz="1210" dirty="0">
                    <a:solidFill>
                      <a:srgbClr val="000000"/>
                    </a:solidFill>
                    <a:latin typeface="Garamond" panose="02020404030301010803" pitchFamily="18" charset="0"/>
                    <a:ea typeface="KaiTi" panose="02010609060101010101" pitchFamily="49" charset="-122"/>
                  </a:rPr>
                  <a:t>1</a:t>
                </a:r>
                <a:r>
                  <a:rPr lang="zh-CN" altLang="en-US" sz="1210" dirty="0">
                    <a:solidFill>
                      <a:srgbClr val="000000"/>
                    </a:solidFill>
                    <a:latin typeface="Garamond" panose="02020404030301010803" pitchFamily="18" charset="0"/>
                    <a:ea typeface="KaiTi" panose="02010609060101010101" pitchFamily="49" charset="-122"/>
                  </a:rPr>
                  <a:t>个单位时，消费的变化量要小于</a:t>
                </a:r>
                <a:r>
                  <a:rPr lang="en-US" altLang="zh-CN" sz="1210" dirty="0">
                    <a:solidFill>
                      <a:srgbClr val="000000"/>
                    </a:solidFill>
                    <a:latin typeface="Garamond" panose="02020404030301010803" pitchFamily="18" charset="0"/>
                    <a:ea typeface="KaiTi" panose="02010609060101010101" pitchFamily="49" charset="-122"/>
                  </a:rPr>
                  <a:t>1</a:t>
                </a:r>
                <a:r>
                  <a:rPr lang="zh-CN" altLang="en-US" sz="1210" dirty="0">
                    <a:solidFill>
                      <a:srgbClr val="000000"/>
                    </a:solidFill>
                    <a:latin typeface="Garamond" panose="02020404030301010803" pitchFamily="18" charset="0"/>
                    <a:ea typeface="KaiTi" panose="02010609060101010101" pitchFamily="49" charset="-122"/>
                  </a:rPr>
                  <a:t>个单位</a:t>
                </a:r>
                <a:endParaRPr lang="en-US" altLang="zh-CN" sz="1210" dirty="0">
                  <a:solidFill>
                    <a:srgbClr val="000000"/>
                  </a:solidFill>
                  <a:latin typeface="Garamond" panose="02020404030301010803" pitchFamily="18" charset="0"/>
                  <a:ea typeface="KaiTi" panose="02010609060101010101" pitchFamily="49" charset="-122"/>
                </a:endParaRPr>
              </a:p>
              <a:p>
                <a:pPr marL="172747" indent="-172747" defTabSz="913644">
                  <a:defRPr/>
                </a:pPr>
                <a:endParaRPr lang="zh-CN" altLang="en-US" sz="1210" dirty="0">
                  <a:solidFill>
                    <a:srgbClr val="000000"/>
                  </a:solidFill>
                  <a:latin typeface="Garamond" panose="02020404030301010803" pitchFamily="18" charset="0"/>
                  <a:ea typeface="KaiTi" panose="02010609060101010101" pitchFamily="49" charset="-122"/>
                </a:endParaRPr>
              </a:p>
              <a:p>
                <a:pPr marL="0" indent="0">
                  <a:buNone/>
                </a:pPr>
                <a:r>
                  <a:rPr lang="zh-CN" altLang="en-US" sz="1210" dirty="0">
                    <a:latin typeface="SimSun" panose="02010600030101010101" pitchFamily="2" charset="-122"/>
                    <a:ea typeface="SimSun" panose="02010600030101010101" pitchFamily="2" charset="-122"/>
                  </a:rPr>
                  <a:t>用公式表达为</a:t>
                </a:r>
                <a:r>
                  <a:rPr lang="zh-CN" altLang="en-US" sz="1210" dirty="0"/>
                  <a:t>：</a:t>
                </a:r>
                <a14:m>
                  <m:oMath xmlns:m="http://schemas.openxmlformats.org/officeDocument/2006/math">
                    <m:r>
                      <a:rPr lang="en-US" altLang="zh-CN" sz="1210" i="1">
                        <a:latin typeface="Cambria Math" panose="02040503050406030204" pitchFamily="18" charset="0"/>
                      </a:rPr>
                      <m:t>𝑐</m:t>
                    </m:r>
                    <m:r>
                      <a:rPr lang="en-US" altLang="zh-CN" sz="1210" i="1">
                        <a:latin typeface="Cambria Math" panose="02040503050406030204" pitchFamily="18" charset="0"/>
                      </a:rPr>
                      <m:t>=</m:t>
                    </m:r>
                    <m:r>
                      <a:rPr lang="zh-CN" altLang="en-US" sz="1210" i="1">
                        <a:latin typeface="Cambria Math" panose="02040503050406030204" pitchFamily="18" charset="0"/>
                      </a:rPr>
                      <m:t>𝛼</m:t>
                    </m:r>
                    <m:r>
                      <a:rPr lang="en-US" altLang="zh-CN" sz="1210" i="1">
                        <a:latin typeface="Cambria Math" panose="02040503050406030204" pitchFamily="18" charset="0"/>
                      </a:rPr>
                      <m:t>+</m:t>
                    </m:r>
                    <m:r>
                      <a:rPr lang="zh-CN" altLang="en-US" sz="1210" i="1">
                        <a:latin typeface="Cambria Math" panose="02040503050406030204" pitchFamily="18" charset="0"/>
                      </a:rPr>
                      <m:t>𝛽</m:t>
                    </m:r>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𝑦</m:t>
                        </m:r>
                      </m:e>
                      <m:sub>
                        <m:r>
                          <a:rPr lang="en-US" altLang="zh-CN" sz="1210" i="1">
                            <a:latin typeface="Cambria Math" panose="02040503050406030204" pitchFamily="18" charset="0"/>
                          </a:rPr>
                          <m:t>𝑑</m:t>
                        </m:r>
                      </m:sub>
                    </m:sSub>
                    <m:r>
                      <a:rPr lang="en-US" altLang="zh-CN" sz="1210" i="1">
                        <a:latin typeface="Cambria Math" panose="02040503050406030204" pitchFamily="18" charset="0"/>
                      </a:rPr>
                      <m:t>(</m:t>
                    </m:r>
                    <m:r>
                      <a:rPr lang="zh-CN" altLang="en-US" sz="1210" i="1">
                        <a:latin typeface="Cambria Math" panose="02040503050406030204" pitchFamily="18" charset="0"/>
                      </a:rPr>
                      <m:t>𝛼</m:t>
                    </m:r>
                    <m:r>
                      <a:rPr lang="en-US" altLang="zh-CN" sz="1210" i="1">
                        <a:latin typeface="Cambria Math" panose="02040503050406030204" pitchFamily="18" charset="0"/>
                      </a:rPr>
                      <m:t>&gt;0, 0&lt;</m:t>
                    </m:r>
                    <m:r>
                      <a:rPr lang="zh-CN" altLang="en-US" sz="1210" i="1">
                        <a:latin typeface="Cambria Math" panose="02040503050406030204" pitchFamily="18" charset="0"/>
                      </a:rPr>
                      <m:t>𝛽</m:t>
                    </m:r>
                    <m:r>
                      <a:rPr lang="en-US" altLang="zh-CN" sz="1210" i="1">
                        <a:latin typeface="Cambria Math" panose="02040503050406030204" pitchFamily="18" charset="0"/>
                      </a:rPr>
                      <m:t>&lt;1)</m:t>
                    </m:r>
                  </m:oMath>
                </a14:m>
                <a:endParaRPr lang="en-US" altLang="zh-CN" sz="1210" dirty="0">
                  <a:latin typeface="SimSun" panose="02010600030101010101" pitchFamily="2" charset="-122"/>
                  <a:ea typeface="SimSun" panose="02010600030101010101" pitchFamily="2" charset="-122"/>
                </a:endParaRPr>
              </a:p>
              <a:p>
                <a:r>
                  <a:rPr lang="zh-CN" altLang="en-US" sz="908" dirty="0">
                    <a:latin typeface="Garamond" panose="02020404030301010803" pitchFamily="18" charset="0"/>
                    <a:ea typeface="KaiTi" panose="02010609060101010101" pitchFamily="49" charset="-122"/>
                  </a:rPr>
                  <a:t>其中，</a:t>
                </a:r>
                <a:r>
                  <a:rPr lang="en-US" altLang="zh-CN" sz="908" dirty="0">
                    <a:latin typeface="Garamond" panose="02020404030301010803" pitchFamily="18" charset="0"/>
                    <a:ea typeface="KaiTi" panose="02010609060101010101" pitchFamily="49" charset="-122"/>
                  </a:rPr>
                  <a:t> </a:t>
                </a:r>
                <a14:m>
                  <m:oMath xmlns:m="http://schemas.openxmlformats.org/officeDocument/2006/math">
                    <m:r>
                      <a:rPr lang="en-US" altLang="zh-CN" sz="908" i="1">
                        <a:latin typeface="Cambria Math" panose="02040503050406030204" pitchFamily="18" charset="0"/>
                      </a:rPr>
                      <m:t>𝑐</m:t>
                    </m:r>
                  </m:oMath>
                </a14:m>
                <a:r>
                  <a:rPr lang="zh-CN" altLang="en-US" sz="908" dirty="0">
                    <a:latin typeface="Garamond" panose="02020404030301010803" pitchFamily="18" charset="0"/>
                    <a:ea typeface="KaiTi" panose="02010609060101010101" pitchFamily="49" charset="-122"/>
                  </a:rPr>
                  <a:t>表示消费，它代表着计划消费量或计划消费支出；</a:t>
                </a:r>
                <a14:m>
                  <m:oMath xmlns:m="http://schemas.openxmlformats.org/officeDocument/2006/math">
                    <m:sSub>
                      <m:sSubPr>
                        <m:ctrlPr>
                          <a:rPr lang="en-US" altLang="zh-CN" sz="908" i="1">
                            <a:latin typeface="Cambria Math" panose="02040503050406030204" pitchFamily="18" charset="0"/>
                          </a:rPr>
                        </m:ctrlPr>
                      </m:sSubPr>
                      <m:e>
                        <m:r>
                          <a:rPr lang="en-US" altLang="zh-CN" sz="908" i="1">
                            <a:latin typeface="Cambria Math" panose="02040503050406030204" pitchFamily="18" charset="0"/>
                          </a:rPr>
                          <m:t>𝑦</m:t>
                        </m:r>
                      </m:e>
                      <m:sub>
                        <m:r>
                          <a:rPr lang="en-US" altLang="zh-CN" sz="908" i="1">
                            <a:latin typeface="Cambria Math" panose="02040503050406030204" pitchFamily="18" charset="0"/>
                          </a:rPr>
                          <m:t>𝑑</m:t>
                        </m:r>
                      </m:sub>
                    </m:sSub>
                    <m:r>
                      <a:rPr lang="zh-CN" altLang="en-US" sz="908" i="1">
                        <a:latin typeface="Cambria Math" panose="02040503050406030204" pitchFamily="18" charset="0"/>
                      </a:rPr>
                      <m:t>代表</m:t>
                    </m:r>
                  </m:oMath>
                </a14:m>
                <a:r>
                  <a:rPr lang="zh-CN" altLang="en-US" sz="908" dirty="0">
                    <a:latin typeface="Garamond" panose="02020404030301010803" pitchFamily="18" charset="0"/>
                    <a:ea typeface="KaiTi" panose="02010609060101010101" pitchFamily="49" charset="-122"/>
                  </a:rPr>
                  <a:t>（个人）可支配收入；</a:t>
                </a:r>
                <a14:m>
                  <m:oMath xmlns:m="http://schemas.openxmlformats.org/officeDocument/2006/math">
                    <m:r>
                      <a:rPr lang="zh-CN" altLang="en-US" sz="908" i="1">
                        <a:latin typeface="Cambria Math" panose="02040503050406030204" pitchFamily="18" charset="0"/>
                      </a:rPr>
                      <m:t>𝛼</m:t>
                    </m:r>
                  </m:oMath>
                </a14:m>
                <a:r>
                  <a:rPr lang="zh-CN" altLang="en-US" sz="908" dirty="0">
                    <a:latin typeface="Garamond" panose="02020404030301010803" pitchFamily="18" charset="0"/>
                    <a:ea typeface="KaiTi" panose="02010609060101010101" pitchFamily="49" charset="-122"/>
                  </a:rPr>
                  <a:t>代表</a:t>
                </a:r>
                <a:r>
                  <a:rPr lang="zh-CN" altLang="en-US" sz="908" b="1" dirty="0">
                    <a:solidFill>
                      <a:srgbClr val="FF0000"/>
                    </a:solidFill>
                    <a:latin typeface="Garamond" panose="02020404030301010803" pitchFamily="18" charset="0"/>
                    <a:ea typeface="KaiTi" panose="02010609060101010101" pitchFamily="49" charset="-122"/>
                  </a:rPr>
                  <a:t>自发性消费</a:t>
                </a:r>
                <a:r>
                  <a:rPr lang="zh-CN" altLang="en-US" sz="908" dirty="0">
                    <a:latin typeface="Garamond" panose="02020404030301010803" pitchFamily="18" charset="0"/>
                    <a:ea typeface="KaiTi" panose="02010609060101010101" pitchFamily="49" charset="-122"/>
                  </a:rPr>
                  <a:t>；</a:t>
                </a:r>
                <a14:m>
                  <m:oMath xmlns:m="http://schemas.openxmlformats.org/officeDocument/2006/math">
                    <m:r>
                      <a:rPr lang="zh-CN" altLang="en-US" sz="908" i="1">
                        <a:latin typeface="Cambria Math" panose="02040503050406030204" pitchFamily="18" charset="0"/>
                      </a:rPr>
                      <m:t>𝛽</m:t>
                    </m:r>
                  </m:oMath>
                </a14:m>
                <a:r>
                  <a:rPr lang="zh-CN" altLang="en-US" sz="908" dirty="0">
                    <a:latin typeface="Garamond" panose="02020404030301010803" pitchFamily="18" charset="0"/>
                    <a:ea typeface="KaiTi" panose="02010609060101010101" pitchFamily="49" charset="-122"/>
                  </a:rPr>
                  <a:t>是边际消费倾向；</a:t>
                </a:r>
                <a14:m>
                  <m:oMath xmlns:m="http://schemas.openxmlformats.org/officeDocument/2006/math">
                    <m:r>
                      <a:rPr lang="zh-CN" altLang="en-US" sz="908" i="1">
                        <a:latin typeface="Cambria Math" panose="02040503050406030204" pitchFamily="18" charset="0"/>
                      </a:rPr>
                      <m:t>𝛽</m:t>
                    </m:r>
                    <m:sSub>
                      <m:sSubPr>
                        <m:ctrlPr>
                          <a:rPr lang="en-US" altLang="zh-CN" sz="908" i="1">
                            <a:latin typeface="Cambria Math" panose="02040503050406030204" pitchFamily="18" charset="0"/>
                          </a:rPr>
                        </m:ctrlPr>
                      </m:sSubPr>
                      <m:e>
                        <m:r>
                          <a:rPr lang="en-US" altLang="zh-CN" sz="908" i="1">
                            <a:latin typeface="Cambria Math" panose="02040503050406030204" pitchFamily="18" charset="0"/>
                          </a:rPr>
                          <m:t>𝑦</m:t>
                        </m:r>
                      </m:e>
                      <m:sub>
                        <m:r>
                          <a:rPr lang="en-US" altLang="zh-CN" sz="908" i="1">
                            <a:latin typeface="Cambria Math" panose="02040503050406030204" pitchFamily="18" charset="0"/>
                          </a:rPr>
                          <m:t>𝑑</m:t>
                        </m:r>
                      </m:sub>
                    </m:sSub>
                    <m:r>
                      <a:rPr lang="en-US" altLang="zh-CN" sz="908" i="1">
                        <a:latin typeface="Cambria Math" panose="02040503050406030204" pitchFamily="18" charset="0"/>
                      </a:rPr>
                      <m:t> </m:t>
                    </m:r>
                  </m:oMath>
                </a14:m>
                <a:r>
                  <a:rPr lang="zh-CN" altLang="en-US" sz="908" dirty="0">
                    <a:latin typeface="Garamond" panose="02020404030301010803" pitchFamily="18" charset="0"/>
                    <a:ea typeface="KaiTi" panose="02010609060101010101" pitchFamily="49" charset="-122"/>
                  </a:rPr>
                  <a:t>是</a:t>
                </a:r>
                <a:r>
                  <a:rPr lang="zh-CN" altLang="en-US" sz="908" b="1" dirty="0">
                    <a:solidFill>
                      <a:srgbClr val="FF0000"/>
                    </a:solidFill>
                    <a:latin typeface="Garamond" panose="02020404030301010803" pitchFamily="18" charset="0"/>
                    <a:ea typeface="KaiTi" panose="02010609060101010101" pitchFamily="49" charset="-122"/>
                  </a:rPr>
                  <a:t>引致消费</a:t>
                </a:r>
                <a:r>
                  <a:rPr lang="zh-CN" altLang="en-US" sz="908" dirty="0">
                    <a:latin typeface="Garamond" panose="02020404030301010803" pitchFamily="18" charset="0"/>
                    <a:ea typeface="KaiTi" panose="02010609060101010101" pitchFamily="49" charset="-122"/>
                  </a:rPr>
                  <a:t>。</a:t>
                </a:r>
                <a:endParaRPr lang="zh-CN" altLang="en-US" sz="1210" dirty="0">
                  <a:solidFill>
                    <a:srgbClr val="000000"/>
                  </a:solidFill>
                  <a:latin typeface="Garamond" panose="02020404030301010803" pitchFamily="18" charset="0"/>
                  <a:ea typeface="SimSun" panose="02010600030101010101" pitchFamily="2" charset="-122"/>
                </a:endParaRPr>
              </a:p>
            </p:txBody>
          </p:sp>
        </mc:Choice>
        <mc:Fallback xmlns="">
          <p:sp>
            <p:nvSpPr>
              <p:cNvPr id="2" name="内容占位符 2">
                <a:extLst>
                  <a:ext uri="{FF2B5EF4-FFF2-40B4-BE49-F238E27FC236}">
                    <a16:creationId xmlns:a16="http://schemas.microsoft.com/office/drawing/2014/main" id="{A424EDBF-0FFB-6024-1A57-071919C5FAB7}"/>
                  </a:ext>
                </a:extLst>
              </p:cNvPr>
              <p:cNvSpPr txBox="1">
                <a:spLocks noRot="1" noChangeAspect="1" noMove="1" noResize="1" noEditPoints="1" noAdjustHandles="1" noChangeArrowheads="1" noChangeShapeType="1" noTextEdit="1"/>
              </p:cNvSpPr>
              <p:nvPr/>
            </p:nvSpPr>
            <p:spPr>
              <a:xfrm>
                <a:off x="225756" y="589982"/>
                <a:ext cx="3972563" cy="2435348"/>
              </a:xfrm>
              <a:prstGeom prst="rect">
                <a:avLst/>
              </a:prstGeom>
              <a:blipFill>
                <a:blip r:embed="rId3"/>
                <a:stretch>
                  <a:fillRect l="-318" t="-518"/>
                </a:stretch>
              </a:blipFill>
            </p:spPr>
            <p:txBody>
              <a:bodyPr/>
              <a:lstStyle/>
              <a:p>
                <a:r>
                  <a:rPr lang="zh-CN" altLang="en-US">
                    <a:noFill/>
                  </a:rPr>
                  <a:t> </a:t>
                </a:r>
              </a:p>
            </p:txBody>
          </p:sp>
        </mc:Fallback>
      </mc:AlternateContent>
      <p:sp>
        <p:nvSpPr>
          <p:cNvPr id="3" name="矩形 2">
            <a:extLst>
              <a:ext uri="{FF2B5EF4-FFF2-40B4-BE49-F238E27FC236}">
                <a16:creationId xmlns:a16="http://schemas.microsoft.com/office/drawing/2014/main" id="{76135776-B3D7-B0FB-4695-62BAF380E2D0}"/>
              </a:ext>
            </a:extLst>
          </p:cNvPr>
          <p:cNvSpPr/>
          <p:nvPr/>
        </p:nvSpPr>
        <p:spPr>
          <a:xfrm>
            <a:off x="909888" y="1135915"/>
            <a:ext cx="782504" cy="242637"/>
          </a:xfrm>
          <a:prstGeom prst="rect">
            <a:avLst/>
          </a:prstGeom>
          <a:noFill/>
          <a:ln w="254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sz="908"/>
          </a:p>
        </p:txBody>
      </p:sp>
      <p:sp>
        <p:nvSpPr>
          <p:cNvPr id="5" name="矩形 4">
            <a:extLst>
              <a:ext uri="{FF2B5EF4-FFF2-40B4-BE49-F238E27FC236}">
                <a16:creationId xmlns:a16="http://schemas.microsoft.com/office/drawing/2014/main" id="{FB503A6D-C5D6-C5C9-EC7D-851EF42A2DE3}"/>
              </a:ext>
            </a:extLst>
          </p:cNvPr>
          <p:cNvSpPr/>
          <p:nvPr/>
        </p:nvSpPr>
        <p:spPr>
          <a:xfrm>
            <a:off x="1602343" y="2177231"/>
            <a:ext cx="150708" cy="242637"/>
          </a:xfrm>
          <a:prstGeom prst="rect">
            <a:avLst/>
          </a:prstGeom>
          <a:noFill/>
          <a:ln w="254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sz="908"/>
          </a:p>
        </p:txBody>
      </p:sp>
      <p:sp>
        <p:nvSpPr>
          <p:cNvPr id="7" name="矩形 6">
            <a:extLst>
              <a:ext uri="{FF2B5EF4-FFF2-40B4-BE49-F238E27FC236}">
                <a16:creationId xmlns:a16="http://schemas.microsoft.com/office/drawing/2014/main" id="{8DA578AC-1FCA-0CE3-98D8-C26F2124C05D}"/>
              </a:ext>
            </a:extLst>
          </p:cNvPr>
          <p:cNvSpPr/>
          <p:nvPr/>
        </p:nvSpPr>
        <p:spPr>
          <a:xfrm>
            <a:off x="1846931" y="2177231"/>
            <a:ext cx="150708" cy="242637"/>
          </a:xfrm>
          <a:prstGeom prst="rect">
            <a:avLst/>
          </a:prstGeom>
          <a:noFill/>
          <a:ln w="254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sz="908"/>
          </a:p>
        </p:txBody>
      </p:sp>
      <p:sp>
        <p:nvSpPr>
          <p:cNvPr id="6" name="页脚占位符 1">
            <a:extLst>
              <a:ext uri="{FF2B5EF4-FFF2-40B4-BE49-F238E27FC236}">
                <a16:creationId xmlns:a16="http://schemas.microsoft.com/office/drawing/2014/main" id="{D5C944F6-D723-C5F0-0A00-F40EB87EBA03}"/>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53162424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38</a:t>
            </a:fld>
            <a:endParaRPr lang="zh-CN" altLang="zh-CN" sz="856">
              <a:solidFill>
                <a:srgbClr val="777777"/>
              </a:solidFill>
              <a:ea typeface="宋体" panose="02010600030101010101" pitchFamily="2" charset="-122"/>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r>
              <a:rPr kumimoji="1" lang="zh-CN" altLang="en-US" b="0" dirty="0">
                <a:latin typeface="Microsoft YaHei" panose="020B0503020204020204" pitchFamily="34" charset="-122"/>
                <a:ea typeface="Microsoft YaHei" panose="020B0503020204020204" pitchFamily="34" charset="-122"/>
              </a:rPr>
              <a:t>消费函数</a:t>
            </a:r>
            <a:r>
              <a:rPr kumimoji="1" lang="en" altLang="zh-CN" b="0" dirty="0">
                <a:latin typeface="Microsoft YaHei" panose="020B0503020204020204" pitchFamily="34" charset="-122"/>
                <a:ea typeface="Microsoft YaHei" panose="020B0503020204020204" pitchFamily="34" charset="-122"/>
              </a:rPr>
              <a:t>consumption function</a:t>
            </a:r>
            <a:endParaRPr kumimoji="1" lang="zh-CN" altLang="en-US" b="0" dirty="0">
              <a:latin typeface="Microsoft YaHei" panose="020B0503020204020204" pitchFamily="34" charset="-122"/>
              <a:ea typeface="Microsoft YaHei" panose="020B0503020204020204" pitchFamily="34" charset="-122"/>
            </a:endParaRP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0193" y="131115"/>
            <a:ext cx="191912" cy="159926"/>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0659" eaLnBrk="1" fontAlgn="base" hangingPunct="1">
              <a:spcBef>
                <a:spcPct val="0"/>
              </a:spcBef>
              <a:spcAft>
                <a:spcPct val="0"/>
              </a:spcAft>
              <a:defRPr/>
            </a:pPr>
            <a:r>
              <a:rPr lang="en-US" altLang="zh-CN" sz="705" b="1">
                <a:solidFill>
                  <a:srgbClr val="000000"/>
                </a:solidFill>
                <a:latin typeface="Tahoma" panose="020B0604030504040204" pitchFamily="34" charset="0"/>
                <a:ea typeface="宋体" panose="02010600030101010101" pitchFamily="2" charset="-122"/>
              </a:rPr>
              <a:t>0</a:t>
            </a:r>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A424EDBF-0FFB-6024-1A57-071919C5FAB7}"/>
                  </a:ext>
                </a:extLst>
              </p:cNvPr>
              <p:cNvSpPr txBox="1">
                <a:spLocks/>
              </p:cNvSpPr>
              <p:nvPr/>
            </p:nvSpPr>
            <p:spPr>
              <a:xfrm>
                <a:off x="225756" y="589982"/>
                <a:ext cx="3972563" cy="2435348"/>
              </a:xfrm>
              <a:prstGeom prst="rect">
                <a:avLst/>
              </a:prstGeom>
            </p:spPr>
            <p:txBody>
              <a:bodyPr/>
              <a:lst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a:lstStyle>
              <a:p>
                <a:pPr marL="172747" indent="-172747" defTabSz="913644">
                  <a:defRPr/>
                </a:pPr>
                <a:r>
                  <a:rPr lang="zh-CN" altLang="en-US" sz="1399" b="1" dirty="0">
                    <a:solidFill>
                      <a:srgbClr val="000000"/>
                    </a:solidFill>
                    <a:latin typeface="Garamond" panose="02020404030301010803" pitchFamily="18" charset="0"/>
                    <a:ea typeface="SimSun" panose="02010600030101010101" pitchFamily="2" charset="-122"/>
                  </a:rPr>
                  <a:t>边际消费倾向</a:t>
                </a:r>
                <a:r>
                  <a:rPr lang="en-US" altLang="zh-CN" sz="1399" dirty="0">
                    <a:solidFill>
                      <a:srgbClr val="000000"/>
                    </a:solidFill>
                    <a:latin typeface="Garamond" panose="02020404030301010803" pitchFamily="18" charset="0"/>
                    <a:ea typeface="SimSun" panose="02010600030101010101" pitchFamily="2" charset="-122"/>
                  </a:rPr>
                  <a:t>(marginal propensity to consume, MPC)</a:t>
                </a:r>
                <a:r>
                  <a:rPr lang="zh-CN" altLang="en-US" sz="1399" dirty="0">
                    <a:solidFill>
                      <a:srgbClr val="000000"/>
                    </a:solidFill>
                    <a:latin typeface="Garamond" panose="02020404030301010803" pitchFamily="18" charset="0"/>
                    <a:ea typeface="SimSun" panose="02010600030101010101" pitchFamily="2" charset="-122"/>
                  </a:rPr>
                  <a:t>是指收入每增加一个单位所引起的消费的增加量。</a:t>
                </a:r>
              </a:p>
              <a:p>
                <a:pPr marL="172747" indent="-172747" defTabSz="913644">
                  <a:defRPr/>
                </a:pPr>
                <a14:m>
                  <m:oMath xmlns:m="http://schemas.openxmlformats.org/officeDocument/2006/math">
                    <m:r>
                      <a:rPr lang="zh-CN" altLang="en-US" sz="1399" i="1" dirty="0">
                        <a:solidFill>
                          <a:srgbClr val="000000"/>
                        </a:solidFill>
                        <a:latin typeface="Cambria Math" panose="02040503050406030204" pitchFamily="18" charset="0"/>
                        <a:ea typeface="SimSun" panose="02010600030101010101" pitchFamily="2" charset="-122"/>
                      </a:rPr>
                      <m:t>𝑀𝑃𝐶</m:t>
                    </m:r>
                    <m:r>
                      <a:rPr lang="en-US" altLang="zh-CN" sz="1399" i="1" dirty="0">
                        <a:solidFill>
                          <a:srgbClr val="000000"/>
                        </a:solidFill>
                        <a:latin typeface="Cambria Math" panose="02040503050406030204" pitchFamily="18" charset="0"/>
                        <a:ea typeface="SimSun" panose="02010600030101010101" pitchFamily="2" charset="-122"/>
                      </a:rPr>
                      <m:t>=∆</m:t>
                    </m:r>
                    <m:r>
                      <a:rPr lang="en-US" altLang="zh-CN" sz="1399" i="1" dirty="0">
                        <a:solidFill>
                          <a:srgbClr val="000000"/>
                        </a:solidFill>
                        <a:latin typeface="Cambria Math" panose="02040503050406030204" pitchFamily="18" charset="0"/>
                        <a:ea typeface="SimSun" panose="02010600030101010101" pitchFamily="2" charset="-122"/>
                      </a:rPr>
                      <m:t>𝑐</m:t>
                    </m:r>
                    <m:r>
                      <a:rPr lang="en-US" altLang="zh-CN" sz="1399" i="1" dirty="0">
                        <a:solidFill>
                          <a:srgbClr val="000000"/>
                        </a:solidFill>
                        <a:latin typeface="Cambria Math" panose="02040503050406030204" pitchFamily="18" charset="0"/>
                        <a:ea typeface="SimSun" panose="02010600030101010101" pitchFamily="2" charset="-122"/>
                      </a:rPr>
                      <m:t>/∆</m:t>
                    </m:r>
                    <m:sSub>
                      <m:sSubPr>
                        <m:ctrlPr>
                          <a:rPr lang="en-US" altLang="zh-CN" sz="1399" i="1" dirty="0">
                            <a:solidFill>
                              <a:srgbClr val="000000"/>
                            </a:solidFill>
                            <a:latin typeface="Cambria Math" panose="02040503050406030204" pitchFamily="18" charset="0"/>
                            <a:ea typeface="SimSun" panose="02010600030101010101" pitchFamily="2" charset="-122"/>
                          </a:rPr>
                        </m:ctrlPr>
                      </m:sSubPr>
                      <m:e>
                        <m:r>
                          <a:rPr lang="en-US" altLang="zh-CN" sz="1399" i="1" dirty="0">
                            <a:solidFill>
                              <a:srgbClr val="000000"/>
                            </a:solidFill>
                            <a:latin typeface="Cambria Math" panose="02040503050406030204" pitchFamily="18" charset="0"/>
                            <a:ea typeface="SimSun" panose="02010600030101010101" pitchFamily="2" charset="-122"/>
                          </a:rPr>
                          <m:t>𝑦</m:t>
                        </m:r>
                      </m:e>
                      <m:sub>
                        <m:r>
                          <a:rPr lang="en-US" altLang="zh-CN" sz="1399" i="1" dirty="0">
                            <a:solidFill>
                              <a:srgbClr val="000000"/>
                            </a:solidFill>
                            <a:latin typeface="Cambria Math" panose="02040503050406030204" pitchFamily="18" charset="0"/>
                            <a:ea typeface="SimSun" panose="02010600030101010101" pitchFamily="2" charset="-122"/>
                          </a:rPr>
                          <m:t>𝑑</m:t>
                        </m:r>
                      </m:sub>
                    </m:sSub>
                  </m:oMath>
                </a14:m>
                <a:endParaRPr lang="en-US" altLang="zh-CN" sz="1399" dirty="0">
                  <a:solidFill>
                    <a:srgbClr val="000000"/>
                  </a:solidFill>
                  <a:latin typeface="Garamond" panose="02020404030301010803" pitchFamily="18" charset="0"/>
                  <a:ea typeface="SimSun" panose="02010600030101010101" pitchFamily="2" charset="-122"/>
                </a:endParaRPr>
              </a:p>
              <a:p>
                <a:pPr marL="172747" indent="-172747" defTabSz="913644">
                  <a:defRPr/>
                </a:pPr>
                <a:r>
                  <a:rPr lang="zh-CN" altLang="en-US" sz="1399" b="1" dirty="0">
                    <a:solidFill>
                      <a:srgbClr val="000000"/>
                    </a:solidFill>
                    <a:latin typeface="Garamond" panose="02020404030301010803" pitchFamily="18" charset="0"/>
                    <a:ea typeface="SimSun" panose="02010600030101010101" pitchFamily="2" charset="-122"/>
                  </a:rPr>
                  <a:t>平均消费倾向</a:t>
                </a:r>
                <a:r>
                  <a:rPr lang="en-US" altLang="zh-CN" sz="1399" dirty="0">
                    <a:solidFill>
                      <a:srgbClr val="000000"/>
                    </a:solidFill>
                    <a:latin typeface="Garamond" panose="02020404030301010803" pitchFamily="18" charset="0"/>
                    <a:ea typeface="SimSun" panose="02010600030101010101" pitchFamily="2" charset="-122"/>
                  </a:rPr>
                  <a:t>(average propensity to consume, APC)</a:t>
                </a:r>
                <a:r>
                  <a:rPr lang="zh-CN" altLang="en-US" sz="1399" dirty="0">
                    <a:solidFill>
                      <a:srgbClr val="000000"/>
                    </a:solidFill>
                    <a:latin typeface="Garamond" panose="02020404030301010803" pitchFamily="18" charset="0"/>
                    <a:ea typeface="SimSun" panose="02010600030101010101" pitchFamily="2" charset="-122"/>
                  </a:rPr>
                  <a:t>是指消费总量与可支配收入总量之比。</a:t>
                </a:r>
              </a:p>
              <a:p>
                <a:pPr marL="172747" indent="-172747" defTabSz="913644">
                  <a:defRPr/>
                </a:pPr>
                <a14:m>
                  <m:oMath xmlns:m="http://schemas.openxmlformats.org/officeDocument/2006/math">
                    <m:r>
                      <a:rPr lang="zh-CN" altLang="en-US" sz="1399" i="1" dirty="0">
                        <a:solidFill>
                          <a:srgbClr val="000000"/>
                        </a:solidFill>
                        <a:latin typeface="Cambria Math" panose="02040503050406030204" pitchFamily="18" charset="0"/>
                        <a:ea typeface="SimSun" panose="02010600030101010101" pitchFamily="2" charset="-122"/>
                      </a:rPr>
                      <m:t>𝐴𝑃𝐶</m:t>
                    </m:r>
                    <m:r>
                      <a:rPr lang="en-US" altLang="zh-CN" sz="1399" i="1" dirty="0">
                        <a:solidFill>
                          <a:srgbClr val="000000"/>
                        </a:solidFill>
                        <a:latin typeface="Cambria Math" panose="02040503050406030204" pitchFamily="18" charset="0"/>
                        <a:ea typeface="SimSun" panose="02010600030101010101" pitchFamily="2" charset="-122"/>
                      </a:rPr>
                      <m:t>=</m:t>
                    </m:r>
                    <m:r>
                      <a:rPr lang="en-US" altLang="zh-CN" sz="1399" i="1" dirty="0">
                        <a:solidFill>
                          <a:srgbClr val="000000"/>
                        </a:solidFill>
                        <a:latin typeface="Cambria Math" panose="02040503050406030204" pitchFamily="18" charset="0"/>
                        <a:ea typeface="SimSun" panose="02010600030101010101" pitchFamily="2" charset="-122"/>
                      </a:rPr>
                      <m:t>𝑐</m:t>
                    </m:r>
                    <m:r>
                      <a:rPr lang="en-US" altLang="zh-CN" sz="1399" i="1" dirty="0">
                        <a:solidFill>
                          <a:srgbClr val="000000"/>
                        </a:solidFill>
                        <a:latin typeface="Cambria Math" panose="02040503050406030204" pitchFamily="18" charset="0"/>
                        <a:ea typeface="SimSun" panose="02010600030101010101" pitchFamily="2" charset="-122"/>
                      </a:rPr>
                      <m:t>/</m:t>
                    </m:r>
                    <m:sSub>
                      <m:sSubPr>
                        <m:ctrlPr>
                          <a:rPr lang="en-US" altLang="zh-CN" sz="1399" i="1" dirty="0">
                            <a:solidFill>
                              <a:srgbClr val="000000"/>
                            </a:solidFill>
                            <a:latin typeface="Cambria Math" panose="02040503050406030204" pitchFamily="18" charset="0"/>
                            <a:ea typeface="SimSun" panose="02010600030101010101" pitchFamily="2" charset="-122"/>
                          </a:rPr>
                        </m:ctrlPr>
                      </m:sSubPr>
                      <m:e>
                        <m:r>
                          <a:rPr lang="en-US" altLang="zh-CN" sz="1399" i="1" dirty="0">
                            <a:solidFill>
                              <a:srgbClr val="000000"/>
                            </a:solidFill>
                            <a:latin typeface="Cambria Math" panose="02040503050406030204" pitchFamily="18" charset="0"/>
                            <a:ea typeface="SimSun" panose="02010600030101010101" pitchFamily="2" charset="-122"/>
                          </a:rPr>
                          <m:t>𝑦</m:t>
                        </m:r>
                      </m:e>
                      <m:sub>
                        <m:r>
                          <a:rPr lang="en-US" altLang="zh-CN" sz="1399" i="1" dirty="0">
                            <a:solidFill>
                              <a:srgbClr val="000000"/>
                            </a:solidFill>
                            <a:latin typeface="Cambria Math" panose="02040503050406030204" pitchFamily="18" charset="0"/>
                            <a:ea typeface="SimSun" panose="02010600030101010101" pitchFamily="2" charset="-122"/>
                          </a:rPr>
                          <m:t>𝑑</m:t>
                        </m:r>
                      </m:sub>
                    </m:sSub>
                  </m:oMath>
                </a14:m>
                <a:endParaRPr lang="en-US" altLang="zh-CN" sz="1399" dirty="0">
                  <a:solidFill>
                    <a:srgbClr val="000000"/>
                  </a:solidFill>
                  <a:latin typeface="Garamond" panose="02020404030301010803" pitchFamily="18" charset="0"/>
                  <a:ea typeface="SimSun" panose="02010600030101010101" pitchFamily="2" charset="-122"/>
                </a:endParaRPr>
              </a:p>
              <a:p>
                <a:pPr marL="172747" indent="-172747" defTabSz="913644">
                  <a:defRPr/>
                </a:pPr>
                <a:endParaRPr lang="en-US" altLang="zh-CN" sz="1399" dirty="0">
                  <a:solidFill>
                    <a:srgbClr val="000000"/>
                  </a:solidFill>
                  <a:latin typeface="Garamond" panose="02020404030301010803" pitchFamily="18" charset="0"/>
                  <a:ea typeface="SimSun" panose="02010600030101010101" pitchFamily="2" charset="-122"/>
                </a:endParaRPr>
              </a:p>
              <a:p>
                <a:pPr marL="172747" indent="-172747" defTabSz="913644">
                  <a:defRPr/>
                </a:pPr>
                <a:endParaRPr lang="en-US" altLang="zh-CN" sz="1399" dirty="0">
                  <a:solidFill>
                    <a:srgbClr val="000000"/>
                  </a:solidFill>
                  <a:latin typeface="Garamond" panose="02020404030301010803" pitchFamily="18" charset="0"/>
                  <a:ea typeface="SimSun" panose="02010600030101010101" pitchFamily="2" charset="-122"/>
                </a:endParaRPr>
              </a:p>
            </p:txBody>
          </p:sp>
        </mc:Choice>
        <mc:Fallback xmlns="">
          <p:sp>
            <p:nvSpPr>
              <p:cNvPr id="2" name="内容占位符 2">
                <a:extLst>
                  <a:ext uri="{FF2B5EF4-FFF2-40B4-BE49-F238E27FC236}">
                    <a16:creationId xmlns:a16="http://schemas.microsoft.com/office/drawing/2014/main" id="{A424EDBF-0FFB-6024-1A57-071919C5FAB7}"/>
                  </a:ext>
                </a:extLst>
              </p:cNvPr>
              <p:cNvSpPr txBox="1">
                <a:spLocks noRot="1" noChangeAspect="1" noMove="1" noResize="1" noEditPoints="1" noAdjustHandles="1" noChangeArrowheads="1" noChangeShapeType="1" noTextEdit="1"/>
              </p:cNvSpPr>
              <p:nvPr/>
            </p:nvSpPr>
            <p:spPr>
              <a:xfrm>
                <a:off x="225756" y="589982"/>
                <a:ext cx="3972563" cy="2435348"/>
              </a:xfrm>
              <a:prstGeom prst="rect">
                <a:avLst/>
              </a:prstGeom>
              <a:blipFill>
                <a:blip r:embed="rId3"/>
                <a:stretch>
                  <a:fillRect l="-637" t="-1554" r="-318"/>
                </a:stretch>
              </a:blipFill>
            </p:spPr>
            <p:txBody>
              <a:bodyPr/>
              <a:lstStyle/>
              <a:p>
                <a:r>
                  <a:rPr lang="zh-CN" altLang="en-US">
                    <a:noFill/>
                  </a:rPr>
                  <a:t> </a:t>
                </a:r>
              </a:p>
            </p:txBody>
          </p:sp>
        </mc:Fallback>
      </mc:AlternateContent>
      <p:sp>
        <p:nvSpPr>
          <p:cNvPr id="3" name="页脚占位符 1">
            <a:extLst>
              <a:ext uri="{FF2B5EF4-FFF2-40B4-BE49-F238E27FC236}">
                <a16:creationId xmlns:a16="http://schemas.microsoft.com/office/drawing/2014/main" id="{0DB75199-E271-CF7A-825E-646654D63107}"/>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435069545"/>
      </p:ext>
    </p:extLst>
  </p:cSld>
  <p:clrMapOvr>
    <a:masterClrMapping/>
  </p:clrMapOvr>
  <p:transition>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4"/>
          <p:cNvSpPr>
            <a:spLocks noChangeArrowheads="1"/>
          </p:cNvSpPr>
          <p:nvPr/>
        </p:nvSpPr>
        <p:spPr bwMode="auto">
          <a:xfrm>
            <a:off x="1605085" y="1288950"/>
            <a:ext cx="1497526" cy="231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defTabSz="230520">
              <a:defRPr/>
            </a:pPr>
            <a:r>
              <a:rPr lang="zh-CN" altLang="en-US" sz="907" b="1">
                <a:solidFill>
                  <a:prstClr val="white"/>
                </a:solidFill>
                <a:latin typeface="Calibri" panose="020F0502020204030204"/>
                <a:ea typeface="等线" panose="02010600030101010101" pitchFamily="2" charset="-122"/>
              </a:rPr>
              <a:t>第二节 凯恩斯的消费理论</a:t>
            </a:r>
          </a:p>
        </p:txBody>
      </p:sp>
      <p:graphicFrame>
        <p:nvGraphicFramePr>
          <p:cNvPr id="27701" name="Group 53"/>
          <p:cNvGraphicFramePr>
            <a:graphicFrameLocks noGrp="1"/>
          </p:cNvGraphicFramePr>
          <p:nvPr>
            <p:ph idx="1"/>
          </p:nvPr>
        </p:nvGraphicFramePr>
        <p:xfrm>
          <a:off x="324858" y="673763"/>
          <a:ext cx="3960387" cy="2526252"/>
        </p:xfrm>
        <a:graphic>
          <a:graphicData uri="http://schemas.openxmlformats.org/drawingml/2006/table">
            <a:tbl>
              <a:tblPr/>
              <a:tblGrid>
                <a:gridCol w="330275">
                  <a:extLst>
                    <a:ext uri="{9D8B030D-6E8A-4147-A177-3AD203B41FA5}">
                      <a16:colId xmlns:a16="http://schemas.microsoft.com/office/drawing/2014/main" val="3756052548"/>
                    </a:ext>
                  </a:extLst>
                </a:gridCol>
                <a:gridCol w="907528">
                  <a:extLst>
                    <a:ext uri="{9D8B030D-6E8A-4147-A177-3AD203B41FA5}">
                      <a16:colId xmlns:a16="http://schemas.microsoft.com/office/drawing/2014/main" val="3571782157"/>
                    </a:ext>
                  </a:extLst>
                </a:gridCol>
                <a:gridCol w="907528">
                  <a:extLst>
                    <a:ext uri="{9D8B030D-6E8A-4147-A177-3AD203B41FA5}">
                      <a16:colId xmlns:a16="http://schemas.microsoft.com/office/drawing/2014/main" val="673698497"/>
                    </a:ext>
                  </a:extLst>
                </a:gridCol>
                <a:gridCol w="907528">
                  <a:extLst>
                    <a:ext uri="{9D8B030D-6E8A-4147-A177-3AD203B41FA5}">
                      <a16:colId xmlns:a16="http://schemas.microsoft.com/office/drawing/2014/main" val="3691878377"/>
                    </a:ext>
                  </a:extLst>
                </a:gridCol>
                <a:gridCol w="907528">
                  <a:extLst>
                    <a:ext uri="{9D8B030D-6E8A-4147-A177-3AD203B41FA5}">
                      <a16:colId xmlns:a16="http://schemas.microsoft.com/office/drawing/2014/main" val="1324014156"/>
                    </a:ext>
                  </a:extLst>
                </a:gridCol>
              </a:tblGrid>
              <a:tr h="350326">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txBody>
                  <a:tcPr marL="46059" marR="46059" marT="23030" marB="230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r>
                        <a:rPr kumimoji="0" lang="en-US" altLang="zh-CN"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1</a:t>
                      </a:r>
                      <a:r>
                        <a:rPr kumimoji="0" lang="zh-CN" altLang="en-US"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收入</a:t>
                      </a: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r>
                        <a:rPr kumimoji="0" lang="en-US" altLang="zh-CN"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2</a:t>
                      </a:r>
                      <a:r>
                        <a:rPr kumimoji="0" lang="zh-CN" altLang="en-US"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消费</a:t>
                      </a: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r>
                        <a:rPr kumimoji="0" lang="en-US" altLang="zh-CN"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3</a:t>
                      </a:r>
                      <a:r>
                        <a:rPr kumimoji="0" lang="zh-CN" altLang="en-US"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边际消费倾向</a:t>
                      </a: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r>
                        <a:rPr kumimoji="0" lang="en-US" altLang="zh-CN"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4</a:t>
                      </a:r>
                      <a:r>
                        <a:rPr kumimoji="0" lang="zh-CN" altLang="en-US"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平均消费倾向</a:t>
                      </a:r>
                      <a:endParaRPr kumimoji="0" lang="en-US" altLang="zh-CN" sz="900" b="0"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txBody>
                  <a:tcPr marL="46059" marR="46059" marT="23030" marB="230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extLst>
                  <a:ext uri="{0D108BD9-81ED-4DB2-BD59-A6C34878D82A}">
                    <a16:rowId xmlns:a16="http://schemas.microsoft.com/office/drawing/2014/main" val="4160617640"/>
                  </a:ext>
                </a:extLst>
              </a:tr>
              <a:tr h="2175926">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A</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B</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C</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D</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E</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F</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G</a:t>
                      </a:r>
                    </a:p>
                  </a:txBody>
                  <a:tcPr marL="46059" marR="46059" marT="23030" marB="230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9000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10000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11000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12000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13000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14000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15000</a:t>
                      </a: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9110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10000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10850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11600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12240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12830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13360</a:t>
                      </a: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46059" marR="46059" marT="23030" marB="230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69600470"/>
                  </a:ext>
                </a:extLst>
              </a:tr>
            </a:tbl>
          </a:graphicData>
        </a:graphic>
      </p:graphicFrame>
      <p:sp>
        <p:nvSpPr>
          <p:cNvPr id="27700" name="Text Box 52"/>
          <p:cNvSpPr txBox="1">
            <a:spLocks noChangeArrowheads="1"/>
          </p:cNvSpPr>
          <p:nvPr/>
        </p:nvSpPr>
        <p:spPr bwMode="auto">
          <a:xfrm>
            <a:off x="312852" y="426451"/>
            <a:ext cx="3960385" cy="247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defTabSz="230520">
              <a:spcBef>
                <a:spcPct val="50000"/>
              </a:spcBef>
              <a:defRPr/>
            </a:pPr>
            <a:r>
              <a:rPr lang="zh-CN" altLang="en-US" sz="1007" b="1" dirty="0">
                <a:solidFill>
                  <a:prstClr val="black"/>
                </a:solidFill>
                <a:latin typeface="KaiTi" panose="02010609060101010101" pitchFamily="49" charset="-122"/>
                <a:ea typeface="KaiTi" panose="02010609060101010101" pitchFamily="49" charset="-122"/>
              </a:rPr>
              <a:t>表</a:t>
            </a:r>
            <a:r>
              <a:rPr lang="en-US" altLang="zh-CN" sz="1007" b="1" dirty="0">
                <a:solidFill>
                  <a:prstClr val="black"/>
                </a:solidFill>
                <a:latin typeface="KaiTi" panose="02010609060101010101" pitchFamily="49" charset="-122"/>
                <a:ea typeface="KaiTi" panose="02010609060101010101" pitchFamily="49" charset="-122"/>
              </a:rPr>
              <a:t>1:</a:t>
            </a:r>
            <a:r>
              <a:rPr lang="zh-CN" altLang="en-US" sz="1007" b="1" dirty="0">
                <a:solidFill>
                  <a:prstClr val="black"/>
                </a:solidFill>
                <a:latin typeface="KaiTi" panose="02010609060101010101" pitchFamily="49" charset="-122"/>
                <a:ea typeface="KaiTi" panose="02010609060101010101" pitchFamily="49" charset="-122"/>
              </a:rPr>
              <a:t>某家庭消费函数（单位：元）</a:t>
            </a:r>
            <a:endParaRPr lang="en-US" altLang="zh-CN" sz="1007" b="1" dirty="0">
              <a:solidFill>
                <a:prstClr val="black"/>
              </a:solidFill>
              <a:latin typeface="KaiTi" panose="02010609060101010101" pitchFamily="49" charset="-122"/>
              <a:ea typeface="KaiTi" panose="02010609060101010101" pitchFamily="49" charset="-122"/>
            </a:endParaRPr>
          </a:p>
        </p:txBody>
      </p:sp>
      <p:sp>
        <p:nvSpPr>
          <p:cNvPr id="2" name="灯片编号占位符 2">
            <a:extLst>
              <a:ext uri="{FF2B5EF4-FFF2-40B4-BE49-F238E27FC236}">
                <a16:creationId xmlns:a16="http://schemas.microsoft.com/office/drawing/2014/main" id="{6AD332F9-3338-A6D2-83C4-DFC10E26DF71}"/>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39</a:t>
            </a:fld>
            <a:endParaRPr lang="zh-CN" altLang="zh-CN" sz="856">
              <a:solidFill>
                <a:srgbClr val="777777"/>
              </a:solidFill>
              <a:ea typeface="宋体" panose="02010600030101010101" pitchFamily="2" charset="-122"/>
            </a:endParaRPr>
          </a:p>
        </p:txBody>
      </p:sp>
      <p:sp>
        <p:nvSpPr>
          <p:cNvPr id="3" name="Rectangle 2">
            <a:extLst>
              <a:ext uri="{FF2B5EF4-FFF2-40B4-BE49-F238E27FC236}">
                <a16:creationId xmlns:a16="http://schemas.microsoft.com/office/drawing/2014/main" id="{CFA78A75-4F10-97A4-5895-F2BDC84BE20C}"/>
              </a:ext>
            </a:extLst>
          </p:cNvPr>
          <p:cNvSpPr txBox="1">
            <a:spLocks noChangeArrowheads="1"/>
          </p:cNvSpPr>
          <p:nvPr/>
        </p:nvSpPr>
        <p:spPr bwMode="auto">
          <a:xfrm>
            <a:off x="172879" y="128847"/>
            <a:ext cx="4240332" cy="343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6101" tIns="23051" rIns="46101" bIns="23051" numCol="1" anchor="ctr" anchorCtr="0" compatLnSpc="1">
            <a:prstTxWarp prst="textNoShape">
              <a:avLst/>
            </a:prstTxWarp>
          </a:bodyPr>
          <a:lstStyle>
            <a:lvl1pPr algn="ctr" rtl="0" eaLnBrk="0" fontAlgn="base" hangingPunct="0">
              <a:spcBef>
                <a:spcPct val="0"/>
              </a:spcBef>
              <a:spcAft>
                <a:spcPct val="0"/>
              </a:spcAft>
              <a:defRPr sz="3797" b="1" kern="1200">
                <a:solidFill>
                  <a:srgbClr val="333399"/>
                </a:solidFill>
                <a:latin typeface="+mj-lt"/>
                <a:ea typeface="+mj-ea"/>
                <a:cs typeface="+mj-cs"/>
              </a:defRPr>
            </a:lvl1pPr>
            <a:lvl2pPr algn="ctr" rtl="0" eaLnBrk="0" fontAlgn="base" hangingPunct="0">
              <a:spcBef>
                <a:spcPct val="0"/>
              </a:spcBef>
              <a:spcAft>
                <a:spcPct val="0"/>
              </a:spcAft>
              <a:defRPr sz="3797" b="1">
                <a:solidFill>
                  <a:srgbClr val="333399"/>
                </a:solidFill>
                <a:latin typeface="Book Antiqua" panose="02040602050305030304" pitchFamily="18" charset="0"/>
              </a:defRPr>
            </a:lvl2pPr>
            <a:lvl3pPr algn="ctr" rtl="0" eaLnBrk="0" fontAlgn="base" hangingPunct="0">
              <a:spcBef>
                <a:spcPct val="0"/>
              </a:spcBef>
              <a:spcAft>
                <a:spcPct val="0"/>
              </a:spcAft>
              <a:defRPr sz="3797" b="1">
                <a:solidFill>
                  <a:srgbClr val="333399"/>
                </a:solidFill>
                <a:latin typeface="Book Antiqua" panose="02040602050305030304" pitchFamily="18" charset="0"/>
              </a:defRPr>
            </a:lvl3pPr>
            <a:lvl4pPr algn="ctr" rtl="0" eaLnBrk="0" fontAlgn="base" hangingPunct="0">
              <a:spcBef>
                <a:spcPct val="0"/>
              </a:spcBef>
              <a:spcAft>
                <a:spcPct val="0"/>
              </a:spcAft>
              <a:defRPr sz="3797" b="1">
                <a:solidFill>
                  <a:srgbClr val="333399"/>
                </a:solidFill>
                <a:latin typeface="Book Antiqua" panose="02040602050305030304" pitchFamily="18" charset="0"/>
              </a:defRPr>
            </a:lvl4pPr>
            <a:lvl5pPr algn="ctr" rtl="0" eaLnBrk="0" fontAlgn="base" hangingPunct="0">
              <a:spcBef>
                <a:spcPct val="0"/>
              </a:spcBef>
              <a:spcAft>
                <a:spcPct val="0"/>
              </a:spcAft>
              <a:defRPr sz="3797" b="1">
                <a:solidFill>
                  <a:srgbClr val="333399"/>
                </a:solidFill>
                <a:latin typeface="Book Antiqua" panose="02040602050305030304" pitchFamily="18" charset="0"/>
              </a:defRPr>
            </a:lvl5pPr>
            <a:lvl6pPr marL="456821" algn="ctr" rtl="0" eaLnBrk="0" fontAlgn="base" hangingPunct="0">
              <a:spcBef>
                <a:spcPct val="0"/>
              </a:spcBef>
              <a:spcAft>
                <a:spcPct val="0"/>
              </a:spcAft>
              <a:defRPr sz="3797" b="1">
                <a:solidFill>
                  <a:srgbClr val="333399"/>
                </a:solidFill>
                <a:latin typeface="Book Antiqua" panose="02040602050305030304" pitchFamily="18" charset="0"/>
              </a:defRPr>
            </a:lvl6pPr>
            <a:lvl7pPr marL="913643" algn="ctr" rtl="0" eaLnBrk="0" fontAlgn="base" hangingPunct="0">
              <a:spcBef>
                <a:spcPct val="0"/>
              </a:spcBef>
              <a:spcAft>
                <a:spcPct val="0"/>
              </a:spcAft>
              <a:defRPr sz="3797" b="1">
                <a:solidFill>
                  <a:srgbClr val="333399"/>
                </a:solidFill>
                <a:latin typeface="Book Antiqua" panose="02040602050305030304" pitchFamily="18" charset="0"/>
              </a:defRPr>
            </a:lvl7pPr>
            <a:lvl8pPr marL="1370466" algn="ctr" rtl="0" eaLnBrk="0" fontAlgn="base" hangingPunct="0">
              <a:spcBef>
                <a:spcPct val="0"/>
              </a:spcBef>
              <a:spcAft>
                <a:spcPct val="0"/>
              </a:spcAft>
              <a:defRPr sz="3797" b="1">
                <a:solidFill>
                  <a:srgbClr val="333399"/>
                </a:solidFill>
                <a:latin typeface="Book Antiqua" panose="02040602050305030304" pitchFamily="18" charset="0"/>
              </a:defRPr>
            </a:lvl8pPr>
            <a:lvl9pPr marL="1827288" algn="ctr" rtl="0" eaLnBrk="0" fontAlgn="base" hangingPunct="0">
              <a:spcBef>
                <a:spcPct val="0"/>
              </a:spcBef>
              <a:spcAft>
                <a:spcPct val="0"/>
              </a:spcAft>
              <a:defRPr sz="3797" b="1">
                <a:solidFill>
                  <a:srgbClr val="333399"/>
                </a:solidFill>
                <a:latin typeface="Book Antiqua" panose="02040602050305030304" pitchFamily="18" charset="0"/>
              </a:defRPr>
            </a:lvl9pPr>
          </a:lstStyle>
          <a:p>
            <a:pPr defTabSz="461040"/>
            <a:r>
              <a:rPr kumimoji="1" lang="zh-CN" altLang="en-US" sz="1914" b="0" dirty="0">
                <a:latin typeface="Microsoft YaHei" panose="020B0503020204020204" pitchFamily="34" charset="-122"/>
                <a:ea typeface="Microsoft YaHei" panose="020B0503020204020204" pitchFamily="34" charset="-122"/>
              </a:rPr>
              <a:t>边际消费倾向与平均消费倾向</a:t>
            </a:r>
          </a:p>
        </p:txBody>
      </p:sp>
      <p:sp>
        <p:nvSpPr>
          <p:cNvPr id="6" name="文本框 5">
            <a:extLst>
              <a:ext uri="{FF2B5EF4-FFF2-40B4-BE49-F238E27FC236}">
                <a16:creationId xmlns:a16="http://schemas.microsoft.com/office/drawing/2014/main" id="{CB1F99AD-ECCF-53C6-DD23-6F5B07098A32}"/>
              </a:ext>
            </a:extLst>
          </p:cNvPr>
          <p:cNvSpPr txBox="1"/>
          <p:nvPr/>
        </p:nvSpPr>
        <p:spPr>
          <a:xfrm>
            <a:off x="2540916" y="1212116"/>
            <a:ext cx="777284" cy="1908792"/>
          </a:xfrm>
          <a:prstGeom prst="rect">
            <a:avLst/>
          </a:prstGeom>
          <a:noFill/>
        </p:spPr>
        <p:txBody>
          <a:bodyPr wrap="square">
            <a:spAutoFit/>
          </a:bodyPr>
          <a:lstStyle/>
          <a:p>
            <a:pPr algn="ctr" defTabSz="461040" fontAlgn="base">
              <a:spcBef>
                <a:spcPct val="20000"/>
              </a:spcBef>
              <a:spcAft>
                <a:spcPct val="0"/>
              </a:spcAft>
              <a:buClr>
                <a:schemeClr val="hlink"/>
              </a:buClr>
            </a:pPr>
            <a:r>
              <a:rPr lang="en-US" altLang="zh-CN" sz="908" dirty="0">
                <a:solidFill>
                  <a:srgbClr val="FF0000"/>
                </a:solidFill>
                <a:latin typeface="Arial" panose="020B0604020202020204" pitchFamily="34" charset="0"/>
                <a:ea typeface="宋体" panose="02010600030101010101" pitchFamily="2" charset="-122"/>
              </a:rPr>
              <a:t>0.89</a:t>
            </a:r>
          </a:p>
          <a:p>
            <a:pPr algn="ctr" defTabSz="461040" fontAlgn="base">
              <a:spcBef>
                <a:spcPct val="20000"/>
              </a:spcBef>
              <a:spcAft>
                <a:spcPct val="0"/>
              </a:spcAft>
              <a:buClr>
                <a:schemeClr val="hlink"/>
              </a:buClr>
            </a:pPr>
            <a:endParaRPr lang="en-US" altLang="zh-CN" sz="908" dirty="0">
              <a:solidFill>
                <a:srgbClr val="FF0000"/>
              </a:solidFill>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solidFill>
                  <a:srgbClr val="FF0000"/>
                </a:solidFill>
                <a:latin typeface="Arial" panose="020B0604020202020204" pitchFamily="34" charset="0"/>
                <a:ea typeface="宋体" panose="02010600030101010101" pitchFamily="2" charset="-122"/>
              </a:rPr>
              <a:t>0.85</a:t>
            </a:r>
          </a:p>
          <a:p>
            <a:pPr algn="ctr" defTabSz="461040" fontAlgn="base">
              <a:spcBef>
                <a:spcPct val="20000"/>
              </a:spcBef>
              <a:spcAft>
                <a:spcPct val="0"/>
              </a:spcAft>
              <a:buClr>
                <a:schemeClr val="hlink"/>
              </a:buClr>
            </a:pPr>
            <a:endParaRPr lang="en-US" altLang="zh-CN" sz="908" dirty="0">
              <a:solidFill>
                <a:srgbClr val="FF0000"/>
              </a:solidFill>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solidFill>
                  <a:srgbClr val="FF0000"/>
                </a:solidFill>
                <a:latin typeface="Arial" panose="020B0604020202020204" pitchFamily="34" charset="0"/>
                <a:ea typeface="宋体" panose="02010600030101010101" pitchFamily="2" charset="-122"/>
              </a:rPr>
              <a:t>0.75</a:t>
            </a:r>
          </a:p>
          <a:p>
            <a:pPr algn="ctr" defTabSz="461040" fontAlgn="base">
              <a:spcBef>
                <a:spcPct val="20000"/>
              </a:spcBef>
              <a:spcAft>
                <a:spcPct val="0"/>
              </a:spcAft>
              <a:buClr>
                <a:schemeClr val="hlink"/>
              </a:buClr>
            </a:pPr>
            <a:endParaRPr lang="en-US" altLang="zh-CN" sz="908" dirty="0">
              <a:solidFill>
                <a:srgbClr val="FF0000"/>
              </a:solidFill>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solidFill>
                  <a:srgbClr val="FF0000"/>
                </a:solidFill>
                <a:latin typeface="Arial" panose="020B0604020202020204" pitchFamily="34" charset="0"/>
                <a:ea typeface="宋体" panose="02010600030101010101" pitchFamily="2" charset="-122"/>
              </a:rPr>
              <a:t>0.64</a:t>
            </a:r>
          </a:p>
          <a:p>
            <a:pPr algn="ctr" defTabSz="461040" fontAlgn="base">
              <a:spcBef>
                <a:spcPct val="20000"/>
              </a:spcBef>
              <a:spcAft>
                <a:spcPct val="0"/>
              </a:spcAft>
              <a:buClr>
                <a:schemeClr val="hlink"/>
              </a:buClr>
            </a:pPr>
            <a:endParaRPr lang="en-US" altLang="zh-CN" sz="908" dirty="0">
              <a:solidFill>
                <a:srgbClr val="FF0000"/>
              </a:solidFill>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solidFill>
                  <a:srgbClr val="FF0000"/>
                </a:solidFill>
                <a:latin typeface="Arial" panose="020B0604020202020204" pitchFamily="34" charset="0"/>
                <a:ea typeface="宋体" panose="02010600030101010101" pitchFamily="2" charset="-122"/>
              </a:rPr>
              <a:t>0.59</a:t>
            </a:r>
          </a:p>
          <a:p>
            <a:pPr algn="ctr" defTabSz="461040" fontAlgn="base">
              <a:spcBef>
                <a:spcPct val="20000"/>
              </a:spcBef>
              <a:spcAft>
                <a:spcPct val="0"/>
              </a:spcAft>
              <a:buClr>
                <a:schemeClr val="hlink"/>
              </a:buClr>
            </a:pPr>
            <a:endParaRPr lang="en-US" altLang="zh-CN" sz="908" dirty="0">
              <a:solidFill>
                <a:srgbClr val="FF0000"/>
              </a:solidFill>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solidFill>
                  <a:srgbClr val="FF0000"/>
                </a:solidFill>
                <a:latin typeface="Arial" panose="020B0604020202020204" pitchFamily="34" charset="0"/>
                <a:ea typeface="宋体" panose="02010600030101010101" pitchFamily="2" charset="-122"/>
              </a:rPr>
              <a:t>0.53</a:t>
            </a:r>
          </a:p>
        </p:txBody>
      </p:sp>
      <p:sp>
        <p:nvSpPr>
          <p:cNvPr id="8" name="文本框 7">
            <a:extLst>
              <a:ext uri="{FF2B5EF4-FFF2-40B4-BE49-F238E27FC236}">
                <a16:creationId xmlns:a16="http://schemas.microsoft.com/office/drawing/2014/main" id="{652D23FC-95D9-5822-DD52-CAB44F02CEE1}"/>
              </a:ext>
            </a:extLst>
          </p:cNvPr>
          <p:cNvSpPr txBox="1"/>
          <p:nvPr/>
        </p:nvSpPr>
        <p:spPr>
          <a:xfrm>
            <a:off x="3418440" y="1017272"/>
            <a:ext cx="777284" cy="2244140"/>
          </a:xfrm>
          <a:prstGeom prst="rect">
            <a:avLst/>
          </a:prstGeom>
          <a:noFill/>
        </p:spPr>
        <p:txBody>
          <a:bodyPr wrap="square">
            <a:spAutoFit/>
          </a:bodyPr>
          <a:lstStyle/>
          <a:p>
            <a:pPr algn="ctr" defTabSz="461040" fontAlgn="base">
              <a:spcBef>
                <a:spcPct val="20000"/>
              </a:spcBef>
              <a:spcAft>
                <a:spcPct val="0"/>
              </a:spcAft>
              <a:buClr>
                <a:schemeClr val="hlink"/>
              </a:buClr>
            </a:pPr>
            <a:r>
              <a:rPr lang="en-US" altLang="zh-CN" sz="908" dirty="0">
                <a:latin typeface="Arial" panose="020B0604020202020204" pitchFamily="34" charset="0"/>
                <a:ea typeface="宋体" panose="02010600030101010101" pitchFamily="2" charset="-122"/>
              </a:rPr>
              <a:t>1.01</a:t>
            </a:r>
          </a:p>
          <a:p>
            <a:pPr algn="ctr" defTabSz="461040" fontAlgn="base">
              <a:spcBef>
                <a:spcPct val="20000"/>
              </a:spcBef>
              <a:spcAft>
                <a:spcPct val="0"/>
              </a:spcAft>
              <a:buClr>
                <a:schemeClr val="hlink"/>
              </a:buClr>
            </a:pPr>
            <a:endParaRPr lang="en-US" altLang="zh-CN" sz="908" dirty="0">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latin typeface="Arial" panose="020B0604020202020204" pitchFamily="34" charset="0"/>
                <a:ea typeface="宋体" panose="02010600030101010101" pitchFamily="2" charset="-122"/>
              </a:rPr>
              <a:t>1.00</a:t>
            </a:r>
          </a:p>
          <a:p>
            <a:pPr algn="ctr" defTabSz="461040" fontAlgn="base">
              <a:spcBef>
                <a:spcPct val="20000"/>
              </a:spcBef>
              <a:spcAft>
                <a:spcPct val="0"/>
              </a:spcAft>
              <a:buClr>
                <a:schemeClr val="hlink"/>
              </a:buClr>
            </a:pPr>
            <a:endParaRPr lang="en-US" altLang="zh-CN" sz="908" dirty="0">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latin typeface="Arial" panose="020B0604020202020204" pitchFamily="34" charset="0"/>
                <a:ea typeface="宋体" panose="02010600030101010101" pitchFamily="2" charset="-122"/>
              </a:rPr>
              <a:t>0.99</a:t>
            </a:r>
          </a:p>
          <a:p>
            <a:pPr algn="ctr" defTabSz="461040" fontAlgn="base">
              <a:spcBef>
                <a:spcPct val="20000"/>
              </a:spcBef>
              <a:spcAft>
                <a:spcPct val="0"/>
              </a:spcAft>
              <a:buClr>
                <a:schemeClr val="hlink"/>
              </a:buClr>
            </a:pPr>
            <a:endParaRPr lang="en-US" altLang="zh-CN" sz="908" dirty="0">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latin typeface="Arial" panose="020B0604020202020204" pitchFamily="34" charset="0"/>
                <a:ea typeface="宋体" panose="02010600030101010101" pitchFamily="2" charset="-122"/>
              </a:rPr>
              <a:t>0.97</a:t>
            </a:r>
          </a:p>
          <a:p>
            <a:pPr algn="ctr" defTabSz="461040" fontAlgn="base">
              <a:spcBef>
                <a:spcPct val="20000"/>
              </a:spcBef>
              <a:spcAft>
                <a:spcPct val="0"/>
              </a:spcAft>
              <a:buClr>
                <a:schemeClr val="hlink"/>
              </a:buClr>
            </a:pPr>
            <a:endParaRPr lang="en-US" altLang="zh-CN" sz="908" dirty="0">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latin typeface="Arial" panose="020B0604020202020204" pitchFamily="34" charset="0"/>
                <a:ea typeface="宋体" panose="02010600030101010101" pitchFamily="2" charset="-122"/>
              </a:rPr>
              <a:t>0.94</a:t>
            </a:r>
          </a:p>
          <a:p>
            <a:pPr algn="ctr" defTabSz="461040" fontAlgn="base">
              <a:spcBef>
                <a:spcPct val="20000"/>
              </a:spcBef>
              <a:spcAft>
                <a:spcPct val="0"/>
              </a:spcAft>
              <a:buClr>
                <a:schemeClr val="hlink"/>
              </a:buClr>
            </a:pPr>
            <a:endParaRPr lang="en-US" altLang="zh-CN" sz="908" dirty="0">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latin typeface="Arial" panose="020B0604020202020204" pitchFamily="34" charset="0"/>
                <a:ea typeface="宋体" panose="02010600030101010101" pitchFamily="2" charset="-122"/>
              </a:rPr>
              <a:t>0.92</a:t>
            </a:r>
          </a:p>
          <a:p>
            <a:pPr algn="ctr" defTabSz="461040" fontAlgn="base">
              <a:spcBef>
                <a:spcPct val="20000"/>
              </a:spcBef>
              <a:spcAft>
                <a:spcPct val="0"/>
              </a:spcAft>
              <a:buClr>
                <a:schemeClr val="hlink"/>
              </a:buClr>
            </a:pPr>
            <a:endParaRPr lang="en-US" altLang="zh-CN" sz="908" dirty="0">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latin typeface="Arial" panose="020B0604020202020204" pitchFamily="34" charset="0"/>
                <a:ea typeface="宋体" panose="02010600030101010101" pitchFamily="2" charset="-122"/>
              </a:rPr>
              <a:t>0.89</a:t>
            </a:r>
          </a:p>
        </p:txBody>
      </p:sp>
      <p:sp>
        <p:nvSpPr>
          <p:cNvPr id="5" name="页脚占位符 1">
            <a:extLst>
              <a:ext uri="{FF2B5EF4-FFF2-40B4-BE49-F238E27FC236}">
                <a16:creationId xmlns:a16="http://schemas.microsoft.com/office/drawing/2014/main" id="{798298B4-91D4-7037-9074-BC9039641139}"/>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76202439"/>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7701"/>
                                        </p:tgtEl>
                                        <p:attrNameLst>
                                          <p:attrName>style.visibility</p:attrName>
                                        </p:attrNameLst>
                                      </p:cBhvr>
                                      <p:to>
                                        <p:strVal val="visible"/>
                                      </p:to>
                                    </p:set>
                                    <p:animEffect transition="in" filter="wipe(left)">
                                      <p:cBhvr>
                                        <p:cTn id="7" dur="500"/>
                                        <p:tgtEl>
                                          <p:spTgt spid="2770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B24B8316-19AB-D79E-288E-9DECF6936E1E}"/>
              </a:ext>
            </a:extLst>
          </p:cNvPr>
          <p:cNvSpPr txBox="1">
            <a:spLocks noChangeArrowheads="1"/>
          </p:cNvSpPr>
          <p:nvPr/>
        </p:nvSpPr>
        <p:spPr bwMode="auto">
          <a:xfrm>
            <a:off x="172879" y="128847"/>
            <a:ext cx="4240332" cy="343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6101" tIns="23051" rIns="46101" bIns="23051" numCol="1" anchor="ctr" anchorCtr="0" compatLnSpc="1">
            <a:prstTxWarp prst="textNoShape">
              <a:avLst/>
            </a:prstTxWarp>
          </a:bodyPr>
          <a:lstStyle>
            <a:lvl1pPr algn="ctr" rtl="0" eaLnBrk="0" fontAlgn="base" hangingPunct="0">
              <a:spcBef>
                <a:spcPct val="0"/>
              </a:spcBef>
              <a:spcAft>
                <a:spcPct val="0"/>
              </a:spcAft>
              <a:defRPr sz="3797" b="1" kern="1200">
                <a:solidFill>
                  <a:srgbClr val="333399"/>
                </a:solidFill>
                <a:latin typeface="+mj-lt"/>
                <a:ea typeface="+mj-ea"/>
                <a:cs typeface="+mj-cs"/>
              </a:defRPr>
            </a:lvl1pPr>
            <a:lvl2pPr algn="ctr" rtl="0" eaLnBrk="0" fontAlgn="base" hangingPunct="0">
              <a:spcBef>
                <a:spcPct val="0"/>
              </a:spcBef>
              <a:spcAft>
                <a:spcPct val="0"/>
              </a:spcAft>
              <a:defRPr sz="3797" b="1">
                <a:solidFill>
                  <a:srgbClr val="333399"/>
                </a:solidFill>
                <a:latin typeface="Book Antiqua" panose="02040602050305030304" pitchFamily="18" charset="0"/>
              </a:defRPr>
            </a:lvl2pPr>
            <a:lvl3pPr algn="ctr" rtl="0" eaLnBrk="0" fontAlgn="base" hangingPunct="0">
              <a:spcBef>
                <a:spcPct val="0"/>
              </a:spcBef>
              <a:spcAft>
                <a:spcPct val="0"/>
              </a:spcAft>
              <a:defRPr sz="3797" b="1">
                <a:solidFill>
                  <a:srgbClr val="333399"/>
                </a:solidFill>
                <a:latin typeface="Book Antiqua" panose="02040602050305030304" pitchFamily="18" charset="0"/>
              </a:defRPr>
            </a:lvl3pPr>
            <a:lvl4pPr algn="ctr" rtl="0" eaLnBrk="0" fontAlgn="base" hangingPunct="0">
              <a:spcBef>
                <a:spcPct val="0"/>
              </a:spcBef>
              <a:spcAft>
                <a:spcPct val="0"/>
              </a:spcAft>
              <a:defRPr sz="3797" b="1">
                <a:solidFill>
                  <a:srgbClr val="333399"/>
                </a:solidFill>
                <a:latin typeface="Book Antiqua" panose="02040602050305030304" pitchFamily="18" charset="0"/>
              </a:defRPr>
            </a:lvl4pPr>
            <a:lvl5pPr algn="ctr" rtl="0" eaLnBrk="0" fontAlgn="base" hangingPunct="0">
              <a:spcBef>
                <a:spcPct val="0"/>
              </a:spcBef>
              <a:spcAft>
                <a:spcPct val="0"/>
              </a:spcAft>
              <a:defRPr sz="3797" b="1">
                <a:solidFill>
                  <a:srgbClr val="333399"/>
                </a:solidFill>
                <a:latin typeface="Book Antiqua" panose="02040602050305030304" pitchFamily="18" charset="0"/>
              </a:defRPr>
            </a:lvl5pPr>
            <a:lvl6pPr marL="456821" algn="ctr" rtl="0" eaLnBrk="0" fontAlgn="base" hangingPunct="0">
              <a:spcBef>
                <a:spcPct val="0"/>
              </a:spcBef>
              <a:spcAft>
                <a:spcPct val="0"/>
              </a:spcAft>
              <a:defRPr sz="3797" b="1">
                <a:solidFill>
                  <a:srgbClr val="333399"/>
                </a:solidFill>
                <a:latin typeface="Book Antiqua" panose="02040602050305030304" pitchFamily="18" charset="0"/>
              </a:defRPr>
            </a:lvl6pPr>
            <a:lvl7pPr marL="913643" algn="ctr" rtl="0" eaLnBrk="0" fontAlgn="base" hangingPunct="0">
              <a:spcBef>
                <a:spcPct val="0"/>
              </a:spcBef>
              <a:spcAft>
                <a:spcPct val="0"/>
              </a:spcAft>
              <a:defRPr sz="3797" b="1">
                <a:solidFill>
                  <a:srgbClr val="333399"/>
                </a:solidFill>
                <a:latin typeface="Book Antiqua" panose="02040602050305030304" pitchFamily="18" charset="0"/>
              </a:defRPr>
            </a:lvl7pPr>
            <a:lvl8pPr marL="1370466" algn="ctr" rtl="0" eaLnBrk="0" fontAlgn="base" hangingPunct="0">
              <a:spcBef>
                <a:spcPct val="0"/>
              </a:spcBef>
              <a:spcAft>
                <a:spcPct val="0"/>
              </a:spcAft>
              <a:defRPr sz="3797" b="1">
                <a:solidFill>
                  <a:srgbClr val="333399"/>
                </a:solidFill>
                <a:latin typeface="Book Antiqua" panose="02040602050305030304" pitchFamily="18" charset="0"/>
              </a:defRPr>
            </a:lvl8pPr>
            <a:lvl9pPr marL="1827288" algn="ctr" rtl="0" eaLnBrk="0" fontAlgn="base" hangingPunct="0">
              <a:spcBef>
                <a:spcPct val="0"/>
              </a:spcBef>
              <a:spcAft>
                <a:spcPct val="0"/>
              </a:spcAft>
              <a:defRPr sz="3797" b="1">
                <a:solidFill>
                  <a:srgbClr val="333399"/>
                </a:solidFill>
                <a:latin typeface="Book Antiqua" panose="02040602050305030304" pitchFamily="18" charset="0"/>
              </a:defRPr>
            </a:lvl9pPr>
          </a:lstStyle>
          <a:p>
            <a:pPr defTabSz="461040"/>
            <a:r>
              <a:rPr kumimoji="1" lang="zh-CN" altLang="en-US" sz="1914" b="0" dirty="0">
                <a:latin typeface="Microsoft YaHei" panose="020B0503020204020204" pitchFamily="34" charset="-122"/>
                <a:ea typeface="Microsoft YaHei" panose="020B0503020204020204" pitchFamily="34" charset="-122"/>
              </a:rPr>
              <a:t>线性与非线性消费函数</a:t>
            </a:r>
          </a:p>
        </p:txBody>
      </p:sp>
      <p:sp>
        <p:nvSpPr>
          <p:cNvPr id="6" name="灯片编号占位符 2">
            <a:extLst>
              <a:ext uri="{FF2B5EF4-FFF2-40B4-BE49-F238E27FC236}">
                <a16:creationId xmlns:a16="http://schemas.microsoft.com/office/drawing/2014/main" id="{ACE8AD77-052F-71CE-DFEC-E2537F63F2E5}"/>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40</a:t>
            </a:fld>
            <a:endParaRPr lang="zh-CN" altLang="zh-CN" sz="856">
              <a:solidFill>
                <a:srgbClr val="777777"/>
              </a:solidFill>
              <a:ea typeface="宋体" panose="02010600030101010101" pitchFamily="2" charset="-122"/>
            </a:endParaRPr>
          </a:p>
        </p:txBody>
      </p:sp>
      <p:sp>
        <p:nvSpPr>
          <p:cNvPr id="13" name="Text Box 52">
            <a:extLst>
              <a:ext uri="{FF2B5EF4-FFF2-40B4-BE49-F238E27FC236}">
                <a16:creationId xmlns:a16="http://schemas.microsoft.com/office/drawing/2014/main" id="{90631A33-677D-6F9B-9C91-6340EE4C2464}"/>
              </a:ext>
            </a:extLst>
          </p:cNvPr>
          <p:cNvSpPr txBox="1">
            <a:spLocks noChangeArrowheads="1"/>
          </p:cNvSpPr>
          <p:nvPr/>
        </p:nvSpPr>
        <p:spPr bwMode="auto">
          <a:xfrm>
            <a:off x="246615" y="2434295"/>
            <a:ext cx="1910765" cy="247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defTabSz="230520">
              <a:spcBef>
                <a:spcPct val="50000"/>
              </a:spcBef>
              <a:defRPr/>
            </a:pPr>
            <a:r>
              <a:rPr lang="zh-CN" altLang="en-US" sz="1007" b="1" dirty="0">
                <a:solidFill>
                  <a:prstClr val="black"/>
                </a:solidFill>
                <a:latin typeface="KaiTi" panose="02010609060101010101" pitchFamily="49" charset="-122"/>
                <a:ea typeface="KaiTi" panose="02010609060101010101" pitchFamily="49" charset="-122"/>
              </a:rPr>
              <a:t>线性消费函数</a:t>
            </a:r>
            <a:endParaRPr lang="en-US" altLang="zh-CN" sz="1007" b="1" dirty="0">
              <a:solidFill>
                <a:prstClr val="black"/>
              </a:solidFill>
              <a:latin typeface="KaiTi" panose="02010609060101010101" pitchFamily="49" charset="-122"/>
              <a:ea typeface="KaiTi" panose="02010609060101010101" pitchFamily="49" charset="-122"/>
            </a:endParaRPr>
          </a:p>
        </p:txBody>
      </p:sp>
      <p:pic>
        <p:nvPicPr>
          <p:cNvPr id="3" name="Picture 4" descr="xf132">
            <a:extLst>
              <a:ext uri="{FF2B5EF4-FFF2-40B4-BE49-F238E27FC236}">
                <a16:creationId xmlns:a16="http://schemas.microsoft.com/office/drawing/2014/main" id="{6C29C9FA-8A4A-8ACA-FE41-8C9A9323B55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2109423" y="772060"/>
            <a:ext cx="2203811" cy="1603234"/>
          </a:xfrm>
          <a:prstGeom prst="rect">
            <a:avLst/>
          </a:prstGeom>
          <a:noFill/>
          <a:extLst>
            <a:ext uri="{909E8E84-426E-40DD-AFC4-6F175D3DCCD1}">
              <a14:hiddenFill xmlns:a14="http://schemas.microsoft.com/office/drawing/2010/main">
                <a:solidFill>
                  <a:srgbClr val="FFFFFF"/>
                </a:solidFill>
              </a14:hiddenFill>
            </a:ext>
          </a:extLst>
        </p:spPr>
      </p:pic>
      <p:sp>
        <p:nvSpPr>
          <p:cNvPr id="7" name="Text Box 52">
            <a:extLst>
              <a:ext uri="{FF2B5EF4-FFF2-40B4-BE49-F238E27FC236}">
                <a16:creationId xmlns:a16="http://schemas.microsoft.com/office/drawing/2014/main" id="{E1694867-03D6-DA72-8AA7-A00FC062A09B}"/>
              </a:ext>
            </a:extLst>
          </p:cNvPr>
          <p:cNvSpPr txBox="1">
            <a:spLocks noChangeArrowheads="1"/>
          </p:cNvSpPr>
          <p:nvPr/>
        </p:nvSpPr>
        <p:spPr bwMode="auto">
          <a:xfrm>
            <a:off x="2255946" y="2434453"/>
            <a:ext cx="1910765" cy="247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defTabSz="230520">
              <a:spcBef>
                <a:spcPct val="50000"/>
              </a:spcBef>
              <a:defRPr/>
            </a:pPr>
            <a:r>
              <a:rPr lang="zh-CN" altLang="en-US" sz="1007" b="1" dirty="0">
                <a:solidFill>
                  <a:prstClr val="black"/>
                </a:solidFill>
                <a:latin typeface="KaiTi" panose="02010609060101010101" pitchFamily="49" charset="-122"/>
                <a:ea typeface="KaiTi" panose="02010609060101010101" pitchFamily="49" charset="-122"/>
              </a:rPr>
              <a:t>非线性消费函数</a:t>
            </a:r>
            <a:endParaRPr lang="en-US" altLang="zh-CN" sz="1007" b="1" dirty="0">
              <a:solidFill>
                <a:prstClr val="black"/>
              </a:solidFill>
              <a:latin typeface="KaiTi" panose="02010609060101010101" pitchFamily="49" charset="-122"/>
              <a:ea typeface="KaiTi" panose="02010609060101010101" pitchFamily="49" charset="-122"/>
            </a:endParaRPr>
          </a:p>
        </p:txBody>
      </p:sp>
      <p:pic>
        <p:nvPicPr>
          <p:cNvPr id="11" name="图片 10">
            <a:extLst>
              <a:ext uri="{FF2B5EF4-FFF2-40B4-BE49-F238E27FC236}">
                <a16:creationId xmlns:a16="http://schemas.microsoft.com/office/drawing/2014/main" id="{CD9826FD-0E53-FAFD-F1D9-DB1A46BE506D}"/>
              </a:ext>
            </a:extLst>
          </p:cNvPr>
          <p:cNvPicPr>
            <a:picLocks noChangeAspect="1"/>
          </p:cNvPicPr>
          <p:nvPr/>
        </p:nvPicPr>
        <p:blipFill>
          <a:blip r:embed="rId3"/>
          <a:stretch>
            <a:fillRect/>
          </a:stretch>
        </p:blipFill>
        <p:spPr>
          <a:xfrm>
            <a:off x="148048" y="770060"/>
            <a:ext cx="2107898" cy="1496607"/>
          </a:xfrm>
          <a:prstGeom prst="rect">
            <a:avLst/>
          </a:prstGeom>
        </p:spPr>
      </p:pic>
      <p:sp>
        <p:nvSpPr>
          <p:cNvPr id="2" name="页脚占位符 1">
            <a:extLst>
              <a:ext uri="{FF2B5EF4-FFF2-40B4-BE49-F238E27FC236}">
                <a16:creationId xmlns:a16="http://schemas.microsoft.com/office/drawing/2014/main" id="{13F06570-4223-7D65-8334-F0565D6BDE92}"/>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6296933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B24B8316-19AB-D79E-288E-9DECF6936E1E}"/>
              </a:ext>
            </a:extLst>
          </p:cNvPr>
          <p:cNvSpPr txBox="1">
            <a:spLocks noChangeArrowheads="1"/>
          </p:cNvSpPr>
          <p:nvPr/>
        </p:nvSpPr>
        <p:spPr bwMode="auto">
          <a:xfrm>
            <a:off x="172879" y="128847"/>
            <a:ext cx="4240332" cy="343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6101" tIns="23051" rIns="46101" bIns="23051" numCol="1" anchor="ctr" anchorCtr="0" compatLnSpc="1">
            <a:prstTxWarp prst="textNoShape">
              <a:avLst/>
            </a:prstTxWarp>
          </a:bodyPr>
          <a:lstStyle>
            <a:lvl1pPr algn="ctr" rtl="0" eaLnBrk="0" fontAlgn="base" hangingPunct="0">
              <a:spcBef>
                <a:spcPct val="0"/>
              </a:spcBef>
              <a:spcAft>
                <a:spcPct val="0"/>
              </a:spcAft>
              <a:defRPr sz="3797" b="1" kern="1200">
                <a:solidFill>
                  <a:srgbClr val="333399"/>
                </a:solidFill>
                <a:latin typeface="+mj-lt"/>
                <a:ea typeface="+mj-ea"/>
                <a:cs typeface="+mj-cs"/>
              </a:defRPr>
            </a:lvl1pPr>
            <a:lvl2pPr algn="ctr" rtl="0" eaLnBrk="0" fontAlgn="base" hangingPunct="0">
              <a:spcBef>
                <a:spcPct val="0"/>
              </a:spcBef>
              <a:spcAft>
                <a:spcPct val="0"/>
              </a:spcAft>
              <a:defRPr sz="3797" b="1">
                <a:solidFill>
                  <a:srgbClr val="333399"/>
                </a:solidFill>
                <a:latin typeface="Book Antiqua" panose="02040602050305030304" pitchFamily="18" charset="0"/>
              </a:defRPr>
            </a:lvl2pPr>
            <a:lvl3pPr algn="ctr" rtl="0" eaLnBrk="0" fontAlgn="base" hangingPunct="0">
              <a:spcBef>
                <a:spcPct val="0"/>
              </a:spcBef>
              <a:spcAft>
                <a:spcPct val="0"/>
              </a:spcAft>
              <a:defRPr sz="3797" b="1">
                <a:solidFill>
                  <a:srgbClr val="333399"/>
                </a:solidFill>
                <a:latin typeface="Book Antiqua" panose="02040602050305030304" pitchFamily="18" charset="0"/>
              </a:defRPr>
            </a:lvl3pPr>
            <a:lvl4pPr algn="ctr" rtl="0" eaLnBrk="0" fontAlgn="base" hangingPunct="0">
              <a:spcBef>
                <a:spcPct val="0"/>
              </a:spcBef>
              <a:spcAft>
                <a:spcPct val="0"/>
              </a:spcAft>
              <a:defRPr sz="3797" b="1">
                <a:solidFill>
                  <a:srgbClr val="333399"/>
                </a:solidFill>
                <a:latin typeface="Book Antiqua" panose="02040602050305030304" pitchFamily="18" charset="0"/>
              </a:defRPr>
            </a:lvl4pPr>
            <a:lvl5pPr algn="ctr" rtl="0" eaLnBrk="0" fontAlgn="base" hangingPunct="0">
              <a:spcBef>
                <a:spcPct val="0"/>
              </a:spcBef>
              <a:spcAft>
                <a:spcPct val="0"/>
              </a:spcAft>
              <a:defRPr sz="3797" b="1">
                <a:solidFill>
                  <a:srgbClr val="333399"/>
                </a:solidFill>
                <a:latin typeface="Book Antiqua" panose="02040602050305030304" pitchFamily="18" charset="0"/>
              </a:defRPr>
            </a:lvl5pPr>
            <a:lvl6pPr marL="456821" algn="ctr" rtl="0" eaLnBrk="0" fontAlgn="base" hangingPunct="0">
              <a:spcBef>
                <a:spcPct val="0"/>
              </a:spcBef>
              <a:spcAft>
                <a:spcPct val="0"/>
              </a:spcAft>
              <a:defRPr sz="3797" b="1">
                <a:solidFill>
                  <a:srgbClr val="333399"/>
                </a:solidFill>
                <a:latin typeface="Book Antiqua" panose="02040602050305030304" pitchFamily="18" charset="0"/>
              </a:defRPr>
            </a:lvl6pPr>
            <a:lvl7pPr marL="913643" algn="ctr" rtl="0" eaLnBrk="0" fontAlgn="base" hangingPunct="0">
              <a:spcBef>
                <a:spcPct val="0"/>
              </a:spcBef>
              <a:spcAft>
                <a:spcPct val="0"/>
              </a:spcAft>
              <a:defRPr sz="3797" b="1">
                <a:solidFill>
                  <a:srgbClr val="333399"/>
                </a:solidFill>
                <a:latin typeface="Book Antiqua" panose="02040602050305030304" pitchFamily="18" charset="0"/>
              </a:defRPr>
            </a:lvl7pPr>
            <a:lvl8pPr marL="1370466" algn="ctr" rtl="0" eaLnBrk="0" fontAlgn="base" hangingPunct="0">
              <a:spcBef>
                <a:spcPct val="0"/>
              </a:spcBef>
              <a:spcAft>
                <a:spcPct val="0"/>
              </a:spcAft>
              <a:defRPr sz="3797" b="1">
                <a:solidFill>
                  <a:srgbClr val="333399"/>
                </a:solidFill>
                <a:latin typeface="Book Antiqua" panose="02040602050305030304" pitchFamily="18" charset="0"/>
              </a:defRPr>
            </a:lvl8pPr>
            <a:lvl9pPr marL="1827288" algn="ctr" rtl="0" eaLnBrk="0" fontAlgn="base" hangingPunct="0">
              <a:spcBef>
                <a:spcPct val="0"/>
              </a:spcBef>
              <a:spcAft>
                <a:spcPct val="0"/>
              </a:spcAft>
              <a:defRPr sz="3797" b="1">
                <a:solidFill>
                  <a:srgbClr val="333399"/>
                </a:solidFill>
                <a:latin typeface="Book Antiqua" panose="02040602050305030304" pitchFamily="18" charset="0"/>
              </a:defRPr>
            </a:lvl9pPr>
          </a:lstStyle>
          <a:p>
            <a:pPr defTabSz="461040"/>
            <a:r>
              <a:rPr kumimoji="1" lang="zh-CN" altLang="en-US" sz="1914" b="0" dirty="0">
                <a:latin typeface="Microsoft YaHei" panose="020B0503020204020204" pitchFamily="34" charset="-122"/>
                <a:ea typeface="Microsoft YaHei" panose="020B0503020204020204" pitchFamily="34" charset="-122"/>
              </a:rPr>
              <a:t>税收依赖于收入的消费函数</a:t>
            </a:r>
          </a:p>
        </p:txBody>
      </p:sp>
      <p:sp>
        <p:nvSpPr>
          <p:cNvPr id="6" name="灯片编号占位符 2">
            <a:extLst>
              <a:ext uri="{FF2B5EF4-FFF2-40B4-BE49-F238E27FC236}">
                <a16:creationId xmlns:a16="http://schemas.microsoft.com/office/drawing/2014/main" id="{ACE8AD77-052F-71CE-DFEC-E2537F63F2E5}"/>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41</a:t>
            </a:fld>
            <a:endParaRPr lang="zh-CN" altLang="zh-CN" sz="856">
              <a:solidFill>
                <a:srgbClr val="777777"/>
              </a:solidFill>
              <a:ea typeface="宋体" panose="02010600030101010101" pitchFamily="2" charset="-122"/>
            </a:endParaRPr>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DED5035B-9B2F-C470-AED4-33B819BECC05}"/>
                  </a:ext>
                </a:extLst>
              </p:cNvPr>
              <p:cNvSpPr txBox="1">
                <a:spLocks/>
              </p:cNvSpPr>
              <p:nvPr/>
            </p:nvSpPr>
            <p:spPr>
              <a:xfrm>
                <a:off x="188087" y="598537"/>
                <a:ext cx="4191509" cy="2491658"/>
              </a:xfrm>
              <a:prstGeom prst="rect">
                <a:avLst/>
              </a:prstGeom>
            </p:spPr>
            <p:txBody>
              <a:bodyPr/>
              <a:lstStyle>
                <a:lvl1pPr marL="342616" indent="-342616" algn="l" rtl="0" eaLnBrk="0" fontAlgn="base" hangingPunct="0">
                  <a:lnSpc>
                    <a:spcPct val="105000"/>
                  </a:lnSpc>
                  <a:spcBef>
                    <a:spcPct val="45000"/>
                  </a:spcBef>
                  <a:spcAft>
                    <a:spcPct val="0"/>
                  </a:spcAft>
                  <a:buClr>
                    <a:srgbClr val="339966"/>
                  </a:buClr>
                  <a:buSzPct val="120000"/>
                  <a:buFont typeface="Wingdings" pitchFamily="2" charset="2"/>
                  <a:buChar char="§"/>
                  <a:defRPr sz="2798" kern="1200">
                    <a:solidFill>
                      <a:schemeClr val="tx1"/>
                    </a:solidFill>
                    <a:latin typeface="+mn-lt"/>
                    <a:ea typeface="+mn-ea"/>
                    <a:cs typeface="+mn-cs"/>
                  </a:defRPr>
                </a:lvl1pPr>
                <a:lvl2pPr marL="742335" indent="-285513" algn="l" rtl="0" eaLnBrk="0" fontAlgn="base" hangingPunct="0">
                  <a:spcBef>
                    <a:spcPct val="15000"/>
                  </a:spcBef>
                  <a:spcAft>
                    <a:spcPct val="0"/>
                  </a:spcAft>
                  <a:buClr>
                    <a:srgbClr val="996633"/>
                  </a:buClr>
                  <a:buSzPct val="120000"/>
                  <a:buFont typeface="Wingdings" pitchFamily="2" charset="2"/>
                  <a:buChar char="§"/>
                  <a:defRPr sz="2697" kern="1200">
                    <a:solidFill>
                      <a:schemeClr val="tx1"/>
                    </a:solidFill>
                    <a:latin typeface="+mn-lt"/>
                    <a:ea typeface="+mn-ea"/>
                    <a:cs typeface="+mn-cs"/>
                  </a:defRPr>
                </a:lvl2pPr>
                <a:lvl3pPr marL="1142056" indent="-228411" algn="l" rtl="0" eaLnBrk="0" fontAlgn="base" hangingPunct="0">
                  <a:spcBef>
                    <a:spcPct val="15000"/>
                  </a:spcBef>
                  <a:spcAft>
                    <a:spcPct val="0"/>
                  </a:spcAft>
                  <a:buClr>
                    <a:srgbClr val="339966"/>
                  </a:buClr>
                  <a:buSzPct val="120000"/>
                  <a:buFont typeface="Wingdings" pitchFamily="2" charset="2"/>
                  <a:buChar char="§"/>
                  <a:defRPr sz="2499" kern="1200">
                    <a:solidFill>
                      <a:schemeClr val="tx1"/>
                    </a:solidFill>
                    <a:latin typeface="+mn-lt"/>
                    <a:ea typeface="+mn-ea"/>
                    <a:cs typeface="+mn-cs"/>
                  </a:defRPr>
                </a:lvl3pPr>
                <a:lvl4pPr marL="1598877" indent="-228411" algn="l" rtl="0" eaLnBrk="0" fontAlgn="base" hangingPunct="0">
                  <a:spcBef>
                    <a:spcPct val="15000"/>
                  </a:spcBef>
                  <a:spcAft>
                    <a:spcPct val="0"/>
                  </a:spcAft>
                  <a:buChar char="–"/>
                  <a:defRPr sz="1998" kern="1200">
                    <a:solidFill>
                      <a:schemeClr val="tx1"/>
                    </a:solidFill>
                    <a:latin typeface="+mn-lt"/>
                    <a:ea typeface="+mn-ea"/>
                    <a:cs typeface="+mn-cs"/>
                  </a:defRPr>
                </a:lvl4pPr>
                <a:lvl5pPr marL="2055699" indent="-228411" algn="l" rtl="0" eaLnBrk="0" fontAlgn="base" hangingPunct="0">
                  <a:spcBef>
                    <a:spcPct val="20000"/>
                  </a:spcBef>
                  <a:spcAft>
                    <a:spcPct val="0"/>
                  </a:spcAft>
                  <a:buChar char="»"/>
                  <a:defRPr sz="1998" kern="1200">
                    <a:solidFill>
                      <a:schemeClr val="tx1"/>
                    </a:solidFill>
                    <a:latin typeface="+mn-lt"/>
                    <a:ea typeface="+mn-ea"/>
                    <a:cs typeface="+mn-cs"/>
                  </a:defRPr>
                </a:lvl5pPr>
                <a:lvl6pPr marL="2512520" indent="-228411" algn="l" defTabSz="913643" rtl="0" eaLnBrk="1" latinLnBrk="0" hangingPunct="1">
                  <a:lnSpc>
                    <a:spcPct val="90000"/>
                  </a:lnSpc>
                  <a:spcBef>
                    <a:spcPts val="499"/>
                  </a:spcBef>
                  <a:buFont typeface="Arial" panose="020B0604020202020204" pitchFamily="34" charset="0"/>
                  <a:buChar char="•"/>
                  <a:defRPr sz="1799" kern="1200">
                    <a:solidFill>
                      <a:schemeClr val="tx1"/>
                    </a:solidFill>
                    <a:latin typeface="+mn-lt"/>
                    <a:ea typeface="+mn-ea"/>
                    <a:cs typeface="+mn-cs"/>
                  </a:defRPr>
                </a:lvl6pPr>
                <a:lvl7pPr marL="2969344" indent="-228411" algn="l" defTabSz="913643" rtl="0" eaLnBrk="1" latinLnBrk="0" hangingPunct="1">
                  <a:lnSpc>
                    <a:spcPct val="90000"/>
                  </a:lnSpc>
                  <a:spcBef>
                    <a:spcPts val="499"/>
                  </a:spcBef>
                  <a:buFont typeface="Arial" panose="020B0604020202020204" pitchFamily="34" charset="0"/>
                  <a:buChar char="•"/>
                  <a:defRPr sz="1799" kern="1200">
                    <a:solidFill>
                      <a:schemeClr val="tx1"/>
                    </a:solidFill>
                    <a:latin typeface="+mn-lt"/>
                    <a:ea typeface="+mn-ea"/>
                    <a:cs typeface="+mn-cs"/>
                  </a:defRPr>
                </a:lvl7pPr>
                <a:lvl8pPr marL="3426165" indent="-228411" algn="l" defTabSz="913643" rtl="0" eaLnBrk="1" latinLnBrk="0" hangingPunct="1">
                  <a:lnSpc>
                    <a:spcPct val="90000"/>
                  </a:lnSpc>
                  <a:spcBef>
                    <a:spcPts val="499"/>
                  </a:spcBef>
                  <a:buFont typeface="Arial" panose="020B0604020202020204" pitchFamily="34" charset="0"/>
                  <a:buChar char="•"/>
                  <a:defRPr sz="1799" kern="1200">
                    <a:solidFill>
                      <a:schemeClr val="tx1"/>
                    </a:solidFill>
                    <a:latin typeface="+mn-lt"/>
                    <a:ea typeface="+mn-ea"/>
                    <a:cs typeface="+mn-cs"/>
                  </a:defRPr>
                </a:lvl8pPr>
                <a:lvl9pPr marL="3882987" indent="-228411" algn="l" defTabSz="913643" rtl="0" eaLnBrk="1" latinLnBrk="0" hangingPunct="1">
                  <a:lnSpc>
                    <a:spcPct val="90000"/>
                  </a:lnSpc>
                  <a:spcBef>
                    <a:spcPts val="499"/>
                  </a:spcBef>
                  <a:buFont typeface="Arial" panose="020B0604020202020204" pitchFamily="34" charset="0"/>
                  <a:buChar char="•"/>
                  <a:defRPr sz="1799" kern="1200">
                    <a:solidFill>
                      <a:schemeClr val="tx1"/>
                    </a:solidFill>
                    <a:latin typeface="+mn-lt"/>
                    <a:ea typeface="+mn-ea"/>
                    <a:cs typeface="+mn-cs"/>
                  </a:defRPr>
                </a:lvl9pPr>
              </a:lstStyle>
              <a:p>
                <a:pPr defTabSz="461040"/>
                <a:r>
                  <a:rPr lang="zh-CN" altLang="en-US" sz="1210" dirty="0">
                    <a:latin typeface="Garamond" panose="02020404030301010803" pitchFamily="18" charset="0"/>
                    <a:ea typeface="SimSun" panose="02010600030101010101" pitchFamily="2" charset="-122"/>
                  </a:rPr>
                  <a:t>假设税收</a:t>
                </a:r>
                <a:r>
                  <a:rPr lang="en-US" altLang="zh-CN" sz="1210" dirty="0">
                    <a:latin typeface="Garamond" panose="02020404030301010803" pitchFamily="18" charset="0"/>
                    <a:ea typeface="SimSun" panose="02010600030101010101" pitchFamily="2" charset="-122"/>
                  </a:rPr>
                  <a:t>T=t*Y</a:t>
                </a:r>
                <a:r>
                  <a:rPr lang="zh-CN" altLang="en-US" sz="1210" dirty="0">
                    <a:latin typeface="Garamond" panose="02020404030301010803" pitchFamily="18" charset="0"/>
                    <a:ea typeface="SimSun" panose="02010600030101010101" pitchFamily="2" charset="-122"/>
                  </a:rPr>
                  <a:t>，此时的可支配收入为</a:t>
                </a:r>
                <a:r>
                  <a:rPr lang="en-US" altLang="zh-CN" sz="1210" dirty="0">
                    <a:latin typeface="Garamond" panose="02020404030301010803" pitchFamily="18" charset="0"/>
                    <a:ea typeface="SimSun" panose="02010600030101010101" pitchFamily="2" charset="-122"/>
                  </a:rPr>
                  <a:t>(</a:t>
                </a:r>
                <a:r>
                  <a:rPr lang="en-US" altLang="zh-CN" sz="1210" dirty="0">
                    <a:latin typeface="Garamond" panose="02020404030301010803" pitchFamily="18" charset="0"/>
                    <a:ea typeface="SimSun" panose="02010600030101010101" pitchFamily="2" charset="-122"/>
                    <a:sym typeface="Wingdings" pitchFamily="2" charset="2"/>
                  </a:rPr>
                  <a:t>1-t)Y</a:t>
                </a:r>
              </a:p>
              <a:p>
                <a:pPr defTabSz="461040"/>
                <a:r>
                  <a:rPr lang="zh-CN" altLang="en-US" sz="1210" dirty="0">
                    <a:latin typeface="Garamond" panose="02020404030301010803" pitchFamily="18" charset="0"/>
                    <a:ea typeface="SimSun" panose="02010600030101010101" pitchFamily="2" charset="-122"/>
                    <a:sym typeface="Wingdings" pitchFamily="2" charset="2"/>
                  </a:rPr>
                  <a:t>消费函数：</a:t>
                </a:r>
                <a14:m>
                  <m:oMath xmlns:m="http://schemas.openxmlformats.org/officeDocument/2006/math">
                    <m:r>
                      <a:rPr lang="en-US" altLang="zh-CN" sz="1210" i="1">
                        <a:latin typeface="Cambria Math" panose="02040503050406030204" pitchFamily="18" charset="0"/>
                      </a:rPr>
                      <m:t>𝑐</m:t>
                    </m:r>
                    <m:r>
                      <a:rPr lang="en-US" altLang="zh-CN" sz="1210" i="1">
                        <a:latin typeface="Cambria Math" panose="02040503050406030204" pitchFamily="18" charset="0"/>
                      </a:rPr>
                      <m:t>=</m:t>
                    </m:r>
                    <m:r>
                      <a:rPr lang="zh-CN" altLang="en-US" sz="1210" i="1">
                        <a:latin typeface="Cambria Math" panose="02040503050406030204" pitchFamily="18" charset="0"/>
                      </a:rPr>
                      <m:t>𝛼</m:t>
                    </m:r>
                    <m:r>
                      <a:rPr lang="en-US" altLang="zh-CN" sz="1210" i="1">
                        <a:latin typeface="Cambria Math" panose="02040503050406030204" pitchFamily="18" charset="0"/>
                      </a:rPr>
                      <m:t>+</m:t>
                    </m:r>
                    <m:r>
                      <a:rPr lang="zh-CN" altLang="en-US" sz="1210" i="1">
                        <a:latin typeface="Cambria Math" panose="02040503050406030204" pitchFamily="18" charset="0"/>
                      </a:rPr>
                      <m:t>𝛽</m:t>
                    </m:r>
                    <m:d>
                      <m:dPr>
                        <m:ctrlPr>
                          <a:rPr lang="en-US" altLang="zh-CN" sz="1210" i="1">
                            <a:latin typeface="Cambria Math" panose="02040503050406030204" pitchFamily="18" charset="0"/>
                          </a:rPr>
                        </m:ctrlPr>
                      </m:dPr>
                      <m:e>
                        <m:r>
                          <a:rPr lang="en-US" altLang="zh-CN" sz="1210" i="1">
                            <a:latin typeface="Cambria Math" panose="02040503050406030204" pitchFamily="18" charset="0"/>
                          </a:rPr>
                          <m:t>1−</m:t>
                        </m:r>
                        <m:r>
                          <a:rPr lang="en-US" altLang="zh-CN" sz="1210" i="1">
                            <a:latin typeface="Cambria Math" panose="02040503050406030204" pitchFamily="18" charset="0"/>
                          </a:rPr>
                          <m:t>𝑡</m:t>
                        </m:r>
                      </m:e>
                    </m:d>
                    <m:r>
                      <a:rPr lang="en-US" altLang="zh-CN" sz="1210" i="1">
                        <a:latin typeface="Cambria Math" panose="02040503050406030204" pitchFamily="18" charset="0"/>
                      </a:rPr>
                      <m:t>𝑌</m:t>
                    </m:r>
                  </m:oMath>
                </a14:m>
                <a:endParaRPr lang="en-US" altLang="zh-CN" sz="1210" dirty="0">
                  <a:latin typeface="Garamond" panose="02020404030301010803" pitchFamily="18" charset="0"/>
                  <a:ea typeface="SimSun" panose="02010600030101010101" pitchFamily="2" charset="-122"/>
                </a:endParaRPr>
              </a:p>
            </p:txBody>
          </p:sp>
        </mc:Choice>
        <mc:Fallback xmlns="">
          <p:sp>
            <p:nvSpPr>
              <p:cNvPr id="2" name="内容占位符 2">
                <a:extLst>
                  <a:ext uri="{FF2B5EF4-FFF2-40B4-BE49-F238E27FC236}">
                    <a16:creationId xmlns:a16="http://schemas.microsoft.com/office/drawing/2014/main" id="{DED5035B-9B2F-C470-AED4-33B819BECC05}"/>
                  </a:ext>
                </a:extLst>
              </p:cNvPr>
              <p:cNvSpPr txBox="1">
                <a:spLocks noRot="1" noChangeAspect="1" noMove="1" noResize="1" noEditPoints="1" noAdjustHandles="1" noChangeArrowheads="1" noChangeShapeType="1" noTextEdit="1"/>
              </p:cNvSpPr>
              <p:nvPr/>
            </p:nvSpPr>
            <p:spPr>
              <a:xfrm>
                <a:off x="188087" y="598537"/>
                <a:ext cx="4191509" cy="2491658"/>
              </a:xfrm>
              <a:prstGeom prst="rect">
                <a:avLst/>
              </a:prstGeom>
              <a:blipFill>
                <a:blip r:embed="rId2"/>
                <a:stretch>
                  <a:fillRect l="-302" t="-1523"/>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7CEA3C62-A426-9EF3-2B0E-97D99945D94E}"/>
              </a:ext>
            </a:extLst>
          </p:cNvPr>
          <p:cNvSpPr txBox="1"/>
          <p:nvPr/>
        </p:nvSpPr>
        <p:spPr>
          <a:xfrm>
            <a:off x="2060130" y="2593648"/>
            <a:ext cx="321340" cy="278538"/>
          </a:xfrm>
          <a:prstGeom prst="rect">
            <a:avLst/>
          </a:prstGeom>
          <a:noFill/>
        </p:spPr>
        <p:txBody>
          <a:bodyPr wrap="square" rtlCol="0">
            <a:spAutoFit/>
          </a:bodyPr>
          <a:lstStyle/>
          <a:p>
            <a:pPr defTabSz="230520">
              <a:defRPr/>
            </a:pPr>
            <a:r>
              <a:rPr lang="en-US" altLang="zh-CN" sz="1210" dirty="0">
                <a:solidFill>
                  <a:prstClr val="black"/>
                </a:solidFill>
                <a:latin typeface="Garamond" panose="02020404030301010803" pitchFamily="18" charset="0"/>
                <a:ea typeface="SimSun" panose="02010600030101010101" pitchFamily="2" charset="-122"/>
              </a:rPr>
              <a:t>y</a:t>
            </a:r>
            <a:endParaRPr lang="zh-CN" altLang="en-US" sz="1210" dirty="0">
              <a:solidFill>
                <a:prstClr val="black"/>
              </a:solidFill>
              <a:latin typeface="Garamond" panose="02020404030301010803" pitchFamily="18" charset="0"/>
              <a:ea typeface="SimSun" panose="02010600030101010101" pitchFamily="2" charset="-122"/>
            </a:endParaRPr>
          </a:p>
        </p:txBody>
      </p:sp>
      <p:grpSp>
        <p:nvGrpSpPr>
          <p:cNvPr id="10" name="组合 9">
            <a:extLst>
              <a:ext uri="{FF2B5EF4-FFF2-40B4-BE49-F238E27FC236}">
                <a16:creationId xmlns:a16="http://schemas.microsoft.com/office/drawing/2014/main" id="{F14BC9EE-9292-26B3-2D95-FDDA2A217D1B}"/>
              </a:ext>
            </a:extLst>
          </p:cNvPr>
          <p:cNvGrpSpPr/>
          <p:nvPr/>
        </p:nvGrpSpPr>
        <p:grpSpPr>
          <a:xfrm>
            <a:off x="232907" y="1189079"/>
            <a:ext cx="2185521" cy="1885946"/>
            <a:chOff x="517058" y="1442740"/>
            <a:chExt cx="4334919" cy="3740720"/>
          </a:xfrm>
        </p:grpSpPr>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4C20518A-79F9-DF02-C95A-E32176FE375A}"/>
                    </a:ext>
                  </a:extLst>
                </p:cNvPr>
                <p:cNvSpPr txBox="1"/>
                <p:nvPr/>
              </p:nvSpPr>
              <p:spPr>
                <a:xfrm>
                  <a:off x="3011208" y="2504868"/>
                  <a:ext cx="1840769" cy="490790"/>
                </a:xfrm>
                <a:prstGeom prst="rect">
                  <a:avLst/>
                </a:prstGeom>
                <a:noFill/>
              </p:spPr>
              <p:txBody>
                <a:bodyPr wrap="square" rtlCol="0">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08" i="1">
                            <a:latin typeface="Cambria Math" panose="02040503050406030204" pitchFamily="18" charset="0"/>
                          </a:rPr>
                          <m:t>𝑘</m:t>
                        </m:r>
                        <m:r>
                          <a:rPr lang="en-US" altLang="zh-CN" sz="1008" i="1">
                            <a:latin typeface="Cambria Math" panose="02040503050406030204" pitchFamily="18" charset="0"/>
                          </a:rPr>
                          <m:t>=</m:t>
                        </m:r>
                        <m:r>
                          <a:rPr lang="zh-CN" altLang="en-US" sz="1008" i="1">
                            <a:latin typeface="Cambria Math" panose="02040503050406030204" pitchFamily="18" charset="0"/>
                          </a:rPr>
                          <m:t>𝛽</m:t>
                        </m:r>
                        <m:r>
                          <a:rPr lang="en-US" altLang="zh-CN" sz="1008" i="1">
                            <a:latin typeface="Cambria Math" panose="02040503050406030204" pitchFamily="18" charset="0"/>
                          </a:rPr>
                          <m:t>(1−</m:t>
                        </m:r>
                        <m:r>
                          <a:rPr lang="en-US" altLang="zh-CN" sz="1008" i="1">
                            <a:latin typeface="Cambria Math" panose="02040503050406030204" pitchFamily="18" charset="0"/>
                          </a:rPr>
                          <m:t>𝑡</m:t>
                        </m:r>
                        <m:r>
                          <a:rPr lang="en-US" altLang="zh-CN" sz="1008" i="1">
                            <a:latin typeface="Cambria Math" panose="02040503050406030204" pitchFamily="18" charset="0"/>
                          </a:rPr>
                          <m:t>)</m:t>
                        </m:r>
                      </m:oMath>
                    </m:oMathPara>
                  </a14:m>
                  <a:endParaRPr lang="zh-CN" altLang="en-US" sz="1008" dirty="0">
                    <a:solidFill>
                      <a:prstClr val="black"/>
                    </a:solidFill>
                    <a:latin typeface="Garamond" panose="02020404030301010803" pitchFamily="18" charset="0"/>
                    <a:ea typeface="SimSun" panose="02010600030101010101" pitchFamily="2" charset="-122"/>
                  </a:endParaRPr>
                </a:p>
              </p:txBody>
            </p:sp>
          </mc:Choice>
          <mc:Fallback xmlns="">
            <p:sp>
              <p:nvSpPr>
                <p:cNvPr id="12" name="文本框 11">
                  <a:extLst>
                    <a:ext uri="{FF2B5EF4-FFF2-40B4-BE49-F238E27FC236}">
                      <a16:creationId xmlns:a16="http://schemas.microsoft.com/office/drawing/2014/main" id="{4C20518A-79F9-DF02-C95A-E32176FE375A}"/>
                    </a:ext>
                  </a:extLst>
                </p:cNvPr>
                <p:cNvSpPr txBox="1">
                  <a:spLocks noRot="1" noChangeAspect="1" noMove="1" noResize="1" noEditPoints="1" noAdjustHandles="1" noChangeArrowheads="1" noChangeShapeType="1" noTextEdit="1"/>
                </p:cNvSpPr>
                <p:nvPr/>
              </p:nvSpPr>
              <p:spPr>
                <a:xfrm>
                  <a:off x="3011208" y="2504868"/>
                  <a:ext cx="1840769" cy="490790"/>
                </a:xfrm>
                <a:prstGeom prst="rect">
                  <a:avLst/>
                </a:prstGeom>
                <a:blipFill>
                  <a:blip r:embed="rId3"/>
                  <a:stretch>
                    <a:fillRect/>
                  </a:stretch>
                </a:blipFill>
              </p:spPr>
              <p:txBody>
                <a:bodyPr/>
                <a:lstStyle/>
                <a:p>
                  <a:r>
                    <a:rPr lang="zh-CN" altLang="en-US">
                      <a:noFill/>
                    </a:rPr>
                    <a:t> </a:t>
                  </a:r>
                </a:p>
              </p:txBody>
            </p:sp>
          </mc:Fallback>
        </mc:AlternateContent>
        <p:grpSp>
          <p:nvGrpSpPr>
            <p:cNvPr id="14" name="组合 13">
              <a:extLst>
                <a:ext uri="{FF2B5EF4-FFF2-40B4-BE49-F238E27FC236}">
                  <a16:creationId xmlns:a16="http://schemas.microsoft.com/office/drawing/2014/main" id="{52901413-6984-48D2-0616-4E32C40C3FD2}"/>
                </a:ext>
              </a:extLst>
            </p:cNvPr>
            <p:cNvGrpSpPr/>
            <p:nvPr/>
          </p:nvGrpSpPr>
          <p:grpSpPr>
            <a:xfrm>
              <a:off x="517058" y="1442740"/>
              <a:ext cx="3917483" cy="3740720"/>
              <a:chOff x="517058" y="1442740"/>
              <a:chExt cx="3917483" cy="3740720"/>
            </a:xfrm>
          </p:grpSpPr>
          <p:sp>
            <p:nvSpPr>
              <p:cNvPr id="15" name="Text Box 52">
                <a:extLst>
                  <a:ext uri="{FF2B5EF4-FFF2-40B4-BE49-F238E27FC236}">
                    <a16:creationId xmlns:a16="http://schemas.microsoft.com/office/drawing/2014/main" id="{9FCDA2E8-371A-C5F5-4E14-7042123EA424}"/>
                  </a:ext>
                </a:extLst>
              </p:cNvPr>
              <p:cNvSpPr txBox="1">
                <a:spLocks noChangeArrowheads="1"/>
              </p:cNvSpPr>
              <p:nvPr/>
            </p:nvSpPr>
            <p:spPr bwMode="auto">
              <a:xfrm>
                <a:off x="644593" y="4692924"/>
                <a:ext cx="3789948" cy="490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defTabSz="230520">
                  <a:spcBef>
                    <a:spcPct val="50000"/>
                  </a:spcBef>
                  <a:defRPr/>
                </a:pPr>
                <a:r>
                  <a:rPr lang="zh-CN" altLang="en-US" sz="1007" b="1" dirty="0">
                    <a:solidFill>
                      <a:prstClr val="black"/>
                    </a:solidFill>
                    <a:latin typeface="KaiTi" panose="02010609060101010101" pitchFamily="49" charset="-122"/>
                    <a:ea typeface="KaiTi" panose="02010609060101010101" pitchFamily="49" charset="-122"/>
                  </a:rPr>
                  <a:t>税收依赖于收入的消费函数</a:t>
                </a:r>
                <a:endParaRPr lang="en-US" altLang="zh-CN" sz="1007" b="1" dirty="0">
                  <a:solidFill>
                    <a:prstClr val="black"/>
                  </a:solidFill>
                  <a:latin typeface="KaiTi" panose="02010609060101010101" pitchFamily="49" charset="-122"/>
                  <a:ea typeface="KaiTi" panose="02010609060101010101" pitchFamily="49" charset="-122"/>
                </a:endParaRPr>
              </a:p>
            </p:txBody>
          </p:sp>
          <p:cxnSp>
            <p:nvCxnSpPr>
              <p:cNvPr id="16" name="直接箭头连接符 5">
                <a:extLst>
                  <a:ext uri="{FF2B5EF4-FFF2-40B4-BE49-F238E27FC236}">
                    <a16:creationId xmlns:a16="http://schemas.microsoft.com/office/drawing/2014/main" id="{85F0059B-9407-B8C2-E06D-2E4DF5D7F324}"/>
                  </a:ext>
                </a:extLst>
              </p:cNvPr>
              <p:cNvCxnSpPr/>
              <p:nvPr/>
            </p:nvCxnSpPr>
            <p:spPr>
              <a:xfrm>
                <a:off x="1033250" y="4483993"/>
                <a:ext cx="3170908"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17" name="直接箭头连接符 7">
                <a:extLst>
                  <a:ext uri="{FF2B5EF4-FFF2-40B4-BE49-F238E27FC236}">
                    <a16:creationId xmlns:a16="http://schemas.microsoft.com/office/drawing/2014/main" id="{AEB741FB-5588-0491-EFB2-C98A8813BE01}"/>
                  </a:ext>
                </a:extLst>
              </p:cNvPr>
              <p:cNvCxnSpPr/>
              <p:nvPr/>
            </p:nvCxnSpPr>
            <p:spPr>
              <a:xfrm flipV="1">
                <a:off x="1027939" y="1658329"/>
                <a:ext cx="0" cy="2836288"/>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18" name="直接连接符 9">
                <a:extLst>
                  <a:ext uri="{FF2B5EF4-FFF2-40B4-BE49-F238E27FC236}">
                    <a16:creationId xmlns:a16="http://schemas.microsoft.com/office/drawing/2014/main" id="{E095D2B0-B95B-9134-0872-018A216A6FC9}"/>
                  </a:ext>
                </a:extLst>
              </p:cNvPr>
              <p:cNvCxnSpPr/>
              <p:nvPr/>
            </p:nvCxnSpPr>
            <p:spPr>
              <a:xfrm flipV="1">
                <a:off x="1033251" y="1854849"/>
                <a:ext cx="2714127" cy="2629144"/>
              </a:xfrm>
              <a:prstGeom prst="line">
                <a:avLst/>
              </a:prstGeom>
              <a:ln w="15875">
                <a:prstDash val="solid"/>
              </a:ln>
            </p:spPr>
            <p:style>
              <a:lnRef idx="1">
                <a:schemeClr val="dk1"/>
              </a:lnRef>
              <a:fillRef idx="0">
                <a:schemeClr val="dk1"/>
              </a:fillRef>
              <a:effectRef idx="0">
                <a:schemeClr val="dk1"/>
              </a:effectRef>
              <a:fontRef idx="minor">
                <a:schemeClr val="tx1"/>
              </a:fontRef>
            </p:style>
          </p:cxnSp>
          <p:cxnSp>
            <p:nvCxnSpPr>
              <p:cNvPr id="19" name="直接连接符 11">
                <a:extLst>
                  <a:ext uri="{FF2B5EF4-FFF2-40B4-BE49-F238E27FC236}">
                    <a16:creationId xmlns:a16="http://schemas.microsoft.com/office/drawing/2014/main" id="{6B47B449-0EA1-2069-E75F-6E5F99874EFF}"/>
                  </a:ext>
                </a:extLst>
              </p:cNvPr>
              <p:cNvCxnSpPr>
                <a:cxnSpLocks/>
              </p:cNvCxnSpPr>
              <p:nvPr/>
            </p:nvCxnSpPr>
            <p:spPr>
              <a:xfrm flipV="1">
                <a:off x="1027939" y="2113950"/>
                <a:ext cx="2968046" cy="1273037"/>
              </a:xfrm>
              <a:prstGeom prst="line">
                <a:avLst/>
              </a:prstGeom>
              <a:ln w="15875">
                <a:solidFill>
                  <a:srgbClr val="00B0F0"/>
                </a:solidFill>
              </a:ln>
            </p:spPr>
            <p:style>
              <a:lnRef idx="1">
                <a:schemeClr val="dk1"/>
              </a:lnRef>
              <a:fillRef idx="0">
                <a:schemeClr val="dk1"/>
              </a:fillRef>
              <a:effectRef idx="0">
                <a:schemeClr val="dk1"/>
              </a:effectRef>
              <a:fontRef idx="minor">
                <a:schemeClr val="tx1"/>
              </a:fontRef>
            </p:style>
          </p:cxnSp>
          <p:sp>
            <p:nvSpPr>
              <p:cNvPr id="20" name="文本框 19">
                <a:extLst>
                  <a:ext uri="{FF2B5EF4-FFF2-40B4-BE49-F238E27FC236}">
                    <a16:creationId xmlns:a16="http://schemas.microsoft.com/office/drawing/2014/main" id="{893ECD48-FB99-B808-0D24-0B44BD2F5AD2}"/>
                  </a:ext>
                </a:extLst>
              </p:cNvPr>
              <p:cNvSpPr txBox="1"/>
              <p:nvPr/>
            </p:nvSpPr>
            <p:spPr>
              <a:xfrm>
                <a:off x="517058" y="1442740"/>
                <a:ext cx="637369" cy="552472"/>
              </a:xfrm>
              <a:prstGeom prst="rect">
                <a:avLst/>
              </a:prstGeom>
              <a:noFill/>
            </p:spPr>
            <p:txBody>
              <a:bodyPr wrap="square" rtlCol="0">
                <a:spAutoFit/>
              </a:bodyPr>
              <a:lstStyle/>
              <a:p>
                <a:pPr defTabSz="230520">
                  <a:defRPr/>
                </a:pPr>
                <a:r>
                  <a:rPr lang="en-US" altLang="zh-CN" sz="1210" dirty="0">
                    <a:solidFill>
                      <a:prstClr val="black"/>
                    </a:solidFill>
                    <a:latin typeface="Garamond" panose="02020404030301010803" pitchFamily="18" charset="0"/>
                    <a:ea typeface="SimSun" panose="02010600030101010101" pitchFamily="2" charset="-122"/>
                  </a:rPr>
                  <a:t>c</a:t>
                </a:r>
                <a:endParaRPr lang="zh-CN" altLang="en-US" sz="1210" dirty="0">
                  <a:solidFill>
                    <a:prstClr val="black"/>
                  </a:solidFill>
                  <a:latin typeface="Garamond" panose="02020404030301010803" pitchFamily="18" charset="0"/>
                  <a:ea typeface="SimSun" panose="02010600030101010101" pitchFamily="2" charset="-122"/>
                </a:endParaRPr>
              </a:p>
            </p:txBody>
          </p:sp>
          <p:sp>
            <p:nvSpPr>
              <p:cNvPr id="21" name="文本框 20">
                <a:extLst>
                  <a:ext uri="{FF2B5EF4-FFF2-40B4-BE49-F238E27FC236}">
                    <a16:creationId xmlns:a16="http://schemas.microsoft.com/office/drawing/2014/main" id="{E9F3072E-80A2-5516-2CBD-AAE378298E5A}"/>
                  </a:ext>
                </a:extLst>
              </p:cNvPr>
              <p:cNvSpPr txBox="1"/>
              <p:nvPr/>
            </p:nvSpPr>
            <p:spPr>
              <a:xfrm>
                <a:off x="2511447" y="1713840"/>
                <a:ext cx="1047390" cy="798438"/>
              </a:xfrm>
              <a:prstGeom prst="rect">
                <a:avLst/>
              </a:prstGeom>
              <a:noFill/>
            </p:spPr>
            <p:txBody>
              <a:bodyPr wrap="square" rtlCol="0">
                <a:spAutoFit/>
              </a:bodyPr>
              <a:lstStyle/>
              <a:p>
                <a:pPr defTabSz="230520">
                  <a:defRPr/>
                </a:pPr>
                <a:r>
                  <a:rPr lang="en-US" altLang="zh-CN" sz="1008" dirty="0">
                    <a:solidFill>
                      <a:prstClr val="black"/>
                    </a:solidFill>
                    <a:latin typeface="Garamond" panose="02020404030301010803" pitchFamily="18" charset="0"/>
                    <a:ea typeface="SimSun" panose="02010600030101010101" pitchFamily="2" charset="-122"/>
                  </a:rPr>
                  <a:t>45</a:t>
                </a:r>
                <a:r>
                  <a:rPr lang="zh-CN" altLang="en-US" sz="1008" dirty="0">
                    <a:solidFill>
                      <a:prstClr val="black"/>
                    </a:solidFill>
                    <a:latin typeface="Garamond" panose="02020404030301010803" pitchFamily="18" charset="0"/>
                    <a:ea typeface="SimSun" panose="02010600030101010101" pitchFamily="2" charset="-122"/>
                  </a:rPr>
                  <a:t>度线</a:t>
                </a:r>
              </a:p>
            </p:txBody>
          </p:sp>
          <p:sp>
            <p:nvSpPr>
              <p:cNvPr id="22" name="文本框 21">
                <a:extLst>
                  <a:ext uri="{FF2B5EF4-FFF2-40B4-BE49-F238E27FC236}">
                    <a16:creationId xmlns:a16="http://schemas.microsoft.com/office/drawing/2014/main" id="{787E94EA-33B3-23C9-C79D-D9F87E682715}"/>
                  </a:ext>
                </a:extLst>
              </p:cNvPr>
              <p:cNvSpPr txBox="1"/>
              <p:nvPr/>
            </p:nvSpPr>
            <p:spPr>
              <a:xfrm>
                <a:off x="709257" y="4444933"/>
                <a:ext cx="637369" cy="552472"/>
              </a:xfrm>
              <a:prstGeom prst="rect">
                <a:avLst/>
              </a:prstGeom>
              <a:noFill/>
            </p:spPr>
            <p:txBody>
              <a:bodyPr wrap="square" rtlCol="0">
                <a:spAutoFit/>
              </a:bodyPr>
              <a:lstStyle/>
              <a:p>
                <a:pPr defTabSz="230520">
                  <a:defRPr/>
                </a:pPr>
                <a:r>
                  <a:rPr lang="en-US" altLang="zh-CN" sz="1210" dirty="0">
                    <a:solidFill>
                      <a:prstClr val="black"/>
                    </a:solidFill>
                    <a:latin typeface="Garamond" panose="02020404030301010803" pitchFamily="18" charset="0"/>
                    <a:ea typeface="SimSun" panose="02010600030101010101" pitchFamily="2" charset="-122"/>
                  </a:rPr>
                  <a:t>0</a:t>
                </a:r>
                <a:endParaRPr lang="zh-CN" altLang="en-US" sz="1210" dirty="0">
                  <a:solidFill>
                    <a:prstClr val="black"/>
                  </a:solidFill>
                  <a:latin typeface="Garamond" panose="02020404030301010803" pitchFamily="18" charset="0"/>
                  <a:ea typeface="SimSun" panose="02010600030101010101" pitchFamily="2" charset="-122"/>
                </a:endParaRPr>
              </a:p>
            </p:txBody>
          </p:sp>
        </p:grpSp>
      </p:grpSp>
      <p:sp>
        <p:nvSpPr>
          <p:cNvPr id="24" name="文本框 23">
            <a:extLst>
              <a:ext uri="{FF2B5EF4-FFF2-40B4-BE49-F238E27FC236}">
                <a16:creationId xmlns:a16="http://schemas.microsoft.com/office/drawing/2014/main" id="{B6DB249A-5F1B-505C-3105-E54985C33892}"/>
              </a:ext>
            </a:extLst>
          </p:cNvPr>
          <p:cNvSpPr txBox="1"/>
          <p:nvPr/>
        </p:nvSpPr>
        <p:spPr>
          <a:xfrm>
            <a:off x="4090857" y="2583675"/>
            <a:ext cx="321340" cy="278538"/>
          </a:xfrm>
          <a:prstGeom prst="rect">
            <a:avLst/>
          </a:prstGeom>
          <a:noFill/>
        </p:spPr>
        <p:txBody>
          <a:bodyPr wrap="square" rtlCol="0">
            <a:spAutoFit/>
          </a:bodyPr>
          <a:lstStyle/>
          <a:p>
            <a:pPr defTabSz="230520">
              <a:defRPr/>
            </a:pPr>
            <a:r>
              <a:rPr lang="en-US" altLang="zh-CN" sz="1210" dirty="0">
                <a:solidFill>
                  <a:prstClr val="black"/>
                </a:solidFill>
                <a:latin typeface="Garamond" panose="02020404030301010803" pitchFamily="18" charset="0"/>
                <a:ea typeface="SimSun" panose="02010600030101010101" pitchFamily="2" charset="-122"/>
              </a:rPr>
              <a:t>y</a:t>
            </a:r>
            <a:endParaRPr lang="zh-CN" altLang="en-US" sz="1210" dirty="0">
              <a:solidFill>
                <a:prstClr val="black"/>
              </a:solidFill>
              <a:latin typeface="Garamond" panose="02020404030301010803" pitchFamily="18" charset="0"/>
              <a:ea typeface="SimSun" panose="02010600030101010101" pitchFamily="2" charset="-122"/>
            </a:endParaRPr>
          </a:p>
        </p:txBody>
      </p:sp>
      <p:grpSp>
        <p:nvGrpSpPr>
          <p:cNvPr id="25" name="组合 24">
            <a:extLst>
              <a:ext uri="{FF2B5EF4-FFF2-40B4-BE49-F238E27FC236}">
                <a16:creationId xmlns:a16="http://schemas.microsoft.com/office/drawing/2014/main" id="{277F09ED-92A8-B688-70BA-A8EEBAFDBEC6}"/>
              </a:ext>
            </a:extLst>
          </p:cNvPr>
          <p:cNvGrpSpPr/>
          <p:nvPr/>
        </p:nvGrpSpPr>
        <p:grpSpPr>
          <a:xfrm>
            <a:off x="2278548" y="1189079"/>
            <a:ext cx="2159761" cy="1885045"/>
            <a:chOff x="568153" y="1442741"/>
            <a:chExt cx="4283824" cy="3738932"/>
          </a:xfrm>
        </p:grpSpPr>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8AD0C96A-4B70-89BA-53B2-C4EED0B6717F}"/>
                    </a:ext>
                  </a:extLst>
                </p:cNvPr>
                <p:cNvSpPr txBox="1"/>
                <p:nvPr/>
              </p:nvSpPr>
              <p:spPr>
                <a:xfrm>
                  <a:off x="3011208" y="2504868"/>
                  <a:ext cx="1840769" cy="490790"/>
                </a:xfrm>
                <a:prstGeom prst="rect">
                  <a:avLst/>
                </a:prstGeom>
                <a:noFill/>
              </p:spPr>
              <p:txBody>
                <a:bodyPr wrap="square" rtlCol="0">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08" i="1">
                            <a:latin typeface="Cambria Math" panose="02040503050406030204" pitchFamily="18" charset="0"/>
                          </a:rPr>
                          <m:t>𝑘</m:t>
                        </m:r>
                        <m:r>
                          <a:rPr lang="en-US" altLang="zh-CN" sz="1008" i="1">
                            <a:latin typeface="Cambria Math" panose="02040503050406030204" pitchFamily="18" charset="0"/>
                          </a:rPr>
                          <m:t>=</m:t>
                        </m:r>
                        <m:r>
                          <a:rPr lang="zh-CN" altLang="en-US" sz="1008" i="1">
                            <a:latin typeface="Cambria Math" panose="02040503050406030204" pitchFamily="18" charset="0"/>
                          </a:rPr>
                          <m:t>𝛽</m:t>
                        </m:r>
                      </m:oMath>
                    </m:oMathPara>
                  </a14:m>
                  <a:endParaRPr lang="zh-CN" altLang="en-US" sz="1008" dirty="0">
                    <a:solidFill>
                      <a:prstClr val="black"/>
                    </a:solidFill>
                    <a:latin typeface="Garamond" panose="02020404030301010803" pitchFamily="18" charset="0"/>
                    <a:ea typeface="SimSun" panose="02010600030101010101" pitchFamily="2" charset="-122"/>
                  </a:endParaRPr>
                </a:p>
              </p:txBody>
            </p:sp>
          </mc:Choice>
          <mc:Fallback xmlns="">
            <p:sp>
              <p:nvSpPr>
                <p:cNvPr id="26" name="文本框 25">
                  <a:extLst>
                    <a:ext uri="{FF2B5EF4-FFF2-40B4-BE49-F238E27FC236}">
                      <a16:creationId xmlns:a16="http://schemas.microsoft.com/office/drawing/2014/main" id="{8AD0C96A-4B70-89BA-53B2-C4EED0B6717F}"/>
                    </a:ext>
                  </a:extLst>
                </p:cNvPr>
                <p:cNvSpPr txBox="1">
                  <a:spLocks noRot="1" noChangeAspect="1" noMove="1" noResize="1" noEditPoints="1" noAdjustHandles="1" noChangeArrowheads="1" noChangeShapeType="1" noTextEdit="1"/>
                </p:cNvSpPr>
                <p:nvPr/>
              </p:nvSpPr>
              <p:spPr>
                <a:xfrm>
                  <a:off x="3011208" y="2504868"/>
                  <a:ext cx="1840769" cy="490790"/>
                </a:xfrm>
                <a:prstGeom prst="rect">
                  <a:avLst/>
                </a:prstGeom>
                <a:blipFill>
                  <a:blip r:embed="rId4"/>
                  <a:stretch>
                    <a:fillRect/>
                  </a:stretch>
                </a:blipFill>
              </p:spPr>
              <p:txBody>
                <a:bodyPr/>
                <a:lstStyle/>
                <a:p>
                  <a:r>
                    <a:rPr lang="zh-CN" altLang="en-US">
                      <a:noFill/>
                    </a:rPr>
                    <a:t> </a:t>
                  </a:r>
                </a:p>
              </p:txBody>
            </p:sp>
          </mc:Fallback>
        </mc:AlternateContent>
        <p:grpSp>
          <p:nvGrpSpPr>
            <p:cNvPr id="27" name="组合 26">
              <a:extLst>
                <a:ext uri="{FF2B5EF4-FFF2-40B4-BE49-F238E27FC236}">
                  <a16:creationId xmlns:a16="http://schemas.microsoft.com/office/drawing/2014/main" id="{23565EC7-57BF-ABA7-2308-5F9B4B66B6EB}"/>
                </a:ext>
              </a:extLst>
            </p:cNvPr>
            <p:cNvGrpSpPr/>
            <p:nvPr/>
          </p:nvGrpSpPr>
          <p:grpSpPr>
            <a:xfrm>
              <a:off x="568153" y="1442741"/>
              <a:ext cx="3894948" cy="3738932"/>
              <a:chOff x="568153" y="1442741"/>
              <a:chExt cx="3894948" cy="3738932"/>
            </a:xfrm>
          </p:grpSpPr>
          <p:sp>
            <p:nvSpPr>
              <p:cNvPr id="28" name="Text Box 52">
                <a:extLst>
                  <a:ext uri="{FF2B5EF4-FFF2-40B4-BE49-F238E27FC236}">
                    <a16:creationId xmlns:a16="http://schemas.microsoft.com/office/drawing/2014/main" id="{78438E22-C07A-0694-E185-F09F8D14008C}"/>
                  </a:ext>
                </a:extLst>
              </p:cNvPr>
              <p:cNvSpPr txBox="1">
                <a:spLocks noChangeArrowheads="1"/>
              </p:cNvSpPr>
              <p:nvPr/>
            </p:nvSpPr>
            <p:spPr bwMode="auto">
              <a:xfrm>
                <a:off x="673154" y="4691137"/>
                <a:ext cx="3789947" cy="490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defTabSz="230520">
                  <a:spcBef>
                    <a:spcPct val="50000"/>
                  </a:spcBef>
                  <a:defRPr/>
                </a:pPr>
                <a:r>
                  <a:rPr lang="zh-CN" altLang="en-US" sz="1007" b="1" dirty="0">
                    <a:solidFill>
                      <a:prstClr val="black"/>
                    </a:solidFill>
                    <a:latin typeface="KaiTi" panose="02010609060101010101" pitchFamily="49" charset="-122"/>
                    <a:ea typeface="KaiTi" panose="02010609060101010101" pitchFamily="49" charset="-122"/>
                  </a:rPr>
                  <a:t>税收为常量的消费函数</a:t>
                </a:r>
                <a:endParaRPr lang="en-US" altLang="zh-CN" sz="1007" b="1" dirty="0">
                  <a:solidFill>
                    <a:prstClr val="black"/>
                  </a:solidFill>
                  <a:latin typeface="KaiTi" panose="02010609060101010101" pitchFamily="49" charset="-122"/>
                  <a:ea typeface="KaiTi" panose="02010609060101010101" pitchFamily="49" charset="-122"/>
                </a:endParaRPr>
              </a:p>
            </p:txBody>
          </p:sp>
          <p:cxnSp>
            <p:nvCxnSpPr>
              <p:cNvPr id="29" name="直接箭头连接符 5">
                <a:extLst>
                  <a:ext uri="{FF2B5EF4-FFF2-40B4-BE49-F238E27FC236}">
                    <a16:creationId xmlns:a16="http://schemas.microsoft.com/office/drawing/2014/main" id="{16252B37-C5D1-95EF-7952-8B91E61AEE5B}"/>
                  </a:ext>
                </a:extLst>
              </p:cNvPr>
              <p:cNvCxnSpPr/>
              <p:nvPr/>
            </p:nvCxnSpPr>
            <p:spPr>
              <a:xfrm>
                <a:off x="1033250" y="4483993"/>
                <a:ext cx="3170908" cy="0"/>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30" name="直接箭头连接符 7">
                <a:extLst>
                  <a:ext uri="{FF2B5EF4-FFF2-40B4-BE49-F238E27FC236}">
                    <a16:creationId xmlns:a16="http://schemas.microsoft.com/office/drawing/2014/main" id="{8638950C-7EF0-24DB-EF1A-413E2DCC8C09}"/>
                  </a:ext>
                </a:extLst>
              </p:cNvPr>
              <p:cNvCxnSpPr/>
              <p:nvPr/>
            </p:nvCxnSpPr>
            <p:spPr>
              <a:xfrm flipV="1">
                <a:off x="1027939" y="1658329"/>
                <a:ext cx="0" cy="2836288"/>
              </a:xfrm>
              <a:prstGeom prst="straightConnector1">
                <a:avLst/>
              </a:prstGeom>
              <a:ln w="9525">
                <a:tailEnd type="triangle"/>
              </a:ln>
            </p:spPr>
            <p:style>
              <a:lnRef idx="1">
                <a:schemeClr val="dk1"/>
              </a:lnRef>
              <a:fillRef idx="0">
                <a:schemeClr val="dk1"/>
              </a:fillRef>
              <a:effectRef idx="0">
                <a:schemeClr val="dk1"/>
              </a:effectRef>
              <a:fontRef idx="minor">
                <a:schemeClr val="tx1"/>
              </a:fontRef>
            </p:style>
          </p:cxnSp>
          <p:cxnSp>
            <p:nvCxnSpPr>
              <p:cNvPr id="31" name="直接连接符 9">
                <a:extLst>
                  <a:ext uri="{FF2B5EF4-FFF2-40B4-BE49-F238E27FC236}">
                    <a16:creationId xmlns:a16="http://schemas.microsoft.com/office/drawing/2014/main" id="{8E94CE99-1F61-C5C7-9047-F4FC148A5418}"/>
                  </a:ext>
                </a:extLst>
              </p:cNvPr>
              <p:cNvCxnSpPr/>
              <p:nvPr/>
            </p:nvCxnSpPr>
            <p:spPr>
              <a:xfrm flipV="1">
                <a:off x="1033251" y="1854849"/>
                <a:ext cx="2714127" cy="2629144"/>
              </a:xfrm>
              <a:prstGeom prst="line">
                <a:avLst/>
              </a:prstGeom>
              <a:ln w="15875">
                <a:prstDash val="solid"/>
              </a:ln>
            </p:spPr>
            <p:style>
              <a:lnRef idx="1">
                <a:schemeClr val="dk1"/>
              </a:lnRef>
              <a:fillRef idx="0">
                <a:schemeClr val="dk1"/>
              </a:fillRef>
              <a:effectRef idx="0">
                <a:schemeClr val="dk1"/>
              </a:effectRef>
              <a:fontRef idx="minor">
                <a:schemeClr val="tx1"/>
              </a:fontRef>
            </p:style>
          </p:cxnSp>
          <p:cxnSp>
            <p:nvCxnSpPr>
              <p:cNvPr id="32" name="直接连接符 11">
                <a:extLst>
                  <a:ext uri="{FF2B5EF4-FFF2-40B4-BE49-F238E27FC236}">
                    <a16:creationId xmlns:a16="http://schemas.microsoft.com/office/drawing/2014/main" id="{3405D08E-CBF8-E17C-295C-32CC9C26FFFD}"/>
                  </a:ext>
                </a:extLst>
              </p:cNvPr>
              <p:cNvCxnSpPr/>
              <p:nvPr/>
            </p:nvCxnSpPr>
            <p:spPr>
              <a:xfrm flipV="1">
                <a:off x="1026910" y="2113950"/>
                <a:ext cx="2969075" cy="1837746"/>
              </a:xfrm>
              <a:prstGeom prst="line">
                <a:avLst/>
              </a:prstGeom>
              <a:ln w="15875">
                <a:solidFill>
                  <a:srgbClr val="00B0F0"/>
                </a:solidFill>
              </a:ln>
            </p:spPr>
            <p:style>
              <a:lnRef idx="1">
                <a:schemeClr val="dk1"/>
              </a:lnRef>
              <a:fillRef idx="0">
                <a:schemeClr val="dk1"/>
              </a:fillRef>
              <a:effectRef idx="0">
                <a:schemeClr val="dk1"/>
              </a:effectRef>
              <a:fontRef idx="minor">
                <a:schemeClr val="tx1"/>
              </a:fontRef>
            </p:style>
          </p:cxnSp>
          <p:sp>
            <p:nvSpPr>
              <p:cNvPr id="33" name="文本框 32">
                <a:extLst>
                  <a:ext uri="{FF2B5EF4-FFF2-40B4-BE49-F238E27FC236}">
                    <a16:creationId xmlns:a16="http://schemas.microsoft.com/office/drawing/2014/main" id="{F2193636-38BE-3FCD-47D5-E1171CA36DE5}"/>
                  </a:ext>
                </a:extLst>
              </p:cNvPr>
              <p:cNvSpPr txBox="1"/>
              <p:nvPr/>
            </p:nvSpPr>
            <p:spPr>
              <a:xfrm>
                <a:off x="568153" y="1442741"/>
                <a:ext cx="637369" cy="552472"/>
              </a:xfrm>
              <a:prstGeom prst="rect">
                <a:avLst/>
              </a:prstGeom>
              <a:noFill/>
            </p:spPr>
            <p:txBody>
              <a:bodyPr wrap="square" rtlCol="0">
                <a:spAutoFit/>
              </a:bodyPr>
              <a:lstStyle/>
              <a:p>
                <a:pPr defTabSz="230520">
                  <a:defRPr/>
                </a:pPr>
                <a:r>
                  <a:rPr lang="en-US" altLang="zh-CN" sz="1210" dirty="0">
                    <a:solidFill>
                      <a:prstClr val="black"/>
                    </a:solidFill>
                    <a:latin typeface="Garamond" panose="02020404030301010803" pitchFamily="18" charset="0"/>
                    <a:ea typeface="SimSun" panose="02010600030101010101" pitchFamily="2" charset="-122"/>
                  </a:rPr>
                  <a:t>c</a:t>
                </a:r>
                <a:endParaRPr lang="zh-CN" altLang="en-US" sz="1210" dirty="0">
                  <a:solidFill>
                    <a:prstClr val="black"/>
                  </a:solidFill>
                  <a:latin typeface="Garamond" panose="02020404030301010803" pitchFamily="18" charset="0"/>
                  <a:ea typeface="SimSun" panose="02010600030101010101" pitchFamily="2" charset="-122"/>
                </a:endParaRPr>
              </a:p>
            </p:txBody>
          </p:sp>
          <p:sp>
            <p:nvSpPr>
              <p:cNvPr id="34" name="文本框 33">
                <a:extLst>
                  <a:ext uri="{FF2B5EF4-FFF2-40B4-BE49-F238E27FC236}">
                    <a16:creationId xmlns:a16="http://schemas.microsoft.com/office/drawing/2014/main" id="{82E76212-261F-468C-0EC7-D36667E9BE22}"/>
                  </a:ext>
                </a:extLst>
              </p:cNvPr>
              <p:cNvSpPr txBox="1"/>
              <p:nvPr/>
            </p:nvSpPr>
            <p:spPr>
              <a:xfrm>
                <a:off x="2511447" y="1713840"/>
                <a:ext cx="1047390" cy="798438"/>
              </a:xfrm>
              <a:prstGeom prst="rect">
                <a:avLst/>
              </a:prstGeom>
              <a:noFill/>
            </p:spPr>
            <p:txBody>
              <a:bodyPr wrap="square" rtlCol="0">
                <a:spAutoFit/>
              </a:bodyPr>
              <a:lstStyle/>
              <a:p>
                <a:pPr defTabSz="230520">
                  <a:defRPr/>
                </a:pPr>
                <a:r>
                  <a:rPr lang="en-US" altLang="zh-CN" sz="1008" dirty="0">
                    <a:solidFill>
                      <a:prstClr val="black"/>
                    </a:solidFill>
                    <a:latin typeface="Garamond" panose="02020404030301010803" pitchFamily="18" charset="0"/>
                    <a:ea typeface="SimSun" panose="02010600030101010101" pitchFamily="2" charset="-122"/>
                  </a:rPr>
                  <a:t>45</a:t>
                </a:r>
                <a:r>
                  <a:rPr lang="zh-CN" altLang="en-US" sz="1008" dirty="0">
                    <a:solidFill>
                      <a:prstClr val="black"/>
                    </a:solidFill>
                    <a:latin typeface="Garamond" panose="02020404030301010803" pitchFamily="18" charset="0"/>
                    <a:ea typeface="SimSun" panose="02010600030101010101" pitchFamily="2" charset="-122"/>
                  </a:rPr>
                  <a:t>度线</a:t>
                </a:r>
              </a:p>
            </p:txBody>
          </p:sp>
          <p:sp>
            <p:nvSpPr>
              <p:cNvPr id="35" name="文本框 34">
                <a:extLst>
                  <a:ext uri="{FF2B5EF4-FFF2-40B4-BE49-F238E27FC236}">
                    <a16:creationId xmlns:a16="http://schemas.microsoft.com/office/drawing/2014/main" id="{85B2380F-0889-6CB4-391F-C7167FD80784}"/>
                  </a:ext>
                </a:extLst>
              </p:cNvPr>
              <p:cNvSpPr txBox="1"/>
              <p:nvPr/>
            </p:nvSpPr>
            <p:spPr>
              <a:xfrm>
                <a:off x="709257" y="4444933"/>
                <a:ext cx="637369" cy="552472"/>
              </a:xfrm>
              <a:prstGeom prst="rect">
                <a:avLst/>
              </a:prstGeom>
              <a:noFill/>
            </p:spPr>
            <p:txBody>
              <a:bodyPr wrap="square" rtlCol="0">
                <a:spAutoFit/>
              </a:bodyPr>
              <a:lstStyle/>
              <a:p>
                <a:pPr defTabSz="230520">
                  <a:defRPr/>
                </a:pPr>
                <a:r>
                  <a:rPr lang="en-US" altLang="zh-CN" sz="1210" dirty="0">
                    <a:solidFill>
                      <a:prstClr val="black"/>
                    </a:solidFill>
                    <a:latin typeface="Garamond" panose="02020404030301010803" pitchFamily="18" charset="0"/>
                    <a:ea typeface="SimSun" panose="02010600030101010101" pitchFamily="2" charset="-122"/>
                  </a:rPr>
                  <a:t>0</a:t>
                </a:r>
                <a:endParaRPr lang="zh-CN" altLang="en-US" sz="1210" dirty="0">
                  <a:solidFill>
                    <a:prstClr val="black"/>
                  </a:solidFill>
                  <a:latin typeface="Garamond" panose="02020404030301010803" pitchFamily="18" charset="0"/>
                  <a:ea typeface="SimSun" panose="02010600030101010101" pitchFamily="2" charset="-122"/>
                </a:endParaRPr>
              </a:p>
            </p:txBody>
          </p:sp>
        </p:grpSp>
      </p:grpSp>
      <p:sp>
        <p:nvSpPr>
          <p:cNvPr id="3" name="页脚占位符 1">
            <a:extLst>
              <a:ext uri="{FF2B5EF4-FFF2-40B4-BE49-F238E27FC236}">
                <a16:creationId xmlns:a16="http://schemas.microsoft.com/office/drawing/2014/main" id="{D45A5156-720C-67B6-489A-6AB2704B3113}"/>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650992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left)">
                                      <p:cBhvr>
                                        <p:cTn id="1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B24B8316-19AB-D79E-288E-9DECF6936E1E}"/>
              </a:ext>
            </a:extLst>
          </p:cNvPr>
          <p:cNvSpPr txBox="1">
            <a:spLocks noChangeArrowheads="1"/>
          </p:cNvSpPr>
          <p:nvPr/>
        </p:nvSpPr>
        <p:spPr bwMode="auto">
          <a:xfrm>
            <a:off x="172879" y="128847"/>
            <a:ext cx="4240332" cy="343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6101" tIns="23051" rIns="46101" bIns="23051" numCol="1" anchor="ctr" anchorCtr="0" compatLnSpc="1">
            <a:prstTxWarp prst="textNoShape">
              <a:avLst/>
            </a:prstTxWarp>
          </a:bodyPr>
          <a:lstStyle>
            <a:lvl1pPr algn="ctr" rtl="0" eaLnBrk="0" fontAlgn="base" hangingPunct="0">
              <a:spcBef>
                <a:spcPct val="0"/>
              </a:spcBef>
              <a:spcAft>
                <a:spcPct val="0"/>
              </a:spcAft>
              <a:defRPr sz="3797" b="1" kern="1200">
                <a:solidFill>
                  <a:srgbClr val="333399"/>
                </a:solidFill>
                <a:latin typeface="+mj-lt"/>
                <a:ea typeface="+mj-ea"/>
                <a:cs typeface="+mj-cs"/>
              </a:defRPr>
            </a:lvl1pPr>
            <a:lvl2pPr algn="ctr" rtl="0" eaLnBrk="0" fontAlgn="base" hangingPunct="0">
              <a:spcBef>
                <a:spcPct val="0"/>
              </a:spcBef>
              <a:spcAft>
                <a:spcPct val="0"/>
              </a:spcAft>
              <a:defRPr sz="3797" b="1">
                <a:solidFill>
                  <a:srgbClr val="333399"/>
                </a:solidFill>
                <a:latin typeface="Book Antiqua" panose="02040602050305030304" pitchFamily="18" charset="0"/>
              </a:defRPr>
            </a:lvl2pPr>
            <a:lvl3pPr algn="ctr" rtl="0" eaLnBrk="0" fontAlgn="base" hangingPunct="0">
              <a:spcBef>
                <a:spcPct val="0"/>
              </a:spcBef>
              <a:spcAft>
                <a:spcPct val="0"/>
              </a:spcAft>
              <a:defRPr sz="3797" b="1">
                <a:solidFill>
                  <a:srgbClr val="333399"/>
                </a:solidFill>
                <a:latin typeface="Book Antiqua" panose="02040602050305030304" pitchFamily="18" charset="0"/>
              </a:defRPr>
            </a:lvl3pPr>
            <a:lvl4pPr algn="ctr" rtl="0" eaLnBrk="0" fontAlgn="base" hangingPunct="0">
              <a:spcBef>
                <a:spcPct val="0"/>
              </a:spcBef>
              <a:spcAft>
                <a:spcPct val="0"/>
              </a:spcAft>
              <a:defRPr sz="3797" b="1">
                <a:solidFill>
                  <a:srgbClr val="333399"/>
                </a:solidFill>
                <a:latin typeface="Book Antiqua" panose="02040602050305030304" pitchFamily="18" charset="0"/>
              </a:defRPr>
            </a:lvl4pPr>
            <a:lvl5pPr algn="ctr" rtl="0" eaLnBrk="0" fontAlgn="base" hangingPunct="0">
              <a:spcBef>
                <a:spcPct val="0"/>
              </a:spcBef>
              <a:spcAft>
                <a:spcPct val="0"/>
              </a:spcAft>
              <a:defRPr sz="3797" b="1">
                <a:solidFill>
                  <a:srgbClr val="333399"/>
                </a:solidFill>
                <a:latin typeface="Book Antiqua" panose="02040602050305030304" pitchFamily="18" charset="0"/>
              </a:defRPr>
            </a:lvl5pPr>
            <a:lvl6pPr marL="456821" algn="ctr" rtl="0" eaLnBrk="0" fontAlgn="base" hangingPunct="0">
              <a:spcBef>
                <a:spcPct val="0"/>
              </a:spcBef>
              <a:spcAft>
                <a:spcPct val="0"/>
              </a:spcAft>
              <a:defRPr sz="3797" b="1">
                <a:solidFill>
                  <a:srgbClr val="333399"/>
                </a:solidFill>
                <a:latin typeface="Book Antiqua" panose="02040602050305030304" pitchFamily="18" charset="0"/>
              </a:defRPr>
            </a:lvl6pPr>
            <a:lvl7pPr marL="913643" algn="ctr" rtl="0" eaLnBrk="0" fontAlgn="base" hangingPunct="0">
              <a:spcBef>
                <a:spcPct val="0"/>
              </a:spcBef>
              <a:spcAft>
                <a:spcPct val="0"/>
              </a:spcAft>
              <a:defRPr sz="3797" b="1">
                <a:solidFill>
                  <a:srgbClr val="333399"/>
                </a:solidFill>
                <a:latin typeface="Book Antiqua" panose="02040602050305030304" pitchFamily="18" charset="0"/>
              </a:defRPr>
            </a:lvl7pPr>
            <a:lvl8pPr marL="1370466" algn="ctr" rtl="0" eaLnBrk="0" fontAlgn="base" hangingPunct="0">
              <a:spcBef>
                <a:spcPct val="0"/>
              </a:spcBef>
              <a:spcAft>
                <a:spcPct val="0"/>
              </a:spcAft>
              <a:defRPr sz="3797" b="1">
                <a:solidFill>
                  <a:srgbClr val="333399"/>
                </a:solidFill>
                <a:latin typeface="Book Antiqua" panose="02040602050305030304" pitchFamily="18" charset="0"/>
              </a:defRPr>
            </a:lvl8pPr>
            <a:lvl9pPr marL="1827288" algn="ctr" rtl="0" eaLnBrk="0" fontAlgn="base" hangingPunct="0">
              <a:spcBef>
                <a:spcPct val="0"/>
              </a:spcBef>
              <a:spcAft>
                <a:spcPct val="0"/>
              </a:spcAft>
              <a:defRPr sz="3797" b="1">
                <a:solidFill>
                  <a:srgbClr val="333399"/>
                </a:solidFill>
                <a:latin typeface="Book Antiqua" panose="02040602050305030304" pitchFamily="18" charset="0"/>
              </a:defRPr>
            </a:lvl9pPr>
          </a:lstStyle>
          <a:p>
            <a:pPr defTabSz="461040"/>
            <a:r>
              <a:rPr kumimoji="1" lang="zh-CN" altLang="en-US" sz="1914" b="0" dirty="0">
                <a:latin typeface="Microsoft YaHei" panose="020B0503020204020204" pitchFamily="34" charset="-122"/>
                <a:ea typeface="Microsoft YaHei" panose="020B0503020204020204" pitchFamily="34" charset="-122"/>
              </a:rPr>
              <a:t>短期与长期的消费函数</a:t>
            </a:r>
          </a:p>
        </p:txBody>
      </p:sp>
      <p:sp>
        <p:nvSpPr>
          <p:cNvPr id="6" name="灯片编号占位符 2">
            <a:extLst>
              <a:ext uri="{FF2B5EF4-FFF2-40B4-BE49-F238E27FC236}">
                <a16:creationId xmlns:a16="http://schemas.microsoft.com/office/drawing/2014/main" id="{ACE8AD77-052F-71CE-DFEC-E2537F63F2E5}"/>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42</a:t>
            </a:fld>
            <a:endParaRPr lang="zh-CN" altLang="zh-CN" sz="856">
              <a:solidFill>
                <a:srgbClr val="777777"/>
              </a:solidFill>
              <a:ea typeface="宋体" panose="02010600030101010101" pitchFamily="2" charset="-122"/>
            </a:endParaRPr>
          </a:p>
        </p:txBody>
      </p:sp>
      <p:grpSp>
        <p:nvGrpSpPr>
          <p:cNvPr id="4" name="组合 3">
            <a:extLst>
              <a:ext uri="{FF2B5EF4-FFF2-40B4-BE49-F238E27FC236}">
                <a16:creationId xmlns:a16="http://schemas.microsoft.com/office/drawing/2014/main" id="{F0EF757C-8D72-1FFB-1663-9B79C3727EC9}"/>
              </a:ext>
            </a:extLst>
          </p:cNvPr>
          <p:cNvGrpSpPr/>
          <p:nvPr/>
        </p:nvGrpSpPr>
        <p:grpSpPr>
          <a:xfrm>
            <a:off x="2335726" y="680898"/>
            <a:ext cx="2193097" cy="1903854"/>
            <a:chOff x="4632845" y="1347393"/>
            <a:chExt cx="4349944" cy="3776240"/>
          </a:xfrm>
        </p:grpSpPr>
        <p:sp>
          <p:nvSpPr>
            <p:cNvPr id="13" name="Text Box 52">
              <a:extLst>
                <a:ext uri="{FF2B5EF4-FFF2-40B4-BE49-F238E27FC236}">
                  <a16:creationId xmlns:a16="http://schemas.microsoft.com/office/drawing/2014/main" id="{90631A33-677D-6F9B-9C91-6340EE4C2464}"/>
                </a:ext>
              </a:extLst>
            </p:cNvPr>
            <p:cNvSpPr txBox="1">
              <a:spLocks noChangeArrowheads="1"/>
            </p:cNvSpPr>
            <p:nvPr/>
          </p:nvSpPr>
          <p:spPr bwMode="auto">
            <a:xfrm>
              <a:off x="4673736" y="4633097"/>
              <a:ext cx="3789947" cy="490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defTabSz="230520">
                <a:spcBef>
                  <a:spcPct val="50000"/>
                </a:spcBef>
                <a:defRPr/>
              </a:pPr>
              <a:r>
                <a:rPr lang="zh-CN" altLang="en-US" sz="1007" b="1" dirty="0">
                  <a:solidFill>
                    <a:prstClr val="black"/>
                  </a:solidFill>
                  <a:latin typeface="KaiTi" panose="02010609060101010101" pitchFamily="49" charset="-122"/>
                  <a:ea typeface="KaiTi" panose="02010609060101010101" pitchFamily="49" charset="-122"/>
                </a:rPr>
                <a:t>长期的消费函数</a:t>
              </a:r>
              <a:endParaRPr lang="en-US" altLang="zh-CN" sz="1007" b="1" dirty="0">
                <a:solidFill>
                  <a:prstClr val="black"/>
                </a:solidFill>
                <a:latin typeface="KaiTi" panose="02010609060101010101" pitchFamily="49" charset="-122"/>
                <a:ea typeface="KaiTi" panose="02010609060101010101" pitchFamily="49" charset="-122"/>
              </a:endParaRPr>
            </a:p>
          </p:txBody>
        </p:sp>
        <p:cxnSp>
          <p:nvCxnSpPr>
            <p:cNvPr id="3" name="直接箭头连接符 5">
              <a:extLst>
                <a:ext uri="{FF2B5EF4-FFF2-40B4-BE49-F238E27FC236}">
                  <a16:creationId xmlns:a16="http://schemas.microsoft.com/office/drawing/2014/main" id="{9EEE5874-F725-9D23-28F2-52FF63E6DE0E}"/>
                </a:ext>
              </a:extLst>
            </p:cNvPr>
            <p:cNvCxnSpPr/>
            <p:nvPr/>
          </p:nvCxnSpPr>
          <p:spPr>
            <a:xfrm>
              <a:off x="4994151" y="4533677"/>
              <a:ext cx="3170908" cy="0"/>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cxnSp>
          <p:nvCxnSpPr>
            <p:cNvPr id="7" name="直接箭头连接符 7">
              <a:extLst>
                <a:ext uri="{FF2B5EF4-FFF2-40B4-BE49-F238E27FC236}">
                  <a16:creationId xmlns:a16="http://schemas.microsoft.com/office/drawing/2014/main" id="{95534D48-EAAE-1C16-D915-09EDDCFBAB24}"/>
                </a:ext>
              </a:extLst>
            </p:cNvPr>
            <p:cNvCxnSpPr/>
            <p:nvPr/>
          </p:nvCxnSpPr>
          <p:spPr>
            <a:xfrm flipV="1">
              <a:off x="4988840" y="1708013"/>
              <a:ext cx="0" cy="2836288"/>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cxnSp>
          <p:nvCxnSpPr>
            <p:cNvPr id="11" name="直接连接符 9">
              <a:extLst>
                <a:ext uri="{FF2B5EF4-FFF2-40B4-BE49-F238E27FC236}">
                  <a16:creationId xmlns:a16="http://schemas.microsoft.com/office/drawing/2014/main" id="{DB2E2ADC-22EA-EC73-CCCA-05753D102C39}"/>
                </a:ext>
              </a:extLst>
            </p:cNvPr>
            <p:cNvCxnSpPr/>
            <p:nvPr/>
          </p:nvCxnSpPr>
          <p:spPr>
            <a:xfrm flipV="1">
              <a:off x="4994152" y="1904533"/>
              <a:ext cx="2714127" cy="2629144"/>
            </a:xfrm>
            <a:prstGeom prst="line">
              <a:avLst/>
            </a:prstGeom>
            <a:ln w="15875">
              <a:prstDash val="solid"/>
            </a:ln>
          </p:spPr>
          <p:style>
            <a:lnRef idx="1">
              <a:schemeClr val="dk1"/>
            </a:lnRef>
            <a:fillRef idx="0">
              <a:schemeClr val="dk1"/>
            </a:fillRef>
            <a:effectRef idx="0">
              <a:schemeClr val="dk1"/>
            </a:effectRef>
            <a:fontRef idx="minor">
              <a:schemeClr val="tx1"/>
            </a:fontRef>
          </p:style>
        </p:cxnSp>
        <p:cxnSp>
          <p:nvCxnSpPr>
            <p:cNvPr id="12" name="直接连接符 11">
              <a:extLst>
                <a:ext uri="{FF2B5EF4-FFF2-40B4-BE49-F238E27FC236}">
                  <a16:creationId xmlns:a16="http://schemas.microsoft.com/office/drawing/2014/main" id="{00D4791D-2A03-304E-C34E-462E58D51B8C}"/>
                </a:ext>
              </a:extLst>
            </p:cNvPr>
            <p:cNvCxnSpPr/>
            <p:nvPr/>
          </p:nvCxnSpPr>
          <p:spPr>
            <a:xfrm flipV="1">
              <a:off x="4988841" y="2695932"/>
              <a:ext cx="2969075" cy="1837746"/>
            </a:xfrm>
            <a:prstGeom prst="line">
              <a:avLst/>
            </a:prstGeom>
            <a:ln w="15875">
              <a:solidFill>
                <a:srgbClr val="00B0F0"/>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FBC4CCFA-3BB1-30BA-D36D-E46C4BCBDE83}"/>
                    </a:ext>
                  </a:extLst>
                </p:cNvPr>
                <p:cNvSpPr txBox="1"/>
                <p:nvPr/>
              </p:nvSpPr>
              <p:spPr>
                <a:xfrm>
                  <a:off x="4632845" y="1347393"/>
                  <a:ext cx="637369" cy="552472"/>
                </a:xfrm>
                <a:prstGeom prst="rect">
                  <a:avLst/>
                </a:prstGeom>
                <a:noFill/>
              </p:spPr>
              <p:txBody>
                <a:bodyPr wrap="square" rtlCol="0">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210" i="1" dirty="0" smtClean="0">
                            <a:solidFill>
                              <a:prstClr val="black"/>
                            </a:solidFill>
                            <a:latin typeface="Cambria Math" panose="02040503050406030204" pitchFamily="18" charset="0"/>
                            <a:ea typeface="SimSun" panose="02010600030101010101" pitchFamily="2" charset="-122"/>
                          </a:rPr>
                          <m:t>𝑐</m:t>
                        </m:r>
                      </m:oMath>
                    </m:oMathPara>
                  </a14:m>
                  <a:endParaRPr lang="zh-CN" altLang="en-US" sz="1210" dirty="0">
                    <a:solidFill>
                      <a:prstClr val="black"/>
                    </a:solidFill>
                    <a:latin typeface="Garamond" panose="02020404030301010803" pitchFamily="18" charset="0"/>
                    <a:ea typeface="SimSun" panose="02010600030101010101" pitchFamily="2" charset="-122"/>
                  </a:endParaRPr>
                </a:p>
              </p:txBody>
            </p:sp>
          </mc:Choice>
          <mc:Fallback xmlns="">
            <p:sp>
              <p:nvSpPr>
                <p:cNvPr id="14" name="文本框 13">
                  <a:extLst>
                    <a:ext uri="{FF2B5EF4-FFF2-40B4-BE49-F238E27FC236}">
                      <a16:creationId xmlns:a16="http://schemas.microsoft.com/office/drawing/2014/main" id="{FBC4CCFA-3BB1-30BA-D36D-E46C4BCBDE83}"/>
                    </a:ext>
                  </a:extLst>
                </p:cNvPr>
                <p:cNvSpPr txBox="1">
                  <a:spLocks noRot="1" noChangeAspect="1" noMove="1" noResize="1" noEditPoints="1" noAdjustHandles="1" noChangeArrowheads="1" noChangeShapeType="1" noTextEdit="1"/>
                </p:cNvSpPr>
                <p:nvPr/>
              </p:nvSpPr>
              <p:spPr>
                <a:xfrm>
                  <a:off x="4632845" y="1347393"/>
                  <a:ext cx="637369" cy="552472"/>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E72DE07B-40A0-00FD-D9A4-597424BA7200}"/>
                    </a:ext>
                  </a:extLst>
                </p:cNvPr>
                <p:cNvSpPr txBox="1"/>
                <p:nvPr/>
              </p:nvSpPr>
              <p:spPr>
                <a:xfrm>
                  <a:off x="8078749" y="4544301"/>
                  <a:ext cx="637369" cy="552472"/>
                </a:xfrm>
                <a:prstGeom prst="rect">
                  <a:avLst/>
                </a:prstGeom>
                <a:noFill/>
              </p:spPr>
              <p:txBody>
                <a:bodyPr wrap="square" rtlCol="0">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210" i="1" dirty="0" smtClean="0">
                            <a:solidFill>
                              <a:prstClr val="black"/>
                            </a:solidFill>
                            <a:latin typeface="Cambria Math" panose="02040503050406030204" pitchFamily="18" charset="0"/>
                            <a:ea typeface="SimSun" panose="02010600030101010101" pitchFamily="2" charset="-122"/>
                          </a:rPr>
                          <m:t>𝑦</m:t>
                        </m:r>
                      </m:oMath>
                    </m:oMathPara>
                  </a14:m>
                  <a:endParaRPr lang="zh-CN" altLang="en-US" sz="1210" dirty="0">
                    <a:solidFill>
                      <a:prstClr val="black"/>
                    </a:solidFill>
                    <a:latin typeface="Garamond" panose="02020404030301010803" pitchFamily="18" charset="0"/>
                    <a:ea typeface="SimSun" panose="02010600030101010101" pitchFamily="2" charset="-122"/>
                  </a:endParaRPr>
                </a:p>
              </p:txBody>
            </p:sp>
          </mc:Choice>
          <mc:Fallback xmlns="">
            <p:sp>
              <p:nvSpPr>
                <p:cNvPr id="15" name="文本框 14">
                  <a:extLst>
                    <a:ext uri="{FF2B5EF4-FFF2-40B4-BE49-F238E27FC236}">
                      <a16:creationId xmlns:a16="http://schemas.microsoft.com/office/drawing/2014/main" id="{E72DE07B-40A0-00FD-D9A4-597424BA7200}"/>
                    </a:ext>
                  </a:extLst>
                </p:cNvPr>
                <p:cNvSpPr txBox="1">
                  <a:spLocks noRot="1" noChangeAspect="1" noMove="1" noResize="1" noEditPoints="1" noAdjustHandles="1" noChangeArrowheads="1" noChangeShapeType="1" noTextEdit="1"/>
                </p:cNvSpPr>
                <p:nvPr/>
              </p:nvSpPr>
              <p:spPr>
                <a:xfrm>
                  <a:off x="8078749" y="4544301"/>
                  <a:ext cx="637369" cy="552472"/>
                </a:xfrm>
                <a:prstGeom prst="rect">
                  <a:avLst/>
                </a:prstGeom>
                <a:blipFill>
                  <a:blip r:embed="rId3"/>
                  <a:stretch>
                    <a:fillRect b="-4348"/>
                  </a:stretch>
                </a:blipFill>
              </p:spPr>
              <p:txBody>
                <a:bodyPr/>
                <a:lstStyle/>
                <a:p>
                  <a:r>
                    <a:rPr lang="zh-CN" altLang="en-US">
                      <a:noFill/>
                    </a:rPr>
                    <a:t> </a:t>
                  </a:r>
                </a:p>
              </p:txBody>
            </p:sp>
          </mc:Fallback>
        </mc:AlternateContent>
        <p:sp>
          <p:nvSpPr>
            <p:cNvPr id="16" name="文本框 15">
              <a:extLst>
                <a:ext uri="{FF2B5EF4-FFF2-40B4-BE49-F238E27FC236}">
                  <a16:creationId xmlns:a16="http://schemas.microsoft.com/office/drawing/2014/main" id="{CBBB4118-459B-6F30-9056-C255001D8470}"/>
                </a:ext>
              </a:extLst>
            </p:cNvPr>
            <p:cNvSpPr txBox="1"/>
            <p:nvPr/>
          </p:nvSpPr>
          <p:spPr>
            <a:xfrm>
              <a:off x="6362842" y="1718443"/>
              <a:ext cx="1255950" cy="490790"/>
            </a:xfrm>
            <a:prstGeom prst="rect">
              <a:avLst/>
            </a:prstGeom>
            <a:noFill/>
          </p:spPr>
          <p:txBody>
            <a:bodyPr wrap="square" rtlCol="0">
              <a:spAutoFit/>
            </a:bodyPr>
            <a:lstStyle/>
            <a:p>
              <a:pPr defTabSz="230520">
                <a:defRPr/>
              </a:pPr>
              <a:r>
                <a:rPr lang="en-US" altLang="zh-CN" sz="1008" dirty="0">
                  <a:solidFill>
                    <a:prstClr val="black"/>
                  </a:solidFill>
                  <a:latin typeface="Garamond" panose="02020404030301010803" pitchFamily="18" charset="0"/>
                  <a:ea typeface="SimSun" panose="02010600030101010101" pitchFamily="2" charset="-122"/>
                </a:rPr>
                <a:t>45</a:t>
              </a:r>
              <a:r>
                <a:rPr lang="zh-CN" altLang="en-US" sz="1008" dirty="0">
                  <a:solidFill>
                    <a:prstClr val="black"/>
                  </a:solidFill>
                  <a:latin typeface="Garamond" panose="02020404030301010803" pitchFamily="18" charset="0"/>
                  <a:ea typeface="SimSun" panose="02010600030101010101" pitchFamily="2" charset="-122"/>
                </a:rPr>
                <a:t>度线</a:t>
              </a:r>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41E7AD9C-DF6E-CEF1-95CF-61335E0F7A05}"/>
                    </a:ext>
                  </a:extLst>
                </p:cNvPr>
                <p:cNvSpPr txBox="1"/>
                <p:nvPr/>
              </p:nvSpPr>
              <p:spPr>
                <a:xfrm>
                  <a:off x="7424368" y="2759696"/>
                  <a:ext cx="1558421" cy="503635"/>
                </a:xfrm>
                <a:prstGeom prst="rect">
                  <a:avLst/>
                </a:prstGeom>
                <a:noFill/>
              </p:spPr>
              <p:txBody>
                <a:bodyPr wrap="square" rtlCol="0">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50" i="1" dirty="0" smtClean="0">
                            <a:solidFill>
                              <a:prstClr val="black"/>
                            </a:solidFill>
                            <a:latin typeface="Cambria Math" panose="02040503050406030204" pitchFamily="18" charset="0"/>
                            <a:ea typeface="SimSun" panose="02010600030101010101" pitchFamily="2" charset="-122"/>
                          </a:rPr>
                          <m:t>𝑐</m:t>
                        </m:r>
                        <m:r>
                          <a:rPr lang="en-US" altLang="zh-CN" sz="1050" i="1" dirty="0" smtClean="0">
                            <a:solidFill>
                              <a:prstClr val="black"/>
                            </a:solidFill>
                            <a:latin typeface="Cambria Math" panose="02040503050406030204" pitchFamily="18" charset="0"/>
                            <a:ea typeface="SimSun" panose="02010600030101010101" pitchFamily="2" charset="-122"/>
                          </a:rPr>
                          <m:t>=</m:t>
                        </m:r>
                        <m:r>
                          <a:rPr lang="en-US" altLang="zh-CN" sz="1050" i="1" dirty="0" smtClean="0">
                            <a:solidFill>
                              <a:prstClr val="black"/>
                            </a:solidFill>
                            <a:latin typeface="Cambria Math" panose="02040503050406030204" pitchFamily="18" charset="0"/>
                            <a:ea typeface="SimSun" panose="02010600030101010101" pitchFamily="2" charset="-122"/>
                          </a:rPr>
                          <m:t>𝑐</m:t>
                        </m:r>
                        <m:r>
                          <a:rPr lang="en-US" altLang="zh-CN" sz="1050" i="1" dirty="0" smtClean="0">
                            <a:solidFill>
                              <a:prstClr val="black"/>
                            </a:solidFill>
                            <a:latin typeface="Cambria Math" panose="02040503050406030204" pitchFamily="18" charset="0"/>
                            <a:ea typeface="SimSun" panose="02010600030101010101" pitchFamily="2" charset="-122"/>
                          </a:rPr>
                          <m:t>(</m:t>
                        </m:r>
                        <m:r>
                          <a:rPr lang="en-US" altLang="zh-CN" sz="1050" i="1" dirty="0" smtClean="0">
                            <a:solidFill>
                              <a:prstClr val="black"/>
                            </a:solidFill>
                            <a:latin typeface="Cambria Math" panose="02040503050406030204" pitchFamily="18" charset="0"/>
                            <a:ea typeface="SimSun" panose="02010600030101010101" pitchFamily="2" charset="-122"/>
                          </a:rPr>
                          <m:t>𝑦</m:t>
                        </m:r>
                        <m:r>
                          <a:rPr lang="en-US" altLang="zh-CN" sz="1050" i="1" dirty="0" smtClean="0">
                            <a:solidFill>
                              <a:prstClr val="black"/>
                            </a:solidFill>
                            <a:latin typeface="Cambria Math" panose="02040503050406030204" pitchFamily="18" charset="0"/>
                            <a:ea typeface="SimSun" panose="02010600030101010101" pitchFamily="2" charset="-122"/>
                          </a:rPr>
                          <m:t>)</m:t>
                        </m:r>
                      </m:oMath>
                    </m:oMathPara>
                  </a14:m>
                  <a:endParaRPr lang="zh-CN" altLang="en-US" sz="1050" dirty="0">
                    <a:solidFill>
                      <a:prstClr val="black"/>
                    </a:solidFill>
                    <a:latin typeface="Garamond" panose="02020404030301010803" pitchFamily="18" charset="0"/>
                    <a:ea typeface="SimSun" panose="02010600030101010101" pitchFamily="2" charset="-122"/>
                  </a:endParaRPr>
                </a:p>
              </p:txBody>
            </p:sp>
          </mc:Choice>
          <mc:Fallback xmlns="">
            <p:sp>
              <p:nvSpPr>
                <p:cNvPr id="17" name="文本框 16">
                  <a:extLst>
                    <a:ext uri="{FF2B5EF4-FFF2-40B4-BE49-F238E27FC236}">
                      <a16:creationId xmlns:a16="http://schemas.microsoft.com/office/drawing/2014/main" id="{41E7AD9C-DF6E-CEF1-95CF-61335E0F7A05}"/>
                    </a:ext>
                  </a:extLst>
                </p:cNvPr>
                <p:cNvSpPr txBox="1">
                  <a:spLocks noRot="1" noChangeAspect="1" noMove="1" noResize="1" noEditPoints="1" noAdjustHandles="1" noChangeArrowheads="1" noChangeShapeType="1" noTextEdit="1"/>
                </p:cNvSpPr>
                <p:nvPr/>
              </p:nvSpPr>
              <p:spPr>
                <a:xfrm>
                  <a:off x="7424368" y="2759696"/>
                  <a:ext cx="1558421" cy="503635"/>
                </a:xfrm>
                <a:prstGeom prst="rect">
                  <a:avLst/>
                </a:prstGeom>
                <a:blipFill>
                  <a:blip r:embed="rId4"/>
                  <a:stretch>
                    <a:fillRect b="-4762"/>
                  </a:stretch>
                </a:blipFill>
              </p:spPr>
              <p:txBody>
                <a:bodyPr/>
                <a:lstStyle/>
                <a:p>
                  <a:r>
                    <a:rPr lang="zh-CN" altLang="en-US">
                      <a:noFill/>
                    </a:rPr>
                    <a:t> </a:t>
                  </a:r>
                </a:p>
              </p:txBody>
            </p:sp>
          </mc:Fallback>
        </mc:AlternateContent>
        <p:sp>
          <p:nvSpPr>
            <p:cNvPr id="18" name="文本框 17">
              <a:extLst>
                <a:ext uri="{FF2B5EF4-FFF2-40B4-BE49-F238E27FC236}">
                  <a16:creationId xmlns:a16="http://schemas.microsoft.com/office/drawing/2014/main" id="{F2DC05B8-916F-44EF-C4DF-A5DC84A64AFE}"/>
                </a:ext>
              </a:extLst>
            </p:cNvPr>
            <p:cNvSpPr txBox="1"/>
            <p:nvPr/>
          </p:nvSpPr>
          <p:spPr>
            <a:xfrm>
              <a:off x="4670158" y="4494617"/>
              <a:ext cx="637369" cy="552472"/>
            </a:xfrm>
            <a:prstGeom prst="rect">
              <a:avLst/>
            </a:prstGeom>
            <a:noFill/>
          </p:spPr>
          <p:txBody>
            <a:bodyPr wrap="square" rtlCol="0">
              <a:spAutoFit/>
            </a:bodyPr>
            <a:lstStyle/>
            <a:p>
              <a:pPr defTabSz="230520">
                <a:defRPr/>
              </a:pPr>
              <a:r>
                <a:rPr lang="en-US" altLang="zh-CN" sz="1210" dirty="0">
                  <a:solidFill>
                    <a:prstClr val="black"/>
                  </a:solidFill>
                  <a:latin typeface="Garamond" panose="02020404030301010803" pitchFamily="18" charset="0"/>
                  <a:ea typeface="SimSun" panose="02010600030101010101" pitchFamily="2" charset="-122"/>
                </a:rPr>
                <a:t>0</a:t>
              </a:r>
              <a:endParaRPr lang="zh-CN" altLang="en-US" sz="1210" dirty="0">
                <a:solidFill>
                  <a:prstClr val="black"/>
                </a:solidFill>
                <a:latin typeface="Garamond" panose="02020404030301010803" pitchFamily="18" charset="0"/>
                <a:ea typeface="SimSun" panose="02010600030101010101" pitchFamily="2" charset="-122"/>
              </a:endParaRPr>
            </a:p>
          </p:txBody>
        </p:sp>
      </p:grp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49727204-FBFE-AE24-2A5B-9F053D368E96}"/>
                  </a:ext>
                </a:extLst>
              </p:cNvPr>
              <p:cNvSpPr txBox="1"/>
              <p:nvPr/>
            </p:nvSpPr>
            <p:spPr>
              <a:xfrm>
                <a:off x="2076082" y="2267623"/>
                <a:ext cx="321340" cy="278538"/>
              </a:xfrm>
              <a:prstGeom prst="rect">
                <a:avLst/>
              </a:prstGeom>
              <a:noFill/>
            </p:spPr>
            <p:txBody>
              <a:bodyPr wrap="square" rtlCol="0">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210" i="1" dirty="0" smtClean="0">
                          <a:solidFill>
                            <a:prstClr val="black"/>
                          </a:solidFill>
                          <a:latin typeface="Cambria Math" panose="02040503050406030204" pitchFamily="18" charset="0"/>
                          <a:ea typeface="SimSun" panose="02010600030101010101" pitchFamily="2" charset="-122"/>
                        </a:rPr>
                        <m:t>𝑦</m:t>
                      </m:r>
                    </m:oMath>
                  </m:oMathPara>
                </a14:m>
                <a:endParaRPr lang="zh-CN" altLang="en-US" sz="1210" dirty="0">
                  <a:solidFill>
                    <a:prstClr val="black"/>
                  </a:solidFill>
                  <a:latin typeface="Garamond" panose="02020404030301010803" pitchFamily="18" charset="0"/>
                  <a:ea typeface="SimSun" panose="02010600030101010101" pitchFamily="2" charset="-122"/>
                </a:endParaRPr>
              </a:p>
            </p:txBody>
          </p:sp>
        </mc:Choice>
        <mc:Fallback xmlns="">
          <p:sp>
            <p:nvSpPr>
              <p:cNvPr id="24" name="文本框 23">
                <a:extLst>
                  <a:ext uri="{FF2B5EF4-FFF2-40B4-BE49-F238E27FC236}">
                    <a16:creationId xmlns:a16="http://schemas.microsoft.com/office/drawing/2014/main" id="{49727204-FBFE-AE24-2A5B-9F053D368E96}"/>
                  </a:ext>
                </a:extLst>
              </p:cNvPr>
              <p:cNvSpPr txBox="1">
                <a:spLocks noRot="1" noChangeAspect="1" noMove="1" noResize="1" noEditPoints="1" noAdjustHandles="1" noChangeArrowheads="1" noChangeShapeType="1" noTextEdit="1"/>
              </p:cNvSpPr>
              <p:nvPr/>
            </p:nvSpPr>
            <p:spPr>
              <a:xfrm>
                <a:off x="2076082" y="2267623"/>
                <a:ext cx="321340" cy="278538"/>
              </a:xfrm>
              <a:prstGeom prst="rect">
                <a:avLst/>
              </a:prstGeom>
              <a:blipFill>
                <a:blip r:embed="rId5"/>
                <a:stretch>
                  <a:fillRect b="-4348"/>
                </a:stretch>
              </a:blipFill>
            </p:spPr>
            <p:txBody>
              <a:bodyPr/>
              <a:lstStyle/>
              <a:p>
                <a:r>
                  <a:rPr lang="zh-CN" altLang="en-US">
                    <a:noFill/>
                  </a:rPr>
                  <a:t> </a:t>
                </a:r>
              </a:p>
            </p:txBody>
          </p:sp>
        </mc:Fallback>
      </mc:AlternateContent>
      <p:grpSp>
        <p:nvGrpSpPr>
          <p:cNvPr id="28" name="组合 27">
            <a:extLst>
              <a:ext uri="{FF2B5EF4-FFF2-40B4-BE49-F238E27FC236}">
                <a16:creationId xmlns:a16="http://schemas.microsoft.com/office/drawing/2014/main" id="{E658F2E6-5086-1E63-9C69-05E28529A54D}"/>
              </a:ext>
            </a:extLst>
          </p:cNvPr>
          <p:cNvGrpSpPr/>
          <p:nvPr/>
        </p:nvGrpSpPr>
        <p:grpSpPr>
          <a:xfrm>
            <a:off x="215724" y="670367"/>
            <a:ext cx="2230481" cy="1915191"/>
            <a:chOff x="427883" y="1326505"/>
            <a:chExt cx="4424094" cy="3798726"/>
          </a:xfrm>
        </p:grpSpPr>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C75F997B-FA01-CB07-A970-33E05EFA1BF1}"/>
                    </a:ext>
                  </a:extLst>
                </p:cNvPr>
                <p:cNvSpPr txBox="1"/>
                <p:nvPr/>
              </p:nvSpPr>
              <p:spPr>
                <a:xfrm>
                  <a:off x="3011209" y="2504868"/>
                  <a:ext cx="1840768" cy="490790"/>
                </a:xfrm>
                <a:prstGeom prst="rect">
                  <a:avLst/>
                </a:prstGeom>
                <a:noFill/>
              </p:spPr>
              <p:txBody>
                <a:bodyPr wrap="square" rtlCol="0">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08" i="1">
                            <a:latin typeface="Cambria Math" panose="02040503050406030204" pitchFamily="18" charset="0"/>
                          </a:rPr>
                          <m:t>𝑐</m:t>
                        </m:r>
                        <m:r>
                          <a:rPr lang="en-US" altLang="zh-CN" sz="1008" i="1">
                            <a:latin typeface="Cambria Math" panose="02040503050406030204" pitchFamily="18" charset="0"/>
                          </a:rPr>
                          <m:t>=</m:t>
                        </m:r>
                        <m:r>
                          <a:rPr lang="zh-CN" altLang="en-US" sz="1008" i="1">
                            <a:latin typeface="Cambria Math" panose="02040503050406030204" pitchFamily="18" charset="0"/>
                          </a:rPr>
                          <m:t>𝛼</m:t>
                        </m:r>
                        <m:r>
                          <a:rPr lang="en-US" altLang="zh-CN" sz="1008" i="1">
                            <a:latin typeface="Cambria Math" panose="02040503050406030204" pitchFamily="18" charset="0"/>
                          </a:rPr>
                          <m:t>+</m:t>
                        </m:r>
                        <m:r>
                          <a:rPr lang="zh-CN" altLang="en-US" sz="1008" i="1">
                            <a:latin typeface="Cambria Math" panose="02040503050406030204" pitchFamily="18" charset="0"/>
                          </a:rPr>
                          <m:t>𝛽</m:t>
                        </m:r>
                        <m:sSub>
                          <m:sSubPr>
                            <m:ctrlPr>
                              <a:rPr lang="en-US" altLang="zh-CN" sz="1008" i="1">
                                <a:latin typeface="Cambria Math" panose="02040503050406030204" pitchFamily="18" charset="0"/>
                              </a:rPr>
                            </m:ctrlPr>
                          </m:sSubPr>
                          <m:e>
                            <m:r>
                              <a:rPr lang="en-US" altLang="zh-CN" sz="1008" i="1">
                                <a:latin typeface="Cambria Math" panose="02040503050406030204" pitchFamily="18" charset="0"/>
                              </a:rPr>
                              <m:t>𝑦</m:t>
                            </m:r>
                          </m:e>
                          <m:sub>
                            <m:r>
                              <a:rPr lang="en-US" altLang="zh-CN" sz="1008" i="1">
                                <a:latin typeface="Cambria Math" panose="02040503050406030204" pitchFamily="18" charset="0"/>
                              </a:rPr>
                              <m:t>𝑑</m:t>
                            </m:r>
                          </m:sub>
                        </m:sSub>
                      </m:oMath>
                    </m:oMathPara>
                  </a14:m>
                  <a:endParaRPr lang="zh-CN" altLang="en-US" sz="1008" dirty="0">
                    <a:solidFill>
                      <a:prstClr val="black"/>
                    </a:solidFill>
                    <a:latin typeface="Garamond" panose="02020404030301010803" pitchFamily="18" charset="0"/>
                    <a:ea typeface="SimSun" panose="02010600030101010101" pitchFamily="2" charset="-122"/>
                  </a:endParaRPr>
                </a:p>
              </p:txBody>
            </p:sp>
          </mc:Choice>
          <mc:Fallback xmlns="">
            <p:sp>
              <p:nvSpPr>
                <p:cNvPr id="26" name="文本框 25">
                  <a:extLst>
                    <a:ext uri="{FF2B5EF4-FFF2-40B4-BE49-F238E27FC236}">
                      <a16:creationId xmlns:a16="http://schemas.microsoft.com/office/drawing/2014/main" id="{C75F997B-FA01-CB07-A970-33E05EFA1BF1}"/>
                    </a:ext>
                  </a:extLst>
                </p:cNvPr>
                <p:cNvSpPr txBox="1">
                  <a:spLocks noRot="1" noChangeAspect="1" noMove="1" noResize="1" noEditPoints="1" noAdjustHandles="1" noChangeArrowheads="1" noChangeShapeType="1" noTextEdit="1"/>
                </p:cNvSpPr>
                <p:nvPr/>
              </p:nvSpPr>
              <p:spPr>
                <a:xfrm>
                  <a:off x="3011209" y="2504868"/>
                  <a:ext cx="1840768" cy="490790"/>
                </a:xfrm>
                <a:prstGeom prst="rect">
                  <a:avLst/>
                </a:prstGeom>
                <a:blipFill>
                  <a:blip r:embed="rId6"/>
                  <a:stretch>
                    <a:fillRect/>
                  </a:stretch>
                </a:blipFill>
              </p:spPr>
              <p:txBody>
                <a:bodyPr/>
                <a:lstStyle/>
                <a:p>
                  <a:r>
                    <a:rPr lang="zh-CN" altLang="en-US">
                      <a:noFill/>
                    </a:rPr>
                    <a:t> </a:t>
                  </a:r>
                </a:p>
              </p:txBody>
            </p:sp>
          </mc:Fallback>
        </mc:AlternateContent>
        <p:grpSp>
          <p:nvGrpSpPr>
            <p:cNvPr id="2" name="组合 1">
              <a:extLst>
                <a:ext uri="{FF2B5EF4-FFF2-40B4-BE49-F238E27FC236}">
                  <a16:creationId xmlns:a16="http://schemas.microsoft.com/office/drawing/2014/main" id="{1AF525C2-E36D-5AF9-CE4C-4F2B7B90A2DA}"/>
                </a:ext>
              </a:extLst>
            </p:cNvPr>
            <p:cNvGrpSpPr/>
            <p:nvPr/>
          </p:nvGrpSpPr>
          <p:grpSpPr>
            <a:xfrm>
              <a:off x="427883" y="1326505"/>
              <a:ext cx="3789948" cy="3798726"/>
              <a:chOff x="427883" y="1326505"/>
              <a:chExt cx="3789948" cy="3798726"/>
            </a:xfrm>
          </p:grpSpPr>
          <p:sp>
            <p:nvSpPr>
              <p:cNvPr id="10" name="Text Box 52">
                <a:extLst>
                  <a:ext uri="{FF2B5EF4-FFF2-40B4-BE49-F238E27FC236}">
                    <a16:creationId xmlns:a16="http://schemas.microsoft.com/office/drawing/2014/main" id="{2BAB6F7F-CF71-6A43-D498-AD4F6A32E4E4}"/>
                  </a:ext>
                </a:extLst>
              </p:cNvPr>
              <p:cNvSpPr txBox="1">
                <a:spLocks noChangeArrowheads="1"/>
              </p:cNvSpPr>
              <p:nvPr/>
            </p:nvSpPr>
            <p:spPr bwMode="auto">
              <a:xfrm>
                <a:off x="427883" y="4634695"/>
                <a:ext cx="3789948" cy="490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defTabSz="230520">
                  <a:spcBef>
                    <a:spcPct val="50000"/>
                  </a:spcBef>
                  <a:defRPr/>
                </a:pPr>
                <a:r>
                  <a:rPr lang="zh-CN" altLang="en-US" sz="1007" b="1" dirty="0">
                    <a:solidFill>
                      <a:prstClr val="black"/>
                    </a:solidFill>
                    <a:latin typeface="KaiTi" panose="02010609060101010101" pitchFamily="49" charset="-122"/>
                    <a:ea typeface="KaiTi" panose="02010609060101010101" pitchFamily="49" charset="-122"/>
                  </a:rPr>
                  <a:t>短期的消费函数</a:t>
                </a:r>
                <a:endParaRPr lang="en-US" altLang="zh-CN" sz="1007" b="1" dirty="0">
                  <a:solidFill>
                    <a:prstClr val="black"/>
                  </a:solidFill>
                  <a:latin typeface="KaiTi" panose="02010609060101010101" pitchFamily="49" charset="-122"/>
                  <a:ea typeface="KaiTi" panose="02010609060101010101" pitchFamily="49" charset="-122"/>
                </a:endParaRPr>
              </a:p>
            </p:txBody>
          </p:sp>
          <p:cxnSp>
            <p:nvCxnSpPr>
              <p:cNvPr id="19" name="直接箭头连接符 5">
                <a:extLst>
                  <a:ext uri="{FF2B5EF4-FFF2-40B4-BE49-F238E27FC236}">
                    <a16:creationId xmlns:a16="http://schemas.microsoft.com/office/drawing/2014/main" id="{B68653A4-9FB9-AF10-4524-7483000B9D36}"/>
                  </a:ext>
                </a:extLst>
              </p:cNvPr>
              <p:cNvCxnSpPr/>
              <p:nvPr/>
            </p:nvCxnSpPr>
            <p:spPr>
              <a:xfrm>
                <a:off x="1033250" y="4483993"/>
                <a:ext cx="3170908" cy="0"/>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cxnSp>
            <p:nvCxnSpPr>
              <p:cNvPr id="20" name="直接箭头连接符 7">
                <a:extLst>
                  <a:ext uri="{FF2B5EF4-FFF2-40B4-BE49-F238E27FC236}">
                    <a16:creationId xmlns:a16="http://schemas.microsoft.com/office/drawing/2014/main" id="{60E2F8AF-E7C4-60E9-88F7-F49FAAB2FE99}"/>
                  </a:ext>
                </a:extLst>
              </p:cNvPr>
              <p:cNvCxnSpPr/>
              <p:nvPr/>
            </p:nvCxnSpPr>
            <p:spPr>
              <a:xfrm flipV="1">
                <a:off x="1027939" y="1658329"/>
                <a:ext cx="0" cy="2836288"/>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cxnSp>
            <p:nvCxnSpPr>
              <p:cNvPr id="21" name="直接连接符 9">
                <a:extLst>
                  <a:ext uri="{FF2B5EF4-FFF2-40B4-BE49-F238E27FC236}">
                    <a16:creationId xmlns:a16="http://schemas.microsoft.com/office/drawing/2014/main" id="{5DC659CB-A682-4470-5BDA-CF23A15AEC8D}"/>
                  </a:ext>
                </a:extLst>
              </p:cNvPr>
              <p:cNvCxnSpPr/>
              <p:nvPr/>
            </p:nvCxnSpPr>
            <p:spPr>
              <a:xfrm flipV="1">
                <a:off x="1033251" y="1854849"/>
                <a:ext cx="2714127" cy="2629144"/>
              </a:xfrm>
              <a:prstGeom prst="line">
                <a:avLst/>
              </a:prstGeom>
              <a:ln w="15875">
                <a:prstDash val="solid"/>
              </a:ln>
            </p:spPr>
            <p:style>
              <a:lnRef idx="1">
                <a:schemeClr val="dk1"/>
              </a:lnRef>
              <a:fillRef idx="0">
                <a:schemeClr val="dk1"/>
              </a:fillRef>
              <a:effectRef idx="0">
                <a:schemeClr val="dk1"/>
              </a:effectRef>
              <a:fontRef idx="minor">
                <a:schemeClr val="tx1"/>
              </a:fontRef>
            </p:style>
          </p:cxnSp>
          <p:cxnSp>
            <p:nvCxnSpPr>
              <p:cNvPr id="22" name="直接连接符 11">
                <a:extLst>
                  <a:ext uri="{FF2B5EF4-FFF2-40B4-BE49-F238E27FC236}">
                    <a16:creationId xmlns:a16="http://schemas.microsoft.com/office/drawing/2014/main" id="{E906D2E4-BAD9-3675-9C73-09839D898CD6}"/>
                  </a:ext>
                </a:extLst>
              </p:cNvPr>
              <p:cNvCxnSpPr/>
              <p:nvPr/>
            </p:nvCxnSpPr>
            <p:spPr>
              <a:xfrm flipV="1">
                <a:off x="1026910" y="2113950"/>
                <a:ext cx="2969075" cy="1837746"/>
              </a:xfrm>
              <a:prstGeom prst="line">
                <a:avLst/>
              </a:prstGeom>
              <a:ln w="15875">
                <a:solidFill>
                  <a:srgbClr val="00B0F0"/>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499ECA84-9C47-6886-D661-63A05AC6B990}"/>
                      </a:ext>
                    </a:extLst>
                  </p:cNvPr>
                  <p:cNvSpPr txBox="1"/>
                  <p:nvPr/>
                </p:nvSpPr>
                <p:spPr>
                  <a:xfrm>
                    <a:off x="576165" y="1326505"/>
                    <a:ext cx="637368" cy="552472"/>
                  </a:xfrm>
                  <a:prstGeom prst="rect">
                    <a:avLst/>
                  </a:prstGeom>
                  <a:noFill/>
                </p:spPr>
                <p:txBody>
                  <a:bodyPr wrap="square" rtlCol="0">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210" i="1" dirty="0" smtClean="0">
                              <a:solidFill>
                                <a:prstClr val="black"/>
                              </a:solidFill>
                              <a:latin typeface="Cambria Math" panose="02040503050406030204" pitchFamily="18" charset="0"/>
                              <a:ea typeface="SimSun" panose="02010600030101010101" pitchFamily="2" charset="-122"/>
                            </a:rPr>
                            <m:t>𝑐</m:t>
                          </m:r>
                        </m:oMath>
                      </m:oMathPara>
                    </a14:m>
                    <a:endParaRPr lang="zh-CN" altLang="en-US" sz="1210" dirty="0">
                      <a:solidFill>
                        <a:prstClr val="black"/>
                      </a:solidFill>
                      <a:latin typeface="Garamond" panose="02020404030301010803" pitchFamily="18" charset="0"/>
                      <a:ea typeface="SimSun" panose="02010600030101010101" pitchFamily="2" charset="-122"/>
                    </a:endParaRPr>
                  </a:p>
                </p:txBody>
              </p:sp>
            </mc:Choice>
            <mc:Fallback xmlns="">
              <p:sp>
                <p:nvSpPr>
                  <p:cNvPr id="23" name="文本框 22">
                    <a:extLst>
                      <a:ext uri="{FF2B5EF4-FFF2-40B4-BE49-F238E27FC236}">
                        <a16:creationId xmlns:a16="http://schemas.microsoft.com/office/drawing/2014/main" id="{499ECA84-9C47-6886-D661-63A05AC6B990}"/>
                      </a:ext>
                    </a:extLst>
                  </p:cNvPr>
                  <p:cNvSpPr txBox="1">
                    <a:spLocks noRot="1" noChangeAspect="1" noMove="1" noResize="1" noEditPoints="1" noAdjustHandles="1" noChangeArrowheads="1" noChangeShapeType="1" noTextEdit="1"/>
                  </p:cNvSpPr>
                  <p:nvPr/>
                </p:nvSpPr>
                <p:spPr>
                  <a:xfrm>
                    <a:off x="576165" y="1326505"/>
                    <a:ext cx="637368" cy="552472"/>
                  </a:xfrm>
                  <a:prstGeom prst="rect">
                    <a:avLst/>
                  </a:prstGeom>
                  <a:blipFill>
                    <a:blip r:embed="rId7"/>
                    <a:stretch>
                      <a:fillRect/>
                    </a:stretch>
                  </a:blipFill>
                </p:spPr>
                <p:txBody>
                  <a:bodyPr/>
                  <a:lstStyle/>
                  <a:p>
                    <a:r>
                      <a:rPr lang="zh-CN" altLang="en-US">
                        <a:noFill/>
                      </a:rPr>
                      <a:t> </a:t>
                    </a:r>
                  </a:p>
                </p:txBody>
              </p:sp>
            </mc:Fallback>
          </mc:AlternateContent>
          <p:sp>
            <p:nvSpPr>
              <p:cNvPr id="25" name="文本框 24">
                <a:extLst>
                  <a:ext uri="{FF2B5EF4-FFF2-40B4-BE49-F238E27FC236}">
                    <a16:creationId xmlns:a16="http://schemas.microsoft.com/office/drawing/2014/main" id="{CF1C62AA-FA15-67A0-CA20-CA9E599D5004}"/>
                  </a:ext>
                </a:extLst>
              </p:cNvPr>
              <p:cNvSpPr txBox="1"/>
              <p:nvPr/>
            </p:nvSpPr>
            <p:spPr>
              <a:xfrm>
                <a:off x="2511447" y="1713840"/>
                <a:ext cx="1235930" cy="490790"/>
              </a:xfrm>
              <a:prstGeom prst="rect">
                <a:avLst/>
              </a:prstGeom>
              <a:noFill/>
            </p:spPr>
            <p:txBody>
              <a:bodyPr wrap="square" rtlCol="0">
                <a:spAutoFit/>
              </a:bodyPr>
              <a:lstStyle/>
              <a:p>
                <a:pPr defTabSz="230520">
                  <a:defRPr/>
                </a:pPr>
                <a:r>
                  <a:rPr lang="en-US" altLang="zh-CN" sz="1008" dirty="0">
                    <a:solidFill>
                      <a:prstClr val="black"/>
                    </a:solidFill>
                    <a:latin typeface="Garamond" panose="02020404030301010803" pitchFamily="18" charset="0"/>
                    <a:ea typeface="SimSun" panose="02010600030101010101" pitchFamily="2" charset="-122"/>
                  </a:rPr>
                  <a:t>45</a:t>
                </a:r>
                <a:r>
                  <a:rPr lang="zh-CN" altLang="en-US" sz="1008" dirty="0">
                    <a:solidFill>
                      <a:prstClr val="black"/>
                    </a:solidFill>
                    <a:latin typeface="Garamond" panose="02020404030301010803" pitchFamily="18" charset="0"/>
                    <a:ea typeface="SimSun" panose="02010600030101010101" pitchFamily="2" charset="-122"/>
                  </a:rPr>
                  <a:t>度线</a:t>
                </a:r>
              </a:p>
            </p:txBody>
          </p:sp>
          <p:sp>
            <p:nvSpPr>
              <p:cNvPr id="27" name="文本框 26">
                <a:extLst>
                  <a:ext uri="{FF2B5EF4-FFF2-40B4-BE49-F238E27FC236}">
                    <a16:creationId xmlns:a16="http://schemas.microsoft.com/office/drawing/2014/main" id="{FB8D8E72-ADDB-420E-FDD7-D95662751037}"/>
                  </a:ext>
                </a:extLst>
              </p:cNvPr>
              <p:cNvSpPr txBox="1"/>
              <p:nvPr/>
            </p:nvSpPr>
            <p:spPr>
              <a:xfrm>
                <a:off x="709256" y="4444932"/>
                <a:ext cx="637368" cy="552472"/>
              </a:xfrm>
              <a:prstGeom prst="rect">
                <a:avLst/>
              </a:prstGeom>
              <a:noFill/>
            </p:spPr>
            <p:txBody>
              <a:bodyPr wrap="square" rtlCol="0">
                <a:spAutoFit/>
              </a:bodyPr>
              <a:lstStyle/>
              <a:p>
                <a:pPr defTabSz="230520">
                  <a:defRPr/>
                </a:pPr>
                <a:r>
                  <a:rPr lang="en-US" altLang="zh-CN" sz="1210" dirty="0">
                    <a:solidFill>
                      <a:prstClr val="black"/>
                    </a:solidFill>
                    <a:latin typeface="Garamond" panose="02020404030301010803" pitchFamily="18" charset="0"/>
                    <a:ea typeface="SimSun" panose="02010600030101010101" pitchFamily="2" charset="-122"/>
                  </a:rPr>
                  <a:t>0</a:t>
                </a:r>
                <a:endParaRPr lang="zh-CN" altLang="en-US" sz="1210" dirty="0">
                  <a:solidFill>
                    <a:prstClr val="black"/>
                  </a:solidFill>
                  <a:latin typeface="Garamond" panose="02020404030301010803" pitchFamily="18" charset="0"/>
                  <a:ea typeface="SimSun" panose="02010600030101010101" pitchFamily="2" charset="-122"/>
                </a:endParaRPr>
              </a:p>
            </p:txBody>
          </p:sp>
        </p:grpSp>
      </p:grpSp>
      <p:sp>
        <p:nvSpPr>
          <p:cNvPr id="9" name="矩形 8">
            <a:extLst>
              <a:ext uri="{FF2B5EF4-FFF2-40B4-BE49-F238E27FC236}">
                <a16:creationId xmlns:a16="http://schemas.microsoft.com/office/drawing/2014/main" id="{78AB6F1E-282D-21E3-0018-3960E157A1B7}"/>
              </a:ext>
            </a:extLst>
          </p:cNvPr>
          <p:cNvSpPr/>
          <p:nvPr/>
        </p:nvSpPr>
        <p:spPr>
          <a:xfrm>
            <a:off x="215724" y="639497"/>
            <a:ext cx="2138814" cy="1956612"/>
          </a:xfrm>
          <a:prstGeom prst="rect">
            <a:avLst/>
          </a:prstGeom>
          <a:noFill/>
          <a:ln w="19050">
            <a:solidFill>
              <a:srgbClr val="C00000"/>
            </a:solidFill>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sz="908"/>
          </a:p>
        </p:txBody>
      </p:sp>
      <p:sp>
        <p:nvSpPr>
          <p:cNvPr id="30" name="文本框 29">
            <a:extLst>
              <a:ext uri="{FF2B5EF4-FFF2-40B4-BE49-F238E27FC236}">
                <a16:creationId xmlns:a16="http://schemas.microsoft.com/office/drawing/2014/main" id="{FABB5DCD-A10E-F5C7-9441-4BEFC6BD6DBA}"/>
              </a:ext>
            </a:extLst>
          </p:cNvPr>
          <p:cNvSpPr txBox="1"/>
          <p:nvPr/>
        </p:nvSpPr>
        <p:spPr>
          <a:xfrm>
            <a:off x="210157" y="2729025"/>
            <a:ext cx="4056951" cy="247440"/>
          </a:xfrm>
          <a:prstGeom prst="rect">
            <a:avLst/>
          </a:prstGeom>
          <a:noFill/>
        </p:spPr>
        <p:txBody>
          <a:bodyPr wrap="square">
            <a:spAutoFit/>
          </a:bodyPr>
          <a:lstStyle/>
          <a:p>
            <a:pPr marL="172890" indent="-172890">
              <a:buFont typeface="Wingdings" pitchFamily="2" charset="2"/>
              <a:buChar char="u"/>
            </a:pPr>
            <a:r>
              <a:rPr lang="zh-CN" altLang="en-US" sz="1008" dirty="0">
                <a:latin typeface="SimSun" panose="02010600030101010101" pitchFamily="2" charset="-122"/>
                <a:ea typeface="SimSun" panose="02010600030101010101" pitchFamily="2" charset="-122"/>
              </a:rPr>
              <a:t>总需求分析是一种短期分析，一般用短期消费函数进行分析。</a:t>
            </a:r>
          </a:p>
        </p:txBody>
      </p:sp>
      <p:sp>
        <p:nvSpPr>
          <p:cNvPr id="29" name="页脚占位符 1">
            <a:extLst>
              <a:ext uri="{FF2B5EF4-FFF2-40B4-BE49-F238E27FC236}">
                <a16:creationId xmlns:a16="http://schemas.microsoft.com/office/drawing/2014/main" id="{C5353BDF-42E7-81DA-2605-AE335CA3C064}"/>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4266894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left)">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checkerboard(across)">
                                      <p:cBhvr>
                                        <p:cTn id="2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30"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sz="1210" dirty="0">
                <a:latin typeface="Garamond" panose="02020404030301010803" pitchFamily="18" charset="0"/>
                <a:ea typeface="SimSun" panose="02010600030101010101" pitchFamily="2" charset="-122"/>
              </a:rPr>
              <a:t>个人可支配收入的变化会导致消费量沿着消费曲线移动</a:t>
            </a:r>
            <a:endParaRPr lang="en-US" altLang="zh-CN" sz="1210" dirty="0">
              <a:latin typeface="Garamond" panose="02020404030301010803" pitchFamily="18" charset="0"/>
              <a:ea typeface="SimSun" panose="02010600030101010101" pitchFamily="2" charset="-122"/>
            </a:endParaRPr>
          </a:p>
          <a:p>
            <a:r>
              <a:rPr lang="zh-CN" altLang="en-US" sz="1210" dirty="0">
                <a:latin typeface="Garamond" panose="02020404030301010803" pitchFamily="18" charset="0"/>
                <a:ea typeface="SimSun" panose="02010600030101010101" pitchFamily="2" charset="-122"/>
              </a:rPr>
              <a:t>消费曲线的平移主要是非可支配收入（</a:t>
            </a:r>
            <a:r>
              <a:rPr lang="en-US" altLang="zh-CN" sz="1210" dirty="0">
                <a:latin typeface="Garamond" panose="02020404030301010803" pitchFamily="18" charset="0"/>
                <a:ea typeface="SimSun" panose="02010600030101010101" pitchFamily="2" charset="-122"/>
              </a:rPr>
              <a:t>DPI</a:t>
            </a:r>
            <a:r>
              <a:rPr lang="zh-CN" altLang="en-US" sz="1210" dirty="0">
                <a:latin typeface="Garamond" panose="02020404030301010803" pitchFamily="18" charset="0"/>
                <a:ea typeface="SimSun" panose="02010600030101010101" pitchFamily="2" charset="-122"/>
              </a:rPr>
              <a:t>）因素的变动，实际上是对自发消费量</a:t>
            </a:r>
            <a:r>
              <a:rPr lang="el-GR" altLang="zh-CN" sz="1210" dirty="0">
                <a:latin typeface="+mn-ea"/>
              </a:rPr>
              <a:t>α</a:t>
            </a:r>
            <a:r>
              <a:rPr lang="zh-CN" altLang="en-US" sz="1210" dirty="0">
                <a:latin typeface="Garamond" panose="02020404030301010803" pitchFamily="18" charset="0"/>
                <a:ea typeface="SimSun" panose="02010600030101010101" pitchFamily="2" charset="-122"/>
              </a:rPr>
              <a:t>的影响，主要因素包括：</a:t>
            </a:r>
            <a:endParaRPr lang="en-US" altLang="zh-CN" sz="1210" dirty="0">
              <a:latin typeface="Garamond" panose="02020404030301010803" pitchFamily="18" charset="0"/>
              <a:ea typeface="SimSun" panose="02010600030101010101" pitchFamily="2" charset="-122"/>
            </a:endParaRPr>
          </a:p>
        </p:txBody>
      </p:sp>
      <p:sp>
        <p:nvSpPr>
          <p:cNvPr id="7" name="标题 6">
            <a:extLst>
              <a:ext uri="{FF2B5EF4-FFF2-40B4-BE49-F238E27FC236}">
                <a16:creationId xmlns:a16="http://schemas.microsoft.com/office/drawing/2014/main" id="{52C1DD74-01F4-3AAE-2D5A-27CE027E3CDB}"/>
              </a:ext>
            </a:extLst>
          </p:cNvPr>
          <p:cNvSpPr>
            <a:spLocks noGrp="1"/>
          </p:cNvSpPr>
          <p:nvPr>
            <p:ph type="title"/>
          </p:nvPr>
        </p:nvSpPr>
        <p:spPr/>
        <p:txBody>
          <a:bodyPr/>
          <a:lstStyle/>
          <a:p>
            <a:r>
              <a:rPr kumimoji="1" lang="zh-CN" altLang="en-US" dirty="0"/>
              <a:t>消费曲线的移动</a:t>
            </a:r>
          </a:p>
        </p:txBody>
      </p:sp>
      <p:graphicFrame>
        <p:nvGraphicFramePr>
          <p:cNvPr id="8" name="表格 8">
            <a:extLst>
              <a:ext uri="{FF2B5EF4-FFF2-40B4-BE49-F238E27FC236}">
                <a16:creationId xmlns:a16="http://schemas.microsoft.com/office/drawing/2014/main" id="{EAD0066B-617A-31CA-1E6A-2EC65FFEB1FF}"/>
              </a:ext>
            </a:extLst>
          </p:cNvPr>
          <p:cNvGraphicFramePr>
            <a:graphicFrameLocks noGrp="1"/>
          </p:cNvGraphicFramePr>
          <p:nvPr>
            <p:extLst>
              <p:ext uri="{D42A27DB-BD31-4B8C-83A1-F6EECF244321}">
                <p14:modId xmlns:p14="http://schemas.microsoft.com/office/powerpoint/2010/main" val="1801594574"/>
              </p:ext>
            </p:extLst>
          </p:nvPr>
        </p:nvGraphicFramePr>
        <p:xfrm>
          <a:off x="230505" y="1551700"/>
          <a:ext cx="4036518" cy="1335532"/>
        </p:xfrm>
        <a:graphic>
          <a:graphicData uri="http://schemas.openxmlformats.org/drawingml/2006/table">
            <a:tbl>
              <a:tblPr firstRow="1" bandRow="1">
                <a:tableStyleId>{93296810-A885-4BE3-A3E7-6D5BEEA58F35}</a:tableStyleId>
              </a:tblPr>
              <a:tblGrid>
                <a:gridCol w="1522406">
                  <a:extLst>
                    <a:ext uri="{9D8B030D-6E8A-4147-A177-3AD203B41FA5}">
                      <a16:colId xmlns:a16="http://schemas.microsoft.com/office/drawing/2014/main" val="4058797755"/>
                    </a:ext>
                  </a:extLst>
                </a:gridCol>
                <a:gridCol w="2514112">
                  <a:extLst>
                    <a:ext uri="{9D8B030D-6E8A-4147-A177-3AD203B41FA5}">
                      <a16:colId xmlns:a16="http://schemas.microsoft.com/office/drawing/2014/main" val="4155405716"/>
                    </a:ext>
                  </a:extLst>
                </a:gridCol>
              </a:tblGrid>
              <a:tr h="186965">
                <a:tc>
                  <a:txBody>
                    <a:bodyPr/>
                    <a:lstStyle/>
                    <a:p>
                      <a:pPr algn="ctr"/>
                      <a:r>
                        <a:rPr lang="zh-CN" altLang="en-US" sz="1100" dirty="0">
                          <a:latin typeface="Garamond" panose="02020404030301010803" pitchFamily="18" charset="0"/>
                          <a:ea typeface="SimSun" panose="02010600030101010101" pitchFamily="2" charset="-122"/>
                        </a:rPr>
                        <a:t>影响因素</a:t>
                      </a:r>
                      <a:endParaRPr lang="en-US" altLang="zh-CN" sz="1100" dirty="0">
                        <a:latin typeface="Garamond" panose="02020404030301010803" pitchFamily="18" charset="0"/>
                        <a:ea typeface="SimSun" panose="02010600030101010101" pitchFamily="2" charset="-122"/>
                      </a:endParaRPr>
                    </a:p>
                  </a:txBody>
                  <a:tcPr marL="46101" marR="46101" marT="23051" marB="23051"/>
                </a:tc>
                <a:tc>
                  <a:txBody>
                    <a:bodyPr/>
                    <a:lstStyle/>
                    <a:p>
                      <a:pPr algn="ctr"/>
                      <a:r>
                        <a:rPr lang="zh-CN" altLang="en-US" sz="1100" dirty="0">
                          <a:latin typeface="Garamond" panose="02020404030301010803" pitchFamily="18" charset="0"/>
                          <a:ea typeface="SimSun" panose="02010600030101010101" pitchFamily="2" charset="-122"/>
                        </a:rPr>
                        <a:t>消费曲线的移动</a:t>
                      </a:r>
                    </a:p>
                  </a:txBody>
                  <a:tcPr marL="46101" marR="46101" marT="23051" marB="23051"/>
                </a:tc>
                <a:extLst>
                  <a:ext uri="{0D108BD9-81ED-4DB2-BD59-A6C34878D82A}">
                    <a16:rowId xmlns:a16="http://schemas.microsoft.com/office/drawing/2014/main" val="2014262238"/>
                  </a:ext>
                </a:extLst>
              </a:tr>
              <a:tr h="186965">
                <a:tc>
                  <a:txBody>
                    <a:bodyPr/>
                    <a:lstStyle/>
                    <a:p>
                      <a:pPr algn="ctr"/>
                      <a:r>
                        <a:rPr lang="zh-CN" altLang="en-US" sz="900" dirty="0">
                          <a:latin typeface="Garamond" panose="02020404030301010803" pitchFamily="18" charset="0"/>
                          <a:ea typeface="SimSun" panose="02010600030101010101" pitchFamily="2" charset="-122"/>
                        </a:rPr>
                        <a:t>未来财富</a:t>
                      </a:r>
                      <a:endParaRPr lang="en-US" altLang="zh-CN" sz="900" dirty="0">
                        <a:latin typeface="Garamond" panose="02020404030301010803" pitchFamily="18" charset="0"/>
                        <a:ea typeface="SimSun" panose="02010600030101010101" pitchFamily="2" charset="-122"/>
                      </a:endParaRPr>
                    </a:p>
                  </a:txBody>
                  <a:tcPr marL="46101" marR="46101" marT="23051" marB="23051"/>
                </a:tc>
                <a:tc>
                  <a:txBody>
                    <a:bodyPr/>
                    <a:lstStyle/>
                    <a:p>
                      <a:pPr algn="ctr"/>
                      <a:endParaRPr lang="zh-CN" altLang="en-US" sz="800" dirty="0">
                        <a:latin typeface="Garamond" panose="02020404030301010803" pitchFamily="18" charset="0"/>
                        <a:ea typeface="SimSun" panose="02010600030101010101" pitchFamily="2" charset="-122"/>
                      </a:endParaRPr>
                    </a:p>
                  </a:txBody>
                  <a:tcPr marL="46101" marR="46101" marT="23051" marB="23051"/>
                </a:tc>
                <a:extLst>
                  <a:ext uri="{0D108BD9-81ED-4DB2-BD59-A6C34878D82A}">
                    <a16:rowId xmlns:a16="http://schemas.microsoft.com/office/drawing/2014/main" val="940910580"/>
                  </a:ext>
                </a:extLst>
              </a:tr>
              <a:tr h="186965">
                <a:tc>
                  <a:txBody>
                    <a:bodyPr/>
                    <a:lstStyle/>
                    <a:p>
                      <a:pPr algn="ctr"/>
                      <a:r>
                        <a:rPr lang="zh-CN" altLang="en-US" sz="900" dirty="0">
                          <a:latin typeface="Garamond" panose="02020404030301010803" pitchFamily="18" charset="0"/>
                          <a:ea typeface="SimSun" panose="02010600030101010101" pitchFamily="2" charset="-122"/>
                        </a:rPr>
                        <a:t>对未来价格和收入的预期</a:t>
                      </a:r>
                      <a:endParaRPr lang="zh-CN" altLang="en-US" sz="500" dirty="0">
                        <a:latin typeface="Garamond" panose="02020404030301010803" pitchFamily="18" charset="0"/>
                        <a:ea typeface="SimSun" panose="02010600030101010101" pitchFamily="2" charset="-122"/>
                      </a:endParaRPr>
                    </a:p>
                  </a:txBody>
                  <a:tcPr marL="46101" marR="46101" marT="23051" marB="23051"/>
                </a:tc>
                <a:tc>
                  <a:txBody>
                    <a:bodyPr/>
                    <a:lstStyle/>
                    <a:p>
                      <a:pPr algn="ctr"/>
                      <a:endParaRPr lang="zh-CN" altLang="en-US" sz="800" dirty="0">
                        <a:latin typeface="Garamond" panose="02020404030301010803" pitchFamily="18" charset="0"/>
                        <a:ea typeface="SimSun" panose="02010600030101010101" pitchFamily="2" charset="-122"/>
                      </a:endParaRPr>
                    </a:p>
                  </a:txBody>
                  <a:tcPr marL="46101" marR="46101" marT="23051" marB="23051"/>
                </a:tc>
                <a:extLst>
                  <a:ext uri="{0D108BD9-81ED-4DB2-BD59-A6C34878D82A}">
                    <a16:rowId xmlns:a16="http://schemas.microsoft.com/office/drawing/2014/main" val="1466154108"/>
                  </a:ext>
                </a:extLst>
              </a:tr>
              <a:tr h="186965">
                <a:tc>
                  <a:txBody>
                    <a:bodyPr/>
                    <a:lstStyle/>
                    <a:p>
                      <a:pPr algn="ctr"/>
                      <a:r>
                        <a:rPr lang="zh-CN" altLang="en-US" sz="900" dirty="0">
                          <a:latin typeface="Garamond" panose="02020404030301010803" pitchFamily="18" charset="0"/>
                          <a:ea typeface="SimSun" panose="02010600030101010101" pitchFamily="2" charset="-122"/>
                        </a:rPr>
                        <a:t>价格</a:t>
                      </a:r>
                      <a:endParaRPr lang="en-US" altLang="zh-CN" sz="900" dirty="0">
                        <a:latin typeface="Garamond" panose="02020404030301010803" pitchFamily="18" charset="0"/>
                        <a:ea typeface="SimSun" panose="02010600030101010101" pitchFamily="2" charset="-122"/>
                      </a:endParaRPr>
                    </a:p>
                  </a:txBody>
                  <a:tcPr marL="46101" marR="46101" marT="23051" marB="23051"/>
                </a:tc>
                <a:tc>
                  <a:txBody>
                    <a:bodyPr/>
                    <a:lstStyle/>
                    <a:p>
                      <a:pPr algn="ctr"/>
                      <a:endParaRPr lang="zh-CN" altLang="en-US" sz="800" dirty="0">
                        <a:latin typeface="Garamond" panose="02020404030301010803" pitchFamily="18" charset="0"/>
                        <a:ea typeface="SimSun" panose="02010600030101010101" pitchFamily="2" charset="-122"/>
                      </a:endParaRPr>
                    </a:p>
                  </a:txBody>
                  <a:tcPr marL="46101" marR="46101" marT="23051" marB="23051"/>
                </a:tc>
                <a:extLst>
                  <a:ext uri="{0D108BD9-81ED-4DB2-BD59-A6C34878D82A}">
                    <a16:rowId xmlns:a16="http://schemas.microsoft.com/office/drawing/2014/main" val="1548951585"/>
                  </a:ext>
                </a:extLst>
              </a:tr>
              <a:tr h="186965">
                <a:tc>
                  <a:txBody>
                    <a:bodyPr/>
                    <a:lstStyle/>
                    <a:p>
                      <a:pPr algn="ctr"/>
                      <a:r>
                        <a:rPr lang="zh-CN" altLang="en-US" sz="900" dirty="0">
                          <a:latin typeface="Garamond" panose="02020404030301010803" pitchFamily="18" charset="0"/>
                          <a:ea typeface="SimSun" panose="02010600030101010101" pitchFamily="2" charset="-122"/>
                        </a:rPr>
                        <a:t>收入分配</a:t>
                      </a:r>
                      <a:endParaRPr lang="en-US" altLang="zh-CN" sz="900" dirty="0">
                        <a:latin typeface="Garamond" panose="02020404030301010803" pitchFamily="18" charset="0"/>
                        <a:ea typeface="SimSun" panose="02010600030101010101" pitchFamily="2" charset="-122"/>
                      </a:endParaRPr>
                    </a:p>
                  </a:txBody>
                  <a:tcPr marL="46101" marR="46101" marT="23051" marB="23051"/>
                </a:tc>
                <a:tc>
                  <a:txBody>
                    <a:bodyPr/>
                    <a:lstStyle/>
                    <a:p>
                      <a:pPr algn="ctr"/>
                      <a:endParaRPr lang="zh-CN" altLang="en-US" sz="800" dirty="0">
                        <a:latin typeface="Garamond" panose="02020404030301010803" pitchFamily="18" charset="0"/>
                        <a:ea typeface="SimSun" panose="02010600030101010101" pitchFamily="2" charset="-122"/>
                      </a:endParaRPr>
                    </a:p>
                  </a:txBody>
                  <a:tcPr marL="46101" marR="46101" marT="23051" marB="23051"/>
                </a:tc>
                <a:extLst>
                  <a:ext uri="{0D108BD9-81ED-4DB2-BD59-A6C34878D82A}">
                    <a16:rowId xmlns:a16="http://schemas.microsoft.com/office/drawing/2014/main" val="2213019093"/>
                  </a:ext>
                </a:extLst>
              </a:tr>
              <a:tr h="186965">
                <a:tc>
                  <a:txBody>
                    <a:bodyPr/>
                    <a:lstStyle/>
                    <a:p>
                      <a:pPr algn="ctr"/>
                      <a:r>
                        <a:rPr lang="zh-CN" altLang="en-US" sz="900" dirty="0">
                          <a:latin typeface="Garamond" panose="02020404030301010803" pitchFamily="18" charset="0"/>
                          <a:ea typeface="SimSun" panose="02010600030101010101" pitchFamily="2" charset="-122"/>
                        </a:rPr>
                        <a:t>税收</a:t>
                      </a:r>
                      <a:endParaRPr lang="en-US" altLang="zh-CN" sz="900" dirty="0">
                        <a:latin typeface="Garamond" panose="02020404030301010803" pitchFamily="18" charset="0"/>
                        <a:ea typeface="SimSun" panose="02010600030101010101" pitchFamily="2" charset="-122"/>
                      </a:endParaRPr>
                    </a:p>
                  </a:txBody>
                  <a:tcPr marL="46101" marR="46101" marT="23051" marB="23051"/>
                </a:tc>
                <a:tc>
                  <a:txBody>
                    <a:bodyPr/>
                    <a:lstStyle/>
                    <a:p>
                      <a:pPr algn="ctr"/>
                      <a:endParaRPr lang="zh-CN" altLang="en-US" sz="800" dirty="0">
                        <a:latin typeface="Garamond" panose="02020404030301010803" pitchFamily="18" charset="0"/>
                        <a:ea typeface="SimSun" panose="02010600030101010101" pitchFamily="2" charset="-122"/>
                      </a:endParaRPr>
                    </a:p>
                  </a:txBody>
                  <a:tcPr marL="46101" marR="46101" marT="23051" marB="23051"/>
                </a:tc>
                <a:extLst>
                  <a:ext uri="{0D108BD9-81ED-4DB2-BD59-A6C34878D82A}">
                    <a16:rowId xmlns:a16="http://schemas.microsoft.com/office/drawing/2014/main" val="3184040744"/>
                  </a:ext>
                </a:extLst>
              </a:tr>
              <a:tr h="186965">
                <a:tc>
                  <a:txBody>
                    <a:bodyPr/>
                    <a:lstStyle/>
                    <a:p>
                      <a:pPr marL="0" marR="0" lvl="0" indent="0" algn="ctr" defTabSz="913643" rtl="0" eaLnBrk="1" fontAlgn="auto" latinLnBrk="0" hangingPunct="1">
                        <a:lnSpc>
                          <a:spcPct val="100000"/>
                        </a:lnSpc>
                        <a:spcBef>
                          <a:spcPts val="0"/>
                        </a:spcBef>
                        <a:spcAft>
                          <a:spcPts val="0"/>
                        </a:spcAft>
                        <a:buClrTx/>
                        <a:buSzTx/>
                        <a:buFontTx/>
                        <a:buNone/>
                        <a:tabLst/>
                        <a:defRPr/>
                      </a:pPr>
                      <a:r>
                        <a:rPr lang="en-US" altLang="zh-CN" sz="500" dirty="0">
                          <a:latin typeface="Garamond" panose="02020404030301010803" pitchFamily="18" charset="0"/>
                          <a:ea typeface="SimSun" panose="02010600030101010101" pitchFamily="2" charset="-122"/>
                        </a:rPr>
                        <a:t>……</a:t>
                      </a:r>
                      <a:endParaRPr lang="zh-CN" altLang="en-US" sz="500" dirty="0">
                        <a:latin typeface="Garamond" panose="02020404030301010803" pitchFamily="18" charset="0"/>
                        <a:ea typeface="SimSun" panose="02010600030101010101" pitchFamily="2" charset="-122"/>
                      </a:endParaRPr>
                    </a:p>
                  </a:txBody>
                  <a:tcPr marL="46101" marR="46101" marT="23051" marB="23051"/>
                </a:tc>
                <a:tc>
                  <a:txBody>
                    <a:bodyPr/>
                    <a:lstStyle/>
                    <a:p>
                      <a:pPr algn="ctr"/>
                      <a:r>
                        <a:rPr lang="en-US" altLang="zh-CN" sz="800" dirty="0">
                          <a:latin typeface="Garamond" panose="02020404030301010803" pitchFamily="18" charset="0"/>
                          <a:ea typeface="SimSun" panose="02010600030101010101" pitchFamily="2" charset="-122"/>
                        </a:rPr>
                        <a:t>……</a:t>
                      </a:r>
                      <a:endParaRPr lang="zh-CN" altLang="en-US" sz="800" dirty="0">
                        <a:latin typeface="Garamond" panose="02020404030301010803" pitchFamily="18" charset="0"/>
                        <a:ea typeface="SimSun" panose="02010600030101010101" pitchFamily="2" charset="-122"/>
                      </a:endParaRPr>
                    </a:p>
                  </a:txBody>
                  <a:tcPr marL="46101" marR="46101" marT="23051" marB="23051"/>
                </a:tc>
                <a:extLst>
                  <a:ext uri="{0D108BD9-81ED-4DB2-BD59-A6C34878D82A}">
                    <a16:rowId xmlns:a16="http://schemas.microsoft.com/office/drawing/2014/main" val="1182214433"/>
                  </a:ext>
                </a:extLst>
              </a:tr>
            </a:tbl>
          </a:graphicData>
        </a:graphic>
      </p:graphicFrame>
      <p:sp>
        <p:nvSpPr>
          <p:cNvPr id="10" name="文本框 9">
            <a:extLst>
              <a:ext uri="{FF2B5EF4-FFF2-40B4-BE49-F238E27FC236}">
                <a16:creationId xmlns:a16="http://schemas.microsoft.com/office/drawing/2014/main" id="{07C5B946-8D3F-BA01-C4D0-4BC0ED310468}"/>
              </a:ext>
            </a:extLst>
          </p:cNvPr>
          <p:cNvSpPr txBox="1"/>
          <p:nvPr/>
        </p:nvSpPr>
        <p:spPr>
          <a:xfrm>
            <a:off x="230505" y="1346687"/>
            <a:ext cx="4036518" cy="247440"/>
          </a:xfrm>
          <a:prstGeom prst="rect">
            <a:avLst/>
          </a:prstGeom>
          <a:noFill/>
        </p:spPr>
        <p:txBody>
          <a:bodyPr wrap="square">
            <a:spAutoFit/>
          </a:bodyPr>
          <a:lstStyle/>
          <a:p>
            <a:r>
              <a:rPr lang="zh-CN" altLang="en-US" sz="1008" b="1" dirty="0">
                <a:latin typeface="Garamond" panose="02020404030301010803" pitchFamily="18" charset="0"/>
                <a:ea typeface="KaiTi" panose="02010609060101010101" pitchFamily="49" charset="-122"/>
              </a:rPr>
              <a:t>表</a:t>
            </a:r>
            <a:r>
              <a:rPr lang="en-US" altLang="zh-CN" sz="1008" b="1" dirty="0">
                <a:latin typeface="Garamond" panose="02020404030301010803" pitchFamily="18" charset="0"/>
                <a:ea typeface="KaiTi" panose="02010609060101010101" pitchFamily="49" charset="-122"/>
              </a:rPr>
              <a:t>2</a:t>
            </a:r>
            <a:r>
              <a:rPr lang="zh-CN" altLang="en-US" sz="1008" b="1" dirty="0">
                <a:latin typeface="Garamond" panose="02020404030301010803" pitchFamily="18" charset="0"/>
                <a:ea typeface="KaiTi" panose="02010609060101010101" pitchFamily="49" charset="-122"/>
              </a:rPr>
              <a:t>：消费曲线移动的影响因素</a:t>
            </a:r>
          </a:p>
        </p:txBody>
      </p:sp>
      <p:sp>
        <p:nvSpPr>
          <p:cNvPr id="11" name="灯片编号占位符 2">
            <a:extLst>
              <a:ext uri="{FF2B5EF4-FFF2-40B4-BE49-F238E27FC236}">
                <a16:creationId xmlns:a16="http://schemas.microsoft.com/office/drawing/2014/main" id="{545B8EF4-631A-65CE-B80E-B58F2BA97833}"/>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43</a:t>
            </a:fld>
            <a:endParaRPr lang="zh-CN" altLang="zh-CN" sz="856">
              <a:solidFill>
                <a:srgbClr val="777777"/>
              </a:solidFill>
              <a:ea typeface="宋体" panose="02010600030101010101" pitchFamily="2" charset="-122"/>
            </a:endParaRPr>
          </a:p>
        </p:txBody>
      </p:sp>
      <p:graphicFrame>
        <p:nvGraphicFramePr>
          <p:cNvPr id="4" name="表格 3">
            <a:extLst>
              <a:ext uri="{FF2B5EF4-FFF2-40B4-BE49-F238E27FC236}">
                <a16:creationId xmlns:a16="http://schemas.microsoft.com/office/drawing/2014/main" id="{1CCEF034-846E-B4E7-A077-582216C5B4BE}"/>
              </a:ext>
            </a:extLst>
          </p:cNvPr>
          <p:cNvGraphicFramePr>
            <a:graphicFrameLocks noGrp="1"/>
          </p:cNvGraphicFramePr>
          <p:nvPr>
            <p:extLst>
              <p:ext uri="{D42A27DB-BD31-4B8C-83A1-F6EECF244321}">
                <p14:modId xmlns:p14="http://schemas.microsoft.com/office/powerpoint/2010/main" val="2080442501"/>
              </p:ext>
            </p:extLst>
          </p:nvPr>
        </p:nvGraphicFramePr>
        <p:xfrm>
          <a:off x="1993595" y="1773267"/>
          <a:ext cx="1944215" cy="934825"/>
        </p:xfrm>
        <a:graphic>
          <a:graphicData uri="http://schemas.openxmlformats.org/drawingml/2006/table">
            <a:tbl>
              <a:tblPr firstRow="1" bandRow="1">
                <a:tableStyleId>{F5AB1C69-6EDB-4FF4-983F-18BD219EF322}</a:tableStyleId>
              </a:tblPr>
              <a:tblGrid>
                <a:gridCol w="1944215">
                  <a:extLst>
                    <a:ext uri="{9D8B030D-6E8A-4147-A177-3AD203B41FA5}">
                      <a16:colId xmlns:a16="http://schemas.microsoft.com/office/drawing/2014/main" val="3150608213"/>
                    </a:ext>
                  </a:extLst>
                </a:gridCol>
              </a:tblGrid>
              <a:tr h="186965">
                <a:tc>
                  <a:txBody>
                    <a:bodyPr/>
                    <a:lstStyle/>
                    <a:p>
                      <a:pPr algn="ctr"/>
                      <a:r>
                        <a:rPr lang="zh-CN" altLang="en-US" sz="800" dirty="0">
                          <a:solidFill>
                            <a:schemeClr val="tx1">
                              <a:lumMod val="50000"/>
                              <a:lumOff val="50000"/>
                            </a:schemeClr>
                          </a:solidFill>
                          <a:latin typeface="SimSun" panose="02010600030101010101" pitchFamily="2" charset="-122"/>
                          <a:ea typeface="SimSun" panose="02010600030101010101" pitchFamily="2" charset="-122"/>
                        </a:rPr>
                        <a:t>财富增加，消费曲线向右移动</a:t>
                      </a:r>
                    </a:p>
                  </a:txBody>
                  <a:tcPr marL="46101" marR="46101" marT="23051" marB="23051">
                    <a:noFill/>
                  </a:tcPr>
                </a:tc>
                <a:extLst>
                  <a:ext uri="{0D108BD9-81ED-4DB2-BD59-A6C34878D82A}">
                    <a16:rowId xmlns:a16="http://schemas.microsoft.com/office/drawing/2014/main" val="3061408596"/>
                  </a:ext>
                </a:extLst>
              </a:tr>
              <a:tr h="186965">
                <a:tc>
                  <a:txBody>
                    <a:bodyPr/>
                    <a:lstStyle/>
                    <a:p>
                      <a:pPr algn="ctr"/>
                      <a:r>
                        <a:rPr lang="zh-CN" altLang="en-US" sz="800" dirty="0">
                          <a:solidFill>
                            <a:schemeClr val="tx1">
                              <a:lumMod val="50000"/>
                              <a:lumOff val="50000"/>
                            </a:schemeClr>
                          </a:solidFill>
                          <a:latin typeface="SimSun" panose="02010600030101010101" pitchFamily="2" charset="-122"/>
                          <a:ea typeface="SimSun" panose="02010600030101010101" pitchFamily="2" charset="-122"/>
                        </a:rPr>
                        <a:t>乐观预期，消费曲线向右移动</a:t>
                      </a:r>
                    </a:p>
                  </a:txBody>
                  <a:tcPr marL="46101" marR="46101" marT="23051" marB="23051">
                    <a:noFill/>
                  </a:tcPr>
                </a:tc>
                <a:extLst>
                  <a:ext uri="{0D108BD9-81ED-4DB2-BD59-A6C34878D82A}">
                    <a16:rowId xmlns:a16="http://schemas.microsoft.com/office/drawing/2014/main" val="1279872104"/>
                  </a:ext>
                </a:extLst>
              </a:tr>
              <a:tr h="186965">
                <a:tc>
                  <a:txBody>
                    <a:bodyPr/>
                    <a:lstStyle/>
                    <a:p>
                      <a:pPr algn="ctr"/>
                      <a:r>
                        <a:rPr lang="zh-CN" altLang="en-US" sz="800" dirty="0">
                          <a:solidFill>
                            <a:schemeClr val="tx1">
                              <a:lumMod val="50000"/>
                              <a:lumOff val="50000"/>
                            </a:schemeClr>
                          </a:solidFill>
                          <a:latin typeface="SimSun" panose="02010600030101010101" pitchFamily="2" charset="-122"/>
                          <a:ea typeface="SimSun" panose="02010600030101010101" pitchFamily="2" charset="-122"/>
                        </a:rPr>
                        <a:t>价格越低，消费曲线向右移动</a:t>
                      </a:r>
                    </a:p>
                  </a:txBody>
                  <a:tcPr marL="46101" marR="46101" marT="23051" marB="23051">
                    <a:noFill/>
                  </a:tcPr>
                </a:tc>
                <a:extLst>
                  <a:ext uri="{0D108BD9-81ED-4DB2-BD59-A6C34878D82A}">
                    <a16:rowId xmlns:a16="http://schemas.microsoft.com/office/drawing/2014/main" val="2604233889"/>
                  </a:ext>
                </a:extLst>
              </a:tr>
              <a:tr h="186965">
                <a:tc>
                  <a:txBody>
                    <a:bodyPr/>
                    <a:lstStyle/>
                    <a:p>
                      <a:pPr algn="ctr"/>
                      <a:r>
                        <a:rPr lang="zh-CN" altLang="en-US" sz="800" dirty="0">
                          <a:solidFill>
                            <a:schemeClr val="tx1">
                              <a:lumMod val="50000"/>
                              <a:lumOff val="50000"/>
                            </a:schemeClr>
                          </a:solidFill>
                          <a:latin typeface="SimSun" panose="02010600030101010101" pitchFamily="2" charset="-122"/>
                          <a:ea typeface="SimSun" panose="02010600030101010101" pitchFamily="2" charset="-122"/>
                        </a:rPr>
                        <a:t>收入分配越公平，消费曲线向右移动</a:t>
                      </a:r>
                    </a:p>
                  </a:txBody>
                  <a:tcPr marL="46101" marR="46101" marT="23051" marB="23051">
                    <a:noFill/>
                  </a:tcPr>
                </a:tc>
                <a:extLst>
                  <a:ext uri="{0D108BD9-81ED-4DB2-BD59-A6C34878D82A}">
                    <a16:rowId xmlns:a16="http://schemas.microsoft.com/office/drawing/2014/main" val="1204135146"/>
                  </a:ext>
                </a:extLst>
              </a:tr>
              <a:tr h="186965">
                <a:tc>
                  <a:txBody>
                    <a:bodyPr/>
                    <a:lstStyle/>
                    <a:p>
                      <a:pPr algn="ctr"/>
                      <a:r>
                        <a:rPr lang="zh-CN" altLang="en-US" sz="800" dirty="0">
                          <a:solidFill>
                            <a:schemeClr val="tx1">
                              <a:lumMod val="50000"/>
                              <a:lumOff val="50000"/>
                            </a:schemeClr>
                          </a:solidFill>
                          <a:latin typeface="SimSun" panose="02010600030101010101" pitchFamily="2" charset="-122"/>
                          <a:ea typeface="SimSun" panose="02010600030101010101" pitchFamily="2" charset="-122"/>
                        </a:rPr>
                        <a:t>减税，消费曲线向右移动</a:t>
                      </a:r>
                    </a:p>
                  </a:txBody>
                  <a:tcPr marL="46101" marR="46101" marT="23051" marB="23051">
                    <a:noFill/>
                  </a:tcPr>
                </a:tc>
                <a:extLst>
                  <a:ext uri="{0D108BD9-81ED-4DB2-BD59-A6C34878D82A}">
                    <a16:rowId xmlns:a16="http://schemas.microsoft.com/office/drawing/2014/main" val="403651365"/>
                  </a:ext>
                </a:extLst>
              </a:tr>
            </a:tbl>
          </a:graphicData>
        </a:graphic>
      </p:graphicFrame>
      <p:sp>
        <p:nvSpPr>
          <p:cNvPr id="5" name="页脚占位符 1">
            <a:extLst>
              <a:ext uri="{FF2B5EF4-FFF2-40B4-BE49-F238E27FC236}">
                <a16:creationId xmlns:a16="http://schemas.microsoft.com/office/drawing/2014/main" id="{BFF6FE40-8FF3-E672-9BD9-894FE3B74C07}"/>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101195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0"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8E51BEE2-9A94-72DB-1447-E52E9A107A74}"/>
              </a:ext>
            </a:extLst>
          </p:cNvPr>
          <p:cNvSpPr>
            <a:spLocks noGrp="1"/>
          </p:cNvSpPr>
          <p:nvPr>
            <p:ph type="title"/>
          </p:nvPr>
        </p:nvSpPr>
        <p:spPr/>
        <p:txBody>
          <a:bodyPr/>
          <a:lstStyle/>
          <a:p>
            <a:r>
              <a:rPr kumimoji="1" lang="zh-CN" altLang="en-US" dirty="0"/>
              <a:t>硬币的另一面：储蓄函数</a:t>
            </a:r>
          </a:p>
        </p:txBody>
      </p:sp>
      <p:pic>
        <p:nvPicPr>
          <p:cNvPr id="29696" name="Picture 4" descr="xf134">
            <a:extLst>
              <a:ext uri="{FF2B5EF4-FFF2-40B4-BE49-F238E27FC236}">
                <a16:creationId xmlns:a16="http://schemas.microsoft.com/office/drawing/2014/main" id="{37D86246-7C21-024E-A486-BEDA0D6B4863}"/>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6910" t="6209" r="4079" b="4343"/>
          <a:stretch/>
        </p:blipFill>
        <p:spPr bwMode="auto">
          <a:xfrm>
            <a:off x="2203811" y="1312629"/>
            <a:ext cx="1989952" cy="1142735"/>
          </a:xfrm>
          <a:prstGeom prst="rect">
            <a:avLst/>
          </a:prstGeom>
          <a:noFill/>
          <a:extLst>
            <a:ext uri="{909E8E84-426E-40DD-AFC4-6F175D3DCCD1}">
              <a14:hiddenFill xmlns:a14="http://schemas.microsoft.com/office/drawing/2010/main">
                <a:solidFill>
                  <a:srgbClr val="FFFFFF"/>
                </a:solidFill>
              </a14:hiddenFill>
            </a:ext>
          </a:extLst>
        </p:spPr>
      </p:pic>
      <p:pic>
        <p:nvPicPr>
          <p:cNvPr id="29697" name="Picture 4" descr="xf132">
            <a:extLst>
              <a:ext uri="{FF2B5EF4-FFF2-40B4-BE49-F238E27FC236}">
                <a16:creationId xmlns:a16="http://schemas.microsoft.com/office/drawing/2014/main" id="{B830E45A-DB7D-3A75-1D43-5CBAE3FE9FD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0" y="1227744"/>
            <a:ext cx="2203811" cy="160323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9698" name="内容占位符 2">
                <a:extLst>
                  <a:ext uri="{FF2B5EF4-FFF2-40B4-BE49-F238E27FC236}">
                    <a16:creationId xmlns:a16="http://schemas.microsoft.com/office/drawing/2014/main" id="{64715884-C689-D3B7-1D0F-23244CB77333}"/>
                  </a:ext>
                </a:extLst>
              </p:cNvPr>
              <p:cNvSpPr>
                <a:spLocks noGrp="1"/>
              </p:cNvSpPr>
              <p:nvPr>
                <p:ph idx="1"/>
              </p:nvPr>
            </p:nvSpPr>
            <p:spPr>
              <a:xfrm>
                <a:off x="154823" y="538391"/>
                <a:ext cx="4276443" cy="854274"/>
              </a:xfrm>
            </p:spPr>
            <p:txBody>
              <a:bodyPr/>
              <a:lstStyle/>
              <a:p>
                <a:r>
                  <a:rPr lang="zh-CN" altLang="en-US" sz="1210" dirty="0">
                    <a:latin typeface="SimSun" panose="02010600030101010101" pitchFamily="2" charset="-122"/>
                    <a:ea typeface="SimSun" panose="02010600030101010101" pitchFamily="2" charset="-122"/>
                  </a:rPr>
                  <a:t>储蓄是个人可支配收入中没有用于消费的部分，因此，储蓄函数为：</a:t>
                </a:r>
                <a14:m>
                  <m:oMath xmlns:m="http://schemas.openxmlformats.org/officeDocument/2006/math">
                    <m:r>
                      <a:rPr lang="en-US" altLang="zh-CN" sz="1210" i="1">
                        <a:latin typeface="Cambria Math" panose="02040503050406030204" pitchFamily="18" charset="0"/>
                      </a:rPr>
                      <m:t>𝑠</m:t>
                    </m:r>
                    <m:r>
                      <a:rPr lang="en-US" altLang="zh-CN" sz="1210" i="1">
                        <a:latin typeface="Cambria Math" panose="02040503050406030204" pitchFamily="18" charset="0"/>
                      </a:rPr>
                      <m:t>=</m:t>
                    </m:r>
                    <m:r>
                      <a:rPr lang="en-US" altLang="zh-CN" sz="1210" i="1">
                        <a:latin typeface="Cambria Math" panose="02040503050406030204" pitchFamily="18" charset="0"/>
                      </a:rPr>
                      <m:t>𝑠</m:t>
                    </m:r>
                    <m:d>
                      <m:dPr>
                        <m:ctrlPr>
                          <a:rPr lang="en-US" altLang="zh-CN" sz="1210" i="1">
                            <a:latin typeface="Cambria Math" panose="02040503050406030204" pitchFamily="18" charset="0"/>
                          </a:rPr>
                        </m:ctrlPr>
                      </m:dPr>
                      <m:e>
                        <m:r>
                          <a:rPr lang="en-US" altLang="zh-CN" sz="1210" i="1">
                            <a:latin typeface="Cambria Math" panose="02040503050406030204" pitchFamily="18" charset="0"/>
                          </a:rPr>
                          <m:t>𝑦</m:t>
                        </m:r>
                      </m:e>
                    </m:d>
                    <m:r>
                      <a:rPr lang="en-US" altLang="zh-CN" sz="1210" i="1">
                        <a:latin typeface="Cambria Math" panose="02040503050406030204" pitchFamily="18" charset="0"/>
                      </a:rPr>
                      <m:t>=</m:t>
                    </m:r>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𝑦</m:t>
                        </m:r>
                      </m:e>
                      <m:sub>
                        <m:r>
                          <a:rPr lang="en-US" altLang="zh-CN" sz="1210" i="1">
                            <a:latin typeface="Cambria Math" panose="02040503050406030204" pitchFamily="18" charset="0"/>
                          </a:rPr>
                          <m:t>𝑑</m:t>
                        </m:r>
                      </m:sub>
                    </m:sSub>
                    <m:r>
                      <a:rPr lang="en-US" altLang="zh-CN" sz="1210" i="1">
                        <a:latin typeface="Cambria Math" panose="02040503050406030204" pitchFamily="18" charset="0"/>
                      </a:rPr>
                      <m:t>−</m:t>
                    </m:r>
                    <m:r>
                      <a:rPr lang="en-US" altLang="zh-CN" sz="1210" i="1">
                        <a:latin typeface="Cambria Math" panose="02040503050406030204" pitchFamily="18" charset="0"/>
                      </a:rPr>
                      <m:t>𝑐</m:t>
                    </m:r>
                    <m:r>
                      <a:rPr lang="en-US" altLang="zh-CN" sz="1210" i="1">
                        <a:latin typeface="Cambria Math" panose="02040503050406030204" pitchFamily="18" charset="0"/>
                      </a:rPr>
                      <m:t>=</m:t>
                    </m:r>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𝑦</m:t>
                        </m:r>
                      </m:e>
                      <m:sub>
                        <m:r>
                          <a:rPr lang="en-US" altLang="zh-CN" sz="1210" i="1">
                            <a:latin typeface="Cambria Math" panose="02040503050406030204" pitchFamily="18" charset="0"/>
                          </a:rPr>
                          <m:t>𝑑</m:t>
                        </m:r>
                      </m:sub>
                    </m:sSub>
                    <m:r>
                      <a:rPr lang="en-US" altLang="zh-CN" sz="1210" i="1">
                        <a:latin typeface="Cambria Math" panose="02040503050406030204" pitchFamily="18" charset="0"/>
                      </a:rPr>
                      <m:t>−</m:t>
                    </m:r>
                    <m:d>
                      <m:dPr>
                        <m:ctrlPr>
                          <a:rPr lang="en-US" altLang="zh-CN" sz="1210" i="1">
                            <a:latin typeface="Cambria Math" panose="02040503050406030204" pitchFamily="18" charset="0"/>
                          </a:rPr>
                        </m:ctrlPr>
                      </m:dPr>
                      <m:e>
                        <m:r>
                          <a:rPr lang="zh-CN" altLang="en-US" sz="1210" i="1">
                            <a:latin typeface="Cambria Math" panose="02040503050406030204" pitchFamily="18" charset="0"/>
                          </a:rPr>
                          <m:t>𝛼</m:t>
                        </m:r>
                        <m:r>
                          <a:rPr lang="en-US" altLang="zh-CN" sz="1210" i="1">
                            <a:latin typeface="Cambria Math" panose="02040503050406030204" pitchFamily="18" charset="0"/>
                          </a:rPr>
                          <m:t>+</m:t>
                        </m:r>
                        <m:r>
                          <a:rPr lang="zh-CN" altLang="en-US" sz="1210" i="1">
                            <a:latin typeface="Cambria Math" panose="02040503050406030204" pitchFamily="18" charset="0"/>
                          </a:rPr>
                          <m:t>𝛽</m:t>
                        </m:r>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𝑦</m:t>
                            </m:r>
                          </m:e>
                          <m:sub>
                            <m:r>
                              <a:rPr lang="en-US" altLang="zh-CN" sz="1210" i="1">
                                <a:latin typeface="Cambria Math" panose="02040503050406030204" pitchFamily="18" charset="0"/>
                              </a:rPr>
                              <m:t>𝑑</m:t>
                            </m:r>
                          </m:sub>
                        </m:sSub>
                      </m:e>
                    </m:d>
                  </m:oMath>
                </a14:m>
                <a:endParaRPr lang="en-US" altLang="zh-CN" sz="1210" i="1" dirty="0">
                  <a:latin typeface="Cambria Math" panose="02040503050406030204" pitchFamily="18" charset="0"/>
                </a:endParaRPr>
              </a:p>
              <a:p>
                <a:r>
                  <a:rPr lang="zh-CN" altLang="en-US" sz="1210" dirty="0">
                    <a:latin typeface="SimSun" panose="02010600030101010101" pitchFamily="2" charset="-122"/>
                    <a:ea typeface="SimSun" panose="02010600030101010101" pitchFamily="2" charset="-122"/>
                  </a:rPr>
                  <a:t>即</a:t>
                </a:r>
                <a14:m>
                  <m:oMath xmlns:m="http://schemas.openxmlformats.org/officeDocument/2006/math">
                    <m:r>
                      <a:rPr lang="en-US" altLang="zh-CN" sz="1210" i="1">
                        <a:latin typeface="Cambria Math" panose="02040503050406030204" pitchFamily="18" charset="0"/>
                      </a:rPr>
                      <m:t>𝑠</m:t>
                    </m:r>
                    <m:r>
                      <a:rPr lang="en-US" altLang="zh-CN" sz="1210" i="1">
                        <a:latin typeface="Cambria Math" panose="02040503050406030204" pitchFamily="18" charset="0"/>
                      </a:rPr>
                      <m:t>=−</m:t>
                    </m:r>
                    <m:r>
                      <a:rPr lang="zh-CN" altLang="en-US" sz="1210" i="1">
                        <a:latin typeface="Cambria Math" panose="02040503050406030204" pitchFamily="18" charset="0"/>
                      </a:rPr>
                      <m:t>𝛼</m:t>
                    </m:r>
                    <m:r>
                      <a:rPr lang="en-US" altLang="zh-CN" sz="1210" i="1">
                        <a:latin typeface="Cambria Math" panose="02040503050406030204" pitchFamily="18" charset="0"/>
                      </a:rPr>
                      <m:t>+</m:t>
                    </m:r>
                    <m:d>
                      <m:dPr>
                        <m:ctrlPr>
                          <a:rPr lang="en-US" altLang="zh-CN" sz="1210" i="1">
                            <a:latin typeface="Cambria Math" panose="02040503050406030204" pitchFamily="18" charset="0"/>
                          </a:rPr>
                        </m:ctrlPr>
                      </m:dPr>
                      <m:e>
                        <m:r>
                          <a:rPr lang="en-US" altLang="zh-CN" sz="1210" i="1">
                            <a:latin typeface="Cambria Math" panose="02040503050406030204" pitchFamily="18" charset="0"/>
                          </a:rPr>
                          <m:t>1−</m:t>
                        </m:r>
                        <m:r>
                          <a:rPr lang="zh-CN" altLang="en-US" sz="1210" i="1">
                            <a:latin typeface="Cambria Math" panose="02040503050406030204" pitchFamily="18" charset="0"/>
                          </a:rPr>
                          <m:t>𝛽</m:t>
                        </m:r>
                      </m:e>
                    </m:d>
                    <m:sSub>
                      <m:sSubPr>
                        <m:ctrlPr>
                          <a:rPr lang="en-US" altLang="zh-CN" sz="1210" i="1">
                            <a:latin typeface="Cambria Math" panose="02040503050406030204" pitchFamily="18" charset="0"/>
                          </a:rPr>
                        </m:ctrlPr>
                      </m:sSubPr>
                      <m:e>
                        <m:r>
                          <a:rPr lang="en-US" altLang="zh-CN" sz="1210" i="1">
                            <a:latin typeface="Cambria Math" panose="02040503050406030204" pitchFamily="18" charset="0"/>
                          </a:rPr>
                          <m:t>𝑦</m:t>
                        </m:r>
                      </m:e>
                      <m:sub>
                        <m:r>
                          <a:rPr lang="en-US" altLang="zh-CN" sz="1210" i="1">
                            <a:latin typeface="Cambria Math" panose="02040503050406030204" pitchFamily="18" charset="0"/>
                          </a:rPr>
                          <m:t>𝑑</m:t>
                        </m:r>
                      </m:sub>
                    </m:sSub>
                  </m:oMath>
                </a14:m>
                <a:endParaRPr lang="en-US" altLang="zh-CN" sz="1210" dirty="0">
                  <a:latin typeface="SimSun" panose="02010600030101010101" pitchFamily="2" charset="-122"/>
                  <a:ea typeface="SimSun" panose="02010600030101010101" pitchFamily="2" charset="-122"/>
                </a:endParaRPr>
              </a:p>
            </p:txBody>
          </p:sp>
        </mc:Choice>
        <mc:Fallback xmlns="">
          <p:sp>
            <p:nvSpPr>
              <p:cNvPr id="29698" name="内容占位符 2">
                <a:extLst>
                  <a:ext uri="{FF2B5EF4-FFF2-40B4-BE49-F238E27FC236}">
                    <a16:creationId xmlns:a16="http://schemas.microsoft.com/office/drawing/2014/main" id="{64715884-C689-D3B7-1D0F-23244CB77333}"/>
                  </a:ext>
                </a:extLst>
              </p:cNvPr>
              <p:cNvSpPr>
                <a:spLocks noGrp="1" noRot="1" noChangeAspect="1" noMove="1" noResize="1" noEditPoints="1" noAdjustHandles="1" noChangeArrowheads="1" noChangeShapeType="1" noTextEdit="1"/>
              </p:cNvSpPr>
              <p:nvPr>
                <p:ph idx="1"/>
              </p:nvPr>
            </p:nvSpPr>
            <p:spPr>
              <a:xfrm>
                <a:off x="154823" y="538391"/>
                <a:ext cx="4276443" cy="854274"/>
              </a:xfrm>
              <a:blipFill>
                <a:blip r:embed="rId4"/>
                <a:stretch>
                  <a:fillRect l="-297" t="-4412"/>
                </a:stretch>
              </a:blipFill>
            </p:spPr>
            <p:txBody>
              <a:bodyPr/>
              <a:lstStyle/>
              <a:p>
                <a:r>
                  <a:rPr lang="zh-CN" altLang="en-US">
                    <a:noFill/>
                  </a:rPr>
                  <a:t> </a:t>
                </a:r>
              </a:p>
            </p:txBody>
          </p:sp>
        </mc:Fallback>
      </mc:AlternateContent>
      <p:sp>
        <p:nvSpPr>
          <p:cNvPr id="29699" name="Text Box 5">
            <a:extLst>
              <a:ext uri="{FF2B5EF4-FFF2-40B4-BE49-F238E27FC236}">
                <a16:creationId xmlns:a16="http://schemas.microsoft.com/office/drawing/2014/main" id="{BACC4D2D-45D9-2D04-037A-4806888DA8BF}"/>
              </a:ext>
            </a:extLst>
          </p:cNvPr>
          <p:cNvSpPr txBox="1">
            <a:spLocks noChangeArrowheads="1"/>
          </p:cNvSpPr>
          <p:nvPr/>
        </p:nvSpPr>
        <p:spPr bwMode="auto">
          <a:xfrm>
            <a:off x="20839" y="2815002"/>
            <a:ext cx="2385451" cy="247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defTabSz="230520">
              <a:spcBef>
                <a:spcPct val="50000"/>
              </a:spcBef>
              <a:defRPr/>
            </a:pPr>
            <a:r>
              <a:rPr lang="zh-CN" altLang="en-US" sz="1008" b="1" dirty="0">
                <a:solidFill>
                  <a:prstClr val="black"/>
                </a:solidFill>
                <a:latin typeface="KaiTi" panose="02010609060101010101" pitchFamily="49" charset="-122"/>
                <a:ea typeface="KaiTi" panose="02010609060101010101" pitchFamily="49" charset="-122"/>
              </a:rPr>
              <a:t>消费曲线</a:t>
            </a:r>
          </a:p>
        </p:txBody>
      </p:sp>
      <p:sp>
        <p:nvSpPr>
          <p:cNvPr id="29700" name="Text Box 5">
            <a:extLst>
              <a:ext uri="{FF2B5EF4-FFF2-40B4-BE49-F238E27FC236}">
                <a16:creationId xmlns:a16="http://schemas.microsoft.com/office/drawing/2014/main" id="{358DC5DA-B099-BA96-280C-2814601D53E9}"/>
              </a:ext>
            </a:extLst>
          </p:cNvPr>
          <p:cNvSpPr txBox="1">
            <a:spLocks noChangeArrowheads="1"/>
          </p:cNvSpPr>
          <p:nvPr/>
        </p:nvSpPr>
        <p:spPr bwMode="auto">
          <a:xfrm>
            <a:off x="1915524" y="2455364"/>
            <a:ext cx="2385451" cy="247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defTabSz="230520">
              <a:spcBef>
                <a:spcPct val="50000"/>
              </a:spcBef>
              <a:defRPr/>
            </a:pPr>
            <a:r>
              <a:rPr lang="zh-CN" altLang="en-US" sz="1008" b="1" dirty="0">
                <a:solidFill>
                  <a:prstClr val="black"/>
                </a:solidFill>
                <a:latin typeface="KaiTi" panose="02010609060101010101" pitchFamily="49" charset="-122"/>
                <a:ea typeface="KaiTi" panose="02010609060101010101" pitchFamily="49" charset="-122"/>
              </a:rPr>
              <a:t>储蓄曲线</a:t>
            </a:r>
          </a:p>
        </p:txBody>
      </p:sp>
      <p:sp>
        <p:nvSpPr>
          <p:cNvPr id="29702" name="灯片编号占位符 2">
            <a:extLst>
              <a:ext uri="{FF2B5EF4-FFF2-40B4-BE49-F238E27FC236}">
                <a16:creationId xmlns:a16="http://schemas.microsoft.com/office/drawing/2014/main" id="{BFBC8B7E-2ADC-AE8B-B5AB-1BB4D22CEBB1}"/>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44</a:t>
            </a:fld>
            <a:endParaRPr lang="zh-CN" altLang="zh-CN" sz="856">
              <a:solidFill>
                <a:srgbClr val="777777"/>
              </a:solidFill>
              <a:ea typeface="宋体" panose="02010600030101010101" pitchFamily="2" charset="-122"/>
            </a:endParaRPr>
          </a:p>
        </p:txBody>
      </p:sp>
      <p:sp>
        <p:nvSpPr>
          <p:cNvPr id="2" name="页脚占位符 1">
            <a:extLst>
              <a:ext uri="{FF2B5EF4-FFF2-40B4-BE49-F238E27FC236}">
                <a16:creationId xmlns:a16="http://schemas.microsoft.com/office/drawing/2014/main" id="{9B750806-ADB9-41C4-2083-0BDC2BC2C77E}"/>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4151336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698">
                                            <p:txEl>
                                              <p:pRg st="0" end="0"/>
                                            </p:txEl>
                                          </p:spTgt>
                                        </p:tgtEl>
                                        <p:attrNameLst>
                                          <p:attrName>style.visibility</p:attrName>
                                        </p:attrNameLst>
                                      </p:cBhvr>
                                      <p:to>
                                        <p:strVal val="visible"/>
                                      </p:to>
                                    </p:set>
                                    <p:animEffect transition="in" filter="wipe(left)">
                                      <p:cBhvr>
                                        <p:cTn id="7" dur="500"/>
                                        <p:tgtEl>
                                          <p:spTgt spid="2969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698">
                                            <p:txEl>
                                              <p:pRg st="1" end="1"/>
                                            </p:txEl>
                                          </p:spTgt>
                                        </p:tgtEl>
                                        <p:attrNameLst>
                                          <p:attrName>style.visibility</p:attrName>
                                        </p:attrNameLst>
                                      </p:cBhvr>
                                      <p:to>
                                        <p:strVal val="visible"/>
                                      </p:to>
                                    </p:set>
                                    <p:animEffect transition="in" filter="wipe(left)">
                                      <p:cBhvr>
                                        <p:cTn id="12" dur="500"/>
                                        <p:tgtEl>
                                          <p:spTgt spid="2969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latin typeface="Garamond" panose="02020404030301010803" pitchFamily="18" charset="0"/>
                    <a:ea typeface="SimSun" panose="02010600030101010101" pitchFamily="2" charset="-122"/>
                  </a:rPr>
                  <a:t>储蓄曲线上任一点的斜率是</a:t>
                </a:r>
                <a:r>
                  <a:rPr lang="zh-CN" altLang="en-US" b="1" dirty="0">
                    <a:latin typeface="Garamond" panose="02020404030301010803" pitchFamily="18" charset="0"/>
                    <a:ea typeface="SimSun" panose="02010600030101010101" pitchFamily="2" charset="-122"/>
                  </a:rPr>
                  <a:t>边际储蓄倾向</a:t>
                </a:r>
                <a:r>
                  <a:rPr lang="en-US" altLang="zh-CN" dirty="0">
                    <a:latin typeface="Garamond" panose="02020404030301010803" pitchFamily="18" charset="0"/>
                    <a:ea typeface="SimSun" panose="02010600030101010101" pitchFamily="2" charset="-122"/>
                  </a:rPr>
                  <a:t>(MPS)</a:t>
                </a:r>
                <a:r>
                  <a:rPr lang="zh-CN" altLang="en-US" dirty="0">
                    <a:latin typeface="Garamond" panose="02020404030301010803" pitchFamily="18" charset="0"/>
                    <a:ea typeface="SimSun" panose="02010600030101010101" pitchFamily="2" charset="-122"/>
                  </a:rPr>
                  <a:t>，它是该点上的储蓄增量对收入增量的比率：</a:t>
                </a:r>
                <a:endParaRPr lang="en-US" altLang="zh-CN" dirty="0">
                  <a:latin typeface="Garamond" panose="02020404030301010803" pitchFamily="18" charset="0"/>
                  <a:ea typeface="SimSun" panose="02010600030101010101" pitchFamily="2" charset="-122"/>
                </a:endParaRPr>
              </a:p>
              <a:p>
                <a:pPr marL="0"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𝑀𝑃𝑆</m:t>
                      </m:r>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𝑠</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𝑦</m:t>
                      </m:r>
                    </m:oMath>
                  </m:oMathPara>
                </a14:m>
                <a:endParaRPr lang="en-US" altLang="zh-CN" dirty="0">
                  <a:latin typeface="Garamond" panose="02020404030301010803" pitchFamily="18" charset="0"/>
                  <a:ea typeface="SimSun" panose="02010600030101010101" pitchFamily="2" charset="-122"/>
                </a:endParaRPr>
              </a:p>
              <a:p>
                <a:r>
                  <a:rPr lang="zh-CN" altLang="en-US" b="1" dirty="0">
                    <a:latin typeface="Garamond" panose="02020404030301010803" pitchFamily="18" charset="0"/>
                    <a:ea typeface="SimSun" panose="02010600030101010101" pitchFamily="2" charset="-122"/>
                  </a:rPr>
                  <a:t>平均储蓄倾向</a:t>
                </a:r>
                <a:r>
                  <a:rPr lang="en-US" altLang="zh-CN" dirty="0">
                    <a:latin typeface="Garamond" panose="02020404030301010803" pitchFamily="18" charset="0"/>
                    <a:ea typeface="SimSun" panose="02010600030101010101" pitchFamily="2" charset="-122"/>
                  </a:rPr>
                  <a:t>(APS)</a:t>
                </a:r>
                <a:r>
                  <a:rPr lang="zh-CN" altLang="en-US" dirty="0">
                    <a:latin typeface="Garamond" panose="02020404030301010803" pitchFamily="18" charset="0"/>
                    <a:ea typeface="SimSun" panose="02010600030101010101" pitchFamily="2" charset="-122"/>
                  </a:rPr>
                  <a:t>是任一收入水平上储蓄在收入中所占的比率。</a:t>
                </a:r>
                <a:endParaRPr lang="en-US" altLang="zh-CN" dirty="0">
                  <a:latin typeface="Garamond" panose="02020404030301010803" pitchFamily="18" charset="0"/>
                  <a:ea typeface="SimSun" panose="02010600030101010101" pitchFamily="2" charset="-122"/>
                </a:endParaRPr>
              </a:p>
              <a:p>
                <a:pPr marL="0" indent="0">
                  <a:buNone/>
                </a:pPr>
                <a14:m>
                  <m:oMathPara xmlns:m="http://schemas.openxmlformats.org/officeDocument/2006/math">
                    <m:oMathParaPr>
                      <m:jc m:val="centerGroup"/>
                    </m:oMathParaPr>
                    <m:oMath xmlns:m="http://schemas.openxmlformats.org/officeDocument/2006/math">
                      <m:r>
                        <m:rPr>
                          <m:sty m:val="p"/>
                        </m:rPr>
                        <a:rPr lang="en-US" altLang="zh-CN" b="0" i="0" smtClean="0">
                          <a:latin typeface="Cambria Math" panose="02040503050406030204" pitchFamily="18" charset="0"/>
                        </a:rPr>
                        <m:t>A</m:t>
                      </m:r>
                      <m:r>
                        <a:rPr lang="en-US" altLang="zh-CN" i="1">
                          <a:latin typeface="Cambria Math" panose="02040503050406030204" pitchFamily="18" charset="0"/>
                        </a:rPr>
                        <m:t>𝑃𝑆</m:t>
                      </m:r>
                      <m:r>
                        <a:rPr lang="en-US" altLang="zh-CN" i="1">
                          <a:latin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𝑠</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𝑦</m:t>
                      </m:r>
                    </m:oMath>
                  </m:oMathPara>
                </a14:m>
                <a:endParaRPr lang="en-US" altLang="zh-CN" dirty="0">
                  <a:latin typeface="Garamond" panose="02020404030301010803" pitchFamily="18" charset="0"/>
                  <a:ea typeface="SimSun" panose="02010600030101010101" pitchFamily="2" charset="-122"/>
                </a:endParaRPr>
              </a:p>
              <a:p>
                <a:endParaRPr lang="zh-CN" altLang="en-US" dirty="0">
                  <a:latin typeface="Garamond" panose="02020404030301010803" pitchFamily="18" charset="0"/>
                  <a:ea typeface="SimSun"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1832" t="-2475"/>
                </a:stretch>
              </a:blipFill>
            </p:spPr>
            <p:txBody>
              <a:bodyPr/>
              <a:lstStyle/>
              <a:p>
                <a:r>
                  <a:rPr lang="zh-CN" altLang="en-US">
                    <a:noFill/>
                  </a:rPr>
                  <a:t> </a:t>
                </a:r>
              </a:p>
            </p:txBody>
          </p:sp>
        </mc:Fallback>
      </mc:AlternateContent>
      <p:sp>
        <p:nvSpPr>
          <p:cNvPr id="7" name="标题 6">
            <a:extLst>
              <a:ext uri="{FF2B5EF4-FFF2-40B4-BE49-F238E27FC236}">
                <a16:creationId xmlns:a16="http://schemas.microsoft.com/office/drawing/2014/main" id="{027366D6-4E20-24E6-B395-79314B57152C}"/>
              </a:ext>
            </a:extLst>
          </p:cNvPr>
          <p:cNvSpPr>
            <a:spLocks noGrp="1"/>
          </p:cNvSpPr>
          <p:nvPr>
            <p:ph type="title"/>
          </p:nvPr>
        </p:nvSpPr>
        <p:spPr/>
        <p:txBody>
          <a:bodyPr/>
          <a:lstStyle/>
          <a:p>
            <a:r>
              <a:rPr kumimoji="1" lang="zh-CN" altLang="en-US" dirty="0"/>
              <a:t>储蓄函数</a:t>
            </a:r>
          </a:p>
        </p:txBody>
      </p:sp>
      <p:sp>
        <p:nvSpPr>
          <p:cNvPr id="8" name="灯片编号占位符 2">
            <a:extLst>
              <a:ext uri="{FF2B5EF4-FFF2-40B4-BE49-F238E27FC236}">
                <a16:creationId xmlns:a16="http://schemas.microsoft.com/office/drawing/2014/main" id="{DC609F6A-3574-CD7B-9E99-D59B2E4280C7}"/>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45</a:t>
            </a:fld>
            <a:endParaRPr lang="zh-CN" altLang="zh-CN" sz="856">
              <a:solidFill>
                <a:srgbClr val="777777"/>
              </a:solidFill>
              <a:ea typeface="宋体" panose="02010600030101010101" pitchFamily="2" charset="-122"/>
            </a:endParaRPr>
          </a:p>
        </p:txBody>
      </p:sp>
      <p:sp>
        <p:nvSpPr>
          <p:cNvPr id="2" name="页脚占位符 1">
            <a:extLst>
              <a:ext uri="{FF2B5EF4-FFF2-40B4-BE49-F238E27FC236}">
                <a16:creationId xmlns:a16="http://schemas.microsoft.com/office/drawing/2014/main" id="{5B87D31A-84A8-1CEB-F0EA-9E1A44B105F1}"/>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486639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6" name="文本框 55">
                <a:extLst>
                  <a:ext uri="{FF2B5EF4-FFF2-40B4-BE49-F238E27FC236}">
                    <a16:creationId xmlns:a16="http://schemas.microsoft.com/office/drawing/2014/main" id="{7A1F6E56-B205-6125-49DA-C96311F54CD6}"/>
                  </a:ext>
                </a:extLst>
              </p:cNvPr>
              <p:cNvSpPr txBox="1"/>
              <p:nvPr/>
            </p:nvSpPr>
            <p:spPr>
              <a:xfrm>
                <a:off x="113028" y="2713939"/>
                <a:ext cx="212301" cy="153888"/>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1000" b="0" i="1" smtClean="0">
                          <a:latin typeface="Cambria Math" panose="02040503050406030204" pitchFamily="18" charset="0"/>
                        </a:rPr>
                        <m:t>−</m:t>
                      </m:r>
                      <m:r>
                        <a:rPr kumimoji="1" lang="zh-CN" altLang="en-US" sz="1000" i="1" smtClean="0">
                          <a:latin typeface="Cambria Math" panose="02040503050406030204" pitchFamily="18" charset="0"/>
                        </a:rPr>
                        <m:t>𝛼</m:t>
                      </m:r>
                    </m:oMath>
                  </m:oMathPara>
                </a14:m>
                <a:endParaRPr kumimoji="1" lang="zh-CN" altLang="en-US" sz="1000" dirty="0"/>
              </a:p>
            </p:txBody>
          </p:sp>
        </mc:Choice>
        <mc:Fallback xmlns="">
          <p:sp>
            <p:nvSpPr>
              <p:cNvPr id="56" name="文本框 55">
                <a:extLst>
                  <a:ext uri="{FF2B5EF4-FFF2-40B4-BE49-F238E27FC236}">
                    <a16:creationId xmlns:a16="http://schemas.microsoft.com/office/drawing/2014/main" id="{7A1F6E56-B205-6125-49DA-C96311F54CD6}"/>
                  </a:ext>
                </a:extLst>
              </p:cNvPr>
              <p:cNvSpPr txBox="1">
                <a:spLocks noRot="1" noChangeAspect="1" noMove="1" noResize="1" noEditPoints="1" noAdjustHandles="1" noChangeArrowheads="1" noChangeShapeType="1" noTextEdit="1"/>
              </p:cNvSpPr>
              <p:nvPr/>
            </p:nvSpPr>
            <p:spPr>
              <a:xfrm>
                <a:off x="113028" y="2713939"/>
                <a:ext cx="212301" cy="153888"/>
              </a:xfrm>
              <a:prstGeom prst="rect">
                <a:avLst/>
              </a:prstGeom>
              <a:blipFill>
                <a:blip r:embed="rId2"/>
                <a:stretch>
                  <a:fillRect l="-5882" r="-5882" b="-769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5" name="文本框 54">
                <a:extLst>
                  <a:ext uri="{FF2B5EF4-FFF2-40B4-BE49-F238E27FC236}">
                    <a16:creationId xmlns:a16="http://schemas.microsoft.com/office/drawing/2014/main" id="{E3A7609D-6B2E-5289-6231-69B97631B117}"/>
                  </a:ext>
                </a:extLst>
              </p:cNvPr>
              <p:cNvSpPr txBox="1"/>
              <p:nvPr/>
            </p:nvSpPr>
            <p:spPr>
              <a:xfrm>
                <a:off x="195982" y="2086313"/>
                <a:ext cx="116122" cy="153888"/>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zh-CN" altLang="en-US" sz="1000" i="1" smtClean="0">
                          <a:latin typeface="Cambria Math" panose="02040503050406030204" pitchFamily="18" charset="0"/>
                        </a:rPr>
                        <m:t>𝛼</m:t>
                      </m:r>
                    </m:oMath>
                  </m:oMathPara>
                </a14:m>
                <a:endParaRPr kumimoji="1" lang="zh-CN" altLang="en-US" sz="1000" dirty="0"/>
              </a:p>
            </p:txBody>
          </p:sp>
        </mc:Choice>
        <mc:Fallback xmlns="">
          <p:sp>
            <p:nvSpPr>
              <p:cNvPr id="55" name="文本框 54">
                <a:extLst>
                  <a:ext uri="{FF2B5EF4-FFF2-40B4-BE49-F238E27FC236}">
                    <a16:creationId xmlns:a16="http://schemas.microsoft.com/office/drawing/2014/main" id="{E3A7609D-6B2E-5289-6231-69B97631B117}"/>
                  </a:ext>
                </a:extLst>
              </p:cNvPr>
              <p:cNvSpPr txBox="1">
                <a:spLocks noRot="1" noChangeAspect="1" noMove="1" noResize="1" noEditPoints="1" noAdjustHandles="1" noChangeArrowheads="1" noChangeShapeType="1" noTextEdit="1"/>
              </p:cNvSpPr>
              <p:nvPr/>
            </p:nvSpPr>
            <p:spPr>
              <a:xfrm>
                <a:off x="195982" y="2086313"/>
                <a:ext cx="116122" cy="153888"/>
              </a:xfrm>
              <a:prstGeom prst="rect">
                <a:avLst/>
              </a:prstGeom>
              <a:blipFill>
                <a:blip r:embed="rId3"/>
                <a:stretch>
                  <a:fillRect l="-20000" r="-10000" b="-7692"/>
                </a:stretch>
              </a:blipFill>
            </p:spPr>
            <p:txBody>
              <a:bodyPr/>
              <a:lstStyle/>
              <a:p>
                <a:r>
                  <a:rPr lang="zh-CN" altLang="en-US">
                    <a:noFill/>
                  </a:rPr>
                  <a:t> </a:t>
                </a:r>
              </a:p>
            </p:txBody>
          </p:sp>
        </mc:Fallback>
      </mc:AlternateContent>
      <p:sp>
        <p:nvSpPr>
          <p:cNvPr id="7" name="标题 6">
            <a:extLst>
              <a:ext uri="{FF2B5EF4-FFF2-40B4-BE49-F238E27FC236}">
                <a16:creationId xmlns:a16="http://schemas.microsoft.com/office/drawing/2014/main" id="{58EC497A-0B1F-29B6-BD5A-7868B186E285}"/>
              </a:ext>
            </a:extLst>
          </p:cNvPr>
          <p:cNvSpPr>
            <a:spLocks noGrp="1"/>
          </p:cNvSpPr>
          <p:nvPr>
            <p:ph type="title"/>
          </p:nvPr>
        </p:nvSpPr>
        <p:spPr/>
        <p:txBody>
          <a:bodyPr/>
          <a:lstStyle/>
          <a:p>
            <a:r>
              <a:rPr kumimoji="1" lang="zh-CN" altLang="en-US" dirty="0"/>
              <a:t>储蓄曲线与消费曲线</a:t>
            </a:r>
          </a:p>
        </p:txBody>
      </p:sp>
      <p:sp>
        <p:nvSpPr>
          <p:cNvPr id="8" name="灯片编号占位符 2">
            <a:extLst>
              <a:ext uri="{FF2B5EF4-FFF2-40B4-BE49-F238E27FC236}">
                <a16:creationId xmlns:a16="http://schemas.microsoft.com/office/drawing/2014/main" id="{EEA5BD5B-31A8-7968-E2F9-A18E84AC33AC}"/>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46</a:t>
            </a:fld>
            <a:endParaRPr lang="zh-CN" altLang="zh-CN" sz="856">
              <a:solidFill>
                <a:srgbClr val="777777"/>
              </a:solidFill>
              <a:ea typeface="宋体" panose="02010600030101010101" pitchFamily="2" charset="-122"/>
            </a:endParaRPr>
          </a:p>
        </p:txBody>
      </p:sp>
      <p:grpSp>
        <p:nvGrpSpPr>
          <p:cNvPr id="33" name="组合 32">
            <a:extLst>
              <a:ext uri="{FF2B5EF4-FFF2-40B4-BE49-F238E27FC236}">
                <a16:creationId xmlns:a16="http://schemas.microsoft.com/office/drawing/2014/main" id="{62A75ED1-E819-80E3-261B-9EB6D14E0D87}"/>
              </a:ext>
            </a:extLst>
          </p:cNvPr>
          <p:cNvGrpSpPr/>
          <p:nvPr/>
        </p:nvGrpSpPr>
        <p:grpSpPr>
          <a:xfrm>
            <a:off x="176445" y="661453"/>
            <a:ext cx="2630601" cy="2437074"/>
            <a:chOff x="349974" y="1308825"/>
            <a:chExt cx="5217721" cy="4833865"/>
          </a:xfrm>
        </p:grpSpPr>
        <p:sp>
          <p:nvSpPr>
            <p:cNvPr id="10" name="Text Box 5">
              <a:extLst>
                <a:ext uri="{FF2B5EF4-FFF2-40B4-BE49-F238E27FC236}">
                  <a16:creationId xmlns:a16="http://schemas.microsoft.com/office/drawing/2014/main" id="{BDC467D7-9706-8C8C-A522-491496FBF895}"/>
                </a:ext>
              </a:extLst>
            </p:cNvPr>
            <p:cNvSpPr txBox="1">
              <a:spLocks noChangeArrowheads="1"/>
            </p:cNvSpPr>
            <p:nvPr/>
          </p:nvSpPr>
          <p:spPr bwMode="auto">
            <a:xfrm>
              <a:off x="349974" y="5558482"/>
              <a:ext cx="4731473" cy="4907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defTabSz="230520">
                <a:spcBef>
                  <a:spcPct val="50000"/>
                </a:spcBef>
                <a:defRPr/>
              </a:pPr>
              <a:r>
                <a:rPr lang="zh-CN" altLang="en-US" sz="1008" b="1" dirty="0">
                  <a:solidFill>
                    <a:prstClr val="black"/>
                  </a:solidFill>
                  <a:latin typeface="KaiTi" panose="02010609060101010101" pitchFamily="49" charset="-122"/>
                  <a:ea typeface="KaiTi" panose="02010609060101010101" pitchFamily="49" charset="-122"/>
                </a:rPr>
                <a:t>线性消费曲线与储蓄的关系</a:t>
              </a:r>
            </a:p>
          </p:txBody>
        </p:sp>
        <p:grpSp>
          <p:nvGrpSpPr>
            <p:cNvPr id="29" name="组合 28">
              <a:extLst>
                <a:ext uri="{FF2B5EF4-FFF2-40B4-BE49-F238E27FC236}">
                  <a16:creationId xmlns:a16="http://schemas.microsoft.com/office/drawing/2014/main" id="{2B6AFEAC-F0B0-5F38-8AB6-79D92F0B9B72}"/>
                </a:ext>
              </a:extLst>
            </p:cNvPr>
            <p:cNvGrpSpPr/>
            <p:nvPr/>
          </p:nvGrpSpPr>
          <p:grpSpPr>
            <a:xfrm>
              <a:off x="621227" y="1308825"/>
              <a:ext cx="4946468" cy="4833865"/>
              <a:chOff x="621227" y="1308825"/>
              <a:chExt cx="4946468" cy="4833865"/>
            </a:xfrm>
          </p:grpSpPr>
          <p:cxnSp>
            <p:nvCxnSpPr>
              <p:cNvPr id="11" name="直接箭头连接符 6">
                <a:extLst>
                  <a:ext uri="{FF2B5EF4-FFF2-40B4-BE49-F238E27FC236}">
                    <a16:creationId xmlns:a16="http://schemas.microsoft.com/office/drawing/2014/main" id="{CBB7A2E1-919E-C92D-6A02-BBF690CF5765}"/>
                  </a:ext>
                </a:extLst>
              </p:cNvPr>
              <p:cNvCxnSpPr/>
              <p:nvPr/>
            </p:nvCxnSpPr>
            <p:spPr>
              <a:xfrm>
                <a:off x="621227" y="4996585"/>
                <a:ext cx="3846574" cy="0"/>
              </a:xfrm>
              <a:prstGeom prst="straightConnector1">
                <a:avLst/>
              </a:prstGeom>
              <a:ln w="15875">
                <a:solidFill>
                  <a:schemeClr val="dk1"/>
                </a:solidFill>
                <a:tailEnd type="triangle"/>
              </a:ln>
            </p:spPr>
            <p:style>
              <a:lnRef idx="1">
                <a:schemeClr val="dk1"/>
              </a:lnRef>
              <a:fillRef idx="0">
                <a:schemeClr val="dk1"/>
              </a:fillRef>
              <a:effectRef idx="0">
                <a:schemeClr val="dk1"/>
              </a:effectRef>
              <a:fontRef idx="minor">
                <a:schemeClr val="tx1"/>
              </a:fontRef>
            </p:style>
          </p:cxnSp>
          <p:cxnSp>
            <p:nvCxnSpPr>
              <p:cNvPr id="12" name="直接箭头连接符 8">
                <a:extLst>
                  <a:ext uri="{FF2B5EF4-FFF2-40B4-BE49-F238E27FC236}">
                    <a16:creationId xmlns:a16="http://schemas.microsoft.com/office/drawing/2014/main" id="{77AC7249-33E0-5838-ADAB-6E9FA2B500FC}"/>
                  </a:ext>
                </a:extLst>
              </p:cNvPr>
              <p:cNvCxnSpPr>
                <a:cxnSpLocks/>
              </p:cNvCxnSpPr>
              <p:nvPr/>
            </p:nvCxnSpPr>
            <p:spPr>
              <a:xfrm flipV="1">
                <a:off x="635653" y="1462544"/>
                <a:ext cx="0" cy="4680146"/>
              </a:xfrm>
              <a:prstGeom prst="straightConnector1">
                <a:avLst/>
              </a:prstGeom>
              <a:ln w="15875">
                <a:solidFill>
                  <a:schemeClr val="dk1"/>
                </a:solidFill>
                <a:tailEnd type="triangle"/>
              </a:ln>
            </p:spPr>
            <p:style>
              <a:lnRef idx="1">
                <a:schemeClr val="dk1"/>
              </a:lnRef>
              <a:fillRef idx="0">
                <a:schemeClr val="dk1"/>
              </a:fillRef>
              <a:effectRef idx="0">
                <a:schemeClr val="dk1"/>
              </a:effectRef>
              <a:fontRef idx="minor">
                <a:schemeClr val="tx1"/>
              </a:fontRef>
            </p:style>
          </p:cxnSp>
          <p:cxnSp>
            <p:nvCxnSpPr>
              <p:cNvPr id="13" name="直接连接符 10">
                <a:extLst>
                  <a:ext uri="{FF2B5EF4-FFF2-40B4-BE49-F238E27FC236}">
                    <a16:creationId xmlns:a16="http://schemas.microsoft.com/office/drawing/2014/main" id="{80846E3B-4BDA-D5C4-78CE-B132B22550B1}"/>
                  </a:ext>
                </a:extLst>
              </p:cNvPr>
              <p:cNvCxnSpPr>
                <a:cxnSpLocks/>
              </p:cNvCxnSpPr>
              <p:nvPr/>
            </p:nvCxnSpPr>
            <p:spPr>
              <a:xfrm flipV="1">
                <a:off x="635653" y="2204471"/>
                <a:ext cx="3947546" cy="2115616"/>
              </a:xfrm>
              <a:prstGeom prst="line">
                <a:avLst/>
              </a:prstGeom>
              <a:ln w="15875">
                <a:solidFill>
                  <a:srgbClr val="00B0F0"/>
                </a:solidFill>
              </a:ln>
            </p:spPr>
            <p:style>
              <a:lnRef idx="1">
                <a:schemeClr val="dk1"/>
              </a:lnRef>
              <a:fillRef idx="0">
                <a:schemeClr val="dk1"/>
              </a:fillRef>
              <a:effectRef idx="0">
                <a:schemeClr val="dk1"/>
              </a:effectRef>
              <a:fontRef idx="minor">
                <a:schemeClr val="tx1"/>
              </a:fontRef>
            </p:style>
          </p:cxnSp>
          <p:cxnSp>
            <p:nvCxnSpPr>
              <p:cNvPr id="14" name="直接连接符 12">
                <a:extLst>
                  <a:ext uri="{FF2B5EF4-FFF2-40B4-BE49-F238E27FC236}">
                    <a16:creationId xmlns:a16="http://schemas.microsoft.com/office/drawing/2014/main" id="{521D891C-80C6-44C8-EE51-BBCDA03627EE}"/>
                  </a:ext>
                </a:extLst>
              </p:cNvPr>
              <p:cNvCxnSpPr>
                <a:cxnSpLocks/>
              </p:cNvCxnSpPr>
              <p:nvPr/>
            </p:nvCxnSpPr>
            <p:spPr>
              <a:xfrm flipV="1">
                <a:off x="635653" y="1621321"/>
                <a:ext cx="3667619" cy="3365647"/>
              </a:xfrm>
              <a:prstGeom prst="line">
                <a:avLst/>
              </a:prstGeom>
              <a:ln w="12700">
                <a:solidFill>
                  <a:schemeClr val="dk1"/>
                </a:solidFill>
                <a:prstDash val="solid"/>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D165B505-6214-0ED7-FC2C-51C3E54993B1}"/>
                      </a:ext>
                    </a:extLst>
                  </p:cNvPr>
                  <p:cNvSpPr txBox="1"/>
                  <p:nvPr/>
                </p:nvSpPr>
                <p:spPr>
                  <a:xfrm>
                    <a:off x="4343288" y="4789735"/>
                    <a:ext cx="637369" cy="503635"/>
                  </a:xfrm>
                  <a:prstGeom prst="rect">
                    <a:avLst/>
                  </a:prstGeom>
                  <a:noFill/>
                </p:spPr>
                <p:txBody>
                  <a:bodyPr wrap="square" rtlCol="0">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50" i="1" dirty="0" smtClean="0">
                              <a:solidFill>
                                <a:prstClr val="black"/>
                              </a:solidFill>
                              <a:latin typeface="Cambria Math" panose="02040503050406030204" pitchFamily="18" charset="0"/>
                              <a:ea typeface="等线" panose="02010600030101010101" pitchFamily="2" charset="-122"/>
                            </a:rPr>
                            <m:t>𝑦</m:t>
                          </m:r>
                        </m:oMath>
                      </m:oMathPara>
                    </a14:m>
                    <a:endParaRPr lang="zh-CN" altLang="en-US" sz="1050" dirty="0">
                      <a:solidFill>
                        <a:prstClr val="black"/>
                      </a:solidFill>
                      <a:latin typeface="Garamond" panose="02020404030301010803" pitchFamily="18" charset="0"/>
                      <a:ea typeface="等线" panose="02010600030101010101" pitchFamily="2" charset="-122"/>
                    </a:endParaRPr>
                  </a:p>
                </p:txBody>
              </p:sp>
            </mc:Choice>
            <mc:Fallback xmlns="">
              <p:sp>
                <p:nvSpPr>
                  <p:cNvPr id="16" name="文本框 15">
                    <a:extLst>
                      <a:ext uri="{FF2B5EF4-FFF2-40B4-BE49-F238E27FC236}">
                        <a16:creationId xmlns:a16="http://schemas.microsoft.com/office/drawing/2014/main" id="{D165B505-6214-0ED7-FC2C-51C3E54993B1}"/>
                      </a:ext>
                    </a:extLst>
                  </p:cNvPr>
                  <p:cNvSpPr txBox="1">
                    <a:spLocks noRot="1" noChangeAspect="1" noMove="1" noResize="1" noEditPoints="1" noAdjustHandles="1" noChangeArrowheads="1" noChangeShapeType="1" noTextEdit="1"/>
                  </p:cNvSpPr>
                  <p:nvPr/>
                </p:nvSpPr>
                <p:spPr>
                  <a:xfrm>
                    <a:off x="4343288" y="4789735"/>
                    <a:ext cx="637369" cy="503635"/>
                  </a:xfrm>
                  <a:prstGeom prst="rect">
                    <a:avLst/>
                  </a:prstGeom>
                  <a:blipFill>
                    <a:blip r:embed="rId4"/>
                    <a:stretch>
                      <a:fillRect/>
                    </a:stretch>
                  </a:blipFill>
                </p:spPr>
                <p:txBody>
                  <a:bodyPr/>
                  <a:lstStyle/>
                  <a:p>
                    <a:r>
                      <a:rPr lang="zh-CN" altLang="en-US">
                        <a:noFill/>
                      </a:rPr>
                      <a:t> </a:t>
                    </a:r>
                  </a:p>
                </p:txBody>
              </p:sp>
            </mc:Fallback>
          </mc:AlternateContent>
          <p:sp>
            <p:nvSpPr>
              <p:cNvPr id="17" name="文本框 16">
                <a:extLst>
                  <a:ext uri="{FF2B5EF4-FFF2-40B4-BE49-F238E27FC236}">
                    <a16:creationId xmlns:a16="http://schemas.microsoft.com/office/drawing/2014/main" id="{8218F996-CE35-B36B-7F18-41C67998E276}"/>
                  </a:ext>
                </a:extLst>
              </p:cNvPr>
              <p:cNvSpPr txBox="1"/>
              <p:nvPr/>
            </p:nvSpPr>
            <p:spPr>
              <a:xfrm>
                <a:off x="2972585" y="1308825"/>
                <a:ext cx="1161755" cy="490790"/>
              </a:xfrm>
              <a:prstGeom prst="rect">
                <a:avLst/>
              </a:prstGeom>
              <a:noFill/>
            </p:spPr>
            <p:txBody>
              <a:bodyPr wrap="square" rtlCol="0">
                <a:spAutoFit/>
              </a:bodyPr>
              <a:lstStyle/>
              <a:p>
                <a:pPr defTabSz="230520">
                  <a:defRPr/>
                </a:pPr>
                <a:r>
                  <a:rPr lang="en-US" altLang="zh-CN" sz="1008" dirty="0">
                    <a:solidFill>
                      <a:prstClr val="black"/>
                    </a:solidFill>
                    <a:latin typeface="SimSun" panose="02010600030101010101" pitchFamily="2" charset="-122"/>
                    <a:ea typeface="SimSun" panose="02010600030101010101" pitchFamily="2" charset="-122"/>
                  </a:rPr>
                  <a:t>45</a:t>
                </a:r>
                <a:r>
                  <a:rPr lang="zh-CN" altLang="en-US" sz="1008" dirty="0">
                    <a:solidFill>
                      <a:prstClr val="black"/>
                    </a:solidFill>
                    <a:latin typeface="SimSun" panose="02010600030101010101" pitchFamily="2" charset="-122"/>
                    <a:ea typeface="SimSun" panose="02010600030101010101" pitchFamily="2" charset="-122"/>
                  </a:rPr>
                  <a:t>度线</a:t>
                </a:r>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FE0B054F-CAE6-B0FF-B636-AA4860E3C4F7}"/>
                      </a:ext>
                    </a:extLst>
                  </p:cNvPr>
                  <p:cNvSpPr txBox="1"/>
                  <p:nvPr/>
                </p:nvSpPr>
                <p:spPr>
                  <a:xfrm>
                    <a:off x="4050782" y="1733849"/>
                    <a:ext cx="1516913" cy="503635"/>
                  </a:xfrm>
                  <a:prstGeom prst="rect">
                    <a:avLst/>
                  </a:prstGeom>
                  <a:noFill/>
                </p:spPr>
                <p:txBody>
                  <a:bodyPr wrap="square" rtlCol="0">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50" i="1" dirty="0" smtClean="0">
                              <a:solidFill>
                                <a:srgbClr val="00B0F0"/>
                              </a:solidFill>
                              <a:latin typeface="Cambria Math" panose="02040503050406030204" pitchFamily="18" charset="0"/>
                              <a:ea typeface="等线" panose="02010600030101010101" pitchFamily="2" charset="-122"/>
                            </a:rPr>
                            <m:t>𝑐</m:t>
                          </m:r>
                          <m:r>
                            <a:rPr lang="en-US" altLang="zh-CN" sz="1050" i="1" dirty="0" smtClean="0">
                              <a:solidFill>
                                <a:srgbClr val="00B0F0"/>
                              </a:solidFill>
                              <a:latin typeface="Cambria Math" panose="02040503050406030204" pitchFamily="18" charset="0"/>
                              <a:ea typeface="等线" panose="02010600030101010101" pitchFamily="2" charset="-122"/>
                            </a:rPr>
                            <m:t>=</m:t>
                          </m:r>
                          <m:r>
                            <a:rPr lang="en-US" altLang="zh-CN" sz="1050" i="1" dirty="0" smtClean="0">
                              <a:solidFill>
                                <a:srgbClr val="00B0F0"/>
                              </a:solidFill>
                              <a:latin typeface="Cambria Math" panose="02040503050406030204" pitchFamily="18" charset="0"/>
                              <a:ea typeface="等线" panose="02010600030101010101" pitchFamily="2" charset="-122"/>
                            </a:rPr>
                            <m:t>𝑐</m:t>
                          </m:r>
                          <m:r>
                            <a:rPr lang="en-US" altLang="zh-CN" sz="1050" i="1" dirty="0" smtClean="0">
                              <a:solidFill>
                                <a:srgbClr val="00B0F0"/>
                              </a:solidFill>
                              <a:latin typeface="Cambria Math" panose="02040503050406030204" pitchFamily="18" charset="0"/>
                              <a:ea typeface="等线" panose="02010600030101010101" pitchFamily="2" charset="-122"/>
                            </a:rPr>
                            <m:t>(</m:t>
                          </m:r>
                          <m:r>
                            <a:rPr lang="en-US" altLang="zh-CN" sz="1050" i="1" dirty="0" smtClean="0">
                              <a:solidFill>
                                <a:srgbClr val="00B0F0"/>
                              </a:solidFill>
                              <a:latin typeface="Cambria Math" panose="02040503050406030204" pitchFamily="18" charset="0"/>
                              <a:ea typeface="等线" panose="02010600030101010101" pitchFamily="2" charset="-122"/>
                            </a:rPr>
                            <m:t>𝑦</m:t>
                          </m:r>
                          <m:r>
                            <a:rPr lang="en-US" altLang="zh-CN" sz="1050" i="1" dirty="0" smtClean="0">
                              <a:solidFill>
                                <a:srgbClr val="00B0F0"/>
                              </a:solidFill>
                              <a:latin typeface="Cambria Math" panose="02040503050406030204" pitchFamily="18" charset="0"/>
                              <a:ea typeface="等线" panose="02010600030101010101" pitchFamily="2" charset="-122"/>
                            </a:rPr>
                            <m:t>)</m:t>
                          </m:r>
                        </m:oMath>
                      </m:oMathPara>
                    </a14:m>
                    <a:endParaRPr lang="zh-CN" altLang="en-US" sz="1050" dirty="0">
                      <a:solidFill>
                        <a:srgbClr val="00B0F0"/>
                      </a:solidFill>
                      <a:latin typeface="Garamond" panose="02020404030301010803" pitchFamily="18" charset="0"/>
                      <a:ea typeface="等线" panose="02010600030101010101" pitchFamily="2" charset="-122"/>
                    </a:endParaRPr>
                  </a:p>
                </p:txBody>
              </p:sp>
            </mc:Choice>
            <mc:Fallback xmlns="">
              <p:sp>
                <p:nvSpPr>
                  <p:cNvPr id="18" name="文本框 17">
                    <a:extLst>
                      <a:ext uri="{FF2B5EF4-FFF2-40B4-BE49-F238E27FC236}">
                        <a16:creationId xmlns:a16="http://schemas.microsoft.com/office/drawing/2014/main" id="{FE0B054F-CAE6-B0FF-B636-AA4860E3C4F7}"/>
                      </a:ext>
                    </a:extLst>
                  </p:cNvPr>
                  <p:cNvSpPr txBox="1">
                    <a:spLocks noRot="1" noChangeAspect="1" noMove="1" noResize="1" noEditPoints="1" noAdjustHandles="1" noChangeArrowheads="1" noChangeShapeType="1" noTextEdit="1"/>
                  </p:cNvSpPr>
                  <p:nvPr/>
                </p:nvSpPr>
                <p:spPr>
                  <a:xfrm>
                    <a:off x="4050782" y="1733849"/>
                    <a:ext cx="1516913" cy="503635"/>
                  </a:xfrm>
                  <a:prstGeom prst="rect">
                    <a:avLst/>
                  </a:prstGeom>
                  <a:blipFill>
                    <a:blip r:embed="rId5"/>
                    <a:stretch>
                      <a:fillRect b="-5000"/>
                    </a:stretch>
                  </a:blipFill>
                </p:spPr>
                <p:txBody>
                  <a:bodyPr/>
                  <a:lstStyle/>
                  <a:p>
                    <a:r>
                      <a:rPr lang="zh-CN" altLang="en-US">
                        <a:noFill/>
                      </a:rPr>
                      <a:t> </a:t>
                    </a:r>
                  </a:p>
                </p:txBody>
              </p:sp>
            </mc:Fallback>
          </mc:AlternateContent>
        </p:grpSp>
      </p:grpSp>
      <p:grpSp>
        <p:nvGrpSpPr>
          <p:cNvPr id="32" name="组合 31">
            <a:extLst>
              <a:ext uri="{FF2B5EF4-FFF2-40B4-BE49-F238E27FC236}">
                <a16:creationId xmlns:a16="http://schemas.microsoft.com/office/drawing/2014/main" id="{FA2B406C-1CDA-6D17-84E7-26A1E29B6C27}"/>
              </a:ext>
            </a:extLst>
          </p:cNvPr>
          <p:cNvGrpSpPr/>
          <p:nvPr/>
        </p:nvGrpSpPr>
        <p:grpSpPr>
          <a:xfrm>
            <a:off x="1197964" y="1672714"/>
            <a:ext cx="779165" cy="231923"/>
            <a:chOff x="1652629" y="3884598"/>
            <a:chExt cx="1545452" cy="460012"/>
          </a:xfrm>
        </p:grpSpPr>
        <p:sp>
          <p:nvSpPr>
            <p:cNvPr id="19" name="椭圆 18">
              <a:extLst>
                <a:ext uri="{FF2B5EF4-FFF2-40B4-BE49-F238E27FC236}">
                  <a16:creationId xmlns:a16="http://schemas.microsoft.com/office/drawing/2014/main" id="{EE030BC8-BF0C-58EE-C7DC-82760E536C74}"/>
                </a:ext>
              </a:extLst>
            </p:cNvPr>
            <p:cNvSpPr/>
            <p:nvPr/>
          </p:nvSpPr>
          <p:spPr>
            <a:xfrm flipV="1">
              <a:off x="1652630" y="3908971"/>
              <a:ext cx="71974"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zh-CN" altLang="en-US" sz="908"/>
            </a:p>
          </p:txBody>
        </p:sp>
        <p:sp>
          <p:nvSpPr>
            <p:cNvPr id="22" name="文本框 21">
              <a:extLst>
                <a:ext uri="{FF2B5EF4-FFF2-40B4-BE49-F238E27FC236}">
                  <a16:creationId xmlns:a16="http://schemas.microsoft.com/office/drawing/2014/main" id="{48F04B55-3559-90E4-921D-F542A7E48CF4}"/>
                </a:ext>
              </a:extLst>
            </p:cNvPr>
            <p:cNvSpPr txBox="1"/>
            <p:nvPr/>
          </p:nvSpPr>
          <p:spPr>
            <a:xfrm>
              <a:off x="1652629" y="3884598"/>
              <a:ext cx="1545452" cy="460012"/>
            </a:xfrm>
            <a:prstGeom prst="rect">
              <a:avLst/>
            </a:prstGeom>
            <a:noFill/>
          </p:spPr>
          <p:txBody>
            <a:bodyPr wrap="square">
              <a:spAutoFit/>
            </a:bodyPr>
            <a:lstStyle/>
            <a:p>
              <a:r>
                <a:rPr lang="en-US" altLang="zh-CN" sz="907" dirty="0">
                  <a:solidFill>
                    <a:prstClr val="black"/>
                  </a:solidFill>
                  <a:latin typeface="Garamond" panose="02020404030301010803" pitchFamily="18" charset="0"/>
                  <a:ea typeface="SimSun" panose="02010600030101010101" pitchFamily="2" charset="-122"/>
                </a:rPr>
                <a:t>c=y, </a:t>
              </a:r>
              <a:r>
                <a:rPr lang="zh-CN" altLang="en-US" sz="907" dirty="0">
                  <a:solidFill>
                    <a:prstClr val="black"/>
                  </a:solidFill>
                  <a:latin typeface="Garamond" panose="02020404030301010803" pitchFamily="18" charset="0"/>
                  <a:ea typeface="SimSun" panose="02010600030101010101" pitchFamily="2" charset="-122"/>
                </a:rPr>
                <a:t>无储蓄</a:t>
              </a:r>
              <a:endParaRPr lang="zh-CN" altLang="en-US" sz="908" dirty="0">
                <a:latin typeface="Garamond" panose="02020404030301010803" pitchFamily="18" charset="0"/>
                <a:ea typeface="SimSun" panose="02010600030101010101" pitchFamily="2" charset="-122"/>
              </a:endParaRPr>
            </a:p>
          </p:txBody>
        </p:sp>
      </p:grpSp>
      <p:grpSp>
        <p:nvGrpSpPr>
          <p:cNvPr id="30" name="组合 29">
            <a:extLst>
              <a:ext uri="{FF2B5EF4-FFF2-40B4-BE49-F238E27FC236}">
                <a16:creationId xmlns:a16="http://schemas.microsoft.com/office/drawing/2014/main" id="{ACC89F91-04CD-FED9-E62C-32647AB2014E}"/>
              </a:ext>
            </a:extLst>
          </p:cNvPr>
          <p:cNvGrpSpPr/>
          <p:nvPr/>
        </p:nvGrpSpPr>
        <p:grpSpPr>
          <a:xfrm>
            <a:off x="547662" y="844452"/>
            <a:ext cx="1423371" cy="440725"/>
            <a:chOff x="1086271" y="1671801"/>
            <a:chExt cx="2823216" cy="874167"/>
          </a:xfrm>
        </p:grpSpPr>
        <p:cxnSp>
          <p:nvCxnSpPr>
            <p:cNvPr id="20" name="直线箭头连接符 19">
              <a:extLst>
                <a:ext uri="{FF2B5EF4-FFF2-40B4-BE49-F238E27FC236}">
                  <a16:creationId xmlns:a16="http://schemas.microsoft.com/office/drawing/2014/main" id="{7CB6DD37-693C-79A6-B6C2-BEDC270E73A7}"/>
                </a:ext>
              </a:extLst>
            </p:cNvPr>
            <p:cNvCxnSpPr>
              <a:cxnSpLocks/>
            </p:cNvCxnSpPr>
            <p:nvPr/>
          </p:nvCxnSpPr>
          <p:spPr>
            <a:xfrm>
              <a:off x="3909487" y="1964060"/>
              <a:ext cx="0" cy="581908"/>
            </a:xfrm>
            <a:prstGeom prst="straightConnector1">
              <a:avLst/>
            </a:prstGeom>
            <a:ln w="6350">
              <a:solidFill>
                <a:schemeClr val="tx1">
                  <a:lumMod val="50000"/>
                  <a:lumOff val="50000"/>
                </a:schemeClr>
              </a:solidFill>
              <a:headEnd type="triangle"/>
              <a:tailEnd type="triangle"/>
            </a:ln>
          </p:spPr>
          <p:style>
            <a:lnRef idx="1">
              <a:schemeClr val="accent2"/>
            </a:lnRef>
            <a:fillRef idx="0">
              <a:schemeClr val="accent2"/>
            </a:fillRef>
            <a:effectRef idx="0">
              <a:schemeClr val="accent2"/>
            </a:effectRef>
            <a:fontRef idx="minor">
              <a:schemeClr val="tx1"/>
            </a:fontRef>
          </p:style>
        </p:cxnSp>
        <p:sp>
          <p:nvSpPr>
            <p:cNvPr id="23" name="文本框 22">
              <a:extLst>
                <a:ext uri="{FF2B5EF4-FFF2-40B4-BE49-F238E27FC236}">
                  <a16:creationId xmlns:a16="http://schemas.microsoft.com/office/drawing/2014/main" id="{B4B5336E-3755-B9D3-AA40-8815E43A6D94}"/>
                </a:ext>
              </a:extLst>
            </p:cNvPr>
            <p:cNvSpPr txBox="1"/>
            <p:nvPr/>
          </p:nvSpPr>
          <p:spPr>
            <a:xfrm>
              <a:off x="1086271" y="1671801"/>
              <a:ext cx="1840146" cy="460013"/>
            </a:xfrm>
            <a:prstGeom prst="rect">
              <a:avLst/>
            </a:prstGeom>
            <a:noFill/>
          </p:spPr>
          <p:txBody>
            <a:bodyPr wrap="square">
              <a:spAutoFit/>
            </a:bodyPr>
            <a:lstStyle/>
            <a:p>
              <a:r>
                <a:rPr lang="en-US" altLang="zh-CN" sz="907" dirty="0">
                  <a:solidFill>
                    <a:prstClr val="black"/>
                  </a:solidFill>
                  <a:latin typeface="Garamond" panose="02020404030301010803" pitchFamily="18" charset="0"/>
                  <a:ea typeface="SimSun" panose="02010600030101010101" pitchFamily="2" charset="-122"/>
                </a:rPr>
                <a:t>c&lt;y, </a:t>
              </a:r>
              <a:r>
                <a:rPr lang="zh-CN" altLang="en-US" sz="907" dirty="0">
                  <a:solidFill>
                    <a:prstClr val="black"/>
                  </a:solidFill>
                  <a:latin typeface="Garamond" panose="02020404030301010803" pitchFamily="18" charset="0"/>
                  <a:ea typeface="SimSun" panose="02010600030101010101" pitchFamily="2" charset="-122"/>
                </a:rPr>
                <a:t>有正储蓄</a:t>
              </a:r>
              <a:endParaRPr lang="zh-CN" altLang="en-US" sz="908" dirty="0">
                <a:latin typeface="Garamond" panose="02020404030301010803" pitchFamily="18" charset="0"/>
                <a:ea typeface="SimSun" panose="02010600030101010101" pitchFamily="2" charset="-122"/>
              </a:endParaRPr>
            </a:p>
          </p:txBody>
        </p:sp>
        <p:cxnSp>
          <p:nvCxnSpPr>
            <p:cNvPr id="24" name="直线连接符 23">
              <a:extLst>
                <a:ext uri="{FF2B5EF4-FFF2-40B4-BE49-F238E27FC236}">
                  <a16:creationId xmlns:a16="http://schemas.microsoft.com/office/drawing/2014/main" id="{5D034DF2-BB7A-AB3F-327D-29228DCBF34A}"/>
                </a:ext>
              </a:extLst>
            </p:cNvPr>
            <p:cNvCxnSpPr>
              <a:cxnSpLocks/>
            </p:cNvCxnSpPr>
            <p:nvPr/>
          </p:nvCxnSpPr>
          <p:spPr>
            <a:xfrm>
              <a:off x="2666816" y="1912843"/>
              <a:ext cx="1161755" cy="398542"/>
            </a:xfrm>
            <a:prstGeom prst="line">
              <a:avLst/>
            </a:prstGeom>
            <a:ln>
              <a:solidFill>
                <a:schemeClr val="tx1">
                  <a:lumMod val="50000"/>
                  <a:lumOff val="50000"/>
                </a:schemeClr>
              </a:solidFill>
            </a:ln>
          </p:spPr>
          <p:style>
            <a:lnRef idx="1">
              <a:schemeClr val="accent2"/>
            </a:lnRef>
            <a:fillRef idx="0">
              <a:schemeClr val="accent2"/>
            </a:fillRef>
            <a:effectRef idx="0">
              <a:schemeClr val="accent2"/>
            </a:effectRef>
            <a:fontRef idx="minor">
              <a:schemeClr val="tx1"/>
            </a:fontRef>
          </p:style>
        </p:cxnSp>
      </p:grpSp>
      <p:grpSp>
        <p:nvGrpSpPr>
          <p:cNvPr id="31" name="组合 30">
            <a:extLst>
              <a:ext uri="{FF2B5EF4-FFF2-40B4-BE49-F238E27FC236}">
                <a16:creationId xmlns:a16="http://schemas.microsoft.com/office/drawing/2014/main" id="{1CB21707-FE41-0063-85AC-93B03CE133B0}"/>
              </a:ext>
            </a:extLst>
          </p:cNvPr>
          <p:cNvGrpSpPr/>
          <p:nvPr/>
        </p:nvGrpSpPr>
        <p:grpSpPr>
          <a:xfrm>
            <a:off x="264560" y="1797512"/>
            <a:ext cx="808518" cy="557767"/>
            <a:chOff x="755406" y="3402638"/>
            <a:chExt cx="1603673" cy="1106313"/>
          </a:xfrm>
        </p:grpSpPr>
        <p:cxnSp>
          <p:nvCxnSpPr>
            <p:cNvPr id="21" name="直线箭头连接符 20">
              <a:extLst>
                <a:ext uri="{FF2B5EF4-FFF2-40B4-BE49-F238E27FC236}">
                  <a16:creationId xmlns:a16="http://schemas.microsoft.com/office/drawing/2014/main" id="{67812A67-6CA2-D168-B5EB-B2EBE1C1A618}"/>
                </a:ext>
              </a:extLst>
            </p:cNvPr>
            <p:cNvCxnSpPr>
              <a:cxnSpLocks/>
            </p:cNvCxnSpPr>
            <p:nvPr/>
          </p:nvCxnSpPr>
          <p:spPr>
            <a:xfrm>
              <a:off x="1187077" y="3992192"/>
              <a:ext cx="0" cy="516759"/>
            </a:xfrm>
            <a:prstGeom prst="straightConnector1">
              <a:avLst/>
            </a:prstGeom>
            <a:ln w="6350">
              <a:solidFill>
                <a:schemeClr val="tx1">
                  <a:lumMod val="50000"/>
                  <a:lumOff val="50000"/>
                </a:schemeClr>
              </a:solidFill>
              <a:headEnd type="triangle"/>
              <a:tailEnd type="triangle"/>
            </a:ln>
          </p:spPr>
          <p:style>
            <a:lnRef idx="1">
              <a:schemeClr val="accent2"/>
            </a:lnRef>
            <a:fillRef idx="0">
              <a:schemeClr val="accent2"/>
            </a:fillRef>
            <a:effectRef idx="0">
              <a:schemeClr val="accent2"/>
            </a:effectRef>
            <a:fontRef idx="minor">
              <a:schemeClr val="tx1"/>
            </a:fontRef>
          </p:style>
        </p:cxnSp>
        <p:sp>
          <p:nvSpPr>
            <p:cNvPr id="25" name="文本框 24">
              <a:extLst>
                <a:ext uri="{FF2B5EF4-FFF2-40B4-BE49-F238E27FC236}">
                  <a16:creationId xmlns:a16="http://schemas.microsoft.com/office/drawing/2014/main" id="{0BCB3063-F5F9-137C-02F2-0375ACC67BC8}"/>
                </a:ext>
              </a:extLst>
            </p:cNvPr>
            <p:cNvSpPr txBox="1"/>
            <p:nvPr/>
          </p:nvSpPr>
          <p:spPr>
            <a:xfrm>
              <a:off x="755406" y="3402638"/>
              <a:ext cx="1603673" cy="460012"/>
            </a:xfrm>
            <a:prstGeom prst="rect">
              <a:avLst/>
            </a:prstGeom>
            <a:noFill/>
          </p:spPr>
          <p:txBody>
            <a:bodyPr wrap="square">
              <a:spAutoFit/>
            </a:bodyPr>
            <a:lstStyle/>
            <a:p>
              <a:r>
                <a:rPr lang="en-US" altLang="zh-CN" sz="907" dirty="0">
                  <a:solidFill>
                    <a:prstClr val="black"/>
                  </a:solidFill>
                  <a:latin typeface="Garamond" panose="02020404030301010803" pitchFamily="18" charset="0"/>
                  <a:ea typeface="SimSun" panose="02010600030101010101" pitchFamily="2" charset="-122"/>
                </a:rPr>
                <a:t>c&gt;y, </a:t>
              </a:r>
              <a:r>
                <a:rPr lang="zh-CN" altLang="en-US" sz="907" dirty="0">
                  <a:solidFill>
                    <a:prstClr val="black"/>
                  </a:solidFill>
                  <a:latin typeface="Garamond" panose="02020404030301010803" pitchFamily="18" charset="0"/>
                  <a:ea typeface="SimSun" panose="02010600030101010101" pitchFamily="2" charset="-122"/>
                </a:rPr>
                <a:t>负储蓄</a:t>
              </a:r>
              <a:endParaRPr lang="zh-CN" altLang="en-US" sz="908" dirty="0">
                <a:latin typeface="Garamond" panose="02020404030301010803" pitchFamily="18" charset="0"/>
                <a:ea typeface="SimSun" panose="02010600030101010101" pitchFamily="2" charset="-122"/>
              </a:endParaRPr>
            </a:p>
          </p:txBody>
        </p:sp>
      </p:grpSp>
      <mc:AlternateContent xmlns:mc="http://schemas.openxmlformats.org/markup-compatibility/2006" xmlns:a14="http://schemas.microsoft.com/office/drawing/2010/main">
        <mc:Choice Requires="a14">
          <p:sp>
            <p:nvSpPr>
              <p:cNvPr id="28" name="Text Box 5">
                <a:extLst>
                  <a:ext uri="{FF2B5EF4-FFF2-40B4-BE49-F238E27FC236}">
                    <a16:creationId xmlns:a16="http://schemas.microsoft.com/office/drawing/2014/main" id="{6BC2384B-EF15-9D49-05C2-A3C3678330C2}"/>
                  </a:ext>
                </a:extLst>
              </p:cNvPr>
              <p:cNvSpPr txBox="1">
                <a:spLocks noChangeArrowheads="1"/>
              </p:cNvSpPr>
              <p:nvPr/>
            </p:nvSpPr>
            <p:spPr bwMode="auto">
              <a:xfrm>
                <a:off x="2690097" y="935951"/>
                <a:ext cx="1830593" cy="1498102"/>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p:spPr>
            <p:txBody>
              <a:bodyPr wrap="square">
                <a:spAutoFit/>
              </a:bodyPr>
              <a:lstStyle/>
              <a:p>
                <a:pPr defTabSz="230520">
                  <a:spcBef>
                    <a:spcPct val="50000"/>
                  </a:spcBef>
                  <a:defRPr/>
                </a:pPr>
                <a:r>
                  <a:rPr lang="zh-CN" altLang="en-US" sz="1008" b="1" dirty="0">
                    <a:solidFill>
                      <a:prstClr val="black"/>
                    </a:solidFill>
                    <a:latin typeface="Garamond" panose="02020404030301010803" pitchFamily="18" charset="0"/>
                    <a:ea typeface="KaiTi" panose="02010609060101010101" pitchFamily="49" charset="-122"/>
                  </a:rPr>
                  <a:t>在短期，总供给不变的条件下，消费和储蓄犹如一枚硬币的两面：</a:t>
                </a:r>
                <a:endParaRPr lang="en-US" altLang="zh-CN" sz="1008" b="1" dirty="0">
                  <a:solidFill>
                    <a:prstClr val="black"/>
                  </a:solidFill>
                  <a:latin typeface="Garamond" panose="02020404030301010803" pitchFamily="18" charset="0"/>
                  <a:ea typeface="KaiTi" panose="02010609060101010101" pitchFamily="49" charset="-122"/>
                </a:endParaRPr>
              </a:p>
              <a:p>
                <a:pPr defTabSz="230520">
                  <a:spcBef>
                    <a:spcPct val="50000"/>
                  </a:spcBef>
                  <a:defRPr/>
                </a:pPr>
                <a:r>
                  <a:rPr lang="zh-CN" altLang="en-US" sz="1008" b="1" dirty="0">
                    <a:solidFill>
                      <a:prstClr val="black"/>
                    </a:solidFill>
                    <a:latin typeface="Garamond" panose="02020404030301010803" pitchFamily="18" charset="0"/>
                    <a:ea typeface="KaiTi" panose="02010609060101010101" pitchFamily="49" charset="-122"/>
                  </a:rPr>
                  <a:t>消费增加，则储蓄减少；</a:t>
                </a:r>
                <a:endParaRPr lang="en-US" altLang="zh-CN" sz="1008" b="1" dirty="0">
                  <a:solidFill>
                    <a:prstClr val="black"/>
                  </a:solidFill>
                  <a:latin typeface="Garamond" panose="02020404030301010803" pitchFamily="18" charset="0"/>
                  <a:ea typeface="KaiTi" panose="02010609060101010101" pitchFamily="49" charset="-122"/>
                </a:endParaRPr>
              </a:p>
              <a:p>
                <a:pPr defTabSz="230520">
                  <a:spcBef>
                    <a:spcPct val="50000"/>
                  </a:spcBef>
                  <a:defRPr/>
                </a:pPr>
                <a:r>
                  <a:rPr lang="zh-CN" altLang="en-US" sz="1008" b="1" dirty="0">
                    <a:solidFill>
                      <a:prstClr val="black"/>
                    </a:solidFill>
                    <a:latin typeface="Garamond" panose="02020404030301010803" pitchFamily="18" charset="0"/>
                    <a:ea typeface="KaiTi" panose="02010609060101010101" pitchFamily="49" charset="-122"/>
                  </a:rPr>
                  <a:t>消费减少，则储蓄增加</a:t>
                </a:r>
                <a:endParaRPr lang="en-US" altLang="zh-CN" sz="1008" b="1" dirty="0">
                  <a:solidFill>
                    <a:prstClr val="black"/>
                  </a:solidFill>
                  <a:latin typeface="Garamond" panose="02020404030301010803" pitchFamily="18" charset="0"/>
                  <a:ea typeface="KaiTi" panose="02010609060101010101" pitchFamily="49" charset="-122"/>
                </a:endParaRPr>
              </a:p>
              <a:p>
                <a:pPr defTabSz="230520">
                  <a:spcBef>
                    <a:spcPct val="50000"/>
                  </a:spcBef>
                  <a:defRPr/>
                </a:pPr>
                <a:r>
                  <a:rPr lang="en-US" altLang="zh-CN" sz="1008" b="1" dirty="0">
                    <a:solidFill>
                      <a:prstClr val="black"/>
                    </a:solidFill>
                    <a:latin typeface="Garamond" panose="02020404030301010803" pitchFamily="18" charset="0"/>
                    <a:ea typeface="KaiTi" panose="02010609060101010101" pitchFamily="49" charset="-122"/>
                  </a:rPr>
                  <a:t>1.MPC+MPS=1</a:t>
                </a:r>
              </a:p>
              <a:p>
                <a:pPr defTabSz="230520">
                  <a:spcBef>
                    <a:spcPct val="50000"/>
                  </a:spcBef>
                  <a:defRPr/>
                </a:pPr>
                <a:r>
                  <a:rPr lang="en-US" altLang="zh-CN" sz="1008" b="1" dirty="0">
                    <a:solidFill>
                      <a:prstClr val="black"/>
                    </a:solidFill>
                    <a:latin typeface="Garamond" panose="02020404030301010803" pitchFamily="18" charset="0"/>
                    <a:ea typeface="KaiTi" panose="02010609060101010101" pitchFamily="49" charset="-122"/>
                  </a:rPr>
                  <a:t>2.</a:t>
                </a:r>
                <a:r>
                  <a:rPr kumimoji="1" lang="en-US" altLang="zh-CN" sz="1050" dirty="0"/>
                  <a:t> </a:t>
                </a:r>
                <a14:m>
                  <m:oMath xmlns:m="http://schemas.openxmlformats.org/officeDocument/2006/math">
                    <m:r>
                      <a:rPr kumimoji="1" lang="en-US" altLang="zh-CN" sz="1050" i="1">
                        <a:latin typeface="Cambria Math" panose="02040503050406030204" pitchFamily="18" charset="0"/>
                      </a:rPr>
                      <m:t>−</m:t>
                    </m:r>
                    <m:r>
                      <a:rPr kumimoji="1" lang="zh-CN" altLang="en-US" sz="1050" i="1">
                        <a:latin typeface="Cambria Math" panose="02040503050406030204" pitchFamily="18" charset="0"/>
                      </a:rPr>
                      <m:t>𝛼</m:t>
                    </m:r>
                    <m:r>
                      <a:rPr kumimoji="1" lang="zh-CN" altLang="en-US" sz="1050" i="1" smtClean="0">
                        <a:latin typeface="Cambria Math" panose="02040503050406030204" pitchFamily="18" charset="0"/>
                      </a:rPr>
                      <m:t>和</m:t>
                    </m:r>
                    <m:sSub>
                      <m:sSubPr>
                        <m:ctrlPr>
                          <a:rPr lang="en-US" altLang="zh-CN" sz="1050" i="1" dirty="0">
                            <a:solidFill>
                              <a:prstClr val="black"/>
                            </a:solidFill>
                            <a:latin typeface="Cambria Math" panose="02040503050406030204" pitchFamily="18" charset="0"/>
                            <a:ea typeface="SimSun" panose="02010600030101010101" pitchFamily="2" charset="-122"/>
                          </a:rPr>
                        </m:ctrlPr>
                      </m:sSubPr>
                      <m:e>
                        <m:r>
                          <a:rPr lang="en-US" altLang="zh-CN" sz="1050" i="1" dirty="0">
                            <a:solidFill>
                              <a:prstClr val="black"/>
                            </a:solidFill>
                            <a:latin typeface="Cambria Math" panose="02040503050406030204" pitchFamily="18" charset="0"/>
                            <a:ea typeface="SimSun" panose="02010600030101010101" pitchFamily="2" charset="-122"/>
                          </a:rPr>
                          <m:t>𝑦</m:t>
                        </m:r>
                      </m:e>
                      <m:sub>
                        <m:r>
                          <a:rPr lang="en-US" altLang="zh-CN" sz="1050" i="1" dirty="0">
                            <a:solidFill>
                              <a:prstClr val="black"/>
                            </a:solidFill>
                            <a:latin typeface="Cambria Math" panose="02040503050406030204" pitchFamily="18" charset="0"/>
                            <a:ea typeface="SimSun" panose="02010600030101010101" pitchFamily="2" charset="-122"/>
                          </a:rPr>
                          <m:t>0</m:t>
                        </m:r>
                      </m:sub>
                    </m:sSub>
                  </m:oMath>
                </a14:m>
                <a:r>
                  <a:rPr lang="zh-CN" altLang="en-US" sz="1008" b="1" dirty="0">
                    <a:solidFill>
                      <a:prstClr val="black"/>
                    </a:solidFill>
                    <a:latin typeface="Garamond" panose="02020404030301010803" pitchFamily="18" charset="0"/>
                    <a:ea typeface="KaiTi" panose="02010609060101010101" pitchFamily="49" charset="-122"/>
                  </a:rPr>
                  <a:t>共同决定储蓄曲线</a:t>
                </a:r>
              </a:p>
            </p:txBody>
          </p:sp>
        </mc:Choice>
        <mc:Fallback xmlns="">
          <p:sp>
            <p:nvSpPr>
              <p:cNvPr id="28" name="Text Box 5">
                <a:extLst>
                  <a:ext uri="{FF2B5EF4-FFF2-40B4-BE49-F238E27FC236}">
                    <a16:creationId xmlns:a16="http://schemas.microsoft.com/office/drawing/2014/main" id="{6BC2384B-EF15-9D49-05C2-A3C3678330C2}"/>
                  </a:ext>
                </a:extLst>
              </p:cNvPr>
              <p:cNvSpPr txBox="1">
                <a:spLocks noRot="1" noChangeAspect="1" noMove="1" noResize="1" noEditPoints="1" noAdjustHandles="1" noChangeArrowheads="1" noChangeShapeType="1" noTextEdit="1"/>
              </p:cNvSpPr>
              <p:nvPr/>
            </p:nvSpPr>
            <p:spPr bwMode="auto">
              <a:xfrm>
                <a:off x="2690097" y="935951"/>
                <a:ext cx="1830593" cy="1498102"/>
              </a:xfrm>
              <a:prstGeom prst="rect">
                <a:avLst/>
              </a:prstGeom>
              <a:blipFill>
                <a:blip r:embed="rId6"/>
                <a:stretch>
                  <a:fillRect b="-1681"/>
                </a:stretch>
              </a:blipFill>
              <a:ln>
                <a:noFill/>
              </a:ln>
              <a:effectLst/>
            </p:spPr>
            <p:txBody>
              <a:bodyPr/>
              <a:lstStyle/>
              <a:p>
                <a:r>
                  <a:rPr lang="zh-CN" altLang="en-US">
                    <a:noFill/>
                  </a:rPr>
                  <a:t> </a:t>
                </a:r>
              </a:p>
            </p:txBody>
          </p:sp>
        </mc:Fallback>
      </mc:AlternateContent>
      <p:cxnSp>
        <p:nvCxnSpPr>
          <p:cNvPr id="3" name="直线连接符 2">
            <a:extLst>
              <a:ext uri="{FF2B5EF4-FFF2-40B4-BE49-F238E27FC236}">
                <a16:creationId xmlns:a16="http://schemas.microsoft.com/office/drawing/2014/main" id="{75745A5C-93AC-16F4-40F0-AA16A488B690}"/>
              </a:ext>
            </a:extLst>
          </p:cNvPr>
          <p:cNvCxnSpPr>
            <a:cxnSpLocks/>
          </p:cNvCxnSpPr>
          <p:nvPr/>
        </p:nvCxnSpPr>
        <p:spPr>
          <a:xfrm>
            <a:off x="1216108" y="1702823"/>
            <a:ext cx="0" cy="813027"/>
          </a:xfrm>
          <a:prstGeom prst="line">
            <a:avLst/>
          </a:prstGeom>
          <a:ln w="15875">
            <a:solidFill>
              <a:schemeClr val="bg2"/>
            </a:solidFill>
            <a:prstDash val="dash"/>
          </a:ln>
        </p:spPr>
        <p:style>
          <a:lnRef idx="1">
            <a:schemeClr val="accent1"/>
          </a:lnRef>
          <a:fillRef idx="0">
            <a:schemeClr val="accent1"/>
          </a:fillRef>
          <a:effectRef idx="0">
            <a:schemeClr val="accent1"/>
          </a:effectRef>
          <a:fontRef idx="minor">
            <a:schemeClr val="tx1"/>
          </a:fontRef>
        </p:style>
      </p:cxnSp>
      <p:cxnSp>
        <p:nvCxnSpPr>
          <p:cNvPr id="36" name="直接连接符 10">
            <a:extLst>
              <a:ext uri="{FF2B5EF4-FFF2-40B4-BE49-F238E27FC236}">
                <a16:creationId xmlns:a16="http://schemas.microsoft.com/office/drawing/2014/main" id="{F7137FC5-F9A8-273D-F280-588E453D4175}"/>
              </a:ext>
            </a:extLst>
          </p:cNvPr>
          <p:cNvCxnSpPr>
            <a:cxnSpLocks/>
          </p:cNvCxnSpPr>
          <p:nvPr/>
        </p:nvCxnSpPr>
        <p:spPr>
          <a:xfrm flipV="1">
            <a:off x="320475" y="2176438"/>
            <a:ext cx="2077013" cy="622859"/>
          </a:xfrm>
          <a:prstGeom prst="line">
            <a:avLst/>
          </a:prstGeom>
          <a:ln w="15875">
            <a:solidFill>
              <a:srgbClr val="C00000"/>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5A07D0B3-45BC-2D29-AE0F-DFCC751F5BFE}"/>
                  </a:ext>
                </a:extLst>
              </p:cNvPr>
              <p:cNvSpPr txBox="1"/>
              <p:nvPr/>
            </p:nvSpPr>
            <p:spPr>
              <a:xfrm>
                <a:off x="2013567" y="2185283"/>
                <a:ext cx="764777" cy="253916"/>
              </a:xfrm>
              <a:prstGeom prst="rect">
                <a:avLst/>
              </a:prstGeom>
              <a:noFill/>
            </p:spPr>
            <p:txBody>
              <a:bodyPr wrap="square" rtlCol="0">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50" b="0" i="1" dirty="0" smtClean="0">
                          <a:solidFill>
                            <a:srgbClr val="C00000"/>
                          </a:solidFill>
                          <a:latin typeface="Cambria Math" panose="02040503050406030204" pitchFamily="18" charset="0"/>
                          <a:ea typeface="等线" panose="02010600030101010101" pitchFamily="2" charset="-122"/>
                        </a:rPr>
                        <m:t>𝑠</m:t>
                      </m:r>
                      <m:r>
                        <a:rPr lang="en-US" altLang="zh-CN" sz="1050" i="1" dirty="0" smtClean="0">
                          <a:solidFill>
                            <a:srgbClr val="C00000"/>
                          </a:solidFill>
                          <a:latin typeface="Cambria Math" panose="02040503050406030204" pitchFamily="18" charset="0"/>
                          <a:ea typeface="等线" panose="02010600030101010101" pitchFamily="2" charset="-122"/>
                        </a:rPr>
                        <m:t>=(</m:t>
                      </m:r>
                      <m:r>
                        <a:rPr lang="en-US" altLang="zh-CN" sz="1050" i="1" dirty="0" smtClean="0">
                          <a:solidFill>
                            <a:srgbClr val="C00000"/>
                          </a:solidFill>
                          <a:latin typeface="Cambria Math" panose="02040503050406030204" pitchFamily="18" charset="0"/>
                          <a:ea typeface="等线" panose="02010600030101010101" pitchFamily="2" charset="-122"/>
                        </a:rPr>
                        <m:t>𝑦</m:t>
                      </m:r>
                      <m:r>
                        <a:rPr lang="en-US" altLang="zh-CN" sz="1050" i="1" dirty="0" smtClean="0">
                          <a:solidFill>
                            <a:srgbClr val="C00000"/>
                          </a:solidFill>
                          <a:latin typeface="Cambria Math" panose="02040503050406030204" pitchFamily="18" charset="0"/>
                          <a:ea typeface="等线" panose="02010600030101010101" pitchFamily="2" charset="-122"/>
                        </a:rPr>
                        <m:t>)</m:t>
                      </m:r>
                    </m:oMath>
                  </m:oMathPara>
                </a14:m>
                <a:endParaRPr lang="zh-CN" altLang="en-US" sz="1050" dirty="0">
                  <a:solidFill>
                    <a:srgbClr val="C00000"/>
                  </a:solidFill>
                  <a:latin typeface="Garamond" panose="02020404030301010803" pitchFamily="18" charset="0"/>
                  <a:ea typeface="等线" panose="02010600030101010101" pitchFamily="2" charset="-122"/>
                </a:endParaRPr>
              </a:p>
            </p:txBody>
          </p:sp>
        </mc:Choice>
        <mc:Fallback xmlns="">
          <p:sp>
            <p:nvSpPr>
              <p:cNvPr id="51" name="文本框 50">
                <a:extLst>
                  <a:ext uri="{FF2B5EF4-FFF2-40B4-BE49-F238E27FC236}">
                    <a16:creationId xmlns:a16="http://schemas.microsoft.com/office/drawing/2014/main" id="{5A07D0B3-45BC-2D29-AE0F-DFCC751F5BFE}"/>
                  </a:ext>
                </a:extLst>
              </p:cNvPr>
              <p:cNvSpPr txBox="1">
                <a:spLocks noRot="1" noChangeAspect="1" noMove="1" noResize="1" noEditPoints="1" noAdjustHandles="1" noChangeArrowheads="1" noChangeShapeType="1" noTextEdit="1"/>
              </p:cNvSpPr>
              <p:nvPr/>
            </p:nvSpPr>
            <p:spPr>
              <a:xfrm>
                <a:off x="2013567" y="2185283"/>
                <a:ext cx="764777" cy="253916"/>
              </a:xfrm>
              <a:prstGeom prst="rect">
                <a:avLst/>
              </a:prstGeom>
              <a:blipFill>
                <a:blip r:embed="rId7"/>
                <a:stretch>
                  <a:fillRect b="-4762"/>
                </a:stretch>
              </a:blipFill>
            </p:spPr>
            <p:txBody>
              <a:bodyPr/>
              <a:lstStyle/>
              <a:p>
                <a:r>
                  <a:rPr lang="zh-CN" altLang="en-US">
                    <a:noFill/>
                  </a:rPr>
                  <a:t> </a:t>
                </a:r>
              </a:p>
            </p:txBody>
          </p:sp>
        </mc:Fallback>
      </mc:AlternateContent>
      <p:grpSp>
        <p:nvGrpSpPr>
          <p:cNvPr id="52" name="组合 51">
            <a:extLst>
              <a:ext uri="{FF2B5EF4-FFF2-40B4-BE49-F238E27FC236}">
                <a16:creationId xmlns:a16="http://schemas.microsoft.com/office/drawing/2014/main" id="{AF2BBEBB-8A4B-5240-D0D9-2DB8D7F2DA32}"/>
              </a:ext>
            </a:extLst>
          </p:cNvPr>
          <p:cNvGrpSpPr/>
          <p:nvPr/>
        </p:nvGrpSpPr>
        <p:grpSpPr>
          <a:xfrm>
            <a:off x="1204262" y="2504404"/>
            <a:ext cx="164682" cy="231923"/>
            <a:chOff x="1652630" y="3884598"/>
            <a:chExt cx="326643" cy="460012"/>
          </a:xfrm>
        </p:grpSpPr>
        <p:sp>
          <p:nvSpPr>
            <p:cNvPr id="53" name="椭圆 52">
              <a:extLst>
                <a:ext uri="{FF2B5EF4-FFF2-40B4-BE49-F238E27FC236}">
                  <a16:creationId xmlns:a16="http://schemas.microsoft.com/office/drawing/2014/main" id="{D6A5C3E6-5119-456B-5252-37557A88861E}"/>
                </a:ext>
              </a:extLst>
            </p:cNvPr>
            <p:cNvSpPr/>
            <p:nvPr/>
          </p:nvSpPr>
          <p:spPr>
            <a:xfrm flipV="1">
              <a:off x="1652630" y="3908971"/>
              <a:ext cx="71974" cy="7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zh-CN" altLang="en-US" sz="908"/>
            </a:p>
          </p:txBody>
        </p:sp>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8CD3DDA4-A144-C9F0-41B4-8D8BEEC9F821}"/>
                    </a:ext>
                  </a:extLst>
                </p:cNvPr>
                <p:cNvSpPr txBox="1"/>
                <p:nvPr/>
              </p:nvSpPr>
              <p:spPr>
                <a:xfrm>
                  <a:off x="1652631" y="3884598"/>
                  <a:ext cx="326642" cy="4600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907" b="0" i="1" dirty="0" smtClean="0">
                                <a:solidFill>
                                  <a:prstClr val="black"/>
                                </a:solidFill>
                                <a:latin typeface="Cambria Math" panose="02040503050406030204" pitchFamily="18" charset="0"/>
                                <a:ea typeface="SimSun" panose="02010600030101010101" pitchFamily="2" charset="-122"/>
                              </a:rPr>
                            </m:ctrlPr>
                          </m:sSubPr>
                          <m:e>
                            <m:r>
                              <a:rPr lang="en-US" altLang="zh-CN" sz="907" b="0" i="1" dirty="0" smtClean="0">
                                <a:solidFill>
                                  <a:prstClr val="black"/>
                                </a:solidFill>
                                <a:latin typeface="Cambria Math" panose="02040503050406030204" pitchFamily="18" charset="0"/>
                                <a:ea typeface="SimSun" panose="02010600030101010101" pitchFamily="2" charset="-122"/>
                              </a:rPr>
                              <m:t>𝑦</m:t>
                            </m:r>
                          </m:e>
                          <m:sub>
                            <m:r>
                              <a:rPr lang="en-US" altLang="zh-CN" sz="907" b="0" i="1" dirty="0" smtClean="0">
                                <a:solidFill>
                                  <a:prstClr val="black"/>
                                </a:solidFill>
                                <a:latin typeface="Cambria Math" panose="02040503050406030204" pitchFamily="18" charset="0"/>
                                <a:ea typeface="SimSun" panose="02010600030101010101" pitchFamily="2" charset="-122"/>
                              </a:rPr>
                              <m:t>0</m:t>
                            </m:r>
                          </m:sub>
                        </m:sSub>
                      </m:oMath>
                    </m:oMathPara>
                  </a14:m>
                  <a:endParaRPr lang="zh-CN" altLang="en-US" sz="908" dirty="0">
                    <a:latin typeface="Garamond" panose="02020404030301010803" pitchFamily="18" charset="0"/>
                    <a:ea typeface="SimSun" panose="02010600030101010101" pitchFamily="2" charset="-122"/>
                  </a:endParaRPr>
                </a:p>
              </p:txBody>
            </p:sp>
          </mc:Choice>
          <mc:Fallback xmlns="">
            <p:sp>
              <p:nvSpPr>
                <p:cNvPr id="54" name="文本框 53">
                  <a:extLst>
                    <a:ext uri="{FF2B5EF4-FFF2-40B4-BE49-F238E27FC236}">
                      <a16:creationId xmlns:a16="http://schemas.microsoft.com/office/drawing/2014/main" id="{8CD3DDA4-A144-C9F0-41B4-8D8BEEC9F821}"/>
                    </a:ext>
                  </a:extLst>
                </p:cNvPr>
                <p:cNvSpPr txBox="1">
                  <a:spLocks noRot="1" noChangeAspect="1" noMove="1" noResize="1" noEditPoints="1" noAdjustHandles="1" noChangeArrowheads="1" noChangeShapeType="1" noTextEdit="1"/>
                </p:cNvSpPr>
                <p:nvPr/>
              </p:nvSpPr>
              <p:spPr>
                <a:xfrm>
                  <a:off x="1652631" y="3884598"/>
                  <a:ext cx="326642" cy="460012"/>
                </a:xfrm>
                <a:prstGeom prst="rect">
                  <a:avLst/>
                </a:prstGeom>
                <a:blipFill>
                  <a:blip r:embed="rId8"/>
                  <a:stretch>
                    <a:fillRect r="-28571"/>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58" name="文本框 57">
                <a:extLst>
                  <a:ext uri="{FF2B5EF4-FFF2-40B4-BE49-F238E27FC236}">
                    <a16:creationId xmlns:a16="http://schemas.microsoft.com/office/drawing/2014/main" id="{C00F7A9A-69C7-0219-496B-0E2429A65A4E}"/>
                  </a:ext>
                </a:extLst>
              </p:cNvPr>
              <p:cNvSpPr txBox="1"/>
              <p:nvPr/>
            </p:nvSpPr>
            <p:spPr>
              <a:xfrm>
                <a:off x="-6002" y="632587"/>
                <a:ext cx="441964" cy="25391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050" i="1" dirty="0" smtClean="0">
                          <a:solidFill>
                            <a:schemeClr val="tx1"/>
                          </a:solidFill>
                          <a:latin typeface="Cambria Math" panose="02040503050406030204" pitchFamily="18" charset="0"/>
                          <a:ea typeface="等线" panose="02010600030101010101" pitchFamily="2" charset="-122"/>
                        </a:rPr>
                        <m:t>𝑐</m:t>
                      </m:r>
                    </m:oMath>
                  </m:oMathPara>
                </a14:m>
                <a:endParaRPr lang="zh-CN" altLang="en-US" sz="1050" dirty="0">
                  <a:solidFill>
                    <a:schemeClr val="tx1"/>
                  </a:solidFill>
                </a:endParaRPr>
              </a:p>
            </p:txBody>
          </p:sp>
        </mc:Choice>
        <mc:Fallback xmlns="">
          <p:sp>
            <p:nvSpPr>
              <p:cNvPr id="58" name="文本框 57">
                <a:extLst>
                  <a:ext uri="{FF2B5EF4-FFF2-40B4-BE49-F238E27FC236}">
                    <a16:creationId xmlns:a16="http://schemas.microsoft.com/office/drawing/2014/main" id="{C00F7A9A-69C7-0219-496B-0E2429A65A4E}"/>
                  </a:ext>
                </a:extLst>
              </p:cNvPr>
              <p:cNvSpPr txBox="1">
                <a:spLocks noRot="1" noChangeAspect="1" noMove="1" noResize="1" noEditPoints="1" noAdjustHandles="1" noChangeArrowheads="1" noChangeShapeType="1" noTextEdit="1"/>
              </p:cNvSpPr>
              <p:nvPr/>
            </p:nvSpPr>
            <p:spPr>
              <a:xfrm>
                <a:off x="-6002" y="632587"/>
                <a:ext cx="441964" cy="253916"/>
              </a:xfrm>
              <a:prstGeom prst="rect">
                <a:avLst/>
              </a:prstGeom>
              <a:blipFill>
                <a:blip r:embed="rId9"/>
                <a:stretch>
                  <a:fillRect/>
                </a:stretch>
              </a:blipFill>
            </p:spPr>
            <p:txBody>
              <a:bodyPr/>
              <a:lstStyle/>
              <a:p>
                <a:r>
                  <a:rPr lang="zh-CN" altLang="en-US">
                    <a:noFill/>
                  </a:rPr>
                  <a:t> </a:t>
                </a:r>
              </a:p>
            </p:txBody>
          </p:sp>
        </mc:Fallback>
      </mc:AlternateContent>
      <p:sp>
        <p:nvSpPr>
          <p:cNvPr id="61" name="页脚占位符 1">
            <a:extLst>
              <a:ext uri="{FF2B5EF4-FFF2-40B4-BE49-F238E27FC236}">
                <a16:creationId xmlns:a16="http://schemas.microsoft.com/office/drawing/2014/main" id="{EB4A9705-C9F7-8986-1883-EE045B200055}"/>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330705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down)">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ipe(right)">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up)">
                                      <p:cBhvr>
                                        <p:cTn id="17" dur="5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wipe(left)">
                                      <p:cBhvr>
                                        <p:cTn id="22" dur="5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wipe(left)">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2"/>
                                        </p:tgtEl>
                                        <p:attrNameLst>
                                          <p:attrName>style.visibility</p:attrName>
                                        </p:attrNameLst>
                                      </p:cBhvr>
                                      <p:to>
                                        <p:strVal val="visible"/>
                                      </p:to>
                                    </p:set>
                                    <p:animEffect transition="in" filter="wipe(left)">
                                      <p:cBhvr>
                                        <p:cTn id="32"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32BCCEA1-5A07-C95E-E3CA-4470FC8BAEAF}"/>
              </a:ext>
            </a:extLst>
          </p:cNvPr>
          <p:cNvGrpSpPr/>
          <p:nvPr/>
        </p:nvGrpSpPr>
        <p:grpSpPr>
          <a:xfrm>
            <a:off x="2585668" y="930249"/>
            <a:ext cx="1730771" cy="1446122"/>
            <a:chOff x="5115130" y="1162034"/>
            <a:chExt cx="3432933" cy="2868342"/>
          </a:xfrm>
        </p:grpSpPr>
        <p:cxnSp>
          <p:nvCxnSpPr>
            <p:cNvPr id="8" name="直接箭头连接符 7"/>
            <p:cNvCxnSpPr/>
            <p:nvPr/>
          </p:nvCxnSpPr>
          <p:spPr>
            <a:xfrm>
              <a:off x="5459041" y="3550208"/>
              <a:ext cx="2618522"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0" name="直接箭头连接符 9"/>
            <p:cNvCxnSpPr/>
            <p:nvPr/>
          </p:nvCxnSpPr>
          <p:spPr>
            <a:xfrm flipV="1">
              <a:off x="5453730" y="1292862"/>
              <a:ext cx="0" cy="2246723"/>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1" name="任意多边形: 形状 10"/>
            <p:cNvSpPr/>
            <p:nvPr/>
          </p:nvSpPr>
          <p:spPr>
            <a:xfrm>
              <a:off x="5767102" y="1855871"/>
              <a:ext cx="2007710" cy="1322540"/>
            </a:xfrm>
            <a:custGeom>
              <a:avLst/>
              <a:gdLst>
                <a:gd name="connsiteX0" fmla="*/ 0 w 2009554"/>
                <a:gd name="connsiteY0" fmla="*/ 1323754 h 1323754"/>
                <a:gd name="connsiteX1" fmla="*/ 1329070 w 2009554"/>
                <a:gd name="connsiteY1" fmla="*/ 967563 h 1323754"/>
                <a:gd name="connsiteX2" fmla="*/ 2009554 w 2009554"/>
                <a:gd name="connsiteY2" fmla="*/ 0 h 1323754"/>
                <a:gd name="connsiteX3" fmla="*/ 2009554 w 2009554"/>
                <a:gd name="connsiteY3" fmla="*/ 0 h 1323754"/>
              </a:gdLst>
              <a:ahLst/>
              <a:cxnLst>
                <a:cxn ang="0">
                  <a:pos x="connsiteX0" y="connsiteY0"/>
                </a:cxn>
                <a:cxn ang="0">
                  <a:pos x="connsiteX1" y="connsiteY1"/>
                </a:cxn>
                <a:cxn ang="0">
                  <a:pos x="connsiteX2" y="connsiteY2"/>
                </a:cxn>
                <a:cxn ang="0">
                  <a:pos x="connsiteX3" y="connsiteY3"/>
                </a:cxn>
              </a:cxnLst>
              <a:rect l="l" t="t" r="r" b="b"/>
              <a:pathLst>
                <a:path w="2009554" h="1323754">
                  <a:moveTo>
                    <a:pt x="0" y="1323754"/>
                  </a:moveTo>
                  <a:cubicBezTo>
                    <a:pt x="497072" y="1255971"/>
                    <a:pt x="994144" y="1188189"/>
                    <a:pt x="1329070" y="967563"/>
                  </a:cubicBezTo>
                  <a:cubicBezTo>
                    <a:pt x="1663996" y="746937"/>
                    <a:pt x="2009554" y="0"/>
                    <a:pt x="2009554" y="0"/>
                  </a:cubicBezTo>
                  <a:lnTo>
                    <a:pt x="2009554" y="0"/>
                  </a:lnTo>
                </a:path>
              </a:pathLst>
            </a:custGeom>
            <a:ln w="25400">
              <a:solidFill>
                <a:srgbClr val="0070C0"/>
              </a:solidFill>
            </a:ln>
          </p:spPr>
          <p:style>
            <a:lnRef idx="1">
              <a:schemeClr val="dk1"/>
            </a:lnRef>
            <a:fillRef idx="0">
              <a:schemeClr val="dk1"/>
            </a:fillRef>
            <a:effectRef idx="0">
              <a:schemeClr val="dk1"/>
            </a:effectRef>
            <a:fontRef idx="minor">
              <a:schemeClr val="tx1"/>
            </a:fontRef>
          </p:style>
          <p:txBody>
            <a:bodyPr rtlCol="0" anchor="ctr"/>
            <a:lstStyle/>
            <a:p>
              <a:pPr algn="ctr" defTabSz="230520">
                <a:defRPr/>
              </a:pPr>
              <a:endParaRPr lang="zh-CN" altLang="en-US" sz="1008" dirty="0">
                <a:solidFill>
                  <a:prstClr val="black"/>
                </a:solidFill>
                <a:latin typeface="Calibri" panose="020F0502020204030204"/>
                <a:ea typeface="等线" panose="02010600030101010101" pitchFamily="2" charset="-122"/>
              </a:endParaRPr>
            </a:p>
          </p:txBody>
        </p:sp>
        <mc:AlternateContent xmlns:mc="http://schemas.openxmlformats.org/markup-compatibility/2006" xmlns:a14="http://schemas.microsoft.com/office/drawing/2010/main">
          <mc:Choice Requires="a14">
            <p:sp>
              <p:nvSpPr>
                <p:cNvPr id="12" name="矩形 11"/>
                <p:cNvSpPr/>
                <p:nvPr/>
              </p:nvSpPr>
              <p:spPr>
                <a:xfrm>
                  <a:off x="6626439" y="1731259"/>
                  <a:ext cx="1360068" cy="490790"/>
                </a:xfrm>
                <a:prstGeom prst="rect">
                  <a:avLst/>
                </a:prstGeom>
              </p:spPr>
              <p:txBody>
                <a:bodyPr wrap="none">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08" i="1">
                            <a:solidFill>
                              <a:prstClr val="black"/>
                            </a:solidFill>
                            <a:latin typeface="Cambria Math" panose="02040503050406030204" pitchFamily="18" charset="0"/>
                          </a:rPr>
                          <m:t>𝑠</m:t>
                        </m:r>
                        <m:r>
                          <a:rPr lang="en-US" altLang="zh-CN" sz="1008" i="1">
                            <a:solidFill>
                              <a:prstClr val="black"/>
                            </a:solidFill>
                            <a:latin typeface="Cambria Math" panose="02040503050406030204" pitchFamily="18" charset="0"/>
                          </a:rPr>
                          <m:t>=</m:t>
                        </m:r>
                        <m:r>
                          <a:rPr lang="en-US" altLang="zh-CN" sz="1008" i="1">
                            <a:solidFill>
                              <a:prstClr val="black"/>
                            </a:solidFill>
                            <a:latin typeface="Cambria Math" panose="02040503050406030204" pitchFamily="18" charset="0"/>
                          </a:rPr>
                          <m:t>𝑠</m:t>
                        </m:r>
                        <m:r>
                          <a:rPr lang="en-US" altLang="zh-CN" sz="1008" i="1">
                            <a:solidFill>
                              <a:prstClr val="black"/>
                            </a:solidFill>
                            <a:latin typeface="Cambria Math" panose="02040503050406030204" pitchFamily="18" charset="0"/>
                          </a:rPr>
                          <m:t>(</m:t>
                        </m:r>
                        <m:r>
                          <a:rPr lang="en-US" altLang="zh-CN" sz="1008" i="1">
                            <a:solidFill>
                              <a:prstClr val="black"/>
                            </a:solidFill>
                            <a:latin typeface="Cambria Math" panose="02040503050406030204" pitchFamily="18" charset="0"/>
                          </a:rPr>
                          <m:t>𝑦</m:t>
                        </m:r>
                        <m:r>
                          <a:rPr lang="en-US" altLang="zh-CN" sz="1008" i="1">
                            <a:solidFill>
                              <a:prstClr val="black"/>
                            </a:solidFill>
                            <a:latin typeface="Cambria Math" panose="02040503050406030204" pitchFamily="18" charset="0"/>
                          </a:rPr>
                          <m:t>)</m:t>
                        </m:r>
                      </m:oMath>
                    </m:oMathPara>
                  </a14:m>
                  <a:endParaRPr lang="en-US" altLang="zh-CN" sz="1008" dirty="0">
                    <a:solidFill>
                      <a:prstClr val="black"/>
                    </a:solidFill>
                    <a:latin typeface="Calibri" panose="020F0502020204030204"/>
                    <a:ea typeface="等线" panose="02010600030101010101" pitchFamily="2" charset="-122"/>
                  </a:endParaRPr>
                </a:p>
              </p:txBody>
            </p:sp>
          </mc:Choice>
          <mc:Fallback xmlns="">
            <p:sp>
              <p:nvSpPr>
                <p:cNvPr id="12" name="矩形 11"/>
                <p:cNvSpPr>
                  <a:spLocks noRot="1" noChangeAspect="1" noMove="1" noResize="1" noEditPoints="1" noAdjustHandles="1" noChangeArrowheads="1" noChangeShapeType="1" noTextEdit="1"/>
                </p:cNvSpPr>
                <p:nvPr/>
              </p:nvSpPr>
              <p:spPr>
                <a:xfrm>
                  <a:off x="6626439" y="1731259"/>
                  <a:ext cx="1360068" cy="490790"/>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7977024" y="3539586"/>
                  <a:ext cx="571039" cy="490790"/>
                </a:xfrm>
                <a:prstGeom prst="rect">
                  <a:avLst/>
                </a:prstGeom>
              </p:spPr>
              <p:txBody>
                <a:bodyPr wrap="none">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08" i="1">
                            <a:solidFill>
                              <a:prstClr val="black"/>
                            </a:solidFill>
                            <a:latin typeface="Cambria Math" panose="02040503050406030204" pitchFamily="18" charset="0"/>
                          </a:rPr>
                          <m:t>𝑦</m:t>
                        </m:r>
                      </m:oMath>
                    </m:oMathPara>
                  </a14:m>
                  <a:endParaRPr lang="zh-CN" altLang="en-US" sz="1008" dirty="0">
                    <a:solidFill>
                      <a:prstClr val="black"/>
                    </a:solidFill>
                    <a:latin typeface="Calibri" panose="020F0502020204030204"/>
                    <a:ea typeface="等线" panose="02010600030101010101" pitchFamily="2" charset="-122"/>
                  </a:endParaRPr>
                </a:p>
              </p:txBody>
            </p:sp>
          </mc:Choice>
          <mc:Fallback xmlns="">
            <p:sp>
              <p:nvSpPr>
                <p:cNvPr id="13" name="矩形 12"/>
                <p:cNvSpPr>
                  <a:spLocks noRot="1" noChangeAspect="1" noMove="1" noResize="1" noEditPoints="1" noAdjustHandles="1" noChangeArrowheads="1" noChangeShapeType="1" noTextEdit="1"/>
                </p:cNvSpPr>
                <p:nvPr/>
              </p:nvSpPr>
              <p:spPr>
                <a:xfrm>
                  <a:off x="7977024" y="3539586"/>
                  <a:ext cx="571039" cy="490790"/>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5188536" y="3539586"/>
                  <a:ext cx="566590" cy="490790"/>
                </a:xfrm>
                <a:prstGeom prst="rect">
                  <a:avLst/>
                </a:prstGeom>
              </p:spPr>
              <p:txBody>
                <a:bodyPr wrap="none">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08" i="1">
                            <a:solidFill>
                              <a:prstClr val="black"/>
                            </a:solidFill>
                            <a:latin typeface="Cambria Math" panose="02040503050406030204" pitchFamily="18" charset="0"/>
                          </a:rPr>
                          <m:t>0</m:t>
                        </m:r>
                      </m:oMath>
                    </m:oMathPara>
                  </a14:m>
                  <a:endParaRPr lang="zh-CN" altLang="en-US" sz="1008" dirty="0">
                    <a:solidFill>
                      <a:prstClr val="black"/>
                    </a:solidFill>
                    <a:latin typeface="Calibri" panose="020F0502020204030204"/>
                    <a:ea typeface="等线" panose="02010600030101010101" pitchFamily="2" charset="-122"/>
                  </a:endParaRPr>
                </a:p>
              </p:txBody>
            </p:sp>
          </mc:Choice>
          <mc:Fallback xmlns="">
            <p:sp>
              <p:nvSpPr>
                <p:cNvPr id="14" name="矩形 13"/>
                <p:cNvSpPr>
                  <a:spLocks noRot="1" noChangeAspect="1" noMove="1" noResize="1" noEditPoints="1" noAdjustHandles="1" noChangeArrowheads="1" noChangeShapeType="1" noTextEdit="1"/>
                </p:cNvSpPr>
                <p:nvPr/>
              </p:nvSpPr>
              <p:spPr>
                <a:xfrm>
                  <a:off x="5188536" y="3539586"/>
                  <a:ext cx="566590" cy="49079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5115130" y="1162034"/>
                  <a:ext cx="546367" cy="490790"/>
                </a:xfrm>
                <a:prstGeom prst="rect">
                  <a:avLst/>
                </a:prstGeom>
              </p:spPr>
              <p:txBody>
                <a:bodyPr wrap="none">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08" i="1">
                            <a:solidFill>
                              <a:prstClr val="black"/>
                            </a:solidFill>
                            <a:latin typeface="Cambria Math" panose="02040503050406030204" pitchFamily="18" charset="0"/>
                          </a:rPr>
                          <m:t>𝑠</m:t>
                        </m:r>
                      </m:oMath>
                    </m:oMathPara>
                  </a14:m>
                  <a:endParaRPr lang="zh-CN" altLang="en-US" sz="1008" dirty="0">
                    <a:solidFill>
                      <a:prstClr val="black"/>
                    </a:solidFill>
                    <a:latin typeface="Calibri" panose="020F0502020204030204"/>
                    <a:ea typeface="等线" panose="02010600030101010101" pitchFamily="2" charset="-122"/>
                  </a:endParaRPr>
                </a:p>
              </p:txBody>
            </p:sp>
          </mc:Choice>
          <mc:Fallback xmlns="">
            <p:sp>
              <p:nvSpPr>
                <p:cNvPr id="15" name="矩形 14"/>
                <p:cNvSpPr>
                  <a:spLocks noRot="1" noChangeAspect="1" noMove="1" noResize="1" noEditPoints="1" noAdjustHandles="1" noChangeArrowheads="1" noChangeShapeType="1" noTextEdit="1"/>
                </p:cNvSpPr>
                <p:nvPr/>
              </p:nvSpPr>
              <p:spPr>
                <a:xfrm>
                  <a:off x="5115130" y="1162034"/>
                  <a:ext cx="546367" cy="490790"/>
                </a:xfrm>
                <a:prstGeom prst="rect">
                  <a:avLst/>
                </a:prstGeom>
                <a:blipFill>
                  <a:blip r:embed="rId5"/>
                  <a:stretch>
                    <a:fillRect/>
                  </a:stretch>
                </a:blipFill>
              </p:spPr>
              <p:txBody>
                <a:bodyPr/>
                <a:lstStyle/>
                <a:p>
                  <a:r>
                    <a:rPr lang="zh-CN" altLang="en-US">
                      <a:noFill/>
                    </a:rPr>
                    <a:t> </a:t>
                  </a:r>
                </a:p>
              </p:txBody>
            </p:sp>
          </mc:Fallback>
        </mc:AlternateContent>
      </p:grpSp>
      <p:sp>
        <p:nvSpPr>
          <p:cNvPr id="3" name="标题 2">
            <a:extLst>
              <a:ext uri="{FF2B5EF4-FFF2-40B4-BE49-F238E27FC236}">
                <a16:creationId xmlns:a16="http://schemas.microsoft.com/office/drawing/2014/main" id="{8E2652D7-ABA8-DCB5-128B-862AC5F1FCDB}"/>
              </a:ext>
            </a:extLst>
          </p:cNvPr>
          <p:cNvSpPr>
            <a:spLocks noGrp="1"/>
          </p:cNvSpPr>
          <p:nvPr>
            <p:ph type="title"/>
          </p:nvPr>
        </p:nvSpPr>
        <p:spPr/>
        <p:txBody>
          <a:bodyPr/>
          <a:lstStyle/>
          <a:p>
            <a:r>
              <a:rPr kumimoji="1" lang="zh-CN" altLang="en-US" dirty="0"/>
              <a:t>线性与非线性储蓄曲线</a:t>
            </a:r>
          </a:p>
        </p:txBody>
      </p:sp>
      <p:grpSp>
        <p:nvGrpSpPr>
          <p:cNvPr id="31" name="组合 30">
            <a:extLst>
              <a:ext uri="{FF2B5EF4-FFF2-40B4-BE49-F238E27FC236}">
                <a16:creationId xmlns:a16="http://schemas.microsoft.com/office/drawing/2014/main" id="{4C35CDE6-FC1A-77D4-E389-C1BB2BABEBEB}"/>
              </a:ext>
            </a:extLst>
          </p:cNvPr>
          <p:cNvGrpSpPr/>
          <p:nvPr/>
        </p:nvGrpSpPr>
        <p:grpSpPr>
          <a:xfrm>
            <a:off x="276117" y="995461"/>
            <a:ext cx="2042740" cy="1203267"/>
            <a:chOff x="522479" y="1162034"/>
            <a:chExt cx="4051717" cy="2386645"/>
          </a:xfrm>
        </p:grpSpPr>
        <p:cxnSp>
          <p:nvCxnSpPr>
            <p:cNvPr id="4" name="直接箭头连接符 15">
              <a:extLst>
                <a:ext uri="{FF2B5EF4-FFF2-40B4-BE49-F238E27FC236}">
                  <a16:creationId xmlns:a16="http://schemas.microsoft.com/office/drawing/2014/main" id="{5B705F2A-C52A-0E6A-C751-9C9677D59554}"/>
                </a:ext>
              </a:extLst>
            </p:cNvPr>
            <p:cNvCxnSpPr/>
            <p:nvPr/>
          </p:nvCxnSpPr>
          <p:spPr>
            <a:xfrm>
              <a:off x="1005698" y="2790676"/>
              <a:ext cx="2618522"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5" name="直接箭头连接符 16">
              <a:extLst>
                <a:ext uri="{FF2B5EF4-FFF2-40B4-BE49-F238E27FC236}">
                  <a16:creationId xmlns:a16="http://schemas.microsoft.com/office/drawing/2014/main" id="{1CB19615-3251-8F51-C6B0-BDC637519070}"/>
                </a:ext>
              </a:extLst>
            </p:cNvPr>
            <p:cNvCxnSpPr/>
            <p:nvPr/>
          </p:nvCxnSpPr>
          <p:spPr>
            <a:xfrm flipV="1">
              <a:off x="994910" y="1292862"/>
              <a:ext cx="0" cy="2246723"/>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AD166210-85C9-02E6-EF58-8EE46111DF2E}"/>
                    </a:ext>
                  </a:extLst>
                </p:cNvPr>
                <p:cNvSpPr/>
                <p:nvPr/>
              </p:nvSpPr>
              <p:spPr>
                <a:xfrm>
                  <a:off x="2066197" y="1329431"/>
                  <a:ext cx="2507999" cy="490790"/>
                </a:xfrm>
                <a:prstGeom prst="rect">
                  <a:avLst/>
                </a:prstGeom>
              </p:spPr>
              <p:txBody>
                <a:bodyPr wrap="none">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08" i="1">
                            <a:solidFill>
                              <a:prstClr val="black"/>
                            </a:solidFill>
                            <a:latin typeface="Cambria Math" panose="02040503050406030204" pitchFamily="18" charset="0"/>
                          </a:rPr>
                          <m:t>𝑠</m:t>
                        </m:r>
                        <m:r>
                          <a:rPr lang="en-US" altLang="zh-CN" sz="1008" i="1">
                            <a:solidFill>
                              <a:prstClr val="black"/>
                            </a:solidFill>
                            <a:latin typeface="Cambria Math" panose="02040503050406030204" pitchFamily="18" charset="0"/>
                          </a:rPr>
                          <m:t>=−</m:t>
                        </m:r>
                        <m:r>
                          <a:rPr lang="zh-CN" altLang="en-US" sz="1008" i="1">
                            <a:solidFill>
                              <a:prstClr val="black"/>
                            </a:solidFill>
                            <a:latin typeface="Cambria Math" panose="02040503050406030204" pitchFamily="18" charset="0"/>
                          </a:rPr>
                          <m:t>𝛼</m:t>
                        </m:r>
                        <m:r>
                          <a:rPr lang="en-US" altLang="zh-CN" sz="1008" i="1">
                            <a:solidFill>
                              <a:prstClr val="black"/>
                            </a:solidFill>
                            <a:latin typeface="Cambria Math" panose="02040503050406030204" pitchFamily="18" charset="0"/>
                          </a:rPr>
                          <m:t>+</m:t>
                        </m:r>
                        <m:d>
                          <m:dPr>
                            <m:ctrlPr>
                              <a:rPr lang="en-US" altLang="zh-CN" sz="1008" i="1">
                                <a:solidFill>
                                  <a:prstClr val="black"/>
                                </a:solidFill>
                                <a:latin typeface="Cambria Math" panose="02040503050406030204" pitchFamily="18" charset="0"/>
                              </a:rPr>
                            </m:ctrlPr>
                          </m:dPr>
                          <m:e>
                            <m:r>
                              <a:rPr lang="en-US" altLang="zh-CN" sz="1008" i="1">
                                <a:solidFill>
                                  <a:prstClr val="black"/>
                                </a:solidFill>
                                <a:latin typeface="Cambria Math" panose="02040503050406030204" pitchFamily="18" charset="0"/>
                              </a:rPr>
                              <m:t>1−</m:t>
                            </m:r>
                            <m:r>
                              <a:rPr lang="zh-CN" altLang="en-US" sz="1008" i="1">
                                <a:solidFill>
                                  <a:prstClr val="black"/>
                                </a:solidFill>
                                <a:latin typeface="Cambria Math" panose="02040503050406030204" pitchFamily="18" charset="0"/>
                              </a:rPr>
                              <m:t>𝛽</m:t>
                            </m:r>
                          </m:e>
                        </m:d>
                        <m:r>
                          <a:rPr lang="en-US" altLang="zh-CN" sz="1008" i="1">
                            <a:solidFill>
                              <a:prstClr val="black"/>
                            </a:solidFill>
                            <a:latin typeface="Cambria Math" panose="02040503050406030204" pitchFamily="18" charset="0"/>
                          </a:rPr>
                          <m:t>𝑦</m:t>
                        </m:r>
                      </m:oMath>
                    </m:oMathPara>
                  </a14:m>
                  <a:endParaRPr lang="en-US" altLang="zh-CN" sz="1008" dirty="0">
                    <a:solidFill>
                      <a:prstClr val="black"/>
                    </a:solidFill>
                    <a:latin typeface="Calibri" panose="020F0502020204030204"/>
                    <a:ea typeface="等线" panose="02010600030101010101" pitchFamily="2" charset="-122"/>
                  </a:endParaRPr>
                </a:p>
              </p:txBody>
            </p:sp>
          </mc:Choice>
          <mc:Fallback xmlns="">
            <p:sp>
              <p:nvSpPr>
                <p:cNvPr id="6" name="矩形 5">
                  <a:extLst>
                    <a:ext uri="{FF2B5EF4-FFF2-40B4-BE49-F238E27FC236}">
                      <a16:creationId xmlns:a16="http://schemas.microsoft.com/office/drawing/2014/main" id="{AD166210-85C9-02E6-EF58-8EE46111DF2E}"/>
                    </a:ext>
                  </a:extLst>
                </p:cNvPr>
                <p:cNvSpPr>
                  <a:spLocks noRot="1" noChangeAspect="1" noMove="1" noResize="1" noEditPoints="1" noAdjustHandles="1" noChangeArrowheads="1" noChangeShapeType="1" noTextEdit="1"/>
                </p:cNvSpPr>
                <p:nvPr/>
              </p:nvSpPr>
              <p:spPr>
                <a:xfrm>
                  <a:off x="2066197" y="1329431"/>
                  <a:ext cx="2507999" cy="490790"/>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05A53036-2EF4-05DC-AC34-60672E34D818}"/>
                    </a:ext>
                  </a:extLst>
                </p:cNvPr>
                <p:cNvSpPr/>
                <p:nvPr/>
              </p:nvSpPr>
              <p:spPr>
                <a:xfrm>
                  <a:off x="3693911" y="2576358"/>
                  <a:ext cx="571040" cy="490790"/>
                </a:xfrm>
                <a:prstGeom prst="rect">
                  <a:avLst/>
                </a:prstGeom>
              </p:spPr>
              <p:txBody>
                <a:bodyPr wrap="none">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08" i="1">
                            <a:solidFill>
                              <a:prstClr val="black"/>
                            </a:solidFill>
                            <a:latin typeface="Cambria Math" panose="02040503050406030204" pitchFamily="18" charset="0"/>
                          </a:rPr>
                          <m:t>𝑦</m:t>
                        </m:r>
                      </m:oMath>
                    </m:oMathPara>
                  </a14:m>
                  <a:endParaRPr lang="zh-CN" altLang="en-US" sz="1008" dirty="0">
                    <a:solidFill>
                      <a:prstClr val="black"/>
                    </a:solidFill>
                    <a:latin typeface="Calibri" panose="020F0502020204030204"/>
                    <a:ea typeface="等线" panose="02010600030101010101" pitchFamily="2" charset="-122"/>
                  </a:endParaRPr>
                </a:p>
              </p:txBody>
            </p:sp>
          </mc:Choice>
          <mc:Fallback xmlns="">
            <p:sp>
              <p:nvSpPr>
                <p:cNvPr id="7" name="矩形 6">
                  <a:extLst>
                    <a:ext uri="{FF2B5EF4-FFF2-40B4-BE49-F238E27FC236}">
                      <a16:creationId xmlns:a16="http://schemas.microsoft.com/office/drawing/2014/main" id="{05A53036-2EF4-05DC-AC34-60672E34D818}"/>
                    </a:ext>
                  </a:extLst>
                </p:cNvPr>
                <p:cNvSpPr>
                  <a:spLocks noRot="1" noChangeAspect="1" noMove="1" noResize="1" noEditPoints="1" noAdjustHandles="1" noChangeArrowheads="1" noChangeShapeType="1" noTextEdit="1"/>
                </p:cNvSpPr>
                <p:nvPr/>
              </p:nvSpPr>
              <p:spPr>
                <a:xfrm>
                  <a:off x="3693911" y="2576358"/>
                  <a:ext cx="571040" cy="490790"/>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3207AB90-7611-8EB2-5426-AD09167AED8F}"/>
                    </a:ext>
                  </a:extLst>
                </p:cNvPr>
                <p:cNvSpPr/>
                <p:nvPr/>
              </p:nvSpPr>
              <p:spPr>
                <a:xfrm>
                  <a:off x="656308" y="2599063"/>
                  <a:ext cx="566591" cy="490790"/>
                </a:xfrm>
                <a:prstGeom prst="rect">
                  <a:avLst/>
                </a:prstGeom>
              </p:spPr>
              <p:txBody>
                <a:bodyPr wrap="none">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08" i="1">
                            <a:solidFill>
                              <a:prstClr val="black"/>
                            </a:solidFill>
                            <a:latin typeface="Cambria Math" panose="02040503050406030204" pitchFamily="18" charset="0"/>
                          </a:rPr>
                          <m:t>0</m:t>
                        </m:r>
                      </m:oMath>
                    </m:oMathPara>
                  </a14:m>
                  <a:endParaRPr lang="zh-CN" altLang="en-US" sz="1008" dirty="0">
                    <a:solidFill>
                      <a:prstClr val="black"/>
                    </a:solidFill>
                    <a:latin typeface="Calibri" panose="020F0502020204030204"/>
                    <a:ea typeface="等线" panose="02010600030101010101" pitchFamily="2" charset="-122"/>
                  </a:endParaRPr>
                </a:p>
              </p:txBody>
            </p:sp>
          </mc:Choice>
          <mc:Fallback xmlns="">
            <p:sp>
              <p:nvSpPr>
                <p:cNvPr id="9" name="矩形 8">
                  <a:extLst>
                    <a:ext uri="{FF2B5EF4-FFF2-40B4-BE49-F238E27FC236}">
                      <a16:creationId xmlns:a16="http://schemas.microsoft.com/office/drawing/2014/main" id="{3207AB90-7611-8EB2-5426-AD09167AED8F}"/>
                    </a:ext>
                  </a:extLst>
                </p:cNvPr>
                <p:cNvSpPr>
                  <a:spLocks noRot="1" noChangeAspect="1" noMove="1" noResize="1" noEditPoints="1" noAdjustHandles="1" noChangeArrowheads="1" noChangeShapeType="1" noTextEdit="1"/>
                </p:cNvSpPr>
                <p:nvPr/>
              </p:nvSpPr>
              <p:spPr>
                <a:xfrm>
                  <a:off x="656308" y="2599063"/>
                  <a:ext cx="566591" cy="490790"/>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id="{B5A299A9-491E-B20C-A8BF-555889387905}"/>
                    </a:ext>
                  </a:extLst>
                </p:cNvPr>
                <p:cNvSpPr/>
                <p:nvPr/>
              </p:nvSpPr>
              <p:spPr>
                <a:xfrm>
                  <a:off x="656308" y="1162034"/>
                  <a:ext cx="546367" cy="490790"/>
                </a:xfrm>
                <a:prstGeom prst="rect">
                  <a:avLst/>
                </a:prstGeom>
              </p:spPr>
              <p:txBody>
                <a:bodyPr wrap="none">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08" i="1">
                            <a:solidFill>
                              <a:prstClr val="black"/>
                            </a:solidFill>
                            <a:latin typeface="Cambria Math" panose="02040503050406030204" pitchFamily="18" charset="0"/>
                          </a:rPr>
                          <m:t>𝑠</m:t>
                        </m:r>
                      </m:oMath>
                    </m:oMathPara>
                  </a14:m>
                  <a:endParaRPr lang="zh-CN" altLang="en-US" sz="1008" dirty="0">
                    <a:solidFill>
                      <a:prstClr val="black"/>
                    </a:solidFill>
                    <a:latin typeface="Calibri" panose="020F0502020204030204"/>
                    <a:ea typeface="等线" panose="02010600030101010101" pitchFamily="2" charset="-122"/>
                  </a:endParaRPr>
                </a:p>
              </p:txBody>
            </p:sp>
          </mc:Choice>
          <mc:Fallback xmlns="">
            <p:sp>
              <p:nvSpPr>
                <p:cNvPr id="18" name="矩形 17">
                  <a:extLst>
                    <a:ext uri="{FF2B5EF4-FFF2-40B4-BE49-F238E27FC236}">
                      <a16:creationId xmlns:a16="http://schemas.microsoft.com/office/drawing/2014/main" id="{B5A299A9-491E-B20C-A8BF-555889387905}"/>
                    </a:ext>
                  </a:extLst>
                </p:cNvPr>
                <p:cNvSpPr>
                  <a:spLocks noRot="1" noChangeAspect="1" noMove="1" noResize="1" noEditPoints="1" noAdjustHandles="1" noChangeArrowheads="1" noChangeShapeType="1" noTextEdit="1"/>
                </p:cNvSpPr>
                <p:nvPr/>
              </p:nvSpPr>
              <p:spPr>
                <a:xfrm>
                  <a:off x="656308" y="1162034"/>
                  <a:ext cx="546367" cy="490790"/>
                </a:xfrm>
                <a:prstGeom prst="rect">
                  <a:avLst/>
                </a:prstGeom>
                <a:blipFill>
                  <a:blip r:embed="rId9"/>
                  <a:stretch>
                    <a:fillRect/>
                  </a:stretch>
                </a:blipFill>
              </p:spPr>
              <p:txBody>
                <a:bodyPr/>
                <a:lstStyle/>
                <a:p>
                  <a:r>
                    <a:rPr lang="zh-CN" altLang="en-US">
                      <a:noFill/>
                    </a:rPr>
                    <a:t> </a:t>
                  </a:r>
                </a:p>
              </p:txBody>
            </p:sp>
          </mc:Fallback>
        </mc:AlternateContent>
        <p:cxnSp>
          <p:nvCxnSpPr>
            <p:cNvPr id="23" name="直接连接符 23">
              <a:extLst>
                <a:ext uri="{FF2B5EF4-FFF2-40B4-BE49-F238E27FC236}">
                  <a16:creationId xmlns:a16="http://schemas.microsoft.com/office/drawing/2014/main" id="{C3D43A05-9F7C-FBF5-5871-A45463F0AA99}"/>
                </a:ext>
              </a:extLst>
            </p:cNvPr>
            <p:cNvCxnSpPr/>
            <p:nvPr/>
          </p:nvCxnSpPr>
          <p:spPr>
            <a:xfrm flipV="1">
              <a:off x="994911" y="1675283"/>
              <a:ext cx="2434393" cy="1556240"/>
            </a:xfrm>
            <a:prstGeom prst="line">
              <a:avLst/>
            </a:prstGeom>
            <a:ln w="25400">
              <a:solidFill>
                <a:srgbClr val="0070C0"/>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9" name="矩形 28">
                  <a:extLst>
                    <a:ext uri="{FF2B5EF4-FFF2-40B4-BE49-F238E27FC236}">
                      <a16:creationId xmlns:a16="http://schemas.microsoft.com/office/drawing/2014/main" id="{E31E58A6-4100-4EA3-3D3E-8A2FFB2DEB27}"/>
                    </a:ext>
                  </a:extLst>
                </p:cNvPr>
                <p:cNvSpPr/>
                <p:nvPr/>
              </p:nvSpPr>
              <p:spPr>
                <a:xfrm>
                  <a:off x="522479" y="3057889"/>
                  <a:ext cx="774657" cy="490790"/>
                </a:xfrm>
                <a:prstGeom prst="rect">
                  <a:avLst/>
                </a:prstGeom>
              </p:spPr>
              <p:txBody>
                <a:bodyPr wrap="none">
                  <a:spAutoFit/>
                </a:bodyPr>
                <a:lstStyle/>
                <a:p>
                  <a:pPr defTabSz="230520">
                    <a:defRPr/>
                  </a:pPr>
                  <a14:m>
                    <m:oMathPara xmlns:m="http://schemas.openxmlformats.org/officeDocument/2006/math">
                      <m:oMathParaPr>
                        <m:jc m:val="centerGroup"/>
                      </m:oMathParaPr>
                      <m:oMath xmlns:m="http://schemas.openxmlformats.org/officeDocument/2006/math">
                        <m:r>
                          <a:rPr lang="en-US" altLang="zh-CN" sz="1008" i="1">
                            <a:solidFill>
                              <a:prstClr val="black"/>
                            </a:solidFill>
                            <a:latin typeface="Cambria Math" panose="02040503050406030204" pitchFamily="18" charset="0"/>
                          </a:rPr>
                          <m:t>−</m:t>
                        </m:r>
                        <m:r>
                          <a:rPr lang="zh-CN" altLang="en-US" sz="1008" i="1">
                            <a:solidFill>
                              <a:prstClr val="black"/>
                            </a:solidFill>
                            <a:latin typeface="Cambria Math" panose="02040503050406030204" pitchFamily="18" charset="0"/>
                          </a:rPr>
                          <m:t>𝛼</m:t>
                        </m:r>
                      </m:oMath>
                    </m:oMathPara>
                  </a14:m>
                  <a:endParaRPr lang="zh-CN" altLang="en-US" sz="1008" dirty="0">
                    <a:solidFill>
                      <a:prstClr val="black"/>
                    </a:solidFill>
                    <a:latin typeface="Calibri" panose="020F0502020204030204"/>
                    <a:ea typeface="等线" panose="02010600030101010101" pitchFamily="2" charset="-122"/>
                  </a:endParaRPr>
                </a:p>
              </p:txBody>
            </p:sp>
          </mc:Choice>
          <mc:Fallback xmlns="">
            <p:sp>
              <p:nvSpPr>
                <p:cNvPr id="29" name="矩形 28">
                  <a:extLst>
                    <a:ext uri="{FF2B5EF4-FFF2-40B4-BE49-F238E27FC236}">
                      <a16:creationId xmlns:a16="http://schemas.microsoft.com/office/drawing/2014/main" id="{E31E58A6-4100-4EA3-3D3E-8A2FFB2DEB27}"/>
                    </a:ext>
                  </a:extLst>
                </p:cNvPr>
                <p:cNvSpPr>
                  <a:spLocks noRot="1" noChangeAspect="1" noMove="1" noResize="1" noEditPoints="1" noAdjustHandles="1" noChangeArrowheads="1" noChangeShapeType="1" noTextEdit="1"/>
                </p:cNvSpPr>
                <p:nvPr/>
              </p:nvSpPr>
              <p:spPr>
                <a:xfrm>
                  <a:off x="522479" y="3057889"/>
                  <a:ext cx="774657" cy="490790"/>
                </a:xfrm>
                <a:prstGeom prst="rect">
                  <a:avLst/>
                </a:prstGeom>
                <a:blipFill>
                  <a:blip r:embed="rId10"/>
                  <a:stretch>
                    <a:fillRect/>
                  </a:stretch>
                </a:blipFill>
              </p:spPr>
              <p:txBody>
                <a:bodyPr/>
                <a:lstStyle/>
                <a:p>
                  <a:r>
                    <a:rPr lang="zh-CN" altLang="en-US">
                      <a:noFill/>
                    </a:rPr>
                    <a:t> </a:t>
                  </a:r>
                </a:p>
              </p:txBody>
            </p:sp>
          </mc:Fallback>
        </mc:AlternateContent>
      </p:grpSp>
      <p:sp>
        <p:nvSpPr>
          <p:cNvPr id="33" name="Text Box 5">
            <a:extLst>
              <a:ext uri="{FF2B5EF4-FFF2-40B4-BE49-F238E27FC236}">
                <a16:creationId xmlns:a16="http://schemas.microsoft.com/office/drawing/2014/main" id="{F2E4D417-E6B9-DBF6-D49B-D0D46BFFD764}"/>
              </a:ext>
            </a:extLst>
          </p:cNvPr>
          <p:cNvSpPr txBox="1">
            <a:spLocks noChangeArrowheads="1"/>
          </p:cNvSpPr>
          <p:nvPr/>
        </p:nvSpPr>
        <p:spPr bwMode="auto">
          <a:xfrm>
            <a:off x="172879" y="2341589"/>
            <a:ext cx="2385451" cy="247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defTabSz="230520">
              <a:spcBef>
                <a:spcPct val="50000"/>
              </a:spcBef>
              <a:defRPr/>
            </a:pPr>
            <a:r>
              <a:rPr lang="zh-CN" altLang="en-US" sz="1008" b="1" dirty="0">
                <a:solidFill>
                  <a:prstClr val="black"/>
                </a:solidFill>
                <a:latin typeface="KaiTi" panose="02010609060101010101" pitchFamily="49" charset="-122"/>
                <a:ea typeface="KaiTi" panose="02010609060101010101" pitchFamily="49" charset="-122"/>
              </a:rPr>
              <a:t>线性储蓄曲线</a:t>
            </a:r>
          </a:p>
        </p:txBody>
      </p:sp>
      <p:sp>
        <p:nvSpPr>
          <p:cNvPr id="34" name="Text Box 5">
            <a:extLst>
              <a:ext uri="{FF2B5EF4-FFF2-40B4-BE49-F238E27FC236}">
                <a16:creationId xmlns:a16="http://schemas.microsoft.com/office/drawing/2014/main" id="{DF3303BF-9562-7AC7-B36A-598D56EFE047}"/>
              </a:ext>
            </a:extLst>
          </p:cNvPr>
          <p:cNvSpPr txBox="1">
            <a:spLocks noChangeArrowheads="1"/>
          </p:cNvSpPr>
          <p:nvPr/>
        </p:nvSpPr>
        <p:spPr bwMode="auto">
          <a:xfrm>
            <a:off x="2154894" y="2334184"/>
            <a:ext cx="2385451" cy="247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defTabSz="230520">
              <a:spcBef>
                <a:spcPct val="50000"/>
              </a:spcBef>
              <a:defRPr/>
            </a:pPr>
            <a:r>
              <a:rPr lang="zh-CN" altLang="en-US" sz="1008" b="1" dirty="0">
                <a:solidFill>
                  <a:prstClr val="black"/>
                </a:solidFill>
                <a:latin typeface="KaiTi" panose="02010609060101010101" pitchFamily="49" charset="-122"/>
                <a:ea typeface="KaiTi" panose="02010609060101010101" pitchFamily="49" charset="-122"/>
              </a:rPr>
              <a:t>非线性储蓄曲线</a:t>
            </a:r>
          </a:p>
        </p:txBody>
      </p:sp>
      <p:sp>
        <p:nvSpPr>
          <p:cNvPr id="35" name="灯片编号占位符 2">
            <a:extLst>
              <a:ext uri="{FF2B5EF4-FFF2-40B4-BE49-F238E27FC236}">
                <a16:creationId xmlns:a16="http://schemas.microsoft.com/office/drawing/2014/main" id="{A4619B69-94FD-8659-4762-FF7FB0FE9148}"/>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47</a:t>
            </a:fld>
            <a:endParaRPr lang="zh-CN" altLang="zh-CN" sz="856">
              <a:solidFill>
                <a:srgbClr val="777777"/>
              </a:solidFill>
              <a:ea typeface="宋体" panose="02010600030101010101" pitchFamily="2" charset="-122"/>
            </a:endParaRPr>
          </a:p>
        </p:txBody>
      </p:sp>
      <p:sp>
        <p:nvSpPr>
          <p:cNvPr id="2" name="页脚占位符 1">
            <a:extLst>
              <a:ext uri="{FF2B5EF4-FFF2-40B4-BE49-F238E27FC236}">
                <a16:creationId xmlns:a16="http://schemas.microsoft.com/office/drawing/2014/main" id="{C97A0305-F5E3-5427-C49F-CBE49D43EE8A}"/>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806421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wipe(left)">
                                      <p:cBhvr>
                                        <p:cTn id="12" dur="500"/>
                                        <p:tgtEl>
                                          <p:spTgt spid="3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wipe(left)">
                                      <p:cBhvr>
                                        <p:cTn id="17" dur="500"/>
                                        <p:tgtEl>
                                          <p:spTgt spid="33"/>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34"/>
                                        </p:tgtEl>
                                        <p:attrNameLst>
                                          <p:attrName>style.visibility</p:attrName>
                                        </p:attrNameLst>
                                      </p:cBhvr>
                                      <p:to>
                                        <p:strVal val="visible"/>
                                      </p:to>
                                    </p:set>
                                    <p:animEffect transition="in" filter="wipe(left)">
                                      <p:cBhvr>
                                        <p:cTn id="20"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832" name="Group 64"/>
          <p:cNvGraphicFramePr>
            <a:graphicFrameLocks noGrp="1"/>
          </p:cNvGraphicFramePr>
          <p:nvPr>
            <p:ph idx="1"/>
            <p:extLst>
              <p:ext uri="{D42A27DB-BD31-4B8C-83A1-F6EECF244321}">
                <p14:modId xmlns:p14="http://schemas.microsoft.com/office/powerpoint/2010/main" val="314730790"/>
              </p:ext>
            </p:extLst>
          </p:nvPr>
        </p:nvGraphicFramePr>
        <p:xfrm>
          <a:off x="230366" y="691935"/>
          <a:ext cx="4206855" cy="2639968"/>
        </p:xfrm>
        <a:graphic>
          <a:graphicData uri="http://schemas.openxmlformats.org/drawingml/2006/table">
            <a:tbl>
              <a:tblPr/>
              <a:tblGrid>
                <a:gridCol w="225496">
                  <a:extLst>
                    <a:ext uri="{9D8B030D-6E8A-4147-A177-3AD203B41FA5}">
                      <a16:colId xmlns:a16="http://schemas.microsoft.com/office/drawing/2014/main" val="3992406436"/>
                    </a:ext>
                  </a:extLst>
                </a:gridCol>
                <a:gridCol w="750852">
                  <a:extLst>
                    <a:ext uri="{9D8B030D-6E8A-4147-A177-3AD203B41FA5}">
                      <a16:colId xmlns:a16="http://schemas.microsoft.com/office/drawing/2014/main" val="2729380484"/>
                    </a:ext>
                  </a:extLst>
                </a:gridCol>
                <a:gridCol w="750853">
                  <a:extLst>
                    <a:ext uri="{9D8B030D-6E8A-4147-A177-3AD203B41FA5}">
                      <a16:colId xmlns:a16="http://schemas.microsoft.com/office/drawing/2014/main" val="446103034"/>
                    </a:ext>
                  </a:extLst>
                </a:gridCol>
                <a:gridCol w="789235">
                  <a:extLst>
                    <a:ext uri="{9D8B030D-6E8A-4147-A177-3AD203B41FA5}">
                      <a16:colId xmlns:a16="http://schemas.microsoft.com/office/drawing/2014/main" val="2422633292"/>
                    </a:ext>
                  </a:extLst>
                </a:gridCol>
                <a:gridCol w="863601">
                  <a:extLst>
                    <a:ext uri="{9D8B030D-6E8A-4147-A177-3AD203B41FA5}">
                      <a16:colId xmlns:a16="http://schemas.microsoft.com/office/drawing/2014/main" val="631388188"/>
                    </a:ext>
                  </a:extLst>
                </a:gridCol>
                <a:gridCol w="826818">
                  <a:extLst>
                    <a:ext uri="{9D8B030D-6E8A-4147-A177-3AD203B41FA5}">
                      <a16:colId xmlns:a16="http://schemas.microsoft.com/office/drawing/2014/main" val="170197805"/>
                    </a:ext>
                  </a:extLst>
                </a:gridCol>
              </a:tblGrid>
              <a:tr h="464042">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en-US" sz="1400" b="0"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txBody>
                  <a:tcPr marL="46059" marR="46059" marT="23030" marB="230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r>
                        <a:rPr kumimoji="0" lang="en-US" altLang="zh-CN"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1</a:t>
                      </a: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收入</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r>
                        <a:rPr kumimoji="0" lang="en-US" altLang="zh-CN"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y</a:t>
                      </a: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r>
                        <a:rPr kumimoji="0" lang="en-US" altLang="zh-CN"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2</a:t>
                      </a: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消费</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r>
                        <a:rPr kumimoji="0" lang="en-US" altLang="zh-CN"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c</a:t>
                      </a: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endParaRPr kumimoji="0" lang="en-US" altLang="zh-CN"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r>
                        <a:rPr kumimoji="0" lang="en-US" altLang="zh-CN"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3</a:t>
                      </a: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储蓄</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 </a:t>
                      </a:r>
                      <a:r>
                        <a:rPr kumimoji="0" lang="en-US" altLang="zh-CN"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s</a:t>
                      </a: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 ）</a:t>
                      </a: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r>
                        <a:rPr kumimoji="0" lang="en-US" altLang="zh-CN"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4</a:t>
                      </a: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边际储蓄倾向</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r>
                        <a:rPr kumimoji="0" lang="en-US" altLang="zh-CN"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MPS</a:t>
                      </a: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r>
                        <a:rPr kumimoji="0" lang="en-US" altLang="zh-CN"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5</a:t>
                      </a: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平均储蓄倾向</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r>
                        <a:rPr kumimoji="0" lang="en-US" altLang="zh-CN"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APS</a:t>
                      </a:r>
                      <a:r>
                        <a:rPr kumimoji="0" lang="zh-CN" altLang="en-US" sz="800" b="0" i="0" u="none" strike="noStrike" cap="none" normalizeH="0" baseline="0" dirty="0">
                          <a:ln>
                            <a:noFill/>
                          </a:ln>
                          <a:solidFill>
                            <a:schemeClr val="bg1"/>
                          </a:solidFill>
                          <a:effectLst/>
                          <a:latin typeface="Arial" panose="020B0604020202020204" pitchFamily="34" charset="0"/>
                          <a:ea typeface="宋体" panose="02010600030101010101" pitchFamily="2" charset="-122"/>
                        </a:rPr>
                        <a:t>）</a:t>
                      </a:r>
                    </a:p>
                  </a:txBody>
                  <a:tcPr marL="46059" marR="46059" marT="23030" marB="230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6"/>
                    </a:solidFill>
                  </a:tcPr>
                </a:tc>
                <a:extLst>
                  <a:ext uri="{0D108BD9-81ED-4DB2-BD59-A6C34878D82A}">
                    <a16:rowId xmlns:a16="http://schemas.microsoft.com/office/drawing/2014/main" val="3663860306"/>
                  </a:ext>
                </a:extLst>
              </a:tr>
              <a:tr h="2175926">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A</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B</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C</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D</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E</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F</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G</a:t>
                      </a:r>
                    </a:p>
                  </a:txBody>
                  <a:tcPr marL="46059" marR="46059" marT="23030" marB="230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9000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10000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11000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12000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13000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14000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15000</a:t>
                      </a: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9110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10000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10850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11600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12240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12830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13360</a:t>
                      </a: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-110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150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400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760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1170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a:ln>
                            <a:noFill/>
                          </a:ln>
                          <a:solidFill>
                            <a:schemeClr val="tx1"/>
                          </a:solidFill>
                          <a:effectLst/>
                          <a:latin typeface="Arial" panose="020B0604020202020204" pitchFamily="34" charset="0"/>
                          <a:ea typeface="宋体" panose="02010600030101010101" pitchFamily="2" charset="-122"/>
                        </a:rPr>
                        <a:t>1640</a:t>
                      </a: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46059" marR="46059" marT="23030" marB="230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19940547"/>
                  </a:ext>
                </a:extLst>
              </a:tr>
            </a:tbl>
          </a:graphicData>
        </a:graphic>
      </p:graphicFrame>
      <p:sp>
        <p:nvSpPr>
          <p:cNvPr id="2" name="文本框 1">
            <a:extLst>
              <a:ext uri="{FF2B5EF4-FFF2-40B4-BE49-F238E27FC236}">
                <a16:creationId xmlns:a16="http://schemas.microsoft.com/office/drawing/2014/main" id="{59B31BCF-2E9D-B644-8463-CC75403F8C9D}"/>
              </a:ext>
            </a:extLst>
          </p:cNvPr>
          <p:cNvSpPr txBox="1"/>
          <p:nvPr/>
        </p:nvSpPr>
        <p:spPr>
          <a:xfrm>
            <a:off x="172879" y="444495"/>
            <a:ext cx="4036518" cy="247440"/>
          </a:xfrm>
          <a:prstGeom prst="rect">
            <a:avLst/>
          </a:prstGeom>
          <a:noFill/>
        </p:spPr>
        <p:txBody>
          <a:bodyPr wrap="square">
            <a:spAutoFit/>
          </a:bodyPr>
          <a:lstStyle/>
          <a:p>
            <a:pPr algn="ctr"/>
            <a:r>
              <a:rPr lang="zh-CN" altLang="en-US" sz="1008" b="1" dirty="0">
                <a:latin typeface="Garamond" panose="02020404030301010803" pitchFamily="18" charset="0"/>
                <a:ea typeface="KaiTi" panose="02010609060101010101" pitchFamily="49" charset="-122"/>
              </a:rPr>
              <a:t>表</a:t>
            </a:r>
            <a:r>
              <a:rPr lang="en-US" altLang="zh-CN" sz="1008" b="1" dirty="0">
                <a:latin typeface="Garamond" panose="02020404030301010803" pitchFamily="18" charset="0"/>
                <a:ea typeface="KaiTi" panose="02010609060101010101" pitchFamily="49" charset="-122"/>
              </a:rPr>
              <a:t>3</a:t>
            </a:r>
            <a:r>
              <a:rPr lang="zh-CN" altLang="en-US" sz="1008" b="1" dirty="0">
                <a:latin typeface="Garamond" panose="02020404030301010803" pitchFamily="18" charset="0"/>
                <a:ea typeface="KaiTi" panose="02010609060101010101" pitchFamily="49" charset="-122"/>
              </a:rPr>
              <a:t>：某家户储蓄表（单位：元）</a:t>
            </a:r>
          </a:p>
        </p:txBody>
      </p:sp>
      <p:sp>
        <p:nvSpPr>
          <p:cNvPr id="6" name="文本框 5">
            <a:extLst>
              <a:ext uri="{FF2B5EF4-FFF2-40B4-BE49-F238E27FC236}">
                <a16:creationId xmlns:a16="http://schemas.microsoft.com/office/drawing/2014/main" id="{CB510D73-211C-07B9-2215-A8DA31084310}"/>
              </a:ext>
            </a:extLst>
          </p:cNvPr>
          <p:cNvSpPr txBox="1"/>
          <p:nvPr/>
        </p:nvSpPr>
        <p:spPr>
          <a:xfrm>
            <a:off x="2806170" y="1284486"/>
            <a:ext cx="718318" cy="1908792"/>
          </a:xfrm>
          <a:prstGeom prst="rect">
            <a:avLst/>
          </a:prstGeom>
          <a:noFill/>
        </p:spPr>
        <p:txBody>
          <a:bodyPr wrap="square">
            <a:spAutoFit/>
          </a:bodyPr>
          <a:lstStyle/>
          <a:p>
            <a:pPr algn="ctr" defTabSz="461040" fontAlgn="base">
              <a:spcBef>
                <a:spcPct val="20000"/>
              </a:spcBef>
              <a:spcAft>
                <a:spcPct val="0"/>
              </a:spcAft>
              <a:buClr>
                <a:schemeClr val="hlink"/>
              </a:buClr>
            </a:pPr>
            <a:r>
              <a:rPr lang="en-US" altLang="zh-CN" sz="908" dirty="0">
                <a:solidFill>
                  <a:srgbClr val="FF0000"/>
                </a:solidFill>
                <a:latin typeface="Arial" panose="020B0604020202020204" pitchFamily="34" charset="0"/>
                <a:ea typeface="宋体" panose="02010600030101010101" pitchFamily="2" charset="-122"/>
              </a:rPr>
              <a:t>0.11</a:t>
            </a:r>
          </a:p>
          <a:p>
            <a:pPr algn="ctr" defTabSz="461040" fontAlgn="base">
              <a:spcBef>
                <a:spcPct val="20000"/>
              </a:spcBef>
              <a:spcAft>
                <a:spcPct val="0"/>
              </a:spcAft>
              <a:buClr>
                <a:schemeClr val="hlink"/>
              </a:buClr>
            </a:pPr>
            <a:endParaRPr lang="en-US" altLang="zh-CN" sz="908" dirty="0">
              <a:solidFill>
                <a:srgbClr val="FF0000"/>
              </a:solidFill>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solidFill>
                  <a:srgbClr val="FF0000"/>
                </a:solidFill>
                <a:latin typeface="Arial" panose="020B0604020202020204" pitchFamily="34" charset="0"/>
                <a:ea typeface="宋体" panose="02010600030101010101" pitchFamily="2" charset="-122"/>
              </a:rPr>
              <a:t>0.15</a:t>
            </a:r>
          </a:p>
          <a:p>
            <a:pPr algn="ctr" defTabSz="461040" fontAlgn="base">
              <a:spcBef>
                <a:spcPct val="20000"/>
              </a:spcBef>
              <a:spcAft>
                <a:spcPct val="0"/>
              </a:spcAft>
              <a:buClr>
                <a:schemeClr val="hlink"/>
              </a:buClr>
            </a:pPr>
            <a:endParaRPr lang="en-US" altLang="zh-CN" sz="908" dirty="0">
              <a:solidFill>
                <a:srgbClr val="FF0000"/>
              </a:solidFill>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solidFill>
                  <a:srgbClr val="FF0000"/>
                </a:solidFill>
                <a:latin typeface="Arial" panose="020B0604020202020204" pitchFamily="34" charset="0"/>
                <a:ea typeface="宋体" panose="02010600030101010101" pitchFamily="2" charset="-122"/>
              </a:rPr>
              <a:t>0.25</a:t>
            </a:r>
          </a:p>
          <a:p>
            <a:pPr algn="ctr" defTabSz="461040" fontAlgn="base">
              <a:spcBef>
                <a:spcPct val="20000"/>
              </a:spcBef>
              <a:spcAft>
                <a:spcPct val="0"/>
              </a:spcAft>
              <a:buClr>
                <a:schemeClr val="hlink"/>
              </a:buClr>
            </a:pPr>
            <a:endParaRPr lang="en-US" altLang="zh-CN" sz="908" dirty="0">
              <a:solidFill>
                <a:srgbClr val="FF0000"/>
              </a:solidFill>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solidFill>
                  <a:srgbClr val="FF0000"/>
                </a:solidFill>
                <a:latin typeface="Arial" panose="020B0604020202020204" pitchFamily="34" charset="0"/>
                <a:ea typeface="宋体" panose="02010600030101010101" pitchFamily="2" charset="-122"/>
              </a:rPr>
              <a:t>0.36</a:t>
            </a:r>
          </a:p>
          <a:p>
            <a:pPr algn="ctr" defTabSz="461040" fontAlgn="base">
              <a:spcBef>
                <a:spcPct val="20000"/>
              </a:spcBef>
              <a:spcAft>
                <a:spcPct val="0"/>
              </a:spcAft>
              <a:buClr>
                <a:schemeClr val="hlink"/>
              </a:buClr>
            </a:pPr>
            <a:endParaRPr lang="en-US" altLang="zh-CN" sz="908" dirty="0">
              <a:solidFill>
                <a:srgbClr val="FF0000"/>
              </a:solidFill>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solidFill>
                  <a:srgbClr val="FF0000"/>
                </a:solidFill>
                <a:latin typeface="Arial" panose="020B0604020202020204" pitchFamily="34" charset="0"/>
                <a:ea typeface="宋体" panose="02010600030101010101" pitchFamily="2" charset="-122"/>
              </a:rPr>
              <a:t>0.41</a:t>
            </a:r>
          </a:p>
          <a:p>
            <a:pPr algn="ctr" defTabSz="461040" fontAlgn="base">
              <a:spcBef>
                <a:spcPct val="20000"/>
              </a:spcBef>
              <a:spcAft>
                <a:spcPct val="0"/>
              </a:spcAft>
              <a:buClr>
                <a:schemeClr val="hlink"/>
              </a:buClr>
            </a:pPr>
            <a:endParaRPr lang="en-US" altLang="zh-CN" sz="908" dirty="0">
              <a:solidFill>
                <a:srgbClr val="FF0000"/>
              </a:solidFill>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solidFill>
                  <a:srgbClr val="FF0000"/>
                </a:solidFill>
                <a:latin typeface="Arial" panose="020B0604020202020204" pitchFamily="34" charset="0"/>
                <a:ea typeface="宋体" panose="02010600030101010101" pitchFamily="2" charset="-122"/>
              </a:rPr>
              <a:t>0.47</a:t>
            </a:r>
          </a:p>
        </p:txBody>
      </p:sp>
      <p:sp>
        <p:nvSpPr>
          <p:cNvPr id="8" name="文本框 7">
            <a:extLst>
              <a:ext uri="{FF2B5EF4-FFF2-40B4-BE49-F238E27FC236}">
                <a16:creationId xmlns:a16="http://schemas.microsoft.com/office/drawing/2014/main" id="{411D1D00-BA2E-62B2-7BBE-91BAB88C2A7B}"/>
              </a:ext>
            </a:extLst>
          </p:cNvPr>
          <p:cNvSpPr txBox="1"/>
          <p:nvPr/>
        </p:nvSpPr>
        <p:spPr>
          <a:xfrm>
            <a:off x="3677310" y="1156011"/>
            <a:ext cx="718318" cy="2244140"/>
          </a:xfrm>
          <a:prstGeom prst="rect">
            <a:avLst/>
          </a:prstGeom>
          <a:noFill/>
        </p:spPr>
        <p:txBody>
          <a:bodyPr wrap="square">
            <a:spAutoFit/>
          </a:bodyPr>
          <a:lstStyle/>
          <a:p>
            <a:pPr algn="ctr" defTabSz="461040" fontAlgn="base">
              <a:spcBef>
                <a:spcPct val="20000"/>
              </a:spcBef>
              <a:spcAft>
                <a:spcPct val="0"/>
              </a:spcAft>
              <a:buClr>
                <a:schemeClr val="hlink"/>
              </a:buClr>
            </a:pPr>
            <a:r>
              <a:rPr lang="en-US" altLang="zh-CN" sz="908" dirty="0">
                <a:latin typeface="Arial" panose="020B0604020202020204" pitchFamily="34" charset="0"/>
                <a:ea typeface="宋体" panose="02010600030101010101" pitchFamily="2" charset="-122"/>
              </a:rPr>
              <a:t>-0.11</a:t>
            </a:r>
          </a:p>
          <a:p>
            <a:pPr algn="ctr" defTabSz="461040" fontAlgn="base">
              <a:spcBef>
                <a:spcPct val="20000"/>
              </a:spcBef>
              <a:spcAft>
                <a:spcPct val="0"/>
              </a:spcAft>
              <a:buClr>
                <a:schemeClr val="hlink"/>
              </a:buClr>
            </a:pPr>
            <a:endParaRPr lang="en-US" altLang="zh-CN" sz="908" dirty="0">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latin typeface="Arial" panose="020B0604020202020204" pitchFamily="34" charset="0"/>
                <a:ea typeface="宋体" panose="02010600030101010101" pitchFamily="2" charset="-122"/>
              </a:rPr>
              <a:t>0</a:t>
            </a:r>
          </a:p>
          <a:p>
            <a:pPr algn="ctr" defTabSz="461040" fontAlgn="base">
              <a:spcBef>
                <a:spcPct val="20000"/>
              </a:spcBef>
              <a:spcAft>
                <a:spcPct val="0"/>
              </a:spcAft>
              <a:buClr>
                <a:schemeClr val="hlink"/>
              </a:buClr>
            </a:pPr>
            <a:endParaRPr lang="en-US" altLang="zh-CN" sz="908" dirty="0">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latin typeface="Arial" panose="020B0604020202020204" pitchFamily="34" charset="0"/>
                <a:ea typeface="宋体" panose="02010600030101010101" pitchFamily="2" charset="-122"/>
              </a:rPr>
              <a:t>0.01</a:t>
            </a:r>
          </a:p>
          <a:p>
            <a:pPr algn="ctr" defTabSz="461040" fontAlgn="base">
              <a:spcBef>
                <a:spcPct val="20000"/>
              </a:spcBef>
              <a:spcAft>
                <a:spcPct val="0"/>
              </a:spcAft>
              <a:buClr>
                <a:schemeClr val="hlink"/>
              </a:buClr>
            </a:pPr>
            <a:endParaRPr lang="en-US" altLang="zh-CN" sz="908" dirty="0">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latin typeface="Arial" panose="020B0604020202020204" pitchFamily="34" charset="0"/>
                <a:ea typeface="宋体" panose="02010600030101010101" pitchFamily="2" charset="-122"/>
              </a:rPr>
              <a:t>0.03</a:t>
            </a:r>
          </a:p>
          <a:p>
            <a:pPr algn="ctr" defTabSz="461040" fontAlgn="base">
              <a:spcBef>
                <a:spcPct val="20000"/>
              </a:spcBef>
              <a:spcAft>
                <a:spcPct val="0"/>
              </a:spcAft>
              <a:buClr>
                <a:schemeClr val="hlink"/>
              </a:buClr>
            </a:pPr>
            <a:endParaRPr lang="en-US" altLang="zh-CN" sz="908" dirty="0">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latin typeface="Arial" panose="020B0604020202020204" pitchFamily="34" charset="0"/>
                <a:ea typeface="宋体" panose="02010600030101010101" pitchFamily="2" charset="-122"/>
              </a:rPr>
              <a:t>0.06</a:t>
            </a:r>
          </a:p>
          <a:p>
            <a:pPr algn="ctr" defTabSz="461040" fontAlgn="base">
              <a:spcBef>
                <a:spcPct val="20000"/>
              </a:spcBef>
              <a:spcAft>
                <a:spcPct val="0"/>
              </a:spcAft>
              <a:buClr>
                <a:schemeClr val="hlink"/>
              </a:buClr>
            </a:pPr>
            <a:endParaRPr lang="en-US" altLang="zh-CN" sz="908" dirty="0">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latin typeface="Arial" panose="020B0604020202020204" pitchFamily="34" charset="0"/>
                <a:ea typeface="宋体" panose="02010600030101010101" pitchFamily="2" charset="-122"/>
              </a:rPr>
              <a:t>0.08</a:t>
            </a:r>
          </a:p>
          <a:p>
            <a:pPr algn="ctr" defTabSz="461040" fontAlgn="base">
              <a:spcBef>
                <a:spcPct val="20000"/>
              </a:spcBef>
              <a:spcAft>
                <a:spcPct val="0"/>
              </a:spcAft>
              <a:buClr>
                <a:schemeClr val="hlink"/>
              </a:buClr>
            </a:pPr>
            <a:endParaRPr lang="en-US" altLang="zh-CN" sz="908" dirty="0">
              <a:latin typeface="Arial" panose="020B0604020202020204" pitchFamily="34" charset="0"/>
              <a:ea typeface="宋体" panose="02010600030101010101" pitchFamily="2" charset="-122"/>
            </a:endParaRPr>
          </a:p>
          <a:p>
            <a:pPr algn="ctr" defTabSz="461040" fontAlgn="base">
              <a:spcBef>
                <a:spcPct val="20000"/>
              </a:spcBef>
              <a:spcAft>
                <a:spcPct val="0"/>
              </a:spcAft>
              <a:buClr>
                <a:schemeClr val="hlink"/>
              </a:buClr>
            </a:pPr>
            <a:r>
              <a:rPr lang="en-US" altLang="zh-CN" sz="908" dirty="0">
                <a:latin typeface="Arial" panose="020B0604020202020204" pitchFamily="34" charset="0"/>
                <a:ea typeface="宋体" panose="02010600030101010101" pitchFamily="2" charset="-122"/>
              </a:rPr>
              <a:t>0.11</a:t>
            </a:r>
          </a:p>
        </p:txBody>
      </p:sp>
      <p:sp>
        <p:nvSpPr>
          <p:cNvPr id="9" name="Rectangle 2">
            <a:extLst>
              <a:ext uri="{FF2B5EF4-FFF2-40B4-BE49-F238E27FC236}">
                <a16:creationId xmlns:a16="http://schemas.microsoft.com/office/drawing/2014/main" id="{D887D069-38D9-0B76-CD71-82861BEF7C56}"/>
              </a:ext>
            </a:extLst>
          </p:cNvPr>
          <p:cNvSpPr txBox="1">
            <a:spLocks noChangeArrowheads="1"/>
          </p:cNvSpPr>
          <p:nvPr/>
        </p:nvSpPr>
        <p:spPr bwMode="auto">
          <a:xfrm>
            <a:off x="172879" y="128847"/>
            <a:ext cx="4240332" cy="283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6101" tIns="23051" rIns="46101" bIns="23051" numCol="1" anchor="ctr" anchorCtr="0" compatLnSpc="1">
            <a:prstTxWarp prst="textNoShape">
              <a:avLst/>
            </a:prstTxWarp>
          </a:bodyPr>
          <a:lstStyle>
            <a:lvl1pPr algn="ctr" rtl="0" eaLnBrk="0" fontAlgn="base" hangingPunct="0">
              <a:spcBef>
                <a:spcPct val="0"/>
              </a:spcBef>
              <a:spcAft>
                <a:spcPct val="0"/>
              </a:spcAft>
              <a:defRPr sz="3797" b="1" kern="1200">
                <a:solidFill>
                  <a:srgbClr val="333399"/>
                </a:solidFill>
                <a:latin typeface="+mj-lt"/>
                <a:ea typeface="+mj-ea"/>
                <a:cs typeface="+mj-cs"/>
              </a:defRPr>
            </a:lvl1pPr>
            <a:lvl2pPr algn="ctr" rtl="0" eaLnBrk="0" fontAlgn="base" hangingPunct="0">
              <a:spcBef>
                <a:spcPct val="0"/>
              </a:spcBef>
              <a:spcAft>
                <a:spcPct val="0"/>
              </a:spcAft>
              <a:defRPr sz="3797" b="1">
                <a:solidFill>
                  <a:srgbClr val="333399"/>
                </a:solidFill>
                <a:latin typeface="Book Antiqua" panose="02040602050305030304" pitchFamily="18" charset="0"/>
              </a:defRPr>
            </a:lvl2pPr>
            <a:lvl3pPr algn="ctr" rtl="0" eaLnBrk="0" fontAlgn="base" hangingPunct="0">
              <a:spcBef>
                <a:spcPct val="0"/>
              </a:spcBef>
              <a:spcAft>
                <a:spcPct val="0"/>
              </a:spcAft>
              <a:defRPr sz="3797" b="1">
                <a:solidFill>
                  <a:srgbClr val="333399"/>
                </a:solidFill>
                <a:latin typeface="Book Antiqua" panose="02040602050305030304" pitchFamily="18" charset="0"/>
              </a:defRPr>
            </a:lvl3pPr>
            <a:lvl4pPr algn="ctr" rtl="0" eaLnBrk="0" fontAlgn="base" hangingPunct="0">
              <a:spcBef>
                <a:spcPct val="0"/>
              </a:spcBef>
              <a:spcAft>
                <a:spcPct val="0"/>
              </a:spcAft>
              <a:defRPr sz="3797" b="1">
                <a:solidFill>
                  <a:srgbClr val="333399"/>
                </a:solidFill>
                <a:latin typeface="Book Antiqua" panose="02040602050305030304" pitchFamily="18" charset="0"/>
              </a:defRPr>
            </a:lvl4pPr>
            <a:lvl5pPr algn="ctr" rtl="0" eaLnBrk="0" fontAlgn="base" hangingPunct="0">
              <a:spcBef>
                <a:spcPct val="0"/>
              </a:spcBef>
              <a:spcAft>
                <a:spcPct val="0"/>
              </a:spcAft>
              <a:defRPr sz="3797" b="1">
                <a:solidFill>
                  <a:srgbClr val="333399"/>
                </a:solidFill>
                <a:latin typeface="Book Antiqua" panose="02040602050305030304" pitchFamily="18" charset="0"/>
              </a:defRPr>
            </a:lvl5pPr>
            <a:lvl6pPr marL="456821" algn="ctr" rtl="0" eaLnBrk="0" fontAlgn="base" hangingPunct="0">
              <a:spcBef>
                <a:spcPct val="0"/>
              </a:spcBef>
              <a:spcAft>
                <a:spcPct val="0"/>
              </a:spcAft>
              <a:defRPr sz="3797" b="1">
                <a:solidFill>
                  <a:srgbClr val="333399"/>
                </a:solidFill>
                <a:latin typeface="Book Antiqua" panose="02040602050305030304" pitchFamily="18" charset="0"/>
              </a:defRPr>
            </a:lvl6pPr>
            <a:lvl7pPr marL="913643" algn="ctr" rtl="0" eaLnBrk="0" fontAlgn="base" hangingPunct="0">
              <a:spcBef>
                <a:spcPct val="0"/>
              </a:spcBef>
              <a:spcAft>
                <a:spcPct val="0"/>
              </a:spcAft>
              <a:defRPr sz="3797" b="1">
                <a:solidFill>
                  <a:srgbClr val="333399"/>
                </a:solidFill>
                <a:latin typeface="Book Antiqua" panose="02040602050305030304" pitchFamily="18" charset="0"/>
              </a:defRPr>
            </a:lvl7pPr>
            <a:lvl8pPr marL="1370466" algn="ctr" rtl="0" eaLnBrk="0" fontAlgn="base" hangingPunct="0">
              <a:spcBef>
                <a:spcPct val="0"/>
              </a:spcBef>
              <a:spcAft>
                <a:spcPct val="0"/>
              </a:spcAft>
              <a:defRPr sz="3797" b="1">
                <a:solidFill>
                  <a:srgbClr val="333399"/>
                </a:solidFill>
                <a:latin typeface="Book Antiqua" panose="02040602050305030304" pitchFamily="18" charset="0"/>
              </a:defRPr>
            </a:lvl8pPr>
            <a:lvl9pPr marL="1827288" algn="ctr" rtl="0" eaLnBrk="0" fontAlgn="base" hangingPunct="0">
              <a:spcBef>
                <a:spcPct val="0"/>
              </a:spcBef>
              <a:spcAft>
                <a:spcPct val="0"/>
              </a:spcAft>
              <a:defRPr sz="3797" b="1">
                <a:solidFill>
                  <a:srgbClr val="333399"/>
                </a:solidFill>
                <a:latin typeface="Book Antiqua" panose="02040602050305030304" pitchFamily="18" charset="0"/>
              </a:defRPr>
            </a:lvl9pPr>
          </a:lstStyle>
          <a:p>
            <a:pPr defTabSz="461040"/>
            <a:r>
              <a:rPr kumimoji="1" lang="zh-CN" altLang="en-US" sz="1613" b="0" dirty="0">
                <a:latin typeface="Microsoft YaHei" panose="020B0503020204020204" pitchFamily="34" charset="-122"/>
                <a:ea typeface="Microsoft YaHei" panose="020B0503020204020204" pitchFamily="34" charset="-122"/>
              </a:rPr>
              <a:t>边际储蓄倾向与平均储蓄倾向</a:t>
            </a:r>
          </a:p>
        </p:txBody>
      </p:sp>
    </p:spTree>
    <p:extLst>
      <p:ext uri="{BB962C8B-B14F-4D97-AF65-F5344CB8AC3E}">
        <p14:creationId xmlns:p14="http://schemas.microsoft.com/office/powerpoint/2010/main" val="2961452615"/>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up)">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p:cNvSpPr>
            <a:spLocks noGrp="1" noChangeArrowheads="1"/>
          </p:cNvSpPr>
          <p:nvPr>
            <p:ph type="body" idx="1"/>
          </p:nvPr>
        </p:nvSpPr>
        <p:spPr/>
        <p:txBody>
          <a:bodyPr/>
          <a:lstStyle/>
          <a:p>
            <a:pPr>
              <a:buClr>
                <a:srgbClr val="002060"/>
              </a:buClr>
              <a:buFont typeface="Wingdings" pitchFamily="2" charset="2"/>
              <a:buChar char="u"/>
            </a:pPr>
            <a:r>
              <a:rPr kumimoji="1" lang="zh-CN" altLang="en-US" dirty="0"/>
              <a:t>相对收入消费理论</a:t>
            </a:r>
            <a:endParaRPr lang="zh-CN" altLang="en-US" dirty="0"/>
          </a:p>
        </p:txBody>
      </p:sp>
      <p:pic>
        <p:nvPicPr>
          <p:cNvPr id="38916" name="Picture 4" descr="xf13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97176" y="940028"/>
            <a:ext cx="2433689" cy="1277472"/>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p:cNvSpPr txBox="1"/>
          <p:nvPr/>
        </p:nvSpPr>
        <p:spPr>
          <a:xfrm>
            <a:off x="172879" y="911717"/>
            <a:ext cx="2132171" cy="1434367"/>
          </a:xfrm>
          <a:prstGeom prst="rect">
            <a:avLst/>
          </a:prstGeom>
          <a:noFill/>
        </p:spPr>
        <p:txBody>
          <a:bodyPr wrap="square" rtlCol="0">
            <a:spAutoFit/>
          </a:bodyPr>
          <a:lstStyle/>
          <a:p>
            <a:pPr marL="143956" indent="-143956" defTabSz="230520">
              <a:lnSpc>
                <a:spcPct val="125000"/>
              </a:lnSpc>
              <a:buFont typeface="Arial" panose="020B0604020202020204" pitchFamily="34" charset="0"/>
              <a:buChar char="•"/>
              <a:defRPr/>
            </a:pPr>
            <a:r>
              <a:rPr lang="zh-CN" altLang="en-US" sz="1008" dirty="0">
                <a:solidFill>
                  <a:prstClr val="black"/>
                </a:solidFill>
                <a:latin typeface="Garamond" panose="02020404030301010803" pitchFamily="18" charset="0"/>
                <a:ea typeface="SimSun" panose="02010600030101010101" pitchFamily="2" charset="-122"/>
              </a:rPr>
              <a:t>美国经济学家杜森贝利</a:t>
            </a:r>
            <a:r>
              <a:rPr lang="en-US" altLang="zh-CN" sz="1008" dirty="0">
                <a:solidFill>
                  <a:prstClr val="black"/>
                </a:solidFill>
                <a:latin typeface="Garamond" panose="02020404030301010803" pitchFamily="18" charset="0"/>
                <a:ea typeface="SimSun" panose="02010600030101010101" pitchFamily="2" charset="-122"/>
              </a:rPr>
              <a:t>(</a:t>
            </a:r>
            <a:r>
              <a:rPr lang="en-US" altLang="zh-CN" sz="1008" dirty="0" err="1">
                <a:solidFill>
                  <a:prstClr val="black"/>
                </a:solidFill>
                <a:latin typeface="Garamond" panose="02020404030301010803" pitchFamily="18" charset="0"/>
                <a:ea typeface="SimSun" panose="02010600030101010101" pitchFamily="2" charset="-122"/>
              </a:rPr>
              <a:t>Duesenberry</a:t>
            </a:r>
            <a:r>
              <a:rPr lang="en-US" altLang="zh-CN" sz="1008" dirty="0">
                <a:solidFill>
                  <a:prstClr val="black"/>
                </a:solidFill>
                <a:latin typeface="Garamond" panose="02020404030301010803" pitchFamily="18" charset="0"/>
                <a:ea typeface="SimSun" panose="02010600030101010101" pitchFamily="2" charset="-122"/>
              </a:rPr>
              <a:t>)</a:t>
            </a:r>
            <a:r>
              <a:rPr lang="zh-CN" altLang="en-US" sz="1008" dirty="0">
                <a:solidFill>
                  <a:prstClr val="black"/>
                </a:solidFill>
                <a:latin typeface="Garamond" panose="02020404030301010803" pitchFamily="18" charset="0"/>
                <a:ea typeface="SimSun" panose="02010600030101010101" pitchFamily="2" charset="-122"/>
              </a:rPr>
              <a:t> 认为消费者依据自己过去的消费习惯以及周围消费水准的影响来决定消费。</a:t>
            </a:r>
            <a:endParaRPr lang="en-US" altLang="zh-CN" sz="1008" dirty="0">
              <a:solidFill>
                <a:prstClr val="black"/>
              </a:solidFill>
              <a:latin typeface="Garamond" panose="02020404030301010803" pitchFamily="18" charset="0"/>
              <a:ea typeface="SimSun" panose="02010600030101010101" pitchFamily="2" charset="-122"/>
            </a:endParaRPr>
          </a:p>
          <a:p>
            <a:pPr marL="143956" indent="-143956" defTabSz="230520">
              <a:lnSpc>
                <a:spcPct val="125000"/>
              </a:lnSpc>
              <a:buFont typeface="Arial" panose="020B0604020202020204" pitchFamily="34" charset="0"/>
              <a:buChar char="•"/>
              <a:defRPr/>
            </a:pPr>
            <a:r>
              <a:rPr lang="zh-CN" altLang="en-US" sz="1008" b="1" dirty="0">
                <a:solidFill>
                  <a:prstClr val="black"/>
                </a:solidFill>
                <a:latin typeface="Garamond" panose="02020404030301010803" pitchFamily="18" charset="0"/>
                <a:ea typeface="SimSun" panose="02010600030101010101" pitchFamily="2" charset="-122"/>
              </a:rPr>
              <a:t>长期消费函数</a:t>
            </a:r>
            <a:r>
              <a:rPr lang="zh-CN" altLang="en-US" sz="1008" dirty="0">
                <a:solidFill>
                  <a:prstClr val="black"/>
                </a:solidFill>
                <a:latin typeface="Garamond" panose="02020404030301010803" pitchFamily="18" charset="0"/>
                <a:ea typeface="SimSun" panose="02010600030101010101" pitchFamily="2" charset="-122"/>
              </a:rPr>
              <a:t>是出自零点的直线，但</a:t>
            </a:r>
            <a:r>
              <a:rPr lang="zh-CN" altLang="en-US" sz="1008" b="1" dirty="0">
                <a:solidFill>
                  <a:prstClr val="black"/>
                </a:solidFill>
                <a:latin typeface="Garamond" panose="02020404030301010803" pitchFamily="18" charset="0"/>
                <a:ea typeface="SimSun" panose="02010600030101010101" pitchFamily="2" charset="-122"/>
              </a:rPr>
              <a:t>短期的消费函数</a:t>
            </a:r>
            <a:r>
              <a:rPr lang="zh-CN" altLang="en-US" sz="1008" dirty="0">
                <a:solidFill>
                  <a:prstClr val="black"/>
                </a:solidFill>
                <a:latin typeface="Garamond" panose="02020404030301010803" pitchFamily="18" charset="0"/>
                <a:ea typeface="SimSun" panose="02010600030101010101" pitchFamily="2" charset="-122"/>
              </a:rPr>
              <a:t>则是具有正截距的曲线。</a:t>
            </a:r>
            <a:endParaRPr lang="en-US" altLang="zh-CN" sz="1008" dirty="0">
              <a:solidFill>
                <a:prstClr val="black"/>
              </a:solidFill>
              <a:latin typeface="Garamond" panose="02020404030301010803" pitchFamily="18" charset="0"/>
              <a:ea typeface="SimSun" panose="02010600030101010101" pitchFamily="2" charset="-122"/>
            </a:endParaRPr>
          </a:p>
        </p:txBody>
      </p:sp>
      <p:sp>
        <p:nvSpPr>
          <p:cNvPr id="6" name="标题 5">
            <a:extLst>
              <a:ext uri="{FF2B5EF4-FFF2-40B4-BE49-F238E27FC236}">
                <a16:creationId xmlns:a16="http://schemas.microsoft.com/office/drawing/2014/main" id="{8A33C25D-0199-6416-4CA4-7BBC12F15B7A}"/>
              </a:ext>
            </a:extLst>
          </p:cNvPr>
          <p:cNvSpPr>
            <a:spLocks noGrp="1"/>
          </p:cNvSpPr>
          <p:nvPr>
            <p:ph type="title"/>
          </p:nvPr>
        </p:nvSpPr>
        <p:spPr/>
        <p:txBody>
          <a:bodyPr/>
          <a:lstStyle/>
          <a:p>
            <a:r>
              <a:rPr kumimoji="1" lang="zh-CN" altLang="en-US" dirty="0"/>
              <a:t>其他消费理论</a:t>
            </a:r>
          </a:p>
        </p:txBody>
      </p:sp>
      <p:sp>
        <p:nvSpPr>
          <p:cNvPr id="8" name="文本框 7">
            <a:extLst>
              <a:ext uri="{FF2B5EF4-FFF2-40B4-BE49-F238E27FC236}">
                <a16:creationId xmlns:a16="http://schemas.microsoft.com/office/drawing/2014/main" id="{4F72F7C4-6377-AA2F-C1B4-D20F272A3737}"/>
              </a:ext>
            </a:extLst>
          </p:cNvPr>
          <p:cNvSpPr txBox="1"/>
          <p:nvPr/>
        </p:nvSpPr>
        <p:spPr>
          <a:xfrm>
            <a:off x="172879" y="2251811"/>
            <a:ext cx="4191509" cy="658770"/>
          </a:xfrm>
          <a:prstGeom prst="rect">
            <a:avLst/>
          </a:prstGeom>
          <a:noFill/>
        </p:spPr>
        <p:txBody>
          <a:bodyPr wrap="square">
            <a:spAutoFit/>
          </a:bodyPr>
          <a:lstStyle/>
          <a:p>
            <a:pPr marL="143956" indent="-143956" defTabSz="230520">
              <a:lnSpc>
                <a:spcPct val="125000"/>
              </a:lnSpc>
              <a:buFont typeface="Arial" panose="020B0604020202020204" pitchFamily="34" charset="0"/>
              <a:buChar char="•"/>
              <a:defRPr/>
            </a:pPr>
            <a:r>
              <a:rPr lang="zh-CN" altLang="en-US" sz="1008" b="1" dirty="0">
                <a:solidFill>
                  <a:prstClr val="black"/>
                </a:solidFill>
                <a:latin typeface="Garamond" panose="02020404030301010803" pitchFamily="18" charset="0"/>
                <a:ea typeface="SimSun" panose="02010600030101010101" pitchFamily="2" charset="-122"/>
              </a:rPr>
              <a:t>棘轮效应：</a:t>
            </a:r>
            <a:r>
              <a:rPr lang="zh-CN" altLang="en-US" sz="1008" dirty="0">
                <a:solidFill>
                  <a:prstClr val="black"/>
                </a:solidFill>
                <a:latin typeface="Garamond" panose="02020404030301010803" pitchFamily="18" charset="0"/>
                <a:ea typeface="SimSun" panose="02010600030101010101" pitchFamily="2" charset="-122"/>
              </a:rPr>
              <a:t>消费者易于随着收入增加而提高消费，但不易随收入减少而降低消费</a:t>
            </a:r>
            <a:endParaRPr lang="en-US" altLang="zh-CN" sz="1008" dirty="0">
              <a:solidFill>
                <a:prstClr val="black"/>
              </a:solidFill>
              <a:latin typeface="Garamond" panose="02020404030301010803" pitchFamily="18" charset="0"/>
              <a:ea typeface="SimSun" panose="02010600030101010101" pitchFamily="2" charset="-122"/>
            </a:endParaRPr>
          </a:p>
          <a:p>
            <a:pPr marL="143956" indent="-143956" defTabSz="230520">
              <a:lnSpc>
                <a:spcPct val="125000"/>
              </a:lnSpc>
              <a:buFont typeface="Arial" panose="020B0604020202020204" pitchFamily="34" charset="0"/>
              <a:buChar char="•"/>
              <a:defRPr/>
            </a:pPr>
            <a:r>
              <a:rPr lang="zh-CN" altLang="en-US" sz="1008" b="1" dirty="0">
                <a:solidFill>
                  <a:prstClr val="black"/>
                </a:solidFill>
                <a:latin typeface="Garamond" panose="02020404030301010803" pitchFamily="18" charset="0"/>
                <a:ea typeface="SimSun" panose="02010600030101010101" pitchFamily="2" charset="-122"/>
              </a:rPr>
              <a:t>示范效应：</a:t>
            </a:r>
            <a:r>
              <a:rPr lang="zh-CN" altLang="en-US" sz="1008" dirty="0">
                <a:solidFill>
                  <a:prstClr val="black"/>
                </a:solidFill>
                <a:latin typeface="Garamond" panose="02020404030301010803" pitchFamily="18" charset="0"/>
                <a:ea typeface="SimSun" panose="02010600030101010101" pitchFamily="2" charset="-122"/>
              </a:rPr>
              <a:t>消费行为还受周围消费水准的影响。</a:t>
            </a:r>
            <a:endParaRPr lang="en-US" altLang="zh-CN" sz="1008" dirty="0">
              <a:solidFill>
                <a:prstClr val="black"/>
              </a:solidFill>
              <a:latin typeface="Garamond" panose="02020404030301010803" pitchFamily="18" charset="0"/>
              <a:ea typeface="SimSun" panose="02010600030101010101" pitchFamily="2" charset="-122"/>
            </a:endParaRPr>
          </a:p>
        </p:txBody>
      </p:sp>
      <p:sp>
        <p:nvSpPr>
          <p:cNvPr id="9" name="灯片编号占位符 2">
            <a:extLst>
              <a:ext uri="{FF2B5EF4-FFF2-40B4-BE49-F238E27FC236}">
                <a16:creationId xmlns:a16="http://schemas.microsoft.com/office/drawing/2014/main" id="{D6330DC2-7E68-3F1D-3466-7812DEC091D1}"/>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49</a:t>
            </a:fld>
            <a:endParaRPr lang="zh-CN" altLang="zh-CN" sz="856">
              <a:solidFill>
                <a:srgbClr val="777777"/>
              </a:solidFill>
              <a:ea typeface="宋体" panose="02010600030101010101" pitchFamily="2" charset="-122"/>
            </a:endParaRPr>
          </a:p>
        </p:txBody>
      </p:sp>
      <p:sp>
        <p:nvSpPr>
          <p:cNvPr id="2" name="页脚占位符 1">
            <a:extLst>
              <a:ext uri="{FF2B5EF4-FFF2-40B4-BE49-F238E27FC236}">
                <a16:creationId xmlns:a16="http://schemas.microsoft.com/office/drawing/2014/main" id="{2E6CA54D-DE91-CF74-4FC3-632D68E2D467}"/>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9241735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1209" b="1" dirty="0">
                    <a:latin typeface="Garamond" panose="02020404030301010803" pitchFamily="18" charset="0"/>
                  </a:rPr>
                  <a:t>美</a:t>
                </a:r>
                <a:r>
                  <a:rPr lang="en-US" altLang="zh-CN" sz="1209" b="1" dirty="0">
                    <a:latin typeface="Garamond" panose="02020404030301010803" pitchFamily="18" charset="0"/>
                  </a:rPr>
                  <a:t>·(Modigliani Franco)--</a:t>
                </a:r>
                <a:r>
                  <a:rPr lang="zh-CN" altLang="en-US" sz="1209" b="1" dirty="0">
                    <a:latin typeface="Garamond" panose="02020404030301010803" pitchFamily="18" charset="0"/>
                  </a:rPr>
                  <a:t>生命周期模型</a:t>
                </a:r>
                <a:r>
                  <a:rPr lang="en-US" altLang="zh-CN" sz="1209" b="1" dirty="0">
                    <a:latin typeface="Garamond" panose="02020404030301010803" pitchFamily="18" charset="0"/>
                  </a:rPr>
                  <a:t>(life-circle model)</a:t>
                </a:r>
              </a:p>
              <a:p>
                <a:r>
                  <a:rPr lang="zh-CN" altLang="en-US" sz="1209" dirty="0">
                    <a:latin typeface="Garamond" panose="02020404030301010803" pitchFamily="18" charset="0"/>
                    <a:ea typeface="楷体" panose="02010609060101010101" pitchFamily="49" charset="-122"/>
                  </a:rPr>
                  <a:t>他认为，人们在特定时期的消费与他们在该时期的可支配收入相联系，强调人们会在一个更长的时间范围内计划他们的生活消费开支，以达到在整个生命周期内的消费最佳配置。</a:t>
                </a:r>
                <a:endParaRPr lang="en-US" altLang="zh-CN" sz="1209" dirty="0">
                  <a:latin typeface="Garamond" panose="02020404030301010803" pitchFamily="18" charset="0"/>
                  <a:ea typeface="楷体" panose="02010609060101010101" pitchFamily="49" charset="-122"/>
                </a:endParaRPr>
              </a:p>
              <a:p>
                <a:r>
                  <a:rPr lang="zh-CN" altLang="en-US" sz="1209" dirty="0">
                    <a:latin typeface="Garamond" panose="02020404030301010803" pitchFamily="18" charset="0"/>
                    <a:ea typeface="楷体" panose="02010609060101010101" pitchFamily="49" charset="-122"/>
                  </a:rPr>
                  <a:t>理性的消费者根据一生的收入来安排自己的消费与储蓄，让一生的收入与消费相等。家庭收入包括劳动收入与财产收入，因此家庭的消费函数是：</a:t>
                </a:r>
                <a:endParaRPr lang="en-US" altLang="zh-CN" sz="1209" dirty="0">
                  <a:latin typeface="Garamond" panose="02020404030301010803" pitchFamily="18" charset="0"/>
                  <a:ea typeface="楷体" panose="02010609060101010101" pitchFamily="49" charset="-122"/>
                </a:endParaRPr>
              </a:p>
              <a:p>
                <a14:m>
                  <m:oMath xmlns:m="http://schemas.openxmlformats.org/officeDocument/2006/math">
                    <m:r>
                      <a:rPr lang="en-US" altLang="zh-CN" sz="1209" i="1">
                        <a:latin typeface="Cambria Math" panose="02040503050406030204" pitchFamily="18" charset="0"/>
                        <a:ea typeface="楷体" panose="02010609060101010101" pitchFamily="49" charset="-122"/>
                      </a:rPr>
                      <m:t>𝐶</m:t>
                    </m:r>
                    <m:r>
                      <a:rPr lang="en-US" altLang="zh-CN" sz="1209" i="1">
                        <a:latin typeface="Cambria Math" panose="02040503050406030204" pitchFamily="18" charset="0"/>
                        <a:ea typeface="楷体" panose="02010609060101010101" pitchFamily="49" charset="-122"/>
                      </a:rPr>
                      <m:t>=</m:t>
                    </m:r>
                    <m:r>
                      <a:rPr lang="zh-CN" altLang="en-US" sz="1209" i="1">
                        <a:latin typeface="Cambria Math" panose="02040503050406030204" pitchFamily="18" charset="0"/>
                        <a:ea typeface="楷体" panose="02010609060101010101" pitchFamily="49" charset="-122"/>
                      </a:rPr>
                      <m:t>𝛼</m:t>
                    </m:r>
                    <m:r>
                      <a:rPr lang="en-US" altLang="zh-CN" sz="1209" i="1">
                        <a:latin typeface="Cambria Math" panose="02040503050406030204" pitchFamily="18" charset="0"/>
                        <a:ea typeface="楷体" panose="02010609060101010101" pitchFamily="49" charset="-122"/>
                      </a:rPr>
                      <m:t>∗</m:t>
                    </m:r>
                    <m:r>
                      <a:rPr lang="en-US" altLang="zh-CN" sz="1209" i="1">
                        <a:latin typeface="Cambria Math" panose="02040503050406030204" pitchFamily="18" charset="0"/>
                        <a:ea typeface="楷体" panose="02010609060101010101" pitchFamily="49" charset="-122"/>
                      </a:rPr>
                      <m:t>𝑊𝑅</m:t>
                    </m:r>
                    <m:r>
                      <a:rPr lang="en-US" altLang="zh-CN" sz="1209" i="1">
                        <a:latin typeface="Cambria Math" panose="02040503050406030204" pitchFamily="18" charset="0"/>
                        <a:ea typeface="楷体" panose="02010609060101010101" pitchFamily="49" charset="-122"/>
                      </a:rPr>
                      <m:t>+</m:t>
                    </m:r>
                    <m:r>
                      <a:rPr lang="en-US" altLang="zh-CN" sz="1209" i="1">
                        <a:latin typeface="Cambria Math" panose="02040503050406030204" pitchFamily="18" charset="0"/>
                        <a:ea typeface="楷体" panose="02010609060101010101" pitchFamily="49" charset="-122"/>
                      </a:rPr>
                      <m:t>𝑐</m:t>
                    </m:r>
                    <m:r>
                      <a:rPr lang="en-US" altLang="zh-CN" sz="1209" i="1">
                        <a:latin typeface="Cambria Math" panose="02040503050406030204" pitchFamily="18" charset="0"/>
                        <a:ea typeface="楷体" panose="02010609060101010101" pitchFamily="49" charset="-122"/>
                      </a:rPr>
                      <m:t>∗</m:t>
                    </m:r>
                    <m:r>
                      <a:rPr lang="en-US" altLang="zh-CN" sz="1209" i="1">
                        <a:latin typeface="Cambria Math" panose="02040503050406030204" pitchFamily="18" charset="0"/>
                        <a:ea typeface="楷体" panose="02010609060101010101" pitchFamily="49" charset="-122"/>
                      </a:rPr>
                      <m:t>𝑌𝐿</m:t>
                    </m:r>
                  </m:oMath>
                </a14:m>
                <a:endParaRPr lang="en-US" altLang="zh-CN" sz="1209" dirty="0">
                  <a:latin typeface="Garamond" panose="02020404030301010803" pitchFamily="18" charset="0"/>
                  <a:ea typeface="楷体" panose="02010609060101010101" pitchFamily="49" charset="-122"/>
                </a:endParaRPr>
              </a:p>
              <a:p>
                <a:r>
                  <a:rPr lang="en-US" altLang="zh-CN" sz="1209" dirty="0">
                    <a:latin typeface="Garamond" panose="02020404030301010803" pitchFamily="18" charset="0"/>
                    <a:ea typeface="楷体" panose="02010609060101010101" pitchFamily="49" charset="-122"/>
                  </a:rPr>
                  <a:t>WR</a:t>
                </a:r>
                <a:r>
                  <a:rPr lang="zh-CN" altLang="en-US" sz="1209" dirty="0">
                    <a:latin typeface="Garamond" panose="02020404030301010803" pitchFamily="18" charset="0"/>
                    <a:ea typeface="楷体" panose="02010609060101010101" pitchFamily="49" charset="-122"/>
                  </a:rPr>
                  <a:t>是财产收入；</a:t>
                </a:r>
                <a:r>
                  <a:rPr lang="en-US" altLang="zh-CN" sz="1209" dirty="0">
                    <a:latin typeface="Garamond" panose="02020404030301010803" pitchFamily="18" charset="0"/>
                    <a:ea typeface="楷体" panose="02010609060101010101" pitchFamily="49" charset="-122"/>
                  </a:rPr>
                  <a:t>YL</a:t>
                </a:r>
                <a:r>
                  <a:rPr lang="zh-CN" altLang="en-US" sz="1209" dirty="0">
                    <a:latin typeface="Garamond" panose="02020404030301010803" pitchFamily="18" charset="0"/>
                    <a:ea typeface="楷体" panose="02010609060101010101" pitchFamily="49" charset="-122"/>
                  </a:rPr>
                  <a:t>是劳动收入。</a:t>
                </a:r>
                <a:endParaRPr lang="en-US" altLang="zh-CN" sz="1209" dirty="0">
                  <a:latin typeface="Garamond" panose="02020404030301010803" pitchFamily="18" charset="0"/>
                  <a:ea typeface="楷体" panose="020106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302" t="-976"/>
                </a:stretch>
              </a:blipFill>
            </p:spPr>
            <p:txBody>
              <a:bodyPr/>
              <a:lstStyle/>
              <a:p>
                <a:r>
                  <a:rPr lang="zh-CN" altLang="en-US">
                    <a:noFill/>
                  </a:rPr>
                  <a:t> </a:t>
                </a:r>
              </a:p>
            </p:txBody>
          </p:sp>
        </mc:Fallback>
      </mc:AlternateContent>
      <p:sp>
        <p:nvSpPr>
          <p:cNvPr id="7" name="标题 6">
            <a:extLst>
              <a:ext uri="{FF2B5EF4-FFF2-40B4-BE49-F238E27FC236}">
                <a16:creationId xmlns:a16="http://schemas.microsoft.com/office/drawing/2014/main" id="{D8CF4334-AD99-74AE-BF1D-D59C4CAF0ED2}"/>
              </a:ext>
            </a:extLst>
          </p:cNvPr>
          <p:cNvSpPr>
            <a:spLocks noGrp="1"/>
          </p:cNvSpPr>
          <p:nvPr>
            <p:ph type="title"/>
          </p:nvPr>
        </p:nvSpPr>
        <p:spPr/>
        <p:txBody>
          <a:bodyPr/>
          <a:lstStyle/>
          <a:p>
            <a:r>
              <a:rPr kumimoji="1" lang="zh-CN" altLang="en-US" dirty="0"/>
              <a:t>生命周期消费理论</a:t>
            </a:r>
          </a:p>
        </p:txBody>
      </p:sp>
      <p:sp>
        <p:nvSpPr>
          <p:cNvPr id="8" name="灯片编号占位符 2">
            <a:extLst>
              <a:ext uri="{FF2B5EF4-FFF2-40B4-BE49-F238E27FC236}">
                <a16:creationId xmlns:a16="http://schemas.microsoft.com/office/drawing/2014/main" id="{7A925075-A6A1-3548-61BE-5F34CCE4136C}"/>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50</a:t>
            </a:fld>
            <a:endParaRPr lang="zh-CN" altLang="zh-CN" sz="856">
              <a:solidFill>
                <a:srgbClr val="777777"/>
              </a:solidFill>
              <a:ea typeface="宋体" panose="02010600030101010101" pitchFamily="2" charset="-122"/>
            </a:endParaRPr>
          </a:p>
        </p:txBody>
      </p:sp>
      <p:sp>
        <p:nvSpPr>
          <p:cNvPr id="2" name="页脚占位符 1">
            <a:extLst>
              <a:ext uri="{FF2B5EF4-FFF2-40B4-BE49-F238E27FC236}">
                <a16:creationId xmlns:a16="http://schemas.microsoft.com/office/drawing/2014/main" id="{EFED5051-CAED-5BA9-C255-A146374A6D11}"/>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343987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latin typeface="Garamond" panose="02020404030301010803" pitchFamily="18" charset="0"/>
                    <a:ea typeface="SimSun" panose="02010600030101010101" pitchFamily="2" charset="-122"/>
                  </a:rPr>
                  <a:t>美</a:t>
                </a:r>
                <a:r>
                  <a:rPr lang="en-US" altLang="zh-CN" dirty="0">
                    <a:latin typeface="Garamond" panose="02020404030301010803" pitchFamily="18" charset="0"/>
                    <a:ea typeface="SimSun" panose="02010600030101010101" pitchFamily="2" charset="-122"/>
                  </a:rPr>
                  <a:t>·(M Friedman)</a:t>
                </a:r>
              </a:p>
              <a:p>
                <a:r>
                  <a:rPr lang="zh-CN" altLang="en-US" dirty="0">
                    <a:latin typeface="Garamond" panose="02020404030301010803" pitchFamily="18" charset="0"/>
                    <a:ea typeface="SimSun" panose="02010600030101010101" pitchFamily="2" charset="-122"/>
                  </a:rPr>
                  <a:t>他认为，消费支出主要不是由消费者的现期收入决定的，而是由他的持久收入</a:t>
                </a:r>
                <a:r>
                  <a:rPr lang="en-US" altLang="zh-CN" dirty="0">
                    <a:latin typeface="Garamond" panose="02020404030301010803" pitchFamily="18" charset="0"/>
                    <a:ea typeface="SimSun" panose="02010600030101010101" pitchFamily="2" charset="-122"/>
                  </a:rPr>
                  <a:t>(permanent income)</a:t>
                </a:r>
                <a:r>
                  <a:rPr lang="zh-CN" altLang="en-US" dirty="0">
                    <a:latin typeface="Garamond" panose="02020404030301010803" pitchFamily="18" charset="0"/>
                    <a:ea typeface="SimSun" panose="02010600030101010101" pitchFamily="2" charset="-122"/>
                  </a:rPr>
                  <a:t>。</a:t>
                </a:r>
                <a:endParaRPr lang="en-US" altLang="zh-CN" dirty="0">
                  <a:latin typeface="Garamond" panose="02020404030301010803" pitchFamily="18" charset="0"/>
                  <a:ea typeface="SimSun" panose="02010600030101010101" pitchFamily="2" charset="-122"/>
                </a:endParaRPr>
              </a:p>
              <a:p>
                <a:r>
                  <a:rPr lang="zh-CN" altLang="en-US" dirty="0">
                    <a:latin typeface="Garamond" panose="02020404030301010803" pitchFamily="18" charset="0"/>
                    <a:ea typeface="SimSun" panose="02010600030101010101" pitchFamily="2" charset="-122"/>
                  </a:rPr>
                  <a:t>持久性收入的公式：</a:t>
                </a:r>
                <a:endParaRPr lang="en-US" altLang="zh-CN" b="0" i="1" dirty="0">
                  <a:latin typeface="Garamond" panose="02020404030301010803" pitchFamily="18" charset="0"/>
                  <a:ea typeface="SimSun" panose="02010600030101010101" pitchFamily="2" charset="-122"/>
                </a:endParaRPr>
              </a:p>
              <a:p>
                <a14:m>
                  <m:oMath xmlns:m="http://schemas.openxmlformats.org/officeDocument/2006/math">
                    <m:r>
                      <a:rPr lang="en-US" altLang="zh-CN" b="0" i="1" smtClean="0">
                        <a:latin typeface="Cambria Math" panose="02040503050406030204" pitchFamily="18" charset="0"/>
                      </a:rPr>
                      <m:t>𝑌</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b="0" i="1" smtClean="0">
                            <a:latin typeface="Cambria Math" panose="02040503050406030204" pitchFamily="18" charset="0"/>
                          </a:rPr>
                          <m:t>𝑡</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r>
                      <a:rPr lang="zh-CN" altLang="en-US" b="0" i="1" smtClean="0">
                        <a:latin typeface="Cambria Math" panose="02040503050406030204" pitchFamily="18" charset="0"/>
                      </a:rPr>
                      <m:t>𝜃</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b="0" i="1" smtClean="0">
                                <a:latin typeface="Cambria Math" panose="02040503050406030204" pitchFamily="18" charset="0"/>
                              </a:rPr>
                              <m:t>𝑡</m:t>
                            </m:r>
                            <m:r>
                              <a:rPr lang="en-US" altLang="zh-CN" b="0" i="1" smtClean="0">
                                <a:latin typeface="Cambria Math" panose="02040503050406030204" pitchFamily="18" charset="0"/>
                              </a:rPr>
                              <m:t>−1</m:t>
                            </m:r>
                          </m:sub>
                        </m:sSub>
                      </m:e>
                    </m:d>
                    <m:r>
                      <a:rPr lang="en-US" altLang="zh-CN" b="0" i="1" smtClean="0">
                        <a:latin typeface="Cambria Math" panose="02040503050406030204" pitchFamily="18" charset="0"/>
                      </a:rPr>
                      <m:t>=</m:t>
                    </m:r>
                    <m:r>
                      <a:rPr lang="zh-CN" altLang="en-US" i="1">
                        <a:latin typeface="Cambria Math" panose="02040503050406030204" pitchFamily="18" charset="0"/>
                      </a:rPr>
                      <m:t>𝜃</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𝑌</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+(1−</m:t>
                    </m:r>
                    <m:r>
                      <a:rPr lang="zh-CN" altLang="en-US" i="1">
                        <a:latin typeface="Cambria Math" panose="02040503050406030204" pitchFamily="18" charset="0"/>
                      </a:rPr>
                      <m:t>𝜃</m:t>
                    </m:r>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𝑌</m:t>
                        </m:r>
                      </m:e>
                      <m:sub>
                        <m:r>
                          <a:rPr lang="en-US" altLang="zh-CN" i="1">
                            <a:latin typeface="Cambria Math" panose="02040503050406030204" pitchFamily="18" charset="0"/>
                          </a:rPr>
                          <m:t>𝑡</m:t>
                        </m:r>
                        <m:r>
                          <a:rPr lang="en-US" altLang="zh-CN" b="0" i="1" smtClean="0">
                            <a:latin typeface="Cambria Math" panose="02040503050406030204" pitchFamily="18" charset="0"/>
                          </a:rPr>
                          <m:t>−1</m:t>
                        </m:r>
                      </m:sub>
                    </m:sSub>
                  </m:oMath>
                </a14:m>
                <a:endParaRPr lang="en-US" altLang="zh-CN" dirty="0">
                  <a:latin typeface="Garamond" panose="02020404030301010803" pitchFamily="18" charset="0"/>
                  <a:ea typeface="SimSun" panose="02010600030101010101" pitchFamily="2" charset="-122"/>
                </a:endParaRPr>
              </a:p>
              <a:p>
                <a:r>
                  <a:rPr lang="zh-CN" altLang="en-US" dirty="0">
                    <a:latin typeface="Garamond" panose="02020404030301010803" pitchFamily="18" charset="0"/>
                    <a:ea typeface="SimSun" panose="02010600030101010101" pitchFamily="2" charset="-122"/>
                  </a:rPr>
                  <a:t>消费函数：</a:t>
                </a:r>
                <a:endParaRPr lang="en-US" altLang="zh-CN" dirty="0">
                  <a:latin typeface="Garamond" panose="02020404030301010803" pitchFamily="18" charset="0"/>
                  <a:ea typeface="SimSun" panose="02010600030101010101" pitchFamily="2" charset="-122"/>
                </a:endParaRPr>
              </a:p>
              <a:p>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𝑐𝑌</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𝑐</m:t>
                    </m:r>
                    <m:r>
                      <a:rPr lang="zh-CN" altLang="en-US" i="1">
                        <a:latin typeface="Cambria Math" panose="02040503050406030204" pitchFamily="18" charset="0"/>
                      </a:rPr>
                      <m:t>𝜃</m:t>
                    </m:r>
                    <m:sSub>
                      <m:sSubPr>
                        <m:ctrlPr>
                          <a:rPr lang="en-US" altLang="zh-CN" i="1">
                            <a:latin typeface="Cambria Math" panose="02040503050406030204" pitchFamily="18" charset="0"/>
                          </a:rPr>
                        </m:ctrlPr>
                      </m:sSubPr>
                      <m:e>
                        <m:r>
                          <a:rPr lang="en-US" altLang="zh-CN" i="1">
                            <a:latin typeface="Cambria Math" panose="02040503050406030204" pitchFamily="18" charset="0"/>
                          </a:rPr>
                          <m:t>𝑌</m:t>
                        </m:r>
                      </m:e>
                      <m:sub>
                        <m:r>
                          <a:rPr lang="en-US" altLang="zh-CN" i="1">
                            <a:latin typeface="Cambria Math" panose="02040503050406030204" pitchFamily="18" charset="0"/>
                          </a:rPr>
                          <m:t>𝑡</m:t>
                        </m:r>
                      </m:sub>
                    </m:sSub>
                    <m:r>
                      <a:rPr lang="en-US" altLang="zh-CN" i="1">
                        <a:latin typeface="Cambria Math" panose="02040503050406030204" pitchFamily="18" charset="0"/>
                      </a:rPr>
                      <m:t>+</m:t>
                    </m:r>
                    <m:r>
                      <a:rPr lang="en-US" altLang="zh-CN" b="0" i="1" smtClean="0">
                        <a:latin typeface="Cambria Math" panose="02040503050406030204" pitchFamily="18" charset="0"/>
                      </a:rPr>
                      <m:t>𝑐</m:t>
                    </m:r>
                    <m:r>
                      <a:rPr lang="en-US" altLang="zh-CN" i="1">
                        <a:latin typeface="Cambria Math" panose="02040503050406030204" pitchFamily="18" charset="0"/>
                      </a:rPr>
                      <m:t>(1−</m:t>
                    </m:r>
                    <m:r>
                      <a:rPr lang="zh-CN" altLang="en-US" i="1">
                        <a:latin typeface="Cambria Math" panose="02040503050406030204" pitchFamily="18" charset="0"/>
                      </a:rPr>
                      <m:t>𝜃</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𝑌</m:t>
                        </m:r>
                      </m:e>
                      <m:sub>
                        <m:r>
                          <a:rPr lang="en-US" altLang="zh-CN" i="1">
                            <a:latin typeface="Cambria Math" panose="02040503050406030204" pitchFamily="18" charset="0"/>
                          </a:rPr>
                          <m:t>𝑡</m:t>
                        </m:r>
                        <m:r>
                          <a:rPr lang="en-US" altLang="zh-CN" i="1">
                            <a:latin typeface="Cambria Math" panose="02040503050406030204" pitchFamily="18" charset="0"/>
                          </a:rPr>
                          <m:t>−1</m:t>
                        </m:r>
                      </m:sub>
                    </m:sSub>
                  </m:oMath>
                </a14:m>
                <a:endParaRPr lang="zh-CN" altLang="en-US" dirty="0">
                  <a:latin typeface="Garamond" panose="02020404030301010803" pitchFamily="18" charset="0"/>
                  <a:ea typeface="SimSun"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1832" t="-2475" r="-1527"/>
                </a:stretch>
              </a:blipFill>
            </p:spPr>
            <p:txBody>
              <a:bodyPr/>
              <a:lstStyle/>
              <a:p>
                <a:r>
                  <a:rPr lang="zh-CN" altLang="en-US">
                    <a:noFill/>
                  </a:rPr>
                  <a:t> </a:t>
                </a:r>
              </a:p>
            </p:txBody>
          </p:sp>
        </mc:Fallback>
      </mc:AlternateContent>
      <p:sp>
        <p:nvSpPr>
          <p:cNvPr id="7" name="标题 6">
            <a:extLst>
              <a:ext uri="{FF2B5EF4-FFF2-40B4-BE49-F238E27FC236}">
                <a16:creationId xmlns:a16="http://schemas.microsoft.com/office/drawing/2014/main" id="{7AAE04CF-D739-FEF3-17C1-2F3FA29F024B}"/>
              </a:ext>
            </a:extLst>
          </p:cNvPr>
          <p:cNvSpPr>
            <a:spLocks noGrp="1"/>
          </p:cNvSpPr>
          <p:nvPr>
            <p:ph type="title"/>
          </p:nvPr>
        </p:nvSpPr>
        <p:spPr/>
        <p:txBody>
          <a:bodyPr/>
          <a:lstStyle/>
          <a:p>
            <a:r>
              <a:rPr kumimoji="1" lang="zh-CN" altLang="en-US" dirty="0"/>
              <a:t>永久收入消费理论</a:t>
            </a:r>
          </a:p>
        </p:txBody>
      </p:sp>
      <p:sp>
        <p:nvSpPr>
          <p:cNvPr id="8" name="灯片编号占位符 2">
            <a:extLst>
              <a:ext uri="{FF2B5EF4-FFF2-40B4-BE49-F238E27FC236}">
                <a16:creationId xmlns:a16="http://schemas.microsoft.com/office/drawing/2014/main" id="{F1AD782D-B293-F67F-FCA5-CDF2E87D69AC}"/>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51</a:t>
            </a:fld>
            <a:endParaRPr lang="zh-CN" altLang="zh-CN" sz="856">
              <a:solidFill>
                <a:srgbClr val="777777"/>
              </a:solidFill>
              <a:ea typeface="宋体" panose="02010600030101010101" pitchFamily="2" charset="-122"/>
            </a:endParaRPr>
          </a:p>
        </p:txBody>
      </p:sp>
      <p:sp>
        <p:nvSpPr>
          <p:cNvPr id="2" name="页脚占位符 1">
            <a:extLst>
              <a:ext uri="{FF2B5EF4-FFF2-40B4-BE49-F238E27FC236}">
                <a16:creationId xmlns:a16="http://schemas.microsoft.com/office/drawing/2014/main" id="{8FCAD55F-0624-AA55-D33B-54D7DDF9E1C6}"/>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41700859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7AAE04CF-D739-FEF3-17C1-2F3FA29F024B}"/>
              </a:ext>
            </a:extLst>
          </p:cNvPr>
          <p:cNvSpPr>
            <a:spLocks noGrp="1"/>
          </p:cNvSpPr>
          <p:nvPr>
            <p:ph type="title"/>
          </p:nvPr>
        </p:nvSpPr>
        <p:spPr/>
        <p:txBody>
          <a:bodyPr/>
          <a:lstStyle/>
          <a:p>
            <a:r>
              <a:rPr kumimoji="1" lang="zh-CN" altLang="en-US" dirty="0"/>
              <a:t>使用消费函数决定收入：</a:t>
            </a:r>
            <a:r>
              <a:rPr kumimoji="1" lang="en-US" altLang="zh-CN" dirty="0"/>
              <a:t>AE-NI</a:t>
            </a:r>
            <a:r>
              <a:rPr kumimoji="1" lang="zh-CN" altLang="en-US" dirty="0"/>
              <a:t>模型</a:t>
            </a:r>
          </a:p>
        </p:txBody>
      </p:sp>
      <p:pic>
        <p:nvPicPr>
          <p:cNvPr id="8" name="Picture 4" descr="xf138">
            <a:extLst>
              <a:ext uri="{FF2B5EF4-FFF2-40B4-BE49-F238E27FC236}">
                <a16:creationId xmlns:a16="http://schemas.microsoft.com/office/drawing/2014/main" id="{D48E997B-83E3-ACF4-F80B-50AE817120D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5789" y="705249"/>
            <a:ext cx="3844623" cy="2050252"/>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a:extLst>
              <a:ext uri="{FF2B5EF4-FFF2-40B4-BE49-F238E27FC236}">
                <a16:creationId xmlns:a16="http://schemas.microsoft.com/office/drawing/2014/main" id="{0F4FA935-64E2-52EB-1B1D-C023AC024D26}"/>
              </a:ext>
            </a:extLst>
          </p:cNvPr>
          <p:cNvSpPr txBox="1"/>
          <p:nvPr/>
        </p:nvSpPr>
        <p:spPr>
          <a:xfrm>
            <a:off x="667874" y="2755501"/>
            <a:ext cx="3297995" cy="247440"/>
          </a:xfrm>
          <a:prstGeom prst="rect">
            <a:avLst/>
          </a:prstGeom>
          <a:noFill/>
        </p:spPr>
        <p:txBody>
          <a:bodyPr wrap="square">
            <a:spAutoFit/>
          </a:bodyPr>
          <a:lstStyle/>
          <a:p>
            <a:pPr algn="ctr"/>
            <a:r>
              <a:rPr kumimoji="1" lang="zh-CN" altLang="en-US" sz="1008" b="1" dirty="0">
                <a:latin typeface="KaiTi" panose="02010609060101010101" pitchFamily="49" charset="-122"/>
                <a:ea typeface="KaiTi" panose="02010609060101010101" pitchFamily="49" charset="-122"/>
              </a:rPr>
              <a:t>凯恩斯交叉：</a:t>
            </a:r>
            <a:r>
              <a:rPr kumimoji="1" lang="zh-CN" altLang="en-US" sz="1008" dirty="0">
                <a:latin typeface="KaiTi" panose="02010609060101010101" pitchFamily="49" charset="-122"/>
                <a:ea typeface="KaiTi" panose="02010609060101010101" pitchFamily="49" charset="-122"/>
              </a:rPr>
              <a:t>消费加投资曲线和</a:t>
            </a:r>
            <a:r>
              <a:rPr kumimoji="1" lang="en-US" altLang="zh-CN" sz="1008" dirty="0">
                <a:latin typeface="KaiTi" panose="02010609060101010101" pitchFamily="49" charset="-122"/>
                <a:ea typeface="KaiTi" panose="02010609060101010101" pitchFamily="49" charset="-122"/>
              </a:rPr>
              <a:t>45</a:t>
            </a:r>
            <a:r>
              <a:rPr kumimoji="1" lang="zh-CN" altLang="en-US" sz="1008" dirty="0">
                <a:latin typeface="KaiTi" panose="02010609060101010101" pitchFamily="49" charset="-122"/>
                <a:ea typeface="KaiTi" panose="02010609060101010101" pitchFamily="49" charset="-122"/>
              </a:rPr>
              <a:t>度线相交决定收入</a:t>
            </a:r>
            <a:endParaRPr lang="zh-CN" altLang="en-US" sz="1008" dirty="0">
              <a:latin typeface="KaiTi" panose="02010609060101010101" pitchFamily="49" charset="-122"/>
              <a:ea typeface="KaiTi" panose="02010609060101010101" pitchFamily="49" charset="-122"/>
            </a:endParaRPr>
          </a:p>
        </p:txBody>
      </p:sp>
      <p:sp>
        <p:nvSpPr>
          <p:cNvPr id="12" name="文本框 11">
            <a:extLst>
              <a:ext uri="{FF2B5EF4-FFF2-40B4-BE49-F238E27FC236}">
                <a16:creationId xmlns:a16="http://schemas.microsoft.com/office/drawing/2014/main" id="{9B6CFF7E-31BB-856B-95A3-DA34CEACB43D}"/>
              </a:ext>
            </a:extLst>
          </p:cNvPr>
          <p:cNvSpPr txBox="1"/>
          <p:nvPr/>
        </p:nvSpPr>
        <p:spPr>
          <a:xfrm>
            <a:off x="1896963" y="542320"/>
            <a:ext cx="2305050" cy="371768"/>
          </a:xfrm>
          <a:prstGeom prst="rect">
            <a:avLst/>
          </a:prstGeom>
          <a:noFill/>
        </p:spPr>
        <p:txBody>
          <a:bodyPr wrap="square">
            <a:spAutoFit/>
          </a:bodyPr>
          <a:lstStyle/>
          <a:p>
            <a:r>
              <a:rPr lang="zh-CN" altLang="en-US" sz="908" b="1" dirty="0">
                <a:solidFill>
                  <a:srgbClr val="00B0F0"/>
                </a:solidFill>
                <a:latin typeface="SimSun" panose="02010600030101010101" pitchFamily="2" charset="-122"/>
                <a:ea typeface="SimSun" panose="02010600030101010101" pitchFamily="2" charset="-122"/>
              </a:rPr>
              <a:t>意愿支出</a:t>
            </a:r>
            <a:r>
              <a:rPr lang="en-US" altLang="zh-CN" sz="908" dirty="0">
                <a:solidFill>
                  <a:srgbClr val="00B0F0"/>
                </a:solidFill>
                <a:latin typeface="SimSun" panose="02010600030101010101" pitchFamily="2" charset="-122"/>
                <a:ea typeface="SimSun" panose="02010600030101010101" pitchFamily="2" charset="-122"/>
              </a:rPr>
              <a:t>AE</a:t>
            </a:r>
            <a:r>
              <a:rPr lang="zh-CN" altLang="en-US" sz="908" dirty="0">
                <a:solidFill>
                  <a:srgbClr val="00B0F0"/>
                </a:solidFill>
                <a:latin typeface="SimSun" panose="02010600030101010101" pitchFamily="2" charset="-122"/>
                <a:ea typeface="SimSun" panose="02010600030101010101" pitchFamily="2" charset="-122"/>
              </a:rPr>
              <a:t>：由意愿的家庭消费支出</a:t>
            </a:r>
            <a:r>
              <a:rPr lang="en-US" altLang="zh-CN" sz="908" dirty="0">
                <a:solidFill>
                  <a:srgbClr val="00B0F0"/>
                </a:solidFill>
                <a:latin typeface="SimSun" panose="02010600030101010101" pitchFamily="2" charset="-122"/>
                <a:ea typeface="SimSun" panose="02010600030101010101" pitchFamily="2" charset="-122"/>
              </a:rPr>
              <a:t>c</a:t>
            </a:r>
            <a:r>
              <a:rPr lang="zh-CN" altLang="en-US" sz="908" dirty="0">
                <a:solidFill>
                  <a:srgbClr val="00B0F0"/>
                </a:solidFill>
                <a:latin typeface="SimSun" panose="02010600030101010101" pitchFamily="2" charset="-122"/>
                <a:ea typeface="SimSun" panose="02010600030101010101" pitchFamily="2" charset="-122"/>
              </a:rPr>
              <a:t>和企业投资支出</a:t>
            </a:r>
            <a:r>
              <a:rPr lang="en-US" altLang="zh-CN" sz="908" dirty="0" err="1">
                <a:solidFill>
                  <a:srgbClr val="00B0F0"/>
                </a:solidFill>
                <a:latin typeface="SimSun" panose="02010600030101010101" pitchFamily="2" charset="-122"/>
                <a:ea typeface="SimSun" panose="02010600030101010101" pitchFamily="2" charset="-122"/>
              </a:rPr>
              <a:t>i</a:t>
            </a:r>
            <a:r>
              <a:rPr lang="zh-CN" altLang="en-US" sz="908" dirty="0">
                <a:solidFill>
                  <a:srgbClr val="00B0F0"/>
                </a:solidFill>
                <a:latin typeface="SimSun" panose="02010600030101010101" pitchFamily="2" charset="-122"/>
                <a:ea typeface="SimSun" panose="02010600030101010101" pitchFamily="2" charset="-122"/>
              </a:rPr>
              <a:t>构成，即</a:t>
            </a:r>
            <a:r>
              <a:rPr lang="en-US" altLang="zh-CN" sz="908" dirty="0">
                <a:solidFill>
                  <a:srgbClr val="00B0F0"/>
                </a:solidFill>
                <a:latin typeface="SimSun" panose="02010600030101010101" pitchFamily="2" charset="-122"/>
                <a:ea typeface="SimSun" panose="02010600030101010101" pitchFamily="2" charset="-122"/>
              </a:rPr>
              <a:t>y=</a:t>
            </a:r>
            <a:r>
              <a:rPr lang="en-US" altLang="zh-CN" sz="908" dirty="0" err="1">
                <a:solidFill>
                  <a:srgbClr val="00B0F0"/>
                </a:solidFill>
                <a:latin typeface="SimSun" panose="02010600030101010101" pitchFamily="2" charset="-122"/>
                <a:ea typeface="SimSun" panose="02010600030101010101" pitchFamily="2" charset="-122"/>
              </a:rPr>
              <a:t>c+i</a:t>
            </a:r>
            <a:endParaRPr lang="en-US" altLang="zh-CN" sz="908" dirty="0">
              <a:solidFill>
                <a:srgbClr val="00B0F0"/>
              </a:solidFill>
              <a:latin typeface="SimSun" panose="02010600030101010101" pitchFamily="2" charset="-122"/>
              <a:ea typeface="SimSun" panose="02010600030101010101" pitchFamily="2" charset="-122"/>
            </a:endParaRPr>
          </a:p>
        </p:txBody>
      </p:sp>
      <p:sp>
        <p:nvSpPr>
          <p:cNvPr id="14" name="文本框 13">
            <a:extLst>
              <a:ext uri="{FF2B5EF4-FFF2-40B4-BE49-F238E27FC236}">
                <a16:creationId xmlns:a16="http://schemas.microsoft.com/office/drawing/2014/main" id="{B0694583-03E7-3462-EA09-214FDF7EE97F}"/>
              </a:ext>
            </a:extLst>
          </p:cNvPr>
          <p:cNvSpPr txBox="1"/>
          <p:nvPr/>
        </p:nvSpPr>
        <p:spPr>
          <a:xfrm>
            <a:off x="2750035" y="1567445"/>
            <a:ext cx="1103536" cy="511487"/>
          </a:xfrm>
          <a:prstGeom prst="rect">
            <a:avLst/>
          </a:prstGeom>
          <a:noFill/>
        </p:spPr>
        <p:txBody>
          <a:bodyPr wrap="square">
            <a:spAutoFit/>
          </a:bodyPr>
          <a:lstStyle/>
          <a:p>
            <a:r>
              <a:rPr lang="zh-CN" altLang="en-US" sz="908" b="1" dirty="0">
                <a:latin typeface="SimSun" panose="02010600030101010101" pitchFamily="2" charset="-122"/>
                <a:ea typeface="SimSun" panose="02010600030101010101" pitchFamily="2" charset="-122"/>
              </a:rPr>
              <a:t>均衡条件：</a:t>
            </a:r>
            <a:endParaRPr lang="en-US" altLang="zh-CN" sz="908" b="1" dirty="0">
              <a:latin typeface="SimSun" panose="02010600030101010101" pitchFamily="2" charset="-122"/>
              <a:ea typeface="SimSun" panose="02010600030101010101" pitchFamily="2" charset="-122"/>
            </a:endParaRPr>
          </a:p>
          <a:p>
            <a:r>
              <a:rPr lang="zh-CN" altLang="en-US" sz="908" b="1" dirty="0">
                <a:latin typeface="SimSun" panose="02010600030101010101" pitchFamily="2" charset="-122"/>
                <a:ea typeface="SimSun" panose="02010600030101010101" pitchFamily="2" charset="-122"/>
              </a:rPr>
              <a:t>均衡产出</a:t>
            </a:r>
            <a:r>
              <a:rPr lang="en-US" altLang="zh-CN" sz="908" dirty="0">
                <a:latin typeface="SimSun" panose="02010600030101010101" pitchFamily="2" charset="-122"/>
                <a:ea typeface="SimSun" panose="02010600030101010101" pitchFamily="2" charset="-122"/>
              </a:rPr>
              <a:t>=</a:t>
            </a:r>
            <a:r>
              <a:rPr lang="zh-CN" altLang="en-US" sz="908" dirty="0">
                <a:latin typeface="SimSun" panose="02010600030101010101" pitchFamily="2" charset="-122"/>
                <a:ea typeface="SimSun" panose="02010600030101010101" pitchFamily="2" charset="-122"/>
              </a:rPr>
              <a:t>意愿支出</a:t>
            </a:r>
            <a:endParaRPr lang="en-US" altLang="zh-CN" sz="908" dirty="0">
              <a:latin typeface="SimSun" panose="02010600030101010101" pitchFamily="2" charset="-122"/>
              <a:ea typeface="SimSun" panose="02010600030101010101" pitchFamily="2" charset="-122"/>
            </a:endParaRPr>
          </a:p>
        </p:txBody>
      </p:sp>
      <p:sp>
        <p:nvSpPr>
          <p:cNvPr id="15" name="灯片编号占位符 2">
            <a:extLst>
              <a:ext uri="{FF2B5EF4-FFF2-40B4-BE49-F238E27FC236}">
                <a16:creationId xmlns:a16="http://schemas.microsoft.com/office/drawing/2014/main" id="{8DDF71A0-D162-EBF1-3803-FA6D8BED6741}"/>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52</a:t>
            </a:fld>
            <a:endParaRPr lang="zh-CN" altLang="zh-CN" sz="856">
              <a:solidFill>
                <a:srgbClr val="777777"/>
              </a:solidFill>
              <a:ea typeface="宋体" panose="02010600030101010101" pitchFamily="2" charset="-122"/>
            </a:endParaRPr>
          </a:p>
        </p:txBody>
      </p:sp>
      <p:sp>
        <p:nvSpPr>
          <p:cNvPr id="2" name="页脚占位符 1">
            <a:extLst>
              <a:ext uri="{FF2B5EF4-FFF2-40B4-BE49-F238E27FC236}">
                <a16:creationId xmlns:a16="http://schemas.microsoft.com/office/drawing/2014/main" id="{9E4CD36C-8548-6C79-9ACE-AFE74BF09E3F}"/>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2270376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latin typeface="Garamond" panose="02020404030301010803" pitchFamily="18" charset="0"/>
                    <a:ea typeface="SimSun" panose="02010600030101010101" pitchFamily="2" charset="-122"/>
                  </a:rPr>
                  <a:t>收入恒等式与消费函数联立起来：</a:t>
                </a:r>
                <a:endParaRPr lang="en-US" altLang="zh-CN" dirty="0">
                  <a:latin typeface="Garamond" panose="02020404030301010803" pitchFamily="18" charset="0"/>
                  <a:ea typeface="SimSun" panose="02010600030101010101" pitchFamily="2" charset="-122"/>
                </a:endParaRPr>
              </a:p>
              <a:p>
                <a14:m>
                  <m:oMath xmlns:m="http://schemas.openxmlformats.org/officeDocument/2006/math">
                    <m:d>
                      <m:dPr>
                        <m:begChr m:val="{"/>
                        <m:endChr m:val=""/>
                        <m:ctrlPr>
                          <a:rPr lang="en-US" altLang="zh-CN" i="1" smtClean="0">
                            <a:latin typeface="Cambria Math" panose="02040503050406030204" pitchFamily="18" charset="0"/>
                          </a:rPr>
                        </m:ctrlPr>
                      </m:dPr>
                      <m:e>
                        <m:eqArr>
                          <m:eqArrPr>
                            <m:ctrlPr>
                              <a:rPr lang="en-US" altLang="zh-CN" i="1" smtClean="0">
                                <a:latin typeface="Cambria Math" panose="02040503050406030204" pitchFamily="18" charset="0"/>
                              </a:rPr>
                            </m:ctrlPr>
                          </m:eqArrPr>
                          <m:e>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𝑐</m:t>
                            </m:r>
                            <m:r>
                              <a:rPr lang="en-US" altLang="zh-CN" b="0" i="1" smtClean="0">
                                <a:latin typeface="Cambria Math" panose="02040503050406030204" pitchFamily="18" charset="0"/>
                              </a:rPr>
                              <m:t>+</m:t>
                            </m:r>
                            <m:r>
                              <a:rPr lang="en-US" altLang="zh-CN" b="0" i="1" smtClean="0">
                                <a:latin typeface="Cambria Math" panose="02040503050406030204" pitchFamily="18" charset="0"/>
                              </a:rPr>
                              <m:t>𝑖</m:t>
                            </m:r>
                          </m:e>
                          <m:e>
                            <m:r>
                              <a:rPr lang="en-US" altLang="zh-CN" b="0" i="1" smtClean="0">
                                <a:latin typeface="Cambria Math" panose="02040503050406030204" pitchFamily="18" charset="0"/>
                              </a:rPr>
                              <m:t>𝑐</m:t>
                            </m:r>
                            <m:r>
                              <a:rPr lang="en-US" altLang="zh-CN" b="0" i="1" smtClean="0">
                                <a:latin typeface="Cambria Math" panose="02040503050406030204" pitchFamily="18" charset="0"/>
                              </a:rPr>
                              <m:t>=</m:t>
                            </m:r>
                            <m:r>
                              <a:rPr lang="zh-CN" altLang="en-US" b="0" i="1" smtClean="0">
                                <a:latin typeface="Cambria Math" panose="02040503050406030204" pitchFamily="18" charset="0"/>
                                <a:ea typeface="Cambria Math" panose="02040503050406030204" pitchFamily="18" charset="0"/>
                              </a:rPr>
                              <m:t>𝛼</m:t>
                            </m:r>
                            <m:r>
                              <a:rPr lang="en-US" altLang="zh-CN" b="0" i="1" smtClean="0">
                                <a:latin typeface="Cambria Math" panose="02040503050406030204" pitchFamily="18" charset="0"/>
                                <a:ea typeface="Cambria Math" panose="02040503050406030204" pitchFamily="18" charset="0"/>
                              </a:rPr>
                              <m:t>+</m:t>
                            </m:r>
                            <m:r>
                              <a:rPr lang="zh-CN" altLang="en-US" b="0" i="1" smtClean="0">
                                <a:latin typeface="Cambria Math" panose="02040503050406030204" pitchFamily="18" charset="0"/>
                                <a:ea typeface="Cambria Math" panose="02040503050406030204" pitchFamily="18" charset="0"/>
                              </a:rPr>
                              <m:t>𝛽</m:t>
                            </m:r>
                            <m:r>
                              <a:rPr lang="en-US" altLang="zh-CN" b="0" i="1" smtClean="0">
                                <a:latin typeface="Cambria Math" panose="02040503050406030204" pitchFamily="18" charset="0"/>
                                <a:ea typeface="Cambria Math" panose="02040503050406030204" pitchFamily="18" charset="0"/>
                              </a:rPr>
                              <m:t>𝑦</m:t>
                            </m:r>
                          </m:e>
                        </m:eqArr>
                      </m:e>
                    </m:d>
                  </m:oMath>
                </a14:m>
                <a:r>
                  <a:rPr lang="zh-CN" altLang="en-US" dirty="0">
                    <a:latin typeface="Garamond" panose="02020404030301010803" pitchFamily="18" charset="0"/>
                    <a:ea typeface="SimSun" panose="02010600030101010101" pitchFamily="2" charset="-122"/>
                  </a:rPr>
                  <a:t>               </a:t>
                </a:r>
                <a:endParaRPr lang="en-US" altLang="zh-CN" dirty="0">
                  <a:latin typeface="Garamond" panose="02020404030301010803" pitchFamily="18" charset="0"/>
                  <a:ea typeface="SimSun" panose="02010600030101010101" pitchFamily="2" charset="-122"/>
                </a:endParaRPr>
              </a:p>
              <a:p>
                <a:r>
                  <a:rPr lang="zh-CN" altLang="en-US" dirty="0">
                    <a:latin typeface="Garamond" panose="02020404030301010803" pitchFamily="18" charset="0"/>
                    <a:ea typeface="SimSun" panose="02010600030101010101" pitchFamily="2" charset="-122"/>
                  </a:rPr>
                  <a:t>求得均衡收入</a:t>
                </a:r>
                <a:r>
                  <a:rPr lang="en-US" altLang="zh-CN" dirty="0">
                    <a:latin typeface="Garamond" panose="02020404030301010803" pitchFamily="18" charset="0"/>
                    <a:ea typeface="SimSun" panose="02010600030101010101" pitchFamily="2" charset="-122"/>
                  </a:rPr>
                  <a:t>:</a:t>
                </a:r>
              </a:p>
              <a:p>
                <a:r>
                  <a:rPr lang="zh-CN" altLang="en-US" dirty="0">
                    <a:latin typeface="Garamond" panose="02020404030301010803" pitchFamily="18" charset="0"/>
                    <a:ea typeface="SimSun" panose="02010600030101010101" pitchFamily="2" charset="-122"/>
                  </a:rPr>
                  <a:t> </a:t>
                </a:r>
                <a14:m>
                  <m:oMath xmlns:m="http://schemas.openxmlformats.org/officeDocument/2006/math">
                    <m:r>
                      <a:rPr lang="en-US" altLang="zh-CN" b="0" i="1" dirty="0" smtClean="0">
                        <a:latin typeface="Cambria Math" panose="02040503050406030204" pitchFamily="18" charset="0"/>
                      </a:rPr>
                      <m:t>𝑦</m:t>
                    </m:r>
                    <m:r>
                      <a:rPr lang="en-US" altLang="zh-CN" b="0" i="1" dirty="0" smtClean="0">
                        <a:latin typeface="Cambria Math" panose="02040503050406030204" pitchFamily="18" charset="0"/>
                      </a:rPr>
                      <m:t>=</m:t>
                    </m:r>
                    <m:f>
                      <m:fPr>
                        <m:ctrlPr>
                          <a:rPr lang="en-US" altLang="zh-CN" b="0" i="1" dirty="0" smtClean="0">
                            <a:latin typeface="Cambria Math" panose="02040503050406030204" pitchFamily="18" charset="0"/>
                          </a:rPr>
                        </m:ctrlPr>
                      </m:fPr>
                      <m:num>
                        <m:r>
                          <a:rPr lang="zh-CN" altLang="en-US" b="0" i="1" dirty="0" smtClean="0">
                            <a:latin typeface="Cambria Math" panose="02040503050406030204" pitchFamily="18" charset="0"/>
                          </a:rPr>
                          <m:t>𝛼</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𝑖</m:t>
                        </m:r>
                      </m:num>
                      <m:den>
                        <m:r>
                          <a:rPr lang="en-US" altLang="zh-CN" b="0" i="1" dirty="0" smtClean="0">
                            <a:latin typeface="Cambria Math" panose="02040503050406030204" pitchFamily="18" charset="0"/>
                          </a:rPr>
                          <m:t>1−</m:t>
                        </m:r>
                        <m:r>
                          <a:rPr lang="zh-CN" altLang="en-US" b="0" i="1" dirty="0" smtClean="0">
                            <a:latin typeface="Cambria Math" panose="02040503050406030204" pitchFamily="18" charset="0"/>
                          </a:rPr>
                          <m:t>𝛽</m:t>
                        </m:r>
                      </m:den>
                    </m:f>
                  </m:oMath>
                </a14:m>
                <a:endParaRPr lang="en-US" altLang="zh-CN" dirty="0">
                  <a:latin typeface="Garamond" panose="02020404030301010803" pitchFamily="18" charset="0"/>
                  <a:ea typeface="SimSun" panose="02010600030101010101" pitchFamily="2" charset="-122"/>
                </a:endParaRPr>
              </a:p>
              <a:p>
                <a14:m>
                  <m:oMath xmlns:m="http://schemas.openxmlformats.org/officeDocument/2006/math">
                    <m:r>
                      <a:rPr lang="en-US" altLang="zh-CN" i="1" dirty="0">
                        <a:latin typeface="Cambria Math" panose="02040503050406030204" pitchFamily="18" charset="0"/>
                      </a:rPr>
                      <m:t>𝑖</m:t>
                    </m:r>
                  </m:oMath>
                </a14:m>
                <a:r>
                  <a:rPr lang="zh-CN" altLang="en-US" dirty="0">
                    <a:latin typeface="Garamond" panose="02020404030301010803" pitchFamily="18" charset="0"/>
                    <a:ea typeface="SimSun" panose="02010600030101010101" pitchFamily="2" charset="-122"/>
                  </a:rPr>
                  <a:t>是自发的计划投资。</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14804" t="-21463"/>
                </a:stretch>
              </a:blipFill>
            </p:spPr>
            <p:txBody>
              <a:bodyPr/>
              <a:lstStyle/>
              <a:p>
                <a:r>
                  <a:rPr lang="zh-CN" altLang="en-US">
                    <a:noFill/>
                  </a:rPr>
                  <a:t> </a:t>
                </a:r>
              </a:p>
            </p:txBody>
          </p:sp>
        </mc:Fallback>
      </mc:AlternateContent>
      <p:sp>
        <p:nvSpPr>
          <p:cNvPr id="7" name="标题 6">
            <a:extLst>
              <a:ext uri="{FF2B5EF4-FFF2-40B4-BE49-F238E27FC236}">
                <a16:creationId xmlns:a16="http://schemas.microsoft.com/office/drawing/2014/main" id="{FA04EB52-7DD1-176D-B6BD-749188C8F97C}"/>
              </a:ext>
            </a:extLst>
          </p:cNvPr>
          <p:cNvSpPr>
            <a:spLocks noGrp="1"/>
          </p:cNvSpPr>
          <p:nvPr>
            <p:ph type="title"/>
          </p:nvPr>
        </p:nvSpPr>
        <p:spPr/>
        <p:txBody>
          <a:bodyPr/>
          <a:lstStyle/>
          <a:p>
            <a:r>
              <a:rPr kumimoji="1" lang="zh-CN" altLang="en-US" dirty="0"/>
              <a:t>使用消费函数决定收入</a:t>
            </a:r>
          </a:p>
        </p:txBody>
      </p:sp>
      <p:sp>
        <p:nvSpPr>
          <p:cNvPr id="8" name="灯片编号占位符 2">
            <a:extLst>
              <a:ext uri="{FF2B5EF4-FFF2-40B4-BE49-F238E27FC236}">
                <a16:creationId xmlns:a16="http://schemas.microsoft.com/office/drawing/2014/main" id="{6A8DDC3C-3096-918B-2324-728C83295EED}"/>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53</a:t>
            </a:fld>
            <a:endParaRPr lang="zh-CN" altLang="zh-CN" sz="856">
              <a:solidFill>
                <a:srgbClr val="777777"/>
              </a:solidFill>
              <a:ea typeface="宋体" panose="02010600030101010101" pitchFamily="2" charset="-122"/>
            </a:endParaRPr>
          </a:p>
        </p:txBody>
      </p:sp>
      <p:sp>
        <p:nvSpPr>
          <p:cNvPr id="9" name="页脚占位符 1">
            <a:extLst>
              <a:ext uri="{FF2B5EF4-FFF2-40B4-BE49-F238E27FC236}">
                <a16:creationId xmlns:a16="http://schemas.microsoft.com/office/drawing/2014/main" id="{1D5B9B0F-CF85-0177-0B36-E046EA9EFCD3}"/>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6646458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1C521C69-06B2-FBA2-1318-8F736BBE4ECE}"/>
              </a:ext>
            </a:extLst>
          </p:cNvPr>
          <p:cNvSpPr>
            <a:spLocks noGrp="1" noChangeArrowheads="1"/>
          </p:cNvSpPr>
          <p:nvPr>
            <p:ph type="body" idx="1"/>
          </p:nvPr>
        </p:nvSpPr>
        <p:spPr>
          <a:xfrm>
            <a:off x="277987" y="682060"/>
            <a:ext cx="4175670" cy="2680361"/>
          </a:xfrm>
        </p:spPr>
        <p:txBody>
          <a:bodyPr/>
          <a:lstStyle/>
          <a:p>
            <a:pPr marL="0" indent="0">
              <a:lnSpc>
                <a:spcPct val="150000"/>
              </a:lnSpc>
              <a:spcBef>
                <a:spcPct val="40000"/>
              </a:spcBef>
              <a:buNone/>
            </a:pPr>
            <a:r>
              <a:rPr lang="zh-CN" altLang="en-US" sz="1412" dirty="0">
                <a:solidFill>
                  <a:srgbClr val="000000"/>
                </a:solidFill>
                <a:latin typeface="Garamond" panose="02020404030301010803" pitchFamily="18" charset="0"/>
                <a:ea typeface="SimSun" panose="02010600030101010101" pitchFamily="2" charset="-122"/>
              </a:rPr>
              <a:t>假定某经济的消费函数为</a:t>
            </a:r>
            <a:r>
              <a:rPr lang="en" altLang="zh-CN" sz="1412" dirty="0">
                <a:solidFill>
                  <a:srgbClr val="000000"/>
                </a:solidFill>
                <a:latin typeface="Garamond" panose="02020404030301010803" pitchFamily="18" charset="0"/>
                <a:ea typeface="SimSun" panose="02010600030101010101" pitchFamily="2" charset="-122"/>
              </a:rPr>
              <a:t>C=100+0.8Y</a:t>
            </a:r>
            <a:r>
              <a:rPr lang="en" altLang="zh-CN" sz="1412" baseline="-25000" dirty="0">
                <a:solidFill>
                  <a:srgbClr val="000000"/>
                </a:solidFill>
                <a:latin typeface="Garamond" panose="02020404030301010803" pitchFamily="18" charset="0"/>
                <a:ea typeface="SimSun" panose="02010600030101010101" pitchFamily="2" charset="-122"/>
              </a:rPr>
              <a:t>d</a:t>
            </a:r>
            <a:r>
              <a:rPr lang="zh-CN" altLang="en-US" sz="1412" baseline="-25000" dirty="0">
                <a:solidFill>
                  <a:srgbClr val="000000"/>
                </a:solidFill>
                <a:latin typeface="Garamond" panose="02020404030301010803" pitchFamily="18" charset="0"/>
                <a:ea typeface="SimSun" panose="02010600030101010101" pitchFamily="2" charset="-122"/>
              </a:rPr>
              <a:t>，</a:t>
            </a:r>
            <a:r>
              <a:rPr lang="en" altLang="zh-CN" sz="1412" dirty="0">
                <a:solidFill>
                  <a:srgbClr val="000000"/>
                </a:solidFill>
                <a:latin typeface="Garamond" panose="02020404030301010803" pitchFamily="18" charset="0"/>
                <a:ea typeface="SimSun" panose="02010600030101010101" pitchFamily="2" charset="-122"/>
              </a:rPr>
              <a:t>Y</a:t>
            </a:r>
            <a:r>
              <a:rPr lang="en" altLang="zh-CN" sz="1412" baseline="-25000" dirty="0">
                <a:solidFill>
                  <a:srgbClr val="000000"/>
                </a:solidFill>
                <a:latin typeface="Garamond" panose="02020404030301010803" pitchFamily="18" charset="0"/>
                <a:ea typeface="SimSun" panose="02010600030101010101" pitchFamily="2" charset="-122"/>
              </a:rPr>
              <a:t>d</a:t>
            </a:r>
            <a:r>
              <a:rPr lang="zh-CN" altLang="en-US" sz="1412" dirty="0">
                <a:solidFill>
                  <a:srgbClr val="000000"/>
                </a:solidFill>
                <a:latin typeface="Garamond" panose="02020404030301010803" pitchFamily="18" charset="0"/>
                <a:ea typeface="SimSun" panose="02010600030101010101" pitchFamily="2" charset="-122"/>
              </a:rPr>
              <a:t>为可支配收入，投资支出为</a:t>
            </a:r>
            <a:r>
              <a:rPr lang="en" altLang="zh-CN" sz="1412" dirty="0">
                <a:solidFill>
                  <a:srgbClr val="000000"/>
                </a:solidFill>
                <a:latin typeface="Garamond" panose="02020404030301010803" pitchFamily="18" charset="0"/>
                <a:ea typeface="SimSun" panose="02010600030101010101" pitchFamily="2" charset="-122"/>
              </a:rPr>
              <a:t>I=50</a:t>
            </a:r>
            <a:r>
              <a:rPr lang="zh-CN" altLang="en-US" sz="1412" dirty="0">
                <a:solidFill>
                  <a:srgbClr val="000000"/>
                </a:solidFill>
                <a:latin typeface="Garamond" panose="02020404030301010803" pitchFamily="18" charset="0"/>
                <a:ea typeface="SimSun" panose="02010600030101010101" pitchFamily="2" charset="-122"/>
              </a:rPr>
              <a:t>，政府购买支出为</a:t>
            </a:r>
            <a:r>
              <a:rPr lang="en" altLang="zh-CN" sz="1412" dirty="0">
                <a:solidFill>
                  <a:srgbClr val="000000"/>
                </a:solidFill>
                <a:latin typeface="Garamond" panose="02020404030301010803" pitchFamily="18" charset="0"/>
                <a:ea typeface="SimSun" panose="02010600030101010101" pitchFamily="2" charset="-122"/>
              </a:rPr>
              <a:t>G=200</a:t>
            </a:r>
            <a:r>
              <a:rPr lang="zh-CN" altLang="en-US" sz="1412" dirty="0">
                <a:solidFill>
                  <a:srgbClr val="000000"/>
                </a:solidFill>
                <a:latin typeface="Garamond" panose="02020404030301010803" pitchFamily="18" charset="0"/>
                <a:ea typeface="SimSun" panose="02010600030101010101" pitchFamily="2" charset="-122"/>
              </a:rPr>
              <a:t>，政府转移支付为</a:t>
            </a:r>
            <a:r>
              <a:rPr lang="en" altLang="zh-CN" sz="1412" dirty="0">
                <a:solidFill>
                  <a:srgbClr val="000000"/>
                </a:solidFill>
                <a:latin typeface="Garamond" panose="02020404030301010803" pitchFamily="18" charset="0"/>
                <a:ea typeface="SimSun" panose="02010600030101010101" pitchFamily="2" charset="-122"/>
              </a:rPr>
              <a:t>TR=62.5</a:t>
            </a:r>
            <a:r>
              <a:rPr lang="zh-CN" altLang="en-US" sz="1412" dirty="0">
                <a:solidFill>
                  <a:srgbClr val="000000"/>
                </a:solidFill>
                <a:latin typeface="Garamond" panose="02020404030301010803" pitchFamily="18" charset="0"/>
                <a:ea typeface="SimSun" panose="02010600030101010101" pitchFamily="2" charset="-122"/>
              </a:rPr>
              <a:t>，税收为</a:t>
            </a:r>
            <a:r>
              <a:rPr lang="en" altLang="zh-CN" sz="1412" dirty="0">
                <a:solidFill>
                  <a:srgbClr val="000000"/>
                </a:solidFill>
                <a:latin typeface="Garamond" panose="02020404030301010803" pitchFamily="18" charset="0"/>
                <a:ea typeface="SimSun" panose="02010600030101010101" pitchFamily="2" charset="-122"/>
              </a:rPr>
              <a:t>T=250</a:t>
            </a:r>
            <a:r>
              <a:rPr lang="zh-CN" altLang="en" sz="1412" dirty="0">
                <a:solidFill>
                  <a:srgbClr val="000000"/>
                </a:solidFill>
                <a:latin typeface="Garamond" panose="02020404030301010803" pitchFamily="18" charset="0"/>
                <a:ea typeface="SimSun" panose="02010600030101010101" pitchFamily="2" charset="-122"/>
              </a:rPr>
              <a:t>。</a:t>
            </a:r>
            <a:endParaRPr lang="en-US" altLang="zh-CN" sz="1412" dirty="0">
              <a:solidFill>
                <a:srgbClr val="000000"/>
              </a:solidFill>
              <a:latin typeface="Garamond" panose="02020404030301010803" pitchFamily="18" charset="0"/>
              <a:ea typeface="SimSun" panose="02010600030101010101" pitchFamily="2" charset="-122"/>
            </a:endParaRPr>
          </a:p>
          <a:p>
            <a:pPr marL="0" indent="0">
              <a:lnSpc>
                <a:spcPct val="150000"/>
              </a:lnSpc>
              <a:spcBef>
                <a:spcPct val="40000"/>
              </a:spcBef>
              <a:buNone/>
            </a:pPr>
            <a:r>
              <a:rPr lang="zh-CN" altLang="en-US" sz="1412" dirty="0">
                <a:solidFill>
                  <a:srgbClr val="000000"/>
                </a:solidFill>
                <a:latin typeface="Garamond" panose="02020404030301010803" pitchFamily="18" charset="0"/>
                <a:ea typeface="SimSun" panose="02010600030101010101" pitchFamily="2" charset="-122"/>
              </a:rPr>
              <a:t>求均衡的国民收入。</a:t>
            </a:r>
            <a:endParaRPr lang="zh-CN" altLang="zh-CN" sz="1412" dirty="0">
              <a:latin typeface="Garamond" panose="02020404030301010803" pitchFamily="18" charset="0"/>
              <a:ea typeface="SimSun" panose="02010600030101010101" pitchFamily="2" charset="-122"/>
            </a:endParaRPr>
          </a:p>
        </p:txBody>
      </p:sp>
      <p:sp>
        <p:nvSpPr>
          <p:cNvPr id="41987" name="Rectangle 8">
            <a:extLst>
              <a:ext uri="{FF2B5EF4-FFF2-40B4-BE49-F238E27FC236}">
                <a16:creationId xmlns:a16="http://schemas.microsoft.com/office/drawing/2014/main" id="{502BABA6-CD3B-42B5-942F-A5E25929E0FA}"/>
              </a:ext>
            </a:extLst>
          </p:cNvPr>
          <p:cNvSpPr>
            <a:spLocks noChangeArrowheads="1"/>
          </p:cNvSpPr>
          <p:nvPr/>
        </p:nvSpPr>
        <p:spPr bwMode="auto">
          <a:xfrm>
            <a:off x="2115" y="3175"/>
            <a:ext cx="191912" cy="3454403"/>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0659" fontAlgn="base">
              <a:spcBef>
                <a:spcPct val="0"/>
              </a:spcBef>
              <a:spcAft>
                <a:spcPct val="0"/>
              </a:spcAft>
            </a:pPr>
            <a:endParaRPr lang="zh-CN" altLang="zh-CN" sz="907">
              <a:solidFill>
                <a:srgbClr val="000000"/>
              </a:solidFill>
              <a:ea typeface="宋体" panose="02010600030101010101" pitchFamily="2" charset="-122"/>
            </a:endParaRPr>
          </a:p>
        </p:txBody>
      </p:sp>
      <p:sp>
        <p:nvSpPr>
          <p:cNvPr id="41988" name="Rectangle 4">
            <a:extLst>
              <a:ext uri="{FF2B5EF4-FFF2-40B4-BE49-F238E27FC236}">
                <a16:creationId xmlns:a16="http://schemas.microsoft.com/office/drawing/2014/main" id="{D80D9230-2A38-D802-73A9-7D561D211A92}"/>
              </a:ext>
            </a:extLst>
          </p:cNvPr>
          <p:cNvSpPr>
            <a:spLocks noGrp="1" noChangeArrowheads="1"/>
          </p:cNvSpPr>
          <p:nvPr>
            <p:ph type="title"/>
          </p:nvPr>
        </p:nvSpPr>
        <p:spPr>
          <a:xfrm>
            <a:off x="297978" y="180693"/>
            <a:ext cx="4134889" cy="480578"/>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356" tIns="0" rIns="91356" bIns="0" numCol="1" anchor="t" anchorCtr="0" compatLnSpc="1">
            <a:prstTxWarp prst="textNoShape">
              <a:avLst/>
            </a:prstTxWarp>
          </a:bodyPr>
          <a:lstStyle/>
          <a:p>
            <a:pPr algn="l"/>
            <a:r>
              <a:rPr lang="zh-CN" altLang="zh-CN" sz="1209"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411" i="1"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1</a:t>
            </a:r>
            <a:r>
              <a:rPr lang="en-US" altLang="zh-CN" sz="1209"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09"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1"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国民收入的决定</a:t>
            </a:r>
            <a:endParaRPr lang="zh-CN" altLang="zh-CN" sz="1611" dirty="0">
              <a:solidFill>
                <a:srgbClr val="339966"/>
              </a:solidFill>
              <a:effectLst>
                <a:outerShdw blurRad="38100" dist="38100" dir="2700000" algn="tl">
                  <a:srgbClr val="C0C0C0"/>
                </a:outerShdw>
              </a:effectLst>
              <a:ea typeface="宋体" panose="02010600030101010101" pitchFamily="2" charset="-122"/>
            </a:endParaRPr>
          </a:p>
        </p:txBody>
      </p:sp>
      <p:grpSp>
        <p:nvGrpSpPr>
          <p:cNvPr id="41989" name="Group 5">
            <a:extLst>
              <a:ext uri="{FF2B5EF4-FFF2-40B4-BE49-F238E27FC236}">
                <a16:creationId xmlns:a16="http://schemas.microsoft.com/office/drawing/2014/main" id="{D0F2F89B-A2A4-B0F2-4461-86A3C45E8E4B}"/>
              </a:ext>
            </a:extLst>
          </p:cNvPr>
          <p:cNvGrpSpPr>
            <a:grpSpLocks/>
          </p:cNvGrpSpPr>
          <p:nvPr/>
        </p:nvGrpSpPr>
        <p:grpSpPr bwMode="auto">
          <a:xfrm>
            <a:off x="301176" y="149507"/>
            <a:ext cx="4135688" cy="528556"/>
            <a:chOff x="0" y="0"/>
            <a:chExt cx="5000" cy="661"/>
          </a:xfrm>
        </p:grpSpPr>
        <p:sp>
          <p:nvSpPr>
            <p:cNvPr id="41990" name="Line 9">
              <a:extLst>
                <a:ext uri="{FF2B5EF4-FFF2-40B4-BE49-F238E27FC236}">
                  <a16:creationId xmlns:a16="http://schemas.microsoft.com/office/drawing/2014/main" id="{4971AC16-41F4-5115-5515-0EBCDAC63B47}"/>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0659" fontAlgn="base">
                <a:spcBef>
                  <a:spcPct val="0"/>
                </a:spcBef>
                <a:spcAft>
                  <a:spcPct val="0"/>
                </a:spcAft>
              </a:pPr>
              <a:endParaRPr lang="zh-CN" altLang="en-US" sz="907">
                <a:solidFill>
                  <a:srgbClr val="000000"/>
                </a:solidFill>
                <a:latin typeface="Arial" panose="020B0604020202020204" pitchFamily="34" charset="0"/>
              </a:endParaRPr>
            </a:p>
          </p:txBody>
        </p:sp>
        <p:sp>
          <p:nvSpPr>
            <p:cNvPr id="41991" name="Line 10">
              <a:extLst>
                <a:ext uri="{FF2B5EF4-FFF2-40B4-BE49-F238E27FC236}">
                  <a16:creationId xmlns:a16="http://schemas.microsoft.com/office/drawing/2014/main" id="{26589169-8610-5C05-3A26-470D45692CF2}"/>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0659" fontAlgn="base">
                <a:spcBef>
                  <a:spcPct val="0"/>
                </a:spcBef>
                <a:spcAft>
                  <a:spcPct val="0"/>
                </a:spcAft>
              </a:pPr>
              <a:endParaRPr lang="zh-CN" altLang="en-US" sz="907">
                <a:solidFill>
                  <a:srgbClr val="000000"/>
                </a:solidFill>
                <a:latin typeface="Arial" panose="020B0604020202020204" pitchFamily="34" charset="0"/>
              </a:endParaRPr>
            </a:p>
          </p:txBody>
        </p:sp>
      </p:grpSp>
    </p:spTree>
    <p:extLst>
      <p:ext uri="{BB962C8B-B14F-4D97-AF65-F5344CB8AC3E}">
        <p14:creationId xmlns:p14="http://schemas.microsoft.com/office/powerpoint/2010/main" val="968342573"/>
      </p:ext>
    </p:extLst>
  </p:cSld>
  <p:clrMapOvr>
    <a:masterClrMapping/>
  </p:clrMapOvr>
  <p:transition spd="med">
    <p:diamond/>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55</a:t>
            </a:fld>
            <a:endParaRPr lang="zh-CN" altLang="zh-CN" sz="857">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a:t>
            </a:r>
            <a:r>
              <a:rPr lang="zh-CN" altLang="zh-CN" sz="1209"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学习  </a:t>
            </a:r>
            <a:r>
              <a:rPr lang="en-US" altLang="zh-CN" sz="1411" i="1"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2</a:t>
            </a:r>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国民</a:t>
            </a:r>
            <a:r>
              <a:rPr lang="zh-CN" altLang="en-US" sz="1613" dirty="0">
                <a:solidFill>
                  <a:srgbClr val="339966"/>
                </a:solidFill>
                <a:effectLst>
                  <a:outerShdw blurRad="38100" dist="38100" dir="2700000" algn="tl">
                    <a:srgbClr val="C0C0C0"/>
                  </a:outerShdw>
                </a:effectLst>
                <a:ea typeface="宋体" panose="02010600030101010101" pitchFamily="2" charset="-122"/>
              </a:rPr>
              <a:t>收入的决定</a:t>
            </a:r>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652284"/>
                <a:ext cx="4110356" cy="1277752"/>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假设消费函数为𝑐</a:t>
                </a:r>
                <a:r>
                  <a:rPr lang="en-US" altLang="zh-CN" sz="1210" dirty="0">
                    <a:latin typeface="Garamond" panose="02020404030301010803" pitchFamily="18" charset="0"/>
                    <a:ea typeface="SimSun" panose="02010600030101010101" pitchFamily="2" charset="-122"/>
                    <a:cs typeface="Times New Roman" panose="02020603050405020304" pitchFamily="18" charset="0"/>
                  </a:rPr>
                  <a:t>=1600+0.75</a:t>
                </a:r>
                <a14:m>
                  <m:oMath xmlns:m="http://schemas.openxmlformats.org/officeDocument/2006/math">
                    <m:sSub>
                      <m:sSubPr>
                        <m:ctrlPr>
                          <a:rPr lang="en-US" altLang="zh-CN" sz="1210" b="0" i="1" dirty="0" smtClean="0">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1210" i="1" dirty="0" smtClean="0">
                            <a:latin typeface="Cambria Math" panose="02040503050406030204" pitchFamily="18" charset="0"/>
                            <a:ea typeface="SimSun" panose="02010600030101010101" pitchFamily="2" charset="-122"/>
                            <a:cs typeface="Times New Roman" panose="02020603050405020304" pitchFamily="18" charset="0"/>
                          </a:rPr>
                          <m:t>𝑦</m:t>
                        </m:r>
                      </m:e>
                      <m:sub>
                        <m:r>
                          <a:rPr lang="en-US" altLang="zh-CN" sz="1210" i="1" dirty="0">
                            <a:latin typeface="Cambria Math" panose="02040503050406030204" pitchFamily="18" charset="0"/>
                            <a:ea typeface="SimSun" panose="02010600030101010101" pitchFamily="2" charset="-122"/>
                            <a:cs typeface="Times New Roman" panose="02020603050405020304" pitchFamily="18" charset="0"/>
                          </a:rPr>
                          <m:t>𝑑</m:t>
                        </m:r>
                      </m:sub>
                    </m:sSub>
                  </m:oMath>
                </a14:m>
                <a:r>
                  <a:rPr lang="zh-CN" altLang="en-US" sz="1210" dirty="0">
                    <a:latin typeface="Garamond" panose="02020404030301010803" pitchFamily="18" charset="0"/>
                    <a:ea typeface="SimSun" panose="02010600030101010101" pitchFamily="2" charset="-122"/>
                    <a:cs typeface="Times New Roman" panose="02020603050405020304" pitchFamily="18" charset="0"/>
                  </a:rPr>
                  <a:t>，定量税收𝑡</a:t>
                </a:r>
                <a:r>
                  <a:rPr lang="en-US" altLang="zh-CN" sz="1210" dirty="0">
                    <a:latin typeface="Garamond" panose="02020404030301010803" pitchFamily="18" charset="0"/>
                    <a:ea typeface="SimSun" panose="02010600030101010101" pitchFamily="2" charset="-122"/>
                    <a:cs typeface="Times New Roman" panose="02020603050405020304" pitchFamily="18" charset="0"/>
                  </a:rPr>
                  <a:t>=800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，投资𝑖</a:t>
                </a:r>
                <a:r>
                  <a:rPr lang="en-US" altLang="zh-CN" sz="1210" dirty="0">
                    <a:latin typeface="Garamond" panose="02020404030301010803" pitchFamily="18" charset="0"/>
                    <a:ea typeface="SimSun" panose="02010600030101010101" pitchFamily="2" charset="-122"/>
                    <a:cs typeface="Times New Roman" panose="02020603050405020304" pitchFamily="18" charset="0"/>
                  </a:rPr>
                  <a:t>=1000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，政府购买性支出为𝑔</a:t>
                </a:r>
                <a:r>
                  <a:rPr lang="en-US" altLang="zh-CN" sz="1210" dirty="0">
                    <a:latin typeface="Garamond" panose="02020404030301010803" pitchFamily="18" charset="0"/>
                    <a:ea typeface="SimSun" panose="02010600030101010101" pitchFamily="2" charset="-122"/>
                    <a:cs typeface="Times New Roman" panose="02020603050405020304" pitchFamily="18" charset="0"/>
                  </a:rPr>
                  <a:t>=2000.</a:t>
                </a:r>
              </a:p>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求均衡的国民收入。</a:t>
                </a:r>
                <a:endParaRPr lang="en-US" altLang="zh-CN" sz="1210" dirty="0">
                  <a:latin typeface="Garamond" panose="02020404030301010803" pitchFamily="18" charset="0"/>
                  <a:ea typeface="SimSun" panose="02010600030101010101" pitchFamily="2" charset="-122"/>
                  <a:cs typeface="Times New Roman" panose="02020603050405020304" pitchFamily="18" charset="0"/>
                </a:endParaRPr>
              </a:p>
            </p:txBody>
          </p:sp>
        </mc:Choice>
        <mc:Fallback xmlns="">
          <p:sp>
            <p:nvSpPr>
              <p:cNvPr id="2" name="内容占位符 2">
                <a:extLst>
                  <a:ext uri="{FF2B5EF4-FFF2-40B4-BE49-F238E27FC236}">
                    <a16:creationId xmlns:a16="http://schemas.microsoft.com/office/drawing/2014/main" id="{B98A2451-25B1-DC54-54CF-36FADE9F837D}"/>
                  </a:ext>
                </a:extLst>
              </p:cNvPr>
              <p:cNvSpPr>
                <a:spLocks noGrp="1" noRot="1" noChangeAspect="1" noMove="1" noResize="1" noEditPoints="1" noAdjustHandles="1" noChangeArrowheads="1" noChangeShapeType="1" noTextEdit="1"/>
              </p:cNvSpPr>
              <p:nvPr>
                <p:ph idx="1"/>
              </p:nvPr>
            </p:nvSpPr>
            <p:spPr>
              <a:xfrm>
                <a:off x="299336" y="652284"/>
                <a:ext cx="4110356" cy="1277752"/>
              </a:xfrm>
              <a:blipFill>
                <a:blip r:embed="rId2"/>
                <a:stretch>
                  <a:fillRect t="-476"/>
                </a:stretch>
              </a:blipFill>
              <a:ln>
                <a:noFill/>
              </a:ln>
            </p:spPr>
            <p:txBody>
              <a:bodyPr/>
              <a:lstStyle/>
              <a:p>
                <a:r>
                  <a:rPr lang="zh-CN" altLang="en-US">
                    <a:noFill/>
                  </a:rPr>
                  <a:t> </a:t>
                </a:r>
              </a:p>
            </p:txBody>
          </p:sp>
        </mc:Fallback>
      </mc:AlternateContent>
      <p:grpSp>
        <p:nvGrpSpPr>
          <p:cNvPr id="9" name="Group 3">
            <a:extLst>
              <a:ext uri="{FF2B5EF4-FFF2-40B4-BE49-F238E27FC236}">
                <a16:creationId xmlns:a16="http://schemas.microsoft.com/office/drawing/2014/main" id="{E8332386-051E-4C38-95E7-24370B833468}"/>
              </a:ext>
            </a:extLst>
          </p:cNvPr>
          <p:cNvGrpSpPr>
            <a:grpSpLocks/>
          </p:cNvGrpSpPr>
          <p:nvPr/>
        </p:nvGrpSpPr>
        <p:grpSpPr bwMode="auto">
          <a:xfrm>
            <a:off x="293782" y="148055"/>
            <a:ext cx="4139486" cy="529041"/>
            <a:chOff x="0" y="0"/>
            <a:chExt cx="5000" cy="661"/>
          </a:xfrm>
        </p:grpSpPr>
        <p:sp>
          <p:nvSpPr>
            <p:cNvPr id="10" name="Line 9">
              <a:extLst>
                <a:ext uri="{FF2B5EF4-FFF2-40B4-BE49-F238E27FC236}">
                  <a16:creationId xmlns:a16="http://schemas.microsoft.com/office/drawing/2014/main" id="{55F13A17-18E1-453A-8597-AF07101AA5B9}"/>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11" name="Line 10">
              <a:extLst>
                <a:ext uri="{FF2B5EF4-FFF2-40B4-BE49-F238E27FC236}">
                  <a16:creationId xmlns:a16="http://schemas.microsoft.com/office/drawing/2014/main" id="{E6DFC3BF-03C3-4106-947A-30B45E8B56DA}"/>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Tree>
    <p:extLst>
      <p:ext uri="{BB962C8B-B14F-4D97-AF65-F5344CB8AC3E}">
        <p14:creationId xmlns:p14="http://schemas.microsoft.com/office/powerpoint/2010/main" val="1518010727"/>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FA04EB52-7DD1-176D-B6BD-749188C8F97C}"/>
              </a:ext>
            </a:extLst>
          </p:cNvPr>
          <p:cNvSpPr>
            <a:spLocks noGrp="1"/>
          </p:cNvSpPr>
          <p:nvPr>
            <p:ph type="title"/>
          </p:nvPr>
        </p:nvSpPr>
        <p:spPr/>
        <p:txBody>
          <a:bodyPr/>
          <a:lstStyle/>
          <a:p>
            <a:r>
              <a:rPr kumimoji="1" lang="zh-CN" altLang="en-US" dirty="0"/>
              <a:t>使用储蓄函数决定收入</a:t>
            </a:r>
          </a:p>
        </p:txBody>
      </p:sp>
      <p:sp>
        <p:nvSpPr>
          <p:cNvPr id="8" name="灯片编号占位符 2">
            <a:extLst>
              <a:ext uri="{FF2B5EF4-FFF2-40B4-BE49-F238E27FC236}">
                <a16:creationId xmlns:a16="http://schemas.microsoft.com/office/drawing/2014/main" id="{6A8DDC3C-3096-918B-2324-728C83295EED}"/>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56</a:t>
            </a:fld>
            <a:endParaRPr lang="zh-CN" altLang="zh-CN" sz="856">
              <a:solidFill>
                <a:srgbClr val="777777"/>
              </a:solidFill>
              <a:ea typeface="宋体" panose="02010600030101010101" pitchFamily="2" charset="-122"/>
            </a:endParaRPr>
          </a:p>
        </p:txBody>
      </p:sp>
      <p:pic>
        <p:nvPicPr>
          <p:cNvPr id="4" name="Picture 4" descr="xf139">
            <a:extLst>
              <a:ext uri="{FF2B5EF4-FFF2-40B4-BE49-F238E27FC236}">
                <a16:creationId xmlns:a16="http://schemas.microsoft.com/office/drawing/2014/main" id="{947183A4-D6AA-21F3-5618-C396111E6EB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0271" y="882722"/>
            <a:ext cx="3735872" cy="1813562"/>
          </a:xfrm>
          <a:prstGeom prst="rect">
            <a:avLst/>
          </a:prstGeom>
          <a:noFill/>
          <a:extLst>
            <a:ext uri="{909E8E84-426E-40DD-AFC4-6F175D3DCCD1}">
              <a14:hiddenFill xmlns:a14="http://schemas.microsoft.com/office/drawing/2010/main">
                <a:solidFill>
                  <a:srgbClr val="FFFFFF"/>
                </a:solidFill>
              </a14:hiddenFill>
            </a:ext>
          </a:extLst>
        </p:spPr>
      </p:pic>
      <p:sp>
        <p:nvSpPr>
          <p:cNvPr id="5" name="Text Box 5">
            <a:extLst>
              <a:ext uri="{FF2B5EF4-FFF2-40B4-BE49-F238E27FC236}">
                <a16:creationId xmlns:a16="http://schemas.microsoft.com/office/drawing/2014/main" id="{4FC12978-8D08-4ADA-6234-8CFD917C96E6}"/>
              </a:ext>
            </a:extLst>
          </p:cNvPr>
          <p:cNvSpPr txBox="1">
            <a:spLocks noChangeArrowheads="1"/>
          </p:cNvSpPr>
          <p:nvPr/>
        </p:nvSpPr>
        <p:spPr bwMode="auto">
          <a:xfrm>
            <a:off x="309972" y="2665431"/>
            <a:ext cx="3990155" cy="278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defTabSz="230520">
              <a:spcBef>
                <a:spcPct val="50000"/>
              </a:spcBef>
              <a:defRPr/>
            </a:pPr>
            <a:r>
              <a:rPr lang="zh-CN" altLang="en-US" sz="1209" dirty="0">
                <a:solidFill>
                  <a:prstClr val="black"/>
                </a:solidFill>
                <a:latin typeface="SimSun" panose="02010600030101010101" pitchFamily="2" charset="-122"/>
                <a:ea typeface="SimSun" panose="02010600030101010101" pitchFamily="2" charset="-122"/>
              </a:rPr>
              <a:t>储蓄曲线和投资曲线相交决定收入</a:t>
            </a:r>
          </a:p>
        </p:txBody>
      </p:sp>
      <p:sp>
        <p:nvSpPr>
          <p:cNvPr id="2" name="页脚占位符 1">
            <a:extLst>
              <a:ext uri="{FF2B5EF4-FFF2-40B4-BE49-F238E27FC236}">
                <a16:creationId xmlns:a16="http://schemas.microsoft.com/office/drawing/2014/main" id="{B26B56D3-66AB-9922-BEF0-518C028DD419}"/>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22F8AF4-3DAB-AC09-A790-1EA2E34DFB8F}"/>
                  </a:ext>
                </a:extLst>
              </p:cNvPr>
              <p:cNvSpPr txBox="1"/>
              <p:nvPr/>
            </p:nvSpPr>
            <p:spPr>
              <a:xfrm>
                <a:off x="248720" y="560415"/>
                <a:ext cx="4164491" cy="276999"/>
              </a:xfrm>
              <a:prstGeom prst="rect">
                <a:avLst/>
              </a:prstGeom>
              <a:noFill/>
            </p:spPr>
            <p:txBody>
              <a:bodyPr wrap="square">
                <a:spAutoFit/>
              </a:bodyPr>
              <a:lstStyle/>
              <a:p>
                <a:r>
                  <a:rPr lang="zh-CN" altLang="en-US" sz="1200" b="1" dirty="0">
                    <a:solidFill>
                      <a:srgbClr val="C00000"/>
                    </a:solidFill>
                    <a:latin typeface="SimSun" panose="02010600030101010101" pitchFamily="2" charset="-122"/>
                    <a:ea typeface="SimSun" panose="02010600030101010101" pitchFamily="2" charset="-122"/>
                  </a:rPr>
                  <a:t>均衡条件</a:t>
                </a:r>
                <a:r>
                  <a:rPr lang="zh-CN" altLang="en-US" sz="1200" b="0" dirty="0">
                    <a:latin typeface="SimSun" panose="02010600030101010101" pitchFamily="2" charset="-122"/>
                    <a:ea typeface="SimSun" panose="02010600030101010101" pitchFamily="2" charset="-122"/>
                  </a:rPr>
                  <a:t>：投资储蓄恒等式</a:t>
                </a:r>
                <a14:m>
                  <m:oMath xmlns:m="http://schemas.openxmlformats.org/officeDocument/2006/math">
                    <m:r>
                      <a:rPr lang="en-US" altLang="zh-CN" sz="1200" b="0" i="1" smtClean="0">
                        <a:latin typeface="Cambria Math" panose="02040503050406030204" pitchFamily="18" charset="0"/>
                      </a:rPr>
                      <m:t>𝑖</m:t>
                    </m:r>
                    <m:r>
                      <a:rPr lang="en-US" altLang="zh-CN" sz="1200" b="0" i="1" smtClean="0">
                        <a:latin typeface="Cambria Math" panose="02040503050406030204" pitchFamily="18" charset="0"/>
                      </a:rPr>
                      <m:t>=</m:t>
                    </m:r>
                    <m:r>
                      <a:rPr lang="en-US" altLang="zh-CN" sz="1200" b="0" i="1" smtClean="0">
                        <a:latin typeface="Cambria Math" panose="02040503050406030204" pitchFamily="18" charset="0"/>
                      </a:rPr>
                      <m:t>𝑠</m:t>
                    </m:r>
                    <m:r>
                      <a:rPr lang="en-US" altLang="zh-CN" sz="1200" b="0" i="1" smtClean="0">
                        <a:latin typeface="Cambria Math" panose="02040503050406030204" pitchFamily="18" charset="0"/>
                      </a:rPr>
                      <m:t>=</m:t>
                    </m:r>
                    <m:r>
                      <a:rPr lang="en-US" altLang="zh-CN" sz="1200" b="0" i="1" smtClean="0">
                        <a:latin typeface="Cambria Math" panose="02040503050406030204" pitchFamily="18" charset="0"/>
                      </a:rPr>
                      <m:t>𝑦</m:t>
                    </m:r>
                    <m:r>
                      <a:rPr lang="en-US" altLang="zh-CN" sz="1200" b="0" i="1" smtClean="0">
                        <a:latin typeface="Cambria Math" panose="02040503050406030204" pitchFamily="18" charset="0"/>
                      </a:rPr>
                      <m:t>−</m:t>
                    </m:r>
                    <m:r>
                      <a:rPr lang="en-US" altLang="zh-CN" sz="1200" b="0" i="1" smtClean="0">
                        <a:latin typeface="Cambria Math" panose="02040503050406030204" pitchFamily="18" charset="0"/>
                      </a:rPr>
                      <m:t>𝑐</m:t>
                    </m:r>
                  </m:oMath>
                </a14:m>
                <a:endParaRPr lang="zh-CN" altLang="en-US" sz="1200" dirty="0">
                  <a:latin typeface="SimSun" panose="02010600030101010101" pitchFamily="2" charset="-122"/>
                  <a:ea typeface="SimSun" panose="02010600030101010101" pitchFamily="2" charset="-122"/>
                </a:endParaRPr>
              </a:p>
            </p:txBody>
          </p:sp>
        </mc:Choice>
        <mc:Fallback xmlns="">
          <p:sp>
            <p:nvSpPr>
              <p:cNvPr id="6" name="文本框 5">
                <a:extLst>
                  <a:ext uri="{FF2B5EF4-FFF2-40B4-BE49-F238E27FC236}">
                    <a16:creationId xmlns:a16="http://schemas.microsoft.com/office/drawing/2014/main" id="{322F8AF4-3DAB-AC09-A790-1EA2E34DFB8F}"/>
                  </a:ext>
                </a:extLst>
              </p:cNvPr>
              <p:cNvSpPr txBox="1">
                <a:spLocks noRot="1" noChangeAspect="1" noMove="1" noResize="1" noEditPoints="1" noAdjustHandles="1" noChangeArrowheads="1" noChangeShapeType="1" noTextEdit="1"/>
              </p:cNvSpPr>
              <p:nvPr/>
            </p:nvSpPr>
            <p:spPr>
              <a:xfrm>
                <a:off x="248720" y="560415"/>
                <a:ext cx="4164491" cy="276999"/>
              </a:xfrm>
              <a:prstGeom prst="rect">
                <a:avLst/>
              </a:prstGeom>
              <a:blipFill>
                <a:blip r:embed="rId3"/>
                <a:stretch>
                  <a:fillRect b="-1818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0216099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latin typeface="Garamond" panose="02020404030301010803" pitchFamily="18" charset="0"/>
                    <a:ea typeface="SimSun" panose="02010600030101010101" pitchFamily="2" charset="-122"/>
                  </a:rPr>
                  <a:t>计划投资</a:t>
                </a:r>
                <a:r>
                  <a:rPr lang="en-US" altLang="zh-CN" dirty="0">
                    <a:latin typeface="Garamond" panose="02020404030301010803" pitchFamily="18" charset="0"/>
                    <a:ea typeface="SimSun" panose="02010600030101010101" pitchFamily="2" charset="-122"/>
                  </a:rPr>
                  <a:t>=</a:t>
                </a:r>
                <a:r>
                  <a:rPr lang="zh-CN" altLang="en-US" dirty="0">
                    <a:latin typeface="Garamond" panose="02020404030301010803" pitchFamily="18" charset="0"/>
                    <a:ea typeface="SimSun" panose="02010600030101010101" pitchFamily="2" charset="-122"/>
                  </a:rPr>
                  <a:t>计划储蓄即</a:t>
                </a:r>
                <a:r>
                  <a:rPr lang="en-US" altLang="zh-CN" dirty="0" err="1">
                    <a:latin typeface="Garamond" panose="02020404030301010803" pitchFamily="18" charset="0"/>
                    <a:ea typeface="SimSun" panose="02010600030101010101" pitchFamily="2" charset="-122"/>
                  </a:rPr>
                  <a:t>i</a:t>
                </a:r>
                <a:r>
                  <a:rPr lang="en-US" altLang="zh-CN" dirty="0">
                    <a:latin typeface="Garamond" panose="02020404030301010803" pitchFamily="18" charset="0"/>
                    <a:ea typeface="SimSun" panose="02010600030101010101" pitchFamily="2" charset="-122"/>
                  </a:rPr>
                  <a:t>=y-c=s</a:t>
                </a:r>
                <a:r>
                  <a:rPr lang="zh-CN" altLang="en-US" dirty="0">
                    <a:latin typeface="Garamond" panose="02020404030301010803" pitchFamily="18" charset="0"/>
                    <a:ea typeface="SimSun" panose="02010600030101010101" pitchFamily="2" charset="-122"/>
                  </a:rPr>
                  <a:t>，由投资等于储蓄，储蓄函数可得：</a:t>
                </a:r>
                <a:endParaRPr lang="en-US" altLang="zh-CN" dirty="0">
                  <a:latin typeface="Garamond" panose="02020404030301010803" pitchFamily="18" charset="0"/>
                  <a:ea typeface="SimSun" panose="02010600030101010101" pitchFamily="2" charset="-122"/>
                </a:endParaRPr>
              </a:p>
              <a:p>
                <a14:m>
                  <m:oMath xmlns:m="http://schemas.openxmlformats.org/officeDocument/2006/math">
                    <m:d>
                      <m:dPr>
                        <m:begChr m:val="{"/>
                        <m:endChr m:val=""/>
                        <m:ctrlPr>
                          <a:rPr lang="en-US" altLang="zh-CN" i="1" smtClean="0">
                            <a:latin typeface="Cambria Math" panose="02040503050406030204" pitchFamily="18" charset="0"/>
                          </a:rPr>
                        </m:ctrlPr>
                      </m:dPr>
                      <m:e>
                        <m:eqArr>
                          <m:eqArrPr>
                            <m:ctrlPr>
                              <a:rPr lang="en-US" altLang="zh-CN" i="1" smtClean="0">
                                <a:latin typeface="Cambria Math" panose="02040503050406030204" pitchFamily="18" charset="0"/>
                              </a:rPr>
                            </m:ctrlPr>
                          </m:eqArrPr>
                          <m:e>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𝑐</m:t>
                            </m:r>
                          </m:e>
                          <m:e>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zh-CN" altLang="en-US" b="0" i="1" smtClean="0">
                                <a:latin typeface="Cambria Math" panose="02040503050406030204" pitchFamily="18" charset="0"/>
                              </a:rPr>
                              <m:t>𝛼</m:t>
                            </m:r>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m:t>
                                </m:r>
                                <m:r>
                                  <a:rPr lang="zh-CN" altLang="en-US" b="0" i="1" smtClean="0">
                                    <a:latin typeface="Cambria Math" panose="02040503050406030204" pitchFamily="18" charset="0"/>
                                  </a:rPr>
                                  <m:t>𝛽</m:t>
                                </m:r>
                              </m:e>
                            </m:d>
                            <m:r>
                              <a:rPr lang="en-US" altLang="zh-CN" b="0" i="1" smtClean="0">
                                <a:latin typeface="Cambria Math" panose="02040503050406030204" pitchFamily="18" charset="0"/>
                              </a:rPr>
                              <m:t>𝑦</m:t>
                            </m:r>
                          </m:e>
                        </m:eqArr>
                      </m:e>
                    </m:d>
                  </m:oMath>
                </a14:m>
                <a:endParaRPr lang="en-US" altLang="zh-CN" dirty="0">
                  <a:latin typeface="Garamond" panose="02020404030301010803" pitchFamily="18" charset="0"/>
                  <a:ea typeface="SimSun" panose="02010600030101010101" pitchFamily="2" charset="-122"/>
                </a:endParaRPr>
              </a:p>
              <a:p>
                <a:r>
                  <a:rPr lang="zh-CN" altLang="en-US" dirty="0">
                    <a:latin typeface="Garamond" panose="02020404030301010803" pitchFamily="18" charset="0"/>
                    <a:ea typeface="SimSun" panose="02010600030101010101" pitchFamily="2" charset="-122"/>
                  </a:rPr>
                  <a:t>均衡的收入：</a:t>
                </a:r>
                <a:endParaRPr lang="en-US" altLang="zh-CN" dirty="0">
                  <a:latin typeface="Garamond" panose="02020404030301010803" pitchFamily="18" charset="0"/>
                  <a:ea typeface="SimSun" panose="02010600030101010101" pitchFamily="2" charset="-122"/>
                </a:endParaRPr>
              </a:p>
              <a:p>
                <a14:m>
                  <m:oMath xmlns:m="http://schemas.openxmlformats.org/officeDocument/2006/math">
                    <m:r>
                      <a:rPr lang="en-US" altLang="zh-CN" i="1" dirty="0">
                        <a:latin typeface="Cambria Math" panose="02040503050406030204" pitchFamily="18" charset="0"/>
                      </a:rPr>
                      <m:t>𝑦</m:t>
                    </m:r>
                    <m:r>
                      <a:rPr lang="en-US" altLang="zh-CN" i="1" dirty="0">
                        <a:latin typeface="Cambria Math" panose="02040503050406030204" pitchFamily="18" charset="0"/>
                      </a:rPr>
                      <m:t>=</m:t>
                    </m:r>
                    <m:f>
                      <m:fPr>
                        <m:ctrlPr>
                          <a:rPr lang="en-US" altLang="zh-CN" i="1" dirty="0">
                            <a:latin typeface="Cambria Math" panose="02040503050406030204" pitchFamily="18" charset="0"/>
                          </a:rPr>
                        </m:ctrlPr>
                      </m:fPr>
                      <m:num>
                        <m:r>
                          <a:rPr lang="zh-CN" altLang="en-US" i="1" dirty="0">
                            <a:latin typeface="Cambria Math" panose="02040503050406030204" pitchFamily="18" charset="0"/>
                          </a:rPr>
                          <m:t>𝛼</m:t>
                        </m:r>
                        <m:r>
                          <a:rPr lang="en-US" altLang="zh-CN" i="1" dirty="0">
                            <a:latin typeface="Cambria Math" panose="02040503050406030204" pitchFamily="18" charset="0"/>
                          </a:rPr>
                          <m:t>+</m:t>
                        </m:r>
                        <m:r>
                          <a:rPr lang="en-US" altLang="zh-CN" i="1" dirty="0">
                            <a:latin typeface="Cambria Math" panose="02040503050406030204" pitchFamily="18" charset="0"/>
                          </a:rPr>
                          <m:t>𝑖</m:t>
                        </m:r>
                      </m:num>
                      <m:den>
                        <m:r>
                          <a:rPr lang="en-US" altLang="zh-CN" i="1" dirty="0">
                            <a:latin typeface="Cambria Math" panose="02040503050406030204" pitchFamily="18" charset="0"/>
                          </a:rPr>
                          <m:t>1−</m:t>
                        </m:r>
                        <m:r>
                          <a:rPr lang="zh-CN" altLang="en-US" i="1" dirty="0">
                            <a:latin typeface="Cambria Math" panose="02040503050406030204" pitchFamily="18" charset="0"/>
                          </a:rPr>
                          <m:t>𝛽</m:t>
                        </m:r>
                      </m:den>
                    </m:f>
                  </m:oMath>
                </a14:m>
                <a:endParaRPr lang="zh-CN" altLang="en-US" dirty="0">
                  <a:latin typeface="Garamond" panose="02020404030301010803" pitchFamily="18" charset="0"/>
                  <a:ea typeface="SimSun"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16489" t="-15347" r="-916" b="-8168"/>
                </a:stretch>
              </a:blipFill>
            </p:spPr>
            <p:txBody>
              <a:bodyPr/>
              <a:lstStyle/>
              <a:p>
                <a:r>
                  <a:rPr lang="zh-CN" altLang="en-US">
                    <a:noFill/>
                  </a:rPr>
                  <a:t> </a:t>
                </a:r>
              </a:p>
            </p:txBody>
          </p:sp>
        </mc:Fallback>
      </mc:AlternateContent>
      <p:sp>
        <p:nvSpPr>
          <p:cNvPr id="7" name="标题 6">
            <a:extLst>
              <a:ext uri="{FF2B5EF4-FFF2-40B4-BE49-F238E27FC236}">
                <a16:creationId xmlns:a16="http://schemas.microsoft.com/office/drawing/2014/main" id="{FA04EB52-7DD1-176D-B6BD-749188C8F97C}"/>
              </a:ext>
            </a:extLst>
          </p:cNvPr>
          <p:cNvSpPr>
            <a:spLocks noGrp="1"/>
          </p:cNvSpPr>
          <p:nvPr>
            <p:ph type="title"/>
          </p:nvPr>
        </p:nvSpPr>
        <p:spPr/>
        <p:txBody>
          <a:bodyPr/>
          <a:lstStyle/>
          <a:p>
            <a:r>
              <a:rPr kumimoji="1" lang="zh-CN" altLang="en-US" dirty="0"/>
              <a:t>使用储蓄函数决定收入</a:t>
            </a:r>
          </a:p>
        </p:txBody>
      </p:sp>
      <p:sp>
        <p:nvSpPr>
          <p:cNvPr id="8" name="灯片编号占位符 2">
            <a:extLst>
              <a:ext uri="{FF2B5EF4-FFF2-40B4-BE49-F238E27FC236}">
                <a16:creationId xmlns:a16="http://schemas.microsoft.com/office/drawing/2014/main" id="{6A8DDC3C-3096-918B-2324-728C83295EED}"/>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57</a:t>
            </a:fld>
            <a:endParaRPr lang="zh-CN" altLang="zh-CN" sz="856">
              <a:solidFill>
                <a:srgbClr val="777777"/>
              </a:solidFill>
              <a:ea typeface="宋体" panose="02010600030101010101" pitchFamily="2" charset="-122"/>
            </a:endParaRPr>
          </a:p>
        </p:txBody>
      </p:sp>
      <p:sp>
        <p:nvSpPr>
          <p:cNvPr id="4" name="文本框 3">
            <a:extLst>
              <a:ext uri="{FF2B5EF4-FFF2-40B4-BE49-F238E27FC236}">
                <a16:creationId xmlns:a16="http://schemas.microsoft.com/office/drawing/2014/main" id="{294B1306-CD21-5E3E-4557-BCC92C106B26}"/>
              </a:ext>
            </a:extLst>
          </p:cNvPr>
          <p:cNvSpPr txBox="1"/>
          <p:nvPr/>
        </p:nvSpPr>
        <p:spPr>
          <a:xfrm>
            <a:off x="2449066" y="1226319"/>
            <a:ext cx="937143" cy="261610"/>
          </a:xfrm>
          <a:prstGeom prst="rect">
            <a:avLst/>
          </a:prstGeom>
          <a:noFill/>
        </p:spPr>
        <p:txBody>
          <a:bodyPr wrap="square">
            <a:spAutoFit/>
          </a:bodyPr>
          <a:lstStyle/>
          <a:p>
            <a:r>
              <a:rPr lang="zh-CN" altLang="en-US" sz="1100" dirty="0">
                <a:solidFill>
                  <a:srgbClr val="C00000"/>
                </a:solidFill>
                <a:latin typeface="Garamond" panose="02020404030301010803" pitchFamily="18" charset="0"/>
                <a:ea typeface="SimSun" panose="02010600030101010101" pitchFamily="2" charset="-122"/>
              </a:rPr>
              <a:t>均衡条件</a:t>
            </a:r>
            <a:endParaRPr lang="zh-CN" altLang="en-US" sz="1100" dirty="0">
              <a:solidFill>
                <a:srgbClr val="C00000"/>
              </a:solidFill>
            </a:endParaRPr>
          </a:p>
        </p:txBody>
      </p:sp>
      <p:sp>
        <p:nvSpPr>
          <p:cNvPr id="5" name="文本框 4">
            <a:extLst>
              <a:ext uri="{FF2B5EF4-FFF2-40B4-BE49-F238E27FC236}">
                <a16:creationId xmlns:a16="http://schemas.microsoft.com/office/drawing/2014/main" id="{67C36697-5308-DAF6-7F50-889FA62AD766}"/>
              </a:ext>
            </a:extLst>
          </p:cNvPr>
          <p:cNvSpPr txBox="1"/>
          <p:nvPr/>
        </p:nvSpPr>
        <p:spPr>
          <a:xfrm>
            <a:off x="2449065" y="1488966"/>
            <a:ext cx="937143" cy="261610"/>
          </a:xfrm>
          <a:prstGeom prst="rect">
            <a:avLst/>
          </a:prstGeom>
          <a:noFill/>
        </p:spPr>
        <p:txBody>
          <a:bodyPr wrap="square">
            <a:spAutoFit/>
          </a:bodyPr>
          <a:lstStyle/>
          <a:p>
            <a:r>
              <a:rPr lang="zh-CN" altLang="en-US" sz="1100" dirty="0">
                <a:solidFill>
                  <a:srgbClr val="C00000"/>
                </a:solidFill>
                <a:latin typeface="Garamond" panose="02020404030301010803" pitchFamily="18" charset="0"/>
                <a:ea typeface="SimSun" panose="02010600030101010101" pitchFamily="2" charset="-122"/>
              </a:rPr>
              <a:t>储蓄函数</a:t>
            </a:r>
            <a:endParaRPr lang="zh-CN" altLang="en-US" sz="1100" dirty="0">
              <a:solidFill>
                <a:srgbClr val="C00000"/>
              </a:solidFill>
            </a:endParaRPr>
          </a:p>
        </p:txBody>
      </p:sp>
      <p:sp>
        <p:nvSpPr>
          <p:cNvPr id="6" name="页脚占位符 1">
            <a:extLst>
              <a:ext uri="{FF2B5EF4-FFF2-40B4-BE49-F238E27FC236}">
                <a16:creationId xmlns:a16="http://schemas.microsoft.com/office/drawing/2014/main" id="{14B57023-98F3-45BF-5C91-0806446C23E4}"/>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73912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left)">
                                      <p:cBhvr>
                                        <p:cTn id="3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EE2592AD-DA6D-A42B-5DCE-6B691349A2BC}"/>
              </a:ext>
            </a:extLst>
          </p:cNvPr>
          <p:cNvSpPr/>
          <p:nvPr/>
        </p:nvSpPr>
        <p:spPr>
          <a:xfrm>
            <a:off x="0" y="1874391"/>
            <a:ext cx="4610100" cy="1847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aphicFrame>
        <p:nvGraphicFramePr>
          <p:cNvPr id="7" name="Group 29"/>
          <p:cNvGraphicFramePr>
            <a:graphicFrameLocks/>
          </p:cNvGraphicFramePr>
          <p:nvPr>
            <p:extLst>
              <p:ext uri="{D42A27DB-BD31-4B8C-83A1-F6EECF244321}">
                <p14:modId xmlns:p14="http://schemas.microsoft.com/office/powerpoint/2010/main" val="3065612542"/>
              </p:ext>
            </p:extLst>
          </p:nvPr>
        </p:nvGraphicFramePr>
        <p:xfrm>
          <a:off x="242339" y="866279"/>
          <a:ext cx="4170872" cy="1596510"/>
        </p:xfrm>
        <a:graphic>
          <a:graphicData uri="http://schemas.openxmlformats.org/drawingml/2006/table">
            <a:tbl>
              <a:tblPr/>
              <a:tblGrid>
                <a:gridCol w="1042718">
                  <a:extLst>
                    <a:ext uri="{9D8B030D-6E8A-4147-A177-3AD203B41FA5}">
                      <a16:colId xmlns:a16="http://schemas.microsoft.com/office/drawing/2014/main" val="2722108064"/>
                    </a:ext>
                  </a:extLst>
                </a:gridCol>
                <a:gridCol w="1042718">
                  <a:extLst>
                    <a:ext uri="{9D8B030D-6E8A-4147-A177-3AD203B41FA5}">
                      <a16:colId xmlns:a16="http://schemas.microsoft.com/office/drawing/2014/main" val="1538635282"/>
                    </a:ext>
                  </a:extLst>
                </a:gridCol>
                <a:gridCol w="1042718">
                  <a:extLst>
                    <a:ext uri="{9D8B030D-6E8A-4147-A177-3AD203B41FA5}">
                      <a16:colId xmlns:a16="http://schemas.microsoft.com/office/drawing/2014/main" val="3750451807"/>
                    </a:ext>
                  </a:extLst>
                </a:gridCol>
                <a:gridCol w="1042718">
                  <a:extLst>
                    <a:ext uri="{9D8B030D-6E8A-4147-A177-3AD203B41FA5}">
                      <a16:colId xmlns:a16="http://schemas.microsoft.com/office/drawing/2014/main" val="2421988387"/>
                    </a:ext>
                  </a:extLst>
                </a:gridCol>
              </a:tblGrid>
              <a:tr h="184363">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a:t>
                      </a:r>
                      <a:r>
                        <a:rPr kumimoji="0" lang="zh-CN" altLang="en-US"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）收入</a:t>
                      </a:r>
                    </a:p>
                  </a:txBody>
                  <a:tcPr marL="46059" marR="46059" marT="23030" marB="230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2</a:t>
                      </a:r>
                      <a:r>
                        <a:rPr kumimoji="0" lang="zh-CN" altLang="en-US"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）消费</a:t>
                      </a: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3</a:t>
                      </a:r>
                      <a:r>
                        <a:rPr kumimoji="0" lang="zh-CN" altLang="en-US"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）储蓄</a:t>
                      </a: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4</a:t>
                      </a:r>
                      <a:r>
                        <a:rPr kumimoji="0" lang="zh-CN" altLang="en-US"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）投资</a:t>
                      </a:r>
                    </a:p>
                  </a:txBody>
                  <a:tcPr marL="46059" marR="46059" marT="23030" marB="230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51230386"/>
                  </a:ext>
                </a:extLst>
              </a:tr>
              <a:tr h="1412147">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3000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4000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5000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6000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7000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8000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9000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10000</a:t>
                      </a:r>
                    </a:p>
                  </a:txBody>
                  <a:tcPr marL="46059" marR="46059" marT="23030" marB="230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3400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4200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5000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5800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6600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7400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8200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9000</a:t>
                      </a: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400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200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200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400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600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800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1000</a:t>
                      </a:r>
                    </a:p>
                  </a:txBody>
                  <a:tcPr marL="46059" marR="46059" marT="23030" marB="230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tx1"/>
                        </a:buClr>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600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600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600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600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600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600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600</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9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600</a:t>
                      </a:r>
                    </a:p>
                  </a:txBody>
                  <a:tcPr marL="46059" marR="46059" marT="23030" marB="230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91935194"/>
                  </a:ext>
                </a:extLst>
              </a:tr>
            </a:tbl>
          </a:graphicData>
        </a:graphic>
      </p:graphicFrame>
      <p:sp>
        <p:nvSpPr>
          <p:cNvPr id="8" name="Text Box 30"/>
          <p:cNvSpPr txBox="1">
            <a:spLocks noChangeArrowheads="1"/>
          </p:cNvSpPr>
          <p:nvPr/>
        </p:nvSpPr>
        <p:spPr bwMode="auto">
          <a:xfrm>
            <a:off x="219416" y="583380"/>
            <a:ext cx="3953373" cy="247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230520">
              <a:spcBef>
                <a:spcPct val="50000"/>
              </a:spcBef>
              <a:defRPr/>
            </a:pPr>
            <a:r>
              <a:rPr lang="zh-CN" altLang="en-US" sz="1007" b="1" dirty="0">
                <a:solidFill>
                  <a:prstClr val="black"/>
                </a:solidFill>
                <a:latin typeface="KaiTi" panose="02010609060101010101" pitchFamily="49" charset="-122"/>
                <a:ea typeface="KaiTi" panose="02010609060101010101" pitchFamily="49" charset="-122"/>
              </a:rPr>
              <a:t>表</a:t>
            </a:r>
            <a:r>
              <a:rPr lang="en-US" altLang="zh-CN" sz="1007" b="1" dirty="0">
                <a:solidFill>
                  <a:prstClr val="black"/>
                </a:solidFill>
                <a:latin typeface="KaiTi" panose="02010609060101010101" pitchFamily="49" charset="-122"/>
                <a:ea typeface="KaiTi" panose="02010609060101010101" pitchFamily="49" charset="-122"/>
              </a:rPr>
              <a:t>3</a:t>
            </a:r>
            <a:r>
              <a:rPr lang="zh-CN" altLang="en-US" sz="1007" b="1" dirty="0">
                <a:solidFill>
                  <a:prstClr val="black"/>
                </a:solidFill>
                <a:latin typeface="KaiTi" panose="02010609060101010101" pitchFamily="49" charset="-122"/>
                <a:ea typeface="KaiTi" panose="02010609060101010101" pitchFamily="49" charset="-122"/>
              </a:rPr>
              <a:t>：均衡收入的决定</a:t>
            </a:r>
            <a:r>
              <a:rPr lang="en-US" altLang="zh-CN" sz="1007" b="1" dirty="0">
                <a:solidFill>
                  <a:prstClr val="black"/>
                </a:solidFill>
                <a:latin typeface="KaiTi" panose="02010609060101010101" pitchFamily="49" charset="-122"/>
                <a:ea typeface="KaiTi" panose="02010609060101010101" pitchFamily="49" charset="-122"/>
              </a:rPr>
              <a:t>(</a:t>
            </a:r>
            <a:r>
              <a:rPr lang="zh-CN" altLang="en-US" sz="1007" b="1" dirty="0">
                <a:solidFill>
                  <a:prstClr val="black"/>
                </a:solidFill>
                <a:latin typeface="KaiTi" panose="02010609060101010101" pitchFamily="49" charset="-122"/>
                <a:ea typeface="KaiTi" panose="02010609060101010101" pitchFamily="49" charset="-122"/>
              </a:rPr>
              <a:t>单位：亿美元</a:t>
            </a:r>
            <a:r>
              <a:rPr lang="en-US" altLang="zh-CN" sz="1007" b="1" dirty="0">
                <a:solidFill>
                  <a:prstClr val="black"/>
                </a:solidFill>
                <a:latin typeface="KaiTi" panose="02010609060101010101" pitchFamily="49" charset="-122"/>
                <a:ea typeface="KaiTi" panose="02010609060101010101" pitchFamily="49" charset="-122"/>
              </a:rPr>
              <a:t>)</a:t>
            </a:r>
            <a:endParaRPr lang="zh-CN" altLang="en-US" sz="1007" b="1" dirty="0">
              <a:solidFill>
                <a:prstClr val="black"/>
              </a:solidFill>
              <a:latin typeface="KaiTi" panose="02010609060101010101" pitchFamily="49" charset="-122"/>
              <a:ea typeface="KaiTi" panose="02010609060101010101" pitchFamily="49" charset="-122"/>
            </a:endParaRPr>
          </a:p>
        </p:txBody>
      </p:sp>
      <p:sp>
        <p:nvSpPr>
          <p:cNvPr id="3" name="灯片编号占位符 2">
            <a:extLst>
              <a:ext uri="{FF2B5EF4-FFF2-40B4-BE49-F238E27FC236}">
                <a16:creationId xmlns:a16="http://schemas.microsoft.com/office/drawing/2014/main" id="{7A3A5DA9-623E-C1AC-226E-DDFC985D4882}"/>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58</a:t>
            </a:fld>
            <a:endParaRPr lang="zh-CN" altLang="zh-CN" sz="856">
              <a:solidFill>
                <a:srgbClr val="777777"/>
              </a:solidFill>
              <a:ea typeface="宋体" panose="02010600030101010101" pitchFamily="2" charset="-122"/>
            </a:endParaRPr>
          </a:p>
        </p:txBody>
      </p:sp>
      <p:sp>
        <p:nvSpPr>
          <p:cNvPr id="9" name="页脚占位符 1">
            <a:extLst>
              <a:ext uri="{FF2B5EF4-FFF2-40B4-BE49-F238E27FC236}">
                <a16:creationId xmlns:a16="http://schemas.microsoft.com/office/drawing/2014/main" id="{6DC7542B-980A-8E96-7D3F-BF4962975131}"/>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2</a:t>
            </a:r>
            <a:r>
              <a:rPr lang="zh-CN" altLang="en-US" sz="907" i="1" dirty="0">
                <a:solidFill>
                  <a:srgbClr val="777777"/>
                </a:solidFill>
                <a:ea typeface="宋体" panose="02010600030101010101" pitchFamily="2" charset="-122"/>
              </a:rPr>
              <a:t>节 消费需求与储蓄</a:t>
            </a:r>
            <a:endParaRPr lang="en-US" altLang="zh-CN" sz="907" i="1" dirty="0">
              <a:solidFill>
                <a:srgbClr val="777777"/>
              </a:solidFill>
              <a:ea typeface="宋体" panose="02010600030101010101" pitchFamily="2" charset="-122"/>
            </a:endParaRPr>
          </a:p>
        </p:txBody>
      </p:sp>
      <p:sp>
        <p:nvSpPr>
          <p:cNvPr id="2" name="标题 6">
            <a:extLst>
              <a:ext uri="{FF2B5EF4-FFF2-40B4-BE49-F238E27FC236}">
                <a16:creationId xmlns:a16="http://schemas.microsoft.com/office/drawing/2014/main" id="{7BF4182B-798C-8534-2DB3-C1A406640CED}"/>
              </a:ext>
            </a:extLst>
          </p:cNvPr>
          <p:cNvSpPr>
            <a:spLocks noGrp="1"/>
          </p:cNvSpPr>
          <p:nvPr>
            <p:ph type="title"/>
          </p:nvPr>
        </p:nvSpPr>
        <p:spPr>
          <a:xfrm>
            <a:off x="172879" y="127377"/>
            <a:ext cx="4240332" cy="343671"/>
          </a:xfrm>
        </p:spPr>
        <p:txBody>
          <a:bodyPr/>
          <a:lstStyle/>
          <a:p>
            <a:r>
              <a:rPr kumimoji="1" lang="zh-CN" altLang="en-US" dirty="0"/>
              <a:t>使用储蓄函数决定收入</a:t>
            </a:r>
          </a:p>
        </p:txBody>
      </p:sp>
    </p:spTree>
    <p:extLst>
      <p:ext uri="{BB962C8B-B14F-4D97-AF65-F5344CB8AC3E}">
        <p14:creationId xmlns:p14="http://schemas.microsoft.com/office/powerpoint/2010/main" val="1850879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object 30"/>
          <p:cNvSpPr/>
          <p:nvPr/>
        </p:nvSpPr>
        <p:spPr>
          <a:xfrm>
            <a:off x="1963" y="1588"/>
            <a:ext cx="4603865" cy="143124"/>
          </a:xfrm>
          <a:prstGeom prst="rect">
            <a:avLst/>
          </a:prstGeom>
          <a:blipFill>
            <a:blip r:embed="rId2" cstate="print"/>
            <a:stretch>
              <a:fillRect/>
            </a:stretch>
          </a:blipFill>
        </p:spPr>
        <p:txBody>
          <a:bodyPr wrap="square" lIns="0" tIns="0" rIns="0" bIns="0" rtlCol="0"/>
          <a:lstStyle/>
          <a:p>
            <a:endParaRPr sz="1798"/>
          </a:p>
        </p:txBody>
      </p:sp>
      <p:sp>
        <p:nvSpPr>
          <p:cNvPr id="31" name="object 31"/>
          <p:cNvSpPr/>
          <p:nvPr/>
        </p:nvSpPr>
        <p:spPr>
          <a:xfrm>
            <a:off x="97875" y="1030568"/>
            <a:ext cx="4428868" cy="82474"/>
          </a:xfrm>
          <a:custGeom>
            <a:avLst/>
            <a:gdLst/>
            <a:ahLst/>
            <a:cxnLst/>
            <a:rect l="l" t="t" r="r" b="b"/>
            <a:pathLst>
              <a:path w="4432935" h="82550">
                <a:moveTo>
                  <a:pt x="4381767" y="0"/>
                </a:moveTo>
                <a:lnTo>
                  <a:pt x="50799" y="0"/>
                </a:lnTo>
                <a:lnTo>
                  <a:pt x="45925" y="233"/>
                </a:lnTo>
                <a:lnTo>
                  <a:pt x="10386" y="20111"/>
                </a:lnTo>
                <a:lnTo>
                  <a:pt x="0" y="50800"/>
                </a:lnTo>
                <a:lnTo>
                  <a:pt x="0" y="82384"/>
                </a:lnTo>
                <a:lnTo>
                  <a:pt x="4432567" y="82384"/>
                </a:lnTo>
                <a:lnTo>
                  <a:pt x="4432567" y="50800"/>
                </a:lnTo>
                <a:lnTo>
                  <a:pt x="4415984" y="13334"/>
                </a:lnTo>
                <a:lnTo>
                  <a:pt x="4381767" y="0"/>
                </a:lnTo>
                <a:close/>
              </a:path>
            </a:pathLst>
          </a:custGeom>
          <a:solidFill>
            <a:srgbClr val="FFFFFF"/>
          </a:solidFill>
        </p:spPr>
        <p:txBody>
          <a:bodyPr wrap="square" lIns="0" tIns="0" rIns="0" bIns="0" rtlCol="0"/>
          <a:lstStyle/>
          <a:p>
            <a:endParaRPr sz="1798"/>
          </a:p>
        </p:txBody>
      </p:sp>
      <p:sp>
        <p:nvSpPr>
          <p:cNvPr id="32" name="object 32"/>
          <p:cNvSpPr/>
          <p:nvPr/>
        </p:nvSpPr>
        <p:spPr>
          <a:xfrm>
            <a:off x="143077" y="1706761"/>
            <a:ext cx="112376" cy="109436"/>
          </a:xfrm>
          <a:prstGeom prst="rect">
            <a:avLst/>
          </a:prstGeom>
          <a:blipFill>
            <a:blip r:embed="rId3" cstate="print"/>
            <a:stretch>
              <a:fillRect/>
            </a:stretch>
          </a:blipFill>
        </p:spPr>
        <p:txBody>
          <a:bodyPr wrap="square" lIns="0" tIns="0" rIns="0" bIns="0" rtlCol="0"/>
          <a:lstStyle/>
          <a:p>
            <a:endParaRPr sz="1798"/>
          </a:p>
        </p:txBody>
      </p:sp>
      <p:sp>
        <p:nvSpPr>
          <p:cNvPr id="33" name="object 33"/>
          <p:cNvSpPr/>
          <p:nvPr/>
        </p:nvSpPr>
        <p:spPr>
          <a:xfrm>
            <a:off x="4457384" y="1690901"/>
            <a:ext cx="122125" cy="125186"/>
          </a:xfrm>
          <a:prstGeom prst="rect">
            <a:avLst/>
          </a:prstGeom>
          <a:blipFill>
            <a:blip r:embed="rId4" cstate="print"/>
            <a:stretch>
              <a:fillRect/>
            </a:stretch>
          </a:blipFill>
        </p:spPr>
        <p:txBody>
          <a:bodyPr wrap="square" lIns="0" tIns="0" rIns="0" bIns="0" rtlCol="0"/>
          <a:lstStyle/>
          <a:p>
            <a:endParaRPr sz="1798"/>
          </a:p>
        </p:txBody>
      </p:sp>
      <p:sp>
        <p:nvSpPr>
          <p:cNvPr id="34" name="object 34"/>
          <p:cNvSpPr/>
          <p:nvPr/>
        </p:nvSpPr>
        <p:spPr>
          <a:xfrm>
            <a:off x="199381" y="174245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5" name="object 35"/>
          <p:cNvSpPr/>
          <p:nvPr/>
        </p:nvSpPr>
        <p:spPr>
          <a:xfrm>
            <a:off x="199381" y="1748794"/>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6" name="object 36"/>
          <p:cNvSpPr/>
          <p:nvPr/>
        </p:nvSpPr>
        <p:spPr>
          <a:xfrm>
            <a:off x="199381" y="175513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7" name="object 37"/>
          <p:cNvSpPr/>
          <p:nvPr/>
        </p:nvSpPr>
        <p:spPr>
          <a:xfrm>
            <a:off x="199381" y="175513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8" name="object 38"/>
          <p:cNvSpPr/>
          <p:nvPr/>
        </p:nvSpPr>
        <p:spPr>
          <a:xfrm>
            <a:off x="199381" y="176148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8D8D8D"/>
          </a:solidFill>
        </p:spPr>
        <p:txBody>
          <a:bodyPr wrap="square" lIns="0" tIns="0" rIns="0" bIns="0" rtlCol="0"/>
          <a:lstStyle/>
          <a:p>
            <a:endParaRPr sz="1798"/>
          </a:p>
        </p:txBody>
      </p:sp>
      <p:sp>
        <p:nvSpPr>
          <p:cNvPr id="39" name="object 39"/>
          <p:cNvSpPr/>
          <p:nvPr/>
        </p:nvSpPr>
        <p:spPr>
          <a:xfrm>
            <a:off x="199381" y="1767825"/>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9B9B9B"/>
          </a:solidFill>
        </p:spPr>
        <p:txBody>
          <a:bodyPr wrap="square" lIns="0" tIns="0" rIns="0" bIns="0" rtlCol="0"/>
          <a:lstStyle/>
          <a:p>
            <a:endParaRPr sz="1798"/>
          </a:p>
        </p:txBody>
      </p:sp>
      <p:sp>
        <p:nvSpPr>
          <p:cNvPr id="40" name="object 40"/>
          <p:cNvSpPr/>
          <p:nvPr/>
        </p:nvSpPr>
        <p:spPr>
          <a:xfrm>
            <a:off x="199381" y="1774170"/>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A9A9A9"/>
          </a:solidFill>
        </p:spPr>
        <p:txBody>
          <a:bodyPr wrap="square" lIns="0" tIns="0" rIns="0" bIns="0" rtlCol="0"/>
          <a:lstStyle/>
          <a:p>
            <a:endParaRPr sz="1798"/>
          </a:p>
        </p:txBody>
      </p:sp>
      <p:sp>
        <p:nvSpPr>
          <p:cNvPr id="41" name="object 41"/>
          <p:cNvSpPr/>
          <p:nvPr/>
        </p:nvSpPr>
        <p:spPr>
          <a:xfrm>
            <a:off x="199381" y="1780512"/>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B8B8B8"/>
          </a:solidFill>
        </p:spPr>
        <p:txBody>
          <a:bodyPr wrap="square" lIns="0" tIns="0" rIns="0" bIns="0" rtlCol="0"/>
          <a:lstStyle/>
          <a:p>
            <a:endParaRPr sz="1798"/>
          </a:p>
        </p:txBody>
      </p:sp>
      <p:sp>
        <p:nvSpPr>
          <p:cNvPr id="42" name="object 42"/>
          <p:cNvSpPr/>
          <p:nvPr/>
        </p:nvSpPr>
        <p:spPr>
          <a:xfrm>
            <a:off x="199381" y="1786857"/>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C6C6C6"/>
          </a:solidFill>
        </p:spPr>
        <p:txBody>
          <a:bodyPr wrap="square" lIns="0" tIns="0" rIns="0" bIns="0" rtlCol="0"/>
          <a:lstStyle/>
          <a:p>
            <a:endParaRPr sz="1798"/>
          </a:p>
        </p:txBody>
      </p:sp>
      <p:sp>
        <p:nvSpPr>
          <p:cNvPr id="43" name="object 43"/>
          <p:cNvSpPr/>
          <p:nvPr/>
        </p:nvSpPr>
        <p:spPr>
          <a:xfrm>
            <a:off x="199381" y="1793202"/>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D4D4D4"/>
          </a:solidFill>
        </p:spPr>
        <p:txBody>
          <a:bodyPr wrap="square" lIns="0" tIns="0" rIns="0" bIns="0" rtlCol="0"/>
          <a:lstStyle/>
          <a:p>
            <a:endParaRPr sz="1798"/>
          </a:p>
        </p:txBody>
      </p:sp>
      <p:sp>
        <p:nvSpPr>
          <p:cNvPr id="44" name="object 44"/>
          <p:cNvSpPr/>
          <p:nvPr/>
        </p:nvSpPr>
        <p:spPr>
          <a:xfrm>
            <a:off x="199381" y="1799547"/>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E2E2E2"/>
          </a:solidFill>
        </p:spPr>
        <p:txBody>
          <a:bodyPr wrap="square" lIns="0" tIns="0" rIns="0" bIns="0" rtlCol="0"/>
          <a:lstStyle/>
          <a:p>
            <a:endParaRPr sz="1798"/>
          </a:p>
        </p:txBody>
      </p:sp>
      <p:sp>
        <p:nvSpPr>
          <p:cNvPr id="45" name="object 45"/>
          <p:cNvSpPr/>
          <p:nvPr/>
        </p:nvSpPr>
        <p:spPr>
          <a:xfrm>
            <a:off x="4526376" y="1080521"/>
            <a:ext cx="50753" cy="50753"/>
          </a:xfrm>
          <a:custGeom>
            <a:avLst/>
            <a:gdLst/>
            <a:ahLst/>
            <a:cxnLst/>
            <a:rect l="l" t="t" r="r" b="b"/>
            <a:pathLst>
              <a:path w="50800" h="50800">
                <a:moveTo>
                  <a:pt x="50799" y="50792"/>
                </a:moveTo>
                <a:lnTo>
                  <a:pt x="34262" y="13294"/>
                </a:lnTo>
                <a:lnTo>
                  <a:pt x="0" y="0"/>
                </a:lnTo>
              </a:path>
            </a:pathLst>
          </a:custGeom>
          <a:ln w="11112">
            <a:solidFill>
              <a:srgbClr val="FFFFFF"/>
            </a:solidFill>
          </a:ln>
        </p:spPr>
        <p:txBody>
          <a:bodyPr wrap="square" lIns="0" tIns="0" rIns="0" bIns="0" rtlCol="0"/>
          <a:lstStyle/>
          <a:p>
            <a:endParaRPr sz="1798"/>
          </a:p>
        </p:txBody>
      </p:sp>
      <p:sp>
        <p:nvSpPr>
          <p:cNvPr id="46" name="object 46"/>
          <p:cNvSpPr/>
          <p:nvPr/>
        </p:nvSpPr>
        <p:spPr>
          <a:xfrm>
            <a:off x="4526376" y="1174302"/>
            <a:ext cx="27280" cy="8248"/>
          </a:xfrm>
          <a:custGeom>
            <a:avLst/>
            <a:gdLst/>
            <a:ahLst/>
            <a:cxnLst/>
            <a:rect l="l" t="t" r="r" b="b"/>
            <a:pathLst>
              <a:path w="27304" h="8254">
                <a:moveTo>
                  <a:pt x="0" y="7733"/>
                </a:moveTo>
                <a:lnTo>
                  <a:pt x="22932" y="2274"/>
                </a:lnTo>
                <a:lnTo>
                  <a:pt x="26954" y="0"/>
                </a:lnTo>
              </a:path>
            </a:pathLst>
          </a:custGeom>
          <a:ln w="11112">
            <a:solidFill>
              <a:srgbClr val="FFFFFF"/>
            </a:solidFill>
          </a:ln>
        </p:spPr>
        <p:txBody>
          <a:bodyPr wrap="square" lIns="0" tIns="0" rIns="0" bIns="0" rtlCol="0"/>
          <a:lstStyle/>
          <a:p>
            <a:endParaRPr sz="1798"/>
          </a:p>
        </p:txBody>
      </p:sp>
      <p:sp>
        <p:nvSpPr>
          <p:cNvPr id="47" name="object 47"/>
          <p:cNvSpPr/>
          <p:nvPr/>
        </p:nvSpPr>
        <p:spPr>
          <a:xfrm>
            <a:off x="4526376" y="1083693"/>
            <a:ext cx="47581" cy="47581"/>
          </a:xfrm>
          <a:custGeom>
            <a:avLst/>
            <a:gdLst/>
            <a:ahLst/>
            <a:cxnLst/>
            <a:rect l="l" t="t" r="r" b="b"/>
            <a:pathLst>
              <a:path w="47625" h="47625">
                <a:moveTo>
                  <a:pt x="47625" y="47625"/>
                </a:moveTo>
                <a:lnTo>
                  <a:pt x="30293" y="10875"/>
                </a:lnTo>
                <a:lnTo>
                  <a:pt x="3343" y="168"/>
                </a:lnTo>
                <a:lnTo>
                  <a:pt x="0" y="0"/>
                </a:lnTo>
              </a:path>
            </a:pathLst>
          </a:custGeom>
          <a:ln w="11112">
            <a:solidFill>
              <a:srgbClr val="F7F7F7"/>
            </a:solidFill>
          </a:ln>
        </p:spPr>
        <p:txBody>
          <a:bodyPr wrap="square" lIns="0" tIns="0" rIns="0" bIns="0" rtlCol="0"/>
          <a:lstStyle/>
          <a:p>
            <a:endParaRPr sz="1798"/>
          </a:p>
        </p:txBody>
      </p:sp>
      <p:sp>
        <p:nvSpPr>
          <p:cNvPr id="48" name="object 48"/>
          <p:cNvSpPr/>
          <p:nvPr/>
        </p:nvSpPr>
        <p:spPr>
          <a:xfrm>
            <a:off x="4526376" y="1131274"/>
            <a:ext cx="47581" cy="47581"/>
          </a:xfrm>
          <a:custGeom>
            <a:avLst/>
            <a:gdLst/>
            <a:ahLst/>
            <a:cxnLst/>
            <a:rect l="l" t="t" r="r" b="b"/>
            <a:pathLst>
              <a:path w="47625" h="47625">
                <a:moveTo>
                  <a:pt x="0" y="47624"/>
                </a:moveTo>
                <a:lnTo>
                  <a:pt x="36749" y="30298"/>
                </a:lnTo>
                <a:lnTo>
                  <a:pt x="47379" y="4871"/>
                </a:lnTo>
                <a:lnTo>
                  <a:pt x="47625" y="0"/>
                </a:lnTo>
              </a:path>
            </a:pathLst>
          </a:custGeom>
          <a:ln w="11112">
            <a:solidFill>
              <a:srgbClr val="F7F7F7"/>
            </a:solidFill>
          </a:ln>
        </p:spPr>
        <p:txBody>
          <a:bodyPr wrap="square" lIns="0" tIns="0" rIns="0" bIns="0" rtlCol="0"/>
          <a:lstStyle/>
          <a:p>
            <a:endParaRPr sz="1798"/>
          </a:p>
        </p:txBody>
      </p:sp>
      <p:sp>
        <p:nvSpPr>
          <p:cNvPr id="49" name="object 49"/>
          <p:cNvSpPr/>
          <p:nvPr/>
        </p:nvSpPr>
        <p:spPr>
          <a:xfrm>
            <a:off x="4526376" y="1086865"/>
            <a:ext cx="44409" cy="44409"/>
          </a:xfrm>
          <a:custGeom>
            <a:avLst/>
            <a:gdLst/>
            <a:ahLst/>
            <a:cxnLst/>
            <a:rect l="l" t="t" r="r" b="b"/>
            <a:pathLst>
              <a:path w="44450" h="44450">
                <a:moveTo>
                  <a:pt x="44450" y="44450"/>
                </a:moveTo>
                <a:lnTo>
                  <a:pt x="44189" y="39608"/>
                </a:lnTo>
                <a:lnTo>
                  <a:pt x="43845" y="37495"/>
                </a:lnTo>
                <a:lnTo>
                  <a:pt x="43425" y="34918"/>
                </a:lnTo>
                <a:lnTo>
                  <a:pt x="18358" y="3958"/>
                </a:lnTo>
                <a:lnTo>
                  <a:pt x="6954" y="605"/>
                </a:lnTo>
                <a:lnTo>
                  <a:pt x="4843" y="260"/>
                </a:lnTo>
                <a:lnTo>
                  <a:pt x="0" y="0"/>
                </a:lnTo>
              </a:path>
            </a:pathLst>
          </a:custGeom>
          <a:ln w="11112">
            <a:solidFill>
              <a:srgbClr val="F0F0F0"/>
            </a:solidFill>
          </a:ln>
        </p:spPr>
        <p:txBody>
          <a:bodyPr wrap="square" lIns="0" tIns="0" rIns="0" bIns="0" rtlCol="0"/>
          <a:lstStyle/>
          <a:p>
            <a:endParaRPr sz="1798"/>
          </a:p>
        </p:txBody>
      </p:sp>
      <p:sp>
        <p:nvSpPr>
          <p:cNvPr id="50" name="object 50"/>
          <p:cNvSpPr/>
          <p:nvPr/>
        </p:nvSpPr>
        <p:spPr>
          <a:xfrm>
            <a:off x="4526376" y="1131274"/>
            <a:ext cx="44409" cy="44409"/>
          </a:xfrm>
          <a:custGeom>
            <a:avLst/>
            <a:gdLst/>
            <a:ahLst/>
            <a:cxnLst/>
            <a:rect l="l" t="t" r="r" b="b"/>
            <a:pathLst>
              <a:path w="44450" h="44450">
                <a:moveTo>
                  <a:pt x="0" y="44449"/>
                </a:moveTo>
                <a:lnTo>
                  <a:pt x="35874" y="26251"/>
                </a:lnTo>
                <a:lnTo>
                  <a:pt x="44189" y="4843"/>
                </a:lnTo>
                <a:lnTo>
                  <a:pt x="44450" y="0"/>
                </a:lnTo>
              </a:path>
            </a:pathLst>
          </a:custGeom>
          <a:ln w="11112">
            <a:solidFill>
              <a:srgbClr val="F0F0F0"/>
            </a:solidFill>
          </a:ln>
        </p:spPr>
        <p:txBody>
          <a:bodyPr wrap="square" lIns="0" tIns="0" rIns="0" bIns="0" rtlCol="0"/>
          <a:lstStyle/>
          <a:p>
            <a:endParaRPr sz="1798"/>
          </a:p>
        </p:txBody>
      </p:sp>
      <p:sp>
        <p:nvSpPr>
          <p:cNvPr id="51" name="object 51"/>
          <p:cNvSpPr/>
          <p:nvPr/>
        </p:nvSpPr>
        <p:spPr>
          <a:xfrm>
            <a:off x="4526376" y="1090037"/>
            <a:ext cx="41237" cy="41237"/>
          </a:xfrm>
          <a:custGeom>
            <a:avLst/>
            <a:gdLst/>
            <a:ahLst/>
            <a:cxnLst/>
            <a:rect l="l" t="t" r="r" b="b"/>
            <a:pathLst>
              <a:path w="41275" h="41275">
                <a:moveTo>
                  <a:pt x="41275" y="41275"/>
                </a:moveTo>
                <a:lnTo>
                  <a:pt x="40997" y="36461"/>
                </a:lnTo>
                <a:lnTo>
                  <a:pt x="40185" y="31810"/>
                </a:lnTo>
                <a:lnTo>
                  <a:pt x="39703" y="30178"/>
                </a:lnTo>
                <a:lnTo>
                  <a:pt x="38869" y="27354"/>
                </a:lnTo>
                <a:lnTo>
                  <a:pt x="11096" y="1572"/>
                </a:lnTo>
                <a:lnTo>
                  <a:pt x="9464" y="1090"/>
                </a:lnTo>
                <a:lnTo>
                  <a:pt x="4814" y="277"/>
                </a:lnTo>
                <a:lnTo>
                  <a:pt x="0" y="0"/>
                </a:lnTo>
              </a:path>
            </a:pathLst>
          </a:custGeom>
          <a:ln w="11112">
            <a:solidFill>
              <a:srgbClr val="E8E8E8"/>
            </a:solidFill>
          </a:ln>
        </p:spPr>
        <p:txBody>
          <a:bodyPr wrap="square" lIns="0" tIns="0" rIns="0" bIns="0" rtlCol="0"/>
          <a:lstStyle/>
          <a:p>
            <a:endParaRPr sz="1798"/>
          </a:p>
        </p:txBody>
      </p:sp>
      <p:sp>
        <p:nvSpPr>
          <p:cNvPr id="52" name="object 52"/>
          <p:cNvSpPr/>
          <p:nvPr/>
        </p:nvSpPr>
        <p:spPr>
          <a:xfrm>
            <a:off x="4526376" y="1131275"/>
            <a:ext cx="41237" cy="41237"/>
          </a:xfrm>
          <a:custGeom>
            <a:avLst/>
            <a:gdLst/>
            <a:ahLst/>
            <a:cxnLst/>
            <a:rect l="l" t="t" r="r" b="b"/>
            <a:pathLst>
              <a:path w="41275" h="41275">
                <a:moveTo>
                  <a:pt x="0" y="41274"/>
                </a:moveTo>
                <a:lnTo>
                  <a:pt x="34849" y="22127"/>
                </a:lnTo>
                <a:lnTo>
                  <a:pt x="40997" y="4813"/>
                </a:lnTo>
                <a:lnTo>
                  <a:pt x="41275" y="0"/>
                </a:lnTo>
              </a:path>
            </a:pathLst>
          </a:custGeom>
          <a:ln w="11112">
            <a:solidFill>
              <a:srgbClr val="E8E8E8"/>
            </a:solidFill>
          </a:ln>
        </p:spPr>
        <p:txBody>
          <a:bodyPr wrap="square" lIns="0" tIns="0" rIns="0" bIns="0" rtlCol="0"/>
          <a:lstStyle/>
          <a:p>
            <a:endParaRPr sz="1798"/>
          </a:p>
        </p:txBody>
      </p:sp>
      <p:sp>
        <p:nvSpPr>
          <p:cNvPr id="53" name="object 53"/>
          <p:cNvSpPr/>
          <p:nvPr/>
        </p:nvSpPr>
        <p:spPr>
          <a:xfrm>
            <a:off x="4526376" y="1093209"/>
            <a:ext cx="38065" cy="38065"/>
          </a:xfrm>
          <a:custGeom>
            <a:avLst/>
            <a:gdLst/>
            <a:ahLst/>
            <a:cxnLst/>
            <a:rect l="l" t="t" r="r" b="b"/>
            <a:pathLst>
              <a:path w="38100" h="38100">
                <a:moveTo>
                  <a:pt x="38100" y="38100"/>
                </a:moveTo>
                <a:lnTo>
                  <a:pt x="37803" y="33322"/>
                </a:lnTo>
                <a:lnTo>
                  <a:pt x="36936" y="28722"/>
                </a:lnTo>
                <a:lnTo>
                  <a:pt x="35536" y="24334"/>
                </a:lnTo>
                <a:lnTo>
                  <a:pt x="34266" y="21566"/>
                </a:lnTo>
                <a:lnTo>
                  <a:pt x="33636" y="20193"/>
                </a:lnTo>
                <a:lnTo>
                  <a:pt x="16532" y="3833"/>
                </a:lnTo>
                <a:lnTo>
                  <a:pt x="13771" y="2565"/>
                </a:lnTo>
                <a:lnTo>
                  <a:pt x="9382" y="1164"/>
                </a:lnTo>
                <a:lnTo>
                  <a:pt x="4779" y="297"/>
                </a:lnTo>
                <a:lnTo>
                  <a:pt x="0" y="0"/>
                </a:lnTo>
              </a:path>
            </a:pathLst>
          </a:custGeom>
          <a:ln w="11112">
            <a:solidFill>
              <a:srgbClr val="E1E1E1"/>
            </a:solidFill>
          </a:ln>
        </p:spPr>
        <p:txBody>
          <a:bodyPr wrap="square" lIns="0" tIns="0" rIns="0" bIns="0" rtlCol="0"/>
          <a:lstStyle/>
          <a:p>
            <a:endParaRPr sz="1798"/>
          </a:p>
        </p:txBody>
      </p:sp>
      <p:sp>
        <p:nvSpPr>
          <p:cNvPr id="54" name="object 54"/>
          <p:cNvSpPr/>
          <p:nvPr/>
        </p:nvSpPr>
        <p:spPr>
          <a:xfrm>
            <a:off x="4526376" y="1131274"/>
            <a:ext cx="38065" cy="38065"/>
          </a:xfrm>
          <a:custGeom>
            <a:avLst/>
            <a:gdLst/>
            <a:ahLst/>
            <a:cxnLst/>
            <a:rect l="l" t="t" r="r" b="b"/>
            <a:pathLst>
              <a:path w="38100" h="38100">
                <a:moveTo>
                  <a:pt x="0" y="38099"/>
                </a:moveTo>
                <a:lnTo>
                  <a:pt x="33636" y="17911"/>
                </a:lnTo>
                <a:lnTo>
                  <a:pt x="37803" y="4779"/>
                </a:lnTo>
                <a:lnTo>
                  <a:pt x="38100" y="0"/>
                </a:lnTo>
              </a:path>
            </a:pathLst>
          </a:custGeom>
          <a:ln w="11112">
            <a:solidFill>
              <a:srgbClr val="E1E1E1"/>
            </a:solidFill>
          </a:ln>
        </p:spPr>
        <p:txBody>
          <a:bodyPr wrap="square" lIns="0" tIns="0" rIns="0" bIns="0" rtlCol="0"/>
          <a:lstStyle/>
          <a:p>
            <a:endParaRPr sz="1798"/>
          </a:p>
        </p:txBody>
      </p:sp>
      <p:sp>
        <p:nvSpPr>
          <p:cNvPr id="55" name="object 55"/>
          <p:cNvSpPr/>
          <p:nvPr/>
        </p:nvSpPr>
        <p:spPr>
          <a:xfrm>
            <a:off x="4526376" y="1096382"/>
            <a:ext cx="34893" cy="34893"/>
          </a:xfrm>
          <a:custGeom>
            <a:avLst/>
            <a:gdLst/>
            <a:ahLst/>
            <a:cxnLst/>
            <a:rect l="l" t="t" r="r" b="b"/>
            <a:pathLst>
              <a:path w="34925" h="34925">
                <a:moveTo>
                  <a:pt x="34925" y="34925"/>
                </a:moveTo>
                <a:lnTo>
                  <a:pt x="13595" y="2745"/>
                </a:lnTo>
                <a:lnTo>
                  <a:pt x="0" y="0"/>
                </a:lnTo>
              </a:path>
            </a:pathLst>
          </a:custGeom>
          <a:ln w="11112">
            <a:solidFill>
              <a:srgbClr val="D9D9D9"/>
            </a:solidFill>
          </a:ln>
        </p:spPr>
        <p:txBody>
          <a:bodyPr wrap="square" lIns="0" tIns="0" rIns="0" bIns="0" rtlCol="0"/>
          <a:lstStyle/>
          <a:p>
            <a:endParaRPr sz="1798"/>
          </a:p>
        </p:txBody>
      </p:sp>
      <p:sp>
        <p:nvSpPr>
          <p:cNvPr id="56" name="object 56"/>
          <p:cNvSpPr/>
          <p:nvPr/>
        </p:nvSpPr>
        <p:spPr>
          <a:xfrm>
            <a:off x="4526376" y="1131275"/>
            <a:ext cx="34893" cy="34893"/>
          </a:xfrm>
          <a:custGeom>
            <a:avLst/>
            <a:gdLst/>
            <a:ahLst/>
            <a:cxnLst/>
            <a:rect l="l" t="t" r="r" b="b"/>
            <a:pathLst>
              <a:path w="34925" h="34925">
                <a:moveTo>
                  <a:pt x="0" y="34924"/>
                </a:moveTo>
                <a:lnTo>
                  <a:pt x="32181" y="13595"/>
                </a:lnTo>
                <a:lnTo>
                  <a:pt x="34606" y="4739"/>
                </a:lnTo>
                <a:lnTo>
                  <a:pt x="34925" y="0"/>
                </a:lnTo>
              </a:path>
            </a:pathLst>
          </a:custGeom>
          <a:ln w="11112">
            <a:solidFill>
              <a:srgbClr val="D9D9D9"/>
            </a:solidFill>
          </a:ln>
        </p:spPr>
        <p:txBody>
          <a:bodyPr wrap="square" lIns="0" tIns="0" rIns="0" bIns="0" rtlCol="0"/>
          <a:lstStyle/>
          <a:p>
            <a:endParaRPr sz="1798"/>
          </a:p>
        </p:txBody>
      </p:sp>
      <p:sp>
        <p:nvSpPr>
          <p:cNvPr id="57" name="object 57"/>
          <p:cNvSpPr/>
          <p:nvPr/>
        </p:nvSpPr>
        <p:spPr>
          <a:xfrm>
            <a:off x="4526376" y="1099553"/>
            <a:ext cx="31721" cy="31721"/>
          </a:xfrm>
          <a:custGeom>
            <a:avLst/>
            <a:gdLst/>
            <a:ahLst/>
            <a:cxnLst/>
            <a:rect l="l" t="t" r="r" b="b"/>
            <a:pathLst>
              <a:path w="31750" h="31750">
                <a:moveTo>
                  <a:pt x="31750" y="31750"/>
                </a:moveTo>
                <a:lnTo>
                  <a:pt x="4690" y="344"/>
                </a:lnTo>
                <a:lnTo>
                  <a:pt x="0" y="0"/>
                </a:lnTo>
              </a:path>
            </a:pathLst>
          </a:custGeom>
          <a:ln w="11112">
            <a:solidFill>
              <a:srgbClr val="D2D2D2"/>
            </a:solidFill>
          </a:ln>
        </p:spPr>
        <p:txBody>
          <a:bodyPr wrap="square" lIns="0" tIns="0" rIns="0" bIns="0" rtlCol="0"/>
          <a:lstStyle/>
          <a:p>
            <a:endParaRPr sz="1798"/>
          </a:p>
        </p:txBody>
      </p:sp>
      <p:sp>
        <p:nvSpPr>
          <p:cNvPr id="58" name="object 58"/>
          <p:cNvSpPr/>
          <p:nvPr/>
        </p:nvSpPr>
        <p:spPr>
          <a:xfrm>
            <a:off x="4526376" y="1131274"/>
            <a:ext cx="31721" cy="31721"/>
          </a:xfrm>
          <a:custGeom>
            <a:avLst/>
            <a:gdLst/>
            <a:ahLst/>
            <a:cxnLst/>
            <a:rect l="l" t="t" r="r" b="b"/>
            <a:pathLst>
              <a:path w="31750" h="31750">
                <a:moveTo>
                  <a:pt x="0" y="31749"/>
                </a:moveTo>
                <a:lnTo>
                  <a:pt x="31405" y="4692"/>
                </a:lnTo>
                <a:lnTo>
                  <a:pt x="31750" y="0"/>
                </a:lnTo>
              </a:path>
            </a:pathLst>
          </a:custGeom>
          <a:ln w="11112">
            <a:solidFill>
              <a:srgbClr val="D2D2D2"/>
            </a:solidFill>
          </a:ln>
        </p:spPr>
        <p:txBody>
          <a:bodyPr wrap="square" lIns="0" tIns="0" rIns="0" bIns="0" rtlCol="0"/>
          <a:lstStyle/>
          <a:p>
            <a:endParaRPr sz="1798"/>
          </a:p>
        </p:txBody>
      </p:sp>
      <p:sp>
        <p:nvSpPr>
          <p:cNvPr id="59" name="object 59"/>
          <p:cNvSpPr/>
          <p:nvPr/>
        </p:nvSpPr>
        <p:spPr>
          <a:xfrm>
            <a:off x="4526376" y="1102725"/>
            <a:ext cx="28549" cy="28549"/>
          </a:xfrm>
          <a:custGeom>
            <a:avLst/>
            <a:gdLst/>
            <a:ahLst/>
            <a:cxnLst/>
            <a:rect l="l" t="t" r="r" b="b"/>
            <a:pathLst>
              <a:path w="28575" h="28575">
                <a:moveTo>
                  <a:pt x="28575" y="28575"/>
                </a:moveTo>
                <a:lnTo>
                  <a:pt x="0" y="0"/>
                </a:lnTo>
              </a:path>
            </a:pathLst>
          </a:custGeom>
          <a:ln w="11112">
            <a:solidFill>
              <a:srgbClr val="CACACA"/>
            </a:solidFill>
          </a:ln>
        </p:spPr>
        <p:txBody>
          <a:bodyPr wrap="square" lIns="0" tIns="0" rIns="0" bIns="0" rtlCol="0"/>
          <a:lstStyle/>
          <a:p>
            <a:endParaRPr sz="1798"/>
          </a:p>
        </p:txBody>
      </p:sp>
      <p:sp>
        <p:nvSpPr>
          <p:cNvPr id="60" name="object 60"/>
          <p:cNvSpPr/>
          <p:nvPr/>
        </p:nvSpPr>
        <p:spPr>
          <a:xfrm>
            <a:off x="4526376" y="1131274"/>
            <a:ext cx="28549" cy="28549"/>
          </a:xfrm>
          <a:custGeom>
            <a:avLst/>
            <a:gdLst/>
            <a:ahLst/>
            <a:cxnLst/>
            <a:rect l="l" t="t" r="r" b="b"/>
            <a:pathLst>
              <a:path w="28575" h="28575">
                <a:moveTo>
                  <a:pt x="0" y="28574"/>
                </a:moveTo>
                <a:lnTo>
                  <a:pt x="28201" y="4636"/>
                </a:lnTo>
                <a:lnTo>
                  <a:pt x="28575" y="0"/>
                </a:lnTo>
              </a:path>
            </a:pathLst>
          </a:custGeom>
          <a:ln w="11112">
            <a:solidFill>
              <a:srgbClr val="CACACA"/>
            </a:solidFill>
          </a:ln>
        </p:spPr>
        <p:txBody>
          <a:bodyPr wrap="square" lIns="0" tIns="0" rIns="0" bIns="0" rtlCol="0"/>
          <a:lstStyle/>
          <a:p>
            <a:endParaRPr sz="1798"/>
          </a:p>
        </p:txBody>
      </p:sp>
      <p:sp>
        <p:nvSpPr>
          <p:cNvPr id="61" name="object 61"/>
          <p:cNvSpPr/>
          <p:nvPr/>
        </p:nvSpPr>
        <p:spPr>
          <a:xfrm>
            <a:off x="4526375" y="1105897"/>
            <a:ext cx="25377" cy="25377"/>
          </a:xfrm>
          <a:custGeom>
            <a:avLst/>
            <a:gdLst/>
            <a:ahLst/>
            <a:cxnLst/>
            <a:rect l="l" t="t" r="r" b="b"/>
            <a:pathLst>
              <a:path w="25400" h="25400">
                <a:moveTo>
                  <a:pt x="25400" y="25400"/>
                </a:moveTo>
                <a:lnTo>
                  <a:pt x="0" y="0"/>
                </a:lnTo>
              </a:path>
            </a:pathLst>
          </a:custGeom>
          <a:ln w="11112">
            <a:solidFill>
              <a:srgbClr val="C3C3C3"/>
            </a:solidFill>
          </a:ln>
        </p:spPr>
        <p:txBody>
          <a:bodyPr wrap="square" lIns="0" tIns="0" rIns="0" bIns="0" rtlCol="0"/>
          <a:lstStyle/>
          <a:p>
            <a:endParaRPr sz="1798"/>
          </a:p>
        </p:txBody>
      </p:sp>
      <p:sp>
        <p:nvSpPr>
          <p:cNvPr id="62" name="object 62"/>
          <p:cNvSpPr/>
          <p:nvPr/>
        </p:nvSpPr>
        <p:spPr>
          <a:xfrm>
            <a:off x="4526375" y="1131274"/>
            <a:ext cx="25377" cy="25377"/>
          </a:xfrm>
          <a:custGeom>
            <a:avLst/>
            <a:gdLst/>
            <a:ahLst/>
            <a:cxnLst/>
            <a:rect l="l" t="t" r="r" b="b"/>
            <a:pathLst>
              <a:path w="25400" h="25400">
                <a:moveTo>
                  <a:pt x="0" y="25399"/>
                </a:moveTo>
                <a:lnTo>
                  <a:pt x="24990" y="4567"/>
                </a:lnTo>
                <a:lnTo>
                  <a:pt x="25400" y="0"/>
                </a:lnTo>
              </a:path>
            </a:pathLst>
          </a:custGeom>
          <a:ln w="11112">
            <a:solidFill>
              <a:srgbClr val="C3C3C3"/>
            </a:solidFill>
          </a:ln>
        </p:spPr>
        <p:txBody>
          <a:bodyPr wrap="square" lIns="0" tIns="0" rIns="0" bIns="0" rtlCol="0"/>
          <a:lstStyle/>
          <a:p>
            <a:endParaRPr sz="1798"/>
          </a:p>
        </p:txBody>
      </p:sp>
      <p:sp>
        <p:nvSpPr>
          <p:cNvPr id="63" name="object 63"/>
          <p:cNvSpPr/>
          <p:nvPr/>
        </p:nvSpPr>
        <p:spPr>
          <a:xfrm>
            <a:off x="4526376" y="1109070"/>
            <a:ext cx="22205" cy="22205"/>
          </a:xfrm>
          <a:custGeom>
            <a:avLst/>
            <a:gdLst/>
            <a:ahLst/>
            <a:cxnLst/>
            <a:rect l="l" t="t" r="r" b="b"/>
            <a:pathLst>
              <a:path w="22225" h="22225">
                <a:moveTo>
                  <a:pt x="22225" y="22225"/>
                </a:moveTo>
                <a:lnTo>
                  <a:pt x="0" y="0"/>
                </a:lnTo>
              </a:path>
            </a:pathLst>
          </a:custGeom>
          <a:ln w="11112">
            <a:solidFill>
              <a:srgbClr val="BBBBBB"/>
            </a:solidFill>
          </a:ln>
        </p:spPr>
        <p:txBody>
          <a:bodyPr wrap="square" lIns="0" tIns="0" rIns="0" bIns="0" rtlCol="0"/>
          <a:lstStyle/>
          <a:p>
            <a:endParaRPr sz="1798"/>
          </a:p>
        </p:txBody>
      </p:sp>
      <p:sp>
        <p:nvSpPr>
          <p:cNvPr id="64" name="object 64"/>
          <p:cNvSpPr/>
          <p:nvPr/>
        </p:nvSpPr>
        <p:spPr>
          <a:xfrm>
            <a:off x="4526376" y="1131274"/>
            <a:ext cx="22205" cy="22205"/>
          </a:xfrm>
          <a:custGeom>
            <a:avLst/>
            <a:gdLst/>
            <a:ahLst/>
            <a:cxnLst/>
            <a:rect l="l" t="t" r="r" b="b"/>
            <a:pathLst>
              <a:path w="22225" h="22225">
                <a:moveTo>
                  <a:pt x="0" y="22224"/>
                </a:moveTo>
                <a:lnTo>
                  <a:pt x="21773" y="4480"/>
                </a:lnTo>
                <a:lnTo>
                  <a:pt x="22225" y="0"/>
                </a:lnTo>
              </a:path>
            </a:pathLst>
          </a:custGeom>
          <a:ln w="11112">
            <a:solidFill>
              <a:srgbClr val="BBBBBB"/>
            </a:solidFill>
          </a:ln>
        </p:spPr>
        <p:txBody>
          <a:bodyPr wrap="square" lIns="0" tIns="0" rIns="0" bIns="0" rtlCol="0"/>
          <a:lstStyle/>
          <a:p>
            <a:endParaRPr sz="1798"/>
          </a:p>
        </p:txBody>
      </p:sp>
      <p:sp>
        <p:nvSpPr>
          <p:cNvPr id="65" name="object 65"/>
          <p:cNvSpPr/>
          <p:nvPr/>
        </p:nvSpPr>
        <p:spPr>
          <a:xfrm>
            <a:off x="4526376" y="1112242"/>
            <a:ext cx="19032" cy="19032"/>
          </a:xfrm>
          <a:custGeom>
            <a:avLst/>
            <a:gdLst/>
            <a:ahLst/>
            <a:cxnLst/>
            <a:rect l="l" t="t" r="r" b="b"/>
            <a:pathLst>
              <a:path w="19050" h="19050">
                <a:moveTo>
                  <a:pt x="19050" y="19050"/>
                </a:moveTo>
                <a:lnTo>
                  <a:pt x="0" y="0"/>
                </a:lnTo>
              </a:path>
            </a:pathLst>
          </a:custGeom>
          <a:ln w="11112">
            <a:solidFill>
              <a:srgbClr val="B3B3B3"/>
            </a:solidFill>
          </a:ln>
        </p:spPr>
        <p:txBody>
          <a:bodyPr wrap="square" lIns="0" tIns="0" rIns="0" bIns="0" rtlCol="0"/>
          <a:lstStyle/>
          <a:p>
            <a:endParaRPr sz="1798"/>
          </a:p>
        </p:txBody>
      </p:sp>
      <p:sp>
        <p:nvSpPr>
          <p:cNvPr id="66" name="object 66"/>
          <p:cNvSpPr/>
          <p:nvPr/>
        </p:nvSpPr>
        <p:spPr>
          <a:xfrm>
            <a:off x="4526376" y="1131274"/>
            <a:ext cx="19032" cy="19032"/>
          </a:xfrm>
          <a:custGeom>
            <a:avLst/>
            <a:gdLst/>
            <a:ahLst/>
            <a:cxnLst/>
            <a:rect l="l" t="t" r="r" b="b"/>
            <a:pathLst>
              <a:path w="19050" h="19050">
                <a:moveTo>
                  <a:pt x="0" y="19049"/>
                </a:moveTo>
                <a:lnTo>
                  <a:pt x="18546" y="4370"/>
                </a:lnTo>
                <a:lnTo>
                  <a:pt x="19050" y="0"/>
                </a:lnTo>
              </a:path>
            </a:pathLst>
          </a:custGeom>
          <a:ln w="11112">
            <a:solidFill>
              <a:srgbClr val="B3B3B3"/>
            </a:solidFill>
          </a:ln>
        </p:spPr>
        <p:txBody>
          <a:bodyPr wrap="square" lIns="0" tIns="0" rIns="0" bIns="0" rtlCol="0"/>
          <a:lstStyle/>
          <a:p>
            <a:endParaRPr sz="1798"/>
          </a:p>
        </p:txBody>
      </p:sp>
      <p:sp>
        <p:nvSpPr>
          <p:cNvPr id="67" name="object 67"/>
          <p:cNvSpPr/>
          <p:nvPr/>
        </p:nvSpPr>
        <p:spPr>
          <a:xfrm>
            <a:off x="4526376" y="1115414"/>
            <a:ext cx="15861" cy="15861"/>
          </a:xfrm>
          <a:custGeom>
            <a:avLst/>
            <a:gdLst/>
            <a:ahLst/>
            <a:cxnLst/>
            <a:rect l="l" t="t" r="r" b="b"/>
            <a:pathLst>
              <a:path w="15875" h="15875">
                <a:moveTo>
                  <a:pt x="15875" y="15875"/>
                </a:moveTo>
                <a:lnTo>
                  <a:pt x="15875" y="7112"/>
                </a:lnTo>
                <a:lnTo>
                  <a:pt x="8763" y="0"/>
                </a:lnTo>
                <a:lnTo>
                  <a:pt x="0" y="0"/>
                </a:lnTo>
              </a:path>
            </a:pathLst>
          </a:custGeom>
          <a:ln w="11112">
            <a:solidFill>
              <a:srgbClr val="ACACAC"/>
            </a:solidFill>
          </a:ln>
        </p:spPr>
        <p:txBody>
          <a:bodyPr wrap="square" lIns="0" tIns="0" rIns="0" bIns="0" rtlCol="0"/>
          <a:lstStyle/>
          <a:p>
            <a:endParaRPr sz="1798"/>
          </a:p>
        </p:txBody>
      </p:sp>
      <p:sp>
        <p:nvSpPr>
          <p:cNvPr id="68" name="object 68"/>
          <p:cNvSpPr/>
          <p:nvPr/>
        </p:nvSpPr>
        <p:spPr>
          <a:xfrm>
            <a:off x="4526376" y="1131274"/>
            <a:ext cx="15861" cy="15861"/>
          </a:xfrm>
          <a:custGeom>
            <a:avLst/>
            <a:gdLst/>
            <a:ahLst/>
            <a:cxnLst/>
            <a:rect l="l" t="t" r="r" b="b"/>
            <a:pathLst>
              <a:path w="15875" h="15875">
                <a:moveTo>
                  <a:pt x="0" y="15875"/>
                </a:moveTo>
                <a:lnTo>
                  <a:pt x="8763" y="15875"/>
                </a:lnTo>
                <a:lnTo>
                  <a:pt x="15875" y="8775"/>
                </a:lnTo>
                <a:lnTo>
                  <a:pt x="15875" y="0"/>
                </a:lnTo>
              </a:path>
            </a:pathLst>
          </a:custGeom>
          <a:ln w="11112">
            <a:solidFill>
              <a:srgbClr val="ACACAC"/>
            </a:solidFill>
          </a:ln>
        </p:spPr>
        <p:txBody>
          <a:bodyPr wrap="square" lIns="0" tIns="0" rIns="0" bIns="0" rtlCol="0"/>
          <a:lstStyle/>
          <a:p>
            <a:endParaRPr sz="1798"/>
          </a:p>
        </p:txBody>
      </p:sp>
      <p:sp>
        <p:nvSpPr>
          <p:cNvPr id="69" name="object 69"/>
          <p:cNvSpPr/>
          <p:nvPr/>
        </p:nvSpPr>
        <p:spPr>
          <a:xfrm>
            <a:off x="4526376" y="1118586"/>
            <a:ext cx="12688" cy="12688"/>
          </a:xfrm>
          <a:custGeom>
            <a:avLst/>
            <a:gdLst/>
            <a:ahLst/>
            <a:cxnLst/>
            <a:rect l="l" t="t" r="r" b="b"/>
            <a:pathLst>
              <a:path w="12700" h="12700">
                <a:moveTo>
                  <a:pt x="12700" y="12700"/>
                </a:moveTo>
                <a:lnTo>
                  <a:pt x="12700" y="5689"/>
                </a:lnTo>
                <a:lnTo>
                  <a:pt x="7010" y="0"/>
                </a:lnTo>
                <a:lnTo>
                  <a:pt x="0" y="0"/>
                </a:lnTo>
              </a:path>
            </a:pathLst>
          </a:custGeom>
          <a:ln w="11112">
            <a:solidFill>
              <a:srgbClr val="A4A4A4"/>
            </a:solidFill>
          </a:ln>
        </p:spPr>
        <p:txBody>
          <a:bodyPr wrap="square" lIns="0" tIns="0" rIns="0" bIns="0" rtlCol="0"/>
          <a:lstStyle/>
          <a:p>
            <a:endParaRPr sz="1798"/>
          </a:p>
        </p:txBody>
      </p:sp>
      <p:sp>
        <p:nvSpPr>
          <p:cNvPr id="70" name="object 70"/>
          <p:cNvSpPr/>
          <p:nvPr/>
        </p:nvSpPr>
        <p:spPr>
          <a:xfrm>
            <a:off x="4526376" y="1131274"/>
            <a:ext cx="12688" cy="12688"/>
          </a:xfrm>
          <a:custGeom>
            <a:avLst/>
            <a:gdLst/>
            <a:ahLst/>
            <a:cxnLst/>
            <a:rect l="l" t="t" r="r" b="b"/>
            <a:pathLst>
              <a:path w="12700" h="12700">
                <a:moveTo>
                  <a:pt x="0" y="12700"/>
                </a:moveTo>
                <a:lnTo>
                  <a:pt x="7010" y="12700"/>
                </a:lnTo>
                <a:lnTo>
                  <a:pt x="12700" y="7010"/>
                </a:lnTo>
                <a:lnTo>
                  <a:pt x="12700" y="0"/>
                </a:lnTo>
              </a:path>
            </a:pathLst>
          </a:custGeom>
          <a:ln w="11112">
            <a:solidFill>
              <a:srgbClr val="A4A4A4"/>
            </a:solidFill>
          </a:ln>
        </p:spPr>
        <p:txBody>
          <a:bodyPr wrap="square" lIns="0" tIns="0" rIns="0" bIns="0" rtlCol="0"/>
          <a:lstStyle/>
          <a:p>
            <a:endParaRPr sz="1798"/>
          </a:p>
        </p:txBody>
      </p:sp>
      <p:sp>
        <p:nvSpPr>
          <p:cNvPr id="71" name="object 71"/>
          <p:cNvSpPr/>
          <p:nvPr/>
        </p:nvSpPr>
        <p:spPr>
          <a:xfrm>
            <a:off x="4526377" y="1121759"/>
            <a:ext cx="9516" cy="9516"/>
          </a:xfrm>
          <a:custGeom>
            <a:avLst/>
            <a:gdLst/>
            <a:ahLst/>
            <a:cxnLst/>
            <a:rect l="l" t="t" r="r" b="b"/>
            <a:pathLst>
              <a:path w="9525" h="9525">
                <a:moveTo>
                  <a:pt x="9525" y="9525"/>
                </a:moveTo>
                <a:lnTo>
                  <a:pt x="9525" y="4267"/>
                </a:lnTo>
                <a:lnTo>
                  <a:pt x="5258" y="0"/>
                </a:lnTo>
                <a:lnTo>
                  <a:pt x="0" y="0"/>
                </a:lnTo>
              </a:path>
            </a:pathLst>
          </a:custGeom>
          <a:ln w="11112">
            <a:solidFill>
              <a:srgbClr val="9D9D9D"/>
            </a:solidFill>
          </a:ln>
        </p:spPr>
        <p:txBody>
          <a:bodyPr wrap="square" lIns="0" tIns="0" rIns="0" bIns="0" rtlCol="0"/>
          <a:lstStyle/>
          <a:p>
            <a:endParaRPr sz="1798"/>
          </a:p>
        </p:txBody>
      </p:sp>
      <p:sp>
        <p:nvSpPr>
          <p:cNvPr id="72" name="object 72"/>
          <p:cNvSpPr/>
          <p:nvPr/>
        </p:nvSpPr>
        <p:spPr>
          <a:xfrm>
            <a:off x="4526377" y="1131275"/>
            <a:ext cx="9516" cy="9516"/>
          </a:xfrm>
          <a:custGeom>
            <a:avLst/>
            <a:gdLst/>
            <a:ahLst/>
            <a:cxnLst/>
            <a:rect l="l" t="t" r="r" b="b"/>
            <a:pathLst>
              <a:path w="9525" h="9525">
                <a:moveTo>
                  <a:pt x="0" y="9525"/>
                </a:moveTo>
                <a:lnTo>
                  <a:pt x="5258" y="9525"/>
                </a:lnTo>
                <a:lnTo>
                  <a:pt x="9525" y="5257"/>
                </a:lnTo>
                <a:lnTo>
                  <a:pt x="9525" y="0"/>
                </a:lnTo>
              </a:path>
            </a:pathLst>
          </a:custGeom>
          <a:ln w="11112">
            <a:solidFill>
              <a:srgbClr val="9D9D9D"/>
            </a:solidFill>
          </a:ln>
        </p:spPr>
        <p:txBody>
          <a:bodyPr wrap="square" lIns="0" tIns="0" rIns="0" bIns="0" rtlCol="0"/>
          <a:lstStyle/>
          <a:p>
            <a:endParaRPr sz="1798"/>
          </a:p>
        </p:txBody>
      </p:sp>
      <p:sp>
        <p:nvSpPr>
          <p:cNvPr id="73" name="object 73"/>
          <p:cNvSpPr/>
          <p:nvPr/>
        </p:nvSpPr>
        <p:spPr>
          <a:xfrm>
            <a:off x="4526376" y="1124930"/>
            <a:ext cx="6344" cy="6344"/>
          </a:xfrm>
          <a:custGeom>
            <a:avLst/>
            <a:gdLst/>
            <a:ahLst/>
            <a:cxnLst/>
            <a:rect l="l" t="t" r="r" b="b"/>
            <a:pathLst>
              <a:path w="6350" h="6350">
                <a:moveTo>
                  <a:pt x="6350" y="6350"/>
                </a:moveTo>
                <a:lnTo>
                  <a:pt x="6350" y="2857"/>
                </a:lnTo>
                <a:lnTo>
                  <a:pt x="3505" y="0"/>
                </a:lnTo>
                <a:lnTo>
                  <a:pt x="0" y="0"/>
                </a:lnTo>
              </a:path>
            </a:pathLst>
          </a:custGeom>
          <a:ln w="11112">
            <a:solidFill>
              <a:srgbClr val="959595"/>
            </a:solidFill>
          </a:ln>
        </p:spPr>
        <p:txBody>
          <a:bodyPr wrap="square" lIns="0" tIns="0" rIns="0" bIns="0" rtlCol="0"/>
          <a:lstStyle/>
          <a:p>
            <a:endParaRPr sz="1798"/>
          </a:p>
        </p:txBody>
      </p:sp>
      <p:sp>
        <p:nvSpPr>
          <p:cNvPr id="74" name="object 74"/>
          <p:cNvSpPr/>
          <p:nvPr/>
        </p:nvSpPr>
        <p:spPr>
          <a:xfrm>
            <a:off x="4526376" y="1131275"/>
            <a:ext cx="6344" cy="6344"/>
          </a:xfrm>
          <a:custGeom>
            <a:avLst/>
            <a:gdLst/>
            <a:ahLst/>
            <a:cxnLst/>
            <a:rect l="l" t="t" r="r" b="b"/>
            <a:pathLst>
              <a:path w="6350" h="6350">
                <a:moveTo>
                  <a:pt x="0" y="6350"/>
                </a:moveTo>
                <a:lnTo>
                  <a:pt x="3505" y="6350"/>
                </a:lnTo>
                <a:lnTo>
                  <a:pt x="6350" y="3505"/>
                </a:lnTo>
                <a:lnTo>
                  <a:pt x="6350" y="0"/>
                </a:lnTo>
              </a:path>
            </a:pathLst>
          </a:custGeom>
          <a:ln w="11112">
            <a:solidFill>
              <a:srgbClr val="959595"/>
            </a:solidFill>
          </a:ln>
        </p:spPr>
        <p:txBody>
          <a:bodyPr wrap="square" lIns="0" tIns="0" rIns="0" bIns="0" rtlCol="0"/>
          <a:lstStyle/>
          <a:p>
            <a:endParaRPr sz="1798"/>
          </a:p>
        </p:txBody>
      </p:sp>
      <p:sp>
        <p:nvSpPr>
          <p:cNvPr id="75" name="object 75"/>
          <p:cNvSpPr/>
          <p:nvPr/>
        </p:nvSpPr>
        <p:spPr>
          <a:xfrm>
            <a:off x="4526376" y="1128102"/>
            <a:ext cx="3172" cy="3172"/>
          </a:xfrm>
          <a:custGeom>
            <a:avLst/>
            <a:gdLst/>
            <a:ahLst/>
            <a:cxnLst/>
            <a:rect l="l" t="t" r="r" b="b"/>
            <a:pathLst>
              <a:path w="3175" h="3175">
                <a:moveTo>
                  <a:pt x="3175" y="3175"/>
                </a:moveTo>
                <a:lnTo>
                  <a:pt x="3175" y="1435"/>
                </a:lnTo>
                <a:lnTo>
                  <a:pt x="1752" y="0"/>
                </a:lnTo>
                <a:lnTo>
                  <a:pt x="0" y="0"/>
                </a:lnTo>
              </a:path>
            </a:pathLst>
          </a:custGeom>
          <a:ln w="11112">
            <a:solidFill>
              <a:srgbClr val="8E8E8E"/>
            </a:solidFill>
          </a:ln>
        </p:spPr>
        <p:txBody>
          <a:bodyPr wrap="square" lIns="0" tIns="0" rIns="0" bIns="0" rtlCol="0"/>
          <a:lstStyle/>
          <a:p>
            <a:endParaRPr sz="1798"/>
          </a:p>
        </p:txBody>
      </p:sp>
      <p:sp>
        <p:nvSpPr>
          <p:cNvPr id="76" name="object 76"/>
          <p:cNvSpPr/>
          <p:nvPr/>
        </p:nvSpPr>
        <p:spPr>
          <a:xfrm>
            <a:off x="4526376" y="1131274"/>
            <a:ext cx="3172" cy="3172"/>
          </a:xfrm>
          <a:custGeom>
            <a:avLst/>
            <a:gdLst/>
            <a:ahLst/>
            <a:cxnLst/>
            <a:rect l="l" t="t" r="r" b="b"/>
            <a:pathLst>
              <a:path w="3175" h="3175">
                <a:moveTo>
                  <a:pt x="0" y="3175"/>
                </a:moveTo>
                <a:lnTo>
                  <a:pt x="1752" y="3175"/>
                </a:lnTo>
                <a:lnTo>
                  <a:pt x="3175" y="1752"/>
                </a:lnTo>
                <a:lnTo>
                  <a:pt x="3175" y="0"/>
                </a:lnTo>
              </a:path>
            </a:pathLst>
          </a:custGeom>
          <a:ln w="11112">
            <a:solidFill>
              <a:srgbClr val="8E8E8E"/>
            </a:solidFill>
          </a:ln>
        </p:spPr>
        <p:txBody>
          <a:bodyPr wrap="square" lIns="0" tIns="0" rIns="0" bIns="0" rtlCol="0"/>
          <a:lstStyle/>
          <a:p>
            <a:endParaRPr sz="1798"/>
          </a:p>
        </p:txBody>
      </p:sp>
      <p:sp>
        <p:nvSpPr>
          <p:cNvPr id="77" name="object 77"/>
          <p:cNvSpPr/>
          <p:nvPr/>
        </p:nvSpPr>
        <p:spPr>
          <a:xfrm>
            <a:off x="4526376" y="1124930"/>
            <a:ext cx="6344" cy="12688"/>
          </a:xfrm>
          <a:custGeom>
            <a:avLst/>
            <a:gdLst/>
            <a:ahLst/>
            <a:cxnLst/>
            <a:rect l="l" t="t" r="r" b="b"/>
            <a:pathLst>
              <a:path w="6350" h="12700">
                <a:moveTo>
                  <a:pt x="3505" y="0"/>
                </a:moveTo>
                <a:lnTo>
                  <a:pt x="0" y="0"/>
                </a:lnTo>
                <a:lnTo>
                  <a:pt x="0" y="12700"/>
                </a:lnTo>
                <a:lnTo>
                  <a:pt x="3505" y="12700"/>
                </a:lnTo>
                <a:lnTo>
                  <a:pt x="6350" y="9855"/>
                </a:lnTo>
                <a:lnTo>
                  <a:pt x="6350" y="2857"/>
                </a:lnTo>
                <a:lnTo>
                  <a:pt x="3505" y="0"/>
                </a:lnTo>
                <a:close/>
              </a:path>
            </a:pathLst>
          </a:custGeom>
          <a:solidFill>
            <a:srgbClr val="7F7F7F"/>
          </a:solidFill>
        </p:spPr>
        <p:txBody>
          <a:bodyPr wrap="square" lIns="0" tIns="0" rIns="0" bIns="0" rtlCol="0"/>
          <a:lstStyle/>
          <a:p>
            <a:endParaRPr sz="1798"/>
          </a:p>
        </p:txBody>
      </p:sp>
      <p:sp>
        <p:nvSpPr>
          <p:cNvPr id="78" name="object 78"/>
          <p:cNvSpPr/>
          <p:nvPr/>
        </p:nvSpPr>
        <p:spPr>
          <a:xfrm>
            <a:off x="4527958"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8D8D8D"/>
          </a:solidFill>
        </p:spPr>
        <p:txBody>
          <a:bodyPr wrap="square" lIns="0" tIns="0" rIns="0" bIns="0" rtlCol="0"/>
          <a:lstStyle/>
          <a:p>
            <a:endParaRPr sz="1798"/>
          </a:p>
        </p:txBody>
      </p:sp>
      <p:sp>
        <p:nvSpPr>
          <p:cNvPr id="79" name="object 79"/>
          <p:cNvSpPr/>
          <p:nvPr/>
        </p:nvSpPr>
        <p:spPr>
          <a:xfrm>
            <a:off x="4534303"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9B9B9B"/>
          </a:solidFill>
        </p:spPr>
        <p:txBody>
          <a:bodyPr wrap="square" lIns="0" tIns="0" rIns="0" bIns="0" rtlCol="0"/>
          <a:lstStyle/>
          <a:p>
            <a:endParaRPr sz="1798"/>
          </a:p>
        </p:txBody>
      </p:sp>
      <p:sp>
        <p:nvSpPr>
          <p:cNvPr id="80" name="object 80"/>
          <p:cNvSpPr/>
          <p:nvPr/>
        </p:nvSpPr>
        <p:spPr>
          <a:xfrm>
            <a:off x="4540644"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A9A9A9"/>
          </a:solidFill>
        </p:spPr>
        <p:txBody>
          <a:bodyPr wrap="square" lIns="0" tIns="0" rIns="0" bIns="0" rtlCol="0"/>
          <a:lstStyle/>
          <a:p>
            <a:endParaRPr sz="1798"/>
          </a:p>
        </p:txBody>
      </p:sp>
      <p:sp>
        <p:nvSpPr>
          <p:cNvPr id="81" name="object 81"/>
          <p:cNvSpPr/>
          <p:nvPr/>
        </p:nvSpPr>
        <p:spPr>
          <a:xfrm>
            <a:off x="4546988"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B8B8B8"/>
          </a:solidFill>
        </p:spPr>
        <p:txBody>
          <a:bodyPr wrap="square" lIns="0" tIns="0" rIns="0" bIns="0" rtlCol="0"/>
          <a:lstStyle/>
          <a:p>
            <a:endParaRPr sz="1798"/>
          </a:p>
        </p:txBody>
      </p:sp>
      <p:sp>
        <p:nvSpPr>
          <p:cNvPr id="82" name="object 82"/>
          <p:cNvSpPr/>
          <p:nvPr/>
        </p:nvSpPr>
        <p:spPr>
          <a:xfrm>
            <a:off x="4553342"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C6C6C6"/>
          </a:solidFill>
        </p:spPr>
        <p:txBody>
          <a:bodyPr wrap="square" lIns="0" tIns="0" rIns="0" bIns="0" rtlCol="0"/>
          <a:lstStyle/>
          <a:p>
            <a:endParaRPr sz="1798"/>
          </a:p>
        </p:txBody>
      </p:sp>
      <p:sp>
        <p:nvSpPr>
          <p:cNvPr id="83" name="object 83"/>
          <p:cNvSpPr/>
          <p:nvPr/>
        </p:nvSpPr>
        <p:spPr>
          <a:xfrm>
            <a:off x="4559661"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D4D4D4"/>
          </a:solidFill>
        </p:spPr>
        <p:txBody>
          <a:bodyPr wrap="square" lIns="0" tIns="0" rIns="0" bIns="0" rtlCol="0"/>
          <a:lstStyle/>
          <a:p>
            <a:endParaRPr sz="1798"/>
          </a:p>
        </p:txBody>
      </p:sp>
      <p:sp>
        <p:nvSpPr>
          <p:cNvPr id="84" name="object 84"/>
          <p:cNvSpPr/>
          <p:nvPr/>
        </p:nvSpPr>
        <p:spPr>
          <a:xfrm>
            <a:off x="4566024" y="1131281"/>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E2E2E2"/>
          </a:solidFill>
        </p:spPr>
        <p:txBody>
          <a:bodyPr wrap="square" lIns="0" tIns="0" rIns="0" bIns="0" rtlCol="0"/>
          <a:lstStyle/>
          <a:p>
            <a:endParaRPr sz="1798"/>
          </a:p>
        </p:txBody>
      </p:sp>
      <p:sp>
        <p:nvSpPr>
          <p:cNvPr id="85" name="object 85"/>
          <p:cNvSpPr/>
          <p:nvPr/>
        </p:nvSpPr>
        <p:spPr>
          <a:xfrm>
            <a:off x="97875" y="1074393"/>
            <a:ext cx="4428868" cy="685805"/>
          </a:xfrm>
          <a:custGeom>
            <a:avLst/>
            <a:gdLst/>
            <a:ahLst/>
            <a:cxnLst/>
            <a:rect l="l" t="t" r="r" b="b"/>
            <a:pathLst>
              <a:path w="4432935" h="686435">
                <a:moveTo>
                  <a:pt x="4432567" y="0"/>
                </a:moveTo>
                <a:lnTo>
                  <a:pt x="0" y="0"/>
                </a:lnTo>
                <a:lnTo>
                  <a:pt x="0" y="635330"/>
                </a:lnTo>
                <a:lnTo>
                  <a:pt x="16583" y="672795"/>
                </a:lnTo>
                <a:lnTo>
                  <a:pt x="50799" y="686130"/>
                </a:lnTo>
                <a:lnTo>
                  <a:pt x="4381767" y="686130"/>
                </a:lnTo>
                <a:lnTo>
                  <a:pt x="4419233" y="669547"/>
                </a:lnTo>
                <a:lnTo>
                  <a:pt x="4432567" y="635330"/>
                </a:lnTo>
                <a:lnTo>
                  <a:pt x="4432567" y="0"/>
                </a:lnTo>
                <a:close/>
              </a:path>
            </a:pathLst>
          </a:custGeom>
          <a:solidFill>
            <a:srgbClr val="FFFFFF"/>
          </a:solidFill>
        </p:spPr>
        <p:txBody>
          <a:bodyPr wrap="square" lIns="0" tIns="0" rIns="0" bIns="0" rtlCol="0"/>
          <a:lstStyle/>
          <a:p>
            <a:endParaRPr sz="1798"/>
          </a:p>
        </p:txBody>
      </p:sp>
      <p:sp>
        <p:nvSpPr>
          <p:cNvPr id="86" name="object 86"/>
          <p:cNvSpPr/>
          <p:nvPr/>
        </p:nvSpPr>
        <p:spPr>
          <a:xfrm>
            <a:off x="4526375" y="1118586"/>
            <a:ext cx="0" cy="609675"/>
          </a:xfrm>
          <a:custGeom>
            <a:avLst/>
            <a:gdLst/>
            <a:ahLst/>
            <a:cxnLst/>
            <a:rect l="l" t="t" r="r" b="b"/>
            <a:pathLst>
              <a:path h="610235">
                <a:moveTo>
                  <a:pt x="0" y="610146"/>
                </a:moveTo>
                <a:lnTo>
                  <a:pt x="0" y="0"/>
                </a:lnTo>
              </a:path>
            </a:pathLst>
          </a:custGeom>
          <a:ln w="3175">
            <a:solidFill>
              <a:srgbClr val="7F7F7F"/>
            </a:solidFill>
          </a:ln>
        </p:spPr>
        <p:txBody>
          <a:bodyPr wrap="square" lIns="0" tIns="0" rIns="0" bIns="0" rtlCol="0"/>
          <a:lstStyle/>
          <a:p>
            <a:endParaRPr sz="1798"/>
          </a:p>
        </p:txBody>
      </p:sp>
      <p:sp>
        <p:nvSpPr>
          <p:cNvPr id="87" name="object 87"/>
          <p:cNvSpPr/>
          <p:nvPr/>
        </p:nvSpPr>
        <p:spPr>
          <a:xfrm>
            <a:off x="4526375" y="1105898"/>
            <a:ext cx="0" cy="12688"/>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sz="1798"/>
          </a:p>
        </p:txBody>
      </p:sp>
      <p:sp>
        <p:nvSpPr>
          <p:cNvPr id="88" name="object 88"/>
          <p:cNvSpPr/>
          <p:nvPr/>
        </p:nvSpPr>
        <p:spPr>
          <a:xfrm>
            <a:off x="4526375" y="1093209"/>
            <a:ext cx="0" cy="12688"/>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sz="1798"/>
          </a:p>
        </p:txBody>
      </p:sp>
      <p:sp>
        <p:nvSpPr>
          <p:cNvPr id="89" name="object 89"/>
          <p:cNvSpPr/>
          <p:nvPr/>
        </p:nvSpPr>
        <p:spPr>
          <a:xfrm>
            <a:off x="4526375" y="1080521"/>
            <a:ext cx="0" cy="12688"/>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sz="1798"/>
          </a:p>
        </p:txBody>
      </p:sp>
      <p:sp>
        <p:nvSpPr>
          <p:cNvPr id="90" name="object 90"/>
          <p:cNvSpPr/>
          <p:nvPr/>
        </p:nvSpPr>
        <p:spPr>
          <a:xfrm>
            <a:off x="4526375" y="1061488"/>
            <a:ext cx="0" cy="19032"/>
          </a:xfrm>
          <a:custGeom>
            <a:avLst/>
            <a:gdLst/>
            <a:ahLst/>
            <a:cxnLst/>
            <a:rect l="l" t="t" r="r" b="b"/>
            <a:pathLst>
              <a:path h="19050">
                <a:moveTo>
                  <a:pt x="0" y="19050"/>
                </a:moveTo>
                <a:lnTo>
                  <a:pt x="0" y="0"/>
                </a:lnTo>
              </a:path>
            </a:pathLst>
          </a:custGeom>
          <a:ln w="3175">
            <a:solidFill>
              <a:srgbClr val="FFFFFF"/>
            </a:solidFill>
          </a:ln>
        </p:spPr>
        <p:txBody>
          <a:bodyPr wrap="square" lIns="0" tIns="0" rIns="0" bIns="0" rtlCol="0"/>
          <a:lstStyle/>
          <a:p>
            <a:endParaRPr sz="1798"/>
          </a:p>
        </p:txBody>
      </p:sp>
      <p:sp>
        <p:nvSpPr>
          <p:cNvPr id="93" name="object 93"/>
          <p:cNvSpPr txBox="1"/>
          <p:nvPr/>
        </p:nvSpPr>
        <p:spPr>
          <a:xfrm>
            <a:off x="2161002" y="2139022"/>
            <a:ext cx="302617" cy="15389"/>
          </a:xfrm>
          <a:prstGeom prst="rect">
            <a:avLst/>
          </a:prstGeom>
        </p:spPr>
        <p:txBody>
          <a:bodyPr vert="horz" wrap="square" lIns="0" tIns="0" rIns="0" bIns="0" rtlCol="0">
            <a:spAutoFit/>
          </a:bodyPr>
          <a:lstStyle/>
          <a:p>
            <a:pPr marL="12690"/>
            <a:r>
              <a:rPr sz="100" i="1" spc="60" dirty="0">
                <a:latin typeface="Times New Roman"/>
                <a:cs typeface="Times New Roman"/>
              </a:rPr>
              <a:t>  </a:t>
            </a:r>
            <a:endParaRPr sz="100">
              <a:latin typeface="Times New Roman"/>
              <a:cs typeface="Times New Roman"/>
            </a:endParaRPr>
          </a:p>
        </p:txBody>
      </p:sp>
      <p:sp>
        <p:nvSpPr>
          <p:cNvPr id="95" name="object 99">
            <a:extLst>
              <a:ext uri="{FF2B5EF4-FFF2-40B4-BE49-F238E27FC236}">
                <a16:creationId xmlns:a16="http://schemas.microsoft.com/office/drawing/2014/main" id="{E8E3B86C-982D-8D12-0168-A78FC8884DE8}"/>
              </a:ext>
            </a:extLst>
          </p:cNvPr>
          <p:cNvSpPr/>
          <p:nvPr/>
        </p:nvSpPr>
        <p:spPr>
          <a:xfrm>
            <a:off x="1963" y="3344231"/>
            <a:ext cx="4603865" cy="111150"/>
          </a:xfrm>
          <a:prstGeom prst="rect">
            <a:avLst/>
          </a:prstGeom>
          <a:blipFill>
            <a:blip r:embed="rId5" cstate="print"/>
            <a:stretch>
              <a:fillRect/>
            </a:stretch>
          </a:blipFill>
        </p:spPr>
        <p:txBody>
          <a:bodyPr wrap="square" lIns="0" tIns="0" rIns="0" bIns="0" rtlCol="0"/>
          <a:lstStyle/>
          <a:p>
            <a:endParaRPr sz="1798"/>
          </a:p>
        </p:txBody>
      </p:sp>
      <p:sp>
        <p:nvSpPr>
          <p:cNvPr id="96" name="object 100">
            <a:extLst>
              <a:ext uri="{FF2B5EF4-FFF2-40B4-BE49-F238E27FC236}">
                <a16:creationId xmlns:a16="http://schemas.microsoft.com/office/drawing/2014/main" id="{FCB83B91-3B30-5E31-0A02-C4B58223A209}"/>
              </a:ext>
            </a:extLst>
          </p:cNvPr>
          <p:cNvSpPr txBox="1"/>
          <p:nvPr/>
        </p:nvSpPr>
        <p:spPr>
          <a:xfrm>
            <a:off x="70127" y="3346489"/>
            <a:ext cx="1400159" cy="89768"/>
          </a:xfrm>
          <a:prstGeom prst="rect">
            <a:avLst/>
          </a:prstGeom>
        </p:spPr>
        <p:txBody>
          <a:bodyPr vert="horz" wrap="square" lIns="0" tIns="0" rIns="0" bIns="0" rtlCol="0">
            <a:spAutoFit/>
          </a:bodyPr>
          <a:lstStyle/>
          <a:p>
            <a:pPr marL="12690">
              <a:lnSpc>
                <a:spcPts val="699"/>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599" spc="-5" dirty="0">
                <a:solidFill>
                  <a:srgbClr val="F2F2F2"/>
                </a:solidFill>
                <a:latin typeface="Times New Roman"/>
                <a:cs typeface="Times New Roman"/>
              </a:rPr>
              <a:t>(</a:t>
            </a:r>
            <a:r>
              <a:rPr lang="en-US" sz="599" spc="-5" dirty="0">
                <a:solidFill>
                  <a:srgbClr val="F2F2F2"/>
                </a:solidFill>
                <a:latin typeface="Times New Roman"/>
                <a:cs typeface="Times New Roman"/>
              </a:rPr>
              <a:t>Zhiqing Yang</a:t>
            </a:r>
            <a:r>
              <a:rPr sz="599" spc="135" dirty="0">
                <a:solidFill>
                  <a:srgbClr val="F2F2F2"/>
                </a:solidFill>
                <a:latin typeface="Times New Roman"/>
                <a:cs typeface="Times New Roman"/>
              </a:rPr>
              <a:t> </a:t>
            </a:r>
            <a:r>
              <a:rPr lang="en-US" altLang="zh-CN" sz="599" spc="-5" dirty="0" err="1">
                <a:solidFill>
                  <a:srgbClr val="F2F2F2"/>
                </a:solidFill>
                <a:latin typeface="Times New Roman"/>
                <a:cs typeface="Times New Roman"/>
              </a:rPr>
              <a:t>yangzhiqing</a:t>
            </a:r>
            <a:r>
              <a:rPr sz="599" spc="-5" dirty="0" err="1">
                <a:solidFill>
                  <a:srgbClr val="F2F2F2"/>
                </a:solidFill>
                <a:latin typeface="Times New Roman"/>
                <a:cs typeface="Times New Roman"/>
              </a:rPr>
              <a:t>@</a:t>
            </a:r>
            <a:r>
              <a:rPr lang="en-US" sz="599" spc="-5" dirty="0" err="1">
                <a:solidFill>
                  <a:srgbClr val="F2F2F2"/>
                </a:solidFill>
                <a:latin typeface="Times New Roman"/>
                <a:cs typeface="Times New Roman"/>
              </a:rPr>
              <a:t>hust.edu.cn</a:t>
            </a:r>
            <a:r>
              <a:rPr sz="599" spc="-5" dirty="0">
                <a:solidFill>
                  <a:srgbClr val="F2F2F2"/>
                </a:solidFill>
                <a:latin typeface="Times New Roman"/>
                <a:cs typeface="Times New Roman"/>
              </a:rPr>
              <a:t>)</a:t>
            </a:r>
            <a:endParaRPr sz="599" dirty="0">
              <a:latin typeface="Times New Roman"/>
              <a:cs typeface="Times New Roman"/>
            </a:endParaRPr>
          </a:p>
        </p:txBody>
      </p:sp>
      <p:sp>
        <p:nvSpPr>
          <p:cNvPr id="104" name="object 102">
            <a:extLst>
              <a:ext uri="{FF2B5EF4-FFF2-40B4-BE49-F238E27FC236}">
                <a16:creationId xmlns:a16="http://schemas.microsoft.com/office/drawing/2014/main" id="{12EBC35F-69B2-4F45-2870-CA7DEA30B00E}"/>
              </a:ext>
            </a:extLst>
          </p:cNvPr>
          <p:cNvSpPr txBox="1"/>
          <p:nvPr/>
        </p:nvSpPr>
        <p:spPr>
          <a:xfrm>
            <a:off x="3760911" y="3346489"/>
            <a:ext cx="448533" cy="89768"/>
          </a:xfrm>
          <a:prstGeom prst="rect">
            <a:avLst/>
          </a:prstGeom>
        </p:spPr>
        <p:txBody>
          <a:bodyPr vert="horz" wrap="square" lIns="0" tIns="0" rIns="0" bIns="0" rtlCol="0">
            <a:spAutoFit/>
          </a:bodyPr>
          <a:lstStyle/>
          <a:p>
            <a:pPr marL="12690">
              <a:lnSpc>
                <a:spcPts val="699"/>
              </a:lnSpc>
            </a:pPr>
            <a:r>
              <a:rPr sz="599" spc="-5" dirty="0">
                <a:solidFill>
                  <a:srgbClr val="7A0000"/>
                </a:solidFill>
                <a:latin typeface="Times New Roman"/>
                <a:cs typeface="Times New Roman"/>
              </a:rPr>
              <a:t>20</a:t>
            </a:r>
            <a:r>
              <a:rPr lang="en-US" sz="599" spc="-5" dirty="0">
                <a:solidFill>
                  <a:srgbClr val="7A0000"/>
                </a:solidFill>
                <a:latin typeface="Times New Roman"/>
                <a:cs typeface="Times New Roman"/>
              </a:rPr>
              <a:t>23</a:t>
            </a:r>
            <a:r>
              <a:rPr sz="599" spc="-5" dirty="0">
                <a:solidFill>
                  <a:srgbClr val="7A0000"/>
                </a:solidFill>
                <a:latin typeface="Times New Roman"/>
                <a:cs typeface="Times New Roman"/>
              </a:rPr>
              <a:t>-</a:t>
            </a:r>
            <a:r>
              <a:rPr lang="en-US" sz="599" spc="-5" dirty="0">
                <a:solidFill>
                  <a:srgbClr val="7A0000"/>
                </a:solidFill>
                <a:latin typeface="Times New Roman"/>
                <a:cs typeface="Times New Roman"/>
              </a:rPr>
              <a:t>Feb</a:t>
            </a:r>
            <a:endParaRPr sz="599" dirty="0">
              <a:latin typeface="Times New Roman"/>
              <a:cs typeface="Times New Roman"/>
            </a:endParaRPr>
          </a:p>
        </p:txBody>
      </p:sp>
      <p:sp>
        <p:nvSpPr>
          <p:cNvPr id="3" name="object 94">
            <a:extLst>
              <a:ext uri="{FF2B5EF4-FFF2-40B4-BE49-F238E27FC236}">
                <a16:creationId xmlns:a16="http://schemas.microsoft.com/office/drawing/2014/main" id="{D2D54F56-0182-1706-B423-B173F4490809}"/>
              </a:ext>
            </a:extLst>
          </p:cNvPr>
          <p:cNvSpPr txBox="1"/>
          <p:nvPr/>
        </p:nvSpPr>
        <p:spPr>
          <a:xfrm>
            <a:off x="112245" y="1182550"/>
            <a:ext cx="4383299" cy="785664"/>
          </a:xfrm>
          <a:prstGeom prst="rect">
            <a:avLst/>
          </a:prstGeom>
        </p:spPr>
        <p:txBody>
          <a:bodyPr vert="horz" wrap="square" lIns="0" tIns="0" rIns="0" bIns="0" rtlCol="0">
            <a:spAutoFit/>
          </a:bodyPr>
          <a:lstStyle/>
          <a:p>
            <a:pPr marL="634" algn="ctr">
              <a:lnSpc>
                <a:spcPct val="130000"/>
              </a:lnSpc>
            </a:pPr>
            <a:r>
              <a:rPr lang="zh-CN" altLang="en-US" sz="1599" b="1" spc="-15" dirty="0">
                <a:latin typeface="Garamond" panose="02020404030301010803" pitchFamily="18" charset="0"/>
                <a:ea typeface="KaiTi" panose="02010609060101010101" pitchFamily="49" charset="-122"/>
                <a:cs typeface="Times New Roman"/>
              </a:rPr>
              <a:t>第二章 短期经济波动模型：产品市场的均衡</a:t>
            </a:r>
            <a:endParaRPr lang="en-US" altLang="zh-CN" sz="1599" b="1" spc="-15" dirty="0">
              <a:latin typeface="Garamond" panose="02020404030301010803" pitchFamily="18" charset="0"/>
              <a:ea typeface="KaiTi" panose="02010609060101010101" pitchFamily="49" charset="-122"/>
              <a:cs typeface="Times New Roman"/>
            </a:endParaRPr>
          </a:p>
          <a:p>
            <a:pPr marL="634" algn="ctr">
              <a:lnSpc>
                <a:spcPct val="130000"/>
              </a:lnSpc>
            </a:pPr>
            <a:r>
              <a:rPr lang="zh-CN" altLang="en-US" sz="1399" b="1" dirty="0">
                <a:solidFill>
                  <a:srgbClr val="333399"/>
                </a:solidFill>
                <a:latin typeface="Garamond" panose="02020404030301010803" pitchFamily="18" charset="0"/>
                <a:ea typeface="KaiTi" panose="02010609060101010101" pitchFamily="49" charset="-122"/>
                <a:cs typeface="+mj-cs"/>
              </a:rPr>
              <a:t>第</a:t>
            </a:r>
            <a:r>
              <a:rPr lang="en-US" altLang="zh-CN" sz="1399" b="1" dirty="0">
                <a:solidFill>
                  <a:srgbClr val="333399"/>
                </a:solidFill>
                <a:latin typeface="Garamond" panose="02020404030301010803" pitchFamily="18" charset="0"/>
                <a:ea typeface="KaiTi" panose="02010609060101010101" pitchFamily="49" charset="-122"/>
                <a:cs typeface="+mj-cs"/>
              </a:rPr>
              <a:t>3</a:t>
            </a:r>
            <a:r>
              <a:rPr lang="zh-CN" altLang="en-US" sz="1399" b="1" dirty="0">
                <a:solidFill>
                  <a:srgbClr val="333399"/>
                </a:solidFill>
                <a:latin typeface="Garamond" panose="02020404030301010803" pitchFamily="18" charset="0"/>
                <a:ea typeface="KaiTi" panose="02010609060101010101" pitchFamily="49" charset="-122"/>
                <a:cs typeface="+mj-cs"/>
              </a:rPr>
              <a:t>节 投资需求</a:t>
            </a:r>
            <a:endParaRPr lang="en-US" altLang="zh-CN" sz="1399" b="1" dirty="0">
              <a:solidFill>
                <a:srgbClr val="333399"/>
              </a:solidFill>
              <a:latin typeface="Garamond" panose="02020404030301010803" pitchFamily="18" charset="0"/>
              <a:ea typeface="KaiTi" panose="02010609060101010101" pitchFamily="49" charset="-122"/>
              <a:cs typeface="+mj-cs"/>
            </a:endParaRPr>
          </a:p>
          <a:p>
            <a:pPr marL="634" algn="ctr">
              <a:lnSpc>
                <a:spcPct val="130000"/>
              </a:lnSpc>
            </a:pPr>
            <a:endParaRPr sz="999" b="1" dirty="0">
              <a:latin typeface="Garamond" panose="02020404030301010803" pitchFamily="18" charset="0"/>
              <a:cs typeface="Times New Roman"/>
            </a:endParaRPr>
          </a:p>
        </p:txBody>
      </p:sp>
    </p:spTree>
    <p:extLst>
      <p:ext uri="{BB962C8B-B14F-4D97-AF65-F5344CB8AC3E}">
        <p14:creationId xmlns:p14="http://schemas.microsoft.com/office/powerpoint/2010/main" val="2035331327"/>
      </p:ext>
    </p:extLst>
  </p:cSld>
  <p:clrMapOvr>
    <a:masterClrMapping/>
  </p:clrMapOvr>
  <p:transition>
    <p:cut/>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172879" y="500911"/>
            <a:ext cx="3976211" cy="2193800"/>
          </a:xfrm>
        </p:spPr>
        <p:txBody>
          <a:bodyPr/>
          <a:lstStyle/>
          <a:p>
            <a:pPr eaLnBrk="1" hangingPunct="1"/>
            <a:r>
              <a:rPr lang="zh-CN" altLang="en-US" sz="1100" b="1" dirty="0">
                <a:latin typeface="Garamond" panose="02020404030301010803" pitchFamily="18" charset="0"/>
                <a:ea typeface="SimSun" panose="02010600030101010101" pitchFamily="2" charset="-122"/>
              </a:rPr>
              <a:t>投资</a:t>
            </a:r>
            <a:r>
              <a:rPr lang="zh-CN" altLang="en-US" sz="1100" dirty="0">
                <a:latin typeface="Garamond" panose="02020404030301010803" pitchFamily="18" charset="0"/>
                <a:ea typeface="SimSun" panose="02010600030101010101" pitchFamily="2" charset="-122"/>
              </a:rPr>
              <a:t>是指资本的形成，即社会实际资本的增加，包括厂房、设备和存货的增加以及新住宅的建筑等，其中主要是厂房、设备的增加。</a:t>
            </a:r>
            <a:endParaRPr lang="en-US" altLang="zh-CN" sz="1100" dirty="0">
              <a:latin typeface="Garamond" panose="02020404030301010803" pitchFamily="18" charset="0"/>
              <a:ea typeface="SimSun" panose="02010600030101010101" pitchFamily="2" charset="-122"/>
            </a:endParaRPr>
          </a:p>
          <a:p>
            <a:pPr eaLnBrk="1" hangingPunct="1"/>
            <a:r>
              <a:rPr lang="zh-CN" altLang="en-US" sz="1100" b="1" dirty="0">
                <a:solidFill>
                  <a:srgbClr val="FF0000"/>
                </a:solidFill>
                <a:latin typeface="Garamond" panose="02020404030301010803" pitchFamily="18" charset="0"/>
                <a:ea typeface="SimSun" panose="02010600030101010101" pitchFamily="2" charset="-122"/>
              </a:rPr>
              <a:t>思考：投资如何决定？</a:t>
            </a:r>
            <a:endParaRPr lang="en-US" altLang="zh-CN" sz="1100" b="1" dirty="0">
              <a:solidFill>
                <a:srgbClr val="FF0000"/>
              </a:solidFill>
              <a:latin typeface="Garamond" panose="02020404030301010803" pitchFamily="18" charset="0"/>
              <a:ea typeface="SimSun" panose="02010600030101010101" pitchFamily="2" charset="-122"/>
            </a:endParaRPr>
          </a:p>
          <a:p>
            <a:pPr eaLnBrk="1" hangingPunct="1"/>
            <a:r>
              <a:rPr lang="zh-CN" altLang="en-US" sz="1000" b="1" dirty="0">
                <a:solidFill>
                  <a:schemeClr val="tx1">
                    <a:lumMod val="50000"/>
                    <a:lumOff val="50000"/>
                  </a:schemeClr>
                </a:solidFill>
                <a:latin typeface="KaiTi" panose="02010609060101010101" pitchFamily="49" charset="-122"/>
                <a:ea typeface="KaiTi" panose="02010609060101010101" pitchFamily="49" charset="-122"/>
              </a:rPr>
              <a:t>提示：企业用于投资的资金多半是借贷来的</a:t>
            </a:r>
            <a:r>
              <a:rPr lang="zh-CN" altLang="en-US" sz="1000" b="1" dirty="0">
                <a:latin typeface="KaiTi" panose="02010609060101010101" pitchFamily="49" charset="-122"/>
                <a:ea typeface="KaiTi" panose="02010609060101010101" pitchFamily="49" charset="-122"/>
              </a:rPr>
              <a:t>。</a:t>
            </a:r>
            <a:endParaRPr lang="en-US" altLang="zh-CN" sz="1000" b="1" dirty="0">
              <a:latin typeface="KaiTi" panose="02010609060101010101" pitchFamily="49" charset="-122"/>
              <a:ea typeface="KaiTi" panose="02010609060101010101" pitchFamily="49" charset="-122"/>
            </a:endParaRPr>
          </a:p>
        </p:txBody>
      </p:sp>
      <p:sp>
        <p:nvSpPr>
          <p:cNvPr id="2" name="标题 1">
            <a:extLst>
              <a:ext uri="{FF2B5EF4-FFF2-40B4-BE49-F238E27FC236}">
                <a16:creationId xmlns:a16="http://schemas.microsoft.com/office/drawing/2014/main" id="{76E7A8EF-7099-3B76-9BE8-7A24BA80D031}"/>
              </a:ext>
            </a:extLst>
          </p:cNvPr>
          <p:cNvSpPr>
            <a:spLocks noGrp="1"/>
          </p:cNvSpPr>
          <p:nvPr>
            <p:ph type="title"/>
          </p:nvPr>
        </p:nvSpPr>
        <p:spPr/>
        <p:txBody>
          <a:bodyPr/>
          <a:lstStyle/>
          <a:p>
            <a:r>
              <a:rPr kumimoji="1" lang="zh-CN" altLang="en-US" dirty="0"/>
              <a:t>投资的决策</a:t>
            </a:r>
          </a:p>
        </p:txBody>
      </p:sp>
      <p:sp>
        <p:nvSpPr>
          <p:cNvPr id="8" name="object 100">
            <a:extLst>
              <a:ext uri="{FF2B5EF4-FFF2-40B4-BE49-F238E27FC236}">
                <a16:creationId xmlns:a16="http://schemas.microsoft.com/office/drawing/2014/main" id="{102BEC15-3F14-0EC0-849D-93A279C07668}"/>
              </a:ext>
            </a:extLst>
          </p:cNvPr>
          <p:cNvSpPr txBox="1"/>
          <p:nvPr/>
        </p:nvSpPr>
        <p:spPr>
          <a:xfrm>
            <a:off x="74399" y="3554"/>
            <a:ext cx="1400159" cy="89768"/>
          </a:xfrm>
          <a:prstGeom prst="rect">
            <a:avLst/>
          </a:prstGeom>
        </p:spPr>
        <p:txBody>
          <a:bodyPr vert="horz" wrap="square" lIns="0" tIns="0" rIns="0" bIns="0" rtlCol="0">
            <a:spAutoFit/>
          </a:bodyPr>
          <a:lstStyle/>
          <a:p>
            <a:pPr marL="12690">
              <a:lnSpc>
                <a:spcPts val="699"/>
              </a:lnSpc>
            </a:pPr>
            <a:r>
              <a:rPr lang="en" sz="100" i="1" spc="60" dirty="0">
                <a:solidFill>
                  <a:srgbClr val="F2F2F2"/>
                </a:solidFill>
                <a:latin typeface="Times New Roman"/>
                <a:cs typeface="Times New Roman"/>
              </a:rPr>
              <a:t> </a:t>
            </a:r>
            <a:r>
              <a:rPr lang="en" sz="100" i="1" spc="80" dirty="0">
                <a:solidFill>
                  <a:srgbClr val="F2F2F2"/>
                </a:solidFill>
                <a:latin typeface="Times New Roman"/>
                <a:cs typeface="Times New Roman"/>
              </a:rPr>
              <a:t>I </a:t>
            </a:r>
            <a:r>
              <a:rPr lang="zh-CN" altLang="en" sz="599" spc="-5" dirty="0">
                <a:solidFill>
                  <a:srgbClr val="F2F2F2"/>
                </a:solidFill>
                <a:latin typeface="Times New Roman"/>
                <a:cs typeface="Times New Roman"/>
              </a:rPr>
              <a:t>第</a:t>
            </a:r>
            <a:r>
              <a:rPr lang="en-US" altLang="zh-CN" sz="599" spc="-5" dirty="0">
                <a:solidFill>
                  <a:srgbClr val="F2F2F2"/>
                </a:solidFill>
                <a:latin typeface="Times New Roman"/>
                <a:cs typeface="Times New Roman"/>
              </a:rPr>
              <a:t>3</a:t>
            </a:r>
            <a:r>
              <a:rPr lang="zh-CN" altLang="en" sz="599" spc="-5" dirty="0">
                <a:solidFill>
                  <a:srgbClr val="F2F2F2"/>
                </a:solidFill>
                <a:latin typeface="Times New Roman"/>
                <a:cs typeface="Times New Roman"/>
              </a:rPr>
              <a:t>节</a:t>
            </a:r>
            <a:r>
              <a:rPr lang="zh-CN" altLang="en-US" sz="599" spc="-5" dirty="0">
                <a:solidFill>
                  <a:srgbClr val="F2F2F2"/>
                </a:solidFill>
                <a:latin typeface="Times New Roman"/>
                <a:cs typeface="Times New Roman"/>
              </a:rPr>
              <a:t> </a:t>
            </a:r>
            <a:r>
              <a:rPr lang="zh-CN" altLang="en" sz="599" spc="-5" dirty="0">
                <a:solidFill>
                  <a:srgbClr val="F2F2F2"/>
                </a:solidFill>
                <a:latin typeface="Times New Roman"/>
                <a:cs typeface="Times New Roman"/>
              </a:rPr>
              <a:t>投资</a:t>
            </a:r>
            <a:r>
              <a:rPr lang="zh-CN" altLang="en-US" sz="599" spc="-5" dirty="0">
                <a:solidFill>
                  <a:srgbClr val="F2F2F2"/>
                </a:solidFill>
                <a:latin typeface="Times New Roman"/>
                <a:cs typeface="Times New Roman"/>
              </a:rPr>
              <a:t>需求</a:t>
            </a:r>
            <a:endParaRPr sz="599" dirty="0">
              <a:latin typeface="Times New Roman"/>
              <a:cs typeface="Times New Roman"/>
            </a:endParaRPr>
          </a:p>
        </p:txBody>
      </p:sp>
      <p:sp>
        <p:nvSpPr>
          <p:cNvPr id="10" name="灯片编号占位符 2">
            <a:extLst>
              <a:ext uri="{FF2B5EF4-FFF2-40B4-BE49-F238E27FC236}">
                <a16:creationId xmlns:a16="http://schemas.microsoft.com/office/drawing/2014/main" id="{7AE11084-A5D9-5769-5CA1-0550A0B5498A}"/>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60</a:t>
            </a:fld>
            <a:endParaRPr lang="zh-CN" altLang="zh-CN" sz="856">
              <a:solidFill>
                <a:srgbClr val="777777"/>
              </a:solidFill>
              <a:ea typeface="宋体" panose="02010600030101010101" pitchFamily="2" charset="-122"/>
            </a:endParaRPr>
          </a:p>
        </p:txBody>
      </p:sp>
      <p:sp>
        <p:nvSpPr>
          <p:cNvPr id="11" name="页脚占位符 1">
            <a:extLst>
              <a:ext uri="{FF2B5EF4-FFF2-40B4-BE49-F238E27FC236}">
                <a16:creationId xmlns:a16="http://schemas.microsoft.com/office/drawing/2014/main" id="{3DC81F74-44B7-50DF-F52C-A0C887B98064}"/>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3</a:t>
            </a:r>
            <a:r>
              <a:rPr lang="zh-CN" altLang="en-US" sz="907" i="1" dirty="0">
                <a:solidFill>
                  <a:srgbClr val="777777"/>
                </a:solidFill>
                <a:ea typeface="宋体" panose="02010600030101010101" pitchFamily="2" charset="-122"/>
              </a:rPr>
              <a:t>节 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273065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wipe(left)">
                                      <p:cBhvr>
                                        <p:cTn id="7" dur="5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wipe(left)">
                                      <p:cBhvr>
                                        <p:cTn id="12" dur="500"/>
                                        <p:tgtEl>
                                          <p:spTgt spid="81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195">
                                            <p:txEl>
                                              <p:pRg st="2" end="2"/>
                                            </p:txEl>
                                          </p:spTgt>
                                        </p:tgtEl>
                                        <p:attrNameLst>
                                          <p:attrName>style.visibility</p:attrName>
                                        </p:attrNameLst>
                                      </p:cBhvr>
                                      <p:to>
                                        <p:strVal val="visible"/>
                                      </p:to>
                                    </p:set>
                                    <p:animEffect transition="in" filter="wipe(left)">
                                      <p:cBhvr>
                                        <p:cTn id="17" dur="500"/>
                                        <p:tgtEl>
                                          <p:spTgt spid="819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172879" y="500911"/>
            <a:ext cx="3976211" cy="2193800"/>
          </a:xfrm>
        </p:spPr>
        <p:txBody>
          <a:bodyPr/>
          <a:lstStyle/>
          <a:p>
            <a:pPr eaLnBrk="1" hangingPunct="1"/>
            <a:r>
              <a:rPr lang="zh-CN" altLang="en-US" sz="1100" dirty="0">
                <a:latin typeface="Garamond" panose="02020404030301010803" pitchFamily="18" charset="0"/>
                <a:ea typeface="SimSun" panose="02010600030101010101" pitchFamily="2" charset="-122"/>
              </a:rPr>
              <a:t>凯恩斯认为，是否要对新的实物资本进行投资取决于这些新投资的预期利润率与为购买这些资产而必须借进的款项所要求的利率的比较。</a:t>
            </a:r>
            <a:endParaRPr lang="en-US" altLang="zh-CN" sz="1100" dirty="0">
              <a:latin typeface="Garamond" panose="02020404030301010803" pitchFamily="18" charset="0"/>
              <a:ea typeface="SimSun" panose="02010600030101010101" pitchFamily="2" charset="-122"/>
            </a:endParaRPr>
          </a:p>
          <a:p>
            <a:pPr eaLnBrk="1" hangingPunct="1"/>
            <a:endParaRPr lang="en-US" altLang="zh-CN" sz="1100" dirty="0">
              <a:latin typeface="Garamond" panose="02020404030301010803" pitchFamily="18" charset="0"/>
              <a:ea typeface="SimSun" panose="02010600030101010101" pitchFamily="2" charset="-122"/>
            </a:endParaRPr>
          </a:p>
          <a:p>
            <a:pPr eaLnBrk="1" hangingPunct="1"/>
            <a:endParaRPr lang="en-US" altLang="zh-CN" sz="1100" dirty="0">
              <a:latin typeface="Garamond" panose="02020404030301010803" pitchFamily="18" charset="0"/>
              <a:ea typeface="SimSun" panose="02010600030101010101" pitchFamily="2" charset="-122"/>
            </a:endParaRPr>
          </a:p>
          <a:p>
            <a:pPr eaLnBrk="1" hangingPunct="1">
              <a:lnSpc>
                <a:spcPct val="100000"/>
              </a:lnSpc>
            </a:pPr>
            <a:r>
              <a:rPr lang="en-US" altLang="zh-CN" sz="1000" dirty="0">
                <a:latin typeface="Garamond" panose="02020404030301010803" pitchFamily="18" charset="0"/>
                <a:ea typeface="KaiTi" panose="02010609060101010101" pitchFamily="49" charset="-122"/>
              </a:rPr>
              <a:t>Note</a:t>
            </a:r>
            <a:r>
              <a:rPr lang="zh-CN" altLang="en-US" sz="1000" dirty="0">
                <a:latin typeface="Garamond" panose="02020404030301010803" pitchFamily="18" charset="0"/>
                <a:ea typeface="KaiTi" panose="02010609060101010101" pitchFamily="49" charset="-122"/>
              </a:rPr>
              <a:t>：这里的利率是</a:t>
            </a:r>
            <a:r>
              <a:rPr lang="zh-CN" altLang="en-US" sz="1000" b="1" dirty="0">
                <a:latin typeface="Garamond" panose="02020404030301010803" pitchFamily="18" charset="0"/>
                <a:ea typeface="KaiTi" panose="02010609060101010101" pitchFamily="49" charset="-122"/>
              </a:rPr>
              <a:t>实际利率</a:t>
            </a:r>
            <a:r>
              <a:rPr lang="zh-CN" altLang="en-US" sz="1000" dirty="0">
                <a:latin typeface="Garamond" panose="02020404030301010803" pitchFamily="18" charset="0"/>
                <a:ea typeface="KaiTi" panose="02010609060101010101" pitchFamily="49" charset="-122"/>
              </a:rPr>
              <a:t>，即名义利率</a:t>
            </a:r>
            <a:r>
              <a:rPr lang="en-US" altLang="zh-CN" sz="1000" dirty="0">
                <a:latin typeface="Garamond" panose="02020404030301010803" pitchFamily="18" charset="0"/>
                <a:ea typeface="KaiTi" panose="02010609060101010101" pitchFamily="49" charset="-122"/>
              </a:rPr>
              <a:t>-</a:t>
            </a:r>
            <a:r>
              <a:rPr lang="zh-CN" altLang="en-US" sz="1000" dirty="0">
                <a:latin typeface="Garamond" panose="02020404030301010803" pitchFamily="18" charset="0"/>
                <a:ea typeface="KaiTi" panose="02010609060101010101" pitchFamily="49" charset="-122"/>
              </a:rPr>
              <a:t>通货膨胀率</a:t>
            </a:r>
            <a:endParaRPr lang="en-US" altLang="zh-CN" sz="1000" dirty="0">
              <a:latin typeface="Garamond" panose="02020404030301010803" pitchFamily="18" charset="0"/>
              <a:ea typeface="KaiTi" panose="02010609060101010101" pitchFamily="49" charset="-122"/>
            </a:endParaRPr>
          </a:p>
          <a:p>
            <a:pPr eaLnBrk="1" hangingPunct="1">
              <a:lnSpc>
                <a:spcPct val="100000"/>
              </a:lnSpc>
            </a:pPr>
            <a:r>
              <a:rPr lang="zh-CN" altLang="en-US" sz="1000" dirty="0">
                <a:latin typeface="Garamond" panose="02020404030301010803" pitchFamily="18" charset="0"/>
                <a:ea typeface="KaiTi" panose="02010609060101010101" pitchFamily="49" charset="-122"/>
              </a:rPr>
              <a:t>在投资的预期利润率既定的条件下，投资取决于实际利率的高低。投资是利率的减函数。</a:t>
            </a:r>
          </a:p>
        </p:txBody>
      </p:sp>
      <p:sp>
        <p:nvSpPr>
          <p:cNvPr id="2" name="标题 1">
            <a:extLst>
              <a:ext uri="{FF2B5EF4-FFF2-40B4-BE49-F238E27FC236}">
                <a16:creationId xmlns:a16="http://schemas.microsoft.com/office/drawing/2014/main" id="{76E7A8EF-7099-3B76-9BE8-7A24BA80D031}"/>
              </a:ext>
            </a:extLst>
          </p:cNvPr>
          <p:cNvSpPr>
            <a:spLocks noGrp="1"/>
          </p:cNvSpPr>
          <p:nvPr>
            <p:ph type="title"/>
          </p:nvPr>
        </p:nvSpPr>
        <p:spPr/>
        <p:txBody>
          <a:bodyPr/>
          <a:lstStyle/>
          <a:p>
            <a:r>
              <a:rPr kumimoji="1" lang="zh-CN" altLang="en-US" dirty="0"/>
              <a:t>投资的决策</a:t>
            </a:r>
          </a:p>
        </p:txBody>
      </p:sp>
      <p:sp>
        <p:nvSpPr>
          <p:cNvPr id="8" name="object 100">
            <a:extLst>
              <a:ext uri="{FF2B5EF4-FFF2-40B4-BE49-F238E27FC236}">
                <a16:creationId xmlns:a16="http://schemas.microsoft.com/office/drawing/2014/main" id="{102BEC15-3F14-0EC0-849D-93A279C07668}"/>
              </a:ext>
            </a:extLst>
          </p:cNvPr>
          <p:cNvSpPr txBox="1"/>
          <p:nvPr/>
        </p:nvSpPr>
        <p:spPr>
          <a:xfrm>
            <a:off x="74399" y="3554"/>
            <a:ext cx="1400159" cy="89768"/>
          </a:xfrm>
          <a:prstGeom prst="rect">
            <a:avLst/>
          </a:prstGeom>
        </p:spPr>
        <p:txBody>
          <a:bodyPr vert="horz" wrap="square" lIns="0" tIns="0" rIns="0" bIns="0" rtlCol="0">
            <a:spAutoFit/>
          </a:bodyPr>
          <a:lstStyle/>
          <a:p>
            <a:pPr marL="12690">
              <a:lnSpc>
                <a:spcPts val="699"/>
              </a:lnSpc>
            </a:pPr>
            <a:r>
              <a:rPr lang="en" sz="100" i="1" spc="60" dirty="0">
                <a:solidFill>
                  <a:srgbClr val="F2F2F2"/>
                </a:solidFill>
                <a:latin typeface="Times New Roman"/>
                <a:cs typeface="Times New Roman"/>
              </a:rPr>
              <a:t> </a:t>
            </a:r>
            <a:r>
              <a:rPr lang="en" sz="100" i="1" spc="80" dirty="0">
                <a:solidFill>
                  <a:srgbClr val="F2F2F2"/>
                </a:solidFill>
                <a:latin typeface="Times New Roman"/>
                <a:cs typeface="Times New Roman"/>
              </a:rPr>
              <a:t>I </a:t>
            </a:r>
            <a:r>
              <a:rPr lang="zh-CN" altLang="en" sz="599" spc="-5" dirty="0">
                <a:solidFill>
                  <a:srgbClr val="F2F2F2"/>
                </a:solidFill>
                <a:latin typeface="Times New Roman"/>
                <a:cs typeface="Times New Roman"/>
              </a:rPr>
              <a:t>第</a:t>
            </a:r>
            <a:r>
              <a:rPr lang="en-US" altLang="zh-CN" sz="599" spc="-5" dirty="0">
                <a:solidFill>
                  <a:srgbClr val="F2F2F2"/>
                </a:solidFill>
                <a:latin typeface="Times New Roman"/>
                <a:cs typeface="Times New Roman"/>
              </a:rPr>
              <a:t>3</a:t>
            </a:r>
            <a:r>
              <a:rPr lang="zh-CN" altLang="en" sz="599" spc="-5" dirty="0">
                <a:solidFill>
                  <a:srgbClr val="F2F2F2"/>
                </a:solidFill>
                <a:latin typeface="Times New Roman"/>
                <a:cs typeface="Times New Roman"/>
              </a:rPr>
              <a:t>节</a:t>
            </a:r>
            <a:r>
              <a:rPr lang="zh-CN" altLang="en-US" sz="599" spc="-5" dirty="0">
                <a:solidFill>
                  <a:srgbClr val="F2F2F2"/>
                </a:solidFill>
                <a:latin typeface="Times New Roman"/>
                <a:cs typeface="Times New Roman"/>
              </a:rPr>
              <a:t> </a:t>
            </a:r>
            <a:r>
              <a:rPr lang="zh-CN" altLang="en" sz="599" spc="-5" dirty="0">
                <a:solidFill>
                  <a:srgbClr val="F2F2F2"/>
                </a:solidFill>
                <a:latin typeface="Times New Roman"/>
                <a:cs typeface="Times New Roman"/>
              </a:rPr>
              <a:t>投资</a:t>
            </a:r>
            <a:r>
              <a:rPr lang="zh-CN" altLang="en-US" sz="599" spc="-5" dirty="0">
                <a:solidFill>
                  <a:srgbClr val="F2F2F2"/>
                </a:solidFill>
                <a:latin typeface="Times New Roman"/>
                <a:cs typeface="Times New Roman"/>
              </a:rPr>
              <a:t>需求</a:t>
            </a:r>
            <a:endParaRPr sz="599" dirty="0">
              <a:latin typeface="Times New Roman"/>
              <a:cs typeface="Times New Roman"/>
            </a:endParaRPr>
          </a:p>
        </p:txBody>
      </p:sp>
      <p:sp>
        <p:nvSpPr>
          <p:cNvPr id="10" name="灯片编号占位符 2">
            <a:extLst>
              <a:ext uri="{FF2B5EF4-FFF2-40B4-BE49-F238E27FC236}">
                <a16:creationId xmlns:a16="http://schemas.microsoft.com/office/drawing/2014/main" id="{7AE11084-A5D9-5769-5CA1-0550A0B5498A}"/>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61</a:t>
            </a:fld>
            <a:endParaRPr lang="zh-CN" altLang="zh-CN" sz="856">
              <a:solidFill>
                <a:srgbClr val="777777"/>
              </a:solidFill>
              <a:ea typeface="宋体" panose="02010600030101010101" pitchFamily="2" charset="-122"/>
            </a:endParaRPr>
          </a:p>
        </p:txBody>
      </p:sp>
      <p:sp>
        <p:nvSpPr>
          <p:cNvPr id="11" name="页脚占位符 1">
            <a:extLst>
              <a:ext uri="{FF2B5EF4-FFF2-40B4-BE49-F238E27FC236}">
                <a16:creationId xmlns:a16="http://schemas.microsoft.com/office/drawing/2014/main" id="{3DC81F74-44B7-50DF-F52C-A0C887B98064}"/>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3</a:t>
            </a:r>
            <a:r>
              <a:rPr lang="zh-CN" altLang="en-US" sz="907" i="1" dirty="0">
                <a:solidFill>
                  <a:srgbClr val="777777"/>
                </a:solidFill>
                <a:ea typeface="宋体" panose="02010600030101010101" pitchFamily="2" charset="-122"/>
              </a:rPr>
              <a:t>节 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521360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wipe(left)">
                                      <p:cBhvr>
                                        <p:cTn id="7" dur="5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195">
                                            <p:txEl>
                                              <p:pRg st="3" end="3"/>
                                            </p:txEl>
                                          </p:spTgt>
                                        </p:tgtEl>
                                        <p:attrNameLst>
                                          <p:attrName>style.visibility</p:attrName>
                                        </p:attrNameLst>
                                      </p:cBhvr>
                                      <p:to>
                                        <p:strVal val="visible"/>
                                      </p:to>
                                    </p:set>
                                    <p:animEffect transition="in" filter="wipe(left)">
                                      <p:cBhvr>
                                        <p:cTn id="12" dur="500"/>
                                        <p:tgtEl>
                                          <p:spTgt spid="8195">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195">
                                            <p:txEl>
                                              <p:pRg st="4" end="4"/>
                                            </p:txEl>
                                          </p:spTgt>
                                        </p:tgtEl>
                                        <p:attrNameLst>
                                          <p:attrName>style.visibility</p:attrName>
                                        </p:attrNameLst>
                                      </p:cBhvr>
                                      <p:to>
                                        <p:strVal val="visible"/>
                                      </p:to>
                                    </p:set>
                                    <p:animEffect transition="in" filter="wipe(left)">
                                      <p:cBhvr>
                                        <p:cTn id="17" dur="500"/>
                                        <p:tgtEl>
                                          <p:spTgt spid="819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195" name="Rectangle 3"/>
              <p:cNvSpPr>
                <a:spLocks noGrp="1" noChangeArrowheads="1"/>
              </p:cNvSpPr>
              <p:nvPr>
                <p:ph type="body" idx="1"/>
              </p:nvPr>
            </p:nvSpPr>
            <p:spPr>
              <a:xfrm>
                <a:off x="172879" y="500911"/>
                <a:ext cx="3976211" cy="2193800"/>
              </a:xfrm>
            </p:spPr>
            <p:txBody>
              <a:bodyPr/>
              <a:lstStyle/>
              <a:p>
                <a:pPr eaLnBrk="1" hangingPunct="1"/>
                <a:r>
                  <a:rPr lang="zh-CN" altLang="en-US" sz="1100" dirty="0">
                    <a:latin typeface="Garamond" panose="02020404030301010803" pitchFamily="18" charset="0"/>
                    <a:ea typeface="SimSun" panose="02010600030101010101" pitchFamily="2" charset="-122"/>
                  </a:rPr>
                  <a:t>即使企业资金是自有的，它也会把利息看成投资的机会成本，从而把利息当作投资成本。</a:t>
                </a:r>
                <a:endParaRPr lang="en-US" altLang="zh-CN" sz="1100" dirty="0">
                  <a:latin typeface="Garamond" panose="02020404030301010803" pitchFamily="18" charset="0"/>
                  <a:ea typeface="SimSun" panose="02010600030101010101" pitchFamily="2" charset="-122"/>
                </a:endParaRPr>
              </a:p>
              <a:p>
                <a:pPr eaLnBrk="1" hangingPunct="1"/>
                <a:r>
                  <a:rPr lang="zh-CN" altLang="en-US" sz="1100" dirty="0">
                    <a:latin typeface="Garamond" panose="02020404030301010803" pitchFamily="18" charset="0"/>
                    <a:ea typeface="SimSun" panose="02010600030101010101" pitchFamily="2" charset="-122"/>
                  </a:rPr>
                  <a:t>因此，利率上升时，投资者自然会减少投资物品的购买。投资与利率之间的这种关系被称为投资函数，可表示为：</a:t>
                </a:r>
                <a:endParaRPr lang="en-US" altLang="zh-CN" sz="1100" dirty="0">
                  <a:latin typeface="Garamond" panose="02020404030301010803" pitchFamily="18" charset="0"/>
                  <a:ea typeface="SimSun" panose="02010600030101010101" pitchFamily="2" charset="-122"/>
                </a:endParaRPr>
              </a:p>
              <a:p>
                <a:pPr marL="0" indent="0" eaLnBrk="1" hangingPunct="1">
                  <a:buNone/>
                </a:pPr>
                <a14:m>
                  <m:oMathPara xmlns:m="http://schemas.openxmlformats.org/officeDocument/2006/math">
                    <m:oMathParaPr>
                      <m:jc m:val="centerGroup"/>
                    </m:oMathParaPr>
                    <m:oMath xmlns:m="http://schemas.openxmlformats.org/officeDocument/2006/math">
                      <m:r>
                        <a:rPr lang="en-US" altLang="zh-CN" sz="1100" b="0" i="1" smtClean="0">
                          <a:latin typeface="Cambria Math" panose="02040503050406030204" pitchFamily="18" charset="0"/>
                          <a:ea typeface="SimSun" panose="02010600030101010101" pitchFamily="2" charset="-122"/>
                        </a:rPr>
                        <m:t>𝐼</m:t>
                      </m:r>
                      <m:r>
                        <a:rPr lang="en-US" altLang="zh-CN" sz="1100" b="0" i="1" smtClean="0">
                          <a:latin typeface="Cambria Math" panose="02040503050406030204" pitchFamily="18" charset="0"/>
                          <a:ea typeface="SimSun" panose="02010600030101010101" pitchFamily="2" charset="-122"/>
                        </a:rPr>
                        <m:t>=</m:t>
                      </m:r>
                      <m:r>
                        <a:rPr lang="en-US" altLang="zh-CN" sz="1100" b="0" i="1" smtClean="0">
                          <a:latin typeface="Cambria Math" panose="02040503050406030204" pitchFamily="18" charset="0"/>
                          <a:ea typeface="SimSun" panose="02010600030101010101" pitchFamily="2" charset="-122"/>
                        </a:rPr>
                        <m:t>𝐼</m:t>
                      </m:r>
                      <m:d>
                        <m:dPr>
                          <m:ctrlPr>
                            <a:rPr lang="en-US" altLang="zh-CN" sz="1100" b="0" i="1" smtClean="0">
                              <a:latin typeface="Cambria Math" panose="02040503050406030204" pitchFamily="18" charset="0"/>
                              <a:ea typeface="SimSun" panose="02010600030101010101" pitchFamily="2" charset="-122"/>
                            </a:rPr>
                          </m:ctrlPr>
                        </m:dPr>
                        <m:e>
                          <m:r>
                            <a:rPr lang="en-US" altLang="zh-CN" sz="1100" b="0" i="1" smtClean="0">
                              <a:latin typeface="Cambria Math" panose="02040503050406030204" pitchFamily="18" charset="0"/>
                              <a:ea typeface="SimSun" panose="02010600030101010101" pitchFamily="2" charset="-122"/>
                            </a:rPr>
                            <m:t>𝑟</m:t>
                          </m:r>
                        </m:e>
                      </m:d>
                      <m:r>
                        <a:rPr lang="en-US" altLang="zh-CN" sz="1100" b="0" i="1" smtClean="0">
                          <a:latin typeface="Cambria Math" panose="02040503050406030204" pitchFamily="18" charset="0"/>
                          <a:ea typeface="SimSun" panose="02010600030101010101" pitchFamily="2" charset="-122"/>
                        </a:rPr>
                        <m:t>=</m:t>
                      </m:r>
                      <m:r>
                        <a:rPr lang="en-US" altLang="zh-CN" sz="1100" b="0" i="1" smtClean="0">
                          <a:latin typeface="Cambria Math" panose="02040503050406030204" pitchFamily="18" charset="0"/>
                          <a:ea typeface="SimSun" panose="02010600030101010101" pitchFamily="2" charset="-122"/>
                        </a:rPr>
                        <m:t>𝑒</m:t>
                      </m:r>
                      <m:r>
                        <a:rPr lang="en-US" altLang="zh-CN" sz="1100" b="0" i="1" smtClean="0">
                          <a:latin typeface="Cambria Math" panose="02040503050406030204" pitchFamily="18" charset="0"/>
                          <a:ea typeface="SimSun" panose="02010600030101010101" pitchFamily="2" charset="-122"/>
                        </a:rPr>
                        <m:t>−</m:t>
                      </m:r>
                      <m:r>
                        <a:rPr lang="en-US" altLang="zh-CN" sz="1100" b="0" i="1" smtClean="0">
                          <a:latin typeface="Cambria Math" panose="02040503050406030204" pitchFamily="18" charset="0"/>
                          <a:ea typeface="SimSun" panose="02010600030101010101" pitchFamily="2" charset="-122"/>
                        </a:rPr>
                        <m:t>𝑑𝑟</m:t>
                      </m:r>
                    </m:oMath>
                  </m:oMathPara>
                </a14:m>
                <a:endParaRPr lang="en-US" altLang="zh-CN" sz="1100" dirty="0">
                  <a:latin typeface="Garamond" panose="02020404030301010803" pitchFamily="18" charset="0"/>
                  <a:ea typeface="SimSun" panose="02010600030101010101" pitchFamily="2" charset="-122"/>
                </a:endParaRPr>
              </a:p>
              <a:p>
                <a:pPr eaLnBrk="1" hangingPunct="1">
                  <a:lnSpc>
                    <a:spcPct val="100000"/>
                  </a:lnSpc>
                </a:pPr>
                <a:r>
                  <a:rPr lang="zh-CN" altLang="en-US" sz="1000" dirty="0">
                    <a:latin typeface="Garamond" panose="02020404030301010803" pitchFamily="18" charset="0"/>
                    <a:ea typeface="KaiTi" panose="02010609060101010101" pitchFamily="49" charset="-122"/>
                  </a:rPr>
                  <a:t>其中，</a:t>
                </a:r>
                <a:r>
                  <a:rPr lang="en-US" altLang="zh-CN" sz="1000" dirty="0">
                    <a:latin typeface="Garamond" panose="02020404030301010803" pitchFamily="18" charset="0"/>
                    <a:ea typeface="KaiTi" panose="02010609060101010101" pitchFamily="49" charset="-122"/>
                  </a:rPr>
                  <a:t>I</a:t>
                </a:r>
                <a:r>
                  <a:rPr lang="zh-CN" altLang="en-US" sz="1000" dirty="0">
                    <a:latin typeface="Garamond" panose="02020404030301010803" pitchFamily="18" charset="0"/>
                    <a:ea typeface="KaiTi" panose="02010609060101010101" pitchFamily="49" charset="-122"/>
                  </a:rPr>
                  <a:t>表示投资，</a:t>
                </a:r>
                <a:r>
                  <a:rPr lang="en-US" altLang="zh-CN" sz="1000" dirty="0">
                    <a:ea typeface="SimSun" panose="02010600030101010101" pitchFamily="2" charset="-122"/>
                  </a:rPr>
                  <a:t> </a:t>
                </a:r>
                <a14:m>
                  <m:oMath xmlns:m="http://schemas.openxmlformats.org/officeDocument/2006/math">
                    <m:r>
                      <m:rPr>
                        <m:sty m:val="p"/>
                      </m:rPr>
                      <a:rPr lang="en-US" altLang="zh-CN" sz="1000" i="1" dirty="0" smtClean="0">
                        <a:latin typeface="Cambria Math" panose="02040503050406030204" pitchFamily="18" charset="0"/>
                        <a:ea typeface="SimSun" panose="02010600030101010101" pitchFamily="2" charset="-122"/>
                      </a:rPr>
                      <m:t>r</m:t>
                    </m:r>
                  </m:oMath>
                </a14:m>
                <a:r>
                  <a:rPr lang="zh-CN" altLang="en-US" sz="1000" dirty="0">
                    <a:latin typeface="Garamond" panose="02020404030301010803" pitchFamily="18" charset="0"/>
                    <a:ea typeface="KaiTi" panose="02010609060101010101" pitchFamily="49" charset="-122"/>
                  </a:rPr>
                  <a:t>表示利率。</a:t>
                </a:r>
                <a:r>
                  <a:rPr lang="en-US" altLang="zh-CN" sz="1000" dirty="0">
                    <a:ea typeface="SimSun" panose="02010600030101010101" pitchFamily="2" charset="-122"/>
                  </a:rPr>
                  <a:t> </a:t>
                </a:r>
                <a14:m>
                  <m:oMath xmlns:m="http://schemas.openxmlformats.org/officeDocument/2006/math">
                    <m:r>
                      <a:rPr lang="en-US" altLang="zh-CN" sz="1000" i="1">
                        <a:latin typeface="Cambria Math" panose="02040503050406030204" pitchFamily="18" charset="0"/>
                        <a:ea typeface="SimSun" panose="02010600030101010101" pitchFamily="2" charset="-122"/>
                      </a:rPr>
                      <m:t>𝑒</m:t>
                    </m:r>
                  </m:oMath>
                </a14:m>
                <a:r>
                  <a:rPr lang="zh-CN" altLang="en-US" sz="1000" dirty="0">
                    <a:latin typeface="Garamond" panose="02020404030301010803" pitchFamily="18" charset="0"/>
                    <a:ea typeface="KaiTi" panose="02010609060101010101" pitchFamily="49" charset="-122"/>
                  </a:rPr>
                  <a:t>是指企业的自主投资，</a:t>
                </a:r>
                <a14:m>
                  <m:oMath xmlns:m="http://schemas.openxmlformats.org/officeDocument/2006/math">
                    <m:r>
                      <a:rPr lang="en-US" altLang="zh-CN" sz="1000" i="1">
                        <a:latin typeface="Cambria Math" panose="02040503050406030204" pitchFamily="18" charset="0"/>
                        <a:ea typeface="SimSun" panose="02010600030101010101" pitchFamily="2" charset="-122"/>
                      </a:rPr>
                      <m:t>𝑑</m:t>
                    </m:r>
                  </m:oMath>
                </a14:m>
                <a:r>
                  <a:rPr lang="zh-CN" altLang="en-US" sz="1000" dirty="0">
                    <a:latin typeface="Garamond" panose="02020404030301010803" pitchFamily="18" charset="0"/>
                    <a:ea typeface="KaiTi" panose="02010609060101010101" pitchFamily="49" charset="-122"/>
                  </a:rPr>
                  <a:t>是投资的利率弹性，即投资对利率变动作出反应的程度。</a:t>
                </a:r>
                <a:endParaRPr lang="en-US" altLang="zh-CN" sz="1000" dirty="0">
                  <a:latin typeface="Garamond" panose="02020404030301010803" pitchFamily="18" charset="0"/>
                  <a:ea typeface="KaiTi" panose="02010609060101010101" pitchFamily="49" charset="-122"/>
                </a:endParaRPr>
              </a:p>
              <a:p>
                <a:pPr eaLnBrk="1" hangingPunct="1">
                  <a:lnSpc>
                    <a:spcPct val="100000"/>
                  </a:lnSpc>
                </a:pPr>
                <a:r>
                  <a:rPr lang="en-US" altLang="zh-CN" sz="1000" dirty="0">
                    <a:latin typeface="Garamond" panose="02020404030301010803" pitchFamily="18" charset="0"/>
                    <a:ea typeface="KaiTi" panose="02010609060101010101" pitchFamily="49" charset="-122"/>
                  </a:rPr>
                  <a:t>Note</a:t>
                </a:r>
                <a:r>
                  <a:rPr lang="zh-CN" altLang="en-US" sz="1000" dirty="0">
                    <a:latin typeface="Garamond" panose="02020404030301010803" pitchFamily="18" charset="0"/>
                    <a:ea typeface="KaiTi" panose="02010609060101010101" pitchFamily="49" charset="-122"/>
                  </a:rPr>
                  <a:t>：这里的利率是</a:t>
                </a:r>
                <a:r>
                  <a:rPr lang="zh-CN" altLang="en-US" sz="1000" b="1" dirty="0">
                    <a:latin typeface="Garamond" panose="02020404030301010803" pitchFamily="18" charset="0"/>
                    <a:ea typeface="KaiTi" panose="02010609060101010101" pitchFamily="49" charset="-122"/>
                  </a:rPr>
                  <a:t>实际利率</a:t>
                </a:r>
                <a:r>
                  <a:rPr lang="zh-CN" altLang="en-US" sz="1000" dirty="0">
                    <a:latin typeface="Garamond" panose="02020404030301010803" pitchFamily="18" charset="0"/>
                    <a:ea typeface="KaiTi" panose="02010609060101010101" pitchFamily="49" charset="-122"/>
                  </a:rPr>
                  <a:t>，即名义利率</a:t>
                </a:r>
                <a:r>
                  <a:rPr lang="en-US" altLang="zh-CN" sz="1000" dirty="0">
                    <a:latin typeface="Garamond" panose="02020404030301010803" pitchFamily="18" charset="0"/>
                    <a:ea typeface="KaiTi" panose="02010609060101010101" pitchFamily="49" charset="-122"/>
                  </a:rPr>
                  <a:t>-</a:t>
                </a:r>
                <a:r>
                  <a:rPr lang="zh-CN" altLang="en-US" sz="1000" dirty="0">
                    <a:latin typeface="Garamond" panose="02020404030301010803" pitchFamily="18" charset="0"/>
                    <a:ea typeface="KaiTi" panose="02010609060101010101" pitchFamily="49" charset="-122"/>
                  </a:rPr>
                  <a:t>通货膨胀率</a:t>
                </a:r>
                <a:endParaRPr lang="en-US" altLang="zh-CN" sz="1000" dirty="0">
                  <a:latin typeface="Garamond" panose="02020404030301010803" pitchFamily="18" charset="0"/>
                  <a:ea typeface="KaiTi" panose="02010609060101010101" pitchFamily="49" charset="-122"/>
                </a:endParaRPr>
              </a:p>
              <a:p>
                <a:pPr eaLnBrk="1" hangingPunct="1">
                  <a:lnSpc>
                    <a:spcPct val="100000"/>
                  </a:lnSpc>
                </a:pPr>
                <a:r>
                  <a:rPr lang="zh-CN" altLang="en-US" sz="1000" dirty="0">
                    <a:latin typeface="Garamond" panose="02020404030301010803" pitchFamily="18" charset="0"/>
                    <a:ea typeface="KaiTi" panose="02010609060101010101" pitchFamily="49" charset="-122"/>
                  </a:rPr>
                  <a:t>在投资的预期利润率既定的条件下，投资取决于实际利率的高低。投资是利率的减函数。</a:t>
                </a:r>
              </a:p>
            </p:txBody>
          </p:sp>
        </mc:Choice>
        <mc:Fallback xmlns="">
          <p:sp>
            <p:nvSpPr>
              <p:cNvPr id="8195" name="Rectangle 3"/>
              <p:cNvSpPr>
                <a:spLocks noGrp="1" noRot="1" noChangeAspect="1" noMove="1" noResize="1" noEditPoints="1" noAdjustHandles="1" noChangeArrowheads="1" noChangeShapeType="1" noTextEdit="1"/>
              </p:cNvSpPr>
              <p:nvPr>
                <p:ph type="body" idx="1"/>
              </p:nvPr>
            </p:nvSpPr>
            <p:spPr>
              <a:xfrm>
                <a:off x="172879" y="500911"/>
                <a:ext cx="3976211" cy="2193800"/>
              </a:xfrm>
              <a:blipFill>
                <a:blip r:embed="rId2"/>
                <a:stretch>
                  <a:fillRect l="-318" t="-1724" r="-1274"/>
                </a:stretch>
              </a:blipFill>
            </p:spPr>
            <p:txBody>
              <a:bodyPr/>
              <a:lstStyle/>
              <a:p>
                <a:r>
                  <a:rPr lang="zh-CN" altLang="en-US">
                    <a:noFill/>
                  </a:rPr>
                  <a:t> </a:t>
                </a:r>
              </a:p>
            </p:txBody>
          </p:sp>
        </mc:Fallback>
      </mc:AlternateContent>
      <p:sp>
        <p:nvSpPr>
          <p:cNvPr id="2" name="标题 1">
            <a:extLst>
              <a:ext uri="{FF2B5EF4-FFF2-40B4-BE49-F238E27FC236}">
                <a16:creationId xmlns:a16="http://schemas.microsoft.com/office/drawing/2014/main" id="{76E7A8EF-7099-3B76-9BE8-7A24BA80D031}"/>
              </a:ext>
            </a:extLst>
          </p:cNvPr>
          <p:cNvSpPr>
            <a:spLocks noGrp="1"/>
          </p:cNvSpPr>
          <p:nvPr>
            <p:ph type="title"/>
          </p:nvPr>
        </p:nvSpPr>
        <p:spPr/>
        <p:txBody>
          <a:bodyPr/>
          <a:lstStyle/>
          <a:p>
            <a:r>
              <a:rPr kumimoji="1" lang="zh-CN" altLang="en-US" dirty="0"/>
              <a:t>投资函数</a:t>
            </a:r>
          </a:p>
        </p:txBody>
      </p:sp>
      <p:sp>
        <p:nvSpPr>
          <p:cNvPr id="8" name="object 100">
            <a:extLst>
              <a:ext uri="{FF2B5EF4-FFF2-40B4-BE49-F238E27FC236}">
                <a16:creationId xmlns:a16="http://schemas.microsoft.com/office/drawing/2014/main" id="{102BEC15-3F14-0EC0-849D-93A279C07668}"/>
              </a:ext>
            </a:extLst>
          </p:cNvPr>
          <p:cNvSpPr txBox="1"/>
          <p:nvPr/>
        </p:nvSpPr>
        <p:spPr>
          <a:xfrm>
            <a:off x="74399" y="3554"/>
            <a:ext cx="1400159" cy="89768"/>
          </a:xfrm>
          <a:prstGeom prst="rect">
            <a:avLst/>
          </a:prstGeom>
        </p:spPr>
        <p:txBody>
          <a:bodyPr vert="horz" wrap="square" lIns="0" tIns="0" rIns="0" bIns="0" rtlCol="0">
            <a:spAutoFit/>
          </a:bodyPr>
          <a:lstStyle/>
          <a:p>
            <a:pPr marL="12690">
              <a:lnSpc>
                <a:spcPts val="699"/>
              </a:lnSpc>
            </a:pPr>
            <a:r>
              <a:rPr lang="en" sz="100" i="1" spc="60" dirty="0">
                <a:solidFill>
                  <a:srgbClr val="F2F2F2"/>
                </a:solidFill>
                <a:latin typeface="Times New Roman"/>
                <a:cs typeface="Times New Roman"/>
              </a:rPr>
              <a:t> </a:t>
            </a:r>
            <a:r>
              <a:rPr lang="en" sz="100" i="1" spc="80" dirty="0">
                <a:solidFill>
                  <a:srgbClr val="F2F2F2"/>
                </a:solidFill>
                <a:latin typeface="Times New Roman"/>
                <a:cs typeface="Times New Roman"/>
              </a:rPr>
              <a:t>I </a:t>
            </a:r>
            <a:r>
              <a:rPr lang="zh-CN" altLang="en" sz="599" spc="-5" dirty="0">
                <a:solidFill>
                  <a:srgbClr val="F2F2F2"/>
                </a:solidFill>
                <a:latin typeface="Times New Roman"/>
                <a:cs typeface="Times New Roman"/>
              </a:rPr>
              <a:t>第</a:t>
            </a:r>
            <a:r>
              <a:rPr lang="en-US" altLang="zh-CN" sz="599" spc="-5" dirty="0">
                <a:solidFill>
                  <a:srgbClr val="F2F2F2"/>
                </a:solidFill>
                <a:latin typeface="Times New Roman"/>
                <a:cs typeface="Times New Roman"/>
              </a:rPr>
              <a:t>3</a:t>
            </a:r>
            <a:r>
              <a:rPr lang="zh-CN" altLang="en" sz="599" spc="-5" dirty="0">
                <a:solidFill>
                  <a:srgbClr val="F2F2F2"/>
                </a:solidFill>
                <a:latin typeface="Times New Roman"/>
                <a:cs typeface="Times New Roman"/>
              </a:rPr>
              <a:t>节</a:t>
            </a:r>
            <a:r>
              <a:rPr lang="zh-CN" altLang="en-US" sz="599" spc="-5" dirty="0">
                <a:solidFill>
                  <a:srgbClr val="F2F2F2"/>
                </a:solidFill>
                <a:latin typeface="Times New Roman"/>
                <a:cs typeface="Times New Roman"/>
              </a:rPr>
              <a:t> </a:t>
            </a:r>
            <a:r>
              <a:rPr lang="zh-CN" altLang="en" sz="599" spc="-5" dirty="0">
                <a:solidFill>
                  <a:srgbClr val="F2F2F2"/>
                </a:solidFill>
                <a:latin typeface="Times New Roman"/>
                <a:cs typeface="Times New Roman"/>
              </a:rPr>
              <a:t>投资</a:t>
            </a:r>
            <a:r>
              <a:rPr lang="zh-CN" altLang="en-US" sz="599" spc="-5" dirty="0">
                <a:solidFill>
                  <a:srgbClr val="F2F2F2"/>
                </a:solidFill>
                <a:latin typeface="Times New Roman"/>
                <a:cs typeface="Times New Roman"/>
              </a:rPr>
              <a:t>需求</a:t>
            </a:r>
            <a:endParaRPr sz="599" dirty="0">
              <a:latin typeface="Times New Roman"/>
              <a:cs typeface="Times New Roman"/>
            </a:endParaRPr>
          </a:p>
        </p:txBody>
      </p:sp>
      <p:sp>
        <p:nvSpPr>
          <p:cNvPr id="10" name="灯片编号占位符 2">
            <a:extLst>
              <a:ext uri="{FF2B5EF4-FFF2-40B4-BE49-F238E27FC236}">
                <a16:creationId xmlns:a16="http://schemas.microsoft.com/office/drawing/2014/main" id="{7AE11084-A5D9-5769-5CA1-0550A0B5498A}"/>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62</a:t>
            </a:fld>
            <a:endParaRPr lang="zh-CN" altLang="zh-CN" sz="856">
              <a:solidFill>
                <a:srgbClr val="777777"/>
              </a:solidFill>
              <a:ea typeface="宋体" panose="02010600030101010101" pitchFamily="2" charset="-122"/>
            </a:endParaRPr>
          </a:p>
        </p:txBody>
      </p:sp>
      <p:sp>
        <p:nvSpPr>
          <p:cNvPr id="11" name="页脚占位符 1">
            <a:extLst>
              <a:ext uri="{FF2B5EF4-FFF2-40B4-BE49-F238E27FC236}">
                <a16:creationId xmlns:a16="http://schemas.microsoft.com/office/drawing/2014/main" id="{3DC81F74-44B7-50DF-F52C-A0C887B98064}"/>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3</a:t>
            </a:r>
            <a:r>
              <a:rPr lang="zh-CN" altLang="en-US" sz="907" i="1" dirty="0">
                <a:solidFill>
                  <a:srgbClr val="777777"/>
                </a:solidFill>
                <a:ea typeface="宋体" panose="02010600030101010101" pitchFamily="2" charset="-122"/>
              </a:rPr>
              <a:t>节 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657646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wipe(left)">
                                      <p:cBhvr>
                                        <p:cTn id="7" dur="5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wipe(left)">
                                      <p:cBhvr>
                                        <p:cTn id="12" dur="500"/>
                                        <p:tgtEl>
                                          <p:spTgt spid="81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195">
                                            <p:txEl>
                                              <p:pRg st="2" end="2"/>
                                            </p:txEl>
                                          </p:spTgt>
                                        </p:tgtEl>
                                        <p:attrNameLst>
                                          <p:attrName>style.visibility</p:attrName>
                                        </p:attrNameLst>
                                      </p:cBhvr>
                                      <p:to>
                                        <p:strVal val="visible"/>
                                      </p:to>
                                    </p:set>
                                    <p:animEffect transition="in" filter="wipe(left)">
                                      <p:cBhvr>
                                        <p:cTn id="17" dur="500"/>
                                        <p:tgtEl>
                                          <p:spTgt spid="81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195">
                                            <p:txEl>
                                              <p:pRg st="3" end="3"/>
                                            </p:txEl>
                                          </p:spTgt>
                                        </p:tgtEl>
                                        <p:attrNameLst>
                                          <p:attrName>style.visibility</p:attrName>
                                        </p:attrNameLst>
                                      </p:cBhvr>
                                      <p:to>
                                        <p:strVal val="visible"/>
                                      </p:to>
                                    </p:set>
                                    <p:animEffect transition="in" filter="wipe(left)">
                                      <p:cBhvr>
                                        <p:cTn id="22" dur="500"/>
                                        <p:tgtEl>
                                          <p:spTgt spid="819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195">
                                            <p:txEl>
                                              <p:pRg st="4" end="4"/>
                                            </p:txEl>
                                          </p:spTgt>
                                        </p:tgtEl>
                                        <p:attrNameLst>
                                          <p:attrName>style.visibility</p:attrName>
                                        </p:attrNameLst>
                                      </p:cBhvr>
                                      <p:to>
                                        <p:strVal val="visible"/>
                                      </p:to>
                                    </p:set>
                                    <p:animEffect transition="in" filter="wipe(left)">
                                      <p:cBhvr>
                                        <p:cTn id="27" dur="500"/>
                                        <p:tgtEl>
                                          <p:spTgt spid="819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195">
                                            <p:txEl>
                                              <p:pRg st="5" end="5"/>
                                            </p:txEl>
                                          </p:spTgt>
                                        </p:tgtEl>
                                        <p:attrNameLst>
                                          <p:attrName>style.visibility</p:attrName>
                                        </p:attrNameLst>
                                      </p:cBhvr>
                                      <p:to>
                                        <p:strVal val="visible"/>
                                      </p:to>
                                    </p:set>
                                    <p:animEffect transition="in" filter="wipe(left)">
                                      <p:cBhvr>
                                        <p:cTn id="32" dur="500"/>
                                        <p:tgtEl>
                                          <p:spTgt spid="819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161033" y="938287"/>
            <a:ext cx="2369831" cy="1926900"/>
            <a:chOff x="3724375" y="1596552"/>
            <a:chExt cx="5034616" cy="3930848"/>
          </a:xfrm>
        </p:grpSpPr>
        <p:pic>
          <p:nvPicPr>
            <p:cNvPr id="8196" name="Picture 4" descr="xf141"/>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6216" t="4101" r="5870" b="6661"/>
            <a:stretch/>
          </p:blipFill>
          <p:spPr bwMode="auto">
            <a:xfrm>
              <a:off x="3724375" y="1596552"/>
              <a:ext cx="4937761" cy="3465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7" name="Text Box 5"/>
            <p:cNvSpPr txBox="1">
              <a:spLocks noChangeArrowheads="1"/>
            </p:cNvSpPr>
            <p:nvPr/>
          </p:nvSpPr>
          <p:spPr bwMode="auto">
            <a:xfrm>
              <a:off x="4241551" y="5067134"/>
              <a:ext cx="4517440" cy="460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algn="ctr" defTabSz="230520">
                <a:spcBef>
                  <a:spcPct val="50000"/>
                </a:spcBef>
                <a:defRPr/>
              </a:pPr>
              <a:r>
                <a:rPr lang="zh-CN" altLang="en-US" sz="908" b="1" dirty="0">
                  <a:solidFill>
                    <a:prstClr val="black"/>
                  </a:solidFill>
                  <a:latin typeface="Garamond" panose="02020404030301010803" pitchFamily="18" charset="0"/>
                  <a:ea typeface="KaiTi" panose="02010609060101010101" pitchFamily="49" charset="-122"/>
                </a:rPr>
                <a:t>投资函数  </a:t>
              </a:r>
              <a:r>
                <a:rPr lang="en-US" altLang="zh-CN" sz="908" b="1" dirty="0" err="1">
                  <a:solidFill>
                    <a:prstClr val="black"/>
                  </a:solidFill>
                  <a:latin typeface="Garamond" panose="02020404030301010803" pitchFamily="18" charset="0"/>
                  <a:ea typeface="KaiTi" panose="02010609060101010101" pitchFamily="49" charset="-122"/>
                </a:rPr>
                <a:t>i</a:t>
              </a:r>
              <a:r>
                <a:rPr lang="en-US" altLang="zh-CN" sz="908" b="1" dirty="0">
                  <a:solidFill>
                    <a:prstClr val="black"/>
                  </a:solidFill>
                  <a:latin typeface="Garamond" panose="02020404030301010803" pitchFamily="18" charset="0"/>
                  <a:ea typeface="KaiTi" panose="02010609060101010101" pitchFamily="49" charset="-122"/>
                </a:rPr>
                <a:t> = </a:t>
              </a:r>
              <a:r>
                <a:rPr lang="en-US" altLang="zh-CN" sz="908" b="1" dirty="0" err="1">
                  <a:solidFill>
                    <a:prstClr val="black"/>
                  </a:solidFill>
                  <a:latin typeface="Garamond" panose="02020404030301010803" pitchFamily="18" charset="0"/>
                  <a:ea typeface="KaiTi" panose="02010609060101010101" pitchFamily="49" charset="-122"/>
                </a:rPr>
                <a:t>i</a:t>
              </a:r>
              <a:r>
                <a:rPr lang="en-US" altLang="zh-CN" sz="908" b="1" dirty="0">
                  <a:solidFill>
                    <a:prstClr val="black"/>
                  </a:solidFill>
                  <a:latin typeface="Garamond" panose="02020404030301010803" pitchFamily="18" charset="0"/>
                  <a:ea typeface="KaiTi" panose="02010609060101010101" pitchFamily="49" charset="-122"/>
                </a:rPr>
                <a:t> (r)</a:t>
              </a:r>
            </a:p>
          </p:txBody>
        </p:sp>
      </p:grpSp>
      <mc:AlternateContent xmlns:mc="http://schemas.openxmlformats.org/markup-compatibility/2006" xmlns:a14="http://schemas.microsoft.com/office/drawing/2010/main">
        <mc:Choice Requires="a14">
          <p:sp>
            <p:nvSpPr>
              <p:cNvPr id="8195" name="Rectangle 3"/>
              <p:cNvSpPr>
                <a:spLocks noGrp="1" noChangeArrowheads="1"/>
              </p:cNvSpPr>
              <p:nvPr>
                <p:ph type="body" idx="1"/>
              </p:nvPr>
            </p:nvSpPr>
            <p:spPr>
              <a:xfrm>
                <a:off x="173504" y="650255"/>
                <a:ext cx="2030987" cy="2566960"/>
              </a:xfrm>
            </p:spPr>
            <p:txBody>
              <a:bodyPr/>
              <a:lstStyle/>
              <a:p>
                <a:pPr marL="0" indent="0" eaLnBrk="1" hangingPunct="1">
                  <a:buNone/>
                </a:pPr>
                <a:r>
                  <a:rPr lang="zh-CN" altLang="en-US" sz="1008" b="1" dirty="0">
                    <a:latin typeface="Garamond" panose="02020404030301010803" pitchFamily="18" charset="0"/>
                    <a:ea typeface="SimSun" panose="02010600030101010101" pitchFamily="2" charset="-122"/>
                  </a:rPr>
                  <a:t>假定</a:t>
                </a:r>
                <a14:m>
                  <m:oMath xmlns:m="http://schemas.openxmlformats.org/officeDocument/2006/math">
                    <m:r>
                      <a:rPr lang="en-US" altLang="zh-CN" sz="1008" b="1" i="1">
                        <a:latin typeface="Cambria Math" panose="02040503050406030204" pitchFamily="18" charset="0"/>
                        <a:ea typeface="等线" panose="02010600030101010101" pitchFamily="2" charset="-122"/>
                      </a:rPr>
                      <m:t>𝒊</m:t>
                    </m:r>
                    <m:r>
                      <a:rPr lang="en-US" altLang="zh-CN" sz="1008" b="1" i="1">
                        <a:latin typeface="Cambria Math" panose="02040503050406030204" pitchFamily="18" charset="0"/>
                        <a:ea typeface="等线" panose="02010600030101010101" pitchFamily="2" charset="-122"/>
                      </a:rPr>
                      <m:t>=</m:t>
                    </m:r>
                    <m:r>
                      <a:rPr lang="en-US" altLang="zh-CN" sz="1008" b="1" i="1">
                        <a:latin typeface="Cambria Math" panose="02040503050406030204" pitchFamily="18" charset="0"/>
                        <a:ea typeface="等线" panose="02010600030101010101" pitchFamily="2" charset="-122"/>
                      </a:rPr>
                      <m:t>𝒊</m:t>
                    </m:r>
                    <m:d>
                      <m:dPr>
                        <m:ctrlPr>
                          <a:rPr lang="en-US" altLang="zh-CN" sz="1008" b="1" i="1">
                            <a:latin typeface="Cambria Math" panose="02040503050406030204" pitchFamily="18" charset="0"/>
                            <a:ea typeface="等线" panose="02010600030101010101" pitchFamily="2" charset="-122"/>
                          </a:rPr>
                        </m:ctrlPr>
                      </m:dPr>
                      <m:e>
                        <m:r>
                          <a:rPr lang="en-US" altLang="zh-CN" sz="1008" b="1" i="1">
                            <a:latin typeface="Cambria Math" panose="02040503050406030204" pitchFamily="18" charset="0"/>
                            <a:ea typeface="等线" panose="02010600030101010101" pitchFamily="2" charset="-122"/>
                          </a:rPr>
                          <m:t>𝒓</m:t>
                        </m:r>
                      </m:e>
                    </m:d>
                    <m:r>
                      <a:rPr lang="en-US" altLang="zh-CN" sz="1008" b="1" i="1">
                        <a:latin typeface="Cambria Math" panose="02040503050406030204" pitchFamily="18" charset="0"/>
                        <a:ea typeface="等线" panose="02010600030101010101" pitchFamily="2" charset="-122"/>
                      </a:rPr>
                      <m:t>=</m:t>
                    </m:r>
                    <m:r>
                      <a:rPr lang="en-US" altLang="zh-CN" sz="1008" b="1" i="1">
                        <a:latin typeface="Cambria Math" panose="02040503050406030204" pitchFamily="18" charset="0"/>
                        <a:ea typeface="等线" panose="02010600030101010101" pitchFamily="2" charset="-122"/>
                      </a:rPr>
                      <m:t>𝟏𝟐𝟓𝟎</m:t>
                    </m:r>
                    <m:r>
                      <a:rPr lang="en-US" altLang="zh-CN" sz="1008" b="1" i="1">
                        <a:latin typeface="Cambria Math" panose="02040503050406030204" pitchFamily="18" charset="0"/>
                        <a:ea typeface="等线" panose="02010600030101010101" pitchFamily="2" charset="-122"/>
                      </a:rPr>
                      <m:t>−</m:t>
                    </m:r>
                    <m:r>
                      <a:rPr lang="en-US" altLang="zh-CN" sz="1008" b="1" i="1">
                        <a:latin typeface="Cambria Math" panose="02040503050406030204" pitchFamily="18" charset="0"/>
                        <a:ea typeface="等线" panose="02010600030101010101" pitchFamily="2" charset="-122"/>
                      </a:rPr>
                      <m:t>𝟐𝟓𝟎</m:t>
                    </m:r>
                    <m:r>
                      <a:rPr lang="en-US" altLang="zh-CN" sz="1008" b="1" i="1">
                        <a:latin typeface="Cambria Math" panose="02040503050406030204" pitchFamily="18" charset="0"/>
                        <a:ea typeface="等线" panose="02010600030101010101" pitchFamily="2" charset="-122"/>
                      </a:rPr>
                      <m:t>𝒓</m:t>
                    </m:r>
                  </m:oMath>
                </a14:m>
                <a:r>
                  <a:rPr lang="zh-CN" altLang="en-US" sz="1008" dirty="0">
                    <a:latin typeface="Garamond" panose="02020404030301010803" pitchFamily="18" charset="0"/>
                    <a:ea typeface="SimSun" panose="02010600030101010101" pitchFamily="2" charset="-122"/>
                  </a:rPr>
                  <a:t>。</a:t>
                </a:r>
                <a:endParaRPr lang="en-US" altLang="zh-CN" sz="1008" dirty="0">
                  <a:latin typeface="Garamond" panose="02020404030301010803" pitchFamily="18" charset="0"/>
                  <a:ea typeface="SimSun" panose="02010600030101010101" pitchFamily="2" charset="-122"/>
                </a:endParaRPr>
              </a:p>
              <a:p>
                <a:pPr eaLnBrk="1" hangingPunct="1"/>
                <a:r>
                  <a:rPr lang="en-US" altLang="zh-CN" sz="1008" dirty="0">
                    <a:latin typeface="Garamond" panose="02020404030301010803" pitchFamily="18" charset="0"/>
                    <a:ea typeface="SimSun" panose="02010600030101010101" pitchFamily="2" charset="-122"/>
                  </a:rPr>
                  <a:t>1250</a:t>
                </a:r>
                <a:r>
                  <a:rPr lang="zh-CN" altLang="en-US" sz="1008" dirty="0">
                    <a:latin typeface="Garamond" panose="02020404030301010803" pitchFamily="18" charset="0"/>
                    <a:ea typeface="SimSun" panose="02010600030101010101" pitchFamily="2" charset="-122"/>
                  </a:rPr>
                  <a:t>表示</a:t>
                </a:r>
                <a:r>
                  <a:rPr lang="zh-CN" altLang="en-US" sz="1008" b="1" dirty="0">
                    <a:latin typeface="Garamond" panose="02020404030301010803" pitchFamily="18" charset="0"/>
                    <a:ea typeface="SimSun" panose="02010600030101010101" pitchFamily="2" charset="-122"/>
                  </a:rPr>
                  <a:t>即使利率为零时也有的投资量，称自主投资</a:t>
                </a:r>
                <a:r>
                  <a:rPr lang="zh-CN" altLang="en-US" sz="1008" dirty="0">
                    <a:latin typeface="Garamond" panose="02020404030301010803" pitchFamily="18" charset="0"/>
                    <a:ea typeface="SimSun" panose="02010600030101010101" pitchFamily="2" charset="-122"/>
                  </a:rPr>
                  <a:t>。</a:t>
                </a:r>
                <a:endParaRPr lang="en-US" altLang="zh-CN" sz="1008" dirty="0">
                  <a:latin typeface="Garamond" panose="02020404030301010803" pitchFamily="18" charset="0"/>
                  <a:ea typeface="SimSun" panose="02010600030101010101" pitchFamily="2" charset="-122"/>
                </a:endParaRPr>
              </a:p>
              <a:p>
                <a:pPr eaLnBrk="1" hangingPunct="1"/>
                <a:r>
                  <a:rPr lang="en-US" altLang="zh-CN" sz="1008" dirty="0">
                    <a:latin typeface="Garamond" panose="02020404030301010803" pitchFamily="18" charset="0"/>
                    <a:ea typeface="SimSun" panose="02010600030101010101" pitchFamily="2" charset="-122"/>
                  </a:rPr>
                  <a:t>250</a:t>
                </a:r>
                <a:r>
                  <a:rPr lang="zh-CN" altLang="en-US" sz="1008" dirty="0">
                    <a:latin typeface="Garamond" panose="02020404030301010803" pitchFamily="18" charset="0"/>
                    <a:ea typeface="SimSun" panose="02010600030101010101" pitchFamily="2" charset="-122"/>
                  </a:rPr>
                  <a:t>是系数，表示利率每上升或下降</a:t>
                </a:r>
                <a:r>
                  <a:rPr lang="en-US" altLang="zh-CN" sz="1008" dirty="0">
                    <a:latin typeface="Garamond" panose="02020404030301010803" pitchFamily="18" charset="0"/>
                    <a:ea typeface="SimSun" panose="02010600030101010101" pitchFamily="2" charset="-122"/>
                  </a:rPr>
                  <a:t>1</a:t>
                </a:r>
                <a:r>
                  <a:rPr lang="zh-CN" altLang="en-US" sz="1008" dirty="0">
                    <a:latin typeface="Garamond" panose="02020404030301010803" pitchFamily="18" charset="0"/>
                    <a:ea typeface="SimSun" panose="02010600030101010101" pitchFamily="2" charset="-122"/>
                  </a:rPr>
                  <a:t>个百分点，投资会减少或增加的数量，称为</a:t>
                </a:r>
                <a:r>
                  <a:rPr lang="zh-CN" altLang="en-US" sz="1008" b="1" dirty="0">
                    <a:latin typeface="Garamond" panose="02020404030301010803" pitchFamily="18" charset="0"/>
                    <a:ea typeface="SimSun" panose="02010600030101010101" pitchFamily="2" charset="-122"/>
                  </a:rPr>
                  <a:t>利率对投资需求的影响系数</a:t>
                </a:r>
                <a:r>
                  <a:rPr lang="zh-CN" altLang="en-US" sz="1008" dirty="0">
                    <a:latin typeface="Garamond" panose="02020404030301010803" pitchFamily="18" charset="0"/>
                    <a:ea typeface="SimSun" panose="02010600030101010101" pitchFamily="2" charset="-122"/>
                  </a:rPr>
                  <a:t>。</a:t>
                </a:r>
                <a:endParaRPr lang="en-US" altLang="zh-CN" sz="1008" dirty="0">
                  <a:latin typeface="Garamond" panose="02020404030301010803" pitchFamily="18" charset="0"/>
                  <a:ea typeface="SimSun" panose="02010600030101010101" pitchFamily="2" charset="-122"/>
                </a:endParaRPr>
              </a:p>
              <a:p>
                <a:pPr eaLnBrk="1" hangingPunct="1"/>
                <a:r>
                  <a:rPr lang="zh-CN" altLang="en-US" sz="1008" dirty="0">
                    <a:latin typeface="Garamond" panose="02020404030301010803" pitchFamily="18" charset="0"/>
                    <a:ea typeface="SimSun" panose="02010600030101010101" pitchFamily="2" charset="-122"/>
                  </a:rPr>
                  <a:t>投资函数也可以写成：</a:t>
                </a:r>
                <a:endParaRPr lang="en-US" altLang="zh-CN" sz="1008" dirty="0">
                  <a:latin typeface="Garamond" panose="02020404030301010803" pitchFamily="18" charset="0"/>
                  <a:ea typeface="SimSun" panose="02010600030101010101" pitchFamily="2" charset="-122"/>
                </a:endParaRPr>
              </a:p>
              <a:p>
                <a:pPr eaLnBrk="1" hangingPunct="1"/>
                <a14:m>
                  <m:oMath xmlns:m="http://schemas.openxmlformats.org/officeDocument/2006/math">
                    <m:r>
                      <a:rPr lang="en-US" altLang="zh-CN" sz="1008" i="1">
                        <a:latin typeface="Cambria Math" panose="02040503050406030204" pitchFamily="18" charset="0"/>
                        <a:ea typeface="等线" panose="02010600030101010101" pitchFamily="2" charset="-122"/>
                      </a:rPr>
                      <m:t>𝑖</m:t>
                    </m:r>
                    <m:r>
                      <a:rPr lang="en-US" altLang="zh-CN" sz="1008" i="1">
                        <a:latin typeface="Cambria Math" panose="02040503050406030204" pitchFamily="18" charset="0"/>
                        <a:ea typeface="等线" panose="02010600030101010101" pitchFamily="2" charset="-122"/>
                      </a:rPr>
                      <m:t>=</m:t>
                    </m:r>
                    <m:r>
                      <a:rPr lang="en-US" altLang="zh-CN" sz="1008" i="1">
                        <a:latin typeface="Cambria Math" panose="02040503050406030204" pitchFamily="18" charset="0"/>
                        <a:ea typeface="等线" panose="02010600030101010101" pitchFamily="2" charset="-122"/>
                      </a:rPr>
                      <m:t>𝑖</m:t>
                    </m:r>
                    <m:d>
                      <m:dPr>
                        <m:ctrlPr>
                          <a:rPr lang="en-US" altLang="zh-CN" sz="1008" i="1">
                            <a:latin typeface="Cambria Math" panose="02040503050406030204" pitchFamily="18" charset="0"/>
                            <a:ea typeface="等线" panose="02010600030101010101" pitchFamily="2" charset="-122"/>
                          </a:rPr>
                        </m:ctrlPr>
                      </m:dPr>
                      <m:e>
                        <m:r>
                          <a:rPr lang="en-US" altLang="zh-CN" sz="1008" i="1">
                            <a:latin typeface="Cambria Math" panose="02040503050406030204" pitchFamily="18" charset="0"/>
                            <a:ea typeface="等线" panose="02010600030101010101" pitchFamily="2" charset="-122"/>
                          </a:rPr>
                          <m:t>𝑟</m:t>
                        </m:r>
                      </m:e>
                    </m:d>
                    <m:r>
                      <a:rPr lang="en-US" altLang="zh-CN" sz="1008" i="1">
                        <a:latin typeface="Cambria Math" panose="02040503050406030204" pitchFamily="18" charset="0"/>
                        <a:ea typeface="等线" panose="02010600030101010101" pitchFamily="2" charset="-122"/>
                      </a:rPr>
                      <m:t>=</m:t>
                    </m:r>
                    <m:r>
                      <a:rPr lang="en-US" altLang="zh-CN" sz="1008" i="1">
                        <a:latin typeface="Cambria Math" panose="02040503050406030204" pitchFamily="18" charset="0"/>
                        <a:ea typeface="等线" panose="02010600030101010101" pitchFamily="2" charset="-122"/>
                      </a:rPr>
                      <m:t>𝑒</m:t>
                    </m:r>
                    <m:r>
                      <a:rPr lang="en-US" altLang="zh-CN" sz="1008" i="1">
                        <a:latin typeface="Cambria Math" panose="02040503050406030204" pitchFamily="18" charset="0"/>
                        <a:ea typeface="等线" panose="02010600030101010101" pitchFamily="2" charset="-122"/>
                      </a:rPr>
                      <m:t>−</m:t>
                    </m:r>
                    <m:r>
                      <a:rPr lang="en-US" altLang="zh-CN" sz="1008" i="1">
                        <a:latin typeface="Cambria Math" panose="02040503050406030204" pitchFamily="18" charset="0"/>
                        <a:ea typeface="等线" panose="02010600030101010101" pitchFamily="2" charset="-122"/>
                      </a:rPr>
                      <m:t>𝑑𝑟</m:t>
                    </m:r>
                  </m:oMath>
                </a14:m>
                <a:endParaRPr lang="en-US" altLang="zh-CN" sz="1008" dirty="0">
                  <a:latin typeface="Garamond" panose="02020404030301010803" pitchFamily="18" charset="0"/>
                  <a:ea typeface="SimSun" panose="02010600030101010101" pitchFamily="2" charset="-122"/>
                </a:endParaRPr>
              </a:p>
              <a:p>
                <a:pPr eaLnBrk="1" hangingPunct="1"/>
                <a:r>
                  <a:rPr lang="zh-CN" altLang="en-US" sz="1008" dirty="0">
                    <a:latin typeface="Garamond" panose="02020404030301010803" pitchFamily="18" charset="0"/>
                    <a:ea typeface="SimSun" panose="02010600030101010101" pitchFamily="2" charset="-122"/>
                  </a:rPr>
                  <a:t>右图的投资需求曲线也叫做</a:t>
                </a:r>
                <a:r>
                  <a:rPr lang="zh-CN" altLang="en-US" sz="1008" b="1" dirty="0">
                    <a:latin typeface="Garamond" panose="02020404030301010803" pitchFamily="18" charset="0"/>
                    <a:ea typeface="SimSun" panose="02010600030101010101" pitchFamily="2" charset="-122"/>
                  </a:rPr>
                  <a:t>投资的边际效率曲线</a:t>
                </a:r>
                <a:r>
                  <a:rPr lang="zh-CN" altLang="en-US" sz="1008" dirty="0">
                    <a:latin typeface="Garamond" panose="02020404030301010803" pitchFamily="18" charset="0"/>
                    <a:ea typeface="SimSun" panose="02010600030101010101" pitchFamily="2" charset="-122"/>
                  </a:rPr>
                  <a:t>。</a:t>
                </a:r>
              </a:p>
            </p:txBody>
          </p:sp>
        </mc:Choice>
        <mc:Fallback xmlns="">
          <p:sp>
            <p:nvSpPr>
              <p:cNvPr id="8195" name="Rectangle 3"/>
              <p:cNvSpPr>
                <a:spLocks noGrp="1" noRot="1" noChangeAspect="1" noMove="1" noResize="1" noEditPoints="1" noAdjustHandles="1" noChangeArrowheads="1" noChangeShapeType="1" noTextEdit="1"/>
              </p:cNvSpPr>
              <p:nvPr>
                <p:ph type="body" idx="1"/>
              </p:nvPr>
            </p:nvSpPr>
            <p:spPr>
              <a:xfrm>
                <a:off x="173504" y="650255"/>
                <a:ext cx="2030987" cy="2566960"/>
              </a:xfrm>
              <a:blipFill>
                <a:blip r:embed="rId3"/>
                <a:stretch>
                  <a:fillRect/>
                </a:stretch>
              </a:blipFill>
            </p:spPr>
            <p:txBody>
              <a:bodyPr/>
              <a:lstStyle/>
              <a:p>
                <a:r>
                  <a:rPr lang="zh-CN" altLang="en-US">
                    <a:noFill/>
                  </a:rPr>
                  <a:t> </a:t>
                </a:r>
              </a:p>
            </p:txBody>
          </p:sp>
        </mc:Fallback>
      </mc:AlternateContent>
      <p:sp>
        <p:nvSpPr>
          <p:cNvPr id="3" name="标题 2">
            <a:extLst>
              <a:ext uri="{FF2B5EF4-FFF2-40B4-BE49-F238E27FC236}">
                <a16:creationId xmlns:a16="http://schemas.microsoft.com/office/drawing/2014/main" id="{7FD29120-FF75-F03A-CAA3-F4DB509A4284}"/>
              </a:ext>
            </a:extLst>
          </p:cNvPr>
          <p:cNvSpPr>
            <a:spLocks noGrp="1"/>
          </p:cNvSpPr>
          <p:nvPr>
            <p:ph type="title"/>
          </p:nvPr>
        </p:nvSpPr>
        <p:spPr/>
        <p:txBody>
          <a:bodyPr/>
          <a:lstStyle/>
          <a:p>
            <a:r>
              <a:rPr kumimoji="1" lang="zh-CN" altLang="en-US" dirty="0"/>
              <a:t>投资曲线</a:t>
            </a:r>
          </a:p>
        </p:txBody>
      </p:sp>
      <p:sp>
        <p:nvSpPr>
          <p:cNvPr id="5" name="灯片编号占位符 2">
            <a:extLst>
              <a:ext uri="{FF2B5EF4-FFF2-40B4-BE49-F238E27FC236}">
                <a16:creationId xmlns:a16="http://schemas.microsoft.com/office/drawing/2014/main" id="{EA2C68A2-37FA-5853-3F75-EAF6EE8696ED}"/>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63</a:t>
            </a:fld>
            <a:endParaRPr lang="zh-CN" altLang="zh-CN" sz="856">
              <a:solidFill>
                <a:srgbClr val="777777"/>
              </a:solidFill>
              <a:ea typeface="宋体" panose="02010600030101010101" pitchFamily="2" charset="-122"/>
            </a:endParaRPr>
          </a:p>
        </p:txBody>
      </p:sp>
      <p:sp>
        <p:nvSpPr>
          <p:cNvPr id="4" name="页脚占位符 1">
            <a:extLst>
              <a:ext uri="{FF2B5EF4-FFF2-40B4-BE49-F238E27FC236}">
                <a16:creationId xmlns:a16="http://schemas.microsoft.com/office/drawing/2014/main" id="{854781E2-E560-8C2F-7F68-DE5246DD7CBE}"/>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3</a:t>
            </a:r>
            <a:r>
              <a:rPr lang="zh-CN" altLang="en-US" sz="907" i="1" dirty="0">
                <a:solidFill>
                  <a:srgbClr val="777777"/>
                </a:solidFill>
                <a:ea typeface="宋体" panose="02010600030101010101" pitchFamily="2" charset="-122"/>
              </a:rPr>
              <a:t>节 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07750602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219" name="Rectangle 3"/>
              <p:cNvSpPr>
                <a:spLocks noGrp="1" noChangeArrowheads="1"/>
              </p:cNvSpPr>
              <p:nvPr>
                <p:ph type="body" idx="1"/>
              </p:nvPr>
            </p:nvSpPr>
            <p:spPr>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46101" tIns="23051" rIns="46101" bIns="23051" numCol="1" anchor="t" anchorCtr="0" compatLnSpc="1">
                <a:prstTxWarp prst="textNoShape">
                  <a:avLst/>
                </a:prstTxWarp>
              </a:bodyPr>
              <a:lstStyle/>
              <a:p>
                <a:pPr eaLnBrk="1" hangingPunct="1"/>
                <a:r>
                  <a:rPr lang="zh-CN" altLang="en-US" sz="1008" b="1" dirty="0">
                    <a:latin typeface="等线" panose="02010600030101010101" pitchFamily="2" charset="-122"/>
                    <a:ea typeface="等线" panose="02010600030101010101" pitchFamily="2" charset="-122"/>
                  </a:rPr>
                  <a:t>资本边际效率（</a:t>
                </a:r>
                <a:r>
                  <a:rPr lang="en-US" altLang="zh-CN" sz="1008" b="1" dirty="0">
                    <a:latin typeface="等线" panose="02010600030101010101" pitchFamily="2" charset="-122"/>
                    <a:ea typeface="等线" panose="02010600030101010101" pitchFamily="2" charset="-122"/>
                  </a:rPr>
                  <a:t>marginal efficiency of capital, MEC</a:t>
                </a:r>
                <a:r>
                  <a:rPr lang="zh-CN" altLang="en-US" sz="1008" b="1" dirty="0">
                    <a:latin typeface="等线" panose="02010600030101010101" pitchFamily="2" charset="-122"/>
                    <a:ea typeface="等线" panose="02010600030101010101" pitchFamily="2" charset="-122"/>
                  </a:rPr>
                  <a:t>）</a:t>
                </a:r>
                <a:r>
                  <a:rPr lang="zh-CN" altLang="en-US" sz="1008" dirty="0">
                    <a:latin typeface="等线" panose="02010600030101010101" pitchFamily="2" charset="-122"/>
                    <a:ea typeface="等线" panose="02010600030101010101" pitchFamily="2" charset="-122"/>
                  </a:rPr>
                  <a:t>是一种贴现率，这种</a:t>
                </a:r>
                <a:r>
                  <a:rPr lang="zh-CN" altLang="en-US" sz="1008" u="sng" dirty="0">
                    <a:solidFill>
                      <a:srgbClr val="FF0000"/>
                    </a:solidFill>
                    <a:latin typeface="等线" panose="02010600030101010101" pitchFamily="2" charset="-122"/>
                    <a:ea typeface="等线" panose="02010600030101010101" pitchFamily="2" charset="-122"/>
                  </a:rPr>
                  <a:t>贴现率</a:t>
                </a:r>
                <a:r>
                  <a:rPr lang="zh-CN" altLang="en-US" sz="1008" dirty="0">
                    <a:latin typeface="等线" panose="02010600030101010101" pitchFamily="2" charset="-122"/>
                    <a:ea typeface="等线" panose="02010600030101010101" pitchFamily="2" charset="-122"/>
                  </a:rPr>
                  <a:t>正好使一项资本物品的使用期限内各预期收益的</a:t>
                </a:r>
                <a:r>
                  <a:rPr lang="zh-CN" altLang="en-US" sz="1008" u="sng" dirty="0">
                    <a:solidFill>
                      <a:srgbClr val="FF0000"/>
                    </a:solidFill>
                    <a:latin typeface="等线" panose="02010600030101010101" pitchFamily="2" charset="-122"/>
                    <a:ea typeface="等线" panose="02010600030101010101" pitchFamily="2" charset="-122"/>
                  </a:rPr>
                  <a:t>现值之和</a:t>
                </a:r>
                <a:r>
                  <a:rPr lang="zh-CN" altLang="en-US" sz="1008" dirty="0">
                    <a:latin typeface="等线" panose="02010600030101010101" pitchFamily="2" charset="-122"/>
                    <a:ea typeface="等线" panose="02010600030101010101" pitchFamily="2" charset="-122"/>
                  </a:rPr>
                  <a:t>等于这项资本品的供给价格或者重置成本。</a:t>
                </a:r>
                <a:endParaRPr lang="en-US" altLang="zh-CN" sz="1008" dirty="0">
                  <a:latin typeface="等线" panose="02010600030101010101" pitchFamily="2" charset="-122"/>
                  <a:ea typeface="等线" panose="02010600030101010101" pitchFamily="2" charset="-122"/>
                </a:endParaRPr>
              </a:p>
              <a:p>
                <a:pPr eaLnBrk="1" hangingPunct="1"/>
                <a:r>
                  <a:rPr lang="zh-CN" altLang="en-US" sz="1008" b="1" dirty="0">
                    <a:latin typeface="等线" panose="02010600030101010101" pitchFamily="2" charset="-122"/>
                    <a:ea typeface="等线" panose="02010600030101010101" pitchFamily="2" charset="-122"/>
                  </a:rPr>
                  <a:t>贴现率和现值</a:t>
                </a:r>
                <a:endParaRPr lang="en-US" altLang="zh-CN" sz="1008" b="1" dirty="0">
                  <a:latin typeface="等线" panose="02010600030101010101" pitchFamily="2" charset="-122"/>
                  <a:ea typeface="等线" panose="02010600030101010101" pitchFamily="2" charset="-122"/>
                </a:endParaRPr>
              </a:p>
              <a:p>
                <a:pPr eaLnBrk="1" hangingPunct="1"/>
                <a:r>
                  <a:rPr lang="zh-CN" altLang="en-US" sz="1008" dirty="0">
                    <a:latin typeface="楷体" panose="02010609060101010101" pitchFamily="49" charset="-122"/>
                    <a:ea typeface="楷体" panose="02010609060101010101" pitchFamily="49" charset="-122"/>
                  </a:rPr>
                  <a:t>假定本金是</a:t>
                </a:r>
                <a:r>
                  <a:rPr lang="en-US" altLang="zh-CN" sz="1008" dirty="0">
                    <a:latin typeface="楷体" panose="02010609060101010101" pitchFamily="49" charset="-122"/>
                    <a:ea typeface="楷体" panose="02010609060101010101" pitchFamily="49" charset="-122"/>
                  </a:rPr>
                  <a:t>100</a:t>
                </a:r>
                <a:r>
                  <a:rPr lang="zh-CN" altLang="en-US" sz="1008" dirty="0">
                    <a:latin typeface="楷体" panose="02010609060101010101" pitchFamily="49" charset="-122"/>
                    <a:ea typeface="楷体" panose="02010609060101010101" pitchFamily="49" charset="-122"/>
                  </a:rPr>
                  <a:t>美元，年利率是</a:t>
                </a:r>
                <a:r>
                  <a:rPr lang="en-US" altLang="zh-CN" sz="1008" dirty="0">
                    <a:latin typeface="楷体" panose="02010609060101010101" pitchFamily="49" charset="-122"/>
                    <a:ea typeface="楷体" panose="02010609060101010101" pitchFamily="49" charset="-122"/>
                  </a:rPr>
                  <a:t>5%</a:t>
                </a:r>
                <a:r>
                  <a:rPr lang="zh-CN" altLang="en-US" sz="1008" dirty="0">
                    <a:latin typeface="楷体" panose="02010609060101010101" pitchFamily="49" charset="-122"/>
                    <a:ea typeface="楷体" panose="02010609060101010101" pitchFamily="49" charset="-122"/>
                  </a:rPr>
                  <a:t>：</a:t>
                </a:r>
                <a:endParaRPr lang="en-US" altLang="zh-CN" sz="1008" dirty="0">
                  <a:latin typeface="楷体" panose="02010609060101010101" pitchFamily="49" charset="-122"/>
                  <a:ea typeface="楷体" panose="02010609060101010101" pitchFamily="49" charset="-122"/>
                </a:endParaRPr>
              </a:p>
              <a:p>
                <a:pPr eaLnBrk="1" hangingPunct="1"/>
                <a:r>
                  <a:rPr lang="zh-CN" altLang="en-US" sz="1008" dirty="0">
                    <a:latin typeface="楷体" panose="02010609060101010101" pitchFamily="49" charset="-122"/>
                    <a:ea typeface="楷体" panose="02010609060101010101" pitchFamily="49" charset="-122"/>
                  </a:rPr>
                  <a:t>第一年本利和：</a:t>
                </a:r>
                <a14:m>
                  <m:oMath xmlns:m="http://schemas.openxmlformats.org/officeDocument/2006/math">
                    <m:r>
                      <a:rPr lang="en-US" altLang="zh-CN" sz="1008" i="1" dirty="0">
                        <a:latin typeface="Cambria Math" panose="02040503050406030204" pitchFamily="18" charset="0"/>
                        <a:ea typeface="楷体" panose="02010609060101010101" pitchFamily="49" charset="-122"/>
                      </a:rPr>
                      <m:t>100</m:t>
                    </m:r>
                    <m:r>
                      <a:rPr lang="zh-CN" altLang="en-US" sz="1008" i="1" dirty="0">
                        <a:latin typeface="Cambria Math" panose="02040503050406030204" pitchFamily="18" charset="0"/>
                        <a:ea typeface="楷体" panose="02010609060101010101" pitchFamily="49" charset="-122"/>
                      </a:rPr>
                      <m:t>（</m:t>
                    </m:r>
                    <m:r>
                      <a:rPr lang="en-US" altLang="zh-CN" sz="1008" i="1" dirty="0">
                        <a:latin typeface="Cambria Math" panose="02040503050406030204" pitchFamily="18" charset="0"/>
                        <a:ea typeface="楷体" panose="02010609060101010101" pitchFamily="49" charset="-122"/>
                      </a:rPr>
                      <m:t>1+5%</m:t>
                    </m:r>
                    <m:r>
                      <a:rPr lang="zh-CN" altLang="en-US" sz="1008" i="1" dirty="0">
                        <a:latin typeface="Cambria Math" panose="02040503050406030204" pitchFamily="18" charset="0"/>
                        <a:ea typeface="楷体" panose="02010609060101010101" pitchFamily="49" charset="-122"/>
                      </a:rPr>
                      <m:t>）</m:t>
                    </m:r>
                    <m:r>
                      <a:rPr lang="en-US" altLang="zh-CN" sz="1008" i="1" dirty="0">
                        <a:latin typeface="Cambria Math" panose="02040503050406030204" pitchFamily="18" charset="0"/>
                        <a:ea typeface="楷体" panose="02010609060101010101" pitchFamily="49" charset="-122"/>
                      </a:rPr>
                      <m:t>=105</m:t>
                    </m:r>
                    <m:r>
                      <a:rPr lang="zh-CN" altLang="en-US" sz="1008" i="1" dirty="0">
                        <a:latin typeface="Cambria Math" panose="02040503050406030204" pitchFamily="18" charset="0"/>
                        <a:ea typeface="楷体" panose="02010609060101010101" pitchFamily="49" charset="-122"/>
                      </a:rPr>
                      <m:t>美元</m:t>
                    </m:r>
                  </m:oMath>
                </a14:m>
                <a:endParaRPr lang="en-US" altLang="zh-CN" sz="1008" dirty="0">
                  <a:latin typeface="楷体" panose="02010609060101010101" pitchFamily="49" charset="-122"/>
                  <a:ea typeface="楷体" panose="02010609060101010101" pitchFamily="49" charset="-122"/>
                </a:endParaRPr>
              </a:p>
              <a:p>
                <a:pPr eaLnBrk="1" hangingPunct="1"/>
                <a:r>
                  <a:rPr lang="zh-CN" altLang="en-US" sz="1008" dirty="0">
                    <a:latin typeface="楷体" panose="02010609060101010101" pitchFamily="49" charset="-122"/>
                    <a:ea typeface="楷体" panose="02010609060101010101" pitchFamily="49" charset="-122"/>
                  </a:rPr>
                  <a:t>第二年本利和：</a:t>
                </a:r>
                <a14:m>
                  <m:oMath xmlns:m="http://schemas.openxmlformats.org/officeDocument/2006/math">
                    <m:r>
                      <a:rPr lang="en-US" altLang="zh-CN" sz="1008" i="1" dirty="0">
                        <a:latin typeface="Cambria Math" panose="02040503050406030204" pitchFamily="18" charset="0"/>
                        <a:ea typeface="楷体" panose="02010609060101010101" pitchFamily="49" charset="-122"/>
                      </a:rPr>
                      <m:t>105</m:t>
                    </m:r>
                    <m:d>
                      <m:dPr>
                        <m:begChr m:val="（"/>
                        <m:endChr m:val="）"/>
                        <m:ctrlPr>
                          <a:rPr lang="zh-CN" altLang="en-US" sz="1008" i="1" dirty="0">
                            <a:latin typeface="Cambria Math" panose="02040503050406030204" pitchFamily="18" charset="0"/>
                            <a:ea typeface="楷体" panose="02010609060101010101" pitchFamily="49" charset="-122"/>
                          </a:rPr>
                        </m:ctrlPr>
                      </m:dPr>
                      <m:e>
                        <m:r>
                          <a:rPr lang="en-US" altLang="zh-CN" sz="1008" i="1" dirty="0">
                            <a:latin typeface="Cambria Math" panose="02040503050406030204" pitchFamily="18" charset="0"/>
                            <a:ea typeface="楷体" panose="02010609060101010101" pitchFamily="49" charset="-122"/>
                          </a:rPr>
                          <m:t>1+5%</m:t>
                        </m:r>
                      </m:e>
                    </m:d>
                    <m:r>
                      <a:rPr lang="en-US" altLang="zh-CN" sz="1008" i="1" dirty="0">
                        <a:latin typeface="Cambria Math" panose="02040503050406030204" pitchFamily="18" charset="0"/>
                        <a:ea typeface="楷体" panose="02010609060101010101" pitchFamily="49" charset="-122"/>
                      </a:rPr>
                      <m:t>=100</m:t>
                    </m:r>
                    <m:sSup>
                      <m:sSupPr>
                        <m:ctrlPr>
                          <a:rPr lang="en-US" altLang="zh-CN" sz="1008" i="1" dirty="0">
                            <a:latin typeface="Cambria Math" panose="02040503050406030204" pitchFamily="18" charset="0"/>
                            <a:ea typeface="楷体" panose="02010609060101010101" pitchFamily="49" charset="-122"/>
                          </a:rPr>
                        </m:ctrlPr>
                      </m:sSupPr>
                      <m:e>
                        <m:d>
                          <m:dPr>
                            <m:begChr m:val="（"/>
                            <m:endChr m:val="）"/>
                            <m:ctrlPr>
                              <a:rPr lang="zh-CN" altLang="en-US" sz="1008" i="1" dirty="0">
                                <a:latin typeface="Cambria Math" panose="02040503050406030204" pitchFamily="18" charset="0"/>
                                <a:ea typeface="楷体" panose="02010609060101010101" pitchFamily="49" charset="-122"/>
                              </a:rPr>
                            </m:ctrlPr>
                          </m:dPr>
                          <m:e>
                            <m:r>
                              <a:rPr lang="en-US" altLang="zh-CN" sz="1008" i="1" dirty="0">
                                <a:latin typeface="Cambria Math" panose="02040503050406030204" pitchFamily="18" charset="0"/>
                                <a:ea typeface="楷体" panose="02010609060101010101" pitchFamily="49" charset="-122"/>
                              </a:rPr>
                              <m:t>1+5%</m:t>
                            </m:r>
                          </m:e>
                        </m:d>
                      </m:e>
                      <m:sup>
                        <m:r>
                          <a:rPr lang="en-US" altLang="zh-CN" sz="1008" i="1" dirty="0">
                            <a:latin typeface="Cambria Math" panose="02040503050406030204" pitchFamily="18" charset="0"/>
                            <a:ea typeface="楷体" panose="02010609060101010101" pitchFamily="49" charset="-122"/>
                          </a:rPr>
                          <m:t>2</m:t>
                        </m:r>
                      </m:sup>
                    </m:sSup>
                    <m:r>
                      <a:rPr lang="en-US" altLang="zh-CN" sz="1008" i="1" dirty="0">
                        <a:latin typeface="Cambria Math" panose="02040503050406030204" pitchFamily="18" charset="0"/>
                        <a:ea typeface="楷体" panose="02010609060101010101" pitchFamily="49" charset="-122"/>
                      </a:rPr>
                      <m:t>=110.25</m:t>
                    </m:r>
                    <m:r>
                      <a:rPr lang="zh-CN" altLang="en-US" sz="1008" i="1" dirty="0">
                        <a:latin typeface="Cambria Math" panose="02040503050406030204" pitchFamily="18" charset="0"/>
                        <a:ea typeface="楷体" panose="02010609060101010101" pitchFamily="49" charset="-122"/>
                      </a:rPr>
                      <m:t>美元</m:t>
                    </m:r>
                  </m:oMath>
                </a14:m>
                <a:endParaRPr lang="en-US" altLang="zh-CN" sz="1008" dirty="0">
                  <a:latin typeface="楷体" panose="02010609060101010101" pitchFamily="49" charset="-122"/>
                  <a:ea typeface="楷体" panose="02010609060101010101" pitchFamily="49" charset="-122"/>
                </a:endParaRPr>
              </a:p>
              <a:p>
                <a:pPr eaLnBrk="1" hangingPunct="1"/>
                <a:r>
                  <a:rPr lang="zh-CN" altLang="en-US" sz="1008" dirty="0">
                    <a:latin typeface="楷体" panose="02010609060101010101" pitchFamily="49" charset="-122"/>
                    <a:ea typeface="楷体" panose="02010609060101010101" pitchFamily="49" charset="-122"/>
                  </a:rPr>
                  <a:t>第三年本利和：</a:t>
                </a:r>
                <a14:m>
                  <m:oMath xmlns:m="http://schemas.openxmlformats.org/officeDocument/2006/math">
                    <m:r>
                      <a:rPr lang="en-US" altLang="zh-CN" sz="1008" i="1" dirty="0">
                        <a:latin typeface="Cambria Math" panose="02040503050406030204" pitchFamily="18" charset="0"/>
                        <a:ea typeface="楷体" panose="02010609060101010101" pitchFamily="49" charset="-122"/>
                      </a:rPr>
                      <m:t>110.25</m:t>
                    </m:r>
                    <m:d>
                      <m:dPr>
                        <m:ctrlPr>
                          <a:rPr lang="en-US" altLang="zh-CN" sz="1008" i="1" dirty="0">
                            <a:latin typeface="Cambria Math" panose="02040503050406030204" pitchFamily="18" charset="0"/>
                            <a:ea typeface="楷体" panose="02010609060101010101" pitchFamily="49" charset="-122"/>
                          </a:rPr>
                        </m:ctrlPr>
                      </m:dPr>
                      <m:e>
                        <m:r>
                          <a:rPr lang="en-US" altLang="zh-CN" sz="1008" i="1" dirty="0">
                            <a:latin typeface="Cambria Math" panose="02040503050406030204" pitchFamily="18" charset="0"/>
                            <a:ea typeface="楷体" panose="02010609060101010101" pitchFamily="49" charset="-122"/>
                          </a:rPr>
                          <m:t>1+5%</m:t>
                        </m:r>
                      </m:e>
                    </m:d>
                    <m:r>
                      <a:rPr lang="en-US" altLang="zh-CN" sz="1008" i="1" dirty="0">
                        <a:latin typeface="Cambria Math" panose="02040503050406030204" pitchFamily="18" charset="0"/>
                        <a:ea typeface="楷体" panose="02010609060101010101" pitchFamily="49" charset="-122"/>
                      </a:rPr>
                      <m:t>=100</m:t>
                    </m:r>
                    <m:sSup>
                      <m:sSupPr>
                        <m:ctrlPr>
                          <a:rPr lang="en-US" altLang="zh-CN" sz="1008" i="1" dirty="0">
                            <a:latin typeface="Cambria Math" panose="02040503050406030204" pitchFamily="18" charset="0"/>
                            <a:ea typeface="楷体" panose="02010609060101010101" pitchFamily="49" charset="-122"/>
                          </a:rPr>
                        </m:ctrlPr>
                      </m:sSupPr>
                      <m:e>
                        <m:d>
                          <m:dPr>
                            <m:begChr m:val="（"/>
                            <m:endChr m:val="）"/>
                            <m:ctrlPr>
                              <a:rPr lang="zh-CN" altLang="en-US" sz="1008" i="1" dirty="0">
                                <a:latin typeface="Cambria Math" panose="02040503050406030204" pitchFamily="18" charset="0"/>
                                <a:ea typeface="楷体" panose="02010609060101010101" pitchFamily="49" charset="-122"/>
                              </a:rPr>
                            </m:ctrlPr>
                          </m:dPr>
                          <m:e>
                            <m:r>
                              <a:rPr lang="en-US" altLang="zh-CN" sz="1008" i="1" dirty="0">
                                <a:latin typeface="Cambria Math" panose="02040503050406030204" pitchFamily="18" charset="0"/>
                                <a:ea typeface="楷体" panose="02010609060101010101" pitchFamily="49" charset="-122"/>
                              </a:rPr>
                              <m:t>1+5%</m:t>
                            </m:r>
                          </m:e>
                        </m:d>
                      </m:e>
                      <m:sup>
                        <m:r>
                          <a:rPr lang="en-US" altLang="zh-CN" sz="1008" i="1" dirty="0">
                            <a:latin typeface="Cambria Math" panose="02040503050406030204" pitchFamily="18" charset="0"/>
                            <a:ea typeface="楷体" panose="02010609060101010101" pitchFamily="49" charset="-122"/>
                          </a:rPr>
                          <m:t>3</m:t>
                        </m:r>
                      </m:sup>
                    </m:sSup>
                    <m:r>
                      <a:rPr lang="en-US" altLang="zh-CN" sz="1008" i="1" dirty="0">
                        <a:latin typeface="Cambria Math" panose="02040503050406030204" pitchFamily="18" charset="0"/>
                        <a:ea typeface="楷体" panose="02010609060101010101" pitchFamily="49" charset="-122"/>
                      </a:rPr>
                      <m:t>=115.76</m:t>
                    </m:r>
                  </m:oMath>
                </a14:m>
                <a:endParaRPr lang="en-US" altLang="zh-CN" sz="1008" dirty="0">
                  <a:latin typeface="楷体" panose="02010609060101010101" pitchFamily="49" charset="-122"/>
                  <a:ea typeface="楷体" panose="02010609060101010101" pitchFamily="49" charset="-122"/>
                </a:endParaRPr>
              </a:p>
              <a:p>
                <a:pPr eaLnBrk="1" hangingPunct="1"/>
                <a:r>
                  <a:rPr lang="zh-CN" altLang="en-US" sz="1008" dirty="0">
                    <a:latin typeface="楷体" panose="02010609060101010101" pitchFamily="49" charset="-122"/>
                    <a:ea typeface="楷体" panose="02010609060101010101" pitchFamily="49" charset="-122"/>
                  </a:rPr>
                  <a:t>以此类推，以</a:t>
                </a:r>
                <a:r>
                  <a:rPr lang="en-US" altLang="zh-CN" sz="1008" dirty="0">
                    <a:latin typeface="楷体" panose="02010609060101010101" pitchFamily="49" charset="-122"/>
                    <a:ea typeface="楷体" panose="02010609060101010101" pitchFamily="49" charset="-122"/>
                  </a:rPr>
                  <a:t>r</a:t>
                </a:r>
                <a:r>
                  <a:rPr lang="zh-CN" altLang="en-US" sz="1008" dirty="0">
                    <a:latin typeface="楷体" panose="02010609060101010101" pitchFamily="49" charset="-122"/>
                    <a:ea typeface="楷体" panose="02010609060101010101" pitchFamily="49" charset="-122"/>
                  </a:rPr>
                  <a:t>表示利率，</a:t>
                </a:r>
                <a14:m>
                  <m:oMath xmlns:m="http://schemas.openxmlformats.org/officeDocument/2006/math">
                    <m:sSub>
                      <m:sSubPr>
                        <m:ctrlPr>
                          <a:rPr lang="en-US" altLang="zh-CN" sz="1008" i="1">
                            <a:latin typeface="Cambria Math" panose="02040503050406030204" pitchFamily="18" charset="0"/>
                            <a:ea typeface="楷体" panose="02010609060101010101" pitchFamily="49" charset="-122"/>
                          </a:rPr>
                        </m:ctrlPr>
                      </m:sSubPr>
                      <m:e>
                        <m:r>
                          <a:rPr lang="en-US" altLang="zh-CN" sz="1008" i="1">
                            <a:latin typeface="Cambria Math" panose="02040503050406030204" pitchFamily="18" charset="0"/>
                            <a:ea typeface="楷体" panose="02010609060101010101" pitchFamily="49" charset="-122"/>
                          </a:rPr>
                          <m:t>𝑅</m:t>
                        </m:r>
                      </m:e>
                      <m:sub>
                        <m:r>
                          <a:rPr lang="en-US" altLang="zh-CN" sz="1008" i="1">
                            <a:latin typeface="Cambria Math" panose="02040503050406030204" pitchFamily="18" charset="0"/>
                            <a:ea typeface="楷体" panose="02010609060101010101" pitchFamily="49" charset="-122"/>
                          </a:rPr>
                          <m:t>0</m:t>
                        </m:r>
                      </m:sub>
                    </m:sSub>
                  </m:oMath>
                </a14:m>
                <a:r>
                  <a:rPr lang="zh-CN" altLang="en-US" sz="1008" dirty="0">
                    <a:latin typeface="楷体" panose="02010609060101010101" pitchFamily="49" charset="-122"/>
                    <a:ea typeface="楷体" panose="02010609060101010101" pitchFamily="49" charset="-122"/>
                  </a:rPr>
                  <a:t>表示本金，</a:t>
                </a:r>
                <a:r>
                  <a:rPr lang="en-US" altLang="zh-CN" sz="1008" dirty="0">
                    <a:ea typeface="楷体" panose="02010609060101010101" pitchFamily="49" charset="-122"/>
                  </a:rPr>
                  <a:t> </a:t>
                </a:r>
                <a14:m>
                  <m:oMath xmlns:m="http://schemas.openxmlformats.org/officeDocument/2006/math">
                    <m:sSub>
                      <m:sSubPr>
                        <m:ctrlPr>
                          <a:rPr lang="en-US" altLang="zh-CN" sz="1008" i="1">
                            <a:latin typeface="Cambria Math" panose="02040503050406030204" pitchFamily="18" charset="0"/>
                            <a:ea typeface="楷体" panose="02010609060101010101" pitchFamily="49" charset="-122"/>
                          </a:rPr>
                        </m:ctrlPr>
                      </m:sSubPr>
                      <m:e>
                        <m:r>
                          <a:rPr lang="en-US" altLang="zh-CN" sz="1008" i="1">
                            <a:latin typeface="Cambria Math" panose="02040503050406030204" pitchFamily="18" charset="0"/>
                            <a:ea typeface="楷体" panose="02010609060101010101" pitchFamily="49" charset="-122"/>
                          </a:rPr>
                          <m:t>𝑅</m:t>
                        </m:r>
                      </m:e>
                      <m:sub>
                        <m:r>
                          <a:rPr lang="en-US" altLang="zh-CN" sz="1008" i="1">
                            <a:latin typeface="Cambria Math" panose="02040503050406030204" pitchFamily="18" charset="0"/>
                            <a:ea typeface="楷体" panose="02010609060101010101" pitchFamily="49" charset="-122"/>
                          </a:rPr>
                          <m:t>1</m:t>
                        </m:r>
                      </m:sub>
                    </m:sSub>
                    <m:r>
                      <a:rPr lang="en-US" altLang="zh-CN" sz="1008">
                        <a:latin typeface="Cambria Math" panose="02040503050406030204" pitchFamily="18" charset="0"/>
                        <a:ea typeface="楷体" panose="02010609060101010101" pitchFamily="49" charset="-122"/>
                      </a:rPr>
                      <m:t>,</m:t>
                    </m:r>
                    <m:sSub>
                      <m:sSubPr>
                        <m:ctrlPr>
                          <a:rPr lang="en-US" altLang="zh-CN" sz="1008" i="1">
                            <a:latin typeface="Cambria Math" panose="02040503050406030204" pitchFamily="18" charset="0"/>
                            <a:ea typeface="楷体" panose="02010609060101010101" pitchFamily="49" charset="-122"/>
                          </a:rPr>
                        </m:ctrlPr>
                      </m:sSubPr>
                      <m:e>
                        <m:r>
                          <a:rPr lang="en-US" altLang="zh-CN" sz="1008" i="1">
                            <a:latin typeface="Cambria Math" panose="02040503050406030204" pitchFamily="18" charset="0"/>
                            <a:ea typeface="楷体" panose="02010609060101010101" pitchFamily="49" charset="-122"/>
                          </a:rPr>
                          <m:t>𝑅</m:t>
                        </m:r>
                      </m:e>
                      <m:sub>
                        <m:r>
                          <a:rPr lang="en-US" altLang="zh-CN" sz="1008" i="1">
                            <a:latin typeface="Cambria Math" panose="02040503050406030204" pitchFamily="18" charset="0"/>
                            <a:ea typeface="楷体" panose="02010609060101010101" pitchFamily="49" charset="-122"/>
                          </a:rPr>
                          <m:t>2</m:t>
                        </m:r>
                      </m:sub>
                    </m:sSub>
                    <m:r>
                      <a:rPr lang="en-US" altLang="zh-CN" sz="1008" i="1">
                        <a:latin typeface="Cambria Math" panose="02040503050406030204" pitchFamily="18" charset="0"/>
                        <a:ea typeface="楷体" panose="02010609060101010101" pitchFamily="49" charset="-122"/>
                      </a:rPr>
                      <m:t>,</m:t>
                    </m:r>
                    <m:sSub>
                      <m:sSubPr>
                        <m:ctrlPr>
                          <a:rPr lang="en-US" altLang="zh-CN" sz="1008" i="1">
                            <a:latin typeface="Cambria Math" panose="02040503050406030204" pitchFamily="18" charset="0"/>
                            <a:ea typeface="楷体" panose="02010609060101010101" pitchFamily="49" charset="-122"/>
                          </a:rPr>
                        </m:ctrlPr>
                      </m:sSubPr>
                      <m:e>
                        <m:r>
                          <a:rPr lang="en-US" altLang="zh-CN" sz="1008" i="1">
                            <a:latin typeface="Cambria Math" panose="02040503050406030204" pitchFamily="18" charset="0"/>
                            <a:ea typeface="楷体" panose="02010609060101010101" pitchFamily="49" charset="-122"/>
                          </a:rPr>
                          <m:t>𝑅</m:t>
                        </m:r>
                      </m:e>
                      <m:sub>
                        <m:r>
                          <a:rPr lang="en-US" altLang="zh-CN" sz="1008" i="1">
                            <a:latin typeface="Cambria Math" panose="02040503050406030204" pitchFamily="18" charset="0"/>
                            <a:ea typeface="楷体" panose="02010609060101010101" pitchFamily="49" charset="-122"/>
                          </a:rPr>
                          <m:t>3</m:t>
                        </m:r>
                      </m:sub>
                    </m:sSub>
                  </m:oMath>
                </a14:m>
                <a:r>
                  <a:rPr lang="zh-CN" altLang="en-US" sz="1008" dirty="0">
                    <a:latin typeface="楷体" panose="02010609060101010101" pitchFamily="49" charset="-122"/>
                    <a:ea typeface="楷体" panose="02010609060101010101" pitchFamily="49" charset="-122"/>
                  </a:rPr>
                  <a:t>分别表示第</a:t>
                </a:r>
                <a:r>
                  <a:rPr lang="en-US" altLang="zh-CN" sz="1008" dirty="0">
                    <a:latin typeface="楷体" panose="02010609060101010101" pitchFamily="49" charset="-122"/>
                    <a:ea typeface="楷体" panose="02010609060101010101" pitchFamily="49" charset="-122"/>
                  </a:rPr>
                  <a:t>1</a:t>
                </a:r>
                <a:r>
                  <a:rPr lang="zh-CN" altLang="en-US" sz="1008" dirty="0">
                    <a:latin typeface="楷体" panose="02010609060101010101" pitchFamily="49" charset="-122"/>
                    <a:ea typeface="楷体" panose="02010609060101010101" pitchFamily="49" charset="-122"/>
                  </a:rPr>
                  <a:t>年、第二年、第三年的本利和，那么：</a:t>
                </a:r>
                <a:endParaRPr lang="en-US" altLang="zh-CN" sz="1008" dirty="0">
                  <a:latin typeface="楷体" panose="02010609060101010101" pitchFamily="49" charset="-122"/>
                  <a:ea typeface="楷体" panose="02010609060101010101" pitchFamily="49" charset="-122"/>
                </a:endParaRPr>
              </a:p>
              <a:p>
                <a:pPr eaLnBrk="1" hangingPunct="1"/>
                <a:r>
                  <a:rPr lang="zh-CN" altLang="en-US" sz="1008" dirty="0">
                    <a:latin typeface="楷体" panose="02010609060101010101" pitchFamily="49" charset="-122"/>
                    <a:ea typeface="楷体" panose="02010609060101010101" pitchFamily="49" charset="-122"/>
                  </a:rPr>
                  <a:t>第</a:t>
                </a:r>
                <a:r>
                  <a:rPr lang="en-US" altLang="zh-CN" sz="1008" dirty="0">
                    <a:latin typeface="楷体" panose="02010609060101010101" pitchFamily="49" charset="-122"/>
                    <a:ea typeface="楷体" panose="02010609060101010101" pitchFamily="49" charset="-122"/>
                  </a:rPr>
                  <a:t>n</a:t>
                </a:r>
                <a:r>
                  <a:rPr lang="zh-CN" altLang="en-US" sz="1008" dirty="0">
                    <a:latin typeface="楷体" panose="02010609060101010101" pitchFamily="49" charset="-122"/>
                    <a:ea typeface="楷体" panose="02010609060101010101" pitchFamily="49" charset="-122"/>
                  </a:rPr>
                  <a:t>年的本利和为：</a:t>
                </a:r>
                <a14:m>
                  <m:oMath xmlns:m="http://schemas.openxmlformats.org/officeDocument/2006/math">
                    <m:sSub>
                      <m:sSubPr>
                        <m:ctrlPr>
                          <a:rPr lang="en-US" altLang="zh-CN" sz="1008" i="1">
                            <a:latin typeface="Cambria Math" panose="02040503050406030204" pitchFamily="18" charset="0"/>
                            <a:ea typeface="楷体" panose="02010609060101010101" pitchFamily="49" charset="-122"/>
                          </a:rPr>
                        </m:ctrlPr>
                      </m:sSubPr>
                      <m:e>
                        <m:r>
                          <a:rPr lang="en-US" altLang="zh-CN" sz="1008" i="1">
                            <a:latin typeface="Cambria Math" panose="02040503050406030204" pitchFamily="18" charset="0"/>
                            <a:ea typeface="楷体" panose="02010609060101010101" pitchFamily="49" charset="-122"/>
                          </a:rPr>
                          <m:t>𝑅</m:t>
                        </m:r>
                      </m:e>
                      <m:sub>
                        <m:r>
                          <a:rPr lang="en-US" altLang="zh-CN" sz="1008" i="1">
                            <a:latin typeface="Cambria Math" panose="02040503050406030204" pitchFamily="18" charset="0"/>
                            <a:ea typeface="楷体" panose="02010609060101010101" pitchFamily="49" charset="-122"/>
                          </a:rPr>
                          <m:t>𝑛</m:t>
                        </m:r>
                      </m:sub>
                    </m:sSub>
                    <m:r>
                      <a:rPr lang="en-US" altLang="zh-CN" sz="1008" i="1">
                        <a:latin typeface="Cambria Math" panose="02040503050406030204" pitchFamily="18" charset="0"/>
                        <a:ea typeface="楷体" panose="02010609060101010101" pitchFamily="49" charset="-122"/>
                      </a:rPr>
                      <m:t>=</m:t>
                    </m:r>
                    <m:sSub>
                      <m:sSubPr>
                        <m:ctrlPr>
                          <a:rPr lang="en-US" altLang="zh-CN" sz="1008" i="1">
                            <a:latin typeface="Cambria Math" panose="02040503050406030204" pitchFamily="18" charset="0"/>
                            <a:ea typeface="楷体" panose="02010609060101010101" pitchFamily="49" charset="-122"/>
                          </a:rPr>
                        </m:ctrlPr>
                      </m:sSubPr>
                      <m:e>
                        <m:r>
                          <a:rPr lang="en-US" altLang="zh-CN" sz="1008" i="1">
                            <a:latin typeface="Cambria Math" panose="02040503050406030204" pitchFamily="18" charset="0"/>
                            <a:ea typeface="楷体" panose="02010609060101010101" pitchFamily="49" charset="-122"/>
                          </a:rPr>
                          <m:t>𝑅</m:t>
                        </m:r>
                      </m:e>
                      <m:sub>
                        <m:r>
                          <a:rPr lang="en-US" altLang="zh-CN" sz="1008" i="1">
                            <a:latin typeface="Cambria Math" panose="02040503050406030204" pitchFamily="18" charset="0"/>
                            <a:ea typeface="楷体" panose="02010609060101010101" pitchFamily="49" charset="-122"/>
                          </a:rPr>
                          <m:t>0</m:t>
                        </m:r>
                      </m:sub>
                    </m:sSub>
                    <m:sSup>
                      <m:sSupPr>
                        <m:ctrlPr>
                          <a:rPr lang="en-US" altLang="zh-CN" sz="1008" i="1">
                            <a:latin typeface="Cambria Math" panose="02040503050406030204" pitchFamily="18" charset="0"/>
                            <a:ea typeface="楷体" panose="02010609060101010101" pitchFamily="49" charset="-122"/>
                          </a:rPr>
                        </m:ctrlPr>
                      </m:sSupPr>
                      <m:e>
                        <m:d>
                          <m:dPr>
                            <m:ctrlPr>
                              <a:rPr lang="en-US" altLang="zh-CN" sz="1008" i="1">
                                <a:latin typeface="Cambria Math" panose="02040503050406030204" pitchFamily="18" charset="0"/>
                                <a:ea typeface="楷体" panose="02010609060101010101" pitchFamily="49" charset="-122"/>
                              </a:rPr>
                            </m:ctrlPr>
                          </m:dPr>
                          <m:e>
                            <m:r>
                              <a:rPr lang="en-US" altLang="zh-CN" sz="1008" i="1">
                                <a:latin typeface="Cambria Math" panose="02040503050406030204" pitchFamily="18" charset="0"/>
                                <a:ea typeface="楷体" panose="02010609060101010101" pitchFamily="49" charset="-122"/>
                              </a:rPr>
                              <m:t>1+</m:t>
                            </m:r>
                            <m:r>
                              <a:rPr lang="en-US" altLang="zh-CN" sz="1008" i="1">
                                <a:latin typeface="Cambria Math" panose="02040503050406030204" pitchFamily="18" charset="0"/>
                                <a:ea typeface="楷体" panose="02010609060101010101" pitchFamily="49" charset="-122"/>
                              </a:rPr>
                              <m:t>𝑟</m:t>
                            </m:r>
                          </m:e>
                        </m:d>
                      </m:e>
                      <m:sup>
                        <m:r>
                          <a:rPr lang="en-US" altLang="zh-CN" sz="1008" i="1">
                            <a:latin typeface="Cambria Math" panose="02040503050406030204" pitchFamily="18" charset="0"/>
                            <a:ea typeface="楷体" panose="02010609060101010101" pitchFamily="49" charset="-122"/>
                          </a:rPr>
                          <m:t>𝑛</m:t>
                        </m:r>
                      </m:sup>
                    </m:sSup>
                  </m:oMath>
                </a14:m>
                <a:endParaRPr lang="en-US" altLang="zh-CN" sz="1008" dirty="0">
                  <a:latin typeface="楷体" panose="02010609060101010101" pitchFamily="49" charset="-122"/>
                  <a:ea typeface="楷体" panose="02010609060101010101" pitchFamily="49" charset="-122"/>
                </a:endParaRPr>
              </a:p>
              <a:p>
                <a:pPr eaLnBrk="1" hangingPunct="1"/>
                <a:endParaRPr lang="en-US" altLang="zh-CN" sz="1008" dirty="0">
                  <a:latin typeface="楷体" panose="02010609060101010101" pitchFamily="49" charset="-122"/>
                  <a:ea typeface="楷体" panose="02010609060101010101" pitchFamily="49" charset="-122"/>
                </a:endParaRPr>
              </a:p>
            </p:txBody>
          </p:sp>
        </mc:Choice>
        <mc:Fallback xmlns="">
          <p:sp>
            <p:nvSpPr>
              <p:cNvPr id="9219" name="Rectangle 3"/>
              <p:cNvSpPr>
                <a:spLocks noGrp="1" noRot="1" noChangeAspect="1" noMove="1" noResize="1" noEditPoints="1" noAdjustHandles="1" noChangeArrowheads="1" noChangeShapeType="1" noTextEdit="1"/>
              </p:cNvSpPr>
              <p:nvPr>
                <p:ph type="body" idx="1"/>
              </p:nvPr>
            </p:nvSpPr>
            <p:spPr>
              <a:blipFill>
                <a:blip r:embed="rId2"/>
                <a:stretch>
                  <a:fillRect l="-696" t="-1401" r="-61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 name="灯片编号占位符 2">
            <a:extLst>
              <a:ext uri="{FF2B5EF4-FFF2-40B4-BE49-F238E27FC236}">
                <a16:creationId xmlns:a16="http://schemas.microsoft.com/office/drawing/2014/main" id="{9748D65C-7E9D-AF03-C055-646851633881}"/>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64</a:t>
            </a:fld>
            <a:endParaRPr lang="zh-CN" altLang="zh-CN" sz="856">
              <a:solidFill>
                <a:srgbClr val="777777"/>
              </a:solidFill>
              <a:ea typeface="宋体" panose="02010600030101010101" pitchFamily="2" charset="-122"/>
            </a:endParaRPr>
          </a:p>
        </p:txBody>
      </p:sp>
      <p:sp>
        <p:nvSpPr>
          <p:cNvPr id="5" name="标题 4">
            <a:extLst>
              <a:ext uri="{FF2B5EF4-FFF2-40B4-BE49-F238E27FC236}">
                <a16:creationId xmlns:a16="http://schemas.microsoft.com/office/drawing/2014/main" id="{308B85F2-EFFC-3049-B818-5B4ACFD677C2}"/>
              </a:ext>
            </a:extLst>
          </p:cNvPr>
          <p:cNvSpPr>
            <a:spLocks noGrp="1"/>
          </p:cNvSpPr>
          <p:nvPr>
            <p:ph type="title"/>
          </p:nvPr>
        </p:nvSpPr>
        <p:spPr/>
        <p:txBody>
          <a:bodyPr/>
          <a:lstStyle/>
          <a:p>
            <a:r>
              <a:rPr kumimoji="1" lang="zh-CN" altLang="en-US" dirty="0"/>
              <a:t>资本的边际效率</a:t>
            </a:r>
          </a:p>
        </p:txBody>
      </p:sp>
      <p:sp>
        <p:nvSpPr>
          <p:cNvPr id="3" name="页脚占位符 1">
            <a:extLst>
              <a:ext uri="{FF2B5EF4-FFF2-40B4-BE49-F238E27FC236}">
                <a16:creationId xmlns:a16="http://schemas.microsoft.com/office/drawing/2014/main" id="{659E0016-0321-3B82-B0BA-CDF0A8B88AAC}"/>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3</a:t>
            </a:r>
            <a:r>
              <a:rPr lang="zh-CN" altLang="en-US" sz="907" i="1" dirty="0">
                <a:solidFill>
                  <a:srgbClr val="777777"/>
                </a:solidFill>
                <a:ea typeface="宋体" panose="02010600030101010101" pitchFamily="2" charset="-122"/>
              </a:rPr>
              <a:t>节 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429481237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1210" dirty="0">
                    <a:latin typeface="Garamond" panose="02020404030301010803" pitchFamily="18" charset="0"/>
                    <a:ea typeface="SimSun" panose="02010600030101010101" pitchFamily="2" charset="-122"/>
                  </a:rPr>
                  <a:t>反过来看，若已知利率和本利和，利用同时求本金。</a:t>
                </a:r>
                <a:endParaRPr lang="en-US" altLang="zh-CN" sz="1210" dirty="0">
                  <a:latin typeface="Garamond" panose="02020404030301010803" pitchFamily="18" charset="0"/>
                  <a:ea typeface="SimSun" panose="02010600030101010101" pitchFamily="2" charset="-122"/>
                </a:endParaRPr>
              </a:p>
              <a:p>
                <a:r>
                  <a:rPr lang="zh-CN" altLang="en-US" sz="1210" dirty="0">
                    <a:latin typeface="Garamond" panose="02020404030301010803" pitchFamily="18" charset="0"/>
                    <a:ea typeface="SimSun" panose="02010600030101010101" pitchFamily="2" charset="-122"/>
                  </a:rPr>
                  <a:t>由</a:t>
                </a:r>
                <a14:m>
                  <m:oMath xmlns:m="http://schemas.openxmlformats.org/officeDocument/2006/math">
                    <m:sSub>
                      <m:sSubPr>
                        <m:ctrlPr>
                          <a:rPr lang="en-US" altLang="zh-CN" sz="1210" i="1">
                            <a:latin typeface="Cambria Math" panose="02040503050406030204" pitchFamily="18" charset="0"/>
                            <a:ea typeface="楷体" panose="02010609060101010101" pitchFamily="49" charset="-122"/>
                          </a:rPr>
                        </m:ctrlPr>
                      </m:sSubPr>
                      <m:e>
                        <m:r>
                          <a:rPr lang="en-US" altLang="zh-CN" sz="1210" i="1">
                            <a:latin typeface="Cambria Math" panose="02040503050406030204" pitchFamily="18" charset="0"/>
                            <a:ea typeface="楷体" panose="02010609060101010101" pitchFamily="49" charset="-122"/>
                          </a:rPr>
                          <m:t>𝑅</m:t>
                        </m:r>
                      </m:e>
                      <m:sub>
                        <m:r>
                          <a:rPr lang="en-US" altLang="zh-CN" sz="1210" i="1">
                            <a:latin typeface="Cambria Math" panose="02040503050406030204" pitchFamily="18" charset="0"/>
                            <a:ea typeface="楷体" panose="02010609060101010101" pitchFamily="49" charset="-122"/>
                          </a:rPr>
                          <m:t>𝑛</m:t>
                        </m:r>
                      </m:sub>
                    </m:sSub>
                    <m:r>
                      <a:rPr lang="en-US" altLang="zh-CN" sz="1210" i="1">
                        <a:latin typeface="Cambria Math" panose="02040503050406030204" pitchFamily="18" charset="0"/>
                        <a:ea typeface="楷体" panose="02010609060101010101" pitchFamily="49" charset="-122"/>
                      </a:rPr>
                      <m:t>=</m:t>
                    </m:r>
                    <m:sSub>
                      <m:sSubPr>
                        <m:ctrlPr>
                          <a:rPr lang="en-US" altLang="zh-CN" sz="1210" i="1">
                            <a:latin typeface="Cambria Math" panose="02040503050406030204" pitchFamily="18" charset="0"/>
                            <a:ea typeface="楷体" panose="02010609060101010101" pitchFamily="49" charset="-122"/>
                          </a:rPr>
                        </m:ctrlPr>
                      </m:sSubPr>
                      <m:e>
                        <m:r>
                          <a:rPr lang="en-US" altLang="zh-CN" sz="1210" i="1">
                            <a:latin typeface="Cambria Math" panose="02040503050406030204" pitchFamily="18" charset="0"/>
                            <a:ea typeface="楷体" panose="02010609060101010101" pitchFamily="49" charset="-122"/>
                          </a:rPr>
                          <m:t>𝑅</m:t>
                        </m:r>
                      </m:e>
                      <m:sub>
                        <m:r>
                          <a:rPr lang="en-US" altLang="zh-CN" sz="1210" i="1">
                            <a:latin typeface="Cambria Math" panose="02040503050406030204" pitchFamily="18" charset="0"/>
                            <a:ea typeface="楷体" panose="02010609060101010101" pitchFamily="49" charset="-122"/>
                          </a:rPr>
                          <m:t>0</m:t>
                        </m:r>
                      </m:sub>
                    </m:sSub>
                    <m:sSup>
                      <m:sSupPr>
                        <m:ctrlPr>
                          <a:rPr lang="en-US" altLang="zh-CN" sz="1210" i="1">
                            <a:latin typeface="Cambria Math" panose="02040503050406030204" pitchFamily="18" charset="0"/>
                            <a:ea typeface="楷体" panose="02010609060101010101" pitchFamily="49" charset="-122"/>
                          </a:rPr>
                        </m:ctrlPr>
                      </m:sSupPr>
                      <m:e>
                        <m:d>
                          <m:dPr>
                            <m:ctrlPr>
                              <a:rPr lang="en-US" altLang="zh-CN" sz="1210" i="1">
                                <a:latin typeface="Cambria Math" panose="02040503050406030204" pitchFamily="18" charset="0"/>
                                <a:ea typeface="楷体" panose="02010609060101010101" pitchFamily="49" charset="-122"/>
                              </a:rPr>
                            </m:ctrlPr>
                          </m:dPr>
                          <m:e>
                            <m:r>
                              <a:rPr lang="en-US" altLang="zh-CN" sz="1210" i="1">
                                <a:latin typeface="Cambria Math" panose="02040503050406030204" pitchFamily="18" charset="0"/>
                                <a:ea typeface="楷体" panose="02010609060101010101" pitchFamily="49" charset="-122"/>
                              </a:rPr>
                              <m:t>1+</m:t>
                            </m:r>
                            <m:r>
                              <a:rPr lang="en-US" altLang="zh-CN" sz="1210" i="1">
                                <a:latin typeface="Cambria Math" panose="02040503050406030204" pitchFamily="18" charset="0"/>
                                <a:ea typeface="楷体" panose="02010609060101010101" pitchFamily="49" charset="-122"/>
                              </a:rPr>
                              <m:t>𝑟</m:t>
                            </m:r>
                          </m:e>
                        </m:d>
                      </m:e>
                      <m:sup>
                        <m:r>
                          <a:rPr lang="en-US" altLang="zh-CN" sz="1210" i="1">
                            <a:latin typeface="Cambria Math" panose="02040503050406030204" pitchFamily="18" charset="0"/>
                            <a:ea typeface="楷体" panose="02010609060101010101" pitchFamily="49" charset="-122"/>
                          </a:rPr>
                          <m:t>𝑛</m:t>
                        </m:r>
                      </m:sup>
                    </m:sSup>
                  </m:oMath>
                </a14:m>
                <a:r>
                  <a:rPr lang="zh-CN" altLang="en-US" sz="1210" dirty="0">
                    <a:latin typeface="Garamond" panose="02020404030301010803" pitchFamily="18" charset="0"/>
                    <a:ea typeface="SimSun" panose="02010600030101010101" pitchFamily="2" charset="-122"/>
                  </a:rPr>
                  <a:t>得：</a:t>
                </a:r>
                <a:r>
                  <a:rPr lang="en-US" altLang="zh-CN" sz="1210" dirty="0">
                    <a:latin typeface="Garamond" panose="02020404030301010803" pitchFamily="18" charset="0"/>
                    <a:ea typeface="SimSun" panose="02010600030101010101" pitchFamily="2" charset="-122"/>
                  </a:rPr>
                  <a:t> </a:t>
                </a:r>
                <a14:m>
                  <m:oMath xmlns:m="http://schemas.openxmlformats.org/officeDocument/2006/math">
                    <m:sSub>
                      <m:sSubPr>
                        <m:ctrlPr>
                          <a:rPr lang="en-US" altLang="zh-CN" sz="1210" i="1">
                            <a:latin typeface="Cambria Math" panose="02040503050406030204" pitchFamily="18" charset="0"/>
                            <a:ea typeface="楷体" panose="02010609060101010101" pitchFamily="49" charset="-122"/>
                          </a:rPr>
                        </m:ctrlPr>
                      </m:sSubPr>
                      <m:e>
                        <m:r>
                          <a:rPr lang="en-US" altLang="zh-CN" sz="1210" i="1">
                            <a:latin typeface="Cambria Math" panose="02040503050406030204" pitchFamily="18" charset="0"/>
                            <a:ea typeface="楷体" panose="02010609060101010101" pitchFamily="49" charset="-122"/>
                          </a:rPr>
                          <m:t>𝑅</m:t>
                        </m:r>
                      </m:e>
                      <m:sub>
                        <m:r>
                          <a:rPr lang="en-US" altLang="zh-CN" sz="1210" i="1">
                            <a:latin typeface="Cambria Math" panose="02040503050406030204" pitchFamily="18" charset="0"/>
                            <a:ea typeface="楷体" panose="02010609060101010101" pitchFamily="49" charset="-122"/>
                          </a:rPr>
                          <m:t>0</m:t>
                        </m:r>
                      </m:sub>
                    </m:sSub>
                    <m:r>
                      <a:rPr lang="en-US" altLang="zh-CN" sz="1210" i="1">
                        <a:latin typeface="Cambria Math" panose="02040503050406030204" pitchFamily="18" charset="0"/>
                        <a:ea typeface="楷体" panose="02010609060101010101" pitchFamily="49" charset="-122"/>
                      </a:rPr>
                      <m:t>=</m:t>
                    </m:r>
                    <m:f>
                      <m:fPr>
                        <m:ctrlPr>
                          <a:rPr lang="en-US" altLang="zh-CN" sz="1210" i="1">
                            <a:latin typeface="Cambria Math" panose="02040503050406030204" pitchFamily="18" charset="0"/>
                            <a:ea typeface="楷体" panose="02010609060101010101" pitchFamily="49" charset="-122"/>
                          </a:rPr>
                        </m:ctrlPr>
                      </m:fPr>
                      <m:num>
                        <m:sSub>
                          <m:sSubPr>
                            <m:ctrlPr>
                              <a:rPr lang="en-US" altLang="zh-CN" sz="1210" i="1">
                                <a:latin typeface="Cambria Math" panose="02040503050406030204" pitchFamily="18" charset="0"/>
                                <a:ea typeface="楷体" panose="02010609060101010101" pitchFamily="49" charset="-122"/>
                              </a:rPr>
                            </m:ctrlPr>
                          </m:sSubPr>
                          <m:e>
                            <m:r>
                              <a:rPr lang="en-US" altLang="zh-CN" sz="1210" i="1">
                                <a:latin typeface="Cambria Math" panose="02040503050406030204" pitchFamily="18" charset="0"/>
                                <a:ea typeface="楷体" panose="02010609060101010101" pitchFamily="49" charset="-122"/>
                              </a:rPr>
                              <m:t>𝑅</m:t>
                            </m:r>
                          </m:e>
                          <m:sub>
                            <m:r>
                              <a:rPr lang="en-US" altLang="zh-CN" sz="1210" i="1">
                                <a:latin typeface="Cambria Math" panose="02040503050406030204" pitchFamily="18" charset="0"/>
                                <a:ea typeface="楷体" panose="02010609060101010101" pitchFamily="49" charset="-122"/>
                              </a:rPr>
                              <m:t>𝑛</m:t>
                            </m:r>
                          </m:sub>
                        </m:sSub>
                      </m:num>
                      <m:den>
                        <m:sSup>
                          <m:sSupPr>
                            <m:ctrlPr>
                              <a:rPr lang="en-US" altLang="zh-CN" sz="1210" i="1">
                                <a:latin typeface="Cambria Math" panose="02040503050406030204" pitchFamily="18" charset="0"/>
                                <a:ea typeface="楷体" panose="02010609060101010101" pitchFamily="49" charset="-122"/>
                              </a:rPr>
                            </m:ctrlPr>
                          </m:sSupPr>
                          <m:e>
                            <m:d>
                              <m:dPr>
                                <m:ctrlPr>
                                  <a:rPr lang="en-US" altLang="zh-CN" sz="1210" i="1">
                                    <a:latin typeface="Cambria Math" panose="02040503050406030204" pitchFamily="18" charset="0"/>
                                    <a:ea typeface="楷体" panose="02010609060101010101" pitchFamily="49" charset="-122"/>
                                  </a:rPr>
                                </m:ctrlPr>
                              </m:dPr>
                              <m:e>
                                <m:r>
                                  <a:rPr lang="en-US" altLang="zh-CN" sz="1210" i="1">
                                    <a:latin typeface="Cambria Math" panose="02040503050406030204" pitchFamily="18" charset="0"/>
                                    <a:ea typeface="楷体" panose="02010609060101010101" pitchFamily="49" charset="-122"/>
                                  </a:rPr>
                                  <m:t>1+</m:t>
                                </m:r>
                                <m:r>
                                  <a:rPr lang="en-US" altLang="zh-CN" sz="1210" i="1">
                                    <a:latin typeface="Cambria Math" panose="02040503050406030204" pitchFamily="18" charset="0"/>
                                    <a:ea typeface="楷体" panose="02010609060101010101" pitchFamily="49" charset="-122"/>
                                  </a:rPr>
                                  <m:t>𝑟</m:t>
                                </m:r>
                              </m:e>
                            </m:d>
                          </m:e>
                          <m:sup>
                            <m:r>
                              <a:rPr lang="en-US" altLang="zh-CN" sz="1210" i="1">
                                <a:latin typeface="Cambria Math" panose="02040503050406030204" pitchFamily="18" charset="0"/>
                                <a:ea typeface="楷体" panose="02010609060101010101" pitchFamily="49" charset="-122"/>
                              </a:rPr>
                              <m:t>𝑛</m:t>
                            </m:r>
                          </m:sup>
                        </m:sSup>
                      </m:den>
                    </m:f>
                  </m:oMath>
                </a14:m>
                <a:endParaRPr lang="en-US" altLang="zh-CN" sz="1210" dirty="0">
                  <a:latin typeface="Garamond" panose="02020404030301010803" pitchFamily="18" charset="0"/>
                  <a:ea typeface="SimSun" panose="02010600030101010101" pitchFamily="2" charset="-122"/>
                </a:endParaRPr>
              </a:p>
              <a:p>
                <a:r>
                  <a:rPr lang="zh-CN" altLang="en-US" sz="1210" dirty="0">
                    <a:latin typeface="Garamond" panose="02020404030301010803" pitchFamily="18" charset="0"/>
                    <a:ea typeface="SimSun" panose="02010600030101010101" pitchFamily="2" charset="-122"/>
                  </a:rPr>
                  <a:t>假定利率为</a:t>
                </a:r>
                <a:r>
                  <a:rPr lang="en-US" altLang="zh-CN" sz="1210" dirty="0">
                    <a:latin typeface="Garamond" panose="02020404030301010803" pitchFamily="18" charset="0"/>
                    <a:ea typeface="SimSun" panose="02010600030101010101" pitchFamily="2" charset="-122"/>
                  </a:rPr>
                  <a:t>5%</a:t>
                </a:r>
                <a:r>
                  <a:rPr lang="zh-CN" altLang="en-US" sz="1210" dirty="0">
                    <a:latin typeface="Garamond" panose="02020404030301010803" pitchFamily="18" charset="0"/>
                    <a:ea typeface="SimSun" panose="02010600030101010101" pitchFamily="2" charset="-122"/>
                  </a:rPr>
                  <a:t>，第一年后的本利和是</a:t>
                </a:r>
                <a:r>
                  <a:rPr lang="en-US" altLang="zh-CN" sz="1210" dirty="0">
                    <a:latin typeface="Garamond" panose="02020404030301010803" pitchFamily="18" charset="0"/>
                    <a:ea typeface="SimSun" panose="02010600030101010101" pitchFamily="2" charset="-122"/>
                  </a:rPr>
                  <a:t>105</a:t>
                </a:r>
                <a:r>
                  <a:rPr lang="zh-CN" altLang="en-US" sz="1210" dirty="0">
                    <a:latin typeface="Garamond" panose="02020404030301010803" pitchFamily="18" charset="0"/>
                    <a:ea typeface="SimSun" panose="02010600030101010101" pitchFamily="2" charset="-122"/>
                  </a:rPr>
                  <a:t>美元，则本金</a:t>
                </a:r>
                <a14:m>
                  <m:oMath xmlns:m="http://schemas.openxmlformats.org/officeDocument/2006/math">
                    <m:sSub>
                      <m:sSubPr>
                        <m:ctrlPr>
                          <a:rPr lang="en-US" altLang="zh-CN" sz="1210" i="1">
                            <a:latin typeface="Cambria Math" panose="02040503050406030204" pitchFamily="18" charset="0"/>
                            <a:ea typeface="楷体" panose="02010609060101010101" pitchFamily="49" charset="-122"/>
                          </a:rPr>
                        </m:ctrlPr>
                      </m:sSubPr>
                      <m:e>
                        <m:r>
                          <a:rPr lang="en-US" altLang="zh-CN" sz="1210" i="1">
                            <a:latin typeface="Cambria Math" panose="02040503050406030204" pitchFamily="18" charset="0"/>
                            <a:ea typeface="楷体" panose="02010609060101010101" pitchFamily="49" charset="-122"/>
                          </a:rPr>
                          <m:t>𝑅</m:t>
                        </m:r>
                      </m:e>
                      <m:sub>
                        <m:r>
                          <a:rPr lang="en-US" altLang="zh-CN" sz="1210" i="1">
                            <a:latin typeface="Cambria Math" panose="02040503050406030204" pitchFamily="18" charset="0"/>
                            <a:ea typeface="楷体" panose="02010609060101010101" pitchFamily="49" charset="-122"/>
                          </a:rPr>
                          <m:t>0</m:t>
                        </m:r>
                      </m:sub>
                    </m:sSub>
                    <m:r>
                      <a:rPr lang="en-US" altLang="zh-CN" sz="1210" i="1">
                        <a:latin typeface="Cambria Math" panose="02040503050406030204" pitchFamily="18" charset="0"/>
                        <a:ea typeface="楷体" panose="02010609060101010101" pitchFamily="49" charset="-122"/>
                      </a:rPr>
                      <m:t>=</m:t>
                    </m:r>
                    <m:f>
                      <m:fPr>
                        <m:ctrlPr>
                          <a:rPr lang="en-US" altLang="zh-CN" sz="1210" i="1">
                            <a:latin typeface="Cambria Math" panose="02040503050406030204" pitchFamily="18" charset="0"/>
                            <a:ea typeface="楷体" panose="02010609060101010101" pitchFamily="49" charset="-122"/>
                          </a:rPr>
                        </m:ctrlPr>
                      </m:fPr>
                      <m:num>
                        <m:r>
                          <a:rPr lang="en-US" altLang="zh-CN" sz="1210" i="1">
                            <a:latin typeface="Cambria Math" panose="02040503050406030204" pitchFamily="18" charset="0"/>
                            <a:ea typeface="楷体" panose="02010609060101010101" pitchFamily="49" charset="-122"/>
                          </a:rPr>
                          <m:t>105</m:t>
                        </m:r>
                      </m:num>
                      <m:den>
                        <m:r>
                          <a:rPr lang="en-US" altLang="zh-CN" sz="1210" i="1">
                            <a:latin typeface="Cambria Math" panose="02040503050406030204" pitchFamily="18" charset="0"/>
                            <a:ea typeface="楷体" panose="02010609060101010101" pitchFamily="49" charset="-122"/>
                          </a:rPr>
                          <m:t>1+5%</m:t>
                        </m:r>
                      </m:den>
                    </m:f>
                    <m:r>
                      <a:rPr lang="en-US" altLang="zh-CN" sz="1210" i="1">
                        <a:latin typeface="Cambria Math" panose="02040503050406030204" pitchFamily="18" charset="0"/>
                        <a:ea typeface="楷体" panose="02010609060101010101" pitchFamily="49" charset="-122"/>
                      </a:rPr>
                      <m:t>=</m:t>
                    </m:r>
                  </m:oMath>
                </a14:m>
                <a:r>
                  <a:rPr lang="en-US" altLang="zh-CN" sz="1210" dirty="0">
                    <a:latin typeface="Garamond" panose="02020404030301010803" pitchFamily="18" charset="0"/>
                    <a:ea typeface="SimSun" panose="02010600030101010101" pitchFamily="2" charset="-122"/>
                  </a:rPr>
                  <a:t>100</a:t>
                </a:r>
              </a:p>
              <a:p>
                <a:r>
                  <a:rPr lang="zh-CN" altLang="en-US" sz="1210" dirty="0">
                    <a:latin typeface="Garamond" panose="02020404030301010803" pitchFamily="18" charset="0"/>
                    <a:ea typeface="SimSun" panose="02010600030101010101" pitchFamily="2" charset="-122"/>
                  </a:rPr>
                  <a:t>也就是说，在利率是</a:t>
                </a:r>
                <a:r>
                  <a:rPr lang="en-US" altLang="zh-CN" sz="1210" dirty="0">
                    <a:latin typeface="Garamond" panose="02020404030301010803" pitchFamily="18" charset="0"/>
                    <a:ea typeface="SimSun" panose="02010600030101010101" pitchFamily="2" charset="-122"/>
                  </a:rPr>
                  <a:t>5%</a:t>
                </a:r>
                <a:r>
                  <a:rPr lang="zh-CN" altLang="en-US" sz="1210" dirty="0">
                    <a:latin typeface="Garamond" panose="02020404030301010803" pitchFamily="18" charset="0"/>
                    <a:ea typeface="SimSun" panose="02010600030101010101" pitchFamily="2" charset="-122"/>
                  </a:rPr>
                  <a:t>时，</a:t>
                </a:r>
                <a:r>
                  <a:rPr lang="en-US" altLang="zh-CN" sz="1210" dirty="0">
                    <a:latin typeface="Garamond" panose="02020404030301010803" pitchFamily="18" charset="0"/>
                    <a:ea typeface="SimSun" panose="02010600030101010101" pitchFamily="2" charset="-122"/>
                  </a:rPr>
                  <a:t>1</a:t>
                </a:r>
                <a:r>
                  <a:rPr lang="zh-CN" altLang="en-US" sz="1210" dirty="0">
                    <a:latin typeface="Garamond" panose="02020404030301010803" pitchFamily="18" charset="0"/>
                    <a:ea typeface="SimSun" panose="02010600030101010101" pitchFamily="2" charset="-122"/>
                  </a:rPr>
                  <a:t>年后</a:t>
                </a:r>
                <a:r>
                  <a:rPr lang="en-US" altLang="zh-CN" sz="1210" dirty="0">
                    <a:latin typeface="Garamond" panose="02020404030301010803" pitchFamily="18" charset="0"/>
                    <a:ea typeface="SimSun" panose="02010600030101010101" pitchFamily="2" charset="-122"/>
                  </a:rPr>
                  <a:t>105</a:t>
                </a:r>
                <a:r>
                  <a:rPr lang="zh-CN" altLang="en-US" sz="1210" dirty="0">
                    <a:latin typeface="Garamond" panose="02020404030301010803" pitchFamily="18" charset="0"/>
                    <a:ea typeface="SimSun" panose="02010600030101010101" pitchFamily="2" charset="-122"/>
                  </a:rPr>
                  <a:t>美元的现值是</a:t>
                </a:r>
                <a:r>
                  <a:rPr lang="en-US" altLang="zh-CN" sz="1210" dirty="0">
                    <a:latin typeface="Garamond" panose="02020404030301010803" pitchFamily="18" charset="0"/>
                    <a:ea typeface="SimSun" panose="02010600030101010101" pitchFamily="2" charset="-122"/>
                  </a:rPr>
                  <a:t>100</a:t>
                </a:r>
                <a:r>
                  <a:rPr lang="zh-CN" altLang="en-US" sz="1210" dirty="0">
                    <a:latin typeface="Garamond" panose="02020404030301010803" pitchFamily="18" charset="0"/>
                    <a:ea typeface="SimSun" panose="02010600030101010101" pitchFamily="2" charset="-122"/>
                  </a:rPr>
                  <a:t>美元。同样的利率下，</a:t>
                </a:r>
                <a:r>
                  <a:rPr lang="en-US" altLang="zh-CN" sz="1210" dirty="0">
                    <a:latin typeface="Garamond" panose="02020404030301010803" pitchFamily="18" charset="0"/>
                    <a:ea typeface="SimSun" panose="02010600030101010101" pitchFamily="2" charset="-122"/>
                  </a:rPr>
                  <a:t>2</a:t>
                </a:r>
                <a:r>
                  <a:rPr lang="zh-CN" altLang="en-US" sz="1210" dirty="0">
                    <a:latin typeface="Garamond" panose="02020404030301010803" pitchFamily="18" charset="0"/>
                    <a:ea typeface="SimSun" panose="02010600030101010101" pitchFamily="2" charset="-122"/>
                  </a:rPr>
                  <a:t>年后的</a:t>
                </a:r>
                <a:r>
                  <a:rPr lang="en-US" altLang="zh-CN" sz="1210" dirty="0">
                    <a:latin typeface="Garamond" panose="02020404030301010803" pitchFamily="18" charset="0"/>
                    <a:ea typeface="SimSun" panose="02010600030101010101" pitchFamily="2" charset="-122"/>
                  </a:rPr>
                  <a:t>110.25</a:t>
                </a:r>
                <a:r>
                  <a:rPr lang="zh-CN" altLang="en-US" sz="1210" dirty="0">
                    <a:latin typeface="Garamond" panose="02020404030301010803" pitchFamily="18" charset="0"/>
                    <a:ea typeface="SimSun" panose="02010600030101010101" pitchFamily="2" charset="-122"/>
                  </a:rPr>
                  <a:t>美元以及</a:t>
                </a:r>
                <a:r>
                  <a:rPr lang="en-US" altLang="zh-CN" sz="1210" dirty="0">
                    <a:latin typeface="Garamond" panose="02020404030301010803" pitchFamily="18" charset="0"/>
                    <a:ea typeface="SimSun" panose="02010600030101010101" pitchFamily="2" charset="-122"/>
                  </a:rPr>
                  <a:t>3</a:t>
                </a:r>
                <a:r>
                  <a:rPr lang="zh-CN" altLang="en-US" sz="1210" dirty="0">
                    <a:latin typeface="Garamond" panose="02020404030301010803" pitchFamily="18" charset="0"/>
                    <a:ea typeface="SimSun" panose="02010600030101010101" pitchFamily="2" charset="-122"/>
                  </a:rPr>
                  <a:t>年后的</a:t>
                </a:r>
                <a:r>
                  <a:rPr lang="en-US" altLang="zh-CN" sz="1210" dirty="0">
                    <a:latin typeface="Garamond" panose="02020404030301010803" pitchFamily="18" charset="0"/>
                    <a:ea typeface="SimSun" panose="02010600030101010101" pitchFamily="2" charset="-122"/>
                  </a:rPr>
                  <a:t>115.76</a:t>
                </a:r>
                <a:r>
                  <a:rPr lang="zh-CN" altLang="en-US" sz="1210" dirty="0">
                    <a:latin typeface="Garamond" panose="02020404030301010803" pitchFamily="18" charset="0"/>
                    <a:ea typeface="SimSun" panose="02010600030101010101" pitchFamily="2" charset="-122"/>
                  </a:rPr>
                  <a:t>美元的现值都是</a:t>
                </a:r>
                <a:r>
                  <a:rPr lang="en-US" altLang="zh-CN" sz="1210" dirty="0">
                    <a:latin typeface="Garamond" panose="02020404030301010803" pitchFamily="18" charset="0"/>
                    <a:ea typeface="SimSun" panose="02010600030101010101" pitchFamily="2" charset="-122"/>
                  </a:rPr>
                  <a:t>100</a:t>
                </a:r>
                <a:r>
                  <a:rPr lang="zh-CN" altLang="en-US" sz="1210" dirty="0">
                    <a:latin typeface="Garamond" panose="02020404030301010803" pitchFamily="18" charset="0"/>
                    <a:ea typeface="SimSun" panose="02010600030101010101" pitchFamily="2" charset="-122"/>
                  </a:rPr>
                  <a:t>美元。</a:t>
                </a:r>
                <a:endParaRPr lang="en-US" altLang="zh-CN" sz="1210" dirty="0">
                  <a:latin typeface="Garamond" panose="02020404030301010803" pitchFamily="18" charset="0"/>
                  <a:ea typeface="SimSun"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302" t="-976"/>
                </a:stretch>
              </a:blipFill>
            </p:spPr>
            <p:txBody>
              <a:bodyPr/>
              <a:lstStyle/>
              <a:p>
                <a:r>
                  <a:rPr lang="zh-CN" altLang="en-US">
                    <a:noFill/>
                  </a:rPr>
                  <a:t> </a:t>
                </a:r>
              </a:p>
            </p:txBody>
          </p:sp>
        </mc:Fallback>
      </mc:AlternateContent>
      <p:sp>
        <p:nvSpPr>
          <p:cNvPr id="4" name="灯片编号占位符 2">
            <a:extLst>
              <a:ext uri="{FF2B5EF4-FFF2-40B4-BE49-F238E27FC236}">
                <a16:creationId xmlns:a16="http://schemas.microsoft.com/office/drawing/2014/main" id="{12EBD1F8-0564-747F-604B-5257EF671D2D}"/>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65</a:t>
            </a:fld>
            <a:endParaRPr lang="zh-CN" altLang="zh-CN" sz="856">
              <a:solidFill>
                <a:srgbClr val="777777"/>
              </a:solidFill>
              <a:ea typeface="宋体" panose="02010600030101010101" pitchFamily="2" charset="-122"/>
            </a:endParaRPr>
          </a:p>
        </p:txBody>
      </p:sp>
      <p:sp>
        <p:nvSpPr>
          <p:cNvPr id="9" name="标题 8">
            <a:extLst>
              <a:ext uri="{FF2B5EF4-FFF2-40B4-BE49-F238E27FC236}">
                <a16:creationId xmlns:a16="http://schemas.microsoft.com/office/drawing/2014/main" id="{F1B77C40-C063-5099-DAF6-448D30114CD6}"/>
              </a:ext>
            </a:extLst>
          </p:cNvPr>
          <p:cNvSpPr>
            <a:spLocks noGrp="1"/>
          </p:cNvSpPr>
          <p:nvPr>
            <p:ph type="title"/>
          </p:nvPr>
        </p:nvSpPr>
        <p:spPr/>
        <p:txBody>
          <a:bodyPr/>
          <a:lstStyle/>
          <a:p>
            <a:r>
              <a:rPr kumimoji="1" lang="zh-CN" altLang="en-US" dirty="0"/>
              <a:t>资本的边际效率</a:t>
            </a:r>
          </a:p>
        </p:txBody>
      </p:sp>
      <p:sp>
        <p:nvSpPr>
          <p:cNvPr id="2" name="页脚占位符 1">
            <a:extLst>
              <a:ext uri="{FF2B5EF4-FFF2-40B4-BE49-F238E27FC236}">
                <a16:creationId xmlns:a16="http://schemas.microsoft.com/office/drawing/2014/main" id="{9A2D2230-9330-A7B6-1DF6-9B1A7D669710}"/>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3</a:t>
            </a:r>
            <a:r>
              <a:rPr lang="zh-CN" altLang="en-US" sz="907" i="1" dirty="0">
                <a:solidFill>
                  <a:srgbClr val="777777"/>
                </a:solidFill>
                <a:ea typeface="宋体" panose="02010600030101010101" pitchFamily="2" charset="-122"/>
              </a:rPr>
              <a:t>节 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99431060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66</a:t>
            </a:fld>
            <a:endParaRPr lang="zh-CN" altLang="zh-CN" sz="857">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dirty="0">
                <a:solidFill>
                  <a:srgbClr val="339966"/>
                </a:solidFill>
                <a:effectLst>
                  <a:outerShdw blurRad="38100" dist="38100" dir="2700000" algn="tl">
                    <a:srgbClr val="C0C0C0"/>
                  </a:outerShdw>
                </a:effectLst>
                <a:ea typeface="宋体" panose="02010600030101010101" pitchFamily="2" charset="-122"/>
              </a:rPr>
              <a:t>资本的边际效率</a:t>
            </a:r>
          </a:p>
        </p:txBody>
      </p:sp>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7"/>
            <a:ext cx="4110356" cy="1277752"/>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某企业投资购买一台机器，这台机器的使用期限是</a:t>
            </a:r>
            <a:r>
              <a:rPr lang="en-US" altLang="zh-CN" sz="1210" dirty="0">
                <a:latin typeface="Garamond" panose="02020404030301010803" pitchFamily="18" charset="0"/>
                <a:ea typeface="SimSun" panose="02010600030101010101" pitchFamily="2" charset="-122"/>
                <a:cs typeface="Times New Roman" panose="02020603050405020304" pitchFamily="18" charset="0"/>
              </a:rPr>
              <a:t>3</a:t>
            </a:r>
            <a:r>
              <a:rPr lang="zh-CN" altLang="en-US" sz="1210" dirty="0">
                <a:latin typeface="Garamond" panose="02020404030301010803" pitchFamily="18" charset="0"/>
                <a:ea typeface="SimSun" panose="02010600030101010101" pitchFamily="2" charset="-122"/>
                <a:cs typeface="Times New Roman" panose="02020603050405020304" pitchFamily="18" charset="0"/>
              </a:rPr>
              <a:t>年，</a:t>
            </a:r>
            <a:r>
              <a:rPr lang="en-US" altLang="zh-CN" sz="1210" dirty="0">
                <a:latin typeface="Garamond" panose="02020404030301010803" pitchFamily="18" charset="0"/>
                <a:ea typeface="SimSun" panose="02010600030101010101" pitchFamily="2" charset="-122"/>
                <a:cs typeface="Times New Roman" panose="02020603050405020304" pitchFamily="18" charset="0"/>
              </a:rPr>
              <a:t>3</a:t>
            </a:r>
            <a:r>
              <a:rPr lang="zh-CN" altLang="en-US" sz="1210" dirty="0">
                <a:latin typeface="Garamond" panose="02020404030301010803" pitchFamily="18" charset="0"/>
                <a:ea typeface="SimSun" panose="02010600030101010101" pitchFamily="2" charset="-122"/>
                <a:cs typeface="Times New Roman" panose="02020603050405020304" pitchFamily="18" charset="0"/>
              </a:rPr>
              <a:t>年后全部耗损。在假定把人工、原材料及其他成本扣除后，各年的预期收益是</a:t>
            </a:r>
            <a:r>
              <a:rPr lang="en-US" altLang="zh-CN" sz="1210" dirty="0">
                <a:latin typeface="Garamond" panose="02020404030301010803" pitchFamily="18" charset="0"/>
                <a:ea typeface="SimSun" panose="02010600030101010101" pitchFamily="2" charset="-122"/>
                <a:cs typeface="Times New Roman" panose="02020603050405020304" pitchFamily="18" charset="0"/>
              </a:rPr>
              <a:t>11000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美元，</a:t>
            </a:r>
            <a:r>
              <a:rPr lang="en-US" altLang="zh-CN" sz="1210" dirty="0">
                <a:latin typeface="Garamond" panose="02020404030301010803" pitchFamily="18" charset="0"/>
                <a:ea typeface="SimSun" panose="02010600030101010101" pitchFamily="2" charset="-122"/>
                <a:cs typeface="Times New Roman" panose="02020603050405020304" pitchFamily="18" charset="0"/>
              </a:rPr>
              <a:t>12100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美元，</a:t>
            </a:r>
            <a:r>
              <a:rPr lang="en-US" altLang="zh-CN" sz="1210" dirty="0">
                <a:latin typeface="Garamond" panose="02020404030301010803" pitchFamily="18" charset="0"/>
                <a:ea typeface="SimSun" panose="02010600030101010101" pitchFamily="2" charset="-122"/>
                <a:cs typeface="Times New Roman" panose="02020603050405020304" pitchFamily="18" charset="0"/>
              </a:rPr>
              <a:t>13310</a:t>
            </a:r>
            <a:r>
              <a:rPr lang="zh-CN" altLang="en-US" sz="1210" dirty="0">
                <a:latin typeface="Garamond" panose="02020404030301010803" pitchFamily="18" charset="0"/>
                <a:ea typeface="SimSun" panose="02010600030101010101" pitchFamily="2" charset="-122"/>
                <a:cs typeface="Times New Roman" panose="02020603050405020304" pitchFamily="18" charset="0"/>
              </a:rPr>
              <a:t>美元，</a:t>
            </a:r>
            <a:r>
              <a:rPr lang="en-US" altLang="zh-CN" sz="1210" dirty="0">
                <a:latin typeface="Garamond" panose="02020404030301010803" pitchFamily="18" charset="0"/>
                <a:ea typeface="SimSun" panose="02010600030101010101" pitchFamily="2" charset="-122"/>
                <a:cs typeface="Times New Roman" panose="02020603050405020304" pitchFamily="18" charset="0"/>
              </a:rPr>
              <a:t>3</a:t>
            </a:r>
            <a:r>
              <a:rPr lang="zh-CN" altLang="en-US" sz="1210" dirty="0">
                <a:latin typeface="Garamond" panose="02020404030301010803" pitchFamily="18" charset="0"/>
                <a:ea typeface="SimSun" panose="02010600030101010101" pitchFamily="2" charset="-122"/>
                <a:cs typeface="Times New Roman" panose="02020603050405020304" pitchFamily="18" charset="0"/>
              </a:rPr>
              <a:t>年合计为</a:t>
            </a:r>
            <a:r>
              <a:rPr lang="en-US" altLang="zh-CN" sz="1210" dirty="0">
                <a:latin typeface="Garamond" panose="02020404030301010803" pitchFamily="18" charset="0"/>
                <a:ea typeface="SimSun" panose="02010600030101010101" pitchFamily="2" charset="-122"/>
                <a:cs typeface="Times New Roman" panose="02020603050405020304" pitchFamily="18" charset="0"/>
              </a:rPr>
              <a:t>36410</a:t>
            </a:r>
            <a:r>
              <a:rPr lang="zh-CN" altLang="en-US" sz="1210" dirty="0">
                <a:latin typeface="Garamond" panose="02020404030301010803" pitchFamily="18" charset="0"/>
                <a:ea typeface="SimSun" panose="02010600030101010101" pitchFamily="2" charset="-122"/>
                <a:cs typeface="Times New Roman" panose="02020603050405020304" pitchFamily="18" charset="0"/>
              </a:rPr>
              <a:t>美元。如果贴现率是</a:t>
            </a:r>
            <a:r>
              <a:rPr lang="en-US" altLang="zh-CN" sz="1210" dirty="0">
                <a:latin typeface="Garamond" panose="02020404030301010803" pitchFamily="18" charset="0"/>
                <a:ea typeface="SimSun" panose="02010600030101010101" pitchFamily="2" charset="-122"/>
                <a:cs typeface="Times New Roman" panose="02020603050405020304" pitchFamily="18" charset="0"/>
              </a:rPr>
              <a:t>10%</a:t>
            </a:r>
            <a:r>
              <a:rPr lang="zh-CN" altLang="en-US" sz="1210" dirty="0">
                <a:latin typeface="Garamond" panose="02020404030301010803" pitchFamily="18" charset="0"/>
                <a:ea typeface="SimSun" panose="02010600030101010101" pitchFamily="2" charset="-122"/>
                <a:cs typeface="Times New Roman" panose="02020603050405020304" pitchFamily="18" charset="0"/>
              </a:rPr>
              <a:t>，那么</a:t>
            </a:r>
            <a:r>
              <a:rPr lang="en-US" altLang="zh-CN" sz="1210" dirty="0">
                <a:latin typeface="Garamond" panose="02020404030301010803" pitchFamily="18" charset="0"/>
                <a:ea typeface="SimSun" panose="02010600030101010101" pitchFamily="2" charset="-122"/>
                <a:cs typeface="Times New Roman" panose="02020603050405020304" pitchFamily="18" charset="0"/>
              </a:rPr>
              <a:t>3</a:t>
            </a:r>
            <a:r>
              <a:rPr lang="zh-CN" altLang="en-US" sz="1210" dirty="0">
                <a:latin typeface="Garamond" panose="02020404030301010803" pitchFamily="18" charset="0"/>
                <a:ea typeface="SimSun" panose="02010600030101010101" pitchFamily="2" charset="-122"/>
                <a:cs typeface="Times New Roman" panose="02020603050405020304" pitchFamily="18" charset="0"/>
              </a:rPr>
              <a:t>年内全部预期收益</a:t>
            </a:r>
            <a:r>
              <a:rPr lang="en-US" altLang="zh-CN" sz="1210" dirty="0">
                <a:latin typeface="Garamond" panose="02020404030301010803" pitchFamily="18" charset="0"/>
                <a:ea typeface="SimSun" panose="02010600030101010101" pitchFamily="2" charset="-122"/>
                <a:cs typeface="Times New Roman" panose="02020603050405020304" pitchFamily="18" charset="0"/>
              </a:rPr>
              <a:t>36410</a:t>
            </a:r>
            <a:r>
              <a:rPr lang="zh-CN" altLang="en-US" sz="1210" dirty="0">
                <a:latin typeface="Garamond" panose="02020404030301010803" pitchFamily="18" charset="0"/>
                <a:ea typeface="SimSun" panose="02010600030101010101" pitchFamily="2" charset="-122"/>
                <a:cs typeface="Times New Roman" panose="02020603050405020304" pitchFamily="18" charset="0"/>
              </a:rPr>
              <a:t>美元的现值是多少？</a:t>
            </a:r>
            <a:endParaRPr lang="en-US" altLang="zh-CN" sz="1210" dirty="0">
              <a:latin typeface="Garamond" panose="02020404030301010803"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246064374"/>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a:extLst>
              <a:ext uri="{FF2B5EF4-FFF2-40B4-BE49-F238E27FC236}">
                <a16:creationId xmlns:a16="http://schemas.microsoft.com/office/drawing/2014/main" id="{29C1FF41-18D6-DBF2-4006-6E8CF3C37210}"/>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67</a:t>
            </a:fld>
            <a:endParaRPr lang="zh-CN" altLang="zh-CN" sz="856">
              <a:solidFill>
                <a:srgbClr val="777777"/>
              </a:solidFill>
              <a:ea typeface="宋体" panose="02010600030101010101" pitchFamily="2" charset="-122"/>
            </a:endParaRPr>
          </a:p>
        </p:txBody>
      </p:sp>
      <p:sp>
        <p:nvSpPr>
          <p:cNvPr id="8" name="标题 7">
            <a:extLst>
              <a:ext uri="{FF2B5EF4-FFF2-40B4-BE49-F238E27FC236}">
                <a16:creationId xmlns:a16="http://schemas.microsoft.com/office/drawing/2014/main" id="{DC98E244-584B-6213-82FF-C4696C155764}"/>
              </a:ext>
            </a:extLst>
          </p:cNvPr>
          <p:cNvSpPr>
            <a:spLocks noGrp="1"/>
          </p:cNvSpPr>
          <p:nvPr>
            <p:ph type="title"/>
          </p:nvPr>
        </p:nvSpPr>
        <p:spPr/>
        <p:txBody>
          <a:bodyPr/>
          <a:lstStyle/>
          <a:p>
            <a:r>
              <a:rPr kumimoji="1" lang="zh-CN" altLang="en-US" dirty="0"/>
              <a:t>资本的边际效率</a:t>
            </a:r>
          </a:p>
        </p:txBody>
      </p:sp>
      <mc:AlternateContent xmlns:mc="http://schemas.openxmlformats.org/markup-compatibility/2006" xmlns:a14="http://schemas.microsoft.com/office/drawing/2010/main">
        <mc:Choice Requires="a14">
          <p:sp>
            <p:nvSpPr>
              <p:cNvPr id="11" name="内容占位符 2">
                <a:extLst>
                  <a:ext uri="{FF2B5EF4-FFF2-40B4-BE49-F238E27FC236}">
                    <a16:creationId xmlns:a16="http://schemas.microsoft.com/office/drawing/2014/main" id="{158FBA58-3E02-7C11-D838-806911D3B467}"/>
                  </a:ext>
                </a:extLst>
              </p:cNvPr>
              <p:cNvSpPr>
                <a:spLocks noGrp="1"/>
              </p:cNvSpPr>
              <p:nvPr>
                <p:ph idx="1"/>
              </p:nvPr>
            </p:nvSpPr>
            <p:spPr>
              <a:xfrm>
                <a:off x="188087" y="508698"/>
                <a:ext cx="4191509" cy="2582745"/>
              </a:xfrm>
            </p:spPr>
            <p:txBody>
              <a:bodyPr/>
              <a:lstStyle/>
              <a:p>
                <a:pPr marL="0" indent="0">
                  <a:buNone/>
                </a:pPr>
                <a:r>
                  <a:rPr lang="zh-CN" altLang="en-US" b="1" dirty="0">
                    <a:latin typeface="Times New Roman" panose="02020603050405020304" pitchFamily="18" charset="0"/>
                    <a:cs typeface="Times New Roman" panose="02020603050405020304" pitchFamily="18" charset="0"/>
                  </a:rPr>
                  <a:t>包含残值的资本边际收益</a:t>
                </a:r>
                <a:endParaRPr lang="en-US" altLang="zh-CN" b="1" dirty="0">
                  <a:latin typeface="Times New Roman" panose="02020603050405020304" pitchFamily="18"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假定资本品在</a:t>
                </a:r>
                <a:r>
                  <a:rPr lang="en-US" altLang="zh-CN" dirty="0">
                    <a:latin typeface="Times New Roman" panose="02020603050405020304" pitchFamily="18" charset="0"/>
                    <a:cs typeface="Times New Roman" panose="02020603050405020304" pitchFamily="18" charset="0"/>
                  </a:rPr>
                  <a:t>n</a:t>
                </a:r>
                <a:r>
                  <a:rPr lang="zh-CN" altLang="en-US" dirty="0">
                    <a:latin typeface="Times New Roman" panose="02020603050405020304" pitchFamily="18" charset="0"/>
                    <a:cs typeface="Times New Roman" panose="02020603050405020304" pitchFamily="18" charset="0"/>
                  </a:rPr>
                  <a:t>年中报废，并且在使用终了还有残值，则资本的边际效率公式是：</a:t>
                </a:r>
                <a:endParaRPr lang="en-US" altLang="zh-CN" dirty="0">
                  <a:latin typeface="Times New Roman" panose="02020603050405020304" pitchFamily="18" charset="0"/>
                  <a:cs typeface="Times New Roman" panose="02020603050405020304" pitchFamily="18" charset="0"/>
                </a:endParaRPr>
              </a:p>
              <a:p>
                <a14:m>
                  <m:oMath xmlns:m="http://schemas.openxmlformats.org/officeDocument/2006/math">
                    <m:r>
                      <a:rPr lang="en-US" altLang="zh-CN" b="0" i="1" smtClean="0">
                        <a:latin typeface="Cambria Math" panose="02040503050406030204" pitchFamily="18" charset="0"/>
                        <a:ea typeface="楷体" panose="02010609060101010101" pitchFamily="49" charset="-122"/>
                      </a:rPr>
                      <m:t>𝑅</m:t>
                    </m:r>
                    <m:r>
                      <a:rPr lang="en-US" altLang="zh-CN" i="1">
                        <a:latin typeface="Cambria Math" panose="02040503050406030204" pitchFamily="18" charset="0"/>
                        <a:ea typeface="楷体" panose="02010609060101010101" pitchFamily="49" charset="-122"/>
                      </a:rPr>
                      <m:t>=</m:t>
                    </m:r>
                    <m:f>
                      <m:fPr>
                        <m:ctrlPr>
                          <a:rPr lang="en-US" altLang="zh-CN" i="1">
                            <a:latin typeface="Cambria Math" panose="02040503050406030204" pitchFamily="18" charset="0"/>
                            <a:ea typeface="楷体" panose="02010609060101010101" pitchFamily="49" charset="-122"/>
                          </a:rPr>
                        </m:ctrlPr>
                      </m:fPr>
                      <m:num>
                        <m:sSub>
                          <m:sSubPr>
                            <m:ctrlPr>
                              <a:rPr lang="en-US" altLang="zh-CN" i="1">
                                <a:latin typeface="Cambria Math" panose="02040503050406030204" pitchFamily="18" charset="0"/>
                                <a:ea typeface="楷体" panose="02010609060101010101" pitchFamily="49" charset="-122"/>
                              </a:rPr>
                            </m:ctrlPr>
                          </m:sSubPr>
                          <m:e>
                            <m:r>
                              <a:rPr lang="en-US" altLang="zh-CN" i="1">
                                <a:latin typeface="Cambria Math" panose="02040503050406030204" pitchFamily="18" charset="0"/>
                                <a:ea typeface="楷体" panose="02010609060101010101" pitchFamily="49" charset="-122"/>
                              </a:rPr>
                              <m:t>𝑅</m:t>
                            </m:r>
                          </m:e>
                          <m:sub>
                            <m:r>
                              <a:rPr lang="en-US" altLang="zh-CN" b="0" i="1" smtClean="0">
                                <a:latin typeface="Cambria Math" panose="02040503050406030204" pitchFamily="18" charset="0"/>
                                <a:ea typeface="楷体" panose="02010609060101010101" pitchFamily="49" charset="-122"/>
                              </a:rPr>
                              <m:t>1</m:t>
                            </m:r>
                          </m:sub>
                        </m:sSub>
                      </m:num>
                      <m:den>
                        <m:r>
                          <a:rPr lang="en-US" altLang="zh-CN" b="0" i="1" smtClean="0">
                            <a:latin typeface="Cambria Math" panose="02040503050406030204" pitchFamily="18" charset="0"/>
                            <a:ea typeface="楷体" panose="02010609060101010101" pitchFamily="49" charset="-122"/>
                          </a:rPr>
                          <m:t>1+</m:t>
                        </m:r>
                        <m:r>
                          <a:rPr lang="en-US" altLang="zh-CN" b="0" i="1" smtClean="0">
                            <a:latin typeface="Cambria Math" panose="02040503050406030204" pitchFamily="18" charset="0"/>
                            <a:ea typeface="楷体" panose="02010609060101010101" pitchFamily="49" charset="-122"/>
                          </a:rPr>
                          <m:t>𝑟</m:t>
                        </m:r>
                      </m:den>
                    </m:f>
                    <m:r>
                      <a:rPr lang="en-US" altLang="zh-CN" b="0" i="1" smtClean="0">
                        <a:latin typeface="Cambria Math" panose="02040503050406030204" pitchFamily="18" charset="0"/>
                        <a:ea typeface="楷体" panose="02010609060101010101" pitchFamily="49" charset="-122"/>
                      </a:rPr>
                      <m:t>+</m:t>
                    </m:r>
                    <m:f>
                      <m:fPr>
                        <m:ctrlPr>
                          <a:rPr lang="en-US" altLang="zh-CN" i="1">
                            <a:latin typeface="Cambria Math" panose="02040503050406030204" pitchFamily="18" charset="0"/>
                            <a:ea typeface="楷体" panose="02010609060101010101" pitchFamily="49" charset="-122"/>
                          </a:rPr>
                        </m:ctrlPr>
                      </m:fPr>
                      <m:num>
                        <m:sSub>
                          <m:sSubPr>
                            <m:ctrlPr>
                              <a:rPr lang="en-US" altLang="zh-CN" i="1">
                                <a:latin typeface="Cambria Math" panose="02040503050406030204" pitchFamily="18" charset="0"/>
                                <a:ea typeface="楷体" panose="02010609060101010101" pitchFamily="49" charset="-122"/>
                              </a:rPr>
                            </m:ctrlPr>
                          </m:sSubPr>
                          <m:e>
                            <m:r>
                              <a:rPr lang="en-US" altLang="zh-CN" i="1">
                                <a:latin typeface="Cambria Math" panose="02040503050406030204" pitchFamily="18" charset="0"/>
                                <a:ea typeface="楷体" panose="02010609060101010101" pitchFamily="49" charset="-122"/>
                              </a:rPr>
                              <m:t>𝑅</m:t>
                            </m:r>
                          </m:e>
                          <m:sub>
                            <m:r>
                              <a:rPr lang="en-US" altLang="zh-CN" b="0" i="1" smtClean="0">
                                <a:latin typeface="Cambria Math" panose="02040503050406030204" pitchFamily="18" charset="0"/>
                                <a:ea typeface="楷体" panose="02010609060101010101" pitchFamily="49" charset="-122"/>
                              </a:rPr>
                              <m:t>2</m:t>
                            </m:r>
                          </m:sub>
                        </m:sSub>
                      </m:num>
                      <m:den>
                        <m:sSup>
                          <m:sSupPr>
                            <m:ctrlPr>
                              <a:rPr lang="en-US" altLang="zh-CN" i="1">
                                <a:latin typeface="Cambria Math" panose="02040503050406030204" pitchFamily="18" charset="0"/>
                                <a:ea typeface="楷体" panose="02010609060101010101" pitchFamily="49" charset="-122"/>
                              </a:rPr>
                            </m:ctrlPr>
                          </m:sSupPr>
                          <m:e>
                            <m:d>
                              <m:dPr>
                                <m:ctrlPr>
                                  <a:rPr lang="en-US" altLang="zh-CN" i="1">
                                    <a:latin typeface="Cambria Math" panose="02040503050406030204" pitchFamily="18" charset="0"/>
                                    <a:ea typeface="楷体" panose="02010609060101010101" pitchFamily="49" charset="-122"/>
                                  </a:rPr>
                                </m:ctrlPr>
                              </m:dPr>
                              <m:e>
                                <m:r>
                                  <a:rPr lang="en-US" altLang="zh-CN" i="1">
                                    <a:latin typeface="Cambria Math" panose="02040503050406030204" pitchFamily="18" charset="0"/>
                                    <a:ea typeface="楷体" panose="02010609060101010101" pitchFamily="49" charset="-122"/>
                                  </a:rPr>
                                  <m:t>1+</m:t>
                                </m:r>
                                <m:r>
                                  <a:rPr lang="en-US" altLang="zh-CN" i="1">
                                    <a:latin typeface="Cambria Math" panose="02040503050406030204" pitchFamily="18" charset="0"/>
                                    <a:ea typeface="楷体" panose="02010609060101010101" pitchFamily="49" charset="-122"/>
                                  </a:rPr>
                                  <m:t>𝑟</m:t>
                                </m:r>
                              </m:e>
                            </m:d>
                          </m:e>
                          <m:sup>
                            <m:r>
                              <a:rPr lang="en-US" altLang="zh-CN" b="0" i="1" smtClean="0">
                                <a:latin typeface="Cambria Math" panose="02040503050406030204" pitchFamily="18" charset="0"/>
                                <a:ea typeface="楷体" panose="02010609060101010101" pitchFamily="49" charset="-122"/>
                              </a:rPr>
                              <m:t>2</m:t>
                            </m:r>
                          </m:sup>
                        </m:sSup>
                      </m:den>
                    </m:f>
                    <m:r>
                      <a:rPr lang="en-US" altLang="zh-CN" b="0" i="1" smtClean="0">
                        <a:latin typeface="Cambria Math" panose="02040503050406030204" pitchFamily="18" charset="0"/>
                        <a:ea typeface="楷体" panose="02010609060101010101" pitchFamily="49" charset="-122"/>
                      </a:rPr>
                      <m:t>+…+</m:t>
                    </m:r>
                    <m:f>
                      <m:fPr>
                        <m:ctrlPr>
                          <a:rPr lang="en-US" altLang="zh-CN" i="1">
                            <a:latin typeface="Cambria Math" panose="02040503050406030204" pitchFamily="18" charset="0"/>
                            <a:ea typeface="楷体" panose="02010609060101010101" pitchFamily="49" charset="-122"/>
                          </a:rPr>
                        </m:ctrlPr>
                      </m:fPr>
                      <m:num>
                        <m:sSub>
                          <m:sSubPr>
                            <m:ctrlPr>
                              <a:rPr lang="en-US" altLang="zh-CN" i="1">
                                <a:latin typeface="Cambria Math" panose="02040503050406030204" pitchFamily="18" charset="0"/>
                                <a:ea typeface="楷体" panose="02010609060101010101" pitchFamily="49" charset="-122"/>
                              </a:rPr>
                            </m:ctrlPr>
                          </m:sSubPr>
                          <m:e>
                            <m:r>
                              <a:rPr lang="en-US" altLang="zh-CN" i="1">
                                <a:latin typeface="Cambria Math" panose="02040503050406030204" pitchFamily="18" charset="0"/>
                                <a:ea typeface="楷体" panose="02010609060101010101" pitchFamily="49" charset="-122"/>
                              </a:rPr>
                              <m:t>𝑅</m:t>
                            </m:r>
                          </m:e>
                          <m:sub>
                            <m:r>
                              <a:rPr lang="en-US" altLang="zh-CN" i="1">
                                <a:latin typeface="Cambria Math" panose="02040503050406030204" pitchFamily="18" charset="0"/>
                                <a:ea typeface="楷体" panose="02010609060101010101" pitchFamily="49" charset="-122"/>
                              </a:rPr>
                              <m:t>𝑛</m:t>
                            </m:r>
                          </m:sub>
                        </m:sSub>
                      </m:num>
                      <m:den>
                        <m:sSup>
                          <m:sSupPr>
                            <m:ctrlPr>
                              <a:rPr lang="en-US" altLang="zh-CN" i="1">
                                <a:latin typeface="Cambria Math" panose="02040503050406030204" pitchFamily="18" charset="0"/>
                                <a:ea typeface="楷体" panose="02010609060101010101" pitchFamily="49" charset="-122"/>
                              </a:rPr>
                            </m:ctrlPr>
                          </m:sSupPr>
                          <m:e>
                            <m:d>
                              <m:dPr>
                                <m:ctrlPr>
                                  <a:rPr lang="en-US" altLang="zh-CN" i="1">
                                    <a:latin typeface="Cambria Math" panose="02040503050406030204" pitchFamily="18" charset="0"/>
                                    <a:ea typeface="楷体" panose="02010609060101010101" pitchFamily="49" charset="-122"/>
                                  </a:rPr>
                                </m:ctrlPr>
                              </m:dPr>
                              <m:e>
                                <m:r>
                                  <a:rPr lang="en-US" altLang="zh-CN" i="1">
                                    <a:latin typeface="Cambria Math" panose="02040503050406030204" pitchFamily="18" charset="0"/>
                                    <a:ea typeface="楷体" panose="02010609060101010101" pitchFamily="49" charset="-122"/>
                                  </a:rPr>
                                  <m:t>1+</m:t>
                                </m:r>
                                <m:r>
                                  <a:rPr lang="en-US" altLang="zh-CN" i="1">
                                    <a:latin typeface="Cambria Math" panose="02040503050406030204" pitchFamily="18" charset="0"/>
                                    <a:ea typeface="楷体" panose="02010609060101010101" pitchFamily="49" charset="-122"/>
                                  </a:rPr>
                                  <m:t>𝑟</m:t>
                                </m:r>
                              </m:e>
                            </m:d>
                          </m:e>
                          <m:sup>
                            <m:r>
                              <a:rPr lang="en-US" altLang="zh-CN" i="1">
                                <a:latin typeface="Cambria Math" panose="02040503050406030204" pitchFamily="18" charset="0"/>
                                <a:ea typeface="楷体" panose="02010609060101010101" pitchFamily="49" charset="-122"/>
                              </a:rPr>
                              <m:t>𝑛</m:t>
                            </m:r>
                          </m:sup>
                        </m:sSup>
                      </m:den>
                    </m:f>
                    <m:r>
                      <a:rPr lang="en-US" altLang="zh-CN" b="0" i="1" smtClean="0">
                        <a:latin typeface="Cambria Math" panose="02040503050406030204" pitchFamily="18" charset="0"/>
                        <a:ea typeface="楷体" panose="02010609060101010101" pitchFamily="49" charset="-122"/>
                      </a:rPr>
                      <m:t>+</m:t>
                    </m:r>
                    <m:f>
                      <m:fPr>
                        <m:ctrlPr>
                          <a:rPr lang="en-US" altLang="zh-CN" i="1">
                            <a:latin typeface="Cambria Math" panose="02040503050406030204" pitchFamily="18" charset="0"/>
                            <a:ea typeface="楷体" panose="02010609060101010101" pitchFamily="49" charset="-122"/>
                          </a:rPr>
                        </m:ctrlPr>
                      </m:fPr>
                      <m:num>
                        <m:r>
                          <a:rPr lang="en-US" altLang="zh-CN" b="0" i="1" smtClean="0">
                            <a:latin typeface="Cambria Math" panose="02040503050406030204" pitchFamily="18" charset="0"/>
                            <a:ea typeface="楷体" panose="02010609060101010101" pitchFamily="49" charset="-122"/>
                          </a:rPr>
                          <m:t>𝐽</m:t>
                        </m:r>
                      </m:num>
                      <m:den>
                        <m:sSup>
                          <m:sSupPr>
                            <m:ctrlPr>
                              <a:rPr lang="en-US" altLang="zh-CN" i="1">
                                <a:latin typeface="Cambria Math" panose="02040503050406030204" pitchFamily="18" charset="0"/>
                                <a:ea typeface="楷体" panose="02010609060101010101" pitchFamily="49" charset="-122"/>
                              </a:rPr>
                            </m:ctrlPr>
                          </m:sSupPr>
                          <m:e>
                            <m:d>
                              <m:dPr>
                                <m:ctrlPr>
                                  <a:rPr lang="en-US" altLang="zh-CN" i="1">
                                    <a:latin typeface="Cambria Math" panose="02040503050406030204" pitchFamily="18" charset="0"/>
                                    <a:ea typeface="楷体" panose="02010609060101010101" pitchFamily="49" charset="-122"/>
                                  </a:rPr>
                                </m:ctrlPr>
                              </m:dPr>
                              <m:e>
                                <m:r>
                                  <a:rPr lang="en-US" altLang="zh-CN" i="1">
                                    <a:latin typeface="Cambria Math" panose="02040503050406030204" pitchFamily="18" charset="0"/>
                                    <a:ea typeface="楷体" panose="02010609060101010101" pitchFamily="49" charset="-122"/>
                                  </a:rPr>
                                  <m:t>1+</m:t>
                                </m:r>
                                <m:r>
                                  <a:rPr lang="en-US" altLang="zh-CN" i="1">
                                    <a:latin typeface="Cambria Math" panose="02040503050406030204" pitchFamily="18" charset="0"/>
                                    <a:ea typeface="楷体" panose="02010609060101010101" pitchFamily="49" charset="-122"/>
                                  </a:rPr>
                                  <m:t>𝑟</m:t>
                                </m:r>
                              </m:e>
                            </m:d>
                          </m:e>
                          <m:sup>
                            <m:r>
                              <a:rPr lang="en-US" altLang="zh-CN" i="1">
                                <a:latin typeface="Cambria Math" panose="02040503050406030204" pitchFamily="18" charset="0"/>
                                <a:ea typeface="楷体" panose="02010609060101010101" pitchFamily="49" charset="-122"/>
                              </a:rPr>
                              <m:t>𝑛</m:t>
                            </m:r>
                          </m:sup>
                        </m:sSup>
                      </m:den>
                    </m:f>
                  </m:oMath>
                </a14:m>
                <a:endParaRPr lang="en-US" altLang="zh-CN" dirty="0">
                  <a:latin typeface="Times New Roman" panose="02020603050405020304" pitchFamily="18" charset="0"/>
                  <a:cs typeface="Times New Roman" panose="02020603050405020304" pitchFamily="18" charset="0"/>
                </a:endParaRPr>
              </a:p>
              <a:p>
                <a14:m>
                  <m:oMath xmlns:m="http://schemas.openxmlformats.org/officeDocument/2006/math">
                    <m:r>
                      <a:rPr lang="en-US" altLang="zh-CN" i="1">
                        <a:latin typeface="Cambria Math" panose="02040503050406030204" pitchFamily="18" charset="0"/>
                        <a:ea typeface="楷体" panose="02010609060101010101" pitchFamily="49" charset="-122"/>
                      </a:rPr>
                      <m:t>𝑅</m:t>
                    </m:r>
                  </m:oMath>
                </a14:m>
                <a:r>
                  <a:rPr lang="zh-CN" altLang="en-US" dirty="0">
                    <a:latin typeface="Times New Roman" panose="02020603050405020304" pitchFamily="18" charset="0"/>
                    <a:cs typeface="Times New Roman" panose="02020603050405020304" pitchFamily="18" charset="0"/>
                  </a:rPr>
                  <a:t>是该资本品的供给价格；</a:t>
                </a:r>
                <a:endParaRPr lang="en-US" altLang="zh-CN" dirty="0">
                  <a:latin typeface="Times New Roman" panose="02020603050405020304" pitchFamily="18" charset="0"/>
                  <a:cs typeface="Times New Roman" panose="02020603050405020304" pitchFamily="18" charset="0"/>
                </a:endParaRPr>
              </a:p>
              <a:p>
                <a14:m>
                  <m:oMath xmlns:m="http://schemas.openxmlformats.org/officeDocument/2006/math">
                    <m:sSub>
                      <m:sSubPr>
                        <m:ctrlPr>
                          <a:rPr lang="en-US" altLang="zh-CN" i="1">
                            <a:latin typeface="Cambria Math" panose="02040503050406030204" pitchFamily="18" charset="0"/>
                            <a:ea typeface="楷体" panose="02010609060101010101" pitchFamily="49" charset="-122"/>
                          </a:rPr>
                        </m:ctrlPr>
                      </m:sSubPr>
                      <m:e>
                        <m:r>
                          <a:rPr lang="en-US" altLang="zh-CN" i="1">
                            <a:latin typeface="Cambria Math" panose="02040503050406030204" pitchFamily="18" charset="0"/>
                            <a:ea typeface="楷体" panose="02010609060101010101" pitchFamily="49" charset="-122"/>
                          </a:rPr>
                          <m:t>𝑅</m:t>
                        </m:r>
                      </m:e>
                      <m:sub>
                        <m:r>
                          <a:rPr lang="en-US" altLang="zh-CN" i="1">
                            <a:latin typeface="Cambria Math" panose="02040503050406030204" pitchFamily="18" charset="0"/>
                            <a:ea typeface="楷体" panose="02010609060101010101" pitchFamily="49" charset="-122"/>
                          </a:rPr>
                          <m:t>1</m:t>
                        </m:r>
                      </m:sub>
                    </m:sSub>
                    <m:r>
                      <a:rPr lang="en-US" altLang="zh-CN" b="0" i="0" smtClean="0">
                        <a:latin typeface="Cambria Math" panose="02040503050406030204" pitchFamily="18" charset="0"/>
                        <a:ea typeface="楷体" panose="02010609060101010101" pitchFamily="49" charset="-122"/>
                      </a:rPr>
                      <m:t>,</m:t>
                    </m:r>
                    <m:sSub>
                      <m:sSubPr>
                        <m:ctrlPr>
                          <a:rPr lang="en-US" altLang="zh-CN" i="1">
                            <a:latin typeface="Cambria Math" panose="02040503050406030204" pitchFamily="18" charset="0"/>
                            <a:ea typeface="楷体" panose="02010609060101010101" pitchFamily="49" charset="-122"/>
                          </a:rPr>
                        </m:ctrlPr>
                      </m:sSubPr>
                      <m:e>
                        <m:r>
                          <a:rPr lang="en-US" altLang="zh-CN" i="1">
                            <a:latin typeface="Cambria Math" panose="02040503050406030204" pitchFamily="18" charset="0"/>
                            <a:ea typeface="楷体" panose="02010609060101010101" pitchFamily="49" charset="-122"/>
                          </a:rPr>
                          <m:t>𝑅</m:t>
                        </m:r>
                      </m:e>
                      <m:sub>
                        <m:r>
                          <a:rPr lang="en-US" altLang="zh-CN" i="1">
                            <a:latin typeface="Cambria Math" panose="02040503050406030204" pitchFamily="18" charset="0"/>
                            <a:ea typeface="楷体" panose="02010609060101010101" pitchFamily="49" charset="-122"/>
                          </a:rPr>
                          <m:t>2</m:t>
                        </m:r>
                      </m:sub>
                    </m:sSub>
                    <m:r>
                      <a:rPr lang="en-US" altLang="zh-CN" b="0" i="0" smtClean="0">
                        <a:latin typeface="Cambria Math" panose="02040503050406030204" pitchFamily="18" charset="0"/>
                        <a:ea typeface="楷体" panose="02010609060101010101" pitchFamily="49" charset="-122"/>
                      </a:rPr>
                      <m:t>,…</m:t>
                    </m:r>
                    <m:sSub>
                      <m:sSubPr>
                        <m:ctrlPr>
                          <a:rPr lang="en-US" altLang="zh-CN" i="1">
                            <a:latin typeface="Cambria Math" panose="02040503050406030204" pitchFamily="18" charset="0"/>
                            <a:ea typeface="楷体" panose="02010609060101010101" pitchFamily="49" charset="-122"/>
                          </a:rPr>
                        </m:ctrlPr>
                      </m:sSubPr>
                      <m:e>
                        <m:r>
                          <a:rPr lang="en-US" altLang="zh-CN" i="1">
                            <a:latin typeface="Cambria Math" panose="02040503050406030204" pitchFamily="18" charset="0"/>
                            <a:ea typeface="楷体" panose="02010609060101010101" pitchFamily="49" charset="-122"/>
                          </a:rPr>
                          <m:t>𝑅</m:t>
                        </m:r>
                      </m:e>
                      <m:sub>
                        <m:r>
                          <a:rPr lang="en-US" altLang="zh-CN" i="1">
                            <a:latin typeface="Cambria Math" panose="02040503050406030204" pitchFamily="18" charset="0"/>
                            <a:ea typeface="楷体" panose="02010609060101010101" pitchFamily="49" charset="-122"/>
                          </a:rPr>
                          <m:t>𝑛</m:t>
                        </m:r>
                      </m:sub>
                    </m:sSub>
                  </m:oMath>
                </a14:m>
                <a:r>
                  <a:rPr lang="zh-CN" altLang="en-US" dirty="0">
                    <a:latin typeface="Times New Roman" panose="02020603050405020304" pitchFamily="18" charset="0"/>
                    <a:cs typeface="Times New Roman" panose="02020603050405020304" pitchFamily="18" charset="0"/>
                  </a:rPr>
                  <a:t>是不同年份的预期收益；</a:t>
                </a:r>
                <a:endParaRPr lang="en-US" altLang="zh-CN" dirty="0">
                  <a:latin typeface="Times New Roman" panose="02020603050405020304" pitchFamily="18" charset="0"/>
                  <a:cs typeface="Times New Roman" panose="02020603050405020304" pitchFamily="18" charset="0"/>
                </a:endParaRPr>
              </a:p>
              <a:p>
                <a14:m>
                  <m:oMath xmlns:m="http://schemas.openxmlformats.org/officeDocument/2006/math">
                    <m:r>
                      <a:rPr lang="en-US" altLang="zh-CN" i="1">
                        <a:latin typeface="Cambria Math" panose="02040503050406030204" pitchFamily="18" charset="0"/>
                        <a:ea typeface="楷体" panose="02010609060101010101" pitchFamily="49" charset="-122"/>
                      </a:rPr>
                      <m:t>𝐽</m:t>
                    </m:r>
                  </m:oMath>
                </a14:m>
                <a:r>
                  <a:rPr lang="zh-CN" altLang="en-US" dirty="0">
                    <a:latin typeface="Times New Roman" panose="02020603050405020304" pitchFamily="18" charset="0"/>
                    <a:cs typeface="Times New Roman" panose="02020603050405020304" pitchFamily="18" charset="0"/>
                  </a:rPr>
                  <a:t>是该资本品在</a:t>
                </a:r>
                <a:r>
                  <a:rPr lang="en-US" altLang="zh-CN" dirty="0">
                    <a:latin typeface="Times New Roman" panose="02020603050405020304" pitchFamily="18" charset="0"/>
                    <a:cs typeface="Times New Roman" panose="02020603050405020304" pitchFamily="18" charset="0"/>
                  </a:rPr>
                  <a:t>n</a:t>
                </a:r>
                <a:r>
                  <a:rPr lang="zh-CN" altLang="en-US" dirty="0">
                    <a:latin typeface="Times New Roman" panose="02020603050405020304" pitchFamily="18" charset="0"/>
                    <a:cs typeface="Times New Roman" panose="02020603050405020304" pitchFamily="18" charset="0"/>
                  </a:rPr>
                  <a:t>年年末时的报废残值；</a:t>
                </a:r>
                <a:endParaRPr lang="en-US" altLang="zh-CN" dirty="0">
                  <a:latin typeface="Times New Roman" panose="02020603050405020304" pitchFamily="18" charset="0"/>
                  <a:cs typeface="Times New Roman" panose="02020603050405020304" pitchFamily="18" charset="0"/>
                </a:endParaRPr>
              </a:p>
              <a:p>
                <a14:m>
                  <m:oMath xmlns:m="http://schemas.openxmlformats.org/officeDocument/2006/math">
                    <m:r>
                      <a:rPr lang="en-US" altLang="zh-CN" i="1">
                        <a:latin typeface="Cambria Math" panose="02040503050406030204" pitchFamily="18" charset="0"/>
                        <a:ea typeface="楷体" panose="02010609060101010101" pitchFamily="49" charset="-122"/>
                      </a:rPr>
                      <m:t>𝑟</m:t>
                    </m:r>
                  </m:oMath>
                </a14:m>
                <a:r>
                  <a:rPr lang="zh-CN" altLang="en-US" dirty="0">
                    <a:latin typeface="Times New Roman" panose="02020603050405020304" pitchFamily="18" charset="0"/>
                    <a:cs typeface="Times New Roman" panose="02020603050405020304" pitchFamily="18" charset="0"/>
                  </a:rPr>
                  <a:t>是资本边际效率。</a:t>
                </a:r>
              </a:p>
            </p:txBody>
          </p:sp>
        </mc:Choice>
        <mc:Fallback xmlns="">
          <p:sp>
            <p:nvSpPr>
              <p:cNvPr id="11" name="内容占位符 2">
                <a:extLst>
                  <a:ext uri="{FF2B5EF4-FFF2-40B4-BE49-F238E27FC236}">
                    <a16:creationId xmlns:a16="http://schemas.microsoft.com/office/drawing/2014/main" id="{158FBA58-3E02-7C11-D838-806911D3B467}"/>
                  </a:ext>
                </a:extLst>
              </p:cNvPr>
              <p:cNvSpPr>
                <a:spLocks noGrp="1" noRot="1" noChangeAspect="1" noMove="1" noResize="1" noEditPoints="1" noAdjustHandles="1" noChangeArrowheads="1" noChangeShapeType="1" noTextEdit="1"/>
              </p:cNvSpPr>
              <p:nvPr>
                <p:ph idx="1"/>
              </p:nvPr>
            </p:nvSpPr>
            <p:spPr>
              <a:xfrm>
                <a:off x="188087" y="508698"/>
                <a:ext cx="4191509" cy="2582745"/>
              </a:xfrm>
              <a:blipFill>
                <a:blip r:embed="rId2"/>
                <a:stretch>
                  <a:fillRect l="-604" t="-1463" b="-5366"/>
                </a:stretch>
              </a:blipFill>
            </p:spPr>
            <p:txBody>
              <a:bodyPr/>
              <a:lstStyle/>
              <a:p>
                <a:r>
                  <a:rPr lang="zh-CN" altLang="en-US">
                    <a:noFill/>
                  </a:rPr>
                  <a:t> </a:t>
                </a:r>
              </a:p>
            </p:txBody>
          </p:sp>
        </mc:Fallback>
      </mc:AlternateContent>
      <p:sp>
        <p:nvSpPr>
          <p:cNvPr id="2" name="页脚占位符 1">
            <a:extLst>
              <a:ext uri="{FF2B5EF4-FFF2-40B4-BE49-F238E27FC236}">
                <a16:creationId xmlns:a16="http://schemas.microsoft.com/office/drawing/2014/main" id="{8C66E9B8-A74E-F46B-6CDE-6A245C90FA6F}"/>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3</a:t>
            </a:r>
            <a:r>
              <a:rPr lang="zh-CN" altLang="en-US" sz="907" i="1" dirty="0">
                <a:solidFill>
                  <a:srgbClr val="777777"/>
                </a:solidFill>
                <a:ea typeface="宋体" panose="02010600030101010101" pitchFamily="2" charset="-122"/>
              </a:rPr>
              <a:t>节 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43061726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type="body" idx="1"/>
          </p:nvPr>
        </p:nvSpPr>
        <p:spPr/>
        <p:txBody>
          <a:bodyPr/>
          <a:lstStyle/>
          <a:p>
            <a:pPr eaLnBrk="1" hangingPunct="1">
              <a:buFont typeface="Wingdings" panose="05000000000000000000" pitchFamily="2" charset="2"/>
              <a:buNone/>
            </a:pPr>
            <a:endParaRPr lang="zh-CN" altLang="en-US" dirty="0">
              <a:ea typeface="宋体" panose="02010600030101010101" pitchFamily="2" charset="-122"/>
            </a:endParaRPr>
          </a:p>
          <a:p>
            <a:pPr eaLnBrk="1" hangingPunct="1">
              <a:buFont typeface="Wingdings" panose="05000000000000000000" pitchFamily="2" charset="2"/>
              <a:buNone/>
            </a:pPr>
            <a:r>
              <a:rPr lang="zh-CN" altLang="en-US" dirty="0">
                <a:ea typeface="宋体" panose="02010600030101010101" pitchFamily="2" charset="-122"/>
              </a:rPr>
              <a:t> </a:t>
            </a:r>
          </a:p>
        </p:txBody>
      </p:sp>
      <mc:AlternateContent xmlns:mc="http://schemas.openxmlformats.org/markup-compatibility/2006" xmlns:a14="http://schemas.microsoft.com/office/drawing/2010/main">
        <mc:Choice Requires="a14">
          <p:sp>
            <p:nvSpPr>
              <p:cNvPr id="9" name="内容占位符 2"/>
              <p:cNvSpPr txBox="1">
                <a:spLocks/>
              </p:cNvSpPr>
              <p:nvPr/>
            </p:nvSpPr>
            <p:spPr bwMode="auto">
              <a:xfrm>
                <a:off x="236260" y="508679"/>
                <a:ext cx="3976211" cy="21938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46101" tIns="23051" rIns="46101" bIns="23051" numCol="1" anchor="t" anchorCtr="0" compatLnSpc="1">
                <a:prstTxWarp prst="textNoShape">
                  <a:avLst/>
                </a:prstTxWarp>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5260" indent="-115260" defTabSz="461040">
                  <a:spcBef>
                    <a:spcPts val="504"/>
                  </a:spcBef>
                  <a:defRPr/>
                </a:pPr>
                <a:r>
                  <a:rPr lang="zh-CN" altLang="en-US" sz="1210" dirty="0">
                    <a:solidFill>
                      <a:prstClr val="black"/>
                    </a:solidFill>
                    <a:latin typeface="Garamond" panose="02020404030301010803" pitchFamily="18" charset="0"/>
                    <a:ea typeface="SimSun" panose="02010600030101010101" pitchFamily="2" charset="-122"/>
                  </a:rPr>
                  <a:t>如果资本边际效率大于市场利率，则此投资就值得，否则就不值得。</a:t>
                </a:r>
                <a:endParaRPr lang="en-US" altLang="zh-CN" sz="1210" dirty="0">
                  <a:solidFill>
                    <a:prstClr val="black"/>
                  </a:solidFill>
                  <a:latin typeface="Garamond" panose="02020404030301010803" pitchFamily="18" charset="0"/>
                  <a:ea typeface="SimSun" panose="02010600030101010101" pitchFamily="2" charset="-122"/>
                </a:endParaRPr>
              </a:p>
              <a:p>
                <a:pPr marL="115260" indent="-115260" defTabSz="461040">
                  <a:spcBef>
                    <a:spcPts val="504"/>
                  </a:spcBef>
                  <a:defRPr/>
                </a:pPr>
                <a:r>
                  <a:rPr lang="zh-CN" altLang="en-US" sz="1210" dirty="0">
                    <a:solidFill>
                      <a:prstClr val="black"/>
                    </a:solidFill>
                    <a:latin typeface="Garamond" panose="02020404030301010803" pitchFamily="18" charset="0"/>
                    <a:ea typeface="SimSun" panose="02010600030101010101" pitchFamily="2" charset="-122"/>
                  </a:rPr>
                  <a:t>由</a:t>
                </a:r>
                <a14:m>
                  <m:oMath xmlns:m="http://schemas.openxmlformats.org/officeDocument/2006/math">
                    <m:r>
                      <a:rPr lang="en-US" altLang="zh-CN" sz="1210" i="1">
                        <a:solidFill>
                          <a:prstClr val="black"/>
                        </a:solidFill>
                        <a:latin typeface="Cambria Math" panose="02040503050406030204" pitchFamily="18" charset="0"/>
                        <a:ea typeface="楷体" panose="02010609060101010101" pitchFamily="49" charset="-122"/>
                      </a:rPr>
                      <m:t>𝑅</m:t>
                    </m:r>
                    <m:r>
                      <a:rPr lang="en-US" altLang="zh-CN" sz="1210" i="1">
                        <a:solidFill>
                          <a:prstClr val="black"/>
                        </a:solidFill>
                        <a:latin typeface="Cambria Math" panose="02040503050406030204" pitchFamily="18" charset="0"/>
                        <a:ea typeface="楷体" panose="02010609060101010101" pitchFamily="49" charset="-122"/>
                      </a:rPr>
                      <m:t>=</m:t>
                    </m:r>
                    <m:f>
                      <m:fPr>
                        <m:ctrlPr>
                          <a:rPr lang="en-US" altLang="zh-CN" sz="1210" i="1">
                            <a:solidFill>
                              <a:prstClr val="black"/>
                            </a:solidFill>
                            <a:latin typeface="Cambria Math" panose="02040503050406030204" pitchFamily="18" charset="0"/>
                            <a:ea typeface="楷体" panose="02010609060101010101" pitchFamily="49" charset="-122"/>
                          </a:rPr>
                        </m:ctrlPr>
                      </m:fPr>
                      <m:num>
                        <m:sSub>
                          <m:sSubPr>
                            <m:ctrlPr>
                              <a:rPr lang="en-US" altLang="zh-CN" sz="1210" i="1">
                                <a:solidFill>
                                  <a:prstClr val="black"/>
                                </a:solidFill>
                                <a:latin typeface="Cambria Math" panose="02040503050406030204" pitchFamily="18" charset="0"/>
                                <a:ea typeface="楷体" panose="02010609060101010101" pitchFamily="49" charset="-122"/>
                              </a:rPr>
                            </m:ctrlPr>
                          </m:sSubPr>
                          <m:e>
                            <m:r>
                              <a:rPr lang="en-US" altLang="zh-CN" sz="1210" i="1">
                                <a:solidFill>
                                  <a:prstClr val="black"/>
                                </a:solidFill>
                                <a:latin typeface="Cambria Math" panose="02040503050406030204" pitchFamily="18" charset="0"/>
                                <a:ea typeface="楷体" panose="02010609060101010101" pitchFamily="49" charset="-122"/>
                              </a:rPr>
                              <m:t>𝑅</m:t>
                            </m:r>
                          </m:e>
                          <m:sub>
                            <m:r>
                              <a:rPr lang="en-US" altLang="zh-CN" sz="1210" i="1">
                                <a:solidFill>
                                  <a:prstClr val="black"/>
                                </a:solidFill>
                                <a:latin typeface="Cambria Math" panose="02040503050406030204" pitchFamily="18" charset="0"/>
                                <a:ea typeface="楷体" panose="02010609060101010101" pitchFamily="49" charset="-122"/>
                              </a:rPr>
                              <m:t>1</m:t>
                            </m:r>
                          </m:sub>
                        </m:sSub>
                      </m:num>
                      <m:den>
                        <m:r>
                          <a:rPr lang="en-US" altLang="zh-CN" sz="1210" i="1">
                            <a:solidFill>
                              <a:prstClr val="black"/>
                            </a:solidFill>
                            <a:latin typeface="Cambria Math" panose="02040503050406030204" pitchFamily="18" charset="0"/>
                            <a:ea typeface="楷体" panose="02010609060101010101" pitchFamily="49" charset="-122"/>
                          </a:rPr>
                          <m:t>1+</m:t>
                        </m:r>
                        <m:r>
                          <a:rPr lang="en-US" altLang="zh-CN" sz="1210" i="1">
                            <a:solidFill>
                              <a:prstClr val="black"/>
                            </a:solidFill>
                            <a:latin typeface="Cambria Math" panose="02040503050406030204" pitchFamily="18" charset="0"/>
                            <a:ea typeface="楷体" panose="02010609060101010101" pitchFamily="49" charset="-122"/>
                          </a:rPr>
                          <m:t>𝑟</m:t>
                        </m:r>
                      </m:den>
                    </m:f>
                    <m:r>
                      <a:rPr lang="en-US" altLang="zh-CN" sz="1210" i="1">
                        <a:solidFill>
                          <a:prstClr val="black"/>
                        </a:solidFill>
                        <a:latin typeface="Cambria Math" panose="02040503050406030204" pitchFamily="18" charset="0"/>
                        <a:ea typeface="楷体" panose="02010609060101010101" pitchFamily="49" charset="-122"/>
                      </a:rPr>
                      <m:t>+</m:t>
                    </m:r>
                    <m:f>
                      <m:fPr>
                        <m:ctrlPr>
                          <a:rPr lang="en-US" altLang="zh-CN" sz="1210" i="1">
                            <a:solidFill>
                              <a:prstClr val="black"/>
                            </a:solidFill>
                            <a:latin typeface="Cambria Math" panose="02040503050406030204" pitchFamily="18" charset="0"/>
                            <a:ea typeface="楷体" panose="02010609060101010101" pitchFamily="49" charset="-122"/>
                          </a:rPr>
                        </m:ctrlPr>
                      </m:fPr>
                      <m:num>
                        <m:sSub>
                          <m:sSubPr>
                            <m:ctrlPr>
                              <a:rPr lang="en-US" altLang="zh-CN" sz="1210" i="1">
                                <a:solidFill>
                                  <a:prstClr val="black"/>
                                </a:solidFill>
                                <a:latin typeface="Cambria Math" panose="02040503050406030204" pitchFamily="18" charset="0"/>
                                <a:ea typeface="楷体" panose="02010609060101010101" pitchFamily="49" charset="-122"/>
                              </a:rPr>
                            </m:ctrlPr>
                          </m:sSubPr>
                          <m:e>
                            <m:r>
                              <a:rPr lang="en-US" altLang="zh-CN" sz="1210" i="1">
                                <a:solidFill>
                                  <a:prstClr val="black"/>
                                </a:solidFill>
                                <a:latin typeface="Cambria Math" panose="02040503050406030204" pitchFamily="18" charset="0"/>
                                <a:ea typeface="楷体" panose="02010609060101010101" pitchFamily="49" charset="-122"/>
                              </a:rPr>
                              <m:t>𝑅</m:t>
                            </m:r>
                          </m:e>
                          <m:sub>
                            <m:r>
                              <a:rPr lang="en-US" altLang="zh-CN" sz="1210" i="1">
                                <a:solidFill>
                                  <a:prstClr val="black"/>
                                </a:solidFill>
                                <a:latin typeface="Cambria Math" panose="02040503050406030204" pitchFamily="18" charset="0"/>
                                <a:ea typeface="楷体" panose="02010609060101010101" pitchFamily="49" charset="-122"/>
                              </a:rPr>
                              <m:t>2</m:t>
                            </m:r>
                          </m:sub>
                        </m:sSub>
                      </m:num>
                      <m:den>
                        <m:sSup>
                          <m:sSupPr>
                            <m:ctrlPr>
                              <a:rPr lang="en-US" altLang="zh-CN" sz="1210" i="1">
                                <a:solidFill>
                                  <a:prstClr val="black"/>
                                </a:solidFill>
                                <a:latin typeface="Cambria Math" panose="02040503050406030204" pitchFamily="18" charset="0"/>
                                <a:ea typeface="楷体" panose="02010609060101010101" pitchFamily="49" charset="-122"/>
                              </a:rPr>
                            </m:ctrlPr>
                          </m:sSupPr>
                          <m:e>
                            <m:d>
                              <m:dPr>
                                <m:ctrlPr>
                                  <a:rPr lang="en-US" altLang="zh-CN" sz="1210" i="1">
                                    <a:solidFill>
                                      <a:prstClr val="black"/>
                                    </a:solidFill>
                                    <a:latin typeface="Cambria Math" panose="02040503050406030204" pitchFamily="18" charset="0"/>
                                    <a:ea typeface="楷体" panose="02010609060101010101" pitchFamily="49" charset="-122"/>
                                  </a:rPr>
                                </m:ctrlPr>
                              </m:dPr>
                              <m:e>
                                <m:r>
                                  <a:rPr lang="en-US" altLang="zh-CN" sz="1210" i="1">
                                    <a:solidFill>
                                      <a:prstClr val="black"/>
                                    </a:solidFill>
                                    <a:latin typeface="Cambria Math" panose="02040503050406030204" pitchFamily="18" charset="0"/>
                                    <a:ea typeface="楷体" panose="02010609060101010101" pitchFamily="49" charset="-122"/>
                                  </a:rPr>
                                  <m:t>1+</m:t>
                                </m:r>
                                <m:r>
                                  <a:rPr lang="en-US" altLang="zh-CN" sz="1210" i="1">
                                    <a:solidFill>
                                      <a:prstClr val="black"/>
                                    </a:solidFill>
                                    <a:latin typeface="Cambria Math" panose="02040503050406030204" pitchFamily="18" charset="0"/>
                                    <a:ea typeface="楷体" panose="02010609060101010101" pitchFamily="49" charset="-122"/>
                                  </a:rPr>
                                  <m:t>𝑟</m:t>
                                </m:r>
                              </m:e>
                            </m:d>
                          </m:e>
                          <m:sup>
                            <m:r>
                              <a:rPr lang="en-US" altLang="zh-CN" sz="1210" i="1">
                                <a:solidFill>
                                  <a:prstClr val="black"/>
                                </a:solidFill>
                                <a:latin typeface="Cambria Math" panose="02040503050406030204" pitchFamily="18" charset="0"/>
                                <a:ea typeface="楷体" panose="02010609060101010101" pitchFamily="49" charset="-122"/>
                              </a:rPr>
                              <m:t>2</m:t>
                            </m:r>
                          </m:sup>
                        </m:sSup>
                      </m:den>
                    </m:f>
                    <m:r>
                      <a:rPr lang="en-US" altLang="zh-CN" sz="1210" i="1">
                        <a:solidFill>
                          <a:prstClr val="black"/>
                        </a:solidFill>
                        <a:latin typeface="Cambria Math" panose="02040503050406030204" pitchFamily="18" charset="0"/>
                        <a:ea typeface="楷体" panose="02010609060101010101" pitchFamily="49" charset="-122"/>
                      </a:rPr>
                      <m:t>+…+</m:t>
                    </m:r>
                    <m:f>
                      <m:fPr>
                        <m:ctrlPr>
                          <a:rPr lang="en-US" altLang="zh-CN" sz="1210" i="1">
                            <a:solidFill>
                              <a:prstClr val="black"/>
                            </a:solidFill>
                            <a:latin typeface="Cambria Math" panose="02040503050406030204" pitchFamily="18" charset="0"/>
                            <a:ea typeface="楷体" panose="02010609060101010101" pitchFamily="49" charset="-122"/>
                          </a:rPr>
                        </m:ctrlPr>
                      </m:fPr>
                      <m:num>
                        <m:sSub>
                          <m:sSubPr>
                            <m:ctrlPr>
                              <a:rPr lang="en-US" altLang="zh-CN" sz="1210" i="1">
                                <a:solidFill>
                                  <a:prstClr val="black"/>
                                </a:solidFill>
                                <a:latin typeface="Cambria Math" panose="02040503050406030204" pitchFamily="18" charset="0"/>
                                <a:ea typeface="楷体" panose="02010609060101010101" pitchFamily="49" charset="-122"/>
                              </a:rPr>
                            </m:ctrlPr>
                          </m:sSubPr>
                          <m:e>
                            <m:r>
                              <a:rPr lang="en-US" altLang="zh-CN" sz="1210" i="1">
                                <a:solidFill>
                                  <a:prstClr val="black"/>
                                </a:solidFill>
                                <a:latin typeface="Cambria Math" panose="02040503050406030204" pitchFamily="18" charset="0"/>
                                <a:ea typeface="楷体" panose="02010609060101010101" pitchFamily="49" charset="-122"/>
                              </a:rPr>
                              <m:t>𝑅</m:t>
                            </m:r>
                          </m:e>
                          <m:sub>
                            <m:r>
                              <a:rPr lang="en-US" altLang="zh-CN" sz="1210" i="1">
                                <a:solidFill>
                                  <a:prstClr val="black"/>
                                </a:solidFill>
                                <a:latin typeface="Cambria Math" panose="02040503050406030204" pitchFamily="18" charset="0"/>
                                <a:ea typeface="楷体" panose="02010609060101010101" pitchFamily="49" charset="-122"/>
                              </a:rPr>
                              <m:t>𝑛</m:t>
                            </m:r>
                          </m:sub>
                        </m:sSub>
                      </m:num>
                      <m:den>
                        <m:sSup>
                          <m:sSupPr>
                            <m:ctrlPr>
                              <a:rPr lang="en-US" altLang="zh-CN" sz="1210" i="1">
                                <a:solidFill>
                                  <a:prstClr val="black"/>
                                </a:solidFill>
                                <a:latin typeface="Cambria Math" panose="02040503050406030204" pitchFamily="18" charset="0"/>
                                <a:ea typeface="楷体" panose="02010609060101010101" pitchFamily="49" charset="-122"/>
                              </a:rPr>
                            </m:ctrlPr>
                          </m:sSupPr>
                          <m:e>
                            <m:d>
                              <m:dPr>
                                <m:ctrlPr>
                                  <a:rPr lang="en-US" altLang="zh-CN" sz="1210" i="1">
                                    <a:solidFill>
                                      <a:prstClr val="black"/>
                                    </a:solidFill>
                                    <a:latin typeface="Cambria Math" panose="02040503050406030204" pitchFamily="18" charset="0"/>
                                    <a:ea typeface="楷体" panose="02010609060101010101" pitchFamily="49" charset="-122"/>
                                  </a:rPr>
                                </m:ctrlPr>
                              </m:dPr>
                              <m:e>
                                <m:r>
                                  <a:rPr lang="en-US" altLang="zh-CN" sz="1210" i="1">
                                    <a:solidFill>
                                      <a:prstClr val="black"/>
                                    </a:solidFill>
                                    <a:latin typeface="Cambria Math" panose="02040503050406030204" pitchFamily="18" charset="0"/>
                                    <a:ea typeface="楷体" panose="02010609060101010101" pitchFamily="49" charset="-122"/>
                                  </a:rPr>
                                  <m:t>1+</m:t>
                                </m:r>
                                <m:r>
                                  <a:rPr lang="en-US" altLang="zh-CN" sz="1210" i="1">
                                    <a:solidFill>
                                      <a:prstClr val="black"/>
                                    </a:solidFill>
                                    <a:latin typeface="Cambria Math" panose="02040503050406030204" pitchFamily="18" charset="0"/>
                                    <a:ea typeface="楷体" panose="02010609060101010101" pitchFamily="49" charset="-122"/>
                                  </a:rPr>
                                  <m:t>𝑟</m:t>
                                </m:r>
                              </m:e>
                            </m:d>
                          </m:e>
                          <m:sup>
                            <m:r>
                              <a:rPr lang="en-US" altLang="zh-CN" sz="1210" i="1">
                                <a:solidFill>
                                  <a:prstClr val="black"/>
                                </a:solidFill>
                                <a:latin typeface="Cambria Math" panose="02040503050406030204" pitchFamily="18" charset="0"/>
                                <a:ea typeface="楷体" panose="02010609060101010101" pitchFamily="49" charset="-122"/>
                              </a:rPr>
                              <m:t>𝑛</m:t>
                            </m:r>
                          </m:sup>
                        </m:sSup>
                      </m:den>
                    </m:f>
                    <m:r>
                      <a:rPr lang="en-US" altLang="zh-CN" sz="1210" i="1">
                        <a:solidFill>
                          <a:prstClr val="black"/>
                        </a:solidFill>
                        <a:latin typeface="Cambria Math" panose="02040503050406030204" pitchFamily="18" charset="0"/>
                        <a:ea typeface="楷体" panose="02010609060101010101" pitchFamily="49" charset="-122"/>
                      </a:rPr>
                      <m:t>+</m:t>
                    </m:r>
                    <m:f>
                      <m:fPr>
                        <m:ctrlPr>
                          <a:rPr lang="en-US" altLang="zh-CN" sz="1210" i="1">
                            <a:solidFill>
                              <a:prstClr val="black"/>
                            </a:solidFill>
                            <a:latin typeface="Cambria Math" panose="02040503050406030204" pitchFamily="18" charset="0"/>
                            <a:ea typeface="楷体" panose="02010609060101010101" pitchFamily="49" charset="-122"/>
                          </a:rPr>
                        </m:ctrlPr>
                      </m:fPr>
                      <m:num>
                        <m:r>
                          <a:rPr lang="en-US" altLang="zh-CN" sz="1210" i="1">
                            <a:solidFill>
                              <a:prstClr val="black"/>
                            </a:solidFill>
                            <a:latin typeface="Cambria Math" panose="02040503050406030204" pitchFamily="18" charset="0"/>
                            <a:ea typeface="楷体" panose="02010609060101010101" pitchFamily="49" charset="-122"/>
                          </a:rPr>
                          <m:t>𝐽</m:t>
                        </m:r>
                      </m:num>
                      <m:den>
                        <m:sSup>
                          <m:sSupPr>
                            <m:ctrlPr>
                              <a:rPr lang="en-US" altLang="zh-CN" sz="1210" i="1">
                                <a:solidFill>
                                  <a:prstClr val="black"/>
                                </a:solidFill>
                                <a:latin typeface="Cambria Math" panose="02040503050406030204" pitchFamily="18" charset="0"/>
                                <a:ea typeface="楷体" panose="02010609060101010101" pitchFamily="49" charset="-122"/>
                              </a:rPr>
                            </m:ctrlPr>
                          </m:sSupPr>
                          <m:e>
                            <m:d>
                              <m:dPr>
                                <m:ctrlPr>
                                  <a:rPr lang="en-US" altLang="zh-CN" sz="1210" i="1">
                                    <a:solidFill>
                                      <a:prstClr val="black"/>
                                    </a:solidFill>
                                    <a:latin typeface="Cambria Math" panose="02040503050406030204" pitchFamily="18" charset="0"/>
                                    <a:ea typeface="楷体" panose="02010609060101010101" pitchFamily="49" charset="-122"/>
                                  </a:rPr>
                                </m:ctrlPr>
                              </m:dPr>
                              <m:e>
                                <m:r>
                                  <a:rPr lang="en-US" altLang="zh-CN" sz="1210" i="1">
                                    <a:solidFill>
                                      <a:prstClr val="black"/>
                                    </a:solidFill>
                                    <a:latin typeface="Cambria Math" panose="02040503050406030204" pitchFamily="18" charset="0"/>
                                    <a:ea typeface="楷体" panose="02010609060101010101" pitchFamily="49" charset="-122"/>
                                  </a:rPr>
                                  <m:t>1+</m:t>
                                </m:r>
                                <m:r>
                                  <a:rPr lang="en-US" altLang="zh-CN" sz="1210" i="1">
                                    <a:solidFill>
                                      <a:prstClr val="black"/>
                                    </a:solidFill>
                                    <a:latin typeface="Cambria Math" panose="02040503050406030204" pitchFamily="18" charset="0"/>
                                    <a:ea typeface="楷体" panose="02010609060101010101" pitchFamily="49" charset="-122"/>
                                  </a:rPr>
                                  <m:t>𝑟</m:t>
                                </m:r>
                              </m:e>
                            </m:d>
                          </m:e>
                          <m:sup>
                            <m:r>
                              <a:rPr lang="en-US" altLang="zh-CN" sz="1210" i="1">
                                <a:solidFill>
                                  <a:prstClr val="black"/>
                                </a:solidFill>
                                <a:latin typeface="Cambria Math" panose="02040503050406030204" pitchFamily="18" charset="0"/>
                                <a:ea typeface="楷体" panose="02010609060101010101" pitchFamily="49" charset="-122"/>
                              </a:rPr>
                              <m:t>𝑛</m:t>
                            </m:r>
                          </m:sup>
                        </m:sSup>
                      </m:den>
                    </m:f>
                  </m:oMath>
                </a14:m>
                <a:r>
                  <a:rPr lang="zh-CN" altLang="en-US" sz="1210" dirty="0">
                    <a:solidFill>
                      <a:prstClr val="black"/>
                    </a:solidFill>
                    <a:latin typeface="Garamond" panose="02020404030301010803" pitchFamily="18" charset="0"/>
                    <a:ea typeface="SimSun" panose="02010600030101010101" pitchFamily="2" charset="-122"/>
                  </a:rPr>
                  <a:t>可知，</a:t>
                </a:r>
                <a:endParaRPr lang="en-US" altLang="zh-CN" sz="1210" dirty="0">
                  <a:solidFill>
                    <a:prstClr val="black"/>
                  </a:solidFill>
                  <a:latin typeface="Garamond" panose="02020404030301010803" pitchFamily="18" charset="0"/>
                  <a:ea typeface="SimSun" panose="02010600030101010101" pitchFamily="2" charset="-122"/>
                </a:endParaRPr>
              </a:p>
              <a:p>
                <a:pPr marL="115260" indent="-115260" defTabSz="461040">
                  <a:spcBef>
                    <a:spcPts val="504"/>
                  </a:spcBef>
                  <a:defRPr/>
                </a:pPr>
                <a14:m>
                  <m:oMath xmlns:m="http://schemas.openxmlformats.org/officeDocument/2006/math">
                    <m:r>
                      <m:rPr>
                        <m:sty m:val="p"/>
                      </m:rPr>
                      <a:rPr lang="en-US" altLang="zh-CN" sz="1210">
                        <a:solidFill>
                          <a:prstClr val="black"/>
                        </a:solidFill>
                        <a:latin typeface="Cambria Math" panose="02040503050406030204" pitchFamily="18" charset="0"/>
                        <a:ea typeface="楷体" panose="02010609060101010101" pitchFamily="49" charset="-122"/>
                      </a:rPr>
                      <m:t>r</m:t>
                    </m:r>
                    <m:r>
                      <a:rPr lang="zh-CN" altLang="en-US" sz="1210">
                        <a:solidFill>
                          <a:prstClr val="black"/>
                        </a:solidFill>
                        <a:latin typeface="Cambria Math" panose="02040503050406030204" pitchFamily="18" charset="0"/>
                        <a:ea typeface="楷体" panose="02010609060101010101" pitchFamily="49" charset="-122"/>
                      </a:rPr>
                      <m:t>取决于</m:t>
                    </m:r>
                  </m:oMath>
                </a14:m>
                <a:r>
                  <a:rPr lang="zh-CN" altLang="en-US" sz="1210" dirty="0">
                    <a:solidFill>
                      <a:prstClr val="black"/>
                    </a:solidFill>
                    <a:latin typeface="楷体" panose="02010609060101010101" pitchFamily="49" charset="-122"/>
                    <a:ea typeface="楷体" panose="02010609060101010101" pitchFamily="49" charset="-122"/>
                  </a:rPr>
                  <a:t>资本品的供给价格和预期收益：</a:t>
                </a:r>
                <a:endParaRPr lang="en-US" altLang="zh-CN" sz="1210" dirty="0">
                  <a:solidFill>
                    <a:prstClr val="black"/>
                  </a:solidFill>
                  <a:latin typeface="楷体" panose="02010609060101010101" pitchFamily="49" charset="-122"/>
                  <a:ea typeface="楷体" panose="02010609060101010101" pitchFamily="49" charset="-122"/>
                </a:endParaRPr>
              </a:p>
              <a:p>
                <a:pPr marL="115260" indent="-115260" defTabSz="461040">
                  <a:spcBef>
                    <a:spcPts val="504"/>
                  </a:spcBef>
                  <a:defRPr/>
                </a:pPr>
                <a:r>
                  <a:rPr lang="zh-CN" altLang="en-US" sz="1210" dirty="0">
                    <a:solidFill>
                      <a:prstClr val="black"/>
                    </a:solidFill>
                    <a:latin typeface="楷体" panose="02010609060101010101" pitchFamily="49" charset="-122"/>
                    <a:ea typeface="楷体" panose="02010609060101010101" pitchFamily="49" charset="-122"/>
                  </a:rPr>
                  <a:t>当预期收益既定时，供给价格越大，</a:t>
                </a:r>
                <a:r>
                  <a:rPr lang="en-US" altLang="zh-CN" sz="1210" dirty="0">
                    <a:solidFill>
                      <a:prstClr val="black"/>
                    </a:solidFill>
                    <a:latin typeface="楷体" panose="02010609060101010101" pitchFamily="49" charset="-122"/>
                    <a:ea typeface="楷体" panose="02010609060101010101" pitchFamily="49" charset="-122"/>
                  </a:rPr>
                  <a:t> </a:t>
                </a:r>
                <a14:m>
                  <m:oMath xmlns:m="http://schemas.openxmlformats.org/officeDocument/2006/math">
                    <m:r>
                      <m:rPr>
                        <m:sty m:val="p"/>
                      </m:rPr>
                      <a:rPr lang="en-US" altLang="zh-CN" sz="1210">
                        <a:solidFill>
                          <a:prstClr val="black"/>
                        </a:solidFill>
                        <a:latin typeface="Cambria Math" panose="02040503050406030204" pitchFamily="18" charset="0"/>
                        <a:ea typeface="楷体" panose="02010609060101010101" pitchFamily="49" charset="-122"/>
                      </a:rPr>
                      <m:t>r</m:t>
                    </m:r>
                  </m:oMath>
                </a14:m>
                <a:r>
                  <a:rPr lang="zh-CN" altLang="en-US" sz="1210" dirty="0">
                    <a:solidFill>
                      <a:prstClr val="black"/>
                    </a:solidFill>
                    <a:latin typeface="楷体" panose="02010609060101010101" pitchFamily="49" charset="-122"/>
                    <a:ea typeface="楷体" panose="02010609060101010101" pitchFamily="49" charset="-122"/>
                  </a:rPr>
                  <a:t>越小；</a:t>
                </a:r>
                <a:endParaRPr lang="en-US" altLang="zh-CN" sz="1210" dirty="0">
                  <a:solidFill>
                    <a:prstClr val="black"/>
                  </a:solidFill>
                  <a:latin typeface="楷体" panose="02010609060101010101" pitchFamily="49" charset="-122"/>
                  <a:ea typeface="楷体" panose="02010609060101010101" pitchFamily="49" charset="-122"/>
                </a:endParaRPr>
              </a:p>
              <a:p>
                <a:pPr marL="115260" indent="-115260" defTabSz="461040">
                  <a:spcBef>
                    <a:spcPts val="504"/>
                  </a:spcBef>
                  <a:defRPr/>
                </a:pPr>
                <a:r>
                  <a:rPr lang="zh-CN" altLang="en-US" sz="1210" dirty="0">
                    <a:solidFill>
                      <a:prstClr val="black"/>
                    </a:solidFill>
                    <a:latin typeface="楷体" panose="02010609060101010101" pitchFamily="49" charset="-122"/>
                    <a:ea typeface="楷体" panose="02010609060101010101" pitchFamily="49" charset="-122"/>
                  </a:rPr>
                  <a:t>当供给价格既定时，预期收益越大，</a:t>
                </a:r>
                <a:r>
                  <a:rPr lang="en-US" altLang="zh-CN" sz="1210" dirty="0">
                    <a:solidFill>
                      <a:prstClr val="black"/>
                    </a:solidFill>
                    <a:latin typeface="楷体" panose="02010609060101010101" pitchFamily="49" charset="-122"/>
                    <a:ea typeface="楷体" panose="02010609060101010101" pitchFamily="49" charset="-122"/>
                  </a:rPr>
                  <a:t> </a:t>
                </a:r>
                <a14:m>
                  <m:oMath xmlns:m="http://schemas.openxmlformats.org/officeDocument/2006/math">
                    <m:r>
                      <m:rPr>
                        <m:sty m:val="p"/>
                      </m:rPr>
                      <a:rPr lang="en-US" altLang="zh-CN" sz="1210">
                        <a:solidFill>
                          <a:prstClr val="black"/>
                        </a:solidFill>
                        <a:latin typeface="Cambria Math" panose="02040503050406030204" pitchFamily="18" charset="0"/>
                        <a:ea typeface="楷体" panose="02010609060101010101" pitchFamily="49" charset="-122"/>
                      </a:rPr>
                      <m:t>r</m:t>
                    </m:r>
                  </m:oMath>
                </a14:m>
                <a:r>
                  <a:rPr lang="zh-CN" altLang="en-US" sz="1210" dirty="0">
                    <a:solidFill>
                      <a:prstClr val="black"/>
                    </a:solidFill>
                    <a:latin typeface="楷体" panose="02010609060101010101" pitchFamily="49" charset="-122"/>
                    <a:ea typeface="楷体" panose="02010609060101010101" pitchFamily="49" charset="-122"/>
                  </a:rPr>
                  <a:t>越大。</a:t>
                </a:r>
                <a:endParaRPr lang="en-US" altLang="zh-CN" sz="1210" dirty="0">
                  <a:solidFill>
                    <a:prstClr val="black"/>
                  </a:solidFill>
                  <a:latin typeface="楷体" panose="02010609060101010101" pitchFamily="49" charset="-122"/>
                  <a:ea typeface="楷体" panose="02010609060101010101" pitchFamily="49" charset="-122"/>
                </a:endParaRPr>
              </a:p>
              <a:p>
                <a:pPr marL="115260" indent="-115260" defTabSz="461040">
                  <a:spcBef>
                    <a:spcPts val="504"/>
                  </a:spcBef>
                  <a:defRPr/>
                </a:pPr>
                <a:endParaRPr lang="zh-CN" altLang="en-US" sz="1210" dirty="0">
                  <a:solidFill>
                    <a:prstClr val="black"/>
                  </a:solidFill>
                  <a:latin typeface="Calibri" panose="020F0502020204030204"/>
                  <a:ea typeface="等线" panose="02010600030101010101" pitchFamily="2" charset="-122"/>
                </a:endParaRPr>
              </a:p>
            </p:txBody>
          </p:sp>
        </mc:Choice>
        <mc:Fallback xmlns="">
          <p:sp>
            <p:nvSpPr>
              <p:cNvPr id="9" name="内容占位符 2"/>
              <p:cNvSpPr txBox="1">
                <a:spLocks noRot="1" noChangeAspect="1" noMove="1" noResize="1" noEditPoints="1" noAdjustHandles="1" noChangeArrowheads="1" noChangeShapeType="1" noTextEdit="1"/>
              </p:cNvSpPr>
              <p:nvPr/>
            </p:nvSpPr>
            <p:spPr bwMode="auto">
              <a:xfrm>
                <a:off x="236260" y="508679"/>
                <a:ext cx="3976211" cy="2193800"/>
              </a:xfrm>
              <a:prstGeom prst="rect">
                <a:avLst/>
              </a:prstGeom>
              <a:blipFill>
                <a:blip r:embed="rId2"/>
                <a:stretch>
                  <a:fillRect l="-1274" t="-172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 name="标题 1">
            <a:extLst>
              <a:ext uri="{FF2B5EF4-FFF2-40B4-BE49-F238E27FC236}">
                <a16:creationId xmlns:a16="http://schemas.microsoft.com/office/drawing/2014/main" id="{92EFEC2B-91BE-87BA-55D7-94CF14EAD7E4}"/>
              </a:ext>
            </a:extLst>
          </p:cNvPr>
          <p:cNvSpPr>
            <a:spLocks noGrp="1"/>
          </p:cNvSpPr>
          <p:nvPr>
            <p:ph type="title"/>
          </p:nvPr>
        </p:nvSpPr>
        <p:spPr/>
        <p:txBody>
          <a:bodyPr/>
          <a:lstStyle/>
          <a:p>
            <a:r>
              <a:rPr kumimoji="1" lang="zh-CN" altLang="en-US" dirty="0"/>
              <a:t>资本边际效率曲线</a:t>
            </a:r>
          </a:p>
        </p:txBody>
      </p:sp>
      <p:sp>
        <p:nvSpPr>
          <p:cNvPr id="4" name="灯片编号占位符 2">
            <a:extLst>
              <a:ext uri="{FF2B5EF4-FFF2-40B4-BE49-F238E27FC236}">
                <a16:creationId xmlns:a16="http://schemas.microsoft.com/office/drawing/2014/main" id="{64C347BD-4FB4-16DC-1E27-1EA92C15F55E}"/>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68</a:t>
            </a:fld>
            <a:endParaRPr lang="zh-CN" altLang="zh-CN" sz="856">
              <a:solidFill>
                <a:srgbClr val="777777"/>
              </a:solidFill>
              <a:ea typeface="宋体" panose="02010600030101010101" pitchFamily="2" charset="-122"/>
            </a:endParaRPr>
          </a:p>
        </p:txBody>
      </p:sp>
      <p:sp>
        <p:nvSpPr>
          <p:cNvPr id="3" name="页脚占位符 1">
            <a:extLst>
              <a:ext uri="{FF2B5EF4-FFF2-40B4-BE49-F238E27FC236}">
                <a16:creationId xmlns:a16="http://schemas.microsoft.com/office/drawing/2014/main" id="{AD03233D-31A2-DBB9-B4C1-48BFF749BD30}"/>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3</a:t>
            </a:r>
            <a:r>
              <a:rPr lang="zh-CN" altLang="en-US" sz="907" i="1" dirty="0">
                <a:solidFill>
                  <a:srgbClr val="777777"/>
                </a:solidFill>
                <a:ea typeface="宋体" panose="02010600030101010101" pitchFamily="2" charset="-122"/>
              </a:rPr>
              <a:t>节 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48588652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type="body" idx="1"/>
          </p:nvPr>
        </p:nvSpPr>
        <p:spPr/>
        <p:txBody>
          <a:bodyPr/>
          <a:lstStyle/>
          <a:p>
            <a:pPr eaLnBrk="1" hangingPunct="1">
              <a:buFont typeface="Wingdings" panose="05000000000000000000" pitchFamily="2" charset="2"/>
              <a:buNone/>
            </a:pPr>
            <a:endParaRPr lang="zh-CN" altLang="en-US" sz="2000" dirty="0">
              <a:ea typeface="宋体" panose="02010600030101010101" pitchFamily="2" charset="-122"/>
            </a:endParaRPr>
          </a:p>
          <a:p>
            <a:pPr eaLnBrk="1" hangingPunct="1">
              <a:buFont typeface="Wingdings" panose="05000000000000000000" pitchFamily="2" charset="2"/>
              <a:buNone/>
            </a:pPr>
            <a:r>
              <a:rPr lang="zh-CN" altLang="en-US" sz="2000" dirty="0">
                <a:ea typeface="宋体" panose="02010600030101010101" pitchFamily="2" charset="-122"/>
              </a:rPr>
              <a:t> </a:t>
            </a:r>
          </a:p>
        </p:txBody>
      </p:sp>
      <p:grpSp>
        <p:nvGrpSpPr>
          <p:cNvPr id="6" name="组合 5"/>
          <p:cNvGrpSpPr/>
          <p:nvPr/>
        </p:nvGrpSpPr>
        <p:grpSpPr>
          <a:xfrm>
            <a:off x="465180" y="922007"/>
            <a:ext cx="3667271" cy="1816373"/>
            <a:chOff x="922672" y="1825625"/>
            <a:chExt cx="7273925" cy="3602723"/>
          </a:xfrm>
        </p:grpSpPr>
        <p:pic>
          <p:nvPicPr>
            <p:cNvPr id="10244" name="Picture 4" descr="xf14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2672" y="1825625"/>
              <a:ext cx="7273925" cy="325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5" name="Text Box 5"/>
            <p:cNvSpPr txBox="1">
              <a:spLocks noChangeArrowheads="1"/>
            </p:cNvSpPr>
            <p:nvPr/>
          </p:nvSpPr>
          <p:spPr bwMode="auto">
            <a:xfrm>
              <a:off x="995695" y="4968082"/>
              <a:ext cx="7127874" cy="460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algn="ctr" defTabSz="230520">
                <a:spcBef>
                  <a:spcPct val="50000"/>
                </a:spcBef>
                <a:defRPr/>
              </a:pPr>
              <a:r>
                <a:rPr lang="zh-CN" altLang="en-US" sz="908" b="1" dirty="0">
                  <a:solidFill>
                    <a:prstClr val="black"/>
                  </a:solidFill>
                  <a:latin typeface="KaiTi" panose="02010609060101010101" pitchFamily="49" charset="-122"/>
                  <a:ea typeface="KaiTi" panose="02010609060101010101" pitchFamily="49" charset="-122"/>
                </a:rPr>
                <a:t>某企业可供选择的投资项目</a:t>
              </a:r>
            </a:p>
          </p:txBody>
        </p:sp>
      </p:grpSp>
      <p:sp>
        <p:nvSpPr>
          <p:cNvPr id="5" name="矩形 4"/>
          <p:cNvSpPr/>
          <p:nvPr/>
        </p:nvSpPr>
        <p:spPr>
          <a:xfrm>
            <a:off x="2287956" y="1060335"/>
            <a:ext cx="1992731" cy="511487"/>
          </a:xfrm>
          <a:prstGeom prst="rect">
            <a:avLst/>
          </a:prstGeom>
        </p:spPr>
        <p:txBody>
          <a:bodyPr wrap="square">
            <a:spAutoFit/>
          </a:bodyPr>
          <a:lstStyle/>
          <a:p>
            <a:pPr defTabSz="230520">
              <a:defRPr/>
            </a:pPr>
            <a:r>
              <a:rPr lang="zh-CN" altLang="en-US" sz="908" dirty="0">
                <a:solidFill>
                  <a:prstClr val="black"/>
                </a:solidFill>
                <a:latin typeface="Garamond" panose="02020404030301010803" pitchFamily="18" charset="0"/>
                <a:ea typeface="SimSun" panose="02010600030101010101" pitchFamily="2" charset="-122"/>
              </a:rPr>
              <a:t>如果市场利率是</a:t>
            </a:r>
            <a:r>
              <a:rPr lang="en-US" altLang="zh-CN" sz="908" dirty="0">
                <a:solidFill>
                  <a:prstClr val="black"/>
                </a:solidFill>
                <a:latin typeface="Garamond" panose="02020404030301010803" pitchFamily="18" charset="0"/>
                <a:ea typeface="SimSun" panose="02010600030101010101" pitchFamily="2" charset="-122"/>
              </a:rPr>
              <a:t>10%</a:t>
            </a:r>
            <a:r>
              <a:rPr lang="zh-CN" altLang="en-US" sz="908" dirty="0">
                <a:solidFill>
                  <a:prstClr val="black"/>
                </a:solidFill>
                <a:latin typeface="Garamond" panose="02020404030301010803" pitchFamily="18" charset="0"/>
                <a:ea typeface="SimSun" panose="02010600030101010101" pitchFamily="2" charset="-122"/>
              </a:rPr>
              <a:t>，则只有</a:t>
            </a:r>
            <a:r>
              <a:rPr lang="en-US" altLang="zh-CN" sz="908" dirty="0">
                <a:solidFill>
                  <a:prstClr val="black"/>
                </a:solidFill>
                <a:latin typeface="Garamond" panose="02020404030301010803" pitchFamily="18" charset="0"/>
                <a:ea typeface="SimSun" panose="02010600030101010101" pitchFamily="2" charset="-122"/>
              </a:rPr>
              <a:t>A</a:t>
            </a:r>
            <a:r>
              <a:rPr lang="zh-CN" altLang="en-US" sz="908" dirty="0">
                <a:solidFill>
                  <a:prstClr val="black"/>
                </a:solidFill>
                <a:latin typeface="Garamond" panose="02020404030301010803" pitchFamily="18" charset="0"/>
                <a:ea typeface="SimSun" panose="02010600030101010101" pitchFamily="2" charset="-122"/>
              </a:rPr>
              <a:t>项目值得投资；若市场利率降到</a:t>
            </a:r>
            <a:r>
              <a:rPr lang="en-US" altLang="zh-CN" sz="908" dirty="0">
                <a:solidFill>
                  <a:prstClr val="black"/>
                </a:solidFill>
                <a:latin typeface="Garamond" panose="02020404030301010803" pitchFamily="18" charset="0"/>
                <a:ea typeface="SimSun" panose="02010600030101010101" pitchFamily="2" charset="-122"/>
              </a:rPr>
              <a:t>8%</a:t>
            </a:r>
            <a:r>
              <a:rPr lang="zh-CN" altLang="en-US" sz="908" dirty="0">
                <a:solidFill>
                  <a:prstClr val="black"/>
                </a:solidFill>
                <a:latin typeface="Garamond" panose="02020404030301010803" pitchFamily="18" charset="0"/>
                <a:ea typeface="SimSun" panose="02010600030101010101" pitchFamily="2" charset="-122"/>
              </a:rPr>
              <a:t>，则</a:t>
            </a:r>
            <a:r>
              <a:rPr lang="en-US" altLang="zh-CN" sz="908" dirty="0">
                <a:solidFill>
                  <a:prstClr val="black"/>
                </a:solidFill>
                <a:latin typeface="Garamond" panose="02020404030301010803" pitchFamily="18" charset="0"/>
                <a:ea typeface="SimSun" panose="02010600030101010101" pitchFamily="2" charset="-122"/>
              </a:rPr>
              <a:t>B</a:t>
            </a:r>
            <a:r>
              <a:rPr lang="zh-CN" altLang="en-US" sz="908" dirty="0">
                <a:solidFill>
                  <a:prstClr val="black"/>
                </a:solidFill>
                <a:latin typeface="Garamond" panose="02020404030301010803" pitchFamily="18" charset="0"/>
                <a:ea typeface="SimSun" panose="02010600030101010101" pitchFamily="2" charset="-122"/>
              </a:rPr>
              <a:t>项目也值得投资。</a:t>
            </a:r>
          </a:p>
        </p:txBody>
      </p:sp>
      <p:sp>
        <p:nvSpPr>
          <p:cNvPr id="10" name="矩形 9"/>
          <p:cNvSpPr/>
          <p:nvPr/>
        </p:nvSpPr>
        <p:spPr>
          <a:xfrm>
            <a:off x="316943" y="2789948"/>
            <a:ext cx="3963743" cy="371768"/>
          </a:xfrm>
          <a:prstGeom prst="rect">
            <a:avLst/>
          </a:prstGeom>
        </p:spPr>
        <p:txBody>
          <a:bodyPr wrap="square">
            <a:spAutoFit/>
          </a:bodyPr>
          <a:lstStyle/>
          <a:p>
            <a:pPr defTabSz="230520">
              <a:defRPr/>
            </a:pPr>
            <a:r>
              <a:rPr lang="zh-CN" altLang="en-US" sz="908" dirty="0">
                <a:solidFill>
                  <a:prstClr val="black"/>
                </a:solidFill>
                <a:latin typeface="Garamond" panose="02020404030301010803" pitchFamily="18" charset="0"/>
                <a:ea typeface="SimSun" panose="02010600030101010101" pitchFamily="2" charset="-122"/>
              </a:rPr>
              <a:t>对这个企业来说，利率越低，投资需求量会越大。</a:t>
            </a:r>
            <a:endParaRPr lang="en-US" altLang="zh-CN" sz="908" dirty="0">
              <a:solidFill>
                <a:prstClr val="black"/>
              </a:solidFill>
              <a:latin typeface="Garamond" panose="02020404030301010803" pitchFamily="18" charset="0"/>
              <a:ea typeface="SimSun" panose="02010600030101010101" pitchFamily="2" charset="-122"/>
            </a:endParaRPr>
          </a:p>
          <a:p>
            <a:pPr defTabSz="230520">
              <a:defRPr/>
            </a:pPr>
            <a:r>
              <a:rPr lang="zh-CN" altLang="en-US" sz="908" dirty="0">
                <a:solidFill>
                  <a:prstClr val="black"/>
                </a:solidFill>
                <a:latin typeface="Garamond" panose="02020404030301010803" pitchFamily="18" charset="0"/>
                <a:ea typeface="SimSun" panose="02010600030101010101" pitchFamily="2" charset="-122"/>
              </a:rPr>
              <a:t>图中各个长方形顶端所形成的折线就是该</a:t>
            </a:r>
            <a:r>
              <a:rPr lang="zh-CN" altLang="en-US" sz="908" b="1" dirty="0">
                <a:solidFill>
                  <a:prstClr val="black"/>
                </a:solidFill>
                <a:latin typeface="Garamond" panose="02020404030301010803" pitchFamily="18" charset="0"/>
                <a:ea typeface="SimSun" panose="02010600030101010101" pitchFamily="2" charset="-122"/>
              </a:rPr>
              <a:t>企业的资本边际效率曲线。</a:t>
            </a:r>
          </a:p>
        </p:txBody>
      </p:sp>
      <p:sp>
        <p:nvSpPr>
          <p:cNvPr id="2" name="灯片编号占位符 2">
            <a:extLst>
              <a:ext uri="{FF2B5EF4-FFF2-40B4-BE49-F238E27FC236}">
                <a16:creationId xmlns:a16="http://schemas.microsoft.com/office/drawing/2014/main" id="{A6AE7A28-D367-A374-1346-639D2D7A78A4}"/>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69</a:t>
            </a:fld>
            <a:endParaRPr lang="zh-CN" altLang="zh-CN" sz="856">
              <a:solidFill>
                <a:srgbClr val="777777"/>
              </a:solidFill>
              <a:ea typeface="宋体" panose="02010600030101010101" pitchFamily="2" charset="-122"/>
            </a:endParaRPr>
          </a:p>
        </p:txBody>
      </p:sp>
      <p:sp>
        <p:nvSpPr>
          <p:cNvPr id="7" name="标题 6">
            <a:extLst>
              <a:ext uri="{FF2B5EF4-FFF2-40B4-BE49-F238E27FC236}">
                <a16:creationId xmlns:a16="http://schemas.microsoft.com/office/drawing/2014/main" id="{F6F01066-003D-4627-C55F-9BB26B3DC116}"/>
              </a:ext>
            </a:extLst>
          </p:cNvPr>
          <p:cNvSpPr>
            <a:spLocks noGrp="1"/>
          </p:cNvSpPr>
          <p:nvPr>
            <p:ph type="title"/>
          </p:nvPr>
        </p:nvSpPr>
        <p:spPr/>
        <p:txBody>
          <a:bodyPr/>
          <a:lstStyle/>
          <a:p>
            <a:r>
              <a:rPr kumimoji="1" lang="zh-CN" altLang="en-US" dirty="0"/>
              <a:t>资本边际效率曲线</a:t>
            </a:r>
          </a:p>
        </p:txBody>
      </p:sp>
      <p:sp>
        <p:nvSpPr>
          <p:cNvPr id="3" name="页脚占位符 1">
            <a:extLst>
              <a:ext uri="{FF2B5EF4-FFF2-40B4-BE49-F238E27FC236}">
                <a16:creationId xmlns:a16="http://schemas.microsoft.com/office/drawing/2014/main" id="{5ED951EA-EDF3-7813-764A-5B5250F75767}"/>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3</a:t>
            </a:r>
            <a:r>
              <a:rPr lang="zh-CN" altLang="en-US" sz="907" i="1" dirty="0">
                <a:solidFill>
                  <a:srgbClr val="777777"/>
                </a:solidFill>
                <a:ea typeface="宋体" panose="02010600030101010101" pitchFamily="2" charset="-122"/>
              </a:rPr>
              <a:t>节 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9324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2476406" y="635068"/>
            <a:ext cx="1936805" cy="1790163"/>
            <a:chOff x="3026194" y="1517945"/>
            <a:chExt cx="4342660" cy="4005590"/>
          </a:xfrm>
        </p:grpSpPr>
        <p:pic>
          <p:nvPicPr>
            <p:cNvPr id="11267" name="Picture 4" descr="xf143"/>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6578" t="3521" r="14613" b="5192"/>
            <a:stretch/>
          </p:blipFill>
          <p:spPr bwMode="auto">
            <a:xfrm>
              <a:off x="3026194" y="1517945"/>
              <a:ext cx="4162927" cy="322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8" name="Text Box 5"/>
            <p:cNvSpPr txBox="1">
              <a:spLocks noChangeArrowheads="1"/>
            </p:cNvSpPr>
            <p:nvPr/>
          </p:nvSpPr>
          <p:spPr bwMode="auto">
            <a:xfrm>
              <a:off x="3026194" y="4761124"/>
              <a:ext cx="4342660" cy="762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a:solidFill>
                    <a:schemeClr val="tx1"/>
                  </a:solidFill>
                  <a:latin typeface="Arial" panose="020B0604020202020204" pitchFamily="34" charset="0"/>
                  <a:ea typeface="宋体" panose="02010600030101010101" pitchFamily="2" charset="-122"/>
                </a:defRPr>
              </a:lvl1pPr>
              <a:lvl2pPr marL="742950" indent="-285750">
                <a:defRPr sz="3200">
                  <a:solidFill>
                    <a:schemeClr val="tx1"/>
                  </a:solidFill>
                  <a:latin typeface="Arial" panose="020B0604020202020204" pitchFamily="34" charset="0"/>
                  <a:ea typeface="宋体" panose="02010600030101010101" pitchFamily="2" charset="-122"/>
                </a:defRPr>
              </a:lvl2pPr>
              <a:lvl3pPr marL="1143000" indent="-228600">
                <a:defRPr sz="3200">
                  <a:solidFill>
                    <a:schemeClr val="tx1"/>
                  </a:solidFill>
                  <a:latin typeface="Arial" panose="020B0604020202020204" pitchFamily="34" charset="0"/>
                  <a:ea typeface="宋体" panose="02010600030101010101" pitchFamily="2" charset="-122"/>
                </a:defRPr>
              </a:lvl3pPr>
              <a:lvl4pPr marL="1600200" indent="-228600">
                <a:defRPr sz="3200">
                  <a:solidFill>
                    <a:schemeClr val="tx1"/>
                  </a:solidFill>
                  <a:latin typeface="Arial" panose="020B0604020202020204" pitchFamily="34" charset="0"/>
                  <a:ea typeface="宋体" panose="02010600030101010101" pitchFamily="2" charset="-122"/>
                </a:defRPr>
              </a:lvl4pPr>
              <a:lvl5pPr marL="2057400" indent="-22860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pPr algn="ctr" defTabSz="230520">
                <a:spcBef>
                  <a:spcPct val="50000"/>
                </a:spcBef>
                <a:defRPr/>
              </a:pPr>
              <a:r>
                <a:rPr lang="zh-CN" altLang="en-US" sz="807" b="1" dirty="0">
                  <a:solidFill>
                    <a:prstClr val="black"/>
                  </a:solidFill>
                  <a:latin typeface="Garamond" panose="02020404030301010803" pitchFamily="18" charset="0"/>
                  <a:ea typeface="KaiTi" panose="02010609060101010101" pitchFamily="49" charset="-122"/>
                </a:rPr>
                <a:t>资本边际效率曲线（</a:t>
              </a:r>
              <a:r>
                <a:rPr lang="en-US" altLang="zh-CN" sz="807" b="1" dirty="0">
                  <a:solidFill>
                    <a:prstClr val="black"/>
                  </a:solidFill>
                  <a:latin typeface="Garamond" panose="02020404030301010803" pitchFamily="18" charset="0"/>
                  <a:ea typeface="KaiTi" panose="02010609060101010101" pitchFamily="49" charset="-122"/>
                </a:rPr>
                <a:t>MEC</a:t>
              </a:r>
              <a:r>
                <a:rPr lang="zh-CN" altLang="en-US" sz="807" b="1" dirty="0">
                  <a:solidFill>
                    <a:prstClr val="black"/>
                  </a:solidFill>
                  <a:latin typeface="Garamond" panose="02020404030301010803" pitchFamily="18" charset="0"/>
                  <a:ea typeface="KaiTi" panose="02010609060101010101" pitchFamily="49" charset="-122"/>
                </a:rPr>
                <a:t>）和投资边际效率曲线（</a:t>
              </a:r>
              <a:r>
                <a:rPr lang="en-US" altLang="zh-CN" sz="807" b="1" dirty="0">
                  <a:solidFill>
                    <a:prstClr val="black"/>
                  </a:solidFill>
                  <a:latin typeface="Garamond" panose="02020404030301010803" pitchFamily="18" charset="0"/>
                  <a:ea typeface="KaiTi" panose="02010609060101010101" pitchFamily="49" charset="-122"/>
                </a:rPr>
                <a:t>MEI</a:t>
              </a:r>
              <a:r>
                <a:rPr lang="zh-CN" altLang="en-US" sz="807" b="1" dirty="0">
                  <a:solidFill>
                    <a:prstClr val="black"/>
                  </a:solidFill>
                  <a:latin typeface="Garamond" panose="02020404030301010803" pitchFamily="18" charset="0"/>
                  <a:ea typeface="KaiTi" panose="02010609060101010101" pitchFamily="49" charset="-122"/>
                </a:rPr>
                <a:t>）</a:t>
              </a:r>
            </a:p>
          </p:txBody>
        </p:sp>
      </p:grpSp>
      <p:sp>
        <p:nvSpPr>
          <p:cNvPr id="6" name="矩形 5"/>
          <p:cNvSpPr/>
          <p:nvPr/>
        </p:nvSpPr>
        <p:spPr>
          <a:xfrm>
            <a:off x="316945" y="662356"/>
            <a:ext cx="1951710" cy="90024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defTabSz="230520">
              <a:defRPr/>
            </a:pPr>
            <a:r>
              <a:rPr lang="zh-CN" altLang="en-US" sz="1050" b="1" dirty="0">
                <a:solidFill>
                  <a:prstClr val="black"/>
                </a:solidFill>
                <a:latin typeface="Garamond" panose="02020404030301010803" pitchFamily="18" charset="0"/>
                <a:ea typeface="SimSun" panose="02010600030101010101" pitchFamily="2" charset="-122"/>
              </a:rPr>
              <a:t>资本边际效率曲线表明：</a:t>
            </a:r>
            <a:endParaRPr lang="en-US" altLang="zh-CN" sz="1050" b="1" dirty="0">
              <a:solidFill>
                <a:prstClr val="black"/>
              </a:solidFill>
              <a:latin typeface="Garamond" panose="02020404030301010803" pitchFamily="18" charset="0"/>
              <a:ea typeface="SimSun" panose="02010600030101010101" pitchFamily="2" charset="-122"/>
            </a:endParaRPr>
          </a:p>
          <a:p>
            <a:pPr defTabSz="230520">
              <a:defRPr/>
            </a:pPr>
            <a:r>
              <a:rPr lang="zh-CN" altLang="en-US" sz="1050" dirty="0">
                <a:solidFill>
                  <a:prstClr val="black"/>
                </a:solidFill>
                <a:latin typeface="Garamond" panose="02020404030301010803" pitchFamily="18" charset="0"/>
                <a:ea typeface="SimSun" panose="02010600030101010101" pitchFamily="2" charset="-122"/>
              </a:rPr>
              <a:t>社会总投资量和利润率之间存在反方向变动关系：利率越高，投资量越小；利率越低，投资量越大。</a:t>
            </a:r>
          </a:p>
        </p:txBody>
      </p:sp>
      <p:sp>
        <p:nvSpPr>
          <p:cNvPr id="11" name="矩形 10"/>
          <p:cNvSpPr/>
          <p:nvPr/>
        </p:nvSpPr>
        <p:spPr>
          <a:xfrm>
            <a:off x="316944" y="1553777"/>
            <a:ext cx="1951710" cy="138499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defTabSz="230520">
              <a:defRPr/>
            </a:pPr>
            <a:r>
              <a:rPr lang="zh-CN" altLang="en-US" sz="1050" dirty="0">
                <a:solidFill>
                  <a:prstClr val="black"/>
                </a:solidFill>
                <a:latin typeface="Garamond" panose="02020404030301010803" pitchFamily="18" charset="0"/>
                <a:ea typeface="SimSun" panose="02010600030101010101" pitchFamily="2" charset="-122"/>
              </a:rPr>
              <a:t>利率降低时，企业增加投资，资本品的价格上涨，即</a:t>
            </a:r>
            <a:r>
              <a:rPr lang="en-US" altLang="zh-CN" sz="1050" dirty="0">
                <a:solidFill>
                  <a:prstClr val="black"/>
                </a:solidFill>
                <a:latin typeface="Garamond" panose="02020404030301010803" pitchFamily="18" charset="0"/>
                <a:ea typeface="SimSun" panose="02010600030101010101" pitchFamily="2" charset="-122"/>
              </a:rPr>
              <a:t>R(</a:t>
            </a:r>
            <a:r>
              <a:rPr lang="zh-CN" altLang="en-US" sz="1050" dirty="0">
                <a:solidFill>
                  <a:prstClr val="black"/>
                </a:solidFill>
                <a:latin typeface="Garamond" panose="02020404030301010803" pitchFamily="18" charset="0"/>
                <a:ea typeface="SimSun" panose="02010600030101010101" pitchFamily="2" charset="-122"/>
              </a:rPr>
              <a:t>资本品供给价格</a:t>
            </a:r>
            <a:r>
              <a:rPr lang="en-US" altLang="zh-CN" sz="1050" dirty="0">
                <a:solidFill>
                  <a:prstClr val="black"/>
                </a:solidFill>
                <a:latin typeface="Garamond" panose="02020404030301010803" pitchFamily="18" charset="0"/>
                <a:ea typeface="SimSun" panose="02010600030101010101" pitchFamily="2" charset="-122"/>
              </a:rPr>
              <a:t>)</a:t>
            </a:r>
            <a:r>
              <a:rPr lang="zh-CN" altLang="en-US" sz="1050" dirty="0">
                <a:solidFill>
                  <a:prstClr val="black"/>
                </a:solidFill>
                <a:latin typeface="Garamond" panose="02020404030301010803" pitchFamily="18" charset="0"/>
                <a:ea typeface="SimSun" panose="02010600030101010101" pitchFamily="2" charset="-122"/>
              </a:rPr>
              <a:t>增加。</a:t>
            </a:r>
            <a:endParaRPr lang="en-US" altLang="zh-CN" sz="1050" dirty="0">
              <a:solidFill>
                <a:prstClr val="black"/>
              </a:solidFill>
              <a:latin typeface="Garamond" panose="02020404030301010803" pitchFamily="18" charset="0"/>
              <a:ea typeface="SimSun" panose="02010600030101010101" pitchFamily="2" charset="-122"/>
            </a:endParaRPr>
          </a:p>
          <a:p>
            <a:pPr defTabSz="230520">
              <a:defRPr/>
            </a:pPr>
            <a:r>
              <a:rPr lang="zh-CN" altLang="en-US" sz="1050" dirty="0">
                <a:solidFill>
                  <a:prstClr val="black"/>
                </a:solidFill>
                <a:latin typeface="Garamond" panose="02020404030301010803" pitchFamily="18" charset="0"/>
                <a:ea typeface="SimSun" panose="02010600030101010101" pitchFamily="2" charset="-122"/>
              </a:rPr>
              <a:t>在相同的预期收益情况下，</a:t>
            </a:r>
            <a:r>
              <a:rPr lang="en-US" altLang="zh-CN" sz="1050" dirty="0">
                <a:solidFill>
                  <a:prstClr val="black"/>
                </a:solidFill>
                <a:latin typeface="Garamond" panose="02020404030301010803" pitchFamily="18" charset="0"/>
                <a:ea typeface="SimSun" panose="02010600030101010101" pitchFamily="2" charset="-122"/>
              </a:rPr>
              <a:t>r</a:t>
            </a:r>
            <a:r>
              <a:rPr lang="zh-CN" altLang="en-US" sz="1050" dirty="0">
                <a:solidFill>
                  <a:prstClr val="black"/>
                </a:solidFill>
                <a:latin typeface="Garamond" panose="02020404030301010803" pitchFamily="18" charset="0"/>
                <a:ea typeface="SimSun" panose="02010600030101010101" pitchFamily="2" charset="-122"/>
              </a:rPr>
              <a:t>必然缩小。</a:t>
            </a:r>
            <a:endParaRPr lang="en-US" altLang="zh-CN" sz="1050" dirty="0">
              <a:solidFill>
                <a:prstClr val="black"/>
              </a:solidFill>
              <a:latin typeface="Garamond" panose="02020404030301010803" pitchFamily="18" charset="0"/>
              <a:ea typeface="SimSun" panose="02010600030101010101" pitchFamily="2" charset="-122"/>
            </a:endParaRPr>
          </a:p>
          <a:p>
            <a:pPr defTabSz="230520">
              <a:defRPr/>
            </a:pPr>
            <a:r>
              <a:rPr lang="zh-CN" altLang="en-US" sz="1050" dirty="0">
                <a:solidFill>
                  <a:prstClr val="black"/>
                </a:solidFill>
                <a:latin typeface="Garamond" panose="02020404030301010803" pitchFamily="18" charset="0"/>
                <a:ea typeface="SimSun" panose="02010600030101010101" pitchFamily="2" charset="-122"/>
              </a:rPr>
              <a:t>由</a:t>
            </a:r>
            <a:r>
              <a:rPr lang="en-US" altLang="zh-CN" sz="1050" dirty="0">
                <a:solidFill>
                  <a:prstClr val="black"/>
                </a:solidFill>
                <a:latin typeface="Garamond" panose="02020404030301010803" pitchFamily="18" charset="0"/>
                <a:ea typeface="SimSun" panose="02010600030101010101" pitchFamily="2" charset="-122"/>
              </a:rPr>
              <a:t>R</a:t>
            </a:r>
            <a:r>
              <a:rPr lang="zh-CN" altLang="en-US" sz="1050" dirty="0">
                <a:solidFill>
                  <a:prstClr val="black"/>
                </a:solidFill>
                <a:latin typeface="Garamond" panose="02020404030301010803" pitchFamily="18" charset="0"/>
                <a:ea typeface="SimSun" panose="02010600030101010101" pitchFamily="2" charset="-122"/>
              </a:rPr>
              <a:t>上升而被缩小了的</a:t>
            </a:r>
            <a:r>
              <a:rPr lang="en-US" altLang="zh-CN" sz="1050" dirty="0">
                <a:solidFill>
                  <a:prstClr val="black"/>
                </a:solidFill>
                <a:latin typeface="Garamond" panose="02020404030301010803" pitchFamily="18" charset="0"/>
                <a:ea typeface="SimSun" panose="02010600030101010101" pitchFamily="2" charset="-122"/>
              </a:rPr>
              <a:t>r</a:t>
            </a:r>
            <a:r>
              <a:rPr lang="zh-CN" altLang="en-US" sz="1050" dirty="0">
                <a:solidFill>
                  <a:prstClr val="black"/>
                </a:solidFill>
                <a:latin typeface="Garamond" panose="02020404030301010803" pitchFamily="18" charset="0"/>
                <a:ea typeface="SimSun" panose="02010600030101010101" pitchFamily="2" charset="-122"/>
              </a:rPr>
              <a:t>的数值被称为</a:t>
            </a:r>
            <a:r>
              <a:rPr lang="zh-CN" altLang="en-US" sz="1050" dirty="0">
                <a:solidFill>
                  <a:srgbClr val="FF0000"/>
                </a:solidFill>
                <a:latin typeface="Garamond" panose="02020404030301010803" pitchFamily="18" charset="0"/>
                <a:ea typeface="SimSun" panose="02010600030101010101" pitchFamily="2" charset="-122"/>
              </a:rPr>
              <a:t>投资的边际效率（</a:t>
            </a:r>
            <a:r>
              <a:rPr lang="en-US" altLang="zh-CN" sz="1050" dirty="0">
                <a:solidFill>
                  <a:srgbClr val="FF0000"/>
                </a:solidFill>
                <a:latin typeface="Garamond" panose="02020404030301010803" pitchFamily="18" charset="0"/>
                <a:ea typeface="SimSun" panose="02010600030101010101" pitchFamily="2" charset="-122"/>
              </a:rPr>
              <a:t>MEI</a:t>
            </a:r>
            <a:r>
              <a:rPr lang="zh-CN" altLang="en-US" sz="1050" dirty="0">
                <a:solidFill>
                  <a:srgbClr val="FF0000"/>
                </a:solidFill>
                <a:latin typeface="Garamond" panose="02020404030301010803" pitchFamily="18" charset="0"/>
                <a:ea typeface="SimSun" panose="02010600030101010101" pitchFamily="2" charset="-122"/>
              </a:rPr>
              <a:t>）。</a:t>
            </a:r>
          </a:p>
        </p:txBody>
      </p:sp>
      <mc:AlternateContent xmlns:mc="http://schemas.openxmlformats.org/markup-compatibility/2006" xmlns:a14="http://schemas.microsoft.com/office/drawing/2010/main">
        <mc:Choice Requires="a14">
          <p:sp>
            <p:nvSpPr>
              <p:cNvPr id="7" name="矩形 6"/>
              <p:cNvSpPr/>
              <p:nvPr/>
            </p:nvSpPr>
            <p:spPr>
              <a:xfrm>
                <a:off x="2341446" y="2424383"/>
                <a:ext cx="1951710" cy="651204"/>
              </a:xfrm>
              <a:prstGeom prst="rect">
                <a:avLst/>
              </a:prstGeom>
            </p:spPr>
            <p:txBody>
              <a:bodyPr wrap="square">
                <a:spAutoFit/>
              </a:bodyPr>
              <a:lstStyle/>
              <a:p>
                <a:pPr defTabSz="230520">
                  <a:defRPr/>
                </a:pPr>
                <a:r>
                  <a:rPr lang="zh-CN" altLang="en-US" sz="908" dirty="0">
                    <a:solidFill>
                      <a:prstClr val="black"/>
                    </a:solidFill>
                    <a:latin typeface="Garamond" panose="02020404030301010803" pitchFamily="18" charset="0"/>
                    <a:ea typeface="SimSun" panose="02010600030101010101" pitchFamily="2" charset="-122"/>
                  </a:rPr>
                  <a:t>西方经济学一般用</a:t>
                </a:r>
                <a:r>
                  <a:rPr lang="en-US" altLang="zh-CN" sz="908" dirty="0">
                    <a:solidFill>
                      <a:prstClr val="black"/>
                    </a:solidFill>
                    <a:latin typeface="Garamond" panose="02020404030301010803" pitchFamily="18" charset="0"/>
                    <a:ea typeface="SimSun" panose="02010600030101010101" pitchFamily="2" charset="-122"/>
                  </a:rPr>
                  <a:t>MEI</a:t>
                </a:r>
                <a:r>
                  <a:rPr lang="zh-CN" altLang="en-US" sz="908" dirty="0">
                    <a:solidFill>
                      <a:prstClr val="black"/>
                    </a:solidFill>
                    <a:latin typeface="Garamond" panose="02020404030301010803" pitchFamily="18" charset="0"/>
                    <a:ea typeface="SimSun" panose="02010600030101010101" pitchFamily="2" charset="-122"/>
                  </a:rPr>
                  <a:t>曲线来表示利率与投资量之间的关系，投资需求曲线指的是</a:t>
                </a:r>
                <a:r>
                  <a:rPr lang="en-US" altLang="zh-CN" sz="908" dirty="0">
                    <a:solidFill>
                      <a:prstClr val="black"/>
                    </a:solidFill>
                    <a:latin typeface="Garamond" panose="02020404030301010803" pitchFamily="18" charset="0"/>
                    <a:ea typeface="SimSun" panose="02010600030101010101" pitchFamily="2" charset="-122"/>
                  </a:rPr>
                  <a:t>MEI</a:t>
                </a:r>
                <a:r>
                  <a:rPr lang="zh-CN" altLang="en-US" sz="908" dirty="0">
                    <a:solidFill>
                      <a:prstClr val="black"/>
                    </a:solidFill>
                    <a:latin typeface="Garamond" panose="02020404030301010803" pitchFamily="18" charset="0"/>
                    <a:ea typeface="SimSun" panose="02010600030101010101" pitchFamily="2" charset="-122"/>
                  </a:rPr>
                  <a:t>曲线，也是投资需求函数：</a:t>
                </a:r>
                <a14:m>
                  <m:oMath xmlns:m="http://schemas.openxmlformats.org/officeDocument/2006/math">
                    <m:r>
                      <a:rPr lang="en-US" altLang="zh-CN" sz="908" i="1">
                        <a:solidFill>
                          <a:prstClr val="black"/>
                        </a:solidFill>
                        <a:latin typeface="Cambria Math" panose="02040503050406030204" pitchFamily="18" charset="0"/>
                      </a:rPr>
                      <m:t>𝑖</m:t>
                    </m:r>
                    <m:r>
                      <a:rPr lang="en-US" altLang="zh-CN" sz="908" i="1">
                        <a:solidFill>
                          <a:prstClr val="black"/>
                        </a:solidFill>
                        <a:latin typeface="Cambria Math" panose="02040503050406030204" pitchFamily="18" charset="0"/>
                      </a:rPr>
                      <m:t>=</m:t>
                    </m:r>
                    <m:r>
                      <a:rPr lang="en-US" altLang="zh-CN" sz="908" i="1">
                        <a:solidFill>
                          <a:prstClr val="black"/>
                        </a:solidFill>
                        <a:latin typeface="Cambria Math" panose="02040503050406030204" pitchFamily="18" charset="0"/>
                      </a:rPr>
                      <m:t>𝑖</m:t>
                    </m:r>
                    <m:r>
                      <a:rPr lang="en-US" altLang="zh-CN" sz="908" i="1">
                        <a:solidFill>
                          <a:prstClr val="black"/>
                        </a:solidFill>
                        <a:latin typeface="Cambria Math" panose="02040503050406030204" pitchFamily="18" charset="0"/>
                      </a:rPr>
                      <m:t>(</m:t>
                    </m:r>
                    <m:r>
                      <a:rPr lang="en-US" altLang="zh-CN" sz="908" i="1">
                        <a:solidFill>
                          <a:prstClr val="black"/>
                        </a:solidFill>
                        <a:latin typeface="Cambria Math" panose="02040503050406030204" pitchFamily="18" charset="0"/>
                      </a:rPr>
                      <m:t>𝑟</m:t>
                    </m:r>
                    <m:r>
                      <a:rPr lang="en-US" altLang="zh-CN" sz="908" i="1">
                        <a:solidFill>
                          <a:prstClr val="black"/>
                        </a:solidFill>
                        <a:latin typeface="Cambria Math" panose="02040503050406030204" pitchFamily="18" charset="0"/>
                      </a:rPr>
                      <m:t>)</m:t>
                    </m:r>
                  </m:oMath>
                </a14:m>
                <a:endParaRPr lang="zh-CN" altLang="en-US" sz="908" dirty="0">
                  <a:solidFill>
                    <a:prstClr val="black"/>
                  </a:solidFill>
                  <a:latin typeface="Garamond" panose="02020404030301010803" pitchFamily="18" charset="0"/>
                  <a:ea typeface="SimSun" panose="02010600030101010101" pitchFamily="2" charset="-122"/>
                </a:endParaRPr>
              </a:p>
            </p:txBody>
          </p:sp>
        </mc:Choice>
        <mc:Fallback xmlns="">
          <p:sp>
            <p:nvSpPr>
              <p:cNvPr id="7" name="矩形 6"/>
              <p:cNvSpPr>
                <a:spLocks noRot="1" noChangeAspect="1" noMove="1" noResize="1" noEditPoints="1" noAdjustHandles="1" noChangeArrowheads="1" noChangeShapeType="1" noTextEdit="1"/>
              </p:cNvSpPr>
              <p:nvPr/>
            </p:nvSpPr>
            <p:spPr>
              <a:xfrm>
                <a:off x="2341446" y="2424383"/>
                <a:ext cx="1951710" cy="651204"/>
              </a:xfrm>
              <a:prstGeom prst="rect">
                <a:avLst/>
              </a:prstGeom>
              <a:blipFill>
                <a:blip r:embed="rId3"/>
                <a:stretch>
                  <a:fillRect b="-1923"/>
                </a:stretch>
              </a:blipFill>
            </p:spPr>
            <p:txBody>
              <a:bodyPr/>
              <a:lstStyle/>
              <a:p>
                <a:r>
                  <a:rPr lang="zh-CN" altLang="en-US">
                    <a:noFill/>
                  </a:rPr>
                  <a:t> </a:t>
                </a:r>
              </a:p>
            </p:txBody>
          </p:sp>
        </mc:Fallback>
      </mc:AlternateContent>
      <p:sp>
        <p:nvSpPr>
          <p:cNvPr id="2" name="标题 1">
            <a:extLst>
              <a:ext uri="{FF2B5EF4-FFF2-40B4-BE49-F238E27FC236}">
                <a16:creationId xmlns:a16="http://schemas.microsoft.com/office/drawing/2014/main" id="{60884E6D-BE08-F98C-D02C-73EF3869FDCA}"/>
              </a:ext>
            </a:extLst>
          </p:cNvPr>
          <p:cNvSpPr>
            <a:spLocks noGrp="1"/>
          </p:cNvSpPr>
          <p:nvPr>
            <p:ph type="title"/>
          </p:nvPr>
        </p:nvSpPr>
        <p:spPr/>
        <p:txBody>
          <a:bodyPr/>
          <a:lstStyle/>
          <a:p>
            <a:r>
              <a:rPr kumimoji="1" lang="zh-CN" altLang="en-US" dirty="0"/>
              <a:t>投资的边际效率曲线</a:t>
            </a:r>
          </a:p>
        </p:txBody>
      </p:sp>
      <p:sp>
        <p:nvSpPr>
          <p:cNvPr id="4" name="灯片编号占位符 2">
            <a:extLst>
              <a:ext uri="{FF2B5EF4-FFF2-40B4-BE49-F238E27FC236}">
                <a16:creationId xmlns:a16="http://schemas.microsoft.com/office/drawing/2014/main" id="{DC0BDBDE-AFB5-EAD3-49F7-C710E9795386}"/>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70</a:t>
            </a:fld>
            <a:endParaRPr lang="zh-CN" altLang="zh-CN" sz="856">
              <a:solidFill>
                <a:srgbClr val="777777"/>
              </a:solidFill>
              <a:ea typeface="宋体" panose="02010600030101010101" pitchFamily="2" charset="-122"/>
            </a:endParaRPr>
          </a:p>
        </p:txBody>
      </p:sp>
      <p:sp>
        <p:nvSpPr>
          <p:cNvPr id="8" name="页脚占位符 1">
            <a:extLst>
              <a:ext uri="{FF2B5EF4-FFF2-40B4-BE49-F238E27FC236}">
                <a16:creationId xmlns:a16="http://schemas.microsoft.com/office/drawing/2014/main" id="{9650522A-55DC-C80A-1F54-4E6A53697B1D}"/>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3</a:t>
            </a:r>
            <a:r>
              <a:rPr lang="zh-CN" altLang="en-US" sz="907" i="1" dirty="0">
                <a:solidFill>
                  <a:srgbClr val="777777"/>
                </a:solidFill>
                <a:ea typeface="宋体" panose="02010600030101010101" pitchFamily="2" charset="-122"/>
              </a:rPr>
              <a:t>节 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44523497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291" name="Rectangle 3"/>
              <p:cNvSpPr>
                <a:spLocks noGrp="1" noChangeArrowheads="1"/>
              </p:cNvSpPr>
              <p:nvPr>
                <p:ph type="body" idx="1"/>
              </p:nvPr>
            </p:nvSpPr>
            <p:spPr/>
            <p:txBody>
              <a:bodyPr/>
              <a:lstStyle/>
              <a:p>
                <a:pPr eaLnBrk="1" hangingPunct="1"/>
                <a:r>
                  <a:rPr lang="zh-CN" altLang="en-US" sz="1008" dirty="0">
                    <a:latin typeface="SimSun" panose="02010600030101010101" pitchFamily="2" charset="-122"/>
                    <a:ea typeface="SimSun" panose="02010600030101010101" pitchFamily="2" charset="-122"/>
                  </a:rPr>
                  <a:t>从利率水平探讨投资需求，实际上是从投资使用的资金成本角度探讨投资需求。</a:t>
                </a:r>
                <a:endParaRPr lang="en-US" altLang="zh-CN" sz="1008" dirty="0">
                  <a:latin typeface="SimSun" panose="02010600030101010101" pitchFamily="2" charset="-122"/>
                  <a:ea typeface="SimSun" panose="02010600030101010101" pitchFamily="2" charset="-122"/>
                </a:endParaRPr>
              </a:p>
              <a:p>
                <a:pPr eaLnBrk="1" hangingPunct="1"/>
                <a:r>
                  <a:rPr lang="zh-CN" altLang="en-US" sz="1008" dirty="0">
                    <a:latin typeface="SimSun" panose="02010600030101010101" pitchFamily="2" charset="-122"/>
                    <a:ea typeface="SimSun" panose="02010600030101010101" pitchFamily="2" charset="-122"/>
                  </a:rPr>
                  <a:t>根据</a:t>
                </a:r>
                <a14:m>
                  <m:oMath xmlns:m="http://schemas.openxmlformats.org/officeDocument/2006/math">
                    <m:r>
                      <a:rPr lang="zh-CN" altLang="en-US" sz="1008" i="1">
                        <a:latin typeface="Cambria Math" panose="02040503050406030204" pitchFamily="18" charset="0"/>
                        <a:ea typeface="楷体" panose="02010609060101010101" pitchFamily="49" charset="-122"/>
                      </a:rPr>
                      <m:t>资本边际效率公式：</m:t>
                    </m:r>
                  </m:oMath>
                </a14:m>
                <a:endParaRPr lang="en-US" altLang="zh-CN" sz="1008" i="1" dirty="0">
                  <a:latin typeface="SimSun" panose="02010600030101010101" pitchFamily="2" charset="-122"/>
                  <a:ea typeface="SimSun" panose="02010600030101010101" pitchFamily="2" charset="-122"/>
                </a:endParaRPr>
              </a:p>
              <a:p>
                <a:pPr eaLnBrk="1" hangingPunct="1"/>
                <a14:m>
                  <m:oMath xmlns:m="http://schemas.openxmlformats.org/officeDocument/2006/math">
                    <m:r>
                      <a:rPr lang="en-US" altLang="zh-CN" sz="1008" i="1">
                        <a:latin typeface="Cambria Math" panose="02040503050406030204" pitchFamily="18" charset="0"/>
                        <a:ea typeface="楷体" panose="02010609060101010101" pitchFamily="49" charset="-122"/>
                      </a:rPr>
                      <m:t>𝑅</m:t>
                    </m:r>
                    <m:r>
                      <a:rPr lang="en-US" altLang="zh-CN" sz="1008" i="1">
                        <a:latin typeface="Cambria Math" panose="02040503050406030204" pitchFamily="18" charset="0"/>
                        <a:ea typeface="楷体" panose="02010609060101010101" pitchFamily="49" charset="-122"/>
                      </a:rPr>
                      <m:t>=</m:t>
                    </m:r>
                    <m:f>
                      <m:fPr>
                        <m:ctrlPr>
                          <a:rPr lang="en-US" altLang="zh-CN" sz="1008" i="1">
                            <a:latin typeface="Cambria Math" panose="02040503050406030204" pitchFamily="18" charset="0"/>
                            <a:ea typeface="楷体" panose="02010609060101010101" pitchFamily="49" charset="-122"/>
                          </a:rPr>
                        </m:ctrlPr>
                      </m:fPr>
                      <m:num>
                        <m:sSub>
                          <m:sSubPr>
                            <m:ctrlPr>
                              <a:rPr lang="en-US" altLang="zh-CN" sz="1008" i="1">
                                <a:latin typeface="Cambria Math" panose="02040503050406030204" pitchFamily="18" charset="0"/>
                                <a:ea typeface="楷体" panose="02010609060101010101" pitchFamily="49" charset="-122"/>
                              </a:rPr>
                            </m:ctrlPr>
                          </m:sSubPr>
                          <m:e>
                            <m:r>
                              <a:rPr lang="en-US" altLang="zh-CN" sz="1008" i="1">
                                <a:latin typeface="Cambria Math" panose="02040503050406030204" pitchFamily="18" charset="0"/>
                                <a:ea typeface="楷体" panose="02010609060101010101" pitchFamily="49" charset="-122"/>
                              </a:rPr>
                              <m:t>𝑅</m:t>
                            </m:r>
                          </m:e>
                          <m:sub>
                            <m:r>
                              <a:rPr lang="en-US" altLang="zh-CN" sz="1008" i="1">
                                <a:latin typeface="Cambria Math" panose="02040503050406030204" pitchFamily="18" charset="0"/>
                                <a:ea typeface="楷体" panose="02010609060101010101" pitchFamily="49" charset="-122"/>
                              </a:rPr>
                              <m:t>1</m:t>
                            </m:r>
                          </m:sub>
                        </m:sSub>
                      </m:num>
                      <m:den>
                        <m:r>
                          <a:rPr lang="en-US" altLang="zh-CN" sz="1008" i="1">
                            <a:latin typeface="Cambria Math" panose="02040503050406030204" pitchFamily="18" charset="0"/>
                            <a:ea typeface="楷体" panose="02010609060101010101" pitchFamily="49" charset="-122"/>
                          </a:rPr>
                          <m:t>1+</m:t>
                        </m:r>
                        <m:r>
                          <a:rPr lang="en-US" altLang="zh-CN" sz="1008" i="1">
                            <a:latin typeface="Cambria Math" panose="02040503050406030204" pitchFamily="18" charset="0"/>
                            <a:ea typeface="楷体" panose="02010609060101010101" pitchFamily="49" charset="-122"/>
                          </a:rPr>
                          <m:t>𝑟</m:t>
                        </m:r>
                      </m:den>
                    </m:f>
                    <m:r>
                      <a:rPr lang="en-US" altLang="zh-CN" sz="1008" i="1">
                        <a:latin typeface="Cambria Math" panose="02040503050406030204" pitchFamily="18" charset="0"/>
                        <a:ea typeface="楷体" panose="02010609060101010101" pitchFamily="49" charset="-122"/>
                      </a:rPr>
                      <m:t>+</m:t>
                    </m:r>
                    <m:f>
                      <m:fPr>
                        <m:ctrlPr>
                          <a:rPr lang="en-US" altLang="zh-CN" sz="1008" i="1">
                            <a:latin typeface="Cambria Math" panose="02040503050406030204" pitchFamily="18" charset="0"/>
                            <a:ea typeface="楷体" panose="02010609060101010101" pitchFamily="49" charset="-122"/>
                          </a:rPr>
                        </m:ctrlPr>
                      </m:fPr>
                      <m:num>
                        <m:sSub>
                          <m:sSubPr>
                            <m:ctrlPr>
                              <a:rPr lang="en-US" altLang="zh-CN" sz="1008" i="1">
                                <a:latin typeface="Cambria Math" panose="02040503050406030204" pitchFamily="18" charset="0"/>
                                <a:ea typeface="楷体" panose="02010609060101010101" pitchFamily="49" charset="-122"/>
                              </a:rPr>
                            </m:ctrlPr>
                          </m:sSubPr>
                          <m:e>
                            <m:r>
                              <a:rPr lang="en-US" altLang="zh-CN" sz="1008" i="1">
                                <a:latin typeface="Cambria Math" panose="02040503050406030204" pitchFamily="18" charset="0"/>
                                <a:ea typeface="楷体" panose="02010609060101010101" pitchFamily="49" charset="-122"/>
                              </a:rPr>
                              <m:t>𝑅</m:t>
                            </m:r>
                          </m:e>
                          <m:sub>
                            <m:r>
                              <a:rPr lang="en-US" altLang="zh-CN" sz="1008" i="1">
                                <a:latin typeface="Cambria Math" panose="02040503050406030204" pitchFamily="18" charset="0"/>
                                <a:ea typeface="楷体" panose="02010609060101010101" pitchFamily="49" charset="-122"/>
                              </a:rPr>
                              <m:t>2</m:t>
                            </m:r>
                          </m:sub>
                        </m:sSub>
                      </m:num>
                      <m:den>
                        <m:sSup>
                          <m:sSupPr>
                            <m:ctrlPr>
                              <a:rPr lang="en-US" altLang="zh-CN" sz="1008" i="1">
                                <a:latin typeface="Cambria Math" panose="02040503050406030204" pitchFamily="18" charset="0"/>
                                <a:ea typeface="楷体" panose="02010609060101010101" pitchFamily="49" charset="-122"/>
                              </a:rPr>
                            </m:ctrlPr>
                          </m:sSupPr>
                          <m:e>
                            <m:d>
                              <m:dPr>
                                <m:ctrlPr>
                                  <a:rPr lang="en-US" altLang="zh-CN" sz="1008" i="1">
                                    <a:latin typeface="Cambria Math" panose="02040503050406030204" pitchFamily="18" charset="0"/>
                                    <a:ea typeface="楷体" panose="02010609060101010101" pitchFamily="49" charset="-122"/>
                                  </a:rPr>
                                </m:ctrlPr>
                              </m:dPr>
                              <m:e>
                                <m:r>
                                  <a:rPr lang="en-US" altLang="zh-CN" sz="1008" i="1">
                                    <a:latin typeface="Cambria Math" panose="02040503050406030204" pitchFamily="18" charset="0"/>
                                    <a:ea typeface="楷体" panose="02010609060101010101" pitchFamily="49" charset="-122"/>
                                  </a:rPr>
                                  <m:t>1+</m:t>
                                </m:r>
                                <m:r>
                                  <a:rPr lang="en-US" altLang="zh-CN" sz="1008" i="1">
                                    <a:latin typeface="Cambria Math" panose="02040503050406030204" pitchFamily="18" charset="0"/>
                                    <a:ea typeface="楷体" panose="02010609060101010101" pitchFamily="49" charset="-122"/>
                                  </a:rPr>
                                  <m:t>𝑟</m:t>
                                </m:r>
                              </m:e>
                            </m:d>
                          </m:e>
                          <m:sup>
                            <m:r>
                              <a:rPr lang="en-US" altLang="zh-CN" sz="1008" i="1">
                                <a:latin typeface="Cambria Math" panose="02040503050406030204" pitchFamily="18" charset="0"/>
                                <a:ea typeface="楷体" panose="02010609060101010101" pitchFamily="49" charset="-122"/>
                              </a:rPr>
                              <m:t>2</m:t>
                            </m:r>
                          </m:sup>
                        </m:sSup>
                      </m:den>
                    </m:f>
                    <m:r>
                      <a:rPr lang="en-US" altLang="zh-CN" sz="1008" i="1">
                        <a:latin typeface="Cambria Math" panose="02040503050406030204" pitchFamily="18" charset="0"/>
                        <a:ea typeface="楷体" panose="02010609060101010101" pitchFamily="49" charset="-122"/>
                      </a:rPr>
                      <m:t>+…+</m:t>
                    </m:r>
                    <m:f>
                      <m:fPr>
                        <m:ctrlPr>
                          <a:rPr lang="en-US" altLang="zh-CN" sz="1008" i="1">
                            <a:latin typeface="Cambria Math" panose="02040503050406030204" pitchFamily="18" charset="0"/>
                            <a:ea typeface="楷体" panose="02010609060101010101" pitchFamily="49" charset="-122"/>
                          </a:rPr>
                        </m:ctrlPr>
                      </m:fPr>
                      <m:num>
                        <m:sSub>
                          <m:sSubPr>
                            <m:ctrlPr>
                              <a:rPr lang="en-US" altLang="zh-CN" sz="1008" i="1">
                                <a:latin typeface="Cambria Math" panose="02040503050406030204" pitchFamily="18" charset="0"/>
                                <a:ea typeface="楷体" panose="02010609060101010101" pitchFamily="49" charset="-122"/>
                              </a:rPr>
                            </m:ctrlPr>
                          </m:sSubPr>
                          <m:e>
                            <m:r>
                              <a:rPr lang="en-US" altLang="zh-CN" sz="1008" i="1">
                                <a:latin typeface="Cambria Math" panose="02040503050406030204" pitchFamily="18" charset="0"/>
                                <a:ea typeface="楷体" panose="02010609060101010101" pitchFamily="49" charset="-122"/>
                              </a:rPr>
                              <m:t>𝑅</m:t>
                            </m:r>
                          </m:e>
                          <m:sub>
                            <m:r>
                              <a:rPr lang="en-US" altLang="zh-CN" sz="1008" i="1">
                                <a:latin typeface="Cambria Math" panose="02040503050406030204" pitchFamily="18" charset="0"/>
                                <a:ea typeface="楷体" panose="02010609060101010101" pitchFamily="49" charset="-122"/>
                              </a:rPr>
                              <m:t>𝑛</m:t>
                            </m:r>
                          </m:sub>
                        </m:sSub>
                      </m:num>
                      <m:den>
                        <m:sSup>
                          <m:sSupPr>
                            <m:ctrlPr>
                              <a:rPr lang="en-US" altLang="zh-CN" sz="1008" i="1">
                                <a:latin typeface="Cambria Math" panose="02040503050406030204" pitchFamily="18" charset="0"/>
                                <a:ea typeface="楷体" panose="02010609060101010101" pitchFamily="49" charset="-122"/>
                              </a:rPr>
                            </m:ctrlPr>
                          </m:sSupPr>
                          <m:e>
                            <m:d>
                              <m:dPr>
                                <m:ctrlPr>
                                  <a:rPr lang="en-US" altLang="zh-CN" sz="1008" i="1">
                                    <a:latin typeface="Cambria Math" panose="02040503050406030204" pitchFamily="18" charset="0"/>
                                    <a:ea typeface="楷体" panose="02010609060101010101" pitchFamily="49" charset="-122"/>
                                  </a:rPr>
                                </m:ctrlPr>
                              </m:dPr>
                              <m:e>
                                <m:r>
                                  <a:rPr lang="en-US" altLang="zh-CN" sz="1008" i="1">
                                    <a:latin typeface="Cambria Math" panose="02040503050406030204" pitchFamily="18" charset="0"/>
                                    <a:ea typeface="楷体" panose="02010609060101010101" pitchFamily="49" charset="-122"/>
                                  </a:rPr>
                                  <m:t>1+</m:t>
                                </m:r>
                                <m:r>
                                  <a:rPr lang="en-US" altLang="zh-CN" sz="1008" i="1">
                                    <a:latin typeface="Cambria Math" panose="02040503050406030204" pitchFamily="18" charset="0"/>
                                    <a:ea typeface="楷体" panose="02010609060101010101" pitchFamily="49" charset="-122"/>
                                  </a:rPr>
                                  <m:t>𝑟</m:t>
                                </m:r>
                              </m:e>
                            </m:d>
                          </m:e>
                          <m:sup>
                            <m:r>
                              <a:rPr lang="en-US" altLang="zh-CN" sz="1008" i="1">
                                <a:latin typeface="Cambria Math" panose="02040503050406030204" pitchFamily="18" charset="0"/>
                                <a:ea typeface="楷体" panose="02010609060101010101" pitchFamily="49" charset="-122"/>
                              </a:rPr>
                              <m:t>𝑛</m:t>
                            </m:r>
                          </m:sup>
                        </m:sSup>
                      </m:den>
                    </m:f>
                    <m:r>
                      <a:rPr lang="en-US" altLang="zh-CN" sz="1008" i="1">
                        <a:latin typeface="Cambria Math" panose="02040503050406030204" pitchFamily="18" charset="0"/>
                        <a:ea typeface="楷体" panose="02010609060101010101" pitchFamily="49" charset="-122"/>
                      </a:rPr>
                      <m:t>+</m:t>
                    </m:r>
                    <m:f>
                      <m:fPr>
                        <m:ctrlPr>
                          <a:rPr lang="en-US" altLang="zh-CN" sz="1008" i="1">
                            <a:latin typeface="Cambria Math" panose="02040503050406030204" pitchFamily="18" charset="0"/>
                            <a:ea typeface="楷体" panose="02010609060101010101" pitchFamily="49" charset="-122"/>
                          </a:rPr>
                        </m:ctrlPr>
                      </m:fPr>
                      <m:num>
                        <m:r>
                          <a:rPr lang="en-US" altLang="zh-CN" sz="1008" i="1">
                            <a:latin typeface="Cambria Math" panose="02040503050406030204" pitchFamily="18" charset="0"/>
                            <a:ea typeface="楷体" panose="02010609060101010101" pitchFamily="49" charset="-122"/>
                          </a:rPr>
                          <m:t>𝐽</m:t>
                        </m:r>
                      </m:num>
                      <m:den>
                        <m:sSup>
                          <m:sSupPr>
                            <m:ctrlPr>
                              <a:rPr lang="en-US" altLang="zh-CN" sz="1008" i="1">
                                <a:latin typeface="Cambria Math" panose="02040503050406030204" pitchFamily="18" charset="0"/>
                                <a:ea typeface="楷体" panose="02010609060101010101" pitchFamily="49" charset="-122"/>
                              </a:rPr>
                            </m:ctrlPr>
                          </m:sSupPr>
                          <m:e>
                            <m:d>
                              <m:dPr>
                                <m:ctrlPr>
                                  <a:rPr lang="en-US" altLang="zh-CN" sz="1008" i="1">
                                    <a:latin typeface="Cambria Math" panose="02040503050406030204" pitchFamily="18" charset="0"/>
                                    <a:ea typeface="楷体" panose="02010609060101010101" pitchFamily="49" charset="-122"/>
                                  </a:rPr>
                                </m:ctrlPr>
                              </m:dPr>
                              <m:e>
                                <m:r>
                                  <a:rPr lang="en-US" altLang="zh-CN" sz="1008" i="1">
                                    <a:latin typeface="Cambria Math" panose="02040503050406030204" pitchFamily="18" charset="0"/>
                                    <a:ea typeface="楷体" panose="02010609060101010101" pitchFamily="49" charset="-122"/>
                                  </a:rPr>
                                  <m:t>1+</m:t>
                                </m:r>
                                <m:r>
                                  <a:rPr lang="en-US" altLang="zh-CN" sz="1008" i="1">
                                    <a:latin typeface="Cambria Math" panose="02040503050406030204" pitchFamily="18" charset="0"/>
                                    <a:ea typeface="楷体" panose="02010609060101010101" pitchFamily="49" charset="-122"/>
                                  </a:rPr>
                                  <m:t>𝑟</m:t>
                                </m:r>
                              </m:e>
                            </m:d>
                          </m:e>
                          <m:sup>
                            <m:r>
                              <a:rPr lang="en-US" altLang="zh-CN" sz="1008" i="1">
                                <a:latin typeface="Cambria Math" panose="02040503050406030204" pitchFamily="18" charset="0"/>
                                <a:ea typeface="楷体" panose="02010609060101010101" pitchFamily="49" charset="-122"/>
                              </a:rPr>
                              <m:t>𝑛</m:t>
                            </m:r>
                          </m:sup>
                        </m:sSup>
                      </m:den>
                    </m:f>
                  </m:oMath>
                </a14:m>
                <a:endParaRPr lang="en-US" altLang="zh-CN" sz="1008" dirty="0">
                  <a:latin typeface="SimSun" panose="02010600030101010101" pitchFamily="2" charset="-122"/>
                  <a:ea typeface="SimSun" panose="02010600030101010101" pitchFamily="2" charset="-122"/>
                </a:endParaRPr>
              </a:p>
              <a:p>
                <a:pPr eaLnBrk="1" hangingPunct="1"/>
                <a:r>
                  <a:rPr lang="zh-CN" altLang="en-US" sz="1008" dirty="0">
                    <a:latin typeface="SimSun" panose="02010600030101010101" pitchFamily="2" charset="-122"/>
                    <a:ea typeface="SimSun" panose="02010600030101010101" pitchFamily="2" charset="-122"/>
                  </a:rPr>
                  <a:t>预期收益，即一个投资项目在未来各个时期估计可得到的收益，也会影响投资。</a:t>
                </a:r>
                <a:r>
                  <a:rPr lang="zh-CN" altLang="en-US" sz="1008" b="1" dirty="0">
                    <a:latin typeface="SimSun" panose="02010600030101010101" pitchFamily="2" charset="-122"/>
                    <a:ea typeface="SimSun" panose="02010600030101010101" pitchFamily="2" charset="-122"/>
                  </a:rPr>
                  <a:t>影响预期收益</a:t>
                </a:r>
                <a:r>
                  <a:rPr lang="zh-CN" altLang="en-US" sz="1008" dirty="0">
                    <a:latin typeface="SimSun" panose="02010600030101010101" pitchFamily="2" charset="-122"/>
                    <a:ea typeface="SimSun" panose="02010600030101010101" pitchFamily="2" charset="-122"/>
                  </a:rPr>
                  <a:t>的因素主要有：</a:t>
                </a:r>
                <a:endParaRPr lang="en-US" altLang="zh-CN" sz="1008" dirty="0">
                  <a:latin typeface="SimSun" panose="02010600030101010101" pitchFamily="2" charset="-122"/>
                  <a:ea typeface="SimSun" panose="02010600030101010101" pitchFamily="2" charset="-122"/>
                </a:endParaRPr>
              </a:p>
              <a:p>
                <a:pPr eaLnBrk="1" hangingPunct="1"/>
                <a:r>
                  <a:rPr lang="en-US" altLang="zh-CN" sz="1008" dirty="0">
                    <a:latin typeface="SimSun" panose="02010600030101010101" pitchFamily="2" charset="-122"/>
                    <a:ea typeface="SimSun" panose="02010600030101010101" pitchFamily="2" charset="-122"/>
                  </a:rPr>
                  <a:t>1</a:t>
                </a:r>
                <a:r>
                  <a:rPr lang="zh-CN" altLang="en-US" sz="1008" dirty="0">
                    <a:latin typeface="SimSun" panose="02010600030101010101" pitchFamily="2" charset="-122"/>
                    <a:ea typeface="SimSun" panose="02010600030101010101" pitchFamily="2" charset="-122"/>
                  </a:rPr>
                  <a:t>、对投资项目的产出的需求预期</a:t>
                </a:r>
              </a:p>
              <a:p>
                <a:pPr eaLnBrk="1" hangingPunct="1"/>
                <a:r>
                  <a:rPr lang="en-US" altLang="zh-CN" sz="1008" dirty="0">
                    <a:latin typeface="SimSun" panose="02010600030101010101" pitchFamily="2" charset="-122"/>
                    <a:ea typeface="SimSun" panose="02010600030101010101" pitchFamily="2" charset="-122"/>
                  </a:rPr>
                  <a:t>2</a:t>
                </a:r>
                <a:r>
                  <a:rPr lang="zh-CN" altLang="en-US" sz="1008" dirty="0">
                    <a:latin typeface="SimSun" panose="02010600030101010101" pitchFamily="2" charset="-122"/>
                    <a:ea typeface="SimSun" panose="02010600030101010101" pitchFamily="2" charset="-122"/>
                  </a:rPr>
                  <a:t>、产品成本</a:t>
                </a:r>
                <a:r>
                  <a:rPr lang="en-US" altLang="zh-CN" sz="1008" dirty="0">
                    <a:latin typeface="SimSun" panose="02010600030101010101" pitchFamily="2" charset="-122"/>
                    <a:ea typeface="SimSun" panose="02010600030101010101" pitchFamily="2" charset="-122"/>
                  </a:rPr>
                  <a:t>(</a:t>
                </a:r>
                <a:r>
                  <a:rPr lang="zh-CN" altLang="en-US" sz="1008" dirty="0">
                    <a:latin typeface="SimSun" panose="02010600030101010101" pitchFamily="2" charset="-122"/>
                    <a:ea typeface="SimSun" panose="02010600030101010101" pitchFamily="2" charset="-122"/>
                  </a:rPr>
                  <a:t>工资成本对投资需求的双向影响</a:t>
                </a:r>
                <a:r>
                  <a:rPr lang="en-US" altLang="zh-CN" sz="1008" dirty="0">
                    <a:latin typeface="SimSun" panose="02010600030101010101" pitchFamily="2" charset="-122"/>
                    <a:ea typeface="SimSun" panose="02010600030101010101" pitchFamily="2" charset="-122"/>
                  </a:rPr>
                  <a:t>)</a:t>
                </a:r>
              </a:p>
              <a:p>
                <a:pPr eaLnBrk="1" hangingPunct="1"/>
                <a:r>
                  <a:rPr lang="zh-CN" altLang="en-US" sz="1008" dirty="0">
                    <a:latin typeface="SimSun" panose="02010600030101010101" pitchFamily="2" charset="-122"/>
                    <a:ea typeface="SimSun" panose="02010600030101010101" pitchFamily="2" charset="-122"/>
                  </a:rPr>
                  <a:t>新古典经济学认为劳动力成本上升会让企业越来越多地考虑采用新的机器设备，从而增加投资需求。</a:t>
                </a:r>
                <a:endParaRPr lang="en-US" altLang="zh-CN" sz="1008" dirty="0">
                  <a:latin typeface="SimSun" panose="02010600030101010101" pitchFamily="2" charset="-122"/>
                  <a:ea typeface="SimSun" panose="02010600030101010101" pitchFamily="2" charset="-122"/>
                </a:endParaRPr>
              </a:p>
              <a:p>
                <a:pPr eaLnBrk="1" hangingPunct="1"/>
                <a:r>
                  <a:rPr lang="en-US" altLang="zh-CN" sz="1008" dirty="0">
                    <a:latin typeface="SimSun" panose="02010600030101010101" pitchFamily="2" charset="-122"/>
                    <a:ea typeface="SimSun" panose="02010600030101010101" pitchFamily="2" charset="-122"/>
                  </a:rPr>
                  <a:t>3</a:t>
                </a:r>
                <a:r>
                  <a:rPr lang="zh-CN" altLang="en-US" sz="1008" dirty="0">
                    <a:latin typeface="SimSun" panose="02010600030101010101" pitchFamily="2" charset="-122"/>
                    <a:ea typeface="SimSun" panose="02010600030101010101" pitchFamily="2" charset="-122"/>
                  </a:rPr>
                  <a:t>、投资税抵免</a:t>
                </a:r>
              </a:p>
            </p:txBody>
          </p:sp>
        </mc:Choice>
        <mc:Fallback xmlns="">
          <p:sp>
            <p:nvSpPr>
              <p:cNvPr id="12291" name="Rectangle 3"/>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zh-CN" altLang="en-US">
                    <a:noFill/>
                  </a:rPr>
                  <a:t> </a:t>
                </a:r>
              </a:p>
            </p:txBody>
          </p:sp>
        </mc:Fallback>
      </mc:AlternateContent>
      <p:sp>
        <p:nvSpPr>
          <p:cNvPr id="2" name="标题 1">
            <a:extLst>
              <a:ext uri="{FF2B5EF4-FFF2-40B4-BE49-F238E27FC236}">
                <a16:creationId xmlns:a16="http://schemas.microsoft.com/office/drawing/2014/main" id="{33A69C2C-FCAD-C0D8-2C20-C26C4B5510DC}"/>
              </a:ext>
            </a:extLst>
          </p:cNvPr>
          <p:cNvSpPr>
            <a:spLocks noGrp="1"/>
          </p:cNvSpPr>
          <p:nvPr>
            <p:ph type="title"/>
          </p:nvPr>
        </p:nvSpPr>
        <p:spPr/>
        <p:txBody>
          <a:bodyPr/>
          <a:lstStyle/>
          <a:p>
            <a:r>
              <a:rPr kumimoji="1" lang="zh-CN" altLang="en-US" dirty="0"/>
              <a:t>预期收益与投资</a:t>
            </a:r>
          </a:p>
        </p:txBody>
      </p:sp>
      <p:sp>
        <p:nvSpPr>
          <p:cNvPr id="4" name="灯片编号占位符 2">
            <a:extLst>
              <a:ext uri="{FF2B5EF4-FFF2-40B4-BE49-F238E27FC236}">
                <a16:creationId xmlns:a16="http://schemas.microsoft.com/office/drawing/2014/main" id="{40BC96FD-4598-8EFE-DC32-19A0E8250163}"/>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71</a:t>
            </a:fld>
            <a:endParaRPr lang="zh-CN" altLang="zh-CN" sz="856">
              <a:solidFill>
                <a:srgbClr val="777777"/>
              </a:solidFill>
              <a:ea typeface="宋体" panose="02010600030101010101" pitchFamily="2" charset="-122"/>
            </a:endParaRPr>
          </a:p>
        </p:txBody>
      </p:sp>
      <p:sp>
        <p:nvSpPr>
          <p:cNvPr id="5" name="页脚占位符 1">
            <a:extLst>
              <a:ext uri="{FF2B5EF4-FFF2-40B4-BE49-F238E27FC236}">
                <a16:creationId xmlns:a16="http://schemas.microsoft.com/office/drawing/2014/main" id="{7DE2E813-D77A-5BD0-4AD4-F0CAF6FCF995}"/>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3</a:t>
            </a:r>
            <a:r>
              <a:rPr lang="zh-CN" altLang="en-US" sz="907" i="1" dirty="0">
                <a:solidFill>
                  <a:srgbClr val="777777"/>
                </a:solidFill>
                <a:ea typeface="宋体" panose="02010600030101010101" pitchFamily="2" charset="-122"/>
              </a:rPr>
              <a:t>节 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54920071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Grp="1" noChangeArrowheads="1"/>
          </p:cNvSpPr>
          <p:nvPr>
            <p:ph type="body" idx="1"/>
          </p:nvPr>
        </p:nvSpPr>
        <p:spPr/>
        <p:txBody>
          <a:bodyPr/>
          <a:lstStyle/>
          <a:p>
            <a:pPr eaLnBrk="1" hangingPunct="1"/>
            <a:r>
              <a:rPr lang="zh-CN" altLang="en-US" sz="1200" dirty="0">
                <a:latin typeface="Garamond" panose="02020404030301010803" pitchFamily="18" charset="0"/>
                <a:ea typeface="SimSun" panose="02010600030101010101" pitchFamily="2" charset="-122"/>
              </a:rPr>
              <a:t>所谓的</a:t>
            </a:r>
            <a:r>
              <a:rPr lang="zh-CN" altLang="en-US" sz="1200" b="1" dirty="0">
                <a:latin typeface="Garamond" panose="02020404030301010803" pitchFamily="18" charset="0"/>
                <a:ea typeface="SimSun" panose="02010600030101010101" pitchFamily="2" charset="-122"/>
              </a:rPr>
              <a:t>风险</a:t>
            </a:r>
            <a:r>
              <a:rPr lang="zh-CN" altLang="en-US" sz="1200" dirty="0">
                <a:latin typeface="Garamond" panose="02020404030301010803" pitchFamily="18" charset="0"/>
                <a:ea typeface="SimSun" panose="02010600030101010101" pitchFamily="2" charset="-122"/>
              </a:rPr>
              <a:t>，包括未来的市场走势、产品价格变化、生产成本变动、实际利率变化、政府宏观经济政策变化等的不确定性。</a:t>
            </a:r>
            <a:endParaRPr lang="en-US" altLang="zh-CN" sz="1200" dirty="0">
              <a:latin typeface="Garamond" panose="02020404030301010803" pitchFamily="18" charset="0"/>
              <a:ea typeface="SimSun" panose="02010600030101010101" pitchFamily="2" charset="-122"/>
            </a:endParaRPr>
          </a:p>
          <a:p>
            <a:pPr eaLnBrk="1" hangingPunct="1"/>
            <a:r>
              <a:rPr lang="zh-CN" altLang="en-US" sz="1200" dirty="0">
                <a:latin typeface="Garamond" panose="02020404030301010803" pitchFamily="18" charset="0"/>
                <a:ea typeface="SimSun" panose="02010600030101010101" pitchFamily="2" charset="-122"/>
              </a:rPr>
              <a:t>一般来说，</a:t>
            </a:r>
            <a:r>
              <a:rPr lang="zh-CN" altLang="en-US" sz="1200" b="1" dirty="0">
                <a:latin typeface="Garamond" panose="02020404030301010803" pitchFamily="18" charset="0"/>
                <a:ea typeface="SimSun" panose="02010600030101010101" pitchFamily="2" charset="-122"/>
              </a:rPr>
              <a:t>经济繁荣</a:t>
            </a:r>
            <a:r>
              <a:rPr lang="zh-CN" altLang="en-US" sz="1200" dirty="0">
                <a:latin typeface="Garamond" panose="02020404030301010803" pitchFamily="18" charset="0"/>
                <a:ea typeface="SimSun" panose="02010600030101010101" pitchFamily="2" charset="-122"/>
              </a:rPr>
              <a:t>时，企业对未来会看好，认为投资风险较小；</a:t>
            </a:r>
            <a:r>
              <a:rPr lang="zh-CN" altLang="en-US" sz="1200" b="1" dirty="0">
                <a:latin typeface="Garamond" panose="02020404030301010803" pitchFamily="18" charset="0"/>
                <a:ea typeface="SimSun" panose="02010600030101010101" pitchFamily="2" charset="-122"/>
              </a:rPr>
              <a:t>经济衰退</a:t>
            </a:r>
            <a:r>
              <a:rPr lang="zh-CN" altLang="en-US" sz="1200" dirty="0">
                <a:latin typeface="Garamond" panose="02020404030301010803" pitchFamily="18" charset="0"/>
                <a:ea typeface="SimSun" panose="02010600030101010101" pitchFamily="2" charset="-122"/>
              </a:rPr>
              <a:t>时，企业对未来看法悲观，感觉投资风险较大。</a:t>
            </a:r>
            <a:endParaRPr lang="en-US" altLang="zh-CN" sz="1200" dirty="0">
              <a:latin typeface="Garamond" panose="02020404030301010803" pitchFamily="18" charset="0"/>
              <a:ea typeface="SimSun" panose="02010600030101010101" pitchFamily="2" charset="-122"/>
            </a:endParaRPr>
          </a:p>
          <a:p>
            <a:pPr eaLnBrk="1" hangingPunct="1"/>
            <a:r>
              <a:rPr lang="zh-CN" altLang="en-US" sz="1200" b="1" dirty="0">
                <a:latin typeface="Garamond" panose="02020404030301010803" pitchFamily="18" charset="0"/>
                <a:ea typeface="SimSun" panose="02010600030101010101" pitchFamily="2" charset="-122"/>
              </a:rPr>
              <a:t>凯恩斯认为，</a:t>
            </a:r>
            <a:r>
              <a:rPr lang="zh-CN" altLang="en-US" sz="1200" dirty="0">
                <a:latin typeface="Garamond" panose="02020404030301010803" pitchFamily="18" charset="0"/>
                <a:ea typeface="SimSun" panose="02010600030101010101" pitchFamily="2" charset="-122"/>
              </a:rPr>
              <a:t>投资需求与投资者的乐观和悲观情绪有很大关系，实际上，这说明投资需求会随人们承担风险的意愿和能力变化而变动。</a:t>
            </a:r>
          </a:p>
        </p:txBody>
      </p:sp>
      <p:sp>
        <p:nvSpPr>
          <p:cNvPr id="2" name="标题 1">
            <a:extLst>
              <a:ext uri="{FF2B5EF4-FFF2-40B4-BE49-F238E27FC236}">
                <a16:creationId xmlns:a16="http://schemas.microsoft.com/office/drawing/2014/main" id="{5682334A-0901-EFAD-5201-135CB37FA607}"/>
              </a:ext>
            </a:extLst>
          </p:cNvPr>
          <p:cNvSpPr>
            <a:spLocks noGrp="1"/>
          </p:cNvSpPr>
          <p:nvPr>
            <p:ph type="title"/>
          </p:nvPr>
        </p:nvSpPr>
        <p:spPr/>
        <p:txBody>
          <a:bodyPr/>
          <a:lstStyle/>
          <a:p>
            <a:r>
              <a:rPr kumimoji="1" lang="zh-CN" altLang="en-US" dirty="0"/>
              <a:t>风险与投资</a:t>
            </a:r>
          </a:p>
        </p:txBody>
      </p:sp>
      <p:sp>
        <p:nvSpPr>
          <p:cNvPr id="4" name="灯片编号占位符 2">
            <a:extLst>
              <a:ext uri="{FF2B5EF4-FFF2-40B4-BE49-F238E27FC236}">
                <a16:creationId xmlns:a16="http://schemas.microsoft.com/office/drawing/2014/main" id="{038D445D-FFB5-A665-3797-40BF4B5C4C3D}"/>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72</a:t>
            </a:fld>
            <a:endParaRPr lang="zh-CN" altLang="zh-CN" sz="856">
              <a:solidFill>
                <a:srgbClr val="777777"/>
              </a:solidFill>
              <a:ea typeface="宋体" panose="02010600030101010101" pitchFamily="2" charset="-122"/>
            </a:endParaRPr>
          </a:p>
        </p:txBody>
      </p:sp>
      <p:sp>
        <p:nvSpPr>
          <p:cNvPr id="5" name="页脚占位符 1">
            <a:extLst>
              <a:ext uri="{FF2B5EF4-FFF2-40B4-BE49-F238E27FC236}">
                <a16:creationId xmlns:a16="http://schemas.microsoft.com/office/drawing/2014/main" id="{F0522552-FE4C-FC85-9FC3-B7F164CF587B}"/>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3</a:t>
            </a:r>
            <a:r>
              <a:rPr lang="zh-CN" altLang="en-US" sz="907" i="1" dirty="0">
                <a:solidFill>
                  <a:srgbClr val="777777"/>
                </a:solidFill>
                <a:ea typeface="宋体" panose="02010600030101010101" pitchFamily="2" charset="-122"/>
              </a:rPr>
              <a:t>节 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409807935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sz="1210" dirty="0">
                <a:latin typeface="Garamond" panose="02020404030301010803" pitchFamily="18" charset="0"/>
                <a:ea typeface="SimSun" panose="02010600030101010101" pitchFamily="2" charset="-122"/>
              </a:rPr>
              <a:t>[</a:t>
            </a:r>
            <a:r>
              <a:rPr lang="zh-CN" altLang="en-US" sz="1210" dirty="0">
                <a:latin typeface="Garamond" panose="02020404030301010803" pitchFamily="18" charset="0"/>
                <a:ea typeface="SimSun" panose="02010600030101010101" pitchFamily="2" charset="-122"/>
              </a:rPr>
              <a:t>美</a:t>
            </a:r>
            <a:r>
              <a:rPr lang="en-US" altLang="zh-CN" sz="1210" dirty="0">
                <a:latin typeface="Garamond" panose="02020404030301010803" pitchFamily="18" charset="0"/>
                <a:ea typeface="SimSun" panose="02010600030101010101" pitchFamily="2" charset="-122"/>
              </a:rPr>
              <a:t>]</a:t>
            </a:r>
            <a:r>
              <a:rPr lang="zh-CN" altLang="en-US" sz="1210" dirty="0">
                <a:latin typeface="Garamond" panose="02020404030301010803" pitchFamily="18" charset="0"/>
                <a:ea typeface="SimSun" panose="02010600030101010101" pitchFamily="2" charset="-122"/>
              </a:rPr>
              <a:t>詹姆斯</a:t>
            </a:r>
            <a:r>
              <a:rPr lang="en-US" altLang="zh-CN" sz="1210" dirty="0">
                <a:latin typeface="Garamond" panose="02020404030301010803" pitchFamily="18" charset="0"/>
                <a:ea typeface="SimSun" panose="02010600030101010101" pitchFamily="2" charset="-122"/>
              </a:rPr>
              <a:t>·</a:t>
            </a:r>
            <a:r>
              <a:rPr lang="zh-CN" altLang="en-US" sz="1210" dirty="0">
                <a:latin typeface="Garamond" panose="02020404030301010803" pitchFamily="18" charset="0"/>
                <a:ea typeface="SimSun" panose="02010600030101010101" pitchFamily="2" charset="-122"/>
              </a:rPr>
              <a:t>托宾</a:t>
            </a:r>
            <a:r>
              <a:rPr lang="en-US" altLang="zh-CN" sz="1210" dirty="0">
                <a:latin typeface="Garamond" panose="02020404030301010803" pitchFamily="18" charset="0"/>
                <a:ea typeface="SimSun" panose="02010600030101010101" pitchFamily="2" charset="-122"/>
              </a:rPr>
              <a:t>(James Tobin)</a:t>
            </a:r>
          </a:p>
          <a:p>
            <a:r>
              <a:rPr lang="zh-CN" altLang="en-US" sz="1210" dirty="0">
                <a:latin typeface="Garamond" panose="02020404030301010803" pitchFamily="18" charset="0"/>
                <a:ea typeface="SimSun" panose="02010600030101010101" pitchFamily="2" charset="-122"/>
              </a:rPr>
              <a:t>股票价格会影响投资的理论</a:t>
            </a:r>
            <a:endParaRPr lang="en-US" altLang="zh-CN" sz="1210" dirty="0">
              <a:latin typeface="Garamond" panose="02020404030301010803" pitchFamily="18" charset="0"/>
              <a:ea typeface="SimSun" panose="02010600030101010101" pitchFamily="2" charset="-122"/>
            </a:endParaRPr>
          </a:p>
          <a:p>
            <a:r>
              <a:rPr lang="zh-CN" altLang="en-US" sz="1210" dirty="0">
                <a:latin typeface="Garamond" panose="02020404030301010803" pitchFamily="18" charset="0"/>
                <a:ea typeface="SimSun" panose="02010600030101010101" pitchFamily="2" charset="-122"/>
              </a:rPr>
              <a:t>企业的市场价值与其重置成本之比，可以作为衡量要不要进行新投资的标准，这一比率称为</a:t>
            </a:r>
            <a:r>
              <a:rPr lang="en-US" altLang="zh-CN" sz="1210" dirty="0">
                <a:latin typeface="Garamond" panose="02020404030301010803" pitchFamily="18" charset="0"/>
                <a:ea typeface="SimSun" panose="02010600030101010101" pitchFamily="2" charset="-122"/>
              </a:rPr>
              <a:t>q</a:t>
            </a:r>
            <a:r>
              <a:rPr lang="zh-CN" altLang="en-US" sz="1210" dirty="0">
                <a:latin typeface="Garamond" panose="02020404030301010803" pitchFamily="18" charset="0"/>
                <a:ea typeface="SimSun" panose="02010600030101010101" pitchFamily="2" charset="-122"/>
              </a:rPr>
              <a:t>。</a:t>
            </a:r>
            <a:endParaRPr lang="en-US" altLang="zh-CN" sz="1210" dirty="0">
              <a:latin typeface="Garamond" panose="02020404030301010803" pitchFamily="18" charset="0"/>
              <a:ea typeface="SimSun" panose="02010600030101010101" pitchFamily="2" charset="-122"/>
            </a:endParaRPr>
          </a:p>
          <a:p>
            <a:r>
              <a:rPr lang="zh-CN" altLang="en-US" sz="1210" dirty="0">
                <a:latin typeface="Garamond" panose="02020404030301010803" pitchFamily="18" charset="0"/>
                <a:ea typeface="SimSun" panose="02010600030101010101" pitchFamily="2" charset="-122"/>
              </a:rPr>
              <a:t>企业的市场价值是这个企业股票的市场价格总和，等于每股价格*总股数。</a:t>
            </a:r>
            <a:endParaRPr lang="en-US" altLang="zh-CN" sz="1210" dirty="0">
              <a:latin typeface="Garamond" panose="02020404030301010803" pitchFamily="18" charset="0"/>
              <a:ea typeface="SimSun" panose="02010600030101010101" pitchFamily="2" charset="-122"/>
            </a:endParaRPr>
          </a:p>
          <a:p>
            <a:r>
              <a:rPr lang="en-US" altLang="zh-CN" sz="1210" dirty="0">
                <a:latin typeface="Garamond" panose="02020404030301010803" pitchFamily="18" charset="0"/>
                <a:ea typeface="SimSun" panose="02010600030101010101" pitchFamily="2" charset="-122"/>
              </a:rPr>
              <a:t>q=</a:t>
            </a:r>
            <a:r>
              <a:rPr lang="zh-CN" altLang="en-US" sz="1210" dirty="0">
                <a:latin typeface="Garamond" panose="02020404030301010803" pitchFamily="18" charset="0"/>
                <a:ea typeface="SimSun" panose="02010600030101010101" pitchFamily="2" charset="-122"/>
              </a:rPr>
              <a:t>企业的股票价值</a:t>
            </a:r>
            <a:r>
              <a:rPr lang="en-US" altLang="zh-CN" sz="1210" dirty="0">
                <a:latin typeface="Garamond" panose="02020404030301010803" pitchFamily="18" charset="0"/>
                <a:ea typeface="SimSun" panose="02010600030101010101" pitchFamily="2" charset="-122"/>
              </a:rPr>
              <a:t>/</a:t>
            </a:r>
            <a:r>
              <a:rPr lang="zh-CN" altLang="en-US" sz="1210" dirty="0">
                <a:latin typeface="Garamond" panose="02020404030301010803" pitchFamily="18" charset="0"/>
                <a:ea typeface="SimSun" panose="02010600030101010101" pitchFamily="2" charset="-122"/>
              </a:rPr>
              <a:t>新建企业的成本</a:t>
            </a:r>
            <a:endParaRPr lang="en-US" altLang="zh-CN" sz="1210" dirty="0">
              <a:latin typeface="Garamond" panose="02020404030301010803" pitchFamily="18" charset="0"/>
              <a:ea typeface="SimSun" panose="02010600030101010101" pitchFamily="2" charset="-122"/>
            </a:endParaRPr>
          </a:p>
          <a:p>
            <a:r>
              <a:rPr lang="en-US" altLang="zh-CN" sz="1210" dirty="0">
                <a:latin typeface="Garamond" panose="02020404030301010803" pitchFamily="18" charset="0"/>
                <a:ea typeface="SimSun" panose="02010600030101010101" pitchFamily="2" charset="-122"/>
              </a:rPr>
              <a:t>q&lt;1 </a:t>
            </a:r>
            <a:r>
              <a:rPr lang="zh-CN" altLang="en-US" sz="1210" dirty="0">
                <a:latin typeface="Garamond" panose="02020404030301010803" pitchFamily="18" charset="0"/>
                <a:ea typeface="SimSun" panose="02010600030101010101" pitchFamily="2" charset="-122"/>
              </a:rPr>
              <a:t>说明买旧的企业比建新企业便宜，于是不会有新投资；反之</a:t>
            </a:r>
            <a:r>
              <a:rPr lang="en-US" altLang="zh-CN" sz="1210" dirty="0">
                <a:latin typeface="Garamond" panose="02020404030301010803" pitchFamily="18" charset="0"/>
                <a:ea typeface="SimSun" panose="02010600030101010101" pitchFamily="2" charset="-122"/>
              </a:rPr>
              <a:t>q&gt;1 </a:t>
            </a:r>
            <a:r>
              <a:rPr lang="zh-CN" altLang="en-US" sz="1210" dirty="0">
                <a:latin typeface="Garamond" panose="02020404030301010803" pitchFamily="18" charset="0"/>
                <a:ea typeface="SimSun" panose="02010600030101010101" pitchFamily="2" charset="-122"/>
              </a:rPr>
              <a:t>说明新建企业比买就企业要便宜，因此会有新投资。</a:t>
            </a:r>
          </a:p>
        </p:txBody>
      </p:sp>
      <p:sp>
        <p:nvSpPr>
          <p:cNvPr id="4" name="标题 3">
            <a:extLst>
              <a:ext uri="{FF2B5EF4-FFF2-40B4-BE49-F238E27FC236}">
                <a16:creationId xmlns:a16="http://schemas.microsoft.com/office/drawing/2014/main" id="{04E8B583-8675-4811-53C2-EE7AB0F044A1}"/>
              </a:ext>
            </a:extLst>
          </p:cNvPr>
          <p:cNvSpPr>
            <a:spLocks noGrp="1"/>
          </p:cNvSpPr>
          <p:nvPr>
            <p:ph type="title"/>
          </p:nvPr>
        </p:nvSpPr>
        <p:spPr/>
        <p:txBody>
          <a:bodyPr/>
          <a:lstStyle/>
          <a:p>
            <a:r>
              <a:rPr kumimoji="1" lang="zh-CN" altLang="en-US" dirty="0"/>
              <a:t>托宾</a:t>
            </a:r>
            <a:r>
              <a:rPr kumimoji="1" lang="en-US" altLang="zh-CN" dirty="0"/>
              <a:t>Q</a:t>
            </a:r>
            <a:endParaRPr kumimoji="1" lang="zh-CN" altLang="en-US" dirty="0"/>
          </a:p>
        </p:txBody>
      </p:sp>
      <p:sp>
        <p:nvSpPr>
          <p:cNvPr id="6" name="灯片编号占位符 2">
            <a:extLst>
              <a:ext uri="{FF2B5EF4-FFF2-40B4-BE49-F238E27FC236}">
                <a16:creationId xmlns:a16="http://schemas.microsoft.com/office/drawing/2014/main" id="{95BFCD37-D72C-E50E-2B9C-9A9CE8180A7D}"/>
              </a:ext>
            </a:extLst>
          </p:cNvPr>
          <p:cNvSpPr txBox="1">
            <a:spLocks noGrp="1" noChangeArrowheads="1"/>
          </p:cNvSpPr>
          <p:nvPr/>
        </p:nvSpPr>
        <p:spPr bwMode="auto">
          <a:xfrm>
            <a:off x="4184182" y="3214489"/>
            <a:ext cx="344641"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73</a:t>
            </a:fld>
            <a:endParaRPr lang="zh-CN" altLang="zh-CN" sz="856">
              <a:solidFill>
                <a:srgbClr val="777777"/>
              </a:solidFill>
              <a:ea typeface="宋体" panose="02010600030101010101" pitchFamily="2" charset="-122"/>
            </a:endParaRPr>
          </a:p>
        </p:txBody>
      </p:sp>
      <p:sp>
        <p:nvSpPr>
          <p:cNvPr id="7" name="页脚占位符 1">
            <a:extLst>
              <a:ext uri="{FF2B5EF4-FFF2-40B4-BE49-F238E27FC236}">
                <a16:creationId xmlns:a16="http://schemas.microsoft.com/office/drawing/2014/main" id="{DE94E02B-6DD7-1F72-D9ED-2E6E923B82ED}"/>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3</a:t>
            </a:r>
            <a:r>
              <a:rPr lang="zh-CN" altLang="en-US" sz="907" i="1" dirty="0">
                <a:solidFill>
                  <a:srgbClr val="777777"/>
                </a:solidFill>
                <a:ea typeface="宋体" panose="02010600030101010101" pitchFamily="2" charset="-122"/>
              </a:rPr>
              <a:t>节 投资需求</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63422275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object 30"/>
          <p:cNvSpPr/>
          <p:nvPr/>
        </p:nvSpPr>
        <p:spPr>
          <a:xfrm>
            <a:off x="1963" y="1588"/>
            <a:ext cx="4603865" cy="143124"/>
          </a:xfrm>
          <a:prstGeom prst="rect">
            <a:avLst/>
          </a:prstGeom>
          <a:blipFill>
            <a:blip r:embed="rId2" cstate="print"/>
            <a:stretch>
              <a:fillRect/>
            </a:stretch>
          </a:blipFill>
        </p:spPr>
        <p:txBody>
          <a:bodyPr wrap="square" lIns="0" tIns="0" rIns="0" bIns="0" rtlCol="0"/>
          <a:lstStyle/>
          <a:p>
            <a:endParaRPr sz="1798"/>
          </a:p>
        </p:txBody>
      </p:sp>
      <p:sp>
        <p:nvSpPr>
          <p:cNvPr id="31" name="object 31"/>
          <p:cNvSpPr/>
          <p:nvPr/>
        </p:nvSpPr>
        <p:spPr>
          <a:xfrm>
            <a:off x="89917" y="574467"/>
            <a:ext cx="4428868" cy="82474"/>
          </a:xfrm>
          <a:custGeom>
            <a:avLst/>
            <a:gdLst/>
            <a:ahLst/>
            <a:cxnLst/>
            <a:rect l="l" t="t" r="r" b="b"/>
            <a:pathLst>
              <a:path w="4432935" h="82550">
                <a:moveTo>
                  <a:pt x="4381767" y="0"/>
                </a:moveTo>
                <a:lnTo>
                  <a:pt x="50799" y="0"/>
                </a:lnTo>
                <a:lnTo>
                  <a:pt x="45925" y="233"/>
                </a:lnTo>
                <a:lnTo>
                  <a:pt x="10386" y="20111"/>
                </a:lnTo>
                <a:lnTo>
                  <a:pt x="0" y="50800"/>
                </a:lnTo>
                <a:lnTo>
                  <a:pt x="0" y="82384"/>
                </a:lnTo>
                <a:lnTo>
                  <a:pt x="4432567" y="82384"/>
                </a:lnTo>
                <a:lnTo>
                  <a:pt x="4432567" y="50800"/>
                </a:lnTo>
                <a:lnTo>
                  <a:pt x="4415984" y="13334"/>
                </a:lnTo>
                <a:lnTo>
                  <a:pt x="4381767" y="0"/>
                </a:lnTo>
                <a:close/>
              </a:path>
            </a:pathLst>
          </a:custGeom>
          <a:solidFill>
            <a:srgbClr val="FFFFFF"/>
          </a:solidFill>
        </p:spPr>
        <p:txBody>
          <a:bodyPr wrap="square" lIns="0" tIns="0" rIns="0" bIns="0" rtlCol="0"/>
          <a:lstStyle/>
          <a:p>
            <a:endParaRPr sz="1798"/>
          </a:p>
        </p:txBody>
      </p:sp>
      <p:sp>
        <p:nvSpPr>
          <p:cNvPr id="32" name="object 32"/>
          <p:cNvSpPr/>
          <p:nvPr/>
        </p:nvSpPr>
        <p:spPr>
          <a:xfrm>
            <a:off x="135119" y="1250660"/>
            <a:ext cx="112376" cy="109436"/>
          </a:xfrm>
          <a:prstGeom prst="rect">
            <a:avLst/>
          </a:prstGeom>
          <a:blipFill>
            <a:blip r:embed="rId3" cstate="print"/>
            <a:stretch>
              <a:fillRect/>
            </a:stretch>
          </a:blipFill>
        </p:spPr>
        <p:txBody>
          <a:bodyPr wrap="square" lIns="0" tIns="0" rIns="0" bIns="0" rtlCol="0"/>
          <a:lstStyle/>
          <a:p>
            <a:endParaRPr sz="1798"/>
          </a:p>
        </p:txBody>
      </p:sp>
      <p:sp>
        <p:nvSpPr>
          <p:cNvPr id="33" name="object 33"/>
          <p:cNvSpPr/>
          <p:nvPr/>
        </p:nvSpPr>
        <p:spPr>
          <a:xfrm>
            <a:off x="4449426" y="1234800"/>
            <a:ext cx="122125" cy="125186"/>
          </a:xfrm>
          <a:prstGeom prst="rect">
            <a:avLst/>
          </a:prstGeom>
          <a:blipFill>
            <a:blip r:embed="rId4" cstate="print"/>
            <a:stretch>
              <a:fillRect/>
            </a:stretch>
          </a:blipFill>
        </p:spPr>
        <p:txBody>
          <a:bodyPr wrap="square" lIns="0" tIns="0" rIns="0" bIns="0" rtlCol="0"/>
          <a:lstStyle/>
          <a:p>
            <a:endParaRPr sz="1798"/>
          </a:p>
        </p:txBody>
      </p:sp>
      <p:sp>
        <p:nvSpPr>
          <p:cNvPr id="34" name="object 34"/>
          <p:cNvSpPr/>
          <p:nvPr/>
        </p:nvSpPr>
        <p:spPr>
          <a:xfrm>
            <a:off x="191423" y="1286349"/>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5" name="object 35"/>
          <p:cNvSpPr/>
          <p:nvPr/>
        </p:nvSpPr>
        <p:spPr>
          <a:xfrm>
            <a:off x="191423" y="1292693"/>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6" name="object 36"/>
          <p:cNvSpPr/>
          <p:nvPr/>
        </p:nvSpPr>
        <p:spPr>
          <a:xfrm>
            <a:off x="191423" y="1299034"/>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7" name="object 37"/>
          <p:cNvSpPr/>
          <p:nvPr/>
        </p:nvSpPr>
        <p:spPr>
          <a:xfrm>
            <a:off x="191423" y="1299034"/>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sz="1798"/>
          </a:p>
        </p:txBody>
      </p:sp>
      <p:sp>
        <p:nvSpPr>
          <p:cNvPr id="38" name="object 38"/>
          <p:cNvSpPr/>
          <p:nvPr/>
        </p:nvSpPr>
        <p:spPr>
          <a:xfrm>
            <a:off x="191423" y="1305379"/>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8D8D8D"/>
          </a:solidFill>
        </p:spPr>
        <p:txBody>
          <a:bodyPr wrap="square" lIns="0" tIns="0" rIns="0" bIns="0" rtlCol="0"/>
          <a:lstStyle/>
          <a:p>
            <a:endParaRPr sz="1798"/>
          </a:p>
        </p:txBody>
      </p:sp>
      <p:sp>
        <p:nvSpPr>
          <p:cNvPr id="39" name="object 39"/>
          <p:cNvSpPr/>
          <p:nvPr/>
        </p:nvSpPr>
        <p:spPr>
          <a:xfrm>
            <a:off x="191423" y="1311724"/>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9B9B9B"/>
          </a:solidFill>
        </p:spPr>
        <p:txBody>
          <a:bodyPr wrap="square" lIns="0" tIns="0" rIns="0" bIns="0" rtlCol="0"/>
          <a:lstStyle/>
          <a:p>
            <a:endParaRPr sz="1798"/>
          </a:p>
        </p:txBody>
      </p:sp>
      <p:sp>
        <p:nvSpPr>
          <p:cNvPr id="40" name="object 40"/>
          <p:cNvSpPr/>
          <p:nvPr/>
        </p:nvSpPr>
        <p:spPr>
          <a:xfrm>
            <a:off x="191423" y="1318069"/>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A9A9A9"/>
          </a:solidFill>
        </p:spPr>
        <p:txBody>
          <a:bodyPr wrap="square" lIns="0" tIns="0" rIns="0" bIns="0" rtlCol="0"/>
          <a:lstStyle/>
          <a:p>
            <a:endParaRPr sz="1798"/>
          </a:p>
        </p:txBody>
      </p:sp>
      <p:sp>
        <p:nvSpPr>
          <p:cNvPr id="41" name="object 41"/>
          <p:cNvSpPr/>
          <p:nvPr/>
        </p:nvSpPr>
        <p:spPr>
          <a:xfrm>
            <a:off x="191423" y="1324411"/>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B8B8B8"/>
          </a:solidFill>
        </p:spPr>
        <p:txBody>
          <a:bodyPr wrap="square" lIns="0" tIns="0" rIns="0" bIns="0" rtlCol="0"/>
          <a:lstStyle/>
          <a:p>
            <a:endParaRPr sz="1798"/>
          </a:p>
        </p:txBody>
      </p:sp>
      <p:sp>
        <p:nvSpPr>
          <p:cNvPr id="42" name="object 42"/>
          <p:cNvSpPr/>
          <p:nvPr/>
        </p:nvSpPr>
        <p:spPr>
          <a:xfrm>
            <a:off x="191423" y="1330756"/>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C6C6C6"/>
          </a:solidFill>
        </p:spPr>
        <p:txBody>
          <a:bodyPr wrap="square" lIns="0" tIns="0" rIns="0" bIns="0" rtlCol="0"/>
          <a:lstStyle/>
          <a:p>
            <a:endParaRPr sz="1798"/>
          </a:p>
        </p:txBody>
      </p:sp>
      <p:sp>
        <p:nvSpPr>
          <p:cNvPr id="43" name="object 43"/>
          <p:cNvSpPr/>
          <p:nvPr/>
        </p:nvSpPr>
        <p:spPr>
          <a:xfrm>
            <a:off x="191423" y="1337101"/>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D4D4D4"/>
          </a:solidFill>
        </p:spPr>
        <p:txBody>
          <a:bodyPr wrap="square" lIns="0" tIns="0" rIns="0" bIns="0" rtlCol="0"/>
          <a:lstStyle/>
          <a:p>
            <a:endParaRPr sz="1798"/>
          </a:p>
        </p:txBody>
      </p:sp>
      <p:sp>
        <p:nvSpPr>
          <p:cNvPr id="44" name="object 44"/>
          <p:cNvSpPr/>
          <p:nvPr/>
        </p:nvSpPr>
        <p:spPr>
          <a:xfrm>
            <a:off x="191423" y="1343446"/>
            <a:ext cx="4276608" cy="9516"/>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E2E2E2"/>
          </a:solidFill>
        </p:spPr>
        <p:txBody>
          <a:bodyPr wrap="square" lIns="0" tIns="0" rIns="0" bIns="0" rtlCol="0"/>
          <a:lstStyle/>
          <a:p>
            <a:endParaRPr sz="1798"/>
          </a:p>
        </p:txBody>
      </p:sp>
      <p:sp>
        <p:nvSpPr>
          <p:cNvPr id="45" name="object 45"/>
          <p:cNvSpPr/>
          <p:nvPr/>
        </p:nvSpPr>
        <p:spPr>
          <a:xfrm>
            <a:off x="4518418" y="624420"/>
            <a:ext cx="50753" cy="50753"/>
          </a:xfrm>
          <a:custGeom>
            <a:avLst/>
            <a:gdLst/>
            <a:ahLst/>
            <a:cxnLst/>
            <a:rect l="l" t="t" r="r" b="b"/>
            <a:pathLst>
              <a:path w="50800" h="50800">
                <a:moveTo>
                  <a:pt x="50799" y="50792"/>
                </a:moveTo>
                <a:lnTo>
                  <a:pt x="34262" y="13294"/>
                </a:lnTo>
                <a:lnTo>
                  <a:pt x="0" y="0"/>
                </a:lnTo>
              </a:path>
            </a:pathLst>
          </a:custGeom>
          <a:ln w="11112">
            <a:solidFill>
              <a:srgbClr val="FFFFFF"/>
            </a:solidFill>
          </a:ln>
        </p:spPr>
        <p:txBody>
          <a:bodyPr wrap="square" lIns="0" tIns="0" rIns="0" bIns="0" rtlCol="0"/>
          <a:lstStyle/>
          <a:p>
            <a:endParaRPr sz="1798"/>
          </a:p>
        </p:txBody>
      </p:sp>
      <p:sp>
        <p:nvSpPr>
          <p:cNvPr id="46" name="object 46"/>
          <p:cNvSpPr/>
          <p:nvPr/>
        </p:nvSpPr>
        <p:spPr>
          <a:xfrm>
            <a:off x="4518418" y="718201"/>
            <a:ext cx="27280" cy="8248"/>
          </a:xfrm>
          <a:custGeom>
            <a:avLst/>
            <a:gdLst/>
            <a:ahLst/>
            <a:cxnLst/>
            <a:rect l="l" t="t" r="r" b="b"/>
            <a:pathLst>
              <a:path w="27304" h="8254">
                <a:moveTo>
                  <a:pt x="0" y="7733"/>
                </a:moveTo>
                <a:lnTo>
                  <a:pt x="22932" y="2274"/>
                </a:lnTo>
                <a:lnTo>
                  <a:pt x="26954" y="0"/>
                </a:lnTo>
              </a:path>
            </a:pathLst>
          </a:custGeom>
          <a:ln w="11112">
            <a:solidFill>
              <a:srgbClr val="FFFFFF"/>
            </a:solidFill>
          </a:ln>
        </p:spPr>
        <p:txBody>
          <a:bodyPr wrap="square" lIns="0" tIns="0" rIns="0" bIns="0" rtlCol="0"/>
          <a:lstStyle/>
          <a:p>
            <a:endParaRPr sz="1798"/>
          </a:p>
        </p:txBody>
      </p:sp>
      <p:sp>
        <p:nvSpPr>
          <p:cNvPr id="47" name="object 47"/>
          <p:cNvSpPr/>
          <p:nvPr/>
        </p:nvSpPr>
        <p:spPr>
          <a:xfrm>
            <a:off x="4518418" y="627592"/>
            <a:ext cx="47581" cy="47581"/>
          </a:xfrm>
          <a:custGeom>
            <a:avLst/>
            <a:gdLst/>
            <a:ahLst/>
            <a:cxnLst/>
            <a:rect l="l" t="t" r="r" b="b"/>
            <a:pathLst>
              <a:path w="47625" h="47625">
                <a:moveTo>
                  <a:pt x="47625" y="47625"/>
                </a:moveTo>
                <a:lnTo>
                  <a:pt x="30293" y="10875"/>
                </a:lnTo>
                <a:lnTo>
                  <a:pt x="3343" y="168"/>
                </a:lnTo>
                <a:lnTo>
                  <a:pt x="0" y="0"/>
                </a:lnTo>
              </a:path>
            </a:pathLst>
          </a:custGeom>
          <a:ln w="11112">
            <a:solidFill>
              <a:srgbClr val="F7F7F7"/>
            </a:solidFill>
          </a:ln>
        </p:spPr>
        <p:txBody>
          <a:bodyPr wrap="square" lIns="0" tIns="0" rIns="0" bIns="0" rtlCol="0"/>
          <a:lstStyle/>
          <a:p>
            <a:endParaRPr sz="1798"/>
          </a:p>
        </p:txBody>
      </p:sp>
      <p:sp>
        <p:nvSpPr>
          <p:cNvPr id="48" name="object 48"/>
          <p:cNvSpPr/>
          <p:nvPr/>
        </p:nvSpPr>
        <p:spPr>
          <a:xfrm>
            <a:off x="4518418" y="675173"/>
            <a:ext cx="47581" cy="47581"/>
          </a:xfrm>
          <a:custGeom>
            <a:avLst/>
            <a:gdLst/>
            <a:ahLst/>
            <a:cxnLst/>
            <a:rect l="l" t="t" r="r" b="b"/>
            <a:pathLst>
              <a:path w="47625" h="47625">
                <a:moveTo>
                  <a:pt x="0" y="47624"/>
                </a:moveTo>
                <a:lnTo>
                  <a:pt x="36749" y="30298"/>
                </a:lnTo>
                <a:lnTo>
                  <a:pt x="47379" y="4871"/>
                </a:lnTo>
                <a:lnTo>
                  <a:pt x="47625" y="0"/>
                </a:lnTo>
              </a:path>
            </a:pathLst>
          </a:custGeom>
          <a:ln w="11112">
            <a:solidFill>
              <a:srgbClr val="F7F7F7"/>
            </a:solidFill>
          </a:ln>
        </p:spPr>
        <p:txBody>
          <a:bodyPr wrap="square" lIns="0" tIns="0" rIns="0" bIns="0" rtlCol="0"/>
          <a:lstStyle/>
          <a:p>
            <a:endParaRPr sz="1798"/>
          </a:p>
        </p:txBody>
      </p:sp>
      <p:sp>
        <p:nvSpPr>
          <p:cNvPr id="49" name="object 49"/>
          <p:cNvSpPr/>
          <p:nvPr/>
        </p:nvSpPr>
        <p:spPr>
          <a:xfrm>
            <a:off x="4518418" y="630764"/>
            <a:ext cx="44409" cy="44409"/>
          </a:xfrm>
          <a:custGeom>
            <a:avLst/>
            <a:gdLst/>
            <a:ahLst/>
            <a:cxnLst/>
            <a:rect l="l" t="t" r="r" b="b"/>
            <a:pathLst>
              <a:path w="44450" h="44450">
                <a:moveTo>
                  <a:pt x="44450" y="44450"/>
                </a:moveTo>
                <a:lnTo>
                  <a:pt x="44189" y="39608"/>
                </a:lnTo>
                <a:lnTo>
                  <a:pt x="43845" y="37495"/>
                </a:lnTo>
                <a:lnTo>
                  <a:pt x="43425" y="34918"/>
                </a:lnTo>
                <a:lnTo>
                  <a:pt x="18358" y="3958"/>
                </a:lnTo>
                <a:lnTo>
                  <a:pt x="6954" y="605"/>
                </a:lnTo>
                <a:lnTo>
                  <a:pt x="4843" y="260"/>
                </a:lnTo>
                <a:lnTo>
                  <a:pt x="0" y="0"/>
                </a:lnTo>
              </a:path>
            </a:pathLst>
          </a:custGeom>
          <a:ln w="11112">
            <a:solidFill>
              <a:srgbClr val="F0F0F0"/>
            </a:solidFill>
          </a:ln>
        </p:spPr>
        <p:txBody>
          <a:bodyPr wrap="square" lIns="0" tIns="0" rIns="0" bIns="0" rtlCol="0"/>
          <a:lstStyle/>
          <a:p>
            <a:endParaRPr sz="1798"/>
          </a:p>
        </p:txBody>
      </p:sp>
      <p:sp>
        <p:nvSpPr>
          <p:cNvPr id="50" name="object 50"/>
          <p:cNvSpPr/>
          <p:nvPr/>
        </p:nvSpPr>
        <p:spPr>
          <a:xfrm>
            <a:off x="4518418" y="675173"/>
            <a:ext cx="44409" cy="44409"/>
          </a:xfrm>
          <a:custGeom>
            <a:avLst/>
            <a:gdLst/>
            <a:ahLst/>
            <a:cxnLst/>
            <a:rect l="l" t="t" r="r" b="b"/>
            <a:pathLst>
              <a:path w="44450" h="44450">
                <a:moveTo>
                  <a:pt x="0" y="44449"/>
                </a:moveTo>
                <a:lnTo>
                  <a:pt x="35874" y="26251"/>
                </a:lnTo>
                <a:lnTo>
                  <a:pt x="44189" y="4843"/>
                </a:lnTo>
                <a:lnTo>
                  <a:pt x="44450" y="0"/>
                </a:lnTo>
              </a:path>
            </a:pathLst>
          </a:custGeom>
          <a:ln w="11112">
            <a:solidFill>
              <a:srgbClr val="F0F0F0"/>
            </a:solidFill>
          </a:ln>
        </p:spPr>
        <p:txBody>
          <a:bodyPr wrap="square" lIns="0" tIns="0" rIns="0" bIns="0" rtlCol="0"/>
          <a:lstStyle/>
          <a:p>
            <a:endParaRPr sz="1798"/>
          </a:p>
        </p:txBody>
      </p:sp>
      <p:sp>
        <p:nvSpPr>
          <p:cNvPr id="51" name="object 51"/>
          <p:cNvSpPr/>
          <p:nvPr/>
        </p:nvSpPr>
        <p:spPr>
          <a:xfrm>
            <a:off x="4518418" y="633936"/>
            <a:ext cx="41237" cy="41237"/>
          </a:xfrm>
          <a:custGeom>
            <a:avLst/>
            <a:gdLst/>
            <a:ahLst/>
            <a:cxnLst/>
            <a:rect l="l" t="t" r="r" b="b"/>
            <a:pathLst>
              <a:path w="41275" h="41275">
                <a:moveTo>
                  <a:pt x="41275" y="41275"/>
                </a:moveTo>
                <a:lnTo>
                  <a:pt x="40997" y="36461"/>
                </a:lnTo>
                <a:lnTo>
                  <a:pt x="40185" y="31810"/>
                </a:lnTo>
                <a:lnTo>
                  <a:pt x="39703" y="30178"/>
                </a:lnTo>
                <a:lnTo>
                  <a:pt x="38869" y="27354"/>
                </a:lnTo>
                <a:lnTo>
                  <a:pt x="11096" y="1572"/>
                </a:lnTo>
                <a:lnTo>
                  <a:pt x="9464" y="1090"/>
                </a:lnTo>
                <a:lnTo>
                  <a:pt x="4814" y="277"/>
                </a:lnTo>
                <a:lnTo>
                  <a:pt x="0" y="0"/>
                </a:lnTo>
              </a:path>
            </a:pathLst>
          </a:custGeom>
          <a:ln w="11112">
            <a:solidFill>
              <a:srgbClr val="E8E8E8"/>
            </a:solidFill>
          </a:ln>
        </p:spPr>
        <p:txBody>
          <a:bodyPr wrap="square" lIns="0" tIns="0" rIns="0" bIns="0" rtlCol="0"/>
          <a:lstStyle/>
          <a:p>
            <a:endParaRPr sz="1798"/>
          </a:p>
        </p:txBody>
      </p:sp>
      <p:sp>
        <p:nvSpPr>
          <p:cNvPr id="52" name="object 52"/>
          <p:cNvSpPr/>
          <p:nvPr/>
        </p:nvSpPr>
        <p:spPr>
          <a:xfrm>
            <a:off x="4518418" y="675174"/>
            <a:ext cx="41237" cy="41237"/>
          </a:xfrm>
          <a:custGeom>
            <a:avLst/>
            <a:gdLst/>
            <a:ahLst/>
            <a:cxnLst/>
            <a:rect l="l" t="t" r="r" b="b"/>
            <a:pathLst>
              <a:path w="41275" h="41275">
                <a:moveTo>
                  <a:pt x="0" y="41274"/>
                </a:moveTo>
                <a:lnTo>
                  <a:pt x="34849" y="22127"/>
                </a:lnTo>
                <a:lnTo>
                  <a:pt x="40997" y="4813"/>
                </a:lnTo>
                <a:lnTo>
                  <a:pt x="41275" y="0"/>
                </a:lnTo>
              </a:path>
            </a:pathLst>
          </a:custGeom>
          <a:ln w="11112">
            <a:solidFill>
              <a:srgbClr val="E8E8E8"/>
            </a:solidFill>
          </a:ln>
        </p:spPr>
        <p:txBody>
          <a:bodyPr wrap="square" lIns="0" tIns="0" rIns="0" bIns="0" rtlCol="0"/>
          <a:lstStyle/>
          <a:p>
            <a:endParaRPr sz="1798"/>
          </a:p>
        </p:txBody>
      </p:sp>
      <p:sp>
        <p:nvSpPr>
          <p:cNvPr id="53" name="object 53"/>
          <p:cNvSpPr/>
          <p:nvPr/>
        </p:nvSpPr>
        <p:spPr>
          <a:xfrm>
            <a:off x="4518418" y="637108"/>
            <a:ext cx="38065" cy="38065"/>
          </a:xfrm>
          <a:custGeom>
            <a:avLst/>
            <a:gdLst/>
            <a:ahLst/>
            <a:cxnLst/>
            <a:rect l="l" t="t" r="r" b="b"/>
            <a:pathLst>
              <a:path w="38100" h="38100">
                <a:moveTo>
                  <a:pt x="38100" y="38100"/>
                </a:moveTo>
                <a:lnTo>
                  <a:pt x="37803" y="33322"/>
                </a:lnTo>
                <a:lnTo>
                  <a:pt x="36936" y="28722"/>
                </a:lnTo>
                <a:lnTo>
                  <a:pt x="35536" y="24334"/>
                </a:lnTo>
                <a:lnTo>
                  <a:pt x="34266" y="21566"/>
                </a:lnTo>
                <a:lnTo>
                  <a:pt x="33636" y="20193"/>
                </a:lnTo>
                <a:lnTo>
                  <a:pt x="16532" y="3833"/>
                </a:lnTo>
                <a:lnTo>
                  <a:pt x="13771" y="2565"/>
                </a:lnTo>
                <a:lnTo>
                  <a:pt x="9382" y="1164"/>
                </a:lnTo>
                <a:lnTo>
                  <a:pt x="4779" y="297"/>
                </a:lnTo>
                <a:lnTo>
                  <a:pt x="0" y="0"/>
                </a:lnTo>
              </a:path>
            </a:pathLst>
          </a:custGeom>
          <a:ln w="11112">
            <a:solidFill>
              <a:srgbClr val="E1E1E1"/>
            </a:solidFill>
          </a:ln>
        </p:spPr>
        <p:txBody>
          <a:bodyPr wrap="square" lIns="0" tIns="0" rIns="0" bIns="0" rtlCol="0"/>
          <a:lstStyle/>
          <a:p>
            <a:endParaRPr sz="1798"/>
          </a:p>
        </p:txBody>
      </p:sp>
      <p:sp>
        <p:nvSpPr>
          <p:cNvPr id="54" name="object 54"/>
          <p:cNvSpPr/>
          <p:nvPr/>
        </p:nvSpPr>
        <p:spPr>
          <a:xfrm>
            <a:off x="4518418" y="675173"/>
            <a:ext cx="38065" cy="38065"/>
          </a:xfrm>
          <a:custGeom>
            <a:avLst/>
            <a:gdLst/>
            <a:ahLst/>
            <a:cxnLst/>
            <a:rect l="l" t="t" r="r" b="b"/>
            <a:pathLst>
              <a:path w="38100" h="38100">
                <a:moveTo>
                  <a:pt x="0" y="38099"/>
                </a:moveTo>
                <a:lnTo>
                  <a:pt x="33636" y="17911"/>
                </a:lnTo>
                <a:lnTo>
                  <a:pt x="37803" y="4779"/>
                </a:lnTo>
                <a:lnTo>
                  <a:pt x="38100" y="0"/>
                </a:lnTo>
              </a:path>
            </a:pathLst>
          </a:custGeom>
          <a:ln w="11112">
            <a:solidFill>
              <a:srgbClr val="E1E1E1"/>
            </a:solidFill>
          </a:ln>
        </p:spPr>
        <p:txBody>
          <a:bodyPr wrap="square" lIns="0" tIns="0" rIns="0" bIns="0" rtlCol="0"/>
          <a:lstStyle/>
          <a:p>
            <a:endParaRPr sz="1798"/>
          </a:p>
        </p:txBody>
      </p:sp>
      <p:sp>
        <p:nvSpPr>
          <p:cNvPr id="55" name="object 55"/>
          <p:cNvSpPr/>
          <p:nvPr/>
        </p:nvSpPr>
        <p:spPr>
          <a:xfrm>
            <a:off x="4518418" y="640281"/>
            <a:ext cx="34893" cy="34893"/>
          </a:xfrm>
          <a:custGeom>
            <a:avLst/>
            <a:gdLst/>
            <a:ahLst/>
            <a:cxnLst/>
            <a:rect l="l" t="t" r="r" b="b"/>
            <a:pathLst>
              <a:path w="34925" h="34925">
                <a:moveTo>
                  <a:pt x="34925" y="34925"/>
                </a:moveTo>
                <a:lnTo>
                  <a:pt x="13595" y="2745"/>
                </a:lnTo>
                <a:lnTo>
                  <a:pt x="0" y="0"/>
                </a:lnTo>
              </a:path>
            </a:pathLst>
          </a:custGeom>
          <a:ln w="11112">
            <a:solidFill>
              <a:srgbClr val="D9D9D9"/>
            </a:solidFill>
          </a:ln>
        </p:spPr>
        <p:txBody>
          <a:bodyPr wrap="square" lIns="0" tIns="0" rIns="0" bIns="0" rtlCol="0"/>
          <a:lstStyle/>
          <a:p>
            <a:endParaRPr sz="1798"/>
          </a:p>
        </p:txBody>
      </p:sp>
      <p:sp>
        <p:nvSpPr>
          <p:cNvPr id="56" name="object 56"/>
          <p:cNvSpPr/>
          <p:nvPr/>
        </p:nvSpPr>
        <p:spPr>
          <a:xfrm>
            <a:off x="4518418" y="675174"/>
            <a:ext cx="34893" cy="34893"/>
          </a:xfrm>
          <a:custGeom>
            <a:avLst/>
            <a:gdLst/>
            <a:ahLst/>
            <a:cxnLst/>
            <a:rect l="l" t="t" r="r" b="b"/>
            <a:pathLst>
              <a:path w="34925" h="34925">
                <a:moveTo>
                  <a:pt x="0" y="34924"/>
                </a:moveTo>
                <a:lnTo>
                  <a:pt x="32181" y="13595"/>
                </a:lnTo>
                <a:lnTo>
                  <a:pt x="34606" y="4739"/>
                </a:lnTo>
                <a:lnTo>
                  <a:pt x="34925" y="0"/>
                </a:lnTo>
              </a:path>
            </a:pathLst>
          </a:custGeom>
          <a:ln w="11112">
            <a:solidFill>
              <a:srgbClr val="D9D9D9"/>
            </a:solidFill>
          </a:ln>
        </p:spPr>
        <p:txBody>
          <a:bodyPr wrap="square" lIns="0" tIns="0" rIns="0" bIns="0" rtlCol="0"/>
          <a:lstStyle/>
          <a:p>
            <a:endParaRPr sz="1798"/>
          </a:p>
        </p:txBody>
      </p:sp>
      <p:sp>
        <p:nvSpPr>
          <p:cNvPr id="57" name="object 57"/>
          <p:cNvSpPr/>
          <p:nvPr/>
        </p:nvSpPr>
        <p:spPr>
          <a:xfrm>
            <a:off x="4518418" y="643452"/>
            <a:ext cx="31721" cy="31721"/>
          </a:xfrm>
          <a:custGeom>
            <a:avLst/>
            <a:gdLst/>
            <a:ahLst/>
            <a:cxnLst/>
            <a:rect l="l" t="t" r="r" b="b"/>
            <a:pathLst>
              <a:path w="31750" h="31750">
                <a:moveTo>
                  <a:pt x="31750" y="31750"/>
                </a:moveTo>
                <a:lnTo>
                  <a:pt x="4690" y="344"/>
                </a:lnTo>
                <a:lnTo>
                  <a:pt x="0" y="0"/>
                </a:lnTo>
              </a:path>
            </a:pathLst>
          </a:custGeom>
          <a:ln w="11112">
            <a:solidFill>
              <a:srgbClr val="D2D2D2"/>
            </a:solidFill>
          </a:ln>
        </p:spPr>
        <p:txBody>
          <a:bodyPr wrap="square" lIns="0" tIns="0" rIns="0" bIns="0" rtlCol="0"/>
          <a:lstStyle/>
          <a:p>
            <a:endParaRPr sz="1798"/>
          </a:p>
        </p:txBody>
      </p:sp>
      <p:sp>
        <p:nvSpPr>
          <p:cNvPr id="58" name="object 58"/>
          <p:cNvSpPr/>
          <p:nvPr/>
        </p:nvSpPr>
        <p:spPr>
          <a:xfrm>
            <a:off x="4518418" y="675173"/>
            <a:ext cx="31721" cy="31721"/>
          </a:xfrm>
          <a:custGeom>
            <a:avLst/>
            <a:gdLst/>
            <a:ahLst/>
            <a:cxnLst/>
            <a:rect l="l" t="t" r="r" b="b"/>
            <a:pathLst>
              <a:path w="31750" h="31750">
                <a:moveTo>
                  <a:pt x="0" y="31749"/>
                </a:moveTo>
                <a:lnTo>
                  <a:pt x="31405" y="4692"/>
                </a:lnTo>
                <a:lnTo>
                  <a:pt x="31750" y="0"/>
                </a:lnTo>
              </a:path>
            </a:pathLst>
          </a:custGeom>
          <a:ln w="11112">
            <a:solidFill>
              <a:srgbClr val="D2D2D2"/>
            </a:solidFill>
          </a:ln>
        </p:spPr>
        <p:txBody>
          <a:bodyPr wrap="square" lIns="0" tIns="0" rIns="0" bIns="0" rtlCol="0"/>
          <a:lstStyle/>
          <a:p>
            <a:endParaRPr sz="1798"/>
          </a:p>
        </p:txBody>
      </p:sp>
      <p:sp>
        <p:nvSpPr>
          <p:cNvPr id="59" name="object 59"/>
          <p:cNvSpPr/>
          <p:nvPr/>
        </p:nvSpPr>
        <p:spPr>
          <a:xfrm>
            <a:off x="4518418" y="646624"/>
            <a:ext cx="28549" cy="28549"/>
          </a:xfrm>
          <a:custGeom>
            <a:avLst/>
            <a:gdLst/>
            <a:ahLst/>
            <a:cxnLst/>
            <a:rect l="l" t="t" r="r" b="b"/>
            <a:pathLst>
              <a:path w="28575" h="28575">
                <a:moveTo>
                  <a:pt x="28575" y="28575"/>
                </a:moveTo>
                <a:lnTo>
                  <a:pt x="0" y="0"/>
                </a:lnTo>
              </a:path>
            </a:pathLst>
          </a:custGeom>
          <a:ln w="11112">
            <a:solidFill>
              <a:srgbClr val="CACACA"/>
            </a:solidFill>
          </a:ln>
        </p:spPr>
        <p:txBody>
          <a:bodyPr wrap="square" lIns="0" tIns="0" rIns="0" bIns="0" rtlCol="0"/>
          <a:lstStyle/>
          <a:p>
            <a:endParaRPr sz="1798"/>
          </a:p>
        </p:txBody>
      </p:sp>
      <p:sp>
        <p:nvSpPr>
          <p:cNvPr id="60" name="object 60"/>
          <p:cNvSpPr/>
          <p:nvPr/>
        </p:nvSpPr>
        <p:spPr>
          <a:xfrm>
            <a:off x="4518418" y="675173"/>
            <a:ext cx="28549" cy="28549"/>
          </a:xfrm>
          <a:custGeom>
            <a:avLst/>
            <a:gdLst/>
            <a:ahLst/>
            <a:cxnLst/>
            <a:rect l="l" t="t" r="r" b="b"/>
            <a:pathLst>
              <a:path w="28575" h="28575">
                <a:moveTo>
                  <a:pt x="0" y="28574"/>
                </a:moveTo>
                <a:lnTo>
                  <a:pt x="28201" y="4636"/>
                </a:lnTo>
                <a:lnTo>
                  <a:pt x="28575" y="0"/>
                </a:lnTo>
              </a:path>
            </a:pathLst>
          </a:custGeom>
          <a:ln w="11112">
            <a:solidFill>
              <a:srgbClr val="CACACA"/>
            </a:solidFill>
          </a:ln>
        </p:spPr>
        <p:txBody>
          <a:bodyPr wrap="square" lIns="0" tIns="0" rIns="0" bIns="0" rtlCol="0"/>
          <a:lstStyle/>
          <a:p>
            <a:endParaRPr sz="1798"/>
          </a:p>
        </p:txBody>
      </p:sp>
      <p:sp>
        <p:nvSpPr>
          <p:cNvPr id="61" name="object 61"/>
          <p:cNvSpPr/>
          <p:nvPr/>
        </p:nvSpPr>
        <p:spPr>
          <a:xfrm>
            <a:off x="4518417" y="649796"/>
            <a:ext cx="25377" cy="25377"/>
          </a:xfrm>
          <a:custGeom>
            <a:avLst/>
            <a:gdLst/>
            <a:ahLst/>
            <a:cxnLst/>
            <a:rect l="l" t="t" r="r" b="b"/>
            <a:pathLst>
              <a:path w="25400" h="25400">
                <a:moveTo>
                  <a:pt x="25400" y="25400"/>
                </a:moveTo>
                <a:lnTo>
                  <a:pt x="0" y="0"/>
                </a:lnTo>
              </a:path>
            </a:pathLst>
          </a:custGeom>
          <a:ln w="11112">
            <a:solidFill>
              <a:srgbClr val="C3C3C3"/>
            </a:solidFill>
          </a:ln>
        </p:spPr>
        <p:txBody>
          <a:bodyPr wrap="square" lIns="0" tIns="0" rIns="0" bIns="0" rtlCol="0"/>
          <a:lstStyle/>
          <a:p>
            <a:endParaRPr sz="1798"/>
          </a:p>
        </p:txBody>
      </p:sp>
      <p:sp>
        <p:nvSpPr>
          <p:cNvPr id="62" name="object 62"/>
          <p:cNvSpPr/>
          <p:nvPr/>
        </p:nvSpPr>
        <p:spPr>
          <a:xfrm>
            <a:off x="4518417" y="675173"/>
            <a:ext cx="25377" cy="25377"/>
          </a:xfrm>
          <a:custGeom>
            <a:avLst/>
            <a:gdLst/>
            <a:ahLst/>
            <a:cxnLst/>
            <a:rect l="l" t="t" r="r" b="b"/>
            <a:pathLst>
              <a:path w="25400" h="25400">
                <a:moveTo>
                  <a:pt x="0" y="25399"/>
                </a:moveTo>
                <a:lnTo>
                  <a:pt x="24990" y="4567"/>
                </a:lnTo>
                <a:lnTo>
                  <a:pt x="25400" y="0"/>
                </a:lnTo>
              </a:path>
            </a:pathLst>
          </a:custGeom>
          <a:ln w="11112">
            <a:solidFill>
              <a:srgbClr val="C3C3C3"/>
            </a:solidFill>
          </a:ln>
        </p:spPr>
        <p:txBody>
          <a:bodyPr wrap="square" lIns="0" tIns="0" rIns="0" bIns="0" rtlCol="0"/>
          <a:lstStyle/>
          <a:p>
            <a:endParaRPr sz="1798"/>
          </a:p>
        </p:txBody>
      </p:sp>
      <p:sp>
        <p:nvSpPr>
          <p:cNvPr id="63" name="object 63"/>
          <p:cNvSpPr/>
          <p:nvPr/>
        </p:nvSpPr>
        <p:spPr>
          <a:xfrm>
            <a:off x="4518418" y="652969"/>
            <a:ext cx="22205" cy="22205"/>
          </a:xfrm>
          <a:custGeom>
            <a:avLst/>
            <a:gdLst/>
            <a:ahLst/>
            <a:cxnLst/>
            <a:rect l="l" t="t" r="r" b="b"/>
            <a:pathLst>
              <a:path w="22225" h="22225">
                <a:moveTo>
                  <a:pt x="22225" y="22225"/>
                </a:moveTo>
                <a:lnTo>
                  <a:pt x="0" y="0"/>
                </a:lnTo>
              </a:path>
            </a:pathLst>
          </a:custGeom>
          <a:ln w="11112">
            <a:solidFill>
              <a:srgbClr val="BBBBBB"/>
            </a:solidFill>
          </a:ln>
        </p:spPr>
        <p:txBody>
          <a:bodyPr wrap="square" lIns="0" tIns="0" rIns="0" bIns="0" rtlCol="0"/>
          <a:lstStyle/>
          <a:p>
            <a:endParaRPr sz="1798"/>
          </a:p>
        </p:txBody>
      </p:sp>
      <p:sp>
        <p:nvSpPr>
          <p:cNvPr id="64" name="object 64"/>
          <p:cNvSpPr/>
          <p:nvPr/>
        </p:nvSpPr>
        <p:spPr>
          <a:xfrm>
            <a:off x="4518418" y="675173"/>
            <a:ext cx="22205" cy="22205"/>
          </a:xfrm>
          <a:custGeom>
            <a:avLst/>
            <a:gdLst/>
            <a:ahLst/>
            <a:cxnLst/>
            <a:rect l="l" t="t" r="r" b="b"/>
            <a:pathLst>
              <a:path w="22225" h="22225">
                <a:moveTo>
                  <a:pt x="0" y="22224"/>
                </a:moveTo>
                <a:lnTo>
                  <a:pt x="21773" y="4480"/>
                </a:lnTo>
                <a:lnTo>
                  <a:pt x="22225" y="0"/>
                </a:lnTo>
              </a:path>
            </a:pathLst>
          </a:custGeom>
          <a:ln w="11112">
            <a:solidFill>
              <a:srgbClr val="BBBBBB"/>
            </a:solidFill>
          </a:ln>
        </p:spPr>
        <p:txBody>
          <a:bodyPr wrap="square" lIns="0" tIns="0" rIns="0" bIns="0" rtlCol="0"/>
          <a:lstStyle/>
          <a:p>
            <a:endParaRPr sz="1798"/>
          </a:p>
        </p:txBody>
      </p:sp>
      <p:sp>
        <p:nvSpPr>
          <p:cNvPr id="65" name="object 65"/>
          <p:cNvSpPr/>
          <p:nvPr/>
        </p:nvSpPr>
        <p:spPr>
          <a:xfrm>
            <a:off x="4518418" y="656141"/>
            <a:ext cx="19032" cy="19032"/>
          </a:xfrm>
          <a:custGeom>
            <a:avLst/>
            <a:gdLst/>
            <a:ahLst/>
            <a:cxnLst/>
            <a:rect l="l" t="t" r="r" b="b"/>
            <a:pathLst>
              <a:path w="19050" h="19050">
                <a:moveTo>
                  <a:pt x="19050" y="19050"/>
                </a:moveTo>
                <a:lnTo>
                  <a:pt x="0" y="0"/>
                </a:lnTo>
              </a:path>
            </a:pathLst>
          </a:custGeom>
          <a:ln w="11112">
            <a:solidFill>
              <a:srgbClr val="B3B3B3"/>
            </a:solidFill>
          </a:ln>
        </p:spPr>
        <p:txBody>
          <a:bodyPr wrap="square" lIns="0" tIns="0" rIns="0" bIns="0" rtlCol="0"/>
          <a:lstStyle/>
          <a:p>
            <a:endParaRPr sz="1798"/>
          </a:p>
        </p:txBody>
      </p:sp>
      <p:sp>
        <p:nvSpPr>
          <p:cNvPr id="66" name="object 66"/>
          <p:cNvSpPr/>
          <p:nvPr/>
        </p:nvSpPr>
        <p:spPr>
          <a:xfrm>
            <a:off x="4518418" y="675173"/>
            <a:ext cx="19032" cy="19032"/>
          </a:xfrm>
          <a:custGeom>
            <a:avLst/>
            <a:gdLst/>
            <a:ahLst/>
            <a:cxnLst/>
            <a:rect l="l" t="t" r="r" b="b"/>
            <a:pathLst>
              <a:path w="19050" h="19050">
                <a:moveTo>
                  <a:pt x="0" y="19049"/>
                </a:moveTo>
                <a:lnTo>
                  <a:pt x="18546" y="4370"/>
                </a:lnTo>
                <a:lnTo>
                  <a:pt x="19050" y="0"/>
                </a:lnTo>
              </a:path>
            </a:pathLst>
          </a:custGeom>
          <a:ln w="11112">
            <a:solidFill>
              <a:srgbClr val="B3B3B3"/>
            </a:solidFill>
          </a:ln>
        </p:spPr>
        <p:txBody>
          <a:bodyPr wrap="square" lIns="0" tIns="0" rIns="0" bIns="0" rtlCol="0"/>
          <a:lstStyle/>
          <a:p>
            <a:endParaRPr sz="1798"/>
          </a:p>
        </p:txBody>
      </p:sp>
      <p:sp>
        <p:nvSpPr>
          <p:cNvPr id="67" name="object 67"/>
          <p:cNvSpPr/>
          <p:nvPr/>
        </p:nvSpPr>
        <p:spPr>
          <a:xfrm>
            <a:off x="4518418" y="659313"/>
            <a:ext cx="15861" cy="15861"/>
          </a:xfrm>
          <a:custGeom>
            <a:avLst/>
            <a:gdLst/>
            <a:ahLst/>
            <a:cxnLst/>
            <a:rect l="l" t="t" r="r" b="b"/>
            <a:pathLst>
              <a:path w="15875" h="15875">
                <a:moveTo>
                  <a:pt x="15875" y="15875"/>
                </a:moveTo>
                <a:lnTo>
                  <a:pt x="15875" y="7112"/>
                </a:lnTo>
                <a:lnTo>
                  <a:pt x="8763" y="0"/>
                </a:lnTo>
                <a:lnTo>
                  <a:pt x="0" y="0"/>
                </a:lnTo>
              </a:path>
            </a:pathLst>
          </a:custGeom>
          <a:ln w="11112">
            <a:solidFill>
              <a:srgbClr val="ACACAC"/>
            </a:solidFill>
          </a:ln>
        </p:spPr>
        <p:txBody>
          <a:bodyPr wrap="square" lIns="0" tIns="0" rIns="0" bIns="0" rtlCol="0"/>
          <a:lstStyle/>
          <a:p>
            <a:endParaRPr sz="1798"/>
          </a:p>
        </p:txBody>
      </p:sp>
      <p:sp>
        <p:nvSpPr>
          <p:cNvPr id="68" name="object 68"/>
          <p:cNvSpPr/>
          <p:nvPr/>
        </p:nvSpPr>
        <p:spPr>
          <a:xfrm>
            <a:off x="4518418" y="675173"/>
            <a:ext cx="15861" cy="15861"/>
          </a:xfrm>
          <a:custGeom>
            <a:avLst/>
            <a:gdLst/>
            <a:ahLst/>
            <a:cxnLst/>
            <a:rect l="l" t="t" r="r" b="b"/>
            <a:pathLst>
              <a:path w="15875" h="15875">
                <a:moveTo>
                  <a:pt x="0" y="15875"/>
                </a:moveTo>
                <a:lnTo>
                  <a:pt x="8763" y="15875"/>
                </a:lnTo>
                <a:lnTo>
                  <a:pt x="15875" y="8775"/>
                </a:lnTo>
                <a:lnTo>
                  <a:pt x="15875" y="0"/>
                </a:lnTo>
              </a:path>
            </a:pathLst>
          </a:custGeom>
          <a:ln w="11112">
            <a:solidFill>
              <a:srgbClr val="ACACAC"/>
            </a:solidFill>
          </a:ln>
        </p:spPr>
        <p:txBody>
          <a:bodyPr wrap="square" lIns="0" tIns="0" rIns="0" bIns="0" rtlCol="0"/>
          <a:lstStyle/>
          <a:p>
            <a:endParaRPr sz="1798"/>
          </a:p>
        </p:txBody>
      </p:sp>
      <p:sp>
        <p:nvSpPr>
          <p:cNvPr id="69" name="object 69"/>
          <p:cNvSpPr/>
          <p:nvPr/>
        </p:nvSpPr>
        <p:spPr>
          <a:xfrm>
            <a:off x="4518418" y="662485"/>
            <a:ext cx="12688" cy="12688"/>
          </a:xfrm>
          <a:custGeom>
            <a:avLst/>
            <a:gdLst/>
            <a:ahLst/>
            <a:cxnLst/>
            <a:rect l="l" t="t" r="r" b="b"/>
            <a:pathLst>
              <a:path w="12700" h="12700">
                <a:moveTo>
                  <a:pt x="12700" y="12700"/>
                </a:moveTo>
                <a:lnTo>
                  <a:pt x="12700" y="5689"/>
                </a:lnTo>
                <a:lnTo>
                  <a:pt x="7010" y="0"/>
                </a:lnTo>
                <a:lnTo>
                  <a:pt x="0" y="0"/>
                </a:lnTo>
              </a:path>
            </a:pathLst>
          </a:custGeom>
          <a:ln w="11112">
            <a:solidFill>
              <a:srgbClr val="A4A4A4"/>
            </a:solidFill>
          </a:ln>
        </p:spPr>
        <p:txBody>
          <a:bodyPr wrap="square" lIns="0" tIns="0" rIns="0" bIns="0" rtlCol="0"/>
          <a:lstStyle/>
          <a:p>
            <a:endParaRPr sz="1798"/>
          </a:p>
        </p:txBody>
      </p:sp>
      <p:sp>
        <p:nvSpPr>
          <p:cNvPr id="70" name="object 70"/>
          <p:cNvSpPr/>
          <p:nvPr/>
        </p:nvSpPr>
        <p:spPr>
          <a:xfrm>
            <a:off x="4518418" y="675173"/>
            <a:ext cx="12688" cy="12688"/>
          </a:xfrm>
          <a:custGeom>
            <a:avLst/>
            <a:gdLst/>
            <a:ahLst/>
            <a:cxnLst/>
            <a:rect l="l" t="t" r="r" b="b"/>
            <a:pathLst>
              <a:path w="12700" h="12700">
                <a:moveTo>
                  <a:pt x="0" y="12700"/>
                </a:moveTo>
                <a:lnTo>
                  <a:pt x="7010" y="12700"/>
                </a:lnTo>
                <a:lnTo>
                  <a:pt x="12700" y="7010"/>
                </a:lnTo>
                <a:lnTo>
                  <a:pt x="12700" y="0"/>
                </a:lnTo>
              </a:path>
            </a:pathLst>
          </a:custGeom>
          <a:ln w="11112">
            <a:solidFill>
              <a:srgbClr val="A4A4A4"/>
            </a:solidFill>
          </a:ln>
        </p:spPr>
        <p:txBody>
          <a:bodyPr wrap="square" lIns="0" tIns="0" rIns="0" bIns="0" rtlCol="0"/>
          <a:lstStyle/>
          <a:p>
            <a:endParaRPr sz="1798"/>
          </a:p>
        </p:txBody>
      </p:sp>
      <p:sp>
        <p:nvSpPr>
          <p:cNvPr id="71" name="object 71"/>
          <p:cNvSpPr/>
          <p:nvPr/>
        </p:nvSpPr>
        <p:spPr>
          <a:xfrm>
            <a:off x="4518419" y="665658"/>
            <a:ext cx="9516" cy="9516"/>
          </a:xfrm>
          <a:custGeom>
            <a:avLst/>
            <a:gdLst/>
            <a:ahLst/>
            <a:cxnLst/>
            <a:rect l="l" t="t" r="r" b="b"/>
            <a:pathLst>
              <a:path w="9525" h="9525">
                <a:moveTo>
                  <a:pt x="9525" y="9525"/>
                </a:moveTo>
                <a:lnTo>
                  <a:pt x="9525" y="4267"/>
                </a:lnTo>
                <a:lnTo>
                  <a:pt x="5258" y="0"/>
                </a:lnTo>
                <a:lnTo>
                  <a:pt x="0" y="0"/>
                </a:lnTo>
              </a:path>
            </a:pathLst>
          </a:custGeom>
          <a:ln w="11112">
            <a:solidFill>
              <a:srgbClr val="9D9D9D"/>
            </a:solidFill>
          </a:ln>
        </p:spPr>
        <p:txBody>
          <a:bodyPr wrap="square" lIns="0" tIns="0" rIns="0" bIns="0" rtlCol="0"/>
          <a:lstStyle/>
          <a:p>
            <a:endParaRPr sz="1798"/>
          </a:p>
        </p:txBody>
      </p:sp>
      <p:sp>
        <p:nvSpPr>
          <p:cNvPr id="72" name="object 72"/>
          <p:cNvSpPr/>
          <p:nvPr/>
        </p:nvSpPr>
        <p:spPr>
          <a:xfrm>
            <a:off x="4518419" y="675174"/>
            <a:ext cx="9516" cy="9516"/>
          </a:xfrm>
          <a:custGeom>
            <a:avLst/>
            <a:gdLst/>
            <a:ahLst/>
            <a:cxnLst/>
            <a:rect l="l" t="t" r="r" b="b"/>
            <a:pathLst>
              <a:path w="9525" h="9525">
                <a:moveTo>
                  <a:pt x="0" y="9525"/>
                </a:moveTo>
                <a:lnTo>
                  <a:pt x="5258" y="9525"/>
                </a:lnTo>
                <a:lnTo>
                  <a:pt x="9525" y="5257"/>
                </a:lnTo>
                <a:lnTo>
                  <a:pt x="9525" y="0"/>
                </a:lnTo>
              </a:path>
            </a:pathLst>
          </a:custGeom>
          <a:ln w="11112">
            <a:solidFill>
              <a:srgbClr val="9D9D9D"/>
            </a:solidFill>
          </a:ln>
        </p:spPr>
        <p:txBody>
          <a:bodyPr wrap="square" lIns="0" tIns="0" rIns="0" bIns="0" rtlCol="0"/>
          <a:lstStyle/>
          <a:p>
            <a:endParaRPr sz="1798"/>
          </a:p>
        </p:txBody>
      </p:sp>
      <p:sp>
        <p:nvSpPr>
          <p:cNvPr id="73" name="object 73"/>
          <p:cNvSpPr/>
          <p:nvPr/>
        </p:nvSpPr>
        <p:spPr>
          <a:xfrm>
            <a:off x="4518418" y="668829"/>
            <a:ext cx="6344" cy="6344"/>
          </a:xfrm>
          <a:custGeom>
            <a:avLst/>
            <a:gdLst/>
            <a:ahLst/>
            <a:cxnLst/>
            <a:rect l="l" t="t" r="r" b="b"/>
            <a:pathLst>
              <a:path w="6350" h="6350">
                <a:moveTo>
                  <a:pt x="6350" y="6350"/>
                </a:moveTo>
                <a:lnTo>
                  <a:pt x="6350" y="2857"/>
                </a:lnTo>
                <a:lnTo>
                  <a:pt x="3505" y="0"/>
                </a:lnTo>
                <a:lnTo>
                  <a:pt x="0" y="0"/>
                </a:lnTo>
              </a:path>
            </a:pathLst>
          </a:custGeom>
          <a:ln w="11112">
            <a:solidFill>
              <a:srgbClr val="959595"/>
            </a:solidFill>
          </a:ln>
        </p:spPr>
        <p:txBody>
          <a:bodyPr wrap="square" lIns="0" tIns="0" rIns="0" bIns="0" rtlCol="0"/>
          <a:lstStyle/>
          <a:p>
            <a:endParaRPr sz="1798"/>
          </a:p>
        </p:txBody>
      </p:sp>
      <p:sp>
        <p:nvSpPr>
          <p:cNvPr id="74" name="object 74"/>
          <p:cNvSpPr/>
          <p:nvPr/>
        </p:nvSpPr>
        <p:spPr>
          <a:xfrm>
            <a:off x="4518418" y="675174"/>
            <a:ext cx="6344" cy="6344"/>
          </a:xfrm>
          <a:custGeom>
            <a:avLst/>
            <a:gdLst/>
            <a:ahLst/>
            <a:cxnLst/>
            <a:rect l="l" t="t" r="r" b="b"/>
            <a:pathLst>
              <a:path w="6350" h="6350">
                <a:moveTo>
                  <a:pt x="0" y="6350"/>
                </a:moveTo>
                <a:lnTo>
                  <a:pt x="3505" y="6350"/>
                </a:lnTo>
                <a:lnTo>
                  <a:pt x="6350" y="3505"/>
                </a:lnTo>
                <a:lnTo>
                  <a:pt x="6350" y="0"/>
                </a:lnTo>
              </a:path>
            </a:pathLst>
          </a:custGeom>
          <a:ln w="11112">
            <a:solidFill>
              <a:srgbClr val="959595"/>
            </a:solidFill>
          </a:ln>
        </p:spPr>
        <p:txBody>
          <a:bodyPr wrap="square" lIns="0" tIns="0" rIns="0" bIns="0" rtlCol="0"/>
          <a:lstStyle/>
          <a:p>
            <a:endParaRPr sz="1798"/>
          </a:p>
        </p:txBody>
      </p:sp>
      <p:sp>
        <p:nvSpPr>
          <p:cNvPr id="75" name="object 75"/>
          <p:cNvSpPr/>
          <p:nvPr/>
        </p:nvSpPr>
        <p:spPr>
          <a:xfrm>
            <a:off x="4518418" y="672001"/>
            <a:ext cx="3172" cy="3172"/>
          </a:xfrm>
          <a:custGeom>
            <a:avLst/>
            <a:gdLst/>
            <a:ahLst/>
            <a:cxnLst/>
            <a:rect l="l" t="t" r="r" b="b"/>
            <a:pathLst>
              <a:path w="3175" h="3175">
                <a:moveTo>
                  <a:pt x="3175" y="3175"/>
                </a:moveTo>
                <a:lnTo>
                  <a:pt x="3175" y="1435"/>
                </a:lnTo>
                <a:lnTo>
                  <a:pt x="1752" y="0"/>
                </a:lnTo>
                <a:lnTo>
                  <a:pt x="0" y="0"/>
                </a:lnTo>
              </a:path>
            </a:pathLst>
          </a:custGeom>
          <a:ln w="11112">
            <a:solidFill>
              <a:srgbClr val="8E8E8E"/>
            </a:solidFill>
          </a:ln>
        </p:spPr>
        <p:txBody>
          <a:bodyPr wrap="square" lIns="0" tIns="0" rIns="0" bIns="0" rtlCol="0"/>
          <a:lstStyle/>
          <a:p>
            <a:endParaRPr sz="1798"/>
          </a:p>
        </p:txBody>
      </p:sp>
      <p:sp>
        <p:nvSpPr>
          <p:cNvPr id="76" name="object 76"/>
          <p:cNvSpPr/>
          <p:nvPr/>
        </p:nvSpPr>
        <p:spPr>
          <a:xfrm>
            <a:off x="4518418" y="675173"/>
            <a:ext cx="3172" cy="3172"/>
          </a:xfrm>
          <a:custGeom>
            <a:avLst/>
            <a:gdLst/>
            <a:ahLst/>
            <a:cxnLst/>
            <a:rect l="l" t="t" r="r" b="b"/>
            <a:pathLst>
              <a:path w="3175" h="3175">
                <a:moveTo>
                  <a:pt x="0" y="3175"/>
                </a:moveTo>
                <a:lnTo>
                  <a:pt x="1752" y="3175"/>
                </a:lnTo>
                <a:lnTo>
                  <a:pt x="3175" y="1752"/>
                </a:lnTo>
                <a:lnTo>
                  <a:pt x="3175" y="0"/>
                </a:lnTo>
              </a:path>
            </a:pathLst>
          </a:custGeom>
          <a:ln w="11112">
            <a:solidFill>
              <a:srgbClr val="8E8E8E"/>
            </a:solidFill>
          </a:ln>
        </p:spPr>
        <p:txBody>
          <a:bodyPr wrap="square" lIns="0" tIns="0" rIns="0" bIns="0" rtlCol="0"/>
          <a:lstStyle/>
          <a:p>
            <a:endParaRPr sz="1798"/>
          </a:p>
        </p:txBody>
      </p:sp>
      <p:sp>
        <p:nvSpPr>
          <p:cNvPr id="77" name="object 77"/>
          <p:cNvSpPr/>
          <p:nvPr/>
        </p:nvSpPr>
        <p:spPr>
          <a:xfrm>
            <a:off x="4518418" y="668829"/>
            <a:ext cx="6344" cy="12688"/>
          </a:xfrm>
          <a:custGeom>
            <a:avLst/>
            <a:gdLst/>
            <a:ahLst/>
            <a:cxnLst/>
            <a:rect l="l" t="t" r="r" b="b"/>
            <a:pathLst>
              <a:path w="6350" h="12700">
                <a:moveTo>
                  <a:pt x="3505" y="0"/>
                </a:moveTo>
                <a:lnTo>
                  <a:pt x="0" y="0"/>
                </a:lnTo>
                <a:lnTo>
                  <a:pt x="0" y="12700"/>
                </a:lnTo>
                <a:lnTo>
                  <a:pt x="3505" y="12700"/>
                </a:lnTo>
                <a:lnTo>
                  <a:pt x="6350" y="9855"/>
                </a:lnTo>
                <a:lnTo>
                  <a:pt x="6350" y="2857"/>
                </a:lnTo>
                <a:lnTo>
                  <a:pt x="3505" y="0"/>
                </a:lnTo>
                <a:close/>
              </a:path>
            </a:pathLst>
          </a:custGeom>
          <a:solidFill>
            <a:srgbClr val="7F7F7F"/>
          </a:solidFill>
        </p:spPr>
        <p:txBody>
          <a:bodyPr wrap="square" lIns="0" tIns="0" rIns="0" bIns="0" rtlCol="0"/>
          <a:lstStyle/>
          <a:p>
            <a:endParaRPr sz="1798"/>
          </a:p>
        </p:txBody>
      </p:sp>
      <p:sp>
        <p:nvSpPr>
          <p:cNvPr id="78" name="object 78"/>
          <p:cNvSpPr/>
          <p:nvPr/>
        </p:nvSpPr>
        <p:spPr>
          <a:xfrm>
            <a:off x="4520000"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8D8D8D"/>
          </a:solidFill>
        </p:spPr>
        <p:txBody>
          <a:bodyPr wrap="square" lIns="0" tIns="0" rIns="0" bIns="0" rtlCol="0"/>
          <a:lstStyle/>
          <a:p>
            <a:endParaRPr sz="1798"/>
          </a:p>
        </p:txBody>
      </p:sp>
      <p:sp>
        <p:nvSpPr>
          <p:cNvPr id="79" name="object 79"/>
          <p:cNvSpPr/>
          <p:nvPr/>
        </p:nvSpPr>
        <p:spPr>
          <a:xfrm>
            <a:off x="4526345"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9B9B9B"/>
          </a:solidFill>
        </p:spPr>
        <p:txBody>
          <a:bodyPr wrap="square" lIns="0" tIns="0" rIns="0" bIns="0" rtlCol="0"/>
          <a:lstStyle/>
          <a:p>
            <a:endParaRPr sz="1798"/>
          </a:p>
        </p:txBody>
      </p:sp>
      <p:sp>
        <p:nvSpPr>
          <p:cNvPr id="80" name="object 80"/>
          <p:cNvSpPr/>
          <p:nvPr/>
        </p:nvSpPr>
        <p:spPr>
          <a:xfrm>
            <a:off x="4532686"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A9A9A9"/>
          </a:solidFill>
        </p:spPr>
        <p:txBody>
          <a:bodyPr wrap="square" lIns="0" tIns="0" rIns="0" bIns="0" rtlCol="0"/>
          <a:lstStyle/>
          <a:p>
            <a:endParaRPr sz="1798"/>
          </a:p>
        </p:txBody>
      </p:sp>
      <p:sp>
        <p:nvSpPr>
          <p:cNvPr id="81" name="object 81"/>
          <p:cNvSpPr/>
          <p:nvPr/>
        </p:nvSpPr>
        <p:spPr>
          <a:xfrm>
            <a:off x="4539030"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B8B8B8"/>
          </a:solidFill>
        </p:spPr>
        <p:txBody>
          <a:bodyPr wrap="square" lIns="0" tIns="0" rIns="0" bIns="0" rtlCol="0"/>
          <a:lstStyle/>
          <a:p>
            <a:endParaRPr sz="1798"/>
          </a:p>
        </p:txBody>
      </p:sp>
      <p:sp>
        <p:nvSpPr>
          <p:cNvPr id="82" name="object 82"/>
          <p:cNvSpPr/>
          <p:nvPr/>
        </p:nvSpPr>
        <p:spPr>
          <a:xfrm>
            <a:off x="4545384"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C6C6C6"/>
          </a:solidFill>
        </p:spPr>
        <p:txBody>
          <a:bodyPr wrap="square" lIns="0" tIns="0" rIns="0" bIns="0" rtlCol="0"/>
          <a:lstStyle/>
          <a:p>
            <a:endParaRPr sz="1798"/>
          </a:p>
        </p:txBody>
      </p:sp>
      <p:sp>
        <p:nvSpPr>
          <p:cNvPr id="83" name="object 83"/>
          <p:cNvSpPr/>
          <p:nvPr/>
        </p:nvSpPr>
        <p:spPr>
          <a:xfrm>
            <a:off x="4551703"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D4D4D4"/>
          </a:solidFill>
        </p:spPr>
        <p:txBody>
          <a:bodyPr wrap="square" lIns="0" tIns="0" rIns="0" bIns="0" rtlCol="0"/>
          <a:lstStyle/>
          <a:p>
            <a:endParaRPr sz="1798"/>
          </a:p>
        </p:txBody>
      </p:sp>
      <p:sp>
        <p:nvSpPr>
          <p:cNvPr id="84" name="object 84"/>
          <p:cNvSpPr/>
          <p:nvPr/>
        </p:nvSpPr>
        <p:spPr>
          <a:xfrm>
            <a:off x="4558066" y="675180"/>
            <a:ext cx="9516" cy="577954"/>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E2E2E2"/>
          </a:solidFill>
        </p:spPr>
        <p:txBody>
          <a:bodyPr wrap="square" lIns="0" tIns="0" rIns="0" bIns="0" rtlCol="0"/>
          <a:lstStyle/>
          <a:p>
            <a:endParaRPr sz="1798"/>
          </a:p>
        </p:txBody>
      </p:sp>
      <p:sp>
        <p:nvSpPr>
          <p:cNvPr id="85" name="object 85"/>
          <p:cNvSpPr/>
          <p:nvPr/>
        </p:nvSpPr>
        <p:spPr>
          <a:xfrm>
            <a:off x="89917" y="618292"/>
            <a:ext cx="4428868" cy="685805"/>
          </a:xfrm>
          <a:custGeom>
            <a:avLst/>
            <a:gdLst/>
            <a:ahLst/>
            <a:cxnLst/>
            <a:rect l="l" t="t" r="r" b="b"/>
            <a:pathLst>
              <a:path w="4432935" h="686435">
                <a:moveTo>
                  <a:pt x="4432567" y="0"/>
                </a:moveTo>
                <a:lnTo>
                  <a:pt x="0" y="0"/>
                </a:lnTo>
                <a:lnTo>
                  <a:pt x="0" y="635330"/>
                </a:lnTo>
                <a:lnTo>
                  <a:pt x="16583" y="672795"/>
                </a:lnTo>
                <a:lnTo>
                  <a:pt x="50799" y="686130"/>
                </a:lnTo>
                <a:lnTo>
                  <a:pt x="4381767" y="686130"/>
                </a:lnTo>
                <a:lnTo>
                  <a:pt x="4419233" y="669547"/>
                </a:lnTo>
                <a:lnTo>
                  <a:pt x="4432567" y="635330"/>
                </a:lnTo>
                <a:lnTo>
                  <a:pt x="4432567" y="0"/>
                </a:lnTo>
                <a:close/>
              </a:path>
            </a:pathLst>
          </a:custGeom>
          <a:solidFill>
            <a:srgbClr val="FFFFFF"/>
          </a:solidFill>
        </p:spPr>
        <p:txBody>
          <a:bodyPr wrap="square" lIns="0" tIns="0" rIns="0" bIns="0" rtlCol="0"/>
          <a:lstStyle/>
          <a:p>
            <a:endParaRPr sz="1798"/>
          </a:p>
        </p:txBody>
      </p:sp>
      <p:sp>
        <p:nvSpPr>
          <p:cNvPr id="86" name="object 86"/>
          <p:cNvSpPr/>
          <p:nvPr/>
        </p:nvSpPr>
        <p:spPr>
          <a:xfrm>
            <a:off x="4518417" y="662485"/>
            <a:ext cx="0" cy="609675"/>
          </a:xfrm>
          <a:custGeom>
            <a:avLst/>
            <a:gdLst/>
            <a:ahLst/>
            <a:cxnLst/>
            <a:rect l="l" t="t" r="r" b="b"/>
            <a:pathLst>
              <a:path h="610235">
                <a:moveTo>
                  <a:pt x="0" y="610146"/>
                </a:moveTo>
                <a:lnTo>
                  <a:pt x="0" y="0"/>
                </a:lnTo>
              </a:path>
            </a:pathLst>
          </a:custGeom>
          <a:ln w="3175">
            <a:solidFill>
              <a:srgbClr val="7F7F7F"/>
            </a:solidFill>
          </a:ln>
        </p:spPr>
        <p:txBody>
          <a:bodyPr wrap="square" lIns="0" tIns="0" rIns="0" bIns="0" rtlCol="0"/>
          <a:lstStyle/>
          <a:p>
            <a:endParaRPr sz="1798"/>
          </a:p>
        </p:txBody>
      </p:sp>
      <p:sp>
        <p:nvSpPr>
          <p:cNvPr id="87" name="object 87"/>
          <p:cNvSpPr/>
          <p:nvPr/>
        </p:nvSpPr>
        <p:spPr>
          <a:xfrm>
            <a:off x="4518417" y="649797"/>
            <a:ext cx="0" cy="12688"/>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sz="1798"/>
          </a:p>
        </p:txBody>
      </p:sp>
      <p:sp>
        <p:nvSpPr>
          <p:cNvPr id="88" name="object 88"/>
          <p:cNvSpPr/>
          <p:nvPr/>
        </p:nvSpPr>
        <p:spPr>
          <a:xfrm>
            <a:off x="4518417" y="637108"/>
            <a:ext cx="0" cy="12688"/>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sz="1798"/>
          </a:p>
        </p:txBody>
      </p:sp>
      <p:sp>
        <p:nvSpPr>
          <p:cNvPr id="89" name="object 89"/>
          <p:cNvSpPr/>
          <p:nvPr/>
        </p:nvSpPr>
        <p:spPr>
          <a:xfrm>
            <a:off x="4518417" y="624420"/>
            <a:ext cx="0" cy="12688"/>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sz="1798"/>
          </a:p>
        </p:txBody>
      </p:sp>
      <p:sp>
        <p:nvSpPr>
          <p:cNvPr id="90" name="object 90"/>
          <p:cNvSpPr/>
          <p:nvPr/>
        </p:nvSpPr>
        <p:spPr>
          <a:xfrm>
            <a:off x="4518417" y="605387"/>
            <a:ext cx="0" cy="19032"/>
          </a:xfrm>
          <a:custGeom>
            <a:avLst/>
            <a:gdLst/>
            <a:ahLst/>
            <a:cxnLst/>
            <a:rect l="l" t="t" r="r" b="b"/>
            <a:pathLst>
              <a:path h="19050">
                <a:moveTo>
                  <a:pt x="0" y="19050"/>
                </a:moveTo>
                <a:lnTo>
                  <a:pt x="0" y="0"/>
                </a:lnTo>
              </a:path>
            </a:pathLst>
          </a:custGeom>
          <a:ln w="3175">
            <a:solidFill>
              <a:srgbClr val="FFFFFF"/>
            </a:solidFill>
          </a:ln>
        </p:spPr>
        <p:txBody>
          <a:bodyPr wrap="square" lIns="0" tIns="0" rIns="0" bIns="0" rtlCol="0"/>
          <a:lstStyle/>
          <a:p>
            <a:endParaRPr sz="1798"/>
          </a:p>
        </p:txBody>
      </p:sp>
      <p:sp>
        <p:nvSpPr>
          <p:cNvPr id="91" name="object 91"/>
          <p:cNvSpPr txBox="1">
            <a:spLocks noGrp="1"/>
          </p:cNvSpPr>
          <p:nvPr>
            <p:ph type="title"/>
          </p:nvPr>
        </p:nvSpPr>
        <p:spPr>
          <a:xfrm>
            <a:off x="1230804" y="642073"/>
            <a:ext cx="2146725" cy="307456"/>
          </a:xfrm>
          <a:prstGeom prst="rect">
            <a:avLst/>
          </a:prstGeom>
        </p:spPr>
        <p:txBody>
          <a:bodyPr vert="horz" wrap="square" lIns="0" tIns="0" rIns="0" bIns="0" numCol="1" rtlCol="0" anchor="ctr" anchorCtr="0" compatLnSpc="1">
            <a:prstTxWarp prst="textNoShape">
              <a:avLst/>
            </a:prstTxWarp>
            <a:spAutoFit/>
          </a:bodyPr>
          <a:lstStyle/>
          <a:p>
            <a:pPr marL="12690"/>
            <a:r>
              <a:rPr lang="zh-CN" altLang="en-US" sz="1998" spc="10" dirty="0">
                <a:latin typeface="DengXian" panose="02010600030101010101" pitchFamily="2" charset="-122"/>
                <a:ea typeface="DengXian" panose="02010600030101010101" pitchFamily="2" charset="-122"/>
              </a:rPr>
              <a:t>宏观经济学</a:t>
            </a:r>
            <a:endParaRPr sz="1998" dirty="0">
              <a:latin typeface="DengXian" panose="02010600030101010101" pitchFamily="2" charset="-122"/>
              <a:ea typeface="DengXian" panose="02010600030101010101" pitchFamily="2" charset="-122"/>
            </a:endParaRPr>
          </a:p>
        </p:txBody>
      </p:sp>
      <p:sp>
        <p:nvSpPr>
          <p:cNvPr id="92" name="object 92"/>
          <p:cNvSpPr txBox="1"/>
          <p:nvPr/>
        </p:nvSpPr>
        <p:spPr>
          <a:xfrm>
            <a:off x="1416800" y="1016706"/>
            <a:ext cx="1825853" cy="184538"/>
          </a:xfrm>
          <a:prstGeom prst="rect">
            <a:avLst/>
          </a:prstGeom>
        </p:spPr>
        <p:txBody>
          <a:bodyPr vert="horz" wrap="square" lIns="0" tIns="0" rIns="0" bIns="0" rtlCol="0">
            <a:spAutoFit/>
          </a:bodyPr>
          <a:lstStyle/>
          <a:p>
            <a:pPr marL="12690" algn="ctr"/>
            <a:r>
              <a:rPr lang="en-US" altLang="zh-CN" sz="1199" spc="-10" dirty="0">
                <a:solidFill>
                  <a:srgbClr val="CC0000"/>
                </a:solidFill>
                <a:latin typeface="Times New Roman"/>
                <a:cs typeface="Times New Roman"/>
              </a:rPr>
              <a:t>Macroeconomics</a:t>
            </a:r>
            <a:endParaRPr sz="1399" baseline="27777" dirty="0">
              <a:latin typeface="Times New Roman"/>
              <a:cs typeface="Times New Roman"/>
            </a:endParaRPr>
          </a:p>
        </p:txBody>
      </p:sp>
      <p:sp>
        <p:nvSpPr>
          <p:cNvPr id="93" name="object 93"/>
          <p:cNvSpPr txBox="1"/>
          <p:nvPr/>
        </p:nvSpPr>
        <p:spPr>
          <a:xfrm>
            <a:off x="2153044" y="1682921"/>
            <a:ext cx="302617" cy="15389"/>
          </a:xfrm>
          <a:prstGeom prst="rect">
            <a:avLst/>
          </a:prstGeom>
        </p:spPr>
        <p:txBody>
          <a:bodyPr vert="horz" wrap="square" lIns="0" tIns="0" rIns="0" bIns="0" rtlCol="0">
            <a:spAutoFit/>
          </a:bodyPr>
          <a:lstStyle/>
          <a:p>
            <a:pPr marL="12690"/>
            <a:r>
              <a:rPr sz="100" i="1" spc="60" dirty="0">
                <a:latin typeface="Times New Roman"/>
                <a:cs typeface="Times New Roman"/>
              </a:rPr>
              <a:t>  </a:t>
            </a:r>
            <a:endParaRPr sz="100">
              <a:latin typeface="Times New Roman"/>
              <a:cs typeface="Times New Roman"/>
            </a:endParaRPr>
          </a:p>
        </p:txBody>
      </p:sp>
      <p:sp>
        <p:nvSpPr>
          <p:cNvPr id="94" name="object 94"/>
          <p:cNvSpPr txBox="1"/>
          <p:nvPr/>
        </p:nvSpPr>
        <p:spPr>
          <a:xfrm>
            <a:off x="94038" y="1471950"/>
            <a:ext cx="4383299" cy="785664"/>
          </a:xfrm>
          <a:prstGeom prst="rect">
            <a:avLst/>
          </a:prstGeom>
        </p:spPr>
        <p:txBody>
          <a:bodyPr vert="horz" wrap="square" lIns="0" tIns="0" rIns="0" bIns="0" rtlCol="0">
            <a:spAutoFit/>
          </a:bodyPr>
          <a:lstStyle/>
          <a:p>
            <a:pPr marL="634" algn="ctr">
              <a:lnSpc>
                <a:spcPct val="130000"/>
              </a:lnSpc>
            </a:pPr>
            <a:r>
              <a:rPr lang="zh-CN" altLang="en-US" sz="1599" b="1" spc="-15" dirty="0">
                <a:latin typeface="Garamond" panose="02020404030301010803" pitchFamily="18" charset="0"/>
                <a:ea typeface="KaiTi" panose="02010609060101010101" pitchFamily="49" charset="-122"/>
                <a:cs typeface="Times New Roman"/>
              </a:rPr>
              <a:t>第二章 短期经济波动模型：产品市场的均衡</a:t>
            </a:r>
            <a:endParaRPr lang="en-US" altLang="zh-CN" sz="1599" b="1" spc="-15" dirty="0">
              <a:latin typeface="Garamond" panose="02020404030301010803" pitchFamily="18" charset="0"/>
              <a:ea typeface="KaiTi" panose="02010609060101010101" pitchFamily="49" charset="-122"/>
              <a:cs typeface="Times New Roman"/>
            </a:endParaRPr>
          </a:p>
          <a:p>
            <a:pPr marL="634" algn="ctr">
              <a:lnSpc>
                <a:spcPct val="130000"/>
              </a:lnSpc>
            </a:pPr>
            <a:r>
              <a:rPr lang="zh-CN" altLang="en-US" sz="1399" b="1" dirty="0">
                <a:solidFill>
                  <a:srgbClr val="333399"/>
                </a:solidFill>
                <a:latin typeface="Garamond" panose="02020404030301010803" pitchFamily="18" charset="0"/>
                <a:ea typeface="KaiTi" panose="02010609060101010101" pitchFamily="49" charset="-122"/>
                <a:cs typeface="+mj-cs"/>
              </a:rPr>
              <a:t>第</a:t>
            </a:r>
            <a:r>
              <a:rPr lang="en-US" altLang="zh-CN" sz="1399" b="1" dirty="0">
                <a:solidFill>
                  <a:srgbClr val="333399"/>
                </a:solidFill>
                <a:latin typeface="Garamond" panose="02020404030301010803" pitchFamily="18" charset="0"/>
                <a:ea typeface="KaiTi" panose="02010609060101010101" pitchFamily="49" charset="-122"/>
                <a:cs typeface="+mj-cs"/>
              </a:rPr>
              <a:t>4</a:t>
            </a:r>
            <a:r>
              <a:rPr lang="zh-CN" altLang="en-US" sz="1399" b="1" dirty="0">
                <a:solidFill>
                  <a:srgbClr val="333399"/>
                </a:solidFill>
                <a:latin typeface="Garamond" panose="02020404030301010803" pitchFamily="18" charset="0"/>
                <a:ea typeface="KaiTi" panose="02010609060101010101" pitchFamily="49" charset="-122"/>
                <a:cs typeface="+mj-cs"/>
              </a:rPr>
              <a:t>节 乘数论</a:t>
            </a:r>
            <a:endParaRPr lang="en-US" altLang="zh-CN" sz="1399" b="1" dirty="0">
              <a:solidFill>
                <a:srgbClr val="333399"/>
              </a:solidFill>
              <a:latin typeface="Garamond" panose="02020404030301010803" pitchFamily="18" charset="0"/>
              <a:ea typeface="KaiTi" panose="02010609060101010101" pitchFamily="49" charset="-122"/>
              <a:cs typeface="+mj-cs"/>
            </a:endParaRPr>
          </a:p>
          <a:p>
            <a:pPr marL="634" algn="ctr">
              <a:lnSpc>
                <a:spcPct val="130000"/>
              </a:lnSpc>
            </a:pPr>
            <a:endParaRPr sz="999" b="1" dirty="0">
              <a:latin typeface="Garamond" panose="02020404030301010803" pitchFamily="18" charset="0"/>
              <a:cs typeface="Times New Roman"/>
            </a:endParaRPr>
          </a:p>
        </p:txBody>
      </p:sp>
      <p:sp>
        <p:nvSpPr>
          <p:cNvPr id="95" name="object 99">
            <a:extLst>
              <a:ext uri="{FF2B5EF4-FFF2-40B4-BE49-F238E27FC236}">
                <a16:creationId xmlns:a16="http://schemas.microsoft.com/office/drawing/2014/main" id="{E8E3B86C-982D-8D12-0168-A78FC8884DE8}"/>
              </a:ext>
            </a:extLst>
          </p:cNvPr>
          <p:cNvSpPr/>
          <p:nvPr/>
        </p:nvSpPr>
        <p:spPr>
          <a:xfrm>
            <a:off x="1963" y="3344231"/>
            <a:ext cx="4603865" cy="111150"/>
          </a:xfrm>
          <a:prstGeom prst="rect">
            <a:avLst/>
          </a:prstGeom>
          <a:blipFill>
            <a:blip r:embed="rId5" cstate="print"/>
            <a:stretch>
              <a:fillRect/>
            </a:stretch>
          </a:blipFill>
        </p:spPr>
        <p:txBody>
          <a:bodyPr wrap="square" lIns="0" tIns="0" rIns="0" bIns="0" rtlCol="0"/>
          <a:lstStyle/>
          <a:p>
            <a:endParaRPr sz="1798"/>
          </a:p>
        </p:txBody>
      </p:sp>
      <p:sp>
        <p:nvSpPr>
          <p:cNvPr id="96" name="object 100">
            <a:extLst>
              <a:ext uri="{FF2B5EF4-FFF2-40B4-BE49-F238E27FC236}">
                <a16:creationId xmlns:a16="http://schemas.microsoft.com/office/drawing/2014/main" id="{FCB83B91-3B30-5E31-0A02-C4B58223A209}"/>
              </a:ext>
            </a:extLst>
          </p:cNvPr>
          <p:cNvSpPr txBox="1"/>
          <p:nvPr/>
        </p:nvSpPr>
        <p:spPr>
          <a:xfrm>
            <a:off x="70127" y="3346489"/>
            <a:ext cx="1400159" cy="89768"/>
          </a:xfrm>
          <a:prstGeom prst="rect">
            <a:avLst/>
          </a:prstGeom>
        </p:spPr>
        <p:txBody>
          <a:bodyPr vert="horz" wrap="square" lIns="0" tIns="0" rIns="0" bIns="0" rtlCol="0">
            <a:spAutoFit/>
          </a:bodyPr>
          <a:lstStyle/>
          <a:p>
            <a:pPr marL="12690">
              <a:lnSpc>
                <a:spcPts val="699"/>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599" spc="-5" dirty="0">
                <a:solidFill>
                  <a:srgbClr val="F2F2F2"/>
                </a:solidFill>
                <a:latin typeface="Times New Roman"/>
                <a:cs typeface="Times New Roman"/>
              </a:rPr>
              <a:t>(</a:t>
            </a:r>
            <a:r>
              <a:rPr lang="en-US" sz="599" spc="-5" dirty="0">
                <a:solidFill>
                  <a:srgbClr val="F2F2F2"/>
                </a:solidFill>
                <a:latin typeface="Times New Roman"/>
                <a:cs typeface="Times New Roman"/>
              </a:rPr>
              <a:t>Zhiqing Yang</a:t>
            </a:r>
            <a:r>
              <a:rPr sz="599" spc="135" dirty="0">
                <a:solidFill>
                  <a:srgbClr val="F2F2F2"/>
                </a:solidFill>
                <a:latin typeface="Times New Roman"/>
                <a:cs typeface="Times New Roman"/>
              </a:rPr>
              <a:t> </a:t>
            </a:r>
            <a:r>
              <a:rPr lang="en-US" altLang="zh-CN" sz="599" spc="-5" dirty="0" err="1">
                <a:solidFill>
                  <a:srgbClr val="F2F2F2"/>
                </a:solidFill>
                <a:latin typeface="Times New Roman"/>
                <a:cs typeface="Times New Roman"/>
              </a:rPr>
              <a:t>yangzhiqing</a:t>
            </a:r>
            <a:r>
              <a:rPr sz="599" spc="-5" dirty="0" err="1">
                <a:solidFill>
                  <a:srgbClr val="F2F2F2"/>
                </a:solidFill>
                <a:latin typeface="Times New Roman"/>
                <a:cs typeface="Times New Roman"/>
              </a:rPr>
              <a:t>@</a:t>
            </a:r>
            <a:r>
              <a:rPr lang="en-US" sz="599" spc="-5" dirty="0" err="1">
                <a:solidFill>
                  <a:srgbClr val="F2F2F2"/>
                </a:solidFill>
                <a:latin typeface="Times New Roman"/>
                <a:cs typeface="Times New Roman"/>
              </a:rPr>
              <a:t>hust.edu.cn</a:t>
            </a:r>
            <a:r>
              <a:rPr sz="599" spc="-5" dirty="0">
                <a:solidFill>
                  <a:srgbClr val="F2F2F2"/>
                </a:solidFill>
                <a:latin typeface="Times New Roman"/>
                <a:cs typeface="Times New Roman"/>
              </a:rPr>
              <a:t>)</a:t>
            </a:r>
            <a:endParaRPr sz="599" dirty="0">
              <a:latin typeface="Times New Roman"/>
              <a:cs typeface="Times New Roman"/>
            </a:endParaRPr>
          </a:p>
        </p:txBody>
      </p:sp>
      <p:sp>
        <p:nvSpPr>
          <p:cNvPr id="104" name="object 102">
            <a:extLst>
              <a:ext uri="{FF2B5EF4-FFF2-40B4-BE49-F238E27FC236}">
                <a16:creationId xmlns:a16="http://schemas.microsoft.com/office/drawing/2014/main" id="{12EBC35F-69B2-4F45-2870-CA7DEA30B00E}"/>
              </a:ext>
            </a:extLst>
          </p:cNvPr>
          <p:cNvSpPr txBox="1"/>
          <p:nvPr/>
        </p:nvSpPr>
        <p:spPr>
          <a:xfrm>
            <a:off x="3760911" y="3346489"/>
            <a:ext cx="448533" cy="89768"/>
          </a:xfrm>
          <a:prstGeom prst="rect">
            <a:avLst/>
          </a:prstGeom>
        </p:spPr>
        <p:txBody>
          <a:bodyPr vert="horz" wrap="square" lIns="0" tIns="0" rIns="0" bIns="0" rtlCol="0">
            <a:spAutoFit/>
          </a:bodyPr>
          <a:lstStyle/>
          <a:p>
            <a:pPr marL="12690">
              <a:lnSpc>
                <a:spcPts val="699"/>
              </a:lnSpc>
            </a:pPr>
            <a:r>
              <a:rPr sz="599" spc="-5" dirty="0">
                <a:solidFill>
                  <a:srgbClr val="7A0000"/>
                </a:solidFill>
                <a:latin typeface="Times New Roman"/>
                <a:cs typeface="Times New Roman"/>
              </a:rPr>
              <a:t>20</a:t>
            </a:r>
            <a:r>
              <a:rPr lang="en-US" sz="599" spc="-5" dirty="0">
                <a:solidFill>
                  <a:srgbClr val="7A0000"/>
                </a:solidFill>
                <a:latin typeface="Times New Roman"/>
                <a:cs typeface="Times New Roman"/>
              </a:rPr>
              <a:t>23</a:t>
            </a:r>
            <a:r>
              <a:rPr sz="599" spc="-5" dirty="0">
                <a:solidFill>
                  <a:srgbClr val="7A0000"/>
                </a:solidFill>
                <a:latin typeface="Times New Roman"/>
                <a:cs typeface="Times New Roman"/>
              </a:rPr>
              <a:t>-</a:t>
            </a:r>
            <a:r>
              <a:rPr lang="en-US" sz="599" spc="-5" dirty="0">
                <a:solidFill>
                  <a:srgbClr val="7A0000"/>
                </a:solidFill>
                <a:latin typeface="Times New Roman"/>
                <a:cs typeface="Times New Roman"/>
              </a:rPr>
              <a:t>Feb</a:t>
            </a:r>
            <a:endParaRPr sz="599" dirty="0">
              <a:latin typeface="Times New Roman"/>
              <a:cs typeface="Times New Roman"/>
            </a:endParaRPr>
          </a:p>
        </p:txBody>
      </p:sp>
    </p:spTree>
    <p:extLst>
      <p:ext uri="{BB962C8B-B14F-4D97-AF65-F5344CB8AC3E}">
        <p14:creationId xmlns:p14="http://schemas.microsoft.com/office/powerpoint/2010/main" val="3566229986"/>
      </p:ext>
    </p:extLst>
  </p:cSld>
  <p:clrMapOvr>
    <a:masterClrMapping/>
  </p:clrMapOvr>
  <p:transition>
    <p:cut/>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75</a:t>
            </a:fld>
            <a:endParaRPr lang="zh-CN" altLang="en-US"/>
          </a:p>
        </p:txBody>
      </p:sp>
      <p:sp>
        <p:nvSpPr>
          <p:cNvPr id="9" name="内容占位符 2"/>
          <p:cNvSpPr>
            <a:spLocks noGrp="1"/>
          </p:cNvSpPr>
          <p:nvPr>
            <p:ph idx="1"/>
          </p:nvPr>
        </p:nvSpPr>
        <p:spPr>
          <a:xfrm>
            <a:off x="213345" y="634481"/>
            <a:ext cx="3972563" cy="2191787"/>
          </a:xfrm>
        </p:spPr>
        <p:txBody>
          <a:bodyPr/>
          <a:lstStyle/>
          <a:p>
            <a:r>
              <a:rPr lang="zh-CN" altLang="en-US" b="1" dirty="0">
                <a:latin typeface="Garamond" panose="02020404030301010803" pitchFamily="18" charset="0"/>
                <a:ea typeface="SimSun" panose="02010600030101010101" pitchFamily="2" charset="-122"/>
              </a:rPr>
              <a:t>投资乘数</a:t>
            </a:r>
            <a:r>
              <a:rPr lang="zh-CN" altLang="en-US" dirty="0">
                <a:latin typeface="Garamond" panose="02020404030301010803" pitchFamily="18" charset="0"/>
                <a:ea typeface="SimSun" panose="02010600030101010101" pitchFamily="2" charset="-122"/>
              </a:rPr>
              <a:t>是指收入的变化与带来这种变化的投资支出的变化的比率。</a:t>
            </a:r>
            <a:endParaRPr lang="en-US" altLang="zh-CN" dirty="0">
              <a:latin typeface="Garamond" panose="02020404030301010803" pitchFamily="18" charset="0"/>
              <a:ea typeface="SimSun" panose="02010600030101010101" pitchFamily="2" charset="-122"/>
            </a:endParaRPr>
          </a:p>
          <a:p>
            <a:r>
              <a:rPr lang="zh-CN" altLang="en-US" sz="1209" dirty="0">
                <a:latin typeface="Garamond" panose="02020404030301010803" pitchFamily="18" charset="0"/>
                <a:ea typeface="SimSun" panose="02010600030101010101" pitchFamily="2" charset="-122"/>
              </a:rPr>
              <a:t>例如，从投资角度看，若自发投资量是</a:t>
            </a:r>
            <a:r>
              <a:rPr lang="en-US" altLang="zh-CN" sz="1209" dirty="0">
                <a:latin typeface="Garamond" panose="02020404030301010803" pitchFamily="18" charset="0"/>
                <a:ea typeface="SimSun" panose="02010600030101010101" pitchFamily="2" charset="-122"/>
              </a:rPr>
              <a:t>600</a:t>
            </a:r>
            <a:r>
              <a:rPr lang="zh-CN" altLang="en-US" sz="1209" dirty="0">
                <a:latin typeface="Garamond" panose="02020404030301010803" pitchFamily="18" charset="0"/>
                <a:ea typeface="SimSun" panose="02010600030101010101" pitchFamily="2" charset="-122"/>
              </a:rPr>
              <a:t>亿美元，均衡的国民收入是</a:t>
            </a:r>
            <a:r>
              <a:rPr lang="en-US" altLang="zh-CN" sz="1209" dirty="0">
                <a:latin typeface="Garamond" panose="02020404030301010803" pitchFamily="18" charset="0"/>
                <a:ea typeface="SimSun" panose="02010600030101010101" pitchFamily="2" charset="-122"/>
              </a:rPr>
              <a:t>8000</a:t>
            </a:r>
            <a:r>
              <a:rPr lang="zh-CN" altLang="en-US" sz="1209" dirty="0">
                <a:latin typeface="Garamond" panose="02020404030301010803" pitchFamily="18" charset="0"/>
                <a:ea typeface="SimSun" panose="02010600030101010101" pitchFamily="2" charset="-122"/>
              </a:rPr>
              <a:t>亿美元；若投资增加到</a:t>
            </a:r>
            <a:r>
              <a:rPr lang="en-US" altLang="zh-CN" sz="1209" dirty="0">
                <a:latin typeface="Garamond" panose="02020404030301010803" pitchFamily="18" charset="0"/>
                <a:ea typeface="SimSun" panose="02010600030101010101" pitchFamily="2" charset="-122"/>
              </a:rPr>
              <a:t>700</a:t>
            </a:r>
            <a:r>
              <a:rPr lang="zh-CN" altLang="en-US" sz="1209" dirty="0">
                <a:latin typeface="Garamond" panose="02020404030301010803" pitchFamily="18" charset="0"/>
                <a:ea typeface="SimSun" panose="02010600030101010101" pitchFamily="2" charset="-122"/>
              </a:rPr>
              <a:t>亿美元，则国民收入会增加到</a:t>
            </a:r>
            <a:r>
              <a:rPr lang="en-US" altLang="zh-CN" sz="1209" dirty="0">
                <a:latin typeface="Garamond" panose="02020404030301010803" pitchFamily="18" charset="0"/>
                <a:ea typeface="SimSun" panose="02010600030101010101" pitchFamily="2" charset="-122"/>
              </a:rPr>
              <a:t>8500</a:t>
            </a:r>
            <a:r>
              <a:rPr lang="zh-CN" altLang="en-US" sz="1209" dirty="0">
                <a:latin typeface="Garamond" panose="02020404030301010803" pitchFamily="18" charset="0"/>
                <a:ea typeface="SimSun" panose="02010600030101010101" pitchFamily="2" charset="-122"/>
              </a:rPr>
              <a:t>亿美元。在这里，投资增加了</a:t>
            </a:r>
            <a:r>
              <a:rPr lang="en-US" altLang="zh-CN" sz="1209" dirty="0">
                <a:latin typeface="Garamond" panose="02020404030301010803" pitchFamily="18" charset="0"/>
                <a:ea typeface="SimSun" panose="02010600030101010101" pitchFamily="2" charset="-122"/>
              </a:rPr>
              <a:t>100</a:t>
            </a:r>
            <a:r>
              <a:rPr lang="zh-CN" altLang="en-US" sz="1209" dirty="0">
                <a:latin typeface="Garamond" panose="02020404030301010803" pitchFamily="18" charset="0"/>
                <a:ea typeface="SimSun" panose="02010600030101010101" pitchFamily="2" charset="-122"/>
              </a:rPr>
              <a:t>亿美元，收入增加</a:t>
            </a:r>
            <a:r>
              <a:rPr lang="en-US" altLang="zh-CN" sz="1209" dirty="0">
                <a:latin typeface="Garamond" panose="02020404030301010803" pitchFamily="18" charset="0"/>
                <a:ea typeface="SimSun" panose="02010600030101010101" pitchFamily="2" charset="-122"/>
              </a:rPr>
              <a:t>500</a:t>
            </a:r>
            <a:r>
              <a:rPr lang="zh-CN" altLang="en-US" sz="1209" dirty="0">
                <a:latin typeface="Garamond" panose="02020404030301010803" pitchFamily="18" charset="0"/>
                <a:ea typeface="SimSun" panose="02010600030101010101" pitchFamily="2" charset="-122"/>
              </a:rPr>
              <a:t>亿美元，增加的收入是增加的投资的</a:t>
            </a:r>
            <a:r>
              <a:rPr lang="en-US" altLang="zh-CN" sz="1209" dirty="0">
                <a:latin typeface="Garamond" panose="02020404030301010803" pitchFamily="18" charset="0"/>
                <a:ea typeface="SimSun" panose="02010600030101010101" pitchFamily="2" charset="-122"/>
              </a:rPr>
              <a:t>5</a:t>
            </a:r>
            <a:r>
              <a:rPr lang="zh-CN" altLang="en-US" sz="1209" dirty="0">
                <a:latin typeface="Garamond" panose="02020404030301010803" pitchFamily="18" charset="0"/>
                <a:ea typeface="SimSun" panose="02010600030101010101" pitchFamily="2" charset="-122"/>
              </a:rPr>
              <a:t>倍。</a:t>
            </a:r>
            <a:endParaRPr lang="en-US" altLang="zh-CN" sz="1209" dirty="0">
              <a:latin typeface="Garamond" panose="02020404030301010803" pitchFamily="18" charset="0"/>
              <a:ea typeface="SimSun" panose="02010600030101010101" pitchFamily="2" charset="-122"/>
            </a:endParaRPr>
          </a:p>
          <a:p>
            <a:r>
              <a:rPr lang="zh-CN" altLang="en-US" sz="1209" dirty="0">
                <a:latin typeface="Garamond" panose="02020404030301010803" pitchFamily="18" charset="0"/>
                <a:ea typeface="SimSun" panose="02010600030101010101" pitchFamily="2" charset="-122"/>
              </a:rPr>
              <a:t>当总投资增加时，收入的增量将是投资增量的数倍。如果以</a:t>
            </a:r>
            <a:r>
              <a:rPr lang="en-US" altLang="zh-CN" sz="1209" dirty="0">
                <a:latin typeface="Garamond" panose="02020404030301010803" pitchFamily="18" charset="0"/>
                <a:ea typeface="SimSun" panose="02010600030101010101" pitchFamily="2" charset="-122"/>
              </a:rPr>
              <a:t>k</a:t>
            </a:r>
            <a:r>
              <a:rPr lang="zh-CN" altLang="en-US" sz="1209" dirty="0">
                <a:latin typeface="Garamond" panose="02020404030301010803" pitchFamily="18" charset="0"/>
                <a:ea typeface="SimSun" panose="02010600030101010101" pitchFamily="2" charset="-122"/>
              </a:rPr>
              <a:t>代表倍数，则</a:t>
            </a:r>
            <a:r>
              <a:rPr lang="en-US" altLang="zh-CN" sz="1209" dirty="0">
                <a:latin typeface="Garamond" panose="02020404030301010803" pitchFamily="18" charset="0"/>
                <a:ea typeface="SimSun" panose="02010600030101010101" pitchFamily="2" charset="-122"/>
              </a:rPr>
              <a:t>k</a:t>
            </a:r>
            <a:r>
              <a:rPr lang="zh-CN" altLang="en-US" sz="1209" dirty="0">
                <a:latin typeface="Garamond" panose="02020404030301010803" pitchFamily="18" charset="0"/>
                <a:ea typeface="SimSun" panose="02010600030101010101" pitchFamily="2" charset="-122"/>
              </a:rPr>
              <a:t>为投资乘数。</a:t>
            </a:r>
          </a:p>
        </p:txBody>
      </p:sp>
      <p:sp>
        <p:nvSpPr>
          <p:cNvPr id="6" name="标题 5">
            <a:extLst>
              <a:ext uri="{FF2B5EF4-FFF2-40B4-BE49-F238E27FC236}">
                <a16:creationId xmlns:a16="http://schemas.microsoft.com/office/drawing/2014/main" id="{226CE83A-E069-CEF0-6FA2-31CE50C66C02}"/>
              </a:ext>
            </a:extLst>
          </p:cNvPr>
          <p:cNvSpPr>
            <a:spLocks noGrp="1"/>
          </p:cNvSpPr>
          <p:nvPr>
            <p:ph type="title"/>
          </p:nvPr>
        </p:nvSpPr>
        <p:spPr/>
        <p:txBody>
          <a:bodyPr/>
          <a:lstStyle/>
          <a:p>
            <a:r>
              <a:rPr kumimoji="1" lang="zh-CN" altLang="en-US" dirty="0"/>
              <a:t>乘数产生的基本原理</a:t>
            </a:r>
          </a:p>
        </p:txBody>
      </p:sp>
      <p:sp>
        <p:nvSpPr>
          <p:cNvPr id="7" name="灯片编号占位符 2">
            <a:extLst>
              <a:ext uri="{FF2B5EF4-FFF2-40B4-BE49-F238E27FC236}">
                <a16:creationId xmlns:a16="http://schemas.microsoft.com/office/drawing/2014/main" id="{B727B440-7FE0-FB5C-6E8C-098EF9F8A8CB}"/>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75</a:t>
            </a:fld>
            <a:endParaRPr lang="zh-CN" altLang="zh-CN" sz="856" dirty="0">
              <a:solidFill>
                <a:srgbClr val="777777"/>
              </a:solidFill>
              <a:ea typeface="宋体" panose="02010600030101010101" pitchFamily="2" charset="-122"/>
            </a:endParaRPr>
          </a:p>
        </p:txBody>
      </p:sp>
      <p:sp>
        <p:nvSpPr>
          <p:cNvPr id="8" name="页脚占位符 1">
            <a:extLst>
              <a:ext uri="{FF2B5EF4-FFF2-40B4-BE49-F238E27FC236}">
                <a16:creationId xmlns:a16="http://schemas.microsoft.com/office/drawing/2014/main" id="{B5FDA32C-8F26-6DFC-9E84-D026A12AB11D}"/>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13361390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76</a:t>
            </a:fld>
            <a:endParaRPr lang="zh-CN" altLang="en-US"/>
          </a:p>
        </p:txBody>
      </p:sp>
      <p:grpSp>
        <p:nvGrpSpPr>
          <p:cNvPr id="30" name="组合 29"/>
          <p:cNvGrpSpPr/>
          <p:nvPr/>
        </p:nvGrpSpPr>
        <p:grpSpPr>
          <a:xfrm>
            <a:off x="320082" y="302076"/>
            <a:ext cx="3990898" cy="1293463"/>
            <a:chOff x="748564" y="1984409"/>
            <a:chExt cx="7923100" cy="2567903"/>
          </a:xfrm>
        </p:grpSpPr>
        <p:sp>
          <p:nvSpPr>
            <p:cNvPr id="7" name="文本框 6"/>
            <p:cNvSpPr txBox="1"/>
            <p:nvPr/>
          </p:nvSpPr>
          <p:spPr>
            <a:xfrm>
              <a:off x="2876611" y="2576904"/>
              <a:ext cx="916377" cy="1014687"/>
            </a:xfrm>
            <a:prstGeom prst="rect">
              <a:avLst/>
            </a:prstGeom>
            <a:ln>
              <a:solidFill>
                <a:srgbClr val="0070C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altLang="zh-CN" sz="907" dirty="0">
                  <a:latin typeface="Garamond" panose="02020404030301010803" pitchFamily="18" charset="0"/>
                  <a:ea typeface="SimSun" panose="02010600030101010101" pitchFamily="2" charset="-122"/>
                </a:rPr>
                <a:t>100</a:t>
              </a:r>
              <a:r>
                <a:rPr lang="zh-CN" altLang="en-US" sz="907" dirty="0">
                  <a:latin typeface="Garamond" panose="02020404030301010803" pitchFamily="18" charset="0"/>
                  <a:ea typeface="SimSun" panose="02010600030101010101" pitchFamily="2" charset="-122"/>
                </a:rPr>
                <a:t>亿投资品</a:t>
              </a:r>
            </a:p>
          </p:txBody>
        </p:sp>
        <p:sp>
          <p:nvSpPr>
            <p:cNvPr id="9" name="文本框 8"/>
            <p:cNvSpPr txBox="1"/>
            <p:nvPr/>
          </p:nvSpPr>
          <p:spPr>
            <a:xfrm>
              <a:off x="6062712" y="1984409"/>
              <a:ext cx="712265" cy="737560"/>
            </a:xfrm>
            <a:prstGeom prst="rect">
              <a:avLst/>
            </a:prstGeom>
            <a:ln>
              <a:solidFill>
                <a:srgbClr val="0070C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CN" altLang="en-US" sz="907" dirty="0">
                  <a:latin typeface="Garamond" panose="02020404030301010803" pitchFamily="18" charset="0"/>
                  <a:ea typeface="SimSun" panose="02010600030101010101" pitchFamily="2" charset="-122"/>
                </a:rPr>
                <a:t>工资</a:t>
              </a:r>
            </a:p>
          </p:txBody>
        </p:sp>
        <p:sp>
          <p:nvSpPr>
            <p:cNvPr id="10" name="文本框 9"/>
            <p:cNvSpPr txBox="1"/>
            <p:nvPr/>
          </p:nvSpPr>
          <p:spPr>
            <a:xfrm>
              <a:off x="6062712" y="2594523"/>
              <a:ext cx="712267" cy="737560"/>
            </a:xfrm>
            <a:prstGeom prst="rect">
              <a:avLst/>
            </a:prstGeom>
            <a:ln>
              <a:solidFill>
                <a:srgbClr val="0070C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CN" altLang="en-US" sz="907" dirty="0">
                  <a:latin typeface="Garamond" panose="02020404030301010803" pitchFamily="18" charset="0"/>
                  <a:ea typeface="SimSun" panose="02010600030101010101" pitchFamily="2" charset="-122"/>
                </a:rPr>
                <a:t>利息</a:t>
              </a:r>
            </a:p>
          </p:txBody>
        </p:sp>
        <p:sp>
          <p:nvSpPr>
            <p:cNvPr id="11" name="文本框 10"/>
            <p:cNvSpPr txBox="1"/>
            <p:nvPr/>
          </p:nvSpPr>
          <p:spPr>
            <a:xfrm>
              <a:off x="6077149" y="3204635"/>
              <a:ext cx="697830" cy="737560"/>
            </a:xfrm>
            <a:prstGeom prst="rect">
              <a:avLst/>
            </a:prstGeom>
            <a:ln>
              <a:solidFill>
                <a:srgbClr val="0070C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CN" altLang="en-US" sz="907" dirty="0">
                  <a:latin typeface="Garamond" panose="02020404030301010803" pitchFamily="18" charset="0"/>
                  <a:ea typeface="SimSun" panose="02010600030101010101" pitchFamily="2" charset="-122"/>
                </a:rPr>
                <a:t>利润</a:t>
              </a:r>
            </a:p>
          </p:txBody>
        </p:sp>
        <p:sp>
          <p:nvSpPr>
            <p:cNvPr id="12" name="文本框 11"/>
            <p:cNvSpPr txBox="1"/>
            <p:nvPr/>
          </p:nvSpPr>
          <p:spPr>
            <a:xfrm>
              <a:off x="6062710" y="3814752"/>
              <a:ext cx="712267" cy="737560"/>
            </a:xfrm>
            <a:prstGeom prst="rect">
              <a:avLst/>
            </a:prstGeom>
            <a:ln>
              <a:solidFill>
                <a:srgbClr val="0070C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CN" altLang="en-US" sz="907" dirty="0">
                  <a:latin typeface="Garamond" panose="02020404030301010803" pitchFamily="18" charset="0"/>
                  <a:ea typeface="SimSun" panose="02010600030101010101" pitchFamily="2" charset="-122"/>
                </a:rPr>
                <a:t>租金</a:t>
              </a:r>
            </a:p>
          </p:txBody>
        </p:sp>
        <p:sp>
          <p:nvSpPr>
            <p:cNvPr id="13" name="文本框 12"/>
            <p:cNvSpPr txBox="1"/>
            <p:nvPr/>
          </p:nvSpPr>
          <p:spPr>
            <a:xfrm>
              <a:off x="7151569" y="2767613"/>
              <a:ext cx="1520095" cy="73756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zh-CN" altLang="en-US" sz="907" dirty="0">
                  <a:latin typeface="Garamond" panose="02020404030301010803" pitchFamily="18" charset="0"/>
                  <a:ea typeface="SimSun" panose="02010600030101010101" pitchFamily="2" charset="-122"/>
                </a:rPr>
                <a:t>消费者收入增加</a:t>
              </a:r>
              <a:r>
                <a:rPr lang="en-US" altLang="zh-CN" sz="907" dirty="0">
                  <a:latin typeface="Garamond" panose="02020404030301010803" pitchFamily="18" charset="0"/>
                  <a:ea typeface="SimSun" panose="02010600030101010101" pitchFamily="2" charset="-122"/>
                </a:rPr>
                <a:t>100</a:t>
              </a:r>
              <a:r>
                <a:rPr lang="zh-CN" altLang="en-US" sz="907" dirty="0">
                  <a:latin typeface="Garamond" panose="02020404030301010803" pitchFamily="18" charset="0"/>
                  <a:ea typeface="SimSun" panose="02010600030101010101" pitchFamily="2" charset="-122"/>
                </a:rPr>
                <a:t>亿</a:t>
              </a:r>
            </a:p>
          </p:txBody>
        </p:sp>
        <p:sp>
          <p:nvSpPr>
            <p:cNvPr id="14" name="左大括号 13"/>
            <p:cNvSpPr/>
            <p:nvPr/>
          </p:nvSpPr>
          <p:spPr>
            <a:xfrm>
              <a:off x="5876223" y="2169075"/>
              <a:ext cx="186487" cy="1830342"/>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907">
                <a:latin typeface="Garamond" panose="02020404030301010803" pitchFamily="18" charset="0"/>
                <a:ea typeface="SimSun" panose="02010600030101010101" pitchFamily="2" charset="-122"/>
              </a:endParaRPr>
            </a:p>
          </p:txBody>
        </p:sp>
        <p:cxnSp>
          <p:nvCxnSpPr>
            <p:cNvPr id="16" name="直接箭头连接符 15"/>
            <p:cNvCxnSpPr>
              <a:cxnSpLocks/>
              <a:stCxn id="7" idx="3"/>
              <a:endCxn id="14" idx="1"/>
            </p:cNvCxnSpPr>
            <p:nvPr/>
          </p:nvCxnSpPr>
          <p:spPr>
            <a:xfrm>
              <a:off x="3792988" y="3084247"/>
              <a:ext cx="208323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 name="矩形 17"/>
            <p:cNvSpPr/>
            <p:nvPr/>
          </p:nvSpPr>
          <p:spPr>
            <a:xfrm>
              <a:off x="3704202" y="2756380"/>
              <a:ext cx="1996019" cy="675694"/>
            </a:xfrm>
            <a:prstGeom prst="rect">
              <a:avLst/>
            </a:prstGeom>
          </p:spPr>
          <p:txBody>
            <a:bodyPr wrap="none">
              <a:spAutoFit/>
            </a:bodyPr>
            <a:lstStyle/>
            <a:p>
              <a:pPr algn="ctr"/>
              <a:r>
                <a:rPr lang="zh-CN" altLang="en-US" sz="806" dirty="0">
                  <a:latin typeface="Garamond" panose="02020404030301010803" pitchFamily="18" charset="0"/>
                  <a:ea typeface="SimSun" panose="02010600030101010101" pitchFamily="2" charset="-122"/>
                </a:rPr>
                <a:t>制造投资品所需要</a:t>
              </a:r>
              <a:endParaRPr lang="en-US" altLang="zh-CN" sz="806" dirty="0">
                <a:latin typeface="Garamond" panose="02020404030301010803" pitchFamily="18" charset="0"/>
                <a:ea typeface="SimSun" panose="02010600030101010101" pitchFamily="2" charset="-122"/>
              </a:endParaRPr>
            </a:p>
            <a:p>
              <a:pPr algn="ctr"/>
              <a:r>
                <a:rPr lang="zh-CN" altLang="en-US" sz="806" dirty="0">
                  <a:latin typeface="Garamond" panose="02020404030301010803" pitchFamily="18" charset="0"/>
                  <a:ea typeface="SimSun" panose="02010600030101010101" pitchFamily="2" charset="-122"/>
                </a:rPr>
                <a:t>的生产要素</a:t>
              </a:r>
            </a:p>
          </p:txBody>
        </p:sp>
        <p:sp>
          <p:nvSpPr>
            <p:cNvPr id="19" name="右大括号 18"/>
            <p:cNvSpPr/>
            <p:nvPr/>
          </p:nvSpPr>
          <p:spPr>
            <a:xfrm>
              <a:off x="6774979" y="2169075"/>
              <a:ext cx="206945" cy="1830342"/>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907">
                <a:latin typeface="Garamond" panose="02020404030301010803" pitchFamily="18" charset="0"/>
                <a:ea typeface="SimSun" panose="02010600030101010101" pitchFamily="2" charset="-122"/>
              </a:endParaRPr>
            </a:p>
          </p:txBody>
        </p:sp>
        <p:cxnSp>
          <p:nvCxnSpPr>
            <p:cNvPr id="21" name="直接箭头连接符 20"/>
            <p:cNvCxnSpPr>
              <a:cxnSpLocks/>
              <a:stCxn id="19" idx="1"/>
              <a:endCxn id="13" idx="1"/>
            </p:cNvCxnSpPr>
            <p:nvPr/>
          </p:nvCxnSpPr>
          <p:spPr>
            <a:xfrm>
              <a:off x="6981924" y="3084247"/>
              <a:ext cx="169645" cy="5214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 name="文本框 24"/>
            <p:cNvSpPr txBox="1"/>
            <p:nvPr/>
          </p:nvSpPr>
          <p:spPr>
            <a:xfrm>
              <a:off x="748564" y="2676387"/>
              <a:ext cx="1811274" cy="73756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zh-CN" altLang="en-US" sz="907" dirty="0">
                  <a:latin typeface="Garamond" panose="02020404030301010803" pitchFamily="18" charset="0"/>
                  <a:ea typeface="SimSun" panose="02010600030101010101" pitchFamily="2" charset="-122"/>
                </a:rPr>
                <a:t>投资增加</a:t>
              </a:r>
              <a:r>
                <a:rPr lang="en-US" altLang="zh-CN" sz="907" dirty="0">
                  <a:latin typeface="Garamond" panose="02020404030301010803" pitchFamily="18" charset="0"/>
                  <a:ea typeface="SimSun" panose="02010600030101010101" pitchFamily="2" charset="-122"/>
                </a:rPr>
                <a:t>100</a:t>
              </a:r>
              <a:r>
                <a:rPr lang="zh-CN" altLang="en-US" sz="907" dirty="0">
                  <a:latin typeface="Garamond" panose="02020404030301010803" pitchFamily="18" charset="0"/>
                  <a:ea typeface="SimSun" panose="02010600030101010101" pitchFamily="2" charset="-122"/>
                </a:rPr>
                <a:t>亿</a:t>
              </a:r>
            </a:p>
          </p:txBody>
        </p:sp>
        <p:sp>
          <p:nvSpPr>
            <p:cNvPr id="28" name="箭头: 右 27"/>
            <p:cNvSpPr/>
            <p:nvPr/>
          </p:nvSpPr>
          <p:spPr>
            <a:xfrm>
              <a:off x="2516230" y="3039621"/>
              <a:ext cx="293397" cy="117465"/>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907">
                <a:latin typeface="Garamond" panose="02020404030301010803" pitchFamily="18" charset="0"/>
                <a:ea typeface="SimSun" panose="02010600030101010101" pitchFamily="2" charset="-122"/>
              </a:endParaRPr>
            </a:p>
          </p:txBody>
        </p:sp>
      </p:grpSp>
      <p:sp>
        <p:nvSpPr>
          <p:cNvPr id="33" name="文本框 32"/>
          <p:cNvSpPr txBox="1"/>
          <p:nvPr/>
        </p:nvSpPr>
        <p:spPr>
          <a:xfrm>
            <a:off x="1527810" y="1486204"/>
            <a:ext cx="1537384" cy="200824"/>
          </a:xfrm>
          <a:prstGeom prst="rect">
            <a:avLst/>
          </a:prstGeom>
          <a:noFill/>
        </p:spPr>
        <p:txBody>
          <a:bodyPr wrap="square" rtlCol="0">
            <a:spAutoFit/>
          </a:bodyPr>
          <a:lstStyle/>
          <a:p>
            <a:r>
              <a:rPr lang="zh-CN" altLang="en-US" sz="705" b="1" dirty="0">
                <a:latin typeface="Garamond" panose="02020404030301010803" pitchFamily="18" charset="0"/>
                <a:ea typeface="SimSun" panose="02010600030101010101" pitchFamily="2" charset="-122"/>
              </a:rPr>
              <a:t>（投资对国民收入的第一轮增加）</a:t>
            </a:r>
          </a:p>
        </p:txBody>
      </p:sp>
      <p:sp>
        <p:nvSpPr>
          <p:cNvPr id="35" name="文本框 34"/>
          <p:cNvSpPr txBox="1"/>
          <p:nvPr/>
        </p:nvSpPr>
        <p:spPr>
          <a:xfrm>
            <a:off x="1421651" y="2186855"/>
            <a:ext cx="1306405" cy="51110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zh-CN" altLang="en-US" sz="907" dirty="0">
                <a:latin typeface="Garamond" panose="02020404030301010803" pitchFamily="18" charset="0"/>
                <a:ea typeface="SimSun" panose="02010600030101010101" pitchFamily="2" charset="-122"/>
              </a:rPr>
              <a:t>生产消费品的生产要素</a:t>
            </a:r>
            <a:endParaRPr lang="en-US" altLang="zh-CN" sz="907" dirty="0">
              <a:latin typeface="Garamond" panose="02020404030301010803" pitchFamily="18" charset="0"/>
              <a:ea typeface="SimSun" panose="02010600030101010101" pitchFamily="2" charset="-122"/>
            </a:endParaRPr>
          </a:p>
          <a:p>
            <a:pPr algn="ctr"/>
            <a:r>
              <a:rPr lang="zh-CN" altLang="en-US" sz="907" dirty="0">
                <a:latin typeface="Garamond" panose="02020404030301010803" pitchFamily="18" charset="0"/>
                <a:ea typeface="SimSun" panose="02010600030101010101" pitchFamily="2" charset="-122"/>
              </a:rPr>
              <a:t>所有者</a:t>
            </a:r>
          </a:p>
        </p:txBody>
      </p:sp>
      <p:sp>
        <p:nvSpPr>
          <p:cNvPr id="36" name="文本框 35"/>
          <p:cNvSpPr txBox="1"/>
          <p:nvPr/>
        </p:nvSpPr>
        <p:spPr>
          <a:xfrm>
            <a:off x="2996840" y="1789592"/>
            <a:ext cx="358772" cy="371512"/>
          </a:xfrm>
          <a:prstGeom prst="rect">
            <a:avLst/>
          </a:prstGeom>
          <a:ln>
            <a:solidFill>
              <a:srgbClr val="0070C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CN" altLang="en-US" sz="907" dirty="0">
                <a:latin typeface="Garamond" panose="02020404030301010803" pitchFamily="18" charset="0"/>
                <a:ea typeface="SimSun" panose="02010600030101010101" pitchFamily="2" charset="-122"/>
              </a:rPr>
              <a:t>工资</a:t>
            </a:r>
          </a:p>
        </p:txBody>
      </p:sp>
      <p:sp>
        <p:nvSpPr>
          <p:cNvPr id="37" name="文本框 36"/>
          <p:cNvSpPr txBox="1"/>
          <p:nvPr/>
        </p:nvSpPr>
        <p:spPr>
          <a:xfrm>
            <a:off x="2996840" y="2096909"/>
            <a:ext cx="358773" cy="371512"/>
          </a:xfrm>
          <a:prstGeom prst="rect">
            <a:avLst/>
          </a:prstGeom>
          <a:ln>
            <a:solidFill>
              <a:srgbClr val="0070C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CN" altLang="en-US" sz="907" dirty="0">
                <a:latin typeface="Garamond" panose="02020404030301010803" pitchFamily="18" charset="0"/>
                <a:ea typeface="SimSun" panose="02010600030101010101" pitchFamily="2" charset="-122"/>
              </a:rPr>
              <a:t>利息</a:t>
            </a:r>
          </a:p>
        </p:txBody>
      </p:sp>
      <p:sp>
        <p:nvSpPr>
          <p:cNvPr id="38" name="文本框 37"/>
          <p:cNvSpPr txBox="1"/>
          <p:nvPr/>
        </p:nvSpPr>
        <p:spPr>
          <a:xfrm>
            <a:off x="3004112" y="2404227"/>
            <a:ext cx="351500" cy="371512"/>
          </a:xfrm>
          <a:prstGeom prst="rect">
            <a:avLst/>
          </a:prstGeom>
          <a:ln>
            <a:solidFill>
              <a:srgbClr val="0070C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CN" altLang="en-US" sz="907" dirty="0">
                <a:latin typeface="Garamond" panose="02020404030301010803" pitchFamily="18" charset="0"/>
                <a:ea typeface="SimSun" panose="02010600030101010101" pitchFamily="2" charset="-122"/>
              </a:rPr>
              <a:t>利润</a:t>
            </a:r>
          </a:p>
        </p:txBody>
      </p:sp>
      <p:sp>
        <p:nvSpPr>
          <p:cNvPr id="39" name="文本框 38"/>
          <p:cNvSpPr txBox="1"/>
          <p:nvPr/>
        </p:nvSpPr>
        <p:spPr>
          <a:xfrm>
            <a:off x="2996839" y="2711544"/>
            <a:ext cx="358773" cy="371512"/>
          </a:xfrm>
          <a:prstGeom prst="rect">
            <a:avLst/>
          </a:prstGeom>
          <a:ln>
            <a:solidFill>
              <a:srgbClr val="0070C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CN" altLang="en-US" sz="907" dirty="0">
                <a:latin typeface="Garamond" panose="02020404030301010803" pitchFamily="18" charset="0"/>
                <a:ea typeface="SimSun" panose="02010600030101010101" pitchFamily="2" charset="-122"/>
              </a:rPr>
              <a:t>租金</a:t>
            </a:r>
          </a:p>
        </p:txBody>
      </p:sp>
      <p:sp>
        <p:nvSpPr>
          <p:cNvPr id="40" name="文本框 39"/>
          <p:cNvSpPr txBox="1"/>
          <p:nvPr/>
        </p:nvSpPr>
        <p:spPr>
          <a:xfrm>
            <a:off x="3620641" y="2180804"/>
            <a:ext cx="603868" cy="51110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zh-CN" altLang="en-US" sz="907" dirty="0">
                <a:latin typeface="Garamond" panose="02020404030301010803" pitchFamily="18" charset="0"/>
                <a:ea typeface="SimSun" panose="02010600030101010101" pitchFamily="2" charset="-122"/>
              </a:rPr>
              <a:t>消费</a:t>
            </a:r>
            <a:endParaRPr lang="en-US" altLang="zh-CN" sz="907" dirty="0">
              <a:latin typeface="Garamond" panose="02020404030301010803" pitchFamily="18" charset="0"/>
              <a:ea typeface="SimSun" panose="02010600030101010101" pitchFamily="2" charset="-122"/>
            </a:endParaRPr>
          </a:p>
          <a:p>
            <a:pPr algn="ctr"/>
            <a:r>
              <a:rPr lang="zh-CN" altLang="en-US" sz="907" dirty="0">
                <a:latin typeface="Garamond" panose="02020404030301010803" pitchFamily="18" charset="0"/>
                <a:ea typeface="SimSun" panose="02010600030101010101" pitchFamily="2" charset="-122"/>
              </a:rPr>
              <a:t>增加</a:t>
            </a:r>
            <a:r>
              <a:rPr lang="en-US" altLang="zh-CN" sz="907" dirty="0">
                <a:latin typeface="Garamond" panose="02020404030301010803" pitchFamily="18" charset="0"/>
                <a:ea typeface="SimSun" panose="02010600030101010101" pitchFamily="2" charset="-122"/>
              </a:rPr>
              <a:t>80</a:t>
            </a:r>
            <a:r>
              <a:rPr lang="zh-CN" altLang="en-US" sz="907" dirty="0">
                <a:latin typeface="Garamond" panose="02020404030301010803" pitchFamily="18" charset="0"/>
                <a:ea typeface="SimSun" panose="02010600030101010101" pitchFamily="2" charset="-122"/>
              </a:rPr>
              <a:t>亿</a:t>
            </a:r>
          </a:p>
        </p:txBody>
      </p:sp>
      <p:sp>
        <p:nvSpPr>
          <p:cNvPr id="41" name="左大括号 40"/>
          <p:cNvSpPr/>
          <p:nvPr/>
        </p:nvSpPr>
        <p:spPr>
          <a:xfrm>
            <a:off x="2902906" y="1882609"/>
            <a:ext cx="93935" cy="921950"/>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907">
              <a:latin typeface="Garamond" panose="02020404030301010803" pitchFamily="18" charset="0"/>
              <a:ea typeface="SimSun" panose="02010600030101010101" pitchFamily="2" charset="-122"/>
            </a:endParaRPr>
          </a:p>
        </p:txBody>
      </p:sp>
      <p:sp>
        <p:nvSpPr>
          <p:cNvPr id="44" name="右大括号 43"/>
          <p:cNvSpPr/>
          <p:nvPr/>
        </p:nvSpPr>
        <p:spPr>
          <a:xfrm>
            <a:off x="3355612" y="1882609"/>
            <a:ext cx="104239" cy="921950"/>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sz="907">
              <a:latin typeface="Garamond" panose="02020404030301010803" pitchFamily="18" charset="0"/>
              <a:ea typeface="SimSun" panose="02010600030101010101" pitchFamily="2" charset="-122"/>
            </a:endParaRPr>
          </a:p>
        </p:txBody>
      </p:sp>
      <p:sp>
        <p:nvSpPr>
          <p:cNvPr id="46" name="文本框 45"/>
          <p:cNvSpPr txBox="1"/>
          <p:nvPr/>
        </p:nvSpPr>
        <p:spPr>
          <a:xfrm>
            <a:off x="298116" y="2180805"/>
            <a:ext cx="955902" cy="371512"/>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zh-CN" altLang="en-US" sz="907" dirty="0">
                <a:latin typeface="Garamond" panose="02020404030301010803" pitchFamily="18" charset="0"/>
                <a:ea typeface="SimSun" panose="02010600030101010101" pitchFamily="2" charset="-122"/>
              </a:rPr>
              <a:t>社会居民收入增加</a:t>
            </a:r>
            <a:r>
              <a:rPr lang="en-US" altLang="zh-CN" sz="907" dirty="0">
                <a:latin typeface="Garamond" panose="02020404030301010803" pitchFamily="18" charset="0"/>
                <a:ea typeface="SimSun" panose="02010600030101010101" pitchFamily="2" charset="-122"/>
              </a:rPr>
              <a:t>80</a:t>
            </a:r>
            <a:r>
              <a:rPr lang="zh-CN" altLang="en-US" sz="907" dirty="0">
                <a:latin typeface="Garamond" panose="02020404030301010803" pitchFamily="18" charset="0"/>
                <a:ea typeface="SimSun" panose="02010600030101010101" pitchFamily="2" charset="-122"/>
              </a:rPr>
              <a:t>亿</a:t>
            </a:r>
          </a:p>
        </p:txBody>
      </p:sp>
      <p:sp>
        <p:nvSpPr>
          <p:cNvPr id="48" name="文本框 47"/>
          <p:cNvSpPr txBox="1"/>
          <p:nvPr/>
        </p:nvSpPr>
        <p:spPr>
          <a:xfrm>
            <a:off x="3809834" y="1023437"/>
            <a:ext cx="293157" cy="1173115"/>
          </a:xfrm>
          <a:prstGeom prst="rect">
            <a:avLst/>
          </a:prstGeom>
          <a:noFill/>
          <a:ln>
            <a:noFill/>
          </a:ln>
        </p:spPr>
        <p:style>
          <a:lnRef idx="2">
            <a:schemeClr val="accent1"/>
          </a:lnRef>
          <a:fillRef idx="1">
            <a:schemeClr val="lt1"/>
          </a:fillRef>
          <a:effectRef idx="0">
            <a:schemeClr val="accent1"/>
          </a:effectRef>
          <a:fontRef idx="minor">
            <a:schemeClr val="dk1"/>
          </a:fontRef>
        </p:style>
        <p:txBody>
          <a:bodyPr vert="eaVert" wrap="square" rtlCol="0">
            <a:spAutoFit/>
          </a:bodyPr>
          <a:lstStyle/>
          <a:p>
            <a:r>
              <a:rPr lang="zh-CN" altLang="en-US" sz="705" dirty="0">
                <a:latin typeface="Garamond" panose="02020404030301010803" pitchFamily="18" charset="0"/>
                <a:ea typeface="SimSun" panose="02010600030101010101" pitchFamily="2" charset="-122"/>
              </a:rPr>
              <a:t>假定社会边际消费倾向为</a:t>
            </a:r>
            <a:r>
              <a:rPr lang="en-US" altLang="zh-CN" sz="705" dirty="0">
                <a:latin typeface="Garamond" panose="02020404030301010803" pitchFamily="18" charset="0"/>
                <a:ea typeface="SimSun" panose="02010600030101010101" pitchFamily="2" charset="-122"/>
              </a:rPr>
              <a:t>0.8</a:t>
            </a:r>
            <a:endParaRPr lang="zh-CN" altLang="en-US" sz="705" dirty="0">
              <a:latin typeface="Garamond" panose="02020404030301010803" pitchFamily="18" charset="0"/>
              <a:ea typeface="SimSun" panose="02010600030101010101" pitchFamily="2" charset="-122"/>
            </a:endParaRPr>
          </a:p>
        </p:txBody>
      </p:sp>
      <p:cxnSp>
        <p:nvCxnSpPr>
          <p:cNvPr id="51" name="直接箭头连接符 50"/>
          <p:cNvCxnSpPr>
            <a:cxnSpLocks/>
          </p:cNvCxnSpPr>
          <p:nvPr/>
        </p:nvCxnSpPr>
        <p:spPr>
          <a:xfrm>
            <a:off x="3928140" y="1022140"/>
            <a:ext cx="0" cy="116884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6" name="直接箭头连接符 55"/>
          <p:cNvCxnSpPr>
            <a:stCxn id="40" idx="1"/>
            <a:endCxn id="44" idx="1"/>
          </p:cNvCxnSpPr>
          <p:nvPr/>
        </p:nvCxnSpPr>
        <p:spPr>
          <a:xfrm flipH="1" flipV="1">
            <a:off x="3459851" y="2343584"/>
            <a:ext cx="160790" cy="9277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2" name="直接箭头连接符 61"/>
          <p:cNvCxnSpPr>
            <a:cxnSpLocks/>
            <a:stCxn id="41" idx="1"/>
            <a:endCxn id="35" idx="3"/>
          </p:cNvCxnSpPr>
          <p:nvPr/>
        </p:nvCxnSpPr>
        <p:spPr>
          <a:xfrm flipH="1">
            <a:off x="2728056" y="2343584"/>
            <a:ext cx="174850" cy="9882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4" name="箭头: 右 63"/>
          <p:cNvSpPr/>
          <p:nvPr/>
        </p:nvSpPr>
        <p:spPr>
          <a:xfrm rot="10800000">
            <a:off x="1267363" y="2314000"/>
            <a:ext cx="147785" cy="59167"/>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sz="907">
              <a:latin typeface="Garamond" panose="02020404030301010803" pitchFamily="18" charset="0"/>
              <a:ea typeface="SimSun" panose="02010600030101010101" pitchFamily="2" charset="-122"/>
            </a:endParaRPr>
          </a:p>
        </p:txBody>
      </p:sp>
      <p:sp>
        <p:nvSpPr>
          <p:cNvPr id="65" name="文本框 64"/>
          <p:cNvSpPr txBox="1"/>
          <p:nvPr/>
        </p:nvSpPr>
        <p:spPr>
          <a:xfrm>
            <a:off x="1527810" y="2894671"/>
            <a:ext cx="1537384" cy="200824"/>
          </a:xfrm>
          <a:prstGeom prst="rect">
            <a:avLst/>
          </a:prstGeom>
          <a:noFill/>
        </p:spPr>
        <p:txBody>
          <a:bodyPr wrap="square" rtlCol="0">
            <a:spAutoFit/>
          </a:bodyPr>
          <a:lstStyle/>
          <a:p>
            <a:r>
              <a:rPr lang="zh-CN" altLang="en-US" sz="705" b="1" dirty="0">
                <a:latin typeface="Garamond" panose="02020404030301010803" pitchFamily="18" charset="0"/>
                <a:ea typeface="SimSun" panose="02010600030101010101" pitchFamily="2" charset="-122"/>
              </a:rPr>
              <a:t>（投资对国民收入的第二轮增加）</a:t>
            </a:r>
          </a:p>
        </p:txBody>
      </p:sp>
      <p:cxnSp>
        <p:nvCxnSpPr>
          <p:cNvPr id="67" name="直接箭头连接符 66"/>
          <p:cNvCxnSpPr>
            <a:stCxn id="46" idx="2"/>
          </p:cNvCxnSpPr>
          <p:nvPr/>
        </p:nvCxnSpPr>
        <p:spPr>
          <a:xfrm>
            <a:off x="776067" y="2552317"/>
            <a:ext cx="0" cy="15922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8" name="文本框 67"/>
          <p:cNvSpPr txBox="1"/>
          <p:nvPr/>
        </p:nvSpPr>
        <p:spPr>
          <a:xfrm>
            <a:off x="474133" y="2701963"/>
            <a:ext cx="603868" cy="511102"/>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zh-CN" altLang="en-US" sz="907" dirty="0">
                <a:latin typeface="Garamond" panose="02020404030301010803" pitchFamily="18" charset="0"/>
                <a:ea typeface="SimSun" panose="02010600030101010101" pitchFamily="2" charset="-122"/>
              </a:rPr>
              <a:t>消费</a:t>
            </a:r>
            <a:endParaRPr lang="en-US" altLang="zh-CN" sz="907" dirty="0">
              <a:latin typeface="Garamond" panose="02020404030301010803" pitchFamily="18" charset="0"/>
              <a:ea typeface="SimSun" panose="02010600030101010101" pitchFamily="2" charset="-122"/>
            </a:endParaRPr>
          </a:p>
          <a:p>
            <a:pPr algn="ctr"/>
            <a:r>
              <a:rPr lang="zh-CN" altLang="en-US" sz="907" dirty="0">
                <a:latin typeface="Garamond" panose="02020404030301010803" pitchFamily="18" charset="0"/>
                <a:ea typeface="SimSun" panose="02010600030101010101" pitchFamily="2" charset="-122"/>
              </a:rPr>
              <a:t>增加</a:t>
            </a:r>
            <a:r>
              <a:rPr lang="en-US" altLang="zh-CN" sz="907" dirty="0">
                <a:latin typeface="Garamond" panose="02020404030301010803" pitchFamily="18" charset="0"/>
                <a:ea typeface="SimSun" panose="02010600030101010101" pitchFamily="2" charset="-122"/>
              </a:rPr>
              <a:t>64</a:t>
            </a:r>
            <a:r>
              <a:rPr lang="zh-CN" altLang="en-US" sz="907" dirty="0">
                <a:latin typeface="Garamond" panose="02020404030301010803" pitchFamily="18" charset="0"/>
                <a:ea typeface="SimSun" panose="02010600030101010101" pitchFamily="2" charset="-122"/>
              </a:rPr>
              <a:t>亿</a:t>
            </a:r>
          </a:p>
        </p:txBody>
      </p:sp>
      <p:cxnSp>
        <p:nvCxnSpPr>
          <p:cNvPr id="70" name="直接箭头连接符 69"/>
          <p:cNvCxnSpPr>
            <a:cxnSpLocks/>
          </p:cNvCxnSpPr>
          <p:nvPr/>
        </p:nvCxnSpPr>
        <p:spPr>
          <a:xfrm>
            <a:off x="1031035" y="2861032"/>
            <a:ext cx="206353" cy="37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1" name="文本框 70"/>
          <p:cNvSpPr txBox="1"/>
          <p:nvPr/>
        </p:nvSpPr>
        <p:spPr>
          <a:xfrm>
            <a:off x="1151568" y="2737083"/>
            <a:ext cx="603868" cy="371512"/>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n-US" altLang="zh-CN" sz="907" dirty="0">
                <a:latin typeface="Garamond" panose="02020404030301010803" pitchFamily="18" charset="0"/>
                <a:ea typeface="SimSun" panose="02010600030101010101" pitchFamily="2" charset="-122"/>
              </a:rPr>
              <a:t>…………</a:t>
            </a:r>
            <a:endParaRPr lang="zh-CN" altLang="en-US" sz="907" dirty="0">
              <a:latin typeface="Garamond" panose="02020404030301010803" pitchFamily="18" charset="0"/>
              <a:ea typeface="SimSun" panose="02010600030101010101" pitchFamily="2" charset="-122"/>
            </a:endParaRPr>
          </a:p>
        </p:txBody>
      </p:sp>
      <p:sp>
        <p:nvSpPr>
          <p:cNvPr id="17" name="灯片编号占位符 2">
            <a:extLst>
              <a:ext uri="{FF2B5EF4-FFF2-40B4-BE49-F238E27FC236}">
                <a16:creationId xmlns:a16="http://schemas.microsoft.com/office/drawing/2014/main" id="{0464DF4D-D6B8-718C-5125-19B07B0ECAF6}"/>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76</a:t>
            </a:fld>
            <a:endParaRPr lang="zh-CN" altLang="zh-CN" sz="856" dirty="0">
              <a:solidFill>
                <a:srgbClr val="777777"/>
              </a:solidFill>
              <a:ea typeface="宋体" panose="02010600030101010101" pitchFamily="2" charset="-122"/>
            </a:endParaRPr>
          </a:p>
        </p:txBody>
      </p:sp>
      <p:sp>
        <p:nvSpPr>
          <p:cNvPr id="20" name="页脚占位符 1">
            <a:extLst>
              <a:ext uri="{FF2B5EF4-FFF2-40B4-BE49-F238E27FC236}">
                <a16:creationId xmlns:a16="http://schemas.microsoft.com/office/drawing/2014/main" id="{B6FEF047-A989-A514-FE9D-E755B32C123F}"/>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21127074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latin typeface="Garamond" panose="02020404030301010803" pitchFamily="18" charset="0"/>
                    <a:ea typeface="SimSun" panose="02010600030101010101" pitchFamily="2" charset="-122"/>
                  </a:rPr>
                  <a:t>国民收入的增加过程为：</a:t>
                </a:r>
                <a:endParaRPr lang="en-US" altLang="zh-CN" dirty="0">
                  <a:latin typeface="Garamond" panose="02020404030301010803" pitchFamily="18" charset="0"/>
                  <a:ea typeface="SimSun" panose="02010600030101010101" pitchFamily="2" charset="-122"/>
                </a:endParaRPr>
              </a:p>
              <a:p>
                <a14:m>
                  <m:oMath xmlns:m="http://schemas.openxmlformats.org/officeDocument/2006/math">
                    <m:r>
                      <a:rPr lang="en-US" altLang="zh-CN" sz="1209" i="1" dirty="0">
                        <a:latin typeface="Cambria Math" panose="02040503050406030204" pitchFamily="18" charset="0"/>
                      </a:rPr>
                      <m:t>100+100</m:t>
                    </m:r>
                    <m:r>
                      <a:rPr lang="zh-CN" altLang="en-US" sz="1209" i="1" dirty="0">
                        <a:latin typeface="Cambria Math" panose="02040503050406030204" pitchFamily="18" charset="0"/>
                      </a:rPr>
                      <m:t>∗</m:t>
                    </m:r>
                    <m:r>
                      <a:rPr lang="en-US" altLang="zh-CN" sz="1209" i="1" dirty="0">
                        <a:latin typeface="Cambria Math" panose="02040503050406030204" pitchFamily="18" charset="0"/>
                      </a:rPr>
                      <m:t>0.8+100</m:t>
                    </m:r>
                    <m:r>
                      <a:rPr lang="zh-CN" altLang="en-US" sz="1209" i="1" dirty="0">
                        <a:latin typeface="Cambria Math" panose="02040503050406030204" pitchFamily="18" charset="0"/>
                      </a:rPr>
                      <m:t>∗</m:t>
                    </m:r>
                    <m:r>
                      <a:rPr lang="en-US" altLang="zh-CN" sz="1209" i="1" dirty="0">
                        <a:latin typeface="Cambria Math" panose="02040503050406030204" pitchFamily="18" charset="0"/>
                      </a:rPr>
                      <m:t>0.8</m:t>
                    </m:r>
                    <m:r>
                      <a:rPr lang="zh-CN" altLang="en-US" sz="1209" i="1" dirty="0">
                        <a:latin typeface="Cambria Math" panose="02040503050406030204" pitchFamily="18" charset="0"/>
                      </a:rPr>
                      <m:t>∗</m:t>
                    </m:r>
                    <m:r>
                      <a:rPr lang="en-US" altLang="zh-CN" sz="1209" i="1" dirty="0">
                        <a:latin typeface="Cambria Math" panose="02040503050406030204" pitchFamily="18" charset="0"/>
                      </a:rPr>
                      <m:t>0.8+…+100</m:t>
                    </m:r>
                    <m:r>
                      <a:rPr lang="zh-CN" altLang="en-US" sz="1209" i="1" dirty="0">
                        <a:latin typeface="Cambria Math" panose="02040503050406030204" pitchFamily="18" charset="0"/>
                      </a:rPr>
                      <m:t>∗</m:t>
                    </m:r>
                    <m:sSup>
                      <m:sSupPr>
                        <m:ctrlPr>
                          <a:rPr lang="en-US" altLang="zh-CN" sz="1209" i="1" dirty="0">
                            <a:latin typeface="Cambria Math" panose="02040503050406030204" pitchFamily="18" charset="0"/>
                          </a:rPr>
                        </m:ctrlPr>
                      </m:sSupPr>
                      <m:e>
                        <m:r>
                          <a:rPr lang="en-US" altLang="zh-CN" sz="1209" i="1" dirty="0">
                            <a:latin typeface="Cambria Math" panose="02040503050406030204" pitchFamily="18" charset="0"/>
                          </a:rPr>
                          <m:t>0.8</m:t>
                        </m:r>
                      </m:e>
                      <m:sup>
                        <m:r>
                          <a:rPr lang="en-US" altLang="zh-CN" sz="1209" i="1" dirty="0">
                            <a:latin typeface="Cambria Math" panose="02040503050406030204" pitchFamily="18" charset="0"/>
                          </a:rPr>
                          <m:t>𝑛</m:t>
                        </m:r>
                        <m:r>
                          <a:rPr lang="en-US" altLang="zh-CN" sz="1209" i="1" dirty="0">
                            <a:latin typeface="Cambria Math" panose="02040503050406030204" pitchFamily="18" charset="0"/>
                          </a:rPr>
                          <m:t>−1</m:t>
                        </m:r>
                      </m:sup>
                    </m:sSup>
                  </m:oMath>
                </a14:m>
                <a:endParaRPr lang="en-US" altLang="zh-CN" dirty="0">
                  <a:latin typeface="Garamond" panose="02020404030301010803" pitchFamily="18" charset="0"/>
                  <a:ea typeface="SimSun" panose="02010600030101010101" pitchFamily="2" charset="-122"/>
                </a:endParaRPr>
              </a:p>
              <a:p>
                <a14:m>
                  <m:oMath xmlns:m="http://schemas.openxmlformats.org/officeDocument/2006/math">
                    <m:r>
                      <a:rPr lang="en-US" altLang="zh-CN" sz="1209" i="1">
                        <a:latin typeface="Cambria Math" panose="02040503050406030204" pitchFamily="18" charset="0"/>
                      </a:rPr>
                      <m:t>=100</m:t>
                    </m:r>
                    <m:d>
                      <m:dPr>
                        <m:ctrlPr>
                          <a:rPr lang="en-US" altLang="zh-CN" sz="1209" i="1">
                            <a:latin typeface="Cambria Math" panose="02040503050406030204" pitchFamily="18" charset="0"/>
                          </a:rPr>
                        </m:ctrlPr>
                      </m:dPr>
                      <m:e>
                        <m:r>
                          <a:rPr lang="en-US" altLang="zh-CN" sz="1209" i="1">
                            <a:latin typeface="Cambria Math" panose="02040503050406030204" pitchFamily="18" charset="0"/>
                          </a:rPr>
                          <m:t>1+0.8+</m:t>
                        </m:r>
                        <m:sSup>
                          <m:sSupPr>
                            <m:ctrlPr>
                              <a:rPr lang="en-US" altLang="zh-CN" sz="1209" i="1">
                                <a:latin typeface="Cambria Math" panose="02040503050406030204" pitchFamily="18" charset="0"/>
                              </a:rPr>
                            </m:ctrlPr>
                          </m:sSupPr>
                          <m:e>
                            <m:r>
                              <a:rPr lang="en-US" altLang="zh-CN" sz="1209" i="1">
                                <a:latin typeface="Cambria Math" panose="02040503050406030204" pitchFamily="18" charset="0"/>
                              </a:rPr>
                              <m:t>0.8</m:t>
                            </m:r>
                          </m:e>
                          <m:sup>
                            <m:r>
                              <a:rPr lang="en-US" altLang="zh-CN" sz="1209" i="1">
                                <a:latin typeface="Cambria Math" panose="02040503050406030204" pitchFamily="18" charset="0"/>
                              </a:rPr>
                              <m:t>2</m:t>
                            </m:r>
                          </m:sup>
                        </m:sSup>
                        <m:r>
                          <a:rPr lang="en-US" altLang="zh-CN" sz="1209" i="1">
                            <a:latin typeface="Cambria Math" panose="02040503050406030204" pitchFamily="18" charset="0"/>
                          </a:rPr>
                          <m:t>+…+</m:t>
                        </m:r>
                        <m:sSup>
                          <m:sSupPr>
                            <m:ctrlPr>
                              <a:rPr lang="en-US" altLang="zh-CN" sz="1209" i="1">
                                <a:latin typeface="Cambria Math" panose="02040503050406030204" pitchFamily="18" charset="0"/>
                              </a:rPr>
                            </m:ctrlPr>
                          </m:sSupPr>
                          <m:e>
                            <m:r>
                              <a:rPr lang="en-US" altLang="zh-CN" sz="1209" i="1">
                                <a:latin typeface="Cambria Math" panose="02040503050406030204" pitchFamily="18" charset="0"/>
                              </a:rPr>
                              <m:t>0.8</m:t>
                            </m:r>
                          </m:e>
                          <m:sup>
                            <m:r>
                              <a:rPr lang="en-US" altLang="zh-CN" sz="1209" i="1">
                                <a:latin typeface="Cambria Math" panose="02040503050406030204" pitchFamily="18" charset="0"/>
                              </a:rPr>
                              <m:t>𝑛</m:t>
                            </m:r>
                            <m:r>
                              <a:rPr lang="en-US" altLang="zh-CN" sz="1209" i="1">
                                <a:latin typeface="Cambria Math" panose="02040503050406030204" pitchFamily="18" charset="0"/>
                              </a:rPr>
                              <m:t>−1</m:t>
                            </m:r>
                          </m:sup>
                        </m:sSup>
                      </m:e>
                    </m:d>
                  </m:oMath>
                </a14:m>
                <a:endParaRPr lang="en-US" altLang="zh-CN" sz="1209" dirty="0">
                  <a:latin typeface="Garamond" panose="02020404030301010803" pitchFamily="18" charset="0"/>
                  <a:ea typeface="SimSun" panose="02010600030101010101" pitchFamily="2" charset="-122"/>
                </a:endParaRPr>
              </a:p>
              <a:p>
                <a14:m>
                  <m:oMath xmlns:m="http://schemas.openxmlformats.org/officeDocument/2006/math">
                    <m:r>
                      <a:rPr lang="en-US" altLang="zh-CN" sz="1209" i="1">
                        <a:latin typeface="Cambria Math" panose="02040503050406030204" pitchFamily="18" charset="0"/>
                      </a:rPr>
                      <m:t>=100∗</m:t>
                    </m:r>
                    <m:d>
                      <m:dPr>
                        <m:ctrlPr>
                          <a:rPr lang="en-US" altLang="zh-CN" sz="1209" i="1">
                            <a:latin typeface="Cambria Math" panose="02040503050406030204" pitchFamily="18" charset="0"/>
                          </a:rPr>
                        </m:ctrlPr>
                      </m:dPr>
                      <m:e>
                        <m:f>
                          <m:fPr>
                            <m:ctrlPr>
                              <a:rPr lang="en-US" altLang="zh-CN" sz="1209" i="1">
                                <a:latin typeface="Cambria Math" panose="02040503050406030204" pitchFamily="18" charset="0"/>
                              </a:rPr>
                            </m:ctrlPr>
                          </m:fPr>
                          <m:num>
                            <m:r>
                              <a:rPr lang="en-US" altLang="zh-CN" sz="1209" i="1">
                                <a:latin typeface="Cambria Math" panose="02040503050406030204" pitchFamily="18" charset="0"/>
                              </a:rPr>
                              <m:t>1</m:t>
                            </m:r>
                          </m:num>
                          <m:den>
                            <m:r>
                              <a:rPr lang="en-US" altLang="zh-CN" sz="1209" i="1">
                                <a:latin typeface="Cambria Math" panose="02040503050406030204" pitchFamily="18" charset="0"/>
                              </a:rPr>
                              <m:t>1−0.8</m:t>
                            </m:r>
                          </m:den>
                        </m:f>
                      </m:e>
                    </m:d>
                  </m:oMath>
                </a14:m>
                <a:endParaRPr lang="en-US" altLang="zh-CN" sz="1209" dirty="0">
                  <a:latin typeface="Garamond" panose="02020404030301010803" pitchFamily="18" charset="0"/>
                  <a:ea typeface="SimSun" panose="02010600030101010101" pitchFamily="2" charset="-122"/>
                </a:endParaRPr>
              </a:p>
              <a:p>
                <a14:m>
                  <m:oMath xmlns:m="http://schemas.openxmlformats.org/officeDocument/2006/math">
                    <m:r>
                      <a:rPr lang="en-US" altLang="zh-CN" sz="1209" i="1">
                        <a:latin typeface="Cambria Math" panose="02040503050406030204" pitchFamily="18" charset="0"/>
                      </a:rPr>
                      <m:t>=500</m:t>
                    </m:r>
                  </m:oMath>
                </a14:m>
                <a:endParaRPr lang="en-US" altLang="zh-CN" sz="1209" dirty="0">
                  <a:latin typeface="Garamond" panose="02020404030301010803" pitchFamily="18" charset="0"/>
                  <a:ea typeface="SimSun" panose="02010600030101010101" pitchFamily="2" charset="-122"/>
                </a:endParaRPr>
              </a:p>
              <a:p>
                <a:r>
                  <a:rPr lang="zh-CN" altLang="en-US" sz="1209" dirty="0">
                    <a:latin typeface="Garamond" panose="02020404030301010803" pitchFamily="18" charset="0"/>
                    <a:ea typeface="SimSun" panose="02010600030101010101" pitchFamily="2" charset="-122"/>
                  </a:rPr>
                  <a:t>即乘数</a:t>
                </a:r>
                <a:r>
                  <a:rPr lang="en-US" altLang="zh-CN" sz="1209" dirty="0">
                    <a:latin typeface="Garamond" panose="02020404030301010803" pitchFamily="18" charset="0"/>
                    <a:ea typeface="SimSun" panose="02010600030101010101" pitchFamily="2" charset="-122"/>
                  </a:rPr>
                  <a:t>=</a:t>
                </a:r>
                <a14:m>
                  <m:oMath xmlns:m="http://schemas.openxmlformats.org/officeDocument/2006/math">
                    <m:f>
                      <m:fPr>
                        <m:ctrlPr>
                          <a:rPr lang="en-US" altLang="zh-CN" sz="1209" i="1">
                            <a:latin typeface="Cambria Math" panose="02040503050406030204" pitchFamily="18" charset="0"/>
                          </a:rPr>
                        </m:ctrlPr>
                      </m:fPr>
                      <m:num>
                        <m:r>
                          <a:rPr lang="en-US" altLang="zh-CN" sz="1209" i="1">
                            <a:latin typeface="Cambria Math" panose="02040503050406030204" pitchFamily="18" charset="0"/>
                          </a:rPr>
                          <m:t>1</m:t>
                        </m:r>
                      </m:num>
                      <m:den>
                        <m:r>
                          <a:rPr lang="en-US" altLang="zh-CN" sz="1209" i="1">
                            <a:latin typeface="Cambria Math" panose="02040503050406030204" pitchFamily="18" charset="0"/>
                          </a:rPr>
                          <m:t>1−</m:t>
                        </m:r>
                        <m:r>
                          <a:rPr lang="zh-CN" altLang="en-US" sz="1209" i="1">
                            <a:latin typeface="Cambria Math" panose="02040503050406030204" pitchFamily="18" charset="0"/>
                          </a:rPr>
                          <m:t>边际消费倾向</m:t>
                        </m:r>
                      </m:den>
                    </m:f>
                    <m:r>
                      <a:rPr lang="zh-CN" altLang="en-US" sz="1209" i="1">
                        <a:latin typeface="Cambria Math" panose="02040503050406030204" pitchFamily="18" charset="0"/>
                      </a:rPr>
                      <m:t>或</m:t>
                    </m:r>
                    <m:r>
                      <a:rPr lang="en-US" altLang="zh-CN" sz="1209" i="1">
                        <a:latin typeface="Cambria Math" panose="02040503050406030204" pitchFamily="18" charset="0"/>
                      </a:rPr>
                      <m:t>𝑘</m:t>
                    </m:r>
                    <m:r>
                      <a:rPr lang="en-US" altLang="zh-CN" sz="1209" i="1">
                        <a:latin typeface="Cambria Math" panose="02040503050406030204" pitchFamily="18" charset="0"/>
                      </a:rPr>
                      <m:t>=</m:t>
                    </m:r>
                    <m:f>
                      <m:fPr>
                        <m:ctrlPr>
                          <a:rPr lang="en-US" altLang="zh-CN" sz="1209" i="1">
                            <a:latin typeface="Cambria Math" panose="02040503050406030204" pitchFamily="18" charset="0"/>
                          </a:rPr>
                        </m:ctrlPr>
                      </m:fPr>
                      <m:num>
                        <m:r>
                          <a:rPr lang="en-US" altLang="zh-CN" sz="1209" i="1">
                            <a:latin typeface="Cambria Math" panose="02040503050406030204" pitchFamily="18" charset="0"/>
                          </a:rPr>
                          <m:t>1</m:t>
                        </m:r>
                      </m:num>
                      <m:den>
                        <m:r>
                          <a:rPr lang="en-US" altLang="zh-CN" sz="1209" i="1">
                            <a:latin typeface="Cambria Math" panose="02040503050406030204" pitchFamily="18" charset="0"/>
                          </a:rPr>
                          <m:t>1−</m:t>
                        </m:r>
                        <m:r>
                          <a:rPr lang="en-US" altLang="zh-CN" sz="1209" i="1">
                            <a:latin typeface="Cambria Math" panose="02040503050406030204" pitchFamily="18" charset="0"/>
                          </a:rPr>
                          <m:t>𝑀𝑃𝐶</m:t>
                        </m:r>
                      </m:den>
                    </m:f>
                    <m:r>
                      <a:rPr lang="en-US" altLang="zh-CN" sz="1209" i="1">
                        <a:latin typeface="Cambria Math" panose="02040503050406030204" pitchFamily="18" charset="0"/>
                      </a:rPr>
                      <m:t>=</m:t>
                    </m:r>
                    <m:f>
                      <m:fPr>
                        <m:ctrlPr>
                          <a:rPr lang="en-US" altLang="zh-CN" sz="1209" i="1">
                            <a:latin typeface="Cambria Math" panose="02040503050406030204" pitchFamily="18" charset="0"/>
                          </a:rPr>
                        </m:ctrlPr>
                      </m:fPr>
                      <m:num>
                        <m:r>
                          <a:rPr lang="en-US" altLang="zh-CN" sz="1209" i="1">
                            <a:latin typeface="Cambria Math" panose="02040503050406030204" pitchFamily="18" charset="0"/>
                          </a:rPr>
                          <m:t>1</m:t>
                        </m:r>
                      </m:num>
                      <m:den>
                        <m:r>
                          <a:rPr lang="en-US" altLang="zh-CN" sz="1209" i="1">
                            <a:latin typeface="Cambria Math" panose="02040503050406030204" pitchFamily="18" charset="0"/>
                          </a:rPr>
                          <m:t>𝑀𝑃𝑆</m:t>
                        </m:r>
                      </m:den>
                    </m:f>
                  </m:oMath>
                </a14:m>
                <a:endParaRPr lang="en-US" altLang="zh-CN" sz="1209" dirty="0">
                  <a:latin typeface="Garamond" panose="02020404030301010803" pitchFamily="18" charset="0"/>
                  <a:ea typeface="SimSun" panose="02010600030101010101" pitchFamily="2" charset="-122"/>
                </a:endParaRPr>
              </a:p>
              <a:p>
                <a:r>
                  <a:rPr lang="zh-CN" altLang="en-US" sz="1209" dirty="0">
                    <a:latin typeface="Garamond" panose="02020404030301010803" pitchFamily="18" charset="0"/>
                    <a:ea typeface="SimSun" panose="02010600030101010101" pitchFamily="2" charset="-122"/>
                  </a:rPr>
                  <a:t>用</a:t>
                </a:r>
                <a14:m>
                  <m:oMath xmlns:m="http://schemas.openxmlformats.org/officeDocument/2006/math">
                    <m:r>
                      <m:rPr>
                        <m:sty m:val="p"/>
                      </m:rPr>
                      <a:rPr lang="zh-CN" altLang="en-US" sz="1209">
                        <a:latin typeface="Cambria Math" panose="02040503050406030204" pitchFamily="18" charset="0"/>
                        <a:ea typeface="Cambria Math" panose="02040503050406030204" pitchFamily="18" charset="0"/>
                      </a:rPr>
                      <m:t>β</m:t>
                    </m:r>
                  </m:oMath>
                </a14:m>
                <a:r>
                  <a:rPr lang="zh-CN" altLang="en-US" sz="1209" dirty="0">
                    <a:latin typeface="Garamond" panose="02020404030301010803" pitchFamily="18" charset="0"/>
                    <a:ea typeface="SimSun" panose="02010600030101010101" pitchFamily="2" charset="-122"/>
                  </a:rPr>
                  <a:t>表示可支配收入的边际消费倾向，则投资乘数</a:t>
                </a:r>
                <a:r>
                  <a:rPr lang="en-US" altLang="zh-CN" sz="1209" dirty="0">
                    <a:latin typeface="Garamond" panose="02020404030301010803" pitchFamily="18" charset="0"/>
                    <a:ea typeface="SimSun" panose="02010600030101010101" pitchFamily="2" charset="-122"/>
                  </a:rPr>
                  <a:t>:</a:t>
                </a:r>
              </a:p>
              <a:p>
                <a14:m>
                  <m:oMath xmlns:m="http://schemas.openxmlformats.org/officeDocument/2006/math">
                    <m:sSub>
                      <m:sSubPr>
                        <m:ctrlPr>
                          <a:rPr lang="en-US" altLang="zh-CN" sz="1209" i="1">
                            <a:latin typeface="Cambria Math" panose="02040503050406030204" pitchFamily="18" charset="0"/>
                            <a:ea typeface="楷体" panose="02010609060101010101" pitchFamily="49" charset="-122"/>
                          </a:rPr>
                        </m:ctrlPr>
                      </m:sSubPr>
                      <m:e>
                        <m:r>
                          <a:rPr lang="en-US" altLang="zh-CN" sz="1209" i="1">
                            <a:latin typeface="Cambria Math" panose="02040503050406030204" pitchFamily="18" charset="0"/>
                            <a:ea typeface="楷体" panose="02010609060101010101" pitchFamily="49" charset="-122"/>
                          </a:rPr>
                          <m:t>𝑘</m:t>
                        </m:r>
                      </m:e>
                      <m:sub>
                        <m:r>
                          <a:rPr lang="en-US" altLang="zh-CN" sz="1209" i="1">
                            <a:latin typeface="Cambria Math" panose="02040503050406030204" pitchFamily="18" charset="0"/>
                            <a:ea typeface="楷体" panose="02010609060101010101" pitchFamily="49" charset="-122"/>
                          </a:rPr>
                          <m:t>𝑖</m:t>
                        </m:r>
                      </m:sub>
                    </m:sSub>
                    <m:r>
                      <a:rPr lang="en-US" altLang="zh-CN" sz="1209" i="1">
                        <a:latin typeface="Cambria Math" panose="02040503050406030204" pitchFamily="18" charset="0"/>
                        <a:ea typeface="楷体" panose="02010609060101010101" pitchFamily="49" charset="-122"/>
                      </a:rPr>
                      <m:t>=</m:t>
                    </m:r>
                    <m:f>
                      <m:fPr>
                        <m:ctrlPr>
                          <a:rPr lang="en-US" altLang="zh-CN" sz="1209" i="1">
                            <a:latin typeface="Cambria Math" panose="02040503050406030204" pitchFamily="18" charset="0"/>
                            <a:ea typeface="楷体" panose="02010609060101010101" pitchFamily="49" charset="-122"/>
                          </a:rPr>
                        </m:ctrlPr>
                      </m:fPr>
                      <m:num>
                        <m:r>
                          <a:rPr lang="en-US" altLang="zh-CN" sz="1209" i="1">
                            <a:latin typeface="Cambria Math" panose="02040503050406030204" pitchFamily="18" charset="0"/>
                            <a:ea typeface="楷体" panose="02010609060101010101" pitchFamily="49" charset="-122"/>
                          </a:rPr>
                          <m:t>1</m:t>
                        </m:r>
                      </m:num>
                      <m:den>
                        <m:r>
                          <a:rPr lang="en-US" altLang="zh-CN" sz="1209" i="1">
                            <a:latin typeface="Cambria Math" panose="02040503050406030204" pitchFamily="18" charset="0"/>
                            <a:ea typeface="楷体" panose="02010609060101010101" pitchFamily="49" charset="-122"/>
                          </a:rPr>
                          <m:t>1−</m:t>
                        </m:r>
                        <m:r>
                          <m:rPr>
                            <m:sty m:val="p"/>
                          </m:rPr>
                          <a:rPr lang="zh-CN" altLang="en-US" sz="1209">
                            <a:latin typeface="Cambria Math" panose="02040503050406030204" pitchFamily="18" charset="0"/>
                            <a:ea typeface="Cambria Math" panose="02040503050406030204" pitchFamily="18" charset="0"/>
                          </a:rPr>
                          <m:t>β</m:t>
                        </m:r>
                      </m:den>
                    </m:f>
                  </m:oMath>
                </a14:m>
                <a:endParaRPr lang="en-US" altLang="zh-CN" sz="1209" dirty="0">
                  <a:latin typeface="Garamond" panose="02020404030301010803" pitchFamily="18" charset="0"/>
                  <a:ea typeface="SimSun" panose="02010600030101010101" pitchFamily="2" charset="-122"/>
                </a:endParaRPr>
              </a:p>
              <a:p>
                <a:endParaRPr lang="en-US" altLang="zh-CN" sz="1209" dirty="0">
                  <a:latin typeface="Garamond" panose="02020404030301010803" pitchFamily="18" charset="0"/>
                  <a:ea typeface="SimSun"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604" t="-1463" b="-4878"/>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77</a:t>
            </a:fld>
            <a:endParaRPr lang="zh-CN" altLang="en-US"/>
          </a:p>
        </p:txBody>
      </p:sp>
      <p:sp>
        <p:nvSpPr>
          <p:cNvPr id="7" name="灯片编号占位符 2">
            <a:extLst>
              <a:ext uri="{FF2B5EF4-FFF2-40B4-BE49-F238E27FC236}">
                <a16:creationId xmlns:a16="http://schemas.microsoft.com/office/drawing/2014/main" id="{DB2A5B42-C5E4-CD87-14D3-01CF7D3A83B9}"/>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77</a:t>
            </a:fld>
            <a:endParaRPr lang="zh-CN" altLang="zh-CN" sz="856" dirty="0">
              <a:solidFill>
                <a:srgbClr val="777777"/>
              </a:solidFill>
              <a:ea typeface="宋体" panose="02010600030101010101" pitchFamily="2" charset="-122"/>
            </a:endParaRPr>
          </a:p>
        </p:txBody>
      </p:sp>
      <p:sp>
        <p:nvSpPr>
          <p:cNvPr id="8" name="页脚占位符 1">
            <a:extLst>
              <a:ext uri="{FF2B5EF4-FFF2-40B4-BE49-F238E27FC236}">
                <a16:creationId xmlns:a16="http://schemas.microsoft.com/office/drawing/2014/main" id="{970155F3-911B-3349-DAFA-9599389CBEF2}"/>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sp>
        <p:nvSpPr>
          <p:cNvPr id="9" name="标题 8">
            <a:extLst>
              <a:ext uri="{FF2B5EF4-FFF2-40B4-BE49-F238E27FC236}">
                <a16:creationId xmlns:a16="http://schemas.microsoft.com/office/drawing/2014/main" id="{1C423FAF-110A-D95A-8618-CB9BAE5DA5AB}"/>
              </a:ext>
            </a:extLst>
          </p:cNvPr>
          <p:cNvSpPr>
            <a:spLocks noGrp="1"/>
          </p:cNvSpPr>
          <p:nvPr>
            <p:ph type="title"/>
          </p:nvPr>
        </p:nvSpPr>
        <p:spPr/>
        <p:txBody>
          <a:bodyPr/>
          <a:lstStyle/>
          <a:p>
            <a:r>
              <a:rPr kumimoji="1" lang="zh-CN" altLang="en-US" dirty="0"/>
              <a:t>公式推导</a:t>
            </a:r>
          </a:p>
        </p:txBody>
      </p:sp>
    </p:spTree>
    <p:extLst>
      <p:ext uri="{BB962C8B-B14F-4D97-AF65-F5344CB8AC3E}">
        <p14:creationId xmlns:p14="http://schemas.microsoft.com/office/powerpoint/2010/main" val="271828921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8" name="Picture 4" descr="xf131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1101" y="622792"/>
            <a:ext cx="2900504" cy="2005184"/>
          </a:xfrm>
          <a:prstGeom prst="rect">
            <a:avLst/>
          </a:prstGeom>
          <a:noFill/>
          <a:extLst>
            <a:ext uri="{909E8E84-426E-40DD-AFC4-6F175D3DCCD1}">
              <a14:hiddenFill xmlns:a14="http://schemas.microsoft.com/office/drawing/2010/main">
                <a:solidFill>
                  <a:srgbClr val="FFFFFF"/>
                </a:solidFill>
              </a14:hiddenFill>
            </a:ext>
          </a:extLst>
        </p:spPr>
      </p:pic>
      <p:sp>
        <p:nvSpPr>
          <p:cNvPr id="47109" name="Text Box 5"/>
          <p:cNvSpPr txBox="1">
            <a:spLocks noChangeArrowheads="1"/>
          </p:cNvSpPr>
          <p:nvPr/>
        </p:nvSpPr>
        <p:spPr bwMode="auto">
          <a:xfrm>
            <a:off x="593682" y="2640515"/>
            <a:ext cx="3155342" cy="278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1209" dirty="0"/>
              <a:t>凯恩斯交叉</a:t>
            </a:r>
          </a:p>
        </p:txBody>
      </p:sp>
      <p:sp>
        <p:nvSpPr>
          <p:cNvPr id="5" name="灯片编号占位符 4"/>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78</a:t>
            </a:fld>
            <a:endParaRPr lang="zh-CN" altLang="en-US"/>
          </a:p>
        </p:txBody>
      </p:sp>
      <p:sp>
        <p:nvSpPr>
          <p:cNvPr id="6" name="标题 5">
            <a:extLst>
              <a:ext uri="{FF2B5EF4-FFF2-40B4-BE49-F238E27FC236}">
                <a16:creationId xmlns:a16="http://schemas.microsoft.com/office/drawing/2014/main" id="{E89CA3BF-9773-8033-5EF5-FEE7B978A8E8}"/>
              </a:ext>
            </a:extLst>
          </p:cNvPr>
          <p:cNvSpPr>
            <a:spLocks noGrp="1"/>
          </p:cNvSpPr>
          <p:nvPr>
            <p:ph type="title"/>
          </p:nvPr>
        </p:nvSpPr>
        <p:spPr/>
        <p:txBody>
          <a:bodyPr/>
          <a:lstStyle/>
          <a:p>
            <a:r>
              <a:rPr kumimoji="1" lang="zh-CN" altLang="en-US" dirty="0"/>
              <a:t>乘数效应</a:t>
            </a:r>
          </a:p>
        </p:txBody>
      </p:sp>
      <p:sp>
        <p:nvSpPr>
          <p:cNvPr id="7" name="灯片编号占位符 2">
            <a:extLst>
              <a:ext uri="{FF2B5EF4-FFF2-40B4-BE49-F238E27FC236}">
                <a16:creationId xmlns:a16="http://schemas.microsoft.com/office/drawing/2014/main" id="{B04866B2-674D-6DC9-6513-6FF28076C9D5}"/>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78</a:t>
            </a:fld>
            <a:endParaRPr lang="zh-CN" altLang="zh-CN" sz="856" dirty="0">
              <a:solidFill>
                <a:srgbClr val="777777"/>
              </a:solidFill>
              <a:ea typeface="宋体" panose="02010600030101010101" pitchFamily="2" charset="-122"/>
            </a:endParaRPr>
          </a:p>
        </p:txBody>
      </p:sp>
      <p:sp>
        <p:nvSpPr>
          <p:cNvPr id="8" name="页脚占位符 1">
            <a:extLst>
              <a:ext uri="{FF2B5EF4-FFF2-40B4-BE49-F238E27FC236}">
                <a16:creationId xmlns:a16="http://schemas.microsoft.com/office/drawing/2014/main" id="{49D83DBB-877E-0160-C3AC-CB7DA75AAA50}"/>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17943683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79</a:t>
            </a:fld>
            <a:endParaRPr lang="zh-CN" altLang="en-US"/>
          </a:p>
        </p:txBody>
      </p:sp>
      <p:sp>
        <p:nvSpPr>
          <p:cNvPr id="8" name="内容占位符 2"/>
          <p:cNvSpPr>
            <a:spLocks noGrp="1"/>
          </p:cNvSpPr>
          <p:nvPr>
            <p:ph idx="1"/>
          </p:nvPr>
        </p:nvSpPr>
        <p:spPr>
          <a:xfrm>
            <a:off x="222559" y="578247"/>
            <a:ext cx="3972563" cy="2191787"/>
          </a:xfrm>
        </p:spPr>
        <p:txBody>
          <a:bodyPr/>
          <a:lstStyle/>
          <a:p>
            <a:r>
              <a:rPr lang="zh-CN" altLang="en-US" sz="1209" dirty="0">
                <a:latin typeface="Garamond" panose="02020404030301010803" pitchFamily="18" charset="0"/>
                <a:ea typeface="SimSun" panose="02010600030101010101" pitchFamily="2" charset="-122"/>
              </a:rPr>
              <a:t>两部门经济的宏观均衡条件：</a:t>
            </a:r>
            <a:r>
              <a:rPr lang="en-US" altLang="zh-CN" sz="1209" dirty="0">
                <a:latin typeface="Garamond" panose="02020404030301010803" pitchFamily="18" charset="0"/>
                <a:ea typeface="SimSun" panose="02010600030101010101" pitchFamily="2" charset="-122"/>
              </a:rPr>
              <a:t> </a:t>
            </a:r>
            <a:r>
              <a:rPr lang="en-US" altLang="zh-CN" sz="1209" dirty="0">
                <a:latin typeface="Garamond" panose="02020404030301010803" pitchFamily="18" charset="0"/>
                <a:ea typeface="SimSun" panose="02010600030101010101" pitchFamily="2" charset="-122"/>
                <a:cs typeface="Times New Roman" panose="02020603050405020304" pitchFamily="18" charset="0"/>
              </a:rPr>
              <a:t>I =S</a:t>
            </a:r>
          </a:p>
          <a:p>
            <a:endParaRPr lang="en-US" altLang="zh-CN" sz="1209" dirty="0">
              <a:latin typeface="Garamond" panose="02020404030301010803" pitchFamily="18" charset="0"/>
              <a:ea typeface="SimSun" panose="02010600030101010101" pitchFamily="2" charset="-122"/>
            </a:endParaRPr>
          </a:p>
          <a:p>
            <a:endParaRPr lang="en-US" altLang="zh-CN" sz="1209" dirty="0">
              <a:latin typeface="Garamond" panose="02020404030301010803" pitchFamily="18" charset="0"/>
              <a:ea typeface="SimSun" panose="02010600030101010101" pitchFamily="2" charset="-122"/>
              <a:cs typeface="Times New Roman" panose="02020603050405020304" pitchFamily="18" charset="0"/>
            </a:endParaRPr>
          </a:p>
        </p:txBody>
      </p:sp>
      <p:sp>
        <p:nvSpPr>
          <p:cNvPr id="5" name="标题 4">
            <a:extLst>
              <a:ext uri="{FF2B5EF4-FFF2-40B4-BE49-F238E27FC236}">
                <a16:creationId xmlns:a16="http://schemas.microsoft.com/office/drawing/2014/main" id="{BC167B5F-9649-0B1E-A3AF-F8AA44FDE01E}"/>
              </a:ext>
            </a:extLst>
          </p:cNvPr>
          <p:cNvSpPr>
            <a:spLocks noGrp="1"/>
          </p:cNvSpPr>
          <p:nvPr>
            <p:ph type="title"/>
          </p:nvPr>
        </p:nvSpPr>
        <p:spPr/>
        <p:txBody>
          <a:bodyPr/>
          <a:lstStyle/>
          <a:p>
            <a:r>
              <a:rPr kumimoji="1" lang="zh-CN" altLang="en-US" dirty="0"/>
              <a:t>两部门经济的</a:t>
            </a:r>
            <a:r>
              <a:rPr kumimoji="1" lang="en-US" altLang="zh-CN" dirty="0"/>
              <a:t>AE-NI</a:t>
            </a:r>
            <a:r>
              <a:rPr kumimoji="1" lang="zh-CN" altLang="en-US" dirty="0"/>
              <a:t>模型</a:t>
            </a:r>
          </a:p>
        </p:txBody>
      </p:sp>
      <p:sp>
        <p:nvSpPr>
          <p:cNvPr id="6" name="灯片编号占位符 2">
            <a:extLst>
              <a:ext uri="{FF2B5EF4-FFF2-40B4-BE49-F238E27FC236}">
                <a16:creationId xmlns:a16="http://schemas.microsoft.com/office/drawing/2014/main" id="{D64A61C2-6D3F-5C78-7741-DE106DF33609}"/>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79</a:t>
            </a:fld>
            <a:endParaRPr lang="zh-CN" altLang="zh-CN" sz="856" dirty="0">
              <a:solidFill>
                <a:srgbClr val="777777"/>
              </a:solidFill>
              <a:ea typeface="宋体" panose="02010600030101010101" pitchFamily="2" charset="-122"/>
            </a:endParaRPr>
          </a:p>
        </p:txBody>
      </p:sp>
      <p:sp>
        <p:nvSpPr>
          <p:cNvPr id="7" name="页脚占位符 1">
            <a:extLst>
              <a:ext uri="{FF2B5EF4-FFF2-40B4-BE49-F238E27FC236}">
                <a16:creationId xmlns:a16="http://schemas.microsoft.com/office/drawing/2014/main" id="{B3691186-F494-073A-0EC0-1DF886FA6F57}"/>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82779776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80</a:t>
            </a:fld>
            <a:endParaRPr lang="zh-CN" altLang="en-US"/>
          </a:p>
        </p:txBody>
      </p:sp>
      <p:sp>
        <p:nvSpPr>
          <p:cNvPr id="8" name="内容占位符 2"/>
          <p:cNvSpPr>
            <a:spLocks noGrp="1"/>
          </p:cNvSpPr>
          <p:nvPr>
            <p:ph idx="1"/>
          </p:nvPr>
        </p:nvSpPr>
        <p:spPr>
          <a:xfrm>
            <a:off x="222559" y="578247"/>
            <a:ext cx="3972563" cy="2191787"/>
          </a:xfrm>
        </p:spPr>
        <p:txBody>
          <a:bodyPr/>
          <a:lstStyle/>
          <a:p>
            <a:r>
              <a:rPr lang="zh-CN" altLang="en-US" b="1" dirty="0">
                <a:latin typeface="Garamond" panose="02020404030301010803" pitchFamily="18" charset="0"/>
                <a:ea typeface="SimSun" panose="02010600030101010101" pitchFamily="2" charset="-122"/>
              </a:rPr>
              <a:t>加入政府的三部门经济：</a:t>
            </a:r>
            <a:endParaRPr lang="en-US" altLang="zh-CN" b="1" dirty="0">
              <a:latin typeface="Garamond" panose="02020404030301010803" pitchFamily="18" charset="0"/>
              <a:ea typeface="SimSun" panose="02010600030101010101" pitchFamily="2" charset="-122"/>
            </a:endParaRPr>
          </a:p>
          <a:p>
            <a:r>
              <a:rPr lang="zh-CN" altLang="en-US" sz="1209" dirty="0">
                <a:latin typeface="Garamond" panose="02020404030301010803" pitchFamily="18" charset="0"/>
                <a:ea typeface="SimSun" panose="02010600030101010101" pitchFamily="2" charset="-122"/>
              </a:rPr>
              <a:t>从总支出角度看，国民收入</a:t>
            </a:r>
            <a:r>
              <a:rPr lang="en-US" altLang="zh-CN" sz="1209" dirty="0">
                <a:latin typeface="Garamond" panose="02020404030301010803" pitchFamily="18" charset="0"/>
                <a:ea typeface="SimSun" panose="02010600030101010101" pitchFamily="2" charset="-122"/>
              </a:rPr>
              <a:t>=</a:t>
            </a:r>
            <a:r>
              <a:rPr lang="zh-CN" altLang="en-US" sz="1209" dirty="0">
                <a:latin typeface="Garamond" panose="02020404030301010803" pitchFamily="18" charset="0"/>
                <a:ea typeface="SimSun" panose="02010600030101010101" pitchFamily="2" charset="-122"/>
              </a:rPr>
              <a:t>消费</a:t>
            </a:r>
            <a:r>
              <a:rPr lang="en-US" altLang="zh-CN" sz="1209" dirty="0">
                <a:latin typeface="Garamond" panose="02020404030301010803" pitchFamily="18" charset="0"/>
                <a:ea typeface="SimSun" panose="02010600030101010101" pitchFamily="2" charset="-122"/>
              </a:rPr>
              <a:t>+</a:t>
            </a:r>
            <a:r>
              <a:rPr lang="zh-CN" altLang="en-US" sz="1209" dirty="0">
                <a:latin typeface="Garamond" panose="02020404030301010803" pitchFamily="18" charset="0"/>
                <a:ea typeface="SimSun" panose="02010600030101010101" pitchFamily="2" charset="-122"/>
              </a:rPr>
              <a:t>投资</a:t>
            </a:r>
            <a:r>
              <a:rPr lang="en-US" altLang="zh-CN" sz="1209" dirty="0">
                <a:latin typeface="Garamond" panose="02020404030301010803" pitchFamily="18" charset="0"/>
                <a:ea typeface="SimSun" panose="02010600030101010101" pitchFamily="2" charset="-122"/>
              </a:rPr>
              <a:t>+</a:t>
            </a:r>
            <a:r>
              <a:rPr lang="zh-CN" altLang="en-US" sz="1209" dirty="0">
                <a:latin typeface="Garamond" panose="02020404030301010803" pitchFamily="18" charset="0"/>
                <a:ea typeface="SimSun" panose="02010600030101010101" pitchFamily="2" charset="-122"/>
              </a:rPr>
              <a:t>政府购买</a:t>
            </a:r>
            <a:endParaRPr lang="en-US" altLang="zh-CN" sz="1209" dirty="0">
              <a:latin typeface="Garamond" panose="02020404030301010803" pitchFamily="18" charset="0"/>
              <a:ea typeface="SimSun" panose="02010600030101010101" pitchFamily="2" charset="-122"/>
            </a:endParaRPr>
          </a:p>
          <a:p>
            <a:r>
              <a:rPr lang="en-US" altLang="zh-CN" sz="1209" dirty="0">
                <a:latin typeface="Garamond" panose="02020404030301010803" pitchFamily="18" charset="0"/>
                <a:ea typeface="SimSun" panose="02010600030101010101" pitchFamily="2" charset="-122"/>
                <a:cs typeface="Times New Roman" panose="02020603050405020304" pitchFamily="18" charset="0"/>
              </a:rPr>
              <a:t>Y=C+I+G</a:t>
            </a:r>
          </a:p>
          <a:p>
            <a:r>
              <a:rPr lang="zh-CN" altLang="en-US" sz="1209" dirty="0">
                <a:latin typeface="Garamond" panose="02020404030301010803" pitchFamily="18" charset="0"/>
                <a:ea typeface="SimSun" panose="02010600030101010101" pitchFamily="2" charset="-122"/>
              </a:rPr>
              <a:t>从总收入角度看，国民收入</a:t>
            </a:r>
            <a:r>
              <a:rPr lang="en-US" altLang="zh-CN" sz="1209" dirty="0">
                <a:latin typeface="Garamond" panose="02020404030301010803" pitchFamily="18" charset="0"/>
                <a:ea typeface="SimSun" panose="02010600030101010101" pitchFamily="2" charset="-122"/>
              </a:rPr>
              <a:t>=</a:t>
            </a:r>
            <a:r>
              <a:rPr lang="zh-CN" altLang="en-US" sz="1209" dirty="0">
                <a:latin typeface="Garamond" panose="02020404030301010803" pitchFamily="18" charset="0"/>
                <a:ea typeface="SimSun" panose="02010600030101010101" pitchFamily="2" charset="-122"/>
              </a:rPr>
              <a:t>消费</a:t>
            </a:r>
            <a:r>
              <a:rPr lang="en-US" altLang="zh-CN" sz="1209" dirty="0">
                <a:latin typeface="Garamond" panose="02020404030301010803" pitchFamily="18" charset="0"/>
                <a:ea typeface="SimSun" panose="02010600030101010101" pitchFamily="2" charset="-122"/>
              </a:rPr>
              <a:t>+</a:t>
            </a:r>
            <a:r>
              <a:rPr lang="zh-CN" altLang="en-US" sz="1209" dirty="0">
                <a:latin typeface="Garamond" panose="02020404030301010803" pitchFamily="18" charset="0"/>
                <a:ea typeface="SimSun" panose="02010600030101010101" pitchFamily="2" charset="-122"/>
              </a:rPr>
              <a:t>储蓄</a:t>
            </a:r>
            <a:r>
              <a:rPr lang="en-US" altLang="zh-CN" sz="1209" dirty="0">
                <a:latin typeface="Garamond" panose="02020404030301010803" pitchFamily="18" charset="0"/>
                <a:ea typeface="SimSun" panose="02010600030101010101" pitchFamily="2" charset="-122"/>
              </a:rPr>
              <a:t>+</a:t>
            </a:r>
            <a:r>
              <a:rPr lang="zh-CN" altLang="en-US" sz="1209" dirty="0">
                <a:latin typeface="Garamond" panose="02020404030301010803" pitchFamily="18" charset="0"/>
                <a:ea typeface="SimSun" panose="02010600030101010101" pitchFamily="2" charset="-122"/>
              </a:rPr>
              <a:t>税收</a:t>
            </a:r>
            <a:endParaRPr lang="en-US" altLang="zh-CN" sz="1209" dirty="0">
              <a:latin typeface="Garamond" panose="02020404030301010803" pitchFamily="18" charset="0"/>
              <a:ea typeface="SimSun" panose="02010600030101010101" pitchFamily="2" charset="-122"/>
            </a:endParaRPr>
          </a:p>
          <a:p>
            <a:r>
              <a:rPr lang="en-US" altLang="zh-CN" sz="1209" dirty="0">
                <a:latin typeface="Garamond" panose="02020404030301010803" pitchFamily="18" charset="0"/>
                <a:ea typeface="SimSun" panose="02010600030101010101" pitchFamily="2" charset="-122"/>
                <a:cs typeface="Times New Roman" panose="02020603050405020304" pitchFamily="18" charset="0"/>
              </a:rPr>
              <a:t>Y=C+S+T</a:t>
            </a:r>
          </a:p>
          <a:p>
            <a:r>
              <a:rPr lang="zh-CN" altLang="en-US" sz="1209" dirty="0">
                <a:latin typeface="Garamond" panose="02020404030301010803" pitchFamily="18" charset="0"/>
                <a:ea typeface="SimSun" panose="02010600030101010101" pitchFamily="2" charset="-122"/>
              </a:rPr>
              <a:t>宏观均衡条件：</a:t>
            </a:r>
            <a:r>
              <a:rPr lang="en-US" altLang="zh-CN" sz="1209" dirty="0">
                <a:latin typeface="Garamond" panose="02020404030301010803" pitchFamily="18" charset="0"/>
                <a:ea typeface="SimSun" panose="02010600030101010101" pitchFamily="2" charset="-122"/>
              </a:rPr>
              <a:t> </a:t>
            </a:r>
            <a:r>
              <a:rPr lang="en-US" altLang="zh-CN" sz="1209" dirty="0">
                <a:latin typeface="Garamond" panose="02020404030301010803" pitchFamily="18" charset="0"/>
                <a:ea typeface="SimSun" panose="02010600030101010101" pitchFamily="2" charset="-122"/>
                <a:cs typeface="Times New Roman" panose="02020603050405020304" pitchFamily="18" charset="0"/>
              </a:rPr>
              <a:t>C+I =C+S</a:t>
            </a:r>
          </a:p>
          <a:p>
            <a:r>
              <a:rPr lang="zh-CN" altLang="en-US" b="1" dirty="0">
                <a:latin typeface="Garamond" panose="02020404030301010803" pitchFamily="18" charset="0"/>
                <a:ea typeface="SimSun" panose="02010600030101010101" pitchFamily="2" charset="-122"/>
              </a:rPr>
              <a:t>考虑税收的情况：</a:t>
            </a:r>
            <a:endParaRPr lang="en-US" altLang="zh-CN" b="1" dirty="0">
              <a:latin typeface="Garamond" panose="02020404030301010803" pitchFamily="18" charset="0"/>
              <a:ea typeface="SimSun" panose="02010600030101010101" pitchFamily="2" charset="-122"/>
            </a:endParaRPr>
          </a:p>
          <a:p>
            <a:r>
              <a:rPr lang="en-US" altLang="zh-CN" sz="1209" b="1" dirty="0">
                <a:latin typeface="Garamond" panose="02020404030301010803" pitchFamily="18" charset="0"/>
                <a:ea typeface="SimSun" panose="02010600030101010101" pitchFamily="2" charset="-122"/>
              </a:rPr>
              <a:t>1</a:t>
            </a:r>
            <a:r>
              <a:rPr lang="zh-CN" altLang="en-US" sz="1209" b="1" dirty="0">
                <a:latin typeface="Garamond" panose="02020404030301010803" pitchFamily="18" charset="0"/>
                <a:ea typeface="SimSun" panose="02010600030101010101" pitchFamily="2" charset="-122"/>
              </a:rPr>
              <a:t>）定量税</a:t>
            </a:r>
            <a:r>
              <a:rPr lang="zh-CN" altLang="en-US" sz="1209" dirty="0">
                <a:latin typeface="Garamond" panose="02020404030301010803" pitchFamily="18" charset="0"/>
                <a:ea typeface="SimSun" panose="02010600030101010101" pitchFamily="2" charset="-122"/>
              </a:rPr>
              <a:t>，即税收量不随收入变动；</a:t>
            </a:r>
            <a:endParaRPr lang="en-US" altLang="zh-CN" sz="1209" dirty="0">
              <a:latin typeface="Garamond" panose="02020404030301010803" pitchFamily="18" charset="0"/>
              <a:ea typeface="SimSun" panose="02010600030101010101" pitchFamily="2" charset="-122"/>
            </a:endParaRPr>
          </a:p>
          <a:p>
            <a:r>
              <a:rPr lang="en-US" altLang="zh-CN" sz="1209" b="1" dirty="0">
                <a:latin typeface="Garamond" panose="02020404030301010803" pitchFamily="18" charset="0"/>
                <a:ea typeface="SimSun" panose="02010600030101010101" pitchFamily="2" charset="-122"/>
              </a:rPr>
              <a:t>2</a:t>
            </a:r>
            <a:r>
              <a:rPr lang="zh-CN" altLang="en-US" sz="1209" b="1" dirty="0">
                <a:latin typeface="Garamond" panose="02020404030301010803" pitchFamily="18" charset="0"/>
                <a:ea typeface="SimSun" panose="02010600030101010101" pitchFamily="2" charset="-122"/>
              </a:rPr>
              <a:t>）比例所得税</a:t>
            </a:r>
            <a:r>
              <a:rPr lang="zh-CN" altLang="en-US" sz="1209" dirty="0">
                <a:latin typeface="Garamond" panose="02020404030301010803" pitchFamily="18" charset="0"/>
                <a:ea typeface="SimSun" panose="02010600030101010101" pitchFamily="2" charset="-122"/>
              </a:rPr>
              <a:t>，即随收入增量增加而增加税收量。</a:t>
            </a:r>
            <a:endParaRPr lang="en-US" altLang="zh-CN" sz="1209" dirty="0">
              <a:latin typeface="Garamond" panose="02020404030301010803" pitchFamily="18" charset="0"/>
              <a:ea typeface="SimSun" panose="02010600030101010101" pitchFamily="2" charset="-122"/>
            </a:endParaRPr>
          </a:p>
          <a:p>
            <a:endParaRPr lang="en-US" altLang="zh-CN" sz="1209" dirty="0">
              <a:latin typeface="Garamond" panose="02020404030301010803" pitchFamily="18" charset="0"/>
              <a:ea typeface="SimSun" panose="02010600030101010101" pitchFamily="2" charset="-122"/>
              <a:cs typeface="Times New Roman" panose="02020603050405020304" pitchFamily="18" charset="0"/>
            </a:endParaRPr>
          </a:p>
        </p:txBody>
      </p:sp>
      <p:sp>
        <p:nvSpPr>
          <p:cNvPr id="5" name="标题 4">
            <a:extLst>
              <a:ext uri="{FF2B5EF4-FFF2-40B4-BE49-F238E27FC236}">
                <a16:creationId xmlns:a16="http://schemas.microsoft.com/office/drawing/2014/main" id="{BC167B5F-9649-0B1E-A3AF-F8AA44FDE01E}"/>
              </a:ext>
            </a:extLst>
          </p:cNvPr>
          <p:cNvSpPr>
            <a:spLocks noGrp="1"/>
          </p:cNvSpPr>
          <p:nvPr>
            <p:ph type="title"/>
          </p:nvPr>
        </p:nvSpPr>
        <p:spPr/>
        <p:txBody>
          <a:bodyPr/>
          <a:lstStyle/>
          <a:p>
            <a:r>
              <a:rPr kumimoji="1" lang="zh-CN" altLang="en-US" dirty="0"/>
              <a:t>三部门经济的</a:t>
            </a:r>
            <a:r>
              <a:rPr kumimoji="1" lang="en-US" altLang="zh-CN" dirty="0"/>
              <a:t>AE-NI</a:t>
            </a:r>
            <a:r>
              <a:rPr kumimoji="1" lang="zh-CN" altLang="en-US" dirty="0"/>
              <a:t>模型</a:t>
            </a:r>
          </a:p>
        </p:txBody>
      </p:sp>
      <p:sp>
        <p:nvSpPr>
          <p:cNvPr id="6" name="灯片编号占位符 2">
            <a:extLst>
              <a:ext uri="{FF2B5EF4-FFF2-40B4-BE49-F238E27FC236}">
                <a16:creationId xmlns:a16="http://schemas.microsoft.com/office/drawing/2014/main" id="{D64A61C2-6D3F-5C78-7741-DE106DF33609}"/>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80</a:t>
            </a:fld>
            <a:endParaRPr lang="zh-CN" altLang="zh-CN" sz="856" dirty="0">
              <a:solidFill>
                <a:srgbClr val="777777"/>
              </a:solidFill>
              <a:ea typeface="宋体" panose="02010600030101010101" pitchFamily="2" charset="-122"/>
            </a:endParaRPr>
          </a:p>
        </p:txBody>
      </p:sp>
      <p:sp>
        <p:nvSpPr>
          <p:cNvPr id="7" name="页脚占位符 1">
            <a:extLst>
              <a:ext uri="{FF2B5EF4-FFF2-40B4-BE49-F238E27FC236}">
                <a16:creationId xmlns:a16="http://schemas.microsoft.com/office/drawing/2014/main" id="{B3691186-F494-073A-0EC0-1DF886FA6F57}"/>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310941902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2" name="Picture 4" descr="xf131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5223" y="40886"/>
            <a:ext cx="3436742" cy="1279474"/>
          </a:xfrm>
          <a:prstGeom prst="rect">
            <a:avLst/>
          </a:prstGeom>
          <a:noFill/>
          <a:extLst>
            <a:ext uri="{909E8E84-426E-40DD-AFC4-6F175D3DCCD1}">
              <a14:hiddenFill xmlns:a14="http://schemas.microsoft.com/office/drawing/2010/main">
                <a:solidFill>
                  <a:srgbClr val="FFFFFF"/>
                </a:solidFill>
              </a14:hiddenFill>
            </a:ext>
          </a:extLst>
        </p:spPr>
      </p:pic>
      <p:sp>
        <p:nvSpPr>
          <p:cNvPr id="4" name="灯片编号占位符 3"/>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81</a:t>
            </a:fld>
            <a:endParaRPr lang="zh-CN" altLang="en-US"/>
          </a:p>
        </p:txBody>
      </p:sp>
      <p:sp>
        <p:nvSpPr>
          <p:cNvPr id="7" name="灯片编号占位符 2">
            <a:extLst>
              <a:ext uri="{FF2B5EF4-FFF2-40B4-BE49-F238E27FC236}">
                <a16:creationId xmlns:a16="http://schemas.microsoft.com/office/drawing/2014/main" id="{104B1A72-44C8-10C2-A02F-9498E61302D9}"/>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81</a:t>
            </a:fld>
            <a:endParaRPr lang="zh-CN" altLang="zh-CN" sz="856" dirty="0">
              <a:solidFill>
                <a:srgbClr val="777777"/>
              </a:solidFill>
              <a:ea typeface="宋体" panose="02010600030101010101" pitchFamily="2" charset="-122"/>
            </a:endParaRPr>
          </a:p>
        </p:txBody>
      </p:sp>
      <p:sp>
        <p:nvSpPr>
          <p:cNvPr id="8" name="页脚占位符 1">
            <a:extLst>
              <a:ext uri="{FF2B5EF4-FFF2-40B4-BE49-F238E27FC236}">
                <a16:creationId xmlns:a16="http://schemas.microsoft.com/office/drawing/2014/main" id="{D392275B-9FE1-A811-89CD-16FCA0DBF50A}"/>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pic>
        <p:nvPicPr>
          <p:cNvPr id="11" name="Picture 4" descr="xf1312">
            <a:extLst>
              <a:ext uri="{FF2B5EF4-FFF2-40B4-BE49-F238E27FC236}">
                <a16:creationId xmlns:a16="http://schemas.microsoft.com/office/drawing/2014/main" id="{0428E745-D510-3DE7-D989-7BF90EAD061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0834" y="1306477"/>
            <a:ext cx="3632431" cy="1614572"/>
          </a:xfrm>
          <a:prstGeom prst="rect">
            <a:avLst/>
          </a:prstGeom>
          <a:noFill/>
          <a:extLst>
            <a:ext uri="{909E8E84-426E-40DD-AFC4-6F175D3DCCD1}">
              <a14:hiddenFill xmlns:a14="http://schemas.microsoft.com/office/drawing/2010/main">
                <a:solidFill>
                  <a:srgbClr val="FFFFFF"/>
                </a:solidFill>
              </a14:hiddenFill>
            </a:ext>
          </a:extLst>
        </p:spPr>
      </p:pic>
      <p:sp>
        <p:nvSpPr>
          <p:cNvPr id="12" name="矩形 11">
            <a:extLst>
              <a:ext uri="{FF2B5EF4-FFF2-40B4-BE49-F238E27FC236}">
                <a16:creationId xmlns:a16="http://schemas.microsoft.com/office/drawing/2014/main" id="{314E52A0-FF2E-6A20-1E08-0B8604BD8567}"/>
              </a:ext>
            </a:extLst>
          </p:cNvPr>
          <p:cNvSpPr/>
          <p:nvPr/>
        </p:nvSpPr>
        <p:spPr>
          <a:xfrm>
            <a:off x="1354548" y="2794091"/>
            <a:ext cx="1645002" cy="253916"/>
          </a:xfrm>
          <a:prstGeom prst="rect">
            <a:avLst/>
          </a:prstGeom>
        </p:spPr>
        <p:txBody>
          <a:bodyPr wrap="none">
            <a:spAutoFit/>
          </a:bodyPr>
          <a:lstStyle/>
          <a:p>
            <a:pPr>
              <a:buFont typeface="Wingdings" panose="05000000000000000000" pitchFamily="2" charset="2"/>
              <a:buNone/>
            </a:pPr>
            <a:r>
              <a:rPr lang="zh-CN" altLang="en-US" sz="1000" dirty="0">
                <a:latin typeface="Garamond" panose="02020404030301010803" pitchFamily="18" charset="0"/>
                <a:ea typeface="SimSun" panose="02010600030101010101" pitchFamily="2" charset="-122"/>
              </a:rPr>
              <a:t>定量税变动改变</a:t>
            </a:r>
            <a:r>
              <a:rPr lang="en-US" altLang="zh-CN" sz="1000" dirty="0" err="1">
                <a:latin typeface="Garamond" panose="02020404030301010803" pitchFamily="18" charset="0"/>
                <a:ea typeface="SimSun" panose="02010600030101010101" pitchFamily="2" charset="-122"/>
                <a:cs typeface="Times New Roman" panose="02020603050405020304" pitchFamily="18" charset="0"/>
              </a:rPr>
              <a:t>s+t</a:t>
            </a:r>
            <a:r>
              <a:rPr lang="zh-CN" altLang="en-US" sz="1000" dirty="0">
                <a:latin typeface="Garamond" panose="02020404030301010803" pitchFamily="18" charset="0"/>
                <a:ea typeface="SimSun" panose="02010600030101010101" pitchFamily="2" charset="-122"/>
              </a:rPr>
              <a:t>的截距</a:t>
            </a:r>
          </a:p>
        </p:txBody>
      </p:sp>
      <p:sp>
        <p:nvSpPr>
          <p:cNvPr id="9" name="矩形 8"/>
          <p:cNvSpPr/>
          <p:nvPr/>
        </p:nvSpPr>
        <p:spPr>
          <a:xfrm>
            <a:off x="72802" y="1134405"/>
            <a:ext cx="4028271" cy="246221"/>
          </a:xfrm>
          <a:prstGeom prst="rect">
            <a:avLst/>
          </a:prstGeom>
        </p:spPr>
        <p:txBody>
          <a:bodyPr wrap="square">
            <a:spAutoFit/>
          </a:bodyPr>
          <a:lstStyle/>
          <a:p>
            <a:pPr algn="ctr">
              <a:buFont typeface="Wingdings" panose="05000000000000000000" pitchFamily="2" charset="2"/>
              <a:buNone/>
            </a:pPr>
            <a:r>
              <a:rPr lang="zh-CN" altLang="en-US" sz="1000" b="1" dirty="0">
                <a:latin typeface="SimSun" panose="02010600030101010101" pitchFamily="2" charset="-122"/>
                <a:ea typeface="SimSun" panose="02010600030101010101" pitchFamily="2" charset="-122"/>
              </a:rPr>
              <a:t>三部门经济收入的决定</a:t>
            </a:r>
          </a:p>
        </p:txBody>
      </p:sp>
    </p:spTree>
    <p:extLst>
      <p:ext uri="{BB962C8B-B14F-4D97-AF65-F5344CB8AC3E}">
        <p14:creationId xmlns:p14="http://schemas.microsoft.com/office/powerpoint/2010/main" val="12810128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latin typeface="Garamond" panose="02020404030301010803" pitchFamily="18" charset="0"/>
                    <a:ea typeface="SimSun" panose="02010600030101010101" pitchFamily="2" charset="-122"/>
                  </a:rPr>
                  <a:t>加入政府部门之后，不仅投资支出变动有乘数效应，</a:t>
                </a:r>
                <a:r>
                  <a:rPr lang="zh-CN" altLang="en-US" b="1" dirty="0">
                    <a:latin typeface="Garamond" panose="02020404030301010803" pitchFamily="18" charset="0"/>
                    <a:ea typeface="SimSun" panose="02010600030101010101" pitchFamily="2" charset="-122"/>
                  </a:rPr>
                  <a:t>政府购买、税收和政府转移支付</a:t>
                </a:r>
                <a:r>
                  <a:rPr lang="zh-CN" altLang="en-US" dirty="0">
                    <a:latin typeface="Garamond" panose="02020404030301010803" pitchFamily="18" charset="0"/>
                    <a:ea typeface="SimSun" panose="02010600030101010101" pitchFamily="2" charset="-122"/>
                  </a:rPr>
                  <a:t>的变动，都有乘数效应。因为</a:t>
                </a:r>
                <a:r>
                  <a:rPr lang="en-US" altLang="zh-CN" dirty="0">
                    <a:latin typeface="Garamond" panose="02020404030301010803" pitchFamily="18" charset="0"/>
                    <a:ea typeface="SimSun" panose="02010600030101010101" pitchFamily="2" charset="-122"/>
                  </a:rPr>
                  <a:t>G, T, </a:t>
                </a:r>
                <a:r>
                  <a:rPr lang="en-US" altLang="zh-CN" dirty="0" err="1">
                    <a:latin typeface="Garamond" panose="02020404030301010803" pitchFamily="18" charset="0"/>
                    <a:ea typeface="SimSun" panose="02010600030101010101" pitchFamily="2" charset="-122"/>
                  </a:rPr>
                  <a:t>Tr</a:t>
                </a:r>
                <a:r>
                  <a:rPr lang="zh-CN" altLang="en-US" dirty="0">
                    <a:latin typeface="Garamond" panose="02020404030301010803" pitchFamily="18" charset="0"/>
                    <a:ea typeface="SimSun" panose="02010600030101010101" pitchFamily="2" charset="-122"/>
                  </a:rPr>
                  <a:t>都会影响消费。</a:t>
                </a:r>
                <a:endParaRPr lang="en-US" altLang="zh-CN" dirty="0">
                  <a:latin typeface="Garamond" panose="02020404030301010803" pitchFamily="18" charset="0"/>
                  <a:ea typeface="SimSun" panose="02010600030101010101" pitchFamily="2" charset="-122"/>
                </a:endParaRPr>
              </a:p>
              <a:p>
                <a:r>
                  <a:rPr lang="zh-CN" altLang="en-US" dirty="0">
                    <a:latin typeface="Garamond" panose="02020404030301010803" pitchFamily="18" charset="0"/>
                    <a:ea typeface="SimSun" panose="02010600030101010101" pitchFamily="2" charset="-122"/>
                  </a:rPr>
                  <a:t>由于三部门经济的总支出为：</a:t>
                </a:r>
                <a:endParaRPr lang="en-US" altLang="zh-CN" dirty="0">
                  <a:latin typeface="Garamond" panose="02020404030301010803" pitchFamily="18" charset="0"/>
                  <a:ea typeface="SimSun" panose="02010600030101010101" pitchFamily="2" charset="-122"/>
                </a:endParaRPr>
              </a:p>
              <a:p>
                <a14:m>
                  <m:oMath xmlns:m="http://schemas.openxmlformats.org/officeDocument/2006/math">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𝑐</m:t>
                    </m:r>
                    <m:r>
                      <a:rPr lang="en-US" altLang="zh-CN" b="0" i="1" smtClean="0">
                        <a:latin typeface="Cambria Math" panose="02040503050406030204" pitchFamily="18" charset="0"/>
                      </a:rPr>
                      <m:t>+</m:t>
                    </m:r>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𝑔</m:t>
                    </m:r>
                    <m:r>
                      <a:rPr lang="en-US" altLang="zh-CN" b="0" i="1" smtClean="0">
                        <a:latin typeface="Cambria Math" panose="02040503050406030204" pitchFamily="18" charset="0"/>
                      </a:rPr>
                      <m:t>=</m:t>
                    </m:r>
                    <m:r>
                      <a:rPr lang="zh-CN" altLang="en-US" b="0" i="1" smtClean="0">
                        <a:latin typeface="Cambria Math" panose="02040503050406030204" pitchFamily="18" charset="0"/>
                      </a:rPr>
                      <m:t>𝛼</m:t>
                    </m:r>
                    <m:r>
                      <a:rPr lang="en-US" altLang="zh-CN" b="0" i="1" smtClean="0">
                        <a:latin typeface="Cambria Math" panose="02040503050406030204" pitchFamily="18" charset="0"/>
                      </a:rPr>
                      <m:t>+</m:t>
                    </m:r>
                    <m:r>
                      <a:rPr lang="zh-CN" altLang="en-US" b="0" i="1" smtClean="0">
                        <a:latin typeface="Cambria Math" panose="02040503050406030204" pitchFamily="18" charset="0"/>
                      </a:rPr>
                      <m:t>𝛽</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𝑔</m:t>
                    </m:r>
                  </m:oMath>
                </a14:m>
                <a:endParaRPr lang="en-US" altLang="zh-CN" dirty="0">
                  <a:latin typeface="Garamond" panose="02020404030301010803" pitchFamily="18" charset="0"/>
                  <a:ea typeface="SimSun" panose="02010600030101010101" pitchFamily="2" charset="-122"/>
                </a:endParaRPr>
              </a:p>
              <a:p>
                <a:r>
                  <a:rPr lang="en-US" altLang="zh-CN" dirty="0">
                    <a:latin typeface="Garamond" panose="02020404030301010803" pitchFamily="18" charset="0"/>
                    <a:ea typeface="SimSun" panose="02010600030101010101" pitchFamily="2" charset="-122"/>
                  </a:rPr>
                  <a:t>t</a:t>
                </a:r>
                <a:r>
                  <a:rPr lang="zh-CN" altLang="en-US" dirty="0">
                    <a:latin typeface="Garamond" panose="02020404030301010803" pitchFamily="18" charset="0"/>
                    <a:ea typeface="SimSun" panose="02010600030101010101" pitchFamily="2" charset="-122"/>
                  </a:rPr>
                  <a:t>是定量税。</a:t>
                </a:r>
                <a:endParaRPr lang="en-US" altLang="zh-CN" dirty="0">
                  <a:latin typeface="Garamond" panose="02020404030301010803" pitchFamily="18" charset="0"/>
                  <a:ea typeface="SimSun" panose="02010600030101010101" pitchFamily="2" charset="-122"/>
                </a:endParaRPr>
              </a:p>
              <a:p>
                <a:r>
                  <a:rPr lang="zh-CN" altLang="en-US" dirty="0">
                    <a:latin typeface="Garamond" panose="02020404030301010803" pitchFamily="18" charset="0"/>
                    <a:ea typeface="SimSun" panose="02010600030101010101" pitchFamily="2" charset="-122"/>
                  </a:rPr>
                  <a:t>均衡收入为：</a:t>
                </a:r>
                <a14:m>
                  <m:oMath xmlns:m="http://schemas.openxmlformats.org/officeDocument/2006/math">
                    <m:r>
                      <a:rPr lang="en-US" altLang="zh-CN" i="1">
                        <a:latin typeface="Cambria Math" panose="02040503050406030204" pitchFamily="18" charset="0"/>
                      </a:rPr>
                      <m:t>𝑦</m:t>
                    </m:r>
                    <m:r>
                      <a:rPr lang="en-US" altLang="zh-CN" i="1">
                        <a:latin typeface="Cambria Math" panose="02040503050406030204" pitchFamily="18" charset="0"/>
                      </a:rPr>
                      <m:t>=</m:t>
                    </m:r>
                    <m:f>
                      <m:fPr>
                        <m:ctrlPr>
                          <a:rPr lang="en-US" altLang="zh-CN" b="0" i="1" smtClean="0">
                            <a:latin typeface="Cambria Math" panose="02040503050406030204" pitchFamily="18" charset="0"/>
                          </a:rPr>
                        </m:ctrlPr>
                      </m:fPr>
                      <m:num>
                        <m:r>
                          <a:rPr lang="zh-CN" altLang="en-US" i="1">
                            <a:latin typeface="Cambria Math" panose="02040503050406030204" pitchFamily="18" charset="0"/>
                          </a:rPr>
                          <m:t>𝛼</m:t>
                        </m:r>
                        <m:r>
                          <a:rPr lang="en-US" altLang="zh-CN" i="1">
                            <a:latin typeface="Cambria Math" panose="02040503050406030204" pitchFamily="18" charset="0"/>
                          </a:rPr>
                          <m:t>+</m:t>
                        </m:r>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𝑔</m:t>
                        </m:r>
                        <m:r>
                          <a:rPr lang="en-US" altLang="zh-CN" b="0" i="1" smtClean="0">
                            <a:latin typeface="Cambria Math" panose="02040503050406030204" pitchFamily="18" charset="0"/>
                          </a:rPr>
                          <m:t>−</m:t>
                        </m:r>
                        <m:r>
                          <a:rPr lang="zh-CN" altLang="en-US" i="1">
                            <a:latin typeface="Cambria Math" panose="02040503050406030204" pitchFamily="18" charset="0"/>
                          </a:rPr>
                          <m:t>𝛽</m:t>
                        </m:r>
                        <m:r>
                          <a:rPr lang="en-US" altLang="zh-CN" b="0" i="1" smtClean="0">
                            <a:latin typeface="Cambria Math" panose="02040503050406030204" pitchFamily="18" charset="0"/>
                          </a:rPr>
                          <m:t>𝑡</m:t>
                        </m:r>
                      </m:num>
                      <m:den>
                        <m:r>
                          <a:rPr lang="en-US" altLang="zh-CN" b="0" i="1" smtClean="0">
                            <a:latin typeface="Cambria Math" panose="02040503050406030204" pitchFamily="18" charset="0"/>
                          </a:rPr>
                          <m:t>1−</m:t>
                        </m:r>
                        <m:r>
                          <a:rPr lang="zh-CN" altLang="en-US" i="1">
                            <a:latin typeface="Cambria Math" panose="02040503050406030204" pitchFamily="18" charset="0"/>
                          </a:rPr>
                          <m:t>𝛽</m:t>
                        </m:r>
                      </m:den>
                    </m:f>
                  </m:oMath>
                </a14:m>
                <a:endParaRPr lang="en-US" altLang="zh-CN" dirty="0">
                  <a:latin typeface="Garamond" panose="02020404030301010803" pitchFamily="18" charset="0"/>
                  <a:ea typeface="SimSun" panose="02010600030101010101" pitchFamily="2" charset="-122"/>
                </a:endParaRPr>
              </a:p>
              <a:p>
                <a:r>
                  <a:rPr lang="zh-CN" altLang="en-US" dirty="0">
                    <a:latin typeface="Garamond" panose="02020404030301010803" pitchFamily="18" charset="0"/>
                    <a:ea typeface="SimSun" panose="02010600030101010101" pitchFamily="2" charset="-122"/>
                  </a:rPr>
                  <a:t>通过这一公式可以得出上述几个乘数。</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604" t="-1463" b="-2439"/>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82</a:t>
            </a:fld>
            <a:endParaRPr lang="zh-CN" altLang="en-US"/>
          </a:p>
        </p:txBody>
      </p:sp>
      <p:sp>
        <p:nvSpPr>
          <p:cNvPr id="7" name="标题 6">
            <a:extLst>
              <a:ext uri="{FF2B5EF4-FFF2-40B4-BE49-F238E27FC236}">
                <a16:creationId xmlns:a16="http://schemas.microsoft.com/office/drawing/2014/main" id="{3385921D-6C10-7492-DE45-5EE4A2F90518}"/>
              </a:ext>
            </a:extLst>
          </p:cNvPr>
          <p:cNvSpPr>
            <a:spLocks noGrp="1"/>
          </p:cNvSpPr>
          <p:nvPr>
            <p:ph type="title"/>
          </p:nvPr>
        </p:nvSpPr>
        <p:spPr/>
        <p:txBody>
          <a:bodyPr/>
          <a:lstStyle/>
          <a:p>
            <a:r>
              <a:rPr kumimoji="1" lang="zh-CN" altLang="en-US" dirty="0"/>
              <a:t>三部门经济中的各种乘数</a:t>
            </a:r>
          </a:p>
        </p:txBody>
      </p:sp>
      <p:sp>
        <p:nvSpPr>
          <p:cNvPr id="8" name="灯片编号占位符 2">
            <a:extLst>
              <a:ext uri="{FF2B5EF4-FFF2-40B4-BE49-F238E27FC236}">
                <a16:creationId xmlns:a16="http://schemas.microsoft.com/office/drawing/2014/main" id="{6CF62345-5521-4C30-20BE-0247A26EFD76}"/>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82</a:t>
            </a:fld>
            <a:endParaRPr lang="zh-CN" altLang="zh-CN" sz="856" dirty="0">
              <a:solidFill>
                <a:srgbClr val="777777"/>
              </a:solidFill>
              <a:ea typeface="宋体" panose="02010600030101010101" pitchFamily="2" charset="-122"/>
            </a:endParaRPr>
          </a:p>
        </p:txBody>
      </p:sp>
      <p:sp>
        <p:nvSpPr>
          <p:cNvPr id="9" name="页脚占位符 1">
            <a:extLst>
              <a:ext uri="{FF2B5EF4-FFF2-40B4-BE49-F238E27FC236}">
                <a16:creationId xmlns:a16="http://schemas.microsoft.com/office/drawing/2014/main" id="{1172570C-F4BD-227E-A941-CD0B0F36E2FE}"/>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7165505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fontScale="92500" lnSpcReduction="20000"/>
              </a:bodyPr>
              <a:lstStyle/>
              <a:p>
                <a:r>
                  <a:rPr lang="zh-CN" altLang="en-US" sz="1209" b="1" dirty="0">
                    <a:latin typeface="Garamond" panose="02020404030301010803" pitchFamily="18" charset="0"/>
                    <a:ea typeface="SimSun" panose="02010600030101010101" pitchFamily="2" charset="-122"/>
                  </a:rPr>
                  <a:t>政府购买支出乘数，</a:t>
                </a:r>
                <a:r>
                  <a:rPr lang="zh-CN" altLang="en-US" sz="1209" dirty="0">
                    <a:latin typeface="Garamond" panose="02020404030301010803" pitchFamily="18" charset="0"/>
                    <a:ea typeface="SimSun" panose="02010600030101010101" pitchFamily="2" charset="-122"/>
                  </a:rPr>
                  <a:t>是指收入变动对引起这种变动的政府购买支出变动的比率。</a:t>
                </a:r>
                <a:endParaRPr lang="en-US" altLang="zh-CN" sz="1209" dirty="0">
                  <a:latin typeface="Garamond" panose="02020404030301010803" pitchFamily="18" charset="0"/>
                  <a:ea typeface="SimSun" panose="02010600030101010101" pitchFamily="2" charset="-122"/>
                </a:endParaRPr>
              </a:p>
              <a:p>
                <a14:m>
                  <m:oMath xmlns:m="http://schemas.openxmlformats.org/officeDocument/2006/math">
                    <m:sSub>
                      <m:sSubPr>
                        <m:ctrlPr>
                          <a:rPr lang="en-US" altLang="zh-CN" sz="1209" i="1">
                            <a:latin typeface="Cambria Math" panose="02040503050406030204" pitchFamily="18" charset="0"/>
                          </a:rPr>
                        </m:ctrlPr>
                      </m:sSubPr>
                      <m:e>
                        <m:r>
                          <a:rPr lang="en-US" altLang="zh-CN" sz="1209" i="1">
                            <a:latin typeface="Cambria Math" panose="02040503050406030204" pitchFamily="18" charset="0"/>
                          </a:rPr>
                          <m:t>𝑘</m:t>
                        </m:r>
                      </m:e>
                      <m:sub>
                        <m:r>
                          <a:rPr lang="en-US" altLang="zh-CN" sz="1209" i="1">
                            <a:latin typeface="Cambria Math" panose="02040503050406030204" pitchFamily="18" charset="0"/>
                          </a:rPr>
                          <m:t>𝑔</m:t>
                        </m:r>
                      </m:sub>
                    </m:sSub>
                    <m:r>
                      <a:rPr lang="en-US" altLang="zh-CN" sz="1209" i="1">
                        <a:latin typeface="Cambria Math" panose="02040503050406030204" pitchFamily="18" charset="0"/>
                      </a:rPr>
                      <m:t>=</m:t>
                    </m:r>
                    <m:f>
                      <m:fPr>
                        <m:ctrlPr>
                          <a:rPr lang="en-US" altLang="zh-CN" sz="1209" i="1">
                            <a:latin typeface="Cambria Math" panose="02040503050406030204" pitchFamily="18" charset="0"/>
                            <a:ea typeface="Cambria Math" panose="02040503050406030204" pitchFamily="18" charset="0"/>
                          </a:rPr>
                        </m:ctrlPr>
                      </m:fPr>
                      <m:num>
                        <m:r>
                          <a:rPr lang="en-US" altLang="zh-CN" sz="1209" i="1">
                            <a:latin typeface="Cambria Math" panose="02040503050406030204" pitchFamily="18" charset="0"/>
                            <a:ea typeface="Cambria Math" panose="02040503050406030204" pitchFamily="18" charset="0"/>
                          </a:rPr>
                          <m:t>∆</m:t>
                        </m:r>
                        <m:r>
                          <a:rPr lang="en-US" altLang="zh-CN" sz="1209" i="1">
                            <a:latin typeface="Cambria Math" panose="02040503050406030204" pitchFamily="18" charset="0"/>
                            <a:ea typeface="Cambria Math" panose="02040503050406030204" pitchFamily="18" charset="0"/>
                          </a:rPr>
                          <m:t>𝑦</m:t>
                        </m:r>
                      </m:num>
                      <m:den>
                        <m:r>
                          <a:rPr lang="en-US" altLang="zh-CN" sz="1209" i="1">
                            <a:latin typeface="Cambria Math" panose="02040503050406030204" pitchFamily="18" charset="0"/>
                            <a:ea typeface="Cambria Math" panose="02040503050406030204" pitchFamily="18" charset="0"/>
                          </a:rPr>
                          <m:t>∆</m:t>
                        </m:r>
                        <m:r>
                          <a:rPr lang="en-US" altLang="zh-CN" sz="1209" i="1">
                            <a:latin typeface="Cambria Math" panose="02040503050406030204" pitchFamily="18" charset="0"/>
                            <a:ea typeface="Cambria Math" panose="02040503050406030204" pitchFamily="18" charset="0"/>
                          </a:rPr>
                          <m:t>𝑔</m:t>
                        </m:r>
                      </m:den>
                    </m:f>
                    <m:r>
                      <a:rPr lang="en-US" altLang="zh-CN" sz="1209" i="1">
                        <a:latin typeface="Cambria Math" panose="02040503050406030204" pitchFamily="18" charset="0"/>
                        <a:ea typeface="Cambria Math" panose="02040503050406030204" pitchFamily="18" charset="0"/>
                      </a:rPr>
                      <m:t>=</m:t>
                    </m:r>
                    <m:f>
                      <m:fPr>
                        <m:ctrlPr>
                          <a:rPr lang="en-US" altLang="zh-CN" sz="1209" i="1">
                            <a:latin typeface="Cambria Math" panose="02040503050406030204" pitchFamily="18" charset="0"/>
                            <a:ea typeface="Cambria Math" panose="02040503050406030204" pitchFamily="18" charset="0"/>
                          </a:rPr>
                        </m:ctrlPr>
                      </m:fPr>
                      <m:num>
                        <m:r>
                          <a:rPr lang="en-US" altLang="zh-CN" sz="1209" i="1">
                            <a:latin typeface="Cambria Math" panose="02040503050406030204" pitchFamily="18" charset="0"/>
                            <a:ea typeface="Cambria Math" panose="02040503050406030204" pitchFamily="18" charset="0"/>
                          </a:rPr>
                          <m:t>1</m:t>
                        </m:r>
                      </m:num>
                      <m:den>
                        <m:r>
                          <a:rPr lang="en-US" altLang="zh-CN" sz="1209" i="1">
                            <a:latin typeface="Cambria Math" panose="02040503050406030204" pitchFamily="18" charset="0"/>
                            <a:ea typeface="Cambria Math" panose="02040503050406030204" pitchFamily="18" charset="0"/>
                          </a:rPr>
                          <m:t>1−</m:t>
                        </m:r>
                        <m:r>
                          <a:rPr lang="zh-CN" altLang="en-US" sz="1209" i="1">
                            <a:latin typeface="Cambria Math" panose="02040503050406030204" pitchFamily="18" charset="0"/>
                            <a:ea typeface="Cambria Math" panose="02040503050406030204" pitchFamily="18" charset="0"/>
                          </a:rPr>
                          <m:t>𝛽</m:t>
                        </m:r>
                      </m:den>
                    </m:f>
                  </m:oMath>
                </a14:m>
                <a:endParaRPr lang="en-US" altLang="zh-CN" dirty="0">
                  <a:latin typeface="Garamond" panose="02020404030301010803" pitchFamily="18" charset="0"/>
                  <a:ea typeface="SimSun" panose="02010600030101010101" pitchFamily="2" charset="-122"/>
                </a:endParaRPr>
              </a:p>
              <a:p>
                <a:r>
                  <a:rPr lang="zh-CN" altLang="en-US" sz="1007" dirty="0">
                    <a:latin typeface="Garamond" panose="02020404030301010803" pitchFamily="18" charset="0"/>
                    <a:ea typeface="SimSun" panose="02010600030101010101" pitchFamily="2" charset="-122"/>
                  </a:rPr>
                  <a:t>其中，</a:t>
                </a:r>
                <a14:m>
                  <m:oMath xmlns:m="http://schemas.openxmlformats.org/officeDocument/2006/math">
                    <m:r>
                      <m:rPr>
                        <m:sty m:val="p"/>
                      </m:rPr>
                      <a:rPr lang="zh-CN" altLang="en-US" sz="1007">
                        <a:latin typeface="Cambria Math" panose="02040503050406030204" pitchFamily="18" charset="0"/>
                        <a:ea typeface="Cambria Math" panose="02040503050406030204" pitchFamily="18" charset="0"/>
                      </a:rPr>
                      <m:t>β</m:t>
                    </m:r>
                  </m:oMath>
                </a14:m>
                <a:r>
                  <a:rPr lang="zh-CN" altLang="en-US" sz="1007" dirty="0">
                    <a:latin typeface="Garamond" panose="02020404030301010803" pitchFamily="18" charset="0"/>
                    <a:ea typeface="SimSun" panose="02010600030101010101" pitchFamily="2" charset="-122"/>
                  </a:rPr>
                  <a:t>是可支配收入的边际消费倾向。在三部门经济中，政府购买支出乘数和投资乘数相等。</a:t>
                </a:r>
                <a:endParaRPr lang="en-US" altLang="zh-CN" sz="1007" dirty="0">
                  <a:latin typeface="Garamond" panose="02020404030301010803" pitchFamily="18" charset="0"/>
                  <a:ea typeface="SimSun" panose="02010600030101010101" pitchFamily="2" charset="-122"/>
                </a:endParaRPr>
              </a:p>
              <a:p>
                <a:r>
                  <a:rPr lang="zh-CN" altLang="en-US" sz="1007" dirty="0">
                    <a:latin typeface="Garamond" panose="02020404030301010803" pitchFamily="18" charset="0"/>
                    <a:ea typeface="SimSun" panose="02010600030101010101" pitchFamily="2" charset="-122"/>
                  </a:rPr>
                  <a:t>在</a:t>
                </a:r>
                <a14:m>
                  <m:oMath xmlns:m="http://schemas.openxmlformats.org/officeDocument/2006/math">
                    <m:r>
                      <a:rPr lang="zh-CN" altLang="en-US" sz="1007">
                        <a:latin typeface="Cambria Math" panose="02040503050406030204" pitchFamily="18" charset="0"/>
                      </a:rPr>
                      <m:t>公式</m:t>
                    </m:r>
                    <m:r>
                      <a:rPr lang="en-US" altLang="zh-CN" sz="1007" i="1">
                        <a:latin typeface="Cambria Math" panose="02040503050406030204" pitchFamily="18" charset="0"/>
                      </a:rPr>
                      <m:t>𝑦</m:t>
                    </m:r>
                    <m:r>
                      <a:rPr lang="en-US" altLang="zh-CN" sz="1007" i="1">
                        <a:latin typeface="Cambria Math" panose="02040503050406030204" pitchFamily="18" charset="0"/>
                      </a:rPr>
                      <m:t>=</m:t>
                    </m:r>
                    <m:f>
                      <m:fPr>
                        <m:ctrlPr>
                          <a:rPr lang="en-US" altLang="zh-CN" sz="1007" i="1">
                            <a:latin typeface="Cambria Math" panose="02040503050406030204" pitchFamily="18" charset="0"/>
                          </a:rPr>
                        </m:ctrlPr>
                      </m:fPr>
                      <m:num>
                        <m:r>
                          <a:rPr lang="zh-CN" altLang="en-US" sz="1007" i="1">
                            <a:latin typeface="Cambria Math" panose="02040503050406030204" pitchFamily="18" charset="0"/>
                          </a:rPr>
                          <m:t>𝛼</m:t>
                        </m:r>
                        <m:r>
                          <a:rPr lang="en-US" altLang="zh-CN" sz="1007" i="1">
                            <a:latin typeface="Cambria Math" panose="02040503050406030204" pitchFamily="18" charset="0"/>
                          </a:rPr>
                          <m:t>+</m:t>
                        </m:r>
                        <m:r>
                          <a:rPr lang="en-US" altLang="zh-CN" sz="1007" i="1">
                            <a:latin typeface="Cambria Math" panose="02040503050406030204" pitchFamily="18" charset="0"/>
                          </a:rPr>
                          <m:t>𝑖</m:t>
                        </m:r>
                        <m:r>
                          <a:rPr lang="en-US" altLang="zh-CN" sz="1007" i="1">
                            <a:latin typeface="Cambria Math" panose="02040503050406030204" pitchFamily="18" charset="0"/>
                          </a:rPr>
                          <m:t>+</m:t>
                        </m:r>
                        <m:r>
                          <a:rPr lang="en-US" altLang="zh-CN" sz="1007" i="1">
                            <a:latin typeface="Cambria Math" panose="02040503050406030204" pitchFamily="18" charset="0"/>
                          </a:rPr>
                          <m:t>𝑔</m:t>
                        </m:r>
                        <m:r>
                          <a:rPr lang="en-US" altLang="zh-CN" sz="1007" i="1">
                            <a:latin typeface="Cambria Math" panose="02040503050406030204" pitchFamily="18" charset="0"/>
                          </a:rPr>
                          <m:t>−</m:t>
                        </m:r>
                        <m:r>
                          <a:rPr lang="zh-CN" altLang="en-US" sz="1007" i="1">
                            <a:latin typeface="Cambria Math" panose="02040503050406030204" pitchFamily="18" charset="0"/>
                          </a:rPr>
                          <m:t>𝛽</m:t>
                        </m:r>
                        <m:r>
                          <a:rPr lang="en-US" altLang="zh-CN" sz="1007" i="1">
                            <a:latin typeface="Cambria Math" panose="02040503050406030204" pitchFamily="18" charset="0"/>
                          </a:rPr>
                          <m:t>𝑡</m:t>
                        </m:r>
                      </m:num>
                      <m:den>
                        <m:r>
                          <a:rPr lang="en-US" altLang="zh-CN" sz="1007" i="1">
                            <a:latin typeface="Cambria Math" panose="02040503050406030204" pitchFamily="18" charset="0"/>
                          </a:rPr>
                          <m:t>1−</m:t>
                        </m:r>
                        <m:r>
                          <a:rPr lang="zh-CN" altLang="en-US" sz="1007" i="1">
                            <a:latin typeface="Cambria Math" panose="02040503050406030204" pitchFamily="18" charset="0"/>
                          </a:rPr>
                          <m:t>𝛽</m:t>
                        </m:r>
                      </m:den>
                    </m:f>
                    <m:r>
                      <a:rPr lang="zh-CN" altLang="en-US" sz="1007">
                        <a:latin typeface="Cambria Math" panose="02040503050406030204" pitchFamily="18" charset="0"/>
                      </a:rPr>
                      <m:t>中，若</m:t>
                    </m:r>
                  </m:oMath>
                </a14:m>
                <a:r>
                  <a:rPr lang="zh-CN" altLang="en-US" sz="1007" dirty="0">
                    <a:latin typeface="Garamond" panose="02020404030301010803" pitchFamily="18" charset="0"/>
                    <a:ea typeface="SimSun" panose="02010600030101010101" pitchFamily="2" charset="-122"/>
                  </a:rPr>
                  <a:t>其他条件不变，只有政府购买支出</a:t>
                </a:r>
                <a14:m>
                  <m:oMath xmlns:m="http://schemas.openxmlformats.org/officeDocument/2006/math">
                    <m:r>
                      <m:rPr>
                        <m:sty m:val="p"/>
                      </m:rPr>
                      <a:rPr lang="en-US" altLang="zh-CN" sz="1007">
                        <a:latin typeface="Cambria Math" panose="02040503050406030204" pitchFamily="18" charset="0"/>
                      </a:rPr>
                      <m:t>g</m:t>
                    </m:r>
                  </m:oMath>
                </a14:m>
                <a:r>
                  <a:rPr lang="zh-CN" altLang="en-US" sz="1007" dirty="0">
                    <a:latin typeface="Garamond" panose="02020404030301010803" pitchFamily="18" charset="0"/>
                    <a:ea typeface="SimSun" panose="02010600030101010101" pitchFamily="2" charset="-122"/>
                  </a:rPr>
                  <a:t>变动，则政府购买支出为</a:t>
                </a:r>
                <a14:m>
                  <m:oMath xmlns:m="http://schemas.openxmlformats.org/officeDocument/2006/math">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𝑔</m:t>
                        </m:r>
                      </m:e>
                      <m:sub>
                        <m:r>
                          <a:rPr lang="en-US" altLang="zh-CN" sz="1007" i="1">
                            <a:latin typeface="Cambria Math" panose="02040503050406030204" pitchFamily="18" charset="0"/>
                          </a:rPr>
                          <m:t>0</m:t>
                        </m:r>
                      </m:sub>
                    </m:sSub>
                  </m:oMath>
                </a14:m>
                <a:r>
                  <a:rPr lang="zh-CN" altLang="en-US" sz="1007" dirty="0">
                    <a:latin typeface="Garamond" panose="02020404030301010803" pitchFamily="18" charset="0"/>
                    <a:ea typeface="SimSun" panose="02010600030101010101" pitchFamily="2" charset="-122"/>
                  </a:rPr>
                  <a:t>和</a:t>
                </a:r>
                <a14:m>
                  <m:oMath xmlns:m="http://schemas.openxmlformats.org/officeDocument/2006/math">
                    <m:sSub>
                      <m:sSubPr>
                        <m:ctrlPr>
                          <a:rPr lang="en-US" altLang="zh-CN" sz="1007" i="1" dirty="0">
                            <a:latin typeface="Cambria Math" panose="02040503050406030204" pitchFamily="18" charset="0"/>
                          </a:rPr>
                        </m:ctrlPr>
                      </m:sSubPr>
                      <m:e>
                        <m:r>
                          <a:rPr lang="en-US" altLang="zh-CN" sz="1007" i="1" dirty="0">
                            <a:latin typeface="Cambria Math" panose="02040503050406030204" pitchFamily="18" charset="0"/>
                          </a:rPr>
                          <m:t>𝑔</m:t>
                        </m:r>
                      </m:e>
                      <m:sub>
                        <m:r>
                          <a:rPr lang="en-US" altLang="zh-CN" sz="1007" i="1" dirty="0">
                            <a:latin typeface="Cambria Math" panose="02040503050406030204" pitchFamily="18" charset="0"/>
                          </a:rPr>
                          <m:t>1</m:t>
                        </m:r>
                      </m:sub>
                    </m:sSub>
                  </m:oMath>
                </a14:m>
                <a:r>
                  <a:rPr lang="zh-CN" altLang="en-US" sz="1007" dirty="0">
                    <a:latin typeface="Garamond" panose="02020404030301010803" pitchFamily="18" charset="0"/>
                    <a:ea typeface="SimSun" panose="02010600030101010101" pitchFamily="2" charset="-122"/>
                  </a:rPr>
                  <a:t>时的收入分别为：</a:t>
                </a:r>
                <a:endParaRPr lang="en-US" altLang="zh-CN" sz="1007" dirty="0">
                  <a:latin typeface="Garamond" panose="02020404030301010803" pitchFamily="18" charset="0"/>
                  <a:ea typeface="SimSun" panose="02010600030101010101" pitchFamily="2" charset="-122"/>
                </a:endParaRPr>
              </a:p>
              <a:p>
                <a14:m>
                  <m:oMath xmlns:m="http://schemas.openxmlformats.org/officeDocument/2006/math">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𝑦</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f>
                      <m:fPr>
                        <m:ctrlPr>
                          <a:rPr lang="en-US" altLang="zh-CN" sz="1007" i="1">
                            <a:latin typeface="Cambria Math" panose="02040503050406030204" pitchFamily="18" charset="0"/>
                          </a:rPr>
                        </m:ctrlPr>
                      </m:fPr>
                      <m:num>
                        <m:sSub>
                          <m:sSubPr>
                            <m:ctrlPr>
                              <a:rPr lang="en-US" altLang="zh-CN" sz="1007" i="1">
                                <a:latin typeface="Cambria Math" panose="02040503050406030204" pitchFamily="18" charset="0"/>
                              </a:rPr>
                            </m:ctrlPr>
                          </m:sSubPr>
                          <m:e>
                            <m:r>
                              <a:rPr lang="zh-CN" altLang="en-US" sz="1007" i="1">
                                <a:latin typeface="Cambria Math" panose="02040503050406030204" pitchFamily="18" charset="0"/>
                              </a:rPr>
                              <m:t>𝛼</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𝑖</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𝑔</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r>
                          <a:rPr lang="zh-CN" altLang="en-US" sz="1007" i="1">
                            <a:latin typeface="Cambria Math" panose="02040503050406030204" pitchFamily="18" charset="0"/>
                          </a:rPr>
                          <m:t>𝛽</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𝑡</m:t>
                            </m:r>
                          </m:e>
                          <m:sub>
                            <m:r>
                              <a:rPr lang="en-US" altLang="zh-CN" sz="1007" i="1">
                                <a:latin typeface="Cambria Math" panose="02040503050406030204" pitchFamily="18" charset="0"/>
                              </a:rPr>
                              <m:t>0</m:t>
                            </m:r>
                          </m:sub>
                        </m:sSub>
                      </m:num>
                      <m:den>
                        <m:r>
                          <a:rPr lang="en-US" altLang="zh-CN" sz="1007" i="1">
                            <a:latin typeface="Cambria Math" panose="02040503050406030204" pitchFamily="18" charset="0"/>
                          </a:rPr>
                          <m:t>1−</m:t>
                        </m:r>
                        <m:r>
                          <a:rPr lang="zh-CN" altLang="en-US" sz="1007" i="1">
                            <a:latin typeface="Cambria Math" panose="02040503050406030204" pitchFamily="18" charset="0"/>
                          </a:rPr>
                          <m:t>𝛽</m:t>
                        </m:r>
                      </m:den>
                    </m:f>
                  </m:oMath>
                </a14:m>
                <a:r>
                  <a:rPr lang="en-US" altLang="zh-CN" sz="1007" dirty="0">
                    <a:latin typeface="Garamond" panose="02020404030301010803" pitchFamily="18" charset="0"/>
                    <a:ea typeface="SimSun" panose="02010600030101010101" pitchFamily="2" charset="-122"/>
                  </a:rPr>
                  <a:t>    </a:t>
                </a:r>
                <a14:m>
                  <m:oMath xmlns:m="http://schemas.openxmlformats.org/officeDocument/2006/math">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𝑦</m:t>
                        </m:r>
                      </m:e>
                      <m:sub>
                        <m:r>
                          <a:rPr lang="en-US" altLang="zh-CN" sz="1007" i="1">
                            <a:latin typeface="Cambria Math" panose="02040503050406030204" pitchFamily="18" charset="0"/>
                          </a:rPr>
                          <m:t>1</m:t>
                        </m:r>
                      </m:sub>
                    </m:sSub>
                    <m:r>
                      <a:rPr lang="en-US" altLang="zh-CN" sz="1007" i="1">
                        <a:latin typeface="Cambria Math" panose="02040503050406030204" pitchFamily="18" charset="0"/>
                      </a:rPr>
                      <m:t>=</m:t>
                    </m:r>
                    <m:f>
                      <m:fPr>
                        <m:ctrlPr>
                          <a:rPr lang="en-US" altLang="zh-CN" sz="1007" i="1">
                            <a:latin typeface="Cambria Math" panose="02040503050406030204" pitchFamily="18" charset="0"/>
                          </a:rPr>
                        </m:ctrlPr>
                      </m:fPr>
                      <m:num>
                        <m:sSub>
                          <m:sSubPr>
                            <m:ctrlPr>
                              <a:rPr lang="en-US" altLang="zh-CN" sz="1007" i="1">
                                <a:latin typeface="Cambria Math" panose="02040503050406030204" pitchFamily="18" charset="0"/>
                              </a:rPr>
                            </m:ctrlPr>
                          </m:sSubPr>
                          <m:e>
                            <m:r>
                              <a:rPr lang="zh-CN" altLang="en-US" sz="1007" i="1">
                                <a:latin typeface="Cambria Math" panose="02040503050406030204" pitchFamily="18" charset="0"/>
                              </a:rPr>
                              <m:t>𝛼</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𝑖</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𝑔</m:t>
                            </m:r>
                          </m:e>
                          <m:sub>
                            <m:r>
                              <a:rPr lang="en-US" altLang="zh-CN" sz="1007" i="1">
                                <a:latin typeface="Cambria Math" panose="02040503050406030204" pitchFamily="18" charset="0"/>
                              </a:rPr>
                              <m:t>1</m:t>
                            </m:r>
                          </m:sub>
                        </m:sSub>
                        <m:r>
                          <a:rPr lang="en-US" altLang="zh-CN" sz="1007" i="1">
                            <a:latin typeface="Cambria Math" panose="02040503050406030204" pitchFamily="18" charset="0"/>
                          </a:rPr>
                          <m:t>−</m:t>
                        </m:r>
                        <m:r>
                          <a:rPr lang="zh-CN" altLang="en-US" sz="1007" i="1">
                            <a:latin typeface="Cambria Math" panose="02040503050406030204" pitchFamily="18" charset="0"/>
                          </a:rPr>
                          <m:t>𝛽</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𝑡</m:t>
                            </m:r>
                          </m:e>
                          <m:sub>
                            <m:r>
                              <a:rPr lang="en-US" altLang="zh-CN" sz="1007" i="1">
                                <a:latin typeface="Cambria Math" panose="02040503050406030204" pitchFamily="18" charset="0"/>
                              </a:rPr>
                              <m:t>0</m:t>
                            </m:r>
                          </m:sub>
                        </m:sSub>
                      </m:num>
                      <m:den>
                        <m:r>
                          <a:rPr lang="en-US" altLang="zh-CN" sz="1007" i="1">
                            <a:latin typeface="Cambria Math" panose="02040503050406030204" pitchFamily="18" charset="0"/>
                          </a:rPr>
                          <m:t>1−</m:t>
                        </m:r>
                        <m:r>
                          <a:rPr lang="zh-CN" altLang="en-US" sz="1007" i="1">
                            <a:latin typeface="Cambria Math" panose="02040503050406030204" pitchFamily="18" charset="0"/>
                          </a:rPr>
                          <m:t>𝛽</m:t>
                        </m:r>
                      </m:den>
                    </m:f>
                  </m:oMath>
                </a14:m>
                <a:endParaRPr lang="en-US" altLang="zh-CN" sz="1007" dirty="0">
                  <a:latin typeface="Garamond" panose="02020404030301010803" pitchFamily="18" charset="0"/>
                  <a:ea typeface="SimSun" panose="02010600030101010101" pitchFamily="2" charset="-122"/>
                </a:endParaRPr>
              </a:p>
              <a:p>
                <a14:m>
                  <m:oMath xmlns:m="http://schemas.openxmlformats.org/officeDocument/2006/math">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𝑦</m:t>
                        </m:r>
                      </m:e>
                      <m:sub>
                        <m:r>
                          <a:rPr lang="en-US" altLang="zh-CN" sz="1007" i="1">
                            <a:latin typeface="Cambria Math" panose="02040503050406030204" pitchFamily="18" charset="0"/>
                          </a:rPr>
                          <m:t>1</m:t>
                        </m:r>
                      </m:sub>
                    </m:sSub>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𝑦</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𝑦</m:t>
                    </m:r>
                    <m:r>
                      <a:rPr lang="en-US" altLang="zh-CN" sz="1007" i="1">
                        <a:latin typeface="Cambria Math" panose="02040503050406030204" pitchFamily="18" charset="0"/>
                        <a:ea typeface="Cambria Math" panose="02040503050406030204" pitchFamily="18" charset="0"/>
                      </a:rPr>
                      <m:t>=</m:t>
                    </m:r>
                    <m:f>
                      <m:fPr>
                        <m:ctrlPr>
                          <a:rPr lang="en-US" altLang="zh-CN" sz="1007" i="1">
                            <a:latin typeface="Cambria Math" panose="02040503050406030204" pitchFamily="18" charset="0"/>
                          </a:rPr>
                        </m:ctrlPr>
                      </m:fPr>
                      <m:num>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𝑔</m:t>
                            </m:r>
                          </m:e>
                          <m:sub>
                            <m:r>
                              <a:rPr lang="en-US" altLang="zh-CN" sz="1007" i="1">
                                <a:latin typeface="Cambria Math" panose="02040503050406030204" pitchFamily="18" charset="0"/>
                              </a:rPr>
                              <m:t>1</m:t>
                            </m:r>
                          </m:sub>
                        </m:sSub>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𝑔</m:t>
                            </m:r>
                          </m:e>
                          <m:sub>
                            <m:r>
                              <a:rPr lang="en-US" altLang="zh-CN" sz="1007" i="1">
                                <a:latin typeface="Cambria Math" panose="02040503050406030204" pitchFamily="18" charset="0"/>
                              </a:rPr>
                              <m:t>0</m:t>
                            </m:r>
                          </m:sub>
                        </m:sSub>
                      </m:num>
                      <m:den>
                        <m:r>
                          <a:rPr lang="en-US" altLang="zh-CN" sz="1007" i="1">
                            <a:latin typeface="Cambria Math" panose="02040503050406030204" pitchFamily="18" charset="0"/>
                          </a:rPr>
                          <m:t>1−</m:t>
                        </m:r>
                        <m:r>
                          <a:rPr lang="zh-CN" altLang="en-US" sz="1007" i="1">
                            <a:latin typeface="Cambria Math" panose="02040503050406030204" pitchFamily="18" charset="0"/>
                          </a:rPr>
                          <m:t>𝛽</m:t>
                        </m:r>
                      </m:den>
                    </m:f>
                    <m:r>
                      <a:rPr lang="en-US" altLang="zh-CN" sz="1007" i="1">
                        <a:latin typeface="Cambria Math" panose="02040503050406030204" pitchFamily="18" charset="0"/>
                      </a:rPr>
                      <m:t>=</m:t>
                    </m:r>
                    <m:f>
                      <m:fPr>
                        <m:ctrlPr>
                          <a:rPr lang="en-US" altLang="zh-CN" sz="1007" i="1">
                            <a:latin typeface="Cambria Math" panose="02040503050406030204" pitchFamily="18" charset="0"/>
                            <a:ea typeface="Cambria Math" panose="02040503050406030204" pitchFamily="18" charset="0"/>
                          </a:rPr>
                        </m:ctrlPr>
                      </m:fPr>
                      <m:num>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𝑔</m:t>
                        </m:r>
                      </m:num>
                      <m:den>
                        <m:r>
                          <a:rPr lang="en-US" altLang="zh-CN" sz="1007" i="1">
                            <a:latin typeface="Cambria Math" panose="02040503050406030204" pitchFamily="18" charset="0"/>
                            <a:ea typeface="Cambria Math" panose="02040503050406030204" pitchFamily="18" charset="0"/>
                          </a:rPr>
                          <m:t>1−</m:t>
                        </m:r>
                        <m:r>
                          <a:rPr lang="zh-CN" altLang="en-US" sz="1007" i="1">
                            <a:latin typeface="Cambria Math" panose="02040503050406030204" pitchFamily="18" charset="0"/>
                            <a:ea typeface="Cambria Math" panose="02040503050406030204" pitchFamily="18" charset="0"/>
                          </a:rPr>
                          <m:t>𝛽</m:t>
                        </m:r>
                      </m:den>
                    </m:f>
                  </m:oMath>
                </a14:m>
                <a:endParaRPr lang="en-US" altLang="zh-CN" dirty="0">
                  <a:latin typeface="Garamond" panose="02020404030301010803" pitchFamily="18" charset="0"/>
                  <a:ea typeface="SimSun" panose="02010600030101010101" pitchFamily="2" charset="-122"/>
                </a:endParaRPr>
              </a:p>
              <a:p>
                <a14:m>
                  <m:oMath xmlns:m="http://schemas.openxmlformats.org/officeDocument/2006/math">
                    <m:r>
                      <a:rPr lang="zh-CN" altLang="en-US" sz="1007" i="1">
                        <a:latin typeface="Cambria Math" panose="02040503050406030204" pitchFamily="18" charset="0"/>
                      </a:rPr>
                      <m:t>∴</m:t>
                    </m:r>
                    <m:f>
                      <m:fPr>
                        <m:ctrlPr>
                          <a:rPr lang="en-US" altLang="zh-CN" sz="1007" i="1">
                            <a:latin typeface="Cambria Math" panose="02040503050406030204" pitchFamily="18" charset="0"/>
                            <a:ea typeface="Cambria Math" panose="02040503050406030204" pitchFamily="18" charset="0"/>
                          </a:rPr>
                        </m:ctrlPr>
                      </m:fPr>
                      <m:num>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𝑦</m:t>
                        </m:r>
                      </m:num>
                      <m:den>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𝑔</m:t>
                        </m:r>
                      </m:den>
                    </m:f>
                    <m:r>
                      <a:rPr lang="en-US" altLang="zh-CN" sz="1007" i="1">
                        <a:latin typeface="Cambria Math" panose="02040503050406030204" pitchFamily="18" charset="0"/>
                        <a:ea typeface="Cambria Math" panose="02040503050406030204" pitchFamily="18" charset="0"/>
                      </a:rPr>
                      <m:t>=</m:t>
                    </m:r>
                    <m:sSub>
                      <m:sSubPr>
                        <m:ctrlPr>
                          <a:rPr lang="en-US" altLang="zh-CN" sz="1007" i="1">
                            <a:latin typeface="Cambria Math" panose="02040503050406030204" pitchFamily="18" charset="0"/>
                            <a:ea typeface="Cambria Math" panose="02040503050406030204" pitchFamily="18" charset="0"/>
                          </a:rPr>
                        </m:ctrlPr>
                      </m:sSubPr>
                      <m:e>
                        <m:r>
                          <a:rPr lang="en-US" altLang="zh-CN" sz="1007" i="1">
                            <a:latin typeface="Cambria Math" panose="02040503050406030204" pitchFamily="18" charset="0"/>
                            <a:ea typeface="Cambria Math" panose="02040503050406030204" pitchFamily="18" charset="0"/>
                          </a:rPr>
                          <m:t>𝑘</m:t>
                        </m:r>
                      </m:e>
                      <m:sub>
                        <m:r>
                          <a:rPr lang="en-US" altLang="zh-CN" sz="1007" i="1">
                            <a:latin typeface="Cambria Math" panose="02040503050406030204" pitchFamily="18" charset="0"/>
                            <a:ea typeface="Cambria Math" panose="02040503050406030204" pitchFamily="18" charset="0"/>
                          </a:rPr>
                          <m:t>𝑔</m:t>
                        </m:r>
                      </m:sub>
                    </m:sSub>
                    <m:r>
                      <a:rPr lang="en-US" altLang="zh-CN" sz="1007" i="1">
                        <a:latin typeface="Cambria Math" panose="02040503050406030204" pitchFamily="18" charset="0"/>
                        <a:ea typeface="Cambria Math" panose="02040503050406030204" pitchFamily="18" charset="0"/>
                      </a:rPr>
                      <m:t>=</m:t>
                    </m:r>
                    <m:f>
                      <m:fPr>
                        <m:ctrlPr>
                          <a:rPr lang="en-US" altLang="zh-CN" sz="1007" i="1">
                            <a:latin typeface="Cambria Math" panose="02040503050406030204" pitchFamily="18" charset="0"/>
                            <a:ea typeface="Cambria Math" panose="02040503050406030204" pitchFamily="18" charset="0"/>
                          </a:rPr>
                        </m:ctrlPr>
                      </m:fPr>
                      <m:num>
                        <m:r>
                          <a:rPr lang="en-US" altLang="zh-CN" sz="1007" i="1">
                            <a:latin typeface="Cambria Math" panose="02040503050406030204" pitchFamily="18" charset="0"/>
                            <a:ea typeface="Cambria Math" panose="02040503050406030204" pitchFamily="18" charset="0"/>
                          </a:rPr>
                          <m:t>1</m:t>
                        </m:r>
                      </m:num>
                      <m:den>
                        <m:r>
                          <a:rPr lang="en-US" altLang="zh-CN" sz="1007" i="1">
                            <a:latin typeface="Cambria Math" panose="02040503050406030204" pitchFamily="18" charset="0"/>
                            <a:ea typeface="Cambria Math" panose="02040503050406030204" pitchFamily="18" charset="0"/>
                          </a:rPr>
                          <m:t>1−</m:t>
                        </m:r>
                        <m:r>
                          <a:rPr lang="zh-CN" altLang="en-US" sz="1007" i="1">
                            <a:latin typeface="Cambria Math" panose="02040503050406030204" pitchFamily="18" charset="0"/>
                            <a:ea typeface="Cambria Math" panose="02040503050406030204" pitchFamily="18" charset="0"/>
                          </a:rPr>
                          <m:t>𝛽</m:t>
                        </m:r>
                      </m:den>
                    </m:f>
                  </m:oMath>
                </a14:m>
                <a:r>
                  <a:rPr lang="zh-CN" altLang="en-US" sz="1007" dirty="0">
                    <a:latin typeface="Garamond" panose="02020404030301010803" pitchFamily="18" charset="0"/>
                    <a:ea typeface="SimSun" panose="02010600030101010101" pitchFamily="2" charset="-122"/>
                  </a:rPr>
                  <a:t>  </a:t>
                </a:r>
                <a:endParaRPr lang="en-US" altLang="zh-CN" sz="1007" i="1" dirty="0">
                  <a:latin typeface="Cambria Math" panose="02040503050406030204" pitchFamily="18" charset="0"/>
                  <a:ea typeface="Cambria Math" panose="02040503050406030204" pitchFamily="18" charset="0"/>
                </a:endParaRPr>
              </a:p>
              <a:p>
                <a14:m>
                  <m:oMath xmlns:m="http://schemas.openxmlformats.org/officeDocument/2006/math">
                    <m:sSub>
                      <m:sSubPr>
                        <m:ctrlPr>
                          <a:rPr lang="en-US" altLang="zh-CN" sz="1007" i="1">
                            <a:latin typeface="Cambria Math" panose="02040503050406030204" pitchFamily="18" charset="0"/>
                            <a:ea typeface="Cambria Math" panose="02040503050406030204" pitchFamily="18" charset="0"/>
                          </a:rPr>
                        </m:ctrlPr>
                      </m:sSubPr>
                      <m:e>
                        <m:r>
                          <a:rPr lang="en-US" altLang="zh-CN" sz="1007" i="1">
                            <a:latin typeface="Cambria Math" panose="02040503050406030204" pitchFamily="18" charset="0"/>
                            <a:ea typeface="Cambria Math" panose="02040503050406030204" pitchFamily="18" charset="0"/>
                          </a:rPr>
                          <m:t>𝑘</m:t>
                        </m:r>
                      </m:e>
                      <m:sub>
                        <m:r>
                          <a:rPr lang="en-US" altLang="zh-CN" sz="1007" i="1">
                            <a:latin typeface="Cambria Math" panose="02040503050406030204" pitchFamily="18" charset="0"/>
                            <a:ea typeface="Cambria Math" panose="02040503050406030204" pitchFamily="18" charset="0"/>
                          </a:rPr>
                          <m:t>𝑔</m:t>
                        </m:r>
                      </m:sub>
                    </m:sSub>
                    <m:r>
                      <a:rPr lang="en-US" altLang="zh-CN" sz="1007" i="1">
                        <a:latin typeface="Cambria Math" panose="02040503050406030204" pitchFamily="18" charset="0"/>
                        <a:ea typeface="Cambria Math" panose="02040503050406030204" pitchFamily="18" charset="0"/>
                      </a:rPr>
                      <m:t>&gt;0</m:t>
                    </m:r>
                  </m:oMath>
                </a14:m>
                <a:r>
                  <a:rPr lang="zh-CN" altLang="en-US" sz="1007" dirty="0">
                    <a:latin typeface="Garamond" panose="02020404030301010803" pitchFamily="18" charset="0"/>
                    <a:ea typeface="SimSun" panose="02010600030101010101" pitchFamily="2" charset="-122"/>
                  </a:rPr>
                  <a:t>，表明收入随政府购买支出增加而增加。</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t="-1463"/>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83</a:t>
            </a:fld>
            <a:endParaRPr lang="zh-CN" altLang="en-US"/>
          </a:p>
        </p:txBody>
      </p:sp>
      <p:sp>
        <p:nvSpPr>
          <p:cNvPr id="7" name="灯片编号占位符 2">
            <a:extLst>
              <a:ext uri="{FF2B5EF4-FFF2-40B4-BE49-F238E27FC236}">
                <a16:creationId xmlns:a16="http://schemas.microsoft.com/office/drawing/2014/main" id="{0338ABA0-5547-7934-7AAF-43222C7B1B66}"/>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83</a:t>
            </a:fld>
            <a:endParaRPr lang="zh-CN" altLang="zh-CN" sz="856" dirty="0">
              <a:solidFill>
                <a:srgbClr val="777777"/>
              </a:solidFill>
              <a:ea typeface="宋体" panose="02010600030101010101" pitchFamily="2" charset="-122"/>
            </a:endParaRPr>
          </a:p>
        </p:txBody>
      </p:sp>
      <p:sp>
        <p:nvSpPr>
          <p:cNvPr id="8" name="页脚占位符 1">
            <a:extLst>
              <a:ext uri="{FF2B5EF4-FFF2-40B4-BE49-F238E27FC236}">
                <a16:creationId xmlns:a16="http://schemas.microsoft.com/office/drawing/2014/main" id="{B7061395-E5DB-36CF-D110-94959FE4B581}"/>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sp>
        <p:nvSpPr>
          <p:cNvPr id="9" name="标题 8">
            <a:extLst>
              <a:ext uri="{FF2B5EF4-FFF2-40B4-BE49-F238E27FC236}">
                <a16:creationId xmlns:a16="http://schemas.microsoft.com/office/drawing/2014/main" id="{48BD6BFB-3AFC-80F5-9426-E326876ACA67}"/>
              </a:ext>
            </a:extLst>
          </p:cNvPr>
          <p:cNvSpPr>
            <a:spLocks noGrp="1"/>
          </p:cNvSpPr>
          <p:nvPr>
            <p:ph type="title"/>
          </p:nvPr>
        </p:nvSpPr>
        <p:spPr/>
        <p:txBody>
          <a:bodyPr/>
          <a:lstStyle/>
          <a:p>
            <a:r>
              <a:rPr kumimoji="1" lang="zh-CN" altLang="en-US" dirty="0"/>
              <a:t>政府购买乘数</a:t>
            </a:r>
          </a:p>
        </p:txBody>
      </p:sp>
    </p:spTree>
    <p:extLst>
      <p:ext uri="{BB962C8B-B14F-4D97-AF65-F5344CB8AC3E}">
        <p14:creationId xmlns:p14="http://schemas.microsoft.com/office/powerpoint/2010/main" val="72442496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sz="1200" b="1" dirty="0">
                <a:latin typeface="Garamond" panose="02020404030301010803" pitchFamily="18" charset="0"/>
                <a:ea typeface="SimSun" panose="02010600030101010101" pitchFamily="2" charset="-122"/>
              </a:rPr>
              <a:t>税收乘数</a:t>
            </a:r>
            <a:r>
              <a:rPr lang="zh-CN" altLang="en-US" sz="1200" dirty="0">
                <a:latin typeface="Garamond" panose="02020404030301010803" pitchFamily="18" charset="0"/>
                <a:ea typeface="SimSun" panose="02010600030101010101" pitchFamily="2" charset="-122"/>
              </a:rPr>
              <a:t>指收入变动与引起这种变动的税收变动的比率</a:t>
            </a:r>
            <a:endParaRPr lang="en-US" altLang="zh-CN" sz="1200" dirty="0">
              <a:latin typeface="Garamond" panose="02020404030301010803" pitchFamily="18" charset="0"/>
              <a:ea typeface="SimSun" panose="02010600030101010101" pitchFamily="2" charset="-122"/>
            </a:endParaRPr>
          </a:p>
          <a:p>
            <a:r>
              <a:rPr lang="en-US" altLang="zh-CN" sz="1200" dirty="0">
                <a:latin typeface="Garamond" panose="02020404030301010803" pitchFamily="18" charset="0"/>
                <a:ea typeface="SimSun" panose="02010600030101010101" pitchFamily="2" charset="-122"/>
              </a:rPr>
              <a:t>1</a:t>
            </a:r>
            <a:r>
              <a:rPr lang="zh-CN" altLang="en-US" sz="1200" dirty="0">
                <a:latin typeface="Garamond" panose="02020404030301010803" pitchFamily="18" charset="0"/>
                <a:ea typeface="SimSun" panose="02010600030101010101" pitchFamily="2" charset="-122"/>
              </a:rPr>
              <a:t>）比例税：税率变动对总收入的影响；</a:t>
            </a:r>
            <a:endParaRPr lang="en-US" altLang="zh-CN" sz="1200" dirty="0">
              <a:latin typeface="Garamond" panose="02020404030301010803" pitchFamily="18" charset="0"/>
              <a:ea typeface="SimSun" panose="02010600030101010101" pitchFamily="2" charset="-122"/>
            </a:endParaRPr>
          </a:p>
          <a:p>
            <a:r>
              <a:rPr lang="en-US" altLang="zh-CN" sz="1200" dirty="0">
                <a:latin typeface="Garamond" panose="02020404030301010803" pitchFamily="18" charset="0"/>
                <a:ea typeface="SimSun" panose="02010600030101010101" pitchFamily="2" charset="-122"/>
              </a:rPr>
              <a:t>2</a:t>
            </a:r>
            <a:r>
              <a:rPr lang="zh-CN" altLang="en-US" sz="1200" dirty="0">
                <a:latin typeface="Garamond" panose="02020404030301010803" pitchFamily="18" charset="0"/>
                <a:ea typeface="SimSun" panose="02010600030101010101" pitchFamily="2" charset="-122"/>
              </a:rPr>
              <a:t>）定量税：税收绝对量变动对总收入的影响；</a:t>
            </a:r>
            <a:endParaRPr lang="en-US" altLang="zh-CN" sz="1200" dirty="0">
              <a:latin typeface="Garamond" panose="02020404030301010803" pitchFamily="18" charset="0"/>
              <a:ea typeface="SimSun" panose="02010600030101010101" pitchFamily="2" charset="-122"/>
            </a:endParaRPr>
          </a:p>
          <a:p>
            <a:r>
              <a:rPr lang="en-US" altLang="zh-CN" sz="1200" dirty="0">
                <a:latin typeface="Garamond" panose="02020404030301010803" pitchFamily="18" charset="0"/>
                <a:ea typeface="SimSun" panose="02010600030101010101" pitchFamily="2" charset="-122"/>
              </a:rPr>
              <a:t>3</a:t>
            </a:r>
            <a:r>
              <a:rPr lang="zh-CN" altLang="en-US" sz="1200" dirty="0">
                <a:latin typeface="Garamond" panose="02020404030301010803" pitchFamily="18" charset="0"/>
                <a:ea typeface="SimSun" panose="02010600030101010101" pitchFamily="2" charset="-122"/>
              </a:rPr>
              <a:t>）比例与定量税同时存在的情形。</a:t>
            </a:r>
            <a:endParaRPr lang="en-US" altLang="zh-CN" sz="1200" dirty="0">
              <a:latin typeface="Garamond" panose="02020404030301010803" pitchFamily="18" charset="0"/>
              <a:ea typeface="SimSun" panose="02010600030101010101" pitchFamily="2" charset="-122"/>
            </a:endParaRPr>
          </a:p>
          <a:p>
            <a:r>
              <a:rPr lang="zh-CN" altLang="en-US" sz="1000" dirty="0">
                <a:solidFill>
                  <a:srgbClr val="C00000"/>
                </a:solidFill>
                <a:latin typeface="Garamond" panose="02020404030301010803" pitchFamily="18" charset="0"/>
                <a:ea typeface="SimSun" panose="02010600030101010101" pitchFamily="2" charset="-122"/>
              </a:rPr>
              <a:t>请同学们计算以上三种不同情形下的税收乘数。</a:t>
            </a:r>
          </a:p>
        </p:txBody>
      </p:sp>
      <p:sp>
        <p:nvSpPr>
          <p:cNvPr id="6" name="灯片编号占位符 5"/>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84</a:t>
            </a:fld>
            <a:endParaRPr lang="zh-CN" altLang="en-US"/>
          </a:p>
        </p:txBody>
      </p:sp>
      <p:sp>
        <p:nvSpPr>
          <p:cNvPr id="7" name="灯片编号占位符 2">
            <a:extLst>
              <a:ext uri="{FF2B5EF4-FFF2-40B4-BE49-F238E27FC236}">
                <a16:creationId xmlns:a16="http://schemas.microsoft.com/office/drawing/2014/main" id="{8FB9CC28-CDD5-95CB-2BCB-FA00D15F2A7E}"/>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84</a:t>
            </a:fld>
            <a:endParaRPr lang="zh-CN" altLang="zh-CN" sz="856" dirty="0">
              <a:solidFill>
                <a:srgbClr val="777777"/>
              </a:solidFill>
              <a:ea typeface="宋体" panose="02010600030101010101" pitchFamily="2" charset="-122"/>
            </a:endParaRPr>
          </a:p>
        </p:txBody>
      </p:sp>
      <p:sp>
        <p:nvSpPr>
          <p:cNvPr id="8" name="页脚占位符 1">
            <a:extLst>
              <a:ext uri="{FF2B5EF4-FFF2-40B4-BE49-F238E27FC236}">
                <a16:creationId xmlns:a16="http://schemas.microsoft.com/office/drawing/2014/main" id="{45791290-A32D-F1D8-09CC-86156EFAF889}"/>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sp>
        <p:nvSpPr>
          <p:cNvPr id="9" name="标题 8">
            <a:extLst>
              <a:ext uri="{FF2B5EF4-FFF2-40B4-BE49-F238E27FC236}">
                <a16:creationId xmlns:a16="http://schemas.microsoft.com/office/drawing/2014/main" id="{EF0AA421-AD3D-2935-97FA-2F8B0DF6D111}"/>
              </a:ext>
            </a:extLst>
          </p:cNvPr>
          <p:cNvSpPr>
            <a:spLocks noGrp="1"/>
          </p:cNvSpPr>
          <p:nvPr>
            <p:ph type="title"/>
          </p:nvPr>
        </p:nvSpPr>
        <p:spPr/>
        <p:txBody>
          <a:bodyPr/>
          <a:lstStyle/>
          <a:p>
            <a:r>
              <a:rPr kumimoji="1" lang="zh-CN" altLang="en-US" dirty="0"/>
              <a:t>税收乘数</a:t>
            </a:r>
          </a:p>
        </p:txBody>
      </p:sp>
    </p:spTree>
    <p:extLst>
      <p:ext uri="{BB962C8B-B14F-4D97-AF65-F5344CB8AC3E}">
        <p14:creationId xmlns:p14="http://schemas.microsoft.com/office/powerpoint/2010/main" val="55925031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fontScale="92500"/>
              </a:bodyPr>
              <a:lstStyle/>
              <a:p>
                <a:r>
                  <a:rPr lang="zh-CN" altLang="en-US" sz="1209" b="1" dirty="0"/>
                  <a:t>政府转移支付乘数</a:t>
                </a:r>
                <a:r>
                  <a:rPr lang="zh-CN" altLang="en-US" sz="1209" dirty="0"/>
                  <a:t>指收入变动与引起这种变动的政府转移支付变动的比率。</a:t>
                </a:r>
                <a:endParaRPr lang="en-US" altLang="zh-CN" sz="1209" dirty="0"/>
              </a:p>
              <a:p>
                <a:r>
                  <a:rPr lang="zh-CN" altLang="en-US" sz="1007" dirty="0"/>
                  <a:t>写入了政府转移支付后，净税收</a:t>
                </a:r>
                <a14:m>
                  <m:oMath xmlns:m="http://schemas.openxmlformats.org/officeDocument/2006/math">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𝑡</m:t>
                        </m:r>
                      </m:e>
                      <m:sub>
                        <m:r>
                          <a:rPr lang="en-US" altLang="zh-CN" sz="1007" i="1">
                            <a:latin typeface="Cambria Math" panose="02040503050406030204" pitchFamily="18" charset="0"/>
                          </a:rPr>
                          <m:t>𝑛</m:t>
                        </m:r>
                      </m:sub>
                    </m:sSub>
                    <m:r>
                      <a:rPr lang="en-US" altLang="zh-CN" sz="1007" i="1">
                        <a:latin typeface="Cambria Math" panose="02040503050406030204" pitchFamily="18" charset="0"/>
                      </a:rPr>
                      <m:t>=</m:t>
                    </m:r>
                    <m:r>
                      <a:rPr lang="en-US" altLang="zh-CN" sz="1007" i="1">
                        <a:latin typeface="Cambria Math" panose="02040503050406030204" pitchFamily="18" charset="0"/>
                      </a:rPr>
                      <m:t>𝑡</m:t>
                    </m:r>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𝑡</m:t>
                        </m:r>
                      </m:e>
                      <m:sub>
                        <m:r>
                          <a:rPr lang="en-US" altLang="zh-CN" sz="1007" i="1">
                            <a:latin typeface="Cambria Math" panose="02040503050406030204" pitchFamily="18" charset="0"/>
                          </a:rPr>
                          <m:t>𝑟</m:t>
                        </m:r>
                      </m:sub>
                    </m:sSub>
                  </m:oMath>
                </a14:m>
                <a:endParaRPr lang="en-US" altLang="zh-CN" sz="1007" dirty="0"/>
              </a:p>
              <a:p>
                <a:r>
                  <a:rPr lang="zh-CN" altLang="en-US" sz="1007" dirty="0"/>
                  <a:t>在</a:t>
                </a:r>
                <a14:m>
                  <m:oMath xmlns:m="http://schemas.openxmlformats.org/officeDocument/2006/math">
                    <m:r>
                      <a:rPr lang="en-US" altLang="zh-CN" sz="1007" i="1">
                        <a:latin typeface="Cambria Math" panose="02040503050406030204" pitchFamily="18" charset="0"/>
                      </a:rPr>
                      <m:t>𝑦</m:t>
                    </m:r>
                    <m:r>
                      <a:rPr lang="en-US" altLang="zh-CN" sz="1007" i="1">
                        <a:latin typeface="Cambria Math" panose="02040503050406030204" pitchFamily="18" charset="0"/>
                      </a:rPr>
                      <m:t>=</m:t>
                    </m:r>
                    <m:f>
                      <m:fPr>
                        <m:ctrlPr>
                          <a:rPr lang="en-US" altLang="zh-CN" sz="1007" i="1">
                            <a:latin typeface="Cambria Math" panose="02040503050406030204" pitchFamily="18" charset="0"/>
                          </a:rPr>
                        </m:ctrlPr>
                      </m:fPr>
                      <m:num>
                        <m:r>
                          <a:rPr lang="zh-CN" altLang="en-US" sz="1007" i="1">
                            <a:latin typeface="Cambria Math" panose="02040503050406030204" pitchFamily="18" charset="0"/>
                          </a:rPr>
                          <m:t>𝛼</m:t>
                        </m:r>
                        <m:r>
                          <a:rPr lang="en-US" altLang="zh-CN" sz="1007" i="1">
                            <a:latin typeface="Cambria Math" panose="02040503050406030204" pitchFamily="18" charset="0"/>
                          </a:rPr>
                          <m:t>+</m:t>
                        </m:r>
                        <m:r>
                          <a:rPr lang="en-US" altLang="zh-CN" sz="1007" i="1">
                            <a:latin typeface="Cambria Math" panose="02040503050406030204" pitchFamily="18" charset="0"/>
                          </a:rPr>
                          <m:t>𝑖</m:t>
                        </m:r>
                        <m:r>
                          <a:rPr lang="en-US" altLang="zh-CN" sz="1007" i="1">
                            <a:latin typeface="Cambria Math" panose="02040503050406030204" pitchFamily="18" charset="0"/>
                          </a:rPr>
                          <m:t>+</m:t>
                        </m:r>
                        <m:r>
                          <a:rPr lang="en-US" altLang="zh-CN" sz="1007" i="1">
                            <a:latin typeface="Cambria Math" panose="02040503050406030204" pitchFamily="18" charset="0"/>
                          </a:rPr>
                          <m:t>𝑔</m:t>
                        </m:r>
                        <m:r>
                          <a:rPr lang="en-US" altLang="zh-CN" sz="1007" i="1">
                            <a:latin typeface="Cambria Math" panose="02040503050406030204" pitchFamily="18" charset="0"/>
                          </a:rPr>
                          <m:t>−</m:t>
                        </m:r>
                        <m:r>
                          <a:rPr lang="zh-CN" altLang="en-US" sz="1007" i="1">
                            <a:latin typeface="Cambria Math" panose="02040503050406030204" pitchFamily="18" charset="0"/>
                          </a:rPr>
                          <m:t>𝛽</m:t>
                        </m:r>
                        <m:r>
                          <a:rPr lang="en-US" altLang="zh-CN" sz="1007" i="1">
                            <a:latin typeface="Cambria Math" panose="02040503050406030204" pitchFamily="18" charset="0"/>
                          </a:rPr>
                          <m:t>(</m:t>
                        </m:r>
                        <m:r>
                          <a:rPr lang="en-US" altLang="zh-CN" sz="1007" i="1">
                            <a:latin typeface="Cambria Math" panose="02040503050406030204" pitchFamily="18" charset="0"/>
                          </a:rPr>
                          <m:t>𝑡</m:t>
                        </m:r>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𝑡</m:t>
                            </m:r>
                          </m:e>
                          <m:sub>
                            <m:r>
                              <a:rPr lang="en-US" altLang="zh-CN" sz="1007" i="1">
                                <a:latin typeface="Cambria Math" panose="02040503050406030204" pitchFamily="18" charset="0"/>
                              </a:rPr>
                              <m:t>𝑟</m:t>
                            </m:r>
                          </m:sub>
                        </m:sSub>
                        <m:r>
                          <a:rPr lang="en-US" altLang="zh-CN" sz="1007" i="1">
                            <a:latin typeface="Cambria Math" panose="02040503050406030204" pitchFamily="18" charset="0"/>
                          </a:rPr>
                          <m:t>)</m:t>
                        </m:r>
                      </m:num>
                      <m:den>
                        <m:r>
                          <a:rPr lang="en-US" altLang="zh-CN" sz="1007" i="1">
                            <a:latin typeface="Cambria Math" panose="02040503050406030204" pitchFamily="18" charset="0"/>
                          </a:rPr>
                          <m:t>1−</m:t>
                        </m:r>
                        <m:r>
                          <a:rPr lang="zh-CN" altLang="en-US" sz="1007" i="1">
                            <a:latin typeface="Cambria Math" panose="02040503050406030204" pitchFamily="18" charset="0"/>
                          </a:rPr>
                          <m:t>𝛽</m:t>
                        </m:r>
                      </m:den>
                    </m:f>
                  </m:oMath>
                </a14:m>
                <a:r>
                  <a:rPr lang="zh-CN" altLang="en-US" sz="1007" dirty="0"/>
                  <a:t>中，只有政府转移支付变动，则转移支付为</a:t>
                </a:r>
                <a14:m>
                  <m:oMath xmlns:m="http://schemas.openxmlformats.org/officeDocument/2006/math">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𝑡</m:t>
                        </m:r>
                      </m:e>
                      <m:sub>
                        <m:r>
                          <a:rPr lang="en-US" altLang="zh-CN" sz="1007" i="1">
                            <a:latin typeface="Cambria Math" panose="02040503050406030204" pitchFamily="18" charset="0"/>
                          </a:rPr>
                          <m:t>𝑟</m:t>
                        </m:r>
                        <m:r>
                          <a:rPr lang="en-US" altLang="zh-CN" sz="1007" i="1">
                            <a:latin typeface="Cambria Math" panose="02040503050406030204" pitchFamily="18" charset="0"/>
                          </a:rPr>
                          <m:t>0</m:t>
                        </m:r>
                      </m:sub>
                    </m:sSub>
                  </m:oMath>
                </a14:m>
                <a:r>
                  <a:rPr lang="zh-CN" altLang="en-US" sz="1007" dirty="0"/>
                  <a:t>和</a:t>
                </a:r>
                <a14:m>
                  <m:oMath xmlns:m="http://schemas.openxmlformats.org/officeDocument/2006/math">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𝑡</m:t>
                        </m:r>
                      </m:e>
                      <m:sub>
                        <m:r>
                          <a:rPr lang="en-US" altLang="zh-CN" sz="1007" i="1">
                            <a:latin typeface="Cambria Math" panose="02040503050406030204" pitchFamily="18" charset="0"/>
                          </a:rPr>
                          <m:t>𝑟</m:t>
                        </m:r>
                        <m:r>
                          <a:rPr lang="en-US" altLang="zh-CN" sz="1007" i="1">
                            <a:latin typeface="Cambria Math" panose="02040503050406030204" pitchFamily="18" charset="0"/>
                          </a:rPr>
                          <m:t>1</m:t>
                        </m:r>
                      </m:sub>
                    </m:sSub>
                  </m:oMath>
                </a14:m>
                <a:r>
                  <a:rPr lang="zh-CN" altLang="en-US" sz="1007" dirty="0"/>
                  <a:t>时的收入分别为：</a:t>
                </a:r>
                <a:endParaRPr lang="en-US" altLang="zh-CN" sz="1007" dirty="0"/>
              </a:p>
              <a:p>
                <a14:m>
                  <m:oMath xmlns:m="http://schemas.openxmlformats.org/officeDocument/2006/math">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𝑦</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f>
                      <m:fPr>
                        <m:ctrlPr>
                          <a:rPr lang="en-US" altLang="zh-CN" sz="1007" i="1">
                            <a:latin typeface="Cambria Math" panose="02040503050406030204" pitchFamily="18" charset="0"/>
                          </a:rPr>
                        </m:ctrlPr>
                      </m:fPr>
                      <m:num>
                        <m:sSub>
                          <m:sSubPr>
                            <m:ctrlPr>
                              <a:rPr lang="en-US" altLang="zh-CN" sz="1007" i="1">
                                <a:latin typeface="Cambria Math" panose="02040503050406030204" pitchFamily="18" charset="0"/>
                              </a:rPr>
                            </m:ctrlPr>
                          </m:sSubPr>
                          <m:e>
                            <m:r>
                              <a:rPr lang="zh-CN" altLang="en-US" sz="1007" i="1">
                                <a:latin typeface="Cambria Math" panose="02040503050406030204" pitchFamily="18" charset="0"/>
                              </a:rPr>
                              <m:t>𝛼</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𝑖</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𝑔</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r>
                          <a:rPr lang="zh-CN" altLang="en-US" sz="1007" i="1">
                            <a:latin typeface="Cambria Math" panose="02040503050406030204" pitchFamily="18" charset="0"/>
                          </a:rPr>
                          <m:t>𝛽</m:t>
                        </m:r>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𝑡</m:t>
                            </m:r>
                            <m:r>
                              <a:rPr lang="en-US" altLang="zh-CN" sz="1007" i="1">
                                <a:latin typeface="Cambria Math" panose="02040503050406030204" pitchFamily="18" charset="0"/>
                              </a:rPr>
                              <m:t>−</m:t>
                            </m:r>
                            <m:r>
                              <a:rPr lang="en-US" altLang="zh-CN" sz="1007" i="1">
                                <a:latin typeface="Cambria Math" panose="02040503050406030204" pitchFamily="18" charset="0"/>
                              </a:rPr>
                              <m:t>𝑡</m:t>
                            </m:r>
                          </m:e>
                          <m:sub>
                            <m:r>
                              <a:rPr lang="en-US" altLang="zh-CN" sz="1007" i="1">
                                <a:latin typeface="Cambria Math" panose="02040503050406030204" pitchFamily="18" charset="0"/>
                              </a:rPr>
                              <m:t>𝑟</m:t>
                            </m:r>
                            <m:r>
                              <a:rPr lang="en-US" altLang="zh-CN" sz="1007" i="1">
                                <a:latin typeface="Cambria Math" panose="02040503050406030204" pitchFamily="18" charset="0"/>
                              </a:rPr>
                              <m:t>0</m:t>
                            </m:r>
                          </m:sub>
                        </m:sSub>
                        <m:r>
                          <a:rPr lang="en-US" altLang="zh-CN" sz="1007" i="1">
                            <a:latin typeface="Cambria Math" panose="02040503050406030204" pitchFamily="18" charset="0"/>
                          </a:rPr>
                          <m:t>)</m:t>
                        </m:r>
                      </m:num>
                      <m:den>
                        <m:r>
                          <a:rPr lang="en-US" altLang="zh-CN" sz="1007" i="1">
                            <a:latin typeface="Cambria Math" panose="02040503050406030204" pitchFamily="18" charset="0"/>
                          </a:rPr>
                          <m:t>1−</m:t>
                        </m:r>
                        <m:r>
                          <a:rPr lang="zh-CN" altLang="en-US" sz="1007" i="1">
                            <a:latin typeface="Cambria Math" panose="02040503050406030204" pitchFamily="18" charset="0"/>
                          </a:rPr>
                          <m:t>𝛽</m:t>
                        </m:r>
                      </m:den>
                    </m:f>
                  </m:oMath>
                </a14:m>
                <a:r>
                  <a:rPr lang="en-US" altLang="zh-CN" sz="1007" dirty="0">
                    <a:latin typeface="+mn-ea"/>
                  </a:rPr>
                  <a:t>    </a:t>
                </a:r>
                <a14:m>
                  <m:oMath xmlns:m="http://schemas.openxmlformats.org/officeDocument/2006/math">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𝑦</m:t>
                        </m:r>
                      </m:e>
                      <m:sub>
                        <m:r>
                          <a:rPr lang="en-US" altLang="zh-CN" sz="1007" i="1">
                            <a:latin typeface="Cambria Math" panose="02040503050406030204" pitchFamily="18" charset="0"/>
                          </a:rPr>
                          <m:t>1</m:t>
                        </m:r>
                      </m:sub>
                    </m:sSub>
                    <m:r>
                      <a:rPr lang="en-US" altLang="zh-CN" sz="1007" i="1">
                        <a:latin typeface="Cambria Math" panose="02040503050406030204" pitchFamily="18" charset="0"/>
                      </a:rPr>
                      <m:t>=</m:t>
                    </m:r>
                    <m:f>
                      <m:fPr>
                        <m:ctrlPr>
                          <a:rPr lang="en-US" altLang="zh-CN" sz="1007" i="1">
                            <a:latin typeface="Cambria Math" panose="02040503050406030204" pitchFamily="18" charset="0"/>
                          </a:rPr>
                        </m:ctrlPr>
                      </m:fPr>
                      <m:num>
                        <m:sSub>
                          <m:sSubPr>
                            <m:ctrlPr>
                              <a:rPr lang="en-US" altLang="zh-CN" sz="1007" i="1">
                                <a:latin typeface="Cambria Math" panose="02040503050406030204" pitchFamily="18" charset="0"/>
                              </a:rPr>
                            </m:ctrlPr>
                          </m:sSubPr>
                          <m:e>
                            <m:r>
                              <a:rPr lang="zh-CN" altLang="en-US" sz="1007" i="1">
                                <a:latin typeface="Cambria Math" panose="02040503050406030204" pitchFamily="18" charset="0"/>
                              </a:rPr>
                              <m:t>𝛼</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𝑖</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𝑔</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r>
                          <a:rPr lang="zh-CN" altLang="en-US" sz="1007" i="1">
                            <a:latin typeface="Cambria Math" panose="02040503050406030204" pitchFamily="18" charset="0"/>
                          </a:rPr>
                          <m:t>𝛽</m:t>
                        </m:r>
                        <m:r>
                          <a:rPr lang="en-US" altLang="zh-CN" sz="1007" i="1">
                            <a:latin typeface="Cambria Math" panose="02040503050406030204" pitchFamily="18" charset="0"/>
                          </a:rPr>
                          <m:t>(</m:t>
                        </m:r>
                        <m:r>
                          <a:rPr lang="en-US" altLang="zh-CN" sz="1007" i="1">
                            <a:latin typeface="Cambria Math" panose="02040503050406030204" pitchFamily="18" charset="0"/>
                          </a:rPr>
                          <m:t>𝑡</m:t>
                        </m:r>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𝑡</m:t>
                            </m:r>
                          </m:e>
                          <m:sub>
                            <m:r>
                              <a:rPr lang="en-US" altLang="zh-CN" sz="1007" i="1">
                                <a:latin typeface="Cambria Math" panose="02040503050406030204" pitchFamily="18" charset="0"/>
                              </a:rPr>
                              <m:t>𝑟</m:t>
                            </m:r>
                            <m:r>
                              <a:rPr lang="en-US" altLang="zh-CN" sz="1007" i="1">
                                <a:latin typeface="Cambria Math" panose="02040503050406030204" pitchFamily="18" charset="0"/>
                              </a:rPr>
                              <m:t>1</m:t>
                            </m:r>
                          </m:sub>
                        </m:sSub>
                        <m:r>
                          <a:rPr lang="en-US" altLang="zh-CN" sz="1007" i="1">
                            <a:latin typeface="Cambria Math" panose="02040503050406030204" pitchFamily="18" charset="0"/>
                          </a:rPr>
                          <m:t>)</m:t>
                        </m:r>
                      </m:num>
                      <m:den>
                        <m:r>
                          <a:rPr lang="en-US" altLang="zh-CN" sz="1007" i="1">
                            <a:latin typeface="Cambria Math" panose="02040503050406030204" pitchFamily="18" charset="0"/>
                          </a:rPr>
                          <m:t>1−</m:t>
                        </m:r>
                        <m:r>
                          <a:rPr lang="zh-CN" altLang="en-US" sz="1007" i="1">
                            <a:latin typeface="Cambria Math" panose="02040503050406030204" pitchFamily="18" charset="0"/>
                          </a:rPr>
                          <m:t>𝛽</m:t>
                        </m:r>
                      </m:den>
                    </m:f>
                  </m:oMath>
                </a14:m>
                <a:endParaRPr lang="en-US" altLang="zh-CN" sz="1007" dirty="0">
                  <a:latin typeface="+mn-ea"/>
                </a:endParaRPr>
              </a:p>
              <a:p>
                <a14:m>
                  <m:oMath xmlns:m="http://schemas.openxmlformats.org/officeDocument/2006/math">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𝑦</m:t>
                        </m:r>
                      </m:e>
                      <m:sub>
                        <m:r>
                          <a:rPr lang="en-US" altLang="zh-CN" sz="1007" i="1">
                            <a:latin typeface="Cambria Math" panose="02040503050406030204" pitchFamily="18" charset="0"/>
                          </a:rPr>
                          <m:t>1</m:t>
                        </m:r>
                      </m:sub>
                    </m:sSub>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𝑦</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𝑦</m:t>
                    </m:r>
                    <m:r>
                      <a:rPr lang="en-US" altLang="zh-CN" sz="1007" i="1">
                        <a:latin typeface="Cambria Math" panose="02040503050406030204" pitchFamily="18" charset="0"/>
                        <a:ea typeface="Cambria Math" panose="02040503050406030204" pitchFamily="18" charset="0"/>
                      </a:rPr>
                      <m:t>=</m:t>
                    </m:r>
                    <m:f>
                      <m:fPr>
                        <m:ctrlPr>
                          <a:rPr lang="en-US" altLang="zh-CN" sz="1007" i="1">
                            <a:latin typeface="Cambria Math" panose="02040503050406030204" pitchFamily="18" charset="0"/>
                          </a:rPr>
                        </m:ctrlPr>
                      </m:fPr>
                      <m:num>
                        <m:r>
                          <a:rPr lang="zh-CN" altLang="en-US" sz="1007" i="1">
                            <a:latin typeface="Cambria Math" panose="02040503050406030204" pitchFamily="18" charset="0"/>
                          </a:rPr>
                          <m:t>𝛽</m:t>
                        </m:r>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m:rPr>
                                <m:sty m:val="p"/>
                              </m:rPr>
                              <a:rPr lang="en-US" altLang="zh-CN" sz="1007" i="1">
                                <a:latin typeface="Cambria Math" panose="02040503050406030204" pitchFamily="18" charset="0"/>
                              </a:rPr>
                              <m:t>t</m:t>
                            </m:r>
                          </m:e>
                          <m:sub>
                            <m:r>
                              <a:rPr lang="en-US" altLang="zh-CN" sz="1007" i="1">
                                <a:latin typeface="Cambria Math" panose="02040503050406030204" pitchFamily="18" charset="0"/>
                              </a:rPr>
                              <m:t>𝑟</m:t>
                            </m:r>
                            <m:r>
                              <a:rPr lang="en-US" altLang="zh-CN" sz="1007" i="1">
                                <a:latin typeface="Cambria Math" panose="02040503050406030204" pitchFamily="18" charset="0"/>
                              </a:rPr>
                              <m:t>1</m:t>
                            </m:r>
                          </m:sub>
                        </m:sSub>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𝑡</m:t>
                            </m:r>
                          </m:e>
                          <m:sub>
                            <m:r>
                              <a:rPr lang="en-US" altLang="zh-CN" sz="1007" i="1">
                                <a:latin typeface="Cambria Math" panose="02040503050406030204" pitchFamily="18" charset="0"/>
                              </a:rPr>
                              <m:t>𝑟</m:t>
                            </m:r>
                            <m:r>
                              <a:rPr lang="en-US" altLang="zh-CN" sz="1007" i="1">
                                <a:latin typeface="Cambria Math" panose="02040503050406030204" pitchFamily="18" charset="0"/>
                              </a:rPr>
                              <m:t>0</m:t>
                            </m:r>
                          </m:sub>
                        </m:sSub>
                        <m:r>
                          <a:rPr lang="en-US" altLang="zh-CN" sz="1007" i="1">
                            <a:latin typeface="Cambria Math" panose="02040503050406030204" pitchFamily="18" charset="0"/>
                          </a:rPr>
                          <m:t>)</m:t>
                        </m:r>
                      </m:num>
                      <m:den>
                        <m:r>
                          <a:rPr lang="en-US" altLang="zh-CN" sz="1007" i="1">
                            <a:latin typeface="Cambria Math" panose="02040503050406030204" pitchFamily="18" charset="0"/>
                          </a:rPr>
                          <m:t>1−</m:t>
                        </m:r>
                        <m:r>
                          <a:rPr lang="zh-CN" altLang="en-US" sz="1007" i="1">
                            <a:latin typeface="Cambria Math" panose="02040503050406030204" pitchFamily="18" charset="0"/>
                          </a:rPr>
                          <m:t>𝛽</m:t>
                        </m:r>
                      </m:den>
                    </m:f>
                    <m:r>
                      <a:rPr lang="en-US" altLang="zh-CN" sz="1007" i="1">
                        <a:latin typeface="Cambria Math" panose="02040503050406030204" pitchFamily="18" charset="0"/>
                      </a:rPr>
                      <m:t>=</m:t>
                    </m:r>
                    <m:f>
                      <m:fPr>
                        <m:ctrlPr>
                          <a:rPr lang="en-US" altLang="zh-CN" sz="1007" i="1">
                            <a:latin typeface="Cambria Math" panose="02040503050406030204" pitchFamily="18" charset="0"/>
                            <a:ea typeface="Cambria Math" panose="02040503050406030204" pitchFamily="18" charset="0"/>
                          </a:rPr>
                        </m:ctrlPr>
                      </m:fPr>
                      <m:num>
                        <m:r>
                          <a:rPr lang="zh-CN" altLang="en-US" sz="1007" i="1">
                            <a:latin typeface="Cambria Math" panose="02040503050406030204" pitchFamily="18" charset="0"/>
                            <a:ea typeface="Cambria Math" panose="02040503050406030204" pitchFamily="18" charset="0"/>
                          </a:rPr>
                          <m:t>𝛽</m:t>
                        </m:r>
                        <m:r>
                          <a:rPr lang="en-US" altLang="zh-CN" sz="1007" i="1">
                            <a:latin typeface="Cambria Math" panose="02040503050406030204" pitchFamily="18" charset="0"/>
                            <a:ea typeface="Cambria Math" panose="02040503050406030204" pitchFamily="18" charset="0"/>
                          </a:rPr>
                          <m:t>∆</m:t>
                        </m:r>
                        <m:sSub>
                          <m:sSubPr>
                            <m:ctrlPr>
                              <a:rPr lang="en-US" altLang="zh-CN" sz="1007" i="1">
                                <a:latin typeface="Cambria Math" panose="02040503050406030204" pitchFamily="18" charset="0"/>
                                <a:ea typeface="Cambria Math" panose="02040503050406030204" pitchFamily="18" charset="0"/>
                              </a:rPr>
                            </m:ctrlPr>
                          </m:sSubPr>
                          <m:e>
                            <m:r>
                              <a:rPr lang="en-US" altLang="zh-CN" sz="1007" i="1">
                                <a:latin typeface="Cambria Math" panose="02040503050406030204" pitchFamily="18" charset="0"/>
                                <a:ea typeface="Cambria Math" panose="02040503050406030204" pitchFamily="18" charset="0"/>
                              </a:rPr>
                              <m:t>𝑡</m:t>
                            </m:r>
                          </m:e>
                          <m:sub>
                            <m:r>
                              <a:rPr lang="en-US" altLang="zh-CN" sz="1007" i="1">
                                <a:latin typeface="Cambria Math" panose="02040503050406030204" pitchFamily="18" charset="0"/>
                                <a:ea typeface="Cambria Math" panose="02040503050406030204" pitchFamily="18" charset="0"/>
                              </a:rPr>
                              <m:t>𝑟</m:t>
                            </m:r>
                          </m:sub>
                        </m:sSub>
                      </m:num>
                      <m:den>
                        <m:r>
                          <a:rPr lang="en-US" altLang="zh-CN" sz="1007" i="1">
                            <a:latin typeface="Cambria Math" panose="02040503050406030204" pitchFamily="18" charset="0"/>
                            <a:ea typeface="Cambria Math" panose="02040503050406030204" pitchFamily="18" charset="0"/>
                          </a:rPr>
                          <m:t>1−</m:t>
                        </m:r>
                        <m:r>
                          <a:rPr lang="zh-CN" altLang="en-US" sz="1007" i="1">
                            <a:latin typeface="Cambria Math" panose="02040503050406030204" pitchFamily="18" charset="0"/>
                            <a:ea typeface="Cambria Math" panose="02040503050406030204" pitchFamily="18" charset="0"/>
                          </a:rPr>
                          <m:t>𝛽</m:t>
                        </m:r>
                      </m:den>
                    </m:f>
                  </m:oMath>
                </a14:m>
                <a:endParaRPr lang="en-US" altLang="zh-CN" sz="1007" dirty="0"/>
              </a:p>
              <a:p>
                <a14:m>
                  <m:oMath xmlns:m="http://schemas.openxmlformats.org/officeDocument/2006/math">
                    <m:r>
                      <a:rPr lang="zh-CN" altLang="en-US" sz="1007" i="1">
                        <a:latin typeface="Cambria Math" panose="02040503050406030204" pitchFamily="18" charset="0"/>
                      </a:rPr>
                      <m:t>∴</m:t>
                    </m:r>
                    <m:f>
                      <m:fPr>
                        <m:ctrlPr>
                          <a:rPr lang="en-US" altLang="zh-CN" sz="1007" i="1">
                            <a:latin typeface="Cambria Math" panose="02040503050406030204" pitchFamily="18" charset="0"/>
                            <a:ea typeface="Cambria Math" panose="02040503050406030204" pitchFamily="18" charset="0"/>
                          </a:rPr>
                        </m:ctrlPr>
                      </m:fPr>
                      <m:num>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𝑦</m:t>
                        </m:r>
                      </m:num>
                      <m:den>
                        <m:r>
                          <a:rPr lang="en-US" altLang="zh-CN" sz="1007" i="1">
                            <a:latin typeface="Cambria Math" panose="02040503050406030204" pitchFamily="18" charset="0"/>
                            <a:ea typeface="Cambria Math" panose="02040503050406030204" pitchFamily="18" charset="0"/>
                          </a:rPr>
                          <m:t>∆</m:t>
                        </m:r>
                        <m:sSub>
                          <m:sSubPr>
                            <m:ctrlPr>
                              <a:rPr lang="en-US" altLang="zh-CN" sz="1007" i="1">
                                <a:latin typeface="Cambria Math" panose="02040503050406030204" pitchFamily="18" charset="0"/>
                                <a:ea typeface="Cambria Math" panose="02040503050406030204" pitchFamily="18" charset="0"/>
                              </a:rPr>
                            </m:ctrlPr>
                          </m:sSubPr>
                          <m:e>
                            <m:r>
                              <a:rPr lang="en-US" altLang="zh-CN" sz="1007" i="1">
                                <a:latin typeface="Cambria Math" panose="02040503050406030204" pitchFamily="18" charset="0"/>
                                <a:ea typeface="Cambria Math" panose="02040503050406030204" pitchFamily="18" charset="0"/>
                              </a:rPr>
                              <m:t>𝑡</m:t>
                            </m:r>
                          </m:e>
                          <m:sub>
                            <m:r>
                              <a:rPr lang="en-US" altLang="zh-CN" sz="1007" i="1">
                                <a:latin typeface="Cambria Math" panose="02040503050406030204" pitchFamily="18" charset="0"/>
                                <a:ea typeface="Cambria Math" panose="02040503050406030204" pitchFamily="18" charset="0"/>
                              </a:rPr>
                              <m:t>𝑟</m:t>
                            </m:r>
                          </m:sub>
                        </m:sSub>
                      </m:den>
                    </m:f>
                    <m:r>
                      <a:rPr lang="en-US" altLang="zh-CN" sz="1007" i="1">
                        <a:latin typeface="Cambria Math" panose="02040503050406030204" pitchFamily="18" charset="0"/>
                        <a:ea typeface="Cambria Math" panose="02040503050406030204" pitchFamily="18" charset="0"/>
                      </a:rPr>
                      <m:t>=</m:t>
                    </m:r>
                    <m:sSub>
                      <m:sSubPr>
                        <m:ctrlPr>
                          <a:rPr lang="en-US" altLang="zh-CN" sz="1007" i="1">
                            <a:latin typeface="Cambria Math" panose="02040503050406030204" pitchFamily="18" charset="0"/>
                            <a:ea typeface="Cambria Math" panose="02040503050406030204" pitchFamily="18" charset="0"/>
                          </a:rPr>
                        </m:ctrlPr>
                      </m:sSubPr>
                      <m:e>
                        <m:r>
                          <a:rPr lang="en-US" altLang="zh-CN" sz="1007" i="1">
                            <a:latin typeface="Cambria Math" panose="02040503050406030204" pitchFamily="18" charset="0"/>
                            <a:ea typeface="Cambria Math" panose="02040503050406030204" pitchFamily="18" charset="0"/>
                          </a:rPr>
                          <m:t>𝑘</m:t>
                        </m:r>
                      </m:e>
                      <m:sub>
                        <m:sSub>
                          <m:sSubPr>
                            <m:ctrlPr>
                              <a:rPr lang="en-US" altLang="zh-CN" sz="1007" i="1">
                                <a:latin typeface="Cambria Math" panose="02040503050406030204" pitchFamily="18" charset="0"/>
                                <a:ea typeface="Cambria Math" panose="02040503050406030204" pitchFamily="18" charset="0"/>
                              </a:rPr>
                            </m:ctrlPr>
                          </m:sSubPr>
                          <m:e>
                            <m:r>
                              <a:rPr lang="en-US" altLang="zh-CN" sz="1007" i="1">
                                <a:latin typeface="Cambria Math" panose="02040503050406030204" pitchFamily="18" charset="0"/>
                                <a:ea typeface="Cambria Math" panose="02040503050406030204" pitchFamily="18" charset="0"/>
                              </a:rPr>
                              <m:t>𝑡</m:t>
                            </m:r>
                          </m:e>
                          <m:sub>
                            <m:r>
                              <a:rPr lang="en-US" altLang="zh-CN" sz="1007" i="1">
                                <a:latin typeface="Cambria Math" panose="02040503050406030204" pitchFamily="18" charset="0"/>
                                <a:ea typeface="Cambria Math" panose="02040503050406030204" pitchFamily="18" charset="0"/>
                              </a:rPr>
                              <m:t>𝑟</m:t>
                            </m:r>
                          </m:sub>
                        </m:sSub>
                      </m:sub>
                    </m:sSub>
                    <m:r>
                      <a:rPr lang="en-US" altLang="zh-CN" sz="1007" i="1">
                        <a:latin typeface="Cambria Math" panose="02040503050406030204" pitchFamily="18" charset="0"/>
                        <a:ea typeface="Cambria Math" panose="02040503050406030204" pitchFamily="18" charset="0"/>
                      </a:rPr>
                      <m:t>=</m:t>
                    </m:r>
                    <m:f>
                      <m:fPr>
                        <m:ctrlPr>
                          <a:rPr lang="en-US" altLang="zh-CN" sz="1007" i="1">
                            <a:latin typeface="Cambria Math" panose="02040503050406030204" pitchFamily="18" charset="0"/>
                            <a:ea typeface="Cambria Math" panose="02040503050406030204" pitchFamily="18" charset="0"/>
                          </a:rPr>
                        </m:ctrlPr>
                      </m:fPr>
                      <m:num>
                        <m:r>
                          <a:rPr lang="zh-CN" altLang="en-US" sz="1007" i="1">
                            <a:latin typeface="Cambria Math" panose="02040503050406030204" pitchFamily="18" charset="0"/>
                            <a:ea typeface="Cambria Math" panose="02040503050406030204" pitchFamily="18" charset="0"/>
                          </a:rPr>
                          <m:t>𝛽</m:t>
                        </m:r>
                      </m:num>
                      <m:den>
                        <m:r>
                          <a:rPr lang="en-US" altLang="zh-CN" sz="1007" i="1">
                            <a:latin typeface="Cambria Math" panose="02040503050406030204" pitchFamily="18" charset="0"/>
                            <a:ea typeface="Cambria Math" panose="02040503050406030204" pitchFamily="18" charset="0"/>
                          </a:rPr>
                          <m:t>1−</m:t>
                        </m:r>
                        <m:r>
                          <a:rPr lang="zh-CN" altLang="en-US" sz="1007" i="1">
                            <a:latin typeface="Cambria Math" panose="02040503050406030204" pitchFamily="18" charset="0"/>
                            <a:ea typeface="Cambria Math" panose="02040503050406030204" pitchFamily="18" charset="0"/>
                          </a:rPr>
                          <m:t>𝛽</m:t>
                        </m:r>
                      </m:den>
                    </m:f>
                  </m:oMath>
                </a14:m>
                <a:endParaRPr lang="en-US" altLang="zh-CN" sz="1007" dirty="0"/>
              </a:p>
              <a:p>
                <a14:m>
                  <m:oMath xmlns:m="http://schemas.openxmlformats.org/officeDocument/2006/math">
                    <m:sSub>
                      <m:sSubPr>
                        <m:ctrlPr>
                          <a:rPr lang="en-US" altLang="zh-CN" sz="1007" i="1">
                            <a:latin typeface="Cambria Math" panose="02040503050406030204" pitchFamily="18" charset="0"/>
                            <a:ea typeface="Cambria Math" panose="02040503050406030204" pitchFamily="18" charset="0"/>
                          </a:rPr>
                        </m:ctrlPr>
                      </m:sSubPr>
                      <m:e>
                        <m:r>
                          <a:rPr lang="en-US" altLang="zh-CN" sz="1007" i="1">
                            <a:latin typeface="Cambria Math" panose="02040503050406030204" pitchFamily="18" charset="0"/>
                            <a:ea typeface="Cambria Math" panose="02040503050406030204" pitchFamily="18" charset="0"/>
                          </a:rPr>
                          <m:t>𝑘</m:t>
                        </m:r>
                      </m:e>
                      <m:sub>
                        <m:sSub>
                          <m:sSubPr>
                            <m:ctrlPr>
                              <a:rPr lang="en-US" altLang="zh-CN" sz="1007" i="1">
                                <a:latin typeface="Cambria Math" panose="02040503050406030204" pitchFamily="18" charset="0"/>
                                <a:ea typeface="Cambria Math" panose="02040503050406030204" pitchFamily="18" charset="0"/>
                              </a:rPr>
                            </m:ctrlPr>
                          </m:sSubPr>
                          <m:e>
                            <m:r>
                              <a:rPr lang="en-US" altLang="zh-CN" sz="1007" i="1">
                                <a:latin typeface="Cambria Math" panose="02040503050406030204" pitchFamily="18" charset="0"/>
                                <a:ea typeface="Cambria Math" panose="02040503050406030204" pitchFamily="18" charset="0"/>
                              </a:rPr>
                              <m:t>𝑡</m:t>
                            </m:r>
                          </m:e>
                          <m:sub>
                            <m:r>
                              <a:rPr lang="en-US" altLang="zh-CN" sz="1007" i="1">
                                <a:latin typeface="Cambria Math" panose="02040503050406030204" pitchFamily="18" charset="0"/>
                                <a:ea typeface="Cambria Math" panose="02040503050406030204" pitchFamily="18" charset="0"/>
                              </a:rPr>
                              <m:t>𝑟</m:t>
                            </m:r>
                          </m:sub>
                        </m:sSub>
                      </m:sub>
                    </m:sSub>
                    <m:r>
                      <a:rPr lang="en-US" altLang="zh-CN" sz="1007" i="1">
                        <a:latin typeface="Cambria Math" panose="02040503050406030204" pitchFamily="18" charset="0"/>
                        <a:ea typeface="Cambria Math" panose="02040503050406030204" pitchFamily="18" charset="0"/>
                      </a:rPr>
                      <m:t>&gt;0</m:t>
                    </m:r>
                  </m:oMath>
                </a14:m>
                <a:r>
                  <a:rPr lang="zh-CN" altLang="en-US" sz="1007" dirty="0"/>
                  <a:t>，表明政府转移支付增加了人们的可支配收入，因而消费会增加，总支出和国民收入增加。</a:t>
                </a:r>
                <a:endParaRPr lang="en-US" altLang="zh-CN" sz="1007" dirty="0"/>
              </a:p>
              <a:p>
                <a:endParaRPr lang="zh-CN" altLang="en-US" sz="1007"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t="-976"/>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85</a:t>
            </a:fld>
            <a:endParaRPr lang="zh-CN" altLang="en-US"/>
          </a:p>
        </p:txBody>
      </p:sp>
      <p:sp>
        <p:nvSpPr>
          <p:cNvPr id="7" name="标题 6">
            <a:extLst>
              <a:ext uri="{FF2B5EF4-FFF2-40B4-BE49-F238E27FC236}">
                <a16:creationId xmlns:a16="http://schemas.microsoft.com/office/drawing/2014/main" id="{E8182D30-AFF1-101E-3DDA-9791FD756D79}"/>
              </a:ext>
            </a:extLst>
          </p:cNvPr>
          <p:cNvSpPr>
            <a:spLocks noGrp="1"/>
          </p:cNvSpPr>
          <p:nvPr>
            <p:ph type="title"/>
          </p:nvPr>
        </p:nvSpPr>
        <p:spPr/>
        <p:txBody>
          <a:bodyPr/>
          <a:lstStyle/>
          <a:p>
            <a:r>
              <a:rPr kumimoji="1" lang="zh-CN" altLang="en-US" dirty="0"/>
              <a:t>政府转移支付乘数</a:t>
            </a:r>
          </a:p>
        </p:txBody>
      </p:sp>
      <p:sp>
        <p:nvSpPr>
          <p:cNvPr id="8" name="灯片编号占位符 2">
            <a:extLst>
              <a:ext uri="{FF2B5EF4-FFF2-40B4-BE49-F238E27FC236}">
                <a16:creationId xmlns:a16="http://schemas.microsoft.com/office/drawing/2014/main" id="{88D97709-877C-71B1-7289-F79239CAF88F}"/>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85</a:t>
            </a:fld>
            <a:endParaRPr lang="zh-CN" altLang="zh-CN" sz="856" dirty="0">
              <a:solidFill>
                <a:srgbClr val="777777"/>
              </a:solidFill>
              <a:ea typeface="宋体" panose="02010600030101010101" pitchFamily="2" charset="-122"/>
            </a:endParaRPr>
          </a:p>
        </p:txBody>
      </p:sp>
      <p:sp>
        <p:nvSpPr>
          <p:cNvPr id="9" name="页脚占位符 1">
            <a:extLst>
              <a:ext uri="{FF2B5EF4-FFF2-40B4-BE49-F238E27FC236}">
                <a16:creationId xmlns:a16="http://schemas.microsoft.com/office/drawing/2014/main" id="{16708095-9288-ABBE-BB18-59E3F6F23FF4}"/>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24837715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1209" b="1" dirty="0">
                    <a:latin typeface="Garamond" panose="02020404030301010803" pitchFamily="18" charset="0"/>
                    <a:ea typeface="SimSun" panose="02010600030101010101" pitchFamily="2" charset="-122"/>
                  </a:rPr>
                  <a:t>平衡预算乘数</a:t>
                </a:r>
                <a:r>
                  <a:rPr lang="zh-CN" altLang="en-US" sz="1209" dirty="0">
                    <a:latin typeface="Garamond" panose="02020404030301010803" pitchFamily="18" charset="0"/>
                    <a:ea typeface="SimSun" panose="02010600030101010101" pitchFamily="2" charset="-122"/>
                  </a:rPr>
                  <a:t>指政府收入与支出同时以相等数量增加或减少时国民收入变动与政府收支变动的比率。</a:t>
                </a:r>
                <a:endParaRPr lang="en-US" altLang="zh-CN" sz="1209" dirty="0">
                  <a:latin typeface="Garamond" panose="02020404030301010803" pitchFamily="18" charset="0"/>
                  <a:ea typeface="SimSun" panose="02010600030101010101" pitchFamily="2" charset="-122"/>
                </a:endParaRPr>
              </a:p>
              <a:p>
                <a14:m>
                  <m:oMath xmlns:m="http://schemas.openxmlformats.org/officeDocument/2006/math">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𝑦</m:t>
                    </m:r>
                    <m:r>
                      <a:rPr lang="en-US" altLang="zh-CN" sz="1007" i="1">
                        <a:latin typeface="Cambria Math" panose="02040503050406030204" pitchFamily="18" charset="0"/>
                        <a:ea typeface="Cambria Math" panose="02040503050406030204" pitchFamily="18" charset="0"/>
                      </a:rPr>
                      <m:t>=</m:t>
                    </m:r>
                    <m:sSub>
                      <m:sSubPr>
                        <m:ctrlPr>
                          <a:rPr lang="en-US" altLang="zh-CN" sz="1007" i="1">
                            <a:latin typeface="Cambria Math" panose="02040503050406030204" pitchFamily="18" charset="0"/>
                            <a:ea typeface="Cambria Math" panose="02040503050406030204" pitchFamily="18" charset="0"/>
                          </a:rPr>
                        </m:ctrlPr>
                      </m:sSubPr>
                      <m:e>
                        <m:r>
                          <a:rPr lang="en-US" altLang="zh-CN" sz="1007" i="1">
                            <a:latin typeface="Cambria Math" panose="02040503050406030204" pitchFamily="18" charset="0"/>
                            <a:ea typeface="Cambria Math" panose="02040503050406030204" pitchFamily="18" charset="0"/>
                          </a:rPr>
                          <m:t>𝑘</m:t>
                        </m:r>
                      </m:e>
                      <m:sub>
                        <m:r>
                          <a:rPr lang="en-US" altLang="zh-CN" sz="1007" i="1">
                            <a:latin typeface="Cambria Math" panose="02040503050406030204" pitchFamily="18" charset="0"/>
                            <a:ea typeface="Cambria Math" panose="02040503050406030204" pitchFamily="18" charset="0"/>
                          </a:rPr>
                          <m:t>𝑔</m:t>
                        </m:r>
                      </m:sub>
                    </m:sSub>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𝑔</m:t>
                    </m:r>
                    <m:r>
                      <a:rPr lang="en-US" altLang="zh-CN" sz="1007" i="1">
                        <a:latin typeface="Cambria Math" panose="02040503050406030204" pitchFamily="18" charset="0"/>
                        <a:ea typeface="Cambria Math" panose="02040503050406030204" pitchFamily="18" charset="0"/>
                      </a:rPr>
                      <m:t>+</m:t>
                    </m:r>
                    <m:sSub>
                      <m:sSubPr>
                        <m:ctrlPr>
                          <a:rPr lang="en-US" altLang="zh-CN" sz="1007" i="1">
                            <a:latin typeface="Cambria Math" panose="02040503050406030204" pitchFamily="18" charset="0"/>
                            <a:ea typeface="Cambria Math" panose="02040503050406030204" pitchFamily="18" charset="0"/>
                          </a:rPr>
                        </m:ctrlPr>
                      </m:sSubPr>
                      <m:e>
                        <m:r>
                          <a:rPr lang="en-US" altLang="zh-CN" sz="1007" i="1">
                            <a:latin typeface="Cambria Math" panose="02040503050406030204" pitchFamily="18" charset="0"/>
                            <a:ea typeface="Cambria Math" panose="02040503050406030204" pitchFamily="18" charset="0"/>
                          </a:rPr>
                          <m:t>𝑘</m:t>
                        </m:r>
                      </m:e>
                      <m:sub>
                        <m:r>
                          <a:rPr lang="en-US" altLang="zh-CN" sz="1007" i="1">
                            <a:latin typeface="Cambria Math" panose="02040503050406030204" pitchFamily="18" charset="0"/>
                            <a:ea typeface="Cambria Math" panose="02040503050406030204" pitchFamily="18" charset="0"/>
                          </a:rPr>
                          <m:t>𝑡</m:t>
                        </m:r>
                      </m:sub>
                    </m:sSub>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𝑡</m:t>
                    </m:r>
                    <m:r>
                      <a:rPr lang="en-US" altLang="zh-CN" sz="1007" i="1">
                        <a:latin typeface="Cambria Math" panose="02040503050406030204" pitchFamily="18" charset="0"/>
                        <a:ea typeface="Cambria Math" panose="02040503050406030204" pitchFamily="18" charset="0"/>
                      </a:rPr>
                      <m:t>=</m:t>
                    </m:r>
                    <m:f>
                      <m:fPr>
                        <m:ctrlPr>
                          <a:rPr lang="en-US" altLang="zh-CN" sz="1007" i="1">
                            <a:latin typeface="Cambria Math" panose="02040503050406030204" pitchFamily="18" charset="0"/>
                            <a:ea typeface="Cambria Math" panose="02040503050406030204" pitchFamily="18" charset="0"/>
                          </a:rPr>
                        </m:ctrlPr>
                      </m:fPr>
                      <m:num>
                        <m:r>
                          <a:rPr lang="en-US" altLang="zh-CN" sz="1007" i="1">
                            <a:latin typeface="Cambria Math" panose="02040503050406030204" pitchFamily="18" charset="0"/>
                            <a:ea typeface="Cambria Math" panose="02040503050406030204" pitchFamily="18" charset="0"/>
                          </a:rPr>
                          <m:t>1</m:t>
                        </m:r>
                      </m:num>
                      <m:den>
                        <m:r>
                          <a:rPr lang="en-US" altLang="zh-CN" sz="1007" i="1">
                            <a:latin typeface="Cambria Math" panose="02040503050406030204" pitchFamily="18" charset="0"/>
                            <a:ea typeface="Cambria Math" panose="02040503050406030204" pitchFamily="18" charset="0"/>
                          </a:rPr>
                          <m:t>1−</m:t>
                        </m:r>
                        <m:r>
                          <a:rPr lang="zh-CN" altLang="en-US" sz="1007" i="1">
                            <a:latin typeface="Cambria Math" panose="02040503050406030204" pitchFamily="18" charset="0"/>
                            <a:ea typeface="Cambria Math" panose="02040503050406030204" pitchFamily="18" charset="0"/>
                          </a:rPr>
                          <m:t>𝛽</m:t>
                        </m:r>
                      </m:den>
                    </m:f>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𝑔</m:t>
                    </m:r>
                    <m:r>
                      <a:rPr lang="en-US" altLang="zh-CN" sz="1007" i="1">
                        <a:latin typeface="Cambria Math" panose="02040503050406030204" pitchFamily="18" charset="0"/>
                        <a:ea typeface="Cambria Math" panose="02040503050406030204" pitchFamily="18" charset="0"/>
                      </a:rPr>
                      <m:t>+</m:t>
                    </m:r>
                    <m:f>
                      <m:fPr>
                        <m:ctrlPr>
                          <a:rPr lang="en-US" altLang="zh-CN" sz="1007" i="1">
                            <a:latin typeface="Cambria Math" panose="02040503050406030204" pitchFamily="18" charset="0"/>
                            <a:ea typeface="Cambria Math" panose="02040503050406030204" pitchFamily="18" charset="0"/>
                          </a:rPr>
                        </m:ctrlPr>
                      </m:fPr>
                      <m:num>
                        <m:r>
                          <a:rPr lang="zh-CN" altLang="en-US" sz="1007" i="1">
                            <a:latin typeface="Cambria Math" panose="02040503050406030204" pitchFamily="18" charset="0"/>
                            <a:ea typeface="Cambria Math" panose="02040503050406030204" pitchFamily="18" charset="0"/>
                          </a:rPr>
                          <m:t>𝛽</m:t>
                        </m:r>
                      </m:num>
                      <m:den>
                        <m:r>
                          <a:rPr lang="en-US" altLang="zh-CN" sz="1007" i="1">
                            <a:latin typeface="Cambria Math" panose="02040503050406030204" pitchFamily="18" charset="0"/>
                            <a:ea typeface="Cambria Math" panose="02040503050406030204" pitchFamily="18" charset="0"/>
                          </a:rPr>
                          <m:t>1−</m:t>
                        </m:r>
                        <m:r>
                          <a:rPr lang="zh-CN" altLang="en-US" sz="1007" i="1">
                            <a:latin typeface="Cambria Math" panose="02040503050406030204" pitchFamily="18" charset="0"/>
                            <a:ea typeface="Cambria Math" panose="02040503050406030204" pitchFamily="18" charset="0"/>
                          </a:rPr>
                          <m:t>𝛽</m:t>
                        </m:r>
                      </m:den>
                    </m:f>
                  </m:oMath>
                </a14:m>
                <a:r>
                  <a:rPr lang="en-US" altLang="zh-CN" sz="1007" dirty="0">
                    <a:latin typeface="Garamond" panose="02020404030301010803" pitchFamily="18" charset="0"/>
                    <a:ea typeface="SimSun" panose="02010600030101010101" pitchFamily="2" charset="-122"/>
                  </a:rPr>
                  <a:t> </a:t>
                </a:r>
                <a14:m>
                  <m:oMath xmlns:m="http://schemas.openxmlformats.org/officeDocument/2006/math">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𝑡</m:t>
                    </m:r>
                  </m:oMath>
                </a14:m>
                <a:endParaRPr lang="en-US" altLang="zh-CN" sz="1007" i="1" dirty="0">
                  <a:latin typeface="Garamond" panose="02020404030301010803" pitchFamily="18" charset="0"/>
                  <a:ea typeface="SimSun" panose="02010600030101010101" pitchFamily="2" charset="-122"/>
                </a:endParaRPr>
              </a:p>
              <a:p>
                <a14:m>
                  <m:oMath xmlns:m="http://schemas.openxmlformats.org/officeDocument/2006/math">
                    <m:r>
                      <a:rPr lang="zh-CN" altLang="en-US" sz="1007" i="1" dirty="0">
                        <a:latin typeface="Cambria Math" panose="02040503050406030204" pitchFamily="18" charset="0"/>
                      </a:rPr>
                      <m:t>由于</m:t>
                    </m:r>
                  </m:oMath>
                </a14:m>
                <a:r>
                  <a:rPr lang="zh-CN" altLang="en-US" sz="1007" dirty="0">
                    <a:latin typeface="Garamond" panose="02020404030301010803" pitchFamily="18" charset="0"/>
                    <a:ea typeface="SimSun" panose="02010600030101010101" pitchFamily="2" charset="-122"/>
                  </a:rPr>
                  <a:t>假定</a:t>
                </a:r>
                <a14:m>
                  <m:oMath xmlns:m="http://schemas.openxmlformats.org/officeDocument/2006/math">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𝑔</m:t>
                    </m:r>
                  </m:oMath>
                </a14:m>
                <a:r>
                  <a:rPr lang="en-US" altLang="zh-CN" sz="1007" dirty="0">
                    <a:latin typeface="Garamond" panose="02020404030301010803" pitchFamily="18" charset="0"/>
                    <a:ea typeface="SimSun" panose="02010600030101010101" pitchFamily="2" charset="-122"/>
                  </a:rPr>
                  <a:t>= </a:t>
                </a:r>
                <a14:m>
                  <m:oMath xmlns:m="http://schemas.openxmlformats.org/officeDocument/2006/math">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𝑡</m:t>
                    </m:r>
                  </m:oMath>
                </a14:m>
                <a:r>
                  <a:rPr lang="zh-CN" altLang="en-US" sz="1007" dirty="0">
                    <a:latin typeface="Garamond" panose="02020404030301010803" pitchFamily="18" charset="0"/>
                    <a:ea typeface="SimSun" panose="02010600030101010101" pitchFamily="2" charset="-122"/>
                  </a:rPr>
                  <a:t>，因此，</a:t>
                </a:r>
                <a:endParaRPr lang="en-US" altLang="zh-CN" sz="1007" dirty="0">
                  <a:latin typeface="Garamond" panose="02020404030301010803" pitchFamily="18" charset="0"/>
                  <a:ea typeface="SimSun" panose="02010600030101010101" pitchFamily="2" charset="-122"/>
                </a:endParaRPr>
              </a:p>
              <a:p>
                <a14:m>
                  <m:oMath xmlns:m="http://schemas.openxmlformats.org/officeDocument/2006/math">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𝑦</m:t>
                    </m:r>
                    <m:r>
                      <a:rPr lang="en-US" altLang="zh-CN" sz="1007" i="1">
                        <a:latin typeface="Cambria Math" panose="02040503050406030204" pitchFamily="18" charset="0"/>
                        <a:ea typeface="Cambria Math" panose="02040503050406030204" pitchFamily="18" charset="0"/>
                      </a:rPr>
                      <m:t>=</m:t>
                    </m:r>
                    <m:f>
                      <m:fPr>
                        <m:ctrlPr>
                          <a:rPr lang="en-US" altLang="zh-CN" sz="1007" i="1">
                            <a:latin typeface="Cambria Math" panose="02040503050406030204" pitchFamily="18" charset="0"/>
                            <a:ea typeface="Cambria Math" panose="02040503050406030204" pitchFamily="18" charset="0"/>
                          </a:rPr>
                        </m:ctrlPr>
                      </m:fPr>
                      <m:num>
                        <m:r>
                          <a:rPr lang="en-US" altLang="zh-CN" sz="1007" i="1">
                            <a:latin typeface="Cambria Math" panose="02040503050406030204" pitchFamily="18" charset="0"/>
                            <a:ea typeface="Cambria Math" panose="02040503050406030204" pitchFamily="18" charset="0"/>
                          </a:rPr>
                          <m:t>1</m:t>
                        </m:r>
                      </m:num>
                      <m:den>
                        <m:r>
                          <a:rPr lang="en-US" altLang="zh-CN" sz="1007" i="1">
                            <a:latin typeface="Cambria Math" panose="02040503050406030204" pitchFamily="18" charset="0"/>
                            <a:ea typeface="Cambria Math" panose="02040503050406030204" pitchFamily="18" charset="0"/>
                          </a:rPr>
                          <m:t>1−</m:t>
                        </m:r>
                        <m:r>
                          <a:rPr lang="zh-CN" altLang="en-US" sz="1007" i="1">
                            <a:latin typeface="Cambria Math" panose="02040503050406030204" pitchFamily="18" charset="0"/>
                            <a:ea typeface="Cambria Math" panose="02040503050406030204" pitchFamily="18" charset="0"/>
                          </a:rPr>
                          <m:t>𝛽</m:t>
                        </m:r>
                      </m:den>
                    </m:f>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𝑔</m:t>
                    </m:r>
                    <m:r>
                      <a:rPr lang="en-US" altLang="zh-CN" sz="1007" i="1">
                        <a:latin typeface="Cambria Math" panose="02040503050406030204" pitchFamily="18" charset="0"/>
                        <a:ea typeface="Cambria Math" panose="02040503050406030204" pitchFamily="18" charset="0"/>
                      </a:rPr>
                      <m:t>+</m:t>
                    </m:r>
                    <m:f>
                      <m:fPr>
                        <m:ctrlPr>
                          <a:rPr lang="en-US" altLang="zh-CN" sz="1007" i="1">
                            <a:latin typeface="Cambria Math" panose="02040503050406030204" pitchFamily="18" charset="0"/>
                            <a:ea typeface="Cambria Math" panose="02040503050406030204" pitchFamily="18" charset="0"/>
                          </a:rPr>
                        </m:ctrlPr>
                      </m:fPr>
                      <m:num>
                        <m:r>
                          <a:rPr lang="zh-CN" altLang="en-US" sz="1007" i="1">
                            <a:latin typeface="Cambria Math" panose="02040503050406030204" pitchFamily="18" charset="0"/>
                            <a:ea typeface="Cambria Math" panose="02040503050406030204" pitchFamily="18" charset="0"/>
                          </a:rPr>
                          <m:t>𝛽</m:t>
                        </m:r>
                      </m:num>
                      <m:den>
                        <m:r>
                          <a:rPr lang="en-US" altLang="zh-CN" sz="1007" i="1">
                            <a:latin typeface="Cambria Math" panose="02040503050406030204" pitchFamily="18" charset="0"/>
                            <a:ea typeface="Cambria Math" panose="02040503050406030204" pitchFamily="18" charset="0"/>
                          </a:rPr>
                          <m:t>1−</m:t>
                        </m:r>
                        <m:r>
                          <a:rPr lang="zh-CN" altLang="en-US" sz="1007" i="1">
                            <a:latin typeface="Cambria Math" panose="02040503050406030204" pitchFamily="18" charset="0"/>
                            <a:ea typeface="Cambria Math" panose="02040503050406030204" pitchFamily="18" charset="0"/>
                          </a:rPr>
                          <m:t>𝛽</m:t>
                        </m:r>
                      </m:den>
                    </m:f>
                    <m:r>
                      <m:rPr>
                        <m:nor/>
                      </m:rPr>
                      <a:rPr lang="en-US" altLang="zh-CN" sz="1007" dirty="0">
                        <a:latin typeface="Garamond" panose="02020404030301010803" pitchFamily="18" charset="0"/>
                        <a:ea typeface="SimSun" panose="02010600030101010101" pitchFamily="2" charset="-122"/>
                      </a:rPr>
                      <m:t> </m:t>
                    </m:r>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𝑔</m:t>
                    </m:r>
                    <m:r>
                      <a:rPr lang="en-US" altLang="zh-CN" sz="1007" i="1">
                        <a:latin typeface="Cambria Math" panose="02040503050406030204" pitchFamily="18" charset="0"/>
                        <a:ea typeface="Cambria Math" panose="02040503050406030204" pitchFamily="18" charset="0"/>
                      </a:rPr>
                      <m:t>=</m:t>
                    </m:r>
                  </m:oMath>
                </a14:m>
                <a:r>
                  <a:rPr lang="en-US" altLang="zh-CN" sz="1007" dirty="0">
                    <a:latin typeface="Garamond" panose="02020404030301010803" pitchFamily="18" charset="0"/>
                    <a:ea typeface="SimSun" panose="02010600030101010101" pitchFamily="2" charset="-122"/>
                  </a:rPr>
                  <a:t> </a:t>
                </a:r>
                <a14:m>
                  <m:oMath xmlns:m="http://schemas.openxmlformats.org/officeDocument/2006/math">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𝑔</m:t>
                    </m:r>
                  </m:oMath>
                </a14:m>
                <a:endParaRPr lang="en-US" altLang="zh-CN" sz="1007" i="1" dirty="0">
                  <a:latin typeface="Garamond" panose="02020404030301010803" pitchFamily="18" charset="0"/>
                  <a:ea typeface="SimSun" panose="02010600030101010101" pitchFamily="2" charset="-122"/>
                </a:endParaRPr>
              </a:p>
              <a:p>
                <a:r>
                  <a:rPr lang="zh-CN" altLang="en-US" sz="1007" dirty="0">
                    <a:latin typeface="Garamond" panose="02020404030301010803" pitchFamily="18" charset="0"/>
                    <a:ea typeface="SimSun" panose="02010600030101010101" pitchFamily="2" charset="-122"/>
                  </a:rPr>
                  <a:t>或</a:t>
                </a:r>
                <a14:m>
                  <m:oMath xmlns:m="http://schemas.openxmlformats.org/officeDocument/2006/math">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𝑦</m:t>
                    </m:r>
                    <m:r>
                      <a:rPr lang="en-US" altLang="zh-CN" sz="1007" i="1">
                        <a:latin typeface="Cambria Math" panose="02040503050406030204" pitchFamily="18" charset="0"/>
                        <a:ea typeface="Cambria Math" panose="02040503050406030204" pitchFamily="18" charset="0"/>
                      </a:rPr>
                      <m:t>=</m:t>
                    </m:r>
                    <m:f>
                      <m:fPr>
                        <m:ctrlPr>
                          <a:rPr lang="en-US" altLang="zh-CN" sz="1007" i="1">
                            <a:latin typeface="Cambria Math" panose="02040503050406030204" pitchFamily="18" charset="0"/>
                            <a:ea typeface="Cambria Math" panose="02040503050406030204" pitchFamily="18" charset="0"/>
                          </a:rPr>
                        </m:ctrlPr>
                      </m:fPr>
                      <m:num>
                        <m:r>
                          <a:rPr lang="en-US" altLang="zh-CN" sz="1007" i="1">
                            <a:latin typeface="Cambria Math" panose="02040503050406030204" pitchFamily="18" charset="0"/>
                            <a:ea typeface="Cambria Math" panose="02040503050406030204" pitchFamily="18" charset="0"/>
                          </a:rPr>
                          <m:t>1</m:t>
                        </m:r>
                      </m:num>
                      <m:den>
                        <m:r>
                          <a:rPr lang="en-US" altLang="zh-CN" sz="1007" i="1">
                            <a:latin typeface="Cambria Math" panose="02040503050406030204" pitchFamily="18" charset="0"/>
                            <a:ea typeface="Cambria Math" panose="02040503050406030204" pitchFamily="18" charset="0"/>
                          </a:rPr>
                          <m:t>1−</m:t>
                        </m:r>
                        <m:r>
                          <a:rPr lang="zh-CN" altLang="en-US" sz="1007" i="1">
                            <a:latin typeface="Cambria Math" panose="02040503050406030204" pitchFamily="18" charset="0"/>
                            <a:ea typeface="Cambria Math" panose="02040503050406030204" pitchFamily="18" charset="0"/>
                          </a:rPr>
                          <m:t>𝛽</m:t>
                        </m:r>
                      </m:den>
                    </m:f>
                    <m:r>
                      <a:rPr lang="en-US" altLang="zh-CN" sz="1007" i="1">
                        <a:latin typeface="Cambria Math" panose="02040503050406030204" pitchFamily="18" charset="0"/>
                        <a:ea typeface="Cambria Math" panose="02040503050406030204" pitchFamily="18" charset="0"/>
                      </a:rPr>
                      <m:t>∆</m:t>
                    </m:r>
                    <m:r>
                      <m:rPr>
                        <m:sty m:val="p"/>
                      </m:rPr>
                      <a:rPr lang="en-US" altLang="zh-CN" sz="1007" i="1">
                        <a:latin typeface="Cambria Math" panose="02040503050406030204" pitchFamily="18" charset="0"/>
                        <a:ea typeface="Cambria Math" panose="02040503050406030204" pitchFamily="18" charset="0"/>
                      </a:rPr>
                      <m:t>t</m:t>
                    </m:r>
                    <m:r>
                      <a:rPr lang="en-US" altLang="zh-CN" sz="1007" i="1">
                        <a:latin typeface="Cambria Math" panose="02040503050406030204" pitchFamily="18" charset="0"/>
                        <a:ea typeface="Cambria Math" panose="02040503050406030204" pitchFamily="18" charset="0"/>
                      </a:rPr>
                      <m:t>+</m:t>
                    </m:r>
                    <m:f>
                      <m:fPr>
                        <m:ctrlPr>
                          <a:rPr lang="en-US" altLang="zh-CN" sz="1007" i="1">
                            <a:latin typeface="Cambria Math" panose="02040503050406030204" pitchFamily="18" charset="0"/>
                            <a:ea typeface="Cambria Math" panose="02040503050406030204" pitchFamily="18" charset="0"/>
                          </a:rPr>
                        </m:ctrlPr>
                      </m:fPr>
                      <m:num>
                        <m:r>
                          <a:rPr lang="zh-CN" altLang="en-US" sz="1007" i="1">
                            <a:latin typeface="Cambria Math" panose="02040503050406030204" pitchFamily="18" charset="0"/>
                            <a:ea typeface="Cambria Math" panose="02040503050406030204" pitchFamily="18" charset="0"/>
                          </a:rPr>
                          <m:t>𝛽</m:t>
                        </m:r>
                      </m:num>
                      <m:den>
                        <m:r>
                          <a:rPr lang="en-US" altLang="zh-CN" sz="1007" i="1">
                            <a:latin typeface="Cambria Math" panose="02040503050406030204" pitchFamily="18" charset="0"/>
                            <a:ea typeface="Cambria Math" panose="02040503050406030204" pitchFamily="18" charset="0"/>
                          </a:rPr>
                          <m:t>1−</m:t>
                        </m:r>
                        <m:r>
                          <a:rPr lang="zh-CN" altLang="en-US" sz="1007" i="1">
                            <a:latin typeface="Cambria Math" panose="02040503050406030204" pitchFamily="18" charset="0"/>
                            <a:ea typeface="Cambria Math" panose="02040503050406030204" pitchFamily="18" charset="0"/>
                          </a:rPr>
                          <m:t>𝛽</m:t>
                        </m:r>
                      </m:den>
                    </m:f>
                    <m:r>
                      <m:rPr>
                        <m:nor/>
                      </m:rPr>
                      <a:rPr lang="en-US" altLang="zh-CN" sz="1007" dirty="0">
                        <a:latin typeface="Garamond" panose="02020404030301010803" pitchFamily="18" charset="0"/>
                        <a:ea typeface="SimSun" panose="02010600030101010101" pitchFamily="2" charset="-122"/>
                      </a:rPr>
                      <m:t> </m:t>
                    </m:r>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𝑡</m:t>
                    </m:r>
                    <m:r>
                      <a:rPr lang="en-US" altLang="zh-CN" sz="1007" i="1">
                        <a:latin typeface="Cambria Math" panose="02040503050406030204" pitchFamily="18" charset="0"/>
                        <a:ea typeface="Cambria Math" panose="02040503050406030204" pitchFamily="18" charset="0"/>
                      </a:rPr>
                      <m:t>=</m:t>
                    </m:r>
                  </m:oMath>
                </a14:m>
                <a:r>
                  <a:rPr lang="en-US" altLang="zh-CN" sz="1007" dirty="0">
                    <a:latin typeface="Garamond" panose="02020404030301010803" pitchFamily="18" charset="0"/>
                    <a:ea typeface="SimSun" panose="02010600030101010101" pitchFamily="2" charset="-122"/>
                  </a:rPr>
                  <a:t> </a:t>
                </a:r>
                <a14:m>
                  <m:oMath xmlns:m="http://schemas.openxmlformats.org/officeDocument/2006/math">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𝑡</m:t>
                    </m:r>
                  </m:oMath>
                </a14:m>
                <a:endParaRPr lang="en-US" altLang="zh-CN" sz="1007" i="1" dirty="0">
                  <a:latin typeface="Garamond" panose="02020404030301010803" pitchFamily="18" charset="0"/>
                  <a:ea typeface="SimSun" panose="02010600030101010101" pitchFamily="2" charset="-122"/>
                </a:endParaRPr>
              </a:p>
              <a:p>
                <a:r>
                  <a:rPr lang="zh-CN" altLang="en-US" sz="1007" dirty="0">
                    <a:latin typeface="Garamond" panose="02020404030301010803" pitchFamily="18" charset="0"/>
                    <a:ea typeface="SimSun" panose="02010600030101010101" pitchFamily="2" charset="-122"/>
                  </a:rPr>
                  <a:t>由此可得：</a:t>
                </a:r>
                <a:r>
                  <a:rPr lang="en-US" altLang="zh-CN" sz="1007" dirty="0">
                    <a:latin typeface="Garamond" panose="02020404030301010803" pitchFamily="18" charset="0"/>
                    <a:ea typeface="SimSun" panose="02010600030101010101" pitchFamily="2" charset="-122"/>
                  </a:rPr>
                  <a:t> </a:t>
                </a:r>
                <a14:m>
                  <m:oMath xmlns:m="http://schemas.openxmlformats.org/officeDocument/2006/math">
                    <m:f>
                      <m:fPr>
                        <m:ctrlPr>
                          <a:rPr lang="en-US" altLang="zh-CN" sz="1007" i="1">
                            <a:latin typeface="Cambria Math" panose="02040503050406030204" pitchFamily="18" charset="0"/>
                            <a:ea typeface="Cambria Math" panose="02040503050406030204" pitchFamily="18" charset="0"/>
                          </a:rPr>
                        </m:ctrlPr>
                      </m:fPr>
                      <m:num>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𝑦</m:t>
                        </m:r>
                      </m:num>
                      <m:den>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𝑔</m:t>
                        </m:r>
                      </m:den>
                    </m:f>
                    <m:r>
                      <a:rPr lang="en-US" altLang="zh-CN" sz="1007" i="1">
                        <a:latin typeface="Cambria Math" panose="02040503050406030204" pitchFamily="18" charset="0"/>
                        <a:ea typeface="Cambria Math" panose="02040503050406030204" pitchFamily="18" charset="0"/>
                      </a:rPr>
                      <m:t>=</m:t>
                    </m:r>
                    <m:f>
                      <m:fPr>
                        <m:ctrlPr>
                          <a:rPr lang="en-US" altLang="zh-CN" sz="1007" i="1">
                            <a:latin typeface="Cambria Math" panose="02040503050406030204" pitchFamily="18" charset="0"/>
                            <a:ea typeface="Cambria Math" panose="02040503050406030204" pitchFamily="18" charset="0"/>
                          </a:rPr>
                        </m:ctrlPr>
                      </m:fPr>
                      <m:num>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𝑦</m:t>
                        </m:r>
                      </m:num>
                      <m:den>
                        <m:r>
                          <a:rPr lang="en-US" altLang="zh-CN" sz="1007" i="1">
                            <a:latin typeface="Cambria Math" panose="02040503050406030204" pitchFamily="18" charset="0"/>
                            <a:ea typeface="Cambria Math" panose="02040503050406030204" pitchFamily="18" charset="0"/>
                          </a:rPr>
                          <m:t>∆</m:t>
                        </m:r>
                        <m:r>
                          <a:rPr lang="en-US" altLang="zh-CN" sz="1007" i="1">
                            <a:latin typeface="Cambria Math" panose="02040503050406030204" pitchFamily="18" charset="0"/>
                            <a:ea typeface="Cambria Math" panose="02040503050406030204" pitchFamily="18" charset="0"/>
                          </a:rPr>
                          <m:t>𝑡</m:t>
                        </m:r>
                      </m:den>
                    </m:f>
                    <m:r>
                      <a:rPr lang="en-US" altLang="zh-CN" sz="1007" i="1">
                        <a:latin typeface="Cambria Math" panose="02040503050406030204" pitchFamily="18" charset="0"/>
                        <a:ea typeface="Cambria Math" panose="02040503050406030204" pitchFamily="18" charset="0"/>
                      </a:rPr>
                      <m:t>=</m:t>
                    </m:r>
                    <m:f>
                      <m:fPr>
                        <m:ctrlPr>
                          <a:rPr lang="en-US" altLang="zh-CN" sz="1007" i="1">
                            <a:latin typeface="Cambria Math" panose="02040503050406030204" pitchFamily="18" charset="0"/>
                            <a:ea typeface="Cambria Math" panose="02040503050406030204" pitchFamily="18" charset="0"/>
                          </a:rPr>
                        </m:ctrlPr>
                      </m:fPr>
                      <m:num>
                        <m:r>
                          <a:rPr lang="en-US" altLang="zh-CN" sz="1007" i="1">
                            <a:latin typeface="Cambria Math" panose="02040503050406030204" pitchFamily="18" charset="0"/>
                            <a:ea typeface="Cambria Math" panose="02040503050406030204" pitchFamily="18" charset="0"/>
                          </a:rPr>
                          <m:t>1−</m:t>
                        </m:r>
                        <m:r>
                          <a:rPr lang="zh-CN" altLang="en-US" sz="1007" i="1">
                            <a:latin typeface="Cambria Math" panose="02040503050406030204" pitchFamily="18" charset="0"/>
                            <a:ea typeface="Cambria Math" panose="02040503050406030204" pitchFamily="18" charset="0"/>
                          </a:rPr>
                          <m:t>𝛽</m:t>
                        </m:r>
                      </m:num>
                      <m:den>
                        <m:r>
                          <a:rPr lang="en-US" altLang="zh-CN" sz="1007" i="1">
                            <a:latin typeface="Cambria Math" panose="02040503050406030204" pitchFamily="18" charset="0"/>
                            <a:ea typeface="Cambria Math" panose="02040503050406030204" pitchFamily="18" charset="0"/>
                          </a:rPr>
                          <m:t>1−</m:t>
                        </m:r>
                        <m:r>
                          <a:rPr lang="zh-CN" altLang="en-US" sz="1007" i="1">
                            <a:latin typeface="Cambria Math" panose="02040503050406030204" pitchFamily="18" charset="0"/>
                            <a:ea typeface="Cambria Math" panose="02040503050406030204" pitchFamily="18" charset="0"/>
                          </a:rPr>
                          <m:t>𝛽</m:t>
                        </m:r>
                      </m:den>
                    </m:f>
                    <m:r>
                      <a:rPr lang="en-US" altLang="zh-CN" sz="1007" i="1">
                        <a:latin typeface="Cambria Math" panose="02040503050406030204" pitchFamily="18" charset="0"/>
                        <a:ea typeface="Cambria Math" panose="02040503050406030204" pitchFamily="18" charset="0"/>
                      </a:rPr>
                      <m:t>=1</m:t>
                    </m:r>
                  </m:oMath>
                </a14:m>
                <a:endParaRPr lang="en-US" altLang="zh-CN" sz="1007" dirty="0">
                  <a:latin typeface="Garamond" panose="02020404030301010803" pitchFamily="18" charset="0"/>
                  <a:ea typeface="SimSun" panose="02010600030101010101" pitchFamily="2" charset="-122"/>
                </a:endParaRPr>
              </a:p>
              <a:p>
                <a:r>
                  <a:rPr lang="zh-CN" altLang="en-US" sz="1007" dirty="0">
                    <a:latin typeface="Garamond" panose="02020404030301010803" pitchFamily="18" charset="0"/>
                    <a:ea typeface="SimSun" panose="02010600030101010101" pitchFamily="2" charset="-122"/>
                  </a:rPr>
                  <a:t>平衡</a:t>
                </a:r>
                <a14:m>
                  <m:oMath xmlns:m="http://schemas.openxmlformats.org/officeDocument/2006/math">
                    <m:r>
                      <a:rPr lang="zh-CN" altLang="en-US" sz="1007" i="1">
                        <a:latin typeface="Cambria Math" panose="02040503050406030204" pitchFamily="18" charset="0"/>
                      </a:rPr>
                      <m:t>预算乘数</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𝑘</m:t>
                        </m:r>
                      </m:e>
                      <m:sub>
                        <m:r>
                          <a:rPr lang="en-US" altLang="zh-CN" sz="1007" i="1">
                            <a:latin typeface="Cambria Math" panose="02040503050406030204" pitchFamily="18" charset="0"/>
                          </a:rPr>
                          <m:t>𝑏</m:t>
                        </m:r>
                      </m:sub>
                    </m:sSub>
                    <m:r>
                      <a:rPr lang="en-US" altLang="zh-CN" sz="1007" i="1">
                        <a:latin typeface="Cambria Math" panose="02040503050406030204" pitchFamily="18" charset="0"/>
                      </a:rPr>
                      <m:t>=</m:t>
                    </m:r>
                  </m:oMath>
                </a14:m>
                <a:r>
                  <a:rPr lang="en-US" altLang="zh-CN" sz="1007" dirty="0">
                    <a:latin typeface="Garamond" panose="02020404030301010803" pitchFamily="18" charset="0"/>
                    <a:ea typeface="SimSun" panose="02010600030101010101" pitchFamily="2" charset="-122"/>
                  </a:rPr>
                  <a:t>1</a:t>
                </a:r>
                <a:endParaRPr lang="zh-CN" altLang="en-US" sz="1007" dirty="0">
                  <a:latin typeface="Garamond" panose="02020404030301010803" pitchFamily="18" charset="0"/>
                  <a:ea typeface="SimSun"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302" t="-976"/>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86</a:t>
            </a:fld>
            <a:endParaRPr lang="zh-CN" altLang="en-US"/>
          </a:p>
        </p:txBody>
      </p:sp>
      <p:sp>
        <p:nvSpPr>
          <p:cNvPr id="7" name="标题 6">
            <a:extLst>
              <a:ext uri="{FF2B5EF4-FFF2-40B4-BE49-F238E27FC236}">
                <a16:creationId xmlns:a16="http://schemas.microsoft.com/office/drawing/2014/main" id="{3B99D41D-0DDD-1FF4-0F61-FF4CA77301B9}"/>
              </a:ext>
            </a:extLst>
          </p:cNvPr>
          <p:cNvSpPr>
            <a:spLocks noGrp="1"/>
          </p:cNvSpPr>
          <p:nvPr>
            <p:ph type="title"/>
          </p:nvPr>
        </p:nvSpPr>
        <p:spPr/>
        <p:txBody>
          <a:bodyPr/>
          <a:lstStyle/>
          <a:p>
            <a:r>
              <a:rPr kumimoji="1" lang="zh-CN" altLang="en-US" dirty="0"/>
              <a:t>平衡预算乘数</a:t>
            </a:r>
          </a:p>
        </p:txBody>
      </p:sp>
      <p:sp>
        <p:nvSpPr>
          <p:cNvPr id="8" name="灯片编号占位符 2">
            <a:extLst>
              <a:ext uri="{FF2B5EF4-FFF2-40B4-BE49-F238E27FC236}">
                <a16:creationId xmlns:a16="http://schemas.microsoft.com/office/drawing/2014/main" id="{5917C644-DCA0-09A3-FB40-6354003A6B64}"/>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86</a:t>
            </a:fld>
            <a:endParaRPr lang="zh-CN" altLang="zh-CN" sz="856" dirty="0">
              <a:solidFill>
                <a:srgbClr val="777777"/>
              </a:solidFill>
              <a:ea typeface="宋体" panose="02010600030101010101" pitchFamily="2" charset="-122"/>
            </a:endParaRPr>
          </a:p>
        </p:txBody>
      </p:sp>
      <p:sp>
        <p:nvSpPr>
          <p:cNvPr id="9" name="页脚占位符 1">
            <a:extLst>
              <a:ext uri="{FF2B5EF4-FFF2-40B4-BE49-F238E27FC236}">
                <a16:creationId xmlns:a16="http://schemas.microsoft.com/office/drawing/2014/main" id="{F70A411F-91E8-C404-9831-A54819811637}"/>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46841036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87</a:t>
            </a:fld>
            <a:endParaRPr lang="zh-CN" altLang="zh-CN" sz="857">
              <a:solidFill>
                <a:srgbClr val="777777"/>
              </a:solidFill>
              <a:latin typeface="Tahoma" panose="020B0604030504040204" pitchFamily="34" charset="0"/>
              <a:ea typeface="宋体" panose="02010600030101010101" pitchFamily="2" charset="-122"/>
            </a:endParaRPr>
          </a:p>
        </p:txBody>
      </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课堂练习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dirty="0">
                <a:solidFill>
                  <a:srgbClr val="339966"/>
                </a:solidFill>
                <a:effectLst>
                  <a:outerShdw blurRad="38100" dist="38100" dir="2700000" algn="tl">
                    <a:srgbClr val="C0C0C0"/>
                  </a:outerShdw>
                </a:effectLst>
                <a:ea typeface="宋体" panose="02010600030101010101" pitchFamily="2" charset="-122"/>
              </a:rPr>
              <a:t>三部门经济收入的决定</a:t>
            </a:r>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10356" cy="1599883"/>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假设消费函数为𝑐</a:t>
                </a:r>
                <a:r>
                  <a:rPr lang="en-US" altLang="zh-CN" sz="1210" dirty="0">
                    <a:latin typeface="Garamond" panose="02020404030301010803" pitchFamily="18" charset="0"/>
                    <a:ea typeface="SimSun" panose="02010600030101010101" pitchFamily="2" charset="-122"/>
                    <a:cs typeface="Times New Roman" panose="02020603050405020304" pitchFamily="18" charset="0"/>
                  </a:rPr>
                  <a:t>=1600+0.75</a:t>
                </a:r>
                <a14:m>
                  <m:oMath xmlns:m="http://schemas.openxmlformats.org/officeDocument/2006/math">
                    <m:sSub>
                      <m:sSubPr>
                        <m:ctrlPr>
                          <a:rPr lang="en-US" altLang="zh-CN" sz="1210" b="0" i="1" smtClean="0">
                            <a:latin typeface="Cambria Math" panose="02040503050406030204" pitchFamily="18" charset="0"/>
                            <a:ea typeface="SimSun" panose="02010600030101010101" pitchFamily="2" charset="-122"/>
                            <a:cs typeface="Times New Roman" panose="02020603050405020304" pitchFamily="18" charset="0"/>
                          </a:rPr>
                        </m:ctrlPr>
                      </m:sSubPr>
                      <m:e>
                        <m:r>
                          <a:rPr lang="en-US" altLang="zh-CN" sz="1210" b="0" i="1" smtClean="0">
                            <a:latin typeface="Cambria Math" panose="02040503050406030204" pitchFamily="18" charset="0"/>
                            <a:ea typeface="SimSun" panose="02010600030101010101" pitchFamily="2" charset="-122"/>
                            <a:cs typeface="Times New Roman" panose="02020603050405020304" pitchFamily="18" charset="0"/>
                          </a:rPr>
                          <m:t>𝑦</m:t>
                        </m:r>
                      </m:e>
                      <m:sub>
                        <m:r>
                          <a:rPr lang="en-US" altLang="zh-CN" sz="1210" b="0" i="1" smtClean="0">
                            <a:latin typeface="Cambria Math" panose="02040503050406030204" pitchFamily="18" charset="0"/>
                            <a:ea typeface="SimSun" panose="02010600030101010101" pitchFamily="2" charset="-122"/>
                            <a:cs typeface="Times New Roman" panose="02020603050405020304" pitchFamily="18" charset="0"/>
                          </a:rPr>
                          <m:t>𝑑</m:t>
                        </m:r>
                      </m:sub>
                    </m:sSub>
                  </m:oMath>
                </a14:m>
                <a:r>
                  <a:rPr lang="zh-CN" altLang="en-US" sz="1210" dirty="0">
                    <a:latin typeface="Garamond" panose="02020404030301010803" pitchFamily="18" charset="0"/>
                    <a:ea typeface="SimSun" panose="02010600030101010101" pitchFamily="2" charset="-122"/>
                    <a:cs typeface="Times New Roman" panose="02020603050405020304" pitchFamily="18" charset="0"/>
                  </a:rPr>
                  <a:t>，定量税收</a:t>
                </a:r>
                <a:r>
                  <a:rPr lang="en-US" altLang="zh-CN" sz="1210" dirty="0">
                    <a:latin typeface="Garamond" panose="02020404030301010803" pitchFamily="18" charset="0"/>
                    <a:ea typeface="SimSun" panose="02010600030101010101" pitchFamily="2" charset="-122"/>
                    <a:cs typeface="Times New Roman" panose="02020603050405020304" pitchFamily="18" charset="0"/>
                  </a:rPr>
                  <a:t>T=800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，投资𝑖</a:t>
                </a:r>
                <a:r>
                  <a:rPr lang="en-US" altLang="zh-CN" sz="1210" dirty="0">
                    <a:latin typeface="Garamond" panose="02020404030301010803" pitchFamily="18" charset="0"/>
                    <a:ea typeface="SimSun" panose="02010600030101010101" pitchFamily="2" charset="-122"/>
                    <a:cs typeface="Times New Roman" panose="02020603050405020304" pitchFamily="18" charset="0"/>
                  </a:rPr>
                  <a:t>=1000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，政府购买性支出为𝑔</a:t>
                </a:r>
                <a:r>
                  <a:rPr lang="en-US" altLang="zh-CN" sz="1210" dirty="0">
                    <a:latin typeface="Garamond" panose="02020404030301010803" pitchFamily="18" charset="0"/>
                    <a:ea typeface="SimSun" panose="02010600030101010101" pitchFamily="2" charset="-122"/>
                    <a:cs typeface="Times New Roman" panose="02020603050405020304" pitchFamily="18" charset="0"/>
                  </a:rPr>
                  <a:t>=2000.</a:t>
                </a:r>
              </a:p>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求：</a:t>
                </a:r>
                <a:endParaRPr lang="en-US" altLang="zh-CN" sz="121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sym typeface="Wingdings" pitchFamily="2" charset="2"/>
                  </a:rPr>
                  <a:t>（</a:t>
                </a:r>
                <a:r>
                  <a:rPr lang="en-US" altLang="zh-CN" sz="1210" dirty="0">
                    <a:latin typeface="Garamond" panose="02020404030301010803" pitchFamily="18" charset="0"/>
                    <a:ea typeface="SimSun" panose="02010600030101010101" pitchFamily="2" charset="-122"/>
                    <a:cs typeface="Times New Roman" panose="02020603050405020304" pitchFamily="18" charset="0"/>
                    <a:sym typeface="Wingdings" pitchFamily="2" charset="2"/>
                  </a:rPr>
                  <a:t>1</a:t>
                </a:r>
                <a:r>
                  <a:rPr lang="zh-CN" altLang="en-US" sz="1210" dirty="0">
                    <a:latin typeface="Garamond" panose="02020404030301010803" pitchFamily="18" charset="0"/>
                    <a:ea typeface="SimSun" panose="02010600030101010101" pitchFamily="2" charset="-122"/>
                    <a:cs typeface="Times New Roman" panose="02020603050405020304" pitchFamily="18" charset="0"/>
                    <a:sym typeface="Wingdings" pitchFamily="2" charset="2"/>
                  </a:rPr>
                  <a:t>）</a:t>
                </a:r>
                <a:r>
                  <a:rPr lang="zh-CN" altLang="en-US" sz="1210" dirty="0">
                    <a:latin typeface="Garamond" panose="02020404030301010803" pitchFamily="18" charset="0"/>
                    <a:ea typeface="SimSun" panose="02010600030101010101" pitchFamily="2" charset="-122"/>
                    <a:cs typeface="Times New Roman" panose="02020603050405020304" pitchFamily="18" charset="0"/>
                  </a:rPr>
                  <a:t>均衡的国民收入。</a:t>
                </a:r>
                <a:endParaRPr lang="en-US" altLang="zh-CN" sz="121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a:t>
                </a:r>
                <a:r>
                  <a:rPr lang="en-US" altLang="zh-CN" sz="1210" dirty="0">
                    <a:latin typeface="Garamond" panose="02020404030301010803" pitchFamily="18" charset="0"/>
                    <a:ea typeface="SimSun" panose="02010600030101010101" pitchFamily="2" charset="-122"/>
                    <a:cs typeface="Times New Roman" panose="02020603050405020304" pitchFamily="18" charset="0"/>
                  </a:rPr>
                  <a:t>2</a:t>
                </a:r>
                <a:r>
                  <a:rPr lang="zh-CN" altLang="en-US" sz="1210" dirty="0">
                    <a:latin typeface="Garamond" panose="02020404030301010803" pitchFamily="18" charset="0"/>
                    <a:ea typeface="SimSun" panose="02010600030101010101" pitchFamily="2" charset="-122"/>
                    <a:cs typeface="Times New Roman" panose="02020603050405020304" pitchFamily="18" charset="0"/>
                  </a:rPr>
                  <a:t>）投资乘数、政府购买乘数、税收乘数、转移支付乘数和平衡预算乘数各为多少？ </a:t>
                </a:r>
                <a:endParaRPr lang="en-US" altLang="zh-CN" sz="121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endParaRPr lang="en-US" altLang="zh-CN" sz="1210" dirty="0">
                  <a:latin typeface="Garamond" panose="02020404030301010803" pitchFamily="18" charset="0"/>
                  <a:ea typeface="SimSun" panose="02010600030101010101" pitchFamily="2" charset="-122"/>
                  <a:cs typeface="Times New Roman" panose="02020603050405020304" pitchFamily="18" charset="0"/>
                </a:endParaRPr>
              </a:p>
            </p:txBody>
          </p:sp>
        </mc:Choice>
        <mc:Fallback xmlns="">
          <p:sp>
            <p:nvSpPr>
              <p:cNvPr id="2" name="内容占位符 2">
                <a:extLst>
                  <a:ext uri="{FF2B5EF4-FFF2-40B4-BE49-F238E27FC236}">
                    <a16:creationId xmlns:a16="http://schemas.microsoft.com/office/drawing/2014/main" id="{B98A2451-25B1-DC54-54CF-36FADE9F837D}"/>
                  </a:ext>
                </a:extLst>
              </p:cNvPr>
              <p:cNvSpPr>
                <a:spLocks noGrp="1" noRot="1" noChangeAspect="1" noMove="1" noResize="1" noEditPoints="1" noAdjustHandles="1" noChangeArrowheads="1" noChangeShapeType="1" noTextEdit="1"/>
              </p:cNvSpPr>
              <p:nvPr>
                <p:ph idx="1"/>
              </p:nvPr>
            </p:nvSpPr>
            <p:spPr>
              <a:xfrm>
                <a:off x="299336" y="778556"/>
                <a:ext cx="4110356" cy="1599883"/>
              </a:xfrm>
              <a:blipFill>
                <a:blip r:embed="rId2"/>
                <a:stretch>
                  <a:fillRect t="-787"/>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1124347655"/>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sz="1209" dirty="0">
                    <a:latin typeface="Garamond" panose="02020404030301010803" pitchFamily="18" charset="0"/>
                    <a:ea typeface="SimSun" panose="02010600030101010101" pitchFamily="2" charset="-122"/>
                  </a:rPr>
                  <a:t>进一步放松假设条件，假设在开放经济中，有了国外部门，本国产生进出口方面的影响。</a:t>
                </a:r>
                <a:endParaRPr lang="en-US" altLang="zh-CN" sz="1209" dirty="0">
                  <a:latin typeface="Garamond" panose="02020404030301010803" pitchFamily="18" charset="0"/>
                  <a:ea typeface="SimSun" panose="02010600030101010101" pitchFamily="2" charset="-122"/>
                </a:endParaRPr>
              </a:p>
              <a:p>
                <a:r>
                  <a:rPr lang="zh-CN" altLang="en-US" sz="1007" dirty="0">
                    <a:latin typeface="Garamond" panose="02020404030301010803" pitchFamily="18" charset="0"/>
                    <a:ea typeface="SimSun" panose="02010600030101010101" pitchFamily="2" charset="-122"/>
                  </a:rPr>
                  <a:t>净出口的决定因素：</a:t>
                </a:r>
                <a:endParaRPr lang="en-US" altLang="zh-CN" sz="1007" dirty="0">
                  <a:latin typeface="Garamond" panose="02020404030301010803" pitchFamily="18" charset="0"/>
                  <a:ea typeface="SimSun" panose="02010600030101010101" pitchFamily="2" charset="-122"/>
                </a:endParaRPr>
              </a:p>
              <a:p>
                <a:r>
                  <a:rPr lang="zh-CN" altLang="en-US" sz="1007" dirty="0">
                    <a:solidFill>
                      <a:srgbClr val="FF0000"/>
                    </a:solidFill>
                    <a:latin typeface="Garamond" panose="02020404030301010803" pitchFamily="18" charset="0"/>
                    <a:ea typeface="SimSun" panose="02010600030101010101" pitchFamily="2" charset="-122"/>
                  </a:rPr>
                  <a:t>出口：</a:t>
                </a:r>
                <a:r>
                  <a:rPr lang="zh-CN" altLang="en-US" sz="1007" dirty="0">
                    <a:latin typeface="Garamond" panose="02020404030301010803" pitchFamily="18" charset="0"/>
                    <a:ea typeface="SimSun" panose="02010600030101010101" pitchFamily="2" charset="-122"/>
                  </a:rPr>
                  <a:t>主要由外国的国民收入水平，特别是人均收入水平决定，因此不取决于本国的经济变量，假定为外生变量</a:t>
                </a:r>
                <a:endParaRPr lang="en-US" altLang="zh-CN" sz="1007" dirty="0">
                  <a:latin typeface="Garamond" panose="02020404030301010803" pitchFamily="18" charset="0"/>
                  <a:ea typeface="SimSun" panose="02010600030101010101" pitchFamily="2" charset="-122"/>
                </a:endParaRPr>
              </a:p>
              <a:p>
                <a:r>
                  <a:rPr lang="zh-CN" altLang="en-US" sz="1007" dirty="0">
                    <a:solidFill>
                      <a:srgbClr val="FF0000"/>
                    </a:solidFill>
                    <a:latin typeface="Garamond" panose="02020404030301010803" pitchFamily="18" charset="0"/>
                    <a:ea typeface="SimSun" panose="02010600030101010101" pitchFamily="2" charset="-122"/>
                  </a:rPr>
                  <a:t>进口：</a:t>
                </a:r>
                <a:r>
                  <a:rPr lang="zh-CN" altLang="en-US" sz="1007" dirty="0">
                    <a:latin typeface="Garamond" panose="02020404030301010803" pitchFamily="18" charset="0"/>
                    <a:ea typeface="SimSun" panose="02010600030101010101" pitchFamily="2" charset="-122"/>
                  </a:rPr>
                  <a:t>主要由本国的居民收入水平来决定，假设进口函数为：</a:t>
                </a:r>
                <a:endParaRPr lang="en-US" altLang="zh-CN" sz="1007" dirty="0">
                  <a:latin typeface="Garamond" panose="02020404030301010803" pitchFamily="18" charset="0"/>
                  <a:ea typeface="SimSun" panose="02010600030101010101" pitchFamily="2" charset="-122"/>
                </a:endParaRPr>
              </a:p>
              <a:p>
                <a14:m>
                  <m:oMath xmlns:m="http://schemas.openxmlformats.org/officeDocument/2006/math">
                    <m:r>
                      <a:rPr lang="en-US" altLang="zh-CN" sz="1007" i="1">
                        <a:latin typeface="Cambria Math" panose="02040503050406030204" pitchFamily="18" charset="0"/>
                      </a:rPr>
                      <m:t>𝑚</m:t>
                    </m:r>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𝑚</m:t>
                        </m:r>
                      </m:e>
                      <m:sub>
                        <m:r>
                          <a:rPr lang="en-US" altLang="zh-CN" sz="1007" i="1">
                            <a:latin typeface="Cambria Math" panose="02040503050406030204" pitchFamily="18" charset="0"/>
                          </a:rPr>
                          <m:t>0</m:t>
                        </m:r>
                      </m:sub>
                    </m:sSub>
                    <m:r>
                      <a:rPr lang="en-US" altLang="zh-CN" sz="1007" i="1">
                        <a:latin typeface="Cambria Math" panose="02040503050406030204" pitchFamily="18" charset="0"/>
                      </a:rPr>
                      <m:t>+</m:t>
                    </m:r>
                    <m:r>
                      <a:rPr lang="zh-CN" altLang="en-US" sz="1007" i="1">
                        <a:latin typeface="Cambria Math" panose="02040503050406030204" pitchFamily="18" charset="0"/>
                      </a:rPr>
                      <m:t>𝛾</m:t>
                    </m:r>
                    <m:r>
                      <a:rPr lang="en-US" altLang="zh-CN" sz="1007" i="1">
                        <a:latin typeface="Cambria Math" panose="02040503050406030204" pitchFamily="18" charset="0"/>
                      </a:rPr>
                      <m:t>𝑦</m:t>
                    </m:r>
                  </m:oMath>
                </a14:m>
                <a:endParaRPr lang="en-US" altLang="zh-CN" sz="907" dirty="0">
                  <a:latin typeface="Garamond" panose="02020404030301010803" pitchFamily="18" charset="0"/>
                  <a:ea typeface="SimSun" panose="02010600030101010101" pitchFamily="2" charset="-122"/>
                </a:endParaRPr>
              </a:p>
              <a:p>
                <a:r>
                  <a:rPr lang="zh-CN" altLang="en-US" sz="800" dirty="0">
                    <a:latin typeface="Garamond" panose="02020404030301010803" pitchFamily="18" charset="0"/>
                    <a:ea typeface="KaiTi" panose="02010609060101010101" pitchFamily="49" charset="-122"/>
                  </a:rPr>
                  <a:t>其中，</a:t>
                </a:r>
                <a14:m>
                  <m:oMath xmlns:m="http://schemas.openxmlformats.org/officeDocument/2006/math">
                    <m:sSub>
                      <m:sSubPr>
                        <m:ctrlPr>
                          <a:rPr lang="en-US" altLang="zh-CN" sz="800" i="1">
                            <a:latin typeface="Cambria Math" panose="02040503050406030204" pitchFamily="18" charset="0"/>
                          </a:rPr>
                        </m:ctrlPr>
                      </m:sSubPr>
                      <m:e>
                        <m:r>
                          <m:rPr>
                            <m:sty m:val="p"/>
                          </m:rPr>
                          <a:rPr lang="en-US" altLang="zh-CN" sz="800">
                            <a:latin typeface="Cambria Math" panose="02040503050406030204" pitchFamily="18" charset="0"/>
                          </a:rPr>
                          <m:t>m</m:t>
                        </m:r>
                      </m:e>
                      <m:sub>
                        <m:r>
                          <a:rPr lang="en-US" altLang="zh-CN" sz="800">
                            <a:latin typeface="Cambria Math" panose="02040503050406030204" pitchFamily="18" charset="0"/>
                          </a:rPr>
                          <m:t>0</m:t>
                        </m:r>
                      </m:sub>
                    </m:sSub>
                  </m:oMath>
                </a14:m>
                <a:r>
                  <a:rPr lang="zh-CN" altLang="en-US" sz="800" dirty="0">
                    <a:latin typeface="Garamond" panose="02020404030301010803" pitchFamily="18" charset="0"/>
                    <a:ea typeface="KaiTi" panose="02010609060101010101" pitchFamily="49" charset="-122"/>
                  </a:rPr>
                  <a:t>是自发性进口，即和收入没有关系或者说不取决于收入的进口部分，如本国不能生产但又为本国国民生计所必需的的产品；</a:t>
                </a:r>
                <a14:m>
                  <m:oMath xmlns:m="http://schemas.openxmlformats.org/officeDocument/2006/math">
                    <m:r>
                      <m:rPr>
                        <m:sty m:val="p"/>
                      </m:rPr>
                      <a:rPr lang="zh-CN" altLang="en-US" sz="800">
                        <a:latin typeface="Cambria Math" panose="02040503050406030204" pitchFamily="18" charset="0"/>
                      </a:rPr>
                      <m:t>γ</m:t>
                    </m:r>
                  </m:oMath>
                </a14:m>
                <a:r>
                  <a:rPr lang="zh-CN" altLang="en-US" sz="800" dirty="0">
                    <a:latin typeface="Garamond" panose="02020404030301010803" pitchFamily="18" charset="0"/>
                    <a:ea typeface="KaiTi" panose="02010609060101010101" pitchFamily="49" charset="-122"/>
                  </a:rPr>
                  <a:t>是边际进口倾向，即收入增加</a:t>
                </a:r>
                <a:r>
                  <a:rPr lang="en-US" altLang="zh-CN" sz="800" dirty="0">
                    <a:latin typeface="Garamond" panose="02020404030301010803" pitchFamily="18" charset="0"/>
                    <a:ea typeface="KaiTi" panose="02010609060101010101" pitchFamily="49" charset="-122"/>
                  </a:rPr>
                  <a:t>1</a:t>
                </a:r>
                <a:r>
                  <a:rPr lang="zh-CN" altLang="en-US" sz="800" dirty="0">
                    <a:latin typeface="Garamond" panose="02020404030301010803" pitchFamily="18" charset="0"/>
                    <a:ea typeface="KaiTi" panose="02010609060101010101" pitchFamily="49" charset="-122"/>
                  </a:rPr>
                  <a:t>单位时进口的增加量。</a:t>
                </a:r>
                <a:endParaRPr lang="en-US" altLang="zh-CN" sz="1007" dirty="0">
                  <a:latin typeface="Garamond" panose="02020404030301010803" pitchFamily="18" charset="0"/>
                  <a:ea typeface="SimSun" panose="02010600030101010101" pitchFamily="2" charset="-122"/>
                </a:endParaRPr>
              </a:p>
              <a:p>
                <a:endParaRPr lang="en-US" altLang="zh-CN" sz="1007" dirty="0">
                  <a:latin typeface="Garamond" panose="02020404030301010803" pitchFamily="18" charset="0"/>
                  <a:ea typeface="SimSun" panose="02010600030101010101" pitchFamily="2" charset="-122"/>
                </a:endParaRPr>
              </a:p>
              <a:p>
                <a:endParaRPr lang="zh-CN" altLang="en-US" sz="1007" dirty="0">
                  <a:latin typeface="Garamond" panose="02020404030301010803" pitchFamily="18" charset="0"/>
                  <a:ea typeface="SimSun"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302" t="-976"/>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88</a:t>
            </a:fld>
            <a:endParaRPr lang="zh-CN" altLang="en-US"/>
          </a:p>
        </p:txBody>
      </p:sp>
      <p:sp>
        <p:nvSpPr>
          <p:cNvPr id="8" name="标题 7">
            <a:extLst>
              <a:ext uri="{FF2B5EF4-FFF2-40B4-BE49-F238E27FC236}">
                <a16:creationId xmlns:a16="http://schemas.microsoft.com/office/drawing/2014/main" id="{1A696808-4BD9-F07F-308B-1743ADB9FF36}"/>
              </a:ext>
            </a:extLst>
          </p:cNvPr>
          <p:cNvSpPr>
            <a:spLocks noGrp="1"/>
          </p:cNvSpPr>
          <p:nvPr>
            <p:ph type="title"/>
          </p:nvPr>
        </p:nvSpPr>
        <p:spPr/>
        <p:txBody>
          <a:bodyPr/>
          <a:lstStyle/>
          <a:p>
            <a:r>
              <a:rPr kumimoji="1" lang="zh-CN" altLang="en-US" dirty="0"/>
              <a:t>四部门经济中的</a:t>
            </a:r>
            <a:r>
              <a:rPr kumimoji="1" lang="en-US" altLang="zh-CN" dirty="0"/>
              <a:t>AE- NI</a:t>
            </a:r>
            <a:r>
              <a:rPr kumimoji="1" lang="zh-CN" altLang="en-US" dirty="0"/>
              <a:t>模型</a:t>
            </a:r>
          </a:p>
        </p:txBody>
      </p:sp>
      <p:sp>
        <p:nvSpPr>
          <p:cNvPr id="9" name="灯片编号占位符 2">
            <a:extLst>
              <a:ext uri="{FF2B5EF4-FFF2-40B4-BE49-F238E27FC236}">
                <a16:creationId xmlns:a16="http://schemas.microsoft.com/office/drawing/2014/main" id="{0AD84198-0672-D1FD-A691-B1E4B290E642}"/>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88</a:t>
            </a:fld>
            <a:endParaRPr lang="zh-CN" altLang="zh-CN" sz="856" dirty="0">
              <a:solidFill>
                <a:srgbClr val="777777"/>
              </a:solidFill>
              <a:ea typeface="宋体" panose="02010600030101010101" pitchFamily="2" charset="-122"/>
            </a:endParaRPr>
          </a:p>
        </p:txBody>
      </p:sp>
      <p:sp>
        <p:nvSpPr>
          <p:cNvPr id="10" name="页脚占位符 1">
            <a:extLst>
              <a:ext uri="{FF2B5EF4-FFF2-40B4-BE49-F238E27FC236}">
                <a16:creationId xmlns:a16="http://schemas.microsoft.com/office/drawing/2014/main" id="{A1A6FD59-F3DE-4ED3-9A10-8CEE69C82CE6}"/>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286182726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lnSpcReduction="10000"/>
              </a:bodyPr>
              <a:lstStyle/>
              <a:p>
                <a:r>
                  <a:rPr lang="zh-CN" altLang="en-US" sz="1007" dirty="0">
                    <a:latin typeface="Garamond" panose="02020404030301010803" pitchFamily="18" charset="0"/>
                    <a:ea typeface="SimSun" panose="02010600030101010101" pitchFamily="2" charset="-122"/>
                  </a:rPr>
                  <a:t>四部门经济中的国民收入决定模型如下：</a:t>
                </a:r>
                <a:endParaRPr lang="en-US" altLang="zh-CN" sz="1007" dirty="0">
                  <a:latin typeface="Garamond" panose="02020404030301010803" pitchFamily="18" charset="0"/>
                  <a:ea typeface="SimSun" panose="02010600030101010101" pitchFamily="2" charset="-122"/>
                </a:endParaRPr>
              </a:p>
              <a:p>
                <a:pPr marL="0" indent="0">
                  <a:spcBef>
                    <a:spcPts val="0"/>
                  </a:spcBef>
                </a:pPr>
                <a14:m>
                  <m:oMath xmlns:m="http://schemas.openxmlformats.org/officeDocument/2006/math">
                    <m:d>
                      <m:dPr>
                        <m:begChr m:val="{"/>
                        <m:endChr m:val=""/>
                        <m:ctrlPr>
                          <a:rPr lang="en-US" altLang="zh-CN" sz="1007" i="1">
                            <a:latin typeface="Cambria Math" panose="02040503050406030204" pitchFamily="18" charset="0"/>
                          </a:rPr>
                        </m:ctrlPr>
                      </m:dPr>
                      <m:e>
                        <m:eqArr>
                          <m:eqArrPr>
                            <m:ctrlPr>
                              <a:rPr lang="en-US" altLang="zh-CN" sz="1007" i="1">
                                <a:latin typeface="Cambria Math" panose="02040503050406030204" pitchFamily="18" charset="0"/>
                              </a:rPr>
                            </m:ctrlPr>
                          </m:eqArrPr>
                          <m:e>
                            <m:r>
                              <a:rPr lang="en-US" altLang="zh-CN" sz="1007" i="1">
                                <a:latin typeface="Cambria Math" panose="02040503050406030204" pitchFamily="18" charset="0"/>
                              </a:rPr>
                              <m:t>𝑦</m:t>
                            </m:r>
                            <m:r>
                              <a:rPr lang="en-US" altLang="zh-CN" sz="1007" i="1">
                                <a:latin typeface="Cambria Math" panose="02040503050406030204" pitchFamily="18" charset="0"/>
                              </a:rPr>
                              <m:t>=</m:t>
                            </m:r>
                            <m:r>
                              <a:rPr lang="en-US" altLang="zh-CN" sz="1007" i="1">
                                <a:latin typeface="Cambria Math" panose="02040503050406030204" pitchFamily="18" charset="0"/>
                              </a:rPr>
                              <m:t>𝑐</m:t>
                            </m:r>
                            <m:r>
                              <a:rPr lang="en-US" altLang="zh-CN" sz="1007" i="1">
                                <a:latin typeface="Cambria Math" panose="02040503050406030204" pitchFamily="18" charset="0"/>
                              </a:rPr>
                              <m:t>+</m:t>
                            </m:r>
                            <m:r>
                              <a:rPr lang="en-US" altLang="zh-CN" sz="1007" i="1">
                                <a:latin typeface="Cambria Math" panose="02040503050406030204" pitchFamily="18" charset="0"/>
                              </a:rPr>
                              <m:t>𝑖</m:t>
                            </m:r>
                            <m:r>
                              <a:rPr lang="en-US" altLang="zh-CN" sz="1007" i="1">
                                <a:latin typeface="Cambria Math" panose="02040503050406030204" pitchFamily="18" charset="0"/>
                              </a:rPr>
                              <m:t>+</m:t>
                            </m:r>
                            <m:r>
                              <a:rPr lang="en-US" altLang="zh-CN" sz="1007" i="1">
                                <a:latin typeface="Cambria Math" panose="02040503050406030204" pitchFamily="18" charset="0"/>
                              </a:rPr>
                              <m:t>𝑔</m:t>
                            </m:r>
                            <m:r>
                              <a:rPr lang="en-US" altLang="zh-CN" sz="1007" i="1">
                                <a:latin typeface="Cambria Math" panose="02040503050406030204" pitchFamily="18" charset="0"/>
                              </a:rPr>
                              <m:t>+</m:t>
                            </m:r>
                            <m:r>
                              <a:rPr lang="en-US" altLang="zh-CN" sz="1007" i="1">
                                <a:latin typeface="Cambria Math" panose="02040503050406030204" pitchFamily="18" charset="0"/>
                              </a:rPr>
                              <m:t>𝑥</m:t>
                            </m:r>
                            <m:r>
                              <a:rPr lang="en-US" altLang="zh-CN" sz="1007" i="1">
                                <a:latin typeface="Cambria Math" panose="02040503050406030204" pitchFamily="18" charset="0"/>
                              </a:rPr>
                              <m:t>−</m:t>
                            </m:r>
                            <m:r>
                              <a:rPr lang="en-US" altLang="zh-CN" sz="1007" i="1">
                                <a:latin typeface="Cambria Math" panose="02040503050406030204" pitchFamily="18" charset="0"/>
                              </a:rPr>
                              <m:t>𝑚</m:t>
                            </m:r>
                          </m:e>
                          <m:e>
                            <m:r>
                              <a:rPr lang="en-US" altLang="zh-CN" sz="1007" i="1">
                                <a:latin typeface="Cambria Math" panose="02040503050406030204" pitchFamily="18" charset="0"/>
                              </a:rPr>
                              <m:t>𝑐</m:t>
                            </m:r>
                            <m:r>
                              <a:rPr lang="en-US" altLang="zh-CN" sz="1007" i="1">
                                <a:latin typeface="Cambria Math" panose="02040503050406030204" pitchFamily="18" charset="0"/>
                              </a:rPr>
                              <m:t>=</m:t>
                            </m:r>
                            <m:r>
                              <a:rPr lang="zh-CN" altLang="en-US" sz="1007" i="1">
                                <a:latin typeface="Cambria Math" panose="02040503050406030204" pitchFamily="18" charset="0"/>
                              </a:rPr>
                              <m:t>𝛼</m:t>
                            </m:r>
                            <m:r>
                              <a:rPr lang="en-US" altLang="zh-CN" sz="1007" i="1">
                                <a:latin typeface="Cambria Math" panose="02040503050406030204" pitchFamily="18" charset="0"/>
                              </a:rPr>
                              <m:t>+</m:t>
                            </m:r>
                            <m:r>
                              <a:rPr lang="zh-CN" altLang="en-US" sz="1007" i="1">
                                <a:latin typeface="Cambria Math" panose="02040503050406030204" pitchFamily="18" charset="0"/>
                              </a:rPr>
                              <m:t>𝛽</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𝑦</m:t>
                                </m:r>
                              </m:e>
                              <m:sub>
                                <m:r>
                                  <a:rPr lang="en-US" altLang="zh-CN" sz="1007" i="1">
                                    <a:latin typeface="Cambria Math" panose="02040503050406030204" pitchFamily="18" charset="0"/>
                                  </a:rPr>
                                  <m:t>𝑑</m:t>
                                </m:r>
                              </m:sub>
                            </m:sSub>
                          </m:e>
                          <m:e>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𝑦</m:t>
                                </m:r>
                              </m:e>
                              <m:sub>
                                <m:r>
                                  <a:rPr lang="en-US" altLang="zh-CN" sz="1007" i="1">
                                    <a:latin typeface="Cambria Math" panose="02040503050406030204" pitchFamily="18" charset="0"/>
                                  </a:rPr>
                                  <m:t>𝑑</m:t>
                                </m:r>
                              </m:sub>
                            </m:sSub>
                            <m:r>
                              <a:rPr lang="en-US" altLang="zh-CN" sz="1007" i="1">
                                <a:latin typeface="Cambria Math" panose="02040503050406030204" pitchFamily="18" charset="0"/>
                              </a:rPr>
                              <m:t>=</m:t>
                            </m:r>
                            <m:r>
                              <a:rPr lang="en-US" altLang="zh-CN" sz="1007" i="1">
                                <a:latin typeface="Cambria Math" panose="02040503050406030204" pitchFamily="18" charset="0"/>
                              </a:rPr>
                              <m:t>𝑦</m:t>
                            </m:r>
                            <m:r>
                              <a:rPr lang="en-US" altLang="zh-CN" sz="1007" i="1">
                                <a:latin typeface="Cambria Math" panose="02040503050406030204" pitchFamily="18" charset="0"/>
                              </a:rPr>
                              <m:t>−</m:t>
                            </m:r>
                            <m:r>
                              <a:rPr lang="en-US" altLang="zh-CN" sz="1007" i="1">
                                <a:latin typeface="Cambria Math" panose="02040503050406030204" pitchFamily="18" charset="0"/>
                              </a:rPr>
                              <m:t>𝑡</m:t>
                            </m:r>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𝑡</m:t>
                                </m:r>
                              </m:e>
                              <m:sub>
                                <m:r>
                                  <a:rPr lang="en-US" altLang="zh-CN" sz="1007" i="1">
                                    <a:latin typeface="Cambria Math" panose="02040503050406030204" pitchFamily="18" charset="0"/>
                                  </a:rPr>
                                  <m:t>𝑟</m:t>
                                </m:r>
                              </m:sub>
                            </m:sSub>
                          </m:e>
                          <m:e>
                            <m:r>
                              <a:rPr lang="en-US" altLang="zh-CN" sz="1007" i="1">
                                <a:latin typeface="Cambria Math" panose="02040503050406030204" pitchFamily="18" charset="0"/>
                              </a:rPr>
                              <m:t>𝑚</m:t>
                            </m:r>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𝑚</m:t>
                                </m:r>
                              </m:e>
                              <m:sub>
                                <m:r>
                                  <a:rPr lang="en-US" altLang="zh-CN" sz="1007" i="1">
                                    <a:latin typeface="Cambria Math" panose="02040503050406030204" pitchFamily="18" charset="0"/>
                                  </a:rPr>
                                  <m:t>𝑜</m:t>
                                </m:r>
                              </m:sub>
                            </m:sSub>
                            <m:r>
                              <a:rPr lang="en-US" altLang="zh-CN" sz="1007" i="1">
                                <a:latin typeface="Cambria Math" panose="02040503050406030204" pitchFamily="18" charset="0"/>
                              </a:rPr>
                              <m:t>+</m:t>
                            </m:r>
                            <m:r>
                              <a:rPr lang="zh-CN" altLang="en-US" sz="1007" i="1">
                                <a:latin typeface="Cambria Math" panose="02040503050406030204" pitchFamily="18" charset="0"/>
                              </a:rPr>
                              <m:t>𝛾</m:t>
                            </m:r>
                            <m:r>
                              <a:rPr lang="en-US" altLang="zh-CN" sz="1007" i="1">
                                <a:latin typeface="Cambria Math" panose="02040503050406030204" pitchFamily="18" charset="0"/>
                              </a:rPr>
                              <m:t>𝑦</m:t>
                            </m:r>
                          </m:e>
                        </m:eqArr>
                      </m:e>
                    </m:d>
                  </m:oMath>
                </a14:m>
                <a:endParaRPr lang="en-US" altLang="zh-CN" sz="1007" dirty="0">
                  <a:latin typeface="Garamond" panose="02020404030301010803" pitchFamily="18" charset="0"/>
                  <a:ea typeface="SimSun" panose="02010600030101010101" pitchFamily="2" charset="-122"/>
                </a:endParaRPr>
              </a:p>
              <a:p>
                <a:r>
                  <a:rPr lang="zh-CN" altLang="en-US" sz="1007" dirty="0">
                    <a:latin typeface="Garamond" panose="02020404030301010803" pitchFamily="18" charset="0"/>
                  </a:rPr>
                  <a:t>则</a:t>
                </a:r>
                <a14:m>
                  <m:oMath xmlns:m="http://schemas.openxmlformats.org/officeDocument/2006/math">
                    <m:sSub>
                      <m:sSubPr>
                        <m:ctrlPr>
                          <a:rPr lang="en-US" altLang="zh-CN" sz="1007" i="1" dirty="0" smtClean="0">
                            <a:latin typeface="Cambria Math" panose="02040503050406030204" pitchFamily="18" charset="0"/>
                          </a:rPr>
                        </m:ctrlPr>
                      </m:sSubPr>
                      <m:e>
                        <m:r>
                          <a:rPr lang="en-US" altLang="zh-CN" sz="1007" i="1" dirty="0">
                            <a:latin typeface="Cambria Math" panose="02040503050406030204" pitchFamily="18" charset="0"/>
                          </a:rPr>
                          <m:t>𝑦</m:t>
                        </m:r>
                      </m:e>
                      <m:sub>
                        <m:r>
                          <a:rPr lang="en-US" altLang="zh-CN" sz="1007" i="1" dirty="0">
                            <a:latin typeface="Cambria Math" panose="02040503050406030204" pitchFamily="18" charset="0"/>
                          </a:rPr>
                          <m:t>0</m:t>
                        </m:r>
                      </m:sub>
                    </m:sSub>
                    <m:r>
                      <a:rPr lang="en-US" altLang="zh-CN" sz="1007" i="1" dirty="0">
                        <a:latin typeface="Cambria Math" panose="02040503050406030204" pitchFamily="18" charset="0"/>
                      </a:rPr>
                      <m:t>=</m:t>
                    </m:r>
                    <m:f>
                      <m:fPr>
                        <m:ctrlPr>
                          <a:rPr lang="en-US" altLang="zh-CN" sz="1007" i="1">
                            <a:latin typeface="Cambria Math" panose="02040503050406030204" pitchFamily="18" charset="0"/>
                          </a:rPr>
                        </m:ctrlPr>
                      </m:fPr>
                      <m:num>
                        <m:r>
                          <a:rPr lang="zh-CN" altLang="en-US" sz="1007" i="1">
                            <a:latin typeface="Cambria Math" panose="02040503050406030204" pitchFamily="18" charset="0"/>
                          </a:rPr>
                          <m:t>𝛼</m:t>
                        </m:r>
                        <m:r>
                          <a:rPr lang="en-US" altLang="zh-CN" sz="1007" i="1">
                            <a:latin typeface="Cambria Math" panose="02040503050406030204" pitchFamily="18" charset="0"/>
                          </a:rPr>
                          <m:t>+</m:t>
                        </m:r>
                        <m:r>
                          <a:rPr lang="en-US" altLang="zh-CN" sz="1007" i="1">
                            <a:latin typeface="Cambria Math" panose="02040503050406030204" pitchFamily="18" charset="0"/>
                          </a:rPr>
                          <m:t>𝑖</m:t>
                        </m:r>
                        <m:r>
                          <a:rPr lang="en-US" altLang="zh-CN" sz="1007" i="1">
                            <a:latin typeface="Cambria Math" panose="02040503050406030204" pitchFamily="18" charset="0"/>
                          </a:rPr>
                          <m:t>+</m:t>
                        </m:r>
                        <m:r>
                          <a:rPr lang="en-US" altLang="zh-CN" sz="1007" i="1">
                            <a:latin typeface="Cambria Math" panose="02040503050406030204" pitchFamily="18" charset="0"/>
                          </a:rPr>
                          <m:t>𝑔</m:t>
                        </m:r>
                        <m:r>
                          <a:rPr lang="en-US" altLang="zh-CN" sz="1007" i="1">
                            <a:latin typeface="Cambria Math" panose="02040503050406030204" pitchFamily="18" charset="0"/>
                          </a:rPr>
                          <m:t>+</m:t>
                        </m:r>
                        <m:r>
                          <a:rPr lang="zh-CN" altLang="en-US" sz="1007" i="1">
                            <a:latin typeface="Cambria Math" panose="02040503050406030204" pitchFamily="18" charset="0"/>
                          </a:rPr>
                          <m:t>𝛽</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𝑡</m:t>
                            </m:r>
                          </m:e>
                          <m:sub>
                            <m:r>
                              <a:rPr lang="en-US" altLang="zh-CN" sz="1007" i="1">
                                <a:latin typeface="Cambria Math" panose="02040503050406030204" pitchFamily="18" charset="0"/>
                              </a:rPr>
                              <m:t>𝑟</m:t>
                            </m:r>
                          </m:sub>
                        </m:sSub>
                        <m:r>
                          <a:rPr lang="en-US" altLang="zh-CN" sz="1007" i="1">
                            <a:latin typeface="Cambria Math" panose="02040503050406030204" pitchFamily="18" charset="0"/>
                          </a:rPr>
                          <m:t>−</m:t>
                        </m:r>
                        <m:r>
                          <a:rPr lang="zh-CN" altLang="en-US" sz="1007" i="1">
                            <a:latin typeface="Cambria Math" panose="02040503050406030204" pitchFamily="18" charset="0"/>
                          </a:rPr>
                          <m:t>𝛽</m:t>
                        </m:r>
                        <m:r>
                          <a:rPr lang="en-US" altLang="zh-CN" sz="1007" i="1">
                            <a:latin typeface="Cambria Math" panose="02040503050406030204" pitchFamily="18" charset="0"/>
                          </a:rPr>
                          <m:t>𝑡</m:t>
                        </m:r>
                        <m:r>
                          <a:rPr lang="en-US" altLang="zh-CN" sz="1007" i="1">
                            <a:latin typeface="Cambria Math" panose="02040503050406030204" pitchFamily="18" charset="0"/>
                          </a:rPr>
                          <m:t>+</m:t>
                        </m:r>
                        <m:r>
                          <a:rPr lang="en-US" altLang="zh-CN" sz="1007" i="1">
                            <a:latin typeface="Cambria Math" panose="02040503050406030204" pitchFamily="18" charset="0"/>
                          </a:rPr>
                          <m:t>𝑥</m:t>
                        </m:r>
                        <m:r>
                          <a:rPr lang="en-US" altLang="zh-CN" sz="1007" i="1">
                            <a:latin typeface="Cambria Math" panose="02040503050406030204" pitchFamily="18" charset="0"/>
                          </a:rPr>
                          <m:t>−</m:t>
                        </m:r>
                        <m:sSub>
                          <m:sSubPr>
                            <m:ctrlPr>
                              <a:rPr lang="en-US" altLang="zh-CN" sz="1007" i="1">
                                <a:latin typeface="Cambria Math" panose="02040503050406030204" pitchFamily="18" charset="0"/>
                              </a:rPr>
                            </m:ctrlPr>
                          </m:sSubPr>
                          <m:e>
                            <m:r>
                              <a:rPr lang="en-US" altLang="zh-CN" sz="1007" i="1">
                                <a:latin typeface="Cambria Math" panose="02040503050406030204" pitchFamily="18" charset="0"/>
                              </a:rPr>
                              <m:t>𝑚</m:t>
                            </m:r>
                          </m:e>
                          <m:sub>
                            <m:r>
                              <a:rPr lang="en-US" altLang="zh-CN" sz="1007" i="1">
                                <a:latin typeface="Cambria Math" panose="02040503050406030204" pitchFamily="18" charset="0"/>
                              </a:rPr>
                              <m:t>0</m:t>
                            </m:r>
                          </m:sub>
                        </m:sSub>
                      </m:num>
                      <m:den>
                        <m:r>
                          <a:rPr lang="en-US" altLang="zh-CN" sz="1007" i="1">
                            <a:latin typeface="Cambria Math" panose="02040503050406030204" pitchFamily="18" charset="0"/>
                          </a:rPr>
                          <m:t>1−</m:t>
                        </m:r>
                        <m:r>
                          <a:rPr lang="zh-CN" altLang="en-US" sz="1007" i="1">
                            <a:latin typeface="Cambria Math" panose="02040503050406030204" pitchFamily="18" charset="0"/>
                          </a:rPr>
                          <m:t>𝛽</m:t>
                        </m:r>
                        <m:r>
                          <a:rPr lang="en-US" altLang="zh-CN" sz="1007" i="1">
                            <a:latin typeface="Cambria Math" panose="02040503050406030204" pitchFamily="18" charset="0"/>
                          </a:rPr>
                          <m:t>+</m:t>
                        </m:r>
                        <m:r>
                          <a:rPr lang="zh-CN" altLang="en-US" sz="1007" i="1">
                            <a:latin typeface="Cambria Math" panose="02040503050406030204" pitchFamily="18" charset="0"/>
                          </a:rPr>
                          <m:t>𝛾</m:t>
                        </m:r>
                      </m:den>
                    </m:f>
                  </m:oMath>
                </a14:m>
                <a:endParaRPr lang="en-US" altLang="zh-CN" sz="1007" dirty="0">
                  <a:latin typeface="Garamond" panose="02020404030301010803" pitchFamily="18" charset="0"/>
                  <a:ea typeface="SimSun" panose="02010600030101010101" pitchFamily="2" charset="-122"/>
                </a:endParaRPr>
              </a:p>
              <a:p>
                <a:r>
                  <a:rPr lang="zh-CN" altLang="en-US" sz="1007" b="1" dirty="0">
                    <a:latin typeface="Garamond" panose="02020404030301010803" pitchFamily="18" charset="0"/>
                    <a:ea typeface="SimSun" panose="02010600030101010101" pitchFamily="2" charset="-122"/>
                  </a:rPr>
                  <a:t>此时的乘数分别为：</a:t>
                </a:r>
                <a:endParaRPr lang="en-US" altLang="zh-CN" sz="1007" b="1" dirty="0">
                  <a:latin typeface="Garamond" panose="02020404030301010803" pitchFamily="18" charset="0"/>
                  <a:ea typeface="SimSun" panose="02010600030101010101" pitchFamily="2" charset="-122"/>
                </a:endParaRPr>
              </a:p>
              <a:p>
                <a:r>
                  <a:rPr lang="zh-CN" altLang="en-US" sz="1007" dirty="0">
                    <a:latin typeface="Garamond" panose="02020404030301010803" pitchFamily="18" charset="0"/>
                    <a:ea typeface="SimSun" panose="02010600030101010101" pitchFamily="2" charset="-122"/>
                  </a:rPr>
                  <a:t>投资乘数</a:t>
                </a:r>
                <a14:m>
                  <m:oMath xmlns:m="http://schemas.openxmlformats.org/officeDocument/2006/math">
                    <m:sSub>
                      <m:sSubPr>
                        <m:ctrlPr>
                          <a:rPr lang="en-US" altLang="zh-CN" sz="1007" b="0" i="1" smtClean="0">
                            <a:latin typeface="Cambria Math" panose="02040503050406030204" pitchFamily="18" charset="0"/>
                          </a:rPr>
                        </m:ctrlPr>
                      </m:sSubPr>
                      <m:e>
                        <m:r>
                          <m:rPr>
                            <m:sty m:val="p"/>
                          </m:rPr>
                          <a:rPr lang="en-US" altLang="zh-CN" sz="1007" b="0" i="0" smtClean="0">
                            <a:latin typeface="Cambria Math" panose="02040503050406030204" pitchFamily="18" charset="0"/>
                          </a:rPr>
                          <m:t>k</m:t>
                        </m:r>
                      </m:e>
                      <m:sub>
                        <m:r>
                          <a:rPr lang="en-US" altLang="zh-CN" sz="1007" b="0" i="1" smtClean="0">
                            <a:latin typeface="Cambria Math" panose="02040503050406030204" pitchFamily="18" charset="0"/>
                          </a:rPr>
                          <m:t>𝑖</m:t>
                        </m:r>
                      </m:sub>
                    </m:sSub>
                    <m:r>
                      <a:rPr lang="en-US" altLang="zh-CN" sz="1007" b="0" i="1" smtClean="0">
                        <a:latin typeface="Cambria Math" panose="02040503050406030204" pitchFamily="18" charset="0"/>
                      </a:rPr>
                      <m:t>=</m:t>
                    </m:r>
                    <m:f>
                      <m:fPr>
                        <m:ctrlPr>
                          <a:rPr lang="en-US" altLang="zh-CN" sz="1007" i="1" smtClean="0">
                            <a:latin typeface="Cambria Math" panose="02040503050406030204" pitchFamily="18" charset="0"/>
                          </a:rPr>
                        </m:ctrlPr>
                      </m:fPr>
                      <m:num>
                        <m:r>
                          <a:rPr lang="en-US" altLang="zh-CN" sz="1007" b="0" i="1" smtClean="0">
                            <a:latin typeface="Cambria Math" panose="02040503050406030204" pitchFamily="18" charset="0"/>
                          </a:rPr>
                          <m:t>1</m:t>
                        </m:r>
                      </m:num>
                      <m:den>
                        <m:r>
                          <a:rPr lang="en-US" altLang="zh-CN" sz="1007" i="1">
                            <a:latin typeface="Cambria Math" panose="02040503050406030204" pitchFamily="18" charset="0"/>
                          </a:rPr>
                          <m:t>1−</m:t>
                        </m:r>
                        <m:r>
                          <a:rPr lang="zh-CN" altLang="en-US" sz="1007" i="1">
                            <a:latin typeface="Cambria Math" panose="02040503050406030204" pitchFamily="18" charset="0"/>
                          </a:rPr>
                          <m:t>𝛽</m:t>
                        </m:r>
                        <m:r>
                          <a:rPr lang="en-US" altLang="zh-CN" sz="1007" i="1">
                            <a:latin typeface="Cambria Math" panose="02040503050406030204" pitchFamily="18" charset="0"/>
                          </a:rPr>
                          <m:t>+</m:t>
                        </m:r>
                        <m:r>
                          <a:rPr lang="zh-CN" altLang="en-US" sz="1007" i="1">
                            <a:latin typeface="Cambria Math" panose="02040503050406030204" pitchFamily="18" charset="0"/>
                          </a:rPr>
                          <m:t>𝛾</m:t>
                        </m:r>
                      </m:den>
                    </m:f>
                  </m:oMath>
                </a14:m>
                <a:r>
                  <a:rPr lang="zh-CN" altLang="en-US" sz="1007" dirty="0">
                    <a:latin typeface="Garamond" panose="02020404030301010803" pitchFamily="18" charset="0"/>
                    <a:ea typeface="SimSun" panose="02010600030101010101" pitchFamily="2" charset="-122"/>
                  </a:rPr>
                  <a:t>，政府购买乘数</a:t>
                </a:r>
                <a14:m>
                  <m:oMath xmlns:m="http://schemas.openxmlformats.org/officeDocument/2006/math">
                    <m:sSub>
                      <m:sSubPr>
                        <m:ctrlPr>
                          <a:rPr lang="en-US" altLang="zh-CN" sz="1007" i="1">
                            <a:latin typeface="Cambria Math" panose="02040503050406030204" pitchFamily="18" charset="0"/>
                          </a:rPr>
                        </m:ctrlPr>
                      </m:sSubPr>
                      <m:e>
                        <m:r>
                          <m:rPr>
                            <m:sty m:val="p"/>
                          </m:rPr>
                          <a:rPr lang="en-US" altLang="zh-CN" sz="1007">
                            <a:latin typeface="Cambria Math" panose="02040503050406030204" pitchFamily="18" charset="0"/>
                          </a:rPr>
                          <m:t>k</m:t>
                        </m:r>
                      </m:e>
                      <m:sub>
                        <m:r>
                          <a:rPr lang="en-US" altLang="zh-CN" sz="1007" b="0" i="1" smtClean="0">
                            <a:latin typeface="Cambria Math" panose="02040503050406030204" pitchFamily="18" charset="0"/>
                          </a:rPr>
                          <m:t>𝑔</m:t>
                        </m:r>
                      </m:sub>
                    </m:sSub>
                    <m:r>
                      <a:rPr lang="en-US" altLang="zh-CN" sz="1007" i="1">
                        <a:latin typeface="Cambria Math" panose="02040503050406030204" pitchFamily="18" charset="0"/>
                      </a:rPr>
                      <m:t>=</m:t>
                    </m:r>
                    <m:f>
                      <m:fPr>
                        <m:ctrlPr>
                          <a:rPr lang="en-US" altLang="zh-CN" sz="1007" i="1">
                            <a:latin typeface="Cambria Math" panose="02040503050406030204" pitchFamily="18" charset="0"/>
                          </a:rPr>
                        </m:ctrlPr>
                      </m:fPr>
                      <m:num>
                        <m:r>
                          <a:rPr lang="en-US" altLang="zh-CN" sz="1007" i="1">
                            <a:latin typeface="Cambria Math" panose="02040503050406030204" pitchFamily="18" charset="0"/>
                          </a:rPr>
                          <m:t>1</m:t>
                        </m:r>
                      </m:num>
                      <m:den>
                        <m:r>
                          <a:rPr lang="en-US" altLang="zh-CN" sz="1007" i="1">
                            <a:latin typeface="Cambria Math" panose="02040503050406030204" pitchFamily="18" charset="0"/>
                          </a:rPr>
                          <m:t>1−</m:t>
                        </m:r>
                        <m:r>
                          <a:rPr lang="zh-CN" altLang="en-US" sz="1007" i="1">
                            <a:latin typeface="Cambria Math" panose="02040503050406030204" pitchFamily="18" charset="0"/>
                          </a:rPr>
                          <m:t>𝛽</m:t>
                        </m:r>
                        <m:r>
                          <a:rPr lang="en-US" altLang="zh-CN" sz="1007" i="1">
                            <a:latin typeface="Cambria Math" panose="02040503050406030204" pitchFamily="18" charset="0"/>
                          </a:rPr>
                          <m:t>+</m:t>
                        </m:r>
                        <m:r>
                          <a:rPr lang="zh-CN" altLang="en-US" sz="1007" i="1">
                            <a:latin typeface="Cambria Math" panose="02040503050406030204" pitchFamily="18" charset="0"/>
                          </a:rPr>
                          <m:t>𝛾</m:t>
                        </m:r>
                      </m:den>
                    </m:f>
                  </m:oMath>
                </a14:m>
                <a:endParaRPr lang="en-US" altLang="zh-CN" sz="1007" dirty="0">
                  <a:latin typeface="Garamond" panose="02020404030301010803" pitchFamily="18" charset="0"/>
                  <a:ea typeface="SimSun" panose="02010600030101010101" pitchFamily="2" charset="-122"/>
                </a:endParaRPr>
              </a:p>
              <a:p>
                <a:r>
                  <a:rPr lang="zh-CN" altLang="en-US" sz="1007" dirty="0">
                    <a:latin typeface="Garamond" panose="02020404030301010803" pitchFamily="18" charset="0"/>
                    <a:ea typeface="SimSun" panose="02010600030101010101" pitchFamily="2" charset="-122"/>
                  </a:rPr>
                  <a:t>政府转移支付乘数</a:t>
                </a:r>
                <a14:m>
                  <m:oMath xmlns:m="http://schemas.openxmlformats.org/officeDocument/2006/math">
                    <m:sSub>
                      <m:sSubPr>
                        <m:ctrlPr>
                          <a:rPr lang="en-US" altLang="zh-CN" sz="1007" b="0" i="1" smtClean="0">
                            <a:latin typeface="Cambria Math" panose="02040503050406030204" pitchFamily="18" charset="0"/>
                          </a:rPr>
                        </m:ctrlPr>
                      </m:sSubPr>
                      <m:e>
                        <m:r>
                          <m:rPr>
                            <m:sty m:val="p"/>
                          </m:rPr>
                          <a:rPr lang="en-US" altLang="zh-CN" sz="1007" b="0" i="0" smtClean="0">
                            <a:latin typeface="Cambria Math" panose="02040503050406030204" pitchFamily="18" charset="0"/>
                          </a:rPr>
                          <m:t>k</m:t>
                        </m:r>
                      </m:e>
                      <m:sub>
                        <m:r>
                          <a:rPr lang="en-US" altLang="zh-CN" sz="1007" b="0" i="1" smtClean="0">
                            <a:latin typeface="Cambria Math" panose="02040503050406030204" pitchFamily="18" charset="0"/>
                          </a:rPr>
                          <m:t>𝑡𝑟</m:t>
                        </m:r>
                      </m:sub>
                    </m:sSub>
                    <m:r>
                      <a:rPr lang="en-US" altLang="zh-CN" sz="1007" b="0" i="1" smtClean="0">
                        <a:latin typeface="Cambria Math" panose="02040503050406030204" pitchFamily="18" charset="0"/>
                      </a:rPr>
                      <m:t>=</m:t>
                    </m:r>
                    <m:f>
                      <m:fPr>
                        <m:ctrlPr>
                          <a:rPr lang="en-US" altLang="zh-CN" sz="1007" i="1" smtClean="0">
                            <a:latin typeface="Cambria Math" panose="02040503050406030204" pitchFamily="18" charset="0"/>
                          </a:rPr>
                        </m:ctrlPr>
                      </m:fPr>
                      <m:num>
                        <m:r>
                          <a:rPr lang="zh-CN" altLang="en-US" sz="1007" i="1">
                            <a:latin typeface="Cambria Math" panose="02040503050406030204" pitchFamily="18" charset="0"/>
                          </a:rPr>
                          <m:t>𝛽</m:t>
                        </m:r>
                      </m:num>
                      <m:den>
                        <m:r>
                          <a:rPr lang="en-US" altLang="zh-CN" sz="1007" i="1">
                            <a:latin typeface="Cambria Math" panose="02040503050406030204" pitchFamily="18" charset="0"/>
                          </a:rPr>
                          <m:t>1−</m:t>
                        </m:r>
                        <m:r>
                          <a:rPr lang="zh-CN" altLang="en-US" sz="1007" i="1">
                            <a:latin typeface="Cambria Math" panose="02040503050406030204" pitchFamily="18" charset="0"/>
                          </a:rPr>
                          <m:t>𝛽</m:t>
                        </m:r>
                        <m:r>
                          <a:rPr lang="en-US" altLang="zh-CN" sz="1007" i="1">
                            <a:latin typeface="Cambria Math" panose="02040503050406030204" pitchFamily="18" charset="0"/>
                          </a:rPr>
                          <m:t>+</m:t>
                        </m:r>
                        <m:r>
                          <a:rPr lang="zh-CN" altLang="en-US" sz="1007" i="1">
                            <a:latin typeface="Cambria Math" panose="02040503050406030204" pitchFamily="18" charset="0"/>
                          </a:rPr>
                          <m:t>𝛾</m:t>
                        </m:r>
                      </m:den>
                    </m:f>
                    <m:r>
                      <a:rPr lang="zh-CN" altLang="en-US" sz="1007" i="1">
                        <a:latin typeface="Cambria Math" panose="02040503050406030204" pitchFamily="18" charset="0"/>
                      </a:rPr>
                      <m:t> </m:t>
                    </m:r>
                  </m:oMath>
                </a14:m>
                <a:r>
                  <a:rPr lang="zh-CN" altLang="en-US" sz="1007" dirty="0">
                    <a:latin typeface="Garamond" panose="02020404030301010803" pitchFamily="18" charset="0"/>
                    <a:ea typeface="SimSun" panose="02010600030101010101" pitchFamily="2" charset="-122"/>
                  </a:rPr>
                  <a:t>，税收乘数</a:t>
                </a:r>
                <a14:m>
                  <m:oMath xmlns:m="http://schemas.openxmlformats.org/officeDocument/2006/math">
                    <m:sSub>
                      <m:sSubPr>
                        <m:ctrlPr>
                          <a:rPr lang="en-US" altLang="zh-CN" sz="1007" i="1">
                            <a:latin typeface="Cambria Math" panose="02040503050406030204" pitchFamily="18" charset="0"/>
                          </a:rPr>
                        </m:ctrlPr>
                      </m:sSubPr>
                      <m:e>
                        <m:r>
                          <m:rPr>
                            <m:sty m:val="p"/>
                          </m:rPr>
                          <a:rPr lang="en-US" altLang="zh-CN" sz="1007">
                            <a:latin typeface="Cambria Math" panose="02040503050406030204" pitchFamily="18" charset="0"/>
                          </a:rPr>
                          <m:t>k</m:t>
                        </m:r>
                      </m:e>
                      <m:sub>
                        <m:r>
                          <a:rPr lang="en-US" altLang="zh-CN" sz="1007" i="1">
                            <a:latin typeface="Cambria Math" panose="02040503050406030204" pitchFamily="18" charset="0"/>
                          </a:rPr>
                          <m:t>𝑡</m:t>
                        </m:r>
                      </m:sub>
                    </m:sSub>
                    <m:r>
                      <a:rPr lang="en-US" altLang="zh-CN" sz="1007" i="1">
                        <a:latin typeface="Cambria Math" panose="02040503050406030204" pitchFamily="18" charset="0"/>
                      </a:rPr>
                      <m:t>=</m:t>
                    </m:r>
                    <m:f>
                      <m:fPr>
                        <m:ctrlPr>
                          <a:rPr lang="en-US" altLang="zh-CN" sz="1007" i="1">
                            <a:latin typeface="Cambria Math" panose="02040503050406030204" pitchFamily="18" charset="0"/>
                          </a:rPr>
                        </m:ctrlPr>
                      </m:fPr>
                      <m:num>
                        <m:r>
                          <a:rPr lang="en-US" altLang="zh-CN" sz="1007" b="0" i="1" smtClean="0">
                            <a:latin typeface="Cambria Math" panose="02040503050406030204" pitchFamily="18" charset="0"/>
                          </a:rPr>
                          <m:t>−</m:t>
                        </m:r>
                        <m:r>
                          <a:rPr lang="zh-CN" altLang="en-US" sz="1007" i="1">
                            <a:latin typeface="Cambria Math" panose="02040503050406030204" pitchFamily="18" charset="0"/>
                          </a:rPr>
                          <m:t>𝛽</m:t>
                        </m:r>
                      </m:num>
                      <m:den>
                        <m:r>
                          <a:rPr lang="en-US" altLang="zh-CN" sz="1007" i="1">
                            <a:latin typeface="Cambria Math" panose="02040503050406030204" pitchFamily="18" charset="0"/>
                          </a:rPr>
                          <m:t>1−</m:t>
                        </m:r>
                        <m:r>
                          <a:rPr lang="zh-CN" altLang="en-US" sz="1007" i="1">
                            <a:latin typeface="Cambria Math" panose="02040503050406030204" pitchFamily="18" charset="0"/>
                          </a:rPr>
                          <m:t>𝛽</m:t>
                        </m:r>
                        <m:r>
                          <a:rPr lang="en-US" altLang="zh-CN" sz="1007" i="1">
                            <a:latin typeface="Cambria Math" panose="02040503050406030204" pitchFamily="18" charset="0"/>
                          </a:rPr>
                          <m:t>+</m:t>
                        </m:r>
                        <m:r>
                          <a:rPr lang="zh-CN" altLang="en-US" sz="1007" i="1">
                            <a:latin typeface="Cambria Math" panose="02040503050406030204" pitchFamily="18" charset="0"/>
                          </a:rPr>
                          <m:t>𝛾</m:t>
                        </m:r>
                      </m:den>
                    </m:f>
                    <m:r>
                      <a:rPr lang="zh-CN" altLang="en-US" sz="1007" i="1">
                        <a:latin typeface="Cambria Math" panose="02040503050406030204" pitchFamily="18" charset="0"/>
                      </a:rPr>
                      <m:t> </m:t>
                    </m:r>
                  </m:oMath>
                </a14:m>
                <a:endParaRPr lang="en-US" altLang="zh-CN" sz="1007" dirty="0">
                  <a:latin typeface="Garamond" panose="02020404030301010803" pitchFamily="18" charset="0"/>
                  <a:ea typeface="SimSun" panose="02010600030101010101" pitchFamily="2" charset="-122"/>
                </a:endParaRPr>
              </a:p>
              <a:p>
                <a:r>
                  <a:rPr lang="zh-CN" altLang="en-US" sz="1007" dirty="0">
                    <a:latin typeface="Garamond" panose="02020404030301010803" pitchFamily="18" charset="0"/>
                    <a:ea typeface="SimSun" panose="02010600030101010101" pitchFamily="2" charset="-122"/>
                  </a:rPr>
                  <a:t>对外贸易乘数</a:t>
                </a:r>
                <a14:m>
                  <m:oMath xmlns:m="http://schemas.openxmlformats.org/officeDocument/2006/math">
                    <m:sSub>
                      <m:sSubPr>
                        <m:ctrlPr>
                          <a:rPr lang="en-US" altLang="zh-CN" sz="1007" b="0" i="1" smtClean="0">
                            <a:latin typeface="Cambria Math" panose="02040503050406030204" pitchFamily="18" charset="0"/>
                          </a:rPr>
                        </m:ctrlPr>
                      </m:sSubPr>
                      <m:e>
                        <m:r>
                          <m:rPr>
                            <m:sty m:val="p"/>
                          </m:rPr>
                          <a:rPr lang="en-US" altLang="zh-CN" sz="1007" b="0" i="0" smtClean="0">
                            <a:latin typeface="Cambria Math" panose="02040503050406030204" pitchFamily="18" charset="0"/>
                          </a:rPr>
                          <m:t>k</m:t>
                        </m:r>
                      </m:e>
                      <m:sub>
                        <m:r>
                          <a:rPr lang="en-US" altLang="zh-CN" sz="1007" b="0" i="1" smtClean="0">
                            <a:latin typeface="Cambria Math" panose="02040503050406030204" pitchFamily="18" charset="0"/>
                          </a:rPr>
                          <m:t>𝑥</m:t>
                        </m:r>
                      </m:sub>
                    </m:sSub>
                    <m:r>
                      <a:rPr lang="en-US" altLang="zh-CN" sz="1007" b="0" i="1" smtClean="0">
                        <a:latin typeface="Cambria Math" panose="02040503050406030204" pitchFamily="18" charset="0"/>
                      </a:rPr>
                      <m:t>=</m:t>
                    </m:r>
                    <m:f>
                      <m:fPr>
                        <m:ctrlPr>
                          <a:rPr lang="en-US" altLang="zh-CN" sz="1007" i="1" smtClean="0">
                            <a:latin typeface="Cambria Math" panose="02040503050406030204" pitchFamily="18" charset="0"/>
                          </a:rPr>
                        </m:ctrlPr>
                      </m:fPr>
                      <m:num>
                        <m:r>
                          <a:rPr lang="en-US" altLang="zh-CN" sz="1007" b="0" i="1" smtClean="0">
                            <a:latin typeface="Cambria Math" panose="02040503050406030204" pitchFamily="18" charset="0"/>
                          </a:rPr>
                          <m:t>1</m:t>
                        </m:r>
                      </m:num>
                      <m:den>
                        <m:r>
                          <a:rPr lang="en-US" altLang="zh-CN" sz="1007" i="1">
                            <a:latin typeface="Cambria Math" panose="02040503050406030204" pitchFamily="18" charset="0"/>
                          </a:rPr>
                          <m:t>1−</m:t>
                        </m:r>
                        <m:r>
                          <a:rPr lang="zh-CN" altLang="en-US" sz="1007" i="1">
                            <a:latin typeface="Cambria Math" panose="02040503050406030204" pitchFamily="18" charset="0"/>
                          </a:rPr>
                          <m:t>𝛽</m:t>
                        </m:r>
                        <m:r>
                          <a:rPr lang="en-US" altLang="zh-CN" sz="1007" i="1">
                            <a:latin typeface="Cambria Math" panose="02040503050406030204" pitchFamily="18" charset="0"/>
                          </a:rPr>
                          <m:t>+</m:t>
                        </m:r>
                        <m:r>
                          <a:rPr lang="zh-CN" altLang="en-US" sz="1007" i="1">
                            <a:latin typeface="Cambria Math" panose="02040503050406030204" pitchFamily="18" charset="0"/>
                          </a:rPr>
                          <m:t>𝛾</m:t>
                        </m:r>
                        <m:r>
                          <a:rPr lang="en-US" altLang="zh-CN" sz="1007" b="0" i="1" smtClean="0">
                            <a:latin typeface="Cambria Math" panose="02040503050406030204" pitchFamily="18" charset="0"/>
                          </a:rPr>
                          <m:t> </m:t>
                        </m:r>
                      </m:den>
                    </m:f>
                  </m:oMath>
                </a14:m>
                <a:r>
                  <a:rPr lang="en-US" altLang="zh-CN" sz="1007" dirty="0">
                    <a:latin typeface="Garamond" panose="02020404030301010803" pitchFamily="18" charset="0"/>
                    <a:ea typeface="SimSun" panose="02010600030101010101" pitchFamily="2" charset="-122"/>
                  </a:rPr>
                  <a:t> (</a:t>
                </a:r>
                <a:r>
                  <a:rPr lang="zh-CN" altLang="en-US" sz="700" dirty="0">
                    <a:latin typeface="KaiTi" panose="02010609060101010101" pitchFamily="49" charset="-122"/>
                    <a:ea typeface="KaiTi" panose="02010609060101010101" pitchFamily="49" charset="-122"/>
                  </a:rPr>
                  <a:t>收入变动与引起这种变动的出口变化的比率</a:t>
                </a:r>
                <a:r>
                  <a:rPr lang="en-US" altLang="zh-CN" sz="1007" dirty="0">
                    <a:latin typeface="Garamond" panose="02020404030301010803" pitchFamily="18" charset="0"/>
                    <a:ea typeface="SimSun" panose="02010600030101010101" pitchFamily="2" charset="-122"/>
                  </a:rPr>
                  <a:t>)</a:t>
                </a:r>
                <a:endParaRPr lang="zh-CN" altLang="en-US" sz="1007" dirty="0">
                  <a:latin typeface="Garamond" panose="02020404030301010803" pitchFamily="18" charset="0"/>
                  <a:ea typeface="SimSun" panose="0201060003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t="-488"/>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89</a:t>
            </a:fld>
            <a:endParaRPr lang="zh-CN" altLang="en-US"/>
          </a:p>
        </p:txBody>
      </p:sp>
      <p:sp>
        <p:nvSpPr>
          <p:cNvPr id="8" name="标题 7">
            <a:extLst>
              <a:ext uri="{FF2B5EF4-FFF2-40B4-BE49-F238E27FC236}">
                <a16:creationId xmlns:a16="http://schemas.microsoft.com/office/drawing/2014/main" id="{1A696808-4BD9-F07F-308B-1743ADB9FF36}"/>
              </a:ext>
            </a:extLst>
          </p:cNvPr>
          <p:cNvSpPr>
            <a:spLocks noGrp="1"/>
          </p:cNvSpPr>
          <p:nvPr>
            <p:ph type="title"/>
          </p:nvPr>
        </p:nvSpPr>
        <p:spPr/>
        <p:txBody>
          <a:bodyPr/>
          <a:lstStyle/>
          <a:p>
            <a:r>
              <a:rPr kumimoji="1" lang="zh-CN" altLang="en-US" dirty="0"/>
              <a:t>四部门经济中的</a:t>
            </a:r>
            <a:r>
              <a:rPr kumimoji="1" lang="en-US" altLang="zh-CN" dirty="0"/>
              <a:t>AE- NI</a:t>
            </a:r>
            <a:r>
              <a:rPr kumimoji="1" lang="zh-CN" altLang="en-US" dirty="0"/>
              <a:t>模型</a:t>
            </a:r>
          </a:p>
        </p:txBody>
      </p:sp>
      <p:sp>
        <p:nvSpPr>
          <p:cNvPr id="9" name="灯片编号占位符 2">
            <a:extLst>
              <a:ext uri="{FF2B5EF4-FFF2-40B4-BE49-F238E27FC236}">
                <a16:creationId xmlns:a16="http://schemas.microsoft.com/office/drawing/2014/main" id="{0AD84198-0672-D1FD-A691-B1E4B290E642}"/>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89</a:t>
            </a:fld>
            <a:endParaRPr lang="zh-CN" altLang="zh-CN" sz="856" dirty="0">
              <a:solidFill>
                <a:srgbClr val="777777"/>
              </a:solidFill>
              <a:ea typeface="宋体" panose="02010600030101010101" pitchFamily="2" charset="-122"/>
            </a:endParaRPr>
          </a:p>
        </p:txBody>
      </p:sp>
      <p:sp>
        <p:nvSpPr>
          <p:cNvPr id="10" name="页脚占位符 1">
            <a:extLst>
              <a:ext uri="{FF2B5EF4-FFF2-40B4-BE49-F238E27FC236}">
                <a16:creationId xmlns:a16="http://schemas.microsoft.com/office/drawing/2014/main" id="{A1A6FD59-F3DE-4ED3-9A10-8CEE69C82CE6}"/>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144521347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sz="1209" dirty="0">
                    <a:latin typeface="Garamond" panose="02020404030301010803" pitchFamily="18" charset="0"/>
                    <a:ea typeface="SimSun" panose="02010600030101010101" pitchFamily="2" charset="-122"/>
                  </a:rPr>
                  <a:t>由</a:t>
                </a:r>
                <a14:m>
                  <m:oMath xmlns:m="http://schemas.openxmlformats.org/officeDocument/2006/math">
                    <m:sSub>
                      <m:sSubPr>
                        <m:ctrlPr>
                          <a:rPr lang="en-US" altLang="zh-CN" sz="1209" i="1" dirty="0">
                            <a:latin typeface="Cambria Math" panose="02040503050406030204" pitchFamily="18" charset="0"/>
                          </a:rPr>
                        </m:ctrlPr>
                      </m:sSubPr>
                      <m:e>
                        <m:r>
                          <a:rPr lang="en-US" altLang="zh-CN" sz="1209" i="1" dirty="0">
                            <a:latin typeface="Cambria Math" panose="02040503050406030204" pitchFamily="18" charset="0"/>
                          </a:rPr>
                          <m:t>𝑦</m:t>
                        </m:r>
                      </m:e>
                      <m:sub>
                        <m:r>
                          <a:rPr lang="en-US" altLang="zh-CN" sz="1209" i="1" dirty="0">
                            <a:latin typeface="Cambria Math" panose="02040503050406030204" pitchFamily="18" charset="0"/>
                          </a:rPr>
                          <m:t>0</m:t>
                        </m:r>
                      </m:sub>
                    </m:sSub>
                    <m:r>
                      <a:rPr lang="en-US" altLang="zh-CN" sz="1209" i="1" dirty="0">
                        <a:latin typeface="Cambria Math" panose="02040503050406030204" pitchFamily="18" charset="0"/>
                      </a:rPr>
                      <m:t>=</m:t>
                    </m:r>
                    <m:f>
                      <m:fPr>
                        <m:ctrlPr>
                          <a:rPr lang="en-US" altLang="zh-CN" sz="1209" i="1">
                            <a:latin typeface="Cambria Math" panose="02040503050406030204" pitchFamily="18" charset="0"/>
                          </a:rPr>
                        </m:ctrlPr>
                      </m:fPr>
                      <m:num>
                        <m:r>
                          <a:rPr lang="zh-CN" altLang="en-US" sz="1209" i="1">
                            <a:latin typeface="Cambria Math" panose="02040503050406030204" pitchFamily="18" charset="0"/>
                          </a:rPr>
                          <m:t>𝛼</m:t>
                        </m:r>
                        <m:r>
                          <a:rPr lang="en-US" altLang="zh-CN" sz="1209" i="1">
                            <a:latin typeface="Cambria Math" panose="02040503050406030204" pitchFamily="18" charset="0"/>
                          </a:rPr>
                          <m:t>+</m:t>
                        </m:r>
                        <m:r>
                          <a:rPr lang="en-US" altLang="zh-CN" sz="1209" i="1">
                            <a:latin typeface="Cambria Math" panose="02040503050406030204" pitchFamily="18" charset="0"/>
                          </a:rPr>
                          <m:t>𝑖</m:t>
                        </m:r>
                        <m:r>
                          <a:rPr lang="en-US" altLang="zh-CN" sz="1209" i="1">
                            <a:latin typeface="Cambria Math" panose="02040503050406030204" pitchFamily="18" charset="0"/>
                          </a:rPr>
                          <m:t>+</m:t>
                        </m:r>
                        <m:r>
                          <a:rPr lang="en-US" altLang="zh-CN" sz="1209" i="1">
                            <a:latin typeface="Cambria Math" panose="02040503050406030204" pitchFamily="18" charset="0"/>
                          </a:rPr>
                          <m:t>𝑔</m:t>
                        </m:r>
                        <m:r>
                          <a:rPr lang="en-US" altLang="zh-CN" sz="1209" i="1">
                            <a:latin typeface="Cambria Math" panose="02040503050406030204" pitchFamily="18" charset="0"/>
                          </a:rPr>
                          <m:t>+</m:t>
                        </m:r>
                        <m:r>
                          <a:rPr lang="zh-CN" altLang="en-US" sz="1209" i="1">
                            <a:latin typeface="Cambria Math" panose="02040503050406030204" pitchFamily="18" charset="0"/>
                          </a:rPr>
                          <m:t>𝛽</m:t>
                        </m:r>
                        <m:sSub>
                          <m:sSubPr>
                            <m:ctrlPr>
                              <a:rPr lang="en-US" altLang="zh-CN" sz="1209" i="1">
                                <a:latin typeface="Cambria Math" panose="02040503050406030204" pitchFamily="18" charset="0"/>
                              </a:rPr>
                            </m:ctrlPr>
                          </m:sSubPr>
                          <m:e>
                            <m:r>
                              <a:rPr lang="en-US" altLang="zh-CN" sz="1209" i="1">
                                <a:latin typeface="Cambria Math" panose="02040503050406030204" pitchFamily="18" charset="0"/>
                              </a:rPr>
                              <m:t>𝑡</m:t>
                            </m:r>
                          </m:e>
                          <m:sub>
                            <m:r>
                              <a:rPr lang="en-US" altLang="zh-CN" sz="1209" i="1">
                                <a:latin typeface="Cambria Math" panose="02040503050406030204" pitchFamily="18" charset="0"/>
                              </a:rPr>
                              <m:t>𝑟</m:t>
                            </m:r>
                          </m:sub>
                        </m:sSub>
                        <m:r>
                          <a:rPr lang="en-US" altLang="zh-CN" sz="1209" i="1">
                            <a:latin typeface="Cambria Math" panose="02040503050406030204" pitchFamily="18" charset="0"/>
                          </a:rPr>
                          <m:t>−</m:t>
                        </m:r>
                        <m:r>
                          <a:rPr lang="zh-CN" altLang="en-US" sz="1209" i="1">
                            <a:latin typeface="Cambria Math" panose="02040503050406030204" pitchFamily="18" charset="0"/>
                          </a:rPr>
                          <m:t>𝛽</m:t>
                        </m:r>
                        <m:r>
                          <a:rPr lang="en-US" altLang="zh-CN" sz="1209" i="1">
                            <a:latin typeface="Cambria Math" panose="02040503050406030204" pitchFamily="18" charset="0"/>
                          </a:rPr>
                          <m:t>𝑡</m:t>
                        </m:r>
                        <m:r>
                          <a:rPr lang="en-US" altLang="zh-CN" sz="1209" i="1">
                            <a:latin typeface="Cambria Math" panose="02040503050406030204" pitchFamily="18" charset="0"/>
                          </a:rPr>
                          <m:t>+</m:t>
                        </m:r>
                        <m:r>
                          <a:rPr lang="en-US" altLang="zh-CN" sz="1209" i="1">
                            <a:latin typeface="Cambria Math" panose="02040503050406030204" pitchFamily="18" charset="0"/>
                          </a:rPr>
                          <m:t>𝑥</m:t>
                        </m:r>
                        <m:r>
                          <a:rPr lang="en-US" altLang="zh-CN" sz="1209" i="1">
                            <a:latin typeface="Cambria Math" panose="02040503050406030204" pitchFamily="18" charset="0"/>
                          </a:rPr>
                          <m:t>−</m:t>
                        </m:r>
                        <m:sSub>
                          <m:sSubPr>
                            <m:ctrlPr>
                              <a:rPr lang="en-US" altLang="zh-CN" sz="1209" i="1">
                                <a:latin typeface="Cambria Math" panose="02040503050406030204" pitchFamily="18" charset="0"/>
                              </a:rPr>
                            </m:ctrlPr>
                          </m:sSubPr>
                          <m:e>
                            <m:r>
                              <a:rPr lang="en-US" altLang="zh-CN" sz="1209" i="1">
                                <a:latin typeface="Cambria Math" panose="02040503050406030204" pitchFamily="18" charset="0"/>
                              </a:rPr>
                              <m:t>𝑚</m:t>
                            </m:r>
                          </m:e>
                          <m:sub>
                            <m:r>
                              <a:rPr lang="en-US" altLang="zh-CN" sz="1209" i="1">
                                <a:latin typeface="Cambria Math" panose="02040503050406030204" pitchFamily="18" charset="0"/>
                              </a:rPr>
                              <m:t>0</m:t>
                            </m:r>
                          </m:sub>
                        </m:sSub>
                      </m:num>
                      <m:den>
                        <m:r>
                          <a:rPr lang="en-US" altLang="zh-CN" sz="1209" i="1">
                            <a:latin typeface="Cambria Math" panose="02040503050406030204" pitchFamily="18" charset="0"/>
                          </a:rPr>
                          <m:t>1−</m:t>
                        </m:r>
                        <m:r>
                          <a:rPr lang="zh-CN" altLang="en-US" sz="1209" i="1">
                            <a:latin typeface="Cambria Math" panose="02040503050406030204" pitchFamily="18" charset="0"/>
                          </a:rPr>
                          <m:t>𝛽</m:t>
                        </m:r>
                        <m:r>
                          <a:rPr lang="en-US" altLang="zh-CN" sz="1209" i="1">
                            <a:latin typeface="Cambria Math" panose="02040503050406030204" pitchFamily="18" charset="0"/>
                          </a:rPr>
                          <m:t>+</m:t>
                        </m:r>
                        <m:r>
                          <a:rPr lang="zh-CN" altLang="en-US" sz="1209" i="1">
                            <a:latin typeface="Cambria Math" panose="02040503050406030204" pitchFamily="18" charset="0"/>
                          </a:rPr>
                          <m:t>𝛾</m:t>
                        </m:r>
                      </m:den>
                    </m:f>
                    <m:r>
                      <a:rPr lang="zh-CN" altLang="en-US" sz="1209" i="1">
                        <a:latin typeface="Cambria Math" panose="02040503050406030204" pitchFamily="18" charset="0"/>
                      </a:rPr>
                      <m:t>可知，在</m:t>
                    </m:r>
                  </m:oMath>
                </a14:m>
                <a:r>
                  <a:rPr lang="zh-CN" altLang="en-US" sz="1209" dirty="0">
                    <a:latin typeface="Garamond" panose="02020404030301010803" pitchFamily="18" charset="0"/>
                    <a:ea typeface="SimSun" panose="02010600030101010101" pitchFamily="2" charset="-122"/>
                  </a:rPr>
                  <a:t>四部门经济中，政府购买支出乘数、税收乘数和政府转移支付乘数会比三部门时的乘数要小。</a:t>
                </a:r>
                <a:endParaRPr lang="en-US" altLang="zh-CN" sz="1209" dirty="0">
                  <a:latin typeface="Garamond" panose="02020404030301010803" pitchFamily="18" charset="0"/>
                  <a:ea typeface="SimSun" panose="02010600030101010101" pitchFamily="2" charset="-122"/>
                </a:endParaRPr>
              </a:p>
              <a:p>
                <a:r>
                  <a:rPr lang="zh-CN" altLang="en-US" sz="1209" dirty="0">
                    <a:latin typeface="Garamond" panose="02020404030301010803" pitchFamily="18" charset="0"/>
                    <a:ea typeface="SimSun" panose="02010600030101010101" pitchFamily="2" charset="-122"/>
                  </a:rPr>
                  <a:t>在封闭经济中，投资、政府支出增加，国民收入增加的倍数是</a:t>
                </a:r>
                <a14:m>
                  <m:oMath xmlns:m="http://schemas.openxmlformats.org/officeDocument/2006/math">
                    <m:f>
                      <m:fPr>
                        <m:ctrlPr>
                          <a:rPr lang="en-US" altLang="zh-CN" sz="1209" b="1" i="1">
                            <a:latin typeface="Cambria Math" panose="02040503050406030204" pitchFamily="18" charset="0"/>
                            <a:ea typeface="Cambria Math" panose="02040503050406030204" pitchFamily="18" charset="0"/>
                          </a:rPr>
                        </m:ctrlPr>
                      </m:fPr>
                      <m:num>
                        <m:r>
                          <a:rPr lang="en-US" altLang="zh-CN" sz="1209" b="1" i="1">
                            <a:latin typeface="Cambria Math" panose="02040503050406030204" pitchFamily="18" charset="0"/>
                            <a:ea typeface="Cambria Math" panose="02040503050406030204" pitchFamily="18" charset="0"/>
                          </a:rPr>
                          <m:t>𝟏</m:t>
                        </m:r>
                      </m:num>
                      <m:den>
                        <m:r>
                          <a:rPr lang="en-US" altLang="zh-CN" sz="1209" b="1" i="1">
                            <a:latin typeface="Cambria Math" panose="02040503050406030204" pitchFamily="18" charset="0"/>
                            <a:ea typeface="Cambria Math" panose="02040503050406030204" pitchFamily="18" charset="0"/>
                          </a:rPr>
                          <m:t>𝟏</m:t>
                        </m:r>
                        <m:r>
                          <a:rPr lang="en-US" altLang="zh-CN" sz="1209" b="1" i="1">
                            <a:latin typeface="Cambria Math" panose="02040503050406030204" pitchFamily="18" charset="0"/>
                            <a:ea typeface="Cambria Math" panose="02040503050406030204" pitchFamily="18" charset="0"/>
                          </a:rPr>
                          <m:t>−</m:t>
                        </m:r>
                        <m:r>
                          <a:rPr lang="zh-CN" altLang="en-US" sz="1209" i="1">
                            <a:latin typeface="Cambria Math" panose="02040503050406030204" pitchFamily="18" charset="0"/>
                          </a:rPr>
                          <m:t>𝛽</m:t>
                        </m:r>
                      </m:den>
                    </m:f>
                  </m:oMath>
                </a14:m>
                <a:r>
                  <a:rPr lang="zh-CN" altLang="en-US" sz="1209" dirty="0">
                    <a:latin typeface="Garamond" panose="02020404030301010803" pitchFamily="18" charset="0"/>
                    <a:ea typeface="SimSun" panose="02010600030101010101" pitchFamily="2" charset="-122"/>
                  </a:rPr>
                  <a:t>，现在成了</a:t>
                </a:r>
                <a14:m>
                  <m:oMath xmlns:m="http://schemas.openxmlformats.org/officeDocument/2006/math">
                    <m:f>
                      <m:fPr>
                        <m:ctrlPr>
                          <a:rPr lang="en-US" altLang="zh-CN" sz="1209" b="1" i="1">
                            <a:latin typeface="Cambria Math" panose="02040503050406030204" pitchFamily="18" charset="0"/>
                            <a:ea typeface="Cambria Math" panose="02040503050406030204" pitchFamily="18" charset="0"/>
                          </a:rPr>
                        </m:ctrlPr>
                      </m:fPr>
                      <m:num>
                        <m:r>
                          <a:rPr lang="en-US" altLang="zh-CN" sz="1209" b="1" i="1">
                            <a:latin typeface="Cambria Math" panose="02040503050406030204" pitchFamily="18" charset="0"/>
                            <a:ea typeface="Cambria Math" panose="02040503050406030204" pitchFamily="18" charset="0"/>
                          </a:rPr>
                          <m:t>𝟏</m:t>
                        </m:r>
                      </m:num>
                      <m:den>
                        <m:r>
                          <a:rPr lang="en-US" altLang="zh-CN" sz="1209" b="1" i="1">
                            <a:latin typeface="Cambria Math" panose="02040503050406030204" pitchFamily="18" charset="0"/>
                            <a:ea typeface="Cambria Math" panose="02040503050406030204" pitchFamily="18" charset="0"/>
                          </a:rPr>
                          <m:t>𝟏</m:t>
                        </m:r>
                        <m:r>
                          <a:rPr lang="en-US" altLang="zh-CN" sz="1209" b="1" i="1">
                            <a:latin typeface="Cambria Math" panose="02040503050406030204" pitchFamily="18" charset="0"/>
                            <a:ea typeface="Cambria Math" panose="02040503050406030204" pitchFamily="18" charset="0"/>
                          </a:rPr>
                          <m:t>−</m:t>
                        </m:r>
                        <m:r>
                          <a:rPr lang="zh-CN" altLang="en-US" sz="1209" i="1">
                            <a:latin typeface="Cambria Math" panose="02040503050406030204" pitchFamily="18" charset="0"/>
                          </a:rPr>
                          <m:t>𝛽</m:t>
                        </m:r>
                        <m:r>
                          <a:rPr lang="en-US" altLang="zh-CN" sz="1209" i="1">
                            <a:latin typeface="Cambria Math" panose="02040503050406030204" pitchFamily="18" charset="0"/>
                          </a:rPr>
                          <m:t>+</m:t>
                        </m:r>
                        <m:r>
                          <a:rPr lang="zh-CN" altLang="en-US" sz="1209" i="1">
                            <a:latin typeface="Cambria Math" panose="02040503050406030204" pitchFamily="18" charset="0"/>
                          </a:rPr>
                          <m:t>𝛾</m:t>
                        </m:r>
                      </m:den>
                    </m:f>
                  </m:oMath>
                </a14:m>
                <a:r>
                  <a:rPr lang="zh-CN" altLang="en-US" sz="1209" dirty="0">
                    <a:latin typeface="Garamond" panose="02020404030301010803" pitchFamily="18" charset="0"/>
                    <a:ea typeface="SimSun" panose="02010600030101010101" pitchFamily="2" charset="-122"/>
                  </a:rPr>
                  <a:t>，这是因为由于增加的收入的一部分现在要用到进口商品上去了。</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302"/>
                </a:stretch>
              </a:blipFill>
            </p:spPr>
            <p:txBody>
              <a:bodyPr/>
              <a:lstStyle/>
              <a:p>
                <a:r>
                  <a:rPr lang="zh-CN" altLang="en-US">
                    <a:noFill/>
                  </a:rPr>
                  <a:t> </a:t>
                </a:r>
              </a:p>
            </p:txBody>
          </p:sp>
        </mc:Fallback>
      </mc:AlternateContent>
      <p:sp>
        <p:nvSpPr>
          <p:cNvPr id="6" name="灯片编号占位符 5"/>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a:pPr>
            <a:fld id="{888A877C-88A0-5F4C-8066-61C30560B187}" type="slidenum">
              <a:rPr kumimoji="1" lang="zh-CN" altLang="en-US" smtClean="0"/>
              <a:pPr>
                <a:defRPr/>
              </a:pPr>
              <a:t>90</a:t>
            </a:fld>
            <a:endParaRPr lang="zh-CN" altLang="en-US"/>
          </a:p>
        </p:txBody>
      </p:sp>
      <p:sp>
        <p:nvSpPr>
          <p:cNvPr id="7" name="标题 6">
            <a:extLst>
              <a:ext uri="{FF2B5EF4-FFF2-40B4-BE49-F238E27FC236}">
                <a16:creationId xmlns:a16="http://schemas.microsoft.com/office/drawing/2014/main" id="{0008B9BB-F301-9A04-A3D9-6366832C6D99}"/>
              </a:ext>
            </a:extLst>
          </p:cNvPr>
          <p:cNvSpPr>
            <a:spLocks noGrp="1"/>
          </p:cNvSpPr>
          <p:nvPr>
            <p:ph type="title"/>
          </p:nvPr>
        </p:nvSpPr>
        <p:spPr/>
        <p:txBody>
          <a:bodyPr/>
          <a:lstStyle/>
          <a:p>
            <a:r>
              <a:rPr kumimoji="1" lang="zh-CN" altLang="en-US" dirty="0"/>
              <a:t>四部门经济中的各种乘数</a:t>
            </a:r>
          </a:p>
        </p:txBody>
      </p:sp>
      <p:sp>
        <p:nvSpPr>
          <p:cNvPr id="8" name="灯片编号占位符 2">
            <a:extLst>
              <a:ext uri="{FF2B5EF4-FFF2-40B4-BE49-F238E27FC236}">
                <a16:creationId xmlns:a16="http://schemas.microsoft.com/office/drawing/2014/main" id="{BC5C84F1-5E98-CD4A-410E-2E8FEF784C5F}"/>
              </a:ext>
            </a:extLst>
          </p:cNvPr>
          <p:cNvSpPr txBox="1">
            <a:spLocks noGrp="1" noChangeArrowheads="1"/>
          </p:cNvSpPr>
          <p:nvPr/>
        </p:nvSpPr>
        <p:spPr bwMode="auto">
          <a:xfrm>
            <a:off x="3889226" y="3214489"/>
            <a:ext cx="639597" cy="185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0659" eaLnBrk="1" fontAlgn="base" hangingPunct="1">
              <a:spcBef>
                <a:spcPct val="0"/>
              </a:spcBef>
              <a:spcAft>
                <a:spcPct val="0"/>
              </a:spcAft>
              <a:defRPr/>
            </a:pPr>
            <a:fld id="{40B57475-AFD4-3C48-860A-4FC9F25FD75E}" type="slidenum">
              <a:rPr lang="zh-CN" altLang="zh-CN" sz="856">
                <a:solidFill>
                  <a:srgbClr val="777777"/>
                </a:solidFill>
                <a:ea typeface="宋体" panose="02010600030101010101" pitchFamily="2" charset="-122"/>
              </a:rPr>
              <a:pPr algn="r" defTabSz="460659" eaLnBrk="1" fontAlgn="base" hangingPunct="1">
                <a:spcBef>
                  <a:spcPct val="0"/>
                </a:spcBef>
                <a:spcAft>
                  <a:spcPct val="0"/>
                </a:spcAft>
                <a:defRPr/>
              </a:pPr>
              <a:t>90</a:t>
            </a:fld>
            <a:endParaRPr lang="zh-CN" altLang="zh-CN" sz="856" dirty="0">
              <a:solidFill>
                <a:srgbClr val="777777"/>
              </a:solidFill>
              <a:ea typeface="宋体" panose="02010600030101010101" pitchFamily="2" charset="-122"/>
            </a:endParaRPr>
          </a:p>
        </p:txBody>
      </p:sp>
      <p:sp>
        <p:nvSpPr>
          <p:cNvPr id="9" name="页脚占位符 1">
            <a:extLst>
              <a:ext uri="{FF2B5EF4-FFF2-40B4-BE49-F238E27FC236}">
                <a16:creationId xmlns:a16="http://schemas.microsoft.com/office/drawing/2014/main" id="{CBCC0B0C-0EFD-9528-2227-982C0EC8F1EF}"/>
              </a:ext>
            </a:extLst>
          </p:cNvPr>
          <p:cNvSpPr txBox="1">
            <a:spLocks noGrp="1" noChangeArrowheads="1"/>
          </p:cNvSpPr>
          <p:nvPr/>
        </p:nvSpPr>
        <p:spPr bwMode="auto">
          <a:xfrm>
            <a:off x="146049" y="3223285"/>
            <a:ext cx="3695092" cy="184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0659" eaLnBrk="1" fontAlgn="base" hangingPunct="1">
              <a:spcBef>
                <a:spcPct val="0"/>
              </a:spcBef>
              <a:spcAft>
                <a:spcPct val="0"/>
              </a:spcAft>
              <a:defRPr/>
            </a:pPr>
            <a:r>
              <a:rPr lang="zh-CN" altLang="en-US" sz="907" i="1" dirty="0">
                <a:solidFill>
                  <a:srgbClr val="777777"/>
                </a:solidFill>
                <a:ea typeface="宋体" panose="02010600030101010101" pitchFamily="2" charset="-122"/>
              </a:rPr>
              <a:t>第</a:t>
            </a:r>
            <a:r>
              <a:rPr lang="en-US" altLang="zh-CN" sz="907" i="1" dirty="0">
                <a:solidFill>
                  <a:srgbClr val="777777"/>
                </a:solidFill>
                <a:ea typeface="宋体" panose="02010600030101010101" pitchFamily="2" charset="-122"/>
              </a:rPr>
              <a:t>4</a:t>
            </a:r>
            <a:r>
              <a:rPr lang="zh-CN" altLang="en-US" sz="907" i="1" dirty="0">
                <a:solidFill>
                  <a:srgbClr val="777777"/>
                </a:solidFill>
                <a:ea typeface="宋体" panose="02010600030101010101" pitchFamily="2" charset="-122"/>
              </a:rPr>
              <a:t>节 乘数论</a:t>
            </a:r>
            <a:endParaRPr lang="en-US" altLang="zh-CN" sz="907" i="1" dirty="0">
              <a:solidFill>
                <a:srgbClr val="777777"/>
              </a:solidFill>
              <a:ea typeface="宋体" panose="02010600030101010101" pitchFamily="2" charset="-122"/>
            </a:endParaRPr>
          </a:p>
        </p:txBody>
      </p:sp>
    </p:spTree>
    <p:extLst>
      <p:ext uri="{BB962C8B-B14F-4D97-AF65-F5344CB8AC3E}">
        <p14:creationId xmlns:p14="http://schemas.microsoft.com/office/powerpoint/2010/main" val="62563422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grpSp>
        <p:nvGrpSpPr>
          <p:cNvPr id="35843" name="Group 3">
            <a:extLst>
              <a:ext uri="{FF2B5EF4-FFF2-40B4-BE49-F238E27FC236}">
                <a16:creationId xmlns:a16="http://schemas.microsoft.com/office/drawing/2014/main" id="{7CB0B5EE-4FDA-D2EE-8825-A62419184E11}"/>
              </a:ext>
            </a:extLst>
          </p:cNvPr>
          <p:cNvGrpSpPr>
            <a:grpSpLocks/>
          </p:cNvGrpSpPr>
          <p:nvPr/>
        </p:nvGrpSpPr>
        <p:grpSpPr bwMode="auto">
          <a:xfrm>
            <a:off x="299336" y="148055"/>
            <a:ext cx="4139486" cy="529041"/>
            <a:chOff x="0" y="0"/>
            <a:chExt cx="5000" cy="661"/>
          </a:xfrm>
        </p:grpSpPr>
        <p:sp>
          <p:nvSpPr>
            <p:cNvPr id="35844" name="Line 9">
              <a:extLst>
                <a:ext uri="{FF2B5EF4-FFF2-40B4-BE49-F238E27FC236}">
                  <a16:creationId xmlns:a16="http://schemas.microsoft.com/office/drawing/2014/main" id="{70D27D1A-DBB6-4C71-9F93-5C6E30B855C0}"/>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35845" name="Line 10">
              <a:extLst>
                <a:ext uri="{FF2B5EF4-FFF2-40B4-BE49-F238E27FC236}">
                  <a16:creationId xmlns:a16="http://schemas.microsoft.com/office/drawing/2014/main" id="{8FA4DE9F-8719-82BC-206A-15BAC5E2E20D}"/>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35855" name="Rectangle 4">
            <a:extLst>
              <a:ext uri="{FF2B5EF4-FFF2-40B4-BE49-F238E27FC236}">
                <a16:creationId xmlns:a16="http://schemas.microsoft.com/office/drawing/2014/main" id="{BC28AB6C-45CB-5411-A3C0-CBC9CAB19FFE}"/>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课堂练习  </a:t>
            </a:r>
            <a: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乘数论</a:t>
            </a:r>
            <a:endParaRPr lang="zh-CN" altLang="en-US" sz="1613" dirty="0">
              <a:solidFill>
                <a:srgbClr val="339966"/>
              </a:solidFill>
              <a:effectLst>
                <a:outerShdw blurRad="38100" dist="38100" dir="2700000" algn="tl">
                  <a:srgbClr val="C0C0C0"/>
                </a:outerShdw>
              </a:effectLst>
              <a:ea typeface="宋体" panose="02010600030101010101" pitchFamily="2" charset="-122"/>
            </a:endParaRPr>
          </a:p>
        </p:txBody>
      </p:sp>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10356" cy="2534139"/>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200" dirty="0">
                <a:latin typeface="Garamond" panose="02020404030301010803" pitchFamily="18" charset="0"/>
                <a:ea typeface="SimSun" panose="02010600030101010101" pitchFamily="2" charset="-122"/>
                <a:cs typeface="Times New Roman" panose="02020603050405020304" pitchFamily="18" charset="0"/>
              </a:rPr>
              <a:t>假设假设在某国的经济萧条时期，消费函数</a:t>
            </a:r>
            <a:r>
              <a:rPr lang="en" altLang="zh-CN" sz="1200" dirty="0">
                <a:latin typeface="Garamond" panose="02020404030301010803" pitchFamily="18" charset="0"/>
                <a:ea typeface="SimSun" panose="02010600030101010101" pitchFamily="2" charset="-122"/>
                <a:cs typeface="Times New Roman" panose="02020603050405020304" pitchFamily="18" charset="0"/>
              </a:rPr>
              <a:t>C=15+0.75Y</a:t>
            </a:r>
            <a:r>
              <a:rPr lang="en-US" altLang="zh-CN" sz="1200" baseline="-25000" dirty="0">
                <a:latin typeface="Garamond" panose="02020404030301010803" pitchFamily="18" charset="0"/>
                <a:ea typeface="SimSun" panose="02010600030101010101" pitchFamily="2" charset="-122"/>
                <a:cs typeface="Times New Roman" panose="02020603050405020304" pitchFamily="18" charset="0"/>
              </a:rPr>
              <a:t>d</a:t>
            </a:r>
            <a:endParaRPr lang="en-US" altLang="zh-CN" sz="120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zh-CN" altLang="en-US" sz="1200" dirty="0">
                <a:latin typeface="Garamond" panose="02020404030301010803" pitchFamily="18" charset="0"/>
                <a:ea typeface="SimSun" panose="02010600030101010101" pitchFamily="2" charset="-122"/>
                <a:cs typeface="Times New Roman" panose="02020603050405020304" pitchFamily="18" charset="0"/>
              </a:rPr>
              <a:t>税收函数</a:t>
            </a:r>
            <a:r>
              <a:rPr lang="en-US" altLang="zh-CN" sz="1200" dirty="0">
                <a:latin typeface="Garamond" panose="02020404030301010803" pitchFamily="18" charset="0"/>
                <a:ea typeface="SimSun" panose="02010600030101010101" pitchFamily="2" charset="-122"/>
                <a:cs typeface="Times New Roman" panose="02020603050405020304" pitchFamily="18" charset="0"/>
              </a:rPr>
              <a:t>=6+0.2Y</a:t>
            </a:r>
            <a:r>
              <a:rPr lang="zh-CN" altLang="en-US" sz="1200" dirty="0">
                <a:latin typeface="Garamond" panose="02020404030301010803" pitchFamily="18" charset="0"/>
                <a:ea typeface="SimSun" panose="02010600030101010101" pitchFamily="2" charset="-122"/>
                <a:cs typeface="Times New Roman" panose="02020603050405020304" pitchFamily="18" charset="0"/>
              </a:rPr>
              <a:t>，转移支付</a:t>
            </a:r>
            <a:r>
              <a:rPr lang="en-US" altLang="zh-CN" sz="1200" dirty="0">
                <a:latin typeface="Garamond" panose="02020404030301010803" pitchFamily="18" charset="0"/>
                <a:ea typeface="SimSun" panose="02010600030101010101" pitchFamily="2" charset="-122"/>
                <a:cs typeface="Times New Roman" panose="02020603050405020304" pitchFamily="18" charset="0"/>
              </a:rPr>
              <a:t>TR=2</a:t>
            </a:r>
            <a:r>
              <a:rPr lang="zh-CN" altLang="en-US" sz="1200" dirty="0">
                <a:latin typeface="Garamond" panose="02020404030301010803" pitchFamily="18" charset="0"/>
                <a:ea typeface="SimSun" panose="02010600030101010101" pitchFamily="2" charset="-122"/>
                <a:cs typeface="Times New Roman" panose="02020603050405020304" pitchFamily="18" charset="0"/>
              </a:rPr>
              <a:t>，投资</a:t>
            </a:r>
            <a:r>
              <a:rPr lang="en-US" altLang="zh-CN" sz="1200" dirty="0">
                <a:latin typeface="Garamond" panose="02020404030301010803" pitchFamily="18" charset="0"/>
                <a:ea typeface="SimSun" panose="02010600030101010101" pitchFamily="2" charset="-122"/>
                <a:cs typeface="Times New Roman" panose="02020603050405020304" pitchFamily="18" charset="0"/>
              </a:rPr>
              <a:t>I=20</a:t>
            </a:r>
            <a:r>
              <a:rPr lang="zh-CN" altLang="en-US" sz="1200" dirty="0">
                <a:latin typeface="Garamond" panose="02020404030301010803" pitchFamily="18" charset="0"/>
                <a:ea typeface="SimSun" panose="02010600030101010101" pitchFamily="2" charset="-122"/>
                <a:cs typeface="Times New Roman" panose="02020603050405020304" pitchFamily="18" charset="0"/>
              </a:rPr>
              <a:t>，政府购买</a:t>
            </a:r>
            <a:r>
              <a:rPr lang="en-US" altLang="zh-CN" sz="1200" dirty="0">
                <a:latin typeface="Garamond" panose="02020404030301010803" pitchFamily="18" charset="0"/>
                <a:ea typeface="SimSun" panose="02010600030101010101" pitchFamily="2" charset="-122"/>
                <a:cs typeface="Times New Roman" panose="02020603050405020304" pitchFamily="18" charset="0"/>
              </a:rPr>
              <a:t>G=10</a:t>
            </a:r>
            <a:r>
              <a:rPr lang="zh-CN" altLang="en-US" sz="1200" dirty="0">
                <a:latin typeface="Garamond" panose="02020404030301010803" pitchFamily="18" charset="0"/>
                <a:ea typeface="SimSun" panose="02010600030101010101" pitchFamily="2" charset="-122"/>
                <a:cs typeface="Times New Roman" panose="02020603050405020304" pitchFamily="18" charset="0"/>
              </a:rPr>
              <a:t>。计算：</a:t>
            </a:r>
            <a:endParaRPr lang="en-US" altLang="zh-CN" sz="1200" dirty="0">
              <a:latin typeface="Garamond" panose="02020404030301010803" pitchFamily="18" charset="0"/>
              <a:ea typeface="SimSun" panose="02010600030101010101" pitchFamily="2" charset="-122"/>
              <a:cs typeface="Times New Roman" panose="02020603050405020304" pitchFamily="18" charset="0"/>
            </a:endParaRPr>
          </a:p>
          <a:p>
            <a:r>
              <a:rPr lang="zh-CN" altLang="zh-CN" sz="1200" dirty="0">
                <a:latin typeface="Garamond" panose="02020404030301010803" pitchFamily="18" charset="0"/>
                <a:ea typeface="SimSun" panose="02010600030101010101" pitchFamily="2" charset="-122"/>
              </a:rPr>
              <a:t>（</a:t>
            </a:r>
            <a:r>
              <a:rPr lang="en-US" altLang="zh-CN" sz="1200" dirty="0">
                <a:latin typeface="Garamond" panose="02020404030301010803" pitchFamily="18" charset="0"/>
                <a:ea typeface="SimSun" panose="02010600030101010101" pitchFamily="2" charset="-122"/>
              </a:rPr>
              <a:t>1</a:t>
            </a:r>
            <a:r>
              <a:rPr lang="zh-CN" altLang="zh-CN" sz="1200" dirty="0">
                <a:latin typeface="Garamond" panose="02020404030301010803" pitchFamily="18" charset="0"/>
                <a:ea typeface="SimSun" panose="02010600030101010101" pitchFamily="2" charset="-122"/>
              </a:rPr>
              <a:t>）均衡产出；</a:t>
            </a:r>
          </a:p>
          <a:p>
            <a:r>
              <a:rPr lang="zh-CN" altLang="zh-CN" sz="1200" dirty="0">
                <a:latin typeface="Garamond" panose="02020404030301010803" pitchFamily="18" charset="0"/>
                <a:ea typeface="SimSun" panose="02010600030101010101" pitchFamily="2" charset="-122"/>
              </a:rPr>
              <a:t>（</a:t>
            </a:r>
            <a:r>
              <a:rPr lang="en-US" altLang="zh-CN" sz="1200" dirty="0">
                <a:latin typeface="Garamond" panose="02020404030301010803" pitchFamily="18" charset="0"/>
                <a:ea typeface="SimSun" panose="02010600030101010101" pitchFamily="2" charset="-122"/>
              </a:rPr>
              <a:t>2</a:t>
            </a:r>
            <a:r>
              <a:rPr lang="zh-CN" altLang="zh-CN" sz="1200" dirty="0">
                <a:latin typeface="Garamond" panose="02020404030301010803" pitchFamily="18" charset="0"/>
                <a:ea typeface="SimSun" panose="02010600030101010101" pitchFamily="2" charset="-122"/>
              </a:rPr>
              <a:t>）若充分就业产出为</a:t>
            </a:r>
            <a:r>
              <a:rPr lang="en-US" altLang="zh-CN" sz="1200" dirty="0">
                <a:latin typeface="Garamond" panose="02020404030301010803" pitchFamily="18" charset="0"/>
                <a:ea typeface="SimSun" panose="02010600030101010101" pitchFamily="2" charset="-122"/>
              </a:rPr>
              <a:t>120</a:t>
            </a:r>
            <a:r>
              <a:rPr lang="zh-CN" altLang="zh-CN" sz="1200" dirty="0">
                <a:latin typeface="Garamond" panose="02020404030301010803" pitchFamily="18" charset="0"/>
                <a:ea typeface="SimSun" panose="02010600030101010101" pitchFamily="2" charset="-122"/>
              </a:rPr>
              <a:t>，需要增加多少政府购买可以实现充分就业？</a:t>
            </a:r>
            <a:endParaRPr lang="en-US" altLang="zh-CN" sz="1200" dirty="0">
              <a:latin typeface="Garamond" panose="02020404030301010803" pitchFamily="18" charset="0"/>
              <a:ea typeface="SimSun" panose="02010600030101010101" pitchFamily="2" charset="-122"/>
            </a:endParaRPr>
          </a:p>
          <a:p>
            <a:r>
              <a:rPr lang="zh-CN" altLang="en-US" sz="1200" dirty="0">
                <a:latin typeface="Garamond" panose="02020404030301010803" pitchFamily="18" charset="0"/>
                <a:ea typeface="SimSun" panose="02010600030101010101" pitchFamily="2" charset="-122"/>
              </a:rPr>
              <a:t>（</a:t>
            </a:r>
            <a:r>
              <a:rPr lang="en-US" altLang="zh-CN" sz="1200" dirty="0">
                <a:latin typeface="Garamond" panose="02020404030301010803" pitchFamily="18" charset="0"/>
                <a:ea typeface="SimSun" panose="02010600030101010101" pitchFamily="2" charset="-122"/>
              </a:rPr>
              <a:t>3</a:t>
            </a:r>
            <a:r>
              <a:rPr lang="zh-CN" altLang="en-US" sz="1200" dirty="0">
                <a:latin typeface="Garamond" panose="02020404030301010803" pitchFamily="18" charset="0"/>
                <a:ea typeface="SimSun" panose="02010600030101010101" pitchFamily="2" charset="-122"/>
              </a:rPr>
              <a:t>）</a:t>
            </a:r>
            <a:r>
              <a:rPr lang="zh-CN" altLang="zh-CN" sz="1200" dirty="0">
                <a:latin typeface="Garamond" panose="02020404030301010803" pitchFamily="18" charset="0"/>
                <a:ea typeface="SimSun" panose="02010600030101010101" pitchFamily="2" charset="-122"/>
              </a:rPr>
              <a:t>政府购买增加对消费需求有何影响？</a:t>
            </a:r>
            <a:endParaRPr lang="en-US" altLang="zh-CN" sz="1200" dirty="0">
              <a:latin typeface="Garamond" panose="02020404030301010803" pitchFamily="18" charset="0"/>
              <a:ea typeface="SimSun" panose="02010600030101010101" pitchFamily="2" charset="-122"/>
            </a:endParaRPr>
          </a:p>
        </p:txBody>
      </p:sp>
    </p:spTree>
    <p:extLst>
      <p:ext uri="{BB962C8B-B14F-4D97-AF65-F5344CB8AC3E}">
        <p14:creationId xmlns:p14="http://schemas.microsoft.com/office/powerpoint/2010/main" val="107945835"/>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8">
            <a:extLst>
              <a:ext uri="{FF2B5EF4-FFF2-40B4-BE49-F238E27FC236}">
                <a16:creationId xmlns:a16="http://schemas.microsoft.com/office/drawing/2014/main" id="{C8C592DC-BC69-5662-EC48-7FF234C3E198}"/>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defTabSz="461040" fontAlgn="base">
              <a:spcBef>
                <a:spcPct val="0"/>
              </a:spcBef>
              <a:spcAft>
                <a:spcPct val="0"/>
              </a:spcAft>
            </a:pPr>
            <a:endParaRPr lang="zh-CN" altLang="zh-CN" sz="908">
              <a:solidFill>
                <a:srgbClr val="000000"/>
              </a:solidFill>
              <a:ea typeface="宋体" panose="02010600030101010101" pitchFamily="2" charset="-122"/>
            </a:endParaRPr>
          </a:p>
        </p:txBody>
      </p:sp>
      <p:sp>
        <p:nvSpPr>
          <p:cNvPr id="35846" name="Rectangle 6">
            <a:extLst>
              <a:ext uri="{FF2B5EF4-FFF2-40B4-BE49-F238E27FC236}">
                <a16:creationId xmlns:a16="http://schemas.microsoft.com/office/drawing/2014/main" id="{01FA3661-BFDA-47FB-DAC2-E22E880BB549}"/>
              </a:ext>
            </a:extLst>
          </p:cNvPr>
          <p:cNvSpPr>
            <a:spLocks noChangeArrowheads="1"/>
          </p:cNvSpPr>
          <p:nvPr/>
        </p:nvSpPr>
        <p:spPr bwMode="auto">
          <a:xfrm>
            <a:off x="4185907" y="3215851"/>
            <a:ext cx="344957" cy="18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defTabSz="461040" fontAlgn="base">
              <a:spcBef>
                <a:spcPct val="0"/>
              </a:spcBef>
              <a:spcAft>
                <a:spcPct val="0"/>
              </a:spcAft>
            </a:pPr>
            <a:fld id="{1697A566-477E-ED4E-B73B-FE096A52ED8C}" type="slidenum">
              <a:rPr lang="zh-CN" altLang="zh-CN" sz="857">
                <a:solidFill>
                  <a:srgbClr val="777777"/>
                </a:solidFill>
                <a:latin typeface="Tahoma" panose="020B0604030504040204" pitchFamily="34" charset="0"/>
                <a:ea typeface="宋体" panose="02010600030101010101" pitchFamily="2" charset="-122"/>
              </a:rPr>
              <a:pPr algn="r" defTabSz="461040" fontAlgn="base">
                <a:spcBef>
                  <a:spcPct val="0"/>
                </a:spcBef>
                <a:spcAft>
                  <a:spcPct val="0"/>
                </a:spcAft>
              </a:pPr>
              <a:t>92</a:t>
            </a:fld>
            <a:endParaRPr lang="zh-CN" altLang="zh-CN" sz="857">
              <a:solidFill>
                <a:srgbClr val="777777"/>
              </a:solidFill>
              <a:latin typeface="Tahoma" panose="020B0604030504040204" pitchFamily="34" charset="0"/>
              <a:ea typeface="宋体" panose="02010600030101010101" pitchFamily="2" charset="-122"/>
            </a:endParaRPr>
          </a:p>
        </p:txBody>
      </p:sp>
      <p:sp>
        <p:nvSpPr>
          <p:cNvPr id="2" name="内容占位符 2">
            <a:extLst>
              <a:ext uri="{FF2B5EF4-FFF2-40B4-BE49-F238E27FC236}">
                <a16:creationId xmlns:a16="http://schemas.microsoft.com/office/drawing/2014/main" id="{B98A2451-25B1-DC54-54CF-36FADE9F837D}"/>
              </a:ext>
            </a:extLst>
          </p:cNvPr>
          <p:cNvSpPr>
            <a:spLocks noGrp="1"/>
          </p:cNvSpPr>
          <p:nvPr>
            <p:ph idx="1"/>
          </p:nvPr>
        </p:nvSpPr>
        <p:spPr>
          <a:xfrm>
            <a:off x="299336" y="778556"/>
            <a:ext cx="4110356" cy="1599883"/>
          </a:xfrm>
          <a:ln>
            <a:noFill/>
          </a:ln>
        </p:spPr>
        <p:style>
          <a:lnRef idx="2">
            <a:schemeClr val="accent1"/>
          </a:lnRef>
          <a:fillRef idx="1">
            <a:schemeClr val="lt1"/>
          </a:fillRef>
          <a:effectRef idx="0">
            <a:schemeClr val="accent1"/>
          </a:effectRef>
          <a:fontRef idx="minor">
            <a:schemeClr val="dk1"/>
          </a:fontRef>
        </p:style>
        <p:txBody>
          <a:bodyPr/>
          <a:lstStyle/>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一个封闭经济中，已知消费函数 </a:t>
            </a:r>
            <a:r>
              <a:rPr lang="en-US" altLang="zh-CN" sz="1210" dirty="0">
                <a:latin typeface="Garamond" panose="02020404030301010803" pitchFamily="18" charset="0"/>
                <a:ea typeface="SimSun" panose="02010600030101010101" pitchFamily="2" charset="-122"/>
                <a:cs typeface="Times New Roman" panose="02020603050405020304" pitchFamily="18" charset="0"/>
              </a:rPr>
              <a:t>C=100+0.9Y𝑑</a:t>
            </a:r>
            <a:r>
              <a:rPr lang="zh-CN" altLang="en-US" sz="1210" dirty="0">
                <a:latin typeface="Garamond" panose="02020404030301010803" pitchFamily="18" charset="0"/>
                <a:ea typeface="SimSun" panose="02010600030101010101" pitchFamily="2" charset="-122"/>
                <a:cs typeface="Times New Roman" panose="02020603050405020304" pitchFamily="18" charset="0"/>
              </a:rPr>
              <a:t>，当投资</a:t>
            </a:r>
            <a:r>
              <a:rPr lang="en" altLang="zh-CN" sz="1210" dirty="0">
                <a:latin typeface="Garamond" panose="02020404030301010803" pitchFamily="18" charset="0"/>
                <a:ea typeface="SimSun" panose="02010600030101010101" pitchFamily="2" charset="-122"/>
                <a:cs typeface="Times New Roman" panose="02020603050405020304" pitchFamily="18" charset="0"/>
              </a:rPr>
              <a:t>I=300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亿元，政府购买</a:t>
            </a:r>
            <a:r>
              <a:rPr lang="en" altLang="zh-CN" sz="1210" dirty="0">
                <a:latin typeface="Garamond" panose="02020404030301010803" pitchFamily="18" charset="0"/>
                <a:ea typeface="SimSun" panose="02010600030101010101" pitchFamily="2" charset="-122"/>
                <a:cs typeface="Times New Roman" panose="02020603050405020304" pitchFamily="18" charset="0"/>
              </a:rPr>
              <a:t>G=160</a:t>
            </a:r>
            <a:r>
              <a:rPr lang="zh-CN" altLang="en-US" sz="1210" dirty="0">
                <a:latin typeface="Garamond" panose="02020404030301010803" pitchFamily="18" charset="0"/>
                <a:ea typeface="SimSun" panose="02010600030101010101" pitchFamily="2" charset="-122"/>
                <a:cs typeface="Times New Roman" panose="02020603050405020304" pitchFamily="18" charset="0"/>
              </a:rPr>
              <a:t>亿元，税率</a:t>
            </a:r>
            <a:r>
              <a:rPr lang="en" altLang="zh-CN" sz="1210" dirty="0">
                <a:latin typeface="Garamond" panose="02020404030301010803" pitchFamily="18" charset="0"/>
                <a:ea typeface="SimSun" panose="02010600030101010101" pitchFamily="2" charset="-122"/>
                <a:cs typeface="Times New Roman" panose="02020603050405020304" pitchFamily="18" charset="0"/>
              </a:rPr>
              <a:t>t=0.2</a:t>
            </a:r>
            <a:r>
              <a:rPr lang="zh-CN" altLang="en" sz="1210" dirty="0">
                <a:latin typeface="Garamond" panose="02020404030301010803" pitchFamily="18" charset="0"/>
                <a:ea typeface="SimSun" panose="02010600030101010101" pitchFamily="2" charset="-122"/>
                <a:cs typeface="Times New Roman" panose="02020603050405020304" pitchFamily="18" charset="0"/>
              </a:rPr>
              <a:t>，</a:t>
            </a:r>
            <a:r>
              <a:rPr lang="en-US" altLang="zh-CN" sz="1210" dirty="0">
                <a:latin typeface="Garamond" panose="02020404030301010803" pitchFamily="18" charset="0"/>
                <a:ea typeface="SimSun" panose="02010600030101010101" pitchFamily="2" charset="-122"/>
                <a:cs typeface="Times New Roman" panose="02020603050405020304" pitchFamily="18" charset="0"/>
              </a:rPr>
              <a:t>T</a:t>
            </a:r>
            <a:r>
              <a:rPr lang="en-US" altLang="zh-CN" sz="1210" baseline="-25000" dirty="0">
                <a:latin typeface="Garamond" panose="02020404030301010803" pitchFamily="18" charset="0"/>
                <a:ea typeface="SimSun" panose="02010600030101010101" pitchFamily="2" charset="-122"/>
                <a:cs typeface="Times New Roman" panose="02020603050405020304" pitchFamily="18" charset="0"/>
              </a:rPr>
              <a:t>0</a:t>
            </a:r>
            <a:r>
              <a:rPr lang="en-US" altLang="zh-CN" sz="1210" dirty="0">
                <a:latin typeface="Garamond" panose="02020404030301010803" pitchFamily="18" charset="0"/>
                <a:ea typeface="SimSun" panose="02010600030101010101" pitchFamily="2" charset="-122"/>
                <a:cs typeface="Times New Roman" panose="02020603050405020304" pitchFamily="18" charset="0"/>
              </a:rPr>
              <a:t>=0</a:t>
            </a:r>
            <a:r>
              <a:rPr lang="zh-CN" altLang="en-US" sz="1210" dirty="0">
                <a:latin typeface="Garamond" panose="02020404030301010803" pitchFamily="18" charset="0"/>
                <a:ea typeface="SimSun" panose="02010600030101010101" pitchFamily="2" charset="-122"/>
                <a:cs typeface="Times New Roman" panose="02020603050405020304" pitchFamily="18" charset="0"/>
              </a:rPr>
              <a:t>。请问：</a:t>
            </a:r>
            <a:endParaRPr lang="zh-CN" altLang="en" sz="1210" dirty="0">
              <a:latin typeface="Garamond" panose="02020404030301010803" pitchFamily="18" charset="0"/>
              <a:ea typeface="SimSun" panose="02010600030101010101" pitchFamily="2" charset="-122"/>
              <a:cs typeface="Times New Roman" panose="02020603050405020304" pitchFamily="18" charset="0"/>
            </a:endParaRPr>
          </a:p>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a:t>
            </a:r>
            <a:r>
              <a:rPr lang="en-US" altLang="zh-CN" sz="1210" dirty="0">
                <a:latin typeface="Garamond" panose="02020404030301010803" pitchFamily="18" charset="0"/>
                <a:ea typeface="SimSun" panose="02010600030101010101" pitchFamily="2" charset="-122"/>
                <a:cs typeface="Times New Roman" panose="02020603050405020304" pitchFamily="18" charset="0"/>
              </a:rPr>
              <a:t>1</a:t>
            </a:r>
            <a:r>
              <a:rPr lang="zh-CN" altLang="en-US" sz="1210" dirty="0">
                <a:latin typeface="Garamond" panose="02020404030301010803" pitchFamily="18" charset="0"/>
                <a:ea typeface="SimSun" panose="02010600030101010101" pitchFamily="2" charset="-122"/>
                <a:cs typeface="Times New Roman" panose="02020603050405020304" pitchFamily="18" charset="0"/>
              </a:rPr>
              <a:t>）当收支平衡时，收入水平是多少？乘数为多少？</a:t>
            </a:r>
          </a:p>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a:t>
            </a:r>
            <a:r>
              <a:rPr lang="en-US" altLang="zh-CN" sz="1210" dirty="0">
                <a:latin typeface="Garamond" panose="02020404030301010803" pitchFamily="18" charset="0"/>
                <a:ea typeface="SimSun" panose="02010600030101010101" pitchFamily="2" charset="-122"/>
                <a:cs typeface="Times New Roman" panose="02020603050405020304" pitchFamily="18" charset="0"/>
              </a:rPr>
              <a:t>2</a:t>
            </a:r>
            <a:r>
              <a:rPr lang="zh-CN" altLang="en-US" sz="1210" dirty="0">
                <a:latin typeface="Garamond" panose="02020404030301010803" pitchFamily="18" charset="0"/>
                <a:ea typeface="SimSun" panose="02010600030101010101" pitchFamily="2" charset="-122"/>
                <a:cs typeface="Times New Roman" panose="02020603050405020304" pitchFamily="18" charset="0"/>
              </a:rPr>
              <a:t>）假设政府购买</a:t>
            </a:r>
            <a:r>
              <a:rPr lang="en" altLang="zh-CN" sz="1210" dirty="0">
                <a:latin typeface="Garamond" panose="02020404030301010803" pitchFamily="18" charset="0"/>
                <a:ea typeface="SimSun" panose="02010600030101010101" pitchFamily="2" charset="-122"/>
                <a:cs typeface="Times New Roman" panose="02020603050405020304" pitchFamily="18" charset="0"/>
              </a:rPr>
              <a:t>G</a:t>
            </a:r>
            <a:r>
              <a:rPr lang="zh-CN" altLang="en-US" sz="1210" dirty="0">
                <a:latin typeface="Garamond" panose="02020404030301010803" pitchFamily="18" charset="0"/>
                <a:ea typeface="SimSun" panose="02010600030101010101" pitchFamily="2" charset="-122"/>
                <a:cs typeface="Times New Roman" panose="02020603050405020304" pitchFamily="18" charset="0"/>
              </a:rPr>
              <a:t>增加到</a:t>
            </a:r>
            <a:r>
              <a:rPr lang="en-US" altLang="zh-CN" sz="1210" dirty="0">
                <a:latin typeface="Garamond" panose="02020404030301010803" pitchFamily="18" charset="0"/>
                <a:ea typeface="SimSun" panose="02010600030101010101" pitchFamily="2" charset="-122"/>
                <a:cs typeface="Times New Roman" panose="02020603050405020304" pitchFamily="18" charset="0"/>
              </a:rPr>
              <a:t>210</a:t>
            </a:r>
            <a:r>
              <a:rPr lang="zh-CN" altLang="en-US" sz="1210" dirty="0">
                <a:latin typeface="Garamond" panose="02020404030301010803" pitchFamily="18" charset="0"/>
                <a:ea typeface="SimSun" panose="02010600030101010101" pitchFamily="2" charset="-122"/>
                <a:cs typeface="Times New Roman" panose="02020603050405020304" pitchFamily="18" charset="0"/>
              </a:rPr>
              <a:t>亿元时，新的均衡收入水平为多少？</a:t>
            </a:r>
          </a:p>
          <a:p>
            <a:pPr marL="0" indent="0">
              <a:buNone/>
            </a:pPr>
            <a:r>
              <a:rPr lang="zh-CN" altLang="en-US" sz="1210" dirty="0">
                <a:latin typeface="Garamond" panose="02020404030301010803" pitchFamily="18" charset="0"/>
                <a:ea typeface="SimSun" panose="02010600030101010101" pitchFamily="2" charset="-122"/>
                <a:cs typeface="Times New Roman" panose="02020603050405020304" pitchFamily="18" charset="0"/>
              </a:rPr>
              <a:t>（</a:t>
            </a:r>
            <a:r>
              <a:rPr lang="en-US" altLang="zh-CN" sz="1210" dirty="0">
                <a:latin typeface="Garamond" panose="02020404030301010803" pitchFamily="18" charset="0"/>
                <a:ea typeface="SimSun" panose="02010600030101010101" pitchFamily="2" charset="-122"/>
                <a:cs typeface="Times New Roman" panose="02020603050405020304" pitchFamily="18" charset="0"/>
              </a:rPr>
              <a:t>3</a:t>
            </a:r>
            <a:r>
              <a:rPr lang="zh-CN" altLang="en-US" sz="1210" dirty="0">
                <a:latin typeface="Garamond" panose="02020404030301010803" pitchFamily="18" charset="0"/>
                <a:ea typeface="SimSun" panose="02010600030101010101" pitchFamily="2" charset="-122"/>
                <a:cs typeface="Times New Roman" panose="02020603050405020304" pitchFamily="18" charset="0"/>
              </a:rPr>
              <a:t>）假设投资从</a:t>
            </a:r>
            <a:r>
              <a:rPr lang="en-US" altLang="zh-CN" sz="1210" dirty="0">
                <a:latin typeface="Garamond" panose="02020404030301010803" pitchFamily="18" charset="0"/>
                <a:ea typeface="SimSun" panose="02010600030101010101" pitchFamily="2" charset="-122"/>
                <a:cs typeface="Times New Roman" panose="02020603050405020304" pitchFamily="18" charset="0"/>
              </a:rPr>
              <a:t>300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增至</a:t>
            </a:r>
            <a:r>
              <a:rPr lang="en-US" altLang="zh-CN" sz="1210" dirty="0">
                <a:latin typeface="Garamond" panose="02020404030301010803" pitchFamily="18" charset="0"/>
                <a:ea typeface="SimSun" panose="02010600030101010101" pitchFamily="2" charset="-122"/>
                <a:cs typeface="Times New Roman" panose="02020603050405020304" pitchFamily="18" charset="0"/>
              </a:rPr>
              <a:t>400</a:t>
            </a:r>
            <a:r>
              <a:rPr lang="zh-CN" altLang="en-US" sz="1210" dirty="0">
                <a:latin typeface="Garamond" panose="02020404030301010803" pitchFamily="18" charset="0"/>
                <a:ea typeface="SimSun" panose="02010600030101010101" pitchFamily="2" charset="-122"/>
                <a:cs typeface="Times New Roman" panose="02020603050405020304" pitchFamily="18" charset="0"/>
              </a:rPr>
              <a:t>亿元，新的均衡收入为多少？</a:t>
            </a:r>
          </a:p>
          <a:p>
            <a:pPr marL="0" indent="0">
              <a:buNone/>
            </a:pPr>
            <a:endParaRPr lang="en-US" altLang="zh-CN" sz="1210" dirty="0">
              <a:latin typeface="Garamond" panose="02020404030301010803" pitchFamily="18" charset="0"/>
              <a:ea typeface="SimSun" panose="02010600030101010101" pitchFamily="2" charset="-122"/>
              <a:cs typeface="Times New Roman" panose="02020603050405020304" pitchFamily="18" charset="0"/>
            </a:endParaRPr>
          </a:p>
        </p:txBody>
      </p:sp>
      <p:grpSp>
        <p:nvGrpSpPr>
          <p:cNvPr id="16" name="Group 3">
            <a:extLst>
              <a:ext uri="{FF2B5EF4-FFF2-40B4-BE49-F238E27FC236}">
                <a16:creationId xmlns:a16="http://schemas.microsoft.com/office/drawing/2014/main" id="{6347AB5C-32E2-328F-351E-C45B26887691}"/>
              </a:ext>
            </a:extLst>
          </p:cNvPr>
          <p:cNvGrpSpPr>
            <a:grpSpLocks/>
          </p:cNvGrpSpPr>
          <p:nvPr/>
        </p:nvGrpSpPr>
        <p:grpSpPr bwMode="auto">
          <a:xfrm>
            <a:off x="299336" y="148055"/>
            <a:ext cx="4139486" cy="529041"/>
            <a:chOff x="0" y="0"/>
            <a:chExt cx="5000" cy="661"/>
          </a:xfrm>
        </p:grpSpPr>
        <p:sp>
          <p:nvSpPr>
            <p:cNvPr id="17" name="Line 9">
              <a:extLst>
                <a:ext uri="{FF2B5EF4-FFF2-40B4-BE49-F238E27FC236}">
                  <a16:creationId xmlns:a16="http://schemas.microsoft.com/office/drawing/2014/main" id="{9ABC9602-10A7-2303-8A03-59E6A6CB7A0F}"/>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sp>
          <p:nvSpPr>
            <p:cNvPr id="18" name="Line 10">
              <a:extLst>
                <a:ext uri="{FF2B5EF4-FFF2-40B4-BE49-F238E27FC236}">
                  <a16:creationId xmlns:a16="http://schemas.microsoft.com/office/drawing/2014/main" id="{5CA43E44-C12A-756F-823B-29B860271D47}"/>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Garamond" panose="02020404030301010803" pitchFamily="18" charset="0"/>
              </a:endParaRPr>
            </a:p>
          </p:txBody>
        </p:sp>
      </p:grpSp>
      <p:sp>
        <p:nvSpPr>
          <p:cNvPr id="19" name="Rectangle 4">
            <a:extLst>
              <a:ext uri="{FF2B5EF4-FFF2-40B4-BE49-F238E27FC236}">
                <a16:creationId xmlns:a16="http://schemas.microsoft.com/office/drawing/2014/main" id="{56FFB827-BE81-A621-4BFD-C42E4F3C28D3}"/>
              </a:ext>
            </a:extLst>
          </p:cNvPr>
          <p:cNvSpPr>
            <a:spLocks noGrp="1" noChangeArrowheads="1"/>
          </p:cNvSpPr>
          <p:nvPr>
            <p:ph type="title"/>
          </p:nvPr>
        </p:nvSpPr>
        <p:spPr>
          <a:xfrm>
            <a:off x="304139" y="171265"/>
            <a:ext cx="4138686" cy="481019"/>
          </a:xfrm>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a:r>
              <a:rPr lang="zh-CN" altLang="en-US" sz="121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课堂练习</a:t>
            </a:r>
            <a:br>
              <a:rPr lang="en-US" altLang="zh-CN" sz="1210" b="0" dirty="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80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乘数论</a:t>
            </a:r>
            <a:endParaRPr lang="zh-CN" altLang="en-US" sz="1800" dirty="0">
              <a:solidFill>
                <a:srgbClr val="339966"/>
              </a:solidFill>
              <a:effectLst>
                <a:outerShdw blurRad="38100" dist="38100" dir="2700000" algn="tl">
                  <a:srgbClr val="C0C0C0"/>
                </a:outerShdw>
              </a:effectLst>
              <a:ea typeface="宋体" panose="02010600030101010101" pitchFamily="2" charset="-122"/>
            </a:endParaRPr>
          </a:p>
        </p:txBody>
      </p:sp>
    </p:spTree>
    <p:extLst>
      <p:ext uri="{BB962C8B-B14F-4D97-AF65-F5344CB8AC3E}">
        <p14:creationId xmlns:p14="http://schemas.microsoft.com/office/powerpoint/2010/main" val="2371486626"/>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1942D0-B04B-BBEC-9497-527290109026}"/>
              </a:ext>
            </a:extLst>
          </p:cNvPr>
          <p:cNvSpPr>
            <a:spLocks noGrp="1"/>
          </p:cNvSpPr>
          <p:nvPr>
            <p:ph type="title"/>
          </p:nvPr>
        </p:nvSpPr>
        <p:spPr>
          <a:xfrm>
            <a:off x="97530" y="1545879"/>
            <a:ext cx="4415040" cy="368993"/>
          </a:xfrm>
        </p:spPr>
        <p:txBody>
          <a:bodyPr>
            <a:normAutofit fontScale="90000"/>
          </a:bodyPr>
          <a:lstStyle/>
          <a:p>
            <a:pPr algn="ctr"/>
            <a:r>
              <a:rPr kumimoji="1" lang="en-US" altLang="zh-CN" sz="2398" dirty="0"/>
              <a:t>Thanks!</a:t>
            </a:r>
            <a:endParaRPr kumimoji="1" lang="zh-CN" altLang="en-US" sz="2398" dirty="0"/>
          </a:p>
        </p:txBody>
      </p:sp>
    </p:spTree>
    <p:extLst>
      <p:ext uri="{BB962C8B-B14F-4D97-AF65-F5344CB8AC3E}">
        <p14:creationId xmlns:p14="http://schemas.microsoft.com/office/powerpoint/2010/main" val="346154294"/>
      </p:ext>
    </p:extLst>
  </p:cSld>
  <p:clrMapOvr>
    <a:masterClrMapping/>
  </p:clrMapOvr>
</p:sld>
</file>

<file path=ppt/theme/theme1.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1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1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4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5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6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7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docProps/app.xml><?xml version="1.0" encoding="utf-8"?>
<Properties xmlns="http://schemas.openxmlformats.org/officeDocument/2006/extended-properties" xmlns:vt="http://schemas.openxmlformats.org/officeDocument/2006/docPropsVTypes">
  <Template>Office 主题​​</Template>
  <TotalTime>14599</TotalTime>
  <Words>7642</Words>
  <Application>Microsoft Macintosh PowerPoint</Application>
  <PresentationFormat>自定义</PresentationFormat>
  <Paragraphs>1071</Paragraphs>
  <Slides>93</Slides>
  <Notes>2</Notes>
  <HiddenSlides>0</HiddenSlides>
  <MMClips>0</MMClips>
  <ScaleCrop>false</ScaleCrop>
  <HeadingPairs>
    <vt:vector size="6" baseType="variant">
      <vt:variant>
        <vt:lpstr>已用的字体</vt:lpstr>
      </vt:variant>
      <vt:variant>
        <vt:i4>15</vt:i4>
      </vt:variant>
      <vt:variant>
        <vt:lpstr>主题</vt:lpstr>
      </vt:variant>
      <vt:variant>
        <vt:i4>9</vt:i4>
      </vt:variant>
      <vt:variant>
        <vt:lpstr>幻灯片标题</vt:lpstr>
      </vt:variant>
      <vt:variant>
        <vt:i4>93</vt:i4>
      </vt:variant>
    </vt:vector>
  </HeadingPairs>
  <TitlesOfParts>
    <vt:vector size="117" baseType="lpstr">
      <vt:lpstr>等线</vt:lpstr>
      <vt:lpstr>等线</vt:lpstr>
      <vt:lpstr>楷体</vt:lpstr>
      <vt:lpstr>楷体</vt:lpstr>
      <vt:lpstr>宋体</vt:lpstr>
      <vt:lpstr>Microsoft YaHei</vt:lpstr>
      <vt:lpstr>Arial</vt:lpstr>
      <vt:lpstr>Book Antiqua</vt:lpstr>
      <vt:lpstr>Calibri</vt:lpstr>
      <vt:lpstr>Calibri Light</vt:lpstr>
      <vt:lpstr>Cambria Math</vt:lpstr>
      <vt:lpstr>Garamond</vt:lpstr>
      <vt:lpstr>Tahoma</vt:lpstr>
      <vt:lpstr>Times New Roman</vt:lpstr>
      <vt:lpstr>Wingdings</vt:lpstr>
      <vt:lpstr>Custom Design</vt:lpstr>
      <vt:lpstr>1_Custom Design</vt:lpstr>
      <vt:lpstr>2_Custom Design</vt:lpstr>
      <vt:lpstr>3_Custom Design</vt:lpstr>
      <vt:lpstr>1_Office 主题​​</vt:lpstr>
      <vt:lpstr>4_Custom Design</vt:lpstr>
      <vt:lpstr>5_Custom Design</vt:lpstr>
      <vt:lpstr>6_Custom Design</vt:lpstr>
      <vt:lpstr>7_Custom Design</vt:lpstr>
      <vt:lpstr>宏观经济学</vt:lpstr>
      <vt:lpstr>PowerPoint 演示文稿</vt:lpstr>
      <vt:lpstr>本章假设</vt:lpstr>
      <vt:lpstr>PowerPoint 演示文稿</vt:lpstr>
      <vt:lpstr>国民收入核算方法</vt:lpstr>
      <vt:lpstr>国民收入核算思想</vt:lpstr>
      <vt:lpstr>国民收入核算思想</vt:lpstr>
      <vt:lpstr>国民收入核算思想</vt:lpstr>
      <vt:lpstr>支出法expenditure approch</vt:lpstr>
      <vt:lpstr>收入法income approach</vt:lpstr>
      <vt:lpstr>收入法income approach</vt:lpstr>
      <vt:lpstr>收入法income approach</vt:lpstr>
      <vt:lpstr>PowerPoint 演示文稿</vt:lpstr>
      <vt:lpstr>部门法（sector approach）/生产法</vt:lpstr>
      <vt:lpstr>国内生产总值构成（来源：国家统计局）：部门法/生产法</vt:lpstr>
      <vt:lpstr>国内生产总值构成（来源：国家统计局）：部门法/生产法</vt:lpstr>
      <vt:lpstr>三种核算方法的关系</vt:lpstr>
      <vt:lpstr>三种核算GDP的方法的比较</vt:lpstr>
      <vt:lpstr>国民收入核算中其他总量的核算</vt:lpstr>
      <vt:lpstr>国民收入核算中其他总量的核算</vt:lpstr>
      <vt:lpstr>PowerPoint 演示文稿</vt:lpstr>
      <vt:lpstr>宏观经济循环</vt:lpstr>
      <vt:lpstr>国民收入恒等式</vt:lpstr>
      <vt:lpstr>均衡产出的条件：投资储蓄恒等式</vt:lpstr>
      <vt:lpstr>均衡产出的条件</vt:lpstr>
      <vt:lpstr>均衡产出的条件：两部门经济</vt:lpstr>
      <vt:lpstr>两部门经济循环</vt:lpstr>
      <vt:lpstr>两部门经济条件下的国民收入构成</vt:lpstr>
      <vt:lpstr>储蓄——投资恒等式</vt:lpstr>
      <vt:lpstr>三部门经济：储蓄——投资恒等式</vt:lpstr>
      <vt:lpstr>三部门经济：储蓄——投资恒等式</vt:lpstr>
      <vt:lpstr>三部门经济循环模型</vt:lpstr>
      <vt:lpstr>四部门经济循环模型</vt:lpstr>
      <vt:lpstr>四部门经济的储蓄——投资恒等式</vt:lpstr>
      <vt:lpstr>PowerPoint 演示文稿</vt:lpstr>
      <vt:lpstr>凯恩斯消费理论</vt:lpstr>
      <vt:lpstr>消费函数consumption function</vt:lpstr>
      <vt:lpstr>消费函数consumption function</vt:lpstr>
      <vt:lpstr>PowerPoint 演示文稿</vt:lpstr>
      <vt:lpstr>PowerPoint 演示文稿</vt:lpstr>
      <vt:lpstr>PowerPoint 演示文稿</vt:lpstr>
      <vt:lpstr>PowerPoint 演示文稿</vt:lpstr>
      <vt:lpstr>消费曲线的移动</vt:lpstr>
      <vt:lpstr>硬币的另一面：储蓄函数</vt:lpstr>
      <vt:lpstr>储蓄函数</vt:lpstr>
      <vt:lpstr>储蓄曲线与消费曲线</vt:lpstr>
      <vt:lpstr>线性与非线性储蓄曲线</vt:lpstr>
      <vt:lpstr>PowerPoint 演示文稿</vt:lpstr>
      <vt:lpstr>其他消费理论</vt:lpstr>
      <vt:lpstr>生命周期消费理论</vt:lpstr>
      <vt:lpstr>永久收入消费理论</vt:lpstr>
      <vt:lpstr>使用消费函数决定收入：AE-NI模型</vt:lpstr>
      <vt:lpstr>使用消费函数决定收入</vt:lpstr>
      <vt:lpstr>主动学习  1    国民收入的决定</vt:lpstr>
      <vt:lpstr>主动学习  2       国民收入的决定</vt:lpstr>
      <vt:lpstr>使用储蓄函数决定收入</vt:lpstr>
      <vt:lpstr>使用储蓄函数决定收入</vt:lpstr>
      <vt:lpstr>使用储蓄函数决定收入</vt:lpstr>
      <vt:lpstr>PowerPoint 演示文稿</vt:lpstr>
      <vt:lpstr>投资的决策</vt:lpstr>
      <vt:lpstr>投资的决策</vt:lpstr>
      <vt:lpstr>投资函数</vt:lpstr>
      <vt:lpstr>投资曲线</vt:lpstr>
      <vt:lpstr>资本的边际效率</vt:lpstr>
      <vt:lpstr>资本的边际效率</vt:lpstr>
      <vt:lpstr>主动学习       资本的边际效率</vt:lpstr>
      <vt:lpstr>资本的边际效率</vt:lpstr>
      <vt:lpstr>资本边际效率曲线</vt:lpstr>
      <vt:lpstr>资本边际效率曲线</vt:lpstr>
      <vt:lpstr>投资的边际效率曲线</vt:lpstr>
      <vt:lpstr>预期收益与投资</vt:lpstr>
      <vt:lpstr>风险与投资</vt:lpstr>
      <vt:lpstr>托宾Q</vt:lpstr>
      <vt:lpstr>宏观经济学</vt:lpstr>
      <vt:lpstr>乘数产生的基本原理</vt:lpstr>
      <vt:lpstr>PowerPoint 演示文稿</vt:lpstr>
      <vt:lpstr>公式推导</vt:lpstr>
      <vt:lpstr>乘数效应</vt:lpstr>
      <vt:lpstr>两部门经济的AE-NI模型</vt:lpstr>
      <vt:lpstr>三部门经济的AE-NI模型</vt:lpstr>
      <vt:lpstr>PowerPoint 演示文稿</vt:lpstr>
      <vt:lpstr>三部门经济中的各种乘数</vt:lpstr>
      <vt:lpstr>政府购买乘数</vt:lpstr>
      <vt:lpstr>税收乘数</vt:lpstr>
      <vt:lpstr>政府转移支付乘数</vt:lpstr>
      <vt:lpstr>平衡预算乘数</vt:lpstr>
      <vt:lpstr>课堂练习       三部门经济收入的决定</vt:lpstr>
      <vt:lpstr>四部门经济中的AE- NI模型</vt:lpstr>
      <vt:lpstr>四部门经济中的AE- NI模型</vt:lpstr>
      <vt:lpstr>四部门经济中的各种乘数</vt:lpstr>
      <vt:lpstr>课堂练习      乘数论</vt:lpstr>
      <vt:lpstr>课堂练习 乘数论</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公共部门经济学</dc:title>
  <dc:creator>QD5164</dc:creator>
  <cp:keywords>()</cp:keywords>
  <cp:lastModifiedBy>Zhiqing Yang</cp:lastModifiedBy>
  <cp:revision>1950</cp:revision>
  <dcterms:created xsi:type="dcterms:W3CDTF">2022-08-17T03:42:51Z</dcterms:created>
  <dcterms:modified xsi:type="dcterms:W3CDTF">2023-03-13T03:24:43Z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2014-11-25T00:00:00Z</vt:filetime>
  </property>
  <property fmtid="{D5CDD505-2E9C-101B-9397-08002B2CF9AE}" pid="3" name="Creator">
    <vt:lpwstr>LaTeX with Beamer class version 3.33</vt:lpwstr>
  </property>
  <property fmtid="{D5CDD505-2E9C-101B-9397-08002B2CF9AE}" pid="4" name="LastSaved">
    <vt:filetime>2018-11-23T00:00:00Z</vt:filetime>
  </property>
</Properties>
</file>