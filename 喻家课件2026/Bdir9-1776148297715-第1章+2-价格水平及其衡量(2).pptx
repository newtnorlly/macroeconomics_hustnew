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6" r:id="rId4"/>
    <p:sldMasterId id="2147483678" r:id="rId5"/>
  </p:sldMasterIdLst>
  <p:notesMasterIdLst>
    <p:notesMasterId r:id="rId12"/>
  </p:notesMasterIdLst>
  <p:sldIdLst>
    <p:sldId id="1097" r:id="rId6"/>
    <p:sldId id="962" r:id="rId7"/>
    <p:sldId id="1098" r:id="rId8"/>
    <p:sldId id="278" r:id="rId9"/>
    <p:sldId id="279" r:id="rId10"/>
    <p:sldId id="280" r:id="rId11"/>
    <p:sldId id="1113" r:id="rId13"/>
    <p:sldId id="1114" r:id="rId14"/>
    <p:sldId id="1115" r:id="rId15"/>
    <p:sldId id="1099" r:id="rId16"/>
    <p:sldId id="1124" r:id="rId17"/>
    <p:sldId id="1125" r:id="rId18"/>
    <p:sldId id="1104" r:id="rId19"/>
    <p:sldId id="1119" r:id="rId20"/>
    <p:sldId id="1120" r:id="rId21"/>
    <p:sldId id="1100" r:id="rId22"/>
    <p:sldId id="1116" r:id="rId23"/>
    <p:sldId id="1117" r:id="rId24"/>
    <p:sldId id="1118" r:id="rId25"/>
    <p:sldId id="1101" r:id="rId26"/>
    <p:sldId id="1102" r:id="rId27"/>
    <p:sldId id="1103" r:id="rId28"/>
    <p:sldId id="292" r:id="rId29"/>
    <p:sldId id="1126" r:id="rId30"/>
    <p:sldId id="323" r:id="rId31"/>
    <p:sldId id="1106" r:id="rId32"/>
    <p:sldId id="1107" r:id="rId33"/>
    <p:sldId id="330" r:id="rId34"/>
    <p:sldId id="1121" r:id="rId35"/>
    <p:sldId id="1122" r:id="rId36"/>
    <p:sldId id="1108" r:id="rId37"/>
    <p:sldId id="1109" r:id="rId38"/>
    <p:sldId id="1110" r:id="rId39"/>
    <p:sldId id="1112" r:id="rId40"/>
    <p:sldId id="367" r:id="rId41"/>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1098"/>
            <p14:sldId id="278"/>
            <p14:sldId id="279"/>
            <p14:sldId id="280"/>
            <p14:sldId id="1113"/>
            <p14:sldId id="1114"/>
            <p14:sldId id="1115"/>
            <p14:sldId id="1099"/>
            <p14:sldId id="1124"/>
            <p14:sldId id="1125"/>
            <p14:sldId id="1104"/>
            <p14:sldId id="1119"/>
            <p14:sldId id="1120"/>
            <p14:sldId id="1100"/>
            <p14:sldId id="1116"/>
            <p14:sldId id="1117"/>
            <p14:sldId id="1118"/>
            <p14:sldId id="1101"/>
            <p14:sldId id="1102"/>
            <p14:sldId id="1103"/>
            <p14:sldId id="292"/>
            <p14:sldId id="1126"/>
            <p14:sldId id="323"/>
            <p14:sldId id="1106"/>
            <p14:sldId id="1107"/>
            <p14:sldId id="330"/>
            <p14:sldId id="1121"/>
            <p14:sldId id="1122"/>
            <p14:sldId id="1108"/>
            <p14:sldId id="1109"/>
            <p14:sldId id="1110"/>
            <p14:sldId id="1112"/>
            <p14:sldId id="367"/>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208"/>
    <p:restoredTop sz="95659"/>
  </p:normalViewPr>
  <p:slideViewPr>
    <p:cSldViewPr showGuides="1">
      <p:cViewPr varScale="1">
        <p:scale>
          <a:sx n="231" d="100"/>
          <a:sy n="231" d="100"/>
        </p:scale>
        <p:origin x="1152" y="17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notesMaster" Target="notesMasters/notesMaster1.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33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A1E43ED-9078-FC4F-A13A-7EBD5ADC2A1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4339"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2D01A38-04A7-DC48-811E-13F0B1DF605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4340" name="Rectangle 2"/>
          <p:cNvSpPr>
            <a:spLocks noGrp="1" noRot="1" noChangeAspect="1" noChangeArrowheads="1" noTextEdit="1"/>
          </p:cNvSpPr>
          <p:nvPr>
            <p:ph type="sldImg"/>
          </p:nvPr>
        </p:nvSpPr>
        <p:spPr/>
      </p:sp>
      <p:sp>
        <p:nvSpPr>
          <p:cNvPr id="14341" name="Rectangle 3"/>
          <p:cNvSpPr>
            <a:spLocks noGrp="1" noChangeArrowheads="1"/>
          </p:cNvSpPr>
          <p:nvPr>
            <p:ph type="body" idx="1"/>
          </p:nvPr>
        </p:nvSpPr>
        <p:spPr/>
        <p:txBody>
          <a:bodyPr anchor="t"/>
          <a:lstStyle/>
          <a:p>
            <a:pPr eaLnBrk="1" hangingPunct="1"/>
            <a:r>
              <a:rPr lang="en-US" altLang="zh-CN">
                <a:ea typeface="宋体" pitchFamily="2" charset="-122"/>
              </a:rPr>
              <a:t>Suggestion:  Show students the data in the first three columns of the table.  Before showing them the cost of basket calculations, tell them to take 3 minutes to compute the cost of the basket in each of the three years, and use those results to compute the value of the CPI in each of the three years.  Then, show the rest of the slide.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Or, you can just cruise through this example, but tell them to pay close attention because in a few moments they will have to compute a similar example.  </a:t>
            </a:r>
            <a:endParaRPr lang="en-US" altLang="zh-CN">
              <a:ea typeface="宋体" pitchFamily="2" charset="-122"/>
            </a:endParaRPr>
          </a:p>
          <a:p>
            <a:pPr eaLnBrk="1" hangingPunct="1"/>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638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B593FD9-EDF2-4B4B-8F36-1B3187B5CFF6}"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16387" name="Rectangle 2"/>
          <p:cNvSpPr>
            <a:spLocks noGrp="1" noRot="1" noChangeAspect="1" noChangeArrowheads="1" noTextEdit="1"/>
          </p:cNvSpPr>
          <p:nvPr>
            <p:ph type="sldImg"/>
          </p:nvPr>
        </p:nvSpPr>
        <p:spPr/>
      </p:sp>
      <p:sp>
        <p:nvSpPr>
          <p:cNvPr id="16388" name="Rectangle 3"/>
          <p:cNvSpPr>
            <a:spLocks noGrp="1" noChangeArrowheads="1"/>
          </p:cNvSpPr>
          <p:nvPr>
            <p:ph type="body" idx="1"/>
          </p:nvPr>
        </p:nvSpPr>
        <p:spPr/>
        <p:txBody>
          <a:bodyPr anchor="t"/>
          <a:lstStyle/>
          <a:p>
            <a:pPr eaLnBrk="1" hangingPunct="1"/>
            <a:r>
              <a:rPr lang="en-US" altLang="zh-CN">
                <a:ea typeface="宋体" pitchFamily="2" charset="-122"/>
              </a:rPr>
              <a:t>Part A is not difficult but requires an intermediate step:  students must compute the cost of the basket in 2005 to find the CPI in 2005.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Part B has two intermediate steps:  computing the cost of the basket in 2006, then computing the CPI in 2006.</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048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3C4905D-5EA0-4547-A07D-FF1BBA553C2F}"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0483"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3DC58A8-2E09-064F-9404-0CAB8EA27E8E}"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0484" name="Rectangle 2"/>
          <p:cNvSpPr>
            <a:spLocks noGrp="1" noRot="1" noChangeAspect="1" noChangeArrowheads="1" noTextEdit="1"/>
          </p:cNvSpPr>
          <p:nvPr>
            <p:ph type="sldImg"/>
          </p:nvPr>
        </p:nvSpPr>
        <p:spPr>
          <a:xfrm>
            <a:off x="1144588" y="534988"/>
            <a:ext cx="4568825" cy="3429000"/>
          </a:xfrm>
        </p:spPr>
      </p:sp>
      <p:sp>
        <p:nvSpPr>
          <p:cNvPr id="20485" name="Rectangle 3"/>
          <p:cNvSpPr>
            <a:spLocks noGrp="1" noChangeArrowheads="1"/>
          </p:cNvSpPr>
          <p:nvPr>
            <p:ph type="body" idx="1"/>
          </p:nvPr>
        </p:nvSpPr>
        <p:spPr>
          <a:xfrm>
            <a:off x="685800" y="4248150"/>
            <a:ext cx="5486400" cy="4210050"/>
          </a:xfrm>
        </p:spPr>
        <p:txBody>
          <a:bodyPr anchor="t"/>
          <a:lstStyle/>
          <a:p>
            <a:pPr eaLnBrk="1" hangingPunct="1"/>
            <a:r>
              <a:rPr lang="en-US" altLang="zh-CN">
                <a:ea typeface="宋体" pitchFamily="2" charset="-122"/>
              </a:rPr>
              <a:t>This slide replicates Figure 1 from the textbook.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Source:  Bureau of Labor Statistics, http://www.bls.gov/cpi/</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This graph shows just a few highly aggregated categories.  A more detailed breakdown is available at the BLS website:  look for “Relative Importance of Components in the Consumer Price Index” there.  </a:t>
            </a:r>
            <a:endParaRPr lang="en-US" altLang="zh-CN">
              <a:ea typeface="宋体" pitchFamily="2" charset="-122"/>
            </a:endParaRPr>
          </a:p>
          <a:p>
            <a:pPr eaLnBrk="1" hangingPunct="1"/>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9936E33-0E10-754D-BB70-B70718E74002}"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p:txBody>
          <a:bodyPr anchor="t"/>
          <a:lstStyle/>
          <a:p>
            <a:pPr eaLnBrk="1" hangingPunct="1"/>
            <a:r>
              <a:rPr lang="en-US" altLang="zh-CN">
                <a:ea typeface="宋体" pitchFamily="2" charset="-122"/>
              </a:rPr>
              <a:t>To make this exercise more challenging, move the preceding slide so that it appears immediately after the answers to this exercise.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If you are </a:t>
            </a:r>
            <a:r>
              <a:rPr lang="en-US" altLang="zh-CN" u="sng">
                <a:ea typeface="宋体" pitchFamily="2" charset="-122"/>
              </a:rPr>
              <a:t>outside the U.S.</a:t>
            </a:r>
            <a:r>
              <a:rPr lang="en-US" altLang="zh-CN">
                <a:ea typeface="宋体" pitchFamily="2" charset="-122"/>
              </a:rPr>
              <a:t>, please make the following changes:</a:t>
            </a:r>
            <a:endParaRPr lang="en-US" altLang="zh-CN">
              <a:ea typeface="宋体" pitchFamily="2" charset="-122"/>
            </a:endParaRPr>
          </a:p>
          <a:p>
            <a:pPr marL="228600" lvl="1" indent="-114300" eaLnBrk="1" hangingPunct="1">
              <a:spcBef>
                <a:spcPct val="20000"/>
              </a:spcBef>
              <a:buFontTx/>
              <a:buChar char="•"/>
            </a:pPr>
            <a:r>
              <a:rPr lang="en-US" altLang="zh-CN">
                <a:ea typeface="宋体" pitchFamily="2" charset="-122"/>
              </a:rPr>
              <a:t>In (b), change the example to “A local manufacturer raises the price on industrial tractors it produces.”</a:t>
            </a:r>
            <a:endParaRPr lang="en-US" altLang="zh-CN">
              <a:ea typeface="宋体" pitchFamily="2" charset="-122"/>
            </a:endParaRPr>
          </a:p>
          <a:p>
            <a:pPr marL="228600" lvl="1" indent="-114300" eaLnBrk="1" hangingPunct="1">
              <a:spcBef>
                <a:spcPct val="20000"/>
              </a:spcBef>
              <a:buFontTx/>
              <a:buChar char="•"/>
            </a:pPr>
            <a:r>
              <a:rPr lang="en-US" altLang="zh-CN">
                <a:ea typeface="宋体" pitchFamily="2" charset="-122"/>
              </a:rPr>
              <a:t>In (c), change “U.S.” to your country’s name, unless your country is Italy.  In that case, change the example to something involving an imported consumer good.</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E63D889-4984-BA41-B778-263CD7CC64E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p:txBody>
          <a:bodyPr anchor="t"/>
          <a:lstStyle/>
          <a:p>
            <a:pPr eaLnBrk="1" hangingPunct="1"/>
            <a:r>
              <a:rPr lang="en-US" altLang="zh-CN">
                <a:ea typeface="宋体" pitchFamily="2" charset="-122"/>
              </a:rPr>
              <a:t>Explanations:</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A. Frappuccinos are produced in the U.S., so their prices are part of the GDP deflator.  They are purchased by consumers, so their prices are part of the CPI.  Hence, an increase in the price of Frappuccinos causes both the CPI and GDP deflator to increase.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B. Since the tractors are produced here in the U.S., the price increase causes the GDP deflator to rise.  However, industrial tractors are a capital good, not a consumer good, so the CPI is unaffected.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C.  Italian jeans appear in the U.S. consumer’s shopping basket, and hence the increase in their price causes the CPI to rise.  However, the GDP deflator is unchanged because it only includes prices of domestically produced goods and excludes the prices of imports.</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867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DB952AF-83C8-9C47-BEFC-C2D0E05D4CE9}"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8675"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E11D1C6-E61F-5E40-831F-DF7D78D1538A}"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8676" name="Rectangle 2"/>
          <p:cNvSpPr>
            <a:spLocks noGrp="1" noRot="1" noChangeAspect="1" noChangeArrowheads="1" noTextEdit="1"/>
          </p:cNvSpPr>
          <p:nvPr>
            <p:ph type="sldImg"/>
          </p:nvPr>
        </p:nvSpPr>
        <p:spPr>
          <a:xfrm>
            <a:off x="1144588" y="534988"/>
            <a:ext cx="4568825" cy="3429000"/>
          </a:xfrm>
        </p:spPr>
      </p:sp>
      <p:sp>
        <p:nvSpPr>
          <p:cNvPr id="28677" name="Rectangle 3"/>
          <p:cNvSpPr>
            <a:spLocks noGrp="1" noChangeArrowheads="1"/>
          </p:cNvSpPr>
          <p:nvPr>
            <p:ph type="body" idx="1"/>
          </p:nvPr>
        </p:nvSpPr>
        <p:spPr>
          <a:xfrm>
            <a:off x="685800" y="4248150"/>
            <a:ext cx="5486400" cy="4210050"/>
          </a:xfrm>
        </p:spPr>
        <p:txBody>
          <a:bodyPr anchor="t"/>
          <a:lstStyle/>
          <a:p>
            <a:pPr eaLnBrk="1" hangingPunct="1"/>
            <a:r>
              <a:rPr lang="en-US" altLang="zh-CN">
                <a:ea typeface="宋体" pitchFamily="2" charset="-122"/>
              </a:rPr>
              <a:t>If you spent a few minutes of class time on the preceding exercise, you can go through this slide fairly quickly.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253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8C8A55DC-F441-1C41-ACE6-D0F259A1D1A1}"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p:txBody>
          <a:bodyPr anchor="t"/>
          <a:lstStyle/>
          <a:p>
            <a:pPr eaLnBrk="1" hangingPunct="1"/>
            <a:r>
              <a:rPr lang="en-US" altLang="zh-CN">
                <a:ea typeface="宋体" pitchFamily="2" charset="-122"/>
              </a:rPr>
              <a:t>Students understand substitution bias better if they work a concrete example like the one on this slide.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Before displaying the questions (A + B), you might want to ask your class </a:t>
            </a:r>
            <a:r>
              <a:rPr lang="en-US" altLang="zh-CN" u="sng">
                <a:ea typeface="宋体" pitchFamily="2" charset="-122"/>
              </a:rPr>
              <a:t>why</a:t>
            </a:r>
            <a:r>
              <a:rPr lang="en-US" altLang="zh-CN">
                <a:ea typeface="宋体" pitchFamily="2" charset="-122"/>
              </a:rPr>
              <a:t> households bought different quantities of beef and chicken in 2006 than they did in 2005.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Or if that seems too easy, just mention before displaying questions A and B that households are responding to the change in relative prices:  beef has become a lot more expensive relative to chicken, so households buy less beef and more chicken.</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DA5C3F8A-D321-4E44-8B4F-32CFC6BA734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p:txBody>
          <a:bodyPr anchor="t"/>
          <a:lstStyle/>
          <a:p>
            <a:pPr eaLnBrk="1" hangingPunct="1"/>
            <a:r>
              <a:rPr lang="en-US" altLang="zh-CN">
                <a:ea typeface="宋体" pitchFamily="2" charset="-122"/>
              </a:rPr>
              <a:t>This is just a straight-forward calculation.</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662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3944665-39A5-4D47-941A-3E4EBB59C1A3}"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p:txBody>
          <a:bodyPr anchor="t"/>
          <a:lstStyle/>
          <a:p>
            <a:pPr eaLnBrk="1" hangingPunct="1"/>
            <a:r>
              <a:rPr lang="en-US" altLang="zh-CN">
                <a:ea typeface="宋体" pitchFamily="2" charset="-122"/>
              </a:rPr>
              <a:t>Ask students which inflation rate (30% or 40%) they think more accurately measures the true increase in the cost of living for this example.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Most students will correctly say “30%.”  Ask them to explain their reasoning.  You are guiding them to figure out substitution bias and why it’s a problem.</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B89DBA9-B7ED-294B-A9A8-2C1D453B16B2}"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2771"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F571943-F0F9-1542-B26C-29828BEB8DF7}"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2772" name="Rectangle 2"/>
          <p:cNvSpPr>
            <a:spLocks noGrp="1" noRot="1" noChangeAspect="1" noChangeArrowheads="1" noTextEdit="1"/>
          </p:cNvSpPr>
          <p:nvPr>
            <p:ph type="sldImg"/>
          </p:nvPr>
        </p:nvSpPr>
        <p:spPr/>
      </p:sp>
      <p:sp>
        <p:nvSpPr>
          <p:cNvPr id="32773" name="Rectangle 3"/>
          <p:cNvSpPr>
            <a:spLocks noGrp="1" noChangeArrowheads="1"/>
          </p:cNvSpPr>
          <p:nvPr>
            <p:ph type="body" idx="1"/>
          </p:nvPr>
        </p:nvSpPr>
        <p:spPr/>
        <p:txBody>
          <a:bodyPr anchor="t"/>
          <a:lstStyle/>
          <a:p>
            <a:pPr eaLnBrk="1" hangingPunct="1"/>
            <a:r>
              <a:rPr lang="en-US" altLang="zh-CN">
                <a:ea typeface="宋体" pitchFamily="2" charset="-122"/>
              </a:rPr>
              <a:t>In the 1990s, it was estimated that the CPI’s bias cost taxpayers $1 trillion every 12 years in unnecessary COLAs in Social Security and government pension payments!!!</a:t>
            </a:r>
            <a:endParaRPr lang="en-US" altLang="zh-CN">
              <a:ea typeface="宋体" pitchFamily="2" charset="-122"/>
            </a:endParaRPr>
          </a:p>
          <a:p>
            <a:pPr eaLnBrk="1" hangingPunct="1"/>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481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15124B6-1E79-5A46-A088-32703BB4A6A0}"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4819"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147D3ED-DDCF-9045-8DE8-4FD7E901DB7B}"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34820" name="Rectangle 2"/>
          <p:cNvSpPr>
            <a:spLocks noGrp="1" noRot="1" noChangeAspect="1" noChangeArrowheads="1" noTextEdit="1"/>
          </p:cNvSpPr>
          <p:nvPr>
            <p:ph type="sldImg"/>
          </p:nvPr>
        </p:nvSpPr>
        <p:spPr/>
      </p:sp>
      <p:sp>
        <p:nvSpPr>
          <p:cNvPr id="34821" name="Rectangle 3"/>
          <p:cNvSpPr>
            <a:spLocks noGrp="1" noChangeArrowheads="1"/>
          </p:cNvSpPr>
          <p:nvPr>
            <p:ph type="body" idx="1"/>
          </p:nvPr>
        </p:nvSpPr>
        <p:spPr/>
        <p:txBody>
          <a:bodyPr anchor="t"/>
          <a:lstStyle/>
          <a:p>
            <a:pPr eaLnBrk="1" hangingPunct="1"/>
            <a:r>
              <a:rPr lang="en-US" altLang="zh-CN">
                <a:ea typeface="宋体" pitchFamily="2" charset="-122"/>
              </a:rPr>
              <a:t>This figure shows the inflation rate – the percentage change in the level of prices – as measured by the GDP deflator and the Consumer Price Index using quarterly data from the U.S. economy.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Notice that the two measures of inflation generally move together.  There are a few years when they diverge a bit.  The reasons for this are on the next slide.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Sources:</a:t>
            </a:r>
            <a:endParaRPr lang="en-US" altLang="zh-CN">
              <a:ea typeface="宋体" pitchFamily="2" charset="-122"/>
            </a:endParaRPr>
          </a:p>
          <a:p>
            <a:pPr eaLnBrk="1" hangingPunct="1"/>
            <a:r>
              <a:rPr lang="en-US" altLang="zh-CN">
                <a:ea typeface="宋体" pitchFamily="2" charset="-122"/>
              </a:rPr>
              <a:t>GDP deflator – Bureau of Economic Analysis, U.S. Dept of Commerce</a:t>
            </a:r>
            <a:endParaRPr lang="en-US" altLang="zh-CN">
              <a:ea typeface="宋体" pitchFamily="2" charset="-122"/>
            </a:endParaRPr>
          </a:p>
          <a:p>
            <a:pPr eaLnBrk="1" hangingPunct="1"/>
            <a:r>
              <a:rPr lang="en-US" altLang="zh-CN">
                <a:ea typeface="宋体" pitchFamily="2" charset="-122"/>
              </a:rPr>
              <a:t>CPI – Bureau of Labor Statistics, U.S. Dept of Labor</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I obtained both from the Federal Reserve Bank of St. Louis “Fred” database:</a:t>
            </a:r>
            <a:endParaRPr lang="en-US" altLang="zh-CN">
              <a:ea typeface="宋体" pitchFamily="2" charset="-122"/>
            </a:endParaRPr>
          </a:p>
          <a:p>
            <a:pPr eaLnBrk="1" hangingPunct="1"/>
            <a:r>
              <a:rPr lang="en-US" altLang="zh-CN">
                <a:ea typeface="宋体" pitchFamily="2" charset="-122"/>
              </a:rPr>
              <a:t>http://research.stlouisfed.org/fred2/</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3010"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B6B3C87-01EB-394E-A73C-A95244493666}"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3011"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A6B2D2E-DEBF-C544-9692-A4E68C84558D}"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3012" name="Rectangle 2"/>
          <p:cNvSpPr>
            <a:spLocks noGrp="1" noRot="1" noChangeAspect="1" noChangeArrowheads="1" noTextEdit="1"/>
          </p:cNvSpPr>
          <p:nvPr>
            <p:ph type="sldImg"/>
          </p:nvPr>
        </p:nvSpPr>
        <p:spPr>
          <a:xfrm>
            <a:off x="1144588" y="534988"/>
            <a:ext cx="4568825" cy="3429000"/>
          </a:xfrm>
        </p:spPr>
      </p:sp>
      <p:sp>
        <p:nvSpPr>
          <p:cNvPr id="43013" name="Rectangle 3"/>
          <p:cNvSpPr>
            <a:spLocks noGrp="1" noChangeArrowheads="1"/>
          </p:cNvSpPr>
          <p:nvPr>
            <p:ph type="body" idx="1"/>
          </p:nvPr>
        </p:nvSpPr>
        <p:spPr>
          <a:xfrm>
            <a:off x="685800" y="4248150"/>
            <a:ext cx="5486400" cy="4210050"/>
          </a:xfrm>
          <a:noFill/>
        </p:spPr>
        <p:txBody>
          <a:bodyPr anchor="t"/>
          <a:lstStyle/>
          <a:p>
            <a:pPr eaLnBrk="1" hangingPunct="1"/>
            <a:r>
              <a:rPr lang="en-US" altLang="zh-CN">
                <a:ea typeface="宋体" pitchFamily="2" charset="-122"/>
              </a:rPr>
              <a:t>Note:  the ratio of price levels = 211.7/31.3 = 6.76.  This means that the cost of living has increased by a factor of 6.76.  We multiply this factor by the 1964 figure to convert the latter into “today’s dollars.”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Interpreting the result:  The $1.15 minimum wage in December 1964 could have purchased $7.78 worth of goods and services if prices in 1964 equaled their December 2007 level.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Source of data:  Bureau of Labor Statistics, www.bls.gov</a:t>
            </a:r>
            <a:endParaRPr lang="en-US" altLang="zh-CN">
              <a:ea typeface="宋体" pitchFamily="2" charset="-122"/>
            </a:endParaRPr>
          </a:p>
          <a:p>
            <a:pPr eaLnBrk="1" hangingPunct="1"/>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5058"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34239745-74F0-2343-863E-8D12F178F194}"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5059"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E1DD017-C9CF-0745-97F1-953A4D8E31AB}"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5060" name="Rectangle 2"/>
          <p:cNvSpPr>
            <a:spLocks noGrp="1" noRot="1" noChangeAspect="1" noChangeArrowheads="1" noTextEdit="1"/>
          </p:cNvSpPr>
          <p:nvPr>
            <p:ph type="sldImg"/>
          </p:nvPr>
        </p:nvSpPr>
        <p:spPr>
          <a:xfrm>
            <a:off x="1144588" y="534988"/>
            <a:ext cx="4568825" cy="3429000"/>
          </a:xfrm>
        </p:spPr>
      </p:sp>
      <p:sp>
        <p:nvSpPr>
          <p:cNvPr id="45061" name="Rectangle 3"/>
          <p:cNvSpPr>
            <a:spLocks noGrp="1" noChangeArrowheads="1"/>
          </p:cNvSpPr>
          <p:nvPr>
            <p:ph type="body" idx="1"/>
          </p:nvPr>
        </p:nvSpPr>
        <p:spPr>
          <a:xfrm>
            <a:off x="685800" y="4248150"/>
            <a:ext cx="5486400" cy="4210050"/>
          </a:xfrm>
          <a:noFill/>
        </p:spPr>
        <p:txBody>
          <a:bodyPr anchor="t"/>
          <a:lstStyle/>
          <a:p>
            <a:pPr eaLnBrk="1" hangingPunct="1"/>
            <a:r>
              <a:rPr lang="en-US" altLang="zh-CN">
                <a:ea typeface="宋体" pitchFamily="2" charset="-122"/>
              </a:rPr>
              <a:t>DISCLAIMER:  The material on this slide is not supported with test bank or study guide questions.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7106"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56462F39-1816-EC42-A056-579C0F53E6A7}"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p:txBody>
          <a:bodyPr anchor="t"/>
          <a:lstStyle/>
          <a:p>
            <a:pPr eaLnBrk="1" hangingPunct="1"/>
            <a:r>
              <a:rPr lang="en-US" altLang="zh-CN">
                <a:ea typeface="宋体" pitchFamily="2" charset="-122"/>
              </a:rPr>
              <a:t>DISCLAIMER:  The material on this slide is not supported with test bank or study guide questions.  </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Source:  http://www.bls.gov</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9154"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494A17C-06E9-784F-B91B-E0D930791D98}"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p:txBody>
          <a:bodyPr anchor="t"/>
          <a:lstStyle/>
          <a:p>
            <a:pPr eaLnBrk="1" hangingPunct="1"/>
            <a:r>
              <a:rPr lang="en-US" altLang="zh-CN">
                <a:ea typeface="宋体" pitchFamily="2" charset="-122"/>
              </a:rPr>
              <a:t>Sources:</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Data on tuition and fees from </a:t>
            </a:r>
            <a:r>
              <a:rPr lang="en-US" altLang="zh-CN" i="1">
                <a:ea typeface="宋体" pitchFamily="2" charset="-122"/>
              </a:rPr>
              <a:t>Trends in College Pricing 2006</a:t>
            </a:r>
            <a:r>
              <a:rPr lang="en-US" altLang="zh-CN">
                <a:ea typeface="宋体" pitchFamily="2" charset="-122"/>
              </a:rPr>
              <a:t>, the College Board, www.collegeboard.com</a:t>
            </a:r>
            <a:endParaRPr lang="en-US" altLang="zh-CN">
              <a:ea typeface="宋体" pitchFamily="2" charset="-122"/>
            </a:endParaRPr>
          </a:p>
          <a:p>
            <a:pPr eaLnBrk="1" hangingPunct="1"/>
            <a:endParaRPr lang="en-US" altLang="zh-CN">
              <a:ea typeface="宋体" pitchFamily="2" charset="-122"/>
            </a:endParaRPr>
          </a:p>
          <a:p>
            <a:pPr eaLnBrk="1" hangingPunct="1"/>
            <a:r>
              <a:rPr lang="en-US" altLang="zh-CN">
                <a:ea typeface="宋体" pitchFamily="2" charset="-122"/>
              </a:rPr>
              <a:t>CPI from BLS.gov.   </a:t>
            </a:r>
            <a:endParaRPr lang="en-US" altLang="zh-CN">
              <a:ea typeface="宋体" pitchFamily="2" charset="-122"/>
            </a:endParaRPr>
          </a:p>
          <a:p>
            <a:pPr eaLnBrk="1" hangingPunct="1"/>
            <a:endParaRPr lang="zh-CN"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F33E6CA-7C85-CD41-A485-382505FD8A63}" type="slidenum">
              <a:rPr kumimoji="0" lang="zh-CN" altLang="zh-CN" sz="12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90204" pitchFamily="34" charset="0"/>
              <a:ea typeface="宋体" pitchFamily="2" charset="-122"/>
              <a:cs typeface="+mn-cs"/>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p:txBody>
          <a:bodyPr anchor="t"/>
          <a:lstStyle/>
          <a:p>
            <a:pPr eaLnBrk="1" hangingPunct="1"/>
            <a:r>
              <a:rPr lang="en-US" altLang="zh-CN">
                <a:ea typeface="宋体" pitchFamily="2" charset="-122"/>
              </a:rPr>
              <a:t>If prices were as high in 1986 as they were in 2006, then tuition &amp; fees in 1986 would have been $2,629, less than half as much as actual tuition &amp; fees in 2006!  Tuition and fees have risen much faster than the overall cost of living.  </a:t>
            </a:r>
            <a:endParaRPr lang="en-US" altLang="zh-CN">
              <a:ea typeface="宋体" pitchFamily="2" charset="-122"/>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幻灯片">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r>
              <a:rPr lang="zh-CN" altLang="en-US"/>
              <a:t>单击此处编辑母版标题样式</a:t>
            </a:r>
            <a:endParaRPr lang="zh-CN" altLang="en-US"/>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r>
              <a:rPr lang="zh-CN" altLang="en-US"/>
              <a:t>单击此处编辑母版副标题样式</a:t>
            </a:r>
            <a:endParaRPr lang="zh-CN" altLang="en-US"/>
          </a:p>
        </p:txBody>
      </p:sp>
      <p:sp>
        <p:nvSpPr>
          <p:cNvPr id="4" name="Holder 4"/>
          <p:cNvSpPr>
            <a:spLocks noGrp="1"/>
          </p:cNvSpPr>
          <p:nvPr>
            <p:ph type="ftr" sz="quarter" idx="5"/>
          </p:nvPr>
        </p:nvSpPr>
        <p:spPr>
          <a:xfrm>
            <a:off x="3569850" y="3347973"/>
            <a:ext cx="603243" cy="179536"/>
          </a:xfrm>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a:t>
            </a:r>
            <a:r>
              <a:rPr lang="en-US" spc="-5" dirty="0"/>
              <a:t>23</a:t>
            </a:r>
            <a:r>
              <a:rPr spc="-5" dirty="0"/>
              <a:t>-</a:t>
            </a:r>
            <a:r>
              <a:rPr lang="en-US" spc="-5" dirty="0"/>
              <a:t>February</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gn="ctr">
              <a:lnSpc>
                <a:spcPts val="700"/>
              </a:lnSpc>
            </a:pPr>
            <a:r>
              <a:rPr lang="en-US" spc="-5" dirty="0" err="1"/>
              <a:t>Macreconomics</a:t>
            </a:r>
            <a:endParaRPr lang="en-US" spc="-5" dirty="0"/>
          </a:p>
        </p:txBody>
      </p:sp>
      <p:sp>
        <p:nvSpPr>
          <p:cNvPr id="6" name="Holder 6"/>
          <p:cNvSpPr>
            <a:spLocks noGrp="1"/>
          </p:cNvSpPr>
          <p:nvPr>
            <p:ph type="sldNum" sz="quarter" idx="7"/>
          </p:nvPr>
        </p:nvSpPr>
        <p:spPr>
          <a:xfrm>
            <a:off x="4173093" y="3347973"/>
            <a:ext cx="379858" cy="101600"/>
          </a:xfrm>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Holder 2"/>
          <p:cNvSpPr>
            <a:spLocks noGrp="1"/>
          </p:cNvSpPr>
          <p:nvPr>
            <p:ph type="title"/>
          </p:nvPr>
        </p:nvSpPr>
        <p:spPr>
          <a:xfrm>
            <a:off x="95502" y="244221"/>
            <a:ext cx="4419094" cy="184666"/>
          </a:xfrm>
        </p:spPr>
        <p:txBody>
          <a:bodyPr lIns="0" tIns="0" rIns="0" bIns="0"/>
          <a:lstStyle>
            <a:lvl1pPr>
              <a:defRPr sz="1200" b="1" i="0">
                <a:solidFill>
                  <a:srgbClr val="CC0000"/>
                </a:solidFill>
                <a:latin typeface="Garamond" panose="02020404030301010803" pitchFamily="18" charset="0"/>
                <a:ea typeface="宋体" panose="02010600030101010101" pitchFamily="2" charset="-122"/>
                <a:cs typeface="Times New Roman" panose="02020503050405090304"/>
              </a:defRPr>
            </a:lvl1pPr>
          </a:lstStyle>
          <a:p>
            <a:r>
              <a:rPr lang="zh-CN" altLang="en-US"/>
              <a:t>单击此处编辑母版标题样式</a:t>
            </a:r>
            <a:endParaRPr lang="zh-CN" altLang="en-US"/>
          </a:p>
        </p:txBody>
      </p:sp>
      <p:sp>
        <p:nvSpPr>
          <p:cNvPr id="3" name="Holder 3"/>
          <p:cNvSpPr>
            <a:spLocks noGrp="1"/>
          </p:cNvSpPr>
          <p:nvPr>
            <p:ph type="body" idx="1"/>
          </p:nvPr>
        </p:nvSpPr>
        <p:spPr>
          <a:xfrm>
            <a:off x="124842" y="777113"/>
            <a:ext cx="4360415" cy="153888"/>
          </a:xfrm>
        </p:spPr>
        <p:txBody>
          <a:bodyPr lIns="0" tIns="0" rIns="0" bIns="0"/>
          <a:lstStyle>
            <a:lvl1pPr>
              <a:defRPr sz="1000" b="0" i="0">
                <a:solidFill>
                  <a:schemeClr val="tx1"/>
                </a:solidFill>
                <a:latin typeface="Garamond" panose="02020404030301010803" pitchFamily="18" charset="0"/>
                <a:ea typeface="宋体" panose="02010600030101010101" pitchFamily="2" charset="-122"/>
                <a:cs typeface="Times New Roman" panose="02020503050405090304"/>
              </a:defRPr>
            </a:lvl1pPr>
          </a:lstStyle>
          <a:p>
            <a:pPr lvl="0"/>
            <a:r>
              <a:rPr lang="zh-CN" altLang="en-US"/>
              <a:t>单击此处编辑母版文本样式</a:t>
            </a:r>
            <a:endParaRPr lang="zh-CN" altLang="en-US"/>
          </a:p>
        </p:txBody>
      </p:sp>
      <p:sp>
        <p:nvSpPr>
          <p:cNvPr id="4" name="Holder 4"/>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6" name="Holder 6"/>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2" name="Holder 2"/>
          <p:cNvSpPr>
            <a:spLocks noGrp="1"/>
          </p:cNvSpPr>
          <p:nvPr>
            <p:ph type="title"/>
          </p:nvPr>
        </p:nvSpPr>
        <p:spPr/>
        <p:txBody>
          <a:bodyPr lIns="0" tIns="0" rIns="0" bIns="0"/>
          <a:lstStyle>
            <a:lvl1pPr>
              <a:defRPr sz="1200" b="1" i="0">
                <a:solidFill>
                  <a:srgbClr val="CC0000"/>
                </a:solidFill>
                <a:latin typeface="Times New Roman" panose="02020503050405090304"/>
                <a:cs typeface="Times New Roman" panose="02020503050405090304"/>
              </a:defRPr>
            </a:lvl1pPr>
          </a:lstStyle>
          <a:p>
            <a:r>
              <a:rPr lang="zh-CN" altLang="en-US"/>
              <a:t>单击此处编辑母版标题样式</a:t>
            </a:r>
            <a:endParaRPr lang="zh-CN" altLang="en-US"/>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endParaRPr lang="zh-CN" altLang="en-US"/>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endParaRPr lang="zh-CN" altLang="en-US"/>
          </a:p>
        </p:txBody>
      </p:sp>
      <p:sp>
        <p:nvSpPr>
          <p:cNvPr id="5" name="Holder 5"/>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6" name="Holder 6"/>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7" name="Holder 7"/>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仅标题">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rgbClr val="CC0000"/>
                </a:solidFill>
                <a:latin typeface="Times New Roman" panose="02020503050405090304"/>
                <a:cs typeface="Times New Roman" panose="02020503050405090304"/>
              </a:defRPr>
            </a:lvl1pPr>
          </a:lstStyle>
          <a:p>
            <a:r>
              <a:rPr lang="zh-CN" altLang="en-US"/>
              <a:t>单击此处编辑母版标题样式</a:t>
            </a:r>
            <a:endParaRPr lang="zh-CN" altLang="en-US"/>
          </a:p>
        </p:txBody>
      </p:sp>
      <p:sp>
        <p:nvSpPr>
          <p:cNvPr id="3" name="Holder 3"/>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4" name="Holder 4"/>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5" name="Holder 5"/>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空白">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p:txBody>
      </p:sp>
      <p:sp>
        <p:nvSpPr>
          <p:cNvPr id="2" name="Holder 2"/>
          <p:cNvSpPr>
            <a:spLocks noGrp="1"/>
          </p:cNvSpPr>
          <p:nvPr>
            <p:ph type="ftr" sz="quarter" idx="5"/>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2014-October</a:t>
            </a:r>
            <a:endParaRPr spc="-5" dirty="0"/>
          </a:p>
        </p:txBody>
      </p:sp>
      <p:sp>
        <p:nvSpPr>
          <p:cNvPr id="3" name="Holder 3"/>
          <p:cNvSpPr>
            <a:spLocks noGrp="1"/>
          </p:cNvSpPr>
          <p:nvPr>
            <p:ph type="dt" sz="half" idx="6"/>
          </p:nvPr>
        </p:nvSpPr>
        <p:spPr/>
        <p:txBody>
          <a:bodyPr lIns="0" tIns="0" rIns="0" bIns="0"/>
          <a:lstStyle>
            <a:lvl1pPr>
              <a:defRPr sz="600" b="0" i="0">
                <a:solidFill>
                  <a:srgbClr val="8E0000"/>
                </a:solidFill>
                <a:latin typeface="Times New Roman" panose="02020503050405090304"/>
                <a:cs typeface="Times New Roman" panose="02020503050405090304"/>
              </a:defRPr>
            </a:lvl1pPr>
          </a:lstStyle>
          <a:p>
            <a:pPr marL="12700">
              <a:lnSpc>
                <a:spcPts val="700"/>
              </a:lnSpc>
            </a:pPr>
            <a:r>
              <a:rPr spc="-5" dirty="0"/>
              <a:t>Econometrics</a:t>
            </a:r>
            <a:r>
              <a:rPr spc="-70" dirty="0"/>
              <a:t> </a:t>
            </a:r>
            <a:r>
              <a:rPr spc="-5" dirty="0"/>
              <a:t>I</a:t>
            </a:r>
            <a:endParaRPr spc="-5" dirty="0"/>
          </a:p>
        </p:txBody>
      </p:sp>
      <p:sp>
        <p:nvSpPr>
          <p:cNvPr id="4" name="Holder 4"/>
          <p:cNvSpPr>
            <a:spLocks noGrp="1"/>
          </p:cNvSpPr>
          <p:nvPr>
            <p:ph type="sldNum" sz="quarter" idx="7"/>
          </p:nvPr>
        </p:nvSpPr>
        <p:spPr/>
        <p:txBody>
          <a:bodyPr lIns="0" tIns="0" rIns="0" bIns="0"/>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showMasterPhAnim="0">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pPr algn="ctr">
              <a:spcBef>
                <a:spcPct val="50000"/>
              </a:spcBef>
            </a:pPr>
            <a:r>
              <a:rPr lang="en-US" altLang="zh-CN" sz="805" i="1">
                <a:solidFill>
                  <a:srgbClr val="969696"/>
                </a:solidFill>
                <a:latin typeface="Times New Roman" panose="02020503050405090304" pitchFamily="18" charset="0"/>
                <a:ea typeface="宋体" pitchFamily="2" charset="-122"/>
              </a:rPr>
              <a:t>© 2009 South-Western, a part of Cengage Learning, all rights reserved</a:t>
            </a:r>
            <a:endParaRPr lang="en-US" altLang="zh-CN" sz="805" i="1">
              <a:solidFill>
                <a:srgbClr val="969696"/>
              </a:solidFill>
              <a:latin typeface="Times New Roman" panose="02020503050405090304" pitchFamily="18" charset="0"/>
              <a:ea typeface="宋体" pitchFamily="2" charset="-122"/>
            </a:endParaRPr>
          </a:p>
        </p:txBody>
      </p:sp>
      <p:sp>
        <p:nvSpPr>
          <p:cNvPr id="2052" name="Rectangle 4"/>
          <p:cNvSpPr>
            <a:spLocks noGrp="1" noChangeArrowheads="1"/>
          </p:cNvSpPr>
          <p:nvPr>
            <p:ph type="subTitle" idx="1" hasCustomPrompt="1"/>
          </p:nvPr>
        </p:nvSpPr>
        <p:spPr>
          <a:xfrm>
            <a:off x="1002056" y="65690"/>
            <a:ext cx="614680" cy="499886"/>
          </a:xfrm>
        </p:spPr>
        <p:txBody>
          <a:bodyPr/>
          <a:lstStyle>
            <a:lvl1pPr marL="0" indent="0" algn="ctr">
              <a:buFont typeface="Wingdings" panose="05000000000000000000" pitchFamily="2" charset="2"/>
              <a:buNone/>
              <a:defRPr sz="2925" i="1">
                <a:solidFill>
                  <a:srgbClr val="008080"/>
                </a:solidFill>
                <a:latin typeface="Tahoma" panose="020B0604030504040204" pitchFamily="34" charset="0"/>
              </a:defRPr>
            </a:lvl1pPr>
          </a:lstStyle>
          <a:p>
            <a:pPr lvl="0"/>
            <a:r>
              <a:rPr lang="en-US" altLang="zh-CN" noProof="0"/>
              <a:t>34</a:t>
            </a:r>
            <a:endParaRPr lang="en-US" altLang="zh-CN" noProof="0"/>
          </a:p>
        </p:txBody>
      </p:sp>
      <p:sp>
        <p:nvSpPr>
          <p:cNvPr id="2053" name="TextBox 6"/>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fontAlgn="base">
              <a:spcBef>
                <a:spcPct val="0"/>
              </a:spcBef>
              <a:spcAft>
                <a:spcPct val="0"/>
              </a:spcAft>
              <a:defRPr>
                <a:solidFill>
                  <a:schemeClr val="tx1"/>
                </a:solidFill>
                <a:latin typeface="Arial" panose="020B0604020202090204" pitchFamily="34" charset="0"/>
              </a:defRPr>
            </a:lvl6pPr>
            <a:lvl7pPr marL="2971800" indent="-228600" fontAlgn="base">
              <a:spcBef>
                <a:spcPct val="0"/>
              </a:spcBef>
              <a:spcAft>
                <a:spcPct val="0"/>
              </a:spcAft>
              <a:defRPr>
                <a:solidFill>
                  <a:schemeClr val="tx1"/>
                </a:solidFill>
                <a:latin typeface="Arial" panose="020B0604020202090204" pitchFamily="34" charset="0"/>
              </a:defRPr>
            </a:lvl7pPr>
            <a:lvl8pPr marL="3429000" indent="-228600" fontAlgn="base">
              <a:spcBef>
                <a:spcPct val="0"/>
              </a:spcBef>
              <a:spcAft>
                <a:spcPct val="0"/>
              </a:spcAft>
              <a:defRPr>
                <a:solidFill>
                  <a:schemeClr val="tx1"/>
                </a:solidFill>
                <a:latin typeface="Arial" panose="020B0604020202090204" pitchFamily="34" charset="0"/>
              </a:defRPr>
            </a:lvl8pPr>
            <a:lvl9pPr marL="3886200" indent="-228600" fontAlgn="base">
              <a:spcBef>
                <a:spcPct val="0"/>
              </a:spcBef>
              <a:spcAft>
                <a:spcPct val="0"/>
              </a:spcAft>
              <a:defRPr>
                <a:solidFill>
                  <a:schemeClr val="tx1"/>
                </a:solidFill>
                <a:latin typeface="Arial" panose="020B0604020202090204" pitchFamily="34" charset="0"/>
              </a:defRPr>
            </a:lvl9pPr>
          </a:lstStyle>
          <a:p>
            <a:r>
              <a:rPr lang="en-US" altLang="zh-CN" sz="1110">
                <a:solidFill>
                  <a:srgbClr val="008080"/>
                </a:solidFill>
                <a:latin typeface="Tahoma" panose="020B0604030504040204" pitchFamily="34" charset="0"/>
                <a:ea typeface="宋体" pitchFamily="2" charset="-122"/>
              </a:rPr>
              <a:t>C H A P T E R</a:t>
            </a:r>
            <a:endParaRPr lang="en-US" altLang="zh-CN" sz="1110">
              <a:solidFill>
                <a:srgbClr val="008080"/>
              </a:solidFill>
              <a:latin typeface="Tahoma" panose="020B0604030504040204" pitchFamily="34" charset="0"/>
              <a:ea typeface="宋体"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FF75CA96-F32A-7F4F-98C9-CA940BD9BB90}" type="slidenum">
              <a:rPr lang="zh-CN"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4BC52F8A-5993-F941-9059-8758F3FCE6C7}" type="slidenum">
              <a:rPr lang="zh-CN"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6" name="灯片编号占位符 5"/>
          <p:cNvSpPr>
            <a:spLocks noGrp="1"/>
          </p:cNvSpPr>
          <p:nvPr>
            <p:ph type="sldNum" sz="quarter" idx="11"/>
          </p:nvPr>
        </p:nvSpPr>
        <p:spPr/>
        <p:txBody>
          <a:bodyPr/>
          <a:lstStyle>
            <a:lvl1pPr>
              <a:defRPr/>
            </a:lvl1pPr>
          </a:lstStyle>
          <a:p>
            <a:fld id="{AE84F7AA-C74F-4642-B3C6-9CC2F1DD8A1E}" type="slidenum">
              <a:rPr lang="zh-CN"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页脚占位符 6"/>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8" name="灯片编号占位符 7"/>
          <p:cNvSpPr>
            <a:spLocks noGrp="1"/>
          </p:cNvSpPr>
          <p:nvPr>
            <p:ph type="sldNum" sz="quarter" idx="11"/>
          </p:nvPr>
        </p:nvSpPr>
        <p:spPr/>
        <p:txBody>
          <a:bodyPr/>
          <a:lstStyle>
            <a:lvl1pPr>
              <a:defRPr/>
            </a:lvl1pPr>
          </a:lstStyle>
          <a:p>
            <a:fld id="{97981451-FC73-D44F-A0E8-CF0A9828A28E}" type="slidenum">
              <a:rPr lang="zh-CN"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4" name="灯片编号占位符 3"/>
          <p:cNvSpPr>
            <a:spLocks noGrp="1"/>
          </p:cNvSpPr>
          <p:nvPr>
            <p:ph type="sldNum" sz="quarter" idx="11"/>
          </p:nvPr>
        </p:nvSpPr>
        <p:spPr/>
        <p:txBody>
          <a:bodyPr/>
          <a:lstStyle>
            <a:lvl1pPr>
              <a:defRPr/>
            </a:lvl1pPr>
          </a:lstStyle>
          <a:p>
            <a:fld id="{E81E734D-8C0F-6D40-9298-031592D104B3}" type="slidenum">
              <a:rPr lang="zh-CN"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3" name="灯片编号占位符 2"/>
          <p:cNvSpPr>
            <a:spLocks noGrp="1"/>
          </p:cNvSpPr>
          <p:nvPr>
            <p:ph type="sldNum" sz="quarter" idx="11"/>
          </p:nvPr>
        </p:nvSpPr>
        <p:spPr/>
        <p:txBody>
          <a:bodyPr/>
          <a:lstStyle>
            <a:lvl1pPr>
              <a:defRPr/>
            </a:lvl1pPr>
          </a:lstStyle>
          <a:p>
            <a:fld id="{8FC9ECCE-9A67-6F4D-96F4-AF59AF685F27}" type="slidenum">
              <a:rPr lang="zh-CN"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6" name="灯片编号占位符 5"/>
          <p:cNvSpPr>
            <a:spLocks noGrp="1"/>
          </p:cNvSpPr>
          <p:nvPr>
            <p:ph type="sldNum" sz="quarter" idx="11"/>
          </p:nvPr>
        </p:nvSpPr>
        <p:spPr/>
        <p:txBody>
          <a:bodyPr/>
          <a:lstStyle>
            <a:lvl1pPr>
              <a:defRPr/>
            </a:lvl1pPr>
          </a:lstStyle>
          <a:p>
            <a:fld id="{F4D19EBE-0DD8-064C-BD84-2B44820FB47D}" type="slidenum">
              <a:rPr lang="zh-CN"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6" name="灯片编号占位符 5"/>
          <p:cNvSpPr>
            <a:spLocks noGrp="1"/>
          </p:cNvSpPr>
          <p:nvPr>
            <p:ph type="sldNum" sz="quarter" idx="11"/>
          </p:nvPr>
        </p:nvSpPr>
        <p:spPr/>
        <p:txBody>
          <a:bodyPr/>
          <a:lstStyle>
            <a:lvl1pPr>
              <a:defRPr/>
            </a:lvl1pPr>
          </a:lstStyle>
          <a:p>
            <a:fld id="{0CA6175B-25A3-0348-9995-252FAA117B57}" type="slidenum">
              <a:rPr lang="zh-CN"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87C2A238-9660-194D-A420-58FAEDDE43DF}" type="slidenum">
              <a:rPr lang="zh-CN"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一国收入的衡量</a:t>
            </a:r>
            <a:endParaRPr lang="zh-CN" altLang="zh-CN"/>
          </a:p>
        </p:txBody>
      </p:sp>
      <p:sp>
        <p:nvSpPr>
          <p:cNvPr id="5" name="灯片编号占位符 4"/>
          <p:cNvSpPr>
            <a:spLocks noGrp="1"/>
          </p:cNvSpPr>
          <p:nvPr>
            <p:ph type="sldNum" sz="quarter" idx="11"/>
          </p:nvPr>
        </p:nvSpPr>
        <p:spPr/>
        <p:txBody>
          <a:bodyPr/>
          <a:lstStyle>
            <a:lvl1pPr>
              <a:defRPr/>
            </a:lvl1pPr>
          </a:lstStyle>
          <a:p>
            <a:fld id="{BB8105D9-7A7C-6B49-807E-0CBDD1F99FD3}" type="slidenum">
              <a:rPr lang="zh-CN"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endParaRPr lang="zh-CN" altLang="en-US"/>
          </a:p>
        </p:txBody>
      </p:sp>
      <p:sp>
        <p:nvSpPr>
          <p:cNvPr id="3" name="副标题 2"/>
          <p:cNvSpPr>
            <a:spLocks noGrp="1"/>
          </p:cNvSpPr>
          <p:nvPr>
            <p:ph type="subTitle" idx="1"/>
          </p:nvPr>
        </p:nvSpPr>
        <p:spPr>
          <a:xfrm>
            <a:off x="576263" y="1817695"/>
            <a:ext cx="3457575" cy="835547"/>
          </a:xfrm>
        </p:spPr>
        <p:txBody>
          <a:bodyPr/>
          <a:lstStyle>
            <a:lvl1pPr marL="0" indent="0" algn="ctr">
              <a:buNone/>
              <a:defRPr sz="1210"/>
            </a:lvl1pPr>
            <a:lvl2pPr marL="230505" indent="0" algn="ctr">
              <a:buNone/>
              <a:defRPr sz="1010"/>
            </a:lvl2pPr>
            <a:lvl3pPr marL="461010" indent="0" algn="ctr">
              <a:buNone/>
              <a:defRPr sz="910"/>
            </a:lvl3pPr>
            <a:lvl4pPr marL="691515" indent="0" algn="ctr">
              <a:buNone/>
              <a:defRPr sz="805"/>
            </a:lvl4pPr>
            <a:lvl5pPr marL="922020" indent="0" algn="ctr">
              <a:buNone/>
              <a:defRPr sz="805"/>
            </a:lvl5pPr>
            <a:lvl6pPr marL="1152525" indent="0" algn="ctr">
              <a:buNone/>
              <a:defRPr sz="805"/>
            </a:lvl6pPr>
            <a:lvl7pPr marL="1383030" indent="0" algn="ctr">
              <a:buNone/>
              <a:defRPr sz="805"/>
            </a:lvl7pPr>
            <a:lvl8pPr marL="1613535" indent="0" algn="ctr">
              <a:buNone/>
              <a:defRPr sz="805"/>
            </a:lvl8pPr>
            <a:lvl9pPr marL="1844040" indent="0" algn="ctr">
              <a:buNone/>
              <a:defRPr sz="805"/>
            </a:lvl9pPr>
          </a:lstStyle>
          <a:p>
            <a:r>
              <a:rPr lang="zh-CN" altLang="en-US"/>
              <a:t>单击此处编辑母版副标题样式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endParaRPr lang="zh-CN" altLang="en-US"/>
          </a:p>
        </p:txBody>
      </p:sp>
      <p:sp>
        <p:nvSpPr>
          <p:cNvPr id="3" name="副标题 2"/>
          <p:cNvSpPr>
            <a:spLocks noGrp="1"/>
          </p:cNvSpPr>
          <p:nvPr>
            <p:ph type="subTitle" idx="1"/>
          </p:nvPr>
        </p:nvSpPr>
        <p:spPr>
          <a:xfrm>
            <a:off x="576263" y="1817695"/>
            <a:ext cx="3457575" cy="835547"/>
          </a:xfrm>
        </p:spPr>
        <p:txBody>
          <a:bodyPr/>
          <a:lstStyle>
            <a:lvl1pPr marL="0" indent="0" algn="ctr">
              <a:buNone/>
              <a:defRPr sz="1210"/>
            </a:lvl1pPr>
            <a:lvl2pPr marL="230505" indent="0" algn="ctr">
              <a:buNone/>
              <a:defRPr sz="1010"/>
            </a:lvl2pPr>
            <a:lvl3pPr marL="461010" indent="0" algn="ctr">
              <a:buNone/>
              <a:defRPr sz="910"/>
            </a:lvl3pPr>
            <a:lvl4pPr marL="691515" indent="0" algn="ctr">
              <a:buNone/>
              <a:defRPr sz="805"/>
            </a:lvl4pPr>
            <a:lvl5pPr marL="922020" indent="0" algn="ctr">
              <a:buNone/>
              <a:defRPr sz="805"/>
            </a:lvl5pPr>
            <a:lvl6pPr marL="1152525" indent="0" algn="ctr">
              <a:buNone/>
              <a:defRPr sz="805"/>
            </a:lvl6pPr>
            <a:lvl7pPr marL="1383030" indent="0" algn="ctr">
              <a:buNone/>
              <a:defRPr sz="805"/>
            </a:lvl7pPr>
            <a:lvl8pPr marL="1613535" indent="0" algn="ctr">
              <a:buNone/>
              <a:defRPr sz="805"/>
            </a:lvl8pPr>
            <a:lvl9pPr marL="1844040" indent="0" algn="ctr">
              <a:buNone/>
              <a:defRPr sz="805"/>
            </a:lvl9pPr>
          </a:lstStyle>
          <a:p>
            <a:r>
              <a:rPr lang="zh-CN" altLang="en-US"/>
              <a:t>单击此处编辑母版副标题样式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E77CCB4B-E2D9-3A4A-A6BD-2C4CD873DC31}" type="slidenum">
              <a:rPr lang="zh-CN" altLang="zh-CN"/>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D0AF8388-590D-5544-BA51-2E0AA1E4222F}" type="slidenum">
              <a:rPr lang="zh-CN" altLang="zh-CN"/>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314544" y="2315979"/>
            <a:ext cx="3976211" cy="757039"/>
          </a:xfrm>
        </p:spPr>
        <p:txBody>
          <a:bodyPr/>
          <a:lstStyle>
            <a:lvl1pPr marL="0" indent="0">
              <a:buNone/>
              <a:defRPr sz="1210"/>
            </a:lvl1pPr>
            <a:lvl2pPr marL="230505" indent="0">
              <a:buNone/>
              <a:defRPr sz="1010"/>
            </a:lvl2pPr>
            <a:lvl3pPr marL="461010" indent="0">
              <a:buNone/>
              <a:defRPr sz="910"/>
            </a:lvl3pPr>
            <a:lvl4pPr marL="691515" indent="0">
              <a:buNone/>
              <a:defRPr sz="805"/>
            </a:lvl4pPr>
            <a:lvl5pPr marL="922020" indent="0">
              <a:buNone/>
              <a:defRPr sz="805"/>
            </a:lvl5pPr>
            <a:lvl6pPr marL="1152525" indent="0">
              <a:buNone/>
              <a:defRPr sz="805"/>
            </a:lvl6pPr>
            <a:lvl7pPr marL="1383030" indent="0">
              <a:buNone/>
              <a:defRPr sz="805"/>
            </a:lvl7pPr>
            <a:lvl8pPr marL="1613535" indent="0">
              <a:buNone/>
              <a:defRPr sz="805"/>
            </a:lvl8pPr>
            <a:lvl9pPr marL="1844040" indent="0">
              <a:buNone/>
              <a:defRPr sz="805"/>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8F48CC5D-4DBB-054F-BB91-0B5FDA710E9B}" type="slidenum">
              <a:rPr lang="zh-CN" altLang="zh-CN"/>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88086" y="508698"/>
            <a:ext cx="20569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2321858" y="508698"/>
            <a:ext cx="2057737" cy="25827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6" name="灯片编号占位符 5"/>
          <p:cNvSpPr>
            <a:spLocks noGrp="1"/>
          </p:cNvSpPr>
          <p:nvPr>
            <p:ph type="sldNum" sz="quarter" idx="11"/>
          </p:nvPr>
        </p:nvSpPr>
        <p:spPr/>
        <p:txBody>
          <a:bodyPr/>
          <a:lstStyle>
            <a:lvl1pPr>
              <a:defRPr/>
            </a:lvl1pPr>
          </a:lstStyle>
          <a:p>
            <a:fld id="{8C019746-BD08-8747-84D5-7DDD436B0041}" type="slidenum">
              <a:rPr lang="zh-CN" altLang="zh-CN"/>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17745" y="184253"/>
            <a:ext cx="3976211" cy="668918"/>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317745" y="848365"/>
            <a:ext cx="1950488"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317745" y="1264135"/>
            <a:ext cx="1950488"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2333863" y="848365"/>
            <a:ext cx="1960093" cy="415770"/>
          </a:xfrm>
        </p:spPr>
        <p:txBody>
          <a:bodyPr anchor="b"/>
          <a:lstStyle>
            <a:lvl1pPr marL="0" indent="0">
              <a:buNone/>
              <a:defRPr sz="1210" b="1"/>
            </a:lvl1pPr>
            <a:lvl2pPr marL="230505" indent="0">
              <a:buNone/>
              <a:defRPr sz="1010" b="1"/>
            </a:lvl2pPr>
            <a:lvl3pPr marL="461010" indent="0">
              <a:buNone/>
              <a:defRPr sz="910" b="1"/>
            </a:lvl3pPr>
            <a:lvl4pPr marL="691515" indent="0">
              <a:buNone/>
              <a:defRPr sz="805" b="1"/>
            </a:lvl4pPr>
            <a:lvl5pPr marL="922020" indent="0">
              <a:buNone/>
              <a:defRPr sz="805" b="1"/>
            </a:lvl5pPr>
            <a:lvl6pPr marL="1152525" indent="0">
              <a:buNone/>
              <a:defRPr sz="805" b="1"/>
            </a:lvl6pPr>
            <a:lvl7pPr marL="1383030" indent="0">
              <a:buNone/>
              <a:defRPr sz="805" b="1"/>
            </a:lvl7pPr>
            <a:lvl8pPr marL="1613535" indent="0">
              <a:buNone/>
              <a:defRPr sz="805" b="1"/>
            </a:lvl8pPr>
            <a:lvl9pPr marL="1844040" indent="0">
              <a:buNone/>
              <a:defRPr sz="80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2333863" y="1264135"/>
            <a:ext cx="1960093" cy="185935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页脚占位符 6"/>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8" name="灯片编号占位符 7"/>
          <p:cNvSpPr>
            <a:spLocks noGrp="1"/>
          </p:cNvSpPr>
          <p:nvPr>
            <p:ph type="sldNum" sz="quarter" idx="11"/>
          </p:nvPr>
        </p:nvSpPr>
        <p:spPr/>
        <p:txBody>
          <a:bodyPr/>
          <a:lstStyle>
            <a:lvl1pPr>
              <a:defRPr/>
            </a:lvl1pPr>
          </a:lstStyle>
          <a:p>
            <a:fld id="{3E524CE4-D4D3-7C45-A556-874CE046BFC4}" type="slidenum">
              <a:rPr lang="zh-CN" altLang="zh-CN"/>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4" name="灯片编号占位符 3"/>
          <p:cNvSpPr>
            <a:spLocks noGrp="1"/>
          </p:cNvSpPr>
          <p:nvPr>
            <p:ph type="sldNum" sz="quarter" idx="11"/>
          </p:nvPr>
        </p:nvSpPr>
        <p:spPr/>
        <p:txBody>
          <a:bodyPr/>
          <a:lstStyle>
            <a:lvl1pPr>
              <a:defRPr/>
            </a:lvl1pPr>
          </a:lstStyle>
          <a:p>
            <a:fld id="{D38FD99F-3486-9049-BE4B-55AEF4F9BB20}" type="slidenum">
              <a:rPr lang="zh-CN" altLang="zh-CN"/>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3" name="灯片编号占位符 2"/>
          <p:cNvSpPr>
            <a:spLocks noGrp="1"/>
          </p:cNvSpPr>
          <p:nvPr>
            <p:ph type="sldNum" sz="quarter" idx="11"/>
          </p:nvPr>
        </p:nvSpPr>
        <p:spPr/>
        <p:txBody>
          <a:bodyPr/>
          <a:lstStyle>
            <a:lvl1pPr>
              <a:defRPr/>
            </a:lvl1pPr>
          </a:lstStyle>
          <a:p>
            <a:fld id="{EAD2A00F-3126-DD4B-82C2-10BEB7EF7B41}" type="slidenum">
              <a:rPr lang="zh-CN" altLang="zh-CN"/>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内容占位符 2"/>
          <p:cNvSpPr>
            <a:spLocks noGrp="1"/>
          </p:cNvSpPr>
          <p:nvPr>
            <p:ph idx="1"/>
          </p:nvPr>
        </p:nvSpPr>
        <p:spPr>
          <a:xfrm>
            <a:off x="1960093" y="498284"/>
            <a:ext cx="2333863" cy="2459376"/>
          </a:xfrm>
        </p:spPr>
        <p:txBody>
          <a:bodyPr/>
          <a:lstStyle>
            <a:lvl1pPr>
              <a:defRPr sz="1615"/>
            </a:lvl1pPr>
            <a:lvl2pPr>
              <a:defRPr sz="1410"/>
            </a:lvl2pPr>
            <a:lvl3pPr>
              <a:defRPr sz="1210"/>
            </a:lvl3pPr>
            <a:lvl4pPr>
              <a:defRPr sz="1010"/>
            </a:lvl4pPr>
            <a:lvl5pPr>
              <a:defRPr sz="1010"/>
            </a:lvl5pPr>
            <a:lvl6pPr>
              <a:defRPr sz="1010"/>
            </a:lvl6pPr>
            <a:lvl7pPr>
              <a:defRPr sz="1010"/>
            </a:lvl7pPr>
            <a:lvl8pPr>
              <a:defRPr sz="1010"/>
            </a:lvl8pPr>
            <a:lvl9pPr>
              <a:defRPr sz="101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6" name="灯片编号占位符 5"/>
          <p:cNvSpPr>
            <a:spLocks noGrp="1"/>
          </p:cNvSpPr>
          <p:nvPr>
            <p:ph type="sldNum" sz="quarter" idx="11"/>
          </p:nvPr>
        </p:nvSpPr>
        <p:spPr/>
        <p:txBody>
          <a:bodyPr/>
          <a:lstStyle>
            <a:lvl1pPr>
              <a:defRPr/>
            </a:lvl1pPr>
          </a:lstStyle>
          <a:p>
            <a:fld id="{A03B7D81-BB90-0947-B5D0-55F35EC80EB2}" type="slidenum">
              <a:rPr lang="zh-CN" altLang="zh-CN"/>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745" y="230717"/>
            <a:ext cx="1487077" cy="807508"/>
          </a:xfrm>
        </p:spPr>
        <p:txBody>
          <a:bodyPr anchor="b"/>
          <a:lstStyle>
            <a:lvl1pPr>
              <a:defRPr sz="1615"/>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60093" y="498284"/>
            <a:ext cx="2333863" cy="2459376"/>
          </a:xfrm>
        </p:spPr>
        <p:txBody>
          <a:bodyPr/>
          <a:lstStyle>
            <a:lvl1pPr marL="0" indent="0">
              <a:buNone/>
              <a:defRPr sz="1615"/>
            </a:lvl1pPr>
            <a:lvl2pPr marL="230505" indent="0">
              <a:buNone/>
              <a:defRPr sz="1410"/>
            </a:lvl2pPr>
            <a:lvl3pPr marL="461010" indent="0">
              <a:buNone/>
              <a:defRPr sz="1210"/>
            </a:lvl3pPr>
            <a:lvl4pPr marL="691515" indent="0">
              <a:buNone/>
              <a:defRPr sz="1010"/>
            </a:lvl4pPr>
            <a:lvl5pPr marL="922020" indent="0">
              <a:buNone/>
              <a:defRPr sz="1010"/>
            </a:lvl5pPr>
            <a:lvl6pPr marL="1152525" indent="0">
              <a:buNone/>
              <a:defRPr sz="1010"/>
            </a:lvl6pPr>
            <a:lvl7pPr marL="1383030" indent="0">
              <a:buNone/>
              <a:defRPr sz="1010"/>
            </a:lvl7pPr>
            <a:lvl8pPr marL="1613535" indent="0">
              <a:buNone/>
              <a:defRPr sz="1010"/>
            </a:lvl8pPr>
            <a:lvl9pPr marL="1844040" indent="0">
              <a:buNone/>
              <a:defRPr sz="1010"/>
            </a:lvl9pPr>
          </a:lstStyle>
          <a:p>
            <a:endParaRPr lang="zh-CN" altLang="en-US"/>
          </a:p>
        </p:txBody>
      </p:sp>
      <p:sp>
        <p:nvSpPr>
          <p:cNvPr id="4" name="文本占位符 3"/>
          <p:cNvSpPr>
            <a:spLocks noGrp="1"/>
          </p:cNvSpPr>
          <p:nvPr>
            <p:ph type="body" sz="half" idx="2"/>
          </p:nvPr>
        </p:nvSpPr>
        <p:spPr>
          <a:xfrm>
            <a:off x="317745" y="1038225"/>
            <a:ext cx="1487077" cy="1923440"/>
          </a:xfrm>
        </p:spPr>
        <p:txBody>
          <a:bodyPr/>
          <a:lstStyle>
            <a:lvl1pPr marL="0" indent="0">
              <a:buNone/>
              <a:defRPr sz="805"/>
            </a:lvl1pPr>
            <a:lvl2pPr marL="230505" indent="0">
              <a:buNone/>
              <a:defRPr sz="705"/>
            </a:lvl2pPr>
            <a:lvl3pPr marL="461010" indent="0">
              <a:buNone/>
              <a:defRPr sz="605"/>
            </a:lvl3pPr>
            <a:lvl4pPr marL="691515" indent="0">
              <a:buNone/>
              <a:defRPr sz="505"/>
            </a:lvl4pPr>
            <a:lvl5pPr marL="922020" indent="0">
              <a:buNone/>
              <a:defRPr sz="505"/>
            </a:lvl5pPr>
            <a:lvl6pPr marL="1152525" indent="0">
              <a:buNone/>
              <a:defRPr sz="505"/>
            </a:lvl6pPr>
            <a:lvl7pPr marL="1383030" indent="0">
              <a:buNone/>
              <a:defRPr sz="505"/>
            </a:lvl7pPr>
            <a:lvl8pPr marL="1613535" indent="0">
              <a:buNone/>
              <a:defRPr sz="505"/>
            </a:lvl8pPr>
            <a:lvl9pPr marL="1844040" indent="0">
              <a:buNone/>
              <a:defRPr sz="505"/>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6" name="灯片编号占位符 5"/>
          <p:cNvSpPr>
            <a:spLocks noGrp="1"/>
          </p:cNvSpPr>
          <p:nvPr>
            <p:ph type="sldNum" sz="quarter" idx="11"/>
          </p:nvPr>
        </p:nvSpPr>
        <p:spPr/>
        <p:txBody>
          <a:bodyPr/>
          <a:lstStyle>
            <a:lvl1pPr>
              <a:defRPr/>
            </a:lvl1pPr>
          </a:lstStyle>
          <a:p>
            <a:fld id="{E7CBFEAC-A4C7-8C41-94E9-893F56F0A61D}" type="slidenum">
              <a:rPr lang="zh-CN" altLang="zh-CN"/>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696BD5E4-A9C4-1D46-BE6B-B0C64B4E3D02}" type="slidenum">
              <a:rPr lang="zh-CN" altLang="zh-CN"/>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353527" y="127375"/>
            <a:ext cx="1059683" cy="296406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72879" y="127375"/>
            <a:ext cx="3103814" cy="296406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页脚占位符 3"/>
          <p:cNvSpPr>
            <a:spLocks noGrp="1"/>
          </p:cNvSpPr>
          <p:nvPr>
            <p:ph type="ftr" sz="quarter" idx="10"/>
          </p:nvPr>
        </p:nvSpPr>
        <p:spPr/>
        <p:txBody>
          <a:bodyPr/>
          <a:lstStyle>
            <a:lvl1pPr>
              <a:defRPr/>
            </a:lvl1pPr>
          </a:lstStyle>
          <a:p>
            <a:r>
              <a:rPr lang="zh-CN" altLang="zh-CN"/>
              <a:t>生活费用的衡量</a:t>
            </a:r>
            <a:endParaRPr lang="zh-CN" altLang="zh-CN"/>
          </a:p>
        </p:txBody>
      </p:sp>
      <p:sp>
        <p:nvSpPr>
          <p:cNvPr id="5" name="灯片编号占位符 4"/>
          <p:cNvSpPr>
            <a:spLocks noGrp="1"/>
          </p:cNvSpPr>
          <p:nvPr>
            <p:ph type="sldNum" sz="quarter" idx="11"/>
          </p:nvPr>
        </p:nvSpPr>
        <p:spPr/>
        <p:txBody>
          <a:bodyPr/>
          <a:lstStyle>
            <a:lvl1pPr>
              <a:defRPr/>
            </a:lvl1pPr>
          </a:lstStyle>
          <a:p>
            <a:fld id="{6ACBF6CB-DBDA-A840-B3EE-516AA779242A}" type="slidenum">
              <a:rPr lang="zh-CN"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2" Type="http://schemas.openxmlformats.org/officeDocument/2006/relationships/theme" Target="../theme/theme2.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2" Type="http://schemas.openxmlformats.org/officeDocument/2006/relationships/theme" Target="../theme/theme3.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6.xml"/><Relationship Id="rId8" Type="http://schemas.openxmlformats.org/officeDocument/2006/relationships/slideLayout" Target="../slideLayouts/slideLayout35.xml"/><Relationship Id="rId7" Type="http://schemas.openxmlformats.org/officeDocument/2006/relationships/slideLayout" Target="../slideLayouts/slideLayout34.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3" Type="http://schemas.openxmlformats.org/officeDocument/2006/relationships/slideLayout" Target="../slideLayouts/slideLayout30.xml"/><Relationship Id="rId2" Type="http://schemas.openxmlformats.org/officeDocument/2006/relationships/slideLayout" Target="../slideLayouts/slideLayout29.xml"/><Relationship Id="rId12" Type="http://schemas.openxmlformats.org/officeDocument/2006/relationships/theme" Target="../theme/theme4.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p:txBody>
      </p:sp>
      <p:sp>
        <p:nvSpPr>
          <p:cNvPr id="2" name="Holder 2"/>
          <p:cNvSpPr>
            <a:spLocks noGrp="1"/>
          </p:cNvSpPr>
          <p:nvPr>
            <p:ph type="title"/>
          </p:nvPr>
        </p:nvSpPr>
        <p:spPr>
          <a:xfrm>
            <a:off x="95502" y="244221"/>
            <a:ext cx="4419094" cy="184666"/>
          </a:xfrm>
          <a:prstGeom prst="rect">
            <a:avLst/>
          </a:prstGeom>
        </p:spPr>
        <p:txBody>
          <a:bodyPr wrap="square" lIns="0" tIns="0" rIns="0" bIns="0">
            <a:spAutoFit/>
          </a:bodyPr>
          <a:lstStyle>
            <a:lvl1pPr>
              <a:defRPr sz="1200" b="1" i="0">
                <a:solidFill>
                  <a:srgbClr val="CC0000"/>
                </a:solidFill>
                <a:latin typeface="Times New Roman" panose="02020503050405090304"/>
                <a:cs typeface="Times New Roman" panose="02020503050405090304"/>
              </a:defRPr>
            </a:lvl1pPr>
          </a:lstStyle>
          <a:p/>
        </p:txBody>
      </p:sp>
      <p:sp>
        <p:nvSpPr>
          <p:cNvPr id="3" name="Holder 3"/>
          <p:cNvSpPr>
            <a:spLocks noGrp="1"/>
          </p:cNvSpPr>
          <p:nvPr>
            <p:ph type="body" idx="1"/>
          </p:nvPr>
        </p:nvSpPr>
        <p:spPr>
          <a:xfrm>
            <a:off x="124842" y="777113"/>
            <a:ext cx="4360415" cy="153888"/>
          </a:xfrm>
          <a:prstGeom prst="rect">
            <a:avLst/>
          </a:prstGeom>
        </p:spPr>
        <p:txBody>
          <a:bodyPr wrap="square" lIns="0" tIns="0" rIns="0" bIns="0">
            <a:spAutoFit/>
          </a:bodyPr>
          <a:lstStyle>
            <a:lvl1pPr>
              <a:defRPr sz="1000" b="0" i="0">
                <a:solidFill>
                  <a:schemeClr val="tx1"/>
                </a:solidFill>
                <a:latin typeface="Times New Roman" panose="02020503050405090304"/>
                <a:cs typeface="Times New Roman" panose="02020503050405090304"/>
              </a:defRPr>
            </a:lvl1pPr>
          </a:lstStyle>
          <a:p/>
        </p:txBody>
      </p:sp>
      <p:sp>
        <p:nvSpPr>
          <p:cNvPr id="4" name="Holder 4"/>
          <p:cNvSpPr>
            <a:spLocks noGrp="1"/>
          </p:cNvSpPr>
          <p:nvPr>
            <p:ph type="ftr" sz="quarter" idx="5"/>
          </p:nvPr>
        </p:nvSpPr>
        <p:spPr>
          <a:xfrm>
            <a:off x="3724147" y="3347973"/>
            <a:ext cx="448945" cy="89768"/>
          </a:xfrm>
          <a:prstGeom prst="rect">
            <a:avLst/>
          </a:prstGeom>
        </p:spPr>
        <p:txBody>
          <a:bodyPr wrap="square" lIns="0" tIns="0" rIns="0" bIns="0">
            <a:spAutoFit/>
          </a:bodyPr>
          <a:lstStyle>
            <a:lvl1pPr>
              <a:defRPr sz="600" b="0" i="0">
                <a:solidFill>
                  <a:srgbClr val="7A0000"/>
                </a:solidFill>
                <a:latin typeface="Times New Roman" panose="02020503050405090304"/>
                <a:cs typeface="Times New Roman" panose="02020503050405090304"/>
              </a:defRPr>
            </a:lvl1pPr>
          </a:lstStyle>
          <a:p>
            <a:pPr marL="12700">
              <a:lnSpc>
                <a:spcPts val="700"/>
              </a:lnSpc>
            </a:pPr>
            <a:r>
              <a:rPr spc="-5" dirty="0"/>
              <a:t>20</a:t>
            </a:r>
            <a:r>
              <a:rPr lang="en-US" spc="-5" dirty="0"/>
              <a:t>23</a:t>
            </a:r>
            <a:r>
              <a:rPr spc="-5" dirty="0"/>
              <a:t>-</a:t>
            </a:r>
            <a:r>
              <a:rPr lang="en-US" spc="-5" dirty="0"/>
              <a:t>Feb</a:t>
            </a:r>
            <a:endParaRPr spc="-5" dirty="0"/>
          </a:p>
        </p:txBody>
      </p:sp>
      <p:sp>
        <p:nvSpPr>
          <p:cNvPr id="5" name="Holder 5"/>
          <p:cNvSpPr>
            <a:spLocks noGrp="1"/>
          </p:cNvSpPr>
          <p:nvPr>
            <p:ph type="dt" sz="half" idx="6"/>
          </p:nvPr>
        </p:nvSpPr>
        <p:spPr>
          <a:xfrm>
            <a:off x="1945010" y="3347973"/>
            <a:ext cx="603243" cy="89768"/>
          </a:xfrm>
          <a:prstGeom prst="rect">
            <a:avLst/>
          </a:prstGeom>
        </p:spPr>
        <p:txBody>
          <a:bodyPr wrap="square" lIns="0" tIns="0" rIns="0" bIns="0">
            <a:spAutoFit/>
          </a:bodyPr>
          <a:lstStyle>
            <a:lvl1pPr>
              <a:defRPr sz="600" b="0" i="0">
                <a:solidFill>
                  <a:srgbClr val="8E0000"/>
                </a:solidFill>
                <a:latin typeface="Times New Roman" panose="02020503050405090304"/>
                <a:cs typeface="Times New Roman" panose="02020503050405090304"/>
              </a:defRPr>
            </a:lvl1pPr>
          </a:lstStyle>
          <a:p>
            <a:pPr marL="12700" algn="ctr">
              <a:lnSpc>
                <a:spcPts val="700"/>
              </a:lnSpc>
            </a:pPr>
            <a:r>
              <a:rPr lang="en-US" altLang="zh-CN" spc="-5" dirty="0"/>
              <a:t>Macroeconomics</a:t>
            </a:r>
            <a:endParaRPr lang="en-US" spc="-5" dirty="0"/>
          </a:p>
        </p:txBody>
      </p:sp>
      <p:sp>
        <p:nvSpPr>
          <p:cNvPr id="6" name="Holder 6"/>
          <p:cNvSpPr>
            <a:spLocks noGrp="1"/>
          </p:cNvSpPr>
          <p:nvPr>
            <p:ph type="sldNum" sz="quarter" idx="7"/>
          </p:nvPr>
        </p:nvSpPr>
        <p:spPr>
          <a:xfrm>
            <a:off x="4302761" y="3347973"/>
            <a:ext cx="250189" cy="101600"/>
          </a:xfrm>
          <a:prstGeom prst="rect">
            <a:avLst/>
          </a:prstGeom>
        </p:spPr>
        <p:txBody>
          <a:bodyPr wrap="square" lIns="0" tIns="0" rIns="0" bIns="0">
            <a:spAutoFit/>
          </a:bodyPr>
          <a:lstStyle>
            <a:lvl1pPr>
              <a:defRPr sz="600" b="0" i="0">
                <a:solidFill>
                  <a:srgbClr val="7A0000"/>
                </a:solidFill>
                <a:latin typeface="Times New Roman" panose="02020503050405090304"/>
                <a:cs typeface="Times New Roman" panose="02020503050405090304"/>
              </a:defRPr>
            </a:lvl1pPr>
          </a:lstStyle>
          <a:p>
            <a:pPr marL="63500">
              <a:lnSpc>
                <a:spcPts val="700"/>
              </a:lnSpc>
            </a:pPr>
            <a:fld id="{81D60167-4931-47E6-BA6A-407CBD079E47}" type="slidenum">
              <a:rPr spc="-5" dirty="0"/>
            </a:fld>
            <a:r>
              <a:rPr spc="-5" dirty="0"/>
              <a:t> /</a:t>
            </a:r>
            <a:r>
              <a:rPr spc="-80" dirty="0"/>
              <a:t> </a:t>
            </a:r>
            <a:r>
              <a:rPr spc="-5" dirty="0"/>
              <a:t>43</a:t>
            </a:r>
            <a:endParaRPr spc="-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eaLnBrk="1" hangingPunct="1">
        <a:defRPr>
          <a:latin typeface="Garamond" panose="02020404030301010803" pitchFamily="18" charset="0"/>
          <a:ea typeface="宋体" panose="02010600030101010101" pitchFamily="2" charset="-122"/>
          <a:cs typeface="+mj-cs"/>
        </a:defRPr>
      </a:lvl1pPr>
    </p:titleStyle>
    <p:bodyStyle>
      <a:lvl1pPr marL="0" eaLnBrk="1" hangingPunct="1">
        <a:defRPr>
          <a:latin typeface="Garamond" panose="02020404030301010803" pitchFamily="18" charset="0"/>
          <a:ea typeface="宋体" panose="02010600030101010101" pitchFamily="2" charset="-122"/>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endParaRPr lang="zh-CN" altLang="en-US"/>
          </a:p>
        </p:txBody>
      </p:sp>
      <p:sp>
        <p:nvSpPr>
          <p:cNvPr id="1027" name="Rectangle 3"/>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4"/>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i="1">
                <a:solidFill>
                  <a:srgbClr val="777777"/>
                </a:solidFill>
                <a:ea typeface="宋体" pitchFamily="2" charset="-122"/>
              </a:defRPr>
            </a:lvl1pPr>
          </a:lstStyle>
          <a:p>
            <a:r>
              <a:rPr lang="zh-CN" altLang="zh-CN"/>
              <a:t>一国收入的衡量</a:t>
            </a:r>
            <a:endParaRPr lang="zh-CN" altLang="zh-CN"/>
          </a:p>
        </p:txBody>
      </p:sp>
      <p:sp>
        <p:nvSpPr>
          <p:cNvPr id="1029" name="Rectangle 5"/>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855">
                <a:solidFill>
                  <a:srgbClr val="777777"/>
                </a:solidFill>
                <a:ea typeface="宋体" pitchFamily="2" charset="-122"/>
              </a:defRPr>
            </a:lvl1pPr>
          </a:lstStyle>
          <a:p>
            <a:fld id="{F133D32A-41AB-3244-B29B-0A71F7EBCF2E}" type="slidenum">
              <a:rPr lang="zh-CN" altLang="zh-CN"/>
            </a:fld>
            <a:endParaRPr lang="en-US"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ldLvl="4" autoUpdateAnimBg="0" build="p">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5" b="1" kern="1200">
          <a:solidFill>
            <a:srgbClr val="333399"/>
          </a:solidFill>
          <a:latin typeface="+mj-lt"/>
          <a:ea typeface="+mj-ea"/>
          <a:cs typeface="+mj-cs"/>
        </a:defRPr>
      </a:lvl1pPr>
      <a:lvl2pPr algn="ctr" rtl="0" fontAlgn="base">
        <a:spcBef>
          <a:spcPct val="0"/>
        </a:spcBef>
        <a:spcAft>
          <a:spcPct val="0"/>
        </a:spcAft>
        <a:defRPr sz="1915" b="1">
          <a:solidFill>
            <a:srgbClr val="333399"/>
          </a:solidFill>
          <a:latin typeface="Book Antiqua" panose="02040602050305030304" pitchFamily="18" charset="0"/>
        </a:defRPr>
      </a:lvl2pPr>
      <a:lvl3pPr algn="ctr" rtl="0" fontAlgn="base">
        <a:spcBef>
          <a:spcPct val="0"/>
        </a:spcBef>
        <a:spcAft>
          <a:spcPct val="0"/>
        </a:spcAft>
        <a:defRPr sz="1915" b="1">
          <a:solidFill>
            <a:srgbClr val="333399"/>
          </a:solidFill>
          <a:latin typeface="Book Antiqua" panose="02040602050305030304" pitchFamily="18" charset="0"/>
        </a:defRPr>
      </a:lvl3pPr>
      <a:lvl4pPr algn="ctr" rtl="0" fontAlgn="base">
        <a:spcBef>
          <a:spcPct val="0"/>
        </a:spcBef>
        <a:spcAft>
          <a:spcPct val="0"/>
        </a:spcAft>
        <a:defRPr sz="1915" b="1">
          <a:solidFill>
            <a:srgbClr val="333399"/>
          </a:solidFill>
          <a:latin typeface="Book Antiqua" panose="02040602050305030304" pitchFamily="18" charset="0"/>
        </a:defRPr>
      </a:lvl4pPr>
      <a:lvl5pPr algn="ctr" rtl="0" fontAlgn="base">
        <a:spcBef>
          <a:spcPct val="0"/>
        </a:spcBef>
        <a:spcAft>
          <a:spcPct val="0"/>
        </a:spcAft>
        <a:defRPr sz="1915" b="1">
          <a:solidFill>
            <a:srgbClr val="333399"/>
          </a:solidFill>
          <a:latin typeface="Book Antiqua" panose="02040602050305030304" pitchFamily="18" charset="0"/>
        </a:defRPr>
      </a:lvl5pPr>
      <a:lvl6pPr marL="230505" algn="ctr" rtl="0" fontAlgn="base">
        <a:spcBef>
          <a:spcPct val="0"/>
        </a:spcBef>
        <a:spcAft>
          <a:spcPct val="0"/>
        </a:spcAft>
        <a:defRPr sz="1915" b="1">
          <a:solidFill>
            <a:srgbClr val="333399"/>
          </a:solidFill>
          <a:latin typeface="Book Antiqua" panose="02040602050305030304" pitchFamily="18" charset="0"/>
        </a:defRPr>
      </a:lvl6pPr>
      <a:lvl7pPr marL="461010" algn="ctr" rtl="0" fontAlgn="base">
        <a:spcBef>
          <a:spcPct val="0"/>
        </a:spcBef>
        <a:spcAft>
          <a:spcPct val="0"/>
        </a:spcAft>
        <a:defRPr sz="1915" b="1">
          <a:solidFill>
            <a:srgbClr val="333399"/>
          </a:solidFill>
          <a:latin typeface="Book Antiqua" panose="02040602050305030304" pitchFamily="18" charset="0"/>
        </a:defRPr>
      </a:lvl7pPr>
      <a:lvl8pPr marL="691515" algn="ctr" rtl="0" fontAlgn="base">
        <a:spcBef>
          <a:spcPct val="0"/>
        </a:spcBef>
        <a:spcAft>
          <a:spcPct val="0"/>
        </a:spcAft>
        <a:defRPr sz="1915" b="1">
          <a:solidFill>
            <a:srgbClr val="333399"/>
          </a:solidFill>
          <a:latin typeface="Book Antiqua" panose="02040602050305030304" pitchFamily="18" charset="0"/>
        </a:defRPr>
      </a:lvl8pPr>
      <a:lvl9pPr marL="922020" algn="ctr" rtl="0" fontAlgn="base">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fontAlgn="base">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fontAlgn="base">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fontAlgn="base">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fontAlgn="base">
        <a:spcBef>
          <a:spcPct val="15000"/>
        </a:spcBef>
        <a:spcAft>
          <a:spcPct val="0"/>
        </a:spcAft>
        <a:buChar char="–"/>
        <a:defRPr sz="1010" kern="1200">
          <a:solidFill>
            <a:schemeClr val="tx1"/>
          </a:solidFill>
          <a:latin typeface="+mn-lt"/>
          <a:ea typeface="+mn-ea"/>
          <a:cs typeface="+mn-cs"/>
        </a:defRPr>
      </a:lvl4pPr>
      <a:lvl5pPr marL="1037590" indent="-115570" algn="l" rtl="0" fontAlgn="base">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spcBef>
                <a:spcPct val="50000"/>
              </a:spcBef>
            </a:pPr>
            <a:r>
              <a:rPr lang="en-US" altLang="zh-CN" sz="805" i="1">
                <a:solidFill>
                  <a:srgbClr val="969696"/>
                </a:solidFill>
                <a:latin typeface="Times New Roman" panose="02020503050405090304" pitchFamily="18" charset="0"/>
                <a:ea typeface="宋体" pitchFamily="2" charset="-122"/>
              </a:rPr>
              <a:t>© 2009 South-Western, a part of Cengage Learning, all rights reserved</a:t>
            </a:r>
            <a:endParaRPr lang="en-US" altLang="zh-CN" sz="805" i="1">
              <a:solidFill>
                <a:srgbClr val="969696"/>
              </a:solidFill>
              <a:latin typeface="Times New Roman" panose="02020503050405090304" pitchFamily="18" charset="0"/>
              <a:ea typeface="宋体" pitchFamily="2" charset="-122"/>
            </a:endParaRPr>
          </a:p>
        </p:txBody>
      </p:sp>
      <p:sp>
        <p:nvSpPr>
          <p:cNvPr id="2051" name="TextBox 6"/>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US" altLang="zh-CN" sz="1110">
                <a:solidFill>
                  <a:srgbClr val="008080"/>
                </a:solidFill>
                <a:latin typeface="Tahoma" panose="020B0604030504040204" pitchFamily="34" charset="0"/>
                <a:ea typeface="宋体" pitchFamily="2" charset="-122"/>
              </a:rPr>
              <a:t>C H A P T E R</a:t>
            </a:r>
            <a:endParaRPr lang="en-US" altLang="zh-CN" sz="1110">
              <a:solidFill>
                <a:srgbClr val="008080"/>
              </a:solidFill>
              <a:latin typeface="Tahoma" panose="020B0604030504040204" pitchFamily="34" charset="0"/>
              <a:ea typeface="宋体" pitchFamily="2" charset="-122"/>
            </a:endParaRPr>
          </a:p>
        </p:txBody>
      </p:sp>
      <p:sp>
        <p:nvSpPr>
          <p:cNvPr id="2052" name="Rectangle 2"/>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endParaRPr lang="zh-CN" altLang="en-US"/>
          </a:p>
        </p:txBody>
      </p:sp>
      <p:sp>
        <p:nvSpPr>
          <p:cNvPr id="2053" name="Rectangle 3"/>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ldLvl="4" animBg="1" autoUpdateAnimBg="0" build="p"/>
    </p:bldLst>
  </p:timing>
  <p:txStyles>
    <p:title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eaLnBrk="0" fontAlgn="base" hangingPunct="0">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eaLnBrk="0" fontAlgn="base" hangingPunct="0">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eaLnBrk="0" fontAlgn="base" hangingPunct="0">
        <a:spcBef>
          <a:spcPct val="15000"/>
        </a:spcBef>
        <a:spcAft>
          <a:spcPct val="0"/>
        </a:spcAft>
        <a:buChar char="–"/>
        <a:defRPr sz="1010" kern="1200">
          <a:solidFill>
            <a:schemeClr val="tx1"/>
          </a:solidFill>
          <a:latin typeface="+mn-lt"/>
          <a:ea typeface="+mn-ea"/>
          <a:cs typeface="+mn-cs"/>
        </a:defRPr>
      </a:lvl4pPr>
      <a:lvl5pPr marL="1037590" indent="-115570" algn="l" rtl="0" eaLnBrk="0" fontAlgn="base" hangingPunct="0">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endParaRPr lang="zh-CN" altLang="en-US"/>
          </a:p>
        </p:txBody>
      </p:sp>
      <p:sp>
        <p:nvSpPr>
          <p:cNvPr id="1027" name="Rectangle 3"/>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8" name="Rectangle 5"/>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i="1">
                <a:solidFill>
                  <a:srgbClr val="777777"/>
                </a:solidFill>
                <a:ea typeface="宋体" pitchFamily="2" charset="-122"/>
              </a:defRPr>
            </a:lvl1pPr>
          </a:lstStyle>
          <a:p>
            <a:r>
              <a:rPr lang="zh-CN" altLang="zh-CN"/>
              <a:t>生活费用的衡量</a:t>
            </a:r>
            <a:endParaRPr lang="zh-CN" altLang="zh-CN"/>
          </a:p>
        </p:txBody>
      </p:sp>
      <p:sp>
        <p:nvSpPr>
          <p:cNvPr id="1029" name="Rectangle 6"/>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855">
                <a:solidFill>
                  <a:srgbClr val="777777"/>
                </a:solidFill>
                <a:ea typeface="宋体" pitchFamily="2" charset="-122"/>
              </a:defRPr>
            </a:lvl1pPr>
          </a:lstStyle>
          <a:p>
            <a:fld id="{67E89DB2-10D5-B24A-866F-85E347D83F90}" type="slidenum">
              <a:rPr lang="zh-CN" altLang="zh-CN"/>
            </a:fld>
            <a:endParaRPr lang="en-US" altLang="zh-C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ldLvl="4" autoUpdateAnimBg="0" build="p">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p:titleStyle>
    <p:bodyStyle>
      <a:lvl1pPr marL="172720" indent="-17272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1410" kern="1200">
          <a:solidFill>
            <a:schemeClr val="tx1"/>
          </a:solidFill>
          <a:latin typeface="+mn-lt"/>
          <a:ea typeface="+mn-ea"/>
          <a:cs typeface="+mn-cs"/>
        </a:defRPr>
      </a:lvl1pPr>
      <a:lvl2pPr marL="374650" indent="-144145" algn="l" rtl="0" eaLnBrk="0" fontAlgn="base" hangingPunct="0">
        <a:spcBef>
          <a:spcPct val="15000"/>
        </a:spcBef>
        <a:spcAft>
          <a:spcPct val="0"/>
        </a:spcAft>
        <a:buClr>
          <a:srgbClr val="996633"/>
        </a:buClr>
        <a:buSzPct val="120000"/>
        <a:buFont typeface="Wingdings" panose="05000000000000000000" pitchFamily="2" charset="2"/>
        <a:buChar char="§"/>
        <a:defRPr sz="1360" kern="1200">
          <a:solidFill>
            <a:schemeClr val="tx1"/>
          </a:solidFill>
          <a:latin typeface="+mn-lt"/>
          <a:ea typeface="+mn-ea"/>
          <a:cs typeface="+mn-cs"/>
        </a:defRPr>
      </a:lvl2pPr>
      <a:lvl3pPr marL="576580" indent="-115570" algn="l" rtl="0" eaLnBrk="0" fontAlgn="base" hangingPunct="0">
        <a:spcBef>
          <a:spcPct val="15000"/>
        </a:spcBef>
        <a:spcAft>
          <a:spcPct val="0"/>
        </a:spcAft>
        <a:buClr>
          <a:srgbClr val="339966"/>
        </a:buClr>
        <a:buSzPct val="120000"/>
        <a:buFont typeface="Wingdings" panose="05000000000000000000" pitchFamily="2" charset="2"/>
        <a:buChar char="§"/>
        <a:defRPr sz="1260" kern="1200">
          <a:solidFill>
            <a:schemeClr val="tx1"/>
          </a:solidFill>
          <a:latin typeface="+mn-lt"/>
          <a:ea typeface="+mn-ea"/>
          <a:cs typeface="+mn-cs"/>
        </a:defRPr>
      </a:lvl3pPr>
      <a:lvl4pPr marL="807085" indent="-115570" algn="l" rtl="0" eaLnBrk="0" fontAlgn="base" hangingPunct="0">
        <a:spcBef>
          <a:spcPct val="15000"/>
        </a:spcBef>
        <a:spcAft>
          <a:spcPct val="0"/>
        </a:spcAft>
        <a:buChar char="–"/>
        <a:defRPr sz="1010" kern="1200">
          <a:solidFill>
            <a:schemeClr val="tx1"/>
          </a:solidFill>
          <a:latin typeface="+mn-lt"/>
          <a:ea typeface="+mn-ea"/>
          <a:cs typeface="+mn-cs"/>
        </a:defRPr>
      </a:lvl4pPr>
      <a:lvl5pPr marL="1037590" indent="-115570" algn="l" rtl="0" eaLnBrk="0" fontAlgn="base" hangingPunct="0">
        <a:spcBef>
          <a:spcPct val="20000"/>
        </a:spcBef>
        <a:spcAft>
          <a:spcPct val="0"/>
        </a:spcAft>
        <a:buChar char="»"/>
        <a:defRPr sz="1010" kern="1200">
          <a:solidFill>
            <a:schemeClr val="tx1"/>
          </a:solidFill>
          <a:latin typeface="+mn-lt"/>
          <a:ea typeface="+mn-ea"/>
          <a:cs typeface="+mn-cs"/>
        </a:defRPr>
      </a:lvl5pPr>
      <a:lvl6pPr marL="126809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6pPr>
      <a:lvl7pPr marL="149860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7pPr>
      <a:lvl8pPr marL="1729105"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8pPr>
      <a:lvl9pPr marL="1959610" indent="-115570" algn="l" defTabSz="461010" rtl="0" eaLnBrk="1" latinLnBrk="0" hangingPunct="1">
        <a:lnSpc>
          <a:spcPct val="90000"/>
        </a:lnSpc>
        <a:spcBef>
          <a:spcPts val="250"/>
        </a:spcBef>
        <a:buFont typeface="Arial" panose="020B0604020202090204" pitchFamily="34" charset="0"/>
        <a:buChar char="•"/>
        <a:defRPr sz="910" kern="1200">
          <a:solidFill>
            <a:schemeClr val="tx1"/>
          </a:solidFill>
          <a:latin typeface="+mn-lt"/>
          <a:ea typeface="+mn-ea"/>
          <a:cs typeface="+mn-cs"/>
        </a:defRPr>
      </a:lvl9pPr>
    </p:bodyStyle>
    <p:otherStyle>
      <a:defPPr>
        <a:defRPr lang="zh-CN"/>
      </a:defPPr>
      <a:lvl1pPr marL="0" algn="l" defTabSz="461010" rtl="0" eaLnBrk="1" latinLnBrk="0" hangingPunct="1">
        <a:defRPr sz="910" kern="1200">
          <a:solidFill>
            <a:schemeClr val="tx1"/>
          </a:solidFill>
          <a:latin typeface="+mn-lt"/>
          <a:ea typeface="+mn-ea"/>
          <a:cs typeface="+mn-cs"/>
        </a:defRPr>
      </a:lvl1pPr>
      <a:lvl2pPr marL="230505" algn="l" defTabSz="461010" rtl="0" eaLnBrk="1" latinLnBrk="0" hangingPunct="1">
        <a:defRPr sz="910" kern="1200">
          <a:solidFill>
            <a:schemeClr val="tx1"/>
          </a:solidFill>
          <a:latin typeface="+mn-lt"/>
          <a:ea typeface="+mn-ea"/>
          <a:cs typeface="+mn-cs"/>
        </a:defRPr>
      </a:lvl2pPr>
      <a:lvl3pPr marL="461010" algn="l" defTabSz="461010" rtl="0" eaLnBrk="1" latinLnBrk="0" hangingPunct="1">
        <a:defRPr sz="910" kern="1200">
          <a:solidFill>
            <a:schemeClr val="tx1"/>
          </a:solidFill>
          <a:latin typeface="+mn-lt"/>
          <a:ea typeface="+mn-ea"/>
          <a:cs typeface="+mn-cs"/>
        </a:defRPr>
      </a:lvl3pPr>
      <a:lvl4pPr marL="691515" algn="l" defTabSz="461010" rtl="0" eaLnBrk="1" latinLnBrk="0" hangingPunct="1">
        <a:defRPr sz="910" kern="1200">
          <a:solidFill>
            <a:schemeClr val="tx1"/>
          </a:solidFill>
          <a:latin typeface="+mn-lt"/>
          <a:ea typeface="+mn-ea"/>
          <a:cs typeface="+mn-cs"/>
        </a:defRPr>
      </a:lvl4pPr>
      <a:lvl5pPr marL="922020" algn="l" defTabSz="461010" rtl="0" eaLnBrk="1" latinLnBrk="0" hangingPunct="1">
        <a:defRPr sz="910" kern="1200">
          <a:solidFill>
            <a:schemeClr val="tx1"/>
          </a:solidFill>
          <a:latin typeface="+mn-lt"/>
          <a:ea typeface="+mn-ea"/>
          <a:cs typeface="+mn-cs"/>
        </a:defRPr>
      </a:lvl5pPr>
      <a:lvl6pPr marL="1152525" algn="l" defTabSz="461010" rtl="0" eaLnBrk="1" latinLnBrk="0" hangingPunct="1">
        <a:defRPr sz="910" kern="1200">
          <a:solidFill>
            <a:schemeClr val="tx1"/>
          </a:solidFill>
          <a:latin typeface="+mn-lt"/>
          <a:ea typeface="+mn-ea"/>
          <a:cs typeface="+mn-cs"/>
        </a:defRPr>
      </a:lvl6pPr>
      <a:lvl7pPr marL="1383030" algn="l" defTabSz="461010" rtl="0" eaLnBrk="1" latinLnBrk="0" hangingPunct="1">
        <a:defRPr sz="910" kern="1200">
          <a:solidFill>
            <a:schemeClr val="tx1"/>
          </a:solidFill>
          <a:latin typeface="+mn-lt"/>
          <a:ea typeface="+mn-ea"/>
          <a:cs typeface="+mn-cs"/>
        </a:defRPr>
      </a:lvl7pPr>
      <a:lvl8pPr marL="1613535" algn="l" defTabSz="461010" rtl="0" eaLnBrk="1" latinLnBrk="0" hangingPunct="1">
        <a:defRPr sz="910" kern="1200">
          <a:solidFill>
            <a:schemeClr val="tx1"/>
          </a:solidFill>
          <a:latin typeface="+mn-lt"/>
          <a:ea typeface="+mn-ea"/>
          <a:cs typeface="+mn-cs"/>
        </a:defRPr>
      </a:lvl8pPr>
      <a:lvl9pPr marL="1844040" algn="l" defTabSz="461010" rtl="0" eaLnBrk="1" latinLnBrk="0" hangingPunct="1">
        <a:defRPr sz="9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1.vml"/><Relationship Id="rId4" Type="http://schemas.openxmlformats.org/officeDocument/2006/relationships/slideLayout" Target="../slideLayouts/slideLayout34.xml"/><Relationship Id="rId3" Type="http://schemas.openxmlformats.org/officeDocument/2006/relationships/hyperlink" Target="../../../../../../Program%20Files/TurningPoint/2003/Questions.html" TargetMode="External"/><Relationship Id="rId2" Type="http://schemas.openxmlformats.org/officeDocument/2006/relationships/image" Target="../media/image5.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2.vml"/><Relationship Id="rId4" Type="http://schemas.openxmlformats.org/officeDocument/2006/relationships/slideLayout" Target="../slideLayouts/slideLayout34.xml"/><Relationship Id="rId3" Type="http://schemas.openxmlformats.org/officeDocument/2006/relationships/hyperlink" Target="../../../../../../Program%20Files/TurningPoint/2003/Questions.html" TargetMode="External"/><Relationship Id="rId2" Type="http://schemas.openxmlformats.org/officeDocument/2006/relationships/image" Target="../media/image10.e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hyperlink" Target="../../../../../../Program%20Files/TurningPoint/2003/Questions.html" TargetMode="Externa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4.xml"/><Relationship Id="rId2" Type="http://schemas.openxmlformats.org/officeDocument/2006/relationships/hyperlink" Target="../../../Program%20Files/TurningPoint/2003/Questions.html" TargetMode="External"/><Relationship Id="rId1" Type="http://schemas.openxmlformats.org/officeDocument/2006/relationships/hyperlink" Target="../../../../../../Program%20Files/TurningPoint/2003/Questions.html"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hyperlink" Target="../../../../../../Program%20Files/TurningPoint/2003/Questions.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1" cstate="print"/>
            <a:stretch>
              <a:fillRect/>
            </a:stretch>
          </a:blipFill>
        </p:spPr>
        <p:txBody>
          <a:bodyPr wrap="square" lIns="0" tIns="0" rIns="0" bIns="0" rtlCol="0"/>
          <a:lstStyle/>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p:txBody>
      </p:sp>
      <p:sp>
        <p:nvSpPr>
          <p:cNvPr id="32" name="object 32"/>
          <p:cNvSpPr/>
          <p:nvPr/>
        </p:nvSpPr>
        <p:spPr>
          <a:xfrm>
            <a:off x="133126" y="1250219"/>
            <a:ext cx="112479" cy="109537"/>
          </a:xfrm>
          <a:prstGeom prst="rect">
            <a:avLst/>
          </a:prstGeom>
          <a:blipFill>
            <a:blip r:embed="rId2" cstate="print"/>
            <a:stretch>
              <a:fillRect/>
            </a:stretch>
          </a:blipFill>
        </p:spPr>
        <p:txBody>
          <a:bodyPr wrap="square" lIns="0" tIns="0" rIns="0" bIns="0" rtlCol="0"/>
          <a:lstStyle/>
          <a:p/>
        </p:txBody>
      </p:sp>
      <p:sp>
        <p:nvSpPr>
          <p:cNvPr id="33" name="object 33"/>
          <p:cNvSpPr/>
          <p:nvPr/>
        </p:nvSpPr>
        <p:spPr>
          <a:xfrm>
            <a:off x="4451394" y="1234344"/>
            <a:ext cx="122237" cy="125301"/>
          </a:xfrm>
          <a:prstGeom prst="rect">
            <a:avLst/>
          </a:prstGeom>
          <a:blipFill>
            <a:blip r:embed="rId3" cstate="print"/>
            <a:stretch>
              <a:fillRect/>
            </a:stretch>
          </a:blipFill>
        </p:spPr>
        <p:txBody>
          <a:bodyPr wrap="square" lIns="0" tIns="0" rIns="0" bIns="0" rtlCol="0"/>
          <a:lstStyle/>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panose="02020503050405090304"/>
                <a:cs typeface="Times New Roman" panose="02020503050405090304"/>
              </a:rPr>
              <a:t>Macroeconomics</a:t>
            </a:r>
            <a:endParaRPr sz="1400" baseline="28000" dirty="0">
              <a:latin typeface="Times New Roman" panose="02020503050405090304"/>
              <a:cs typeface="Times New Roman" panose="02020503050405090304"/>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panose="02020503050405090304"/>
                <a:cs typeface="Times New Roman" panose="02020503050405090304"/>
              </a:rPr>
              <a:t>  </a:t>
            </a:r>
            <a:endParaRPr sz="100">
              <a:latin typeface="Times New Roman" panose="02020503050405090304"/>
              <a:cs typeface="Times New Roman" panose="02020503050405090304"/>
            </a:endParaRPr>
          </a:p>
        </p:txBody>
      </p:sp>
      <p:sp>
        <p:nvSpPr>
          <p:cNvPr id="94" name="object 94"/>
          <p:cNvSpPr txBox="1"/>
          <p:nvPr/>
        </p:nvSpPr>
        <p:spPr>
          <a:xfrm>
            <a:off x="92008" y="1471712"/>
            <a:ext cx="4387324" cy="786177"/>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panose="02020503050405090304"/>
              </a:rPr>
              <a:t>第一章 宏观经济学的基本指标及其衡量</a:t>
            </a:r>
            <a:endParaRPr lang="en-US" altLang="zh-CN" sz="1600" b="1" spc="-15" dirty="0">
              <a:latin typeface="Garamond" panose="02020404030301010803" pitchFamily="18" charset="0"/>
              <a:ea typeface="KaiTi" panose="02010609060101010101" pitchFamily="49" charset="-122"/>
              <a:cs typeface="Times New Roman" panose="02020503050405090304"/>
            </a:endParaRPr>
          </a:p>
          <a:p>
            <a:pPr marL="635" algn="ctr">
              <a:lnSpc>
                <a:spcPct val="130000"/>
              </a:lnSpc>
            </a:pPr>
            <a:r>
              <a:rPr lang="zh-CN" altLang="en-US" sz="1400" b="1" dirty="0">
                <a:solidFill>
                  <a:srgbClr val="333399"/>
                </a:solidFill>
                <a:latin typeface="Garamond" panose="02020404030301010803" pitchFamily="18" charset="0"/>
                <a:ea typeface="KaiTi" panose="02010609060101010101" pitchFamily="49" charset="-122"/>
                <a:cs typeface="+mj-cs"/>
              </a:rPr>
              <a:t>第</a:t>
            </a:r>
            <a:r>
              <a:rPr lang="en-US" altLang="zh-CN" sz="1400" b="1" dirty="0">
                <a:solidFill>
                  <a:srgbClr val="333399"/>
                </a:solidFill>
                <a:latin typeface="Garamond" panose="02020404030301010803" pitchFamily="18" charset="0"/>
                <a:ea typeface="KaiTi" panose="02010609060101010101" pitchFamily="49" charset="-122"/>
                <a:cs typeface="+mj-cs"/>
              </a:rPr>
              <a:t>2</a:t>
            </a:r>
            <a:r>
              <a:rPr lang="zh-CN" altLang="en-US" sz="1400" b="1" dirty="0">
                <a:solidFill>
                  <a:srgbClr val="333399"/>
                </a:solidFill>
                <a:latin typeface="Garamond" panose="02020404030301010803" pitchFamily="18" charset="0"/>
                <a:ea typeface="KaiTi" panose="02010609060101010101" pitchFamily="49" charset="-122"/>
                <a:cs typeface="+mj-cs"/>
              </a:rPr>
              <a:t>节 价格水平及其衡量</a:t>
            </a:r>
            <a:endParaRPr lang="en-US" altLang="zh-CN" sz="1400" b="1" dirty="0">
              <a:solidFill>
                <a:srgbClr val="333399"/>
              </a:solidFill>
              <a:latin typeface="Garamond" panose="02020404030301010803" pitchFamily="18" charset="0"/>
              <a:ea typeface="KaiTi" panose="02010609060101010101" pitchFamily="49" charset="-122"/>
              <a:cs typeface="+mj-cs"/>
            </a:endParaRPr>
          </a:p>
          <a:p>
            <a:pPr marL="635" algn="ctr">
              <a:lnSpc>
                <a:spcPct val="130000"/>
              </a:lnSpc>
            </a:pPr>
            <a:endParaRPr sz="1000" b="1" dirty="0">
              <a:latin typeface="Garamond" panose="02020404030301010803" pitchFamily="18" charset="0"/>
              <a:cs typeface="Times New Roman" panose="02020503050405090304"/>
            </a:endParaRPr>
          </a:p>
        </p:txBody>
      </p:sp>
      <p:sp>
        <p:nvSpPr>
          <p:cNvPr id="95" name="object 99"/>
          <p:cNvSpPr/>
          <p:nvPr/>
        </p:nvSpPr>
        <p:spPr>
          <a:xfrm>
            <a:off x="-152" y="3345713"/>
            <a:ext cx="4608093" cy="111252"/>
          </a:xfrm>
          <a:prstGeom prst="rect">
            <a:avLst/>
          </a:prstGeom>
          <a:blipFill>
            <a:blip r:embed="rId4" cstate="print"/>
            <a:stretch>
              <a:fillRect/>
            </a:stretch>
          </a:blipFill>
        </p:spPr>
        <p:txBody>
          <a:bodyPr wrap="square" lIns="0" tIns="0" rIns="0" bIns="0" rtlCol="0"/>
          <a:lstStyle/>
          <a:p/>
        </p:txBody>
      </p:sp>
      <p:sp>
        <p:nvSpPr>
          <p:cNvPr id="96"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panose="02020503050405090304"/>
                <a:cs typeface="Times New Roman" panose="02020503050405090304"/>
              </a:rPr>
              <a:t> </a:t>
            </a:r>
            <a:r>
              <a:rPr sz="100" i="1" spc="80" dirty="0">
                <a:solidFill>
                  <a:srgbClr val="F2F2F2"/>
                </a:solidFill>
                <a:latin typeface="Times New Roman" panose="02020503050405090304"/>
                <a:cs typeface="Times New Roman" panose="02020503050405090304"/>
              </a:rPr>
              <a:t>I   </a:t>
            </a:r>
            <a:r>
              <a:rPr sz="600" spc="-5" dirty="0">
                <a:solidFill>
                  <a:srgbClr val="F2F2F2"/>
                </a:solidFill>
                <a:latin typeface="Times New Roman" panose="02020503050405090304"/>
                <a:cs typeface="Times New Roman" panose="02020503050405090304"/>
              </a:rPr>
              <a:t>(</a:t>
            </a:r>
            <a:r>
              <a:rPr lang="en-US" sz="600" spc="-5" dirty="0">
                <a:solidFill>
                  <a:srgbClr val="F2F2F2"/>
                </a:solidFill>
                <a:latin typeface="Times New Roman" panose="02020503050405090304"/>
                <a:cs typeface="Times New Roman" panose="02020503050405090304"/>
              </a:rPr>
              <a:t>Zhiqing Yang</a:t>
            </a:r>
            <a:r>
              <a:rPr sz="600" spc="135" dirty="0">
                <a:solidFill>
                  <a:srgbClr val="F2F2F2"/>
                </a:solidFill>
                <a:latin typeface="Times New Roman" panose="02020503050405090304"/>
                <a:cs typeface="Times New Roman" panose="02020503050405090304"/>
              </a:rPr>
              <a:t> </a:t>
            </a:r>
            <a:r>
              <a:rPr lang="en-US" altLang="zh-CN" sz="600" spc="-5" dirty="0" err="1">
                <a:solidFill>
                  <a:srgbClr val="F2F2F2"/>
                </a:solidFill>
                <a:latin typeface="Times New Roman" panose="02020503050405090304"/>
                <a:cs typeface="Times New Roman" panose="02020503050405090304"/>
              </a:rPr>
              <a:t>yangzhiqing</a:t>
            </a:r>
            <a:r>
              <a:rPr sz="600" spc="-5" dirty="0" err="1">
                <a:solidFill>
                  <a:srgbClr val="F2F2F2"/>
                </a:solidFill>
                <a:latin typeface="Times New Roman" panose="02020503050405090304"/>
                <a:cs typeface="Times New Roman" panose="02020503050405090304"/>
              </a:rPr>
              <a:t>@</a:t>
            </a:r>
            <a:r>
              <a:rPr lang="en-US" sz="600" spc="-5" dirty="0" err="1">
                <a:solidFill>
                  <a:srgbClr val="F2F2F2"/>
                </a:solidFill>
                <a:latin typeface="Times New Roman" panose="02020503050405090304"/>
                <a:cs typeface="Times New Roman" panose="02020503050405090304"/>
              </a:rPr>
              <a:t>hust.edu.cn</a:t>
            </a:r>
            <a:r>
              <a:rPr sz="600" spc="-5" dirty="0">
                <a:solidFill>
                  <a:srgbClr val="F2F2F2"/>
                </a:solidFill>
                <a:latin typeface="Times New Roman" panose="02020503050405090304"/>
                <a:cs typeface="Times New Roman" panose="02020503050405090304"/>
              </a:rPr>
              <a:t>)</a:t>
            </a:r>
            <a:endParaRPr sz="600" dirty="0">
              <a:latin typeface="Times New Roman" panose="02020503050405090304"/>
              <a:cs typeface="Times New Roman" panose="02020503050405090304"/>
            </a:endParaRPr>
          </a:p>
        </p:txBody>
      </p:sp>
      <p:sp>
        <p:nvSpPr>
          <p:cNvPr id="103"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135565" y="609721"/>
            <a:ext cx="4332732" cy="2684655"/>
          </a:xfrm>
          <a:prstGeom prst="rect">
            <a:avLst/>
          </a:prstGeom>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什么是消费物价指数 </a:t>
            </a:r>
            <a:r>
              <a:rPr lang="en-US" altLang="zh-CN" sz="1400" kern="0" dirty="0">
                <a:latin typeface="Garamond" panose="02020404030301010803" pitchFamily="18" charset="0"/>
                <a:ea typeface="KaiTi" panose="02010609060101010101" pitchFamily="49" charset="-122"/>
              </a:rPr>
              <a:t>(</a:t>
            </a:r>
            <a:r>
              <a:rPr lang="en-GB" altLang="zh-CN" sz="1400" kern="0" dirty="0">
                <a:latin typeface="Garamond" panose="02020404030301010803" pitchFamily="18" charset="0"/>
                <a:ea typeface="KaiTi" panose="02010609060101010101" pitchFamily="49" charset="-122"/>
              </a:rPr>
              <a:t>CPI)</a:t>
            </a:r>
            <a:r>
              <a:rPr lang="zh-CN" altLang="en-GB" sz="1400" kern="0" dirty="0">
                <a:latin typeface="Garamond" panose="02020404030301010803" pitchFamily="18" charset="0"/>
                <a:ea typeface="KaiTi" panose="02010609060101010101" pitchFamily="49" charset="-122"/>
              </a:rPr>
              <a:t>？</a:t>
            </a:r>
            <a:r>
              <a:rPr lang="zh-CN" altLang="en-US" sz="1400" kern="0" dirty="0">
                <a:latin typeface="Garamond" panose="02020404030301010803" pitchFamily="18" charset="0"/>
                <a:ea typeface="KaiTi" panose="02010609060101010101" pitchFamily="49" charset="-122"/>
              </a:rPr>
              <a:t>怎么计算？它有什么用</a:t>
            </a:r>
            <a:r>
              <a:rPr lang="en-US" altLang="zh-CN" sz="1400" kern="0" dirty="0">
                <a:latin typeface="Garamond" panose="02020404030301010803" pitchFamily="18" charset="0"/>
                <a:ea typeface="KaiTi" panose="02010609060101010101" pitchFamily="49" charset="-122"/>
              </a:rPr>
              <a:t>?</a:t>
            </a:r>
            <a:endParaRPr lang="en-US" altLang="zh-CN"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en-GB" altLang="zh-CN" sz="1400" kern="0" dirty="0">
                <a:latin typeface="Garamond" panose="02020404030301010803" pitchFamily="18" charset="0"/>
                <a:ea typeface="KaiTi" panose="02010609060101010101" pitchFamily="49" charset="-122"/>
              </a:rPr>
              <a:t>CPI</a:t>
            </a:r>
            <a:r>
              <a:rPr lang="zh-CN" altLang="en-US" sz="1400" kern="0" dirty="0">
                <a:latin typeface="Garamond" panose="02020404030301010803" pitchFamily="18" charset="0"/>
                <a:ea typeface="KaiTi" panose="02010609060101010101" pitchFamily="49" charset="-122"/>
              </a:rPr>
              <a:t>与</a:t>
            </a:r>
            <a:r>
              <a:rPr lang="en-GB"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平减指数有何区别</a:t>
            </a:r>
            <a:r>
              <a:rPr lang="en-US" altLang="zh-CN" sz="1400" kern="0" dirty="0">
                <a:latin typeface="Garamond" panose="02020404030301010803" pitchFamily="18" charset="0"/>
                <a:ea typeface="KaiTi" panose="02010609060101010101" pitchFamily="49" charset="-122"/>
              </a:rPr>
              <a:t>?  </a:t>
            </a:r>
            <a:endParaRPr lang="en-US" altLang="zh-CN"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en-GB" altLang="zh-CN" sz="1400" kern="0" dirty="0">
                <a:latin typeface="Garamond" panose="02020404030301010803" pitchFamily="18" charset="0"/>
                <a:ea typeface="KaiTi" panose="02010609060101010101" pitchFamily="49" charset="-122"/>
              </a:rPr>
              <a:t>CPI</a:t>
            </a:r>
            <a:r>
              <a:rPr lang="zh-CN" altLang="en-US" sz="1400" kern="0" dirty="0">
                <a:latin typeface="Garamond" panose="02020404030301010803" pitchFamily="18" charset="0"/>
                <a:ea typeface="KaiTi" panose="02010609060101010101" pitchFamily="49" charset="-122"/>
              </a:rPr>
              <a:t>存在怎样的问题</a:t>
            </a:r>
            <a:r>
              <a:rPr lang="en-US" altLang="zh-CN" sz="1400" kern="0" dirty="0">
                <a:latin typeface="Garamond" panose="02020404030301010803" pitchFamily="18" charset="0"/>
                <a:ea typeface="KaiTi" panose="02010609060101010101" pitchFamily="49" charset="-122"/>
              </a:rPr>
              <a:t>?</a:t>
            </a:r>
            <a:r>
              <a:rPr lang="zh-CN" altLang="en-US" sz="1400" kern="0" dirty="0">
                <a:latin typeface="Garamond" panose="02020404030301010803" pitchFamily="18" charset="0"/>
                <a:ea typeface="KaiTi" panose="02010609060101010101" pitchFamily="49" charset="-122"/>
              </a:rPr>
              <a:t>它们有多严重？</a:t>
            </a:r>
            <a:endParaRPr lang="zh-CN" altLang="en-US"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我们如何用</a:t>
            </a:r>
            <a:r>
              <a:rPr lang="en-GB" altLang="zh-CN" sz="1400" kern="0" dirty="0">
                <a:latin typeface="Garamond" panose="02020404030301010803" pitchFamily="18" charset="0"/>
                <a:ea typeface="KaiTi" panose="02010609060101010101" pitchFamily="49" charset="-122"/>
              </a:rPr>
              <a:t>CPI</a:t>
            </a:r>
            <a:r>
              <a:rPr lang="zh-CN" altLang="en-US" sz="1400" kern="0" dirty="0">
                <a:latin typeface="Garamond" panose="02020404030301010803" pitchFamily="18" charset="0"/>
                <a:ea typeface="KaiTi" panose="02010609060101010101" pitchFamily="49" charset="-122"/>
              </a:rPr>
              <a:t>来比较不同年份相同数量的货币</a:t>
            </a:r>
            <a:r>
              <a:rPr lang="en-US" altLang="zh-CN" sz="1400" kern="0" dirty="0">
                <a:latin typeface="Garamond" panose="02020404030301010803" pitchFamily="18" charset="0"/>
                <a:ea typeface="KaiTi" panose="02010609060101010101" pitchFamily="49" charset="-122"/>
              </a:rPr>
              <a:t>?</a:t>
            </a:r>
            <a:r>
              <a:rPr lang="zh-CN" altLang="en-US" sz="1400" kern="0" dirty="0">
                <a:latin typeface="Garamond" panose="02020404030301010803" pitchFamily="18" charset="0"/>
                <a:ea typeface="KaiTi" panose="02010609060101010101" pitchFamily="49" charset="-122"/>
              </a:rPr>
              <a:t> </a:t>
            </a:r>
            <a:endParaRPr lang="en-US" altLang="zh-CN"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anose="05000000000000000000" pitchFamily="2" charset="2"/>
              <a:buChar char="p"/>
            </a:pPr>
            <a:r>
              <a:rPr lang="zh-CN" altLang="en-US" sz="1400" kern="0" dirty="0">
                <a:latin typeface="Garamond" panose="02020404030301010803" pitchFamily="18" charset="0"/>
                <a:ea typeface="KaiTi" panose="02010609060101010101" pitchFamily="49" charset="-122"/>
              </a:rPr>
              <a:t>我们怎样用通货膨胀来校正利率？</a:t>
            </a:r>
            <a:endParaRPr lang="zh-CN" altLang="en-US" sz="1400" kern="0" dirty="0">
              <a:latin typeface="Garamond" panose="02020404030301010803" pitchFamily="18" charset="0"/>
              <a:ea typeface="KaiTi" panose="02010609060101010101" pitchFamily="49" charset="-122"/>
            </a:endParaRPr>
          </a:p>
        </p:txBody>
      </p:sp>
      <p:sp>
        <p:nvSpPr>
          <p:cNvPr id="5" name="内容占位符 2"/>
          <p:cNvSpPr txBox="1"/>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panose="02020503050405090304"/>
                <a:ea typeface="+mn-ea"/>
                <a:cs typeface="Times New Roman" panose="02020503050405090304"/>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a:solidFill>
                  <a:srgbClr val="C00000"/>
                </a:solidFill>
                <a:latin typeface="微软雅黑" panose="020B0503020204020204" pitchFamily="34" charset="-122"/>
                <a:ea typeface="微软雅黑" panose="020B0503020204020204" pitchFamily="34" charset="-122"/>
              </a:rPr>
              <a:t>本节要</a:t>
            </a:r>
            <a:r>
              <a:rPr lang="zh-CN" altLang="en-US" sz="1800" kern="0" dirty="0">
                <a:solidFill>
                  <a:srgbClr val="C00000"/>
                </a:solidFill>
                <a:latin typeface="微软雅黑" panose="020B0503020204020204" pitchFamily="34" charset="-122"/>
                <a:ea typeface="微软雅黑" panose="020B0503020204020204" pitchFamily="34" charset="-122"/>
              </a:rPr>
              <a:t>解决以下问题</a:t>
            </a:r>
            <a:endParaRPr lang="en-US" altLang="zh-CN" sz="1800"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10243"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D3F099A9-D7EC-A941-AE6C-D70055F2B216}"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10244" name="Rectangle 2"/>
          <p:cNvSpPr>
            <a:spLocks noGrp="1" noChangeArrowheads="1"/>
          </p:cNvSpPr>
          <p:nvPr>
            <p:ph type="title" idx="4294967295"/>
          </p:nvPr>
        </p:nvSpPr>
        <p:spPr/>
        <p:txBody>
          <a:bodyPr/>
          <a:lstStyle/>
          <a:p>
            <a:pPr eaLnBrk="1" hangingPunct="1"/>
            <a:r>
              <a:rPr lang="zh-CN" altLang="en-US" sz="1815">
                <a:ea typeface="宋体" pitchFamily="2" charset="-122"/>
              </a:rPr>
              <a:t>消费物价指数 </a:t>
            </a:r>
            <a:r>
              <a:rPr lang="en-US" altLang="zh-CN" sz="1815">
                <a:ea typeface="宋体" pitchFamily="2" charset="-122"/>
              </a:rPr>
              <a:t>(CPI)</a:t>
            </a:r>
            <a:endParaRPr lang="en-US" altLang="zh-CN" sz="1815">
              <a:ea typeface="宋体" pitchFamily="2" charset="-122"/>
            </a:endParaRPr>
          </a:p>
        </p:txBody>
      </p:sp>
      <p:sp>
        <p:nvSpPr>
          <p:cNvPr id="10245" name="Rectangle 3"/>
          <p:cNvSpPr>
            <a:spLocks noGrp="1" noChangeArrowheads="1"/>
          </p:cNvSpPr>
          <p:nvPr>
            <p:ph type="body" idx="4294967295"/>
          </p:nvPr>
        </p:nvSpPr>
        <p:spPr/>
        <p:txBody>
          <a:bodyPr/>
          <a:lstStyle/>
          <a:p>
            <a:pPr eaLnBrk="1" hangingPunct="1"/>
            <a:r>
              <a:rPr lang="zh-CN" altLang="zh-CN">
                <a:ea typeface="宋体" pitchFamily="2" charset="-122"/>
              </a:rPr>
              <a:t>衡量普通消费者的生活成本</a:t>
            </a:r>
            <a:endParaRPr lang="zh-CN" altLang="zh-CN">
              <a:ea typeface="宋体" pitchFamily="2" charset="-122"/>
            </a:endParaRPr>
          </a:p>
          <a:p>
            <a:pPr eaLnBrk="1" hangingPunct="1"/>
            <a:endParaRPr lang="zh-CN" altLang="zh-CN">
              <a:ea typeface="宋体" pitchFamily="2" charset="-122"/>
            </a:endParaRPr>
          </a:p>
          <a:p>
            <a:pPr eaLnBrk="1" hangingPunct="1"/>
            <a:r>
              <a:rPr lang="zh-CN" altLang="zh-CN">
                <a:ea typeface="宋体" pitchFamily="2" charset="-122"/>
              </a:rPr>
              <a:t>在许多合同与社会保障中作为生活费用调整的依据</a:t>
            </a:r>
            <a:endParaRPr lang="zh-CN" altLang="zh-CN">
              <a:ea typeface="宋体" pitchFamily="2" charset="-122"/>
            </a:endParaRPr>
          </a:p>
        </p:txBody>
      </p:sp>
      <p:sp>
        <p:nvSpPr>
          <p:cNvPr id="10246"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40B57475-AFD4-3C48-860A-4FC9F25FD75E}"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11268" name="Rectangle 2"/>
          <p:cNvSpPr>
            <a:spLocks noGrp="1" noChangeArrowheads="1"/>
          </p:cNvSpPr>
          <p:nvPr>
            <p:ph type="title" idx="4294967295"/>
          </p:nvPr>
        </p:nvSpPr>
        <p:spPr/>
        <p:txBody>
          <a:bodyPr/>
          <a:lstStyle/>
          <a:p>
            <a:pPr eaLnBrk="1" hangingPunct="1"/>
            <a:r>
              <a:rPr lang="zh-CN" altLang="zh-CN" sz="1815" dirty="0">
                <a:ea typeface="宋体" pitchFamily="2" charset="-122"/>
              </a:rPr>
              <a:t>如何计算消费物价指数</a:t>
            </a:r>
            <a:endParaRPr lang="zh-CN" altLang="zh-CN" sz="1815" dirty="0">
              <a:ea typeface="宋体" pitchFamily="2" charset="-122"/>
            </a:endParaRPr>
          </a:p>
        </p:txBody>
      </p:sp>
      <p:sp>
        <p:nvSpPr>
          <p:cNvPr id="11269" name="Rectangle 3"/>
          <p:cNvSpPr>
            <a:spLocks noGrp="1" noChangeArrowheads="1"/>
          </p:cNvSpPr>
          <p:nvPr>
            <p:ph type="body" idx="4294967295"/>
          </p:nvPr>
        </p:nvSpPr>
        <p:spPr/>
        <p:txBody>
          <a:bodyPr/>
          <a:lstStyle/>
          <a:p>
            <a:pPr marL="269240" indent="-269240" eaLnBrk="1" hangingPunct="1">
              <a:buSzTx/>
              <a:buFont typeface="Wingdings" panose="05000000000000000000" pitchFamily="2" charset="2"/>
              <a:buAutoNum type="arabicPeriod"/>
            </a:pPr>
            <a:r>
              <a:rPr lang="zh-CN" altLang="zh-CN" b="1" dirty="0">
                <a:ea typeface="宋体" pitchFamily="2" charset="-122"/>
              </a:rPr>
              <a:t>固定 “篮子”</a:t>
            </a:r>
            <a:br>
              <a:rPr lang="zh-CN" altLang="zh-CN" b="1" dirty="0">
                <a:ea typeface="宋体" pitchFamily="2" charset="-122"/>
              </a:rPr>
            </a:br>
            <a:r>
              <a:rPr lang="zh-CN" altLang="zh-CN" dirty="0">
                <a:ea typeface="宋体" pitchFamily="2" charset="-122"/>
              </a:rPr>
              <a:t>统计</a:t>
            </a:r>
            <a:r>
              <a:rPr lang="zh-CN" altLang="en-US" dirty="0">
                <a:ea typeface="宋体" pitchFamily="2" charset="-122"/>
              </a:rPr>
              <a:t>部门</a:t>
            </a:r>
            <a:r>
              <a:rPr lang="zh-CN" altLang="zh-CN" dirty="0">
                <a:ea typeface="宋体" pitchFamily="2" charset="-122"/>
              </a:rPr>
              <a:t>通过调查消费者找出普通消费者 “购物篮”中的物品</a:t>
            </a:r>
            <a:endParaRPr lang="zh-CN" altLang="zh-CN" dirty="0">
              <a:ea typeface="宋体" pitchFamily="2" charset="-122"/>
            </a:endParaRPr>
          </a:p>
          <a:p>
            <a:pPr marL="269240" indent="-269240" eaLnBrk="1" hangingPunct="1">
              <a:buSzTx/>
              <a:buFont typeface="Wingdings" panose="05000000000000000000" pitchFamily="2" charset="2"/>
              <a:buAutoNum type="arabicPeriod"/>
            </a:pPr>
            <a:r>
              <a:rPr lang="zh-CN" altLang="zh-CN" b="1" dirty="0">
                <a:ea typeface="宋体" pitchFamily="2" charset="-122"/>
              </a:rPr>
              <a:t>找出价格</a:t>
            </a:r>
            <a:br>
              <a:rPr lang="zh-CN" altLang="zh-CN" dirty="0">
                <a:ea typeface="宋体" pitchFamily="2" charset="-122"/>
              </a:rPr>
            </a:br>
            <a:r>
              <a:rPr lang="zh-CN" altLang="en-US" dirty="0">
                <a:ea typeface="宋体" pitchFamily="2" charset="-122"/>
              </a:rPr>
              <a:t>统计部门</a:t>
            </a:r>
            <a:r>
              <a:rPr lang="zh-CN" altLang="zh-CN" dirty="0">
                <a:ea typeface="宋体" pitchFamily="2" charset="-122"/>
              </a:rPr>
              <a:t>收集购物篮中所有物品价格的数据</a:t>
            </a:r>
            <a:endParaRPr lang="zh-CN" altLang="zh-CN" dirty="0">
              <a:ea typeface="宋体" pitchFamily="2" charset="-122"/>
            </a:endParaRPr>
          </a:p>
          <a:p>
            <a:pPr marL="269240" indent="-269240" eaLnBrk="1" hangingPunct="1">
              <a:buSzTx/>
              <a:buFont typeface="Wingdings" panose="05000000000000000000" pitchFamily="2" charset="2"/>
              <a:buAutoNum type="arabicPeriod"/>
            </a:pPr>
            <a:r>
              <a:rPr lang="zh-CN" altLang="zh-CN" b="1" dirty="0">
                <a:ea typeface="宋体" pitchFamily="2" charset="-122"/>
              </a:rPr>
              <a:t>计算这一篮子东西的费用</a:t>
            </a:r>
            <a:endParaRPr lang="zh-CN" altLang="zh-CN" b="1" dirty="0">
              <a:ea typeface="宋体" pitchFamily="2" charset="-122"/>
            </a:endParaRPr>
          </a:p>
          <a:p>
            <a:pPr marL="269240" indent="-269240" eaLnBrk="1" hangingPunct="1">
              <a:buSzTx/>
              <a:buNone/>
            </a:pPr>
            <a:r>
              <a:rPr lang="zh-CN" altLang="zh-CN" dirty="0">
                <a:ea typeface="宋体" pitchFamily="2" charset="-122"/>
              </a:rPr>
              <a:t>     用价格数据计算出这一篮子物品的费用</a:t>
            </a:r>
            <a:endParaRPr lang="zh-CN" altLang="zh-CN" dirty="0">
              <a:ea typeface="宋体" pitchFamily="2" charset="-122"/>
            </a:endParaRPr>
          </a:p>
        </p:txBody>
      </p:sp>
      <p:sp>
        <p:nvSpPr>
          <p:cNvPr id="11270"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79A91C18-65C6-B947-9894-3F9B5D3F42AB}"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12292" name="Rectangle 2"/>
          <p:cNvSpPr>
            <a:spLocks noGrp="1" noChangeArrowheads="1"/>
          </p:cNvSpPr>
          <p:nvPr>
            <p:ph type="title" idx="4294967295"/>
          </p:nvPr>
        </p:nvSpPr>
        <p:spPr/>
        <p:txBody>
          <a:bodyPr/>
          <a:lstStyle/>
          <a:p>
            <a:pPr eaLnBrk="1" hangingPunct="1"/>
            <a:r>
              <a:rPr lang="zh-CN" altLang="zh-CN" sz="1815">
                <a:ea typeface="宋体" pitchFamily="2" charset="-122"/>
              </a:rPr>
              <a:t>如何计算消费物价指数</a:t>
            </a:r>
            <a:endParaRPr lang="zh-CN" altLang="zh-CN" sz="1815">
              <a:ea typeface="宋体" pitchFamily="2" charset="-122"/>
            </a:endParaRPr>
          </a:p>
        </p:txBody>
      </p:sp>
      <p:sp>
        <p:nvSpPr>
          <p:cNvPr id="12293" name="Rectangle 3"/>
          <p:cNvSpPr>
            <a:spLocks noGrp="1" noChangeArrowheads="1"/>
          </p:cNvSpPr>
          <p:nvPr>
            <p:ph type="body" idx="4294967295"/>
          </p:nvPr>
        </p:nvSpPr>
        <p:spPr>
          <a:xfrm>
            <a:off x="188086" y="509819"/>
            <a:ext cx="4191509" cy="560255"/>
          </a:xfrm>
        </p:spPr>
        <p:txBody>
          <a:bodyPr/>
          <a:lstStyle/>
          <a:p>
            <a:pPr marL="269240" indent="-269240" eaLnBrk="1" hangingPunct="1">
              <a:buSzTx/>
              <a:buFont typeface="Wingdings" panose="05000000000000000000" pitchFamily="2" charset="2"/>
              <a:buAutoNum type="arabicPeriod" startAt="4"/>
            </a:pPr>
            <a:r>
              <a:rPr lang="zh-CN" altLang="zh-CN" b="1">
                <a:ea typeface="宋体" pitchFamily="2" charset="-122"/>
              </a:rPr>
              <a:t>选择基年并计算指数</a:t>
            </a:r>
            <a:br>
              <a:rPr lang="zh-CN" altLang="zh-CN" b="1">
                <a:ea typeface="宋体" pitchFamily="2" charset="-122"/>
              </a:rPr>
            </a:br>
            <a:r>
              <a:rPr lang="zh-CN" altLang="zh-CN">
                <a:ea typeface="宋体" pitchFamily="2" charset="-122"/>
              </a:rPr>
              <a:t>任一年的CPI等于</a:t>
            </a:r>
            <a:endParaRPr lang="zh-CN" altLang="zh-CN">
              <a:ea typeface="宋体" pitchFamily="2" charset="-122"/>
            </a:endParaRPr>
          </a:p>
        </p:txBody>
      </p:sp>
      <p:sp>
        <p:nvSpPr>
          <p:cNvPr id="12294" name="Rectangle 4"/>
          <p:cNvSpPr>
            <a:spLocks noChangeArrowheads="1"/>
          </p:cNvSpPr>
          <p:nvPr/>
        </p:nvSpPr>
        <p:spPr bwMode="auto">
          <a:xfrm>
            <a:off x="230505" y="1776796"/>
            <a:ext cx="4149090" cy="803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69240" indent="-269240" defTabSz="461010" eaLnBrk="1" fontAlgn="base" hangingPunct="1">
              <a:lnSpc>
                <a:spcPct val="105000"/>
              </a:lnSpc>
              <a:spcBef>
                <a:spcPct val="45000"/>
              </a:spcBef>
              <a:spcAft>
                <a:spcPct val="0"/>
              </a:spcAft>
              <a:buClr>
                <a:srgbClr val="339966"/>
              </a:buClr>
              <a:buFont typeface="Wingdings" panose="05000000000000000000" pitchFamily="2" charset="2"/>
              <a:buAutoNum type="arabicPeriod" startAt="5"/>
            </a:pPr>
            <a:r>
              <a:rPr lang="zh-CN" altLang="zh-CN" sz="1410" b="1">
                <a:solidFill>
                  <a:srgbClr val="000000"/>
                </a:solidFill>
                <a:ea typeface="宋体" pitchFamily="2" charset="-122"/>
              </a:rPr>
              <a:t>计算通货膨胀率</a:t>
            </a:r>
            <a:endParaRPr lang="zh-CN" altLang="zh-CN" sz="1410" b="1">
              <a:solidFill>
                <a:srgbClr val="000000"/>
              </a:solidFill>
              <a:ea typeface="宋体" pitchFamily="2" charset="-122"/>
            </a:endParaRPr>
          </a:p>
          <a:p>
            <a:pPr marL="269240" indent="-269240" defTabSz="461010" eaLnBrk="1" fontAlgn="base" hangingPunct="1">
              <a:lnSpc>
                <a:spcPct val="105000"/>
              </a:lnSpc>
              <a:spcBef>
                <a:spcPct val="45000"/>
              </a:spcBef>
              <a:spcAft>
                <a:spcPct val="0"/>
              </a:spcAft>
              <a:buClr>
                <a:srgbClr val="339966"/>
              </a:buClr>
            </a:pPr>
            <a:r>
              <a:rPr lang="zh-CN" altLang="zh-CN" sz="1410">
                <a:solidFill>
                  <a:srgbClr val="000000"/>
                </a:solidFill>
                <a:ea typeface="宋体" pitchFamily="2" charset="-122"/>
              </a:rPr>
              <a:t>    从上一年以来物价指数变动的百分比</a:t>
            </a:r>
            <a:endParaRPr lang="zh-CN" altLang="zh-CN" sz="1410">
              <a:solidFill>
                <a:srgbClr val="000000"/>
              </a:solidFill>
              <a:ea typeface="宋体" pitchFamily="2" charset="-122"/>
            </a:endParaRPr>
          </a:p>
        </p:txBody>
      </p:sp>
      <p:grpSp>
        <p:nvGrpSpPr>
          <p:cNvPr id="12295" name="Group 7"/>
          <p:cNvGrpSpPr/>
          <p:nvPr/>
        </p:nvGrpSpPr>
        <p:grpSpPr bwMode="auto">
          <a:xfrm>
            <a:off x="869196" y="978833"/>
            <a:ext cx="3568825" cy="955597"/>
            <a:chOff x="0" y="0"/>
            <a:chExt cx="3763" cy="787"/>
          </a:xfrm>
        </p:grpSpPr>
        <p:sp>
          <p:nvSpPr>
            <p:cNvPr id="12296" name="Text Box 11"/>
            <p:cNvSpPr txBox="1">
              <a:spLocks noChangeArrowheads="1"/>
            </p:cNvSpPr>
            <p:nvPr/>
          </p:nvSpPr>
          <p:spPr bwMode="auto">
            <a:xfrm>
              <a:off x="0" y="0"/>
              <a:ext cx="3763" cy="70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410">
                  <a:solidFill>
                    <a:srgbClr val="000000"/>
                  </a:solidFill>
                  <a:ea typeface="宋体" pitchFamily="2" charset="-122"/>
                </a:rPr>
                <a:t>100 </a:t>
              </a:r>
              <a:r>
                <a:rPr lang="en-US" altLang="zh-CN" sz="1260">
                  <a:solidFill>
                    <a:srgbClr val="000000"/>
                  </a:solidFill>
                  <a:ea typeface="宋体" pitchFamily="2" charset="-122"/>
                </a:rPr>
                <a:t>x</a:t>
              </a:r>
              <a:endParaRPr lang="en-US" altLang="zh-CN" sz="1260">
                <a:solidFill>
                  <a:srgbClr val="000000"/>
                </a:solidFill>
                <a:ea typeface="宋体" pitchFamily="2" charset="-122"/>
              </a:endParaRPr>
            </a:p>
          </p:txBody>
        </p:sp>
        <p:grpSp>
          <p:nvGrpSpPr>
            <p:cNvPr id="12297" name="Group 9"/>
            <p:cNvGrpSpPr/>
            <p:nvPr/>
          </p:nvGrpSpPr>
          <p:grpSpPr bwMode="auto">
            <a:xfrm>
              <a:off x="658" y="17"/>
              <a:ext cx="3000" cy="770"/>
              <a:chOff x="0" y="0"/>
              <a:chExt cx="3000" cy="770"/>
            </a:xfrm>
          </p:grpSpPr>
          <p:sp>
            <p:nvSpPr>
              <p:cNvPr id="12298" name="Text Box 7"/>
              <p:cNvSpPr txBox="1">
                <a:spLocks noChangeArrowheads="1"/>
              </p:cNvSpPr>
              <p:nvPr/>
            </p:nvSpPr>
            <p:spPr bwMode="auto">
              <a:xfrm>
                <a:off x="0" y="0"/>
                <a:ext cx="300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410" dirty="0">
                    <a:solidFill>
                      <a:srgbClr val="000000"/>
                    </a:solidFill>
                    <a:ea typeface="宋体" pitchFamily="2" charset="-122"/>
                  </a:rPr>
                  <a:t>当年一篮子物品与劳务的费用</a:t>
                </a:r>
                <a:endParaRPr lang="zh-CN" altLang="zh-CN" sz="1410" dirty="0">
                  <a:solidFill>
                    <a:srgbClr val="000000"/>
                  </a:solidFill>
                  <a:ea typeface="宋体" pitchFamily="2" charset="-122"/>
                </a:endParaRPr>
              </a:p>
            </p:txBody>
          </p:sp>
          <p:sp>
            <p:nvSpPr>
              <p:cNvPr id="12299" name="Text Box 8"/>
              <p:cNvSpPr txBox="1">
                <a:spLocks noChangeArrowheads="1"/>
              </p:cNvSpPr>
              <p:nvPr/>
            </p:nvSpPr>
            <p:spPr bwMode="auto">
              <a:xfrm>
                <a:off x="45" y="336"/>
                <a:ext cx="2927"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410" dirty="0">
                    <a:solidFill>
                      <a:srgbClr val="000000"/>
                    </a:solidFill>
                    <a:ea typeface="宋体" pitchFamily="2" charset="-122"/>
                  </a:rPr>
                  <a:t>基年一篮子物品与劳务的费用</a:t>
                </a:r>
                <a:endParaRPr lang="zh-CN" altLang="zh-CN" sz="1410" dirty="0">
                  <a:solidFill>
                    <a:srgbClr val="000000"/>
                  </a:solidFill>
                  <a:ea typeface="宋体" pitchFamily="2" charset="-122"/>
                </a:endParaRPr>
              </a:p>
            </p:txBody>
          </p:sp>
          <p:sp>
            <p:nvSpPr>
              <p:cNvPr id="12300" name="Line 9"/>
              <p:cNvSpPr>
                <a:spLocks noChangeShapeType="1"/>
              </p:cNvSpPr>
              <p:nvPr/>
            </p:nvSpPr>
            <p:spPr bwMode="auto">
              <a:xfrm>
                <a:off x="53" y="351"/>
                <a:ext cx="290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grpSp>
      <p:grpSp>
        <p:nvGrpSpPr>
          <p:cNvPr id="12301" name="Group 13"/>
          <p:cNvGrpSpPr/>
          <p:nvPr/>
        </p:nvGrpSpPr>
        <p:grpSpPr bwMode="auto">
          <a:xfrm>
            <a:off x="172079" y="2549948"/>
            <a:ext cx="4296357" cy="595472"/>
            <a:chOff x="0" y="0"/>
            <a:chExt cx="5221" cy="744"/>
          </a:xfrm>
        </p:grpSpPr>
        <p:sp>
          <p:nvSpPr>
            <p:cNvPr id="12302" name="Rectangle 24"/>
            <p:cNvSpPr>
              <a:spLocks noChangeArrowheads="1"/>
            </p:cNvSpPr>
            <p:nvPr/>
          </p:nvSpPr>
          <p:spPr bwMode="auto">
            <a:xfrm>
              <a:off x="0" y="0"/>
              <a:ext cx="5221" cy="6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grpSp>
          <p:nvGrpSpPr>
            <p:cNvPr id="12303" name="Group 15"/>
            <p:cNvGrpSpPr/>
            <p:nvPr/>
          </p:nvGrpSpPr>
          <p:grpSpPr bwMode="auto">
            <a:xfrm>
              <a:off x="75" y="21"/>
              <a:ext cx="5113" cy="723"/>
              <a:chOff x="0" y="0"/>
              <a:chExt cx="5113" cy="723"/>
            </a:xfrm>
          </p:grpSpPr>
          <p:grpSp>
            <p:nvGrpSpPr>
              <p:cNvPr id="12304" name="Group 16"/>
              <p:cNvGrpSpPr/>
              <p:nvPr/>
            </p:nvGrpSpPr>
            <p:grpSpPr bwMode="auto">
              <a:xfrm>
                <a:off x="1166" y="0"/>
                <a:ext cx="3052" cy="723"/>
                <a:chOff x="0" y="0"/>
                <a:chExt cx="3000" cy="723"/>
              </a:xfrm>
            </p:grpSpPr>
            <p:sp>
              <p:nvSpPr>
                <p:cNvPr id="12305" name="Text Box 17"/>
                <p:cNvSpPr txBox="1">
                  <a:spLocks noChangeArrowheads="1"/>
                </p:cNvSpPr>
                <p:nvPr/>
              </p:nvSpPr>
              <p:spPr bwMode="auto">
                <a:xfrm>
                  <a:off x="0" y="0"/>
                  <a:ext cx="300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410" dirty="0">
                      <a:solidFill>
                        <a:srgbClr val="000000"/>
                      </a:solidFill>
                      <a:ea typeface="宋体" pitchFamily="2" charset="-122"/>
                    </a:rPr>
                    <a:t>今年CPI –</a:t>
                  </a:r>
                  <a:r>
                    <a:rPr lang="zh-CN" altLang="zh-CN" sz="755" dirty="0">
                      <a:solidFill>
                        <a:srgbClr val="000000"/>
                      </a:solidFill>
                      <a:ea typeface="宋体" pitchFamily="2" charset="-122"/>
                    </a:rPr>
                    <a:t> </a:t>
                  </a:r>
                  <a:r>
                    <a:rPr lang="zh-CN" altLang="zh-CN" sz="1410" dirty="0">
                      <a:solidFill>
                        <a:srgbClr val="000000"/>
                      </a:solidFill>
                      <a:ea typeface="宋体" pitchFamily="2" charset="-122"/>
                    </a:rPr>
                    <a:t> 去年CPI</a:t>
                  </a:r>
                  <a:endParaRPr lang="zh-CN" altLang="zh-CN" sz="1410" dirty="0">
                    <a:solidFill>
                      <a:srgbClr val="000000"/>
                    </a:solidFill>
                    <a:ea typeface="宋体" pitchFamily="2" charset="-122"/>
                  </a:endParaRPr>
                </a:p>
              </p:txBody>
            </p:sp>
            <p:sp>
              <p:nvSpPr>
                <p:cNvPr id="12306" name="Text Box 18"/>
                <p:cNvSpPr txBox="1">
                  <a:spLocks noChangeArrowheads="1"/>
                </p:cNvSpPr>
                <p:nvPr/>
              </p:nvSpPr>
              <p:spPr bwMode="auto">
                <a:xfrm>
                  <a:off x="45" y="336"/>
                  <a:ext cx="2927"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410">
                      <a:solidFill>
                        <a:srgbClr val="000000"/>
                      </a:solidFill>
                      <a:ea typeface="宋体" pitchFamily="2" charset="-122"/>
                    </a:rPr>
                    <a:t>去年CPI</a:t>
                  </a:r>
                  <a:endParaRPr lang="zh-CN" altLang="zh-CN" sz="1410">
                    <a:solidFill>
                      <a:srgbClr val="000000"/>
                    </a:solidFill>
                    <a:ea typeface="宋体" pitchFamily="2" charset="-122"/>
                  </a:endParaRPr>
                </a:p>
              </p:txBody>
            </p:sp>
            <p:sp>
              <p:nvSpPr>
                <p:cNvPr id="12307" name="Line 19"/>
                <p:cNvSpPr>
                  <a:spLocks noChangeShapeType="1"/>
                </p:cNvSpPr>
                <p:nvPr/>
              </p:nvSpPr>
              <p:spPr bwMode="auto">
                <a:xfrm>
                  <a:off x="53" y="351"/>
                  <a:ext cx="290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12308" name="Text Box 20"/>
              <p:cNvSpPr txBox="1">
                <a:spLocks noChangeArrowheads="1"/>
              </p:cNvSpPr>
              <p:nvPr/>
            </p:nvSpPr>
            <p:spPr bwMode="auto">
              <a:xfrm>
                <a:off x="0" y="25"/>
                <a:ext cx="891" cy="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105000"/>
                  </a:lnSpc>
                  <a:spcBef>
                    <a:spcPct val="50000"/>
                  </a:spcBef>
                  <a:spcAft>
                    <a:spcPct val="0"/>
                  </a:spcAft>
                </a:pPr>
                <a:r>
                  <a:rPr lang="zh-CN" altLang="zh-CN" sz="1410">
                    <a:solidFill>
                      <a:srgbClr val="000000"/>
                    </a:solidFill>
                    <a:ea typeface="宋体" pitchFamily="2" charset="-122"/>
                  </a:rPr>
                  <a:t>通货膨胀率</a:t>
                </a:r>
                <a:endParaRPr lang="zh-CN" altLang="zh-CN" sz="1410">
                  <a:solidFill>
                    <a:srgbClr val="000000"/>
                  </a:solidFill>
                  <a:ea typeface="宋体" pitchFamily="2" charset="-122"/>
                </a:endParaRPr>
              </a:p>
            </p:txBody>
          </p:sp>
          <p:sp>
            <p:nvSpPr>
              <p:cNvPr id="12309" name="Text Box 21"/>
              <p:cNvSpPr txBox="1">
                <a:spLocks noChangeArrowheads="1"/>
              </p:cNvSpPr>
              <p:nvPr/>
            </p:nvSpPr>
            <p:spPr bwMode="auto">
              <a:xfrm>
                <a:off x="4170" y="159"/>
                <a:ext cx="94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en-US" altLang="zh-CN" sz="1310">
                    <a:solidFill>
                      <a:srgbClr val="000000"/>
                    </a:solidFill>
                    <a:latin typeface="Tahoma" panose="020B0604030504040204" pitchFamily="34" charset="0"/>
                    <a:ea typeface="宋体" pitchFamily="2" charset="-122"/>
                  </a:rPr>
                  <a:t>x</a:t>
                </a:r>
                <a:r>
                  <a:rPr lang="en-US" altLang="zh-CN" sz="1410">
                    <a:solidFill>
                      <a:srgbClr val="000000"/>
                    </a:solidFill>
                    <a:ea typeface="宋体" pitchFamily="2" charset="-122"/>
                  </a:rPr>
                  <a:t> 100%</a:t>
                </a:r>
                <a:endParaRPr lang="en-US" altLang="zh-CN" sz="1410">
                  <a:solidFill>
                    <a:srgbClr val="000000"/>
                  </a:solidFill>
                  <a:ea typeface="宋体" pitchFamily="2" charset="-122"/>
                </a:endParaRPr>
              </a:p>
            </p:txBody>
          </p:sp>
          <p:sp>
            <p:nvSpPr>
              <p:cNvPr id="12310" name="Text Box 22"/>
              <p:cNvSpPr txBox="1">
                <a:spLocks noChangeArrowheads="1"/>
              </p:cNvSpPr>
              <p:nvPr/>
            </p:nvSpPr>
            <p:spPr bwMode="auto">
              <a:xfrm>
                <a:off x="866" y="180"/>
                <a:ext cx="26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en-US" altLang="zh-CN" sz="1410">
                    <a:solidFill>
                      <a:srgbClr val="000000"/>
                    </a:solidFill>
                    <a:ea typeface="宋体" pitchFamily="2" charset="-122"/>
                  </a:rPr>
                  <a:t>=</a:t>
                </a:r>
                <a:endParaRPr lang="en-US" altLang="zh-CN" sz="1410">
                  <a:solidFill>
                    <a:srgbClr val="000000"/>
                  </a:solidFill>
                  <a:ea typeface="宋体" pitchFamily="2" charset="-122"/>
                </a:endParaRPr>
              </a:p>
            </p:txBody>
          </p:sp>
        </p:grpSp>
      </p:grpSp>
      <p:sp>
        <p:nvSpPr>
          <p:cNvPr id="12311"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dissolve">
                                      <p:cBhvr>
                                        <p:cTn id="7" dur="500"/>
                                        <p:tgtEl>
                                          <p:spTgt spid="122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94"/>
                                        </p:tgtEl>
                                        <p:attrNameLst>
                                          <p:attrName>style.visibility</p:attrName>
                                        </p:attrNameLst>
                                      </p:cBhvr>
                                      <p:to>
                                        <p:strVal val="visible"/>
                                      </p:to>
                                    </p:set>
                                    <p:animEffect transition="in" filter="wipe(left)">
                                      <p:cBhvr>
                                        <p:cTn id="12" dur="500"/>
                                        <p:tgtEl>
                                          <p:spTgt spid="1229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2301"/>
                                        </p:tgtEl>
                                        <p:attrNameLst>
                                          <p:attrName>style.visibility</p:attrName>
                                        </p:attrNameLst>
                                      </p:cBhvr>
                                      <p:to>
                                        <p:strVal val="visible"/>
                                      </p:to>
                                    </p:set>
                                    <p:animEffect transition="in" filter="dissolve">
                                      <p:cBhvr>
                                        <p:cTn id="16" dur="500"/>
                                        <p:tgtEl>
                                          <p:spTgt spid="12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6843A17C-9BDD-5144-9EED-3C9FD01AD356}"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13316" name="Rectangle 2"/>
          <p:cNvSpPr>
            <a:spLocks noGrp="1" noChangeArrowheads="1"/>
          </p:cNvSpPr>
          <p:nvPr>
            <p:ph type="title" idx="4294967295"/>
          </p:nvPr>
        </p:nvSpPr>
        <p:spPr>
          <a:xfrm>
            <a:off x="185685" y="106436"/>
            <a:ext cx="1185340" cy="307340"/>
          </a:xfrm>
        </p:spPr>
        <p:txBody>
          <a:bodyPr/>
          <a:lstStyle/>
          <a:p>
            <a:pPr algn="l" eaLnBrk="1" hangingPunct="1"/>
            <a:r>
              <a:rPr lang="zh-CN" altLang="zh-CN" sz="1615">
                <a:ea typeface="宋体" pitchFamily="2" charset="-122"/>
              </a:rPr>
              <a:t>例：</a:t>
            </a:r>
            <a:endParaRPr lang="zh-CN" altLang="zh-CN" sz="1615">
              <a:ea typeface="宋体" pitchFamily="2" charset="-122"/>
            </a:endParaRPr>
          </a:p>
        </p:txBody>
      </p:sp>
      <p:sp>
        <p:nvSpPr>
          <p:cNvPr id="13317" name="Rectangle 3"/>
          <p:cNvSpPr>
            <a:spLocks noGrp="1" noChangeArrowheads="1"/>
          </p:cNvSpPr>
          <p:nvPr>
            <p:ph type="body" idx="4294967295"/>
          </p:nvPr>
        </p:nvSpPr>
        <p:spPr>
          <a:xfrm>
            <a:off x="1868852" y="180869"/>
            <a:ext cx="2406696" cy="276126"/>
          </a:xfrm>
        </p:spPr>
        <p:txBody>
          <a:bodyPr/>
          <a:lstStyle/>
          <a:p>
            <a:pPr marL="203200" indent="-203200" algn="ctr" eaLnBrk="1" hangingPunct="1">
              <a:buSzTx/>
              <a:buNone/>
            </a:pPr>
            <a:r>
              <a:rPr lang="zh-CN" altLang="zh-CN" sz="1110">
                <a:ea typeface="宋体" pitchFamily="2" charset="-122"/>
              </a:rPr>
              <a:t>篮子： {4 个皮萨, 10杯拿铁咖啡}</a:t>
            </a:r>
            <a:endParaRPr lang="zh-CN" altLang="zh-CN" sz="1110">
              <a:ea typeface="宋体" pitchFamily="2" charset="-122"/>
            </a:endParaRPr>
          </a:p>
        </p:txBody>
      </p:sp>
      <p:sp>
        <p:nvSpPr>
          <p:cNvPr id="13318" name="Rectangle 4"/>
          <p:cNvSpPr>
            <a:spLocks noChangeArrowheads="1"/>
          </p:cNvSpPr>
          <p:nvPr/>
        </p:nvSpPr>
        <p:spPr bwMode="auto">
          <a:xfrm>
            <a:off x="2232217" y="1489466"/>
            <a:ext cx="2155382" cy="2489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119380"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60325"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$12 x 4  +  $3 x 10    =  </a:t>
            </a:r>
            <a:r>
              <a:rPr lang="en-US" altLang="zh-CN" sz="1210">
                <a:solidFill>
                  <a:srgbClr val="CC0000"/>
                </a:solidFill>
                <a:ea typeface="宋体" pitchFamily="2" charset="-122"/>
              </a:rPr>
              <a:t>$78</a:t>
            </a:r>
            <a:endParaRPr lang="en-US" altLang="zh-CN" sz="1210">
              <a:solidFill>
                <a:srgbClr val="CC0000"/>
              </a:solidFill>
              <a:ea typeface="宋体" pitchFamily="2" charset="-122"/>
            </a:endParaRPr>
          </a:p>
        </p:txBody>
      </p:sp>
      <p:sp>
        <p:nvSpPr>
          <p:cNvPr id="13319" name="Rectangle 5"/>
          <p:cNvSpPr>
            <a:spLocks noChangeArrowheads="1"/>
          </p:cNvSpPr>
          <p:nvPr/>
        </p:nvSpPr>
        <p:spPr bwMode="auto">
          <a:xfrm>
            <a:off x="2232217" y="1241353"/>
            <a:ext cx="2155382" cy="248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119380"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60325"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$11 x 4  + $2.5 x 10  =  </a:t>
            </a:r>
            <a:r>
              <a:rPr lang="en-US" altLang="zh-CN" sz="1210">
                <a:solidFill>
                  <a:srgbClr val="CC0000"/>
                </a:solidFill>
                <a:ea typeface="宋体" pitchFamily="2" charset="-122"/>
              </a:rPr>
              <a:t>$69</a:t>
            </a:r>
            <a:endParaRPr lang="en-US" altLang="zh-CN" sz="1210">
              <a:solidFill>
                <a:srgbClr val="CC0000"/>
              </a:solidFill>
              <a:ea typeface="宋体" pitchFamily="2" charset="-122"/>
            </a:endParaRPr>
          </a:p>
        </p:txBody>
      </p:sp>
      <p:sp>
        <p:nvSpPr>
          <p:cNvPr id="13320" name="Rectangle 6"/>
          <p:cNvSpPr>
            <a:spLocks noChangeArrowheads="1"/>
          </p:cNvSpPr>
          <p:nvPr/>
        </p:nvSpPr>
        <p:spPr bwMode="auto">
          <a:xfrm>
            <a:off x="2232217" y="992439"/>
            <a:ext cx="2155382" cy="24891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119380"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60325"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$10 x 4  +  $2 x 10    =  </a:t>
            </a:r>
            <a:r>
              <a:rPr lang="en-US" altLang="zh-CN" sz="1210">
                <a:solidFill>
                  <a:srgbClr val="CC0000"/>
                </a:solidFill>
                <a:ea typeface="宋体" pitchFamily="2" charset="-122"/>
              </a:rPr>
              <a:t>$60</a:t>
            </a:r>
            <a:endParaRPr lang="en-US" altLang="zh-CN" sz="1210">
              <a:solidFill>
                <a:srgbClr val="CC0000"/>
              </a:solidFill>
              <a:ea typeface="宋体" pitchFamily="2" charset="-122"/>
            </a:endParaRPr>
          </a:p>
        </p:txBody>
      </p:sp>
      <p:sp>
        <p:nvSpPr>
          <p:cNvPr id="13321" name="Rectangle 7"/>
          <p:cNvSpPr>
            <a:spLocks noChangeArrowheads="1"/>
          </p:cNvSpPr>
          <p:nvPr/>
        </p:nvSpPr>
        <p:spPr bwMode="auto">
          <a:xfrm>
            <a:off x="2232217" y="526627"/>
            <a:ext cx="2155382" cy="46581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itchFamily="2" charset="-122"/>
              </a:rPr>
              <a:t>篮子费用</a:t>
            </a:r>
            <a:endParaRPr lang="zh-CN" altLang="zh-CN" sz="1210">
              <a:solidFill>
                <a:srgbClr val="000000"/>
              </a:solidFill>
              <a:ea typeface="宋体" pitchFamily="2" charset="-122"/>
            </a:endParaRPr>
          </a:p>
        </p:txBody>
      </p:sp>
      <p:grpSp>
        <p:nvGrpSpPr>
          <p:cNvPr id="13322" name="Group 10"/>
          <p:cNvGrpSpPr/>
          <p:nvPr/>
        </p:nvGrpSpPr>
        <p:grpSpPr bwMode="auto">
          <a:xfrm>
            <a:off x="232106" y="526627"/>
            <a:ext cx="4155493" cy="1211752"/>
            <a:chOff x="0" y="0"/>
            <a:chExt cx="5192" cy="1514"/>
          </a:xfrm>
        </p:grpSpPr>
        <p:grpSp>
          <p:nvGrpSpPr>
            <p:cNvPr id="13323" name="Group 11"/>
            <p:cNvGrpSpPr/>
            <p:nvPr/>
          </p:nvGrpSpPr>
          <p:grpSpPr bwMode="auto">
            <a:xfrm>
              <a:off x="0" y="0"/>
              <a:ext cx="2499" cy="1514"/>
              <a:chOff x="0" y="0"/>
              <a:chExt cx="2499" cy="1514"/>
            </a:xfrm>
          </p:grpSpPr>
          <p:sp>
            <p:nvSpPr>
              <p:cNvPr id="13324" name="Rectangle 10"/>
              <p:cNvSpPr>
                <a:spLocks noChangeArrowheads="1"/>
              </p:cNvSpPr>
              <p:nvPr/>
            </p:nvSpPr>
            <p:spPr bwMode="auto">
              <a:xfrm>
                <a:off x="1549" y="1203"/>
                <a:ext cx="950"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$3.00</a:t>
                </a:r>
                <a:endParaRPr lang="en-US" altLang="zh-CN" sz="1210">
                  <a:solidFill>
                    <a:srgbClr val="000000"/>
                  </a:solidFill>
                  <a:ea typeface="宋体" pitchFamily="2" charset="-122"/>
                </a:endParaRPr>
              </a:p>
            </p:txBody>
          </p:sp>
          <p:sp>
            <p:nvSpPr>
              <p:cNvPr id="13325" name="Rectangle 11"/>
              <p:cNvSpPr>
                <a:spLocks noChangeArrowheads="1"/>
              </p:cNvSpPr>
              <p:nvPr/>
            </p:nvSpPr>
            <p:spPr bwMode="auto">
              <a:xfrm>
                <a:off x="1549" y="893"/>
                <a:ext cx="950" cy="3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$2.50</a:t>
                </a:r>
                <a:endParaRPr lang="en-US" altLang="zh-CN" sz="1210">
                  <a:solidFill>
                    <a:srgbClr val="000000"/>
                  </a:solidFill>
                  <a:ea typeface="宋体" pitchFamily="2" charset="-122"/>
                </a:endParaRPr>
              </a:p>
            </p:txBody>
          </p:sp>
          <p:sp>
            <p:nvSpPr>
              <p:cNvPr id="13326" name="Rectangle 12"/>
              <p:cNvSpPr>
                <a:spLocks noChangeArrowheads="1"/>
              </p:cNvSpPr>
              <p:nvPr/>
            </p:nvSpPr>
            <p:spPr bwMode="auto">
              <a:xfrm>
                <a:off x="1549" y="582"/>
                <a:ext cx="950"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$2.00</a:t>
                </a:r>
                <a:endParaRPr lang="en-US" altLang="zh-CN" sz="1210">
                  <a:solidFill>
                    <a:srgbClr val="000000"/>
                  </a:solidFill>
                  <a:ea typeface="宋体" pitchFamily="2" charset="-122"/>
                </a:endParaRPr>
              </a:p>
            </p:txBody>
          </p:sp>
          <p:sp>
            <p:nvSpPr>
              <p:cNvPr id="13327" name="Rectangle 13"/>
              <p:cNvSpPr>
                <a:spLocks noChangeArrowheads="1"/>
              </p:cNvSpPr>
              <p:nvPr/>
            </p:nvSpPr>
            <p:spPr bwMode="auto">
              <a:xfrm>
                <a:off x="1549" y="0"/>
                <a:ext cx="950" cy="58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itchFamily="2" charset="-122"/>
                  </a:rPr>
                  <a:t>拿铁咖啡价格</a:t>
                </a:r>
                <a:endParaRPr lang="zh-CN" altLang="zh-CN" sz="1210">
                  <a:solidFill>
                    <a:srgbClr val="000000"/>
                  </a:solidFill>
                  <a:ea typeface="宋体" pitchFamily="2" charset="-122"/>
                </a:endParaRPr>
              </a:p>
            </p:txBody>
          </p:sp>
          <p:sp>
            <p:nvSpPr>
              <p:cNvPr id="13328" name="Rectangle 14"/>
              <p:cNvSpPr>
                <a:spLocks noChangeArrowheads="1"/>
              </p:cNvSpPr>
              <p:nvPr/>
            </p:nvSpPr>
            <p:spPr bwMode="auto">
              <a:xfrm>
                <a:off x="674" y="1203"/>
                <a:ext cx="875"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$12</a:t>
                </a:r>
                <a:endParaRPr lang="en-US" altLang="zh-CN" sz="1210">
                  <a:solidFill>
                    <a:srgbClr val="000000"/>
                  </a:solidFill>
                  <a:ea typeface="宋体" pitchFamily="2" charset="-122"/>
                </a:endParaRPr>
              </a:p>
            </p:txBody>
          </p:sp>
          <p:sp>
            <p:nvSpPr>
              <p:cNvPr id="13329" name="Rectangle 15"/>
              <p:cNvSpPr>
                <a:spLocks noChangeArrowheads="1"/>
              </p:cNvSpPr>
              <p:nvPr/>
            </p:nvSpPr>
            <p:spPr bwMode="auto">
              <a:xfrm>
                <a:off x="0" y="1203"/>
                <a:ext cx="674"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2009</a:t>
                </a:r>
                <a:endParaRPr lang="en-US" altLang="zh-CN" sz="1210">
                  <a:solidFill>
                    <a:srgbClr val="000000"/>
                  </a:solidFill>
                  <a:ea typeface="宋体" pitchFamily="2" charset="-122"/>
                </a:endParaRPr>
              </a:p>
            </p:txBody>
          </p:sp>
          <p:sp>
            <p:nvSpPr>
              <p:cNvPr id="13330" name="Rectangle 16"/>
              <p:cNvSpPr>
                <a:spLocks noChangeArrowheads="1"/>
              </p:cNvSpPr>
              <p:nvPr/>
            </p:nvSpPr>
            <p:spPr bwMode="auto">
              <a:xfrm>
                <a:off x="674" y="893"/>
                <a:ext cx="875" cy="3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$11</a:t>
                </a:r>
                <a:endParaRPr lang="en-US" altLang="zh-CN" sz="1210">
                  <a:solidFill>
                    <a:srgbClr val="000000"/>
                  </a:solidFill>
                  <a:ea typeface="宋体" pitchFamily="2" charset="-122"/>
                </a:endParaRPr>
              </a:p>
            </p:txBody>
          </p:sp>
          <p:sp>
            <p:nvSpPr>
              <p:cNvPr id="13331" name="Rectangle 17"/>
              <p:cNvSpPr>
                <a:spLocks noChangeArrowheads="1"/>
              </p:cNvSpPr>
              <p:nvPr/>
            </p:nvSpPr>
            <p:spPr bwMode="auto">
              <a:xfrm>
                <a:off x="0" y="893"/>
                <a:ext cx="674" cy="3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2008</a:t>
                </a:r>
                <a:endParaRPr lang="en-US" altLang="zh-CN" sz="1210">
                  <a:solidFill>
                    <a:srgbClr val="000000"/>
                  </a:solidFill>
                  <a:ea typeface="宋体" pitchFamily="2" charset="-122"/>
                </a:endParaRPr>
              </a:p>
            </p:txBody>
          </p:sp>
          <p:sp>
            <p:nvSpPr>
              <p:cNvPr id="13332" name="Rectangle 18"/>
              <p:cNvSpPr>
                <a:spLocks noChangeArrowheads="1"/>
              </p:cNvSpPr>
              <p:nvPr/>
            </p:nvSpPr>
            <p:spPr bwMode="auto">
              <a:xfrm>
                <a:off x="674" y="582"/>
                <a:ext cx="875"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$10</a:t>
                </a:r>
                <a:endParaRPr lang="en-US" altLang="zh-CN" sz="1210">
                  <a:solidFill>
                    <a:srgbClr val="000000"/>
                  </a:solidFill>
                  <a:ea typeface="宋体" pitchFamily="2" charset="-122"/>
                </a:endParaRPr>
              </a:p>
            </p:txBody>
          </p:sp>
          <p:sp>
            <p:nvSpPr>
              <p:cNvPr id="13333" name="Rectangle 19"/>
              <p:cNvSpPr>
                <a:spLocks noChangeArrowheads="1"/>
              </p:cNvSpPr>
              <p:nvPr/>
            </p:nvSpPr>
            <p:spPr bwMode="auto">
              <a:xfrm>
                <a:off x="0" y="582"/>
                <a:ext cx="674"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itchFamily="2" charset="-122"/>
                  </a:rPr>
                  <a:t>2007</a:t>
                </a:r>
                <a:endParaRPr lang="en-US" altLang="zh-CN" sz="1210">
                  <a:solidFill>
                    <a:srgbClr val="000000"/>
                  </a:solidFill>
                  <a:ea typeface="宋体" pitchFamily="2" charset="-122"/>
                </a:endParaRPr>
              </a:p>
            </p:txBody>
          </p:sp>
          <p:sp>
            <p:nvSpPr>
              <p:cNvPr id="13334" name="Rectangle 20"/>
              <p:cNvSpPr>
                <a:spLocks noChangeArrowheads="1"/>
              </p:cNvSpPr>
              <p:nvPr/>
            </p:nvSpPr>
            <p:spPr bwMode="auto">
              <a:xfrm>
                <a:off x="674" y="0"/>
                <a:ext cx="875" cy="58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itchFamily="2" charset="-122"/>
                  </a:rPr>
                  <a:t>皮萨价格</a:t>
                </a:r>
                <a:endParaRPr lang="zh-CN" altLang="zh-CN" sz="1210">
                  <a:solidFill>
                    <a:srgbClr val="000000"/>
                  </a:solidFill>
                  <a:ea typeface="宋体" pitchFamily="2" charset="-122"/>
                </a:endParaRPr>
              </a:p>
            </p:txBody>
          </p:sp>
          <p:sp>
            <p:nvSpPr>
              <p:cNvPr id="13335" name="Rectangle 21"/>
              <p:cNvSpPr>
                <a:spLocks noChangeArrowheads="1"/>
              </p:cNvSpPr>
              <p:nvPr/>
            </p:nvSpPr>
            <p:spPr bwMode="auto">
              <a:xfrm>
                <a:off x="0" y="0"/>
                <a:ext cx="674" cy="58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itchFamily="2" charset="-122"/>
                  </a:rPr>
                  <a:t>年份</a:t>
                </a:r>
                <a:endParaRPr lang="zh-CN" altLang="zh-CN" sz="1210">
                  <a:solidFill>
                    <a:srgbClr val="000000"/>
                  </a:solidFill>
                  <a:ea typeface="宋体" pitchFamily="2" charset="-122"/>
                </a:endParaRPr>
              </a:p>
            </p:txBody>
          </p:sp>
        </p:grpSp>
        <p:grpSp>
          <p:nvGrpSpPr>
            <p:cNvPr id="13336" name="Group 24"/>
            <p:cNvGrpSpPr/>
            <p:nvPr/>
          </p:nvGrpSpPr>
          <p:grpSpPr bwMode="auto">
            <a:xfrm>
              <a:off x="0" y="0"/>
              <a:ext cx="5192" cy="1514"/>
              <a:chOff x="0" y="0"/>
              <a:chExt cx="5192" cy="1514"/>
            </a:xfrm>
          </p:grpSpPr>
          <p:sp>
            <p:nvSpPr>
              <p:cNvPr id="13337" name="Line 23"/>
              <p:cNvSpPr>
                <a:spLocks noChangeShapeType="1"/>
              </p:cNvSpPr>
              <p:nvPr/>
            </p:nvSpPr>
            <p:spPr bwMode="auto">
              <a:xfrm>
                <a:off x="0" y="0"/>
                <a:ext cx="519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38" name="Line 24"/>
              <p:cNvSpPr>
                <a:spLocks noChangeShapeType="1"/>
              </p:cNvSpPr>
              <p:nvPr/>
            </p:nvSpPr>
            <p:spPr bwMode="auto">
              <a:xfrm>
                <a:off x="0" y="582"/>
                <a:ext cx="519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39" name="Line 25"/>
              <p:cNvSpPr>
                <a:spLocks noChangeShapeType="1"/>
              </p:cNvSpPr>
              <p:nvPr/>
            </p:nvSpPr>
            <p:spPr bwMode="auto">
              <a:xfrm>
                <a:off x="0" y="893"/>
                <a:ext cx="519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0" name="Line 26"/>
              <p:cNvSpPr>
                <a:spLocks noChangeShapeType="1"/>
              </p:cNvSpPr>
              <p:nvPr/>
            </p:nvSpPr>
            <p:spPr bwMode="auto">
              <a:xfrm>
                <a:off x="0" y="1203"/>
                <a:ext cx="5192"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1" name="Line 27"/>
              <p:cNvSpPr>
                <a:spLocks noChangeShapeType="1"/>
              </p:cNvSpPr>
              <p:nvPr/>
            </p:nvSpPr>
            <p:spPr bwMode="auto">
              <a:xfrm>
                <a:off x="0" y="1514"/>
                <a:ext cx="519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2" name="Line 28"/>
              <p:cNvSpPr>
                <a:spLocks noChangeShapeType="1"/>
              </p:cNvSpPr>
              <p:nvPr/>
            </p:nvSpPr>
            <p:spPr bwMode="auto">
              <a:xfrm>
                <a:off x="0" y="0"/>
                <a:ext cx="0" cy="151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3" name="Line 29"/>
              <p:cNvSpPr>
                <a:spLocks noChangeShapeType="1"/>
              </p:cNvSpPr>
              <p:nvPr/>
            </p:nvSpPr>
            <p:spPr bwMode="auto">
              <a:xfrm>
                <a:off x="674" y="0"/>
                <a:ext cx="0" cy="151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4" name="Line 30"/>
              <p:cNvSpPr>
                <a:spLocks noChangeShapeType="1"/>
              </p:cNvSpPr>
              <p:nvPr/>
            </p:nvSpPr>
            <p:spPr bwMode="auto">
              <a:xfrm>
                <a:off x="1549" y="0"/>
                <a:ext cx="0" cy="151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5" name="Line 31"/>
              <p:cNvSpPr>
                <a:spLocks noChangeShapeType="1"/>
              </p:cNvSpPr>
              <p:nvPr/>
            </p:nvSpPr>
            <p:spPr bwMode="auto">
              <a:xfrm>
                <a:off x="5192" y="0"/>
                <a:ext cx="0" cy="151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nchor="ctr" anchorCtr="1"/>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3346" name="Line 32"/>
              <p:cNvSpPr>
                <a:spLocks noChangeShapeType="1"/>
              </p:cNvSpPr>
              <p:nvPr/>
            </p:nvSpPr>
            <p:spPr bwMode="auto">
              <a:xfrm>
                <a:off x="2499" y="0"/>
                <a:ext cx="0" cy="151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grpSp>
      <p:sp>
        <p:nvSpPr>
          <p:cNvPr id="13347" name="Rectangle 33"/>
          <p:cNvSpPr>
            <a:spLocks noChangeArrowheads="1"/>
          </p:cNvSpPr>
          <p:nvPr/>
        </p:nvSpPr>
        <p:spPr bwMode="auto">
          <a:xfrm>
            <a:off x="144866" y="1824818"/>
            <a:ext cx="2585176" cy="136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55000"/>
              </a:spcBef>
              <a:spcAft>
                <a:spcPct val="0"/>
              </a:spcAft>
              <a:buClr>
                <a:srgbClr val="00B85C"/>
              </a:buClr>
            </a:pPr>
            <a:r>
              <a:rPr lang="zh-CN" altLang="zh-CN" sz="1310" dirty="0">
                <a:solidFill>
                  <a:srgbClr val="000000"/>
                </a:solidFill>
                <a:ea typeface="宋体" pitchFamily="2" charset="-122"/>
              </a:rPr>
              <a:t>计算每年的CPI</a:t>
            </a:r>
            <a:endParaRPr lang="zh-CN" altLang="zh-CN" sz="1310" dirty="0">
              <a:solidFill>
                <a:srgbClr val="000000"/>
              </a:solidFill>
              <a:ea typeface="宋体" pitchFamily="2" charset="-122"/>
            </a:endParaRPr>
          </a:p>
          <a:p>
            <a:pPr defTabSz="461010" eaLnBrk="1" fontAlgn="base" hangingPunct="1">
              <a:lnSpc>
                <a:spcPct val="105000"/>
              </a:lnSpc>
              <a:spcBef>
                <a:spcPct val="55000"/>
              </a:spcBef>
              <a:spcAft>
                <a:spcPct val="0"/>
              </a:spcAft>
              <a:buClr>
                <a:srgbClr val="00B85C"/>
              </a:buClr>
            </a:pPr>
            <a:r>
              <a:rPr lang="zh-CN" altLang="zh-CN" sz="1310" dirty="0">
                <a:solidFill>
                  <a:srgbClr val="000000"/>
                </a:solidFill>
                <a:ea typeface="宋体" pitchFamily="2" charset="-122"/>
              </a:rPr>
              <a:t>2007:   100 x ($60/$60) = </a:t>
            </a:r>
            <a:r>
              <a:rPr lang="zh-CN" altLang="zh-CN" sz="1310" dirty="0">
                <a:solidFill>
                  <a:srgbClr val="CC0000"/>
                </a:solidFill>
                <a:ea typeface="宋体" pitchFamily="2" charset="-122"/>
              </a:rPr>
              <a:t>100</a:t>
            </a:r>
            <a:endParaRPr lang="zh-CN" altLang="zh-CN" sz="1310" dirty="0">
              <a:solidFill>
                <a:srgbClr val="CC0000"/>
              </a:solidFill>
              <a:ea typeface="宋体" pitchFamily="2" charset="-122"/>
            </a:endParaRPr>
          </a:p>
          <a:p>
            <a:pPr defTabSz="461010" eaLnBrk="1" fontAlgn="base" hangingPunct="1">
              <a:lnSpc>
                <a:spcPct val="105000"/>
              </a:lnSpc>
              <a:spcBef>
                <a:spcPct val="55000"/>
              </a:spcBef>
              <a:spcAft>
                <a:spcPct val="0"/>
              </a:spcAft>
              <a:buClr>
                <a:srgbClr val="00B85C"/>
              </a:buClr>
            </a:pPr>
            <a:r>
              <a:rPr lang="zh-CN" altLang="zh-CN" sz="1310" dirty="0">
                <a:solidFill>
                  <a:srgbClr val="000000"/>
                </a:solidFill>
                <a:ea typeface="宋体" pitchFamily="2" charset="-122"/>
              </a:rPr>
              <a:t>2008:   100 x ($69/$60) = </a:t>
            </a:r>
            <a:r>
              <a:rPr lang="zh-CN" altLang="zh-CN" sz="1310" dirty="0">
                <a:solidFill>
                  <a:srgbClr val="CC0000"/>
                </a:solidFill>
                <a:ea typeface="宋体" pitchFamily="2" charset="-122"/>
              </a:rPr>
              <a:t>115</a:t>
            </a:r>
            <a:endParaRPr lang="zh-CN" altLang="zh-CN" sz="1310" dirty="0">
              <a:solidFill>
                <a:srgbClr val="CC0000"/>
              </a:solidFill>
              <a:ea typeface="宋体" pitchFamily="2" charset="-122"/>
            </a:endParaRPr>
          </a:p>
          <a:p>
            <a:pPr defTabSz="461010" eaLnBrk="1" fontAlgn="base" hangingPunct="1">
              <a:lnSpc>
                <a:spcPct val="105000"/>
              </a:lnSpc>
              <a:spcBef>
                <a:spcPct val="55000"/>
              </a:spcBef>
              <a:spcAft>
                <a:spcPct val="0"/>
              </a:spcAft>
              <a:buClr>
                <a:srgbClr val="00B85C"/>
              </a:buClr>
            </a:pPr>
            <a:r>
              <a:rPr lang="zh-CN" altLang="zh-CN" sz="1310" dirty="0">
                <a:solidFill>
                  <a:srgbClr val="000000"/>
                </a:solidFill>
                <a:ea typeface="宋体" pitchFamily="2" charset="-122"/>
              </a:rPr>
              <a:t>2009:   100 x ($78/$60) = </a:t>
            </a:r>
            <a:r>
              <a:rPr lang="zh-CN" altLang="zh-CN" sz="1310" dirty="0">
                <a:solidFill>
                  <a:srgbClr val="CC0000"/>
                </a:solidFill>
                <a:ea typeface="宋体" pitchFamily="2" charset="-122"/>
              </a:rPr>
              <a:t>130</a:t>
            </a:r>
            <a:endParaRPr lang="zh-CN" altLang="zh-CN" sz="1310" dirty="0">
              <a:solidFill>
                <a:srgbClr val="CC0000"/>
              </a:solidFill>
              <a:ea typeface="宋体" pitchFamily="2" charset="-122"/>
            </a:endParaRPr>
          </a:p>
        </p:txBody>
      </p:sp>
      <p:sp>
        <p:nvSpPr>
          <p:cNvPr id="13348" name="Text Box 40"/>
          <p:cNvSpPr txBox="1">
            <a:spLocks noChangeArrowheads="1"/>
          </p:cNvSpPr>
          <p:nvPr/>
        </p:nvSpPr>
        <p:spPr bwMode="auto">
          <a:xfrm>
            <a:off x="2674819" y="1878443"/>
            <a:ext cx="1150124"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zh-CN" sz="1310">
                <a:solidFill>
                  <a:srgbClr val="000000"/>
                </a:solidFill>
                <a:ea typeface="宋体" pitchFamily="2" charset="-122"/>
              </a:rPr>
              <a:t>通货膨胀率:</a:t>
            </a:r>
            <a:endParaRPr lang="zh-CN" altLang="zh-CN" sz="1310" b="1">
              <a:solidFill>
                <a:srgbClr val="000000"/>
              </a:solidFill>
              <a:ea typeface="宋体" pitchFamily="2" charset="-122"/>
            </a:endParaRPr>
          </a:p>
        </p:txBody>
      </p:sp>
      <p:sp>
        <p:nvSpPr>
          <p:cNvPr id="13349"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grpSp>
        <p:nvGrpSpPr>
          <p:cNvPr id="13350" name="Group 38"/>
          <p:cNvGrpSpPr/>
          <p:nvPr/>
        </p:nvGrpSpPr>
        <p:grpSpPr bwMode="auto">
          <a:xfrm>
            <a:off x="2408297" y="2167374"/>
            <a:ext cx="2016919" cy="429796"/>
            <a:chOff x="0" y="-2"/>
            <a:chExt cx="2520" cy="537"/>
          </a:xfrm>
        </p:grpSpPr>
        <p:sp>
          <p:nvSpPr>
            <p:cNvPr id="13351" name="Text Box 35"/>
            <p:cNvSpPr txBox="1">
              <a:spLocks noChangeArrowheads="1"/>
            </p:cNvSpPr>
            <p:nvPr/>
          </p:nvSpPr>
          <p:spPr bwMode="auto">
            <a:xfrm>
              <a:off x="193" y="99"/>
              <a:ext cx="492"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310">
                  <a:solidFill>
                    <a:srgbClr val="000000"/>
                  </a:solidFill>
                  <a:ea typeface="宋体" pitchFamily="2" charset="-122"/>
                </a:rPr>
                <a:t>15%</a:t>
              </a:r>
              <a:endParaRPr lang="en-US" altLang="zh-CN" sz="1310">
                <a:solidFill>
                  <a:srgbClr val="000000"/>
                </a:solidFill>
                <a:ea typeface="宋体" pitchFamily="2" charset="-122"/>
              </a:endParaRPr>
            </a:p>
          </p:txBody>
        </p:sp>
        <p:sp>
          <p:nvSpPr>
            <p:cNvPr id="13352" name="AutoShape 36"/>
            <p:cNvSpPr/>
            <p:nvPr/>
          </p:nvSpPr>
          <p:spPr bwMode="auto">
            <a:xfrm>
              <a:off x="0" y="121"/>
              <a:ext cx="156" cy="414"/>
            </a:xfrm>
            <a:prstGeom prst="rightBrace">
              <a:avLst>
                <a:gd name="adj1" fmla="val 32055"/>
                <a:gd name="adj2" fmla="val 42755"/>
              </a:avLst>
            </a:prstGeom>
            <a:noFill/>
            <a:ln w="1905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grpSp>
          <p:nvGrpSpPr>
            <p:cNvPr id="13353" name="Group 41"/>
            <p:cNvGrpSpPr/>
            <p:nvPr/>
          </p:nvGrpSpPr>
          <p:grpSpPr bwMode="auto">
            <a:xfrm>
              <a:off x="742" y="-2"/>
              <a:ext cx="1778" cy="502"/>
              <a:chOff x="0" y="-2"/>
              <a:chExt cx="1778" cy="502"/>
            </a:xfrm>
          </p:grpSpPr>
          <p:sp>
            <p:nvSpPr>
              <p:cNvPr id="13354" name="Rectangle 43"/>
              <p:cNvSpPr>
                <a:spLocks noChangeArrowheads="1"/>
              </p:cNvSpPr>
              <p:nvPr/>
            </p:nvSpPr>
            <p:spPr bwMode="auto">
              <a:xfrm>
                <a:off x="148" y="-2"/>
                <a:ext cx="8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115</a:t>
                </a:r>
                <a:r>
                  <a:rPr lang="en-US" altLang="zh-CN" sz="705">
                    <a:solidFill>
                      <a:srgbClr val="000000"/>
                    </a:solidFill>
                    <a:ea typeface="宋体" pitchFamily="2" charset="-122"/>
                  </a:rPr>
                  <a:t> </a:t>
                </a:r>
                <a:r>
                  <a:rPr lang="en-US" altLang="zh-CN" sz="1310">
                    <a:solidFill>
                      <a:srgbClr val="000000"/>
                    </a:solidFill>
                    <a:ea typeface="宋体" pitchFamily="2" charset="-122"/>
                  </a:rPr>
                  <a:t>–</a:t>
                </a:r>
                <a:r>
                  <a:rPr lang="en-US" altLang="zh-CN" sz="910">
                    <a:solidFill>
                      <a:srgbClr val="000000"/>
                    </a:solidFill>
                    <a:ea typeface="宋体" pitchFamily="2" charset="-122"/>
                  </a:rPr>
                  <a:t> </a:t>
                </a:r>
                <a:r>
                  <a:rPr lang="en-US" altLang="zh-CN" sz="1310">
                    <a:solidFill>
                      <a:srgbClr val="000000"/>
                    </a:solidFill>
                    <a:ea typeface="宋体" pitchFamily="2" charset="-122"/>
                  </a:rPr>
                  <a:t>100</a:t>
                </a:r>
                <a:endParaRPr lang="en-US" altLang="zh-CN" sz="1310">
                  <a:solidFill>
                    <a:srgbClr val="000000"/>
                  </a:solidFill>
                  <a:ea typeface="宋体" pitchFamily="2" charset="-122"/>
                </a:endParaRPr>
              </a:p>
            </p:txBody>
          </p:sp>
          <p:sp>
            <p:nvSpPr>
              <p:cNvPr id="13355" name="Rectangle 44"/>
              <p:cNvSpPr>
                <a:spLocks noChangeArrowheads="1"/>
              </p:cNvSpPr>
              <p:nvPr/>
            </p:nvSpPr>
            <p:spPr bwMode="auto">
              <a:xfrm>
                <a:off x="435" y="248"/>
                <a:ext cx="3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100</a:t>
                </a:r>
                <a:endParaRPr lang="en-US" altLang="zh-CN" sz="1310">
                  <a:solidFill>
                    <a:srgbClr val="000000"/>
                  </a:solidFill>
                  <a:ea typeface="宋体" pitchFamily="2" charset="-122"/>
                </a:endParaRPr>
              </a:p>
            </p:txBody>
          </p:sp>
          <p:sp>
            <p:nvSpPr>
              <p:cNvPr id="13356" name="Rectangle 45"/>
              <p:cNvSpPr>
                <a:spLocks noChangeArrowheads="1"/>
              </p:cNvSpPr>
              <p:nvPr/>
            </p:nvSpPr>
            <p:spPr bwMode="auto">
              <a:xfrm>
                <a:off x="1103" y="103"/>
                <a:ext cx="6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x</a:t>
                </a:r>
                <a:r>
                  <a:rPr lang="en-US" altLang="zh-CN" sz="805">
                    <a:solidFill>
                      <a:srgbClr val="000000"/>
                    </a:solidFill>
                    <a:ea typeface="宋体" pitchFamily="2" charset="-122"/>
                  </a:rPr>
                  <a:t> </a:t>
                </a:r>
                <a:r>
                  <a:rPr lang="en-US" altLang="zh-CN" sz="1310">
                    <a:solidFill>
                      <a:srgbClr val="000000"/>
                    </a:solidFill>
                    <a:ea typeface="宋体" pitchFamily="2" charset="-122"/>
                  </a:rPr>
                  <a:t>100%</a:t>
                </a:r>
                <a:endParaRPr lang="en-US" altLang="zh-CN" sz="1310">
                  <a:solidFill>
                    <a:srgbClr val="000000"/>
                  </a:solidFill>
                  <a:ea typeface="宋体" pitchFamily="2" charset="-122"/>
                </a:endParaRPr>
              </a:p>
            </p:txBody>
          </p:sp>
          <p:sp>
            <p:nvSpPr>
              <p:cNvPr id="13357" name="Rectangle 46"/>
              <p:cNvSpPr>
                <a:spLocks noChangeArrowheads="1"/>
              </p:cNvSpPr>
              <p:nvPr/>
            </p:nvSpPr>
            <p:spPr bwMode="auto">
              <a:xfrm>
                <a:off x="0" y="120"/>
                <a:ext cx="1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a:t>
                </a:r>
                <a:endParaRPr lang="en-US" altLang="zh-CN" sz="1310">
                  <a:solidFill>
                    <a:srgbClr val="000000"/>
                  </a:solidFill>
                  <a:ea typeface="宋体" pitchFamily="2" charset="-122"/>
                </a:endParaRPr>
              </a:p>
            </p:txBody>
          </p:sp>
          <p:sp>
            <p:nvSpPr>
              <p:cNvPr id="13358" name="Line 47"/>
              <p:cNvSpPr>
                <a:spLocks noChangeShapeType="1"/>
              </p:cNvSpPr>
              <p:nvPr/>
            </p:nvSpPr>
            <p:spPr bwMode="auto">
              <a:xfrm>
                <a:off x="171" y="246"/>
                <a:ext cx="8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grpSp>
      <p:grpSp>
        <p:nvGrpSpPr>
          <p:cNvPr id="13359" name="Group 47"/>
          <p:cNvGrpSpPr/>
          <p:nvPr/>
        </p:nvGrpSpPr>
        <p:grpSpPr bwMode="auto">
          <a:xfrm>
            <a:off x="2410698" y="2608376"/>
            <a:ext cx="2014518" cy="408986"/>
            <a:chOff x="0" y="0"/>
            <a:chExt cx="2517" cy="511"/>
          </a:xfrm>
        </p:grpSpPr>
        <p:sp>
          <p:nvSpPr>
            <p:cNvPr id="13360" name="Text Box 38"/>
            <p:cNvSpPr txBox="1">
              <a:spLocks noChangeArrowheads="1"/>
            </p:cNvSpPr>
            <p:nvPr/>
          </p:nvSpPr>
          <p:spPr bwMode="auto">
            <a:xfrm>
              <a:off x="193" y="103"/>
              <a:ext cx="500"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310">
                  <a:solidFill>
                    <a:srgbClr val="000000"/>
                  </a:solidFill>
                  <a:ea typeface="宋体" pitchFamily="2" charset="-122"/>
                </a:rPr>
                <a:t>13%</a:t>
              </a:r>
              <a:endParaRPr lang="en-US" altLang="zh-CN" sz="1310">
                <a:solidFill>
                  <a:srgbClr val="000000"/>
                </a:solidFill>
                <a:ea typeface="宋体" pitchFamily="2" charset="-122"/>
              </a:endParaRPr>
            </a:p>
          </p:txBody>
        </p:sp>
        <p:sp>
          <p:nvSpPr>
            <p:cNvPr id="13361" name="AutoShape 39"/>
            <p:cNvSpPr/>
            <p:nvPr/>
          </p:nvSpPr>
          <p:spPr bwMode="auto">
            <a:xfrm>
              <a:off x="0" y="0"/>
              <a:ext cx="156" cy="414"/>
            </a:xfrm>
            <a:prstGeom prst="rightBrace">
              <a:avLst>
                <a:gd name="adj1" fmla="val 39107"/>
                <a:gd name="adj2" fmla="val 57245"/>
              </a:avLst>
            </a:prstGeom>
            <a:noFill/>
            <a:ln w="19050">
              <a:solidFill>
                <a:srgbClr val="80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grpSp>
          <p:nvGrpSpPr>
            <p:cNvPr id="13362" name="Group 50"/>
            <p:cNvGrpSpPr/>
            <p:nvPr/>
          </p:nvGrpSpPr>
          <p:grpSpPr bwMode="auto">
            <a:xfrm>
              <a:off x="739" y="9"/>
              <a:ext cx="1778" cy="502"/>
              <a:chOff x="0" y="-2"/>
              <a:chExt cx="1778" cy="502"/>
            </a:xfrm>
          </p:grpSpPr>
          <p:sp>
            <p:nvSpPr>
              <p:cNvPr id="13363" name="Rectangle 50"/>
              <p:cNvSpPr>
                <a:spLocks noChangeArrowheads="1"/>
              </p:cNvSpPr>
              <p:nvPr/>
            </p:nvSpPr>
            <p:spPr bwMode="auto">
              <a:xfrm>
                <a:off x="148" y="-2"/>
                <a:ext cx="8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130</a:t>
                </a:r>
                <a:r>
                  <a:rPr lang="en-US" altLang="zh-CN" sz="705">
                    <a:solidFill>
                      <a:srgbClr val="000000"/>
                    </a:solidFill>
                    <a:ea typeface="宋体" pitchFamily="2" charset="-122"/>
                  </a:rPr>
                  <a:t> </a:t>
                </a:r>
                <a:r>
                  <a:rPr lang="en-US" altLang="zh-CN" sz="1310">
                    <a:solidFill>
                      <a:srgbClr val="000000"/>
                    </a:solidFill>
                    <a:ea typeface="宋体" pitchFamily="2" charset="-122"/>
                  </a:rPr>
                  <a:t>–</a:t>
                </a:r>
                <a:r>
                  <a:rPr lang="en-US" altLang="zh-CN" sz="910">
                    <a:solidFill>
                      <a:srgbClr val="000000"/>
                    </a:solidFill>
                    <a:ea typeface="宋体" pitchFamily="2" charset="-122"/>
                  </a:rPr>
                  <a:t> </a:t>
                </a:r>
                <a:r>
                  <a:rPr lang="en-US" altLang="zh-CN" sz="1310">
                    <a:solidFill>
                      <a:srgbClr val="000000"/>
                    </a:solidFill>
                    <a:ea typeface="宋体" pitchFamily="2" charset="-122"/>
                  </a:rPr>
                  <a:t>115</a:t>
                </a:r>
                <a:endParaRPr lang="en-US" altLang="zh-CN" sz="1310">
                  <a:solidFill>
                    <a:srgbClr val="000000"/>
                  </a:solidFill>
                  <a:ea typeface="宋体" pitchFamily="2" charset="-122"/>
                </a:endParaRPr>
              </a:p>
            </p:txBody>
          </p:sp>
          <p:sp>
            <p:nvSpPr>
              <p:cNvPr id="13364" name="Rectangle 51"/>
              <p:cNvSpPr>
                <a:spLocks noChangeArrowheads="1"/>
              </p:cNvSpPr>
              <p:nvPr/>
            </p:nvSpPr>
            <p:spPr bwMode="auto">
              <a:xfrm>
                <a:off x="435" y="248"/>
                <a:ext cx="3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115</a:t>
                </a:r>
                <a:endParaRPr lang="en-US" altLang="zh-CN" sz="1310">
                  <a:solidFill>
                    <a:srgbClr val="000000"/>
                  </a:solidFill>
                  <a:ea typeface="宋体" pitchFamily="2" charset="-122"/>
                </a:endParaRPr>
              </a:p>
            </p:txBody>
          </p:sp>
          <p:sp>
            <p:nvSpPr>
              <p:cNvPr id="13365" name="Rectangle 52"/>
              <p:cNvSpPr>
                <a:spLocks noChangeArrowheads="1"/>
              </p:cNvSpPr>
              <p:nvPr/>
            </p:nvSpPr>
            <p:spPr bwMode="auto">
              <a:xfrm>
                <a:off x="1103" y="103"/>
                <a:ext cx="6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x</a:t>
                </a:r>
                <a:r>
                  <a:rPr lang="en-US" altLang="zh-CN" sz="805">
                    <a:solidFill>
                      <a:srgbClr val="000000"/>
                    </a:solidFill>
                    <a:ea typeface="宋体" pitchFamily="2" charset="-122"/>
                  </a:rPr>
                  <a:t> </a:t>
                </a:r>
                <a:r>
                  <a:rPr lang="en-US" altLang="zh-CN" sz="1310">
                    <a:solidFill>
                      <a:srgbClr val="000000"/>
                    </a:solidFill>
                    <a:ea typeface="宋体" pitchFamily="2" charset="-122"/>
                  </a:rPr>
                  <a:t>100%</a:t>
                </a:r>
                <a:endParaRPr lang="en-US" altLang="zh-CN" sz="1310">
                  <a:solidFill>
                    <a:srgbClr val="000000"/>
                  </a:solidFill>
                  <a:ea typeface="宋体" pitchFamily="2" charset="-122"/>
                </a:endParaRPr>
              </a:p>
            </p:txBody>
          </p:sp>
          <p:sp>
            <p:nvSpPr>
              <p:cNvPr id="13366" name="Rectangle 53"/>
              <p:cNvSpPr>
                <a:spLocks noChangeArrowheads="1"/>
              </p:cNvSpPr>
              <p:nvPr/>
            </p:nvSpPr>
            <p:spPr bwMode="auto">
              <a:xfrm>
                <a:off x="0" y="120"/>
                <a:ext cx="1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310">
                    <a:solidFill>
                      <a:srgbClr val="000000"/>
                    </a:solidFill>
                    <a:ea typeface="宋体" pitchFamily="2" charset="-122"/>
                  </a:rPr>
                  <a:t>=</a:t>
                </a:r>
                <a:endParaRPr lang="en-US" altLang="zh-CN" sz="1310">
                  <a:solidFill>
                    <a:srgbClr val="000000"/>
                  </a:solidFill>
                  <a:ea typeface="宋体" pitchFamily="2" charset="-122"/>
                </a:endParaRPr>
              </a:p>
            </p:txBody>
          </p:sp>
          <p:sp>
            <p:nvSpPr>
              <p:cNvPr id="13367" name="Line 54"/>
              <p:cNvSpPr>
                <a:spLocks noChangeShapeType="1"/>
              </p:cNvSpPr>
              <p:nvPr/>
            </p:nvSpPr>
            <p:spPr bwMode="auto">
              <a:xfrm>
                <a:off x="171" y="246"/>
                <a:ext cx="8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grpSp>
      <p:sp>
        <p:nvSpPr>
          <p:cNvPr id="13368" name="Text Box 57"/>
          <p:cNvSpPr txBox="1">
            <a:spLocks noChangeArrowheads="1"/>
          </p:cNvSpPr>
          <p:nvPr/>
        </p:nvSpPr>
        <p:spPr bwMode="auto">
          <a:xfrm>
            <a:off x="1341410" y="1868839"/>
            <a:ext cx="1467695"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zh-CN" sz="1310" dirty="0">
                <a:solidFill>
                  <a:srgbClr val="000000"/>
                </a:solidFill>
                <a:ea typeface="宋体" pitchFamily="2" charset="-122"/>
              </a:rPr>
              <a:t>以2007年为基年</a:t>
            </a:r>
            <a:endParaRPr lang="zh-CN" altLang="zh-CN" sz="1310" b="1" dirty="0">
              <a:solidFill>
                <a:srgbClr val="000000"/>
              </a:solidFill>
              <a:ea typeface="宋体" pitchFamily="2" charset="-122"/>
            </a:endParaRPr>
          </a:p>
        </p:txBody>
      </p:sp>
      <p:sp>
        <p:nvSpPr>
          <p:cNvPr id="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22"/>
                                        </p:tgtEl>
                                        <p:attrNameLst>
                                          <p:attrName>style.visibility</p:attrName>
                                        </p:attrNameLst>
                                      </p:cBhvr>
                                      <p:to>
                                        <p:strVal val="visible"/>
                                      </p:to>
                                    </p:set>
                                    <p:animEffect transition="in" filter="fade">
                                      <p:cBhvr>
                                        <p:cTn id="7" dur="500"/>
                                        <p:tgtEl>
                                          <p:spTgt spid="133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21"/>
                                        </p:tgtEl>
                                        <p:attrNameLst>
                                          <p:attrName>style.visibility</p:attrName>
                                        </p:attrNameLst>
                                      </p:cBhvr>
                                      <p:to>
                                        <p:strVal val="visible"/>
                                      </p:to>
                                    </p:set>
                                    <p:animEffect transition="in" filter="fade">
                                      <p:cBhvr>
                                        <p:cTn id="12" dur="500"/>
                                        <p:tgtEl>
                                          <p:spTgt spid="133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wipe(left)">
                                      <p:cBhvr>
                                        <p:cTn id="17" dur="500"/>
                                        <p:tgtEl>
                                          <p:spTgt spid="133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319"/>
                                        </p:tgtEl>
                                        <p:attrNameLst>
                                          <p:attrName>style.visibility</p:attrName>
                                        </p:attrNameLst>
                                      </p:cBhvr>
                                      <p:to>
                                        <p:strVal val="visible"/>
                                      </p:to>
                                    </p:set>
                                    <p:animEffect transition="in" filter="wipe(left)">
                                      <p:cBhvr>
                                        <p:cTn id="22" dur="500"/>
                                        <p:tgtEl>
                                          <p:spTgt spid="133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318"/>
                                        </p:tgtEl>
                                        <p:attrNameLst>
                                          <p:attrName>style.visibility</p:attrName>
                                        </p:attrNameLst>
                                      </p:cBhvr>
                                      <p:to>
                                        <p:strVal val="visible"/>
                                      </p:to>
                                    </p:set>
                                    <p:animEffect transition="in" filter="wipe(left)">
                                      <p:cBhvr>
                                        <p:cTn id="27" dur="500"/>
                                        <p:tgtEl>
                                          <p:spTgt spid="133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347">
                                            <p:txEl>
                                              <p:pRg st="0" end="0"/>
                                            </p:txEl>
                                          </p:spTgt>
                                        </p:tgtEl>
                                        <p:attrNameLst>
                                          <p:attrName>style.visibility</p:attrName>
                                        </p:attrNameLst>
                                      </p:cBhvr>
                                      <p:to>
                                        <p:strVal val="visible"/>
                                      </p:to>
                                    </p:set>
                                    <p:animEffect transition="in" filter="wipe(left)">
                                      <p:cBhvr>
                                        <p:cTn id="32" dur="500"/>
                                        <p:tgtEl>
                                          <p:spTgt spid="13347">
                                            <p:txEl>
                                              <p:pRg st="0" end="0"/>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3368"/>
                                        </p:tgtEl>
                                        <p:attrNameLst>
                                          <p:attrName>style.visibility</p:attrName>
                                        </p:attrNameLst>
                                      </p:cBhvr>
                                      <p:to>
                                        <p:strVal val="visible"/>
                                      </p:to>
                                    </p:set>
                                    <p:animEffect transition="in" filter="wipe(left)">
                                      <p:cBhvr>
                                        <p:cTn id="36" dur="500"/>
                                        <p:tgtEl>
                                          <p:spTgt spid="1336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3347">
                                            <p:txEl>
                                              <p:pRg st="1" end="1"/>
                                            </p:txEl>
                                          </p:spTgt>
                                        </p:tgtEl>
                                        <p:attrNameLst>
                                          <p:attrName>style.visibility</p:attrName>
                                        </p:attrNameLst>
                                      </p:cBhvr>
                                      <p:to>
                                        <p:strVal val="visible"/>
                                      </p:to>
                                    </p:set>
                                    <p:animEffect transition="in" filter="wipe(left)">
                                      <p:cBhvr>
                                        <p:cTn id="41" dur="500"/>
                                        <p:tgtEl>
                                          <p:spTgt spid="13347">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3347">
                                            <p:txEl>
                                              <p:pRg st="2" end="2"/>
                                            </p:txEl>
                                          </p:spTgt>
                                        </p:tgtEl>
                                        <p:attrNameLst>
                                          <p:attrName>style.visibility</p:attrName>
                                        </p:attrNameLst>
                                      </p:cBhvr>
                                      <p:to>
                                        <p:strVal val="visible"/>
                                      </p:to>
                                    </p:set>
                                    <p:animEffect transition="in" filter="wipe(left)">
                                      <p:cBhvr>
                                        <p:cTn id="46" dur="500"/>
                                        <p:tgtEl>
                                          <p:spTgt spid="1334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347">
                                            <p:txEl>
                                              <p:pRg st="3" end="3"/>
                                            </p:txEl>
                                          </p:spTgt>
                                        </p:tgtEl>
                                        <p:attrNameLst>
                                          <p:attrName>style.visibility</p:attrName>
                                        </p:attrNameLst>
                                      </p:cBhvr>
                                      <p:to>
                                        <p:strVal val="visible"/>
                                      </p:to>
                                    </p:set>
                                    <p:animEffect transition="in" filter="wipe(left)">
                                      <p:cBhvr>
                                        <p:cTn id="51" dur="500"/>
                                        <p:tgtEl>
                                          <p:spTgt spid="13347">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3348"/>
                                        </p:tgtEl>
                                        <p:attrNameLst>
                                          <p:attrName>style.visibility</p:attrName>
                                        </p:attrNameLst>
                                      </p:cBhvr>
                                      <p:to>
                                        <p:strVal val="visible"/>
                                      </p:to>
                                    </p:set>
                                    <p:animEffect transition="in" filter="fade">
                                      <p:cBhvr>
                                        <p:cTn id="56" dur="500"/>
                                        <p:tgtEl>
                                          <p:spTgt spid="13348"/>
                                        </p:tgtEl>
                                      </p:cBhvr>
                                    </p:animEffect>
                                  </p:childTnLst>
                                </p:cTn>
                              </p:par>
                              <p:par>
                                <p:cTn id="57" presetID="10" presetClass="exit" presetSubtype="0" fill="hold" nodeType="withEffect">
                                  <p:stCondLst>
                                    <p:cond delay="0"/>
                                  </p:stCondLst>
                                  <p:childTnLst>
                                    <p:animEffect transition="out" filter="fade">
                                      <p:cBhvr>
                                        <p:cTn id="58" dur="500"/>
                                        <p:tgtEl>
                                          <p:spTgt spid="13368"/>
                                        </p:tgtEl>
                                      </p:cBhvr>
                                    </p:animEffect>
                                    <p:set>
                                      <p:cBhvr>
                                        <p:cTn id="59" dur="1" fill="hold">
                                          <p:stCondLst>
                                            <p:cond delay="499"/>
                                          </p:stCondLst>
                                        </p:cTn>
                                        <p:tgtEl>
                                          <p:spTgt spid="13368"/>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3350"/>
                                        </p:tgtEl>
                                        <p:attrNameLst>
                                          <p:attrName>style.visibility</p:attrName>
                                        </p:attrNameLst>
                                      </p:cBhvr>
                                      <p:to>
                                        <p:strVal val="visible"/>
                                      </p:to>
                                    </p:set>
                                    <p:animEffect transition="in" filter="fade">
                                      <p:cBhvr>
                                        <p:cTn id="64" dur="500"/>
                                        <p:tgtEl>
                                          <p:spTgt spid="1335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3359"/>
                                        </p:tgtEl>
                                        <p:attrNameLst>
                                          <p:attrName>style.visibility</p:attrName>
                                        </p:attrNameLst>
                                      </p:cBhvr>
                                      <p:to>
                                        <p:strVal val="visible"/>
                                      </p:to>
                                    </p:set>
                                    <p:animEffect transition="in" filter="fade">
                                      <p:cBhvr>
                                        <p:cTn id="69" dur="500"/>
                                        <p:tgtEl>
                                          <p:spTgt spid="1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nimBg="1" autoUpdateAnimBg="0"/>
      <p:bldP spid="13319" grpId="0" animBg="1" autoUpdateAnimBg="0"/>
      <p:bldP spid="13320" grpId="0" animBg="1" autoUpdateAnimBg="0"/>
      <p:bldP spid="13321" grpId="0" animBg="1" autoUpdateAnimBg="0"/>
      <p:bldP spid="13347" grpId="0" autoUpdateAnimBg="0" build="p"/>
      <p:bldP spid="13348" grpId="0" autoUpdateAnimBg="0"/>
      <p:bldP spid="13368" grpId="0" autoUpdateAnimBg="0"/>
      <p:bldP spid="13368" grpId="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15363" name="Rectangle 4"/>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lstStyle/>
          <a:p>
            <a:pPr algn="l" eaLnBrk="1" hangingPunct="1"/>
            <a:r>
              <a:rPr lang="zh-CN" altLang="en-US"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en-US" altLang="zh-CN" sz="1210" i="1">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en-US" altLang="zh-CN" sz="10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en-US"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en-US"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en-US" sz="1615">
                <a:solidFill>
                  <a:srgbClr val="339966"/>
                </a:solidFill>
                <a:effectLst>
                  <a:outerShdw blurRad="38100" dist="38100" dir="2700000" algn="tl">
                    <a:srgbClr val="C0C0C0"/>
                  </a:outerShdw>
                </a:effectLst>
                <a:ea typeface="宋体" pitchFamily="2" charset="-122"/>
              </a:rPr>
              <a:t>计算 </a:t>
            </a:r>
            <a:r>
              <a:rPr lang="en-US" altLang="zh-CN" sz="1615">
                <a:solidFill>
                  <a:srgbClr val="339966"/>
                </a:solidFill>
                <a:effectLst>
                  <a:outerShdw blurRad="38100" dist="38100" dir="2700000" algn="tl">
                    <a:srgbClr val="C0C0C0"/>
                  </a:outerShdw>
                </a:effectLst>
                <a:ea typeface="宋体" pitchFamily="2" charset="-122"/>
              </a:rPr>
              <a:t>CPI</a:t>
            </a:r>
            <a:endParaRPr lang="en-US" altLang="zh-CN" sz="1615">
              <a:solidFill>
                <a:srgbClr val="339966"/>
              </a:solidFill>
              <a:effectLst>
                <a:outerShdw blurRad="38100" dist="38100" dir="2700000" algn="tl">
                  <a:srgbClr val="C0C0C0"/>
                </a:outerShdw>
              </a:effectLst>
              <a:ea typeface="宋体" pitchFamily="2" charset="-122"/>
            </a:endParaRPr>
          </a:p>
        </p:txBody>
      </p:sp>
      <p:sp>
        <p:nvSpPr>
          <p:cNvPr id="15364" name="Line 9"/>
          <p:cNvSpPr>
            <a:spLocks noChangeShapeType="1"/>
          </p:cNvSpPr>
          <p:nvPr/>
        </p:nvSpPr>
        <p:spPr bwMode="auto">
          <a:xfrm>
            <a:off x="300937" y="621070"/>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5365" name="Line 10"/>
          <p:cNvSpPr>
            <a:spLocks noChangeShapeType="1"/>
          </p:cNvSpPr>
          <p:nvPr/>
        </p:nvSpPr>
        <p:spPr bwMode="auto">
          <a:xfrm>
            <a:off x="299337" y="148054"/>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5366" name="Rectangle 8"/>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D2512EC5-FE02-4743-B964-B02914EE3052}"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15367" name="Rectangle 7"/>
          <p:cNvSpPr>
            <a:spLocks noChangeArrowheads="1"/>
          </p:cNvSpPr>
          <p:nvPr/>
        </p:nvSpPr>
        <p:spPr bwMode="auto">
          <a:xfrm>
            <a:off x="242511" y="657086"/>
            <a:ext cx="2059338" cy="126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CPI篮子： </a:t>
            </a:r>
            <a:br>
              <a:rPr lang="zh-CN" altLang="zh-CN" sz="1310">
                <a:solidFill>
                  <a:srgbClr val="000000"/>
                </a:solidFill>
                <a:ea typeface="宋体" pitchFamily="2" charset="-122"/>
              </a:rPr>
            </a:br>
            <a:r>
              <a:rPr lang="zh-CN" altLang="zh-CN" sz="1310">
                <a:solidFill>
                  <a:srgbClr val="000000"/>
                </a:solidFill>
                <a:ea typeface="宋体" pitchFamily="2" charset="-122"/>
              </a:rPr>
              <a:t>   {10 磅牛肉, </a:t>
            </a:r>
            <a:br>
              <a:rPr lang="zh-CN" altLang="zh-CN" sz="1310">
                <a:solidFill>
                  <a:srgbClr val="000000"/>
                </a:solidFill>
                <a:ea typeface="宋体" pitchFamily="2" charset="-122"/>
              </a:rPr>
            </a:br>
            <a:r>
              <a:rPr lang="zh-CN" altLang="zh-CN" sz="1310">
                <a:solidFill>
                  <a:srgbClr val="000000"/>
                </a:solidFill>
                <a:ea typeface="宋体" pitchFamily="2" charset="-122"/>
              </a:rPr>
              <a:t>     20 磅鸡肉}</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在2004年CPI篮子的费用是120 美元，以2004年为基年</a:t>
            </a:r>
            <a:endParaRPr lang="zh-CN" altLang="zh-CN" sz="1310">
              <a:solidFill>
                <a:srgbClr val="000000"/>
              </a:solidFill>
              <a:ea typeface="宋体" pitchFamily="2" charset="-122"/>
            </a:endParaRPr>
          </a:p>
        </p:txBody>
      </p:sp>
      <p:sp>
        <p:nvSpPr>
          <p:cNvPr id="15368" name="Rectangle 8"/>
          <p:cNvSpPr>
            <a:spLocks noChangeArrowheads="1"/>
          </p:cNvSpPr>
          <p:nvPr/>
        </p:nvSpPr>
        <p:spPr bwMode="auto">
          <a:xfrm>
            <a:off x="287331" y="1979289"/>
            <a:ext cx="4143487" cy="100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05000"/>
              </a:lnSpc>
              <a:spcBef>
                <a:spcPct val="70000"/>
              </a:spcBef>
              <a:spcAft>
                <a:spcPct val="0"/>
              </a:spcAft>
              <a:buClr>
                <a:srgbClr val="990099"/>
              </a:buClr>
            </a:pPr>
            <a:r>
              <a:rPr lang="zh-CN" altLang="zh-CN" sz="1410" b="1">
                <a:solidFill>
                  <a:srgbClr val="339966"/>
                </a:solidFill>
                <a:ea typeface="宋体" pitchFamily="2" charset="-122"/>
              </a:rPr>
              <a:t>A.	</a:t>
            </a:r>
            <a:r>
              <a:rPr lang="zh-CN" altLang="zh-CN" sz="1410">
                <a:solidFill>
                  <a:srgbClr val="000000"/>
                </a:solidFill>
                <a:ea typeface="宋体" pitchFamily="2" charset="-122"/>
              </a:rPr>
              <a:t>计算2005年的CPI </a:t>
            </a:r>
            <a:endParaRPr lang="zh-CN" altLang="zh-CN" sz="1410">
              <a:solidFill>
                <a:srgbClr val="000000"/>
              </a:solidFill>
              <a:ea typeface="宋体" pitchFamily="2" charset="-122"/>
            </a:endParaRPr>
          </a:p>
          <a:p>
            <a:pPr marL="257810" indent="-257810" defTabSz="461010" eaLnBrk="1" fontAlgn="base" hangingPunct="1">
              <a:lnSpc>
                <a:spcPct val="105000"/>
              </a:lnSpc>
              <a:spcBef>
                <a:spcPct val="70000"/>
              </a:spcBef>
              <a:spcAft>
                <a:spcPct val="0"/>
              </a:spcAft>
              <a:buClr>
                <a:srgbClr val="990099"/>
              </a:buClr>
            </a:pPr>
            <a:r>
              <a:rPr lang="zh-CN" altLang="zh-CN" sz="1410" b="1">
                <a:solidFill>
                  <a:srgbClr val="339966"/>
                </a:solidFill>
                <a:ea typeface="宋体" pitchFamily="2" charset="-122"/>
              </a:rPr>
              <a:t>B.	</a:t>
            </a:r>
            <a:r>
              <a:rPr lang="zh-CN" altLang="zh-CN" sz="1410">
                <a:solidFill>
                  <a:srgbClr val="000000"/>
                </a:solidFill>
                <a:ea typeface="宋体" pitchFamily="2" charset="-122"/>
              </a:rPr>
              <a:t>2005年到2006年以CPI计算的通货膨胀率是多少</a:t>
            </a:r>
            <a:endParaRPr lang="zh-CN" altLang="zh-CN" sz="1410">
              <a:solidFill>
                <a:srgbClr val="000000"/>
              </a:solidFill>
              <a:ea typeface="宋体" pitchFamily="2" charset="-122"/>
            </a:endParaRPr>
          </a:p>
        </p:txBody>
      </p:sp>
      <p:sp>
        <p:nvSpPr>
          <p:cNvPr id="15369" name="FlagCount" hidden="1">
            <a:hlinkClick r:id="rId1"/>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graphicFrame>
        <p:nvGraphicFramePr>
          <p:cNvPr id="15370" name="Group 10"/>
          <p:cNvGraphicFramePr>
            <a:graphicFrameLocks noGrp="1"/>
          </p:cNvGraphicFramePr>
          <p:nvPr/>
        </p:nvGraphicFramePr>
        <p:xfrm>
          <a:off x="2420303" y="439387"/>
          <a:ext cx="1916073" cy="1388632"/>
        </p:xfrm>
        <a:graphic>
          <a:graphicData uri="http://schemas.openxmlformats.org/drawingml/2006/table">
            <a:tbl>
              <a:tblPr/>
              <a:tblGrid>
                <a:gridCol w="603475"/>
                <a:gridCol w="608277"/>
                <a:gridCol w="704321"/>
              </a:tblGrid>
              <a:tr h="505830">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牛肉价格</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鸡肉价格</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37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45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45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368">
                                            <p:txEl>
                                              <p:pRg st="0" end="0"/>
                                            </p:txEl>
                                          </p:spTgt>
                                        </p:tgtEl>
                                        <p:attrNameLst>
                                          <p:attrName>style.visibility</p:attrName>
                                        </p:attrNameLst>
                                      </p:cBhvr>
                                      <p:to>
                                        <p:strVal val="visible"/>
                                      </p:to>
                                    </p:set>
                                    <p:animEffect transition="in" filter="wipe(left)">
                                      <p:cBhvr>
                                        <p:cTn id="7" dur="500"/>
                                        <p:tgtEl>
                                          <p:spTgt spid="153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8">
                                            <p:txEl>
                                              <p:pRg st="1" end="1"/>
                                            </p:txEl>
                                          </p:spTgt>
                                        </p:tgtEl>
                                        <p:attrNameLst>
                                          <p:attrName>style.visibility</p:attrName>
                                        </p:attrNameLst>
                                      </p:cBhvr>
                                      <p:to>
                                        <p:strVal val="visible"/>
                                      </p:to>
                                    </p:set>
                                    <p:animEffect transition="in" filter="wipe(left)">
                                      <p:cBhvr>
                                        <p:cTn id="12" dur="500"/>
                                        <p:tgtEl>
                                          <p:spTgt spid="153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17411" name="Rectangle 4"/>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sp>
        <p:nvSpPr>
          <p:cNvPr id="17412" name="Line 9"/>
          <p:cNvSpPr>
            <a:spLocks noChangeShapeType="1"/>
          </p:cNvSpPr>
          <p:nvPr/>
        </p:nvSpPr>
        <p:spPr bwMode="auto">
          <a:xfrm>
            <a:off x="300937" y="621070"/>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7413" name="Line 10"/>
          <p:cNvSpPr>
            <a:spLocks noChangeShapeType="1"/>
          </p:cNvSpPr>
          <p:nvPr/>
        </p:nvSpPr>
        <p:spPr bwMode="auto">
          <a:xfrm>
            <a:off x="299337" y="148054"/>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7414" name="Rectangle 6"/>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765C5E1D-CB0B-2B47-B123-1AEBB2AB92E5}"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17415" name="FlagCount" hidden="1">
            <a:hlinkClick r:id="rId1"/>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17416" name="FlagCount" hidden="1">
            <a:hlinkClick r:id="rId1"/>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17417" name="Rectangle 34"/>
          <p:cNvSpPr>
            <a:spLocks noChangeArrowheads="1"/>
          </p:cNvSpPr>
          <p:nvPr/>
        </p:nvSpPr>
        <p:spPr bwMode="auto">
          <a:xfrm>
            <a:off x="344157" y="2021708"/>
            <a:ext cx="2641203" cy="29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05000"/>
              </a:lnSpc>
              <a:spcBef>
                <a:spcPct val="50000"/>
              </a:spcBef>
              <a:spcAft>
                <a:spcPct val="0"/>
              </a:spcAft>
              <a:buClr>
                <a:srgbClr val="990099"/>
              </a:buClr>
            </a:pPr>
            <a:r>
              <a:rPr lang="zh-CN" altLang="zh-CN" sz="1310" b="1">
                <a:solidFill>
                  <a:srgbClr val="339966"/>
                </a:solidFill>
                <a:ea typeface="宋体" pitchFamily="2" charset="-122"/>
              </a:rPr>
              <a:t>A. </a:t>
            </a:r>
            <a:r>
              <a:rPr lang="zh-CN" altLang="zh-CN" sz="1360">
                <a:solidFill>
                  <a:srgbClr val="000000"/>
                </a:solidFill>
                <a:ea typeface="宋体" pitchFamily="2" charset="-122"/>
              </a:rPr>
              <a:t>计算2005年的 CPI :</a:t>
            </a:r>
            <a:endParaRPr lang="zh-CN" altLang="zh-CN" sz="1360">
              <a:solidFill>
                <a:srgbClr val="000000"/>
              </a:solidFill>
              <a:ea typeface="宋体" pitchFamily="2" charset="-122"/>
            </a:endParaRPr>
          </a:p>
        </p:txBody>
      </p:sp>
      <p:sp>
        <p:nvSpPr>
          <p:cNvPr id="17418" name="Rectangle 35"/>
          <p:cNvSpPr>
            <a:spLocks noChangeArrowheads="1"/>
          </p:cNvSpPr>
          <p:nvPr/>
        </p:nvSpPr>
        <p:spPr bwMode="auto">
          <a:xfrm>
            <a:off x="597873" y="2289030"/>
            <a:ext cx="3574428" cy="91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10000"/>
              </a:lnSpc>
              <a:spcBef>
                <a:spcPct val="60000"/>
              </a:spcBef>
              <a:spcAft>
                <a:spcPct val="0"/>
              </a:spcAft>
              <a:buClr>
                <a:srgbClr val="990099"/>
              </a:buClr>
            </a:pPr>
            <a:r>
              <a:rPr lang="zh-CN" altLang="zh-CN" sz="1360">
                <a:solidFill>
                  <a:srgbClr val="000000"/>
                </a:solidFill>
                <a:ea typeface="宋体" pitchFamily="2" charset="-122"/>
              </a:rPr>
              <a:t>2005年CPI篮子的费用</a:t>
            </a:r>
            <a:br>
              <a:rPr lang="zh-CN" altLang="zh-CN" sz="1360">
                <a:solidFill>
                  <a:srgbClr val="000000"/>
                </a:solidFill>
                <a:ea typeface="宋体" pitchFamily="2" charset="-122"/>
              </a:rPr>
            </a:br>
            <a:r>
              <a:rPr lang="zh-CN" altLang="zh-CN" sz="1360">
                <a:solidFill>
                  <a:srgbClr val="000000"/>
                </a:solidFill>
                <a:ea typeface="宋体" pitchFamily="2" charset="-122"/>
              </a:rPr>
              <a:t>= ($5 x 10) + ($5 x 20)  =  $150 </a:t>
            </a:r>
            <a:endParaRPr lang="zh-CN" altLang="zh-CN" sz="1360">
              <a:solidFill>
                <a:srgbClr val="000000"/>
              </a:solidFill>
              <a:ea typeface="宋体" pitchFamily="2" charset="-122"/>
            </a:endParaRPr>
          </a:p>
          <a:p>
            <a:pPr marL="257810" indent="-257810" defTabSz="461010" eaLnBrk="1" fontAlgn="base" hangingPunct="1">
              <a:lnSpc>
                <a:spcPct val="110000"/>
              </a:lnSpc>
              <a:spcBef>
                <a:spcPct val="60000"/>
              </a:spcBef>
              <a:spcAft>
                <a:spcPct val="0"/>
              </a:spcAft>
              <a:buClr>
                <a:srgbClr val="990099"/>
              </a:buClr>
            </a:pPr>
            <a:r>
              <a:rPr lang="zh-CN" altLang="zh-CN" sz="1360">
                <a:solidFill>
                  <a:srgbClr val="000000"/>
                </a:solidFill>
                <a:ea typeface="宋体" pitchFamily="2" charset="-122"/>
              </a:rPr>
              <a:t>2005的CPI = 100 x ($150/$120) = </a:t>
            </a:r>
            <a:r>
              <a:rPr lang="zh-CN" altLang="zh-CN" sz="1360">
                <a:solidFill>
                  <a:srgbClr val="FF0000"/>
                </a:solidFill>
                <a:ea typeface="宋体" pitchFamily="2" charset="-122"/>
              </a:rPr>
              <a:t>125</a:t>
            </a:r>
            <a:endParaRPr lang="zh-CN" altLang="zh-CN" sz="1360">
              <a:solidFill>
                <a:srgbClr val="FF0000"/>
              </a:solidFill>
              <a:ea typeface="宋体" pitchFamily="2" charset="-122"/>
            </a:endParaRPr>
          </a:p>
        </p:txBody>
      </p:sp>
      <p:sp>
        <p:nvSpPr>
          <p:cNvPr id="17419" name="Rectangle 41"/>
          <p:cNvSpPr>
            <a:spLocks noChangeArrowheads="1"/>
          </p:cNvSpPr>
          <p:nvPr/>
        </p:nvSpPr>
        <p:spPr bwMode="auto">
          <a:xfrm>
            <a:off x="242511" y="656286"/>
            <a:ext cx="2078547" cy="121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CPI 篮子:  </a:t>
            </a:r>
            <a:br>
              <a:rPr lang="zh-CN" altLang="zh-CN" sz="1310">
                <a:solidFill>
                  <a:srgbClr val="000000"/>
                </a:solidFill>
                <a:ea typeface="宋体" pitchFamily="2" charset="-122"/>
              </a:rPr>
            </a:br>
            <a:r>
              <a:rPr lang="zh-CN" altLang="zh-CN" sz="1310">
                <a:solidFill>
                  <a:srgbClr val="000000"/>
                </a:solidFill>
                <a:ea typeface="宋体" pitchFamily="2" charset="-122"/>
              </a:rPr>
              <a:t>   {10 磅牛肉, </a:t>
            </a:r>
            <a:br>
              <a:rPr lang="zh-CN" altLang="zh-CN" sz="1310">
                <a:solidFill>
                  <a:srgbClr val="000000"/>
                </a:solidFill>
                <a:ea typeface="宋体" pitchFamily="2" charset="-122"/>
              </a:rPr>
            </a:br>
            <a:r>
              <a:rPr lang="zh-CN" altLang="zh-CN" sz="1310">
                <a:solidFill>
                  <a:srgbClr val="000000"/>
                </a:solidFill>
                <a:ea typeface="宋体" pitchFamily="2" charset="-122"/>
              </a:rPr>
              <a:t>     20 磅鸡肉}</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2004年CPI 的篮子费用是120 美元，以2004年为基年。</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endParaRPr lang="zh-CN" altLang="zh-CN" sz="1310">
              <a:solidFill>
                <a:srgbClr val="000000"/>
              </a:solidFill>
              <a:ea typeface="宋体" pitchFamily="2" charset="-122"/>
            </a:endParaRPr>
          </a:p>
        </p:txBody>
      </p:sp>
      <p:graphicFrame>
        <p:nvGraphicFramePr>
          <p:cNvPr id="17420" name="Group 12"/>
          <p:cNvGraphicFramePr>
            <a:graphicFrameLocks noGrp="1"/>
          </p:cNvGraphicFramePr>
          <p:nvPr/>
        </p:nvGraphicFramePr>
        <p:xfrm>
          <a:off x="2420303" y="439387"/>
          <a:ext cx="1916073" cy="1388632"/>
        </p:xfrm>
        <a:graphic>
          <a:graphicData uri="http://schemas.openxmlformats.org/drawingml/2006/table">
            <a:tbl>
              <a:tblPr/>
              <a:tblGrid>
                <a:gridCol w="603475"/>
                <a:gridCol w="608277"/>
                <a:gridCol w="704321"/>
              </a:tblGrid>
              <a:tr h="505830">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牛肉价格</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鸡肉价格</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37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45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45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18">
                                            <p:txEl>
                                              <p:pRg st="0" end="0"/>
                                            </p:txEl>
                                          </p:spTgt>
                                        </p:tgtEl>
                                        <p:attrNameLst>
                                          <p:attrName>style.visibility</p:attrName>
                                        </p:attrNameLst>
                                      </p:cBhvr>
                                      <p:to>
                                        <p:strVal val="visible"/>
                                      </p:to>
                                    </p:set>
                                    <p:animEffect transition="in" filter="wipe(left)">
                                      <p:cBhvr>
                                        <p:cTn id="7" dur="500"/>
                                        <p:tgtEl>
                                          <p:spTgt spid="17418">
                                            <p:txEl>
                                              <p:pRg st="0" end="0"/>
                                            </p:txEl>
                                          </p:spTgt>
                                        </p:tgtEl>
                                      </p:cBhvr>
                                    </p:animEffect>
                                  </p:childTnLst>
                                  <p:subTnLst>
                                    <p:animClr clrSpc="rgb" dir="cw">
                                      <p:cBhvr override="childStyle">
                                        <p:cTn dur="1" fill="hold" display="0" masterRel="nextClick" afterEffect="1"/>
                                        <p:tgtEl>
                                          <p:spTgt spid="17418">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8">
                                            <p:txEl>
                                              <p:pRg st="1" end="1"/>
                                            </p:txEl>
                                          </p:spTgt>
                                        </p:tgtEl>
                                        <p:attrNameLst>
                                          <p:attrName>style.visibility</p:attrName>
                                        </p:attrNameLst>
                                      </p:cBhvr>
                                      <p:to>
                                        <p:strVal val="visible"/>
                                      </p:to>
                                    </p:set>
                                    <p:animEffect transition="in" filter="wipe(left)">
                                      <p:cBhvr>
                                        <p:cTn id="12" dur="500"/>
                                        <p:tgtEl>
                                          <p:spTgt spid="174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18435" name="Rectangle 4"/>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itchFamily="2" charset="-122"/>
              </a:rPr>
              <a:t>1</a:t>
            </a:r>
            <a:r>
              <a:rPr lang="zh-CN" altLang="zh-CN" sz="10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sp>
        <p:nvSpPr>
          <p:cNvPr id="18436" name="Line 9"/>
          <p:cNvSpPr>
            <a:spLocks noChangeShapeType="1"/>
          </p:cNvSpPr>
          <p:nvPr/>
        </p:nvSpPr>
        <p:spPr bwMode="auto">
          <a:xfrm>
            <a:off x="300937" y="621070"/>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37" name="Line 10"/>
          <p:cNvSpPr>
            <a:spLocks noChangeShapeType="1"/>
          </p:cNvSpPr>
          <p:nvPr/>
        </p:nvSpPr>
        <p:spPr bwMode="auto">
          <a:xfrm>
            <a:off x="299337" y="148054"/>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18438" name="Rectangle 6"/>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D846E197-8DCF-684A-9FED-460665E163F0}"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18439" name="FlagCount" hidden="1">
            <a:hlinkClick r:id="rId1"/>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graphicFrame>
        <p:nvGraphicFramePr>
          <p:cNvPr id="18440" name="Group 8"/>
          <p:cNvGraphicFramePr>
            <a:graphicFrameLocks noGrp="1"/>
          </p:cNvGraphicFramePr>
          <p:nvPr/>
        </p:nvGraphicFramePr>
        <p:xfrm>
          <a:off x="2420303" y="439387"/>
          <a:ext cx="1916073" cy="1388632"/>
        </p:xfrm>
        <a:graphic>
          <a:graphicData uri="http://schemas.openxmlformats.org/drawingml/2006/table">
            <a:tbl>
              <a:tblPr/>
              <a:tblGrid>
                <a:gridCol w="603475"/>
                <a:gridCol w="608277"/>
                <a:gridCol w="704321"/>
              </a:tblGrid>
              <a:tr h="505830">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牛肉价格</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鸡肉价格</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37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45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94534">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8462" name="FlagCount" hidden="1">
            <a:hlinkClick r:id="rId1"/>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18463" name="Rectangle 32"/>
          <p:cNvSpPr>
            <a:spLocks noChangeArrowheads="1"/>
          </p:cNvSpPr>
          <p:nvPr/>
        </p:nvSpPr>
        <p:spPr bwMode="auto">
          <a:xfrm>
            <a:off x="242511" y="656286"/>
            <a:ext cx="2091352" cy="121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CPI 篮子:  </a:t>
            </a:r>
            <a:br>
              <a:rPr lang="zh-CN" altLang="zh-CN" sz="1310">
                <a:solidFill>
                  <a:srgbClr val="000000"/>
                </a:solidFill>
                <a:ea typeface="宋体" pitchFamily="2" charset="-122"/>
              </a:rPr>
            </a:br>
            <a:r>
              <a:rPr lang="zh-CN" altLang="zh-CN" sz="1310">
                <a:solidFill>
                  <a:srgbClr val="000000"/>
                </a:solidFill>
                <a:ea typeface="宋体" pitchFamily="2" charset="-122"/>
              </a:rPr>
              <a:t>   {10 磅牛肉, </a:t>
            </a:r>
            <a:br>
              <a:rPr lang="zh-CN" altLang="zh-CN" sz="1310">
                <a:solidFill>
                  <a:srgbClr val="000000"/>
                </a:solidFill>
                <a:ea typeface="宋体" pitchFamily="2" charset="-122"/>
              </a:rPr>
            </a:br>
            <a:r>
              <a:rPr lang="zh-CN" altLang="zh-CN" sz="1310">
                <a:solidFill>
                  <a:srgbClr val="000000"/>
                </a:solidFill>
                <a:ea typeface="宋体" pitchFamily="2" charset="-122"/>
              </a:rPr>
              <a:t>     20 磅鸡肉}</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2004年CPI篮子的费用是120 美元，以2004年为基年</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endParaRPr lang="zh-CN" altLang="zh-CN" sz="1310">
              <a:solidFill>
                <a:srgbClr val="000000"/>
              </a:solidFill>
              <a:ea typeface="宋体" pitchFamily="2" charset="-122"/>
            </a:endParaRPr>
          </a:p>
        </p:txBody>
      </p:sp>
      <p:sp>
        <p:nvSpPr>
          <p:cNvPr id="18464" name="Rectangle 33"/>
          <p:cNvSpPr>
            <a:spLocks noChangeArrowheads="1"/>
          </p:cNvSpPr>
          <p:nvPr/>
        </p:nvSpPr>
        <p:spPr bwMode="auto">
          <a:xfrm>
            <a:off x="268922" y="1948074"/>
            <a:ext cx="4079459" cy="280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05000"/>
              </a:lnSpc>
              <a:spcBef>
                <a:spcPct val="50000"/>
              </a:spcBef>
              <a:spcAft>
                <a:spcPct val="0"/>
              </a:spcAft>
              <a:buClr>
                <a:srgbClr val="990099"/>
              </a:buClr>
            </a:pPr>
            <a:r>
              <a:rPr lang="zh-CN" altLang="zh-CN" sz="1310" b="1">
                <a:solidFill>
                  <a:srgbClr val="339966"/>
                </a:solidFill>
                <a:ea typeface="宋体" pitchFamily="2" charset="-122"/>
              </a:rPr>
              <a:t>B.</a:t>
            </a:r>
            <a:r>
              <a:rPr lang="zh-CN" altLang="zh-CN" sz="1360">
                <a:solidFill>
                  <a:srgbClr val="000000"/>
                </a:solidFill>
                <a:ea typeface="宋体" pitchFamily="2" charset="-122"/>
              </a:rPr>
              <a:t>2005年到2006年以CPI计算的通货膨胀率是多少</a:t>
            </a:r>
            <a:endParaRPr lang="zh-CN" altLang="zh-CN" sz="1360">
              <a:solidFill>
                <a:srgbClr val="000000"/>
              </a:solidFill>
              <a:ea typeface="宋体" pitchFamily="2" charset="-122"/>
            </a:endParaRPr>
          </a:p>
          <a:p>
            <a:pPr marL="257810" indent="-257810" defTabSz="461010" eaLnBrk="1" fontAlgn="base" hangingPunct="1">
              <a:lnSpc>
                <a:spcPct val="105000"/>
              </a:lnSpc>
              <a:spcBef>
                <a:spcPct val="50000"/>
              </a:spcBef>
              <a:spcAft>
                <a:spcPct val="0"/>
              </a:spcAft>
              <a:buClr>
                <a:srgbClr val="990099"/>
              </a:buClr>
            </a:pPr>
            <a:endParaRPr lang="zh-CN" altLang="zh-CN" sz="1360">
              <a:solidFill>
                <a:srgbClr val="000000"/>
              </a:solidFill>
              <a:ea typeface="宋体" pitchFamily="2" charset="-122"/>
            </a:endParaRPr>
          </a:p>
        </p:txBody>
      </p:sp>
      <p:sp>
        <p:nvSpPr>
          <p:cNvPr id="18465" name="Rectangle 34"/>
          <p:cNvSpPr>
            <a:spLocks noChangeArrowheads="1"/>
          </p:cNvSpPr>
          <p:nvPr/>
        </p:nvSpPr>
        <p:spPr bwMode="auto">
          <a:xfrm>
            <a:off x="562657" y="2180180"/>
            <a:ext cx="3603241" cy="113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10000"/>
              </a:lnSpc>
              <a:spcBef>
                <a:spcPct val="30000"/>
              </a:spcBef>
              <a:spcAft>
                <a:spcPct val="0"/>
              </a:spcAft>
              <a:buClr>
                <a:srgbClr val="990099"/>
              </a:buClr>
            </a:pPr>
            <a:r>
              <a:rPr lang="zh-CN" altLang="zh-CN" sz="1360">
                <a:solidFill>
                  <a:srgbClr val="000000"/>
                </a:solidFill>
                <a:ea typeface="宋体" pitchFamily="2" charset="-122"/>
              </a:rPr>
              <a:t>2006年CPI篮子的费用</a:t>
            </a:r>
            <a:br>
              <a:rPr lang="zh-CN" altLang="zh-CN" sz="1360">
                <a:solidFill>
                  <a:srgbClr val="000000"/>
                </a:solidFill>
                <a:ea typeface="宋体" pitchFamily="2" charset="-122"/>
              </a:rPr>
            </a:br>
            <a:r>
              <a:rPr lang="zh-CN" altLang="zh-CN" sz="1360">
                <a:solidFill>
                  <a:srgbClr val="000000"/>
                </a:solidFill>
                <a:ea typeface="宋体" pitchFamily="2" charset="-122"/>
              </a:rPr>
              <a:t>= ($9 x 10) + ($6 x 20)  =  $210 </a:t>
            </a:r>
            <a:endParaRPr lang="zh-CN" altLang="zh-CN" sz="1360">
              <a:solidFill>
                <a:srgbClr val="000000"/>
              </a:solidFill>
              <a:ea typeface="宋体" pitchFamily="2" charset="-122"/>
            </a:endParaRPr>
          </a:p>
          <a:p>
            <a:pPr marL="257810" indent="-257810" defTabSz="461010" eaLnBrk="1" fontAlgn="base" hangingPunct="1">
              <a:lnSpc>
                <a:spcPct val="110000"/>
              </a:lnSpc>
              <a:spcBef>
                <a:spcPct val="30000"/>
              </a:spcBef>
              <a:spcAft>
                <a:spcPct val="0"/>
              </a:spcAft>
              <a:buClr>
                <a:srgbClr val="990099"/>
              </a:buClr>
            </a:pPr>
            <a:r>
              <a:rPr lang="zh-CN" altLang="zh-CN" sz="1360">
                <a:solidFill>
                  <a:srgbClr val="000000"/>
                </a:solidFill>
                <a:ea typeface="宋体" pitchFamily="2" charset="-122"/>
              </a:rPr>
              <a:t>2006年的CPI =  100 x ($210/$120)  =  175</a:t>
            </a:r>
            <a:endParaRPr lang="zh-CN" altLang="zh-CN" sz="1360">
              <a:solidFill>
                <a:srgbClr val="000000"/>
              </a:solidFill>
              <a:ea typeface="宋体" pitchFamily="2" charset="-122"/>
            </a:endParaRPr>
          </a:p>
          <a:p>
            <a:pPr marL="257810" indent="-257810" defTabSz="461010" eaLnBrk="1" fontAlgn="base" hangingPunct="1">
              <a:lnSpc>
                <a:spcPct val="110000"/>
              </a:lnSpc>
              <a:spcBef>
                <a:spcPct val="30000"/>
              </a:spcBef>
              <a:spcAft>
                <a:spcPct val="0"/>
              </a:spcAft>
              <a:buClr>
                <a:srgbClr val="990099"/>
              </a:buClr>
            </a:pPr>
            <a:r>
              <a:rPr lang="zh-CN" altLang="zh-CN" sz="1360">
                <a:solidFill>
                  <a:srgbClr val="000000"/>
                </a:solidFill>
                <a:ea typeface="宋体" pitchFamily="2" charset="-122"/>
              </a:rPr>
              <a:t>CPI通货膨胀率  =  (175 – 125)/125  =  </a:t>
            </a:r>
            <a:r>
              <a:rPr lang="zh-CN" altLang="zh-CN" sz="1360">
                <a:solidFill>
                  <a:srgbClr val="FF0000"/>
                </a:solidFill>
                <a:ea typeface="宋体" pitchFamily="2" charset="-122"/>
              </a:rPr>
              <a:t>40%</a:t>
            </a:r>
            <a:endParaRPr lang="zh-CN" altLang="zh-CN" sz="1360">
              <a:solidFill>
                <a:srgbClr val="FF0000"/>
              </a:solidFill>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465">
                                            <p:txEl>
                                              <p:pRg st="0" end="0"/>
                                            </p:txEl>
                                          </p:spTgt>
                                        </p:tgtEl>
                                        <p:attrNameLst>
                                          <p:attrName>style.visibility</p:attrName>
                                        </p:attrNameLst>
                                      </p:cBhvr>
                                      <p:to>
                                        <p:strVal val="visible"/>
                                      </p:to>
                                    </p:set>
                                    <p:animEffect transition="in" filter="wipe(left)">
                                      <p:cBhvr>
                                        <p:cTn id="7" dur="500"/>
                                        <p:tgtEl>
                                          <p:spTgt spid="18465">
                                            <p:txEl>
                                              <p:pRg st="0" end="0"/>
                                            </p:txEl>
                                          </p:spTgt>
                                        </p:tgtEl>
                                      </p:cBhvr>
                                    </p:animEffect>
                                  </p:childTnLst>
                                  <p:subTnLst>
                                    <p:animClr clrSpc="rgb" dir="cw">
                                      <p:cBhvr override="childStyle">
                                        <p:cTn dur="1" fill="hold" display="0" masterRel="nextClick" afterEffect="1"/>
                                        <p:tgtEl>
                                          <p:spTgt spid="18465">
                                            <p:txEl>
                                              <p:pRg st="0" end="0"/>
                                            </p:txEl>
                                          </p:spTgt>
                                        </p:tgtEl>
                                        <p:attrNameLst>
                                          <p:attrName>ppt_c</p:attrName>
                                        </p:attrNameLst>
                                      </p:cBhvr>
                                      <p:to>
                                        <a:schemeClr val="bg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65">
                                            <p:txEl>
                                              <p:pRg st="1" end="1"/>
                                            </p:txEl>
                                          </p:spTgt>
                                        </p:tgtEl>
                                        <p:attrNameLst>
                                          <p:attrName>style.visibility</p:attrName>
                                        </p:attrNameLst>
                                      </p:cBhvr>
                                      <p:to>
                                        <p:strVal val="visible"/>
                                      </p:to>
                                    </p:set>
                                    <p:animEffect transition="in" filter="wipe(left)">
                                      <p:cBhvr>
                                        <p:cTn id="12" dur="500"/>
                                        <p:tgtEl>
                                          <p:spTgt spid="18465">
                                            <p:txEl>
                                              <p:pRg st="1" end="1"/>
                                            </p:txEl>
                                          </p:spTgt>
                                        </p:tgtEl>
                                      </p:cBhvr>
                                    </p:animEffect>
                                  </p:childTnLst>
                                  <p:subTnLst>
                                    <p:animClr clrSpc="rgb" dir="cw">
                                      <p:cBhvr override="childStyle">
                                        <p:cTn dur="1" fill="hold" display="0" masterRel="nextClick" afterEffect="1"/>
                                        <p:tgtEl>
                                          <p:spTgt spid="18465">
                                            <p:txEl>
                                              <p:pRg st="1" end="1"/>
                                            </p:txEl>
                                          </p:spTgt>
                                        </p:tgtEl>
                                        <p:attrNameLst>
                                          <p:attrName>ppt_c</p:attrName>
                                        </p:attrNameLst>
                                      </p:cBhvr>
                                      <p:to>
                                        <a:schemeClr val="bg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465">
                                            <p:txEl>
                                              <p:pRg st="2" end="2"/>
                                            </p:txEl>
                                          </p:spTgt>
                                        </p:tgtEl>
                                        <p:attrNameLst>
                                          <p:attrName>style.visibility</p:attrName>
                                        </p:attrNameLst>
                                      </p:cBhvr>
                                      <p:to>
                                        <p:strVal val="visible"/>
                                      </p:to>
                                    </p:set>
                                    <p:animEffect transition="in" filter="wipe(left)">
                                      <p:cBhvr>
                                        <p:cTn id="17" dur="500"/>
                                        <p:tgtEl>
                                          <p:spTgt spid="184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5" grpId="0" autoUpdateAnimBg="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910" i="1">
                <a:solidFill>
                  <a:srgbClr val="777777"/>
                </a:solidFill>
                <a:ea typeface="宋体" pitchFamily="2" charset="-122"/>
              </a:rPr>
              <a:t>MEASURING THE COST OF LIVING</a:t>
            </a:r>
            <a:endParaRPr lang="en-US" altLang="zh-CN" sz="910" i="1">
              <a:solidFill>
                <a:srgbClr val="777777"/>
              </a:solidFill>
              <a:ea typeface="宋体" pitchFamily="2" charset="-122"/>
            </a:endParaRPr>
          </a:p>
        </p:txBody>
      </p:sp>
      <p:sp>
        <p:nvSpPr>
          <p:cNvPr id="19459"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8D42E11E-0625-1E4C-AEEA-4646781FF445}" type="slidenum">
              <a:rPr lang="zh-CN" altLang="zh-CN" sz="855">
                <a:solidFill>
                  <a:srgbClr val="777777"/>
                </a:solidFill>
                <a:ea typeface="宋体" pitchFamily="2" charset="-122"/>
              </a:rPr>
            </a:fld>
            <a:endParaRPr lang="en-US" altLang="zh-CN" sz="855">
              <a:solidFill>
                <a:srgbClr val="777777"/>
              </a:solidFill>
              <a:ea typeface="宋体" pitchFamily="2" charset="-122"/>
            </a:endParaRPr>
          </a:p>
        </p:txBody>
      </p:sp>
      <p:sp>
        <p:nvSpPr>
          <p:cNvPr id="19460" name="Rectangle 4"/>
          <p:cNvSpPr>
            <a:spLocks noGrp="1" noChangeArrowheads="1"/>
          </p:cNvSpPr>
          <p:nvPr>
            <p:ph type="title" idx="4294967295"/>
          </p:nvPr>
        </p:nvSpPr>
        <p:spPr>
          <a:xfrm>
            <a:off x="230505" y="117641"/>
            <a:ext cx="4149090" cy="327349"/>
          </a:xfrm>
        </p:spPr>
        <p:txBody>
          <a:bodyPr/>
          <a:lstStyle/>
          <a:p>
            <a:pPr eaLnBrk="1" hangingPunct="1"/>
            <a:r>
              <a:rPr lang="en-US" altLang="zh-CN" sz="1815">
                <a:ea typeface="宋体" pitchFamily="2" charset="-122"/>
              </a:rPr>
              <a:t>CPI</a:t>
            </a:r>
            <a:r>
              <a:rPr lang="zh-CN" altLang="zh-CN" sz="1815">
                <a:ea typeface="宋体" pitchFamily="2" charset="-122"/>
              </a:rPr>
              <a:t>的篮子中有些什么</a:t>
            </a:r>
            <a:r>
              <a:rPr lang="en-US" altLang="zh-CN" sz="1815">
                <a:ea typeface="宋体" pitchFamily="2" charset="-122"/>
              </a:rPr>
              <a:t>?</a:t>
            </a:r>
            <a:endParaRPr lang="en-US" altLang="zh-CN" sz="1815">
              <a:ea typeface="宋体" pitchFamily="2" charset="-122"/>
            </a:endParaRPr>
          </a:p>
        </p:txBody>
      </p:sp>
      <p:graphicFrame>
        <p:nvGraphicFramePr>
          <p:cNvPr id="19461" name="Object 5"/>
          <p:cNvGraphicFramePr>
            <a:graphicFrameLocks noGrp="1" noChangeAspect="1"/>
          </p:cNvGraphicFramePr>
          <p:nvPr>
            <p:ph idx="4294967295"/>
          </p:nvPr>
        </p:nvGraphicFramePr>
        <p:xfrm>
          <a:off x="48022" y="407373"/>
          <a:ext cx="4535666" cy="2875710"/>
        </p:xfrm>
        <a:graphic>
          <a:graphicData uri="http://schemas.openxmlformats.org/presentationml/2006/ole">
            <mc:AlternateContent xmlns:mc="http://schemas.openxmlformats.org/markup-compatibility/2006">
              <mc:Choice xmlns:v="urn:schemas-microsoft-com:vml" Requires="v">
                <p:oleObj spid="_x0000_s0" name="" r:id="rId1" imgW="8525510" imgH="5405755" progId="MSGraph.Chart.8">
                  <p:embed/>
                </p:oleObj>
              </mc:Choice>
              <mc:Fallback>
                <p:oleObj name="" r:id="rId1" imgW="8525510" imgH="5405755" progId="MSGraph.Chart.8">
                  <p:embed/>
                  <p:pic>
                    <p:nvPicPr>
                      <p:cNvPr id="0" name="Object 5"/>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2" y="407373"/>
                        <a:ext cx="4535666" cy="287571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2" name="FlagCount" hidden="1">
            <a:hlinkClick r:id="rId3"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fade">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fade">
                                      <p:cBhvr>
                                        <p:cTn id="12" dur="500"/>
                                        <p:tgtEl>
                                          <p:spTgt spid="194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61"/>
                                        </p:tgtEl>
                                        <p:attrNameLst>
                                          <p:attrName>style.visibility</p:attrName>
                                        </p:attrNameLst>
                                      </p:cBhvr>
                                      <p:to>
                                        <p:strVal val="visible"/>
                                      </p:to>
                                    </p:set>
                                    <p:animEffect transition="in" filter="fade">
                                      <p:cBhvr>
                                        <p:cTn id="17" dur="500"/>
                                        <p:tgtEl>
                                          <p:spTgt spid="194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61"/>
                                        </p:tgtEl>
                                        <p:attrNameLst>
                                          <p:attrName>style.visibility</p:attrName>
                                        </p:attrNameLst>
                                      </p:cBhvr>
                                      <p:to>
                                        <p:strVal val="visible"/>
                                      </p:to>
                                    </p:set>
                                    <p:animEffect transition="in" filter="fade">
                                      <p:cBhvr>
                                        <p:cTn id="22" dur="500"/>
                                        <p:tgtEl>
                                          <p:spTgt spid="1946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61"/>
                                        </p:tgtEl>
                                        <p:attrNameLst>
                                          <p:attrName>style.visibility</p:attrName>
                                        </p:attrNameLst>
                                      </p:cBhvr>
                                      <p:to>
                                        <p:strVal val="visible"/>
                                      </p:to>
                                    </p:set>
                                    <p:animEffect transition="in" filter="fade">
                                      <p:cBhvr>
                                        <p:cTn id="27" dur="500"/>
                                        <p:tgtEl>
                                          <p:spTgt spid="1946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61"/>
                                        </p:tgtEl>
                                        <p:attrNameLst>
                                          <p:attrName>style.visibility</p:attrName>
                                        </p:attrNameLst>
                                      </p:cBhvr>
                                      <p:to>
                                        <p:strVal val="visible"/>
                                      </p:to>
                                    </p:set>
                                    <p:animEffect transition="in" filter="fade">
                                      <p:cBhvr>
                                        <p:cTn id="32" dur="500"/>
                                        <p:tgtEl>
                                          <p:spTgt spid="1946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61"/>
                                        </p:tgtEl>
                                        <p:attrNameLst>
                                          <p:attrName>style.visibility</p:attrName>
                                        </p:attrNameLst>
                                      </p:cBhvr>
                                      <p:to>
                                        <p:strVal val="visible"/>
                                      </p:to>
                                    </p:set>
                                    <p:animEffect transition="in" filter="fade">
                                      <p:cBhvr>
                                        <p:cTn id="37" dur="500"/>
                                        <p:tgtEl>
                                          <p:spTgt spid="1946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61"/>
                                        </p:tgtEl>
                                        <p:attrNameLst>
                                          <p:attrName>style.visibility</p:attrName>
                                        </p:attrNameLst>
                                      </p:cBhvr>
                                      <p:to>
                                        <p:strVal val="visible"/>
                                      </p:to>
                                    </p:set>
                                    <p:animEffect transition="in" filter="fade">
                                      <p:cBhvr>
                                        <p:cTn id="42"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172879" y="14642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a:lstStyle>
          <a:p>
            <a:pPr eaLnBrk="1" hangingPunct="1"/>
            <a:r>
              <a:rPr lang="zh-CN" altLang="en-US" sz="1815" dirty="0">
                <a:ea typeface="宋体" pitchFamily="2" charset="-122"/>
              </a:rPr>
              <a:t>我国的居民</a:t>
            </a:r>
            <a:r>
              <a:rPr lang="zh-CN" altLang="zh-CN" sz="1815" dirty="0">
                <a:ea typeface="宋体" pitchFamily="2" charset="-122"/>
              </a:rPr>
              <a:t>消费</a:t>
            </a:r>
            <a:r>
              <a:rPr lang="zh-CN" altLang="en-US" sz="1815" dirty="0">
                <a:ea typeface="宋体" pitchFamily="2" charset="-122"/>
              </a:rPr>
              <a:t>价格</a:t>
            </a:r>
            <a:r>
              <a:rPr lang="zh-CN" altLang="zh-CN" sz="1815" dirty="0">
                <a:ea typeface="宋体" pitchFamily="2" charset="-122"/>
              </a:rPr>
              <a:t>指数</a:t>
            </a:r>
            <a:endParaRPr lang="zh-CN" altLang="zh-CN" sz="1815" dirty="0">
              <a:ea typeface="宋体" pitchFamily="2" charset="-122"/>
            </a:endParaRPr>
          </a:p>
        </p:txBody>
      </p:sp>
      <p:pic>
        <p:nvPicPr>
          <p:cNvPr id="4" name="图片 3" descr="截屏2026-04-02 09.49.57"/>
          <p:cNvPicPr>
            <a:picLocks noChangeAspect="1"/>
          </p:cNvPicPr>
          <p:nvPr/>
        </p:nvPicPr>
        <p:blipFill>
          <a:blip r:embed="rId1"/>
          <a:stretch>
            <a:fillRect/>
          </a:stretch>
        </p:blipFill>
        <p:spPr>
          <a:xfrm>
            <a:off x="119380" y="578485"/>
            <a:ext cx="4347210" cy="24523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2553" y="593482"/>
            <a:ext cx="3888996" cy="229870"/>
          </a:xfrm>
          <a:prstGeom prst="rect">
            <a:avLst/>
          </a:prstGeom>
          <a:noFill/>
        </p:spPr>
        <p:txBody>
          <a:bodyPr wrap="square">
            <a:spAutoFit/>
          </a:bodyPr>
          <a:lstStyle/>
          <a:p>
            <a:pPr algn="ctr"/>
            <a:r>
              <a:rPr lang="zh-CN" altLang="en-US" sz="900" b="1" dirty="0">
                <a:solidFill>
                  <a:srgbClr val="333333"/>
                </a:solidFill>
                <a:latin typeface="Times New Roman" panose="02020503050405090304" pitchFamily="18" charset="0"/>
                <a:ea typeface="宋体" pitchFamily="2" charset="-122"/>
              </a:rPr>
              <a:t>表 我国</a:t>
            </a:r>
            <a:r>
              <a:rPr lang="en-US" altLang="zh-CN" sz="900" b="1" i="0" u="none" strike="noStrike" dirty="0">
                <a:solidFill>
                  <a:srgbClr val="333333"/>
                </a:solidFill>
                <a:effectLst/>
                <a:latin typeface="Times New Roman" panose="02020503050405090304" pitchFamily="18" charset="0"/>
                <a:ea typeface="宋体" pitchFamily="2" charset="-122"/>
              </a:rPr>
              <a:t>2024</a:t>
            </a:r>
            <a:r>
              <a:rPr lang="zh-CN" altLang="en-US" sz="900" b="1" i="0" u="none" strike="noStrike" dirty="0">
                <a:solidFill>
                  <a:srgbClr val="333333"/>
                </a:solidFill>
                <a:effectLst/>
                <a:latin typeface="宋体" pitchFamily="2" charset="-122"/>
                <a:ea typeface="宋体" pitchFamily="2" charset="-122"/>
              </a:rPr>
              <a:t>年居民消费价格分类指数</a:t>
            </a:r>
            <a:r>
              <a:rPr lang="en-US" altLang="zh-CN" sz="900" b="1" i="0" u="none" strike="noStrike" dirty="0">
                <a:solidFill>
                  <a:srgbClr val="333333"/>
                </a:solidFill>
                <a:effectLst/>
                <a:latin typeface="宋体" pitchFamily="2" charset="-122"/>
                <a:ea typeface="宋体" pitchFamily="2" charset="-122"/>
              </a:rPr>
              <a:t>（</a:t>
            </a:r>
            <a:r>
              <a:rPr lang="zh-CN" altLang="en-US" sz="900" b="1" i="0" u="none" strike="noStrike" dirty="0">
                <a:solidFill>
                  <a:srgbClr val="333333"/>
                </a:solidFill>
                <a:effectLst/>
                <a:latin typeface="宋体" pitchFamily="2" charset="-122"/>
                <a:ea typeface="宋体" pitchFamily="2" charset="-122"/>
              </a:rPr>
              <a:t>上年</a:t>
            </a:r>
            <a:r>
              <a:rPr lang="en-US" altLang="zh-CN" sz="900" b="1" i="0" u="none" strike="noStrike" dirty="0">
                <a:solidFill>
                  <a:srgbClr val="333333"/>
                </a:solidFill>
                <a:effectLst/>
                <a:latin typeface="宋体" pitchFamily="2" charset="-122"/>
                <a:ea typeface="宋体" pitchFamily="2" charset="-122"/>
              </a:rPr>
              <a:t>100）</a:t>
            </a:r>
            <a:endParaRPr lang="en-US" altLang="zh-CN" sz="900" b="1" i="0" u="none" strike="noStrike" dirty="0">
              <a:solidFill>
                <a:srgbClr val="333333"/>
              </a:solidFill>
              <a:effectLst/>
              <a:latin typeface="宋体" pitchFamily="2" charset="-122"/>
              <a:ea typeface="宋体" pitchFamily="2" charset="-122"/>
            </a:endParaRPr>
          </a:p>
        </p:txBody>
      </p:sp>
      <p:sp>
        <p:nvSpPr>
          <p:cNvPr id="5" name="Rectangle 2"/>
          <p:cNvSpPr txBox="1">
            <a:spLocks noChangeArrowheads="1"/>
          </p:cNvSpPr>
          <p:nvPr/>
        </p:nvSpPr>
        <p:spPr bwMode="auto">
          <a:xfrm>
            <a:off x="184884" y="21820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a:lstStyle>
          <a:p>
            <a:pPr eaLnBrk="1" hangingPunct="1"/>
            <a:r>
              <a:rPr lang="zh-CN" altLang="en-US" sz="1815" dirty="0">
                <a:ea typeface="宋体" pitchFamily="2" charset="-122"/>
              </a:rPr>
              <a:t>我国的居民</a:t>
            </a:r>
            <a:r>
              <a:rPr lang="zh-CN" altLang="zh-CN" sz="1815" dirty="0">
                <a:ea typeface="宋体" pitchFamily="2" charset="-122"/>
              </a:rPr>
              <a:t>消费</a:t>
            </a:r>
            <a:r>
              <a:rPr lang="zh-CN" altLang="en-US" sz="1815" dirty="0">
                <a:ea typeface="宋体" pitchFamily="2" charset="-122"/>
              </a:rPr>
              <a:t>价格指数构成</a:t>
            </a:r>
            <a:endParaRPr lang="zh-CN" altLang="zh-CN" sz="1815" dirty="0">
              <a:ea typeface="宋体" pitchFamily="2" charset="-122"/>
            </a:endParaRPr>
          </a:p>
        </p:txBody>
      </p:sp>
      <p:pic>
        <p:nvPicPr>
          <p:cNvPr id="3" name="图片 2" descr="截屏2026-04-02 09.58.26"/>
          <p:cNvPicPr/>
          <p:nvPr/>
        </p:nvPicPr>
        <p:blipFill>
          <a:blip r:embed="rId1"/>
          <a:srcRect t="13424"/>
          <a:stretch>
            <a:fillRect/>
          </a:stretch>
        </p:blipFill>
        <p:spPr>
          <a:xfrm>
            <a:off x="144145" y="941705"/>
            <a:ext cx="1496060" cy="2233295"/>
          </a:xfrm>
          <a:prstGeom prst="rect">
            <a:avLst/>
          </a:prstGeom>
          <a:ln>
            <a:noFill/>
          </a:ln>
        </p:spPr>
      </p:pic>
      <p:pic>
        <p:nvPicPr>
          <p:cNvPr id="7" name="图片 6" descr="截屏2026-04-02 09.58.46"/>
          <p:cNvPicPr/>
          <p:nvPr/>
        </p:nvPicPr>
        <p:blipFill>
          <a:blip r:embed="rId2"/>
          <a:stretch>
            <a:fillRect/>
          </a:stretch>
        </p:blipFill>
        <p:spPr>
          <a:xfrm>
            <a:off x="1512570" y="942975"/>
            <a:ext cx="1497600" cy="2232000"/>
          </a:xfrm>
          <a:prstGeom prst="rect">
            <a:avLst/>
          </a:prstGeom>
          <a:ln>
            <a:noFill/>
          </a:ln>
        </p:spPr>
      </p:pic>
      <p:pic>
        <p:nvPicPr>
          <p:cNvPr id="8" name="图片 7" descr="截屏2026-04-02 09.59.04"/>
          <p:cNvPicPr/>
          <p:nvPr/>
        </p:nvPicPr>
        <p:blipFill>
          <a:blip r:embed="rId3"/>
          <a:stretch>
            <a:fillRect/>
          </a:stretch>
        </p:blipFill>
        <p:spPr>
          <a:xfrm>
            <a:off x="3053715" y="938530"/>
            <a:ext cx="1497600" cy="223200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910" i="1">
                <a:solidFill>
                  <a:srgbClr val="777777"/>
                </a:solidFill>
                <a:ea typeface="宋体" pitchFamily="2" charset="-122"/>
              </a:rPr>
              <a:t>MEASURING THE COST OF LIVING</a:t>
            </a:r>
            <a:endParaRPr lang="en-US" altLang="zh-CN" sz="910" i="1">
              <a:solidFill>
                <a:srgbClr val="777777"/>
              </a:solidFill>
              <a:ea typeface="宋体" pitchFamily="2" charset="-122"/>
            </a:endParaRPr>
          </a:p>
        </p:txBody>
      </p:sp>
      <p:sp>
        <p:nvSpPr>
          <p:cNvPr id="35843"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E7AA46E9-1E9C-944E-9320-AEE777C9FC10}"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35844" name="Rectangle 2"/>
          <p:cNvSpPr>
            <a:spLocks noGrp="1" noChangeArrowheads="1"/>
          </p:cNvSpPr>
          <p:nvPr>
            <p:ph type="body" idx="4294967295"/>
          </p:nvPr>
        </p:nvSpPr>
        <p:spPr>
          <a:xfrm>
            <a:off x="199291" y="524226"/>
            <a:ext cx="2539557" cy="741138"/>
          </a:xfrm>
          <a:solidFill>
            <a:srgbClr val="FFFFCC"/>
          </a:solidFill>
          <a:ln>
            <a:solidFill>
              <a:schemeClr val="tx1"/>
            </a:solidFill>
            <a:miter lim="800000"/>
          </a:ln>
          <a:effectLst>
            <a:outerShdw dist="107763" dir="2700000" algn="ctr" rotWithShape="0">
              <a:schemeClr val="bg2"/>
            </a:outerShdw>
          </a:effectLst>
        </p:spPr>
        <p:txBody>
          <a:bodyPr/>
          <a:lstStyle/>
          <a:p>
            <a:pPr marL="0" indent="0" eaLnBrk="1" hangingPunct="1">
              <a:lnSpc>
                <a:spcPct val="100000"/>
              </a:lnSpc>
              <a:buNone/>
            </a:pPr>
            <a:r>
              <a:rPr lang="zh-CN" altLang="zh-CN">
                <a:ea typeface="宋体" pitchFamily="2" charset="-122"/>
              </a:rPr>
              <a:t>进口消费物品：</a:t>
            </a:r>
            <a:endParaRPr lang="zh-CN" altLang="zh-CN">
              <a:ea typeface="宋体" pitchFamily="2" charset="-122"/>
            </a:endParaRPr>
          </a:p>
          <a:p>
            <a:pPr marL="230505" lvl="1" indent="-147955" eaLnBrk="1" hangingPunct="1">
              <a:lnSpc>
                <a:spcPct val="80000"/>
              </a:lnSpc>
              <a:spcBef>
                <a:spcPct val="10000"/>
              </a:spcBef>
              <a:buClr>
                <a:srgbClr val="FF6600"/>
              </a:buClr>
              <a:buSzPct val="115000"/>
            </a:pPr>
            <a:r>
              <a:rPr lang="zh-CN" altLang="zh-CN" sz="1410">
                <a:ea typeface="宋体" pitchFamily="2" charset="-122"/>
              </a:rPr>
              <a:t>包含在CPI内</a:t>
            </a:r>
            <a:endParaRPr lang="zh-CN" altLang="zh-CN" sz="1410">
              <a:ea typeface="宋体" pitchFamily="2" charset="-122"/>
            </a:endParaRPr>
          </a:p>
          <a:p>
            <a:pPr marL="230505" lvl="1" indent="-147955" eaLnBrk="1" hangingPunct="1">
              <a:lnSpc>
                <a:spcPct val="80000"/>
              </a:lnSpc>
              <a:spcBef>
                <a:spcPct val="10000"/>
              </a:spcBef>
              <a:buClr>
                <a:srgbClr val="FF6600"/>
              </a:buClr>
              <a:buSzPct val="115000"/>
            </a:pPr>
            <a:r>
              <a:rPr lang="zh-CN" altLang="zh-CN" sz="1410">
                <a:ea typeface="宋体" pitchFamily="2" charset="-122"/>
              </a:rPr>
              <a:t>不包含在GDP平减指数内</a:t>
            </a:r>
            <a:endParaRPr lang="zh-CN" altLang="zh-CN" sz="1410">
              <a:ea typeface="宋体" pitchFamily="2" charset="-122"/>
            </a:endParaRPr>
          </a:p>
        </p:txBody>
      </p:sp>
      <p:sp>
        <p:nvSpPr>
          <p:cNvPr id="35845" name="Rectangle 3"/>
          <p:cNvSpPr>
            <a:spLocks noChangeArrowheads="1"/>
          </p:cNvSpPr>
          <p:nvPr/>
        </p:nvSpPr>
        <p:spPr bwMode="auto">
          <a:xfrm>
            <a:off x="80037" y="1744782"/>
            <a:ext cx="3274292" cy="1545504"/>
          </a:xfrm>
          <a:prstGeom prst="rect">
            <a:avLst/>
          </a:prstGeom>
          <a:solidFill>
            <a:srgbClr val="FFCCFF"/>
          </a:solidFill>
          <a:ln w="9525">
            <a:solidFill>
              <a:schemeClr val="tx1"/>
            </a:solidFill>
            <a:miter lim="800000"/>
          </a:ln>
          <a:effectLst>
            <a:outerShdw dist="107763" dir="2700000" algn="ctr" rotWithShape="0">
              <a:schemeClr val="bg2"/>
            </a:outerShdw>
          </a:effectLst>
        </p:spPr>
        <p:txBody>
          <a:bodyPr/>
          <a:lstStyle>
            <a:lvl1pPr eaLnBrk="0" hangingPunct="0">
              <a:defRPr>
                <a:solidFill>
                  <a:schemeClr val="tx1"/>
                </a:solidFill>
                <a:latin typeface="Arial" panose="020B0604020202090204" pitchFamily="34" charset="0"/>
              </a:defRPr>
            </a:lvl1pPr>
            <a:lvl2pPr indent="-294005"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45000"/>
              </a:spcBef>
              <a:spcAft>
                <a:spcPct val="0"/>
              </a:spcAft>
              <a:buClr>
                <a:srgbClr val="00B85C"/>
              </a:buClr>
              <a:buSzPct val="120000"/>
            </a:pPr>
            <a:r>
              <a:rPr lang="zh-CN" altLang="zh-CN" sz="1310">
                <a:solidFill>
                  <a:srgbClr val="000000"/>
                </a:solidFill>
                <a:ea typeface="宋体" pitchFamily="2" charset="-122"/>
              </a:rPr>
              <a:t>篮子：</a:t>
            </a:r>
            <a:endParaRPr lang="zh-CN" altLang="zh-CN" sz="1310">
              <a:solidFill>
                <a:srgbClr val="000000"/>
              </a:solidFill>
              <a:ea typeface="宋体" pitchFamily="2" charset="-122"/>
            </a:endParaRPr>
          </a:p>
          <a:p>
            <a:pPr marL="230505" lvl="1" indent="-147955" defTabSz="461010" eaLnBrk="1" fontAlgn="base" hangingPunct="1">
              <a:spcBef>
                <a:spcPct val="10000"/>
              </a:spcBef>
              <a:spcAft>
                <a:spcPct val="0"/>
              </a:spcAft>
              <a:buClr>
                <a:srgbClr val="990099"/>
              </a:buClr>
              <a:buSzPct val="115000"/>
              <a:buFont typeface="Wingdings" panose="05000000000000000000" pitchFamily="2" charset="2"/>
              <a:buChar char="§"/>
            </a:pPr>
            <a:r>
              <a:rPr lang="zh-CN" altLang="zh-CN" sz="1310">
                <a:solidFill>
                  <a:srgbClr val="000000"/>
                </a:solidFill>
                <a:ea typeface="宋体" pitchFamily="2" charset="-122"/>
              </a:rPr>
              <a:t>CPI用固定的篮子</a:t>
            </a:r>
            <a:endParaRPr lang="zh-CN" altLang="zh-CN" sz="1310">
              <a:solidFill>
                <a:srgbClr val="000000"/>
              </a:solidFill>
              <a:ea typeface="宋体" pitchFamily="2" charset="-122"/>
            </a:endParaRPr>
          </a:p>
          <a:p>
            <a:pPr marL="230505" lvl="1" indent="-147955" defTabSz="461010" eaLnBrk="1" fontAlgn="base" hangingPunct="1">
              <a:spcBef>
                <a:spcPct val="10000"/>
              </a:spcBef>
              <a:spcAft>
                <a:spcPct val="0"/>
              </a:spcAft>
              <a:buClr>
                <a:srgbClr val="990099"/>
              </a:buClr>
              <a:buSzPct val="115000"/>
              <a:buFont typeface="Wingdings" panose="05000000000000000000" pitchFamily="2" charset="2"/>
              <a:buChar char="§"/>
            </a:pPr>
            <a:r>
              <a:rPr lang="zh-CN" altLang="zh-CN" sz="1310">
                <a:solidFill>
                  <a:srgbClr val="000000"/>
                </a:solidFill>
                <a:ea typeface="宋体" pitchFamily="2" charset="-122"/>
              </a:rPr>
              <a:t>GDP平减指数用一篮子现期生产的物品和劳务</a:t>
            </a:r>
            <a:endParaRPr lang="zh-CN" altLang="zh-CN" sz="1310">
              <a:solidFill>
                <a:srgbClr val="000000"/>
              </a:solidFill>
              <a:ea typeface="宋体" pitchFamily="2" charset="-122"/>
            </a:endParaRPr>
          </a:p>
          <a:p>
            <a:pPr marL="230505" lvl="1" indent="-147955" defTabSz="461010" eaLnBrk="1" fontAlgn="base" hangingPunct="1">
              <a:spcBef>
                <a:spcPct val="10000"/>
              </a:spcBef>
              <a:spcAft>
                <a:spcPct val="0"/>
              </a:spcAft>
              <a:buClr>
                <a:srgbClr val="990099"/>
              </a:buClr>
              <a:buSzPct val="115000"/>
              <a:buFont typeface="Wingdings" panose="05000000000000000000" pitchFamily="2" charset="2"/>
              <a:buChar char="§"/>
            </a:pPr>
            <a:r>
              <a:rPr lang="zh-CN" altLang="zh-CN" sz="1310">
                <a:solidFill>
                  <a:srgbClr val="000000"/>
                </a:solidFill>
                <a:ea typeface="宋体" pitchFamily="2" charset="-122"/>
              </a:rPr>
              <a:t>如果不同物品与劳务价格的变动量不同，我们对各种价格加权的方法对于整个通货膨胀率就是至关重要的</a:t>
            </a:r>
            <a:endParaRPr lang="zh-CN" altLang="zh-CN" sz="1310">
              <a:solidFill>
                <a:srgbClr val="000000"/>
              </a:solidFill>
              <a:ea typeface="宋体" pitchFamily="2" charset="-122"/>
            </a:endParaRPr>
          </a:p>
        </p:txBody>
      </p:sp>
      <p:sp>
        <p:nvSpPr>
          <p:cNvPr id="35846" name="Rectangle 4"/>
          <p:cNvSpPr>
            <a:spLocks noChangeArrowheads="1"/>
          </p:cNvSpPr>
          <p:nvPr/>
        </p:nvSpPr>
        <p:spPr bwMode="auto">
          <a:xfrm>
            <a:off x="2180193" y="1227746"/>
            <a:ext cx="2262631" cy="960438"/>
          </a:xfrm>
          <a:prstGeom prst="rect">
            <a:avLst/>
          </a:prstGeom>
          <a:solidFill>
            <a:srgbClr val="CCFFCC"/>
          </a:solidFill>
          <a:ln w="9525">
            <a:solidFill>
              <a:schemeClr val="tx1"/>
            </a:solidFill>
            <a:miter lim="800000"/>
          </a:ln>
          <a:effectLst>
            <a:outerShdw dist="107763" dir="2700000" algn="ctr" rotWithShape="0">
              <a:schemeClr val="bg2"/>
            </a:outerShdw>
          </a:effectLst>
        </p:spPr>
        <p:txBody>
          <a:bodyPr/>
          <a:lstStyle>
            <a:lvl1pPr eaLnBrk="0" hangingPunct="0">
              <a:defRPr>
                <a:solidFill>
                  <a:schemeClr val="tx1"/>
                </a:solidFill>
                <a:latin typeface="Arial" panose="020B0604020202090204" pitchFamily="34" charset="0"/>
              </a:defRPr>
            </a:lvl1pPr>
            <a:lvl2pPr indent="-294005"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45000"/>
              </a:spcBef>
              <a:spcAft>
                <a:spcPct val="0"/>
              </a:spcAft>
              <a:buClr>
                <a:srgbClr val="00B85C"/>
              </a:buClr>
              <a:buSzPct val="120000"/>
            </a:pPr>
            <a:r>
              <a:rPr lang="zh-CN" altLang="zh-CN" sz="1410">
                <a:solidFill>
                  <a:srgbClr val="000000"/>
                </a:solidFill>
                <a:ea typeface="宋体" pitchFamily="2" charset="-122"/>
              </a:rPr>
              <a:t>资本商品:</a:t>
            </a:r>
            <a:endParaRPr lang="zh-CN" altLang="zh-CN" sz="1410">
              <a:solidFill>
                <a:srgbClr val="000000"/>
              </a:solidFill>
              <a:ea typeface="宋体" pitchFamily="2" charset="-122"/>
            </a:endParaRPr>
          </a:p>
          <a:p>
            <a:pPr marL="230505" lvl="1" indent="-147955" defTabSz="461010" eaLnBrk="1" fontAlgn="base" hangingPunct="1">
              <a:spcBef>
                <a:spcPct val="10000"/>
              </a:spcBef>
              <a:spcAft>
                <a:spcPct val="0"/>
              </a:spcAft>
              <a:buClr>
                <a:srgbClr val="0066FF"/>
              </a:buClr>
              <a:buSzPct val="115000"/>
              <a:buFont typeface="Wingdings" panose="05000000000000000000" pitchFamily="2" charset="2"/>
              <a:buChar char="§"/>
            </a:pPr>
            <a:r>
              <a:rPr lang="zh-CN" altLang="zh-CN" sz="1410">
                <a:solidFill>
                  <a:srgbClr val="000000"/>
                </a:solidFill>
                <a:ea typeface="宋体" pitchFamily="2" charset="-122"/>
              </a:rPr>
              <a:t>不包含在CPI内 </a:t>
            </a:r>
            <a:endParaRPr lang="zh-CN" altLang="zh-CN" sz="1410">
              <a:solidFill>
                <a:srgbClr val="000000"/>
              </a:solidFill>
              <a:ea typeface="宋体" pitchFamily="2" charset="-122"/>
            </a:endParaRPr>
          </a:p>
          <a:p>
            <a:pPr marL="230505" lvl="1" indent="-147955" defTabSz="461010" eaLnBrk="1" fontAlgn="base" hangingPunct="1">
              <a:spcBef>
                <a:spcPct val="10000"/>
              </a:spcBef>
              <a:spcAft>
                <a:spcPct val="0"/>
              </a:spcAft>
              <a:buClr>
                <a:srgbClr val="0066FF"/>
              </a:buClr>
              <a:buSzPct val="115000"/>
              <a:buFont typeface="Wingdings" panose="05000000000000000000" pitchFamily="2" charset="2"/>
              <a:buChar char="§"/>
            </a:pPr>
            <a:r>
              <a:rPr lang="zh-CN" altLang="zh-CN" sz="1410">
                <a:solidFill>
                  <a:srgbClr val="000000"/>
                </a:solidFill>
                <a:ea typeface="宋体" pitchFamily="2" charset="-122"/>
              </a:rPr>
              <a:t>包含在GDP平减指数内 (如果是在国内生产)</a:t>
            </a:r>
            <a:endParaRPr lang="zh-CN" altLang="zh-CN" sz="1410">
              <a:solidFill>
                <a:srgbClr val="000000"/>
              </a:solidFill>
              <a:ea typeface="宋体" pitchFamily="2" charset="-122"/>
            </a:endParaRPr>
          </a:p>
        </p:txBody>
      </p:sp>
      <p:sp>
        <p:nvSpPr>
          <p:cNvPr id="35847" name="Rectangle 5"/>
          <p:cNvSpPr>
            <a:spLocks noGrp="1" noChangeArrowheads="1"/>
          </p:cNvSpPr>
          <p:nvPr>
            <p:ph type="title" idx="4294967295"/>
          </p:nvPr>
        </p:nvSpPr>
        <p:spPr>
          <a:xfrm>
            <a:off x="133661" y="134448"/>
            <a:ext cx="4369991" cy="283329"/>
          </a:xfrm>
        </p:spPr>
        <p:txBody>
          <a:bodyPr/>
          <a:lstStyle/>
          <a:p>
            <a:pPr eaLnBrk="1" hangingPunct="1"/>
            <a:r>
              <a:rPr lang="zh-CN" altLang="zh-CN" sz="1815">
                <a:ea typeface="宋体" pitchFamily="2" charset="-122"/>
              </a:rPr>
              <a:t>CPI与GDP平减指数的对比</a:t>
            </a:r>
            <a:endParaRPr lang="zh-CN" altLang="zh-CN" sz="1815">
              <a:ea typeface="宋体" pitchFamily="2" charset="-122"/>
            </a:endParaRPr>
          </a:p>
        </p:txBody>
      </p:sp>
      <p:sp>
        <p:nvSpPr>
          <p:cNvPr id="35848"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fade">
                                      <p:cBhvr>
                                        <p:cTn id="7" dur="500"/>
                                        <p:tgtEl>
                                          <p:spTgt spid="358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846"/>
                                        </p:tgtEl>
                                        <p:attrNameLst>
                                          <p:attrName>style.visibility</p:attrName>
                                        </p:attrNameLst>
                                      </p:cBhvr>
                                      <p:to>
                                        <p:strVal val="visible"/>
                                      </p:to>
                                    </p:set>
                                    <p:animEffect transition="in" filter="fade">
                                      <p:cBhvr>
                                        <p:cTn id="12" dur="500"/>
                                        <p:tgtEl>
                                          <p:spTgt spid="358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fade">
                                      <p:cBhvr>
                                        <p:cTn id="1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autoUpdateAnimBg="0"/>
      <p:bldP spid="35845" grpId="0" bldLvl="0" animBg="1" autoUpdateAnimBg="0"/>
      <p:bldP spid="35846"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4294967295"/>
          </p:nvPr>
        </p:nvSpPr>
        <p:spPr>
          <a:xfrm>
            <a:off x="306540" y="737123"/>
            <a:ext cx="4143487" cy="2406696"/>
          </a:xfrm>
        </p:spPr>
        <p:txBody>
          <a:bodyPr/>
          <a:lstStyle/>
          <a:p>
            <a:pPr marL="0" indent="0" eaLnBrk="1" hangingPunct="1">
              <a:spcBef>
                <a:spcPct val="40000"/>
              </a:spcBef>
              <a:buNone/>
            </a:pPr>
            <a:r>
              <a:rPr lang="zh-CN" altLang="zh-CN">
                <a:ea typeface="宋体" pitchFamily="2" charset="-122"/>
              </a:rPr>
              <a:t>在下列情况下，说出对CPI和GDP平减指数的影响 </a:t>
            </a:r>
            <a:endParaRPr lang="zh-CN" altLang="zh-CN">
              <a:ea typeface="宋体" pitchFamily="2" charset="-122"/>
            </a:endParaRPr>
          </a:p>
          <a:p>
            <a:pPr marL="316865" lvl="1" indent="-259080" eaLnBrk="1" hangingPunct="1">
              <a:lnSpc>
                <a:spcPct val="105000"/>
              </a:lnSpc>
              <a:spcBef>
                <a:spcPct val="40000"/>
              </a:spcBef>
              <a:buClr>
                <a:srgbClr val="990099"/>
              </a:buClr>
              <a:buSzTx/>
              <a:buNone/>
            </a:pPr>
            <a:r>
              <a:rPr lang="zh-CN" altLang="zh-CN" sz="1310" b="1">
                <a:solidFill>
                  <a:srgbClr val="339966"/>
                </a:solidFill>
                <a:ea typeface="宋体" pitchFamily="2" charset="-122"/>
              </a:rPr>
              <a:t>A.	</a:t>
            </a:r>
            <a:r>
              <a:rPr lang="zh-CN" altLang="zh-CN" sz="1410">
                <a:ea typeface="宋体" pitchFamily="2" charset="-122"/>
              </a:rPr>
              <a:t>星巴克提高了法布奇诺咖啡的价格</a:t>
            </a:r>
            <a:endParaRPr lang="zh-CN" altLang="zh-CN" sz="1410">
              <a:ea typeface="宋体" pitchFamily="2" charset="-122"/>
            </a:endParaRPr>
          </a:p>
          <a:p>
            <a:pPr marL="316865" lvl="1" indent="-259080" eaLnBrk="1" hangingPunct="1">
              <a:lnSpc>
                <a:spcPct val="105000"/>
              </a:lnSpc>
              <a:spcBef>
                <a:spcPct val="40000"/>
              </a:spcBef>
              <a:buClr>
                <a:srgbClr val="990099"/>
              </a:buClr>
              <a:buSzTx/>
              <a:buNone/>
            </a:pPr>
            <a:r>
              <a:rPr lang="zh-CN" altLang="zh-CN" sz="1310" b="1">
                <a:solidFill>
                  <a:srgbClr val="339966"/>
                </a:solidFill>
                <a:ea typeface="宋体" pitchFamily="2" charset="-122"/>
              </a:rPr>
              <a:t>B.	</a:t>
            </a:r>
            <a:r>
              <a:rPr lang="zh-CN" altLang="zh-CN" sz="1410">
                <a:ea typeface="宋体" pitchFamily="2" charset="-122"/>
              </a:rPr>
              <a:t>卡特彼勒提高了它在伊利诺伊州工厂生产的工业拖拉机的价格</a:t>
            </a:r>
            <a:endParaRPr lang="zh-CN" altLang="zh-CN" sz="1410">
              <a:ea typeface="宋体" pitchFamily="2" charset="-122"/>
            </a:endParaRPr>
          </a:p>
          <a:p>
            <a:pPr marL="316865" lvl="1" indent="-259080" eaLnBrk="1" hangingPunct="1">
              <a:lnSpc>
                <a:spcPct val="105000"/>
              </a:lnSpc>
              <a:spcBef>
                <a:spcPct val="40000"/>
              </a:spcBef>
              <a:buClr>
                <a:srgbClr val="990099"/>
              </a:buClr>
              <a:buSzTx/>
              <a:buNone/>
            </a:pPr>
            <a:r>
              <a:rPr lang="zh-CN" altLang="zh-CN" sz="1310" b="1">
                <a:solidFill>
                  <a:srgbClr val="339966"/>
                </a:solidFill>
                <a:ea typeface="宋体" pitchFamily="2" charset="-122"/>
              </a:rPr>
              <a:t>C.	</a:t>
            </a:r>
            <a:r>
              <a:rPr lang="zh-CN" altLang="zh-CN" sz="1410">
                <a:ea typeface="宋体" pitchFamily="2" charset="-122"/>
              </a:rPr>
              <a:t>亚曼尼提高了它在美国销售的意大利牛仔的价格</a:t>
            </a:r>
            <a:endParaRPr lang="zh-CN" altLang="zh-CN">
              <a:ea typeface="宋体" pitchFamily="2" charset="-122"/>
            </a:endParaRPr>
          </a:p>
        </p:txBody>
      </p:sp>
      <p:sp>
        <p:nvSpPr>
          <p:cNvPr id="36867"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36868" name="Rectangle 4"/>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3</a:t>
            </a:r>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CPI与GDP平减指数</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36869" name="Group 5"/>
          <p:cNvGrpSpPr/>
          <p:nvPr/>
        </p:nvGrpSpPr>
        <p:grpSpPr bwMode="auto">
          <a:xfrm>
            <a:off x="299336" y="148055"/>
            <a:ext cx="4139486" cy="529041"/>
            <a:chOff x="0" y="0"/>
            <a:chExt cx="5000" cy="661"/>
          </a:xfrm>
        </p:grpSpPr>
        <p:sp>
          <p:nvSpPr>
            <p:cNvPr id="36870"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36871"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36872" name="Rectangle 8"/>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B03BEABC-4E02-7942-9360-68FDCDE3A959}"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4294967295"/>
          </p:nvPr>
        </p:nvSpPr>
        <p:spPr>
          <a:xfrm>
            <a:off x="289732" y="742725"/>
            <a:ext cx="4143488" cy="2406697"/>
          </a:xfrm>
        </p:spPr>
        <p:txBody>
          <a:bodyPr/>
          <a:lstStyle/>
          <a:p>
            <a:pPr marL="233680" indent="-233680" eaLnBrk="1" hangingPunct="1">
              <a:spcBef>
                <a:spcPct val="40000"/>
              </a:spcBef>
              <a:buNone/>
            </a:pPr>
            <a:r>
              <a:rPr lang="zh-CN" altLang="zh-CN" sz="1310" b="1">
                <a:solidFill>
                  <a:srgbClr val="339966"/>
                </a:solidFill>
                <a:ea typeface="宋体" pitchFamily="2" charset="-122"/>
              </a:rPr>
              <a:t>A.	</a:t>
            </a:r>
            <a:r>
              <a:rPr lang="zh-CN" altLang="zh-CN">
                <a:ea typeface="宋体" pitchFamily="2" charset="-122"/>
              </a:rPr>
              <a:t>星巴克提高了法布奇诺咖啡的价格</a:t>
            </a:r>
            <a:endParaRPr lang="zh-CN" altLang="zh-CN">
              <a:ea typeface="宋体" pitchFamily="2" charset="-122"/>
            </a:endParaRPr>
          </a:p>
          <a:p>
            <a:pPr marL="233680" indent="-233680" eaLnBrk="1" hangingPunct="1">
              <a:spcBef>
                <a:spcPct val="25000"/>
              </a:spcBef>
              <a:buNone/>
            </a:pPr>
            <a:r>
              <a:rPr lang="zh-CN" altLang="zh-CN" i="1">
                <a:ea typeface="宋体" pitchFamily="2" charset="-122"/>
              </a:rPr>
              <a:t>	</a:t>
            </a:r>
            <a:r>
              <a:rPr lang="zh-CN" altLang="zh-CN">
                <a:solidFill>
                  <a:srgbClr val="FF0000"/>
                </a:solidFill>
                <a:ea typeface="宋体" pitchFamily="2" charset="-122"/>
              </a:rPr>
              <a:t>CPI和GDP平减指数都上升了  </a:t>
            </a:r>
            <a:endParaRPr lang="zh-CN" altLang="zh-CN">
              <a:solidFill>
                <a:srgbClr val="FF0000"/>
              </a:solidFill>
              <a:ea typeface="宋体" pitchFamily="2" charset="-122"/>
            </a:endParaRPr>
          </a:p>
          <a:p>
            <a:pPr marL="233680" indent="-233680" eaLnBrk="1" hangingPunct="1">
              <a:spcBef>
                <a:spcPct val="60000"/>
              </a:spcBef>
              <a:buClr>
                <a:srgbClr val="990099"/>
              </a:buClr>
              <a:buSzTx/>
              <a:buNone/>
            </a:pPr>
            <a:r>
              <a:rPr lang="zh-CN" altLang="zh-CN" sz="1310" b="1">
                <a:solidFill>
                  <a:srgbClr val="339966"/>
                </a:solidFill>
                <a:ea typeface="宋体" pitchFamily="2" charset="-122"/>
              </a:rPr>
              <a:t>B.	</a:t>
            </a:r>
            <a:r>
              <a:rPr lang="zh-CN" altLang="zh-CN">
                <a:ea typeface="宋体" pitchFamily="2" charset="-122"/>
              </a:rPr>
              <a:t>卡特彼勒提高了它在伊利诺伊州工厂生产的工业拖拉机的价格</a:t>
            </a:r>
            <a:endParaRPr lang="zh-CN" altLang="zh-CN">
              <a:ea typeface="宋体" pitchFamily="2" charset="-122"/>
            </a:endParaRPr>
          </a:p>
          <a:p>
            <a:pPr marL="233680" indent="-233680" eaLnBrk="1" hangingPunct="1">
              <a:spcBef>
                <a:spcPct val="25000"/>
              </a:spcBef>
              <a:buClr>
                <a:srgbClr val="990099"/>
              </a:buClr>
              <a:buSzTx/>
              <a:buNone/>
            </a:pPr>
            <a:r>
              <a:rPr lang="zh-CN" altLang="zh-CN">
                <a:ea typeface="宋体" pitchFamily="2" charset="-122"/>
              </a:rPr>
              <a:t>	</a:t>
            </a:r>
            <a:r>
              <a:rPr lang="zh-CN" altLang="zh-CN">
                <a:solidFill>
                  <a:srgbClr val="FF0000"/>
                </a:solidFill>
                <a:ea typeface="宋体" pitchFamily="2" charset="-122"/>
              </a:rPr>
              <a:t>GDP平减指数上升, CPI不变 </a:t>
            </a:r>
            <a:endParaRPr lang="zh-CN" altLang="zh-CN">
              <a:solidFill>
                <a:srgbClr val="FF0000"/>
              </a:solidFill>
              <a:ea typeface="宋体" pitchFamily="2" charset="-122"/>
            </a:endParaRPr>
          </a:p>
          <a:p>
            <a:pPr marL="233680" indent="-233680" eaLnBrk="1" hangingPunct="1">
              <a:spcBef>
                <a:spcPct val="60000"/>
              </a:spcBef>
              <a:buClr>
                <a:srgbClr val="990099"/>
              </a:buClr>
              <a:buSzTx/>
              <a:buNone/>
            </a:pPr>
            <a:r>
              <a:rPr lang="zh-CN" altLang="zh-CN" sz="1310" b="1">
                <a:solidFill>
                  <a:srgbClr val="339966"/>
                </a:solidFill>
                <a:ea typeface="宋体" pitchFamily="2" charset="-122"/>
              </a:rPr>
              <a:t>C.	</a:t>
            </a:r>
            <a:r>
              <a:rPr lang="zh-CN" altLang="zh-CN">
                <a:ea typeface="宋体" pitchFamily="2" charset="-122"/>
              </a:rPr>
              <a:t>亚曼尼提高了它在美国销售的意大利牛仔的价格</a:t>
            </a:r>
            <a:endParaRPr lang="zh-CN" altLang="zh-CN">
              <a:ea typeface="宋体" pitchFamily="2" charset="-122"/>
            </a:endParaRPr>
          </a:p>
          <a:p>
            <a:pPr marL="233680" indent="-233680" eaLnBrk="1" hangingPunct="1">
              <a:spcBef>
                <a:spcPct val="60000"/>
              </a:spcBef>
              <a:buClr>
                <a:srgbClr val="990099"/>
              </a:buClr>
              <a:buSzTx/>
              <a:buNone/>
            </a:pPr>
            <a:r>
              <a:rPr lang="zh-CN" altLang="zh-CN">
                <a:ea typeface="宋体" pitchFamily="2" charset="-122"/>
              </a:rPr>
              <a:t>	</a:t>
            </a:r>
            <a:r>
              <a:rPr lang="zh-CN" altLang="zh-CN">
                <a:solidFill>
                  <a:srgbClr val="FF0000"/>
                </a:solidFill>
                <a:ea typeface="宋体" pitchFamily="2" charset="-122"/>
              </a:rPr>
              <a:t> CPI上升，GDP平减指数不变</a:t>
            </a:r>
            <a:endParaRPr lang="zh-CN" altLang="zh-CN">
              <a:solidFill>
                <a:srgbClr val="FF0000"/>
              </a:solidFill>
              <a:ea typeface="宋体" pitchFamily="2" charset="-122"/>
            </a:endParaRPr>
          </a:p>
        </p:txBody>
      </p:sp>
      <p:sp>
        <p:nvSpPr>
          <p:cNvPr id="38915"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38916" name="Rectangle 4"/>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38917" name="Group 5"/>
          <p:cNvGrpSpPr/>
          <p:nvPr/>
        </p:nvGrpSpPr>
        <p:grpSpPr bwMode="auto">
          <a:xfrm>
            <a:off x="299336" y="148055"/>
            <a:ext cx="4139486" cy="529041"/>
            <a:chOff x="0" y="0"/>
            <a:chExt cx="5000" cy="661"/>
          </a:xfrm>
        </p:grpSpPr>
        <p:sp>
          <p:nvSpPr>
            <p:cNvPr id="38918"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38919"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38920" name="Rectangle 8"/>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BD578E5E-2697-854A-B7A1-17E9D833F7C1}"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A14BA748-BB80-1045-AA3F-B6953F908921}"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27652" name="Rectangle 2"/>
          <p:cNvSpPr>
            <a:spLocks noGrp="1" noChangeArrowheads="1"/>
          </p:cNvSpPr>
          <p:nvPr>
            <p:ph type="title" idx="4294967295"/>
          </p:nvPr>
        </p:nvSpPr>
        <p:spPr>
          <a:xfrm>
            <a:off x="230505" y="134448"/>
            <a:ext cx="4161096" cy="517036"/>
          </a:xfrm>
        </p:spPr>
        <p:txBody>
          <a:bodyPr/>
          <a:lstStyle/>
          <a:p>
            <a:pPr eaLnBrk="1" hangingPunct="1"/>
            <a:r>
              <a:rPr lang="en-US" altLang="zh-CN" sz="1615">
                <a:ea typeface="宋体" pitchFamily="2" charset="-122"/>
              </a:rPr>
              <a:t>CPI</a:t>
            </a:r>
            <a:r>
              <a:rPr lang="zh-CN" altLang="en-US" sz="1615">
                <a:ea typeface="宋体" pitchFamily="2" charset="-122"/>
              </a:rPr>
              <a:t>存在的问题</a:t>
            </a:r>
            <a:r>
              <a:rPr lang="en-US" altLang="zh-CN" sz="1615">
                <a:ea typeface="宋体" pitchFamily="2" charset="-122"/>
              </a:rPr>
              <a:t>:</a:t>
            </a:r>
            <a:r>
              <a:rPr lang="zh-CN" altLang="en-US" sz="1615">
                <a:solidFill>
                  <a:srgbClr val="CC0000"/>
                </a:solidFill>
                <a:ea typeface="宋体" pitchFamily="2" charset="-122"/>
              </a:rPr>
              <a:t>替代偏向</a:t>
            </a:r>
            <a:endParaRPr lang="zh-CN" altLang="en-US" sz="1615">
              <a:solidFill>
                <a:srgbClr val="CC0000"/>
              </a:solidFill>
              <a:ea typeface="宋体" pitchFamily="2" charset="-122"/>
            </a:endParaRPr>
          </a:p>
        </p:txBody>
      </p:sp>
      <p:sp>
        <p:nvSpPr>
          <p:cNvPr id="27653" name="Rectangle 3"/>
          <p:cNvSpPr>
            <a:spLocks noGrp="1" noChangeArrowheads="1"/>
          </p:cNvSpPr>
          <p:nvPr>
            <p:ph type="body" idx="4294967295"/>
          </p:nvPr>
        </p:nvSpPr>
        <p:spPr>
          <a:xfrm>
            <a:off x="188086" y="673894"/>
            <a:ext cx="4191509" cy="2263431"/>
          </a:xfrm>
        </p:spPr>
        <p:txBody>
          <a:bodyPr/>
          <a:lstStyle/>
          <a:p>
            <a:pPr eaLnBrk="1" hangingPunct="1"/>
            <a:r>
              <a:rPr lang="zh-CN" altLang="zh-CN">
                <a:ea typeface="宋体" pitchFamily="2" charset="-122"/>
              </a:rPr>
              <a:t>当价格年复一年地变动时，一些物品的价格上升得比另一些快一些</a:t>
            </a:r>
            <a:endParaRPr lang="zh-CN" altLang="zh-CN">
              <a:ea typeface="宋体" pitchFamily="2" charset="-122"/>
            </a:endParaRPr>
          </a:p>
          <a:p>
            <a:pPr eaLnBrk="1" hangingPunct="1"/>
            <a:r>
              <a:rPr lang="zh-CN" altLang="zh-CN">
                <a:ea typeface="宋体" pitchFamily="2" charset="-122"/>
              </a:rPr>
              <a:t>消费者用那些变得不太昂贵的物品来替代</a:t>
            </a:r>
            <a:endParaRPr lang="zh-CN" altLang="zh-CN">
              <a:ea typeface="宋体" pitchFamily="2" charset="-122"/>
            </a:endParaRPr>
          </a:p>
          <a:p>
            <a:pPr eaLnBrk="1" hangingPunct="1"/>
            <a:r>
              <a:rPr lang="zh-CN" altLang="zh-CN">
                <a:ea typeface="宋体" pitchFamily="2" charset="-122"/>
              </a:rPr>
              <a:t>CPI没有考虑这种替代，因为它使用了一篮子固定不变的物品 </a:t>
            </a:r>
            <a:endParaRPr lang="zh-CN" altLang="zh-CN">
              <a:ea typeface="宋体" pitchFamily="2" charset="-122"/>
            </a:endParaRPr>
          </a:p>
          <a:p>
            <a:pPr eaLnBrk="1" hangingPunct="1"/>
            <a:r>
              <a:rPr lang="zh-CN" altLang="zh-CN">
                <a:ea typeface="宋体" pitchFamily="2" charset="-122"/>
              </a:rPr>
              <a:t>因此CPI高估了生活费用的增加</a:t>
            </a:r>
            <a:endParaRPr lang="zh-CN" altLang="zh-CN">
              <a:ea typeface="宋体" pitchFamily="2" charset="-122"/>
            </a:endParaRPr>
          </a:p>
        </p:txBody>
      </p:sp>
      <p:sp>
        <p:nvSpPr>
          <p:cNvPr id="27654" name="FlagCount" hidden="1">
            <a:hlinkClick r:id="rId1" action="ppaction://hlinkfile"/>
          </p:cNvPr>
          <p:cNvSpPr>
            <a:spLocks noChangeArrowheads="1"/>
          </p:cNvSpPr>
          <p:nvPr/>
        </p:nvSpPr>
        <p:spPr bwMode="auto">
          <a:xfrm>
            <a:off x="4161896" y="15765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ChangeArrowheads="1"/>
          </p:cNvSpPr>
          <p:nvPr/>
        </p:nvSpPr>
        <p:spPr bwMode="auto">
          <a:xfrm>
            <a:off x="245713" y="623471"/>
            <a:ext cx="4182705" cy="177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CPI 篮子：</a:t>
            </a:r>
            <a:br>
              <a:rPr lang="zh-CN" altLang="zh-CN" sz="1310">
                <a:solidFill>
                  <a:srgbClr val="000000"/>
                </a:solidFill>
                <a:ea typeface="宋体" pitchFamily="2" charset="-122"/>
              </a:rPr>
            </a:br>
            <a:r>
              <a:rPr lang="zh-CN" altLang="zh-CN" sz="1310">
                <a:solidFill>
                  <a:srgbClr val="000000"/>
                </a:solidFill>
                <a:ea typeface="宋体" pitchFamily="2" charset="-122"/>
              </a:rPr>
              <a:t>  {10 磅牛肉, </a:t>
            </a:r>
            <a:br>
              <a:rPr lang="zh-CN" altLang="zh-CN" sz="1310">
                <a:solidFill>
                  <a:srgbClr val="000000"/>
                </a:solidFill>
                <a:ea typeface="宋体" pitchFamily="2" charset="-122"/>
              </a:rPr>
            </a:br>
            <a:r>
              <a:rPr lang="zh-CN" altLang="zh-CN" sz="1310">
                <a:solidFill>
                  <a:srgbClr val="000000"/>
                </a:solidFill>
                <a:ea typeface="宋体" pitchFamily="2" charset="-122"/>
              </a:rPr>
              <a:t>     20 磅鸡肉}</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2004-5: </a:t>
            </a:r>
            <a:br>
              <a:rPr lang="zh-CN" altLang="zh-CN" sz="1310">
                <a:solidFill>
                  <a:srgbClr val="000000"/>
                </a:solidFill>
                <a:ea typeface="宋体" pitchFamily="2" charset="-122"/>
              </a:rPr>
            </a:br>
            <a:r>
              <a:rPr lang="zh-CN" altLang="zh-CN" sz="1310">
                <a:solidFill>
                  <a:srgbClr val="000000"/>
                </a:solidFill>
                <a:ea typeface="宋体" pitchFamily="2" charset="-122"/>
              </a:rPr>
              <a:t>家庭购买CPI篮子</a:t>
            </a: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endParaRPr lang="zh-CN" altLang="zh-CN" sz="1310">
              <a:solidFill>
                <a:srgbClr val="000000"/>
              </a:solidFill>
              <a:ea typeface="宋体" pitchFamily="2" charset="-122"/>
            </a:endParaRPr>
          </a:p>
          <a:p>
            <a:pPr defTabSz="461010" eaLnBrk="1" fontAlgn="base" hangingPunct="1">
              <a:lnSpc>
                <a:spcPct val="110000"/>
              </a:lnSpc>
              <a:spcBef>
                <a:spcPct val="30000"/>
              </a:spcBef>
              <a:spcAft>
                <a:spcPct val="0"/>
              </a:spcAft>
              <a:buClr>
                <a:srgbClr val="339966"/>
              </a:buClr>
              <a:buSzPct val="120000"/>
            </a:pPr>
            <a:r>
              <a:rPr lang="zh-CN" altLang="zh-CN" sz="1310">
                <a:solidFill>
                  <a:srgbClr val="000000"/>
                </a:solidFill>
                <a:ea typeface="宋体" pitchFamily="2" charset="-122"/>
              </a:rPr>
              <a:t>2006：家庭买  {5 磅牛肉, 25 磅鸡肉}</a:t>
            </a:r>
            <a:endParaRPr lang="zh-CN" altLang="zh-CN" sz="1310">
              <a:solidFill>
                <a:srgbClr val="000000"/>
              </a:solidFill>
              <a:ea typeface="宋体" pitchFamily="2" charset="-122"/>
            </a:endParaRPr>
          </a:p>
        </p:txBody>
      </p:sp>
      <p:sp>
        <p:nvSpPr>
          <p:cNvPr id="21507"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21508" name="Rectangle 4"/>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替代偏向</a:t>
            </a:r>
            <a:endParaRPr lang="zh-CN" altLang="zh-CN" sz="1615">
              <a:solidFill>
                <a:srgbClr val="339966"/>
              </a:solidFill>
              <a:effectLst>
                <a:outerShdw blurRad="38100" dist="38100" dir="2700000" algn="tl">
                  <a:srgbClr val="C0C0C0"/>
                </a:outerShdw>
              </a:effectLst>
              <a:ea typeface="宋体" pitchFamily="2" charset="-122"/>
            </a:endParaRPr>
          </a:p>
        </p:txBody>
      </p:sp>
      <p:sp>
        <p:nvSpPr>
          <p:cNvPr id="21509" name="Line 9"/>
          <p:cNvSpPr>
            <a:spLocks noChangeShapeType="1"/>
          </p:cNvSpPr>
          <p:nvPr/>
        </p:nvSpPr>
        <p:spPr bwMode="auto">
          <a:xfrm>
            <a:off x="300937" y="621070"/>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1510" name="Line 10"/>
          <p:cNvSpPr>
            <a:spLocks noChangeShapeType="1"/>
          </p:cNvSpPr>
          <p:nvPr/>
        </p:nvSpPr>
        <p:spPr bwMode="auto">
          <a:xfrm>
            <a:off x="299337" y="148054"/>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1511" name="Rectangle 7"/>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70C0B599-D316-E642-836C-2BAFA79DD62C}"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graphicFrame>
        <p:nvGraphicFramePr>
          <p:cNvPr id="21512" name="Group 8"/>
          <p:cNvGraphicFramePr>
            <a:graphicFrameLocks noGrp="1"/>
          </p:cNvGraphicFramePr>
          <p:nvPr/>
        </p:nvGraphicFramePr>
        <p:xfrm>
          <a:off x="1819229" y="714713"/>
          <a:ext cx="2622794" cy="1260575"/>
        </p:xfrm>
        <a:graphic>
          <a:graphicData uri="http://schemas.openxmlformats.org/drawingml/2006/table">
            <a:tbl>
              <a:tblPr/>
              <a:tblGrid>
                <a:gridCol w="514634"/>
                <a:gridCol w="520237"/>
                <a:gridCol w="659500"/>
                <a:gridCol w="928423"/>
              </a:tblGrid>
              <a:tr h="466613">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1" u="none" strike="noStrike" cap="none" normalizeH="0" baseline="0">
                          <a:ln>
                            <a:noFill/>
                          </a:ln>
                          <a:solidFill>
                            <a:schemeClr val="tx1"/>
                          </a:solidFill>
                          <a:effectLst/>
                          <a:latin typeface="Arial" panose="020B0604020202090204" pitchFamily="34" charset="0"/>
                          <a:ea typeface="宋体" pitchFamily="2" charset="-122"/>
                        </a:rPr>
                        <a:t>牛肉</a:t>
                      </a:r>
                      <a:endParaRPr kumimoji="0" lang="zh-CN" altLang="zh-CN" sz="1300" b="0" i="1"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1" u="none" strike="noStrike" cap="none" normalizeH="0" baseline="0">
                          <a:ln>
                            <a:noFill/>
                          </a:ln>
                          <a:solidFill>
                            <a:schemeClr val="tx1"/>
                          </a:solidFill>
                          <a:effectLst/>
                          <a:latin typeface="Arial" panose="020B0604020202090204" pitchFamily="34" charset="0"/>
                          <a:ea typeface="宋体" pitchFamily="2" charset="-122"/>
                        </a:rPr>
                        <a:t>鸡肉</a:t>
                      </a:r>
                      <a:endParaRPr kumimoji="0" lang="zh-CN" altLang="zh-CN" sz="1300" b="0" i="1"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CPI篮子的费用</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2520">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$120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6117">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$150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5325">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$210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1539" name="Rectangle 8"/>
          <p:cNvSpPr>
            <a:spLocks noChangeArrowheads="1"/>
          </p:cNvSpPr>
          <p:nvPr/>
        </p:nvSpPr>
        <p:spPr bwMode="auto">
          <a:xfrm>
            <a:off x="297736" y="2445101"/>
            <a:ext cx="4185907" cy="853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05000"/>
              </a:lnSpc>
              <a:spcBef>
                <a:spcPct val="40000"/>
              </a:spcBef>
              <a:spcAft>
                <a:spcPct val="0"/>
              </a:spcAft>
              <a:buClr>
                <a:srgbClr val="990099"/>
              </a:buClr>
            </a:pPr>
            <a:r>
              <a:rPr lang="zh-CN" altLang="zh-CN" sz="1310" b="1">
                <a:solidFill>
                  <a:srgbClr val="339966"/>
                </a:solidFill>
                <a:ea typeface="宋体" pitchFamily="2" charset="-122"/>
              </a:rPr>
              <a:t>A.	</a:t>
            </a:r>
            <a:r>
              <a:rPr lang="zh-CN" altLang="zh-CN" sz="1360">
                <a:solidFill>
                  <a:srgbClr val="000000"/>
                </a:solidFill>
                <a:ea typeface="宋体" pitchFamily="2" charset="-122"/>
              </a:rPr>
              <a:t>计算2006年家庭购买篮子的费用</a:t>
            </a:r>
            <a:endParaRPr lang="zh-CN" altLang="zh-CN" sz="1360">
              <a:solidFill>
                <a:srgbClr val="000000"/>
              </a:solidFill>
              <a:ea typeface="宋体" pitchFamily="2" charset="-122"/>
            </a:endParaRPr>
          </a:p>
          <a:p>
            <a:pPr marL="257810" indent="-257810" defTabSz="461010" eaLnBrk="1" fontAlgn="base" hangingPunct="1">
              <a:lnSpc>
                <a:spcPct val="105000"/>
              </a:lnSpc>
              <a:spcBef>
                <a:spcPct val="40000"/>
              </a:spcBef>
              <a:spcAft>
                <a:spcPct val="0"/>
              </a:spcAft>
              <a:buClr>
                <a:srgbClr val="990099"/>
              </a:buClr>
            </a:pPr>
            <a:r>
              <a:rPr lang="zh-CN" altLang="zh-CN" sz="1310" b="1">
                <a:solidFill>
                  <a:srgbClr val="339966"/>
                </a:solidFill>
                <a:ea typeface="宋体" pitchFamily="2" charset="-122"/>
              </a:rPr>
              <a:t>B.	</a:t>
            </a:r>
            <a:r>
              <a:rPr lang="zh-CN" altLang="zh-CN" sz="1360">
                <a:solidFill>
                  <a:srgbClr val="000000"/>
                </a:solidFill>
                <a:ea typeface="宋体" pitchFamily="2" charset="-122"/>
              </a:rPr>
              <a:t>以2005年6月家庭篮子费用来计算增长率，并与CPI通货膨胀率比较</a:t>
            </a:r>
            <a:endParaRPr lang="zh-CN" altLang="zh-CN" sz="1360">
              <a:solidFill>
                <a:srgbClr val="000000"/>
              </a:solidFill>
              <a:ea typeface="宋体" pitchFamily="2" charset="-122"/>
            </a:endParaRPr>
          </a:p>
        </p:txBody>
      </p:sp>
      <p:sp>
        <p:nvSpPr>
          <p:cNvPr id="21540" name="FlagCount" hidden="1">
            <a:hlinkClick r:id="rId1"/>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21541" name="Line 9"/>
          <p:cNvSpPr>
            <a:spLocks noChangeShapeType="1"/>
          </p:cNvSpPr>
          <p:nvPr/>
        </p:nvSpPr>
        <p:spPr bwMode="auto">
          <a:xfrm>
            <a:off x="302538" y="2401881"/>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ipe(left)">
                                      <p:cBhvr>
                                        <p:cTn id="7" dur="500"/>
                                        <p:tgtEl>
                                          <p:spTgt spid="21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transition="in" filter="wipe(left)">
                                      <p:cBhvr>
                                        <p:cTn id="12" dur="500"/>
                                        <p:tgtEl>
                                          <p:spTgt spid="215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506">
                                            <p:txEl>
                                              <p:pRg st="3" end="3"/>
                                            </p:txEl>
                                          </p:spTgt>
                                        </p:tgtEl>
                                        <p:attrNameLst>
                                          <p:attrName>style.visibility</p:attrName>
                                        </p:attrNameLst>
                                      </p:cBhvr>
                                      <p:to>
                                        <p:strVal val="visible"/>
                                      </p:to>
                                    </p:set>
                                    <p:animEffect transition="in" filter="wipe(left)">
                                      <p:cBhvr>
                                        <p:cTn id="17" dur="500"/>
                                        <p:tgtEl>
                                          <p:spTgt spid="2150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539">
                                            <p:txEl>
                                              <p:pRg st="0" end="0"/>
                                            </p:txEl>
                                          </p:spTgt>
                                        </p:tgtEl>
                                        <p:attrNameLst>
                                          <p:attrName>style.visibility</p:attrName>
                                        </p:attrNameLst>
                                      </p:cBhvr>
                                      <p:to>
                                        <p:strVal val="visible"/>
                                      </p:to>
                                    </p:set>
                                    <p:animEffect transition="in" filter="wipe(left)">
                                      <p:cBhvr>
                                        <p:cTn id="22" dur="500"/>
                                        <p:tgtEl>
                                          <p:spTgt spid="215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539">
                                            <p:txEl>
                                              <p:pRg st="1" end="1"/>
                                            </p:txEl>
                                          </p:spTgt>
                                        </p:tgtEl>
                                        <p:attrNameLst>
                                          <p:attrName>style.visibility</p:attrName>
                                        </p:attrNameLst>
                                      </p:cBhvr>
                                      <p:to>
                                        <p:strVal val="visible"/>
                                      </p:to>
                                    </p:set>
                                    <p:animEffect transition="in" filter="wipe(left)">
                                      <p:cBhvr>
                                        <p:cTn id="27" dur="500"/>
                                        <p:tgtEl>
                                          <p:spTgt spid="215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build="p"/>
      <p:bldP spid="21539" grpId="0" autoUpdateAnimBg="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23555" name="Rectangle 4"/>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sp>
        <p:nvSpPr>
          <p:cNvPr id="23556" name="Line 9"/>
          <p:cNvSpPr>
            <a:spLocks noChangeShapeType="1"/>
          </p:cNvSpPr>
          <p:nvPr/>
        </p:nvSpPr>
        <p:spPr bwMode="auto">
          <a:xfrm>
            <a:off x="300937" y="621070"/>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3557" name="Line 10"/>
          <p:cNvSpPr>
            <a:spLocks noChangeShapeType="1"/>
          </p:cNvSpPr>
          <p:nvPr/>
        </p:nvSpPr>
        <p:spPr bwMode="auto">
          <a:xfrm>
            <a:off x="299337" y="148054"/>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3558" name="Rectangle 6"/>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0F4FB71F-2F21-ED48-8A56-E8B2264E0CF1}"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23559" name="Rectangle 37"/>
          <p:cNvSpPr>
            <a:spLocks noChangeArrowheads="1"/>
          </p:cNvSpPr>
          <p:nvPr/>
        </p:nvSpPr>
        <p:spPr bwMode="auto">
          <a:xfrm>
            <a:off x="287331" y="2284227"/>
            <a:ext cx="4185907" cy="78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05000"/>
              </a:lnSpc>
              <a:spcBef>
                <a:spcPct val="35000"/>
              </a:spcBef>
              <a:spcAft>
                <a:spcPct val="0"/>
              </a:spcAft>
              <a:buClr>
                <a:srgbClr val="990099"/>
              </a:buClr>
            </a:pPr>
            <a:r>
              <a:rPr lang="zh-CN" altLang="zh-CN" sz="1410" b="1">
                <a:solidFill>
                  <a:srgbClr val="339966"/>
                </a:solidFill>
                <a:ea typeface="宋体" pitchFamily="2" charset="-122"/>
              </a:rPr>
              <a:t>A.	</a:t>
            </a:r>
            <a:r>
              <a:rPr lang="zh-CN" altLang="zh-CN" sz="1410">
                <a:solidFill>
                  <a:srgbClr val="000000"/>
                </a:solidFill>
                <a:ea typeface="宋体" pitchFamily="2" charset="-122"/>
              </a:rPr>
              <a:t>计算2006年家庭购买篮子的费用</a:t>
            </a:r>
            <a:endParaRPr lang="zh-CN" altLang="zh-CN" sz="1410">
              <a:solidFill>
                <a:srgbClr val="000000"/>
              </a:solidFill>
              <a:ea typeface="宋体" pitchFamily="2" charset="-122"/>
            </a:endParaRPr>
          </a:p>
          <a:p>
            <a:pPr marL="257810" indent="-257810" defTabSz="461010" eaLnBrk="1" fontAlgn="base" hangingPunct="1">
              <a:lnSpc>
                <a:spcPct val="105000"/>
              </a:lnSpc>
              <a:spcBef>
                <a:spcPct val="35000"/>
              </a:spcBef>
              <a:spcAft>
                <a:spcPct val="0"/>
              </a:spcAft>
              <a:buClr>
                <a:srgbClr val="990099"/>
              </a:buClr>
            </a:pPr>
            <a:r>
              <a:rPr lang="zh-CN" altLang="zh-CN" sz="1410">
                <a:solidFill>
                  <a:srgbClr val="000000"/>
                </a:solidFill>
                <a:ea typeface="宋体" pitchFamily="2" charset="-122"/>
              </a:rPr>
              <a:t>	($9 x 5) +  ($6 x 25)  =  </a:t>
            </a:r>
            <a:r>
              <a:rPr lang="zh-CN" altLang="zh-CN" sz="1410">
                <a:solidFill>
                  <a:srgbClr val="FF0000"/>
                </a:solidFill>
                <a:ea typeface="宋体" pitchFamily="2" charset="-122"/>
              </a:rPr>
              <a:t>$195</a:t>
            </a:r>
            <a:endParaRPr lang="zh-CN" altLang="zh-CN" sz="1410">
              <a:solidFill>
                <a:srgbClr val="FF0000"/>
              </a:solidFill>
              <a:ea typeface="宋体" pitchFamily="2" charset="-122"/>
            </a:endParaRPr>
          </a:p>
        </p:txBody>
      </p:sp>
      <p:sp>
        <p:nvSpPr>
          <p:cNvPr id="23560" name="Rectangle 7"/>
          <p:cNvSpPr>
            <a:spLocks noChangeArrowheads="1"/>
          </p:cNvSpPr>
          <p:nvPr/>
        </p:nvSpPr>
        <p:spPr bwMode="auto">
          <a:xfrm>
            <a:off x="280128" y="632275"/>
            <a:ext cx="1333407" cy="161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0000"/>
              </a:spcBef>
              <a:spcAft>
                <a:spcPct val="0"/>
              </a:spcAft>
              <a:buClr>
                <a:srgbClr val="339966"/>
              </a:buClr>
              <a:buSzPct val="120000"/>
            </a:pPr>
            <a:r>
              <a:rPr lang="zh-CN" altLang="zh-CN" sz="1310">
                <a:solidFill>
                  <a:srgbClr val="000000"/>
                </a:solidFill>
                <a:ea typeface="宋体" pitchFamily="2" charset="-122"/>
              </a:rPr>
              <a:t>CPI 篮子：</a:t>
            </a:r>
            <a:br>
              <a:rPr lang="zh-CN" altLang="zh-CN" sz="1310">
                <a:solidFill>
                  <a:srgbClr val="000000"/>
                </a:solidFill>
                <a:ea typeface="宋体" pitchFamily="2" charset="-122"/>
              </a:rPr>
            </a:br>
            <a:r>
              <a:rPr lang="zh-CN" altLang="zh-CN" sz="1310">
                <a:solidFill>
                  <a:srgbClr val="000000"/>
                </a:solidFill>
                <a:ea typeface="宋体" pitchFamily="2" charset="-122"/>
              </a:rPr>
              <a:t>  {10 磅牛肉, </a:t>
            </a:r>
            <a:br>
              <a:rPr lang="zh-CN" altLang="zh-CN" sz="1310">
                <a:solidFill>
                  <a:srgbClr val="000000"/>
                </a:solidFill>
                <a:ea typeface="宋体" pitchFamily="2" charset="-122"/>
              </a:rPr>
            </a:br>
            <a:r>
              <a:rPr lang="zh-CN" altLang="zh-CN" sz="1310">
                <a:solidFill>
                  <a:srgbClr val="000000"/>
                </a:solidFill>
                <a:ea typeface="宋体" pitchFamily="2" charset="-122"/>
              </a:rPr>
              <a:t>     20 磅鸡肉}</a:t>
            </a:r>
            <a:endParaRPr lang="zh-CN" altLang="zh-CN" sz="1310">
              <a:solidFill>
                <a:srgbClr val="000000"/>
              </a:solidFill>
              <a:ea typeface="宋体" pitchFamily="2" charset="-122"/>
            </a:endParaRPr>
          </a:p>
          <a:p>
            <a:pPr defTabSz="461010" eaLnBrk="1" fontAlgn="base" hangingPunct="1">
              <a:lnSpc>
                <a:spcPct val="105000"/>
              </a:lnSpc>
              <a:spcBef>
                <a:spcPct val="25000"/>
              </a:spcBef>
              <a:spcAft>
                <a:spcPct val="0"/>
              </a:spcAft>
              <a:buClr>
                <a:srgbClr val="339966"/>
              </a:buClr>
              <a:buSzPct val="120000"/>
            </a:pPr>
            <a:r>
              <a:rPr lang="zh-CN" altLang="zh-CN" sz="1310">
                <a:solidFill>
                  <a:srgbClr val="000000"/>
                </a:solidFill>
                <a:ea typeface="宋体" pitchFamily="2" charset="-122"/>
              </a:rPr>
              <a:t>家庭在2006年购买篮子： </a:t>
            </a:r>
            <a:endParaRPr lang="zh-CN" altLang="zh-CN" sz="1310">
              <a:solidFill>
                <a:srgbClr val="000000"/>
              </a:solidFill>
              <a:ea typeface="宋体" pitchFamily="2" charset="-122"/>
            </a:endParaRPr>
          </a:p>
          <a:p>
            <a:pPr defTabSz="461010" eaLnBrk="1" fontAlgn="base" hangingPunct="1">
              <a:lnSpc>
                <a:spcPct val="105000"/>
              </a:lnSpc>
              <a:spcBef>
                <a:spcPct val="25000"/>
              </a:spcBef>
              <a:spcAft>
                <a:spcPct val="0"/>
              </a:spcAft>
              <a:buClr>
                <a:srgbClr val="339966"/>
              </a:buClr>
              <a:buSzPct val="120000"/>
            </a:pPr>
            <a:r>
              <a:rPr lang="zh-CN" altLang="zh-CN" sz="1310">
                <a:solidFill>
                  <a:srgbClr val="000000"/>
                </a:solidFill>
                <a:ea typeface="宋体" pitchFamily="2" charset="-122"/>
              </a:rPr>
              <a:t>{5 磅牛肉, 25 磅鸡肉}</a:t>
            </a:r>
            <a:endParaRPr lang="zh-CN" altLang="zh-CN" sz="1310">
              <a:solidFill>
                <a:srgbClr val="000000"/>
              </a:solidFill>
              <a:ea typeface="宋体" pitchFamily="2" charset="-122"/>
            </a:endParaRPr>
          </a:p>
        </p:txBody>
      </p:sp>
      <p:graphicFrame>
        <p:nvGraphicFramePr>
          <p:cNvPr id="23561" name="Group 9"/>
          <p:cNvGraphicFramePr>
            <a:graphicFrameLocks noGrp="1"/>
          </p:cNvGraphicFramePr>
          <p:nvPr/>
        </p:nvGraphicFramePr>
        <p:xfrm>
          <a:off x="1819229" y="714713"/>
          <a:ext cx="2622794" cy="1259774"/>
        </p:xfrm>
        <a:graphic>
          <a:graphicData uri="http://schemas.openxmlformats.org/drawingml/2006/table">
            <a:tbl>
              <a:tblPr/>
              <a:tblGrid>
                <a:gridCol w="514634"/>
                <a:gridCol w="520237"/>
                <a:gridCol w="659500"/>
                <a:gridCol w="928423"/>
              </a:tblGrid>
              <a:tr h="465812">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牛肉</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鸡肉</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CPI</a:t>
                      </a: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篮子的费用</a:t>
                      </a:r>
                      <a:endParaRPr kumimoji="0" lang="zh-CN" altLang="en-US"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2520">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$120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6117">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$150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5325">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$210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559">
                                            <p:txEl>
                                              <p:pRg st="1" end="1"/>
                                            </p:txEl>
                                          </p:spTgt>
                                        </p:tgtEl>
                                        <p:attrNameLst>
                                          <p:attrName>style.visibility</p:attrName>
                                        </p:attrNameLst>
                                      </p:cBhvr>
                                      <p:to>
                                        <p:strVal val="visible"/>
                                      </p:to>
                                    </p:set>
                                    <p:animEffect transition="in" filter="wipe(left)">
                                      <p:cBhvr>
                                        <p:cTn id="7" dur="500"/>
                                        <p:tgtEl>
                                          <p:spTgt spid="235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25603" name="Rectangle 4"/>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itchFamily="2" charset="-122"/>
              </a:rPr>
              <a:t>2</a:t>
            </a:r>
            <a: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0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sp>
        <p:nvSpPr>
          <p:cNvPr id="25604" name="Line 9"/>
          <p:cNvSpPr>
            <a:spLocks noChangeShapeType="1"/>
          </p:cNvSpPr>
          <p:nvPr/>
        </p:nvSpPr>
        <p:spPr bwMode="auto">
          <a:xfrm>
            <a:off x="300937" y="621070"/>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5605" name="Line 10"/>
          <p:cNvSpPr>
            <a:spLocks noChangeShapeType="1"/>
          </p:cNvSpPr>
          <p:nvPr/>
        </p:nvSpPr>
        <p:spPr bwMode="auto">
          <a:xfrm>
            <a:off x="299337" y="148054"/>
            <a:ext cx="4137885"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25606" name="Rectangle 6"/>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5E93AAE1-EE68-5A44-A653-2185AF9FC164}"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25607" name="Rectangle 8"/>
          <p:cNvSpPr>
            <a:spLocks noChangeArrowheads="1"/>
          </p:cNvSpPr>
          <p:nvPr/>
        </p:nvSpPr>
        <p:spPr bwMode="auto">
          <a:xfrm>
            <a:off x="282529" y="2246610"/>
            <a:ext cx="4185907" cy="106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marL="257810" indent="-257810" defTabSz="461010" eaLnBrk="1" fontAlgn="base" hangingPunct="1">
              <a:lnSpc>
                <a:spcPct val="105000"/>
              </a:lnSpc>
              <a:spcBef>
                <a:spcPct val="25000"/>
              </a:spcBef>
              <a:spcAft>
                <a:spcPct val="0"/>
              </a:spcAft>
              <a:buClr>
                <a:srgbClr val="990099"/>
              </a:buClr>
            </a:pPr>
            <a:r>
              <a:rPr lang="zh-CN" altLang="zh-CN" sz="1310" b="1">
                <a:solidFill>
                  <a:srgbClr val="339966"/>
                </a:solidFill>
                <a:ea typeface="宋体" pitchFamily="2" charset="-122"/>
              </a:rPr>
              <a:t>B.	</a:t>
            </a:r>
            <a:r>
              <a:rPr lang="zh-CN" altLang="zh-CN" sz="1360">
                <a:solidFill>
                  <a:srgbClr val="000000"/>
                </a:solidFill>
                <a:ea typeface="宋体" pitchFamily="2" charset="-122"/>
              </a:rPr>
              <a:t>以2005年6月家庭篮子费用来计算增长率，并与CPI通货膨胀率比较</a:t>
            </a:r>
            <a:endParaRPr lang="zh-CN" altLang="zh-CN" sz="1360">
              <a:solidFill>
                <a:srgbClr val="000000"/>
              </a:solidFill>
              <a:ea typeface="宋体" pitchFamily="2" charset="-122"/>
            </a:endParaRPr>
          </a:p>
          <a:p>
            <a:pPr marL="257810" indent="-257810" defTabSz="461010" eaLnBrk="1" fontAlgn="base" hangingPunct="1">
              <a:lnSpc>
                <a:spcPct val="105000"/>
              </a:lnSpc>
              <a:spcBef>
                <a:spcPct val="25000"/>
              </a:spcBef>
              <a:spcAft>
                <a:spcPct val="0"/>
              </a:spcAft>
              <a:buClr>
                <a:srgbClr val="990099"/>
              </a:buClr>
            </a:pPr>
            <a:r>
              <a:rPr lang="zh-CN" altLang="zh-CN" sz="1360">
                <a:solidFill>
                  <a:srgbClr val="000000"/>
                </a:solidFill>
                <a:ea typeface="宋体" pitchFamily="2" charset="-122"/>
              </a:rPr>
              <a:t>	增长率：($195 – $150)/$150  =  </a:t>
            </a:r>
            <a:r>
              <a:rPr lang="zh-CN" altLang="zh-CN" sz="1360">
                <a:solidFill>
                  <a:srgbClr val="FF0000"/>
                </a:solidFill>
                <a:ea typeface="宋体" pitchFamily="2" charset="-122"/>
              </a:rPr>
              <a:t>30%</a:t>
            </a:r>
            <a:endParaRPr lang="zh-CN" altLang="zh-CN" sz="1360">
              <a:solidFill>
                <a:srgbClr val="000000"/>
              </a:solidFill>
              <a:ea typeface="宋体" pitchFamily="2" charset="-122"/>
            </a:endParaRPr>
          </a:p>
          <a:p>
            <a:pPr marL="257810" indent="-257810" defTabSz="461010" eaLnBrk="1" fontAlgn="base" hangingPunct="1">
              <a:lnSpc>
                <a:spcPct val="105000"/>
              </a:lnSpc>
              <a:spcBef>
                <a:spcPct val="25000"/>
              </a:spcBef>
              <a:spcAft>
                <a:spcPct val="0"/>
              </a:spcAft>
              <a:buClr>
                <a:srgbClr val="990099"/>
              </a:buClr>
            </a:pPr>
            <a:r>
              <a:rPr lang="zh-CN" altLang="zh-CN" sz="1360">
                <a:solidFill>
                  <a:srgbClr val="000000"/>
                </a:solidFill>
                <a:ea typeface="宋体" pitchFamily="2" charset="-122"/>
              </a:rPr>
              <a:t>	由问题1得出的CPI通货膨胀率 = </a:t>
            </a:r>
            <a:r>
              <a:rPr lang="zh-CN" altLang="zh-CN" sz="1360">
                <a:solidFill>
                  <a:srgbClr val="FF0000"/>
                </a:solidFill>
                <a:ea typeface="宋体" pitchFamily="2" charset="-122"/>
              </a:rPr>
              <a:t>40%</a:t>
            </a:r>
            <a:endParaRPr lang="zh-CN" altLang="zh-CN" sz="1360">
              <a:solidFill>
                <a:srgbClr val="FF0000"/>
              </a:solidFill>
              <a:ea typeface="宋体" pitchFamily="2" charset="-122"/>
            </a:endParaRPr>
          </a:p>
        </p:txBody>
      </p:sp>
      <p:sp>
        <p:nvSpPr>
          <p:cNvPr id="25608" name="Rectangle 7"/>
          <p:cNvSpPr>
            <a:spLocks noChangeArrowheads="1"/>
          </p:cNvSpPr>
          <p:nvPr/>
        </p:nvSpPr>
        <p:spPr bwMode="auto">
          <a:xfrm>
            <a:off x="280128" y="632275"/>
            <a:ext cx="1333407" cy="161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0000"/>
              </a:spcBef>
              <a:spcAft>
                <a:spcPct val="0"/>
              </a:spcAft>
              <a:buClr>
                <a:srgbClr val="339966"/>
              </a:buClr>
              <a:buSzPct val="120000"/>
            </a:pPr>
            <a:r>
              <a:rPr lang="zh-CN" altLang="zh-CN" sz="1310">
                <a:solidFill>
                  <a:srgbClr val="000000"/>
                </a:solidFill>
                <a:ea typeface="宋体" pitchFamily="2" charset="-122"/>
              </a:rPr>
              <a:t>CPI 篮子：</a:t>
            </a:r>
            <a:br>
              <a:rPr lang="zh-CN" altLang="zh-CN" sz="1310">
                <a:solidFill>
                  <a:srgbClr val="000000"/>
                </a:solidFill>
                <a:ea typeface="宋体" pitchFamily="2" charset="-122"/>
              </a:rPr>
            </a:br>
            <a:r>
              <a:rPr lang="zh-CN" altLang="zh-CN" sz="1310">
                <a:solidFill>
                  <a:srgbClr val="000000"/>
                </a:solidFill>
                <a:ea typeface="宋体" pitchFamily="2" charset="-122"/>
              </a:rPr>
              <a:t>  {10 磅牛肉, </a:t>
            </a:r>
            <a:br>
              <a:rPr lang="zh-CN" altLang="zh-CN" sz="1310">
                <a:solidFill>
                  <a:srgbClr val="000000"/>
                </a:solidFill>
                <a:ea typeface="宋体" pitchFamily="2" charset="-122"/>
              </a:rPr>
            </a:br>
            <a:r>
              <a:rPr lang="zh-CN" altLang="zh-CN" sz="1310">
                <a:solidFill>
                  <a:srgbClr val="000000"/>
                </a:solidFill>
                <a:ea typeface="宋体" pitchFamily="2" charset="-122"/>
              </a:rPr>
              <a:t>     20 磅鸡肉}</a:t>
            </a:r>
            <a:endParaRPr lang="zh-CN" altLang="zh-CN" sz="1310">
              <a:solidFill>
                <a:srgbClr val="000000"/>
              </a:solidFill>
              <a:ea typeface="宋体" pitchFamily="2" charset="-122"/>
            </a:endParaRPr>
          </a:p>
          <a:p>
            <a:pPr defTabSz="461010" eaLnBrk="1" fontAlgn="base" hangingPunct="1">
              <a:lnSpc>
                <a:spcPct val="105000"/>
              </a:lnSpc>
              <a:spcBef>
                <a:spcPct val="25000"/>
              </a:spcBef>
              <a:spcAft>
                <a:spcPct val="0"/>
              </a:spcAft>
              <a:buClr>
                <a:srgbClr val="339966"/>
              </a:buClr>
              <a:buSzPct val="120000"/>
            </a:pPr>
            <a:r>
              <a:rPr lang="zh-CN" altLang="zh-CN" sz="1310">
                <a:solidFill>
                  <a:srgbClr val="000000"/>
                </a:solidFill>
                <a:ea typeface="宋体" pitchFamily="2" charset="-122"/>
              </a:rPr>
              <a:t>家庭在2006年购买篮子： </a:t>
            </a:r>
            <a:endParaRPr lang="zh-CN" altLang="zh-CN" sz="1310">
              <a:solidFill>
                <a:srgbClr val="000000"/>
              </a:solidFill>
              <a:ea typeface="宋体" pitchFamily="2" charset="-122"/>
            </a:endParaRPr>
          </a:p>
          <a:p>
            <a:pPr defTabSz="461010" eaLnBrk="1" fontAlgn="base" hangingPunct="1">
              <a:lnSpc>
                <a:spcPct val="105000"/>
              </a:lnSpc>
              <a:spcBef>
                <a:spcPct val="25000"/>
              </a:spcBef>
              <a:spcAft>
                <a:spcPct val="0"/>
              </a:spcAft>
              <a:buClr>
                <a:srgbClr val="339966"/>
              </a:buClr>
              <a:buSzPct val="120000"/>
            </a:pPr>
            <a:r>
              <a:rPr lang="zh-CN" altLang="zh-CN" sz="1310">
                <a:solidFill>
                  <a:srgbClr val="000000"/>
                </a:solidFill>
                <a:ea typeface="宋体" pitchFamily="2" charset="-122"/>
              </a:rPr>
              <a:t>{5 磅牛肉, 25 磅鸡肉}</a:t>
            </a:r>
            <a:endParaRPr lang="zh-CN" altLang="zh-CN" sz="1310">
              <a:solidFill>
                <a:srgbClr val="000000"/>
              </a:solidFill>
              <a:ea typeface="宋体" pitchFamily="2" charset="-122"/>
            </a:endParaRPr>
          </a:p>
          <a:p>
            <a:pPr defTabSz="461010" eaLnBrk="1" fontAlgn="base" hangingPunct="1">
              <a:lnSpc>
                <a:spcPct val="105000"/>
              </a:lnSpc>
              <a:spcBef>
                <a:spcPct val="25000"/>
              </a:spcBef>
              <a:spcAft>
                <a:spcPct val="0"/>
              </a:spcAft>
              <a:buClr>
                <a:srgbClr val="339966"/>
              </a:buClr>
              <a:buSzPct val="120000"/>
            </a:pPr>
            <a:endParaRPr lang="zh-CN" altLang="zh-CN" sz="1310">
              <a:solidFill>
                <a:srgbClr val="000000"/>
              </a:solidFill>
              <a:ea typeface="宋体" pitchFamily="2" charset="-122"/>
            </a:endParaRPr>
          </a:p>
        </p:txBody>
      </p:sp>
      <p:graphicFrame>
        <p:nvGraphicFramePr>
          <p:cNvPr id="25609" name="Group 9"/>
          <p:cNvGraphicFramePr>
            <a:graphicFrameLocks noGrp="1"/>
          </p:cNvGraphicFramePr>
          <p:nvPr/>
        </p:nvGraphicFramePr>
        <p:xfrm>
          <a:off x="1819229" y="714713"/>
          <a:ext cx="2622794" cy="1260575"/>
        </p:xfrm>
        <a:graphic>
          <a:graphicData uri="http://schemas.openxmlformats.org/drawingml/2006/table">
            <a:tbl>
              <a:tblPr/>
              <a:tblGrid>
                <a:gridCol w="514634"/>
                <a:gridCol w="520237"/>
                <a:gridCol w="659500"/>
                <a:gridCol w="928423"/>
              </a:tblGrid>
              <a:tr h="466613">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牛肉</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鸡肉</a:t>
                      </a:r>
                      <a:endPar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CPI</a:t>
                      </a:r>
                      <a:r>
                        <a:rPr kumimoji="0" lang="zh-CN" altLang="zh-CN" sz="1300" b="0" i="0" u="none" strike="noStrike" cap="none" normalizeH="0" baseline="0">
                          <a:ln>
                            <a:noFill/>
                          </a:ln>
                          <a:solidFill>
                            <a:schemeClr val="tx1"/>
                          </a:solidFill>
                          <a:effectLst/>
                          <a:latin typeface="Arial" panose="020B0604020202090204" pitchFamily="34" charset="0"/>
                          <a:ea typeface="宋体" pitchFamily="2" charset="-122"/>
                        </a:rPr>
                        <a:t>篮子的费用</a:t>
                      </a:r>
                      <a:endParaRPr kumimoji="0" lang="zh-CN" altLang="en-US"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2520">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$4</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$120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6117">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$5</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$150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75325">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2006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$9</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$6</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90204" pitchFamily="34" charset="0"/>
                        </a:defRPr>
                      </a:lvl1pPr>
                      <a:lvl2pPr eaLnBrk="0" hangingPunct="0">
                        <a:spcBef>
                          <a:spcPct val="15000"/>
                        </a:spcBef>
                        <a:buClr>
                          <a:srgbClr val="996633"/>
                        </a:buClr>
                        <a:buSzPct val="120000"/>
                        <a:buFont typeface="Wingdings" panose="05000000000000000000" pitchFamily="2" charset="2"/>
                        <a:defRPr sz="2300">
                          <a:solidFill>
                            <a:schemeClr val="tx1"/>
                          </a:solidFill>
                          <a:latin typeface="Arial" panose="020B0604020202090204" pitchFamily="34" charset="0"/>
                        </a:defRPr>
                      </a:lvl2pPr>
                      <a:lvl3pPr eaLnBrk="0" hangingPunct="0">
                        <a:spcBef>
                          <a:spcPct val="15000"/>
                        </a:spcBef>
                        <a:buClr>
                          <a:srgbClr val="339966"/>
                        </a:buClr>
                        <a:buSzPct val="120000"/>
                        <a:buFont typeface="Wingdings" panose="05000000000000000000" pitchFamily="2" charset="2"/>
                        <a:defRPr sz="2100">
                          <a:solidFill>
                            <a:schemeClr val="tx1"/>
                          </a:solidFill>
                          <a:latin typeface="Arial" panose="020B0604020202090204" pitchFamily="34" charset="0"/>
                        </a:defRPr>
                      </a:lvl3pPr>
                      <a:lvl4pPr eaLnBrk="0" hangingPunct="0">
                        <a:spcBef>
                          <a:spcPct val="15000"/>
                        </a:spcBef>
                        <a:defRPr>
                          <a:solidFill>
                            <a:schemeClr val="tx1"/>
                          </a:solidFill>
                          <a:latin typeface="Arial" panose="020B0604020202090204" pitchFamily="34" charset="0"/>
                        </a:defRPr>
                      </a:lvl4pPr>
                      <a:lvl5pPr eaLnBrk="0" hangingPunct="0">
                        <a:spcBef>
                          <a:spcPct val="20000"/>
                        </a:spcBef>
                        <a:defRPr>
                          <a:solidFill>
                            <a:schemeClr val="tx1"/>
                          </a:solidFill>
                          <a:latin typeface="Arial" panose="020B0604020202090204" pitchFamily="34" charset="0"/>
                        </a:defRPr>
                      </a:lvl5pPr>
                      <a:lvl6pPr eaLnBrk="0" fontAlgn="base" hangingPunct="0">
                        <a:spcBef>
                          <a:spcPct val="20000"/>
                        </a:spcBef>
                        <a:spcAft>
                          <a:spcPct val="0"/>
                        </a:spcAft>
                        <a:defRPr>
                          <a:solidFill>
                            <a:schemeClr val="tx1"/>
                          </a:solidFill>
                          <a:latin typeface="Arial" panose="020B0604020202090204" pitchFamily="34" charset="0"/>
                        </a:defRPr>
                      </a:lvl6pPr>
                      <a:lvl7pPr eaLnBrk="0" fontAlgn="base" hangingPunct="0">
                        <a:spcBef>
                          <a:spcPct val="20000"/>
                        </a:spcBef>
                        <a:spcAft>
                          <a:spcPct val="0"/>
                        </a:spcAft>
                        <a:defRPr>
                          <a:solidFill>
                            <a:schemeClr val="tx1"/>
                          </a:solidFill>
                          <a:latin typeface="Arial" panose="020B0604020202090204" pitchFamily="34" charset="0"/>
                        </a:defRPr>
                      </a:lvl7pPr>
                      <a:lvl8pPr eaLnBrk="0" fontAlgn="base" hangingPunct="0">
                        <a:spcBef>
                          <a:spcPct val="20000"/>
                        </a:spcBef>
                        <a:spcAft>
                          <a:spcPct val="0"/>
                        </a:spcAft>
                        <a:defRPr>
                          <a:solidFill>
                            <a:schemeClr val="tx1"/>
                          </a:solidFill>
                          <a:latin typeface="Arial" panose="020B0604020202090204" pitchFamily="34" charset="0"/>
                        </a:defRPr>
                      </a:lvl8pPr>
                      <a:lvl9pPr eaLnBrk="0" fontAlgn="base" hangingPunct="0">
                        <a:spcBef>
                          <a:spcPct val="20000"/>
                        </a:spcBef>
                        <a:spcAft>
                          <a:spcPct val="0"/>
                        </a:spcAft>
                        <a:defRPr>
                          <a:solidFill>
                            <a:schemeClr val="tx1"/>
                          </a:solidFill>
                          <a:latin typeface="Arial" panose="020B060402020209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rPr>
                        <a:t>$210</a:t>
                      </a:r>
                      <a:endParaRPr kumimoji="0" lang="en-US" altLang="zh-CN" sz="1300" b="0" i="0" u="none" strike="noStrike" cap="none" normalizeH="0" baseline="0">
                        <a:ln>
                          <a:noFill/>
                        </a:ln>
                        <a:solidFill>
                          <a:schemeClr val="tx1"/>
                        </a:solidFill>
                        <a:effectLst/>
                        <a:latin typeface="Arial" panose="020B0604020202090204" pitchFamily="34" charset="0"/>
                        <a:ea typeface="宋体"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607">
                                            <p:txEl>
                                              <p:pRg st="1" end="1"/>
                                            </p:txEl>
                                          </p:spTgt>
                                        </p:tgtEl>
                                        <p:attrNameLst>
                                          <p:attrName>style.visibility</p:attrName>
                                        </p:attrNameLst>
                                      </p:cBhvr>
                                      <p:to>
                                        <p:strVal val="visible"/>
                                      </p:to>
                                    </p:set>
                                    <p:animEffect transition="in" filter="wipe(left)">
                                      <p:cBhvr>
                                        <p:cTn id="7" dur="500"/>
                                        <p:tgtEl>
                                          <p:spTgt spid="256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607">
                                            <p:txEl>
                                              <p:pRg st="2" end="2"/>
                                            </p:txEl>
                                          </p:spTgt>
                                        </p:tgtEl>
                                        <p:attrNameLst>
                                          <p:attrName>style.visibility</p:attrName>
                                        </p:attrNameLst>
                                      </p:cBhvr>
                                      <p:to>
                                        <p:strVal val="visible"/>
                                      </p:to>
                                    </p:set>
                                    <p:animEffect transition="in" filter="wipe(left)">
                                      <p:cBhvr>
                                        <p:cTn id="12" dur="500"/>
                                        <p:tgtEl>
                                          <p:spTgt spid="256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autoUpdateAnimBg="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29699"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310D5D22-3EE5-F541-A3DF-0D1C6BCCFC41}"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29700" name="Rectangle 2"/>
          <p:cNvSpPr>
            <a:spLocks noGrp="1" noChangeArrowheads="1"/>
          </p:cNvSpPr>
          <p:nvPr>
            <p:ph type="title" idx="4294967295"/>
          </p:nvPr>
        </p:nvSpPr>
        <p:spPr>
          <a:xfrm>
            <a:off x="230505" y="134448"/>
            <a:ext cx="4161096" cy="517036"/>
          </a:xfrm>
        </p:spPr>
        <p:txBody>
          <a:bodyPr/>
          <a:lstStyle/>
          <a:p>
            <a:pPr eaLnBrk="1" hangingPunct="1"/>
            <a:r>
              <a:rPr lang="en-US" altLang="zh-CN" sz="1815">
                <a:ea typeface="宋体" pitchFamily="2" charset="-122"/>
              </a:rPr>
              <a:t>CPI</a:t>
            </a:r>
            <a:r>
              <a:rPr lang="zh-CN" altLang="en-US" sz="1815">
                <a:ea typeface="宋体" pitchFamily="2" charset="-122"/>
              </a:rPr>
              <a:t>存在的问题</a:t>
            </a:r>
            <a:r>
              <a:rPr lang="en-US" altLang="zh-CN" sz="1815">
                <a:ea typeface="宋体" pitchFamily="2" charset="-122"/>
              </a:rPr>
              <a:t>:</a:t>
            </a:r>
            <a:r>
              <a:rPr lang="zh-CN" altLang="en-US" sz="1815">
                <a:solidFill>
                  <a:srgbClr val="CC0000"/>
                </a:solidFill>
                <a:ea typeface="宋体" pitchFamily="2" charset="-122"/>
              </a:rPr>
              <a:t>新产品的引进</a:t>
            </a:r>
            <a:endParaRPr lang="zh-CN" altLang="en-US" sz="1815">
              <a:solidFill>
                <a:srgbClr val="CC0000"/>
              </a:solidFill>
              <a:ea typeface="宋体" pitchFamily="2" charset="-122"/>
            </a:endParaRPr>
          </a:p>
        </p:txBody>
      </p:sp>
      <p:sp>
        <p:nvSpPr>
          <p:cNvPr id="29701" name="Rectangle 3"/>
          <p:cNvSpPr>
            <a:spLocks noGrp="1" noChangeArrowheads="1"/>
          </p:cNvSpPr>
          <p:nvPr>
            <p:ph type="body" idx="4294967295"/>
          </p:nvPr>
        </p:nvSpPr>
        <p:spPr>
          <a:xfrm>
            <a:off x="250515" y="669092"/>
            <a:ext cx="4130681" cy="2431508"/>
          </a:xfrm>
        </p:spPr>
        <p:txBody>
          <a:bodyPr/>
          <a:lstStyle/>
          <a:p>
            <a:pPr eaLnBrk="1" hangingPunct="1"/>
            <a:r>
              <a:rPr lang="zh-CN" altLang="zh-CN">
                <a:ea typeface="宋体" pitchFamily="2" charset="-122"/>
              </a:rPr>
              <a:t>新产品的引进增加了产品的种类，允许消费者选择那些更满足他们需求的产品</a:t>
            </a:r>
            <a:endParaRPr lang="zh-CN" altLang="zh-CN">
              <a:ea typeface="宋体" pitchFamily="2" charset="-122"/>
            </a:endParaRPr>
          </a:p>
          <a:p>
            <a:pPr eaLnBrk="1" hangingPunct="1"/>
            <a:r>
              <a:rPr lang="zh-CN" altLang="zh-CN">
                <a:ea typeface="宋体" pitchFamily="2" charset="-122"/>
              </a:rPr>
              <a:t>从而每一美元变得更值钱  </a:t>
            </a:r>
            <a:endParaRPr lang="zh-CN" altLang="zh-CN">
              <a:ea typeface="宋体" pitchFamily="2" charset="-122"/>
            </a:endParaRPr>
          </a:p>
          <a:p>
            <a:pPr eaLnBrk="1" hangingPunct="1">
              <a:spcBef>
                <a:spcPct val="40000"/>
              </a:spcBef>
            </a:pPr>
            <a:r>
              <a:rPr lang="zh-CN" altLang="zh-CN">
                <a:ea typeface="宋体" pitchFamily="2" charset="-122"/>
              </a:rPr>
              <a:t>由于CPI使用的是一篮子固定的物品，它没有考虑到这种影响</a:t>
            </a:r>
            <a:endParaRPr lang="zh-CN" altLang="zh-CN">
              <a:ea typeface="宋体" pitchFamily="2" charset="-122"/>
            </a:endParaRPr>
          </a:p>
          <a:p>
            <a:pPr eaLnBrk="1" hangingPunct="1">
              <a:spcBef>
                <a:spcPct val="40000"/>
              </a:spcBef>
            </a:pPr>
            <a:r>
              <a:rPr lang="zh-CN" altLang="zh-CN">
                <a:ea typeface="宋体" pitchFamily="2" charset="-122"/>
              </a:rPr>
              <a:t>因此CPI高估了生活费用的增加</a:t>
            </a:r>
            <a:endParaRPr lang="zh-CN" altLang="zh-CN">
              <a:ea typeface="宋体" pitchFamily="2" charset="-122"/>
            </a:endParaRPr>
          </a:p>
        </p:txBody>
      </p:sp>
      <p:sp>
        <p:nvSpPr>
          <p:cNvPr id="29702" name="FlagCount" hidden="1">
            <a:hlinkClick r:id="rId1" action="ppaction://hlinkfile"/>
          </p:cNvPr>
          <p:cNvSpPr>
            <a:spLocks noChangeArrowheads="1"/>
          </p:cNvSpPr>
          <p:nvPr/>
        </p:nvSpPr>
        <p:spPr bwMode="auto">
          <a:xfrm>
            <a:off x="4161896" y="15765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E9752C8A-2529-F24B-B285-9A05AF48C90A}"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30724" name="Rectangle 2"/>
          <p:cNvSpPr>
            <a:spLocks noGrp="1" noChangeArrowheads="1"/>
          </p:cNvSpPr>
          <p:nvPr>
            <p:ph type="title" idx="4294967295"/>
          </p:nvPr>
        </p:nvSpPr>
        <p:spPr>
          <a:xfrm>
            <a:off x="230505" y="134448"/>
            <a:ext cx="4161096" cy="517036"/>
          </a:xfrm>
        </p:spPr>
        <p:txBody>
          <a:bodyPr/>
          <a:lstStyle/>
          <a:p>
            <a:pPr eaLnBrk="1" hangingPunct="1"/>
            <a:r>
              <a:rPr lang="en-US" altLang="zh-CN" sz="1815">
                <a:ea typeface="宋体" pitchFamily="2" charset="-122"/>
              </a:rPr>
              <a:t>CPI</a:t>
            </a:r>
            <a:r>
              <a:rPr lang="zh-CN" altLang="en-US" sz="1815">
                <a:ea typeface="宋体" pitchFamily="2" charset="-122"/>
              </a:rPr>
              <a:t>存在的问题</a:t>
            </a:r>
            <a:r>
              <a:rPr lang="en-US" altLang="zh-CN" sz="1815">
                <a:ea typeface="宋体" pitchFamily="2" charset="-122"/>
              </a:rPr>
              <a:t>:</a:t>
            </a:r>
            <a:r>
              <a:rPr lang="zh-CN" altLang="en-US" sz="1815">
                <a:solidFill>
                  <a:srgbClr val="CC0000"/>
                </a:solidFill>
                <a:ea typeface="宋体" pitchFamily="2" charset="-122"/>
              </a:rPr>
              <a:t>无法衡量的质量变动</a:t>
            </a:r>
            <a:endParaRPr lang="zh-CN" altLang="en-US" sz="1815">
              <a:solidFill>
                <a:srgbClr val="CC0000"/>
              </a:solidFill>
              <a:ea typeface="宋体" pitchFamily="2" charset="-122"/>
            </a:endParaRPr>
          </a:p>
        </p:txBody>
      </p:sp>
      <p:sp>
        <p:nvSpPr>
          <p:cNvPr id="30725" name="Rectangle 3"/>
          <p:cNvSpPr>
            <a:spLocks noGrp="1" noChangeArrowheads="1"/>
          </p:cNvSpPr>
          <p:nvPr>
            <p:ph type="body" idx="4294967295"/>
          </p:nvPr>
        </p:nvSpPr>
        <p:spPr>
          <a:xfrm>
            <a:off x="188086" y="677095"/>
            <a:ext cx="4191509" cy="2262631"/>
          </a:xfrm>
        </p:spPr>
        <p:txBody>
          <a:bodyPr/>
          <a:lstStyle/>
          <a:p>
            <a:pPr eaLnBrk="1" hangingPunct="1"/>
            <a:r>
              <a:rPr lang="zh-CN" altLang="zh-CN">
                <a:ea typeface="宋体" pitchFamily="2" charset="-122"/>
              </a:rPr>
              <a:t>篮子中物品质量的提高增加了每一美元的价值</a:t>
            </a:r>
            <a:endParaRPr lang="zh-CN" altLang="zh-CN">
              <a:ea typeface="宋体" pitchFamily="2" charset="-122"/>
            </a:endParaRPr>
          </a:p>
          <a:p>
            <a:pPr eaLnBrk="1" hangingPunct="1"/>
            <a:r>
              <a:rPr lang="zh-CN" altLang="zh-CN">
                <a:ea typeface="宋体" pitchFamily="2" charset="-122"/>
              </a:rPr>
              <a:t>劳工统计局试图统计质量的变动，但还是漏掉了一些，因为质量是难以衡量的</a:t>
            </a:r>
            <a:endParaRPr lang="zh-CN" altLang="zh-CN">
              <a:ea typeface="宋体" pitchFamily="2" charset="-122"/>
            </a:endParaRPr>
          </a:p>
          <a:p>
            <a:pPr eaLnBrk="1" hangingPunct="1"/>
            <a:r>
              <a:rPr lang="zh-CN" altLang="zh-CN">
                <a:ea typeface="宋体" pitchFamily="2" charset="-122"/>
              </a:rPr>
              <a:t>因此CPI高估了生活费用的增加</a:t>
            </a:r>
            <a:endParaRPr lang="zh-CN" altLang="zh-CN">
              <a:ea typeface="宋体" pitchFamily="2" charset="-122"/>
            </a:endParaRPr>
          </a:p>
        </p:txBody>
      </p:sp>
      <p:sp>
        <p:nvSpPr>
          <p:cNvPr id="30726" name="FlagCount" hidden="1">
            <a:hlinkClick r:id="rId1" action="ppaction://hlinkfile"/>
          </p:cNvPr>
          <p:cNvSpPr>
            <a:spLocks noChangeArrowheads="1"/>
          </p:cNvSpPr>
          <p:nvPr/>
        </p:nvSpPr>
        <p:spPr bwMode="auto">
          <a:xfrm>
            <a:off x="4161896" y="15765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86108B7A-4471-1245-A31D-1A73928A13FA}"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31748" name="Rectangle 2"/>
          <p:cNvSpPr>
            <a:spLocks noGrp="1" noChangeArrowheads="1"/>
          </p:cNvSpPr>
          <p:nvPr>
            <p:ph type="title" idx="4294967295"/>
          </p:nvPr>
        </p:nvSpPr>
        <p:spPr>
          <a:xfrm>
            <a:off x="230505" y="112038"/>
            <a:ext cx="4161096" cy="337754"/>
          </a:xfrm>
        </p:spPr>
        <p:txBody>
          <a:bodyPr/>
          <a:lstStyle/>
          <a:p>
            <a:pPr eaLnBrk="1" hangingPunct="1"/>
            <a:r>
              <a:rPr lang="en-US" altLang="zh-CN" sz="1815">
                <a:ea typeface="宋体" pitchFamily="2" charset="-122"/>
              </a:rPr>
              <a:t>CPI</a:t>
            </a:r>
            <a:r>
              <a:rPr lang="zh-CN" altLang="en-US" sz="1815">
                <a:ea typeface="宋体" pitchFamily="2" charset="-122"/>
              </a:rPr>
              <a:t>存在的问题</a:t>
            </a:r>
            <a:endParaRPr lang="zh-CN" altLang="en-US" sz="1815" i="1">
              <a:solidFill>
                <a:srgbClr val="CC0000"/>
              </a:solidFill>
              <a:ea typeface="宋体" pitchFamily="2" charset="-122"/>
            </a:endParaRPr>
          </a:p>
        </p:txBody>
      </p:sp>
      <p:sp>
        <p:nvSpPr>
          <p:cNvPr id="31749" name="Rectangle 3"/>
          <p:cNvSpPr>
            <a:spLocks noGrp="1" noChangeArrowheads="1"/>
          </p:cNvSpPr>
          <p:nvPr>
            <p:ph type="body" idx="4294967295"/>
          </p:nvPr>
        </p:nvSpPr>
        <p:spPr>
          <a:xfrm>
            <a:off x="188086" y="522625"/>
            <a:ext cx="4191509" cy="2403495"/>
          </a:xfrm>
        </p:spPr>
        <p:txBody>
          <a:bodyPr/>
          <a:lstStyle/>
          <a:p>
            <a:pPr eaLnBrk="1" hangingPunct="1"/>
            <a:r>
              <a:rPr lang="zh-CN" altLang="zh-CN">
                <a:ea typeface="宋体" pitchFamily="2" charset="-122"/>
              </a:rPr>
              <a:t>上述的这些问题都使CPI高估了生活费用的增加</a:t>
            </a:r>
            <a:endParaRPr lang="zh-CN" altLang="zh-CN">
              <a:ea typeface="宋体" pitchFamily="2" charset="-122"/>
            </a:endParaRPr>
          </a:p>
          <a:p>
            <a:pPr eaLnBrk="1" hangingPunct="1"/>
            <a:r>
              <a:rPr lang="zh-CN" altLang="zh-CN">
                <a:ea typeface="宋体" pitchFamily="2" charset="-122"/>
              </a:rPr>
              <a:t> </a:t>
            </a:r>
            <a:endParaRPr lang="zh-CN" altLang="zh-CN">
              <a:ea typeface="宋体" pitchFamily="2" charset="-122"/>
            </a:endParaRPr>
          </a:p>
          <a:p>
            <a:pPr eaLnBrk="1" hangingPunct="1"/>
            <a:r>
              <a:rPr lang="zh-CN" altLang="zh-CN">
                <a:ea typeface="宋体" pitchFamily="2" charset="-122"/>
              </a:rPr>
              <a:t>劳工统计局已经进行了一些技术调整，但 CPI仍然可能每年高估了0.5%的通货膨胀</a:t>
            </a:r>
            <a:endParaRPr lang="zh-CN" altLang="zh-CN">
              <a:ea typeface="宋体" pitchFamily="2" charset="-122"/>
            </a:endParaRPr>
          </a:p>
          <a:p>
            <a:pPr eaLnBrk="1" hangingPunct="1"/>
            <a:endParaRPr lang="zh-CN" altLang="zh-CN">
              <a:ea typeface="宋体" pitchFamily="2" charset="-122"/>
            </a:endParaRPr>
          </a:p>
          <a:p>
            <a:pPr eaLnBrk="1" hangingPunct="1"/>
            <a:r>
              <a:rPr lang="zh-CN" altLang="zh-CN">
                <a:ea typeface="宋体" pitchFamily="2" charset="-122"/>
              </a:rPr>
              <a:t>这很重要，因为社会保障补助以及许多合同都会根据CPI进行通货膨胀调整</a:t>
            </a:r>
            <a:endParaRPr lang="zh-CN" altLang="zh-CN">
              <a:ea typeface="宋体" pitchFamily="2" charset="-122"/>
            </a:endParaRPr>
          </a:p>
        </p:txBody>
      </p:sp>
      <p:sp>
        <p:nvSpPr>
          <p:cNvPr id="31750" name="FlagCount" hidden="1">
            <a:hlinkClick r:id="rId1"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F9C22C4F-0398-D248-89B5-DEF2847D81DE}"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33796" name="Rectangle 2"/>
          <p:cNvSpPr>
            <a:spLocks noGrp="1" noChangeArrowheads="1"/>
          </p:cNvSpPr>
          <p:nvPr>
            <p:ph type="title" idx="4294967295"/>
          </p:nvPr>
        </p:nvSpPr>
        <p:spPr>
          <a:xfrm>
            <a:off x="230505" y="96831"/>
            <a:ext cx="4149090" cy="316944"/>
          </a:xfrm>
        </p:spPr>
        <p:txBody>
          <a:bodyPr/>
          <a:lstStyle/>
          <a:p>
            <a:pPr eaLnBrk="1" hangingPunct="1"/>
            <a:r>
              <a:rPr lang="zh-CN" altLang="zh-CN" sz="1815">
                <a:ea typeface="宋体" pitchFamily="2" charset="-122"/>
              </a:rPr>
              <a:t>通货膨胀的两个衡量指标：1950-2007</a:t>
            </a:r>
            <a:endParaRPr lang="zh-CN" altLang="zh-CN" sz="1815">
              <a:ea typeface="宋体" pitchFamily="2" charset="-122"/>
            </a:endParaRPr>
          </a:p>
        </p:txBody>
      </p:sp>
      <p:graphicFrame>
        <p:nvGraphicFramePr>
          <p:cNvPr id="33797" name="Object 3"/>
          <p:cNvGraphicFramePr>
            <a:graphicFrameLocks noChangeAspect="1"/>
          </p:cNvGraphicFramePr>
          <p:nvPr/>
        </p:nvGraphicFramePr>
        <p:xfrm>
          <a:off x="90441" y="455395"/>
          <a:ext cx="4458831" cy="2667615"/>
        </p:xfrm>
        <a:graphic>
          <a:graphicData uri="http://schemas.openxmlformats.org/presentationml/2006/ole">
            <mc:AlternateContent xmlns:mc="http://schemas.openxmlformats.org/markup-compatibility/2006">
              <mc:Choice xmlns:v="urn:schemas-microsoft-com:vml" Requires="v">
                <p:oleObj spid="_x0000_s0" name="" r:id="rId1" imgW="11341100" imgH="6781800" progId="Excel.Chart.8">
                  <p:embed/>
                </p:oleObj>
              </mc:Choice>
              <mc:Fallback>
                <p:oleObj name="" r:id="rId1" imgW="11341100" imgH="6781800" progId="Excel.Char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41" y="455395"/>
                        <a:ext cx="4458831" cy="2667615"/>
                      </a:xfrm>
                      <a:prstGeom prst="rect">
                        <a:avLst/>
                      </a:prstGeom>
                      <a:noFill/>
                      <a:ln>
                        <a:noFill/>
                      </a:ln>
                      <a:effectLst>
                        <a:outerShdw dist="71842"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8" name="FlagCount" hidden="1">
            <a:hlinkClick r:id="rId3" action="ppaction://hlinkfile"/>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wipe(left)">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transition="in" filter="wipe(left)">
                                      <p:cBhvr>
                                        <p:cTn id="12"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40963"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8355D337-764E-6D4F-96C6-5088B2F32072}"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40964" name="Rectangle 2"/>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dirty="0">
                <a:ea typeface="宋体" pitchFamily="2" charset="-122"/>
              </a:rPr>
              <a:t>通货膨胀</a:t>
            </a:r>
            <a:endParaRPr lang="zh-CN" altLang="zh-CN" sz="1815" dirty="0">
              <a:solidFill>
                <a:srgbClr val="CC0000"/>
              </a:solidFill>
              <a:ea typeface="宋体" pitchFamily="2" charset="-122"/>
            </a:endParaRPr>
          </a:p>
        </p:txBody>
      </p:sp>
      <mc:AlternateContent xmlns:mc="http://schemas.openxmlformats.org/markup-compatibility/2006">
        <mc:Choice xmlns:a14="http://schemas.microsoft.com/office/drawing/2010/main" Requires="a14">
          <p:sp>
            <p:nvSpPr>
              <p:cNvPr id="40965" name="Rectangle 3"/>
              <p:cNvSpPr>
                <a:spLocks noGrp="1" noChangeArrowheads="1"/>
              </p:cNvSpPr>
              <p:nvPr>
                <p:ph type="body" idx="4294967295"/>
              </p:nvPr>
            </p:nvSpPr>
            <p:spPr>
              <a:xfrm>
                <a:off x="166876" y="591589"/>
                <a:ext cx="4191509" cy="2566769"/>
              </a:xfrm>
            </p:spPr>
            <p:txBody>
              <a:bodyPr/>
              <a:lstStyle/>
              <a:p>
                <a:pPr eaLnBrk="1" hangingPunct="1"/>
                <a:r>
                  <a:rPr lang="zh-CN" altLang="zh-CN" dirty="0">
                    <a:ea typeface="宋体" pitchFamily="2" charset="-122"/>
                  </a:rPr>
                  <a:t>通货膨胀</a:t>
                </a:r>
                <a:r>
                  <a:rPr lang="zh-CN" altLang="en-US" dirty="0">
                    <a:ea typeface="宋体" pitchFamily="2" charset="-122"/>
                  </a:rPr>
                  <a:t>是指一个经济体在一定时期内价格水平持续地上升的情况</a:t>
                </a:r>
                <a:endParaRPr lang="en-US" altLang="zh-CN" dirty="0">
                  <a:ea typeface="宋体" pitchFamily="2" charset="-122"/>
                </a:endParaRPr>
              </a:p>
              <a:p>
                <a:pPr eaLnBrk="1" hangingPunct="1"/>
                <a:r>
                  <a:rPr lang="zh-CN" altLang="en-US" dirty="0">
                    <a:ea typeface="宋体" pitchFamily="2" charset="-122"/>
                  </a:rPr>
                  <a:t>通货膨胀率被定义为从一个时期到另一个时期价格水平变动的百分比。如果以</a:t>
                </a:r>
                <a14:m>
                  <m:oMath xmlns:m="http://schemas.openxmlformats.org/officeDocument/2006/math">
                    <m:sSub>
                      <m:sSubPr>
                        <m:ctrlPr>
                          <a:rPr lang="en-US" altLang="zh-CN" b="0" i="1" smtClean="0">
                            <a:latin typeface="Cambria Math" panose="02040503050406030204" pitchFamily="18" charset="0"/>
                            <a:ea typeface="宋体" pitchFamily="2" charset="-122"/>
                          </a:rPr>
                        </m:ctrlPr>
                      </m:sSubPr>
                      <m:e>
                        <m:r>
                          <a:rPr lang="en-US" altLang="zh-CN" b="0" i="1" smtClean="0">
                            <a:latin typeface="Cambria Math" panose="02040503050406030204" pitchFamily="18" charset="0"/>
                            <a:ea typeface="宋体" pitchFamily="2" charset="-122"/>
                          </a:rPr>
                          <m:t>𝑃</m:t>
                        </m:r>
                      </m:e>
                      <m:sub>
                        <m:r>
                          <a:rPr lang="en-US" altLang="zh-CN" b="0" i="1" smtClean="0">
                            <a:latin typeface="Cambria Math" panose="02040503050406030204" pitchFamily="18" charset="0"/>
                            <a:ea typeface="宋体" pitchFamily="2" charset="-122"/>
                          </a:rPr>
                          <m:t>𝑡</m:t>
                        </m:r>
                      </m:sub>
                    </m:sSub>
                  </m:oMath>
                </a14:m>
                <a:r>
                  <a:rPr lang="zh-CN" altLang="en-US" dirty="0">
                    <a:ea typeface="宋体" pitchFamily="2" charset="-122"/>
                  </a:rPr>
                  <a:t>表示</a:t>
                </a:r>
                <a:r>
                  <a:rPr lang="en-US" altLang="zh-CN" dirty="0">
                    <a:ea typeface="宋体" pitchFamily="2" charset="-122"/>
                  </a:rPr>
                  <a:t>t</a:t>
                </a:r>
                <a:r>
                  <a:rPr lang="zh-CN" altLang="en-US" dirty="0">
                    <a:ea typeface="宋体" pitchFamily="2" charset="-122"/>
                  </a:rPr>
                  <a:t>时期的价格水平，</a:t>
                </a:r>
                <a:r>
                  <a:rPr lang="en-US" altLang="zh-CN" dirty="0">
                    <a:ea typeface="宋体" pitchFamily="2" charset="-122"/>
                  </a:rPr>
                  <a:t> </a:t>
                </a:r>
                <a14:m>
                  <m:oMath xmlns:m="http://schemas.openxmlformats.org/officeDocument/2006/math">
                    <m:sSub>
                      <m:sSubPr>
                        <m:ctrlPr>
                          <a:rPr lang="en-US" altLang="zh-CN" i="1">
                            <a:latin typeface="Cambria Math" panose="02040503050406030204" pitchFamily="18" charset="0"/>
                            <a:ea typeface="宋体" pitchFamily="2" charset="-122"/>
                          </a:rPr>
                        </m:ctrlPr>
                      </m:sSubPr>
                      <m:e>
                        <m:r>
                          <a:rPr lang="en-US" altLang="zh-CN" i="1">
                            <a:latin typeface="Cambria Math" panose="02040503050406030204" pitchFamily="18" charset="0"/>
                            <a:ea typeface="宋体" pitchFamily="2" charset="-122"/>
                          </a:rPr>
                          <m:t>𝑃</m:t>
                        </m:r>
                      </m:e>
                      <m:sub>
                        <m:r>
                          <a:rPr lang="en-US" altLang="zh-CN" i="1">
                            <a:latin typeface="Cambria Math" panose="02040503050406030204" pitchFamily="18" charset="0"/>
                            <a:ea typeface="宋体" pitchFamily="2" charset="-122"/>
                          </a:rPr>
                          <m:t>𝑡</m:t>
                        </m:r>
                        <m:r>
                          <a:rPr lang="en-US" altLang="zh-CN" i="1">
                            <a:latin typeface="Cambria Math" panose="02040503050406030204" pitchFamily="18" charset="0"/>
                            <a:ea typeface="宋体" pitchFamily="2" charset="-122"/>
                          </a:rPr>
                          <m:t>−</m:t>
                        </m:r>
                        <m:r>
                          <a:rPr lang="en-US" altLang="zh-CN" i="1">
                            <a:latin typeface="Cambria Math" panose="02040503050406030204" pitchFamily="18" charset="0"/>
                            <a:ea typeface="宋体" pitchFamily="2" charset="-122"/>
                          </a:rPr>
                          <m:t>1</m:t>
                        </m:r>
                      </m:sub>
                    </m:sSub>
                  </m:oMath>
                </a14:m>
                <a:r>
                  <a:rPr lang="zh-CN" altLang="en-US" dirty="0">
                    <a:ea typeface="宋体" pitchFamily="2" charset="-122"/>
                  </a:rPr>
                  <a:t>表示</a:t>
                </a:r>
                <a:r>
                  <a:rPr lang="en-US" altLang="zh-CN" dirty="0">
                    <a:ea typeface="宋体" pitchFamily="2" charset="-122"/>
                  </a:rPr>
                  <a:t>t-1</a:t>
                </a:r>
                <a:r>
                  <a:rPr lang="zh-CN" altLang="en-US" dirty="0">
                    <a:ea typeface="宋体" pitchFamily="2" charset="-122"/>
                  </a:rPr>
                  <a:t>期的价格水平，</a:t>
                </a:r>
                <a:r>
                  <a:rPr lang="en-US" altLang="zh-CN" dirty="0">
                    <a:ea typeface="宋体" pitchFamily="2" charset="-122"/>
                  </a:rPr>
                  <a:t> </a:t>
                </a:r>
                <a14:m>
                  <m:oMath xmlns:m="http://schemas.openxmlformats.org/officeDocument/2006/math">
                    <m:sSub>
                      <m:sSubPr>
                        <m:ctrlPr>
                          <a:rPr lang="en-US" altLang="zh-CN" i="1">
                            <a:latin typeface="Cambria Math" panose="02040503050406030204" pitchFamily="18" charset="0"/>
                            <a:ea typeface="宋体" pitchFamily="2" charset="-122"/>
                          </a:rPr>
                        </m:ctrlPr>
                      </m:sSubPr>
                      <m:e>
                        <m:r>
                          <a:rPr lang="en-US" altLang="zh-CN" i="1">
                            <a:latin typeface="Cambria Math" panose="02040503050406030204" pitchFamily="18" charset="0"/>
                            <a:ea typeface="Cambria Math" panose="02040503050406030204" pitchFamily="18" charset="0"/>
                          </a:rPr>
                          <m:t>𝜋</m:t>
                        </m:r>
                      </m:e>
                      <m:sub>
                        <m:r>
                          <a:rPr lang="en-US" altLang="zh-CN" i="1">
                            <a:latin typeface="Cambria Math" panose="02040503050406030204" pitchFamily="18" charset="0"/>
                            <a:ea typeface="宋体" pitchFamily="2" charset="-122"/>
                          </a:rPr>
                          <m:t>𝑡</m:t>
                        </m:r>
                      </m:sub>
                    </m:sSub>
                  </m:oMath>
                </a14:m>
                <a:r>
                  <a:rPr lang="zh-CN" altLang="en-US" dirty="0">
                    <a:ea typeface="宋体" pitchFamily="2" charset="-122"/>
                  </a:rPr>
                  <a:t>表示通货膨胀率，则有：</a:t>
                </a:r>
                <a:endParaRPr lang="en-US" altLang="zh-CN" dirty="0">
                  <a:ea typeface="宋体" pitchFamily="2" charset="-122"/>
                </a:endParaRPr>
              </a:p>
              <a:p>
                <a:pPr eaLnBrk="1" hangingPunct="1"/>
                <a14:m>
                  <m:oMath xmlns:m="http://schemas.openxmlformats.org/officeDocument/2006/math">
                    <m:sSub>
                      <m:sSubPr>
                        <m:ctrlPr>
                          <a:rPr lang="en-US" altLang="zh-CN" b="0" i="1" smtClean="0">
                            <a:latin typeface="Cambria Math" panose="02040503050406030204" pitchFamily="18" charset="0"/>
                            <a:ea typeface="宋体" pitchFamily="2" charset="-122"/>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宋体" pitchFamily="2" charset="-122"/>
                          </a:rPr>
                          <m:t>𝑡</m:t>
                        </m:r>
                      </m:sub>
                    </m:sSub>
                    <m:r>
                      <a:rPr lang="en-US" altLang="zh-CN" b="0" i="1" smtClean="0">
                        <a:latin typeface="Cambria Math" panose="02040503050406030204" pitchFamily="18" charset="0"/>
                        <a:ea typeface="宋体" pitchFamily="2" charset="-122"/>
                      </a:rPr>
                      <m:t>=</m:t>
                    </m:r>
                    <m:f>
                      <m:fPr>
                        <m:ctrlPr>
                          <a:rPr lang="en-US" altLang="zh-CN" b="0" i="1" smtClean="0">
                            <a:latin typeface="Cambria Math" panose="02040503050406030204" pitchFamily="18" charset="0"/>
                            <a:ea typeface="宋体" pitchFamily="2" charset="-122"/>
                          </a:rPr>
                        </m:ctrlPr>
                      </m:fPr>
                      <m:num>
                        <m:sSub>
                          <m:sSubPr>
                            <m:ctrlPr>
                              <a:rPr lang="en-US" altLang="zh-CN" b="0" i="1" smtClean="0">
                                <a:latin typeface="Cambria Math" panose="02040503050406030204" pitchFamily="18" charset="0"/>
                                <a:ea typeface="宋体" pitchFamily="2" charset="-122"/>
                              </a:rPr>
                            </m:ctrlPr>
                          </m:sSubPr>
                          <m:e>
                            <m:r>
                              <a:rPr lang="en-US" altLang="zh-CN" b="0" i="1" smtClean="0">
                                <a:latin typeface="Cambria Math" panose="02040503050406030204" pitchFamily="18" charset="0"/>
                                <a:ea typeface="宋体" pitchFamily="2" charset="-122"/>
                              </a:rPr>
                              <m:t>𝑃</m:t>
                            </m:r>
                          </m:e>
                          <m:sub>
                            <m:r>
                              <a:rPr lang="en-US" altLang="zh-CN" b="0" i="1" smtClean="0">
                                <a:latin typeface="Cambria Math" panose="02040503050406030204" pitchFamily="18" charset="0"/>
                                <a:ea typeface="宋体" pitchFamily="2" charset="-122"/>
                              </a:rPr>
                              <m:t>𝑡</m:t>
                            </m:r>
                          </m:sub>
                        </m:sSub>
                        <m:r>
                          <a:rPr lang="en-US" altLang="zh-CN" b="0" i="1" smtClean="0">
                            <a:latin typeface="Cambria Math" panose="02040503050406030204" pitchFamily="18" charset="0"/>
                            <a:ea typeface="宋体" pitchFamily="2" charset="-122"/>
                          </a:rPr>
                          <m:t>−</m:t>
                        </m:r>
                        <m:sSub>
                          <m:sSubPr>
                            <m:ctrlPr>
                              <a:rPr lang="en-US" altLang="zh-CN" b="0" i="1" smtClean="0">
                                <a:latin typeface="Cambria Math" panose="02040503050406030204" pitchFamily="18" charset="0"/>
                                <a:ea typeface="宋体" pitchFamily="2" charset="-122"/>
                              </a:rPr>
                            </m:ctrlPr>
                          </m:sSubPr>
                          <m:e>
                            <m:r>
                              <a:rPr lang="en-US" altLang="zh-CN" b="0" i="1" smtClean="0">
                                <a:latin typeface="Cambria Math" panose="02040503050406030204" pitchFamily="18" charset="0"/>
                                <a:ea typeface="宋体" pitchFamily="2" charset="-122"/>
                              </a:rPr>
                              <m:t>𝑃</m:t>
                            </m:r>
                          </m:e>
                          <m:sub>
                            <m:r>
                              <a:rPr lang="en-US" altLang="zh-CN" b="0" i="1" smtClean="0">
                                <a:latin typeface="Cambria Math" panose="02040503050406030204" pitchFamily="18" charset="0"/>
                                <a:ea typeface="宋体" pitchFamily="2" charset="-122"/>
                              </a:rPr>
                              <m:t>𝑡</m:t>
                            </m:r>
                            <m:r>
                              <a:rPr lang="en-US" altLang="zh-CN" b="0" i="1" smtClean="0">
                                <a:latin typeface="Cambria Math" panose="02040503050406030204" pitchFamily="18" charset="0"/>
                                <a:ea typeface="宋体" pitchFamily="2" charset="-122"/>
                              </a:rPr>
                              <m:t>−</m:t>
                            </m:r>
                            <m:r>
                              <a:rPr lang="en-US" altLang="zh-CN" b="0" i="1" smtClean="0">
                                <a:latin typeface="Cambria Math" panose="02040503050406030204" pitchFamily="18" charset="0"/>
                                <a:ea typeface="宋体" pitchFamily="2" charset="-122"/>
                              </a:rPr>
                              <m:t>1</m:t>
                            </m:r>
                          </m:sub>
                        </m:sSub>
                      </m:num>
                      <m:den>
                        <m:sSub>
                          <m:sSubPr>
                            <m:ctrlPr>
                              <a:rPr lang="en-US" altLang="zh-CN" b="0" i="1" smtClean="0">
                                <a:latin typeface="Cambria Math" panose="02040503050406030204" pitchFamily="18" charset="0"/>
                                <a:ea typeface="宋体" pitchFamily="2" charset="-122"/>
                              </a:rPr>
                            </m:ctrlPr>
                          </m:sSubPr>
                          <m:e>
                            <m:r>
                              <a:rPr lang="en-US" altLang="zh-CN" b="0" i="1" smtClean="0">
                                <a:latin typeface="Cambria Math" panose="02040503050406030204" pitchFamily="18" charset="0"/>
                                <a:ea typeface="宋体" pitchFamily="2" charset="-122"/>
                              </a:rPr>
                              <m:t>𝑃</m:t>
                            </m:r>
                          </m:e>
                          <m:sub>
                            <m:r>
                              <a:rPr lang="en-US" altLang="zh-CN" b="0" i="1" smtClean="0">
                                <a:latin typeface="Cambria Math" panose="02040503050406030204" pitchFamily="18" charset="0"/>
                                <a:ea typeface="宋体" pitchFamily="2" charset="-122"/>
                              </a:rPr>
                              <m:t>𝑡</m:t>
                            </m:r>
                            <m:r>
                              <a:rPr lang="en-US" altLang="zh-CN" b="0" i="1" smtClean="0">
                                <a:latin typeface="Cambria Math" panose="02040503050406030204" pitchFamily="18" charset="0"/>
                                <a:ea typeface="宋体" pitchFamily="2" charset="-122"/>
                              </a:rPr>
                              <m:t>−</m:t>
                            </m:r>
                            <m:r>
                              <a:rPr lang="en-US" altLang="zh-CN" b="0" i="1" smtClean="0">
                                <a:latin typeface="Cambria Math" panose="02040503050406030204" pitchFamily="18" charset="0"/>
                                <a:ea typeface="宋体" pitchFamily="2" charset="-122"/>
                              </a:rPr>
                              <m:t>1</m:t>
                            </m:r>
                          </m:sub>
                        </m:sSub>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100</m:t>
                    </m:r>
                    <m:r>
                      <a:rPr lang="en-US" altLang="zh-CN" b="0" i="1" smtClean="0">
                        <a:latin typeface="Cambria Math" panose="02040503050406030204" pitchFamily="18" charset="0"/>
                        <a:ea typeface="Cambria Math" panose="02040503050406030204" pitchFamily="18" charset="0"/>
                      </a:rPr>
                      <m:t>%</m:t>
                    </m:r>
                  </m:oMath>
                </a14:m>
                <a:endParaRPr lang="en-US" altLang="zh-CN" dirty="0">
                  <a:ea typeface="宋体" pitchFamily="2" charset="-122"/>
                </a:endParaRPr>
              </a:p>
              <a:p>
                <a:pPr eaLnBrk="1" hangingPunct="1"/>
                <a:r>
                  <a:rPr lang="zh-CN" altLang="en-US" dirty="0">
                    <a:ea typeface="宋体" pitchFamily="2" charset="-122"/>
                  </a:rPr>
                  <a:t>上式中的价格水平既可以用</a:t>
                </a:r>
                <a:r>
                  <a:rPr lang="en-US" altLang="zh-CN" dirty="0">
                    <a:ea typeface="宋体" pitchFamily="2" charset="-122"/>
                  </a:rPr>
                  <a:t>GDP</a:t>
                </a:r>
                <a:r>
                  <a:rPr lang="zh-CN" altLang="en-US" dirty="0">
                    <a:ea typeface="宋体" pitchFamily="2" charset="-122"/>
                  </a:rPr>
                  <a:t>平减指数表示，也可以用</a:t>
                </a:r>
                <a:r>
                  <a:rPr lang="en-US" altLang="zh-CN" dirty="0">
                    <a:ea typeface="宋体" pitchFamily="2" charset="-122"/>
                  </a:rPr>
                  <a:t>CPI</a:t>
                </a:r>
                <a:r>
                  <a:rPr lang="zh-CN" altLang="en-US" dirty="0">
                    <a:ea typeface="宋体" pitchFamily="2" charset="-122"/>
                  </a:rPr>
                  <a:t>表示。</a:t>
                </a:r>
                <a:endParaRPr lang="zh-CN" altLang="zh-CN" dirty="0">
                  <a:ea typeface="宋体" pitchFamily="2" charset="-122"/>
                </a:endParaRPr>
              </a:p>
            </p:txBody>
          </p:sp>
        </mc:Choice>
        <mc:Fallback>
          <p:sp>
            <p:nvSpPr>
              <p:cNvPr id="40965" name="Rectangle 3"/>
              <p:cNvSpPr>
                <a:spLocks noRot="1" noChangeAspect="1" noMove="1" noResize="1" noEditPoints="1" noAdjustHandles="1" noChangeArrowheads="1" noChangeShapeType="1" noTextEdit="1"/>
              </p:cNvSpPr>
              <p:nvPr>
                <p:ph type="body" idx="4294967295"/>
              </p:nvPr>
            </p:nvSpPr>
            <p:spPr>
              <a:xfrm>
                <a:off x="166876" y="591589"/>
                <a:ext cx="4191509" cy="2566769"/>
              </a:xfrm>
              <a:blipFill rotWithShape="1">
                <a:blip r:embed="rId1"/>
                <a:stretch>
                  <a:fillRect l="-12" t="-16" r="9" b="-2454"/>
                </a:stretch>
              </a:blipFill>
            </p:spPr>
            <p:txBody>
              <a:bodyPr/>
              <a:lstStyle/>
              <a:p>
                <a:r>
                  <a:rPr lang="zh-CN" altLang="en-US">
                    <a:noFill/>
                  </a:rPr>
                  <a:t> </a:t>
                </a:r>
              </a:p>
            </p:txBody>
          </p:sp>
        </mc:Fallback>
      </mc:AlternateContent>
      <p:sp>
        <p:nvSpPr>
          <p:cNvPr id="40966" name="FlagCount" hidden="1">
            <a:hlinkClick r:id="rId2" action="ppaction://hlinkfile"/>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40963"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8355D337-764E-6D4F-96C6-5088B2F32072}"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40964" name="Rectangle 2"/>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a:ea typeface="宋体" pitchFamily="2" charset="-122"/>
              </a:rPr>
              <a:t>根据通货膨胀的影响校正经济变量：</a:t>
            </a:r>
            <a:br>
              <a:rPr lang="zh-CN" altLang="zh-CN" sz="1815">
                <a:ea typeface="宋体" pitchFamily="2" charset="-122"/>
              </a:rPr>
            </a:br>
            <a:r>
              <a:rPr lang="zh-CN" altLang="zh-CN" sz="1815">
                <a:solidFill>
                  <a:srgbClr val="CC0000"/>
                </a:solidFill>
                <a:ea typeface="宋体" pitchFamily="2" charset="-122"/>
              </a:rPr>
              <a:t>比较不同时期的美元数字</a:t>
            </a:r>
            <a:endParaRPr lang="zh-CN" altLang="zh-CN" sz="1815">
              <a:solidFill>
                <a:srgbClr val="CC0000"/>
              </a:solidFill>
              <a:ea typeface="宋体" pitchFamily="2" charset="-122"/>
            </a:endParaRPr>
          </a:p>
        </p:txBody>
      </p:sp>
      <p:sp>
        <p:nvSpPr>
          <p:cNvPr id="40965" name="Rectangle 3"/>
          <p:cNvSpPr>
            <a:spLocks noGrp="1" noChangeArrowheads="1"/>
          </p:cNvSpPr>
          <p:nvPr>
            <p:ph type="body" idx="4294967295"/>
          </p:nvPr>
        </p:nvSpPr>
        <p:spPr>
          <a:xfrm>
            <a:off x="188086" y="666691"/>
            <a:ext cx="4191509" cy="2566769"/>
          </a:xfrm>
        </p:spPr>
        <p:txBody>
          <a:bodyPr/>
          <a:lstStyle/>
          <a:p>
            <a:pPr eaLnBrk="1" hangingPunct="1"/>
            <a:r>
              <a:rPr lang="zh-CN" altLang="zh-CN" dirty="0">
                <a:ea typeface="宋体" pitchFamily="2" charset="-122"/>
              </a:rPr>
              <a:t>通货膨胀使比较不同时期的美元数字变得更加困难 </a:t>
            </a:r>
            <a:endParaRPr lang="zh-CN" altLang="zh-CN" dirty="0">
              <a:ea typeface="宋体" pitchFamily="2" charset="-122"/>
            </a:endParaRPr>
          </a:p>
          <a:p>
            <a:pPr eaLnBrk="1" hangingPunct="1"/>
            <a:r>
              <a:rPr lang="zh-CN" altLang="zh-CN" dirty="0">
                <a:ea typeface="宋体" pitchFamily="2" charset="-122"/>
              </a:rPr>
              <a:t>例如：最低工资</a:t>
            </a:r>
            <a:endParaRPr lang="zh-CN" altLang="zh-CN" dirty="0">
              <a:ea typeface="宋体" pitchFamily="2" charset="-122"/>
            </a:endParaRPr>
          </a:p>
          <a:p>
            <a:pPr lvl="1" eaLnBrk="1" hangingPunct="1">
              <a:lnSpc>
                <a:spcPct val="105000"/>
              </a:lnSpc>
              <a:spcBef>
                <a:spcPct val="20000"/>
              </a:spcBef>
            </a:pPr>
            <a:r>
              <a:rPr lang="zh-CN" altLang="zh-CN" sz="1310" dirty="0">
                <a:ea typeface="宋体" pitchFamily="2" charset="-122"/>
              </a:rPr>
              <a:t>在1964.12是$1.15</a:t>
            </a:r>
            <a:endParaRPr lang="zh-CN" altLang="zh-CN" sz="1310" dirty="0">
              <a:ea typeface="宋体" pitchFamily="2" charset="-122"/>
            </a:endParaRPr>
          </a:p>
          <a:p>
            <a:pPr lvl="1" eaLnBrk="1" hangingPunct="1">
              <a:lnSpc>
                <a:spcPct val="105000"/>
              </a:lnSpc>
              <a:spcBef>
                <a:spcPct val="20000"/>
              </a:spcBef>
            </a:pPr>
            <a:r>
              <a:rPr lang="zh-CN" altLang="zh-CN" sz="1310" dirty="0">
                <a:ea typeface="宋体" pitchFamily="2" charset="-122"/>
              </a:rPr>
              <a:t>在20</a:t>
            </a:r>
            <a:r>
              <a:rPr lang="en-US" altLang="zh-CN" sz="1310" dirty="0">
                <a:ea typeface="宋体" pitchFamily="2" charset="-122"/>
              </a:rPr>
              <a:t>22</a:t>
            </a:r>
            <a:r>
              <a:rPr lang="zh-CN" altLang="zh-CN" sz="1310" dirty="0">
                <a:ea typeface="宋体" pitchFamily="2" charset="-122"/>
              </a:rPr>
              <a:t>.12是$5.85</a:t>
            </a:r>
            <a:endParaRPr lang="zh-CN" altLang="zh-CN" sz="1310" dirty="0">
              <a:ea typeface="宋体" pitchFamily="2" charset="-122"/>
            </a:endParaRPr>
          </a:p>
          <a:p>
            <a:pPr eaLnBrk="1" hangingPunct="1"/>
            <a:r>
              <a:rPr lang="zh-CN" altLang="zh-CN" dirty="0">
                <a:ea typeface="宋体" pitchFamily="2" charset="-122"/>
              </a:rPr>
              <a:t>最低工资在1964年12月还是在20</a:t>
            </a:r>
            <a:r>
              <a:rPr lang="en-US" altLang="zh-CN" dirty="0">
                <a:ea typeface="宋体" pitchFamily="2" charset="-122"/>
              </a:rPr>
              <a:t>22</a:t>
            </a:r>
            <a:r>
              <a:rPr lang="zh-CN" altLang="zh-CN" dirty="0">
                <a:ea typeface="宋体" pitchFamily="2" charset="-122"/>
              </a:rPr>
              <a:t>年12月有更强的购买力？ </a:t>
            </a:r>
            <a:endParaRPr lang="zh-CN" altLang="zh-CN" dirty="0">
              <a:ea typeface="宋体" pitchFamily="2" charset="-122"/>
            </a:endParaRPr>
          </a:p>
          <a:p>
            <a:pPr eaLnBrk="1" hangingPunct="1"/>
            <a:r>
              <a:rPr lang="zh-CN" altLang="zh-CN" dirty="0">
                <a:ea typeface="宋体" pitchFamily="2" charset="-122"/>
              </a:rPr>
              <a:t>为了方便比较，我们用CPI把1964年的数字转换为“今天的美元”……</a:t>
            </a:r>
            <a:endParaRPr lang="zh-CN" altLang="zh-CN" dirty="0">
              <a:ea typeface="宋体" pitchFamily="2" charset="-122"/>
            </a:endParaRPr>
          </a:p>
        </p:txBody>
      </p:sp>
      <p:sp>
        <p:nvSpPr>
          <p:cNvPr id="40966" name="FlagCount" hidden="1">
            <a:hlinkClick r:id="rId1" action="ppaction://hlinkfile"/>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41987"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787730FF-204B-9240-917F-E8A169EC4256}"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41988" name="Rectangle 3"/>
          <p:cNvSpPr>
            <a:spLocks noGrp="1" noChangeArrowheads="1"/>
          </p:cNvSpPr>
          <p:nvPr>
            <p:ph type="body" idx="4294967295"/>
          </p:nvPr>
        </p:nvSpPr>
        <p:spPr>
          <a:xfrm>
            <a:off x="199291" y="1411830"/>
            <a:ext cx="4191509" cy="1050879"/>
          </a:xfrm>
        </p:spPr>
        <p:txBody>
          <a:bodyPr/>
          <a:lstStyle/>
          <a:p>
            <a:pPr eaLnBrk="1" hangingPunct="1">
              <a:spcBef>
                <a:spcPct val="20000"/>
              </a:spcBef>
            </a:pPr>
            <a:r>
              <a:rPr lang="zh-CN" altLang="zh-CN" sz="1310" dirty="0">
                <a:ea typeface="宋体" pitchFamily="2" charset="-122"/>
              </a:rPr>
              <a:t>在我们的例子中, </a:t>
            </a:r>
            <a:endParaRPr lang="zh-CN" altLang="zh-CN" sz="1310" dirty="0">
              <a:ea typeface="宋体" pitchFamily="2" charset="-122"/>
            </a:endParaRPr>
          </a:p>
          <a:p>
            <a:pPr lvl="1" eaLnBrk="1" hangingPunct="1">
              <a:lnSpc>
                <a:spcPct val="105000"/>
              </a:lnSpc>
              <a:spcBef>
                <a:spcPct val="20000"/>
              </a:spcBef>
            </a:pPr>
            <a:r>
              <a:rPr lang="zh-CN" altLang="zh-CN" sz="1310" b="1" dirty="0">
                <a:ea typeface="宋体" pitchFamily="2" charset="-122"/>
              </a:rPr>
              <a:t>T年</a:t>
            </a:r>
            <a:r>
              <a:rPr lang="zh-CN" altLang="zh-CN" sz="1310" dirty="0">
                <a:ea typeface="宋体" pitchFamily="2" charset="-122"/>
              </a:rPr>
              <a:t> = 12/1964,  “今天” = 12/</a:t>
            </a:r>
            <a:r>
              <a:rPr lang="en-US" altLang="zh-CN" sz="1310" dirty="0">
                <a:ea typeface="宋体" pitchFamily="2" charset="-122"/>
              </a:rPr>
              <a:t>2022</a:t>
            </a:r>
            <a:endParaRPr lang="zh-CN" altLang="zh-CN" sz="1310" dirty="0">
              <a:ea typeface="宋体" pitchFamily="2" charset="-122"/>
            </a:endParaRPr>
          </a:p>
          <a:p>
            <a:pPr lvl="1" eaLnBrk="1" hangingPunct="1">
              <a:lnSpc>
                <a:spcPct val="105000"/>
              </a:lnSpc>
              <a:spcBef>
                <a:spcPct val="20000"/>
              </a:spcBef>
            </a:pPr>
            <a:r>
              <a:rPr lang="zh-CN" altLang="zh-CN" sz="1310" dirty="0">
                <a:ea typeface="宋体" pitchFamily="2" charset="-122"/>
              </a:rPr>
              <a:t>最低工资 = $1.15 (</a:t>
            </a:r>
            <a:r>
              <a:rPr lang="zh-CN" altLang="zh-CN" sz="1310" b="1" dirty="0">
                <a:ea typeface="宋体" pitchFamily="2" charset="-122"/>
              </a:rPr>
              <a:t>T</a:t>
            </a:r>
            <a:r>
              <a:rPr lang="zh-CN" altLang="zh-CN" sz="1310" dirty="0">
                <a:ea typeface="宋体" pitchFamily="2" charset="-122"/>
              </a:rPr>
              <a:t>年)</a:t>
            </a:r>
            <a:endParaRPr lang="zh-CN" altLang="zh-CN" sz="1310" dirty="0">
              <a:ea typeface="宋体" pitchFamily="2" charset="-122"/>
            </a:endParaRPr>
          </a:p>
          <a:p>
            <a:pPr lvl="1" eaLnBrk="1" hangingPunct="1">
              <a:lnSpc>
                <a:spcPct val="105000"/>
              </a:lnSpc>
              <a:spcBef>
                <a:spcPct val="20000"/>
              </a:spcBef>
            </a:pPr>
            <a:r>
              <a:rPr lang="zh-CN" altLang="zh-CN" sz="1310" dirty="0">
                <a:ea typeface="宋体" pitchFamily="2" charset="-122"/>
              </a:rPr>
              <a:t>CPI = 31.3(</a:t>
            </a:r>
            <a:r>
              <a:rPr lang="zh-CN" altLang="zh-CN" sz="1310" b="1" dirty="0">
                <a:ea typeface="宋体" pitchFamily="2" charset="-122"/>
              </a:rPr>
              <a:t>T</a:t>
            </a:r>
            <a:r>
              <a:rPr lang="zh-CN" altLang="zh-CN" sz="1310" dirty="0">
                <a:ea typeface="宋体" pitchFamily="2" charset="-122"/>
              </a:rPr>
              <a:t>年), CPI = 211.7(今天)</a:t>
            </a:r>
            <a:endParaRPr lang="zh-CN" altLang="zh-CN" sz="1310" dirty="0">
              <a:ea typeface="宋体" pitchFamily="2" charset="-122"/>
            </a:endParaRPr>
          </a:p>
        </p:txBody>
      </p:sp>
      <p:sp>
        <p:nvSpPr>
          <p:cNvPr id="41989" name="Rectangle 14"/>
          <p:cNvSpPr>
            <a:spLocks noChangeArrowheads="1"/>
          </p:cNvSpPr>
          <p:nvPr/>
        </p:nvSpPr>
        <p:spPr bwMode="auto">
          <a:xfrm>
            <a:off x="353761" y="704308"/>
            <a:ext cx="3891373" cy="629087"/>
          </a:xfrm>
          <a:prstGeom prst="rect">
            <a:avLst/>
          </a:prstGeom>
          <a:solidFill>
            <a:srgbClr val="FFCCCC"/>
          </a:solidFill>
          <a:ln w="9525">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1990" name="Rectangle 2"/>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a:ea typeface="宋体" pitchFamily="2" charset="-122"/>
              </a:rPr>
              <a:t>根据通货膨胀的影响校正经济变量：</a:t>
            </a:r>
            <a:br>
              <a:rPr lang="zh-CN" altLang="zh-CN" sz="1815">
                <a:ea typeface="宋体" pitchFamily="2" charset="-122"/>
              </a:rPr>
            </a:br>
            <a:r>
              <a:rPr lang="zh-CN" altLang="zh-CN" sz="1815">
                <a:solidFill>
                  <a:srgbClr val="CC0000"/>
                </a:solidFill>
                <a:ea typeface="宋体" pitchFamily="2" charset="-122"/>
              </a:rPr>
              <a:t>比较不同时期的美元数字</a:t>
            </a:r>
            <a:endParaRPr lang="zh-CN" altLang="zh-CN" sz="1815">
              <a:solidFill>
                <a:srgbClr val="CC0000"/>
              </a:solidFill>
              <a:ea typeface="宋体" pitchFamily="2" charset="-122"/>
            </a:endParaRPr>
          </a:p>
        </p:txBody>
      </p:sp>
      <p:sp>
        <p:nvSpPr>
          <p:cNvPr id="41991" name="FlagCount" hidden="1">
            <a:hlinkClick r:id="rId1" action="ppaction://hlinkfile"/>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41992" name="FlagCount" hidden="1">
            <a:hlinkClick r:id="rId2"/>
          </p:cNvPr>
          <p:cNvSpPr>
            <a:spLocks noChangeArrowheads="1"/>
          </p:cNvSpPr>
          <p:nvPr/>
        </p:nvSpPr>
        <p:spPr bwMode="auto">
          <a:xfrm>
            <a:off x="4418012" y="1291775"/>
            <a:ext cx="192088" cy="160073"/>
          </a:xfrm>
          <a:prstGeom prst="wedgeRoundRectCallout">
            <a:avLst>
              <a:gd name="adj1" fmla="val -177083"/>
              <a:gd name="adj2" fmla="val -656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
        <p:nvSpPr>
          <p:cNvPr id="41993" name="Text Box 6"/>
          <p:cNvSpPr txBox="1">
            <a:spLocks noChangeArrowheads="1"/>
          </p:cNvSpPr>
          <p:nvPr/>
        </p:nvSpPr>
        <p:spPr bwMode="auto">
          <a:xfrm>
            <a:off x="502629" y="837707"/>
            <a:ext cx="706722" cy="36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95000"/>
              </a:lnSpc>
              <a:spcBef>
                <a:spcPct val="50000"/>
              </a:spcBef>
              <a:spcAft>
                <a:spcPct val="0"/>
              </a:spcAft>
            </a:pPr>
            <a:r>
              <a:rPr lang="zh-CN" altLang="zh-CN" sz="1260">
                <a:solidFill>
                  <a:srgbClr val="000000"/>
                </a:solidFill>
                <a:ea typeface="宋体" pitchFamily="2" charset="-122"/>
              </a:rPr>
              <a:t>今天美元的数量</a:t>
            </a:r>
            <a:endParaRPr lang="zh-CN" altLang="zh-CN" sz="1260">
              <a:solidFill>
                <a:srgbClr val="000000"/>
              </a:solidFill>
              <a:ea typeface="宋体" pitchFamily="2" charset="-122"/>
            </a:endParaRPr>
          </a:p>
        </p:txBody>
      </p:sp>
      <p:sp>
        <p:nvSpPr>
          <p:cNvPr id="41994" name="Text Box 7"/>
          <p:cNvSpPr txBox="1">
            <a:spLocks noChangeArrowheads="1"/>
          </p:cNvSpPr>
          <p:nvPr/>
        </p:nvSpPr>
        <p:spPr bwMode="auto">
          <a:xfrm>
            <a:off x="1581521" y="834506"/>
            <a:ext cx="738737" cy="36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95000"/>
              </a:lnSpc>
              <a:spcBef>
                <a:spcPct val="50000"/>
              </a:spcBef>
              <a:spcAft>
                <a:spcPct val="0"/>
              </a:spcAft>
            </a:pPr>
            <a:r>
              <a:rPr lang="zh-CN" altLang="zh-CN" sz="1260" b="1" i="1">
                <a:solidFill>
                  <a:srgbClr val="000000"/>
                </a:solidFill>
                <a:ea typeface="宋体" pitchFamily="2" charset="-122"/>
              </a:rPr>
              <a:t>T</a:t>
            </a:r>
            <a:r>
              <a:rPr lang="zh-CN" altLang="zh-CN" sz="1260">
                <a:solidFill>
                  <a:srgbClr val="000000"/>
                </a:solidFill>
                <a:ea typeface="宋体" pitchFamily="2" charset="-122"/>
              </a:rPr>
              <a:t> 年美元的数量</a:t>
            </a:r>
            <a:endParaRPr lang="zh-CN" altLang="zh-CN" sz="1260">
              <a:solidFill>
                <a:srgbClr val="000000"/>
              </a:solidFill>
              <a:ea typeface="宋体" pitchFamily="2" charset="-122"/>
            </a:endParaRPr>
          </a:p>
        </p:txBody>
      </p:sp>
      <p:grpSp>
        <p:nvGrpSpPr>
          <p:cNvPr id="41995" name="Group 11"/>
          <p:cNvGrpSpPr/>
          <p:nvPr/>
        </p:nvGrpSpPr>
        <p:grpSpPr bwMode="auto">
          <a:xfrm>
            <a:off x="2710035" y="784344"/>
            <a:ext cx="1444658" cy="477018"/>
            <a:chOff x="0" y="-1"/>
            <a:chExt cx="1805" cy="596"/>
          </a:xfrm>
        </p:grpSpPr>
        <p:sp>
          <p:nvSpPr>
            <p:cNvPr id="41996" name="Text Box 9"/>
            <p:cNvSpPr txBox="1">
              <a:spLocks noChangeArrowheads="1"/>
            </p:cNvSpPr>
            <p:nvPr/>
          </p:nvSpPr>
          <p:spPr bwMode="auto">
            <a:xfrm>
              <a:off x="27" y="-1"/>
              <a:ext cx="173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260">
                  <a:solidFill>
                    <a:srgbClr val="000000"/>
                  </a:solidFill>
                  <a:ea typeface="宋体" pitchFamily="2" charset="-122"/>
                </a:rPr>
                <a:t>今天的物价水平</a:t>
              </a:r>
              <a:endParaRPr lang="zh-CN" altLang="zh-CN" sz="1260">
                <a:solidFill>
                  <a:srgbClr val="000000"/>
                </a:solidFill>
                <a:ea typeface="宋体" pitchFamily="2" charset="-122"/>
              </a:endParaRPr>
            </a:p>
          </p:txBody>
        </p:sp>
        <p:sp>
          <p:nvSpPr>
            <p:cNvPr id="41997" name="Text Box 10"/>
            <p:cNvSpPr txBox="1">
              <a:spLocks noChangeArrowheads="1"/>
            </p:cNvSpPr>
            <p:nvPr/>
          </p:nvSpPr>
          <p:spPr bwMode="auto">
            <a:xfrm>
              <a:off x="0" y="353"/>
              <a:ext cx="180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260" b="1" i="1">
                  <a:solidFill>
                    <a:srgbClr val="000000"/>
                  </a:solidFill>
                  <a:ea typeface="宋体" pitchFamily="2" charset="-122"/>
                </a:rPr>
                <a:t>T</a:t>
              </a:r>
              <a:r>
                <a:rPr lang="zh-CN" altLang="zh-CN" sz="1260">
                  <a:solidFill>
                    <a:srgbClr val="000000"/>
                  </a:solidFill>
                  <a:ea typeface="宋体" pitchFamily="2" charset="-122"/>
                </a:rPr>
                <a:t>年的物价水平</a:t>
              </a:r>
              <a:endParaRPr lang="zh-CN" altLang="zh-CN" sz="1260">
                <a:solidFill>
                  <a:srgbClr val="000000"/>
                </a:solidFill>
                <a:ea typeface="宋体" pitchFamily="2" charset="-122"/>
              </a:endParaRPr>
            </a:p>
          </p:txBody>
        </p:sp>
        <p:sp>
          <p:nvSpPr>
            <p:cNvPr id="41998" name="Line 11"/>
            <p:cNvSpPr>
              <a:spLocks noChangeShapeType="1"/>
            </p:cNvSpPr>
            <p:nvPr/>
          </p:nvSpPr>
          <p:spPr bwMode="auto">
            <a:xfrm>
              <a:off x="9" y="301"/>
              <a:ext cx="178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41999" name="Text Box 12"/>
          <p:cNvSpPr txBox="1">
            <a:spLocks noChangeArrowheads="1"/>
          </p:cNvSpPr>
          <p:nvPr/>
        </p:nvSpPr>
        <p:spPr bwMode="auto">
          <a:xfrm>
            <a:off x="1302993" y="921038"/>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260">
                <a:solidFill>
                  <a:srgbClr val="000000"/>
                </a:solidFill>
                <a:ea typeface="宋体" pitchFamily="2" charset="-122"/>
              </a:rPr>
              <a:t>=</a:t>
            </a:r>
            <a:endParaRPr lang="en-US" altLang="zh-CN" sz="1260">
              <a:solidFill>
                <a:srgbClr val="000000"/>
              </a:solidFill>
              <a:ea typeface="宋体" pitchFamily="2" charset="-122"/>
            </a:endParaRPr>
          </a:p>
        </p:txBody>
      </p:sp>
      <p:sp>
        <p:nvSpPr>
          <p:cNvPr id="42000" name="Text Box 13"/>
          <p:cNvSpPr txBox="1">
            <a:spLocks noChangeArrowheads="1"/>
          </p:cNvSpPr>
          <p:nvPr/>
        </p:nvSpPr>
        <p:spPr bwMode="auto">
          <a:xfrm>
            <a:off x="2429907" y="908232"/>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260">
                <a:solidFill>
                  <a:srgbClr val="000000"/>
                </a:solidFill>
                <a:ea typeface="宋体" pitchFamily="2" charset="-122"/>
              </a:rPr>
              <a:t>x</a:t>
            </a:r>
            <a:endParaRPr lang="en-US" altLang="zh-CN" sz="1260">
              <a:solidFill>
                <a:srgbClr val="000000"/>
              </a:solidFill>
              <a:ea typeface="宋体" pitchFamily="2" charset="-122"/>
            </a:endParaRPr>
          </a:p>
        </p:txBody>
      </p:sp>
      <p:sp>
        <p:nvSpPr>
          <p:cNvPr id="42001" name="Text Box 15"/>
          <p:cNvSpPr txBox="1">
            <a:spLocks noChangeArrowheads="1"/>
          </p:cNvSpPr>
          <p:nvPr/>
        </p:nvSpPr>
        <p:spPr bwMode="auto">
          <a:xfrm>
            <a:off x="2218611" y="2646556"/>
            <a:ext cx="515435" cy="198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95000"/>
              </a:lnSpc>
              <a:spcBef>
                <a:spcPct val="50000"/>
              </a:spcBef>
              <a:spcAft>
                <a:spcPct val="0"/>
              </a:spcAft>
            </a:pPr>
            <a:r>
              <a:rPr lang="en-US" altLang="zh-CN" sz="1360">
                <a:solidFill>
                  <a:srgbClr val="FF0000"/>
                </a:solidFill>
                <a:ea typeface="宋体" pitchFamily="2" charset="-122"/>
              </a:rPr>
              <a:t>$7.78</a:t>
            </a:r>
            <a:endParaRPr lang="en-US" altLang="zh-CN" sz="1360">
              <a:solidFill>
                <a:srgbClr val="FF0000"/>
              </a:solidFill>
              <a:ea typeface="宋体" pitchFamily="2" charset="-122"/>
            </a:endParaRPr>
          </a:p>
        </p:txBody>
      </p:sp>
      <p:sp>
        <p:nvSpPr>
          <p:cNvPr id="42002" name="Text Box 16"/>
          <p:cNvSpPr txBox="1">
            <a:spLocks noChangeArrowheads="1"/>
          </p:cNvSpPr>
          <p:nvPr/>
        </p:nvSpPr>
        <p:spPr bwMode="auto">
          <a:xfrm>
            <a:off x="2986161" y="2637752"/>
            <a:ext cx="439400" cy="198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95000"/>
              </a:lnSpc>
              <a:spcBef>
                <a:spcPct val="50000"/>
              </a:spcBef>
              <a:spcAft>
                <a:spcPct val="0"/>
              </a:spcAft>
            </a:pPr>
            <a:r>
              <a:rPr lang="en-US" altLang="zh-CN" sz="1360">
                <a:solidFill>
                  <a:srgbClr val="000000"/>
                </a:solidFill>
                <a:ea typeface="宋体" pitchFamily="2" charset="-122"/>
              </a:rPr>
              <a:t>$1.15</a:t>
            </a:r>
            <a:endParaRPr lang="en-US" altLang="zh-CN" sz="1360">
              <a:solidFill>
                <a:srgbClr val="000000"/>
              </a:solidFill>
              <a:ea typeface="宋体" pitchFamily="2" charset="-122"/>
            </a:endParaRPr>
          </a:p>
        </p:txBody>
      </p:sp>
      <p:grpSp>
        <p:nvGrpSpPr>
          <p:cNvPr id="42003" name="Group 19"/>
          <p:cNvGrpSpPr/>
          <p:nvPr/>
        </p:nvGrpSpPr>
        <p:grpSpPr bwMode="auto">
          <a:xfrm>
            <a:off x="3656866" y="2524728"/>
            <a:ext cx="450605" cy="422005"/>
            <a:chOff x="0" y="-2"/>
            <a:chExt cx="1805" cy="698"/>
          </a:xfrm>
        </p:grpSpPr>
        <p:sp>
          <p:nvSpPr>
            <p:cNvPr id="42004" name="Text Box 18"/>
            <p:cNvSpPr txBox="1">
              <a:spLocks noChangeArrowheads="1"/>
            </p:cNvSpPr>
            <p:nvPr/>
          </p:nvSpPr>
          <p:spPr bwMode="auto">
            <a:xfrm>
              <a:off x="26" y="-2"/>
              <a:ext cx="17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en-US" altLang="zh-CN" sz="1360">
                  <a:solidFill>
                    <a:srgbClr val="000000"/>
                  </a:solidFill>
                  <a:ea typeface="宋体" pitchFamily="2" charset="-122"/>
                </a:rPr>
                <a:t>211.7</a:t>
              </a:r>
              <a:endParaRPr lang="en-US" altLang="zh-CN" sz="1360">
                <a:solidFill>
                  <a:srgbClr val="000000"/>
                </a:solidFill>
                <a:ea typeface="宋体" pitchFamily="2" charset="-122"/>
              </a:endParaRPr>
            </a:p>
          </p:txBody>
        </p:sp>
        <p:sp>
          <p:nvSpPr>
            <p:cNvPr id="42005" name="Text Box 19"/>
            <p:cNvSpPr txBox="1">
              <a:spLocks noChangeArrowheads="1"/>
            </p:cNvSpPr>
            <p:nvPr/>
          </p:nvSpPr>
          <p:spPr bwMode="auto">
            <a:xfrm>
              <a:off x="0" y="350"/>
              <a:ext cx="180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en-US" altLang="zh-CN" sz="1360">
                  <a:solidFill>
                    <a:srgbClr val="000000"/>
                  </a:solidFill>
                  <a:ea typeface="宋体" pitchFamily="2" charset="-122"/>
                </a:rPr>
                <a:t>31.3</a:t>
              </a:r>
              <a:endParaRPr lang="en-US" altLang="zh-CN" sz="1360" b="1" i="1">
                <a:solidFill>
                  <a:srgbClr val="000000"/>
                </a:solidFill>
                <a:ea typeface="宋体" pitchFamily="2" charset="-122"/>
              </a:endParaRPr>
            </a:p>
          </p:txBody>
        </p:sp>
        <p:sp>
          <p:nvSpPr>
            <p:cNvPr id="42006" name="Line 20"/>
            <p:cNvSpPr>
              <a:spLocks noChangeShapeType="1"/>
            </p:cNvSpPr>
            <p:nvPr/>
          </p:nvSpPr>
          <p:spPr bwMode="auto">
            <a:xfrm>
              <a:off x="9" y="351"/>
              <a:ext cx="178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42007" name="Text Box 21"/>
          <p:cNvSpPr txBox="1">
            <a:spLocks noChangeArrowheads="1"/>
          </p:cNvSpPr>
          <p:nvPr/>
        </p:nvSpPr>
        <p:spPr bwMode="auto">
          <a:xfrm>
            <a:off x="2736447" y="2639421"/>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260">
                <a:solidFill>
                  <a:srgbClr val="000000"/>
                </a:solidFill>
                <a:ea typeface="宋体" pitchFamily="2" charset="-122"/>
              </a:rPr>
              <a:t>=</a:t>
            </a:r>
            <a:endParaRPr lang="en-US" altLang="zh-CN" sz="1260">
              <a:solidFill>
                <a:srgbClr val="000000"/>
              </a:solidFill>
              <a:ea typeface="宋体" pitchFamily="2" charset="-122"/>
            </a:endParaRPr>
          </a:p>
        </p:txBody>
      </p:sp>
      <p:sp>
        <p:nvSpPr>
          <p:cNvPr id="42008" name="Text Box 22"/>
          <p:cNvSpPr txBox="1">
            <a:spLocks noChangeArrowheads="1"/>
          </p:cNvSpPr>
          <p:nvPr/>
        </p:nvSpPr>
        <p:spPr bwMode="auto">
          <a:xfrm>
            <a:off x="3442368" y="2622613"/>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50000"/>
              </a:spcBef>
              <a:spcAft>
                <a:spcPct val="0"/>
              </a:spcAft>
            </a:pPr>
            <a:r>
              <a:rPr lang="en-US" altLang="zh-CN" sz="1260">
                <a:solidFill>
                  <a:srgbClr val="000000"/>
                </a:solidFill>
                <a:ea typeface="宋体" pitchFamily="2" charset="-122"/>
              </a:rPr>
              <a:t>x</a:t>
            </a:r>
            <a:endParaRPr lang="en-US" altLang="zh-CN" sz="1260">
              <a:solidFill>
                <a:srgbClr val="000000"/>
              </a:solidFill>
              <a:ea typeface="宋体" pitchFamily="2" charset="-122"/>
            </a:endParaRPr>
          </a:p>
        </p:txBody>
      </p:sp>
      <p:sp>
        <p:nvSpPr>
          <p:cNvPr id="42009" name="Text Box 23"/>
          <p:cNvSpPr txBox="1">
            <a:spLocks noChangeArrowheads="1"/>
          </p:cNvSpPr>
          <p:nvPr/>
        </p:nvSpPr>
        <p:spPr bwMode="auto">
          <a:xfrm>
            <a:off x="245712" y="2475514"/>
            <a:ext cx="1897664" cy="68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lnSpc>
                <a:spcPct val="105000"/>
              </a:lnSpc>
              <a:spcBef>
                <a:spcPct val="50000"/>
              </a:spcBef>
              <a:spcAft>
                <a:spcPct val="0"/>
              </a:spcAft>
            </a:pPr>
            <a:r>
              <a:rPr lang="zh-CN" altLang="zh-CN" sz="1260" dirty="0">
                <a:solidFill>
                  <a:srgbClr val="CC0000"/>
                </a:solidFill>
                <a:ea typeface="宋体" pitchFamily="2" charset="-122"/>
              </a:rPr>
              <a:t>1964的最低工资在今天（20</a:t>
            </a:r>
            <a:r>
              <a:rPr lang="en-US" altLang="zh-CN" sz="1260" dirty="0">
                <a:solidFill>
                  <a:srgbClr val="CC0000"/>
                </a:solidFill>
                <a:ea typeface="宋体" pitchFamily="2" charset="-122"/>
              </a:rPr>
              <a:t>22</a:t>
            </a:r>
            <a:r>
              <a:rPr lang="zh-CN" altLang="zh-CN" sz="1260" dirty="0">
                <a:solidFill>
                  <a:srgbClr val="CC0000"/>
                </a:solidFill>
                <a:ea typeface="宋体" pitchFamily="2" charset="-122"/>
              </a:rPr>
              <a:t>）是 $7.78</a:t>
            </a:r>
            <a:r>
              <a:rPr lang="zh-CN" altLang="zh-CN" sz="1260" i="1" dirty="0">
                <a:solidFill>
                  <a:srgbClr val="CC0000"/>
                </a:solidFill>
                <a:ea typeface="宋体" pitchFamily="2" charset="-122"/>
              </a:rPr>
              <a:t> </a:t>
            </a:r>
            <a:br>
              <a:rPr lang="zh-CN" altLang="zh-CN" sz="1260" i="1" dirty="0">
                <a:solidFill>
                  <a:srgbClr val="CC0000"/>
                </a:solidFill>
                <a:ea typeface="宋体" pitchFamily="2" charset="-122"/>
              </a:rPr>
            </a:br>
            <a:endParaRPr lang="zh-CN" altLang="zh-CN" sz="1260" i="1" dirty="0">
              <a:solidFill>
                <a:srgbClr val="CC0000"/>
              </a:solidFill>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wipe(left)">
                                      <p:cBhvr>
                                        <p:cTn id="7" dur="500"/>
                                        <p:tgtEl>
                                          <p:spTgt spid="41988">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988">
                                            <p:txEl>
                                              <p:pRg st="1" end="1"/>
                                            </p:txEl>
                                          </p:spTgt>
                                        </p:tgtEl>
                                        <p:attrNameLst>
                                          <p:attrName>style.visibility</p:attrName>
                                        </p:attrNameLst>
                                      </p:cBhvr>
                                      <p:to>
                                        <p:strVal val="visible"/>
                                      </p:to>
                                    </p:set>
                                    <p:animEffect transition="in" filter="wipe(left)">
                                      <p:cBhvr>
                                        <p:cTn id="11" dur="500"/>
                                        <p:tgtEl>
                                          <p:spTgt spid="4198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1988">
                                            <p:txEl>
                                              <p:pRg st="2" end="2"/>
                                            </p:txEl>
                                          </p:spTgt>
                                        </p:tgtEl>
                                        <p:attrNameLst>
                                          <p:attrName>style.visibility</p:attrName>
                                        </p:attrNameLst>
                                      </p:cBhvr>
                                      <p:to>
                                        <p:strVal val="visible"/>
                                      </p:to>
                                    </p:set>
                                    <p:animEffect transition="in" filter="wipe(left)">
                                      <p:cBhvr>
                                        <p:cTn id="16" dur="500"/>
                                        <p:tgtEl>
                                          <p:spTgt spid="41988">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1988">
                                            <p:txEl>
                                              <p:pRg st="3" end="3"/>
                                            </p:txEl>
                                          </p:spTgt>
                                        </p:tgtEl>
                                        <p:attrNameLst>
                                          <p:attrName>style.visibility</p:attrName>
                                        </p:attrNameLst>
                                      </p:cBhvr>
                                      <p:to>
                                        <p:strVal val="visible"/>
                                      </p:to>
                                    </p:set>
                                    <p:animEffect transition="in" filter="wipe(left)">
                                      <p:cBhvr>
                                        <p:cTn id="21" dur="500"/>
                                        <p:tgtEl>
                                          <p:spTgt spid="41988">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2002"/>
                                        </p:tgtEl>
                                        <p:attrNameLst>
                                          <p:attrName>style.visibility</p:attrName>
                                        </p:attrNameLst>
                                      </p:cBhvr>
                                      <p:to>
                                        <p:strVal val="visible"/>
                                      </p:to>
                                    </p:set>
                                    <p:animEffect transition="in" filter="fade">
                                      <p:cBhvr>
                                        <p:cTn id="26" dur="500"/>
                                        <p:tgtEl>
                                          <p:spTgt spid="42002"/>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42008"/>
                                        </p:tgtEl>
                                        <p:attrNameLst>
                                          <p:attrName>style.visibility</p:attrName>
                                        </p:attrNameLst>
                                      </p:cBhvr>
                                      <p:to>
                                        <p:strVal val="visible"/>
                                      </p:to>
                                    </p:set>
                                    <p:animEffect transition="in" filter="fade">
                                      <p:cBhvr>
                                        <p:cTn id="30" dur="500"/>
                                        <p:tgtEl>
                                          <p:spTgt spid="42008"/>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42003"/>
                                        </p:tgtEl>
                                        <p:attrNameLst>
                                          <p:attrName>style.visibility</p:attrName>
                                        </p:attrNameLst>
                                      </p:cBhvr>
                                      <p:to>
                                        <p:strVal val="visible"/>
                                      </p:to>
                                    </p:set>
                                    <p:animEffect transition="in" filter="fade">
                                      <p:cBhvr>
                                        <p:cTn id="34" dur="500"/>
                                        <p:tgtEl>
                                          <p:spTgt spid="42003"/>
                                        </p:tgtEl>
                                      </p:cBhvr>
                                    </p:animEffect>
                                  </p:childTnLst>
                                </p:cTn>
                              </p:par>
                            </p:childTnLst>
                          </p:cTn>
                        </p:par>
                        <p:par>
                          <p:cTn id="35" fill="hold">
                            <p:stCondLst>
                              <p:cond delay="1500"/>
                            </p:stCondLst>
                            <p:childTnLst>
                              <p:par>
                                <p:cTn id="36" presetID="10" presetClass="entr" presetSubtype="0" fill="hold" nodeType="afterEffect">
                                  <p:stCondLst>
                                    <p:cond delay="0"/>
                                  </p:stCondLst>
                                  <p:childTnLst>
                                    <p:set>
                                      <p:cBhvr>
                                        <p:cTn id="37" dur="1" fill="hold">
                                          <p:stCondLst>
                                            <p:cond delay="0"/>
                                          </p:stCondLst>
                                        </p:cTn>
                                        <p:tgtEl>
                                          <p:spTgt spid="42007"/>
                                        </p:tgtEl>
                                        <p:attrNameLst>
                                          <p:attrName>style.visibility</p:attrName>
                                        </p:attrNameLst>
                                      </p:cBhvr>
                                      <p:to>
                                        <p:strVal val="visible"/>
                                      </p:to>
                                    </p:set>
                                    <p:animEffect transition="in" filter="fade">
                                      <p:cBhvr>
                                        <p:cTn id="38" dur="500"/>
                                        <p:tgtEl>
                                          <p:spTgt spid="42007"/>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42001"/>
                                        </p:tgtEl>
                                        <p:attrNameLst>
                                          <p:attrName>style.visibility</p:attrName>
                                        </p:attrNameLst>
                                      </p:cBhvr>
                                      <p:to>
                                        <p:strVal val="visible"/>
                                      </p:to>
                                    </p:set>
                                    <p:animEffect transition="in" filter="fade">
                                      <p:cBhvr>
                                        <p:cTn id="42" dur="500"/>
                                        <p:tgtEl>
                                          <p:spTgt spid="42001"/>
                                        </p:tgtEl>
                                      </p:cBhvr>
                                    </p:animEffect>
                                  </p:childTnLst>
                                </p:cTn>
                              </p:par>
                            </p:childTnLst>
                          </p:cTn>
                        </p:par>
                        <p:par>
                          <p:cTn id="43" fill="hold">
                            <p:stCondLst>
                              <p:cond delay="2500"/>
                            </p:stCondLst>
                            <p:childTnLst>
                              <p:par>
                                <p:cTn id="44" presetID="10" presetClass="entr" presetSubtype="0" fill="hold" nodeType="afterEffect">
                                  <p:stCondLst>
                                    <p:cond delay="0"/>
                                  </p:stCondLst>
                                  <p:childTnLst>
                                    <p:set>
                                      <p:cBhvr>
                                        <p:cTn id="45" dur="1" fill="hold">
                                          <p:stCondLst>
                                            <p:cond delay="0"/>
                                          </p:stCondLst>
                                        </p:cTn>
                                        <p:tgtEl>
                                          <p:spTgt spid="42009"/>
                                        </p:tgtEl>
                                        <p:attrNameLst>
                                          <p:attrName>style.visibility</p:attrName>
                                        </p:attrNameLst>
                                      </p:cBhvr>
                                      <p:to>
                                        <p:strVal val="visible"/>
                                      </p:to>
                                    </p:set>
                                    <p:animEffect transition="in" filter="fade">
                                      <p:cBhvr>
                                        <p:cTn id="46" dur="500"/>
                                        <p:tgtEl>
                                          <p:spTgt spid="42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ldLvl="4" autoUpdateAnimBg="0" build="p"/>
      <p:bldP spid="42001" grpId="0" autoUpdateAnimBg="0"/>
      <p:bldP spid="42002" grpId="0" autoUpdateAnimBg="0"/>
      <p:bldP spid="42007" grpId="0" autoUpdateAnimBg="0"/>
      <p:bldP spid="42008" grpId="0" autoUpdateAnimBg="0"/>
      <p:bldP spid="4200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44035"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65DFD070-12F1-0546-B446-139104D5CB6C}"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44036" name="Rectangle 2"/>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a:ea typeface="宋体" pitchFamily="2" charset="-122"/>
              </a:rPr>
              <a:t>根据通货膨胀的影响校正经济变量：</a:t>
            </a:r>
            <a:br>
              <a:rPr lang="zh-CN" altLang="zh-CN" sz="1815">
                <a:ea typeface="宋体" pitchFamily="2" charset="-122"/>
              </a:rPr>
            </a:br>
            <a:r>
              <a:rPr lang="zh-CN" altLang="zh-CN" sz="1815">
                <a:solidFill>
                  <a:srgbClr val="CC0000"/>
                </a:solidFill>
                <a:ea typeface="宋体" pitchFamily="2" charset="-122"/>
              </a:rPr>
              <a:t>比较不同时期的美元数字</a:t>
            </a:r>
            <a:endParaRPr lang="zh-CN" altLang="zh-CN" sz="1815">
              <a:solidFill>
                <a:srgbClr val="CC0000"/>
              </a:solidFill>
              <a:ea typeface="宋体" pitchFamily="2" charset="-122"/>
            </a:endParaRPr>
          </a:p>
        </p:txBody>
      </p:sp>
      <p:sp>
        <p:nvSpPr>
          <p:cNvPr id="44037" name="Rectangle 3"/>
          <p:cNvSpPr>
            <a:spLocks noGrp="1" noChangeArrowheads="1"/>
          </p:cNvSpPr>
          <p:nvPr>
            <p:ph type="body" idx="4294967295"/>
          </p:nvPr>
        </p:nvSpPr>
        <p:spPr>
          <a:xfrm>
            <a:off x="168076" y="892394"/>
            <a:ext cx="4191510" cy="2062117"/>
          </a:xfrm>
        </p:spPr>
        <p:txBody>
          <a:bodyPr/>
          <a:lstStyle/>
          <a:p>
            <a:pPr eaLnBrk="1" hangingPunct="1">
              <a:lnSpc>
                <a:spcPct val="85000"/>
              </a:lnSpc>
            </a:pPr>
            <a:r>
              <a:rPr lang="zh-CN" altLang="zh-CN" dirty="0">
                <a:ea typeface="宋体" pitchFamily="2" charset="-122"/>
              </a:rPr>
              <a:t>研究人员，商业分析师和政策制定者经常使用这种方法把一个时间序列的当期美元数字（名义）转换为不变美元（真实）数字  </a:t>
            </a:r>
            <a:endParaRPr lang="zh-CN" altLang="zh-CN" dirty="0">
              <a:ea typeface="宋体" pitchFamily="2" charset="-122"/>
            </a:endParaRPr>
          </a:p>
          <a:p>
            <a:pPr eaLnBrk="1" hangingPunct="1">
              <a:lnSpc>
                <a:spcPct val="85000"/>
              </a:lnSpc>
            </a:pPr>
            <a:r>
              <a:rPr lang="zh-CN" altLang="zh-CN" dirty="0">
                <a:ea typeface="宋体" pitchFamily="2" charset="-122"/>
              </a:rPr>
              <a:t>他们可以看到一个变量在根据通货膨胀的影响校正后是如何变化的 </a:t>
            </a:r>
            <a:endParaRPr lang="zh-CN" altLang="zh-CN" dirty="0">
              <a:ea typeface="宋体" pitchFamily="2" charset="-122"/>
            </a:endParaRPr>
          </a:p>
          <a:p>
            <a:pPr eaLnBrk="1" hangingPunct="1">
              <a:lnSpc>
                <a:spcPct val="85000"/>
              </a:lnSpc>
            </a:pPr>
            <a:r>
              <a:rPr lang="zh-CN" altLang="zh-CN" dirty="0">
                <a:ea typeface="宋体" pitchFamily="2" charset="-122"/>
              </a:rPr>
              <a:t>例如：最低工资，从1950年1月转换到20</a:t>
            </a:r>
            <a:r>
              <a:rPr lang="en-US" altLang="zh-CN" dirty="0">
                <a:ea typeface="宋体" pitchFamily="2" charset="-122"/>
              </a:rPr>
              <a:t>22</a:t>
            </a:r>
            <a:r>
              <a:rPr lang="zh-CN" altLang="zh-CN" dirty="0">
                <a:ea typeface="宋体" pitchFamily="2" charset="-122"/>
              </a:rPr>
              <a:t>年12月…..</a:t>
            </a:r>
            <a:endParaRPr lang="zh-CN" altLang="zh-CN" dirty="0">
              <a:ea typeface="宋体" pitchFamily="2" charset="-122"/>
            </a:endParaRPr>
          </a:p>
        </p:txBody>
      </p:sp>
      <p:sp>
        <p:nvSpPr>
          <p:cNvPr id="44038" name="FlagCount" hidden="1">
            <a:hlinkClick r:id="rId1" action="ppaction://hlinkfile"/>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bg bwMode="auto">
      <p:bgPr>
        <a:solidFill>
          <a:srgbClr val="CCFFCC"/>
        </a:solidFill>
        <a:effectLst/>
      </p:bgPr>
    </p:bg>
    <p:spTree>
      <p:nvGrpSpPr>
        <p:cNvPr id="1" name=""/>
        <p:cNvGrpSpPr/>
        <p:nvPr/>
      </p:nvGrpSpPr>
      <p:grpSpPr>
        <a:xfrm>
          <a:off x="0" y="0"/>
          <a:ext cx="0" cy="0"/>
          <a:chOff x="0" y="0"/>
          <a:chExt cx="0" cy="0"/>
        </a:xfrm>
      </p:grpSpPr>
      <p:sp>
        <p:nvSpPr>
          <p:cNvPr id="46082" name="Rectangle 4"/>
          <p:cNvSpPr>
            <a:spLocks noGrp="1" noChangeArrowheads="1"/>
          </p:cNvSpPr>
          <p:nvPr>
            <p:ph type="title" idx="4294967295"/>
          </p:nvPr>
        </p:nvSpPr>
        <p:spPr>
          <a:xfrm>
            <a:off x="0" y="128846"/>
            <a:ext cx="4610100" cy="343356"/>
          </a:xfrm>
        </p:spPr>
        <p:txBody>
          <a:bodyPr/>
          <a:lstStyle/>
          <a:p>
            <a:pPr eaLnBrk="1" hangingPunct="1"/>
            <a:r>
              <a:rPr lang="zh-CN" altLang="zh-CN" sz="1815">
                <a:ea typeface="宋体" pitchFamily="2" charset="-122"/>
              </a:rPr>
              <a:t>用目前的美元和2007年的美元计算美国的最低工资，1950-2007</a:t>
            </a:r>
            <a:endParaRPr lang="zh-CN" altLang="zh-CN" sz="1815">
              <a:ea typeface="宋体" pitchFamily="2" charset="-122"/>
            </a:endParaRPr>
          </a:p>
        </p:txBody>
      </p:sp>
      <p:sp>
        <p:nvSpPr>
          <p:cNvPr id="46083" name="Text Box 7"/>
          <p:cNvSpPr txBox="1">
            <a:spLocks noChangeArrowheads="1"/>
          </p:cNvSpPr>
          <p:nvPr/>
        </p:nvSpPr>
        <p:spPr bwMode="auto">
          <a:xfrm rot="16200000">
            <a:off x="-263502" y="966054"/>
            <a:ext cx="995705" cy="263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110" dirty="0">
                <a:solidFill>
                  <a:srgbClr val="000000"/>
                </a:solidFill>
                <a:ea typeface="宋体" pitchFamily="2" charset="-122"/>
              </a:rPr>
              <a:t> 每小时工资</a:t>
            </a:r>
            <a:endParaRPr lang="zh-CN" altLang="zh-CN" sz="1110" dirty="0">
              <a:solidFill>
                <a:srgbClr val="000000"/>
              </a:solidFill>
              <a:ea typeface="宋体" pitchFamily="2" charset="-122"/>
            </a:endParaRPr>
          </a:p>
        </p:txBody>
      </p:sp>
      <p:sp>
        <p:nvSpPr>
          <p:cNvPr id="46084" name="AutoShape 8"/>
          <p:cNvSpPr>
            <a:spLocks noChangeAspect="1" noChangeArrowheads="1" noTextEdit="1"/>
          </p:cNvSpPr>
          <p:nvPr/>
        </p:nvSpPr>
        <p:spPr bwMode="auto">
          <a:xfrm>
            <a:off x="405785" y="572248"/>
            <a:ext cx="4204315" cy="2805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6085" name="Rectangle 10"/>
          <p:cNvSpPr>
            <a:spLocks noChangeArrowheads="1"/>
          </p:cNvSpPr>
          <p:nvPr/>
        </p:nvSpPr>
        <p:spPr bwMode="auto">
          <a:xfrm>
            <a:off x="652297" y="646681"/>
            <a:ext cx="3738503" cy="24427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86" name="Freeform 11"/>
          <p:cNvSpPr>
            <a:spLocks noEditPoints="1"/>
          </p:cNvSpPr>
          <p:nvPr/>
        </p:nvSpPr>
        <p:spPr bwMode="auto">
          <a:xfrm>
            <a:off x="647495" y="646681"/>
            <a:ext cx="3748107" cy="2446715"/>
          </a:xfrm>
          <a:custGeom>
            <a:avLst/>
            <a:gdLst>
              <a:gd name="T0" fmla="*/ 0 w 4683"/>
              <a:gd name="T1" fmla="*/ 0 h 3057"/>
              <a:gd name="T2" fmla="*/ 0 w 4683"/>
              <a:gd name="T3" fmla="*/ 0 h 3057"/>
              <a:gd name="T4" fmla="*/ 4677 w 4683"/>
              <a:gd name="T5" fmla="*/ 0 h 3057"/>
              <a:gd name="T6" fmla="*/ 4683 w 4683"/>
              <a:gd name="T7" fmla="*/ 0 h 3057"/>
              <a:gd name="T8" fmla="*/ 4683 w 4683"/>
              <a:gd name="T9" fmla="*/ 3052 h 3057"/>
              <a:gd name="T10" fmla="*/ 4677 w 4683"/>
              <a:gd name="T11" fmla="*/ 3057 h 3057"/>
              <a:gd name="T12" fmla="*/ 0 w 4683"/>
              <a:gd name="T13" fmla="*/ 3057 h 3057"/>
              <a:gd name="T14" fmla="*/ 0 w 4683"/>
              <a:gd name="T15" fmla="*/ 3052 h 3057"/>
              <a:gd name="T16" fmla="*/ 0 w 4683"/>
              <a:gd name="T17" fmla="*/ 0 h 3057"/>
              <a:gd name="T18" fmla="*/ 6 w 4683"/>
              <a:gd name="T19" fmla="*/ 3052 h 3057"/>
              <a:gd name="T20" fmla="*/ 0 w 4683"/>
              <a:gd name="T21" fmla="*/ 3052 h 3057"/>
              <a:gd name="T22" fmla="*/ 4677 w 4683"/>
              <a:gd name="T23" fmla="*/ 3052 h 3057"/>
              <a:gd name="T24" fmla="*/ 4677 w 4683"/>
              <a:gd name="T25" fmla="*/ 3052 h 3057"/>
              <a:gd name="T26" fmla="*/ 4677 w 4683"/>
              <a:gd name="T27" fmla="*/ 0 h 3057"/>
              <a:gd name="T28" fmla="*/ 4677 w 4683"/>
              <a:gd name="T29" fmla="*/ 6 h 3057"/>
              <a:gd name="T30" fmla="*/ 0 w 4683"/>
              <a:gd name="T31" fmla="*/ 6 h 3057"/>
              <a:gd name="T32" fmla="*/ 6 w 4683"/>
              <a:gd name="T33" fmla="*/ 0 h 3057"/>
              <a:gd name="T34" fmla="*/ 6 w 4683"/>
              <a:gd name="T35" fmla="*/ 3052 h 305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83"/>
              <a:gd name="T55" fmla="*/ 0 h 3057"/>
              <a:gd name="T56" fmla="*/ 4683 w 4683"/>
              <a:gd name="T57" fmla="*/ 3057 h 305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83" h="3057">
                <a:moveTo>
                  <a:pt x="0" y="0"/>
                </a:moveTo>
                <a:lnTo>
                  <a:pt x="0" y="0"/>
                </a:lnTo>
                <a:lnTo>
                  <a:pt x="4677" y="0"/>
                </a:lnTo>
                <a:lnTo>
                  <a:pt x="4683" y="0"/>
                </a:lnTo>
                <a:lnTo>
                  <a:pt x="4683" y="3052"/>
                </a:lnTo>
                <a:lnTo>
                  <a:pt x="4677" y="3057"/>
                </a:lnTo>
                <a:lnTo>
                  <a:pt x="0" y="3057"/>
                </a:lnTo>
                <a:lnTo>
                  <a:pt x="0" y="3052"/>
                </a:lnTo>
                <a:lnTo>
                  <a:pt x="0" y="0"/>
                </a:lnTo>
                <a:close/>
                <a:moveTo>
                  <a:pt x="6" y="3052"/>
                </a:moveTo>
                <a:lnTo>
                  <a:pt x="0" y="3052"/>
                </a:lnTo>
                <a:lnTo>
                  <a:pt x="4677" y="3052"/>
                </a:lnTo>
                <a:lnTo>
                  <a:pt x="4677" y="0"/>
                </a:lnTo>
                <a:lnTo>
                  <a:pt x="4677" y="6"/>
                </a:lnTo>
                <a:lnTo>
                  <a:pt x="0" y="6"/>
                </a:lnTo>
                <a:lnTo>
                  <a:pt x="6" y="0"/>
                </a:lnTo>
                <a:lnTo>
                  <a:pt x="6" y="3052"/>
                </a:lnTo>
                <a:close/>
              </a:path>
            </a:pathLst>
          </a:custGeom>
          <a:solidFill>
            <a:srgbClr val="808080"/>
          </a:solidFill>
          <a:ln w="9525">
            <a:solidFill>
              <a:srgbClr val="808080"/>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87" name="Rectangle 12"/>
          <p:cNvSpPr>
            <a:spLocks noChangeArrowheads="1"/>
          </p:cNvSpPr>
          <p:nvPr/>
        </p:nvSpPr>
        <p:spPr bwMode="auto">
          <a:xfrm>
            <a:off x="647496" y="646681"/>
            <a:ext cx="4802" cy="2442713"/>
          </a:xfrm>
          <a:prstGeom prst="rect">
            <a:avLst/>
          </a:prstGeom>
          <a:solidFill>
            <a:srgbClr val="000000"/>
          </a:solidFill>
          <a:ln w="9525">
            <a:solidFill>
              <a:srgbClr val="000000"/>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88" name="Freeform 13"/>
          <p:cNvSpPr>
            <a:spLocks noEditPoints="1"/>
          </p:cNvSpPr>
          <p:nvPr/>
        </p:nvSpPr>
        <p:spPr bwMode="auto">
          <a:xfrm>
            <a:off x="610679" y="646681"/>
            <a:ext cx="36817" cy="2446715"/>
          </a:xfrm>
          <a:custGeom>
            <a:avLst/>
            <a:gdLst>
              <a:gd name="T0" fmla="*/ 0 w 46"/>
              <a:gd name="T1" fmla="*/ 3052 h 3057"/>
              <a:gd name="T2" fmla="*/ 46 w 46"/>
              <a:gd name="T3" fmla="*/ 3052 h 3057"/>
              <a:gd name="T4" fmla="*/ 46 w 46"/>
              <a:gd name="T5" fmla="*/ 3057 h 3057"/>
              <a:gd name="T6" fmla="*/ 0 w 46"/>
              <a:gd name="T7" fmla="*/ 3057 h 3057"/>
              <a:gd name="T8" fmla="*/ 0 w 46"/>
              <a:gd name="T9" fmla="*/ 3052 h 3057"/>
              <a:gd name="T10" fmla="*/ 0 w 46"/>
              <a:gd name="T11" fmla="*/ 2714 h 3057"/>
              <a:gd name="T12" fmla="*/ 46 w 46"/>
              <a:gd name="T13" fmla="*/ 2714 h 3057"/>
              <a:gd name="T14" fmla="*/ 46 w 46"/>
              <a:gd name="T15" fmla="*/ 2720 h 3057"/>
              <a:gd name="T16" fmla="*/ 0 w 46"/>
              <a:gd name="T17" fmla="*/ 2720 h 3057"/>
              <a:gd name="T18" fmla="*/ 0 w 46"/>
              <a:gd name="T19" fmla="*/ 2714 h 3057"/>
              <a:gd name="T20" fmla="*/ 0 w 46"/>
              <a:gd name="T21" fmla="*/ 2372 h 3057"/>
              <a:gd name="T22" fmla="*/ 46 w 46"/>
              <a:gd name="T23" fmla="*/ 2372 h 3057"/>
              <a:gd name="T24" fmla="*/ 46 w 46"/>
              <a:gd name="T25" fmla="*/ 2377 h 3057"/>
              <a:gd name="T26" fmla="*/ 0 w 46"/>
              <a:gd name="T27" fmla="*/ 2377 h 3057"/>
              <a:gd name="T28" fmla="*/ 0 w 46"/>
              <a:gd name="T29" fmla="*/ 2372 h 3057"/>
              <a:gd name="T30" fmla="*/ 0 w 46"/>
              <a:gd name="T31" fmla="*/ 2034 h 3057"/>
              <a:gd name="T32" fmla="*/ 46 w 46"/>
              <a:gd name="T33" fmla="*/ 2034 h 3057"/>
              <a:gd name="T34" fmla="*/ 46 w 46"/>
              <a:gd name="T35" fmla="*/ 2040 h 3057"/>
              <a:gd name="T36" fmla="*/ 0 w 46"/>
              <a:gd name="T37" fmla="*/ 2040 h 3057"/>
              <a:gd name="T38" fmla="*/ 0 w 46"/>
              <a:gd name="T39" fmla="*/ 2034 h 3057"/>
              <a:gd name="T40" fmla="*/ 0 w 46"/>
              <a:gd name="T41" fmla="*/ 1697 h 3057"/>
              <a:gd name="T42" fmla="*/ 46 w 46"/>
              <a:gd name="T43" fmla="*/ 1697 h 3057"/>
              <a:gd name="T44" fmla="*/ 46 w 46"/>
              <a:gd name="T45" fmla="*/ 1703 h 3057"/>
              <a:gd name="T46" fmla="*/ 0 w 46"/>
              <a:gd name="T47" fmla="*/ 1703 h 3057"/>
              <a:gd name="T48" fmla="*/ 0 w 46"/>
              <a:gd name="T49" fmla="*/ 1697 h 3057"/>
              <a:gd name="T50" fmla="*/ 0 w 46"/>
              <a:gd name="T51" fmla="*/ 1354 h 3057"/>
              <a:gd name="T52" fmla="*/ 46 w 46"/>
              <a:gd name="T53" fmla="*/ 1354 h 3057"/>
              <a:gd name="T54" fmla="*/ 46 w 46"/>
              <a:gd name="T55" fmla="*/ 1360 h 3057"/>
              <a:gd name="T56" fmla="*/ 0 w 46"/>
              <a:gd name="T57" fmla="*/ 1360 h 3057"/>
              <a:gd name="T58" fmla="*/ 0 w 46"/>
              <a:gd name="T59" fmla="*/ 1354 h 3057"/>
              <a:gd name="T60" fmla="*/ 0 w 46"/>
              <a:gd name="T61" fmla="*/ 1017 h 3057"/>
              <a:gd name="T62" fmla="*/ 46 w 46"/>
              <a:gd name="T63" fmla="*/ 1017 h 3057"/>
              <a:gd name="T64" fmla="*/ 46 w 46"/>
              <a:gd name="T65" fmla="*/ 1023 h 3057"/>
              <a:gd name="T66" fmla="*/ 0 w 46"/>
              <a:gd name="T67" fmla="*/ 1023 h 3057"/>
              <a:gd name="T68" fmla="*/ 0 w 46"/>
              <a:gd name="T69" fmla="*/ 1017 h 3057"/>
              <a:gd name="T70" fmla="*/ 0 w 46"/>
              <a:gd name="T71" fmla="*/ 680 h 3057"/>
              <a:gd name="T72" fmla="*/ 46 w 46"/>
              <a:gd name="T73" fmla="*/ 680 h 3057"/>
              <a:gd name="T74" fmla="*/ 46 w 46"/>
              <a:gd name="T75" fmla="*/ 686 h 3057"/>
              <a:gd name="T76" fmla="*/ 0 w 46"/>
              <a:gd name="T77" fmla="*/ 686 h 3057"/>
              <a:gd name="T78" fmla="*/ 0 w 46"/>
              <a:gd name="T79" fmla="*/ 680 h 3057"/>
              <a:gd name="T80" fmla="*/ 0 w 46"/>
              <a:gd name="T81" fmla="*/ 337 h 3057"/>
              <a:gd name="T82" fmla="*/ 46 w 46"/>
              <a:gd name="T83" fmla="*/ 337 h 3057"/>
              <a:gd name="T84" fmla="*/ 46 w 46"/>
              <a:gd name="T85" fmla="*/ 343 h 3057"/>
              <a:gd name="T86" fmla="*/ 0 w 46"/>
              <a:gd name="T87" fmla="*/ 343 h 3057"/>
              <a:gd name="T88" fmla="*/ 0 w 46"/>
              <a:gd name="T89" fmla="*/ 337 h 3057"/>
              <a:gd name="T90" fmla="*/ 0 w 46"/>
              <a:gd name="T91" fmla="*/ 0 h 3057"/>
              <a:gd name="T92" fmla="*/ 46 w 46"/>
              <a:gd name="T93" fmla="*/ 0 h 3057"/>
              <a:gd name="T94" fmla="*/ 46 w 46"/>
              <a:gd name="T95" fmla="*/ 6 h 3057"/>
              <a:gd name="T96" fmla="*/ 0 w 46"/>
              <a:gd name="T97" fmla="*/ 6 h 3057"/>
              <a:gd name="T98" fmla="*/ 0 w 46"/>
              <a:gd name="T99" fmla="*/ 0 h 305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
              <a:gd name="T151" fmla="*/ 0 h 3057"/>
              <a:gd name="T152" fmla="*/ 46 w 46"/>
              <a:gd name="T153" fmla="*/ 3057 h 305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 h="3057">
                <a:moveTo>
                  <a:pt x="0" y="3052"/>
                </a:moveTo>
                <a:lnTo>
                  <a:pt x="46" y="3052"/>
                </a:lnTo>
                <a:lnTo>
                  <a:pt x="46" y="3057"/>
                </a:lnTo>
                <a:lnTo>
                  <a:pt x="0" y="3057"/>
                </a:lnTo>
                <a:lnTo>
                  <a:pt x="0" y="3052"/>
                </a:lnTo>
                <a:close/>
                <a:moveTo>
                  <a:pt x="0" y="2714"/>
                </a:moveTo>
                <a:lnTo>
                  <a:pt x="46" y="2714"/>
                </a:lnTo>
                <a:lnTo>
                  <a:pt x="46" y="2720"/>
                </a:lnTo>
                <a:lnTo>
                  <a:pt x="0" y="2720"/>
                </a:lnTo>
                <a:lnTo>
                  <a:pt x="0" y="2714"/>
                </a:lnTo>
                <a:close/>
                <a:moveTo>
                  <a:pt x="0" y="2372"/>
                </a:moveTo>
                <a:lnTo>
                  <a:pt x="46" y="2372"/>
                </a:lnTo>
                <a:lnTo>
                  <a:pt x="46" y="2377"/>
                </a:lnTo>
                <a:lnTo>
                  <a:pt x="0" y="2377"/>
                </a:lnTo>
                <a:lnTo>
                  <a:pt x="0" y="2372"/>
                </a:lnTo>
                <a:close/>
                <a:moveTo>
                  <a:pt x="0" y="2034"/>
                </a:moveTo>
                <a:lnTo>
                  <a:pt x="46" y="2034"/>
                </a:lnTo>
                <a:lnTo>
                  <a:pt x="46" y="2040"/>
                </a:lnTo>
                <a:lnTo>
                  <a:pt x="0" y="2040"/>
                </a:lnTo>
                <a:lnTo>
                  <a:pt x="0" y="2034"/>
                </a:lnTo>
                <a:close/>
                <a:moveTo>
                  <a:pt x="0" y="1697"/>
                </a:moveTo>
                <a:lnTo>
                  <a:pt x="46" y="1697"/>
                </a:lnTo>
                <a:lnTo>
                  <a:pt x="46" y="1703"/>
                </a:lnTo>
                <a:lnTo>
                  <a:pt x="0" y="1703"/>
                </a:lnTo>
                <a:lnTo>
                  <a:pt x="0" y="1697"/>
                </a:lnTo>
                <a:close/>
                <a:moveTo>
                  <a:pt x="0" y="1354"/>
                </a:moveTo>
                <a:lnTo>
                  <a:pt x="46" y="1354"/>
                </a:lnTo>
                <a:lnTo>
                  <a:pt x="46" y="1360"/>
                </a:lnTo>
                <a:lnTo>
                  <a:pt x="0" y="1360"/>
                </a:lnTo>
                <a:lnTo>
                  <a:pt x="0" y="1354"/>
                </a:lnTo>
                <a:close/>
                <a:moveTo>
                  <a:pt x="0" y="1017"/>
                </a:moveTo>
                <a:lnTo>
                  <a:pt x="46" y="1017"/>
                </a:lnTo>
                <a:lnTo>
                  <a:pt x="46" y="1023"/>
                </a:lnTo>
                <a:lnTo>
                  <a:pt x="0" y="1023"/>
                </a:lnTo>
                <a:lnTo>
                  <a:pt x="0" y="1017"/>
                </a:lnTo>
                <a:close/>
                <a:moveTo>
                  <a:pt x="0" y="680"/>
                </a:moveTo>
                <a:lnTo>
                  <a:pt x="46" y="680"/>
                </a:lnTo>
                <a:lnTo>
                  <a:pt x="46" y="686"/>
                </a:lnTo>
                <a:lnTo>
                  <a:pt x="0" y="686"/>
                </a:lnTo>
                <a:lnTo>
                  <a:pt x="0" y="680"/>
                </a:lnTo>
                <a:close/>
                <a:moveTo>
                  <a:pt x="0" y="337"/>
                </a:moveTo>
                <a:lnTo>
                  <a:pt x="46" y="337"/>
                </a:lnTo>
                <a:lnTo>
                  <a:pt x="46" y="343"/>
                </a:lnTo>
                <a:lnTo>
                  <a:pt x="0" y="343"/>
                </a:lnTo>
                <a:lnTo>
                  <a:pt x="0" y="337"/>
                </a:lnTo>
                <a:close/>
                <a:moveTo>
                  <a:pt x="0" y="0"/>
                </a:moveTo>
                <a:lnTo>
                  <a:pt x="46" y="0"/>
                </a:lnTo>
                <a:lnTo>
                  <a:pt x="46" y="6"/>
                </a:lnTo>
                <a:lnTo>
                  <a:pt x="0" y="6"/>
                </a:lnTo>
                <a:lnTo>
                  <a:pt x="0" y="0"/>
                </a:lnTo>
                <a:close/>
              </a:path>
            </a:pathLst>
          </a:custGeom>
          <a:solidFill>
            <a:srgbClr val="000000"/>
          </a:solidFill>
          <a:ln w="9525">
            <a:solidFill>
              <a:srgbClr val="000000"/>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89" name="Rectangle 14"/>
          <p:cNvSpPr>
            <a:spLocks noChangeArrowheads="1"/>
          </p:cNvSpPr>
          <p:nvPr/>
        </p:nvSpPr>
        <p:spPr bwMode="auto">
          <a:xfrm>
            <a:off x="647495" y="3089394"/>
            <a:ext cx="3743305" cy="4002"/>
          </a:xfrm>
          <a:prstGeom prst="rect">
            <a:avLst/>
          </a:prstGeom>
          <a:solidFill>
            <a:srgbClr val="000000"/>
          </a:solidFill>
          <a:ln w="9525">
            <a:solidFill>
              <a:srgbClr val="000000"/>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90" name="Freeform 15"/>
          <p:cNvSpPr>
            <a:spLocks noEditPoints="1"/>
          </p:cNvSpPr>
          <p:nvPr/>
        </p:nvSpPr>
        <p:spPr bwMode="auto">
          <a:xfrm>
            <a:off x="647495" y="3051777"/>
            <a:ext cx="3748107" cy="74434"/>
          </a:xfrm>
          <a:custGeom>
            <a:avLst/>
            <a:gdLst>
              <a:gd name="T0" fmla="*/ 88 w 4683"/>
              <a:gd name="T1" fmla="*/ 12 h 93"/>
              <a:gd name="T2" fmla="*/ 163 w 4683"/>
              <a:gd name="T3" fmla="*/ 47 h 93"/>
              <a:gd name="T4" fmla="*/ 239 w 4683"/>
              <a:gd name="T5" fmla="*/ 47 h 93"/>
              <a:gd name="T6" fmla="*/ 315 w 4683"/>
              <a:gd name="T7" fmla="*/ 12 h 93"/>
              <a:gd name="T8" fmla="*/ 402 w 4683"/>
              <a:gd name="T9" fmla="*/ 12 h 93"/>
              <a:gd name="T10" fmla="*/ 559 w 4683"/>
              <a:gd name="T11" fmla="*/ 12 h 93"/>
              <a:gd name="T12" fmla="*/ 641 w 4683"/>
              <a:gd name="T13" fmla="*/ 47 h 93"/>
              <a:gd name="T14" fmla="*/ 711 w 4683"/>
              <a:gd name="T15" fmla="*/ 47 h 93"/>
              <a:gd name="T16" fmla="*/ 792 w 4683"/>
              <a:gd name="T17" fmla="*/ 12 h 93"/>
              <a:gd name="T18" fmla="*/ 880 w 4683"/>
              <a:gd name="T19" fmla="*/ 12 h 93"/>
              <a:gd name="T20" fmla="*/ 1037 w 4683"/>
              <a:gd name="T21" fmla="*/ 12 h 93"/>
              <a:gd name="T22" fmla="*/ 1118 w 4683"/>
              <a:gd name="T23" fmla="*/ 47 h 93"/>
              <a:gd name="T24" fmla="*/ 1188 w 4683"/>
              <a:gd name="T25" fmla="*/ 47 h 93"/>
              <a:gd name="T26" fmla="*/ 1270 w 4683"/>
              <a:gd name="T27" fmla="*/ 12 h 93"/>
              <a:gd name="T28" fmla="*/ 1351 w 4683"/>
              <a:gd name="T29" fmla="*/ 12 h 93"/>
              <a:gd name="T30" fmla="*/ 1514 w 4683"/>
              <a:gd name="T31" fmla="*/ 12 h 93"/>
              <a:gd name="T32" fmla="*/ 1590 w 4683"/>
              <a:gd name="T33" fmla="*/ 47 h 93"/>
              <a:gd name="T34" fmla="*/ 1666 w 4683"/>
              <a:gd name="T35" fmla="*/ 47 h 93"/>
              <a:gd name="T36" fmla="*/ 1742 w 4683"/>
              <a:gd name="T37" fmla="*/ 12 h 93"/>
              <a:gd name="T38" fmla="*/ 1829 w 4683"/>
              <a:gd name="T39" fmla="*/ 12 h 93"/>
              <a:gd name="T40" fmla="*/ 1986 w 4683"/>
              <a:gd name="T41" fmla="*/ 12 h 93"/>
              <a:gd name="T42" fmla="*/ 2068 w 4683"/>
              <a:gd name="T43" fmla="*/ 47 h 93"/>
              <a:gd name="T44" fmla="*/ 2138 w 4683"/>
              <a:gd name="T45" fmla="*/ 47 h 93"/>
              <a:gd name="T46" fmla="*/ 2219 w 4683"/>
              <a:gd name="T47" fmla="*/ 12 h 93"/>
              <a:gd name="T48" fmla="*/ 2306 w 4683"/>
              <a:gd name="T49" fmla="*/ 12 h 93"/>
              <a:gd name="T50" fmla="*/ 2464 w 4683"/>
              <a:gd name="T51" fmla="*/ 12 h 93"/>
              <a:gd name="T52" fmla="*/ 2545 w 4683"/>
              <a:gd name="T53" fmla="*/ 47 h 93"/>
              <a:gd name="T54" fmla="*/ 2615 w 4683"/>
              <a:gd name="T55" fmla="*/ 47 h 93"/>
              <a:gd name="T56" fmla="*/ 2697 w 4683"/>
              <a:gd name="T57" fmla="*/ 12 h 93"/>
              <a:gd name="T58" fmla="*/ 2778 w 4683"/>
              <a:gd name="T59" fmla="*/ 12 h 93"/>
              <a:gd name="T60" fmla="*/ 2941 w 4683"/>
              <a:gd name="T61" fmla="*/ 12 h 93"/>
              <a:gd name="T62" fmla="*/ 3017 w 4683"/>
              <a:gd name="T63" fmla="*/ 47 h 93"/>
              <a:gd name="T64" fmla="*/ 3093 w 4683"/>
              <a:gd name="T65" fmla="*/ 47 h 93"/>
              <a:gd name="T66" fmla="*/ 3168 w 4683"/>
              <a:gd name="T67" fmla="*/ 12 h 93"/>
              <a:gd name="T68" fmla="*/ 3256 w 4683"/>
              <a:gd name="T69" fmla="*/ 12 h 93"/>
              <a:gd name="T70" fmla="*/ 3413 w 4683"/>
              <a:gd name="T71" fmla="*/ 12 h 93"/>
              <a:gd name="T72" fmla="*/ 3494 w 4683"/>
              <a:gd name="T73" fmla="*/ 47 h 93"/>
              <a:gd name="T74" fmla="*/ 3564 w 4683"/>
              <a:gd name="T75" fmla="*/ 47 h 93"/>
              <a:gd name="T76" fmla="*/ 3646 w 4683"/>
              <a:gd name="T77" fmla="*/ 12 h 93"/>
              <a:gd name="T78" fmla="*/ 3733 w 4683"/>
              <a:gd name="T79" fmla="*/ 12 h 93"/>
              <a:gd name="T80" fmla="*/ 3890 w 4683"/>
              <a:gd name="T81" fmla="*/ 12 h 93"/>
              <a:gd name="T82" fmla="*/ 3972 w 4683"/>
              <a:gd name="T83" fmla="*/ 47 h 93"/>
              <a:gd name="T84" fmla="*/ 4042 w 4683"/>
              <a:gd name="T85" fmla="*/ 47 h 93"/>
              <a:gd name="T86" fmla="*/ 4123 w 4683"/>
              <a:gd name="T87" fmla="*/ 12 h 93"/>
              <a:gd name="T88" fmla="*/ 4205 w 4683"/>
              <a:gd name="T89" fmla="*/ 12 h 93"/>
              <a:gd name="T90" fmla="*/ 4368 w 4683"/>
              <a:gd name="T91" fmla="*/ 12 h 93"/>
              <a:gd name="T92" fmla="*/ 4444 w 4683"/>
              <a:gd name="T93" fmla="*/ 47 h 93"/>
              <a:gd name="T94" fmla="*/ 4519 w 4683"/>
              <a:gd name="T95" fmla="*/ 47 h 93"/>
              <a:gd name="T96" fmla="*/ 4595 w 4683"/>
              <a:gd name="T97" fmla="*/ 12 h 93"/>
              <a:gd name="T98" fmla="*/ 4683 w 4683"/>
              <a:gd name="T99" fmla="*/ 12 h 93"/>
              <a:gd name="T100" fmla="*/ 402 w 4683"/>
              <a:gd name="T101" fmla="*/ 0 h 93"/>
              <a:gd name="T102" fmla="*/ 798 w 4683"/>
              <a:gd name="T103" fmla="*/ 93 h 93"/>
              <a:gd name="T104" fmla="*/ 1188 w 4683"/>
              <a:gd name="T105" fmla="*/ 93 h 93"/>
              <a:gd name="T106" fmla="*/ 1584 w 4683"/>
              <a:gd name="T107" fmla="*/ 0 h 93"/>
              <a:gd name="T108" fmla="*/ 1986 w 4683"/>
              <a:gd name="T109" fmla="*/ 0 h 93"/>
              <a:gd name="T110" fmla="*/ 2778 w 4683"/>
              <a:gd name="T111" fmla="*/ 0 h 93"/>
              <a:gd name="T112" fmla="*/ 3174 w 4683"/>
              <a:gd name="T113" fmla="*/ 93 h 93"/>
              <a:gd name="T114" fmla="*/ 3564 w 4683"/>
              <a:gd name="T115" fmla="*/ 93 h 93"/>
              <a:gd name="T116" fmla="*/ 3966 w 4683"/>
              <a:gd name="T117" fmla="*/ 0 h 93"/>
              <a:gd name="T118" fmla="*/ 4368 w 4683"/>
              <a:gd name="T119" fmla="*/ 0 h 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683"/>
              <a:gd name="T181" fmla="*/ 0 h 93"/>
              <a:gd name="T182" fmla="*/ 4683 w 4683"/>
              <a:gd name="T183" fmla="*/ 93 h 9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683" h="93">
                <a:moveTo>
                  <a:pt x="6" y="12"/>
                </a:moveTo>
                <a:lnTo>
                  <a:pt x="6" y="47"/>
                </a:lnTo>
                <a:lnTo>
                  <a:pt x="0" y="47"/>
                </a:lnTo>
                <a:lnTo>
                  <a:pt x="0" y="12"/>
                </a:lnTo>
                <a:lnTo>
                  <a:pt x="6" y="12"/>
                </a:lnTo>
                <a:close/>
                <a:moveTo>
                  <a:pt x="88" y="12"/>
                </a:moveTo>
                <a:lnTo>
                  <a:pt x="88" y="47"/>
                </a:lnTo>
                <a:lnTo>
                  <a:pt x="82" y="47"/>
                </a:lnTo>
                <a:lnTo>
                  <a:pt x="82" y="12"/>
                </a:lnTo>
                <a:lnTo>
                  <a:pt x="88" y="12"/>
                </a:lnTo>
                <a:close/>
                <a:moveTo>
                  <a:pt x="163" y="12"/>
                </a:moveTo>
                <a:lnTo>
                  <a:pt x="163" y="47"/>
                </a:lnTo>
                <a:lnTo>
                  <a:pt x="157" y="47"/>
                </a:lnTo>
                <a:lnTo>
                  <a:pt x="157" y="12"/>
                </a:lnTo>
                <a:lnTo>
                  <a:pt x="163" y="12"/>
                </a:lnTo>
                <a:close/>
                <a:moveTo>
                  <a:pt x="245" y="12"/>
                </a:moveTo>
                <a:lnTo>
                  <a:pt x="245" y="47"/>
                </a:lnTo>
                <a:lnTo>
                  <a:pt x="239" y="47"/>
                </a:lnTo>
                <a:lnTo>
                  <a:pt x="239" y="12"/>
                </a:lnTo>
                <a:lnTo>
                  <a:pt x="245" y="12"/>
                </a:lnTo>
                <a:close/>
                <a:moveTo>
                  <a:pt x="321" y="12"/>
                </a:moveTo>
                <a:lnTo>
                  <a:pt x="321" y="47"/>
                </a:lnTo>
                <a:lnTo>
                  <a:pt x="315" y="47"/>
                </a:lnTo>
                <a:lnTo>
                  <a:pt x="315" y="12"/>
                </a:lnTo>
                <a:lnTo>
                  <a:pt x="321" y="12"/>
                </a:lnTo>
                <a:close/>
                <a:moveTo>
                  <a:pt x="402" y="12"/>
                </a:moveTo>
                <a:lnTo>
                  <a:pt x="402" y="47"/>
                </a:lnTo>
                <a:lnTo>
                  <a:pt x="396" y="47"/>
                </a:lnTo>
                <a:lnTo>
                  <a:pt x="396" y="12"/>
                </a:lnTo>
                <a:lnTo>
                  <a:pt x="402" y="12"/>
                </a:lnTo>
                <a:close/>
                <a:moveTo>
                  <a:pt x="484" y="12"/>
                </a:moveTo>
                <a:lnTo>
                  <a:pt x="484" y="47"/>
                </a:lnTo>
                <a:lnTo>
                  <a:pt x="478" y="47"/>
                </a:lnTo>
                <a:lnTo>
                  <a:pt x="478" y="12"/>
                </a:lnTo>
                <a:lnTo>
                  <a:pt x="484" y="12"/>
                </a:lnTo>
                <a:close/>
                <a:moveTo>
                  <a:pt x="559" y="12"/>
                </a:moveTo>
                <a:lnTo>
                  <a:pt x="559" y="47"/>
                </a:lnTo>
                <a:lnTo>
                  <a:pt x="554" y="47"/>
                </a:lnTo>
                <a:lnTo>
                  <a:pt x="554" y="12"/>
                </a:lnTo>
                <a:lnTo>
                  <a:pt x="559" y="12"/>
                </a:lnTo>
                <a:close/>
                <a:moveTo>
                  <a:pt x="641" y="12"/>
                </a:moveTo>
                <a:lnTo>
                  <a:pt x="641" y="47"/>
                </a:lnTo>
                <a:lnTo>
                  <a:pt x="635" y="47"/>
                </a:lnTo>
                <a:lnTo>
                  <a:pt x="635" y="12"/>
                </a:lnTo>
                <a:lnTo>
                  <a:pt x="641" y="12"/>
                </a:lnTo>
                <a:close/>
                <a:moveTo>
                  <a:pt x="717" y="12"/>
                </a:moveTo>
                <a:lnTo>
                  <a:pt x="717" y="47"/>
                </a:lnTo>
                <a:lnTo>
                  <a:pt x="711" y="47"/>
                </a:lnTo>
                <a:lnTo>
                  <a:pt x="711" y="12"/>
                </a:lnTo>
                <a:lnTo>
                  <a:pt x="717" y="12"/>
                </a:lnTo>
                <a:close/>
                <a:moveTo>
                  <a:pt x="798" y="12"/>
                </a:moveTo>
                <a:lnTo>
                  <a:pt x="798" y="47"/>
                </a:lnTo>
                <a:lnTo>
                  <a:pt x="792" y="47"/>
                </a:lnTo>
                <a:lnTo>
                  <a:pt x="792" y="12"/>
                </a:lnTo>
                <a:lnTo>
                  <a:pt x="798" y="12"/>
                </a:lnTo>
                <a:close/>
                <a:moveTo>
                  <a:pt x="880" y="12"/>
                </a:moveTo>
                <a:lnTo>
                  <a:pt x="880" y="47"/>
                </a:lnTo>
                <a:lnTo>
                  <a:pt x="874" y="47"/>
                </a:lnTo>
                <a:lnTo>
                  <a:pt x="874" y="12"/>
                </a:lnTo>
                <a:lnTo>
                  <a:pt x="880" y="12"/>
                </a:lnTo>
                <a:close/>
                <a:moveTo>
                  <a:pt x="955" y="12"/>
                </a:moveTo>
                <a:lnTo>
                  <a:pt x="955" y="47"/>
                </a:lnTo>
                <a:lnTo>
                  <a:pt x="950" y="47"/>
                </a:lnTo>
                <a:lnTo>
                  <a:pt x="950" y="12"/>
                </a:lnTo>
                <a:lnTo>
                  <a:pt x="955" y="12"/>
                </a:lnTo>
                <a:close/>
                <a:moveTo>
                  <a:pt x="1037" y="12"/>
                </a:moveTo>
                <a:lnTo>
                  <a:pt x="1037" y="47"/>
                </a:lnTo>
                <a:lnTo>
                  <a:pt x="1031" y="47"/>
                </a:lnTo>
                <a:lnTo>
                  <a:pt x="1031" y="12"/>
                </a:lnTo>
                <a:lnTo>
                  <a:pt x="1037" y="12"/>
                </a:lnTo>
                <a:close/>
                <a:moveTo>
                  <a:pt x="1118" y="12"/>
                </a:moveTo>
                <a:lnTo>
                  <a:pt x="1118" y="47"/>
                </a:lnTo>
                <a:lnTo>
                  <a:pt x="1113" y="47"/>
                </a:lnTo>
                <a:lnTo>
                  <a:pt x="1113" y="12"/>
                </a:lnTo>
                <a:lnTo>
                  <a:pt x="1118" y="12"/>
                </a:lnTo>
                <a:close/>
                <a:moveTo>
                  <a:pt x="1194" y="12"/>
                </a:moveTo>
                <a:lnTo>
                  <a:pt x="1194" y="47"/>
                </a:lnTo>
                <a:lnTo>
                  <a:pt x="1188" y="47"/>
                </a:lnTo>
                <a:lnTo>
                  <a:pt x="1188" y="12"/>
                </a:lnTo>
                <a:lnTo>
                  <a:pt x="1194" y="12"/>
                </a:lnTo>
                <a:close/>
                <a:moveTo>
                  <a:pt x="1276" y="12"/>
                </a:moveTo>
                <a:lnTo>
                  <a:pt x="1276" y="47"/>
                </a:lnTo>
                <a:lnTo>
                  <a:pt x="1270" y="47"/>
                </a:lnTo>
                <a:lnTo>
                  <a:pt x="1270" y="12"/>
                </a:lnTo>
                <a:lnTo>
                  <a:pt x="1276" y="12"/>
                </a:lnTo>
                <a:close/>
                <a:moveTo>
                  <a:pt x="1351" y="12"/>
                </a:moveTo>
                <a:lnTo>
                  <a:pt x="1351" y="47"/>
                </a:lnTo>
                <a:lnTo>
                  <a:pt x="1346" y="47"/>
                </a:lnTo>
                <a:lnTo>
                  <a:pt x="1346" y="12"/>
                </a:lnTo>
                <a:lnTo>
                  <a:pt x="1351" y="12"/>
                </a:lnTo>
                <a:close/>
                <a:moveTo>
                  <a:pt x="1433" y="12"/>
                </a:moveTo>
                <a:lnTo>
                  <a:pt x="1433" y="47"/>
                </a:lnTo>
                <a:lnTo>
                  <a:pt x="1427" y="47"/>
                </a:lnTo>
                <a:lnTo>
                  <a:pt x="1427" y="12"/>
                </a:lnTo>
                <a:lnTo>
                  <a:pt x="1433" y="12"/>
                </a:lnTo>
                <a:close/>
                <a:moveTo>
                  <a:pt x="1514" y="12"/>
                </a:moveTo>
                <a:lnTo>
                  <a:pt x="1514" y="47"/>
                </a:lnTo>
                <a:lnTo>
                  <a:pt x="1509" y="47"/>
                </a:lnTo>
                <a:lnTo>
                  <a:pt x="1509" y="12"/>
                </a:lnTo>
                <a:lnTo>
                  <a:pt x="1514" y="12"/>
                </a:lnTo>
                <a:close/>
                <a:moveTo>
                  <a:pt x="1590" y="12"/>
                </a:moveTo>
                <a:lnTo>
                  <a:pt x="1590" y="47"/>
                </a:lnTo>
                <a:lnTo>
                  <a:pt x="1584" y="47"/>
                </a:lnTo>
                <a:lnTo>
                  <a:pt x="1584" y="12"/>
                </a:lnTo>
                <a:lnTo>
                  <a:pt x="1590" y="12"/>
                </a:lnTo>
                <a:close/>
                <a:moveTo>
                  <a:pt x="1672" y="12"/>
                </a:moveTo>
                <a:lnTo>
                  <a:pt x="1672" y="47"/>
                </a:lnTo>
                <a:lnTo>
                  <a:pt x="1666" y="47"/>
                </a:lnTo>
                <a:lnTo>
                  <a:pt x="1666" y="12"/>
                </a:lnTo>
                <a:lnTo>
                  <a:pt x="1672" y="12"/>
                </a:lnTo>
                <a:close/>
                <a:moveTo>
                  <a:pt x="1747" y="12"/>
                </a:moveTo>
                <a:lnTo>
                  <a:pt x="1747" y="47"/>
                </a:lnTo>
                <a:lnTo>
                  <a:pt x="1742" y="47"/>
                </a:lnTo>
                <a:lnTo>
                  <a:pt x="1742" y="12"/>
                </a:lnTo>
                <a:lnTo>
                  <a:pt x="1747" y="12"/>
                </a:lnTo>
                <a:close/>
                <a:moveTo>
                  <a:pt x="1829" y="12"/>
                </a:moveTo>
                <a:lnTo>
                  <a:pt x="1829" y="47"/>
                </a:lnTo>
                <a:lnTo>
                  <a:pt x="1823" y="47"/>
                </a:lnTo>
                <a:lnTo>
                  <a:pt x="1823" y="12"/>
                </a:lnTo>
                <a:lnTo>
                  <a:pt x="1829" y="12"/>
                </a:lnTo>
                <a:close/>
                <a:moveTo>
                  <a:pt x="1910" y="12"/>
                </a:moveTo>
                <a:lnTo>
                  <a:pt x="1910" y="47"/>
                </a:lnTo>
                <a:lnTo>
                  <a:pt x="1905" y="47"/>
                </a:lnTo>
                <a:lnTo>
                  <a:pt x="1905" y="12"/>
                </a:lnTo>
                <a:lnTo>
                  <a:pt x="1910" y="12"/>
                </a:lnTo>
                <a:close/>
                <a:moveTo>
                  <a:pt x="1986" y="12"/>
                </a:moveTo>
                <a:lnTo>
                  <a:pt x="1986" y="47"/>
                </a:lnTo>
                <a:lnTo>
                  <a:pt x="1980" y="47"/>
                </a:lnTo>
                <a:lnTo>
                  <a:pt x="1980" y="12"/>
                </a:lnTo>
                <a:lnTo>
                  <a:pt x="1986" y="12"/>
                </a:lnTo>
                <a:close/>
                <a:moveTo>
                  <a:pt x="2068" y="12"/>
                </a:moveTo>
                <a:lnTo>
                  <a:pt x="2068" y="47"/>
                </a:lnTo>
                <a:lnTo>
                  <a:pt x="2062" y="47"/>
                </a:lnTo>
                <a:lnTo>
                  <a:pt x="2062" y="12"/>
                </a:lnTo>
                <a:lnTo>
                  <a:pt x="2068" y="12"/>
                </a:lnTo>
                <a:close/>
                <a:moveTo>
                  <a:pt x="2143" y="12"/>
                </a:moveTo>
                <a:lnTo>
                  <a:pt x="2143" y="47"/>
                </a:lnTo>
                <a:lnTo>
                  <a:pt x="2138" y="47"/>
                </a:lnTo>
                <a:lnTo>
                  <a:pt x="2138" y="12"/>
                </a:lnTo>
                <a:lnTo>
                  <a:pt x="2143" y="12"/>
                </a:lnTo>
                <a:close/>
                <a:moveTo>
                  <a:pt x="2225" y="12"/>
                </a:moveTo>
                <a:lnTo>
                  <a:pt x="2225" y="47"/>
                </a:lnTo>
                <a:lnTo>
                  <a:pt x="2219" y="47"/>
                </a:lnTo>
                <a:lnTo>
                  <a:pt x="2219" y="12"/>
                </a:lnTo>
                <a:lnTo>
                  <a:pt x="2225" y="12"/>
                </a:lnTo>
                <a:close/>
                <a:moveTo>
                  <a:pt x="2306" y="12"/>
                </a:moveTo>
                <a:lnTo>
                  <a:pt x="2306" y="47"/>
                </a:lnTo>
                <a:lnTo>
                  <a:pt x="2301" y="47"/>
                </a:lnTo>
                <a:lnTo>
                  <a:pt x="2301" y="12"/>
                </a:lnTo>
                <a:lnTo>
                  <a:pt x="2306" y="12"/>
                </a:lnTo>
                <a:close/>
                <a:moveTo>
                  <a:pt x="2382" y="12"/>
                </a:moveTo>
                <a:lnTo>
                  <a:pt x="2382" y="47"/>
                </a:lnTo>
                <a:lnTo>
                  <a:pt x="2376" y="47"/>
                </a:lnTo>
                <a:lnTo>
                  <a:pt x="2376" y="12"/>
                </a:lnTo>
                <a:lnTo>
                  <a:pt x="2382" y="12"/>
                </a:lnTo>
                <a:close/>
                <a:moveTo>
                  <a:pt x="2464" y="12"/>
                </a:moveTo>
                <a:lnTo>
                  <a:pt x="2464" y="47"/>
                </a:lnTo>
                <a:lnTo>
                  <a:pt x="2458" y="47"/>
                </a:lnTo>
                <a:lnTo>
                  <a:pt x="2458" y="12"/>
                </a:lnTo>
                <a:lnTo>
                  <a:pt x="2464" y="12"/>
                </a:lnTo>
                <a:close/>
                <a:moveTo>
                  <a:pt x="2545" y="12"/>
                </a:moveTo>
                <a:lnTo>
                  <a:pt x="2545" y="47"/>
                </a:lnTo>
                <a:lnTo>
                  <a:pt x="2539" y="47"/>
                </a:lnTo>
                <a:lnTo>
                  <a:pt x="2539" y="12"/>
                </a:lnTo>
                <a:lnTo>
                  <a:pt x="2545" y="12"/>
                </a:lnTo>
                <a:close/>
                <a:moveTo>
                  <a:pt x="2621" y="12"/>
                </a:moveTo>
                <a:lnTo>
                  <a:pt x="2621" y="47"/>
                </a:lnTo>
                <a:lnTo>
                  <a:pt x="2615" y="47"/>
                </a:lnTo>
                <a:lnTo>
                  <a:pt x="2615" y="12"/>
                </a:lnTo>
                <a:lnTo>
                  <a:pt x="2621" y="12"/>
                </a:lnTo>
                <a:close/>
                <a:moveTo>
                  <a:pt x="2702" y="12"/>
                </a:moveTo>
                <a:lnTo>
                  <a:pt x="2702" y="47"/>
                </a:lnTo>
                <a:lnTo>
                  <a:pt x="2697" y="47"/>
                </a:lnTo>
                <a:lnTo>
                  <a:pt x="2697" y="12"/>
                </a:lnTo>
                <a:lnTo>
                  <a:pt x="2702" y="12"/>
                </a:lnTo>
                <a:close/>
                <a:moveTo>
                  <a:pt x="2778" y="12"/>
                </a:moveTo>
                <a:lnTo>
                  <a:pt x="2778" y="47"/>
                </a:lnTo>
                <a:lnTo>
                  <a:pt x="2772" y="47"/>
                </a:lnTo>
                <a:lnTo>
                  <a:pt x="2772" y="12"/>
                </a:lnTo>
                <a:lnTo>
                  <a:pt x="2778" y="12"/>
                </a:lnTo>
                <a:close/>
                <a:moveTo>
                  <a:pt x="2860" y="12"/>
                </a:moveTo>
                <a:lnTo>
                  <a:pt x="2860" y="47"/>
                </a:lnTo>
                <a:lnTo>
                  <a:pt x="2854" y="47"/>
                </a:lnTo>
                <a:lnTo>
                  <a:pt x="2854" y="12"/>
                </a:lnTo>
                <a:lnTo>
                  <a:pt x="2860" y="12"/>
                </a:lnTo>
                <a:close/>
                <a:moveTo>
                  <a:pt x="2941" y="12"/>
                </a:moveTo>
                <a:lnTo>
                  <a:pt x="2941" y="47"/>
                </a:lnTo>
                <a:lnTo>
                  <a:pt x="2935" y="47"/>
                </a:lnTo>
                <a:lnTo>
                  <a:pt x="2935" y="12"/>
                </a:lnTo>
                <a:lnTo>
                  <a:pt x="2941" y="12"/>
                </a:lnTo>
                <a:close/>
                <a:moveTo>
                  <a:pt x="3017" y="12"/>
                </a:moveTo>
                <a:lnTo>
                  <a:pt x="3017" y="47"/>
                </a:lnTo>
                <a:lnTo>
                  <a:pt x="3011" y="47"/>
                </a:lnTo>
                <a:lnTo>
                  <a:pt x="3011" y="12"/>
                </a:lnTo>
                <a:lnTo>
                  <a:pt x="3017" y="12"/>
                </a:lnTo>
                <a:close/>
                <a:moveTo>
                  <a:pt x="3098" y="12"/>
                </a:moveTo>
                <a:lnTo>
                  <a:pt x="3098" y="47"/>
                </a:lnTo>
                <a:lnTo>
                  <a:pt x="3093" y="47"/>
                </a:lnTo>
                <a:lnTo>
                  <a:pt x="3093" y="12"/>
                </a:lnTo>
                <a:lnTo>
                  <a:pt x="3098" y="12"/>
                </a:lnTo>
                <a:close/>
                <a:moveTo>
                  <a:pt x="3174" y="12"/>
                </a:moveTo>
                <a:lnTo>
                  <a:pt x="3174" y="47"/>
                </a:lnTo>
                <a:lnTo>
                  <a:pt x="3168" y="47"/>
                </a:lnTo>
                <a:lnTo>
                  <a:pt x="3168" y="12"/>
                </a:lnTo>
                <a:lnTo>
                  <a:pt x="3174" y="12"/>
                </a:lnTo>
                <a:close/>
                <a:moveTo>
                  <a:pt x="3256" y="12"/>
                </a:moveTo>
                <a:lnTo>
                  <a:pt x="3256" y="47"/>
                </a:lnTo>
                <a:lnTo>
                  <a:pt x="3250" y="47"/>
                </a:lnTo>
                <a:lnTo>
                  <a:pt x="3250" y="12"/>
                </a:lnTo>
                <a:lnTo>
                  <a:pt x="3256" y="12"/>
                </a:lnTo>
                <a:close/>
                <a:moveTo>
                  <a:pt x="3337" y="12"/>
                </a:moveTo>
                <a:lnTo>
                  <a:pt x="3337" y="47"/>
                </a:lnTo>
                <a:lnTo>
                  <a:pt x="3331" y="47"/>
                </a:lnTo>
                <a:lnTo>
                  <a:pt x="3331" y="12"/>
                </a:lnTo>
                <a:lnTo>
                  <a:pt x="3337" y="12"/>
                </a:lnTo>
                <a:close/>
                <a:moveTo>
                  <a:pt x="3413" y="12"/>
                </a:moveTo>
                <a:lnTo>
                  <a:pt x="3413" y="47"/>
                </a:lnTo>
                <a:lnTo>
                  <a:pt x="3407" y="47"/>
                </a:lnTo>
                <a:lnTo>
                  <a:pt x="3407" y="12"/>
                </a:lnTo>
                <a:lnTo>
                  <a:pt x="3413" y="12"/>
                </a:lnTo>
                <a:close/>
                <a:moveTo>
                  <a:pt x="3494" y="12"/>
                </a:moveTo>
                <a:lnTo>
                  <a:pt x="3494" y="47"/>
                </a:lnTo>
                <a:lnTo>
                  <a:pt x="3489" y="47"/>
                </a:lnTo>
                <a:lnTo>
                  <a:pt x="3489" y="12"/>
                </a:lnTo>
                <a:lnTo>
                  <a:pt x="3494" y="12"/>
                </a:lnTo>
                <a:close/>
                <a:moveTo>
                  <a:pt x="3570" y="12"/>
                </a:moveTo>
                <a:lnTo>
                  <a:pt x="3570" y="47"/>
                </a:lnTo>
                <a:lnTo>
                  <a:pt x="3564" y="47"/>
                </a:lnTo>
                <a:lnTo>
                  <a:pt x="3564" y="12"/>
                </a:lnTo>
                <a:lnTo>
                  <a:pt x="3570" y="12"/>
                </a:lnTo>
                <a:close/>
                <a:moveTo>
                  <a:pt x="3652" y="12"/>
                </a:moveTo>
                <a:lnTo>
                  <a:pt x="3652" y="47"/>
                </a:lnTo>
                <a:lnTo>
                  <a:pt x="3646" y="47"/>
                </a:lnTo>
                <a:lnTo>
                  <a:pt x="3646" y="12"/>
                </a:lnTo>
                <a:lnTo>
                  <a:pt x="3652" y="12"/>
                </a:lnTo>
                <a:close/>
                <a:moveTo>
                  <a:pt x="3733" y="12"/>
                </a:moveTo>
                <a:lnTo>
                  <a:pt x="3733" y="47"/>
                </a:lnTo>
                <a:lnTo>
                  <a:pt x="3727" y="47"/>
                </a:lnTo>
                <a:lnTo>
                  <a:pt x="3727" y="12"/>
                </a:lnTo>
                <a:lnTo>
                  <a:pt x="3733" y="12"/>
                </a:lnTo>
                <a:close/>
                <a:moveTo>
                  <a:pt x="3809" y="12"/>
                </a:moveTo>
                <a:lnTo>
                  <a:pt x="3809" y="47"/>
                </a:lnTo>
                <a:lnTo>
                  <a:pt x="3803" y="47"/>
                </a:lnTo>
                <a:lnTo>
                  <a:pt x="3803" y="12"/>
                </a:lnTo>
                <a:lnTo>
                  <a:pt x="3809" y="12"/>
                </a:lnTo>
                <a:close/>
                <a:moveTo>
                  <a:pt x="3890" y="12"/>
                </a:moveTo>
                <a:lnTo>
                  <a:pt x="3890" y="47"/>
                </a:lnTo>
                <a:lnTo>
                  <a:pt x="3885" y="47"/>
                </a:lnTo>
                <a:lnTo>
                  <a:pt x="3885" y="12"/>
                </a:lnTo>
                <a:lnTo>
                  <a:pt x="3890" y="12"/>
                </a:lnTo>
                <a:close/>
                <a:moveTo>
                  <a:pt x="3972" y="12"/>
                </a:moveTo>
                <a:lnTo>
                  <a:pt x="3972" y="47"/>
                </a:lnTo>
                <a:lnTo>
                  <a:pt x="3966" y="47"/>
                </a:lnTo>
                <a:lnTo>
                  <a:pt x="3966" y="12"/>
                </a:lnTo>
                <a:lnTo>
                  <a:pt x="3972" y="12"/>
                </a:lnTo>
                <a:close/>
                <a:moveTo>
                  <a:pt x="4048" y="12"/>
                </a:moveTo>
                <a:lnTo>
                  <a:pt x="4048" y="47"/>
                </a:lnTo>
                <a:lnTo>
                  <a:pt x="4042" y="47"/>
                </a:lnTo>
                <a:lnTo>
                  <a:pt x="4042" y="12"/>
                </a:lnTo>
                <a:lnTo>
                  <a:pt x="4048" y="12"/>
                </a:lnTo>
                <a:close/>
                <a:moveTo>
                  <a:pt x="4129" y="12"/>
                </a:moveTo>
                <a:lnTo>
                  <a:pt x="4129" y="47"/>
                </a:lnTo>
                <a:lnTo>
                  <a:pt x="4123" y="47"/>
                </a:lnTo>
                <a:lnTo>
                  <a:pt x="4123" y="12"/>
                </a:lnTo>
                <a:lnTo>
                  <a:pt x="4129" y="12"/>
                </a:lnTo>
                <a:close/>
                <a:moveTo>
                  <a:pt x="4205" y="12"/>
                </a:moveTo>
                <a:lnTo>
                  <a:pt x="4205" y="47"/>
                </a:lnTo>
                <a:lnTo>
                  <a:pt x="4199" y="47"/>
                </a:lnTo>
                <a:lnTo>
                  <a:pt x="4199" y="12"/>
                </a:lnTo>
                <a:lnTo>
                  <a:pt x="4205" y="12"/>
                </a:lnTo>
                <a:close/>
                <a:moveTo>
                  <a:pt x="4287" y="12"/>
                </a:moveTo>
                <a:lnTo>
                  <a:pt x="4287" y="47"/>
                </a:lnTo>
                <a:lnTo>
                  <a:pt x="4281" y="47"/>
                </a:lnTo>
                <a:lnTo>
                  <a:pt x="4281" y="12"/>
                </a:lnTo>
                <a:lnTo>
                  <a:pt x="4287" y="12"/>
                </a:lnTo>
                <a:close/>
                <a:moveTo>
                  <a:pt x="4368" y="12"/>
                </a:moveTo>
                <a:lnTo>
                  <a:pt x="4368" y="47"/>
                </a:lnTo>
                <a:lnTo>
                  <a:pt x="4362" y="47"/>
                </a:lnTo>
                <a:lnTo>
                  <a:pt x="4362" y="12"/>
                </a:lnTo>
                <a:lnTo>
                  <a:pt x="4368" y="12"/>
                </a:lnTo>
                <a:close/>
                <a:moveTo>
                  <a:pt x="4444" y="12"/>
                </a:moveTo>
                <a:lnTo>
                  <a:pt x="4444" y="47"/>
                </a:lnTo>
                <a:lnTo>
                  <a:pt x="4438" y="47"/>
                </a:lnTo>
                <a:lnTo>
                  <a:pt x="4438" y="12"/>
                </a:lnTo>
                <a:lnTo>
                  <a:pt x="4444" y="12"/>
                </a:lnTo>
                <a:close/>
                <a:moveTo>
                  <a:pt x="4525" y="12"/>
                </a:moveTo>
                <a:lnTo>
                  <a:pt x="4525" y="47"/>
                </a:lnTo>
                <a:lnTo>
                  <a:pt x="4519" y="47"/>
                </a:lnTo>
                <a:lnTo>
                  <a:pt x="4519" y="12"/>
                </a:lnTo>
                <a:lnTo>
                  <a:pt x="4525" y="12"/>
                </a:lnTo>
                <a:close/>
                <a:moveTo>
                  <a:pt x="4601" y="12"/>
                </a:moveTo>
                <a:lnTo>
                  <a:pt x="4601" y="47"/>
                </a:lnTo>
                <a:lnTo>
                  <a:pt x="4595" y="47"/>
                </a:lnTo>
                <a:lnTo>
                  <a:pt x="4595" y="12"/>
                </a:lnTo>
                <a:lnTo>
                  <a:pt x="4601" y="12"/>
                </a:lnTo>
                <a:close/>
                <a:moveTo>
                  <a:pt x="4683" y="12"/>
                </a:moveTo>
                <a:lnTo>
                  <a:pt x="4683" y="47"/>
                </a:lnTo>
                <a:lnTo>
                  <a:pt x="4677" y="47"/>
                </a:lnTo>
                <a:lnTo>
                  <a:pt x="4677" y="12"/>
                </a:lnTo>
                <a:lnTo>
                  <a:pt x="4683" y="12"/>
                </a:lnTo>
                <a:close/>
                <a:moveTo>
                  <a:pt x="6" y="0"/>
                </a:moveTo>
                <a:lnTo>
                  <a:pt x="6" y="93"/>
                </a:lnTo>
                <a:lnTo>
                  <a:pt x="0" y="93"/>
                </a:lnTo>
                <a:lnTo>
                  <a:pt x="0" y="0"/>
                </a:lnTo>
                <a:lnTo>
                  <a:pt x="6" y="0"/>
                </a:lnTo>
                <a:close/>
                <a:moveTo>
                  <a:pt x="402" y="0"/>
                </a:moveTo>
                <a:lnTo>
                  <a:pt x="402" y="93"/>
                </a:lnTo>
                <a:lnTo>
                  <a:pt x="396" y="93"/>
                </a:lnTo>
                <a:lnTo>
                  <a:pt x="396" y="0"/>
                </a:lnTo>
                <a:lnTo>
                  <a:pt x="402" y="0"/>
                </a:lnTo>
                <a:close/>
                <a:moveTo>
                  <a:pt x="798" y="0"/>
                </a:moveTo>
                <a:lnTo>
                  <a:pt x="798" y="93"/>
                </a:lnTo>
                <a:lnTo>
                  <a:pt x="792" y="93"/>
                </a:lnTo>
                <a:lnTo>
                  <a:pt x="792" y="0"/>
                </a:lnTo>
                <a:lnTo>
                  <a:pt x="798" y="0"/>
                </a:lnTo>
                <a:close/>
                <a:moveTo>
                  <a:pt x="1194" y="0"/>
                </a:moveTo>
                <a:lnTo>
                  <a:pt x="1194" y="93"/>
                </a:lnTo>
                <a:lnTo>
                  <a:pt x="1188" y="93"/>
                </a:lnTo>
                <a:lnTo>
                  <a:pt x="1188" y="0"/>
                </a:lnTo>
                <a:lnTo>
                  <a:pt x="1194" y="0"/>
                </a:lnTo>
                <a:close/>
                <a:moveTo>
                  <a:pt x="1590" y="0"/>
                </a:moveTo>
                <a:lnTo>
                  <a:pt x="1590" y="93"/>
                </a:lnTo>
                <a:lnTo>
                  <a:pt x="1584" y="93"/>
                </a:lnTo>
                <a:lnTo>
                  <a:pt x="1584" y="0"/>
                </a:lnTo>
                <a:lnTo>
                  <a:pt x="1590" y="0"/>
                </a:lnTo>
                <a:close/>
                <a:moveTo>
                  <a:pt x="1986" y="0"/>
                </a:moveTo>
                <a:lnTo>
                  <a:pt x="1986" y="93"/>
                </a:lnTo>
                <a:lnTo>
                  <a:pt x="1980" y="93"/>
                </a:lnTo>
                <a:lnTo>
                  <a:pt x="1980" y="0"/>
                </a:lnTo>
                <a:lnTo>
                  <a:pt x="1986" y="0"/>
                </a:lnTo>
                <a:close/>
                <a:moveTo>
                  <a:pt x="2382" y="0"/>
                </a:moveTo>
                <a:lnTo>
                  <a:pt x="2382" y="93"/>
                </a:lnTo>
                <a:lnTo>
                  <a:pt x="2376" y="93"/>
                </a:lnTo>
                <a:lnTo>
                  <a:pt x="2376" y="0"/>
                </a:lnTo>
                <a:lnTo>
                  <a:pt x="2382" y="0"/>
                </a:lnTo>
                <a:close/>
                <a:moveTo>
                  <a:pt x="2778" y="0"/>
                </a:moveTo>
                <a:lnTo>
                  <a:pt x="2778" y="93"/>
                </a:lnTo>
                <a:lnTo>
                  <a:pt x="2772" y="93"/>
                </a:lnTo>
                <a:lnTo>
                  <a:pt x="2772" y="0"/>
                </a:lnTo>
                <a:lnTo>
                  <a:pt x="2778" y="0"/>
                </a:lnTo>
                <a:close/>
                <a:moveTo>
                  <a:pt x="3174" y="0"/>
                </a:moveTo>
                <a:lnTo>
                  <a:pt x="3174" y="93"/>
                </a:lnTo>
                <a:lnTo>
                  <a:pt x="3168" y="93"/>
                </a:lnTo>
                <a:lnTo>
                  <a:pt x="3168" y="0"/>
                </a:lnTo>
                <a:lnTo>
                  <a:pt x="3174" y="0"/>
                </a:lnTo>
                <a:close/>
                <a:moveTo>
                  <a:pt x="3570" y="0"/>
                </a:moveTo>
                <a:lnTo>
                  <a:pt x="3570" y="93"/>
                </a:lnTo>
                <a:lnTo>
                  <a:pt x="3564" y="93"/>
                </a:lnTo>
                <a:lnTo>
                  <a:pt x="3564" y="0"/>
                </a:lnTo>
                <a:lnTo>
                  <a:pt x="3570" y="0"/>
                </a:lnTo>
                <a:close/>
                <a:moveTo>
                  <a:pt x="3972" y="0"/>
                </a:moveTo>
                <a:lnTo>
                  <a:pt x="3972" y="93"/>
                </a:lnTo>
                <a:lnTo>
                  <a:pt x="3966" y="93"/>
                </a:lnTo>
                <a:lnTo>
                  <a:pt x="3966" y="0"/>
                </a:lnTo>
                <a:lnTo>
                  <a:pt x="3972" y="0"/>
                </a:lnTo>
                <a:close/>
                <a:moveTo>
                  <a:pt x="4368" y="0"/>
                </a:moveTo>
                <a:lnTo>
                  <a:pt x="4368" y="93"/>
                </a:lnTo>
                <a:lnTo>
                  <a:pt x="4362" y="93"/>
                </a:lnTo>
                <a:lnTo>
                  <a:pt x="4362" y="0"/>
                </a:lnTo>
                <a:lnTo>
                  <a:pt x="4368" y="0"/>
                </a:lnTo>
                <a:close/>
              </a:path>
            </a:pathLst>
          </a:custGeom>
          <a:solidFill>
            <a:srgbClr val="000000"/>
          </a:solidFill>
          <a:ln w="9525">
            <a:solidFill>
              <a:srgbClr val="000000"/>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91" name="Freeform 16"/>
          <p:cNvSpPr/>
          <p:nvPr/>
        </p:nvSpPr>
        <p:spPr bwMode="auto">
          <a:xfrm>
            <a:off x="642693" y="711511"/>
            <a:ext cx="3692082" cy="958837"/>
          </a:xfrm>
          <a:custGeom>
            <a:avLst/>
            <a:gdLst>
              <a:gd name="T0" fmla="*/ 152 w 4613"/>
              <a:gd name="T1" fmla="*/ 896 h 1198"/>
              <a:gd name="T2" fmla="*/ 280 w 4613"/>
              <a:gd name="T3" fmla="*/ 948 h 1198"/>
              <a:gd name="T4" fmla="*/ 426 w 4613"/>
              <a:gd name="T5" fmla="*/ 959 h 1198"/>
              <a:gd name="T6" fmla="*/ 554 w 4613"/>
              <a:gd name="T7" fmla="*/ 349 h 1198"/>
              <a:gd name="T8" fmla="*/ 699 w 4613"/>
              <a:gd name="T9" fmla="*/ 477 h 1198"/>
              <a:gd name="T10" fmla="*/ 868 w 4613"/>
              <a:gd name="T11" fmla="*/ 553 h 1198"/>
              <a:gd name="T12" fmla="*/ 1055 w 4613"/>
              <a:gd name="T13" fmla="*/ 262 h 1198"/>
              <a:gd name="T14" fmla="*/ 1200 w 4613"/>
              <a:gd name="T15" fmla="*/ 332 h 1198"/>
              <a:gd name="T16" fmla="*/ 1334 w 4613"/>
              <a:gd name="T17" fmla="*/ 215 h 1198"/>
              <a:gd name="T18" fmla="*/ 1480 w 4613"/>
              <a:gd name="T19" fmla="*/ 372 h 1198"/>
              <a:gd name="T20" fmla="*/ 1614 w 4613"/>
              <a:gd name="T21" fmla="*/ 617 h 1198"/>
              <a:gd name="T22" fmla="*/ 1777 w 4613"/>
              <a:gd name="T23" fmla="*/ 186 h 1198"/>
              <a:gd name="T24" fmla="*/ 1940 w 4613"/>
              <a:gd name="T25" fmla="*/ 564 h 1198"/>
              <a:gd name="T26" fmla="*/ 2074 w 4613"/>
              <a:gd name="T27" fmla="*/ 250 h 1198"/>
              <a:gd name="T28" fmla="*/ 2225 w 4613"/>
              <a:gd name="T29" fmla="*/ 535 h 1198"/>
              <a:gd name="T30" fmla="*/ 2406 w 4613"/>
              <a:gd name="T31" fmla="*/ 1082 h 1198"/>
              <a:gd name="T32" fmla="*/ 2563 w 4613"/>
              <a:gd name="T33" fmla="*/ 611 h 1198"/>
              <a:gd name="T34" fmla="*/ 2703 w 4613"/>
              <a:gd name="T35" fmla="*/ 768 h 1198"/>
              <a:gd name="T36" fmla="*/ 2866 w 4613"/>
              <a:gd name="T37" fmla="*/ 768 h 1198"/>
              <a:gd name="T38" fmla="*/ 2994 w 4613"/>
              <a:gd name="T39" fmla="*/ 866 h 1198"/>
              <a:gd name="T40" fmla="*/ 3157 w 4613"/>
              <a:gd name="T41" fmla="*/ 1029 h 1198"/>
              <a:gd name="T42" fmla="*/ 3279 w 4613"/>
              <a:gd name="T43" fmla="*/ 936 h 1198"/>
              <a:gd name="T44" fmla="*/ 3425 w 4613"/>
              <a:gd name="T45" fmla="*/ 1052 h 1198"/>
              <a:gd name="T46" fmla="*/ 3588 w 4613"/>
              <a:gd name="T47" fmla="*/ 1151 h 1198"/>
              <a:gd name="T48" fmla="*/ 3722 w 4613"/>
              <a:gd name="T49" fmla="*/ 808 h 1198"/>
              <a:gd name="T50" fmla="*/ 3856 w 4613"/>
              <a:gd name="T51" fmla="*/ 698 h 1198"/>
              <a:gd name="T52" fmla="*/ 4013 w 4613"/>
              <a:gd name="T53" fmla="*/ 820 h 1198"/>
              <a:gd name="T54" fmla="*/ 4153 w 4613"/>
              <a:gd name="T55" fmla="*/ 890 h 1198"/>
              <a:gd name="T56" fmla="*/ 4293 w 4613"/>
              <a:gd name="T57" fmla="*/ 971 h 1198"/>
              <a:gd name="T58" fmla="*/ 4426 w 4613"/>
              <a:gd name="T59" fmla="*/ 1099 h 1198"/>
              <a:gd name="T60" fmla="*/ 4560 w 4613"/>
              <a:gd name="T61" fmla="*/ 948 h 1198"/>
              <a:gd name="T62" fmla="*/ 4508 w 4613"/>
              <a:gd name="T63" fmla="*/ 1151 h 1198"/>
              <a:gd name="T64" fmla="*/ 4362 w 4613"/>
              <a:gd name="T65" fmla="*/ 1052 h 1198"/>
              <a:gd name="T66" fmla="*/ 4223 w 4613"/>
              <a:gd name="T67" fmla="*/ 965 h 1198"/>
              <a:gd name="T68" fmla="*/ 4065 w 4613"/>
              <a:gd name="T69" fmla="*/ 890 h 1198"/>
              <a:gd name="T70" fmla="*/ 3931 w 4613"/>
              <a:gd name="T71" fmla="*/ 768 h 1198"/>
              <a:gd name="T72" fmla="*/ 3797 w 4613"/>
              <a:gd name="T73" fmla="*/ 692 h 1198"/>
              <a:gd name="T74" fmla="*/ 3646 w 4613"/>
              <a:gd name="T75" fmla="*/ 1000 h 1198"/>
              <a:gd name="T76" fmla="*/ 3506 w 4613"/>
              <a:gd name="T77" fmla="*/ 1122 h 1198"/>
              <a:gd name="T78" fmla="*/ 3361 w 4613"/>
              <a:gd name="T79" fmla="*/ 1029 h 1198"/>
              <a:gd name="T80" fmla="*/ 3227 w 4613"/>
              <a:gd name="T81" fmla="*/ 1122 h 1198"/>
              <a:gd name="T82" fmla="*/ 3052 w 4613"/>
              <a:gd name="T83" fmla="*/ 942 h 1198"/>
              <a:gd name="T84" fmla="*/ 2918 w 4613"/>
              <a:gd name="T85" fmla="*/ 791 h 1198"/>
              <a:gd name="T86" fmla="*/ 2773 w 4613"/>
              <a:gd name="T87" fmla="*/ 872 h 1198"/>
              <a:gd name="T88" fmla="*/ 2621 w 4613"/>
              <a:gd name="T89" fmla="*/ 710 h 1198"/>
              <a:gd name="T90" fmla="*/ 2476 w 4613"/>
              <a:gd name="T91" fmla="*/ 477 h 1198"/>
              <a:gd name="T92" fmla="*/ 2289 w 4613"/>
              <a:gd name="T93" fmla="*/ 750 h 1198"/>
              <a:gd name="T94" fmla="*/ 2138 w 4613"/>
              <a:gd name="T95" fmla="*/ 401 h 1198"/>
              <a:gd name="T96" fmla="*/ 1986 w 4613"/>
              <a:gd name="T97" fmla="*/ 791 h 1198"/>
              <a:gd name="T98" fmla="*/ 1817 w 4613"/>
              <a:gd name="T99" fmla="*/ 268 h 1198"/>
              <a:gd name="T100" fmla="*/ 1660 w 4613"/>
              <a:gd name="T101" fmla="*/ 93 h 1198"/>
              <a:gd name="T102" fmla="*/ 1515 w 4613"/>
              <a:gd name="T103" fmla="*/ 465 h 1198"/>
              <a:gd name="T104" fmla="*/ 1375 w 4613"/>
              <a:gd name="T105" fmla="*/ 262 h 1198"/>
              <a:gd name="T106" fmla="*/ 1264 w 4613"/>
              <a:gd name="T107" fmla="*/ 134 h 1198"/>
              <a:gd name="T108" fmla="*/ 1101 w 4613"/>
              <a:gd name="T109" fmla="*/ 303 h 1198"/>
              <a:gd name="T110" fmla="*/ 944 w 4613"/>
              <a:gd name="T111" fmla="*/ 233 h 1198"/>
              <a:gd name="T112" fmla="*/ 769 w 4613"/>
              <a:gd name="T113" fmla="*/ 524 h 1198"/>
              <a:gd name="T114" fmla="*/ 594 w 4613"/>
              <a:gd name="T115" fmla="*/ 431 h 1198"/>
              <a:gd name="T116" fmla="*/ 484 w 4613"/>
              <a:gd name="T117" fmla="*/ 983 h 1198"/>
              <a:gd name="T118" fmla="*/ 327 w 4613"/>
              <a:gd name="T119" fmla="*/ 983 h 1198"/>
              <a:gd name="T120" fmla="*/ 193 w 4613"/>
              <a:gd name="T121" fmla="*/ 954 h 1198"/>
              <a:gd name="T122" fmla="*/ 53 w 4613"/>
              <a:gd name="T123" fmla="*/ 756 h 11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613"/>
              <a:gd name="T187" fmla="*/ 0 h 1198"/>
              <a:gd name="T188" fmla="*/ 4613 w 4613"/>
              <a:gd name="T189" fmla="*/ 1198 h 11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613" h="1198">
                <a:moveTo>
                  <a:pt x="18" y="675"/>
                </a:moveTo>
                <a:lnTo>
                  <a:pt x="24" y="686"/>
                </a:lnTo>
                <a:lnTo>
                  <a:pt x="18" y="680"/>
                </a:lnTo>
                <a:lnTo>
                  <a:pt x="24" y="680"/>
                </a:lnTo>
                <a:lnTo>
                  <a:pt x="30" y="680"/>
                </a:lnTo>
                <a:lnTo>
                  <a:pt x="35" y="686"/>
                </a:lnTo>
                <a:lnTo>
                  <a:pt x="47" y="698"/>
                </a:lnTo>
                <a:lnTo>
                  <a:pt x="47" y="704"/>
                </a:lnTo>
                <a:lnTo>
                  <a:pt x="53" y="715"/>
                </a:lnTo>
                <a:lnTo>
                  <a:pt x="59" y="733"/>
                </a:lnTo>
                <a:lnTo>
                  <a:pt x="59" y="727"/>
                </a:lnTo>
                <a:lnTo>
                  <a:pt x="64" y="733"/>
                </a:lnTo>
                <a:lnTo>
                  <a:pt x="64" y="739"/>
                </a:lnTo>
                <a:lnTo>
                  <a:pt x="70" y="750"/>
                </a:lnTo>
                <a:lnTo>
                  <a:pt x="76" y="768"/>
                </a:lnTo>
                <a:lnTo>
                  <a:pt x="82" y="779"/>
                </a:lnTo>
                <a:lnTo>
                  <a:pt x="88" y="779"/>
                </a:lnTo>
                <a:lnTo>
                  <a:pt x="94" y="814"/>
                </a:lnTo>
                <a:lnTo>
                  <a:pt x="88" y="814"/>
                </a:lnTo>
                <a:lnTo>
                  <a:pt x="99" y="849"/>
                </a:lnTo>
                <a:lnTo>
                  <a:pt x="111" y="878"/>
                </a:lnTo>
                <a:lnTo>
                  <a:pt x="105" y="878"/>
                </a:lnTo>
                <a:lnTo>
                  <a:pt x="111" y="890"/>
                </a:lnTo>
                <a:lnTo>
                  <a:pt x="105" y="884"/>
                </a:lnTo>
                <a:lnTo>
                  <a:pt x="111" y="884"/>
                </a:lnTo>
                <a:lnTo>
                  <a:pt x="117" y="884"/>
                </a:lnTo>
                <a:lnTo>
                  <a:pt x="123" y="890"/>
                </a:lnTo>
                <a:lnTo>
                  <a:pt x="105" y="890"/>
                </a:lnTo>
                <a:lnTo>
                  <a:pt x="111" y="884"/>
                </a:lnTo>
                <a:lnTo>
                  <a:pt x="123" y="884"/>
                </a:lnTo>
                <a:lnTo>
                  <a:pt x="129" y="884"/>
                </a:lnTo>
                <a:lnTo>
                  <a:pt x="140" y="884"/>
                </a:lnTo>
                <a:lnTo>
                  <a:pt x="146" y="884"/>
                </a:lnTo>
                <a:lnTo>
                  <a:pt x="152" y="890"/>
                </a:lnTo>
                <a:lnTo>
                  <a:pt x="152" y="896"/>
                </a:lnTo>
                <a:lnTo>
                  <a:pt x="158" y="913"/>
                </a:lnTo>
                <a:lnTo>
                  <a:pt x="158" y="907"/>
                </a:lnTo>
                <a:lnTo>
                  <a:pt x="163" y="913"/>
                </a:lnTo>
                <a:lnTo>
                  <a:pt x="163" y="919"/>
                </a:lnTo>
                <a:lnTo>
                  <a:pt x="169" y="936"/>
                </a:lnTo>
                <a:lnTo>
                  <a:pt x="163" y="930"/>
                </a:lnTo>
                <a:lnTo>
                  <a:pt x="169" y="930"/>
                </a:lnTo>
                <a:lnTo>
                  <a:pt x="158" y="936"/>
                </a:lnTo>
                <a:lnTo>
                  <a:pt x="163" y="925"/>
                </a:lnTo>
                <a:lnTo>
                  <a:pt x="175" y="919"/>
                </a:lnTo>
                <a:lnTo>
                  <a:pt x="181" y="919"/>
                </a:lnTo>
                <a:lnTo>
                  <a:pt x="187" y="919"/>
                </a:lnTo>
                <a:lnTo>
                  <a:pt x="198" y="930"/>
                </a:lnTo>
                <a:lnTo>
                  <a:pt x="193" y="930"/>
                </a:lnTo>
                <a:lnTo>
                  <a:pt x="198" y="930"/>
                </a:lnTo>
                <a:lnTo>
                  <a:pt x="204" y="930"/>
                </a:lnTo>
                <a:lnTo>
                  <a:pt x="210" y="936"/>
                </a:lnTo>
                <a:lnTo>
                  <a:pt x="216" y="948"/>
                </a:lnTo>
                <a:lnTo>
                  <a:pt x="210" y="942"/>
                </a:lnTo>
                <a:lnTo>
                  <a:pt x="216" y="942"/>
                </a:lnTo>
                <a:lnTo>
                  <a:pt x="204" y="942"/>
                </a:lnTo>
                <a:lnTo>
                  <a:pt x="210" y="936"/>
                </a:lnTo>
                <a:lnTo>
                  <a:pt x="222" y="936"/>
                </a:lnTo>
                <a:lnTo>
                  <a:pt x="228" y="936"/>
                </a:lnTo>
                <a:lnTo>
                  <a:pt x="233" y="942"/>
                </a:lnTo>
                <a:lnTo>
                  <a:pt x="228" y="942"/>
                </a:lnTo>
                <a:lnTo>
                  <a:pt x="239" y="942"/>
                </a:lnTo>
                <a:lnTo>
                  <a:pt x="245" y="942"/>
                </a:lnTo>
                <a:lnTo>
                  <a:pt x="233" y="942"/>
                </a:lnTo>
                <a:lnTo>
                  <a:pt x="239" y="936"/>
                </a:lnTo>
                <a:lnTo>
                  <a:pt x="251" y="936"/>
                </a:lnTo>
                <a:lnTo>
                  <a:pt x="257" y="936"/>
                </a:lnTo>
                <a:lnTo>
                  <a:pt x="262" y="936"/>
                </a:lnTo>
                <a:lnTo>
                  <a:pt x="268" y="936"/>
                </a:lnTo>
                <a:lnTo>
                  <a:pt x="274" y="942"/>
                </a:lnTo>
                <a:lnTo>
                  <a:pt x="268" y="942"/>
                </a:lnTo>
                <a:lnTo>
                  <a:pt x="274" y="942"/>
                </a:lnTo>
                <a:lnTo>
                  <a:pt x="280" y="948"/>
                </a:lnTo>
                <a:lnTo>
                  <a:pt x="286" y="959"/>
                </a:lnTo>
                <a:lnTo>
                  <a:pt x="280" y="954"/>
                </a:lnTo>
                <a:lnTo>
                  <a:pt x="292" y="954"/>
                </a:lnTo>
                <a:lnTo>
                  <a:pt x="297" y="954"/>
                </a:lnTo>
                <a:lnTo>
                  <a:pt x="303" y="959"/>
                </a:lnTo>
                <a:lnTo>
                  <a:pt x="297" y="959"/>
                </a:lnTo>
                <a:lnTo>
                  <a:pt x="303" y="959"/>
                </a:lnTo>
                <a:lnTo>
                  <a:pt x="309" y="959"/>
                </a:lnTo>
                <a:lnTo>
                  <a:pt x="315" y="965"/>
                </a:lnTo>
                <a:lnTo>
                  <a:pt x="297" y="965"/>
                </a:lnTo>
                <a:lnTo>
                  <a:pt x="303" y="959"/>
                </a:lnTo>
                <a:lnTo>
                  <a:pt x="315" y="959"/>
                </a:lnTo>
                <a:lnTo>
                  <a:pt x="321" y="959"/>
                </a:lnTo>
                <a:lnTo>
                  <a:pt x="327" y="959"/>
                </a:lnTo>
                <a:lnTo>
                  <a:pt x="338" y="965"/>
                </a:lnTo>
                <a:lnTo>
                  <a:pt x="327" y="965"/>
                </a:lnTo>
                <a:lnTo>
                  <a:pt x="332" y="959"/>
                </a:lnTo>
                <a:lnTo>
                  <a:pt x="344" y="959"/>
                </a:lnTo>
                <a:lnTo>
                  <a:pt x="350" y="959"/>
                </a:lnTo>
                <a:lnTo>
                  <a:pt x="356" y="959"/>
                </a:lnTo>
                <a:lnTo>
                  <a:pt x="361" y="959"/>
                </a:lnTo>
                <a:lnTo>
                  <a:pt x="367" y="959"/>
                </a:lnTo>
                <a:lnTo>
                  <a:pt x="373" y="959"/>
                </a:lnTo>
                <a:lnTo>
                  <a:pt x="361" y="959"/>
                </a:lnTo>
                <a:lnTo>
                  <a:pt x="367" y="954"/>
                </a:lnTo>
                <a:lnTo>
                  <a:pt x="379" y="942"/>
                </a:lnTo>
                <a:lnTo>
                  <a:pt x="391" y="942"/>
                </a:lnTo>
                <a:lnTo>
                  <a:pt x="396" y="948"/>
                </a:lnTo>
                <a:lnTo>
                  <a:pt x="402" y="959"/>
                </a:lnTo>
                <a:lnTo>
                  <a:pt x="396" y="954"/>
                </a:lnTo>
                <a:lnTo>
                  <a:pt x="402" y="954"/>
                </a:lnTo>
                <a:lnTo>
                  <a:pt x="408" y="954"/>
                </a:lnTo>
                <a:lnTo>
                  <a:pt x="414" y="954"/>
                </a:lnTo>
                <a:lnTo>
                  <a:pt x="420" y="954"/>
                </a:lnTo>
                <a:lnTo>
                  <a:pt x="426" y="954"/>
                </a:lnTo>
                <a:lnTo>
                  <a:pt x="437" y="954"/>
                </a:lnTo>
                <a:lnTo>
                  <a:pt x="426" y="959"/>
                </a:lnTo>
                <a:lnTo>
                  <a:pt x="431" y="948"/>
                </a:lnTo>
                <a:lnTo>
                  <a:pt x="443" y="942"/>
                </a:lnTo>
                <a:lnTo>
                  <a:pt x="449" y="948"/>
                </a:lnTo>
                <a:lnTo>
                  <a:pt x="455" y="959"/>
                </a:lnTo>
                <a:lnTo>
                  <a:pt x="437" y="959"/>
                </a:lnTo>
                <a:lnTo>
                  <a:pt x="443" y="948"/>
                </a:lnTo>
                <a:lnTo>
                  <a:pt x="455" y="942"/>
                </a:lnTo>
                <a:lnTo>
                  <a:pt x="460" y="948"/>
                </a:lnTo>
                <a:lnTo>
                  <a:pt x="466" y="965"/>
                </a:lnTo>
                <a:lnTo>
                  <a:pt x="449" y="959"/>
                </a:lnTo>
                <a:lnTo>
                  <a:pt x="455" y="954"/>
                </a:lnTo>
                <a:lnTo>
                  <a:pt x="466" y="954"/>
                </a:lnTo>
                <a:lnTo>
                  <a:pt x="472" y="954"/>
                </a:lnTo>
                <a:lnTo>
                  <a:pt x="478" y="959"/>
                </a:lnTo>
                <a:lnTo>
                  <a:pt x="472" y="959"/>
                </a:lnTo>
                <a:lnTo>
                  <a:pt x="484" y="959"/>
                </a:lnTo>
                <a:lnTo>
                  <a:pt x="472" y="971"/>
                </a:lnTo>
                <a:lnTo>
                  <a:pt x="478" y="291"/>
                </a:lnTo>
                <a:lnTo>
                  <a:pt x="484" y="279"/>
                </a:lnTo>
                <a:lnTo>
                  <a:pt x="495" y="285"/>
                </a:lnTo>
                <a:lnTo>
                  <a:pt x="501" y="297"/>
                </a:lnTo>
                <a:lnTo>
                  <a:pt x="495" y="291"/>
                </a:lnTo>
                <a:lnTo>
                  <a:pt x="501" y="291"/>
                </a:lnTo>
                <a:lnTo>
                  <a:pt x="507" y="291"/>
                </a:lnTo>
                <a:lnTo>
                  <a:pt x="513" y="297"/>
                </a:lnTo>
                <a:lnTo>
                  <a:pt x="519" y="308"/>
                </a:lnTo>
                <a:lnTo>
                  <a:pt x="525" y="326"/>
                </a:lnTo>
                <a:lnTo>
                  <a:pt x="530" y="338"/>
                </a:lnTo>
                <a:lnTo>
                  <a:pt x="525" y="332"/>
                </a:lnTo>
                <a:lnTo>
                  <a:pt x="536" y="332"/>
                </a:lnTo>
                <a:lnTo>
                  <a:pt x="542" y="338"/>
                </a:lnTo>
                <a:lnTo>
                  <a:pt x="548" y="349"/>
                </a:lnTo>
                <a:lnTo>
                  <a:pt x="548" y="343"/>
                </a:lnTo>
                <a:lnTo>
                  <a:pt x="554" y="349"/>
                </a:lnTo>
                <a:lnTo>
                  <a:pt x="548" y="349"/>
                </a:lnTo>
                <a:lnTo>
                  <a:pt x="554" y="349"/>
                </a:lnTo>
                <a:lnTo>
                  <a:pt x="560" y="355"/>
                </a:lnTo>
                <a:lnTo>
                  <a:pt x="565" y="367"/>
                </a:lnTo>
                <a:lnTo>
                  <a:pt x="565" y="361"/>
                </a:lnTo>
                <a:lnTo>
                  <a:pt x="571" y="367"/>
                </a:lnTo>
                <a:lnTo>
                  <a:pt x="571" y="372"/>
                </a:lnTo>
                <a:lnTo>
                  <a:pt x="577" y="384"/>
                </a:lnTo>
                <a:lnTo>
                  <a:pt x="577" y="378"/>
                </a:lnTo>
                <a:lnTo>
                  <a:pt x="589" y="390"/>
                </a:lnTo>
                <a:lnTo>
                  <a:pt x="583" y="390"/>
                </a:lnTo>
                <a:lnTo>
                  <a:pt x="589" y="390"/>
                </a:lnTo>
                <a:lnTo>
                  <a:pt x="594" y="390"/>
                </a:lnTo>
                <a:lnTo>
                  <a:pt x="600" y="396"/>
                </a:lnTo>
                <a:lnTo>
                  <a:pt x="600" y="401"/>
                </a:lnTo>
                <a:lnTo>
                  <a:pt x="606" y="413"/>
                </a:lnTo>
                <a:lnTo>
                  <a:pt x="606" y="407"/>
                </a:lnTo>
                <a:lnTo>
                  <a:pt x="612" y="413"/>
                </a:lnTo>
                <a:lnTo>
                  <a:pt x="612" y="419"/>
                </a:lnTo>
                <a:lnTo>
                  <a:pt x="618" y="431"/>
                </a:lnTo>
                <a:lnTo>
                  <a:pt x="612" y="425"/>
                </a:lnTo>
                <a:lnTo>
                  <a:pt x="618" y="425"/>
                </a:lnTo>
                <a:lnTo>
                  <a:pt x="624" y="425"/>
                </a:lnTo>
                <a:lnTo>
                  <a:pt x="635" y="431"/>
                </a:lnTo>
                <a:lnTo>
                  <a:pt x="641" y="436"/>
                </a:lnTo>
                <a:lnTo>
                  <a:pt x="647" y="448"/>
                </a:lnTo>
                <a:lnTo>
                  <a:pt x="647" y="442"/>
                </a:lnTo>
                <a:lnTo>
                  <a:pt x="653" y="448"/>
                </a:lnTo>
                <a:lnTo>
                  <a:pt x="653" y="454"/>
                </a:lnTo>
                <a:lnTo>
                  <a:pt x="659" y="465"/>
                </a:lnTo>
                <a:lnTo>
                  <a:pt x="664" y="483"/>
                </a:lnTo>
                <a:lnTo>
                  <a:pt x="659" y="477"/>
                </a:lnTo>
                <a:lnTo>
                  <a:pt x="664" y="477"/>
                </a:lnTo>
                <a:lnTo>
                  <a:pt x="670" y="477"/>
                </a:lnTo>
                <a:lnTo>
                  <a:pt x="682" y="477"/>
                </a:lnTo>
                <a:lnTo>
                  <a:pt x="688" y="477"/>
                </a:lnTo>
                <a:lnTo>
                  <a:pt x="693" y="477"/>
                </a:lnTo>
                <a:lnTo>
                  <a:pt x="699" y="477"/>
                </a:lnTo>
                <a:lnTo>
                  <a:pt x="705" y="477"/>
                </a:lnTo>
                <a:lnTo>
                  <a:pt x="711" y="477"/>
                </a:lnTo>
                <a:lnTo>
                  <a:pt x="717" y="483"/>
                </a:lnTo>
                <a:lnTo>
                  <a:pt x="711" y="483"/>
                </a:lnTo>
                <a:lnTo>
                  <a:pt x="717" y="483"/>
                </a:lnTo>
                <a:lnTo>
                  <a:pt x="723" y="483"/>
                </a:lnTo>
                <a:lnTo>
                  <a:pt x="734" y="483"/>
                </a:lnTo>
                <a:lnTo>
                  <a:pt x="740" y="483"/>
                </a:lnTo>
                <a:lnTo>
                  <a:pt x="746" y="483"/>
                </a:lnTo>
                <a:lnTo>
                  <a:pt x="752" y="483"/>
                </a:lnTo>
                <a:lnTo>
                  <a:pt x="758" y="489"/>
                </a:lnTo>
                <a:lnTo>
                  <a:pt x="763" y="500"/>
                </a:lnTo>
                <a:lnTo>
                  <a:pt x="763" y="494"/>
                </a:lnTo>
                <a:lnTo>
                  <a:pt x="769" y="500"/>
                </a:lnTo>
                <a:lnTo>
                  <a:pt x="763" y="500"/>
                </a:lnTo>
                <a:lnTo>
                  <a:pt x="769" y="500"/>
                </a:lnTo>
                <a:lnTo>
                  <a:pt x="775" y="500"/>
                </a:lnTo>
                <a:lnTo>
                  <a:pt x="787" y="512"/>
                </a:lnTo>
                <a:lnTo>
                  <a:pt x="792" y="518"/>
                </a:lnTo>
                <a:lnTo>
                  <a:pt x="787" y="518"/>
                </a:lnTo>
                <a:lnTo>
                  <a:pt x="792" y="518"/>
                </a:lnTo>
                <a:lnTo>
                  <a:pt x="798" y="518"/>
                </a:lnTo>
                <a:lnTo>
                  <a:pt x="804" y="518"/>
                </a:lnTo>
                <a:lnTo>
                  <a:pt x="810" y="518"/>
                </a:lnTo>
                <a:lnTo>
                  <a:pt x="816" y="518"/>
                </a:lnTo>
                <a:lnTo>
                  <a:pt x="822" y="524"/>
                </a:lnTo>
                <a:lnTo>
                  <a:pt x="827" y="535"/>
                </a:lnTo>
                <a:lnTo>
                  <a:pt x="822" y="529"/>
                </a:lnTo>
                <a:lnTo>
                  <a:pt x="833" y="535"/>
                </a:lnTo>
                <a:lnTo>
                  <a:pt x="839" y="535"/>
                </a:lnTo>
                <a:lnTo>
                  <a:pt x="845" y="535"/>
                </a:lnTo>
                <a:lnTo>
                  <a:pt x="851" y="535"/>
                </a:lnTo>
                <a:lnTo>
                  <a:pt x="857" y="535"/>
                </a:lnTo>
                <a:lnTo>
                  <a:pt x="862" y="541"/>
                </a:lnTo>
                <a:lnTo>
                  <a:pt x="868" y="558"/>
                </a:lnTo>
                <a:lnTo>
                  <a:pt x="862" y="553"/>
                </a:lnTo>
                <a:lnTo>
                  <a:pt x="868" y="553"/>
                </a:lnTo>
                <a:lnTo>
                  <a:pt x="880" y="553"/>
                </a:lnTo>
                <a:lnTo>
                  <a:pt x="886" y="553"/>
                </a:lnTo>
                <a:lnTo>
                  <a:pt x="891" y="553"/>
                </a:lnTo>
                <a:lnTo>
                  <a:pt x="897" y="553"/>
                </a:lnTo>
                <a:lnTo>
                  <a:pt x="903" y="553"/>
                </a:lnTo>
                <a:lnTo>
                  <a:pt x="909" y="553"/>
                </a:lnTo>
                <a:lnTo>
                  <a:pt x="915" y="553"/>
                </a:lnTo>
                <a:lnTo>
                  <a:pt x="921" y="553"/>
                </a:lnTo>
                <a:lnTo>
                  <a:pt x="926" y="558"/>
                </a:lnTo>
                <a:lnTo>
                  <a:pt x="921" y="558"/>
                </a:lnTo>
                <a:lnTo>
                  <a:pt x="932" y="558"/>
                </a:lnTo>
                <a:lnTo>
                  <a:pt x="921" y="570"/>
                </a:lnTo>
                <a:lnTo>
                  <a:pt x="926" y="221"/>
                </a:lnTo>
                <a:lnTo>
                  <a:pt x="926" y="210"/>
                </a:lnTo>
                <a:lnTo>
                  <a:pt x="938" y="210"/>
                </a:lnTo>
                <a:lnTo>
                  <a:pt x="944" y="210"/>
                </a:lnTo>
                <a:lnTo>
                  <a:pt x="950" y="210"/>
                </a:lnTo>
                <a:lnTo>
                  <a:pt x="956" y="210"/>
                </a:lnTo>
                <a:lnTo>
                  <a:pt x="961" y="210"/>
                </a:lnTo>
                <a:lnTo>
                  <a:pt x="967" y="210"/>
                </a:lnTo>
                <a:lnTo>
                  <a:pt x="973" y="215"/>
                </a:lnTo>
                <a:lnTo>
                  <a:pt x="985" y="227"/>
                </a:lnTo>
                <a:lnTo>
                  <a:pt x="979" y="227"/>
                </a:lnTo>
                <a:lnTo>
                  <a:pt x="985" y="227"/>
                </a:lnTo>
                <a:lnTo>
                  <a:pt x="990" y="227"/>
                </a:lnTo>
                <a:lnTo>
                  <a:pt x="996" y="227"/>
                </a:lnTo>
                <a:lnTo>
                  <a:pt x="1002" y="227"/>
                </a:lnTo>
                <a:lnTo>
                  <a:pt x="1008" y="233"/>
                </a:lnTo>
                <a:lnTo>
                  <a:pt x="1014" y="245"/>
                </a:lnTo>
                <a:lnTo>
                  <a:pt x="1014" y="239"/>
                </a:lnTo>
                <a:lnTo>
                  <a:pt x="1020" y="245"/>
                </a:lnTo>
                <a:lnTo>
                  <a:pt x="1014" y="245"/>
                </a:lnTo>
                <a:lnTo>
                  <a:pt x="1020" y="245"/>
                </a:lnTo>
                <a:lnTo>
                  <a:pt x="1031" y="245"/>
                </a:lnTo>
                <a:lnTo>
                  <a:pt x="1037" y="245"/>
                </a:lnTo>
                <a:lnTo>
                  <a:pt x="1043" y="245"/>
                </a:lnTo>
                <a:lnTo>
                  <a:pt x="1049" y="250"/>
                </a:lnTo>
                <a:lnTo>
                  <a:pt x="1055" y="262"/>
                </a:lnTo>
                <a:lnTo>
                  <a:pt x="1049" y="256"/>
                </a:lnTo>
                <a:lnTo>
                  <a:pt x="1055" y="256"/>
                </a:lnTo>
                <a:lnTo>
                  <a:pt x="1060" y="256"/>
                </a:lnTo>
                <a:lnTo>
                  <a:pt x="1066" y="256"/>
                </a:lnTo>
                <a:lnTo>
                  <a:pt x="1078" y="262"/>
                </a:lnTo>
                <a:lnTo>
                  <a:pt x="1084" y="268"/>
                </a:lnTo>
                <a:lnTo>
                  <a:pt x="1089" y="279"/>
                </a:lnTo>
                <a:lnTo>
                  <a:pt x="1089" y="274"/>
                </a:lnTo>
                <a:lnTo>
                  <a:pt x="1095" y="279"/>
                </a:lnTo>
                <a:lnTo>
                  <a:pt x="1078" y="279"/>
                </a:lnTo>
                <a:lnTo>
                  <a:pt x="1084" y="274"/>
                </a:lnTo>
                <a:lnTo>
                  <a:pt x="1095" y="274"/>
                </a:lnTo>
                <a:lnTo>
                  <a:pt x="1101" y="274"/>
                </a:lnTo>
                <a:lnTo>
                  <a:pt x="1107" y="279"/>
                </a:lnTo>
                <a:lnTo>
                  <a:pt x="1101" y="279"/>
                </a:lnTo>
                <a:lnTo>
                  <a:pt x="1107" y="279"/>
                </a:lnTo>
                <a:lnTo>
                  <a:pt x="1113" y="285"/>
                </a:lnTo>
                <a:lnTo>
                  <a:pt x="1119" y="297"/>
                </a:lnTo>
                <a:lnTo>
                  <a:pt x="1113" y="291"/>
                </a:lnTo>
                <a:lnTo>
                  <a:pt x="1119" y="291"/>
                </a:lnTo>
                <a:lnTo>
                  <a:pt x="1130" y="291"/>
                </a:lnTo>
                <a:lnTo>
                  <a:pt x="1136" y="291"/>
                </a:lnTo>
                <a:lnTo>
                  <a:pt x="1142" y="291"/>
                </a:lnTo>
                <a:lnTo>
                  <a:pt x="1148" y="297"/>
                </a:lnTo>
                <a:lnTo>
                  <a:pt x="1142" y="297"/>
                </a:lnTo>
                <a:lnTo>
                  <a:pt x="1148" y="297"/>
                </a:lnTo>
                <a:lnTo>
                  <a:pt x="1154" y="297"/>
                </a:lnTo>
                <a:lnTo>
                  <a:pt x="1159" y="297"/>
                </a:lnTo>
                <a:lnTo>
                  <a:pt x="1165" y="303"/>
                </a:lnTo>
                <a:lnTo>
                  <a:pt x="1171" y="314"/>
                </a:lnTo>
                <a:lnTo>
                  <a:pt x="1165" y="308"/>
                </a:lnTo>
                <a:lnTo>
                  <a:pt x="1177" y="308"/>
                </a:lnTo>
                <a:lnTo>
                  <a:pt x="1183" y="308"/>
                </a:lnTo>
                <a:lnTo>
                  <a:pt x="1188" y="308"/>
                </a:lnTo>
                <a:lnTo>
                  <a:pt x="1194" y="314"/>
                </a:lnTo>
                <a:lnTo>
                  <a:pt x="1194" y="320"/>
                </a:lnTo>
                <a:lnTo>
                  <a:pt x="1200" y="332"/>
                </a:lnTo>
                <a:lnTo>
                  <a:pt x="1194" y="326"/>
                </a:lnTo>
                <a:lnTo>
                  <a:pt x="1200" y="326"/>
                </a:lnTo>
                <a:lnTo>
                  <a:pt x="1206" y="326"/>
                </a:lnTo>
                <a:lnTo>
                  <a:pt x="1212" y="326"/>
                </a:lnTo>
                <a:lnTo>
                  <a:pt x="1218" y="326"/>
                </a:lnTo>
                <a:lnTo>
                  <a:pt x="1223" y="332"/>
                </a:lnTo>
                <a:lnTo>
                  <a:pt x="1218" y="332"/>
                </a:lnTo>
                <a:lnTo>
                  <a:pt x="1229" y="338"/>
                </a:lnTo>
                <a:lnTo>
                  <a:pt x="1235" y="343"/>
                </a:lnTo>
                <a:lnTo>
                  <a:pt x="1241" y="355"/>
                </a:lnTo>
                <a:lnTo>
                  <a:pt x="1235" y="349"/>
                </a:lnTo>
                <a:lnTo>
                  <a:pt x="1241" y="349"/>
                </a:lnTo>
                <a:lnTo>
                  <a:pt x="1247" y="349"/>
                </a:lnTo>
                <a:lnTo>
                  <a:pt x="1235" y="361"/>
                </a:lnTo>
                <a:lnTo>
                  <a:pt x="1241" y="134"/>
                </a:lnTo>
                <a:lnTo>
                  <a:pt x="1247" y="122"/>
                </a:lnTo>
                <a:lnTo>
                  <a:pt x="1258" y="122"/>
                </a:lnTo>
                <a:lnTo>
                  <a:pt x="1264" y="128"/>
                </a:lnTo>
                <a:lnTo>
                  <a:pt x="1264" y="134"/>
                </a:lnTo>
                <a:lnTo>
                  <a:pt x="1270" y="146"/>
                </a:lnTo>
                <a:lnTo>
                  <a:pt x="1264" y="140"/>
                </a:lnTo>
                <a:lnTo>
                  <a:pt x="1276" y="146"/>
                </a:lnTo>
                <a:lnTo>
                  <a:pt x="1282" y="146"/>
                </a:lnTo>
                <a:lnTo>
                  <a:pt x="1287" y="152"/>
                </a:lnTo>
                <a:lnTo>
                  <a:pt x="1293" y="169"/>
                </a:lnTo>
                <a:lnTo>
                  <a:pt x="1299" y="181"/>
                </a:lnTo>
                <a:lnTo>
                  <a:pt x="1299" y="175"/>
                </a:lnTo>
                <a:lnTo>
                  <a:pt x="1305" y="181"/>
                </a:lnTo>
                <a:lnTo>
                  <a:pt x="1305" y="186"/>
                </a:lnTo>
                <a:lnTo>
                  <a:pt x="1311" y="198"/>
                </a:lnTo>
                <a:lnTo>
                  <a:pt x="1305" y="192"/>
                </a:lnTo>
                <a:lnTo>
                  <a:pt x="1311" y="192"/>
                </a:lnTo>
                <a:lnTo>
                  <a:pt x="1317" y="192"/>
                </a:lnTo>
                <a:lnTo>
                  <a:pt x="1322" y="198"/>
                </a:lnTo>
                <a:lnTo>
                  <a:pt x="1334" y="215"/>
                </a:lnTo>
                <a:lnTo>
                  <a:pt x="1340" y="233"/>
                </a:lnTo>
                <a:lnTo>
                  <a:pt x="1340" y="227"/>
                </a:lnTo>
                <a:lnTo>
                  <a:pt x="1346" y="233"/>
                </a:lnTo>
                <a:lnTo>
                  <a:pt x="1340" y="233"/>
                </a:lnTo>
                <a:lnTo>
                  <a:pt x="1346" y="233"/>
                </a:lnTo>
                <a:lnTo>
                  <a:pt x="1352" y="233"/>
                </a:lnTo>
                <a:lnTo>
                  <a:pt x="1357" y="233"/>
                </a:lnTo>
                <a:lnTo>
                  <a:pt x="1363" y="233"/>
                </a:lnTo>
                <a:lnTo>
                  <a:pt x="1369" y="239"/>
                </a:lnTo>
                <a:lnTo>
                  <a:pt x="1363" y="239"/>
                </a:lnTo>
                <a:lnTo>
                  <a:pt x="1375" y="239"/>
                </a:lnTo>
                <a:lnTo>
                  <a:pt x="1381" y="245"/>
                </a:lnTo>
                <a:lnTo>
                  <a:pt x="1386" y="256"/>
                </a:lnTo>
                <a:lnTo>
                  <a:pt x="1381" y="250"/>
                </a:lnTo>
                <a:lnTo>
                  <a:pt x="1386" y="250"/>
                </a:lnTo>
                <a:lnTo>
                  <a:pt x="1392" y="256"/>
                </a:lnTo>
                <a:lnTo>
                  <a:pt x="1398" y="274"/>
                </a:lnTo>
                <a:lnTo>
                  <a:pt x="1398" y="268"/>
                </a:lnTo>
                <a:lnTo>
                  <a:pt x="1404" y="274"/>
                </a:lnTo>
                <a:lnTo>
                  <a:pt x="1410" y="279"/>
                </a:lnTo>
                <a:lnTo>
                  <a:pt x="1410" y="285"/>
                </a:lnTo>
                <a:lnTo>
                  <a:pt x="1416" y="297"/>
                </a:lnTo>
                <a:lnTo>
                  <a:pt x="1410" y="291"/>
                </a:lnTo>
                <a:lnTo>
                  <a:pt x="1421" y="297"/>
                </a:lnTo>
                <a:lnTo>
                  <a:pt x="1427" y="303"/>
                </a:lnTo>
                <a:lnTo>
                  <a:pt x="1433" y="320"/>
                </a:lnTo>
                <a:lnTo>
                  <a:pt x="1433" y="314"/>
                </a:lnTo>
                <a:lnTo>
                  <a:pt x="1439" y="320"/>
                </a:lnTo>
                <a:lnTo>
                  <a:pt x="1439" y="326"/>
                </a:lnTo>
                <a:lnTo>
                  <a:pt x="1445" y="338"/>
                </a:lnTo>
                <a:lnTo>
                  <a:pt x="1445" y="332"/>
                </a:lnTo>
                <a:lnTo>
                  <a:pt x="1451" y="338"/>
                </a:lnTo>
                <a:lnTo>
                  <a:pt x="1456" y="343"/>
                </a:lnTo>
                <a:lnTo>
                  <a:pt x="1462" y="349"/>
                </a:lnTo>
                <a:lnTo>
                  <a:pt x="1462" y="355"/>
                </a:lnTo>
                <a:lnTo>
                  <a:pt x="1468" y="367"/>
                </a:lnTo>
                <a:lnTo>
                  <a:pt x="1468" y="361"/>
                </a:lnTo>
                <a:lnTo>
                  <a:pt x="1480" y="372"/>
                </a:lnTo>
                <a:lnTo>
                  <a:pt x="1480" y="378"/>
                </a:lnTo>
                <a:lnTo>
                  <a:pt x="1485" y="396"/>
                </a:lnTo>
                <a:lnTo>
                  <a:pt x="1485" y="390"/>
                </a:lnTo>
                <a:lnTo>
                  <a:pt x="1491" y="396"/>
                </a:lnTo>
                <a:lnTo>
                  <a:pt x="1497" y="401"/>
                </a:lnTo>
                <a:lnTo>
                  <a:pt x="1497" y="407"/>
                </a:lnTo>
                <a:lnTo>
                  <a:pt x="1503" y="425"/>
                </a:lnTo>
                <a:lnTo>
                  <a:pt x="1503" y="419"/>
                </a:lnTo>
                <a:lnTo>
                  <a:pt x="1509" y="425"/>
                </a:lnTo>
                <a:lnTo>
                  <a:pt x="1509" y="431"/>
                </a:lnTo>
                <a:lnTo>
                  <a:pt x="1515" y="448"/>
                </a:lnTo>
                <a:lnTo>
                  <a:pt x="1509" y="442"/>
                </a:lnTo>
                <a:lnTo>
                  <a:pt x="1520" y="448"/>
                </a:lnTo>
                <a:lnTo>
                  <a:pt x="1526" y="448"/>
                </a:lnTo>
                <a:lnTo>
                  <a:pt x="1532" y="454"/>
                </a:lnTo>
                <a:lnTo>
                  <a:pt x="1538" y="460"/>
                </a:lnTo>
                <a:lnTo>
                  <a:pt x="1544" y="483"/>
                </a:lnTo>
                <a:lnTo>
                  <a:pt x="1538" y="483"/>
                </a:lnTo>
                <a:lnTo>
                  <a:pt x="1544" y="494"/>
                </a:lnTo>
                <a:lnTo>
                  <a:pt x="1544" y="489"/>
                </a:lnTo>
                <a:lnTo>
                  <a:pt x="1550" y="494"/>
                </a:lnTo>
                <a:lnTo>
                  <a:pt x="1550" y="500"/>
                </a:lnTo>
                <a:lnTo>
                  <a:pt x="1555" y="512"/>
                </a:lnTo>
                <a:lnTo>
                  <a:pt x="1561" y="529"/>
                </a:lnTo>
                <a:lnTo>
                  <a:pt x="1561" y="524"/>
                </a:lnTo>
                <a:lnTo>
                  <a:pt x="1567" y="529"/>
                </a:lnTo>
                <a:lnTo>
                  <a:pt x="1579" y="541"/>
                </a:lnTo>
                <a:lnTo>
                  <a:pt x="1579" y="547"/>
                </a:lnTo>
                <a:lnTo>
                  <a:pt x="1584" y="558"/>
                </a:lnTo>
                <a:lnTo>
                  <a:pt x="1590" y="576"/>
                </a:lnTo>
                <a:lnTo>
                  <a:pt x="1596" y="587"/>
                </a:lnTo>
                <a:lnTo>
                  <a:pt x="1602" y="599"/>
                </a:lnTo>
                <a:lnTo>
                  <a:pt x="1608" y="611"/>
                </a:lnTo>
                <a:lnTo>
                  <a:pt x="1614" y="622"/>
                </a:lnTo>
                <a:lnTo>
                  <a:pt x="1614" y="617"/>
                </a:lnTo>
                <a:lnTo>
                  <a:pt x="1625" y="628"/>
                </a:lnTo>
                <a:lnTo>
                  <a:pt x="1631" y="634"/>
                </a:lnTo>
                <a:lnTo>
                  <a:pt x="1614" y="646"/>
                </a:lnTo>
                <a:lnTo>
                  <a:pt x="1619" y="12"/>
                </a:lnTo>
                <a:lnTo>
                  <a:pt x="1625" y="0"/>
                </a:lnTo>
                <a:lnTo>
                  <a:pt x="1637" y="0"/>
                </a:lnTo>
                <a:lnTo>
                  <a:pt x="1643" y="6"/>
                </a:lnTo>
                <a:lnTo>
                  <a:pt x="1643" y="12"/>
                </a:lnTo>
                <a:lnTo>
                  <a:pt x="1649" y="24"/>
                </a:lnTo>
                <a:lnTo>
                  <a:pt x="1654" y="35"/>
                </a:lnTo>
                <a:lnTo>
                  <a:pt x="1660" y="53"/>
                </a:lnTo>
                <a:lnTo>
                  <a:pt x="1666" y="64"/>
                </a:lnTo>
                <a:lnTo>
                  <a:pt x="1678" y="76"/>
                </a:lnTo>
                <a:lnTo>
                  <a:pt x="1683" y="82"/>
                </a:lnTo>
                <a:lnTo>
                  <a:pt x="1678" y="82"/>
                </a:lnTo>
                <a:lnTo>
                  <a:pt x="1683" y="82"/>
                </a:lnTo>
                <a:lnTo>
                  <a:pt x="1689" y="82"/>
                </a:lnTo>
                <a:lnTo>
                  <a:pt x="1695" y="88"/>
                </a:lnTo>
                <a:lnTo>
                  <a:pt x="1695" y="93"/>
                </a:lnTo>
                <a:lnTo>
                  <a:pt x="1701" y="105"/>
                </a:lnTo>
                <a:lnTo>
                  <a:pt x="1707" y="117"/>
                </a:lnTo>
                <a:lnTo>
                  <a:pt x="1713" y="128"/>
                </a:lnTo>
                <a:lnTo>
                  <a:pt x="1713" y="122"/>
                </a:lnTo>
                <a:lnTo>
                  <a:pt x="1724" y="134"/>
                </a:lnTo>
                <a:lnTo>
                  <a:pt x="1730" y="140"/>
                </a:lnTo>
                <a:lnTo>
                  <a:pt x="1736" y="146"/>
                </a:lnTo>
                <a:lnTo>
                  <a:pt x="1742" y="152"/>
                </a:lnTo>
                <a:lnTo>
                  <a:pt x="1748" y="157"/>
                </a:lnTo>
                <a:lnTo>
                  <a:pt x="1753" y="163"/>
                </a:lnTo>
                <a:lnTo>
                  <a:pt x="1753" y="169"/>
                </a:lnTo>
                <a:lnTo>
                  <a:pt x="1759" y="181"/>
                </a:lnTo>
                <a:lnTo>
                  <a:pt x="1765" y="192"/>
                </a:lnTo>
                <a:lnTo>
                  <a:pt x="1759" y="186"/>
                </a:lnTo>
                <a:lnTo>
                  <a:pt x="1771" y="186"/>
                </a:lnTo>
                <a:lnTo>
                  <a:pt x="1777" y="186"/>
                </a:lnTo>
                <a:lnTo>
                  <a:pt x="1782" y="192"/>
                </a:lnTo>
                <a:lnTo>
                  <a:pt x="1788" y="198"/>
                </a:lnTo>
                <a:lnTo>
                  <a:pt x="1794" y="204"/>
                </a:lnTo>
                <a:lnTo>
                  <a:pt x="1794" y="210"/>
                </a:lnTo>
                <a:lnTo>
                  <a:pt x="1800" y="221"/>
                </a:lnTo>
                <a:lnTo>
                  <a:pt x="1800" y="215"/>
                </a:lnTo>
                <a:lnTo>
                  <a:pt x="1806" y="221"/>
                </a:lnTo>
                <a:lnTo>
                  <a:pt x="1806" y="227"/>
                </a:lnTo>
                <a:lnTo>
                  <a:pt x="1812" y="239"/>
                </a:lnTo>
                <a:lnTo>
                  <a:pt x="1806" y="233"/>
                </a:lnTo>
                <a:lnTo>
                  <a:pt x="1817" y="239"/>
                </a:lnTo>
                <a:lnTo>
                  <a:pt x="1823" y="245"/>
                </a:lnTo>
                <a:lnTo>
                  <a:pt x="1829" y="256"/>
                </a:lnTo>
                <a:lnTo>
                  <a:pt x="1829" y="250"/>
                </a:lnTo>
                <a:lnTo>
                  <a:pt x="1835" y="256"/>
                </a:lnTo>
                <a:lnTo>
                  <a:pt x="1835" y="262"/>
                </a:lnTo>
                <a:lnTo>
                  <a:pt x="1841" y="274"/>
                </a:lnTo>
                <a:lnTo>
                  <a:pt x="1847" y="274"/>
                </a:lnTo>
                <a:lnTo>
                  <a:pt x="1852" y="297"/>
                </a:lnTo>
                <a:lnTo>
                  <a:pt x="1858" y="320"/>
                </a:lnTo>
                <a:lnTo>
                  <a:pt x="1858" y="338"/>
                </a:lnTo>
                <a:lnTo>
                  <a:pt x="1864" y="349"/>
                </a:lnTo>
                <a:lnTo>
                  <a:pt x="1876" y="361"/>
                </a:lnTo>
                <a:lnTo>
                  <a:pt x="1870" y="361"/>
                </a:lnTo>
                <a:lnTo>
                  <a:pt x="1876" y="361"/>
                </a:lnTo>
                <a:lnTo>
                  <a:pt x="1881" y="361"/>
                </a:lnTo>
                <a:lnTo>
                  <a:pt x="1887" y="367"/>
                </a:lnTo>
                <a:lnTo>
                  <a:pt x="1893" y="413"/>
                </a:lnTo>
                <a:lnTo>
                  <a:pt x="1887" y="413"/>
                </a:lnTo>
                <a:lnTo>
                  <a:pt x="1893" y="425"/>
                </a:lnTo>
                <a:lnTo>
                  <a:pt x="1899" y="425"/>
                </a:lnTo>
                <a:lnTo>
                  <a:pt x="1905" y="448"/>
                </a:lnTo>
                <a:lnTo>
                  <a:pt x="1905" y="465"/>
                </a:lnTo>
                <a:lnTo>
                  <a:pt x="1911" y="483"/>
                </a:lnTo>
                <a:lnTo>
                  <a:pt x="1922" y="512"/>
                </a:lnTo>
                <a:lnTo>
                  <a:pt x="1934" y="535"/>
                </a:lnTo>
                <a:lnTo>
                  <a:pt x="1940" y="564"/>
                </a:lnTo>
                <a:lnTo>
                  <a:pt x="1934" y="564"/>
                </a:lnTo>
                <a:lnTo>
                  <a:pt x="1940" y="576"/>
                </a:lnTo>
                <a:lnTo>
                  <a:pt x="1946" y="576"/>
                </a:lnTo>
                <a:lnTo>
                  <a:pt x="1951" y="605"/>
                </a:lnTo>
                <a:lnTo>
                  <a:pt x="1951" y="622"/>
                </a:lnTo>
                <a:lnTo>
                  <a:pt x="1957" y="634"/>
                </a:lnTo>
                <a:lnTo>
                  <a:pt x="1963" y="634"/>
                </a:lnTo>
                <a:lnTo>
                  <a:pt x="1969" y="663"/>
                </a:lnTo>
                <a:lnTo>
                  <a:pt x="1975" y="698"/>
                </a:lnTo>
                <a:lnTo>
                  <a:pt x="1980" y="715"/>
                </a:lnTo>
                <a:lnTo>
                  <a:pt x="1992" y="739"/>
                </a:lnTo>
                <a:lnTo>
                  <a:pt x="1992" y="756"/>
                </a:lnTo>
                <a:lnTo>
                  <a:pt x="1998" y="768"/>
                </a:lnTo>
                <a:lnTo>
                  <a:pt x="2004" y="785"/>
                </a:lnTo>
                <a:lnTo>
                  <a:pt x="2004" y="779"/>
                </a:lnTo>
                <a:lnTo>
                  <a:pt x="2010" y="785"/>
                </a:lnTo>
                <a:lnTo>
                  <a:pt x="2004" y="785"/>
                </a:lnTo>
                <a:lnTo>
                  <a:pt x="2015" y="791"/>
                </a:lnTo>
                <a:lnTo>
                  <a:pt x="2021" y="791"/>
                </a:lnTo>
                <a:lnTo>
                  <a:pt x="2027" y="797"/>
                </a:lnTo>
                <a:lnTo>
                  <a:pt x="2010" y="808"/>
                </a:lnTo>
                <a:lnTo>
                  <a:pt x="2015" y="157"/>
                </a:lnTo>
                <a:lnTo>
                  <a:pt x="2015" y="146"/>
                </a:lnTo>
                <a:lnTo>
                  <a:pt x="2021" y="146"/>
                </a:lnTo>
                <a:lnTo>
                  <a:pt x="2033" y="146"/>
                </a:lnTo>
                <a:lnTo>
                  <a:pt x="2039" y="152"/>
                </a:lnTo>
                <a:lnTo>
                  <a:pt x="2045" y="175"/>
                </a:lnTo>
                <a:lnTo>
                  <a:pt x="2039" y="175"/>
                </a:lnTo>
                <a:lnTo>
                  <a:pt x="2045" y="186"/>
                </a:lnTo>
                <a:lnTo>
                  <a:pt x="2050" y="204"/>
                </a:lnTo>
                <a:lnTo>
                  <a:pt x="2056" y="221"/>
                </a:lnTo>
                <a:lnTo>
                  <a:pt x="2062" y="239"/>
                </a:lnTo>
                <a:lnTo>
                  <a:pt x="2062" y="233"/>
                </a:lnTo>
                <a:lnTo>
                  <a:pt x="2074" y="250"/>
                </a:lnTo>
                <a:lnTo>
                  <a:pt x="2079" y="256"/>
                </a:lnTo>
                <a:lnTo>
                  <a:pt x="2085" y="262"/>
                </a:lnTo>
                <a:lnTo>
                  <a:pt x="2091" y="268"/>
                </a:lnTo>
                <a:lnTo>
                  <a:pt x="2097" y="274"/>
                </a:lnTo>
                <a:lnTo>
                  <a:pt x="2097" y="279"/>
                </a:lnTo>
                <a:lnTo>
                  <a:pt x="2103" y="291"/>
                </a:lnTo>
                <a:lnTo>
                  <a:pt x="2109" y="308"/>
                </a:lnTo>
                <a:lnTo>
                  <a:pt x="2109" y="303"/>
                </a:lnTo>
                <a:lnTo>
                  <a:pt x="2120" y="314"/>
                </a:lnTo>
                <a:lnTo>
                  <a:pt x="2120" y="320"/>
                </a:lnTo>
                <a:lnTo>
                  <a:pt x="2126" y="338"/>
                </a:lnTo>
                <a:lnTo>
                  <a:pt x="2132" y="349"/>
                </a:lnTo>
                <a:lnTo>
                  <a:pt x="2138" y="361"/>
                </a:lnTo>
                <a:lnTo>
                  <a:pt x="2144" y="372"/>
                </a:lnTo>
                <a:lnTo>
                  <a:pt x="2149" y="384"/>
                </a:lnTo>
                <a:lnTo>
                  <a:pt x="2155" y="396"/>
                </a:lnTo>
                <a:lnTo>
                  <a:pt x="2161" y="396"/>
                </a:lnTo>
                <a:lnTo>
                  <a:pt x="2167" y="425"/>
                </a:lnTo>
                <a:lnTo>
                  <a:pt x="2161" y="419"/>
                </a:lnTo>
                <a:lnTo>
                  <a:pt x="2173" y="431"/>
                </a:lnTo>
                <a:lnTo>
                  <a:pt x="2173" y="436"/>
                </a:lnTo>
                <a:lnTo>
                  <a:pt x="2178" y="454"/>
                </a:lnTo>
                <a:lnTo>
                  <a:pt x="2178" y="448"/>
                </a:lnTo>
                <a:lnTo>
                  <a:pt x="2184" y="454"/>
                </a:lnTo>
                <a:lnTo>
                  <a:pt x="2184" y="460"/>
                </a:lnTo>
                <a:lnTo>
                  <a:pt x="2190" y="477"/>
                </a:lnTo>
                <a:lnTo>
                  <a:pt x="2196" y="489"/>
                </a:lnTo>
                <a:lnTo>
                  <a:pt x="2202" y="500"/>
                </a:lnTo>
                <a:lnTo>
                  <a:pt x="2202" y="494"/>
                </a:lnTo>
                <a:lnTo>
                  <a:pt x="2208" y="500"/>
                </a:lnTo>
                <a:lnTo>
                  <a:pt x="2219" y="512"/>
                </a:lnTo>
                <a:lnTo>
                  <a:pt x="2219" y="518"/>
                </a:lnTo>
                <a:lnTo>
                  <a:pt x="2225" y="535"/>
                </a:lnTo>
                <a:lnTo>
                  <a:pt x="2231" y="547"/>
                </a:lnTo>
                <a:lnTo>
                  <a:pt x="2237" y="564"/>
                </a:lnTo>
                <a:lnTo>
                  <a:pt x="2243" y="576"/>
                </a:lnTo>
                <a:lnTo>
                  <a:pt x="2248" y="587"/>
                </a:lnTo>
                <a:lnTo>
                  <a:pt x="2254" y="605"/>
                </a:lnTo>
                <a:lnTo>
                  <a:pt x="2266" y="628"/>
                </a:lnTo>
                <a:lnTo>
                  <a:pt x="2260" y="622"/>
                </a:lnTo>
                <a:lnTo>
                  <a:pt x="2272" y="640"/>
                </a:lnTo>
                <a:lnTo>
                  <a:pt x="2272" y="646"/>
                </a:lnTo>
                <a:lnTo>
                  <a:pt x="2278" y="663"/>
                </a:lnTo>
                <a:lnTo>
                  <a:pt x="2283" y="680"/>
                </a:lnTo>
                <a:lnTo>
                  <a:pt x="2289" y="698"/>
                </a:lnTo>
                <a:lnTo>
                  <a:pt x="2301" y="721"/>
                </a:lnTo>
                <a:lnTo>
                  <a:pt x="2295" y="721"/>
                </a:lnTo>
                <a:lnTo>
                  <a:pt x="2301" y="733"/>
                </a:lnTo>
                <a:lnTo>
                  <a:pt x="2307" y="744"/>
                </a:lnTo>
                <a:lnTo>
                  <a:pt x="2318" y="768"/>
                </a:lnTo>
                <a:lnTo>
                  <a:pt x="2324" y="785"/>
                </a:lnTo>
                <a:lnTo>
                  <a:pt x="2336" y="808"/>
                </a:lnTo>
                <a:lnTo>
                  <a:pt x="2342" y="832"/>
                </a:lnTo>
                <a:lnTo>
                  <a:pt x="2347" y="855"/>
                </a:lnTo>
                <a:lnTo>
                  <a:pt x="2353" y="878"/>
                </a:lnTo>
                <a:lnTo>
                  <a:pt x="2359" y="901"/>
                </a:lnTo>
                <a:lnTo>
                  <a:pt x="2353" y="896"/>
                </a:lnTo>
                <a:lnTo>
                  <a:pt x="2365" y="913"/>
                </a:lnTo>
                <a:lnTo>
                  <a:pt x="2371" y="919"/>
                </a:lnTo>
                <a:lnTo>
                  <a:pt x="2377" y="942"/>
                </a:lnTo>
                <a:lnTo>
                  <a:pt x="2377" y="959"/>
                </a:lnTo>
                <a:lnTo>
                  <a:pt x="2388" y="983"/>
                </a:lnTo>
                <a:lnTo>
                  <a:pt x="2394" y="1006"/>
                </a:lnTo>
                <a:lnTo>
                  <a:pt x="2400" y="1035"/>
                </a:lnTo>
                <a:lnTo>
                  <a:pt x="2406" y="1058"/>
                </a:lnTo>
                <a:lnTo>
                  <a:pt x="2411" y="1082"/>
                </a:lnTo>
                <a:lnTo>
                  <a:pt x="2406" y="1082"/>
                </a:lnTo>
                <a:lnTo>
                  <a:pt x="2417" y="1105"/>
                </a:lnTo>
                <a:lnTo>
                  <a:pt x="2423" y="1122"/>
                </a:lnTo>
                <a:lnTo>
                  <a:pt x="2429" y="1140"/>
                </a:lnTo>
                <a:lnTo>
                  <a:pt x="2411" y="1145"/>
                </a:lnTo>
                <a:lnTo>
                  <a:pt x="2417" y="279"/>
                </a:lnTo>
                <a:lnTo>
                  <a:pt x="2417" y="268"/>
                </a:lnTo>
                <a:lnTo>
                  <a:pt x="2423" y="268"/>
                </a:lnTo>
                <a:lnTo>
                  <a:pt x="2435" y="268"/>
                </a:lnTo>
                <a:lnTo>
                  <a:pt x="2435" y="274"/>
                </a:lnTo>
                <a:lnTo>
                  <a:pt x="2441" y="291"/>
                </a:lnTo>
                <a:lnTo>
                  <a:pt x="2452" y="314"/>
                </a:lnTo>
                <a:lnTo>
                  <a:pt x="2458" y="338"/>
                </a:lnTo>
                <a:lnTo>
                  <a:pt x="2464" y="367"/>
                </a:lnTo>
                <a:lnTo>
                  <a:pt x="2476" y="390"/>
                </a:lnTo>
                <a:lnTo>
                  <a:pt x="2481" y="413"/>
                </a:lnTo>
                <a:lnTo>
                  <a:pt x="2487" y="436"/>
                </a:lnTo>
                <a:lnTo>
                  <a:pt x="2487" y="454"/>
                </a:lnTo>
                <a:lnTo>
                  <a:pt x="2493" y="471"/>
                </a:lnTo>
                <a:lnTo>
                  <a:pt x="2499" y="483"/>
                </a:lnTo>
                <a:lnTo>
                  <a:pt x="2505" y="483"/>
                </a:lnTo>
                <a:lnTo>
                  <a:pt x="2510" y="506"/>
                </a:lnTo>
                <a:lnTo>
                  <a:pt x="2516" y="535"/>
                </a:lnTo>
                <a:lnTo>
                  <a:pt x="2522" y="553"/>
                </a:lnTo>
                <a:lnTo>
                  <a:pt x="2534" y="576"/>
                </a:lnTo>
                <a:lnTo>
                  <a:pt x="2528" y="570"/>
                </a:lnTo>
                <a:lnTo>
                  <a:pt x="2534" y="576"/>
                </a:lnTo>
                <a:lnTo>
                  <a:pt x="2534" y="582"/>
                </a:lnTo>
                <a:lnTo>
                  <a:pt x="2540" y="593"/>
                </a:lnTo>
                <a:lnTo>
                  <a:pt x="2540" y="587"/>
                </a:lnTo>
                <a:lnTo>
                  <a:pt x="2545" y="593"/>
                </a:lnTo>
                <a:lnTo>
                  <a:pt x="2545" y="599"/>
                </a:lnTo>
                <a:lnTo>
                  <a:pt x="2551" y="611"/>
                </a:lnTo>
                <a:lnTo>
                  <a:pt x="2545" y="605"/>
                </a:lnTo>
                <a:lnTo>
                  <a:pt x="2557" y="611"/>
                </a:lnTo>
                <a:lnTo>
                  <a:pt x="2563" y="611"/>
                </a:lnTo>
                <a:lnTo>
                  <a:pt x="2569" y="611"/>
                </a:lnTo>
                <a:lnTo>
                  <a:pt x="2575" y="617"/>
                </a:lnTo>
                <a:lnTo>
                  <a:pt x="2580" y="622"/>
                </a:lnTo>
                <a:lnTo>
                  <a:pt x="2586" y="646"/>
                </a:lnTo>
                <a:lnTo>
                  <a:pt x="2592" y="675"/>
                </a:lnTo>
                <a:lnTo>
                  <a:pt x="2586" y="675"/>
                </a:lnTo>
                <a:lnTo>
                  <a:pt x="2592" y="686"/>
                </a:lnTo>
                <a:lnTo>
                  <a:pt x="2586" y="680"/>
                </a:lnTo>
                <a:lnTo>
                  <a:pt x="2592" y="680"/>
                </a:lnTo>
                <a:lnTo>
                  <a:pt x="2598" y="680"/>
                </a:lnTo>
                <a:lnTo>
                  <a:pt x="2604" y="680"/>
                </a:lnTo>
                <a:lnTo>
                  <a:pt x="2615" y="692"/>
                </a:lnTo>
                <a:lnTo>
                  <a:pt x="2609" y="692"/>
                </a:lnTo>
                <a:lnTo>
                  <a:pt x="2615" y="692"/>
                </a:lnTo>
                <a:lnTo>
                  <a:pt x="2604" y="698"/>
                </a:lnTo>
                <a:lnTo>
                  <a:pt x="2609" y="686"/>
                </a:lnTo>
                <a:lnTo>
                  <a:pt x="2615" y="680"/>
                </a:lnTo>
                <a:lnTo>
                  <a:pt x="2627" y="680"/>
                </a:lnTo>
                <a:lnTo>
                  <a:pt x="2633" y="686"/>
                </a:lnTo>
                <a:lnTo>
                  <a:pt x="2639" y="692"/>
                </a:lnTo>
                <a:lnTo>
                  <a:pt x="2633" y="692"/>
                </a:lnTo>
                <a:lnTo>
                  <a:pt x="2639" y="692"/>
                </a:lnTo>
                <a:lnTo>
                  <a:pt x="2644" y="698"/>
                </a:lnTo>
                <a:lnTo>
                  <a:pt x="2650" y="715"/>
                </a:lnTo>
                <a:lnTo>
                  <a:pt x="2644" y="710"/>
                </a:lnTo>
                <a:lnTo>
                  <a:pt x="2656" y="715"/>
                </a:lnTo>
                <a:lnTo>
                  <a:pt x="2662" y="715"/>
                </a:lnTo>
                <a:lnTo>
                  <a:pt x="2668" y="721"/>
                </a:lnTo>
                <a:lnTo>
                  <a:pt x="2668" y="727"/>
                </a:lnTo>
                <a:lnTo>
                  <a:pt x="2674" y="739"/>
                </a:lnTo>
                <a:lnTo>
                  <a:pt x="2674" y="733"/>
                </a:lnTo>
                <a:lnTo>
                  <a:pt x="2679" y="739"/>
                </a:lnTo>
                <a:lnTo>
                  <a:pt x="2685" y="744"/>
                </a:lnTo>
                <a:lnTo>
                  <a:pt x="2691" y="750"/>
                </a:lnTo>
                <a:lnTo>
                  <a:pt x="2691" y="756"/>
                </a:lnTo>
                <a:lnTo>
                  <a:pt x="2697" y="768"/>
                </a:lnTo>
                <a:lnTo>
                  <a:pt x="2697" y="762"/>
                </a:lnTo>
                <a:lnTo>
                  <a:pt x="2703" y="768"/>
                </a:lnTo>
                <a:lnTo>
                  <a:pt x="2714" y="779"/>
                </a:lnTo>
                <a:lnTo>
                  <a:pt x="2714" y="785"/>
                </a:lnTo>
                <a:lnTo>
                  <a:pt x="2720" y="797"/>
                </a:lnTo>
                <a:lnTo>
                  <a:pt x="2720" y="791"/>
                </a:lnTo>
                <a:lnTo>
                  <a:pt x="2726" y="797"/>
                </a:lnTo>
                <a:lnTo>
                  <a:pt x="2726" y="803"/>
                </a:lnTo>
                <a:lnTo>
                  <a:pt x="2732" y="814"/>
                </a:lnTo>
                <a:lnTo>
                  <a:pt x="2726" y="808"/>
                </a:lnTo>
                <a:lnTo>
                  <a:pt x="2732" y="808"/>
                </a:lnTo>
                <a:lnTo>
                  <a:pt x="2738" y="808"/>
                </a:lnTo>
                <a:lnTo>
                  <a:pt x="2743" y="814"/>
                </a:lnTo>
                <a:lnTo>
                  <a:pt x="2749" y="820"/>
                </a:lnTo>
                <a:lnTo>
                  <a:pt x="2761" y="832"/>
                </a:lnTo>
                <a:lnTo>
                  <a:pt x="2767" y="837"/>
                </a:lnTo>
                <a:lnTo>
                  <a:pt x="2773" y="843"/>
                </a:lnTo>
                <a:lnTo>
                  <a:pt x="2778" y="849"/>
                </a:lnTo>
                <a:lnTo>
                  <a:pt x="2773" y="849"/>
                </a:lnTo>
                <a:lnTo>
                  <a:pt x="2778" y="849"/>
                </a:lnTo>
                <a:lnTo>
                  <a:pt x="2784" y="849"/>
                </a:lnTo>
                <a:lnTo>
                  <a:pt x="2790" y="855"/>
                </a:lnTo>
                <a:lnTo>
                  <a:pt x="2790" y="861"/>
                </a:lnTo>
                <a:lnTo>
                  <a:pt x="2796" y="872"/>
                </a:lnTo>
                <a:lnTo>
                  <a:pt x="2802" y="884"/>
                </a:lnTo>
                <a:lnTo>
                  <a:pt x="2796" y="878"/>
                </a:lnTo>
                <a:lnTo>
                  <a:pt x="2807" y="878"/>
                </a:lnTo>
                <a:lnTo>
                  <a:pt x="2813" y="878"/>
                </a:lnTo>
                <a:lnTo>
                  <a:pt x="2819" y="884"/>
                </a:lnTo>
                <a:lnTo>
                  <a:pt x="2825" y="890"/>
                </a:lnTo>
                <a:lnTo>
                  <a:pt x="2807" y="896"/>
                </a:lnTo>
                <a:lnTo>
                  <a:pt x="2813" y="733"/>
                </a:lnTo>
                <a:lnTo>
                  <a:pt x="2819" y="727"/>
                </a:lnTo>
                <a:lnTo>
                  <a:pt x="2831" y="727"/>
                </a:lnTo>
                <a:lnTo>
                  <a:pt x="2837" y="733"/>
                </a:lnTo>
                <a:lnTo>
                  <a:pt x="2842" y="739"/>
                </a:lnTo>
                <a:lnTo>
                  <a:pt x="2848" y="744"/>
                </a:lnTo>
                <a:lnTo>
                  <a:pt x="2860" y="756"/>
                </a:lnTo>
                <a:lnTo>
                  <a:pt x="2866" y="762"/>
                </a:lnTo>
                <a:lnTo>
                  <a:pt x="2866" y="768"/>
                </a:lnTo>
                <a:lnTo>
                  <a:pt x="2872" y="779"/>
                </a:lnTo>
                <a:lnTo>
                  <a:pt x="2854" y="773"/>
                </a:lnTo>
                <a:lnTo>
                  <a:pt x="2860" y="768"/>
                </a:lnTo>
                <a:lnTo>
                  <a:pt x="2860" y="773"/>
                </a:lnTo>
                <a:lnTo>
                  <a:pt x="2866" y="762"/>
                </a:lnTo>
                <a:lnTo>
                  <a:pt x="2866" y="756"/>
                </a:lnTo>
                <a:lnTo>
                  <a:pt x="2872" y="750"/>
                </a:lnTo>
                <a:lnTo>
                  <a:pt x="2883" y="750"/>
                </a:lnTo>
                <a:lnTo>
                  <a:pt x="2889" y="750"/>
                </a:lnTo>
                <a:lnTo>
                  <a:pt x="2895" y="756"/>
                </a:lnTo>
                <a:lnTo>
                  <a:pt x="2901" y="762"/>
                </a:lnTo>
                <a:lnTo>
                  <a:pt x="2895" y="762"/>
                </a:lnTo>
                <a:lnTo>
                  <a:pt x="2906" y="762"/>
                </a:lnTo>
                <a:lnTo>
                  <a:pt x="2912" y="762"/>
                </a:lnTo>
                <a:lnTo>
                  <a:pt x="2918" y="768"/>
                </a:lnTo>
                <a:lnTo>
                  <a:pt x="2924" y="773"/>
                </a:lnTo>
                <a:lnTo>
                  <a:pt x="2930" y="779"/>
                </a:lnTo>
                <a:lnTo>
                  <a:pt x="2924" y="779"/>
                </a:lnTo>
                <a:lnTo>
                  <a:pt x="2930" y="779"/>
                </a:lnTo>
                <a:lnTo>
                  <a:pt x="2936" y="785"/>
                </a:lnTo>
                <a:lnTo>
                  <a:pt x="2941" y="797"/>
                </a:lnTo>
                <a:lnTo>
                  <a:pt x="2947" y="808"/>
                </a:lnTo>
                <a:lnTo>
                  <a:pt x="2941" y="803"/>
                </a:lnTo>
                <a:lnTo>
                  <a:pt x="2953" y="808"/>
                </a:lnTo>
                <a:lnTo>
                  <a:pt x="2959" y="808"/>
                </a:lnTo>
                <a:lnTo>
                  <a:pt x="2965" y="814"/>
                </a:lnTo>
                <a:lnTo>
                  <a:pt x="2965" y="820"/>
                </a:lnTo>
                <a:lnTo>
                  <a:pt x="2971" y="832"/>
                </a:lnTo>
                <a:lnTo>
                  <a:pt x="2971" y="826"/>
                </a:lnTo>
                <a:lnTo>
                  <a:pt x="2976" y="832"/>
                </a:lnTo>
                <a:lnTo>
                  <a:pt x="2976" y="837"/>
                </a:lnTo>
                <a:lnTo>
                  <a:pt x="2982" y="849"/>
                </a:lnTo>
                <a:lnTo>
                  <a:pt x="2982" y="843"/>
                </a:lnTo>
                <a:lnTo>
                  <a:pt x="2988" y="849"/>
                </a:lnTo>
                <a:lnTo>
                  <a:pt x="2994" y="855"/>
                </a:lnTo>
                <a:lnTo>
                  <a:pt x="2994" y="861"/>
                </a:lnTo>
                <a:lnTo>
                  <a:pt x="3000" y="872"/>
                </a:lnTo>
                <a:lnTo>
                  <a:pt x="2994" y="866"/>
                </a:lnTo>
                <a:lnTo>
                  <a:pt x="3005" y="866"/>
                </a:lnTo>
                <a:lnTo>
                  <a:pt x="3011" y="872"/>
                </a:lnTo>
                <a:lnTo>
                  <a:pt x="3017" y="884"/>
                </a:lnTo>
                <a:lnTo>
                  <a:pt x="3011" y="878"/>
                </a:lnTo>
                <a:lnTo>
                  <a:pt x="3017" y="878"/>
                </a:lnTo>
                <a:lnTo>
                  <a:pt x="3023" y="884"/>
                </a:lnTo>
                <a:lnTo>
                  <a:pt x="3029" y="896"/>
                </a:lnTo>
                <a:lnTo>
                  <a:pt x="3023" y="890"/>
                </a:lnTo>
                <a:lnTo>
                  <a:pt x="3029" y="890"/>
                </a:lnTo>
                <a:lnTo>
                  <a:pt x="3035" y="890"/>
                </a:lnTo>
                <a:lnTo>
                  <a:pt x="3040" y="896"/>
                </a:lnTo>
                <a:lnTo>
                  <a:pt x="3040" y="901"/>
                </a:lnTo>
                <a:lnTo>
                  <a:pt x="3046" y="913"/>
                </a:lnTo>
                <a:lnTo>
                  <a:pt x="3040" y="907"/>
                </a:lnTo>
                <a:lnTo>
                  <a:pt x="3052" y="913"/>
                </a:lnTo>
                <a:lnTo>
                  <a:pt x="3058" y="919"/>
                </a:lnTo>
                <a:lnTo>
                  <a:pt x="3064" y="930"/>
                </a:lnTo>
                <a:lnTo>
                  <a:pt x="3064" y="925"/>
                </a:lnTo>
                <a:lnTo>
                  <a:pt x="3070" y="930"/>
                </a:lnTo>
                <a:lnTo>
                  <a:pt x="3070" y="936"/>
                </a:lnTo>
                <a:lnTo>
                  <a:pt x="3075" y="948"/>
                </a:lnTo>
                <a:lnTo>
                  <a:pt x="3075" y="942"/>
                </a:lnTo>
                <a:lnTo>
                  <a:pt x="3081" y="948"/>
                </a:lnTo>
                <a:lnTo>
                  <a:pt x="3087" y="954"/>
                </a:lnTo>
                <a:lnTo>
                  <a:pt x="3093" y="959"/>
                </a:lnTo>
                <a:lnTo>
                  <a:pt x="3099" y="965"/>
                </a:lnTo>
                <a:lnTo>
                  <a:pt x="3110" y="977"/>
                </a:lnTo>
                <a:lnTo>
                  <a:pt x="3116" y="983"/>
                </a:lnTo>
                <a:lnTo>
                  <a:pt x="3116" y="989"/>
                </a:lnTo>
                <a:lnTo>
                  <a:pt x="3122" y="1000"/>
                </a:lnTo>
                <a:lnTo>
                  <a:pt x="3128" y="1012"/>
                </a:lnTo>
                <a:lnTo>
                  <a:pt x="3134" y="1023"/>
                </a:lnTo>
                <a:lnTo>
                  <a:pt x="3134" y="1018"/>
                </a:lnTo>
                <a:lnTo>
                  <a:pt x="3139" y="1023"/>
                </a:lnTo>
                <a:lnTo>
                  <a:pt x="3145" y="1029"/>
                </a:lnTo>
                <a:lnTo>
                  <a:pt x="3139" y="1029"/>
                </a:lnTo>
                <a:lnTo>
                  <a:pt x="3151" y="1029"/>
                </a:lnTo>
                <a:lnTo>
                  <a:pt x="3157" y="1029"/>
                </a:lnTo>
                <a:lnTo>
                  <a:pt x="3163" y="1035"/>
                </a:lnTo>
                <a:lnTo>
                  <a:pt x="3169" y="1041"/>
                </a:lnTo>
                <a:lnTo>
                  <a:pt x="3169" y="1047"/>
                </a:lnTo>
                <a:lnTo>
                  <a:pt x="3174" y="1058"/>
                </a:lnTo>
                <a:lnTo>
                  <a:pt x="3174" y="1052"/>
                </a:lnTo>
                <a:lnTo>
                  <a:pt x="3180" y="1058"/>
                </a:lnTo>
                <a:lnTo>
                  <a:pt x="3180" y="1064"/>
                </a:lnTo>
                <a:lnTo>
                  <a:pt x="3186" y="1082"/>
                </a:lnTo>
                <a:lnTo>
                  <a:pt x="3186" y="1076"/>
                </a:lnTo>
                <a:lnTo>
                  <a:pt x="3192" y="1082"/>
                </a:lnTo>
                <a:lnTo>
                  <a:pt x="3192" y="1087"/>
                </a:lnTo>
                <a:lnTo>
                  <a:pt x="3198" y="1099"/>
                </a:lnTo>
                <a:lnTo>
                  <a:pt x="3192" y="1093"/>
                </a:lnTo>
                <a:lnTo>
                  <a:pt x="3203" y="1093"/>
                </a:lnTo>
                <a:lnTo>
                  <a:pt x="3209" y="1093"/>
                </a:lnTo>
                <a:lnTo>
                  <a:pt x="3215" y="1099"/>
                </a:lnTo>
                <a:lnTo>
                  <a:pt x="3215" y="1105"/>
                </a:lnTo>
                <a:lnTo>
                  <a:pt x="3221" y="1116"/>
                </a:lnTo>
                <a:lnTo>
                  <a:pt x="3203" y="1122"/>
                </a:lnTo>
                <a:lnTo>
                  <a:pt x="3209" y="884"/>
                </a:lnTo>
                <a:lnTo>
                  <a:pt x="3209" y="872"/>
                </a:lnTo>
                <a:lnTo>
                  <a:pt x="3215" y="872"/>
                </a:lnTo>
                <a:lnTo>
                  <a:pt x="3227" y="872"/>
                </a:lnTo>
                <a:lnTo>
                  <a:pt x="3227" y="878"/>
                </a:lnTo>
                <a:lnTo>
                  <a:pt x="3233" y="896"/>
                </a:lnTo>
                <a:lnTo>
                  <a:pt x="3238" y="907"/>
                </a:lnTo>
                <a:lnTo>
                  <a:pt x="3244" y="919"/>
                </a:lnTo>
                <a:lnTo>
                  <a:pt x="3238" y="913"/>
                </a:lnTo>
                <a:lnTo>
                  <a:pt x="3250" y="919"/>
                </a:lnTo>
                <a:lnTo>
                  <a:pt x="3256" y="925"/>
                </a:lnTo>
                <a:lnTo>
                  <a:pt x="3262" y="936"/>
                </a:lnTo>
                <a:lnTo>
                  <a:pt x="3262" y="930"/>
                </a:lnTo>
                <a:lnTo>
                  <a:pt x="3268" y="936"/>
                </a:lnTo>
                <a:lnTo>
                  <a:pt x="3262" y="936"/>
                </a:lnTo>
                <a:lnTo>
                  <a:pt x="3268" y="936"/>
                </a:lnTo>
                <a:lnTo>
                  <a:pt x="3273" y="936"/>
                </a:lnTo>
                <a:lnTo>
                  <a:pt x="3279" y="936"/>
                </a:lnTo>
                <a:lnTo>
                  <a:pt x="3285" y="942"/>
                </a:lnTo>
                <a:lnTo>
                  <a:pt x="3291" y="948"/>
                </a:lnTo>
                <a:lnTo>
                  <a:pt x="3285" y="948"/>
                </a:lnTo>
                <a:lnTo>
                  <a:pt x="3297" y="954"/>
                </a:lnTo>
                <a:lnTo>
                  <a:pt x="3302" y="954"/>
                </a:lnTo>
                <a:lnTo>
                  <a:pt x="3308" y="959"/>
                </a:lnTo>
                <a:lnTo>
                  <a:pt x="3314" y="965"/>
                </a:lnTo>
                <a:lnTo>
                  <a:pt x="3320" y="971"/>
                </a:lnTo>
                <a:lnTo>
                  <a:pt x="3314" y="971"/>
                </a:lnTo>
                <a:lnTo>
                  <a:pt x="3320" y="971"/>
                </a:lnTo>
                <a:lnTo>
                  <a:pt x="3326" y="977"/>
                </a:lnTo>
                <a:lnTo>
                  <a:pt x="3332" y="989"/>
                </a:lnTo>
                <a:lnTo>
                  <a:pt x="3332" y="983"/>
                </a:lnTo>
                <a:lnTo>
                  <a:pt x="3337" y="989"/>
                </a:lnTo>
                <a:lnTo>
                  <a:pt x="3332" y="989"/>
                </a:lnTo>
                <a:lnTo>
                  <a:pt x="3337" y="989"/>
                </a:lnTo>
                <a:lnTo>
                  <a:pt x="3349" y="994"/>
                </a:lnTo>
                <a:lnTo>
                  <a:pt x="3355" y="994"/>
                </a:lnTo>
                <a:lnTo>
                  <a:pt x="3361" y="1000"/>
                </a:lnTo>
                <a:lnTo>
                  <a:pt x="3367" y="1006"/>
                </a:lnTo>
                <a:lnTo>
                  <a:pt x="3361" y="1006"/>
                </a:lnTo>
                <a:lnTo>
                  <a:pt x="3367" y="1006"/>
                </a:lnTo>
                <a:lnTo>
                  <a:pt x="3372" y="1006"/>
                </a:lnTo>
                <a:lnTo>
                  <a:pt x="3378" y="1012"/>
                </a:lnTo>
                <a:lnTo>
                  <a:pt x="3384" y="1018"/>
                </a:lnTo>
                <a:lnTo>
                  <a:pt x="3390" y="1023"/>
                </a:lnTo>
                <a:lnTo>
                  <a:pt x="3384" y="1023"/>
                </a:lnTo>
                <a:lnTo>
                  <a:pt x="3396" y="1029"/>
                </a:lnTo>
                <a:lnTo>
                  <a:pt x="3401" y="1029"/>
                </a:lnTo>
                <a:lnTo>
                  <a:pt x="3407" y="1035"/>
                </a:lnTo>
                <a:lnTo>
                  <a:pt x="3413" y="1041"/>
                </a:lnTo>
                <a:lnTo>
                  <a:pt x="3407" y="1041"/>
                </a:lnTo>
                <a:lnTo>
                  <a:pt x="3413" y="1041"/>
                </a:lnTo>
                <a:lnTo>
                  <a:pt x="3419" y="1047"/>
                </a:lnTo>
                <a:lnTo>
                  <a:pt x="3425" y="1058"/>
                </a:lnTo>
                <a:lnTo>
                  <a:pt x="3419" y="1052"/>
                </a:lnTo>
                <a:lnTo>
                  <a:pt x="3425" y="1052"/>
                </a:lnTo>
                <a:lnTo>
                  <a:pt x="3431" y="1052"/>
                </a:lnTo>
                <a:lnTo>
                  <a:pt x="3436" y="1058"/>
                </a:lnTo>
                <a:lnTo>
                  <a:pt x="3442" y="1064"/>
                </a:lnTo>
                <a:lnTo>
                  <a:pt x="3436" y="1064"/>
                </a:lnTo>
                <a:lnTo>
                  <a:pt x="3448" y="1070"/>
                </a:lnTo>
                <a:lnTo>
                  <a:pt x="3454" y="1070"/>
                </a:lnTo>
                <a:lnTo>
                  <a:pt x="3460" y="1070"/>
                </a:lnTo>
                <a:lnTo>
                  <a:pt x="3466" y="1070"/>
                </a:lnTo>
                <a:lnTo>
                  <a:pt x="3471" y="1076"/>
                </a:lnTo>
                <a:lnTo>
                  <a:pt x="3477" y="1082"/>
                </a:lnTo>
                <a:lnTo>
                  <a:pt x="3483" y="1087"/>
                </a:lnTo>
                <a:lnTo>
                  <a:pt x="3489" y="1093"/>
                </a:lnTo>
                <a:lnTo>
                  <a:pt x="3483" y="1093"/>
                </a:lnTo>
                <a:lnTo>
                  <a:pt x="3495" y="1093"/>
                </a:lnTo>
                <a:lnTo>
                  <a:pt x="3500" y="1093"/>
                </a:lnTo>
                <a:lnTo>
                  <a:pt x="3506" y="1093"/>
                </a:lnTo>
                <a:lnTo>
                  <a:pt x="3512" y="1099"/>
                </a:lnTo>
                <a:lnTo>
                  <a:pt x="3518" y="1105"/>
                </a:lnTo>
                <a:lnTo>
                  <a:pt x="3512" y="1105"/>
                </a:lnTo>
                <a:lnTo>
                  <a:pt x="3518" y="1105"/>
                </a:lnTo>
                <a:lnTo>
                  <a:pt x="3524" y="1105"/>
                </a:lnTo>
                <a:lnTo>
                  <a:pt x="3530" y="1111"/>
                </a:lnTo>
                <a:lnTo>
                  <a:pt x="3535" y="1116"/>
                </a:lnTo>
                <a:lnTo>
                  <a:pt x="3541" y="1122"/>
                </a:lnTo>
                <a:lnTo>
                  <a:pt x="3535" y="1122"/>
                </a:lnTo>
                <a:lnTo>
                  <a:pt x="3547" y="1128"/>
                </a:lnTo>
                <a:lnTo>
                  <a:pt x="3553" y="1128"/>
                </a:lnTo>
                <a:lnTo>
                  <a:pt x="3559" y="1134"/>
                </a:lnTo>
                <a:lnTo>
                  <a:pt x="3553" y="1134"/>
                </a:lnTo>
                <a:lnTo>
                  <a:pt x="3559" y="1134"/>
                </a:lnTo>
                <a:lnTo>
                  <a:pt x="3565" y="1134"/>
                </a:lnTo>
                <a:lnTo>
                  <a:pt x="3570" y="1140"/>
                </a:lnTo>
                <a:lnTo>
                  <a:pt x="3576" y="1145"/>
                </a:lnTo>
                <a:lnTo>
                  <a:pt x="3570" y="1145"/>
                </a:lnTo>
                <a:lnTo>
                  <a:pt x="3576" y="1145"/>
                </a:lnTo>
                <a:lnTo>
                  <a:pt x="3582" y="1145"/>
                </a:lnTo>
                <a:lnTo>
                  <a:pt x="3588" y="1151"/>
                </a:lnTo>
                <a:lnTo>
                  <a:pt x="3582" y="1151"/>
                </a:lnTo>
                <a:lnTo>
                  <a:pt x="3594" y="1157"/>
                </a:lnTo>
                <a:lnTo>
                  <a:pt x="3599" y="1157"/>
                </a:lnTo>
                <a:lnTo>
                  <a:pt x="3605" y="1163"/>
                </a:lnTo>
                <a:lnTo>
                  <a:pt x="3611" y="1169"/>
                </a:lnTo>
                <a:lnTo>
                  <a:pt x="3605" y="1169"/>
                </a:lnTo>
                <a:lnTo>
                  <a:pt x="3611" y="1169"/>
                </a:lnTo>
                <a:lnTo>
                  <a:pt x="3599" y="1180"/>
                </a:lnTo>
                <a:lnTo>
                  <a:pt x="3605" y="971"/>
                </a:lnTo>
                <a:lnTo>
                  <a:pt x="3611" y="959"/>
                </a:lnTo>
                <a:lnTo>
                  <a:pt x="3623" y="959"/>
                </a:lnTo>
                <a:lnTo>
                  <a:pt x="3629" y="965"/>
                </a:lnTo>
                <a:lnTo>
                  <a:pt x="3623" y="965"/>
                </a:lnTo>
                <a:lnTo>
                  <a:pt x="3629" y="965"/>
                </a:lnTo>
                <a:lnTo>
                  <a:pt x="3634" y="965"/>
                </a:lnTo>
                <a:lnTo>
                  <a:pt x="3640" y="971"/>
                </a:lnTo>
                <a:lnTo>
                  <a:pt x="3634" y="971"/>
                </a:lnTo>
                <a:lnTo>
                  <a:pt x="3646" y="977"/>
                </a:lnTo>
                <a:lnTo>
                  <a:pt x="3652" y="977"/>
                </a:lnTo>
                <a:lnTo>
                  <a:pt x="3658" y="983"/>
                </a:lnTo>
                <a:lnTo>
                  <a:pt x="3664" y="994"/>
                </a:lnTo>
                <a:lnTo>
                  <a:pt x="3664" y="989"/>
                </a:lnTo>
                <a:lnTo>
                  <a:pt x="3669" y="994"/>
                </a:lnTo>
                <a:lnTo>
                  <a:pt x="3675" y="1000"/>
                </a:lnTo>
                <a:lnTo>
                  <a:pt x="3681" y="1006"/>
                </a:lnTo>
                <a:lnTo>
                  <a:pt x="3687" y="1012"/>
                </a:lnTo>
                <a:lnTo>
                  <a:pt x="3669" y="1018"/>
                </a:lnTo>
                <a:lnTo>
                  <a:pt x="3681" y="791"/>
                </a:lnTo>
                <a:lnTo>
                  <a:pt x="3687" y="785"/>
                </a:lnTo>
                <a:lnTo>
                  <a:pt x="3698" y="785"/>
                </a:lnTo>
                <a:lnTo>
                  <a:pt x="3704" y="791"/>
                </a:lnTo>
                <a:lnTo>
                  <a:pt x="3698" y="791"/>
                </a:lnTo>
                <a:lnTo>
                  <a:pt x="3704" y="791"/>
                </a:lnTo>
                <a:lnTo>
                  <a:pt x="3710" y="791"/>
                </a:lnTo>
                <a:lnTo>
                  <a:pt x="3716" y="797"/>
                </a:lnTo>
                <a:lnTo>
                  <a:pt x="3722" y="803"/>
                </a:lnTo>
                <a:lnTo>
                  <a:pt x="3722" y="808"/>
                </a:lnTo>
                <a:lnTo>
                  <a:pt x="3728" y="820"/>
                </a:lnTo>
                <a:lnTo>
                  <a:pt x="3728" y="814"/>
                </a:lnTo>
                <a:lnTo>
                  <a:pt x="3733" y="820"/>
                </a:lnTo>
                <a:lnTo>
                  <a:pt x="3728" y="820"/>
                </a:lnTo>
                <a:lnTo>
                  <a:pt x="3733" y="820"/>
                </a:lnTo>
                <a:lnTo>
                  <a:pt x="3745" y="826"/>
                </a:lnTo>
                <a:lnTo>
                  <a:pt x="3751" y="826"/>
                </a:lnTo>
                <a:lnTo>
                  <a:pt x="3757" y="826"/>
                </a:lnTo>
                <a:lnTo>
                  <a:pt x="3763" y="826"/>
                </a:lnTo>
                <a:lnTo>
                  <a:pt x="3768" y="826"/>
                </a:lnTo>
                <a:lnTo>
                  <a:pt x="3774" y="832"/>
                </a:lnTo>
                <a:lnTo>
                  <a:pt x="3757" y="837"/>
                </a:lnTo>
                <a:lnTo>
                  <a:pt x="3763" y="663"/>
                </a:lnTo>
                <a:lnTo>
                  <a:pt x="3768" y="657"/>
                </a:lnTo>
                <a:lnTo>
                  <a:pt x="3780" y="657"/>
                </a:lnTo>
                <a:lnTo>
                  <a:pt x="3786" y="663"/>
                </a:lnTo>
                <a:lnTo>
                  <a:pt x="3780" y="663"/>
                </a:lnTo>
                <a:lnTo>
                  <a:pt x="3792" y="669"/>
                </a:lnTo>
                <a:lnTo>
                  <a:pt x="3797" y="669"/>
                </a:lnTo>
                <a:lnTo>
                  <a:pt x="3803" y="669"/>
                </a:lnTo>
                <a:lnTo>
                  <a:pt x="3809" y="675"/>
                </a:lnTo>
                <a:lnTo>
                  <a:pt x="3803" y="675"/>
                </a:lnTo>
                <a:lnTo>
                  <a:pt x="3809" y="675"/>
                </a:lnTo>
                <a:lnTo>
                  <a:pt x="3815" y="675"/>
                </a:lnTo>
                <a:lnTo>
                  <a:pt x="3821" y="680"/>
                </a:lnTo>
                <a:lnTo>
                  <a:pt x="3815" y="680"/>
                </a:lnTo>
                <a:lnTo>
                  <a:pt x="3821" y="680"/>
                </a:lnTo>
                <a:lnTo>
                  <a:pt x="3827" y="680"/>
                </a:lnTo>
                <a:lnTo>
                  <a:pt x="3832" y="680"/>
                </a:lnTo>
                <a:lnTo>
                  <a:pt x="3844" y="686"/>
                </a:lnTo>
                <a:lnTo>
                  <a:pt x="3850" y="686"/>
                </a:lnTo>
                <a:lnTo>
                  <a:pt x="3856" y="692"/>
                </a:lnTo>
                <a:lnTo>
                  <a:pt x="3862" y="698"/>
                </a:lnTo>
                <a:lnTo>
                  <a:pt x="3856" y="698"/>
                </a:lnTo>
                <a:lnTo>
                  <a:pt x="3862" y="698"/>
                </a:lnTo>
                <a:lnTo>
                  <a:pt x="3867" y="698"/>
                </a:lnTo>
                <a:lnTo>
                  <a:pt x="3873" y="698"/>
                </a:lnTo>
                <a:lnTo>
                  <a:pt x="3879" y="704"/>
                </a:lnTo>
                <a:lnTo>
                  <a:pt x="3885" y="710"/>
                </a:lnTo>
                <a:lnTo>
                  <a:pt x="3879" y="710"/>
                </a:lnTo>
                <a:lnTo>
                  <a:pt x="3891" y="710"/>
                </a:lnTo>
                <a:lnTo>
                  <a:pt x="3896" y="710"/>
                </a:lnTo>
                <a:lnTo>
                  <a:pt x="3902" y="715"/>
                </a:lnTo>
                <a:lnTo>
                  <a:pt x="3896" y="715"/>
                </a:lnTo>
                <a:lnTo>
                  <a:pt x="3902" y="715"/>
                </a:lnTo>
                <a:lnTo>
                  <a:pt x="3908" y="715"/>
                </a:lnTo>
                <a:lnTo>
                  <a:pt x="3914" y="721"/>
                </a:lnTo>
                <a:lnTo>
                  <a:pt x="3920" y="739"/>
                </a:lnTo>
                <a:lnTo>
                  <a:pt x="3914" y="733"/>
                </a:lnTo>
                <a:lnTo>
                  <a:pt x="3920" y="733"/>
                </a:lnTo>
                <a:lnTo>
                  <a:pt x="3926" y="733"/>
                </a:lnTo>
                <a:lnTo>
                  <a:pt x="3931" y="739"/>
                </a:lnTo>
                <a:lnTo>
                  <a:pt x="3937" y="750"/>
                </a:lnTo>
                <a:lnTo>
                  <a:pt x="3931" y="744"/>
                </a:lnTo>
                <a:lnTo>
                  <a:pt x="3943" y="750"/>
                </a:lnTo>
                <a:lnTo>
                  <a:pt x="3949" y="750"/>
                </a:lnTo>
                <a:lnTo>
                  <a:pt x="3955" y="756"/>
                </a:lnTo>
                <a:lnTo>
                  <a:pt x="3961" y="762"/>
                </a:lnTo>
                <a:lnTo>
                  <a:pt x="3966" y="768"/>
                </a:lnTo>
                <a:lnTo>
                  <a:pt x="3961" y="768"/>
                </a:lnTo>
                <a:lnTo>
                  <a:pt x="3966" y="768"/>
                </a:lnTo>
                <a:lnTo>
                  <a:pt x="3972" y="773"/>
                </a:lnTo>
                <a:lnTo>
                  <a:pt x="3978" y="785"/>
                </a:lnTo>
                <a:lnTo>
                  <a:pt x="3978" y="779"/>
                </a:lnTo>
                <a:lnTo>
                  <a:pt x="3984" y="785"/>
                </a:lnTo>
                <a:lnTo>
                  <a:pt x="3995" y="797"/>
                </a:lnTo>
                <a:lnTo>
                  <a:pt x="3990" y="797"/>
                </a:lnTo>
                <a:lnTo>
                  <a:pt x="3995" y="797"/>
                </a:lnTo>
                <a:lnTo>
                  <a:pt x="4001" y="797"/>
                </a:lnTo>
                <a:lnTo>
                  <a:pt x="4007" y="803"/>
                </a:lnTo>
                <a:lnTo>
                  <a:pt x="4007" y="808"/>
                </a:lnTo>
                <a:lnTo>
                  <a:pt x="4013" y="820"/>
                </a:lnTo>
                <a:lnTo>
                  <a:pt x="4013" y="814"/>
                </a:lnTo>
                <a:lnTo>
                  <a:pt x="4019" y="820"/>
                </a:lnTo>
                <a:lnTo>
                  <a:pt x="4013" y="820"/>
                </a:lnTo>
                <a:lnTo>
                  <a:pt x="4019" y="820"/>
                </a:lnTo>
                <a:lnTo>
                  <a:pt x="4025" y="826"/>
                </a:lnTo>
                <a:lnTo>
                  <a:pt x="4030" y="837"/>
                </a:lnTo>
                <a:lnTo>
                  <a:pt x="4025" y="832"/>
                </a:lnTo>
                <a:lnTo>
                  <a:pt x="4030" y="832"/>
                </a:lnTo>
                <a:lnTo>
                  <a:pt x="4042" y="837"/>
                </a:lnTo>
                <a:lnTo>
                  <a:pt x="4048" y="837"/>
                </a:lnTo>
                <a:lnTo>
                  <a:pt x="4054" y="843"/>
                </a:lnTo>
                <a:lnTo>
                  <a:pt x="4054" y="849"/>
                </a:lnTo>
                <a:lnTo>
                  <a:pt x="4060" y="861"/>
                </a:lnTo>
                <a:lnTo>
                  <a:pt x="4060" y="855"/>
                </a:lnTo>
                <a:lnTo>
                  <a:pt x="4065" y="861"/>
                </a:lnTo>
                <a:lnTo>
                  <a:pt x="4060" y="861"/>
                </a:lnTo>
                <a:lnTo>
                  <a:pt x="4065" y="861"/>
                </a:lnTo>
                <a:lnTo>
                  <a:pt x="4071" y="861"/>
                </a:lnTo>
                <a:lnTo>
                  <a:pt x="4077" y="866"/>
                </a:lnTo>
                <a:lnTo>
                  <a:pt x="4077" y="872"/>
                </a:lnTo>
                <a:lnTo>
                  <a:pt x="4083" y="884"/>
                </a:lnTo>
                <a:lnTo>
                  <a:pt x="4077" y="878"/>
                </a:lnTo>
                <a:lnTo>
                  <a:pt x="4089" y="878"/>
                </a:lnTo>
                <a:lnTo>
                  <a:pt x="4095" y="878"/>
                </a:lnTo>
                <a:lnTo>
                  <a:pt x="4100" y="878"/>
                </a:lnTo>
                <a:lnTo>
                  <a:pt x="4106" y="878"/>
                </a:lnTo>
                <a:lnTo>
                  <a:pt x="4112" y="884"/>
                </a:lnTo>
                <a:lnTo>
                  <a:pt x="4095" y="884"/>
                </a:lnTo>
                <a:lnTo>
                  <a:pt x="4100" y="878"/>
                </a:lnTo>
                <a:lnTo>
                  <a:pt x="4112" y="878"/>
                </a:lnTo>
                <a:lnTo>
                  <a:pt x="4118" y="878"/>
                </a:lnTo>
                <a:lnTo>
                  <a:pt x="4124" y="878"/>
                </a:lnTo>
                <a:lnTo>
                  <a:pt x="4129" y="878"/>
                </a:lnTo>
                <a:lnTo>
                  <a:pt x="4141" y="884"/>
                </a:lnTo>
                <a:lnTo>
                  <a:pt x="4147" y="884"/>
                </a:lnTo>
                <a:lnTo>
                  <a:pt x="4153" y="890"/>
                </a:lnTo>
                <a:lnTo>
                  <a:pt x="4153" y="896"/>
                </a:lnTo>
                <a:lnTo>
                  <a:pt x="4159" y="907"/>
                </a:lnTo>
                <a:lnTo>
                  <a:pt x="4153" y="901"/>
                </a:lnTo>
                <a:lnTo>
                  <a:pt x="4159" y="901"/>
                </a:lnTo>
                <a:lnTo>
                  <a:pt x="4164" y="901"/>
                </a:lnTo>
                <a:lnTo>
                  <a:pt x="4170" y="901"/>
                </a:lnTo>
                <a:lnTo>
                  <a:pt x="4176" y="907"/>
                </a:lnTo>
                <a:lnTo>
                  <a:pt x="4182" y="913"/>
                </a:lnTo>
                <a:lnTo>
                  <a:pt x="4176" y="913"/>
                </a:lnTo>
                <a:lnTo>
                  <a:pt x="4188" y="913"/>
                </a:lnTo>
                <a:lnTo>
                  <a:pt x="4194" y="913"/>
                </a:lnTo>
                <a:lnTo>
                  <a:pt x="4199" y="919"/>
                </a:lnTo>
                <a:lnTo>
                  <a:pt x="4205" y="925"/>
                </a:lnTo>
                <a:lnTo>
                  <a:pt x="4199" y="925"/>
                </a:lnTo>
                <a:lnTo>
                  <a:pt x="4205" y="925"/>
                </a:lnTo>
                <a:lnTo>
                  <a:pt x="4211" y="930"/>
                </a:lnTo>
                <a:lnTo>
                  <a:pt x="4217" y="942"/>
                </a:lnTo>
                <a:lnTo>
                  <a:pt x="4223" y="954"/>
                </a:lnTo>
                <a:lnTo>
                  <a:pt x="4217" y="948"/>
                </a:lnTo>
                <a:lnTo>
                  <a:pt x="4223" y="948"/>
                </a:lnTo>
                <a:lnTo>
                  <a:pt x="4217" y="948"/>
                </a:lnTo>
                <a:lnTo>
                  <a:pt x="4228" y="942"/>
                </a:lnTo>
                <a:lnTo>
                  <a:pt x="4223" y="942"/>
                </a:lnTo>
                <a:lnTo>
                  <a:pt x="4228" y="936"/>
                </a:lnTo>
                <a:lnTo>
                  <a:pt x="4240" y="936"/>
                </a:lnTo>
                <a:lnTo>
                  <a:pt x="4246" y="936"/>
                </a:lnTo>
                <a:lnTo>
                  <a:pt x="4252" y="942"/>
                </a:lnTo>
                <a:lnTo>
                  <a:pt x="4258" y="948"/>
                </a:lnTo>
                <a:lnTo>
                  <a:pt x="4263" y="954"/>
                </a:lnTo>
                <a:lnTo>
                  <a:pt x="4263" y="959"/>
                </a:lnTo>
                <a:lnTo>
                  <a:pt x="4269" y="971"/>
                </a:lnTo>
                <a:lnTo>
                  <a:pt x="4252" y="965"/>
                </a:lnTo>
                <a:lnTo>
                  <a:pt x="4258" y="959"/>
                </a:lnTo>
                <a:lnTo>
                  <a:pt x="4269" y="959"/>
                </a:lnTo>
                <a:lnTo>
                  <a:pt x="4275" y="959"/>
                </a:lnTo>
                <a:lnTo>
                  <a:pt x="4287" y="965"/>
                </a:lnTo>
                <a:lnTo>
                  <a:pt x="4293" y="971"/>
                </a:lnTo>
                <a:lnTo>
                  <a:pt x="4298" y="983"/>
                </a:lnTo>
                <a:lnTo>
                  <a:pt x="4298" y="977"/>
                </a:lnTo>
                <a:lnTo>
                  <a:pt x="4304" y="983"/>
                </a:lnTo>
                <a:lnTo>
                  <a:pt x="4298" y="983"/>
                </a:lnTo>
                <a:lnTo>
                  <a:pt x="4304" y="983"/>
                </a:lnTo>
                <a:lnTo>
                  <a:pt x="4310" y="983"/>
                </a:lnTo>
                <a:lnTo>
                  <a:pt x="4316" y="989"/>
                </a:lnTo>
                <a:lnTo>
                  <a:pt x="4322" y="994"/>
                </a:lnTo>
                <a:lnTo>
                  <a:pt x="4322" y="1000"/>
                </a:lnTo>
                <a:lnTo>
                  <a:pt x="4327" y="1012"/>
                </a:lnTo>
                <a:lnTo>
                  <a:pt x="4322" y="1006"/>
                </a:lnTo>
                <a:lnTo>
                  <a:pt x="4333" y="1006"/>
                </a:lnTo>
                <a:lnTo>
                  <a:pt x="4339" y="1006"/>
                </a:lnTo>
                <a:lnTo>
                  <a:pt x="4345" y="1006"/>
                </a:lnTo>
                <a:lnTo>
                  <a:pt x="4351" y="1012"/>
                </a:lnTo>
                <a:lnTo>
                  <a:pt x="4351" y="1018"/>
                </a:lnTo>
                <a:lnTo>
                  <a:pt x="4357" y="1029"/>
                </a:lnTo>
                <a:lnTo>
                  <a:pt x="4357" y="1023"/>
                </a:lnTo>
                <a:lnTo>
                  <a:pt x="4362" y="1029"/>
                </a:lnTo>
                <a:lnTo>
                  <a:pt x="4357" y="1029"/>
                </a:lnTo>
                <a:lnTo>
                  <a:pt x="4362" y="1029"/>
                </a:lnTo>
                <a:lnTo>
                  <a:pt x="4368" y="1029"/>
                </a:lnTo>
                <a:lnTo>
                  <a:pt x="4374" y="1029"/>
                </a:lnTo>
                <a:lnTo>
                  <a:pt x="4380" y="1035"/>
                </a:lnTo>
                <a:lnTo>
                  <a:pt x="4392" y="1047"/>
                </a:lnTo>
                <a:lnTo>
                  <a:pt x="4397" y="1052"/>
                </a:lnTo>
                <a:lnTo>
                  <a:pt x="4392" y="1052"/>
                </a:lnTo>
                <a:lnTo>
                  <a:pt x="4397" y="1052"/>
                </a:lnTo>
                <a:lnTo>
                  <a:pt x="4403" y="1052"/>
                </a:lnTo>
                <a:lnTo>
                  <a:pt x="4409" y="1058"/>
                </a:lnTo>
                <a:lnTo>
                  <a:pt x="4415" y="1070"/>
                </a:lnTo>
                <a:lnTo>
                  <a:pt x="4421" y="1082"/>
                </a:lnTo>
                <a:lnTo>
                  <a:pt x="4426" y="1082"/>
                </a:lnTo>
                <a:lnTo>
                  <a:pt x="4432" y="1105"/>
                </a:lnTo>
                <a:lnTo>
                  <a:pt x="4421" y="1099"/>
                </a:lnTo>
                <a:lnTo>
                  <a:pt x="4432" y="1105"/>
                </a:lnTo>
                <a:lnTo>
                  <a:pt x="4421" y="1111"/>
                </a:lnTo>
                <a:lnTo>
                  <a:pt x="4426" y="1099"/>
                </a:lnTo>
                <a:lnTo>
                  <a:pt x="4438" y="1093"/>
                </a:lnTo>
                <a:lnTo>
                  <a:pt x="4444" y="1093"/>
                </a:lnTo>
                <a:lnTo>
                  <a:pt x="4450" y="1099"/>
                </a:lnTo>
                <a:lnTo>
                  <a:pt x="4456" y="1111"/>
                </a:lnTo>
                <a:lnTo>
                  <a:pt x="4450" y="1105"/>
                </a:lnTo>
                <a:lnTo>
                  <a:pt x="4456" y="1105"/>
                </a:lnTo>
                <a:lnTo>
                  <a:pt x="4461" y="1105"/>
                </a:lnTo>
                <a:lnTo>
                  <a:pt x="4467" y="1111"/>
                </a:lnTo>
                <a:lnTo>
                  <a:pt x="4473" y="1116"/>
                </a:lnTo>
                <a:lnTo>
                  <a:pt x="4479" y="1122"/>
                </a:lnTo>
                <a:lnTo>
                  <a:pt x="4473" y="1122"/>
                </a:lnTo>
                <a:lnTo>
                  <a:pt x="4485" y="1128"/>
                </a:lnTo>
                <a:lnTo>
                  <a:pt x="4491" y="1134"/>
                </a:lnTo>
                <a:lnTo>
                  <a:pt x="4496" y="1145"/>
                </a:lnTo>
                <a:lnTo>
                  <a:pt x="4496" y="1140"/>
                </a:lnTo>
                <a:lnTo>
                  <a:pt x="4502" y="1145"/>
                </a:lnTo>
                <a:lnTo>
                  <a:pt x="4485" y="1145"/>
                </a:lnTo>
                <a:lnTo>
                  <a:pt x="4491" y="1140"/>
                </a:lnTo>
                <a:lnTo>
                  <a:pt x="4491" y="1145"/>
                </a:lnTo>
                <a:lnTo>
                  <a:pt x="4496" y="1134"/>
                </a:lnTo>
                <a:lnTo>
                  <a:pt x="4502" y="1128"/>
                </a:lnTo>
                <a:lnTo>
                  <a:pt x="4514" y="1128"/>
                </a:lnTo>
                <a:lnTo>
                  <a:pt x="4520" y="1134"/>
                </a:lnTo>
                <a:lnTo>
                  <a:pt x="4525" y="1140"/>
                </a:lnTo>
                <a:lnTo>
                  <a:pt x="4520" y="1140"/>
                </a:lnTo>
                <a:lnTo>
                  <a:pt x="4531" y="1145"/>
                </a:lnTo>
                <a:lnTo>
                  <a:pt x="4537" y="1145"/>
                </a:lnTo>
                <a:lnTo>
                  <a:pt x="4543" y="1151"/>
                </a:lnTo>
                <a:lnTo>
                  <a:pt x="4549" y="1157"/>
                </a:lnTo>
                <a:lnTo>
                  <a:pt x="4555" y="1163"/>
                </a:lnTo>
                <a:lnTo>
                  <a:pt x="4555" y="1169"/>
                </a:lnTo>
                <a:lnTo>
                  <a:pt x="4560" y="1180"/>
                </a:lnTo>
                <a:lnTo>
                  <a:pt x="4555" y="1175"/>
                </a:lnTo>
                <a:lnTo>
                  <a:pt x="4560" y="1175"/>
                </a:lnTo>
                <a:lnTo>
                  <a:pt x="4566" y="1175"/>
                </a:lnTo>
                <a:lnTo>
                  <a:pt x="4572" y="1180"/>
                </a:lnTo>
                <a:lnTo>
                  <a:pt x="4555" y="1192"/>
                </a:lnTo>
                <a:lnTo>
                  <a:pt x="4560" y="948"/>
                </a:lnTo>
                <a:lnTo>
                  <a:pt x="4566" y="936"/>
                </a:lnTo>
                <a:lnTo>
                  <a:pt x="4578" y="936"/>
                </a:lnTo>
                <a:lnTo>
                  <a:pt x="4590" y="948"/>
                </a:lnTo>
                <a:lnTo>
                  <a:pt x="4595" y="954"/>
                </a:lnTo>
                <a:lnTo>
                  <a:pt x="4595" y="959"/>
                </a:lnTo>
                <a:lnTo>
                  <a:pt x="4601" y="977"/>
                </a:lnTo>
                <a:lnTo>
                  <a:pt x="4601" y="971"/>
                </a:lnTo>
                <a:lnTo>
                  <a:pt x="4607" y="977"/>
                </a:lnTo>
                <a:lnTo>
                  <a:pt x="4613" y="989"/>
                </a:lnTo>
                <a:lnTo>
                  <a:pt x="4607" y="994"/>
                </a:lnTo>
                <a:lnTo>
                  <a:pt x="4601" y="1000"/>
                </a:lnTo>
                <a:lnTo>
                  <a:pt x="4590" y="994"/>
                </a:lnTo>
                <a:lnTo>
                  <a:pt x="4584" y="989"/>
                </a:lnTo>
                <a:lnTo>
                  <a:pt x="4584" y="983"/>
                </a:lnTo>
                <a:lnTo>
                  <a:pt x="4578" y="965"/>
                </a:lnTo>
                <a:lnTo>
                  <a:pt x="4578" y="971"/>
                </a:lnTo>
                <a:lnTo>
                  <a:pt x="4572" y="965"/>
                </a:lnTo>
                <a:lnTo>
                  <a:pt x="4560" y="954"/>
                </a:lnTo>
                <a:lnTo>
                  <a:pt x="4584" y="948"/>
                </a:lnTo>
                <a:lnTo>
                  <a:pt x="4578" y="1192"/>
                </a:lnTo>
                <a:lnTo>
                  <a:pt x="4566" y="1198"/>
                </a:lnTo>
                <a:lnTo>
                  <a:pt x="4555" y="1198"/>
                </a:lnTo>
                <a:lnTo>
                  <a:pt x="4549" y="1192"/>
                </a:lnTo>
                <a:lnTo>
                  <a:pt x="4560" y="1198"/>
                </a:lnTo>
                <a:lnTo>
                  <a:pt x="4555" y="1198"/>
                </a:lnTo>
                <a:lnTo>
                  <a:pt x="4543" y="1186"/>
                </a:lnTo>
                <a:lnTo>
                  <a:pt x="4537" y="1175"/>
                </a:lnTo>
                <a:lnTo>
                  <a:pt x="4537" y="1180"/>
                </a:lnTo>
                <a:lnTo>
                  <a:pt x="4531" y="1175"/>
                </a:lnTo>
                <a:lnTo>
                  <a:pt x="4525" y="1169"/>
                </a:lnTo>
                <a:lnTo>
                  <a:pt x="4520" y="1163"/>
                </a:lnTo>
                <a:lnTo>
                  <a:pt x="4525" y="1163"/>
                </a:lnTo>
                <a:lnTo>
                  <a:pt x="4514" y="1157"/>
                </a:lnTo>
                <a:lnTo>
                  <a:pt x="4508" y="1157"/>
                </a:lnTo>
                <a:lnTo>
                  <a:pt x="4502" y="1151"/>
                </a:lnTo>
                <a:lnTo>
                  <a:pt x="4496" y="1145"/>
                </a:lnTo>
                <a:lnTo>
                  <a:pt x="4514" y="1140"/>
                </a:lnTo>
                <a:lnTo>
                  <a:pt x="4508" y="1151"/>
                </a:lnTo>
                <a:lnTo>
                  <a:pt x="4508" y="1157"/>
                </a:lnTo>
                <a:lnTo>
                  <a:pt x="4502" y="1163"/>
                </a:lnTo>
                <a:lnTo>
                  <a:pt x="4496" y="1169"/>
                </a:lnTo>
                <a:lnTo>
                  <a:pt x="4485" y="1163"/>
                </a:lnTo>
                <a:lnTo>
                  <a:pt x="4479" y="1157"/>
                </a:lnTo>
                <a:lnTo>
                  <a:pt x="4479" y="1151"/>
                </a:lnTo>
                <a:lnTo>
                  <a:pt x="4473" y="1140"/>
                </a:lnTo>
                <a:lnTo>
                  <a:pt x="4479" y="1145"/>
                </a:lnTo>
                <a:lnTo>
                  <a:pt x="4467" y="1140"/>
                </a:lnTo>
                <a:lnTo>
                  <a:pt x="4461" y="1140"/>
                </a:lnTo>
                <a:lnTo>
                  <a:pt x="4456" y="1134"/>
                </a:lnTo>
                <a:lnTo>
                  <a:pt x="4450" y="1128"/>
                </a:lnTo>
                <a:lnTo>
                  <a:pt x="4444" y="1122"/>
                </a:lnTo>
                <a:lnTo>
                  <a:pt x="4456" y="1128"/>
                </a:lnTo>
                <a:lnTo>
                  <a:pt x="4450" y="1128"/>
                </a:lnTo>
                <a:lnTo>
                  <a:pt x="4438" y="1116"/>
                </a:lnTo>
                <a:lnTo>
                  <a:pt x="4432" y="1105"/>
                </a:lnTo>
                <a:lnTo>
                  <a:pt x="4444" y="1116"/>
                </a:lnTo>
                <a:lnTo>
                  <a:pt x="4438" y="1116"/>
                </a:lnTo>
                <a:lnTo>
                  <a:pt x="4444" y="1105"/>
                </a:lnTo>
                <a:lnTo>
                  <a:pt x="4438" y="1116"/>
                </a:lnTo>
                <a:lnTo>
                  <a:pt x="4432" y="1122"/>
                </a:lnTo>
                <a:lnTo>
                  <a:pt x="4426" y="1122"/>
                </a:lnTo>
                <a:lnTo>
                  <a:pt x="4415" y="1116"/>
                </a:lnTo>
                <a:lnTo>
                  <a:pt x="4409" y="1111"/>
                </a:lnTo>
                <a:lnTo>
                  <a:pt x="4403" y="1087"/>
                </a:lnTo>
                <a:lnTo>
                  <a:pt x="4397" y="1076"/>
                </a:lnTo>
                <a:lnTo>
                  <a:pt x="4392" y="1064"/>
                </a:lnTo>
                <a:lnTo>
                  <a:pt x="4403" y="1076"/>
                </a:lnTo>
                <a:lnTo>
                  <a:pt x="4397" y="1076"/>
                </a:lnTo>
                <a:lnTo>
                  <a:pt x="4392" y="1076"/>
                </a:lnTo>
                <a:lnTo>
                  <a:pt x="4380" y="1070"/>
                </a:lnTo>
                <a:lnTo>
                  <a:pt x="4374" y="1064"/>
                </a:lnTo>
                <a:lnTo>
                  <a:pt x="4362" y="1052"/>
                </a:lnTo>
                <a:lnTo>
                  <a:pt x="4357" y="1047"/>
                </a:lnTo>
                <a:lnTo>
                  <a:pt x="4368" y="1052"/>
                </a:lnTo>
                <a:lnTo>
                  <a:pt x="4362" y="1052"/>
                </a:lnTo>
                <a:lnTo>
                  <a:pt x="4357" y="1052"/>
                </a:lnTo>
                <a:lnTo>
                  <a:pt x="4345" y="1047"/>
                </a:lnTo>
                <a:lnTo>
                  <a:pt x="4339" y="1041"/>
                </a:lnTo>
                <a:lnTo>
                  <a:pt x="4339" y="1035"/>
                </a:lnTo>
                <a:lnTo>
                  <a:pt x="4333" y="1023"/>
                </a:lnTo>
                <a:lnTo>
                  <a:pt x="4333" y="1029"/>
                </a:lnTo>
                <a:lnTo>
                  <a:pt x="4327" y="1023"/>
                </a:lnTo>
                <a:lnTo>
                  <a:pt x="4339" y="1029"/>
                </a:lnTo>
                <a:lnTo>
                  <a:pt x="4333" y="1029"/>
                </a:lnTo>
                <a:lnTo>
                  <a:pt x="4322" y="1029"/>
                </a:lnTo>
                <a:lnTo>
                  <a:pt x="4310" y="1018"/>
                </a:lnTo>
                <a:lnTo>
                  <a:pt x="4304" y="1006"/>
                </a:lnTo>
                <a:lnTo>
                  <a:pt x="4304" y="1012"/>
                </a:lnTo>
                <a:lnTo>
                  <a:pt x="4298" y="1006"/>
                </a:lnTo>
                <a:lnTo>
                  <a:pt x="4293" y="1000"/>
                </a:lnTo>
                <a:lnTo>
                  <a:pt x="4304" y="1006"/>
                </a:lnTo>
                <a:lnTo>
                  <a:pt x="4298" y="1006"/>
                </a:lnTo>
                <a:lnTo>
                  <a:pt x="4287" y="1000"/>
                </a:lnTo>
                <a:lnTo>
                  <a:pt x="4281" y="994"/>
                </a:lnTo>
                <a:lnTo>
                  <a:pt x="4281" y="989"/>
                </a:lnTo>
                <a:lnTo>
                  <a:pt x="4275" y="977"/>
                </a:lnTo>
                <a:lnTo>
                  <a:pt x="4281" y="983"/>
                </a:lnTo>
                <a:lnTo>
                  <a:pt x="4269" y="977"/>
                </a:lnTo>
                <a:lnTo>
                  <a:pt x="4275" y="983"/>
                </a:lnTo>
                <a:lnTo>
                  <a:pt x="4269" y="983"/>
                </a:lnTo>
                <a:lnTo>
                  <a:pt x="4275" y="977"/>
                </a:lnTo>
                <a:lnTo>
                  <a:pt x="4269" y="983"/>
                </a:lnTo>
                <a:lnTo>
                  <a:pt x="4258" y="989"/>
                </a:lnTo>
                <a:lnTo>
                  <a:pt x="4252" y="977"/>
                </a:lnTo>
                <a:lnTo>
                  <a:pt x="4246" y="965"/>
                </a:lnTo>
                <a:lnTo>
                  <a:pt x="4246" y="971"/>
                </a:lnTo>
                <a:lnTo>
                  <a:pt x="4240" y="965"/>
                </a:lnTo>
                <a:lnTo>
                  <a:pt x="4234" y="959"/>
                </a:lnTo>
                <a:lnTo>
                  <a:pt x="4228" y="954"/>
                </a:lnTo>
                <a:lnTo>
                  <a:pt x="4246" y="954"/>
                </a:lnTo>
                <a:lnTo>
                  <a:pt x="4240" y="959"/>
                </a:lnTo>
                <a:lnTo>
                  <a:pt x="4234" y="959"/>
                </a:lnTo>
                <a:lnTo>
                  <a:pt x="4223" y="965"/>
                </a:lnTo>
                <a:lnTo>
                  <a:pt x="4223" y="971"/>
                </a:lnTo>
                <a:lnTo>
                  <a:pt x="4217" y="971"/>
                </a:lnTo>
                <a:lnTo>
                  <a:pt x="4205" y="959"/>
                </a:lnTo>
                <a:lnTo>
                  <a:pt x="4199" y="948"/>
                </a:lnTo>
                <a:lnTo>
                  <a:pt x="4194" y="936"/>
                </a:lnTo>
                <a:lnTo>
                  <a:pt x="4205" y="948"/>
                </a:lnTo>
                <a:lnTo>
                  <a:pt x="4199" y="948"/>
                </a:lnTo>
                <a:lnTo>
                  <a:pt x="4188" y="942"/>
                </a:lnTo>
                <a:lnTo>
                  <a:pt x="4182" y="936"/>
                </a:lnTo>
                <a:lnTo>
                  <a:pt x="4176" y="930"/>
                </a:lnTo>
                <a:lnTo>
                  <a:pt x="4188" y="936"/>
                </a:lnTo>
                <a:lnTo>
                  <a:pt x="4176" y="936"/>
                </a:lnTo>
                <a:lnTo>
                  <a:pt x="4164" y="930"/>
                </a:lnTo>
                <a:lnTo>
                  <a:pt x="4159" y="925"/>
                </a:lnTo>
                <a:lnTo>
                  <a:pt x="4153" y="919"/>
                </a:lnTo>
                <a:lnTo>
                  <a:pt x="4164" y="925"/>
                </a:lnTo>
                <a:lnTo>
                  <a:pt x="4159" y="925"/>
                </a:lnTo>
                <a:lnTo>
                  <a:pt x="4153" y="925"/>
                </a:lnTo>
                <a:lnTo>
                  <a:pt x="4141" y="913"/>
                </a:lnTo>
                <a:lnTo>
                  <a:pt x="4135" y="901"/>
                </a:lnTo>
                <a:lnTo>
                  <a:pt x="4135" y="907"/>
                </a:lnTo>
                <a:lnTo>
                  <a:pt x="4129" y="901"/>
                </a:lnTo>
                <a:lnTo>
                  <a:pt x="4135" y="901"/>
                </a:lnTo>
                <a:lnTo>
                  <a:pt x="4124" y="896"/>
                </a:lnTo>
                <a:lnTo>
                  <a:pt x="4129" y="901"/>
                </a:lnTo>
                <a:lnTo>
                  <a:pt x="4124" y="901"/>
                </a:lnTo>
                <a:lnTo>
                  <a:pt x="4118" y="901"/>
                </a:lnTo>
                <a:lnTo>
                  <a:pt x="4112" y="901"/>
                </a:lnTo>
                <a:lnTo>
                  <a:pt x="4118" y="896"/>
                </a:lnTo>
                <a:lnTo>
                  <a:pt x="4112" y="901"/>
                </a:lnTo>
                <a:lnTo>
                  <a:pt x="4106" y="907"/>
                </a:lnTo>
                <a:lnTo>
                  <a:pt x="4095" y="901"/>
                </a:lnTo>
                <a:lnTo>
                  <a:pt x="4089" y="896"/>
                </a:lnTo>
                <a:lnTo>
                  <a:pt x="4100" y="901"/>
                </a:lnTo>
                <a:lnTo>
                  <a:pt x="4095" y="901"/>
                </a:lnTo>
                <a:lnTo>
                  <a:pt x="4089" y="901"/>
                </a:lnTo>
                <a:lnTo>
                  <a:pt x="4077" y="901"/>
                </a:lnTo>
                <a:lnTo>
                  <a:pt x="4065" y="890"/>
                </a:lnTo>
                <a:lnTo>
                  <a:pt x="4060" y="878"/>
                </a:lnTo>
                <a:lnTo>
                  <a:pt x="4060" y="884"/>
                </a:lnTo>
                <a:lnTo>
                  <a:pt x="4054" y="878"/>
                </a:lnTo>
                <a:lnTo>
                  <a:pt x="4065" y="884"/>
                </a:lnTo>
                <a:lnTo>
                  <a:pt x="4060" y="884"/>
                </a:lnTo>
                <a:lnTo>
                  <a:pt x="4048" y="878"/>
                </a:lnTo>
                <a:lnTo>
                  <a:pt x="4042" y="872"/>
                </a:lnTo>
                <a:lnTo>
                  <a:pt x="4042" y="866"/>
                </a:lnTo>
                <a:lnTo>
                  <a:pt x="4036" y="855"/>
                </a:lnTo>
                <a:lnTo>
                  <a:pt x="4036" y="861"/>
                </a:lnTo>
                <a:lnTo>
                  <a:pt x="4030" y="855"/>
                </a:lnTo>
                <a:lnTo>
                  <a:pt x="4036" y="855"/>
                </a:lnTo>
                <a:lnTo>
                  <a:pt x="4025" y="849"/>
                </a:lnTo>
                <a:lnTo>
                  <a:pt x="4030" y="855"/>
                </a:lnTo>
                <a:lnTo>
                  <a:pt x="4025" y="855"/>
                </a:lnTo>
                <a:lnTo>
                  <a:pt x="4013" y="843"/>
                </a:lnTo>
                <a:lnTo>
                  <a:pt x="4007" y="832"/>
                </a:lnTo>
                <a:lnTo>
                  <a:pt x="4019" y="843"/>
                </a:lnTo>
                <a:lnTo>
                  <a:pt x="4013" y="843"/>
                </a:lnTo>
                <a:lnTo>
                  <a:pt x="4001" y="837"/>
                </a:lnTo>
                <a:lnTo>
                  <a:pt x="3995" y="832"/>
                </a:lnTo>
                <a:lnTo>
                  <a:pt x="3995" y="826"/>
                </a:lnTo>
                <a:lnTo>
                  <a:pt x="3990" y="814"/>
                </a:lnTo>
                <a:lnTo>
                  <a:pt x="3990" y="820"/>
                </a:lnTo>
                <a:lnTo>
                  <a:pt x="3984" y="814"/>
                </a:lnTo>
                <a:lnTo>
                  <a:pt x="3995" y="820"/>
                </a:lnTo>
                <a:lnTo>
                  <a:pt x="3990" y="820"/>
                </a:lnTo>
                <a:lnTo>
                  <a:pt x="3978" y="814"/>
                </a:lnTo>
                <a:lnTo>
                  <a:pt x="3966" y="803"/>
                </a:lnTo>
                <a:lnTo>
                  <a:pt x="3961" y="797"/>
                </a:lnTo>
                <a:lnTo>
                  <a:pt x="3961" y="791"/>
                </a:lnTo>
                <a:lnTo>
                  <a:pt x="3955" y="779"/>
                </a:lnTo>
                <a:lnTo>
                  <a:pt x="3966" y="791"/>
                </a:lnTo>
                <a:lnTo>
                  <a:pt x="3961" y="791"/>
                </a:lnTo>
                <a:lnTo>
                  <a:pt x="3949" y="785"/>
                </a:lnTo>
                <a:lnTo>
                  <a:pt x="3943" y="779"/>
                </a:lnTo>
                <a:lnTo>
                  <a:pt x="3937" y="773"/>
                </a:lnTo>
                <a:lnTo>
                  <a:pt x="3931" y="768"/>
                </a:lnTo>
                <a:lnTo>
                  <a:pt x="3937" y="768"/>
                </a:lnTo>
                <a:lnTo>
                  <a:pt x="3926" y="762"/>
                </a:lnTo>
                <a:lnTo>
                  <a:pt x="3920" y="756"/>
                </a:lnTo>
                <a:lnTo>
                  <a:pt x="3914" y="744"/>
                </a:lnTo>
                <a:lnTo>
                  <a:pt x="3926" y="756"/>
                </a:lnTo>
                <a:lnTo>
                  <a:pt x="3920" y="756"/>
                </a:lnTo>
                <a:lnTo>
                  <a:pt x="3914" y="756"/>
                </a:lnTo>
                <a:lnTo>
                  <a:pt x="3902" y="744"/>
                </a:lnTo>
                <a:lnTo>
                  <a:pt x="3896" y="727"/>
                </a:lnTo>
                <a:lnTo>
                  <a:pt x="3908" y="739"/>
                </a:lnTo>
                <a:lnTo>
                  <a:pt x="3902" y="739"/>
                </a:lnTo>
                <a:lnTo>
                  <a:pt x="3896" y="739"/>
                </a:lnTo>
                <a:lnTo>
                  <a:pt x="3885" y="733"/>
                </a:lnTo>
                <a:lnTo>
                  <a:pt x="3879" y="727"/>
                </a:lnTo>
                <a:lnTo>
                  <a:pt x="3891" y="733"/>
                </a:lnTo>
                <a:lnTo>
                  <a:pt x="3879" y="733"/>
                </a:lnTo>
                <a:lnTo>
                  <a:pt x="3867" y="727"/>
                </a:lnTo>
                <a:lnTo>
                  <a:pt x="3862" y="721"/>
                </a:lnTo>
                <a:lnTo>
                  <a:pt x="3856" y="715"/>
                </a:lnTo>
                <a:lnTo>
                  <a:pt x="3867" y="721"/>
                </a:lnTo>
                <a:lnTo>
                  <a:pt x="3862" y="721"/>
                </a:lnTo>
                <a:lnTo>
                  <a:pt x="3856" y="721"/>
                </a:lnTo>
                <a:lnTo>
                  <a:pt x="3844" y="715"/>
                </a:lnTo>
                <a:lnTo>
                  <a:pt x="3838" y="710"/>
                </a:lnTo>
                <a:lnTo>
                  <a:pt x="3832" y="704"/>
                </a:lnTo>
                <a:lnTo>
                  <a:pt x="3838" y="704"/>
                </a:lnTo>
                <a:lnTo>
                  <a:pt x="3827" y="698"/>
                </a:lnTo>
                <a:lnTo>
                  <a:pt x="3832" y="704"/>
                </a:lnTo>
                <a:lnTo>
                  <a:pt x="3827" y="704"/>
                </a:lnTo>
                <a:lnTo>
                  <a:pt x="3821" y="704"/>
                </a:lnTo>
                <a:lnTo>
                  <a:pt x="3815" y="704"/>
                </a:lnTo>
                <a:lnTo>
                  <a:pt x="3803" y="698"/>
                </a:lnTo>
                <a:lnTo>
                  <a:pt x="3797" y="692"/>
                </a:lnTo>
                <a:lnTo>
                  <a:pt x="3809" y="698"/>
                </a:lnTo>
                <a:lnTo>
                  <a:pt x="3803" y="698"/>
                </a:lnTo>
                <a:lnTo>
                  <a:pt x="3792" y="692"/>
                </a:lnTo>
                <a:lnTo>
                  <a:pt x="3786" y="686"/>
                </a:lnTo>
                <a:lnTo>
                  <a:pt x="3797" y="692"/>
                </a:lnTo>
                <a:lnTo>
                  <a:pt x="3792" y="692"/>
                </a:lnTo>
                <a:lnTo>
                  <a:pt x="3786" y="686"/>
                </a:lnTo>
                <a:lnTo>
                  <a:pt x="3774" y="680"/>
                </a:lnTo>
                <a:lnTo>
                  <a:pt x="3768" y="680"/>
                </a:lnTo>
                <a:lnTo>
                  <a:pt x="3763" y="675"/>
                </a:lnTo>
                <a:lnTo>
                  <a:pt x="3786" y="669"/>
                </a:lnTo>
                <a:lnTo>
                  <a:pt x="3780" y="843"/>
                </a:lnTo>
                <a:lnTo>
                  <a:pt x="3768" y="849"/>
                </a:lnTo>
                <a:lnTo>
                  <a:pt x="3757" y="849"/>
                </a:lnTo>
                <a:lnTo>
                  <a:pt x="3751" y="843"/>
                </a:lnTo>
                <a:lnTo>
                  <a:pt x="3763" y="849"/>
                </a:lnTo>
                <a:lnTo>
                  <a:pt x="3757" y="849"/>
                </a:lnTo>
                <a:lnTo>
                  <a:pt x="3751" y="849"/>
                </a:lnTo>
                <a:lnTo>
                  <a:pt x="3745" y="849"/>
                </a:lnTo>
                <a:lnTo>
                  <a:pt x="3739" y="843"/>
                </a:lnTo>
                <a:lnTo>
                  <a:pt x="3728" y="837"/>
                </a:lnTo>
                <a:lnTo>
                  <a:pt x="3733" y="843"/>
                </a:lnTo>
                <a:lnTo>
                  <a:pt x="3728" y="843"/>
                </a:lnTo>
                <a:lnTo>
                  <a:pt x="3716" y="837"/>
                </a:lnTo>
                <a:lnTo>
                  <a:pt x="3710" y="832"/>
                </a:lnTo>
                <a:lnTo>
                  <a:pt x="3710" y="826"/>
                </a:lnTo>
                <a:lnTo>
                  <a:pt x="3704" y="814"/>
                </a:lnTo>
                <a:lnTo>
                  <a:pt x="3704" y="820"/>
                </a:lnTo>
                <a:lnTo>
                  <a:pt x="3698" y="814"/>
                </a:lnTo>
                <a:lnTo>
                  <a:pt x="3693" y="808"/>
                </a:lnTo>
                <a:lnTo>
                  <a:pt x="3704" y="814"/>
                </a:lnTo>
                <a:lnTo>
                  <a:pt x="3698" y="814"/>
                </a:lnTo>
                <a:lnTo>
                  <a:pt x="3687" y="808"/>
                </a:lnTo>
                <a:lnTo>
                  <a:pt x="3681" y="803"/>
                </a:lnTo>
                <a:lnTo>
                  <a:pt x="3704" y="797"/>
                </a:lnTo>
                <a:lnTo>
                  <a:pt x="3693" y="1023"/>
                </a:lnTo>
                <a:lnTo>
                  <a:pt x="3681" y="1029"/>
                </a:lnTo>
                <a:lnTo>
                  <a:pt x="3669" y="1029"/>
                </a:lnTo>
                <a:lnTo>
                  <a:pt x="3664" y="1023"/>
                </a:lnTo>
                <a:lnTo>
                  <a:pt x="3658" y="1018"/>
                </a:lnTo>
                <a:lnTo>
                  <a:pt x="3652" y="1012"/>
                </a:lnTo>
                <a:lnTo>
                  <a:pt x="3646" y="1006"/>
                </a:lnTo>
                <a:lnTo>
                  <a:pt x="3646" y="1000"/>
                </a:lnTo>
                <a:lnTo>
                  <a:pt x="3640" y="989"/>
                </a:lnTo>
                <a:lnTo>
                  <a:pt x="3652" y="1000"/>
                </a:lnTo>
                <a:lnTo>
                  <a:pt x="3646" y="1000"/>
                </a:lnTo>
                <a:lnTo>
                  <a:pt x="3640" y="994"/>
                </a:lnTo>
                <a:lnTo>
                  <a:pt x="3629" y="989"/>
                </a:lnTo>
                <a:lnTo>
                  <a:pt x="3623" y="989"/>
                </a:lnTo>
                <a:lnTo>
                  <a:pt x="3617" y="983"/>
                </a:lnTo>
                <a:lnTo>
                  <a:pt x="3629" y="989"/>
                </a:lnTo>
                <a:lnTo>
                  <a:pt x="3623" y="989"/>
                </a:lnTo>
                <a:lnTo>
                  <a:pt x="3611" y="983"/>
                </a:lnTo>
                <a:lnTo>
                  <a:pt x="3605" y="977"/>
                </a:lnTo>
                <a:lnTo>
                  <a:pt x="3629" y="971"/>
                </a:lnTo>
                <a:lnTo>
                  <a:pt x="3623" y="1180"/>
                </a:lnTo>
                <a:lnTo>
                  <a:pt x="3617" y="1186"/>
                </a:lnTo>
                <a:lnTo>
                  <a:pt x="3611" y="1192"/>
                </a:lnTo>
                <a:lnTo>
                  <a:pt x="3605" y="1192"/>
                </a:lnTo>
                <a:lnTo>
                  <a:pt x="3594" y="1186"/>
                </a:lnTo>
                <a:lnTo>
                  <a:pt x="3588" y="1180"/>
                </a:lnTo>
                <a:lnTo>
                  <a:pt x="3582" y="1175"/>
                </a:lnTo>
                <a:lnTo>
                  <a:pt x="3588" y="1175"/>
                </a:lnTo>
                <a:lnTo>
                  <a:pt x="3576" y="1169"/>
                </a:lnTo>
                <a:lnTo>
                  <a:pt x="3570" y="1169"/>
                </a:lnTo>
                <a:lnTo>
                  <a:pt x="3565" y="1163"/>
                </a:lnTo>
                <a:lnTo>
                  <a:pt x="3576" y="1169"/>
                </a:lnTo>
                <a:lnTo>
                  <a:pt x="3570" y="1169"/>
                </a:lnTo>
                <a:lnTo>
                  <a:pt x="3559" y="1163"/>
                </a:lnTo>
                <a:lnTo>
                  <a:pt x="3553" y="1157"/>
                </a:lnTo>
                <a:lnTo>
                  <a:pt x="3547" y="1151"/>
                </a:lnTo>
                <a:lnTo>
                  <a:pt x="3559" y="1157"/>
                </a:lnTo>
                <a:lnTo>
                  <a:pt x="3553" y="1157"/>
                </a:lnTo>
                <a:lnTo>
                  <a:pt x="3541" y="1151"/>
                </a:lnTo>
                <a:lnTo>
                  <a:pt x="3535" y="1145"/>
                </a:lnTo>
                <a:lnTo>
                  <a:pt x="3541" y="1145"/>
                </a:lnTo>
                <a:lnTo>
                  <a:pt x="3530" y="1140"/>
                </a:lnTo>
                <a:lnTo>
                  <a:pt x="3524" y="1140"/>
                </a:lnTo>
                <a:lnTo>
                  <a:pt x="3518" y="1134"/>
                </a:lnTo>
                <a:lnTo>
                  <a:pt x="3512" y="1128"/>
                </a:lnTo>
                <a:lnTo>
                  <a:pt x="3506" y="1122"/>
                </a:lnTo>
                <a:lnTo>
                  <a:pt x="3518" y="1128"/>
                </a:lnTo>
                <a:lnTo>
                  <a:pt x="3512" y="1128"/>
                </a:lnTo>
                <a:lnTo>
                  <a:pt x="3500" y="1122"/>
                </a:lnTo>
                <a:lnTo>
                  <a:pt x="3495" y="1116"/>
                </a:lnTo>
                <a:lnTo>
                  <a:pt x="3489" y="1111"/>
                </a:lnTo>
                <a:lnTo>
                  <a:pt x="3500" y="1116"/>
                </a:lnTo>
                <a:lnTo>
                  <a:pt x="3495" y="1116"/>
                </a:lnTo>
                <a:lnTo>
                  <a:pt x="3483" y="1116"/>
                </a:lnTo>
                <a:lnTo>
                  <a:pt x="3471" y="1111"/>
                </a:lnTo>
                <a:lnTo>
                  <a:pt x="3466" y="1105"/>
                </a:lnTo>
                <a:lnTo>
                  <a:pt x="3460" y="1099"/>
                </a:lnTo>
                <a:lnTo>
                  <a:pt x="3454" y="1093"/>
                </a:lnTo>
                <a:lnTo>
                  <a:pt x="3448" y="1087"/>
                </a:lnTo>
                <a:lnTo>
                  <a:pt x="3460" y="1093"/>
                </a:lnTo>
                <a:lnTo>
                  <a:pt x="3454" y="1093"/>
                </a:lnTo>
                <a:lnTo>
                  <a:pt x="3448" y="1093"/>
                </a:lnTo>
                <a:lnTo>
                  <a:pt x="3442" y="1087"/>
                </a:lnTo>
                <a:lnTo>
                  <a:pt x="3431" y="1082"/>
                </a:lnTo>
                <a:lnTo>
                  <a:pt x="3425" y="1082"/>
                </a:lnTo>
                <a:lnTo>
                  <a:pt x="3419" y="1076"/>
                </a:lnTo>
                <a:lnTo>
                  <a:pt x="3413" y="1070"/>
                </a:lnTo>
                <a:lnTo>
                  <a:pt x="3425" y="1076"/>
                </a:lnTo>
                <a:lnTo>
                  <a:pt x="3419" y="1076"/>
                </a:lnTo>
                <a:lnTo>
                  <a:pt x="3407" y="1064"/>
                </a:lnTo>
                <a:lnTo>
                  <a:pt x="3401" y="1052"/>
                </a:lnTo>
                <a:lnTo>
                  <a:pt x="3413" y="1064"/>
                </a:lnTo>
                <a:lnTo>
                  <a:pt x="3407" y="1064"/>
                </a:lnTo>
                <a:lnTo>
                  <a:pt x="3396" y="1058"/>
                </a:lnTo>
                <a:lnTo>
                  <a:pt x="3390" y="1052"/>
                </a:lnTo>
                <a:lnTo>
                  <a:pt x="3384" y="1047"/>
                </a:lnTo>
                <a:lnTo>
                  <a:pt x="3390" y="1047"/>
                </a:lnTo>
                <a:lnTo>
                  <a:pt x="3378" y="1041"/>
                </a:lnTo>
                <a:lnTo>
                  <a:pt x="3372" y="1041"/>
                </a:lnTo>
                <a:lnTo>
                  <a:pt x="3367" y="1035"/>
                </a:lnTo>
                <a:lnTo>
                  <a:pt x="3361" y="1029"/>
                </a:lnTo>
                <a:lnTo>
                  <a:pt x="3355" y="1023"/>
                </a:lnTo>
                <a:lnTo>
                  <a:pt x="3367" y="1029"/>
                </a:lnTo>
                <a:lnTo>
                  <a:pt x="3361" y="1029"/>
                </a:lnTo>
                <a:lnTo>
                  <a:pt x="3349" y="1023"/>
                </a:lnTo>
                <a:lnTo>
                  <a:pt x="3343" y="1018"/>
                </a:lnTo>
                <a:lnTo>
                  <a:pt x="3337" y="1012"/>
                </a:lnTo>
                <a:lnTo>
                  <a:pt x="3343" y="1012"/>
                </a:lnTo>
                <a:lnTo>
                  <a:pt x="3332" y="1006"/>
                </a:lnTo>
                <a:lnTo>
                  <a:pt x="3337" y="1012"/>
                </a:lnTo>
                <a:lnTo>
                  <a:pt x="3332" y="1012"/>
                </a:lnTo>
                <a:lnTo>
                  <a:pt x="3320" y="1006"/>
                </a:lnTo>
                <a:lnTo>
                  <a:pt x="3314" y="1000"/>
                </a:lnTo>
                <a:lnTo>
                  <a:pt x="3314" y="994"/>
                </a:lnTo>
                <a:lnTo>
                  <a:pt x="3308" y="983"/>
                </a:lnTo>
                <a:lnTo>
                  <a:pt x="3320" y="994"/>
                </a:lnTo>
                <a:lnTo>
                  <a:pt x="3314" y="994"/>
                </a:lnTo>
                <a:lnTo>
                  <a:pt x="3302" y="989"/>
                </a:lnTo>
                <a:lnTo>
                  <a:pt x="3297" y="983"/>
                </a:lnTo>
                <a:lnTo>
                  <a:pt x="3291" y="977"/>
                </a:lnTo>
                <a:lnTo>
                  <a:pt x="3285" y="971"/>
                </a:lnTo>
                <a:lnTo>
                  <a:pt x="3291" y="971"/>
                </a:lnTo>
                <a:lnTo>
                  <a:pt x="3279" y="965"/>
                </a:lnTo>
                <a:lnTo>
                  <a:pt x="3273" y="965"/>
                </a:lnTo>
                <a:lnTo>
                  <a:pt x="3268" y="959"/>
                </a:lnTo>
                <a:lnTo>
                  <a:pt x="3262" y="954"/>
                </a:lnTo>
                <a:lnTo>
                  <a:pt x="3273" y="959"/>
                </a:lnTo>
                <a:lnTo>
                  <a:pt x="3268" y="959"/>
                </a:lnTo>
                <a:lnTo>
                  <a:pt x="3262" y="959"/>
                </a:lnTo>
                <a:lnTo>
                  <a:pt x="3250" y="954"/>
                </a:lnTo>
                <a:lnTo>
                  <a:pt x="3244" y="948"/>
                </a:lnTo>
                <a:lnTo>
                  <a:pt x="3244" y="942"/>
                </a:lnTo>
                <a:lnTo>
                  <a:pt x="3238" y="930"/>
                </a:lnTo>
                <a:lnTo>
                  <a:pt x="3244" y="936"/>
                </a:lnTo>
                <a:lnTo>
                  <a:pt x="3233" y="930"/>
                </a:lnTo>
                <a:lnTo>
                  <a:pt x="3227" y="925"/>
                </a:lnTo>
                <a:lnTo>
                  <a:pt x="3221" y="913"/>
                </a:lnTo>
                <a:lnTo>
                  <a:pt x="3215" y="901"/>
                </a:lnTo>
                <a:lnTo>
                  <a:pt x="3209" y="884"/>
                </a:lnTo>
                <a:lnTo>
                  <a:pt x="3233" y="884"/>
                </a:lnTo>
                <a:lnTo>
                  <a:pt x="3227" y="1122"/>
                </a:lnTo>
                <a:lnTo>
                  <a:pt x="3215" y="1134"/>
                </a:lnTo>
                <a:lnTo>
                  <a:pt x="3203" y="1122"/>
                </a:lnTo>
                <a:lnTo>
                  <a:pt x="3198" y="1111"/>
                </a:lnTo>
                <a:lnTo>
                  <a:pt x="3198" y="1116"/>
                </a:lnTo>
                <a:lnTo>
                  <a:pt x="3192" y="1111"/>
                </a:lnTo>
                <a:lnTo>
                  <a:pt x="3203" y="1116"/>
                </a:lnTo>
                <a:lnTo>
                  <a:pt x="3192" y="1116"/>
                </a:lnTo>
                <a:lnTo>
                  <a:pt x="3180" y="1105"/>
                </a:lnTo>
                <a:lnTo>
                  <a:pt x="3174" y="1093"/>
                </a:lnTo>
                <a:lnTo>
                  <a:pt x="3174" y="1099"/>
                </a:lnTo>
                <a:lnTo>
                  <a:pt x="3169" y="1093"/>
                </a:lnTo>
                <a:lnTo>
                  <a:pt x="3169" y="1087"/>
                </a:lnTo>
                <a:lnTo>
                  <a:pt x="3163" y="1070"/>
                </a:lnTo>
                <a:lnTo>
                  <a:pt x="3163" y="1076"/>
                </a:lnTo>
                <a:lnTo>
                  <a:pt x="3157" y="1070"/>
                </a:lnTo>
                <a:lnTo>
                  <a:pt x="3157" y="1064"/>
                </a:lnTo>
                <a:lnTo>
                  <a:pt x="3151" y="1052"/>
                </a:lnTo>
                <a:lnTo>
                  <a:pt x="3151" y="1058"/>
                </a:lnTo>
                <a:lnTo>
                  <a:pt x="3145" y="1052"/>
                </a:lnTo>
                <a:lnTo>
                  <a:pt x="3139" y="1047"/>
                </a:lnTo>
                <a:lnTo>
                  <a:pt x="3151" y="1052"/>
                </a:lnTo>
                <a:lnTo>
                  <a:pt x="3139" y="1052"/>
                </a:lnTo>
                <a:lnTo>
                  <a:pt x="3128" y="1047"/>
                </a:lnTo>
                <a:lnTo>
                  <a:pt x="3122" y="1041"/>
                </a:lnTo>
                <a:lnTo>
                  <a:pt x="3116" y="1035"/>
                </a:lnTo>
                <a:lnTo>
                  <a:pt x="3116" y="1029"/>
                </a:lnTo>
                <a:lnTo>
                  <a:pt x="3110" y="1018"/>
                </a:lnTo>
                <a:lnTo>
                  <a:pt x="3104" y="1006"/>
                </a:lnTo>
                <a:lnTo>
                  <a:pt x="3099" y="994"/>
                </a:lnTo>
                <a:lnTo>
                  <a:pt x="3099" y="1000"/>
                </a:lnTo>
                <a:lnTo>
                  <a:pt x="3093" y="994"/>
                </a:lnTo>
                <a:lnTo>
                  <a:pt x="3081" y="983"/>
                </a:lnTo>
                <a:lnTo>
                  <a:pt x="3075" y="977"/>
                </a:lnTo>
                <a:lnTo>
                  <a:pt x="3070" y="971"/>
                </a:lnTo>
                <a:lnTo>
                  <a:pt x="3064" y="965"/>
                </a:lnTo>
                <a:lnTo>
                  <a:pt x="3058" y="959"/>
                </a:lnTo>
                <a:lnTo>
                  <a:pt x="3058" y="954"/>
                </a:lnTo>
                <a:lnTo>
                  <a:pt x="3052" y="942"/>
                </a:lnTo>
                <a:lnTo>
                  <a:pt x="3052" y="948"/>
                </a:lnTo>
                <a:lnTo>
                  <a:pt x="3046" y="942"/>
                </a:lnTo>
                <a:lnTo>
                  <a:pt x="3046" y="936"/>
                </a:lnTo>
                <a:lnTo>
                  <a:pt x="3040" y="925"/>
                </a:lnTo>
                <a:lnTo>
                  <a:pt x="3046" y="930"/>
                </a:lnTo>
                <a:lnTo>
                  <a:pt x="3035" y="925"/>
                </a:lnTo>
                <a:lnTo>
                  <a:pt x="3029" y="919"/>
                </a:lnTo>
                <a:lnTo>
                  <a:pt x="3023" y="907"/>
                </a:lnTo>
                <a:lnTo>
                  <a:pt x="3023" y="913"/>
                </a:lnTo>
                <a:lnTo>
                  <a:pt x="3017" y="907"/>
                </a:lnTo>
                <a:lnTo>
                  <a:pt x="3029" y="913"/>
                </a:lnTo>
                <a:lnTo>
                  <a:pt x="3023" y="913"/>
                </a:lnTo>
                <a:lnTo>
                  <a:pt x="3011" y="901"/>
                </a:lnTo>
                <a:lnTo>
                  <a:pt x="3005" y="890"/>
                </a:lnTo>
                <a:lnTo>
                  <a:pt x="3017" y="901"/>
                </a:lnTo>
                <a:lnTo>
                  <a:pt x="3011" y="901"/>
                </a:lnTo>
                <a:lnTo>
                  <a:pt x="3000" y="890"/>
                </a:lnTo>
                <a:lnTo>
                  <a:pt x="2994" y="878"/>
                </a:lnTo>
                <a:lnTo>
                  <a:pt x="3005" y="890"/>
                </a:lnTo>
                <a:lnTo>
                  <a:pt x="2994" y="890"/>
                </a:lnTo>
                <a:lnTo>
                  <a:pt x="2982" y="878"/>
                </a:lnTo>
                <a:lnTo>
                  <a:pt x="2976" y="866"/>
                </a:lnTo>
                <a:lnTo>
                  <a:pt x="2976" y="872"/>
                </a:lnTo>
                <a:lnTo>
                  <a:pt x="2971" y="866"/>
                </a:lnTo>
                <a:lnTo>
                  <a:pt x="2965" y="861"/>
                </a:lnTo>
                <a:lnTo>
                  <a:pt x="2965" y="855"/>
                </a:lnTo>
                <a:lnTo>
                  <a:pt x="2959" y="843"/>
                </a:lnTo>
                <a:lnTo>
                  <a:pt x="2959" y="849"/>
                </a:lnTo>
                <a:lnTo>
                  <a:pt x="2953" y="843"/>
                </a:lnTo>
                <a:lnTo>
                  <a:pt x="2953" y="837"/>
                </a:lnTo>
                <a:lnTo>
                  <a:pt x="2947" y="826"/>
                </a:lnTo>
                <a:lnTo>
                  <a:pt x="2947" y="832"/>
                </a:lnTo>
                <a:lnTo>
                  <a:pt x="2941" y="826"/>
                </a:lnTo>
                <a:lnTo>
                  <a:pt x="2947" y="826"/>
                </a:lnTo>
                <a:lnTo>
                  <a:pt x="2936" y="820"/>
                </a:lnTo>
                <a:lnTo>
                  <a:pt x="2930" y="814"/>
                </a:lnTo>
                <a:lnTo>
                  <a:pt x="2924" y="803"/>
                </a:lnTo>
                <a:lnTo>
                  <a:pt x="2918" y="791"/>
                </a:lnTo>
                <a:lnTo>
                  <a:pt x="2930" y="803"/>
                </a:lnTo>
                <a:lnTo>
                  <a:pt x="2924" y="803"/>
                </a:lnTo>
                <a:lnTo>
                  <a:pt x="2912" y="797"/>
                </a:lnTo>
                <a:lnTo>
                  <a:pt x="2906" y="791"/>
                </a:lnTo>
                <a:lnTo>
                  <a:pt x="2901" y="785"/>
                </a:lnTo>
                <a:lnTo>
                  <a:pt x="2895" y="779"/>
                </a:lnTo>
                <a:lnTo>
                  <a:pt x="2906" y="785"/>
                </a:lnTo>
                <a:lnTo>
                  <a:pt x="2895" y="785"/>
                </a:lnTo>
                <a:lnTo>
                  <a:pt x="2883" y="779"/>
                </a:lnTo>
                <a:lnTo>
                  <a:pt x="2877" y="773"/>
                </a:lnTo>
                <a:lnTo>
                  <a:pt x="2872" y="768"/>
                </a:lnTo>
                <a:lnTo>
                  <a:pt x="2889" y="768"/>
                </a:lnTo>
                <a:lnTo>
                  <a:pt x="2883" y="773"/>
                </a:lnTo>
                <a:lnTo>
                  <a:pt x="2883" y="768"/>
                </a:lnTo>
                <a:lnTo>
                  <a:pt x="2877" y="779"/>
                </a:lnTo>
                <a:lnTo>
                  <a:pt x="2877" y="785"/>
                </a:lnTo>
                <a:lnTo>
                  <a:pt x="2872" y="791"/>
                </a:lnTo>
                <a:lnTo>
                  <a:pt x="2860" y="797"/>
                </a:lnTo>
                <a:lnTo>
                  <a:pt x="2854" y="785"/>
                </a:lnTo>
                <a:lnTo>
                  <a:pt x="2848" y="773"/>
                </a:lnTo>
                <a:lnTo>
                  <a:pt x="2848" y="779"/>
                </a:lnTo>
                <a:lnTo>
                  <a:pt x="2842" y="773"/>
                </a:lnTo>
                <a:lnTo>
                  <a:pt x="2831" y="762"/>
                </a:lnTo>
                <a:lnTo>
                  <a:pt x="2825" y="756"/>
                </a:lnTo>
                <a:lnTo>
                  <a:pt x="2819" y="750"/>
                </a:lnTo>
                <a:lnTo>
                  <a:pt x="2813" y="744"/>
                </a:lnTo>
                <a:lnTo>
                  <a:pt x="2837" y="739"/>
                </a:lnTo>
                <a:lnTo>
                  <a:pt x="2831" y="901"/>
                </a:lnTo>
                <a:lnTo>
                  <a:pt x="2819" y="907"/>
                </a:lnTo>
                <a:lnTo>
                  <a:pt x="2807" y="907"/>
                </a:lnTo>
                <a:lnTo>
                  <a:pt x="2802" y="901"/>
                </a:lnTo>
                <a:lnTo>
                  <a:pt x="2796" y="896"/>
                </a:lnTo>
                <a:lnTo>
                  <a:pt x="2807" y="901"/>
                </a:lnTo>
                <a:lnTo>
                  <a:pt x="2796" y="901"/>
                </a:lnTo>
                <a:lnTo>
                  <a:pt x="2784" y="890"/>
                </a:lnTo>
                <a:lnTo>
                  <a:pt x="2778" y="878"/>
                </a:lnTo>
                <a:lnTo>
                  <a:pt x="2773" y="866"/>
                </a:lnTo>
                <a:lnTo>
                  <a:pt x="2773" y="872"/>
                </a:lnTo>
                <a:lnTo>
                  <a:pt x="2767" y="866"/>
                </a:lnTo>
                <a:lnTo>
                  <a:pt x="2778" y="872"/>
                </a:lnTo>
                <a:lnTo>
                  <a:pt x="2773" y="872"/>
                </a:lnTo>
                <a:lnTo>
                  <a:pt x="2761" y="866"/>
                </a:lnTo>
                <a:lnTo>
                  <a:pt x="2755" y="861"/>
                </a:lnTo>
                <a:lnTo>
                  <a:pt x="2749" y="855"/>
                </a:lnTo>
                <a:lnTo>
                  <a:pt x="2743" y="849"/>
                </a:lnTo>
                <a:lnTo>
                  <a:pt x="2732" y="837"/>
                </a:lnTo>
                <a:lnTo>
                  <a:pt x="2726" y="832"/>
                </a:lnTo>
                <a:lnTo>
                  <a:pt x="2720" y="826"/>
                </a:lnTo>
                <a:lnTo>
                  <a:pt x="2732" y="832"/>
                </a:lnTo>
                <a:lnTo>
                  <a:pt x="2726" y="832"/>
                </a:lnTo>
                <a:lnTo>
                  <a:pt x="2714" y="820"/>
                </a:lnTo>
                <a:lnTo>
                  <a:pt x="2708" y="808"/>
                </a:lnTo>
                <a:lnTo>
                  <a:pt x="2708" y="814"/>
                </a:lnTo>
                <a:lnTo>
                  <a:pt x="2703" y="808"/>
                </a:lnTo>
                <a:lnTo>
                  <a:pt x="2703" y="803"/>
                </a:lnTo>
                <a:lnTo>
                  <a:pt x="2697" y="791"/>
                </a:lnTo>
                <a:lnTo>
                  <a:pt x="2697" y="797"/>
                </a:lnTo>
                <a:lnTo>
                  <a:pt x="2685" y="785"/>
                </a:lnTo>
                <a:lnTo>
                  <a:pt x="2679" y="779"/>
                </a:lnTo>
                <a:lnTo>
                  <a:pt x="2679" y="773"/>
                </a:lnTo>
                <a:lnTo>
                  <a:pt x="2674" y="762"/>
                </a:lnTo>
                <a:lnTo>
                  <a:pt x="2674" y="768"/>
                </a:lnTo>
                <a:lnTo>
                  <a:pt x="2668" y="762"/>
                </a:lnTo>
                <a:lnTo>
                  <a:pt x="2662" y="756"/>
                </a:lnTo>
                <a:lnTo>
                  <a:pt x="2656" y="750"/>
                </a:lnTo>
                <a:lnTo>
                  <a:pt x="2656" y="744"/>
                </a:lnTo>
                <a:lnTo>
                  <a:pt x="2650" y="733"/>
                </a:lnTo>
                <a:lnTo>
                  <a:pt x="2650" y="739"/>
                </a:lnTo>
                <a:lnTo>
                  <a:pt x="2644" y="733"/>
                </a:lnTo>
                <a:lnTo>
                  <a:pt x="2650" y="733"/>
                </a:lnTo>
                <a:lnTo>
                  <a:pt x="2639" y="727"/>
                </a:lnTo>
                <a:lnTo>
                  <a:pt x="2633" y="721"/>
                </a:lnTo>
                <a:lnTo>
                  <a:pt x="2627" y="704"/>
                </a:lnTo>
                <a:lnTo>
                  <a:pt x="2639" y="715"/>
                </a:lnTo>
                <a:lnTo>
                  <a:pt x="2633" y="715"/>
                </a:lnTo>
                <a:lnTo>
                  <a:pt x="2621" y="710"/>
                </a:lnTo>
                <a:lnTo>
                  <a:pt x="2615" y="704"/>
                </a:lnTo>
                <a:lnTo>
                  <a:pt x="2609" y="698"/>
                </a:lnTo>
                <a:lnTo>
                  <a:pt x="2627" y="692"/>
                </a:lnTo>
                <a:lnTo>
                  <a:pt x="2621" y="704"/>
                </a:lnTo>
                <a:lnTo>
                  <a:pt x="2615" y="715"/>
                </a:lnTo>
                <a:lnTo>
                  <a:pt x="2609" y="715"/>
                </a:lnTo>
                <a:lnTo>
                  <a:pt x="2598" y="710"/>
                </a:lnTo>
                <a:lnTo>
                  <a:pt x="2586" y="698"/>
                </a:lnTo>
                <a:lnTo>
                  <a:pt x="2598" y="704"/>
                </a:lnTo>
                <a:lnTo>
                  <a:pt x="2592" y="704"/>
                </a:lnTo>
                <a:lnTo>
                  <a:pt x="2586" y="704"/>
                </a:lnTo>
                <a:lnTo>
                  <a:pt x="2575" y="692"/>
                </a:lnTo>
                <a:lnTo>
                  <a:pt x="2569" y="680"/>
                </a:lnTo>
                <a:lnTo>
                  <a:pt x="2563" y="651"/>
                </a:lnTo>
                <a:lnTo>
                  <a:pt x="2557" y="628"/>
                </a:lnTo>
                <a:lnTo>
                  <a:pt x="2557" y="634"/>
                </a:lnTo>
                <a:lnTo>
                  <a:pt x="2551" y="628"/>
                </a:lnTo>
                <a:lnTo>
                  <a:pt x="2563" y="634"/>
                </a:lnTo>
                <a:lnTo>
                  <a:pt x="2557" y="634"/>
                </a:lnTo>
                <a:lnTo>
                  <a:pt x="2551" y="628"/>
                </a:lnTo>
                <a:lnTo>
                  <a:pt x="2540" y="622"/>
                </a:lnTo>
                <a:lnTo>
                  <a:pt x="2534" y="617"/>
                </a:lnTo>
                <a:lnTo>
                  <a:pt x="2528" y="605"/>
                </a:lnTo>
                <a:lnTo>
                  <a:pt x="2528" y="611"/>
                </a:lnTo>
                <a:lnTo>
                  <a:pt x="2522" y="605"/>
                </a:lnTo>
                <a:lnTo>
                  <a:pt x="2522" y="599"/>
                </a:lnTo>
                <a:lnTo>
                  <a:pt x="2516" y="587"/>
                </a:lnTo>
                <a:lnTo>
                  <a:pt x="2516" y="593"/>
                </a:lnTo>
                <a:lnTo>
                  <a:pt x="2510" y="587"/>
                </a:lnTo>
                <a:lnTo>
                  <a:pt x="2510" y="582"/>
                </a:lnTo>
                <a:lnTo>
                  <a:pt x="2505" y="558"/>
                </a:lnTo>
                <a:lnTo>
                  <a:pt x="2499" y="541"/>
                </a:lnTo>
                <a:lnTo>
                  <a:pt x="2487" y="512"/>
                </a:lnTo>
                <a:lnTo>
                  <a:pt x="2481" y="489"/>
                </a:lnTo>
                <a:lnTo>
                  <a:pt x="2476" y="477"/>
                </a:lnTo>
                <a:lnTo>
                  <a:pt x="2470" y="460"/>
                </a:lnTo>
                <a:lnTo>
                  <a:pt x="2464" y="442"/>
                </a:lnTo>
                <a:lnTo>
                  <a:pt x="2458" y="419"/>
                </a:lnTo>
                <a:lnTo>
                  <a:pt x="2452" y="396"/>
                </a:lnTo>
                <a:lnTo>
                  <a:pt x="2446" y="372"/>
                </a:lnTo>
                <a:lnTo>
                  <a:pt x="2435" y="343"/>
                </a:lnTo>
                <a:lnTo>
                  <a:pt x="2429" y="320"/>
                </a:lnTo>
                <a:lnTo>
                  <a:pt x="2423" y="297"/>
                </a:lnTo>
                <a:lnTo>
                  <a:pt x="2417" y="279"/>
                </a:lnTo>
                <a:lnTo>
                  <a:pt x="2441" y="279"/>
                </a:lnTo>
                <a:lnTo>
                  <a:pt x="2435" y="1145"/>
                </a:lnTo>
                <a:lnTo>
                  <a:pt x="2429" y="1151"/>
                </a:lnTo>
                <a:lnTo>
                  <a:pt x="2423" y="1157"/>
                </a:lnTo>
                <a:lnTo>
                  <a:pt x="2417" y="1151"/>
                </a:lnTo>
                <a:lnTo>
                  <a:pt x="2411" y="1145"/>
                </a:lnTo>
                <a:lnTo>
                  <a:pt x="2406" y="1128"/>
                </a:lnTo>
                <a:lnTo>
                  <a:pt x="2400" y="1111"/>
                </a:lnTo>
                <a:lnTo>
                  <a:pt x="2388" y="1087"/>
                </a:lnTo>
                <a:lnTo>
                  <a:pt x="2382" y="1064"/>
                </a:lnTo>
                <a:lnTo>
                  <a:pt x="2377" y="1041"/>
                </a:lnTo>
                <a:lnTo>
                  <a:pt x="2371" y="1012"/>
                </a:lnTo>
                <a:lnTo>
                  <a:pt x="2365" y="989"/>
                </a:lnTo>
                <a:lnTo>
                  <a:pt x="2359" y="965"/>
                </a:lnTo>
                <a:lnTo>
                  <a:pt x="2353" y="948"/>
                </a:lnTo>
                <a:lnTo>
                  <a:pt x="2347" y="925"/>
                </a:lnTo>
                <a:lnTo>
                  <a:pt x="2347" y="930"/>
                </a:lnTo>
                <a:lnTo>
                  <a:pt x="2336" y="913"/>
                </a:lnTo>
                <a:lnTo>
                  <a:pt x="2336" y="907"/>
                </a:lnTo>
                <a:lnTo>
                  <a:pt x="2330" y="884"/>
                </a:lnTo>
                <a:lnTo>
                  <a:pt x="2324" y="861"/>
                </a:lnTo>
                <a:lnTo>
                  <a:pt x="2318" y="837"/>
                </a:lnTo>
                <a:lnTo>
                  <a:pt x="2312" y="814"/>
                </a:lnTo>
                <a:lnTo>
                  <a:pt x="2307" y="791"/>
                </a:lnTo>
                <a:lnTo>
                  <a:pt x="2301" y="773"/>
                </a:lnTo>
                <a:lnTo>
                  <a:pt x="2289" y="750"/>
                </a:lnTo>
                <a:lnTo>
                  <a:pt x="2283" y="739"/>
                </a:lnTo>
                <a:lnTo>
                  <a:pt x="2278" y="727"/>
                </a:lnTo>
                <a:lnTo>
                  <a:pt x="2272" y="704"/>
                </a:lnTo>
                <a:lnTo>
                  <a:pt x="2266" y="686"/>
                </a:lnTo>
                <a:lnTo>
                  <a:pt x="2260" y="669"/>
                </a:lnTo>
                <a:lnTo>
                  <a:pt x="2254" y="651"/>
                </a:lnTo>
                <a:lnTo>
                  <a:pt x="2254" y="657"/>
                </a:lnTo>
                <a:lnTo>
                  <a:pt x="2243" y="640"/>
                </a:lnTo>
                <a:lnTo>
                  <a:pt x="2243" y="634"/>
                </a:lnTo>
                <a:lnTo>
                  <a:pt x="2237" y="611"/>
                </a:lnTo>
                <a:lnTo>
                  <a:pt x="2231" y="593"/>
                </a:lnTo>
                <a:lnTo>
                  <a:pt x="2225" y="582"/>
                </a:lnTo>
                <a:lnTo>
                  <a:pt x="2219" y="570"/>
                </a:lnTo>
                <a:lnTo>
                  <a:pt x="2213" y="553"/>
                </a:lnTo>
                <a:lnTo>
                  <a:pt x="2208" y="541"/>
                </a:lnTo>
                <a:lnTo>
                  <a:pt x="2202" y="524"/>
                </a:lnTo>
                <a:lnTo>
                  <a:pt x="2202" y="529"/>
                </a:lnTo>
                <a:lnTo>
                  <a:pt x="2190" y="518"/>
                </a:lnTo>
                <a:lnTo>
                  <a:pt x="2184" y="512"/>
                </a:lnTo>
                <a:lnTo>
                  <a:pt x="2184" y="506"/>
                </a:lnTo>
                <a:lnTo>
                  <a:pt x="2178" y="494"/>
                </a:lnTo>
                <a:lnTo>
                  <a:pt x="2173" y="483"/>
                </a:lnTo>
                <a:lnTo>
                  <a:pt x="2167" y="465"/>
                </a:lnTo>
                <a:lnTo>
                  <a:pt x="2167" y="471"/>
                </a:lnTo>
                <a:lnTo>
                  <a:pt x="2161" y="465"/>
                </a:lnTo>
                <a:lnTo>
                  <a:pt x="2161" y="460"/>
                </a:lnTo>
                <a:lnTo>
                  <a:pt x="2155" y="442"/>
                </a:lnTo>
                <a:lnTo>
                  <a:pt x="2155" y="448"/>
                </a:lnTo>
                <a:lnTo>
                  <a:pt x="2144" y="436"/>
                </a:lnTo>
                <a:lnTo>
                  <a:pt x="2144" y="431"/>
                </a:lnTo>
                <a:lnTo>
                  <a:pt x="2138" y="401"/>
                </a:lnTo>
                <a:lnTo>
                  <a:pt x="2132" y="390"/>
                </a:lnTo>
                <a:lnTo>
                  <a:pt x="2126" y="378"/>
                </a:lnTo>
                <a:lnTo>
                  <a:pt x="2120" y="367"/>
                </a:lnTo>
                <a:lnTo>
                  <a:pt x="2114" y="355"/>
                </a:lnTo>
                <a:lnTo>
                  <a:pt x="2109" y="343"/>
                </a:lnTo>
                <a:lnTo>
                  <a:pt x="2103" y="326"/>
                </a:lnTo>
                <a:lnTo>
                  <a:pt x="2103" y="332"/>
                </a:lnTo>
                <a:lnTo>
                  <a:pt x="2091" y="320"/>
                </a:lnTo>
                <a:lnTo>
                  <a:pt x="2091" y="314"/>
                </a:lnTo>
                <a:lnTo>
                  <a:pt x="2085" y="297"/>
                </a:lnTo>
                <a:lnTo>
                  <a:pt x="2079" y="285"/>
                </a:lnTo>
                <a:lnTo>
                  <a:pt x="2079" y="291"/>
                </a:lnTo>
                <a:lnTo>
                  <a:pt x="2074" y="285"/>
                </a:lnTo>
                <a:lnTo>
                  <a:pt x="2068" y="279"/>
                </a:lnTo>
                <a:lnTo>
                  <a:pt x="2062" y="274"/>
                </a:lnTo>
                <a:lnTo>
                  <a:pt x="2056" y="268"/>
                </a:lnTo>
                <a:lnTo>
                  <a:pt x="2045" y="250"/>
                </a:lnTo>
                <a:lnTo>
                  <a:pt x="2045" y="245"/>
                </a:lnTo>
                <a:lnTo>
                  <a:pt x="2039" y="227"/>
                </a:lnTo>
                <a:lnTo>
                  <a:pt x="2033" y="210"/>
                </a:lnTo>
                <a:lnTo>
                  <a:pt x="2027" y="192"/>
                </a:lnTo>
                <a:lnTo>
                  <a:pt x="2021" y="181"/>
                </a:lnTo>
                <a:lnTo>
                  <a:pt x="2015" y="157"/>
                </a:lnTo>
                <a:lnTo>
                  <a:pt x="2039" y="157"/>
                </a:lnTo>
                <a:lnTo>
                  <a:pt x="2033" y="808"/>
                </a:lnTo>
                <a:lnTo>
                  <a:pt x="2021" y="814"/>
                </a:lnTo>
                <a:lnTo>
                  <a:pt x="2010" y="814"/>
                </a:lnTo>
                <a:lnTo>
                  <a:pt x="2004" y="808"/>
                </a:lnTo>
                <a:lnTo>
                  <a:pt x="2010" y="808"/>
                </a:lnTo>
                <a:lnTo>
                  <a:pt x="1998" y="803"/>
                </a:lnTo>
                <a:lnTo>
                  <a:pt x="1992" y="803"/>
                </a:lnTo>
                <a:lnTo>
                  <a:pt x="1986" y="797"/>
                </a:lnTo>
                <a:lnTo>
                  <a:pt x="1986" y="791"/>
                </a:lnTo>
                <a:lnTo>
                  <a:pt x="1980" y="773"/>
                </a:lnTo>
                <a:lnTo>
                  <a:pt x="1975" y="762"/>
                </a:lnTo>
                <a:lnTo>
                  <a:pt x="1969" y="744"/>
                </a:lnTo>
                <a:lnTo>
                  <a:pt x="1963" y="721"/>
                </a:lnTo>
                <a:lnTo>
                  <a:pt x="1957" y="704"/>
                </a:lnTo>
                <a:lnTo>
                  <a:pt x="1946" y="669"/>
                </a:lnTo>
                <a:lnTo>
                  <a:pt x="1940" y="640"/>
                </a:lnTo>
                <a:lnTo>
                  <a:pt x="1934" y="628"/>
                </a:lnTo>
                <a:lnTo>
                  <a:pt x="1928" y="611"/>
                </a:lnTo>
                <a:lnTo>
                  <a:pt x="1922" y="582"/>
                </a:lnTo>
                <a:lnTo>
                  <a:pt x="1916" y="570"/>
                </a:lnTo>
                <a:lnTo>
                  <a:pt x="1911" y="541"/>
                </a:lnTo>
                <a:lnTo>
                  <a:pt x="1905" y="518"/>
                </a:lnTo>
                <a:lnTo>
                  <a:pt x="1893" y="489"/>
                </a:lnTo>
                <a:lnTo>
                  <a:pt x="1887" y="471"/>
                </a:lnTo>
                <a:lnTo>
                  <a:pt x="1881" y="454"/>
                </a:lnTo>
                <a:lnTo>
                  <a:pt x="1876" y="431"/>
                </a:lnTo>
                <a:lnTo>
                  <a:pt x="1870" y="419"/>
                </a:lnTo>
                <a:lnTo>
                  <a:pt x="1864" y="372"/>
                </a:lnTo>
                <a:lnTo>
                  <a:pt x="1876" y="384"/>
                </a:lnTo>
                <a:lnTo>
                  <a:pt x="1870" y="384"/>
                </a:lnTo>
                <a:lnTo>
                  <a:pt x="1858" y="378"/>
                </a:lnTo>
                <a:lnTo>
                  <a:pt x="1847" y="355"/>
                </a:lnTo>
                <a:lnTo>
                  <a:pt x="1841" y="343"/>
                </a:lnTo>
                <a:lnTo>
                  <a:pt x="1835" y="326"/>
                </a:lnTo>
                <a:lnTo>
                  <a:pt x="1829" y="303"/>
                </a:lnTo>
                <a:lnTo>
                  <a:pt x="1823" y="279"/>
                </a:lnTo>
                <a:lnTo>
                  <a:pt x="1817" y="268"/>
                </a:lnTo>
                <a:lnTo>
                  <a:pt x="1817" y="274"/>
                </a:lnTo>
                <a:lnTo>
                  <a:pt x="1812" y="268"/>
                </a:lnTo>
                <a:lnTo>
                  <a:pt x="1812" y="262"/>
                </a:lnTo>
                <a:lnTo>
                  <a:pt x="1806" y="250"/>
                </a:lnTo>
                <a:lnTo>
                  <a:pt x="1812" y="256"/>
                </a:lnTo>
                <a:lnTo>
                  <a:pt x="1800" y="250"/>
                </a:lnTo>
                <a:lnTo>
                  <a:pt x="1794" y="245"/>
                </a:lnTo>
                <a:lnTo>
                  <a:pt x="1788" y="233"/>
                </a:lnTo>
                <a:lnTo>
                  <a:pt x="1788" y="239"/>
                </a:lnTo>
                <a:lnTo>
                  <a:pt x="1782" y="233"/>
                </a:lnTo>
                <a:lnTo>
                  <a:pt x="1782" y="227"/>
                </a:lnTo>
                <a:lnTo>
                  <a:pt x="1777" y="215"/>
                </a:lnTo>
                <a:lnTo>
                  <a:pt x="1777" y="221"/>
                </a:lnTo>
                <a:lnTo>
                  <a:pt x="1771" y="215"/>
                </a:lnTo>
                <a:lnTo>
                  <a:pt x="1765" y="210"/>
                </a:lnTo>
                <a:lnTo>
                  <a:pt x="1759" y="204"/>
                </a:lnTo>
                <a:lnTo>
                  <a:pt x="1771" y="210"/>
                </a:lnTo>
                <a:lnTo>
                  <a:pt x="1759" y="210"/>
                </a:lnTo>
                <a:lnTo>
                  <a:pt x="1748" y="198"/>
                </a:lnTo>
                <a:lnTo>
                  <a:pt x="1742" y="186"/>
                </a:lnTo>
                <a:lnTo>
                  <a:pt x="1736" y="175"/>
                </a:lnTo>
                <a:lnTo>
                  <a:pt x="1736" y="181"/>
                </a:lnTo>
                <a:lnTo>
                  <a:pt x="1730" y="175"/>
                </a:lnTo>
                <a:lnTo>
                  <a:pt x="1724" y="169"/>
                </a:lnTo>
                <a:lnTo>
                  <a:pt x="1718" y="163"/>
                </a:lnTo>
                <a:lnTo>
                  <a:pt x="1713" y="157"/>
                </a:lnTo>
                <a:lnTo>
                  <a:pt x="1707" y="152"/>
                </a:lnTo>
                <a:lnTo>
                  <a:pt x="1695" y="140"/>
                </a:lnTo>
                <a:lnTo>
                  <a:pt x="1695" y="134"/>
                </a:lnTo>
                <a:lnTo>
                  <a:pt x="1689" y="122"/>
                </a:lnTo>
                <a:lnTo>
                  <a:pt x="1683" y="111"/>
                </a:lnTo>
                <a:lnTo>
                  <a:pt x="1678" y="99"/>
                </a:lnTo>
                <a:lnTo>
                  <a:pt x="1678" y="105"/>
                </a:lnTo>
                <a:lnTo>
                  <a:pt x="1672" y="99"/>
                </a:lnTo>
                <a:lnTo>
                  <a:pt x="1683" y="105"/>
                </a:lnTo>
                <a:lnTo>
                  <a:pt x="1678" y="105"/>
                </a:lnTo>
                <a:lnTo>
                  <a:pt x="1666" y="99"/>
                </a:lnTo>
                <a:lnTo>
                  <a:pt x="1660" y="93"/>
                </a:lnTo>
                <a:lnTo>
                  <a:pt x="1649" y="70"/>
                </a:lnTo>
                <a:lnTo>
                  <a:pt x="1643" y="59"/>
                </a:lnTo>
                <a:lnTo>
                  <a:pt x="1637" y="41"/>
                </a:lnTo>
                <a:lnTo>
                  <a:pt x="1631" y="29"/>
                </a:lnTo>
                <a:lnTo>
                  <a:pt x="1625" y="18"/>
                </a:lnTo>
                <a:lnTo>
                  <a:pt x="1625" y="24"/>
                </a:lnTo>
                <a:lnTo>
                  <a:pt x="1619" y="18"/>
                </a:lnTo>
                <a:lnTo>
                  <a:pt x="1643" y="12"/>
                </a:lnTo>
                <a:lnTo>
                  <a:pt x="1637" y="646"/>
                </a:lnTo>
                <a:lnTo>
                  <a:pt x="1625" y="651"/>
                </a:lnTo>
                <a:lnTo>
                  <a:pt x="1614" y="651"/>
                </a:lnTo>
                <a:lnTo>
                  <a:pt x="1608" y="646"/>
                </a:lnTo>
                <a:lnTo>
                  <a:pt x="1596" y="634"/>
                </a:lnTo>
                <a:lnTo>
                  <a:pt x="1596" y="628"/>
                </a:lnTo>
                <a:lnTo>
                  <a:pt x="1590" y="617"/>
                </a:lnTo>
                <a:lnTo>
                  <a:pt x="1584" y="605"/>
                </a:lnTo>
                <a:lnTo>
                  <a:pt x="1579" y="593"/>
                </a:lnTo>
                <a:lnTo>
                  <a:pt x="1573" y="582"/>
                </a:lnTo>
                <a:lnTo>
                  <a:pt x="1567" y="564"/>
                </a:lnTo>
                <a:lnTo>
                  <a:pt x="1561" y="553"/>
                </a:lnTo>
                <a:lnTo>
                  <a:pt x="1561" y="558"/>
                </a:lnTo>
                <a:lnTo>
                  <a:pt x="1550" y="547"/>
                </a:lnTo>
                <a:lnTo>
                  <a:pt x="1544" y="541"/>
                </a:lnTo>
                <a:lnTo>
                  <a:pt x="1544" y="535"/>
                </a:lnTo>
                <a:lnTo>
                  <a:pt x="1538" y="518"/>
                </a:lnTo>
                <a:lnTo>
                  <a:pt x="1532" y="506"/>
                </a:lnTo>
                <a:lnTo>
                  <a:pt x="1532" y="512"/>
                </a:lnTo>
                <a:lnTo>
                  <a:pt x="1526" y="506"/>
                </a:lnTo>
                <a:lnTo>
                  <a:pt x="1526" y="500"/>
                </a:lnTo>
                <a:lnTo>
                  <a:pt x="1520" y="489"/>
                </a:lnTo>
                <a:lnTo>
                  <a:pt x="1515" y="465"/>
                </a:lnTo>
                <a:lnTo>
                  <a:pt x="1515" y="471"/>
                </a:lnTo>
                <a:lnTo>
                  <a:pt x="1509" y="465"/>
                </a:lnTo>
                <a:lnTo>
                  <a:pt x="1515" y="465"/>
                </a:lnTo>
                <a:lnTo>
                  <a:pt x="1503" y="460"/>
                </a:lnTo>
                <a:lnTo>
                  <a:pt x="1497" y="454"/>
                </a:lnTo>
                <a:lnTo>
                  <a:pt x="1491" y="436"/>
                </a:lnTo>
                <a:lnTo>
                  <a:pt x="1491" y="442"/>
                </a:lnTo>
                <a:lnTo>
                  <a:pt x="1485" y="436"/>
                </a:lnTo>
                <a:lnTo>
                  <a:pt x="1485" y="431"/>
                </a:lnTo>
                <a:lnTo>
                  <a:pt x="1480" y="413"/>
                </a:lnTo>
                <a:lnTo>
                  <a:pt x="1480" y="419"/>
                </a:lnTo>
                <a:lnTo>
                  <a:pt x="1474" y="413"/>
                </a:lnTo>
                <a:lnTo>
                  <a:pt x="1468" y="407"/>
                </a:lnTo>
                <a:lnTo>
                  <a:pt x="1468" y="401"/>
                </a:lnTo>
                <a:lnTo>
                  <a:pt x="1462" y="384"/>
                </a:lnTo>
                <a:lnTo>
                  <a:pt x="1462" y="390"/>
                </a:lnTo>
                <a:lnTo>
                  <a:pt x="1451" y="378"/>
                </a:lnTo>
                <a:lnTo>
                  <a:pt x="1451" y="372"/>
                </a:lnTo>
                <a:lnTo>
                  <a:pt x="1445" y="361"/>
                </a:lnTo>
                <a:lnTo>
                  <a:pt x="1445" y="367"/>
                </a:lnTo>
                <a:lnTo>
                  <a:pt x="1439" y="361"/>
                </a:lnTo>
                <a:lnTo>
                  <a:pt x="1433" y="355"/>
                </a:lnTo>
                <a:lnTo>
                  <a:pt x="1427" y="349"/>
                </a:lnTo>
                <a:lnTo>
                  <a:pt x="1427" y="343"/>
                </a:lnTo>
                <a:lnTo>
                  <a:pt x="1421" y="332"/>
                </a:lnTo>
                <a:lnTo>
                  <a:pt x="1421" y="338"/>
                </a:lnTo>
                <a:lnTo>
                  <a:pt x="1416" y="332"/>
                </a:lnTo>
                <a:lnTo>
                  <a:pt x="1416" y="326"/>
                </a:lnTo>
                <a:lnTo>
                  <a:pt x="1410" y="308"/>
                </a:lnTo>
                <a:lnTo>
                  <a:pt x="1416" y="314"/>
                </a:lnTo>
                <a:lnTo>
                  <a:pt x="1404" y="308"/>
                </a:lnTo>
                <a:lnTo>
                  <a:pt x="1398" y="303"/>
                </a:lnTo>
                <a:lnTo>
                  <a:pt x="1392" y="291"/>
                </a:lnTo>
                <a:lnTo>
                  <a:pt x="1392" y="297"/>
                </a:lnTo>
                <a:lnTo>
                  <a:pt x="1386" y="291"/>
                </a:lnTo>
                <a:lnTo>
                  <a:pt x="1381" y="285"/>
                </a:lnTo>
                <a:lnTo>
                  <a:pt x="1381" y="279"/>
                </a:lnTo>
                <a:lnTo>
                  <a:pt x="1375" y="262"/>
                </a:lnTo>
                <a:lnTo>
                  <a:pt x="1386" y="274"/>
                </a:lnTo>
                <a:lnTo>
                  <a:pt x="1381" y="274"/>
                </a:lnTo>
                <a:lnTo>
                  <a:pt x="1369" y="262"/>
                </a:lnTo>
                <a:lnTo>
                  <a:pt x="1363" y="250"/>
                </a:lnTo>
                <a:lnTo>
                  <a:pt x="1375" y="262"/>
                </a:lnTo>
                <a:lnTo>
                  <a:pt x="1363" y="262"/>
                </a:lnTo>
                <a:lnTo>
                  <a:pt x="1352" y="256"/>
                </a:lnTo>
                <a:lnTo>
                  <a:pt x="1346" y="250"/>
                </a:lnTo>
                <a:lnTo>
                  <a:pt x="1357" y="256"/>
                </a:lnTo>
                <a:lnTo>
                  <a:pt x="1352" y="256"/>
                </a:lnTo>
                <a:lnTo>
                  <a:pt x="1346" y="256"/>
                </a:lnTo>
                <a:lnTo>
                  <a:pt x="1340" y="256"/>
                </a:lnTo>
                <a:lnTo>
                  <a:pt x="1328" y="250"/>
                </a:lnTo>
                <a:lnTo>
                  <a:pt x="1322" y="245"/>
                </a:lnTo>
                <a:lnTo>
                  <a:pt x="1322" y="239"/>
                </a:lnTo>
                <a:lnTo>
                  <a:pt x="1317" y="233"/>
                </a:lnTo>
                <a:lnTo>
                  <a:pt x="1305" y="215"/>
                </a:lnTo>
                <a:lnTo>
                  <a:pt x="1299" y="210"/>
                </a:lnTo>
                <a:lnTo>
                  <a:pt x="1311" y="215"/>
                </a:lnTo>
                <a:lnTo>
                  <a:pt x="1305" y="215"/>
                </a:lnTo>
                <a:lnTo>
                  <a:pt x="1293" y="204"/>
                </a:lnTo>
                <a:lnTo>
                  <a:pt x="1287" y="192"/>
                </a:lnTo>
                <a:lnTo>
                  <a:pt x="1287" y="198"/>
                </a:lnTo>
                <a:lnTo>
                  <a:pt x="1282" y="192"/>
                </a:lnTo>
                <a:lnTo>
                  <a:pt x="1282" y="186"/>
                </a:lnTo>
                <a:lnTo>
                  <a:pt x="1276" y="175"/>
                </a:lnTo>
                <a:lnTo>
                  <a:pt x="1270" y="157"/>
                </a:lnTo>
                <a:lnTo>
                  <a:pt x="1282" y="169"/>
                </a:lnTo>
                <a:lnTo>
                  <a:pt x="1276" y="169"/>
                </a:lnTo>
                <a:lnTo>
                  <a:pt x="1270" y="163"/>
                </a:lnTo>
                <a:lnTo>
                  <a:pt x="1258" y="157"/>
                </a:lnTo>
                <a:lnTo>
                  <a:pt x="1253" y="152"/>
                </a:lnTo>
                <a:lnTo>
                  <a:pt x="1247" y="140"/>
                </a:lnTo>
                <a:lnTo>
                  <a:pt x="1247" y="146"/>
                </a:lnTo>
                <a:lnTo>
                  <a:pt x="1241" y="140"/>
                </a:lnTo>
                <a:lnTo>
                  <a:pt x="1264" y="134"/>
                </a:lnTo>
                <a:lnTo>
                  <a:pt x="1258" y="361"/>
                </a:lnTo>
                <a:lnTo>
                  <a:pt x="1253" y="367"/>
                </a:lnTo>
                <a:lnTo>
                  <a:pt x="1247" y="372"/>
                </a:lnTo>
                <a:lnTo>
                  <a:pt x="1241" y="372"/>
                </a:lnTo>
                <a:lnTo>
                  <a:pt x="1235" y="372"/>
                </a:lnTo>
                <a:lnTo>
                  <a:pt x="1223" y="361"/>
                </a:lnTo>
                <a:lnTo>
                  <a:pt x="1218" y="349"/>
                </a:lnTo>
                <a:lnTo>
                  <a:pt x="1223" y="355"/>
                </a:lnTo>
                <a:lnTo>
                  <a:pt x="1212" y="349"/>
                </a:lnTo>
                <a:lnTo>
                  <a:pt x="1206" y="349"/>
                </a:lnTo>
                <a:lnTo>
                  <a:pt x="1200" y="343"/>
                </a:lnTo>
                <a:lnTo>
                  <a:pt x="1212" y="349"/>
                </a:lnTo>
                <a:lnTo>
                  <a:pt x="1206" y="349"/>
                </a:lnTo>
                <a:lnTo>
                  <a:pt x="1200" y="349"/>
                </a:lnTo>
                <a:lnTo>
                  <a:pt x="1194" y="349"/>
                </a:lnTo>
                <a:lnTo>
                  <a:pt x="1183" y="338"/>
                </a:lnTo>
                <a:lnTo>
                  <a:pt x="1177" y="326"/>
                </a:lnTo>
                <a:lnTo>
                  <a:pt x="1177" y="332"/>
                </a:lnTo>
                <a:lnTo>
                  <a:pt x="1171" y="326"/>
                </a:lnTo>
                <a:lnTo>
                  <a:pt x="1183" y="332"/>
                </a:lnTo>
                <a:lnTo>
                  <a:pt x="1177" y="332"/>
                </a:lnTo>
                <a:lnTo>
                  <a:pt x="1165" y="332"/>
                </a:lnTo>
                <a:lnTo>
                  <a:pt x="1154" y="320"/>
                </a:lnTo>
                <a:lnTo>
                  <a:pt x="1148" y="308"/>
                </a:lnTo>
                <a:lnTo>
                  <a:pt x="1159" y="320"/>
                </a:lnTo>
                <a:lnTo>
                  <a:pt x="1154" y="320"/>
                </a:lnTo>
                <a:lnTo>
                  <a:pt x="1148" y="320"/>
                </a:lnTo>
                <a:lnTo>
                  <a:pt x="1142" y="320"/>
                </a:lnTo>
                <a:lnTo>
                  <a:pt x="1130" y="314"/>
                </a:lnTo>
                <a:lnTo>
                  <a:pt x="1124" y="308"/>
                </a:lnTo>
                <a:lnTo>
                  <a:pt x="1136" y="314"/>
                </a:lnTo>
                <a:lnTo>
                  <a:pt x="1130" y="314"/>
                </a:lnTo>
                <a:lnTo>
                  <a:pt x="1119" y="314"/>
                </a:lnTo>
                <a:lnTo>
                  <a:pt x="1113" y="314"/>
                </a:lnTo>
                <a:lnTo>
                  <a:pt x="1101" y="303"/>
                </a:lnTo>
                <a:lnTo>
                  <a:pt x="1095" y="291"/>
                </a:lnTo>
                <a:lnTo>
                  <a:pt x="1107" y="303"/>
                </a:lnTo>
                <a:lnTo>
                  <a:pt x="1101" y="303"/>
                </a:lnTo>
                <a:lnTo>
                  <a:pt x="1089" y="297"/>
                </a:lnTo>
                <a:lnTo>
                  <a:pt x="1084" y="291"/>
                </a:lnTo>
                <a:lnTo>
                  <a:pt x="1101" y="291"/>
                </a:lnTo>
                <a:lnTo>
                  <a:pt x="1095" y="297"/>
                </a:lnTo>
                <a:lnTo>
                  <a:pt x="1089" y="303"/>
                </a:lnTo>
                <a:lnTo>
                  <a:pt x="1078" y="297"/>
                </a:lnTo>
                <a:lnTo>
                  <a:pt x="1072" y="291"/>
                </a:lnTo>
                <a:lnTo>
                  <a:pt x="1072" y="285"/>
                </a:lnTo>
                <a:lnTo>
                  <a:pt x="1066" y="274"/>
                </a:lnTo>
                <a:lnTo>
                  <a:pt x="1072" y="279"/>
                </a:lnTo>
                <a:lnTo>
                  <a:pt x="1060" y="274"/>
                </a:lnTo>
                <a:lnTo>
                  <a:pt x="1066" y="279"/>
                </a:lnTo>
                <a:lnTo>
                  <a:pt x="1060" y="279"/>
                </a:lnTo>
                <a:lnTo>
                  <a:pt x="1055" y="279"/>
                </a:lnTo>
                <a:lnTo>
                  <a:pt x="1049" y="279"/>
                </a:lnTo>
                <a:lnTo>
                  <a:pt x="1037" y="268"/>
                </a:lnTo>
                <a:lnTo>
                  <a:pt x="1031" y="256"/>
                </a:lnTo>
                <a:lnTo>
                  <a:pt x="1043" y="268"/>
                </a:lnTo>
                <a:lnTo>
                  <a:pt x="1037" y="268"/>
                </a:lnTo>
                <a:lnTo>
                  <a:pt x="1031" y="268"/>
                </a:lnTo>
                <a:lnTo>
                  <a:pt x="1020" y="268"/>
                </a:lnTo>
                <a:lnTo>
                  <a:pt x="1014" y="268"/>
                </a:lnTo>
                <a:lnTo>
                  <a:pt x="1002" y="262"/>
                </a:lnTo>
                <a:lnTo>
                  <a:pt x="996" y="256"/>
                </a:lnTo>
                <a:lnTo>
                  <a:pt x="996" y="250"/>
                </a:lnTo>
                <a:lnTo>
                  <a:pt x="990" y="239"/>
                </a:lnTo>
                <a:lnTo>
                  <a:pt x="1002" y="250"/>
                </a:lnTo>
                <a:lnTo>
                  <a:pt x="996" y="250"/>
                </a:lnTo>
                <a:lnTo>
                  <a:pt x="990" y="250"/>
                </a:lnTo>
                <a:lnTo>
                  <a:pt x="985" y="250"/>
                </a:lnTo>
                <a:lnTo>
                  <a:pt x="979" y="250"/>
                </a:lnTo>
                <a:lnTo>
                  <a:pt x="967" y="245"/>
                </a:lnTo>
                <a:lnTo>
                  <a:pt x="956" y="233"/>
                </a:lnTo>
                <a:lnTo>
                  <a:pt x="950" y="227"/>
                </a:lnTo>
                <a:lnTo>
                  <a:pt x="961" y="233"/>
                </a:lnTo>
                <a:lnTo>
                  <a:pt x="956" y="233"/>
                </a:lnTo>
                <a:lnTo>
                  <a:pt x="950" y="233"/>
                </a:lnTo>
                <a:lnTo>
                  <a:pt x="944" y="233"/>
                </a:lnTo>
                <a:lnTo>
                  <a:pt x="938" y="233"/>
                </a:lnTo>
                <a:lnTo>
                  <a:pt x="950" y="221"/>
                </a:lnTo>
                <a:lnTo>
                  <a:pt x="944" y="570"/>
                </a:lnTo>
                <a:lnTo>
                  <a:pt x="938" y="576"/>
                </a:lnTo>
                <a:lnTo>
                  <a:pt x="932" y="582"/>
                </a:lnTo>
                <a:lnTo>
                  <a:pt x="921" y="582"/>
                </a:lnTo>
                <a:lnTo>
                  <a:pt x="909" y="576"/>
                </a:lnTo>
                <a:lnTo>
                  <a:pt x="903" y="570"/>
                </a:lnTo>
                <a:lnTo>
                  <a:pt x="915" y="576"/>
                </a:lnTo>
                <a:lnTo>
                  <a:pt x="909" y="576"/>
                </a:lnTo>
                <a:lnTo>
                  <a:pt x="903" y="576"/>
                </a:lnTo>
                <a:lnTo>
                  <a:pt x="897" y="576"/>
                </a:lnTo>
                <a:lnTo>
                  <a:pt x="891" y="576"/>
                </a:lnTo>
                <a:lnTo>
                  <a:pt x="886" y="576"/>
                </a:lnTo>
                <a:lnTo>
                  <a:pt x="880" y="576"/>
                </a:lnTo>
                <a:lnTo>
                  <a:pt x="868" y="576"/>
                </a:lnTo>
                <a:lnTo>
                  <a:pt x="862" y="576"/>
                </a:lnTo>
                <a:lnTo>
                  <a:pt x="851" y="564"/>
                </a:lnTo>
                <a:lnTo>
                  <a:pt x="845" y="547"/>
                </a:lnTo>
                <a:lnTo>
                  <a:pt x="857" y="558"/>
                </a:lnTo>
                <a:lnTo>
                  <a:pt x="851" y="558"/>
                </a:lnTo>
                <a:lnTo>
                  <a:pt x="845" y="558"/>
                </a:lnTo>
                <a:lnTo>
                  <a:pt x="839" y="558"/>
                </a:lnTo>
                <a:lnTo>
                  <a:pt x="833" y="558"/>
                </a:lnTo>
                <a:lnTo>
                  <a:pt x="827" y="553"/>
                </a:lnTo>
                <a:lnTo>
                  <a:pt x="816" y="547"/>
                </a:lnTo>
                <a:lnTo>
                  <a:pt x="810" y="541"/>
                </a:lnTo>
                <a:lnTo>
                  <a:pt x="804" y="529"/>
                </a:lnTo>
                <a:lnTo>
                  <a:pt x="816" y="541"/>
                </a:lnTo>
                <a:lnTo>
                  <a:pt x="810" y="541"/>
                </a:lnTo>
                <a:lnTo>
                  <a:pt x="804" y="541"/>
                </a:lnTo>
                <a:lnTo>
                  <a:pt x="798" y="541"/>
                </a:lnTo>
                <a:lnTo>
                  <a:pt x="792" y="541"/>
                </a:lnTo>
                <a:lnTo>
                  <a:pt x="787" y="541"/>
                </a:lnTo>
                <a:lnTo>
                  <a:pt x="775" y="535"/>
                </a:lnTo>
                <a:lnTo>
                  <a:pt x="769" y="529"/>
                </a:lnTo>
                <a:lnTo>
                  <a:pt x="758" y="518"/>
                </a:lnTo>
                <a:lnTo>
                  <a:pt x="769" y="524"/>
                </a:lnTo>
                <a:lnTo>
                  <a:pt x="763" y="524"/>
                </a:lnTo>
                <a:lnTo>
                  <a:pt x="752" y="518"/>
                </a:lnTo>
                <a:lnTo>
                  <a:pt x="746" y="512"/>
                </a:lnTo>
                <a:lnTo>
                  <a:pt x="746" y="506"/>
                </a:lnTo>
                <a:lnTo>
                  <a:pt x="740" y="494"/>
                </a:lnTo>
                <a:lnTo>
                  <a:pt x="752" y="506"/>
                </a:lnTo>
                <a:lnTo>
                  <a:pt x="746" y="506"/>
                </a:lnTo>
                <a:lnTo>
                  <a:pt x="740" y="506"/>
                </a:lnTo>
                <a:lnTo>
                  <a:pt x="734" y="506"/>
                </a:lnTo>
                <a:lnTo>
                  <a:pt x="723" y="506"/>
                </a:lnTo>
                <a:lnTo>
                  <a:pt x="717" y="506"/>
                </a:lnTo>
                <a:lnTo>
                  <a:pt x="711" y="506"/>
                </a:lnTo>
                <a:lnTo>
                  <a:pt x="699" y="500"/>
                </a:lnTo>
                <a:lnTo>
                  <a:pt x="693" y="494"/>
                </a:lnTo>
                <a:lnTo>
                  <a:pt x="705" y="500"/>
                </a:lnTo>
                <a:lnTo>
                  <a:pt x="699" y="500"/>
                </a:lnTo>
                <a:lnTo>
                  <a:pt x="693" y="500"/>
                </a:lnTo>
                <a:lnTo>
                  <a:pt x="688" y="500"/>
                </a:lnTo>
                <a:lnTo>
                  <a:pt x="682" y="500"/>
                </a:lnTo>
                <a:lnTo>
                  <a:pt x="670" y="500"/>
                </a:lnTo>
                <a:lnTo>
                  <a:pt x="664" y="500"/>
                </a:lnTo>
                <a:lnTo>
                  <a:pt x="659" y="500"/>
                </a:lnTo>
                <a:lnTo>
                  <a:pt x="647" y="489"/>
                </a:lnTo>
                <a:lnTo>
                  <a:pt x="641" y="471"/>
                </a:lnTo>
                <a:lnTo>
                  <a:pt x="635" y="460"/>
                </a:lnTo>
                <a:lnTo>
                  <a:pt x="635" y="465"/>
                </a:lnTo>
                <a:lnTo>
                  <a:pt x="629" y="460"/>
                </a:lnTo>
                <a:lnTo>
                  <a:pt x="629" y="454"/>
                </a:lnTo>
                <a:lnTo>
                  <a:pt x="624" y="442"/>
                </a:lnTo>
                <a:lnTo>
                  <a:pt x="629" y="448"/>
                </a:lnTo>
                <a:lnTo>
                  <a:pt x="618" y="442"/>
                </a:lnTo>
                <a:lnTo>
                  <a:pt x="624" y="448"/>
                </a:lnTo>
                <a:lnTo>
                  <a:pt x="618" y="448"/>
                </a:lnTo>
                <a:lnTo>
                  <a:pt x="612" y="448"/>
                </a:lnTo>
                <a:lnTo>
                  <a:pt x="600" y="436"/>
                </a:lnTo>
                <a:lnTo>
                  <a:pt x="594" y="425"/>
                </a:lnTo>
                <a:lnTo>
                  <a:pt x="594" y="431"/>
                </a:lnTo>
                <a:lnTo>
                  <a:pt x="589" y="425"/>
                </a:lnTo>
                <a:lnTo>
                  <a:pt x="589" y="419"/>
                </a:lnTo>
                <a:lnTo>
                  <a:pt x="583" y="407"/>
                </a:lnTo>
                <a:lnTo>
                  <a:pt x="583" y="413"/>
                </a:lnTo>
                <a:lnTo>
                  <a:pt x="577" y="407"/>
                </a:lnTo>
                <a:lnTo>
                  <a:pt x="589" y="413"/>
                </a:lnTo>
                <a:lnTo>
                  <a:pt x="583" y="413"/>
                </a:lnTo>
                <a:lnTo>
                  <a:pt x="571" y="407"/>
                </a:lnTo>
                <a:lnTo>
                  <a:pt x="560" y="396"/>
                </a:lnTo>
                <a:lnTo>
                  <a:pt x="560" y="390"/>
                </a:lnTo>
                <a:lnTo>
                  <a:pt x="554" y="378"/>
                </a:lnTo>
                <a:lnTo>
                  <a:pt x="554" y="384"/>
                </a:lnTo>
                <a:lnTo>
                  <a:pt x="548" y="378"/>
                </a:lnTo>
                <a:lnTo>
                  <a:pt x="548" y="372"/>
                </a:lnTo>
                <a:lnTo>
                  <a:pt x="542" y="361"/>
                </a:lnTo>
                <a:lnTo>
                  <a:pt x="554" y="372"/>
                </a:lnTo>
                <a:lnTo>
                  <a:pt x="548" y="372"/>
                </a:lnTo>
                <a:lnTo>
                  <a:pt x="536" y="367"/>
                </a:lnTo>
                <a:lnTo>
                  <a:pt x="530" y="361"/>
                </a:lnTo>
                <a:lnTo>
                  <a:pt x="530" y="355"/>
                </a:lnTo>
                <a:lnTo>
                  <a:pt x="525" y="343"/>
                </a:lnTo>
                <a:lnTo>
                  <a:pt x="536" y="355"/>
                </a:lnTo>
                <a:lnTo>
                  <a:pt x="525" y="355"/>
                </a:lnTo>
                <a:lnTo>
                  <a:pt x="513" y="343"/>
                </a:lnTo>
                <a:lnTo>
                  <a:pt x="507" y="332"/>
                </a:lnTo>
                <a:lnTo>
                  <a:pt x="501" y="314"/>
                </a:lnTo>
                <a:lnTo>
                  <a:pt x="495" y="303"/>
                </a:lnTo>
                <a:lnTo>
                  <a:pt x="507" y="314"/>
                </a:lnTo>
                <a:lnTo>
                  <a:pt x="501" y="314"/>
                </a:lnTo>
                <a:lnTo>
                  <a:pt x="495" y="314"/>
                </a:lnTo>
                <a:lnTo>
                  <a:pt x="484" y="303"/>
                </a:lnTo>
                <a:lnTo>
                  <a:pt x="478" y="291"/>
                </a:lnTo>
                <a:lnTo>
                  <a:pt x="501" y="291"/>
                </a:lnTo>
                <a:lnTo>
                  <a:pt x="495" y="971"/>
                </a:lnTo>
                <a:lnTo>
                  <a:pt x="490" y="977"/>
                </a:lnTo>
                <a:lnTo>
                  <a:pt x="484" y="983"/>
                </a:lnTo>
                <a:lnTo>
                  <a:pt x="472" y="983"/>
                </a:lnTo>
                <a:lnTo>
                  <a:pt x="460" y="977"/>
                </a:lnTo>
                <a:lnTo>
                  <a:pt x="455" y="971"/>
                </a:lnTo>
                <a:lnTo>
                  <a:pt x="472" y="971"/>
                </a:lnTo>
                <a:lnTo>
                  <a:pt x="466" y="977"/>
                </a:lnTo>
                <a:lnTo>
                  <a:pt x="455" y="983"/>
                </a:lnTo>
                <a:lnTo>
                  <a:pt x="449" y="971"/>
                </a:lnTo>
                <a:lnTo>
                  <a:pt x="443" y="954"/>
                </a:lnTo>
                <a:lnTo>
                  <a:pt x="460" y="954"/>
                </a:lnTo>
                <a:lnTo>
                  <a:pt x="455" y="965"/>
                </a:lnTo>
                <a:lnTo>
                  <a:pt x="449" y="977"/>
                </a:lnTo>
                <a:lnTo>
                  <a:pt x="437" y="965"/>
                </a:lnTo>
                <a:lnTo>
                  <a:pt x="431" y="954"/>
                </a:lnTo>
                <a:lnTo>
                  <a:pt x="449" y="954"/>
                </a:lnTo>
                <a:lnTo>
                  <a:pt x="443" y="965"/>
                </a:lnTo>
                <a:lnTo>
                  <a:pt x="437" y="977"/>
                </a:lnTo>
                <a:lnTo>
                  <a:pt x="426" y="977"/>
                </a:lnTo>
                <a:lnTo>
                  <a:pt x="420" y="977"/>
                </a:lnTo>
                <a:lnTo>
                  <a:pt x="414" y="977"/>
                </a:lnTo>
                <a:lnTo>
                  <a:pt x="408" y="977"/>
                </a:lnTo>
                <a:lnTo>
                  <a:pt x="402" y="977"/>
                </a:lnTo>
                <a:lnTo>
                  <a:pt x="396" y="977"/>
                </a:lnTo>
                <a:lnTo>
                  <a:pt x="385" y="965"/>
                </a:lnTo>
                <a:lnTo>
                  <a:pt x="379" y="954"/>
                </a:lnTo>
                <a:lnTo>
                  <a:pt x="396" y="959"/>
                </a:lnTo>
                <a:lnTo>
                  <a:pt x="385" y="971"/>
                </a:lnTo>
                <a:lnTo>
                  <a:pt x="379" y="977"/>
                </a:lnTo>
                <a:lnTo>
                  <a:pt x="373" y="983"/>
                </a:lnTo>
                <a:lnTo>
                  <a:pt x="367" y="983"/>
                </a:lnTo>
                <a:lnTo>
                  <a:pt x="361" y="983"/>
                </a:lnTo>
                <a:lnTo>
                  <a:pt x="356" y="983"/>
                </a:lnTo>
                <a:lnTo>
                  <a:pt x="350" y="983"/>
                </a:lnTo>
                <a:lnTo>
                  <a:pt x="344" y="983"/>
                </a:lnTo>
                <a:lnTo>
                  <a:pt x="350" y="977"/>
                </a:lnTo>
                <a:lnTo>
                  <a:pt x="344" y="983"/>
                </a:lnTo>
                <a:lnTo>
                  <a:pt x="332" y="983"/>
                </a:lnTo>
                <a:lnTo>
                  <a:pt x="321" y="977"/>
                </a:lnTo>
                <a:lnTo>
                  <a:pt x="327" y="983"/>
                </a:lnTo>
                <a:lnTo>
                  <a:pt x="321" y="983"/>
                </a:lnTo>
                <a:lnTo>
                  <a:pt x="315" y="983"/>
                </a:lnTo>
                <a:lnTo>
                  <a:pt x="321" y="977"/>
                </a:lnTo>
                <a:lnTo>
                  <a:pt x="315" y="983"/>
                </a:lnTo>
                <a:lnTo>
                  <a:pt x="309" y="989"/>
                </a:lnTo>
                <a:lnTo>
                  <a:pt x="297" y="983"/>
                </a:lnTo>
                <a:lnTo>
                  <a:pt x="292" y="977"/>
                </a:lnTo>
                <a:lnTo>
                  <a:pt x="303" y="983"/>
                </a:lnTo>
                <a:lnTo>
                  <a:pt x="297" y="983"/>
                </a:lnTo>
                <a:lnTo>
                  <a:pt x="286" y="977"/>
                </a:lnTo>
                <a:lnTo>
                  <a:pt x="280" y="971"/>
                </a:lnTo>
                <a:lnTo>
                  <a:pt x="292" y="977"/>
                </a:lnTo>
                <a:lnTo>
                  <a:pt x="280" y="977"/>
                </a:lnTo>
                <a:lnTo>
                  <a:pt x="268" y="965"/>
                </a:lnTo>
                <a:lnTo>
                  <a:pt x="262" y="954"/>
                </a:lnTo>
                <a:lnTo>
                  <a:pt x="274" y="965"/>
                </a:lnTo>
                <a:lnTo>
                  <a:pt x="268" y="965"/>
                </a:lnTo>
                <a:lnTo>
                  <a:pt x="257" y="959"/>
                </a:lnTo>
                <a:lnTo>
                  <a:pt x="251" y="954"/>
                </a:lnTo>
                <a:lnTo>
                  <a:pt x="262" y="959"/>
                </a:lnTo>
                <a:lnTo>
                  <a:pt x="257" y="959"/>
                </a:lnTo>
                <a:lnTo>
                  <a:pt x="251" y="959"/>
                </a:lnTo>
                <a:lnTo>
                  <a:pt x="257" y="954"/>
                </a:lnTo>
                <a:lnTo>
                  <a:pt x="251" y="959"/>
                </a:lnTo>
                <a:lnTo>
                  <a:pt x="245" y="965"/>
                </a:lnTo>
                <a:lnTo>
                  <a:pt x="239" y="965"/>
                </a:lnTo>
                <a:lnTo>
                  <a:pt x="228" y="965"/>
                </a:lnTo>
                <a:lnTo>
                  <a:pt x="216" y="959"/>
                </a:lnTo>
                <a:lnTo>
                  <a:pt x="210" y="954"/>
                </a:lnTo>
                <a:lnTo>
                  <a:pt x="228" y="954"/>
                </a:lnTo>
                <a:lnTo>
                  <a:pt x="222" y="959"/>
                </a:lnTo>
                <a:lnTo>
                  <a:pt x="216" y="965"/>
                </a:lnTo>
                <a:lnTo>
                  <a:pt x="210" y="965"/>
                </a:lnTo>
                <a:lnTo>
                  <a:pt x="198" y="954"/>
                </a:lnTo>
                <a:lnTo>
                  <a:pt x="193" y="942"/>
                </a:lnTo>
                <a:lnTo>
                  <a:pt x="204" y="954"/>
                </a:lnTo>
                <a:lnTo>
                  <a:pt x="198" y="954"/>
                </a:lnTo>
                <a:lnTo>
                  <a:pt x="193" y="954"/>
                </a:lnTo>
                <a:lnTo>
                  <a:pt x="181" y="948"/>
                </a:lnTo>
                <a:lnTo>
                  <a:pt x="169" y="936"/>
                </a:lnTo>
                <a:lnTo>
                  <a:pt x="181" y="942"/>
                </a:lnTo>
                <a:lnTo>
                  <a:pt x="175" y="942"/>
                </a:lnTo>
                <a:lnTo>
                  <a:pt x="181" y="930"/>
                </a:lnTo>
                <a:lnTo>
                  <a:pt x="175" y="942"/>
                </a:lnTo>
                <a:lnTo>
                  <a:pt x="169" y="954"/>
                </a:lnTo>
                <a:lnTo>
                  <a:pt x="163" y="954"/>
                </a:lnTo>
                <a:lnTo>
                  <a:pt x="152" y="942"/>
                </a:lnTo>
                <a:lnTo>
                  <a:pt x="146" y="925"/>
                </a:lnTo>
                <a:lnTo>
                  <a:pt x="146" y="930"/>
                </a:lnTo>
                <a:lnTo>
                  <a:pt x="140" y="925"/>
                </a:lnTo>
                <a:lnTo>
                  <a:pt x="140" y="919"/>
                </a:lnTo>
                <a:lnTo>
                  <a:pt x="134" y="901"/>
                </a:lnTo>
                <a:lnTo>
                  <a:pt x="134" y="907"/>
                </a:lnTo>
                <a:lnTo>
                  <a:pt x="129" y="901"/>
                </a:lnTo>
                <a:lnTo>
                  <a:pt x="140" y="907"/>
                </a:lnTo>
                <a:lnTo>
                  <a:pt x="129" y="907"/>
                </a:lnTo>
                <a:lnTo>
                  <a:pt x="123" y="907"/>
                </a:lnTo>
                <a:lnTo>
                  <a:pt x="129" y="901"/>
                </a:lnTo>
                <a:lnTo>
                  <a:pt x="123" y="907"/>
                </a:lnTo>
                <a:lnTo>
                  <a:pt x="117" y="913"/>
                </a:lnTo>
                <a:lnTo>
                  <a:pt x="105" y="907"/>
                </a:lnTo>
                <a:lnTo>
                  <a:pt x="99" y="901"/>
                </a:lnTo>
                <a:lnTo>
                  <a:pt x="111" y="907"/>
                </a:lnTo>
                <a:lnTo>
                  <a:pt x="105" y="907"/>
                </a:lnTo>
                <a:lnTo>
                  <a:pt x="94" y="896"/>
                </a:lnTo>
                <a:lnTo>
                  <a:pt x="88" y="884"/>
                </a:lnTo>
                <a:lnTo>
                  <a:pt x="82" y="855"/>
                </a:lnTo>
                <a:lnTo>
                  <a:pt x="70" y="820"/>
                </a:lnTo>
                <a:lnTo>
                  <a:pt x="64" y="785"/>
                </a:lnTo>
                <a:lnTo>
                  <a:pt x="59" y="773"/>
                </a:lnTo>
                <a:lnTo>
                  <a:pt x="53" y="756"/>
                </a:lnTo>
                <a:lnTo>
                  <a:pt x="47" y="744"/>
                </a:lnTo>
                <a:lnTo>
                  <a:pt x="47" y="750"/>
                </a:lnTo>
                <a:lnTo>
                  <a:pt x="41" y="744"/>
                </a:lnTo>
                <a:lnTo>
                  <a:pt x="41" y="739"/>
                </a:lnTo>
                <a:lnTo>
                  <a:pt x="35" y="721"/>
                </a:lnTo>
                <a:lnTo>
                  <a:pt x="30" y="710"/>
                </a:lnTo>
                <a:lnTo>
                  <a:pt x="30" y="715"/>
                </a:lnTo>
                <a:lnTo>
                  <a:pt x="18" y="704"/>
                </a:lnTo>
                <a:lnTo>
                  <a:pt x="12" y="698"/>
                </a:lnTo>
                <a:lnTo>
                  <a:pt x="24" y="704"/>
                </a:lnTo>
                <a:lnTo>
                  <a:pt x="18" y="704"/>
                </a:lnTo>
                <a:lnTo>
                  <a:pt x="6" y="692"/>
                </a:lnTo>
                <a:lnTo>
                  <a:pt x="0" y="680"/>
                </a:lnTo>
                <a:lnTo>
                  <a:pt x="0" y="675"/>
                </a:lnTo>
                <a:lnTo>
                  <a:pt x="6" y="669"/>
                </a:lnTo>
                <a:lnTo>
                  <a:pt x="12" y="669"/>
                </a:lnTo>
                <a:lnTo>
                  <a:pt x="18" y="675"/>
                </a:lnTo>
                <a:close/>
              </a:path>
            </a:pathLst>
          </a:custGeom>
          <a:solidFill>
            <a:srgbClr val="C00000"/>
          </a:solidFill>
          <a:ln w="15875">
            <a:solidFill>
              <a:srgbClr val="C00000"/>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92" name="Freeform 17"/>
          <p:cNvSpPr/>
          <p:nvPr/>
        </p:nvSpPr>
        <p:spPr bwMode="auto">
          <a:xfrm>
            <a:off x="642693" y="1493467"/>
            <a:ext cx="3692082" cy="1404640"/>
          </a:xfrm>
          <a:custGeom>
            <a:avLst/>
            <a:gdLst>
              <a:gd name="T0" fmla="*/ 163 w 4613"/>
              <a:gd name="T1" fmla="*/ 1732 h 1755"/>
              <a:gd name="T2" fmla="*/ 321 w 4613"/>
              <a:gd name="T3" fmla="*/ 1732 h 1755"/>
              <a:gd name="T4" fmla="*/ 484 w 4613"/>
              <a:gd name="T5" fmla="*/ 1732 h 1755"/>
              <a:gd name="T6" fmla="*/ 618 w 4613"/>
              <a:gd name="T7" fmla="*/ 1645 h 1755"/>
              <a:gd name="T8" fmla="*/ 781 w 4613"/>
              <a:gd name="T9" fmla="*/ 1645 h 1755"/>
              <a:gd name="T10" fmla="*/ 921 w 4613"/>
              <a:gd name="T11" fmla="*/ 1651 h 1755"/>
              <a:gd name="T12" fmla="*/ 1078 w 4613"/>
              <a:gd name="T13" fmla="*/ 1598 h 1755"/>
              <a:gd name="T14" fmla="*/ 1235 w 4613"/>
              <a:gd name="T15" fmla="*/ 1598 h 1755"/>
              <a:gd name="T16" fmla="*/ 1375 w 4613"/>
              <a:gd name="T17" fmla="*/ 1563 h 1755"/>
              <a:gd name="T18" fmla="*/ 1532 w 4613"/>
              <a:gd name="T19" fmla="*/ 1563 h 1755"/>
              <a:gd name="T20" fmla="*/ 1672 w 4613"/>
              <a:gd name="T21" fmla="*/ 1441 h 1755"/>
              <a:gd name="T22" fmla="*/ 1829 w 4613"/>
              <a:gd name="T23" fmla="*/ 1441 h 1755"/>
              <a:gd name="T24" fmla="*/ 1986 w 4613"/>
              <a:gd name="T25" fmla="*/ 1441 h 1755"/>
              <a:gd name="T26" fmla="*/ 2126 w 4613"/>
              <a:gd name="T27" fmla="*/ 1273 h 1755"/>
              <a:gd name="T28" fmla="*/ 2283 w 4613"/>
              <a:gd name="T29" fmla="*/ 1273 h 1755"/>
              <a:gd name="T30" fmla="*/ 2417 w 4613"/>
              <a:gd name="T31" fmla="*/ 936 h 1755"/>
              <a:gd name="T32" fmla="*/ 2580 w 4613"/>
              <a:gd name="T33" fmla="*/ 936 h 1755"/>
              <a:gd name="T34" fmla="*/ 2738 w 4613"/>
              <a:gd name="T35" fmla="*/ 936 h 1755"/>
              <a:gd name="T36" fmla="*/ 2877 w 4613"/>
              <a:gd name="T37" fmla="*/ 849 h 1755"/>
              <a:gd name="T38" fmla="*/ 3035 w 4613"/>
              <a:gd name="T39" fmla="*/ 849 h 1755"/>
              <a:gd name="T40" fmla="*/ 3192 w 4613"/>
              <a:gd name="T41" fmla="*/ 849 h 1755"/>
              <a:gd name="T42" fmla="*/ 3332 w 4613"/>
              <a:gd name="T43" fmla="*/ 697 h 1755"/>
              <a:gd name="T44" fmla="*/ 3495 w 4613"/>
              <a:gd name="T45" fmla="*/ 697 h 1755"/>
              <a:gd name="T46" fmla="*/ 3629 w 4613"/>
              <a:gd name="T47" fmla="*/ 540 h 1755"/>
              <a:gd name="T48" fmla="*/ 3768 w 4613"/>
              <a:gd name="T49" fmla="*/ 372 h 1755"/>
              <a:gd name="T50" fmla="*/ 3908 w 4613"/>
              <a:gd name="T51" fmla="*/ 238 h 1755"/>
              <a:gd name="T52" fmla="*/ 4065 w 4613"/>
              <a:gd name="T53" fmla="*/ 238 h 1755"/>
              <a:gd name="T54" fmla="*/ 4223 w 4613"/>
              <a:gd name="T55" fmla="*/ 238 h 1755"/>
              <a:gd name="T56" fmla="*/ 4386 w 4613"/>
              <a:gd name="T57" fmla="*/ 238 h 1755"/>
              <a:gd name="T58" fmla="*/ 4543 w 4613"/>
              <a:gd name="T59" fmla="*/ 238 h 1755"/>
              <a:gd name="T60" fmla="*/ 4566 w 4613"/>
              <a:gd name="T61" fmla="*/ 261 h 1755"/>
              <a:gd name="T62" fmla="*/ 4409 w 4613"/>
              <a:gd name="T63" fmla="*/ 261 h 1755"/>
              <a:gd name="T64" fmla="*/ 4252 w 4613"/>
              <a:gd name="T65" fmla="*/ 261 h 1755"/>
              <a:gd name="T66" fmla="*/ 4095 w 4613"/>
              <a:gd name="T67" fmla="*/ 261 h 1755"/>
              <a:gd name="T68" fmla="*/ 3931 w 4613"/>
              <a:gd name="T69" fmla="*/ 261 h 1755"/>
              <a:gd name="T70" fmla="*/ 3774 w 4613"/>
              <a:gd name="T71" fmla="*/ 261 h 1755"/>
              <a:gd name="T72" fmla="*/ 3658 w 4613"/>
              <a:gd name="T73" fmla="*/ 564 h 1755"/>
              <a:gd name="T74" fmla="*/ 3518 w 4613"/>
              <a:gd name="T75" fmla="*/ 721 h 1755"/>
              <a:gd name="T76" fmla="*/ 3361 w 4613"/>
              <a:gd name="T77" fmla="*/ 721 h 1755"/>
              <a:gd name="T78" fmla="*/ 3221 w 4613"/>
              <a:gd name="T79" fmla="*/ 866 h 1755"/>
              <a:gd name="T80" fmla="*/ 3064 w 4613"/>
              <a:gd name="T81" fmla="*/ 872 h 1755"/>
              <a:gd name="T82" fmla="*/ 2906 w 4613"/>
              <a:gd name="T83" fmla="*/ 872 h 1755"/>
              <a:gd name="T84" fmla="*/ 2767 w 4613"/>
              <a:gd name="T85" fmla="*/ 959 h 1755"/>
              <a:gd name="T86" fmla="*/ 2609 w 4613"/>
              <a:gd name="T87" fmla="*/ 959 h 1755"/>
              <a:gd name="T88" fmla="*/ 2446 w 4613"/>
              <a:gd name="T89" fmla="*/ 959 h 1755"/>
              <a:gd name="T90" fmla="*/ 2312 w 4613"/>
              <a:gd name="T91" fmla="*/ 1296 h 1755"/>
              <a:gd name="T92" fmla="*/ 2149 w 4613"/>
              <a:gd name="T93" fmla="*/ 1296 h 1755"/>
              <a:gd name="T94" fmla="*/ 2015 w 4613"/>
              <a:gd name="T95" fmla="*/ 1465 h 1755"/>
              <a:gd name="T96" fmla="*/ 1852 w 4613"/>
              <a:gd name="T97" fmla="*/ 1465 h 1755"/>
              <a:gd name="T98" fmla="*/ 1695 w 4613"/>
              <a:gd name="T99" fmla="*/ 1465 h 1755"/>
              <a:gd name="T100" fmla="*/ 1555 w 4613"/>
              <a:gd name="T101" fmla="*/ 1587 h 1755"/>
              <a:gd name="T102" fmla="*/ 1398 w 4613"/>
              <a:gd name="T103" fmla="*/ 1587 h 1755"/>
              <a:gd name="T104" fmla="*/ 1258 w 4613"/>
              <a:gd name="T105" fmla="*/ 1610 h 1755"/>
              <a:gd name="T106" fmla="*/ 1101 w 4613"/>
              <a:gd name="T107" fmla="*/ 1622 h 1755"/>
              <a:gd name="T108" fmla="*/ 944 w 4613"/>
              <a:gd name="T109" fmla="*/ 1622 h 1755"/>
              <a:gd name="T110" fmla="*/ 804 w 4613"/>
              <a:gd name="T111" fmla="*/ 1668 h 1755"/>
              <a:gd name="T112" fmla="*/ 647 w 4613"/>
              <a:gd name="T113" fmla="*/ 1668 h 1755"/>
              <a:gd name="T114" fmla="*/ 490 w 4613"/>
              <a:gd name="T115" fmla="*/ 1668 h 1755"/>
              <a:gd name="T116" fmla="*/ 350 w 4613"/>
              <a:gd name="T117" fmla="*/ 1755 h 1755"/>
              <a:gd name="T118" fmla="*/ 193 w 4613"/>
              <a:gd name="T119" fmla="*/ 1755 h 1755"/>
              <a:gd name="T120" fmla="*/ 30 w 4613"/>
              <a:gd name="T121" fmla="*/ 1755 h 175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613"/>
              <a:gd name="T184" fmla="*/ 0 h 1755"/>
              <a:gd name="T185" fmla="*/ 4613 w 4613"/>
              <a:gd name="T186" fmla="*/ 1755 h 175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613" h="1755">
                <a:moveTo>
                  <a:pt x="12" y="1732"/>
                </a:moveTo>
                <a:lnTo>
                  <a:pt x="18" y="1732"/>
                </a:lnTo>
                <a:lnTo>
                  <a:pt x="24" y="1732"/>
                </a:lnTo>
                <a:lnTo>
                  <a:pt x="30" y="1732"/>
                </a:lnTo>
                <a:lnTo>
                  <a:pt x="41" y="1732"/>
                </a:lnTo>
                <a:lnTo>
                  <a:pt x="47" y="1732"/>
                </a:lnTo>
                <a:lnTo>
                  <a:pt x="53" y="1732"/>
                </a:lnTo>
                <a:lnTo>
                  <a:pt x="59" y="1732"/>
                </a:lnTo>
                <a:lnTo>
                  <a:pt x="64" y="1732"/>
                </a:lnTo>
                <a:lnTo>
                  <a:pt x="70" y="1732"/>
                </a:lnTo>
                <a:lnTo>
                  <a:pt x="76" y="1732"/>
                </a:lnTo>
                <a:lnTo>
                  <a:pt x="82" y="1732"/>
                </a:lnTo>
                <a:lnTo>
                  <a:pt x="94" y="1732"/>
                </a:lnTo>
                <a:lnTo>
                  <a:pt x="99" y="1732"/>
                </a:lnTo>
                <a:lnTo>
                  <a:pt x="105" y="1732"/>
                </a:lnTo>
                <a:lnTo>
                  <a:pt x="111" y="1732"/>
                </a:lnTo>
                <a:lnTo>
                  <a:pt x="117" y="1732"/>
                </a:lnTo>
                <a:lnTo>
                  <a:pt x="123" y="1732"/>
                </a:lnTo>
                <a:lnTo>
                  <a:pt x="129" y="1732"/>
                </a:lnTo>
                <a:lnTo>
                  <a:pt x="140" y="1732"/>
                </a:lnTo>
                <a:lnTo>
                  <a:pt x="146" y="1732"/>
                </a:lnTo>
                <a:lnTo>
                  <a:pt x="152" y="1732"/>
                </a:lnTo>
                <a:lnTo>
                  <a:pt x="158" y="1732"/>
                </a:lnTo>
                <a:lnTo>
                  <a:pt x="163" y="1732"/>
                </a:lnTo>
                <a:lnTo>
                  <a:pt x="169" y="1732"/>
                </a:lnTo>
                <a:lnTo>
                  <a:pt x="175" y="1732"/>
                </a:lnTo>
                <a:lnTo>
                  <a:pt x="181" y="1732"/>
                </a:lnTo>
                <a:lnTo>
                  <a:pt x="193" y="1732"/>
                </a:lnTo>
                <a:lnTo>
                  <a:pt x="198" y="1732"/>
                </a:lnTo>
                <a:lnTo>
                  <a:pt x="204" y="1732"/>
                </a:lnTo>
                <a:lnTo>
                  <a:pt x="210" y="1732"/>
                </a:lnTo>
                <a:lnTo>
                  <a:pt x="216" y="1732"/>
                </a:lnTo>
                <a:lnTo>
                  <a:pt x="222" y="1732"/>
                </a:lnTo>
                <a:lnTo>
                  <a:pt x="228" y="1732"/>
                </a:lnTo>
                <a:lnTo>
                  <a:pt x="239" y="1732"/>
                </a:lnTo>
                <a:lnTo>
                  <a:pt x="245" y="1732"/>
                </a:lnTo>
                <a:lnTo>
                  <a:pt x="251" y="1732"/>
                </a:lnTo>
                <a:lnTo>
                  <a:pt x="257" y="1732"/>
                </a:lnTo>
                <a:lnTo>
                  <a:pt x="262" y="1732"/>
                </a:lnTo>
                <a:lnTo>
                  <a:pt x="268" y="1732"/>
                </a:lnTo>
                <a:lnTo>
                  <a:pt x="274" y="1732"/>
                </a:lnTo>
                <a:lnTo>
                  <a:pt x="280" y="1732"/>
                </a:lnTo>
                <a:lnTo>
                  <a:pt x="292" y="1732"/>
                </a:lnTo>
                <a:lnTo>
                  <a:pt x="297" y="1732"/>
                </a:lnTo>
                <a:lnTo>
                  <a:pt x="303" y="1732"/>
                </a:lnTo>
                <a:lnTo>
                  <a:pt x="309" y="1732"/>
                </a:lnTo>
                <a:lnTo>
                  <a:pt x="315" y="1732"/>
                </a:lnTo>
                <a:lnTo>
                  <a:pt x="321" y="1732"/>
                </a:lnTo>
                <a:lnTo>
                  <a:pt x="327" y="1732"/>
                </a:lnTo>
                <a:lnTo>
                  <a:pt x="338" y="1732"/>
                </a:lnTo>
                <a:lnTo>
                  <a:pt x="344" y="1732"/>
                </a:lnTo>
                <a:lnTo>
                  <a:pt x="350" y="1732"/>
                </a:lnTo>
                <a:lnTo>
                  <a:pt x="356" y="1732"/>
                </a:lnTo>
                <a:lnTo>
                  <a:pt x="361" y="1732"/>
                </a:lnTo>
                <a:lnTo>
                  <a:pt x="367" y="1732"/>
                </a:lnTo>
                <a:lnTo>
                  <a:pt x="373" y="1732"/>
                </a:lnTo>
                <a:lnTo>
                  <a:pt x="379" y="1732"/>
                </a:lnTo>
                <a:lnTo>
                  <a:pt x="391" y="1732"/>
                </a:lnTo>
                <a:lnTo>
                  <a:pt x="396" y="1732"/>
                </a:lnTo>
                <a:lnTo>
                  <a:pt x="402" y="1732"/>
                </a:lnTo>
                <a:lnTo>
                  <a:pt x="408" y="1732"/>
                </a:lnTo>
                <a:lnTo>
                  <a:pt x="414" y="1732"/>
                </a:lnTo>
                <a:lnTo>
                  <a:pt x="420" y="1732"/>
                </a:lnTo>
                <a:lnTo>
                  <a:pt x="426" y="1732"/>
                </a:lnTo>
                <a:lnTo>
                  <a:pt x="437" y="1732"/>
                </a:lnTo>
                <a:lnTo>
                  <a:pt x="443" y="1732"/>
                </a:lnTo>
                <a:lnTo>
                  <a:pt x="449" y="1732"/>
                </a:lnTo>
                <a:lnTo>
                  <a:pt x="455" y="1732"/>
                </a:lnTo>
                <a:lnTo>
                  <a:pt x="460" y="1732"/>
                </a:lnTo>
                <a:lnTo>
                  <a:pt x="466" y="1732"/>
                </a:lnTo>
                <a:lnTo>
                  <a:pt x="472" y="1732"/>
                </a:lnTo>
                <a:lnTo>
                  <a:pt x="484" y="1732"/>
                </a:lnTo>
                <a:lnTo>
                  <a:pt x="472" y="1738"/>
                </a:lnTo>
                <a:lnTo>
                  <a:pt x="478" y="1651"/>
                </a:lnTo>
                <a:lnTo>
                  <a:pt x="478" y="1645"/>
                </a:lnTo>
                <a:lnTo>
                  <a:pt x="490" y="1645"/>
                </a:lnTo>
                <a:lnTo>
                  <a:pt x="495" y="1645"/>
                </a:lnTo>
                <a:lnTo>
                  <a:pt x="501" y="1645"/>
                </a:lnTo>
                <a:lnTo>
                  <a:pt x="507" y="1645"/>
                </a:lnTo>
                <a:lnTo>
                  <a:pt x="513" y="1645"/>
                </a:lnTo>
                <a:lnTo>
                  <a:pt x="519" y="1645"/>
                </a:lnTo>
                <a:lnTo>
                  <a:pt x="525" y="1645"/>
                </a:lnTo>
                <a:lnTo>
                  <a:pt x="536" y="1645"/>
                </a:lnTo>
                <a:lnTo>
                  <a:pt x="542" y="1645"/>
                </a:lnTo>
                <a:lnTo>
                  <a:pt x="548" y="1645"/>
                </a:lnTo>
                <a:lnTo>
                  <a:pt x="554" y="1645"/>
                </a:lnTo>
                <a:lnTo>
                  <a:pt x="560" y="1645"/>
                </a:lnTo>
                <a:lnTo>
                  <a:pt x="565" y="1645"/>
                </a:lnTo>
                <a:lnTo>
                  <a:pt x="571" y="1645"/>
                </a:lnTo>
                <a:lnTo>
                  <a:pt x="583" y="1645"/>
                </a:lnTo>
                <a:lnTo>
                  <a:pt x="589" y="1645"/>
                </a:lnTo>
                <a:lnTo>
                  <a:pt x="594" y="1645"/>
                </a:lnTo>
                <a:lnTo>
                  <a:pt x="600" y="1645"/>
                </a:lnTo>
                <a:lnTo>
                  <a:pt x="606" y="1645"/>
                </a:lnTo>
                <a:lnTo>
                  <a:pt x="612" y="1645"/>
                </a:lnTo>
                <a:lnTo>
                  <a:pt x="618" y="1645"/>
                </a:lnTo>
                <a:lnTo>
                  <a:pt x="624" y="1645"/>
                </a:lnTo>
                <a:lnTo>
                  <a:pt x="635" y="1645"/>
                </a:lnTo>
                <a:lnTo>
                  <a:pt x="641" y="1645"/>
                </a:lnTo>
                <a:lnTo>
                  <a:pt x="647" y="1645"/>
                </a:lnTo>
                <a:lnTo>
                  <a:pt x="653" y="1645"/>
                </a:lnTo>
                <a:lnTo>
                  <a:pt x="659" y="1645"/>
                </a:lnTo>
                <a:lnTo>
                  <a:pt x="664" y="1645"/>
                </a:lnTo>
                <a:lnTo>
                  <a:pt x="670" y="1645"/>
                </a:lnTo>
                <a:lnTo>
                  <a:pt x="682" y="1645"/>
                </a:lnTo>
                <a:lnTo>
                  <a:pt x="688" y="1645"/>
                </a:lnTo>
                <a:lnTo>
                  <a:pt x="693" y="1645"/>
                </a:lnTo>
                <a:lnTo>
                  <a:pt x="699" y="1645"/>
                </a:lnTo>
                <a:lnTo>
                  <a:pt x="705" y="1645"/>
                </a:lnTo>
                <a:lnTo>
                  <a:pt x="711" y="1645"/>
                </a:lnTo>
                <a:lnTo>
                  <a:pt x="717" y="1645"/>
                </a:lnTo>
                <a:lnTo>
                  <a:pt x="723" y="1645"/>
                </a:lnTo>
                <a:lnTo>
                  <a:pt x="734" y="1645"/>
                </a:lnTo>
                <a:lnTo>
                  <a:pt x="740" y="1645"/>
                </a:lnTo>
                <a:lnTo>
                  <a:pt x="746" y="1645"/>
                </a:lnTo>
                <a:lnTo>
                  <a:pt x="752" y="1645"/>
                </a:lnTo>
                <a:lnTo>
                  <a:pt x="758" y="1645"/>
                </a:lnTo>
                <a:lnTo>
                  <a:pt x="763" y="1645"/>
                </a:lnTo>
                <a:lnTo>
                  <a:pt x="769" y="1645"/>
                </a:lnTo>
                <a:lnTo>
                  <a:pt x="781" y="1645"/>
                </a:lnTo>
                <a:lnTo>
                  <a:pt x="787" y="1645"/>
                </a:lnTo>
                <a:lnTo>
                  <a:pt x="792" y="1645"/>
                </a:lnTo>
                <a:lnTo>
                  <a:pt x="798" y="1645"/>
                </a:lnTo>
                <a:lnTo>
                  <a:pt x="804" y="1645"/>
                </a:lnTo>
                <a:lnTo>
                  <a:pt x="810" y="1645"/>
                </a:lnTo>
                <a:lnTo>
                  <a:pt x="816" y="1645"/>
                </a:lnTo>
                <a:lnTo>
                  <a:pt x="822" y="1645"/>
                </a:lnTo>
                <a:lnTo>
                  <a:pt x="833" y="1645"/>
                </a:lnTo>
                <a:lnTo>
                  <a:pt x="839" y="1645"/>
                </a:lnTo>
                <a:lnTo>
                  <a:pt x="845" y="1645"/>
                </a:lnTo>
                <a:lnTo>
                  <a:pt x="851" y="1645"/>
                </a:lnTo>
                <a:lnTo>
                  <a:pt x="857" y="1645"/>
                </a:lnTo>
                <a:lnTo>
                  <a:pt x="862" y="1645"/>
                </a:lnTo>
                <a:lnTo>
                  <a:pt x="868" y="1645"/>
                </a:lnTo>
                <a:lnTo>
                  <a:pt x="880" y="1645"/>
                </a:lnTo>
                <a:lnTo>
                  <a:pt x="886" y="1645"/>
                </a:lnTo>
                <a:lnTo>
                  <a:pt x="891" y="1645"/>
                </a:lnTo>
                <a:lnTo>
                  <a:pt x="897" y="1645"/>
                </a:lnTo>
                <a:lnTo>
                  <a:pt x="903" y="1645"/>
                </a:lnTo>
                <a:lnTo>
                  <a:pt x="909" y="1645"/>
                </a:lnTo>
                <a:lnTo>
                  <a:pt x="915" y="1645"/>
                </a:lnTo>
                <a:lnTo>
                  <a:pt x="921" y="1645"/>
                </a:lnTo>
                <a:lnTo>
                  <a:pt x="932" y="1645"/>
                </a:lnTo>
                <a:lnTo>
                  <a:pt x="921" y="1651"/>
                </a:lnTo>
                <a:lnTo>
                  <a:pt x="926" y="1604"/>
                </a:lnTo>
                <a:lnTo>
                  <a:pt x="926" y="1598"/>
                </a:lnTo>
                <a:lnTo>
                  <a:pt x="938" y="1598"/>
                </a:lnTo>
                <a:lnTo>
                  <a:pt x="944" y="1598"/>
                </a:lnTo>
                <a:lnTo>
                  <a:pt x="950" y="1598"/>
                </a:lnTo>
                <a:lnTo>
                  <a:pt x="956" y="1598"/>
                </a:lnTo>
                <a:lnTo>
                  <a:pt x="961" y="1598"/>
                </a:lnTo>
                <a:lnTo>
                  <a:pt x="967" y="1598"/>
                </a:lnTo>
                <a:lnTo>
                  <a:pt x="979" y="1598"/>
                </a:lnTo>
                <a:lnTo>
                  <a:pt x="985" y="1598"/>
                </a:lnTo>
                <a:lnTo>
                  <a:pt x="990" y="1598"/>
                </a:lnTo>
                <a:lnTo>
                  <a:pt x="996" y="1598"/>
                </a:lnTo>
                <a:lnTo>
                  <a:pt x="1002" y="1598"/>
                </a:lnTo>
                <a:lnTo>
                  <a:pt x="1008" y="1598"/>
                </a:lnTo>
                <a:lnTo>
                  <a:pt x="1014" y="1598"/>
                </a:lnTo>
                <a:lnTo>
                  <a:pt x="1020" y="1598"/>
                </a:lnTo>
                <a:lnTo>
                  <a:pt x="1031" y="1598"/>
                </a:lnTo>
                <a:lnTo>
                  <a:pt x="1037" y="1598"/>
                </a:lnTo>
                <a:lnTo>
                  <a:pt x="1043" y="1598"/>
                </a:lnTo>
                <a:lnTo>
                  <a:pt x="1049" y="1598"/>
                </a:lnTo>
                <a:lnTo>
                  <a:pt x="1055" y="1598"/>
                </a:lnTo>
                <a:lnTo>
                  <a:pt x="1060" y="1598"/>
                </a:lnTo>
                <a:lnTo>
                  <a:pt x="1066" y="1598"/>
                </a:lnTo>
                <a:lnTo>
                  <a:pt x="1078" y="1598"/>
                </a:lnTo>
                <a:lnTo>
                  <a:pt x="1084" y="1598"/>
                </a:lnTo>
                <a:lnTo>
                  <a:pt x="1089" y="1598"/>
                </a:lnTo>
                <a:lnTo>
                  <a:pt x="1095" y="1598"/>
                </a:lnTo>
                <a:lnTo>
                  <a:pt x="1101" y="1598"/>
                </a:lnTo>
                <a:lnTo>
                  <a:pt x="1107" y="1598"/>
                </a:lnTo>
                <a:lnTo>
                  <a:pt x="1113" y="1598"/>
                </a:lnTo>
                <a:lnTo>
                  <a:pt x="1119" y="1598"/>
                </a:lnTo>
                <a:lnTo>
                  <a:pt x="1130" y="1598"/>
                </a:lnTo>
                <a:lnTo>
                  <a:pt x="1136" y="1598"/>
                </a:lnTo>
                <a:lnTo>
                  <a:pt x="1142" y="1598"/>
                </a:lnTo>
                <a:lnTo>
                  <a:pt x="1148" y="1598"/>
                </a:lnTo>
                <a:lnTo>
                  <a:pt x="1154" y="1598"/>
                </a:lnTo>
                <a:lnTo>
                  <a:pt x="1159" y="1598"/>
                </a:lnTo>
                <a:lnTo>
                  <a:pt x="1165" y="1598"/>
                </a:lnTo>
                <a:lnTo>
                  <a:pt x="1177" y="1598"/>
                </a:lnTo>
                <a:lnTo>
                  <a:pt x="1183" y="1598"/>
                </a:lnTo>
                <a:lnTo>
                  <a:pt x="1188" y="1598"/>
                </a:lnTo>
                <a:lnTo>
                  <a:pt x="1194" y="1598"/>
                </a:lnTo>
                <a:lnTo>
                  <a:pt x="1200" y="1598"/>
                </a:lnTo>
                <a:lnTo>
                  <a:pt x="1206" y="1598"/>
                </a:lnTo>
                <a:lnTo>
                  <a:pt x="1212" y="1598"/>
                </a:lnTo>
                <a:lnTo>
                  <a:pt x="1218" y="1598"/>
                </a:lnTo>
                <a:lnTo>
                  <a:pt x="1229" y="1598"/>
                </a:lnTo>
                <a:lnTo>
                  <a:pt x="1235" y="1598"/>
                </a:lnTo>
                <a:lnTo>
                  <a:pt x="1241" y="1598"/>
                </a:lnTo>
                <a:lnTo>
                  <a:pt x="1247" y="1598"/>
                </a:lnTo>
                <a:lnTo>
                  <a:pt x="1235" y="1604"/>
                </a:lnTo>
                <a:lnTo>
                  <a:pt x="1241" y="1569"/>
                </a:lnTo>
                <a:lnTo>
                  <a:pt x="1241" y="1563"/>
                </a:lnTo>
                <a:lnTo>
                  <a:pt x="1253" y="1563"/>
                </a:lnTo>
                <a:lnTo>
                  <a:pt x="1258" y="1563"/>
                </a:lnTo>
                <a:lnTo>
                  <a:pt x="1264" y="1563"/>
                </a:lnTo>
                <a:lnTo>
                  <a:pt x="1276" y="1563"/>
                </a:lnTo>
                <a:lnTo>
                  <a:pt x="1282" y="1563"/>
                </a:lnTo>
                <a:lnTo>
                  <a:pt x="1287" y="1563"/>
                </a:lnTo>
                <a:lnTo>
                  <a:pt x="1293" y="1563"/>
                </a:lnTo>
                <a:lnTo>
                  <a:pt x="1299" y="1563"/>
                </a:lnTo>
                <a:lnTo>
                  <a:pt x="1305" y="1563"/>
                </a:lnTo>
                <a:lnTo>
                  <a:pt x="1311" y="1563"/>
                </a:lnTo>
                <a:lnTo>
                  <a:pt x="1317" y="1563"/>
                </a:lnTo>
                <a:lnTo>
                  <a:pt x="1328" y="1563"/>
                </a:lnTo>
                <a:lnTo>
                  <a:pt x="1334" y="1563"/>
                </a:lnTo>
                <a:lnTo>
                  <a:pt x="1340" y="1563"/>
                </a:lnTo>
                <a:lnTo>
                  <a:pt x="1346" y="1563"/>
                </a:lnTo>
                <a:lnTo>
                  <a:pt x="1352" y="1563"/>
                </a:lnTo>
                <a:lnTo>
                  <a:pt x="1357" y="1563"/>
                </a:lnTo>
                <a:lnTo>
                  <a:pt x="1363" y="1563"/>
                </a:lnTo>
                <a:lnTo>
                  <a:pt x="1375" y="1563"/>
                </a:lnTo>
                <a:lnTo>
                  <a:pt x="1381" y="1563"/>
                </a:lnTo>
                <a:lnTo>
                  <a:pt x="1386" y="1563"/>
                </a:lnTo>
                <a:lnTo>
                  <a:pt x="1392" y="1563"/>
                </a:lnTo>
                <a:lnTo>
                  <a:pt x="1398" y="1563"/>
                </a:lnTo>
                <a:lnTo>
                  <a:pt x="1404" y="1563"/>
                </a:lnTo>
                <a:lnTo>
                  <a:pt x="1410" y="1563"/>
                </a:lnTo>
                <a:lnTo>
                  <a:pt x="1421" y="1563"/>
                </a:lnTo>
                <a:lnTo>
                  <a:pt x="1427" y="1563"/>
                </a:lnTo>
                <a:lnTo>
                  <a:pt x="1433" y="1563"/>
                </a:lnTo>
                <a:lnTo>
                  <a:pt x="1439" y="1563"/>
                </a:lnTo>
                <a:lnTo>
                  <a:pt x="1445" y="1563"/>
                </a:lnTo>
                <a:lnTo>
                  <a:pt x="1451" y="1563"/>
                </a:lnTo>
                <a:lnTo>
                  <a:pt x="1456" y="1563"/>
                </a:lnTo>
                <a:lnTo>
                  <a:pt x="1462" y="1563"/>
                </a:lnTo>
                <a:lnTo>
                  <a:pt x="1474" y="1563"/>
                </a:lnTo>
                <a:lnTo>
                  <a:pt x="1480" y="1563"/>
                </a:lnTo>
                <a:lnTo>
                  <a:pt x="1485" y="1563"/>
                </a:lnTo>
                <a:lnTo>
                  <a:pt x="1491" y="1563"/>
                </a:lnTo>
                <a:lnTo>
                  <a:pt x="1497" y="1563"/>
                </a:lnTo>
                <a:lnTo>
                  <a:pt x="1503" y="1563"/>
                </a:lnTo>
                <a:lnTo>
                  <a:pt x="1509" y="1563"/>
                </a:lnTo>
                <a:lnTo>
                  <a:pt x="1520" y="1563"/>
                </a:lnTo>
                <a:lnTo>
                  <a:pt x="1526" y="1563"/>
                </a:lnTo>
                <a:lnTo>
                  <a:pt x="1532" y="1563"/>
                </a:lnTo>
                <a:lnTo>
                  <a:pt x="1538" y="1563"/>
                </a:lnTo>
                <a:lnTo>
                  <a:pt x="1544" y="1563"/>
                </a:lnTo>
                <a:lnTo>
                  <a:pt x="1550" y="1563"/>
                </a:lnTo>
                <a:lnTo>
                  <a:pt x="1555" y="1563"/>
                </a:lnTo>
                <a:lnTo>
                  <a:pt x="1561" y="1563"/>
                </a:lnTo>
                <a:lnTo>
                  <a:pt x="1573" y="1563"/>
                </a:lnTo>
                <a:lnTo>
                  <a:pt x="1579" y="1563"/>
                </a:lnTo>
                <a:lnTo>
                  <a:pt x="1584" y="1563"/>
                </a:lnTo>
                <a:lnTo>
                  <a:pt x="1590" y="1563"/>
                </a:lnTo>
                <a:lnTo>
                  <a:pt x="1596" y="1563"/>
                </a:lnTo>
                <a:lnTo>
                  <a:pt x="1602" y="1563"/>
                </a:lnTo>
                <a:lnTo>
                  <a:pt x="1608" y="1563"/>
                </a:lnTo>
                <a:lnTo>
                  <a:pt x="1619" y="1563"/>
                </a:lnTo>
                <a:lnTo>
                  <a:pt x="1625" y="1563"/>
                </a:lnTo>
                <a:lnTo>
                  <a:pt x="1614" y="1569"/>
                </a:lnTo>
                <a:lnTo>
                  <a:pt x="1619" y="1447"/>
                </a:lnTo>
                <a:lnTo>
                  <a:pt x="1619" y="1441"/>
                </a:lnTo>
                <a:lnTo>
                  <a:pt x="1631" y="1441"/>
                </a:lnTo>
                <a:lnTo>
                  <a:pt x="1637" y="1441"/>
                </a:lnTo>
                <a:lnTo>
                  <a:pt x="1643" y="1441"/>
                </a:lnTo>
                <a:lnTo>
                  <a:pt x="1649" y="1441"/>
                </a:lnTo>
                <a:lnTo>
                  <a:pt x="1654" y="1441"/>
                </a:lnTo>
                <a:lnTo>
                  <a:pt x="1660" y="1441"/>
                </a:lnTo>
                <a:lnTo>
                  <a:pt x="1672" y="1441"/>
                </a:lnTo>
                <a:lnTo>
                  <a:pt x="1678" y="1441"/>
                </a:lnTo>
                <a:lnTo>
                  <a:pt x="1683" y="1441"/>
                </a:lnTo>
                <a:lnTo>
                  <a:pt x="1689" y="1441"/>
                </a:lnTo>
                <a:lnTo>
                  <a:pt x="1695" y="1441"/>
                </a:lnTo>
                <a:lnTo>
                  <a:pt x="1701" y="1441"/>
                </a:lnTo>
                <a:lnTo>
                  <a:pt x="1707" y="1441"/>
                </a:lnTo>
                <a:lnTo>
                  <a:pt x="1718" y="1441"/>
                </a:lnTo>
                <a:lnTo>
                  <a:pt x="1724" y="1441"/>
                </a:lnTo>
                <a:lnTo>
                  <a:pt x="1730" y="1441"/>
                </a:lnTo>
                <a:lnTo>
                  <a:pt x="1736" y="1441"/>
                </a:lnTo>
                <a:lnTo>
                  <a:pt x="1742" y="1441"/>
                </a:lnTo>
                <a:lnTo>
                  <a:pt x="1748" y="1441"/>
                </a:lnTo>
                <a:lnTo>
                  <a:pt x="1753" y="1441"/>
                </a:lnTo>
                <a:lnTo>
                  <a:pt x="1759" y="1441"/>
                </a:lnTo>
                <a:lnTo>
                  <a:pt x="1771" y="1441"/>
                </a:lnTo>
                <a:lnTo>
                  <a:pt x="1777" y="1441"/>
                </a:lnTo>
                <a:lnTo>
                  <a:pt x="1782" y="1441"/>
                </a:lnTo>
                <a:lnTo>
                  <a:pt x="1788" y="1441"/>
                </a:lnTo>
                <a:lnTo>
                  <a:pt x="1794" y="1441"/>
                </a:lnTo>
                <a:lnTo>
                  <a:pt x="1800" y="1441"/>
                </a:lnTo>
                <a:lnTo>
                  <a:pt x="1806" y="1441"/>
                </a:lnTo>
                <a:lnTo>
                  <a:pt x="1817" y="1441"/>
                </a:lnTo>
                <a:lnTo>
                  <a:pt x="1823" y="1441"/>
                </a:lnTo>
                <a:lnTo>
                  <a:pt x="1829" y="1441"/>
                </a:lnTo>
                <a:lnTo>
                  <a:pt x="1835" y="1441"/>
                </a:lnTo>
                <a:lnTo>
                  <a:pt x="1841" y="1441"/>
                </a:lnTo>
                <a:lnTo>
                  <a:pt x="1847" y="1441"/>
                </a:lnTo>
                <a:lnTo>
                  <a:pt x="1852" y="1441"/>
                </a:lnTo>
                <a:lnTo>
                  <a:pt x="1858" y="1441"/>
                </a:lnTo>
                <a:lnTo>
                  <a:pt x="1870" y="1441"/>
                </a:lnTo>
                <a:lnTo>
                  <a:pt x="1876" y="1441"/>
                </a:lnTo>
                <a:lnTo>
                  <a:pt x="1881" y="1441"/>
                </a:lnTo>
                <a:lnTo>
                  <a:pt x="1887" y="1441"/>
                </a:lnTo>
                <a:lnTo>
                  <a:pt x="1893" y="1441"/>
                </a:lnTo>
                <a:lnTo>
                  <a:pt x="1899" y="1441"/>
                </a:lnTo>
                <a:lnTo>
                  <a:pt x="1905" y="1441"/>
                </a:lnTo>
                <a:lnTo>
                  <a:pt x="1916" y="1441"/>
                </a:lnTo>
                <a:lnTo>
                  <a:pt x="1922" y="1441"/>
                </a:lnTo>
                <a:lnTo>
                  <a:pt x="1928" y="1441"/>
                </a:lnTo>
                <a:lnTo>
                  <a:pt x="1934" y="1441"/>
                </a:lnTo>
                <a:lnTo>
                  <a:pt x="1940" y="1441"/>
                </a:lnTo>
                <a:lnTo>
                  <a:pt x="1946" y="1441"/>
                </a:lnTo>
                <a:lnTo>
                  <a:pt x="1951" y="1441"/>
                </a:lnTo>
                <a:lnTo>
                  <a:pt x="1957" y="1441"/>
                </a:lnTo>
                <a:lnTo>
                  <a:pt x="1969" y="1441"/>
                </a:lnTo>
                <a:lnTo>
                  <a:pt x="1975" y="1441"/>
                </a:lnTo>
                <a:lnTo>
                  <a:pt x="1980" y="1441"/>
                </a:lnTo>
                <a:lnTo>
                  <a:pt x="1986" y="1441"/>
                </a:lnTo>
                <a:lnTo>
                  <a:pt x="1992" y="1441"/>
                </a:lnTo>
                <a:lnTo>
                  <a:pt x="1998" y="1441"/>
                </a:lnTo>
                <a:lnTo>
                  <a:pt x="2004" y="1441"/>
                </a:lnTo>
                <a:lnTo>
                  <a:pt x="2015" y="1441"/>
                </a:lnTo>
                <a:lnTo>
                  <a:pt x="2021" y="1441"/>
                </a:lnTo>
                <a:lnTo>
                  <a:pt x="2010" y="1447"/>
                </a:lnTo>
                <a:lnTo>
                  <a:pt x="2015" y="1279"/>
                </a:lnTo>
                <a:lnTo>
                  <a:pt x="2015" y="1273"/>
                </a:lnTo>
                <a:lnTo>
                  <a:pt x="2027" y="1273"/>
                </a:lnTo>
                <a:lnTo>
                  <a:pt x="2033" y="1273"/>
                </a:lnTo>
                <a:lnTo>
                  <a:pt x="2039" y="1273"/>
                </a:lnTo>
                <a:lnTo>
                  <a:pt x="2045" y="1273"/>
                </a:lnTo>
                <a:lnTo>
                  <a:pt x="2050" y="1273"/>
                </a:lnTo>
                <a:lnTo>
                  <a:pt x="2056" y="1273"/>
                </a:lnTo>
                <a:lnTo>
                  <a:pt x="2068" y="1273"/>
                </a:lnTo>
                <a:lnTo>
                  <a:pt x="2074" y="1273"/>
                </a:lnTo>
                <a:lnTo>
                  <a:pt x="2079" y="1273"/>
                </a:lnTo>
                <a:lnTo>
                  <a:pt x="2085" y="1273"/>
                </a:lnTo>
                <a:lnTo>
                  <a:pt x="2091" y="1273"/>
                </a:lnTo>
                <a:lnTo>
                  <a:pt x="2097" y="1273"/>
                </a:lnTo>
                <a:lnTo>
                  <a:pt x="2103" y="1273"/>
                </a:lnTo>
                <a:lnTo>
                  <a:pt x="2114" y="1273"/>
                </a:lnTo>
                <a:lnTo>
                  <a:pt x="2120" y="1273"/>
                </a:lnTo>
                <a:lnTo>
                  <a:pt x="2126" y="1273"/>
                </a:lnTo>
                <a:lnTo>
                  <a:pt x="2132" y="1273"/>
                </a:lnTo>
                <a:lnTo>
                  <a:pt x="2138" y="1273"/>
                </a:lnTo>
                <a:lnTo>
                  <a:pt x="2144" y="1273"/>
                </a:lnTo>
                <a:lnTo>
                  <a:pt x="2149" y="1273"/>
                </a:lnTo>
                <a:lnTo>
                  <a:pt x="2155" y="1273"/>
                </a:lnTo>
                <a:lnTo>
                  <a:pt x="2167" y="1273"/>
                </a:lnTo>
                <a:lnTo>
                  <a:pt x="2173" y="1273"/>
                </a:lnTo>
                <a:lnTo>
                  <a:pt x="2178" y="1273"/>
                </a:lnTo>
                <a:lnTo>
                  <a:pt x="2184" y="1273"/>
                </a:lnTo>
                <a:lnTo>
                  <a:pt x="2190" y="1273"/>
                </a:lnTo>
                <a:lnTo>
                  <a:pt x="2196" y="1273"/>
                </a:lnTo>
                <a:lnTo>
                  <a:pt x="2202" y="1273"/>
                </a:lnTo>
                <a:lnTo>
                  <a:pt x="2213" y="1273"/>
                </a:lnTo>
                <a:lnTo>
                  <a:pt x="2219" y="1273"/>
                </a:lnTo>
                <a:lnTo>
                  <a:pt x="2225" y="1273"/>
                </a:lnTo>
                <a:lnTo>
                  <a:pt x="2231" y="1273"/>
                </a:lnTo>
                <a:lnTo>
                  <a:pt x="2237" y="1273"/>
                </a:lnTo>
                <a:lnTo>
                  <a:pt x="2243" y="1273"/>
                </a:lnTo>
                <a:lnTo>
                  <a:pt x="2248" y="1273"/>
                </a:lnTo>
                <a:lnTo>
                  <a:pt x="2254" y="1273"/>
                </a:lnTo>
                <a:lnTo>
                  <a:pt x="2266" y="1273"/>
                </a:lnTo>
                <a:lnTo>
                  <a:pt x="2272" y="1273"/>
                </a:lnTo>
                <a:lnTo>
                  <a:pt x="2278" y="1273"/>
                </a:lnTo>
                <a:lnTo>
                  <a:pt x="2283" y="1273"/>
                </a:lnTo>
                <a:lnTo>
                  <a:pt x="2289" y="1273"/>
                </a:lnTo>
                <a:lnTo>
                  <a:pt x="2295" y="1273"/>
                </a:lnTo>
                <a:lnTo>
                  <a:pt x="2301" y="1273"/>
                </a:lnTo>
                <a:lnTo>
                  <a:pt x="2312" y="1273"/>
                </a:lnTo>
                <a:lnTo>
                  <a:pt x="2318" y="1273"/>
                </a:lnTo>
                <a:lnTo>
                  <a:pt x="2324" y="1273"/>
                </a:lnTo>
                <a:lnTo>
                  <a:pt x="2330" y="1273"/>
                </a:lnTo>
                <a:lnTo>
                  <a:pt x="2336" y="1273"/>
                </a:lnTo>
                <a:lnTo>
                  <a:pt x="2342" y="1273"/>
                </a:lnTo>
                <a:lnTo>
                  <a:pt x="2347" y="1273"/>
                </a:lnTo>
                <a:lnTo>
                  <a:pt x="2359" y="1273"/>
                </a:lnTo>
                <a:lnTo>
                  <a:pt x="2365" y="1273"/>
                </a:lnTo>
                <a:lnTo>
                  <a:pt x="2371" y="1273"/>
                </a:lnTo>
                <a:lnTo>
                  <a:pt x="2377" y="1273"/>
                </a:lnTo>
                <a:lnTo>
                  <a:pt x="2382" y="1273"/>
                </a:lnTo>
                <a:lnTo>
                  <a:pt x="2388" y="1273"/>
                </a:lnTo>
                <a:lnTo>
                  <a:pt x="2394" y="1273"/>
                </a:lnTo>
                <a:lnTo>
                  <a:pt x="2400" y="1273"/>
                </a:lnTo>
                <a:lnTo>
                  <a:pt x="2411" y="1273"/>
                </a:lnTo>
                <a:lnTo>
                  <a:pt x="2417" y="1273"/>
                </a:lnTo>
                <a:lnTo>
                  <a:pt x="2423" y="1273"/>
                </a:lnTo>
                <a:lnTo>
                  <a:pt x="2411" y="1284"/>
                </a:lnTo>
                <a:lnTo>
                  <a:pt x="2417" y="947"/>
                </a:lnTo>
                <a:lnTo>
                  <a:pt x="2417" y="936"/>
                </a:lnTo>
                <a:lnTo>
                  <a:pt x="2429" y="936"/>
                </a:lnTo>
                <a:lnTo>
                  <a:pt x="2435" y="936"/>
                </a:lnTo>
                <a:lnTo>
                  <a:pt x="2441" y="936"/>
                </a:lnTo>
                <a:lnTo>
                  <a:pt x="2446" y="936"/>
                </a:lnTo>
                <a:lnTo>
                  <a:pt x="2458" y="936"/>
                </a:lnTo>
                <a:lnTo>
                  <a:pt x="2464" y="936"/>
                </a:lnTo>
                <a:lnTo>
                  <a:pt x="2470" y="936"/>
                </a:lnTo>
                <a:lnTo>
                  <a:pt x="2476" y="936"/>
                </a:lnTo>
                <a:lnTo>
                  <a:pt x="2481" y="936"/>
                </a:lnTo>
                <a:lnTo>
                  <a:pt x="2487" y="936"/>
                </a:lnTo>
                <a:lnTo>
                  <a:pt x="2493" y="936"/>
                </a:lnTo>
                <a:lnTo>
                  <a:pt x="2499" y="936"/>
                </a:lnTo>
                <a:lnTo>
                  <a:pt x="2510" y="936"/>
                </a:lnTo>
                <a:lnTo>
                  <a:pt x="2516" y="936"/>
                </a:lnTo>
                <a:lnTo>
                  <a:pt x="2522" y="936"/>
                </a:lnTo>
                <a:lnTo>
                  <a:pt x="2528" y="936"/>
                </a:lnTo>
                <a:lnTo>
                  <a:pt x="2534" y="936"/>
                </a:lnTo>
                <a:lnTo>
                  <a:pt x="2540" y="936"/>
                </a:lnTo>
                <a:lnTo>
                  <a:pt x="2545" y="936"/>
                </a:lnTo>
                <a:lnTo>
                  <a:pt x="2557" y="936"/>
                </a:lnTo>
                <a:lnTo>
                  <a:pt x="2563" y="936"/>
                </a:lnTo>
                <a:lnTo>
                  <a:pt x="2569" y="936"/>
                </a:lnTo>
                <a:lnTo>
                  <a:pt x="2575" y="936"/>
                </a:lnTo>
                <a:lnTo>
                  <a:pt x="2580" y="936"/>
                </a:lnTo>
                <a:lnTo>
                  <a:pt x="2586" y="936"/>
                </a:lnTo>
                <a:lnTo>
                  <a:pt x="2592" y="936"/>
                </a:lnTo>
                <a:lnTo>
                  <a:pt x="2598" y="936"/>
                </a:lnTo>
                <a:lnTo>
                  <a:pt x="2609" y="936"/>
                </a:lnTo>
                <a:lnTo>
                  <a:pt x="2615" y="936"/>
                </a:lnTo>
                <a:lnTo>
                  <a:pt x="2621" y="936"/>
                </a:lnTo>
                <a:lnTo>
                  <a:pt x="2627" y="936"/>
                </a:lnTo>
                <a:lnTo>
                  <a:pt x="2633" y="936"/>
                </a:lnTo>
                <a:lnTo>
                  <a:pt x="2639" y="936"/>
                </a:lnTo>
                <a:lnTo>
                  <a:pt x="2644" y="936"/>
                </a:lnTo>
                <a:lnTo>
                  <a:pt x="2656" y="936"/>
                </a:lnTo>
                <a:lnTo>
                  <a:pt x="2662" y="936"/>
                </a:lnTo>
                <a:lnTo>
                  <a:pt x="2668" y="936"/>
                </a:lnTo>
                <a:lnTo>
                  <a:pt x="2674" y="936"/>
                </a:lnTo>
                <a:lnTo>
                  <a:pt x="2679" y="936"/>
                </a:lnTo>
                <a:lnTo>
                  <a:pt x="2685" y="936"/>
                </a:lnTo>
                <a:lnTo>
                  <a:pt x="2691" y="936"/>
                </a:lnTo>
                <a:lnTo>
                  <a:pt x="2697" y="936"/>
                </a:lnTo>
                <a:lnTo>
                  <a:pt x="2708" y="936"/>
                </a:lnTo>
                <a:lnTo>
                  <a:pt x="2714" y="936"/>
                </a:lnTo>
                <a:lnTo>
                  <a:pt x="2720" y="936"/>
                </a:lnTo>
                <a:lnTo>
                  <a:pt x="2726" y="936"/>
                </a:lnTo>
                <a:lnTo>
                  <a:pt x="2732" y="936"/>
                </a:lnTo>
                <a:lnTo>
                  <a:pt x="2738" y="936"/>
                </a:lnTo>
                <a:lnTo>
                  <a:pt x="2743" y="936"/>
                </a:lnTo>
                <a:lnTo>
                  <a:pt x="2755" y="936"/>
                </a:lnTo>
                <a:lnTo>
                  <a:pt x="2761" y="936"/>
                </a:lnTo>
                <a:lnTo>
                  <a:pt x="2767" y="936"/>
                </a:lnTo>
                <a:lnTo>
                  <a:pt x="2773" y="936"/>
                </a:lnTo>
                <a:lnTo>
                  <a:pt x="2778" y="936"/>
                </a:lnTo>
                <a:lnTo>
                  <a:pt x="2784" y="936"/>
                </a:lnTo>
                <a:lnTo>
                  <a:pt x="2790" y="936"/>
                </a:lnTo>
                <a:lnTo>
                  <a:pt x="2796" y="936"/>
                </a:lnTo>
                <a:lnTo>
                  <a:pt x="2807" y="936"/>
                </a:lnTo>
                <a:lnTo>
                  <a:pt x="2813" y="936"/>
                </a:lnTo>
                <a:lnTo>
                  <a:pt x="2819" y="936"/>
                </a:lnTo>
                <a:lnTo>
                  <a:pt x="2807" y="942"/>
                </a:lnTo>
                <a:lnTo>
                  <a:pt x="2813" y="854"/>
                </a:lnTo>
                <a:lnTo>
                  <a:pt x="2813" y="849"/>
                </a:lnTo>
                <a:lnTo>
                  <a:pt x="2825" y="849"/>
                </a:lnTo>
                <a:lnTo>
                  <a:pt x="2831" y="849"/>
                </a:lnTo>
                <a:lnTo>
                  <a:pt x="2837" y="849"/>
                </a:lnTo>
                <a:lnTo>
                  <a:pt x="2842" y="849"/>
                </a:lnTo>
                <a:lnTo>
                  <a:pt x="2854" y="849"/>
                </a:lnTo>
                <a:lnTo>
                  <a:pt x="2860" y="849"/>
                </a:lnTo>
                <a:lnTo>
                  <a:pt x="2866" y="849"/>
                </a:lnTo>
                <a:lnTo>
                  <a:pt x="2872" y="849"/>
                </a:lnTo>
                <a:lnTo>
                  <a:pt x="2877" y="849"/>
                </a:lnTo>
                <a:lnTo>
                  <a:pt x="2883" y="849"/>
                </a:lnTo>
                <a:lnTo>
                  <a:pt x="2889" y="849"/>
                </a:lnTo>
                <a:lnTo>
                  <a:pt x="2895" y="849"/>
                </a:lnTo>
                <a:lnTo>
                  <a:pt x="2906" y="849"/>
                </a:lnTo>
                <a:lnTo>
                  <a:pt x="2912" y="849"/>
                </a:lnTo>
                <a:lnTo>
                  <a:pt x="2918" y="849"/>
                </a:lnTo>
                <a:lnTo>
                  <a:pt x="2924" y="849"/>
                </a:lnTo>
                <a:lnTo>
                  <a:pt x="2930" y="849"/>
                </a:lnTo>
                <a:lnTo>
                  <a:pt x="2936" y="849"/>
                </a:lnTo>
                <a:lnTo>
                  <a:pt x="2941" y="849"/>
                </a:lnTo>
                <a:lnTo>
                  <a:pt x="2953" y="849"/>
                </a:lnTo>
                <a:lnTo>
                  <a:pt x="2959" y="849"/>
                </a:lnTo>
                <a:lnTo>
                  <a:pt x="2965" y="849"/>
                </a:lnTo>
                <a:lnTo>
                  <a:pt x="2971" y="849"/>
                </a:lnTo>
                <a:lnTo>
                  <a:pt x="2976" y="849"/>
                </a:lnTo>
                <a:lnTo>
                  <a:pt x="2982" y="849"/>
                </a:lnTo>
                <a:lnTo>
                  <a:pt x="2988" y="849"/>
                </a:lnTo>
                <a:lnTo>
                  <a:pt x="2994" y="849"/>
                </a:lnTo>
                <a:lnTo>
                  <a:pt x="3005" y="849"/>
                </a:lnTo>
                <a:lnTo>
                  <a:pt x="3011" y="849"/>
                </a:lnTo>
                <a:lnTo>
                  <a:pt x="3017" y="849"/>
                </a:lnTo>
                <a:lnTo>
                  <a:pt x="3023" y="849"/>
                </a:lnTo>
                <a:lnTo>
                  <a:pt x="3029" y="849"/>
                </a:lnTo>
                <a:lnTo>
                  <a:pt x="3035" y="849"/>
                </a:lnTo>
                <a:lnTo>
                  <a:pt x="3040" y="849"/>
                </a:lnTo>
                <a:lnTo>
                  <a:pt x="3052" y="849"/>
                </a:lnTo>
                <a:lnTo>
                  <a:pt x="3058" y="849"/>
                </a:lnTo>
                <a:lnTo>
                  <a:pt x="3064" y="849"/>
                </a:lnTo>
                <a:lnTo>
                  <a:pt x="3070" y="849"/>
                </a:lnTo>
                <a:lnTo>
                  <a:pt x="3075" y="849"/>
                </a:lnTo>
                <a:lnTo>
                  <a:pt x="3081" y="849"/>
                </a:lnTo>
                <a:lnTo>
                  <a:pt x="3087" y="849"/>
                </a:lnTo>
                <a:lnTo>
                  <a:pt x="3093" y="849"/>
                </a:lnTo>
                <a:lnTo>
                  <a:pt x="3104" y="849"/>
                </a:lnTo>
                <a:lnTo>
                  <a:pt x="3110" y="849"/>
                </a:lnTo>
                <a:lnTo>
                  <a:pt x="3116" y="849"/>
                </a:lnTo>
                <a:lnTo>
                  <a:pt x="3122" y="849"/>
                </a:lnTo>
                <a:lnTo>
                  <a:pt x="3128" y="849"/>
                </a:lnTo>
                <a:lnTo>
                  <a:pt x="3134" y="849"/>
                </a:lnTo>
                <a:lnTo>
                  <a:pt x="3139" y="849"/>
                </a:lnTo>
                <a:lnTo>
                  <a:pt x="3151" y="849"/>
                </a:lnTo>
                <a:lnTo>
                  <a:pt x="3157" y="849"/>
                </a:lnTo>
                <a:lnTo>
                  <a:pt x="3163" y="849"/>
                </a:lnTo>
                <a:lnTo>
                  <a:pt x="3169" y="849"/>
                </a:lnTo>
                <a:lnTo>
                  <a:pt x="3174" y="849"/>
                </a:lnTo>
                <a:lnTo>
                  <a:pt x="3180" y="849"/>
                </a:lnTo>
                <a:lnTo>
                  <a:pt x="3186" y="849"/>
                </a:lnTo>
                <a:lnTo>
                  <a:pt x="3192" y="849"/>
                </a:lnTo>
                <a:lnTo>
                  <a:pt x="3203" y="849"/>
                </a:lnTo>
                <a:lnTo>
                  <a:pt x="3209" y="849"/>
                </a:lnTo>
                <a:lnTo>
                  <a:pt x="3215" y="849"/>
                </a:lnTo>
                <a:lnTo>
                  <a:pt x="3203" y="854"/>
                </a:lnTo>
                <a:lnTo>
                  <a:pt x="3209" y="703"/>
                </a:lnTo>
                <a:lnTo>
                  <a:pt x="3209" y="697"/>
                </a:lnTo>
                <a:lnTo>
                  <a:pt x="3221" y="697"/>
                </a:lnTo>
                <a:lnTo>
                  <a:pt x="3227" y="697"/>
                </a:lnTo>
                <a:lnTo>
                  <a:pt x="3233" y="697"/>
                </a:lnTo>
                <a:lnTo>
                  <a:pt x="3238" y="697"/>
                </a:lnTo>
                <a:lnTo>
                  <a:pt x="3250" y="697"/>
                </a:lnTo>
                <a:lnTo>
                  <a:pt x="3256" y="697"/>
                </a:lnTo>
                <a:lnTo>
                  <a:pt x="3262" y="697"/>
                </a:lnTo>
                <a:lnTo>
                  <a:pt x="3268" y="697"/>
                </a:lnTo>
                <a:lnTo>
                  <a:pt x="3273" y="697"/>
                </a:lnTo>
                <a:lnTo>
                  <a:pt x="3279" y="697"/>
                </a:lnTo>
                <a:lnTo>
                  <a:pt x="3285" y="697"/>
                </a:lnTo>
                <a:lnTo>
                  <a:pt x="3297" y="697"/>
                </a:lnTo>
                <a:lnTo>
                  <a:pt x="3302" y="697"/>
                </a:lnTo>
                <a:lnTo>
                  <a:pt x="3308" y="697"/>
                </a:lnTo>
                <a:lnTo>
                  <a:pt x="3314" y="697"/>
                </a:lnTo>
                <a:lnTo>
                  <a:pt x="3320" y="697"/>
                </a:lnTo>
                <a:lnTo>
                  <a:pt x="3326" y="697"/>
                </a:lnTo>
                <a:lnTo>
                  <a:pt x="3332" y="697"/>
                </a:lnTo>
                <a:lnTo>
                  <a:pt x="3337" y="697"/>
                </a:lnTo>
                <a:lnTo>
                  <a:pt x="3349" y="697"/>
                </a:lnTo>
                <a:lnTo>
                  <a:pt x="3355" y="697"/>
                </a:lnTo>
                <a:lnTo>
                  <a:pt x="3361" y="697"/>
                </a:lnTo>
                <a:lnTo>
                  <a:pt x="3367" y="697"/>
                </a:lnTo>
                <a:lnTo>
                  <a:pt x="3372" y="697"/>
                </a:lnTo>
                <a:lnTo>
                  <a:pt x="3378" y="697"/>
                </a:lnTo>
                <a:lnTo>
                  <a:pt x="3384" y="697"/>
                </a:lnTo>
                <a:lnTo>
                  <a:pt x="3396" y="697"/>
                </a:lnTo>
                <a:lnTo>
                  <a:pt x="3401" y="697"/>
                </a:lnTo>
                <a:lnTo>
                  <a:pt x="3407" y="697"/>
                </a:lnTo>
                <a:lnTo>
                  <a:pt x="3413" y="697"/>
                </a:lnTo>
                <a:lnTo>
                  <a:pt x="3419" y="697"/>
                </a:lnTo>
                <a:lnTo>
                  <a:pt x="3425" y="697"/>
                </a:lnTo>
                <a:lnTo>
                  <a:pt x="3431" y="697"/>
                </a:lnTo>
                <a:lnTo>
                  <a:pt x="3436" y="697"/>
                </a:lnTo>
                <a:lnTo>
                  <a:pt x="3448" y="697"/>
                </a:lnTo>
                <a:lnTo>
                  <a:pt x="3454" y="697"/>
                </a:lnTo>
                <a:lnTo>
                  <a:pt x="3460" y="697"/>
                </a:lnTo>
                <a:lnTo>
                  <a:pt x="3466" y="697"/>
                </a:lnTo>
                <a:lnTo>
                  <a:pt x="3471" y="697"/>
                </a:lnTo>
                <a:lnTo>
                  <a:pt x="3477" y="697"/>
                </a:lnTo>
                <a:lnTo>
                  <a:pt x="3483" y="697"/>
                </a:lnTo>
                <a:lnTo>
                  <a:pt x="3495" y="697"/>
                </a:lnTo>
                <a:lnTo>
                  <a:pt x="3500" y="697"/>
                </a:lnTo>
                <a:lnTo>
                  <a:pt x="3506" y="697"/>
                </a:lnTo>
                <a:lnTo>
                  <a:pt x="3512" y="697"/>
                </a:lnTo>
                <a:lnTo>
                  <a:pt x="3518" y="697"/>
                </a:lnTo>
                <a:lnTo>
                  <a:pt x="3524" y="697"/>
                </a:lnTo>
                <a:lnTo>
                  <a:pt x="3530" y="697"/>
                </a:lnTo>
                <a:lnTo>
                  <a:pt x="3535" y="697"/>
                </a:lnTo>
                <a:lnTo>
                  <a:pt x="3547" y="697"/>
                </a:lnTo>
                <a:lnTo>
                  <a:pt x="3553" y="697"/>
                </a:lnTo>
                <a:lnTo>
                  <a:pt x="3559" y="697"/>
                </a:lnTo>
                <a:lnTo>
                  <a:pt x="3565" y="697"/>
                </a:lnTo>
                <a:lnTo>
                  <a:pt x="3570" y="697"/>
                </a:lnTo>
                <a:lnTo>
                  <a:pt x="3576" y="697"/>
                </a:lnTo>
                <a:lnTo>
                  <a:pt x="3582" y="697"/>
                </a:lnTo>
                <a:lnTo>
                  <a:pt x="3594" y="697"/>
                </a:lnTo>
                <a:lnTo>
                  <a:pt x="3599" y="697"/>
                </a:lnTo>
                <a:lnTo>
                  <a:pt x="3605" y="697"/>
                </a:lnTo>
                <a:lnTo>
                  <a:pt x="3611" y="697"/>
                </a:lnTo>
                <a:lnTo>
                  <a:pt x="3599" y="703"/>
                </a:lnTo>
                <a:lnTo>
                  <a:pt x="3605" y="546"/>
                </a:lnTo>
                <a:lnTo>
                  <a:pt x="3605" y="540"/>
                </a:lnTo>
                <a:lnTo>
                  <a:pt x="3617" y="540"/>
                </a:lnTo>
                <a:lnTo>
                  <a:pt x="3623" y="540"/>
                </a:lnTo>
                <a:lnTo>
                  <a:pt x="3629" y="540"/>
                </a:lnTo>
                <a:lnTo>
                  <a:pt x="3634" y="540"/>
                </a:lnTo>
                <a:lnTo>
                  <a:pt x="3646" y="540"/>
                </a:lnTo>
                <a:lnTo>
                  <a:pt x="3652" y="540"/>
                </a:lnTo>
                <a:lnTo>
                  <a:pt x="3658" y="540"/>
                </a:lnTo>
                <a:lnTo>
                  <a:pt x="3664" y="540"/>
                </a:lnTo>
                <a:lnTo>
                  <a:pt x="3669" y="540"/>
                </a:lnTo>
                <a:lnTo>
                  <a:pt x="3675" y="540"/>
                </a:lnTo>
                <a:lnTo>
                  <a:pt x="3681" y="540"/>
                </a:lnTo>
                <a:lnTo>
                  <a:pt x="3669" y="546"/>
                </a:lnTo>
                <a:lnTo>
                  <a:pt x="3681" y="378"/>
                </a:lnTo>
                <a:lnTo>
                  <a:pt x="3681" y="372"/>
                </a:lnTo>
                <a:lnTo>
                  <a:pt x="3693" y="372"/>
                </a:lnTo>
                <a:lnTo>
                  <a:pt x="3698" y="372"/>
                </a:lnTo>
                <a:lnTo>
                  <a:pt x="3704" y="372"/>
                </a:lnTo>
                <a:lnTo>
                  <a:pt x="3710" y="372"/>
                </a:lnTo>
                <a:lnTo>
                  <a:pt x="3716" y="372"/>
                </a:lnTo>
                <a:lnTo>
                  <a:pt x="3722" y="372"/>
                </a:lnTo>
                <a:lnTo>
                  <a:pt x="3728" y="372"/>
                </a:lnTo>
                <a:lnTo>
                  <a:pt x="3733" y="372"/>
                </a:lnTo>
                <a:lnTo>
                  <a:pt x="3745" y="372"/>
                </a:lnTo>
                <a:lnTo>
                  <a:pt x="3751" y="372"/>
                </a:lnTo>
                <a:lnTo>
                  <a:pt x="3757" y="372"/>
                </a:lnTo>
                <a:lnTo>
                  <a:pt x="3763" y="372"/>
                </a:lnTo>
                <a:lnTo>
                  <a:pt x="3768" y="372"/>
                </a:lnTo>
                <a:lnTo>
                  <a:pt x="3757" y="378"/>
                </a:lnTo>
                <a:lnTo>
                  <a:pt x="3763" y="244"/>
                </a:lnTo>
                <a:lnTo>
                  <a:pt x="3763" y="238"/>
                </a:lnTo>
                <a:lnTo>
                  <a:pt x="3774" y="238"/>
                </a:lnTo>
                <a:lnTo>
                  <a:pt x="3780" y="238"/>
                </a:lnTo>
                <a:lnTo>
                  <a:pt x="3792" y="238"/>
                </a:lnTo>
                <a:lnTo>
                  <a:pt x="3797" y="238"/>
                </a:lnTo>
                <a:lnTo>
                  <a:pt x="3803" y="238"/>
                </a:lnTo>
                <a:lnTo>
                  <a:pt x="3809" y="238"/>
                </a:lnTo>
                <a:lnTo>
                  <a:pt x="3815" y="238"/>
                </a:lnTo>
                <a:lnTo>
                  <a:pt x="3821" y="238"/>
                </a:lnTo>
                <a:lnTo>
                  <a:pt x="3827" y="238"/>
                </a:lnTo>
                <a:lnTo>
                  <a:pt x="3832" y="238"/>
                </a:lnTo>
                <a:lnTo>
                  <a:pt x="3844" y="238"/>
                </a:lnTo>
                <a:lnTo>
                  <a:pt x="3850" y="238"/>
                </a:lnTo>
                <a:lnTo>
                  <a:pt x="3856" y="238"/>
                </a:lnTo>
                <a:lnTo>
                  <a:pt x="3862" y="238"/>
                </a:lnTo>
                <a:lnTo>
                  <a:pt x="3867" y="238"/>
                </a:lnTo>
                <a:lnTo>
                  <a:pt x="3873" y="238"/>
                </a:lnTo>
                <a:lnTo>
                  <a:pt x="3879" y="238"/>
                </a:lnTo>
                <a:lnTo>
                  <a:pt x="3891" y="238"/>
                </a:lnTo>
                <a:lnTo>
                  <a:pt x="3896" y="238"/>
                </a:lnTo>
                <a:lnTo>
                  <a:pt x="3902" y="238"/>
                </a:lnTo>
                <a:lnTo>
                  <a:pt x="3908" y="238"/>
                </a:lnTo>
                <a:lnTo>
                  <a:pt x="3914" y="238"/>
                </a:lnTo>
                <a:lnTo>
                  <a:pt x="3920" y="238"/>
                </a:lnTo>
                <a:lnTo>
                  <a:pt x="3926" y="238"/>
                </a:lnTo>
                <a:lnTo>
                  <a:pt x="3931" y="238"/>
                </a:lnTo>
                <a:lnTo>
                  <a:pt x="3943" y="238"/>
                </a:lnTo>
                <a:lnTo>
                  <a:pt x="3949" y="238"/>
                </a:lnTo>
                <a:lnTo>
                  <a:pt x="3955" y="238"/>
                </a:lnTo>
                <a:lnTo>
                  <a:pt x="3961" y="238"/>
                </a:lnTo>
                <a:lnTo>
                  <a:pt x="3966" y="238"/>
                </a:lnTo>
                <a:lnTo>
                  <a:pt x="3972" y="238"/>
                </a:lnTo>
                <a:lnTo>
                  <a:pt x="3978" y="238"/>
                </a:lnTo>
                <a:lnTo>
                  <a:pt x="3990" y="238"/>
                </a:lnTo>
                <a:lnTo>
                  <a:pt x="3995" y="238"/>
                </a:lnTo>
                <a:lnTo>
                  <a:pt x="4001" y="238"/>
                </a:lnTo>
                <a:lnTo>
                  <a:pt x="4007" y="238"/>
                </a:lnTo>
                <a:lnTo>
                  <a:pt x="4013" y="238"/>
                </a:lnTo>
                <a:lnTo>
                  <a:pt x="4019" y="238"/>
                </a:lnTo>
                <a:lnTo>
                  <a:pt x="4025" y="238"/>
                </a:lnTo>
                <a:lnTo>
                  <a:pt x="4030" y="238"/>
                </a:lnTo>
                <a:lnTo>
                  <a:pt x="4042" y="238"/>
                </a:lnTo>
                <a:lnTo>
                  <a:pt x="4048" y="238"/>
                </a:lnTo>
                <a:lnTo>
                  <a:pt x="4054" y="238"/>
                </a:lnTo>
                <a:lnTo>
                  <a:pt x="4060" y="238"/>
                </a:lnTo>
                <a:lnTo>
                  <a:pt x="4065" y="238"/>
                </a:lnTo>
                <a:lnTo>
                  <a:pt x="4071" y="238"/>
                </a:lnTo>
                <a:lnTo>
                  <a:pt x="4077" y="238"/>
                </a:lnTo>
                <a:lnTo>
                  <a:pt x="4089" y="238"/>
                </a:lnTo>
                <a:lnTo>
                  <a:pt x="4095" y="238"/>
                </a:lnTo>
                <a:lnTo>
                  <a:pt x="4100" y="238"/>
                </a:lnTo>
                <a:lnTo>
                  <a:pt x="4106" y="238"/>
                </a:lnTo>
                <a:lnTo>
                  <a:pt x="4112" y="238"/>
                </a:lnTo>
                <a:lnTo>
                  <a:pt x="4118" y="238"/>
                </a:lnTo>
                <a:lnTo>
                  <a:pt x="4124" y="238"/>
                </a:lnTo>
                <a:lnTo>
                  <a:pt x="4129" y="238"/>
                </a:lnTo>
                <a:lnTo>
                  <a:pt x="4141" y="238"/>
                </a:lnTo>
                <a:lnTo>
                  <a:pt x="4147" y="238"/>
                </a:lnTo>
                <a:lnTo>
                  <a:pt x="4153" y="238"/>
                </a:lnTo>
                <a:lnTo>
                  <a:pt x="4159" y="238"/>
                </a:lnTo>
                <a:lnTo>
                  <a:pt x="4164" y="238"/>
                </a:lnTo>
                <a:lnTo>
                  <a:pt x="4170" y="238"/>
                </a:lnTo>
                <a:lnTo>
                  <a:pt x="4176" y="238"/>
                </a:lnTo>
                <a:lnTo>
                  <a:pt x="4188" y="238"/>
                </a:lnTo>
                <a:lnTo>
                  <a:pt x="4194" y="238"/>
                </a:lnTo>
                <a:lnTo>
                  <a:pt x="4199" y="238"/>
                </a:lnTo>
                <a:lnTo>
                  <a:pt x="4205" y="238"/>
                </a:lnTo>
                <a:lnTo>
                  <a:pt x="4211" y="238"/>
                </a:lnTo>
                <a:lnTo>
                  <a:pt x="4217" y="238"/>
                </a:lnTo>
                <a:lnTo>
                  <a:pt x="4223" y="238"/>
                </a:lnTo>
                <a:lnTo>
                  <a:pt x="4234" y="238"/>
                </a:lnTo>
                <a:lnTo>
                  <a:pt x="4240" y="238"/>
                </a:lnTo>
                <a:lnTo>
                  <a:pt x="4246" y="238"/>
                </a:lnTo>
                <a:lnTo>
                  <a:pt x="4252" y="238"/>
                </a:lnTo>
                <a:lnTo>
                  <a:pt x="4258" y="238"/>
                </a:lnTo>
                <a:lnTo>
                  <a:pt x="4263" y="238"/>
                </a:lnTo>
                <a:lnTo>
                  <a:pt x="4269" y="238"/>
                </a:lnTo>
                <a:lnTo>
                  <a:pt x="4275" y="238"/>
                </a:lnTo>
                <a:lnTo>
                  <a:pt x="4287" y="238"/>
                </a:lnTo>
                <a:lnTo>
                  <a:pt x="4293" y="238"/>
                </a:lnTo>
                <a:lnTo>
                  <a:pt x="4298" y="238"/>
                </a:lnTo>
                <a:lnTo>
                  <a:pt x="4304" y="238"/>
                </a:lnTo>
                <a:lnTo>
                  <a:pt x="4310" y="238"/>
                </a:lnTo>
                <a:lnTo>
                  <a:pt x="4316" y="238"/>
                </a:lnTo>
                <a:lnTo>
                  <a:pt x="4322" y="238"/>
                </a:lnTo>
                <a:lnTo>
                  <a:pt x="4333" y="238"/>
                </a:lnTo>
                <a:lnTo>
                  <a:pt x="4339" y="238"/>
                </a:lnTo>
                <a:lnTo>
                  <a:pt x="4345" y="238"/>
                </a:lnTo>
                <a:lnTo>
                  <a:pt x="4351" y="238"/>
                </a:lnTo>
                <a:lnTo>
                  <a:pt x="4357" y="238"/>
                </a:lnTo>
                <a:lnTo>
                  <a:pt x="4362" y="238"/>
                </a:lnTo>
                <a:lnTo>
                  <a:pt x="4368" y="238"/>
                </a:lnTo>
                <a:lnTo>
                  <a:pt x="4374" y="238"/>
                </a:lnTo>
                <a:lnTo>
                  <a:pt x="4386" y="238"/>
                </a:lnTo>
                <a:lnTo>
                  <a:pt x="4392" y="238"/>
                </a:lnTo>
                <a:lnTo>
                  <a:pt x="4397" y="238"/>
                </a:lnTo>
                <a:lnTo>
                  <a:pt x="4403" y="238"/>
                </a:lnTo>
                <a:lnTo>
                  <a:pt x="4409" y="238"/>
                </a:lnTo>
                <a:lnTo>
                  <a:pt x="4415" y="238"/>
                </a:lnTo>
                <a:lnTo>
                  <a:pt x="4421" y="238"/>
                </a:lnTo>
                <a:lnTo>
                  <a:pt x="4432" y="238"/>
                </a:lnTo>
                <a:lnTo>
                  <a:pt x="4438" y="238"/>
                </a:lnTo>
                <a:lnTo>
                  <a:pt x="4444" y="238"/>
                </a:lnTo>
                <a:lnTo>
                  <a:pt x="4450" y="238"/>
                </a:lnTo>
                <a:lnTo>
                  <a:pt x="4456" y="238"/>
                </a:lnTo>
                <a:lnTo>
                  <a:pt x="4461" y="238"/>
                </a:lnTo>
                <a:lnTo>
                  <a:pt x="4467" y="238"/>
                </a:lnTo>
                <a:lnTo>
                  <a:pt x="4473" y="238"/>
                </a:lnTo>
                <a:lnTo>
                  <a:pt x="4485" y="238"/>
                </a:lnTo>
                <a:lnTo>
                  <a:pt x="4491" y="238"/>
                </a:lnTo>
                <a:lnTo>
                  <a:pt x="4496" y="238"/>
                </a:lnTo>
                <a:lnTo>
                  <a:pt x="4502" y="238"/>
                </a:lnTo>
                <a:lnTo>
                  <a:pt x="4508" y="238"/>
                </a:lnTo>
                <a:lnTo>
                  <a:pt x="4514" y="238"/>
                </a:lnTo>
                <a:lnTo>
                  <a:pt x="4520" y="238"/>
                </a:lnTo>
                <a:lnTo>
                  <a:pt x="4531" y="238"/>
                </a:lnTo>
                <a:lnTo>
                  <a:pt x="4537" y="238"/>
                </a:lnTo>
                <a:lnTo>
                  <a:pt x="4543" y="238"/>
                </a:lnTo>
                <a:lnTo>
                  <a:pt x="4549" y="238"/>
                </a:lnTo>
                <a:lnTo>
                  <a:pt x="4555" y="238"/>
                </a:lnTo>
                <a:lnTo>
                  <a:pt x="4560" y="238"/>
                </a:lnTo>
                <a:lnTo>
                  <a:pt x="4566" y="238"/>
                </a:lnTo>
                <a:lnTo>
                  <a:pt x="4555" y="250"/>
                </a:lnTo>
                <a:lnTo>
                  <a:pt x="4560" y="12"/>
                </a:lnTo>
                <a:lnTo>
                  <a:pt x="4560" y="0"/>
                </a:lnTo>
                <a:lnTo>
                  <a:pt x="4572" y="0"/>
                </a:lnTo>
                <a:lnTo>
                  <a:pt x="4584" y="0"/>
                </a:lnTo>
                <a:lnTo>
                  <a:pt x="4590" y="0"/>
                </a:lnTo>
                <a:lnTo>
                  <a:pt x="4595" y="0"/>
                </a:lnTo>
                <a:lnTo>
                  <a:pt x="4601" y="0"/>
                </a:lnTo>
                <a:lnTo>
                  <a:pt x="4607" y="0"/>
                </a:lnTo>
                <a:lnTo>
                  <a:pt x="4613" y="12"/>
                </a:lnTo>
                <a:lnTo>
                  <a:pt x="4607" y="17"/>
                </a:lnTo>
                <a:lnTo>
                  <a:pt x="4601" y="23"/>
                </a:lnTo>
                <a:lnTo>
                  <a:pt x="4595" y="23"/>
                </a:lnTo>
                <a:lnTo>
                  <a:pt x="4590" y="23"/>
                </a:lnTo>
                <a:lnTo>
                  <a:pt x="4584" y="23"/>
                </a:lnTo>
                <a:lnTo>
                  <a:pt x="4572" y="23"/>
                </a:lnTo>
                <a:lnTo>
                  <a:pt x="4584" y="12"/>
                </a:lnTo>
                <a:lnTo>
                  <a:pt x="4578" y="250"/>
                </a:lnTo>
                <a:lnTo>
                  <a:pt x="4572" y="256"/>
                </a:lnTo>
                <a:lnTo>
                  <a:pt x="4566" y="261"/>
                </a:lnTo>
                <a:lnTo>
                  <a:pt x="4560" y="261"/>
                </a:lnTo>
                <a:lnTo>
                  <a:pt x="4555" y="261"/>
                </a:lnTo>
                <a:lnTo>
                  <a:pt x="4549" y="261"/>
                </a:lnTo>
                <a:lnTo>
                  <a:pt x="4543" y="261"/>
                </a:lnTo>
                <a:lnTo>
                  <a:pt x="4537" y="261"/>
                </a:lnTo>
                <a:lnTo>
                  <a:pt x="4531" y="261"/>
                </a:lnTo>
                <a:lnTo>
                  <a:pt x="4520" y="261"/>
                </a:lnTo>
                <a:lnTo>
                  <a:pt x="4514" y="261"/>
                </a:lnTo>
                <a:lnTo>
                  <a:pt x="4508" y="261"/>
                </a:lnTo>
                <a:lnTo>
                  <a:pt x="4502" y="261"/>
                </a:lnTo>
                <a:lnTo>
                  <a:pt x="4496" y="261"/>
                </a:lnTo>
                <a:lnTo>
                  <a:pt x="4491" y="261"/>
                </a:lnTo>
                <a:lnTo>
                  <a:pt x="4485" y="261"/>
                </a:lnTo>
                <a:lnTo>
                  <a:pt x="4473" y="261"/>
                </a:lnTo>
                <a:lnTo>
                  <a:pt x="4467" y="261"/>
                </a:lnTo>
                <a:lnTo>
                  <a:pt x="4461" y="261"/>
                </a:lnTo>
                <a:lnTo>
                  <a:pt x="4456" y="261"/>
                </a:lnTo>
                <a:lnTo>
                  <a:pt x="4450" y="261"/>
                </a:lnTo>
                <a:lnTo>
                  <a:pt x="4444" y="261"/>
                </a:lnTo>
                <a:lnTo>
                  <a:pt x="4438" y="261"/>
                </a:lnTo>
                <a:lnTo>
                  <a:pt x="4432" y="261"/>
                </a:lnTo>
                <a:lnTo>
                  <a:pt x="4421" y="261"/>
                </a:lnTo>
                <a:lnTo>
                  <a:pt x="4415" y="261"/>
                </a:lnTo>
                <a:lnTo>
                  <a:pt x="4409" y="261"/>
                </a:lnTo>
                <a:lnTo>
                  <a:pt x="4403" y="261"/>
                </a:lnTo>
                <a:lnTo>
                  <a:pt x="4397" y="261"/>
                </a:lnTo>
                <a:lnTo>
                  <a:pt x="4392" y="261"/>
                </a:lnTo>
                <a:lnTo>
                  <a:pt x="4386" y="261"/>
                </a:lnTo>
                <a:lnTo>
                  <a:pt x="4374" y="261"/>
                </a:lnTo>
                <a:lnTo>
                  <a:pt x="4368" y="261"/>
                </a:lnTo>
                <a:lnTo>
                  <a:pt x="4362" y="261"/>
                </a:lnTo>
                <a:lnTo>
                  <a:pt x="4357" y="261"/>
                </a:lnTo>
                <a:lnTo>
                  <a:pt x="4351" y="261"/>
                </a:lnTo>
                <a:lnTo>
                  <a:pt x="4345" y="261"/>
                </a:lnTo>
                <a:lnTo>
                  <a:pt x="4339" y="261"/>
                </a:lnTo>
                <a:lnTo>
                  <a:pt x="4333" y="261"/>
                </a:lnTo>
                <a:lnTo>
                  <a:pt x="4322" y="261"/>
                </a:lnTo>
                <a:lnTo>
                  <a:pt x="4316" y="261"/>
                </a:lnTo>
                <a:lnTo>
                  <a:pt x="4310" y="261"/>
                </a:lnTo>
                <a:lnTo>
                  <a:pt x="4304" y="261"/>
                </a:lnTo>
                <a:lnTo>
                  <a:pt x="4298" y="261"/>
                </a:lnTo>
                <a:lnTo>
                  <a:pt x="4293" y="261"/>
                </a:lnTo>
                <a:lnTo>
                  <a:pt x="4287" y="261"/>
                </a:lnTo>
                <a:lnTo>
                  <a:pt x="4275" y="261"/>
                </a:lnTo>
                <a:lnTo>
                  <a:pt x="4269" y="261"/>
                </a:lnTo>
                <a:lnTo>
                  <a:pt x="4263" y="261"/>
                </a:lnTo>
                <a:lnTo>
                  <a:pt x="4258" y="261"/>
                </a:lnTo>
                <a:lnTo>
                  <a:pt x="4252" y="261"/>
                </a:lnTo>
                <a:lnTo>
                  <a:pt x="4246" y="261"/>
                </a:lnTo>
                <a:lnTo>
                  <a:pt x="4240" y="261"/>
                </a:lnTo>
                <a:lnTo>
                  <a:pt x="4234" y="261"/>
                </a:lnTo>
                <a:lnTo>
                  <a:pt x="4223" y="261"/>
                </a:lnTo>
                <a:lnTo>
                  <a:pt x="4217" y="261"/>
                </a:lnTo>
                <a:lnTo>
                  <a:pt x="4211" y="261"/>
                </a:lnTo>
                <a:lnTo>
                  <a:pt x="4205" y="261"/>
                </a:lnTo>
                <a:lnTo>
                  <a:pt x="4199" y="261"/>
                </a:lnTo>
                <a:lnTo>
                  <a:pt x="4194" y="261"/>
                </a:lnTo>
                <a:lnTo>
                  <a:pt x="4188" y="261"/>
                </a:lnTo>
                <a:lnTo>
                  <a:pt x="4176" y="261"/>
                </a:lnTo>
                <a:lnTo>
                  <a:pt x="4170" y="261"/>
                </a:lnTo>
                <a:lnTo>
                  <a:pt x="4164" y="261"/>
                </a:lnTo>
                <a:lnTo>
                  <a:pt x="4159" y="261"/>
                </a:lnTo>
                <a:lnTo>
                  <a:pt x="4153" y="261"/>
                </a:lnTo>
                <a:lnTo>
                  <a:pt x="4147" y="261"/>
                </a:lnTo>
                <a:lnTo>
                  <a:pt x="4141" y="261"/>
                </a:lnTo>
                <a:lnTo>
                  <a:pt x="4129" y="261"/>
                </a:lnTo>
                <a:lnTo>
                  <a:pt x="4124" y="261"/>
                </a:lnTo>
                <a:lnTo>
                  <a:pt x="4118" y="261"/>
                </a:lnTo>
                <a:lnTo>
                  <a:pt x="4112" y="261"/>
                </a:lnTo>
                <a:lnTo>
                  <a:pt x="4106" y="261"/>
                </a:lnTo>
                <a:lnTo>
                  <a:pt x="4100" y="261"/>
                </a:lnTo>
                <a:lnTo>
                  <a:pt x="4095" y="261"/>
                </a:lnTo>
                <a:lnTo>
                  <a:pt x="4089" y="261"/>
                </a:lnTo>
                <a:lnTo>
                  <a:pt x="4077" y="261"/>
                </a:lnTo>
                <a:lnTo>
                  <a:pt x="4071" y="261"/>
                </a:lnTo>
                <a:lnTo>
                  <a:pt x="4065" y="261"/>
                </a:lnTo>
                <a:lnTo>
                  <a:pt x="4060" y="261"/>
                </a:lnTo>
                <a:lnTo>
                  <a:pt x="4054" y="261"/>
                </a:lnTo>
                <a:lnTo>
                  <a:pt x="4048" y="261"/>
                </a:lnTo>
                <a:lnTo>
                  <a:pt x="4042" y="261"/>
                </a:lnTo>
                <a:lnTo>
                  <a:pt x="4030" y="261"/>
                </a:lnTo>
                <a:lnTo>
                  <a:pt x="4025" y="261"/>
                </a:lnTo>
                <a:lnTo>
                  <a:pt x="4019" y="261"/>
                </a:lnTo>
                <a:lnTo>
                  <a:pt x="4013" y="261"/>
                </a:lnTo>
                <a:lnTo>
                  <a:pt x="4007" y="261"/>
                </a:lnTo>
                <a:lnTo>
                  <a:pt x="4001" y="261"/>
                </a:lnTo>
                <a:lnTo>
                  <a:pt x="3995" y="261"/>
                </a:lnTo>
                <a:lnTo>
                  <a:pt x="3990" y="261"/>
                </a:lnTo>
                <a:lnTo>
                  <a:pt x="3978" y="261"/>
                </a:lnTo>
                <a:lnTo>
                  <a:pt x="3972" y="261"/>
                </a:lnTo>
                <a:lnTo>
                  <a:pt x="3966" y="261"/>
                </a:lnTo>
                <a:lnTo>
                  <a:pt x="3961" y="261"/>
                </a:lnTo>
                <a:lnTo>
                  <a:pt x="3955" y="261"/>
                </a:lnTo>
                <a:lnTo>
                  <a:pt x="3949" y="261"/>
                </a:lnTo>
                <a:lnTo>
                  <a:pt x="3943" y="261"/>
                </a:lnTo>
                <a:lnTo>
                  <a:pt x="3931" y="261"/>
                </a:lnTo>
                <a:lnTo>
                  <a:pt x="3926" y="261"/>
                </a:lnTo>
                <a:lnTo>
                  <a:pt x="3920" y="261"/>
                </a:lnTo>
                <a:lnTo>
                  <a:pt x="3914" y="261"/>
                </a:lnTo>
                <a:lnTo>
                  <a:pt x="3908" y="261"/>
                </a:lnTo>
                <a:lnTo>
                  <a:pt x="3902" y="261"/>
                </a:lnTo>
                <a:lnTo>
                  <a:pt x="3896" y="261"/>
                </a:lnTo>
                <a:lnTo>
                  <a:pt x="3891" y="261"/>
                </a:lnTo>
                <a:lnTo>
                  <a:pt x="3879" y="261"/>
                </a:lnTo>
                <a:lnTo>
                  <a:pt x="3873" y="261"/>
                </a:lnTo>
                <a:lnTo>
                  <a:pt x="3867" y="261"/>
                </a:lnTo>
                <a:lnTo>
                  <a:pt x="3862" y="261"/>
                </a:lnTo>
                <a:lnTo>
                  <a:pt x="3856" y="261"/>
                </a:lnTo>
                <a:lnTo>
                  <a:pt x="3850" y="261"/>
                </a:lnTo>
                <a:lnTo>
                  <a:pt x="3844" y="261"/>
                </a:lnTo>
                <a:lnTo>
                  <a:pt x="3832" y="261"/>
                </a:lnTo>
                <a:lnTo>
                  <a:pt x="3827" y="261"/>
                </a:lnTo>
                <a:lnTo>
                  <a:pt x="3821" y="261"/>
                </a:lnTo>
                <a:lnTo>
                  <a:pt x="3815" y="261"/>
                </a:lnTo>
                <a:lnTo>
                  <a:pt x="3809" y="261"/>
                </a:lnTo>
                <a:lnTo>
                  <a:pt x="3803" y="261"/>
                </a:lnTo>
                <a:lnTo>
                  <a:pt x="3797" y="261"/>
                </a:lnTo>
                <a:lnTo>
                  <a:pt x="3792" y="261"/>
                </a:lnTo>
                <a:lnTo>
                  <a:pt x="3780" y="261"/>
                </a:lnTo>
                <a:lnTo>
                  <a:pt x="3774" y="261"/>
                </a:lnTo>
                <a:lnTo>
                  <a:pt x="3786" y="250"/>
                </a:lnTo>
                <a:lnTo>
                  <a:pt x="3780" y="384"/>
                </a:lnTo>
                <a:lnTo>
                  <a:pt x="3774" y="389"/>
                </a:lnTo>
                <a:lnTo>
                  <a:pt x="3768" y="395"/>
                </a:lnTo>
                <a:lnTo>
                  <a:pt x="3763" y="395"/>
                </a:lnTo>
                <a:lnTo>
                  <a:pt x="3757" y="395"/>
                </a:lnTo>
                <a:lnTo>
                  <a:pt x="3751" y="395"/>
                </a:lnTo>
                <a:lnTo>
                  <a:pt x="3745" y="395"/>
                </a:lnTo>
                <a:lnTo>
                  <a:pt x="3733" y="395"/>
                </a:lnTo>
                <a:lnTo>
                  <a:pt x="3728" y="395"/>
                </a:lnTo>
                <a:lnTo>
                  <a:pt x="3722" y="395"/>
                </a:lnTo>
                <a:lnTo>
                  <a:pt x="3716" y="395"/>
                </a:lnTo>
                <a:lnTo>
                  <a:pt x="3710" y="395"/>
                </a:lnTo>
                <a:lnTo>
                  <a:pt x="3704" y="395"/>
                </a:lnTo>
                <a:lnTo>
                  <a:pt x="3698" y="395"/>
                </a:lnTo>
                <a:lnTo>
                  <a:pt x="3693" y="395"/>
                </a:lnTo>
                <a:lnTo>
                  <a:pt x="3704" y="384"/>
                </a:lnTo>
                <a:lnTo>
                  <a:pt x="3693" y="552"/>
                </a:lnTo>
                <a:lnTo>
                  <a:pt x="3687" y="558"/>
                </a:lnTo>
                <a:lnTo>
                  <a:pt x="3681" y="564"/>
                </a:lnTo>
                <a:lnTo>
                  <a:pt x="3675" y="564"/>
                </a:lnTo>
                <a:lnTo>
                  <a:pt x="3669" y="564"/>
                </a:lnTo>
                <a:lnTo>
                  <a:pt x="3664" y="564"/>
                </a:lnTo>
                <a:lnTo>
                  <a:pt x="3658" y="564"/>
                </a:lnTo>
                <a:lnTo>
                  <a:pt x="3652" y="564"/>
                </a:lnTo>
                <a:lnTo>
                  <a:pt x="3646" y="564"/>
                </a:lnTo>
                <a:lnTo>
                  <a:pt x="3634" y="564"/>
                </a:lnTo>
                <a:lnTo>
                  <a:pt x="3629" y="564"/>
                </a:lnTo>
                <a:lnTo>
                  <a:pt x="3623" y="564"/>
                </a:lnTo>
                <a:lnTo>
                  <a:pt x="3617" y="564"/>
                </a:lnTo>
                <a:lnTo>
                  <a:pt x="3629" y="552"/>
                </a:lnTo>
                <a:lnTo>
                  <a:pt x="3623" y="709"/>
                </a:lnTo>
                <a:lnTo>
                  <a:pt x="3617" y="715"/>
                </a:lnTo>
                <a:lnTo>
                  <a:pt x="3611" y="721"/>
                </a:lnTo>
                <a:lnTo>
                  <a:pt x="3605" y="721"/>
                </a:lnTo>
                <a:lnTo>
                  <a:pt x="3599" y="721"/>
                </a:lnTo>
                <a:lnTo>
                  <a:pt x="3594" y="721"/>
                </a:lnTo>
                <a:lnTo>
                  <a:pt x="3582" y="721"/>
                </a:lnTo>
                <a:lnTo>
                  <a:pt x="3576" y="721"/>
                </a:lnTo>
                <a:lnTo>
                  <a:pt x="3570" y="721"/>
                </a:lnTo>
                <a:lnTo>
                  <a:pt x="3565" y="721"/>
                </a:lnTo>
                <a:lnTo>
                  <a:pt x="3559" y="721"/>
                </a:lnTo>
                <a:lnTo>
                  <a:pt x="3553" y="721"/>
                </a:lnTo>
                <a:lnTo>
                  <a:pt x="3547" y="721"/>
                </a:lnTo>
                <a:lnTo>
                  <a:pt x="3535" y="721"/>
                </a:lnTo>
                <a:lnTo>
                  <a:pt x="3530" y="721"/>
                </a:lnTo>
                <a:lnTo>
                  <a:pt x="3524" y="721"/>
                </a:lnTo>
                <a:lnTo>
                  <a:pt x="3518" y="721"/>
                </a:lnTo>
                <a:lnTo>
                  <a:pt x="3512" y="721"/>
                </a:lnTo>
                <a:lnTo>
                  <a:pt x="3506" y="721"/>
                </a:lnTo>
                <a:lnTo>
                  <a:pt x="3500" y="721"/>
                </a:lnTo>
                <a:lnTo>
                  <a:pt x="3495" y="721"/>
                </a:lnTo>
                <a:lnTo>
                  <a:pt x="3483" y="721"/>
                </a:lnTo>
                <a:lnTo>
                  <a:pt x="3477" y="721"/>
                </a:lnTo>
                <a:lnTo>
                  <a:pt x="3471" y="721"/>
                </a:lnTo>
                <a:lnTo>
                  <a:pt x="3466" y="721"/>
                </a:lnTo>
                <a:lnTo>
                  <a:pt x="3460" y="721"/>
                </a:lnTo>
                <a:lnTo>
                  <a:pt x="3454" y="721"/>
                </a:lnTo>
                <a:lnTo>
                  <a:pt x="3448" y="721"/>
                </a:lnTo>
                <a:lnTo>
                  <a:pt x="3436" y="721"/>
                </a:lnTo>
                <a:lnTo>
                  <a:pt x="3431" y="721"/>
                </a:lnTo>
                <a:lnTo>
                  <a:pt x="3425" y="721"/>
                </a:lnTo>
                <a:lnTo>
                  <a:pt x="3419" y="721"/>
                </a:lnTo>
                <a:lnTo>
                  <a:pt x="3413" y="721"/>
                </a:lnTo>
                <a:lnTo>
                  <a:pt x="3407" y="721"/>
                </a:lnTo>
                <a:lnTo>
                  <a:pt x="3401" y="721"/>
                </a:lnTo>
                <a:lnTo>
                  <a:pt x="3396" y="721"/>
                </a:lnTo>
                <a:lnTo>
                  <a:pt x="3384" y="721"/>
                </a:lnTo>
                <a:lnTo>
                  <a:pt x="3378" y="721"/>
                </a:lnTo>
                <a:lnTo>
                  <a:pt x="3372" y="721"/>
                </a:lnTo>
                <a:lnTo>
                  <a:pt x="3367" y="721"/>
                </a:lnTo>
                <a:lnTo>
                  <a:pt x="3361" y="721"/>
                </a:lnTo>
                <a:lnTo>
                  <a:pt x="3355" y="721"/>
                </a:lnTo>
                <a:lnTo>
                  <a:pt x="3349" y="721"/>
                </a:lnTo>
                <a:lnTo>
                  <a:pt x="3337" y="721"/>
                </a:lnTo>
                <a:lnTo>
                  <a:pt x="3332" y="721"/>
                </a:lnTo>
                <a:lnTo>
                  <a:pt x="3326" y="721"/>
                </a:lnTo>
                <a:lnTo>
                  <a:pt x="3320" y="721"/>
                </a:lnTo>
                <a:lnTo>
                  <a:pt x="3314" y="721"/>
                </a:lnTo>
                <a:lnTo>
                  <a:pt x="3308" y="721"/>
                </a:lnTo>
                <a:lnTo>
                  <a:pt x="3302" y="721"/>
                </a:lnTo>
                <a:lnTo>
                  <a:pt x="3297" y="721"/>
                </a:lnTo>
                <a:lnTo>
                  <a:pt x="3285" y="721"/>
                </a:lnTo>
                <a:lnTo>
                  <a:pt x="3279" y="721"/>
                </a:lnTo>
                <a:lnTo>
                  <a:pt x="3273" y="721"/>
                </a:lnTo>
                <a:lnTo>
                  <a:pt x="3268" y="721"/>
                </a:lnTo>
                <a:lnTo>
                  <a:pt x="3262" y="721"/>
                </a:lnTo>
                <a:lnTo>
                  <a:pt x="3256" y="721"/>
                </a:lnTo>
                <a:lnTo>
                  <a:pt x="3250" y="721"/>
                </a:lnTo>
                <a:lnTo>
                  <a:pt x="3238" y="721"/>
                </a:lnTo>
                <a:lnTo>
                  <a:pt x="3233" y="721"/>
                </a:lnTo>
                <a:lnTo>
                  <a:pt x="3227" y="721"/>
                </a:lnTo>
                <a:lnTo>
                  <a:pt x="3221" y="721"/>
                </a:lnTo>
                <a:lnTo>
                  <a:pt x="3233" y="709"/>
                </a:lnTo>
                <a:lnTo>
                  <a:pt x="3227" y="860"/>
                </a:lnTo>
                <a:lnTo>
                  <a:pt x="3221" y="866"/>
                </a:lnTo>
                <a:lnTo>
                  <a:pt x="3215" y="872"/>
                </a:lnTo>
                <a:lnTo>
                  <a:pt x="3209" y="872"/>
                </a:lnTo>
                <a:lnTo>
                  <a:pt x="3203" y="872"/>
                </a:lnTo>
                <a:lnTo>
                  <a:pt x="3192" y="872"/>
                </a:lnTo>
                <a:lnTo>
                  <a:pt x="3186" y="872"/>
                </a:lnTo>
                <a:lnTo>
                  <a:pt x="3180" y="872"/>
                </a:lnTo>
                <a:lnTo>
                  <a:pt x="3174" y="872"/>
                </a:lnTo>
                <a:lnTo>
                  <a:pt x="3169" y="872"/>
                </a:lnTo>
                <a:lnTo>
                  <a:pt x="3163" y="872"/>
                </a:lnTo>
                <a:lnTo>
                  <a:pt x="3157" y="872"/>
                </a:lnTo>
                <a:lnTo>
                  <a:pt x="3151" y="872"/>
                </a:lnTo>
                <a:lnTo>
                  <a:pt x="3139" y="872"/>
                </a:lnTo>
                <a:lnTo>
                  <a:pt x="3134" y="872"/>
                </a:lnTo>
                <a:lnTo>
                  <a:pt x="3128" y="872"/>
                </a:lnTo>
                <a:lnTo>
                  <a:pt x="3122" y="872"/>
                </a:lnTo>
                <a:lnTo>
                  <a:pt x="3116" y="872"/>
                </a:lnTo>
                <a:lnTo>
                  <a:pt x="3110" y="872"/>
                </a:lnTo>
                <a:lnTo>
                  <a:pt x="3104" y="872"/>
                </a:lnTo>
                <a:lnTo>
                  <a:pt x="3093" y="872"/>
                </a:lnTo>
                <a:lnTo>
                  <a:pt x="3087" y="872"/>
                </a:lnTo>
                <a:lnTo>
                  <a:pt x="3081" y="872"/>
                </a:lnTo>
                <a:lnTo>
                  <a:pt x="3075" y="872"/>
                </a:lnTo>
                <a:lnTo>
                  <a:pt x="3070" y="872"/>
                </a:lnTo>
                <a:lnTo>
                  <a:pt x="3064" y="872"/>
                </a:lnTo>
                <a:lnTo>
                  <a:pt x="3058" y="872"/>
                </a:lnTo>
                <a:lnTo>
                  <a:pt x="3052" y="872"/>
                </a:lnTo>
                <a:lnTo>
                  <a:pt x="3040" y="872"/>
                </a:lnTo>
                <a:lnTo>
                  <a:pt x="3035" y="872"/>
                </a:lnTo>
                <a:lnTo>
                  <a:pt x="3029" y="872"/>
                </a:lnTo>
                <a:lnTo>
                  <a:pt x="3023" y="872"/>
                </a:lnTo>
                <a:lnTo>
                  <a:pt x="3017" y="872"/>
                </a:lnTo>
                <a:lnTo>
                  <a:pt x="3011" y="872"/>
                </a:lnTo>
                <a:lnTo>
                  <a:pt x="3005" y="872"/>
                </a:lnTo>
                <a:lnTo>
                  <a:pt x="2994" y="872"/>
                </a:lnTo>
                <a:lnTo>
                  <a:pt x="2988" y="872"/>
                </a:lnTo>
                <a:lnTo>
                  <a:pt x="2982" y="872"/>
                </a:lnTo>
                <a:lnTo>
                  <a:pt x="2976" y="872"/>
                </a:lnTo>
                <a:lnTo>
                  <a:pt x="2971" y="872"/>
                </a:lnTo>
                <a:lnTo>
                  <a:pt x="2965" y="872"/>
                </a:lnTo>
                <a:lnTo>
                  <a:pt x="2959" y="872"/>
                </a:lnTo>
                <a:lnTo>
                  <a:pt x="2953" y="872"/>
                </a:lnTo>
                <a:lnTo>
                  <a:pt x="2941" y="872"/>
                </a:lnTo>
                <a:lnTo>
                  <a:pt x="2936" y="872"/>
                </a:lnTo>
                <a:lnTo>
                  <a:pt x="2930" y="872"/>
                </a:lnTo>
                <a:lnTo>
                  <a:pt x="2924" y="872"/>
                </a:lnTo>
                <a:lnTo>
                  <a:pt x="2918" y="872"/>
                </a:lnTo>
                <a:lnTo>
                  <a:pt x="2912" y="872"/>
                </a:lnTo>
                <a:lnTo>
                  <a:pt x="2906" y="872"/>
                </a:lnTo>
                <a:lnTo>
                  <a:pt x="2895" y="872"/>
                </a:lnTo>
                <a:lnTo>
                  <a:pt x="2889" y="872"/>
                </a:lnTo>
                <a:lnTo>
                  <a:pt x="2883" y="872"/>
                </a:lnTo>
                <a:lnTo>
                  <a:pt x="2877" y="872"/>
                </a:lnTo>
                <a:lnTo>
                  <a:pt x="2872" y="872"/>
                </a:lnTo>
                <a:lnTo>
                  <a:pt x="2866" y="872"/>
                </a:lnTo>
                <a:lnTo>
                  <a:pt x="2860" y="872"/>
                </a:lnTo>
                <a:lnTo>
                  <a:pt x="2854" y="872"/>
                </a:lnTo>
                <a:lnTo>
                  <a:pt x="2842" y="872"/>
                </a:lnTo>
                <a:lnTo>
                  <a:pt x="2837" y="872"/>
                </a:lnTo>
                <a:lnTo>
                  <a:pt x="2831" y="872"/>
                </a:lnTo>
                <a:lnTo>
                  <a:pt x="2825" y="872"/>
                </a:lnTo>
                <a:lnTo>
                  <a:pt x="2837" y="860"/>
                </a:lnTo>
                <a:lnTo>
                  <a:pt x="2831" y="947"/>
                </a:lnTo>
                <a:lnTo>
                  <a:pt x="2825" y="953"/>
                </a:lnTo>
                <a:lnTo>
                  <a:pt x="2819" y="959"/>
                </a:lnTo>
                <a:lnTo>
                  <a:pt x="2813" y="959"/>
                </a:lnTo>
                <a:lnTo>
                  <a:pt x="2807" y="959"/>
                </a:lnTo>
                <a:lnTo>
                  <a:pt x="2796" y="959"/>
                </a:lnTo>
                <a:lnTo>
                  <a:pt x="2790" y="959"/>
                </a:lnTo>
                <a:lnTo>
                  <a:pt x="2784" y="959"/>
                </a:lnTo>
                <a:lnTo>
                  <a:pt x="2778" y="959"/>
                </a:lnTo>
                <a:lnTo>
                  <a:pt x="2773" y="959"/>
                </a:lnTo>
                <a:lnTo>
                  <a:pt x="2767" y="959"/>
                </a:lnTo>
                <a:lnTo>
                  <a:pt x="2761" y="959"/>
                </a:lnTo>
                <a:lnTo>
                  <a:pt x="2755" y="959"/>
                </a:lnTo>
                <a:lnTo>
                  <a:pt x="2743" y="959"/>
                </a:lnTo>
                <a:lnTo>
                  <a:pt x="2738" y="959"/>
                </a:lnTo>
                <a:lnTo>
                  <a:pt x="2732" y="959"/>
                </a:lnTo>
                <a:lnTo>
                  <a:pt x="2726" y="959"/>
                </a:lnTo>
                <a:lnTo>
                  <a:pt x="2720" y="959"/>
                </a:lnTo>
                <a:lnTo>
                  <a:pt x="2714" y="959"/>
                </a:lnTo>
                <a:lnTo>
                  <a:pt x="2708" y="959"/>
                </a:lnTo>
                <a:lnTo>
                  <a:pt x="2697" y="959"/>
                </a:lnTo>
                <a:lnTo>
                  <a:pt x="2691" y="959"/>
                </a:lnTo>
                <a:lnTo>
                  <a:pt x="2685" y="959"/>
                </a:lnTo>
                <a:lnTo>
                  <a:pt x="2679" y="959"/>
                </a:lnTo>
                <a:lnTo>
                  <a:pt x="2674" y="959"/>
                </a:lnTo>
                <a:lnTo>
                  <a:pt x="2668" y="959"/>
                </a:lnTo>
                <a:lnTo>
                  <a:pt x="2662" y="959"/>
                </a:lnTo>
                <a:lnTo>
                  <a:pt x="2656" y="959"/>
                </a:lnTo>
                <a:lnTo>
                  <a:pt x="2644" y="959"/>
                </a:lnTo>
                <a:lnTo>
                  <a:pt x="2639" y="959"/>
                </a:lnTo>
                <a:lnTo>
                  <a:pt x="2633" y="959"/>
                </a:lnTo>
                <a:lnTo>
                  <a:pt x="2627" y="959"/>
                </a:lnTo>
                <a:lnTo>
                  <a:pt x="2621" y="959"/>
                </a:lnTo>
                <a:lnTo>
                  <a:pt x="2615" y="959"/>
                </a:lnTo>
                <a:lnTo>
                  <a:pt x="2609" y="959"/>
                </a:lnTo>
                <a:lnTo>
                  <a:pt x="2598" y="959"/>
                </a:lnTo>
                <a:lnTo>
                  <a:pt x="2592" y="959"/>
                </a:lnTo>
                <a:lnTo>
                  <a:pt x="2586" y="959"/>
                </a:lnTo>
                <a:lnTo>
                  <a:pt x="2580" y="959"/>
                </a:lnTo>
                <a:lnTo>
                  <a:pt x="2575" y="959"/>
                </a:lnTo>
                <a:lnTo>
                  <a:pt x="2569" y="959"/>
                </a:lnTo>
                <a:lnTo>
                  <a:pt x="2563" y="959"/>
                </a:lnTo>
                <a:lnTo>
                  <a:pt x="2557" y="959"/>
                </a:lnTo>
                <a:lnTo>
                  <a:pt x="2545" y="959"/>
                </a:lnTo>
                <a:lnTo>
                  <a:pt x="2540" y="959"/>
                </a:lnTo>
                <a:lnTo>
                  <a:pt x="2534" y="959"/>
                </a:lnTo>
                <a:lnTo>
                  <a:pt x="2528" y="959"/>
                </a:lnTo>
                <a:lnTo>
                  <a:pt x="2522" y="959"/>
                </a:lnTo>
                <a:lnTo>
                  <a:pt x="2516" y="959"/>
                </a:lnTo>
                <a:lnTo>
                  <a:pt x="2510" y="959"/>
                </a:lnTo>
                <a:lnTo>
                  <a:pt x="2499" y="959"/>
                </a:lnTo>
                <a:lnTo>
                  <a:pt x="2493" y="959"/>
                </a:lnTo>
                <a:lnTo>
                  <a:pt x="2487" y="959"/>
                </a:lnTo>
                <a:lnTo>
                  <a:pt x="2481" y="959"/>
                </a:lnTo>
                <a:lnTo>
                  <a:pt x="2476" y="959"/>
                </a:lnTo>
                <a:lnTo>
                  <a:pt x="2470" y="959"/>
                </a:lnTo>
                <a:lnTo>
                  <a:pt x="2464" y="959"/>
                </a:lnTo>
                <a:lnTo>
                  <a:pt x="2458" y="959"/>
                </a:lnTo>
                <a:lnTo>
                  <a:pt x="2446" y="959"/>
                </a:lnTo>
                <a:lnTo>
                  <a:pt x="2441" y="959"/>
                </a:lnTo>
                <a:lnTo>
                  <a:pt x="2435" y="959"/>
                </a:lnTo>
                <a:lnTo>
                  <a:pt x="2429" y="959"/>
                </a:lnTo>
                <a:lnTo>
                  <a:pt x="2441" y="947"/>
                </a:lnTo>
                <a:lnTo>
                  <a:pt x="2435" y="1284"/>
                </a:lnTo>
                <a:lnTo>
                  <a:pt x="2429" y="1290"/>
                </a:lnTo>
                <a:lnTo>
                  <a:pt x="2423" y="1296"/>
                </a:lnTo>
                <a:lnTo>
                  <a:pt x="2417" y="1296"/>
                </a:lnTo>
                <a:lnTo>
                  <a:pt x="2411" y="1296"/>
                </a:lnTo>
                <a:lnTo>
                  <a:pt x="2400" y="1296"/>
                </a:lnTo>
                <a:lnTo>
                  <a:pt x="2394" y="1296"/>
                </a:lnTo>
                <a:lnTo>
                  <a:pt x="2388" y="1296"/>
                </a:lnTo>
                <a:lnTo>
                  <a:pt x="2382" y="1296"/>
                </a:lnTo>
                <a:lnTo>
                  <a:pt x="2377" y="1296"/>
                </a:lnTo>
                <a:lnTo>
                  <a:pt x="2371" y="1296"/>
                </a:lnTo>
                <a:lnTo>
                  <a:pt x="2365" y="1296"/>
                </a:lnTo>
                <a:lnTo>
                  <a:pt x="2359" y="1296"/>
                </a:lnTo>
                <a:lnTo>
                  <a:pt x="2347" y="1296"/>
                </a:lnTo>
                <a:lnTo>
                  <a:pt x="2342" y="1296"/>
                </a:lnTo>
                <a:lnTo>
                  <a:pt x="2336" y="1296"/>
                </a:lnTo>
                <a:lnTo>
                  <a:pt x="2330" y="1296"/>
                </a:lnTo>
                <a:lnTo>
                  <a:pt x="2324" y="1296"/>
                </a:lnTo>
                <a:lnTo>
                  <a:pt x="2318" y="1296"/>
                </a:lnTo>
                <a:lnTo>
                  <a:pt x="2312" y="1296"/>
                </a:lnTo>
                <a:lnTo>
                  <a:pt x="2301" y="1296"/>
                </a:lnTo>
                <a:lnTo>
                  <a:pt x="2295" y="1296"/>
                </a:lnTo>
                <a:lnTo>
                  <a:pt x="2289" y="1296"/>
                </a:lnTo>
                <a:lnTo>
                  <a:pt x="2283" y="1296"/>
                </a:lnTo>
                <a:lnTo>
                  <a:pt x="2278" y="1296"/>
                </a:lnTo>
                <a:lnTo>
                  <a:pt x="2272" y="1296"/>
                </a:lnTo>
                <a:lnTo>
                  <a:pt x="2266" y="1296"/>
                </a:lnTo>
                <a:lnTo>
                  <a:pt x="2254" y="1296"/>
                </a:lnTo>
                <a:lnTo>
                  <a:pt x="2248" y="1296"/>
                </a:lnTo>
                <a:lnTo>
                  <a:pt x="2243" y="1296"/>
                </a:lnTo>
                <a:lnTo>
                  <a:pt x="2237" y="1296"/>
                </a:lnTo>
                <a:lnTo>
                  <a:pt x="2231" y="1296"/>
                </a:lnTo>
                <a:lnTo>
                  <a:pt x="2225" y="1296"/>
                </a:lnTo>
                <a:lnTo>
                  <a:pt x="2219" y="1296"/>
                </a:lnTo>
                <a:lnTo>
                  <a:pt x="2213" y="1296"/>
                </a:lnTo>
                <a:lnTo>
                  <a:pt x="2202" y="1296"/>
                </a:lnTo>
                <a:lnTo>
                  <a:pt x="2196" y="1296"/>
                </a:lnTo>
                <a:lnTo>
                  <a:pt x="2190" y="1296"/>
                </a:lnTo>
                <a:lnTo>
                  <a:pt x="2184" y="1296"/>
                </a:lnTo>
                <a:lnTo>
                  <a:pt x="2178" y="1296"/>
                </a:lnTo>
                <a:lnTo>
                  <a:pt x="2173" y="1296"/>
                </a:lnTo>
                <a:lnTo>
                  <a:pt x="2167" y="1296"/>
                </a:lnTo>
                <a:lnTo>
                  <a:pt x="2155" y="1296"/>
                </a:lnTo>
                <a:lnTo>
                  <a:pt x="2149" y="1296"/>
                </a:lnTo>
                <a:lnTo>
                  <a:pt x="2144" y="1296"/>
                </a:lnTo>
                <a:lnTo>
                  <a:pt x="2138" y="1296"/>
                </a:lnTo>
                <a:lnTo>
                  <a:pt x="2132" y="1296"/>
                </a:lnTo>
                <a:lnTo>
                  <a:pt x="2126" y="1296"/>
                </a:lnTo>
                <a:lnTo>
                  <a:pt x="2120" y="1296"/>
                </a:lnTo>
                <a:lnTo>
                  <a:pt x="2114" y="1296"/>
                </a:lnTo>
                <a:lnTo>
                  <a:pt x="2103" y="1296"/>
                </a:lnTo>
                <a:lnTo>
                  <a:pt x="2097" y="1296"/>
                </a:lnTo>
                <a:lnTo>
                  <a:pt x="2091" y="1296"/>
                </a:lnTo>
                <a:lnTo>
                  <a:pt x="2085" y="1296"/>
                </a:lnTo>
                <a:lnTo>
                  <a:pt x="2079" y="1296"/>
                </a:lnTo>
                <a:lnTo>
                  <a:pt x="2074" y="1296"/>
                </a:lnTo>
                <a:lnTo>
                  <a:pt x="2068" y="1296"/>
                </a:lnTo>
                <a:lnTo>
                  <a:pt x="2056" y="1296"/>
                </a:lnTo>
                <a:lnTo>
                  <a:pt x="2050" y="1296"/>
                </a:lnTo>
                <a:lnTo>
                  <a:pt x="2045" y="1296"/>
                </a:lnTo>
                <a:lnTo>
                  <a:pt x="2039" y="1296"/>
                </a:lnTo>
                <a:lnTo>
                  <a:pt x="2033" y="1296"/>
                </a:lnTo>
                <a:lnTo>
                  <a:pt x="2027" y="1296"/>
                </a:lnTo>
                <a:lnTo>
                  <a:pt x="2039" y="1284"/>
                </a:lnTo>
                <a:lnTo>
                  <a:pt x="2033" y="1453"/>
                </a:lnTo>
                <a:lnTo>
                  <a:pt x="2027" y="1459"/>
                </a:lnTo>
                <a:lnTo>
                  <a:pt x="2021" y="1465"/>
                </a:lnTo>
                <a:lnTo>
                  <a:pt x="2015" y="1465"/>
                </a:lnTo>
                <a:lnTo>
                  <a:pt x="2004" y="1465"/>
                </a:lnTo>
                <a:lnTo>
                  <a:pt x="1998" y="1465"/>
                </a:lnTo>
                <a:lnTo>
                  <a:pt x="1992" y="1465"/>
                </a:lnTo>
                <a:lnTo>
                  <a:pt x="1986" y="1465"/>
                </a:lnTo>
                <a:lnTo>
                  <a:pt x="1980" y="1465"/>
                </a:lnTo>
                <a:lnTo>
                  <a:pt x="1975" y="1465"/>
                </a:lnTo>
                <a:lnTo>
                  <a:pt x="1969" y="1465"/>
                </a:lnTo>
                <a:lnTo>
                  <a:pt x="1957" y="1465"/>
                </a:lnTo>
                <a:lnTo>
                  <a:pt x="1951" y="1465"/>
                </a:lnTo>
                <a:lnTo>
                  <a:pt x="1946" y="1465"/>
                </a:lnTo>
                <a:lnTo>
                  <a:pt x="1940" y="1465"/>
                </a:lnTo>
                <a:lnTo>
                  <a:pt x="1934" y="1465"/>
                </a:lnTo>
                <a:lnTo>
                  <a:pt x="1928" y="1465"/>
                </a:lnTo>
                <a:lnTo>
                  <a:pt x="1922" y="1465"/>
                </a:lnTo>
                <a:lnTo>
                  <a:pt x="1916" y="1465"/>
                </a:lnTo>
                <a:lnTo>
                  <a:pt x="1905" y="1465"/>
                </a:lnTo>
                <a:lnTo>
                  <a:pt x="1899" y="1465"/>
                </a:lnTo>
                <a:lnTo>
                  <a:pt x="1893" y="1465"/>
                </a:lnTo>
                <a:lnTo>
                  <a:pt x="1887" y="1465"/>
                </a:lnTo>
                <a:lnTo>
                  <a:pt x="1881" y="1465"/>
                </a:lnTo>
                <a:lnTo>
                  <a:pt x="1876" y="1465"/>
                </a:lnTo>
                <a:lnTo>
                  <a:pt x="1870" y="1465"/>
                </a:lnTo>
                <a:lnTo>
                  <a:pt x="1858" y="1465"/>
                </a:lnTo>
                <a:lnTo>
                  <a:pt x="1852" y="1465"/>
                </a:lnTo>
                <a:lnTo>
                  <a:pt x="1847" y="1465"/>
                </a:lnTo>
                <a:lnTo>
                  <a:pt x="1841" y="1465"/>
                </a:lnTo>
                <a:lnTo>
                  <a:pt x="1835" y="1465"/>
                </a:lnTo>
                <a:lnTo>
                  <a:pt x="1829" y="1465"/>
                </a:lnTo>
                <a:lnTo>
                  <a:pt x="1823" y="1465"/>
                </a:lnTo>
                <a:lnTo>
                  <a:pt x="1817" y="1465"/>
                </a:lnTo>
                <a:lnTo>
                  <a:pt x="1806" y="1465"/>
                </a:lnTo>
                <a:lnTo>
                  <a:pt x="1800" y="1465"/>
                </a:lnTo>
                <a:lnTo>
                  <a:pt x="1794" y="1465"/>
                </a:lnTo>
                <a:lnTo>
                  <a:pt x="1788" y="1465"/>
                </a:lnTo>
                <a:lnTo>
                  <a:pt x="1782" y="1465"/>
                </a:lnTo>
                <a:lnTo>
                  <a:pt x="1777" y="1465"/>
                </a:lnTo>
                <a:lnTo>
                  <a:pt x="1771" y="1465"/>
                </a:lnTo>
                <a:lnTo>
                  <a:pt x="1759" y="1465"/>
                </a:lnTo>
                <a:lnTo>
                  <a:pt x="1753" y="1465"/>
                </a:lnTo>
                <a:lnTo>
                  <a:pt x="1748" y="1465"/>
                </a:lnTo>
                <a:lnTo>
                  <a:pt x="1742" y="1465"/>
                </a:lnTo>
                <a:lnTo>
                  <a:pt x="1736" y="1465"/>
                </a:lnTo>
                <a:lnTo>
                  <a:pt x="1730" y="1465"/>
                </a:lnTo>
                <a:lnTo>
                  <a:pt x="1724" y="1465"/>
                </a:lnTo>
                <a:lnTo>
                  <a:pt x="1718" y="1465"/>
                </a:lnTo>
                <a:lnTo>
                  <a:pt x="1707" y="1465"/>
                </a:lnTo>
                <a:lnTo>
                  <a:pt x="1701" y="1465"/>
                </a:lnTo>
                <a:lnTo>
                  <a:pt x="1695" y="1465"/>
                </a:lnTo>
                <a:lnTo>
                  <a:pt x="1689" y="1465"/>
                </a:lnTo>
                <a:lnTo>
                  <a:pt x="1683" y="1465"/>
                </a:lnTo>
                <a:lnTo>
                  <a:pt x="1678" y="1465"/>
                </a:lnTo>
                <a:lnTo>
                  <a:pt x="1672" y="1465"/>
                </a:lnTo>
                <a:lnTo>
                  <a:pt x="1660" y="1465"/>
                </a:lnTo>
                <a:lnTo>
                  <a:pt x="1654" y="1465"/>
                </a:lnTo>
                <a:lnTo>
                  <a:pt x="1649" y="1465"/>
                </a:lnTo>
                <a:lnTo>
                  <a:pt x="1643" y="1465"/>
                </a:lnTo>
                <a:lnTo>
                  <a:pt x="1637" y="1465"/>
                </a:lnTo>
                <a:lnTo>
                  <a:pt x="1631" y="1465"/>
                </a:lnTo>
                <a:lnTo>
                  <a:pt x="1643" y="1453"/>
                </a:lnTo>
                <a:lnTo>
                  <a:pt x="1637" y="1575"/>
                </a:lnTo>
                <a:lnTo>
                  <a:pt x="1631" y="1581"/>
                </a:lnTo>
                <a:lnTo>
                  <a:pt x="1625" y="1587"/>
                </a:lnTo>
                <a:lnTo>
                  <a:pt x="1619" y="1587"/>
                </a:lnTo>
                <a:lnTo>
                  <a:pt x="1608" y="1587"/>
                </a:lnTo>
                <a:lnTo>
                  <a:pt x="1602" y="1587"/>
                </a:lnTo>
                <a:lnTo>
                  <a:pt x="1596" y="1587"/>
                </a:lnTo>
                <a:lnTo>
                  <a:pt x="1590" y="1587"/>
                </a:lnTo>
                <a:lnTo>
                  <a:pt x="1584" y="1587"/>
                </a:lnTo>
                <a:lnTo>
                  <a:pt x="1579" y="1587"/>
                </a:lnTo>
                <a:lnTo>
                  <a:pt x="1573" y="1587"/>
                </a:lnTo>
                <a:lnTo>
                  <a:pt x="1561" y="1587"/>
                </a:lnTo>
                <a:lnTo>
                  <a:pt x="1555" y="1587"/>
                </a:lnTo>
                <a:lnTo>
                  <a:pt x="1550" y="1587"/>
                </a:lnTo>
                <a:lnTo>
                  <a:pt x="1544" y="1587"/>
                </a:lnTo>
                <a:lnTo>
                  <a:pt x="1538" y="1587"/>
                </a:lnTo>
                <a:lnTo>
                  <a:pt x="1532" y="1587"/>
                </a:lnTo>
                <a:lnTo>
                  <a:pt x="1526" y="1587"/>
                </a:lnTo>
                <a:lnTo>
                  <a:pt x="1520" y="1587"/>
                </a:lnTo>
                <a:lnTo>
                  <a:pt x="1509" y="1587"/>
                </a:lnTo>
                <a:lnTo>
                  <a:pt x="1503" y="1587"/>
                </a:lnTo>
                <a:lnTo>
                  <a:pt x="1497" y="1587"/>
                </a:lnTo>
                <a:lnTo>
                  <a:pt x="1491" y="1587"/>
                </a:lnTo>
                <a:lnTo>
                  <a:pt x="1485" y="1587"/>
                </a:lnTo>
                <a:lnTo>
                  <a:pt x="1480" y="1587"/>
                </a:lnTo>
                <a:lnTo>
                  <a:pt x="1474" y="1587"/>
                </a:lnTo>
                <a:lnTo>
                  <a:pt x="1462" y="1587"/>
                </a:lnTo>
                <a:lnTo>
                  <a:pt x="1456" y="1587"/>
                </a:lnTo>
                <a:lnTo>
                  <a:pt x="1451" y="1587"/>
                </a:lnTo>
                <a:lnTo>
                  <a:pt x="1445" y="1587"/>
                </a:lnTo>
                <a:lnTo>
                  <a:pt x="1439" y="1587"/>
                </a:lnTo>
                <a:lnTo>
                  <a:pt x="1433" y="1587"/>
                </a:lnTo>
                <a:lnTo>
                  <a:pt x="1427" y="1587"/>
                </a:lnTo>
                <a:lnTo>
                  <a:pt x="1421" y="1587"/>
                </a:lnTo>
                <a:lnTo>
                  <a:pt x="1410" y="1587"/>
                </a:lnTo>
                <a:lnTo>
                  <a:pt x="1404" y="1587"/>
                </a:lnTo>
                <a:lnTo>
                  <a:pt x="1398" y="1587"/>
                </a:lnTo>
                <a:lnTo>
                  <a:pt x="1392" y="1587"/>
                </a:lnTo>
                <a:lnTo>
                  <a:pt x="1386" y="1587"/>
                </a:lnTo>
                <a:lnTo>
                  <a:pt x="1381" y="1587"/>
                </a:lnTo>
                <a:lnTo>
                  <a:pt x="1375" y="1587"/>
                </a:lnTo>
                <a:lnTo>
                  <a:pt x="1363" y="1587"/>
                </a:lnTo>
                <a:lnTo>
                  <a:pt x="1357" y="1587"/>
                </a:lnTo>
                <a:lnTo>
                  <a:pt x="1352" y="1587"/>
                </a:lnTo>
                <a:lnTo>
                  <a:pt x="1346" y="1587"/>
                </a:lnTo>
                <a:lnTo>
                  <a:pt x="1340" y="1587"/>
                </a:lnTo>
                <a:lnTo>
                  <a:pt x="1334" y="1587"/>
                </a:lnTo>
                <a:lnTo>
                  <a:pt x="1328" y="1587"/>
                </a:lnTo>
                <a:lnTo>
                  <a:pt x="1317" y="1587"/>
                </a:lnTo>
                <a:lnTo>
                  <a:pt x="1311" y="1587"/>
                </a:lnTo>
                <a:lnTo>
                  <a:pt x="1305" y="1587"/>
                </a:lnTo>
                <a:lnTo>
                  <a:pt x="1299" y="1587"/>
                </a:lnTo>
                <a:lnTo>
                  <a:pt x="1293" y="1587"/>
                </a:lnTo>
                <a:lnTo>
                  <a:pt x="1287" y="1587"/>
                </a:lnTo>
                <a:lnTo>
                  <a:pt x="1282" y="1587"/>
                </a:lnTo>
                <a:lnTo>
                  <a:pt x="1276" y="1587"/>
                </a:lnTo>
                <a:lnTo>
                  <a:pt x="1264" y="1587"/>
                </a:lnTo>
                <a:lnTo>
                  <a:pt x="1258" y="1587"/>
                </a:lnTo>
                <a:lnTo>
                  <a:pt x="1253" y="1587"/>
                </a:lnTo>
                <a:lnTo>
                  <a:pt x="1264" y="1575"/>
                </a:lnTo>
                <a:lnTo>
                  <a:pt x="1258" y="1610"/>
                </a:lnTo>
                <a:lnTo>
                  <a:pt x="1253" y="1616"/>
                </a:lnTo>
                <a:lnTo>
                  <a:pt x="1247" y="1622"/>
                </a:lnTo>
                <a:lnTo>
                  <a:pt x="1241" y="1622"/>
                </a:lnTo>
                <a:lnTo>
                  <a:pt x="1235" y="1622"/>
                </a:lnTo>
                <a:lnTo>
                  <a:pt x="1229" y="1622"/>
                </a:lnTo>
                <a:lnTo>
                  <a:pt x="1218" y="1622"/>
                </a:lnTo>
                <a:lnTo>
                  <a:pt x="1212" y="1622"/>
                </a:lnTo>
                <a:lnTo>
                  <a:pt x="1206" y="1622"/>
                </a:lnTo>
                <a:lnTo>
                  <a:pt x="1200" y="1622"/>
                </a:lnTo>
                <a:lnTo>
                  <a:pt x="1194" y="1622"/>
                </a:lnTo>
                <a:lnTo>
                  <a:pt x="1188" y="1622"/>
                </a:lnTo>
                <a:lnTo>
                  <a:pt x="1183" y="1622"/>
                </a:lnTo>
                <a:lnTo>
                  <a:pt x="1177" y="1622"/>
                </a:lnTo>
                <a:lnTo>
                  <a:pt x="1165" y="1622"/>
                </a:lnTo>
                <a:lnTo>
                  <a:pt x="1159" y="1622"/>
                </a:lnTo>
                <a:lnTo>
                  <a:pt x="1154" y="1622"/>
                </a:lnTo>
                <a:lnTo>
                  <a:pt x="1148" y="1622"/>
                </a:lnTo>
                <a:lnTo>
                  <a:pt x="1142" y="1622"/>
                </a:lnTo>
                <a:lnTo>
                  <a:pt x="1136" y="1622"/>
                </a:lnTo>
                <a:lnTo>
                  <a:pt x="1130" y="1622"/>
                </a:lnTo>
                <a:lnTo>
                  <a:pt x="1119" y="1622"/>
                </a:lnTo>
                <a:lnTo>
                  <a:pt x="1113" y="1622"/>
                </a:lnTo>
                <a:lnTo>
                  <a:pt x="1107" y="1622"/>
                </a:lnTo>
                <a:lnTo>
                  <a:pt x="1101" y="1622"/>
                </a:lnTo>
                <a:lnTo>
                  <a:pt x="1095" y="1622"/>
                </a:lnTo>
                <a:lnTo>
                  <a:pt x="1089" y="1622"/>
                </a:lnTo>
                <a:lnTo>
                  <a:pt x="1084" y="1622"/>
                </a:lnTo>
                <a:lnTo>
                  <a:pt x="1078" y="1622"/>
                </a:lnTo>
                <a:lnTo>
                  <a:pt x="1066" y="1622"/>
                </a:lnTo>
                <a:lnTo>
                  <a:pt x="1060" y="1622"/>
                </a:lnTo>
                <a:lnTo>
                  <a:pt x="1055" y="1622"/>
                </a:lnTo>
                <a:lnTo>
                  <a:pt x="1049" y="1622"/>
                </a:lnTo>
                <a:lnTo>
                  <a:pt x="1043" y="1622"/>
                </a:lnTo>
                <a:lnTo>
                  <a:pt x="1037" y="1622"/>
                </a:lnTo>
                <a:lnTo>
                  <a:pt x="1031" y="1622"/>
                </a:lnTo>
                <a:lnTo>
                  <a:pt x="1020" y="1622"/>
                </a:lnTo>
                <a:lnTo>
                  <a:pt x="1014" y="1622"/>
                </a:lnTo>
                <a:lnTo>
                  <a:pt x="1008" y="1622"/>
                </a:lnTo>
                <a:lnTo>
                  <a:pt x="1002" y="1622"/>
                </a:lnTo>
                <a:lnTo>
                  <a:pt x="996" y="1622"/>
                </a:lnTo>
                <a:lnTo>
                  <a:pt x="990" y="1622"/>
                </a:lnTo>
                <a:lnTo>
                  <a:pt x="985" y="1622"/>
                </a:lnTo>
                <a:lnTo>
                  <a:pt x="979" y="1622"/>
                </a:lnTo>
                <a:lnTo>
                  <a:pt x="967" y="1622"/>
                </a:lnTo>
                <a:lnTo>
                  <a:pt x="961" y="1622"/>
                </a:lnTo>
                <a:lnTo>
                  <a:pt x="956" y="1622"/>
                </a:lnTo>
                <a:lnTo>
                  <a:pt x="950" y="1622"/>
                </a:lnTo>
                <a:lnTo>
                  <a:pt x="944" y="1622"/>
                </a:lnTo>
                <a:lnTo>
                  <a:pt x="938" y="1622"/>
                </a:lnTo>
                <a:lnTo>
                  <a:pt x="950" y="1610"/>
                </a:lnTo>
                <a:lnTo>
                  <a:pt x="944" y="1656"/>
                </a:lnTo>
                <a:lnTo>
                  <a:pt x="938" y="1662"/>
                </a:lnTo>
                <a:lnTo>
                  <a:pt x="932" y="1668"/>
                </a:lnTo>
                <a:lnTo>
                  <a:pt x="921" y="1668"/>
                </a:lnTo>
                <a:lnTo>
                  <a:pt x="915" y="1668"/>
                </a:lnTo>
                <a:lnTo>
                  <a:pt x="909" y="1668"/>
                </a:lnTo>
                <a:lnTo>
                  <a:pt x="903" y="1668"/>
                </a:lnTo>
                <a:lnTo>
                  <a:pt x="897" y="1668"/>
                </a:lnTo>
                <a:lnTo>
                  <a:pt x="891" y="1668"/>
                </a:lnTo>
                <a:lnTo>
                  <a:pt x="886" y="1668"/>
                </a:lnTo>
                <a:lnTo>
                  <a:pt x="880" y="1668"/>
                </a:lnTo>
                <a:lnTo>
                  <a:pt x="868" y="1668"/>
                </a:lnTo>
                <a:lnTo>
                  <a:pt x="862" y="1668"/>
                </a:lnTo>
                <a:lnTo>
                  <a:pt x="857" y="1668"/>
                </a:lnTo>
                <a:lnTo>
                  <a:pt x="851" y="1668"/>
                </a:lnTo>
                <a:lnTo>
                  <a:pt x="845" y="1668"/>
                </a:lnTo>
                <a:lnTo>
                  <a:pt x="839" y="1668"/>
                </a:lnTo>
                <a:lnTo>
                  <a:pt x="833" y="1668"/>
                </a:lnTo>
                <a:lnTo>
                  <a:pt x="822" y="1668"/>
                </a:lnTo>
                <a:lnTo>
                  <a:pt x="816" y="1668"/>
                </a:lnTo>
                <a:lnTo>
                  <a:pt x="810" y="1668"/>
                </a:lnTo>
                <a:lnTo>
                  <a:pt x="804" y="1668"/>
                </a:lnTo>
                <a:lnTo>
                  <a:pt x="798" y="1668"/>
                </a:lnTo>
                <a:lnTo>
                  <a:pt x="792" y="1668"/>
                </a:lnTo>
                <a:lnTo>
                  <a:pt x="787" y="1668"/>
                </a:lnTo>
                <a:lnTo>
                  <a:pt x="781" y="1668"/>
                </a:lnTo>
                <a:lnTo>
                  <a:pt x="769" y="1668"/>
                </a:lnTo>
                <a:lnTo>
                  <a:pt x="763" y="1668"/>
                </a:lnTo>
                <a:lnTo>
                  <a:pt x="758" y="1668"/>
                </a:lnTo>
                <a:lnTo>
                  <a:pt x="752" y="1668"/>
                </a:lnTo>
                <a:lnTo>
                  <a:pt x="746" y="1668"/>
                </a:lnTo>
                <a:lnTo>
                  <a:pt x="740" y="1668"/>
                </a:lnTo>
                <a:lnTo>
                  <a:pt x="734" y="1668"/>
                </a:lnTo>
                <a:lnTo>
                  <a:pt x="723" y="1668"/>
                </a:lnTo>
                <a:lnTo>
                  <a:pt x="717" y="1668"/>
                </a:lnTo>
                <a:lnTo>
                  <a:pt x="711" y="1668"/>
                </a:lnTo>
                <a:lnTo>
                  <a:pt x="705" y="1668"/>
                </a:lnTo>
                <a:lnTo>
                  <a:pt x="699" y="1668"/>
                </a:lnTo>
                <a:lnTo>
                  <a:pt x="693" y="1668"/>
                </a:lnTo>
                <a:lnTo>
                  <a:pt x="688" y="1668"/>
                </a:lnTo>
                <a:lnTo>
                  <a:pt x="682" y="1668"/>
                </a:lnTo>
                <a:lnTo>
                  <a:pt x="670" y="1668"/>
                </a:lnTo>
                <a:lnTo>
                  <a:pt x="664" y="1668"/>
                </a:lnTo>
                <a:lnTo>
                  <a:pt x="659" y="1668"/>
                </a:lnTo>
                <a:lnTo>
                  <a:pt x="653" y="1668"/>
                </a:lnTo>
                <a:lnTo>
                  <a:pt x="647" y="1668"/>
                </a:lnTo>
                <a:lnTo>
                  <a:pt x="641" y="1668"/>
                </a:lnTo>
                <a:lnTo>
                  <a:pt x="635" y="1668"/>
                </a:lnTo>
                <a:lnTo>
                  <a:pt x="624" y="1668"/>
                </a:lnTo>
                <a:lnTo>
                  <a:pt x="618" y="1668"/>
                </a:lnTo>
                <a:lnTo>
                  <a:pt x="612" y="1668"/>
                </a:lnTo>
                <a:lnTo>
                  <a:pt x="606" y="1668"/>
                </a:lnTo>
                <a:lnTo>
                  <a:pt x="600" y="1668"/>
                </a:lnTo>
                <a:lnTo>
                  <a:pt x="594" y="1668"/>
                </a:lnTo>
                <a:lnTo>
                  <a:pt x="589" y="1668"/>
                </a:lnTo>
                <a:lnTo>
                  <a:pt x="583" y="1668"/>
                </a:lnTo>
                <a:lnTo>
                  <a:pt x="571" y="1668"/>
                </a:lnTo>
                <a:lnTo>
                  <a:pt x="565" y="1668"/>
                </a:lnTo>
                <a:lnTo>
                  <a:pt x="560" y="1668"/>
                </a:lnTo>
                <a:lnTo>
                  <a:pt x="554" y="1668"/>
                </a:lnTo>
                <a:lnTo>
                  <a:pt x="548" y="1668"/>
                </a:lnTo>
                <a:lnTo>
                  <a:pt x="542" y="1668"/>
                </a:lnTo>
                <a:lnTo>
                  <a:pt x="536" y="1668"/>
                </a:lnTo>
                <a:lnTo>
                  <a:pt x="525" y="1668"/>
                </a:lnTo>
                <a:lnTo>
                  <a:pt x="519" y="1668"/>
                </a:lnTo>
                <a:lnTo>
                  <a:pt x="513" y="1668"/>
                </a:lnTo>
                <a:lnTo>
                  <a:pt x="507" y="1668"/>
                </a:lnTo>
                <a:lnTo>
                  <a:pt x="501" y="1668"/>
                </a:lnTo>
                <a:lnTo>
                  <a:pt x="495" y="1668"/>
                </a:lnTo>
                <a:lnTo>
                  <a:pt x="490" y="1668"/>
                </a:lnTo>
                <a:lnTo>
                  <a:pt x="501" y="1656"/>
                </a:lnTo>
                <a:lnTo>
                  <a:pt x="495" y="1744"/>
                </a:lnTo>
                <a:lnTo>
                  <a:pt x="490" y="1749"/>
                </a:lnTo>
                <a:lnTo>
                  <a:pt x="484" y="1755"/>
                </a:lnTo>
                <a:lnTo>
                  <a:pt x="472" y="1755"/>
                </a:lnTo>
                <a:lnTo>
                  <a:pt x="466" y="1755"/>
                </a:lnTo>
                <a:lnTo>
                  <a:pt x="460" y="1755"/>
                </a:lnTo>
                <a:lnTo>
                  <a:pt x="455" y="1755"/>
                </a:lnTo>
                <a:lnTo>
                  <a:pt x="449" y="1755"/>
                </a:lnTo>
                <a:lnTo>
                  <a:pt x="443" y="1755"/>
                </a:lnTo>
                <a:lnTo>
                  <a:pt x="437" y="1755"/>
                </a:lnTo>
                <a:lnTo>
                  <a:pt x="426" y="1755"/>
                </a:lnTo>
                <a:lnTo>
                  <a:pt x="420" y="1755"/>
                </a:lnTo>
                <a:lnTo>
                  <a:pt x="414" y="1755"/>
                </a:lnTo>
                <a:lnTo>
                  <a:pt x="408" y="1755"/>
                </a:lnTo>
                <a:lnTo>
                  <a:pt x="402" y="1755"/>
                </a:lnTo>
                <a:lnTo>
                  <a:pt x="396" y="1755"/>
                </a:lnTo>
                <a:lnTo>
                  <a:pt x="391" y="1755"/>
                </a:lnTo>
                <a:lnTo>
                  <a:pt x="379" y="1755"/>
                </a:lnTo>
                <a:lnTo>
                  <a:pt x="373" y="1755"/>
                </a:lnTo>
                <a:lnTo>
                  <a:pt x="367" y="1755"/>
                </a:lnTo>
                <a:lnTo>
                  <a:pt x="361" y="1755"/>
                </a:lnTo>
                <a:lnTo>
                  <a:pt x="356" y="1755"/>
                </a:lnTo>
                <a:lnTo>
                  <a:pt x="350" y="1755"/>
                </a:lnTo>
                <a:lnTo>
                  <a:pt x="344" y="1755"/>
                </a:lnTo>
                <a:lnTo>
                  <a:pt x="338" y="1755"/>
                </a:lnTo>
                <a:lnTo>
                  <a:pt x="327" y="1755"/>
                </a:lnTo>
                <a:lnTo>
                  <a:pt x="321" y="1755"/>
                </a:lnTo>
                <a:lnTo>
                  <a:pt x="315" y="1755"/>
                </a:lnTo>
                <a:lnTo>
                  <a:pt x="309" y="1755"/>
                </a:lnTo>
                <a:lnTo>
                  <a:pt x="303" y="1755"/>
                </a:lnTo>
                <a:lnTo>
                  <a:pt x="297" y="1755"/>
                </a:lnTo>
                <a:lnTo>
                  <a:pt x="292" y="1755"/>
                </a:lnTo>
                <a:lnTo>
                  <a:pt x="280" y="1755"/>
                </a:lnTo>
                <a:lnTo>
                  <a:pt x="274" y="1755"/>
                </a:lnTo>
                <a:lnTo>
                  <a:pt x="268" y="1755"/>
                </a:lnTo>
                <a:lnTo>
                  <a:pt x="262" y="1755"/>
                </a:lnTo>
                <a:lnTo>
                  <a:pt x="257" y="1755"/>
                </a:lnTo>
                <a:lnTo>
                  <a:pt x="251" y="1755"/>
                </a:lnTo>
                <a:lnTo>
                  <a:pt x="245" y="1755"/>
                </a:lnTo>
                <a:lnTo>
                  <a:pt x="239" y="1755"/>
                </a:lnTo>
                <a:lnTo>
                  <a:pt x="228" y="1755"/>
                </a:lnTo>
                <a:lnTo>
                  <a:pt x="222" y="1755"/>
                </a:lnTo>
                <a:lnTo>
                  <a:pt x="216" y="1755"/>
                </a:lnTo>
                <a:lnTo>
                  <a:pt x="210" y="1755"/>
                </a:lnTo>
                <a:lnTo>
                  <a:pt x="204" y="1755"/>
                </a:lnTo>
                <a:lnTo>
                  <a:pt x="198" y="1755"/>
                </a:lnTo>
                <a:lnTo>
                  <a:pt x="193" y="1755"/>
                </a:lnTo>
                <a:lnTo>
                  <a:pt x="181" y="1755"/>
                </a:lnTo>
                <a:lnTo>
                  <a:pt x="175" y="1755"/>
                </a:lnTo>
                <a:lnTo>
                  <a:pt x="169" y="1755"/>
                </a:lnTo>
                <a:lnTo>
                  <a:pt x="163" y="1755"/>
                </a:lnTo>
                <a:lnTo>
                  <a:pt x="158" y="1755"/>
                </a:lnTo>
                <a:lnTo>
                  <a:pt x="152" y="1755"/>
                </a:lnTo>
                <a:lnTo>
                  <a:pt x="146" y="1755"/>
                </a:lnTo>
                <a:lnTo>
                  <a:pt x="140" y="1755"/>
                </a:lnTo>
                <a:lnTo>
                  <a:pt x="129" y="1755"/>
                </a:lnTo>
                <a:lnTo>
                  <a:pt x="123" y="1755"/>
                </a:lnTo>
                <a:lnTo>
                  <a:pt x="117" y="1755"/>
                </a:lnTo>
                <a:lnTo>
                  <a:pt x="111" y="1755"/>
                </a:lnTo>
                <a:lnTo>
                  <a:pt x="105" y="1755"/>
                </a:lnTo>
                <a:lnTo>
                  <a:pt x="99" y="1755"/>
                </a:lnTo>
                <a:lnTo>
                  <a:pt x="94" y="1755"/>
                </a:lnTo>
                <a:lnTo>
                  <a:pt x="82" y="1755"/>
                </a:lnTo>
                <a:lnTo>
                  <a:pt x="76" y="1755"/>
                </a:lnTo>
                <a:lnTo>
                  <a:pt x="70" y="1755"/>
                </a:lnTo>
                <a:lnTo>
                  <a:pt x="64" y="1755"/>
                </a:lnTo>
                <a:lnTo>
                  <a:pt x="59" y="1755"/>
                </a:lnTo>
                <a:lnTo>
                  <a:pt x="53" y="1755"/>
                </a:lnTo>
                <a:lnTo>
                  <a:pt x="47" y="1755"/>
                </a:lnTo>
                <a:lnTo>
                  <a:pt x="41" y="1755"/>
                </a:lnTo>
                <a:lnTo>
                  <a:pt x="30" y="1755"/>
                </a:lnTo>
                <a:lnTo>
                  <a:pt x="24" y="1755"/>
                </a:lnTo>
                <a:lnTo>
                  <a:pt x="18" y="1755"/>
                </a:lnTo>
                <a:lnTo>
                  <a:pt x="12" y="1755"/>
                </a:lnTo>
                <a:lnTo>
                  <a:pt x="0" y="1749"/>
                </a:lnTo>
                <a:lnTo>
                  <a:pt x="0" y="1744"/>
                </a:lnTo>
                <a:lnTo>
                  <a:pt x="0" y="1732"/>
                </a:lnTo>
                <a:lnTo>
                  <a:pt x="12" y="1732"/>
                </a:lnTo>
                <a:close/>
              </a:path>
            </a:pathLst>
          </a:custGeom>
          <a:solidFill>
            <a:srgbClr val="1F497D"/>
          </a:solidFill>
          <a:ln w="19050">
            <a:solidFill>
              <a:srgbClr val="1F497D"/>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6093" name="Rectangle 18"/>
          <p:cNvSpPr>
            <a:spLocks noChangeArrowheads="1"/>
          </p:cNvSpPr>
          <p:nvPr/>
        </p:nvSpPr>
        <p:spPr bwMode="auto">
          <a:xfrm>
            <a:off x="400983" y="3010158"/>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$0</a:t>
            </a:r>
            <a:endParaRPr lang="en-US" altLang="zh-CN" sz="910">
              <a:solidFill>
                <a:srgbClr val="000000"/>
              </a:solidFill>
              <a:ea typeface="宋体" pitchFamily="2" charset="-122"/>
            </a:endParaRPr>
          </a:p>
        </p:txBody>
      </p:sp>
      <p:sp>
        <p:nvSpPr>
          <p:cNvPr id="46094" name="Rectangle 19"/>
          <p:cNvSpPr>
            <a:spLocks noChangeArrowheads="1"/>
          </p:cNvSpPr>
          <p:nvPr/>
        </p:nvSpPr>
        <p:spPr bwMode="auto">
          <a:xfrm>
            <a:off x="400983" y="2740435"/>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a:t>
            </a:r>
            <a:endParaRPr lang="en-US" altLang="zh-CN" sz="910">
              <a:solidFill>
                <a:srgbClr val="000000"/>
              </a:solidFill>
              <a:ea typeface="宋体" pitchFamily="2" charset="-122"/>
            </a:endParaRPr>
          </a:p>
        </p:txBody>
      </p:sp>
      <p:sp>
        <p:nvSpPr>
          <p:cNvPr id="46095" name="Rectangle 20"/>
          <p:cNvSpPr>
            <a:spLocks noChangeArrowheads="1"/>
          </p:cNvSpPr>
          <p:nvPr/>
        </p:nvSpPr>
        <p:spPr bwMode="auto">
          <a:xfrm>
            <a:off x="400983" y="2470713"/>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$2</a:t>
            </a:r>
            <a:endParaRPr lang="en-US" altLang="zh-CN" sz="910">
              <a:solidFill>
                <a:srgbClr val="000000"/>
              </a:solidFill>
              <a:ea typeface="宋体" pitchFamily="2" charset="-122"/>
            </a:endParaRPr>
          </a:p>
        </p:txBody>
      </p:sp>
      <p:sp>
        <p:nvSpPr>
          <p:cNvPr id="46096" name="Rectangle 21"/>
          <p:cNvSpPr>
            <a:spLocks noChangeArrowheads="1"/>
          </p:cNvSpPr>
          <p:nvPr/>
        </p:nvSpPr>
        <p:spPr bwMode="auto">
          <a:xfrm>
            <a:off x="400983" y="2196187"/>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$3</a:t>
            </a:r>
            <a:endParaRPr lang="en-US" altLang="zh-CN" sz="910">
              <a:solidFill>
                <a:srgbClr val="000000"/>
              </a:solidFill>
              <a:ea typeface="宋体" pitchFamily="2" charset="-122"/>
            </a:endParaRPr>
          </a:p>
        </p:txBody>
      </p:sp>
      <p:sp>
        <p:nvSpPr>
          <p:cNvPr id="46097" name="Rectangle 22"/>
          <p:cNvSpPr>
            <a:spLocks noChangeArrowheads="1"/>
          </p:cNvSpPr>
          <p:nvPr/>
        </p:nvSpPr>
        <p:spPr bwMode="auto">
          <a:xfrm>
            <a:off x="400983" y="1926465"/>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$4</a:t>
            </a:r>
            <a:endParaRPr lang="en-US" altLang="zh-CN" sz="910">
              <a:solidFill>
                <a:srgbClr val="000000"/>
              </a:solidFill>
              <a:ea typeface="宋体" pitchFamily="2" charset="-122"/>
            </a:endParaRPr>
          </a:p>
        </p:txBody>
      </p:sp>
      <p:sp>
        <p:nvSpPr>
          <p:cNvPr id="46098" name="Rectangle 23"/>
          <p:cNvSpPr>
            <a:spLocks noChangeArrowheads="1"/>
          </p:cNvSpPr>
          <p:nvPr/>
        </p:nvSpPr>
        <p:spPr bwMode="auto">
          <a:xfrm>
            <a:off x="400983" y="1655941"/>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$5</a:t>
            </a:r>
            <a:endParaRPr lang="en-US" altLang="zh-CN" sz="910">
              <a:solidFill>
                <a:srgbClr val="000000"/>
              </a:solidFill>
              <a:ea typeface="宋体" pitchFamily="2" charset="-122"/>
            </a:endParaRPr>
          </a:p>
        </p:txBody>
      </p:sp>
      <p:sp>
        <p:nvSpPr>
          <p:cNvPr id="46099" name="Rectangle 24"/>
          <p:cNvSpPr>
            <a:spLocks noChangeArrowheads="1"/>
          </p:cNvSpPr>
          <p:nvPr/>
        </p:nvSpPr>
        <p:spPr bwMode="auto">
          <a:xfrm>
            <a:off x="400983" y="1382217"/>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$6</a:t>
            </a:r>
            <a:endParaRPr lang="en-US" altLang="zh-CN" sz="910">
              <a:solidFill>
                <a:srgbClr val="000000"/>
              </a:solidFill>
              <a:ea typeface="宋体" pitchFamily="2" charset="-122"/>
            </a:endParaRPr>
          </a:p>
        </p:txBody>
      </p:sp>
      <p:sp>
        <p:nvSpPr>
          <p:cNvPr id="46100" name="Rectangle 25"/>
          <p:cNvSpPr>
            <a:spLocks noChangeArrowheads="1"/>
          </p:cNvSpPr>
          <p:nvPr/>
        </p:nvSpPr>
        <p:spPr bwMode="auto">
          <a:xfrm>
            <a:off x="400983" y="1111694"/>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$7</a:t>
            </a:r>
            <a:endParaRPr lang="en-US" altLang="zh-CN" sz="910">
              <a:solidFill>
                <a:srgbClr val="000000"/>
              </a:solidFill>
              <a:ea typeface="宋体" pitchFamily="2" charset="-122"/>
            </a:endParaRPr>
          </a:p>
        </p:txBody>
      </p:sp>
      <p:sp>
        <p:nvSpPr>
          <p:cNvPr id="46101" name="Rectangle 26"/>
          <p:cNvSpPr>
            <a:spLocks noChangeArrowheads="1"/>
          </p:cNvSpPr>
          <p:nvPr/>
        </p:nvSpPr>
        <p:spPr bwMode="auto">
          <a:xfrm>
            <a:off x="400983" y="841970"/>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$8</a:t>
            </a:r>
            <a:endParaRPr lang="en-US" altLang="zh-CN" sz="910">
              <a:solidFill>
                <a:srgbClr val="000000"/>
              </a:solidFill>
              <a:ea typeface="宋体" pitchFamily="2" charset="-122"/>
            </a:endParaRPr>
          </a:p>
        </p:txBody>
      </p:sp>
      <p:sp>
        <p:nvSpPr>
          <p:cNvPr id="46102" name="Rectangle 27"/>
          <p:cNvSpPr>
            <a:spLocks noChangeArrowheads="1"/>
          </p:cNvSpPr>
          <p:nvPr/>
        </p:nvSpPr>
        <p:spPr bwMode="auto">
          <a:xfrm>
            <a:off x="400983" y="567446"/>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$9</a:t>
            </a:r>
            <a:endParaRPr lang="en-US" altLang="zh-CN" sz="910">
              <a:solidFill>
                <a:srgbClr val="000000"/>
              </a:solidFill>
              <a:ea typeface="宋体" pitchFamily="2" charset="-122"/>
            </a:endParaRPr>
          </a:p>
        </p:txBody>
      </p:sp>
      <p:sp>
        <p:nvSpPr>
          <p:cNvPr id="46103" name="Rectangle 28"/>
          <p:cNvSpPr>
            <a:spLocks noChangeArrowheads="1"/>
          </p:cNvSpPr>
          <p:nvPr/>
        </p:nvSpPr>
        <p:spPr bwMode="auto">
          <a:xfrm>
            <a:off x="508232"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1950</a:t>
            </a:r>
            <a:endParaRPr lang="en-US" altLang="zh-CN" sz="910">
              <a:solidFill>
                <a:srgbClr val="000000"/>
              </a:solidFill>
              <a:ea typeface="宋体" pitchFamily="2" charset="-122"/>
            </a:endParaRPr>
          </a:p>
        </p:txBody>
      </p:sp>
      <p:sp>
        <p:nvSpPr>
          <p:cNvPr id="46104" name="Rectangle 29"/>
          <p:cNvSpPr>
            <a:spLocks noChangeArrowheads="1"/>
          </p:cNvSpPr>
          <p:nvPr/>
        </p:nvSpPr>
        <p:spPr bwMode="auto">
          <a:xfrm>
            <a:off x="825176"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1955</a:t>
            </a:r>
            <a:endParaRPr lang="en-US" altLang="zh-CN" sz="910">
              <a:solidFill>
                <a:srgbClr val="000000"/>
              </a:solidFill>
              <a:ea typeface="宋体" pitchFamily="2" charset="-122"/>
            </a:endParaRPr>
          </a:p>
        </p:txBody>
      </p:sp>
      <p:sp>
        <p:nvSpPr>
          <p:cNvPr id="46105" name="Rectangle 30"/>
          <p:cNvSpPr>
            <a:spLocks noChangeArrowheads="1"/>
          </p:cNvSpPr>
          <p:nvPr/>
        </p:nvSpPr>
        <p:spPr bwMode="auto">
          <a:xfrm>
            <a:off x="1142121"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1960</a:t>
            </a:r>
            <a:endParaRPr lang="en-US" altLang="zh-CN" sz="910">
              <a:solidFill>
                <a:srgbClr val="000000"/>
              </a:solidFill>
              <a:ea typeface="宋体" pitchFamily="2" charset="-122"/>
            </a:endParaRPr>
          </a:p>
        </p:txBody>
      </p:sp>
      <p:sp>
        <p:nvSpPr>
          <p:cNvPr id="46106" name="Rectangle 31"/>
          <p:cNvSpPr>
            <a:spLocks noChangeArrowheads="1"/>
          </p:cNvSpPr>
          <p:nvPr/>
        </p:nvSpPr>
        <p:spPr bwMode="auto">
          <a:xfrm>
            <a:off x="1459065"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1965</a:t>
            </a:r>
            <a:endParaRPr lang="en-US" altLang="zh-CN" sz="910">
              <a:solidFill>
                <a:srgbClr val="000000"/>
              </a:solidFill>
              <a:ea typeface="宋体" pitchFamily="2" charset="-122"/>
            </a:endParaRPr>
          </a:p>
        </p:txBody>
      </p:sp>
      <p:sp>
        <p:nvSpPr>
          <p:cNvPr id="46107" name="Rectangle 32"/>
          <p:cNvSpPr>
            <a:spLocks noChangeArrowheads="1"/>
          </p:cNvSpPr>
          <p:nvPr/>
        </p:nvSpPr>
        <p:spPr bwMode="auto">
          <a:xfrm>
            <a:off x="1776009"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1970</a:t>
            </a:r>
            <a:endParaRPr lang="en-US" altLang="zh-CN" sz="910">
              <a:solidFill>
                <a:srgbClr val="000000"/>
              </a:solidFill>
              <a:ea typeface="宋体" pitchFamily="2" charset="-122"/>
            </a:endParaRPr>
          </a:p>
        </p:txBody>
      </p:sp>
      <p:sp>
        <p:nvSpPr>
          <p:cNvPr id="46108" name="Rectangle 33"/>
          <p:cNvSpPr>
            <a:spLocks noChangeArrowheads="1"/>
          </p:cNvSpPr>
          <p:nvPr/>
        </p:nvSpPr>
        <p:spPr bwMode="auto">
          <a:xfrm>
            <a:off x="2092954"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1975</a:t>
            </a:r>
            <a:endParaRPr lang="en-US" altLang="zh-CN" sz="910">
              <a:solidFill>
                <a:srgbClr val="000000"/>
              </a:solidFill>
              <a:ea typeface="宋体" pitchFamily="2" charset="-122"/>
            </a:endParaRPr>
          </a:p>
        </p:txBody>
      </p:sp>
      <p:sp>
        <p:nvSpPr>
          <p:cNvPr id="46109" name="Rectangle 34"/>
          <p:cNvSpPr>
            <a:spLocks noChangeArrowheads="1"/>
          </p:cNvSpPr>
          <p:nvPr/>
        </p:nvSpPr>
        <p:spPr bwMode="auto">
          <a:xfrm>
            <a:off x="2409898"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1980</a:t>
            </a:r>
            <a:endParaRPr lang="en-US" altLang="zh-CN" sz="910">
              <a:solidFill>
                <a:srgbClr val="000000"/>
              </a:solidFill>
              <a:ea typeface="宋体" pitchFamily="2" charset="-122"/>
            </a:endParaRPr>
          </a:p>
        </p:txBody>
      </p:sp>
      <p:sp>
        <p:nvSpPr>
          <p:cNvPr id="46110" name="Rectangle 35"/>
          <p:cNvSpPr>
            <a:spLocks noChangeArrowheads="1"/>
          </p:cNvSpPr>
          <p:nvPr/>
        </p:nvSpPr>
        <p:spPr bwMode="auto">
          <a:xfrm>
            <a:off x="2726843"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1985</a:t>
            </a:r>
            <a:endParaRPr lang="en-US" altLang="zh-CN" sz="910">
              <a:solidFill>
                <a:srgbClr val="000000"/>
              </a:solidFill>
              <a:ea typeface="宋体" pitchFamily="2" charset="-122"/>
            </a:endParaRPr>
          </a:p>
        </p:txBody>
      </p:sp>
      <p:sp>
        <p:nvSpPr>
          <p:cNvPr id="46111" name="Rectangle 36"/>
          <p:cNvSpPr>
            <a:spLocks noChangeArrowheads="1"/>
          </p:cNvSpPr>
          <p:nvPr/>
        </p:nvSpPr>
        <p:spPr bwMode="auto">
          <a:xfrm>
            <a:off x="3043787"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1990</a:t>
            </a:r>
            <a:endParaRPr lang="en-US" altLang="zh-CN" sz="910">
              <a:solidFill>
                <a:srgbClr val="000000"/>
              </a:solidFill>
              <a:ea typeface="宋体" pitchFamily="2" charset="-122"/>
            </a:endParaRPr>
          </a:p>
        </p:txBody>
      </p:sp>
      <p:sp>
        <p:nvSpPr>
          <p:cNvPr id="46112" name="Rectangle 37"/>
          <p:cNvSpPr>
            <a:spLocks noChangeArrowheads="1"/>
          </p:cNvSpPr>
          <p:nvPr/>
        </p:nvSpPr>
        <p:spPr bwMode="auto">
          <a:xfrm>
            <a:off x="3360731"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1995</a:t>
            </a:r>
            <a:endParaRPr lang="en-US" altLang="zh-CN" sz="910">
              <a:solidFill>
                <a:srgbClr val="000000"/>
              </a:solidFill>
              <a:ea typeface="宋体" pitchFamily="2" charset="-122"/>
            </a:endParaRPr>
          </a:p>
        </p:txBody>
      </p:sp>
      <p:sp>
        <p:nvSpPr>
          <p:cNvPr id="46113" name="Rectangle 38"/>
          <p:cNvSpPr>
            <a:spLocks noChangeArrowheads="1"/>
          </p:cNvSpPr>
          <p:nvPr/>
        </p:nvSpPr>
        <p:spPr bwMode="auto">
          <a:xfrm>
            <a:off x="3677676"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2000</a:t>
            </a:r>
            <a:endParaRPr lang="en-US" altLang="zh-CN" sz="910">
              <a:solidFill>
                <a:srgbClr val="000000"/>
              </a:solidFill>
              <a:ea typeface="宋体" pitchFamily="2" charset="-122"/>
            </a:endParaRPr>
          </a:p>
        </p:txBody>
      </p:sp>
      <p:sp>
        <p:nvSpPr>
          <p:cNvPr id="46114" name="Rectangle 39"/>
          <p:cNvSpPr>
            <a:spLocks noChangeArrowheads="1"/>
          </p:cNvSpPr>
          <p:nvPr/>
        </p:nvSpPr>
        <p:spPr bwMode="auto">
          <a:xfrm>
            <a:off x="3994620"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en-US" altLang="zh-CN" sz="1010">
                <a:solidFill>
                  <a:srgbClr val="000000"/>
                </a:solidFill>
                <a:ea typeface="宋体" pitchFamily="2" charset="-122"/>
              </a:rPr>
              <a:t>2005</a:t>
            </a:r>
            <a:endParaRPr lang="en-US" altLang="zh-CN" sz="910">
              <a:solidFill>
                <a:srgbClr val="000000"/>
              </a:solidFill>
              <a:ea typeface="宋体" pitchFamily="2" charset="-122"/>
            </a:endParaRPr>
          </a:p>
        </p:txBody>
      </p:sp>
      <p:grpSp>
        <p:nvGrpSpPr>
          <p:cNvPr id="46115" name="Group 35"/>
          <p:cNvGrpSpPr/>
          <p:nvPr/>
        </p:nvGrpSpPr>
        <p:grpSpPr bwMode="auto">
          <a:xfrm>
            <a:off x="2790071" y="2324246"/>
            <a:ext cx="1278182" cy="389777"/>
            <a:chOff x="0" y="0"/>
            <a:chExt cx="1597" cy="487"/>
          </a:xfrm>
        </p:grpSpPr>
        <p:sp>
          <p:nvSpPr>
            <p:cNvPr id="46116" name="Text Box 40"/>
            <p:cNvSpPr txBox="1">
              <a:spLocks noChangeArrowheads="1"/>
            </p:cNvSpPr>
            <p:nvPr/>
          </p:nvSpPr>
          <p:spPr bwMode="auto">
            <a:xfrm>
              <a:off x="227" y="139"/>
              <a:ext cx="137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210">
                  <a:solidFill>
                    <a:srgbClr val="000000"/>
                  </a:solidFill>
                  <a:ea typeface="宋体" pitchFamily="2" charset="-122"/>
                </a:rPr>
                <a:t>目前的美元</a:t>
              </a:r>
              <a:endParaRPr lang="zh-CN" altLang="zh-CN" sz="1210">
                <a:solidFill>
                  <a:srgbClr val="000000"/>
                </a:solidFill>
                <a:ea typeface="宋体" pitchFamily="2" charset="-122"/>
              </a:endParaRPr>
            </a:p>
          </p:txBody>
        </p:sp>
        <p:sp>
          <p:nvSpPr>
            <p:cNvPr id="46117" name="Line 42"/>
            <p:cNvSpPr>
              <a:spLocks noChangeShapeType="1"/>
            </p:cNvSpPr>
            <p:nvPr/>
          </p:nvSpPr>
          <p:spPr bwMode="auto">
            <a:xfrm flipH="1" flipV="1">
              <a:off x="0" y="0"/>
              <a:ext cx="277" cy="2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grpSp>
        <p:nvGrpSpPr>
          <p:cNvPr id="46118" name="Group 38"/>
          <p:cNvGrpSpPr/>
          <p:nvPr/>
        </p:nvGrpSpPr>
        <p:grpSpPr bwMode="auto">
          <a:xfrm>
            <a:off x="2800476" y="768337"/>
            <a:ext cx="1125313" cy="424994"/>
            <a:chOff x="0" y="0"/>
            <a:chExt cx="1406" cy="531"/>
          </a:xfrm>
        </p:grpSpPr>
        <p:sp>
          <p:nvSpPr>
            <p:cNvPr id="46119" name="Text Box 41"/>
            <p:cNvSpPr txBox="1">
              <a:spLocks noChangeArrowheads="1"/>
            </p:cNvSpPr>
            <p:nvPr/>
          </p:nvSpPr>
          <p:spPr bwMode="auto">
            <a:xfrm>
              <a:off x="157" y="0"/>
              <a:ext cx="124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210">
                  <a:solidFill>
                    <a:srgbClr val="000000"/>
                  </a:solidFill>
                  <a:ea typeface="宋体" pitchFamily="2" charset="-122"/>
                </a:rPr>
                <a:t>2007 美元</a:t>
              </a:r>
              <a:endParaRPr lang="zh-CN" altLang="zh-CN" sz="1210">
                <a:solidFill>
                  <a:srgbClr val="000000"/>
                </a:solidFill>
                <a:ea typeface="宋体" pitchFamily="2" charset="-122"/>
              </a:endParaRPr>
            </a:p>
          </p:txBody>
        </p:sp>
        <p:sp>
          <p:nvSpPr>
            <p:cNvPr id="46120" name="Line 43"/>
            <p:cNvSpPr>
              <a:spLocks noChangeShapeType="1"/>
            </p:cNvSpPr>
            <p:nvPr/>
          </p:nvSpPr>
          <p:spPr bwMode="auto">
            <a:xfrm flipV="1">
              <a:off x="0" y="216"/>
              <a:ext cx="217" cy="31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092"/>
                                        </p:tgtEl>
                                        <p:attrNameLst>
                                          <p:attrName>style.visibility</p:attrName>
                                        </p:attrNameLst>
                                      </p:cBhvr>
                                      <p:to>
                                        <p:strVal val="visible"/>
                                      </p:to>
                                    </p:set>
                                    <p:animEffect transition="in" filter="wipe(left)">
                                      <p:cBhvr>
                                        <p:cTn id="7" dur="500"/>
                                        <p:tgtEl>
                                          <p:spTgt spid="46092"/>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6115"/>
                                        </p:tgtEl>
                                        <p:attrNameLst>
                                          <p:attrName>style.visibility</p:attrName>
                                        </p:attrNameLst>
                                      </p:cBhvr>
                                      <p:to>
                                        <p:strVal val="visible"/>
                                      </p:to>
                                    </p:set>
                                    <p:animEffect transition="in" filter="strips(downRight)">
                                      <p:cBhvr>
                                        <p:cTn id="11" dur="500"/>
                                        <p:tgtEl>
                                          <p:spTgt spid="461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6091"/>
                                        </p:tgtEl>
                                        <p:attrNameLst>
                                          <p:attrName>style.visibility</p:attrName>
                                        </p:attrNameLst>
                                      </p:cBhvr>
                                      <p:to>
                                        <p:strVal val="visible"/>
                                      </p:to>
                                    </p:set>
                                    <p:animEffect transition="in" filter="wipe(left)">
                                      <p:cBhvr>
                                        <p:cTn id="16" dur="500"/>
                                        <p:tgtEl>
                                          <p:spTgt spid="46091"/>
                                        </p:tgtEl>
                                      </p:cBhvr>
                                    </p:animEffect>
                                  </p:childTnLst>
                                </p:cTn>
                              </p:par>
                            </p:childTnLst>
                          </p:cTn>
                        </p:par>
                        <p:par>
                          <p:cTn id="17" fill="hold">
                            <p:stCondLst>
                              <p:cond delay="500"/>
                            </p:stCondLst>
                            <p:childTnLst>
                              <p:par>
                                <p:cTn id="18" presetID="18" presetClass="entr" presetSubtype="3" fill="hold" nodeType="afterEffect">
                                  <p:stCondLst>
                                    <p:cond delay="0"/>
                                  </p:stCondLst>
                                  <p:childTnLst>
                                    <p:set>
                                      <p:cBhvr>
                                        <p:cTn id="19" dur="1" fill="hold">
                                          <p:stCondLst>
                                            <p:cond delay="0"/>
                                          </p:stCondLst>
                                        </p:cTn>
                                        <p:tgtEl>
                                          <p:spTgt spid="46118"/>
                                        </p:tgtEl>
                                        <p:attrNameLst>
                                          <p:attrName>style.visibility</p:attrName>
                                        </p:attrNameLst>
                                      </p:cBhvr>
                                      <p:to>
                                        <p:strVal val="visible"/>
                                      </p:to>
                                    </p:set>
                                    <p:animEffect transition="in" filter="strips(upRight)">
                                      <p:cBhvr>
                                        <p:cTn id="20" dur="500"/>
                                        <p:tgtEl>
                                          <p:spTgt spid="46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1" grpId="0" animBg="1" autoUpdateAnimBg="0"/>
      <p:bldP spid="4609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body" idx="4294967295"/>
          </p:nvPr>
        </p:nvSpPr>
        <p:spPr>
          <a:xfrm>
            <a:off x="289732" y="742725"/>
            <a:ext cx="4143488" cy="2406697"/>
          </a:xfrm>
        </p:spPr>
        <p:txBody>
          <a:bodyPr/>
          <a:lstStyle/>
          <a:p>
            <a:pPr marL="0" indent="0" eaLnBrk="1" hangingPunct="1">
              <a:buClr>
                <a:srgbClr val="669900"/>
              </a:buClr>
              <a:buNone/>
            </a:pPr>
            <a:r>
              <a:rPr lang="zh-CN" altLang="zh-CN" dirty="0">
                <a:ea typeface="宋体" pitchFamily="2" charset="-122"/>
              </a:rPr>
              <a:t>美国普通的公立四年制学院与大学每年的教育费用： </a:t>
            </a:r>
            <a:endParaRPr lang="zh-CN" altLang="zh-CN" dirty="0">
              <a:ea typeface="宋体" pitchFamily="2" charset="-122"/>
            </a:endParaRPr>
          </a:p>
          <a:p>
            <a:pPr marL="257810" lvl="1" indent="-171450" eaLnBrk="1" hangingPunct="1">
              <a:lnSpc>
                <a:spcPct val="105000"/>
              </a:lnSpc>
              <a:spcBef>
                <a:spcPct val="25000"/>
              </a:spcBef>
            </a:pPr>
            <a:r>
              <a:rPr lang="zh-CN" altLang="zh-CN" sz="1460" dirty="0">
                <a:ea typeface="宋体" pitchFamily="2" charset="-122"/>
              </a:rPr>
              <a:t>1986-87:  $1,414    (1986的CPI = 109.6)</a:t>
            </a:r>
            <a:endParaRPr lang="zh-CN" altLang="zh-CN" sz="1460" dirty="0">
              <a:ea typeface="宋体" pitchFamily="2" charset="-122"/>
            </a:endParaRPr>
          </a:p>
          <a:p>
            <a:pPr marL="257810" lvl="1" indent="-171450" eaLnBrk="1" hangingPunct="1">
              <a:lnSpc>
                <a:spcPct val="105000"/>
              </a:lnSpc>
              <a:spcBef>
                <a:spcPct val="25000"/>
              </a:spcBef>
            </a:pPr>
            <a:r>
              <a:rPr lang="zh-CN" altLang="zh-CN" sz="1460" dirty="0">
                <a:ea typeface="宋体" pitchFamily="2" charset="-122"/>
              </a:rPr>
              <a:t>2006-07:  $5,834    (2006的CPI = 203.8)</a:t>
            </a:r>
            <a:endParaRPr lang="zh-CN" altLang="zh-CN" sz="1460" dirty="0">
              <a:ea typeface="宋体" pitchFamily="2" charset="-122"/>
            </a:endParaRPr>
          </a:p>
          <a:p>
            <a:pPr marL="0" indent="0" eaLnBrk="1" hangingPunct="1">
              <a:spcBef>
                <a:spcPct val="50000"/>
              </a:spcBef>
              <a:buClr>
                <a:srgbClr val="669900"/>
              </a:buClr>
              <a:buNone/>
            </a:pPr>
            <a:r>
              <a:rPr lang="zh-CN" altLang="zh-CN" dirty="0">
                <a:ea typeface="宋体" pitchFamily="2" charset="-122"/>
              </a:rPr>
              <a:t>经过通货膨胀校正，学生在哪一年会支付更多的费用，1986年还是2006年？将1986年的数字转化为 2006年的美元进行比较</a:t>
            </a:r>
            <a:endParaRPr lang="zh-CN" altLang="zh-CN" dirty="0">
              <a:ea typeface="宋体" pitchFamily="2" charset="-122"/>
            </a:endParaRPr>
          </a:p>
        </p:txBody>
      </p:sp>
      <p:sp>
        <p:nvSpPr>
          <p:cNvPr id="48131"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48132" name="Rectangle 4"/>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i="1">
                <a:solidFill>
                  <a:srgbClr val="339966"/>
                </a:solidFill>
                <a:effectLst>
                  <a:outerShdw blurRad="38100" dist="38100" dir="2700000" algn="tl">
                    <a:srgbClr val="C0C0C0"/>
                  </a:outerShdw>
                </a:effectLst>
                <a:latin typeface="Tahoma" panose="020B0604030504040204" pitchFamily="34" charset="0"/>
                <a:ea typeface="宋体" pitchFamily="2" charset="-122"/>
              </a:rPr>
              <a:t>4</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转换为“今天的美元”</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48133" name="Group 5"/>
          <p:cNvGrpSpPr/>
          <p:nvPr/>
        </p:nvGrpSpPr>
        <p:grpSpPr bwMode="auto">
          <a:xfrm>
            <a:off x="299336" y="148055"/>
            <a:ext cx="4139486" cy="529041"/>
            <a:chOff x="0" y="0"/>
            <a:chExt cx="5000" cy="661"/>
          </a:xfrm>
        </p:grpSpPr>
        <p:sp>
          <p:nvSpPr>
            <p:cNvPr id="48134"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48135"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48136" name="Rectangle 8"/>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928989EE-924C-B343-9F24-DA92B4B47B28}"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8130">
                                            <p:txEl>
                                              <p:pRg st="1" end="1"/>
                                            </p:txEl>
                                          </p:spTgt>
                                        </p:tgtEl>
                                        <p:attrNameLst>
                                          <p:attrName>style.visibility</p:attrName>
                                        </p:attrNameLst>
                                      </p:cBhvr>
                                      <p:to>
                                        <p:strVal val="visible"/>
                                      </p:to>
                                    </p:set>
                                    <p:animEffect transition="in" filter="wipe(left)">
                                      <p:cBhvr>
                                        <p:cTn id="7" dur="500"/>
                                        <p:tgtEl>
                                          <p:spTgt spid="4813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8130">
                                            <p:txEl>
                                              <p:pRg st="2" end="2"/>
                                            </p:txEl>
                                          </p:spTgt>
                                        </p:tgtEl>
                                        <p:attrNameLst>
                                          <p:attrName>style.visibility</p:attrName>
                                        </p:attrNameLst>
                                      </p:cBhvr>
                                      <p:to>
                                        <p:strVal val="visible"/>
                                      </p:to>
                                    </p:set>
                                    <p:animEffect transition="in" filter="wipe(left)">
                                      <p:cBhvr>
                                        <p:cTn id="12" dur="500"/>
                                        <p:tgtEl>
                                          <p:spTgt spid="4813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8130">
                                            <p:txEl>
                                              <p:pRg st="3" end="3"/>
                                            </p:txEl>
                                          </p:spTgt>
                                        </p:tgtEl>
                                        <p:attrNameLst>
                                          <p:attrName>style.visibility</p:attrName>
                                        </p:attrNameLst>
                                      </p:cBhvr>
                                      <p:to>
                                        <p:strVal val="visible"/>
                                      </p:to>
                                    </p:set>
                                    <p:animEffect transition="in" filter="wipe(left)">
                                      <p:cBhvr>
                                        <p:cTn id="17" dur="500"/>
                                        <p:tgtEl>
                                          <p:spTgt spid="481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ldLvl="4"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8"/>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endParaRPr lang="zh-CN" altLang="zh-CN" sz="910">
              <a:solidFill>
                <a:srgbClr val="000000"/>
              </a:solidFill>
              <a:ea typeface="宋体" pitchFamily="2" charset="-122"/>
            </a:endParaRPr>
          </a:p>
        </p:txBody>
      </p:sp>
      <p:sp>
        <p:nvSpPr>
          <p:cNvPr id="50179" name="Rectangle 4"/>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主动学习  </a:t>
            </a:r>
            <a:r>
              <a:rPr lang="zh-CN" altLang="zh-CN" sz="1410">
                <a:solidFill>
                  <a:srgbClr val="339966"/>
                </a:solidFill>
                <a:effectLst>
                  <a:outerShdw blurRad="38100" dist="38100" dir="2700000" algn="tl">
                    <a:srgbClr val="C0C0C0"/>
                  </a:outerShdw>
                </a:effectLst>
                <a:latin typeface="Tahoma" panose="020B0604030504040204" pitchFamily="34" charset="0"/>
                <a:ea typeface="宋体" pitchFamily="2" charset="-122"/>
              </a:rPr>
              <a:t>4</a:t>
            </a:r>
            <a:r>
              <a:rPr lang="zh-CN" altLang="zh-CN" sz="1210">
                <a:solidFill>
                  <a:srgbClr val="339966"/>
                </a:solidFill>
                <a:effectLst>
                  <a:outerShdw blurRad="38100" dist="38100" dir="2700000" algn="tl">
                    <a:srgbClr val="C0C0C0"/>
                  </a:outerShdw>
                </a:effectLst>
                <a:latin typeface="Tahoma" panose="020B0604030504040204" pitchFamily="34" charset="0"/>
                <a:ea typeface="宋体"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itchFamily="2" charset="-122"/>
              </a:rPr>
            </a:br>
            <a:r>
              <a:rPr lang="zh-CN" altLang="zh-CN" sz="1615">
                <a:solidFill>
                  <a:srgbClr val="339966"/>
                </a:solidFill>
                <a:effectLst>
                  <a:outerShdw blurRad="38100" dist="38100" dir="2700000" algn="tl">
                    <a:srgbClr val="C0C0C0"/>
                  </a:outerShdw>
                </a:effectLst>
                <a:ea typeface="宋体" pitchFamily="2" charset="-122"/>
              </a:rPr>
              <a:t>参考答案</a:t>
            </a:r>
            <a:endParaRPr lang="zh-CN" altLang="zh-CN" sz="1615">
              <a:solidFill>
                <a:srgbClr val="339966"/>
              </a:solidFill>
              <a:effectLst>
                <a:outerShdw blurRad="38100" dist="38100" dir="2700000" algn="tl">
                  <a:srgbClr val="C0C0C0"/>
                </a:outerShdw>
              </a:effectLst>
              <a:ea typeface="宋体" pitchFamily="2" charset="-122"/>
            </a:endParaRPr>
          </a:p>
        </p:txBody>
      </p:sp>
      <p:grpSp>
        <p:nvGrpSpPr>
          <p:cNvPr id="50180" name="Group 4"/>
          <p:cNvGrpSpPr/>
          <p:nvPr/>
        </p:nvGrpSpPr>
        <p:grpSpPr bwMode="auto">
          <a:xfrm>
            <a:off x="299336" y="148055"/>
            <a:ext cx="4139486" cy="529041"/>
            <a:chOff x="0" y="0"/>
            <a:chExt cx="5000" cy="661"/>
          </a:xfrm>
        </p:grpSpPr>
        <p:sp>
          <p:nvSpPr>
            <p:cNvPr id="50181" name="Line 9"/>
            <p:cNvSpPr>
              <a:spLocks noChangeShapeType="1"/>
            </p:cNvSpPr>
            <p:nvPr/>
          </p:nvSpPr>
          <p:spPr bwMode="auto">
            <a:xfrm>
              <a:off x="2" y="661"/>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sp>
          <p:nvSpPr>
            <p:cNvPr id="50182" name="Line 10"/>
            <p:cNvSpPr>
              <a:spLocks noChangeShapeType="1"/>
            </p:cNvSpPr>
            <p:nvPr/>
          </p:nvSpPr>
          <p:spPr bwMode="auto">
            <a:xfrm>
              <a:off x="0" y="0"/>
              <a:ext cx="4998" cy="0"/>
            </a:xfrm>
            <a:prstGeom prst="line">
              <a:avLst/>
            </a:prstGeom>
            <a:noFill/>
            <a:ln w="12700">
              <a:solidFill>
                <a:srgbClr val="C0C0C0"/>
              </a:solidFill>
              <a:round/>
            </a:ln>
            <a:extLst>
              <a:ext uri="{909E8E84-426E-40DD-AFC4-6F175D3DCCD1}">
                <a14:hiddenFill xmlns:a14="http://schemas.microsoft.com/office/drawing/2010/main">
                  <a:noFill/>
                </a14:hiddenFill>
              </a:ext>
            </a:extLst>
          </p:spPr>
          <p:txBody>
            <a:bodyPr/>
            <a:lstStyle/>
            <a:p>
              <a:pPr defTabSz="461010" fontAlgn="base">
                <a:spcBef>
                  <a:spcPct val="0"/>
                </a:spcBef>
                <a:spcAft>
                  <a:spcPct val="0"/>
                </a:spcAft>
              </a:pPr>
              <a:endParaRPr lang="zh-CN" altLang="en-US" sz="910">
                <a:solidFill>
                  <a:srgbClr val="000000"/>
                </a:solidFill>
                <a:latin typeface="Arial" panose="020B0604020202090204" pitchFamily="34" charset="0"/>
              </a:endParaRPr>
            </a:p>
          </p:txBody>
        </p:sp>
      </p:grpSp>
      <p:sp>
        <p:nvSpPr>
          <p:cNvPr id="50183" name="Rectangle 8"/>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901CC30E-6256-E94E-B465-00B7A0C1030F}"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50184" name="Rectangle 8"/>
          <p:cNvSpPr>
            <a:spLocks noChangeArrowheads="1"/>
          </p:cNvSpPr>
          <p:nvPr/>
        </p:nvSpPr>
        <p:spPr bwMode="auto">
          <a:xfrm>
            <a:off x="350560" y="1765591"/>
            <a:ext cx="4149090" cy="149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lnSpc>
                <a:spcPct val="105000"/>
              </a:lnSpc>
              <a:spcBef>
                <a:spcPct val="40000"/>
              </a:spcBef>
              <a:spcAft>
                <a:spcPct val="0"/>
              </a:spcAft>
              <a:buClr>
                <a:srgbClr val="00B85C"/>
              </a:buClr>
              <a:buSzPct val="120000"/>
            </a:pPr>
            <a:r>
              <a:rPr lang="zh-CN" altLang="zh-CN" sz="1360" u="sng">
                <a:solidFill>
                  <a:srgbClr val="000000"/>
                </a:solidFill>
                <a:ea typeface="宋体" pitchFamily="2" charset="-122"/>
              </a:rPr>
              <a:t>解决办法</a:t>
            </a:r>
            <a:r>
              <a:rPr lang="zh-CN" altLang="zh-CN" sz="1360">
                <a:solidFill>
                  <a:srgbClr val="000000"/>
                </a:solidFill>
                <a:ea typeface="宋体" pitchFamily="2" charset="-122"/>
              </a:rPr>
              <a:t>：</a:t>
            </a:r>
            <a:endParaRPr lang="zh-CN" altLang="zh-CN" sz="1360">
              <a:solidFill>
                <a:srgbClr val="000000"/>
              </a:solidFill>
              <a:ea typeface="宋体" pitchFamily="2" charset="-122"/>
            </a:endParaRPr>
          </a:p>
          <a:p>
            <a:pPr defTabSz="461010" eaLnBrk="1" fontAlgn="base" hangingPunct="1">
              <a:lnSpc>
                <a:spcPct val="105000"/>
              </a:lnSpc>
              <a:spcBef>
                <a:spcPct val="40000"/>
              </a:spcBef>
              <a:spcAft>
                <a:spcPct val="0"/>
              </a:spcAft>
              <a:buClr>
                <a:srgbClr val="00B85C"/>
              </a:buClr>
              <a:buSzPct val="120000"/>
            </a:pPr>
            <a:r>
              <a:rPr lang="zh-CN" altLang="zh-CN" sz="1360">
                <a:solidFill>
                  <a:srgbClr val="000000"/>
                </a:solidFill>
                <a:ea typeface="宋体" pitchFamily="2" charset="-122"/>
              </a:rPr>
              <a:t>把1986的数字转换为“今天的美元” </a:t>
            </a:r>
            <a:endParaRPr lang="zh-CN" altLang="zh-CN" sz="1360">
              <a:solidFill>
                <a:srgbClr val="000000"/>
              </a:solidFill>
              <a:ea typeface="宋体" pitchFamily="2" charset="-122"/>
            </a:endParaRPr>
          </a:p>
          <a:p>
            <a:pPr defTabSz="461010" eaLnBrk="1" fontAlgn="base" hangingPunct="1">
              <a:lnSpc>
                <a:spcPct val="105000"/>
              </a:lnSpc>
              <a:spcBef>
                <a:spcPct val="40000"/>
              </a:spcBef>
              <a:spcAft>
                <a:spcPct val="0"/>
              </a:spcAft>
              <a:buClr>
                <a:srgbClr val="00B85C"/>
              </a:buClr>
              <a:buSzPct val="120000"/>
            </a:pPr>
            <a:r>
              <a:rPr lang="zh-CN" altLang="zh-CN" sz="1360">
                <a:solidFill>
                  <a:srgbClr val="000000"/>
                </a:solidFill>
                <a:ea typeface="宋体" pitchFamily="2" charset="-122"/>
              </a:rPr>
              <a:t>$1,414 x (203.8/109.6)  =  </a:t>
            </a:r>
            <a:r>
              <a:rPr lang="zh-CN" altLang="zh-CN" sz="1360" u="sng">
                <a:solidFill>
                  <a:srgbClr val="FF0000"/>
                </a:solidFill>
                <a:ea typeface="宋体" pitchFamily="2" charset="-122"/>
              </a:rPr>
              <a:t>$2,629</a:t>
            </a:r>
            <a:endParaRPr lang="zh-CN" altLang="zh-CN" sz="1360" u="sng">
              <a:solidFill>
                <a:srgbClr val="FF0000"/>
              </a:solidFill>
              <a:ea typeface="宋体" pitchFamily="2" charset="-122"/>
            </a:endParaRPr>
          </a:p>
          <a:p>
            <a:pPr defTabSz="461010" eaLnBrk="1" fontAlgn="base" hangingPunct="1">
              <a:lnSpc>
                <a:spcPct val="105000"/>
              </a:lnSpc>
              <a:spcBef>
                <a:spcPct val="40000"/>
              </a:spcBef>
              <a:spcAft>
                <a:spcPct val="0"/>
              </a:spcAft>
              <a:buClr>
                <a:srgbClr val="00B85C"/>
              </a:buClr>
              <a:buSzPct val="120000"/>
            </a:pPr>
            <a:r>
              <a:rPr lang="zh-CN" altLang="zh-CN" sz="1360">
                <a:solidFill>
                  <a:srgbClr val="000000"/>
                </a:solidFill>
                <a:ea typeface="宋体" pitchFamily="2" charset="-122"/>
              </a:rPr>
              <a:t>即使经过了通货膨胀校正，1986年的学费仍比2006年的学费低得多！</a:t>
            </a:r>
            <a:endParaRPr lang="zh-CN" altLang="zh-CN" sz="1360">
              <a:solidFill>
                <a:srgbClr val="000000"/>
              </a:solidFill>
              <a:ea typeface="宋体" pitchFamily="2" charset="-122"/>
            </a:endParaRPr>
          </a:p>
        </p:txBody>
      </p:sp>
      <p:sp>
        <p:nvSpPr>
          <p:cNvPr id="50185" name="Rectangle 14"/>
          <p:cNvSpPr>
            <a:spLocks noGrp="1" noChangeArrowheads="1"/>
          </p:cNvSpPr>
          <p:nvPr>
            <p:ph type="body" idx="4294967295"/>
          </p:nvPr>
        </p:nvSpPr>
        <p:spPr>
          <a:xfrm>
            <a:off x="289732" y="742726"/>
            <a:ext cx="4143488" cy="1030069"/>
          </a:xfrm>
          <a:noFill/>
        </p:spPr>
        <p:txBody>
          <a:bodyPr/>
          <a:lstStyle/>
          <a:p>
            <a:pPr marL="0" indent="0" eaLnBrk="1" hangingPunct="1">
              <a:buClr>
                <a:srgbClr val="669900"/>
              </a:buClr>
              <a:buNone/>
            </a:pPr>
            <a:r>
              <a:rPr lang="zh-CN" altLang="zh-CN">
                <a:ea typeface="宋体" pitchFamily="2" charset="-122"/>
              </a:rPr>
              <a:t>美国普通的公立四年制学院或大学每年的教育费用： </a:t>
            </a:r>
            <a:endParaRPr lang="zh-CN" altLang="zh-CN">
              <a:ea typeface="宋体" pitchFamily="2" charset="-122"/>
            </a:endParaRPr>
          </a:p>
          <a:p>
            <a:pPr marL="257810" lvl="1" indent="-171450" eaLnBrk="1" hangingPunct="1">
              <a:lnSpc>
                <a:spcPct val="105000"/>
              </a:lnSpc>
              <a:spcBef>
                <a:spcPct val="25000"/>
              </a:spcBef>
            </a:pPr>
            <a:r>
              <a:rPr lang="zh-CN" altLang="zh-CN" sz="1460">
                <a:ea typeface="宋体" pitchFamily="2" charset="-122"/>
              </a:rPr>
              <a:t>1986-87:  $1,414    (1986的CPI = 109.6)</a:t>
            </a:r>
            <a:endParaRPr lang="zh-CN" altLang="zh-CN" sz="1460">
              <a:ea typeface="宋体" pitchFamily="2" charset="-122"/>
            </a:endParaRPr>
          </a:p>
          <a:p>
            <a:pPr marL="257810" lvl="1" indent="-171450" eaLnBrk="1" hangingPunct="1">
              <a:lnSpc>
                <a:spcPct val="105000"/>
              </a:lnSpc>
              <a:spcBef>
                <a:spcPct val="25000"/>
              </a:spcBef>
            </a:pPr>
            <a:r>
              <a:rPr lang="zh-CN" altLang="zh-CN" sz="1460">
                <a:ea typeface="宋体" pitchFamily="2" charset="-122"/>
              </a:rPr>
              <a:t>2006-07:  $5,834    (2006的CPI = 203.8)</a:t>
            </a:r>
            <a:endParaRPr lang="zh-CN" altLang="zh-CN" sz="1460">
              <a:ea typeface="宋体" pitchFamily="2" charset="-122"/>
            </a:endParaRPr>
          </a:p>
          <a:p>
            <a:pPr marL="0" indent="0" eaLnBrk="1" hangingPunct="1">
              <a:buClr>
                <a:srgbClr val="669900"/>
              </a:buClr>
              <a:buNone/>
            </a:pPr>
            <a:endParaRPr lang="zh-CN" altLang="zh-CN" sz="1460">
              <a:ea typeface="宋体" pitchFamily="2" charset="-122"/>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184">
                                            <p:txEl>
                                              <p:pRg st="1" end="1"/>
                                            </p:txEl>
                                          </p:spTgt>
                                        </p:tgtEl>
                                        <p:attrNameLst>
                                          <p:attrName>style.visibility</p:attrName>
                                        </p:attrNameLst>
                                      </p:cBhvr>
                                      <p:to>
                                        <p:strVal val="visible"/>
                                      </p:to>
                                    </p:set>
                                    <p:animEffect transition="in" filter="wipe(left)">
                                      <p:cBhvr>
                                        <p:cTn id="7" dur="500"/>
                                        <p:tgtEl>
                                          <p:spTgt spid="5018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184">
                                            <p:txEl>
                                              <p:pRg st="2" end="2"/>
                                            </p:txEl>
                                          </p:spTgt>
                                        </p:tgtEl>
                                        <p:attrNameLst>
                                          <p:attrName>style.visibility</p:attrName>
                                        </p:attrNameLst>
                                      </p:cBhvr>
                                      <p:to>
                                        <p:strVal val="visible"/>
                                      </p:to>
                                    </p:set>
                                    <p:animEffect transition="in" filter="wipe(left)">
                                      <p:cBhvr>
                                        <p:cTn id="12" dur="500"/>
                                        <p:tgtEl>
                                          <p:spTgt spid="5018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0184">
                                            <p:txEl>
                                              <p:pRg st="3" end="3"/>
                                            </p:txEl>
                                          </p:spTgt>
                                        </p:tgtEl>
                                        <p:attrNameLst>
                                          <p:attrName>style.visibility</p:attrName>
                                        </p:attrNameLst>
                                      </p:cBhvr>
                                      <p:to>
                                        <p:strVal val="visible"/>
                                      </p:to>
                                    </p:set>
                                    <p:animEffect transition="in" filter="wipe(left)">
                                      <p:cBhvr>
                                        <p:cTn id="17" dur="500"/>
                                        <p:tgtEl>
                                          <p:spTgt spid="501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52227"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0BE1A451-9352-5D49-8282-59F4C32FA811}" type="slidenum">
              <a:rPr lang="zh-CN" altLang="zh-CN" sz="855">
                <a:solidFill>
                  <a:srgbClr val="777777"/>
                </a:solidFill>
                <a:ea typeface="宋体" pitchFamily="2" charset="-122"/>
              </a:rPr>
            </a:fld>
            <a:endParaRPr lang="en-US" altLang="zh-CN" sz="855">
              <a:solidFill>
                <a:srgbClr val="777777"/>
              </a:solidFill>
              <a:ea typeface="宋体" pitchFamily="2" charset="-122"/>
            </a:endParaRPr>
          </a:p>
        </p:txBody>
      </p:sp>
      <p:sp>
        <p:nvSpPr>
          <p:cNvPr id="52228" name="Rectangle 2"/>
          <p:cNvSpPr>
            <a:spLocks noGrp="1" noChangeArrowheads="1"/>
          </p:cNvSpPr>
          <p:nvPr>
            <p:ph type="title" idx="4294967295"/>
          </p:nvPr>
        </p:nvSpPr>
        <p:spPr>
          <a:xfrm>
            <a:off x="11205" y="184871"/>
            <a:ext cx="4610100" cy="348959"/>
          </a:xfrm>
        </p:spPr>
        <p:txBody>
          <a:bodyPr/>
          <a:lstStyle/>
          <a:p>
            <a:pPr eaLnBrk="1" hangingPunct="1">
              <a:lnSpc>
                <a:spcPct val="105000"/>
              </a:lnSpc>
            </a:pPr>
            <a:r>
              <a:rPr lang="zh-CN" altLang="zh-CN" sz="1815">
                <a:ea typeface="宋体" pitchFamily="2" charset="-122"/>
              </a:rPr>
              <a:t>根据通货膨胀的影响校正经济变量：</a:t>
            </a:r>
            <a:r>
              <a:rPr lang="zh-CN" altLang="zh-CN" sz="1815">
                <a:solidFill>
                  <a:srgbClr val="CC0000"/>
                </a:solidFill>
                <a:ea typeface="宋体" pitchFamily="2" charset="-122"/>
              </a:rPr>
              <a:t>指数化</a:t>
            </a:r>
            <a:endParaRPr lang="zh-CN" altLang="zh-CN" sz="1815">
              <a:solidFill>
                <a:srgbClr val="CC0000"/>
              </a:solidFill>
              <a:ea typeface="宋体" pitchFamily="2" charset="-122"/>
            </a:endParaRPr>
          </a:p>
        </p:txBody>
      </p:sp>
      <p:sp>
        <p:nvSpPr>
          <p:cNvPr id="52229" name="Rectangle 3"/>
          <p:cNvSpPr>
            <a:spLocks noGrp="1" noChangeArrowheads="1"/>
          </p:cNvSpPr>
          <p:nvPr>
            <p:ph type="body" idx="4294967295"/>
          </p:nvPr>
        </p:nvSpPr>
        <p:spPr>
          <a:xfrm>
            <a:off x="242511" y="1585509"/>
            <a:ext cx="4149090" cy="1696773"/>
          </a:xfrm>
        </p:spPr>
        <p:txBody>
          <a:bodyPr/>
          <a:lstStyle/>
          <a:p>
            <a:pPr marL="0" indent="0" eaLnBrk="1" hangingPunct="1">
              <a:spcBef>
                <a:spcPct val="25000"/>
              </a:spcBef>
              <a:buNone/>
            </a:pPr>
            <a:r>
              <a:rPr lang="zh-CN" altLang="zh-CN">
                <a:ea typeface="宋体" pitchFamily="2" charset="-122"/>
              </a:rPr>
              <a:t>比如, CPI的增加会自动调整：</a:t>
            </a:r>
            <a:endParaRPr lang="zh-CN" altLang="zh-CN">
              <a:ea typeface="宋体" pitchFamily="2" charset="-122"/>
            </a:endParaRPr>
          </a:p>
          <a:p>
            <a:pPr marL="203200" lvl="1" indent="-144780" eaLnBrk="1" hangingPunct="1">
              <a:lnSpc>
                <a:spcPct val="105000"/>
              </a:lnSpc>
              <a:spcBef>
                <a:spcPct val="25000"/>
              </a:spcBef>
              <a:buClr>
                <a:srgbClr val="339966"/>
              </a:buClr>
            </a:pPr>
            <a:r>
              <a:rPr lang="zh-CN" altLang="zh-CN" sz="1410">
                <a:ea typeface="宋体" pitchFamily="2" charset="-122"/>
              </a:rPr>
              <a:t>许多长期劳动合同的COLA </a:t>
            </a:r>
            <a:endParaRPr lang="zh-CN" altLang="zh-CN" sz="1410">
              <a:ea typeface="宋体" pitchFamily="2" charset="-122"/>
            </a:endParaRPr>
          </a:p>
          <a:p>
            <a:pPr marL="203200" lvl="1" indent="-144780" eaLnBrk="1" hangingPunct="1">
              <a:lnSpc>
                <a:spcPct val="105000"/>
              </a:lnSpc>
              <a:spcBef>
                <a:spcPct val="25000"/>
              </a:spcBef>
              <a:buClr>
                <a:srgbClr val="339966"/>
              </a:buClr>
            </a:pPr>
            <a:r>
              <a:rPr lang="zh-CN" altLang="zh-CN" sz="1410">
                <a:ea typeface="宋体" pitchFamily="2" charset="-122"/>
              </a:rPr>
              <a:t>社会保障补助和联邦所得税等级的调整</a:t>
            </a:r>
            <a:endParaRPr lang="zh-CN" altLang="zh-CN" sz="1410">
              <a:ea typeface="宋体" pitchFamily="2" charset="-122"/>
            </a:endParaRPr>
          </a:p>
        </p:txBody>
      </p:sp>
      <p:sp>
        <p:nvSpPr>
          <p:cNvPr id="52230" name="Text Box 4"/>
          <p:cNvSpPr txBox="1">
            <a:spLocks noChangeArrowheads="1"/>
          </p:cNvSpPr>
          <p:nvPr/>
        </p:nvSpPr>
        <p:spPr bwMode="auto">
          <a:xfrm>
            <a:off x="416190" y="702707"/>
            <a:ext cx="3839349" cy="790760"/>
          </a:xfrm>
          <a:prstGeom prst="rect">
            <a:avLst/>
          </a:prstGeom>
          <a:gradFill rotWithShape="1">
            <a:gsLst>
              <a:gs pos="0">
                <a:srgbClr val="FFCCFF"/>
              </a:gs>
              <a:gs pos="50000">
                <a:srgbClr val="CCECFF"/>
              </a:gs>
              <a:gs pos="100000">
                <a:srgbClr val="FFCCFF"/>
              </a:gs>
            </a:gsLst>
            <a:lin ang="18900000" scaled="1"/>
          </a:gradFill>
          <a:ln w="9525">
            <a:solidFill>
              <a:schemeClr val="tx1"/>
            </a:solidFill>
            <a:miter lim="800000"/>
          </a:ln>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50000"/>
              </a:spcBef>
              <a:spcAft>
                <a:spcPct val="0"/>
              </a:spcAft>
            </a:pPr>
            <a:r>
              <a:rPr lang="zh-CN" altLang="zh-CN" sz="1460">
                <a:solidFill>
                  <a:srgbClr val="000000"/>
                </a:solidFill>
                <a:effectLst>
                  <a:outerShdw blurRad="38100" dist="38100" dir="2700000" algn="tl">
                    <a:srgbClr val="FFFFFF"/>
                  </a:outerShdw>
                </a:effectLst>
                <a:ea typeface="宋体" pitchFamily="2" charset="-122"/>
              </a:rPr>
              <a:t>当某一美元根据法律或合同自动地按物价水平的变动校正时，这种美元量就称为通货膨胀的指数化</a:t>
            </a:r>
            <a:endParaRPr lang="zh-CN" altLang="en-US" sz="1460">
              <a:solidFill>
                <a:srgbClr val="000000"/>
              </a:solidFill>
              <a:effectLst>
                <a:outerShdw blurRad="38100" dist="38100" dir="2700000" algn="tl">
                  <a:srgbClr val="FFFFFF"/>
                </a:outerShdw>
              </a:effectLst>
              <a:ea typeface="宋体" pitchFamily="2" charset="-122"/>
              <a:cs typeface="Arial" panose="020B0604020202090204" pitchFamily="34" charset="0"/>
            </a:endParaRPr>
          </a:p>
        </p:txBody>
      </p:sp>
      <p:sp>
        <p:nvSpPr>
          <p:cNvPr id="52231" name="FlagCount" hidden="1">
            <a:hlinkClick r:id="rId1" action="ppaction://hlinkfile"/>
          </p:cNvPr>
          <p:cNvSpPr>
            <a:spLocks noChangeArrowheads="1"/>
          </p:cNvSpPr>
          <p:nvPr/>
        </p:nvSpPr>
        <p:spPr bwMode="auto">
          <a:xfrm>
            <a:off x="4161896" y="168063"/>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dissolve">
                                      <p:cBhvr>
                                        <p:cTn id="7" dur="500"/>
                                        <p:tgtEl>
                                          <p:spTgt spid="522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29">
                                            <p:txEl>
                                              <p:pRg st="0" end="0"/>
                                            </p:txEl>
                                          </p:spTgt>
                                        </p:tgtEl>
                                        <p:attrNameLst>
                                          <p:attrName>style.visibility</p:attrName>
                                        </p:attrNameLst>
                                      </p:cBhvr>
                                      <p:to>
                                        <p:strVal val="visible"/>
                                      </p:to>
                                    </p:set>
                                    <p:animEffect transition="in" filter="wipe(left)">
                                      <p:cBhvr>
                                        <p:cTn id="12" dur="500"/>
                                        <p:tgtEl>
                                          <p:spTgt spid="5222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229">
                                            <p:txEl>
                                              <p:pRg st="1" end="1"/>
                                            </p:txEl>
                                          </p:spTgt>
                                        </p:tgtEl>
                                        <p:attrNameLst>
                                          <p:attrName>style.visibility</p:attrName>
                                        </p:attrNameLst>
                                      </p:cBhvr>
                                      <p:to>
                                        <p:strVal val="visible"/>
                                      </p:to>
                                    </p:set>
                                    <p:animEffect transition="in" filter="wipe(left)">
                                      <p:cBhvr>
                                        <p:cTn id="17" dur="500"/>
                                        <p:tgtEl>
                                          <p:spTgt spid="5222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2229">
                                            <p:txEl>
                                              <p:pRg st="2" end="2"/>
                                            </p:txEl>
                                          </p:spTgt>
                                        </p:tgtEl>
                                        <p:attrNameLst>
                                          <p:attrName>style.visibility</p:attrName>
                                        </p:attrNameLst>
                                      </p:cBhvr>
                                      <p:to>
                                        <p:strVal val="visible"/>
                                      </p:to>
                                    </p:set>
                                    <p:animEffect transition="in" filter="wipe(left)">
                                      <p:cBhvr>
                                        <p:cTn id="22" dur="500"/>
                                        <p:tgtEl>
                                          <p:spTgt spid="522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ldLvl="5" autoUpdateAnimBg="0" build="p"/>
      <p:bldP spid="52230"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53251"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AB718C87-83ED-8A42-88F0-92A3D3260544}"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53252" name="Rectangle 2"/>
          <p:cNvSpPr>
            <a:spLocks noGrp="1" noChangeArrowheads="1"/>
          </p:cNvSpPr>
          <p:nvPr>
            <p:ph type="title" idx="4294967295"/>
          </p:nvPr>
        </p:nvSpPr>
        <p:spPr>
          <a:xfrm>
            <a:off x="11205" y="151256"/>
            <a:ext cx="4610100" cy="420191"/>
          </a:xfrm>
        </p:spPr>
        <p:txBody>
          <a:bodyPr/>
          <a:lstStyle/>
          <a:p>
            <a:pPr eaLnBrk="1" hangingPunct="1">
              <a:lnSpc>
                <a:spcPct val="105000"/>
              </a:lnSpc>
            </a:pPr>
            <a:r>
              <a:rPr lang="zh-CN" altLang="zh-CN" sz="1615">
                <a:ea typeface="宋体" pitchFamily="2" charset="-122"/>
              </a:rPr>
              <a:t>根据通货膨胀的影响校正经济变量：</a:t>
            </a:r>
            <a:br>
              <a:rPr lang="zh-CN" altLang="zh-CN" sz="1615">
                <a:ea typeface="宋体" pitchFamily="2" charset="-122"/>
              </a:rPr>
            </a:br>
            <a:r>
              <a:rPr lang="zh-CN" altLang="zh-CN" sz="1615">
                <a:solidFill>
                  <a:srgbClr val="CC0000"/>
                </a:solidFill>
                <a:ea typeface="宋体" pitchFamily="2" charset="-122"/>
              </a:rPr>
              <a:t>真实利率与名义利率</a:t>
            </a:r>
            <a:endParaRPr lang="zh-CN" altLang="zh-CN" sz="1615">
              <a:solidFill>
                <a:srgbClr val="CC0000"/>
              </a:solidFill>
              <a:ea typeface="宋体" pitchFamily="2" charset="-122"/>
            </a:endParaRPr>
          </a:p>
        </p:txBody>
      </p:sp>
      <p:sp>
        <p:nvSpPr>
          <p:cNvPr id="53253" name="Rectangle 3"/>
          <p:cNvSpPr>
            <a:spLocks noGrp="1" noChangeArrowheads="1"/>
          </p:cNvSpPr>
          <p:nvPr>
            <p:ph type="body" idx="4294967295"/>
          </p:nvPr>
        </p:nvSpPr>
        <p:spPr>
          <a:xfrm>
            <a:off x="230505" y="631475"/>
            <a:ext cx="4149090" cy="2694827"/>
          </a:xfrm>
        </p:spPr>
        <p:txBody>
          <a:bodyPr/>
          <a:lstStyle/>
          <a:p>
            <a:pPr marL="0" indent="0" eaLnBrk="1" hangingPunct="1">
              <a:buNone/>
            </a:pPr>
            <a:r>
              <a:rPr lang="zh-CN" altLang="zh-CN">
                <a:ea typeface="宋体" pitchFamily="2" charset="-122"/>
              </a:rPr>
              <a:t>名义利率： </a:t>
            </a:r>
            <a:endParaRPr lang="zh-CN" altLang="zh-CN">
              <a:ea typeface="宋体" pitchFamily="2" charset="-122"/>
            </a:endParaRPr>
          </a:p>
          <a:p>
            <a:pPr marL="201930" lvl="1" eaLnBrk="1" hangingPunct="1">
              <a:lnSpc>
                <a:spcPct val="105000"/>
              </a:lnSpc>
              <a:buClr>
                <a:srgbClr val="339966"/>
              </a:buClr>
            </a:pPr>
            <a:r>
              <a:rPr lang="zh-CN" altLang="zh-CN">
                <a:ea typeface="宋体" pitchFamily="2" charset="-122"/>
              </a:rPr>
              <a:t>未根据通货膨胀的影响校正的利率</a:t>
            </a:r>
            <a:endParaRPr lang="zh-CN" altLang="zh-CN">
              <a:ea typeface="宋体" pitchFamily="2" charset="-122"/>
            </a:endParaRPr>
          </a:p>
          <a:p>
            <a:pPr marL="201930" lvl="1" eaLnBrk="1" hangingPunct="1">
              <a:lnSpc>
                <a:spcPct val="105000"/>
              </a:lnSpc>
              <a:buClr>
                <a:srgbClr val="339966"/>
              </a:buClr>
            </a:pPr>
            <a:r>
              <a:rPr lang="zh-CN" altLang="zh-CN">
                <a:ea typeface="宋体" pitchFamily="2" charset="-122"/>
              </a:rPr>
              <a:t>存款或债务的美元价值的增长率</a:t>
            </a:r>
            <a:endParaRPr lang="zh-CN" altLang="zh-CN">
              <a:ea typeface="宋体" pitchFamily="2" charset="-122"/>
            </a:endParaRPr>
          </a:p>
          <a:p>
            <a:pPr marL="0" indent="0" eaLnBrk="1" hangingPunct="1">
              <a:spcBef>
                <a:spcPct val="40000"/>
              </a:spcBef>
              <a:buNone/>
            </a:pPr>
            <a:r>
              <a:rPr lang="zh-CN" altLang="zh-CN">
                <a:ea typeface="宋体" pitchFamily="2" charset="-122"/>
              </a:rPr>
              <a:t>真实利率:</a:t>
            </a:r>
            <a:endParaRPr lang="zh-CN" altLang="zh-CN">
              <a:ea typeface="宋体" pitchFamily="2" charset="-122"/>
            </a:endParaRPr>
          </a:p>
          <a:p>
            <a:pPr marL="201930" lvl="1" eaLnBrk="1" hangingPunct="1">
              <a:lnSpc>
                <a:spcPct val="105000"/>
              </a:lnSpc>
              <a:buClr>
                <a:srgbClr val="339966"/>
              </a:buClr>
            </a:pPr>
            <a:r>
              <a:rPr lang="zh-CN" altLang="zh-CN">
                <a:ea typeface="宋体" pitchFamily="2" charset="-122"/>
              </a:rPr>
              <a:t>根据通货膨胀的影响校正过的利率</a:t>
            </a:r>
            <a:endParaRPr lang="zh-CN" altLang="zh-CN">
              <a:ea typeface="宋体" pitchFamily="2" charset="-122"/>
            </a:endParaRPr>
          </a:p>
          <a:p>
            <a:pPr marL="201930" lvl="1" eaLnBrk="1" hangingPunct="1">
              <a:lnSpc>
                <a:spcPct val="105000"/>
              </a:lnSpc>
              <a:buClr>
                <a:srgbClr val="339966"/>
              </a:buClr>
            </a:pPr>
            <a:r>
              <a:rPr lang="zh-CN" altLang="zh-CN">
                <a:ea typeface="宋体" pitchFamily="2" charset="-122"/>
              </a:rPr>
              <a:t>存款或债务的实际购买力的增长率</a:t>
            </a:r>
            <a:endParaRPr lang="zh-CN" altLang="zh-CN">
              <a:ea typeface="宋体" pitchFamily="2" charset="-122"/>
            </a:endParaRPr>
          </a:p>
          <a:p>
            <a:pPr marL="0" indent="0" eaLnBrk="1" hangingPunct="1">
              <a:buNone/>
            </a:pPr>
            <a:r>
              <a:rPr lang="zh-CN" altLang="zh-CN">
                <a:solidFill>
                  <a:srgbClr val="FF0000"/>
                </a:solidFill>
                <a:ea typeface="宋体" pitchFamily="2" charset="-122"/>
              </a:rPr>
              <a:t>真实利率 </a:t>
            </a:r>
            <a:br>
              <a:rPr lang="zh-CN" altLang="zh-CN">
                <a:solidFill>
                  <a:srgbClr val="FF0000"/>
                </a:solidFill>
                <a:ea typeface="宋体" pitchFamily="2" charset="-122"/>
              </a:rPr>
            </a:br>
            <a:r>
              <a:rPr lang="zh-CN" altLang="zh-CN">
                <a:solidFill>
                  <a:srgbClr val="FF0000"/>
                </a:solidFill>
                <a:ea typeface="宋体" pitchFamily="2" charset="-122"/>
              </a:rPr>
              <a:t>   =  (名义利率) – (通货膨胀率)</a:t>
            </a:r>
            <a:endParaRPr lang="zh-CN" altLang="zh-CN">
              <a:solidFill>
                <a:srgbClr val="FF0000"/>
              </a:solidFill>
              <a:ea typeface="宋体" pitchFamily="2" charset="-122"/>
            </a:endParaRPr>
          </a:p>
        </p:txBody>
      </p:sp>
      <p:sp>
        <p:nvSpPr>
          <p:cNvPr id="53254" name="FlagCount" hidden="1">
            <a:hlinkClick r:id="rId1" action="ppaction://hlinkfile"/>
          </p:cNvPr>
          <p:cNvSpPr>
            <a:spLocks noChangeArrowheads="1"/>
          </p:cNvSpPr>
          <p:nvPr/>
        </p:nvSpPr>
        <p:spPr bwMode="auto">
          <a:xfrm>
            <a:off x="4161896" y="161660"/>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页脚占位符 1"/>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defTabSz="461010" eaLnBrk="1" fontAlgn="base" hangingPunct="1">
              <a:spcBef>
                <a:spcPct val="0"/>
              </a:spcBef>
              <a:spcAft>
                <a:spcPct val="0"/>
              </a:spcAft>
            </a:pPr>
            <a:r>
              <a:rPr lang="zh-CN" altLang="en-US" sz="910" i="1" dirty="0">
                <a:solidFill>
                  <a:srgbClr val="777777"/>
                </a:solidFill>
                <a:ea typeface="宋体" pitchFamily="2" charset="-122"/>
              </a:rPr>
              <a:t>价格水平及其衡量</a:t>
            </a:r>
            <a:endParaRPr lang="en-US" altLang="zh-CN" sz="910" i="1" dirty="0">
              <a:solidFill>
                <a:srgbClr val="777777"/>
              </a:solidFill>
              <a:ea typeface="宋体" pitchFamily="2" charset="-122"/>
            </a:endParaRPr>
          </a:p>
        </p:txBody>
      </p:sp>
      <p:sp>
        <p:nvSpPr>
          <p:cNvPr id="54275" name="灯片编号占位符 2"/>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DEE6DE31-779F-A947-A106-011079E22C3B}" type="slidenum">
              <a:rPr lang="zh-CN" altLang="zh-CN" sz="855">
                <a:solidFill>
                  <a:srgbClr val="777777"/>
                </a:solidFill>
                <a:ea typeface="宋体" pitchFamily="2" charset="-122"/>
              </a:rPr>
            </a:fld>
            <a:endParaRPr lang="zh-CN" altLang="zh-CN" sz="855">
              <a:solidFill>
                <a:srgbClr val="777777"/>
              </a:solidFill>
              <a:ea typeface="宋体" pitchFamily="2" charset="-122"/>
            </a:endParaRPr>
          </a:p>
        </p:txBody>
      </p:sp>
      <p:sp>
        <p:nvSpPr>
          <p:cNvPr id="54276" name="Rectangle 2"/>
          <p:cNvSpPr>
            <a:spLocks noGrp="1" noChangeArrowheads="1"/>
          </p:cNvSpPr>
          <p:nvPr>
            <p:ph type="title" idx="4294967295"/>
          </p:nvPr>
        </p:nvSpPr>
        <p:spPr>
          <a:xfrm>
            <a:off x="243311" y="185672"/>
            <a:ext cx="4161096" cy="481819"/>
          </a:xfrm>
        </p:spPr>
        <p:txBody>
          <a:bodyPr/>
          <a:lstStyle/>
          <a:p>
            <a:pPr eaLnBrk="1" hangingPunct="1">
              <a:lnSpc>
                <a:spcPct val="105000"/>
              </a:lnSpc>
            </a:pPr>
            <a:r>
              <a:rPr lang="zh-CN" altLang="zh-CN" sz="1615">
                <a:ea typeface="宋体" pitchFamily="2" charset="-122"/>
              </a:rPr>
              <a:t>根据通货膨胀的影响校正经济变量：</a:t>
            </a:r>
            <a:br>
              <a:rPr lang="zh-CN" altLang="zh-CN" sz="1615">
                <a:ea typeface="宋体" pitchFamily="2" charset="-122"/>
              </a:rPr>
            </a:br>
            <a:r>
              <a:rPr lang="zh-CN" altLang="zh-CN" sz="1615">
                <a:solidFill>
                  <a:srgbClr val="CC0000"/>
                </a:solidFill>
                <a:ea typeface="宋体" pitchFamily="2" charset="-122"/>
              </a:rPr>
              <a:t>真实利率与名义利率</a:t>
            </a:r>
            <a:endParaRPr lang="zh-CN" altLang="zh-CN" sz="1615">
              <a:solidFill>
                <a:srgbClr val="CC0000"/>
              </a:solidFill>
              <a:ea typeface="宋体" pitchFamily="2" charset="-122"/>
            </a:endParaRPr>
          </a:p>
        </p:txBody>
      </p:sp>
      <p:sp>
        <p:nvSpPr>
          <p:cNvPr id="54277" name="Rectangle 3"/>
          <p:cNvSpPr>
            <a:spLocks noGrp="1" noChangeArrowheads="1"/>
          </p:cNvSpPr>
          <p:nvPr>
            <p:ph type="body" idx="4294967295"/>
          </p:nvPr>
        </p:nvSpPr>
        <p:spPr>
          <a:xfrm>
            <a:off x="244912" y="707509"/>
            <a:ext cx="4149090" cy="2392290"/>
          </a:xfrm>
        </p:spPr>
        <p:txBody>
          <a:bodyPr/>
          <a:lstStyle/>
          <a:p>
            <a:pPr marL="0" indent="0" eaLnBrk="1" hangingPunct="1">
              <a:spcBef>
                <a:spcPct val="30000"/>
              </a:spcBef>
              <a:buNone/>
            </a:pPr>
            <a:r>
              <a:rPr lang="zh-CN" altLang="zh-CN">
                <a:ea typeface="宋体" pitchFamily="2" charset="-122"/>
              </a:rPr>
              <a:t>例如：</a:t>
            </a:r>
            <a:endParaRPr lang="zh-CN" altLang="zh-CN">
              <a:ea typeface="宋体" pitchFamily="2" charset="-122"/>
            </a:endParaRPr>
          </a:p>
          <a:p>
            <a:pPr marL="262255" lvl="1" indent="-179070" eaLnBrk="1" hangingPunct="1">
              <a:lnSpc>
                <a:spcPct val="105000"/>
              </a:lnSpc>
              <a:spcBef>
                <a:spcPct val="30000"/>
              </a:spcBef>
            </a:pPr>
            <a:r>
              <a:rPr lang="zh-CN" altLang="zh-CN">
                <a:ea typeface="宋体" pitchFamily="2" charset="-122"/>
              </a:rPr>
              <a:t>存入一年期限的1000美元存款</a:t>
            </a:r>
            <a:endParaRPr lang="zh-CN" altLang="zh-CN">
              <a:ea typeface="宋体" pitchFamily="2" charset="-122"/>
            </a:endParaRPr>
          </a:p>
          <a:p>
            <a:pPr marL="262255" lvl="1" indent="-179070" eaLnBrk="1" hangingPunct="1">
              <a:lnSpc>
                <a:spcPct val="105000"/>
              </a:lnSpc>
              <a:spcBef>
                <a:spcPct val="30000"/>
              </a:spcBef>
            </a:pPr>
            <a:r>
              <a:rPr lang="zh-CN" altLang="zh-CN">
                <a:ea typeface="宋体" pitchFamily="2" charset="-122"/>
              </a:rPr>
              <a:t>名义利率为9% </a:t>
            </a:r>
            <a:endParaRPr lang="zh-CN" altLang="zh-CN">
              <a:ea typeface="宋体" pitchFamily="2" charset="-122"/>
            </a:endParaRPr>
          </a:p>
          <a:p>
            <a:pPr marL="262255" lvl="1" indent="-179070" eaLnBrk="1" hangingPunct="1">
              <a:lnSpc>
                <a:spcPct val="105000"/>
              </a:lnSpc>
              <a:spcBef>
                <a:spcPct val="30000"/>
              </a:spcBef>
            </a:pPr>
            <a:r>
              <a:rPr lang="zh-CN" altLang="zh-CN">
                <a:ea typeface="宋体" pitchFamily="2" charset="-122"/>
              </a:rPr>
              <a:t>该年的通货膨胀率是3.5%</a:t>
            </a:r>
            <a:endParaRPr lang="zh-CN" altLang="zh-CN">
              <a:ea typeface="宋体" pitchFamily="2" charset="-122"/>
            </a:endParaRPr>
          </a:p>
          <a:p>
            <a:pPr marL="262255" lvl="1" indent="-179070" eaLnBrk="1" hangingPunct="1">
              <a:lnSpc>
                <a:spcPct val="105000"/>
              </a:lnSpc>
              <a:spcBef>
                <a:spcPct val="30000"/>
              </a:spcBef>
            </a:pPr>
            <a:r>
              <a:rPr lang="zh-CN" altLang="zh-CN">
                <a:ea typeface="宋体" pitchFamily="2" charset="-122"/>
              </a:rPr>
              <a:t>真实利率是 </a:t>
            </a:r>
            <a:br>
              <a:rPr lang="zh-CN" altLang="zh-CN">
                <a:ea typeface="宋体" pitchFamily="2" charset="-122"/>
              </a:rPr>
            </a:br>
            <a:r>
              <a:rPr lang="zh-CN" altLang="zh-CN">
                <a:ea typeface="宋体" pitchFamily="2" charset="-122"/>
              </a:rPr>
              <a:t>	= 名义利率 – 通货膨胀率</a:t>
            </a:r>
            <a:endParaRPr lang="zh-CN" altLang="zh-CN">
              <a:ea typeface="宋体" pitchFamily="2" charset="-122"/>
            </a:endParaRPr>
          </a:p>
          <a:p>
            <a:pPr marL="262255" lvl="1" indent="-179070" eaLnBrk="1" hangingPunct="1">
              <a:lnSpc>
                <a:spcPct val="105000"/>
              </a:lnSpc>
              <a:spcBef>
                <a:spcPct val="10000"/>
              </a:spcBef>
              <a:buNone/>
            </a:pPr>
            <a:r>
              <a:rPr lang="zh-CN" altLang="zh-CN">
                <a:ea typeface="宋体" pitchFamily="2" charset="-122"/>
              </a:rPr>
              <a:t>		=  9.0%  –  3.5%   =   </a:t>
            </a:r>
            <a:r>
              <a:rPr lang="zh-CN" altLang="zh-CN">
                <a:solidFill>
                  <a:srgbClr val="FF0000"/>
                </a:solidFill>
                <a:ea typeface="宋体" pitchFamily="2" charset="-122"/>
              </a:rPr>
              <a:t>5.5%</a:t>
            </a:r>
            <a:endParaRPr lang="zh-CN" altLang="zh-CN">
              <a:solidFill>
                <a:srgbClr val="FF0000"/>
              </a:solidFill>
              <a:ea typeface="宋体" pitchFamily="2" charset="-122"/>
            </a:endParaRPr>
          </a:p>
          <a:p>
            <a:pPr marL="262255" lvl="1" indent="-179070" eaLnBrk="1" hangingPunct="1">
              <a:lnSpc>
                <a:spcPct val="105000"/>
              </a:lnSpc>
              <a:spcBef>
                <a:spcPct val="30000"/>
              </a:spcBef>
            </a:pPr>
            <a:r>
              <a:rPr lang="zh-CN" altLang="zh-CN">
                <a:ea typeface="宋体" pitchFamily="2" charset="-122"/>
              </a:rPr>
              <a:t>1000美元存款的购买力增加了5.5%</a:t>
            </a:r>
            <a:endParaRPr lang="zh-CN" altLang="zh-CN">
              <a:ea typeface="宋体" pitchFamily="2" charset="-122"/>
            </a:endParaRPr>
          </a:p>
        </p:txBody>
      </p:sp>
      <p:sp>
        <p:nvSpPr>
          <p:cNvPr id="54278" name="FlagCount" hidden="1">
            <a:hlinkClick r:id="rId1" action="ppaction://hlinkfile"/>
          </p:cNvPr>
          <p:cNvSpPr>
            <a:spLocks noChangeArrowheads="1"/>
          </p:cNvSpPr>
          <p:nvPr/>
        </p:nvSpPr>
        <p:spPr bwMode="auto">
          <a:xfrm>
            <a:off x="4161896" y="161660"/>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ln>
        </p:spPr>
        <p:txBody>
          <a:bodyPr wrap="none" anchor="ct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461010" eaLnBrk="1" fontAlgn="base" hangingPunct="1">
              <a:spcBef>
                <a:spcPct val="0"/>
              </a:spcBef>
              <a:spcAft>
                <a:spcPct val="0"/>
              </a:spcAft>
            </a:pPr>
            <a:r>
              <a:rPr lang="en-US" altLang="zh-CN" sz="705" b="1">
                <a:solidFill>
                  <a:srgbClr val="000000"/>
                </a:solidFill>
                <a:latin typeface="Tahoma" panose="020B0604030504040204" pitchFamily="34" charset="0"/>
                <a:ea typeface="宋体" pitchFamily="2" charset="-122"/>
              </a:rPr>
              <a:t>0</a:t>
            </a:r>
            <a:endParaRPr lang="en-US" altLang="zh-CN" sz="705" b="1">
              <a:solidFill>
                <a:srgbClr val="000000"/>
              </a:solidFill>
              <a:latin typeface="Tahoma" panose="020B0604030504040204" pitchFamily="34" charset="0"/>
              <a:ea typeface="宋体" pitchFamily="2"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animEffect transition="in" filter="wipe(left)">
                                      <p:cBhvr>
                                        <p:cTn id="7" dur="500"/>
                                        <p:tgtEl>
                                          <p:spTgt spid="5427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4277">
                                            <p:txEl>
                                              <p:pRg st="1" end="1"/>
                                            </p:txEl>
                                          </p:spTgt>
                                        </p:tgtEl>
                                        <p:attrNameLst>
                                          <p:attrName>style.visibility</p:attrName>
                                        </p:attrNameLst>
                                      </p:cBhvr>
                                      <p:to>
                                        <p:strVal val="visible"/>
                                      </p:to>
                                    </p:set>
                                    <p:animEffect transition="in" filter="wipe(left)">
                                      <p:cBhvr>
                                        <p:cTn id="10" dur="500"/>
                                        <p:tgtEl>
                                          <p:spTgt spid="54277">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54277">
                                            <p:txEl>
                                              <p:pRg st="2" end="2"/>
                                            </p:txEl>
                                          </p:spTgt>
                                        </p:tgtEl>
                                        <p:attrNameLst>
                                          <p:attrName>style.visibility</p:attrName>
                                        </p:attrNameLst>
                                      </p:cBhvr>
                                      <p:to>
                                        <p:strVal val="visible"/>
                                      </p:to>
                                    </p:set>
                                    <p:animEffect transition="in" filter="wipe(left)">
                                      <p:cBhvr>
                                        <p:cTn id="13" dur="500"/>
                                        <p:tgtEl>
                                          <p:spTgt spid="5427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4277">
                                            <p:txEl>
                                              <p:pRg st="3" end="3"/>
                                            </p:txEl>
                                          </p:spTgt>
                                        </p:tgtEl>
                                        <p:attrNameLst>
                                          <p:attrName>style.visibility</p:attrName>
                                        </p:attrNameLst>
                                      </p:cBhvr>
                                      <p:to>
                                        <p:strVal val="visible"/>
                                      </p:to>
                                    </p:set>
                                    <p:animEffect transition="in" filter="wipe(left)">
                                      <p:cBhvr>
                                        <p:cTn id="18" dur="500"/>
                                        <p:tgtEl>
                                          <p:spTgt spid="5427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4277">
                                            <p:txEl>
                                              <p:pRg st="4" end="4"/>
                                            </p:txEl>
                                          </p:spTgt>
                                        </p:tgtEl>
                                        <p:attrNameLst>
                                          <p:attrName>style.visibility</p:attrName>
                                        </p:attrNameLst>
                                      </p:cBhvr>
                                      <p:to>
                                        <p:strVal val="visible"/>
                                      </p:to>
                                    </p:set>
                                    <p:animEffect transition="in" filter="wipe(left)">
                                      <p:cBhvr>
                                        <p:cTn id="23" dur="500"/>
                                        <p:tgtEl>
                                          <p:spTgt spid="5427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4277">
                                            <p:txEl>
                                              <p:pRg st="5" end="5"/>
                                            </p:txEl>
                                          </p:spTgt>
                                        </p:tgtEl>
                                        <p:attrNameLst>
                                          <p:attrName>style.visibility</p:attrName>
                                        </p:attrNameLst>
                                      </p:cBhvr>
                                      <p:to>
                                        <p:strVal val="visible"/>
                                      </p:to>
                                    </p:set>
                                    <p:animEffect transition="in" filter="wipe(left)">
                                      <p:cBhvr>
                                        <p:cTn id="28" dur="500"/>
                                        <p:tgtEl>
                                          <p:spTgt spid="5427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4277">
                                            <p:txEl>
                                              <p:pRg st="6" end="6"/>
                                            </p:txEl>
                                          </p:spTgt>
                                        </p:tgtEl>
                                        <p:attrNameLst>
                                          <p:attrName>style.visibility</p:attrName>
                                        </p:attrNameLst>
                                      </p:cBhvr>
                                      <p:to>
                                        <p:strVal val="visible"/>
                                      </p:to>
                                    </p:set>
                                    <p:animEffect transition="in" filter="wipe(left)">
                                      <p:cBhvr>
                                        <p:cTn id="33" dur="500"/>
                                        <p:tgtEl>
                                          <p:spTgt spid="5427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8" name="Rectangle 4"/>
          <p:cNvSpPr>
            <a:spLocks noGrp="1" noChangeArrowheads="1"/>
          </p:cNvSpPr>
          <p:nvPr>
            <p:ph type="body" idx="4294967295"/>
          </p:nvPr>
        </p:nvSpPr>
        <p:spPr>
          <a:xfrm>
            <a:off x="188086" y="1006046"/>
            <a:ext cx="4191509" cy="2293044"/>
          </a:xfrm>
        </p:spPr>
        <p:txBody>
          <a:bodyPr/>
          <a:lstStyle/>
          <a:p>
            <a:pPr eaLnBrk="1" hangingPunct="1">
              <a:lnSpc>
                <a:spcPct val="85000"/>
              </a:lnSpc>
              <a:buClr>
                <a:srgbClr val="996633"/>
              </a:buClr>
            </a:pPr>
            <a:r>
              <a:rPr lang="zh-CN" altLang="zh-CN">
                <a:ea typeface="宋体" pitchFamily="2" charset="-122"/>
              </a:rPr>
              <a:t>消费物价指数是生活费用的一种衡量指标，衡量普通消费者购买的一篮子物品与服务的费用    </a:t>
            </a:r>
            <a:endParaRPr lang="zh-CN" altLang="zh-CN">
              <a:ea typeface="宋体" pitchFamily="2" charset="-122"/>
            </a:endParaRPr>
          </a:p>
          <a:p>
            <a:pPr eaLnBrk="1" hangingPunct="1">
              <a:lnSpc>
                <a:spcPct val="85000"/>
              </a:lnSpc>
              <a:buClr>
                <a:srgbClr val="996633"/>
              </a:buClr>
            </a:pPr>
            <a:r>
              <a:rPr lang="zh-CN" altLang="zh-CN">
                <a:ea typeface="宋体" pitchFamily="2" charset="-122"/>
              </a:rPr>
              <a:t>用CPI来进行生活费用调整和校正通货膨胀影响的经济变量  </a:t>
            </a:r>
            <a:endParaRPr lang="zh-CN" altLang="zh-CN">
              <a:ea typeface="宋体" pitchFamily="2" charset="-122"/>
            </a:endParaRPr>
          </a:p>
          <a:p>
            <a:pPr eaLnBrk="1" hangingPunct="1">
              <a:lnSpc>
                <a:spcPct val="85000"/>
              </a:lnSpc>
              <a:buClr>
                <a:srgbClr val="996633"/>
              </a:buClr>
            </a:pPr>
            <a:r>
              <a:rPr lang="zh-CN" altLang="zh-CN">
                <a:ea typeface="宋体" pitchFamily="2" charset="-122"/>
              </a:rPr>
              <a:t>真实利率是经过通货膨胀校正的利率，等于名义利率减去通货膨胀率</a:t>
            </a:r>
            <a:r>
              <a:rPr lang="zh-CN" altLang="zh-CN" sz="1565">
                <a:ea typeface="宋体" pitchFamily="2" charset="-122"/>
              </a:rPr>
              <a:t> </a:t>
            </a:r>
            <a:br>
              <a:rPr lang="zh-CN" altLang="zh-CN" sz="1565">
                <a:ea typeface="宋体" pitchFamily="2" charset="-122"/>
              </a:rPr>
            </a:br>
            <a:endParaRPr lang="zh-CN" altLang="zh-CN" sz="1565">
              <a:ea typeface="宋体" pitchFamily="2" charset="-122"/>
            </a:endParaRPr>
          </a:p>
        </p:txBody>
      </p:sp>
      <p:sp>
        <p:nvSpPr>
          <p:cNvPr id="57349" name="Rectangle 5"/>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r" defTabSz="461010" eaLnBrk="1" fontAlgn="base" hangingPunct="1">
              <a:spcBef>
                <a:spcPct val="0"/>
              </a:spcBef>
              <a:spcAft>
                <a:spcPct val="0"/>
              </a:spcAft>
            </a:pPr>
            <a:fld id="{48D90E5C-3250-F048-81FA-99E28B86FA70}" type="slidenum">
              <a:rPr lang="zh-CN" altLang="zh-CN" sz="855">
                <a:solidFill>
                  <a:srgbClr val="777777"/>
                </a:solidFill>
                <a:latin typeface="Tahoma" panose="020B0604030504040204" pitchFamily="34" charset="0"/>
                <a:ea typeface="宋体" pitchFamily="2" charset="-122"/>
              </a:rPr>
            </a:fld>
            <a:endParaRPr lang="zh-CN" altLang="zh-CN" sz="855">
              <a:solidFill>
                <a:srgbClr val="777777"/>
              </a:solidFill>
              <a:latin typeface="Tahoma" panose="020B0604030504040204" pitchFamily="34" charset="0"/>
              <a:ea typeface="宋体" pitchFamily="2" charset="-122"/>
            </a:endParaRPr>
          </a:p>
        </p:txBody>
      </p:sp>
      <p:sp>
        <p:nvSpPr>
          <p:cNvPr id="2" name="Rectangle 2"/>
          <p:cNvSpPr txBox="1">
            <a:spLocks noChangeArrowheads="1"/>
          </p:cNvSpPr>
          <p:nvPr/>
        </p:nvSpPr>
        <p:spPr bwMode="auto">
          <a:xfrm>
            <a:off x="64029" y="112838"/>
            <a:ext cx="450765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1915" b="1" kern="1200">
                <a:solidFill>
                  <a:srgbClr val="333399"/>
                </a:solidFill>
                <a:latin typeface="+mj-lt"/>
                <a:ea typeface="+mj-ea"/>
                <a:cs typeface="+mj-cs"/>
              </a:defRPr>
            </a:lvl1pPr>
            <a:lvl2pPr algn="ctr" rtl="0" eaLnBrk="0" fontAlgn="base" hangingPunct="0">
              <a:spcBef>
                <a:spcPct val="0"/>
              </a:spcBef>
              <a:spcAft>
                <a:spcPct val="0"/>
              </a:spcAft>
              <a:defRPr sz="1915" b="1">
                <a:solidFill>
                  <a:srgbClr val="333399"/>
                </a:solidFill>
                <a:latin typeface="Book Antiqua" panose="02040602050305030304" pitchFamily="18" charset="0"/>
              </a:defRPr>
            </a:lvl2pPr>
            <a:lvl3pPr algn="ctr" rtl="0" eaLnBrk="0" fontAlgn="base" hangingPunct="0">
              <a:spcBef>
                <a:spcPct val="0"/>
              </a:spcBef>
              <a:spcAft>
                <a:spcPct val="0"/>
              </a:spcAft>
              <a:defRPr sz="1915" b="1">
                <a:solidFill>
                  <a:srgbClr val="333399"/>
                </a:solidFill>
                <a:latin typeface="Book Antiqua" panose="02040602050305030304" pitchFamily="18" charset="0"/>
              </a:defRPr>
            </a:lvl3pPr>
            <a:lvl4pPr algn="ctr" rtl="0" eaLnBrk="0" fontAlgn="base" hangingPunct="0">
              <a:spcBef>
                <a:spcPct val="0"/>
              </a:spcBef>
              <a:spcAft>
                <a:spcPct val="0"/>
              </a:spcAft>
              <a:defRPr sz="1915" b="1">
                <a:solidFill>
                  <a:srgbClr val="333399"/>
                </a:solidFill>
                <a:latin typeface="Book Antiqua" panose="02040602050305030304" pitchFamily="18" charset="0"/>
              </a:defRPr>
            </a:lvl4pPr>
            <a:lvl5pPr algn="ctr" rtl="0" eaLnBrk="0" fontAlgn="base" hangingPunct="0">
              <a:spcBef>
                <a:spcPct val="0"/>
              </a:spcBef>
              <a:spcAft>
                <a:spcPct val="0"/>
              </a:spcAft>
              <a:defRPr sz="1915" b="1">
                <a:solidFill>
                  <a:srgbClr val="333399"/>
                </a:solidFill>
                <a:latin typeface="Book Antiqua" panose="02040602050305030304" pitchFamily="18" charset="0"/>
              </a:defRPr>
            </a:lvl5pPr>
            <a:lvl6pPr marL="230505" algn="ctr" rtl="0" eaLnBrk="0" fontAlgn="base" hangingPunct="0">
              <a:spcBef>
                <a:spcPct val="0"/>
              </a:spcBef>
              <a:spcAft>
                <a:spcPct val="0"/>
              </a:spcAft>
              <a:defRPr sz="1915" b="1">
                <a:solidFill>
                  <a:srgbClr val="333399"/>
                </a:solidFill>
                <a:latin typeface="Book Antiqua" panose="02040602050305030304" pitchFamily="18" charset="0"/>
              </a:defRPr>
            </a:lvl6pPr>
            <a:lvl7pPr marL="461010" algn="ctr" rtl="0" eaLnBrk="0" fontAlgn="base" hangingPunct="0">
              <a:spcBef>
                <a:spcPct val="0"/>
              </a:spcBef>
              <a:spcAft>
                <a:spcPct val="0"/>
              </a:spcAft>
              <a:defRPr sz="1915" b="1">
                <a:solidFill>
                  <a:srgbClr val="333399"/>
                </a:solidFill>
                <a:latin typeface="Book Antiqua" panose="02040602050305030304" pitchFamily="18" charset="0"/>
              </a:defRPr>
            </a:lvl7pPr>
            <a:lvl8pPr marL="691515" algn="ctr" rtl="0" eaLnBrk="0" fontAlgn="base" hangingPunct="0">
              <a:spcBef>
                <a:spcPct val="0"/>
              </a:spcBef>
              <a:spcAft>
                <a:spcPct val="0"/>
              </a:spcAft>
              <a:defRPr sz="1915" b="1">
                <a:solidFill>
                  <a:srgbClr val="333399"/>
                </a:solidFill>
                <a:latin typeface="Book Antiqua" panose="02040602050305030304" pitchFamily="18" charset="0"/>
              </a:defRPr>
            </a:lvl8pPr>
            <a:lvl9pPr marL="922020" algn="ctr" rtl="0" eaLnBrk="0" fontAlgn="base" hangingPunct="0">
              <a:spcBef>
                <a:spcPct val="0"/>
              </a:spcBef>
              <a:spcAft>
                <a:spcPct val="0"/>
              </a:spcAft>
              <a:defRPr sz="1915" b="1">
                <a:solidFill>
                  <a:srgbClr val="333399"/>
                </a:solidFill>
                <a:latin typeface="Book Antiqua" panose="02040602050305030304" pitchFamily="18" charset="0"/>
              </a:defRPr>
            </a:lvl9pPr>
          </a:lstStyle>
          <a:p>
            <a:pPr eaLnBrk="1" hangingPunct="1"/>
            <a:r>
              <a:rPr lang="zh-CN" altLang="en-US" sz="1815" dirty="0">
                <a:ea typeface="宋体" pitchFamily="2" charset="-122"/>
              </a:rPr>
              <a:t>本节小节</a:t>
            </a:r>
            <a:endParaRPr lang="zh-CN" altLang="zh-CN" sz="1815" dirty="0">
              <a:ea typeface="宋体" pitchFamily="2" charset="-122"/>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503" y="1545709"/>
            <a:ext cx="4419094" cy="369332"/>
          </a:xfrm>
        </p:spPr>
        <p:txBody>
          <a:bodyPr/>
          <a:lstStyle/>
          <a:p>
            <a:pPr algn="ctr"/>
            <a:r>
              <a:rPr kumimoji="1" lang="en-US" altLang="zh-CN" sz="2400" dirty="0"/>
              <a:t>Thanks!</a:t>
            </a:r>
            <a:endParaRPr kumimoji="1" lang="zh-CN" altLang="en-US" sz="24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4822</Words>
  <Application>WPS 表格</Application>
  <PresentationFormat>自定义</PresentationFormat>
  <Paragraphs>714</Paragraphs>
  <Slides>35</Slides>
  <Notes>16</Notes>
  <HiddenSlides>0</HiddenSlides>
  <MMClips>0</MMClips>
  <ScaleCrop>false</ScaleCrop>
  <HeadingPairs>
    <vt:vector size="8" baseType="variant">
      <vt:variant>
        <vt:lpstr>已用的字体</vt:lpstr>
      </vt:variant>
      <vt:variant>
        <vt:i4>28</vt:i4>
      </vt:variant>
      <vt:variant>
        <vt:lpstr>主题</vt:lpstr>
      </vt:variant>
      <vt:variant>
        <vt:i4>4</vt:i4>
      </vt:variant>
      <vt:variant>
        <vt:lpstr>嵌入 OLE 服务器</vt:lpstr>
      </vt:variant>
      <vt:variant>
        <vt:i4>2</vt:i4>
      </vt:variant>
      <vt:variant>
        <vt:lpstr>幻灯片标题</vt:lpstr>
      </vt:variant>
      <vt:variant>
        <vt:i4>35</vt:i4>
      </vt:variant>
    </vt:vector>
  </HeadingPairs>
  <TitlesOfParts>
    <vt:vector size="69" baseType="lpstr">
      <vt:lpstr>Arial</vt:lpstr>
      <vt:lpstr>宋体</vt:lpstr>
      <vt:lpstr>Wingdings</vt:lpstr>
      <vt:lpstr>Times New Roman</vt:lpstr>
      <vt:lpstr>Garamond</vt:lpstr>
      <vt:lpstr>苹方-简</vt:lpstr>
      <vt:lpstr>宋体</vt:lpstr>
      <vt:lpstr>汉仪书宋二KW</vt:lpstr>
      <vt:lpstr>Book Antiqua</vt:lpstr>
      <vt:lpstr>Times New Roman</vt:lpstr>
      <vt:lpstr>Tahoma</vt:lpstr>
      <vt:lpstr>DengXian</vt:lpstr>
      <vt:lpstr>汉仪中等线KW</vt:lpstr>
      <vt:lpstr>KaiTi</vt:lpstr>
      <vt:lpstr>微软雅黑</vt:lpstr>
      <vt:lpstr>Calibri</vt:lpstr>
      <vt:lpstr>Helvetica Neue</vt:lpstr>
      <vt:lpstr>汉仪楷体KW</vt:lpstr>
      <vt:lpstr>汉仪旗黑</vt:lpstr>
      <vt:lpstr>宋体</vt:lpstr>
      <vt:lpstr>Arial Unicode MS</vt:lpstr>
      <vt:lpstr>等线</vt:lpstr>
      <vt:lpstr>Cambria Math</vt:lpstr>
      <vt:lpstr>Kingsoft Math</vt:lpstr>
      <vt:lpstr>DengXian</vt:lpstr>
      <vt:lpstr>KaiTi</vt:lpstr>
      <vt:lpstr>Wingdings</vt:lpstr>
      <vt:lpstr>微软雅黑</vt:lpstr>
      <vt:lpstr>Office 主题​​</vt:lpstr>
      <vt:lpstr>Custom Design</vt:lpstr>
      <vt:lpstr>1_Custom Design</vt:lpstr>
      <vt:lpstr>2_Custom Design</vt:lpstr>
      <vt:lpstr>MSGraph.Chart.8</vt:lpstr>
      <vt:lpstr>Excel.Chart.8</vt:lpstr>
      <vt:lpstr>宏观经济学</vt:lpstr>
      <vt:lpstr>PowerPoint 演示文稿</vt:lpstr>
      <vt:lpstr>消费物价指数 (CPI)</vt:lpstr>
      <vt:lpstr>如何计算消费物价指数</vt:lpstr>
      <vt:lpstr>如何计算消费物价指数</vt:lpstr>
      <vt:lpstr>例：</vt:lpstr>
      <vt:lpstr>主动学习  1    计算 CPI</vt:lpstr>
      <vt:lpstr>主动学习  1    参考答案</vt:lpstr>
      <vt:lpstr>主动学习  1    参考答案</vt:lpstr>
      <vt:lpstr>CPI的篮子中有些什么?</vt:lpstr>
      <vt:lpstr>PowerPoint 演示文稿</vt:lpstr>
      <vt:lpstr>PowerPoint 演示文稿</vt:lpstr>
      <vt:lpstr>CPI与GDP平减指数的对比</vt:lpstr>
      <vt:lpstr>主动学习  3    CPI与GDP平减指数</vt:lpstr>
      <vt:lpstr>主动学习  3    参考答案</vt:lpstr>
      <vt:lpstr>CPI存在的问题:替代偏向</vt:lpstr>
      <vt:lpstr>主动学习  2    替代偏向</vt:lpstr>
      <vt:lpstr>主动学习  2    参考答案</vt:lpstr>
      <vt:lpstr>主动学习  2    参考答案</vt:lpstr>
      <vt:lpstr>CPI存在的问题:新产品的引进</vt:lpstr>
      <vt:lpstr>CPI存在的问题:无法衡量的质量变动</vt:lpstr>
      <vt:lpstr>CPI存在的问题</vt:lpstr>
      <vt:lpstr>通货膨胀的两个衡量指标：1950-2007</vt:lpstr>
      <vt:lpstr>通货膨胀</vt:lpstr>
      <vt:lpstr>根据通货膨胀的影响校正经济变量： 比较不同时期的美元数字</vt:lpstr>
      <vt:lpstr>根据通货膨胀的影响校正经济变量： 比较不同时期的美元数字</vt:lpstr>
      <vt:lpstr>根据通货膨胀的影响校正经济变量： 比较不同时期的美元数字</vt:lpstr>
      <vt:lpstr>用目前的美元和2007年的美元计算美国的最低工资，1950-2007</vt:lpstr>
      <vt:lpstr>主动学习  4    转换为“今天的美元”</vt:lpstr>
      <vt:lpstr>主动学习  4    参考答案</vt:lpstr>
      <vt:lpstr>根据通货膨胀的影响校正经济变量：指数化</vt:lpstr>
      <vt:lpstr>根据通货膨胀的影响校正经济变量： 真实利率与名义利率</vt:lpstr>
      <vt:lpstr>根据通货膨胀的影响校正经济变量： 真实利率与名义利率</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WPS_1601562174</cp:lastModifiedBy>
  <cp:revision>1489</cp:revision>
  <dcterms:created xsi:type="dcterms:W3CDTF">2026-04-02T02:08:51Z</dcterms:created>
  <dcterms:modified xsi:type="dcterms:W3CDTF">2026-04-02T02:08:51Z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2014-11-25T08:00:00Z</vt:filetime>
  </property>
  <property fmtid="{D5CDD505-2E9C-101B-9397-08002B2CF9AE}" pid="3" name="Creator">
    <vt:lpwstr>LaTeX with Beamer class version 3.33</vt:lpwstr>
  </property>
  <property fmtid="{D5CDD505-2E9C-101B-9397-08002B2CF9AE}" pid="4" name="LastSaved">
    <vt:filetime>2018-11-23T08:00:00Z</vt:filetime>
  </property>
  <property fmtid="{D5CDD505-2E9C-101B-9397-08002B2CF9AE}" pid="5" name="KSOProductBuildVer">
    <vt:lpwstr>2052-12.1.24031.24031</vt:lpwstr>
  </property>
  <property fmtid="{D5CDD505-2E9C-101B-9397-08002B2CF9AE}" pid="6" name="ICV">
    <vt:lpwstr>B59358E38A19E6D2B3CFCD69AE6D3DDF_43</vt:lpwstr>
  </property>
</Properties>
</file>