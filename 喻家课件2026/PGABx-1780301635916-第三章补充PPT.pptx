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1424" r:id="rId2"/>
    <p:sldId id="1426" r:id="rId3"/>
    <p:sldId id="1372" r:id="rId4"/>
    <p:sldId id="1425" r:id="rId5"/>
    <p:sldId id="1373" r:id="rId6"/>
    <p:sldId id="144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3" d="100"/>
          <a:sy n="93" d="100"/>
        </p:scale>
        <p:origin x="1278" y="6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 Box 14">
            <a:extLst>
              <a:ext uri="{FF2B5EF4-FFF2-40B4-BE49-F238E27FC236}">
                <a16:creationId xmlns:a16="http://schemas.microsoft.com/office/drawing/2014/main" id="{20239895-C156-5D90-B196-F2A0B1D232E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445252"/>
            <a:ext cx="9144000" cy="276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1199" i="1">
                <a:solidFill>
                  <a:srgbClr val="96969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© 2009 South-Western, a part of Cengage Learning, all rights reserved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F4849C1B-A9D0-E9AF-6A19-124EA435136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025" y="301625"/>
            <a:ext cx="1958975" cy="346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49">
                <a:solidFill>
                  <a:srgbClr val="00808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C H A P T E R</a:t>
            </a:r>
          </a:p>
        </p:txBody>
      </p:sp>
    </p:spTree>
    <p:extLst>
      <p:ext uri="{BB962C8B-B14F-4D97-AF65-F5344CB8AC3E}">
        <p14:creationId xmlns:p14="http://schemas.microsoft.com/office/powerpoint/2010/main" val="931992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IS- LM</a:t>
            </a:r>
            <a:r>
              <a:rPr lang="zh-CN" altLang="en-US"/>
              <a:t>模型</a:t>
            </a:r>
            <a:endParaRPr lang="zh-CN" altLang="zh-C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5CA96-F32A-7F4F-98C9-CA940BD9BB90}" type="slidenum">
              <a:rPr lang="zh-CN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2077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zh-CN"/>
              <a:t>一国收入的衡量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52F8A-5993-F941-9059-8758F3FCE6C7}" type="slidenum">
              <a:rPr lang="zh-CN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4675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zh-CN"/>
              <a:t>一国收入的衡量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4F7AA-C74F-4642-B3C6-9CC2F1DD8A1E}" type="slidenum">
              <a:rPr lang="zh-CN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0990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zh-CN"/>
              <a:t>一国收入的衡量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81451-FC73-D44F-A0E8-CF0A9828A28E}" type="slidenum">
              <a:rPr lang="zh-CN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9860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zh-CN"/>
              <a:t>一国收入的衡量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E734D-8C0F-6D40-9298-031592D104B3}" type="slidenum">
              <a:rPr lang="zh-CN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2111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zh-CN"/>
              <a:t>一国收入的衡量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9ECCE-9A67-6F4D-96F4-AF59AF685F27}" type="slidenum">
              <a:rPr lang="zh-CN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0846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zh-CN"/>
              <a:t>一国收入的衡量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19EBE-0DD8-064C-BD84-2B44820FB47D}" type="slidenum">
              <a:rPr lang="zh-CN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0520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zh-CN"/>
              <a:t>一国收入的衡量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6175B-25A3-0348-9995-252FAA117B57}" type="slidenum">
              <a:rPr lang="zh-CN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603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zh-CN"/>
              <a:t>一国收入的衡量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2A238-9660-194D-A420-58FAEDDE43DF}" type="slidenum">
              <a:rPr lang="zh-CN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0627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zh-CN"/>
              <a:t>一国收入的衡量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105D9-7A7C-6B49-807E-0CBDD1F99FD3}" type="slidenum">
              <a:rPr lang="zh-CN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4067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IS-LM</a:t>
            </a:r>
            <a:r>
              <a:rPr lang="zh-CN" altLang="en-US"/>
              <a:t>模型</a:t>
            </a:r>
            <a:endParaRPr lang="zh-CN" altLang="zh-C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33D32A-41AB-3244-B29B-0A71F7EBCF2E}" type="slidenum">
              <a:rPr lang="zh-CN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6394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90" userDrawn="1">
          <p15:clr>
            <a:srgbClr val="F26B43"/>
          </p15:clr>
        </p15:guide>
        <p15:guide id="2" pos="108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198D8-0DE3-793F-23C3-5B6DD4D71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C0DD8923-8682-5431-3168-AF8E45648E16}"/>
              </a:ext>
            </a:extLst>
          </p:cNvPr>
          <p:cNvGrpSpPr/>
          <p:nvPr/>
        </p:nvGrpSpPr>
        <p:grpSpPr>
          <a:xfrm>
            <a:off x="2573105" y="717800"/>
            <a:ext cx="3997790" cy="2991936"/>
            <a:chOff x="4572000" y="1825625"/>
            <a:chExt cx="4001461" cy="2994683"/>
          </a:xfrm>
        </p:grpSpPr>
        <p:pic>
          <p:nvPicPr>
            <p:cNvPr id="7" name="Picture 4" descr="xf1417">
              <a:extLst>
                <a:ext uri="{FF2B5EF4-FFF2-40B4-BE49-F238E27FC236}">
                  <a16:creationId xmlns:a16="http://schemas.microsoft.com/office/drawing/2014/main" id="{581A524C-22F5-147C-9FC4-8B0133AA4E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2000" y="1825625"/>
              <a:ext cx="4001461" cy="2720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34B916F-B595-2FC5-06B2-C3845355C249}"/>
                </a:ext>
              </a:extLst>
            </p:cNvPr>
            <p:cNvSpPr/>
            <p:nvPr/>
          </p:nvSpPr>
          <p:spPr>
            <a:xfrm>
              <a:off x="5094047" y="4450765"/>
              <a:ext cx="2957368" cy="3695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799" b="1" dirty="0">
                  <a:latin typeface="KaiTi" panose="02010609060101010101" pitchFamily="49" charset="-122"/>
                  <a:ea typeface="KaiTi" panose="02010609060101010101" pitchFamily="49" charset="-122"/>
                </a:rPr>
                <a:t>均衡收入和均衡利率的变动</a:t>
              </a:r>
            </a:p>
          </p:txBody>
        </p: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347C4137-B70A-5F7C-026D-3E18F3D54213}"/>
              </a:ext>
            </a:extLst>
          </p:cNvPr>
          <p:cNvSpPr/>
          <p:nvPr/>
        </p:nvSpPr>
        <p:spPr>
          <a:xfrm>
            <a:off x="148463" y="3935931"/>
            <a:ext cx="8704380" cy="867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411" indent="-228411">
              <a:lnSpc>
                <a:spcPct val="90000"/>
              </a:lnSpc>
              <a:spcBef>
                <a:spcPts val="999"/>
              </a:spcBef>
              <a:buFont typeface="Arial" panose="020B0604020202020204" pitchFamily="34" charset="0"/>
              <a:buChar char="•"/>
            </a:pPr>
            <a:r>
              <a:rPr lang="zh-CN" altLang="en-US" sz="2798" dirty="0">
                <a:latin typeface="Garamond" panose="02020404030301010803" pitchFamily="18" charset="0"/>
                <a:ea typeface="SimSun" panose="02010600030101010101" pitchFamily="2" charset="-122"/>
              </a:rPr>
              <a:t>两种政策都能提高收入，但对利率的影响不同：财政扩张通常提高利率，货币扩张通常降低利率。</a:t>
            </a:r>
          </a:p>
        </p:txBody>
      </p:sp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44C53133-D6FA-1EDE-2813-D1EE3791AF4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295786" y="6369998"/>
            <a:ext cx="682958" cy="367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defTabSz="912888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40B57475-AFD4-3C48-860A-4FC9F25FD75E}" type="slidenum">
              <a:rPr lang="zh-CN" altLang="zh-CN" sz="1696">
                <a:solidFill>
                  <a:srgbClr val="777777"/>
                </a:solidFill>
                <a:ea typeface="宋体" panose="02010600030101010101" pitchFamily="2" charset="-122"/>
              </a:rPr>
              <a:pPr algn="r" defTabSz="912888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zh-CN" altLang="zh-CN" sz="1696">
              <a:solidFill>
                <a:srgbClr val="777777"/>
              </a:solidFill>
              <a:ea typeface="宋体" panose="02010600030101010101" pitchFamily="2" charset="-122"/>
            </a:endParaRPr>
          </a:p>
        </p:txBody>
      </p:sp>
      <p:sp>
        <p:nvSpPr>
          <p:cNvPr id="11" name="页脚占位符 1">
            <a:extLst>
              <a:ext uri="{FF2B5EF4-FFF2-40B4-BE49-F238E27FC236}">
                <a16:creationId xmlns:a16="http://schemas.microsoft.com/office/drawing/2014/main" id="{D9E769DE-C1E0-201C-7985-58BECC9187B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293613" y="6387428"/>
            <a:ext cx="7322384" cy="3660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2888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797" i="1" dirty="0">
                <a:solidFill>
                  <a:srgbClr val="777777"/>
                </a:solidFill>
                <a:ea typeface="宋体" panose="02010600030101010101" pitchFamily="2" charset="-122"/>
              </a:rPr>
              <a:t>IS-LM</a:t>
            </a:r>
            <a:r>
              <a:rPr lang="zh-CN" altLang="en-US" sz="1797" i="1" dirty="0">
                <a:solidFill>
                  <a:srgbClr val="777777"/>
                </a:solidFill>
                <a:ea typeface="宋体" panose="02010600030101010101" pitchFamily="2" charset="-122"/>
              </a:rPr>
              <a:t>分析</a:t>
            </a:r>
            <a:endParaRPr lang="en-US" altLang="zh-CN" sz="1797" i="1" dirty="0">
              <a:solidFill>
                <a:srgbClr val="777777"/>
              </a:solidFill>
              <a:ea typeface="宋体" panose="02010600030101010101" pitchFamily="2" charset="-122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0A48D4F7-1FBD-8255-95D5-1F49C6EB8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70" y="104533"/>
            <a:ext cx="8402860" cy="633623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/>
              <a:t>均衡的变化与经济波动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9594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3213" y="1859358"/>
            <a:ext cx="7937574" cy="2919864"/>
          </a:xfrm>
        </p:spPr>
        <p:txBody>
          <a:bodyPr/>
          <a:lstStyle/>
          <a:p>
            <a:r>
              <a:rPr lang="zh-CN" altLang="zh-CN" sz="2774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自发</a:t>
            </a:r>
            <a:r>
              <a:rPr lang="zh-CN" altLang="en-US" sz="2774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投资的变化</a:t>
            </a:r>
            <a:r>
              <a:rPr lang="zh-CN" altLang="zh-CN" sz="2774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影响宏观经济的机制</a:t>
            </a:r>
          </a:p>
        </p:txBody>
      </p:sp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9449CC5C-E7BD-A163-AFA3-24109DCC297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295786" y="6369998"/>
            <a:ext cx="682958" cy="367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defTabSz="912888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40B57475-AFD4-3C48-860A-4FC9F25FD75E}" type="slidenum">
              <a:rPr lang="zh-CN" altLang="zh-CN" sz="1696">
                <a:solidFill>
                  <a:srgbClr val="777777"/>
                </a:solidFill>
                <a:ea typeface="宋体" panose="02010600030101010101" pitchFamily="2" charset="-122"/>
              </a:rPr>
              <a:pPr algn="r" defTabSz="912888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zh-CN" altLang="zh-CN" sz="1696">
              <a:solidFill>
                <a:srgbClr val="777777"/>
              </a:solidFill>
              <a:ea typeface="宋体" panose="02010600030101010101" pitchFamily="2" charset="-122"/>
            </a:endParaRPr>
          </a:p>
        </p:txBody>
      </p:sp>
      <p:sp>
        <p:nvSpPr>
          <p:cNvPr id="11" name="页脚占位符 1">
            <a:extLst>
              <a:ext uri="{FF2B5EF4-FFF2-40B4-BE49-F238E27FC236}">
                <a16:creationId xmlns:a16="http://schemas.microsoft.com/office/drawing/2014/main" id="{87895CFE-2B79-534E-0E31-9C51EAEBCF3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293613" y="6387428"/>
            <a:ext cx="7322384" cy="3660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2888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797" i="1" dirty="0">
                <a:solidFill>
                  <a:srgbClr val="777777"/>
                </a:solidFill>
                <a:ea typeface="宋体" panose="02010600030101010101" pitchFamily="2" charset="-122"/>
              </a:rPr>
              <a:t>IS-LM</a:t>
            </a:r>
            <a:r>
              <a:rPr lang="zh-CN" altLang="en-US" sz="1797" i="1" dirty="0">
                <a:solidFill>
                  <a:srgbClr val="777777"/>
                </a:solidFill>
                <a:ea typeface="宋体" panose="02010600030101010101" pitchFamily="2" charset="-122"/>
              </a:rPr>
              <a:t>分析</a:t>
            </a:r>
            <a:endParaRPr lang="en-US" altLang="zh-CN" sz="1797" i="1" dirty="0">
              <a:solidFill>
                <a:srgbClr val="777777"/>
              </a:solidFill>
              <a:ea typeface="宋体" panose="02010600030101010101" pitchFamily="2" charset="-122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CB7B4C1-46CC-4526-CBA6-2B34C6825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80" y="252416"/>
            <a:ext cx="8402860" cy="1220414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/>
              <a:t>均衡的变化与经济波动：</a:t>
            </a:r>
            <a:br>
              <a:rPr kumimoji="1" lang="en-US" altLang="zh-CN" dirty="0"/>
            </a:br>
            <a:r>
              <a:rPr kumimoji="1" lang="en-US" altLang="zh-CN" dirty="0"/>
              <a:t>IS</a:t>
            </a:r>
            <a:r>
              <a:rPr kumimoji="1" lang="zh-CN" altLang="en-US" dirty="0"/>
              <a:t>曲线方面的冲击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B3D0D1E-8A29-DD2A-43A2-D58EA0504C1B}"/>
                  </a:ext>
                </a:extLst>
              </p:cNvPr>
              <p:cNvSpPr txBox="1"/>
              <p:nvPr/>
            </p:nvSpPr>
            <p:spPr>
              <a:xfrm>
                <a:off x="386697" y="2532118"/>
                <a:ext cx="8894230" cy="4278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zh-CN" altLang="en-US" sz="218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自发投资</a:t>
                </a:r>
                <a:r>
                  <a:rPr lang="en-US" altLang="zh-CN" sz="218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r>
                  <a:rPr lang="zh-CN" altLang="en-US" sz="218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↓</a:t>
                </a:r>
                <a:r>
                  <a:rPr lang="zh-CN" altLang="en-US" sz="2180" kern="1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→ </a:t>
                </a:r>
                <a:r>
                  <a:rPr lang="en-US" altLang="zh-CN" sz="218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Y↓</a:t>
                </a:r>
                <a:r>
                  <a:rPr lang="zh-CN" altLang="en-US" sz="2180" kern="1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→</a:t>
                </a:r>
                <a:r>
                  <a:rPr lang="en-US" altLang="zh-CN" sz="218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18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ar-AE" altLang="zh-CN" sz="2180">
                        <a:latin typeface="Cambria Math" panose="02040503050406030204" pitchFamily="18" charset="0"/>
                      </a:rPr>
                      <m:t>↓</m:t>
                    </m:r>
                    <m:r>
                      <m:rPr>
                        <m:nor/>
                      </m:rPr>
                      <a:rPr lang="zh-CN" altLang="en-US" sz="2180" kern="1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→</m:t>
                    </m:r>
                    <m:r>
                      <a:rPr lang="zh-CN" altLang="ar-AE" sz="218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ar-AE" altLang="zh-CN" sz="2180">
                        <a:latin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zh-CN" altLang="en-US" sz="2180" kern="1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→</a:t>
                </a:r>
                <a14:m>
                  <m:oMath xmlns:m="http://schemas.openxmlformats.org/officeDocument/2006/math">
                    <m:r>
                      <a:rPr lang="zh-CN" altLang="ar-AE" sz="2180" i="1"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nor/>
                      </m:rPr>
                      <a:rPr lang="zh-CN" altLang="en-US" sz="2180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m:t>部分回升</m:t>
                    </m:r>
                    <m:r>
                      <m:rPr>
                        <m:nor/>
                      </m:rPr>
                      <a:rPr lang="zh-CN" altLang="en-US" sz="2180" kern="1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→</m:t>
                    </m:r>
                    <m:r>
                      <a:rPr lang="zh-CN" altLang="en-US" sz="218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zh-CN" altLang="en-US" sz="2180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部分</m:t>
                    </m:r>
                  </m:oMath>
                </a14:m>
                <a:r>
                  <a:rPr lang="zh-CN" altLang="en-US" sz="218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回升</a:t>
                </a:r>
                <a:r>
                  <a:rPr lang="zh-CN" altLang="en-US" sz="2180" kern="1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→</a:t>
                </a:r>
                <a:r>
                  <a:rPr lang="en-US" altLang="zh-CN" sz="2180" kern="1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……</a:t>
                </a:r>
                <a:endParaRPr lang="zh-CN" altLang="en-US" sz="218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B3D0D1E-8A29-DD2A-43A2-D58EA0504C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697" y="2532118"/>
                <a:ext cx="8894230" cy="427809"/>
              </a:xfrm>
              <a:prstGeom prst="rect">
                <a:avLst/>
              </a:prstGeom>
              <a:blipFill>
                <a:blip r:embed="rId2"/>
                <a:stretch>
                  <a:fillRect l="-822" t="-12676" b="-267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D3BD4B4D-1CC0-5DA2-76F7-BC60A38BDE47}"/>
              </a:ext>
            </a:extLst>
          </p:cNvPr>
          <p:cNvSpPr/>
          <p:nvPr/>
        </p:nvSpPr>
        <p:spPr>
          <a:xfrm>
            <a:off x="603212" y="3132889"/>
            <a:ext cx="1971061" cy="436774"/>
          </a:xfrm>
          <a:prstGeom prst="rect">
            <a:avLst/>
          </a:prstGeom>
          <a:solidFill>
            <a:srgbClr val="EFF3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982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产品市场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770BA68-CE1F-307D-09D9-F46830B912D7}"/>
              </a:ext>
            </a:extLst>
          </p:cNvPr>
          <p:cNvSpPr/>
          <p:nvPr/>
        </p:nvSpPr>
        <p:spPr>
          <a:xfrm>
            <a:off x="2888092" y="3141925"/>
            <a:ext cx="1413805" cy="436774"/>
          </a:xfrm>
          <a:prstGeom prst="rect">
            <a:avLst/>
          </a:prstGeom>
          <a:solidFill>
            <a:srgbClr val="EFF3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982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货币市场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4F6B252-B13A-345D-4279-73A1A44895D6}"/>
              </a:ext>
            </a:extLst>
          </p:cNvPr>
          <p:cNvSpPr/>
          <p:nvPr/>
        </p:nvSpPr>
        <p:spPr>
          <a:xfrm>
            <a:off x="4548210" y="3132889"/>
            <a:ext cx="2983067" cy="436774"/>
          </a:xfrm>
          <a:prstGeom prst="rect">
            <a:avLst/>
          </a:prstGeom>
          <a:solidFill>
            <a:srgbClr val="EFF3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982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产品市场</a:t>
            </a:r>
          </a:p>
        </p:txBody>
      </p:sp>
    </p:spTree>
    <p:extLst>
      <p:ext uri="{BB962C8B-B14F-4D97-AF65-F5344CB8AC3E}">
        <p14:creationId xmlns:p14="http://schemas.microsoft.com/office/powerpoint/2010/main" val="2868702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直线连接符 36">
            <a:extLst>
              <a:ext uri="{FF2B5EF4-FFF2-40B4-BE49-F238E27FC236}">
                <a16:creationId xmlns:a16="http://schemas.microsoft.com/office/drawing/2014/main" id="{DAC92D72-AC6D-B72F-CDC9-CC4EDE689CC1}"/>
              </a:ext>
            </a:extLst>
          </p:cNvPr>
          <p:cNvCxnSpPr>
            <a:cxnSpLocks/>
          </p:cNvCxnSpPr>
          <p:nvPr/>
        </p:nvCxnSpPr>
        <p:spPr>
          <a:xfrm>
            <a:off x="3564232" y="2671139"/>
            <a:ext cx="28169" cy="1947547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线连接符 33">
            <a:extLst>
              <a:ext uri="{FF2B5EF4-FFF2-40B4-BE49-F238E27FC236}">
                <a16:creationId xmlns:a16="http://schemas.microsoft.com/office/drawing/2014/main" id="{67B72157-3C16-722E-3F00-3AAD0423BCA1}"/>
              </a:ext>
            </a:extLst>
          </p:cNvPr>
          <p:cNvCxnSpPr>
            <a:cxnSpLocks/>
            <a:endCxn id="33" idx="0"/>
          </p:cNvCxnSpPr>
          <p:nvPr/>
        </p:nvCxnSpPr>
        <p:spPr>
          <a:xfrm>
            <a:off x="2358303" y="3167664"/>
            <a:ext cx="1666863" cy="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线连接符 39">
            <a:extLst>
              <a:ext uri="{FF2B5EF4-FFF2-40B4-BE49-F238E27FC236}">
                <a16:creationId xmlns:a16="http://schemas.microsoft.com/office/drawing/2014/main" id="{49DED8F6-FFCC-CFFE-A878-507D1E1B4F0C}"/>
              </a:ext>
            </a:extLst>
          </p:cNvPr>
          <p:cNvCxnSpPr>
            <a:cxnSpLocks/>
          </p:cNvCxnSpPr>
          <p:nvPr/>
        </p:nvCxnSpPr>
        <p:spPr>
          <a:xfrm>
            <a:off x="4121526" y="2671139"/>
            <a:ext cx="28169" cy="1947547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7184" y="637480"/>
            <a:ext cx="8310033" cy="593463"/>
          </a:xfrm>
        </p:spPr>
        <p:txBody>
          <a:bodyPr/>
          <a:lstStyle/>
          <a:p>
            <a:r>
              <a:rPr lang="zh-CN" altLang="en-US" sz="2774" dirty="0">
                <a:ea typeface="宋体" panose="02010600030101010101" pitchFamily="2" charset="-122"/>
                <a:cs typeface="Times New Roman" panose="02020603050405020304" pitchFamily="18" charset="0"/>
              </a:rPr>
              <a:t>自发</a:t>
            </a:r>
            <a:r>
              <a:rPr lang="zh-CN" altLang="zh-CN" sz="2774" dirty="0">
                <a:ea typeface="宋体" panose="02010600030101010101" pitchFamily="2" charset="-122"/>
                <a:cs typeface="Times New Roman" panose="02020603050405020304" pitchFamily="18" charset="0"/>
              </a:rPr>
              <a:t>投资减少对经济带来的冲击</a:t>
            </a:r>
            <a:r>
              <a:rPr lang="zh-CN" altLang="en-US" sz="2774" dirty="0"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774" dirty="0"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en-US" sz="2774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→ </a:t>
            </a:r>
            <a:r>
              <a:rPr lang="en-US" altLang="zh-CN" sz="2774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774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→ </a:t>
            </a:r>
            <a:r>
              <a:rPr lang="en-US" altLang="zh-CN" sz="2774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en-US" sz="2774" dirty="0"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zh-CN" sz="2774" dirty="0"/>
              <a:t> </a:t>
            </a:r>
            <a:endParaRPr lang="zh-CN" altLang="zh-CN" sz="2774" kern="1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9449CC5C-E7BD-A163-AFA3-24109DCC297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295786" y="6369998"/>
            <a:ext cx="682958" cy="367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defTabSz="912888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40B57475-AFD4-3C48-860A-4FC9F25FD75E}" type="slidenum">
              <a:rPr lang="zh-CN" altLang="zh-CN" sz="1696">
                <a:solidFill>
                  <a:srgbClr val="777777"/>
                </a:solidFill>
                <a:ea typeface="宋体" panose="02010600030101010101" pitchFamily="2" charset="-122"/>
              </a:rPr>
              <a:pPr algn="r" defTabSz="912888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zh-CN" altLang="zh-CN" sz="1696">
              <a:solidFill>
                <a:srgbClr val="777777"/>
              </a:solidFill>
              <a:ea typeface="宋体" panose="02010600030101010101" pitchFamily="2" charset="-122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CB7B4C1-46CC-4526-CBA6-2B34C6825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148" y="-259698"/>
            <a:ext cx="8402860" cy="1220414"/>
          </a:xfrm>
        </p:spPr>
        <p:txBody>
          <a:bodyPr/>
          <a:lstStyle/>
          <a:p>
            <a:r>
              <a:rPr kumimoji="1" lang="zh-CN" altLang="en-US" sz="3171" dirty="0"/>
              <a:t>均衡的变化与经济波动：</a:t>
            </a:r>
            <a:r>
              <a:rPr kumimoji="1" lang="en-US" altLang="zh-CN" sz="3171" dirty="0"/>
              <a:t>IS</a:t>
            </a:r>
            <a:r>
              <a:rPr kumimoji="1" lang="zh-CN" altLang="en-US" sz="3171" dirty="0"/>
              <a:t>曲线</a:t>
            </a:r>
            <a:endParaRPr lang="zh-CN" altLang="en-US" sz="3171" dirty="0"/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DF47AFA9-70AE-B114-B967-A559B1462038}"/>
              </a:ext>
            </a:extLst>
          </p:cNvPr>
          <p:cNvCxnSpPr>
            <a:cxnSpLocks/>
          </p:cNvCxnSpPr>
          <p:nvPr/>
        </p:nvCxnSpPr>
        <p:spPr>
          <a:xfrm flipH="1" flipV="1">
            <a:off x="3648517" y="1834347"/>
            <a:ext cx="2610211" cy="2328361"/>
          </a:xfrm>
          <a:prstGeom prst="line">
            <a:avLst/>
          </a:prstGeom>
          <a:ln w="158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CDB2C827-50BD-3076-1529-364E07140274}"/>
              </a:ext>
            </a:extLst>
          </p:cNvPr>
          <p:cNvSpPr/>
          <p:nvPr/>
        </p:nvSpPr>
        <p:spPr>
          <a:xfrm>
            <a:off x="2026257" y="4773541"/>
            <a:ext cx="5043907" cy="412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2081" b="1" dirty="0">
                <a:latin typeface="KaiTi" panose="02010609060101010101" pitchFamily="49" charset="-122"/>
                <a:ea typeface="KaiTi" panose="02010609060101010101" pitchFamily="49" charset="-122"/>
              </a:rPr>
              <a:t>产品市场和货币市场的一般均衡</a:t>
            </a: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C30BBA18-099C-E0AB-4ABB-A25AD8D814A6}"/>
              </a:ext>
            </a:extLst>
          </p:cNvPr>
          <p:cNvCxnSpPr>
            <a:cxnSpLocks/>
          </p:cNvCxnSpPr>
          <p:nvPr/>
        </p:nvCxnSpPr>
        <p:spPr>
          <a:xfrm>
            <a:off x="2350842" y="4570956"/>
            <a:ext cx="45037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DA4DB0D0-6F75-AC0E-382A-B92B08FC9D4D}"/>
              </a:ext>
            </a:extLst>
          </p:cNvPr>
          <p:cNvCxnSpPr/>
          <p:nvPr/>
        </p:nvCxnSpPr>
        <p:spPr>
          <a:xfrm flipV="1">
            <a:off x="2350842" y="1311798"/>
            <a:ext cx="0" cy="32591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D20A2EDA-9137-FBD3-E96C-D8BCD60ADA0D}"/>
              </a:ext>
            </a:extLst>
          </p:cNvPr>
          <p:cNvCxnSpPr>
            <a:cxnSpLocks/>
          </p:cNvCxnSpPr>
          <p:nvPr/>
        </p:nvCxnSpPr>
        <p:spPr>
          <a:xfrm flipH="1">
            <a:off x="3144516" y="1706604"/>
            <a:ext cx="2452407" cy="2452234"/>
          </a:xfrm>
          <a:prstGeom prst="line">
            <a:avLst/>
          </a:prstGeom>
          <a:ln w="158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FC6FDFDA-F02B-7203-91D8-219DFCD141FB}"/>
                  </a:ext>
                </a:extLst>
              </p:cNvPr>
              <p:cNvSpPr txBox="1"/>
              <p:nvPr/>
            </p:nvSpPr>
            <p:spPr>
              <a:xfrm>
                <a:off x="5411284" y="1410758"/>
                <a:ext cx="1030920" cy="3973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982" i="1">
                          <a:latin typeface="Cambria Math" panose="02040503050406030204" pitchFamily="18" charset="0"/>
                        </a:rPr>
                        <m:t>𝐿𝑀</m:t>
                      </m:r>
                    </m:oMath>
                  </m:oMathPara>
                </a14:m>
                <a:endParaRPr lang="zh-CN" altLang="en-US" sz="1982" i="1" dirty="0"/>
              </a:p>
            </p:txBody>
          </p:sp>
        </mc:Choice>
        <mc:Fallback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FC6FDFDA-F02B-7203-91D8-219DFCD141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1284" y="1410758"/>
                <a:ext cx="1030920" cy="3973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>
            <a:extLst>
              <a:ext uri="{FF2B5EF4-FFF2-40B4-BE49-F238E27FC236}">
                <a16:creationId xmlns:a16="http://schemas.microsoft.com/office/drawing/2014/main" id="{53A4E428-9958-F722-5505-9F54E7E60A8C}"/>
              </a:ext>
            </a:extLst>
          </p:cNvPr>
          <p:cNvSpPr txBox="1"/>
          <p:nvPr/>
        </p:nvSpPr>
        <p:spPr>
          <a:xfrm>
            <a:off x="1832423" y="1044814"/>
            <a:ext cx="322524" cy="6412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567" i="1" dirty="0">
                <a:latin typeface="Garamond" panose="02020404030301010803" pitchFamily="18" charset="0"/>
              </a:rPr>
              <a:t>r</a:t>
            </a:r>
            <a:endParaRPr kumimoji="1" lang="zh-CN" altLang="en-US" sz="3567" i="1" dirty="0">
              <a:latin typeface="Garamond" panose="02020404030301010803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F56A82C4-8E6A-20EC-7005-5FAE9F34CB3E}"/>
                  </a:ext>
                </a:extLst>
              </p:cNvPr>
              <p:cNvSpPr txBox="1"/>
              <p:nvPr/>
            </p:nvSpPr>
            <p:spPr>
              <a:xfrm>
                <a:off x="6870258" y="4288318"/>
                <a:ext cx="343595" cy="4278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180" i="1" dirty="0"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kumimoji="1" lang="zh-CN" altLang="en-US" sz="2180" dirty="0"/>
              </a:p>
            </p:txBody>
          </p:sp>
        </mc:Choice>
        <mc:Fallback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F56A82C4-8E6A-20EC-7005-5FAE9F34C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0258" y="4288318"/>
                <a:ext cx="343595" cy="427809"/>
              </a:xfrm>
              <a:prstGeom prst="rect">
                <a:avLst/>
              </a:prstGeom>
              <a:blipFill>
                <a:blip r:embed="rId3"/>
                <a:stretch>
                  <a:fillRect r="-17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D5FDC72F-D50A-C89F-F733-A09B0C18ADFF}"/>
              </a:ext>
            </a:extLst>
          </p:cNvPr>
          <p:cNvCxnSpPr>
            <a:cxnSpLocks/>
            <a:stCxn id="19" idx="0"/>
          </p:cNvCxnSpPr>
          <p:nvPr/>
        </p:nvCxnSpPr>
        <p:spPr>
          <a:xfrm>
            <a:off x="4626104" y="2614611"/>
            <a:ext cx="28169" cy="1947547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2FEA64E6-F561-8DC0-6639-DC641AD7631E}"/>
              </a:ext>
            </a:extLst>
          </p:cNvPr>
          <p:cNvCxnSpPr>
            <a:cxnSpLocks/>
            <a:endCxn id="19" idx="6"/>
          </p:cNvCxnSpPr>
          <p:nvPr/>
        </p:nvCxnSpPr>
        <p:spPr>
          <a:xfrm>
            <a:off x="2337008" y="2659911"/>
            <a:ext cx="2334393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椭圆 18">
            <a:extLst>
              <a:ext uri="{FF2B5EF4-FFF2-40B4-BE49-F238E27FC236}">
                <a16:creationId xmlns:a16="http://schemas.microsoft.com/office/drawing/2014/main" id="{6065A320-CB02-452F-814D-79A434A78473}"/>
              </a:ext>
            </a:extLst>
          </p:cNvPr>
          <p:cNvSpPr/>
          <p:nvPr/>
        </p:nvSpPr>
        <p:spPr>
          <a:xfrm>
            <a:off x="4580804" y="2614612"/>
            <a:ext cx="90599" cy="905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567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5B40C92-E915-9A5C-6345-180E31376EAB}"/>
              </a:ext>
            </a:extLst>
          </p:cNvPr>
          <p:cNvSpPr txBox="1"/>
          <p:nvPr/>
        </p:nvSpPr>
        <p:spPr>
          <a:xfrm>
            <a:off x="4628299" y="2441409"/>
            <a:ext cx="296876" cy="3668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784" dirty="0"/>
              <a:t>E</a:t>
            </a:r>
            <a:endParaRPr kumimoji="1" lang="zh-CN" altLang="en-US" sz="1784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C1EC9ADD-7095-6030-1538-80A9F721738B}"/>
                  </a:ext>
                </a:extLst>
              </p:cNvPr>
              <p:cNvSpPr txBox="1"/>
              <p:nvPr/>
            </p:nvSpPr>
            <p:spPr>
              <a:xfrm>
                <a:off x="1747964" y="2867980"/>
                <a:ext cx="498213" cy="4582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378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378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zh-CN" sz="2378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2378" dirty="0"/>
              </a:p>
            </p:txBody>
          </p:sp>
        </mc:Choice>
        <mc:Fallback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C1EC9ADD-7095-6030-1538-80A9F72173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7964" y="2867980"/>
                <a:ext cx="498213" cy="458267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本框 23">
            <a:extLst>
              <a:ext uri="{FF2B5EF4-FFF2-40B4-BE49-F238E27FC236}">
                <a16:creationId xmlns:a16="http://schemas.microsoft.com/office/drawing/2014/main" id="{CD7FF2E8-2554-8140-4857-AE9F1EE8471D}"/>
              </a:ext>
            </a:extLst>
          </p:cNvPr>
          <p:cNvSpPr txBox="1"/>
          <p:nvPr/>
        </p:nvSpPr>
        <p:spPr>
          <a:xfrm>
            <a:off x="5499553" y="3875186"/>
            <a:ext cx="401072" cy="4582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378" dirty="0"/>
              <a:t>IS</a:t>
            </a:r>
            <a:endParaRPr kumimoji="1" lang="zh-CN" altLang="en-US" sz="2378" dirty="0"/>
          </a:p>
        </p:txBody>
      </p: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A02F299F-D5DC-3ED0-7EB8-02AF364BE9D9}"/>
              </a:ext>
            </a:extLst>
          </p:cNvPr>
          <p:cNvCxnSpPr>
            <a:cxnSpLocks/>
          </p:cNvCxnSpPr>
          <p:nvPr/>
        </p:nvCxnSpPr>
        <p:spPr>
          <a:xfrm flipH="1" flipV="1">
            <a:off x="2661892" y="1845746"/>
            <a:ext cx="2610211" cy="2328361"/>
          </a:xfrm>
          <a:prstGeom prst="line">
            <a:avLst/>
          </a:prstGeom>
          <a:ln w="158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2B350FF1-8CD3-FA3A-96C1-01C7A432B5AB}"/>
              </a:ext>
            </a:extLst>
          </p:cNvPr>
          <p:cNvCxnSpPr/>
          <p:nvPr/>
        </p:nvCxnSpPr>
        <p:spPr>
          <a:xfrm flipH="1">
            <a:off x="4732048" y="3502242"/>
            <a:ext cx="5400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椭圆 29">
            <a:extLst>
              <a:ext uri="{FF2B5EF4-FFF2-40B4-BE49-F238E27FC236}">
                <a16:creationId xmlns:a16="http://schemas.microsoft.com/office/drawing/2014/main" id="{13E82AF8-4629-3313-1147-A83CDF6BCC9F}"/>
              </a:ext>
            </a:extLst>
          </p:cNvPr>
          <p:cNvSpPr/>
          <p:nvPr/>
        </p:nvSpPr>
        <p:spPr>
          <a:xfrm>
            <a:off x="3525501" y="2618407"/>
            <a:ext cx="90599" cy="905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567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C258695A-7518-74DA-8A33-DB812C5FF1A2}"/>
              </a:ext>
            </a:extLst>
          </p:cNvPr>
          <p:cNvSpPr/>
          <p:nvPr/>
        </p:nvSpPr>
        <p:spPr>
          <a:xfrm>
            <a:off x="4088357" y="3127071"/>
            <a:ext cx="90599" cy="905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567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89287FD-707E-EB12-1243-F04F498D7DBD}"/>
              </a:ext>
            </a:extLst>
          </p:cNvPr>
          <p:cNvSpPr txBox="1"/>
          <p:nvPr/>
        </p:nvSpPr>
        <p:spPr>
          <a:xfrm>
            <a:off x="3337031" y="2250350"/>
            <a:ext cx="309700" cy="3668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784" dirty="0"/>
              <a:t>B</a:t>
            </a:r>
            <a:endParaRPr kumimoji="1" lang="zh-CN" altLang="en-US" sz="1784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0B6F797-78A7-6F50-D29B-E51D33702F27}"/>
              </a:ext>
            </a:extLst>
          </p:cNvPr>
          <p:cNvSpPr txBox="1"/>
          <p:nvPr/>
        </p:nvSpPr>
        <p:spPr>
          <a:xfrm>
            <a:off x="3879934" y="3167665"/>
            <a:ext cx="290464" cy="3668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784" dirty="0"/>
              <a:t>F</a:t>
            </a:r>
            <a:endParaRPr kumimoji="1" lang="zh-CN" altLang="en-US" sz="1784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06E5ACBC-11CA-57A8-9610-4A1EB3E819BD}"/>
                  </a:ext>
                </a:extLst>
              </p:cNvPr>
              <p:cNvSpPr txBox="1"/>
              <p:nvPr/>
            </p:nvSpPr>
            <p:spPr>
              <a:xfrm>
                <a:off x="1727864" y="2343984"/>
                <a:ext cx="505267" cy="4582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378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378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zh-CN" sz="2378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zh-CN" altLang="en-US" sz="2378" dirty="0"/>
              </a:p>
            </p:txBody>
          </p:sp>
        </mc:Choice>
        <mc:Fallback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06E5ACBC-11CA-57A8-9610-4A1EB3E819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7864" y="2343984"/>
                <a:ext cx="505267" cy="458267"/>
              </a:xfrm>
              <a:prstGeom prst="rect">
                <a:avLst/>
              </a:prstGeom>
              <a:blipFill>
                <a:blip r:embed="rId5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2E6973F6-C13F-28C8-CEE1-8A9D55F33392}"/>
                  </a:ext>
                </a:extLst>
              </p:cNvPr>
              <p:cNvSpPr txBox="1"/>
              <p:nvPr/>
            </p:nvSpPr>
            <p:spPr>
              <a:xfrm>
                <a:off x="4912072" y="3524589"/>
                <a:ext cx="343877" cy="3354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2180" i="1"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kumimoji="1" lang="en-US" altLang="zh-CN" sz="2180" i="1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kumimoji="1" lang="zh-CN" altLang="en-US" sz="2180" dirty="0"/>
              </a:p>
            </p:txBody>
          </p:sp>
        </mc:Choice>
        <mc:Fallback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2E6973F6-C13F-28C8-CEE1-8A9D55F333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2072" y="3524589"/>
                <a:ext cx="343877" cy="335476"/>
              </a:xfrm>
              <a:prstGeom prst="rect">
                <a:avLst/>
              </a:prstGeom>
              <a:blipFill>
                <a:blip r:embed="rId6"/>
                <a:stretch>
                  <a:fillRect l="-19643" r="-14286" b="-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1E0096BA-EC2D-5C4C-758E-63ACD49DACC2}"/>
                  </a:ext>
                </a:extLst>
              </p:cNvPr>
              <p:cNvSpPr txBox="1"/>
              <p:nvPr/>
            </p:nvSpPr>
            <p:spPr>
              <a:xfrm>
                <a:off x="3102138" y="1859358"/>
                <a:ext cx="653184" cy="4365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1387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1387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1387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zh-CN" sz="1387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zh-CN" altLang="en-US" sz="1387" i="1">
                              <a:latin typeface="Cambria Math" panose="02040503050406030204" pitchFamily="18" charset="0"/>
                            </a:rPr>
                            <m:t>𝛽</m:t>
                          </m:r>
                        </m:den>
                      </m:f>
                      <m:r>
                        <a:rPr kumimoji="1" lang="zh-CN" altLang="en-US" sz="1387" i="1"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kumimoji="1" lang="en-US" altLang="zh-CN" sz="1387" i="1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kumimoji="1" lang="zh-CN" altLang="en-US" sz="1387" dirty="0"/>
              </a:p>
            </p:txBody>
          </p:sp>
        </mc:Choice>
        <mc:Fallback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1E0096BA-EC2D-5C4C-758E-63ACD49DAC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2138" y="1859358"/>
                <a:ext cx="653184" cy="436594"/>
              </a:xfrm>
              <a:prstGeom prst="rect">
                <a:avLst/>
              </a:prstGeom>
              <a:blipFill>
                <a:blip r:embed="rId7"/>
                <a:stretch>
                  <a:fillRect l="-7477" r="-6542" b="-180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CBEA748-B9A7-4C76-ED2E-7560C3AC02F0}"/>
                  </a:ext>
                </a:extLst>
              </p:cNvPr>
              <p:cNvSpPr txBox="1"/>
              <p:nvPr/>
            </p:nvSpPr>
            <p:spPr>
              <a:xfrm>
                <a:off x="284933" y="5384303"/>
                <a:ext cx="8894230" cy="4278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zh-CN" altLang="en-US" sz="218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自发投资</a:t>
                </a:r>
                <a:r>
                  <a:rPr lang="en-US" altLang="zh-CN" sz="218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r>
                  <a:rPr lang="zh-CN" altLang="en-US" sz="218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↓</a:t>
                </a:r>
                <a:r>
                  <a:rPr lang="zh-CN" altLang="en-US" sz="2180" kern="1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→ </a:t>
                </a:r>
                <a:r>
                  <a:rPr lang="en-US" altLang="zh-CN" sz="218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Y↓</a:t>
                </a:r>
                <a:r>
                  <a:rPr lang="zh-CN" altLang="en-US" sz="2180" kern="1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→</a:t>
                </a:r>
                <a:r>
                  <a:rPr lang="en-US" altLang="zh-CN" sz="218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18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ar-AE" altLang="zh-CN" sz="2180">
                        <a:latin typeface="Cambria Math" panose="02040503050406030204" pitchFamily="18" charset="0"/>
                      </a:rPr>
                      <m:t>↓</m:t>
                    </m:r>
                    <m:r>
                      <m:rPr>
                        <m:nor/>
                      </m:rPr>
                      <a:rPr lang="zh-CN" altLang="en-US" sz="2180" kern="1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→</m:t>
                    </m:r>
                    <m:r>
                      <a:rPr lang="zh-CN" altLang="ar-AE" sz="218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ar-AE" altLang="zh-CN" sz="2180">
                        <a:latin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zh-CN" altLang="en-US" sz="2180" kern="1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→</a:t>
                </a:r>
                <a14:m>
                  <m:oMath xmlns:m="http://schemas.openxmlformats.org/officeDocument/2006/math">
                    <m:r>
                      <a:rPr lang="zh-CN" altLang="ar-AE" sz="2180" i="1"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nor/>
                      </m:rPr>
                      <a:rPr lang="zh-CN" altLang="en-US" sz="2180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m:t>部分回升</m:t>
                    </m:r>
                    <m:r>
                      <m:rPr>
                        <m:nor/>
                      </m:rPr>
                      <a:rPr lang="zh-CN" altLang="en-US" sz="2180" kern="1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→</m:t>
                    </m:r>
                    <m:r>
                      <a:rPr lang="zh-CN" altLang="en-US" sz="218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zh-CN" altLang="en-US" sz="2180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部分</m:t>
                    </m:r>
                  </m:oMath>
                </a14:m>
                <a:r>
                  <a:rPr lang="zh-CN" altLang="en-US" sz="218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回升</a:t>
                </a:r>
                <a:r>
                  <a:rPr lang="zh-CN" altLang="en-US" sz="2180" kern="1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→</a:t>
                </a:r>
                <a:r>
                  <a:rPr lang="en-US" altLang="zh-CN" sz="2180" kern="1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……</a:t>
                </a:r>
                <a:endParaRPr lang="zh-CN" altLang="en-US" sz="218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CBEA748-B9A7-4C76-ED2E-7560C3AC02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933" y="5384303"/>
                <a:ext cx="8894230" cy="427809"/>
              </a:xfrm>
              <a:prstGeom prst="rect">
                <a:avLst/>
              </a:prstGeom>
              <a:blipFill>
                <a:blip r:embed="rId8"/>
                <a:stretch>
                  <a:fillRect l="-891" t="-12857" b="-2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49042EE6-7256-0346-E68A-CD5009C6C018}"/>
              </a:ext>
            </a:extLst>
          </p:cNvPr>
          <p:cNvSpPr/>
          <p:nvPr/>
        </p:nvSpPr>
        <p:spPr>
          <a:xfrm>
            <a:off x="501449" y="5985074"/>
            <a:ext cx="1971061" cy="436774"/>
          </a:xfrm>
          <a:prstGeom prst="rect">
            <a:avLst/>
          </a:prstGeom>
          <a:solidFill>
            <a:srgbClr val="EFF3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982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产品市场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D2D5687-7103-49FF-B32B-4E812A9FB3CB}"/>
              </a:ext>
            </a:extLst>
          </p:cNvPr>
          <p:cNvSpPr/>
          <p:nvPr/>
        </p:nvSpPr>
        <p:spPr>
          <a:xfrm>
            <a:off x="2786328" y="5994110"/>
            <a:ext cx="1413805" cy="436774"/>
          </a:xfrm>
          <a:prstGeom prst="rect">
            <a:avLst/>
          </a:prstGeom>
          <a:solidFill>
            <a:srgbClr val="EFF3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982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货币市场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4E6530B-406D-706D-9504-72C309467E9F}"/>
              </a:ext>
            </a:extLst>
          </p:cNvPr>
          <p:cNvSpPr/>
          <p:nvPr/>
        </p:nvSpPr>
        <p:spPr>
          <a:xfrm>
            <a:off x="4446447" y="5985074"/>
            <a:ext cx="2983067" cy="436774"/>
          </a:xfrm>
          <a:prstGeom prst="rect">
            <a:avLst/>
          </a:prstGeom>
          <a:solidFill>
            <a:srgbClr val="EFF3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982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产品市场</a:t>
            </a:r>
          </a:p>
        </p:txBody>
      </p:sp>
    </p:spTree>
    <p:extLst>
      <p:ext uri="{BB962C8B-B14F-4D97-AF65-F5344CB8AC3E}">
        <p14:creationId xmlns:p14="http://schemas.microsoft.com/office/powerpoint/2010/main" val="1421284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9495E-81F6-E094-F9D6-36D8E1EF4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B7848044-08D7-66F9-E2A4-39545B2492A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295786" y="6369998"/>
            <a:ext cx="682958" cy="367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defTabSz="912888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40B57475-AFD4-3C48-860A-4FC9F25FD75E}" type="slidenum">
              <a:rPr lang="zh-CN" altLang="zh-CN" sz="1696">
                <a:solidFill>
                  <a:srgbClr val="777777"/>
                </a:solidFill>
                <a:ea typeface="宋体" panose="02010600030101010101" pitchFamily="2" charset="-122"/>
              </a:rPr>
              <a:pPr algn="r" defTabSz="912888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zh-CN" altLang="zh-CN" sz="1696">
              <a:solidFill>
                <a:srgbClr val="777777"/>
              </a:solidFill>
              <a:ea typeface="宋体" panose="02010600030101010101" pitchFamily="2" charset="-122"/>
            </a:endParaRPr>
          </a:p>
        </p:txBody>
      </p:sp>
      <p:sp>
        <p:nvSpPr>
          <p:cNvPr id="11" name="页脚占位符 1">
            <a:extLst>
              <a:ext uri="{FF2B5EF4-FFF2-40B4-BE49-F238E27FC236}">
                <a16:creationId xmlns:a16="http://schemas.microsoft.com/office/drawing/2014/main" id="{450338E6-2566-19EC-9E3C-1219FE848AF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293613" y="6387428"/>
            <a:ext cx="7322384" cy="3660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2888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797" i="1" dirty="0">
                <a:solidFill>
                  <a:srgbClr val="777777"/>
                </a:solidFill>
                <a:ea typeface="宋体" panose="02010600030101010101" pitchFamily="2" charset="-122"/>
              </a:rPr>
              <a:t>IS-LM</a:t>
            </a:r>
            <a:r>
              <a:rPr lang="zh-CN" altLang="en-US" sz="1797" i="1" dirty="0">
                <a:solidFill>
                  <a:srgbClr val="777777"/>
                </a:solidFill>
                <a:ea typeface="宋体" panose="02010600030101010101" pitchFamily="2" charset="-122"/>
              </a:rPr>
              <a:t>分析</a:t>
            </a:r>
            <a:endParaRPr lang="en-US" altLang="zh-CN" sz="1797" i="1" dirty="0">
              <a:solidFill>
                <a:srgbClr val="777777"/>
              </a:solidFill>
              <a:ea typeface="宋体" panose="02010600030101010101" pitchFamily="2" charset="-122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6ECA397A-5372-BECB-8CA6-FA59FD723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752" y="80093"/>
            <a:ext cx="8402860" cy="792274"/>
          </a:xfrm>
        </p:spPr>
        <p:txBody>
          <a:bodyPr>
            <a:normAutofit fontScale="90000"/>
          </a:bodyPr>
          <a:lstStyle/>
          <a:p>
            <a:r>
              <a:rPr kumimoji="1" lang="zh-CN" altLang="en-US" sz="2774" dirty="0"/>
              <a:t>均衡的变化与经济波动：</a:t>
            </a:r>
            <a:br>
              <a:rPr kumimoji="1" lang="en-US" altLang="zh-CN" sz="2774" dirty="0"/>
            </a:br>
            <a:r>
              <a:rPr kumimoji="1" lang="en-US" altLang="zh-CN" sz="2774" dirty="0"/>
              <a:t>IS</a:t>
            </a:r>
            <a:r>
              <a:rPr kumimoji="1" lang="zh-CN" altLang="en-US" sz="2774" dirty="0"/>
              <a:t>曲线方面的冲击（财政政策扩张）</a:t>
            </a:r>
            <a:endParaRPr lang="zh-CN" altLang="en-US" sz="2774" dirty="0"/>
          </a:p>
        </p:txBody>
      </p:sp>
      <p:cxnSp>
        <p:nvCxnSpPr>
          <p:cNvPr id="36" name="直线连接符 33">
            <a:extLst>
              <a:ext uri="{FF2B5EF4-FFF2-40B4-BE49-F238E27FC236}">
                <a16:creationId xmlns:a16="http://schemas.microsoft.com/office/drawing/2014/main" id="{A769C722-E0EE-E144-4D60-73FC0BF810BB}"/>
              </a:ext>
            </a:extLst>
          </p:cNvPr>
          <p:cNvCxnSpPr>
            <a:cxnSpLocks/>
            <a:endCxn id="55" idx="2"/>
          </p:cNvCxnSpPr>
          <p:nvPr/>
        </p:nvCxnSpPr>
        <p:spPr>
          <a:xfrm>
            <a:off x="2297683" y="3738443"/>
            <a:ext cx="272269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线连接符 39">
            <a:extLst>
              <a:ext uri="{FF2B5EF4-FFF2-40B4-BE49-F238E27FC236}">
                <a16:creationId xmlns:a16="http://schemas.microsoft.com/office/drawing/2014/main" id="{7F82F871-9F86-9C36-46EA-8E3EBE8BA539}"/>
              </a:ext>
            </a:extLst>
          </p:cNvPr>
          <p:cNvCxnSpPr>
            <a:cxnSpLocks/>
            <a:stCxn id="58" idx="0"/>
          </p:cNvCxnSpPr>
          <p:nvPr/>
        </p:nvCxnSpPr>
        <p:spPr>
          <a:xfrm>
            <a:off x="3967751" y="3738444"/>
            <a:ext cx="121324" cy="1451023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线连接符 6">
            <a:extLst>
              <a:ext uri="{FF2B5EF4-FFF2-40B4-BE49-F238E27FC236}">
                <a16:creationId xmlns:a16="http://schemas.microsoft.com/office/drawing/2014/main" id="{F91C0ED5-995B-F125-8ECE-CF75BFE137F2}"/>
              </a:ext>
            </a:extLst>
          </p:cNvPr>
          <p:cNvCxnSpPr>
            <a:cxnSpLocks/>
          </p:cNvCxnSpPr>
          <p:nvPr/>
        </p:nvCxnSpPr>
        <p:spPr>
          <a:xfrm flipH="1" flipV="1">
            <a:off x="3587896" y="2405126"/>
            <a:ext cx="2610211" cy="2328361"/>
          </a:xfrm>
          <a:prstGeom prst="line">
            <a:avLst/>
          </a:prstGeom>
          <a:ln w="158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22A9789A-780E-0E0D-0BE2-F54ED2C5038B}"/>
              </a:ext>
            </a:extLst>
          </p:cNvPr>
          <p:cNvSpPr/>
          <p:nvPr/>
        </p:nvSpPr>
        <p:spPr>
          <a:xfrm>
            <a:off x="1965636" y="5344320"/>
            <a:ext cx="5043907" cy="412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2081" b="1" dirty="0">
                <a:latin typeface="KaiTi" panose="02010609060101010101" pitchFamily="49" charset="-122"/>
                <a:ea typeface="KaiTi" panose="02010609060101010101" pitchFamily="49" charset="-122"/>
              </a:rPr>
              <a:t>产品市场和货币市场的一般均衡</a:t>
            </a:r>
          </a:p>
        </p:txBody>
      </p:sp>
      <p:cxnSp>
        <p:nvCxnSpPr>
          <p:cNvPr id="41" name="直线箭头连接符 8">
            <a:extLst>
              <a:ext uri="{FF2B5EF4-FFF2-40B4-BE49-F238E27FC236}">
                <a16:creationId xmlns:a16="http://schemas.microsoft.com/office/drawing/2014/main" id="{5A18C49D-7C4F-8FB3-66FF-AF2062F72607}"/>
              </a:ext>
            </a:extLst>
          </p:cNvPr>
          <p:cNvCxnSpPr>
            <a:cxnSpLocks/>
          </p:cNvCxnSpPr>
          <p:nvPr/>
        </p:nvCxnSpPr>
        <p:spPr>
          <a:xfrm>
            <a:off x="2290221" y="5141735"/>
            <a:ext cx="45037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线箭头连接符 9">
            <a:extLst>
              <a:ext uri="{FF2B5EF4-FFF2-40B4-BE49-F238E27FC236}">
                <a16:creationId xmlns:a16="http://schemas.microsoft.com/office/drawing/2014/main" id="{BC2AC174-2DB3-9706-BBAA-960BFC426A34}"/>
              </a:ext>
            </a:extLst>
          </p:cNvPr>
          <p:cNvCxnSpPr/>
          <p:nvPr/>
        </p:nvCxnSpPr>
        <p:spPr>
          <a:xfrm flipV="1">
            <a:off x="2290222" y="1882577"/>
            <a:ext cx="0" cy="32591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线连接符 11">
            <a:extLst>
              <a:ext uri="{FF2B5EF4-FFF2-40B4-BE49-F238E27FC236}">
                <a16:creationId xmlns:a16="http://schemas.microsoft.com/office/drawing/2014/main" id="{D1BBE047-A855-96E9-B520-DBE4FE51A542}"/>
              </a:ext>
            </a:extLst>
          </p:cNvPr>
          <p:cNvCxnSpPr>
            <a:cxnSpLocks/>
          </p:cNvCxnSpPr>
          <p:nvPr/>
        </p:nvCxnSpPr>
        <p:spPr>
          <a:xfrm flipH="1">
            <a:off x="3083896" y="2277383"/>
            <a:ext cx="2452407" cy="2452234"/>
          </a:xfrm>
          <a:prstGeom prst="line">
            <a:avLst/>
          </a:prstGeom>
          <a:ln w="158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7E07FC11-7429-BDBA-CD4C-3C617708D8ED}"/>
                  </a:ext>
                </a:extLst>
              </p:cNvPr>
              <p:cNvSpPr txBox="1"/>
              <p:nvPr/>
            </p:nvSpPr>
            <p:spPr>
              <a:xfrm>
                <a:off x="5350663" y="1981537"/>
                <a:ext cx="1030920" cy="3973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982" i="1">
                          <a:latin typeface="Cambria Math" panose="02040503050406030204" pitchFamily="18" charset="0"/>
                        </a:rPr>
                        <m:t>𝐿𝑀</m:t>
                      </m:r>
                    </m:oMath>
                  </m:oMathPara>
                </a14:m>
                <a:endParaRPr lang="zh-CN" altLang="en-US" sz="1982" i="1" dirty="0"/>
              </a:p>
            </p:txBody>
          </p:sp>
        </mc:Choice>
        <mc:Fallback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7E07FC11-7429-BDBA-CD4C-3C617708D8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663" y="1981537"/>
                <a:ext cx="1030920" cy="3973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文本框 44">
            <a:extLst>
              <a:ext uri="{FF2B5EF4-FFF2-40B4-BE49-F238E27FC236}">
                <a16:creationId xmlns:a16="http://schemas.microsoft.com/office/drawing/2014/main" id="{E599B786-B55E-077B-B9C2-CBFEFA8D0269}"/>
              </a:ext>
            </a:extLst>
          </p:cNvPr>
          <p:cNvSpPr txBox="1"/>
          <p:nvPr/>
        </p:nvSpPr>
        <p:spPr>
          <a:xfrm>
            <a:off x="1771802" y="1615593"/>
            <a:ext cx="322524" cy="6412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567" i="1" dirty="0">
                <a:latin typeface="Garamond" panose="02020404030301010803" pitchFamily="18" charset="0"/>
              </a:rPr>
              <a:t>r</a:t>
            </a:r>
            <a:endParaRPr kumimoji="1" lang="zh-CN" altLang="en-US" sz="3567" i="1" dirty="0">
              <a:latin typeface="Garamond" panose="02020404030301010803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71A01919-B1C9-4938-93BB-4349B841DF32}"/>
                  </a:ext>
                </a:extLst>
              </p:cNvPr>
              <p:cNvSpPr txBox="1"/>
              <p:nvPr/>
            </p:nvSpPr>
            <p:spPr>
              <a:xfrm>
                <a:off x="6809637" y="4859098"/>
                <a:ext cx="343595" cy="4278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180" i="1" dirty="0"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kumimoji="1" lang="zh-CN" altLang="en-US" sz="2180" dirty="0"/>
              </a:p>
            </p:txBody>
          </p:sp>
        </mc:Choice>
        <mc:Fallback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71A01919-B1C9-4938-93BB-4349B841DF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9637" y="4859098"/>
                <a:ext cx="343595" cy="427809"/>
              </a:xfrm>
              <a:prstGeom prst="rect">
                <a:avLst/>
              </a:prstGeom>
              <a:blipFill>
                <a:blip r:embed="rId3"/>
                <a:stretch>
                  <a:fillRect r="-17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直线连接符 15">
            <a:extLst>
              <a:ext uri="{FF2B5EF4-FFF2-40B4-BE49-F238E27FC236}">
                <a16:creationId xmlns:a16="http://schemas.microsoft.com/office/drawing/2014/main" id="{29165C76-0D0F-7C5D-8094-1B72ADABA6C3}"/>
              </a:ext>
            </a:extLst>
          </p:cNvPr>
          <p:cNvCxnSpPr>
            <a:cxnSpLocks/>
            <a:stCxn id="49" idx="0"/>
          </p:cNvCxnSpPr>
          <p:nvPr/>
        </p:nvCxnSpPr>
        <p:spPr>
          <a:xfrm>
            <a:off x="4565483" y="3185390"/>
            <a:ext cx="28169" cy="1947547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线连接符 16">
            <a:extLst>
              <a:ext uri="{FF2B5EF4-FFF2-40B4-BE49-F238E27FC236}">
                <a16:creationId xmlns:a16="http://schemas.microsoft.com/office/drawing/2014/main" id="{BA0A759C-E91C-01D0-5BF3-CA779E7100E6}"/>
              </a:ext>
            </a:extLst>
          </p:cNvPr>
          <p:cNvCxnSpPr>
            <a:cxnSpLocks/>
            <a:endCxn id="49" idx="6"/>
          </p:cNvCxnSpPr>
          <p:nvPr/>
        </p:nvCxnSpPr>
        <p:spPr>
          <a:xfrm>
            <a:off x="2276388" y="3230690"/>
            <a:ext cx="2334393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椭圆 48">
            <a:extLst>
              <a:ext uri="{FF2B5EF4-FFF2-40B4-BE49-F238E27FC236}">
                <a16:creationId xmlns:a16="http://schemas.microsoft.com/office/drawing/2014/main" id="{179B9C4A-AF52-7F91-8B77-3E72587B9896}"/>
              </a:ext>
            </a:extLst>
          </p:cNvPr>
          <p:cNvSpPr/>
          <p:nvPr/>
        </p:nvSpPr>
        <p:spPr>
          <a:xfrm>
            <a:off x="4520183" y="3185391"/>
            <a:ext cx="90599" cy="905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567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6118AC2-F9D4-A52F-4368-0B0626CCCEE8}"/>
              </a:ext>
            </a:extLst>
          </p:cNvPr>
          <p:cNvSpPr txBox="1"/>
          <p:nvPr/>
        </p:nvSpPr>
        <p:spPr>
          <a:xfrm>
            <a:off x="4567678" y="3012188"/>
            <a:ext cx="290464" cy="3668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784" dirty="0"/>
              <a:t>F</a:t>
            </a:r>
            <a:endParaRPr kumimoji="1" lang="zh-CN" altLang="en-US" sz="1784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10396BAD-61E8-D87A-2697-59B6DFD6886B}"/>
                  </a:ext>
                </a:extLst>
              </p:cNvPr>
              <p:cNvSpPr txBox="1"/>
              <p:nvPr/>
            </p:nvSpPr>
            <p:spPr>
              <a:xfrm>
                <a:off x="1687343" y="3438759"/>
                <a:ext cx="505267" cy="4582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378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378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zh-CN" sz="2378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zh-CN" altLang="en-US" sz="2378" dirty="0"/>
              </a:p>
            </p:txBody>
          </p:sp>
        </mc:Choice>
        <mc:Fallback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10396BAD-61E8-D87A-2697-59B6DFD68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7343" y="3438759"/>
                <a:ext cx="505267" cy="458267"/>
              </a:xfrm>
              <a:prstGeom prst="rect">
                <a:avLst/>
              </a:prstGeom>
              <a:blipFill>
                <a:blip r:embed="rId4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文本框 51">
            <a:extLst>
              <a:ext uri="{FF2B5EF4-FFF2-40B4-BE49-F238E27FC236}">
                <a16:creationId xmlns:a16="http://schemas.microsoft.com/office/drawing/2014/main" id="{B765FC38-852E-14EB-2101-83D0A352644D}"/>
              </a:ext>
            </a:extLst>
          </p:cNvPr>
          <p:cNvSpPr txBox="1"/>
          <p:nvPr/>
        </p:nvSpPr>
        <p:spPr>
          <a:xfrm>
            <a:off x="5438933" y="4445965"/>
            <a:ext cx="401072" cy="4582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378" dirty="0"/>
              <a:t>IS</a:t>
            </a:r>
            <a:endParaRPr kumimoji="1" lang="zh-CN" altLang="en-US" sz="2378" dirty="0"/>
          </a:p>
        </p:txBody>
      </p:sp>
      <p:cxnSp>
        <p:nvCxnSpPr>
          <p:cNvPr id="53" name="直线连接符 24">
            <a:extLst>
              <a:ext uri="{FF2B5EF4-FFF2-40B4-BE49-F238E27FC236}">
                <a16:creationId xmlns:a16="http://schemas.microsoft.com/office/drawing/2014/main" id="{F55DE99C-A2C3-6F8C-253E-6DF745BEDABC}"/>
              </a:ext>
            </a:extLst>
          </p:cNvPr>
          <p:cNvCxnSpPr>
            <a:cxnSpLocks/>
          </p:cNvCxnSpPr>
          <p:nvPr/>
        </p:nvCxnSpPr>
        <p:spPr>
          <a:xfrm flipH="1" flipV="1">
            <a:off x="2601272" y="2416525"/>
            <a:ext cx="2610211" cy="2328361"/>
          </a:xfrm>
          <a:prstGeom prst="line">
            <a:avLst/>
          </a:prstGeom>
          <a:ln w="158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箭头连接符 26">
            <a:extLst>
              <a:ext uri="{FF2B5EF4-FFF2-40B4-BE49-F238E27FC236}">
                <a16:creationId xmlns:a16="http://schemas.microsoft.com/office/drawing/2014/main" id="{C67E3352-6619-35B5-D878-7738FDC4C1D1}"/>
              </a:ext>
            </a:extLst>
          </p:cNvPr>
          <p:cNvCxnSpPr>
            <a:cxnSpLocks/>
          </p:cNvCxnSpPr>
          <p:nvPr/>
        </p:nvCxnSpPr>
        <p:spPr>
          <a:xfrm>
            <a:off x="4536221" y="4054105"/>
            <a:ext cx="644770" cy="223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椭圆 54">
            <a:extLst>
              <a:ext uri="{FF2B5EF4-FFF2-40B4-BE49-F238E27FC236}">
                <a16:creationId xmlns:a16="http://schemas.microsoft.com/office/drawing/2014/main" id="{397FF883-77FE-4D5D-DFC2-E4B2789B479D}"/>
              </a:ext>
            </a:extLst>
          </p:cNvPr>
          <p:cNvSpPr/>
          <p:nvPr/>
        </p:nvSpPr>
        <p:spPr>
          <a:xfrm>
            <a:off x="5020379" y="3693143"/>
            <a:ext cx="90599" cy="905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567"/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2F6C344B-719F-07E8-D51A-EE71050A5579}"/>
              </a:ext>
            </a:extLst>
          </p:cNvPr>
          <p:cNvSpPr/>
          <p:nvPr/>
        </p:nvSpPr>
        <p:spPr>
          <a:xfrm>
            <a:off x="4027737" y="3697850"/>
            <a:ext cx="90599" cy="905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567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AFDA90BA-ACCF-DF40-468E-62640C5E85F7}"/>
              </a:ext>
            </a:extLst>
          </p:cNvPr>
          <p:cNvSpPr txBox="1"/>
          <p:nvPr/>
        </p:nvSpPr>
        <p:spPr>
          <a:xfrm>
            <a:off x="5023965" y="3409038"/>
            <a:ext cx="309700" cy="3668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784" dirty="0"/>
              <a:t>B</a:t>
            </a:r>
            <a:endParaRPr kumimoji="1" lang="zh-CN" altLang="en-US" sz="1784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69E49D15-E025-CEAE-46A4-5F6CC1A6B770}"/>
              </a:ext>
            </a:extLst>
          </p:cNvPr>
          <p:cNvSpPr txBox="1"/>
          <p:nvPr/>
        </p:nvSpPr>
        <p:spPr>
          <a:xfrm>
            <a:off x="3819313" y="3738444"/>
            <a:ext cx="296876" cy="3668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784" dirty="0"/>
              <a:t>E</a:t>
            </a:r>
            <a:endParaRPr kumimoji="1" lang="zh-CN" altLang="en-US" sz="1784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BA94959F-72C5-A3F5-E89D-5DFA31DDFB91}"/>
                  </a:ext>
                </a:extLst>
              </p:cNvPr>
              <p:cNvSpPr txBox="1"/>
              <p:nvPr/>
            </p:nvSpPr>
            <p:spPr>
              <a:xfrm>
                <a:off x="1731009" y="2914763"/>
                <a:ext cx="498213" cy="4582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378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378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zh-CN" sz="2378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2378" dirty="0"/>
              </a:p>
            </p:txBody>
          </p:sp>
        </mc:Choice>
        <mc:Fallback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BA94959F-72C5-A3F5-E89D-5DFA31DDF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1009" y="2914763"/>
                <a:ext cx="498213" cy="458267"/>
              </a:xfrm>
              <a:prstGeom prst="rect">
                <a:avLst/>
              </a:prstGeom>
              <a:blipFill>
                <a:blip r:embed="rId5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A5A2CFBA-14A7-9743-FBCB-8DDC08775203}"/>
                  </a:ext>
                </a:extLst>
              </p:cNvPr>
              <p:cNvSpPr txBox="1"/>
              <p:nvPr/>
            </p:nvSpPr>
            <p:spPr>
              <a:xfrm>
                <a:off x="4851451" y="4095368"/>
                <a:ext cx="417870" cy="3354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2180" i="1"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kumimoji="1" lang="en-US" altLang="zh-CN" sz="2180" i="1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kumimoji="1" lang="zh-CN" altLang="en-US" sz="2180" dirty="0"/>
              </a:p>
            </p:txBody>
          </p:sp>
        </mc:Choice>
        <mc:Fallback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A5A2CFBA-14A7-9743-FBCB-8DDC087752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1451" y="4095368"/>
                <a:ext cx="417870" cy="335476"/>
              </a:xfrm>
              <a:prstGeom prst="rect">
                <a:avLst/>
              </a:prstGeom>
              <a:blipFill>
                <a:blip r:embed="rId6"/>
                <a:stretch>
                  <a:fillRect l="-16176" r="-10294" b="-5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0BA7212A-42AF-2EAA-FB5D-A2E3B66A6A38}"/>
                  </a:ext>
                </a:extLst>
              </p:cNvPr>
              <p:cNvSpPr txBox="1"/>
              <p:nvPr/>
            </p:nvSpPr>
            <p:spPr>
              <a:xfrm>
                <a:off x="3041517" y="2430137"/>
                <a:ext cx="653184" cy="4365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1387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1387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1387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zh-CN" sz="1387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zh-CN" altLang="en-US" sz="1387" i="1">
                              <a:latin typeface="Cambria Math" panose="02040503050406030204" pitchFamily="18" charset="0"/>
                            </a:rPr>
                            <m:t>𝛽</m:t>
                          </m:r>
                        </m:den>
                      </m:f>
                      <m:r>
                        <a:rPr kumimoji="1" lang="zh-CN" altLang="en-US" sz="1387" i="1"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kumimoji="1" lang="en-US" altLang="zh-CN" sz="1387" i="1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kumimoji="1" lang="zh-CN" altLang="en-US" sz="1387" dirty="0"/>
              </a:p>
            </p:txBody>
          </p:sp>
        </mc:Choice>
        <mc:Fallback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0BA7212A-42AF-2EAA-FB5D-A2E3B66A6A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1517" y="2430137"/>
                <a:ext cx="653184" cy="436594"/>
              </a:xfrm>
              <a:prstGeom prst="rect">
                <a:avLst/>
              </a:prstGeom>
              <a:blipFill>
                <a:blip r:embed="rId7"/>
                <a:stretch>
                  <a:fillRect l="-9346" t="-1408" r="-11215" b="-183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内容占位符 2">
            <a:extLst>
              <a:ext uri="{FF2B5EF4-FFF2-40B4-BE49-F238E27FC236}">
                <a16:creationId xmlns:a16="http://schemas.microsoft.com/office/drawing/2014/main" id="{59E98BA1-83F7-E914-9BFC-7B94CC36F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485" y="876704"/>
            <a:ext cx="8310033" cy="546993"/>
          </a:xfrm>
        </p:spPr>
        <p:txBody>
          <a:bodyPr/>
          <a:lstStyle/>
          <a:p>
            <a:r>
              <a:rPr lang="zh-CN" altLang="en-US" sz="2774" dirty="0"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774" dirty="0"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en-US" sz="2774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→ </a:t>
            </a:r>
            <a:r>
              <a:rPr lang="en-US" altLang="zh-CN" sz="2774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774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→ </a:t>
            </a:r>
            <a:r>
              <a:rPr lang="en-US" altLang="zh-CN" sz="2774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en-US" sz="2774" dirty="0"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zh-CN" sz="2774" dirty="0"/>
              <a:t> </a:t>
            </a:r>
            <a:endParaRPr lang="zh-CN" altLang="zh-CN" sz="2774" kern="1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5590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6148" y="1716664"/>
            <a:ext cx="7937574" cy="2326330"/>
          </a:xfrm>
        </p:spPr>
        <p:txBody>
          <a:bodyPr/>
          <a:lstStyle/>
          <a:p>
            <a:r>
              <a:rPr lang="zh-CN" altLang="en-US" sz="2774" dirty="0">
                <a:ea typeface="宋体" panose="02010600030101010101" pitchFamily="2" charset="-122"/>
                <a:cs typeface="Times New Roman" panose="02020603050405020304" pitchFamily="18" charset="0"/>
              </a:rPr>
              <a:t>货币政策影响宏观经济的机制</a:t>
            </a:r>
            <a:endParaRPr lang="zh-CN" altLang="zh-CN" sz="2774" kern="1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9449CC5C-E7BD-A163-AFA3-24109DCC297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295786" y="6369998"/>
            <a:ext cx="682958" cy="367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defTabSz="912888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40B57475-AFD4-3C48-860A-4FC9F25FD75E}" type="slidenum">
              <a:rPr lang="zh-CN" altLang="zh-CN" sz="1696">
                <a:solidFill>
                  <a:srgbClr val="777777"/>
                </a:solidFill>
                <a:ea typeface="宋体" panose="02010600030101010101" pitchFamily="2" charset="-122"/>
              </a:rPr>
              <a:pPr algn="r" defTabSz="912888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zh-CN" altLang="zh-CN" sz="1696">
              <a:solidFill>
                <a:srgbClr val="777777"/>
              </a:solidFill>
              <a:ea typeface="宋体" panose="02010600030101010101" pitchFamily="2" charset="-122"/>
            </a:endParaRPr>
          </a:p>
        </p:txBody>
      </p:sp>
      <p:sp>
        <p:nvSpPr>
          <p:cNvPr id="11" name="页脚占位符 1">
            <a:extLst>
              <a:ext uri="{FF2B5EF4-FFF2-40B4-BE49-F238E27FC236}">
                <a16:creationId xmlns:a16="http://schemas.microsoft.com/office/drawing/2014/main" id="{87895CFE-2B79-534E-0E31-9C51EAEBCF3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293613" y="6387428"/>
            <a:ext cx="7322384" cy="3660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2888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797" i="1" dirty="0">
                <a:solidFill>
                  <a:srgbClr val="777777"/>
                </a:solidFill>
                <a:ea typeface="宋体" panose="02010600030101010101" pitchFamily="2" charset="-122"/>
              </a:rPr>
              <a:t>IS-LM</a:t>
            </a:r>
            <a:r>
              <a:rPr lang="zh-CN" altLang="en-US" sz="1797" i="1" dirty="0">
                <a:solidFill>
                  <a:srgbClr val="777777"/>
                </a:solidFill>
                <a:ea typeface="宋体" panose="02010600030101010101" pitchFamily="2" charset="-122"/>
              </a:rPr>
              <a:t>分析</a:t>
            </a:r>
            <a:endParaRPr lang="en-US" altLang="zh-CN" sz="1797" i="1" dirty="0">
              <a:solidFill>
                <a:srgbClr val="777777"/>
              </a:solidFill>
              <a:ea typeface="宋体" panose="02010600030101010101" pitchFamily="2" charset="-122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CB7B4C1-46CC-4526-CBA6-2B34C6825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80" y="252416"/>
            <a:ext cx="8402860" cy="1220414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/>
              <a:t>均衡的变化与经济波动：</a:t>
            </a:r>
            <a:br>
              <a:rPr kumimoji="1" lang="en-US" altLang="zh-CN" dirty="0"/>
            </a:br>
            <a:r>
              <a:rPr kumimoji="1" lang="en-US" altLang="zh-CN" dirty="0"/>
              <a:t>LM</a:t>
            </a:r>
            <a:r>
              <a:rPr kumimoji="1" lang="zh-CN" altLang="en-US" dirty="0"/>
              <a:t>曲线（货币政策）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6B6441B-1E7E-2DEF-C225-5CF4C8ED5465}"/>
                  </a:ext>
                </a:extLst>
              </p:cNvPr>
              <p:cNvSpPr txBox="1"/>
              <p:nvPr/>
            </p:nvSpPr>
            <p:spPr>
              <a:xfrm>
                <a:off x="702447" y="2287443"/>
                <a:ext cx="8276296" cy="6103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altLang="zh-CN" sz="2378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M</a:t>
                </a:r>
                <a:r>
                  <a:rPr lang="zh-CN" altLang="en-US" sz="2378" i="1" dirty="0"/>
                  <a:t>↑</a:t>
                </a:r>
                <a:r>
                  <a:rPr lang="zh-CN" altLang="en-US" sz="2378" i="1" kern="1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→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378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378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𝑀</m:t>
                        </m:r>
                      </m:num>
                      <m:den>
                        <m:r>
                          <a:rPr lang="en-US" altLang="zh-CN" sz="2378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𝑃</m:t>
                        </m:r>
                      </m:den>
                    </m:f>
                  </m:oMath>
                </a14:m>
                <a:r>
                  <a:rPr lang="zh-CN" altLang="en-US" sz="2378" i="1" kern="1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378" i="1" dirty="0"/>
                  <a:t>↑ </a:t>
                </a:r>
                <a:r>
                  <a:rPr lang="zh-CN" altLang="en-US" sz="2378" i="1" kern="1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→ </a:t>
                </a:r>
                <a14:m>
                  <m:oMath xmlns:m="http://schemas.openxmlformats.org/officeDocument/2006/math">
                    <m:r>
                      <a:rPr lang="en-US" altLang="zh-CN" sz="2378" i="1" kern="100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lang="en-US" altLang="zh-CN" sz="2378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↓</a:t>
                </a:r>
                <a:r>
                  <a:rPr lang="zh-CN" altLang="en-US" sz="2378" i="1" kern="1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→</a:t>
                </a:r>
                <a:r>
                  <a:rPr lang="en-US" altLang="zh-CN" sz="2378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r>
                  <a:rPr lang="zh-CN" altLang="en-US" sz="2378" i="1" dirty="0"/>
                  <a:t>↑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2378" i="1" kern="1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 altLang="zh-CN" sz="2378" i="1" kern="1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en-US" altLang="zh-CN" sz="2378" i="1" dirty="0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m:t>Y</m:t>
                    </m:r>
                    <m:r>
                      <m:rPr>
                        <m:nor/>
                      </m:rPr>
                      <a:rPr lang="zh-CN" altLang="en-US" sz="2378" i="1" dirty="0"/>
                      <m:t>↑</m:t>
                    </m:r>
                  </m:oMath>
                </a14:m>
                <a:r>
                  <a:rPr lang="zh-CN" altLang="en-US" sz="2378" i="1" kern="1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→   </a:t>
                </a:r>
                <a14:m>
                  <m:oMath xmlns:m="http://schemas.openxmlformats.org/officeDocument/2006/math">
                    <m:r>
                      <a:rPr lang="zh-CN" altLang="en-US" sz="2378" i="1"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nor/>
                      </m:rPr>
                      <a:rPr lang="zh-CN" altLang="en-US" sz="2378" i="1" dirty="0"/>
                      <m:t>↑</m:t>
                    </m:r>
                    <m:r>
                      <m:rPr>
                        <m:nor/>
                      </m:rPr>
                      <a:rPr lang="zh-CN" altLang="en-US" sz="2378" i="1" kern="1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 altLang="zh-CN" sz="2378" i="1" kern="1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378" i="1" dirty="0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m:t>r</m:t>
                    </m:r>
                    <m:r>
                      <m:rPr>
                        <m:nor/>
                      </m:rPr>
                      <a:rPr lang="en-US" altLang="zh-CN" sz="2378" i="1" dirty="0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m:t> </m:t>
                    </m:r>
                    <m:r>
                      <a:rPr lang="zh-CN" altLang="en-US" sz="2378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部分</m:t>
                    </m:r>
                  </m:oMath>
                </a14:m>
                <a:r>
                  <a:rPr lang="zh-CN" altLang="en-US" sz="2378" kern="1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回升</a:t>
                </a:r>
                <a:r>
                  <a:rPr lang="zh-CN" altLang="en-US" sz="2378" i="1" kern="1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→</a:t>
                </a:r>
                <a:r>
                  <a:rPr lang="en-US" altLang="zh-CN" sz="2378" i="1" kern="1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……</a:t>
                </a:r>
                <a:endParaRPr lang="zh-CN" altLang="en-US" sz="2378" i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6B6441B-1E7E-2DEF-C225-5CF4C8ED54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447" y="2287443"/>
                <a:ext cx="8276296" cy="610360"/>
              </a:xfrm>
              <a:prstGeom prst="rect">
                <a:avLst/>
              </a:prstGeom>
              <a:blipFill>
                <a:blip r:embed="rId2"/>
                <a:stretch>
                  <a:fillRect l="-1105" t="-1000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1D836657-2E06-B979-C3E1-E86D5ED8716A}"/>
              </a:ext>
            </a:extLst>
          </p:cNvPr>
          <p:cNvSpPr/>
          <p:nvPr/>
        </p:nvSpPr>
        <p:spPr>
          <a:xfrm>
            <a:off x="730220" y="3062976"/>
            <a:ext cx="2129443" cy="436774"/>
          </a:xfrm>
          <a:prstGeom prst="rect">
            <a:avLst/>
          </a:prstGeom>
          <a:solidFill>
            <a:srgbClr val="EFF3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784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货币市场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35A2EC7-AB11-A268-C0A3-ECC46D387740}"/>
              </a:ext>
            </a:extLst>
          </p:cNvPr>
          <p:cNvSpPr/>
          <p:nvPr/>
        </p:nvSpPr>
        <p:spPr>
          <a:xfrm>
            <a:off x="3163737" y="2993882"/>
            <a:ext cx="1408265" cy="436774"/>
          </a:xfrm>
          <a:prstGeom prst="rect">
            <a:avLst/>
          </a:prstGeom>
          <a:solidFill>
            <a:srgbClr val="EFF3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982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商品市场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DB3E065-E394-6600-4A96-D072FCBF1063}"/>
              </a:ext>
            </a:extLst>
          </p:cNvPr>
          <p:cNvSpPr/>
          <p:nvPr/>
        </p:nvSpPr>
        <p:spPr>
          <a:xfrm>
            <a:off x="5000084" y="2983975"/>
            <a:ext cx="2711200" cy="436774"/>
          </a:xfrm>
          <a:prstGeom prst="rect">
            <a:avLst/>
          </a:prstGeom>
          <a:solidFill>
            <a:srgbClr val="EFF3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982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货币市场</a:t>
            </a:r>
          </a:p>
        </p:txBody>
      </p:sp>
    </p:spTree>
    <p:extLst>
      <p:ext uri="{BB962C8B-B14F-4D97-AF65-F5344CB8AC3E}">
        <p14:creationId xmlns:p14="http://schemas.microsoft.com/office/powerpoint/2010/main" val="3538369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11757-2C21-50C2-2B17-879F00A98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30B89C6D-5D82-8999-A0A1-3025E842186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295786" y="6369998"/>
            <a:ext cx="682958" cy="367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defTabSz="912888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40B57475-AFD4-3C48-860A-4FC9F25FD75E}" type="slidenum">
              <a:rPr lang="zh-CN" altLang="zh-CN" sz="1696">
                <a:solidFill>
                  <a:srgbClr val="777777"/>
                </a:solidFill>
                <a:ea typeface="宋体" panose="02010600030101010101" pitchFamily="2" charset="-122"/>
              </a:rPr>
              <a:pPr algn="r" defTabSz="912888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zh-CN" altLang="zh-CN" sz="1696">
              <a:solidFill>
                <a:srgbClr val="777777"/>
              </a:solidFill>
              <a:ea typeface="宋体" panose="02010600030101010101" pitchFamily="2" charset="-122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E482ABC-7244-BEAA-3EB3-0048BA119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348" y="50"/>
            <a:ext cx="8402860" cy="824492"/>
          </a:xfrm>
        </p:spPr>
        <p:txBody>
          <a:bodyPr>
            <a:normAutofit fontScale="90000"/>
          </a:bodyPr>
          <a:lstStyle/>
          <a:p>
            <a:r>
              <a:rPr kumimoji="1" lang="zh-CN" altLang="en-US" sz="2774" dirty="0"/>
              <a:t>均衡的变化与经济波动：</a:t>
            </a:r>
            <a:br>
              <a:rPr kumimoji="1" lang="en-US" altLang="zh-CN" sz="2774" dirty="0"/>
            </a:br>
            <a:r>
              <a:rPr kumimoji="1" lang="en-US" altLang="zh-CN" sz="2774" dirty="0"/>
              <a:t>LM</a:t>
            </a:r>
            <a:r>
              <a:rPr kumimoji="1" lang="zh-CN" altLang="en-US" sz="2774" dirty="0"/>
              <a:t>曲线方面的冲击（货币扩张）</a:t>
            </a:r>
            <a:endParaRPr lang="zh-CN" altLang="en-US" sz="2774" dirty="0"/>
          </a:p>
        </p:txBody>
      </p:sp>
      <p:cxnSp>
        <p:nvCxnSpPr>
          <p:cNvPr id="36" name="直线连接符 33">
            <a:extLst>
              <a:ext uri="{FF2B5EF4-FFF2-40B4-BE49-F238E27FC236}">
                <a16:creationId xmlns:a16="http://schemas.microsoft.com/office/drawing/2014/main" id="{CA8334FB-A776-6362-4563-1DE99C40C9C8}"/>
              </a:ext>
            </a:extLst>
          </p:cNvPr>
          <p:cNvCxnSpPr>
            <a:cxnSpLocks/>
          </p:cNvCxnSpPr>
          <p:nvPr/>
        </p:nvCxnSpPr>
        <p:spPr>
          <a:xfrm>
            <a:off x="2297683" y="3124490"/>
            <a:ext cx="1780841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线连接符 39">
            <a:extLst>
              <a:ext uri="{FF2B5EF4-FFF2-40B4-BE49-F238E27FC236}">
                <a16:creationId xmlns:a16="http://schemas.microsoft.com/office/drawing/2014/main" id="{0893DEE4-FF81-8345-B755-F6FC04A3EB7C}"/>
              </a:ext>
            </a:extLst>
          </p:cNvPr>
          <p:cNvCxnSpPr>
            <a:cxnSpLocks/>
            <a:stCxn id="56" idx="7"/>
          </p:cNvCxnSpPr>
          <p:nvPr/>
        </p:nvCxnSpPr>
        <p:spPr>
          <a:xfrm flipH="1">
            <a:off x="4081524" y="3121216"/>
            <a:ext cx="23544" cy="141973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71E28009-3A79-123A-9FFE-C0A3FC92E7C4}"/>
              </a:ext>
            </a:extLst>
          </p:cNvPr>
          <p:cNvSpPr/>
          <p:nvPr/>
        </p:nvSpPr>
        <p:spPr>
          <a:xfrm>
            <a:off x="1965636" y="4754420"/>
            <a:ext cx="5043907" cy="412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2081" b="1" dirty="0">
                <a:latin typeface="KaiTi" panose="02010609060101010101" pitchFamily="49" charset="-122"/>
                <a:ea typeface="KaiTi" panose="02010609060101010101" pitchFamily="49" charset="-122"/>
              </a:rPr>
              <a:t>产品市场和货币市场的一般均衡</a:t>
            </a:r>
          </a:p>
        </p:txBody>
      </p:sp>
      <p:cxnSp>
        <p:nvCxnSpPr>
          <p:cNvPr id="41" name="直线箭头连接符 8">
            <a:extLst>
              <a:ext uri="{FF2B5EF4-FFF2-40B4-BE49-F238E27FC236}">
                <a16:creationId xmlns:a16="http://schemas.microsoft.com/office/drawing/2014/main" id="{9C7B2AFB-21A6-1B9A-6E19-DDEC307D6FEE}"/>
              </a:ext>
            </a:extLst>
          </p:cNvPr>
          <p:cNvCxnSpPr>
            <a:cxnSpLocks/>
          </p:cNvCxnSpPr>
          <p:nvPr/>
        </p:nvCxnSpPr>
        <p:spPr>
          <a:xfrm>
            <a:off x="2290221" y="4551835"/>
            <a:ext cx="45037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线箭头连接符 9">
            <a:extLst>
              <a:ext uri="{FF2B5EF4-FFF2-40B4-BE49-F238E27FC236}">
                <a16:creationId xmlns:a16="http://schemas.microsoft.com/office/drawing/2014/main" id="{C4EEC7CD-0711-434A-23E7-C8D2E924EB13}"/>
              </a:ext>
            </a:extLst>
          </p:cNvPr>
          <p:cNvCxnSpPr/>
          <p:nvPr/>
        </p:nvCxnSpPr>
        <p:spPr>
          <a:xfrm flipV="1">
            <a:off x="2290222" y="1292677"/>
            <a:ext cx="0" cy="32591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线连接符 11">
            <a:extLst>
              <a:ext uri="{FF2B5EF4-FFF2-40B4-BE49-F238E27FC236}">
                <a16:creationId xmlns:a16="http://schemas.microsoft.com/office/drawing/2014/main" id="{210AFC20-D615-6625-BC0C-936E50BE24CF}"/>
              </a:ext>
            </a:extLst>
          </p:cNvPr>
          <p:cNvCxnSpPr>
            <a:cxnSpLocks/>
          </p:cNvCxnSpPr>
          <p:nvPr/>
        </p:nvCxnSpPr>
        <p:spPr>
          <a:xfrm flipH="1">
            <a:off x="3083896" y="1687483"/>
            <a:ext cx="2452407" cy="2452234"/>
          </a:xfrm>
          <a:prstGeom prst="line">
            <a:avLst/>
          </a:prstGeom>
          <a:ln w="158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641F4369-9E2E-68B0-A691-2577C8D9C99E}"/>
                  </a:ext>
                </a:extLst>
              </p:cNvPr>
              <p:cNvSpPr txBox="1"/>
              <p:nvPr/>
            </p:nvSpPr>
            <p:spPr>
              <a:xfrm>
                <a:off x="5350663" y="1391638"/>
                <a:ext cx="1030920" cy="3973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982" i="1">
                          <a:latin typeface="Cambria Math" panose="02040503050406030204" pitchFamily="18" charset="0"/>
                        </a:rPr>
                        <m:t>𝐿𝑀</m:t>
                      </m:r>
                    </m:oMath>
                  </m:oMathPara>
                </a14:m>
                <a:endParaRPr lang="zh-CN" altLang="en-US" sz="1982" i="1" dirty="0"/>
              </a:p>
            </p:txBody>
          </p:sp>
        </mc:Choice>
        <mc:Fallback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641F4369-9E2E-68B0-A691-2577C8D9C9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663" y="1391638"/>
                <a:ext cx="1030920" cy="3973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文本框 44">
            <a:extLst>
              <a:ext uri="{FF2B5EF4-FFF2-40B4-BE49-F238E27FC236}">
                <a16:creationId xmlns:a16="http://schemas.microsoft.com/office/drawing/2014/main" id="{7AED2483-72A7-7089-B2CA-E96B7154B64E}"/>
              </a:ext>
            </a:extLst>
          </p:cNvPr>
          <p:cNvSpPr txBox="1"/>
          <p:nvPr/>
        </p:nvSpPr>
        <p:spPr>
          <a:xfrm>
            <a:off x="1771802" y="1025693"/>
            <a:ext cx="322524" cy="6412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567" i="1" dirty="0">
                <a:latin typeface="Garamond" panose="02020404030301010803" pitchFamily="18" charset="0"/>
              </a:rPr>
              <a:t>r</a:t>
            </a:r>
            <a:endParaRPr kumimoji="1" lang="zh-CN" altLang="en-US" sz="3567" i="1" dirty="0">
              <a:latin typeface="Garamond" panose="02020404030301010803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4C4F1BCA-C197-A380-25FA-F47597E64500}"/>
                  </a:ext>
                </a:extLst>
              </p:cNvPr>
              <p:cNvSpPr txBox="1"/>
              <p:nvPr/>
            </p:nvSpPr>
            <p:spPr>
              <a:xfrm>
                <a:off x="6809637" y="4269198"/>
                <a:ext cx="343595" cy="4278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180" i="1" dirty="0"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kumimoji="1" lang="zh-CN" altLang="en-US" sz="2180" dirty="0"/>
              </a:p>
            </p:txBody>
          </p:sp>
        </mc:Choice>
        <mc:Fallback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4C4F1BCA-C197-A380-25FA-F47597E645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9637" y="4269198"/>
                <a:ext cx="343595" cy="427809"/>
              </a:xfrm>
              <a:prstGeom prst="rect">
                <a:avLst/>
              </a:prstGeom>
              <a:blipFill>
                <a:blip r:embed="rId3"/>
                <a:stretch>
                  <a:fillRect r="-17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直线连接符 16">
            <a:extLst>
              <a:ext uri="{FF2B5EF4-FFF2-40B4-BE49-F238E27FC236}">
                <a16:creationId xmlns:a16="http://schemas.microsoft.com/office/drawing/2014/main" id="{C8D73DE5-56DA-134F-C68D-0A1FF3D6EFE9}"/>
              </a:ext>
            </a:extLst>
          </p:cNvPr>
          <p:cNvCxnSpPr>
            <a:cxnSpLocks/>
            <a:endCxn id="49" idx="6"/>
          </p:cNvCxnSpPr>
          <p:nvPr/>
        </p:nvCxnSpPr>
        <p:spPr>
          <a:xfrm>
            <a:off x="2290223" y="3869418"/>
            <a:ext cx="1836537" cy="1357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88875175-527E-4F06-3113-8B29C0EC5F39}"/>
              </a:ext>
            </a:extLst>
          </p:cNvPr>
          <p:cNvSpPr txBox="1"/>
          <p:nvPr/>
        </p:nvSpPr>
        <p:spPr>
          <a:xfrm>
            <a:off x="4439699" y="3270534"/>
            <a:ext cx="290464" cy="3668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784" dirty="0"/>
              <a:t>F</a:t>
            </a:r>
            <a:endParaRPr kumimoji="1" lang="zh-CN" altLang="en-US" sz="1784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F370AD2A-23F1-A06A-3C7C-75CD16F864AD}"/>
                  </a:ext>
                </a:extLst>
              </p:cNvPr>
              <p:cNvSpPr txBox="1"/>
              <p:nvPr/>
            </p:nvSpPr>
            <p:spPr>
              <a:xfrm>
                <a:off x="1687343" y="2848859"/>
                <a:ext cx="505267" cy="4582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378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378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zh-CN" sz="2378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zh-CN" altLang="en-US" sz="2378" dirty="0"/>
              </a:p>
            </p:txBody>
          </p:sp>
        </mc:Choice>
        <mc:Fallback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F370AD2A-23F1-A06A-3C7C-75CD16F864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7343" y="2848859"/>
                <a:ext cx="505267" cy="458267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文本框 51">
            <a:extLst>
              <a:ext uri="{FF2B5EF4-FFF2-40B4-BE49-F238E27FC236}">
                <a16:creationId xmlns:a16="http://schemas.microsoft.com/office/drawing/2014/main" id="{247259DE-A228-59A4-DF3C-946217FCD05E}"/>
              </a:ext>
            </a:extLst>
          </p:cNvPr>
          <p:cNvSpPr txBox="1"/>
          <p:nvPr/>
        </p:nvSpPr>
        <p:spPr>
          <a:xfrm>
            <a:off x="5438933" y="3856065"/>
            <a:ext cx="401072" cy="4582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378" dirty="0"/>
              <a:t>IS</a:t>
            </a:r>
            <a:endParaRPr kumimoji="1" lang="zh-CN" altLang="en-US" sz="2378" dirty="0"/>
          </a:p>
        </p:txBody>
      </p:sp>
      <p:cxnSp>
        <p:nvCxnSpPr>
          <p:cNvPr id="2" name="直线连接符 11">
            <a:extLst>
              <a:ext uri="{FF2B5EF4-FFF2-40B4-BE49-F238E27FC236}">
                <a16:creationId xmlns:a16="http://schemas.microsoft.com/office/drawing/2014/main" id="{49972469-4390-757C-066A-5C39A9442C5A}"/>
              </a:ext>
            </a:extLst>
          </p:cNvPr>
          <p:cNvCxnSpPr>
            <a:cxnSpLocks/>
          </p:cNvCxnSpPr>
          <p:nvPr/>
        </p:nvCxnSpPr>
        <p:spPr>
          <a:xfrm flipH="1">
            <a:off x="3573258" y="1687483"/>
            <a:ext cx="2678733" cy="2715425"/>
          </a:xfrm>
          <a:prstGeom prst="line">
            <a:avLst/>
          </a:prstGeom>
          <a:ln w="158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连接符 24">
            <a:extLst>
              <a:ext uri="{FF2B5EF4-FFF2-40B4-BE49-F238E27FC236}">
                <a16:creationId xmlns:a16="http://schemas.microsoft.com/office/drawing/2014/main" id="{47BC8227-F1DD-F8DD-5DA8-6FBC9E5408E1}"/>
              </a:ext>
            </a:extLst>
          </p:cNvPr>
          <p:cNvCxnSpPr>
            <a:cxnSpLocks/>
          </p:cNvCxnSpPr>
          <p:nvPr/>
        </p:nvCxnSpPr>
        <p:spPr>
          <a:xfrm flipH="1" flipV="1">
            <a:off x="2601272" y="1826625"/>
            <a:ext cx="2610211" cy="2328361"/>
          </a:xfrm>
          <a:prstGeom prst="line">
            <a:avLst/>
          </a:prstGeom>
          <a:ln w="158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箭头连接符 26">
            <a:extLst>
              <a:ext uri="{FF2B5EF4-FFF2-40B4-BE49-F238E27FC236}">
                <a16:creationId xmlns:a16="http://schemas.microsoft.com/office/drawing/2014/main" id="{1105DF49-BEFF-6C09-95BE-5CC87E4D3232}"/>
              </a:ext>
            </a:extLst>
          </p:cNvPr>
          <p:cNvCxnSpPr>
            <a:cxnSpLocks/>
          </p:cNvCxnSpPr>
          <p:nvPr/>
        </p:nvCxnSpPr>
        <p:spPr>
          <a:xfrm>
            <a:off x="5021399" y="2266467"/>
            <a:ext cx="644770" cy="223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线连接符 33">
            <a:extLst>
              <a:ext uri="{FF2B5EF4-FFF2-40B4-BE49-F238E27FC236}">
                <a16:creationId xmlns:a16="http://schemas.microsoft.com/office/drawing/2014/main" id="{7EA0FBCF-FE73-1AF6-0481-839738B2F323}"/>
              </a:ext>
            </a:extLst>
          </p:cNvPr>
          <p:cNvCxnSpPr>
            <a:cxnSpLocks/>
            <a:endCxn id="55" idx="6"/>
          </p:cNvCxnSpPr>
          <p:nvPr/>
        </p:nvCxnSpPr>
        <p:spPr>
          <a:xfrm flipV="1">
            <a:off x="2297684" y="3494934"/>
            <a:ext cx="2194534" cy="1813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椭圆 54">
            <a:extLst>
              <a:ext uri="{FF2B5EF4-FFF2-40B4-BE49-F238E27FC236}">
                <a16:creationId xmlns:a16="http://schemas.microsoft.com/office/drawing/2014/main" id="{6C316EE0-2111-AEDA-8A67-56A19B95FE82}"/>
              </a:ext>
            </a:extLst>
          </p:cNvPr>
          <p:cNvSpPr/>
          <p:nvPr/>
        </p:nvSpPr>
        <p:spPr>
          <a:xfrm>
            <a:off x="4401619" y="3449634"/>
            <a:ext cx="90599" cy="905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567"/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A3FBEDCD-B163-BF95-75E7-DBF10F6BFF1C}"/>
              </a:ext>
            </a:extLst>
          </p:cNvPr>
          <p:cNvSpPr/>
          <p:nvPr/>
        </p:nvSpPr>
        <p:spPr>
          <a:xfrm>
            <a:off x="4027737" y="3107950"/>
            <a:ext cx="90599" cy="905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567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C6B3AEB4-E013-E367-2674-922103B01DF2}"/>
              </a:ext>
            </a:extLst>
          </p:cNvPr>
          <p:cNvSpPr txBox="1"/>
          <p:nvPr/>
        </p:nvSpPr>
        <p:spPr>
          <a:xfrm>
            <a:off x="4013359" y="3854687"/>
            <a:ext cx="309700" cy="3668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784" dirty="0"/>
              <a:t>B</a:t>
            </a:r>
            <a:endParaRPr kumimoji="1" lang="zh-CN" altLang="en-US" sz="1784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79487856-4E7B-0EC6-55BD-996093AF902A}"/>
              </a:ext>
            </a:extLst>
          </p:cNvPr>
          <p:cNvSpPr txBox="1"/>
          <p:nvPr/>
        </p:nvSpPr>
        <p:spPr>
          <a:xfrm>
            <a:off x="3838926" y="2416512"/>
            <a:ext cx="296876" cy="3668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784" dirty="0"/>
              <a:t>E</a:t>
            </a:r>
            <a:endParaRPr kumimoji="1" lang="zh-CN" altLang="en-US" sz="1784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8740324B-0C4D-9FE8-91B7-E6A566C0B042}"/>
                  </a:ext>
                </a:extLst>
              </p:cNvPr>
              <p:cNvSpPr txBox="1"/>
              <p:nvPr/>
            </p:nvSpPr>
            <p:spPr>
              <a:xfrm>
                <a:off x="1687343" y="3481784"/>
                <a:ext cx="498213" cy="4582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378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378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zh-CN" sz="2378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2378" dirty="0"/>
              </a:p>
            </p:txBody>
          </p:sp>
        </mc:Choice>
        <mc:Fallback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8740324B-0C4D-9FE8-91B7-E6A566C0B0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7343" y="3481784"/>
                <a:ext cx="498213" cy="458267"/>
              </a:xfrm>
              <a:prstGeom prst="rect">
                <a:avLst/>
              </a:prstGeom>
              <a:blipFill>
                <a:blip r:embed="rId5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191E5073-C011-BA4C-4332-69892DE6C664}"/>
                  </a:ext>
                </a:extLst>
              </p:cNvPr>
              <p:cNvSpPr txBox="1"/>
              <p:nvPr/>
            </p:nvSpPr>
            <p:spPr>
              <a:xfrm>
                <a:off x="5578469" y="2275359"/>
                <a:ext cx="704104" cy="6846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2180" i="1"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kumimoji="1" lang="en-US" altLang="zh-CN" sz="2180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kumimoji="1" lang="en-US" altLang="zh-CN" sz="218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180" i="1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en-US" altLang="zh-CN" sz="2180" i="1">
                              <a:latin typeface="Cambria Math" panose="02040503050406030204" pitchFamily="18" charset="0"/>
                            </a:rPr>
                            <m:t>p</m:t>
                          </m:r>
                        </m:den>
                      </m:f>
                      <m:r>
                        <a:rPr kumimoji="1" lang="en-US" altLang="zh-CN" sz="218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180" dirty="0"/>
              </a:p>
            </p:txBody>
          </p:sp>
        </mc:Choice>
        <mc:Fallback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191E5073-C011-BA4C-4332-69892DE6C6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8469" y="2275359"/>
                <a:ext cx="704104" cy="6846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内容占位符 2">
            <a:extLst>
              <a:ext uri="{FF2B5EF4-FFF2-40B4-BE49-F238E27FC236}">
                <a16:creationId xmlns:a16="http://schemas.microsoft.com/office/drawing/2014/main" id="{C5259853-EFBA-ED59-8F36-43635642F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445" y="792484"/>
            <a:ext cx="8310033" cy="584579"/>
          </a:xfrm>
        </p:spPr>
        <p:txBody>
          <a:bodyPr/>
          <a:lstStyle/>
          <a:p>
            <a:r>
              <a:rPr lang="zh-CN" altLang="en-US" sz="2774" dirty="0"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774" dirty="0"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en-US" sz="2774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→ </a:t>
            </a:r>
            <a:r>
              <a:rPr lang="en-US" altLang="zh-CN" sz="2774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774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→ </a:t>
            </a:r>
            <a:r>
              <a:rPr lang="en-US" altLang="zh-CN" sz="2774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en-US" sz="2774" dirty="0"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zh-CN" sz="2774" dirty="0"/>
              <a:t> </a:t>
            </a:r>
            <a:endParaRPr lang="zh-CN" altLang="zh-CN" sz="2774" kern="1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111CBAF3-E201-DE32-ECF2-F5C8E8827EA8}"/>
              </a:ext>
            </a:extLst>
          </p:cNvPr>
          <p:cNvSpPr/>
          <p:nvPr/>
        </p:nvSpPr>
        <p:spPr>
          <a:xfrm>
            <a:off x="4036161" y="3837697"/>
            <a:ext cx="90599" cy="905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567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31C67F34-0012-AB27-9AF8-3D03B040B984}"/>
                  </a:ext>
                </a:extLst>
              </p:cNvPr>
              <p:cNvSpPr txBox="1"/>
              <p:nvPr/>
            </p:nvSpPr>
            <p:spPr>
              <a:xfrm>
                <a:off x="1687343" y="3184533"/>
                <a:ext cx="505267" cy="4582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378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378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zh-CN" sz="2378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2378" dirty="0"/>
              </a:p>
            </p:txBody>
          </p:sp>
        </mc:Choice>
        <mc:Fallback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31C67F34-0012-AB27-9AF8-3D03B040B9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7343" y="3184533"/>
                <a:ext cx="505267" cy="458267"/>
              </a:xfrm>
              <a:prstGeom prst="rect">
                <a:avLst/>
              </a:prstGeom>
              <a:blipFill>
                <a:blip r:embed="rId7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AC5A54A-96B8-CFB2-0298-6CB29DD2C556}"/>
                  </a:ext>
                </a:extLst>
              </p:cNvPr>
              <p:cNvSpPr txBox="1"/>
              <p:nvPr/>
            </p:nvSpPr>
            <p:spPr>
              <a:xfrm>
                <a:off x="576547" y="5308754"/>
                <a:ext cx="8276296" cy="6103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altLang="zh-CN" sz="2378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M</a:t>
                </a:r>
                <a:r>
                  <a:rPr lang="zh-CN" altLang="en-US" sz="2378" i="1" dirty="0"/>
                  <a:t>↑</a:t>
                </a:r>
                <a:r>
                  <a:rPr lang="zh-CN" altLang="en-US" sz="2378" i="1" kern="1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→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378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378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𝑀</m:t>
                        </m:r>
                      </m:num>
                      <m:den>
                        <m:r>
                          <a:rPr lang="en-US" altLang="zh-CN" sz="2378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𝑃</m:t>
                        </m:r>
                      </m:den>
                    </m:f>
                  </m:oMath>
                </a14:m>
                <a:r>
                  <a:rPr lang="zh-CN" altLang="en-US" sz="2378" i="1" kern="1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378" i="1" dirty="0"/>
                  <a:t>↑ </a:t>
                </a:r>
                <a:r>
                  <a:rPr lang="zh-CN" altLang="en-US" sz="2378" i="1" kern="1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→ </a:t>
                </a:r>
                <a14:m>
                  <m:oMath xmlns:m="http://schemas.openxmlformats.org/officeDocument/2006/math">
                    <m:r>
                      <a:rPr lang="en-US" altLang="zh-CN" sz="2378" i="1" kern="100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lang="en-US" altLang="zh-CN" sz="2378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↓</a:t>
                </a:r>
                <a:r>
                  <a:rPr lang="zh-CN" altLang="en-US" sz="2378" i="1" kern="1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→</a:t>
                </a:r>
                <a:r>
                  <a:rPr lang="en-US" altLang="zh-CN" sz="2378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r>
                  <a:rPr lang="zh-CN" altLang="en-US" sz="2378" i="1" dirty="0"/>
                  <a:t>↑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2378" i="1" kern="1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 altLang="zh-CN" sz="2378" i="1" kern="1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en-US" altLang="zh-CN" sz="2378" i="1" dirty="0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m:t>Y</m:t>
                    </m:r>
                    <m:r>
                      <m:rPr>
                        <m:nor/>
                      </m:rPr>
                      <a:rPr lang="zh-CN" altLang="en-US" sz="2378" i="1" dirty="0"/>
                      <m:t>↑</m:t>
                    </m:r>
                  </m:oMath>
                </a14:m>
                <a:r>
                  <a:rPr lang="zh-CN" altLang="en-US" sz="2378" i="1" kern="1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→   </a:t>
                </a:r>
                <a14:m>
                  <m:oMath xmlns:m="http://schemas.openxmlformats.org/officeDocument/2006/math">
                    <m:r>
                      <a:rPr lang="zh-CN" altLang="en-US" sz="2378" i="1"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nor/>
                      </m:rPr>
                      <a:rPr lang="zh-CN" altLang="en-US" sz="2378" i="1" dirty="0"/>
                      <m:t>↑</m:t>
                    </m:r>
                    <m:r>
                      <m:rPr>
                        <m:nor/>
                      </m:rPr>
                      <a:rPr lang="zh-CN" altLang="en-US" sz="2378" i="1" kern="1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 altLang="zh-CN" sz="2378" i="1" kern="1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378" i="1" dirty="0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m:t>r</m:t>
                    </m:r>
                    <m:r>
                      <m:rPr>
                        <m:nor/>
                      </m:rPr>
                      <a:rPr lang="en-US" altLang="zh-CN" sz="2378" i="1" dirty="0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m:t> </m:t>
                    </m:r>
                    <m:r>
                      <a:rPr lang="zh-CN" altLang="en-US" sz="2378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部分</m:t>
                    </m:r>
                  </m:oMath>
                </a14:m>
                <a:r>
                  <a:rPr lang="zh-CN" altLang="en-US" sz="2378" kern="1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回升</a:t>
                </a:r>
                <a:r>
                  <a:rPr lang="zh-CN" altLang="en-US" sz="2378" i="1" kern="1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→</a:t>
                </a:r>
                <a:r>
                  <a:rPr lang="en-US" altLang="zh-CN" sz="2378" i="1" kern="1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……</a:t>
                </a:r>
                <a:endParaRPr lang="zh-CN" altLang="en-US" sz="2378" i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AC5A54A-96B8-CFB2-0298-6CB29DD2C5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547" y="5308754"/>
                <a:ext cx="8276296" cy="610360"/>
              </a:xfrm>
              <a:prstGeom prst="rect">
                <a:avLst/>
              </a:prstGeom>
              <a:blipFill>
                <a:blip r:embed="rId8"/>
                <a:stretch>
                  <a:fillRect l="-1179" t="-1000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2DA5D8CA-D60D-1C4D-607F-55AAE966D220}"/>
              </a:ext>
            </a:extLst>
          </p:cNvPr>
          <p:cNvSpPr/>
          <p:nvPr/>
        </p:nvSpPr>
        <p:spPr>
          <a:xfrm>
            <a:off x="604320" y="6084287"/>
            <a:ext cx="2129443" cy="436774"/>
          </a:xfrm>
          <a:prstGeom prst="rect">
            <a:avLst/>
          </a:prstGeom>
          <a:solidFill>
            <a:srgbClr val="EFF3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784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货币市场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7585E99-7209-A22D-CB33-6BA3D3164035}"/>
              </a:ext>
            </a:extLst>
          </p:cNvPr>
          <p:cNvSpPr/>
          <p:nvPr/>
        </p:nvSpPr>
        <p:spPr>
          <a:xfrm>
            <a:off x="3037837" y="6015193"/>
            <a:ext cx="1408265" cy="436774"/>
          </a:xfrm>
          <a:prstGeom prst="rect">
            <a:avLst/>
          </a:prstGeom>
          <a:solidFill>
            <a:srgbClr val="EFF3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982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商品市场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7019984-C8B3-DDAB-BBFF-6FD37C718AF1}"/>
              </a:ext>
            </a:extLst>
          </p:cNvPr>
          <p:cNvSpPr/>
          <p:nvPr/>
        </p:nvSpPr>
        <p:spPr>
          <a:xfrm>
            <a:off x="4874184" y="6005286"/>
            <a:ext cx="2711200" cy="436774"/>
          </a:xfrm>
          <a:prstGeom prst="rect">
            <a:avLst/>
          </a:prstGeom>
          <a:solidFill>
            <a:srgbClr val="EFF3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982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货币市场</a:t>
            </a:r>
          </a:p>
        </p:txBody>
      </p:sp>
    </p:spTree>
    <p:extLst>
      <p:ext uri="{BB962C8B-B14F-4D97-AF65-F5344CB8AC3E}">
        <p14:creationId xmlns:p14="http://schemas.microsoft.com/office/powerpoint/2010/main" val="2159934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</TotalTime>
  <Words>336</Words>
  <Application>Microsoft Office PowerPoint</Application>
  <PresentationFormat>全屏显示(4:3)</PresentationFormat>
  <Paragraphs>75</Paragraphs>
  <Slides>6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KaiTi</vt:lpstr>
      <vt:lpstr>宋体</vt:lpstr>
      <vt:lpstr>Arial</vt:lpstr>
      <vt:lpstr>Calibri</vt:lpstr>
      <vt:lpstr>Calibri Light</vt:lpstr>
      <vt:lpstr>Cambria Math</vt:lpstr>
      <vt:lpstr>Garamond</vt:lpstr>
      <vt:lpstr>Tahoma</vt:lpstr>
      <vt:lpstr>Times New Roman</vt:lpstr>
      <vt:lpstr>Office 2013 - 2022 主题</vt:lpstr>
      <vt:lpstr>均衡的变化与经济波动</vt:lpstr>
      <vt:lpstr>均衡的变化与经济波动： IS曲线方面的冲击</vt:lpstr>
      <vt:lpstr>均衡的变化与经济波动：IS曲线</vt:lpstr>
      <vt:lpstr>均衡的变化与经济波动： IS曲线方面的冲击（财政政策扩张）</vt:lpstr>
      <vt:lpstr>均衡的变化与经济波动： LM曲线（货币政策）</vt:lpstr>
      <vt:lpstr>均衡的变化与经济波动： LM曲线方面的冲击（货币扩张）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</dc:creator>
  <cp:lastModifiedBy>Leo</cp:lastModifiedBy>
  <cp:revision>1</cp:revision>
  <dcterms:created xsi:type="dcterms:W3CDTF">2026-06-01T07:50:34Z</dcterms:created>
  <dcterms:modified xsi:type="dcterms:W3CDTF">2026-06-01T07:52:40Z</dcterms:modified>
</cp:coreProperties>
</file>