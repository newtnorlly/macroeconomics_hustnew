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81" r:id="rId2"/>
    <p:sldMasterId id="2147483705" r:id="rId3"/>
    <p:sldMasterId id="2147483717" r:id="rId4"/>
    <p:sldMasterId id="2147483757" r:id="rId5"/>
    <p:sldMasterId id="2147483769" r:id="rId6"/>
    <p:sldMasterId id="2147483794" r:id="rId7"/>
    <p:sldMasterId id="2147483806" r:id="rId8"/>
  </p:sldMasterIdLst>
  <p:notesMasterIdLst>
    <p:notesMasterId r:id="rId111"/>
  </p:notesMasterIdLst>
  <p:sldIdLst>
    <p:sldId id="1097" r:id="rId9"/>
    <p:sldId id="962" r:id="rId10"/>
    <p:sldId id="1308" r:id="rId11"/>
    <p:sldId id="1309" r:id="rId12"/>
    <p:sldId id="1310" r:id="rId13"/>
    <p:sldId id="1311" r:id="rId14"/>
    <p:sldId id="1325" r:id="rId15"/>
    <p:sldId id="1326" r:id="rId16"/>
    <p:sldId id="1312" r:id="rId17"/>
    <p:sldId id="1313" r:id="rId18"/>
    <p:sldId id="1314" r:id="rId19"/>
    <p:sldId id="1315" r:id="rId20"/>
    <p:sldId id="1316" r:id="rId21"/>
    <p:sldId id="1317" r:id="rId22"/>
    <p:sldId id="1318" r:id="rId23"/>
    <p:sldId id="1319" r:id="rId24"/>
    <p:sldId id="1320" r:id="rId25"/>
    <p:sldId id="1321" r:id="rId26"/>
    <p:sldId id="1322" r:id="rId27"/>
    <p:sldId id="1323" r:id="rId28"/>
    <p:sldId id="1324" r:id="rId29"/>
    <p:sldId id="498" r:id="rId30"/>
    <p:sldId id="499" r:id="rId31"/>
    <p:sldId id="1328" r:id="rId32"/>
    <p:sldId id="1335" r:id="rId33"/>
    <p:sldId id="502" r:id="rId34"/>
    <p:sldId id="504" r:id="rId35"/>
    <p:sldId id="505" r:id="rId36"/>
    <p:sldId id="503" r:id="rId37"/>
    <p:sldId id="506" r:id="rId38"/>
    <p:sldId id="1411" r:id="rId39"/>
    <p:sldId id="1410" r:id="rId40"/>
    <p:sldId id="1329" r:id="rId41"/>
    <p:sldId id="1336" r:id="rId42"/>
    <p:sldId id="1327" r:id="rId43"/>
    <p:sldId id="1354" r:id="rId44"/>
    <p:sldId id="296" r:id="rId45"/>
    <p:sldId id="1359" r:id="rId46"/>
    <p:sldId id="1355" r:id="rId47"/>
    <p:sldId id="508" r:id="rId48"/>
    <p:sldId id="1357" r:id="rId49"/>
    <p:sldId id="515" r:id="rId50"/>
    <p:sldId id="1356" r:id="rId51"/>
    <p:sldId id="509" r:id="rId52"/>
    <p:sldId id="510" r:id="rId53"/>
    <p:sldId id="511" r:id="rId54"/>
    <p:sldId id="512" r:id="rId55"/>
    <p:sldId id="513" r:id="rId56"/>
    <p:sldId id="514" r:id="rId57"/>
    <p:sldId id="1360" r:id="rId58"/>
    <p:sldId id="1361" r:id="rId59"/>
    <p:sldId id="1362" r:id="rId60"/>
    <p:sldId id="1363" r:id="rId61"/>
    <p:sldId id="1330" r:id="rId62"/>
    <p:sldId id="1364" r:id="rId63"/>
    <p:sldId id="1365" r:id="rId64"/>
    <p:sldId id="517" r:id="rId65"/>
    <p:sldId id="520" r:id="rId66"/>
    <p:sldId id="1366" r:id="rId67"/>
    <p:sldId id="1332" r:id="rId68"/>
    <p:sldId id="1333" r:id="rId69"/>
    <p:sldId id="1337" r:id="rId70"/>
    <p:sldId id="1367" r:id="rId71"/>
    <p:sldId id="541" r:id="rId72"/>
    <p:sldId id="523" r:id="rId73"/>
    <p:sldId id="1368" r:id="rId74"/>
    <p:sldId id="1334" r:id="rId75"/>
    <p:sldId id="542" r:id="rId76"/>
    <p:sldId id="525" r:id="rId77"/>
    <p:sldId id="1369" r:id="rId78"/>
    <p:sldId id="1374" r:id="rId79"/>
    <p:sldId id="527" r:id="rId80"/>
    <p:sldId id="1371" r:id="rId81"/>
    <p:sldId id="1372" r:id="rId82"/>
    <p:sldId id="1373" r:id="rId83"/>
    <p:sldId id="543" r:id="rId84"/>
    <p:sldId id="1382" r:id="rId85"/>
    <p:sldId id="1348" r:id="rId86"/>
    <p:sldId id="1349" r:id="rId87"/>
    <p:sldId id="1350" r:id="rId88"/>
    <p:sldId id="1379" r:id="rId89"/>
    <p:sldId id="1380" r:id="rId90"/>
    <p:sldId id="528" r:id="rId91"/>
    <p:sldId id="1383" r:id="rId92"/>
    <p:sldId id="1338" r:id="rId93"/>
    <p:sldId id="1340" r:id="rId94"/>
    <p:sldId id="1342" r:id="rId95"/>
    <p:sldId id="1381" r:id="rId96"/>
    <p:sldId id="1343" r:id="rId97"/>
    <p:sldId id="1346" r:id="rId98"/>
    <p:sldId id="1378" r:id="rId99"/>
    <p:sldId id="1345" r:id="rId100"/>
    <p:sldId id="1347" r:id="rId101"/>
    <p:sldId id="1341" r:id="rId102"/>
    <p:sldId id="1344" r:id="rId103"/>
    <p:sldId id="1377" r:id="rId104"/>
    <p:sldId id="1375" r:id="rId105"/>
    <p:sldId id="1376" r:id="rId106"/>
    <p:sldId id="1351" r:id="rId107"/>
    <p:sldId id="1352" r:id="rId108"/>
    <p:sldId id="1353" r:id="rId109"/>
    <p:sldId id="367" r:id="rId110"/>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Lst>
        </p14:section>
        <p14:section name="投资需求" id="{67B13FD6-A9D1-4042-8509-111C0CCF2A12}">
          <p14:sldIdLst>
            <p14:sldId id="1308"/>
            <p14:sldId id="1309"/>
            <p14:sldId id="1310"/>
            <p14:sldId id="1311"/>
            <p14:sldId id="1325"/>
            <p14:sldId id="1326"/>
            <p14:sldId id="1312"/>
            <p14:sldId id="1313"/>
            <p14:sldId id="1314"/>
            <p14:sldId id="1315"/>
            <p14:sldId id="1316"/>
            <p14:sldId id="1317"/>
            <p14:sldId id="1318"/>
            <p14:sldId id="1319"/>
            <p14:sldId id="1320"/>
            <p14:sldId id="1321"/>
            <p14:sldId id="1322"/>
            <p14:sldId id="1323"/>
          </p14:sldIdLst>
        </p14:section>
        <p14:section name="第二节 IS曲线" id="{44EB3E03-6332-4ADC-9840-0504D9352350}">
          <p14:sldIdLst>
            <p14:sldId id="1324"/>
            <p14:sldId id="498"/>
            <p14:sldId id="499"/>
            <p14:sldId id="1328"/>
            <p14:sldId id="1335"/>
            <p14:sldId id="502"/>
            <p14:sldId id="504"/>
            <p14:sldId id="505"/>
            <p14:sldId id="503"/>
            <p14:sldId id="506"/>
            <p14:sldId id="1411"/>
            <p14:sldId id="1410"/>
            <p14:sldId id="1329"/>
            <p14:sldId id="1336"/>
          </p14:sldIdLst>
        </p14:section>
        <p14:section name="第三节 利率的决定" id="{E81477E4-113C-44D7-89C4-97DFD0DF9B0E}">
          <p14:sldIdLst>
            <p14:sldId id="1327"/>
            <p14:sldId id="1354"/>
            <p14:sldId id="296"/>
            <p14:sldId id="1359"/>
            <p14:sldId id="1355"/>
            <p14:sldId id="508"/>
            <p14:sldId id="1357"/>
            <p14:sldId id="515"/>
            <p14:sldId id="1356"/>
            <p14:sldId id="509"/>
            <p14:sldId id="510"/>
            <p14:sldId id="511"/>
            <p14:sldId id="512"/>
            <p14:sldId id="513"/>
            <p14:sldId id="514"/>
            <p14:sldId id="1360"/>
            <p14:sldId id="1361"/>
            <p14:sldId id="1362"/>
            <p14:sldId id="1363"/>
          </p14:sldIdLst>
        </p14:section>
        <p14:section name="第四节 LM曲线" id="{EEF8721E-8B25-4B9B-BA0F-E3DF59465B04}">
          <p14:sldIdLst>
            <p14:sldId id="1330"/>
            <p14:sldId id="1364"/>
            <p14:sldId id="1365"/>
            <p14:sldId id="517"/>
            <p14:sldId id="520"/>
            <p14:sldId id="1366"/>
            <p14:sldId id="1332"/>
            <p14:sldId id="1333"/>
            <p14:sldId id="1337"/>
            <p14:sldId id="1367"/>
            <p14:sldId id="541"/>
            <p14:sldId id="523"/>
            <p14:sldId id="1368"/>
          </p14:sldIdLst>
        </p14:section>
        <p14:section name="第五节  IS-LM分析" id="{3F6FA362-D72A-4A10-A7B1-FEB29FC16DFC}">
          <p14:sldIdLst>
            <p14:sldId id="1334"/>
            <p14:sldId id="542"/>
            <p14:sldId id="525"/>
            <p14:sldId id="1369"/>
            <p14:sldId id="1374"/>
            <p14:sldId id="527"/>
            <p14:sldId id="1371"/>
            <p14:sldId id="1372"/>
            <p14:sldId id="1373"/>
            <p14:sldId id="543"/>
            <p14:sldId id="1382"/>
            <p14:sldId id="1348"/>
            <p14:sldId id="1349"/>
            <p14:sldId id="1350"/>
            <p14:sldId id="1379"/>
            <p14:sldId id="1380"/>
            <p14:sldId id="528"/>
            <p14:sldId id="1383"/>
            <p14:sldId id="1338"/>
            <p14:sldId id="1340"/>
            <p14:sldId id="1342"/>
            <p14:sldId id="1381"/>
            <p14:sldId id="1343"/>
            <p14:sldId id="1346"/>
            <p14:sldId id="1378"/>
            <p14:sldId id="1345"/>
            <p14:sldId id="1347"/>
            <p14:sldId id="1341"/>
            <p14:sldId id="1344"/>
            <p14:sldId id="1377"/>
            <p14:sldId id="1375"/>
            <p14:sldId id="1376"/>
            <p14:sldId id="1351"/>
            <p14:sldId id="1352"/>
            <p14:sldId id="1353"/>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77F0F-D02E-47CF-9C2E-9C0355BA2695}" v="4" dt="2026-05-28T03:38:50.96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173"/>
    <p:restoredTop sz="95958"/>
  </p:normalViewPr>
  <p:slideViewPr>
    <p:cSldViewPr>
      <p:cViewPr varScale="1">
        <p:scale>
          <a:sx n="205" d="100"/>
          <a:sy n="205" d="100"/>
        </p:scale>
        <p:origin x="1872" y="87"/>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117" Type="http://schemas.microsoft.com/office/2015/10/relationships/revisionInfo" Target="revisionInfo.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presProps" Target="presProps.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viewProps" Target="viewProps.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theme" Target="theme/theme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tableStyles" Target="tableStyle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microsoft.com/office/2016/11/relationships/changesInfo" Target="changesInfos/changesInfo1.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notesMaster" Target="notesMasters/notesMaster1.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唱 浅" userId="a289f8e6d1198102" providerId="LiveId" clId="{133D8CCC-F228-454B-ABF7-70155C9CE543}"/>
    <pc:docChg chg="undo custSel addSld modSld">
      <pc:chgData name="唱 浅" userId="a289f8e6d1198102" providerId="LiveId" clId="{133D8CCC-F228-454B-ABF7-70155C9CE543}" dt="2026-05-28T03:38:50.954" v="34"/>
      <pc:docMkLst>
        <pc:docMk/>
      </pc:docMkLst>
      <pc:sldChg chg="modSp mod">
        <pc:chgData name="唱 浅" userId="a289f8e6d1198102" providerId="LiveId" clId="{133D8CCC-F228-454B-ABF7-70155C9CE543}" dt="2026-05-28T03:31:39.111" v="7" actId="20577"/>
        <pc:sldMkLst>
          <pc:docMk/>
          <pc:sldMk cId="210723712" sldId="506"/>
        </pc:sldMkLst>
        <pc:spChg chg="mod">
          <ac:chgData name="唱 浅" userId="a289f8e6d1198102" providerId="LiveId" clId="{133D8CCC-F228-454B-ABF7-70155C9CE543}" dt="2026-05-28T03:31:39.111" v="7" actId="20577"/>
          <ac:spMkLst>
            <pc:docMk/>
            <pc:sldMk cId="210723712" sldId="506"/>
            <ac:spMk id="9" creationId="{76E3527A-AACE-4579-99EF-2FC9377C27BC}"/>
          </ac:spMkLst>
        </pc:spChg>
      </pc:sldChg>
      <pc:sldChg chg="addSp modSp mod">
        <pc:chgData name="唱 浅" userId="a289f8e6d1198102" providerId="LiveId" clId="{133D8CCC-F228-454B-ABF7-70155C9CE543}" dt="2026-05-28T03:36:58.453" v="33" actId="1076"/>
        <pc:sldMkLst>
          <pc:docMk/>
          <pc:sldMk cId="1684442034" sldId="523"/>
        </pc:sldMkLst>
        <pc:spChg chg="mod">
          <ac:chgData name="唱 浅" userId="a289f8e6d1198102" providerId="LiveId" clId="{133D8CCC-F228-454B-ABF7-70155C9CE543}" dt="2026-05-28T03:35:07.425" v="8"/>
          <ac:spMkLst>
            <pc:docMk/>
            <pc:sldMk cId="1684442034" sldId="523"/>
            <ac:spMk id="11" creationId="{36785E8E-B003-2623-8D5C-3E363C705FFB}"/>
          </ac:spMkLst>
        </pc:spChg>
        <pc:spChg chg="add mod">
          <ac:chgData name="唱 浅" userId="a289f8e6d1198102" providerId="LiveId" clId="{133D8CCC-F228-454B-ABF7-70155C9CE543}" dt="2026-05-28T03:36:33.231" v="28" actId="1076"/>
          <ac:spMkLst>
            <pc:docMk/>
            <pc:sldMk cId="1684442034" sldId="523"/>
            <ac:spMk id="13" creationId="{86E53E09-E082-AF8E-50D7-207A3BD30DBE}"/>
          </ac:spMkLst>
        </pc:spChg>
        <pc:grpChg chg="add mod">
          <ac:chgData name="唱 浅" userId="a289f8e6d1198102" providerId="LiveId" clId="{133D8CCC-F228-454B-ABF7-70155C9CE543}" dt="2026-05-28T03:35:07.425" v="8"/>
          <ac:grpSpMkLst>
            <pc:docMk/>
            <pc:sldMk cId="1684442034" sldId="523"/>
            <ac:grpSpMk id="2" creationId="{6F2E8B36-B236-0281-17C7-1A6AE54857DB}"/>
          </ac:grpSpMkLst>
        </pc:grpChg>
        <pc:picChg chg="mod">
          <ac:chgData name="唱 浅" userId="a289f8e6d1198102" providerId="LiveId" clId="{133D8CCC-F228-454B-ABF7-70155C9CE543}" dt="2026-05-28T03:35:07.425" v="8"/>
          <ac:picMkLst>
            <pc:docMk/>
            <pc:sldMk cId="1684442034" sldId="523"/>
            <ac:picMk id="5" creationId="{133A280A-FD37-61EF-98D5-C67036867625}"/>
          </ac:picMkLst>
        </pc:picChg>
        <pc:cxnChg chg="add mod ord">
          <ac:chgData name="唱 浅" userId="a289f8e6d1198102" providerId="LiveId" clId="{133D8CCC-F228-454B-ABF7-70155C9CE543}" dt="2026-05-28T03:36:58.453" v="33" actId="1076"/>
          <ac:cxnSpMkLst>
            <pc:docMk/>
            <pc:sldMk cId="1684442034" sldId="523"/>
            <ac:cxnSpMk id="12" creationId="{72A63E87-3B05-1AE7-3301-8821C7D1701B}"/>
          </ac:cxnSpMkLst>
        </pc:cxnChg>
      </pc:sldChg>
      <pc:sldChg chg="add">
        <pc:chgData name="唱 浅" userId="a289f8e6d1198102" providerId="LiveId" clId="{133D8CCC-F228-454B-ABF7-70155C9CE543}" dt="2026-05-28T03:38:50.954" v="34"/>
        <pc:sldMkLst>
          <pc:docMk/>
          <pc:sldMk cId="3343130130" sldId="1410"/>
        </pc:sldMkLst>
      </pc:sldChg>
      <pc:sldChg chg="add">
        <pc:chgData name="唱 浅" userId="a289f8e6d1198102" providerId="LiveId" clId="{133D8CCC-F228-454B-ABF7-70155C9CE543}" dt="2026-05-28T03:38:50.954" v="34"/>
        <pc:sldMkLst>
          <pc:docMk/>
          <pc:sldMk cId="1011566560" sldId="14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2026/5/28</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AA3045B4-0F4A-8E0F-7327-3F675536001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zh-CN" altLang="zh-CN" sz="1200">
                <a:ea typeface="宋体" panose="02010600030101010101" pitchFamily="2" charset="-122"/>
              </a:rPr>
              <a:t>*</a:t>
            </a:r>
          </a:p>
        </p:txBody>
      </p:sp>
      <p:sp>
        <p:nvSpPr>
          <p:cNvPr id="45059" name="Rectangle 2">
            <a:extLst>
              <a:ext uri="{FF2B5EF4-FFF2-40B4-BE49-F238E27FC236}">
                <a16:creationId xmlns:a16="http://schemas.microsoft.com/office/drawing/2014/main" id="{7D2159D4-EE7A-D759-ADBD-D9FC0327CFE2}"/>
              </a:ext>
            </a:extLst>
          </p:cNvPr>
          <p:cNvSpPr>
            <a:spLocks noGrp="1" noRot="1" noChangeAspect="1" noChangeArrowheads="1" noTextEdit="1"/>
          </p:cNvSpPr>
          <p:nvPr>
            <p:ph type="sldImg" idx="4294967295"/>
          </p:nvPr>
        </p:nvSpPr>
        <p:spPr/>
      </p:sp>
      <p:sp>
        <p:nvSpPr>
          <p:cNvPr id="45060" name="Rectangle 3">
            <a:extLst>
              <a:ext uri="{FF2B5EF4-FFF2-40B4-BE49-F238E27FC236}">
                <a16:creationId xmlns:a16="http://schemas.microsoft.com/office/drawing/2014/main" id="{5D67FFFD-03D4-B424-AABA-5BDC781B949A}"/>
              </a:ext>
            </a:extLst>
          </p:cNvPr>
          <p:cNvSpPr>
            <a:spLocks noGrp="1" noChangeArrowheads="1"/>
          </p:cNvSpPr>
          <p:nvPr>
            <p:ph type="body" idx="4294967295"/>
          </p:nvPr>
        </p:nvSpPr>
        <p:spPr/>
        <p:txBody>
          <a:bodyPr anchor="t">
            <a:prstTxWarp prst="textNoShape">
              <a:avLst/>
            </a:prstTxWarp>
          </a:bodyPr>
          <a:lstStyle/>
          <a:p>
            <a:pPr eaLnBrk="1" hangingPunct="1"/>
            <a:r>
              <a:rPr lang="en-US" altLang="zh-CN">
                <a:latin typeface="Arial" panose="020B0604020202020204" pitchFamily="34" charset="0"/>
                <a:ea typeface="宋体" panose="02010600030101010101" pitchFamily="2" charset="-122"/>
              </a:rPr>
              <a:t>Due to space constraints, this slide uses “L.F.” to stand for loanable funds, and “eq’m” to stand for equilibrium.  </a:t>
            </a:r>
          </a:p>
          <a:p>
            <a:pPr eaLnBrk="1" hangingPunct="1"/>
            <a:endParaRPr lang="en-US" altLang="zh-CN">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If the interest rate were lower than the equilibrium level, demand for funds would exceed supply, causing the interest rate to rise.  The rise in the rate would make borrowing more costly, and thus would reduce the demand for funds.  The rise in the interest rate would also encourage households to save more, which would increase the supply of funds.  This process would occur until equilibrium was achieved.  </a:t>
            </a:r>
          </a:p>
          <a:p>
            <a:pPr eaLnBrk="1" hangingPunct="1"/>
            <a:endParaRPr lang="en-US" altLang="zh-CN">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If the interest rate were higher than equilibrium, there would be a surplus of funds.  The interest rate would fall to restore equilibrium.  </a:t>
            </a:r>
          </a:p>
          <a:p>
            <a:pPr eaLnBrk="1" hangingPunct="1"/>
            <a:endParaRPr lang="en-US" altLang="zh-CN">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In the real world, the adjustment to equilibrium in financial markets is extremely rapid.  </a:t>
            </a:r>
          </a:p>
          <a:p>
            <a:pPr eaLnBrk="1" hangingPunct="1"/>
            <a:endParaRPr lang="zh-CN" altLang="zh-CN">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实际货币供给曲线</a:t>
            </a:r>
            <a:endParaRPr kumimoji="1" lang="en-US" altLang="zh-CN" dirty="0"/>
          </a:p>
          <a:p>
            <a:r>
              <a:rPr kumimoji="1" lang="zh-CN" altLang="en-US" dirty="0"/>
              <a:t>假设价格是外生的</a:t>
            </a:r>
            <a:r>
              <a:rPr kumimoji="1" lang="en-US" altLang="zh-CN" dirty="0"/>
              <a:t>,</a:t>
            </a:r>
            <a:r>
              <a:rPr kumimoji="1" lang="zh-CN" altLang="en-US" dirty="0"/>
              <a:t>实际货币需求曲线是以收入或总供给</a:t>
            </a:r>
            <a:r>
              <a:rPr kumimoji="1" lang="en-US" altLang="zh-CN" dirty="0"/>
              <a:t>Y1</a:t>
            </a:r>
            <a:r>
              <a:rPr kumimoji="1" lang="zh-CN" altLang="en-US" dirty="0"/>
              <a:t>为前提的。</a:t>
            </a:r>
            <a:endParaRPr kumimoji="1" lang="en-US" altLang="zh-CN" dirty="0"/>
          </a:p>
          <a:p>
            <a:r>
              <a:rPr kumimoji="1" lang="zh-CN" altLang="en-US" dirty="0"/>
              <a:t>如果利率在</a:t>
            </a:r>
            <a:r>
              <a:rPr kumimoji="1" lang="en-US" altLang="zh-CN" dirty="0"/>
              <a:t>r1</a:t>
            </a:r>
            <a:r>
              <a:rPr kumimoji="1" lang="zh-CN" altLang="en-US" dirty="0"/>
              <a:t>，那么就会有</a:t>
            </a:r>
            <a:r>
              <a:rPr kumimoji="1" lang="en-US" altLang="zh-CN" dirty="0"/>
              <a:t>BC</a:t>
            </a:r>
            <a:r>
              <a:rPr kumimoji="1" lang="zh-CN" altLang="en-US" dirty="0"/>
              <a:t>中的货币供求缺口。更多的供给，一定会带来利率的下降。</a:t>
            </a:r>
            <a:endParaRPr kumimoji="1" lang="en-US" altLang="zh-CN" dirty="0"/>
          </a:p>
          <a:p>
            <a:r>
              <a:rPr kumimoji="1" lang="zh-CN" altLang="en-US" dirty="0"/>
              <a:t>但现实中只愿意持有少量的货币在手中。</a:t>
            </a:r>
            <a:endParaRPr kumimoji="1" lang="en-US" altLang="zh-CN" dirty="0"/>
          </a:p>
          <a:p>
            <a:r>
              <a:rPr kumimoji="1" lang="en-US" altLang="zh-CN" dirty="0"/>
              <a:t>BC</a:t>
            </a:r>
            <a:r>
              <a:rPr kumimoji="1" lang="zh-CN" altLang="en-US" dirty="0"/>
              <a:t>部分货币供给用来存款</a:t>
            </a:r>
            <a:r>
              <a:rPr kumimoji="1" lang="en-US" altLang="zh-CN" dirty="0"/>
              <a:t>——</a:t>
            </a:r>
            <a:r>
              <a:rPr kumimoji="1" lang="zh-CN" altLang="en-US" dirty="0"/>
              <a:t>市场利息率降低。一旦股票价格因为大量货币的购买导致更贵，但是收益率（股息和红利）</a:t>
            </a:r>
            <a:endParaRPr kumimoji="1" lang="en-US" altLang="zh-CN" dirty="0"/>
          </a:p>
          <a:p>
            <a:r>
              <a:rPr kumimoji="1" lang="zh-CN" altLang="en-US" dirty="0"/>
              <a:t>这都会导致利息率从</a:t>
            </a:r>
            <a:r>
              <a:rPr kumimoji="1" lang="en-US" altLang="zh-CN" dirty="0"/>
              <a:t>R1</a:t>
            </a:r>
            <a:r>
              <a:rPr kumimoji="1" lang="zh-CN" altLang="en-US" dirty="0"/>
              <a:t>到</a:t>
            </a:r>
            <a:r>
              <a:rPr kumimoji="1" lang="en-US" altLang="zh-CN" dirty="0"/>
              <a:t>R0.</a:t>
            </a:r>
            <a:r>
              <a:rPr kumimoji="1" lang="zh-CN" altLang="en-US" dirty="0"/>
              <a:t>使经济达到新的均衡。</a:t>
            </a:r>
            <a:endParaRPr kumimoji="1" lang="en-US" altLang="zh-CN" dirty="0"/>
          </a:p>
          <a:p>
            <a:r>
              <a:rPr kumimoji="1" lang="zh-CN" altLang="en-US" dirty="0"/>
              <a:t>这里的利率是抽象的利息率，比如股票收益</a:t>
            </a:r>
            <a:r>
              <a:rPr kumimoji="1" lang="en-US" altLang="zh-CN" dirty="0"/>
              <a:t>/</a:t>
            </a:r>
            <a:r>
              <a:rPr kumimoji="1" lang="zh-CN" altLang="en-US" dirty="0"/>
              <a:t>价格</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51</a:t>
            </a:fld>
            <a:endParaRPr kumimoji="1" lang="zh-CN" altLang="en-US"/>
          </a:p>
        </p:txBody>
      </p:sp>
    </p:spTree>
    <p:extLst>
      <p:ext uri="{BB962C8B-B14F-4D97-AF65-F5344CB8AC3E}">
        <p14:creationId xmlns:p14="http://schemas.microsoft.com/office/powerpoint/2010/main" val="3962295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C</a:t>
            </a:r>
            <a:r>
              <a:rPr kumimoji="1" lang="zh-CN" altLang="en-US" dirty="0"/>
              <a:t>点到</a:t>
            </a:r>
            <a:r>
              <a:rPr kumimoji="1" lang="en-US" altLang="zh-CN" dirty="0"/>
              <a:t>B</a:t>
            </a:r>
            <a:r>
              <a:rPr kumimoji="1" lang="zh-CN" altLang="en-US" dirty="0"/>
              <a:t>点：利率上升</a:t>
            </a:r>
          </a:p>
          <a:p>
            <a:r>
              <a:rPr kumimoji="1" lang="zh-CN" altLang="en-US" dirty="0"/>
              <a:t>收入水平更高，此时货币需求量增大。</a:t>
            </a:r>
            <a:endParaRPr kumimoji="1" lang="en-US" altLang="zh-CN" dirty="0"/>
          </a:p>
          <a:p>
            <a:r>
              <a:rPr kumimoji="1" lang="zh-CN" altLang="en-US" dirty="0"/>
              <a:t>如果需要有更多的现金在手中，把债券抛售，股票价格会降低，此时债券的收益上升。</a:t>
            </a:r>
            <a:endParaRPr kumimoji="1" lang="en-US" altLang="zh-CN" dirty="0"/>
          </a:p>
          <a:p>
            <a:r>
              <a:rPr kumimoji="1" lang="zh-CN" altLang="en-US" dirty="0"/>
              <a:t>此时需要有更高的利息才能获得收益。</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52</a:t>
            </a:fld>
            <a:endParaRPr kumimoji="1" lang="zh-CN" altLang="en-US"/>
          </a:p>
        </p:txBody>
      </p:sp>
    </p:spTree>
    <p:extLst>
      <p:ext uri="{BB962C8B-B14F-4D97-AF65-F5344CB8AC3E}">
        <p14:creationId xmlns:p14="http://schemas.microsoft.com/office/powerpoint/2010/main" val="3986005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利息率的决定</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53</a:t>
            </a:fld>
            <a:endParaRPr kumimoji="1" lang="zh-CN" altLang="en-US"/>
          </a:p>
        </p:txBody>
      </p:sp>
    </p:spTree>
    <p:extLst>
      <p:ext uri="{BB962C8B-B14F-4D97-AF65-F5344CB8AC3E}">
        <p14:creationId xmlns:p14="http://schemas.microsoft.com/office/powerpoint/2010/main" val="3300323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收入增加，对实际货币需求增加，而对利率产生影响。</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55</a:t>
            </a:fld>
            <a:endParaRPr kumimoji="1" lang="zh-CN" altLang="en-US"/>
          </a:p>
        </p:txBody>
      </p:sp>
    </p:spTree>
    <p:extLst>
      <p:ext uri="{BB962C8B-B14F-4D97-AF65-F5344CB8AC3E}">
        <p14:creationId xmlns:p14="http://schemas.microsoft.com/office/powerpoint/2010/main" val="738195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a:t>
            </a:r>
            <a:r>
              <a:rPr kumimoji="1" lang="en-US" altLang="zh-CN" dirty="0"/>
              <a:t>A</a:t>
            </a:r>
            <a:r>
              <a:rPr kumimoji="1" lang="zh-CN" altLang="en-US" dirty="0"/>
              <a:t> 收入为</a:t>
            </a:r>
            <a:r>
              <a:rPr kumimoji="1" lang="en-US" altLang="zh-CN" dirty="0"/>
              <a:t>Y1</a:t>
            </a:r>
            <a:r>
              <a:rPr kumimoji="1" lang="zh-CN" altLang="en-US" dirty="0"/>
              <a:t>的时候，实际货币需求曲线是蓝色的线，在货币供求相等时，均衡的利率是</a:t>
            </a:r>
            <a:r>
              <a:rPr kumimoji="1" lang="en-US" altLang="zh-CN" dirty="0"/>
              <a:t>R1.</a:t>
            </a:r>
          </a:p>
          <a:p>
            <a:r>
              <a:rPr kumimoji="1" lang="zh-CN" altLang="en-US" dirty="0"/>
              <a:t>可以在图</a:t>
            </a:r>
            <a:r>
              <a:rPr kumimoji="1" lang="en-US" altLang="zh-CN" dirty="0"/>
              <a:t>B</a:t>
            </a:r>
            <a:r>
              <a:rPr kumimoji="1" lang="zh-CN" altLang="en-US" dirty="0"/>
              <a:t>中表达出这两者的关系，对应点代表着，</a:t>
            </a:r>
            <a:r>
              <a:rPr kumimoji="1" lang="en-US" altLang="zh-CN" dirty="0"/>
              <a:t>A</a:t>
            </a:r>
            <a:r>
              <a:rPr kumimoji="1" lang="zh-CN" altLang="en-US" dirty="0"/>
              <a:t>点如果收入时</a:t>
            </a:r>
            <a:r>
              <a:rPr kumimoji="1" lang="en-US" altLang="zh-CN" dirty="0"/>
              <a:t>Y1</a:t>
            </a:r>
            <a:r>
              <a:rPr kumimoji="1" lang="zh-CN" altLang="en-US" dirty="0"/>
              <a:t>的均衡利息率时</a:t>
            </a:r>
            <a:r>
              <a:rPr kumimoji="1" lang="en-US" altLang="zh-CN" dirty="0"/>
              <a:t>R1</a:t>
            </a:r>
          </a:p>
          <a:p>
            <a:endParaRPr kumimoji="1" lang="en-US" altLang="zh-CN" dirty="0"/>
          </a:p>
          <a:p>
            <a:r>
              <a:rPr kumimoji="1" lang="zh-CN" altLang="en-US" dirty="0"/>
              <a:t>如果把</a:t>
            </a:r>
            <a:r>
              <a:rPr kumimoji="1" lang="en-US" altLang="zh-CN" dirty="0"/>
              <a:t>Y2</a:t>
            </a:r>
            <a:r>
              <a:rPr kumimoji="1" lang="zh-CN" altLang="en-US" dirty="0"/>
              <a:t>和</a:t>
            </a:r>
            <a:r>
              <a:rPr kumimoji="1" lang="en-US" altLang="zh-CN" dirty="0"/>
              <a:t>R2</a:t>
            </a:r>
            <a:r>
              <a:rPr kumimoji="1" lang="zh-CN" altLang="en-US" dirty="0"/>
              <a:t>的关系在利率</a:t>
            </a:r>
            <a:r>
              <a:rPr kumimoji="1" lang="en-US" altLang="zh-CN" dirty="0"/>
              <a:t>-</a:t>
            </a:r>
            <a:r>
              <a:rPr kumimoji="1" lang="zh-CN" altLang="en-US" dirty="0"/>
              <a:t>收入空间里表达出来，可以看到收入增加到</a:t>
            </a:r>
            <a:r>
              <a:rPr kumimoji="1" lang="en-US" altLang="zh-CN" dirty="0"/>
              <a:t>Y2</a:t>
            </a:r>
            <a:r>
              <a:rPr kumimoji="1" lang="zh-CN" altLang="en-US" dirty="0"/>
              <a:t>时，利息率上移到</a:t>
            </a:r>
            <a:r>
              <a:rPr kumimoji="1" lang="en-US" altLang="zh-CN" dirty="0"/>
              <a:t>R2.</a:t>
            </a:r>
            <a:r>
              <a:rPr kumimoji="1" lang="zh-CN" altLang="en-US" dirty="0"/>
              <a:t>在新的收入水平下均衡的利息率。能得到正斜率的向上倾斜的曲线。</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56</a:t>
            </a:fld>
            <a:endParaRPr kumimoji="1" lang="zh-CN" altLang="en-US"/>
          </a:p>
        </p:txBody>
      </p:sp>
    </p:spTree>
    <p:extLst>
      <p:ext uri="{BB962C8B-B14F-4D97-AF65-F5344CB8AC3E}">
        <p14:creationId xmlns:p14="http://schemas.microsoft.com/office/powerpoint/2010/main" val="1818316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a:t>
            </a:r>
            <a:r>
              <a:rPr kumimoji="1" lang="zh-CN" altLang="en-US" dirty="0"/>
              <a:t>点 货币需求更大的点</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59</a:t>
            </a:fld>
            <a:endParaRPr kumimoji="1" lang="zh-CN" altLang="en-US"/>
          </a:p>
        </p:txBody>
      </p:sp>
    </p:spTree>
    <p:extLst>
      <p:ext uri="{BB962C8B-B14F-4D97-AF65-F5344CB8AC3E}">
        <p14:creationId xmlns:p14="http://schemas.microsoft.com/office/powerpoint/2010/main" val="1396606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5"/>
            <a:ext cx="4610100" cy="21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6"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1"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0865776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en-US" dirty="0"/>
              <a:t>均衡国民收入的决定</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23108578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24272280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8080346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7261336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900995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053912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870789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0718150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20688292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5164013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4" y="566377"/>
            <a:ext cx="3457575" cy="1204854"/>
          </a:xfrm>
        </p:spPr>
        <p:txBody>
          <a:bodyPr anchor="b"/>
          <a:lstStyle>
            <a:lvl1pPr algn="ctr">
              <a:defRPr sz="3023"/>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4" y="1817696"/>
            <a:ext cx="3457575" cy="835547"/>
          </a:xfrm>
        </p:spPr>
        <p:txBody>
          <a:bodyPr/>
          <a:lstStyle>
            <a:lvl1pPr marL="0" indent="0" algn="ctr">
              <a:buNone/>
              <a:defRPr sz="1209"/>
            </a:lvl1pPr>
            <a:lvl2pPr marL="230329" indent="0" algn="ctr">
              <a:buNone/>
              <a:defRPr sz="1007"/>
            </a:lvl2pPr>
            <a:lvl3pPr marL="460659" indent="0" algn="ctr">
              <a:buNone/>
              <a:defRPr sz="907"/>
            </a:lvl3pPr>
            <a:lvl4pPr marL="690989" indent="0" algn="ctr">
              <a:buNone/>
              <a:defRPr sz="806"/>
            </a:lvl4pPr>
            <a:lvl5pPr marL="921319" indent="0" algn="ctr">
              <a:buNone/>
              <a:defRPr sz="806"/>
            </a:lvl5pPr>
            <a:lvl6pPr marL="1151648" indent="0" algn="ctr">
              <a:buNone/>
              <a:defRPr sz="806"/>
            </a:lvl6pPr>
            <a:lvl7pPr marL="1381977" indent="0" algn="ctr">
              <a:buNone/>
              <a:defRPr sz="806"/>
            </a:lvl7pPr>
            <a:lvl8pPr marL="1612308" indent="0" algn="ctr">
              <a:buNone/>
              <a:defRPr sz="806"/>
            </a:lvl8pPr>
            <a:lvl9pPr marL="1842637" indent="0" algn="ctr">
              <a:buNone/>
              <a:defRPr sz="806"/>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42120205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lvl1pPr>
              <a:defRPr b="0">
                <a:latin typeface="Microsoft YaHei" panose="020B0503020204020204" pitchFamily="34" charset="-122"/>
                <a:ea typeface="Microsoft YaHei"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sz="800"/>
            </a:lvl1pPr>
          </a:lstStyle>
          <a:p>
            <a:r>
              <a:rPr lang="zh-CN" altLang="zh-CN"/>
              <a:t>生活费用的衡量</a:t>
            </a:r>
            <a:endParaRPr lang="zh-CN" altLang="zh-CN" dirty="0"/>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093865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4769315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7707752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33464349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285712654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480345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349863450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8500916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1107896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22156304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13AEBC-FA56-78FC-EAEB-10DA04C92989}"/>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AD05D23-97CC-48BC-410F-61A2D120A5FD}"/>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7DF4076F-8EC8-654B-EA7B-B1957B306900}"/>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4D144554-1F7F-5489-ED13-15E41282E73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12019061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65C76-1E8C-DDA6-955B-EBDD5BB43E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52C2C5-0D52-EA0C-48F5-B1188CDA76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990271-A6A1-BE5C-399F-E82D486146D8}"/>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A1604FF3-E6AE-2D85-5941-CB1E06EB1432}"/>
              </a:ext>
            </a:extLst>
          </p:cNvPr>
          <p:cNvSpPr>
            <a:spLocks noGrp="1"/>
          </p:cNvSpPr>
          <p:nvPr>
            <p:ph type="sldNum" sz="quarter" idx="11"/>
          </p:nvPr>
        </p:nvSpPr>
        <p:spPr/>
        <p:txBody>
          <a:bodyPr/>
          <a:lstStyle>
            <a:lvl1pPr>
              <a:defRPr/>
            </a:lvl1pPr>
          </a:lstStyle>
          <a:p>
            <a:fld id="{D5F37188-5717-5045-B75B-A8FAB37A0AF3}" type="slidenum">
              <a:rPr lang="zh-CN" altLang="zh-CN"/>
              <a:pPr/>
              <a:t>‹#›</a:t>
            </a:fld>
            <a:endParaRPr lang="en-US" altLang="zh-CN"/>
          </a:p>
        </p:txBody>
      </p:sp>
    </p:spTree>
    <p:extLst>
      <p:ext uri="{BB962C8B-B14F-4D97-AF65-F5344CB8AC3E}">
        <p14:creationId xmlns:p14="http://schemas.microsoft.com/office/powerpoint/2010/main" val="5029086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E38FF-7D26-DA02-36BC-76010B78D783}"/>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055F014-19A5-11AF-B6C7-ED7829230E64}"/>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5E52E18-009A-F26F-E5DA-EC4E9F1E6C2C}"/>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B318359B-4C79-8FA5-7F9C-E7BC409CD90D}"/>
              </a:ext>
            </a:extLst>
          </p:cNvPr>
          <p:cNvSpPr>
            <a:spLocks noGrp="1"/>
          </p:cNvSpPr>
          <p:nvPr>
            <p:ph type="sldNum" sz="quarter" idx="11"/>
          </p:nvPr>
        </p:nvSpPr>
        <p:spPr/>
        <p:txBody>
          <a:bodyPr/>
          <a:lstStyle>
            <a:lvl1pPr>
              <a:defRPr/>
            </a:lvl1pPr>
          </a:lstStyle>
          <a:p>
            <a:fld id="{BC742A95-D2CA-134D-8BA9-2A45D512CDEE}" type="slidenum">
              <a:rPr lang="zh-CN" altLang="zh-CN"/>
              <a:pPr/>
              <a:t>‹#›</a:t>
            </a:fld>
            <a:endParaRPr lang="en-US" altLang="zh-CN"/>
          </a:p>
        </p:txBody>
      </p:sp>
    </p:spTree>
    <p:extLst>
      <p:ext uri="{BB962C8B-B14F-4D97-AF65-F5344CB8AC3E}">
        <p14:creationId xmlns:p14="http://schemas.microsoft.com/office/powerpoint/2010/main" val="4009066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882E8-CA64-CC74-F543-77FA61953A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DBBCA1-5E50-95C6-24EE-9CE05F3D7462}"/>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7D37ED-41A9-3CE6-AF2D-0D8BAE53B038}"/>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BC0E6C4-2AA4-69C2-890C-06793C5E624D}"/>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B6029BD6-F5FB-6AD5-042D-5A6D44850C4B}"/>
              </a:ext>
            </a:extLst>
          </p:cNvPr>
          <p:cNvSpPr>
            <a:spLocks noGrp="1"/>
          </p:cNvSpPr>
          <p:nvPr>
            <p:ph type="sldNum" sz="quarter" idx="11"/>
          </p:nvPr>
        </p:nvSpPr>
        <p:spPr/>
        <p:txBody>
          <a:bodyPr/>
          <a:lstStyle>
            <a:lvl1pPr>
              <a:defRPr/>
            </a:lvl1pPr>
          </a:lstStyle>
          <a:p>
            <a:fld id="{F22C2D04-8537-F544-BF47-F9C134D75DB7}" type="slidenum">
              <a:rPr lang="zh-CN" altLang="zh-CN"/>
              <a:pPr/>
              <a:t>‹#›</a:t>
            </a:fld>
            <a:endParaRPr lang="en-US" altLang="zh-CN"/>
          </a:p>
        </p:txBody>
      </p:sp>
    </p:spTree>
    <p:extLst>
      <p:ext uri="{BB962C8B-B14F-4D97-AF65-F5344CB8AC3E}">
        <p14:creationId xmlns:p14="http://schemas.microsoft.com/office/powerpoint/2010/main" val="7558061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865EC-42C4-3325-73AD-3A4DDB83D3D9}"/>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5FB373-5687-D3F4-1460-263F3B6E6E7F}"/>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0F3ED-0250-978B-B8FD-2BAE0C78765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39F04-1EB5-F9D6-A37B-DAF1DC91C8FD}"/>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90B1D5-A84D-D9A4-6C5E-03A931DDEE55}"/>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5D18963C-3A8E-1BE8-DC30-12514288BCC7}"/>
              </a:ext>
            </a:extLst>
          </p:cNvPr>
          <p:cNvSpPr>
            <a:spLocks noGrp="1"/>
          </p:cNvSpPr>
          <p:nvPr>
            <p:ph type="ftr" sz="quarter" idx="10"/>
          </p:nvPr>
        </p:nvSpPr>
        <p:spPr/>
        <p:txBody>
          <a:bodyPr/>
          <a:lstStyle>
            <a:lvl1pPr>
              <a:defRPr/>
            </a:lvl1pPr>
          </a:lstStyle>
          <a:p>
            <a:r>
              <a:rPr lang="zh-CN" altLang="zh-CN"/>
              <a:t>储蓄、投资和金融体系</a:t>
            </a:r>
          </a:p>
        </p:txBody>
      </p:sp>
      <p:sp>
        <p:nvSpPr>
          <p:cNvPr id="8" name="灯片编号占位符 7">
            <a:extLst>
              <a:ext uri="{FF2B5EF4-FFF2-40B4-BE49-F238E27FC236}">
                <a16:creationId xmlns:a16="http://schemas.microsoft.com/office/drawing/2014/main" id="{CB475382-1BAE-A6E8-D2E4-174C61770AE3}"/>
              </a:ext>
            </a:extLst>
          </p:cNvPr>
          <p:cNvSpPr>
            <a:spLocks noGrp="1"/>
          </p:cNvSpPr>
          <p:nvPr>
            <p:ph type="sldNum" sz="quarter" idx="11"/>
          </p:nvPr>
        </p:nvSpPr>
        <p:spPr/>
        <p:txBody>
          <a:bodyPr/>
          <a:lstStyle>
            <a:lvl1pPr>
              <a:defRPr/>
            </a:lvl1pPr>
          </a:lstStyle>
          <a:p>
            <a:fld id="{D9933D98-7208-AF49-B27F-E9412298FFDB}" type="slidenum">
              <a:rPr lang="zh-CN" altLang="zh-CN"/>
              <a:pPr/>
              <a:t>‹#›</a:t>
            </a:fld>
            <a:endParaRPr lang="en-US" altLang="zh-CN"/>
          </a:p>
        </p:txBody>
      </p:sp>
    </p:spTree>
    <p:extLst>
      <p:ext uri="{BB962C8B-B14F-4D97-AF65-F5344CB8AC3E}">
        <p14:creationId xmlns:p14="http://schemas.microsoft.com/office/powerpoint/2010/main" val="155146761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6C815-0C85-9544-A368-1E719111616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556DBF23-B046-00A0-A52F-7D34BC94221C}"/>
              </a:ext>
            </a:extLst>
          </p:cNvPr>
          <p:cNvSpPr>
            <a:spLocks noGrp="1"/>
          </p:cNvSpPr>
          <p:nvPr>
            <p:ph type="ftr" sz="quarter" idx="10"/>
          </p:nvPr>
        </p:nvSpPr>
        <p:spPr/>
        <p:txBody>
          <a:bodyPr/>
          <a:lstStyle>
            <a:lvl1pPr>
              <a:defRPr/>
            </a:lvl1pPr>
          </a:lstStyle>
          <a:p>
            <a:r>
              <a:rPr lang="zh-CN" altLang="zh-CN"/>
              <a:t>储蓄、投资和金融体系</a:t>
            </a:r>
          </a:p>
        </p:txBody>
      </p:sp>
      <p:sp>
        <p:nvSpPr>
          <p:cNvPr id="4" name="灯片编号占位符 3">
            <a:extLst>
              <a:ext uri="{FF2B5EF4-FFF2-40B4-BE49-F238E27FC236}">
                <a16:creationId xmlns:a16="http://schemas.microsoft.com/office/drawing/2014/main" id="{1D845473-B82B-769C-B586-234F6D24AE68}"/>
              </a:ext>
            </a:extLst>
          </p:cNvPr>
          <p:cNvSpPr>
            <a:spLocks noGrp="1"/>
          </p:cNvSpPr>
          <p:nvPr>
            <p:ph type="sldNum" sz="quarter" idx="11"/>
          </p:nvPr>
        </p:nvSpPr>
        <p:spPr/>
        <p:txBody>
          <a:bodyPr/>
          <a:lstStyle>
            <a:lvl1pPr>
              <a:defRPr/>
            </a:lvl1pPr>
          </a:lstStyle>
          <a:p>
            <a:fld id="{4CA00277-EA4E-B541-8928-37DC4A2E581D}" type="slidenum">
              <a:rPr lang="zh-CN" altLang="zh-CN"/>
              <a:pPr/>
              <a:t>‹#›</a:t>
            </a:fld>
            <a:endParaRPr lang="en-US" altLang="zh-CN"/>
          </a:p>
        </p:txBody>
      </p:sp>
    </p:spTree>
    <p:extLst>
      <p:ext uri="{BB962C8B-B14F-4D97-AF65-F5344CB8AC3E}">
        <p14:creationId xmlns:p14="http://schemas.microsoft.com/office/powerpoint/2010/main" val="269744783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5551265-6EEE-B36C-4D9A-340B667E1F32}"/>
              </a:ext>
            </a:extLst>
          </p:cNvPr>
          <p:cNvSpPr>
            <a:spLocks noGrp="1"/>
          </p:cNvSpPr>
          <p:nvPr>
            <p:ph type="ftr" sz="quarter" idx="10"/>
          </p:nvPr>
        </p:nvSpPr>
        <p:spPr/>
        <p:txBody>
          <a:bodyPr/>
          <a:lstStyle>
            <a:lvl1pPr>
              <a:defRPr/>
            </a:lvl1pPr>
          </a:lstStyle>
          <a:p>
            <a:r>
              <a:rPr lang="zh-CN" altLang="zh-CN"/>
              <a:t>储蓄、投资和金融体系</a:t>
            </a:r>
          </a:p>
        </p:txBody>
      </p:sp>
      <p:sp>
        <p:nvSpPr>
          <p:cNvPr id="3" name="灯片编号占位符 2">
            <a:extLst>
              <a:ext uri="{FF2B5EF4-FFF2-40B4-BE49-F238E27FC236}">
                <a16:creationId xmlns:a16="http://schemas.microsoft.com/office/drawing/2014/main" id="{BAD24D52-766A-C091-1491-EDC04DBE82AD}"/>
              </a:ext>
            </a:extLst>
          </p:cNvPr>
          <p:cNvSpPr>
            <a:spLocks noGrp="1"/>
          </p:cNvSpPr>
          <p:nvPr>
            <p:ph type="sldNum" sz="quarter" idx="11"/>
          </p:nvPr>
        </p:nvSpPr>
        <p:spPr/>
        <p:txBody>
          <a:bodyPr/>
          <a:lstStyle>
            <a:lvl1pPr>
              <a:defRPr/>
            </a:lvl1pPr>
          </a:lstStyle>
          <a:p>
            <a:fld id="{714CAD9D-8C32-FC49-BC3F-7C78B6FF6B46}" type="slidenum">
              <a:rPr lang="zh-CN" altLang="zh-CN"/>
              <a:pPr/>
              <a:t>‹#›</a:t>
            </a:fld>
            <a:endParaRPr lang="en-US" altLang="zh-CN"/>
          </a:p>
        </p:txBody>
      </p:sp>
    </p:spTree>
    <p:extLst>
      <p:ext uri="{BB962C8B-B14F-4D97-AF65-F5344CB8AC3E}">
        <p14:creationId xmlns:p14="http://schemas.microsoft.com/office/powerpoint/2010/main" val="31445674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AA1BE-E03B-C0DD-3459-8877A936FA3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C4BBF1E-DD76-D9EB-AAF0-1753F267FFF8}"/>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CA0124-46D8-3225-FCC8-A066CE19B0F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8682A032-E73B-89F2-808C-B6BF1F62A8A9}"/>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16D41276-A2FD-8D79-A438-26534024B829}"/>
              </a:ext>
            </a:extLst>
          </p:cNvPr>
          <p:cNvSpPr>
            <a:spLocks noGrp="1"/>
          </p:cNvSpPr>
          <p:nvPr>
            <p:ph type="sldNum" sz="quarter" idx="11"/>
          </p:nvPr>
        </p:nvSpPr>
        <p:spPr/>
        <p:txBody>
          <a:bodyPr/>
          <a:lstStyle>
            <a:lvl1pPr>
              <a:defRPr/>
            </a:lvl1pPr>
          </a:lstStyle>
          <a:p>
            <a:fld id="{A1D3D78F-6B90-6F47-99F9-753905A1F931}" type="slidenum">
              <a:rPr lang="zh-CN" altLang="zh-CN"/>
              <a:pPr/>
              <a:t>‹#›</a:t>
            </a:fld>
            <a:endParaRPr lang="en-US" altLang="zh-CN"/>
          </a:p>
        </p:txBody>
      </p:sp>
    </p:spTree>
    <p:extLst>
      <p:ext uri="{BB962C8B-B14F-4D97-AF65-F5344CB8AC3E}">
        <p14:creationId xmlns:p14="http://schemas.microsoft.com/office/powerpoint/2010/main" val="28662478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CDEC-CB2E-6AA3-3594-732949BA521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A5423ED-5B55-097A-C9B0-90F5E48035F6}"/>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FA6B09B1-B6DE-00F1-0CAB-97F86987F75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273A380-1AFB-0A19-E943-86D1DB6145DF}"/>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32E32E30-B1E1-A2DD-E1DC-8A779DB2C87D}"/>
              </a:ext>
            </a:extLst>
          </p:cNvPr>
          <p:cNvSpPr>
            <a:spLocks noGrp="1"/>
          </p:cNvSpPr>
          <p:nvPr>
            <p:ph type="sldNum" sz="quarter" idx="11"/>
          </p:nvPr>
        </p:nvSpPr>
        <p:spPr/>
        <p:txBody>
          <a:bodyPr/>
          <a:lstStyle>
            <a:lvl1pPr>
              <a:defRPr/>
            </a:lvl1pPr>
          </a:lstStyle>
          <a:p>
            <a:fld id="{EC7EC5F2-24F3-BF4B-9D15-216FEF53CCAE}" type="slidenum">
              <a:rPr lang="zh-CN" altLang="zh-CN"/>
              <a:pPr/>
              <a:t>‹#›</a:t>
            </a:fld>
            <a:endParaRPr lang="en-US" altLang="zh-CN"/>
          </a:p>
        </p:txBody>
      </p:sp>
    </p:spTree>
    <p:extLst>
      <p:ext uri="{BB962C8B-B14F-4D97-AF65-F5344CB8AC3E}">
        <p14:creationId xmlns:p14="http://schemas.microsoft.com/office/powerpoint/2010/main" val="28818828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E332B-D91B-9E4E-F5A2-35532BB796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D367C6-4DFB-1E9F-1435-8B5633B3B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A91252-9271-EC3D-BFD2-24D0CB2E77F2}"/>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3CB13E21-16D5-C5D6-5A22-0FF96FD58202}"/>
              </a:ext>
            </a:extLst>
          </p:cNvPr>
          <p:cNvSpPr>
            <a:spLocks noGrp="1"/>
          </p:cNvSpPr>
          <p:nvPr>
            <p:ph type="sldNum" sz="quarter" idx="11"/>
          </p:nvPr>
        </p:nvSpPr>
        <p:spPr/>
        <p:txBody>
          <a:bodyPr/>
          <a:lstStyle>
            <a:lvl1pPr>
              <a:defRPr/>
            </a:lvl1pPr>
          </a:lstStyle>
          <a:p>
            <a:fld id="{2EE71058-4E43-0542-987D-BF6AFCFF7EBD}" type="slidenum">
              <a:rPr lang="zh-CN" altLang="zh-CN"/>
              <a:pPr/>
              <a:t>‹#›</a:t>
            </a:fld>
            <a:endParaRPr lang="en-US" altLang="zh-CN"/>
          </a:p>
        </p:txBody>
      </p:sp>
    </p:spTree>
    <p:extLst>
      <p:ext uri="{BB962C8B-B14F-4D97-AF65-F5344CB8AC3E}">
        <p14:creationId xmlns:p14="http://schemas.microsoft.com/office/powerpoint/2010/main" val="2376119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C5A2A0-E392-4435-ECF8-8DDEAB03E7B8}"/>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7D4A8F-3CC8-F529-4BB4-45BCB97FC34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9E9550F-27AC-9823-A68E-1175E6C2E8DE}"/>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EBD5ABBF-6449-9A99-F8C5-4CBA4CC85CF9}"/>
              </a:ext>
            </a:extLst>
          </p:cNvPr>
          <p:cNvSpPr>
            <a:spLocks noGrp="1"/>
          </p:cNvSpPr>
          <p:nvPr>
            <p:ph type="sldNum" sz="quarter" idx="11"/>
          </p:nvPr>
        </p:nvSpPr>
        <p:spPr/>
        <p:txBody>
          <a:bodyPr/>
          <a:lstStyle>
            <a:lvl1pPr>
              <a:defRPr/>
            </a:lvl1pPr>
          </a:lstStyle>
          <a:p>
            <a:fld id="{E5CEB968-BD04-C74A-9891-6C4CFF90FA37}" type="slidenum">
              <a:rPr lang="zh-CN" altLang="zh-CN"/>
              <a:pPr/>
              <a:t>‹#›</a:t>
            </a:fld>
            <a:endParaRPr lang="en-US" altLang="zh-CN"/>
          </a:p>
        </p:txBody>
      </p:sp>
    </p:spTree>
    <p:extLst>
      <p:ext uri="{BB962C8B-B14F-4D97-AF65-F5344CB8AC3E}">
        <p14:creationId xmlns:p14="http://schemas.microsoft.com/office/powerpoint/2010/main" val="6983363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FDEB9A-FE7D-1051-4208-856E7C05841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7188E2E1-FDA0-B5D9-84B7-A433F1384902}"/>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C756DFC6-196F-9AC3-0581-9BE8CBF55306}"/>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594D3A80-BD5A-1600-3481-C5603DECFE1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7988485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5C05-FBDF-341A-CCD0-AC5507CDA4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C4EF02-FEFF-2C14-F67D-C9236443BA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5AFC8F56-B222-2532-68E8-91AB4F1C284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53751CAD-20D1-C233-AFA2-0F59BC02DD3A}"/>
              </a:ext>
            </a:extLst>
          </p:cNvPr>
          <p:cNvSpPr>
            <a:spLocks noGrp="1"/>
          </p:cNvSpPr>
          <p:nvPr>
            <p:ph type="sldNum" sz="quarter" idx="11"/>
          </p:nvPr>
        </p:nvSpPr>
        <p:spPr/>
        <p:txBody>
          <a:bodyPr/>
          <a:lstStyle>
            <a:lvl1pPr>
              <a:defRPr/>
            </a:lvl1pPr>
          </a:lstStyle>
          <a:p>
            <a:fld id="{966E1FEE-F2FC-AB4C-B09C-16DD421BF41F}" type="slidenum">
              <a:rPr lang="zh-CN" altLang="zh-CN"/>
              <a:pPr/>
              <a:t>‹#›</a:t>
            </a:fld>
            <a:endParaRPr lang="en-US" altLang="zh-CN"/>
          </a:p>
        </p:txBody>
      </p:sp>
    </p:spTree>
    <p:extLst>
      <p:ext uri="{BB962C8B-B14F-4D97-AF65-F5344CB8AC3E}">
        <p14:creationId xmlns:p14="http://schemas.microsoft.com/office/powerpoint/2010/main" val="36765066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1D654-759B-9A87-1F1C-07FED230FBC1}"/>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D1B27ED2-E212-5434-DC6D-A5855A7A29CD}"/>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7A1E3DD6-909C-B538-ED8D-C0EC7BD25E4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9C943B11-B8B5-2419-BBB2-FD1915E704EE}"/>
              </a:ext>
            </a:extLst>
          </p:cNvPr>
          <p:cNvSpPr>
            <a:spLocks noGrp="1"/>
          </p:cNvSpPr>
          <p:nvPr>
            <p:ph type="sldNum" sz="quarter" idx="11"/>
          </p:nvPr>
        </p:nvSpPr>
        <p:spPr/>
        <p:txBody>
          <a:bodyPr/>
          <a:lstStyle>
            <a:lvl1pPr>
              <a:defRPr/>
            </a:lvl1pPr>
          </a:lstStyle>
          <a:p>
            <a:fld id="{EADFD29E-7D2B-3142-B772-DE78C399DBA5}" type="slidenum">
              <a:rPr lang="zh-CN" altLang="zh-CN"/>
              <a:pPr/>
              <a:t>‹#›</a:t>
            </a:fld>
            <a:endParaRPr lang="en-US" altLang="zh-CN"/>
          </a:p>
        </p:txBody>
      </p:sp>
    </p:spTree>
    <p:extLst>
      <p:ext uri="{BB962C8B-B14F-4D97-AF65-F5344CB8AC3E}">
        <p14:creationId xmlns:p14="http://schemas.microsoft.com/office/powerpoint/2010/main" val="12353855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537FB-E14A-0949-36FC-23E1C08BCB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9E38D4-BDAF-20A0-4377-EB8D8AD519B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0A62B9-907E-2A6A-7170-291131D51F3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B95B044-2CCD-7C34-AFE0-EA0664AD298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373743AC-B0C6-4BC9-8A24-B4860D349BD8}"/>
              </a:ext>
            </a:extLst>
          </p:cNvPr>
          <p:cNvSpPr>
            <a:spLocks noGrp="1"/>
          </p:cNvSpPr>
          <p:nvPr>
            <p:ph type="sldNum" sz="quarter" idx="11"/>
          </p:nvPr>
        </p:nvSpPr>
        <p:spPr/>
        <p:txBody>
          <a:bodyPr/>
          <a:lstStyle>
            <a:lvl1pPr>
              <a:defRPr/>
            </a:lvl1pPr>
          </a:lstStyle>
          <a:p>
            <a:fld id="{0C6A780A-0547-204E-9192-A3F4E9799DB5}" type="slidenum">
              <a:rPr lang="zh-CN" altLang="zh-CN"/>
              <a:pPr/>
              <a:t>‹#›</a:t>
            </a:fld>
            <a:endParaRPr lang="en-US" altLang="zh-CN"/>
          </a:p>
        </p:txBody>
      </p:sp>
    </p:spTree>
    <p:extLst>
      <p:ext uri="{BB962C8B-B14F-4D97-AF65-F5344CB8AC3E}">
        <p14:creationId xmlns:p14="http://schemas.microsoft.com/office/powerpoint/2010/main" val="211476028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927D-F4AA-1E72-EC35-297C7568824E}"/>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F7918D-A189-014C-F77D-95C839DE6E05}"/>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65AE4A-6E2C-F2BA-8924-0A1E12E7387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49748A9-BB39-B407-1D39-9C472037297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5ADF9-0504-F073-4906-F97098CA2819}"/>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C1ADD6E2-3DD6-A34E-7784-83AE6D95E28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8" name="灯片编号占位符 7">
            <a:extLst>
              <a:ext uri="{FF2B5EF4-FFF2-40B4-BE49-F238E27FC236}">
                <a16:creationId xmlns:a16="http://schemas.microsoft.com/office/drawing/2014/main" id="{E9D17F4C-066C-8A52-0D93-4E5CE5735FF8}"/>
              </a:ext>
            </a:extLst>
          </p:cNvPr>
          <p:cNvSpPr>
            <a:spLocks noGrp="1"/>
          </p:cNvSpPr>
          <p:nvPr>
            <p:ph type="sldNum" sz="quarter" idx="11"/>
          </p:nvPr>
        </p:nvSpPr>
        <p:spPr/>
        <p:txBody>
          <a:bodyPr/>
          <a:lstStyle>
            <a:lvl1pPr>
              <a:defRPr/>
            </a:lvl1pPr>
          </a:lstStyle>
          <a:p>
            <a:fld id="{91298798-A395-3245-907B-C6CC2A9E6D66}" type="slidenum">
              <a:rPr lang="zh-CN" altLang="zh-CN"/>
              <a:pPr/>
              <a:t>‹#›</a:t>
            </a:fld>
            <a:endParaRPr lang="en-US" altLang="zh-CN"/>
          </a:p>
        </p:txBody>
      </p:sp>
    </p:spTree>
    <p:extLst>
      <p:ext uri="{BB962C8B-B14F-4D97-AF65-F5344CB8AC3E}">
        <p14:creationId xmlns:p14="http://schemas.microsoft.com/office/powerpoint/2010/main" val="3055898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DD968-EBA9-80A5-1E89-579258BAF330}"/>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646323EE-162D-4F99-70DB-74CE33E90A0C}"/>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4" name="灯片编号占位符 3">
            <a:extLst>
              <a:ext uri="{FF2B5EF4-FFF2-40B4-BE49-F238E27FC236}">
                <a16:creationId xmlns:a16="http://schemas.microsoft.com/office/drawing/2014/main" id="{A2F88707-8A8D-235A-4670-E439CCE6B07B}"/>
              </a:ext>
            </a:extLst>
          </p:cNvPr>
          <p:cNvSpPr>
            <a:spLocks noGrp="1"/>
          </p:cNvSpPr>
          <p:nvPr>
            <p:ph type="sldNum" sz="quarter" idx="11"/>
          </p:nvPr>
        </p:nvSpPr>
        <p:spPr/>
        <p:txBody>
          <a:bodyPr/>
          <a:lstStyle>
            <a:lvl1pPr>
              <a:defRPr/>
            </a:lvl1pPr>
          </a:lstStyle>
          <a:p>
            <a:fld id="{5E06BA63-CDF4-A748-9244-36BF4EB5A578}" type="slidenum">
              <a:rPr lang="zh-CN" altLang="zh-CN"/>
              <a:pPr/>
              <a:t>‹#›</a:t>
            </a:fld>
            <a:endParaRPr lang="en-US" altLang="zh-CN"/>
          </a:p>
        </p:txBody>
      </p:sp>
    </p:spTree>
    <p:extLst>
      <p:ext uri="{BB962C8B-B14F-4D97-AF65-F5344CB8AC3E}">
        <p14:creationId xmlns:p14="http://schemas.microsoft.com/office/powerpoint/2010/main" val="15974450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389E356-5E4B-648A-96DF-F32F811C59B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3" name="灯片编号占位符 2">
            <a:extLst>
              <a:ext uri="{FF2B5EF4-FFF2-40B4-BE49-F238E27FC236}">
                <a16:creationId xmlns:a16="http://schemas.microsoft.com/office/drawing/2014/main" id="{58547BEA-F453-14DF-A7C6-4F6FF1630103}"/>
              </a:ext>
            </a:extLst>
          </p:cNvPr>
          <p:cNvSpPr>
            <a:spLocks noGrp="1"/>
          </p:cNvSpPr>
          <p:nvPr>
            <p:ph type="sldNum" sz="quarter" idx="11"/>
          </p:nvPr>
        </p:nvSpPr>
        <p:spPr/>
        <p:txBody>
          <a:bodyPr/>
          <a:lstStyle>
            <a:lvl1pPr>
              <a:defRPr/>
            </a:lvl1pPr>
          </a:lstStyle>
          <a:p>
            <a:fld id="{10BCB720-C51A-E240-913F-68A27FD87D60}" type="slidenum">
              <a:rPr lang="zh-CN" altLang="zh-CN"/>
              <a:pPr/>
              <a:t>‹#›</a:t>
            </a:fld>
            <a:endParaRPr lang="en-US" altLang="zh-CN"/>
          </a:p>
        </p:txBody>
      </p:sp>
    </p:spTree>
    <p:extLst>
      <p:ext uri="{BB962C8B-B14F-4D97-AF65-F5344CB8AC3E}">
        <p14:creationId xmlns:p14="http://schemas.microsoft.com/office/powerpoint/2010/main" val="29085745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1025-A295-F9BC-1225-13E1997AD7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944E6DE-5629-F8F1-381B-20B358B64DD1}"/>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6B7FAB-1DE0-1EF5-BBB9-945C1F3BF00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B1C3A1C-458F-6108-5FF2-8B3B931416A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F8907A46-6115-6C82-2C27-A19DAFF6BC9C}"/>
              </a:ext>
            </a:extLst>
          </p:cNvPr>
          <p:cNvSpPr>
            <a:spLocks noGrp="1"/>
          </p:cNvSpPr>
          <p:nvPr>
            <p:ph type="sldNum" sz="quarter" idx="11"/>
          </p:nvPr>
        </p:nvSpPr>
        <p:spPr/>
        <p:txBody>
          <a:bodyPr/>
          <a:lstStyle>
            <a:lvl1pPr>
              <a:defRPr/>
            </a:lvl1pPr>
          </a:lstStyle>
          <a:p>
            <a:fld id="{5142667C-68EE-4642-A4F3-496A64FF833A}" type="slidenum">
              <a:rPr lang="zh-CN" altLang="zh-CN"/>
              <a:pPr/>
              <a:t>‹#›</a:t>
            </a:fld>
            <a:endParaRPr lang="en-US" altLang="zh-CN"/>
          </a:p>
        </p:txBody>
      </p:sp>
    </p:spTree>
    <p:extLst>
      <p:ext uri="{BB962C8B-B14F-4D97-AF65-F5344CB8AC3E}">
        <p14:creationId xmlns:p14="http://schemas.microsoft.com/office/powerpoint/2010/main" val="12904725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4BAE9-5EFD-1E81-1E44-83B35CDEFAA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38EC81B0-0FC4-59A9-DF21-0D58AEA38EF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6F019806-BC98-3F05-A4B8-B6FF6BEA3073}"/>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D2A0BDA8-6C02-9BC3-900D-F97F578C24BF}"/>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EFC80D30-BA6D-6894-C7B5-EAB97CEF27F6}"/>
              </a:ext>
            </a:extLst>
          </p:cNvPr>
          <p:cNvSpPr>
            <a:spLocks noGrp="1"/>
          </p:cNvSpPr>
          <p:nvPr>
            <p:ph type="sldNum" sz="quarter" idx="11"/>
          </p:nvPr>
        </p:nvSpPr>
        <p:spPr/>
        <p:txBody>
          <a:bodyPr/>
          <a:lstStyle>
            <a:lvl1pPr>
              <a:defRPr/>
            </a:lvl1pPr>
          </a:lstStyle>
          <a:p>
            <a:fld id="{2AFC7DB8-8F70-4249-BF47-064636DE409F}" type="slidenum">
              <a:rPr lang="zh-CN" altLang="zh-CN"/>
              <a:pPr/>
              <a:t>‹#›</a:t>
            </a:fld>
            <a:endParaRPr lang="en-US" altLang="zh-CN"/>
          </a:p>
        </p:txBody>
      </p:sp>
    </p:spTree>
    <p:extLst>
      <p:ext uri="{BB962C8B-B14F-4D97-AF65-F5344CB8AC3E}">
        <p14:creationId xmlns:p14="http://schemas.microsoft.com/office/powerpoint/2010/main" val="155167612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070EA-5479-8C9D-2BC7-3EBB751F4B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C602B8F-4993-250E-7AED-51D0E7DDCC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990B6F2E-F7A0-8F8A-F8E0-7B027508FA9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C0F67A8-3313-C1E5-92A0-2612E579B099}"/>
              </a:ext>
            </a:extLst>
          </p:cNvPr>
          <p:cNvSpPr>
            <a:spLocks noGrp="1"/>
          </p:cNvSpPr>
          <p:nvPr>
            <p:ph type="sldNum" sz="quarter" idx="11"/>
          </p:nvPr>
        </p:nvSpPr>
        <p:spPr/>
        <p:txBody>
          <a:bodyPr/>
          <a:lstStyle>
            <a:lvl1pPr>
              <a:defRPr/>
            </a:lvl1pPr>
          </a:lstStyle>
          <a:p>
            <a:fld id="{BB77E4A8-8AD9-0342-BA1C-342D06E0EBCE}" type="slidenum">
              <a:rPr lang="zh-CN" altLang="zh-CN"/>
              <a:pPr/>
              <a:t>‹#›</a:t>
            </a:fld>
            <a:endParaRPr lang="en-US" altLang="zh-CN"/>
          </a:p>
        </p:txBody>
      </p:sp>
    </p:spTree>
    <p:extLst>
      <p:ext uri="{BB962C8B-B14F-4D97-AF65-F5344CB8AC3E}">
        <p14:creationId xmlns:p14="http://schemas.microsoft.com/office/powerpoint/2010/main" val="321619176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C1DC8E-9255-868F-13FC-FD34667A0A9D}"/>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77E83C-9BFB-4551-8EE1-50C0450E10B3}"/>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E6A07A5B-F244-4EEC-E6E6-BAE3BC533733}"/>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7A1DB9A-41ED-1FFA-FDAA-05284D3E179F}"/>
              </a:ext>
            </a:extLst>
          </p:cNvPr>
          <p:cNvSpPr>
            <a:spLocks noGrp="1"/>
          </p:cNvSpPr>
          <p:nvPr>
            <p:ph type="sldNum" sz="quarter" idx="11"/>
          </p:nvPr>
        </p:nvSpPr>
        <p:spPr/>
        <p:txBody>
          <a:bodyPr/>
          <a:lstStyle>
            <a:lvl1pPr>
              <a:defRPr/>
            </a:lvl1pPr>
          </a:lstStyle>
          <a:p>
            <a:fld id="{133DC0D6-50E5-4741-A0A7-D9800ECF4329}" type="slidenum">
              <a:rPr lang="zh-CN" altLang="zh-CN"/>
              <a:pPr/>
              <a:t>‹#›</a:t>
            </a:fld>
            <a:endParaRPr lang="en-US" altLang="zh-CN"/>
          </a:p>
        </p:txBody>
      </p:sp>
    </p:spTree>
    <p:extLst>
      <p:ext uri="{BB962C8B-B14F-4D97-AF65-F5344CB8AC3E}">
        <p14:creationId xmlns:p14="http://schemas.microsoft.com/office/powerpoint/2010/main" val="73051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900" i="1">
                <a:solidFill>
                  <a:srgbClr val="777777"/>
                </a:solidFill>
                <a:ea typeface="宋体" panose="02010600030101010101" pitchFamily="2" charset="-122"/>
              </a:defRPr>
            </a:lvl1pPr>
          </a:lstStyle>
          <a:p>
            <a:r>
              <a:rPr lang="en-US" altLang="zh-CN" dirty="0"/>
              <a:t>IS-LM</a:t>
            </a:r>
            <a:r>
              <a:rPr lang="zh-CN" altLang="en-US" dirty="0"/>
              <a:t>模型</a:t>
            </a:r>
            <a:endParaRPr lang="zh-CN" altLang="zh-CN" dirty="0"/>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7"/>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7"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7"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8"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166146543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4" b="1" kern="1200">
          <a:solidFill>
            <a:srgbClr val="333399"/>
          </a:solidFill>
          <a:latin typeface="+mj-lt"/>
          <a:ea typeface="+mj-ea"/>
          <a:cs typeface="+mj-cs"/>
        </a:defRPr>
      </a:lvl1pPr>
      <a:lvl2pPr algn="ctr" rtl="0" fontAlgn="base">
        <a:spcBef>
          <a:spcPct val="0"/>
        </a:spcBef>
        <a:spcAft>
          <a:spcPct val="0"/>
        </a:spcAft>
        <a:defRPr sz="1914" b="1">
          <a:solidFill>
            <a:srgbClr val="333399"/>
          </a:solidFill>
          <a:latin typeface="Book Antiqua" panose="02040602050305030304" pitchFamily="18" charset="0"/>
        </a:defRPr>
      </a:lvl2pPr>
      <a:lvl3pPr algn="ctr" rtl="0" fontAlgn="base">
        <a:spcBef>
          <a:spcPct val="0"/>
        </a:spcBef>
        <a:spcAft>
          <a:spcPct val="0"/>
        </a:spcAft>
        <a:defRPr sz="1914" b="1">
          <a:solidFill>
            <a:srgbClr val="333399"/>
          </a:solidFill>
          <a:latin typeface="Book Antiqua" panose="02040602050305030304" pitchFamily="18" charset="0"/>
        </a:defRPr>
      </a:lvl3pPr>
      <a:lvl4pPr algn="ctr" rtl="0" fontAlgn="base">
        <a:spcBef>
          <a:spcPct val="0"/>
        </a:spcBef>
        <a:spcAft>
          <a:spcPct val="0"/>
        </a:spcAft>
        <a:defRPr sz="1914" b="1">
          <a:solidFill>
            <a:srgbClr val="333399"/>
          </a:solidFill>
          <a:latin typeface="Book Antiqua" panose="02040602050305030304" pitchFamily="18" charset="0"/>
        </a:defRPr>
      </a:lvl4pPr>
      <a:lvl5pPr algn="ctr" rtl="0" fontAlgn="base">
        <a:spcBef>
          <a:spcPct val="0"/>
        </a:spcBef>
        <a:spcAft>
          <a:spcPct val="0"/>
        </a:spcAft>
        <a:defRPr sz="1914" b="1">
          <a:solidFill>
            <a:srgbClr val="333399"/>
          </a:solidFill>
          <a:latin typeface="Book Antiqua" panose="02040602050305030304" pitchFamily="18" charset="0"/>
        </a:defRPr>
      </a:lvl5pPr>
      <a:lvl6pPr marL="230329" algn="ctr" rtl="0" fontAlgn="base">
        <a:spcBef>
          <a:spcPct val="0"/>
        </a:spcBef>
        <a:spcAft>
          <a:spcPct val="0"/>
        </a:spcAft>
        <a:defRPr sz="1914" b="1">
          <a:solidFill>
            <a:srgbClr val="333399"/>
          </a:solidFill>
          <a:latin typeface="Book Antiqua" panose="02040602050305030304" pitchFamily="18" charset="0"/>
        </a:defRPr>
      </a:lvl6pPr>
      <a:lvl7pPr marL="460659" algn="ctr" rtl="0" fontAlgn="base">
        <a:spcBef>
          <a:spcPct val="0"/>
        </a:spcBef>
        <a:spcAft>
          <a:spcPct val="0"/>
        </a:spcAft>
        <a:defRPr sz="1914" b="1">
          <a:solidFill>
            <a:srgbClr val="333399"/>
          </a:solidFill>
          <a:latin typeface="Book Antiqua" panose="02040602050305030304" pitchFamily="18" charset="0"/>
        </a:defRPr>
      </a:lvl7pPr>
      <a:lvl8pPr marL="690989" algn="ctr" rtl="0" fontAlgn="base">
        <a:spcBef>
          <a:spcPct val="0"/>
        </a:spcBef>
        <a:spcAft>
          <a:spcPct val="0"/>
        </a:spcAft>
        <a:defRPr sz="1914" b="1">
          <a:solidFill>
            <a:srgbClr val="333399"/>
          </a:solidFill>
          <a:latin typeface="Book Antiqua" panose="02040602050305030304" pitchFamily="18" charset="0"/>
        </a:defRPr>
      </a:lvl8pPr>
      <a:lvl9pPr marL="921319" algn="ctr" rtl="0" fontAlgn="base">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fontAlgn="base">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fontAlgn="base">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fontAlgn="base">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fontAlgn="base">
        <a:spcBef>
          <a:spcPct val="15000"/>
        </a:spcBef>
        <a:spcAft>
          <a:spcPct val="0"/>
        </a:spcAft>
        <a:buChar char="–"/>
        <a:defRPr sz="1007" kern="1200">
          <a:solidFill>
            <a:schemeClr val="tx1"/>
          </a:solidFill>
          <a:latin typeface="+mn-lt"/>
          <a:ea typeface="+mn-ea"/>
          <a:cs typeface="+mn-cs"/>
        </a:defRPr>
      </a:lvl4pPr>
      <a:lvl5pPr marL="1036483" indent="-115165" algn="l" rtl="0" fontAlgn="base">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7"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7"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8"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121166201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4" b="1" kern="1200">
          <a:solidFill>
            <a:srgbClr val="333399"/>
          </a:solidFill>
          <a:latin typeface="+mj-lt"/>
          <a:ea typeface="+mj-ea"/>
          <a:cs typeface="+mj-cs"/>
        </a:defRPr>
      </a:lvl1pPr>
      <a:lvl2pPr algn="ctr" rtl="0" eaLnBrk="0" fontAlgn="base" hangingPunct="0">
        <a:spcBef>
          <a:spcPct val="0"/>
        </a:spcBef>
        <a:spcAft>
          <a:spcPct val="0"/>
        </a:spcAft>
        <a:defRPr sz="1914" b="1">
          <a:solidFill>
            <a:srgbClr val="333399"/>
          </a:solidFill>
          <a:latin typeface="Book Antiqua" panose="02040602050305030304" pitchFamily="18" charset="0"/>
        </a:defRPr>
      </a:lvl2pPr>
      <a:lvl3pPr algn="ctr" rtl="0" eaLnBrk="0" fontAlgn="base" hangingPunct="0">
        <a:spcBef>
          <a:spcPct val="0"/>
        </a:spcBef>
        <a:spcAft>
          <a:spcPct val="0"/>
        </a:spcAft>
        <a:defRPr sz="1914" b="1">
          <a:solidFill>
            <a:srgbClr val="333399"/>
          </a:solidFill>
          <a:latin typeface="Book Antiqua" panose="02040602050305030304" pitchFamily="18" charset="0"/>
        </a:defRPr>
      </a:lvl3pPr>
      <a:lvl4pPr algn="ctr" rtl="0" eaLnBrk="0" fontAlgn="base" hangingPunct="0">
        <a:spcBef>
          <a:spcPct val="0"/>
        </a:spcBef>
        <a:spcAft>
          <a:spcPct val="0"/>
        </a:spcAft>
        <a:defRPr sz="1914" b="1">
          <a:solidFill>
            <a:srgbClr val="333399"/>
          </a:solidFill>
          <a:latin typeface="Book Antiqua" panose="02040602050305030304" pitchFamily="18" charset="0"/>
        </a:defRPr>
      </a:lvl4pPr>
      <a:lvl5pPr algn="ctr" rtl="0" eaLnBrk="0" fontAlgn="base" hangingPunct="0">
        <a:spcBef>
          <a:spcPct val="0"/>
        </a:spcBef>
        <a:spcAft>
          <a:spcPct val="0"/>
        </a:spcAft>
        <a:defRPr sz="1914" b="1">
          <a:solidFill>
            <a:srgbClr val="333399"/>
          </a:solidFill>
          <a:latin typeface="Book Antiqua" panose="02040602050305030304" pitchFamily="18" charset="0"/>
        </a:defRPr>
      </a:lvl5pPr>
      <a:lvl6pPr marL="230329" algn="ctr" rtl="0" eaLnBrk="0" fontAlgn="base" hangingPunct="0">
        <a:spcBef>
          <a:spcPct val="0"/>
        </a:spcBef>
        <a:spcAft>
          <a:spcPct val="0"/>
        </a:spcAft>
        <a:defRPr sz="1914" b="1">
          <a:solidFill>
            <a:srgbClr val="333399"/>
          </a:solidFill>
          <a:latin typeface="Book Antiqua" panose="02040602050305030304" pitchFamily="18" charset="0"/>
        </a:defRPr>
      </a:lvl6pPr>
      <a:lvl7pPr marL="460659" algn="ctr" rtl="0" eaLnBrk="0" fontAlgn="base" hangingPunct="0">
        <a:spcBef>
          <a:spcPct val="0"/>
        </a:spcBef>
        <a:spcAft>
          <a:spcPct val="0"/>
        </a:spcAft>
        <a:defRPr sz="1914" b="1">
          <a:solidFill>
            <a:srgbClr val="333399"/>
          </a:solidFill>
          <a:latin typeface="Book Antiqua" panose="02040602050305030304" pitchFamily="18" charset="0"/>
        </a:defRPr>
      </a:lvl7pPr>
      <a:lvl8pPr marL="690989" algn="ctr" rtl="0" eaLnBrk="0" fontAlgn="base" hangingPunct="0">
        <a:spcBef>
          <a:spcPct val="0"/>
        </a:spcBef>
        <a:spcAft>
          <a:spcPct val="0"/>
        </a:spcAft>
        <a:defRPr sz="1914" b="1">
          <a:solidFill>
            <a:srgbClr val="333399"/>
          </a:solidFill>
          <a:latin typeface="Book Antiqua" panose="02040602050305030304" pitchFamily="18" charset="0"/>
        </a:defRPr>
      </a:lvl8pPr>
      <a:lvl9pPr marL="921319" algn="ctr" rtl="0" eaLnBrk="0" fontAlgn="base" hangingPunct="0">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CACF47-282E-9251-5E38-9773C995D331}"/>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84CF1F3-1A21-5094-568D-A55E8094DF8F}"/>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9294301-7CB8-9AE9-385D-320FE3C363A7}"/>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储蓄、投资和金融体系</a:t>
            </a:r>
          </a:p>
        </p:txBody>
      </p:sp>
      <p:sp>
        <p:nvSpPr>
          <p:cNvPr id="1029" name="Rectangle 5">
            <a:extLst>
              <a:ext uri="{FF2B5EF4-FFF2-40B4-BE49-F238E27FC236}">
                <a16:creationId xmlns:a16="http://schemas.microsoft.com/office/drawing/2014/main" id="{6F1A230D-A13F-6E34-8E84-B7BAF6D7C766}"/>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CBE2655C-3234-C049-B5D7-3DC99A4C04D4}" type="slidenum">
              <a:rPr lang="zh-CN" altLang="zh-CN"/>
              <a:pPr/>
              <a:t>‹#›</a:t>
            </a:fld>
            <a:endParaRPr lang="en-US" altLang="zh-CN"/>
          </a:p>
        </p:txBody>
      </p:sp>
    </p:spTree>
    <p:extLst>
      <p:ext uri="{BB962C8B-B14F-4D97-AF65-F5344CB8AC3E}">
        <p14:creationId xmlns:p14="http://schemas.microsoft.com/office/powerpoint/2010/main" val="27618943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587AD2-2A40-9296-D56D-93FDBD7636EF}"/>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0FDC28A-B9AE-127F-83F8-0B1FDA078C1C}"/>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E3BF17-E6D7-590E-F8B0-BB3DF8E77868}"/>
              </a:ext>
            </a:extLst>
          </p:cNvPr>
          <p:cNvSpPr>
            <a:spLocks noGrp="1" noChangeArrowheads="1"/>
          </p:cNvSpPr>
          <p:nvPr>
            <p:ph type="ftr" sz="quarter" idx="3"/>
          </p:nvPr>
        </p:nvSpPr>
        <p:spPr bwMode="auto">
          <a:xfrm>
            <a:off x="144066" y="3226028"/>
            <a:ext cx="3974611"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latin typeface="+mn-lt"/>
                <a:ea typeface="宋体" panose="02010600030101010101" pitchFamily="2" charset="-122"/>
              </a:defRPr>
            </a:lvl1pPr>
          </a:lstStyle>
          <a:p>
            <a:r>
              <a:rPr lang="zh-CN" altLang="zh-CN"/>
              <a:t>消费者、生产者与市场效率</a:t>
            </a:r>
          </a:p>
        </p:txBody>
      </p:sp>
      <p:sp>
        <p:nvSpPr>
          <p:cNvPr id="1029" name="Rectangle 5">
            <a:extLst>
              <a:ext uri="{FF2B5EF4-FFF2-40B4-BE49-F238E27FC236}">
                <a16:creationId xmlns:a16="http://schemas.microsoft.com/office/drawing/2014/main" id="{E3242819-FC19-56A0-789F-5AA03E128747}"/>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latin typeface="Tahoma" panose="020B0604030504040204" pitchFamily="34" charset="0"/>
                <a:ea typeface="宋体" panose="02010600030101010101" pitchFamily="2" charset="-122"/>
              </a:defRPr>
            </a:lvl1pPr>
          </a:lstStyle>
          <a:p>
            <a:fld id="{56D20B8E-C68C-114D-8CC8-E6658F47B712}" type="slidenum">
              <a:rPr lang="zh-CN" altLang="zh-CN"/>
              <a:pPr/>
              <a:t>‹#›</a:t>
            </a:fld>
            <a:endParaRPr lang="en-US" altLang="zh-CN"/>
          </a:p>
        </p:txBody>
      </p:sp>
    </p:spTree>
    <p:extLst>
      <p:ext uri="{BB962C8B-B14F-4D97-AF65-F5344CB8AC3E}">
        <p14:creationId xmlns:p14="http://schemas.microsoft.com/office/powerpoint/2010/main" val="116331063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hyperlink" Target="https://baike.baidu.com/item/%E5%8F%A4%E5%85%B8%E5%AD%A6%E6%B4%BE/1770165?fromModule=lemma_inlink"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5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60.png"/><Relationship Id="rId5" Type="http://schemas.openxmlformats.org/officeDocument/2006/relationships/image" Target="../media/image52.png"/><Relationship Id="rId10" Type="http://schemas.openxmlformats.org/officeDocument/2006/relationships/image" Target="../media/image59.png"/><Relationship Id="rId4" Type="http://schemas.openxmlformats.org/officeDocument/2006/relationships/image" Target="../media/image51.png"/><Relationship Id="rId9" Type="http://schemas.openxmlformats.org/officeDocument/2006/relationships/image" Target="../media/image56.png"/></Relationships>
</file>

<file path=ppt/slides/_rels/slide60.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20.png"/><Relationship Id="rId7" Type="http://schemas.openxmlformats.org/officeDocument/2006/relationships/image" Target="../media/image76.png"/><Relationship Id="rId2" Type="http://schemas.openxmlformats.org/officeDocument/2006/relationships/image" Target="../media/image710.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7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8.png"/><Relationship Id="rId7" Type="http://schemas.openxmlformats.org/officeDocument/2006/relationships/image" Target="../media/image83.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jp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6.jp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file:////Users/aliceyang/Library/Group%20Containers/UBF8T346G9.ms/WebArchiveCopyPasteTempFiles/com.microsoft.Word/91ef76c6a7efce1b2b426ed2fe8e00d5b58f65ac.jpeg@f_auto%3ftoken=bbfdbaf853b9f236b7900e2726d4a4dd" TargetMode="External"/><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292709"/>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第三章 产品市场和货币市场的共同均衡</a:t>
            </a:r>
            <a:endParaRPr lang="en-US" altLang="zh-CN" sz="1600" b="1" spc="-15" dirty="0">
              <a:latin typeface="Garamond" panose="02020404030301010803" pitchFamily="18" charset="0"/>
              <a:ea typeface="KaiTi" panose="02010609060101010101" pitchFamily="49" charset="-122"/>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dirty="0">
                <a:solidFill>
                  <a:srgbClr val="C00000"/>
                </a:solidFill>
                <a:latin typeface="Microsoft YaHei" panose="020B0503020204020204" pitchFamily="34" charset="-122"/>
                <a:ea typeface="Microsoft YaHei" panose="020B0503020204020204" pitchFamily="34" charset="-122"/>
              </a:rPr>
              <a:t>本章内容</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
        <p:nvSpPr>
          <p:cNvPr id="2" name="Rectangle 3">
            <a:extLst>
              <a:ext uri="{FF2B5EF4-FFF2-40B4-BE49-F238E27FC236}">
                <a16:creationId xmlns:a16="http://schemas.microsoft.com/office/drawing/2014/main" id="{F46EEACB-6D97-FCA1-E3DD-9171829BE6B6}"/>
              </a:ext>
            </a:extLst>
          </p:cNvPr>
          <p:cNvSpPr txBox="1">
            <a:spLocks noChangeArrowheads="1"/>
          </p:cNvSpPr>
          <p:nvPr/>
        </p:nvSpPr>
        <p:spPr>
          <a:xfrm>
            <a:off x="288826" y="616708"/>
            <a:ext cx="3888432" cy="1632242"/>
          </a:xfrm>
          <a:prstGeom prst="rect">
            <a:avLst/>
          </a:prstGeom>
        </p:spPr>
        <p:txBody>
          <a:bodyPr wrap="square" lIns="0" tIns="0" rIns="0" bIns="0">
            <a:spAutoFit/>
          </a:bodyPr>
          <a:lstStyle>
            <a:lvl1pPr marL="0" eaLnBrk="1" hangingPunct="1">
              <a:defRPr sz="1000" b="0" i="0">
                <a:solidFill>
                  <a:schemeClr val="tx1"/>
                </a:solidFill>
                <a:latin typeface="Times New Roman"/>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1</a:t>
            </a:r>
            <a:r>
              <a:rPr lang="zh-CN" altLang="en-US" sz="1200" kern="0" dirty="0">
                <a:latin typeface="Garamond" panose="02020404030301010803" pitchFamily="18" charset="0"/>
                <a:ea typeface="KaiTi" panose="02010609060101010101" pitchFamily="49" charset="-122"/>
              </a:rPr>
              <a:t>节  投资的决定</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2</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IS</a:t>
            </a:r>
            <a:r>
              <a:rPr lang="zh-CN" altLang="en-US" sz="1200" kern="0" dirty="0">
                <a:latin typeface="Garamond" panose="02020404030301010803" pitchFamily="18" charset="0"/>
                <a:ea typeface="KaiTi" panose="02010609060101010101" pitchFamily="49" charset="-122"/>
              </a:rPr>
              <a:t>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3</a:t>
            </a:r>
            <a:r>
              <a:rPr lang="zh-CN" altLang="en-US" sz="1200" kern="0" dirty="0">
                <a:latin typeface="Garamond" panose="02020404030301010803" pitchFamily="18" charset="0"/>
                <a:ea typeface="KaiTi" panose="02010609060101010101" pitchFamily="49" charset="-122"/>
              </a:rPr>
              <a:t>节  利率的决定</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4</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LM</a:t>
            </a:r>
            <a:r>
              <a:rPr lang="zh-CN" altLang="en-US" sz="1200" kern="0" dirty="0">
                <a:latin typeface="Garamond" panose="02020404030301010803" pitchFamily="18" charset="0"/>
                <a:ea typeface="KaiTi" panose="02010609060101010101" pitchFamily="49" charset="-122"/>
              </a:rPr>
              <a:t>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5</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IS–LM</a:t>
            </a:r>
            <a:r>
              <a:rPr lang="zh-CN" altLang="en-US" sz="1200" kern="0" dirty="0">
                <a:latin typeface="Garamond" panose="02020404030301010803" pitchFamily="18" charset="0"/>
                <a:ea typeface="KaiTi" panose="02010609060101010101" pitchFamily="49" charset="-122"/>
              </a:rPr>
              <a:t>分析</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6</a:t>
            </a:r>
            <a:r>
              <a:rPr lang="zh-CN" altLang="en-US" sz="1200" kern="0" dirty="0">
                <a:latin typeface="Garamond" panose="02020404030301010803" pitchFamily="18" charset="0"/>
                <a:ea typeface="KaiTi" panose="02010609060101010101" pitchFamily="49" charset="-122"/>
              </a:rPr>
              <a:t>节  凯恩斯的基本理论框架</a:t>
            </a:r>
          </a:p>
        </p:txBody>
      </p:sp>
    </p:spTree>
    <p:extLst>
      <p:ext uri="{BB962C8B-B14F-4D97-AF65-F5344CB8AC3E}">
        <p14:creationId xmlns:p14="http://schemas.microsoft.com/office/powerpoint/2010/main" val="964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Bottom)">
                                      <p:cBhvr>
                                        <p:cTn id="7" dur="500"/>
                                        <p:tgtEl>
                                          <p:spTgt spid="2">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slide(fromBottom)">
                                      <p:cBhvr>
                                        <p:cTn id="10" dur="500"/>
                                        <p:tgtEl>
                                          <p:spTgt spid="2">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slide(fromBottom)">
                                      <p:cBhvr>
                                        <p:cTn id="13" dur="500"/>
                                        <p:tgtEl>
                                          <p:spTgt spid="2">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slide(fromBottom)">
                                      <p:cBhvr>
                                        <p:cTn id="16" dur="500"/>
                                        <p:tgtEl>
                                          <p:spTgt spid="2">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slide(fromBottom)">
                                      <p:cBhvr>
                                        <p:cTn id="19" dur="500"/>
                                        <p:tgtEl>
                                          <p:spTgt spid="2">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slide(fromBottom)">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97016" y="1411959"/>
            <a:ext cx="4383299" cy="564770"/>
          </a:xfrm>
          <a:prstGeom prst="rect">
            <a:avLst/>
          </a:prstGeom>
        </p:spPr>
        <p:txBody>
          <a:bodyPr vert="horz" wrap="square" lIns="0" tIns="0" rIns="0" bIns="0" rtlCol="0">
            <a:spAutoFit/>
          </a:bodyPr>
          <a:lstStyle/>
          <a:p>
            <a:pPr marL="634" algn="ctr">
              <a:lnSpc>
                <a:spcPct val="130000"/>
              </a:lnSpc>
            </a:pPr>
            <a:r>
              <a:rPr lang="zh-CN" altLang="en-US" b="1" dirty="0">
                <a:solidFill>
                  <a:srgbClr val="333399"/>
                </a:solidFill>
                <a:latin typeface="Garamond" panose="02020404030301010803" pitchFamily="18" charset="0"/>
                <a:ea typeface="KaiTi" panose="02010609060101010101" pitchFamily="49" charset="-122"/>
                <a:cs typeface="+mj-cs"/>
              </a:rPr>
              <a:t>第</a:t>
            </a:r>
            <a:r>
              <a:rPr lang="en-US" altLang="zh-CN" b="1" dirty="0">
                <a:solidFill>
                  <a:srgbClr val="333399"/>
                </a:solidFill>
                <a:latin typeface="Garamond" panose="02020404030301010803" pitchFamily="18" charset="0"/>
                <a:ea typeface="KaiTi" panose="02010609060101010101" pitchFamily="49" charset="-122"/>
                <a:cs typeface="+mj-cs"/>
              </a:rPr>
              <a:t>1</a:t>
            </a:r>
            <a:r>
              <a:rPr lang="zh-CN" altLang="en-US" b="1" dirty="0">
                <a:solidFill>
                  <a:srgbClr val="333399"/>
                </a:solidFill>
                <a:latin typeface="Garamond" panose="02020404030301010803" pitchFamily="18" charset="0"/>
                <a:ea typeface="KaiTi" panose="02010609060101010101" pitchFamily="49" charset="-122"/>
                <a:cs typeface="+mj-cs"/>
              </a:rPr>
              <a:t>节 投资需求</a:t>
            </a:r>
            <a:endParaRPr lang="en-US" altLang="zh-CN"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100" b="1" dirty="0">
              <a:latin typeface="Garamond" panose="02020404030301010803" pitchFamily="18" charset="0"/>
              <a:cs typeface="Times New Roman"/>
            </a:endParaRPr>
          </a:p>
        </p:txBody>
      </p:sp>
    </p:spTree>
    <p:extLst>
      <p:ext uri="{BB962C8B-B14F-4D97-AF65-F5344CB8AC3E}">
        <p14:creationId xmlns:p14="http://schemas.microsoft.com/office/powerpoint/2010/main" val="3121059534"/>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b="1" dirty="0">
                <a:latin typeface="Garamond" panose="02020404030301010803" pitchFamily="18" charset="0"/>
                <a:ea typeface="SimSun" panose="02010600030101010101" pitchFamily="2" charset="-122"/>
              </a:rPr>
              <a:t>投资</a:t>
            </a:r>
            <a:r>
              <a:rPr lang="zh-CN" altLang="en-US" sz="1100" dirty="0">
                <a:latin typeface="Garamond" panose="02020404030301010803" pitchFamily="18" charset="0"/>
                <a:ea typeface="SimSun" panose="02010600030101010101" pitchFamily="2" charset="-122"/>
              </a:rPr>
              <a:t>是指资本的形成，即社会实际资本的增加，包括厂房、设备和存货的增加以及新住宅的建筑等，其中主要是厂房、设备的增加。</a:t>
            </a:r>
            <a:endParaRPr lang="en-US" altLang="zh-CN" sz="1100" dirty="0">
              <a:latin typeface="Garamond" panose="02020404030301010803" pitchFamily="18" charset="0"/>
              <a:ea typeface="SimSun" panose="02010600030101010101" pitchFamily="2" charset="-122"/>
            </a:endParaRPr>
          </a:p>
          <a:p>
            <a:pPr eaLnBrk="1" hangingPunct="1"/>
            <a:r>
              <a:rPr lang="zh-CN" altLang="en-US" sz="1100" b="1" dirty="0">
                <a:solidFill>
                  <a:srgbClr val="FF0000"/>
                </a:solidFill>
                <a:latin typeface="Garamond" panose="02020404030301010803" pitchFamily="18" charset="0"/>
                <a:ea typeface="SimSun" panose="02010600030101010101" pitchFamily="2" charset="-122"/>
              </a:rPr>
              <a:t>思考：投资如何决定？</a:t>
            </a:r>
            <a:endParaRPr lang="en-US" altLang="zh-CN" sz="1100" b="1" dirty="0">
              <a:solidFill>
                <a:srgbClr val="FF0000"/>
              </a:solidFill>
              <a:latin typeface="Garamond" panose="02020404030301010803" pitchFamily="18" charset="0"/>
              <a:ea typeface="SimSun" panose="02010600030101010101" pitchFamily="2" charset="-122"/>
            </a:endParaRPr>
          </a:p>
          <a:p>
            <a:pPr eaLnBrk="1" hangingPunct="1"/>
            <a:r>
              <a:rPr lang="zh-CN" altLang="en-US" sz="1000" b="1" dirty="0">
                <a:solidFill>
                  <a:schemeClr val="tx1">
                    <a:lumMod val="50000"/>
                    <a:lumOff val="50000"/>
                  </a:schemeClr>
                </a:solidFill>
                <a:latin typeface="KaiTi" panose="02010609060101010101" pitchFamily="49" charset="-122"/>
                <a:ea typeface="KaiTi" panose="02010609060101010101" pitchFamily="49" charset="-122"/>
              </a:rPr>
              <a:t>提示：企业用于投资的资金多半是借贷来的</a:t>
            </a:r>
            <a:r>
              <a:rPr lang="zh-CN" altLang="en-US" sz="1000" b="1" dirty="0">
                <a:latin typeface="KaiTi" panose="02010609060101010101" pitchFamily="49" charset="-122"/>
                <a:ea typeface="KaiTi" panose="02010609060101010101" pitchFamily="49" charset="-122"/>
              </a:rPr>
              <a:t>。</a:t>
            </a:r>
            <a:endParaRPr lang="en-US" altLang="zh-CN" sz="1000" b="1" dirty="0">
              <a:latin typeface="KaiTi" panose="02010609060101010101" pitchFamily="49" charset="-122"/>
              <a:ea typeface="KaiTi" panose="02010609060101010101" pitchFamily="49" charset="-122"/>
            </a:endParaRPr>
          </a:p>
        </p:txBody>
      </p:sp>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投资的决策</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26F16BC-326A-4021-8028-53D765930A0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275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dirty="0">
                <a:latin typeface="Garamond" panose="02020404030301010803" pitchFamily="18" charset="0"/>
                <a:ea typeface="SimSun" panose="02010600030101010101" pitchFamily="2" charset="-122"/>
              </a:rPr>
              <a:t>凯恩斯认为，是否要对新的实物资本进行投资取决于这些新投资的预期利润率与为购买这些资产而必须借进的款项所要求的利率的比较。</a:t>
            </a:r>
            <a:endParaRPr lang="en-US" altLang="zh-CN" sz="1100" dirty="0">
              <a:latin typeface="Garamond" panose="02020404030301010803" pitchFamily="18" charset="0"/>
              <a:ea typeface="SimSun" panose="02010600030101010101" pitchFamily="2" charset="-122"/>
            </a:endParaRPr>
          </a:p>
          <a:p>
            <a:pPr eaLnBrk="1" hangingPunct="1"/>
            <a:endParaRPr lang="en-US" altLang="zh-CN" sz="1100" dirty="0">
              <a:latin typeface="Garamond" panose="02020404030301010803" pitchFamily="18" charset="0"/>
              <a:ea typeface="SimSun" panose="02010600030101010101" pitchFamily="2" charset="-122"/>
            </a:endParaRPr>
          </a:p>
          <a:p>
            <a:pPr eaLnBrk="1" hangingPunct="1"/>
            <a:endParaRPr lang="en-US" altLang="zh-CN" sz="1100" dirty="0">
              <a:latin typeface="Garamond" panose="02020404030301010803" pitchFamily="18" charset="0"/>
              <a:ea typeface="SimSun" panose="02010600030101010101" pitchFamily="2" charset="-122"/>
            </a:endParaRPr>
          </a:p>
          <a:p>
            <a:pPr eaLnBrk="1" hangingPunct="1">
              <a:lnSpc>
                <a:spcPct val="100000"/>
              </a:lnSpc>
            </a:pPr>
            <a:r>
              <a:rPr lang="en-US" altLang="zh-CN" sz="1000" dirty="0">
                <a:latin typeface="Garamond" panose="02020404030301010803" pitchFamily="18" charset="0"/>
                <a:ea typeface="KaiTi" panose="02010609060101010101" pitchFamily="49" charset="-122"/>
              </a:rPr>
              <a:t>Note</a:t>
            </a:r>
            <a:r>
              <a:rPr lang="zh-CN" altLang="en-US" sz="1000" dirty="0">
                <a:latin typeface="Garamond" panose="02020404030301010803" pitchFamily="18" charset="0"/>
                <a:ea typeface="KaiTi" panose="02010609060101010101" pitchFamily="49" charset="-122"/>
              </a:rPr>
              <a:t>：这里的利率是</a:t>
            </a:r>
            <a:r>
              <a:rPr lang="zh-CN" altLang="en-US" sz="1000" b="1" dirty="0">
                <a:latin typeface="Garamond" panose="02020404030301010803" pitchFamily="18" charset="0"/>
                <a:ea typeface="KaiTi" panose="02010609060101010101" pitchFamily="49" charset="-122"/>
              </a:rPr>
              <a:t>实际利率</a:t>
            </a:r>
            <a:r>
              <a:rPr lang="zh-CN" altLang="en-US" sz="1000" dirty="0">
                <a:latin typeface="Garamond" panose="02020404030301010803" pitchFamily="18" charset="0"/>
                <a:ea typeface="KaiTi" panose="02010609060101010101" pitchFamily="49" charset="-122"/>
              </a:rPr>
              <a:t>，即名义利率</a:t>
            </a:r>
            <a:r>
              <a:rPr lang="en-US" altLang="zh-CN" sz="1000" dirty="0">
                <a:latin typeface="Garamond" panose="02020404030301010803" pitchFamily="18" charset="0"/>
                <a:ea typeface="KaiTi" panose="02010609060101010101" pitchFamily="49" charset="-122"/>
              </a:rPr>
              <a:t>-</a:t>
            </a:r>
            <a:r>
              <a:rPr lang="zh-CN" altLang="en-US" sz="1000" dirty="0">
                <a:latin typeface="Garamond" panose="02020404030301010803" pitchFamily="18" charset="0"/>
                <a:ea typeface="KaiTi" panose="02010609060101010101" pitchFamily="49" charset="-122"/>
              </a:rPr>
              <a:t>通货膨胀率</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在投资的预期利润率既定的条件下，投资取决于实际利率的高低。投资是利率的减函数。</a:t>
            </a:r>
          </a:p>
        </p:txBody>
      </p:sp>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投资的决策</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53226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3" end="3"/>
                                            </p:txEl>
                                          </p:spTgt>
                                        </p:tgtEl>
                                        <p:attrNameLst>
                                          <p:attrName>style.visibility</p:attrName>
                                        </p:attrNameLst>
                                      </p:cBhvr>
                                      <p:to>
                                        <p:strVal val="visible"/>
                                      </p:to>
                                    </p:set>
                                    <p:animEffect transition="in" filter="wipe(left)">
                                      <p:cBhvr>
                                        <p:cTn id="12" dur="500"/>
                                        <p:tgtEl>
                                          <p:spTgt spid="819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animEffect transition="in" filter="wipe(left)">
                                      <p:cBhvr>
                                        <p:cTn id="17" dur="5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dirty="0">
                    <a:latin typeface="Garamond" panose="02020404030301010803" pitchFamily="18" charset="0"/>
                    <a:ea typeface="SimSun" panose="02010600030101010101" pitchFamily="2" charset="-122"/>
                  </a:rPr>
                  <a:t>即使企业资金是自有的，它也会把利息看成投资的机会成本，从而把利息当作投资成本。</a:t>
                </a:r>
                <a:endParaRPr lang="en-US" altLang="zh-CN" sz="1100" dirty="0">
                  <a:latin typeface="Garamond" panose="02020404030301010803" pitchFamily="18" charset="0"/>
                  <a:ea typeface="SimSun" panose="02010600030101010101" pitchFamily="2" charset="-122"/>
                </a:endParaRPr>
              </a:p>
              <a:p>
                <a:pPr eaLnBrk="1" hangingPunct="1"/>
                <a:r>
                  <a:rPr lang="zh-CN" altLang="en-US" sz="1100" dirty="0">
                    <a:latin typeface="Garamond" panose="02020404030301010803" pitchFamily="18" charset="0"/>
                    <a:ea typeface="SimSun" panose="02010600030101010101" pitchFamily="2" charset="-122"/>
                  </a:rPr>
                  <a:t>因此，利率上升时，投资者自然会减少投资物品的购买。投资与利率之间的这种关系被称为投资函数，可表示为：</a:t>
                </a:r>
                <a:endParaRPr lang="en-US" altLang="zh-CN" sz="1100" dirty="0">
                  <a:latin typeface="Garamond" panose="02020404030301010803" pitchFamily="18" charset="0"/>
                  <a:ea typeface="SimSun" panose="02010600030101010101" pitchFamily="2" charset="-122"/>
                </a:endParaRPr>
              </a:p>
              <a:p>
                <a:pPr marL="0" indent="0" eaLnBrk="1" hangingPunct="1">
                  <a:buNone/>
                </a:pPr>
                <a14:m>
                  <m:oMathPara xmlns:m="http://schemas.openxmlformats.org/officeDocument/2006/math">
                    <m:oMathParaPr>
                      <m:jc m:val="centerGroup"/>
                    </m:oMathParaPr>
                    <m:oMath xmlns:m="http://schemas.openxmlformats.org/officeDocument/2006/math">
                      <m:r>
                        <a:rPr lang="en-US" altLang="zh-CN" sz="1100" b="0" i="1" smtClean="0">
                          <a:latin typeface="Cambria Math" panose="02040503050406030204" pitchFamily="18" charset="0"/>
                          <a:ea typeface="SimSun" panose="02010600030101010101" pitchFamily="2" charset="-122"/>
                        </a:rPr>
                        <m:t>𝐼</m:t>
                      </m:r>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𝐼</m:t>
                      </m:r>
                      <m:d>
                        <m:dPr>
                          <m:ctrlPr>
                            <a:rPr lang="en-US" altLang="zh-CN" sz="1100" b="0" i="1" smtClean="0">
                              <a:latin typeface="Cambria Math" panose="02040503050406030204" pitchFamily="18" charset="0"/>
                              <a:ea typeface="SimSun" panose="02010600030101010101" pitchFamily="2" charset="-122"/>
                            </a:rPr>
                          </m:ctrlPr>
                        </m:dPr>
                        <m:e>
                          <m:r>
                            <a:rPr lang="en-US" altLang="zh-CN" sz="1100" b="0" i="1" smtClean="0">
                              <a:latin typeface="Cambria Math" panose="02040503050406030204" pitchFamily="18" charset="0"/>
                              <a:ea typeface="SimSun" panose="02010600030101010101" pitchFamily="2" charset="-122"/>
                            </a:rPr>
                            <m:t>𝑟</m:t>
                          </m:r>
                        </m:e>
                      </m:d>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𝑒</m:t>
                      </m:r>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𝑑𝑟</m:t>
                      </m:r>
                    </m:oMath>
                  </m:oMathPara>
                </a14:m>
                <a:endParaRPr lang="en-US" altLang="zh-CN" sz="1100" dirty="0">
                  <a:latin typeface="Garamond" panose="02020404030301010803" pitchFamily="18" charset="0"/>
                  <a:ea typeface="SimSun" panose="02010600030101010101" pitchFamily="2"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其中，</a:t>
                </a:r>
                <a:r>
                  <a:rPr lang="en-US" altLang="zh-CN" sz="1000" dirty="0">
                    <a:latin typeface="Garamond" panose="02020404030301010803" pitchFamily="18" charset="0"/>
                    <a:ea typeface="KaiTi" panose="02010609060101010101" pitchFamily="49" charset="-122"/>
                  </a:rPr>
                  <a:t>I</a:t>
                </a:r>
                <a:r>
                  <a:rPr lang="zh-CN" altLang="en-US" sz="1000" dirty="0">
                    <a:latin typeface="Garamond" panose="02020404030301010803" pitchFamily="18" charset="0"/>
                    <a:ea typeface="KaiTi" panose="02010609060101010101" pitchFamily="49" charset="-122"/>
                  </a:rPr>
                  <a:t>表示投资，</a:t>
                </a:r>
                <a:r>
                  <a:rPr lang="en-US" altLang="zh-CN" sz="1000" dirty="0">
                    <a:ea typeface="SimSun" panose="02010600030101010101" pitchFamily="2" charset="-122"/>
                  </a:rPr>
                  <a:t> </a:t>
                </a:r>
                <a14:m>
                  <m:oMath xmlns:m="http://schemas.openxmlformats.org/officeDocument/2006/math">
                    <m:r>
                      <m:rPr>
                        <m:sty m:val="p"/>
                      </m:rPr>
                      <a:rPr lang="en-US" altLang="zh-CN" sz="1000" i="1" dirty="0" smtClean="0">
                        <a:latin typeface="Cambria Math" panose="02040503050406030204" pitchFamily="18" charset="0"/>
                        <a:ea typeface="SimSun" panose="02010600030101010101" pitchFamily="2" charset="-122"/>
                      </a:rPr>
                      <m:t>r</m:t>
                    </m:r>
                  </m:oMath>
                </a14:m>
                <a:r>
                  <a:rPr lang="zh-CN" altLang="en-US" sz="1000" dirty="0">
                    <a:latin typeface="Garamond" panose="02020404030301010803" pitchFamily="18" charset="0"/>
                    <a:ea typeface="KaiTi" panose="02010609060101010101" pitchFamily="49" charset="-122"/>
                  </a:rPr>
                  <a:t>表示利率。</a:t>
                </a:r>
                <a:r>
                  <a:rPr lang="en-US" altLang="zh-CN" sz="1000" dirty="0">
                    <a:ea typeface="SimSun" panose="02010600030101010101" pitchFamily="2" charset="-122"/>
                  </a:rPr>
                  <a:t> </a:t>
                </a:r>
                <a14:m>
                  <m:oMath xmlns:m="http://schemas.openxmlformats.org/officeDocument/2006/math">
                    <m:r>
                      <a:rPr lang="en-US" altLang="zh-CN" sz="1000" i="1">
                        <a:latin typeface="Cambria Math" panose="02040503050406030204" pitchFamily="18" charset="0"/>
                        <a:ea typeface="SimSun" panose="02010600030101010101" pitchFamily="2" charset="-122"/>
                      </a:rPr>
                      <m:t>𝑒</m:t>
                    </m:r>
                  </m:oMath>
                </a14:m>
                <a:r>
                  <a:rPr lang="zh-CN" altLang="en-US" sz="1000" dirty="0">
                    <a:latin typeface="Garamond" panose="02020404030301010803" pitchFamily="18" charset="0"/>
                    <a:ea typeface="KaiTi" panose="02010609060101010101" pitchFamily="49" charset="-122"/>
                  </a:rPr>
                  <a:t>是指企业的自主投资，</a:t>
                </a:r>
                <a14:m>
                  <m:oMath xmlns:m="http://schemas.openxmlformats.org/officeDocument/2006/math">
                    <m:r>
                      <a:rPr lang="en-US" altLang="zh-CN" sz="1000" i="1">
                        <a:latin typeface="Cambria Math" panose="02040503050406030204" pitchFamily="18" charset="0"/>
                        <a:ea typeface="SimSun" panose="02010600030101010101" pitchFamily="2" charset="-122"/>
                      </a:rPr>
                      <m:t>𝑑</m:t>
                    </m:r>
                  </m:oMath>
                </a14:m>
                <a:r>
                  <a:rPr lang="zh-CN" altLang="en-US" sz="1000" dirty="0">
                    <a:latin typeface="Garamond" panose="02020404030301010803" pitchFamily="18" charset="0"/>
                    <a:ea typeface="KaiTi" panose="02010609060101010101" pitchFamily="49" charset="-122"/>
                  </a:rPr>
                  <a:t>是投资的利率弹性，即投资对利率变动作出反应的程度。</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en-US" altLang="zh-CN" sz="1000" dirty="0">
                    <a:latin typeface="Garamond" panose="02020404030301010803" pitchFamily="18" charset="0"/>
                    <a:ea typeface="KaiTi" panose="02010609060101010101" pitchFamily="49" charset="-122"/>
                  </a:rPr>
                  <a:t>Note</a:t>
                </a:r>
                <a:r>
                  <a:rPr lang="zh-CN" altLang="en-US" sz="1000" dirty="0">
                    <a:latin typeface="Garamond" panose="02020404030301010803" pitchFamily="18" charset="0"/>
                    <a:ea typeface="KaiTi" panose="02010609060101010101" pitchFamily="49" charset="-122"/>
                  </a:rPr>
                  <a:t>：这里的利率是</a:t>
                </a:r>
                <a:r>
                  <a:rPr lang="zh-CN" altLang="en-US" sz="1000" b="1" dirty="0">
                    <a:latin typeface="Garamond" panose="02020404030301010803" pitchFamily="18" charset="0"/>
                    <a:ea typeface="KaiTi" panose="02010609060101010101" pitchFamily="49" charset="-122"/>
                  </a:rPr>
                  <a:t>实际利率</a:t>
                </a:r>
                <a:r>
                  <a:rPr lang="zh-CN" altLang="en-US" sz="1000" dirty="0">
                    <a:latin typeface="Garamond" panose="02020404030301010803" pitchFamily="18" charset="0"/>
                    <a:ea typeface="KaiTi" panose="02010609060101010101" pitchFamily="49" charset="-122"/>
                  </a:rPr>
                  <a:t>，即名义利率</a:t>
                </a:r>
                <a:r>
                  <a:rPr lang="en-US" altLang="zh-CN" sz="1000" dirty="0">
                    <a:latin typeface="Garamond" panose="02020404030301010803" pitchFamily="18" charset="0"/>
                    <a:ea typeface="KaiTi" panose="02010609060101010101" pitchFamily="49" charset="-122"/>
                  </a:rPr>
                  <a:t>-</a:t>
                </a:r>
                <a:r>
                  <a:rPr lang="zh-CN" altLang="en-US" sz="1000" dirty="0">
                    <a:latin typeface="Garamond" panose="02020404030301010803" pitchFamily="18" charset="0"/>
                    <a:ea typeface="KaiTi" panose="02010609060101010101" pitchFamily="49" charset="-122"/>
                  </a:rPr>
                  <a:t>通货膨胀率</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在投资的预期利润率既定的条件下，投资取决于实际利率的高低。投资是利率的减函数。</a:t>
                </a:r>
              </a:p>
            </p:txBody>
          </p:sp>
        </mc:Choice>
        <mc:Fallback xmlns="">
          <p:sp>
            <p:nvSpPr>
              <p:cNvPr id="8195" name="Rectangle 3"/>
              <p:cNvSpPr>
                <a:spLocks noGrp="1" noRot="1" noChangeAspect="1" noMove="1" noResize="1" noEditPoints="1" noAdjustHandles="1" noChangeArrowheads="1" noChangeShapeType="1" noTextEdit="1"/>
              </p:cNvSpPr>
              <p:nvPr>
                <p:ph type="body" idx="1"/>
              </p:nvPr>
            </p:nvSpPr>
            <p:spPr>
              <a:xfrm>
                <a:off x="172879" y="500911"/>
                <a:ext cx="3976211" cy="2193800"/>
              </a:xfrm>
              <a:blipFill>
                <a:blip r:embed="rId2"/>
                <a:stretch>
                  <a:fillRect l="-318" t="-1724" r="-1274"/>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投资函数</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8239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left)">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wipe(left)">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wipe(left)">
                                      <p:cBhvr>
                                        <p:cTn id="32"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投资的决定</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一个预期长期实际利率为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的厂商正在考虑一个投资项目清单，每个项目都需要花费</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万美元，这些项目在回收期长短和回收数量上不同。第一个项目将在两年内回收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万美元；第二个项目将在三年内回收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125</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万美元；第三个项目将在四年内回收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万美元。哪个项目值得投资？</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如果利率是</a:t>
            </a:r>
            <a:r>
              <a:rPr lang="en-US" altLang="zh-CN" sz="1210" dirty="0">
                <a:ea typeface="SimSun" panose="02010600030101010101" pitchFamily="2" charset="-122"/>
                <a:cs typeface="Times New Roman" panose="02020603050405020304" pitchFamily="18" charset="0"/>
              </a:rPr>
              <a:t>10</a:t>
            </a:r>
            <a:r>
              <a:rPr lang="en-US" altLang="zh-CN" sz="1210" dirty="0">
                <a:latin typeface="Garamond" panose="02020404030301010803" pitchFamily="18" charset="0"/>
                <a:ea typeface="SimSun" panose="02010600030101010101" pitchFamily="2" charset="-122"/>
                <a:cs typeface="Times New Roman" panose="02020603050405020304" pitchFamily="18" charset="0"/>
              </a:rPr>
              <a:t>%</a:t>
            </a:r>
            <a:r>
              <a:rPr lang="zh-CN" altLang="en-US" sz="1210" dirty="0">
                <a:latin typeface="Garamond" panose="02020404030301010803" pitchFamily="18" charset="0"/>
                <a:ea typeface="SimSun" panose="02010600030101010101" pitchFamily="2" charset="-122"/>
                <a:cs typeface="Times New Roman" panose="02020603050405020304" pitchFamily="18" charset="0"/>
              </a:rPr>
              <a:t>，答案有变化吗？</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250336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主动学习答案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投资的决定</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412477"/>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解：当利率是</a:t>
                </a:r>
                <a:r>
                  <a:rPr lang="en-US" altLang="zh-CN" sz="900" dirty="0">
                    <a:latin typeface="Garamond" panose="02020404030301010803" pitchFamily="18" charset="0"/>
                    <a:ea typeface="SimSun" panose="02010600030101010101" pitchFamily="2" charset="-122"/>
                    <a:cs typeface="Times New Roman" panose="02020603050405020304" pitchFamily="18" charset="0"/>
                  </a:rPr>
                  <a:t>3%</a:t>
                </a:r>
                <a:r>
                  <a:rPr lang="zh-CN" altLang="en-US" sz="900" dirty="0">
                    <a:latin typeface="Garamond" panose="02020404030301010803" pitchFamily="18" charset="0"/>
                    <a:ea typeface="SimSun" panose="02010600030101010101" pitchFamily="2" charset="-122"/>
                    <a:cs typeface="Times New Roman" panose="02020603050405020304" pitchFamily="18" charset="0"/>
                  </a:rPr>
                  <a:t>时，</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1</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m:t>
                        </m:r>
                      </m:sub>
                    </m:sSub>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2</m:t>
                            </m:r>
                          </m:sup>
                        </m:sSup>
                      </m:den>
                    </m:f>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120</m:t>
                        </m:r>
                      </m:num>
                      <m:den>
                        <m:sSup>
                          <m:sSup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1.03</m:t>
                            </m:r>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2</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113.11&gt;100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2</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2</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25</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i="1">
                                <a:latin typeface="Cambria Math" panose="02040503050406030204" pitchFamily="18" charset="0"/>
                                <a:ea typeface="SimSun" panose="02010600030101010101" pitchFamily="2" charset="-122"/>
                                <a:cs typeface="Times New Roman" panose="02020603050405020304" pitchFamily="18" charset="0"/>
                              </a:rPr>
                              <m:t>1.03</m:t>
                            </m:r>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≈11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4</m:t>
                    </m:r>
                    <m:r>
                      <a:rPr lang="en-US" altLang="zh-CN" sz="900" i="1">
                        <a:latin typeface="Cambria Math" panose="02040503050406030204" pitchFamily="18" charset="0"/>
                        <a:ea typeface="SimSun" panose="02010600030101010101" pitchFamily="2" charset="-122"/>
                        <a:cs typeface="Times New Roman" panose="02020603050405020304" pitchFamily="18" charset="0"/>
                      </a:rPr>
                      <m:t>.</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39</m:t>
                    </m:r>
                    <m:r>
                      <a:rPr lang="en-US" altLang="zh-CN" sz="900" i="1">
                        <a:latin typeface="Cambria Math" panose="02040503050406030204" pitchFamily="18" charset="0"/>
                        <a:ea typeface="SimSun" panose="02010600030101010101" pitchFamily="2" charset="-122"/>
                        <a:cs typeface="Times New Roman" panose="02020603050405020304" pitchFamily="18" charset="0"/>
                      </a:rPr>
                      <m:t>&gt;100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3</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4</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125</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i="1">
                                <a:latin typeface="Cambria Math" panose="02040503050406030204" pitchFamily="18" charset="0"/>
                                <a:ea typeface="SimSun" panose="02010600030101010101" pitchFamily="2" charset="-122"/>
                                <a:cs typeface="Times New Roman" panose="02020603050405020304" pitchFamily="18" charset="0"/>
                              </a:rPr>
                              <m:t>1.03</m:t>
                            </m:r>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4</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≈11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5.50</m:t>
                    </m:r>
                    <m:r>
                      <a:rPr lang="en-US" altLang="zh-CN" sz="900" i="1">
                        <a:latin typeface="Cambria Math" panose="02040503050406030204" pitchFamily="18" charset="0"/>
                        <a:ea typeface="SimSun" panose="02010600030101010101" pitchFamily="2" charset="-122"/>
                        <a:cs typeface="Times New Roman" panose="02020603050405020304" pitchFamily="18" charset="0"/>
                      </a:rPr>
                      <m:t>&gt;100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当利率是</a:t>
                </a:r>
                <a:r>
                  <a:rPr lang="en-US" altLang="zh-CN" sz="900" dirty="0">
                    <a:latin typeface="Garamond" panose="02020404030301010803" pitchFamily="18" charset="0"/>
                    <a:ea typeface="SimSun" panose="02010600030101010101" pitchFamily="2" charset="-122"/>
                    <a:cs typeface="Times New Roman" panose="02020603050405020304" pitchFamily="18" charset="0"/>
                  </a:rPr>
                  <a:t>6%</a:t>
                </a:r>
                <a:r>
                  <a:rPr lang="zh-CN" altLang="en-US" sz="900" dirty="0">
                    <a:latin typeface="Garamond" panose="02020404030301010803" pitchFamily="18" charset="0"/>
                    <a:ea typeface="SimSun" panose="02010600030101010101" pitchFamily="2" charset="-122"/>
                    <a:cs typeface="Times New Roman" panose="02020603050405020304" pitchFamily="18" charset="0"/>
                  </a:rPr>
                  <a:t>时，</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1</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2</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120</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m:t>
                            </m:r>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2</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≈106.79&gt;</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2</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i="1">
                            <a:latin typeface="Cambria Math" panose="02040503050406030204" pitchFamily="18" charset="0"/>
                            <a:ea typeface="SimSun" panose="02010600030101010101" pitchFamily="2" charset="-122"/>
                            <a:cs typeface="Times New Roman" panose="02020603050405020304" pitchFamily="18" charset="0"/>
                          </a:rPr>
                          <m:t>2</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3</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125</m:t>
                        </m:r>
                      </m:num>
                      <m:den>
                        <m:sSup>
                          <m:sSup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1.1</m:t>
                            </m:r>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≈100.75&gt;100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3</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i="1">
                            <a:latin typeface="Cambria Math" panose="02040503050406030204" pitchFamily="18" charset="0"/>
                            <a:ea typeface="SimSun" panose="02010600030101010101" pitchFamily="2" charset="-122"/>
                            <a:cs typeface="Times New Roman" panose="02020603050405020304" pitchFamily="18" charset="0"/>
                          </a:rPr>
                          <m:t>3</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4</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30</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m:t>
                            </m:r>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4</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≈95.05</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&lt;</m:t>
                    </m:r>
                    <m:r>
                      <a:rPr lang="en-US" altLang="zh-CN" sz="900" i="1">
                        <a:latin typeface="Cambria Math" panose="02040503050406030204" pitchFamily="18" charset="0"/>
                        <a:ea typeface="SimSun" panose="02010600030101010101" pitchFamily="2" charset="-122"/>
                        <a:cs typeface="Times New Roman" panose="02020603050405020304" pitchFamily="18" charset="0"/>
                      </a:rPr>
                      <m: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，不值得投资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412477"/>
              </a:xfrm>
              <a:blipFill>
                <a:blip r:embed="rId2"/>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73614161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61033" y="938287"/>
            <a:ext cx="2369831" cy="1926900"/>
            <a:chOff x="3724375" y="1596552"/>
            <a:chExt cx="5034616" cy="3930848"/>
          </a:xfrm>
        </p:grpSpPr>
        <p:pic>
          <p:nvPicPr>
            <p:cNvPr id="8196" name="Picture 4" descr="xf141"/>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216" t="4101" r="5870" b="6661"/>
            <a:stretch/>
          </p:blipFill>
          <p:spPr bwMode="auto">
            <a:xfrm>
              <a:off x="3724375" y="1596552"/>
              <a:ext cx="4937761" cy="3465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5"/>
            <p:cNvSpPr txBox="1">
              <a:spLocks noChangeArrowheads="1"/>
            </p:cNvSpPr>
            <p:nvPr/>
          </p:nvSpPr>
          <p:spPr bwMode="auto">
            <a:xfrm>
              <a:off x="4241551" y="5067134"/>
              <a:ext cx="4517440" cy="460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908" b="1" dirty="0">
                  <a:solidFill>
                    <a:prstClr val="black"/>
                  </a:solidFill>
                  <a:latin typeface="Garamond" panose="02020404030301010803" pitchFamily="18" charset="0"/>
                  <a:ea typeface="KaiTi" panose="02010609060101010101" pitchFamily="49" charset="-122"/>
                </a:rPr>
                <a:t>投资函数  </a:t>
              </a:r>
              <a:r>
                <a:rPr lang="en-US" altLang="zh-CN" sz="908" b="1" dirty="0" err="1">
                  <a:solidFill>
                    <a:prstClr val="black"/>
                  </a:solidFill>
                  <a:latin typeface="Garamond" panose="02020404030301010803" pitchFamily="18" charset="0"/>
                  <a:ea typeface="KaiTi" panose="02010609060101010101" pitchFamily="49" charset="-122"/>
                </a:rPr>
                <a:t>i</a:t>
              </a:r>
              <a:r>
                <a:rPr lang="en-US" altLang="zh-CN" sz="908" b="1" dirty="0">
                  <a:solidFill>
                    <a:prstClr val="black"/>
                  </a:solidFill>
                  <a:latin typeface="Garamond" panose="02020404030301010803" pitchFamily="18" charset="0"/>
                  <a:ea typeface="KaiTi" panose="02010609060101010101" pitchFamily="49" charset="-122"/>
                </a:rPr>
                <a:t> = </a:t>
              </a:r>
              <a:r>
                <a:rPr lang="en-US" altLang="zh-CN" sz="908" b="1" dirty="0" err="1">
                  <a:solidFill>
                    <a:prstClr val="black"/>
                  </a:solidFill>
                  <a:latin typeface="Garamond" panose="02020404030301010803" pitchFamily="18" charset="0"/>
                  <a:ea typeface="KaiTi" panose="02010609060101010101" pitchFamily="49" charset="-122"/>
                </a:rPr>
                <a:t>i</a:t>
              </a:r>
              <a:r>
                <a:rPr lang="en-US" altLang="zh-CN" sz="908" b="1" dirty="0">
                  <a:solidFill>
                    <a:prstClr val="black"/>
                  </a:solidFill>
                  <a:latin typeface="Garamond" panose="02020404030301010803" pitchFamily="18" charset="0"/>
                  <a:ea typeface="KaiTi" panose="02010609060101010101" pitchFamily="49" charset="-122"/>
                </a:rPr>
                <a:t> (r)</a:t>
              </a:r>
            </a:p>
          </p:txBody>
        </p:sp>
      </p:grpSp>
      <mc:AlternateContent xmlns:mc="http://schemas.openxmlformats.org/markup-compatibility/2006" xmlns:a14="http://schemas.microsoft.com/office/drawing/2010/main">
        <mc:Choice Requires="a14">
          <p:sp>
            <p:nvSpPr>
              <p:cNvPr id="8195" name="Rectangle 3"/>
              <p:cNvSpPr>
                <a:spLocks noGrp="1" noChangeArrowheads="1"/>
              </p:cNvSpPr>
              <p:nvPr>
                <p:ph type="body" idx="1"/>
              </p:nvPr>
            </p:nvSpPr>
            <p:spPr>
              <a:xfrm>
                <a:off x="173504" y="650255"/>
                <a:ext cx="2030987" cy="2566960"/>
              </a:xfrm>
            </p:spPr>
            <p:txBody>
              <a:bodyPr/>
              <a:lstStyle/>
              <a:p>
                <a:pPr marL="0" indent="0" eaLnBrk="1" hangingPunct="1">
                  <a:buNone/>
                </a:pPr>
                <a:r>
                  <a:rPr lang="zh-CN" altLang="en-US" sz="1008" b="1" dirty="0">
                    <a:latin typeface="Garamond" panose="02020404030301010803" pitchFamily="18" charset="0"/>
                    <a:ea typeface="SimSun" panose="02010600030101010101" pitchFamily="2" charset="-122"/>
                  </a:rPr>
                  <a:t>假定</a:t>
                </a:r>
                <a14:m>
                  <m:oMath xmlns:m="http://schemas.openxmlformats.org/officeDocument/2006/math">
                    <m:r>
                      <a:rPr lang="en-US" altLang="zh-CN" sz="1008" b="1" i="1">
                        <a:latin typeface="Cambria Math" panose="02040503050406030204" pitchFamily="18" charset="0"/>
                        <a:ea typeface="等线" panose="02010600030101010101" pitchFamily="2" charset="-122"/>
                      </a:rPr>
                      <m:t>𝒊</m:t>
                    </m:r>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𝒊</m:t>
                    </m:r>
                    <m:d>
                      <m:dPr>
                        <m:ctrlPr>
                          <a:rPr lang="en-US" altLang="zh-CN" sz="1008" b="1" i="1">
                            <a:latin typeface="Cambria Math" panose="02040503050406030204" pitchFamily="18" charset="0"/>
                            <a:ea typeface="等线" panose="02010600030101010101" pitchFamily="2" charset="-122"/>
                          </a:rPr>
                        </m:ctrlPr>
                      </m:dPr>
                      <m:e>
                        <m:r>
                          <a:rPr lang="en-US" altLang="zh-CN" sz="1008" b="1" i="1">
                            <a:latin typeface="Cambria Math" panose="02040503050406030204" pitchFamily="18" charset="0"/>
                            <a:ea typeface="等线" panose="02010600030101010101" pitchFamily="2" charset="-122"/>
                          </a:rPr>
                          <m:t>𝒓</m:t>
                        </m:r>
                      </m:e>
                    </m:d>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𝟏𝟐𝟓𝟎</m:t>
                    </m:r>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𝟐𝟓𝟎</m:t>
                    </m:r>
                    <m:r>
                      <a:rPr lang="en-US" altLang="zh-CN" sz="1008" b="1" i="1">
                        <a:latin typeface="Cambria Math" panose="02040503050406030204" pitchFamily="18" charset="0"/>
                        <a:ea typeface="等线" panose="02010600030101010101" pitchFamily="2" charset="-122"/>
                      </a:rPr>
                      <m:t>𝒓</m:t>
                    </m:r>
                  </m:oMath>
                </a14:m>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en-US" altLang="zh-CN" sz="1008" dirty="0">
                    <a:latin typeface="Garamond" panose="02020404030301010803" pitchFamily="18" charset="0"/>
                    <a:ea typeface="SimSun" panose="02010600030101010101" pitchFamily="2" charset="-122"/>
                  </a:rPr>
                  <a:t>1250</a:t>
                </a:r>
                <a:r>
                  <a:rPr lang="zh-CN" altLang="en-US" sz="1008" dirty="0">
                    <a:latin typeface="Garamond" panose="02020404030301010803" pitchFamily="18" charset="0"/>
                    <a:ea typeface="SimSun" panose="02010600030101010101" pitchFamily="2" charset="-122"/>
                  </a:rPr>
                  <a:t>表示</a:t>
                </a:r>
                <a:r>
                  <a:rPr lang="zh-CN" altLang="en-US" sz="1008" b="1" dirty="0">
                    <a:latin typeface="Garamond" panose="02020404030301010803" pitchFamily="18" charset="0"/>
                    <a:ea typeface="SimSun" panose="02010600030101010101" pitchFamily="2" charset="-122"/>
                  </a:rPr>
                  <a:t>即使利率为零时也有的投资量，称自主投资</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en-US" altLang="zh-CN" sz="1008" dirty="0">
                    <a:latin typeface="Garamond" panose="02020404030301010803" pitchFamily="18" charset="0"/>
                    <a:ea typeface="SimSun" panose="02010600030101010101" pitchFamily="2" charset="-122"/>
                  </a:rPr>
                  <a:t>250</a:t>
                </a:r>
                <a:r>
                  <a:rPr lang="zh-CN" altLang="en-US" sz="1008" dirty="0">
                    <a:latin typeface="Garamond" panose="02020404030301010803" pitchFamily="18" charset="0"/>
                    <a:ea typeface="SimSun" panose="02010600030101010101" pitchFamily="2" charset="-122"/>
                  </a:rPr>
                  <a:t>是系数，表示利率每上升或下降</a:t>
                </a:r>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个百分点，投资会减少或增加的数量，称为</a:t>
                </a:r>
                <a:r>
                  <a:rPr lang="zh-CN" altLang="en-US" sz="1008" b="1" dirty="0">
                    <a:latin typeface="Garamond" panose="02020404030301010803" pitchFamily="18" charset="0"/>
                    <a:ea typeface="SimSun" panose="02010600030101010101" pitchFamily="2" charset="-122"/>
                  </a:rPr>
                  <a:t>利率对投资需求的影响系数</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投资函数也可以写成：</a:t>
                </a:r>
                <a:endParaRPr lang="en-US" altLang="zh-CN" sz="1008" dirty="0">
                  <a:latin typeface="Garamond" panose="02020404030301010803" pitchFamily="18" charset="0"/>
                  <a:ea typeface="SimSun" panose="02010600030101010101" pitchFamily="2" charset="-122"/>
                </a:endParaRPr>
              </a:p>
              <a:p>
                <a:pPr eaLnBrk="1" hangingPunct="1"/>
                <a14:m>
                  <m:oMath xmlns:m="http://schemas.openxmlformats.org/officeDocument/2006/math">
                    <m:r>
                      <a:rPr lang="en-US" altLang="zh-CN" sz="1008" i="1">
                        <a:latin typeface="Cambria Math" panose="02040503050406030204" pitchFamily="18" charset="0"/>
                        <a:ea typeface="等线" panose="02010600030101010101" pitchFamily="2" charset="-122"/>
                      </a:rPr>
                      <m:t>𝑖</m:t>
                    </m:r>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𝑖</m:t>
                    </m:r>
                    <m:d>
                      <m:dPr>
                        <m:ctrlPr>
                          <a:rPr lang="en-US" altLang="zh-CN" sz="1008" i="1">
                            <a:latin typeface="Cambria Math" panose="02040503050406030204" pitchFamily="18" charset="0"/>
                            <a:ea typeface="等线" panose="02010600030101010101" pitchFamily="2" charset="-122"/>
                          </a:rPr>
                        </m:ctrlPr>
                      </m:dPr>
                      <m:e>
                        <m:r>
                          <a:rPr lang="en-US" altLang="zh-CN" sz="1008" i="1">
                            <a:latin typeface="Cambria Math" panose="02040503050406030204" pitchFamily="18" charset="0"/>
                            <a:ea typeface="等线" panose="02010600030101010101" pitchFamily="2" charset="-122"/>
                          </a:rPr>
                          <m:t>𝑟</m:t>
                        </m:r>
                      </m:e>
                    </m:d>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𝑒</m:t>
                    </m:r>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𝑑𝑟</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右图的投资需求曲线也叫做</a:t>
                </a:r>
                <a:r>
                  <a:rPr lang="zh-CN" altLang="en-US" sz="1008" b="1" dirty="0">
                    <a:latin typeface="Garamond" panose="02020404030301010803" pitchFamily="18" charset="0"/>
                    <a:ea typeface="SimSun" panose="02010600030101010101" pitchFamily="2" charset="-122"/>
                  </a:rPr>
                  <a:t>投资的边际效率曲线</a:t>
                </a:r>
                <a:r>
                  <a:rPr lang="zh-CN" altLang="en-US" sz="1008" dirty="0">
                    <a:latin typeface="Garamond" panose="02020404030301010803" pitchFamily="18" charset="0"/>
                    <a:ea typeface="SimSun" panose="02010600030101010101" pitchFamily="2" charset="-122"/>
                  </a:rPr>
                  <a:t>。</a:t>
                </a:r>
              </a:p>
            </p:txBody>
          </p:sp>
        </mc:Choice>
        <mc:Fallback xmlns="">
          <p:sp>
            <p:nvSpPr>
              <p:cNvPr id="8195" name="Rectangle 3"/>
              <p:cNvSpPr>
                <a:spLocks noGrp="1" noRot="1" noChangeAspect="1" noMove="1" noResize="1" noEditPoints="1" noAdjustHandles="1" noChangeArrowheads="1" noChangeShapeType="1" noTextEdit="1"/>
              </p:cNvSpPr>
              <p:nvPr>
                <p:ph type="body" idx="1"/>
              </p:nvPr>
            </p:nvSpPr>
            <p:spPr>
              <a:xfrm>
                <a:off x="173504" y="650255"/>
                <a:ext cx="2030987" cy="2566960"/>
              </a:xfrm>
              <a:blipFill>
                <a:blip r:embed="rId3"/>
                <a:stretch>
                  <a:fillRect/>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7FD29120-FF75-F03A-CAA3-F4DB509A4284}"/>
              </a:ext>
            </a:extLst>
          </p:cNvPr>
          <p:cNvSpPr>
            <a:spLocks noGrp="1"/>
          </p:cNvSpPr>
          <p:nvPr>
            <p:ph type="title"/>
          </p:nvPr>
        </p:nvSpPr>
        <p:spPr/>
        <p:txBody>
          <a:bodyPr/>
          <a:lstStyle/>
          <a:p>
            <a:r>
              <a:rPr kumimoji="1" lang="zh-CN" altLang="en-US" dirty="0"/>
              <a:t>投资曲线</a:t>
            </a:r>
          </a:p>
        </p:txBody>
      </p:sp>
      <p:sp>
        <p:nvSpPr>
          <p:cNvPr id="5" name="灯片编号占位符 2">
            <a:extLst>
              <a:ext uri="{FF2B5EF4-FFF2-40B4-BE49-F238E27FC236}">
                <a16:creationId xmlns:a16="http://schemas.microsoft.com/office/drawing/2014/main" id="{EA2C68A2-37FA-5853-3F75-EAF6EE8696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9</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54781E2-E560-8C2F-7F68-DE5246DD7CB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414660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219" name="Rectangle 3"/>
              <p:cNvSpPr>
                <a:spLocks noGrp="1" noChangeArrowheads="1"/>
              </p:cNvSpPr>
              <p:nvPr>
                <p:ph type="body" idx="1"/>
              </p:nvPr>
            </p:nvSpPr>
            <p:spPr>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p>
                <a:pPr eaLnBrk="1" hangingPunct="1"/>
                <a:r>
                  <a:rPr lang="zh-CN" altLang="en-US" sz="1008" b="1" dirty="0">
                    <a:latin typeface="Garamond" panose="02020404030301010803" pitchFamily="18" charset="0"/>
                    <a:ea typeface="SimSun" panose="02010600030101010101" pitchFamily="2" charset="-122"/>
                  </a:rPr>
                  <a:t>资本边际效率（</a:t>
                </a:r>
                <a:r>
                  <a:rPr lang="en-US" altLang="zh-CN" sz="1008" b="1" dirty="0">
                    <a:latin typeface="Garamond" panose="02020404030301010803" pitchFamily="18" charset="0"/>
                    <a:ea typeface="SimSun" panose="02010600030101010101" pitchFamily="2" charset="-122"/>
                  </a:rPr>
                  <a:t>marginal efficiency of capital, MEC</a:t>
                </a:r>
                <a:r>
                  <a:rPr lang="zh-CN" altLang="en-US" sz="1008" b="1" dirty="0">
                    <a:latin typeface="Garamond" panose="02020404030301010803" pitchFamily="18" charset="0"/>
                    <a:ea typeface="SimSun" panose="02010600030101010101" pitchFamily="2" charset="-122"/>
                  </a:rPr>
                  <a:t>）</a:t>
                </a:r>
                <a:r>
                  <a:rPr lang="zh-CN" altLang="en-US" sz="1008" dirty="0">
                    <a:latin typeface="Garamond" panose="02020404030301010803" pitchFamily="18" charset="0"/>
                    <a:ea typeface="SimSun" panose="02010600030101010101" pitchFamily="2" charset="-122"/>
                  </a:rPr>
                  <a:t>是一种贴现率，这种</a:t>
                </a:r>
                <a:r>
                  <a:rPr lang="zh-CN" altLang="en-US" sz="1008" u="sng" dirty="0">
                    <a:solidFill>
                      <a:srgbClr val="FF0000"/>
                    </a:solidFill>
                    <a:latin typeface="Garamond" panose="02020404030301010803" pitchFamily="18" charset="0"/>
                    <a:ea typeface="SimSun" panose="02010600030101010101" pitchFamily="2" charset="-122"/>
                  </a:rPr>
                  <a:t>贴现率</a:t>
                </a:r>
                <a:r>
                  <a:rPr lang="zh-CN" altLang="en-US" sz="1008" dirty="0">
                    <a:latin typeface="Garamond" panose="02020404030301010803" pitchFamily="18" charset="0"/>
                    <a:ea typeface="SimSun" panose="02010600030101010101" pitchFamily="2" charset="-122"/>
                  </a:rPr>
                  <a:t>正好使一项资本物品的使用期限内各预期收益的</a:t>
                </a:r>
                <a:r>
                  <a:rPr lang="zh-CN" altLang="en-US" sz="1008" u="sng" dirty="0">
                    <a:solidFill>
                      <a:srgbClr val="FF0000"/>
                    </a:solidFill>
                    <a:latin typeface="Garamond" panose="02020404030301010803" pitchFamily="18" charset="0"/>
                    <a:ea typeface="SimSun" panose="02010600030101010101" pitchFamily="2" charset="-122"/>
                  </a:rPr>
                  <a:t>现值之和</a:t>
                </a:r>
                <a:r>
                  <a:rPr lang="zh-CN" altLang="en-US" sz="1008" dirty="0">
                    <a:latin typeface="Garamond" panose="02020404030301010803" pitchFamily="18" charset="0"/>
                    <a:ea typeface="SimSun" panose="02010600030101010101" pitchFamily="2" charset="-122"/>
                  </a:rPr>
                  <a:t>等于这项资本品的供给价格或者重置成本。</a:t>
                </a:r>
                <a:endParaRPr lang="en-US" altLang="zh-CN" sz="1008" dirty="0">
                  <a:latin typeface="Garamond" panose="02020404030301010803" pitchFamily="18" charset="0"/>
                  <a:ea typeface="SimSun" panose="02010600030101010101" pitchFamily="2" charset="-122"/>
                </a:endParaRPr>
              </a:p>
              <a:p>
                <a:pPr eaLnBrk="1" hangingPunct="1"/>
                <a:r>
                  <a:rPr lang="zh-CN" altLang="en-US" sz="1008" b="1" dirty="0">
                    <a:latin typeface="Garamond" panose="02020404030301010803" pitchFamily="18" charset="0"/>
                    <a:ea typeface="SimSun" panose="02010600030101010101" pitchFamily="2" charset="-122"/>
                  </a:rPr>
                  <a:t>贴现率和现值</a:t>
                </a:r>
                <a:endParaRPr lang="en-US" altLang="zh-CN" sz="1008" b="1"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假定本金是</a:t>
                </a:r>
                <a:r>
                  <a:rPr lang="en-US" altLang="zh-CN" sz="1008" dirty="0">
                    <a:latin typeface="Garamond" panose="02020404030301010803" pitchFamily="18" charset="0"/>
                    <a:ea typeface="SimSun" panose="02010600030101010101" pitchFamily="2" charset="-122"/>
                  </a:rPr>
                  <a:t>100</a:t>
                </a:r>
                <a:r>
                  <a:rPr lang="zh-CN" altLang="en-US" sz="1008" dirty="0">
                    <a:latin typeface="Garamond" panose="02020404030301010803" pitchFamily="18" charset="0"/>
                    <a:ea typeface="SimSun" panose="02010600030101010101" pitchFamily="2" charset="-122"/>
                  </a:rPr>
                  <a:t>美元，年利率是</a:t>
                </a:r>
                <a:r>
                  <a:rPr lang="en-US" altLang="zh-CN" sz="1008" dirty="0">
                    <a:latin typeface="Garamond" panose="02020404030301010803" pitchFamily="18" charset="0"/>
                    <a:ea typeface="SimSun" panose="02010600030101010101" pitchFamily="2" charset="-122"/>
                  </a:rPr>
                  <a:t>5%</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第一年本利和：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100</m:t>
                    </m:r>
                    <m:r>
                      <a:rPr lang="zh-CN" altLang="en-US" sz="1008" i="1" dirty="0">
                        <a:latin typeface="Cambria Math" panose="02040503050406030204" pitchFamily="18" charset="0"/>
                        <a:ea typeface="楷体" panose="02010609060101010101" pitchFamily="49" charset="-122"/>
                      </a:rPr>
                      <m:t>（</m:t>
                    </m:r>
                    <m:r>
                      <a:rPr lang="en-US" altLang="zh-CN" sz="1008" i="1" dirty="0">
                        <a:latin typeface="Cambria Math" panose="02040503050406030204" pitchFamily="18" charset="0"/>
                        <a:ea typeface="楷体" panose="02010609060101010101" pitchFamily="49" charset="-122"/>
                      </a:rPr>
                      <m:t>1+5%</m:t>
                    </m:r>
                    <m:r>
                      <a:rPr lang="zh-CN" altLang="en-US" sz="1008" i="1" dirty="0">
                        <a:latin typeface="Cambria Math" panose="02040503050406030204" pitchFamily="18" charset="0"/>
                        <a:ea typeface="楷体" panose="02010609060101010101" pitchFamily="49" charset="-122"/>
                      </a:rPr>
                      <m:t>）</m:t>
                    </m:r>
                    <m:r>
                      <a:rPr lang="en-US" altLang="zh-CN" sz="1008" i="1" dirty="0">
                        <a:latin typeface="Cambria Math" panose="02040503050406030204" pitchFamily="18" charset="0"/>
                        <a:ea typeface="楷体" panose="02010609060101010101" pitchFamily="49" charset="-122"/>
                      </a:rPr>
                      <m:t>=105</m:t>
                    </m:r>
                    <m:r>
                      <a:rPr lang="zh-CN" altLang="en-US" sz="1008" i="1" dirty="0">
                        <a:latin typeface="Cambria Math" panose="02040503050406030204" pitchFamily="18" charset="0"/>
                        <a:ea typeface="楷体" panose="02010609060101010101" pitchFamily="49" charset="-122"/>
                      </a:rPr>
                      <m:t>美元</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第二年本利和：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105</m:t>
                    </m:r>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r>
                      <a:rPr lang="en-US" altLang="zh-CN" sz="1008" i="1" dirty="0">
                        <a:latin typeface="Cambria Math" panose="02040503050406030204" pitchFamily="18" charset="0"/>
                        <a:ea typeface="楷体" panose="02010609060101010101" pitchFamily="49" charset="-122"/>
                      </a:rPr>
                      <m:t>=100</m:t>
                    </m:r>
                    <m:sSup>
                      <m:sSupPr>
                        <m:ctrlPr>
                          <a:rPr lang="en-US" altLang="zh-CN" sz="1008" i="1" dirty="0">
                            <a:latin typeface="Cambria Math" panose="02040503050406030204" pitchFamily="18" charset="0"/>
                            <a:ea typeface="楷体" panose="02010609060101010101" pitchFamily="49" charset="-122"/>
                          </a:rPr>
                        </m:ctrlPr>
                      </m:sSupPr>
                      <m:e>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e>
                      <m:sup>
                        <m:r>
                          <a:rPr lang="en-US" altLang="zh-CN" sz="1008" i="1" dirty="0">
                            <a:latin typeface="Cambria Math" panose="02040503050406030204" pitchFamily="18" charset="0"/>
                            <a:ea typeface="楷体" panose="02010609060101010101" pitchFamily="49" charset="-122"/>
                          </a:rPr>
                          <m:t>2</m:t>
                        </m:r>
                      </m:sup>
                    </m:sSup>
                    <m:r>
                      <a:rPr lang="en-US" altLang="zh-CN" sz="1008" i="1" dirty="0">
                        <a:latin typeface="Cambria Math" panose="02040503050406030204" pitchFamily="18" charset="0"/>
                        <a:ea typeface="楷体" panose="02010609060101010101" pitchFamily="49" charset="-122"/>
                      </a:rPr>
                      <m:t>=110.25</m:t>
                    </m:r>
                    <m:r>
                      <a:rPr lang="zh-CN" altLang="en-US" sz="1008" i="1" dirty="0">
                        <a:latin typeface="Cambria Math" panose="02040503050406030204" pitchFamily="18" charset="0"/>
                        <a:ea typeface="楷体" panose="02010609060101010101" pitchFamily="49" charset="-122"/>
                      </a:rPr>
                      <m:t>美元</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第三年本利和：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110.25</m:t>
                    </m:r>
                    <m:d>
                      <m:dPr>
                        <m:ctrlPr>
                          <a:rPr lang="en-US" altLang="zh-CN"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r>
                      <a:rPr lang="en-US" altLang="zh-CN" sz="1008" i="1" dirty="0">
                        <a:latin typeface="Cambria Math" panose="02040503050406030204" pitchFamily="18" charset="0"/>
                        <a:ea typeface="楷体" panose="02010609060101010101" pitchFamily="49" charset="-122"/>
                      </a:rPr>
                      <m:t>=100</m:t>
                    </m:r>
                    <m:sSup>
                      <m:sSupPr>
                        <m:ctrlPr>
                          <a:rPr lang="en-US" altLang="zh-CN" sz="1008" i="1" dirty="0">
                            <a:latin typeface="Cambria Math" panose="02040503050406030204" pitchFamily="18" charset="0"/>
                            <a:ea typeface="楷体" panose="02010609060101010101" pitchFamily="49" charset="-122"/>
                          </a:rPr>
                        </m:ctrlPr>
                      </m:sSupPr>
                      <m:e>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e>
                      <m:sup>
                        <m:r>
                          <a:rPr lang="en-US" altLang="zh-CN" sz="1008" i="1" dirty="0">
                            <a:latin typeface="Cambria Math" panose="02040503050406030204" pitchFamily="18" charset="0"/>
                            <a:ea typeface="楷体" panose="02010609060101010101" pitchFamily="49" charset="-122"/>
                          </a:rPr>
                          <m:t>3</m:t>
                        </m:r>
                      </m:sup>
                    </m:sSup>
                    <m:r>
                      <a:rPr lang="en-US" altLang="zh-CN" sz="1008" i="1" dirty="0">
                        <a:latin typeface="Cambria Math" panose="02040503050406030204" pitchFamily="18" charset="0"/>
                        <a:ea typeface="楷体" panose="02010609060101010101" pitchFamily="49" charset="-122"/>
                      </a:rPr>
                      <m:t>=115.76</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以此类推，以</a:t>
                </a:r>
                <a:r>
                  <a:rPr lang="en-US" altLang="zh-CN" sz="1008" dirty="0">
                    <a:latin typeface="Garamond" panose="02020404030301010803" pitchFamily="18" charset="0"/>
                    <a:ea typeface="SimSun" panose="02010600030101010101" pitchFamily="2" charset="-122"/>
                  </a:rPr>
                  <a:t>r</a:t>
                </a:r>
                <a:r>
                  <a:rPr lang="zh-CN" altLang="en-US" sz="1008" dirty="0">
                    <a:latin typeface="Garamond" panose="02020404030301010803" pitchFamily="18" charset="0"/>
                    <a:ea typeface="SimSun" panose="02010600030101010101" pitchFamily="2" charset="-122"/>
                  </a:rPr>
                  <a:t>表示利率，</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0</m:t>
                        </m:r>
                      </m:sub>
                    </m:sSub>
                  </m:oMath>
                </a14:m>
                <a:r>
                  <a:rPr lang="zh-CN" altLang="en-US" sz="1008" dirty="0">
                    <a:latin typeface="Garamond" panose="02020404030301010803" pitchFamily="18" charset="0"/>
                    <a:ea typeface="SimSun" panose="02010600030101010101" pitchFamily="2" charset="-122"/>
                  </a:rPr>
                  <a:t>表示本金，</a:t>
                </a:r>
                <a:r>
                  <a:rPr lang="en-US" altLang="zh-CN" sz="1008"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1</m:t>
                        </m:r>
                      </m:sub>
                    </m:sSub>
                    <m:r>
                      <a:rPr lang="en-US" altLang="zh-CN" sz="1008">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2</m:t>
                        </m:r>
                      </m:sub>
                    </m:sSub>
                    <m:r>
                      <a:rPr lang="en-US" altLang="zh-CN" sz="1008" i="1">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3</m:t>
                        </m:r>
                      </m:sub>
                    </m:sSub>
                  </m:oMath>
                </a14:m>
                <a:r>
                  <a:rPr lang="zh-CN" altLang="en-US" sz="1008" dirty="0">
                    <a:latin typeface="Garamond" panose="02020404030301010803" pitchFamily="18" charset="0"/>
                    <a:ea typeface="SimSun" panose="02010600030101010101" pitchFamily="2" charset="-122"/>
                  </a:rPr>
                  <a:t>分别表示第</a:t>
                </a:r>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年、第二年、第三年的本利和，那么：</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a:t>
                </a:r>
                <a:r>
                  <a:rPr lang="en-US" altLang="zh-CN" sz="1008" dirty="0">
                    <a:latin typeface="Garamond" panose="02020404030301010803" pitchFamily="18" charset="0"/>
                    <a:ea typeface="SimSun" panose="02010600030101010101" pitchFamily="2" charset="-122"/>
                  </a:rPr>
                  <a:t>n</a:t>
                </a:r>
                <a:r>
                  <a:rPr lang="zh-CN" altLang="en-US" sz="1008" dirty="0">
                    <a:latin typeface="Garamond" panose="02020404030301010803" pitchFamily="18" charset="0"/>
                    <a:ea typeface="SimSun" panose="02010600030101010101" pitchFamily="2" charset="-122"/>
                  </a:rPr>
                  <a:t>年的本利和为：</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𝑛</m:t>
                        </m:r>
                      </m:sub>
                    </m:sSub>
                    <m:r>
                      <a:rPr lang="en-US" altLang="zh-CN" sz="1008" i="1">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0</m:t>
                        </m:r>
                      </m:sub>
                    </m:sSub>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oMath>
                </a14:m>
                <a:endParaRPr lang="en-US" altLang="zh-CN" sz="1008" dirty="0">
                  <a:latin typeface="Garamond" panose="02020404030301010803" pitchFamily="18" charset="0"/>
                  <a:ea typeface="SimSun" panose="02010600030101010101" pitchFamily="2" charset="-122"/>
                </a:endParaRPr>
              </a:p>
              <a:p>
                <a:pPr eaLnBrk="1" hangingPunct="1"/>
                <a:endParaRPr lang="en-US" altLang="zh-CN" sz="1008" dirty="0">
                  <a:latin typeface="Garamond" panose="02020404030301010803" pitchFamily="18" charset="0"/>
                  <a:ea typeface="SimSun" panose="02010600030101010101" pitchFamily="2" charset="-122"/>
                </a:endParaRPr>
              </a:p>
            </p:txBody>
          </p:sp>
        </mc:Choice>
        <mc:Fallback xmlns="">
          <p:sp>
            <p:nvSpPr>
              <p:cNvPr id="9219" name="Rectangle 3"/>
              <p:cNvSpPr>
                <a:spLocks noGrp="1" noRot="1" noChangeAspect="1" noMove="1" noResize="1" noEditPoints="1" noAdjustHandles="1" noChangeArrowheads="1" noChangeShapeType="1" noTextEdit="1"/>
              </p:cNvSpPr>
              <p:nvPr>
                <p:ph type="body" idx="1"/>
              </p:nvPr>
            </p:nvSpPr>
            <p:spPr>
              <a:blipFill>
                <a:blip r:embed="rId2"/>
                <a:stretch>
                  <a:fillRect l="-906" t="-9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灯片编号占位符 2">
            <a:extLst>
              <a:ext uri="{FF2B5EF4-FFF2-40B4-BE49-F238E27FC236}">
                <a16:creationId xmlns:a16="http://schemas.microsoft.com/office/drawing/2014/main" id="{9748D65C-7E9D-AF03-C055-64685163388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10</a:t>
            </a:fld>
            <a:endParaRPr lang="zh-CN" altLang="zh-CN" sz="856">
              <a:solidFill>
                <a:srgbClr val="777777"/>
              </a:solidFill>
              <a:ea typeface="宋体" panose="02010600030101010101" pitchFamily="2" charset="-122"/>
            </a:endParaRPr>
          </a:p>
        </p:txBody>
      </p:sp>
      <p:sp>
        <p:nvSpPr>
          <p:cNvPr id="5" name="标题 4">
            <a:extLst>
              <a:ext uri="{FF2B5EF4-FFF2-40B4-BE49-F238E27FC236}">
                <a16:creationId xmlns:a16="http://schemas.microsoft.com/office/drawing/2014/main" id="{308B85F2-EFFC-3049-B818-5B4ACFD677C2}"/>
              </a:ext>
            </a:extLst>
          </p:cNvPr>
          <p:cNvSpPr>
            <a:spLocks noGrp="1"/>
          </p:cNvSpPr>
          <p:nvPr>
            <p:ph type="title"/>
          </p:nvPr>
        </p:nvSpPr>
        <p:spPr/>
        <p:txBody>
          <a:bodyPr/>
          <a:lstStyle/>
          <a:p>
            <a:r>
              <a:rPr kumimoji="1" lang="zh-CN" altLang="en-US" dirty="0"/>
              <a:t>资本的边际效率</a:t>
            </a:r>
          </a:p>
        </p:txBody>
      </p:sp>
      <p:sp>
        <p:nvSpPr>
          <p:cNvPr id="3" name="页脚占位符 1">
            <a:extLst>
              <a:ext uri="{FF2B5EF4-FFF2-40B4-BE49-F238E27FC236}">
                <a16:creationId xmlns:a16="http://schemas.microsoft.com/office/drawing/2014/main" id="{659E0016-0321-3B82-B0BA-CDF0A8B88AAC}"/>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85713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10" dirty="0">
                    <a:latin typeface="Garamond" panose="02020404030301010803" pitchFamily="18" charset="0"/>
                    <a:ea typeface="SimSun" panose="02010600030101010101" pitchFamily="2" charset="-122"/>
                  </a:rPr>
                  <a:t>反过来看，若已知利率和本利和，利用同时求本金。</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由</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𝑛</m:t>
                        </m:r>
                      </m:sub>
                    </m:sSub>
                    <m:r>
                      <a:rPr lang="en-US" altLang="zh-CN" sz="1210" i="1">
                        <a:latin typeface="Cambria Math" panose="02040503050406030204" pitchFamily="18" charset="0"/>
                        <a:ea typeface="楷体" panose="02010609060101010101" pitchFamily="49" charset="-122"/>
                      </a:rPr>
                      <m:t>=</m:t>
                    </m:r>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i="1">
                                <a:latin typeface="Cambria Math" panose="02040503050406030204" pitchFamily="18" charset="0"/>
                                <a:ea typeface="楷体" panose="02010609060101010101" pitchFamily="49" charset="-122"/>
                              </a:rPr>
                              <m:t>1+</m:t>
                            </m:r>
                            <m:r>
                              <a:rPr lang="en-US" altLang="zh-CN" sz="1210" i="1">
                                <a:latin typeface="Cambria Math" panose="02040503050406030204" pitchFamily="18" charset="0"/>
                                <a:ea typeface="楷体" panose="02010609060101010101" pitchFamily="49" charset="-122"/>
                              </a:rPr>
                              <m:t>𝑟</m:t>
                            </m:r>
                          </m:e>
                        </m:d>
                      </m:e>
                      <m:sup>
                        <m:r>
                          <a:rPr lang="en-US" altLang="zh-CN" sz="1210" i="1">
                            <a:latin typeface="Cambria Math" panose="02040503050406030204" pitchFamily="18" charset="0"/>
                            <a:ea typeface="楷体" panose="02010609060101010101" pitchFamily="49" charset="-122"/>
                          </a:rPr>
                          <m:t>𝑛</m:t>
                        </m:r>
                      </m:sup>
                    </m:sSup>
                  </m:oMath>
                </a14:m>
                <a:r>
                  <a:rPr lang="zh-CN" altLang="en-US" sz="1210" dirty="0">
                    <a:latin typeface="Garamond" panose="02020404030301010803" pitchFamily="18" charset="0"/>
                    <a:ea typeface="SimSun" panose="02010600030101010101" pitchFamily="2" charset="-122"/>
                  </a:rPr>
                  <a:t>得：</a:t>
                </a:r>
                <a:r>
                  <a:rPr lang="en-US" altLang="zh-CN" sz="1210"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r>
                      <a:rPr lang="en-US" altLang="zh-CN" sz="1210" i="1">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𝑛</m:t>
                            </m:r>
                          </m:sub>
                        </m:sSub>
                      </m:num>
                      <m:den>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i="1">
                                    <a:latin typeface="Cambria Math" panose="02040503050406030204" pitchFamily="18" charset="0"/>
                                    <a:ea typeface="楷体" panose="02010609060101010101" pitchFamily="49" charset="-122"/>
                                  </a:rPr>
                                  <m:t>1+</m:t>
                                </m:r>
                                <m:r>
                                  <a:rPr lang="en-US" altLang="zh-CN" sz="1210" i="1">
                                    <a:latin typeface="Cambria Math" panose="02040503050406030204" pitchFamily="18" charset="0"/>
                                    <a:ea typeface="楷体" panose="02010609060101010101" pitchFamily="49" charset="-122"/>
                                  </a:rPr>
                                  <m:t>𝑟</m:t>
                                </m:r>
                              </m:e>
                            </m:d>
                          </m:e>
                          <m:sup>
                            <m:r>
                              <a:rPr lang="en-US" altLang="zh-CN" sz="1210" i="1">
                                <a:latin typeface="Cambria Math" panose="02040503050406030204" pitchFamily="18" charset="0"/>
                                <a:ea typeface="楷体" panose="02010609060101010101" pitchFamily="49" charset="-122"/>
                              </a:rPr>
                              <m:t>𝑛</m:t>
                            </m:r>
                          </m:sup>
                        </m:sSup>
                      </m:den>
                    </m:f>
                  </m:oMath>
                </a14:m>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假定利率为</a:t>
                </a:r>
                <a:r>
                  <a:rPr lang="en-US" altLang="zh-CN" sz="1210" dirty="0">
                    <a:latin typeface="Garamond" panose="02020404030301010803" pitchFamily="18" charset="0"/>
                    <a:ea typeface="SimSun" panose="02010600030101010101" pitchFamily="2" charset="-122"/>
                  </a:rPr>
                  <a:t>5%</a:t>
                </a:r>
                <a:r>
                  <a:rPr lang="zh-CN" altLang="en-US" sz="1210" dirty="0">
                    <a:latin typeface="Garamond" panose="02020404030301010803" pitchFamily="18" charset="0"/>
                    <a:ea typeface="SimSun" panose="02010600030101010101" pitchFamily="2" charset="-122"/>
                  </a:rPr>
                  <a:t>，第一年后的本利和是</a:t>
                </a:r>
                <a:r>
                  <a:rPr lang="en-US" altLang="zh-CN" sz="1210" dirty="0">
                    <a:latin typeface="Garamond" panose="02020404030301010803" pitchFamily="18" charset="0"/>
                    <a:ea typeface="SimSun" panose="02010600030101010101" pitchFamily="2" charset="-122"/>
                  </a:rPr>
                  <a:t>105</a:t>
                </a:r>
                <a:r>
                  <a:rPr lang="zh-CN" altLang="en-US" sz="1210" dirty="0">
                    <a:latin typeface="Garamond" panose="02020404030301010803" pitchFamily="18" charset="0"/>
                    <a:ea typeface="SimSun" panose="02010600030101010101" pitchFamily="2" charset="-122"/>
                  </a:rPr>
                  <a:t>美元，则本金</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r>
                      <a:rPr lang="en-US" altLang="zh-CN" sz="1210" i="1">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i="1">
                            <a:latin typeface="Cambria Math" panose="02040503050406030204" pitchFamily="18" charset="0"/>
                            <a:ea typeface="楷体" panose="02010609060101010101" pitchFamily="49" charset="-122"/>
                          </a:rPr>
                          <m:t>105</m:t>
                        </m:r>
                      </m:num>
                      <m:den>
                        <m:r>
                          <a:rPr lang="en-US" altLang="zh-CN" sz="1210" i="1">
                            <a:latin typeface="Cambria Math" panose="02040503050406030204" pitchFamily="18" charset="0"/>
                            <a:ea typeface="楷体" panose="02010609060101010101" pitchFamily="49" charset="-122"/>
                          </a:rPr>
                          <m:t>1+5%</m:t>
                        </m:r>
                      </m:den>
                    </m:f>
                    <m:r>
                      <a:rPr lang="en-US" altLang="zh-CN" sz="1210" i="1">
                        <a:latin typeface="Cambria Math" panose="02040503050406030204" pitchFamily="18" charset="0"/>
                        <a:ea typeface="楷体" panose="02010609060101010101" pitchFamily="49" charset="-122"/>
                      </a:rPr>
                      <m:t>=</m:t>
                    </m:r>
                  </m:oMath>
                </a14:m>
                <a:r>
                  <a:rPr lang="en-US" altLang="zh-CN" sz="1210" dirty="0">
                    <a:latin typeface="Garamond" panose="02020404030301010803" pitchFamily="18" charset="0"/>
                    <a:ea typeface="SimSun" panose="02010600030101010101" pitchFamily="2" charset="-122"/>
                  </a:rPr>
                  <a:t>100</a:t>
                </a:r>
              </a:p>
              <a:p>
                <a:r>
                  <a:rPr lang="zh-CN" altLang="en-US" sz="1210" dirty="0">
                    <a:latin typeface="Garamond" panose="02020404030301010803" pitchFamily="18" charset="0"/>
                    <a:ea typeface="SimSun" panose="02010600030101010101" pitchFamily="2" charset="-122"/>
                  </a:rPr>
                  <a:t>也就是说，在利率是</a:t>
                </a:r>
                <a:r>
                  <a:rPr lang="en-US" altLang="zh-CN" sz="1210" dirty="0">
                    <a:latin typeface="Garamond" panose="02020404030301010803" pitchFamily="18" charset="0"/>
                    <a:ea typeface="SimSun" panose="02010600030101010101" pitchFamily="2" charset="-122"/>
                  </a:rPr>
                  <a:t>5%</a:t>
                </a:r>
                <a:r>
                  <a:rPr lang="zh-CN" altLang="en-US" sz="1210" dirty="0">
                    <a:latin typeface="Garamond" panose="02020404030301010803" pitchFamily="18" charset="0"/>
                    <a:ea typeface="SimSun" panose="02010600030101010101" pitchFamily="2" charset="-122"/>
                  </a:rPr>
                  <a:t>时，</a:t>
                </a:r>
                <a:r>
                  <a:rPr lang="en-US" altLang="zh-CN" sz="1210" dirty="0">
                    <a:latin typeface="Garamond" panose="02020404030301010803" pitchFamily="18" charset="0"/>
                    <a:ea typeface="SimSun" panose="02010600030101010101" pitchFamily="2" charset="-122"/>
                  </a:rPr>
                  <a:t>1</a:t>
                </a:r>
                <a:r>
                  <a:rPr lang="zh-CN" altLang="en-US" sz="1210" dirty="0">
                    <a:latin typeface="Garamond" panose="02020404030301010803" pitchFamily="18" charset="0"/>
                    <a:ea typeface="SimSun" panose="02010600030101010101" pitchFamily="2" charset="-122"/>
                  </a:rPr>
                  <a:t>年后</a:t>
                </a:r>
                <a:r>
                  <a:rPr lang="en-US" altLang="zh-CN" sz="1210" dirty="0">
                    <a:latin typeface="Garamond" panose="02020404030301010803" pitchFamily="18" charset="0"/>
                    <a:ea typeface="SimSun" panose="02010600030101010101" pitchFamily="2" charset="-122"/>
                  </a:rPr>
                  <a:t>105</a:t>
                </a:r>
                <a:r>
                  <a:rPr lang="zh-CN" altLang="en-US" sz="1210" dirty="0">
                    <a:latin typeface="Garamond" panose="02020404030301010803" pitchFamily="18" charset="0"/>
                    <a:ea typeface="SimSun" panose="02010600030101010101" pitchFamily="2" charset="-122"/>
                  </a:rPr>
                  <a:t>美元的现值是</a:t>
                </a:r>
                <a:r>
                  <a:rPr lang="en-US" altLang="zh-CN" sz="1210" dirty="0">
                    <a:latin typeface="Garamond" panose="02020404030301010803" pitchFamily="18" charset="0"/>
                    <a:ea typeface="SimSun" panose="02010600030101010101" pitchFamily="2" charset="-122"/>
                  </a:rPr>
                  <a:t>100</a:t>
                </a:r>
                <a:r>
                  <a:rPr lang="zh-CN" altLang="en-US" sz="1210" dirty="0">
                    <a:latin typeface="Garamond" panose="02020404030301010803" pitchFamily="18" charset="0"/>
                    <a:ea typeface="SimSun" panose="02010600030101010101" pitchFamily="2" charset="-122"/>
                  </a:rPr>
                  <a:t>美元。同样的利率下，</a:t>
                </a:r>
                <a:r>
                  <a:rPr lang="en-US" altLang="zh-CN" sz="1210" dirty="0">
                    <a:latin typeface="Garamond" panose="02020404030301010803" pitchFamily="18" charset="0"/>
                    <a:ea typeface="SimSun" panose="02010600030101010101" pitchFamily="2" charset="-122"/>
                  </a:rPr>
                  <a:t>2</a:t>
                </a:r>
                <a:r>
                  <a:rPr lang="zh-CN" altLang="en-US" sz="1210" dirty="0">
                    <a:latin typeface="Garamond" panose="02020404030301010803" pitchFamily="18" charset="0"/>
                    <a:ea typeface="SimSun" panose="02010600030101010101" pitchFamily="2" charset="-122"/>
                  </a:rPr>
                  <a:t>年后的</a:t>
                </a:r>
                <a:r>
                  <a:rPr lang="en-US" altLang="zh-CN" sz="1210" dirty="0">
                    <a:latin typeface="Garamond" panose="02020404030301010803" pitchFamily="18" charset="0"/>
                    <a:ea typeface="SimSun" panose="02010600030101010101" pitchFamily="2" charset="-122"/>
                  </a:rPr>
                  <a:t>110.25</a:t>
                </a:r>
                <a:r>
                  <a:rPr lang="zh-CN" altLang="en-US" sz="1210" dirty="0">
                    <a:latin typeface="Garamond" panose="02020404030301010803" pitchFamily="18" charset="0"/>
                    <a:ea typeface="SimSun" panose="02010600030101010101" pitchFamily="2" charset="-122"/>
                  </a:rPr>
                  <a:t>美元以及</a:t>
                </a:r>
                <a:r>
                  <a:rPr lang="en-US" altLang="zh-CN" sz="1210" dirty="0">
                    <a:latin typeface="Garamond" panose="02020404030301010803" pitchFamily="18" charset="0"/>
                    <a:ea typeface="SimSun" panose="02010600030101010101" pitchFamily="2" charset="-122"/>
                  </a:rPr>
                  <a:t>3</a:t>
                </a:r>
                <a:r>
                  <a:rPr lang="zh-CN" altLang="en-US" sz="1210" dirty="0">
                    <a:latin typeface="Garamond" panose="02020404030301010803" pitchFamily="18" charset="0"/>
                    <a:ea typeface="SimSun" panose="02010600030101010101" pitchFamily="2" charset="-122"/>
                  </a:rPr>
                  <a:t>年后的</a:t>
                </a:r>
                <a:r>
                  <a:rPr lang="en-US" altLang="zh-CN" sz="1210" dirty="0">
                    <a:latin typeface="Garamond" panose="02020404030301010803" pitchFamily="18" charset="0"/>
                    <a:ea typeface="SimSun" panose="02010600030101010101" pitchFamily="2" charset="-122"/>
                  </a:rPr>
                  <a:t>115.76</a:t>
                </a:r>
                <a:r>
                  <a:rPr lang="zh-CN" altLang="en-US" sz="1210" dirty="0">
                    <a:latin typeface="Garamond" panose="02020404030301010803" pitchFamily="18" charset="0"/>
                    <a:ea typeface="SimSun" panose="02010600030101010101" pitchFamily="2" charset="-122"/>
                  </a:rPr>
                  <a:t>美元的现值都是</a:t>
                </a:r>
                <a:r>
                  <a:rPr lang="en-US" altLang="zh-CN" sz="1210" dirty="0">
                    <a:latin typeface="Garamond" panose="02020404030301010803" pitchFamily="18" charset="0"/>
                    <a:ea typeface="SimSun" panose="02010600030101010101" pitchFamily="2" charset="-122"/>
                  </a:rPr>
                  <a:t>100</a:t>
                </a:r>
                <a:r>
                  <a:rPr lang="zh-CN" altLang="en-US" sz="1210" dirty="0">
                    <a:latin typeface="Garamond" panose="02020404030301010803" pitchFamily="18" charset="0"/>
                    <a:ea typeface="SimSun" panose="02010600030101010101" pitchFamily="2" charset="-122"/>
                  </a:rPr>
                  <a:t>美元。</a:t>
                </a:r>
                <a:endParaRPr lang="en-US" altLang="zh-CN" sz="1210"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4" name="灯片编号占位符 2">
            <a:extLst>
              <a:ext uri="{FF2B5EF4-FFF2-40B4-BE49-F238E27FC236}">
                <a16:creationId xmlns:a16="http://schemas.microsoft.com/office/drawing/2014/main" id="{12EBD1F8-0564-747F-604B-5257EF671D2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11</a:t>
            </a:fld>
            <a:endParaRPr lang="zh-CN" altLang="zh-CN" sz="856">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F1B77C40-C063-5099-DAF6-448D30114CD6}"/>
              </a:ext>
            </a:extLst>
          </p:cNvPr>
          <p:cNvSpPr>
            <a:spLocks noGrp="1"/>
          </p:cNvSpPr>
          <p:nvPr>
            <p:ph type="title"/>
          </p:nvPr>
        </p:nvSpPr>
        <p:spPr/>
        <p:txBody>
          <a:bodyPr/>
          <a:lstStyle/>
          <a:p>
            <a:r>
              <a:rPr kumimoji="1" lang="zh-CN" altLang="en-US" dirty="0"/>
              <a:t>资本的边际效率</a:t>
            </a:r>
          </a:p>
        </p:txBody>
      </p:sp>
      <p:sp>
        <p:nvSpPr>
          <p:cNvPr id="2" name="页脚占位符 1">
            <a:extLst>
              <a:ext uri="{FF2B5EF4-FFF2-40B4-BE49-F238E27FC236}">
                <a16:creationId xmlns:a16="http://schemas.microsoft.com/office/drawing/2014/main" id="{9A2D2230-9330-A7B6-1DF6-9B1A7D66971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57529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12</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资本的边际效率</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某企业投资购买一台机器，这台机器的使用期限是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年后全部耗损。在假定把人工、原材料及其他成本扣除后，各年的预期收益是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13310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年合计为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美元。如果贴现率是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，那么</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年内全部预期收益</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美元的现值是多少？</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6448945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13</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资本的边际效率</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65954" cy="1541061"/>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某企业投资购买一台机器，这台机器的使用期限是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年后全部耗损。在假定把人工、原材料及其他成本扣除后，各年的预期收益是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13310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年合计为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美元。如果贴现率是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，那么</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年内全部预期收益</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美元的现值是多少？</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m:rPr>
                            <m:sty m:val="p"/>
                          </m:rPr>
                          <a:rPr lang="en-US" altLang="zh-CN" sz="1210">
                            <a:latin typeface="Cambria Math" panose="02040503050406030204" pitchFamily="18" charset="0"/>
                            <a:ea typeface="楷体" panose="02010609060101010101" pitchFamily="49" charset="-122"/>
                          </a:rPr>
                          <m:t>R</m:t>
                        </m:r>
                      </m:e>
                      <m:sub>
                        <m:r>
                          <a:rPr lang="en-US" altLang="zh-CN" sz="1210">
                            <a:latin typeface="Cambria Math" panose="02040503050406030204" pitchFamily="18" charset="0"/>
                            <a:ea typeface="楷体" panose="02010609060101010101" pitchFamily="49" charset="-122"/>
                          </a:rPr>
                          <m:t>0</m:t>
                        </m:r>
                      </m:sub>
                    </m:sSub>
                    <m:r>
                      <a:rPr lang="en-US" altLang="zh-CN" sz="1210">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a:latin typeface="Cambria Math" panose="02040503050406030204" pitchFamily="18" charset="0"/>
                            <a:ea typeface="楷体" panose="02010609060101010101" pitchFamily="49" charset="-122"/>
                          </a:rPr>
                          <m:t>11000</m:t>
                        </m:r>
                      </m:num>
                      <m:den>
                        <m:r>
                          <a:rPr lang="en-US" altLang="zh-CN" sz="1210">
                            <a:latin typeface="Cambria Math" panose="02040503050406030204" pitchFamily="18" charset="0"/>
                            <a:ea typeface="楷体" panose="02010609060101010101" pitchFamily="49" charset="-122"/>
                          </a:rPr>
                          <m:t>1+10%</m:t>
                        </m:r>
                      </m:den>
                    </m:f>
                    <m:r>
                      <a:rPr lang="en-US" altLang="zh-CN" sz="1210">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a:latin typeface="Cambria Math" panose="02040503050406030204" pitchFamily="18" charset="0"/>
                            <a:ea typeface="楷体" panose="02010609060101010101" pitchFamily="49" charset="-122"/>
                          </a:rPr>
                          <m:t>12100</m:t>
                        </m:r>
                      </m:num>
                      <m:den>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a:latin typeface="Cambria Math" panose="02040503050406030204" pitchFamily="18" charset="0"/>
                                    <a:ea typeface="楷体" panose="02010609060101010101" pitchFamily="49" charset="-122"/>
                                  </a:rPr>
                                  <m:t>1+10%</m:t>
                                </m:r>
                              </m:e>
                            </m:d>
                          </m:e>
                          <m:sup>
                            <m:r>
                              <a:rPr lang="en-US" altLang="zh-CN" sz="1210">
                                <a:latin typeface="Cambria Math" panose="02040503050406030204" pitchFamily="18" charset="0"/>
                                <a:ea typeface="楷体" panose="02010609060101010101" pitchFamily="49" charset="-122"/>
                              </a:rPr>
                              <m:t>2</m:t>
                            </m:r>
                          </m:sup>
                        </m:sSup>
                      </m:den>
                    </m:f>
                    <m:r>
                      <a:rPr lang="en-US" altLang="zh-CN" sz="1210">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a:latin typeface="Cambria Math" panose="02040503050406030204" pitchFamily="18" charset="0"/>
                            <a:ea typeface="楷体" panose="02010609060101010101" pitchFamily="49" charset="-122"/>
                          </a:rPr>
                          <m:t>13310</m:t>
                        </m:r>
                      </m:num>
                      <m:den>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a:latin typeface="Cambria Math" panose="02040503050406030204" pitchFamily="18" charset="0"/>
                                    <a:ea typeface="楷体" panose="02010609060101010101" pitchFamily="49" charset="-122"/>
                                  </a:rPr>
                                  <m:t>1+10%</m:t>
                                </m:r>
                              </m:e>
                            </m:d>
                          </m:e>
                          <m:sup>
                            <m:r>
                              <a:rPr lang="en-US" altLang="zh-CN" sz="1210">
                                <a:latin typeface="Cambria Math" panose="02040503050406030204" pitchFamily="18" charset="0"/>
                                <a:ea typeface="楷体" panose="02010609060101010101" pitchFamily="49" charset="-122"/>
                              </a:rPr>
                              <m:t>3</m:t>
                            </m:r>
                          </m:sup>
                        </m:sSup>
                      </m:den>
                    </m:f>
                    <m:r>
                      <a:rPr lang="en-US" altLang="zh-CN" sz="1210">
                        <a:latin typeface="Cambria Math" panose="02040503050406030204" pitchFamily="18" charset="0"/>
                        <a:ea typeface="楷体" panose="02010609060101010101" pitchFamily="49" charset="-122"/>
                      </a:rPr>
                      <m:t>=30000</m:t>
                    </m:r>
                  </m:oMath>
                </a14:m>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65954" cy="1541061"/>
              </a:xfrm>
              <a:blipFill>
                <a:blip r:embed="rId2"/>
                <a:stretch>
                  <a:fillRect l="-304" t="-820" r="-608"/>
                </a:stretch>
              </a:blipFill>
              <a:ln>
                <a:noFill/>
              </a:ln>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BA68AD0B-E655-CA9B-D6DD-9448C14F8302}"/>
              </a:ext>
            </a:extLst>
          </p:cNvPr>
          <p:cNvSpPr/>
          <p:nvPr/>
        </p:nvSpPr>
        <p:spPr>
          <a:xfrm>
            <a:off x="326810" y="2319620"/>
            <a:ext cx="4110356" cy="867866"/>
          </a:xfrm>
          <a:prstGeom prst="rect">
            <a:avLst/>
          </a:prstGeom>
        </p:spPr>
        <p:txBody>
          <a:bodyPr wrap="square">
            <a:spAutoFit/>
          </a:bodyPr>
          <a:lstStyle/>
          <a:p>
            <a:pPr defTabSz="230520">
              <a:defRPr/>
            </a:pPr>
            <a:r>
              <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Note</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：若机器价格为</a:t>
            </a:r>
            <a:r>
              <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3</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万美元，那么，</a:t>
            </a:r>
            <a:r>
              <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10%</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的贴现率意味着这项投资</a:t>
            </a:r>
            <a:r>
              <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3</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年预期收益的</a:t>
            </a:r>
            <a:r>
              <a:rPr lang="zh-CN" altLang="en-US" sz="1008" b="1"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现值</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正好等于这项资本品的</a:t>
            </a:r>
            <a:r>
              <a:rPr lang="zh-CN" altLang="en-US" sz="1008" b="1"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供给价格</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a:t>
            </a:r>
            <a:endPar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endParaRPr>
          </a:p>
          <a:p>
            <a:pPr defTabSz="230520">
              <a:defRPr/>
            </a:pP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因此这一贴现率就是</a:t>
            </a:r>
            <a:r>
              <a:rPr lang="zh-CN" altLang="en-US" sz="1008" b="1" u="sng"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资本边际效率</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，它表明一个投资项目的收益应按照何种比例增长才能达到预期的收益，因此也代表该投资项目的</a:t>
            </a:r>
            <a:r>
              <a:rPr lang="zh-CN" altLang="en-US" sz="1008" b="1" u="sng"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预期利润率。</a:t>
            </a:r>
            <a:endParaRPr lang="en-US" altLang="zh-CN" sz="1008" b="1" u="sng"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1492257821"/>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a:extLst>
              <a:ext uri="{FF2B5EF4-FFF2-40B4-BE49-F238E27FC236}">
                <a16:creationId xmlns:a16="http://schemas.microsoft.com/office/drawing/2014/main" id="{29C1FF41-18D6-DBF2-4006-6E8CF3C3721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14</a:t>
            </a:fld>
            <a:endParaRPr lang="zh-CN" altLang="zh-CN" sz="856">
              <a:solidFill>
                <a:srgbClr val="777777"/>
              </a:solidFill>
              <a:ea typeface="宋体" panose="02010600030101010101" pitchFamily="2" charset="-122"/>
            </a:endParaRPr>
          </a:p>
        </p:txBody>
      </p:sp>
      <p:sp>
        <p:nvSpPr>
          <p:cNvPr id="8" name="标题 7">
            <a:extLst>
              <a:ext uri="{FF2B5EF4-FFF2-40B4-BE49-F238E27FC236}">
                <a16:creationId xmlns:a16="http://schemas.microsoft.com/office/drawing/2014/main" id="{DC98E244-584B-6213-82FF-C4696C155764}"/>
              </a:ext>
            </a:extLst>
          </p:cNvPr>
          <p:cNvSpPr>
            <a:spLocks noGrp="1"/>
          </p:cNvSpPr>
          <p:nvPr>
            <p:ph type="title"/>
          </p:nvPr>
        </p:nvSpPr>
        <p:spPr/>
        <p:txBody>
          <a:bodyPr/>
          <a:lstStyle/>
          <a:p>
            <a:r>
              <a:rPr kumimoji="1" lang="zh-CN" altLang="en-US" dirty="0"/>
              <a:t>资本的边际效率</a:t>
            </a:r>
          </a:p>
        </p:txBody>
      </p:sp>
      <mc:AlternateContent xmlns:mc="http://schemas.openxmlformats.org/markup-compatibility/2006" xmlns:a14="http://schemas.microsoft.com/office/drawing/2010/main">
        <mc:Choice Requires="a14">
          <p:sp>
            <p:nvSpPr>
              <p:cNvPr id="11" name="内容占位符 2">
                <a:extLst>
                  <a:ext uri="{FF2B5EF4-FFF2-40B4-BE49-F238E27FC236}">
                    <a16:creationId xmlns:a16="http://schemas.microsoft.com/office/drawing/2014/main" id="{158FBA58-3E02-7C11-D838-806911D3B467}"/>
                  </a:ext>
                </a:extLst>
              </p:cNvPr>
              <p:cNvSpPr>
                <a:spLocks noGrp="1"/>
              </p:cNvSpPr>
              <p:nvPr>
                <p:ph idx="1"/>
              </p:nvPr>
            </p:nvSpPr>
            <p:spPr>
              <a:xfrm>
                <a:off x="188087" y="508698"/>
                <a:ext cx="4191509" cy="2582745"/>
              </a:xfrm>
            </p:spPr>
            <p:txBody>
              <a:bodyPr/>
              <a:lstStyle/>
              <a:p>
                <a:pPr marL="0" indent="0">
                  <a:buNone/>
                </a:pPr>
                <a:r>
                  <a:rPr lang="zh-CN" altLang="en-US" b="1" dirty="0">
                    <a:latin typeface="Times New Roman" panose="02020603050405020304" pitchFamily="18" charset="0"/>
                    <a:cs typeface="Times New Roman" panose="02020603050405020304" pitchFamily="18" charset="0"/>
                  </a:rPr>
                  <a:t>包含残值的资本边际收益</a:t>
                </a:r>
                <a:endParaRPr lang="en-US" altLang="zh-CN" b="1"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假定资本品在</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年中报废，并且在使用终了还有残值，则资本的边际效率公式是：</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b="0" i="1" smtClean="0">
                        <a:latin typeface="Cambria Math" panose="02040503050406030204" pitchFamily="18" charset="0"/>
                        <a:ea typeface="楷体" panose="02010609060101010101" pitchFamily="49" charset="-122"/>
                      </a:rPr>
                      <m:t>𝑅</m:t>
                    </m:r>
                    <m:r>
                      <a:rPr lang="en-US" altLang="zh-CN" i="1">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b="0" i="1" smtClean="0">
                                <a:latin typeface="Cambria Math" panose="02040503050406030204" pitchFamily="18" charset="0"/>
                                <a:ea typeface="楷体" panose="02010609060101010101" pitchFamily="49" charset="-122"/>
                              </a:rPr>
                              <m:t>1</m:t>
                            </m:r>
                          </m:sub>
                        </m:sSub>
                      </m:num>
                      <m:den>
                        <m:r>
                          <a:rPr lang="en-US" altLang="zh-CN" b="0" i="1" smtClean="0">
                            <a:latin typeface="Cambria Math" panose="02040503050406030204" pitchFamily="18" charset="0"/>
                            <a:ea typeface="楷体" panose="02010609060101010101" pitchFamily="49" charset="-122"/>
                          </a:rPr>
                          <m:t>1+</m:t>
                        </m:r>
                        <m:r>
                          <a:rPr lang="en-US" altLang="zh-CN" b="0" i="1" smtClean="0">
                            <a:latin typeface="Cambria Math" panose="02040503050406030204" pitchFamily="18" charset="0"/>
                            <a:ea typeface="楷体" panose="02010609060101010101" pitchFamily="49" charset="-122"/>
                          </a:rPr>
                          <m:t>𝑟</m:t>
                        </m:r>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b="0" i="1" smtClean="0">
                                <a:latin typeface="Cambria Math" panose="02040503050406030204" pitchFamily="18" charset="0"/>
                                <a:ea typeface="楷体" panose="02010609060101010101" pitchFamily="49" charset="-122"/>
                              </a:rPr>
                              <m:t>2</m:t>
                            </m:r>
                          </m:sub>
                        </m:sSub>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b="0" i="1" smtClean="0">
                                <a:latin typeface="Cambria Math" panose="02040503050406030204" pitchFamily="18" charset="0"/>
                                <a:ea typeface="楷体" panose="02010609060101010101" pitchFamily="49" charset="-122"/>
                              </a:rPr>
                              <m:t>2</m:t>
                            </m:r>
                          </m:sup>
                        </m:sSup>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𝑛</m:t>
                            </m:r>
                          </m:sub>
                        </m:sSub>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i="1">
                                <a:latin typeface="Cambria Math" panose="02040503050406030204" pitchFamily="18" charset="0"/>
                                <a:ea typeface="楷体" panose="02010609060101010101" pitchFamily="49" charset="-122"/>
                              </a:rPr>
                              <m:t>𝑛</m:t>
                            </m:r>
                          </m:sup>
                        </m:sSup>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r>
                          <a:rPr lang="en-US" altLang="zh-CN" b="0" i="1" smtClean="0">
                            <a:latin typeface="Cambria Math" panose="02040503050406030204" pitchFamily="18" charset="0"/>
                            <a:ea typeface="楷体" panose="02010609060101010101" pitchFamily="49" charset="-122"/>
                          </a:rPr>
                          <m:t>𝐽</m:t>
                        </m:r>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i="1">
                                <a:latin typeface="Cambria Math" panose="02040503050406030204" pitchFamily="18" charset="0"/>
                                <a:ea typeface="楷体" panose="02010609060101010101" pitchFamily="49" charset="-122"/>
                              </a:rPr>
                              <m:t>𝑛</m:t>
                            </m:r>
                          </m:sup>
                        </m:sSup>
                      </m:den>
                    </m:f>
                  </m:oMath>
                </a14:m>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𝑅</m:t>
                    </m:r>
                  </m:oMath>
                </a14:m>
                <a:r>
                  <a:rPr lang="zh-CN" altLang="en-US" dirty="0">
                    <a:latin typeface="Times New Roman" panose="02020603050405020304" pitchFamily="18" charset="0"/>
                    <a:cs typeface="Times New Roman" panose="02020603050405020304" pitchFamily="18" charset="0"/>
                  </a:rPr>
                  <a:t>是该资本品的供给价格；</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1</m:t>
                        </m:r>
                      </m:sub>
                    </m:sSub>
                    <m:r>
                      <a:rPr lang="en-US" altLang="zh-CN" b="0" i="0" smtClean="0">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2</m:t>
                        </m:r>
                      </m:sub>
                    </m:sSub>
                    <m:r>
                      <a:rPr lang="en-US" altLang="zh-CN" b="0" i="0" smtClean="0">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𝑛</m:t>
                        </m:r>
                      </m:sub>
                    </m:sSub>
                  </m:oMath>
                </a14:m>
                <a:r>
                  <a:rPr lang="zh-CN" altLang="en-US" dirty="0">
                    <a:latin typeface="Times New Roman" panose="02020603050405020304" pitchFamily="18" charset="0"/>
                    <a:cs typeface="Times New Roman" panose="02020603050405020304" pitchFamily="18" charset="0"/>
                  </a:rPr>
                  <a:t>是不同年份的预期收益；</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𝐽</m:t>
                    </m:r>
                  </m:oMath>
                </a14:m>
                <a:r>
                  <a:rPr lang="zh-CN" altLang="en-US" dirty="0">
                    <a:latin typeface="Times New Roman" panose="02020603050405020304" pitchFamily="18" charset="0"/>
                    <a:cs typeface="Times New Roman" panose="02020603050405020304" pitchFamily="18" charset="0"/>
                  </a:rPr>
                  <a:t>是该资本品在</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年年末时的报废残值；</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𝑟</m:t>
                    </m:r>
                  </m:oMath>
                </a14:m>
                <a:r>
                  <a:rPr lang="zh-CN" altLang="en-US" dirty="0">
                    <a:latin typeface="Times New Roman" panose="02020603050405020304" pitchFamily="18" charset="0"/>
                    <a:cs typeface="Times New Roman" panose="02020603050405020304" pitchFamily="18" charset="0"/>
                  </a:rPr>
                  <a:t>是资本边际效率。</a:t>
                </a:r>
              </a:p>
            </p:txBody>
          </p:sp>
        </mc:Choice>
        <mc:Fallback xmlns="">
          <p:sp>
            <p:nvSpPr>
              <p:cNvPr id="11" name="内容占位符 2">
                <a:extLst>
                  <a:ext uri="{FF2B5EF4-FFF2-40B4-BE49-F238E27FC236}">
                    <a16:creationId xmlns:a16="http://schemas.microsoft.com/office/drawing/2014/main" id="{158FBA58-3E02-7C11-D838-806911D3B467}"/>
                  </a:ext>
                </a:extLst>
              </p:cNvPr>
              <p:cNvSpPr>
                <a:spLocks noGrp="1" noRot="1" noChangeAspect="1" noMove="1" noResize="1" noEditPoints="1" noAdjustHandles="1" noChangeArrowheads="1" noChangeShapeType="1" noTextEdit="1"/>
              </p:cNvSpPr>
              <p:nvPr>
                <p:ph idx="1"/>
              </p:nvPr>
            </p:nvSpPr>
            <p:spPr>
              <a:xfrm>
                <a:off x="188087" y="508698"/>
                <a:ext cx="4191509" cy="2582745"/>
              </a:xfrm>
              <a:blipFill>
                <a:blip r:embed="rId2"/>
                <a:stretch>
                  <a:fillRect l="-604" t="-1463" b="-5366"/>
                </a:stretch>
              </a:blipFill>
            </p:spPr>
            <p:txBody>
              <a:bodyPr/>
              <a:lstStyle/>
              <a:p>
                <a:r>
                  <a:rPr lang="zh-CN" altLang="en-US">
                    <a:noFill/>
                  </a:rPr>
                  <a:t> </a:t>
                </a:r>
              </a:p>
            </p:txBody>
          </p:sp>
        </mc:Fallback>
      </mc:AlternateContent>
      <p:sp>
        <p:nvSpPr>
          <p:cNvPr id="2" name="页脚占位符 1">
            <a:extLst>
              <a:ext uri="{FF2B5EF4-FFF2-40B4-BE49-F238E27FC236}">
                <a16:creationId xmlns:a16="http://schemas.microsoft.com/office/drawing/2014/main" id="{8C66E9B8-A74E-F46B-6CDE-6A245C90FA6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23947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en-US" dirty="0">
              <a:ea typeface="宋体" panose="02010600030101010101" pitchFamily="2" charset="-122"/>
            </a:endParaRPr>
          </a:p>
          <a:p>
            <a:pPr eaLnBrk="1" hangingPunct="1">
              <a:buFont typeface="Wingdings" panose="05000000000000000000" pitchFamily="2" charset="2"/>
              <a:buNone/>
            </a:pPr>
            <a:r>
              <a:rPr lang="zh-CN" altLang="en-US" dirty="0">
                <a:ea typeface="宋体" panose="02010600030101010101" pitchFamily="2" charset="-122"/>
              </a:rPr>
              <a:t> </a:t>
            </a:r>
          </a:p>
        </p:txBody>
      </p:sp>
      <mc:AlternateContent xmlns:mc="http://schemas.openxmlformats.org/markup-compatibility/2006" xmlns:a14="http://schemas.microsoft.com/office/drawing/2010/main">
        <mc:Choice Requires="a14">
          <p:sp>
            <p:nvSpPr>
              <p:cNvPr id="9" name="内容占位符 2"/>
              <p:cNvSpPr txBox="1">
                <a:spLocks/>
              </p:cNvSpPr>
              <p:nvPr/>
            </p:nvSpPr>
            <p:spPr bwMode="auto">
              <a:xfrm>
                <a:off x="236260" y="508679"/>
                <a:ext cx="3976211" cy="2193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5260" indent="-115260" defTabSz="461040">
                  <a:spcBef>
                    <a:spcPts val="504"/>
                  </a:spcBef>
                  <a:defRPr/>
                </a:pPr>
                <a:r>
                  <a:rPr lang="zh-CN" altLang="en-US" sz="1210" dirty="0">
                    <a:solidFill>
                      <a:prstClr val="black"/>
                    </a:solidFill>
                    <a:latin typeface="Garamond" panose="02020404030301010803" pitchFamily="18" charset="0"/>
                    <a:ea typeface="SimSun" panose="02010600030101010101" pitchFamily="2" charset="-122"/>
                  </a:rPr>
                  <a:t>如果资本边际效率大于市场利率，则此投资就值得，否则就不值得。</a:t>
                </a:r>
                <a:endParaRPr lang="en-US" altLang="zh-CN" sz="1210" dirty="0">
                  <a:solidFill>
                    <a:prstClr val="black"/>
                  </a:solidFill>
                  <a:latin typeface="Garamond" panose="02020404030301010803" pitchFamily="18" charset="0"/>
                  <a:ea typeface="SimSun" panose="02010600030101010101" pitchFamily="2" charset="-122"/>
                </a:endParaRPr>
              </a:p>
              <a:p>
                <a:pPr marL="115260" indent="-115260" defTabSz="461040">
                  <a:spcBef>
                    <a:spcPts val="504"/>
                  </a:spcBef>
                  <a:defRPr/>
                </a:pPr>
                <a:r>
                  <a:rPr lang="zh-CN" altLang="en-US" sz="1210" dirty="0">
                    <a:solidFill>
                      <a:prstClr val="black"/>
                    </a:solidFill>
                    <a:latin typeface="Garamond" panose="02020404030301010803" pitchFamily="18" charset="0"/>
                    <a:ea typeface="SimSun" panose="02010600030101010101" pitchFamily="2" charset="-122"/>
                  </a:rPr>
                  <a:t>由</a:t>
                </a:r>
                <a14:m>
                  <m:oMath xmlns:m="http://schemas.openxmlformats.org/officeDocument/2006/math">
                    <m:r>
                      <a:rPr lang="en-US" altLang="zh-CN" sz="1210" i="1">
                        <a:solidFill>
                          <a:prstClr val="black"/>
                        </a:solidFill>
                        <a:latin typeface="Cambria Math" panose="02040503050406030204" pitchFamily="18" charset="0"/>
                        <a:ea typeface="楷体" panose="02010609060101010101" pitchFamily="49" charset="-122"/>
                      </a:rPr>
                      <m:t>𝑅</m:t>
                    </m:r>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1</m:t>
                            </m:r>
                          </m:sub>
                        </m:sSub>
                      </m:num>
                      <m:den>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2</m:t>
                            </m:r>
                          </m:sub>
                        </m:sSub>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2</m:t>
                            </m:r>
                          </m:sup>
                        </m:sSup>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𝑛</m:t>
                            </m:r>
                          </m:sub>
                        </m:sSub>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𝑛</m:t>
                            </m:r>
                          </m:sup>
                        </m:sSup>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r>
                          <a:rPr lang="en-US" altLang="zh-CN" sz="1210" i="1">
                            <a:solidFill>
                              <a:prstClr val="black"/>
                            </a:solidFill>
                            <a:latin typeface="Cambria Math" panose="02040503050406030204" pitchFamily="18" charset="0"/>
                            <a:ea typeface="楷体" panose="02010609060101010101" pitchFamily="49" charset="-122"/>
                          </a:rPr>
                          <m:t>𝐽</m:t>
                        </m:r>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𝑛</m:t>
                            </m:r>
                          </m:sup>
                        </m:sSup>
                      </m:den>
                    </m:f>
                  </m:oMath>
                </a14:m>
                <a:r>
                  <a:rPr lang="zh-CN" altLang="en-US" sz="1210" dirty="0">
                    <a:solidFill>
                      <a:prstClr val="black"/>
                    </a:solidFill>
                    <a:latin typeface="Garamond" panose="02020404030301010803" pitchFamily="18" charset="0"/>
                    <a:ea typeface="SimSun" panose="02010600030101010101" pitchFamily="2" charset="-122"/>
                  </a:rPr>
                  <a:t>可知，</a:t>
                </a:r>
                <a:endParaRPr lang="en-US" altLang="zh-CN" sz="1210" dirty="0">
                  <a:solidFill>
                    <a:prstClr val="black"/>
                  </a:solidFill>
                  <a:latin typeface="Garamond" panose="02020404030301010803" pitchFamily="18" charset="0"/>
                  <a:ea typeface="SimSun" panose="02010600030101010101" pitchFamily="2" charset="-122"/>
                </a:endParaRPr>
              </a:p>
              <a:p>
                <a:pPr marL="115260" indent="-115260" defTabSz="461040">
                  <a:spcBef>
                    <a:spcPts val="504"/>
                  </a:spcBef>
                  <a:defRPr/>
                </a:pP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r>
                      <a:rPr lang="zh-CN" altLang="en-US" sz="1210">
                        <a:solidFill>
                          <a:prstClr val="black"/>
                        </a:solidFill>
                        <a:latin typeface="Cambria Math" panose="02040503050406030204" pitchFamily="18" charset="0"/>
                        <a:ea typeface="楷体" panose="02010609060101010101" pitchFamily="49" charset="-122"/>
                      </a:rPr>
                      <m:t>取决于</m:t>
                    </m:r>
                  </m:oMath>
                </a14:m>
                <a:r>
                  <a:rPr lang="zh-CN" altLang="en-US" sz="1210" dirty="0">
                    <a:solidFill>
                      <a:prstClr val="black"/>
                    </a:solidFill>
                    <a:latin typeface="楷体" panose="02010609060101010101" pitchFamily="49" charset="-122"/>
                    <a:ea typeface="楷体" panose="02010609060101010101" pitchFamily="49" charset="-122"/>
                  </a:rPr>
                  <a:t>资本品的供给价格和预期收益：</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r>
                  <a:rPr lang="zh-CN" altLang="en-US" sz="1210" dirty="0">
                    <a:solidFill>
                      <a:prstClr val="black"/>
                    </a:solidFill>
                    <a:latin typeface="楷体" panose="02010609060101010101" pitchFamily="49" charset="-122"/>
                    <a:ea typeface="楷体" panose="02010609060101010101" pitchFamily="49" charset="-122"/>
                  </a:rPr>
                  <a:t>当预期收益既定时，供给价格越大，</a:t>
                </a:r>
                <a:r>
                  <a:rPr lang="en-US" altLang="zh-CN" sz="1210" dirty="0">
                    <a:solidFill>
                      <a:prstClr val="black"/>
                    </a:solidFill>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oMath>
                </a14:m>
                <a:r>
                  <a:rPr lang="zh-CN" altLang="en-US" sz="1210" dirty="0">
                    <a:solidFill>
                      <a:prstClr val="black"/>
                    </a:solidFill>
                    <a:latin typeface="楷体" panose="02010609060101010101" pitchFamily="49" charset="-122"/>
                    <a:ea typeface="楷体" panose="02010609060101010101" pitchFamily="49" charset="-122"/>
                  </a:rPr>
                  <a:t>越小；</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r>
                  <a:rPr lang="zh-CN" altLang="en-US" sz="1210" dirty="0">
                    <a:solidFill>
                      <a:prstClr val="black"/>
                    </a:solidFill>
                    <a:latin typeface="楷体" panose="02010609060101010101" pitchFamily="49" charset="-122"/>
                    <a:ea typeface="楷体" panose="02010609060101010101" pitchFamily="49" charset="-122"/>
                  </a:rPr>
                  <a:t>当供给价格既定时，预期收益越大，</a:t>
                </a:r>
                <a:r>
                  <a:rPr lang="en-US" altLang="zh-CN" sz="1210" dirty="0">
                    <a:solidFill>
                      <a:prstClr val="black"/>
                    </a:solidFill>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oMath>
                </a14:m>
                <a:r>
                  <a:rPr lang="zh-CN" altLang="en-US" sz="1210" dirty="0">
                    <a:solidFill>
                      <a:prstClr val="black"/>
                    </a:solidFill>
                    <a:latin typeface="楷体" panose="02010609060101010101" pitchFamily="49" charset="-122"/>
                    <a:ea typeface="楷体" panose="02010609060101010101" pitchFamily="49" charset="-122"/>
                  </a:rPr>
                  <a:t>越大。</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endParaRPr lang="zh-CN" altLang="en-US" sz="1210" dirty="0">
                  <a:solidFill>
                    <a:prstClr val="black"/>
                  </a:solidFill>
                  <a:latin typeface="Calibri" panose="020F0502020204030204"/>
                  <a:ea typeface="等线" panose="02010600030101010101" pitchFamily="2" charset="-122"/>
                </a:endParaRPr>
              </a:p>
            </p:txBody>
          </p:sp>
        </mc:Choice>
        <mc:Fallback xmlns="">
          <p:sp>
            <p:nvSpPr>
              <p:cNvPr id="9" name="内容占位符 2"/>
              <p:cNvSpPr txBox="1">
                <a:spLocks noRot="1" noChangeAspect="1" noMove="1" noResize="1" noEditPoints="1" noAdjustHandles="1" noChangeArrowheads="1" noChangeShapeType="1" noTextEdit="1"/>
              </p:cNvSpPr>
              <p:nvPr/>
            </p:nvSpPr>
            <p:spPr bwMode="auto">
              <a:xfrm>
                <a:off x="236260" y="508679"/>
                <a:ext cx="3976211" cy="2193800"/>
              </a:xfrm>
              <a:prstGeom prst="rect">
                <a:avLst/>
              </a:prstGeom>
              <a:blipFill>
                <a:blip r:embed="rId2"/>
                <a:stretch>
                  <a:fillRect l="-1274" t="-17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92EFEC2B-91BE-87BA-55D7-94CF14EAD7E4}"/>
              </a:ext>
            </a:extLst>
          </p:cNvPr>
          <p:cNvSpPr>
            <a:spLocks noGrp="1"/>
          </p:cNvSpPr>
          <p:nvPr>
            <p:ph type="title"/>
          </p:nvPr>
        </p:nvSpPr>
        <p:spPr/>
        <p:txBody>
          <a:bodyPr/>
          <a:lstStyle/>
          <a:p>
            <a:r>
              <a:rPr kumimoji="1" lang="zh-CN" altLang="en-US" dirty="0"/>
              <a:t>资本边际效率曲线</a:t>
            </a:r>
          </a:p>
        </p:txBody>
      </p:sp>
      <p:sp>
        <p:nvSpPr>
          <p:cNvPr id="4" name="灯片编号占位符 2">
            <a:extLst>
              <a:ext uri="{FF2B5EF4-FFF2-40B4-BE49-F238E27FC236}">
                <a16:creationId xmlns:a16="http://schemas.microsoft.com/office/drawing/2014/main" id="{64C347BD-4FB4-16DC-1E27-1EA92C15F55E}"/>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15</a:t>
            </a:fld>
            <a:endParaRPr lang="zh-CN" altLang="zh-CN" sz="856">
              <a:solidFill>
                <a:srgbClr val="777777"/>
              </a:solidFill>
              <a:ea typeface="宋体" panose="02010600030101010101" pitchFamily="2" charset="-122"/>
            </a:endParaRPr>
          </a:p>
        </p:txBody>
      </p:sp>
      <p:sp>
        <p:nvSpPr>
          <p:cNvPr id="3" name="页脚占位符 1">
            <a:extLst>
              <a:ext uri="{FF2B5EF4-FFF2-40B4-BE49-F238E27FC236}">
                <a16:creationId xmlns:a16="http://schemas.microsoft.com/office/drawing/2014/main" id="{AD03233D-31A2-DBB9-B4C1-48BFF749BD3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214578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en-US" sz="2000" dirty="0">
              <a:ea typeface="宋体" panose="02010600030101010101" pitchFamily="2" charset="-122"/>
            </a:endParaRPr>
          </a:p>
          <a:p>
            <a:pPr eaLnBrk="1" hangingPunct="1">
              <a:buFont typeface="Wingdings" panose="05000000000000000000" pitchFamily="2" charset="2"/>
              <a:buNone/>
            </a:pPr>
            <a:r>
              <a:rPr lang="zh-CN" altLang="en-US" sz="2000" dirty="0">
                <a:ea typeface="宋体" panose="02010600030101010101" pitchFamily="2" charset="-122"/>
              </a:rPr>
              <a:t> </a:t>
            </a:r>
          </a:p>
        </p:txBody>
      </p:sp>
      <p:grpSp>
        <p:nvGrpSpPr>
          <p:cNvPr id="6" name="组合 5"/>
          <p:cNvGrpSpPr/>
          <p:nvPr/>
        </p:nvGrpSpPr>
        <p:grpSpPr>
          <a:xfrm>
            <a:off x="465180" y="922007"/>
            <a:ext cx="3667271" cy="1816373"/>
            <a:chOff x="922672" y="1825625"/>
            <a:chExt cx="7273925" cy="3602723"/>
          </a:xfrm>
        </p:grpSpPr>
        <p:pic>
          <p:nvPicPr>
            <p:cNvPr id="10244" name="Picture 4" descr="xf1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2672" y="1825625"/>
              <a:ext cx="7273925" cy="325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 Box 5"/>
            <p:cNvSpPr txBox="1">
              <a:spLocks noChangeArrowheads="1"/>
            </p:cNvSpPr>
            <p:nvPr/>
          </p:nvSpPr>
          <p:spPr bwMode="auto">
            <a:xfrm>
              <a:off x="995695" y="4968082"/>
              <a:ext cx="7127874" cy="460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908" b="1" dirty="0">
                  <a:solidFill>
                    <a:prstClr val="black"/>
                  </a:solidFill>
                  <a:latin typeface="KaiTi" panose="02010609060101010101" pitchFamily="49" charset="-122"/>
                  <a:ea typeface="KaiTi" panose="02010609060101010101" pitchFamily="49" charset="-122"/>
                </a:rPr>
                <a:t>某企业可供选择的投资项目</a:t>
              </a:r>
            </a:p>
          </p:txBody>
        </p:sp>
      </p:grpSp>
      <p:sp>
        <p:nvSpPr>
          <p:cNvPr id="5" name="矩形 4"/>
          <p:cNvSpPr/>
          <p:nvPr/>
        </p:nvSpPr>
        <p:spPr>
          <a:xfrm>
            <a:off x="2287956" y="1060335"/>
            <a:ext cx="1992731" cy="511487"/>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如果市场利率是</a:t>
            </a:r>
            <a:r>
              <a:rPr lang="en-US" altLang="zh-CN" sz="908" dirty="0">
                <a:solidFill>
                  <a:prstClr val="black"/>
                </a:solidFill>
                <a:latin typeface="Garamond" panose="02020404030301010803" pitchFamily="18" charset="0"/>
                <a:ea typeface="SimSun" panose="02010600030101010101" pitchFamily="2" charset="-122"/>
              </a:rPr>
              <a:t>10%</a:t>
            </a:r>
            <a:r>
              <a:rPr lang="zh-CN" altLang="en-US" sz="908" dirty="0">
                <a:solidFill>
                  <a:prstClr val="black"/>
                </a:solidFill>
                <a:latin typeface="Garamond" panose="02020404030301010803" pitchFamily="18" charset="0"/>
                <a:ea typeface="SimSun" panose="02010600030101010101" pitchFamily="2" charset="-122"/>
              </a:rPr>
              <a:t>，则只有</a:t>
            </a:r>
            <a:r>
              <a:rPr lang="en-US" altLang="zh-CN" sz="908" dirty="0">
                <a:solidFill>
                  <a:prstClr val="black"/>
                </a:solidFill>
                <a:latin typeface="Garamond" panose="02020404030301010803" pitchFamily="18" charset="0"/>
                <a:ea typeface="SimSun" panose="02010600030101010101" pitchFamily="2" charset="-122"/>
              </a:rPr>
              <a:t>A</a:t>
            </a:r>
            <a:r>
              <a:rPr lang="zh-CN" altLang="en-US" sz="908" dirty="0">
                <a:solidFill>
                  <a:prstClr val="black"/>
                </a:solidFill>
                <a:latin typeface="Garamond" panose="02020404030301010803" pitchFamily="18" charset="0"/>
                <a:ea typeface="SimSun" panose="02010600030101010101" pitchFamily="2" charset="-122"/>
              </a:rPr>
              <a:t>项目值得投资；若市场利率降到</a:t>
            </a:r>
            <a:r>
              <a:rPr lang="en-US" altLang="zh-CN" sz="908" dirty="0">
                <a:solidFill>
                  <a:prstClr val="black"/>
                </a:solidFill>
                <a:latin typeface="Garamond" panose="02020404030301010803" pitchFamily="18" charset="0"/>
                <a:ea typeface="SimSun" panose="02010600030101010101" pitchFamily="2" charset="-122"/>
              </a:rPr>
              <a:t>8%</a:t>
            </a:r>
            <a:r>
              <a:rPr lang="zh-CN" altLang="en-US" sz="908" dirty="0">
                <a:solidFill>
                  <a:prstClr val="black"/>
                </a:solidFill>
                <a:latin typeface="Garamond" panose="02020404030301010803" pitchFamily="18" charset="0"/>
                <a:ea typeface="SimSun" panose="02010600030101010101" pitchFamily="2" charset="-122"/>
              </a:rPr>
              <a:t>，则</a:t>
            </a:r>
            <a:r>
              <a:rPr lang="en-US" altLang="zh-CN" sz="908" dirty="0">
                <a:solidFill>
                  <a:prstClr val="black"/>
                </a:solidFill>
                <a:latin typeface="Garamond" panose="02020404030301010803" pitchFamily="18" charset="0"/>
                <a:ea typeface="SimSun" panose="02010600030101010101" pitchFamily="2" charset="-122"/>
              </a:rPr>
              <a:t>B</a:t>
            </a:r>
            <a:r>
              <a:rPr lang="zh-CN" altLang="en-US" sz="908" dirty="0">
                <a:solidFill>
                  <a:prstClr val="black"/>
                </a:solidFill>
                <a:latin typeface="Garamond" panose="02020404030301010803" pitchFamily="18" charset="0"/>
                <a:ea typeface="SimSun" panose="02010600030101010101" pitchFamily="2" charset="-122"/>
              </a:rPr>
              <a:t>项目也值得投资。</a:t>
            </a:r>
          </a:p>
        </p:txBody>
      </p:sp>
      <p:sp>
        <p:nvSpPr>
          <p:cNvPr id="10" name="矩形 9"/>
          <p:cNvSpPr/>
          <p:nvPr/>
        </p:nvSpPr>
        <p:spPr>
          <a:xfrm>
            <a:off x="316943" y="2789948"/>
            <a:ext cx="3963743" cy="371768"/>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对这个企业来说，利率越低，投资需求量会越大。</a:t>
            </a:r>
            <a:endParaRPr lang="en-US" altLang="zh-CN" sz="908" dirty="0">
              <a:solidFill>
                <a:prstClr val="black"/>
              </a:solidFill>
              <a:latin typeface="Garamond" panose="02020404030301010803" pitchFamily="18" charset="0"/>
              <a:ea typeface="SimSun" panose="02010600030101010101" pitchFamily="2" charset="-122"/>
            </a:endParaRPr>
          </a:p>
          <a:p>
            <a:pPr defTabSz="230520">
              <a:defRPr/>
            </a:pPr>
            <a:r>
              <a:rPr lang="zh-CN" altLang="en-US" sz="908" dirty="0">
                <a:solidFill>
                  <a:prstClr val="black"/>
                </a:solidFill>
                <a:latin typeface="Garamond" panose="02020404030301010803" pitchFamily="18" charset="0"/>
                <a:ea typeface="SimSun" panose="02010600030101010101" pitchFamily="2" charset="-122"/>
              </a:rPr>
              <a:t>图中各个长方形顶端所形成的折线就是该</a:t>
            </a:r>
            <a:r>
              <a:rPr lang="zh-CN" altLang="en-US" sz="908" b="1" dirty="0">
                <a:solidFill>
                  <a:prstClr val="black"/>
                </a:solidFill>
                <a:latin typeface="Garamond" panose="02020404030301010803" pitchFamily="18" charset="0"/>
                <a:ea typeface="SimSun" panose="02010600030101010101" pitchFamily="2" charset="-122"/>
              </a:rPr>
              <a:t>企业的资本边际效率曲线。</a:t>
            </a:r>
          </a:p>
        </p:txBody>
      </p:sp>
      <p:sp>
        <p:nvSpPr>
          <p:cNvPr id="2" name="灯片编号占位符 2">
            <a:extLst>
              <a:ext uri="{FF2B5EF4-FFF2-40B4-BE49-F238E27FC236}">
                <a16:creationId xmlns:a16="http://schemas.microsoft.com/office/drawing/2014/main" id="{A6AE7A28-D367-A374-1346-639D2D7A78A4}"/>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16</a:t>
            </a:fld>
            <a:endParaRPr lang="zh-CN" altLang="zh-CN" sz="856">
              <a:solidFill>
                <a:srgbClr val="777777"/>
              </a:solidFill>
              <a:ea typeface="宋体" panose="02010600030101010101" pitchFamily="2" charset="-122"/>
            </a:endParaRPr>
          </a:p>
        </p:txBody>
      </p:sp>
      <p:sp>
        <p:nvSpPr>
          <p:cNvPr id="7" name="标题 6">
            <a:extLst>
              <a:ext uri="{FF2B5EF4-FFF2-40B4-BE49-F238E27FC236}">
                <a16:creationId xmlns:a16="http://schemas.microsoft.com/office/drawing/2014/main" id="{F6F01066-003D-4627-C55F-9BB26B3DC116}"/>
              </a:ext>
            </a:extLst>
          </p:cNvPr>
          <p:cNvSpPr>
            <a:spLocks noGrp="1"/>
          </p:cNvSpPr>
          <p:nvPr>
            <p:ph type="title"/>
          </p:nvPr>
        </p:nvSpPr>
        <p:spPr/>
        <p:txBody>
          <a:bodyPr/>
          <a:lstStyle/>
          <a:p>
            <a:r>
              <a:rPr kumimoji="1" lang="zh-CN" altLang="en-US" dirty="0"/>
              <a:t>资本边际效率曲线</a:t>
            </a:r>
          </a:p>
        </p:txBody>
      </p:sp>
      <p:sp>
        <p:nvSpPr>
          <p:cNvPr id="3" name="页脚占位符 1">
            <a:extLst>
              <a:ext uri="{FF2B5EF4-FFF2-40B4-BE49-F238E27FC236}">
                <a16:creationId xmlns:a16="http://schemas.microsoft.com/office/drawing/2014/main" id="{5ED951EA-EDF3-7813-764A-5B5250F7576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993769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476406" y="635068"/>
            <a:ext cx="1936805" cy="1790163"/>
            <a:chOff x="3026194" y="1517945"/>
            <a:chExt cx="4342660" cy="4005590"/>
          </a:xfrm>
        </p:grpSpPr>
        <p:pic>
          <p:nvPicPr>
            <p:cNvPr id="11267" name="Picture 4" descr="xf14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578" t="3521" r="14613" b="5192"/>
            <a:stretch/>
          </p:blipFill>
          <p:spPr bwMode="auto">
            <a:xfrm>
              <a:off x="3026194" y="1517945"/>
              <a:ext cx="4162927" cy="322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5"/>
            <p:cNvSpPr txBox="1">
              <a:spLocks noChangeArrowheads="1"/>
            </p:cNvSpPr>
            <p:nvPr/>
          </p:nvSpPr>
          <p:spPr bwMode="auto">
            <a:xfrm>
              <a:off x="3026194" y="4761124"/>
              <a:ext cx="4342660" cy="762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807" b="1" dirty="0">
                  <a:solidFill>
                    <a:prstClr val="black"/>
                  </a:solidFill>
                  <a:latin typeface="Garamond" panose="02020404030301010803" pitchFamily="18" charset="0"/>
                  <a:ea typeface="KaiTi" panose="02010609060101010101" pitchFamily="49" charset="-122"/>
                </a:rPr>
                <a:t>资本边际效率曲线（</a:t>
              </a:r>
              <a:r>
                <a:rPr lang="en-US" altLang="zh-CN" sz="807" b="1" dirty="0">
                  <a:solidFill>
                    <a:prstClr val="black"/>
                  </a:solidFill>
                  <a:latin typeface="Garamond" panose="02020404030301010803" pitchFamily="18" charset="0"/>
                  <a:ea typeface="KaiTi" panose="02010609060101010101" pitchFamily="49" charset="-122"/>
                </a:rPr>
                <a:t>MEC</a:t>
              </a:r>
              <a:r>
                <a:rPr lang="zh-CN" altLang="en-US" sz="807" b="1" dirty="0">
                  <a:solidFill>
                    <a:prstClr val="black"/>
                  </a:solidFill>
                  <a:latin typeface="Garamond" panose="02020404030301010803" pitchFamily="18" charset="0"/>
                  <a:ea typeface="KaiTi" panose="02010609060101010101" pitchFamily="49" charset="-122"/>
                </a:rPr>
                <a:t>）和投资边际效率曲线（</a:t>
              </a:r>
              <a:r>
                <a:rPr lang="en-US" altLang="zh-CN" sz="807" b="1" dirty="0">
                  <a:solidFill>
                    <a:prstClr val="black"/>
                  </a:solidFill>
                  <a:latin typeface="Garamond" panose="02020404030301010803" pitchFamily="18" charset="0"/>
                  <a:ea typeface="KaiTi" panose="02010609060101010101" pitchFamily="49" charset="-122"/>
                </a:rPr>
                <a:t>MEI</a:t>
              </a:r>
              <a:r>
                <a:rPr lang="zh-CN" altLang="en-US" sz="807" b="1" dirty="0">
                  <a:solidFill>
                    <a:prstClr val="black"/>
                  </a:solidFill>
                  <a:latin typeface="Garamond" panose="02020404030301010803" pitchFamily="18" charset="0"/>
                  <a:ea typeface="KaiTi" panose="02010609060101010101" pitchFamily="49" charset="-122"/>
                </a:rPr>
                <a:t>）</a:t>
              </a:r>
            </a:p>
          </p:txBody>
        </p:sp>
      </p:grpSp>
      <p:sp>
        <p:nvSpPr>
          <p:cNvPr id="6" name="矩形 5"/>
          <p:cNvSpPr/>
          <p:nvPr/>
        </p:nvSpPr>
        <p:spPr>
          <a:xfrm>
            <a:off x="291764" y="574387"/>
            <a:ext cx="1951710" cy="90024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defTabSz="230520">
              <a:defRPr/>
            </a:pPr>
            <a:r>
              <a:rPr lang="zh-CN" altLang="en-US" sz="1050" b="1" dirty="0">
                <a:solidFill>
                  <a:prstClr val="black"/>
                </a:solidFill>
                <a:latin typeface="Garamond" panose="02020404030301010803" pitchFamily="18" charset="0"/>
                <a:ea typeface="SimSun" panose="02010600030101010101" pitchFamily="2" charset="-122"/>
              </a:rPr>
              <a:t>资本边际效率曲线表明：</a:t>
            </a:r>
            <a:endParaRPr lang="en-US" altLang="zh-CN" sz="1050" b="1"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社会总投资量和利润率之间存在反方向变动关系：利率越高，投资量越小；利率越低，投资量越大。</a:t>
            </a:r>
          </a:p>
        </p:txBody>
      </p:sp>
      <p:sp>
        <p:nvSpPr>
          <p:cNvPr id="11" name="矩形 10"/>
          <p:cNvSpPr/>
          <p:nvPr/>
        </p:nvSpPr>
        <p:spPr>
          <a:xfrm>
            <a:off x="291763" y="1465808"/>
            <a:ext cx="1951710" cy="13849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defTabSz="230520">
              <a:defRPr/>
            </a:pPr>
            <a:r>
              <a:rPr lang="zh-CN" altLang="en-US" sz="1050" dirty="0">
                <a:solidFill>
                  <a:prstClr val="black"/>
                </a:solidFill>
                <a:latin typeface="Garamond" panose="02020404030301010803" pitchFamily="18" charset="0"/>
                <a:ea typeface="SimSun" panose="02010600030101010101" pitchFamily="2" charset="-122"/>
              </a:rPr>
              <a:t>利率降低时，企业增加投资，资本品的价格上涨，即</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资本品供给价格</a:t>
            </a:r>
            <a:r>
              <a:rPr lang="en-US" altLang="zh-CN" sz="1050" dirty="0">
                <a:solidFill>
                  <a:prstClr val="black"/>
                </a:solidFill>
                <a:latin typeface="Garamond" panose="02020404030301010803" pitchFamily="18" charset="0"/>
                <a:ea typeface="SimSun" panose="02010600030101010101" pitchFamily="2" charset="-122"/>
              </a:rPr>
              <a:t>)</a:t>
            </a:r>
            <a:r>
              <a:rPr lang="zh-CN" altLang="en-US" sz="1050" dirty="0">
                <a:solidFill>
                  <a:prstClr val="black"/>
                </a:solidFill>
                <a:latin typeface="Garamond" panose="02020404030301010803" pitchFamily="18" charset="0"/>
                <a:ea typeface="SimSun" panose="02010600030101010101" pitchFamily="2" charset="-122"/>
              </a:rPr>
              <a:t>增加。</a:t>
            </a:r>
            <a:endParaRPr lang="en-US" altLang="zh-CN" sz="1050"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在相同的预期收益情况下，</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必然缩小。</a:t>
            </a:r>
            <a:endParaRPr lang="en-US" altLang="zh-CN" sz="1050"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由</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上升而被缩小了的</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的数值被称为</a:t>
            </a:r>
            <a:r>
              <a:rPr lang="zh-CN" altLang="en-US" sz="1050" dirty="0">
                <a:solidFill>
                  <a:srgbClr val="FF0000"/>
                </a:solidFill>
                <a:latin typeface="Garamond" panose="02020404030301010803" pitchFamily="18" charset="0"/>
                <a:ea typeface="SimSun" panose="02010600030101010101" pitchFamily="2" charset="-122"/>
              </a:rPr>
              <a:t>投资的边际效率（</a:t>
            </a:r>
            <a:r>
              <a:rPr lang="en-US" altLang="zh-CN" sz="1050" dirty="0">
                <a:solidFill>
                  <a:srgbClr val="FF0000"/>
                </a:solidFill>
                <a:latin typeface="Garamond" panose="02020404030301010803" pitchFamily="18" charset="0"/>
                <a:ea typeface="SimSun" panose="02010600030101010101" pitchFamily="2" charset="-122"/>
              </a:rPr>
              <a:t>MEI</a:t>
            </a:r>
            <a:r>
              <a:rPr lang="zh-CN" altLang="en-US" sz="1050" dirty="0">
                <a:solidFill>
                  <a:srgbClr val="FF0000"/>
                </a:solidFill>
                <a:latin typeface="Garamond" panose="02020404030301010803" pitchFamily="18" charset="0"/>
                <a:ea typeface="SimSun" panose="02010600030101010101" pitchFamily="2" charset="-122"/>
              </a:rPr>
              <a:t>）。</a:t>
            </a:r>
          </a:p>
        </p:txBody>
      </p:sp>
      <mc:AlternateContent xmlns:mc="http://schemas.openxmlformats.org/markup-compatibility/2006" xmlns:a14="http://schemas.microsoft.com/office/drawing/2010/main">
        <mc:Choice Requires="a14">
          <p:sp>
            <p:nvSpPr>
              <p:cNvPr id="7" name="矩形 6"/>
              <p:cNvSpPr/>
              <p:nvPr/>
            </p:nvSpPr>
            <p:spPr>
              <a:xfrm>
                <a:off x="2341446" y="2424383"/>
                <a:ext cx="1951710" cy="651204"/>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西方经济学一般用</a:t>
                </a:r>
                <a:r>
                  <a:rPr lang="en-US" altLang="zh-CN" sz="908" dirty="0">
                    <a:solidFill>
                      <a:prstClr val="black"/>
                    </a:solidFill>
                    <a:latin typeface="Garamond" panose="02020404030301010803" pitchFamily="18" charset="0"/>
                    <a:ea typeface="SimSun" panose="02010600030101010101" pitchFamily="2" charset="-122"/>
                  </a:rPr>
                  <a:t>MEI</a:t>
                </a:r>
                <a:r>
                  <a:rPr lang="zh-CN" altLang="en-US" sz="908" dirty="0">
                    <a:solidFill>
                      <a:prstClr val="black"/>
                    </a:solidFill>
                    <a:latin typeface="Garamond" panose="02020404030301010803" pitchFamily="18" charset="0"/>
                    <a:ea typeface="SimSun" panose="02010600030101010101" pitchFamily="2" charset="-122"/>
                  </a:rPr>
                  <a:t>曲线来表示利率与投资量之间的关系，投资需求曲线指的是</a:t>
                </a:r>
                <a:r>
                  <a:rPr lang="en-US" altLang="zh-CN" sz="908" dirty="0">
                    <a:solidFill>
                      <a:prstClr val="black"/>
                    </a:solidFill>
                    <a:latin typeface="Garamond" panose="02020404030301010803" pitchFamily="18" charset="0"/>
                    <a:ea typeface="SimSun" panose="02010600030101010101" pitchFamily="2" charset="-122"/>
                  </a:rPr>
                  <a:t>MEI</a:t>
                </a:r>
                <a:r>
                  <a:rPr lang="zh-CN" altLang="en-US" sz="908" dirty="0">
                    <a:solidFill>
                      <a:prstClr val="black"/>
                    </a:solidFill>
                    <a:latin typeface="Garamond" panose="02020404030301010803" pitchFamily="18" charset="0"/>
                    <a:ea typeface="SimSun" panose="02010600030101010101" pitchFamily="2" charset="-122"/>
                  </a:rPr>
                  <a:t>曲线，也是投资需求函数：</a:t>
                </a:r>
                <a14:m>
                  <m:oMath xmlns:m="http://schemas.openxmlformats.org/officeDocument/2006/math">
                    <m:r>
                      <a:rPr lang="en-US" altLang="zh-CN" sz="908" i="1">
                        <a:solidFill>
                          <a:prstClr val="black"/>
                        </a:solidFill>
                        <a:latin typeface="Cambria Math" panose="02040503050406030204" pitchFamily="18" charset="0"/>
                      </a:rPr>
                      <m:t>𝑖</m:t>
                    </m:r>
                    <m:r>
                      <a:rPr lang="en-US" altLang="zh-CN" sz="908" i="1">
                        <a:solidFill>
                          <a:prstClr val="black"/>
                        </a:solidFill>
                        <a:latin typeface="Cambria Math" panose="02040503050406030204" pitchFamily="18" charset="0"/>
                      </a:rPr>
                      <m:t>=</m:t>
                    </m:r>
                    <m:r>
                      <a:rPr lang="en-US" altLang="zh-CN" sz="908" i="1">
                        <a:solidFill>
                          <a:prstClr val="black"/>
                        </a:solidFill>
                        <a:latin typeface="Cambria Math" panose="02040503050406030204" pitchFamily="18" charset="0"/>
                      </a:rPr>
                      <m:t>𝑖</m:t>
                    </m:r>
                    <m:r>
                      <a:rPr lang="en-US" altLang="zh-CN" sz="908" i="1">
                        <a:solidFill>
                          <a:prstClr val="black"/>
                        </a:solidFill>
                        <a:latin typeface="Cambria Math" panose="02040503050406030204" pitchFamily="18" charset="0"/>
                      </a:rPr>
                      <m:t>(</m:t>
                    </m:r>
                    <m:r>
                      <a:rPr lang="en-US" altLang="zh-CN" sz="908" i="1">
                        <a:solidFill>
                          <a:prstClr val="black"/>
                        </a:solidFill>
                        <a:latin typeface="Cambria Math" panose="02040503050406030204" pitchFamily="18" charset="0"/>
                      </a:rPr>
                      <m:t>𝑟</m:t>
                    </m:r>
                    <m:r>
                      <a:rPr lang="en-US" altLang="zh-CN" sz="908" i="1">
                        <a:solidFill>
                          <a:prstClr val="black"/>
                        </a:solidFill>
                        <a:latin typeface="Cambria Math" panose="02040503050406030204" pitchFamily="18" charset="0"/>
                      </a:rPr>
                      <m:t>)</m:t>
                    </m:r>
                  </m:oMath>
                </a14:m>
                <a:endParaRPr lang="zh-CN" altLang="en-US" sz="908" dirty="0">
                  <a:solidFill>
                    <a:prstClr val="black"/>
                  </a:solidFill>
                  <a:latin typeface="Garamond" panose="02020404030301010803" pitchFamily="18" charset="0"/>
                  <a:ea typeface="SimSun" panose="0201060003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2341446" y="2424383"/>
                <a:ext cx="1951710" cy="651204"/>
              </a:xfrm>
              <a:prstGeom prst="rect">
                <a:avLst/>
              </a:prstGeom>
              <a:blipFill>
                <a:blip r:embed="rId3"/>
                <a:stretch>
                  <a:fillRect b="-1923"/>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60884E6D-BE08-F98C-D02C-73EF3869FDCA}"/>
              </a:ext>
            </a:extLst>
          </p:cNvPr>
          <p:cNvSpPr>
            <a:spLocks noGrp="1"/>
          </p:cNvSpPr>
          <p:nvPr>
            <p:ph type="title"/>
          </p:nvPr>
        </p:nvSpPr>
        <p:spPr/>
        <p:txBody>
          <a:bodyPr/>
          <a:lstStyle/>
          <a:p>
            <a:r>
              <a:rPr kumimoji="1" lang="zh-CN" altLang="en-US" dirty="0"/>
              <a:t>投资的边际效率曲线</a:t>
            </a:r>
          </a:p>
        </p:txBody>
      </p:sp>
      <p:sp>
        <p:nvSpPr>
          <p:cNvPr id="4" name="灯片编号占位符 2">
            <a:extLst>
              <a:ext uri="{FF2B5EF4-FFF2-40B4-BE49-F238E27FC236}">
                <a16:creationId xmlns:a16="http://schemas.microsoft.com/office/drawing/2014/main" id="{DC0BDBDE-AFB5-EAD3-49F7-C710E979538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17</a:t>
            </a:fld>
            <a:endParaRPr lang="zh-CN" altLang="zh-CN" sz="856">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9650522A-55DC-C80A-1F54-4E6A53697B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
        <p:nvSpPr>
          <p:cNvPr id="9" name="文本框 8">
            <a:extLst>
              <a:ext uri="{FF2B5EF4-FFF2-40B4-BE49-F238E27FC236}">
                <a16:creationId xmlns:a16="http://schemas.microsoft.com/office/drawing/2014/main" id="{1647D4E0-1E1F-C11F-14FD-D7C5EDD36BF9}"/>
              </a:ext>
            </a:extLst>
          </p:cNvPr>
          <p:cNvSpPr txBox="1"/>
          <p:nvPr/>
        </p:nvSpPr>
        <p:spPr>
          <a:xfrm>
            <a:off x="291763" y="2900169"/>
            <a:ext cx="1951710" cy="307777"/>
          </a:xfrm>
          <a:prstGeom prst="rect">
            <a:avLst/>
          </a:prstGeom>
          <a:noFill/>
        </p:spPr>
        <p:txBody>
          <a:bodyPr wrap="square">
            <a:spAutoFit/>
          </a:bodyPr>
          <a:lstStyle/>
          <a:p>
            <a:r>
              <a:rPr lang="en" altLang="zh-CN" sz="700" i="0" u="none" strike="noStrike" dirty="0">
                <a:solidFill>
                  <a:schemeClr val="bg1">
                    <a:lumMod val="50000"/>
                  </a:schemeClr>
                </a:solidFill>
                <a:effectLst/>
                <a:latin typeface="Garamond" panose="02020404030301010803" pitchFamily="18" charset="0"/>
                <a:ea typeface="PingFang SC" panose="020B0400000000000000" pitchFamily="34" charset="-122"/>
              </a:rPr>
              <a:t>MEC</a:t>
            </a:r>
            <a:r>
              <a:rPr lang="en-US" altLang="zh-CN" sz="700" dirty="0">
                <a:solidFill>
                  <a:schemeClr val="bg1">
                    <a:lumMod val="50000"/>
                  </a:schemeClr>
                </a:solidFill>
                <a:latin typeface="Garamond" panose="02020404030301010803" pitchFamily="18" charset="0"/>
                <a:ea typeface="PingFang SC" panose="020B0400000000000000" pitchFamily="34" charset="-122"/>
              </a:rPr>
              <a:t>: </a:t>
            </a:r>
            <a:r>
              <a:rPr lang="en" altLang="zh-CN" sz="700" i="0" u="none" strike="noStrike" dirty="0">
                <a:solidFill>
                  <a:schemeClr val="bg1">
                    <a:lumMod val="50000"/>
                  </a:schemeClr>
                </a:solidFill>
                <a:effectLst/>
                <a:latin typeface="Garamond" panose="02020404030301010803" pitchFamily="18" charset="0"/>
                <a:ea typeface="PingFang SC" panose="020B0400000000000000" pitchFamily="34" charset="-122"/>
              </a:rPr>
              <a:t>marginal efficiency of capital</a:t>
            </a:r>
          </a:p>
          <a:p>
            <a:r>
              <a:rPr lang="en" altLang="zh-CN" sz="700" dirty="0">
                <a:solidFill>
                  <a:schemeClr val="bg1">
                    <a:lumMod val="50000"/>
                  </a:schemeClr>
                </a:solidFill>
                <a:latin typeface="Garamond" panose="02020404030301010803" pitchFamily="18" charset="0"/>
                <a:ea typeface="PingFang SC" panose="020B0400000000000000" pitchFamily="34" charset="-122"/>
              </a:rPr>
              <a:t>MEI: Marginal efficiency of investment</a:t>
            </a:r>
            <a:endParaRPr lang="zh-CN" altLang="en-US" sz="700" dirty="0">
              <a:solidFill>
                <a:schemeClr val="bg1">
                  <a:lumMod val="50000"/>
                </a:schemeClr>
              </a:solidFill>
              <a:latin typeface="Garamond" panose="02020404030301010803" pitchFamily="18" charset="0"/>
            </a:endParaRPr>
          </a:p>
        </p:txBody>
      </p:sp>
      <p:sp>
        <p:nvSpPr>
          <p:cNvPr id="10" name="文本框 9">
            <a:extLst>
              <a:ext uri="{FF2B5EF4-FFF2-40B4-BE49-F238E27FC236}">
                <a16:creationId xmlns:a16="http://schemas.microsoft.com/office/drawing/2014/main" id="{222AE1F2-850E-A92D-1C97-02DE2B867A10}"/>
              </a:ext>
            </a:extLst>
          </p:cNvPr>
          <p:cNvSpPr txBox="1"/>
          <p:nvPr/>
        </p:nvSpPr>
        <p:spPr>
          <a:xfrm>
            <a:off x="3404728" y="1608885"/>
            <a:ext cx="792193" cy="430887"/>
          </a:xfrm>
          <a:prstGeom prst="rect">
            <a:avLst/>
          </a:prstGeom>
          <a:noFill/>
        </p:spPr>
        <p:txBody>
          <a:bodyPr wrap="square">
            <a:spAutoFit/>
          </a:bodyPr>
          <a:lstStyle/>
          <a:p>
            <a:r>
              <a:rPr lang="zh-CN" altLang="en-US" sz="1050" b="1" dirty="0">
                <a:solidFill>
                  <a:prstClr val="black"/>
                </a:solidFill>
                <a:latin typeface="Garamond" panose="02020404030301010803" pitchFamily="18" charset="0"/>
                <a:ea typeface="KaiTi" panose="02010609060101010101" pitchFamily="49" charset="-122"/>
              </a:rPr>
              <a:t>投资边际效率曲线</a:t>
            </a:r>
            <a:endParaRPr lang="zh-CN" altLang="en-US" sz="1050" dirty="0"/>
          </a:p>
        </p:txBody>
      </p:sp>
    </p:spTree>
    <p:extLst>
      <p:ext uri="{BB962C8B-B14F-4D97-AF65-F5344CB8AC3E}">
        <p14:creationId xmlns:p14="http://schemas.microsoft.com/office/powerpoint/2010/main" val="3911162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1" name="Rectangle 3"/>
              <p:cNvSpPr>
                <a:spLocks noGrp="1" noChangeArrowheads="1"/>
              </p:cNvSpPr>
              <p:nvPr>
                <p:ph type="body" idx="1"/>
              </p:nvPr>
            </p:nvSpPr>
            <p:spPr/>
            <p:txBody>
              <a:bodyPr/>
              <a:lstStyle/>
              <a:p>
                <a:pPr eaLnBrk="1" hangingPunct="1"/>
                <a:r>
                  <a:rPr lang="zh-CN" altLang="en-US" sz="1008" dirty="0">
                    <a:latin typeface="SimSun" panose="02010600030101010101" pitchFamily="2" charset="-122"/>
                    <a:ea typeface="SimSun" panose="02010600030101010101" pitchFamily="2" charset="-122"/>
                  </a:rPr>
                  <a:t>从利率水平探讨投资需求，实际上是从投资使用的资金成本角度探讨投资需求。</a:t>
                </a:r>
                <a:endParaRPr lang="en-US" altLang="zh-CN" sz="1008" dirty="0">
                  <a:latin typeface="SimSun" panose="02010600030101010101" pitchFamily="2" charset="-122"/>
                  <a:ea typeface="SimSun" panose="02010600030101010101" pitchFamily="2" charset="-122"/>
                </a:endParaRPr>
              </a:p>
              <a:p>
                <a:pPr eaLnBrk="1" hangingPunct="1"/>
                <a:r>
                  <a:rPr lang="zh-CN" altLang="en-US" sz="1008" dirty="0">
                    <a:latin typeface="SimSun" panose="02010600030101010101" pitchFamily="2" charset="-122"/>
                    <a:ea typeface="SimSun" panose="02010600030101010101" pitchFamily="2" charset="-122"/>
                  </a:rPr>
                  <a:t>根据</a:t>
                </a:r>
                <a14:m>
                  <m:oMath xmlns:m="http://schemas.openxmlformats.org/officeDocument/2006/math">
                    <m:r>
                      <a:rPr lang="zh-CN" altLang="en-US" sz="1008" i="1">
                        <a:latin typeface="Cambria Math" panose="02040503050406030204" pitchFamily="18" charset="0"/>
                        <a:ea typeface="楷体" panose="02010609060101010101" pitchFamily="49" charset="-122"/>
                      </a:rPr>
                      <m:t>资本边际效率公式：</m:t>
                    </m:r>
                  </m:oMath>
                </a14:m>
                <a:endParaRPr lang="en-US" altLang="zh-CN" sz="1008" i="1" dirty="0">
                  <a:latin typeface="SimSun" panose="02010600030101010101" pitchFamily="2" charset="-122"/>
                  <a:ea typeface="SimSun" panose="02010600030101010101" pitchFamily="2" charset="-122"/>
                </a:endParaRPr>
              </a:p>
              <a:p>
                <a:pPr eaLnBrk="1" hangingPunct="1"/>
                <a14:m>
                  <m:oMath xmlns:m="http://schemas.openxmlformats.org/officeDocument/2006/math">
                    <m:r>
                      <a:rPr lang="en-US" altLang="zh-CN" sz="1008" i="1">
                        <a:latin typeface="Cambria Math" panose="02040503050406030204" pitchFamily="18" charset="0"/>
                        <a:ea typeface="楷体" panose="02010609060101010101" pitchFamily="49" charset="-122"/>
                      </a:rPr>
                      <m:t>𝑅</m:t>
                    </m:r>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1</m:t>
                            </m:r>
                          </m:sub>
                        </m:sSub>
                      </m:num>
                      <m:den>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2</m:t>
                            </m:r>
                          </m:sub>
                        </m:sSub>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2</m:t>
                            </m:r>
                          </m:sup>
                        </m:sSup>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𝑛</m:t>
                            </m:r>
                          </m:sub>
                        </m:sSub>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r>
                          <a:rPr lang="en-US" altLang="zh-CN" sz="1008" i="1">
                            <a:latin typeface="Cambria Math" panose="02040503050406030204" pitchFamily="18" charset="0"/>
                            <a:ea typeface="楷体" panose="02010609060101010101" pitchFamily="49" charset="-122"/>
                          </a:rPr>
                          <m:t>𝐽</m:t>
                        </m:r>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den>
                    </m:f>
                  </m:oMath>
                </a14:m>
                <a:endParaRPr lang="en-US" altLang="zh-CN" sz="1008" dirty="0">
                  <a:latin typeface="SimSun" panose="02010600030101010101" pitchFamily="2" charset="-122"/>
                  <a:ea typeface="SimSun" panose="02010600030101010101" pitchFamily="2" charset="-122"/>
                </a:endParaRPr>
              </a:p>
              <a:p>
                <a:pPr eaLnBrk="1" hangingPunct="1"/>
                <a:r>
                  <a:rPr lang="zh-CN" altLang="en-US" sz="1008" dirty="0">
                    <a:latin typeface="SimSun" panose="02010600030101010101" pitchFamily="2" charset="-122"/>
                    <a:ea typeface="SimSun" panose="02010600030101010101" pitchFamily="2" charset="-122"/>
                  </a:rPr>
                  <a:t>预期收益，即一个投资项目在未来各个时期估计可得到的收益，也会影响投资。</a:t>
                </a:r>
                <a:r>
                  <a:rPr lang="zh-CN" altLang="en-US" sz="1008" b="1" dirty="0">
                    <a:latin typeface="SimSun" panose="02010600030101010101" pitchFamily="2" charset="-122"/>
                    <a:ea typeface="SimSun" panose="02010600030101010101" pitchFamily="2" charset="-122"/>
                  </a:rPr>
                  <a:t>影响预期收益</a:t>
                </a:r>
                <a:r>
                  <a:rPr lang="zh-CN" altLang="en-US" sz="1008" dirty="0">
                    <a:latin typeface="SimSun" panose="02010600030101010101" pitchFamily="2" charset="-122"/>
                    <a:ea typeface="SimSun" panose="02010600030101010101" pitchFamily="2" charset="-122"/>
                  </a:rPr>
                  <a:t>的因素主要有：</a:t>
                </a:r>
                <a:endParaRPr lang="en-US" altLang="zh-CN" sz="1008" dirty="0">
                  <a:latin typeface="SimSun" panose="02010600030101010101" pitchFamily="2" charset="-122"/>
                  <a:ea typeface="SimSun" panose="02010600030101010101" pitchFamily="2" charset="-122"/>
                </a:endParaRPr>
              </a:p>
              <a:p>
                <a:pPr eaLnBrk="1" hangingPunct="1"/>
                <a:r>
                  <a:rPr lang="en-US" altLang="zh-CN" sz="1008" dirty="0">
                    <a:latin typeface="SimSun" panose="02010600030101010101" pitchFamily="2" charset="-122"/>
                    <a:ea typeface="SimSun" panose="02010600030101010101" pitchFamily="2" charset="-122"/>
                  </a:rPr>
                  <a:t>1</a:t>
                </a:r>
                <a:r>
                  <a:rPr lang="zh-CN" altLang="en-US" sz="1008" dirty="0">
                    <a:latin typeface="SimSun" panose="02010600030101010101" pitchFamily="2" charset="-122"/>
                    <a:ea typeface="SimSun" panose="02010600030101010101" pitchFamily="2" charset="-122"/>
                  </a:rPr>
                  <a:t>、对投资项目的产出的需求预期</a:t>
                </a:r>
              </a:p>
              <a:p>
                <a:pPr eaLnBrk="1" hangingPunct="1"/>
                <a:r>
                  <a:rPr lang="en-US" altLang="zh-CN" sz="1008" dirty="0">
                    <a:latin typeface="SimSun" panose="02010600030101010101" pitchFamily="2" charset="-122"/>
                    <a:ea typeface="SimSun" panose="02010600030101010101" pitchFamily="2" charset="-122"/>
                  </a:rPr>
                  <a:t>2</a:t>
                </a:r>
                <a:r>
                  <a:rPr lang="zh-CN" altLang="en-US" sz="1008" dirty="0">
                    <a:latin typeface="SimSun" panose="02010600030101010101" pitchFamily="2" charset="-122"/>
                    <a:ea typeface="SimSun" panose="02010600030101010101" pitchFamily="2" charset="-122"/>
                  </a:rPr>
                  <a:t>、产品成本</a:t>
                </a:r>
                <a:r>
                  <a:rPr lang="en-US" altLang="zh-CN" sz="1008" dirty="0">
                    <a:latin typeface="SimSun" panose="02010600030101010101" pitchFamily="2" charset="-122"/>
                    <a:ea typeface="SimSun" panose="02010600030101010101" pitchFamily="2" charset="-122"/>
                  </a:rPr>
                  <a:t>(</a:t>
                </a:r>
                <a:r>
                  <a:rPr lang="zh-CN" altLang="en-US" sz="1008" dirty="0">
                    <a:latin typeface="SimSun" panose="02010600030101010101" pitchFamily="2" charset="-122"/>
                    <a:ea typeface="SimSun" panose="02010600030101010101" pitchFamily="2" charset="-122"/>
                  </a:rPr>
                  <a:t>工资成本对投资需求的双向影响</a:t>
                </a:r>
                <a:r>
                  <a:rPr lang="en-US" altLang="zh-CN" sz="1008" dirty="0">
                    <a:latin typeface="SimSun" panose="02010600030101010101" pitchFamily="2" charset="-122"/>
                    <a:ea typeface="SimSun" panose="02010600030101010101" pitchFamily="2" charset="-122"/>
                  </a:rPr>
                  <a:t>)</a:t>
                </a:r>
              </a:p>
              <a:p>
                <a:pPr eaLnBrk="1" hangingPunct="1"/>
                <a:r>
                  <a:rPr lang="zh-CN" altLang="en-US" sz="1008" dirty="0">
                    <a:latin typeface="SimSun" panose="02010600030101010101" pitchFamily="2" charset="-122"/>
                    <a:ea typeface="SimSun" panose="02010600030101010101" pitchFamily="2" charset="-122"/>
                  </a:rPr>
                  <a:t>新古典经济学认为劳动力成本上升会让企业越来越多地考虑采用新的机器设备，从而增加投资需求。</a:t>
                </a:r>
                <a:endParaRPr lang="en-US" altLang="zh-CN" sz="1008" dirty="0">
                  <a:latin typeface="SimSun" panose="02010600030101010101" pitchFamily="2" charset="-122"/>
                  <a:ea typeface="SimSun" panose="02010600030101010101" pitchFamily="2" charset="-122"/>
                </a:endParaRPr>
              </a:p>
              <a:p>
                <a:pPr eaLnBrk="1" hangingPunct="1"/>
                <a:r>
                  <a:rPr lang="en-US" altLang="zh-CN" sz="1008" dirty="0">
                    <a:latin typeface="SimSun" panose="02010600030101010101" pitchFamily="2" charset="-122"/>
                    <a:ea typeface="SimSun" panose="02010600030101010101" pitchFamily="2" charset="-122"/>
                  </a:rPr>
                  <a:t>3</a:t>
                </a:r>
                <a:r>
                  <a:rPr lang="zh-CN" altLang="en-US" sz="1008" dirty="0">
                    <a:latin typeface="SimSun" panose="02010600030101010101" pitchFamily="2" charset="-122"/>
                    <a:ea typeface="SimSun" panose="02010600030101010101" pitchFamily="2" charset="-122"/>
                  </a:rPr>
                  <a:t>、投资税抵免</a:t>
                </a:r>
              </a:p>
            </p:txBody>
          </p:sp>
        </mc:Choice>
        <mc:Fallback xmlns="">
          <p:sp>
            <p:nvSpPr>
              <p:cNvPr id="12291" name="Rectangle 3"/>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33A69C2C-FCAD-C0D8-2C20-C26C4B5510DC}"/>
              </a:ext>
            </a:extLst>
          </p:cNvPr>
          <p:cNvSpPr>
            <a:spLocks noGrp="1"/>
          </p:cNvSpPr>
          <p:nvPr>
            <p:ph type="title"/>
          </p:nvPr>
        </p:nvSpPr>
        <p:spPr/>
        <p:txBody>
          <a:bodyPr/>
          <a:lstStyle/>
          <a:p>
            <a:r>
              <a:rPr kumimoji="1" lang="zh-CN" altLang="en-US" dirty="0"/>
              <a:t>预期收益与投资</a:t>
            </a:r>
          </a:p>
        </p:txBody>
      </p:sp>
      <p:sp>
        <p:nvSpPr>
          <p:cNvPr id="4" name="灯片编号占位符 2">
            <a:extLst>
              <a:ext uri="{FF2B5EF4-FFF2-40B4-BE49-F238E27FC236}">
                <a16:creationId xmlns:a16="http://schemas.microsoft.com/office/drawing/2014/main" id="{40BC96FD-4598-8EFE-DC32-19A0E825016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18</a:t>
            </a:fld>
            <a:endParaRPr lang="zh-CN" altLang="zh-CN" sz="856">
              <a:solidFill>
                <a:srgbClr val="777777"/>
              </a:solidFill>
              <a:ea typeface="宋体" panose="02010600030101010101" pitchFamily="2" charset="-122"/>
            </a:endParaRPr>
          </a:p>
        </p:txBody>
      </p:sp>
      <p:sp>
        <p:nvSpPr>
          <p:cNvPr id="5" name="页脚占位符 1">
            <a:extLst>
              <a:ext uri="{FF2B5EF4-FFF2-40B4-BE49-F238E27FC236}">
                <a16:creationId xmlns:a16="http://schemas.microsoft.com/office/drawing/2014/main" id="{7DE2E813-D77A-5BD0-4AD4-F0CAF6FCF99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50709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p:txBody>
          <a:bodyPr/>
          <a:lstStyle/>
          <a:p>
            <a:pPr eaLnBrk="1" hangingPunct="1"/>
            <a:r>
              <a:rPr lang="zh-CN" altLang="en-US" sz="1200" dirty="0">
                <a:latin typeface="Garamond" panose="02020404030301010803" pitchFamily="18" charset="0"/>
                <a:ea typeface="SimSun" panose="02010600030101010101" pitchFamily="2" charset="-122"/>
              </a:rPr>
              <a:t>所谓的</a:t>
            </a:r>
            <a:r>
              <a:rPr lang="zh-CN" altLang="en-US" sz="1200" b="1" dirty="0">
                <a:latin typeface="Garamond" panose="02020404030301010803" pitchFamily="18" charset="0"/>
                <a:ea typeface="SimSun" panose="02010600030101010101" pitchFamily="2" charset="-122"/>
              </a:rPr>
              <a:t>风险</a:t>
            </a:r>
            <a:r>
              <a:rPr lang="zh-CN" altLang="en-US" sz="1200" dirty="0">
                <a:latin typeface="Garamond" panose="02020404030301010803" pitchFamily="18" charset="0"/>
                <a:ea typeface="SimSun" panose="02010600030101010101" pitchFamily="2" charset="-122"/>
              </a:rPr>
              <a:t>，包括未来的市场走势、产品价格变化、生产成本变动、实际利率变化、政府宏观经济政策变化等的不确定性。</a:t>
            </a:r>
            <a:endParaRPr lang="en-US" altLang="zh-CN" sz="1200" dirty="0">
              <a:latin typeface="Garamond" panose="02020404030301010803" pitchFamily="18" charset="0"/>
              <a:ea typeface="SimSun" panose="02010600030101010101" pitchFamily="2" charset="-122"/>
            </a:endParaRPr>
          </a:p>
          <a:p>
            <a:pPr eaLnBrk="1" hangingPunct="1"/>
            <a:r>
              <a:rPr lang="zh-CN" altLang="en-US" sz="1200" dirty="0">
                <a:latin typeface="Garamond" panose="02020404030301010803" pitchFamily="18" charset="0"/>
                <a:ea typeface="SimSun" panose="02010600030101010101" pitchFamily="2" charset="-122"/>
              </a:rPr>
              <a:t>一般来说，</a:t>
            </a:r>
            <a:r>
              <a:rPr lang="zh-CN" altLang="en-US" sz="1200" b="1" dirty="0">
                <a:latin typeface="Garamond" panose="02020404030301010803" pitchFamily="18" charset="0"/>
                <a:ea typeface="SimSun" panose="02010600030101010101" pitchFamily="2" charset="-122"/>
              </a:rPr>
              <a:t>经济繁荣</a:t>
            </a:r>
            <a:r>
              <a:rPr lang="zh-CN" altLang="en-US" sz="1200" dirty="0">
                <a:latin typeface="Garamond" panose="02020404030301010803" pitchFamily="18" charset="0"/>
                <a:ea typeface="SimSun" panose="02010600030101010101" pitchFamily="2" charset="-122"/>
              </a:rPr>
              <a:t>时，企业对未来会看好，认为投资风险较小；</a:t>
            </a:r>
            <a:r>
              <a:rPr lang="zh-CN" altLang="en-US" sz="1200" b="1" dirty="0">
                <a:latin typeface="Garamond" panose="02020404030301010803" pitchFamily="18" charset="0"/>
                <a:ea typeface="SimSun" panose="02010600030101010101" pitchFamily="2" charset="-122"/>
              </a:rPr>
              <a:t>经济衰退</a:t>
            </a:r>
            <a:r>
              <a:rPr lang="zh-CN" altLang="en-US" sz="1200" dirty="0">
                <a:latin typeface="Garamond" panose="02020404030301010803" pitchFamily="18" charset="0"/>
                <a:ea typeface="SimSun" panose="02010600030101010101" pitchFamily="2" charset="-122"/>
              </a:rPr>
              <a:t>时，企业对未来看法悲观，感觉投资风险较大。</a:t>
            </a:r>
            <a:endParaRPr lang="en-US" altLang="zh-CN" sz="1200" dirty="0">
              <a:latin typeface="Garamond" panose="02020404030301010803" pitchFamily="18" charset="0"/>
              <a:ea typeface="SimSun" panose="02010600030101010101" pitchFamily="2" charset="-122"/>
            </a:endParaRPr>
          </a:p>
          <a:p>
            <a:pPr eaLnBrk="1" hangingPunct="1"/>
            <a:r>
              <a:rPr lang="zh-CN" altLang="en-US" sz="1200" b="1" dirty="0">
                <a:latin typeface="Garamond" panose="02020404030301010803" pitchFamily="18" charset="0"/>
                <a:ea typeface="SimSun" panose="02010600030101010101" pitchFamily="2" charset="-122"/>
              </a:rPr>
              <a:t>凯恩斯认为，</a:t>
            </a:r>
            <a:r>
              <a:rPr lang="zh-CN" altLang="en-US" sz="1200" dirty="0">
                <a:latin typeface="Garamond" panose="02020404030301010803" pitchFamily="18" charset="0"/>
                <a:ea typeface="SimSun" panose="02010600030101010101" pitchFamily="2" charset="-122"/>
              </a:rPr>
              <a:t>投资需求与投资者的乐观和悲观情绪有很大关系，实际上，这说明投资需求会随人们承担风险的意愿和能力变化而变动。</a:t>
            </a:r>
          </a:p>
        </p:txBody>
      </p:sp>
      <p:sp>
        <p:nvSpPr>
          <p:cNvPr id="2" name="标题 1">
            <a:extLst>
              <a:ext uri="{FF2B5EF4-FFF2-40B4-BE49-F238E27FC236}">
                <a16:creationId xmlns:a16="http://schemas.microsoft.com/office/drawing/2014/main" id="{5682334A-0901-EFAD-5201-135CB37FA607}"/>
              </a:ext>
            </a:extLst>
          </p:cNvPr>
          <p:cNvSpPr>
            <a:spLocks noGrp="1"/>
          </p:cNvSpPr>
          <p:nvPr>
            <p:ph type="title"/>
          </p:nvPr>
        </p:nvSpPr>
        <p:spPr/>
        <p:txBody>
          <a:bodyPr/>
          <a:lstStyle/>
          <a:p>
            <a:r>
              <a:rPr kumimoji="1" lang="zh-CN" altLang="en-US" dirty="0"/>
              <a:t>风险与投资</a:t>
            </a:r>
          </a:p>
        </p:txBody>
      </p:sp>
      <p:sp>
        <p:nvSpPr>
          <p:cNvPr id="4" name="灯片编号占位符 2">
            <a:extLst>
              <a:ext uri="{FF2B5EF4-FFF2-40B4-BE49-F238E27FC236}">
                <a16:creationId xmlns:a16="http://schemas.microsoft.com/office/drawing/2014/main" id="{038D445D-FFB5-A665-3797-40BF4B5C4C3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19</a:t>
            </a:fld>
            <a:endParaRPr lang="zh-CN" altLang="zh-CN" sz="856">
              <a:solidFill>
                <a:srgbClr val="777777"/>
              </a:solidFill>
              <a:ea typeface="宋体" panose="02010600030101010101" pitchFamily="2" charset="-122"/>
            </a:endParaRPr>
          </a:p>
        </p:txBody>
      </p:sp>
      <p:sp>
        <p:nvSpPr>
          <p:cNvPr id="5" name="页脚占位符 1">
            <a:extLst>
              <a:ext uri="{FF2B5EF4-FFF2-40B4-BE49-F238E27FC236}">
                <a16:creationId xmlns:a16="http://schemas.microsoft.com/office/drawing/2014/main" id="{F0522552-FE4C-FC85-9FC3-B7F164CF587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776772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美</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詹姆斯</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托宾</a:t>
            </a:r>
            <a:r>
              <a:rPr lang="en-US" altLang="zh-CN" sz="1210" dirty="0">
                <a:latin typeface="Garamond" panose="02020404030301010803" pitchFamily="18" charset="0"/>
                <a:ea typeface="SimSun" panose="02010600030101010101" pitchFamily="2" charset="-122"/>
              </a:rPr>
              <a:t>(James Tobin)</a:t>
            </a:r>
          </a:p>
          <a:p>
            <a:r>
              <a:rPr lang="zh-CN" altLang="en-US" sz="1210" dirty="0">
                <a:latin typeface="Garamond" panose="02020404030301010803" pitchFamily="18" charset="0"/>
                <a:ea typeface="SimSun" panose="02010600030101010101" pitchFamily="2" charset="-122"/>
              </a:rPr>
              <a:t>股票价格会影响投资的理论</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企业的市场价值与其重置成本之比，可以作为衡量要不要进行新投资的标准，这一比率称为</a:t>
            </a:r>
            <a:r>
              <a:rPr lang="en-US" altLang="zh-CN" sz="1210" dirty="0">
                <a:latin typeface="Garamond" panose="02020404030301010803" pitchFamily="18" charset="0"/>
                <a:ea typeface="SimSun" panose="02010600030101010101" pitchFamily="2" charset="-122"/>
              </a:rPr>
              <a:t>q</a:t>
            </a:r>
            <a:r>
              <a:rPr lang="zh-CN" altLang="en-US" sz="1210" dirty="0">
                <a:latin typeface="Garamond" panose="02020404030301010803" pitchFamily="18" charset="0"/>
                <a:ea typeface="SimSun" panose="02010600030101010101" pitchFamily="2" charset="-122"/>
              </a:rPr>
              <a:t>。</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企业的市场价值是这个企业股票的市场价格总和，等于每股价格*总股数。</a:t>
            </a:r>
            <a:endParaRPr lang="en-US" altLang="zh-CN" sz="1210" dirty="0">
              <a:latin typeface="Garamond" panose="02020404030301010803" pitchFamily="18" charset="0"/>
              <a:ea typeface="SimSun" panose="02010600030101010101" pitchFamily="2" charset="-122"/>
            </a:endParaRPr>
          </a:p>
          <a:p>
            <a:r>
              <a:rPr lang="en-US" altLang="zh-CN" sz="1210" dirty="0">
                <a:latin typeface="Garamond" panose="02020404030301010803" pitchFamily="18" charset="0"/>
                <a:ea typeface="SimSun" panose="02010600030101010101" pitchFamily="2" charset="-122"/>
              </a:rPr>
              <a:t>q=</a:t>
            </a:r>
            <a:r>
              <a:rPr lang="zh-CN" altLang="en-US" sz="1210" dirty="0">
                <a:latin typeface="Garamond" panose="02020404030301010803" pitchFamily="18" charset="0"/>
                <a:ea typeface="SimSun" panose="02010600030101010101" pitchFamily="2" charset="-122"/>
              </a:rPr>
              <a:t>企业的股票价值</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新建企业的成本</a:t>
            </a:r>
            <a:endParaRPr lang="en-US" altLang="zh-CN" sz="1210" dirty="0">
              <a:latin typeface="Garamond" panose="02020404030301010803" pitchFamily="18" charset="0"/>
              <a:ea typeface="SimSun" panose="02010600030101010101" pitchFamily="2" charset="-122"/>
            </a:endParaRPr>
          </a:p>
          <a:p>
            <a:r>
              <a:rPr lang="en-US" altLang="zh-CN" sz="1210" dirty="0">
                <a:latin typeface="Garamond" panose="02020404030301010803" pitchFamily="18" charset="0"/>
                <a:ea typeface="SimSun" panose="02010600030101010101" pitchFamily="2" charset="-122"/>
              </a:rPr>
              <a:t>q&lt;1 </a:t>
            </a:r>
            <a:r>
              <a:rPr lang="zh-CN" altLang="en-US" sz="1210" dirty="0">
                <a:latin typeface="Garamond" panose="02020404030301010803" pitchFamily="18" charset="0"/>
                <a:ea typeface="SimSun" panose="02010600030101010101" pitchFamily="2" charset="-122"/>
              </a:rPr>
              <a:t>说明买旧的企业比建新企业便宜，于是不会有新投资；反之</a:t>
            </a:r>
            <a:r>
              <a:rPr lang="en-US" altLang="zh-CN" sz="1210" dirty="0">
                <a:latin typeface="Garamond" panose="02020404030301010803" pitchFamily="18" charset="0"/>
                <a:ea typeface="SimSun" panose="02010600030101010101" pitchFamily="2" charset="-122"/>
              </a:rPr>
              <a:t>q&gt;1 </a:t>
            </a:r>
            <a:r>
              <a:rPr lang="zh-CN" altLang="en-US" sz="1210" dirty="0">
                <a:latin typeface="Garamond" panose="02020404030301010803" pitchFamily="18" charset="0"/>
                <a:ea typeface="SimSun" panose="02010600030101010101" pitchFamily="2" charset="-122"/>
              </a:rPr>
              <a:t>说明新建企业比买就企业要便宜，因此会有新投资。</a:t>
            </a:r>
          </a:p>
        </p:txBody>
      </p:sp>
      <p:sp>
        <p:nvSpPr>
          <p:cNvPr id="4" name="标题 3">
            <a:extLst>
              <a:ext uri="{FF2B5EF4-FFF2-40B4-BE49-F238E27FC236}">
                <a16:creationId xmlns:a16="http://schemas.microsoft.com/office/drawing/2014/main" id="{04E8B583-8675-4811-53C2-EE7AB0F044A1}"/>
              </a:ext>
            </a:extLst>
          </p:cNvPr>
          <p:cNvSpPr>
            <a:spLocks noGrp="1"/>
          </p:cNvSpPr>
          <p:nvPr>
            <p:ph type="title"/>
          </p:nvPr>
        </p:nvSpPr>
        <p:spPr/>
        <p:txBody>
          <a:bodyPr/>
          <a:lstStyle/>
          <a:p>
            <a:r>
              <a:rPr kumimoji="1" lang="zh-CN" altLang="en-US" dirty="0"/>
              <a:t>托宾</a:t>
            </a:r>
            <a:r>
              <a:rPr kumimoji="1" lang="en-US" altLang="zh-CN" dirty="0"/>
              <a:t>Q</a:t>
            </a:r>
            <a:endParaRPr kumimoji="1" lang="zh-CN" altLang="en-US" dirty="0"/>
          </a:p>
        </p:txBody>
      </p:sp>
      <p:sp>
        <p:nvSpPr>
          <p:cNvPr id="6" name="灯片编号占位符 2">
            <a:extLst>
              <a:ext uri="{FF2B5EF4-FFF2-40B4-BE49-F238E27FC236}">
                <a16:creationId xmlns:a16="http://schemas.microsoft.com/office/drawing/2014/main" id="{95BFCD37-D72C-E50E-2B9C-9A9CE8180A7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20</a:t>
            </a:fld>
            <a:endParaRPr lang="zh-CN" altLang="zh-CN" sz="856">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DE94E02B-6DD7-1F72-D9ED-2E6E923B82E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198389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2</a:t>
            </a:r>
            <a:r>
              <a:rPr lang="zh-CN" altLang="en-US" sz="2000" b="1" dirty="0">
                <a:solidFill>
                  <a:srgbClr val="333399"/>
                </a:solidFill>
                <a:latin typeface="Garamond" panose="02020404030301010803" pitchFamily="18" charset="0"/>
                <a:ea typeface="KaiTi" panose="02010609060101010101" pitchFamily="49" charset="-122"/>
                <a:cs typeface="+mj-cs"/>
              </a:rPr>
              <a:t>节 </a:t>
            </a:r>
            <a:r>
              <a:rPr lang="en-US" altLang="zh-CN" sz="2000" b="1" dirty="0">
                <a:solidFill>
                  <a:srgbClr val="333399"/>
                </a:solidFill>
                <a:latin typeface="Garamond" panose="02020404030301010803" pitchFamily="18" charset="0"/>
                <a:ea typeface="KaiTi" panose="02010609060101010101" pitchFamily="49" charset="-122"/>
                <a:cs typeface="+mj-cs"/>
              </a:rPr>
              <a:t>IS</a:t>
            </a:r>
            <a:r>
              <a:rPr lang="zh-CN" altLang="en-US" sz="2000" b="1" dirty="0">
                <a:solidFill>
                  <a:srgbClr val="333399"/>
                </a:solidFill>
                <a:latin typeface="Garamond" panose="02020404030301010803" pitchFamily="18" charset="0"/>
                <a:ea typeface="KaiTi" panose="02010609060101010101" pitchFamily="49" charset="-122"/>
                <a:cs typeface="+mj-cs"/>
              </a:rPr>
              <a:t>曲线</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3138592214"/>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5853" y="504208"/>
            <a:ext cx="3976211" cy="232413"/>
          </a:xfrm>
        </p:spPr>
        <p:txBody>
          <a:bodyPr/>
          <a:lstStyle/>
          <a:p>
            <a:r>
              <a:rPr lang="zh-CN" altLang="en-US" sz="1210" b="1" dirty="0">
                <a:latin typeface="SimSun" panose="02010600030101010101" pitchFamily="2" charset="-122"/>
                <a:ea typeface="SimSun" panose="02010600030101010101" pitchFamily="2" charset="-122"/>
              </a:rPr>
              <a:t>产品市场的均衡</a:t>
            </a:r>
            <a:r>
              <a:rPr lang="zh-CN" altLang="en-US" sz="1210" dirty="0">
                <a:latin typeface="SimSun" panose="02010600030101010101" pitchFamily="2" charset="-122"/>
                <a:ea typeface="SimSun" panose="02010600030101010101" pitchFamily="2" charset="-122"/>
              </a:rPr>
              <a:t>是指总需求与总供给相等。</a:t>
            </a:r>
          </a:p>
        </p:txBody>
      </p:sp>
      <p:pic>
        <p:nvPicPr>
          <p:cNvPr id="7" name="Picture 4" descr="xf144"/>
          <p:cNvPicPr>
            <a:picLocks noChangeAspect="1" noChangeArrowheads="1"/>
          </p:cNvPicPr>
          <p:nvPr/>
        </p:nvPicPr>
        <p:blipFill rotWithShape="1">
          <a:blip r:embed="rId2">
            <a:extLst>
              <a:ext uri="{28A0092B-C50C-407E-A947-70E740481C1C}">
                <a14:useLocalDpi xmlns:a14="http://schemas.microsoft.com/office/drawing/2010/main" val="0"/>
              </a:ext>
            </a:extLst>
          </a:blip>
          <a:srcRect l="3764" t="3316" r="3939" b="4717"/>
          <a:stretch/>
        </p:blipFill>
        <p:spPr bwMode="auto">
          <a:xfrm>
            <a:off x="2105178" y="1096188"/>
            <a:ext cx="2402105" cy="132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989310" y="2442735"/>
            <a:ext cx="534121" cy="232051"/>
          </a:xfrm>
          <a:prstGeom prst="rect">
            <a:avLst/>
          </a:prstGeom>
        </p:spPr>
        <p:txBody>
          <a:bodyPr wrap="none">
            <a:spAutoFit/>
          </a:bodyPr>
          <a:lstStyle/>
          <a:p>
            <a:pPr algn="ctr" eaLnBrk="1" hangingPunct="1">
              <a:spcBef>
                <a:spcPct val="50000"/>
              </a:spcBef>
            </a:pPr>
            <a:r>
              <a:rPr lang="en-US" altLang="zh-CN" sz="908" dirty="0">
                <a:latin typeface="Garamond" panose="02020404030301010803" pitchFamily="18" charset="0"/>
                <a:ea typeface="KaiTi" panose="02010609060101010101" pitchFamily="49" charset="-122"/>
              </a:rPr>
              <a:t>IS</a:t>
            </a:r>
            <a:r>
              <a:rPr lang="zh-CN" altLang="en-US" sz="908" dirty="0">
                <a:latin typeface="Garamond" panose="02020404030301010803" pitchFamily="18" charset="0"/>
                <a:ea typeface="KaiTi" panose="02010609060101010101" pitchFamily="49" charset="-122"/>
              </a:rPr>
              <a:t>曲线</a:t>
            </a:r>
          </a:p>
        </p:txBody>
      </p:sp>
      <mc:AlternateContent xmlns:mc="http://schemas.openxmlformats.org/markup-compatibility/2006" xmlns:a14="http://schemas.microsoft.com/office/drawing/2010/main">
        <mc:Choice Requires="a14">
          <p:sp>
            <p:nvSpPr>
              <p:cNvPr id="9" name="矩形 8"/>
              <p:cNvSpPr/>
              <p:nvPr/>
            </p:nvSpPr>
            <p:spPr>
              <a:xfrm>
                <a:off x="310028" y="794271"/>
                <a:ext cx="1983017" cy="19917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考虑投资的变动</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根据投资储蓄恒等式：</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d>
                      <m:dPr>
                        <m:begChr m:val="{"/>
                        <m:endChr m:val=""/>
                        <m:ctrlPr>
                          <a:rPr lang="en-US" altLang="zh-CN" sz="1008" i="1">
                            <a:latin typeface="Cambria Math" panose="02040503050406030204" pitchFamily="18" charset="0"/>
                          </a:rPr>
                        </m:ctrlPr>
                      </m:dPr>
                      <m:e>
                        <m:eqArr>
                          <m:eqArrPr>
                            <m:ctrlPr>
                              <a:rPr lang="en-US" altLang="zh-CN" sz="1008" i="1">
                                <a:latin typeface="Cambria Math" panose="02040503050406030204" pitchFamily="18" charset="0"/>
                              </a:rPr>
                            </m:ctrlPr>
                          </m:eqArrPr>
                          <m:e>
                            <m:r>
                              <a:rPr lang="en-US" altLang="zh-CN" sz="1008">
                                <a:latin typeface="Cambria Math" panose="02040503050406030204" pitchFamily="18" charset="0"/>
                              </a:rPr>
                              <m:t>𝑖</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e>
                          <m:e>
                            <m:r>
                              <a:rPr lang="en-US" altLang="zh-CN" sz="1008" i="1">
                                <a:latin typeface="Cambria Math" panose="02040503050406030204" pitchFamily="18" charset="0"/>
                              </a:rPr>
                              <m:t>𝑠</m:t>
                            </m:r>
                            <m:r>
                              <a:rPr lang="en-US" altLang="zh-CN" sz="1008" i="1">
                                <a:latin typeface="Cambria Math" panose="02040503050406030204" pitchFamily="18" charset="0"/>
                              </a:rPr>
                              <m:t>=</m:t>
                            </m:r>
                            <m:r>
                              <a:rPr lang="en-US" altLang="zh-CN" sz="1008" i="1">
                                <a:latin typeface="Cambria Math" panose="02040503050406030204" pitchFamily="18" charset="0"/>
                              </a:rPr>
                              <m:t>𝑦</m:t>
                            </m:r>
                            <m:r>
                              <a:rPr lang="en-US" altLang="zh-CN" sz="1008" i="1">
                                <a:latin typeface="Cambria Math" panose="02040503050406030204" pitchFamily="18" charset="0"/>
                              </a:rPr>
                              <m:t>−</m:t>
                            </m:r>
                            <m:r>
                              <a:rPr lang="en-US" altLang="zh-CN" sz="1008" i="1">
                                <a:latin typeface="Cambria Math" panose="02040503050406030204" pitchFamily="18" charset="0"/>
                              </a:rPr>
                              <m:t>𝑐</m:t>
                            </m:r>
                            <m:r>
                              <a:rPr lang="en-US" altLang="zh-CN" sz="1008" i="1">
                                <a:latin typeface="Cambria Math" panose="02040503050406030204" pitchFamily="18" charset="0"/>
                              </a:rPr>
                              <m:t>=−</m:t>
                            </m:r>
                            <m:r>
                              <a:rPr lang="zh-CN" altLang="en-US" sz="1008" i="1">
                                <a:latin typeface="Cambria Math" panose="02040503050406030204" pitchFamily="18" charset="0"/>
                              </a:rPr>
                              <m:t>𝛼</m:t>
                            </m:r>
                            <m:r>
                              <a:rPr lang="en-US" altLang="zh-CN" sz="1008" i="1">
                                <a:latin typeface="Cambria Math" panose="02040503050406030204" pitchFamily="18" charset="0"/>
                              </a:rPr>
                              <m:t>+</m:t>
                            </m:r>
                            <m:d>
                              <m:dPr>
                                <m:ctrlPr>
                                  <a:rPr lang="en-US" altLang="zh-CN" sz="1008" i="1">
                                    <a:latin typeface="Cambria Math" panose="02040503050406030204" pitchFamily="18" charset="0"/>
                                  </a:rPr>
                                </m:ctrlPr>
                              </m:dPr>
                              <m:e>
                                <m:r>
                                  <a:rPr lang="en-US" altLang="zh-CN" sz="1008" i="1">
                                    <a:latin typeface="Cambria Math" panose="02040503050406030204" pitchFamily="18" charset="0"/>
                                  </a:rPr>
                                  <m:t>1−</m:t>
                                </m:r>
                                <m:r>
                                  <a:rPr lang="zh-CN" altLang="en-US" sz="1008" i="1">
                                    <a:latin typeface="Cambria Math" panose="02040503050406030204" pitchFamily="18" charset="0"/>
                                  </a:rPr>
                                  <m:t>𝛽</m:t>
                                </m:r>
                              </m:e>
                            </m:d>
                            <m:r>
                              <a:rPr lang="en-US" altLang="zh-CN" sz="1008" i="1">
                                <a:latin typeface="Cambria Math" panose="02040503050406030204" pitchFamily="18" charset="0"/>
                              </a:rPr>
                              <m:t>𝑦</m:t>
                            </m:r>
                          </m:e>
                        </m:eqArr>
                      </m:e>
                    </m:d>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两部门经济的均衡收入：</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𝑖</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endParaRPr lang="zh-CN" altLang="en-US" sz="1008" dirty="0">
                  <a:latin typeface="Garamond" panose="02020404030301010803" pitchFamily="18" charset="0"/>
                  <a:ea typeface="SimSun" panose="02010600030101010101"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310028" y="794271"/>
                <a:ext cx="1983017" cy="1991741"/>
              </a:xfrm>
              <a:prstGeom prst="rect">
                <a:avLst/>
              </a:prstGeom>
              <a:blipFill>
                <a:blip r:embed="rId3"/>
                <a:stretch>
                  <a:fillRect l="-23567" t="-183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矩形 9"/>
          <p:cNvSpPr/>
          <p:nvPr/>
        </p:nvSpPr>
        <p:spPr>
          <a:xfrm>
            <a:off x="316945" y="2685463"/>
            <a:ext cx="3976211" cy="511487"/>
          </a:xfrm>
          <a:prstGeom prst="rect">
            <a:avLst/>
          </a:prstGeom>
        </p:spPr>
        <p:txBody>
          <a:bodyPr wrap="square">
            <a:spAutoFit/>
          </a:bodyPr>
          <a:lstStyle/>
          <a:p>
            <a:r>
              <a:rPr lang="en-US" altLang="zh-CN" sz="908" b="1"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IS</a:t>
            </a:r>
            <a:r>
              <a:rPr lang="zh-CN" altLang="en-US" sz="908" b="1"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曲线是</a:t>
            </a:r>
            <a:r>
              <a:rPr lang="zh-CN" altLang="en-US" sz="908"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一条反映利率和收入间相互关系的曲线。曲线上任何一点都代表一定的利率和收入的组合，在这些组合下，投资和储蓄都是相等的，即产品市场是均衡的。</a:t>
            </a:r>
          </a:p>
        </p:txBody>
      </p:sp>
      <mc:AlternateContent xmlns:mc="http://schemas.openxmlformats.org/markup-compatibility/2006" xmlns:a14="http://schemas.microsoft.com/office/drawing/2010/main">
        <mc:Choice Requires="a14">
          <p:sp>
            <p:nvSpPr>
              <p:cNvPr id="11" name="文本框 10"/>
              <p:cNvSpPr txBox="1"/>
              <p:nvPr/>
            </p:nvSpPr>
            <p:spPr>
              <a:xfrm>
                <a:off x="3219626" y="1258774"/>
                <a:ext cx="869982"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𝑖</m:t>
                      </m:r>
                      <m:r>
                        <a:rPr lang="en-US" altLang="zh-CN" sz="908" i="1">
                          <a:latin typeface="Cambria Math" panose="02040503050406030204" pitchFamily="18" charset="0"/>
                        </a:rPr>
                        <m:t>=1250−250</m:t>
                      </m:r>
                      <m:r>
                        <a:rPr lang="en-US" altLang="zh-CN" sz="908" i="1">
                          <a:latin typeface="Cambria Math" panose="02040503050406030204" pitchFamily="18" charset="0"/>
                        </a:rPr>
                        <m:t>𝑟</m:t>
                      </m:r>
                    </m:oMath>
                  </m:oMathPara>
                </a14:m>
                <a:endParaRPr lang="zh-CN" altLang="en-US" sz="908" dirty="0"/>
              </a:p>
            </p:txBody>
          </p:sp>
        </mc:Choice>
        <mc:Fallback xmlns="">
          <p:sp>
            <p:nvSpPr>
              <p:cNvPr id="11" name="文本框 10"/>
              <p:cNvSpPr txBox="1">
                <a:spLocks noRot="1" noChangeAspect="1" noMove="1" noResize="1" noEditPoints="1" noAdjustHandles="1" noChangeArrowheads="1" noChangeShapeType="1" noTextEdit="1"/>
              </p:cNvSpPr>
              <p:nvPr/>
            </p:nvSpPr>
            <p:spPr>
              <a:xfrm>
                <a:off x="3219626" y="1258774"/>
                <a:ext cx="869982" cy="139718"/>
              </a:xfrm>
              <a:prstGeom prst="rect">
                <a:avLst/>
              </a:prstGeom>
              <a:blipFill>
                <a:blip r:embed="rId4"/>
                <a:stretch>
                  <a:fillRect l="-1429" r="-1429"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3214470" y="1410017"/>
                <a:ext cx="1096839"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𝑠</m:t>
                      </m:r>
                      <m:r>
                        <a:rPr lang="en-US" altLang="zh-CN" sz="908" i="1">
                          <a:latin typeface="Cambria Math" panose="02040503050406030204" pitchFamily="18" charset="0"/>
                        </a:rPr>
                        <m:t>=</m:t>
                      </m:r>
                      <m:r>
                        <a:rPr lang="en-US" altLang="zh-CN" sz="908" i="1">
                          <a:latin typeface="Cambria Math" panose="02040503050406030204" pitchFamily="18" charset="0"/>
                        </a:rPr>
                        <m:t>𝑦</m:t>
                      </m:r>
                      <m:r>
                        <a:rPr lang="en-US" altLang="zh-CN" sz="908" i="1">
                          <a:latin typeface="Cambria Math" panose="02040503050406030204" pitchFamily="18" charset="0"/>
                        </a:rPr>
                        <m:t>=−500+0.5</m:t>
                      </m:r>
                      <m:r>
                        <a:rPr lang="en-US" altLang="zh-CN" sz="908" i="1">
                          <a:latin typeface="Cambria Math" panose="02040503050406030204" pitchFamily="18" charset="0"/>
                        </a:rPr>
                        <m:t>𝑦</m:t>
                      </m:r>
                    </m:oMath>
                  </m:oMathPara>
                </a14:m>
                <a:endParaRPr lang="zh-CN" altLang="en-US" sz="908" dirty="0"/>
              </a:p>
            </p:txBody>
          </p:sp>
        </mc:Choice>
        <mc:Fallback xmlns="">
          <p:sp>
            <p:nvSpPr>
              <p:cNvPr id="12" name="文本框 11"/>
              <p:cNvSpPr txBox="1">
                <a:spLocks noRot="1" noChangeAspect="1" noMove="1" noResize="1" noEditPoints="1" noAdjustHandles="1" noChangeArrowheads="1" noChangeShapeType="1" noTextEdit="1"/>
              </p:cNvSpPr>
              <p:nvPr/>
            </p:nvSpPr>
            <p:spPr>
              <a:xfrm>
                <a:off x="3214470" y="1410017"/>
                <a:ext cx="1096839" cy="139718"/>
              </a:xfrm>
              <a:prstGeom prst="rect">
                <a:avLst/>
              </a:prstGeom>
              <a:blipFill>
                <a:blip r:embed="rId5"/>
                <a:stretch>
                  <a:fillRect r="-2273" b="-4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3306230" y="1604942"/>
                <a:ext cx="935834"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b="1" i="1">
                          <a:latin typeface="Cambria Math" panose="02040503050406030204" pitchFamily="18" charset="0"/>
                        </a:rPr>
                        <m:t>𝒚</m:t>
                      </m:r>
                      <m:r>
                        <a:rPr lang="en-US" altLang="zh-CN" sz="908" b="1" i="1">
                          <a:latin typeface="Cambria Math" panose="02040503050406030204" pitchFamily="18" charset="0"/>
                        </a:rPr>
                        <m:t>=</m:t>
                      </m:r>
                      <m:r>
                        <a:rPr lang="en-US" altLang="zh-CN" sz="908" b="1" i="1">
                          <a:latin typeface="Cambria Math" panose="02040503050406030204" pitchFamily="18" charset="0"/>
                        </a:rPr>
                        <m:t>𝟑𝟓𝟎𝟎</m:t>
                      </m:r>
                      <m:r>
                        <a:rPr lang="en-US" altLang="zh-CN" sz="908" b="1" i="1">
                          <a:latin typeface="Cambria Math" panose="02040503050406030204" pitchFamily="18" charset="0"/>
                        </a:rPr>
                        <m:t>−</m:t>
                      </m:r>
                      <m:r>
                        <a:rPr lang="en-US" altLang="zh-CN" sz="908" b="1" i="1">
                          <a:latin typeface="Cambria Math" panose="02040503050406030204" pitchFamily="18" charset="0"/>
                        </a:rPr>
                        <m:t>𝟓𝟎𝟎</m:t>
                      </m:r>
                      <m:r>
                        <a:rPr lang="en-US" altLang="zh-CN" sz="908" b="1" i="1">
                          <a:latin typeface="Cambria Math" panose="02040503050406030204" pitchFamily="18" charset="0"/>
                        </a:rPr>
                        <m:t>𝒓</m:t>
                      </m:r>
                    </m:oMath>
                  </m:oMathPara>
                </a14:m>
                <a:endParaRPr lang="zh-CN" altLang="en-US" sz="908" b="1" dirty="0"/>
              </a:p>
            </p:txBody>
          </p:sp>
        </mc:Choice>
        <mc:Fallback xmlns="">
          <p:sp>
            <p:nvSpPr>
              <p:cNvPr id="13" name="文本框 12"/>
              <p:cNvSpPr txBox="1">
                <a:spLocks noRot="1" noChangeAspect="1" noMove="1" noResize="1" noEditPoints="1" noAdjustHandles="1" noChangeArrowheads="1" noChangeShapeType="1" noTextEdit="1"/>
              </p:cNvSpPr>
              <p:nvPr/>
            </p:nvSpPr>
            <p:spPr>
              <a:xfrm>
                <a:off x="3306230" y="1604942"/>
                <a:ext cx="935834" cy="139718"/>
              </a:xfrm>
              <a:prstGeom prst="rect">
                <a:avLst/>
              </a:prstGeom>
              <a:blipFill>
                <a:blip r:embed="rId6"/>
                <a:stretch>
                  <a:fillRect l="-2667" r="-1333" b="-25000"/>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DEA6C554-8EFB-5BC9-89FD-F44902EBAFFE}"/>
              </a:ext>
            </a:extLst>
          </p:cNvPr>
          <p:cNvSpPr>
            <a:spLocks noGrp="1"/>
          </p:cNvSpPr>
          <p:nvPr>
            <p:ph type="title"/>
          </p:nvPr>
        </p:nvSpPr>
        <p:spPr/>
        <p:txBody>
          <a:bodyPr/>
          <a:lstStyle/>
          <a:p>
            <a:r>
              <a:rPr kumimoji="1" lang="en-US" altLang="zh-CN" dirty="0"/>
              <a:t>IS</a:t>
            </a:r>
            <a:r>
              <a:rPr kumimoji="1" lang="zh-CN" altLang="en-US" dirty="0"/>
              <a:t>曲线及其推导</a:t>
            </a:r>
          </a:p>
        </p:txBody>
      </p:sp>
      <p:sp>
        <p:nvSpPr>
          <p:cNvPr id="2" name="灯片编号占位符 2">
            <a:extLst>
              <a:ext uri="{FF2B5EF4-FFF2-40B4-BE49-F238E27FC236}">
                <a16:creationId xmlns:a16="http://schemas.microsoft.com/office/drawing/2014/main" id="{24DCCBE4-5DCF-9CB9-1BD7-6DAE18C40F04}"/>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22</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D1C58E88-8CED-391A-752E-9783175DD75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53257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819" y="185672"/>
            <a:ext cx="4076338" cy="395818"/>
          </a:xfrm>
        </p:spPr>
        <p:txBody>
          <a:bodyPr/>
          <a:lstStyle/>
          <a:p>
            <a:r>
              <a:rPr lang="en-US" altLang="zh-CN" sz="1008" dirty="0"/>
              <a:t>IS</a:t>
            </a:r>
            <a:r>
              <a:rPr lang="zh-CN" altLang="en-US" sz="1008" dirty="0"/>
              <a:t>曲线是由投资与利率的关系（投资函数）、储蓄与收入的关系（储蓄函数）、均衡国民收入决定条件（储蓄等于投资）推导出来的：</a:t>
            </a:r>
          </a:p>
        </p:txBody>
      </p:sp>
      <p:pic>
        <p:nvPicPr>
          <p:cNvPr id="7" name="Picture 4" descr="xf1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300" y="525936"/>
            <a:ext cx="3231072" cy="258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818731" y="3065178"/>
            <a:ext cx="912429" cy="216534"/>
          </a:xfrm>
          <a:prstGeom prst="rect">
            <a:avLst/>
          </a:prstGeom>
        </p:spPr>
        <p:txBody>
          <a:bodyPr wrap="none">
            <a:spAutoFit/>
          </a:bodyPr>
          <a:lstStyle/>
          <a:p>
            <a:pPr eaLnBrk="1" hangingPunct="1">
              <a:buFont typeface="Wingdings" panose="05000000000000000000" pitchFamily="2" charset="2"/>
              <a:buNone/>
            </a:pPr>
            <a:r>
              <a:rPr lang="en-US" altLang="zh-CN" sz="807" b="1" dirty="0">
                <a:solidFill>
                  <a:schemeClr val="tx1">
                    <a:lumMod val="50000"/>
                    <a:lumOff val="50000"/>
                  </a:schemeClr>
                </a:solidFill>
                <a:latin typeface="KaiTi" panose="02010609060101010101" pitchFamily="49" charset="-122"/>
                <a:ea typeface="KaiTi" panose="02010609060101010101" pitchFamily="49" charset="-122"/>
              </a:rPr>
              <a:t>IS</a:t>
            </a:r>
            <a:r>
              <a:rPr lang="zh-CN" altLang="en-US" sz="807" b="1" dirty="0">
                <a:solidFill>
                  <a:schemeClr val="tx1">
                    <a:lumMod val="50000"/>
                    <a:lumOff val="50000"/>
                  </a:schemeClr>
                </a:solidFill>
                <a:latin typeface="KaiTi" panose="02010609060101010101" pitchFamily="49" charset="-122"/>
                <a:ea typeface="KaiTi" panose="02010609060101010101" pitchFamily="49" charset="-122"/>
              </a:rPr>
              <a:t>曲线推导图示</a:t>
            </a:r>
          </a:p>
        </p:txBody>
      </p:sp>
      <p:sp>
        <p:nvSpPr>
          <p:cNvPr id="3" name="灯片编号占位符 2">
            <a:extLst>
              <a:ext uri="{FF2B5EF4-FFF2-40B4-BE49-F238E27FC236}">
                <a16:creationId xmlns:a16="http://schemas.microsoft.com/office/drawing/2014/main" id="{EACA5ECE-2111-B01A-D1B9-4D85A2FB72A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23</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12B1B1AD-8BE5-9465-8076-1497DB24142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554702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24</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815901"/>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ea typeface="SimSun" panose="02010600030101010101" pitchFamily="2" charset="-122"/>
                <a:cs typeface="Times New Roman" panose="02020603050405020304" pitchFamily="18" charset="0"/>
              </a:rPr>
              <a:t>计算并画图：</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1</a:t>
            </a:r>
            <a:r>
              <a:rPr lang="zh-CN" altLang="en-US" sz="1210" dirty="0">
                <a:ea typeface="SimSun" panose="02010600030101010101" pitchFamily="2" charset="-122"/>
                <a:cs typeface="Times New Roman" panose="02020603050405020304" pitchFamily="18" charset="0"/>
              </a:rPr>
              <a:t>）若投资函数为</a:t>
            </a:r>
            <a:r>
              <a:rPr lang="en" altLang="zh-CN" sz="1210" dirty="0" err="1">
                <a:ea typeface="SimSun" panose="02010600030101010101" pitchFamily="2" charset="-122"/>
                <a:cs typeface="Times New Roman" panose="02020603050405020304" pitchFamily="18" charset="0"/>
              </a:rPr>
              <a:t>i</a:t>
            </a:r>
            <a:r>
              <a:rPr lang="en" altLang="zh-CN" sz="1210" dirty="0">
                <a:ea typeface="SimSun" panose="02010600030101010101" pitchFamily="2" charset="-122"/>
                <a:cs typeface="Times New Roman" panose="02020603050405020304" pitchFamily="18" charset="0"/>
              </a:rPr>
              <a:t>=100-5r</a:t>
            </a:r>
            <a:r>
              <a:rPr lang="zh-CN" altLang="en" sz="1210" dirty="0">
                <a:ea typeface="SimSun" panose="02010600030101010101" pitchFamily="2" charset="-122"/>
                <a:cs typeface="Times New Roman" panose="02020603050405020304" pitchFamily="18" charset="0"/>
              </a:rPr>
              <a:t>，</a:t>
            </a:r>
            <a:r>
              <a:rPr lang="zh-CN" altLang="en-US" sz="1210" dirty="0">
                <a:ea typeface="SimSun" panose="02010600030101010101" pitchFamily="2" charset="-122"/>
                <a:cs typeface="Times New Roman" panose="02020603050405020304" pitchFamily="18" charset="0"/>
              </a:rPr>
              <a:t>找出利率为</a:t>
            </a:r>
            <a:r>
              <a:rPr lang="en-US" altLang="zh-CN" sz="1210" dirty="0">
                <a:ea typeface="SimSun" panose="02010600030101010101" pitchFamily="2" charset="-122"/>
                <a:cs typeface="Times New Roman" panose="02020603050405020304" pitchFamily="18" charset="0"/>
              </a:rPr>
              <a:t>4%</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5%</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6%</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7%</a:t>
            </a:r>
            <a:r>
              <a:rPr lang="zh-CN" altLang="en-US" sz="1210" dirty="0">
                <a:ea typeface="SimSun" panose="02010600030101010101" pitchFamily="2" charset="-122"/>
                <a:cs typeface="Times New Roman" panose="02020603050405020304" pitchFamily="18" charset="0"/>
              </a:rPr>
              <a:t>时的投资量。</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2</a:t>
            </a:r>
            <a:r>
              <a:rPr lang="zh-CN" altLang="en-US" sz="1210" dirty="0">
                <a:ea typeface="SimSun" panose="02010600030101010101" pitchFamily="2" charset="-122"/>
                <a:cs typeface="Times New Roman" panose="02020603050405020304" pitchFamily="18" charset="0"/>
              </a:rPr>
              <a:t>）若储蓄为</a:t>
            </a:r>
            <a:r>
              <a:rPr lang="en" altLang="zh-CN" sz="1210" dirty="0">
                <a:ea typeface="SimSun" panose="02010600030101010101" pitchFamily="2" charset="-122"/>
                <a:cs typeface="Times New Roman" panose="02020603050405020304" pitchFamily="18" charset="0"/>
              </a:rPr>
              <a:t>s=-40+0.25y</a:t>
            </a:r>
            <a:r>
              <a:rPr lang="zh-CN" altLang="en" sz="1210" dirty="0">
                <a:ea typeface="SimSun" panose="02010600030101010101" pitchFamily="2" charset="-122"/>
                <a:cs typeface="Times New Roman" panose="02020603050405020304" pitchFamily="18" charset="0"/>
              </a:rPr>
              <a:t>，</a:t>
            </a:r>
            <a:r>
              <a:rPr lang="zh-CN" altLang="en-US" sz="1210" dirty="0">
                <a:ea typeface="SimSun" panose="02010600030101010101" pitchFamily="2" charset="-122"/>
                <a:cs typeface="Times New Roman" panose="02020603050405020304" pitchFamily="18" charset="0"/>
              </a:rPr>
              <a:t>找出与上述投资相均衡的收入水平。</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3</a:t>
            </a:r>
            <a:r>
              <a:rPr lang="zh-CN" altLang="en-US" sz="1210" dirty="0">
                <a:ea typeface="SimSun" panose="02010600030101010101" pitchFamily="2" charset="-122"/>
                <a:cs typeface="Times New Roman" panose="02020603050405020304" pitchFamily="18" charset="0"/>
              </a:rPr>
              <a:t>）求</a:t>
            </a:r>
            <a:r>
              <a:rPr lang="en" altLang="zh-CN" sz="1210" dirty="0">
                <a:ea typeface="SimSun" panose="02010600030101010101" pitchFamily="2" charset="-122"/>
                <a:cs typeface="Times New Roman" panose="02020603050405020304" pitchFamily="18" charset="0"/>
              </a:rPr>
              <a:t>IS</a:t>
            </a:r>
            <a:r>
              <a:rPr lang="zh-CN" altLang="en-US" sz="1210" dirty="0">
                <a:ea typeface="SimSun" panose="02010600030101010101" pitchFamily="2" charset="-122"/>
                <a:cs typeface="Times New Roman" panose="02020603050405020304" pitchFamily="18" charset="0"/>
              </a:rPr>
              <a:t>曲线并作出图形</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7899494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247597"/>
            <a:ext cx="4139486" cy="262967"/>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25</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298480" y="242573"/>
            <a:ext cx="4138686" cy="262966"/>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3152" y="530116"/>
                <a:ext cx="4110356" cy="285644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00" dirty="0">
                    <a:ea typeface="SimSun" panose="02010600030101010101" pitchFamily="2" charset="-122"/>
                    <a:cs typeface="Times New Roman" panose="02020603050405020304" pitchFamily="18" charset="0"/>
                    <a:sym typeface="Wingdings" pitchFamily="2" charset="2"/>
                  </a:rPr>
                  <a:t>（</a:t>
                </a:r>
                <a:r>
                  <a:rPr lang="en-US" altLang="zh-CN" sz="1000" dirty="0">
                    <a:ea typeface="SimSun" panose="02010600030101010101" pitchFamily="2" charset="-122"/>
                    <a:cs typeface="Times New Roman" panose="02020603050405020304" pitchFamily="18" charset="0"/>
                    <a:sym typeface="Wingdings" pitchFamily="2" charset="2"/>
                  </a:rPr>
                  <a:t>1</a:t>
                </a:r>
                <a:r>
                  <a:rPr lang="zh-CN" altLang="en-US" sz="1000" dirty="0">
                    <a:ea typeface="SimSun" panose="02010600030101010101" pitchFamily="2" charset="-122"/>
                    <a:cs typeface="Times New Roman" panose="02020603050405020304" pitchFamily="18" charset="0"/>
                    <a:sym typeface="Wingdings" pitchFamily="2" charset="2"/>
                  </a:rPr>
                  <a:t>）投资函数</a:t>
                </a:r>
                <a14:m>
                  <m:oMath xmlns:m="http://schemas.openxmlformats.org/officeDocument/2006/math">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𝑟</m:t>
                    </m:r>
                  </m:oMath>
                </a14:m>
                <a:endParaRPr lang="en-US" altLang="zh-CN" sz="1000" dirty="0">
                  <a:ea typeface="SimSun" panose="02010600030101010101" pitchFamily="2" charset="-122"/>
                  <a:cs typeface="Times New Roman" panose="02020603050405020304" pitchFamily="18" charset="0"/>
                </a:endParaRPr>
              </a:p>
              <a:p>
                <a:pPr marL="0" indent="0">
                  <a:buNone/>
                </a:pPr>
                <a:r>
                  <a:rPr lang="zh-CN" altLang="en-US" sz="1000" dirty="0">
                    <a:ea typeface="SimSun" panose="02010600030101010101" pitchFamily="2" charset="-122"/>
                    <a:cs typeface="Times New Roman" panose="02020603050405020304" pitchFamily="18" charset="0"/>
                  </a:rPr>
                  <a:t>当</a:t>
                </a:r>
                <a:r>
                  <a:rPr lang="en-US" altLang="zh-CN" sz="1000" dirty="0">
                    <a:ea typeface="SimSun" panose="02010600030101010101" pitchFamily="2" charset="-122"/>
                    <a:cs typeface="Times New Roman" panose="02020603050405020304" pitchFamily="18" charset="0"/>
                  </a:rPr>
                  <a:t>r=4%</a:t>
                </a:r>
                <a:r>
                  <a:rPr lang="zh-CN" altLang="en-US" sz="1000" dirty="0">
                    <a:ea typeface="SimSun" panose="02010600030101010101" pitchFamily="2" charset="-122"/>
                    <a:cs typeface="Times New Roman" panose="02020603050405020304" pitchFamily="18" charset="0"/>
                  </a:rPr>
                  <a:t>时，</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=100−5∗4=8</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0</m:t>
                    </m:r>
                  </m:oMath>
                </a14:m>
                <a:endParaRPr lang="en-US" altLang="zh-CN" sz="1000" b="0" dirty="0">
                  <a:ea typeface="SimSun" panose="02010600030101010101" pitchFamily="2" charset="-122"/>
                  <a:cs typeface="Times New Roman" panose="02020603050405020304" pitchFamily="18" charset="0"/>
                  <a:sym typeface="Wingdings" pitchFamily="2" charset="2"/>
                </a:endParaRPr>
              </a:p>
              <a:p>
                <a:pPr marL="0" indent="0">
                  <a:buNone/>
                </a:pPr>
                <a:r>
                  <a:rPr lang="zh-CN" altLang="en-US" sz="1000" dirty="0">
                    <a:ea typeface="SimSun" panose="02010600030101010101" pitchFamily="2" charset="-122"/>
                    <a:cs typeface="Times New Roman" panose="02020603050405020304" pitchFamily="18" charset="0"/>
                  </a:rPr>
                  <a:t>当</a:t>
                </a:r>
                <a:r>
                  <a:rPr lang="en-US" altLang="zh-CN" sz="1000" dirty="0">
                    <a:ea typeface="SimSun" panose="02010600030101010101" pitchFamily="2" charset="-122"/>
                    <a:cs typeface="Times New Roman" panose="02020603050405020304" pitchFamily="18" charset="0"/>
                  </a:rPr>
                  <a:t>r=5%</a:t>
                </a:r>
                <a:r>
                  <a:rPr lang="zh-CN" altLang="en-US" sz="1000" dirty="0">
                    <a:ea typeface="SimSun" panose="02010600030101010101" pitchFamily="2" charset="-122"/>
                    <a:cs typeface="Times New Roman" panose="02020603050405020304" pitchFamily="18" charset="0"/>
                  </a:rPr>
                  <a:t>时，</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=100−5∗5=7</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5</m:t>
                    </m:r>
                  </m:oMath>
                </a14:m>
                <a:endParaRPr lang="en-US" altLang="zh-CN" sz="1000" b="0" dirty="0">
                  <a:ea typeface="SimSun" panose="02010600030101010101" pitchFamily="2" charset="-122"/>
                  <a:cs typeface="Times New Roman" panose="02020603050405020304" pitchFamily="18" charset="0"/>
                  <a:sym typeface="Wingdings" pitchFamily="2" charset="2"/>
                </a:endParaRPr>
              </a:p>
              <a:p>
                <a:pPr marL="0" indent="0">
                  <a:buNone/>
                </a:pPr>
                <a:r>
                  <a:rPr lang="zh-CN" altLang="en-US" sz="1000" dirty="0">
                    <a:ea typeface="SimSun" panose="02010600030101010101" pitchFamily="2" charset="-122"/>
                    <a:cs typeface="Times New Roman" panose="02020603050405020304" pitchFamily="18" charset="0"/>
                  </a:rPr>
                  <a:t>当</a:t>
                </a:r>
                <a:r>
                  <a:rPr lang="en-US" altLang="zh-CN" sz="1000" dirty="0">
                    <a:ea typeface="SimSun" panose="02010600030101010101" pitchFamily="2" charset="-122"/>
                    <a:cs typeface="Times New Roman" panose="02020603050405020304" pitchFamily="18" charset="0"/>
                  </a:rPr>
                  <a:t>r=6%</a:t>
                </a:r>
                <a:r>
                  <a:rPr lang="zh-CN" altLang="en-US" sz="1000" dirty="0">
                    <a:ea typeface="SimSun" panose="02010600030101010101" pitchFamily="2" charset="-122"/>
                    <a:cs typeface="Times New Roman" panose="02020603050405020304" pitchFamily="18" charset="0"/>
                  </a:rPr>
                  <a:t>时，</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=100−5∗6=7</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0</m:t>
                    </m:r>
                  </m:oMath>
                </a14:m>
                <a:endParaRPr lang="en-US" altLang="zh-CN" sz="1000" b="0" dirty="0">
                  <a:ea typeface="SimSun" panose="02010600030101010101" pitchFamily="2" charset="-122"/>
                  <a:cs typeface="Times New Roman" panose="02020603050405020304" pitchFamily="18" charset="0"/>
                  <a:sym typeface="Wingdings" pitchFamily="2" charset="2"/>
                </a:endParaRPr>
              </a:p>
              <a:p>
                <a:pPr marL="0" indent="0">
                  <a:buNone/>
                </a:pPr>
                <a:r>
                  <a:rPr lang="zh-CN" altLang="en-US" sz="1000" dirty="0">
                    <a:ea typeface="SimSun" panose="02010600030101010101" pitchFamily="2" charset="-122"/>
                    <a:cs typeface="Times New Roman" panose="02020603050405020304" pitchFamily="18" charset="0"/>
                  </a:rPr>
                  <a:t>当</a:t>
                </a:r>
                <a:r>
                  <a:rPr lang="en-US" altLang="zh-CN" sz="1000" dirty="0">
                    <a:ea typeface="SimSun" panose="02010600030101010101" pitchFamily="2" charset="-122"/>
                    <a:cs typeface="Times New Roman" panose="02020603050405020304" pitchFamily="18" charset="0"/>
                  </a:rPr>
                  <a:t>r=7%</a:t>
                </a:r>
                <a:r>
                  <a:rPr lang="zh-CN" altLang="en-US" sz="1000" dirty="0">
                    <a:ea typeface="SimSun" panose="02010600030101010101" pitchFamily="2" charset="-122"/>
                    <a:cs typeface="Times New Roman" panose="02020603050405020304" pitchFamily="18" charset="0"/>
                  </a:rPr>
                  <a:t>时，</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=100−5∗4=6</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5</m:t>
                    </m:r>
                  </m:oMath>
                </a14:m>
                <a:endParaRPr lang="en-US" altLang="zh-CN" sz="1000" b="0" dirty="0">
                  <a:ea typeface="SimSun" panose="02010600030101010101" pitchFamily="2" charset="-122"/>
                  <a:cs typeface="Times New Roman" panose="02020603050405020304" pitchFamily="18" charset="0"/>
                  <a:sym typeface="Wingdings" pitchFamily="2" charset="2"/>
                </a:endParaRP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a:t>
                </a:r>
                <a:r>
                  <a:rPr lang="en-US" altLang="zh-CN" sz="1000" dirty="0">
                    <a:ea typeface="SimSun" panose="02010600030101010101" pitchFamily="2" charset="-122"/>
                    <a:cs typeface="Times New Roman" panose="02020603050405020304" pitchFamily="18" charset="0"/>
                    <a:sym typeface="Wingdings" pitchFamily="2" charset="2"/>
                  </a:rPr>
                  <a:t>2</a:t>
                </a:r>
                <a:r>
                  <a:rPr lang="zh-CN" altLang="en-US" sz="1000" dirty="0">
                    <a:ea typeface="SimSun" panose="02010600030101010101" pitchFamily="2" charset="-122"/>
                    <a:cs typeface="Times New Roman" panose="02020603050405020304" pitchFamily="18" charset="0"/>
                    <a:sym typeface="Wingdings" pitchFamily="2" charset="2"/>
                  </a:rPr>
                  <a:t>）储蓄函数</a:t>
                </a:r>
                <a14:m>
                  <m:oMath xmlns:m="http://schemas.openxmlformats.org/officeDocument/2006/math">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𝑠</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−40+0.25</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𝑦</m:t>
                    </m:r>
                    <m:r>
                      <a:rPr lang="zh-CN" altLang="en-US" sz="1000" b="0" i="0"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m:t>
                    </m:r>
                  </m:oMath>
                </a14:m>
                <a:r>
                  <a:rPr lang="zh-CN" altLang="en-US" sz="1000" dirty="0">
                    <a:ea typeface="SimSun" panose="02010600030101010101" pitchFamily="2" charset="-122"/>
                    <a:cs typeface="Times New Roman" panose="02020603050405020304" pitchFamily="18" charset="0"/>
                  </a:rPr>
                  <a:t>根据</a:t>
                </a:r>
                <a:r>
                  <a:rPr lang="en-US" altLang="zh-CN" sz="1000" dirty="0">
                    <a:ea typeface="SimSun" panose="02010600030101010101" pitchFamily="2" charset="-122"/>
                    <a:cs typeface="Times New Roman" panose="02020603050405020304" pitchFamily="18" charset="0"/>
                  </a:rPr>
                  <a:t>I=S</a:t>
                </a:r>
                <a:r>
                  <a:rPr lang="zh-CN" altLang="en-US" sz="1000" dirty="0">
                    <a:ea typeface="SimSun" panose="02010600030101010101" pitchFamily="2" charset="-122"/>
                    <a:cs typeface="Times New Roman" panose="02020603050405020304" pitchFamily="18" charset="0"/>
                  </a:rPr>
                  <a:t>有，</a:t>
                </a:r>
                <a:endParaRPr lang="en-US" altLang="zh-CN" sz="1000" dirty="0">
                  <a:ea typeface="SimSun" panose="02010600030101010101" pitchFamily="2" charset="-122"/>
                  <a:cs typeface="Times New Roman" panose="02020603050405020304" pitchFamily="18" charset="0"/>
                </a:endParaRP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当</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oMath>
                </a14:m>
                <a:r>
                  <a:rPr lang="en-US" altLang="zh-CN" sz="1000" dirty="0">
                    <a:ea typeface="SimSun" panose="02010600030101010101" pitchFamily="2" charset="-122"/>
                    <a:cs typeface="Times New Roman" panose="02020603050405020304" pitchFamily="18" charset="0"/>
                    <a:sym typeface="Wingdings" pitchFamily="2" charset="2"/>
                  </a:rPr>
                  <a:t>=80</a:t>
                </a:r>
                <a:r>
                  <a:rPr lang="zh-CN" altLang="en-US" sz="1000" dirty="0">
                    <a:ea typeface="SimSun" panose="02010600030101010101" pitchFamily="2" charset="-122"/>
                    <a:cs typeface="Times New Roman" panose="02020603050405020304" pitchFamily="18" charset="0"/>
                    <a:sym typeface="Wingdings" pitchFamily="2" charset="2"/>
                  </a:rPr>
                  <a:t>时，有</a:t>
                </a:r>
                <a:r>
                  <a:rPr lang="en-US" altLang="zh-CN" sz="1000" dirty="0">
                    <a:ea typeface="SimSun" panose="02010600030101010101" pitchFamily="2" charset="-122"/>
                    <a:cs typeface="Times New Roman" panose="02020603050405020304" pitchFamily="18" charset="0"/>
                    <a:sym typeface="Wingdings" pitchFamily="2" charset="2"/>
                  </a:rPr>
                  <a:t>-40+0.25y=80 </a:t>
                </a:r>
                <a:r>
                  <a:rPr lang="zh-CN" altLang="en-US" sz="1000" dirty="0">
                    <a:ea typeface="SimSun" panose="02010600030101010101" pitchFamily="2" charset="-122"/>
                    <a:cs typeface="Times New Roman" panose="02020603050405020304" pitchFamily="18" charset="0"/>
                    <a:sym typeface="Wingdings" pitchFamily="2" charset="2"/>
                  </a:rPr>
                  <a:t>得：</a:t>
                </a:r>
                <a:r>
                  <a:rPr lang="en-US" altLang="zh-CN" sz="1000" dirty="0">
                    <a:ea typeface="SimSun" panose="02010600030101010101" pitchFamily="2" charset="-122"/>
                    <a:cs typeface="Times New Roman" panose="02020603050405020304" pitchFamily="18" charset="0"/>
                    <a:sym typeface="Wingdings" pitchFamily="2" charset="2"/>
                  </a:rPr>
                  <a:t>y=480</a:t>
                </a: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当</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oMath>
                </a14:m>
                <a:r>
                  <a:rPr lang="en-US" altLang="zh-CN" sz="1000" dirty="0">
                    <a:ea typeface="SimSun" panose="02010600030101010101" pitchFamily="2" charset="-122"/>
                    <a:cs typeface="Times New Roman" panose="02020603050405020304" pitchFamily="18" charset="0"/>
                    <a:sym typeface="Wingdings" pitchFamily="2" charset="2"/>
                  </a:rPr>
                  <a:t>=75</a:t>
                </a:r>
                <a:r>
                  <a:rPr lang="zh-CN" altLang="en-US" sz="1000" dirty="0">
                    <a:ea typeface="SimSun" panose="02010600030101010101" pitchFamily="2" charset="-122"/>
                    <a:cs typeface="Times New Roman" panose="02020603050405020304" pitchFamily="18" charset="0"/>
                    <a:sym typeface="Wingdings" pitchFamily="2" charset="2"/>
                  </a:rPr>
                  <a:t>时，有</a:t>
                </a:r>
                <a:r>
                  <a:rPr lang="en-US" altLang="zh-CN" sz="1000" dirty="0">
                    <a:ea typeface="SimSun" panose="02010600030101010101" pitchFamily="2" charset="-122"/>
                    <a:cs typeface="Times New Roman" panose="02020603050405020304" pitchFamily="18" charset="0"/>
                    <a:sym typeface="Wingdings" pitchFamily="2" charset="2"/>
                  </a:rPr>
                  <a:t>-40+0.25y=75</a:t>
                </a:r>
                <a:r>
                  <a:rPr lang="zh-CN" altLang="en-US" sz="1000" dirty="0">
                    <a:ea typeface="SimSun" panose="02010600030101010101" pitchFamily="2" charset="-122"/>
                    <a:cs typeface="Times New Roman" panose="02020603050405020304" pitchFamily="18" charset="0"/>
                    <a:sym typeface="Wingdings" pitchFamily="2" charset="2"/>
                  </a:rPr>
                  <a:t> 得：</a:t>
                </a:r>
                <a:r>
                  <a:rPr lang="en-US" altLang="zh-CN" sz="1000" dirty="0">
                    <a:ea typeface="SimSun" panose="02010600030101010101" pitchFamily="2" charset="-122"/>
                    <a:cs typeface="Times New Roman" panose="02020603050405020304" pitchFamily="18" charset="0"/>
                    <a:sym typeface="Wingdings" pitchFamily="2" charset="2"/>
                  </a:rPr>
                  <a:t>y=460</a:t>
                </a: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当</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oMath>
                </a14:m>
                <a:r>
                  <a:rPr lang="en-US" altLang="zh-CN" sz="1000" dirty="0">
                    <a:ea typeface="SimSun" panose="02010600030101010101" pitchFamily="2" charset="-122"/>
                    <a:cs typeface="Times New Roman" panose="02020603050405020304" pitchFamily="18" charset="0"/>
                    <a:sym typeface="Wingdings" pitchFamily="2" charset="2"/>
                  </a:rPr>
                  <a:t>=70</a:t>
                </a:r>
                <a:r>
                  <a:rPr lang="zh-CN" altLang="en-US" sz="1000" dirty="0">
                    <a:ea typeface="SimSun" panose="02010600030101010101" pitchFamily="2" charset="-122"/>
                    <a:cs typeface="Times New Roman" panose="02020603050405020304" pitchFamily="18" charset="0"/>
                    <a:sym typeface="Wingdings" pitchFamily="2" charset="2"/>
                  </a:rPr>
                  <a:t>时，有</a:t>
                </a:r>
                <a:r>
                  <a:rPr lang="en-US" altLang="zh-CN" sz="1000" dirty="0">
                    <a:ea typeface="SimSun" panose="02010600030101010101" pitchFamily="2" charset="-122"/>
                    <a:cs typeface="Times New Roman" panose="02020603050405020304" pitchFamily="18" charset="0"/>
                    <a:sym typeface="Wingdings" pitchFamily="2" charset="2"/>
                  </a:rPr>
                  <a:t>-40+0.25y=70</a:t>
                </a:r>
                <a:r>
                  <a:rPr lang="zh-CN" altLang="en-US" sz="1000" dirty="0">
                    <a:ea typeface="SimSun" panose="02010600030101010101" pitchFamily="2" charset="-122"/>
                    <a:cs typeface="Times New Roman" panose="02020603050405020304" pitchFamily="18" charset="0"/>
                    <a:sym typeface="Wingdings" pitchFamily="2" charset="2"/>
                  </a:rPr>
                  <a:t> 得：</a:t>
                </a:r>
                <a:r>
                  <a:rPr lang="en-US" altLang="zh-CN" sz="1000" dirty="0">
                    <a:ea typeface="SimSun" panose="02010600030101010101" pitchFamily="2" charset="-122"/>
                    <a:cs typeface="Times New Roman" panose="02020603050405020304" pitchFamily="18" charset="0"/>
                    <a:sym typeface="Wingdings" pitchFamily="2" charset="2"/>
                  </a:rPr>
                  <a:t>y=440</a:t>
                </a: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当</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oMath>
                </a14:m>
                <a:r>
                  <a:rPr lang="en-US" altLang="zh-CN" sz="1000" dirty="0">
                    <a:ea typeface="SimSun" panose="02010600030101010101" pitchFamily="2" charset="-122"/>
                    <a:cs typeface="Times New Roman" panose="02020603050405020304" pitchFamily="18" charset="0"/>
                    <a:sym typeface="Wingdings" pitchFamily="2" charset="2"/>
                  </a:rPr>
                  <a:t>=65</a:t>
                </a:r>
                <a:r>
                  <a:rPr lang="zh-CN" altLang="en-US" sz="1000" dirty="0">
                    <a:ea typeface="SimSun" panose="02010600030101010101" pitchFamily="2" charset="-122"/>
                    <a:cs typeface="Times New Roman" panose="02020603050405020304" pitchFamily="18" charset="0"/>
                    <a:sym typeface="Wingdings" pitchFamily="2" charset="2"/>
                  </a:rPr>
                  <a:t>时，有</a:t>
                </a:r>
                <a:r>
                  <a:rPr lang="en-US" altLang="zh-CN" sz="1000" dirty="0">
                    <a:ea typeface="SimSun" panose="02010600030101010101" pitchFamily="2" charset="-122"/>
                    <a:cs typeface="Times New Roman" panose="02020603050405020304" pitchFamily="18" charset="0"/>
                    <a:sym typeface="Wingdings" pitchFamily="2" charset="2"/>
                  </a:rPr>
                  <a:t>-40+0.25y=65</a:t>
                </a:r>
                <a:r>
                  <a:rPr lang="zh-CN" altLang="en-US" sz="1000" dirty="0">
                    <a:ea typeface="SimSun" panose="02010600030101010101" pitchFamily="2" charset="-122"/>
                    <a:cs typeface="Times New Roman" panose="02020603050405020304" pitchFamily="18" charset="0"/>
                    <a:sym typeface="Wingdings" pitchFamily="2" charset="2"/>
                  </a:rPr>
                  <a:t> 得：</a:t>
                </a:r>
                <a:r>
                  <a:rPr lang="en-US" altLang="zh-CN" sz="1000" dirty="0">
                    <a:ea typeface="SimSun" panose="02010600030101010101" pitchFamily="2" charset="-122"/>
                    <a:cs typeface="Times New Roman" panose="02020603050405020304" pitchFamily="18" charset="0"/>
                    <a:sym typeface="Wingdings" pitchFamily="2" charset="2"/>
                  </a:rPr>
                  <a:t>y=420</a:t>
                </a: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a:t>
                </a:r>
                <a:r>
                  <a:rPr lang="en-US" altLang="zh-CN" sz="1000" dirty="0">
                    <a:ea typeface="SimSun" panose="02010600030101010101" pitchFamily="2" charset="-122"/>
                    <a:cs typeface="Times New Roman" panose="02020603050405020304" pitchFamily="18" charset="0"/>
                    <a:sym typeface="Wingdings" pitchFamily="2" charset="2"/>
                  </a:rPr>
                  <a:t>3</a:t>
                </a:r>
                <a:r>
                  <a:rPr lang="zh-CN" altLang="en-US" sz="1000" dirty="0">
                    <a:ea typeface="SimSun" panose="02010600030101010101" pitchFamily="2" charset="-122"/>
                    <a:cs typeface="Times New Roman" panose="02020603050405020304" pitchFamily="18" charset="0"/>
                    <a:sym typeface="Wingdings" pitchFamily="2" charset="2"/>
                  </a:rPr>
                  <a:t>）</a:t>
                </a:r>
                <a:r>
                  <a:rPr lang="zh-CN" altLang="en-US" sz="1000" dirty="0">
                    <a:ea typeface="SimSun" panose="02010600030101010101" pitchFamily="2" charset="-122"/>
                    <a:cs typeface="Times New Roman" panose="02020603050405020304" pitchFamily="18" charset="0"/>
                  </a:rPr>
                  <a:t>根据均衡条件</a:t>
                </a:r>
                <a:r>
                  <a:rPr lang="en-US" altLang="zh-CN" sz="1000" dirty="0">
                    <a:ea typeface="SimSun" panose="02010600030101010101" pitchFamily="2" charset="-122"/>
                    <a:cs typeface="Times New Roman" panose="02020603050405020304" pitchFamily="18" charset="0"/>
                  </a:rPr>
                  <a:t>I=S</a:t>
                </a:r>
                <a:r>
                  <a:rPr lang="zh-CN" altLang="en-US" sz="1000" dirty="0">
                    <a:ea typeface="SimSun" panose="02010600030101010101" pitchFamily="2" charset="-122"/>
                    <a:cs typeface="Times New Roman" panose="02020603050405020304" pitchFamily="18" charset="0"/>
                  </a:rPr>
                  <a:t>，将</a:t>
                </a:r>
                <a:r>
                  <a:rPr lang="zh-CN" altLang="en-US" sz="1000" dirty="0">
                    <a:ea typeface="SimSun" panose="02010600030101010101" pitchFamily="2" charset="-122"/>
                    <a:cs typeface="Times New Roman" panose="02020603050405020304" pitchFamily="18" charset="0"/>
                    <a:sym typeface="Wingdings" pitchFamily="2" charset="2"/>
                  </a:rPr>
                  <a:t>储蓄函数</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𝑠</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=−40+0.25</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𝑦</m:t>
                    </m:r>
                  </m:oMath>
                </a14:m>
                <a:r>
                  <a:rPr lang="zh-CN" altLang="en-US" sz="1000" dirty="0">
                    <a:ea typeface="SimSun" panose="02010600030101010101" pitchFamily="2" charset="-122"/>
                    <a:cs typeface="Times New Roman" panose="02020603050405020304" pitchFamily="18" charset="0"/>
                    <a:sym typeface="Wingdings" pitchFamily="2" charset="2"/>
                  </a:rPr>
                  <a:t>与投资函数</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𝑟</m:t>
                    </m:r>
                  </m:oMath>
                </a14:m>
                <a:r>
                  <a:rPr lang="zh-CN" altLang="en-US" sz="1000" dirty="0">
                    <a:ea typeface="SimSun" panose="02010600030101010101" pitchFamily="2" charset="-122"/>
                    <a:cs typeface="Times New Roman" panose="02020603050405020304" pitchFamily="18" charset="0"/>
                    <a:sym typeface="Wingdings" pitchFamily="2" charset="2"/>
                  </a:rPr>
                  <a:t>联立得</a:t>
                </a:r>
                <a:r>
                  <a:rPr lang="en-US" altLang="zh-CN" sz="1000" dirty="0">
                    <a:ea typeface="SimSun" panose="02010600030101010101" pitchFamily="2" charset="-122"/>
                    <a:cs typeface="Times New Roman" panose="02020603050405020304" pitchFamily="18" charset="0"/>
                    <a:sym typeface="Wingdings" pitchFamily="2" charset="2"/>
                  </a:rPr>
                  <a:t>IS</a:t>
                </a:r>
                <a:r>
                  <a:rPr lang="zh-CN" altLang="en-US" sz="1000" dirty="0">
                    <a:ea typeface="SimSun" panose="02010600030101010101" pitchFamily="2" charset="-122"/>
                    <a:cs typeface="Times New Roman" panose="02020603050405020304" pitchFamily="18" charset="0"/>
                    <a:sym typeface="Wingdings" pitchFamily="2" charset="2"/>
                  </a:rPr>
                  <a:t>方程：</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𝑟</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28−0.05</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𝑦</m:t>
                    </m:r>
                  </m:oMath>
                </a14:m>
                <a:endParaRPr lang="en-US" altLang="zh-CN" sz="1000" dirty="0">
                  <a:ea typeface="SimSun" panose="02010600030101010101" pitchFamily="2" charset="-122"/>
                  <a:cs typeface="Times New Roman" panose="02020603050405020304" pitchFamily="18" charset="0"/>
                  <a:sym typeface="Wingdings" pitchFamily="2" charset="2"/>
                </a:endParaRPr>
              </a:p>
              <a:p>
                <a:pPr marL="0" indent="0">
                  <a:buNone/>
                </a:pPr>
                <a:endParaRPr lang="en-US" altLang="zh-CN" sz="1000" dirty="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3152" y="530116"/>
                <a:ext cx="4110356" cy="2856442"/>
              </a:xfrm>
              <a:blipFill>
                <a:blip r:embed="rId2"/>
                <a:stretch>
                  <a:fillRect/>
                </a:stretch>
              </a:blipFill>
              <a:ln>
                <a:noFill/>
              </a:ln>
            </p:spPr>
            <p:txBody>
              <a:bodyPr/>
              <a:lstStyle/>
              <a:p>
                <a:r>
                  <a:rPr lang="zh-CN" altLang="en-US">
                    <a:noFill/>
                  </a:rPr>
                  <a:t> </a:t>
                </a:r>
              </a:p>
            </p:txBody>
          </p:sp>
        </mc:Fallback>
      </mc:AlternateContent>
      <p:grpSp>
        <p:nvGrpSpPr>
          <p:cNvPr id="33" name="组合 32">
            <a:extLst>
              <a:ext uri="{FF2B5EF4-FFF2-40B4-BE49-F238E27FC236}">
                <a16:creationId xmlns:a16="http://schemas.microsoft.com/office/drawing/2014/main" id="{1AADD2A0-B550-175A-D63F-A062DCE1508F}"/>
              </a:ext>
            </a:extLst>
          </p:cNvPr>
          <p:cNvGrpSpPr/>
          <p:nvPr/>
        </p:nvGrpSpPr>
        <p:grpSpPr>
          <a:xfrm>
            <a:off x="2892735" y="1075786"/>
            <a:ext cx="1637012" cy="1418518"/>
            <a:chOff x="2856532" y="1154311"/>
            <a:chExt cx="1637012" cy="1418518"/>
          </a:xfrm>
        </p:grpSpPr>
        <p:cxnSp>
          <p:nvCxnSpPr>
            <p:cNvPr id="4" name="直线箭头连接符 3">
              <a:extLst>
                <a:ext uri="{FF2B5EF4-FFF2-40B4-BE49-F238E27FC236}">
                  <a16:creationId xmlns:a16="http://schemas.microsoft.com/office/drawing/2014/main" id="{28DA4447-8689-7115-6EE4-582DCE35D058}"/>
                </a:ext>
              </a:extLst>
            </p:cNvPr>
            <p:cNvCxnSpPr/>
            <p:nvPr/>
          </p:nvCxnSpPr>
          <p:spPr>
            <a:xfrm>
              <a:off x="3025130" y="2378447"/>
              <a:ext cx="12961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箭头连接符 5">
              <a:extLst>
                <a:ext uri="{FF2B5EF4-FFF2-40B4-BE49-F238E27FC236}">
                  <a16:creationId xmlns:a16="http://schemas.microsoft.com/office/drawing/2014/main" id="{108179B4-1A69-6F76-BF32-70DF9BB7B16B}"/>
                </a:ext>
              </a:extLst>
            </p:cNvPr>
            <p:cNvCxnSpPr/>
            <p:nvPr/>
          </p:nvCxnSpPr>
          <p:spPr>
            <a:xfrm flipV="1">
              <a:off x="3025130" y="1154311"/>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直线连接符 7">
              <a:extLst>
                <a:ext uri="{FF2B5EF4-FFF2-40B4-BE49-F238E27FC236}">
                  <a16:creationId xmlns:a16="http://schemas.microsoft.com/office/drawing/2014/main" id="{8F649DD8-275E-E7BB-8BF3-19EE8222F49C}"/>
                </a:ext>
              </a:extLst>
            </p:cNvPr>
            <p:cNvCxnSpPr>
              <a:cxnSpLocks/>
            </p:cNvCxnSpPr>
            <p:nvPr/>
          </p:nvCxnSpPr>
          <p:spPr>
            <a:xfrm>
              <a:off x="3205204" y="1317852"/>
              <a:ext cx="857095" cy="870954"/>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直线连接符 9">
              <a:extLst>
                <a:ext uri="{FF2B5EF4-FFF2-40B4-BE49-F238E27FC236}">
                  <a16:creationId xmlns:a16="http://schemas.microsoft.com/office/drawing/2014/main" id="{2B2581B0-EBE9-3853-F43C-FD1D2793220B}"/>
                </a:ext>
              </a:extLst>
            </p:cNvPr>
            <p:cNvCxnSpPr/>
            <p:nvPr/>
          </p:nvCxnSpPr>
          <p:spPr>
            <a:xfrm>
              <a:off x="3025130" y="1586359"/>
              <a:ext cx="43204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306398ED-AE20-BE81-9B44-01060983AB19}"/>
                </a:ext>
              </a:extLst>
            </p:cNvPr>
            <p:cNvCxnSpPr>
              <a:cxnSpLocks/>
            </p:cNvCxnSpPr>
            <p:nvPr/>
          </p:nvCxnSpPr>
          <p:spPr>
            <a:xfrm>
              <a:off x="3025130" y="1738759"/>
              <a:ext cx="58444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2" name="直线连接符 11">
              <a:extLst>
                <a:ext uri="{FF2B5EF4-FFF2-40B4-BE49-F238E27FC236}">
                  <a16:creationId xmlns:a16="http://schemas.microsoft.com/office/drawing/2014/main" id="{312A671E-A219-6101-0AB9-723A8D58014C}"/>
                </a:ext>
              </a:extLst>
            </p:cNvPr>
            <p:cNvCxnSpPr>
              <a:cxnSpLocks/>
            </p:cNvCxnSpPr>
            <p:nvPr/>
          </p:nvCxnSpPr>
          <p:spPr>
            <a:xfrm>
              <a:off x="3025130" y="1891159"/>
              <a:ext cx="73684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9F6ABB5F-DC1F-B51A-036A-7E3E694359FD}"/>
                </a:ext>
              </a:extLst>
            </p:cNvPr>
            <p:cNvCxnSpPr>
              <a:cxnSpLocks/>
            </p:cNvCxnSpPr>
            <p:nvPr/>
          </p:nvCxnSpPr>
          <p:spPr>
            <a:xfrm>
              <a:off x="3025130" y="2043559"/>
              <a:ext cx="88924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9AC555F7-E581-3096-5261-833283288300}"/>
                </a:ext>
              </a:extLst>
            </p:cNvPr>
            <p:cNvCxnSpPr/>
            <p:nvPr/>
          </p:nvCxnSpPr>
          <p:spPr>
            <a:xfrm>
              <a:off x="3457178" y="1586359"/>
              <a:ext cx="0" cy="7920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9" name="直线连接符 18">
              <a:extLst>
                <a:ext uri="{FF2B5EF4-FFF2-40B4-BE49-F238E27FC236}">
                  <a16:creationId xmlns:a16="http://schemas.microsoft.com/office/drawing/2014/main" id="{C428990D-E6B4-5942-336E-F1EA4CFD9BEF}"/>
                </a:ext>
              </a:extLst>
            </p:cNvPr>
            <p:cNvCxnSpPr>
              <a:cxnSpLocks/>
            </p:cNvCxnSpPr>
            <p:nvPr/>
          </p:nvCxnSpPr>
          <p:spPr>
            <a:xfrm>
              <a:off x="3609578" y="1738759"/>
              <a:ext cx="0" cy="6396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0" name="直线连接符 19">
              <a:extLst>
                <a:ext uri="{FF2B5EF4-FFF2-40B4-BE49-F238E27FC236}">
                  <a16:creationId xmlns:a16="http://schemas.microsoft.com/office/drawing/2014/main" id="{5D38992A-27B7-6EF6-0217-279B04D0CE4F}"/>
                </a:ext>
              </a:extLst>
            </p:cNvPr>
            <p:cNvCxnSpPr>
              <a:cxnSpLocks/>
            </p:cNvCxnSpPr>
            <p:nvPr/>
          </p:nvCxnSpPr>
          <p:spPr>
            <a:xfrm>
              <a:off x="3761978" y="1891159"/>
              <a:ext cx="0" cy="4872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1" name="直线连接符 20">
              <a:extLst>
                <a:ext uri="{FF2B5EF4-FFF2-40B4-BE49-F238E27FC236}">
                  <a16:creationId xmlns:a16="http://schemas.microsoft.com/office/drawing/2014/main" id="{4B572E70-957E-E84D-F923-53DA024E2BC7}"/>
                </a:ext>
              </a:extLst>
            </p:cNvPr>
            <p:cNvCxnSpPr>
              <a:cxnSpLocks/>
            </p:cNvCxnSpPr>
            <p:nvPr/>
          </p:nvCxnSpPr>
          <p:spPr>
            <a:xfrm>
              <a:off x="3914378" y="2043559"/>
              <a:ext cx="0" cy="334888"/>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039E69AF-A8DB-0D79-D2CE-8E7BB22F9C4D}"/>
                </a:ext>
              </a:extLst>
            </p:cNvPr>
            <p:cNvSpPr txBox="1"/>
            <p:nvPr/>
          </p:nvSpPr>
          <p:spPr>
            <a:xfrm>
              <a:off x="3293928" y="2372774"/>
              <a:ext cx="936099" cy="200055"/>
            </a:xfrm>
            <a:prstGeom prst="rect">
              <a:avLst/>
            </a:prstGeom>
            <a:noFill/>
          </p:spPr>
          <p:txBody>
            <a:bodyPr wrap="square" rtlCol="0">
              <a:spAutoFit/>
            </a:bodyPr>
            <a:lstStyle/>
            <a:p>
              <a:r>
                <a:rPr kumimoji="1" lang="en-US" altLang="zh-CN" sz="700" dirty="0">
                  <a:latin typeface="Garamond" panose="02020404030301010803" pitchFamily="18" charset="0"/>
                </a:rPr>
                <a:t>420 440 460 480</a:t>
              </a:r>
              <a:endParaRPr kumimoji="1" lang="zh-CN" altLang="en-US" sz="700" dirty="0">
                <a:latin typeface="Garamond" panose="02020404030301010803" pitchFamily="18" charset="0"/>
              </a:endParaRPr>
            </a:p>
          </p:txBody>
        </p:sp>
        <p:sp>
          <p:nvSpPr>
            <p:cNvPr id="26" name="文本框 25">
              <a:extLst>
                <a:ext uri="{FF2B5EF4-FFF2-40B4-BE49-F238E27FC236}">
                  <a16:creationId xmlns:a16="http://schemas.microsoft.com/office/drawing/2014/main" id="{A4EBD4E2-897A-AE04-46D4-63567B852710}"/>
                </a:ext>
              </a:extLst>
            </p:cNvPr>
            <p:cNvSpPr txBox="1"/>
            <p:nvPr/>
          </p:nvSpPr>
          <p:spPr>
            <a:xfrm>
              <a:off x="2856532" y="1450150"/>
              <a:ext cx="144016" cy="696024"/>
            </a:xfrm>
            <a:prstGeom prst="rect">
              <a:avLst/>
            </a:prstGeom>
            <a:noFill/>
          </p:spPr>
          <p:txBody>
            <a:bodyPr wrap="square" rtlCol="0">
              <a:spAutoFit/>
            </a:bodyPr>
            <a:lstStyle/>
            <a:p>
              <a:pPr>
                <a:lnSpc>
                  <a:spcPct val="110000"/>
                </a:lnSpc>
              </a:pPr>
              <a:r>
                <a:rPr kumimoji="1" lang="en-US" altLang="zh-CN" sz="900" dirty="0">
                  <a:latin typeface="Garamond" panose="02020404030301010803" pitchFamily="18" charset="0"/>
                </a:rPr>
                <a:t>7</a:t>
              </a:r>
            </a:p>
            <a:p>
              <a:pPr>
                <a:lnSpc>
                  <a:spcPct val="110000"/>
                </a:lnSpc>
              </a:pPr>
              <a:r>
                <a:rPr kumimoji="1" lang="en-US" altLang="zh-CN" sz="900" dirty="0">
                  <a:latin typeface="Garamond" panose="02020404030301010803" pitchFamily="18" charset="0"/>
                </a:rPr>
                <a:t>6</a:t>
              </a:r>
            </a:p>
            <a:p>
              <a:pPr>
                <a:lnSpc>
                  <a:spcPct val="110000"/>
                </a:lnSpc>
              </a:pPr>
              <a:r>
                <a:rPr kumimoji="1" lang="en-US" altLang="zh-CN" sz="900" dirty="0">
                  <a:latin typeface="Garamond" panose="02020404030301010803" pitchFamily="18" charset="0"/>
                </a:rPr>
                <a:t>5</a:t>
              </a:r>
            </a:p>
            <a:p>
              <a:pPr>
                <a:lnSpc>
                  <a:spcPct val="110000"/>
                </a:lnSpc>
              </a:pPr>
              <a:r>
                <a:rPr kumimoji="1" lang="en-US" altLang="zh-CN" sz="900" dirty="0">
                  <a:latin typeface="Garamond" panose="02020404030301010803" pitchFamily="18" charset="0"/>
                </a:rPr>
                <a:t>4</a:t>
              </a:r>
              <a:endParaRPr kumimoji="1" lang="zh-CN" altLang="en-US" sz="900" dirty="0">
                <a:latin typeface="Garamond" panose="02020404030301010803" pitchFamily="18" charset="0"/>
              </a:endParaRPr>
            </a:p>
          </p:txBody>
        </p:sp>
        <p:sp>
          <p:nvSpPr>
            <p:cNvPr id="27" name="椭圆 26">
              <a:extLst>
                <a:ext uri="{FF2B5EF4-FFF2-40B4-BE49-F238E27FC236}">
                  <a16:creationId xmlns:a16="http://schemas.microsoft.com/office/drawing/2014/main" id="{FB437FFA-E79F-A8DB-A63C-0F042DE99A19}"/>
                </a:ext>
              </a:extLst>
            </p:cNvPr>
            <p:cNvSpPr/>
            <p:nvPr/>
          </p:nvSpPr>
          <p:spPr>
            <a:xfrm>
              <a:off x="3441762" y="1586358"/>
              <a:ext cx="36000" cy="3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28" name="椭圆 27">
              <a:extLst>
                <a:ext uri="{FF2B5EF4-FFF2-40B4-BE49-F238E27FC236}">
                  <a16:creationId xmlns:a16="http://schemas.microsoft.com/office/drawing/2014/main" id="{343225FD-A77A-C47D-92A1-F3E1E3D4B18C}"/>
                </a:ext>
              </a:extLst>
            </p:cNvPr>
            <p:cNvSpPr/>
            <p:nvPr/>
          </p:nvSpPr>
          <p:spPr>
            <a:xfrm>
              <a:off x="3594162" y="1738758"/>
              <a:ext cx="36000" cy="3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29" name="椭圆 28">
              <a:extLst>
                <a:ext uri="{FF2B5EF4-FFF2-40B4-BE49-F238E27FC236}">
                  <a16:creationId xmlns:a16="http://schemas.microsoft.com/office/drawing/2014/main" id="{3B8B7F14-C3B8-1D53-A763-148263050387}"/>
                </a:ext>
              </a:extLst>
            </p:cNvPr>
            <p:cNvSpPr/>
            <p:nvPr/>
          </p:nvSpPr>
          <p:spPr>
            <a:xfrm>
              <a:off x="3746562" y="1891158"/>
              <a:ext cx="36000" cy="3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30" name="椭圆 29">
              <a:extLst>
                <a:ext uri="{FF2B5EF4-FFF2-40B4-BE49-F238E27FC236}">
                  <a16:creationId xmlns:a16="http://schemas.microsoft.com/office/drawing/2014/main" id="{9CB4AD58-FE39-D4E3-6823-4BE5B16403C6}"/>
                </a:ext>
              </a:extLst>
            </p:cNvPr>
            <p:cNvSpPr/>
            <p:nvPr/>
          </p:nvSpPr>
          <p:spPr>
            <a:xfrm>
              <a:off x="3898962" y="2043558"/>
              <a:ext cx="36000" cy="3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32" name="文本框 31">
              <a:extLst>
                <a:ext uri="{FF2B5EF4-FFF2-40B4-BE49-F238E27FC236}">
                  <a16:creationId xmlns:a16="http://schemas.microsoft.com/office/drawing/2014/main" id="{8C86E0D2-139F-8AD6-9CD7-1DF6FF8BEF73}"/>
                </a:ext>
              </a:extLst>
            </p:cNvPr>
            <p:cNvSpPr txBox="1"/>
            <p:nvPr/>
          </p:nvSpPr>
          <p:spPr>
            <a:xfrm>
              <a:off x="3957449" y="1995560"/>
              <a:ext cx="536095" cy="215444"/>
            </a:xfrm>
            <a:prstGeom prst="rect">
              <a:avLst/>
            </a:prstGeom>
            <a:noFill/>
          </p:spPr>
          <p:txBody>
            <a:bodyPr wrap="square" rtlCol="0">
              <a:spAutoFit/>
            </a:bodyPr>
            <a:lstStyle/>
            <a:p>
              <a:pPr algn="ctr"/>
              <a:r>
                <a:rPr kumimoji="1" lang="en-US" altLang="zh-CN" sz="800" b="1" dirty="0">
                  <a:latin typeface="Garamond" panose="02020404030301010803" pitchFamily="18" charset="0"/>
                </a:rPr>
                <a:t>IS</a:t>
              </a:r>
              <a:r>
                <a:rPr kumimoji="1" lang="zh-CN" altLang="en-US" sz="800" b="1" dirty="0">
                  <a:latin typeface="Garamond" panose="02020404030301010803" pitchFamily="18" charset="0"/>
                </a:rPr>
                <a:t>曲线</a:t>
              </a:r>
            </a:p>
          </p:txBody>
        </p:sp>
      </p:grpSp>
    </p:spTree>
    <p:extLst>
      <p:ext uri="{BB962C8B-B14F-4D97-AF65-F5344CB8AC3E}">
        <p14:creationId xmlns:p14="http://schemas.microsoft.com/office/powerpoint/2010/main" val="335196392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t>在两部门的经济中，均衡收入的代数表达式为：</a:t>
                </a:r>
                <a:endParaRPr lang="en-US" altLang="zh-CN" sz="1008" dirty="0"/>
              </a:p>
              <a:p>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p>
              <a:p>
                <a:r>
                  <a:rPr lang="zh-CN" altLang="en-US" sz="1008" dirty="0"/>
                  <a:t>可转化为：</a:t>
                </a:r>
                <a:r>
                  <a:rPr lang="en-US" altLang="zh-CN" sz="1008" dirty="0"/>
                  <a:t> </a:t>
                </a:r>
                <a14:m>
                  <m:oMath xmlns:m="http://schemas.openxmlformats.org/officeDocument/2006/math">
                    <m:r>
                      <m:rPr>
                        <m:sty m:val="p"/>
                      </m:rPr>
                      <a:rPr lang="en-US" altLang="zh-CN" sz="1008">
                        <a:latin typeface="Cambria Math" panose="02040503050406030204" pitchFamily="18" charset="0"/>
                      </a:rPr>
                      <m:t>r</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num>
                      <m:den>
                        <m:r>
                          <m:rPr>
                            <m:sty m:val="p"/>
                          </m:rPr>
                          <a:rPr lang="en-US" altLang="zh-CN" sz="1008">
                            <a:latin typeface="Cambria Math" panose="02040503050406030204" pitchFamily="18" charset="0"/>
                          </a:rPr>
                          <m:t>d</m:t>
                        </m:r>
                      </m:den>
                    </m:f>
                    <m:r>
                      <a:rPr lang="en-US" altLang="zh-CN" sz="1008" i="1">
                        <a:latin typeface="Cambria Math" panose="02040503050406030204" pitchFamily="18" charset="0"/>
                      </a:rPr>
                      <m:t>−</m:t>
                    </m:r>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num>
                      <m:den>
                        <m:r>
                          <m:rPr>
                            <m:sty m:val="p"/>
                          </m:rPr>
                          <a:rPr lang="en-US" altLang="zh-CN" sz="1008">
                            <a:latin typeface="Cambria Math" panose="02040503050406030204" pitchFamily="18" charset="0"/>
                          </a:rPr>
                          <m:t>d</m:t>
                        </m:r>
                      </m:den>
                    </m:f>
                    <m:r>
                      <a:rPr lang="en-US" altLang="zh-CN" sz="1008" i="1">
                        <a:latin typeface="Cambria Math" panose="02040503050406030204" pitchFamily="18" charset="0"/>
                      </a:rPr>
                      <m:t>𝑦</m:t>
                    </m:r>
                  </m:oMath>
                </a14:m>
                <a:endParaRPr lang="en-US" altLang="zh-CN" sz="1008" dirty="0"/>
              </a:p>
              <a:p>
                <a:r>
                  <a:rPr lang="en-US" altLang="zh-CN" sz="1008" dirty="0"/>
                  <a:t>d</a:t>
                </a:r>
                <a:r>
                  <a:rPr lang="zh-CN" altLang="en-US" sz="1008" dirty="0"/>
                  <a:t>是投资需求对利率变动的反应程度，它表示利率变动一定幅度时投资变动的程度。在</a:t>
                </a:r>
                <a:r>
                  <a:rPr lang="en-US" altLang="zh-CN" sz="1008" dirty="0"/>
                  <a:t>IS</a:t>
                </a:r>
                <a:r>
                  <a:rPr lang="zh-CN" altLang="en-US" sz="1008" dirty="0"/>
                  <a:t>曲线上，利率较小变动就要求有收入较大变动与之相配合，才能使产品市场均衡。</a:t>
                </a:r>
                <a:endParaRPr lang="en-US" altLang="zh-CN" sz="1008" dirty="0"/>
              </a:p>
              <a:p>
                <a14:m>
                  <m:oMath xmlns:m="http://schemas.openxmlformats.org/officeDocument/2006/math">
                    <m:r>
                      <a:rPr lang="zh-CN" altLang="en-US" sz="1008">
                        <a:latin typeface="Cambria Math" panose="02040503050406030204" pitchFamily="18" charset="0"/>
                      </a:rPr>
                      <m:t>𝛽</m:t>
                    </m:r>
                  </m:oMath>
                </a14:m>
                <a:r>
                  <a:rPr lang="zh-CN" altLang="en-US" sz="1008" dirty="0"/>
                  <a:t>是边际消费倾向，若</a:t>
                </a:r>
                <a14:m>
                  <m:oMath xmlns:m="http://schemas.openxmlformats.org/officeDocument/2006/math">
                    <m:r>
                      <a:rPr lang="zh-CN" altLang="en-US" sz="1008">
                        <a:latin typeface="Cambria Math" panose="02040503050406030204" pitchFamily="18" charset="0"/>
                      </a:rPr>
                      <m:t>𝛽</m:t>
                    </m:r>
                  </m:oMath>
                </a14:m>
                <a:r>
                  <a:rPr lang="zh-CN" altLang="en-US" sz="1008" dirty="0"/>
                  <a:t>较大，则</a:t>
                </a:r>
                <a:r>
                  <a:rPr lang="en-US" altLang="zh-CN" sz="1008" dirty="0"/>
                  <a:t>IS</a:t>
                </a:r>
                <a:r>
                  <a:rPr lang="zh-CN" altLang="en-US" sz="1008" dirty="0"/>
                  <a:t>曲线的斜率绝对值会较小。因为</a:t>
                </a:r>
                <a14:m>
                  <m:oMath xmlns:m="http://schemas.openxmlformats.org/officeDocument/2006/math">
                    <m:r>
                      <a:rPr lang="zh-CN" altLang="en-US" sz="1008">
                        <a:latin typeface="Cambria Math" panose="02040503050406030204" pitchFamily="18" charset="0"/>
                      </a:rPr>
                      <m:t>𝛽</m:t>
                    </m:r>
                  </m:oMath>
                </a14:m>
                <a:r>
                  <a:rPr lang="zh-CN" altLang="en-US" sz="1008" dirty="0"/>
                  <a:t>较大，则支出乘数较大，当利率变动引起投资变动时，收入会以较大幅度变动，因而</a:t>
                </a:r>
                <a:r>
                  <a:rPr lang="en-US" altLang="zh-CN" sz="1008" dirty="0"/>
                  <a:t>IS</a:t>
                </a:r>
                <a:r>
                  <a:rPr lang="zh-CN" altLang="en-US" sz="1008" dirty="0"/>
                  <a:t>曲线较为平缓。</a:t>
                </a:r>
                <a:endParaRPr lang="en-US" altLang="zh-CN" sz="1008"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18D4C31A-12A9-59C2-4084-5AB1277771D6}"/>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3D73541F-761B-E9CA-3C04-1BCF8247290B}"/>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141588A1-767A-4021-1DBE-7A45066E9FD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821847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latin typeface="Garamond" panose="02020404030301010803" pitchFamily="18" charset="0"/>
                    <a:ea typeface="SimSun" panose="02010600030101010101" pitchFamily="2" charset="-122"/>
                  </a:rPr>
                  <a:t>三部门的经济中，存在税收和政府支出，消费是可支配收入的函数</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）定量税：</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斜率的绝对值仍然是</a:t>
                </a:r>
                <a14:m>
                  <m:oMath xmlns:m="http://schemas.openxmlformats.org/officeDocument/2006/math">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num>
                      <m:den>
                        <m:r>
                          <m:rPr>
                            <m:sty m:val="p"/>
                          </m:rPr>
                          <a:rPr lang="en-US" altLang="zh-CN" sz="1008">
                            <a:latin typeface="Cambria Math" panose="02040503050406030204" pitchFamily="18" charset="0"/>
                          </a:rPr>
                          <m:t>d</m:t>
                        </m:r>
                      </m:den>
                    </m:f>
                  </m:oMath>
                </a14:m>
                <a:endParaRPr lang="en-US" altLang="zh-CN" sz="1008" dirty="0">
                  <a:latin typeface="Garamond" panose="02020404030301010803" pitchFamily="18" charset="0"/>
                  <a:ea typeface="SimSun" panose="02010600030101010101" pitchFamily="2" charset="-122"/>
                </a:endParaRPr>
              </a:p>
              <a:p>
                <a14:m>
                  <m:oMath xmlns:m="http://schemas.openxmlformats.org/officeDocument/2006/math">
                    <m:r>
                      <a:rPr lang="en-US" altLang="zh-CN" sz="1008" i="1">
                        <a:latin typeface="Cambria Math" panose="02040503050406030204" pitchFamily="18" charset="0"/>
                      </a:rPr>
                      <m:t>2</m:t>
                    </m:r>
                    <m:r>
                      <a:rPr lang="zh-CN" altLang="en-US" sz="1008" i="1">
                        <a:latin typeface="Cambria Math" panose="02040503050406030204" pitchFamily="18" charset="0"/>
                      </a:rPr>
                      <m:t>）</m:t>
                    </m:r>
                  </m:oMath>
                </a14:m>
                <a:r>
                  <a:rPr lang="zh-CN" altLang="en-US" sz="1008" dirty="0">
                    <a:latin typeface="Garamond" panose="02020404030301010803" pitchFamily="18" charset="0"/>
                    <a:ea typeface="SimSun" panose="02010600030101010101" pitchFamily="2" charset="-122"/>
                  </a:rPr>
                  <a:t>比例税：</a:t>
                </a:r>
                <a:endParaRPr lang="en-US" altLang="zh-CN" sz="1008" dirty="0">
                  <a:latin typeface="Garamond" panose="02020404030301010803" pitchFamily="18" charset="0"/>
                  <a:ea typeface="SimSun" panose="02010600030101010101" pitchFamily="2" charset="-122"/>
                </a:endParaRPr>
              </a:p>
              <a:p>
                <a14:m>
                  <m:oMath xmlns:m="http://schemas.openxmlformats.org/officeDocument/2006/math">
                    <m:r>
                      <m:rPr>
                        <m:sty m:val="p"/>
                      </m:rPr>
                      <a:rPr lang="en-US" altLang="zh-CN" sz="1008">
                        <a:latin typeface="Cambria Math" panose="02040503050406030204" pitchFamily="18" charset="0"/>
                      </a:rPr>
                      <m:t>c</m:t>
                    </m:r>
                    <m:r>
                      <a:rPr lang="en-US" altLang="zh-CN" sz="1008">
                        <a:latin typeface="Cambria Math" panose="02040503050406030204" pitchFamily="18" charset="0"/>
                      </a:rPr>
                      <m:t>=</m:t>
                    </m:r>
                    <m:r>
                      <m:rPr>
                        <m:sty m:val="p"/>
                      </m:rPr>
                      <a:rPr lang="el-GR" altLang="zh-CN" sz="1008" i="1">
                        <a:latin typeface="Cambria Math" panose="02040503050406030204" pitchFamily="18" charset="0"/>
                        <a:ea typeface="Cambria Math" panose="02040503050406030204" pitchFamily="18" charset="0"/>
                      </a:rPr>
                      <m:t>α</m:t>
                    </m:r>
                    <m:r>
                      <a:rPr lang="en-US" altLang="zh-CN" sz="1008" i="1">
                        <a:latin typeface="Cambria Math" panose="02040503050406030204" pitchFamily="18" charset="0"/>
                        <a:ea typeface="Cambria Math" panose="02040503050406030204" pitchFamily="18" charset="0"/>
                      </a:rPr>
                      <m:t>+</m:t>
                    </m:r>
                    <m:r>
                      <a:rPr lang="zh-CN" altLang="en-US" sz="1008">
                        <a:latin typeface="Cambria Math" panose="02040503050406030204" pitchFamily="18" charset="0"/>
                      </a:rPr>
                      <m:t>𝛽</m:t>
                    </m:r>
                    <m:d>
                      <m:dPr>
                        <m:ctrlPr>
                          <a:rPr lang="en-US" altLang="zh-CN" sz="1008" i="1">
                            <a:latin typeface="Cambria Math" panose="02040503050406030204" pitchFamily="18" charset="0"/>
                          </a:rPr>
                        </m:ctrlPr>
                      </m:dPr>
                      <m:e>
                        <m:r>
                          <a:rPr lang="en-US" altLang="zh-CN" sz="1008">
                            <a:latin typeface="Cambria Math" panose="02040503050406030204" pitchFamily="18" charset="0"/>
                          </a:rPr>
                          <m:t>1−</m:t>
                        </m:r>
                        <m:r>
                          <m:rPr>
                            <m:sty m:val="p"/>
                          </m:rPr>
                          <a:rPr lang="en-US" altLang="zh-CN" sz="1008">
                            <a:latin typeface="Cambria Math" panose="02040503050406030204" pitchFamily="18" charset="0"/>
                          </a:rPr>
                          <m:t>t</m:t>
                        </m:r>
                      </m:e>
                    </m:d>
                    <m:r>
                      <m:rPr>
                        <m:sty m:val="p"/>
                      </m:rPr>
                      <a:rPr lang="en-US" altLang="zh-CN" sz="1008">
                        <a:latin typeface="Cambria Math" panose="02040503050406030204" pitchFamily="18" charset="0"/>
                      </a:rPr>
                      <m:t>y</m:t>
                    </m:r>
                  </m:oMath>
                </a14:m>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t</a:t>
                </a:r>
                <a:r>
                  <a:rPr lang="zh-CN" altLang="en-US" sz="1008" dirty="0">
                    <a:latin typeface="Garamond" panose="02020404030301010803" pitchFamily="18" charset="0"/>
                    <a:ea typeface="SimSun" panose="02010600030101010101" pitchFamily="2" charset="-122"/>
                  </a:rPr>
                  <a:t>是边际税率，因此</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的斜率绝对值变为：</a:t>
                </a:r>
                <a:r>
                  <a:rPr lang="en-US" altLang="zh-CN" sz="1008" dirty="0">
                    <a:latin typeface="Garamond" panose="02020404030301010803" pitchFamily="18" charset="0"/>
                    <a:ea typeface="SimSun" panose="02010600030101010101" pitchFamily="2" charset="-122"/>
                  </a:rPr>
                  <a:t> </a:t>
                </a:r>
                <a14:m>
                  <m:oMath xmlns:m="http://schemas.openxmlformats.org/officeDocument/2006/math">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r>
                          <a:rPr lang="en-US" altLang="zh-CN" sz="1008">
                            <a:latin typeface="Cambria Math" panose="02040503050406030204" pitchFamily="18" charset="0"/>
                          </a:rPr>
                          <m:t>(1−</m:t>
                        </m:r>
                        <m:r>
                          <m:rPr>
                            <m:sty m:val="p"/>
                          </m:rPr>
                          <a:rPr lang="en-US" altLang="zh-CN" sz="1008">
                            <a:latin typeface="Cambria Math" panose="02040503050406030204" pitchFamily="18" charset="0"/>
                          </a:rPr>
                          <m:t>t</m:t>
                        </m:r>
                        <m:r>
                          <a:rPr lang="en-US" altLang="zh-CN" sz="1008">
                            <a:latin typeface="Cambria Math" panose="02040503050406030204" pitchFamily="18" charset="0"/>
                          </a:rPr>
                          <m:t>)</m:t>
                        </m:r>
                      </m:num>
                      <m:den>
                        <m:r>
                          <m:rPr>
                            <m:sty m:val="p"/>
                          </m:rPr>
                          <a:rPr lang="en-US" altLang="zh-CN" sz="1008">
                            <a:latin typeface="Cambria Math" panose="02040503050406030204" pitchFamily="18" charset="0"/>
                          </a:rPr>
                          <m:t>d</m:t>
                        </m:r>
                      </m:den>
                    </m:f>
                  </m:oMath>
                </a14:m>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此时，</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曲线的斜率除了与</a:t>
                </a:r>
                <a14:m>
                  <m:oMath xmlns:m="http://schemas.openxmlformats.org/officeDocument/2006/math">
                    <m:r>
                      <m:rPr>
                        <m:sty m:val="p"/>
                      </m:rPr>
                      <a:rPr lang="en-US" altLang="zh-CN" sz="1008">
                        <a:latin typeface="Cambria Math" panose="02040503050406030204" pitchFamily="18" charset="0"/>
                      </a:rPr>
                      <m:t>d</m:t>
                    </m:r>
                  </m:oMath>
                </a14:m>
                <a:r>
                  <a:rPr lang="zh-CN" altLang="en-US" sz="1008" dirty="0">
                    <a:latin typeface="Garamond" panose="02020404030301010803" pitchFamily="18" charset="0"/>
                    <a:ea typeface="SimSun" panose="02010600030101010101" pitchFamily="2" charset="-122"/>
                  </a:rPr>
                  <a:t>和</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相关之外，还与边际税率</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相关。</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当</a:t>
                </a:r>
                <a14:m>
                  <m:oMath xmlns:m="http://schemas.openxmlformats.org/officeDocument/2006/math">
                    <m:r>
                      <m:rPr>
                        <m:sty m:val="p"/>
                      </m:rPr>
                      <a:rPr lang="en-US" altLang="zh-CN" sz="1008">
                        <a:latin typeface="Cambria Math" panose="02040503050406030204" pitchFamily="18" charset="0"/>
                      </a:rPr>
                      <m:t>d</m:t>
                    </m:r>
                  </m:oMath>
                </a14:m>
                <a:r>
                  <a:rPr lang="zh-CN" altLang="en-US" sz="1008" dirty="0">
                    <a:latin typeface="Garamond" panose="02020404030301010803" pitchFamily="18" charset="0"/>
                    <a:ea typeface="SimSun" panose="02010600030101010101" pitchFamily="2" charset="-122"/>
                  </a:rPr>
                  <a:t>和</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一定时，</a:t>
                </a:r>
                <a:r>
                  <a:rPr lang="en-US" altLang="zh-CN" sz="1008" dirty="0">
                    <a:latin typeface="Garamond" panose="02020404030301010803" pitchFamily="18" charset="0"/>
                    <a:ea typeface="SimSun" panose="02010600030101010101" pitchFamily="2" charset="-122"/>
                  </a:rPr>
                  <a:t> </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越小，</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曲线越平缓；</a:t>
                </a:r>
                <a:r>
                  <a:rPr lang="en-US" altLang="zh-CN" sz="1008" dirty="0">
                    <a:latin typeface="Garamond" panose="02020404030301010803" pitchFamily="18" charset="0"/>
                    <a:ea typeface="SimSun" panose="02010600030101010101" pitchFamily="2" charset="-122"/>
                  </a:rPr>
                  <a:t> </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越大，</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曲线越陡峭。</a:t>
                </a:r>
                <a:endParaRPr lang="en-US" altLang="zh-CN" sz="1008"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0F1FA28A-1E24-5E8A-E42C-ECF9A2E0D5F4}"/>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FB8B910D-DAA4-79C0-0C02-37867B6EAF1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27</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15D2896F-BFC8-9C1C-8EF4-166254B2E6E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80601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latin typeface="Garamond" panose="02020404030301010803" pitchFamily="18" charset="0"/>
                    <a:ea typeface="SimSun" panose="02010600030101010101" pitchFamily="2" charset="-122"/>
                  </a:rPr>
                  <a:t>需要注意的两点：</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1. </a:t>
                </a:r>
                <a:r>
                  <a:rPr lang="zh-CN" altLang="en-US" sz="1008" dirty="0">
                    <a:latin typeface="Garamond" panose="02020404030301010803" pitchFamily="18" charset="0"/>
                    <a:ea typeface="SimSun" panose="02010600030101010101" pitchFamily="2" charset="-122"/>
                  </a:rPr>
                  <a:t>西方学者认为，影响</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斜率大小变化的主要是投资对利率的敏感度，原因是边际消费倾向比较稳定，税率也不会轻易变动。</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2. </a:t>
                </a:r>
                <a:r>
                  <a:rPr lang="zh-CN" altLang="en-US" sz="1008" dirty="0">
                    <a:latin typeface="Garamond" panose="02020404030301010803" pitchFamily="18" charset="0"/>
                    <a:ea typeface="SimSun" panose="02010600030101010101" pitchFamily="2" charset="-122"/>
                  </a:rPr>
                  <a:t>上述斜率是以预期不变为前提的。</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以</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为例，加入预期因素后，若</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下降，企业又预期未来实际利率不会像现在这样低，那么企业就不会按</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这一系数大幅度改变投资计划，即不会增加多少投资，从而收入也不会增加那么多；</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以乘数</a:t>
                </a:r>
                <a:r>
                  <a:rPr lang="en-US" altLang="zh-CN" sz="1008" dirty="0">
                    <a:latin typeface="Garamond" panose="02020404030301010803" pitchFamily="18" charset="0"/>
                    <a:ea typeface="SimSun" panose="02010600030101010101" pitchFamily="2" charset="-122"/>
                  </a:rPr>
                  <a:t>1/1-</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为例，加入预期因素后，若人们预期不会持久的收入变化对消费和投资的影响就都有限。也就是说，边际消费倾向较小，因而乘数就较小。</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这意味着，考虑预期因素之后，</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的曲线会陡一些。</a:t>
                </a:r>
                <a:endParaRPr lang="en-US" altLang="zh-CN" sz="1008"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r="-2719"/>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C622570D-A2E3-A207-CD99-69A6C3F77F12}"/>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3C9C9CAF-ADAA-69A4-8BB8-1DEDAA22358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28</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0FDEF6AD-0804-4766-FAD5-C78222ADF70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087232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6858" y="786988"/>
            <a:ext cx="3281004" cy="211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52543" y="2940551"/>
            <a:ext cx="3281004" cy="216534"/>
          </a:xfrm>
          <a:prstGeom prst="rect">
            <a:avLst/>
          </a:prstGeom>
        </p:spPr>
        <p:txBody>
          <a:bodyPr wrap="square">
            <a:spAutoFit/>
          </a:bodyPr>
          <a:lstStyle/>
          <a:p>
            <a:pPr algn="ctr"/>
            <a:r>
              <a:rPr lang="zh-CN" altLang="en-US" sz="807" b="1" dirty="0">
                <a:latin typeface="Garamond" panose="02020404030301010803" pitchFamily="18" charset="0"/>
                <a:ea typeface="KaiTi" panose="02010609060101010101" pitchFamily="49" charset="-122"/>
              </a:rPr>
              <a:t>投资需求变动使</a:t>
            </a:r>
            <a:r>
              <a:rPr lang="en-US" altLang="zh-CN" sz="807" b="1" dirty="0">
                <a:latin typeface="Garamond" panose="02020404030301010803" pitchFamily="18" charset="0"/>
                <a:ea typeface="KaiTi" panose="02010609060101010101" pitchFamily="49" charset="-122"/>
              </a:rPr>
              <a:t>IS</a:t>
            </a:r>
            <a:r>
              <a:rPr lang="zh-CN" altLang="en-US" sz="807" b="1" dirty="0">
                <a:latin typeface="Garamond" panose="02020404030301010803" pitchFamily="18" charset="0"/>
                <a:ea typeface="KaiTi" panose="02010609060101010101" pitchFamily="49" charset="-122"/>
              </a:rPr>
              <a:t>曲线移动</a:t>
            </a:r>
          </a:p>
        </p:txBody>
      </p:sp>
      <p:sp>
        <p:nvSpPr>
          <p:cNvPr id="9" name="内容占位符 2">
            <a:extLst>
              <a:ext uri="{FF2B5EF4-FFF2-40B4-BE49-F238E27FC236}">
                <a16:creationId xmlns:a16="http://schemas.microsoft.com/office/drawing/2014/main" id="{B97DD7F7-8305-45DA-A072-A46F8F86C4D3}"/>
              </a:ext>
            </a:extLst>
          </p:cNvPr>
          <p:cNvSpPr txBox="1">
            <a:spLocks/>
          </p:cNvSpPr>
          <p:nvPr/>
        </p:nvSpPr>
        <p:spPr bwMode="auto">
          <a:xfrm>
            <a:off x="216818" y="565753"/>
            <a:ext cx="3976211" cy="2261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008" dirty="0">
                <a:latin typeface="Garamond" panose="02020404030301010803" pitchFamily="18" charset="0"/>
                <a:ea typeface="SimSun" panose="02010600030101010101" pitchFamily="2" charset="-122"/>
              </a:rPr>
              <a:t>在其他条件不变的情况下，</a:t>
            </a:r>
            <a:r>
              <a:rPr lang="zh-CN" altLang="en-US" sz="1008" b="1" u="sng" dirty="0">
                <a:latin typeface="Garamond" panose="02020404030301010803" pitchFamily="18" charset="0"/>
                <a:ea typeface="SimSun" panose="02010600030101010101" pitchFamily="2" charset="-122"/>
              </a:rPr>
              <a:t>投资需求增加</a:t>
            </a:r>
            <a:r>
              <a:rPr lang="zh-CN" altLang="en-US" sz="1008" dirty="0">
                <a:latin typeface="Garamond" panose="02020404030301010803" pitchFamily="18" charset="0"/>
                <a:ea typeface="SimSun" panose="02010600030101010101" pitchFamily="2" charset="-122"/>
              </a:rPr>
              <a:t>会引起</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曲线右移。</a:t>
            </a:r>
            <a:endParaRPr lang="en-US" altLang="zh-CN" sz="1008" dirty="0">
              <a:latin typeface="Garamond" panose="02020404030301010803" pitchFamily="18" charset="0"/>
              <a:ea typeface="SimSun" panose="02010600030101010101" pitchFamily="2" charset="-122"/>
            </a:endParaRPr>
          </a:p>
        </p:txBody>
      </p:sp>
      <p:sp>
        <p:nvSpPr>
          <p:cNvPr id="3" name="标题 2">
            <a:extLst>
              <a:ext uri="{FF2B5EF4-FFF2-40B4-BE49-F238E27FC236}">
                <a16:creationId xmlns:a16="http://schemas.microsoft.com/office/drawing/2014/main" id="{0D1C5BC5-CAAB-F435-A6B0-B48AEA371E0D}"/>
              </a:ext>
            </a:extLst>
          </p:cNvPr>
          <p:cNvSpPr>
            <a:spLocks noGrp="1"/>
          </p:cNvSpPr>
          <p:nvPr>
            <p:ph type="title"/>
          </p:nvPr>
        </p:nvSpPr>
        <p:spPr/>
        <p:txBody>
          <a:bodyPr/>
          <a:lstStyle/>
          <a:p>
            <a:r>
              <a:rPr kumimoji="1" lang="en-US" altLang="zh-CN" dirty="0"/>
              <a:t>IS</a:t>
            </a:r>
            <a:r>
              <a:rPr kumimoji="1" lang="zh-CN" altLang="en-US" dirty="0"/>
              <a:t>曲线的移动</a:t>
            </a:r>
          </a:p>
        </p:txBody>
      </p:sp>
      <p:sp>
        <p:nvSpPr>
          <p:cNvPr id="2" name="灯片编号占位符 2">
            <a:extLst>
              <a:ext uri="{FF2B5EF4-FFF2-40B4-BE49-F238E27FC236}">
                <a16:creationId xmlns:a16="http://schemas.microsoft.com/office/drawing/2014/main" id="{17054423-E184-9B71-3949-D9493E5D37C7}"/>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29</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76300220-49B2-DB1D-AF7B-E26F6CD785A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10223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343" y="866279"/>
            <a:ext cx="3225414" cy="207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92343" y="2930910"/>
            <a:ext cx="3225414" cy="216534"/>
          </a:xfrm>
          <a:prstGeom prst="rect">
            <a:avLst/>
          </a:prstGeom>
        </p:spPr>
        <p:txBody>
          <a:bodyPr wrap="square">
            <a:spAutoFit/>
          </a:bodyPr>
          <a:lstStyle/>
          <a:p>
            <a:pPr algn="ctr"/>
            <a:r>
              <a:rPr lang="zh-CN" altLang="en-US" sz="807" b="1" dirty="0">
                <a:latin typeface="Garamond" panose="02020404030301010803" pitchFamily="18" charset="0"/>
                <a:ea typeface="KaiTi" panose="02010609060101010101" pitchFamily="49" charset="-122"/>
              </a:rPr>
              <a:t>储蓄需求变动使</a:t>
            </a:r>
            <a:r>
              <a:rPr lang="en-US" altLang="zh-CN" sz="807" b="1" dirty="0">
                <a:latin typeface="Garamond" panose="02020404030301010803" pitchFamily="18" charset="0"/>
                <a:ea typeface="KaiTi" panose="02010609060101010101" pitchFamily="49" charset="-122"/>
              </a:rPr>
              <a:t>IS</a:t>
            </a:r>
            <a:r>
              <a:rPr lang="zh-CN" altLang="en-US" sz="807" b="1" dirty="0">
                <a:latin typeface="Garamond" panose="02020404030301010803" pitchFamily="18" charset="0"/>
                <a:ea typeface="KaiTi" panose="02010609060101010101" pitchFamily="49" charset="-122"/>
              </a:rPr>
              <a:t>曲线移动</a:t>
            </a:r>
          </a:p>
        </p:txBody>
      </p:sp>
      <p:sp>
        <p:nvSpPr>
          <p:cNvPr id="9" name="内容占位符 2">
            <a:extLst>
              <a:ext uri="{FF2B5EF4-FFF2-40B4-BE49-F238E27FC236}">
                <a16:creationId xmlns:a16="http://schemas.microsoft.com/office/drawing/2014/main" id="{76E3527A-AACE-4579-99EF-2FC9377C27BC}"/>
              </a:ext>
            </a:extLst>
          </p:cNvPr>
          <p:cNvSpPr txBox="1">
            <a:spLocks/>
          </p:cNvSpPr>
          <p:nvPr/>
        </p:nvSpPr>
        <p:spPr bwMode="auto">
          <a:xfrm>
            <a:off x="232146" y="599460"/>
            <a:ext cx="3976211"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008" dirty="0">
                <a:latin typeface="Garamond" panose="02020404030301010803" pitchFamily="18" charset="0"/>
                <a:ea typeface="SimSun" panose="02010600030101010101" pitchFamily="2" charset="-122"/>
              </a:rPr>
              <a:t>在其他条件不变的情况下，</a:t>
            </a:r>
            <a:r>
              <a:rPr lang="zh-CN" altLang="en-US" sz="1008" b="1" u="sng" dirty="0">
                <a:latin typeface="Garamond" panose="02020404030301010803" pitchFamily="18" charset="0"/>
                <a:ea typeface="SimSun" panose="02010600030101010101" pitchFamily="2" charset="-122"/>
              </a:rPr>
              <a:t>储蓄需求增加</a:t>
            </a:r>
            <a:r>
              <a:rPr lang="zh-CN" altLang="en-US" sz="1008" dirty="0">
                <a:latin typeface="Garamond" panose="02020404030301010803" pitchFamily="18" charset="0"/>
                <a:ea typeface="SimSun" panose="02010600030101010101" pitchFamily="2" charset="-122"/>
              </a:rPr>
              <a:t>会引起</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曲线左移。</a:t>
            </a:r>
            <a:endParaRPr lang="en-US" altLang="zh-CN" sz="1008" dirty="0">
              <a:latin typeface="Garamond" panose="02020404030301010803" pitchFamily="18" charset="0"/>
              <a:ea typeface="SimSun" panose="02010600030101010101" pitchFamily="2" charset="-122"/>
            </a:endParaRPr>
          </a:p>
        </p:txBody>
      </p:sp>
      <p:sp>
        <p:nvSpPr>
          <p:cNvPr id="3" name="标题 2">
            <a:extLst>
              <a:ext uri="{FF2B5EF4-FFF2-40B4-BE49-F238E27FC236}">
                <a16:creationId xmlns:a16="http://schemas.microsoft.com/office/drawing/2014/main" id="{10B8405D-FDB2-0374-51EC-9F5164A7D207}"/>
              </a:ext>
            </a:extLst>
          </p:cNvPr>
          <p:cNvSpPr>
            <a:spLocks noGrp="1"/>
          </p:cNvSpPr>
          <p:nvPr>
            <p:ph type="title"/>
          </p:nvPr>
        </p:nvSpPr>
        <p:spPr/>
        <p:txBody>
          <a:bodyPr/>
          <a:lstStyle/>
          <a:p>
            <a:r>
              <a:rPr kumimoji="1" lang="en-US" altLang="zh-CN" dirty="0"/>
              <a:t>IS</a:t>
            </a:r>
            <a:r>
              <a:rPr kumimoji="1" lang="zh-CN" altLang="en-US" dirty="0"/>
              <a:t>曲线的移动</a:t>
            </a:r>
          </a:p>
        </p:txBody>
      </p:sp>
      <p:sp>
        <p:nvSpPr>
          <p:cNvPr id="2" name="灯片编号占位符 2">
            <a:extLst>
              <a:ext uri="{FF2B5EF4-FFF2-40B4-BE49-F238E27FC236}">
                <a16:creationId xmlns:a16="http://schemas.microsoft.com/office/drawing/2014/main" id="{3ADF9189-530A-7751-295B-27E2345EFAA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30</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EE09B24E-573B-9021-05BB-62284300025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723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E3119-48AA-1337-FB9D-E4A0DFDF5576}"/>
            </a:ext>
          </a:extLst>
        </p:cNvPr>
        <p:cNvGrpSpPr/>
        <p:nvPr/>
      </p:nvGrpSpPr>
      <p:grpSpPr>
        <a:xfrm>
          <a:off x="0" y="0"/>
          <a:ext cx="0" cy="0"/>
          <a:chOff x="0" y="0"/>
          <a:chExt cx="0" cy="0"/>
        </a:xfrm>
      </p:grpSpPr>
      <p:pic>
        <p:nvPicPr>
          <p:cNvPr id="7" name="Picture 4" descr="xf146">
            <a:extLst>
              <a:ext uri="{FF2B5EF4-FFF2-40B4-BE49-F238E27FC236}">
                <a16:creationId xmlns:a16="http://schemas.microsoft.com/office/drawing/2014/main" id="{3224C2F9-033C-5EE8-2FE2-27DF792F0D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4305" y="1201355"/>
            <a:ext cx="3281004" cy="211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34315A07-C431-D59C-A6C8-CA5B9DD0B896}"/>
              </a:ext>
            </a:extLst>
          </p:cNvPr>
          <p:cNvSpPr/>
          <p:nvPr/>
        </p:nvSpPr>
        <p:spPr>
          <a:xfrm>
            <a:off x="652543" y="3291737"/>
            <a:ext cx="3281004" cy="216534"/>
          </a:xfrm>
          <a:prstGeom prst="rect">
            <a:avLst/>
          </a:prstGeom>
        </p:spPr>
        <p:txBody>
          <a:bodyPr wrap="square">
            <a:spAutoFit/>
          </a:bodyPr>
          <a:lstStyle/>
          <a:p>
            <a:pPr algn="ctr"/>
            <a:r>
              <a:rPr lang="zh-CN" altLang="en-US" sz="807" b="1" dirty="0">
                <a:latin typeface="Garamond" panose="02020404030301010803" pitchFamily="18" charset="0"/>
                <a:ea typeface="KaiTi" panose="02010609060101010101" pitchFamily="49" charset="-122"/>
              </a:rPr>
              <a:t>投资需求变动使</a:t>
            </a:r>
            <a:r>
              <a:rPr lang="en-US" altLang="zh-CN" sz="807" b="1" dirty="0">
                <a:latin typeface="Garamond" panose="02020404030301010803" pitchFamily="18" charset="0"/>
                <a:ea typeface="KaiTi" panose="02010609060101010101" pitchFamily="49" charset="-122"/>
              </a:rPr>
              <a:t>IS</a:t>
            </a:r>
            <a:r>
              <a:rPr lang="zh-CN" altLang="en-US" sz="807" b="1" dirty="0">
                <a:latin typeface="Garamond" panose="02020404030301010803" pitchFamily="18" charset="0"/>
                <a:ea typeface="KaiTi" panose="02010609060101010101" pitchFamily="49" charset="-122"/>
              </a:rPr>
              <a:t>曲线移动</a:t>
            </a:r>
          </a:p>
        </p:txBody>
      </p:sp>
      <p:sp>
        <p:nvSpPr>
          <p:cNvPr id="3" name="标题 2">
            <a:extLst>
              <a:ext uri="{FF2B5EF4-FFF2-40B4-BE49-F238E27FC236}">
                <a16:creationId xmlns:a16="http://schemas.microsoft.com/office/drawing/2014/main" id="{B4C87682-DB01-8A74-BC59-BD1271D76578}"/>
              </a:ext>
            </a:extLst>
          </p:cNvPr>
          <p:cNvSpPr>
            <a:spLocks noGrp="1"/>
          </p:cNvSpPr>
          <p:nvPr>
            <p:ph type="title"/>
          </p:nvPr>
        </p:nvSpPr>
        <p:spPr>
          <a:xfrm>
            <a:off x="172879" y="-28019"/>
            <a:ext cx="4240332" cy="343671"/>
          </a:xfrm>
        </p:spPr>
        <p:txBody>
          <a:bodyPr/>
          <a:lstStyle/>
          <a:p>
            <a:r>
              <a:rPr kumimoji="1" lang="en-US" altLang="zh-CN" dirty="0"/>
              <a:t>IS</a:t>
            </a:r>
            <a:r>
              <a:rPr kumimoji="1" lang="zh-CN" altLang="en-US" dirty="0"/>
              <a:t>曲线的移动</a:t>
            </a:r>
          </a:p>
        </p:txBody>
      </p:sp>
      <p:sp>
        <p:nvSpPr>
          <p:cNvPr id="2" name="灯片编号占位符 2">
            <a:extLst>
              <a:ext uri="{FF2B5EF4-FFF2-40B4-BE49-F238E27FC236}">
                <a16:creationId xmlns:a16="http://schemas.microsoft.com/office/drawing/2014/main" id="{2D58010A-00E5-3525-FA21-70C2B68AE8B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31</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7A21DDD4-67B4-60F5-C53F-28B309D5C63B}"/>
              </a:ext>
            </a:extLst>
          </p:cNvPr>
          <p:cNvSpPr txBox="1">
            <a:spLocks noGrp="1" noChangeArrowheads="1"/>
          </p:cNvSpPr>
          <p:nvPr/>
        </p:nvSpPr>
        <p:spPr bwMode="auto">
          <a:xfrm>
            <a:off x="146048" y="3223285"/>
            <a:ext cx="646833"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
        <p:nvSpPr>
          <p:cNvPr id="5" name="内容占位符 2">
            <a:extLst>
              <a:ext uri="{FF2B5EF4-FFF2-40B4-BE49-F238E27FC236}">
                <a16:creationId xmlns:a16="http://schemas.microsoft.com/office/drawing/2014/main" id="{9DB0E4E4-3238-0615-8700-D296A50D7150}"/>
              </a:ext>
            </a:extLst>
          </p:cNvPr>
          <p:cNvSpPr txBox="1">
            <a:spLocks/>
          </p:cNvSpPr>
          <p:nvPr/>
        </p:nvSpPr>
        <p:spPr bwMode="auto">
          <a:xfrm>
            <a:off x="72803" y="218207"/>
            <a:ext cx="4464496"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defTabSz="461040"/>
            <a:r>
              <a:rPr lang="zh-CN" altLang="en-US" sz="900" dirty="0"/>
              <a:t>在其他条件不变的情况下，</a:t>
            </a:r>
            <a:r>
              <a:rPr lang="zh-CN" altLang="en-US" sz="900" b="1" u="sng" dirty="0"/>
              <a:t>投资需求增加</a:t>
            </a:r>
            <a:r>
              <a:rPr lang="zh-CN" altLang="en-US" sz="900" dirty="0"/>
              <a:t>会引起</a:t>
            </a:r>
            <a:r>
              <a:rPr lang="en-US" altLang="zh-CN" sz="900" dirty="0"/>
              <a:t>IS</a:t>
            </a:r>
            <a:r>
              <a:rPr lang="zh-CN" altLang="en-US" sz="900" dirty="0"/>
              <a:t>曲线右移。</a:t>
            </a:r>
            <a:endParaRPr lang="en-US" altLang="zh-CN" sz="900" dirty="0"/>
          </a:p>
          <a:p>
            <a:pPr lvl="1"/>
            <a:r>
              <a:rPr lang="zh-CN" altLang="en-US" sz="900" dirty="0"/>
              <a:t>投资需求本身变了，不是利率变了。（例如：企业更乐观；新能源行业前景变好；政府出台投资补贴；技术进步带来新投资机会）</a:t>
            </a:r>
            <a:endParaRPr lang="en-US" altLang="zh-CN" sz="900" dirty="0"/>
          </a:p>
          <a:p>
            <a:pPr lvl="1"/>
            <a:r>
              <a:rPr lang="zh-CN" altLang="en-US" sz="900" dirty="0"/>
              <a:t>同一利率下，计划投资增加（图</a:t>
            </a:r>
            <a:r>
              <a:rPr lang="en-US" altLang="zh-CN" sz="900" dirty="0"/>
              <a:t>1</a:t>
            </a:r>
            <a:r>
              <a:rPr lang="zh-CN" altLang="en-US" sz="900" dirty="0"/>
              <a:t>） → 要实现均衡，储蓄要相应增加（图</a:t>
            </a:r>
            <a:r>
              <a:rPr lang="en-US" altLang="zh-CN" sz="900" dirty="0"/>
              <a:t>2</a:t>
            </a:r>
            <a:r>
              <a:rPr lang="zh-CN" altLang="en-US" sz="900" dirty="0"/>
              <a:t>） →要形成更多储蓄，均衡收入要相应增加（图</a:t>
            </a:r>
            <a:r>
              <a:rPr lang="en-US" altLang="zh-CN" sz="900" dirty="0"/>
              <a:t>3</a:t>
            </a:r>
            <a:r>
              <a:rPr lang="zh-CN" altLang="en-US" sz="900" dirty="0"/>
              <a:t>）→ 同一利率下，均衡收入更高，</a:t>
            </a:r>
            <a:r>
              <a:rPr lang="en-US" altLang="zh-CN" sz="900" dirty="0"/>
              <a:t>IS</a:t>
            </a:r>
            <a:r>
              <a:rPr lang="zh-CN" altLang="en-US" sz="900" dirty="0"/>
              <a:t>曲线右移（图</a:t>
            </a:r>
            <a:r>
              <a:rPr lang="en-US" altLang="zh-CN" sz="900" dirty="0"/>
              <a:t>4</a:t>
            </a:r>
            <a:r>
              <a:rPr lang="zh-CN" altLang="en-US" sz="900" dirty="0"/>
              <a:t>）</a:t>
            </a:r>
            <a:endParaRPr lang="en-US" altLang="zh-CN" sz="900" dirty="0"/>
          </a:p>
          <a:p>
            <a:endParaRPr lang="en-US" altLang="zh-CN" sz="1008" dirty="0"/>
          </a:p>
          <a:p>
            <a:endParaRPr lang="en-US" altLang="zh-CN" sz="1008" dirty="0"/>
          </a:p>
          <a:p>
            <a:endParaRPr lang="en-US" altLang="zh-CN" sz="1008" dirty="0"/>
          </a:p>
        </p:txBody>
      </p:sp>
    </p:spTree>
    <p:extLst>
      <p:ext uri="{BB962C8B-B14F-4D97-AF65-F5344CB8AC3E}">
        <p14:creationId xmlns:p14="http://schemas.microsoft.com/office/powerpoint/2010/main" val="10115665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3814C-6A17-8031-7F61-0B23D2F25B72}"/>
            </a:ext>
          </a:extLst>
        </p:cNvPr>
        <p:cNvGrpSpPr/>
        <p:nvPr/>
      </p:nvGrpSpPr>
      <p:grpSpPr>
        <a:xfrm>
          <a:off x="0" y="0"/>
          <a:ext cx="0" cy="0"/>
          <a:chOff x="0" y="0"/>
          <a:chExt cx="0" cy="0"/>
        </a:xfrm>
      </p:grpSpPr>
      <p:pic>
        <p:nvPicPr>
          <p:cNvPr id="7" name="Picture 4" descr="xf147">
            <a:extLst>
              <a:ext uri="{FF2B5EF4-FFF2-40B4-BE49-F238E27FC236}">
                <a16:creationId xmlns:a16="http://schemas.microsoft.com/office/drawing/2014/main" id="{F9DD7453-6C94-C7CB-C7C7-10263D0D96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345" y="1237370"/>
            <a:ext cx="3225414" cy="207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23AD0554-0F0A-5938-8F74-8B1C696E7C9A}"/>
              </a:ext>
            </a:extLst>
          </p:cNvPr>
          <p:cNvSpPr/>
          <p:nvPr/>
        </p:nvSpPr>
        <p:spPr>
          <a:xfrm>
            <a:off x="692343" y="3233217"/>
            <a:ext cx="3225414" cy="216534"/>
          </a:xfrm>
          <a:prstGeom prst="rect">
            <a:avLst/>
          </a:prstGeom>
        </p:spPr>
        <p:txBody>
          <a:bodyPr wrap="square">
            <a:spAutoFit/>
          </a:bodyPr>
          <a:lstStyle/>
          <a:p>
            <a:pPr algn="ctr"/>
            <a:r>
              <a:rPr lang="zh-CN" altLang="en-US" sz="807" b="1" dirty="0">
                <a:latin typeface="Garamond" panose="02020404030301010803" pitchFamily="18" charset="0"/>
                <a:ea typeface="KaiTi" panose="02010609060101010101" pitchFamily="49" charset="-122"/>
              </a:rPr>
              <a:t>储蓄需求变动使</a:t>
            </a:r>
            <a:r>
              <a:rPr lang="en-US" altLang="zh-CN" sz="807" b="1" dirty="0">
                <a:latin typeface="Garamond" panose="02020404030301010803" pitchFamily="18" charset="0"/>
                <a:ea typeface="KaiTi" panose="02010609060101010101" pitchFamily="49" charset="-122"/>
              </a:rPr>
              <a:t>IS</a:t>
            </a:r>
            <a:r>
              <a:rPr lang="zh-CN" altLang="en-US" sz="807" b="1" dirty="0">
                <a:latin typeface="Garamond" panose="02020404030301010803" pitchFamily="18" charset="0"/>
                <a:ea typeface="KaiTi" panose="02010609060101010101" pitchFamily="49" charset="-122"/>
              </a:rPr>
              <a:t>曲线移动</a:t>
            </a:r>
          </a:p>
        </p:txBody>
      </p:sp>
      <p:sp>
        <p:nvSpPr>
          <p:cNvPr id="3" name="标题 2">
            <a:extLst>
              <a:ext uri="{FF2B5EF4-FFF2-40B4-BE49-F238E27FC236}">
                <a16:creationId xmlns:a16="http://schemas.microsoft.com/office/drawing/2014/main" id="{07AB5675-FC70-E201-02BE-A74FF26003E3}"/>
              </a:ext>
            </a:extLst>
          </p:cNvPr>
          <p:cNvSpPr>
            <a:spLocks noGrp="1"/>
          </p:cNvSpPr>
          <p:nvPr>
            <p:ph type="title"/>
          </p:nvPr>
        </p:nvSpPr>
        <p:spPr>
          <a:xfrm>
            <a:off x="196889" y="-53456"/>
            <a:ext cx="4240332" cy="343671"/>
          </a:xfrm>
        </p:spPr>
        <p:txBody>
          <a:bodyPr/>
          <a:lstStyle/>
          <a:p>
            <a:r>
              <a:rPr kumimoji="1" lang="en-US" altLang="zh-CN" dirty="0"/>
              <a:t>IS</a:t>
            </a:r>
            <a:r>
              <a:rPr kumimoji="1" lang="zh-CN" altLang="en-US" dirty="0"/>
              <a:t>曲线的移动</a:t>
            </a:r>
          </a:p>
        </p:txBody>
      </p:sp>
      <p:sp>
        <p:nvSpPr>
          <p:cNvPr id="2" name="灯片编号占位符 2">
            <a:extLst>
              <a:ext uri="{FF2B5EF4-FFF2-40B4-BE49-F238E27FC236}">
                <a16:creationId xmlns:a16="http://schemas.microsoft.com/office/drawing/2014/main" id="{74964075-A10D-B93D-5B8C-66A36A241718}"/>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32</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9DAFB11-E7DC-B98F-232A-6D533BCD50D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
        <p:nvSpPr>
          <p:cNvPr id="10" name="内容占位符 2">
            <a:extLst>
              <a:ext uri="{FF2B5EF4-FFF2-40B4-BE49-F238E27FC236}">
                <a16:creationId xmlns:a16="http://schemas.microsoft.com/office/drawing/2014/main" id="{E3EABF1E-8508-C04D-E437-896D0843D770}"/>
              </a:ext>
            </a:extLst>
          </p:cNvPr>
          <p:cNvSpPr txBox="1">
            <a:spLocks/>
          </p:cNvSpPr>
          <p:nvPr/>
        </p:nvSpPr>
        <p:spPr bwMode="auto">
          <a:xfrm>
            <a:off x="117980" y="218207"/>
            <a:ext cx="4319241"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defTabSz="461040">
              <a:lnSpc>
                <a:spcPts val="1100"/>
              </a:lnSpc>
            </a:pPr>
            <a:r>
              <a:rPr lang="zh-CN" altLang="en-US" sz="950" dirty="0"/>
              <a:t>在其他条件不变的情况下，</a:t>
            </a:r>
            <a:r>
              <a:rPr lang="zh-CN" altLang="en-US" sz="950" b="1" dirty="0"/>
              <a:t>储蓄意愿增强</a:t>
            </a:r>
            <a:r>
              <a:rPr lang="zh-CN" altLang="en-US" sz="950" dirty="0"/>
              <a:t>会引起 </a:t>
            </a:r>
            <a:r>
              <a:rPr lang="en-US" altLang="zh-CN" sz="950" dirty="0"/>
              <a:t>IS </a:t>
            </a:r>
            <a:r>
              <a:rPr lang="zh-CN" altLang="en-US" sz="950" dirty="0"/>
              <a:t>曲线左移。</a:t>
            </a:r>
          </a:p>
          <a:p>
            <a:pPr defTabSz="461040">
              <a:lnSpc>
                <a:spcPts val="1100"/>
              </a:lnSpc>
            </a:pPr>
            <a:r>
              <a:rPr lang="zh-CN" altLang="en-US" sz="950" dirty="0"/>
              <a:t>储蓄意愿增强，例如：居民预期变差；养老、医疗、教育压力上升；收入不确定性增加；预防性储蓄增强</a:t>
            </a:r>
            <a:endParaRPr lang="en-US" altLang="zh-CN" sz="950" dirty="0"/>
          </a:p>
          <a:p>
            <a:pPr defTabSz="461040">
              <a:lnSpc>
                <a:spcPts val="1100"/>
              </a:lnSpc>
            </a:pPr>
            <a:r>
              <a:rPr lang="zh-CN" altLang="en-US" sz="950" dirty="0"/>
              <a:t>同一收入下，计划储蓄增加（图</a:t>
            </a:r>
            <a:r>
              <a:rPr lang="en-US" altLang="zh-CN" sz="950" dirty="0"/>
              <a:t>3</a:t>
            </a:r>
            <a:r>
              <a:rPr lang="zh-CN" altLang="en-US" sz="950" dirty="0"/>
              <a:t>） →要实现均衡，投资要相应增加（图</a:t>
            </a:r>
            <a:r>
              <a:rPr lang="en-US" altLang="zh-CN" sz="950" dirty="0"/>
              <a:t>2</a:t>
            </a:r>
            <a:r>
              <a:rPr lang="zh-CN" altLang="en-US" sz="950" dirty="0"/>
              <a:t>）→只有利率下降，投资才会相应增加（图</a:t>
            </a:r>
            <a:r>
              <a:rPr lang="en-US" altLang="zh-CN" sz="950" dirty="0"/>
              <a:t>1</a:t>
            </a:r>
            <a:r>
              <a:rPr lang="zh-CN" altLang="en-US" sz="950" dirty="0"/>
              <a:t>）→同一收入下，利率降低，所以</a:t>
            </a:r>
            <a:r>
              <a:rPr lang="en-US" altLang="zh-CN" sz="950" dirty="0"/>
              <a:t>IS</a:t>
            </a:r>
            <a:r>
              <a:rPr lang="zh-CN" altLang="en-US" sz="950" dirty="0"/>
              <a:t>曲线左移（图</a:t>
            </a:r>
            <a:r>
              <a:rPr lang="en-US" altLang="zh-CN" sz="950" dirty="0"/>
              <a:t>4</a:t>
            </a:r>
            <a:r>
              <a:rPr lang="zh-CN" altLang="en-US" sz="950" dirty="0"/>
              <a:t>）</a:t>
            </a:r>
            <a:endParaRPr lang="en-US" altLang="zh-CN" sz="950" dirty="0"/>
          </a:p>
          <a:p>
            <a:pPr defTabSz="461040"/>
            <a:endParaRPr lang="en-US" altLang="zh-CN" sz="1008" dirty="0"/>
          </a:p>
          <a:p>
            <a:endParaRPr lang="en-US" altLang="zh-CN" sz="1008" dirty="0"/>
          </a:p>
          <a:p>
            <a:endParaRPr lang="en-US" altLang="zh-CN" sz="1008" dirty="0"/>
          </a:p>
          <a:p>
            <a:endParaRPr lang="en-US" altLang="zh-CN" sz="1008" dirty="0"/>
          </a:p>
        </p:txBody>
      </p:sp>
    </p:spTree>
    <p:extLst>
      <p:ext uri="{BB962C8B-B14F-4D97-AF65-F5344CB8AC3E}">
        <p14:creationId xmlns:p14="http://schemas.microsoft.com/office/powerpoint/2010/main" val="3343130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33</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假定：</a:t>
            </a:r>
          </a:p>
          <a:p>
            <a:pPr marL="0" indent="0">
              <a:buNone/>
            </a:pPr>
            <a:r>
              <a:rPr lang="zh-CN" altLang="en-US"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a</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c=50+0.8y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=100-5r</a:t>
            </a:r>
            <a:r>
              <a:rPr lang="zh-CN" altLang="en" sz="1050" dirty="0">
                <a:ea typeface="SimSun" panose="02010600030101010101" pitchFamily="2" charset="-122"/>
                <a:cs typeface="Times New Roman" panose="02020603050405020304" pitchFamily="18" charset="0"/>
              </a:rPr>
              <a:t>；</a:t>
            </a:r>
          </a:p>
          <a:p>
            <a:pPr marL="0" indent="0">
              <a:buNone/>
            </a:pPr>
            <a:r>
              <a:rPr lang="zh-CN" altLang="en"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b</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c=50+0.8y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=100-10r</a:t>
            </a:r>
            <a:r>
              <a:rPr lang="zh-CN" altLang="en" sz="1050" dirty="0">
                <a:ea typeface="SimSun" panose="02010600030101010101" pitchFamily="2" charset="-122"/>
                <a:cs typeface="Times New Roman" panose="02020603050405020304" pitchFamily="18" charset="0"/>
              </a:rPr>
              <a:t>；</a:t>
            </a:r>
          </a:p>
          <a:p>
            <a:pPr marL="0" indent="0">
              <a:buNone/>
            </a:pPr>
            <a:r>
              <a:rPr lang="zh-CN" altLang="en"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c</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c=50+0.75y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=100-10r</a:t>
            </a:r>
            <a:r>
              <a:rPr lang="zh-CN" altLang="en" sz="1050" dirty="0">
                <a:ea typeface="SimSun" panose="02010600030101010101" pitchFamily="2" charset="-122"/>
                <a:cs typeface="Times New Roman" panose="02020603050405020304" pitchFamily="18" charset="0"/>
              </a:rPr>
              <a:t>；</a:t>
            </a:r>
          </a:p>
          <a:p>
            <a:pPr marL="0" indent="0">
              <a:buNone/>
            </a:pPr>
            <a:r>
              <a:rPr lang="zh-CN" altLang="en-US" sz="1050" dirty="0">
                <a:ea typeface="SimSun" panose="02010600030101010101" pitchFamily="2" charset="-122"/>
                <a:cs typeface="Times New Roman" panose="02020603050405020304" pitchFamily="18" charset="0"/>
              </a:rPr>
              <a:t>求：</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a:t>
            </a:r>
            <a:r>
              <a:rPr lang="en" altLang="zh-CN" sz="1050" dirty="0" err="1">
                <a:ea typeface="SimSun" panose="02010600030101010101" pitchFamily="2" charset="-122"/>
                <a:cs typeface="Times New Roman" panose="02020603050405020304" pitchFamily="18" charset="0"/>
              </a:rPr>
              <a:t>a,b,c</a:t>
            </a:r>
            <a:r>
              <a:rPr lang="zh-CN" altLang="en-US" sz="1050" dirty="0">
                <a:ea typeface="SimSun" panose="02010600030101010101" pitchFamily="2" charset="-122"/>
                <a:cs typeface="Times New Roman" panose="02020603050405020304" pitchFamily="18" charset="0"/>
              </a:rPr>
              <a:t>的</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）比较</a:t>
            </a:r>
            <a:r>
              <a:rPr lang="en"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和</a:t>
            </a:r>
            <a:r>
              <a:rPr lang="en" altLang="zh-CN" sz="1050" dirty="0">
                <a:ea typeface="SimSun" panose="02010600030101010101" pitchFamily="2" charset="-122"/>
                <a:cs typeface="Times New Roman" panose="02020603050405020304" pitchFamily="18" charset="0"/>
              </a:rPr>
              <a:t>b</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说明投资对利率更敏感时，</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曲线的斜率发生什么变化？</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）比较</a:t>
            </a:r>
            <a:r>
              <a:rPr lang="en"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和</a:t>
            </a:r>
            <a:r>
              <a:rPr lang="en" altLang="zh-CN" sz="1050" dirty="0">
                <a:ea typeface="SimSun" panose="02010600030101010101" pitchFamily="2" charset="-122"/>
                <a:cs typeface="Times New Roman" panose="02020603050405020304" pitchFamily="18" charset="0"/>
              </a:rPr>
              <a:t>c</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说明边际消费倾向变动时，</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曲线的斜率将会发生什么变化。</a:t>
            </a:r>
          </a:p>
        </p:txBody>
      </p:sp>
    </p:spTree>
    <p:extLst>
      <p:ext uri="{BB962C8B-B14F-4D97-AF65-F5344CB8AC3E}">
        <p14:creationId xmlns:p14="http://schemas.microsoft.com/office/powerpoint/2010/main" val="246080624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34</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7"/>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）由</a:t>
                </a:r>
                <a14:m>
                  <m:oMath xmlns:m="http://schemas.openxmlformats.org/officeDocument/2006/math">
                    <m:r>
                      <m:rPr>
                        <m:sty m:val="p"/>
                      </m:rPr>
                      <a:rPr lang="en-US" altLang="zh-CN" sz="1050" i="1" dirty="0">
                        <a:latin typeface="Cambria Math" panose="02040503050406030204" pitchFamily="18" charset="0"/>
                        <a:ea typeface="SimSun" panose="02010600030101010101" pitchFamily="2" charset="-122"/>
                        <a:cs typeface="Times New Roman" panose="02020603050405020304" pitchFamily="18" charset="0"/>
                      </a:rPr>
                      <m:t>c</m:t>
                    </m:r>
                    <m:r>
                      <a:rPr lang="en-US" altLang="zh-CN" sz="1050" b="0" i="1" dirty="0" smtClean="0">
                        <a:latin typeface="Cambria Math" panose="02040503050406030204" pitchFamily="18" charset="0"/>
                        <a:ea typeface="SimSun" panose="02010600030101010101" pitchFamily="2" charset="-122"/>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𝑒</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𝑑𝑟</m:t>
                    </m:r>
                    <m:r>
                      <a:rPr lang="zh-CN" altLang="en-US" sz="1050" i="1" dirty="0">
                        <a:latin typeface="Cambria Math" panose="02040503050406030204" pitchFamily="18" charset="0"/>
                        <a:ea typeface="Cambria Math" panose="02040503050406030204" pitchFamily="18" charset="0"/>
                        <a:cs typeface="Times New Roman" panose="02020603050405020304" pitchFamily="18" charset="0"/>
                      </a:rPr>
                      <m:t>和</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𝑐</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𝑖</m:t>
                    </m:r>
                    <m:r>
                      <a:rPr lang="zh-CN" altLang="en-US" sz="1050" i="1" dirty="0">
                        <a:latin typeface="Cambria Math" panose="02040503050406030204" pitchFamily="18" charset="0"/>
                        <a:ea typeface="Cambria Math" panose="02040503050406030204" pitchFamily="18" charset="0"/>
                        <a:cs typeface="Times New Roman" panose="02020603050405020304" pitchFamily="18" charset="0"/>
                      </a:rPr>
                      <m:t>可知</m:t>
                    </m:r>
                    <m:r>
                      <a:rPr lang="zh-CN" altLang="en-US" sz="1050" b="0" i="1" dirty="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sz="1050" b="0" dirty="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𝑒</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𝑑𝑟</m:t>
                      </m:r>
                    </m:oMath>
                  </m:oMathPara>
                </a14:m>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此时</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曲线为：</a:t>
                </a:r>
                <a14:m>
                  <m:oMath xmlns:m="http://schemas.openxmlformats.org/officeDocument/2006/math">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105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𝑒</m:t>
                        </m:r>
                      </m:num>
                      <m:den>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𝑑</m:t>
                        </m:r>
                      </m:den>
                    </m:f>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105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𝛽</m:t>
                        </m:r>
                      </m:num>
                      <m:den>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𝑑</m:t>
                        </m:r>
                      </m:den>
                    </m:f>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𝑦</m:t>
                    </m:r>
                  </m:oMath>
                </a14:m>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由已知条件可以计算得到</a:t>
                </a:r>
                <a:r>
                  <a:rPr lang="en-US"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(c)</a:t>
                </a:r>
                <a:r>
                  <a:rPr lang="zh-CN" altLang="en-US" sz="1050" dirty="0">
                    <a:ea typeface="SimSun" panose="02010600030101010101" pitchFamily="2" charset="-122"/>
                    <a:cs typeface="Times New Roman" panose="02020603050405020304" pitchFamily="18" charset="0"/>
                  </a:rPr>
                  <a:t>的</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曲线分别为：</a:t>
                </a:r>
                <a:endParaRPr lang="en-US" altLang="zh-CN" sz="1050" dirty="0">
                  <a:ea typeface="SimSun" panose="02010600030101010101" pitchFamily="2" charset="-122"/>
                  <a:cs typeface="Times New Roman" panose="02020603050405020304" pitchFamily="18" charset="0"/>
                </a:endParaRPr>
              </a:p>
              <a:p>
                <a:pPr marL="0" indent="0">
                  <a:buNone/>
                </a:pP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=30−</m:t>
                    </m:r>
                    <m:f>
                      <m:fPr>
                        <m:ctrlP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num>
                      <m:den>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25</m:t>
                        </m:r>
                      </m:den>
                    </m:f>
                  </m:oMath>
                </a14:m>
                <a:r>
                  <a:rPr lang="zh-CN" altLang="en-US" sz="1050" b="0" dirty="0">
                    <a:ea typeface="Cambria Math" panose="02040503050406030204" pitchFamily="18" charset="0"/>
                    <a:cs typeface="Times New Roman" panose="02020603050405020304" pitchFamily="18" charset="0"/>
                  </a:rPr>
                  <a:t>，</a:t>
                </a: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=15−</m:t>
                    </m:r>
                    <m:f>
                      <m:fPr>
                        <m:ctrlP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num>
                      <m:den>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5</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0</m:t>
                        </m:r>
                      </m:den>
                    </m:f>
                  </m:oMath>
                </a14:m>
                <a:r>
                  <a:rPr lang="zh-CN" altLang="en-US" sz="1050" dirty="0">
                    <a:ea typeface="Cambria Math" panose="02040503050406030204" pitchFamily="18" charset="0"/>
                    <a:cs typeface="Times New Roman" panose="02020603050405020304" pitchFamily="18" charset="0"/>
                  </a:rPr>
                  <a:t>，</a:t>
                </a: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=15−</m:t>
                    </m:r>
                    <m:f>
                      <m:fPr>
                        <m:ctrlP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num>
                      <m:den>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40</m:t>
                        </m:r>
                      </m:den>
                    </m:f>
                  </m:oMath>
                </a14:m>
                <a:endParaRPr lang="en-US" altLang="zh-CN" sz="1050" dirty="0">
                  <a:ea typeface="Cambria Math" panose="02040503050406030204" pitchFamily="18" charset="0"/>
                  <a:cs typeface="Times New Roman" panose="02020603050405020304" pitchFamily="18" charset="0"/>
                </a:endParaRPr>
              </a:p>
              <a:p>
                <a:pPr marL="0" indent="0">
                  <a:buNone/>
                </a:pPr>
                <a:r>
                  <a:rPr lang="zh-CN" altLang="en-US" sz="1050" b="0" dirty="0">
                    <a:ea typeface="Cambria Math" panose="02040503050406030204" pitchFamily="18" charset="0"/>
                    <a:cs typeface="Times New Roman" panose="02020603050405020304" pitchFamily="18" charset="0"/>
                  </a:rPr>
                  <a:t>（</a:t>
                </a:r>
                <a:r>
                  <a:rPr lang="en-US" altLang="zh-CN" sz="1050" b="0" dirty="0">
                    <a:ea typeface="Cambria Math" panose="02040503050406030204" pitchFamily="18" charset="0"/>
                    <a:cs typeface="Times New Roman" panose="02020603050405020304" pitchFamily="18" charset="0"/>
                  </a:rPr>
                  <a:t>2</a:t>
                </a:r>
                <a:r>
                  <a:rPr lang="zh-CN" altLang="en-US" sz="1050" b="0" dirty="0">
                    <a:ea typeface="Cambria Math" panose="02040503050406030204" pitchFamily="18" charset="0"/>
                    <a:cs typeface="Times New Roman" panose="02020603050405020304" pitchFamily="18" charset="0"/>
                  </a:rPr>
                  <a:t>）由</a:t>
                </a:r>
                <a:r>
                  <a:rPr lang="en-US"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的投资函数比较可知，</a:t>
                </a:r>
                <a:r>
                  <a:rPr lang="en-US" altLang="zh-CN" sz="1050" dirty="0">
                    <a:ea typeface="SimSun" panose="02010600030101010101" pitchFamily="2" charset="-122"/>
                    <a:cs typeface="Times New Roman" panose="02020603050405020304" pitchFamily="18" charset="0"/>
                  </a:rPr>
                  <a:t> (b)</a:t>
                </a:r>
                <a:r>
                  <a:rPr lang="zh-CN" altLang="en-US" sz="1050" dirty="0">
                    <a:ea typeface="SimSun" panose="02010600030101010101" pitchFamily="2" charset="-122"/>
                    <a:cs typeface="Times New Roman" panose="02020603050405020304" pitchFamily="18" charset="0"/>
                  </a:rPr>
                  <a:t>的投资行为对利率更为敏感，而从</a:t>
                </a:r>
                <a:r>
                  <a:rPr lang="en-US"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的</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曲线可知，</a:t>
                </a:r>
                <a:r>
                  <a:rPr lang="en-US" altLang="zh-CN" sz="1050" dirty="0">
                    <a:ea typeface="SimSun" panose="02010600030101010101" pitchFamily="2" charset="-122"/>
                    <a:cs typeface="Times New Roman" panose="02020603050405020304" pitchFamily="18" charset="0"/>
                  </a:rPr>
                  <a:t> (a)</a:t>
                </a:r>
                <a:r>
                  <a:rPr lang="zh-CN" altLang="en-US" sz="1050" dirty="0">
                    <a:ea typeface="SimSun" panose="02010600030101010101" pitchFamily="2" charset="-122"/>
                    <a:cs typeface="Times New Roman" panose="02020603050405020304" pitchFamily="18" charset="0"/>
                  </a:rPr>
                  <a:t>的斜率（绝对值）更大，这意味着，在其他情况不变的条件下，投资对利率越敏感，即</a:t>
                </a: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𝑑</m:t>
                    </m:r>
                  </m:oMath>
                </a14:m>
                <a:r>
                  <a:rPr lang="zh-CN" altLang="en-US" sz="1050" b="0" dirty="0">
                    <a:ea typeface="Cambria Math" panose="02040503050406030204" pitchFamily="18" charset="0"/>
                    <a:cs typeface="Times New Roman" panose="02020603050405020304" pitchFamily="18" charset="0"/>
                  </a:rPr>
                  <a:t>越大时，</a:t>
                </a:r>
                <a:r>
                  <a:rPr lang="en-US" altLang="zh-CN" sz="1050" b="0" dirty="0">
                    <a:ea typeface="Cambria Math" panose="02040503050406030204" pitchFamily="18" charset="0"/>
                    <a:cs typeface="Times New Roman" panose="02020603050405020304" pitchFamily="18" charset="0"/>
                  </a:rPr>
                  <a:t>IS</a:t>
                </a:r>
                <a:r>
                  <a:rPr lang="zh-CN" altLang="en-US" sz="1050" b="0" dirty="0">
                    <a:ea typeface="Cambria Math" panose="02040503050406030204" pitchFamily="18" charset="0"/>
                    <a:cs typeface="Times New Roman" panose="02020603050405020304" pitchFamily="18" charset="0"/>
                  </a:rPr>
                  <a:t>曲线的斜率越小，</a:t>
                </a:r>
                <a:r>
                  <a:rPr lang="en-US" altLang="zh-CN" sz="1050" b="0" dirty="0">
                    <a:ea typeface="Cambria Math" panose="02040503050406030204" pitchFamily="18" charset="0"/>
                    <a:cs typeface="Times New Roman" panose="02020603050405020304" pitchFamily="18" charset="0"/>
                  </a:rPr>
                  <a:t>IS</a:t>
                </a:r>
                <a:r>
                  <a:rPr lang="zh-CN" altLang="en-US" sz="1050" b="0" dirty="0">
                    <a:ea typeface="Cambria Math" panose="02040503050406030204" pitchFamily="18" charset="0"/>
                    <a:cs typeface="Times New Roman" panose="02020603050405020304" pitchFamily="18" charset="0"/>
                  </a:rPr>
                  <a:t>曲线更为平坦。</a:t>
                </a:r>
                <a:endParaRPr lang="en-US" altLang="zh-CN" sz="1050" b="0" dirty="0">
                  <a:ea typeface="Cambria Math" panose="02040503050406030204" pitchFamily="18" charset="0"/>
                  <a:cs typeface="Times New Roman" panose="02020603050405020304" pitchFamily="18" charset="0"/>
                </a:endParaRPr>
              </a:p>
              <a:p>
                <a:pPr marL="0" indent="0">
                  <a:buNone/>
                </a:pPr>
                <a:r>
                  <a:rPr lang="zh-CN" altLang="en-US" sz="1050" dirty="0">
                    <a:ea typeface="Cambria Math" panose="02040503050406030204" pitchFamily="18" charset="0"/>
                    <a:cs typeface="Times New Roman" panose="02020603050405020304" pitchFamily="18" charset="0"/>
                  </a:rPr>
                  <a:t>（</a:t>
                </a:r>
                <a:r>
                  <a:rPr lang="en-US" altLang="zh-CN" sz="1050" dirty="0">
                    <a:ea typeface="Cambria Math" panose="02040503050406030204" pitchFamily="18" charset="0"/>
                    <a:cs typeface="Times New Roman" panose="02020603050405020304" pitchFamily="18" charset="0"/>
                  </a:rPr>
                  <a:t>3</a:t>
                </a:r>
                <a:r>
                  <a:rPr lang="zh-CN" altLang="en-US" sz="1050" dirty="0">
                    <a:ea typeface="Cambria Math" panose="02040503050406030204" pitchFamily="18" charset="0"/>
                    <a:cs typeface="Times New Roman" panose="02020603050405020304" pitchFamily="18" charset="0"/>
                  </a:rPr>
                  <a:t>）边际消费倾向</a:t>
                </a: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𝛽</m:t>
                    </m:r>
                  </m:oMath>
                </a14:m>
                <a:r>
                  <a:rPr lang="zh-CN" altLang="en-US" sz="1050" dirty="0">
                    <a:ea typeface="Cambria Math" panose="02040503050406030204" pitchFamily="18" charset="0"/>
                    <a:cs typeface="Times New Roman" panose="02020603050405020304" pitchFamily="18" charset="0"/>
                  </a:rPr>
                  <a:t>越大，</a:t>
                </a:r>
                <a:r>
                  <a:rPr lang="en-US" altLang="zh-CN" sz="1050" dirty="0">
                    <a:ea typeface="Cambria Math" panose="02040503050406030204" pitchFamily="18" charset="0"/>
                    <a:cs typeface="Times New Roman" panose="02020603050405020304" pitchFamily="18" charset="0"/>
                  </a:rPr>
                  <a:t>IS</a:t>
                </a:r>
                <a:r>
                  <a:rPr lang="zh-CN" altLang="en-US" sz="1050" dirty="0">
                    <a:ea typeface="Cambria Math" panose="02040503050406030204" pitchFamily="18" charset="0"/>
                    <a:cs typeface="Times New Roman" panose="02020603050405020304" pitchFamily="18" charset="0"/>
                  </a:rPr>
                  <a:t>曲线的斜率（绝对值）越小，</a:t>
                </a:r>
                <a:r>
                  <a:rPr lang="en-US" altLang="zh-CN" sz="1050" dirty="0">
                    <a:ea typeface="Cambria Math" panose="02040503050406030204" pitchFamily="18" charset="0"/>
                    <a:cs typeface="Times New Roman" panose="02020603050405020304" pitchFamily="18" charset="0"/>
                  </a:rPr>
                  <a:t>IS</a:t>
                </a:r>
                <a:r>
                  <a:rPr lang="zh-CN" altLang="en-US" sz="1050" dirty="0">
                    <a:ea typeface="Cambria Math" panose="02040503050406030204" pitchFamily="18" charset="0"/>
                    <a:cs typeface="Times New Roman" panose="02020603050405020304" pitchFamily="18" charset="0"/>
                  </a:rPr>
                  <a:t>曲线更为平坦。</a:t>
                </a:r>
                <a:endParaRPr lang="en-US" altLang="zh-CN" sz="1050" b="0" dirty="0">
                  <a:ea typeface="Cambria Math" panose="02040503050406030204" pitchFamily="18" charset="0"/>
                  <a:cs typeface="Times New Roman" panose="02020603050405020304" pitchFamily="18" charset="0"/>
                </a:endParaRPr>
              </a:p>
              <a:p>
                <a:pPr marL="0" indent="0">
                  <a:buNone/>
                </a:pPr>
                <a:endParaRPr lang="en-US" altLang="zh-CN" sz="1050" dirty="0">
                  <a:ea typeface="SimSun" panose="02010600030101010101" pitchFamily="2" charset="-122"/>
                  <a:cs typeface="Times New Roman" panose="02020603050405020304" pitchFamily="18" charset="0"/>
                </a:endParaRPr>
              </a:p>
              <a:p>
                <a:pPr marL="0" indent="0">
                  <a:buNone/>
                </a:pPr>
                <a:endParaRPr lang="en-US" altLang="zh-CN" sz="1050" dirty="0">
                  <a:ea typeface="SimSun" panose="02010600030101010101" pitchFamily="2" charset="-122"/>
                  <a:cs typeface="Times New Roman" panose="02020603050405020304" pitchFamily="18" charset="0"/>
                </a:endParaRPr>
              </a:p>
              <a:p>
                <a:pPr marL="0" indent="0">
                  <a:buNone/>
                </a:pPr>
                <a:endParaRPr lang="zh-CN" altLang="en-US" sz="1050" dirty="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534137"/>
              </a:xfrm>
              <a:blipFill>
                <a:blip r:embed="rId2"/>
                <a:stretch>
                  <a:fillRect t="-500"/>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79368537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3</a:t>
            </a:r>
            <a:r>
              <a:rPr lang="zh-CN" altLang="en-US" sz="2000" b="1" dirty="0">
                <a:solidFill>
                  <a:srgbClr val="333399"/>
                </a:solidFill>
                <a:latin typeface="Garamond" panose="02020404030301010803" pitchFamily="18" charset="0"/>
                <a:ea typeface="KaiTi" panose="02010609060101010101" pitchFamily="49" charset="-122"/>
                <a:cs typeface="+mj-cs"/>
              </a:rPr>
              <a:t>节 利率的决定</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2898850957"/>
      </p:ext>
    </p:extLst>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0" i="0" u="none" strike="noStrike" dirty="0">
                <a:solidFill>
                  <a:srgbClr val="136EC2"/>
                </a:solidFill>
                <a:effectLst/>
                <a:latin typeface="Helvetica Neue" panose="02000503000000020004" pitchFamily="2" charset="0"/>
                <a:hlinkClick r:id="rId2"/>
              </a:rPr>
              <a:t>古典学派</a:t>
            </a:r>
            <a:r>
              <a:rPr lang="zh-CN" altLang="en-US" b="0" i="0" u="none" strike="noStrike" dirty="0">
                <a:solidFill>
                  <a:srgbClr val="333333"/>
                </a:solidFill>
                <a:effectLst/>
                <a:latin typeface="Helvetica Neue" panose="02000503000000020004" pitchFamily="2" charset="0"/>
              </a:rPr>
              <a:t>的储蓄投资理论，也称为“真实的利率理论”</a:t>
            </a:r>
            <a:endParaRPr lang="en-US" altLang="zh-CN" b="0" i="0" u="none" strike="noStrike" dirty="0">
              <a:solidFill>
                <a:srgbClr val="333333"/>
              </a:solidFill>
              <a:effectLst/>
              <a:latin typeface="Helvetica Neue" panose="02000503000000020004" pitchFamily="2" charset="0"/>
            </a:endParaRPr>
          </a:p>
          <a:p>
            <a:r>
              <a:rPr lang="zh-CN" altLang="en-US" b="0" i="0" u="none" strike="noStrike" dirty="0">
                <a:solidFill>
                  <a:srgbClr val="333333"/>
                </a:solidFill>
                <a:effectLst/>
                <a:latin typeface="Helvetica Neue" panose="02000503000000020004" pitchFamily="2" charset="0"/>
              </a:rPr>
              <a:t>该理论认为投资来源于储蓄，储蓄是当期放弃的消费，利率在本质上是由于人们放弃了当期的消费而得到的报酬</a:t>
            </a:r>
            <a:endParaRPr lang="en-US" altLang="zh-CN" b="0" i="0" u="none" strike="noStrike" dirty="0">
              <a:solidFill>
                <a:srgbClr val="333333"/>
              </a:solidFill>
              <a:effectLst/>
              <a:latin typeface="Helvetica Neue" panose="02000503000000020004" pitchFamily="2" charset="0"/>
            </a:endParaRPr>
          </a:p>
          <a:p>
            <a:r>
              <a:rPr lang="zh-CN" altLang="en-US" dirty="0">
                <a:solidFill>
                  <a:srgbClr val="333333"/>
                </a:solidFill>
                <a:latin typeface="Helvetica Neue" panose="02000503000000020004" pitchFamily="2" charset="0"/>
              </a:rPr>
              <a:t>可贷资金市场</a:t>
            </a:r>
            <a:endParaRPr lang="zh-CN" altLang="en-US" dirty="0"/>
          </a:p>
        </p:txBody>
      </p:sp>
      <p:sp>
        <p:nvSpPr>
          <p:cNvPr id="4" name="标题 3">
            <a:extLst>
              <a:ext uri="{FF2B5EF4-FFF2-40B4-BE49-F238E27FC236}">
                <a16:creationId xmlns:a16="http://schemas.microsoft.com/office/drawing/2014/main" id="{C338C121-1654-FFCD-61C4-30E80AA744DA}"/>
              </a:ext>
            </a:extLst>
          </p:cNvPr>
          <p:cNvSpPr>
            <a:spLocks noGrp="1"/>
          </p:cNvSpPr>
          <p:nvPr>
            <p:ph type="title"/>
          </p:nvPr>
        </p:nvSpPr>
        <p:spPr/>
        <p:txBody>
          <a:bodyPr/>
          <a:lstStyle/>
          <a:p>
            <a:r>
              <a:rPr kumimoji="1" lang="zh-CN" altLang="en-US" dirty="0"/>
              <a:t>古典学派的利率决定理论</a:t>
            </a:r>
          </a:p>
        </p:txBody>
      </p:sp>
      <p:sp>
        <p:nvSpPr>
          <p:cNvPr id="2" name="灯片编号占位符 2">
            <a:extLst>
              <a:ext uri="{FF2B5EF4-FFF2-40B4-BE49-F238E27FC236}">
                <a16:creationId xmlns:a16="http://schemas.microsoft.com/office/drawing/2014/main" id="{AA816565-A898-AE6E-DE85-B42328095AA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29D68768-47E3-4CA4-5C2F-81A1BC4C23B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257396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页脚占位符 1">
            <a:extLst>
              <a:ext uri="{FF2B5EF4-FFF2-40B4-BE49-F238E27FC236}">
                <a16:creationId xmlns:a16="http://schemas.microsoft.com/office/drawing/2014/main" id="{6F606F9F-6C78-4C6A-1337-8661A263C4FB}"/>
              </a:ext>
            </a:extLst>
          </p:cNvPr>
          <p:cNvSpPr>
            <a:spLocks noGrp="1" noChangeArrowheads="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374595" indent="-144075">
              <a:defRPr>
                <a:solidFill>
                  <a:schemeClr val="tx1"/>
                </a:solidFill>
                <a:latin typeface="Arial" panose="020B0604020202020204" pitchFamily="34" charset="0"/>
              </a:defRPr>
            </a:lvl2pPr>
            <a:lvl3pPr marL="576301" indent="-115260">
              <a:defRPr>
                <a:solidFill>
                  <a:schemeClr val="tx1"/>
                </a:solidFill>
                <a:latin typeface="Arial" panose="020B0604020202020204" pitchFamily="34" charset="0"/>
              </a:defRPr>
            </a:lvl3pPr>
            <a:lvl4pPr marL="806821" indent="-115260">
              <a:defRPr>
                <a:solidFill>
                  <a:schemeClr val="tx1"/>
                </a:solidFill>
                <a:latin typeface="Arial" panose="020B0604020202020204" pitchFamily="34" charset="0"/>
              </a:defRPr>
            </a:lvl4pPr>
            <a:lvl5pPr marL="1037341" indent="-115260">
              <a:defRPr>
                <a:solidFill>
                  <a:schemeClr val="tx1"/>
                </a:solidFill>
                <a:latin typeface="Arial" panose="020B0604020202020204" pitchFamily="34" charset="0"/>
              </a:defRPr>
            </a:lvl5pPr>
            <a:lvl6pPr marL="1267861" indent="-115260" eaLnBrk="0" fontAlgn="base" hangingPunct="0">
              <a:spcBef>
                <a:spcPct val="0"/>
              </a:spcBef>
              <a:spcAft>
                <a:spcPct val="0"/>
              </a:spcAft>
              <a:defRPr>
                <a:solidFill>
                  <a:schemeClr val="tx1"/>
                </a:solidFill>
                <a:latin typeface="Arial" panose="020B0604020202020204" pitchFamily="34" charset="0"/>
              </a:defRPr>
            </a:lvl6pPr>
            <a:lvl7pPr marL="1498382" indent="-115260" eaLnBrk="0" fontAlgn="base" hangingPunct="0">
              <a:spcBef>
                <a:spcPct val="0"/>
              </a:spcBef>
              <a:spcAft>
                <a:spcPct val="0"/>
              </a:spcAft>
              <a:defRPr>
                <a:solidFill>
                  <a:schemeClr val="tx1"/>
                </a:solidFill>
                <a:latin typeface="Arial" panose="020B0604020202020204" pitchFamily="34" charset="0"/>
              </a:defRPr>
            </a:lvl7pPr>
            <a:lvl8pPr marL="1728902" indent="-115260" eaLnBrk="0" fontAlgn="base" hangingPunct="0">
              <a:spcBef>
                <a:spcPct val="0"/>
              </a:spcBef>
              <a:spcAft>
                <a:spcPct val="0"/>
              </a:spcAft>
              <a:defRPr>
                <a:solidFill>
                  <a:schemeClr val="tx1"/>
                </a:solidFill>
                <a:latin typeface="Arial" panose="020B0604020202020204" pitchFamily="34" charset="0"/>
              </a:defRPr>
            </a:lvl8pPr>
            <a:lvl9pPr marL="1959422" indent="-115260" eaLnBrk="0" fontAlgn="base" hangingPunct="0">
              <a:spcBef>
                <a:spcPct val="0"/>
              </a:spcBef>
              <a:spcAft>
                <a:spcPct val="0"/>
              </a:spcAft>
              <a:defRPr>
                <a:solidFill>
                  <a:schemeClr val="tx1"/>
                </a:solidFill>
                <a:latin typeface="Arial" panose="020B0604020202020204" pitchFamily="34" charset="0"/>
              </a:defRPr>
            </a:lvl9pPr>
          </a:lstStyle>
          <a:p>
            <a:r>
              <a:rPr lang="zh-CN" altLang="en-US" dirty="0">
                <a:solidFill>
                  <a:srgbClr val="777777"/>
                </a:solidFill>
              </a:rPr>
              <a:t>利率的决定</a:t>
            </a:r>
            <a:endParaRPr lang="zh-CN" altLang="zh-CN" dirty="0">
              <a:solidFill>
                <a:srgbClr val="777777"/>
              </a:solidFill>
            </a:endParaRPr>
          </a:p>
        </p:txBody>
      </p:sp>
      <p:sp>
        <p:nvSpPr>
          <p:cNvPr id="44034" name="灯片编号占位符 2">
            <a:extLst>
              <a:ext uri="{FF2B5EF4-FFF2-40B4-BE49-F238E27FC236}">
                <a16:creationId xmlns:a16="http://schemas.microsoft.com/office/drawing/2014/main" id="{2B13D107-FCCC-65AD-C2D8-10057CA5131F}"/>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374595" indent="-144075">
              <a:defRPr>
                <a:solidFill>
                  <a:schemeClr val="tx1"/>
                </a:solidFill>
                <a:latin typeface="Arial" panose="020B0604020202020204" pitchFamily="34" charset="0"/>
              </a:defRPr>
            </a:lvl2pPr>
            <a:lvl3pPr marL="576301" indent="-115260">
              <a:defRPr>
                <a:solidFill>
                  <a:schemeClr val="tx1"/>
                </a:solidFill>
                <a:latin typeface="Arial" panose="020B0604020202020204" pitchFamily="34" charset="0"/>
              </a:defRPr>
            </a:lvl3pPr>
            <a:lvl4pPr marL="806821" indent="-115260">
              <a:defRPr>
                <a:solidFill>
                  <a:schemeClr val="tx1"/>
                </a:solidFill>
                <a:latin typeface="Arial" panose="020B0604020202020204" pitchFamily="34" charset="0"/>
              </a:defRPr>
            </a:lvl4pPr>
            <a:lvl5pPr marL="1037341" indent="-115260">
              <a:defRPr>
                <a:solidFill>
                  <a:schemeClr val="tx1"/>
                </a:solidFill>
                <a:latin typeface="Arial" panose="020B0604020202020204" pitchFamily="34" charset="0"/>
              </a:defRPr>
            </a:lvl5pPr>
            <a:lvl6pPr marL="1267861" indent="-115260" eaLnBrk="0" fontAlgn="base" hangingPunct="0">
              <a:spcBef>
                <a:spcPct val="0"/>
              </a:spcBef>
              <a:spcAft>
                <a:spcPct val="0"/>
              </a:spcAft>
              <a:defRPr>
                <a:solidFill>
                  <a:schemeClr val="tx1"/>
                </a:solidFill>
                <a:latin typeface="Arial" panose="020B0604020202020204" pitchFamily="34" charset="0"/>
              </a:defRPr>
            </a:lvl6pPr>
            <a:lvl7pPr marL="1498382" indent="-115260" eaLnBrk="0" fontAlgn="base" hangingPunct="0">
              <a:spcBef>
                <a:spcPct val="0"/>
              </a:spcBef>
              <a:spcAft>
                <a:spcPct val="0"/>
              </a:spcAft>
              <a:defRPr>
                <a:solidFill>
                  <a:schemeClr val="tx1"/>
                </a:solidFill>
                <a:latin typeface="Arial" panose="020B0604020202020204" pitchFamily="34" charset="0"/>
              </a:defRPr>
            </a:lvl7pPr>
            <a:lvl8pPr marL="1728902" indent="-115260" eaLnBrk="0" fontAlgn="base" hangingPunct="0">
              <a:spcBef>
                <a:spcPct val="0"/>
              </a:spcBef>
              <a:spcAft>
                <a:spcPct val="0"/>
              </a:spcAft>
              <a:defRPr>
                <a:solidFill>
                  <a:schemeClr val="tx1"/>
                </a:solidFill>
                <a:latin typeface="Arial" panose="020B0604020202020204" pitchFamily="34" charset="0"/>
              </a:defRPr>
            </a:lvl8pPr>
            <a:lvl9pPr marL="1959422" indent="-115260" eaLnBrk="0" fontAlgn="base" hangingPunct="0">
              <a:spcBef>
                <a:spcPct val="0"/>
              </a:spcBef>
              <a:spcAft>
                <a:spcPct val="0"/>
              </a:spcAft>
              <a:defRPr>
                <a:solidFill>
                  <a:schemeClr val="tx1"/>
                </a:solidFill>
                <a:latin typeface="Arial" panose="020B0604020202020204" pitchFamily="34" charset="0"/>
              </a:defRPr>
            </a:lvl9pPr>
          </a:lstStyle>
          <a:p>
            <a:r>
              <a:rPr lang="zh-CN" altLang="zh-CN">
                <a:solidFill>
                  <a:srgbClr val="777777"/>
                </a:solidFill>
              </a:rPr>
              <a:t>*</a:t>
            </a:r>
          </a:p>
        </p:txBody>
      </p:sp>
      <p:sp>
        <p:nvSpPr>
          <p:cNvPr id="44035" name="Rectangle 2">
            <a:extLst>
              <a:ext uri="{FF2B5EF4-FFF2-40B4-BE49-F238E27FC236}">
                <a16:creationId xmlns:a16="http://schemas.microsoft.com/office/drawing/2014/main" id="{3C78098E-38AF-935E-D0C4-9A6C427E7B3A}"/>
              </a:ext>
            </a:extLst>
          </p:cNvPr>
          <p:cNvSpPr>
            <a:spLocks noGrp="1" noChangeArrowheads="1"/>
          </p:cNvSpPr>
          <p:nvPr>
            <p:ph type="title" idx="4294967295"/>
          </p:nvPr>
        </p:nvSpPr>
        <p:spPr>
          <a:xfrm>
            <a:off x="172879" y="122443"/>
            <a:ext cx="4240332" cy="343356"/>
          </a:xfrm>
        </p:spPr>
        <p:txBody>
          <a:bodyPr/>
          <a:lstStyle/>
          <a:p>
            <a:pPr eaLnBrk="1" hangingPunct="1"/>
            <a:r>
              <a:rPr lang="zh-CN" altLang="en-US" sz="1815" dirty="0">
                <a:ea typeface="宋体" panose="02010600030101010101" pitchFamily="2" charset="-122"/>
              </a:rPr>
              <a:t>可贷资金市场的</a:t>
            </a:r>
            <a:r>
              <a:rPr lang="zh-CN" altLang="zh-CN" sz="1815" dirty="0">
                <a:ea typeface="宋体" panose="02010600030101010101" pitchFamily="2" charset="-122"/>
              </a:rPr>
              <a:t>均衡</a:t>
            </a:r>
          </a:p>
        </p:txBody>
      </p:sp>
      <p:grpSp>
        <p:nvGrpSpPr>
          <p:cNvPr id="44036" name="Group 3">
            <a:extLst>
              <a:ext uri="{FF2B5EF4-FFF2-40B4-BE49-F238E27FC236}">
                <a16:creationId xmlns:a16="http://schemas.microsoft.com/office/drawing/2014/main" id="{B1D798FB-2E15-81DB-63D7-5F811FAF91EA}"/>
              </a:ext>
            </a:extLst>
          </p:cNvPr>
          <p:cNvGrpSpPr>
            <a:grpSpLocks/>
          </p:cNvGrpSpPr>
          <p:nvPr/>
        </p:nvGrpSpPr>
        <p:grpSpPr bwMode="auto">
          <a:xfrm>
            <a:off x="19209" y="794749"/>
            <a:ext cx="3328717" cy="2170817"/>
            <a:chOff x="0" y="0"/>
            <a:chExt cx="3928" cy="2699"/>
          </a:xfrm>
        </p:grpSpPr>
        <p:grpSp>
          <p:nvGrpSpPr>
            <p:cNvPr id="44054" name="Group 4">
              <a:extLst>
                <a:ext uri="{FF2B5EF4-FFF2-40B4-BE49-F238E27FC236}">
                  <a16:creationId xmlns:a16="http://schemas.microsoft.com/office/drawing/2014/main" id="{258BE727-9537-0AAE-229C-9F1824A0344B}"/>
                </a:ext>
              </a:extLst>
            </p:cNvPr>
            <p:cNvGrpSpPr>
              <a:grpSpLocks/>
            </p:cNvGrpSpPr>
            <p:nvPr/>
          </p:nvGrpSpPr>
          <p:grpSpPr bwMode="auto">
            <a:xfrm>
              <a:off x="865" y="101"/>
              <a:ext cx="2978" cy="2280"/>
              <a:chOff x="0" y="0"/>
              <a:chExt cx="3055" cy="2115"/>
            </a:xfrm>
          </p:grpSpPr>
          <p:sp>
            <p:nvSpPr>
              <p:cNvPr id="44057" name="Line 5">
                <a:extLst>
                  <a:ext uri="{FF2B5EF4-FFF2-40B4-BE49-F238E27FC236}">
                    <a16:creationId xmlns:a16="http://schemas.microsoft.com/office/drawing/2014/main" id="{8FFC69F3-220E-FEB3-9AB8-93087A5ABE19}"/>
                  </a:ext>
                </a:extLst>
              </p:cNvPr>
              <p:cNvSpPr>
                <a:spLocks noChangeShapeType="1"/>
              </p:cNvSpPr>
              <p:nvPr/>
            </p:nvSpPr>
            <p:spPr bwMode="auto">
              <a:xfrm>
                <a:off x="1" y="0"/>
                <a:ext cx="0" cy="2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44058" name="Line 6">
                <a:extLst>
                  <a:ext uri="{FF2B5EF4-FFF2-40B4-BE49-F238E27FC236}">
                    <a16:creationId xmlns:a16="http://schemas.microsoft.com/office/drawing/2014/main" id="{EA789D3D-2D08-8F20-9CA6-F78DC385F4CE}"/>
                  </a:ext>
                </a:extLst>
              </p:cNvPr>
              <p:cNvSpPr>
                <a:spLocks noChangeShapeType="1"/>
              </p:cNvSpPr>
              <p:nvPr/>
            </p:nvSpPr>
            <p:spPr bwMode="auto">
              <a:xfrm>
                <a:off x="0" y="2114"/>
                <a:ext cx="30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44055" name="Text Box 7">
              <a:extLst>
                <a:ext uri="{FF2B5EF4-FFF2-40B4-BE49-F238E27FC236}">
                  <a16:creationId xmlns:a16="http://schemas.microsoft.com/office/drawing/2014/main" id="{D3A949FD-DDB7-E4BE-4EC1-9B5ACA305503}"/>
                </a:ext>
              </a:extLst>
            </p:cNvPr>
            <p:cNvSpPr txBox="1">
              <a:spLocks noChangeArrowheads="1"/>
            </p:cNvSpPr>
            <p:nvPr/>
          </p:nvSpPr>
          <p:spPr bwMode="auto">
            <a:xfrm>
              <a:off x="0" y="0"/>
              <a:ext cx="8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zh-CN" altLang="zh-CN" sz="1109" b="1">
                  <a:ea typeface="宋体" panose="02010600030101010101" pitchFamily="2" charset="-122"/>
                </a:rPr>
                <a:t>利率</a:t>
              </a:r>
            </a:p>
          </p:txBody>
        </p:sp>
        <p:sp>
          <p:nvSpPr>
            <p:cNvPr id="44056" name="Text Box 8">
              <a:extLst>
                <a:ext uri="{FF2B5EF4-FFF2-40B4-BE49-F238E27FC236}">
                  <a16:creationId xmlns:a16="http://schemas.microsoft.com/office/drawing/2014/main" id="{EAF1D885-0AAD-E290-6B50-81A5F3736C12}"/>
                </a:ext>
              </a:extLst>
            </p:cNvPr>
            <p:cNvSpPr txBox="1">
              <a:spLocks noChangeArrowheads="1"/>
            </p:cNvSpPr>
            <p:nvPr/>
          </p:nvSpPr>
          <p:spPr bwMode="auto">
            <a:xfrm>
              <a:off x="2268" y="2372"/>
              <a:ext cx="16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zh-CN" altLang="zh-CN" sz="1109" b="1" dirty="0">
                  <a:ea typeface="宋体" panose="02010600030101010101" pitchFamily="2" charset="-122"/>
                </a:rPr>
                <a:t>可贷</a:t>
              </a:r>
              <a:r>
                <a:rPr lang="zh-CN" altLang="en-US" sz="1109" b="1" dirty="0">
                  <a:ea typeface="宋体" panose="02010600030101010101" pitchFamily="2" charset="-122"/>
                </a:rPr>
                <a:t>资金</a:t>
              </a:r>
              <a:endParaRPr lang="zh-CN" altLang="zh-CN" sz="1109" b="1" dirty="0">
                <a:ea typeface="宋体" panose="02010600030101010101" pitchFamily="2" charset="-122"/>
              </a:endParaRPr>
            </a:p>
          </p:txBody>
        </p:sp>
      </p:grpSp>
      <p:grpSp>
        <p:nvGrpSpPr>
          <p:cNvPr id="44037" name="Group 9">
            <a:extLst>
              <a:ext uri="{FF2B5EF4-FFF2-40B4-BE49-F238E27FC236}">
                <a16:creationId xmlns:a16="http://schemas.microsoft.com/office/drawing/2014/main" id="{16399E80-D788-FC4F-42F5-6C895ADF0E33}"/>
              </a:ext>
            </a:extLst>
          </p:cNvPr>
          <p:cNvGrpSpPr>
            <a:grpSpLocks/>
          </p:cNvGrpSpPr>
          <p:nvPr/>
        </p:nvGrpSpPr>
        <p:grpSpPr bwMode="auto">
          <a:xfrm>
            <a:off x="911616" y="1106891"/>
            <a:ext cx="2007314" cy="1442257"/>
            <a:chOff x="0" y="0"/>
            <a:chExt cx="2508" cy="1802"/>
          </a:xfrm>
        </p:grpSpPr>
        <p:sp>
          <p:nvSpPr>
            <p:cNvPr id="44052" name="Line 10">
              <a:extLst>
                <a:ext uri="{FF2B5EF4-FFF2-40B4-BE49-F238E27FC236}">
                  <a16:creationId xmlns:a16="http://schemas.microsoft.com/office/drawing/2014/main" id="{87B89AEB-5087-D82E-7135-B1BCB67B56AB}"/>
                </a:ext>
              </a:extLst>
            </p:cNvPr>
            <p:cNvSpPr>
              <a:spLocks noChangeShapeType="1"/>
            </p:cNvSpPr>
            <p:nvPr/>
          </p:nvSpPr>
          <p:spPr bwMode="auto">
            <a:xfrm>
              <a:off x="0" y="0"/>
              <a:ext cx="1701" cy="1545"/>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44053" name="Text Box 11">
              <a:extLst>
                <a:ext uri="{FF2B5EF4-FFF2-40B4-BE49-F238E27FC236}">
                  <a16:creationId xmlns:a16="http://schemas.microsoft.com/office/drawing/2014/main" id="{B024E988-EC2C-739D-4F59-3EE27DE24523}"/>
                </a:ext>
              </a:extLst>
            </p:cNvPr>
            <p:cNvSpPr txBox="1">
              <a:spLocks noChangeArrowheads="1"/>
            </p:cNvSpPr>
            <p:nvPr/>
          </p:nvSpPr>
          <p:spPr bwMode="auto">
            <a:xfrm>
              <a:off x="1649" y="1473"/>
              <a:ext cx="859"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zh-CN" sz="1109">
                  <a:ea typeface="宋体" panose="02010600030101010101" pitchFamily="2" charset="-122"/>
                </a:rPr>
                <a:t>需求</a:t>
              </a:r>
            </a:p>
          </p:txBody>
        </p:sp>
      </p:grpSp>
      <p:grpSp>
        <p:nvGrpSpPr>
          <p:cNvPr id="44039" name="Group 13">
            <a:extLst>
              <a:ext uri="{FF2B5EF4-FFF2-40B4-BE49-F238E27FC236}">
                <a16:creationId xmlns:a16="http://schemas.microsoft.com/office/drawing/2014/main" id="{14155E1C-58F0-025B-61C3-608FDBDC9CC0}"/>
              </a:ext>
            </a:extLst>
          </p:cNvPr>
          <p:cNvGrpSpPr>
            <a:grpSpLocks/>
          </p:cNvGrpSpPr>
          <p:nvPr/>
        </p:nvGrpSpPr>
        <p:grpSpPr bwMode="auto">
          <a:xfrm>
            <a:off x="1131716" y="967628"/>
            <a:ext cx="1442257" cy="1573517"/>
            <a:chOff x="0" y="0"/>
            <a:chExt cx="1802" cy="1966"/>
          </a:xfrm>
        </p:grpSpPr>
        <p:sp>
          <p:nvSpPr>
            <p:cNvPr id="44050" name="Line 14">
              <a:extLst>
                <a:ext uri="{FF2B5EF4-FFF2-40B4-BE49-F238E27FC236}">
                  <a16:creationId xmlns:a16="http://schemas.microsoft.com/office/drawing/2014/main" id="{56FA9026-27DD-81A1-0B98-CBF391D556AF}"/>
                </a:ext>
              </a:extLst>
            </p:cNvPr>
            <p:cNvSpPr>
              <a:spLocks noChangeShapeType="1"/>
            </p:cNvSpPr>
            <p:nvPr/>
          </p:nvSpPr>
          <p:spPr bwMode="auto">
            <a:xfrm flipV="1">
              <a:off x="0" y="183"/>
              <a:ext cx="1088" cy="1783"/>
            </a:xfrm>
            <a:prstGeom prst="line">
              <a:avLst/>
            </a:prstGeom>
            <a:noFill/>
            <a:ln w="28575">
              <a:solidFill>
                <a:srgbClr val="993366"/>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44051" name="Text Box 15">
              <a:extLst>
                <a:ext uri="{FF2B5EF4-FFF2-40B4-BE49-F238E27FC236}">
                  <a16:creationId xmlns:a16="http://schemas.microsoft.com/office/drawing/2014/main" id="{BD09C7E2-D78A-2485-FAF3-DAEF503A15AF}"/>
                </a:ext>
              </a:extLst>
            </p:cNvPr>
            <p:cNvSpPr txBox="1">
              <a:spLocks noChangeArrowheads="1"/>
            </p:cNvSpPr>
            <p:nvPr/>
          </p:nvSpPr>
          <p:spPr bwMode="auto">
            <a:xfrm>
              <a:off x="1071" y="0"/>
              <a:ext cx="73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zh-CN" sz="1109">
                  <a:ea typeface="宋体" panose="02010600030101010101" pitchFamily="2" charset="-122"/>
                </a:rPr>
                <a:t>供给</a:t>
              </a:r>
            </a:p>
          </p:txBody>
        </p:sp>
      </p:grpSp>
      <p:sp>
        <p:nvSpPr>
          <p:cNvPr id="44048" name="Line 18">
            <a:extLst>
              <a:ext uri="{FF2B5EF4-FFF2-40B4-BE49-F238E27FC236}">
                <a16:creationId xmlns:a16="http://schemas.microsoft.com/office/drawing/2014/main" id="{52A97FCB-5A8E-515B-273E-2C91CA90EF99}"/>
              </a:ext>
            </a:extLst>
          </p:cNvPr>
          <p:cNvSpPr>
            <a:spLocks noChangeShapeType="1"/>
          </p:cNvSpPr>
          <p:nvPr/>
        </p:nvSpPr>
        <p:spPr bwMode="auto">
          <a:xfrm flipV="1">
            <a:off x="752239" y="1736360"/>
            <a:ext cx="870962" cy="4129"/>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44046" name="Line 21">
            <a:extLst>
              <a:ext uri="{FF2B5EF4-FFF2-40B4-BE49-F238E27FC236}">
                <a16:creationId xmlns:a16="http://schemas.microsoft.com/office/drawing/2014/main" id="{0F4F8976-B245-6A3B-9B87-115589DED663}"/>
              </a:ext>
            </a:extLst>
          </p:cNvPr>
          <p:cNvSpPr>
            <a:spLocks noChangeShapeType="1"/>
          </p:cNvSpPr>
          <p:nvPr/>
        </p:nvSpPr>
        <p:spPr bwMode="auto">
          <a:xfrm>
            <a:off x="1623201" y="1754096"/>
            <a:ext cx="0" cy="95483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Tree>
  </p:cSld>
  <p:clrMapOvr>
    <a:masterClrMapping/>
  </p:clrMapOvr>
  <p:transition>
    <p:strips dir="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凯恩斯认为，利率是由货币的供给量和货币的需求量所决定的。</a:t>
            </a:r>
            <a:endParaRPr lang="en-US" altLang="zh-CN" dirty="0"/>
          </a:p>
          <a:p>
            <a:pPr lvl="1"/>
            <a:endParaRPr lang="zh-CN" altLang="en-US" dirty="0"/>
          </a:p>
        </p:txBody>
      </p:sp>
      <p:sp>
        <p:nvSpPr>
          <p:cNvPr id="4" name="标题 3">
            <a:extLst>
              <a:ext uri="{FF2B5EF4-FFF2-40B4-BE49-F238E27FC236}">
                <a16:creationId xmlns:a16="http://schemas.microsoft.com/office/drawing/2014/main" id="{C338C121-1654-FFCD-61C4-30E80AA744DA}"/>
              </a:ext>
            </a:extLst>
          </p:cNvPr>
          <p:cNvSpPr>
            <a:spLocks noGrp="1"/>
          </p:cNvSpPr>
          <p:nvPr>
            <p:ph type="title"/>
          </p:nvPr>
        </p:nvSpPr>
        <p:spPr/>
        <p:txBody>
          <a:bodyPr/>
          <a:lstStyle/>
          <a:p>
            <a:r>
              <a:rPr kumimoji="1" lang="zh-CN" altLang="en-US" dirty="0"/>
              <a:t>利率决定于货币的供给与需求</a:t>
            </a:r>
          </a:p>
        </p:txBody>
      </p:sp>
      <p:sp>
        <p:nvSpPr>
          <p:cNvPr id="2" name="灯片编号占位符 2">
            <a:extLst>
              <a:ext uri="{FF2B5EF4-FFF2-40B4-BE49-F238E27FC236}">
                <a16:creationId xmlns:a16="http://schemas.microsoft.com/office/drawing/2014/main" id="{AA816565-A898-AE6E-DE85-B42328095AA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38</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29D68768-47E3-4CA4-5C2F-81A1BC4C23B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8779286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5258FF-DC65-CF10-674C-F1EB060AD6E8}"/>
              </a:ext>
            </a:extLst>
          </p:cNvPr>
          <p:cNvSpPr>
            <a:spLocks noGrp="1"/>
          </p:cNvSpPr>
          <p:nvPr>
            <p:ph type="title"/>
          </p:nvPr>
        </p:nvSpPr>
        <p:spPr/>
        <p:txBody>
          <a:bodyPr/>
          <a:lstStyle/>
          <a:p>
            <a:r>
              <a:rPr kumimoji="1" lang="zh-CN" altLang="en-US" dirty="0"/>
              <a:t>货币的供给：货币余额</a:t>
            </a:r>
          </a:p>
        </p:txBody>
      </p:sp>
      <p:sp>
        <p:nvSpPr>
          <p:cNvPr id="3" name="内容占位符 2">
            <a:extLst>
              <a:ext uri="{FF2B5EF4-FFF2-40B4-BE49-F238E27FC236}">
                <a16:creationId xmlns:a16="http://schemas.microsoft.com/office/drawing/2014/main" id="{7F15884D-AF3F-63CA-5053-5060C87774EA}"/>
              </a:ext>
            </a:extLst>
          </p:cNvPr>
          <p:cNvSpPr>
            <a:spLocks noGrp="1"/>
          </p:cNvSpPr>
          <p:nvPr>
            <p:ph idx="1"/>
          </p:nvPr>
        </p:nvSpPr>
        <p:spPr/>
        <p:txBody>
          <a:bodyPr/>
          <a:lstStyle/>
          <a:p>
            <a:r>
              <a:rPr kumimoji="1" lang="zh-CN" altLang="en-US" dirty="0"/>
              <a:t>货币供给是一个国家在某一时点上所保持的不属政府和银行所有的硬币、纸币和银行存款的总和。</a:t>
            </a:r>
            <a:endParaRPr kumimoji="1" lang="en-US" altLang="zh-CN" dirty="0"/>
          </a:p>
          <a:p>
            <a:r>
              <a:rPr kumimoji="1" lang="zh-CN" altLang="en-US" dirty="0"/>
              <a:t>货币余额是某一个时点的货币存量，通常把货币余额当作货币供给</a:t>
            </a:r>
            <a:endParaRPr kumimoji="1" lang="en-US" altLang="zh-CN" dirty="0"/>
          </a:p>
          <a:p>
            <a:r>
              <a:rPr kumimoji="1" lang="zh-CN" altLang="en-US" dirty="0"/>
              <a:t>事实上，我们更关注这些货币的实际购买力，即实际货币余额，它能反映货币所代表的商品量</a:t>
            </a:r>
          </a:p>
          <a:p>
            <a:endParaRPr kumimoji="1" lang="zh-CN" altLang="en-US" dirty="0"/>
          </a:p>
        </p:txBody>
      </p:sp>
      <p:sp>
        <p:nvSpPr>
          <p:cNvPr id="4" name="页脚占位符 3">
            <a:extLst>
              <a:ext uri="{FF2B5EF4-FFF2-40B4-BE49-F238E27FC236}">
                <a16:creationId xmlns:a16="http://schemas.microsoft.com/office/drawing/2014/main" id="{D4A1FF3B-8464-CE68-57EB-948AFAAFA9CF}"/>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0E8E4A5-1CF4-5845-1C02-7417E8E26320}"/>
              </a:ext>
            </a:extLst>
          </p:cNvPr>
          <p:cNvSpPr>
            <a:spLocks noGrp="1"/>
          </p:cNvSpPr>
          <p:nvPr>
            <p:ph type="sldNum" sz="quarter" idx="11"/>
          </p:nvPr>
        </p:nvSpPr>
        <p:spPr/>
        <p:txBody>
          <a:bodyPr/>
          <a:lstStyle/>
          <a:p>
            <a:fld id="{FF75CA96-F32A-7F4F-98C9-CA940BD9BB90}" type="slidenum">
              <a:rPr lang="zh-CN" altLang="zh-CN" smtClean="0"/>
              <a:pPr/>
              <a:t>39</a:t>
            </a:fld>
            <a:endParaRPr lang="en-US" altLang="zh-CN"/>
          </a:p>
        </p:txBody>
      </p:sp>
    </p:spTree>
    <p:extLst>
      <p:ext uri="{BB962C8B-B14F-4D97-AF65-F5344CB8AC3E}">
        <p14:creationId xmlns:p14="http://schemas.microsoft.com/office/powerpoint/2010/main" val="15466012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货币的</a:t>
                </a:r>
                <a:r>
                  <a:rPr lang="zh-CN" altLang="en-US" b="1" dirty="0"/>
                  <a:t>实际供给量</a:t>
                </a:r>
                <a:r>
                  <a:rPr lang="zh-CN" altLang="en-US" dirty="0"/>
                  <a:t>（用</a:t>
                </a:r>
                <a:r>
                  <a:rPr lang="en-US" altLang="zh-CN" dirty="0"/>
                  <a:t>m</a:t>
                </a:r>
                <a:r>
                  <a:rPr lang="zh-CN" altLang="en-US" dirty="0"/>
                  <a:t>表示）一般由国家加以控制，是一个外生变量，与收入、利率都没有直接关联</a:t>
                </a:r>
                <a:endParaRPr lang="en-US" altLang="zh-CN" dirty="0"/>
              </a:p>
              <a:p>
                <a:pPr lvl="1"/>
                <a:r>
                  <a:rPr lang="zh-CN" altLang="en-US" b="0" dirty="0"/>
                  <a:t>名义货币（余额）供给</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𝑀</m:t>
                        </m:r>
                      </m:e>
                      <m:sup>
                        <m:r>
                          <a:rPr lang="en-US" altLang="zh-CN" b="0" i="1" smtClean="0">
                            <a:latin typeface="Cambria Math" panose="02040503050406030204" pitchFamily="18" charset="0"/>
                          </a:rPr>
                          <m:t>𝑠</m:t>
                        </m:r>
                      </m:sup>
                    </m:sSup>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𝑀</m:t>
                        </m:r>
                      </m:e>
                    </m:acc>
                  </m:oMath>
                </a14:m>
                <a:endParaRPr lang="en-US" altLang="zh-CN" dirty="0"/>
              </a:p>
              <a:p>
                <a:pPr lvl="1"/>
                <a:r>
                  <a:rPr lang="zh-CN" altLang="en-US" dirty="0"/>
                  <a:t>实际货币（余额）供给</a:t>
                </a:r>
                <a14:m>
                  <m:oMath xmlns:m="http://schemas.openxmlformats.org/officeDocument/2006/math">
                    <m:sSup>
                      <m:sSupPr>
                        <m:ctrlPr>
                          <a:rPr lang="en-US" altLang="zh-CN" b="0" i="1" smtClean="0">
                            <a:latin typeface="Cambria Math" panose="02040503050406030204" pitchFamily="18" charset="0"/>
                          </a:rPr>
                        </m:ctrlPr>
                      </m:sSup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𝑀</m:t>
                            </m:r>
                          </m:num>
                          <m:den>
                            <m:r>
                              <m:rPr>
                                <m:sty m:val="p"/>
                              </m:rPr>
                              <a:rPr lang="en-US" altLang="zh-CN" i="1">
                                <a:latin typeface="Cambria Math" panose="02040503050406030204" pitchFamily="18" charset="0"/>
                              </a:rPr>
                              <m:t>P</m:t>
                            </m:r>
                          </m:den>
                        </m:f>
                      </m:e>
                      <m:sup>
                        <m:r>
                          <a:rPr lang="en-US" altLang="zh-CN" b="0" i="1" smtClean="0">
                            <a:latin typeface="Cambria Math" panose="02040503050406030204" pitchFamily="18" charset="0"/>
                          </a:rPr>
                          <m:t>𝑠</m:t>
                        </m:r>
                      </m:sup>
                    </m:s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𝑀</m:t>
                            </m:r>
                          </m:e>
                        </m:acc>
                      </m:num>
                      <m:den>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𝑃</m:t>
                            </m:r>
                          </m:e>
                        </m:acc>
                      </m:den>
                    </m:f>
                  </m:oMath>
                </a14:m>
                <a:endParaRPr lang="en-US" altLang="zh-CN" b="0" dirty="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C338C121-1654-FFCD-61C4-30E80AA744DA}"/>
              </a:ext>
            </a:extLst>
          </p:cNvPr>
          <p:cNvSpPr>
            <a:spLocks noGrp="1"/>
          </p:cNvSpPr>
          <p:nvPr>
            <p:ph type="title"/>
          </p:nvPr>
        </p:nvSpPr>
        <p:spPr/>
        <p:txBody>
          <a:bodyPr/>
          <a:lstStyle/>
          <a:p>
            <a:r>
              <a:rPr kumimoji="1" lang="zh-CN" altLang="en-US" dirty="0"/>
              <a:t>货币的供给</a:t>
            </a:r>
          </a:p>
        </p:txBody>
      </p:sp>
      <p:sp>
        <p:nvSpPr>
          <p:cNvPr id="2" name="灯片编号占位符 2">
            <a:extLst>
              <a:ext uri="{FF2B5EF4-FFF2-40B4-BE49-F238E27FC236}">
                <a16:creationId xmlns:a16="http://schemas.microsoft.com/office/drawing/2014/main" id="{AA816565-A898-AE6E-DE85-B42328095AA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40</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29D68768-47E3-4CA4-5C2F-81A1BC4C23B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027230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C01B20-80DF-B271-030A-BE3CA6825FA3}"/>
              </a:ext>
            </a:extLst>
          </p:cNvPr>
          <p:cNvSpPr>
            <a:spLocks noGrp="1"/>
          </p:cNvSpPr>
          <p:nvPr>
            <p:ph type="title"/>
          </p:nvPr>
        </p:nvSpPr>
        <p:spPr/>
        <p:txBody>
          <a:bodyPr/>
          <a:lstStyle/>
          <a:p>
            <a:r>
              <a:rPr kumimoji="1" lang="zh-CN" altLang="en-US" dirty="0"/>
              <a:t>货币市场中的货币供给</a:t>
            </a:r>
          </a:p>
        </p:txBody>
      </p:sp>
      <p:sp>
        <p:nvSpPr>
          <p:cNvPr id="4" name="页脚占位符 3">
            <a:extLst>
              <a:ext uri="{FF2B5EF4-FFF2-40B4-BE49-F238E27FC236}">
                <a16:creationId xmlns:a16="http://schemas.microsoft.com/office/drawing/2014/main" id="{061C6975-635B-29C0-C71E-1B07D2D24D28}"/>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278299DE-BD1E-A29F-BE89-BBE0AE197D85}"/>
              </a:ext>
            </a:extLst>
          </p:cNvPr>
          <p:cNvSpPr>
            <a:spLocks noGrp="1"/>
          </p:cNvSpPr>
          <p:nvPr>
            <p:ph type="sldNum" sz="quarter" idx="11"/>
          </p:nvPr>
        </p:nvSpPr>
        <p:spPr/>
        <p:txBody>
          <a:bodyPr/>
          <a:lstStyle/>
          <a:p>
            <a:fld id="{FF75CA96-F32A-7F4F-98C9-CA940BD9BB90}" type="slidenum">
              <a:rPr lang="zh-CN" altLang="zh-CN" smtClean="0"/>
              <a:pPr/>
              <a:t>41</a:t>
            </a:fld>
            <a:endParaRPr lang="en-US" altLang="zh-CN"/>
          </a:p>
        </p:txBody>
      </p:sp>
      <p:cxnSp>
        <p:nvCxnSpPr>
          <p:cNvPr id="9" name="直线箭头连接符 8">
            <a:extLst>
              <a:ext uri="{FF2B5EF4-FFF2-40B4-BE49-F238E27FC236}">
                <a16:creationId xmlns:a16="http://schemas.microsoft.com/office/drawing/2014/main" id="{F34124B8-863D-5291-207F-40C90A0B5E5D}"/>
              </a:ext>
            </a:extLst>
          </p:cNvPr>
          <p:cNvCxnSpPr>
            <a:cxnSpLocks/>
          </p:cNvCxnSpPr>
          <p:nvPr/>
        </p:nvCxnSpPr>
        <p:spPr>
          <a:xfrm>
            <a:off x="1256467" y="2527740"/>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线箭头连接符 9">
            <a:extLst>
              <a:ext uri="{FF2B5EF4-FFF2-40B4-BE49-F238E27FC236}">
                <a16:creationId xmlns:a16="http://schemas.microsoft.com/office/drawing/2014/main" id="{FF23D533-52A7-10DA-AF51-8828A73E3E7B}"/>
              </a:ext>
            </a:extLst>
          </p:cNvPr>
          <p:cNvCxnSpPr/>
          <p:nvPr/>
        </p:nvCxnSpPr>
        <p:spPr>
          <a:xfrm flipV="1">
            <a:off x="1256467" y="883072"/>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04BEF6C9-62B7-739A-76D2-17E6EE9DA487}"/>
              </a:ext>
            </a:extLst>
          </p:cNvPr>
          <p:cNvCxnSpPr>
            <a:cxnSpLocks/>
          </p:cNvCxnSpPr>
          <p:nvPr/>
        </p:nvCxnSpPr>
        <p:spPr>
          <a:xfrm>
            <a:off x="2246755" y="970314"/>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06FCFF8-723A-5E33-D048-957A029169F1}"/>
              </a:ext>
            </a:extLst>
          </p:cNvPr>
          <p:cNvSpPr txBox="1"/>
          <p:nvPr/>
        </p:nvSpPr>
        <p:spPr>
          <a:xfrm>
            <a:off x="1125662" y="2627985"/>
            <a:ext cx="2272719" cy="253916"/>
          </a:xfrm>
          <a:prstGeom prst="rect">
            <a:avLst/>
          </a:prstGeom>
          <a:noFill/>
        </p:spPr>
        <p:txBody>
          <a:bodyPr wrap="square" rtlCol="0">
            <a:spAutoFit/>
          </a:bodyPr>
          <a:lstStyle/>
          <a:p>
            <a:pPr algn="ctr"/>
            <a:r>
              <a:rPr kumimoji="1" lang="zh-CN" altLang="en-US" sz="1050" b="1" dirty="0">
                <a:latin typeface="Garamond" panose="02020404030301010803" pitchFamily="18" charset="0"/>
              </a:rPr>
              <a:t>货币供给曲线</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1F30C7F8-D88D-7820-796F-47FD27256B19}"/>
                  </a:ext>
                </a:extLst>
              </p:cNvPr>
              <p:cNvSpPr txBox="1"/>
              <p:nvPr/>
            </p:nvSpPr>
            <p:spPr>
              <a:xfrm>
                <a:off x="2291725" y="882481"/>
                <a:ext cx="520233" cy="4016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000" b="0" i="1" smtClean="0">
                              <a:latin typeface="Cambria Math" panose="02040503050406030204" pitchFamily="18" charset="0"/>
                            </a:rPr>
                          </m:ctrlPr>
                        </m:sSupPr>
                        <m:e>
                          <m:d>
                            <m:dPr>
                              <m:ctrlPr>
                                <a:rPr lang="en-US" altLang="zh-CN" sz="1000" b="0" i="1" smtClean="0">
                                  <a:latin typeface="Cambria Math" panose="02040503050406030204" pitchFamily="18" charset="0"/>
                                </a:rPr>
                              </m:ctrlPr>
                            </m:dPr>
                            <m:e>
                              <m:f>
                                <m:fPr>
                                  <m:ctrlPr>
                                    <a:rPr lang="en-US" altLang="zh-CN" sz="1000" b="0" i="1" smtClean="0">
                                      <a:latin typeface="Cambria Math" panose="02040503050406030204" pitchFamily="18" charset="0"/>
                                    </a:rPr>
                                  </m:ctrlPr>
                                </m:fPr>
                                <m:num>
                                  <m:r>
                                    <a:rPr lang="en-US" altLang="zh-CN" sz="1000" b="0" i="1" smtClean="0">
                                      <a:latin typeface="Cambria Math" panose="02040503050406030204" pitchFamily="18" charset="0"/>
                                    </a:rPr>
                                    <m:t>𝑀</m:t>
                                  </m:r>
                                </m:num>
                                <m:den>
                                  <m:r>
                                    <a:rPr lang="en-US" altLang="zh-CN" sz="1000" b="0" i="1" smtClean="0">
                                      <a:latin typeface="Cambria Math" panose="02040503050406030204" pitchFamily="18" charset="0"/>
                                    </a:rPr>
                                    <m:t>𝑃</m:t>
                                  </m:r>
                                </m:den>
                              </m:f>
                            </m:e>
                          </m:d>
                        </m:e>
                        <m:sup>
                          <m:r>
                            <a:rPr lang="en-US" altLang="zh-CN" sz="1000" b="0" i="1" smtClean="0">
                              <a:latin typeface="Cambria Math" panose="02040503050406030204" pitchFamily="18" charset="0"/>
                            </a:rPr>
                            <m:t>𝑠</m:t>
                          </m:r>
                        </m:sup>
                      </m:sSup>
                    </m:oMath>
                  </m:oMathPara>
                </a14:m>
                <a:endParaRPr lang="zh-CN" altLang="en-US" sz="1000" dirty="0"/>
              </a:p>
            </p:txBody>
          </p:sp>
        </mc:Choice>
        <mc:Fallback xmlns="">
          <p:sp>
            <p:nvSpPr>
              <p:cNvPr id="26" name="文本框 25">
                <a:extLst>
                  <a:ext uri="{FF2B5EF4-FFF2-40B4-BE49-F238E27FC236}">
                    <a16:creationId xmlns:a16="http://schemas.microsoft.com/office/drawing/2014/main" id="{1F30C7F8-D88D-7820-796F-47FD27256B19}"/>
                  </a:ext>
                </a:extLst>
              </p:cNvPr>
              <p:cNvSpPr txBox="1">
                <a:spLocks noRot="1" noChangeAspect="1" noMove="1" noResize="1" noEditPoints="1" noAdjustHandles="1" noChangeArrowheads="1" noChangeShapeType="1" noTextEdit="1"/>
              </p:cNvSpPr>
              <p:nvPr/>
            </p:nvSpPr>
            <p:spPr>
              <a:xfrm>
                <a:off x="2291725" y="882481"/>
                <a:ext cx="520233" cy="401648"/>
              </a:xfrm>
              <a:prstGeom prst="rect">
                <a:avLst/>
              </a:prstGeom>
              <a:blipFill>
                <a:blip r:embed="rId2"/>
                <a:stretch>
                  <a:fillRect/>
                </a:stretch>
              </a:blipFill>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79D69A28-7419-0924-B7C7-D9FFAA49A7A5}"/>
              </a:ext>
            </a:extLst>
          </p:cNvPr>
          <p:cNvSpPr txBox="1"/>
          <p:nvPr/>
        </p:nvSpPr>
        <p:spPr>
          <a:xfrm>
            <a:off x="994857" y="748344"/>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C90CF903-BB86-5D4C-A295-A7C3602D5175}"/>
                  </a:ext>
                </a:extLst>
              </p:cNvPr>
              <p:cNvSpPr txBox="1"/>
              <p:nvPr/>
            </p:nvSpPr>
            <p:spPr>
              <a:xfrm>
                <a:off x="3487091" y="2319773"/>
                <a:ext cx="346825" cy="4081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1100" i="1" dirty="0" smtClean="0">
                              <a:latin typeface="Cambria Math" panose="02040503050406030204" pitchFamily="18" charset="0"/>
                            </a:rPr>
                          </m:ctrlPr>
                        </m:fPr>
                        <m:num>
                          <m:r>
                            <a:rPr kumimoji="1" lang="en-US" altLang="zh-CN" sz="1100" i="1" dirty="0" smtClean="0">
                              <a:latin typeface="Cambria Math" panose="02040503050406030204" pitchFamily="18" charset="0"/>
                            </a:rPr>
                            <m:t>𝑀</m:t>
                          </m:r>
                        </m:num>
                        <m:den>
                          <m:r>
                            <a:rPr kumimoji="1" lang="en-US" altLang="zh-CN" sz="1100" i="1" dirty="0" smtClean="0">
                              <a:latin typeface="Cambria Math" panose="02040503050406030204" pitchFamily="18" charset="0"/>
                            </a:rPr>
                            <m:t>𝑃</m:t>
                          </m:r>
                        </m:den>
                      </m:f>
                    </m:oMath>
                  </m:oMathPara>
                </a14:m>
                <a:endParaRPr kumimoji="1" lang="zh-CN" altLang="en-US" sz="1100" dirty="0"/>
              </a:p>
            </p:txBody>
          </p:sp>
        </mc:Choice>
        <mc:Fallback xmlns="">
          <p:sp>
            <p:nvSpPr>
              <p:cNvPr id="38" name="文本框 37">
                <a:extLst>
                  <a:ext uri="{FF2B5EF4-FFF2-40B4-BE49-F238E27FC236}">
                    <a16:creationId xmlns:a16="http://schemas.microsoft.com/office/drawing/2014/main" id="{C90CF903-BB86-5D4C-A295-A7C3602D5175}"/>
                  </a:ext>
                </a:extLst>
              </p:cNvPr>
              <p:cNvSpPr txBox="1">
                <a:spLocks noRot="1" noChangeAspect="1" noMove="1" noResize="1" noEditPoints="1" noAdjustHandles="1" noChangeArrowheads="1" noChangeShapeType="1" noTextEdit="1"/>
              </p:cNvSpPr>
              <p:nvPr/>
            </p:nvSpPr>
            <p:spPr>
              <a:xfrm>
                <a:off x="3487091" y="2319773"/>
                <a:ext cx="346825" cy="408125"/>
              </a:xfrm>
              <a:prstGeom prst="rect">
                <a:avLst/>
              </a:prstGeom>
              <a:blipFill>
                <a:blip r:embed="rId3"/>
                <a:stretch>
                  <a:fillRect b="-30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08395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left)">
                                      <p:cBhvr>
                                        <p:cTn id="2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37" grpId="0"/>
      <p:bldP spid="3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a:highlight>
                  <a:srgbClr val="FFFF00"/>
                </a:highlight>
              </a:rPr>
              <a:t>货币供给</a:t>
            </a:r>
            <a:r>
              <a:rPr lang="zh-CN" altLang="en-US" dirty="0"/>
              <a:t>有狭义和广义之分。</a:t>
            </a:r>
            <a:endParaRPr lang="en-US" altLang="zh-CN" dirty="0"/>
          </a:p>
          <a:p>
            <a:r>
              <a:rPr lang="zh-CN" altLang="en-US" b="1" dirty="0"/>
              <a:t>狭义的货币供给</a:t>
            </a:r>
            <a:r>
              <a:rPr lang="zh-CN" altLang="en-US" dirty="0"/>
              <a:t>是指流通中的硬币、纸币和银行活期存款的总和</a:t>
            </a:r>
            <a:r>
              <a:rPr lang="en-US" altLang="zh-CN" dirty="0"/>
              <a:t>(</a:t>
            </a:r>
            <a:r>
              <a:rPr lang="zh-CN" altLang="en-US" dirty="0"/>
              <a:t>一般用</a:t>
            </a:r>
            <a:r>
              <a:rPr lang="en-US" altLang="zh-CN" dirty="0"/>
              <a:t>M1</a:t>
            </a:r>
            <a:r>
              <a:rPr lang="zh-CN" altLang="en-US" dirty="0"/>
              <a:t>表示</a:t>
            </a:r>
            <a:r>
              <a:rPr lang="en-US" altLang="zh-CN" dirty="0"/>
              <a:t>)</a:t>
            </a:r>
            <a:r>
              <a:rPr lang="zh-CN" altLang="en-US" dirty="0"/>
              <a:t>。</a:t>
            </a:r>
            <a:endParaRPr lang="en-US" altLang="zh-CN" dirty="0"/>
          </a:p>
          <a:p>
            <a:r>
              <a:rPr lang="zh-CN" altLang="en-US" b="1" dirty="0"/>
              <a:t>广义的货币供给</a:t>
            </a:r>
            <a:r>
              <a:rPr lang="zh-CN" altLang="en-US" dirty="0"/>
              <a:t>是狭义货币供给加上</a:t>
            </a:r>
            <a:r>
              <a:rPr lang="zh-CN" altLang="en-US" b="1" dirty="0"/>
              <a:t>定期存款</a:t>
            </a:r>
            <a:r>
              <a:rPr lang="en-US" altLang="zh-CN" dirty="0"/>
              <a:t>(</a:t>
            </a:r>
            <a:r>
              <a:rPr lang="zh-CN" altLang="en-US" dirty="0"/>
              <a:t>一般用</a:t>
            </a:r>
            <a:r>
              <a:rPr lang="en-US" altLang="zh-CN" dirty="0"/>
              <a:t>M2</a:t>
            </a:r>
            <a:r>
              <a:rPr lang="zh-CN" altLang="en-US" dirty="0"/>
              <a:t>表示</a:t>
            </a:r>
            <a:r>
              <a:rPr lang="en-US" altLang="zh-CN" dirty="0"/>
              <a:t>)</a:t>
            </a:r>
            <a:r>
              <a:rPr lang="zh-CN" altLang="en-US" dirty="0"/>
              <a:t>。</a:t>
            </a:r>
            <a:endParaRPr lang="en-US" altLang="zh-CN" dirty="0"/>
          </a:p>
          <a:p>
            <a:r>
              <a:rPr lang="zh-CN" altLang="en-US" dirty="0"/>
              <a:t>更广泛的货币供给是在广义货币供给上再加上</a:t>
            </a:r>
            <a:r>
              <a:rPr lang="zh-CN" altLang="en-US" b="1" dirty="0"/>
              <a:t>个人和企业持有的政府债券等流动资产或</a:t>
            </a:r>
            <a:r>
              <a:rPr lang="en-US" altLang="zh-CN" b="1" dirty="0"/>
              <a:t>”</a:t>
            </a:r>
            <a:r>
              <a:rPr lang="zh-CN" altLang="en-US" b="1" dirty="0"/>
              <a:t>货币近似物</a:t>
            </a:r>
            <a:r>
              <a:rPr lang="en-US" altLang="zh-CN" b="1" dirty="0"/>
              <a:t>”</a:t>
            </a:r>
            <a:r>
              <a:rPr lang="en-US" altLang="zh-CN" dirty="0"/>
              <a:t> (</a:t>
            </a:r>
            <a:r>
              <a:rPr lang="zh-CN" altLang="en-US" dirty="0"/>
              <a:t>一般用</a:t>
            </a:r>
            <a:r>
              <a:rPr lang="en-US" altLang="zh-CN" dirty="0"/>
              <a:t>M3</a:t>
            </a:r>
            <a:r>
              <a:rPr lang="zh-CN" altLang="en-US" dirty="0"/>
              <a:t>表示</a:t>
            </a:r>
            <a:r>
              <a:rPr lang="en-US" altLang="zh-CN" dirty="0"/>
              <a:t>) </a:t>
            </a:r>
            <a:r>
              <a:rPr lang="zh-CN" altLang="en-US" dirty="0"/>
              <a:t>。</a:t>
            </a:r>
          </a:p>
        </p:txBody>
      </p:sp>
      <p:sp>
        <p:nvSpPr>
          <p:cNvPr id="4" name="标题 3">
            <a:extLst>
              <a:ext uri="{FF2B5EF4-FFF2-40B4-BE49-F238E27FC236}">
                <a16:creationId xmlns:a16="http://schemas.microsoft.com/office/drawing/2014/main" id="{DA08785A-B566-541B-B465-5E6BC8F44165}"/>
              </a:ext>
            </a:extLst>
          </p:cNvPr>
          <p:cNvSpPr>
            <a:spLocks noGrp="1"/>
          </p:cNvSpPr>
          <p:nvPr>
            <p:ph type="title"/>
          </p:nvPr>
        </p:nvSpPr>
        <p:spPr/>
        <p:txBody>
          <a:bodyPr/>
          <a:lstStyle/>
          <a:p>
            <a:r>
              <a:rPr kumimoji="1" lang="zh-CN" altLang="en-US" dirty="0"/>
              <a:t>货币供给的衡量</a:t>
            </a:r>
          </a:p>
        </p:txBody>
      </p:sp>
      <p:sp>
        <p:nvSpPr>
          <p:cNvPr id="2" name="灯片编号占位符 2">
            <a:extLst>
              <a:ext uri="{FF2B5EF4-FFF2-40B4-BE49-F238E27FC236}">
                <a16:creationId xmlns:a16="http://schemas.microsoft.com/office/drawing/2014/main" id="{D73BECD6-B2C9-5B02-80B4-AB18037E65D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42</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BE2CF2EE-D6CE-D4BE-2DEB-582778E7A0F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7488664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5258FF-DC65-CF10-674C-F1EB060AD6E8}"/>
              </a:ext>
            </a:extLst>
          </p:cNvPr>
          <p:cNvSpPr>
            <a:spLocks noGrp="1"/>
          </p:cNvSpPr>
          <p:nvPr>
            <p:ph type="title"/>
          </p:nvPr>
        </p:nvSpPr>
        <p:spPr/>
        <p:txBody>
          <a:bodyPr/>
          <a:lstStyle/>
          <a:p>
            <a:r>
              <a:rPr kumimoji="1" lang="zh-CN" altLang="en-US" dirty="0"/>
              <a:t>货币的需求：流动性与流动性偏好</a:t>
            </a:r>
          </a:p>
        </p:txBody>
      </p:sp>
      <p:sp>
        <p:nvSpPr>
          <p:cNvPr id="3" name="内容占位符 2">
            <a:extLst>
              <a:ext uri="{FF2B5EF4-FFF2-40B4-BE49-F238E27FC236}">
                <a16:creationId xmlns:a16="http://schemas.microsoft.com/office/drawing/2014/main" id="{7F15884D-AF3F-63CA-5053-5060C87774EA}"/>
              </a:ext>
            </a:extLst>
          </p:cNvPr>
          <p:cNvSpPr>
            <a:spLocks noGrp="1"/>
          </p:cNvSpPr>
          <p:nvPr>
            <p:ph idx="1"/>
          </p:nvPr>
        </p:nvSpPr>
        <p:spPr/>
        <p:txBody>
          <a:bodyPr/>
          <a:lstStyle/>
          <a:p>
            <a:r>
              <a:rPr kumimoji="1" lang="zh-CN" altLang="en-US" b="1" dirty="0"/>
              <a:t>流动性</a:t>
            </a:r>
            <a:r>
              <a:rPr kumimoji="1" lang="zh-CN" altLang="en-US" dirty="0"/>
              <a:t>是资产的一种属性，它反映任何一项资产在不影响原有价值的情况下，转换为现金的难易程度。</a:t>
            </a:r>
            <a:endParaRPr kumimoji="1" lang="en-US" altLang="zh-CN" dirty="0"/>
          </a:p>
          <a:p>
            <a:pPr lvl="1"/>
            <a:r>
              <a:rPr kumimoji="1" lang="zh-CN" altLang="en-US" dirty="0">
                <a:latin typeface="KaiTi" panose="02010609060101010101" pitchFamily="49" charset="-122"/>
                <a:ea typeface="KaiTi" panose="02010609060101010101" pitchFamily="49" charset="-122"/>
              </a:rPr>
              <a:t>现金、存款、股票、国债、企业债、房产</a:t>
            </a:r>
          </a:p>
          <a:p>
            <a:r>
              <a:rPr kumimoji="1" lang="zh-CN" altLang="en-US" b="1" dirty="0"/>
              <a:t>流动性偏好</a:t>
            </a:r>
            <a:r>
              <a:rPr kumimoji="1" lang="zh-CN" altLang="en-US" dirty="0"/>
              <a:t>，就是对货币的需求。它是指由于货币具有使用上的灵活性，人们宁肯以牺牲利息收入而储存不生息的货币来保持财富的心理倾向。</a:t>
            </a:r>
            <a:endParaRPr kumimoji="1" lang="en-US" altLang="zh-CN" dirty="0"/>
          </a:p>
          <a:p>
            <a:pPr lvl="1"/>
            <a:r>
              <a:rPr kumimoji="1" lang="zh-CN" altLang="en-US" dirty="0">
                <a:latin typeface="KaiTi" panose="02010609060101010101" pitchFamily="49" charset="-122"/>
                <a:ea typeface="KaiTi" panose="02010609060101010101" pitchFamily="49" charset="-122"/>
              </a:rPr>
              <a:t>人们的财富如果不以货币形式持有，而以其他形式持有，会给他们带来收益，如债券</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债息</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、股票</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股息及红利</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、房产</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租金</a:t>
            </a:r>
            <a:r>
              <a:rPr kumimoji="1" lang="en-US" altLang="zh-CN" dirty="0">
                <a:latin typeface="KaiTi" panose="02010609060101010101" pitchFamily="49" charset="-122"/>
                <a:ea typeface="KaiTi" panose="02010609060101010101" pitchFamily="49" charset="-122"/>
              </a:rPr>
              <a:t>)</a:t>
            </a:r>
          </a:p>
          <a:p>
            <a:endParaRPr kumimoji="1" lang="zh-CN" altLang="en-US" dirty="0"/>
          </a:p>
          <a:p>
            <a:endParaRPr kumimoji="1" lang="zh-CN" altLang="en-US" dirty="0"/>
          </a:p>
        </p:txBody>
      </p:sp>
      <p:sp>
        <p:nvSpPr>
          <p:cNvPr id="4" name="页脚占位符 3">
            <a:extLst>
              <a:ext uri="{FF2B5EF4-FFF2-40B4-BE49-F238E27FC236}">
                <a16:creationId xmlns:a16="http://schemas.microsoft.com/office/drawing/2014/main" id="{D4A1FF3B-8464-CE68-57EB-948AFAAFA9CF}"/>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0E8E4A5-1CF4-5845-1C02-7417E8E26320}"/>
              </a:ext>
            </a:extLst>
          </p:cNvPr>
          <p:cNvSpPr>
            <a:spLocks noGrp="1"/>
          </p:cNvSpPr>
          <p:nvPr>
            <p:ph type="sldNum" sz="quarter" idx="11"/>
          </p:nvPr>
        </p:nvSpPr>
        <p:spPr/>
        <p:txBody>
          <a:bodyPr/>
          <a:lstStyle/>
          <a:p>
            <a:fld id="{FF75CA96-F32A-7F4F-98C9-CA940BD9BB90}" type="slidenum">
              <a:rPr lang="zh-CN" altLang="zh-CN" smtClean="0"/>
              <a:pPr/>
              <a:t>43</a:t>
            </a:fld>
            <a:endParaRPr lang="en-US" altLang="zh-CN"/>
          </a:p>
        </p:txBody>
      </p:sp>
    </p:spTree>
    <p:extLst>
      <p:ext uri="{BB962C8B-B14F-4D97-AF65-F5344CB8AC3E}">
        <p14:creationId xmlns:p14="http://schemas.microsoft.com/office/powerpoint/2010/main" val="40800215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00" b="1" dirty="0"/>
              <a:t>为什么有货币的需求，即持有货币的动机：</a:t>
            </a:r>
            <a:endParaRPr lang="en-US" altLang="zh-CN" sz="1200" b="1" dirty="0"/>
          </a:p>
          <a:p>
            <a:r>
              <a:rPr lang="en-US" altLang="zh-CN" sz="1200" u="sng" dirty="0"/>
              <a:t>1. </a:t>
            </a:r>
            <a:r>
              <a:rPr lang="zh-CN" altLang="en-US" sz="1200" u="sng" dirty="0"/>
              <a:t>交易动机，</a:t>
            </a:r>
            <a:r>
              <a:rPr lang="zh-CN" altLang="en-US" sz="1200" dirty="0"/>
              <a:t>指个人和企业需要货币是为了进行正常的交易活动。收入越高，交易数量越大，为应付日常开支所需的货币量就越大</a:t>
            </a:r>
            <a:r>
              <a:rPr lang="en-US" altLang="zh-CN" sz="1200" dirty="0"/>
              <a:t>(</a:t>
            </a:r>
            <a:r>
              <a:rPr lang="zh-CN" altLang="en-US" sz="1200" dirty="0"/>
              <a:t>与收入成正比</a:t>
            </a:r>
            <a:r>
              <a:rPr lang="en-US" altLang="zh-CN" sz="1200" dirty="0"/>
              <a:t>)</a:t>
            </a:r>
          </a:p>
          <a:p>
            <a:r>
              <a:rPr lang="en-US" altLang="zh-CN" sz="1200" u="sng" dirty="0"/>
              <a:t>2. </a:t>
            </a:r>
            <a:r>
              <a:rPr lang="zh-CN" altLang="en-US" sz="1200" u="sng" dirty="0"/>
              <a:t>谨慎动机或预防动机</a:t>
            </a:r>
            <a:r>
              <a:rPr lang="zh-CN" altLang="en-US" sz="1200" dirty="0"/>
              <a:t>，指为预防意外支出而持有一部分货币的动机，如个人或企业为应付事故、失业、疾病等意外事件而需要实现持有一定数量的货币</a:t>
            </a:r>
            <a:r>
              <a:rPr lang="en-US" altLang="zh-CN" sz="1200" dirty="0"/>
              <a:t>(</a:t>
            </a:r>
            <a:r>
              <a:rPr lang="zh-CN" altLang="en-US" sz="1200" dirty="0"/>
              <a:t>与收入成正比</a:t>
            </a:r>
            <a:r>
              <a:rPr lang="en-US" altLang="zh-CN" sz="1200" dirty="0"/>
              <a:t>)</a:t>
            </a:r>
          </a:p>
          <a:p>
            <a:r>
              <a:rPr lang="en-US" altLang="zh-CN" sz="1200" u="sng" dirty="0"/>
              <a:t>3. </a:t>
            </a:r>
            <a:r>
              <a:rPr lang="zh-CN" altLang="en-US" sz="1200" u="sng" dirty="0"/>
              <a:t>投机动机，</a:t>
            </a:r>
            <a:r>
              <a:rPr lang="zh-CN" altLang="en-US" sz="1200" dirty="0"/>
              <a:t>指人们为了抓住有利的购买有价证券的机会而持有一部分货币的动机</a:t>
            </a:r>
            <a:r>
              <a:rPr lang="en-US" altLang="zh-CN" sz="1200" dirty="0"/>
              <a:t>(</a:t>
            </a:r>
            <a:r>
              <a:rPr lang="zh-CN" altLang="en-US" sz="1200" dirty="0"/>
              <a:t>与利率成反比</a:t>
            </a:r>
            <a:r>
              <a:rPr lang="en-US" altLang="zh-CN" sz="1200" dirty="0"/>
              <a:t>)</a:t>
            </a:r>
          </a:p>
          <a:p>
            <a:endParaRPr lang="zh-CN" altLang="en-US" sz="1200" dirty="0"/>
          </a:p>
        </p:txBody>
      </p:sp>
      <p:sp>
        <p:nvSpPr>
          <p:cNvPr id="4" name="标题 3">
            <a:extLst>
              <a:ext uri="{FF2B5EF4-FFF2-40B4-BE49-F238E27FC236}">
                <a16:creationId xmlns:a16="http://schemas.microsoft.com/office/drawing/2014/main" id="{F53C21B7-3175-E5E7-04C6-C2ADFFB431C7}"/>
              </a:ext>
            </a:extLst>
          </p:cNvPr>
          <p:cNvSpPr>
            <a:spLocks noGrp="1"/>
          </p:cNvSpPr>
          <p:nvPr>
            <p:ph type="title"/>
          </p:nvPr>
        </p:nvSpPr>
        <p:spPr/>
        <p:txBody>
          <a:bodyPr/>
          <a:lstStyle/>
          <a:p>
            <a:r>
              <a:rPr kumimoji="1" lang="zh-CN" altLang="en-US" dirty="0"/>
              <a:t>流动性偏好理论</a:t>
            </a:r>
          </a:p>
        </p:txBody>
      </p:sp>
      <p:sp>
        <p:nvSpPr>
          <p:cNvPr id="2" name="灯片编号占位符 2">
            <a:extLst>
              <a:ext uri="{FF2B5EF4-FFF2-40B4-BE49-F238E27FC236}">
                <a16:creationId xmlns:a16="http://schemas.microsoft.com/office/drawing/2014/main" id="{A2F2BDEC-203A-7D4E-3FBC-F1309318DA8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44</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8BF9F9A2-B9FF-CFC5-198D-EC3D8E3AE39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070025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10" dirty="0"/>
              <a:t>对</a:t>
            </a:r>
            <a:r>
              <a:rPr lang="zh-CN" altLang="en-US" sz="1210" b="1" u="sng" dirty="0"/>
              <a:t>利率的预期</a:t>
            </a:r>
            <a:r>
              <a:rPr lang="zh-CN" altLang="en-US" sz="1210" dirty="0"/>
              <a:t>是人们调节货币和债券配置比例的重要依据，利率越高，货币需求量越小。当利率极高时，这一需求量为零。</a:t>
            </a:r>
            <a:endParaRPr lang="en-US" altLang="zh-CN" sz="1210" dirty="0"/>
          </a:p>
          <a:p>
            <a:r>
              <a:rPr lang="zh-CN" altLang="en-US" sz="1210" b="1" dirty="0"/>
              <a:t>当利率极低时，人们会认为这时利率不大可能再下降，或者说有价证券价格不大可能再上升而只会跌落，</a:t>
            </a:r>
            <a:r>
              <a:rPr lang="zh-CN" altLang="en-US" sz="1210" dirty="0"/>
              <a:t>因而会将有价证券全部换成货币。</a:t>
            </a:r>
            <a:endParaRPr lang="en-US" altLang="zh-CN" sz="1210" dirty="0"/>
          </a:p>
          <a:p>
            <a:r>
              <a:rPr lang="zh-CN" altLang="en-US" sz="1210" dirty="0"/>
              <a:t>人们有了货币也决不肯再去买有价证券，以免证券价格下跌时遭受损失，</a:t>
            </a:r>
            <a:r>
              <a:rPr lang="zh-CN" altLang="en-US" sz="1210" b="1" dirty="0"/>
              <a:t>人们不管有多少货币都愿意持在手中，这种情况称为</a:t>
            </a:r>
            <a:r>
              <a:rPr lang="en-US" altLang="zh-CN" sz="1210" b="1" dirty="0"/>
              <a:t>”</a:t>
            </a:r>
            <a:r>
              <a:rPr lang="zh-CN" altLang="en-US" sz="1210" b="1" dirty="0"/>
              <a:t>凯恩斯陷阱</a:t>
            </a:r>
            <a:r>
              <a:rPr lang="en-US" altLang="zh-CN" sz="1210" b="1" dirty="0"/>
              <a:t>”</a:t>
            </a:r>
            <a:r>
              <a:rPr lang="zh-CN" altLang="en-US" sz="1210" b="1" dirty="0"/>
              <a:t>或</a:t>
            </a:r>
            <a:r>
              <a:rPr lang="en-US" altLang="zh-CN" sz="1210" b="1" dirty="0"/>
              <a:t>”</a:t>
            </a:r>
            <a:r>
              <a:rPr lang="zh-CN" altLang="en-US" sz="1210" b="1" dirty="0"/>
              <a:t>流动性陷阱</a:t>
            </a:r>
            <a:r>
              <a:rPr lang="en-US" altLang="zh-CN" sz="1210" b="1" dirty="0"/>
              <a:t>”</a:t>
            </a:r>
            <a:r>
              <a:rPr lang="zh-CN" altLang="en-US" sz="1210" dirty="0"/>
              <a:t>。</a:t>
            </a:r>
          </a:p>
        </p:txBody>
      </p:sp>
      <p:sp>
        <p:nvSpPr>
          <p:cNvPr id="4" name="标题 3">
            <a:extLst>
              <a:ext uri="{FF2B5EF4-FFF2-40B4-BE49-F238E27FC236}">
                <a16:creationId xmlns:a16="http://schemas.microsoft.com/office/drawing/2014/main" id="{DC5B6950-16E9-AFCC-B071-EE9F89FDD9FD}"/>
              </a:ext>
            </a:extLst>
          </p:cNvPr>
          <p:cNvSpPr>
            <a:spLocks noGrp="1"/>
          </p:cNvSpPr>
          <p:nvPr>
            <p:ph type="title"/>
          </p:nvPr>
        </p:nvSpPr>
        <p:spPr/>
        <p:txBody>
          <a:bodyPr/>
          <a:lstStyle/>
          <a:p>
            <a:r>
              <a:rPr kumimoji="1" lang="zh-CN" altLang="en-US" dirty="0"/>
              <a:t>流动性偏好陷阱</a:t>
            </a:r>
          </a:p>
        </p:txBody>
      </p:sp>
      <p:sp>
        <p:nvSpPr>
          <p:cNvPr id="2" name="灯片编号占位符 2">
            <a:extLst>
              <a:ext uri="{FF2B5EF4-FFF2-40B4-BE49-F238E27FC236}">
                <a16:creationId xmlns:a16="http://schemas.microsoft.com/office/drawing/2014/main" id="{C87E5998-5538-02FD-615D-A991FDFFC07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45</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A75C73A8-AEF9-375B-0019-68B2AA5876E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3977460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10" dirty="0"/>
                  <a:t>对货币的总需求是人们对货币的交易需求、预防需求和投机需求的总和。货币的交易需求、预防需求决定于收入，而货币的投机需求决定于利率。</a:t>
                </a:r>
                <a:endParaRPr lang="en-US" altLang="zh-CN" sz="1210" dirty="0"/>
              </a:p>
              <a:p>
                <a:r>
                  <a:rPr lang="zh-CN" altLang="en-US" sz="1210" dirty="0"/>
                  <a:t>实际货币需求量与名义货币需求量</a:t>
                </a:r>
                <a:endParaRPr lang="en-US" altLang="zh-CN" sz="1210" dirty="0"/>
              </a:p>
              <a:p>
                <a:pPr lvl="1"/>
                <a:r>
                  <a:rPr lang="zh-CN" altLang="en-US" sz="1159" dirty="0"/>
                  <a:t>名义货币需求量是不管货币购买力如何而仅计算其票面值的货币量</a:t>
                </a:r>
                <a:endParaRPr lang="en-US" altLang="zh-CN" sz="1159" dirty="0"/>
              </a:p>
              <a:p>
                <a:pPr lvl="1"/>
                <a:r>
                  <a:rPr lang="zh-CN" altLang="en-US" sz="1159" dirty="0">
                    <a:solidFill>
                      <a:srgbClr val="000000"/>
                    </a:solidFill>
                  </a:rPr>
                  <a:t>实际货币需求量是将名义货币需求量用</a:t>
                </a:r>
                <a:r>
                  <a:rPr lang="zh-CN" altLang="en-US" sz="1159" u="sng" dirty="0">
                    <a:solidFill>
                      <a:srgbClr val="000000"/>
                    </a:solidFill>
                  </a:rPr>
                  <a:t>价格指数</a:t>
                </a:r>
                <a:r>
                  <a:rPr lang="zh-CN" altLang="en-US" sz="1159" dirty="0">
                    <a:solidFill>
                      <a:srgbClr val="000000"/>
                    </a:solidFill>
                  </a:rPr>
                  <a:t>折算成具有不变购买力的实际货币量，即</a:t>
                </a:r>
                <a14:m>
                  <m:oMath xmlns:m="http://schemas.openxmlformats.org/officeDocument/2006/math">
                    <m:r>
                      <a:rPr lang="en-US" altLang="zh-CN" sz="1210" i="1">
                        <a:solidFill>
                          <a:srgbClr val="000000"/>
                        </a:solidFill>
                        <a:latin typeface="Cambria Math" panose="02040503050406030204" pitchFamily="18" charset="0"/>
                      </a:rPr>
                      <m:t>𝑚</m:t>
                    </m:r>
                    <m:r>
                      <a:rPr lang="en-US" altLang="zh-CN" sz="1210" i="1">
                        <a:solidFill>
                          <a:srgbClr val="000000"/>
                        </a:solidFill>
                        <a:latin typeface="Cambria Math" panose="02040503050406030204" pitchFamily="18" charset="0"/>
                      </a:rPr>
                      <m:t>=</m:t>
                    </m:r>
                    <m:f>
                      <m:fPr>
                        <m:ctrlPr>
                          <a:rPr lang="en-US" altLang="zh-CN" sz="1210" i="1">
                            <a:solidFill>
                              <a:srgbClr val="000000"/>
                            </a:solidFill>
                            <a:latin typeface="Cambria Math" panose="02040503050406030204" pitchFamily="18" charset="0"/>
                          </a:rPr>
                        </m:ctrlPr>
                      </m:fPr>
                      <m:num>
                        <m:r>
                          <a:rPr lang="en-US" altLang="zh-CN" sz="1210" i="1">
                            <a:solidFill>
                              <a:srgbClr val="000000"/>
                            </a:solidFill>
                            <a:latin typeface="Cambria Math" panose="02040503050406030204" pitchFamily="18" charset="0"/>
                          </a:rPr>
                          <m:t>𝑀</m:t>
                        </m:r>
                      </m:num>
                      <m:den>
                        <m:r>
                          <a:rPr lang="en-US" altLang="zh-CN" sz="1210" i="1">
                            <a:solidFill>
                              <a:srgbClr val="000000"/>
                            </a:solidFill>
                            <a:latin typeface="Cambria Math" panose="02040503050406030204" pitchFamily="18" charset="0"/>
                          </a:rPr>
                          <m:t>𝑃</m:t>
                        </m:r>
                      </m:den>
                    </m:f>
                  </m:oMath>
                </a14:m>
                <a:endParaRPr lang="en-US" altLang="zh-CN" sz="1159"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F2678BC3-CA07-5131-1D06-EE385A7C4433}"/>
              </a:ext>
            </a:extLst>
          </p:cNvPr>
          <p:cNvSpPr>
            <a:spLocks noGrp="1"/>
          </p:cNvSpPr>
          <p:nvPr>
            <p:ph type="title"/>
          </p:nvPr>
        </p:nvSpPr>
        <p:spPr/>
        <p:txBody>
          <a:bodyPr/>
          <a:lstStyle/>
          <a:p>
            <a:r>
              <a:rPr kumimoji="1" lang="zh-CN" altLang="en-US" dirty="0"/>
              <a:t>利率与货币需求函数</a:t>
            </a:r>
          </a:p>
        </p:txBody>
      </p:sp>
      <p:sp>
        <p:nvSpPr>
          <p:cNvPr id="2" name="灯片编号占位符 2">
            <a:extLst>
              <a:ext uri="{FF2B5EF4-FFF2-40B4-BE49-F238E27FC236}">
                <a16:creationId xmlns:a16="http://schemas.microsoft.com/office/drawing/2014/main" id="{4FB203F0-850A-5D15-965B-CDE52C8BC16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7D9706C5-2717-9BD0-5551-D45A566E5AF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960210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6435" y="471047"/>
                <a:ext cx="4186776" cy="2483464"/>
              </a:xfrm>
            </p:spPr>
            <p:txBody>
              <a:bodyPr/>
              <a:lstStyle/>
              <a:p>
                <a:r>
                  <a:rPr lang="zh-CN" altLang="en-US" sz="1210" b="1" dirty="0"/>
                  <a:t>实际货币需求</a:t>
                </a:r>
                <a14:m>
                  <m:oMath xmlns:m="http://schemas.openxmlformats.org/officeDocument/2006/math">
                    <m:r>
                      <a:rPr lang="en-US" altLang="zh-CN" sz="1210" b="1" i="1" dirty="0">
                        <a:latin typeface="Cambria Math" panose="02040503050406030204" pitchFamily="18" charset="0"/>
                      </a:rPr>
                      <m:t>𝑳</m:t>
                    </m:r>
                    <m:r>
                      <a:rPr lang="en-US" altLang="zh-CN" sz="1210" b="1" i="1" dirty="0">
                        <a:latin typeface="Cambria Math" panose="02040503050406030204" pitchFamily="18" charset="0"/>
                      </a:rPr>
                      <m:t>=</m:t>
                    </m:r>
                    <m:sSup>
                      <m:sSupPr>
                        <m:ctrlPr>
                          <a:rPr lang="en-US" altLang="zh-CN" sz="1210" b="1" i="1" dirty="0">
                            <a:latin typeface="Cambria Math" panose="02040503050406030204" pitchFamily="18" charset="0"/>
                          </a:rPr>
                        </m:ctrlPr>
                      </m:sSupPr>
                      <m:e>
                        <m:r>
                          <a:rPr lang="en-US" altLang="zh-CN" sz="1210" b="1" i="1" dirty="0" smtClean="0">
                            <a:latin typeface="Cambria Math" panose="02040503050406030204" pitchFamily="18" charset="0"/>
                          </a:rPr>
                          <m:t>(</m:t>
                        </m:r>
                        <m:f>
                          <m:fPr>
                            <m:ctrlPr>
                              <a:rPr lang="en-US" altLang="zh-CN" sz="1210" b="1" i="1" dirty="0">
                                <a:latin typeface="Cambria Math" panose="02040503050406030204" pitchFamily="18" charset="0"/>
                              </a:rPr>
                            </m:ctrlPr>
                          </m:fPr>
                          <m:num>
                            <m:r>
                              <a:rPr lang="en-US" altLang="zh-CN" sz="1210" b="1" i="1" dirty="0">
                                <a:latin typeface="Cambria Math" panose="02040503050406030204" pitchFamily="18" charset="0"/>
                              </a:rPr>
                              <m:t>𝑴</m:t>
                            </m:r>
                          </m:num>
                          <m:den>
                            <m:r>
                              <a:rPr lang="en-US" altLang="zh-CN" sz="1210" b="1" i="1" dirty="0">
                                <a:latin typeface="Cambria Math" panose="02040503050406030204" pitchFamily="18" charset="0"/>
                              </a:rPr>
                              <m:t>𝑷</m:t>
                            </m:r>
                          </m:den>
                        </m:f>
                        <m:r>
                          <a:rPr lang="en-US" altLang="zh-CN" sz="1210" b="1" i="1" dirty="0" smtClean="0">
                            <a:latin typeface="Cambria Math" panose="02040503050406030204" pitchFamily="18" charset="0"/>
                          </a:rPr>
                          <m:t>)</m:t>
                        </m:r>
                      </m:e>
                      <m:sup>
                        <m:r>
                          <a:rPr lang="en-US" altLang="zh-CN" sz="1210" b="1" i="1" dirty="0" smtClean="0">
                            <a:latin typeface="Cambria Math" panose="02040503050406030204" pitchFamily="18" charset="0"/>
                          </a:rPr>
                          <m:t>𝑫</m:t>
                        </m:r>
                      </m:sup>
                    </m:sSup>
                    <m:r>
                      <a:rPr lang="en-US" altLang="zh-CN" sz="1210" b="1" i="1" dirty="0">
                        <a:latin typeface="Cambria Math" panose="02040503050406030204" pitchFamily="18" charset="0"/>
                      </a:rPr>
                      <m:t>=</m:t>
                    </m:r>
                    <m:sSub>
                      <m:sSubPr>
                        <m:ctrlPr>
                          <a:rPr lang="en-US" altLang="zh-CN" sz="1210" b="1" i="1">
                            <a:latin typeface="Cambria Math" panose="02040503050406030204" pitchFamily="18" charset="0"/>
                          </a:rPr>
                        </m:ctrlPr>
                      </m:sSubPr>
                      <m:e>
                        <m:r>
                          <a:rPr lang="en-US" altLang="zh-CN" sz="1210" b="1" i="1">
                            <a:latin typeface="Cambria Math" panose="02040503050406030204" pitchFamily="18" charset="0"/>
                          </a:rPr>
                          <m:t>𝑳</m:t>
                        </m:r>
                      </m:e>
                      <m:sub>
                        <m:r>
                          <a:rPr lang="en-US" altLang="zh-CN" sz="1210" b="1" i="1">
                            <a:latin typeface="Cambria Math" panose="02040503050406030204" pitchFamily="18" charset="0"/>
                          </a:rPr>
                          <m:t>𝟏</m:t>
                        </m:r>
                      </m:sub>
                    </m:sSub>
                    <m:d>
                      <m:dPr>
                        <m:ctrlPr>
                          <a:rPr lang="en-US" altLang="zh-CN" sz="1210" b="1" i="1">
                            <a:latin typeface="Cambria Math" panose="02040503050406030204" pitchFamily="18" charset="0"/>
                          </a:rPr>
                        </m:ctrlPr>
                      </m:dPr>
                      <m:e>
                        <m:r>
                          <a:rPr lang="en-US" altLang="zh-CN" sz="1210" b="1" i="1">
                            <a:latin typeface="Cambria Math" panose="02040503050406030204" pitchFamily="18" charset="0"/>
                          </a:rPr>
                          <m:t>𝒚</m:t>
                        </m:r>
                      </m:e>
                    </m:d>
                    <m:r>
                      <a:rPr lang="en-US" altLang="zh-CN" sz="1210" b="1" i="1">
                        <a:latin typeface="Cambria Math" panose="02040503050406030204" pitchFamily="18" charset="0"/>
                      </a:rPr>
                      <m:t>+</m:t>
                    </m:r>
                    <m:sSub>
                      <m:sSubPr>
                        <m:ctrlPr>
                          <a:rPr lang="en-US" altLang="zh-CN" sz="1210" b="1" i="1">
                            <a:latin typeface="Cambria Math" panose="02040503050406030204" pitchFamily="18" charset="0"/>
                          </a:rPr>
                        </m:ctrlPr>
                      </m:sSubPr>
                      <m:e>
                        <m:r>
                          <a:rPr lang="en-US" altLang="zh-CN" sz="1210" b="1" i="1">
                            <a:latin typeface="Cambria Math" panose="02040503050406030204" pitchFamily="18" charset="0"/>
                          </a:rPr>
                          <m:t>𝑳</m:t>
                        </m:r>
                      </m:e>
                      <m:sub>
                        <m:r>
                          <a:rPr lang="en-US" altLang="zh-CN" sz="1210" b="1" i="1">
                            <a:latin typeface="Cambria Math" panose="02040503050406030204" pitchFamily="18" charset="0"/>
                          </a:rPr>
                          <m:t>𝟐</m:t>
                        </m:r>
                      </m:sub>
                    </m:sSub>
                    <m:d>
                      <m:dPr>
                        <m:ctrlPr>
                          <a:rPr lang="en-US" altLang="zh-CN" sz="1210" b="1" i="1">
                            <a:latin typeface="Cambria Math" panose="02040503050406030204" pitchFamily="18" charset="0"/>
                          </a:rPr>
                        </m:ctrlPr>
                      </m:dPr>
                      <m:e>
                        <m:r>
                          <a:rPr lang="en-US" altLang="zh-CN" sz="1210" b="1" i="1">
                            <a:latin typeface="Cambria Math" panose="02040503050406030204" pitchFamily="18" charset="0"/>
                          </a:rPr>
                          <m:t>𝒓</m:t>
                        </m:r>
                      </m:e>
                    </m:d>
                    <m:r>
                      <a:rPr lang="en-US" altLang="zh-CN" sz="1210" b="1" i="1" dirty="0">
                        <a:latin typeface="Cambria Math" panose="02040503050406030204" pitchFamily="18" charset="0"/>
                      </a:rPr>
                      <m:t>=</m:t>
                    </m:r>
                    <m:r>
                      <a:rPr lang="en-US" altLang="zh-CN" sz="1210" b="1" i="1" dirty="0" err="1">
                        <a:latin typeface="Cambria Math" panose="02040503050406030204" pitchFamily="18" charset="0"/>
                      </a:rPr>
                      <m:t>𝒌𝒚</m:t>
                    </m:r>
                    <m:r>
                      <a:rPr lang="en-US" altLang="zh-CN" sz="1210" b="1" i="1" dirty="0" err="1">
                        <a:latin typeface="Cambria Math" panose="02040503050406030204" pitchFamily="18" charset="0"/>
                      </a:rPr>
                      <m:t>−</m:t>
                    </m:r>
                    <m:r>
                      <a:rPr lang="en-US" altLang="zh-CN" sz="1210" b="1" i="1" dirty="0" err="1">
                        <a:latin typeface="Cambria Math" panose="02040503050406030204" pitchFamily="18" charset="0"/>
                      </a:rPr>
                      <m:t>𝒉𝒓</m:t>
                    </m:r>
                    <m:r>
                      <a:rPr lang="en-US" altLang="zh-CN" sz="1210" b="1" i="1" dirty="0">
                        <a:latin typeface="Cambria Math" panose="02040503050406030204" pitchFamily="18" charset="0"/>
                      </a:rPr>
                      <m:t> </m:t>
                    </m:r>
                  </m:oMath>
                </a14:m>
                <a:endParaRPr lang="en-US" altLang="zh-CN" sz="1210" b="1" dirty="0"/>
              </a:p>
              <a:p>
                <a:pPr lvl="1"/>
                <a14:m>
                  <m:oMath xmlns:m="http://schemas.openxmlformats.org/officeDocument/2006/math">
                    <m:r>
                      <a:rPr lang="en-US" altLang="zh-CN" sz="1159" i="1">
                        <a:latin typeface="Cambria Math" panose="02040503050406030204" pitchFamily="18" charset="0"/>
                      </a:rPr>
                      <m:t>𝐿</m:t>
                    </m:r>
                    <m:r>
                      <a:rPr lang="en-US" altLang="zh-CN" sz="1159">
                        <a:latin typeface="Cambria Math" panose="02040503050406030204" pitchFamily="18" charset="0"/>
                      </a:rPr>
                      <m:t>,</m:t>
                    </m:r>
                    <m:sSub>
                      <m:sSubPr>
                        <m:ctrlPr>
                          <a:rPr lang="en-US" altLang="zh-CN" sz="1159" i="1">
                            <a:latin typeface="Cambria Math" panose="02040503050406030204" pitchFamily="18" charset="0"/>
                          </a:rPr>
                        </m:ctrlPr>
                      </m:sSubPr>
                      <m:e>
                        <m:r>
                          <a:rPr lang="en-US" altLang="zh-CN" sz="1159" i="1">
                            <a:latin typeface="Cambria Math" panose="02040503050406030204" pitchFamily="18" charset="0"/>
                          </a:rPr>
                          <m:t>𝐿</m:t>
                        </m:r>
                      </m:e>
                      <m:sub>
                        <m:r>
                          <a:rPr lang="en-US" altLang="zh-CN" sz="1159" i="1">
                            <a:latin typeface="Cambria Math" panose="02040503050406030204" pitchFamily="18" charset="0"/>
                          </a:rPr>
                          <m:t>1</m:t>
                        </m:r>
                      </m:sub>
                    </m:sSub>
                    <m:r>
                      <a:rPr lang="en-US" altLang="zh-CN" sz="1159" i="1">
                        <a:latin typeface="Cambria Math" panose="02040503050406030204" pitchFamily="18" charset="0"/>
                      </a:rPr>
                      <m:t>,</m:t>
                    </m:r>
                    <m:sSub>
                      <m:sSubPr>
                        <m:ctrlPr>
                          <a:rPr lang="en-US" altLang="zh-CN" sz="1159" i="1">
                            <a:latin typeface="Cambria Math" panose="02040503050406030204" pitchFamily="18" charset="0"/>
                          </a:rPr>
                        </m:ctrlPr>
                      </m:sSubPr>
                      <m:e>
                        <m:r>
                          <a:rPr lang="en-US" altLang="zh-CN" sz="1159" i="1">
                            <a:latin typeface="Cambria Math" panose="02040503050406030204" pitchFamily="18" charset="0"/>
                          </a:rPr>
                          <m:t>𝐿</m:t>
                        </m:r>
                      </m:e>
                      <m:sub>
                        <m:r>
                          <a:rPr lang="en-US" altLang="zh-CN" sz="1159" i="1">
                            <a:latin typeface="Cambria Math" panose="02040503050406030204" pitchFamily="18" charset="0"/>
                          </a:rPr>
                          <m:t>2</m:t>
                        </m:r>
                      </m:sub>
                    </m:sSub>
                  </m:oMath>
                </a14:m>
                <a:r>
                  <a:rPr lang="zh-CN" altLang="en-US" sz="1159" dirty="0"/>
                  <a:t>都是代表对货币的</a:t>
                </a:r>
                <a:r>
                  <a:rPr lang="zh-CN" altLang="en-US" sz="1159" b="1" dirty="0"/>
                  <a:t>实际需求</a:t>
                </a:r>
                <a:r>
                  <a:rPr lang="zh-CN" altLang="en-US" sz="1159" dirty="0"/>
                  <a:t>，即具有</a:t>
                </a:r>
                <a:r>
                  <a:rPr lang="zh-CN" altLang="en-US" sz="1159" b="1" dirty="0"/>
                  <a:t>不变购买力</a:t>
                </a:r>
                <a:r>
                  <a:rPr lang="zh-CN" altLang="en-US" sz="1159" dirty="0"/>
                  <a:t>的</a:t>
                </a:r>
                <a:r>
                  <a:rPr lang="zh-CN" altLang="en-US" sz="1159" b="1" dirty="0"/>
                  <a:t>实际货币</a:t>
                </a:r>
                <a:r>
                  <a:rPr lang="zh-CN" altLang="en-US" sz="1159" dirty="0"/>
                  <a:t>需求量。式中</a:t>
                </a:r>
                <a14:m>
                  <m:oMath xmlns:m="http://schemas.openxmlformats.org/officeDocument/2006/math">
                    <m:r>
                      <a:rPr lang="en-US" altLang="zh-CN" sz="1159">
                        <a:latin typeface="Cambria Math" panose="02040503050406030204" pitchFamily="18" charset="0"/>
                      </a:rPr>
                      <m:t>𝑘</m:t>
                    </m:r>
                  </m:oMath>
                </a14:m>
                <a:r>
                  <a:rPr lang="zh-CN" altLang="en-US" sz="1159" dirty="0"/>
                  <a:t>和</a:t>
                </a:r>
                <a14:m>
                  <m:oMath xmlns:m="http://schemas.openxmlformats.org/officeDocument/2006/math">
                    <m:r>
                      <a:rPr lang="en-US" altLang="zh-CN" sz="1159">
                        <a:latin typeface="Cambria Math" panose="02040503050406030204" pitchFamily="18" charset="0"/>
                      </a:rPr>
                      <m:t>h</m:t>
                    </m:r>
                  </m:oMath>
                </a14:m>
                <a:r>
                  <a:rPr lang="zh-CN" altLang="en-US" sz="1159" dirty="0"/>
                  <a:t>是常数。</a:t>
                </a:r>
                <a:endParaRPr lang="en-US" altLang="zh-CN" sz="1159" dirty="0"/>
              </a:p>
              <a:p>
                <a:pPr lvl="1"/>
                <a14:m>
                  <m:oMath xmlns:m="http://schemas.openxmlformats.org/officeDocument/2006/math">
                    <m:r>
                      <a:rPr lang="en-US" altLang="zh-CN" sz="1159">
                        <a:latin typeface="Cambria Math" panose="02040503050406030204" pitchFamily="18" charset="0"/>
                      </a:rPr>
                      <m:t>𝑘</m:t>
                    </m:r>
                  </m:oMath>
                </a14:m>
                <a:r>
                  <a:rPr lang="zh-CN" altLang="en-US" sz="1159" dirty="0"/>
                  <a:t>衡量货币需求对收入变化的敏感程度，</a:t>
                </a:r>
                <a14:m>
                  <m:oMath xmlns:m="http://schemas.openxmlformats.org/officeDocument/2006/math">
                    <m:r>
                      <a:rPr lang="en-US" altLang="zh-CN" sz="1159">
                        <a:latin typeface="Cambria Math" panose="02040503050406030204" pitchFamily="18" charset="0"/>
                      </a:rPr>
                      <m:t>h</m:t>
                    </m:r>
                  </m:oMath>
                </a14:m>
                <a:r>
                  <a:rPr lang="zh-CN" altLang="en-US" sz="1159" dirty="0"/>
                  <a:t>衡量货币需求对利率变化的敏感程度。</a:t>
                </a:r>
              </a:p>
              <a:p>
                <a:r>
                  <a:rPr lang="zh-CN" altLang="en-US" sz="1210" b="1" dirty="0"/>
                  <a:t>名义货币需求</a:t>
                </a:r>
                <a14:m>
                  <m:oMath xmlns:m="http://schemas.openxmlformats.org/officeDocument/2006/math">
                    <m:sSup>
                      <m:sSupPr>
                        <m:ctrlPr>
                          <a:rPr lang="en-US" altLang="zh-CN" sz="1210" b="1" i="1" dirty="0">
                            <a:latin typeface="Cambria Math" panose="02040503050406030204" pitchFamily="18" charset="0"/>
                          </a:rPr>
                        </m:ctrlPr>
                      </m:sSupPr>
                      <m:e>
                        <m:r>
                          <a:rPr lang="en-US" altLang="zh-CN" sz="1210" b="1" i="1" dirty="0">
                            <a:latin typeface="Cambria Math" panose="02040503050406030204" pitchFamily="18" charset="0"/>
                          </a:rPr>
                          <m:t>𝑴</m:t>
                        </m:r>
                      </m:e>
                      <m:sup>
                        <m:r>
                          <a:rPr lang="en-US" altLang="zh-CN" sz="1210" b="1" i="1" dirty="0">
                            <a:latin typeface="Cambria Math" panose="02040503050406030204" pitchFamily="18" charset="0"/>
                          </a:rPr>
                          <m:t>𝒅</m:t>
                        </m:r>
                      </m:sup>
                    </m:sSup>
                    <m:r>
                      <a:rPr lang="en-US" altLang="zh-CN" sz="1210" b="1" i="1" dirty="0">
                        <a:latin typeface="Cambria Math" panose="02040503050406030204" pitchFamily="18" charset="0"/>
                      </a:rPr>
                      <m:t>=</m:t>
                    </m:r>
                    <m:r>
                      <a:rPr lang="en-US" altLang="zh-CN" sz="1210" b="1" i="1" dirty="0">
                        <a:latin typeface="Cambria Math" panose="02040503050406030204" pitchFamily="18" charset="0"/>
                      </a:rPr>
                      <m:t>𝑴</m:t>
                    </m:r>
                    <m:r>
                      <a:rPr lang="zh-CN" altLang="en-US" sz="1210" b="1" i="1" dirty="0">
                        <a:latin typeface="Cambria Math" panose="02040503050406030204" pitchFamily="18" charset="0"/>
                      </a:rPr>
                      <m:t>（</m:t>
                    </m:r>
                    <m:r>
                      <a:rPr lang="en-US" altLang="zh-CN" sz="1210" b="1" i="1" dirty="0">
                        <a:latin typeface="Cambria Math" panose="02040503050406030204" pitchFamily="18" charset="0"/>
                      </a:rPr>
                      <m:t>𝒓</m:t>
                    </m:r>
                    <m:r>
                      <a:rPr lang="zh-CN" altLang="en-US" sz="1210" b="1" i="1" dirty="0">
                        <a:latin typeface="Cambria Math" panose="02040503050406030204" pitchFamily="18" charset="0"/>
                      </a:rPr>
                      <m:t>，</m:t>
                    </m:r>
                    <m:r>
                      <a:rPr lang="en-US" altLang="zh-CN" sz="1210" b="1" i="1" dirty="0">
                        <a:latin typeface="Cambria Math" panose="02040503050406030204" pitchFamily="18" charset="0"/>
                      </a:rPr>
                      <m:t>𝒀</m:t>
                    </m:r>
                    <m:r>
                      <a:rPr lang="zh-CN" altLang="en-US" sz="1210" b="1" i="1" dirty="0">
                        <a:latin typeface="Cambria Math" panose="02040503050406030204" pitchFamily="18" charset="0"/>
                      </a:rPr>
                      <m:t>，</m:t>
                    </m:r>
                    <m:r>
                      <a:rPr lang="en-US" altLang="zh-CN" sz="1210" b="1" i="1" dirty="0">
                        <a:latin typeface="Cambria Math" panose="02040503050406030204" pitchFamily="18" charset="0"/>
                      </a:rPr>
                      <m:t>𝑷</m:t>
                    </m:r>
                    <m:r>
                      <a:rPr lang="zh-CN" altLang="en-US" sz="1210" b="1" i="1" dirty="0">
                        <a:latin typeface="Cambria Math" panose="02040503050406030204" pitchFamily="18" charset="0"/>
                      </a:rPr>
                      <m:t>）</m:t>
                    </m:r>
                    <m:r>
                      <a:rPr lang="en-US" altLang="zh-CN" sz="1210" b="0" i="0" smtClean="0">
                        <a:latin typeface="Cambria Math" panose="02040503050406030204" pitchFamily="18" charset="0"/>
                      </a:rPr>
                      <m:t>=</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𝑘𝑦</m:t>
                        </m:r>
                        <m:r>
                          <a:rPr lang="en-US" altLang="zh-CN" sz="1210" i="1">
                            <a:latin typeface="Cambria Math" panose="02040503050406030204" pitchFamily="18" charset="0"/>
                          </a:rPr>
                          <m:t>−</m:t>
                        </m:r>
                        <m:r>
                          <a:rPr lang="en-US" altLang="zh-CN" sz="1210" i="1">
                            <a:latin typeface="Cambria Math" panose="02040503050406030204" pitchFamily="18" charset="0"/>
                          </a:rPr>
                          <m:t>h𝑟</m:t>
                        </m:r>
                      </m:e>
                    </m:d>
                    <m:r>
                      <a:rPr lang="en-US" altLang="zh-CN" sz="1210" i="1">
                        <a:latin typeface="Cambria Math" panose="02040503050406030204" pitchFamily="18" charset="0"/>
                      </a:rPr>
                      <m:t>𝑃</m:t>
                    </m:r>
                  </m:oMath>
                </a14:m>
                <a:endParaRPr lang="en-US" altLang="zh-CN" sz="1210" b="1"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6435" y="471047"/>
                <a:ext cx="4186776" cy="2483464"/>
              </a:xfrm>
              <a:blipFill>
                <a:blip r:embed="rId2"/>
                <a:stretch>
                  <a:fillRect l="-302"/>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6DE5939F-7261-49CF-922D-49F8F179E6D8}"/>
              </a:ext>
            </a:extLst>
          </p:cNvPr>
          <p:cNvSpPr>
            <a:spLocks noGrp="1"/>
          </p:cNvSpPr>
          <p:nvPr>
            <p:ph type="title"/>
          </p:nvPr>
        </p:nvSpPr>
        <p:spPr/>
        <p:txBody>
          <a:bodyPr/>
          <a:lstStyle/>
          <a:p>
            <a:r>
              <a:rPr kumimoji="1" lang="zh-CN" altLang="en-US" dirty="0"/>
              <a:t>货币需求函数</a:t>
            </a:r>
          </a:p>
        </p:txBody>
      </p:sp>
      <p:sp>
        <p:nvSpPr>
          <p:cNvPr id="2" name="灯片编号占位符 2">
            <a:extLst>
              <a:ext uri="{FF2B5EF4-FFF2-40B4-BE49-F238E27FC236}">
                <a16:creationId xmlns:a16="http://schemas.microsoft.com/office/drawing/2014/main" id="{A9D94131-1348-F4F2-2208-5A341040715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47</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36C767D4-0798-2563-9199-225311EAF08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059358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430" y="650255"/>
            <a:ext cx="2116964" cy="254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482808" y="3099073"/>
            <a:ext cx="1872208" cy="230832"/>
          </a:xfrm>
          <a:prstGeom prst="rect">
            <a:avLst/>
          </a:prstGeom>
        </p:spPr>
        <p:txBody>
          <a:bodyPr wrap="square">
            <a:spAutoFit/>
          </a:bodyPr>
          <a:lstStyle/>
          <a:p>
            <a:pPr algn="ctr"/>
            <a:r>
              <a:rPr lang="zh-CN" altLang="en-US" sz="900" b="1" dirty="0">
                <a:latin typeface="KaiTi" panose="02010609060101010101" pitchFamily="49" charset="-122"/>
                <a:ea typeface="KaiTi" panose="02010609060101010101" pitchFamily="49" charset="-122"/>
              </a:rPr>
              <a:t>货币需求曲线</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88826" y="650255"/>
                <a:ext cx="2232248" cy="2287505"/>
              </a:xfrm>
            </p:spPr>
            <p:txBody>
              <a:bodyPr/>
              <a:lstStyle/>
              <a:p>
                <a:r>
                  <a:rPr lang="zh-CN" altLang="en-US" sz="1000" dirty="0"/>
                  <a:t>图</a:t>
                </a:r>
                <a:r>
                  <a:rPr lang="en-US" altLang="zh-CN" sz="1000" dirty="0"/>
                  <a:t>(a)</a:t>
                </a:r>
                <a:r>
                  <a:rPr lang="zh-CN" altLang="en-US" sz="1000" dirty="0"/>
                  <a:t>中的</a:t>
                </a:r>
                <a14:m>
                  <m:oMath xmlns:m="http://schemas.openxmlformats.org/officeDocument/2006/math">
                    <m:sSub>
                      <m:sSubPr>
                        <m:ctrlPr>
                          <a:rPr lang="en-US" altLang="zh-CN" sz="1000" i="1">
                            <a:latin typeface="Cambria Math" panose="02040503050406030204" pitchFamily="18" charset="0"/>
                          </a:rPr>
                        </m:ctrlPr>
                      </m:sSubPr>
                      <m:e>
                        <m:r>
                          <a:rPr lang="en-US" altLang="zh-CN" sz="1000" i="1">
                            <a:latin typeface="Cambria Math" panose="02040503050406030204" pitchFamily="18" charset="0"/>
                          </a:rPr>
                          <m:t>𝐿</m:t>
                        </m:r>
                      </m:e>
                      <m:sub>
                        <m:r>
                          <a:rPr lang="en-US" altLang="zh-CN" sz="1000" i="1">
                            <a:latin typeface="Cambria Math" panose="02040503050406030204" pitchFamily="18" charset="0"/>
                          </a:rPr>
                          <m:t>1</m:t>
                        </m:r>
                      </m:sub>
                    </m:sSub>
                  </m:oMath>
                </a14:m>
                <a:r>
                  <a:rPr lang="zh-CN" altLang="en-US" sz="1000" dirty="0"/>
                  <a:t>表示为满足交易动机和谨慎动机的货币需求曲线，它与利率无关。</a:t>
                </a:r>
                <a:endParaRPr lang="en-US" altLang="zh-CN" sz="1000" dirty="0"/>
              </a:p>
              <a:p>
                <a14:m>
                  <m:oMath xmlns:m="http://schemas.openxmlformats.org/officeDocument/2006/math">
                    <m:sSub>
                      <m:sSubPr>
                        <m:ctrlPr>
                          <a:rPr lang="en-US" altLang="zh-CN" sz="1000" i="1">
                            <a:latin typeface="Cambria Math" panose="02040503050406030204" pitchFamily="18" charset="0"/>
                          </a:rPr>
                        </m:ctrlPr>
                      </m:sSubPr>
                      <m:e>
                        <m:r>
                          <a:rPr lang="en-US" altLang="zh-CN" sz="1000" i="1">
                            <a:latin typeface="Cambria Math" panose="02040503050406030204" pitchFamily="18" charset="0"/>
                          </a:rPr>
                          <m:t>𝐿</m:t>
                        </m:r>
                      </m:e>
                      <m:sub>
                        <m:r>
                          <a:rPr lang="en-US" altLang="zh-CN" sz="1000" i="1">
                            <a:latin typeface="Cambria Math" panose="02040503050406030204" pitchFamily="18" charset="0"/>
                          </a:rPr>
                          <m:t>2</m:t>
                        </m:r>
                      </m:sub>
                    </m:sSub>
                    <m:r>
                      <a:rPr lang="zh-CN" altLang="en-US" sz="1000" i="1">
                        <a:latin typeface="Cambria Math" panose="02040503050406030204" pitchFamily="18" charset="0"/>
                      </a:rPr>
                      <m:t>表示</m:t>
                    </m:r>
                  </m:oMath>
                </a14:m>
                <a:r>
                  <a:rPr lang="zh-CN" altLang="en-US" sz="1000" dirty="0"/>
                  <a:t>满足投机动机的货币需求曲线，起初向下倾斜，表示货币的投机需求量随利率下降而增加，最后为水平状，表示</a:t>
                </a:r>
                <a:r>
                  <a:rPr lang="en-US" altLang="zh-CN" sz="1000" dirty="0"/>
                  <a:t>”</a:t>
                </a:r>
                <a:r>
                  <a:rPr lang="zh-CN" altLang="en-US" sz="1000" dirty="0"/>
                  <a:t>流动偏好陷阱</a:t>
                </a:r>
                <a:r>
                  <a:rPr lang="en-US" altLang="zh-CN" sz="1000" dirty="0"/>
                  <a:t>”</a:t>
                </a:r>
                <a:r>
                  <a:rPr lang="zh-CN" altLang="en-US" sz="1000" dirty="0"/>
                  <a:t>。</a:t>
                </a:r>
                <a:endParaRPr lang="en-US" altLang="zh-CN" sz="1000" dirty="0"/>
              </a:p>
              <a:p>
                <a:r>
                  <a:rPr lang="zh-CN" altLang="en-US" sz="1000" dirty="0"/>
                  <a:t>由于具有不变购买力的实际货币一般用</a:t>
                </a:r>
                <a:r>
                  <a:rPr lang="en-US" altLang="zh-CN" sz="1000" dirty="0"/>
                  <a:t>m</a:t>
                </a:r>
                <a:r>
                  <a:rPr lang="zh-CN" altLang="en-US" sz="1000" dirty="0"/>
                  <a:t>表示，因此横轴也可用</a:t>
                </a:r>
                <a:r>
                  <a:rPr lang="en-US" altLang="zh-CN" sz="1000" dirty="0"/>
                  <a:t>m</a:t>
                </a:r>
                <a:r>
                  <a:rPr lang="zh-CN" altLang="en-US" sz="1000" dirty="0"/>
                  <a:t>表示。</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88826" y="650255"/>
                <a:ext cx="2232248" cy="2287505"/>
              </a:xfrm>
              <a:blipFill>
                <a:blip r:embed="rId3"/>
                <a:stretch>
                  <a:fillRect t="-1105" r="-565"/>
                </a:stretch>
              </a:blipFill>
            </p:spPr>
            <p:txBody>
              <a:bodyPr/>
              <a:lstStyle/>
              <a:p>
                <a:r>
                  <a:rPr lang="zh-CN" altLang="en-US">
                    <a:noFill/>
                  </a:rPr>
                  <a:t> </a:t>
                </a:r>
              </a:p>
            </p:txBody>
          </p:sp>
        </mc:Fallback>
      </mc:AlternateContent>
      <p:sp>
        <p:nvSpPr>
          <p:cNvPr id="2" name="灯片编号占位符 2">
            <a:extLst>
              <a:ext uri="{FF2B5EF4-FFF2-40B4-BE49-F238E27FC236}">
                <a16:creationId xmlns:a16="http://schemas.microsoft.com/office/drawing/2014/main" id="{868F9887-2223-0530-E6C0-8ABD672250D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48</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35C0971D-2D46-36AD-12BD-1E04861FF41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
        <p:nvSpPr>
          <p:cNvPr id="5" name="标题 3">
            <a:extLst>
              <a:ext uri="{FF2B5EF4-FFF2-40B4-BE49-F238E27FC236}">
                <a16:creationId xmlns:a16="http://schemas.microsoft.com/office/drawing/2014/main" id="{09B1831A-25B5-CA34-A39A-B6AACD357B5C}"/>
              </a:ext>
            </a:extLst>
          </p:cNvPr>
          <p:cNvSpPr>
            <a:spLocks noGrp="1"/>
          </p:cNvSpPr>
          <p:nvPr>
            <p:ph type="title"/>
          </p:nvPr>
        </p:nvSpPr>
        <p:spPr>
          <a:xfrm>
            <a:off x="172879" y="127376"/>
            <a:ext cx="4240332" cy="343671"/>
          </a:xfrm>
        </p:spPr>
        <p:txBody>
          <a:bodyPr/>
          <a:lstStyle/>
          <a:p>
            <a:r>
              <a:rPr kumimoji="1" lang="zh-CN" altLang="en-US" dirty="0"/>
              <a:t>货币需求曲线</a:t>
            </a:r>
          </a:p>
        </p:txBody>
      </p:sp>
    </p:spTree>
    <p:extLst>
      <p:ext uri="{BB962C8B-B14F-4D97-AF65-F5344CB8AC3E}">
        <p14:creationId xmlns:p14="http://schemas.microsoft.com/office/powerpoint/2010/main" val="27325617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1998" y="472568"/>
            <a:ext cx="3976211" cy="227856"/>
          </a:xfrm>
        </p:spPr>
        <p:txBody>
          <a:bodyPr/>
          <a:lstStyle/>
          <a:p>
            <a:r>
              <a:rPr lang="zh-CN" altLang="en-US" sz="1008" dirty="0"/>
              <a:t>下图表示的是货币需求量和收入水平的正向关系：</a:t>
            </a:r>
          </a:p>
        </p:txBody>
      </p:sp>
      <p:pic>
        <p:nvPicPr>
          <p:cNvPr id="7" name="Picture 4" descr="xf1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469" y="676461"/>
            <a:ext cx="3667271" cy="2137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532451" y="2840113"/>
            <a:ext cx="1595309" cy="246221"/>
          </a:xfrm>
          <a:prstGeom prst="rect">
            <a:avLst/>
          </a:prstGeom>
        </p:spPr>
        <p:txBody>
          <a:bodyPr wrap="none">
            <a:spAutoFit/>
          </a:bodyPr>
          <a:lstStyle/>
          <a:p>
            <a:pPr algn="ctr" eaLnBrk="1" hangingPunct="1">
              <a:spcBef>
                <a:spcPct val="50000"/>
              </a:spcBef>
            </a:pPr>
            <a:r>
              <a:rPr lang="zh-CN" altLang="en-US" sz="1000" b="1" dirty="0">
                <a:latin typeface="KaiTi" panose="02010609060101010101" pitchFamily="49" charset="-122"/>
                <a:ea typeface="KaiTi" panose="02010609060101010101" pitchFamily="49" charset="-122"/>
              </a:rPr>
              <a:t>不同收入的货币需求曲线</a:t>
            </a:r>
          </a:p>
        </p:txBody>
      </p:sp>
      <p:sp>
        <p:nvSpPr>
          <p:cNvPr id="2" name="灯片编号占位符 2">
            <a:extLst>
              <a:ext uri="{FF2B5EF4-FFF2-40B4-BE49-F238E27FC236}">
                <a16:creationId xmlns:a16="http://schemas.microsoft.com/office/drawing/2014/main" id="{4C6DF398-CF91-9084-2DBD-96A40A22D9C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49</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1F5B0CA-BC44-960C-0018-5A722D333AB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
        <p:nvSpPr>
          <p:cNvPr id="5" name="标题 3">
            <a:extLst>
              <a:ext uri="{FF2B5EF4-FFF2-40B4-BE49-F238E27FC236}">
                <a16:creationId xmlns:a16="http://schemas.microsoft.com/office/drawing/2014/main" id="{AC17DB6A-D085-E2E6-2680-46B7A68185BD}"/>
              </a:ext>
            </a:extLst>
          </p:cNvPr>
          <p:cNvSpPr>
            <a:spLocks noGrp="1"/>
          </p:cNvSpPr>
          <p:nvPr>
            <p:ph type="title"/>
          </p:nvPr>
        </p:nvSpPr>
        <p:spPr>
          <a:xfrm>
            <a:off x="172879" y="127376"/>
            <a:ext cx="4240332" cy="343671"/>
          </a:xfrm>
        </p:spPr>
        <p:txBody>
          <a:bodyPr/>
          <a:lstStyle/>
          <a:p>
            <a:r>
              <a:rPr kumimoji="1" lang="zh-CN" altLang="en-US" dirty="0"/>
              <a:t>不同收入水平下的货币需求曲线</a:t>
            </a:r>
          </a:p>
        </p:txBody>
      </p:sp>
    </p:spTree>
    <p:extLst>
      <p:ext uri="{BB962C8B-B14F-4D97-AF65-F5344CB8AC3E}">
        <p14:creationId xmlns:p14="http://schemas.microsoft.com/office/powerpoint/2010/main" val="39692656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货币市场均衡</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50</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EAED102-B291-5FC9-7E7A-405192AFECE6}"/>
                  </a:ext>
                </a:extLst>
              </p:cNvPr>
              <p:cNvSpPr txBox="1"/>
              <p:nvPr/>
            </p:nvSpPr>
            <p:spPr>
              <a:xfrm>
                <a:off x="405199" y="722263"/>
                <a:ext cx="1582937" cy="604396"/>
              </a:xfrm>
              <a:prstGeom prst="rect">
                <a:avLst/>
              </a:prstGeom>
              <a:solidFill>
                <a:schemeClr val="accent6">
                  <a:lumMod val="20000"/>
                  <a:lumOff val="80000"/>
                </a:schemeClr>
              </a:solidFill>
            </p:spPr>
            <p:txBody>
              <a:bodyPr wrap="square">
                <a:spAutoFit/>
              </a:bodyPr>
              <a:lstStyle/>
              <a:p>
                <a:pPr marL="0" lvl="1"/>
                <a:r>
                  <a:rPr lang="zh-CN" altLang="en-US" sz="1100" dirty="0">
                    <a:latin typeface="SimSun" panose="02010600030101010101" pitchFamily="2" charset="-122"/>
                    <a:ea typeface="SimSun" panose="02010600030101010101" pitchFamily="2" charset="-122"/>
                  </a:rPr>
                  <a:t>实际货币（余额）供给</a:t>
                </a:r>
                <a:endParaRPr lang="en-US" altLang="zh-CN" sz="1100" dirty="0">
                  <a:latin typeface="SimSun" panose="02010600030101010101" pitchFamily="2" charset="-122"/>
                  <a:ea typeface="SimSun" panose="02010600030101010101" pitchFamily="2" charset="-122"/>
                </a:endParaRPr>
              </a:p>
              <a:p>
                <a:pPr marL="0" lvl="1"/>
                <a14:m>
                  <m:oMathPara xmlns:m="http://schemas.openxmlformats.org/officeDocument/2006/math">
                    <m:oMathParaPr>
                      <m:jc m:val="centerGroup"/>
                    </m:oMathParaPr>
                    <m:oMath xmlns:m="http://schemas.openxmlformats.org/officeDocument/2006/math">
                      <m:sSup>
                        <m:sSupPr>
                          <m:ctrlPr>
                            <a:rPr lang="en-US" altLang="zh-CN" sz="1100" b="0" i="1" smtClean="0">
                              <a:latin typeface="Cambria Math" panose="02040503050406030204" pitchFamily="18" charset="0"/>
                            </a:rPr>
                          </m:ctrlPr>
                        </m:sSupPr>
                        <m:e>
                          <m:r>
                            <a:rPr lang="en-US" altLang="zh-CN" sz="1100" b="0" i="1" smtClean="0">
                              <a:latin typeface="Cambria Math" panose="02040503050406030204" pitchFamily="18" charset="0"/>
                            </a:rPr>
                            <m:t>(</m:t>
                          </m:r>
                          <m:f>
                            <m:fPr>
                              <m:ctrlPr>
                                <a:rPr lang="en-US" altLang="zh-CN" sz="1100" b="0" i="1" smtClean="0">
                                  <a:latin typeface="Cambria Math" panose="02040503050406030204" pitchFamily="18" charset="0"/>
                                </a:rPr>
                              </m:ctrlPr>
                            </m:fPr>
                            <m:num>
                              <m:r>
                                <a:rPr lang="en-US" altLang="zh-CN" sz="1100" b="0" i="1" smtClean="0">
                                  <a:latin typeface="Cambria Math" panose="02040503050406030204" pitchFamily="18" charset="0"/>
                                </a:rPr>
                                <m:t>𝑀</m:t>
                              </m:r>
                            </m:num>
                            <m:den>
                              <m:r>
                                <m:rPr>
                                  <m:sty m:val="p"/>
                                </m:rPr>
                                <a:rPr lang="en-US" altLang="zh-CN" sz="1100" i="1">
                                  <a:latin typeface="Cambria Math" panose="02040503050406030204" pitchFamily="18" charset="0"/>
                                </a:rPr>
                                <m:t>P</m:t>
                              </m:r>
                            </m:den>
                          </m:f>
                          <m:r>
                            <a:rPr lang="en-US" altLang="zh-CN" sz="1100" b="0" i="1" smtClean="0">
                              <a:latin typeface="Cambria Math" panose="02040503050406030204" pitchFamily="18" charset="0"/>
                            </a:rPr>
                            <m:t>)</m:t>
                          </m:r>
                        </m:e>
                        <m:sup>
                          <m:r>
                            <a:rPr lang="en-US" altLang="zh-CN" sz="1100" b="0" i="1" smtClean="0">
                              <a:latin typeface="Cambria Math" panose="02040503050406030204" pitchFamily="18" charset="0"/>
                            </a:rPr>
                            <m:t>𝑆</m:t>
                          </m:r>
                        </m:sup>
                      </m:sSup>
                      <m:r>
                        <a:rPr lang="en-US" altLang="zh-CN" sz="1100" b="0" i="1" smtClean="0">
                          <a:latin typeface="Cambria Math" panose="02040503050406030204" pitchFamily="18" charset="0"/>
                        </a:rPr>
                        <m:t>=</m:t>
                      </m:r>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oMath>
                  </m:oMathPara>
                </a14:m>
                <a:endParaRPr lang="en-US" altLang="zh-CN" sz="1100" b="0" dirty="0">
                  <a:latin typeface="SimSun" panose="02010600030101010101" pitchFamily="2" charset="-122"/>
                  <a:ea typeface="SimSun" panose="02010600030101010101" pitchFamily="2" charset="-122"/>
                </a:endParaRPr>
              </a:p>
            </p:txBody>
          </p:sp>
        </mc:Choice>
        <mc:Fallback xmlns="">
          <p:sp>
            <p:nvSpPr>
              <p:cNvPr id="10" name="文本框 9">
                <a:extLst>
                  <a:ext uri="{FF2B5EF4-FFF2-40B4-BE49-F238E27FC236}">
                    <a16:creationId xmlns:a16="http://schemas.microsoft.com/office/drawing/2014/main" id="{2EAED102-B291-5FC9-7E7A-405192AFECE6}"/>
                  </a:ext>
                </a:extLst>
              </p:cNvPr>
              <p:cNvSpPr txBox="1">
                <a:spLocks noRot="1" noChangeAspect="1" noMove="1" noResize="1" noEditPoints="1" noAdjustHandles="1" noChangeArrowheads="1" noChangeShapeType="1" noTextEdit="1"/>
              </p:cNvSpPr>
              <p:nvPr/>
            </p:nvSpPr>
            <p:spPr>
              <a:xfrm>
                <a:off x="405199" y="722263"/>
                <a:ext cx="1582937" cy="60439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C712EF4-5EA9-9F32-0C68-3776C802058D}"/>
                  </a:ext>
                </a:extLst>
              </p:cNvPr>
              <p:cNvSpPr txBox="1"/>
              <p:nvPr/>
            </p:nvSpPr>
            <p:spPr>
              <a:xfrm>
                <a:off x="2601245" y="722263"/>
                <a:ext cx="1582937" cy="577402"/>
              </a:xfrm>
              <a:prstGeom prst="rect">
                <a:avLst/>
              </a:prstGeom>
              <a:solidFill>
                <a:schemeClr val="accent6">
                  <a:lumMod val="20000"/>
                  <a:lumOff val="80000"/>
                </a:schemeClr>
              </a:solidFill>
            </p:spPr>
            <p:txBody>
              <a:bodyPr wrap="square">
                <a:spAutoFit/>
              </a:bodyPr>
              <a:lstStyle/>
              <a:p>
                <a:pPr marL="0" lvl="1"/>
                <a:r>
                  <a:rPr lang="zh-CN" altLang="en-US" sz="1100" dirty="0">
                    <a:latin typeface="SimSun" panose="02010600030101010101" pitchFamily="2" charset="-122"/>
                    <a:ea typeface="SimSun" panose="02010600030101010101" pitchFamily="2" charset="-122"/>
                  </a:rPr>
                  <a:t>实际货币（余额）需求</a:t>
                </a:r>
                <a:endParaRPr lang="en-US" altLang="zh-CN" sz="1100" dirty="0">
                  <a:latin typeface="SimSun" panose="02010600030101010101" pitchFamily="2" charset="-122"/>
                  <a:ea typeface="SimSun" panose="02010600030101010101" pitchFamily="2" charset="-122"/>
                </a:endParaRPr>
              </a:p>
              <a:p>
                <a:pPr marL="0" lvl="1"/>
                <a14:m>
                  <m:oMathPara xmlns:m="http://schemas.openxmlformats.org/officeDocument/2006/math">
                    <m:oMathParaPr>
                      <m:jc m:val="centerGroup"/>
                    </m:oMathParaPr>
                    <m:oMath xmlns:m="http://schemas.openxmlformats.org/officeDocument/2006/math">
                      <m:sSup>
                        <m:sSupPr>
                          <m:ctrlPr>
                            <a:rPr lang="en-US" altLang="zh-CN" sz="1100" b="1" i="1" dirty="0">
                              <a:latin typeface="Cambria Math" panose="02040503050406030204" pitchFamily="18" charset="0"/>
                            </a:rPr>
                          </m:ctrlPr>
                        </m:sSupPr>
                        <m:e>
                          <m:r>
                            <a:rPr lang="en-US" altLang="zh-CN" sz="1100" b="1" i="1" dirty="0">
                              <a:latin typeface="Cambria Math" panose="02040503050406030204" pitchFamily="18" charset="0"/>
                            </a:rPr>
                            <m:t>(</m:t>
                          </m:r>
                          <m:f>
                            <m:fPr>
                              <m:ctrlPr>
                                <a:rPr lang="en-US" altLang="zh-CN" sz="1100" b="1" i="1" dirty="0">
                                  <a:latin typeface="Cambria Math" panose="02040503050406030204" pitchFamily="18" charset="0"/>
                                </a:rPr>
                              </m:ctrlPr>
                            </m:fPr>
                            <m:num>
                              <m:r>
                                <a:rPr lang="en-US" altLang="zh-CN" sz="1100" b="1" i="1" dirty="0">
                                  <a:latin typeface="Cambria Math" panose="02040503050406030204" pitchFamily="18" charset="0"/>
                                </a:rPr>
                                <m:t>𝑴</m:t>
                              </m:r>
                            </m:num>
                            <m:den>
                              <m:r>
                                <a:rPr lang="en-US" altLang="zh-CN" sz="1100" b="1" i="1" dirty="0">
                                  <a:latin typeface="Cambria Math" panose="02040503050406030204" pitchFamily="18" charset="0"/>
                                </a:rPr>
                                <m:t>𝑷</m:t>
                              </m:r>
                            </m:den>
                          </m:f>
                          <m:r>
                            <a:rPr lang="en-US" altLang="zh-CN" sz="1100" b="1" i="1" dirty="0">
                              <a:latin typeface="Cambria Math" panose="02040503050406030204" pitchFamily="18" charset="0"/>
                            </a:rPr>
                            <m:t>)</m:t>
                          </m:r>
                        </m:e>
                        <m:sup>
                          <m:r>
                            <a:rPr lang="en-US" altLang="zh-CN" sz="1100" b="1" i="1" dirty="0">
                              <a:latin typeface="Cambria Math" panose="02040503050406030204" pitchFamily="18" charset="0"/>
                            </a:rPr>
                            <m:t>𝑫</m:t>
                          </m:r>
                        </m:sup>
                      </m:sSup>
                      <m:r>
                        <a:rPr lang="en-US" altLang="zh-CN" sz="1100" b="1" i="1" dirty="0">
                          <a:latin typeface="Cambria Math" panose="02040503050406030204" pitchFamily="18" charset="0"/>
                        </a:rPr>
                        <m:t>=</m:t>
                      </m:r>
                      <m:r>
                        <a:rPr lang="en-US" altLang="zh-CN" sz="1100" b="1" i="1" dirty="0" smtClean="0">
                          <a:latin typeface="Cambria Math" panose="02040503050406030204" pitchFamily="18" charset="0"/>
                        </a:rPr>
                        <m:t>𝑳</m:t>
                      </m:r>
                      <m:d>
                        <m:dPr>
                          <m:ctrlPr>
                            <a:rPr lang="en-US" altLang="zh-CN" sz="1100" b="1" i="1" dirty="0" smtClean="0">
                              <a:latin typeface="Cambria Math" panose="02040503050406030204" pitchFamily="18" charset="0"/>
                            </a:rPr>
                          </m:ctrlPr>
                        </m:dPr>
                        <m:e>
                          <m:r>
                            <a:rPr lang="en-US" altLang="zh-CN" sz="1100" b="1" i="1" dirty="0" smtClean="0">
                              <a:latin typeface="Cambria Math" panose="02040503050406030204" pitchFamily="18" charset="0"/>
                            </a:rPr>
                            <m:t>𝒓</m:t>
                          </m:r>
                          <m:r>
                            <a:rPr lang="en-US" altLang="zh-CN" sz="1100" b="1" i="1" dirty="0" smtClean="0">
                              <a:latin typeface="Cambria Math" panose="02040503050406030204" pitchFamily="18" charset="0"/>
                            </a:rPr>
                            <m:t>,</m:t>
                          </m:r>
                          <m:r>
                            <a:rPr lang="en-US" altLang="zh-CN" sz="1100" b="1" i="1" dirty="0" smtClean="0">
                              <a:latin typeface="Cambria Math" panose="02040503050406030204" pitchFamily="18" charset="0"/>
                            </a:rPr>
                            <m:t>𝒀</m:t>
                          </m:r>
                        </m:e>
                      </m:d>
                    </m:oMath>
                  </m:oMathPara>
                </a14:m>
                <a:endParaRPr lang="en-US" altLang="zh-CN" sz="1100" b="0" dirty="0">
                  <a:latin typeface="SimSun" panose="02010600030101010101" pitchFamily="2" charset="-122"/>
                  <a:ea typeface="SimSun" panose="02010600030101010101" pitchFamily="2" charset="-122"/>
                </a:endParaRPr>
              </a:p>
            </p:txBody>
          </p:sp>
        </mc:Choice>
        <mc:Fallback xmlns="">
          <p:sp>
            <p:nvSpPr>
              <p:cNvPr id="12" name="文本框 11">
                <a:extLst>
                  <a:ext uri="{FF2B5EF4-FFF2-40B4-BE49-F238E27FC236}">
                    <a16:creationId xmlns:a16="http://schemas.microsoft.com/office/drawing/2014/main" id="{6C712EF4-5EA9-9F32-0C68-3776C802058D}"/>
                  </a:ext>
                </a:extLst>
              </p:cNvPr>
              <p:cNvSpPr txBox="1">
                <a:spLocks noRot="1" noChangeAspect="1" noMove="1" noResize="1" noEditPoints="1" noAdjustHandles="1" noChangeArrowheads="1" noChangeShapeType="1" noTextEdit="1"/>
              </p:cNvSpPr>
              <p:nvPr/>
            </p:nvSpPr>
            <p:spPr>
              <a:xfrm>
                <a:off x="2601245" y="722263"/>
                <a:ext cx="1582937" cy="577402"/>
              </a:xfrm>
              <a:prstGeom prst="rect">
                <a:avLst/>
              </a:prstGeom>
              <a:blipFill>
                <a:blip r:embed="rId3"/>
                <a:stretch>
                  <a:fillRect/>
                </a:stretch>
              </a:blipFill>
            </p:spPr>
            <p:txBody>
              <a:bodyPr/>
              <a:lstStyle/>
              <a:p>
                <a:r>
                  <a:rPr lang="zh-CN" altLang="en-US">
                    <a:noFill/>
                  </a:rPr>
                  <a:t> </a:t>
                </a:r>
              </a:p>
            </p:txBody>
          </p:sp>
        </mc:Fallback>
      </mc:AlternateContent>
      <p:sp>
        <p:nvSpPr>
          <p:cNvPr id="16" name="右箭头 15">
            <a:extLst>
              <a:ext uri="{FF2B5EF4-FFF2-40B4-BE49-F238E27FC236}">
                <a16:creationId xmlns:a16="http://schemas.microsoft.com/office/drawing/2014/main" id="{2A9E9B13-9AF4-456F-B91D-3CCE92E7DCA2}"/>
              </a:ext>
            </a:extLst>
          </p:cNvPr>
          <p:cNvSpPr/>
          <p:nvPr/>
        </p:nvSpPr>
        <p:spPr>
          <a:xfrm rot="2178428">
            <a:off x="1135312" y="1539451"/>
            <a:ext cx="870000" cy="21602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zh-CN" altLang="en-US"/>
          </a:p>
        </p:txBody>
      </p:sp>
      <p:sp>
        <p:nvSpPr>
          <p:cNvPr id="17" name="右箭头 16">
            <a:extLst>
              <a:ext uri="{FF2B5EF4-FFF2-40B4-BE49-F238E27FC236}">
                <a16:creationId xmlns:a16="http://schemas.microsoft.com/office/drawing/2014/main" id="{25CC1F19-47F7-7A12-69F5-A837EE2F360A}"/>
              </a:ext>
            </a:extLst>
          </p:cNvPr>
          <p:cNvSpPr/>
          <p:nvPr/>
        </p:nvSpPr>
        <p:spPr>
          <a:xfrm rot="8622114">
            <a:off x="2510403" y="1536219"/>
            <a:ext cx="870000" cy="21602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5844F66-4E11-4DCE-0CEB-0238261FEC2A}"/>
                  </a:ext>
                </a:extLst>
              </p:cNvPr>
              <p:cNvSpPr txBox="1"/>
              <p:nvPr/>
            </p:nvSpPr>
            <p:spPr>
              <a:xfrm>
                <a:off x="850060" y="1954099"/>
                <a:ext cx="2909980" cy="348365"/>
              </a:xfrm>
              <a:prstGeom prst="rect">
                <a:avLst/>
              </a:prstGeom>
              <a:solidFill>
                <a:schemeClr val="accent6">
                  <a:lumMod val="20000"/>
                  <a:lumOff val="80000"/>
                </a:schemeClr>
              </a:solidFill>
            </p:spPr>
            <p:txBody>
              <a:bodyPr wrap="square">
                <a:spAutoFit/>
              </a:bodyPr>
              <a:lstStyle/>
              <a:p>
                <a:pPr marL="0" lvl="1" algn="ctr"/>
                <a:r>
                  <a:rPr lang="zh-CN" altLang="en-US" sz="1100" dirty="0">
                    <a:latin typeface="SimSun" panose="02010600030101010101" pitchFamily="2" charset="-122"/>
                    <a:ea typeface="SimSun" panose="02010600030101010101" pitchFamily="2" charset="-122"/>
                  </a:rPr>
                  <a:t>货币市场均衡：</a:t>
                </a:r>
                <a14:m>
                  <m:oMath xmlns:m="http://schemas.openxmlformats.org/officeDocument/2006/math">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r>
                      <a:rPr lang="en-US" altLang="zh-CN" sz="1100" b="0" i="1" smtClean="0">
                        <a:latin typeface="Cambria Math" panose="02040503050406030204" pitchFamily="18" charset="0"/>
                      </a:rPr>
                      <m:t>=</m:t>
                    </m:r>
                  </m:oMath>
                </a14:m>
                <a:r>
                  <a:rPr lang="en-US" altLang="zh-CN" sz="1100" b="1" dirty="0"/>
                  <a:t> </a:t>
                </a:r>
                <a14:m>
                  <m:oMath xmlns:m="http://schemas.openxmlformats.org/officeDocument/2006/math">
                    <m:r>
                      <a:rPr lang="en-US" altLang="zh-CN" sz="1100" b="1" i="1" dirty="0">
                        <a:latin typeface="Cambria Math" panose="02040503050406030204" pitchFamily="18" charset="0"/>
                      </a:rPr>
                      <m:t>𝑳</m:t>
                    </m:r>
                    <m:d>
                      <m:dPr>
                        <m:ctrlPr>
                          <a:rPr lang="en-US" altLang="zh-CN" sz="1100" b="1" i="1" dirty="0">
                            <a:latin typeface="Cambria Math" panose="02040503050406030204" pitchFamily="18" charset="0"/>
                          </a:rPr>
                        </m:ctrlPr>
                      </m:dPr>
                      <m:e>
                        <m:r>
                          <a:rPr lang="en-US" altLang="zh-CN" sz="1100" b="1" i="1" dirty="0">
                            <a:latin typeface="Cambria Math" panose="02040503050406030204" pitchFamily="18" charset="0"/>
                          </a:rPr>
                          <m:t>𝒓</m:t>
                        </m:r>
                        <m:r>
                          <a:rPr lang="en-US" altLang="zh-CN" sz="1100" b="1" i="1" dirty="0">
                            <a:latin typeface="Cambria Math" panose="02040503050406030204" pitchFamily="18" charset="0"/>
                          </a:rPr>
                          <m:t>,</m:t>
                        </m:r>
                        <m:r>
                          <a:rPr lang="en-US" altLang="zh-CN" sz="1100" b="1" i="1" dirty="0">
                            <a:latin typeface="Cambria Math" panose="02040503050406030204" pitchFamily="18" charset="0"/>
                          </a:rPr>
                          <m:t>𝒀</m:t>
                        </m:r>
                      </m:e>
                    </m:d>
                    <m:r>
                      <a:rPr lang="en-US" altLang="zh-CN" sz="1100" b="0" i="0" dirty="0" smtClean="0">
                        <a:latin typeface="Cambria Math" panose="02040503050406030204" pitchFamily="18" charset="0"/>
                      </a:rPr>
                      <m:t>=</m:t>
                    </m:r>
                    <m:r>
                      <a:rPr lang="en-US" altLang="zh-CN" sz="1100" b="0" i="1" dirty="0" smtClean="0">
                        <a:latin typeface="Cambria Math" panose="02040503050406030204" pitchFamily="18" charset="0"/>
                      </a:rPr>
                      <m:t>𝑘𝑦</m:t>
                    </m:r>
                    <m:r>
                      <a:rPr lang="en-US" altLang="zh-CN" sz="1100" b="0" i="1" dirty="0" smtClean="0">
                        <a:latin typeface="Cambria Math" panose="02040503050406030204" pitchFamily="18" charset="0"/>
                      </a:rPr>
                      <m:t>−</m:t>
                    </m:r>
                    <m:r>
                      <a:rPr lang="en-US" altLang="zh-CN" sz="1100" b="0" i="1" dirty="0" smtClean="0">
                        <a:latin typeface="Cambria Math" panose="02040503050406030204" pitchFamily="18" charset="0"/>
                      </a:rPr>
                      <m:t>h𝑟</m:t>
                    </m:r>
                  </m:oMath>
                </a14:m>
                <a:endParaRPr lang="en-US" altLang="zh-CN" sz="1100" b="0" i="1" dirty="0">
                  <a:latin typeface="SimSun" panose="02010600030101010101" pitchFamily="2" charset="-122"/>
                  <a:ea typeface="SimSun" panose="02010600030101010101" pitchFamily="2" charset="-122"/>
                </a:endParaRPr>
              </a:p>
            </p:txBody>
          </p:sp>
        </mc:Choice>
        <mc:Fallback xmlns="">
          <p:sp>
            <p:nvSpPr>
              <p:cNvPr id="18" name="文本框 17">
                <a:extLst>
                  <a:ext uri="{FF2B5EF4-FFF2-40B4-BE49-F238E27FC236}">
                    <a16:creationId xmlns:a16="http://schemas.microsoft.com/office/drawing/2014/main" id="{95844F66-4E11-4DCE-0CEB-0238261FEC2A}"/>
                  </a:ext>
                </a:extLst>
              </p:cNvPr>
              <p:cNvSpPr txBox="1">
                <a:spLocks noRot="1" noChangeAspect="1" noMove="1" noResize="1" noEditPoints="1" noAdjustHandles="1" noChangeArrowheads="1" noChangeShapeType="1" noTextEdit="1"/>
              </p:cNvSpPr>
              <p:nvPr/>
            </p:nvSpPr>
            <p:spPr>
              <a:xfrm>
                <a:off x="850060" y="1954099"/>
                <a:ext cx="2909980" cy="34836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94454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货币市场均衡与利率的决定</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51</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cxnSp>
        <p:nvCxnSpPr>
          <p:cNvPr id="5" name="直线箭头连接符 4">
            <a:extLst>
              <a:ext uri="{FF2B5EF4-FFF2-40B4-BE49-F238E27FC236}">
                <a16:creationId xmlns:a16="http://schemas.microsoft.com/office/drawing/2014/main" id="{1064EC4D-19C9-6AD8-92BD-AA9753B372A3}"/>
              </a:ext>
            </a:extLst>
          </p:cNvPr>
          <p:cNvCxnSpPr>
            <a:cxnSpLocks/>
          </p:cNvCxnSpPr>
          <p:nvPr/>
        </p:nvCxnSpPr>
        <p:spPr>
          <a:xfrm>
            <a:off x="1256467" y="2527740"/>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箭头连接符 5">
            <a:extLst>
              <a:ext uri="{FF2B5EF4-FFF2-40B4-BE49-F238E27FC236}">
                <a16:creationId xmlns:a16="http://schemas.microsoft.com/office/drawing/2014/main" id="{F420AC33-B45B-AFE1-ECEC-BB827E6CA05E}"/>
              </a:ext>
            </a:extLst>
          </p:cNvPr>
          <p:cNvCxnSpPr/>
          <p:nvPr/>
        </p:nvCxnSpPr>
        <p:spPr>
          <a:xfrm flipV="1">
            <a:off x="1256467" y="883072"/>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1B0D9B5B-9C28-A8A2-EDD6-F408C66F1270}"/>
              </a:ext>
            </a:extLst>
          </p:cNvPr>
          <p:cNvCxnSpPr>
            <a:cxnSpLocks/>
          </p:cNvCxnSpPr>
          <p:nvPr/>
        </p:nvCxnSpPr>
        <p:spPr>
          <a:xfrm>
            <a:off x="2246755" y="970314"/>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6D6CAB6-CFA1-0AE3-0FDD-44BC05D8EEFD}"/>
                  </a:ext>
                </a:extLst>
              </p:cNvPr>
              <p:cNvSpPr txBox="1"/>
              <p:nvPr/>
            </p:nvSpPr>
            <p:spPr>
              <a:xfrm>
                <a:off x="2291725" y="882481"/>
                <a:ext cx="520233" cy="4278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000" b="0" i="1" smtClean="0">
                              <a:latin typeface="Cambria Math" panose="02040503050406030204" pitchFamily="18" charset="0"/>
                            </a:rPr>
                          </m:ctrlPr>
                        </m:sSupPr>
                        <m:e>
                          <m:d>
                            <m:dPr>
                              <m:ctrlPr>
                                <a:rPr lang="en-US" altLang="zh-CN" sz="1000" b="0" i="1" smtClean="0">
                                  <a:latin typeface="Cambria Math" panose="02040503050406030204" pitchFamily="18" charset="0"/>
                                </a:rPr>
                              </m:ctrlPr>
                            </m:dPr>
                            <m:e>
                              <m:f>
                                <m:fPr>
                                  <m:ctrlPr>
                                    <a:rPr lang="en-US" altLang="zh-CN" sz="1000" b="0" i="1" smtClean="0">
                                      <a:latin typeface="Cambria Math" panose="02040503050406030204" pitchFamily="18" charset="0"/>
                                    </a:rPr>
                                  </m:ctrlPr>
                                </m:fPr>
                                <m:num>
                                  <m:r>
                                    <a:rPr lang="en-US" altLang="zh-CN" sz="1000" b="0" i="1" smtClean="0">
                                      <a:latin typeface="Cambria Math" panose="02040503050406030204" pitchFamily="18" charset="0"/>
                                    </a:rPr>
                                    <m:t>𝑀</m:t>
                                  </m:r>
                                </m:num>
                                <m:den>
                                  <m:r>
                                    <a:rPr lang="en-US" altLang="zh-CN" sz="1000" b="0" i="1" smtClean="0">
                                      <a:latin typeface="Cambria Math" panose="02040503050406030204" pitchFamily="18" charset="0"/>
                                    </a:rPr>
                                    <m:t>𝑃</m:t>
                                  </m:r>
                                </m:den>
                              </m:f>
                            </m:e>
                          </m:d>
                        </m:e>
                        <m:sup>
                          <m:r>
                            <a:rPr lang="en-US" altLang="zh-CN" sz="1000" b="0" i="1" smtClean="0">
                              <a:latin typeface="Cambria Math" panose="02040503050406030204" pitchFamily="18" charset="0"/>
                            </a:rPr>
                            <m:t>𝑆</m:t>
                          </m:r>
                        </m:sup>
                      </m:sSup>
                    </m:oMath>
                  </m:oMathPara>
                </a14:m>
                <a:endParaRPr lang="zh-CN" altLang="en-US" sz="1000" dirty="0"/>
              </a:p>
            </p:txBody>
          </p:sp>
        </mc:Choice>
        <mc:Fallback xmlns="">
          <p:sp>
            <p:nvSpPr>
              <p:cNvPr id="9" name="文本框 8">
                <a:extLst>
                  <a:ext uri="{FF2B5EF4-FFF2-40B4-BE49-F238E27FC236}">
                    <a16:creationId xmlns:a16="http://schemas.microsoft.com/office/drawing/2014/main" id="{F6D6CAB6-CFA1-0AE3-0FDD-44BC05D8EEFD}"/>
                  </a:ext>
                </a:extLst>
              </p:cNvPr>
              <p:cNvSpPr txBox="1">
                <a:spLocks noRot="1" noChangeAspect="1" noMove="1" noResize="1" noEditPoints="1" noAdjustHandles="1" noChangeArrowheads="1" noChangeShapeType="1" noTextEdit="1"/>
              </p:cNvSpPr>
              <p:nvPr/>
            </p:nvSpPr>
            <p:spPr>
              <a:xfrm>
                <a:off x="2291725" y="882481"/>
                <a:ext cx="520233" cy="427809"/>
              </a:xfrm>
              <a:prstGeom prst="rect">
                <a:avLst/>
              </a:prstGeom>
              <a:blipFill>
                <a:blip r:embed="rId3"/>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D2BD7B5-10F8-D023-0333-7F33254456F3}"/>
              </a:ext>
            </a:extLst>
          </p:cNvPr>
          <p:cNvSpPr txBox="1"/>
          <p:nvPr/>
        </p:nvSpPr>
        <p:spPr>
          <a:xfrm>
            <a:off x="994857" y="748344"/>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5A3D263-B97D-BAC3-C61F-A585800AA680}"/>
                  </a:ext>
                </a:extLst>
              </p:cNvPr>
              <p:cNvSpPr txBox="1"/>
              <p:nvPr/>
            </p:nvSpPr>
            <p:spPr>
              <a:xfrm>
                <a:off x="3487091" y="2319773"/>
                <a:ext cx="346825" cy="4081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1100" i="1" dirty="0" smtClean="0">
                              <a:latin typeface="Cambria Math" panose="02040503050406030204" pitchFamily="18" charset="0"/>
                            </a:rPr>
                          </m:ctrlPr>
                        </m:fPr>
                        <m:num>
                          <m:r>
                            <a:rPr kumimoji="1" lang="en-US" altLang="zh-CN" sz="1100" i="1" dirty="0" smtClean="0">
                              <a:latin typeface="Cambria Math" panose="02040503050406030204" pitchFamily="18" charset="0"/>
                            </a:rPr>
                            <m:t>𝑀</m:t>
                          </m:r>
                        </m:num>
                        <m:den>
                          <m:r>
                            <a:rPr kumimoji="1" lang="en-US" altLang="zh-CN" sz="1100" i="1" dirty="0" smtClean="0">
                              <a:latin typeface="Cambria Math" panose="02040503050406030204" pitchFamily="18" charset="0"/>
                            </a:rPr>
                            <m:t>𝑃</m:t>
                          </m:r>
                        </m:den>
                      </m:f>
                    </m:oMath>
                  </m:oMathPara>
                </a14:m>
                <a:endParaRPr kumimoji="1" lang="zh-CN" altLang="en-US" sz="1100" dirty="0"/>
              </a:p>
            </p:txBody>
          </p:sp>
        </mc:Choice>
        <mc:Fallback xmlns="">
          <p:sp>
            <p:nvSpPr>
              <p:cNvPr id="13" name="文本框 12">
                <a:extLst>
                  <a:ext uri="{FF2B5EF4-FFF2-40B4-BE49-F238E27FC236}">
                    <a16:creationId xmlns:a16="http://schemas.microsoft.com/office/drawing/2014/main" id="{C5A3D263-B97D-BAC3-C61F-A585800AA680}"/>
                  </a:ext>
                </a:extLst>
              </p:cNvPr>
              <p:cNvSpPr txBox="1">
                <a:spLocks noRot="1" noChangeAspect="1" noMove="1" noResize="1" noEditPoints="1" noAdjustHandles="1" noChangeArrowheads="1" noChangeShapeType="1" noTextEdit="1"/>
              </p:cNvSpPr>
              <p:nvPr/>
            </p:nvSpPr>
            <p:spPr>
              <a:xfrm>
                <a:off x="3487091" y="2319773"/>
                <a:ext cx="346825" cy="408125"/>
              </a:xfrm>
              <a:prstGeom prst="rect">
                <a:avLst/>
              </a:prstGeom>
              <a:blipFill>
                <a:blip r:embed="rId4"/>
                <a:stretch>
                  <a:fillRect b="-3030"/>
                </a:stretch>
              </a:blipFill>
            </p:spPr>
            <p:txBody>
              <a:bodyPr/>
              <a:lstStyle/>
              <a:p>
                <a:r>
                  <a:rPr lang="zh-CN" altLang="en-US">
                    <a:noFill/>
                  </a:rPr>
                  <a:t> </a:t>
                </a:r>
              </a:p>
            </p:txBody>
          </p:sp>
        </mc:Fallback>
      </mc:AlternateContent>
      <p:cxnSp>
        <p:nvCxnSpPr>
          <p:cNvPr id="15" name="直线连接符 14">
            <a:extLst>
              <a:ext uri="{FF2B5EF4-FFF2-40B4-BE49-F238E27FC236}">
                <a16:creationId xmlns:a16="http://schemas.microsoft.com/office/drawing/2014/main" id="{CE2F0A1A-FCBD-3526-8CFF-92C5F5FC1432}"/>
              </a:ext>
            </a:extLst>
          </p:cNvPr>
          <p:cNvCxnSpPr/>
          <p:nvPr/>
        </p:nvCxnSpPr>
        <p:spPr>
          <a:xfrm>
            <a:off x="1512962" y="1154311"/>
            <a:ext cx="1368152" cy="1080120"/>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90F6F9A-89F9-9081-3341-3A6E54797651}"/>
                  </a:ext>
                </a:extLst>
              </p:cNvPr>
              <p:cNvSpPr txBox="1"/>
              <p:nvPr/>
            </p:nvSpPr>
            <p:spPr>
              <a:xfrm>
                <a:off x="2894535" y="2103626"/>
                <a:ext cx="5038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b="1" i="1" dirty="0" smtClean="0">
                          <a:latin typeface="Cambria Math" panose="02040503050406030204" pitchFamily="18" charset="0"/>
                        </a:rPr>
                        <m:t>𝑳</m:t>
                      </m:r>
                      <m:d>
                        <m:dPr>
                          <m:ctrlPr>
                            <a:rPr lang="en-US" altLang="zh-CN" sz="1050" b="1" i="1" dirty="0" smtClean="0">
                              <a:latin typeface="Cambria Math" panose="02040503050406030204" pitchFamily="18" charset="0"/>
                            </a:rPr>
                          </m:ctrlPr>
                        </m:dPr>
                        <m:e>
                          <m:r>
                            <a:rPr lang="en-US" altLang="zh-CN" sz="1050" b="1" i="1" dirty="0" smtClean="0">
                              <a:latin typeface="Cambria Math" panose="02040503050406030204" pitchFamily="18" charset="0"/>
                            </a:rPr>
                            <m:t>𝒓</m:t>
                          </m:r>
                          <m:r>
                            <a:rPr lang="en-US" altLang="zh-CN" sz="1050" b="1" i="1" dirty="0" smtClean="0">
                              <a:latin typeface="Cambria Math" panose="02040503050406030204" pitchFamily="18" charset="0"/>
                            </a:rPr>
                            <m:t>,</m:t>
                          </m:r>
                          <m:sSub>
                            <m:sSubPr>
                              <m:ctrlPr>
                                <a:rPr lang="en-US" altLang="zh-CN" sz="1050" b="1" i="1" dirty="0" smtClean="0">
                                  <a:latin typeface="Cambria Math" panose="02040503050406030204" pitchFamily="18" charset="0"/>
                                </a:rPr>
                              </m:ctrlPr>
                            </m:sSubPr>
                            <m:e>
                              <m:r>
                                <a:rPr lang="en-US" altLang="zh-CN" sz="1050" b="1" i="1" dirty="0" smtClean="0">
                                  <a:latin typeface="Cambria Math" panose="02040503050406030204" pitchFamily="18" charset="0"/>
                                </a:rPr>
                                <m:t>𝒀</m:t>
                              </m:r>
                            </m:e>
                            <m:sub>
                              <m:r>
                                <a:rPr lang="en-US" altLang="zh-CN" sz="1050" b="1" i="1" dirty="0" smtClean="0">
                                  <a:latin typeface="Cambria Math" panose="02040503050406030204" pitchFamily="18" charset="0"/>
                                </a:rPr>
                                <m:t>𝟏</m:t>
                              </m:r>
                            </m:sub>
                          </m:sSub>
                        </m:e>
                      </m:d>
                    </m:oMath>
                  </m:oMathPara>
                </a14:m>
                <a:endParaRPr lang="zh-CN" altLang="en-US" sz="1050" dirty="0"/>
              </a:p>
            </p:txBody>
          </p:sp>
        </mc:Choice>
        <mc:Fallback xmlns="">
          <p:sp>
            <p:nvSpPr>
              <p:cNvPr id="20" name="文本框 19">
                <a:extLst>
                  <a:ext uri="{FF2B5EF4-FFF2-40B4-BE49-F238E27FC236}">
                    <a16:creationId xmlns:a16="http://schemas.microsoft.com/office/drawing/2014/main" id="{A90F6F9A-89F9-9081-3341-3A6E54797651}"/>
                  </a:ext>
                </a:extLst>
              </p:cNvPr>
              <p:cNvSpPr txBox="1">
                <a:spLocks noRot="1" noChangeAspect="1" noMove="1" noResize="1" noEditPoints="1" noAdjustHandles="1" noChangeArrowheads="1" noChangeShapeType="1" noTextEdit="1"/>
              </p:cNvSpPr>
              <p:nvPr/>
            </p:nvSpPr>
            <p:spPr>
              <a:xfrm>
                <a:off x="2894535" y="2103626"/>
                <a:ext cx="503846" cy="261610"/>
              </a:xfrm>
              <a:prstGeom prst="rect">
                <a:avLst/>
              </a:prstGeom>
              <a:blipFill>
                <a:blip r:embed="rId5"/>
                <a:stretch>
                  <a:fillRect r="-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A5462D8-6D1F-90B4-77B7-B13DA7C79165}"/>
                  </a:ext>
                </a:extLst>
              </p:cNvPr>
              <p:cNvSpPr txBox="1"/>
              <p:nvPr/>
            </p:nvSpPr>
            <p:spPr>
              <a:xfrm>
                <a:off x="2030834" y="2523835"/>
                <a:ext cx="431841" cy="4351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oMath>
                  </m:oMathPara>
                </a14:m>
                <a:endParaRPr lang="zh-CN" altLang="en-US" sz="1100" dirty="0"/>
              </a:p>
            </p:txBody>
          </p:sp>
        </mc:Choice>
        <mc:Fallback xmlns="">
          <p:sp>
            <p:nvSpPr>
              <p:cNvPr id="22" name="文本框 21">
                <a:extLst>
                  <a:ext uri="{FF2B5EF4-FFF2-40B4-BE49-F238E27FC236}">
                    <a16:creationId xmlns:a16="http://schemas.microsoft.com/office/drawing/2014/main" id="{CA5462D8-6D1F-90B4-77B7-B13DA7C79165}"/>
                  </a:ext>
                </a:extLst>
              </p:cNvPr>
              <p:cNvSpPr txBox="1">
                <a:spLocks noRot="1" noChangeAspect="1" noMove="1" noResize="1" noEditPoints="1" noAdjustHandles="1" noChangeArrowheads="1" noChangeShapeType="1" noTextEdit="1"/>
              </p:cNvSpPr>
              <p:nvPr/>
            </p:nvSpPr>
            <p:spPr>
              <a:xfrm>
                <a:off x="2030834" y="2523835"/>
                <a:ext cx="431841" cy="435119"/>
              </a:xfrm>
              <a:prstGeom prst="rect">
                <a:avLst/>
              </a:prstGeom>
              <a:blipFill>
                <a:blip r:embed="rId6"/>
                <a:stretch>
                  <a:fillRect/>
                </a:stretch>
              </a:blipFill>
            </p:spPr>
            <p:txBody>
              <a:bodyPr/>
              <a:lstStyle/>
              <a:p>
                <a:r>
                  <a:rPr lang="zh-CN" altLang="en-US">
                    <a:noFill/>
                  </a:rPr>
                  <a:t> </a:t>
                </a:r>
              </a:p>
            </p:txBody>
          </p:sp>
        </mc:Fallback>
      </mc:AlternateContent>
      <p:cxnSp>
        <p:nvCxnSpPr>
          <p:cNvPr id="24" name="直线连接符 23">
            <a:extLst>
              <a:ext uri="{FF2B5EF4-FFF2-40B4-BE49-F238E27FC236}">
                <a16:creationId xmlns:a16="http://schemas.microsoft.com/office/drawing/2014/main" id="{C787B4CE-5534-0E62-8D23-08AE22F0C9BD}"/>
              </a:ext>
            </a:extLst>
          </p:cNvPr>
          <p:cNvCxnSpPr/>
          <p:nvPr/>
        </p:nvCxnSpPr>
        <p:spPr>
          <a:xfrm>
            <a:off x="1256466" y="1370335"/>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5A5A88B8-E3E6-E876-3FF8-75BCB1D379AB}"/>
              </a:ext>
            </a:extLst>
          </p:cNvPr>
          <p:cNvCxnSpPr>
            <a:cxnSpLocks/>
          </p:cNvCxnSpPr>
          <p:nvPr/>
        </p:nvCxnSpPr>
        <p:spPr>
          <a:xfrm flipV="1">
            <a:off x="1256466" y="1730375"/>
            <a:ext cx="1624648" cy="66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919898D-D05F-F573-A0B7-303CDF043BA3}"/>
                  </a:ext>
                </a:extLst>
              </p:cNvPr>
              <p:cNvSpPr txBox="1"/>
              <p:nvPr/>
            </p:nvSpPr>
            <p:spPr>
              <a:xfrm>
                <a:off x="969415" y="1193525"/>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7" name="文本框 26">
                <a:extLst>
                  <a:ext uri="{FF2B5EF4-FFF2-40B4-BE49-F238E27FC236}">
                    <a16:creationId xmlns:a16="http://schemas.microsoft.com/office/drawing/2014/main" id="{4919898D-D05F-F573-A0B7-303CDF043BA3}"/>
                  </a:ext>
                </a:extLst>
              </p:cNvPr>
              <p:cNvSpPr txBox="1">
                <a:spLocks noRot="1" noChangeAspect="1" noMove="1" noResize="1" noEditPoints="1" noAdjustHandles="1" noChangeArrowheads="1" noChangeShapeType="1" noTextEdit="1"/>
              </p:cNvSpPr>
              <p:nvPr/>
            </p:nvSpPr>
            <p:spPr>
              <a:xfrm>
                <a:off x="969415" y="1193525"/>
                <a:ext cx="353302" cy="2769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D2CCA9F-2F98-0C59-342F-DC98619054F9}"/>
                  </a:ext>
                </a:extLst>
              </p:cNvPr>
              <p:cNvSpPr txBox="1"/>
              <p:nvPr/>
            </p:nvSpPr>
            <p:spPr>
              <a:xfrm>
                <a:off x="949011" y="1553592"/>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8" name="文本框 27">
                <a:extLst>
                  <a:ext uri="{FF2B5EF4-FFF2-40B4-BE49-F238E27FC236}">
                    <a16:creationId xmlns:a16="http://schemas.microsoft.com/office/drawing/2014/main" id="{7D2CCA9F-2F98-0C59-342F-DC98619054F9}"/>
                  </a:ext>
                </a:extLst>
              </p:cNvPr>
              <p:cNvSpPr txBox="1">
                <a:spLocks noRot="1" noChangeAspect="1" noMove="1" noResize="1" noEditPoints="1" noAdjustHandles="1" noChangeArrowheads="1" noChangeShapeType="1" noTextEdit="1"/>
              </p:cNvSpPr>
              <p:nvPr/>
            </p:nvSpPr>
            <p:spPr>
              <a:xfrm>
                <a:off x="949011" y="1553592"/>
                <a:ext cx="356893" cy="276999"/>
              </a:xfrm>
              <a:prstGeom prst="rect">
                <a:avLst/>
              </a:prstGeom>
              <a:blipFill>
                <a:blip r:embed="rId8"/>
                <a:stretch>
                  <a:fillRect/>
                </a:stretch>
              </a:blipFill>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D5E01AFF-A8E7-1A04-2D6C-184BFED40630}"/>
              </a:ext>
            </a:extLst>
          </p:cNvPr>
          <p:cNvSpPr/>
          <p:nvPr/>
        </p:nvSpPr>
        <p:spPr>
          <a:xfrm>
            <a:off x="2230606" y="1349690"/>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7CBAF431-EEAD-482A-E3A0-8C9EBCE69A93}"/>
              </a:ext>
            </a:extLst>
          </p:cNvPr>
          <p:cNvSpPr/>
          <p:nvPr/>
        </p:nvSpPr>
        <p:spPr>
          <a:xfrm>
            <a:off x="2223894" y="1703308"/>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a:extLst>
              <a:ext uri="{FF2B5EF4-FFF2-40B4-BE49-F238E27FC236}">
                <a16:creationId xmlns:a16="http://schemas.microsoft.com/office/drawing/2014/main" id="{35E5F929-F659-6E35-7681-F4D4B2E0729E}"/>
              </a:ext>
            </a:extLst>
          </p:cNvPr>
          <p:cNvSpPr/>
          <p:nvPr/>
        </p:nvSpPr>
        <p:spPr>
          <a:xfrm>
            <a:off x="1771767" y="1349689"/>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19B8C0B1-7732-B412-0547-B83FFAEAFDC4}"/>
              </a:ext>
            </a:extLst>
          </p:cNvPr>
          <p:cNvSpPr txBox="1"/>
          <p:nvPr/>
        </p:nvSpPr>
        <p:spPr>
          <a:xfrm>
            <a:off x="1711867" y="1183746"/>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34" name="文本框 33">
            <a:extLst>
              <a:ext uri="{FF2B5EF4-FFF2-40B4-BE49-F238E27FC236}">
                <a16:creationId xmlns:a16="http://schemas.microsoft.com/office/drawing/2014/main" id="{B4A50D93-AAB7-4254-AA10-9B94F3A3F710}"/>
              </a:ext>
            </a:extLst>
          </p:cNvPr>
          <p:cNvSpPr txBox="1"/>
          <p:nvPr/>
        </p:nvSpPr>
        <p:spPr>
          <a:xfrm>
            <a:off x="2220801" y="1257132"/>
            <a:ext cx="268022"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35" name="文本框 34">
            <a:extLst>
              <a:ext uri="{FF2B5EF4-FFF2-40B4-BE49-F238E27FC236}">
                <a16:creationId xmlns:a16="http://schemas.microsoft.com/office/drawing/2014/main" id="{4B6DEF5B-0FE2-9736-B3EB-C646E8932A31}"/>
              </a:ext>
            </a:extLst>
          </p:cNvPr>
          <p:cNvSpPr txBox="1"/>
          <p:nvPr/>
        </p:nvSpPr>
        <p:spPr>
          <a:xfrm>
            <a:off x="2220801" y="1544324"/>
            <a:ext cx="261610" cy="230832"/>
          </a:xfrm>
          <a:prstGeom prst="rect">
            <a:avLst/>
          </a:prstGeom>
          <a:noFill/>
        </p:spPr>
        <p:txBody>
          <a:bodyPr wrap="none" rtlCol="0">
            <a:spAutoFit/>
          </a:bodyPr>
          <a:lstStyle/>
          <a:p>
            <a:r>
              <a:rPr kumimoji="1" lang="en-US" altLang="zh-CN" sz="900" dirty="0"/>
              <a:t>E</a:t>
            </a:r>
            <a:endParaRPr kumimoji="1" lang="zh-CN" altLang="en-US" sz="900" dirty="0"/>
          </a:p>
        </p:txBody>
      </p:sp>
    </p:spTree>
    <p:extLst>
      <p:ext uri="{BB962C8B-B14F-4D97-AF65-F5344CB8AC3E}">
        <p14:creationId xmlns:p14="http://schemas.microsoft.com/office/powerpoint/2010/main" val="116205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线连接符 7">
            <a:extLst>
              <a:ext uri="{FF2B5EF4-FFF2-40B4-BE49-F238E27FC236}">
                <a16:creationId xmlns:a16="http://schemas.microsoft.com/office/drawing/2014/main" id="{09D6084D-8FF0-8107-4C50-1804D3F3AF4F}"/>
              </a:ext>
            </a:extLst>
          </p:cNvPr>
          <p:cNvCxnSpPr/>
          <p:nvPr/>
        </p:nvCxnSpPr>
        <p:spPr>
          <a:xfrm>
            <a:off x="2049562" y="970387"/>
            <a:ext cx="1368152" cy="1080120"/>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收入变化对利率的影响</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52</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cxnSp>
        <p:nvCxnSpPr>
          <p:cNvPr id="5" name="直线箭头连接符 4">
            <a:extLst>
              <a:ext uri="{FF2B5EF4-FFF2-40B4-BE49-F238E27FC236}">
                <a16:creationId xmlns:a16="http://schemas.microsoft.com/office/drawing/2014/main" id="{1064EC4D-19C9-6AD8-92BD-AA9753B372A3}"/>
              </a:ext>
            </a:extLst>
          </p:cNvPr>
          <p:cNvCxnSpPr>
            <a:cxnSpLocks/>
          </p:cNvCxnSpPr>
          <p:nvPr/>
        </p:nvCxnSpPr>
        <p:spPr>
          <a:xfrm>
            <a:off x="1368946" y="2378447"/>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箭头连接符 5">
            <a:extLst>
              <a:ext uri="{FF2B5EF4-FFF2-40B4-BE49-F238E27FC236}">
                <a16:creationId xmlns:a16="http://schemas.microsoft.com/office/drawing/2014/main" id="{F420AC33-B45B-AFE1-ECEC-BB827E6CA05E}"/>
              </a:ext>
            </a:extLst>
          </p:cNvPr>
          <p:cNvCxnSpPr/>
          <p:nvPr/>
        </p:nvCxnSpPr>
        <p:spPr>
          <a:xfrm flipV="1">
            <a:off x="1368946" y="733779"/>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1B0D9B5B-9C28-A8A2-EDD6-F408C66F1270}"/>
              </a:ext>
            </a:extLst>
          </p:cNvPr>
          <p:cNvCxnSpPr>
            <a:cxnSpLocks/>
          </p:cNvCxnSpPr>
          <p:nvPr/>
        </p:nvCxnSpPr>
        <p:spPr>
          <a:xfrm>
            <a:off x="2359234" y="821021"/>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6D6CAB6-CFA1-0AE3-0FDD-44BC05D8EEFD}"/>
                  </a:ext>
                </a:extLst>
              </p:cNvPr>
              <p:cNvSpPr txBox="1"/>
              <p:nvPr/>
            </p:nvSpPr>
            <p:spPr>
              <a:xfrm>
                <a:off x="2404204" y="733188"/>
                <a:ext cx="520233" cy="4278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000" b="0" i="1" smtClean="0">
                              <a:latin typeface="Cambria Math" panose="02040503050406030204" pitchFamily="18" charset="0"/>
                            </a:rPr>
                          </m:ctrlPr>
                        </m:sSupPr>
                        <m:e>
                          <m:d>
                            <m:dPr>
                              <m:ctrlPr>
                                <a:rPr lang="en-US" altLang="zh-CN" sz="1000" b="0" i="1" smtClean="0">
                                  <a:latin typeface="Cambria Math" panose="02040503050406030204" pitchFamily="18" charset="0"/>
                                </a:rPr>
                              </m:ctrlPr>
                            </m:dPr>
                            <m:e>
                              <m:f>
                                <m:fPr>
                                  <m:ctrlPr>
                                    <a:rPr lang="en-US" altLang="zh-CN" sz="1000" b="0" i="1" smtClean="0">
                                      <a:latin typeface="Cambria Math" panose="02040503050406030204" pitchFamily="18" charset="0"/>
                                    </a:rPr>
                                  </m:ctrlPr>
                                </m:fPr>
                                <m:num>
                                  <m:r>
                                    <a:rPr lang="en-US" altLang="zh-CN" sz="1000" b="0" i="1" smtClean="0">
                                      <a:latin typeface="Cambria Math" panose="02040503050406030204" pitchFamily="18" charset="0"/>
                                    </a:rPr>
                                    <m:t>𝑀</m:t>
                                  </m:r>
                                </m:num>
                                <m:den>
                                  <m:r>
                                    <a:rPr lang="en-US" altLang="zh-CN" sz="1000" b="0" i="1" smtClean="0">
                                      <a:latin typeface="Cambria Math" panose="02040503050406030204" pitchFamily="18" charset="0"/>
                                    </a:rPr>
                                    <m:t>𝑃</m:t>
                                  </m:r>
                                </m:den>
                              </m:f>
                            </m:e>
                          </m:d>
                        </m:e>
                        <m:sup>
                          <m:r>
                            <a:rPr lang="en-US" altLang="zh-CN" sz="1000" b="0" i="1" smtClean="0">
                              <a:latin typeface="Cambria Math" panose="02040503050406030204" pitchFamily="18" charset="0"/>
                            </a:rPr>
                            <m:t>𝑆</m:t>
                          </m:r>
                        </m:sup>
                      </m:sSup>
                    </m:oMath>
                  </m:oMathPara>
                </a14:m>
                <a:endParaRPr lang="zh-CN" altLang="en-US" sz="1000" dirty="0"/>
              </a:p>
            </p:txBody>
          </p:sp>
        </mc:Choice>
        <mc:Fallback xmlns="">
          <p:sp>
            <p:nvSpPr>
              <p:cNvPr id="9" name="文本框 8">
                <a:extLst>
                  <a:ext uri="{FF2B5EF4-FFF2-40B4-BE49-F238E27FC236}">
                    <a16:creationId xmlns:a16="http://schemas.microsoft.com/office/drawing/2014/main" id="{F6D6CAB6-CFA1-0AE3-0FDD-44BC05D8EEFD}"/>
                  </a:ext>
                </a:extLst>
              </p:cNvPr>
              <p:cNvSpPr txBox="1">
                <a:spLocks noRot="1" noChangeAspect="1" noMove="1" noResize="1" noEditPoints="1" noAdjustHandles="1" noChangeArrowheads="1" noChangeShapeType="1" noTextEdit="1"/>
              </p:cNvSpPr>
              <p:nvPr/>
            </p:nvSpPr>
            <p:spPr>
              <a:xfrm>
                <a:off x="2404204" y="733188"/>
                <a:ext cx="520233" cy="427809"/>
              </a:xfrm>
              <a:prstGeom prst="rect">
                <a:avLst/>
              </a:prstGeom>
              <a:blipFill>
                <a:blip r:embed="rId3"/>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D2BD7B5-10F8-D023-0333-7F33254456F3}"/>
              </a:ext>
            </a:extLst>
          </p:cNvPr>
          <p:cNvSpPr txBox="1"/>
          <p:nvPr/>
        </p:nvSpPr>
        <p:spPr>
          <a:xfrm>
            <a:off x="1107336" y="599051"/>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5A3D263-B97D-BAC3-C61F-A585800AA680}"/>
                  </a:ext>
                </a:extLst>
              </p:cNvPr>
              <p:cNvSpPr txBox="1"/>
              <p:nvPr/>
            </p:nvSpPr>
            <p:spPr>
              <a:xfrm>
                <a:off x="3599570" y="2170480"/>
                <a:ext cx="346825" cy="4081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1100" i="1" dirty="0" smtClean="0">
                              <a:latin typeface="Cambria Math" panose="02040503050406030204" pitchFamily="18" charset="0"/>
                            </a:rPr>
                          </m:ctrlPr>
                        </m:fPr>
                        <m:num>
                          <m:r>
                            <a:rPr kumimoji="1" lang="en-US" altLang="zh-CN" sz="1100" i="1" dirty="0" smtClean="0">
                              <a:latin typeface="Cambria Math" panose="02040503050406030204" pitchFamily="18" charset="0"/>
                            </a:rPr>
                            <m:t>𝑀</m:t>
                          </m:r>
                        </m:num>
                        <m:den>
                          <m:r>
                            <a:rPr kumimoji="1" lang="en-US" altLang="zh-CN" sz="1100" i="1" dirty="0" smtClean="0">
                              <a:latin typeface="Cambria Math" panose="02040503050406030204" pitchFamily="18" charset="0"/>
                            </a:rPr>
                            <m:t>𝑃</m:t>
                          </m:r>
                        </m:den>
                      </m:f>
                    </m:oMath>
                  </m:oMathPara>
                </a14:m>
                <a:endParaRPr kumimoji="1" lang="zh-CN" altLang="en-US" sz="1100" dirty="0"/>
              </a:p>
            </p:txBody>
          </p:sp>
        </mc:Choice>
        <mc:Fallback xmlns="">
          <p:sp>
            <p:nvSpPr>
              <p:cNvPr id="13" name="文本框 12">
                <a:extLst>
                  <a:ext uri="{FF2B5EF4-FFF2-40B4-BE49-F238E27FC236}">
                    <a16:creationId xmlns:a16="http://schemas.microsoft.com/office/drawing/2014/main" id="{C5A3D263-B97D-BAC3-C61F-A585800AA680}"/>
                  </a:ext>
                </a:extLst>
              </p:cNvPr>
              <p:cNvSpPr txBox="1">
                <a:spLocks noRot="1" noChangeAspect="1" noMove="1" noResize="1" noEditPoints="1" noAdjustHandles="1" noChangeArrowheads="1" noChangeShapeType="1" noTextEdit="1"/>
              </p:cNvSpPr>
              <p:nvPr/>
            </p:nvSpPr>
            <p:spPr>
              <a:xfrm>
                <a:off x="3599570" y="2170480"/>
                <a:ext cx="346825" cy="408125"/>
              </a:xfrm>
              <a:prstGeom prst="rect">
                <a:avLst/>
              </a:prstGeom>
              <a:blipFill>
                <a:blip r:embed="rId4"/>
                <a:stretch>
                  <a:fillRect/>
                </a:stretch>
              </a:blipFill>
            </p:spPr>
            <p:txBody>
              <a:bodyPr/>
              <a:lstStyle/>
              <a:p>
                <a:r>
                  <a:rPr lang="zh-CN" altLang="en-US">
                    <a:noFill/>
                  </a:rPr>
                  <a:t> </a:t>
                </a:r>
              </a:p>
            </p:txBody>
          </p:sp>
        </mc:Fallback>
      </mc:AlternateContent>
      <p:cxnSp>
        <p:nvCxnSpPr>
          <p:cNvPr id="15" name="直线连接符 14">
            <a:extLst>
              <a:ext uri="{FF2B5EF4-FFF2-40B4-BE49-F238E27FC236}">
                <a16:creationId xmlns:a16="http://schemas.microsoft.com/office/drawing/2014/main" id="{CE2F0A1A-FCBD-3526-8CFF-92C5F5FC1432}"/>
              </a:ext>
            </a:extLst>
          </p:cNvPr>
          <p:cNvCxnSpPr/>
          <p:nvPr/>
        </p:nvCxnSpPr>
        <p:spPr>
          <a:xfrm>
            <a:off x="1625441" y="1005018"/>
            <a:ext cx="1368152" cy="1080120"/>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90F6F9A-89F9-9081-3341-3A6E54797651}"/>
                  </a:ext>
                </a:extLst>
              </p:cNvPr>
              <p:cNvSpPr txBox="1"/>
              <p:nvPr/>
            </p:nvSpPr>
            <p:spPr>
              <a:xfrm>
                <a:off x="2615955" y="2055533"/>
                <a:ext cx="5038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b="1" i="1" dirty="0" smtClean="0">
                          <a:latin typeface="Cambria Math" panose="02040503050406030204" pitchFamily="18" charset="0"/>
                        </a:rPr>
                        <m:t>𝑳</m:t>
                      </m:r>
                      <m:d>
                        <m:dPr>
                          <m:ctrlPr>
                            <a:rPr lang="en-US" altLang="zh-CN" sz="1050" b="1" i="1" dirty="0" smtClean="0">
                              <a:latin typeface="Cambria Math" panose="02040503050406030204" pitchFamily="18" charset="0"/>
                            </a:rPr>
                          </m:ctrlPr>
                        </m:dPr>
                        <m:e>
                          <m:r>
                            <a:rPr lang="en-US" altLang="zh-CN" sz="1050" b="1" i="1" dirty="0" smtClean="0">
                              <a:latin typeface="Cambria Math" panose="02040503050406030204" pitchFamily="18" charset="0"/>
                            </a:rPr>
                            <m:t>𝒓</m:t>
                          </m:r>
                          <m:r>
                            <a:rPr lang="en-US" altLang="zh-CN" sz="1050" b="1" i="1" dirty="0" smtClean="0">
                              <a:latin typeface="Cambria Math" panose="02040503050406030204" pitchFamily="18" charset="0"/>
                            </a:rPr>
                            <m:t>,</m:t>
                          </m:r>
                          <m:sSub>
                            <m:sSubPr>
                              <m:ctrlPr>
                                <a:rPr lang="en-US" altLang="zh-CN" sz="1050" b="1" i="1" dirty="0" smtClean="0">
                                  <a:latin typeface="Cambria Math" panose="02040503050406030204" pitchFamily="18" charset="0"/>
                                </a:rPr>
                              </m:ctrlPr>
                            </m:sSubPr>
                            <m:e>
                              <m:r>
                                <a:rPr lang="en-US" altLang="zh-CN" sz="1050" b="1" i="1" dirty="0" smtClean="0">
                                  <a:latin typeface="Cambria Math" panose="02040503050406030204" pitchFamily="18" charset="0"/>
                                </a:rPr>
                                <m:t>𝒀</m:t>
                              </m:r>
                            </m:e>
                            <m:sub>
                              <m:r>
                                <a:rPr lang="en-US" altLang="zh-CN" sz="1050" b="1" i="1" dirty="0" smtClean="0">
                                  <a:latin typeface="Cambria Math" panose="02040503050406030204" pitchFamily="18" charset="0"/>
                                </a:rPr>
                                <m:t>𝟏</m:t>
                              </m:r>
                            </m:sub>
                          </m:sSub>
                        </m:e>
                      </m:d>
                    </m:oMath>
                  </m:oMathPara>
                </a14:m>
                <a:endParaRPr lang="zh-CN" altLang="en-US" sz="1050" dirty="0"/>
              </a:p>
            </p:txBody>
          </p:sp>
        </mc:Choice>
        <mc:Fallback xmlns="">
          <p:sp>
            <p:nvSpPr>
              <p:cNvPr id="20" name="文本框 19">
                <a:extLst>
                  <a:ext uri="{FF2B5EF4-FFF2-40B4-BE49-F238E27FC236}">
                    <a16:creationId xmlns:a16="http://schemas.microsoft.com/office/drawing/2014/main" id="{A90F6F9A-89F9-9081-3341-3A6E54797651}"/>
                  </a:ext>
                </a:extLst>
              </p:cNvPr>
              <p:cNvSpPr txBox="1">
                <a:spLocks noRot="1" noChangeAspect="1" noMove="1" noResize="1" noEditPoints="1" noAdjustHandles="1" noChangeArrowheads="1" noChangeShapeType="1" noTextEdit="1"/>
              </p:cNvSpPr>
              <p:nvPr/>
            </p:nvSpPr>
            <p:spPr>
              <a:xfrm>
                <a:off x="2615955" y="2055533"/>
                <a:ext cx="503846" cy="261610"/>
              </a:xfrm>
              <a:prstGeom prst="rect">
                <a:avLst/>
              </a:prstGeom>
              <a:blipFill>
                <a:blip r:embed="rId5"/>
                <a:stretch>
                  <a:fillRect r="-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A5462D8-6D1F-90B4-77B7-B13DA7C79165}"/>
                  </a:ext>
                </a:extLst>
              </p:cNvPr>
              <p:cNvSpPr txBox="1"/>
              <p:nvPr/>
            </p:nvSpPr>
            <p:spPr>
              <a:xfrm>
                <a:off x="2143313" y="2374542"/>
                <a:ext cx="431841" cy="4351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oMath>
                  </m:oMathPara>
                </a14:m>
                <a:endParaRPr lang="zh-CN" altLang="en-US" sz="1100" dirty="0"/>
              </a:p>
            </p:txBody>
          </p:sp>
        </mc:Choice>
        <mc:Fallback xmlns="">
          <p:sp>
            <p:nvSpPr>
              <p:cNvPr id="22" name="文本框 21">
                <a:extLst>
                  <a:ext uri="{FF2B5EF4-FFF2-40B4-BE49-F238E27FC236}">
                    <a16:creationId xmlns:a16="http://schemas.microsoft.com/office/drawing/2014/main" id="{CA5462D8-6D1F-90B4-77B7-B13DA7C79165}"/>
                  </a:ext>
                </a:extLst>
              </p:cNvPr>
              <p:cNvSpPr txBox="1">
                <a:spLocks noRot="1" noChangeAspect="1" noMove="1" noResize="1" noEditPoints="1" noAdjustHandles="1" noChangeArrowheads="1" noChangeShapeType="1" noTextEdit="1"/>
              </p:cNvSpPr>
              <p:nvPr/>
            </p:nvSpPr>
            <p:spPr>
              <a:xfrm>
                <a:off x="2143313" y="2374542"/>
                <a:ext cx="431841" cy="435119"/>
              </a:xfrm>
              <a:prstGeom prst="rect">
                <a:avLst/>
              </a:prstGeom>
              <a:blipFill>
                <a:blip r:embed="rId6"/>
                <a:stretch>
                  <a:fillRect/>
                </a:stretch>
              </a:blipFill>
            </p:spPr>
            <p:txBody>
              <a:bodyPr/>
              <a:lstStyle/>
              <a:p>
                <a:r>
                  <a:rPr lang="zh-CN" altLang="en-US">
                    <a:noFill/>
                  </a:rPr>
                  <a:t> </a:t>
                </a:r>
              </a:p>
            </p:txBody>
          </p:sp>
        </mc:Fallback>
      </mc:AlternateContent>
      <p:cxnSp>
        <p:nvCxnSpPr>
          <p:cNvPr id="24" name="直线连接符 23">
            <a:extLst>
              <a:ext uri="{FF2B5EF4-FFF2-40B4-BE49-F238E27FC236}">
                <a16:creationId xmlns:a16="http://schemas.microsoft.com/office/drawing/2014/main" id="{C787B4CE-5534-0E62-8D23-08AE22F0C9BD}"/>
              </a:ext>
            </a:extLst>
          </p:cNvPr>
          <p:cNvCxnSpPr/>
          <p:nvPr/>
        </p:nvCxnSpPr>
        <p:spPr>
          <a:xfrm>
            <a:off x="1368945" y="1221042"/>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5A5A88B8-E3E6-E876-3FF8-75BCB1D379AB}"/>
              </a:ext>
            </a:extLst>
          </p:cNvPr>
          <p:cNvCxnSpPr>
            <a:cxnSpLocks/>
          </p:cNvCxnSpPr>
          <p:nvPr/>
        </p:nvCxnSpPr>
        <p:spPr>
          <a:xfrm flipV="1">
            <a:off x="1368945" y="1581082"/>
            <a:ext cx="1624648" cy="66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919898D-D05F-F573-A0B7-303CDF043BA3}"/>
                  </a:ext>
                </a:extLst>
              </p:cNvPr>
              <p:cNvSpPr txBox="1"/>
              <p:nvPr/>
            </p:nvSpPr>
            <p:spPr>
              <a:xfrm>
                <a:off x="1081894" y="1044232"/>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7" name="文本框 26">
                <a:extLst>
                  <a:ext uri="{FF2B5EF4-FFF2-40B4-BE49-F238E27FC236}">
                    <a16:creationId xmlns:a16="http://schemas.microsoft.com/office/drawing/2014/main" id="{4919898D-D05F-F573-A0B7-303CDF043BA3}"/>
                  </a:ext>
                </a:extLst>
              </p:cNvPr>
              <p:cNvSpPr txBox="1">
                <a:spLocks noRot="1" noChangeAspect="1" noMove="1" noResize="1" noEditPoints="1" noAdjustHandles="1" noChangeArrowheads="1" noChangeShapeType="1" noTextEdit="1"/>
              </p:cNvSpPr>
              <p:nvPr/>
            </p:nvSpPr>
            <p:spPr>
              <a:xfrm>
                <a:off x="1081894" y="1044232"/>
                <a:ext cx="353302" cy="2769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D2CCA9F-2F98-0C59-342F-DC98619054F9}"/>
                  </a:ext>
                </a:extLst>
              </p:cNvPr>
              <p:cNvSpPr txBox="1"/>
              <p:nvPr/>
            </p:nvSpPr>
            <p:spPr>
              <a:xfrm>
                <a:off x="1061490" y="1404299"/>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8" name="文本框 27">
                <a:extLst>
                  <a:ext uri="{FF2B5EF4-FFF2-40B4-BE49-F238E27FC236}">
                    <a16:creationId xmlns:a16="http://schemas.microsoft.com/office/drawing/2014/main" id="{7D2CCA9F-2F98-0C59-342F-DC98619054F9}"/>
                  </a:ext>
                </a:extLst>
              </p:cNvPr>
              <p:cNvSpPr txBox="1">
                <a:spLocks noRot="1" noChangeAspect="1" noMove="1" noResize="1" noEditPoints="1" noAdjustHandles="1" noChangeArrowheads="1" noChangeShapeType="1" noTextEdit="1"/>
              </p:cNvSpPr>
              <p:nvPr/>
            </p:nvSpPr>
            <p:spPr>
              <a:xfrm>
                <a:off x="1061490" y="1404299"/>
                <a:ext cx="356893" cy="276999"/>
              </a:xfrm>
              <a:prstGeom prst="rect">
                <a:avLst/>
              </a:prstGeom>
              <a:blipFill>
                <a:blip r:embed="rId8"/>
                <a:stretch>
                  <a:fillRect/>
                </a:stretch>
              </a:blipFill>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D5E01AFF-A8E7-1A04-2D6C-184BFED40630}"/>
              </a:ext>
            </a:extLst>
          </p:cNvPr>
          <p:cNvSpPr/>
          <p:nvPr/>
        </p:nvSpPr>
        <p:spPr>
          <a:xfrm>
            <a:off x="2343085" y="1200397"/>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7CBAF431-EEAD-482A-E3A0-8C9EBCE69A93}"/>
              </a:ext>
            </a:extLst>
          </p:cNvPr>
          <p:cNvSpPr/>
          <p:nvPr/>
        </p:nvSpPr>
        <p:spPr>
          <a:xfrm>
            <a:off x="2336373" y="155401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a:extLst>
              <a:ext uri="{FF2B5EF4-FFF2-40B4-BE49-F238E27FC236}">
                <a16:creationId xmlns:a16="http://schemas.microsoft.com/office/drawing/2014/main" id="{35E5F929-F659-6E35-7681-F4D4B2E0729E}"/>
              </a:ext>
            </a:extLst>
          </p:cNvPr>
          <p:cNvSpPr/>
          <p:nvPr/>
        </p:nvSpPr>
        <p:spPr>
          <a:xfrm>
            <a:off x="2810811" y="15579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19B8C0B1-7732-B412-0547-B83FFAEAFDC4}"/>
              </a:ext>
            </a:extLst>
          </p:cNvPr>
          <p:cNvSpPr txBox="1"/>
          <p:nvPr/>
        </p:nvSpPr>
        <p:spPr>
          <a:xfrm>
            <a:off x="2708967" y="1346095"/>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34" name="文本框 33">
            <a:extLst>
              <a:ext uri="{FF2B5EF4-FFF2-40B4-BE49-F238E27FC236}">
                <a16:creationId xmlns:a16="http://schemas.microsoft.com/office/drawing/2014/main" id="{B4A50D93-AAB7-4254-AA10-9B94F3A3F710}"/>
              </a:ext>
            </a:extLst>
          </p:cNvPr>
          <p:cNvSpPr txBox="1"/>
          <p:nvPr/>
        </p:nvSpPr>
        <p:spPr>
          <a:xfrm>
            <a:off x="2333280" y="1107839"/>
            <a:ext cx="268022"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35" name="文本框 34">
            <a:extLst>
              <a:ext uri="{FF2B5EF4-FFF2-40B4-BE49-F238E27FC236}">
                <a16:creationId xmlns:a16="http://schemas.microsoft.com/office/drawing/2014/main" id="{4B6DEF5B-0FE2-9736-B3EB-C646E8932A31}"/>
              </a:ext>
            </a:extLst>
          </p:cNvPr>
          <p:cNvSpPr txBox="1"/>
          <p:nvPr/>
        </p:nvSpPr>
        <p:spPr>
          <a:xfrm>
            <a:off x="2333280" y="1395031"/>
            <a:ext cx="261610"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5F39345-1D90-38FA-3318-8F3C72EA6375}"/>
                  </a:ext>
                </a:extLst>
              </p:cNvPr>
              <p:cNvSpPr txBox="1"/>
              <p:nvPr/>
            </p:nvSpPr>
            <p:spPr>
              <a:xfrm>
                <a:off x="3250087" y="2036590"/>
                <a:ext cx="5038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b="1" i="1" dirty="0" smtClean="0">
                          <a:latin typeface="Cambria Math" panose="02040503050406030204" pitchFamily="18" charset="0"/>
                        </a:rPr>
                        <m:t>𝑳</m:t>
                      </m:r>
                      <m:d>
                        <m:dPr>
                          <m:ctrlPr>
                            <a:rPr lang="en-US" altLang="zh-CN" sz="1050" b="1" i="1" dirty="0" smtClean="0">
                              <a:latin typeface="Cambria Math" panose="02040503050406030204" pitchFamily="18" charset="0"/>
                            </a:rPr>
                          </m:ctrlPr>
                        </m:dPr>
                        <m:e>
                          <m:r>
                            <a:rPr lang="en-US" altLang="zh-CN" sz="1050" b="1" i="1" dirty="0" smtClean="0">
                              <a:latin typeface="Cambria Math" panose="02040503050406030204" pitchFamily="18" charset="0"/>
                            </a:rPr>
                            <m:t>𝒓</m:t>
                          </m:r>
                          <m:r>
                            <a:rPr lang="en-US" altLang="zh-CN" sz="1050" b="1" i="1" dirty="0" smtClean="0">
                              <a:latin typeface="Cambria Math" panose="02040503050406030204" pitchFamily="18" charset="0"/>
                            </a:rPr>
                            <m:t>,</m:t>
                          </m:r>
                          <m:sSub>
                            <m:sSubPr>
                              <m:ctrlPr>
                                <a:rPr lang="en-US" altLang="zh-CN" sz="1050" b="1" i="1" dirty="0" smtClean="0">
                                  <a:latin typeface="Cambria Math" panose="02040503050406030204" pitchFamily="18" charset="0"/>
                                </a:rPr>
                              </m:ctrlPr>
                            </m:sSubPr>
                            <m:e>
                              <m:r>
                                <a:rPr lang="en-US" altLang="zh-CN" sz="1050" b="1" i="1" dirty="0" smtClean="0">
                                  <a:latin typeface="Cambria Math" panose="02040503050406030204" pitchFamily="18" charset="0"/>
                                </a:rPr>
                                <m:t>𝒀</m:t>
                              </m:r>
                            </m:e>
                            <m:sub>
                              <m:r>
                                <a:rPr lang="en-US" altLang="zh-CN" sz="1050" b="1" i="1" dirty="0" smtClean="0">
                                  <a:latin typeface="Cambria Math" panose="02040503050406030204" pitchFamily="18" charset="0"/>
                                </a:rPr>
                                <m:t>𝟐</m:t>
                              </m:r>
                            </m:sub>
                          </m:sSub>
                        </m:e>
                      </m:d>
                    </m:oMath>
                  </m:oMathPara>
                </a14:m>
                <a:endParaRPr lang="zh-CN" altLang="en-US" sz="1050" dirty="0"/>
              </a:p>
            </p:txBody>
          </p:sp>
        </mc:Choice>
        <mc:Fallback xmlns="">
          <p:sp>
            <p:nvSpPr>
              <p:cNvPr id="10" name="文本框 9">
                <a:extLst>
                  <a:ext uri="{FF2B5EF4-FFF2-40B4-BE49-F238E27FC236}">
                    <a16:creationId xmlns:a16="http://schemas.microsoft.com/office/drawing/2014/main" id="{C5F39345-1D90-38FA-3318-8F3C72EA6375}"/>
                  </a:ext>
                </a:extLst>
              </p:cNvPr>
              <p:cNvSpPr txBox="1">
                <a:spLocks noRot="1" noChangeAspect="1" noMove="1" noResize="1" noEditPoints="1" noAdjustHandles="1" noChangeArrowheads="1" noChangeShapeType="1" noTextEdit="1"/>
              </p:cNvSpPr>
              <p:nvPr/>
            </p:nvSpPr>
            <p:spPr>
              <a:xfrm>
                <a:off x="3250087" y="2036590"/>
                <a:ext cx="503846" cy="261610"/>
              </a:xfrm>
              <a:prstGeom prst="rect">
                <a:avLst/>
              </a:prstGeom>
              <a:blipFill>
                <a:blip r:embed="rId9"/>
                <a:stretch>
                  <a:fillRect r="-7317"/>
                </a:stretch>
              </a:blipFill>
            </p:spPr>
            <p:txBody>
              <a:bodyPr/>
              <a:lstStyle/>
              <a:p>
                <a:r>
                  <a:rPr lang="zh-CN" altLang="en-US">
                    <a:noFill/>
                  </a:rPr>
                  <a:t> </a:t>
                </a:r>
              </a:p>
            </p:txBody>
          </p:sp>
        </mc:Fallback>
      </mc:AlternateContent>
      <p:cxnSp>
        <p:nvCxnSpPr>
          <p:cNvPr id="14" name="直线箭头连接符 13">
            <a:extLst>
              <a:ext uri="{FF2B5EF4-FFF2-40B4-BE49-F238E27FC236}">
                <a16:creationId xmlns:a16="http://schemas.microsoft.com/office/drawing/2014/main" id="{658FCA9D-25F7-839E-C4B5-640EA65714FA}"/>
              </a:ext>
            </a:extLst>
          </p:cNvPr>
          <p:cNvCxnSpPr/>
          <p:nvPr/>
        </p:nvCxnSpPr>
        <p:spPr>
          <a:xfrm>
            <a:off x="1808122" y="1044232"/>
            <a:ext cx="18547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5635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线连接符 11">
            <a:extLst>
              <a:ext uri="{FF2B5EF4-FFF2-40B4-BE49-F238E27FC236}">
                <a16:creationId xmlns:a16="http://schemas.microsoft.com/office/drawing/2014/main" id="{B4538707-C213-7D3F-5409-C48C246EB668}"/>
              </a:ext>
            </a:extLst>
          </p:cNvPr>
          <p:cNvCxnSpPr>
            <a:cxnSpLocks/>
          </p:cNvCxnSpPr>
          <p:nvPr/>
        </p:nvCxnSpPr>
        <p:spPr>
          <a:xfrm>
            <a:off x="1873002" y="821021"/>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央行货币政策对利率的影响</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53</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cxnSp>
        <p:nvCxnSpPr>
          <p:cNvPr id="5" name="直线箭头连接符 4">
            <a:extLst>
              <a:ext uri="{FF2B5EF4-FFF2-40B4-BE49-F238E27FC236}">
                <a16:creationId xmlns:a16="http://schemas.microsoft.com/office/drawing/2014/main" id="{1064EC4D-19C9-6AD8-92BD-AA9753B372A3}"/>
              </a:ext>
            </a:extLst>
          </p:cNvPr>
          <p:cNvCxnSpPr>
            <a:cxnSpLocks/>
          </p:cNvCxnSpPr>
          <p:nvPr/>
        </p:nvCxnSpPr>
        <p:spPr>
          <a:xfrm>
            <a:off x="1368946" y="2378447"/>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箭头连接符 5">
            <a:extLst>
              <a:ext uri="{FF2B5EF4-FFF2-40B4-BE49-F238E27FC236}">
                <a16:creationId xmlns:a16="http://schemas.microsoft.com/office/drawing/2014/main" id="{F420AC33-B45B-AFE1-ECEC-BB827E6CA05E}"/>
              </a:ext>
            </a:extLst>
          </p:cNvPr>
          <p:cNvCxnSpPr/>
          <p:nvPr/>
        </p:nvCxnSpPr>
        <p:spPr>
          <a:xfrm flipV="1">
            <a:off x="1368946" y="733779"/>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1B0D9B5B-9C28-A8A2-EDD6-F408C66F1270}"/>
              </a:ext>
            </a:extLst>
          </p:cNvPr>
          <p:cNvCxnSpPr>
            <a:cxnSpLocks/>
          </p:cNvCxnSpPr>
          <p:nvPr/>
        </p:nvCxnSpPr>
        <p:spPr>
          <a:xfrm>
            <a:off x="2359234" y="821021"/>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6D6CAB6-CFA1-0AE3-0FDD-44BC05D8EEFD}"/>
                  </a:ext>
                </a:extLst>
              </p:cNvPr>
              <p:cNvSpPr txBox="1"/>
              <p:nvPr/>
            </p:nvSpPr>
            <p:spPr>
              <a:xfrm>
                <a:off x="2404204" y="733188"/>
                <a:ext cx="520233" cy="4278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000" b="0" i="1" smtClean="0">
                              <a:latin typeface="Cambria Math" panose="02040503050406030204" pitchFamily="18" charset="0"/>
                            </a:rPr>
                          </m:ctrlPr>
                        </m:sSupPr>
                        <m:e>
                          <m:d>
                            <m:dPr>
                              <m:ctrlPr>
                                <a:rPr lang="en-US" altLang="zh-CN" sz="1000" b="0" i="1" smtClean="0">
                                  <a:latin typeface="Cambria Math" panose="02040503050406030204" pitchFamily="18" charset="0"/>
                                </a:rPr>
                              </m:ctrlPr>
                            </m:dPr>
                            <m:e>
                              <m:f>
                                <m:fPr>
                                  <m:ctrlPr>
                                    <a:rPr lang="en-US" altLang="zh-CN" sz="1000" b="0" i="1" smtClean="0">
                                      <a:latin typeface="Cambria Math" panose="02040503050406030204" pitchFamily="18" charset="0"/>
                                    </a:rPr>
                                  </m:ctrlPr>
                                </m:fPr>
                                <m:num>
                                  <m:r>
                                    <a:rPr lang="en-US" altLang="zh-CN" sz="1000" b="0" i="1" smtClean="0">
                                      <a:latin typeface="Cambria Math" panose="02040503050406030204" pitchFamily="18" charset="0"/>
                                    </a:rPr>
                                    <m:t>𝑀</m:t>
                                  </m:r>
                                </m:num>
                                <m:den>
                                  <m:r>
                                    <a:rPr lang="en-US" altLang="zh-CN" sz="1000" b="0" i="1" smtClean="0">
                                      <a:latin typeface="Cambria Math" panose="02040503050406030204" pitchFamily="18" charset="0"/>
                                    </a:rPr>
                                    <m:t>𝑃</m:t>
                                  </m:r>
                                </m:den>
                              </m:f>
                            </m:e>
                          </m:d>
                        </m:e>
                        <m:sup>
                          <m:r>
                            <a:rPr lang="en-US" altLang="zh-CN" sz="1000" b="0" i="1" smtClean="0">
                              <a:latin typeface="Cambria Math" panose="02040503050406030204" pitchFamily="18" charset="0"/>
                            </a:rPr>
                            <m:t>𝑆</m:t>
                          </m:r>
                        </m:sup>
                      </m:sSup>
                    </m:oMath>
                  </m:oMathPara>
                </a14:m>
                <a:endParaRPr lang="zh-CN" altLang="en-US" sz="1000" dirty="0"/>
              </a:p>
            </p:txBody>
          </p:sp>
        </mc:Choice>
        <mc:Fallback xmlns="">
          <p:sp>
            <p:nvSpPr>
              <p:cNvPr id="9" name="文本框 8">
                <a:extLst>
                  <a:ext uri="{FF2B5EF4-FFF2-40B4-BE49-F238E27FC236}">
                    <a16:creationId xmlns:a16="http://schemas.microsoft.com/office/drawing/2014/main" id="{F6D6CAB6-CFA1-0AE3-0FDD-44BC05D8EEFD}"/>
                  </a:ext>
                </a:extLst>
              </p:cNvPr>
              <p:cNvSpPr txBox="1">
                <a:spLocks noRot="1" noChangeAspect="1" noMove="1" noResize="1" noEditPoints="1" noAdjustHandles="1" noChangeArrowheads="1" noChangeShapeType="1" noTextEdit="1"/>
              </p:cNvSpPr>
              <p:nvPr/>
            </p:nvSpPr>
            <p:spPr>
              <a:xfrm>
                <a:off x="2404204" y="733188"/>
                <a:ext cx="520233" cy="427809"/>
              </a:xfrm>
              <a:prstGeom prst="rect">
                <a:avLst/>
              </a:prstGeom>
              <a:blipFill>
                <a:blip r:embed="rId3"/>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D2BD7B5-10F8-D023-0333-7F33254456F3}"/>
              </a:ext>
            </a:extLst>
          </p:cNvPr>
          <p:cNvSpPr txBox="1"/>
          <p:nvPr/>
        </p:nvSpPr>
        <p:spPr>
          <a:xfrm>
            <a:off x="1107336" y="599051"/>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5A3D263-B97D-BAC3-C61F-A585800AA680}"/>
                  </a:ext>
                </a:extLst>
              </p:cNvPr>
              <p:cNvSpPr txBox="1"/>
              <p:nvPr/>
            </p:nvSpPr>
            <p:spPr>
              <a:xfrm>
                <a:off x="3599570" y="2170480"/>
                <a:ext cx="346825" cy="4081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1100" i="1" dirty="0" smtClean="0">
                              <a:latin typeface="Cambria Math" panose="02040503050406030204" pitchFamily="18" charset="0"/>
                            </a:rPr>
                          </m:ctrlPr>
                        </m:fPr>
                        <m:num>
                          <m:r>
                            <a:rPr kumimoji="1" lang="en-US" altLang="zh-CN" sz="1100" i="1" dirty="0" smtClean="0">
                              <a:latin typeface="Cambria Math" panose="02040503050406030204" pitchFamily="18" charset="0"/>
                            </a:rPr>
                            <m:t>𝑀</m:t>
                          </m:r>
                        </m:num>
                        <m:den>
                          <m:r>
                            <a:rPr kumimoji="1" lang="en-US" altLang="zh-CN" sz="1100" i="1" dirty="0" smtClean="0">
                              <a:latin typeface="Cambria Math" panose="02040503050406030204" pitchFamily="18" charset="0"/>
                            </a:rPr>
                            <m:t>𝑃</m:t>
                          </m:r>
                        </m:den>
                      </m:f>
                    </m:oMath>
                  </m:oMathPara>
                </a14:m>
                <a:endParaRPr kumimoji="1" lang="zh-CN" altLang="en-US" sz="1100" dirty="0"/>
              </a:p>
            </p:txBody>
          </p:sp>
        </mc:Choice>
        <mc:Fallback xmlns="">
          <p:sp>
            <p:nvSpPr>
              <p:cNvPr id="13" name="文本框 12">
                <a:extLst>
                  <a:ext uri="{FF2B5EF4-FFF2-40B4-BE49-F238E27FC236}">
                    <a16:creationId xmlns:a16="http://schemas.microsoft.com/office/drawing/2014/main" id="{C5A3D263-B97D-BAC3-C61F-A585800AA680}"/>
                  </a:ext>
                </a:extLst>
              </p:cNvPr>
              <p:cNvSpPr txBox="1">
                <a:spLocks noRot="1" noChangeAspect="1" noMove="1" noResize="1" noEditPoints="1" noAdjustHandles="1" noChangeArrowheads="1" noChangeShapeType="1" noTextEdit="1"/>
              </p:cNvSpPr>
              <p:nvPr/>
            </p:nvSpPr>
            <p:spPr>
              <a:xfrm>
                <a:off x="3599570" y="2170480"/>
                <a:ext cx="346825" cy="408125"/>
              </a:xfrm>
              <a:prstGeom prst="rect">
                <a:avLst/>
              </a:prstGeom>
              <a:blipFill>
                <a:blip r:embed="rId4"/>
                <a:stretch>
                  <a:fillRect/>
                </a:stretch>
              </a:blipFill>
            </p:spPr>
            <p:txBody>
              <a:bodyPr/>
              <a:lstStyle/>
              <a:p>
                <a:r>
                  <a:rPr lang="zh-CN" altLang="en-US">
                    <a:noFill/>
                  </a:rPr>
                  <a:t> </a:t>
                </a:r>
              </a:p>
            </p:txBody>
          </p:sp>
        </mc:Fallback>
      </mc:AlternateContent>
      <p:cxnSp>
        <p:nvCxnSpPr>
          <p:cNvPr id="15" name="直线连接符 14">
            <a:extLst>
              <a:ext uri="{FF2B5EF4-FFF2-40B4-BE49-F238E27FC236}">
                <a16:creationId xmlns:a16="http://schemas.microsoft.com/office/drawing/2014/main" id="{CE2F0A1A-FCBD-3526-8CFF-92C5F5FC1432}"/>
              </a:ext>
            </a:extLst>
          </p:cNvPr>
          <p:cNvCxnSpPr>
            <a:cxnSpLocks/>
          </p:cNvCxnSpPr>
          <p:nvPr/>
        </p:nvCxnSpPr>
        <p:spPr>
          <a:xfrm>
            <a:off x="1625667" y="1043356"/>
            <a:ext cx="1367926" cy="1041782"/>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90F6F9A-89F9-9081-3341-3A6E54797651}"/>
                  </a:ext>
                </a:extLst>
              </p:cNvPr>
              <p:cNvSpPr txBox="1"/>
              <p:nvPr/>
            </p:nvSpPr>
            <p:spPr>
              <a:xfrm>
                <a:off x="2615955" y="2055533"/>
                <a:ext cx="5038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b="1" i="1" dirty="0" smtClean="0">
                          <a:latin typeface="Cambria Math" panose="02040503050406030204" pitchFamily="18" charset="0"/>
                        </a:rPr>
                        <m:t>𝑳</m:t>
                      </m:r>
                      <m:d>
                        <m:dPr>
                          <m:ctrlPr>
                            <a:rPr lang="en-US" altLang="zh-CN" sz="1050" b="1" i="1" dirty="0" smtClean="0">
                              <a:latin typeface="Cambria Math" panose="02040503050406030204" pitchFamily="18" charset="0"/>
                            </a:rPr>
                          </m:ctrlPr>
                        </m:dPr>
                        <m:e>
                          <m:r>
                            <a:rPr lang="en-US" altLang="zh-CN" sz="1050" b="1" i="1" dirty="0" smtClean="0">
                              <a:latin typeface="Cambria Math" panose="02040503050406030204" pitchFamily="18" charset="0"/>
                            </a:rPr>
                            <m:t>𝒓</m:t>
                          </m:r>
                          <m:r>
                            <a:rPr lang="en-US" altLang="zh-CN" sz="1050" b="1" i="1" dirty="0" smtClean="0">
                              <a:latin typeface="Cambria Math" panose="02040503050406030204" pitchFamily="18" charset="0"/>
                            </a:rPr>
                            <m:t>,</m:t>
                          </m:r>
                          <m:sSub>
                            <m:sSubPr>
                              <m:ctrlPr>
                                <a:rPr lang="en-US" altLang="zh-CN" sz="1050" b="1" i="1" dirty="0" smtClean="0">
                                  <a:latin typeface="Cambria Math" panose="02040503050406030204" pitchFamily="18" charset="0"/>
                                </a:rPr>
                              </m:ctrlPr>
                            </m:sSubPr>
                            <m:e>
                              <m:r>
                                <a:rPr lang="en-US" altLang="zh-CN" sz="1050" b="1" i="1" dirty="0" smtClean="0">
                                  <a:latin typeface="Cambria Math" panose="02040503050406030204" pitchFamily="18" charset="0"/>
                                </a:rPr>
                                <m:t>𝒀</m:t>
                              </m:r>
                            </m:e>
                            <m:sub>
                              <m:r>
                                <a:rPr lang="en-US" altLang="zh-CN" sz="1050" b="1" i="1" dirty="0" smtClean="0">
                                  <a:latin typeface="Cambria Math" panose="02040503050406030204" pitchFamily="18" charset="0"/>
                                </a:rPr>
                                <m:t>𝟏</m:t>
                              </m:r>
                            </m:sub>
                          </m:sSub>
                        </m:e>
                      </m:d>
                    </m:oMath>
                  </m:oMathPara>
                </a14:m>
                <a:endParaRPr lang="zh-CN" altLang="en-US" sz="1050" dirty="0"/>
              </a:p>
            </p:txBody>
          </p:sp>
        </mc:Choice>
        <mc:Fallback xmlns="">
          <p:sp>
            <p:nvSpPr>
              <p:cNvPr id="20" name="文本框 19">
                <a:extLst>
                  <a:ext uri="{FF2B5EF4-FFF2-40B4-BE49-F238E27FC236}">
                    <a16:creationId xmlns:a16="http://schemas.microsoft.com/office/drawing/2014/main" id="{A90F6F9A-89F9-9081-3341-3A6E54797651}"/>
                  </a:ext>
                </a:extLst>
              </p:cNvPr>
              <p:cNvSpPr txBox="1">
                <a:spLocks noRot="1" noChangeAspect="1" noMove="1" noResize="1" noEditPoints="1" noAdjustHandles="1" noChangeArrowheads="1" noChangeShapeType="1" noTextEdit="1"/>
              </p:cNvSpPr>
              <p:nvPr/>
            </p:nvSpPr>
            <p:spPr>
              <a:xfrm>
                <a:off x="2615955" y="2055533"/>
                <a:ext cx="503846" cy="261610"/>
              </a:xfrm>
              <a:prstGeom prst="rect">
                <a:avLst/>
              </a:prstGeom>
              <a:blipFill>
                <a:blip r:embed="rId5"/>
                <a:stretch>
                  <a:fillRect r="-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A5462D8-6D1F-90B4-77B7-B13DA7C79165}"/>
                  </a:ext>
                </a:extLst>
              </p:cNvPr>
              <p:cNvSpPr txBox="1"/>
              <p:nvPr/>
            </p:nvSpPr>
            <p:spPr>
              <a:xfrm>
                <a:off x="2143313" y="2374542"/>
                <a:ext cx="431841" cy="4351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oMath>
                  </m:oMathPara>
                </a14:m>
                <a:endParaRPr lang="zh-CN" altLang="en-US" sz="1100" dirty="0"/>
              </a:p>
            </p:txBody>
          </p:sp>
        </mc:Choice>
        <mc:Fallback xmlns="">
          <p:sp>
            <p:nvSpPr>
              <p:cNvPr id="22" name="文本框 21">
                <a:extLst>
                  <a:ext uri="{FF2B5EF4-FFF2-40B4-BE49-F238E27FC236}">
                    <a16:creationId xmlns:a16="http://schemas.microsoft.com/office/drawing/2014/main" id="{CA5462D8-6D1F-90B4-77B7-B13DA7C79165}"/>
                  </a:ext>
                </a:extLst>
              </p:cNvPr>
              <p:cNvSpPr txBox="1">
                <a:spLocks noRot="1" noChangeAspect="1" noMove="1" noResize="1" noEditPoints="1" noAdjustHandles="1" noChangeArrowheads="1" noChangeShapeType="1" noTextEdit="1"/>
              </p:cNvSpPr>
              <p:nvPr/>
            </p:nvSpPr>
            <p:spPr>
              <a:xfrm>
                <a:off x="2143313" y="2374542"/>
                <a:ext cx="431841" cy="435119"/>
              </a:xfrm>
              <a:prstGeom prst="rect">
                <a:avLst/>
              </a:prstGeom>
              <a:blipFill>
                <a:blip r:embed="rId6"/>
                <a:stretch>
                  <a:fillRect/>
                </a:stretch>
              </a:blipFill>
            </p:spPr>
            <p:txBody>
              <a:bodyPr/>
              <a:lstStyle/>
              <a:p>
                <a:r>
                  <a:rPr lang="zh-CN" altLang="en-US">
                    <a:noFill/>
                  </a:rPr>
                  <a:t> </a:t>
                </a:r>
              </a:p>
            </p:txBody>
          </p:sp>
        </mc:Fallback>
      </mc:AlternateContent>
      <p:cxnSp>
        <p:nvCxnSpPr>
          <p:cNvPr id="24" name="直线连接符 23">
            <a:extLst>
              <a:ext uri="{FF2B5EF4-FFF2-40B4-BE49-F238E27FC236}">
                <a16:creationId xmlns:a16="http://schemas.microsoft.com/office/drawing/2014/main" id="{C787B4CE-5534-0E62-8D23-08AE22F0C9BD}"/>
              </a:ext>
            </a:extLst>
          </p:cNvPr>
          <p:cNvCxnSpPr/>
          <p:nvPr/>
        </p:nvCxnSpPr>
        <p:spPr>
          <a:xfrm>
            <a:off x="1368945" y="1221042"/>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5A5A88B8-E3E6-E876-3FF8-75BCB1D379AB}"/>
              </a:ext>
            </a:extLst>
          </p:cNvPr>
          <p:cNvCxnSpPr>
            <a:cxnSpLocks/>
          </p:cNvCxnSpPr>
          <p:nvPr/>
        </p:nvCxnSpPr>
        <p:spPr>
          <a:xfrm flipV="1">
            <a:off x="1368945" y="1581082"/>
            <a:ext cx="1624648" cy="66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919898D-D05F-F573-A0B7-303CDF043BA3}"/>
                  </a:ext>
                </a:extLst>
              </p:cNvPr>
              <p:cNvSpPr txBox="1"/>
              <p:nvPr/>
            </p:nvSpPr>
            <p:spPr>
              <a:xfrm>
                <a:off x="1081894" y="1044232"/>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7" name="文本框 26">
                <a:extLst>
                  <a:ext uri="{FF2B5EF4-FFF2-40B4-BE49-F238E27FC236}">
                    <a16:creationId xmlns:a16="http://schemas.microsoft.com/office/drawing/2014/main" id="{4919898D-D05F-F573-A0B7-303CDF043BA3}"/>
                  </a:ext>
                </a:extLst>
              </p:cNvPr>
              <p:cNvSpPr txBox="1">
                <a:spLocks noRot="1" noChangeAspect="1" noMove="1" noResize="1" noEditPoints="1" noAdjustHandles="1" noChangeArrowheads="1" noChangeShapeType="1" noTextEdit="1"/>
              </p:cNvSpPr>
              <p:nvPr/>
            </p:nvSpPr>
            <p:spPr>
              <a:xfrm>
                <a:off x="1081894" y="1044232"/>
                <a:ext cx="353302" cy="2769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D2CCA9F-2F98-0C59-342F-DC98619054F9}"/>
                  </a:ext>
                </a:extLst>
              </p:cNvPr>
              <p:cNvSpPr txBox="1"/>
              <p:nvPr/>
            </p:nvSpPr>
            <p:spPr>
              <a:xfrm>
                <a:off x="1061490" y="1404299"/>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8" name="文本框 27">
                <a:extLst>
                  <a:ext uri="{FF2B5EF4-FFF2-40B4-BE49-F238E27FC236}">
                    <a16:creationId xmlns:a16="http://schemas.microsoft.com/office/drawing/2014/main" id="{7D2CCA9F-2F98-0C59-342F-DC98619054F9}"/>
                  </a:ext>
                </a:extLst>
              </p:cNvPr>
              <p:cNvSpPr txBox="1">
                <a:spLocks noRot="1" noChangeAspect="1" noMove="1" noResize="1" noEditPoints="1" noAdjustHandles="1" noChangeArrowheads="1" noChangeShapeType="1" noTextEdit="1"/>
              </p:cNvSpPr>
              <p:nvPr/>
            </p:nvSpPr>
            <p:spPr>
              <a:xfrm>
                <a:off x="1061490" y="1404299"/>
                <a:ext cx="356893" cy="276999"/>
              </a:xfrm>
              <a:prstGeom prst="rect">
                <a:avLst/>
              </a:prstGeom>
              <a:blipFill>
                <a:blip r:embed="rId8"/>
                <a:stretch>
                  <a:fillRect/>
                </a:stretch>
              </a:blipFill>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D5E01AFF-A8E7-1A04-2D6C-184BFED40630}"/>
              </a:ext>
            </a:extLst>
          </p:cNvPr>
          <p:cNvSpPr/>
          <p:nvPr/>
        </p:nvSpPr>
        <p:spPr>
          <a:xfrm>
            <a:off x="2343085" y="1200397"/>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7CBAF431-EEAD-482A-E3A0-8C9EBCE69A93}"/>
              </a:ext>
            </a:extLst>
          </p:cNvPr>
          <p:cNvSpPr/>
          <p:nvPr/>
        </p:nvSpPr>
        <p:spPr>
          <a:xfrm>
            <a:off x="2336373" y="155401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a:extLst>
              <a:ext uri="{FF2B5EF4-FFF2-40B4-BE49-F238E27FC236}">
                <a16:creationId xmlns:a16="http://schemas.microsoft.com/office/drawing/2014/main" id="{35E5F929-F659-6E35-7681-F4D4B2E0729E}"/>
              </a:ext>
            </a:extLst>
          </p:cNvPr>
          <p:cNvSpPr/>
          <p:nvPr/>
        </p:nvSpPr>
        <p:spPr>
          <a:xfrm>
            <a:off x="1851703" y="119815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19B8C0B1-7732-B412-0547-B83FFAEAFDC4}"/>
              </a:ext>
            </a:extLst>
          </p:cNvPr>
          <p:cNvSpPr txBox="1"/>
          <p:nvPr/>
        </p:nvSpPr>
        <p:spPr>
          <a:xfrm>
            <a:off x="1806978" y="1045581"/>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34" name="文本框 33">
            <a:extLst>
              <a:ext uri="{FF2B5EF4-FFF2-40B4-BE49-F238E27FC236}">
                <a16:creationId xmlns:a16="http://schemas.microsoft.com/office/drawing/2014/main" id="{B4A50D93-AAB7-4254-AA10-9B94F3A3F710}"/>
              </a:ext>
            </a:extLst>
          </p:cNvPr>
          <p:cNvSpPr txBox="1"/>
          <p:nvPr/>
        </p:nvSpPr>
        <p:spPr>
          <a:xfrm>
            <a:off x="2333280" y="1107839"/>
            <a:ext cx="268022"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35" name="文本框 34">
            <a:extLst>
              <a:ext uri="{FF2B5EF4-FFF2-40B4-BE49-F238E27FC236}">
                <a16:creationId xmlns:a16="http://schemas.microsoft.com/office/drawing/2014/main" id="{4B6DEF5B-0FE2-9736-B3EB-C646E8932A31}"/>
              </a:ext>
            </a:extLst>
          </p:cNvPr>
          <p:cNvSpPr txBox="1"/>
          <p:nvPr/>
        </p:nvSpPr>
        <p:spPr>
          <a:xfrm>
            <a:off x="2333280" y="1395031"/>
            <a:ext cx="261610" cy="230832"/>
          </a:xfrm>
          <a:prstGeom prst="rect">
            <a:avLst/>
          </a:prstGeom>
          <a:noFill/>
        </p:spPr>
        <p:txBody>
          <a:bodyPr wrap="none" rtlCol="0">
            <a:spAutoFit/>
          </a:bodyPr>
          <a:lstStyle/>
          <a:p>
            <a:r>
              <a:rPr kumimoji="1" lang="en-US" altLang="zh-CN" sz="900" dirty="0"/>
              <a:t>E</a:t>
            </a:r>
            <a:endParaRPr kumimoji="1" lang="zh-CN" altLang="en-US" sz="900" dirty="0"/>
          </a:p>
        </p:txBody>
      </p:sp>
      <p:cxnSp>
        <p:nvCxnSpPr>
          <p:cNvPr id="18" name="直线箭头连接符 17">
            <a:extLst>
              <a:ext uri="{FF2B5EF4-FFF2-40B4-BE49-F238E27FC236}">
                <a16:creationId xmlns:a16="http://schemas.microsoft.com/office/drawing/2014/main" id="{50F4FB1A-F707-4147-7FFB-604CF2676096}"/>
              </a:ext>
            </a:extLst>
          </p:cNvPr>
          <p:cNvCxnSpPr/>
          <p:nvPr/>
        </p:nvCxnSpPr>
        <p:spPr>
          <a:xfrm flipH="1">
            <a:off x="1907190" y="968383"/>
            <a:ext cx="3356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331A0A37-E0F1-5553-0484-3A6269163222}"/>
              </a:ext>
            </a:extLst>
          </p:cNvPr>
          <p:cNvSpPr txBox="1"/>
          <p:nvPr/>
        </p:nvSpPr>
        <p:spPr>
          <a:xfrm>
            <a:off x="1829922" y="751811"/>
            <a:ext cx="595035" cy="215444"/>
          </a:xfrm>
          <a:prstGeom prst="rect">
            <a:avLst/>
          </a:prstGeom>
          <a:noFill/>
        </p:spPr>
        <p:txBody>
          <a:bodyPr wrap="none" rtlCol="0">
            <a:spAutoFit/>
          </a:bodyPr>
          <a:lstStyle/>
          <a:p>
            <a:r>
              <a:rPr kumimoji="1" lang="zh-CN" altLang="en-US" sz="800" dirty="0">
                <a:solidFill>
                  <a:srgbClr val="00B0F0"/>
                </a:solidFill>
              </a:rPr>
              <a:t>货币紧缩</a:t>
            </a:r>
          </a:p>
        </p:txBody>
      </p:sp>
      <p:cxnSp>
        <p:nvCxnSpPr>
          <p:cNvPr id="23" name="直线箭头连接符 22">
            <a:extLst>
              <a:ext uri="{FF2B5EF4-FFF2-40B4-BE49-F238E27FC236}">
                <a16:creationId xmlns:a16="http://schemas.microsoft.com/office/drawing/2014/main" id="{877B84B5-8A67-9566-D2AD-CF2CE7CF77DD}"/>
              </a:ext>
            </a:extLst>
          </p:cNvPr>
          <p:cNvCxnSpPr>
            <a:cxnSpLocks/>
          </p:cNvCxnSpPr>
          <p:nvPr/>
        </p:nvCxnSpPr>
        <p:spPr>
          <a:xfrm flipV="1">
            <a:off x="1107336" y="1244061"/>
            <a:ext cx="0" cy="26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640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down)">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4</a:t>
            </a:r>
            <a:r>
              <a:rPr lang="zh-CN" altLang="en-US" sz="2000" b="1" dirty="0">
                <a:solidFill>
                  <a:srgbClr val="333399"/>
                </a:solidFill>
                <a:latin typeface="Garamond" panose="02020404030301010803" pitchFamily="18" charset="0"/>
                <a:ea typeface="KaiTi" panose="02010609060101010101" pitchFamily="49" charset="-122"/>
                <a:cs typeface="+mj-cs"/>
              </a:rPr>
              <a:t>节 货币市场均衡与</a:t>
            </a:r>
            <a:r>
              <a:rPr lang="en-US" altLang="zh-CN" sz="2000" b="1" dirty="0">
                <a:solidFill>
                  <a:srgbClr val="333399"/>
                </a:solidFill>
                <a:latin typeface="Garamond" panose="02020404030301010803" pitchFamily="18" charset="0"/>
                <a:ea typeface="KaiTi" panose="02010609060101010101" pitchFamily="49" charset="-122"/>
                <a:cs typeface="+mj-cs"/>
              </a:rPr>
              <a:t>LM</a:t>
            </a:r>
            <a:r>
              <a:rPr lang="zh-CN" altLang="en-US" sz="2000" b="1" dirty="0">
                <a:solidFill>
                  <a:srgbClr val="333399"/>
                </a:solidFill>
                <a:latin typeface="Garamond" panose="02020404030301010803" pitchFamily="18" charset="0"/>
                <a:ea typeface="KaiTi" panose="02010609060101010101" pitchFamily="49" charset="-122"/>
                <a:cs typeface="+mj-cs"/>
              </a:rPr>
              <a:t>曲线</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3368645236"/>
      </p:ext>
    </p:extLst>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16945" y="471047"/>
                <a:ext cx="3976211" cy="1991910"/>
              </a:xfrm>
            </p:spPr>
            <p:txBody>
              <a:bodyPr/>
              <a:lstStyle/>
              <a:p>
                <a:r>
                  <a:rPr lang="zh-CN" altLang="en-US" sz="1210" dirty="0"/>
                  <a:t>在货币市场均衡中，我们看到收入变化通过货币需求而对利率产生影响：</a:t>
                </a:r>
                <a:endParaRPr lang="en-US" altLang="zh-CN" sz="1210" dirty="0"/>
              </a:p>
              <a:p>
                <a:pPr marL="0" indent="0">
                  <a:buNone/>
                </a:pPr>
                <a14:m>
                  <m:oMathPara xmlns:m="http://schemas.openxmlformats.org/officeDocument/2006/math">
                    <m:oMathParaPr>
                      <m:jc m:val="centerGroup"/>
                    </m:oMathParaPr>
                    <m:oMath xmlns:m="http://schemas.openxmlformats.org/officeDocument/2006/math">
                      <m:r>
                        <a:rPr lang="en-US" altLang="zh-CN" sz="1210" b="0" i="1" smtClean="0">
                          <a:latin typeface="Cambria Math" panose="02040503050406030204" pitchFamily="18" charset="0"/>
                        </a:rPr>
                        <m:t>𝑌</m:t>
                      </m:r>
                      <m:r>
                        <a:rPr lang="en-US" altLang="zh-CN" sz="1210" b="0" i="1" smtClean="0">
                          <a:latin typeface="Cambria Math" panose="02040503050406030204" pitchFamily="18" charset="0"/>
                          <a:ea typeface="Cambria Math" panose="02040503050406030204" pitchFamily="18" charset="0"/>
                        </a:rPr>
                        <m:t>→</m:t>
                      </m:r>
                      <m:r>
                        <a:rPr lang="en-US" altLang="zh-CN" sz="1210" b="0" i="1" smtClean="0">
                          <a:latin typeface="Cambria Math" panose="02040503050406030204" pitchFamily="18" charset="0"/>
                          <a:ea typeface="Cambria Math" panose="02040503050406030204" pitchFamily="18" charset="0"/>
                        </a:rPr>
                        <m:t>𝐿</m:t>
                      </m:r>
                      <m:d>
                        <m:dPr>
                          <m:ctrlPr>
                            <a:rPr lang="en-US" altLang="zh-CN" sz="1210" b="0" i="1" smtClean="0">
                              <a:latin typeface="Cambria Math" panose="02040503050406030204" pitchFamily="18" charset="0"/>
                              <a:ea typeface="Cambria Math" panose="02040503050406030204" pitchFamily="18" charset="0"/>
                            </a:rPr>
                          </m:ctrlPr>
                        </m:dPr>
                        <m:e>
                          <m:r>
                            <a:rPr lang="en-US" altLang="zh-CN" sz="1210" b="0" i="1" smtClean="0">
                              <a:latin typeface="Cambria Math" panose="02040503050406030204" pitchFamily="18" charset="0"/>
                              <a:ea typeface="Cambria Math" panose="02040503050406030204" pitchFamily="18" charset="0"/>
                            </a:rPr>
                            <m:t>𝑟</m:t>
                          </m:r>
                          <m:r>
                            <a:rPr lang="en-US" altLang="zh-CN" sz="1210" b="0" i="1" smtClean="0">
                              <a:latin typeface="Cambria Math" panose="02040503050406030204" pitchFamily="18" charset="0"/>
                              <a:ea typeface="Cambria Math" panose="02040503050406030204" pitchFamily="18" charset="0"/>
                            </a:rPr>
                            <m:t>,</m:t>
                          </m:r>
                          <m:r>
                            <a:rPr lang="en-US" altLang="zh-CN" sz="1210" b="0" i="1" smtClean="0">
                              <a:latin typeface="Cambria Math" panose="02040503050406030204" pitchFamily="18" charset="0"/>
                              <a:ea typeface="Cambria Math" panose="02040503050406030204" pitchFamily="18" charset="0"/>
                            </a:rPr>
                            <m:t>𝑌</m:t>
                          </m:r>
                        </m:e>
                      </m:d>
                      <m:r>
                        <a:rPr lang="en-US" altLang="zh-CN" sz="1210" b="0" i="1" smtClean="0">
                          <a:latin typeface="Cambria Math" panose="02040503050406030204" pitchFamily="18" charset="0"/>
                          <a:ea typeface="Cambria Math" panose="02040503050406030204" pitchFamily="18" charset="0"/>
                        </a:rPr>
                        <m:t>→</m:t>
                      </m:r>
                      <m:r>
                        <a:rPr lang="en-US" altLang="zh-CN" sz="1210" b="0" i="1" smtClean="0">
                          <a:latin typeface="Cambria Math" panose="02040503050406030204" pitchFamily="18" charset="0"/>
                          <a:ea typeface="Cambria Math" panose="02040503050406030204" pitchFamily="18" charset="0"/>
                        </a:rPr>
                        <m:t>𝑟</m:t>
                      </m:r>
                    </m:oMath>
                  </m:oMathPara>
                </a14:m>
                <a:endParaRPr lang="en-US" altLang="zh-CN" sz="1210" b="0" dirty="0">
                  <a:ea typeface="Cambria Math" panose="02040503050406030204" pitchFamily="18" charset="0"/>
                </a:endParaRPr>
              </a:p>
              <a:p>
                <a:r>
                  <a:rPr lang="zh-CN" altLang="en-US" sz="1210" dirty="0"/>
                  <a:t>在利率</a:t>
                </a:r>
                <a:r>
                  <a:rPr lang="en-US" altLang="zh-CN" sz="1210" dirty="0"/>
                  <a:t>——</a:t>
                </a:r>
                <a:r>
                  <a:rPr lang="zh-CN" altLang="en-US" sz="1210" dirty="0"/>
                  <a:t>收入中用曲线表现这种关系，我们就得到</a:t>
                </a:r>
                <a:r>
                  <a:rPr lang="en-US" altLang="zh-CN" sz="1210" dirty="0"/>
                  <a:t>LM</a:t>
                </a:r>
                <a:r>
                  <a:rPr lang="zh-CN" altLang="en-US" sz="1210" dirty="0"/>
                  <a:t>曲线</a:t>
                </a:r>
                <a:endParaRPr lang="en-US" altLang="zh-CN" sz="1210" dirty="0"/>
              </a:p>
              <a:p>
                <a:r>
                  <a:rPr lang="zh-CN" altLang="en-US" sz="1210" dirty="0"/>
                  <a:t>意味着货币市场上供求相等，是因为货币市场的均衡是</a:t>
                </a:r>
                <a:r>
                  <a:rPr lang="en-US" altLang="zh-CN" sz="1210" dirty="0"/>
                  <a:t>L=M</a:t>
                </a:r>
                <a:endParaRPr lang="zh-CN" altLang="en-US" sz="121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16945" y="471047"/>
                <a:ext cx="3976211" cy="1991910"/>
              </a:xfrm>
              <a:blipFill>
                <a:blip r:embed="rId3"/>
                <a:stretch>
                  <a:fillRect t="-1266"/>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55</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9190347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曲线的推导</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pic>
        <p:nvPicPr>
          <p:cNvPr id="7" name="图片 6">
            <a:extLst>
              <a:ext uri="{FF2B5EF4-FFF2-40B4-BE49-F238E27FC236}">
                <a16:creationId xmlns:a16="http://schemas.microsoft.com/office/drawing/2014/main" id="{1640FA9E-196E-17C8-748B-8A77356FDB26}"/>
              </a:ext>
            </a:extLst>
          </p:cNvPr>
          <p:cNvPicPr>
            <a:picLocks noChangeAspect="1"/>
          </p:cNvPicPr>
          <p:nvPr/>
        </p:nvPicPr>
        <p:blipFill>
          <a:blip r:embed="rId3"/>
          <a:stretch>
            <a:fillRect/>
          </a:stretch>
        </p:blipFill>
        <p:spPr>
          <a:xfrm>
            <a:off x="338677" y="506239"/>
            <a:ext cx="4074533" cy="2628018"/>
          </a:xfrm>
          <a:prstGeom prst="rect">
            <a:avLst/>
          </a:prstGeom>
        </p:spPr>
      </p:pic>
      <p:sp>
        <p:nvSpPr>
          <p:cNvPr id="8" name="文本框 7">
            <a:extLst>
              <a:ext uri="{FF2B5EF4-FFF2-40B4-BE49-F238E27FC236}">
                <a16:creationId xmlns:a16="http://schemas.microsoft.com/office/drawing/2014/main" id="{6D478368-A400-7DE9-361A-1720C5E65974}"/>
              </a:ext>
            </a:extLst>
          </p:cNvPr>
          <p:cNvSpPr txBox="1"/>
          <p:nvPr/>
        </p:nvSpPr>
        <p:spPr>
          <a:xfrm>
            <a:off x="2953122" y="1581158"/>
            <a:ext cx="279244" cy="261610"/>
          </a:xfrm>
          <a:prstGeom prst="rect">
            <a:avLst/>
          </a:prstGeom>
          <a:noFill/>
        </p:spPr>
        <p:txBody>
          <a:bodyPr wrap="none" rtlCol="0">
            <a:spAutoFit/>
          </a:bodyPr>
          <a:lstStyle/>
          <a:p>
            <a:r>
              <a:rPr kumimoji="1" lang="en-US" altLang="zh-CN" sz="1100" dirty="0"/>
              <a:t>A</a:t>
            </a:r>
            <a:endParaRPr kumimoji="1" lang="zh-CN" altLang="en-US" sz="1100" dirty="0"/>
          </a:p>
        </p:txBody>
      </p:sp>
    </p:spTree>
    <p:extLst>
      <p:ext uri="{BB962C8B-B14F-4D97-AF65-F5344CB8AC3E}">
        <p14:creationId xmlns:p14="http://schemas.microsoft.com/office/powerpoint/2010/main" val="11207825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471047"/>
            <a:ext cx="3976211" cy="1991910"/>
          </a:xfrm>
        </p:spPr>
        <p:txBody>
          <a:bodyPr/>
          <a:lstStyle/>
          <a:p>
            <a:r>
              <a:rPr lang="zh-CN" altLang="en-US" sz="1210" dirty="0"/>
              <a:t>在货币供给量既定情况下，货币市场的均衡只能通过调节对货币的需求来实现。</a:t>
            </a:r>
            <a:endParaRPr lang="en-US" altLang="zh-CN" sz="1210" dirty="0"/>
          </a:p>
          <a:p>
            <a:r>
              <a:rPr lang="zh-CN" altLang="en-US" sz="1210" dirty="0"/>
              <a:t>假定</a:t>
            </a:r>
            <a:r>
              <a:rPr lang="en-US" altLang="zh-CN" sz="1210" dirty="0"/>
              <a:t>m</a:t>
            </a:r>
            <a:r>
              <a:rPr lang="zh-CN" altLang="en-US" sz="1210" dirty="0"/>
              <a:t>是实际货币供给量，则货币市场均衡是</a:t>
            </a:r>
            <a:endParaRPr lang="en-US" altLang="zh-CN" sz="1210" dirty="0"/>
          </a:p>
          <a:p>
            <a:r>
              <a:rPr lang="en-US" altLang="zh-CN" sz="1210" dirty="0"/>
              <a:t>m=L=L</a:t>
            </a:r>
            <a:r>
              <a:rPr lang="en-US" altLang="zh-CN" sz="807" dirty="0"/>
              <a:t>1</a:t>
            </a:r>
            <a:r>
              <a:rPr lang="en-US" altLang="zh-CN" sz="1210" dirty="0"/>
              <a:t>(y)+L</a:t>
            </a:r>
            <a:r>
              <a:rPr lang="en-US" altLang="zh-CN" sz="807" dirty="0"/>
              <a:t>2</a:t>
            </a:r>
            <a:r>
              <a:rPr lang="en-US" altLang="zh-CN" sz="1210" dirty="0"/>
              <a:t>(r)=</a:t>
            </a:r>
            <a:r>
              <a:rPr lang="en-US" altLang="zh-CN" sz="1210" dirty="0" err="1"/>
              <a:t>ky-hr</a:t>
            </a:r>
            <a:r>
              <a:rPr lang="zh-CN" altLang="en-US" sz="1210" dirty="0"/>
              <a:t>。</a:t>
            </a:r>
            <a:endParaRPr lang="en-US" altLang="zh-CN" sz="1210" dirty="0"/>
          </a:p>
          <a:p>
            <a:r>
              <a:rPr lang="zh-CN" altLang="en-US" sz="1210" dirty="0"/>
              <a:t>当</a:t>
            </a:r>
            <a:r>
              <a:rPr lang="en-US" altLang="zh-CN" sz="1210" dirty="0"/>
              <a:t>m</a:t>
            </a:r>
            <a:r>
              <a:rPr lang="zh-CN" altLang="en-US" sz="1210" dirty="0"/>
              <a:t>为一定量时，</a:t>
            </a:r>
            <a:r>
              <a:rPr lang="en-US" altLang="zh-CN" sz="1210" dirty="0"/>
              <a:t> L</a:t>
            </a:r>
            <a:r>
              <a:rPr lang="en-US" altLang="zh-CN" sz="807" dirty="0"/>
              <a:t>1</a:t>
            </a:r>
            <a:r>
              <a:rPr lang="zh-CN" altLang="en-US" sz="1210" dirty="0"/>
              <a:t>增加，</a:t>
            </a:r>
            <a:r>
              <a:rPr lang="en-US" altLang="zh-CN" sz="1210" dirty="0"/>
              <a:t>L</a:t>
            </a:r>
            <a:r>
              <a:rPr lang="en-US" altLang="zh-CN" sz="807" dirty="0"/>
              <a:t>2</a:t>
            </a:r>
            <a:r>
              <a:rPr lang="zh-CN" altLang="en-US" sz="1210" dirty="0"/>
              <a:t>必须减少才能保持均衡。</a:t>
            </a:r>
          </a:p>
        </p:txBody>
      </p:sp>
      <p:sp>
        <p:nvSpPr>
          <p:cNvPr id="8" name="矩形 7"/>
          <p:cNvSpPr/>
          <p:nvPr/>
        </p:nvSpPr>
        <p:spPr>
          <a:xfrm>
            <a:off x="441725" y="1946399"/>
            <a:ext cx="3851429" cy="600164"/>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1100" dirty="0">
                <a:solidFill>
                  <a:schemeClr val="tx1"/>
                </a:solidFill>
                <a:latin typeface="Garamond" panose="02020404030301010803" pitchFamily="18" charset="0"/>
                <a:ea typeface="SimSun" panose="02010600030101010101" pitchFamily="2" charset="-122"/>
              </a:rPr>
              <a:t>当</a:t>
            </a:r>
            <a:r>
              <a:rPr lang="en-US" altLang="zh-CN" sz="1100" dirty="0">
                <a:solidFill>
                  <a:schemeClr val="tx1"/>
                </a:solidFill>
                <a:latin typeface="Garamond" panose="02020404030301010803" pitchFamily="18" charset="0"/>
                <a:ea typeface="SimSun" panose="02010600030101010101" pitchFamily="2" charset="-122"/>
              </a:rPr>
              <a:t>m</a:t>
            </a:r>
            <a:r>
              <a:rPr lang="zh-CN" altLang="en-US" sz="1100" dirty="0">
                <a:solidFill>
                  <a:schemeClr val="tx1"/>
                </a:solidFill>
                <a:latin typeface="Garamond" panose="02020404030301010803" pitchFamily="18" charset="0"/>
                <a:ea typeface="SimSun" panose="02010600030101010101" pitchFamily="2" charset="-122"/>
              </a:rPr>
              <a:t>给定时，</a:t>
            </a:r>
            <a:r>
              <a:rPr lang="en-US" altLang="zh-CN" sz="1100" dirty="0">
                <a:solidFill>
                  <a:schemeClr val="tx1"/>
                </a:solidFill>
                <a:latin typeface="Garamond" panose="02020404030301010803" pitchFamily="18" charset="0"/>
                <a:ea typeface="SimSun" panose="02010600030101010101" pitchFamily="2" charset="-122"/>
              </a:rPr>
              <a:t> m=</a:t>
            </a:r>
            <a:r>
              <a:rPr lang="en-US" altLang="zh-CN" sz="1100" dirty="0" err="1">
                <a:solidFill>
                  <a:schemeClr val="tx1"/>
                </a:solidFill>
                <a:latin typeface="Garamond" panose="02020404030301010803" pitchFamily="18" charset="0"/>
                <a:ea typeface="SimSun" panose="02010600030101010101" pitchFamily="2" charset="-122"/>
              </a:rPr>
              <a:t>ky-hr</a:t>
            </a:r>
            <a:r>
              <a:rPr lang="en-US" altLang="zh-CN" sz="1100" dirty="0">
                <a:solidFill>
                  <a:schemeClr val="tx1"/>
                </a:solidFill>
                <a:latin typeface="Garamond" panose="02020404030301010803" pitchFamily="18" charset="0"/>
                <a:ea typeface="SimSun" panose="02010600030101010101" pitchFamily="2" charset="-122"/>
              </a:rPr>
              <a:t> </a:t>
            </a:r>
            <a:r>
              <a:rPr lang="zh-CN" altLang="en-US" sz="1100" dirty="0">
                <a:solidFill>
                  <a:schemeClr val="tx1"/>
                </a:solidFill>
                <a:latin typeface="Garamond" panose="02020404030301010803" pitchFamily="18" charset="0"/>
                <a:ea typeface="SimSun" panose="02010600030101010101" pitchFamily="2" charset="-122"/>
              </a:rPr>
              <a:t>的公式可以表示</a:t>
            </a:r>
            <a:r>
              <a:rPr lang="zh-CN" altLang="en-US" sz="1100" b="1" dirty="0">
                <a:solidFill>
                  <a:schemeClr val="tx1"/>
                </a:solidFill>
                <a:latin typeface="Garamond" panose="02020404030301010803" pitchFamily="18" charset="0"/>
                <a:ea typeface="SimSun" panose="02010600030101010101" pitchFamily="2" charset="-122"/>
              </a:rPr>
              <a:t>为满足货币市场的均衡条件下的收入</a:t>
            </a:r>
            <a:r>
              <a:rPr lang="en-US" altLang="zh-CN" sz="1100" b="1" dirty="0">
                <a:solidFill>
                  <a:schemeClr val="tx1"/>
                </a:solidFill>
                <a:latin typeface="Garamond" panose="02020404030301010803" pitchFamily="18" charset="0"/>
                <a:ea typeface="SimSun" panose="02010600030101010101" pitchFamily="2" charset="-122"/>
              </a:rPr>
              <a:t>y</a:t>
            </a:r>
            <a:r>
              <a:rPr lang="zh-CN" altLang="en-US" sz="1100" b="1" dirty="0">
                <a:solidFill>
                  <a:schemeClr val="tx1"/>
                </a:solidFill>
                <a:latin typeface="Garamond" panose="02020404030301010803" pitchFamily="18" charset="0"/>
                <a:ea typeface="SimSun" panose="02010600030101010101" pitchFamily="2" charset="-122"/>
              </a:rPr>
              <a:t>与利率</a:t>
            </a:r>
            <a:r>
              <a:rPr lang="en-US" altLang="zh-CN" sz="1100" b="1" dirty="0">
                <a:solidFill>
                  <a:schemeClr val="tx1"/>
                </a:solidFill>
                <a:latin typeface="Garamond" panose="02020404030301010803" pitchFamily="18" charset="0"/>
                <a:ea typeface="SimSun" panose="02010600030101010101" pitchFamily="2" charset="-122"/>
              </a:rPr>
              <a:t>r </a:t>
            </a:r>
            <a:r>
              <a:rPr lang="zh-CN" altLang="en-US" sz="1100" b="1" dirty="0">
                <a:solidFill>
                  <a:schemeClr val="tx1"/>
                </a:solidFill>
                <a:latin typeface="Garamond" panose="02020404030301010803" pitchFamily="18" charset="0"/>
                <a:ea typeface="SimSun" panose="02010600030101010101" pitchFamily="2" charset="-122"/>
              </a:rPr>
              <a:t>的关系</a:t>
            </a:r>
            <a:r>
              <a:rPr lang="zh-CN" altLang="en-US" sz="1100" dirty="0">
                <a:solidFill>
                  <a:schemeClr val="tx1"/>
                </a:solidFill>
                <a:latin typeface="Garamond" panose="02020404030301010803" pitchFamily="18" charset="0"/>
                <a:ea typeface="SimSun" panose="02010600030101010101" pitchFamily="2" charset="-122"/>
              </a:rPr>
              <a:t>，这一关系的图形被称为</a:t>
            </a:r>
            <a:r>
              <a:rPr lang="en-US" altLang="zh-CN" sz="1100" b="1" dirty="0">
                <a:solidFill>
                  <a:schemeClr val="tx1"/>
                </a:solidFill>
                <a:latin typeface="Garamond" panose="02020404030301010803" pitchFamily="18" charset="0"/>
                <a:ea typeface="SimSun" panose="02010600030101010101" pitchFamily="2" charset="-122"/>
              </a:rPr>
              <a:t>LM</a:t>
            </a:r>
            <a:r>
              <a:rPr lang="zh-CN" altLang="en-US" sz="1100" b="1" dirty="0">
                <a:solidFill>
                  <a:schemeClr val="tx1"/>
                </a:solidFill>
                <a:latin typeface="Garamond" panose="02020404030301010803" pitchFamily="18" charset="0"/>
                <a:ea typeface="SimSun" panose="02010600030101010101" pitchFamily="2" charset="-122"/>
              </a:rPr>
              <a:t>曲线</a:t>
            </a:r>
            <a:r>
              <a:rPr lang="zh-CN" altLang="en-US" sz="1100" dirty="0">
                <a:solidFill>
                  <a:schemeClr val="tx1"/>
                </a:solidFill>
                <a:latin typeface="Garamond" panose="02020404030301010803" pitchFamily="18" charset="0"/>
                <a:ea typeface="SimSun" panose="02010600030101010101" pitchFamily="2" charset="-122"/>
              </a:rPr>
              <a:t>。</a:t>
            </a:r>
          </a:p>
        </p:txBody>
      </p:sp>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57</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83021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1210" dirty="0"/>
              <a:t>LM</a:t>
            </a:r>
            <a:r>
              <a:rPr lang="zh-CN" altLang="en-US" sz="1210" dirty="0"/>
              <a:t>曲线上任一点都代表一定利率和收入的组合，在这样的组合下，货币需求和供给都是相等的，亦即货币市场是均衡的。</a:t>
            </a:r>
          </a:p>
        </p:txBody>
      </p:sp>
      <p:sp>
        <p:nvSpPr>
          <p:cNvPr id="4" name="标题 3">
            <a:extLst>
              <a:ext uri="{FF2B5EF4-FFF2-40B4-BE49-F238E27FC236}">
                <a16:creationId xmlns:a16="http://schemas.microsoft.com/office/drawing/2014/main" id="{611483D1-D94F-393F-B25A-5AC444E28085}"/>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6" name="灯片编号占位符 2">
            <a:extLst>
              <a:ext uri="{FF2B5EF4-FFF2-40B4-BE49-F238E27FC236}">
                <a16:creationId xmlns:a16="http://schemas.microsoft.com/office/drawing/2014/main" id="{503E853C-0664-A157-4C68-B43038A315F8}"/>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58</a:t>
            </a:fld>
            <a:endParaRPr lang="zh-CN" altLang="zh-CN" sz="856">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22C24059-0767-D6DE-B07E-97D3CFCE704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061611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曲线的均衡与非均衡状态</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59</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cxnSp>
        <p:nvCxnSpPr>
          <p:cNvPr id="7" name="直线箭头连接符 6">
            <a:extLst>
              <a:ext uri="{FF2B5EF4-FFF2-40B4-BE49-F238E27FC236}">
                <a16:creationId xmlns:a16="http://schemas.microsoft.com/office/drawing/2014/main" id="{0FA4F3F4-0204-A9BA-FF40-838BE549EAA3}"/>
              </a:ext>
            </a:extLst>
          </p:cNvPr>
          <p:cNvCxnSpPr>
            <a:cxnSpLocks/>
          </p:cNvCxnSpPr>
          <p:nvPr/>
        </p:nvCxnSpPr>
        <p:spPr>
          <a:xfrm>
            <a:off x="1168690" y="2433304"/>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线箭头连接符 8">
            <a:extLst>
              <a:ext uri="{FF2B5EF4-FFF2-40B4-BE49-F238E27FC236}">
                <a16:creationId xmlns:a16="http://schemas.microsoft.com/office/drawing/2014/main" id="{7676B0A5-7A6D-1450-62EF-1AC6B593533A}"/>
              </a:ext>
            </a:extLst>
          </p:cNvPr>
          <p:cNvCxnSpPr/>
          <p:nvPr/>
        </p:nvCxnSpPr>
        <p:spPr>
          <a:xfrm flipV="1">
            <a:off x="1168690" y="788636"/>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线连接符 9">
            <a:extLst>
              <a:ext uri="{FF2B5EF4-FFF2-40B4-BE49-F238E27FC236}">
                <a16:creationId xmlns:a16="http://schemas.microsoft.com/office/drawing/2014/main" id="{AEA0C8CA-21CE-8715-1DEC-390C25D43161}"/>
              </a:ext>
            </a:extLst>
          </p:cNvPr>
          <p:cNvCxnSpPr>
            <a:cxnSpLocks/>
          </p:cNvCxnSpPr>
          <p:nvPr/>
        </p:nvCxnSpPr>
        <p:spPr>
          <a:xfrm flipH="1">
            <a:off x="1569201" y="987867"/>
            <a:ext cx="1237557" cy="123747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F75641E-12A6-FB27-7D85-4F9ECB6E75CB}"/>
                  </a:ext>
                </a:extLst>
              </p:cNvPr>
              <p:cNvSpPr txBox="1"/>
              <p:nvPr/>
            </p:nvSpPr>
            <p:spPr>
              <a:xfrm>
                <a:off x="2713079" y="838574"/>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1" name="文本框 10">
                <a:extLst>
                  <a:ext uri="{FF2B5EF4-FFF2-40B4-BE49-F238E27FC236}">
                    <a16:creationId xmlns:a16="http://schemas.microsoft.com/office/drawing/2014/main" id="{3F75641E-12A6-FB27-7D85-4F9ECB6E75CB}"/>
                  </a:ext>
                </a:extLst>
              </p:cNvPr>
              <p:cNvSpPr txBox="1">
                <a:spLocks noRot="1" noChangeAspect="1" noMove="1" noResize="1" noEditPoints="1" noAdjustHandles="1" noChangeArrowheads="1" noChangeShapeType="1" noTextEdit="1"/>
              </p:cNvSpPr>
              <p:nvPr/>
            </p:nvSpPr>
            <p:spPr>
              <a:xfrm>
                <a:off x="2713079" y="838574"/>
                <a:ext cx="520233" cy="246221"/>
              </a:xfrm>
              <a:prstGeom prst="rect">
                <a:avLst/>
              </a:prstGeom>
              <a:blipFill>
                <a:blip r:embed="rId3"/>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40E7F30E-18C1-2E2B-21E1-B38028A73A99}"/>
              </a:ext>
            </a:extLst>
          </p:cNvPr>
          <p:cNvSpPr txBox="1"/>
          <p:nvPr/>
        </p:nvSpPr>
        <p:spPr>
          <a:xfrm>
            <a:off x="907080" y="653908"/>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BF93B11-66FC-40F1-868A-7C071574C32C}"/>
                  </a:ext>
                </a:extLst>
              </p:cNvPr>
              <p:cNvSpPr txBox="1"/>
              <p:nvPr/>
            </p:nvSpPr>
            <p:spPr>
              <a:xfrm>
                <a:off x="3449321" y="2290676"/>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3" name="文本框 12">
                <a:extLst>
                  <a:ext uri="{FF2B5EF4-FFF2-40B4-BE49-F238E27FC236}">
                    <a16:creationId xmlns:a16="http://schemas.microsoft.com/office/drawing/2014/main" id="{8BF93B11-66FC-40F1-868A-7C071574C32C}"/>
                  </a:ext>
                </a:extLst>
              </p:cNvPr>
              <p:cNvSpPr txBox="1">
                <a:spLocks noRot="1" noChangeAspect="1" noMove="1" noResize="1" noEditPoints="1" noAdjustHandles="1" noChangeArrowheads="1" noChangeShapeType="1" noTextEdit="1"/>
              </p:cNvSpPr>
              <p:nvPr/>
            </p:nvSpPr>
            <p:spPr>
              <a:xfrm>
                <a:off x="3449321" y="2290676"/>
                <a:ext cx="173388" cy="261610"/>
              </a:xfrm>
              <a:prstGeom prst="rect">
                <a:avLst/>
              </a:prstGeom>
              <a:blipFill>
                <a:blip r:embed="rId4"/>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DD3A36B7-E663-E72E-F019-22AEB95665E1}"/>
              </a:ext>
            </a:extLst>
          </p:cNvPr>
          <p:cNvCxnSpPr>
            <a:cxnSpLocks/>
          </p:cNvCxnSpPr>
          <p:nvPr/>
        </p:nvCxnSpPr>
        <p:spPr>
          <a:xfrm>
            <a:off x="2157044" y="1127767"/>
            <a:ext cx="1934" cy="130163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D1AA73D3-964F-7FEF-74E8-D5F92BC737FA}"/>
              </a:ext>
            </a:extLst>
          </p:cNvPr>
          <p:cNvCxnSpPr>
            <a:cxnSpLocks/>
          </p:cNvCxnSpPr>
          <p:nvPr/>
        </p:nvCxnSpPr>
        <p:spPr>
          <a:xfrm flipV="1">
            <a:off x="1168689" y="1635939"/>
            <a:ext cx="1624648" cy="66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FDE39233-6EA0-6587-3522-48FBE86CBCDB}"/>
                  </a:ext>
                </a:extLst>
              </p:cNvPr>
              <p:cNvSpPr txBox="1"/>
              <p:nvPr/>
            </p:nvSpPr>
            <p:spPr>
              <a:xfrm>
                <a:off x="861234" y="1459156"/>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0" name="文本框 19">
                <a:extLst>
                  <a:ext uri="{FF2B5EF4-FFF2-40B4-BE49-F238E27FC236}">
                    <a16:creationId xmlns:a16="http://schemas.microsoft.com/office/drawing/2014/main" id="{FDE39233-6EA0-6587-3522-48FBE86CBCDB}"/>
                  </a:ext>
                </a:extLst>
              </p:cNvPr>
              <p:cNvSpPr txBox="1">
                <a:spLocks noRot="1" noChangeAspect="1" noMove="1" noResize="1" noEditPoints="1" noAdjustHandles="1" noChangeArrowheads="1" noChangeShapeType="1" noTextEdit="1"/>
              </p:cNvSpPr>
              <p:nvPr/>
            </p:nvSpPr>
            <p:spPr>
              <a:xfrm>
                <a:off x="861234" y="1459156"/>
                <a:ext cx="356893" cy="276999"/>
              </a:xfrm>
              <a:prstGeom prst="rect">
                <a:avLst/>
              </a:prstGeom>
              <a:blipFill>
                <a:blip r:embed="rId5"/>
                <a:stretch>
                  <a:fillRect/>
                </a:stretch>
              </a:blipFill>
            </p:spPr>
            <p:txBody>
              <a:bodyPr/>
              <a:lstStyle/>
              <a:p>
                <a:r>
                  <a:rPr lang="zh-CN" altLang="en-US">
                    <a:noFill/>
                  </a:rPr>
                  <a:t> </a:t>
                </a:r>
              </a:p>
            </p:txBody>
          </p:sp>
        </mc:Fallback>
      </mc:AlternateContent>
      <p:sp>
        <p:nvSpPr>
          <p:cNvPr id="21" name="椭圆 20">
            <a:extLst>
              <a:ext uri="{FF2B5EF4-FFF2-40B4-BE49-F238E27FC236}">
                <a16:creationId xmlns:a16="http://schemas.microsoft.com/office/drawing/2014/main" id="{88EDE404-8941-87B1-3088-5DDEEA56D2BA}"/>
              </a:ext>
            </a:extLst>
          </p:cNvPr>
          <p:cNvSpPr/>
          <p:nvPr/>
        </p:nvSpPr>
        <p:spPr>
          <a:xfrm>
            <a:off x="2701321" y="16088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a:extLst>
              <a:ext uri="{FF2B5EF4-FFF2-40B4-BE49-F238E27FC236}">
                <a16:creationId xmlns:a16="http://schemas.microsoft.com/office/drawing/2014/main" id="{CB9921ED-1471-25B4-60D4-E74083851EAB}"/>
              </a:ext>
            </a:extLst>
          </p:cNvPr>
          <p:cNvSpPr/>
          <p:nvPr/>
        </p:nvSpPr>
        <p:spPr>
          <a:xfrm>
            <a:off x="2136117" y="16088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a:extLst>
              <a:ext uri="{FF2B5EF4-FFF2-40B4-BE49-F238E27FC236}">
                <a16:creationId xmlns:a16="http://schemas.microsoft.com/office/drawing/2014/main" id="{1F5DA53A-4A86-2D9A-45E3-9BA78B4FDA55}"/>
              </a:ext>
            </a:extLst>
          </p:cNvPr>
          <p:cNvSpPr/>
          <p:nvPr/>
        </p:nvSpPr>
        <p:spPr>
          <a:xfrm>
            <a:off x="2137852" y="112998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1AF553B1-660F-E931-7F08-E9AF3669CD57}"/>
              </a:ext>
            </a:extLst>
          </p:cNvPr>
          <p:cNvSpPr txBox="1"/>
          <p:nvPr/>
        </p:nvSpPr>
        <p:spPr>
          <a:xfrm>
            <a:off x="2023033" y="904722"/>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25" name="文本框 24">
            <a:extLst>
              <a:ext uri="{FF2B5EF4-FFF2-40B4-BE49-F238E27FC236}">
                <a16:creationId xmlns:a16="http://schemas.microsoft.com/office/drawing/2014/main" id="{79584AB8-F760-F5AE-A444-2B09A5F19E74}"/>
              </a:ext>
            </a:extLst>
          </p:cNvPr>
          <p:cNvSpPr txBox="1"/>
          <p:nvPr/>
        </p:nvSpPr>
        <p:spPr>
          <a:xfrm>
            <a:off x="2744511" y="1472730"/>
            <a:ext cx="268022"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26" name="文本框 25">
            <a:extLst>
              <a:ext uri="{FF2B5EF4-FFF2-40B4-BE49-F238E27FC236}">
                <a16:creationId xmlns:a16="http://schemas.microsoft.com/office/drawing/2014/main" id="{23C23087-BE43-F378-5A7F-0C184B48B2B9}"/>
              </a:ext>
            </a:extLst>
          </p:cNvPr>
          <p:cNvSpPr txBox="1"/>
          <p:nvPr/>
        </p:nvSpPr>
        <p:spPr>
          <a:xfrm>
            <a:off x="2086468" y="1597655"/>
            <a:ext cx="261610" cy="230832"/>
          </a:xfrm>
          <a:prstGeom prst="rect">
            <a:avLst/>
          </a:prstGeom>
          <a:noFill/>
        </p:spPr>
        <p:txBody>
          <a:bodyPr wrap="none" rtlCol="0">
            <a:spAutoFit/>
          </a:bodyPr>
          <a:lstStyle/>
          <a:p>
            <a:r>
              <a:rPr kumimoji="1" lang="en-US" altLang="zh-CN" sz="900" dirty="0"/>
              <a:t>A</a:t>
            </a:r>
            <a:endParaRPr kumimoji="1" lang="zh-CN" altLang="en-US" sz="9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07E3997-7E4E-C2B0-A5FD-C4828F288850}"/>
                  </a:ext>
                </a:extLst>
              </p:cNvPr>
              <p:cNvSpPr txBox="1"/>
              <p:nvPr/>
            </p:nvSpPr>
            <p:spPr>
              <a:xfrm>
                <a:off x="1726404" y="876996"/>
                <a:ext cx="340606" cy="2584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900" b="0" i="1" smtClean="0">
                              <a:solidFill>
                                <a:srgbClr val="0070C0"/>
                              </a:solidFill>
                              <a:latin typeface="Cambria Math" panose="02040503050406030204" pitchFamily="18" charset="0"/>
                            </a:rPr>
                          </m:ctrlPr>
                        </m:fPr>
                        <m:num>
                          <m:r>
                            <m:rPr>
                              <m:sty m:val="p"/>
                            </m:rPr>
                            <a:rPr kumimoji="1" lang="en-US" altLang="zh-CN" sz="900" i="1" smtClean="0">
                              <a:solidFill>
                                <a:srgbClr val="0070C0"/>
                              </a:solidFill>
                              <a:latin typeface="Cambria Math" panose="02040503050406030204" pitchFamily="18" charset="0"/>
                            </a:rPr>
                            <m:t>M</m:t>
                          </m:r>
                        </m:num>
                        <m:den>
                          <m:r>
                            <a:rPr kumimoji="1" lang="en-US" altLang="zh-CN" sz="900" b="0" i="1" smtClean="0">
                              <a:solidFill>
                                <a:srgbClr val="0070C0"/>
                              </a:solidFill>
                              <a:latin typeface="Cambria Math" panose="02040503050406030204" pitchFamily="18" charset="0"/>
                            </a:rPr>
                            <m:t>𝑃</m:t>
                          </m:r>
                        </m:den>
                      </m:f>
                      <m:r>
                        <a:rPr kumimoji="1" lang="en-US" altLang="zh-CN" sz="900" b="0" i="1" smtClean="0">
                          <a:solidFill>
                            <a:srgbClr val="0070C0"/>
                          </a:solidFill>
                          <a:latin typeface="Cambria Math" panose="02040503050406030204" pitchFamily="18" charset="0"/>
                        </a:rPr>
                        <m:t>&gt;</m:t>
                      </m:r>
                      <m:r>
                        <a:rPr kumimoji="1" lang="en-US" altLang="zh-CN" sz="900" b="0" i="1" smtClean="0">
                          <a:solidFill>
                            <a:srgbClr val="0070C0"/>
                          </a:solidFill>
                          <a:latin typeface="Cambria Math" panose="02040503050406030204" pitchFamily="18" charset="0"/>
                        </a:rPr>
                        <m:t>𝐿</m:t>
                      </m:r>
                    </m:oMath>
                  </m:oMathPara>
                </a14:m>
                <a:endParaRPr kumimoji="1" lang="zh-CN" altLang="en-US" sz="900" dirty="0">
                  <a:solidFill>
                    <a:srgbClr val="0070C0"/>
                  </a:solidFill>
                </a:endParaRPr>
              </a:p>
            </p:txBody>
          </p:sp>
        </mc:Choice>
        <mc:Fallback xmlns="">
          <p:sp>
            <p:nvSpPr>
              <p:cNvPr id="5" name="文本框 4">
                <a:extLst>
                  <a:ext uri="{FF2B5EF4-FFF2-40B4-BE49-F238E27FC236}">
                    <a16:creationId xmlns:a16="http://schemas.microsoft.com/office/drawing/2014/main" id="{A07E3997-7E4E-C2B0-A5FD-C4828F288850}"/>
                  </a:ext>
                </a:extLst>
              </p:cNvPr>
              <p:cNvSpPr txBox="1">
                <a:spLocks noRot="1" noChangeAspect="1" noMove="1" noResize="1" noEditPoints="1" noAdjustHandles="1" noChangeArrowheads="1" noChangeShapeType="1" noTextEdit="1"/>
              </p:cNvSpPr>
              <p:nvPr/>
            </p:nvSpPr>
            <p:spPr>
              <a:xfrm>
                <a:off x="1726404" y="876996"/>
                <a:ext cx="340606" cy="258404"/>
              </a:xfrm>
              <a:prstGeom prst="rect">
                <a:avLst/>
              </a:prstGeom>
              <a:blipFill>
                <a:blip r:embed="rId6"/>
                <a:stretch>
                  <a:fillRect l="-7143" t="-4762" r="-7143"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70DAD6C-8E12-B6D5-1C40-AC4CD8F25E35}"/>
                  </a:ext>
                </a:extLst>
              </p:cNvPr>
              <p:cNvSpPr txBox="1"/>
              <p:nvPr/>
            </p:nvSpPr>
            <p:spPr>
              <a:xfrm>
                <a:off x="2996340" y="1542998"/>
                <a:ext cx="340606" cy="2584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900" b="0" i="1" smtClean="0">
                              <a:solidFill>
                                <a:srgbClr val="0070C0"/>
                              </a:solidFill>
                              <a:latin typeface="Cambria Math" panose="02040503050406030204" pitchFamily="18" charset="0"/>
                            </a:rPr>
                          </m:ctrlPr>
                        </m:fPr>
                        <m:num>
                          <m:r>
                            <m:rPr>
                              <m:sty m:val="p"/>
                            </m:rPr>
                            <a:rPr kumimoji="1" lang="en-US" altLang="zh-CN" sz="900" i="1" smtClean="0">
                              <a:solidFill>
                                <a:srgbClr val="0070C0"/>
                              </a:solidFill>
                              <a:latin typeface="Cambria Math" panose="02040503050406030204" pitchFamily="18" charset="0"/>
                            </a:rPr>
                            <m:t>M</m:t>
                          </m:r>
                        </m:num>
                        <m:den>
                          <m:r>
                            <a:rPr kumimoji="1" lang="en-US" altLang="zh-CN" sz="900" b="0" i="1" smtClean="0">
                              <a:solidFill>
                                <a:srgbClr val="0070C0"/>
                              </a:solidFill>
                              <a:latin typeface="Cambria Math" panose="02040503050406030204" pitchFamily="18" charset="0"/>
                            </a:rPr>
                            <m:t>𝑃</m:t>
                          </m:r>
                        </m:den>
                      </m:f>
                      <m:r>
                        <a:rPr kumimoji="1" lang="en-US" altLang="zh-CN" sz="900" b="0" i="1" smtClean="0">
                          <a:solidFill>
                            <a:srgbClr val="0070C0"/>
                          </a:solidFill>
                          <a:latin typeface="Cambria Math" panose="02040503050406030204" pitchFamily="18" charset="0"/>
                        </a:rPr>
                        <m:t>&lt;</m:t>
                      </m:r>
                      <m:r>
                        <a:rPr kumimoji="1" lang="en-US" altLang="zh-CN" sz="900" b="0" i="1" smtClean="0">
                          <a:solidFill>
                            <a:srgbClr val="0070C0"/>
                          </a:solidFill>
                          <a:latin typeface="Cambria Math" panose="02040503050406030204" pitchFamily="18" charset="0"/>
                        </a:rPr>
                        <m:t>𝐿</m:t>
                      </m:r>
                    </m:oMath>
                  </m:oMathPara>
                </a14:m>
                <a:endParaRPr kumimoji="1" lang="zh-CN" altLang="en-US" sz="900" dirty="0">
                  <a:solidFill>
                    <a:srgbClr val="0070C0"/>
                  </a:solidFill>
                </a:endParaRPr>
              </a:p>
            </p:txBody>
          </p:sp>
        </mc:Choice>
        <mc:Fallback xmlns="">
          <p:sp>
            <p:nvSpPr>
              <p:cNvPr id="8" name="文本框 7">
                <a:extLst>
                  <a:ext uri="{FF2B5EF4-FFF2-40B4-BE49-F238E27FC236}">
                    <a16:creationId xmlns:a16="http://schemas.microsoft.com/office/drawing/2014/main" id="{170DAD6C-8E12-B6D5-1C40-AC4CD8F25E35}"/>
                  </a:ext>
                </a:extLst>
              </p:cNvPr>
              <p:cNvSpPr txBox="1">
                <a:spLocks noRot="1" noChangeAspect="1" noMove="1" noResize="1" noEditPoints="1" noAdjustHandles="1" noChangeArrowheads="1" noChangeShapeType="1" noTextEdit="1"/>
              </p:cNvSpPr>
              <p:nvPr/>
            </p:nvSpPr>
            <p:spPr>
              <a:xfrm>
                <a:off x="2996340" y="1542998"/>
                <a:ext cx="340606" cy="258404"/>
              </a:xfrm>
              <a:prstGeom prst="rect">
                <a:avLst/>
              </a:prstGeom>
              <a:blipFill>
                <a:blip r:embed="rId7"/>
                <a:stretch>
                  <a:fillRect l="-7407" t="-4545" r="-7407"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1C16B7D-7E63-563E-2EBF-E29A9CB1C314}"/>
                  </a:ext>
                </a:extLst>
              </p:cNvPr>
              <p:cNvSpPr txBox="1"/>
              <p:nvPr/>
            </p:nvSpPr>
            <p:spPr>
              <a:xfrm>
                <a:off x="660187" y="2537725"/>
                <a:ext cx="1153906" cy="1724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𝑟</m:t>
                          </m:r>
                        </m:e>
                        <m:sub>
                          <m:r>
                            <a:rPr kumimoji="1" lang="en-US" altLang="zh-CN" sz="1100" b="0" i="1" smtClean="0">
                              <a:latin typeface="Cambria Math" panose="02040503050406030204" pitchFamily="18" charset="0"/>
                            </a:rPr>
                            <m:t>𝐵</m:t>
                          </m:r>
                        </m:sub>
                      </m:sSub>
                      <m:r>
                        <a:rPr kumimoji="1" lang="en-US" altLang="zh-CN" sz="1100" b="0" i="1" smtClean="0">
                          <a:latin typeface="Cambria Math" panose="02040503050406030204" pitchFamily="18" charset="0"/>
                        </a:rPr>
                        <m:t>=</m:t>
                      </m:r>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𝑟</m:t>
                          </m:r>
                        </m:e>
                        <m:sub>
                          <m:r>
                            <a:rPr kumimoji="1" lang="en-US" altLang="zh-CN" sz="1100" b="0" i="1" smtClean="0">
                              <a:latin typeface="Cambria Math" panose="02040503050406030204" pitchFamily="18" charset="0"/>
                            </a:rPr>
                            <m:t>𝐴</m:t>
                          </m:r>
                        </m:sub>
                      </m:sSub>
                      <m:r>
                        <a:rPr kumimoji="1" lang="en-US" altLang="zh-CN" sz="1100" i="1">
                          <a:latin typeface="Cambria Math" panose="02040503050406030204" pitchFamily="18" charset="0"/>
                          <a:ea typeface="Cambria Math" panose="02040503050406030204" pitchFamily="18" charset="0"/>
                        </a:rPr>
                        <m:t>→</m:t>
                      </m:r>
                      <m:sSubSup>
                        <m:sSubSupPr>
                          <m:ctrlPr>
                            <a:rPr kumimoji="1" lang="en-US" altLang="zh-CN" sz="1100" b="0" i="1" smtClean="0">
                              <a:latin typeface="Cambria Math" panose="02040503050406030204" pitchFamily="18" charset="0"/>
                              <a:ea typeface="Cambria Math" panose="02040503050406030204" pitchFamily="18" charset="0"/>
                            </a:rPr>
                          </m:ctrlPr>
                        </m:sSubSupPr>
                        <m:e>
                          <m:r>
                            <a:rPr kumimoji="1" lang="en-US" altLang="zh-CN" sz="1100" b="0" i="1" smtClean="0">
                              <a:latin typeface="Cambria Math" panose="02040503050406030204" pitchFamily="18" charset="0"/>
                              <a:ea typeface="Cambria Math" panose="02040503050406030204" pitchFamily="18" charset="0"/>
                            </a:rPr>
                            <m:t>𝐿</m:t>
                          </m:r>
                        </m:e>
                        <m:sub>
                          <m:r>
                            <a:rPr kumimoji="1" lang="en-US" altLang="zh-CN" sz="1100" b="0" i="1" smtClean="0">
                              <a:latin typeface="Cambria Math" panose="02040503050406030204" pitchFamily="18" charset="0"/>
                              <a:ea typeface="Cambria Math" panose="02040503050406030204" pitchFamily="18" charset="0"/>
                            </a:rPr>
                            <m:t>𝐵</m:t>
                          </m:r>
                        </m:sub>
                        <m:sup>
                          <m:r>
                            <a:rPr kumimoji="1" lang="en-US" altLang="zh-CN" sz="1100" b="0" i="1" smtClean="0">
                              <a:latin typeface="Cambria Math" panose="02040503050406030204" pitchFamily="18" charset="0"/>
                              <a:ea typeface="Cambria Math" panose="02040503050406030204" pitchFamily="18" charset="0"/>
                            </a:rPr>
                            <m:t>2</m:t>
                          </m:r>
                        </m:sup>
                      </m:sSubSup>
                      <m:r>
                        <a:rPr kumimoji="1" lang="en-US" altLang="zh-CN" sz="1100" b="0" i="1" smtClean="0">
                          <a:latin typeface="Cambria Math" panose="02040503050406030204" pitchFamily="18" charset="0"/>
                          <a:ea typeface="Cambria Math" panose="02040503050406030204" pitchFamily="18" charset="0"/>
                        </a:rPr>
                        <m:t>=</m:t>
                      </m:r>
                      <m:sSubSup>
                        <m:sSubSupPr>
                          <m:ctrlPr>
                            <a:rPr kumimoji="1" lang="en-US" altLang="zh-CN" sz="1100" b="0" i="1" smtClean="0">
                              <a:latin typeface="Cambria Math" panose="02040503050406030204" pitchFamily="18" charset="0"/>
                              <a:ea typeface="Cambria Math" panose="02040503050406030204" pitchFamily="18" charset="0"/>
                            </a:rPr>
                          </m:ctrlPr>
                        </m:sSubSupPr>
                        <m:e>
                          <m:r>
                            <a:rPr kumimoji="1" lang="en-US" altLang="zh-CN" sz="1100" b="0" i="1" smtClean="0">
                              <a:latin typeface="Cambria Math" panose="02040503050406030204" pitchFamily="18" charset="0"/>
                              <a:ea typeface="Cambria Math" panose="02040503050406030204" pitchFamily="18" charset="0"/>
                            </a:rPr>
                            <m:t>𝐿</m:t>
                          </m:r>
                        </m:e>
                        <m:sub>
                          <m:r>
                            <a:rPr kumimoji="1" lang="en-US" altLang="zh-CN" sz="1100" b="0" i="1" smtClean="0">
                              <a:latin typeface="Cambria Math" panose="02040503050406030204" pitchFamily="18" charset="0"/>
                              <a:ea typeface="Cambria Math" panose="02040503050406030204" pitchFamily="18" charset="0"/>
                            </a:rPr>
                            <m:t>𝐴</m:t>
                          </m:r>
                        </m:sub>
                        <m:sup>
                          <m:r>
                            <a:rPr kumimoji="1" lang="en-US" altLang="zh-CN" sz="1100" b="0" i="1" smtClean="0">
                              <a:latin typeface="Cambria Math" panose="02040503050406030204" pitchFamily="18" charset="0"/>
                              <a:ea typeface="Cambria Math" panose="02040503050406030204" pitchFamily="18" charset="0"/>
                            </a:rPr>
                            <m:t>2</m:t>
                          </m:r>
                        </m:sup>
                      </m:sSubSup>
                    </m:oMath>
                  </m:oMathPara>
                </a14:m>
                <a:endParaRPr kumimoji="1" lang="zh-CN" altLang="en-US" sz="1100" dirty="0"/>
              </a:p>
            </p:txBody>
          </p:sp>
        </mc:Choice>
        <mc:Fallback xmlns="">
          <p:sp>
            <p:nvSpPr>
              <p:cNvPr id="14" name="文本框 13">
                <a:extLst>
                  <a:ext uri="{FF2B5EF4-FFF2-40B4-BE49-F238E27FC236}">
                    <a16:creationId xmlns:a16="http://schemas.microsoft.com/office/drawing/2014/main" id="{11C16B7D-7E63-563E-2EBF-E29A9CB1C314}"/>
                  </a:ext>
                </a:extLst>
              </p:cNvPr>
              <p:cNvSpPr txBox="1">
                <a:spLocks noRot="1" noChangeAspect="1" noMove="1" noResize="1" noEditPoints="1" noAdjustHandles="1" noChangeArrowheads="1" noChangeShapeType="1" noTextEdit="1"/>
              </p:cNvSpPr>
              <p:nvPr/>
            </p:nvSpPr>
            <p:spPr>
              <a:xfrm>
                <a:off x="660187" y="2537725"/>
                <a:ext cx="1153906" cy="172483"/>
              </a:xfrm>
              <a:prstGeom prst="rect">
                <a:avLst/>
              </a:prstGeom>
              <a:blipFill>
                <a:blip r:embed="rId8"/>
                <a:stretch>
                  <a:fillRect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6BC52960-ED10-B1C0-26D1-73B60AAAB57D}"/>
                  </a:ext>
                </a:extLst>
              </p:cNvPr>
              <p:cNvSpPr txBox="1"/>
              <p:nvPr/>
            </p:nvSpPr>
            <p:spPr>
              <a:xfrm>
                <a:off x="665341" y="2808830"/>
                <a:ext cx="1163908" cy="172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𝑌</m:t>
                          </m:r>
                        </m:e>
                        <m:sub>
                          <m:r>
                            <a:rPr kumimoji="1" lang="en-US" altLang="zh-CN" sz="1100" b="0" i="1" smtClean="0">
                              <a:latin typeface="Cambria Math" panose="02040503050406030204" pitchFamily="18" charset="0"/>
                            </a:rPr>
                            <m:t>𝐵</m:t>
                          </m:r>
                        </m:sub>
                      </m:sSub>
                      <m:r>
                        <a:rPr kumimoji="1" lang="en-US" altLang="zh-CN" sz="1100" b="0" i="1" smtClean="0">
                          <a:latin typeface="Cambria Math" panose="02040503050406030204" pitchFamily="18" charset="0"/>
                        </a:rPr>
                        <m:t>&gt;</m:t>
                      </m:r>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𝑟</m:t>
                          </m:r>
                        </m:e>
                        <m:sub>
                          <m:r>
                            <a:rPr kumimoji="1" lang="en-US" altLang="zh-CN" sz="1100" b="0" i="1" smtClean="0">
                              <a:latin typeface="Cambria Math" panose="02040503050406030204" pitchFamily="18" charset="0"/>
                            </a:rPr>
                            <m:t>𝐴</m:t>
                          </m:r>
                        </m:sub>
                      </m:sSub>
                      <m:r>
                        <a:rPr kumimoji="1" lang="en-US" altLang="zh-CN" sz="1100" i="1">
                          <a:latin typeface="Cambria Math" panose="02040503050406030204" pitchFamily="18" charset="0"/>
                          <a:ea typeface="Cambria Math" panose="02040503050406030204" pitchFamily="18" charset="0"/>
                        </a:rPr>
                        <m:t>→</m:t>
                      </m:r>
                      <m:sSubSup>
                        <m:sSubSupPr>
                          <m:ctrlPr>
                            <a:rPr kumimoji="1" lang="en-US" altLang="zh-CN" sz="1100" b="0" i="1" smtClean="0">
                              <a:latin typeface="Cambria Math" panose="02040503050406030204" pitchFamily="18" charset="0"/>
                              <a:ea typeface="Cambria Math" panose="02040503050406030204" pitchFamily="18" charset="0"/>
                            </a:rPr>
                          </m:ctrlPr>
                        </m:sSubSupPr>
                        <m:e>
                          <m:r>
                            <a:rPr kumimoji="1" lang="en-US" altLang="zh-CN" sz="1100" b="0" i="1" smtClean="0">
                              <a:latin typeface="Cambria Math" panose="02040503050406030204" pitchFamily="18" charset="0"/>
                              <a:ea typeface="Cambria Math" panose="02040503050406030204" pitchFamily="18" charset="0"/>
                            </a:rPr>
                            <m:t>𝐿</m:t>
                          </m:r>
                        </m:e>
                        <m:sub>
                          <m:r>
                            <a:rPr kumimoji="1" lang="en-US" altLang="zh-CN" sz="1100" b="0" i="1" smtClean="0">
                              <a:latin typeface="Cambria Math" panose="02040503050406030204" pitchFamily="18" charset="0"/>
                              <a:ea typeface="Cambria Math" panose="02040503050406030204" pitchFamily="18" charset="0"/>
                            </a:rPr>
                            <m:t>𝐵</m:t>
                          </m:r>
                        </m:sub>
                        <m:sup>
                          <m:r>
                            <a:rPr kumimoji="1" lang="en-US" altLang="zh-CN" sz="1100" b="0" i="1" smtClean="0">
                              <a:latin typeface="Cambria Math" panose="02040503050406030204" pitchFamily="18" charset="0"/>
                              <a:ea typeface="Cambria Math" panose="02040503050406030204" pitchFamily="18" charset="0"/>
                            </a:rPr>
                            <m:t>1</m:t>
                          </m:r>
                        </m:sup>
                      </m:sSubSup>
                      <m:r>
                        <a:rPr kumimoji="1" lang="en-US" altLang="zh-CN" sz="1100" b="0" i="1" smtClean="0">
                          <a:latin typeface="Cambria Math" panose="02040503050406030204" pitchFamily="18" charset="0"/>
                          <a:ea typeface="Cambria Math" panose="02040503050406030204" pitchFamily="18" charset="0"/>
                        </a:rPr>
                        <m:t>&gt;</m:t>
                      </m:r>
                      <m:sSubSup>
                        <m:sSubSupPr>
                          <m:ctrlPr>
                            <a:rPr kumimoji="1" lang="en-US" altLang="zh-CN" sz="1100" b="0" i="1" smtClean="0">
                              <a:latin typeface="Cambria Math" panose="02040503050406030204" pitchFamily="18" charset="0"/>
                              <a:ea typeface="Cambria Math" panose="02040503050406030204" pitchFamily="18" charset="0"/>
                            </a:rPr>
                          </m:ctrlPr>
                        </m:sSubSupPr>
                        <m:e>
                          <m:r>
                            <a:rPr kumimoji="1" lang="en-US" altLang="zh-CN" sz="1100" b="0" i="1" smtClean="0">
                              <a:latin typeface="Cambria Math" panose="02040503050406030204" pitchFamily="18" charset="0"/>
                              <a:ea typeface="Cambria Math" panose="02040503050406030204" pitchFamily="18" charset="0"/>
                            </a:rPr>
                            <m:t>𝐿</m:t>
                          </m:r>
                        </m:e>
                        <m:sub>
                          <m:r>
                            <a:rPr kumimoji="1" lang="en-US" altLang="zh-CN" sz="1100" b="0" i="1" smtClean="0">
                              <a:latin typeface="Cambria Math" panose="02040503050406030204" pitchFamily="18" charset="0"/>
                              <a:ea typeface="Cambria Math" panose="02040503050406030204" pitchFamily="18" charset="0"/>
                            </a:rPr>
                            <m:t>𝐴</m:t>
                          </m:r>
                        </m:sub>
                        <m:sup>
                          <m:r>
                            <a:rPr kumimoji="1" lang="en-US" altLang="zh-CN" sz="1100" b="0" i="1" smtClean="0">
                              <a:latin typeface="Cambria Math" panose="02040503050406030204" pitchFamily="18" charset="0"/>
                              <a:ea typeface="Cambria Math" panose="02040503050406030204" pitchFamily="18" charset="0"/>
                            </a:rPr>
                            <m:t>1</m:t>
                          </m:r>
                        </m:sup>
                      </m:sSubSup>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6BC52960-ED10-B1C0-26D1-73B60AAAB57D}"/>
                  </a:ext>
                </a:extLst>
              </p:cNvPr>
              <p:cNvSpPr txBox="1">
                <a:spLocks noRot="1" noChangeAspect="1" noMove="1" noResize="1" noEditPoints="1" noAdjustHandles="1" noChangeArrowheads="1" noChangeShapeType="1" noTextEdit="1"/>
              </p:cNvSpPr>
              <p:nvPr/>
            </p:nvSpPr>
            <p:spPr>
              <a:xfrm>
                <a:off x="665341" y="2808830"/>
                <a:ext cx="1163908" cy="172098"/>
              </a:xfrm>
              <a:prstGeom prst="rect">
                <a:avLst/>
              </a:prstGeom>
              <a:blipFill>
                <a:blip r:embed="rId9"/>
                <a:stretch>
                  <a:fillRect l="-2174" r="-1087"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5A6A292-ADD9-1A53-2A91-2204F5014D82}"/>
                  </a:ext>
                </a:extLst>
              </p:cNvPr>
              <p:cNvSpPr txBox="1"/>
              <p:nvPr/>
            </p:nvSpPr>
            <p:spPr>
              <a:xfrm>
                <a:off x="2157044" y="2613272"/>
                <a:ext cx="705641" cy="342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100" b="0" i="1" smtClean="0">
                              <a:latin typeface="Cambria Math" panose="02040503050406030204" pitchFamily="18" charset="0"/>
                            </a:rPr>
                          </m:ctrlPr>
                        </m:sSubPr>
                        <m:e>
                          <m:d>
                            <m:dPr>
                              <m:ctrlPr>
                                <a:rPr kumimoji="1" lang="en-US" altLang="zh-CN" sz="1100" b="0" i="1" smtClean="0">
                                  <a:latin typeface="Cambria Math" panose="02040503050406030204" pitchFamily="18" charset="0"/>
                                </a:rPr>
                              </m:ctrlPr>
                            </m:dPr>
                            <m:e>
                              <m:f>
                                <m:fPr>
                                  <m:ctrlPr>
                                    <a:rPr kumimoji="1" lang="en-US" altLang="zh-CN" sz="1100" b="0" i="1" smtClean="0">
                                      <a:latin typeface="Cambria Math" panose="02040503050406030204" pitchFamily="18" charset="0"/>
                                    </a:rPr>
                                  </m:ctrlPr>
                                </m:fPr>
                                <m:num>
                                  <m:r>
                                    <a:rPr kumimoji="1" lang="en-US" altLang="zh-CN" sz="1100" b="0" i="1" smtClean="0">
                                      <a:latin typeface="Cambria Math" panose="02040503050406030204" pitchFamily="18" charset="0"/>
                                    </a:rPr>
                                    <m:t>𝑀</m:t>
                                  </m:r>
                                </m:num>
                                <m:den>
                                  <m:r>
                                    <a:rPr kumimoji="1" lang="en-US" altLang="zh-CN" sz="1100" b="0" i="1" smtClean="0">
                                      <a:latin typeface="Cambria Math" panose="02040503050406030204" pitchFamily="18" charset="0"/>
                                    </a:rPr>
                                    <m:t>𝑃</m:t>
                                  </m:r>
                                </m:den>
                              </m:f>
                            </m:e>
                          </m:d>
                        </m:e>
                        <m:sub>
                          <m:r>
                            <a:rPr kumimoji="1" lang="en-US" altLang="zh-CN" sz="1100" b="0" i="1" smtClean="0">
                              <a:latin typeface="Cambria Math" panose="02040503050406030204" pitchFamily="18" charset="0"/>
                            </a:rPr>
                            <m:t>𝐴</m:t>
                          </m:r>
                        </m:sub>
                      </m:sSub>
                      <m:r>
                        <a:rPr kumimoji="1" lang="en-US" altLang="zh-CN" sz="1100" b="0" i="1" smtClean="0">
                          <a:latin typeface="Cambria Math" panose="02040503050406030204" pitchFamily="18" charset="0"/>
                        </a:rPr>
                        <m:t>=</m:t>
                      </m:r>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𝐿</m:t>
                          </m:r>
                        </m:e>
                        <m:sub>
                          <m:r>
                            <a:rPr kumimoji="1" lang="en-US" altLang="zh-CN" sz="1100" b="0" i="1" smtClean="0">
                              <a:latin typeface="Cambria Math" panose="02040503050406030204" pitchFamily="18" charset="0"/>
                            </a:rPr>
                            <m:t>𝐴</m:t>
                          </m:r>
                        </m:sub>
                      </m:sSub>
                    </m:oMath>
                  </m:oMathPara>
                </a14:m>
                <a:endParaRPr kumimoji="1" lang="zh-CN" altLang="en-US" sz="1100" dirty="0"/>
              </a:p>
            </p:txBody>
          </p:sp>
        </mc:Choice>
        <mc:Fallback xmlns="">
          <p:sp>
            <p:nvSpPr>
              <p:cNvPr id="19" name="文本框 18">
                <a:extLst>
                  <a:ext uri="{FF2B5EF4-FFF2-40B4-BE49-F238E27FC236}">
                    <a16:creationId xmlns:a16="http://schemas.microsoft.com/office/drawing/2014/main" id="{45A6A292-ADD9-1A53-2A91-2204F5014D82}"/>
                  </a:ext>
                </a:extLst>
              </p:cNvPr>
              <p:cNvSpPr txBox="1">
                <a:spLocks noRot="1" noChangeAspect="1" noMove="1" noResize="1" noEditPoints="1" noAdjustHandles="1" noChangeArrowheads="1" noChangeShapeType="1" noTextEdit="1"/>
              </p:cNvSpPr>
              <p:nvPr/>
            </p:nvSpPr>
            <p:spPr>
              <a:xfrm>
                <a:off x="2157044" y="2613272"/>
                <a:ext cx="705641" cy="342530"/>
              </a:xfrm>
              <a:prstGeom prst="rect">
                <a:avLst/>
              </a:prstGeom>
              <a:blipFill>
                <a:blip r:embed="rId10"/>
                <a:stretch>
                  <a:fillRect b="-10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1D178A6-185A-EAC9-39C1-A2D640562DE2}"/>
                  </a:ext>
                </a:extLst>
              </p:cNvPr>
              <p:cNvSpPr txBox="1"/>
              <p:nvPr/>
            </p:nvSpPr>
            <p:spPr>
              <a:xfrm>
                <a:off x="2961365" y="2617797"/>
                <a:ext cx="903709" cy="342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100" b="0" i="1" smtClean="0">
                              <a:latin typeface="Cambria Math" panose="02040503050406030204" pitchFamily="18" charset="0"/>
                            </a:rPr>
                          </m:ctrlPr>
                        </m:sSubPr>
                        <m:e>
                          <m:d>
                            <m:dPr>
                              <m:ctrlPr>
                                <a:rPr kumimoji="1" lang="en-US" altLang="zh-CN" sz="1100" b="0" i="1" smtClean="0">
                                  <a:latin typeface="Cambria Math" panose="02040503050406030204" pitchFamily="18" charset="0"/>
                                </a:rPr>
                              </m:ctrlPr>
                            </m:dPr>
                            <m:e>
                              <m:f>
                                <m:fPr>
                                  <m:ctrlPr>
                                    <a:rPr kumimoji="1" lang="en-US" altLang="zh-CN" sz="1100" b="0" i="1" smtClean="0">
                                      <a:latin typeface="Cambria Math" panose="02040503050406030204" pitchFamily="18" charset="0"/>
                                    </a:rPr>
                                  </m:ctrlPr>
                                </m:fPr>
                                <m:num>
                                  <m:r>
                                    <a:rPr kumimoji="1" lang="en-US" altLang="zh-CN" sz="1100" b="0" i="1" smtClean="0">
                                      <a:latin typeface="Cambria Math" panose="02040503050406030204" pitchFamily="18" charset="0"/>
                                    </a:rPr>
                                    <m:t>𝑀</m:t>
                                  </m:r>
                                </m:num>
                                <m:den>
                                  <m:r>
                                    <a:rPr kumimoji="1" lang="en-US" altLang="zh-CN" sz="1100" b="0" i="1" smtClean="0">
                                      <a:latin typeface="Cambria Math" panose="02040503050406030204" pitchFamily="18" charset="0"/>
                                    </a:rPr>
                                    <m:t>𝑃</m:t>
                                  </m:r>
                                </m:den>
                              </m:f>
                            </m:e>
                          </m:d>
                        </m:e>
                        <m:sub>
                          <m:r>
                            <a:rPr kumimoji="1" lang="en-US" altLang="zh-CN" sz="1100" b="0" i="1" smtClean="0">
                              <a:latin typeface="Cambria Math" panose="02040503050406030204" pitchFamily="18" charset="0"/>
                            </a:rPr>
                            <m:t>𝐴</m:t>
                          </m:r>
                        </m:sub>
                      </m:sSub>
                      <m:r>
                        <a:rPr kumimoji="1" lang="en-US" altLang="zh-CN" sz="1100" b="0" i="1" smtClean="0">
                          <a:latin typeface="Cambria Math" panose="02040503050406030204" pitchFamily="18" charset="0"/>
                        </a:rPr>
                        <m:t>=</m:t>
                      </m:r>
                      <m:sSub>
                        <m:sSubPr>
                          <m:ctrlPr>
                            <a:rPr kumimoji="1" lang="en-US" altLang="zh-CN" sz="1100" i="1">
                              <a:latin typeface="Cambria Math" panose="02040503050406030204" pitchFamily="18" charset="0"/>
                            </a:rPr>
                          </m:ctrlPr>
                        </m:sSubPr>
                        <m:e>
                          <m:d>
                            <m:dPr>
                              <m:ctrlPr>
                                <a:rPr kumimoji="1" lang="en-US" altLang="zh-CN" sz="1100" i="1">
                                  <a:latin typeface="Cambria Math" panose="02040503050406030204" pitchFamily="18" charset="0"/>
                                </a:rPr>
                              </m:ctrlPr>
                            </m:dPr>
                            <m:e>
                              <m:f>
                                <m:fPr>
                                  <m:ctrlPr>
                                    <a:rPr kumimoji="1" lang="en-US" altLang="zh-CN" sz="1100" i="1">
                                      <a:latin typeface="Cambria Math" panose="02040503050406030204" pitchFamily="18" charset="0"/>
                                    </a:rPr>
                                  </m:ctrlPr>
                                </m:fPr>
                                <m:num>
                                  <m:r>
                                    <a:rPr kumimoji="1" lang="en-US" altLang="zh-CN" sz="1100" i="1">
                                      <a:latin typeface="Cambria Math" panose="02040503050406030204" pitchFamily="18" charset="0"/>
                                    </a:rPr>
                                    <m:t>𝑀</m:t>
                                  </m:r>
                                </m:num>
                                <m:den>
                                  <m:r>
                                    <a:rPr kumimoji="1" lang="en-US" altLang="zh-CN" sz="1100" i="1">
                                      <a:latin typeface="Cambria Math" panose="02040503050406030204" pitchFamily="18" charset="0"/>
                                    </a:rPr>
                                    <m:t>𝑃</m:t>
                                  </m:r>
                                </m:den>
                              </m:f>
                            </m:e>
                          </m:d>
                        </m:e>
                        <m:sub>
                          <m:r>
                            <a:rPr kumimoji="1" lang="en-US" altLang="zh-CN" sz="1100" b="0" i="1" smtClean="0">
                              <a:latin typeface="Cambria Math" panose="02040503050406030204" pitchFamily="18" charset="0"/>
                            </a:rPr>
                            <m:t>𝐵</m:t>
                          </m:r>
                        </m:sub>
                      </m:sSub>
                    </m:oMath>
                  </m:oMathPara>
                </a14:m>
                <a:endParaRPr kumimoji="1" lang="zh-CN" altLang="en-US" sz="1100" dirty="0"/>
              </a:p>
            </p:txBody>
          </p:sp>
        </mc:Choice>
        <mc:Fallback xmlns="">
          <p:sp>
            <p:nvSpPr>
              <p:cNvPr id="27" name="文本框 26">
                <a:extLst>
                  <a:ext uri="{FF2B5EF4-FFF2-40B4-BE49-F238E27FC236}">
                    <a16:creationId xmlns:a16="http://schemas.microsoft.com/office/drawing/2014/main" id="{21D178A6-185A-EAC9-39C1-A2D640562DE2}"/>
                  </a:ext>
                </a:extLst>
              </p:cNvPr>
              <p:cNvSpPr txBox="1">
                <a:spLocks noRot="1" noChangeAspect="1" noMove="1" noResize="1" noEditPoints="1" noAdjustHandles="1" noChangeArrowheads="1" noChangeShapeType="1" noTextEdit="1"/>
              </p:cNvSpPr>
              <p:nvPr/>
            </p:nvSpPr>
            <p:spPr>
              <a:xfrm>
                <a:off x="2961365" y="2617797"/>
                <a:ext cx="903709" cy="342530"/>
              </a:xfrm>
              <a:prstGeom prst="rect">
                <a:avLst/>
              </a:prstGeom>
              <a:blipFill>
                <a:blip r:embed="rId11"/>
                <a:stretch>
                  <a:fillRect r="-1389" b="-68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2500EF81-B3B6-FDBC-E772-11BD11EFF9B7}"/>
                  </a:ext>
                </a:extLst>
              </p:cNvPr>
              <p:cNvSpPr txBox="1"/>
              <p:nvPr/>
            </p:nvSpPr>
            <p:spPr>
              <a:xfrm>
                <a:off x="1810710" y="3085733"/>
                <a:ext cx="581761" cy="2802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900" b="0" i="1" smtClean="0">
                              <a:solidFill>
                                <a:srgbClr val="0070C0"/>
                              </a:solidFill>
                              <a:latin typeface="Cambria Math" panose="02040503050406030204" pitchFamily="18" charset="0"/>
                            </a:rPr>
                          </m:ctrlPr>
                        </m:sSubPr>
                        <m:e>
                          <m:r>
                            <a:rPr kumimoji="1" lang="en-US" altLang="zh-CN" sz="900" i="1" smtClean="0">
                              <a:solidFill>
                                <a:srgbClr val="0070C0"/>
                              </a:solidFill>
                              <a:latin typeface="Cambria Math" panose="02040503050406030204" pitchFamily="18" charset="0"/>
                            </a:rPr>
                            <m:t>𝐿</m:t>
                          </m:r>
                        </m:e>
                        <m:sub>
                          <m:r>
                            <a:rPr kumimoji="1" lang="en-US" altLang="zh-CN" sz="900" b="0" i="1" smtClean="0">
                              <a:solidFill>
                                <a:srgbClr val="0070C0"/>
                              </a:solidFill>
                              <a:latin typeface="Cambria Math" panose="02040503050406030204" pitchFamily="18" charset="0"/>
                            </a:rPr>
                            <m:t>𝐵</m:t>
                          </m:r>
                        </m:sub>
                      </m:sSub>
                      <m:r>
                        <a:rPr kumimoji="1" lang="en-US" altLang="zh-CN" sz="900" b="0" i="1" smtClean="0">
                          <a:solidFill>
                            <a:srgbClr val="0070C0"/>
                          </a:solidFill>
                          <a:latin typeface="Cambria Math" panose="02040503050406030204" pitchFamily="18" charset="0"/>
                        </a:rPr>
                        <m:t>&gt;</m:t>
                      </m:r>
                      <m:sSub>
                        <m:sSubPr>
                          <m:ctrlPr>
                            <a:rPr kumimoji="1" lang="en-US" altLang="zh-CN" sz="900" b="0" i="1" smtClean="0">
                              <a:solidFill>
                                <a:srgbClr val="0070C0"/>
                              </a:solidFill>
                              <a:latin typeface="Cambria Math" panose="02040503050406030204" pitchFamily="18" charset="0"/>
                            </a:rPr>
                          </m:ctrlPr>
                        </m:sSubPr>
                        <m:e>
                          <m:d>
                            <m:dPr>
                              <m:ctrlPr>
                                <a:rPr kumimoji="1" lang="en-US" altLang="zh-CN" sz="900" b="0" i="1" smtClean="0">
                                  <a:solidFill>
                                    <a:srgbClr val="0070C0"/>
                                  </a:solidFill>
                                  <a:latin typeface="Cambria Math" panose="02040503050406030204" pitchFamily="18" charset="0"/>
                                </a:rPr>
                              </m:ctrlPr>
                            </m:dPr>
                            <m:e>
                              <m:f>
                                <m:fPr>
                                  <m:ctrlPr>
                                    <a:rPr kumimoji="1" lang="en-US" altLang="zh-CN" sz="900" b="0" i="1" smtClean="0">
                                      <a:solidFill>
                                        <a:srgbClr val="0070C0"/>
                                      </a:solidFill>
                                      <a:latin typeface="Cambria Math" panose="02040503050406030204" pitchFamily="18" charset="0"/>
                                    </a:rPr>
                                  </m:ctrlPr>
                                </m:fPr>
                                <m:num>
                                  <m:r>
                                    <m:rPr>
                                      <m:sty m:val="p"/>
                                    </m:rPr>
                                    <a:rPr kumimoji="1" lang="en-US" altLang="zh-CN" sz="900" i="1" smtClean="0">
                                      <a:solidFill>
                                        <a:srgbClr val="0070C0"/>
                                      </a:solidFill>
                                      <a:latin typeface="Cambria Math" panose="02040503050406030204" pitchFamily="18" charset="0"/>
                                    </a:rPr>
                                    <m:t>M</m:t>
                                  </m:r>
                                </m:num>
                                <m:den>
                                  <m:r>
                                    <a:rPr kumimoji="1" lang="en-US" altLang="zh-CN" sz="900" b="0" i="1" smtClean="0">
                                      <a:solidFill>
                                        <a:srgbClr val="0070C0"/>
                                      </a:solidFill>
                                      <a:latin typeface="Cambria Math" panose="02040503050406030204" pitchFamily="18" charset="0"/>
                                    </a:rPr>
                                    <m:t>𝑃</m:t>
                                  </m:r>
                                </m:den>
                              </m:f>
                            </m:e>
                          </m:d>
                        </m:e>
                        <m:sub>
                          <m:r>
                            <a:rPr kumimoji="1" lang="en-US" altLang="zh-CN" sz="900" b="0" i="1" smtClean="0">
                              <a:solidFill>
                                <a:srgbClr val="0070C0"/>
                              </a:solidFill>
                              <a:latin typeface="Cambria Math" panose="02040503050406030204" pitchFamily="18" charset="0"/>
                            </a:rPr>
                            <m:t>𝐵</m:t>
                          </m:r>
                        </m:sub>
                      </m:sSub>
                    </m:oMath>
                  </m:oMathPara>
                </a14:m>
                <a:endParaRPr kumimoji="1" lang="zh-CN" altLang="en-US" sz="900" dirty="0">
                  <a:solidFill>
                    <a:srgbClr val="0070C0"/>
                  </a:solidFill>
                </a:endParaRPr>
              </a:p>
            </p:txBody>
          </p:sp>
        </mc:Choice>
        <mc:Fallback xmlns="">
          <p:sp>
            <p:nvSpPr>
              <p:cNvPr id="28" name="文本框 27">
                <a:extLst>
                  <a:ext uri="{FF2B5EF4-FFF2-40B4-BE49-F238E27FC236}">
                    <a16:creationId xmlns:a16="http://schemas.microsoft.com/office/drawing/2014/main" id="{2500EF81-B3B6-FDBC-E772-11BD11EFF9B7}"/>
                  </a:ext>
                </a:extLst>
              </p:cNvPr>
              <p:cNvSpPr txBox="1">
                <a:spLocks noRot="1" noChangeAspect="1" noMove="1" noResize="1" noEditPoints="1" noAdjustHandles="1" noChangeArrowheads="1" noChangeShapeType="1" noTextEdit="1"/>
              </p:cNvSpPr>
              <p:nvPr/>
            </p:nvSpPr>
            <p:spPr>
              <a:xfrm>
                <a:off x="1810710" y="3085733"/>
                <a:ext cx="581761" cy="280270"/>
              </a:xfrm>
              <a:prstGeom prst="rect">
                <a:avLst/>
              </a:prstGeom>
              <a:blipFill>
                <a:blip r:embed="rId12"/>
                <a:stretch>
                  <a:fillRect l="-4255" b="-86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9510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60</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LM</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t>假定货币的交易需求函数是</a:t>
                </a:r>
                <a14:m>
                  <m:oMath xmlns:m="http://schemas.openxmlformats.org/officeDocument/2006/math">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𝑚</m:t>
                        </m:r>
                      </m:e>
                      <m:sub>
                        <m:r>
                          <a:rPr lang="en-US" altLang="zh-CN" sz="1050" i="1">
                            <a:latin typeface="Cambria Math" panose="02040503050406030204" pitchFamily="18" charset="0"/>
                          </a:rPr>
                          <m:t>1</m:t>
                        </m:r>
                      </m:sub>
                    </m:sSub>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𝐿</m:t>
                        </m:r>
                      </m:e>
                      <m:sub>
                        <m:r>
                          <a:rPr lang="en-US" altLang="zh-CN" sz="1050" i="1">
                            <a:latin typeface="Cambria Math" panose="02040503050406030204" pitchFamily="18" charset="0"/>
                          </a:rPr>
                          <m:t>1</m:t>
                        </m:r>
                      </m:sub>
                    </m:sSub>
                    <m:d>
                      <m:dPr>
                        <m:ctrlPr>
                          <a:rPr lang="en-US" altLang="zh-CN" sz="1050" i="1">
                            <a:latin typeface="Cambria Math" panose="02040503050406030204" pitchFamily="18" charset="0"/>
                          </a:rPr>
                        </m:ctrlPr>
                      </m:dPr>
                      <m:e>
                        <m:r>
                          <a:rPr lang="en-US" altLang="zh-CN" sz="1050" i="1">
                            <a:latin typeface="Cambria Math" panose="02040503050406030204" pitchFamily="18" charset="0"/>
                          </a:rPr>
                          <m:t>𝑦</m:t>
                        </m:r>
                      </m:e>
                    </m:d>
                    <m:r>
                      <a:rPr lang="en-US" altLang="zh-CN" sz="1050" i="1">
                        <a:latin typeface="Cambria Math" panose="02040503050406030204" pitchFamily="18" charset="0"/>
                      </a:rPr>
                      <m:t>=0.5</m:t>
                    </m:r>
                    <m:r>
                      <a:rPr lang="en-US" altLang="zh-CN" sz="1050" i="1">
                        <a:latin typeface="Cambria Math" panose="02040503050406030204" pitchFamily="18" charset="0"/>
                      </a:rPr>
                      <m:t>𝑦</m:t>
                    </m:r>
                    <m:r>
                      <a:rPr lang="en-US" altLang="zh-CN" sz="1050" i="1">
                        <a:latin typeface="Cambria Math" panose="02040503050406030204" pitchFamily="18" charset="0"/>
                      </a:rPr>
                      <m:t>, </m:t>
                    </m:r>
                  </m:oMath>
                </a14:m>
                <a:r>
                  <a:rPr lang="zh-CN" altLang="en-US" sz="1050" i="0" dirty="0">
                    <a:latin typeface="+mj-lt"/>
                  </a:rPr>
                  <a:t>货币的投资需求函数是</a:t>
                </a:r>
                <a14:m>
                  <m:oMath xmlns:m="http://schemas.openxmlformats.org/officeDocument/2006/math">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𝑚</m:t>
                        </m:r>
                      </m:e>
                      <m:sub>
                        <m:r>
                          <a:rPr lang="en-US" altLang="zh-CN" sz="1050" i="1">
                            <a:latin typeface="Cambria Math" panose="02040503050406030204" pitchFamily="18" charset="0"/>
                          </a:rPr>
                          <m:t>2</m:t>
                        </m:r>
                      </m:sub>
                    </m:sSub>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𝐿</m:t>
                        </m:r>
                      </m:e>
                      <m:sub>
                        <m:r>
                          <a:rPr lang="en-US" altLang="zh-CN" sz="1050" i="1">
                            <a:latin typeface="Cambria Math" panose="02040503050406030204" pitchFamily="18" charset="0"/>
                          </a:rPr>
                          <m:t>2</m:t>
                        </m:r>
                      </m:sub>
                    </m:sSub>
                    <m:d>
                      <m:dPr>
                        <m:ctrlPr>
                          <a:rPr lang="en-US" altLang="zh-CN" sz="1050" i="1">
                            <a:latin typeface="Cambria Math" panose="02040503050406030204" pitchFamily="18" charset="0"/>
                          </a:rPr>
                        </m:ctrlPr>
                      </m:dPr>
                      <m:e>
                        <m:r>
                          <a:rPr lang="en-US" altLang="zh-CN" sz="1050" i="1">
                            <a:latin typeface="Cambria Math" panose="02040503050406030204" pitchFamily="18" charset="0"/>
                          </a:rPr>
                          <m:t>𝑟</m:t>
                        </m:r>
                      </m:e>
                    </m:d>
                    <m:r>
                      <a:rPr lang="en-US" altLang="zh-CN" sz="1050" i="1">
                        <a:latin typeface="Cambria Math" panose="02040503050406030204" pitchFamily="18" charset="0"/>
                      </a:rPr>
                      <m:t>=1000−250</m:t>
                    </m:r>
                    <m:r>
                      <a:rPr lang="en-US" altLang="zh-CN" sz="1050" i="1">
                        <a:latin typeface="Cambria Math" panose="02040503050406030204" pitchFamily="18" charset="0"/>
                      </a:rPr>
                      <m:t>𝑟</m:t>
                    </m:r>
                  </m:oMath>
                </a14:m>
                <a:r>
                  <a:rPr lang="zh-CN" altLang="en-US" sz="1050" i="0" dirty="0">
                    <a:latin typeface="+mj-lt"/>
                  </a:rPr>
                  <a:t>，货币供给量</a:t>
                </a:r>
                <a14:m>
                  <m:oMath xmlns:m="http://schemas.openxmlformats.org/officeDocument/2006/math">
                    <m:r>
                      <a:rPr lang="en-US" altLang="zh-CN" sz="1050" i="1">
                        <a:latin typeface="Cambria Math" panose="02040503050406030204" pitchFamily="18" charset="0"/>
                      </a:rPr>
                      <m:t>𝑚</m:t>
                    </m:r>
                    <m:r>
                      <a:rPr lang="en-US" altLang="zh-CN" sz="1050" i="1">
                        <a:latin typeface="Cambria Math" panose="02040503050406030204" pitchFamily="18" charset="0"/>
                      </a:rPr>
                      <m:t>=1250</m:t>
                    </m:r>
                  </m:oMath>
                </a14:m>
                <a:r>
                  <a:rPr lang="zh-CN" altLang="en-US" sz="1050" dirty="0"/>
                  <a:t>亿美元，并假定这一实际货币供给量就是名义货币供给量</a:t>
                </a:r>
                <a:r>
                  <a:rPr lang="en-US" altLang="zh-CN" sz="1050" dirty="0"/>
                  <a:t>(M)</a:t>
                </a:r>
                <a:r>
                  <a:rPr lang="zh-CN" altLang="en-US" sz="1050" dirty="0"/>
                  <a:t>，则</a:t>
                </a:r>
                <a:r>
                  <a:rPr lang="en-US" altLang="zh-CN" sz="1050" dirty="0"/>
                  <a:t>LM</a:t>
                </a:r>
                <a:r>
                  <a:rPr lang="zh-CN" altLang="en-US" sz="1050" dirty="0"/>
                  <a:t>曲线是？</a:t>
                </a:r>
                <a:endParaRPr lang="zh-CN" altLang="en-US" sz="1050" dirty="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391979"/>
              </a:xfrm>
              <a:blipFill>
                <a:blip r:embed="rId2"/>
                <a:stretch>
                  <a:fillRect t="-52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26577561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61</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LM</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050" dirty="0">
                <a:ea typeface="SimSun" panose="02010600030101010101" pitchFamily="2" charset="-122"/>
                <a:cs typeface="Times New Roman" panose="02020603050405020304" pitchFamily="18" charset="0"/>
              </a:rPr>
              <a:t>假定货币需求为</a:t>
            </a:r>
            <a:r>
              <a:rPr lang="en-US" altLang="zh-CN" sz="1050" dirty="0">
                <a:ea typeface="SimSun" panose="02010600030101010101" pitchFamily="2" charset="-122"/>
                <a:cs typeface="Times New Roman" panose="02020603050405020304" pitchFamily="18" charset="0"/>
              </a:rPr>
              <a:t>L=0.2y-5r</a:t>
            </a: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）画出利率为</a:t>
            </a:r>
            <a:r>
              <a:rPr lang="en-US" altLang="zh-CN" sz="1050" dirty="0">
                <a:ea typeface="SimSun" panose="02010600030101010101" pitchFamily="2" charset="-122"/>
                <a:cs typeface="Times New Roman" panose="02020603050405020304" pitchFamily="18" charset="0"/>
              </a:rPr>
              <a:t>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a:t>
            </a:r>
            <a:r>
              <a:rPr lang="zh-CN" altLang="en-US" sz="1050" dirty="0">
                <a:ea typeface="SimSun" panose="02010600030101010101" pitchFamily="2" charset="-122"/>
                <a:cs typeface="Times New Roman" panose="02020603050405020304" pitchFamily="18" charset="0"/>
              </a:rPr>
              <a:t>而收入为</a:t>
            </a:r>
            <a:r>
              <a:rPr lang="en-US" altLang="zh-CN" sz="1050" dirty="0">
                <a:ea typeface="SimSun" panose="02010600030101010101" pitchFamily="2" charset="-122"/>
                <a:cs typeface="Times New Roman" panose="02020603050405020304" pitchFamily="18" charset="0"/>
              </a:rPr>
              <a:t>800</a:t>
            </a:r>
            <a:r>
              <a:rPr lang="zh-CN" altLang="en-US" sz="1050" dirty="0">
                <a:ea typeface="SimSun" panose="02010600030101010101" pitchFamily="2" charset="-122"/>
                <a:cs typeface="Times New Roman" panose="02020603050405020304" pitchFamily="18" charset="0"/>
              </a:rPr>
              <a:t>亿美元、</a:t>
            </a:r>
            <a:r>
              <a:rPr lang="en-US" altLang="zh-CN" sz="1050" dirty="0">
                <a:ea typeface="SimSun" panose="02010600030101010101" pitchFamily="2" charset="-122"/>
                <a:cs typeface="Times New Roman" panose="02020603050405020304" pitchFamily="18" charset="0"/>
              </a:rPr>
              <a:t>900</a:t>
            </a:r>
            <a:r>
              <a:rPr lang="zh-CN" altLang="en-US" sz="1050" dirty="0">
                <a:ea typeface="SimSun" panose="02010600030101010101" pitchFamily="2" charset="-122"/>
                <a:cs typeface="Times New Roman" panose="02020603050405020304" pitchFamily="18" charset="0"/>
              </a:rPr>
              <a:t>亿美元、</a:t>
            </a:r>
            <a:r>
              <a:rPr lang="en-US" altLang="zh-CN" sz="1050" dirty="0">
                <a:ea typeface="SimSun" panose="02010600030101010101" pitchFamily="2" charset="-122"/>
                <a:cs typeface="Times New Roman" panose="02020603050405020304" pitchFamily="18" charset="0"/>
              </a:rPr>
              <a:t>1000</a:t>
            </a:r>
            <a:r>
              <a:rPr lang="zh-CN" altLang="en-US" sz="1050" dirty="0">
                <a:ea typeface="SimSun" panose="02010600030101010101" pitchFamily="2" charset="-122"/>
                <a:cs typeface="Times New Roman" panose="02020603050405020304" pitchFamily="18" charset="0"/>
              </a:rPr>
              <a:t>亿美元时的货币需求曲线；</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）若名义货币供给量是</a:t>
            </a:r>
            <a:r>
              <a:rPr lang="en-US" altLang="zh-CN" sz="1050" dirty="0">
                <a:ea typeface="SimSun" panose="02010600030101010101" pitchFamily="2" charset="-122"/>
                <a:cs typeface="Times New Roman" panose="02020603050405020304" pitchFamily="18" charset="0"/>
              </a:rPr>
              <a:t>150</a:t>
            </a:r>
            <a:r>
              <a:rPr lang="zh-CN" altLang="en-US" sz="1050" dirty="0">
                <a:ea typeface="SimSun" panose="02010600030101010101" pitchFamily="2" charset="-122"/>
                <a:cs typeface="Times New Roman" panose="02020603050405020304" pitchFamily="18" charset="0"/>
              </a:rPr>
              <a:t>亿美元，价格水平</a:t>
            </a:r>
            <a:r>
              <a:rPr lang="en-US" altLang="zh-CN" sz="1050" dirty="0">
                <a:ea typeface="SimSun" panose="02010600030101010101" pitchFamily="2" charset="-122"/>
                <a:cs typeface="Times New Roman" panose="02020603050405020304" pitchFamily="18" charset="0"/>
              </a:rPr>
              <a:t>P=1</a:t>
            </a:r>
            <a:r>
              <a:rPr lang="zh-CN" altLang="en-US" sz="1050" dirty="0">
                <a:ea typeface="SimSun" panose="02010600030101010101" pitchFamily="2" charset="-122"/>
                <a:cs typeface="Times New Roman" panose="02020603050405020304" pitchFamily="18" charset="0"/>
              </a:rPr>
              <a:t>，找出货币需求与供给相均衡的收入与利率；</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）画出</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曲线，说明什么是</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4</a:t>
            </a:r>
            <a:r>
              <a:rPr lang="zh-CN" altLang="en-US" sz="1050" dirty="0">
                <a:ea typeface="SimSun" panose="02010600030101010101" pitchFamily="2" charset="-122"/>
                <a:cs typeface="Times New Roman" panose="02020603050405020304" pitchFamily="18" charset="0"/>
              </a:rPr>
              <a:t>）若货币供给为</a:t>
            </a:r>
            <a:r>
              <a:rPr lang="en-US" altLang="zh-CN" sz="1050" dirty="0">
                <a:ea typeface="SimSun" panose="02010600030101010101" pitchFamily="2" charset="-122"/>
                <a:cs typeface="Times New Roman" panose="02020603050405020304" pitchFamily="18" charset="0"/>
              </a:rPr>
              <a:t>200</a:t>
            </a:r>
            <a:r>
              <a:rPr lang="zh-CN" altLang="en-US" sz="1050" dirty="0">
                <a:ea typeface="SimSun" panose="02010600030101010101" pitchFamily="2" charset="-122"/>
                <a:cs typeface="Times New Roman" panose="02020603050405020304" pitchFamily="18" charset="0"/>
              </a:rPr>
              <a:t>亿美元，再画一条</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曲线，这条</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曲线与（</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）相比有何不同？</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5</a:t>
            </a:r>
            <a:r>
              <a:rPr lang="zh-CN" altLang="en-US" sz="1050" dirty="0">
                <a:ea typeface="SimSun" panose="02010600030101010101" pitchFamily="2" charset="-122"/>
                <a:cs typeface="Times New Roman" panose="02020603050405020304" pitchFamily="18" charset="0"/>
              </a:rPr>
              <a:t>）对于（</a:t>
            </a:r>
            <a:r>
              <a:rPr lang="en-US" altLang="zh-CN" sz="1050" dirty="0">
                <a:ea typeface="SimSun" panose="02010600030101010101" pitchFamily="2" charset="-122"/>
                <a:cs typeface="Times New Roman" panose="02020603050405020304" pitchFamily="18" charset="0"/>
              </a:rPr>
              <a:t>4</a:t>
            </a:r>
            <a:r>
              <a:rPr lang="zh-CN" altLang="en-US" sz="1050" dirty="0">
                <a:ea typeface="SimSun" panose="02010600030101010101" pitchFamily="2" charset="-122"/>
                <a:cs typeface="Times New Roman" panose="02020603050405020304" pitchFamily="18" charset="0"/>
              </a:rPr>
              <a:t>）中的</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曲线，若</a:t>
            </a: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y=1100</a:t>
            </a:r>
            <a:r>
              <a:rPr lang="zh-CN" altLang="en-US" sz="1050" dirty="0">
                <a:ea typeface="SimSun" panose="02010600030101010101" pitchFamily="2" charset="-122"/>
                <a:cs typeface="Times New Roman" panose="02020603050405020304" pitchFamily="18" charset="0"/>
              </a:rPr>
              <a:t>亿美元，货币需求与供给是否均衡？若不均衡，利率将怎样变动？</a:t>
            </a:r>
          </a:p>
        </p:txBody>
      </p:sp>
    </p:spTree>
    <p:extLst>
      <p:ext uri="{BB962C8B-B14F-4D97-AF65-F5344CB8AC3E}">
        <p14:creationId xmlns:p14="http://schemas.microsoft.com/office/powerpoint/2010/main" val="271114459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286177"/>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6"/>
            <a:ext cx="4138686" cy="262966"/>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476240"/>
            <a:ext cx="4110356" cy="2836452"/>
          </a:xfrm>
          <a:ln>
            <a:noFill/>
          </a:ln>
        </p:spPr>
        <p:style>
          <a:lnRef idx="2">
            <a:schemeClr val="accent1"/>
          </a:lnRef>
          <a:fillRef idx="1">
            <a:schemeClr val="lt1"/>
          </a:fillRef>
          <a:effectRef idx="0">
            <a:schemeClr val="accent1"/>
          </a:effectRef>
          <a:fontRef idx="minor">
            <a:schemeClr val="dk1"/>
          </a:fontRef>
        </p:style>
        <p:txBody>
          <a:bodyPr numCol="2"/>
          <a:lstStyle/>
          <a:p>
            <a:pPr marL="0" indent="0">
              <a:buNone/>
            </a:pP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货币需求</a:t>
            </a:r>
            <a:r>
              <a:rPr lang="en-US" altLang="zh-CN" sz="1050" dirty="0">
                <a:ea typeface="SimSun" panose="02010600030101010101" pitchFamily="2" charset="-122"/>
                <a:cs typeface="Times New Roman" panose="02020603050405020304" pitchFamily="18" charset="0"/>
              </a:rPr>
              <a:t>L=0.2y-5r</a:t>
            </a:r>
          </a:p>
          <a:p>
            <a:pPr marL="0" indent="0">
              <a:buNone/>
            </a:pPr>
            <a:r>
              <a:rPr lang="zh-CN" altLang="en-US" sz="1050" dirty="0">
                <a:ea typeface="SimSun" panose="02010600030101010101" pitchFamily="2" charset="-122"/>
                <a:cs typeface="Times New Roman" panose="02020603050405020304" pitchFamily="18" charset="0"/>
              </a:rPr>
              <a:t>当收入</a:t>
            </a:r>
            <a:r>
              <a:rPr lang="en-US" altLang="zh-CN" sz="1050" dirty="0">
                <a:ea typeface="SimSun" panose="02010600030101010101" pitchFamily="2" charset="-122"/>
                <a:cs typeface="Times New Roman" panose="02020603050405020304" pitchFamily="18" charset="0"/>
              </a:rPr>
              <a:t>y=800</a:t>
            </a:r>
            <a:r>
              <a:rPr lang="zh-CN" altLang="en-US" sz="1050" dirty="0">
                <a:ea typeface="SimSun" panose="02010600030101010101" pitchFamily="2" charset="-122"/>
                <a:cs typeface="Times New Roman" panose="02020603050405020304" pitchFamily="18" charset="0"/>
              </a:rPr>
              <a:t>时，</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10=110</a:t>
            </a:r>
          </a:p>
          <a:p>
            <a:pPr marL="0" indent="0">
              <a:buNone/>
            </a:pPr>
            <a:r>
              <a:rPr lang="en-US" altLang="zh-CN" sz="1050" dirty="0">
                <a:ea typeface="SimSun" panose="02010600030101010101" pitchFamily="2" charset="-122"/>
                <a:cs typeface="Times New Roman" panose="02020603050405020304" pitchFamily="18" charset="0"/>
              </a:rPr>
              <a:t>r=8%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8=120</a:t>
            </a:r>
          </a:p>
          <a:p>
            <a:pPr marL="0" indent="0">
              <a:buNone/>
            </a:pPr>
            <a:r>
              <a:rPr lang="en-US" altLang="zh-CN" sz="1050" dirty="0">
                <a:ea typeface="SimSun" panose="02010600030101010101" pitchFamily="2" charset="-122"/>
                <a:cs typeface="Times New Roman" panose="02020603050405020304" pitchFamily="18" charset="0"/>
              </a:rPr>
              <a:t>r=6%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6=130</a:t>
            </a:r>
          </a:p>
          <a:p>
            <a:pPr marL="0" indent="0">
              <a:buNone/>
            </a:pPr>
            <a:r>
              <a:rPr lang="zh-CN" altLang="en-US" sz="1050" dirty="0">
                <a:ea typeface="SimSun" panose="02010600030101010101" pitchFamily="2" charset="-122"/>
                <a:cs typeface="Times New Roman" panose="02020603050405020304" pitchFamily="18" charset="0"/>
              </a:rPr>
              <a:t>当收入</a:t>
            </a:r>
            <a:r>
              <a:rPr lang="en-US" altLang="zh-CN" sz="1050" dirty="0">
                <a:ea typeface="SimSun" panose="02010600030101010101" pitchFamily="2" charset="-122"/>
                <a:cs typeface="Times New Roman" panose="02020603050405020304" pitchFamily="18" charset="0"/>
              </a:rPr>
              <a:t>y=900</a:t>
            </a:r>
            <a:r>
              <a:rPr lang="zh-CN" altLang="en-US" sz="1050" dirty="0">
                <a:ea typeface="SimSun" panose="02010600030101010101" pitchFamily="2" charset="-122"/>
                <a:cs typeface="Times New Roman" panose="02020603050405020304" pitchFamily="18" charset="0"/>
              </a:rPr>
              <a:t>时，</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900-5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10=130</a:t>
            </a:r>
          </a:p>
          <a:p>
            <a:pPr marL="0" indent="0">
              <a:buNone/>
            </a:pPr>
            <a:r>
              <a:rPr lang="en-US" altLang="zh-CN" sz="1050" dirty="0">
                <a:ea typeface="SimSun" panose="02010600030101010101" pitchFamily="2" charset="-122"/>
                <a:cs typeface="Times New Roman" panose="02020603050405020304" pitchFamily="18" charset="0"/>
              </a:rPr>
              <a:t>r=8%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900-5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8=140</a:t>
            </a:r>
          </a:p>
          <a:p>
            <a:pPr marL="0" indent="0">
              <a:buNone/>
            </a:pPr>
            <a:r>
              <a:rPr lang="en-US" altLang="zh-CN" sz="1050" dirty="0">
                <a:ea typeface="SimSun" panose="02010600030101010101" pitchFamily="2" charset="-122"/>
                <a:cs typeface="Times New Roman" panose="02020603050405020304" pitchFamily="18" charset="0"/>
              </a:rPr>
              <a:t>r=6%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900-5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6=150</a:t>
            </a:r>
          </a:p>
          <a:p>
            <a:pPr marL="0" indent="0">
              <a:buNone/>
            </a:pPr>
            <a:r>
              <a:rPr lang="zh-CN" altLang="en-US" sz="1050" dirty="0">
                <a:ea typeface="SimSun" panose="02010600030101010101" pitchFamily="2" charset="-122"/>
                <a:cs typeface="Times New Roman" panose="02020603050405020304" pitchFamily="18" charset="0"/>
              </a:rPr>
              <a:t>当收入</a:t>
            </a:r>
            <a:r>
              <a:rPr lang="en-US" altLang="zh-CN" sz="1050" dirty="0">
                <a:ea typeface="SimSun" panose="02010600030101010101" pitchFamily="2" charset="-122"/>
                <a:cs typeface="Times New Roman" panose="02020603050405020304" pitchFamily="18" charset="0"/>
              </a:rPr>
              <a:t>y=1000</a:t>
            </a:r>
            <a:r>
              <a:rPr lang="zh-CN" altLang="en-US" sz="1050" dirty="0">
                <a:ea typeface="SimSun" panose="02010600030101010101" pitchFamily="2" charset="-122"/>
                <a:cs typeface="Times New Roman" panose="02020603050405020304" pitchFamily="18" charset="0"/>
              </a:rPr>
              <a:t>时，</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10=150</a:t>
            </a:r>
          </a:p>
          <a:p>
            <a:pPr marL="0" indent="0">
              <a:buNone/>
            </a:pPr>
            <a:r>
              <a:rPr lang="en-US" altLang="zh-CN" sz="1050" dirty="0">
                <a:ea typeface="SimSun" panose="02010600030101010101" pitchFamily="2" charset="-122"/>
                <a:cs typeface="Times New Roman" panose="02020603050405020304" pitchFamily="18" charset="0"/>
              </a:rPr>
              <a:t>r=8%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8=160</a:t>
            </a:r>
          </a:p>
          <a:p>
            <a:pPr marL="0" indent="0">
              <a:buNone/>
            </a:pPr>
            <a:r>
              <a:rPr lang="en-US" altLang="zh-CN" sz="1050" dirty="0">
                <a:ea typeface="SimSun" panose="02010600030101010101" pitchFamily="2" charset="-122"/>
                <a:cs typeface="Times New Roman" panose="02020603050405020304" pitchFamily="18" charset="0"/>
              </a:rPr>
              <a:t>r=6%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6=170</a:t>
            </a:r>
          </a:p>
          <a:p>
            <a:pPr marL="0" indent="0">
              <a:buNone/>
            </a:pPr>
            <a:r>
              <a:rPr lang="zh-CN" altLang="en-US" sz="1050" dirty="0">
                <a:ea typeface="SimSun" panose="02010600030101010101" pitchFamily="2" charset="-122"/>
                <a:cs typeface="Times New Roman" panose="02020603050405020304" pitchFamily="18" charset="0"/>
              </a:rPr>
              <a:t>由以上数值，得货币需求曲线</a:t>
            </a:r>
            <a:r>
              <a:rPr lang="en-US" altLang="zh-CN" sz="1050" dirty="0">
                <a:ea typeface="SimSun" panose="02010600030101010101" pitchFamily="2" charset="-122"/>
                <a:cs typeface="Times New Roman" panose="02020603050405020304" pitchFamily="18" charset="0"/>
              </a:rPr>
              <a:t>L</a:t>
            </a:r>
            <a:r>
              <a:rPr lang="en-US" altLang="zh-CN" sz="1050" baseline="-25000" dirty="0">
                <a:ea typeface="SimSun" panose="02010600030101010101" pitchFamily="2" charset="-122"/>
                <a:cs typeface="Times New Roman" panose="02020603050405020304" pitchFamily="18" charset="0"/>
              </a:rPr>
              <a:t>1</a:t>
            </a:r>
            <a:r>
              <a:rPr lang="en-US" altLang="zh-CN" sz="1050" dirty="0">
                <a:ea typeface="SimSun" panose="02010600030101010101" pitchFamily="2" charset="-122"/>
                <a:cs typeface="Times New Roman" panose="02020603050405020304" pitchFamily="18" charset="0"/>
              </a:rPr>
              <a:t>(y=800), L</a:t>
            </a:r>
            <a:r>
              <a:rPr lang="en-US" altLang="zh-CN" sz="1050" baseline="-25000" dirty="0">
                <a:ea typeface="SimSun" panose="02010600030101010101" pitchFamily="2" charset="-122"/>
                <a:cs typeface="Times New Roman" panose="02020603050405020304" pitchFamily="18" charset="0"/>
              </a:rPr>
              <a:t>2</a:t>
            </a:r>
            <a:r>
              <a:rPr lang="en-US" altLang="zh-CN" sz="1050" dirty="0">
                <a:ea typeface="SimSun" panose="02010600030101010101" pitchFamily="2" charset="-122"/>
                <a:cs typeface="Times New Roman" panose="02020603050405020304" pitchFamily="18" charset="0"/>
              </a:rPr>
              <a:t>(y=900), L</a:t>
            </a:r>
            <a:r>
              <a:rPr lang="en-US" altLang="zh-CN" sz="1050" baseline="-25000" dirty="0">
                <a:ea typeface="SimSun" panose="02010600030101010101" pitchFamily="2" charset="-122"/>
                <a:cs typeface="Times New Roman" panose="02020603050405020304" pitchFamily="18" charset="0"/>
              </a:rPr>
              <a:t>3</a:t>
            </a:r>
            <a:r>
              <a:rPr lang="en-US" altLang="zh-CN" sz="1050" dirty="0">
                <a:ea typeface="SimSun" panose="02010600030101010101" pitchFamily="2" charset="-122"/>
                <a:cs typeface="Times New Roman" panose="02020603050405020304" pitchFamily="18" charset="0"/>
              </a:rPr>
              <a:t> (y=1000)</a:t>
            </a:r>
            <a:r>
              <a:rPr lang="zh-CN" altLang="en-US" sz="1050" dirty="0">
                <a:ea typeface="SimSun" panose="02010600030101010101" pitchFamily="2" charset="-122"/>
                <a:cs typeface="Times New Roman" panose="02020603050405020304" pitchFamily="18" charset="0"/>
              </a:rPr>
              <a:t>如下图：</a:t>
            </a:r>
          </a:p>
        </p:txBody>
      </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62</a:t>
            </a:fld>
            <a:endParaRPr lang="zh-CN" altLang="zh-CN" sz="857">
              <a:solidFill>
                <a:srgbClr val="777777"/>
              </a:solidFill>
              <a:latin typeface="Tahoma" panose="020B0604030504040204" pitchFamily="34" charset="0"/>
              <a:ea typeface="宋体" panose="02010600030101010101" pitchFamily="2" charset="-122"/>
            </a:endParaRPr>
          </a:p>
        </p:txBody>
      </p:sp>
      <p:cxnSp>
        <p:nvCxnSpPr>
          <p:cNvPr id="29" name="直线连接符 28">
            <a:extLst>
              <a:ext uri="{FF2B5EF4-FFF2-40B4-BE49-F238E27FC236}">
                <a16:creationId xmlns:a16="http://schemas.microsoft.com/office/drawing/2014/main" id="{E56E761D-94EE-7CE4-211E-CBFAE2D453CF}"/>
              </a:ext>
            </a:extLst>
          </p:cNvPr>
          <p:cNvCxnSpPr>
            <a:cxnSpLocks/>
          </p:cNvCxnSpPr>
          <p:nvPr/>
        </p:nvCxnSpPr>
        <p:spPr>
          <a:xfrm>
            <a:off x="3273697" y="2061003"/>
            <a:ext cx="0" cy="771133"/>
          </a:xfrm>
          <a:prstGeom prst="line">
            <a:avLst/>
          </a:prstGeom>
          <a:ln>
            <a:prstDash val="dash"/>
          </a:ln>
        </p:spPr>
        <p:style>
          <a:lnRef idx="1">
            <a:schemeClr val="dk1"/>
          </a:lnRef>
          <a:fillRef idx="0">
            <a:schemeClr val="dk1"/>
          </a:fillRef>
          <a:effectRef idx="0">
            <a:schemeClr val="dk1"/>
          </a:effectRef>
          <a:fontRef idx="minor">
            <a:schemeClr val="tx1"/>
          </a:fontRef>
        </p:style>
      </p:cxnSp>
      <p:grpSp>
        <p:nvGrpSpPr>
          <p:cNvPr id="3" name="组合 2">
            <a:extLst>
              <a:ext uri="{FF2B5EF4-FFF2-40B4-BE49-F238E27FC236}">
                <a16:creationId xmlns:a16="http://schemas.microsoft.com/office/drawing/2014/main" id="{847A1860-0250-D836-0168-24376DBEBB77}"/>
              </a:ext>
            </a:extLst>
          </p:cNvPr>
          <p:cNvGrpSpPr/>
          <p:nvPr/>
        </p:nvGrpSpPr>
        <p:grpSpPr>
          <a:xfrm>
            <a:off x="2296065" y="1608000"/>
            <a:ext cx="1953201" cy="1601251"/>
            <a:chOff x="2784346" y="1154311"/>
            <a:chExt cx="1953201" cy="1601251"/>
          </a:xfrm>
        </p:grpSpPr>
        <p:cxnSp>
          <p:nvCxnSpPr>
            <p:cNvPr id="4" name="直线箭头连接符 3">
              <a:extLst>
                <a:ext uri="{FF2B5EF4-FFF2-40B4-BE49-F238E27FC236}">
                  <a16:creationId xmlns:a16="http://schemas.microsoft.com/office/drawing/2014/main" id="{AE5813F5-33E8-6147-E8BC-D16CDB868CE0}"/>
                </a:ext>
              </a:extLst>
            </p:cNvPr>
            <p:cNvCxnSpPr>
              <a:cxnSpLocks/>
            </p:cNvCxnSpPr>
            <p:nvPr/>
          </p:nvCxnSpPr>
          <p:spPr>
            <a:xfrm>
              <a:off x="3025130" y="2378447"/>
              <a:ext cx="17124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直线箭头连接符 4">
              <a:extLst>
                <a:ext uri="{FF2B5EF4-FFF2-40B4-BE49-F238E27FC236}">
                  <a16:creationId xmlns:a16="http://schemas.microsoft.com/office/drawing/2014/main" id="{42DE1050-F5C7-4F99-6E4D-0A0498A8B9D9}"/>
                </a:ext>
              </a:extLst>
            </p:cNvPr>
            <p:cNvCxnSpPr/>
            <p:nvPr/>
          </p:nvCxnSpPr>
          <p:spPr>
            <a:xfrm flipV="1">
              <a:off x="3025130" y="1154311"/>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连接符 5">
              <a:extLst>
                <a:ext uri="{FF2B5EF4-FFF2-40B4-BE49-F238E27FC236}">
                  <a16:creationId xmlns:a16="http://schemas.microsoft.com/office/drawing/2014/main" id="{19E8A6F2-3E2B-D694-1665-3191BFC2D5F8}"/>
                </a:ext>
              </a:extLst>
            </p:cNvPr>
            <p:cNvCxnSpPr>
              <a:cxnSpLocks/>
            </p:cNvCxnSpPr>
            <p:nvPr/>
          </p:nvCxnSpPr>
          <p:spPr>
            <a:xfrm>
              <a:off x="3205204" y="1317852"/>
              <a:ext cx="857095" cy="870954"/>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2B7C5D62-5E89-1036-90FC-2217954EEFD8}"/>
                </a:ext>
              </a:extLst>
            </p:cNvPr>
            <p:cNvCxnSpPr>
              <a:cxnSpLocks/>
            </p:cNvCxnSpPr>
            <p:nvPr/>
          </p:nvCxnSpPr>
          <p:spPr>
            <a:xfrm>
              <a:off x="3025130" y="1586359"/>
              <a:ext cx="103716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8" name="直线连接符 7">
              <a:extLst>
                <a:ext uri="{FF2B5EF4-FFF2-40B4-BE49-F238E27FC236}">
                  <a16:creationId xmlns:a16="http://schemas.microsoft.com/office/drawing/2014/main" id="{699E717B-BA51-555F-BB01-0B23B5C94FF8}"/>
                </a:ext>
              </a:extLst>
            </p:cNvPr>
            <p:cNvCxnSpPr>
              <a:cxnSpLocks/>
            </p:cNvCxnSpPr>
            <p:nvPr/>
          </p:nvCxnSpPr>
          <p:spPr>
            <a:xfrm>
              <a:off x="3025130" y="1738759"/>
              <a:ext cx="1152123"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B9055115-2850-178B-C16A-AFAD9B56EE51}"/>
                </a:ext>
              </a:extLst>
            </p:cNvPr>
            <p:cNvCxnSpPr>
              <a:cxnSpLocks/>
            </p:cNvCxnSpPr>
            <p:nvPr/>
          </p:nvCxnSpPr>
          <p:spPr>
            <a:xfrm>
              <a:off x="3025130" y="1891159"/>
              <a:ext cx="1329437"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563A9CAC-9CD7-D9A7-10C7-D7DAC4B1051F}"/>
                </a:ext>
              </a:extLst>
            </p:cNvPr>
            <p:cNvCxnSpPr/>
            <p:nvPr/>
          </p:nvCxnSpPr>
          <p:spPr>
            <a:xfrm>
              <a:off x="3457178" y="1586359"/>
              <a:ext cx="0" cy="7920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2" name="直线连接符 11">
              <a:extLst>
                <a:ext uri="{FF2B5EF4-FFF2-40B4-BE49-F238E27FC236}">
                  <a16:creationId xmlns:a16="http://schemas.microsoft.com/office/drawing/2014/main" id="{B75027B8-7FC9-B023-CACC-62F4FAD0D052}"/>
                </a:ext>
              </a:extLst>
            </p:cNvPr>
            <p:cNvCxnSpPr>
              <a:cxnSpLocks/>
            </p:cNvCxnSpPr>
            <p:nvPr/>
          </p:nvCxnSpPr>
          <p:spPr>
            <a:xfrm>
              <a:off x="3609578" y="1738759"/>
              <a:ext cx="0" cy="639688"/>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5" name="文本框 14">
              <a:extLst>
                <a:ext uri="{FF2B5EF4-FFF2-40B4-BE49-F238E27FC236}">
                  <a16:creationId xmlns:a16="http://schemas.microsoft.com/office/drawing/2014/main" id="{E2D36B22-0C06-640A-6FB9-58052A5EC980}"/>
                </a:ext>
              </a:extLst>
            </p:cNvPr>
            <p:cNvSpPr txBox="1"/>
            <p:nvPr/>
          </p:nvSpPr>
          <p:spPr>
            <a:xfrm>
              <a:off x="3226625" y="2351561"/>
              <a:ext cx="1421712" cy="215444"/>
            </a:xfrm>
            <a:prstGeom prst="rect">
              <a:avLst/>
            </a:prstGeom>
            <a:noFill/>
          </p:spPr>
          <p:txBody>
            <a:bodyPr wrap="square" rtlCol="0">
              <a:spAutoFit/>
            </a:bodyPr>
            <a:lstStyle/>
            <a:p>
              <a:r>
                <a:rPr kumimoji="1" lang="en-US" altLang="zh-CN" sz="800" dirty="0">
                  <a:latin typeface="Garamond" panose="02020404030301010803" pitchFamily="18" charset="0"/>
                </a:rPr>
                <a:t>110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120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130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140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150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160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170</a:t>
              </a:r>
              <a:endParaRPr kumimoji="1" lang="zh-CN" altLang="en-US" sz="800" dirty="0">
                <a:latin typeface="Garamond" panose="02020404030301010803" pitchFamily="18" charset="0"/>
              </a:endParaRPr>
            </a:p>
          </p:txBody>
        </p:sp>
        <p:sp>
          <p:nvSpPr>
            <p:cNvPr id="16" name="文本框 15">
              <a:extLst>
                <a:ext uri="{FF2B5EF4-FFF2-40B4-BE49-F238E27FC236}">
                  <a16:creationId xmlns:a16="http://schemas.microsoft.com/office/drawing/2014/main" id="{61C3D74F-C67B-C134-FC19-E8369FE6D4A2}"/>
                </a:ext>
              </a:extLst>
            </p:cNvPr>
            <p:cNvSpPr txBox="1"/>
            <p:nvPr/>
          </p:nvSpPr>
          <p:spPr>
            <a:xfrm>
              <a:off x="2784346" y="1472494"/>
              <a:ext cx="291066" cy="543675"/>
            </a:xfrm>
            <a:prstGeom prst="rect">
              <a:avLst/>
            </a:prstGeom>
            <a:noFill/>
          </p:spPr>
          <p:txBody>
            <a:bodyPr wrap="square" rtlCol="0">
              <a:spAutoFit/>
            </a:bodyPr>
            <a:lstStyle/>
            <a:p>
              <a:pPr algn="r">
                <a:lnSpc>
                  <a:spcPct val="110000"/>
                </a:lnSpc>
              </a:pPr>
              <a:r>
                <a:rPr kumimoji="1" lang="en-US" altLang="zh-CN" sz="900" dirty="0">
                  <a:latin typeface="Garamond" panose="02020404030301010803" pitchFamily="18" charset="0"/>
                </a:rPr>
                <a:t>10</a:t>
              </a:r>
            </a:p>
            <a:p>
              <a:pPr algn="r">
                <a:lnSpc>
                  <a:spcPct val="110000"/>
                </a:lnSpc>
              </a:pPr>
              <a:r>
                <a:rPr kumimoji="1" lang="en-US" altLang="zh-CN" sz="900" dirty="0">
                  <a:latin typeface="Garamond" panose="02020404030301010803" pitchFamily="18" charset="0"/>
                </a:rPr>
                <a:t>8</a:t>
              </a:r>
            </a:p>
            <a:p>
              <a:pPr algn="r">
                <a:lnSpc>
                  <a:spcPct val="110000"/>
                </a:lnSpc>
              </a:pPr>
              <a:r>
                <a:rPr kumimoji="1" lang="en-US" altLang="zh-CN" sz="900" dirty="0">
                  <a:latin typeface="Garamond" panose="02020404030301010803" pitchFamily="18" charset="0"/>
                </a:rPr>
                <a:t>6</a:t>
              </a:r>
              <a:endParaRPr kumimoji="1" lang="zh-CN" altLang="en-US" sz="900" dirty="0">
                <a:latin typeface="Garamond" panose="02020404030301010803" pitchFamily="18" charset="0"/>
              </a:endParaRPr>
            </a:p>
          </p:txBody>
        </p:sp>
        <p:sp>
          <p:nvSpPr>
            <p:cNvPr id="21" name="文本框 20">
              <a:extLst>
                <a:ext uri="{FF2B5EF4-FFF2-40B4-BE49-F238E27FC236}">
                  <a16:creationId xmlns:a16="http://schemas.microsoft.com/office/drawing/2014/main" id="{0F4B7938-E361-2E3C-33E0-37AB3F3D953F}"/>
                </a:ext>
              </a:extLst>
            </p:cNvPr>
            <p:cNvSpPr txBox="1"/>
            <p:nvPr/>
          </p:nvSpPr>
          <p:spPr>
            <a:xfrm>
              <a:off x="3025131" y="2540118"/>
              <a:ext cx="1712416" cy="215444"/>
            </a:xfrm>
            <a:prstGeom prst="rect">
              <a:avLst/>
            </a:prstGeom>
            <a:noFill/>
          </p:spPr>
          <p:txBody>
            <a:bodyPr wrap="square" rtlCol="0">
              <a:spAutoFit/>
            </a:bodyPr>
            <a:lstStyle/>
            <a:p>
              <a:pPr algn="ctr"/>
              <a:r>
                <a:rPr kumimoji="1" lang="zh-CN" altLang="en-US" sz="800" b="1" dirty="0">
                  <a:latin typeface="Garamond" panose="02020404030301010803" pitchFamily="18" charset="0"/>
                </a:rPr>
                <a:t>货币需求曲线</a:t>
              </a:r>
            </a:p>
          </p:txBody>
        </p:sp>
      </p:grpSp>
      <p:cxnSp>
        <p:nvCxnSpPr>
          <p:cNvPr id="23" name="直线连接符 22">
            <a:extLst>
              <a:ext uri="{FF2B5EF4-FFF2-40B4-BE49-F238E27FC236}">
                <a16:creationId xmlns:a16="http://schemas.microsoft.com/office/drawing/2014/main" id="{D4062446-2046-6338-2E12-29C8F46D0567}"/>
              </a:ext>
            </a:extLst>
          </p:cNvPr>
          <p:cNvCxnSpPr>
            <a:cxnSpLocks/>
          </p:cNvCxnSpPr>
          <p:nvPr/>
        </p:nvCxnSpPr>
        <p:spPr>
          <a:xfrm>
            <a:off x="3317490" y="1765984"/>
            <a:ext cx="857095" cy="870954"/>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85F8E741-AD67-5D5A-23FE-1C87BD32A15E}"/>
              </a:ext>
            </a:extLst>
          </p:cNvPr>
          <p:cNvCxnSpPr>
            <a:cxnSpLocks/>
          </p:cNvCxnSpPr>
          <p:nvPr/>
        </p:nvCxnSpPr>
        <p:spPr>
          <a:xfrm>
            <a:off x="3009191" y="1765984"/>
            <a:ext cx="857095" cy="870954"/>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ABC65950-FE90-D08F-3AD3-D93BF89B06B5}"/>
              </a:ext>
            </a:extLst>
          </p:cNvPr>
          <p:cNvCxnSpPr>
            <a:cxnSpLocks/>
          </p:cNvCxnSpPr>
          <p:nvPr/>
        </p:nvCxnSpPr>
        <p:spPr>
          <a:xfrm>
            <a:off x="3426097" y="2213403"/>
            <a:ext cx="0" cy="618733"/>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3" name="直线连接符 32">
            <a:extLst>
              <a:ext uri="{FF2B5EF4-FFF2-40B4-BE49-F238E27FC236}">
                <a16:creationId xmlns:a16="http://schemas.microsoft.com/office/drawing/2014/main" id="{62837258-5E46-749F-3FC4-D369E83C6967}"/>
              </a:ext>
            </a:extLst>
          </p:cNvPr>
          <p:cNvCxnSpPr>
            <a:cxnSpLocks/>
          </p:cNvCxnSpPr>
          <p:nvPr/>
        </p:nvCxnSpPr>
        <p:spPr>
          <a:xfrm>
            <a:off x="3578497" y="2076047"/>
            <a:ext cx="0" cy="75608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6" name="直线连接符 35">
            <a:extLst>
              <a:ext uri="{FF2B5EF4-FFF2-40B4-BE49-F238E27FC236}">
                <a16:creationId xmlns:a16="http://schemas.microsoft.com/office/drawing/2014/main" id="{2954AA5D-6560-8E80-BB9F-E3A88953F75C}"/>
              </a:ext>
            </a:extLst>
          </p:cNvPr>
          <p:cNvCxnSpPr>
            <a:cxnSpLocks/>
          </p:cNvCxnSpPr>
          <p:nvPr/>
        </p:nvCxnSpPr>
        <p:spPr>
          <a:xfrm>
            <a:off x="3730897" y="2192447"/>
            <a:ext cx="0" cy="63968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8" name="直线连接符 37">
            <a:extLst>
              <a:ext uri="{FF2B5EF4-FFF2-40B4-BE49-F238E27FC236}">
                <a16:creationId xmlns:a16="http://schemas.microsoft.com/office/drawing/2014/main" id="{F7840F00-986F-6E65-5440-6A714E556701}"/>
              </a:ext>
            </a:extLst>
          </p:cNvPr>
          <p:cNvCxnSpPr>
            <a:cxnSpLocks/>
          </p:cNvCxnSpPr>
          <p:nvPr/>
        </p:nvCxnSpPr>
        <p:spPr>
          <a:xfrm>
            <a:off x="3883297" y="2344847"/>
            <a:ext cx="0" cy="487289"/>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41" name="文本框 40">
            <a:extLst>
              <a:ext uri="{FF2B5EF4-FFF2-40B4-BE49-F238E27FC236}">
                <a16:creationId xmlns:a16="http://schemas.microsoft.com/office/drawing/2014/main" id="{A29B31D9-9586-8663-C0C3-2D94C80725FF}"/>
              </a:ext>
            </a:extLst>
          </p:cNvPr>
          <p:cNvSpPr txBox="1"/>
          <p:nvPr/>
        </p:nvSpPr>
        <p:spPr>
          <a:xfrm>
            <a:off x="4173317" y="2798608"/>
            <a:ext cx="391978" cy="246221"/>
          </a:xfrm>
          <a:prstGeom prst="rect">
            <a:avLst/>
          </a:prstGeom>
          <a:noFill/>
        </p:spPr>
        <p:txBody>
          <a:bodyPr wrap="square">
            <a:spAutoFit/>
          </a:bodyPr>
          <a:lstStyle/>
          <a:p>
            <a:r>
              <a:rPr kumimoji="1" lang="en-US" altLang="zh-CN" sz="1000" dirty="0">
                <a:latin typeface="Garamond" panose="02020404030301010803" pitchFamily="18" charset="0"/>
              </a:rPr>
              <a:t>L</a:t>
            </a:r>
            <a:endParaRPr lang="zh-CN" altLang="en-US" sz="1000" dirty="0"/>
          </a:p>
        </p:txBody>
      </p:sp>
      <p:sp>
        <p:nvSpPr>
          <p:cNvPr id="42" name="文本框 41">
            <a:extLst>
              <a:ext uri="{FF2B5EF4-FFF2-40B4-BE49-F238E27FC236}">
                <a16:creationId xmlns:a16="http://schemas.microsoft.com/office/drawing/2014/main" id="{AFF0BC2F-78B3-B237-6774-E7C5AE0B3532}"/>
              </a:ext>
            </a:extLst>
          </p:cNvPr>
          <p:cNvSpPr txBox="1"/>
          <p:nvPr/>
        </p:nvSpPr>
        <p:spPr>
          <a:xfrm>
            <a:off x="2324945" y="1518292"/>
            <a:ext cx="391978" cy="246221"/>
          </a:xfrm>
          <a:prstGeom prst="rect">
            <a:avLst/>
          </a:prstGeom>
          <a:noFill/>
        </p:spPr>
        <p:txBody>
          <a:bodyPr wrap="square">
            <a:spAutoFit/>
          </a:bodyPr>
          <a:lstStyle/>
          <a:p>
            <a:r>
              <a:rPr kumimoji="1" lang="en-US" altLang="zh-CN" sz="1000" dirty="0">
                <a:latin typeface="Garamond" panose="02020404030301010803" pitchFamily="18" charset="0"/>
              </a:rPr>
              <a:t>r</a:t>
            </a:r>
            <a:endParaRPr lang="zh-CN" altLang="en-US" sz="1000" dirty="0"/>
          </a:p>
        </p:txBody>
      </p:sp>
    </p:spTree>
    <p:extLst>
      <p:ext uri="{BB962C8B-B14F-4D97-AF65-F5344CB8AC3E}">
        <p14:creationId xmlns:p14="http://schemas.microsoft.com/office/powerpoint/2010/main" val="402902525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1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65253" y="685492"/>
            <a:ext cx="2492504" cy="1758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512288" y="2442306"/>
            <a:ext cx="1063112" cy="216534"/>
          </a:xfrm>
          <a:prstGeom prst="rect">
            <a:avLst/>
          </a:prstGeom>
        </p:spPr>
        <p:txBody>
          <a:bodyPr wrap="none">
            <a:spAutoFit/>
          </a:bodyPr>
          <a:lstStyle/>
          <a:p>
            <a:r>
              <a:rPr lang="en-US" altLang="zh-CN" sz="807" b="1" dirty="0"/>
              <a:t>LM</a:t>
            </a:r>
            <a:r>
              <a:rPr lang="zh-CN" altLang="en-US" sz="807" b="1" dirty="0"/>
              <a:t>曲线的三个区域</a:t>
            </a:r>
          </a:p>
        </p:txBody>
      </p:sp>
      <mc:AlternateContent xmlns:mc="http://schemas.openxmlformats.org/markup-compatibility/2006" xmlns:a14="http://schemas.microsoft.com/office/drawing/2010/main">
        <mc:Choice Requires="a14">
          <p:sp>
            <p:nvSpPr>
              <p:cNvPr id="9" name="矩形 8"/>
              <p:cNvSpPr/>
              <p:nvPr/>
            </p:nvSpPr>
            <p:spPr>
              <a:xfrm>
                <a:off x="252342" y="628575"/>
                <a:ext cx="1692667" cy="1694888"/>
              </a:xfrm>
              <a:prstGeom prst="rect">
                <a:avLst/>
              </a:prstGeom>
            </p:spPr>
            <p:txBody>
              <a:bodyPr wrap="square">
                <a:spAutoFit/>
              </a:bodyPr>
              <a:lstStyle/>
              <a:p>
                <a:r>
                  <a:rPr lang="zh-CN" altLang="en-US" sz="1100" b="1" dirty="0">
                    <a:latin typeface="Garamond" panose="02020404030301010803" pitchFamily="18" charset="0"/>
                    <a:ea typeface="SimSun" panose="02010600030101010101" pitchFamily="2" charset="-122"/>
                  </a:rPr>
                  <a:t>影响斜率的因素：</a:t>
                </a:r>
                <a:endParaRPr lang="en-US" altLang="zh-CN" sz="1100" b="1" dirty="0">
                  <a:latin typeface="Garamond" panose="02020404030301010803" pitchFamily="18" charset="0"/>
                  <a:ea typeface="SimSun" panose="02010600030101010101" pitchFamily="2" charset="-122"/>
                </a:endParaRPr>
              </a:p>
              <a:p>
                <a:r>
                  <a:rPr lang="zh-CN" altLang="en-US" sz="1100" dirty="0">
                    <a:latin typeface="Garamond" panose="02020404030301010803" pitchFamily="18" charset="0"/>
                    <a:ea typeface="SimSun" panose="02010600030101010101" pitchFamily="2" charset="-122"/>
                  </a:rPr>
                  <a:t>    </a:t>
                </a:r>
                <a:r>
                  <a:rPr lang="en-US" altLang="zh-CN" sz="1100" dirty="0">
                    <a:latin typeface="Garamond" panose="02020404030301010803" pitchFamily="18" charset="0"/>
                    <a:ea typeface="SimSun" panose="02010600030101010101" pitchFamily="2" charset="-122"/>
                  </a:rPr>
                  <a:t>1.</a:t>
                </a:r>
                <a:r>
                  <a:rPr lang="zh-CN" altLang="en-US" sz="1100" dirty="0">
                    <a:latin typeface="Garamond" panose="02020404030301010803" pitchFamily="18" charset="0"/>
                    <a:ea typeface="SimSun" panose="02010600030101010101" pitchFamily="2" charset="-122"/>
                  </a:rPr>
                  <a:t> 货币需求对</a:t>
                </a:r>
                <a:r>
                  <a:rPr lang="zh-CN" altLang="en-US" sz="1100" dirty="0">
                    <a:latin typeface="KaiTi" panose="02010609060101010101" pitchFamily="49" charset="-122"/>
                    <a:ea typeface="KaiTi" panose="02010609060101010101" pitchFamily="49" charset="-122"/>
                  </a:rPr>
                  <a:t>利率</a:t>
                </a:r>
                <a:r>
                  <a:rPr lang="zh-CN" altLang="en-US" sz="1100" dirty="0">
                    <a:latin typeface="Garamond" panose="02020404030301010803" pitchFamily="18" charset="0"/>
                    <a:ea typeface="SimSun" panose="02010600030101010101" pitchFamily="2" charset="-122"/>
                  </a:rPr>
                  <a:t>的敏感性，即货币</a:t>
                </a:r>
                <a:r>
                  <a:rPr lang="zh-CN" altLang="en-US" sz="1100" dirty="0">
                    <a:latin typeface="KaiTi" panose="02010609060101010101" pitchFamily="49" charset="-122"/>
                    <a:ea typeface="KaiTi" panose="02010609060101010101" pitchFamily="49" charset="-122"/>
                  </a:rPr>
                  <a:t>投机需求曲线</a:t>
                </a:r>
                <a:r>
                  <a:rPr lang="zh-CN" altLang="en-US" sz="1100" dirty="0">
                    <a:latin typeface="Garamond" panose="02020404030301010803" pitchFamily="18" charset="0"/>
                    <a:ea typeface="SimSun" panose="02010600030101010101" pitchFamily="2" charset="-122"/>
                  </a:rPr>
                  <a:t>的斜率</a:t>
                </a:r>
                <a:endParaRPr lang="en-US" altLang="zh-CN" sz="1100" dirty="0">
                  <a:latin typeface="Garamond" panose="02020404030301010803" pitchFamily="18" charset="0"/>
                  <a:ea typeface="SimSun" panose="02010600030101010101" pitchFamily="2" charset="-122"/>
                </a:endParaRPr>
              </a:p>
              <a:p>
                <a:r>
                  <a:rPr lang="zh-CN" altLang="en-US" sz="1100" dirty="0">
                    <a:latin typeface="Garamond" panose="02020404030301010803" pitchFamily="18" charset="0"/>
                    <a:ea typeface="SimSun" panose="02010600030101010101" pitchFamily="2" charset="-122"/>
                  </a:rPr>
                  <a:t>    </a:t>
                </a:r>
                <a:r>
                  <a:rPr lang="en-US" altLang="zh-CN" sz="1100" dirty="0">
                    <a:latin typeface="Garamond" panose="02020404030301010803" pitchFamily="18" charset="0"/>
                    <a:ea typeface="SimSun" panose="02010600030101010101" pitchFamily="2" charset="-122"/>
                  </a:rPr>
                  <a:t>2.</a:t>
                </a:r>
                <a:r>
                  <a:rPr lang="zh-CN" altLang="en-US" sz="1100" dirty="0">
                    <a:latin typeface="Garamond" panose="02020404030301010803" pitchFamily="18" charset="0"/>
                    <a:ea typeface="SimSun" panose="02010600030101010101" pitchFamily="2" charset="-122"/>
                  </a:rPr>
                  <a:t> 货币需求对</a:t>
                </a:r>
                <a:r>
                  <a:rPr lang="zh-CN" altLang="en-US" sz="1100" dirty="0">
                    <a:latin typeface="KaiTi" panose="02010609060101010101" pitchFamily="49" charset="-122"/>
                    <a:ea typeface="KaiTi" panose="02010609060101010101" pitchFamily="49" charset="-122"/>
                  </a:rPr>
                  <a:t>收入</a:t>
                </a:r>
                <a:r>
                  <a:rPr lang="zh-CN" altLang="en-US" sz="1100" dirty="0">
                    <a:latin typeface="Garamond" panose="02020404030301010803" pitchFamily="18" charset="0"/>
                    <a:ea typeface="SimSun" panose="02010600030101010101" pitchFamily="2" charset="-122"/>
                  </a:rPr>
                  <a:t>的敏感性，即</a:t>
                </a:r>
                <a:r>
                  <a:rPr lang="zh-CN" altLang="en-US" sz="1100" dirty="0">
                    <a:latin typeface="KaiTi" panose="02010609060101010101" pitchFamily="49" charset="-122"/>
                    <a:ea typeface="KaiTi" panose="02010609060101010101" pitchFamily="49" charset="-122"/>
                  </a:rPr>
                  <a:t>货币交易需求曲线</a:t>
                </a:r>
                <a:r>
                  <a:rPr lang="zh-CN" altLang="en-US" sz="1100" dirty="0">
                    <a:latin typeface="Garamond" panose="02020404030301010803" pitchFamily="18" charset="0"/>
                    <a:ea typeface="SimSun" panose="02010600030101010101" pitchFamily="2" charset="-122"/>
                  </a:rPr>
                  <a:t>的斜率</a:t>
                </a:r>
                <a:endParaRPr lang="en-US" altLang="zh-CN" sz="1100" dirty="0">
                  <a:latin typeface="Garamond" panose="02020404030301010803" pitchFamily="18" charset="0"/>
                  <a:ea typeface="SimSun" panose="02010600030101010101" pitchFamily="2" charset="-122"/>
                </a:endParaRPr>
              </a:p>
              <a:p>
                <a:endParaRPr lang="en-US" altLang="zh-CN" sz="1100" dirty="0">
                  <a:latin typeface="Garamond" panose="02020404030301010803" pitchFamily="18" charset="0"/>
                  <a:ea typeface="SimSun" panose="02010600030101010101" pitchFamily="2" charset="-122"/>
                </a:endParaRPr>
              </a:p>
              <a:p>
                <a:r>
                  <a:rPr lang="zh-CN" altLang="en-US" sz="1100" dirty="0">
                    <a:latin typeface="Garamond" panose="02020404030301010803" pitchFamily="18" charset="0"/>
                    <a:ea typeface="SimSun" panose="02010600030101010101" pitchFamily="2" charset="-122"/>
                  </a:rPr>
                  <a:t>即</a:t>
                </a:r>
                <a14:m>
                  <m:oMath xmlns:m="http://schemas.openxmlformats.org/officeDocument/2006/math">
                    <m:r>
                      <m:rPr>
                        <m:sty m:val="p"/>
                      </m:rPr>
                      <a:rPr lang="en-US" altLang="zh-CN" sz="1100">
                        <a:latin typeface="Cambria Math" panose="02040503050406030204" pitchFamily="18" charset="0"/>
                      </a:rPr>
                      <m:t>r</m:t>
                    </m:r>
                    <m:r>
                      <a:rPr lang="en-US" altLang="zh-CN" sz="1100">
                        <a:latin typeface="Cambria Math" panose="02040503050406030204" pitchFamily="18" charset="0"/>
                      </a:rPr>
                      <m:t>=</m:t>
                    </m:r>
                    <m:f>
                      <m:fPr>
                        <m:ctrlPr>
                          <a:rPr lang="en-US" altLang="zh-CN" sz="1100" i="1">
                            <a:latin typeface="Cambria Math" panose="02040503050406030204" pitchFamily="18" charset="0"/>
                          </a:rPr>
                        </m:ctrlPr>
                      </m:fPr>
                      <m:num>
                        <m:r>
                          <m:rPr>
                            <m:sty m:val="p"/>
                          </m:rPr>
                          <a:rPr lang="en-US" altLang="zh-CN" sz="1100">
                            <a:latin typeface="Cambria Math" panose="02040503050406030204" pitchFamily="18" charset="0"/>
                          </a:rPr>
                          <m:t>ky</m:t>
                        </m:r>
                      </m:num>
                      <m:den>
                        <m:r>
                          <m:rPr>
                            <m:sty m:val="p"/>
                          </m:rPr>
                          <a:rPr lang="en-US" altLang="zh-CN" sz="1100">
                            <a:latin typeface="Cambria Math" panose="02040503050406030204" pitchFamily="18" charset="0"/>
                          </a:rPr>
                          <m:t>h</m:t>
                        </m:r>
                      </m:den>
                    </m:f>
                    <m:r>
                      <a:rPr lang="en-US" altLang="zh-CN" sz="1100">
                        <a:latin typeface="Cambria Math" panose="02040503050406030204" pitchFamily="18" charset="0"/>
                      </a:rPr>
                      <m:t>−</m:t>
                    </m:r>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𝑚</m:t>
                        </m:r>
                      </m:num>
                      <m:den>
                        <m:r>
                          <a:rPr lang="en-US" altLang="zh-CN" sz="1100" i="1">
                            <a:latin typeface="Cambria Math" panose="02040503050406030204" pitchFamily="18" charset="0"/>
                          </a:rPr>
                          <m:t>h</m:t>
                        </m:r>
                      </m:den>
                    </m:f>
                  </m:oMath>
                </a14:m>
                <a:r>
                  <a:rPr lang="zh-CN" altLang="en-US" sz="1100" dirty="0">
                    <a:latin typeface="Garamond" panose="02020404030301010803" pitchFamily="18" charset="0"/>
                    <a:ea typeface="SimSun" panose="02010600030101010101" pitchFamily="2" charset="-122"/>
                  </a:rPr>
                  <a:t>中的</a:t>
                </a:r>
                <a:r>
                  <a:rPr lang="en-US" altLang="zh-CN" sz="1100" dirty="0">
                    <a:latin typeface="Garamond" panose="02020404030301010803" pitchFamily="18" charset="0"/>
                    <a:ea typeface="SimSun" panose="02010600030101010101" pitchFamily="2" charset="-122"/>
                  </a:rPr>
                  <a:t>k,</a:t>
                </a:r>
                <a:r>
                  <a:rPr lang="zh-CN" altLang="en-US" sz="1100" dirty="0">
                    <a:latin typeface="Garamond" panose="02020404030301010803" pitchFamily="18" charset="0"/>
                    <a:ea typeface="SimSun" panose="02010600030101010101" pitchFamily="2" charset="-122"/>
                  </a:rPr>
                  <a:t> </a:t>
                </a:r>
                <a:r>
                  <a:rPr lang="en-US" altLang="zh-CN" sz="1100" dirty="0">
                    <a:latin typeface="Garamond" panose="02020404030301010803" pitchFamily="18" charset="0"/>
                    <a:ea typeface="SimSun" panose="02010600030101010101" pitchFamily="2" charset="-122"/>
                  </a:rPr>
                  <a:t>h</a:t>
                </a:r>
                <a:r>
                  <a:rPr lang="zh-CN" altLang="en-US" sz="1100" dirty="0">
                    <a:latin typeface="Garamond" panose="02020404030301010803" pitchFamily="18" charset="0"/>
                    <a:ea typeface="SimSun" panose="02010600030101010101" pitchFamily="2" charset="-122"/>
                  </a:rPr>
                  <a:t>。</a:t>
                </a:r>
              </a:p>
            </p:txBody>
          </p:sp>
        </mc:Choice>
        <mc:Fallback xmlns="">
          <p:sp>
            <p:nvSpPr>
              <p:cNvPr id="9" name="矩形 8"/>
              <p:cNvSpPr>
                <a:spLocks noRot="1" noChangeAspect="1" noMove="1" noResize="1" noEditPoints="1" noAdjustHandles="1" noChangeArrowheads="1" noChangeShapeType="1" noTextEdit="1"/>
              </p:cNvSpPr>
              <p:nvPr/>
            </p:nvSpPr>
            <p:spPr>
              <a:xfrm>
                <a:off x="252342" y="628575"/>
                <a:ext cx="1692667" cy="1694888"/>
              </a:xfrm>
              <a:prstGeom prst="rect">
                <a:avLst/>
              </a:prstGeom>
              <a:blipFill>
                <a:blip r:embed="rId3"/>
                <a:stretch>
                  <a:fillRect t="-746"/>
                </a:stretch>
              </a:blipFill>
            </p:spPr>
            <p:txBody>
              <a:bodyPr/>
              <a:lstStyle/>
              <a:p>
                <a:r>
                  <a:rPr lang="zh-CN" altLang="en-US">
                    <a:noFill/>
                  </a:rPr>
                  <a:t> </a:t>
                </a:r>
              </a:p>
            </p:txBody>
          </p:sp>
        </mc:Fallback>
      </mc:AlternateContent>
      <p:sp>
        <p:nvSpPr>
          <p:cNvPr id="10" name="矩形 9"/>
          <p:cNvSpPr/>
          <p:nvPr/>
        </p:nvSpPr>
        <p:spPr>
          <a:xfrm>
            <a:off x="252342" y="2702024"/>
            <a:ext cx="4040813" cy="3717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908" dirty="0">
                <a:latin typeface="Garamond" panose="02020404030301010803" pitchFamily="18" charset="0"/>
                <a:ea typeface="SimSun" panose="02010600030101010101" pitchFamily="2" charset="-122"/>
              </a:rPr>
              <a:t> 西方学者认为，货币的交易需求函数一般比较稳定，因此，</a:t>
            </a:r>
            <a:r>
              <a:rPr lang="en-US" altLang="zh-CN" sz="908" dirty="0">
                <a:latin typeface="Garamond" panose="02020404030301010803" pitchFamily="18" charset="0"/>
                <a:ea typeface="SimSun" panose="02010600030101010101" pitchFamily="2" charset="-122"/>
              </a:rPr>
              <a:t>LM</a:t>
            </a:r>
            <a:r>
              <a:rPr lang="zh-CN" altLang="en-US" sz="908" dirty="0">
                <a:latin typeface="Garamond" panose="02020404030301010803" pitchFamily="18" charset="0"/>
                <a:ea typeface="SimSun" panose="02010600030101010101" pitchFamily="2" charset="-122"/>
              </a:rPr>
              <a:t>曲线的斜率主要取决于货币的投机需求函数。投机动机的需求函数是利率的减函数。</a:t>
            </a:r>
          </a:p>
        </p:txBody>
      </p:sp>
      <p:sp>
        <p:nvSpPr>
          <p:cNvPr id="3" name="标题 2">
            <a:extLst>
              <a:ext uri="{FF2B5EF4-FFF2-40B4-BE49-F238E27FC236}">
                <a16:creationId xmlns:a16="http://schemas.microsoft.com/office/drawing/2014/main" id="{38AC9DD0-E90F-83DC-74CE-2AB0320D838B}"/>
              </a:ext>
            </a:extLst>
          </p:cNvPr>
          <p:cNvSpPr>
            <a:spLocks noGrp="1"/>
          </p:cNvSpPr>
          <p:nvPr>
            <p:ph type="title"/>
          </p:nvPr>
        </p:nvSpPr>
        <p:spPr/>
        <p:txBody>
          <a:bodyPr/>
          <a:lstStyle/>
          <a:p>
            <a:r>
              <a:rPr kumimoji="1" lang="en" altLang="zh-CN" dirty="0"/>
              <a:t>LM</a:t>
            </a:r>
            <a:r>
              <a:rPr kumimoji="1" lang="zh-CN" altLang="en-US" dirty="0"/>
              <a:t>曲线的斜率</a:t>
            </a:r>
          </a:p>
        </p:txBody>
      </p:sp>
      <p:sp>
        <p:nvSpPr>
          <p:cNvPr id="4" name="灯片编号占位符 2">
            <a:extLst>
              <a:ext uri="{FF2B5EF4-FFF2-40B4-BE49-F238E27FC236}">
                <a16:creationId xmlns:a16="http://schemas.microsoft.com/office/drawing/2014/main" id="{D08E6F54-71B5-9513-4A54-CC0F47F994B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63</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6E9A9322-107A-50AC-358A-2CBC82FA40B8}"/>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03989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E6D4A3-D5CD-42C1-B4FE-913075E8418F}"/>
              </a:ext>
            </a:extLst>
          </p:cNvPr>
          <p:cNvSpPr>
            <a:spLocks noGrp="1"/>
          </p:cNvSpPr>
          <p:nvPr>
            <p:ph type="title"/>
          </p:nvPr>
        </p:nvSpPr>
        <p:spPr/>
        <p:txBody>
          <a:bodyPr/>
          <a:lstStyle/>
          <a:p>
            <a:r>
              <a:rPr lang="en" altLang="zh-CN" dirty="0"/>
              <a:t>LM</a:t>
            </a:r>
            <a:r>
              <a:rPr lang="zh-CN" altLang="en-US" dirty="0"/>
              <a:t>曲线的位置</a:t>
            </a:r>
          </a:p>
        </p:txBody>
      </p:sp>
      <p:sp>
        <p:nvSpPr>
          <p:cNvPr id="3" name="内容占位符 2">
            <a:extLst>
              <a:ext uri="{FF2B5EF4-FFF2-40B4-BE49-F238E27FC236}">
                <a16:creationId xmlns:a16="http://schemas.microsoft.com/office/drawing/2014/main" id="{8EF7B105-109D-4D0F-BC22-1D1761E04DC5}"/>
              </a:ext>
            </a:extLst>
          </p:cNvPr>
          <p:cNvSpPr>
            <a:spLocks noGrp="1"/>
          </p:cNvSpPr>
          <p:nvPr>
            <p:ph idx="1"/>
          </p:nvPr>
        </p:nvSpPr>
        <p:spPr/>
        <p:txBody>
          <a:bodyPr/>
          <a:lstStyle/>
          <a:p>
            <a:pPr marL="0" indent="0">
              <a:buNone/>
            </a:pPr>
            <a:r>
              <a:rPr lang="zh-CN" altLang="en-US" dirty="0"/>
              <a:t>影响</a:t>
            </a:r>
            <a:r>
              <a:rPr lang="en-US" altLang="zh-CN" dirty="0"/>
              <a:t>LM</a:t>
            </a:r>
            <a:r>
              <a:rPr lang="zh-CN" altLang="en-US" dirty="0"/>
              <a:t>曲线移动的因素</a:t>
            </a:r>
            <a:r>
              <a:rPr lang="en-US" altLang="zh-CN" dirty="0"/>
              <a:t>(y</a:t>
            </a:r>
            <a:r>
              <a:rPr lang="zh-CN" altLang="en-US" dirty="0"/>
              <a:t>与</a:t>
            </a:r>
            <a:r>
              <a:rPr lang="en-US" altLang="zh-CN" dirty="0"/>
              <a:t>r</a:t>
            </a:r>
            <a:r>
              <a:rPr lang="zh-CN" altLang="en-US" dirty="0"/>
              <a:t>之外影响货币供给与需求的其他因素</a:t>
            </a:r>
            <a:r>
              <a:rPr lang="en-US" altLang="zh-CN" dirty="0"/>
              <a:t>)</a:t>
            </a:r>
          </a:p>
          <a:p>
            <a:pPr>
              <a:buFont typeface="Wingdings" pitchFamily="2" charset="2"/>
              <a:buChar char="n"/>
            </a:pPr>
            <a:r>
              <a:rPr lang="zh-CN" altLang="en-US" dirty="0"/>
              <a:t>货币需求</a:t>
            </a:r>
            <a:endParaRPr lang="en-US" altLang="zh-CN" dirty="0"/>
          </a:p>
          <a:p>
            <a:pPr lvl="1">
              <a:buFont typeface="Wingdings" pitchFamily="2" charset="2"/>
              <a:buChar char="n"/>
            </a:pPr>
            <a:r>
              <a:rPr lang="zh-CN" altLang="en-US" dirty="0">
                <a:latin typeface="KaiTi" panose="02010609060101010101" pitchFamily="49" charset="-122"/>
                <a:ea typeface="KaiTi" panose="02010609060101010101" pitchFamily="49" charset="-122"/>
              </a:rPr>
              <a:t>货币投机需求  </a:t>
            </a:r>
            <a:endParaRPr lang="en-US" altLang="zh-CN" dirty="0">
              <a:latin typeface="KaiTi" panose="02010609060101010101" pitchFamily="49" charset="-122"/>
              <a:ea typeface="KaiTi" panose="02010609060101010101" pitchFamily="49" charset="-122"/>
            </a:endParaRPr>
          </a:p>
          <a:p>
            <a:pPr lvl="1">
              <a:buFont typeface="Wingdings" pitchFamily="2" charset="2"/>
              <a:buChar char="n"/>
            </a:pPr>
            <a:r>
              <a:rPr lang="zh-CN" altLang="en-US" dirty="0">
                <a:latin typeface="KaiTi" panose="02010609060101010101" pitchFamily="49" charset="-122"/>
                <a:ea typeface="KaiTi" panose="02010609060101010101" pitchFamily="49" charset="-122"/>
              </a:rPr>
              <a:t>货币交易需求  </a:t>
            </a:r>
            <a:endParaRPr lang="en-US" altLang="zh-CN" dirty="0">
              <a:latin typeface="KaiTi" panose="02010609060101010101" pitchFamily="49" charset="-122"/>
              <a:ea typeface="KaiTi" panose="02010609060101010101" pitchFamily="49" charset="-122"/>
            </a:endParaRPr>
          </a:p>
          <a:p>
            <a:pPr>
              <a:buFont typeface="Wingdings" pitchFamily="2" charset="2"/>
              <a:buChar char="n"/>
            </a:pPr>
            <a:r>
              <a:rPr lang="zh-CN" altLang="en-US" b="1" dirty="0"/>
              <a:t>货币供给</a:t>
            </a:r>
            <a:endParaRPr lang="en-US" altLang="zh-CN" b="1" dirty="0"/>
          </a:p>
          <a:p>
            <a:endParaRPr lang="zh-CN" altLang="en-US" dirty="0"/>
          </a:p>
        </p:txBody>
      </p:sp>
      <p:sp>
        <p:nvSpPr>
          <p:cNvPr id="4" name="灯片编号占位符 2">
            <a:extLst>
              <a:ext uri="{FF2B5EF4-FFF2-40B4-BE49-F238E27FC236}">
                <a16:creationId xmlns:a16="http://schemas.microsoft.com/office/drawing/2014/main" id="{173FF057-8CF6-4159-CD66-8B816E849E1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64</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2D3A28F-9B62-54FC-3ED7-797F8D2DECE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50426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E60FE4D-9D5B-4B5F-8B76-69CDB38D8283}"/>
              </a:ext>
            </a:extLst>
          </p:cNvPr>
          <p:cNvGrpSpPr/>
          <p:nvPr/>
        </p:nvGrpSpPr>
        <p:grpSpPr>
          <a:xfrm>
            <a:off x="720874" y="764521"/>
            <a:ext cx="3013372" cy="2407982"/>
            <a:chOff x="1385788" y="1635042"/>
            <a:chExt cx="5976937" cy="4776164"/>
          </a:xfrm>
        </p:grpSpPr>
        <p:pic>
          <p:nvPicPr>
            <p:cNvPr id="7" name="Picture 4" descr="xf14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788" y="1635042"/>
              <a:ext cx="5976937"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983315" y="5950939"/>
              <a:ext cx="3485378" cy="460267"/>
            </a:xfrm>
            <a:prstGeom prst="rect">
              <a:avLst/>
            </a:prstGeom>
          </p:spPr>
          <p:txBody>
            <a:bodyPr wrap="none">
              <a:spAutoFit/>
            </a:bodyPr>
            <a:lstStyle/>
            <a:p>
              <a:pPr algn="ctr" eaLnBrk="1" hangingPunct="1">
                <a:spcBef>
                  <a:spcPct val="50000"/>
                </a:spcBef>
              </a:pPr>
              <a:r>
                <a:rPr lang="zh-CN" altLang="en-US" sz="908" b="1" dirty="0">
                  <a:latin typeface="Garamond" panose="02020404030301010803" pitchFamily="18" charset="0"/>
                  <a:ea typeface="KaiTi" panose="02010609060101010101" pitchFamily="49" charset="-122"/>
                </a:rPr>
                <a:t>货币供给量变动使</a:t>
              </a:r>
              <a:r>
                <a:rPr lang="en-US" altLang="zh-CN" sz="908" b="1" dirty="0">
                  <a:latin typeface="Garamond" panose="02020404030301010803" pitchFamily="18" charset="0"/>
                  <a:ea typeface="KaiTi" panose="02010609060101010101" pitchFamily="49" charset="-122"/>
                </a:rPr>
                <a:t>LM</a:t>
              </a:r>
              <a:r>
                <a:rPr lang="zh-CN" altLang="en-US" sz="908" b="1" dirty="0">
                  <a:latin typeface="Garamond" panose="02020404030301010803" pitchFamily="18" charset="0"/>
                  <a:ea typeface="KaiTi" panose="02010609060101010101" pitchFamily="49" charset="-122"/>
                </a:rPr>
                <a:t>曲线移动</a:t>
              </a:r>
            </a:p>
          </p:txBody>
        </p:sp>
      </p:grpSp>
      <p:sp>
        <p:nvSpPr>
          <p:cNvPr id="9" name="矩形 8">
            <a:extLst>
              <a:ext uri="{FF2B5EF4-FFF2-40B4-BE49-F238E27FC236}">
                <a16:creationId xmlns:a16="http://schemas.microsoft.com/office/drawing/2014/main" id="{244283BB-8186-4DC3-A552-A9E7338F94FC}"/>
              </a:ext>
            </a:extLst>
          </p:cNvPr>
          <p:cNvSpPr/>
          <p:nvPr/>
        </p:nvSpPr>
        <p:spPr>
          <a:xfrm>
            <a:off x="297022" y="508579"/>
            <a:ext cx="2305050" cy="247440"/>
          </a:xfrm>
          <a:prstGeom prst="rect">
            <a:avLst/>
          </a:prstGeom>
        </p:spPr>
        <p:txBody>
          <a:bodyPr>
            <a:spAutoFit/>
          </a:bodyPr>
          <a:lstStyle/>
          <a:p>
            <a:r>
              <a:rPr lang="zh-CN" altLang="en-US" sz="1008" b="1" dirty="0">
                <a:latin typeface="Garamond" panose="02020404030301010803" pitchFamily="18" charset="0"/>
                <a:ea typeface="SimSun" panose="02010600030101010101" pitchFamily="2" charset="-122"/>
              </a:rPr>
              <a:t>货币供给变化与</a:t>
            </a:r>
            <a:r>
              <a:rPr lang="en-US" altLang="zh-CN" sz="1008" b="1" dirty="0">
                <a:latin typeface="Garamond" panose="02020404030301010803" pitchFamily="18" charset="0"/>
                <a:ea typeface="SimSun" panose="02010600030101010101" pitchFamily="2" charset="-122"/>
              </a:rPr>
              <a:t>LM</a:t>
            </a:r>
            <a:r>
              <a:rPr lang="zh-CN" altLang="en-US" sz="1008" b="1" dirty="0">
                <a:latin typeface="Garamond" panose="02020404030301010803" pitchFamily="18" charset="0"/>
                <a:ea typeface="SimSun" panose="02010600030101010101" pitchFamily="2" charset="-122"/>
              </a:rPr>
              <a:t>曲线同方向移动</a:t>
            </a:r>
            <a:endParaRPr lang="en-US" altLang="zh-CN" sz="1008" b="1" dirty="0">
              <a:latin typeface="Garamond" panose="02020404030301010803" pitchFamily="18" charset="0"/>
              <a:ea typeface="SimSun" panose="02010600030101010101" pitchFamily="2" charset="-122"/>
            </a:endParaRPr>
          </a:p>
        </p:txBody>
      </p:sp>
      <p:sp>
        <p:nvSpPr>
          <p:cNvPr id="4" name="标题 1">
            <a:extLst>
              <a:ext uri="{FF2B5EF4-FFF2-40B4-BE49-F238E27FC236}">
                <a16:creationId xmlns:a16="http://schemas.microsoft.com/office/drawing/2014/main" id="{EEBC0413-7723-8C8F-CBEF-B2DFD96D56EE}"/>
              </a:ext>
            </a:extLst>
          </p:cNvPr>
          <p:cNvSpPr>
            <a:spLocks noGrp="1"/>
          </p:cNvSpPr>
          <p:nvPr>
            <p:ph type="title"/>
          </p:nvPr>
        </p:nvSpPr>
        <p:spPr>
          <a:xfrm>
            <a:off x="172879" y="127376"/>
            <a:ext cx="4240332" cy="343671"/>
          </a:xfrm>
        </p:spPr>
        <p:txBody>
          <a:bodyPr/>
          <a:lstStyle/>
          <a:p>
            <a:r>
              <a:rPr lang="en" altLang="zh-CN" dirty="0"/>
              <a:t>LM</a:t>
            </a:r>
            <a:r>
              <a:rPr lang="zh-CN" altLang="en-US" dirty="0"/>
              <a:t>曲线的移动</a:t>
            </a:r>
          </a:p>
        </p:txBody>
      </p:sp>
      <p:sp>
        <p:nvSpPr>
          <p:cNvPr id="6" name="灯片编号占位符 2">
            <a:extLst>
              <a:ext uri="{FF2B5EF4-FFF2-40B4-BE49-F238E27FC236}">
                <a16:creationId xmlns:a16="http://schemas.microsoft.com/office/drawing/2014/main" id="{1F7C455E-6F3C-A639-243F-F5051DAEC3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65</a:t>
            </a:fld>
            <a:endParaRPr lang="zh-CN" altLang="zh-CN" sz="856">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96E3BA0D-24A7-DFC9-3844-A23DA098A7F8}"/>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
        <p:nvSpPr>
          <p:cNvPr id="13" name="矩形 12">
            <a:extLst>
              <a:ext uri="{FF2B5EF4-FFF2-40B4-BE49-F238E27FC236}">
                <a16:creationId xmlns:a16="http://schemas.microsoft.com/office/drawing/2014/main" id="{86E53E09-E082-AF8E-50D7-207A3BD30DBE}"/>
              </a:ext>
            </a:extLst>
          </p:cNvPr>
          <p:cNvSpPr/>
          <p:nvPr/>
        </p:nvSpPr>
        <p:spPr>
          <a:xfrm>
            <a:off x="1656978" y="2206933"/>
            <a:ext cx="72008" cy="720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72A63E87-3B05-1AE7-3301-8821C7D1701B}"/>
              </a:ext>
            </a:extLst>
          </p:cNvPr>
          <p:cNvCxnSpPr>
            <a:cxnSpLocks/>
          </p:cNvCxnSpPr>
          <p:nvPr/>
        </p:nvCxnSpPr>
        <p:spPr>
          <a:xfrm>
            <a:off x="1683910" y="2192656"/>
            <a:ext cx="72008" cy="53542"/>
          </a:xfrm>
          <a:prstGeom prst="straightConnector1">
            <a:avLst/>
          </a:prstGeom>
          <a:ln>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4420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E6D4A3-D5CD-42C1-B4FE-913075E8418F}"/>
              </a:ext>
            </a:extLst>
          </p:cNvPr>
          <p:cNvSpPr>
            <a:spLocks noGrp="1"/>
          </p:cNvSpPr>
          <p:nvPr>
            <p:ph type="title"/>
          </p:nvPr>
        </p:nvSpPr>
        <p:spPr/>
        <p:txBody>
          <a:bodyPr/>
          <a:lstStyle/>
          <a:p>
            <a:r>
              <a:rPr lang="zh-CN" altLang="en-US" dirty="0"/>
              <a:t>紧缩性货币政策对</a:t>
            </a:r>
            <a:r>
              <a:rPr lang="en-US" altLang="zh-CN" dirty="0"/>
              <a:t>LM</a:t>
            </a:r>
            <a:r>
              <a:rPr lang="zh-CN" altLang="en-US" dirty="0"/>
              <a:t>曲线的影响</a:t>
            </a:r>
          </a:p>
        </p:txBody>
      </p:sp>
      <p:sp>
        <p:nvSpPr>
          <p:cNvPr id="4" name="灯片编号占位符 2">
            <a:extLst>
              <a:ext uri="{FF2B5EF4-FFF2-40B4-BE49-F238E27FC236}">
                <a16:creationId xmlns:a16="http://schemas.microsoft.com/office/drawing/2014/main" id="{173FF057-8CF6-4159-CD66-8B816E849E1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2D3A28F-9B62-54FC-3ED7-797F8D2DECE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
        <p:nvSpPr>
          <p:cNvPr id="5" name="内容占位符 4">
            <a:extLst>
              <a:ext uri="{FF2B5EF4-FFF2-40B4-BE49-F238E27FC236}">
                <a16:creationId xmlns:a16="http://schemas.microsoft.com/office/drawing/2014/main" id="{FD867109-EE0E-72D1-2BCB-810C912E7836}"/>
              </a:ext>
            </a:extLst>
          </p:cNvPr>
          <p:cNvSpPr>
            <a:spLocks noGrp="1"/>
          </p:cNvSpPr>
          <p:nvPr>
            <p:ph idx="1"/>
          </p:nvPr>
        </p:nvSpPr>
        <p:spPr/>
        <p:txBody>
          <a:bodyPr/>
          <a:lstStyle/>
          <a:p>
            <a:endParaRPr kumimoji="1" lang="zh-CN" altLang="en-US"/>
          </a:p>
        </p:txBody>
      </p:sp>
      <p:pic>
        <p:nvPicPr>
          <p:cNvPr id="7" name="图片 6">
            <a:extLst>
              <a:ext uri="{FF2B5EF4-FFF2-40B4-BE49-F238E27FC236}">
                <a16:creationId xmlns:a16="http://schemas.microsoft.com/office/drawing/2014/main" id="{9A33A022-CC58-5989-43AE-623B94045B98}"/>
              </a:ext>
            </a:extLst>
          </p:cNvPr>
          <p:cNvPicPr>
            <a:picLocks noChangeAspect="1"/>
          </p:cNvPicPr>
          <p:nvPr/>
        </p:nvPicPr>
        <p:blipFill>
          <a:blip r:embed="rId2"/>
          <a:stretch>
            <a:fillRect/>
          </a:stretch>
        </p:blipFill>
        <p:spPr>
          <a:xfrm>
            <a:off x="188086" y="496908"/>
            <a:ext cx="4343082" cy="2749852"/>
          </a:xfrm>
          <a:prstGeom prst="rect">
            <a:avLst/>
          </a:prstGeom>
        </p:spPr>
      </p:pic>
    </p:spTree>
    <p:extLst>
      <p:ext uri="{BB962C8B-B14F-4D97-AF65-F5344CB8AC3E}">
        <p14:creationId xmlns:p14="http://schemas.microsoft.com/office/powerpoint/2010/main" val="22405489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52593" y="993885"/>
            <a:ext cx="4383299" cy="1023485"/>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5</a:t>
            </a:r>
            <a:r>
              <a:rPr lang="zh-CN" altLang="en-US" sz="2000" b="1" dirty="0">
                <a:solidFill>
                  <a:srgbClr val="333399"/>
                </a:solidFill>
                <a:latin typeface="Garamond" panose="02020404030301010803" pitchFamily="18" charset="0"/>
                <a:ea typeface="KaiTi" panose="02010609060101010101" pitchFamily="49" charset="-122"/>
                <a:cs typeface="+mj-cs"/>
              </a:rPr>
              <a:t>节 商品市场与货币市场的同时均衡：</a:t>
            </a:r>
            <a:r>
              <a:rPr lang="en-US" altLang="zh-CN" sz="2000" b="1" dirty="0">
                <a:solidFill>
                  <a:srgbClr val="333399"/>
                </a:solidFill>
                <a:latin typeface="Garamond" panose="02020404030301010803" pitchFamily="18" charset="0"/>
                <a:ea typeface="KaiTi" panose="02010609060101010101" pitchFamily="49" charset="-122"/>
                <a:cs typeface="+mj-cs"/>
              </a:rPr>
              <a:t>IS-LM</a:t>
            </a:r>
            <a:r>
              <a:rPr lang="zh-CN" altLang="en-US" sz="2000" b="1" dirty="0">
                <a:solidFill>
                  <a:srgbClr val="333399"/>
                </a:solidFill>
                <a:latin typeface="Garamond" panose="02020404030301010803" pitchFamily="18" charset="0"/>
                <a:ea typeface="KaiTi" panose="02010609060101010101" pitchFamily="49" charset="-122"/>
                <a:cs typeface="+mj-cs"/>
              </a:rPr>
              <a:t>分析</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659289844"/>
      </p:ext>
    </p:extLst>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EB83BC-3260-4337-B04E-FFC91238E77F}"/>
              </a:ext>
            </a:extLst>
          </p:cNvPr>
          <p:cNvSpPr>
            <a:spLocks noGrp="1"/>
          </p:cNvSpPr>
          <p:nvPr>
            <p:ph idx="1"/>
          </p:nvPr>
        </p:nvSpPr>
        <p:spPr/>
        <p:txBody>
          <a:bodyPr/>
          <a:lstStyle/>
          <a:p>
            <a:r>
              <a:rPr lang="zh-CN" altLang="en-US" dirty="0"/>
              <a:t>产品市场</a:t>
            </a:r>
            <a:endParaRPr lang="en-US" altLang="zh-CN" dirty="0"/>
          </a:p>
          <a:p>
            <a:pPr lvl="1"/>
            <a:r>
              <a:rPr lang="zh-CN" altLang="en-US" dirty="0"/>
              <a:t>利率</a:t>
            </a:r>
            <a:r>
              <a:rPr lang="en-US" altLang="zh-CN" dirty="0"/>
              <a:t>——</a:t>
            </a:r>
            <a:r>
              <a:rPr lang="zh-CN" altLang="en-US" dirty="0"/>
              <a:t>投资</a:t>
            </a:r>
            <a:r>
              <a:rPr lang="en-US" altLang="zh-CN" dirty="0"/>
              <a:t>——</a:t>
            </a:r>
            <a:r>
              <a:rPr lang="zh-CN" altLang="en-US" dirty="0"/>
              <a:t>收入</a:t>
            </a:r>
            <a:endParaRPr lang="en-US" altLang="zh-CN" dirty="0"/>
          </a:p>
          <a:p>
            <a:pPr lvl="0"/>
            <a:r>
              <a:rPr lang="zh-CN" altLang="en-US" dirty="0">
                <a:solidFill>
                  <a:prstClr val="black"/>
                </a:solidFill>
              </a:rPr>
              <a:t>货币市场</a:t>
            </a:r>
            <a:endParaRPr lang="en-US" altLang="zh-CN" dirty="0">
              <a:solidFill>
                <a:prstClr val="black"/>
              </a:solidFill>
            </a:endParaRPr>
          </a:p>
          <a:p>
            <a:pPr lvl="1"/>
            <a:r>
              <a:rPr lang="zh-CN" altLang="en-US" dirty="0"/>
              <a:t>收入</a:t>
            </a:r>
            <a:r>
              <a:rPr lang="en-US" altLang="zh-CN" dirty="0"/>
              <a:t>——</a:t>
            </a:r>
            <a:r>
              <a:rPr lang="zh-CN" altLang="en-US" dirty="0"/>
              <a:t>货币需求</a:t>
            </a:r>
            <a:r>
              <a:rPr lang="en-US" altLang="zh-CN" dirty="0"/>
              <a:t>——</a:t>
            </a:r>
            <a:r>
              <a:rPr lang="zh-CN" altLang="en-US" dirty="0"/>
              <a:t>利率</a:t>
            </a:r>
            <a:endParaRPr lang="en-US" altLang="zh-CN" dirty="0"/>
          </a:p>
          <a:p>
            <a:pPr lvl="0"/>
            <a:r>
              <a:rPr lang="zh-CN" altLang="en-US" dirty="0">
                <a:solidFill>
                  <a:prstClr val="black"/>
                </a:solidFill>
              </a:rPr>
              <a:t>一般均衡模型：产品市场与货币市场同时均衡</a:t>
            </a:r>
            <a:endParaRPr lang="en-US" altLang="zh-CN" dirty="0">
              <a:solidFill>
                <a:prstClr val="black"/>
              </a:solidFill>
            </a:endParaRPr>
          </a:p>
          <a:p>
            <a:pPr lvl="1"/>
            <a:r>
              <a:rPr lang="en-US" altLang="zh-CN" dirty="0">
                <a:solidFill>
                  <a:prstClr val="black"/>
                </a:solidFill>
              </a:rPr>
              <a:t>IS</a:t>
            </a:r>
            <a:r>
              <a:rPr lang="zh-CN" altLang="en-US" dirty="0">
                <a:solidFill>
                  <a:prstClr val="black"/>
                </a:solidFill>
              </a:rPr>
              <a:t>与</a:t>
            </a:r>
            <a:r>
              <a:rPr lang="en-US" altLang="zh-CN" dirty="0">
                <a:solidFill>
                  <a:prstClr val="black"/>
                </a:solidFill>
              </a:rPr>
              <a:t>LM</a:t>
            </a:r>
            <a:r>
              <a:rPr lang="zh-CN" altLang="en-US" dirty="0">
                <a:solidFill>
                  <a:prstClr val="black"/>
                </a:solidFill>
              </a:rPr>
              <a:t>曲线合并</a:t>
            </a:r>
            <a:endParaRPr lang="en-US" altLang="zh-CN" dirty="0">
              <a:solidFill>
                <a:prstClr val="black"/>
              </a:solidFill>
            </a:endParaRPr>
          </a:p>
          <a:p>
            <a:pPr lvl="1"/>
            <a:endParaRPr lang="en-US" altLang="zh-CN" dirty="0"/>
          </a:p>
        </p:txBody>
      </p:sp>
      <p:sp>
        <p:nvSpPr>
          <p:cNvPr id="4" name="灯片编号占位符 2">
            <a:extLst>
              <a:ext uri="{FF2B5EF4-FFF2-40B4-BE49-F238E27FC236}">
                <a16:creationId xmlns:a16="http://schemas.microsoft.com/office/drawing/2014/main" id="{FD740725-7729-BF4F-EB41-4D41659F53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68</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8CFB205-AA7B-5F73-678A-100524B2E39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7" name="标题 6">
            <a:extLst>
              <a:ext uri="{FF2B5EF4-FFF2-40B4-BE49-F238E27FC236}">
                <a16:creationId xmlns:a16="http://schemas.microsoft.com/office/drawing/2014/main" id="{40145023-ECD3-FC95-76C7-1A0DEDA129E7}"/>
              </a:ext>
            </a:extLst>
          </p:cNvPr>
          <p:cNvSpPr>
            <a:spLocks noGrp="1"/>
          </p:cNvSpPr>
          <p:nvPr>
            <p:ph type="title"/>
          </p:nvPr>
        </p:nvSpPr>
        <p:spPr/>
        <p:txBody>
          <a:bodyPr/>
          <a:lstStyle/>
          <a:p>
            <a:r>
              <a:rPr kumimoji="1" lang="zh-CN" altLang="en-US" dirty="0"/>
              <a:t>两个市场同时均衡的利率和收入</a:t>
            </a:r>
          </a:p>
        </p:txBody>
      </p:sp>
    </p:spTree>
    <p:extLst>
      <p:ext uri="{BB962C8B-B14F-4D97-AF65-F5344CB8AC3E}">
        <p14:creationId xmlns:p14="http://schemas.microsoft.com/office/powerpoint/2010/main" val="23052092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65416" y="2681222"/>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产品市场和货币市场的一般均衡</a:t>
            </a:r>
          </a:p>
        </p:txBody>
      </p:sp>
      <p:sp>
        <p:nvSpPr>
          <p:cNvPr id="4" name="标题 3">
            <a:extLst>
              <a:ext uri="{FF2B5EF4-FFF2-40B4-BE49-F238E27FC236}">
                <a16:creationId xmlns:a16="http://schemas.microsoft.com/office/drawing/2014/main" id="{A4CF7FEE-ADE5-BF3F-8A72-2E0C3A017B04}"/>
              </a:ext>
            </a:extLst>
          </p:cNvPr>
          <p:cNvSpPr>
            <a:spLocks noGrp="1"/>
          </p:cNvSpPr>
          <p:nvPr>
            <p:ph type="title"/>
          </p:nvPr>
        </p:nvSpPr>
        <p:spPr>
          <a:xfrm>
            <a:off x="172656" y="165027"/>
            <a:ext cx="4240332" cy="343671"/>
          </a:xfrm>
        </p:spPr>
        <p:txBody>
          <a:bodyPr/>
          <a:lstStyle/>
          <a:p>
            <a:r>
              <a:rPr kumimoji="1" lang="zh-CN" altLang="en-US" dirty="0"/>
              <a:t>两个市场同时均衡的利率和收入</a:t>
            </a:r>
          </a:p>
        </p:txBody>
      </p:sp>
      <p:sp>
        <p:nvSpPr>
          <p:cNvPr id="6" name="灯片编号占位符 2">
            <a:extLst>
              <a:ext uri="{FF2B5EF4-FFF2-40B4-BE49-F238E27FC236}">
                <a16:creationId xmlns:a16="http://schemas.microsoft.com/office/drawing/2014/main" id="{95B3683B-9405-AFF4-942B-F1BF695202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69</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3DD4DD71-0554-0050-BF16-63300654DBC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grpSp>
        <p:nvGrpSpPr>
          <p:cNvPr id="2" name="组合 1">
            <a:extLst>
              <a:ext uri="{FF2B5EF4-FFF2-40B4-BE49-F238E27FC236}">
                <a16:creationId xmlns:a16="http://schemas.microsoft.com/office/drawing/2014/main" id="{2EF38313-2BAC-1CD3-9842-13717688B7C8}"/>
              </a:ext>
            </a:extLst>
          </p:cNvPr>
          <p:cNvGrpSpPr/>
          <p:nvPr/>
        </p:nvGrpSpPr>
        <p:grpSpPr>
          <a:xfrm>
            <a:off x="667066" y="653908"/>
            <a:ext cx="2955643" cy="2021816"/>
            <a:chOff x="667066" y="653908"/>
            <a:chExt cx="2955643" cy="2021816"/>
          </a:xfrm>
        </p:grpSpPr>
        <p:cxnSp>
          <p:nvCxnSpPr>
            <p:cNvPr id="28" name="直线连接符 27">
              <a:extLst>
                <a:ext uri="{FF2B5EF4-FFF2-40B4-BE49-F238E27FC236}">
                  <a16:creationId xmlns:a16="http://schemas.microsoft.com/office/drawing/2014/main" id="{FF3B48CE-69C1-B59A-8701-E917F62316F1}"/>
                </a:ext>
              </a:extLst>
            </p:cNvPr>
            <p:cNvCxnSpPr>
              <a:cxnSpLocks/>
            </p:cNvCxnSpPr>
            <p:nvPr/>
          </p:nvCxnSpPr>
          <p:spPr>
            <a:xfrm flipH="1" flipV="1">
              <a:off x="1476147" y="1027446"/>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线箭头连接符 10">
              <a:extLst>
                <a:ext uri="{FF2B5EF4-FFF2-40B4-BE49-F238E27FC236}">
                  <a16:creationId xmlns:a16="http://schemas.microsoft.com/office/drawing/2014/main" id="{5E3171CD-D125-9A50-300A-F56308E623CD}"/>
                </a:ext>
              </a:extLst>
            </p:cNvPr>
            <p:cNvCxnSpPr>
              <a:cxnSpLocks/>
            </p:cNvCxnSpPr>
            <p:nvPr/>
          </p:nvCxnSpPr>
          <p:spPr>
            <a:xfrm>
              <a:off x="1168690" y="2433304"/>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DA236EA3-81C8-5C33-74DA-288E9DC05917}"/>
                </a:ext>
              </a:extLst>
            </p:cNvPr>
            <p:cNvCxnSpPr/>
            <p:nvPr/>
          </p:nvCxnSpPr>
          <p:spPr>
            <a:xfrm flipV="1">
              <a:off x="1168690" y="788636"/>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AC790AC7-EE27-F937-5280-55B0CB6DD94D}"/>
                </a:ext>
              </a:extLst>
            </p:cNvPr>
            <p:cNvCxnSpPr>
              <a:cxnSpLocks/>
            </p:cNvCxnSpPr>
            <p:nvPr/>
          </p:nvCxnSpPr>
          <p:spPr>
            <a:xfrm flipH="1">
              <a:off x="1569201" y="987867"/>
              <a:ext cx="1237557" cy="123747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F7D0024-6E72-ADE8-DDF7-22A95E395E11}"/>
                    </a:ext>
                  </a:extLst>
                </p:cNvPr>
                <p:cNvSpPr txBox="1"/>
                <p:nvPr/>
              </p:nvSpPr>
              <p:spPr>
                <a:xfrm>
                  <a:off x="2713079" y="838574"/>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4" name="文本框 13">
                  <a:extLst>
                    <a:ext uri="{FF2B5EF4-FFF2-40B4-BE49-F238E27FC236}">
                      <a16:creationId xmlns:a16="http://schemas.microsoft.com/office/drawing/2014/main" id="{1F7D0024-6E72-ADE8-DDF7-22A95E395E11}"/>
                    </a:ext>
                  </a:extLst>
                </p:cNvPr>
                <p:cNvSpPr txBox="1">
                  <a:spLocks noRot="1" noChangeAspect="1" noMove="1" noResize="1" noEditPoints="1" noAdjustHandles="1" noChangeArrowheads="1" noChangeShapeType="1" noTextEdit="1"/>
                </p:cNvSpPr>
                <p:nvPr/>
              </p:nvSpPr>
              <p:spPr>
                <a:xfrm>
                  <a:off x="2713079" y="838574"/>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044AE8E1-4CD6-0A93-703F-05DF3F73F797}"/>
                </a:ext>
              </a:extLst>
            </p:cNvPr>
            <p:cNvSpPr txBox="1"/>
            <p:nvPr/>
          </p:nvSpPr>
          <p:spPr>
            <a:xfrm>
              <a:off x="907080" y="653908"/>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49D6CF1-C387-72E8-F737-0A0600678470}"/>
                    </a:ext>
                  </a:extLst>
                </p:cNvPr>
                <p:cNvSpPr txBox="1"/>
                <p:nvPr/>
              </p:nvSpPr>
              <p:spPr>
                <a:xfrm>
                  <a:off x="3449321" y="2290676"/>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049D6CF1-C387-72E8-F737-0A0600678470}"/>
                    </a:ext>
                  </a:extLst>
                </p:cNvPr>
                <p:cNvSpPr txBox="1">
                  <a:spLocks noRot="1" noChangeAspect="1" noMove="1" noResize="1" noEditPoints="1" noAdjustHandles="1" noChangeArrowheads="1" noChangeShapeType="1" noTextEdit="1"/>
                </p:cNvSpPr>
                <p:nvPr/>
              </p:nvSpPr>
              <p:spPr>
                <a:xfrm>
                  <a:off x="3449321" y="2290676"/>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917CE542-11F4-7749-E2AB-707E051906F2}"/>
                </a:ext>
              </a:extLst>
            </p:cNvPr>
            <p:cNvCxnSpPr>
              <a:cxnSpLocks/>
              <a:stCxn id="21" idx="0"/>
            </p:cNvCxnSpPr>
            <p:nvPr/>
          </p:nvCxnSpPr>
          <p:spPr>
            <a:xfrm>
              <a:off x="2158977" y="1608872"/>
              <a:ext cx="1" cy="820527"/>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530CF9BB-AB16-9F35-4DEA-7831BABE2E63}"/>
                </a:ext>
              </a:extLst>
            </p:cNvPr>
            <p:cNvCxnSpPr>
              <a:cxnSpLocks/>
              <a:endCxn id="21" idx="6"/>
            </p:cNvCxnSpPr>
            <p:nvPr/>
          </p:nvCxnSpPr>
          <p:spPr>
            <a:xfrm flipV="1">
              <a:off x="1168689" y="1631732"/>
              <a:ext cx="1013147" cy="4871"/>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ACE8962-5B28-4B2E-D6EB-2B1CA894282F}"/>
                    </a:ext>
                  </a:extLst>
                </p:cNvPr>
                <p:cNvSpPr txBox="1"/>
                <p:nvPr/>
              </p:nvSpPr>
              <p:spPr>
                <a:xfrm>
                  <a:off x="861234" y="1459156"/>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19" name="文本框 18">
                  <a:extLst>
                    <a:ext uri="{FF2B5EF4-FFF2-40B4-BE49-F238E27FC236}">
                      <a16:creationId xmlns:a16="http://schemas.microsoft.com/office/drawing/2014/main" id="{EACE8962-5B28-4B2E-D6EB-2B1CA894282F}"/>
                    </a:ext>
                  </a:extLst>
                </p:cNvPr>
                <p:cNvSpPr txBox="1">
                  <a:spLocks noRot="1" noChangeAspect="1" noMove="1" noResize="1" noEditPoints="1" noAdjustHandles="1" noChangeArrowheads="1" noChangeShapeType="1" noTextEdit="1"/>
                </p:cNvSpPr>
                <p:nvPr/>
              </p:nvSpPr>
              <p:spPr>
                <a:xfrm>
                  <a:off x="861234" y="1459156"/>
                  <a:ext cx="356893" cy="276999"/>
                </a:xfrm>
                <a:prstGeom prst="rect">
                  <a:avLst/>
                </a:prstGeom>
                <a:blipFill>
                  <a:blip r:embed="rId4"/>
                  <a:stretch>
                    <a:fillRect/>
                  </a:stretch>
                </a:blipFill>
              </p:spPr>
              <p:txBody>
                <a:bodyPr/>
                <a:lstStyle/>
                <a:p>
                  <a:r>
                    <a:rPr lang="zh-CN" altLang="en-US">
                      <a:noFill/>
                    </a:rPr>
                    <a:t> </a:t>
                  </a:r>
                </a:p>
              </p:txBody>
            </p:sp>
          </mc:Fallback>
        </mc:AlternateContent>
        <p:sp>
          <p:nvSpPr>
            <p:cNvPr id="21" name="椭圆 20">
              <a:extLst>
                <a:ext uri="{FF2B5EF4-FFF2-40B4-BE49-F238E27FC236}">
                  <a16:creationId xmlns:a16="http://schemas.microsoft.com/office/drawing/2014/main" id="{F55E2CA5-758F-CEAF-5CD4-49F364F32D9D}"/>
                </a:ext>
              </a:extLst>
            </p:cNvPr>
            <p:cNvSpPr/>
            <p:nvPr/>
          </p:nvSpPr>
          <p:spPr>
            <a:xfrm>
              <a:off x="2136117" y="16088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2C50BB1F-35A9-4584-FD41-008829BC8A82}"/>
                </a:ext>
              </a:extLst>
            </p:cNvPr>
            <p:cNvSpPr txBox="1"/>
            <p:nvPr/>
          </p:nvSpPr>
          <p:spPr>
            <a:xfrm>
              <a:off x="2076459" y="1653689"/>
              <a:ext cx="261610"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00C7A7D-817B-C63A-183D-A7F1D8C052FF}"/>
                    </a:ext>
                  </a:extLst>
                </p:cNvPr>
                <p:cNvSpPr txBox="1"/>
                <p:nvPr/>
              </p:nvSpPr>
              <p:spPr>
                <a:xfrm>
                  <a:off x="1993354" y="2398725"/>
                  <a:ext cx="37696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m:rPr>
                                <m:sty m:val="p"/>
                              </m:rPr>
                              <a:rPr kumimoji="1" lang="en-US" altLang="zh-CN" sz="1200" i="1" dirty="0">
                                <a:latin typeface="Cambria Math" panose="02040503050406030204" pitchFamily="18" charset="0"/>
                              </a:rPr>
                              <m:t>Y</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31" name="文本框 30">
                  <a:extLst>
                    <a:ext uri="{FF2B5EF4-FFF2-40B4-BE49-F238E27FC236}">
                      <a16:creationId xmlns:a16="http://schemas.microsoft.com/office/drawing/2014/main" id="{F00C7A7D-817B-C63A-183D-A7F1D8C052FF}"/>
                    </a:ext>
                  </a:extLst>
                </p:cNvPr>
                <p:cNvSpPr txBox="1">
                  <a:spLocks noRot="1" noChangeAspect="1" noMove="1" noResize="1" noEditPoints="1" noAdjustHandles="1" noChangeArrowheads="1" noChangeShapeType="1" noTextEdit="1"/>
                </p:cNvSpPr>
                <p:nvPr/>
              </p:nvSpPr>
              <p:spPr>
                <a:xfrm>
                  <a:off x="1993354" y="2398725"/>
                  <a:ext cx="376963" cy="276999"/>
                </a:xfrm>
                <a:prstGeom prst="rect">
                  <a:avLst/>
                </a:prstGeom>
                <a:blipFill>
                  <a:blip r:embed="rId5"/>
                  <a:stretch>
                    <a:fillRect/>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7BC52522-94FD-9974-964B-D55A1F0C2784}"/>
                </a:ext>
              </a:extLst>
            </p:cNvPr>
            <p:cNvSpPr txBox="1"/>
            <p:nvPr/>
          </p:nvSpPr>
          <p:spPr>
            <a:xfrm>
              <a:off x="667066" y="1678555"/>
              <a:ext cx="595035" cy="215444"/>
            </a:xfrm>
            <a:prstGeom prst="rect">
              <a:avLst/>
            </a:prstGeom>
            <a:noFill/>
          </p:spPr>
          <p:txBody>
            <a:bodyPr wrap="none" rtlCol="0">
              <a:spAutoFit/>
            </a:bodyPr>
            <a:lstStyle/>
            <a:p>
              <a:r>
                <a:rPr kumimoji="1" lang="zh-CN" altLang="en-US" sz="800" dirty="0"/>
                <a:t>均衡利率</a:t>
              </a:r>
            </a:p>
          </p:txBody>
        </p:sp>
        <p:sp>
          <p:nvSpPr>
            <p:cNvPr id="33" name="文本框 32">
              <a:extLst>
                <a:ext uri="{FF2B5EF4-FFF2-40B4-BE49-F238E27FC236}">
                  <a16:creationId xmlns:a16="http://schemas.microsoft.com/office/drawing/2014/main" id="{3A2327D9-E6DD-FDF2-7B28-6E948CAEA0B6}"/>
                </a:ext>
              </a:extLst>
            </p:cNvPr>
            <p:cNvSpPr txBox="1"/>
            <p:nvPr/>
          </p:nvSpPr>
          <p:spPr>
            <a:xfrm>
              <a:off x="2263019" y="2444808"/>
              <a:ext cx="595035" cy="215444"/>
            </a:xfrm>
            <a:prstGeom prst="rect">
              <a:avLst/>
            </a:prstGeom>
            <a:noFill/>
          </p:spPr>
          <p:txBody>
            <a:bodyPr wrap="none" rtlCol="0">
              <a:spAutoFit/>
            </a:bodyPr>
            <a:lstStyle/>
            <a:p>
              <a:r>
                <a:rPr kumimoji="1" lang="zh-CN" altLang="en-US" sz="800" dirty="0"/>
                <a:t>均衡收入</a:t>
              </a:r>
            </a:p>
          </p:txBody>
        </p:sp>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F3F7210-FDF2-BBC5-AC7A-7D2C11D617E4}"/>
                  </a:ext>
                </a:extLst>
              </p:cNvPr>
              <p:cNvSpPr txBox="1"/>
              <p:nvPr/>
            </p:nvSpPr>
            <p:spPr>
              <a:xfrm>
                <a:off x="2665016" y="2126264"/>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𝐼𝑆</m:t>
                      </m:r>
                    </m:oMath>
                  </m:oMathPara>
                </a14:m>
                <a:endParaRPr lang="zh-CN" altLang="en-US" sz="1000" i="1" dirty="0"/>
              </a:p>
            </p:txBody>
          </p:sp>
        </mc:Choice>
        <mc:Fallback xmlns="">
          <p:sp>
            <p:nvSpPr>
              <p:cNvPr id="3" name="文本框 2">
                <a:extLst>
                  <a:ext uri="{FF2B5EF4-FFF2-40B4-BE49-F238E27FC236}">
                    <a16:creationId xmlns:a16="http://schemas.microsoft.com/office/drawing/2014/main" id="{8F3F7210-FDF2-BBC5-AC7A-7D2C11D617E4}"/>
                  </a:ext>
                </a:extLst>
              </p:cNvPr>
              <p:cNvSpPr txBox="1">
                <a:spLocks noRot="1" noChangeAspect="1" noMove="1" noResize="1" noEditPoints="1" noAdjustHandles="1" noChangeArrowheads="1" noChangeShapeType="1" noTextEdit="1"/>
              </p:cNvSpPr>
              <p:nvPr/>
            </p:nvSpPr>
            <p:spPr>
              <a:xfrm>
                <a:off x="2665016" y="2126264"/>
                <a:ext cx="520233" cy="24622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82070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65416" y="2681222"/>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产品市场和货币市场的一般均衡</a:t>
            </a:r>
          </a:p>
        </p:txBody>
      </p:sp>
      <p:sp>
        <p:nvSpPr>
          <p:cNvPr id="4" name="标题 3">
            <a:extLst>
              <a:ext uri="{FF2B5EF4-FFF2-40B4-BE49-F238E27FC236}">
                <a16:creationId xmlns:a16="http://schemas.microsoft.com/office/drawing/2014/main" id="{A4CF7FEE-ADE5-BF3F-8A72-2E0C3A017B04}"/>
              </a:ext>
            </a:extLst>
          </p:cNvPr>
          <p:cNvSpPr>
            <a:spLocks noGrp="1"/>
          </p:cNvSpPr>
          <p:nvPr>
            <p:ph type="title"/>
          </p:nvPr>
        </p:nvSpPr>
        <p:spPr>
          <a:xfrm>
            <a:off x="172656" y="165027"/>
            <a:ext cx="4240332" cy="343671"/>
          </a:xfrm>
        </p:spPr>
        <p:txBody>
          <a:bodyPr/>
          <a:lstStyle/>
          <a:p>
            <a:r>
              <a:rPr kumimoji="1" lang="zh-CN" altLang="en-US" dirty="0"/>
              <a:t>非均衡状态与调整路径</a:t>
            </a:r>
          </a:p>
        </p:txBody>
      </p:sp>
      <p:sp>
        <p:nvSpPr>
          <p:cNvPr id="6" name="灯片编号占位符 2">
            <a:extLst>
              <a:ext uri="{FF2B5EF4-FFF2-40B4-BE49-F238E27FC236}">
                <a16:creationId xmlns:a16="http://schemas.microsoft.com/office/drawing/2014/main" id="{95B3683B-9405-AFF4-942B-F1BF695202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70</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3DD4DD71-0554-0050-BF16-63300654DBC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cxnSp>
        <p:nvCxnSpPr>
          <p:cNvPr id="11" name="直线箭头连接符 10">
            <a:extLst>
              <a:ext uri="{FF2B5EF4-FFF2-40B4-BE49-F238E27FC236}">
                <a16:creationId xmlns:a16="http://schemas.microsoft.com/office/drawing/2014/main" id="{5E3171CD-D125-9A50-300A-F56308E623CD}"/>
              </a:ext>
            </a:extLst>
          </p:cNvPr>
          <p:cNvCxnSpPr>
            <a:cxnSpLocks/>
          </p:cNvCxnSpPr>
          <p:nvPr/>
        </p:nvCxnSpPr>
        <p:spPr>
          <a:xfrm>
            <a:off x="1168690" y="2433304"/>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DA236EA3-81C8-5C33-74DA-288E9DC05917}"/>
              </a:ext>
            </a:extLst>
          </p:cNvPr>
          <p:cNvCxnSpPr/>
          <p:nvPr/>
        </p:nvCxnSpPr>
        <p:spPr>
          <a:xfrm flipV="1">
            <a:off x="1168690" y="788636"/>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F7D0024-6E72-ADE8-DDF7-22A95E395E11}"/>
                  </a:ext>
                </a:extLst>
              </p:cNvPr>
              <p:cNvSpPr txBox="1"/>
              <p:nvPr/>
            </p:nvSpPr>
            <p:spPr>
              <a:xfrm>
                <a:off x="2488966" y="715463"/>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4" name="文本框 13">
                <a:extLst>
                  <a:ext uri="{FF2B5EF4-FFF2-40B4-BE49-F238E27FC236}">
                    <a16:creationId xmlns:a16="http://schemas.microsoft.com/office/drawing/2014/main" id="{1F7D0024-6E72-ADE8-DDF7-22A95E395E11}"/>
                  </a:ext>
                </a:extLst>
              </p:cNvPr>
              <p:cNvSpPr txBox="1">
                <a:spLocks noRot="1" noChangeAspect="1" noMove="1" noResize="1" noEditPoints="1" noAdjustHandles="1" noChangeArrowheads="1" noChangeShapeType="1" noTextEdit="1"/>
              </p:cNvSpPr>
              <p:nvPr/>
            </p:nvSpPr>
            <p:spPr>
              <a:xfrm>
                <a:off x="2488966" y="715463"/>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044AE8E1-4CD6-0A93-703F-05DF3F73F797}"/>
              </a:ext>
            </a:extLst>
          </p:cNvPr>
          <p:cNvSpPr txBox="1"/>
          <p:nvPr/>
        </p:nvSpPr>
        <p:spPr>
          <a:xfrm>
            <a:off x="907080" y="653908"/>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49D6CF1-C387-72E8-F737-0A0600678470}"/>
                  </a:ext>
                </a:extLst>
              </p:cNvPr>
              <p:cNvSpPr txBox="1"/>
              <p:nvPr/>
            </p:nvSpPr>
            <p:spPr>
              <a:xfrm>
                <a:off x="3449321" y="2290676"/>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049D6CF1-C387-72E8-F737-0A0600678470}"/>
                  </a:ext>
                </a:extLst>
              </p:cNvPr>
              <p:cNvSpPr txBox="1">
                <a:spLocks noRot="1" noChangeAspect="1" noMove="1" noResize="1" noEditPoints="1" noAdjustHandles="1" noChangeArrowheads="1" noChangeShapeType="1" noTextEdit="1"/>
              </p:cNvSpPr>
              <p:nvPr/>
            </p:nvSpPr>
            <p:spPr>
              <a:xfrm>
                <a:off x="3449321" y="2290676"/>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917CE542-11F4-7749-E2AB-707E051906F2}"/>
              </a:ext>
            </a:extLst>
          </p:cNvPr>
          <p:cNvCxnSpPr>
            <a:cxnSpLocks/>
            <a:stCxn id="21" idx="0"/>
          </p:cNvCxnSpPr>
          <p:nvPr/>
        </p:nvCxnSpPr>
        <p:spPr>
          <a:xfrm>
            <a:off x="2212899" y="1898730"/>
            <a:ext cx="0" cy="54607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530CF9BB-AB16-9F35-4DEA-7831BABE2E63}"/>
              </a:ext>
            </a:extLst>
          </p:cNvPr>
          <p:cNvCxnSpPr>
            <a:cxnSpLocks/>
          </p:cNvCxnSpPr>
          <p:nvPr/>
        </p:nvCxnSpPr>
        <p:spPr>
          <a:xfrm flipV="1">
            <a:off x="1173186" y="1916719"/>
            <a:ext cx="1013147" cy="4871"/>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2C50BB1F-35A9-4584-FD41-008829BC8A82}"/>
              </a:ext>
            </a:extLst>
          </p:cNvPr>
          <p:cNvSpPr txBox="1"/>
          <p:nvPr/>
        </p:nvSpPr>
        <p:spPr>
          <a:xfrm>
            <a:off x="1568686" y="1613400"/>
            <a:ext cx="261610" cy="230832"/>
          </a:xfrm>
          <a:prstGeom prst="rect">
            <a:avLst/>
          </a:prstGeom>
          <a:noFill/>
        </p:spPr>
        <p:txBody>
          <a:bodyPr wrap="none" rtlCol="0">
            <a:spAutoFit/>
          </a:bodyPr>
          <a:lstStyle/>
          <a:p>
            <a:r>
              <a:rPr kumimoji="1" lang="en-US" altLang="zh-CN" sz="900" dirty="0"/>
              <a:t>A</a:t>
            </a:r>
            <a:endParaRPr kumimoji="1" lang="zh-CN" altLang="en-US" sz="900" dirty="0"/>
          </a:p>
        </p:txBody>
      </p:sp>
      <p:sp>
        <p:nvSpPr>
          <p:cNvPr id="3" name="任意形状 2">
            <a:extLst>
              <a:ext uri="{FF2B5EF4-FFF2-40B4-BE49-F238E27FC236}">
                <a16:creationId xmlns:a16="http://schemas.microsoft.com/office/drawing/2014/main" id="{0CA216F0-ED76-C149-9EFB-6FCFBDD5D14B}"/>
              </a:ext>
            </a:extLst>
          </p:cNvPr>
          <p:cNvSpPr/>
          <p:nvPr/>
        </p:nvSpPr>
        <p:spPr>
          <a:xfrm>
            <a:off x="1402462" y="956115"/>
            <a:ext cx="1213452" cy="1278297"/>
          </a:xfrm>
          <a:custGeom>
            <a:avLst/>
            <a:gdLst>
              <a:gd name="connsiteX0" fmla="*/ 0 w 1478845"/>
              <a:gd name="connsiteY0" fmla="*/ 993422 h 993422"/>
              <a:gd name="connsiteX1" fmla="*/ 1027289 w 1478845"/>
              <a:gd name="connsiteY1" fmla="*/ 722489 h 993422"/>
              <a:gd name="connsiteX2" fmla="*/ 1478845 w 1478845"/>
              <a:gd name="connsiteY2" fmla="*/ 0 h 993422"/>
              <a:gd name="connsiteX3" fmla="*/ 1478845 w 1478845"/>
              <a:gd name="connsiteY3" fmla="*/ 0 h 993422"/>
            </a:gdLst>
            <a:ahLst/>
            <a:cxnLst>
              <a:cxn ang="0">
                <a:pos x="connsiteX0" y="connsiteY0"/>
              </a:cxn>
              <a:cxn ang="0">
                <a:pos x="connsiteX1" y="connsiteY1"/>
              </a:cxn>
              <a:cxn ang="0">
                <a:pos x="connsiteX2" y="connsiteY2"/>
              </a:cxn>
              <a:cxn ang="0">
                <a:pos x="connsiteX3" y="connsiteY3"/>
              </a:cxn>
            </a:cxnLst>
            <a:rect l="l" t="t" r="r" b="b"/>
            <a:pathLst>
              <a:path w="1478845" h="993422">
                <a:moveTo>
                  <a:pt x="0" y="993422"/>
                </a:moveTo>
                <a:cubicBezTo>
                  <a:pt x="390407" y="940740"/>
                  <a:pt x="780815" y="888059"/>
                  <a:pt x="1027289" y="722489"/>
                </a:cubicBezTo>
                <a:cubicBezTo>
                  <a:pt x="1273763" y="556919"/>
                  <a:pt x="1478845" y="0"/>
                  <a:pt x="1478845" y="0"/>
                </a:cubicBezTo>
                <a:lnTo>
                  <a:pt x="1478845" y="0"/>
                </a:lnTo>
              </a:path>
            </a:pathLst>
          </a:cu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任意形状 4">
            <a:extLst>
              <a:ext uri="{FF2B5EF4-FFF2-40B4-BE49-F238E27FC236}">
                <a16:creationId xmlns:a16="http://schemas.microsoft.com/office/drawing/2014/main" id="{21D4421F-D8F5-163D-4EA6-54D074756FE8}"/>
              </a:ext>
            </a:extLst>
          </p:cNvPr>
          <p:cNvSpPr/>
          <p:nvPr/>
        </p:nvSpPr>
        <p:spPr>
          <a:xfrm>
            <a:off x="1680526" y="896188"/>
            <a:ext cx="1236575" cy="1337734"/>
          </a:xfrm>
          <a:custGeom>
            <a:avLst/>
            <a:gdLst>
              <a:gd name="connsiteX0" fmla="*/ 0 w 1433689"/>
              <a:gd name="connsiteY0" fmla="*/ 0 h 1337734"/>
              <a:gd name="connsiteX1" fmla="*/ 519289 w 1433689"/>
              <a:gd name="connsiteY1" fmla="*/ 942623 h 1337734"/>
              <a:gd name="connsiteX2" fmla="*/ 1433689 w 1433689"/>
              <a:gd name="connsiteY2" fmla="*/ 1337734 h 1337734"/>
            </a:gdLst>
            <a:ahLst/>
            <a:cxnLst>
              <a:cxn ang="0">
                <a:pos x="connsiteX0" y="connsiteY0"/>
              </a:cxn>
              <a:cxn ang="0">
                <a:pos x="connsiteX1" y="connsiteY1"/>
              </a:cxn>
              <a:cxn ang="0">
                <a:pos x="connsiteX2" y="connsiteY2"/>
              </a:cxn>
            </a:cxnLst>
            <a:rect l="l" t="t" r="r" b="b"/>
            <a:pathLst>
              <a:path w="1433689" h="1337734">
                <a:moveTo>
                  <a:pt x="0" y="0"/>
                </a:moveTo>
                <a:cubicBezTo>
                  <a:pt x="140170" y="359833"/>
                  <a:pt x="280341" y="719667"/>
                  <a:pt x="519289" y="942623"/>
                </a:cubicBezTo>
                <a:cubicBezTo>
                  <a:pt x="758237" y="1165579"/>
                  <a:pt x="1095963" y="1251656"/>
                  <a:pt x="1433689" y="1337734"/>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B06D1B54-6216-B6EB-7D3E-EAAFCEACBF2A}"/>
              </a:ext>
            </a:extLst>
          </p:cNvPr>
          <p:cNvSpPr txBox="1"/>
          <p:nvPr/>
        </p:nvSpPr>
        <p:spPr>
          <a:xfrm>
            <a:off x="2207262" y="1152625"/>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10" name="文本框 9">
            <a:extLst>
              <a:ext uri="{FF2B5EF4-FFF2-40B4-BE49-F238E27FC236}">
                <a16:creationId xmlns:a16="http://schemas.microsoft.com/office/drawing/2014/main" id="{C712FF9C-5D7A-C896-00B0-49C7B9A03B8D}"/>
              </a:ext>
            </a:extLst>
          </p:cNvPr>
          <p:cNvSpPr txBox="1"/>
          <p:nvPr/>
        </p:nvSpPr>
        <p:spPr>
          <a:xfrm>
            <a:off x="2724043" y="1581333"/>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20" name="文本框 19">
            <a:extLst>
              <a:ext uri="{FF2B5EF4-FFF2-40B4-BE49-F238E27FC236}">
                <a16:creationId xmlns:a16="http://schemas.microsoft.com/office/drawing/2014/main" id="{8A21654A-CB64-E148-F8A7-60D68EBB8BBD}"/>
              </a:ext>
            </a:extLst>
          </p:cNvPr>
          <p:cNvSpPr txBox="1"/>
          <p:nvPr/>
        </p:nvSpPr>
        <p:spPr>
          <a:xfrm>
            <a:off x="2267946" y="2088075"/>
            <a:ext cx="268022" cy="230832"/>
          </a:xfrm>
          <a:prstGeom prst="rect">
            <a:avLst/>
          </a:prstGeom>
          <a:noFill/>
        </p:spPr>
        <p:txBody>
          <a:bodyPr wrap="none" rtlCol="0">
            <a:spAutoFit/>
          </a:bodyPr>
          <a:lstStyle/>
          <a:p>
            <a:r>
              <a:rPr kumimoji="1" lang="en-US" altLang="zh-CN" sz="900" dirty="0"/>
              <a:t>D</a:t>
            </a:r>
            <a:endParaRPr kumimoji="1" lang="zh-CN" altLang="en-US" sz="900" dirty="0"/>
          </a:p>
        </p:txBody>
      </p:sp>
      <p:sp>
        <p:nvSpPr>
          <p:cNvPr id="22" name="椭圆 21">
            <a:extLst>
              <a:ext uri="{FF2B5EF4-FFF2-40B4-BE49-F238E27FC236}">
                <a16:creationId xmlns:a16="http://schemas.microsoft.com/office/drawing/2014/main" id="{20B03D56-56D0-D7D0-AB25-05734185AD6D}"/>
              </a:ext>
            </a:extLst>
          </p:cNvPr>
          <p:cNvSpPr/>
          <p:nvPr/>
        </p:nvSpPr>
        <p:spPr>
          <a:xfrm>
            <a:off x="1775396" y="1746518"/>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a:extLst>
              <a:ext uri="{FF2B5EF4-FFF2-40B4-BE49-F238E27FC236}">
                <a16:creationId xmlns:a16="http://schemas.microsoft.com/office/drawing/2014/main" id="{B5B56685-6322-EE0C-12EB-477F45E1879A}"/>
              </a:ext>
            </a:extLst>
          </p:cNvPr>
          <p:cNvSpPr/>
          <p:nvPr/>
        </p:nvSpPr>
        <p:spPr>
          <a:xfrm>
            <a:off x="2315208" y="136018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a:extLst>
              <a:ext uri="{FF2B5EF4-FFF2-40B4-BE49-F238E27FC236}">
                <a16:creationId xmlns:a16="http://schemas.microsoft.com/office/drawing/2014/main" id="{93EAFB38-C8B1-37D0-0E3E-A88EDD3EB558}"/>
              </a:ext>
            </a:extLst>
          </p:cNvPr>
          <p:cNvSpPr/>
          <p:nvPr/>
        </p:nvSpPr>
        <p:spPr>
          <a:xfrm>
            <a:off x="2703364" y="167625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a:extLst>
              <a:ext uri="{FF2B5EF4-FFF2-40B4-BE49-F238E27FC236}">
                <a16:creationId xmlns:a16="http://schemas.microsoft.com/office/drawing/2014/main" id="{9A76975C-9A72-0821-2F7B-FE04ACF568CA}"/>
              </a:ext>
            </a:extLst>
          </p:cNvPr>
          <p:cNvSpPr/>
          <p:nvPr/>
        </p:nvSpPr>
        <p:spPr>
          <a:xfrm>
            <a:off x="2263019" y="2203030"/>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F55E2CA5-758F-CEAF-5CD4-49F364F32D9D}"/>
              </a:ext>
            </a:extLst>
          </p:cNvPr>
          <p:cNvSpPr/>
          <p:nvPr/>
        </p:nvSpPr>
        <p:spPr>
          <a:xfrm>
            <a:off x="2190039" y="1898730"/>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5" name="直线箭头连接符 34">
            <a:extLst>
              <a:ext uri="{FF2B5EF4-FFF2-40B4-BE49-F238E27FC236}">
                <a16:creationId xmlns:a16="http://schemas.microsoft.com/office/drawing/2014/main" id="{4F786ABC-DC82-DAF4-BBD7-32AE0747812C}"/>
              </a:ext>
            </a:extLst>
          </p:cNvPr>
          <p:cNvCxnSpPr>
            <a:cxnSpLocks/>
            <a:stCxn id="22" idx="6"/>
          </p:cNvCxnSpPr>
          <p:nvPr/>
        </p:nvCxnSpPr>
        <p:spPr>
          <a:xfrm flipV="1">
            <a:off x="1821115" y="1676252"/>
            <a:ext cx="195903" cy="93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线箭头连接符 38">
            <a:extLst>
              <a:ext uri="{FF2B5EF4-FFF2-40B4-BE49-F238E27FC236}">
                <a16:creationId xmlns:a16="http://schemas.microsoft.com/office/drawing/2014/main" id="{8DE43F31-59AE-3259-DF54-0E67A82797F1}"/>
              </a:ext>
            </a:extLst>
          </p:cNvPr>
          <p:cNvCxnSpPr>
            <a:cxnSpLocks/>
            <a:stCxn id="22" idx="0"/>
          </p:cNvCxnSpPr>
          <p:nvPr/>
        </p:nvCxnSpPr>
        <p:spPr>
          <a:xfrm>
            <a:off x="1798256" y="1746518"/>
            <a:ext cx="0" cy="4159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线箭头连接符 40">
            <a:extLst>
              <a:ext uri="{FF2B5EF4-FFF2-40B4-BE49-F238E27FC236}">
                <a16:creationId xmlns:a16="http://schemas.microsoft.com/office/drawing/2014/main" id="{0AD9F770-65DB-0536-811F-1AE4FF92530F}"/>
              </a:ext>
            </a:extLst>
          </p:cNvPr>
          <p:cNvCxnSpPr>
            <a:cxnSpLocks/>
            <a:stCxn id="23" idx="4"/>
          </p:cNvCxnSpPr>
          <p:nvPr/>
        </p:nvCxnSpPr>
        <p:spPr>
          <a:xfrm flipH="1">
            <a:off x="1945010" y="1405903"/>
            <a:ext cx="393058" cy="2074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线箭头连接符 42">
            <a:extLst>
              <a:ext uri="{FF2B5EF4-FFF2-40B4-BE49-F238E27FC236}">
                <a16:creationId xmlns:a16="http://schemas.microsoft.com/office/drawing/2014/main" id="{E7AB8E94-8702-167C-F159-F74E08EB6E9B}"/>
              </a:ext>
            </a:extLst>
          </p:cNvPr>
          <p:cNvCxnSpPr>
            <a:cxnSpLocks/>
            <a:stCxn id="23" idx="4"/>
          </p:cNvCxnSpPr>
          <p:nvPr/>
        </p:nvCxnSpPr>
        <p:spPr>
          <a:xfrm>
            <a:off x="2338068" y="1405903"/>
            <a:ext cx="130804" cy="364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文本框 27">
            <a:extLst>
              <a:ext uri="{FF2B5EF4-FFF2-40B4-BE49-F238E27FC236}">
                <a16:creationId xmlns:a16="http://schemas.microsoft.com/office/drawing/2014/main" id="{EF57A16E-A05A-2B9D-FEC1-910BC0571255}"/>
              </a:ext>
            </a:extLst>
          </p:cNvPr>
          <p:cNvSpPr txBox="1"/>
          <p:nvPr/>
        </p:nvSpPr>
        <p:spPr>
          <a:xfrm>
            <a:off x="2089462" y="1705434"/>
            <a:ext cx="261610" cy="230832"/>
          </a:xfrm>
          <a:prstGeom prst="rect">
            <a:avLst/>
          </a:prstGeom>
          <a:noFill/>
        </p:spPr>
        <p:txBody>
          <a:bodyPr wrap="none" rtlCol="0">
            <a:spAutoFit/>
          </a:bodyPr>
          <a:lstStyle/>
          <a:p>
            <a:r>
              <a:rPr kumimoji="1" lang="en-US" altLang="zh-CN" sz="900" dirty="0"/>
              <a:t>E</a:t>
            </a:r>
            <a:endParaRPr kumimoji="1" lang="zh-CN" altLang="en-US" sz="900" dirty="0"/>
          </a:p>
        </p:txBody>
      </p:sp>
    </p:spTree>
    <p:extLst>
      <p:ext uri="{BB962C8B-B14F-4D97-AF65-F5344CB8AC3E}">
        <p14:creationId xmlns:p14="http://schemas.microsoft.com/office/powerpoint/2010/main" val="335344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直线箭头连接符 38">
            <a:extLst>
              <a:ext uri="{FF2B5EF4-FFF2-40B4-BE49-F238E27FC236}">
                <a16:creationId xmlns:a16="http://schemas.microsoft.com/office/drawing/2014/main" id="{8DE43F31-59AE-3259-DF54-0E67A82797F1}"/>
              </a:ext>
            </a:extLst>
          </p:cNvPr>
          <p:cNvCxnSpPr>
            <a:cxnSpLocks/>
            <a:stCxn id="22" idx="0"/>
            <a:endCxn id="34" idx="0"/>
          </p:cNvCxnSpPr>
          <p:nvPr/>
        </p:nvCxnSpPr>
        <p:spPr>
          <a:xfrm>
            <a:off x="1813754" y="1903399"/>
            <a:ext cx="8423" cy="375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矩形 7"/>
          <p:cNvSpPr/>
          <p:nvPr/>
        </p:nvSpPr>
        <p:spPr>
          <a:xfrm>
            <a:off x="1080914" y="2838103"/>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产品市场和货币市场的一般均衡</a:t>
            </a:r>
          </a:p>
        </p:txBody>
      </p:sp>
      <p:sp>
        <p:nvSpPr>
          <p:cNvPr id="4" name="标题 3">
            <a:extLst>
              <a:ext uri="{FF2B5EF4-FFF2-40B4-BE49-F238E27FC236}">
                <a16:creationId xmlns:a16="http://schemas.microsoft.com/office/drawing/2014/main" id="{A4CF7FEE-ADE5-BF3F-8A72-2E0C3A017B04}"/>
              </a:ext>
            </a:extLst>
          </p:cNvPr>
          <p:cNvSpPr>
            <a:spLocks noGrp="1"/>
          </p:cNvSpPr>
          <p:nvPr>
            <p:ph type="title"/>
          </p:nvPr>
        </p:nvSpPr>
        <p:spPr>
          <a:xfrm>
            <a:off x="172656" y="165027"/>
            <a:ext cx="4240332" cy="343671"/>
          </a:xfrm>
        </p:spPr>
        <p:txBody>
          <a:bodyPr/>
          <a:lstStyle/>
          <a:p>
            <a:r>
              <a:rPr kumimoji="1" lang="zh-CN" altLang="en-US" dirty="0"/>
              <a:t>现实的路径</a:t>
            </a:r>
          </a:p>
        </p:txBody>
      </p:sp>
      <p:sp>
        <p:nvSpPr>
          <p:cNvPr id="6" name="灯片编号占位符 2">
            <a:extLst>
              <a:ext uri="{FF2B5EF4-FFF2-40B4-BE49-F238E27FC236}">
                <a16:creationId xmlns:a16="http://schemas.microsoft.com/office/drawing/2014/main" id="{95B3683B-9405-AFF4-942B-F1BF695202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71</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3DD4DD71-0554-0050-BF16-63300654DBC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cxnSp>
        <p:nvCxnSpPr>
          <p:cNvPr id="11" name="直线箭头连接符 10">
            <a:extLst>
              <a:ext uri="{FF2B5EF4-FFF2-40B4-BE49-F238E27FC236}">
                <a16:creationId xmlns:a16="http://schemas.microsoft.com/office/drawing/2014/main" id="{5E3171CD-D125-9A50-300A-F56308E623CD}"/>
              </a:ext>
            </a:extLst>
          </p:cNvPr>
          <p:cNvCxnSpPr>
            <a:cxnSpLocks/>
          </p:cNvCxnSpPr>
          <p:nvPr/>
        </p:nvCxnSpPr>
        <p:spPr>
          <a:xfrm>
            <a:off x="1184188" y="2590185"/>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DA236EA3-81C8-5C33-74DA-288E9DC05917}"/>
              </a:ext>
            </a:extLst>
          </p:cNvPr>
          <p:cNvCxnSpPr/>
          <p:nvPr/>
        </p:nvCxnSpPr>
        <p:spPr>
          <a:xfrm flipV="1">
            <a:off x="1184188" y="945517"/>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F7D0024-6E72-ADE8-DDF7-22A95E395E11}"/>
                  </a:ext>
                </a:extLst>
              </p:cNvPr>
              <p:cNvSpPr txBox="1"/>
              <p:nvPr/>
            </p:nvSpPr>
            <p:spPr>
              <a:xfrm>
                <a:off x="2385815" y="936410"/>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4" name="文本框 13">
                <a:extLst>
                  <a:ext uri="{FF2B5EF4-FFF2-40B4-BE49-F238E27FC236}">
                    <a16:creationId xmlns:a16="http://schemas.microsoft.com/office/drawing/2014/main" id="{1F7D0024-6E72-ADE8-DDF7-22A95E395E11}"/>
                  </a:ext>
                </a:extLst>
              </p:cNvPr>
              <p:cNvSpPr txBox="1">
                <a:spLocks noRot="1" noChangeAspect="1" noMove="1" noResize="1" noEditPoints="1" noAdjustHandles="1" noChangeArrowheads="1" noChangeShapeType="1" noTextEdit="1"/>
              </p:cNvSpPr>
              <p:nvPr/>
            </p:nvSpPr>
            <p:spPr>
              <a:xfrm>
                <a:off x="2385815" y="936410"/>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044AE8E1-4CD6-0A93-703F-05DF3F73F797}"/>
              </a:ext>
            </a:extLst>
          </p:cNvPr>
          <p:cNvSpPr txBox="1"/>
          <p:nvPr/>
        </p:nvSpPr>
        <p:spPr>
          <a:xfrm>
            <a:off x="922578" y="810789"/>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49D6CF1-C387-72E8-F737-0A0600678470}"/>
                  </a:ext>
                </a:extLst>
              </p:cNvPr>
              <p:cNvSpPr txBox="1"/>
              <p:nvPr/>
            </p:nvSpPr>
            <p:spPr>
              <a:xfrm>
                <a:off x="3464819" y="2447557"/>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049D6CF1-C387-72E8-F737-0A0600678470}"/>
                  </a:ext>
                </a:extLst>
              </p:cNvPr>
              <p:cNvSpPr txBox="1">
                <a:spLocks noRot="1" noChangeAspect="1" noMove="1" noResize="1" noEditPoints="1" noAdjustHandles="1" noChangeArrowheads="1" noChangeShapeType="1" noTextEdit="1"/>
              </p:cNvSpPr>
              <p:nvPr/>
            </p:nvSpPr>
            <p:spPr>
              <a:xfrm>
                <a:off x="3464819" y="2447557"/>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917CE542-11F4-7749-E2AB-707E051906F2}"/>
              </a:ext>
            </a:extLst>
          </p:cNvPr>
          <p:cNvCxnSpPr>
            <a:cxnSpLocks/>
            <a:stCxn id="21" idx="0"/>
          </p:cNvCxnSpPr>
          <p:nvPr/>
        </p:nvCxnSpPr>
        <p:spPr>
          <a:xfrm>
            <a:off x="2228397" y="2055611"/>
            <a:ext cx="0" cy="54607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530CF9BB-AB16-9F35-4DEA-7831BABE2E63}"/>
              </a:ext>
            </a:extLst>
          </p:cNvPr>
          <p:cNvCxnSpPr>
            <a:cxnSpLocks/>
          </p:cNvCxnSpPr>
          <p:nvPr/>
        </p:nvCxnSpPr>
        <p:spPr>
          <a:xfrm flipV="1">
            <a:off x="1188684" y="2073600"/>
            <a:ext cx="1013147" cy="4871"/>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2C50BB1F-35A9-4584-FD41-008829BC8A82}"/>
              </a:ext>
            </a:extLst>
          </p:cNvPr>
          <p:cNvSpPr txBox="1"/>
          <p:nvPr/>
        </p:nvSpPr>
        <p:spPr>
          <a:xfrm>
            <a:off x="1584184" y="1770281"/>
            <a:ext cx="261610" cy="230832"/>
          </a:xfrm>
          <a:prstGeom prst="rect">
            <a:avLst/>
          </a:prstGeom>
          <a:noFill/>
        </p:spPr>
        <p:txBody>
          <a:bodyPr wrap="none" rtlCol="0">
            <a:spAutoFit/>
          </a:bodyPr>
          <a:lstStyle/>
          <a:p>
            <a:r>
              <a:rPr kumimoji="1" lang="en-US" altLang="zh-CN" sz="900" dirty="0"/>
              <a:t>A</a:t>
            </a:r>
            <a:endParaRPr kumimoji="1" lang="zh-CN" altLang="en-US" sz="900" dirty="0"/>
          </a:p>
        </p:txBody>
      </p:sp>
      <p:sp>
        <p:nvSpPr>
          <p:cNvPr id="3" name="任意形状 2">
            <a:extLst>
              <a:ext uri="{FF2B5EF4-FFF2-40B4-BE49-F238E27FC236}">
                <a16:creationId xmlns:a16="http://schemas.microsoft.com/office/drawing/2014/main" id="{0CA216F0-ED76-C149-9EFB-6FCFBDD5D14B}"/>
              </a:ext>
            </a:extLst>
          </p:cNvPr>
          <p:cNvSpPr/>
          <p:nvPr/>
        </p:nvSpPr>
        <p:spPr>
          <a:xfrm>
            <a:off x="1417960" y="1112996"/>
            <a:ext cx="1213452" cy="1278297"/>
          </a:xfrm>
          <a:custGeom>
            <a:avLst/>
            <a:gdLst>
              <a:gd name="connsiteX0" fmla="*/ 0 w 1478845"/>
              <a:gd name="connsiteY0" fmla="*/ 993422 h 993422"/>
              <a:gd name="connsiteX1" fmla="*/ 1027289 w 1478845"/>
              <a:gd name="connsiteY1" fmla="*/ 722489 h 993422"/>
              <a:gd name="connsiteX2" fmla="*/ 1478845 w 1478845"/>
              <a:gd name="connsiteY2" fmla="*/ 0 h 993422"/>
              <a:gd name="connsiteX3" fmla="*/ 1478845 w 1478845"/>
              <a:gd name="connsiteY3" fmla="*/ 0 h 993422"/>
            </a:gdLst>
            <a:ahLst/>
            <a:cxnLst>
              <a:cxn ang="0">
                <a:pos x="connsiteX0" y="connsiteY0"/>
              </a:cxn>
              <a:cxn ang="0">
                <a:pos x="connsiteX1" y="connsiteY1"/>
              </a:cxn>
              <a:cxn ang="0">
                <a:pos x="connsiteX2" y="connsiteY2"/>
              </a:cxn>
              <a:cxn ang="0">
                <a:pos x="connsiteX3" y="connsiteY3"/>
              </a:cxn>
            </a:cxnLst>
            <a:rect l="l" t="t" r="r" b="b"/>
            <a:pathLst>
              <a:path w="1478845" h="993422">
                <a:moveTo>
                  <a:pt x="0" y="993422"/>
                </a:moveTo>
                <a:cubicBezTo>
                  <a:pt x="390407" y="940740"/>
                  <a:pt x="780815" y="888059"/>
                  <a:pt x="1027289" y="722489"/>
                </a:cubicBezTo>
                <a:cubicBezTo>
                  <a:pt x="1273763" y="556919"/>
                  <a:pt x="1478845" y="0"/>
                  <a:pt x="1478845" y="0"/>
                </a:cubicBezTo>
                <a:lnTo>
                  <a:pt x="1478845" y="0"/>
                </a:lnTo>
              </a:path>
            </a:pathLst>
          </a:cu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任意形状 4">
            <a:extLst>
              <a:ext uri="{FF2B5EF4-FFF2-40B4-BE49-F238E27FC236}">
                <a16:creationId xmlns:a16="http://schemas.microsoft.com/office/drawing/2014/main" id="{21D4421F-D8F5-163D-4EA6-54D074756FE8}"/>
              </a:ext>
            </a:extLst>
          </p:cNvPr>
          <p:cNvSpPr/>
          <p:nvPr/>
        </p:nvSpPr>
        <p:spPr>
          <a:xfrm>
            <a:off x="1696024" y="1053069"/>
            <a:ext cx="1236575" cy="1337734"/>
          </a:xfrm>
          <a:custGeom>
            <a:avLst/>
            <a:gdLst>
              <a:gd name="connsiteX0" fmla="*/ 0 w 1433689"/>
              <a:gd name="connsiteY0" fmla="*/ 0 h 1337734"/>
              <a:gd name="connsiteX1" fmla="*/ 519289 w 1433689"/>
              <a:gd name="connsiteY1" fmla="*/ 942623 h 1337734"/>
              <a:gd name="connsiteX2" fmla="*/ 1433689 w 1433689"/>
              <a:gd name="connsiteY2" fmla="*/ 1337734 h 1337734"/>
            </a:gdLst>
            <a:ahLst/>
            <a:cxnLst>
              <a:cxn ang="0">
                <a:pos x="connsiteX0" y="connsiteY0"/>
              </a:cxn>
              <a:cxn ang="0">
                <a:pos x="connsiteX1" y="connsiteY1"/>
              </a:cxn>
              <a:cxn ang="0">
                <a:pos x="connsiteX2" y="connsiteY2"/>
              </a:cxn>
            </a:cxnLst>
            <a:rect l="l" t="t" r="r" b="b"/>
            <a:pathLst>
              <a:path w="1433689" h="1337734">
                <a:moveTo>
                  <a:pt x="0" y="0"/>
                </a:moveTo>
                <a:cubicBezTo>
                  <a:pt x="140170" y="359833"/>
                  <a:pt x="280341" y="719667"/>
                  <a:pt x="519289" y="942623"/>
                </a:cubicBezTo>
                <a:cubicBezTo>
                  <a:pt x="758237" y="1165579"/>
                  <a:pt x="1095963" y="1251656"/>
                  <a:pt x="1433689" y="1337734"/>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B06D1B54-6216-B6EB-7D3E-EAAFCEACBF2A}"/>
              </a:ext>
            </a:extLst>
          </p:cNvPr>
          <p:cNvSpPr txBox="1"/>
          <p:nvPr/>
        </p:nvSpPr>
        <p:spPr>
          <a:xfrm>
            <a:off x="2222760" y="1309506"/>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10" name="文本框 9">
            <a:extLst>
              <a:ext uri="{FF2B5EF4-FFF2-40B4-BE49-F238E27FC236}">
                <a16:creationId xmlns:a16="http://schemas.microsoft.com/office/drawing/2014/main" id="{C712FF9C-5D7A-C896-00B0-49C7B9A03B8D}"/>
              </a:ext>
            </a:extLst>
          </p:cNvPr>
          <p:cNvSpPr txBox="1"/>
          <p:nvPr/>
        </p:nvSpPr>
        <p:spPr>
          <a:xfrm>
            <a:off x="2739541" y="1738214"/>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20" name="文本框 19">
            <a:extLst>
              <a:ext uri="{FF2B5EF4-FFF2-40B4-BE49-F238E27FC236}">
                <a16:creationId xmlns:a16="http://schemas.microsoft.com/office/drawing/2014/main" id="{8A21654A-CB64-E148-F8A7-60D68EBB8BBD}"/>
              </a:ext>
            </a:extLst>
          </p:cNvPr>
          <p:cNvSpPr txBox="1"/>
          <p:nvPr/>
        </p:nvSpPr>
        <p:spPr>
          <a:xfrm>
            <a:off x="2283444" y="2244956"/>
            <a:ext cx="268022" cy="230832"/>
          </a:xfrm>
          <a:prstGeom prst="rect">
            <a:avLst/>
          </a:prstGeom>
          <a:noFill/>
        </p:spPr>
        <p:txBody>
          <a:bodyPr wrap="none" rtlCol="0">
            <a:spAutoFit/>
          </a:bodyPr>
          <a:lstStyle/>
          <a:p>
            <a:r>
              <a:rPr kumimoji="1" lang="en-US" altLang="zh-CN" sz="900" dirty="0"/>
              <a:t>D</a:t>
            </a:r>
            <a:endParaRPr kumimoji="1" lang="zh-CN" altLang="en-US" sz="900" dirty="0"/>
          </a:p>
        </p:txBody>
      </p:sp>
      <p:sp>
        <p:nvSpPr>
          <p:cNvPr id="22" name="椭圆 21">
            <a:extLst>
              <a:ext uri="{FF2B5EF4-FFF2-40B4-BE49-F238E27FC236}">
                <a16:creationId xmlns:a16="http://schemas.microsoft.com/office/drawing/2014/main" id="{20B03D56-56D0-D7D0-AB25-05734185AD6D}"/>
              </a:ext>
            </a:extLst>
          </p:cNvPr>
          <p:cNvSpPr/>
          <p:nvPr/>
        </p:nvSpPr>
        <p:spPr>
          <a:xfrm>
            <a:off x="1790894" y="1903399"/>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a:extLst>
              <a:ext uri="{FF2B5EF4-FFF2-40B4-BE49-F238E27FC236}">
                <a16:creationId xmlns:a16="http://schemas.microsoft.com/office/drawing/2014/main" id="{B5B56685-6322-EE0C-12EB-477F45E1879A}"/>
              </a:ext>
            </a:extLst>
          </p:cNvPr>
          <p:cNvSpPr/>
          <p:nvPr/>
        </p:nvSpPr>
        <p:spPr>
          <a:xfrm>
            <a:off x="2330706" y="151706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a:extLst>
              <a:ext uri="{FF2B5EF4-FFF2-40B4-BE49-F238E27FC236}">
                <a16:creationId xmlns:a16="http://schemas.microsoft.com/office/drawing/2014/main" id="{93EAFB38-C8B1-37D0-0E3E-A88EDD3EB558}"/>
              </a:ext>
            </a:extLst>
          </p:cNvPr>
          <p:cNvSpPr/>
          <p:nvPr/>
        </p:nvSpPr>
        <p:spPr>
          <a:xfrm>
            <a:off x="2718862" y="183313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a:extLst>
              <a:ext uri="{FF2B5EF4-FFF2-40B4-BE49-F238E27FC236}">
                <a16:creationId xmlns:a16="http://schemas.microsoft.com/office/drawing/2014/main" id="{9A76975C-9A72-0821-2F7B-FE04ACF568CA}"/>
              </a:ext>
            </a:extLst>
          </p:cNvPr>
          <p:cNvSpPr/>
          <p:nvPr/>
        </p:nvSpPr>
        <p:spPr>
          <a:xfrm>
            <a:off x="2278517" y="2359911"/>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F55E2CA5-758F-CEAF-5CD4-49F364F32D9D}"/>
              </a:ext>
            </a:extLst>
          </p:cNvPr>
          <p:cNvSpPr/>
          <p:nvPr/>
        </p:nvSpPr>
        <p:spPr>
          <a:xfrm>
            <a:off x="2205537" y="2055611"/>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5" name="直线箭头连接符 34">
            <a:extLst>
              <a:ext uri="{FF2B5EF4-FFF2-40B4-BE49-F238E27FC236}">
                <a16:creationId xmlns:a16="http://schemas.microsoft.com/office/drawing/2014/main" id="{4F786ABC-DC82-DAF4-BBD7-32AE0747812C}"/>
              </a:ext>
            </a:extLst>
          </p:cNvPr>
          <p:cNvCxnSpPr>
            <a:cxnSpLocks/>
            <a:endCxn id="21" idx="2"/>
          </p:cNvCxnSpPr>
          <p:nvPr/>
        </p:nvCxnSpPr>
        <p:spPr>
          <a:xfrm flipV="1">
            <a:off x="1839904" y="2078471"/>
            <a:ext cx="365633" cy="1835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线箭头连接符 40">
            <a:extLst>
              <a:ext uri="{FF2B5EF4-FFF2-40B4-BE49-F238E27FC236}">
                <a16:creationId xmlns:a16="http://schemas.microsoft.com/office/drawing/2014/main" id="{0AD9F770-65DB-0536-811F-1AE4FF92530F}"/>
              </a:ext>
            </a:extLst>
          </p:cNvPr>
          <p:cNvCxnSpPr>
            <a:cxnSpLocks/>
            <a:endCxn id="21" idx="0"/>
          </p:cNvCxnSpPr>
          <p:nvPr/>
        </p:nvCxnSpPr>
        <p:spPr>
          <a:xfrm flipH="1">
            <a:off x="2228397" y="1646425"/>
            <a:ext cx="238260" cy="4091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线箭头连接符 42">
            <a:extLst>
              <a:ext uri="{FF2B5EF4-FFF2-40B4-BE49-F238E27FC236}">
                <a16:creationId xmlns:a16="http://schemas.microsoft.com/office/drawing/2014/main" id="{E7AB8E94-8702-167C-F159-F74E08EB6E9B}"/>
              </a:ext>
            </a:extLst>
          </p:cNvPr>
          <p:cNvCxnSpPr>
            <a:cxnSpLocks/>
          </p:cNvCxnSpPr>
          <p:nvPr/>
        </p:nvCxnSpPr>
        <p:spPr>
          <a:xfrm>
            <a:off x="2363048" y="1535243"/>
            <a:ext cx="134699" cy="942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文本框 32">
            <a:extLst>
              <a:ext uri="{FF2B5EF4-FFF2-40B4-BE49-F238E27FC236}">
                <a16:creationId xmlns:a16="http://schemas.microsoft.com/office/drawing/2014/main" id="{AD7E6E19-AF9D-F412-FE4E-932DCB33277A}"/>
              </a:ext>
            </a:extLst>
          </p:cNvPr>
          <p:cNvSpPr txBox="1"/>
          <p:nvPr/>
        </p:nvSpPr>
        <p:spPr>
          <a:xfrm>
            <a:off x="2065553" y="1799005"/>
            <a:ext cx="261610" cy="230832"/>
          </a:xfrm>
          <a:prstGeom prst="rect">
            <a:avLst/>
          </a:prstGeom>
          <a:noFill/>
        </p:spPr>
        <p:txBody>
          <a:bodyPr wrap="none" rtlCol="0">
            <a:spAutoFit/>
          </a:bodyPr>
          <a:lstStyle/>
          <a:p>
            <a:r>
              <a:rPr kumimoji="1" lang="en-US" altLang="zh-CN" sz="900" dirty="0"/>
              <a:t>E</a:t>
            </a:r>
            <a:endParaRPr kumimoji="1" lang="zh-CN" altLang="en-US" sz="900" dirty="0"/>
          </a:p>
        </p:txBody>
      </p:sp>
      <p:sp>
        <p:nvSpPr>
          <p:cNvPr id="34" name="文本框 33">
            <a:extLst>
              <a:ext uri="{FF2B5EF4-FFF2-40B4-BE49-F238E27FC236}">
                <a16:creationId xmlns:a16="http://schemas.microsoft.com/office/drawing/2014/main" id="{A931430B-8C05-C901-70D9-ECD28E8B7A5A}"/>
              </a:ext>
            </a:extLst>
          </p:cNvPr>
          <p:cNvSpPr txBox="1"/>
          <p:nvPr/>
        </p:nvSpPr>
        <p:spPr>
          <a:xfrm>
            <a:off x="1694578" y="2279280"/>
            <a:ext cx="255198" cy="230832"/>
          </a:xfrm>
          <a:prstGeom prst="rect">
            <a:avLst/>
          </a:prstGeom>
          <a:noFill/>
        </p:spPr>
        <p:txBody>
          <a:bodyPr wrap="none" rtlCol="0">
            <a:spAutoFit/>
          </a:bodyPr>
          <a:lstStyle/>
          <a:p>
            <a:r>
              <a:rPr kumimoji="1" lang="en-US" altLang="zh-CN" sz="900" dirty="0"/>
              <a:t>F</a:t>
            </a:r>
            <a:endParaRPr kumimoji="1" lang="zh-CN" altLang="en-US" sz="900" dirty="0"/>
          </a:p>
        </p:txBody>
      </p:sp>
      <p:sp>
        <p:nvSpPr>
          <p:cNvPr id="37" name="椭圆 36">
            <a:extLst>
              <a:ext uri="{FF2B5EF4-FFF2-40B4-BE49-F238E27FC236}">
                <a16:creationId xmlns:a16="http://schemas.microsoft.com/office/drawing/2014/main" id="{E6B14057-6E45-3970-A4A4-F9857CDBF654}"/>
              </a:ext>
            </a:extLst>
          </p:cNvPr>
          <p:cNvSpPr/>
          <p:nvPr/>
        </p:nvSpPr>
        <p:spPr>
          <a:xfrm>
            <a:off x="1794216" y="225782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a:extLst>
              <a:ext uri="{FF2B5EF4-FFF2-40B4-BE49-F238E27FC236}">
                <a16:creationId xmlns:a16="http://schemas.microsoft.com/office/drawing/2014/main" id="{10BAE402-626E-520D-9D31-10F31240FC9A}"/>
              </a:ext>
            </a:extLst>
          </p:cNvPr>
          <p:cNvSpPr txBox="1"/>
          <p:nvPr/>
        </p:nvSpPr>
        <p:spPr>
          <a:xfrm>
            <a:off x="143843" y="522615"/>
            <a:ext cx="4269145" cy="276999"/>
          </a:xfrm>
          <a:prstGeom prst="rect">
            <a:avLst/>
          </a:prstGeom>
          <a:noFill/>
        </p:spPr>
        <p:txBody>
          <a:bodyPr wrap="square">
            <a:spAutoFit/>
          </a:bodyPr>
          <a:lstStyle/>
          <a:p>
            <a:pPr indent="127000" algn="just"/>
            <a:r>
              <a:rPr lang="zh-CN" altLang="zh-CN" sz="1200" kern="100" dirty="0">
                <a:effectLst/>
                <a:latin typeface="宋体" panose="02010600030101010101" pitchFamily="2" charset="-122"/>
                <a:ea typeface="宋体" panose="02010600030101010101" pitchFamily="2" charset="-122"/>
                <a:cs typeface="Times New Roman" panose="02020603050405020304" pitchFamily="18" charset="0"/>
              </a:rPr>
              <a:t>先是货币市场</a:t>
            </a:r>
            <a:r>
              <a:rPr lang="zh-CN" altLang="en-US" sz="1200" kern="100" dirty="0">
                <a:effectLst/>
                <a:latin typeface="宋体" panose="02010600030101010101" pitchFamily="2" charset="-122"/>
                <a:ea typeface="宋体" panose="02010600030101010101" pitchFamily="2" charset="-122"/>
                <a:cs typeface="Times New Roman" panose="02020603050405020304" pitchFamily="18" charset="0"/>
              </a:rPr>
              <a:t>实现</a:t>
            </a:r>
            <a:r>
              <a:rPr lang="zh-CN" altLang="zh-CN" sz="1200" kern="100" dirty="0">
                <a:effectLst/>
                <a:latin typeface="宋体" panose="02010600030101010101" pitchFamily="2" charset="-122"/>
                <a:ea typeface="宋体" panose="02010600030101010101" pitchFamily="2" charset="-122"/>
                <a:cs typeface="Times New Roman" panose="02020603050405020304" pitchFamily="18" charset="0"/>
              </a:rPr>
              <a:t>瞬间均衡，然后商品市场逐渐均衡</a:t>
            </a:r>
          </a:p>
        </p:txBody>
      </p:sp>
    </p:spTree>
    <p:extLst>
      <p:ext uri="{BB962C8B-B14F-4D97-AF65-F5344CB8AC3E}">
        <p14:creationId xmlns:p14="http://schemas.microsoft.com/office/powerpoint/2010/main" val="408680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43731" y="710780"/>
                <a:ext cx="2135610" cy="1473450"/>
              </a:xfrm>
            </p:spPr>
            <p:txBody>
              <a:bodyPr/>
              <a:lstStyle/>
              <a:p>
                <a:r>
                  <a:rPr lang="zh-CN" altLang="en-US" dirty="0"/>
                  <a:t>当经济均衡</a:t>
                </a:r>
                <a14:m>
                  <m:oMath xmlns:m="http://schemas.openxmlformats.org/officeDocument/2006/math">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r>
                      <a:rPr lang="en-US" altLang="zh-CN" b="0" i="1" smtClean="0">
                        <a:latin typeface="Cambria Math" panose="02040503050406030204" pitchFamily="18" charset="0"/>
                      </a:rPr>
                      <m:t>)</m:t>
                    </m:r>
                  </m:oMath>
                </a14:m>
                <a:r>
                  <a:rPr lang="zh-CN" altLang="en-US" dirty="0"/>
                  <a:t>不是充分就业的均衡</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m:t>
                        </m:r>
                      </m:sup>
                    </m:sSup>
                  </m:oMath>
                </a14:m>
                <a:r>
                  <a:rPr lang="zh-CN" altLang="en-US" dirty="0"/>
                  <a:t>时，需要用</a:t>
                </a:r>
                <a:r>
                  <a:rPr lang="zh-CN" altLang="en-US" b="1" dirty="0"/>
                  <a:t>财政政策或货币政策</a:t>
                </a:r>
                <a:r>
                  <a:rPr lang="zh-CN" altLang="en-US" dirty="0"/>
                  <a:t>来加以调节。</a:t>
                </a:r>
                <a:endParaRPr lang="en-US" altLang="zh-CN" dirty="0"/>
              </a:p>
              <a:p>
                <a:r>
                  <a:rPr lang="zh-CN" altLang="en-US" b="1" dirty="0"/>
                  <a:t>财政政策</a:t>
                </a:r>
                <a:r>
                  <a:rPr lang="zh-CN" altLang="en-US" dirty="0"/>
                  <a:t>是指政府变动支出或税收来调节国民收入。</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43731" y="710780"/>
                <a:ext cx="2135610" cy="1473450"/>
              </a:xfrm>
              <a:blipFill>
                <a:blip r:embed="rId2"/>
                <a:stretch>
                  <a:fillRect l="-1775" t="-3448" b="-23276"/>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9A6A70E9-5AF2-46A2-A69D-69A93C626D50}"/>
              </a:ext>
            </a:extLst>
          </p:cNvPr>
          <p:cNvGrpSpPr/>
          <p:nvPr/>
        </p:nvGrpSpPr>
        <p:grpSpPr>
          <a:xfrm>
            <a:off x="2305050" y="922007"/>
            <a:ext cx="2017403" cy="1555559"/>
            <a:chOff x="4572000" y="1825625"/>
            <a:chExt cx="4001461" cy="3085406"/>
          </a:xfrm>
        </p:grpSpPr>
        <p:pic>
          <p:nvPicPr>
            <p:cNvPr id="7" name="Picture 4" descr="xf14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825625"/>
              <a:ext cx="4001461" cy="272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4996965" y="4450765"/>
              <a:ext cx="3151532" cy="460266"/>
            </a:xfrm>
            <a:prstGeom prst="rect">
              <a:avLst/>
            </a:prstGeom>
          </p:spPr>
          <p:txBody>
            <a:bodyPr wrap="none">
              <a:spAutoFit/>
            </a:bodyPr>
            <a:lstStyle/>
            <a:p>
              <a:pPr algn="ctr" eaLnBrk="1" hangingPunct="1">
                <a:spcBef>
                  <a:spcPct val="50000"/>
                </a:spcBef>
              </a:pPr>
              <a:r>
                <a:rPr lang="zh-CN" altLang="en-US" sz="908" b="1" dirty="0">
                  <a:latin typeface="KaiTi" panose="02010609060101010101" pitchFamily="49" charset="-122"/>
                  <a:ea typeface="KaiTi" panose="02010609060101010101" pitchFamily="49" charset="-122"/>
                </a:rPr>
                <a:t>均衡收入和均衡利率的变动</a:t>
              </a:r>
            </a:p>
          </p:txBody>
        </p:sp>
      </p:grpSp>
      <p:sp>
        <p:nvSpPr>
          <p:cNvPr id="10" name="矩形 9">
            <a:extLst>
              <a:ext uri="{FF2B5EF4-FFF2-40B4-BE49-F238E27FC236}">
                <a16:creationId xmlns:a16="http://schemas.microsoft.com/office/drawing/2014/main" id="{1E7F1A44-9EDA-47D8-AC5A-4A13EC12737B}"/>
              </a:ext>
            </a:extLst>
          </p:cNvPr>
          <p:cNvSpPr/>
          <p:nvPr/>
        </p:nvSpPr>
        <p:spPr>
          <a:xfrm>
            <a:off x="322837" y="2513573"/>
            <a:ext cx="3858004" cy="483466"/>
          </a:xfrm>
          <a:prstGeom prst="rect">
            <a:avLst/>
          </a:prstGeom>
        </p:spPr>
        <p:txBody>
          <a:bodyPr wrap="square">
            <a:spAutoFit/>
          </a:bodyPr>
          <a:lstStyle/>
          <a:p>
            <a:pPr marL="115260" indent="-115260">
              <a:lnSpc>
                <a:spcPct val="90000"/>
              </a:lnSpc>
              <a:spcBef>
                <a:spcPts val="504"/>
              </a:spcBef>
              <a:buFont typeface="Arial" panose="020B0604020202020204" pitchFamily="34" charset="0"/>
              <a:buChar char="•"/>
            </a:pPr>
            <a:r>
              <a:rPr lang="zh-CN" altLang="en-US" sz="1412" b="1" dirty="0">
                <a:latin typeface="Garamond" panose="02020404030301010803" pitchFamily="18" charset="0"/>
                <a:ea typeface="SimSun" panose="02010600030101010101" pitchFamily="2" charset="-122"/>
              </a:rPr>
              <a:t>货币政策</a:t>
            </a:r>
            <a:r>
              <a:rPr lang="zh-CN" altLang="en-US" sz="1412" dirty="0">
                <a:latin typeface="Garamond" panose="02020404030301010803" pitchFamily="18" charset="0"/>
                <a:ea typeface="SimSun" panose="02010600030101010101" pitchFamily="2" charset="-122"/>
              </a:rPr>
              <a:t>是指政府货币当局（中央银行）用变动货币供给量的方法来改变利率和收入。</a:t>
            </a: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72</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5" name="标题 1">
            <a:extLst>
              <a:ext uri="{FF2B5EF4-FFF2-40B4-BE49-F238E27FC236}">
                <a16:creationId xmlns:a16="http://schemas.microsoft.com/office/drawing/2014/main" id="{4CB7B4C1-46CC-4526-CBA6-2B34C682576D}"/>
              </a:ext>
            </a:extLst>
          </p:cNvPr>
          <p:cNvSpPr>
            <a:spLocks noGrp="1"/>
          </p:cNvSpPr>
          <p:nvPr>
            <p:ph type="title"/>
          </p:nvPr>
        </p:nvSpPr>
        <p:spPr>
          <a:xfrm>
            <a:off x="172879" y="127376"/>
            <a:ext cx="4240332" cy="615857"/>
          </a:xfrm>
        </p:spPr>
        <p:txBody>
          <a:bodyPr/>
          <a:lstStyle/>
          <a:p>
            <a:r>
              <a:rPr kumimoji="1" lang="zh-CN" altLang="en-US" dirty="0"/>
              <a:t>均衡的变化与经济波动</a:t>
            </a:r>
            <a:endParaRPr lang="zh-CN" altLang="en-US" dirty="0"/>
          </a:p>
        </p:txBody>
      </p:sp>
    </p:spTree>
    <p:extLst>
      <p:ext uri="{BB962C8B-B14F-4D97-AF65-F5344CB8AC3E}">
        <p14:creationId xmlns:p14="http://schemas.microsoft.com/office/powerpoint/2010/main" val="30661760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2282" y="938287"/>
            <a:ext cx="4005535" cy="1473450"/>
          </a:xfrm>
        </p:spPr>
        <p:txBody>
          <a:bodyPr/>
          <a:lstStyle/>
          <a:p>
            <a:r>
              <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rPr>
              <a:t>自发支出</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的变化</a:t>
            </a:r>
            <a:r>
              <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rPr>
              <a:t>影响宏观经济的机制</a:t>
            </a: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73</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5" name="标题 1">
            <a:extLst>
              <a:ext uri="{FF2B5EF4-FFF2-40B4-BE49-F238E27FC236}">
                <a16:creationId xmlns:a16="http://schemas.microsoft.com/office/drawing/2014/main" id="{4CB7B4C1-46CC-4526-CBA6-2B34C682576D}"/>
              </a:ext>
            </a:extLst>
          </p:cNvPr>
          <p:cNvSpPr>
            <a:spLocks noGrp="1"/>
          </p:cNvSpPr>
          <p:nvPr>
            <p:ph type="title"/>
          </p:nvPr>
        </p:nvSpPr>
        <p:spPr>
          <a:xfrm>
            <a:off x="172879" y="127376"/>
            <a:ext cx="4240332" cy="615857"/>
          </a:xfrm>
        </p:spPr>
        <p:txBody>
          <a:bodyPr/>
          <a:lstStyle/>
          <a:p>
            <a:r>
              <a:rPr kumimoji="1" lang="zh-CN" altLang="en-US" dirty="0"/>
              <a:t>均衡的变化与经济波动：</a:t>
            </a:r>
            <a:br>
              <a:rPr kumimoji="1" lang="en-US" altLang="zh-CN" dirty="0"/>
            </a:br>
            <a:r>
              <a:rPr kumimoji="1" lang="en-US" altLang="zh-CN" dirty="0"/>
              <a:t>IS</a:t>
            </a:r>
            <a:r>
              <a:rPr kumimoji="1" lang="zh-CN" altLang="en-US" dirty="0"/>
              <a:t>曲线方面的冲击（财政政策）</a:t>
            </a:r>
            <a:endParaRPr lang="zh-CN" altLang="en-US" dirty="0"/>
          </a:p>
        </p:txBody>
      </p:sp>
      <p:pic>
        <p:nvPicPr>
          <p:cNvPr id="2" name="图片 1" descr="图片包含 图示&#10;&#10;描述已自动生成">
            <a:extLst>
              <a:ext uri="{FF2B5EF4-FFF2-40B4-BE49-F238E27FC236}">
                <a16:creationId xmlns:a16="http://schemas.microsoft.com/office/drawing/2014/main" id="{13C7C9E7-37A4-9D59-EF1C-DD9A281B10CA}"/>
              </a:ext>
            </a:extLst>
          </p:cNvPr>
          <p:cNvPicPr>
            <a:picLocks noChangeAspect="1"/>
          </p:cNvPicPr>
          <p:nvPr/>
        </p:nvPicPr>
        <p:blipFill>
          <a:blip r:embed="rId2"/>
          <a:stretch>
            <a:fillRect/>
          </a:stretch>
        </p:blipFill>
        <p:spPr>
          <a:xfrm>
            <a:off x="419387" y="1282264"/>
            <a:ext cx="3496945" cy="785495"/>
          </a:xfrm>
          <a:prstGeom prst="rect">
            <a:avLst/>
          </a:prstGeom>
        </p:spPr>
      </p:pic>
    </p:spTree>
    <p:extLst>
      <p:ext uri="{BB962C8B-B14F-4D97-AF65-F5344CB8AC3E}">
        <p14:creationId xmlns:p14="http://schemas.microsoft.com/office/powerpoint/2010/main" val="24178440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直线连接符 36">
            <a:extLst>
              <a:ext uri="{FF2B5EF4-FFF2-40B4-BE49-F238E27FC236}">
                <a16:creationId xmlns:a16="http://schemas.microsoft.com/office/drawing/2014/main" id="{DAC92D72-AC6D-B72F-CDC9-CC4EDE689CC1}"/>
              </a:ext>
            </a:extLst>
          </p:cNvPr>
          <p:cNvCxnSpPr>
            <a:cxnSpLocks/>
          </p:cNvCxnSpPr>
          <p:nvPr/>
        </p:nvCxnSpPr>
        <p:spPr>
          <a:xfrm>
            <a:off x="1796500" y="1672693"/>
            <a:ext cx="14215" cy="98279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4" name="直线连接符 33">
            <a:extLst>
              <a:ext uri="{FF2B5EF4-FFF2-40B4-BE49-F238E27FC236}">
                <a16:creationId xmlns:a16="http://schemas.microsoft.com/office/drawing/2014/main" id="{67B72157-3C16-722E-3F00-3AAD0423BCA1}"/>
              </a:ext>
            </a:extLst>
          </p:cNvPr>
          <p:cNvCxnSpPr>
            <a:cxnSpLocks/>
            <a:endCxn id="33" idx="0"/>
          </p:cNvCxnSpPr>
          <p:nvPr/>
        </p:nvCxnSpPr>
        <p:spPr>
          <a:xfrm>
            <a:off x="1187953" y="1923254"/>
            <a:ext cx="89545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0" name="直线连接符 39">
            <a:extLst>
              <a:ext uri="{FF2B5EF4-FFF2-40B4-BE49-F238E27FC236}">
                <a16:creationId xmlns:a16="http://schemas.microsoft.com/office/drawing/2014/main" id="{49DED8F6-FFCC-CFFE-A878-507D1E1B4F0C}"/>
              </a:ext>
            </a:extLst>
          </p:cNvPr>
          <p:cNvCxnSpPr>
            <a:cxnSpLocks/>
          </p:cNvCxnSpPr>
          <p:nvPr/>
        </p:nvCxnSpPr>
        <p:spPr>
          <a:xfrm>
            <a:off x="2077727" y="1672693"/>
            <a:ext cx="14215" cy="98279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 name="内容占位符 2"/>
          <p:cNvSpPr>
            <a:spLocks noGrp="1"/>
          </p:cNvSpPr>
          <p:nvPr>
            <p:ph idx="1"/>
          </p:nvPr>
        </p:nvSpPr>
        <p:spPr>
          <a:xfrm>
            <a:off x="243730" y="710780"/>
            <a:ext cx="4005535" cy="1473450"/>
          </a:xfrm>
        </p:spPr>
        <p:txBody>
          <a:bodyPr/>
          <a:lstStyle/>
          <a:p>
            <a:r>
              <a:rPr lang="zh-CN" altLang="zh-CN" sz="1400" dirty="0">
                <a:effectLst/>
                <a:ea typeface="宋体" panose="02010600030101010101" pitchFamily="2" charset="-122"/>
                <a:cs typeface="Times New Roman" panose="02020603050405020304" pitchFamily="18" charset="0"/>
              </a:rPr>
              <a:t>私人投资减少对经济带来的冲击</a:t>
            </a:r>
            <a:r>
              <a:rPr lang="zh-CN" altLang="zh-CN" sz="1400" dirty="0">
                <a:effectLst/>
              </a:rPr>
              <a:t> </a:t>
            </a:r>
            <a:endPar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74</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5" name="标题 1">
            <a:extLst>
              <a:ext uri="{FF2B5EF4-FFF2-40B4-BE49-F238E27FC236}">
                <a16:creationId xmlns:a16="http://schemas.microsoft.com/office/drawing/2014/main" id="{4CB7B4C1-46CC-4526-CBA6-2B34C682576D}"/>
              </a:ext>
            </a:extLst>
          </p:cNvPr>
          <p:cNvSpPr>
            <a:spLocks noGrp="1"/>
          </p:cNvSpPr>
          <p:nvPr>
            <p:ph type="title"/>
          </p:nvPr>
        </p:nvSpPr>
        <p:spPr>
          <a:xfrm>
            <a:off x="172879" y="127376"/>
            <a:ext cx="4240332" cy="615857"/>
          </a:xfrm>
        </p:spPr>
        <p:txBody>
          <a:bodyPr/>
          <a:lstStyle/>
          <a:p>
            <a:r>
              <a:rPr kumimoji="1" lang="zh-CN" altLang="en-US" dirty="0"/>
              <a:t>均衡的变化与经济波动：</a:t>
            </a:r>
            <a:r>
              <a:rPr kumimoji="1" lang="en-US" altLang="zh-CN" dirty="0"/>
              <a:t>IS</a:t>
            </a:r>
            <a:r>
              <a:rPr kumimoji="1" lang="zh-CN" altLang="en-US" dirty="0"/>
              <a:t>曲线</a:t>
            </a:r>
            <a:endParaRPr lang="zh-CN" altLang="en-US" dirty="0"/>
          </a:p>
        </p:txBody>
      </p:sp>
      <p:cxnSp>
        <p:nvCxnSpPr>
          <p:cNvPr id="7" name="直线连接符 6">
            <a:extLst>
              <a:ext uri="{FF2B5EF4-FFF2-40B4-BE49-F238E27FC236}">
                <a16:creationId xmlns:a16="http://schemas.microsoft.com/office/drawing/2014/main" id="{DF47AFA9-70AE-B114-B967-A559B1462038}"/>
              </a:ext>
            </a:extLst>
          </p:cNvPr>
          <p:cNvCxnSpPr>
            <a:cxnSpLocks/>
          </p:cNvCxnSpPr>
          <p:nvPr/>
        </p:nvCxnSpPr>
        <p:spPr>
          <a:xfrm flipH="1" flipV="1">
            <a:off x="1839033" y="1250423"/>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CDB2C827-50BD-3076-1529-364E07140274}"/>
              </a:ext>
            </a:extLst>
          </p:cNvPr>
          <p:cNvSpPr/>
          <p:nvPr/>
        </p:nvSpPr>
        <p:spPr>
          <a:xfrm>
            <a:off x="1020392" y="2733627"/>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产品市场和货币市场的一般均衡</a:t>
            </a:r>
          </a:p>
        </p:txBody>
      </p:sp>
      <p:cxnSp>
        <p:nvCxnSpPr>
          <p:cNvPr id="9" name="直线箭头连接符 8">
            <a:extLst>
              <a:ext uri="{FF2B5EF4-FFF2-40B4-BE49-F238E27FC236}">
                <a16:creationId xmlns:a16="http://schemas.microsoft.com/office/drawing/2014/main" id="{C30BBA18-099C-E0AB-4ABB-A25AD8D814A6}"/>
              </a:ext>
            </a:extLst>
          </p:cNvPr>
          <p:cNvCxnSpPr>
            <a:cxnSpLocks/>
          </p:cNvCxnSpPr>
          <p:nvPr/>
        </p:nvCxnSpPr>
        <p:spPr>
          <a:xfrm>
            <a:off x="1184188" y="2631397"/>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线箭头连接符 9">
            <a:extLst>
              <a:ext uri="{FF2B5EF4-FFF2-40B4-BE49-F238E27FC236}">
                <a16:creationId xmlns:a16="http://schemas.microsoft.com/office/drawing/2014/main" id="{DA4DB0D0-6F75-AC0E-382A-B92B08FC9D4D}"/>
              </a:ext>
            </a:extLst>
          </p:cNvPr>
          <p:cNvCxnSpPr/>
          <p:nvPr/>
        </p:nvCxnSpPr>
        <p:spPr>
          <a:xfrm flipV="1">
            <a:off x="1184188" y="986729"/>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连接符 11">
            <a:extLst>
              <a:ext uri="{FF2B5EF4-FFF2-40B4-BE49-F238E27FC236}">
                <a16:creationId xmlns:a16="http://schemas.microsoft.com/office/drawing/2014/main" id="{D20A2EDA-9137-FBD3-E96C-D8BCD60ADA0D}"/>
              </a:ext>
            </a:extLst>
          </p:cNvPr>
          <p:cNvCxnSpPr>
            <a:cxnSpLocks/>
          </p:cNvCxnSpPr>
          <p:nvPr/>
        </p:nvCxnSpPr>
        <p:spPr>
          <a:xfrm flipH="1">
            <a:off x="1584699" y="1185960"/>
            <a:ext cx="1237557" cy="123747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C6FDFDA-F02B-7203-91D8-219DFCD141FB}"/>
                  </a:ext>
                </a:extLst>
              </p:cNvPr>
              <p:cNvSpPr txBox="1"/>
              <p:nvPr/>
            </p:nvSpPr>
            <p:spPr>
              <a:xfrm>
                <a:off x="2728577" y="1036667"/>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3" name="文本框 12">
                <a:extLst>
                  <a:ext uri="{FF2B5EF4-FFF2-40B4-BE49-F238E27FC236}">
                    <a16:creationId xmlns:a16="http://schemas.microsoft.com/office/drawing/2014/main" id="{FC6FDFDA-F02B-7203-91D8-219DFCD141FB}"/>
                  </a:ext>
                </a:extLst>
              </p:cNvPr>
              <p:cNvSpPr txBox="1">
                <a:spLocks noRot="1" noChangeAspect="1" noMove="1" noResize="1" noEditPoints="1" noAdjustHandles="1" noChangeArrowheads="1" noChangeShapeType="1" noTextEdit="1"/>
              </p:cNvSpPr>
              <p:nvPr/>
            </p:nvSpPr>
            <p:spPr>
              <a:xfrm>
                <a:off x="2728577" y="1036667"/>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53A4E428-9958-F722-5505-9F54E7E60A8C}"/>
              </a:ext>
            </a:extLst>
          </p:cNvPr>
          <p:cNvSpPr txBox="1"/>
          <p:nvPr/>
        </p:nvSpPr>
        <p:spPr>
          <a:xfrm>
            <a:off x="922578" y="852001"/>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56A82C4-8E6A-20EC-7005-5FAE9F34CB3E}"/>
                  </a:ext>
                </a:extLst>
              </p:cNvPr>
              <p:cNvSpPr txBox="1"/>
              <p:nvPr/>
            </p:nvSpPr>
            <p:spPr>
              <a:xfrm>
                <a:off x="3464819" y="2488769"/>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5" name="文本框 14">
                <a:extLst>
                  <a:ext uri="{FF2B5EF4-FFF2-40B4-BE49-F238E27FC236}">
                    <a16:creationId xmlns:a16="http://schemas.microsoft.com/office/drawing/2014/main" id="{F56A82C4-8E6A-20EC-7005-5FAE9F34CB3E}"/>
                  </a:ext>
                </a:extLst>
              </p:cNvPr>
              <p:cNvSpPr txBox="1">
                <a:spLocks noRot="1" noChangeAspect="1" noMove="1" noResize="1" noEditPoints="1" noAdjustHandles="1" noChangeArrowheads="1" noChangeShapeType="1" noTextEdit="1"/>
              </p:cNvSpPr>
              <p:nvPr/>
            </p:nvSpPr>
            <p:spPr>
              <a:xfrm>
                <a:off x="3464819" y="2488769"/>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6" name="直线连接符 15">
            <a:extLst>
              <a:ext uri="{FF2B5EF4-FFF2-40B4-BE49-F238E27FC236}">
                <a16:creationId xmlns:a16="http://schemas.microsoft.com/office/drawing/2014/main" id="{D5FDC72F-D50A-C89F-F733-A09B0C18ADFF}"/>
              </a:ext>
            </a:extLst>
          </p:cNvPr>
          <p:cNvCxnSpPr>
            <a:cxnSpLocks/>
            <a:stCxn id="19" idx="0"/>
          </p:cNvCxnSpPr>
          <p:nvPr/>
        </p:nvCxnSpPr>
        <p:spPr>
          <a:xfrm>
            <a:off x="2332352" y="1644167"/>
            <a:ext cx="14215" cy="98279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7" name="直线连接符 16">
            <a:extLst>
              <a:ext uri="{FF2B5EF4-FFF2-40B4-BE49-F238E27FC236}">
                <a16:creationId xmlns:a16="http://schemas.microsoft.com/office/drawing/2014/main" id="{2FEA64E6-F561-8DC0-6639-DC641AD7631E}"/>
              </a:ext>
            </a:extLst>
          </p:cNvPr>
          <p:cNvCxnSpPr>
            <a:cxnSpLocks/>
            <a:endCxn id="19" idx="6"/>
          </p:cNvCxnSpPr>
          <p:nvPr/>
        </p:nvCxnSpPr>
        <p:spPr>
          <a:xfrm>
            <a:off x="1177207" y="1667027"/>
            <a:ext cx="1178004"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9" name="椭圆 18">
            <a:extLst>
              <a:ext uri="{FF2B5EF4-FFF2-40B4-BE49-F238E27FC236}">
                <a16:creationId xmlns:a16="http://schemas.microsoft.com/office/drawing/2014/main" id="{6065A320-CB02-452F-814D-79A434A78473}"/>
              </a:ext>
            </a:extLst>
          </p:cNvPr>
          <p:cNvSpPr/>
          <p:nvPr/>
        </p:nvSpPr>
        <p:spPr>
          <a:xfrm>
            <a:off x="2309492" y="1644167"/>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C5B40C92-E915-9A5C-6345-180E31376EAB}"/>
              </a:ext>
            </a:extLst>
          </p:cNvPr>
          <p:cNvSpPr txBox="1"/>
          <p:nvPr/>
        </p:nvSpPr>
        <p:spPr>
          <a:xfrm>
            <a:off x="2333460" y="1556764"/>
            <a:ext cx="261610"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C1EC9ADD-7095-6030-1538-80A9F721738B}"/>
                  </a:ext>
                </a:extLst>
              </p:cNvPr>
              <p:cNvSpPr txBox="1"/>
              <p:nvPr/>
            </p:nvSpPr>
            <p:spPr>
              <a:xfrm>
                <a:off x="879957" y="1772024"/>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1" name="文本框 20">
                <a:extLst>
                  <a:ext uri="{FF2B5EF4-FFF2-40B4-BE49-F238E27FC236}">
                    <a16:creationId xmlns:a16="http://schemas.microsoft.com/office/drawing/2014/main" id="{C1EC9ADD-7095-6030-1538-80A9F721738B}"/>
                  </a:ext>
                </a:extLst>
              </p:cNvPr>
              <p:cNvSpPr txBox="1">
                <a:spLocks noRot="1" noChangeAspect="1" noMove="1" noResize="1" noEditPoints="1" noAdjustHandles="1" noChangeArrowheads="1" noChangeShapeType="1" noTextEdit="1"/>
              </p:cNvSpPr>
              <p:nvPr/>
            </p:nvSpPr>
            <p:spPr>
              <a:xfrm>
                <a:off x="879957" y="1772024"/>
                <a:ext cx="353302" cy="276999"/>
              </a:xfrm>
              <a:prstGeom prst="rect">
                <a:avLst/>
              </a:prstGeom>
              <a:blipFill>
                <a:blip r:embed="rId4"/>
                <a:stretch>
                  <a:fillRect/>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CD7FF2E8-2554-8140-4857-AE9F1EE8471D}"/>
              </a:ext>
            </a:extLst>
          </p:cNvPr>
          <p:cNvSpPr txBox="1"/>
          <p:nvPr/>
        </p:nvSpPr>
        <p:spPr>
          <a:xfrm>
            <a:off x="2773121" y="2280290"/>
            <a:ext cx="330540" cy="276999"/>
          </a:xfrm>
          <a:prstGeom prst="rect">
            <a:avLst/>
          </a:prstGeom>
          <a:noFill/>
        </p:spPr>
        <p:txBody>
          <a:bodyPr wrap="none" rtlCol="0">
            <a:spAutoFit/>
          </a:bodyPr>
          <a:lstStyle/>
          <a:p>
            <a:r>
              <a:rPr kumimoji="1" lang="en-US" altLang="zh-CN" sz="1200" dirty="0"/>
              <a:t>IS</a:t>
            </a:r>
            <a:endParaRPr kumimoji="1" lang="zh-CN" altLang="en-US" sz="1200" dirty="0"/>
          </a:p>
        </p:txBody>
      </p:sp>
      <p:cxnSp>
        <p:nvCxnSpPr>
          <p:cNvPr id="25" name="直线连接符 24">
            <a:extLst>
              <a:ext uri="{FF2B5EF4-FFF2-40B4-BE49-F238E27FC236}">
                <a16:creationId xmlns:a16="http://schemas.microsoft.com/office/drawing/2014/main" id="{A02F299F-D5DC-3ED0-7EB8-02AF364BE9D9}"/>
              </a:ext>
            </a:extLst>
          </p:cNvPr>
          <p:cNvCxnSpPr>
            <a:cxnSpLocks/>
          </p:cNvCxnSpPr>
          <p:nvPr/>
        </p:nvCxnSpPr>
        <p:spPr>
          <a:xfrm flipH="1" flipV="1">
            <a:off x="1341153" y="1256175"/>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2B350FF1-8CD3-FA3A-96C1-01C7A432B5AB}"/>
              </a:ext>
            </a:extLst>
          </p:cNvPr>
          <p:cNvCxnSpPr/>
          <p:nvPr/>
        </p:nvCxnSpPr>
        <p:spPr>
          <a:xfrm flipH="1">
            <a:off x="2385815" y="2092092"/>
            <a:ext cx="2725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椭圆 29">
            <a:extLst>
              <a:ext uri="{FF2B5EF4-FFF2-40B4-BE49-F238E27FC236}">
                <a16:creationId xmlns:a16="http://schemas.microsoft.com/office/drawing/2014/main" id="{13E82AF8-4629-3313-1147-A83CDF6BCC9F}"/>
              </a:ext>
            </a:extLst>
          </p:cNvPr>
          <p:cNvSpPr/>
          <p:nvPr/>
        </p:nvSpPr>
        <p:spPr>
          <a:xfrm>
            <a:off x="1776955" y="164608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C258695A-7518-74DA-8A33-DB812C5FF1A2}"/>
              </a:ext>
            </a:extLst>
          </p:cNvPr>
          <p:cNvSpPr/>
          <p:nvPr/>
        </p:nvSpPr>
        <p:spPr>
          <a:xfrm>
            <a:off x="2060989" y="1902769"/>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框 31">
            <a:extLst>
              <a:ext uri="{FF2B5EF4-FFF2-40B4-BE49-F238E27FC236}">
                <a16:creationId xmlns:a16="http://schemas.microsoft.com/office/drawing/2014/main" id="{E89287FD-707E-EB12-1243-F04F498D7DBD}"/>
              </a:ext>
            </a:extLst>
          </p:cNvPr>
          <p:cNvSpPr txBox="1"/>
          <p:nvPr/>
        </p:nvSpPr>
        <p:spPr>
          <a:xfrm>
            <a:off x="1681848" y="1460350"/>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33" name="文本框 32">
            <a:extLst>
              <a:ext uri="{FF2B5EF4-FFF2-40B4-BE49-F238E27FC236}">
                <a16:creationId xmlns:a16="http://schemas.microsoft.com/office/drawing/2014/main" id="{30B6F797-78A7-6F50-D29B-E51D33702F27}"/>
              </a:ext>
            </a:extLst>
          </p:cNvPr>
          <p:cNvSpPr txBox="1"/>
          <p:nvPr/>
        </p:nvSpPr>
        <p:spPr>
          <a:xfrm>
            <a:off x="1955813" y="1923254"/>
            <a:ext cx="255198" cy="230832"/>
          </a:xfrm>
          <a:prstGeom prst="rect">
            <a:avLst/>
          </a:prstGeom>
          <a:noFill/>
        </p:spPr>
        <p:txBody>
          <a:bodyPr wrap="none" rtlCol="0">
            <a:spAutoFit/>
          </a:bodyPr>
          <a:lstStyle/>
          <a:p>
            <a:r>
              <a:rPr kumimoji="1" lang="en-US" altLang="zh-CN" sz="900" dirty="0"/>
              <a:t>F</a:t>
            </a:r>
            <a:endParaRPr kumimoji="1" lang="zh-CN" altLang="en-US" sz="900" dirty="0"/>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06E5ACBC-11CA-57A8-9610-4A1EB3E819BD}"/>
                  </a:ext>
                </a:extLst>
              </p:cNvPr>
              <p:cNvSpPr txBox="1"/>
              <p:nvPr/>
            </p:nvSpPr>
            <p:spPr>
              <a:xfrm>
                <a:off x="901992" y="1507600"/>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36" name="文本框 35">
                <a:extLst>
                  <a:ext uri="{FF2B5EF4-FFF2-40B4-BE49-F238E27FC236}">
                    <a16:creationId xmlns:a16="http://schemas.microsoft.com/office/drawing/2014/main" id="{06E5ACBC-11CA-57A8-9610-4A1EB3E819BD}"/>
                  </a:ext>
                </a:extLst>
              </p:cNvPr>
              <p:cNvSpPr txBox="1">
                <a:spLocks noRot="1" noChangeAspect="1" noMove="1" noResize="1" noEditPoints="1" noAdjustHandles="1" noChangeArrowheads="1" noChangeShapeType="1" noTextEdit="1"/>
              </p:cNvSpPr>
              <p:nvPr/>
            </p:nvSpPr>
            <p:spPr>
              <a:xfrm>
                <a:off x="901992" y="1507600"/>
                <a:ext cx="356893" cy="27699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E6973F6-C13F-28C8-CEE1-8A9D55F33392}"/>
                  </a:ext>
                </a:extLst>
              </p:cNvPr>
              <p:cNvSpPr txBox="1"/>
              <p:nvPr/>
            </p:nvSpPr>
            <p:spPr>
              <a:xfrm>
                <a:off x="2476660" y="2103369"/>
                <a:ext cx="179216"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1100" i="1" smtClean="0">
                          <a:latin typeface="Cambria Math" panose="02040503050406030204" pitchFamily="18" charset="0"/>
                        </a:rPr>
                        <m:t>∆</m:t>
                      </m:r>
                      <m:r>
                        <a:rPr kumimoji="1" lang="en-US" altLang="zh-CN" sz="1100" b="0" i="1" smtClean="0">
                          <a:latin typeface="Cambria Math" panose="02040503050406030204" pitchFamily="18" charset="0"/>
                        </a:rPr>
                        <m:t>𝐼</m:t>
                      </m:r>
                    </m:oMath>
                  </m:oMathPara>
                </a14:m>
                <a:endParaRPr kumimoji="1" lang="zh-CN" altLang="en-US" sz="1100" dirty="0"/>
              </a:p>
            </p:txBody>
          </p:sp>
        </mc:Choice>
        <mc:Fallback xmlns="">
          <p:sp>
            <p:nvSpPr>
              <p:cNvPr id="41" name="文本框 40">
                <a:extLst>
                  <a:ext uri="{FF2B5EF4-FFF2-40B4-BE49-F238E27FC236}">
                    <a16:creationId xmlns:a16="http://schemas.microsoft.com/office/drawing/2014/main" id="{2E6973F6-C13F-28C8-CEE1-8A9D55F33392}"/>
                  </a:ext>
                </a:extLst>
              </p:cNvPr>
              <p:cNvSpPr txBox="1">
                <a:spLocks noRot="1" noChangeAspect="1" noMove="1" noResize="1" noEditPoints="1" noAdjustHandles="1" noChangeArrowheads="1" noChangeShapeType="1" noTextEdit="1"/>
              </p:cNvSpPr>
              <p:nvPr/>
            </p:nvSpPr>
            <p:spPr>
              <a:xfrm>
                <a:off x="2476660" y="2103369"/>
                <a:ext cx="179216" cy="169277"/>
              </a:xfrm>
              <a:prstGeom prst="rect">
                <a:avLst/>
              </a:prstGeom>
              <a:blipFill>
                <a:blip r:embed="rId6"/>
                <a:stretch>
                  <a:fillRect l="-12500" r="-6250"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1E0096BA-EC2D-5C4C-758E-63ACD49DACC2}"/>
                  </a:ext>
                </a:extLst>
              </p:cNvPr>
              <p:cNvSpPr txBox="1"/>
              <p:nvPr/>
            </p:nvSpPr>
            <p:spPr>
              <a:xfrm>
                <a:off x="1563314" y="1263044"/>
                <a:ext cx="329616" cy="2024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700" i="1" smtClean="0">
                              <a:latin typeface="Cambria Math" panose="02040503050406030204" pitchFamily="18" charset="0"/>
                            </a:rPr>
                          </m:ctrlPr>
                        </m:fPr>
                        <m:num>
                          <m:r>
                            <a:rPr kumimoji="1" lang="en-US" altLang="zh-CN" sz="700" b="0" i="1" smtClean="0">
                              <a:latin typeface="Cambria Math" panose="02040503050406030204" pitchFamily="18" charset="0"/>
                            </a:rPr>
                            <m:t>1</m:t>
                          </m:r>
                        </m:num>
                        <m:den>
                          <m:r>
                            <a:rPr kumimoji="1" lang="en-US" altLang="zh-CN" sz="700" b="0" i="1" smtClean="0">
                              <a:latin typeface="Cambria Math" panose="02040503050406030204" pitchFamily="18" charset="0"/>
                            </a:rPr>
                            <m:t>1−</m:t>
                          </m:r>
                          <m:r>
                            <a:rPr kumimoji="1" lang="en-US" altLang="zh-CN" sz="700" b="0" i="1" smtClean="0">
                              <a:latin typeface="Cambria Math" panose="02040503050406030204" pitchFamily="18" charset="0"/>
                            </a:rPr>
                            <m:t>𝑐</m:t>
                          </m:r>
                        </m:den>
                      </m:f>
                      <m:r>
                        <a:rPr kumimoji="1" lang="zh-CN" altLang="en-US" sz="700" i="1" smtClean="0">
                          <a:latin typeface="Cambria Math" panose="02040503050406030204" pitchFamily="18" charset="0"/>
                        </a:rPr>
                        <m:t>∆</m:t>
                      </m:r>
                      <m:r>
                        <a:rPr kumimoji="1" lang="en-US" altLang="zh-CN" sz="700" b="0" i="1" smtClean="0">
                          <a:latin typeface="Cambria Math" panose="02040503050406030204" pitchFamily="18" charset="0"/>
                        </a:rPr>
                        <m:t>𝐼</m:t>
                      </m:r>
                    </m:oMath>
                  </m:oMathPara>
                </a14:m>
                <a:endParaRPr kumimoji="1" lang="zh-CN" altLang="en-US" sz="700" dirty="0"/>
              </a:p>
            </p:txBody>
          </p:sp>
        </mc:Choice>
        <mc:Fallback xmlns="">
          <p:sp>
            <p:nvSpPr>
              <p:cNvPr id="42" name="文本框 41">
                <a:extLst>
                  <a:ext uri="{FF2B5EF4-FFF2-40B4-BE49-F238E27FC236}">
                    <a16:creationId xmlns:a16="http://schemas.microsoft.com/office/drawing/2014/main" id="{1E0096BA-EC2D-5C4C-758E-63ACD49DACC2}"/>
                  </a:ext>
                </a:extLst>
              </p:cNvPr>
              <p:cNvSpPr txBox="1">
                <a:spLocks noRot="1" noChangeAspect="1" noMove="1" noResize="1" noEditPoints="1" noAdjustHandles="1" noChangeArrowheads="1" noChangeShapeType="1" noTextEdit="1"/>
              </p:cNvSpPr>
              <p:nvPr/>
            </p:nvSpPr>
            <p:spPr>
              <a:xfrm>
                <a:off x="1563314" y="1263044"/>
                <a:ext cx="329616" cy="202491"/>
              </a:xfrm>
              <a:prstGeom prst="rect">
                <a:avLst/>
              </a:prstGeom>
              <a:blipFill>
                <a:blip r:embed="rId7"/>
                <a:stretch>
                  <a:fillRect l="-3571" r="-3571" b="-117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2128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par>
                                <p:cTn id="32" presetID="1"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down)">
                                      <p:cBhvr>
                                        <p:cTn id="3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2930" y="866279"/>
            <a:ext cx="4005535" cy="1173935"/>
          </a:xfrm>
        </p:spPr>
        <p:txBody>
          <a:bodyPr/>
          <a:lstStyle/>
          <a:p>
            <a:r>
              <a:rPr lang="zh-CN" altLang="en-US" sz="1400" dirty="0">
                <a:ea typeface="宋体" panose="02010600030101010101" pitchFamily="2" charset="-122"/>
                <a:cs typeface="Times New Roman" panose="02020603050405020304" pitchFamily="18" charset="0"/>
              </a:rPr>
              <a:t>货币政策</a:t>
            </a:r>
            <a:r>
              <a:rPr lang="zh-CN" altLang="en-US" sz="1400" dirty="0">
                <a:effectLst/>
                <a:ea typeface="宋体" panose="02010600030101010101" pitchFamily="2" charset="-122"/>
                <a:cs typeface="Times New Roman" panose="02020603050405020304" pitchFamily="18" charset="0"/>
              </a:rPr>
              <a:t>影响宏观经济的机制</a:t>
            </a:r>
            <a:endPar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75</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5" name="标题 1">
            <a:extLst>
              <a:ext uri="{FF2B5EF4-FFF2-40B4-BE49-F238E27FC236}">
                <a16:creationId xmlns:a16="http://schemas.microsoft.com/office/drawing/2014/main" id="{4CB7B4C1-46CC-4526-CBA6-2B34C682576D}"/>
              </a:ext>
            </a:extLst>
          </p:cNvPr>
          <p:cNvSpPr>
            <a:spLocks noGrp="1"/>
          </p:cNvSpPr>
          <p:nvPr>
            <p:ph type="title"/>
          </p:nvPr>
        </p:nvSpPr>
        <p:spPr>
          <a:xfrm>
            <a:off x="172879" y="127376"/>
            <a:ext cx="4240332" cy="615857"/>
          </a:xfrm>
        </p:spPr>
        <p:txBody>
          <a:bodyPr/>
          <a:lstStyle/>
          <a:p>
            <a:r>
              <a:rPr kumimoji="1" lang="zh-CN" altLang="en-US" dirty="0"/>
              <a:t>均衡的变化与经济波动：</a:t>
            </a:r>
            <a:br>
              <a:rPr kumimoji="1" lang="en-US" altLang="zh-CN" dirty="0"/>
            </a:br>
            <a:r>
              <a:rPr kumimoji="1" lang="en-US" altLang="zh-CN" dirty="0"/>
              <a:t>LM</a:t>
            </a:r>
            <a:r>
              <a:rPr kumimoji="1" lang="zh-CN" altLang="en-US" dirty="0"/>
              <a:t>曲线（货币政策）</a:t>
            </a:r>
            <a:endParaRPr lang="zh-CN" altLang="en-US" dirty="0"/>
          </a:p>
        </p:txBody>
      </p:sp>
      <p:pic>
        <p:nvPicPr>
          <p:cNvPr id="2" name="图片 1">
            <a:extLst>
              <a:ext uri="{FF2B5EF4-FFF2-40B4-BE49-F238E27FC236}">
                <a16:creationId xmlns:a16="http://schemas.microsoft.com/office/drawing/2014/main" id="{74AE4554-51D4-1EA6-5FD7-70EBF6B90CED}"/>
              </a:ext>
            </a:extLst>
          </p:cNvPr>
          <p:cNvPicPr>
            <a:picLocks noChangeAspect="1"/>
          </p:cNvPicPr>
          <p:nvPr/>
        </p:nvPicPr>
        <p:blipFill>
          <a:blip r:embed="rId2"/>
          <a:stretch>
            <a:fillRect/>
          </a:stretch>
        </p:blipFill>
        <p:spPr>
          <a:xfrm>
            <a:off x="481105" y="1251645"/>
            <a:ext cx="3469183" cy="639895"/>
          </a:xfrm>
          <a:prstGeom prst="rect">
            <a:avLst/>
          </a:prstGeom>
        </p:spPr>
      </p:pic>
    </p:spTree>
    <p:extLst>
      <p:ext uri="{BB962C8B-B14F-4D97-AF65-F5344CB8AC3E}">
        <p14:creationId xmlns:p14="http://schemas.microsoft.com/office/powerpoint/2010/main" val="35383699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4D092C-CD3C-4036-AED0-89159D2291E7}"/>
              </a:ext>
            </a:extLst>
          </p:cNvPr>
          <p:cNvSpPr>
            <a:spLocks noGrp="1"/>
          </p:cNvSpPr>
          <p:nvPr>
            <p:ph type="title"/>
          </p:nvPr>
        </p:nvSpPr>
        <p:spPr>
          <a:xfrm>
            <a:off x="172879" y="127376"/>
            <a:ext cx="4240332" cy="615857"/>
          </a:xfrm>
        </p:spPr>
        <p:txBody>
          <a:bodyPr/>
          <a:lstStyle/>
          <a:p>
            <a:r>
              <a:rPr kumimoji="1" lang="zh-CN" altLang="en-US" dirty="0"/>
              <a:t>产品市场和货币市场共同均衡的调整和变动</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67125C1-9698-4AE2-A910-F7802F73DC10}"/>
                  </a:ext>
                </a:extLst>
              </p:cNvPr>
              <p:cNvSpPr>
                <a:spLocks noGrp="1"/>
              </p:cNvSpPr>
              <p:nvPr>
                <p:ph idx="1"/>
              </p:nvPr>
            </p:nvSpPr>
            <p:spPr>
              <a:xfrm>
                <a:off x="188086" y="866279"/>
                <a:ext cx="4191509" cy="2225164"/>
              </a:xfrm>
            </p:spPr>
            <p:txBody>
              <a:bodyPr/>
              <a:lstStyle/>
              <a:p>
                <a:r>
                  <a:rPr lang="zh-CN" altLang="en-US" b="1" dirty="0"/>
                  <a:t>用</a:t>
                </a:r>
                <a:r>
                  <a:rPr lang="en-US" altLang="zh-CN" b="1" dirty="0"/>
                  <a:t>IS-LM</a:t>
                </a:r>
                <a:r>
                  <a:rPr lang="zh-CN" altLang="en-US" b="1" dirty="0"/>
                  <a:t>模型分析：政府支出增加时，均衡国民收入如何影响？</a:t>
                </a:r>
                <a:endParaRPr lang="en-US" altLang="zh-CN" b="1" dirty="0"/>
              </a:p>
              <a:p>
                <a:r>
                  <a:rPr lang="zh-CN" altLang="en-US" dirty="0"/>
                  <a:t>根据凯恩斯交叉模型，</a:t>
                </a:r>
                <a:endParaRPr lang="en-US" altLang="zh-CN" dirty="0"/>
              </a:p>
              <a:p>
                <a14:m>
                  <m:oMath xmlns:m="http://schemas.openxmlformats.org/officeDocument/2006/math">
                    <m:r>
                      <a:rPr lang="en-US" altLang="zh-CN" b="1" i="0" smtClean="0">
                        <a:latin typeface="Cambria Math" panose="02040503050406030204" pitchFamily="18" charset="0"/>
                      </a:rPr>
                      <m:t>𝐫</m:t>
                    </m:r>
                    <m:r>
                      <a:rPr lang="zh-CN" altLang="en-US" b="1" i="1">
                        <a:latin typeface="Cambria Math" panose="02040503050406030204" pitchFamily="18" charset="0"/>
                      </a:rPr>
                      <m:t>不变</m:t>
                    </m:r>
                    <m:r>
                      <a:rPr lang="zh-CN" altLang="en-US" b="1" i="1" smtClean="0">
                        <a:latin typeface="Cambria Math" panose="02040503050406030204" pitchFamily="18" charset="0"/>
                      </a:rPr>
                      <m:t>时</m:t>
                    </m:r>
                    <m:r>
                      <a:rPr lang="zh-CN" altLang="en-US" b="1" i="1">
                        <a:latin typeface="Cambria Math" panose="02040503050406030204" pitchFamily="18" charset="0"/>
                      </a:rPr>
                      <m:t>，</m:t>
                    </m:r>
                  </m:oMath>
                </a14:m>
                <a:r>
                  <a:rPr lang="en-US" altLang="zh-CN" b="0" i="0" dirty="0">
                    <a:latin typeface="+mj-lt"/>
                  </a:rPr>
                  <a:t>G</a:t>
                </a:r>
                <a:r>
                  <a:rPr lang="zh-CN" altLang="en-US" i="0" dirty="0">
                    <a:latin typeface="+mj-lt"/>
                  </a:rPr>
                  <a:t>增加</a:t>
                </a:r>
                <a:r>
                  <a:rPr lang="en-US" altLang="zh-CN" b="0" i="0" dirty="0">
                    <a:latin typeface="+mj-lt"/>
                  </a:rPr>
                  <a:t>—AE</a:t>
                </a:r>
                <a:r>
                  <a:rPr lang="zh-CN" altLang="en-US" i="0" dirty="0">
                    <a:latin typeface="+mj-lt"/>
                  </a:rPr>
                  <a:t>增加</a:t>
                </a:r>
                <a:r>
                  <a:rPr lang="en-US" altLang="zh-CN" i="1" dirty="0">
                    <a:latin typeface="Cambria Math" panose="02040503050406030204" pitchFamily="18" charset="0"/>
                  </a:rPr>
                  <a:t>—</a:t>
                </a:r>
                <a:r>
                  <a:rPr lang="en-US" altLang="zh-CN" b="0" i="0" dirty="0">
                    <a:latin typeface="+mj-lt"/>
                  </a:rPr>
                  <a:t>Y</a:t>
                </a:r>
                <a:r>
                  <a:rPr lang="zh-CN" altLang="en-US" i="0" dirty="0">
                    <a:latin typeface="+mj-lt"/>
                  </a:rPr>
                  <a:t>增加</a:t>
                </a:r>
                <a:r>
                  <a:rPr lang="en-US" altLang="zh-CN" dirty="0">
                    <a:latin typeface="+mj-lt"/>
                  </a:rPr>
                  <a:t>—</a:t>
                </a:r>
                <a:r>
                  <a:rPr lang="en-US" altLang="zh-CN" b="0" i="0" dirty="0">
                    <a:latin typeface="+mj-lt"/>
                  </a:rPr>
                  <a:t>IS</a:t>
                </a:r>
                <a:r>
                  <a:rPr lang="zh-CN" altLang="en-US" i="0" dirty="0">
                    <a:latin typeface="+mj-lt"/>
                  </a:rPr>
                  <a:t>右移</a:t>
                </a:r>
                <a:endParaRPr lang="en-US" altLang="zh-CN" i="1" dirty="0">
                  <a:latin typeface="Cambria Math" panose="02040503050406030204" pitchFamily="18" charset="0"/>
                </a:endParaRPr>
              </a:p>
              <a:p>
                <a14:m>
                  <m:oMath xmlns:m="http://schemas.openxmlformats.org/officeDocument/2006/math">
                    <m:r>
                      <m:rPr>
                        <m:sty m:val="p"/>
                      </m:rPr>
                      <a:rPr lang="en-US" altLang="zh-CN" i="1" smtClean="0">
                        <a:latin typeface="Cambria Math" panose="02040503050406030204" pitchFamily="18" charset="0"/>
                      </a:rPr>
                      <m:t>LM</m:t>
                    </m:r>
                    <m:r>
                      <a:rPr lang="zh-CN" altLang="en-US" i="1" smtClean="0">
                        <a:latin typeface="Cambria Math" panose="02040503050406030204" pitchFamily="18" charset="0"/>
                      </a:rPr>
                      <m:t>曲线</m:t>
                    </m:r>
                    <m:r>
                      <a:rPr lang="zh-CN" altLang="en-US" b="0" i="1" smtClean="0">
                        <a:latin typeface="Cambria Math" panose="02040503050406030204" pitchFamily="18" charset="0"/>
                      </a:rPr>
                      <m:t>：</m:t>
                    </m:r>
                    <m:r>
                      <a:rPr lang="en-US" altLang="zh-CN" i="1">
                        <a:latin typeface="Cambria Math" panose="02040503050406030204" pitchFamily="18" charset="0"/>
                      </a:rPr>
                      <m:t>𝑌</m:t>
                    </m:r>
                    <m:r>
                      <a:rPr lang="zh-CN" altLang="en-US" i="1">
                        <a:latin typeface="Cambria Math" panose="02040503050406030204" pitchFamily="18" charset="0"/>
                      </a:rPr>
                      <m:t>增加</m:t>
                    </m:r>
                    <m:r>
                      <a:rPr lang="zh-CN" altLang="en-US" i="1" smtClean="0">
                        <a:latin typeface="Cambria Math" panose="02040503050406030204" pitchFamily="18" charset="0"/>
                      </a:rPr>
                      <m:t>，</m:t>
                    </m:r>
                    <m:r>
                      <a:rPr lang="en-US" altLang="zh-CN" b="0" i="1" smtClean="0">
                        <a:latin typeface="Cambria Math" panose="02040503050406030204" pitchFamily="18" charset="0"/>
                      </a:rPr>
                      <m:t>𝐿𝑀</m:t>
                    </m:r>
                    <m:r>
                      <a:rPr lang="zh-CN" altLang="en-US" i="1">
                        <a:latin typeface="Cambria Math" panose="02040503050406030204" pitchFamily="18" charset="0"/>
                      </a:rPr>
                      <m:t>不变</m:t>
                    </m:r>
                  </m:oMath>
                </a14:m>
                <a:endParaRPr lang="en-US" altLang="zh-CN" dirty="0"/>
              </a:p>
              <a:p>
                <a:r>
                  <a:rPr lang="zh-CN" altLang="en-US" dirty="0"/>
                  <a:t>根据</a:t>
                </a:r>
                <a:r>
                  <a:rPr lang="en-US" altLang="zh-CN" dirty="0"/>
                  <a:t>IS-LM</a:t>
                </a:r>
                <a:r>
                  <a:rPr lang="zh-CN" altLang="en-US" dirty="0"/>
                  <a:t>模型，此时实际</a:t>
                </a:r>
                <a:r>
                  <a:rPr lang="en-US" altLang="zh-CN" dirty="0"/>
                  <a:t>GDP</a:t>
                </a:r>
                <a:r>
                  <a:rPr lang="zh-CN" altLang="en-US" dirty="0"/>
                  <a:t>增加。</a:t>
                </a:r>
              </a:p>
            </p:txBody>
          </p:sp>
        </mc:Choice>
        <mc:Fallback xmlns="">
          <p:sp>
            <p:nvSpPr>
              <p:cNvPr id="3" name="内容占位符 2">
                <a:extLst>
                  <a:ext uri="{FF2B5EF4-FFF2-40B4-BE49-F238E27FC236}">
                    <a16:creationId xmlns:a16="http://schemas.microsoft.com/office/drawing/2014/main" id="{867125C1-9698-4AE2-A910-F7802F73DC10}"/>
                  </a:ext>
                </a:extLst>
              </p:cNvPr>
              <p:cNvSpPr>
                <a:spLocks noGrp="1" noRot="1" noChangeAspect="1" noMove="1" noResize="1" noEditPoints="1" noAdjustHandles="1" noChangeArrowheads="1" noChangeShapeType="1" noTextEdit="1"/>
              </p:cNvSpPr>
              <p:nvPr>
                <p:ph idx="1"/>
              </p:nvPr>
            </p:nvSpPr>
            <p:spPr>
              <a:xfrm>
                <a:off x="188086" y="866279"/>
                <a:ext cx="4191509" cy="2225164"/>
              </a:xfrm>
              <a:blipFill>
                <a:blip r:embed="rId2"/>
                <a:stretch>
                  <a:fillRect l="-604" t="-2273"/>
                </a:stretch>
              </a:blipFill>
            </p:spPr>
            <p:txBody>
              <a:bodyPr/>
              <a:lstStyle/>
              <a:p>
                <a:r>
                  <a:rPr lang="zh-CN" altLang="en-US">
                    <a:noFill/>
                  </a:rPr>
                  <a:t> </a:t>
                </a:r>
              </a:p>
            </p:txBody>
          </p:sp>
        </mc:Fallback>
      </mc:AlternateContent>
      <p:sp>
        <p:nvSpPr>
          <p:cNvPr id="4" name="灯片编号占位符 2">
            <a:extLst>
              <a:ext uri="{FF2B5EF4-FFF2-40B4-BE49-F238E27FC236}">
                <a16:creationId xmlns:a16="http://schemas.microsoft.com/office/drawing/2014/main" id="{4A7D4951-1158-83F9-0751-E03FDA4DA76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EF2AD6A-4D02-22C7-831F-867EFD6D1FC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6225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D69A13-8F39-3F90-9860-992696E08D78}"/>
              </a:ext>
            </a:extLst>
          </p:cNvPr>
          <p:cNvSpPr>
            <a:spLocks noGrp="1"/>
          </p:cNvSpPr>
          <p:nvPr>
            <p:ph type="title"/>
          </p:nvPr>
        </p:nvSpPr>
        <p:spPr/>
        <p:txBody>
          <a:bodyPr/>
          <a:lstStyle/>
          <a:p>
            <a:r>
              <a:rPr kumimoji="1" lang="en-US" altLang="zh-CN" dirty="0"/>
              <a:t>IS- LM</a:t>
            </a:r>
            <a:r>
              <a:rPr kumimoji="1" lang="zh-CN" altLang="en-US" dirty="0"/>
              <a:t> 模型的非均衡状态</a:t>
            </a:r>
          </a:p>
        </p:txBody>
      </p:sp>
      <p:sp>
        <p:nvSpPr>
          <p:cNvPr id="4" name="页脚占位符 3">
            <a:extLst>
              <a:ext uri="{FF2B5EF4-FFF2-40B4-BE49-F238E27FC236}">
                <a16:creationId xmlns:a16="http://schemas.microsoft.com/office/drawing/2014/main" id="{EFB969A2-97D9-34D3-B7BE-19A23DBD4871}"/>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5890BB08-1BA6-4977-31EB-F9F84C6790B1}"/>
              </a:ext>
            </a:extLst>
          </p:cNvPr>
          <p:cNvSpPr>
            <a:spLocks noGrp="1"/>
          </p:cNvSpPr>
          <p:nvPr>
            <p:ph type="sldNum" sz="quarter" idx="11"/>
          </p:nvPr>
        </p:nvSpPr>
        <p:spPr/>
        <p:txBody>
          <a:bodyPr/>
          <a:lstStyle/>
          <a:p>
            <a:fld id="{FF75CA96-F32A-7F4F-98C9-CA940BD9BB90}" type="slidenum">
              <a:rPr lang="zh-CN" altLang="zh-CN" smtClean="0"/>
              <a:pPr/>
              <a:t>77</a:t>
            </a:fld>
            <a:endParaRPr lang="en-US" altLang="zh-CN"/>
          </a:p>
        </p:txBody>
      </p:sp>
      <p:pic>
        <p:nvPicPr>
          <p:cNvPr id="6" name="内容占位符 5">
            <a:extLst>
              <a:ext uri="{FF2B5EF4-FFF2-40B4-BE49-F238E27FC236}">
                <a16:creationId xmlns:a16="http://schemas.microsoft.com/office/drawing/2014/main" id="{808DC999-BB61-E4D6-C982-C0D513D8966D}"/>
              </a:ext>
            </a:extLst>
          </p:cNvPr>
          <p:cNvPicPr>
            <a:picLocks noGrp="1" noChangeAspect="1"/>
          </p:cNvPicPr>
          <p:nvPr>
            <p:ph idx="1"/>
          </p:nvPr>
        </p:nvPicPr>
        <p:blipFill>
          <a:blip r:embed="rId2"/>
          <a:stretch>
            <a:fillRect/>
          </a:stretch>
        </p:blipFill>
        <p:spPr>
          <a:xfrm>
            <a:off x="243949" y="508000"/>
            <a:ext cx="4079340" cy="2582863"/>
          </a:xfrm>
          <a:prstGeom prst="rect">
            <a:avLst/>
          </a:prstGeom>
        </p:spPr>
      </p:pic>
    </p:spTree>
    <p:extLst>
      <p:ext uri="{BB962C8B-B14F-4D97-AF65-F5344CB8AC3E}">
        <p14:creationId xmlns:p14="http://schemas.microsoft.com/office/powerpoint/2010/main" val="23711069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78</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IS-LM </a:t>
            </a:r>
            <a:r>
              <a:rPr lang="zh-CN" altLang="en-US" sz="1613" dirty="0">
                <a:solidFill>
                  <a:srgbClr val="339966"/>
                </a:solidFill>
                <a:effectLst>
                  <a:outerShdw blurRad="38100" dist="38100" dir="2700000" algn="tl">
                    <a:srgbClr val="C0C0C0"/>
                  </a:outerShdw>
                </a:effectLst>
                <a:ea typeface="宋体" panose="02010600030101010101" pitchFamily="2" charset="-122"/>
              </a:rPr>
              <a:t>分析</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t>某封闭经济体的初始状态如下：</a:t>
                </a:r>
                <a:endParaRPr lang="en-US" altLang="zh-CN" sz="1050" dirty="0"/>
              </a:p>
              <a:p>
                <a:pPr marL="0" indent="0">
                  <a:buNone/>
                </a:pPr>
                <a:r>
                  <a:rPr lang="zh-CN" altLang="en-US" sz="1050" b="0" dirty="0"/>
                  <a:t>消费函数为</a:t>
                </a:r>
                <a14:m>
                  <m:oMath xmlns:m="http://schemas.openxmlformats.org/officeDocument/2006/math">
                    <m:r>
                      <m:rPr>
                        <m:sty m:val="p"/>
                      </m:rPr>
                      <a:rPr lang="en-US" altLang="zh-CN" sz="1050" b="0" i="0" smtClean="0">
                        <a:latin typeface="Cambria Math" panose="02040503050406030204" pitchFamily="18" charset="0"/>
                      </a:rPr>
                      <m:t>C</m:t>
                    </m:r>
                    <m:r>
                      <a:rPr lang="en-US" altLang="zh-CN" sz="1050" b="0" i="0" smtClean="0">
                        <a:latin typeface="Cambria Math" panose="02040503050406030204" pitchFamily="18" charset="0"/>
                      </a:rPr>
                      <m:t>=800+0.6</m:t>
                    </m:r>
                    <m:d>
                      <m:dPr>
                        <m:ctrlPr>
                          <a:rPr lang="en-US" altLang="zh-CN" sz="1050" b="0" i="1" smtClean="0">
                            <a:latin typeface="Cambria Math" panose="02040503050406030204" pitchFamily="18" charset="0"/>
                          </a:rPr>
                        </m:ctrlPr>
                      </m:dPr>
                      <m:e>
                        <m:r>
                          <m:rPr>
                            <m:sty m:val="p"/>
                          </m:rPr>
                          <a:rPr lang="en-US" altLang="zh-CN" sz="1050" b="0" i="0" smtClean="0">
                            <a:latin typeface="Cambria Math" panose="02040503050406030204" pitchFamily="18" charset="0"/>
                          </a:rPr>
                          <m:t>Y</m:t>
                        </m:r>
                        <m:r>
                          <a:rPr lang="en-US" altLang="zh-CN" sz="1050" b="0" i="0" smtClean="0">
                            <a:latin typeface="Cambria Math" panose="02040503050406030204" pitchFamily="18" charset="0"/>
                          </a:rPr>
                          <m:t>−</m:t>
                        </m:r>
                        <m:r>
                          <m:rPr>
                            <m:sty m:val="p"/>
                          </m:rPr>
                          <a:rPr lang="en-US" altLang="zh-CN" sz="1050" b="0" i="0" smtClean="0">
                            <a:latin typeface="Cambria Math" panose="02040503050406030204" pitchFamily="18" charset="0"/>
                          </a:rPr>
                          <m:t>T</m:t>
                        </m:r>
                      </m:e>
                    </m:d>
                  </m:oMath>
                </a14:m>
                <a:r>
                  <a:rPr lang="zh-CN" altLang="en-US" sz="1050" b="0" i="0" dirty="0">
                    <a:latin typeface="Cambria Math" panose="02040503050406030204" pitchFamily="18" charset="0"/>
                  </a:rPr>
                  <a:t>，投资函数为</a:t>
                </a:r>
                <a14:m>
                  <m:oMath xmlns:m="http://schemas.openxmlformats.org/officeDocument/2006/math">
                    <m:r>
                      <m:rPr>
                        <m:sty m:val="p"/>
                      </m:rPr>
                      <a:rPr lang="en-US" altLang="zh-CN" sz="1050" b="0" i="0" smtClean="0">
                        <a:latin typeface="Cambria Math" panose="02040503050406030204" pitchFamily="18" charset="0"/>
                      </a:rPr>
                      <m:t>I</m:t>
                    </m:r>
                    <m:r>
                      <a:rPr lang="en-US" altLang="zh-CN" sz="1050" b="0" i="0" smtClean="0">
                        <a:latin typeface="Cambria Math" panose="02040503050406030204" pitchFamily="18" charset="0"/>
                      </a:rPr>
                      <m:t>=1000−80</m:t>
                    </m:r>
                    <m:r>
                      <m:rPr>
                        <m:sty m:val="p"/>
                      </m:rPr>
                      <a:rPr lang="en-US" altLang="zh-CN" sz="1050" b="0" i="0" smtClean="0">
                        <a:latin typeface="Cambria Math" panose="02040503050406030204" pitchFamily="18" charset="0"/>
                      </a:rPr>
                      <m:t>r</m:t>
                    </m:r>
                  </m:oMath>
                </a14:m>
                <a:r>
                  <a:rPr lang="zh-CN" altLang="en-US" sz="1050" b="0" i="0" dirty="0">
                    <a:latin typeface="Cambria Math" panose="02040503050406030204" pitchFamily="18" charset="0"/>
                  </a:rPr>
                  <a:t>，货币需求函数为</a:t>
                </a:r>
                <a14:m>
                  <m:oMath xmlns:m="http://schemas.openxmlformats.org/officeDocument/2006/math">
                    <m:r>
                      <m:rPr>
                        <m:sty m:val="p"/>
                      </m:rPr>
                      <a:rPr lang="en-US" altLang="zh-CN" sz="1050" b="0" i="0" smtClean="0">
                        <a:latin typeface="Cambria Math" panose="02040503050406030204" pitchFamily="18" charset="0"/>
                      </a:rPr>
                      <m:t>Y</m:t>
                    </m:r>
                    <m:r>
                      <a:rPr lang="en-US" altLang="zh-CN" sz="1050" b="0" i="0" smtClean="0">
                        <a:latin typeface="Cambria Math" panose="02040503050406030204" pitchFamily="18" charset="0"/>
                      </a:rPr>
                      <m:t>−400</m:t>
                    </m:r>
                    <m:r>
                      <m:rPr>
                        <m:sty m:val="p"/>
                      </m:rPr>
                      <a:rPr lang="en-US" altLang="zh-CN" sz="1050" b="0" i="0" smtClean="0">
                        <a:latin typeface="Cambria Math" panose="02040503050406030204" pitchFamily="18" charset="0"/>
                      </a:rPr>
                      <m:t>r</m:t>
                    </m:r>
                  </m:oMath>
                </a14:m>
                <a:r>
                  <a:rPr lang="zh-CN" altLang="en-US" sz="1050" b="0" i="0" dirty="0">
                    <a:latin typeface="Cambria Math" panose="02040503050406030204" pitchFamily="18" charset="0"/>
                  </a:rPr>
                  <a:t>，政府购买为</a:t>
                </a:r>
                <a14:m>
                  <m:oMath xmlns:m="http://schemas.openxmlformats.org/officeDocument/2006/math">
                    <m:r>
                      <m:rPr>
                        <m:sty m:val="p"/>
                      </m:rPr>
                      <a:rPr lang="en-US" altLang="zh-CN" sz="1050" b="0" i="0" smtClean="0">
                        <a:latin typeface="Cambria Math" panose="02040503050406030204" pitchFamily="18" charset="0"/>
                      </a:rPr>
                      <m:t>G</m:t>
                    </m:r>
                    <m:r>
                      <a:rPr lang="en-US" altLang="zh-CN" sz="1050" b="0" i="0" smtClean="0">
                        <a:latin typeface="Cambria Math" panose="02040503050406030204" pitchFamily="18" charset="0"/>
                      </a:rPr>
                      <m:t>=200</m:t>
                    </m:r>
                  </m:oMath>
                </a14:m>
                <a:r>
                  <a:rPr lang="en-US" altLang="zh-CN" sz="1050" b="0" i="0" dirty="0">
                    <a:latin typeface="Cambria Math" panose="02040503050406030204" pitchFamily="18" charset="0"/>
                  </a:rPr>
                  <a:t>0</a:t>
                </a:r>
                <a:r>
                  <a:rPr lang="zh-CN" altLang="en-US" sz="1050" b="0" i="0" dirty="0">
                    <a:latin typeface="Cambria Math" panose="02040503050406030204" pitchFamily="18" charset="0"/>
                  </a:rPr>
                  <a:t>，定量税</a:t>
                </a:r>
                <a14:m>
                  <m:oMath xmlns:m="http://schemas.openxmlformats.org/officeDocument/2006/math">
                    <m:r>
                      <m:rPr>
                        <m:sty m:val="p"/>
                      </m:rPr>
                      <a:rPr lang="en-US" altLang="zh-CN" sz="1050" b="0" i="0" smtClean="0">
                        <a:latin typeface="Cambria Math" panose="02040503050406030204" pitchFamily="18" charset="0"/>
                      </a:rPr>
                      <m:t>T</m:t>
                    </m:r>
                    <m:r>
                      <a:rPr lang="en-US" altLang="zh-CN" sz="1050" b="0" i="0" smtClean="0">
                        <a:latin typeface="Cambria Math" panose="02040503050406030204" pitchFamily="18" charset="0"/>
                      </a:rPr>
                      <m:t>=1000,</m:t>
                    </m:r>
                    <m:r>
                      <a:rPr lang="zh-CN" altLang="en-US" sz="1050" i="1">
                        <a:latin typeface="Cambria Math" panose="02040503050406030204" pitchFamily="18" charset="0"/>
                      </a:rPr>
                      <m:t>货币</m:t>
                    </m:r>
                    <m:r>
                      <a:rPr lang="zh-CN" altLang="en-US" sz="1050" i="1" smtClean="0">
                        <a:latin typeface="Cambria Math" panose="02040503050406030204" pitchFamily="18" charset="0"/>
                      </a:rPr>
                      <m:t>供应量</m:t>
                    </m:r>
                    <m:r>
                      <m:rPr>
                        <m:sty m:val="p"/>
                      </m:rPr>
                      <a:rPr lang="en-US" altLang="zh-CN" sz="1050" b="0" i="0" smtClean="0">
                        <a:latin typeface="Cambria Math" panose="02040503050406030204" pitchFamily="18" charset="0"/>
                      </a:rPr>
                      <m:t>M</m:t>
                    </m:r>
                    <m:r>
                      <a:rPr lang="en-US" altLang="zh-CN" sz="1050" b="0" i="0" smtClean="0">
                        <a:latin typeface="Cambria Math" panose="02040503050406030204" pitchFamily="18" charset="0"/>
                      </a:rPr>
                      <m:t>=6400,</m:t>
                    </m:r>
                    <m:r>
                      <a:rPr lang="zh-CN" altLang="en-US" sz="1050" i="1">
                        <a:latin typeface="Cambria Math" panose="02040503050406030204" pitchFamily="18" charset="0"/>
                      </a:rPr>
                      <m:t>价格</m:t>
                    </m:r>
                    <m:r>
                      <a:rPr lang="zh-CN" altLang="en-US" sz="1050" i="1" smtClean="0">
                        <a:latin typeface="Cambria Math" panose="02040503050406030204" pitchFamily="18" charset="0"/>
                      </a:rPr>
                      <m:t>水平</m:t>
                    </m:r>
                    <m:r>
                      <a:rPr lang="zh-CN" altLang="en-US" sz="1050" i="1">
                        <a:latin typeface="Cambria Math" panose="02040503050406030204" pitchFamily="18" charset="0"/>
                      </a:rPr>
                      <m:t>为</m:t>
                    </m:r>
                    <m:r>
                      <m:rPr>
                        <m:sty m:val="p"/>
                      </m:rPr>
                      <a:rPr lang="en-US" altLang="zh-CN" sz="1050" b="0" i="0" smtClean="0">
                        <a:latin typeface="Cambria Math" panose="02040503050406030204" pitchFamily="18" charset="0"/>
                      </a:rPr>
                      <m:t>P</m:t>
                    </m:r>
                    <m:r>
                      <a:rPr lang="en-US" altLang="zh-CN" sz="1050" b="0" i="0" smtClean="0">
                        <a:latin typeface="Cambria Math" panose="02040503050406030204" pitchFamily="18" charset="0"/>
                      </a:rPr>
                      <m:t>=2</m:t>
                    </m:r>
                  </m:oMath>
                </a14:m>
                <a:endParaRPr lang="en-US" altLang="zh-CN" sz="1050" b="0" i="0" dirty="0">
                  <a:latin typeface="Cambria Math" panose="020405030504060302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）推导</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和</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曲线，同时计算均衡利率和均衡收入水平。</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）假设政府通过调整税收水平和货币供应量使税收减少到</a:t>
                </a:r>
                <a:r>
                  <a:rPr lang="en-US" altLang="zh-CN" sz="1050" dirty="0">
                    <a:ea typeface="SimSun" panose="02010600030101010101" pitchFamily="2" charset="-122"/>
                    <a:cs typeface="Times New Roman" panose="02020603050405020304" pitchFamily="18" charset="0"/>
                  </a:rPr>
                  <a:t>800</a:t>
                </a:r>
                <a:r>
                  <a:rPr lang="zh-CN" altLang="en-US" sz="1050" dirty="0">
                    <a:ea typeface="SimSun" panose="02010600030101010101" pitchFamily="2" charset="-122"/>
                    <a:cs typeface="Times New Roman" panose="02020603050405020304" pitchFamily="18" charset="0"/>
                  </a:rPr>
                  <a:t>，同时维持利率水平不变。新的收入水平、货币供应量分别是多少？</a:t>
                </a: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391979"/>
              </a:xfrm>
              <a:blipFill>
                <a:blip r:embed="rId2"/>
                <a:stretch>
                  <a:fillRect t="-52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420117364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79</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IS-LM </a:t>
            </a:r>
            <a:r>
              <a:rPr lang="zh-CN" altLang="en-US" sz="1613" dirty="0">
                <a:solidFill>
                  <a:srgbClr val="339966"/>
                </a:solidFill>
                <a:effectLst>
                  <a:outerShdw blurRad="38100" dist="38100" dir="2700000" algn="tl">
                    <a:srgbClr val="C0C0C0"/>
                  </a:outerShdw>
                </a:effectLst>
                <a:ea typeface="宋体" panose="02010600030101010101" pitchFamily="2" charset="-122"/>
              </a:rPr>
              <a:t>分析</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）根据三部门经济的均衡国民收入决定条件</a:t>
            </a:r>
            <a:r>
              <a:rPr lang="en-US" altLang="zh-CN" sz="1050" dirty="0">
                <a:ea typeface="SimSun" panose="02010600030101010101" pitchFamily="2" charset="-122"/>
                <a:cs typeface="Times New Roman" panose="02020603050405020304" pitchFamily="18" charset="0"/>
              </a:rPr>
              <a:t>Y=C+I+G</a:t>
            </a:r>
            <a:r>
              <a:rPr lang="zh-CN" altLang="en-US" sz="1050" dirty="0">
                <a:ea typeface="SimSun" panose="02010600030101010101" pitchFamily="2" charset="-122"/>
                <a:cs typeface="Times New Roman" panose="02020603050405020304" pitchFamily="18" charset="0"/>
              </a:rPr>
              <a:t>得</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Y=800+0.6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Y-1000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+1000-80r+2000</a:t>
            </a:r>
          </a:p>
          <a:p>
            <a:pPr marL="0" indent="0">
              <a:buNone/>
            </a:pPr>
            <a:r>
              <a:rPr lang="zh-CN" altLang="en-US" sz="1050" dirty="0">
                <a:ea typeface="SimSun" panose="02010600030101010101" pitchFamily="2" charset="-122"/>
                <a:cs typeface="Times New Roman" panose="02020603050405020304" pitchFamily="18" charset="0"/>
              </a:rPr>
              <a:t>得到</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方程为：</a:t>
            </a:r>
            <a:r>
              <a:rPr lang="en-US" altLang="zh-CN" sz="1050" dirty="0">
                <a:ea typeface="SimSun" panose="02010600030101010101" pitchFamily="2" charset="-122"/>
                <a:cs typeface="Times New Roman" panose="02020603050405020304" pitchFamily="18" charset="0"/>
              </a:rPr>
              <a:t>Y=8000-200r</a:t>
            </a:r>
          </a:p>
          <a:p>
            <a:pPr marL="0" indent="0">
              <a:buNone/>
            </a:pPr>
            <a:r>
              <a:rPr lang="zh-CN" altLang="en-US" sz="1050" dirty="0">
                <a:ea typeface="SimSun" panose="02010600030101010101" pitchFamily="2" charset="-122"/>
                <a:cs typeface="Times New Roman" panose="02020603050405020304" pitchFamily="18" charset="0"/>
              </a:rPr>
              <a:t>根据货币均衡条件</a:t>
            </a:r>
            <a:r>
              <a:rPr lang="en-US" altLang="zh-CN" sz="1050" dirty="0">
                <a:ea typeface="SimSun" panose="02010600030101010101" pitchFamily="2" charset="-122"/>
                <a:cs typeface="Times New Roman" panose="02020603050405020304" pitchFamily="18" charset="0"/>
              </a:rPr>
              <a:t>L=M/P</a:t>
            </a:r>
            <a:r>
              <a:rPr lang="zh-CN" altLang="en-US" sz="1050" dirty="0">
                <a:ea typeface="SimSun" panose="02010600030101010101" pitchFamily="2" charset="-122"/>
                <a:cs typeface="Times New Roman" panose="02020603050405020304" pitchFamily="18" charset="0"/>
              </a:rPr>
              <a:t>，代入已知条件得：</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6400/2=Y-400r</a:t>
            </a:r>
          </a:p>
          <a:p>
            <a:pPr marL="0" indent="0">
              <a:buNone/>
            </a:pPr>
            <a:r>
              <a:rPr lang="zh-CN" altLang="en-US" sz="1050" dirty="0">
                <a:ea typeface="SimSun" panose="02010600030101010101" pitchFamily="2" charset="-122"/>
                <a:cs typeface="Times New Roman" panose="02020603050405020304" pitchFamily="18" charset="0"/>
              </a:rPr>
              <a:t>得到</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方程为：</a:t>
            </a:r>
            <a:r>
              <a:rPr lang="en-US" altLang="zh-CN" sz="1050" dirty="0">
                <a:ea typeface="SimSun" panose="02010600030101010101" pitchFamily="2" charset="-122"/>
                <a:cs typeface="Times New Roman" panose="02020603050405020304" pitchFamily="18" charset="0"/>
              </a:rPr>
              <a:t>Y=3200+400r</a:t>
            </a:r>
          </a:p>
          <a:p>
            <a:pPr marL="0" indent="0">
              <a:buNone/>
            </a:pPr>
            <a:r>
              <a:rPr lang="zh-CN" altLang="en-US" sz="1050" dirty="0">
                <a:ea typeface="SimSun" panose="02010600030101010101" pitchFamily="2" charset="-122"/>
                <a:cs typeface="Times New Roman" panose="02020603050405020304" pitchFamily="18" charset="0"/>
              </a:rPr>
              <a:t>联立</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方程可以得到均衡的利率</a:t>
            </a:r>
            <a:r>
              <a:rPr lang="en-US" altLang="zh-CN" sz="1050" dirty="0">
                <a:ea typeface="SimSun" panose="02010600030101010101" pitchFamily="2" charset="-122"/>
                <a:cs typeface="Times New Roman" panose="02020603050405020304" pitchFamily="18" charset="0"/>
              </a:rPr>
              <a:t>r</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a:t>
            </a:r>
            <a:r>
              <a:rPr lang="zh-CN" altLang="en-US" sz="1050" dirty="0">
                <a:ea typeface="SimSun" panose="02010600030101010101" pitchFamily="2" charset="-122"/>
                <a:cs typeface="Times New Roman" panose="02020603050405020304" pitchFamily="18" charset="0"/>
              </a:rPr>
              <a:t>，均衡收入水平</a:t>
            </a:r>
            <a:r>
              <a:rPr lang="en-US" altLang="zh-CN" sz="1050" dirty="0">
                <a:ea typeface="SimSun" panose="02010600030101010101" pitchFamily="2" charset="-122"/>
                <a:cs typeface="Times New Roman" panose="02020603050405020304" pitchFamily="18" charset="0"/>
              </a:rPr>
              <a:t>Y</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=6400</a:t>
            </a:r>
          </a:p>
          <a:p>
            <a:pPr marL="0" indent="0">
              <a:buNone/>
            </a:pPr>
            <a:endParaRPr lang="en-US" altLang="zh-CN" sz="1050" dirty="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7334015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80</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IS-LM </a:t>
            </a:r>
            <a:r>
              <a:rPr lang="zh-CN" altLang="en-US" sz="1613" dirty="0">
                <a:solidFill>
                  <a:srgbClr val="339966"/>
                </a:solidFill>
                <a:effectLst>
                  <a:outerShdw blurRad="38100" dist="38100" dir="2700000" algn="tl">
                    <a:srgbClr val="C0C0C0"/>
                  </a:outerShdw>
                </a:effectLst>
                <a:ea typeface="宋体" panose="02010600030101010101" pitchFamily="2" charset="-122"/>
              </a:rPr>
              <a:t>分析</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）政府通过调整税收水平和货币供应量使税收减少到</a:t>
            </a:r>
            <a:r>
              <a:rPr lang="en-US" altLang="zh-CN" sz="1050" dirty="0">
                <a:ea typeface="SimSun" panose="02010600030101010101" pitchFamily="2" charset="-122"/>
                <a:cs typeface="Times New Roman" panose="02020603050405020304" pitchFamily="18" charset="0"/>
              </a:rPr>
              <a:t>800</a:t>
            </a:r>
          </a:p>
          <a:p>
            <a:pPr marL="0" indent="0">
              <a:buNone/>
            </a:pPr>
            <a:r>
              <a:rPr lang="zh-CN" altLang="en-US" sz="1050" dirty="0">
                <a:ea typeface="SimSun" panose="02010600030101010101" pitchFamily="2" charset="-122"/>
                <a:cs typeface="Times New Roman" panose="02020603050405020304" pitchFamily="18" charset="0"/>
              </a:rPr>
              <a:t>在利率保持</a:t>
            </a:r>
            <a:r>
              <a:rPr lang="en-US" altLang="zh-CN" sz="1050" dirty="0">
                <a:ea typeface="SimSun" panose="02010600030101010101" pitchFamily="2" charset="-122"/>
                <a:cs typeface="Times New Roman" panose="02020603050405020304" pitchFamily="18" charset="0"/>
              </a:rPr>
              <a:t>r=8</a:t>
            </a:r>
            <a:r>
              <a:rPr lang="zh-CN" altLang="en-US" sz="1050" dirty="0">
                <a:ea typeface="SimSun" panose="02010600030101010101" pitchFamily="2" charset="-122"/>
                <a:cs typeface="Times New Roman" panose="02020603050405020304" pitchFamily="18" charset="0"/>
              </a:rPr>
              <a:t>不变的条件下，根据三部门国民收入核算</a:t>
            </a:r>
            <a:r>
              <a:rPr lang="zh-CN" altLang="en-US" sz="1050">
                <a:ea typeface="SimSun" panose="02010600030101010101" pitchFamily="2" charset="-122"/>
                <a:cs typeface="Times New Roman" panose="02020603050405020304" pitchFamily="18" charset="0"/>
              </a:rPr>
              <a:t>方程得新的</a:t>
            </a:r>
            <a:r>
              <a:rPr lang="zh-CN" altLang="en-US" sz="1050" dirty="0">
                <a:ea typeface="SimSun" panose="02010600030101010101" pitchFamily="2" charset="-122"/>
                <a:cs typeface="Times New Roman" panose="02020603050405020304" pitchFamily="18" charset="0"/>
              </a:rPr>
              <a:t>收入水平为</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Y=800+0.6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Y-800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+1000-80r+2000</a:t>
            </a:r>
          </a:p>
          <a:p>
            <a:pPr marL="0" indent="0">
              <a:buNone/>
            </a:pPr>
            <a:r>
              <a:rPr lang="en-US" altLang="zh-CN" sz="1050" dirty="0">
                <a:ea typeface="SimSun" panose="02010600030101010101" pitchFamily="2" charset="-122"/>
                <a:cs typeface="Times New Roman" panose="02020603050405020304" pitchFamily="18" charset="0"/>
              </a:rPr>
              <a:t>Y</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=6700</a:t>
            </a:r>
          </a:p>
          <a:p>
            <a:pPr marL="0" indent="0">
              <a:buNone/>
            </a:pPr>
            <a:r>
              <a:rPr lang="zh-CN" altLang="en-US" sz="1050" dirty="0">
                <a:ea typeface="SimSun" panose="02010600030101010101" pitchFamily="2" charset="-122"/>
                <a:cs typeface="Times New Roman" panose="02020603050405020304" pitchFamily="18" charset="0"/>
              </a:rPr>
              <a:t>货币供给为：</a:t>
            </a:r>
            <a:r>
              <a:rPr lang="en-US" altLang="zh-CN" sz="1050" dirty="0">
                <a:ea typeface="SimSun" panose="02010600030101010101" pitchFamily="2" charset="-122"/>
                <a:cs typeface="Times New Roman" panose="02020603050405020304" pitchFamily="18" charset="0"/>
              </a:rPr>
              <a:t>M/P=Y</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-400r</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=6700-3200=3500</a:t>
            </a:r>
          </a:p>
          <a:p>
            <a:pPr marL="0" indent="0">
              <a:buNone/>
            </a:pPr>
            <a:r>
              <a:rPr lang="zh-CN" altLang="en-US" sz="1050" dirty="0">
                <a:ea typeface="SimSun" panose="02010600030101010101" pitchFamily="2" charset="-122"/>
                <a:cs typeface="Times New Roman" panose="02020603050405020304" pitchFamily="18" charset="0"/>
              </a:rPr>
              <a:t>货币供应量为：</a:t>
            </a:r>
            <a:r>
              <a:rPr lang="en-US" altLang="zh-CN" sz="1050" dirty="0">
                <a:ea typeface="SimSun" panose="02010600030101010101" pitchFamily="2" charset="-122"/>
                <a:cs typeface="Times New Roman" panose="02020603050405020304" pitchFamily="18" charset="0"/>
              </a:rPr>
              <a:t>M=3500P=7000</a:t>
            </a:r>
          </a:p>
          <a:p>
            <a:pPr marL="0" indent="0">
              <a:buNone/>
            </a:pPr>
            <a:r>
              <a:rPr lang="zh-CN" altLang="en-US" sz="1050" dirty="0">
                <a:ea typeface="SimSun" panose="02010600030101010101" pitchFamily="2" charset="-122"/>
                <a:cs typeface="Times New Roman" panose="02020603050405020304" pitchFamily="18" charset="0"/>
              </a:rPr>
              <a:t>因此，新的收入水平为</a:t>
            </a:r>
            <a:r>
              <a:rPr lang="en-US" altLang="zh-CN" sz="1050" dirty="0">
                <a:ea typeface="SimSun" panose="02010600030101010101" pitchFamily="2" charset="-122"/>
                <a:cs typeface="Times New Roman" panose="02020603050405020304" pitchFamily="18" charset="0"/>
              </a:rPr>
              <a:t>6700</a:t>
            </a:r>
            <a:r>
              <a:rPr lang="zh-CN" altLang="en-US" sz="1050" dirty="0">
                <a:ea typeface="SimSun" panose="02010600030101010101" pitchFamily="2" charset="-122"/>
                <a:cs typeface="Times New Roman" panose="02020603050405020304" pitchFamily="18" charset="0"/>
              </a:rPr>
              <a:t>，货币供应量为</a:t>
            </a:r>
            <a:r>
              <a:rPr lang="en-US" altLang="zh-CN" sz="1050" dirty="0">
                <a:ea typeface="SimSun" panose="02010600030101010101" pitchFamily="2" charset="-122"/>
                <a:cs typeface="Times New Roman" panose="02020603050405020304" pitchFamily="18" charset="0"/>
              </a:rPr>
              <a:t>7000</a:t>
            </a:r>
          </a:p>
          <a:p>
            <a:pPr marL="0" indent="0">
              <a:buNone/>
            </a:pPr>
            <a:endParaRPr lang="en-US" altLang="zh-CN" sz="1050" dirty="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328208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CB61E4-17FA-627F-48DA-376F11BA63F1}"/>
              </a:ext>
            </a:extLst>
          </p:cNvPr>
          <p:cNvSpPr>
            <a:spLocks noGrp="1"/>
          </p:cNvSpPr>
          <p:nvPr>
            <p:ph type="title"/>
          </p:nvPr>
        </p:nvSpPr>
        <p:spPr/>
        <p:txBody>
          <a:bodyPr/>
          <a:lstStyle/>
          <a:p>
            <a:r>
              <a:rPr kumimoji="1" lang="zh-CN" altLang="en-US" dirty="0"/>
              <a:t>挤出效应</a:t>
            </a:r>
          </a:p>
        </p:txBody>
      </p:sp>
      <p:sp>
        <p:nvSpPr>
          <p:cNvPr id="3" name="内容占位符 2">
            <a:extLst>
              <a:ext uri="{FF2B5EF4-FFF2-40B4-BE49-F238E27FC236}">
                <a16:creationId xmlns:a16="http://schemas.microsoft.com/office/drawing/2014/main" id="{721309E4-CCE9-D221-050F-3A4437F54478}"/>
              </a:ext>
            </a:extLst>
          </p:cNvPr>
          <p:cNvSpPr>
            <a:spLocks noGrp="1"/>
          </p:cNvSpPr>
          <p:nvPr>
            <p:ph idx="1"/>
          </p:nvPr>
        </p:nvSpPr>
        <p:spPr>
          <a:xfrm>
            <a:off x="188086" y="508699"/>
            <a:ext cx="4191509" cy="478030"/>
          </a:xfrm>
        </p:spPr>
        <p:txBody>
          <a:bodyPr/>
          <a:lstStyle/>
          <a:p>
            <a:r>
              <a:rPr kumimoji="1" lang="zh-CN" altLang="en-US" dirty="0"/>
              <a:t>挤出效应</a:t>
            </a:r>
            <a:r>
              <a:rPr lang="zh-CN" altLang="en-US" b="0" i="0" dirty="0">
                <a:effectLst/>
                <a:latin typeface="Inter"/>
              </a:rPr>
              <a:t>是指政府支出增加所引起的消费减少或投资降低的经济效应。</a:t>
            </a:r>
            <a:endParaRPr kumimoji="1" lang="zh-CN" altLang="en-US" dirty="0"/>
          </a:p>
        </p:txBody>
      </p:sp>
      <p:sp>
        <p:nvSpPr>
          <p:cNvPr id="4" name="页脚占位符 3">
            <a:extLst>
              <a:ext uri="{FF2B5EF4-FFF2-40B4-BE49-F238E27FC236}">
                <a16:creationId xmlns:a16="http://schemas.microsoft.com/office/drawing/2014/main" id="{F42D6E2E-5D71-AF38-81DC-B020FD5EABAC}"/>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A3374108-7D98-9F3E-FB8F-E201A85C7BCB}"/>
              </a:ext>
            </a:extLst>
          </p:cNvPr>
          <p:cNvSpPr>
            <a:spLocks noGrp="1"/>
          </p:cNvSpPr>
          <p:nvPr>
            <p:ph type="sldNum" sz="quarter" idx="11"/>
          </p:nvPr>
        </p:nvSpPr>
        <p:spPr/>
        <p:txBody>
          <a:bodyPr/>
          <a:lstStyle/>
          <a:p>
            <a:fld id="{FF75CA96-F32A-7F4F-98C9-CA940BD9BB90}" type="slidenum">
              <a:rPr lang="zh-CN" altLang="zh-CN" smtClean="0"/>
              <a:pPr/>
              <a:t>81</a:t>
            </a:fld>
            <a:endParaRPr lang="en-US" altLang="zh-CN"/>
          </a:p>
        </p:txBody>
      </p:sp>
      <p:cxnSp>
        <p:nvCxnSpPr>
          <p:cNvPr id="6" name="直线连接符 5">
            <a:extLst>
              <a:ext uri="{FF2B5EF4-FFF2-40B4-BE49-F238E27FC236}">
                <a16:creationId xmlns:a16="http://schemas.microsoft.com/office/drawing/2014/main" id="{472E33C8-2FB3-213E-C1F5-9F24FB05B88E}"/>
              </a:ext>
            </a:extLst>
          </p:cNvPr>
          <p:cNvCxnSpPr>
            <a:cxnSpLocks/>
          </p:cNvCxnSpPr>
          <p:nvPr/>
        </p:nvCxnSpPr>
        <p:spPr>
          <a:xfrm>
            <a:off x="1932016" y="1973132"/>
            <a:ext cx="10810" cy="747361"/>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469BDC59-BD13-54FC-D276-456B5C8B4E19}"/>
              </a:ext>
            </a:extLst>
          </p:cNvPr>
          <p:cNvCxnSpPr>
            <a:cxnSpLocks/>
            <a:endCxn id="20" idx="1"/>
          </p:cNvCxnSpPr>
          <p:nvPr/>
        </p:nvCxnSpPr>
        <p:spPr>
          <a:xfrm flipV="1">
            <a:off x="540990" y="1755487"/>
            <a:ext cx="1132912" cy="6274"/>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8" name="直线连接符 7">
            <a:extLst>
              <a:ext uri="{FF2B5EF4-FFF2-40B4-BE49-F238E27FC236}">
                <a16:creationId xmlns:a16="http://schemas.microsoft.com/office/drawing/2014/main" id="{20C02C6B-A295-D146-F452-25683716EE2F}"/>
              </a:ext>
            </a:extLst>
          </p:cNvPr>
          <p:cNvCxnSpPr>
            <a:cxnSpLocks/>
            <a:stCxn id="26" idx="0"/>
          </p:cNvCxnSpPr>
          <p:nvPr/>
        </p:nvCxnSpPr>
        <p:spPr>
          <a:xfrm>
            <a:off x="1424291" y="1986076"/>
            <a:ext cx="8093" cy="752714"/>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038FF018-FD5E-60BA-2CFA-4BFFEA9B2383}"/>
              </a:ext>
            </a:extLst>
          </p:cNvPr>
          <p:cNvCxnSpPr>
            <a:cxnSpLocks/>
          </p:cNvCxnSpPr>
          <p:nvPr/>
        </p:nvCxnSpPr>
        <p:spPr>
          <a:xfrm flipH="1" flipV="1">
            <a:off x="1179475" y="1333730"/>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88FAC2D2-EE2F-8003-13A4-376A2A3D85AA}"/>
              </a:ext>
            </a:extLst>
          </p:cNvPr>
          <p:cNvSpPr/>
          <p:nvPr/>
        </p:nvSpPr>
        <p:spPr>
          <a:xfrm>
            <a:off x="360834" y="2930447"/>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挤出效应</a:t>
            </a:r>
          </a:p>
        </p:txBody>
      </p:sp>
      <p:cxnSp>
        <p:nvCxnSpPr>
          <p:cNvPr id="11" name="直线箭头连接符 10">
            <a:extLst>
              <a:ext uri="{FF2B5EF4-FFF2-40B4-BE49-F238E27FC236}">
                <a16:creationId xmlns:a16="http://schemas.microsoft.com/office/drawing/2014/main" id="{49770434-54DF-CFE9-73D5-54B436AAAC92}"/>
              </a:ext>
            </a:extLst>
          </p:cNvPr>
          <p:cNvCxnSpPr>
            <a:cxnSpLocks/>
          </p:cNvCxnSpPr>
          <p:nvPr/>
        </p:nvCxnSpPr>
        <p:spPr>
          <a:xfrm>
            <a:off x="524630" y="2714704"/>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91EC84C9-064D-E4A0-C552-EC3B77AA95A6}"/>
              </a:ext>
            </a:extLst>
          </p:cNvPr>
          <p:cNvCxnSpPr/>
          <p:nvPr/>
        </p:nvCxnSpPr>
        <p:spPr>
          <a:xfrm flipV="1">
            <a:off x="524630" y="1070036"/>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BC8A09E1-D6A5-689F-E378-04F6BC367C81}"/>
              </a:ext>
            </a:extLst>
          </p:cNvPr>
          <p:cNvCxnSpPr>
            <a:cxnSpLocks/>
          </p:cNvCxnSpPr>
          <p:nvPr/>
        </p:nvCxnSpPr>
        <p:spPr>
          <a:xfrm flipH="1">
            <a:off x="925141" y="1269267"/>
            <a:ext cx="1237557" cy="123747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59F562E-4BC3-378F-75F4-35FA635A18F8}"/>
                  </a:ext>
                </a:extLst>
              </p:cNvPr>
              <p:cNvSpPr txBox="1"/>
              <p:nvPr/>
            </p:nvSpPr>
            <p:spPr>
              <a:xfrm>
                <a:off x="2069019" y="1119974"/>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4" name="文本框 13">
                <a:extLst>
                  <a:ext uri="{FF2B5EF4-FFF2-40B4-BE49-F238E27FC236}">
                    <a16:creationId xmlns:a16="http://schemas.microsoft.com/office/drawing/2014/main" id="{C59F562E-4BC3-378F-75F4-35FA635A18F8}"/>
                  </a:ext>
                </a:extLst>
              </p:cNvPr>
              <p:cNvSpPr txBox="1">
                <a:spLocks noRot="1" noChangeAspect="1" noMove="1" noResize="1" noEditPoints="1" noAdjustHandles="1" noChangeArrowheads="1" noChangeShapeType="1" noTextEdit="1"/>
              </p:cNvSpPr>
              <p:nvPr/>
            </p:nvSpPr>
            <p:spPr>
              <a:xfrm>
                <a:off x="2069019" y="1119974"/>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D263819C-264E-7882-23EB-AF7BF1591DA5}"/>
              </a:ext>
            </a:extLst>
          </p:cNvPr>
          <p:cNvSpPr txBox="1"/>
          <p:nvPr/>
        </p:nvSpPr>
        <p:spPr>
          <a:xfrm>
            <a:off x="236861" y="933182"/>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4008DFD-3179-27CF-F9B7-A2506A89FD29}"/>
                  </a:ext>
                </a:extLst>
              </p:cNvPr>
              <p:cNvSpPr txBox="1"/>
              <p:nvPr/>
            </p:nvSpPr>
            <p:spPr>
              <a:xfrm>
                <a:off x="2805261" y="2572076"/>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74008DFD-3179-27CF-F9B7-A2506A89FD29}"/>
                  </a:ext>
                </a:extLst>
              </p:cNvPr>
              <p:cNvSpPr txBox="1">
                <a:spLocks noRot="1" noChangeAspect="1" noMove="1" noResize="1" noEditPoints="1" noAdjustHandles="1" noChangeArrowheads="1" noChangeShapeType="1" noTextEdit="1"/>
              </p:cNvSpPr>
              <p:nvPr/>
            </p:nvSpPr>
            <p:spPr>
              <a:xfrm>
                <a:off x="2805261" y="2572076"/>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67A130F6-8C89-E463-8C92-057FE4A43103}"/>
              </a:ext>
            </a:extLst>
          </p:cNvPr>
          <p:cNvCxnSpPr>
            <a:cxnSpLocks/>
            <a:stCxn id="19" idx="0"/>
          </p:cNvCxnSpPr>
          <p:nvPr/>
        </p:nvCxnSpPr>
        <p:spPr>
          <a:xfrm>
            <a:off x="1672794" y="1727474"/>
            <a:ext cx="14215" cy="98279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F01500CD-F658-6D00-EDDB-3480249A66D9}"/>
              </a:ext>
            </a:extLst>
          </p:cNvPr>
          <p:cNvCxnSpPr>
            <a:cxnSpLocks/>
          </p:cNvCxnSpPr>
          <p:nvPr/>
        </p:nvCxnSpPr>
        <p:spPr>
          <a:xfrm>
            <a:off x="528395" y="2006650"/>
            <a:ext cx="1407117"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9" name="椭圆 18">
            <a:extLst>
              <a:ext uri="{FF2B5EF4-FFF2-40B4-BE49-F238E27FC236}">
                <a16:creationId xmlns:a16="http://schemas.microsoft.com/office/drawing/2014/main" id="{15CB1546-FFDF-8E4C-B2EA-22D48A283638}"/>
              </a:ext>
            </a:extLst>
          </p:cNvPr>
          <p:cNvSpPr/>
          <p:nvPr/>
        </p:nvSpPr>
        <p:spPr>
          <a:xfrm>
            <a:off x="1649934" y="172747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CE899624-7F8B-ACFA-C7DB-5FB1547F1E85}"/>
              </a:ext>
            </a:extLst>
          </p:cNvPr>
          <p:cNvSpPr txBox="1"/>
          <p:nvPr/>
        </p:nvSpPr>
        <p:spPr>
          <a:xfrm>
            <a:off x="1673902" y="1640071"/>
            <a:ext cx="287258"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6E8BC827-8DFB-2D31-DAF7-3C3BF004F671}"/>
                  </a:ext>
                </a:extLst>
              </p:cNvPr>
              <p:cNvSpPr txBox="1"/>
              <p:nvPr/>
            </p:nvSpPr>
            <p:spPr>
              <a:xfrm>
                <a:off x="235706" y="1849088"/>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1" name="文本框 20">
                <a:extLst>
                  <a:ext uri="{FF2B5EF4-FFF2-40B4-BE49-F238E27FC236}">
                    <a16:creationId xmlns:a16="http://schemas.microsoft.com/office/drawing/2014/main" id="{6E8BC827-8DFB-2D31-DAF7-3C3BF004F671}"/>
                  </a:ext>
                </a:extLst>
              </p:cNvPr>
              <p:cNvSpPr txBox="1">
                <a:spLocks noRot="1" noChangeAspect="1" noMove="1" noResize="1" noEditPoints="1" noAdjustHandles="1" noChangeArrowheads="1" noChangeShapeType="1" noTextEdit="1"/>
              </p:cNvSpPr>
              <p:nvPr/>
            </p:nvSpPr>
            <p:spPr>
              <a:xfrm>
                <a:off x="235706" y="1849088"/>
                <a:ext cx="356893" cy="27699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56EBE35-6429-3CB3-0F94-987C328B51FF}"/>
                  </a:ext>
                </a:extLst>
              </p:cNvPr>
              <p:cNvSpPr txBox="1"/>
              <p:nvPr/>
            </p:nvSpPr>
            <p:spPr>
              <a:xfrm>
                <a:off x="1906939" y="2458182"/>
                <a:ext cx="37042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200" i="1" dirty="0" smtClean="0">
                          <a:latin typeface="Cambria Math" panose="02040503050406030204" pitchFamily="18" charset="0"/>
                        </a:rPr>
                        <m:t>𝐼𝑆</m:t>
                      </m:r>
                    </m:oMath>
                  </m:oMathPara>
                </a14:m>
                <a:endParaRPr kumimoji="1" lang="zh-CN" altLang="en-US" sz="1200" dirty="0"/>
              </a:p>
            </p:txBody>
          </p:sp>
        </mc:Choice>
        <mc:Fallback xmlns="">
          <p:sp>
            <p:nvSpPr>
              <p:cNvPr id="22" name="文本框 21">
                <a:extLst>
                  <a:ext uri="{FF2B5EF4-FFF2-40B4-BE49-F238E27FC236}">
                    <a16:creationId xmlns:a16="http://schemas.microsoft.com/office/drawing/2014/main" id="{756EBE35-6429-3CB3-0F94-987C328B51FF}"/>
                  </a:ext>
                </a:extLst>
              </p:cNvPr>
              <p:cNvSpPr txBox="1">
                <a:spLocks noRot="1" noChangeAspect="1" noMove="1" noResize="1" noEditPoints="1" noAdjustHandles="1" noChangeArrowheads="1" noChangeShapeType="1" noTextEdit="1"/>
              </p:cNvSpPr>
              <p:nvPr/>
            </p:nvSpPr>
            <p:spPr>
              <a:xfrm>
                <a:off x="1906939" y="2458182"/>
                <a:ext cx="370421" cy="276999"/>
              </a:xfrm>
              <a:prstGeom prst="rect">
                <a:avLst/>
              </a:prstGeom>
              <a:blipFill>
                <a:blip r:embed="rId5"/>
                <a:stretch>
                  <a:fillRect/>
                </a:stretch>
              </a:blipFill>
            </p:spPr>
            <p:txBody>
              <a:bodyPr/>
              <a:lstStyle/>
              <a:p>
                <a:r>
                  <a:rPr lang="zh-CN" altLang="en-US">
                    <a:noFill/>
                  </a:rPr>
                  <a:t> </a:t>
                </a:r>
              </a:p>
            </p:txBody>
          </p:sp>
        </mc:Fallback>
      </mc:AlternateContent>
      <p:cxnSp>
        <p:nvCxnSpPr>
          <p:cNvPr id="23" name="直线连接符 22">
            <a:extLst>
              <a:ext uri="{FF2B5EF4-FFF2-40B4-BE49-F238E27FC236}">
                <a16:creationId xmlns:a16="http://schemas.microsoft.com/office/drawing/2014/main" id="{0EFD426C-882D-B02D-54E8-CAE0B3DB9792}"/>
              </a:ext>
            </a:extLst>
          </p:cNvPr>
          <p:cNvCxnSpPr>
            <a:cxnSpLocks/>
          </p:cNvCxnSpPr>
          <p:nvPr/>
        </p:nvCxnSpPr>
        <p:spPr>
          <a:xfrm flipH="1" flipV="1">
            <a:off x="681595" y="1339482"/>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691AD26F-4D7B-45AD-BA1E-425B8301229C}"/>
              </a:ext>
            </a:extLst>
          </p:cNvPr>
          <p:cNvCxnSpPr>
            <a:cxnSpLocks/>
          </p:cNvCxnSpPr>
          <p:nvPr/>
        </p:nvCxnSpPr>
        <p:spPr>
          <a:xfrm>
            <a:off x="1736086" y="2132330"/>
            <a:ext cx="2602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椭圆 24">
            <a:extLst>
              <a:ext uri="{FF2B5EF4-FFF2-40B4-BE49-F238E27FC236}">
                <a16:creationId xmlns:a16="http://schemas.microsoft.com/office/drawing/2014/main" id="{0A7E505D-CB08-CAED-9B51-A901B6FC4439}"/>
              </a:ext>
            </a:extLst>
          </p:cNvPr>
          <p:cNvSpPr/>
          <p:nvPr/>
        </p:nvSpPr>
        <p:spPr>
          <a:xfrm>
            <a:off x="1916265" y="198004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a:extLst>
              <a:ext uri="{FF2B5EF4-FFF2-40B4-BE49-F238E27FC236}">
                <a16:creationId xmlns:a16="http://schemas.microsoft.com/office/drawing/2014/main" id="{F4815731-2A38-876F-ADB0-26F6104C609D}"/>
              </a:ext>
            </a:extLst>
          </p:cNvPr>
          <p:cNvSpPr/>
          <p:nvPr/>
        </p:nvSpPr>
        <p:spPr>
          <a:xfrm>
            <a:off x="1401431" y="198607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60B845AB-A8A2-BEAF-23A8-D3C1A49AC217}"/>
              </a:ext>
            </a:extLst>
          </p:cNvPr>
          <p:cNvSpPr txBox="1"/>
          <p:nvPr/>
        </p:nvSpPr>
        <p:spPr>
          <a:xfrm>
            <a:off x="1908948" y="1869267"/>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28" name="文本框 27">
            <a:extLst>
              <a:ext uri="{FF2B5EF4-FFF2-40B4-BE49-F238E27FC236}">
                <a16:creationId xmlns:a16="http://schemas.microsoft.com/office/drawing/2014/main" id="{DCE7295E-64E4-EA29-F8FF-5B38EC634F34}"/>
              </a:ext>
            </a:extLst>
          </p:cNvPr>
          <p:cNvSpPr txBox="1"/>
          <p:nvPr/>
        </p:nvSpPr>
        <p:spPr>
          <a:xfrm>
            <a:off x="1296255" y="2006561"/>
            <a:ext cx="261610"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52BFC5F-ACEC-15B6-1044-29EEC137C124}"/>
                  </a:ext>
                </a:extLst>
              </p:cNvPr>
              <p:cNvSpPr txBox="1"/>
              <p:nvPr/>
            </p:nvSpPr>
            <p:spPr>
              <a:xfrm>
                <a:off x="235706" y="1507519"/>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9" name="文本框 28">
                <a:extLst>
                  <a:ext uri="{FF2B5EF4-FFF2-40B4-BE49-F238E27FC236}">
                    <a16:creationId xmlns:a16="http://schemas.microsoft.com/office/drawing/2014/main" id="{052BFC5F-ACEC-15B6-1044-29EEC137C124}"/>
                  </a:ext>
                </a:extLst>
              </p:cNvPr>
              <p:cNvSpPr txBox="1">
                <a:spLocks noRot="1" noChangeAspect="1" noMove="1" noResize="1" noEditPoints="1" noAdjustHandles="1" noChangeArrowheads="1" noChangeShapeType="1" noTextEdit="1"/>
              </p:cNvSpPr>
              <p:nvPr/>
            </p:nvSpPr>
            <p:spPr>
              <a:xfrm>
                <a:off x="235706" y="1507519"/>
                <a:ext cx="353302" cy="27699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ED7544D6-A4A5-400A-632C-3E813E99D048}"/>
                  </a:ext>
                </a:extLst>
              </p:cNvPr>
              <p:cNvSpPr txBox="1"/>
              <p:nvPr/>
            </p:nvSpPr>
            <p:spPr>
              <a:xfrm>
                <a:off x="1817102" y="2186676"/>
                <a:ext cx="208390"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1100" i="1" smtClean="0">
                          <a:latin typeface="Cambria Math" panose="02040503050406030204" pitchFamily="18" charset="0"/>
                        </a:rPr>
                        <m:t>∆</m:t>
                      </m:r>
                      <m:r>
                        <m:rPr>
                          <m:sty m:val="p"/>
                        </m:rPr>
                        <a:rPr kumimoji="1" lang="en-US" altLang="zh-CN" sz="1100" i="1">
                          <a:latin typeface="Cambria Math" panose="02040503050406030204" pitchFamily="18" charset="0"/>
                        </a:rPr>
                        <m:t>G</m:t>
                      </m:r>
                    </m:oMath>
                  </m:oMathPara>
                </a14:m>
                <a:endParaRPr kumimoji="1" lang="zh-CN" altLang="en-US" sz="1100" dirty="0"/>
              </a:p>
            </p:txBody>
          </p:sp>
        </mc:Choice>
        <mc:Fallback xmlns="">
          <p:sp>
            <p:nvSpPr>
              <p:cNvPr id="30" name="文本框 29">
                <a:extLst>
                  <a:ext uri="{FF2B5EF4-FFF2-40B4-BE49-F238E27FC236}">
                    <a16:creationId xmlns:a16="http://schemas.microsoft.com/office/drawing/2014/main" id="{ED7544D6-A4A5-400A-632C-3E813E99D048}"/>
                  </a:ext>
                </a:extLst>
              </p:cNvPr>
              <p:cNvSpPr txBox="1">
                <a:spLocks noRot="1" noChangeAspect="1" noMove="1" noResize="1" noEditPoints="1" noAdjustHandles="1" noChangeArrowheads="1" noChangeShapeType="1" noTextEdit="1"/>
              </p:cNvSpPr>
              <p:nvPr/>
            </p:nvSpPr>
            <p:spPr>
              <a:xfrm>
                <a:off x="1817102" y="2186676"/>
                <a:ext cx="208390" cy="169277"/>
              </a:xfrm>
              <a:prstGeom prst="rect">
                <a:avLst/>
              </a:prstGeom>
              <a:blipFill>
                <a:blip r:embed="rId7"/>
                <a:stretch>
                  <a:fillRect l="-11765" r="-11765"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9CBCA08-C498-6C7C-630C-D2B4EEE24CAF}"/>
                  </a:ext>
                </a:extLst>
              </p:cNvPr>
              <p:cNvSpPr txBox="1"/>
              <p:nvPr/>
            </p:nvSpPr>
            <p:spPr>
              <a:xfrm>
                <a:off x="2424796" y="2455840"/>
                <a:ext cx="40107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200" i="1" dirty="0" smtClean="0">
                          <a:latin typeface="Cambria Math" panose="02040503050406030204" pitchFamily="18" charset="0"/>
                        </a:rPr>
                        <m:t>𝐼𝑆</m:t>
                      </m:r>
                      <m:r>
                        <a:rPr kumimoji="1" lang="zh-CN" altLang="en-US" sz="1200" i="1" dirty="0" smtClean="0">
                          <a:latin typeface="Cambria Math" panose="02040503050406030204" pitchFamily="18" charset="0"/>
                        </a:rPr>
                        <m:t>‘</m:t>
                      </m:r>
                    </m:oMath>
                  </m:oMathPara>
                </a14:m>
                <a:endParaRPr kumimoji="1" lang="zh-CN" altLang="en-US" sz="1200" dirty="0"/>
              </a:p>
            </p:txBody>
          </p:sp>
        </mc:Choice>
        <mc:Fallback xmlns="">
          <p:sp>
            <p:nvSpPr>
              <p:cNvPr id="32" name="文本框 31">
                <a:extLst>
                  <a:ext uri="{FF2B5EF4-FFF2-40B4-BE49-F238E27FC236}">
                    <a16:creationId xmlns:a16="http://schemas.microsoft.com/office/drawing/2014/main" id="{19CBCA08-C498-6C7C-630C-D2B4EEE24CAF}"/>
                  </a:ext>
                </a:extLst>
              </p:cNvPr>
              <p:cNvSpPr txBox="1">
                <a:spLocks noRot="1" noChangeAspect="1" noMove="1" noResize="1" noEditPoints="1" noAdjustHandles="1" noChangeArrowheads="1" noChangeShapeType="1" noTextEdit="1"/>
              </p:cNvSpPr>
              <p:nvPr/>
            </p:nvSpPr>
            <p:spPr>
              <a:xfrm>
                <a:off x="2424796" y="2455840"/>
                <a:ext cx="401071" cy="27699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7073B820-6E45-DD5B-AE91-3217F42BE494}"/>
                  </a:ext>
                </a:extLst>
              </p:cNvPr>
              <p:cNvSpPr txBox="1"/>
              <p:nvPr/>
            </p:nvSpPr>
            <p:spPr>
              <a:xfrm>
                <a:off x="1272753" y="2662404"/>
                <a:ext cx="225985"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000" b="0" i="1" smtClean="0">
                              <a:latin typeface="Cambria Math" panose="02040503050406030204" pitchFamily="18" charset="0"/>
                            </a:rPr>
                          </m:ctrlPr>
                        </m:sSubPr>
                        <m:e>
                          <m:r>
                            <a:rPr lang="en-US" altLang="zh-CN" sz="1000" b="0" i="1" smtClean="0">
                              <a:latin typeface="Cambria Math" panose="02040503050406030204" pitchFamily="18" charset="0"/>
                            </a:rPr>
                            <m:t>𝑦</m:t>
                          </m:r>
                        </m:e>
                        <m:sub>
                          <m:r>
                            <a:rPr lang="en-US" altLang="zh-CN" sz="1000" b="0" i="1" smtClean="0">
                              <a:latin typeface="Cambria Math" panose="02040503050406030204" pitchFamily="18" charset="0"/>
                            </a:rPr>
                            <m:t>1</m:t>
                          </m:r>
                        </m:sub>
                      </m:sSub>
                    </m:oMath>
                  </m:oMathPara>
                </a14:m>
                <a:endParaRPr lang="zh-CN" altLang="en-US" sz="1000" i="1" dirty="0"/>
              </a:p>
            </p:txBody>
          </p:sp>
        </mc:Choice>
        <mc:Fallback xmlns="">
          <p:sp>
            <p:nvSpPr>
              <p:cNvPr id="39" name="文本框 38">
                <a:extLst>
                  <a:ext uri="{FF2B5EF4-FFF2-40B4-BE49-F238E27FC236}">
                    <a16:creationId xmlns:a16="http://schemas.microsoft.com/office/drawing/2014/main" id="{7073B820-6E45-DD5B-AE91-3217F42BE494}"/>
                  </a:ext>
                </a:extLst>
              </p:cNvPr>
              <p:cNvSpPr txBox="1">
                <a:spLocks noRot="1" noChangeAspect="1" noMove="1" noResize="1" noEditPoints="1" noAdjustHandles="1" noChangeArrowheads="1" noChangeShapeType="1" noTextEdit="1"/>
              </p:cNvSpPr>
              <p:nvPr/>
            </p:nvSpPr>
            <p:spPr>
              <a:xfrm>
                <a:off x="1272753" y="2662404"/>
                <a:ext cx="225985" cy="246221"/>
              </a:xfrm>
              <a:prstGeom prst="rect">
                <a:avLst/>
              </a:prstGeom>
              <a:blipFill>
                <a:blip r:embed="rId9"/>
                <a:stretch>
                  <a:fillRect r="-5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FFF2532D-948B-8AD6-1420-9F599B9E18DD}"/>
                  </a:ext>
                </a:extLst>
              </p:cNvPr>
              <p:cNvSpPr txBox="1"/>
              <p:nvPr/>
            </p:nvSpPr>
            <p:spPr>
              <a:xfrm>
                <a:off x="1528172" y="2671709"/>
                <a:ext cx="225985"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000" b="0" i="1" smtClean="0">
                              <a:latin typeface="Cambria Math" panose="02040503050406030204" pitchFamily="18" charset="0"/>
                            </a:rPr>
                          </m:ctrlPr>
                        </m:sSubPr>
                        <m:e>
                          <m:r>
                            <a:rPr lang="en-US" altLang="zh-CN" sz="1000" b="0" i="1" smtClean="0">
                              <a:latin typeface="Cambria Math" panose="02040503050406030204" pitchFamily="18" charset="0"/>
                            </a:rPr>
                            <m:t>𝑦</m:t>
                          </m:r>
                        </m:e>
                        <m:sub>
                          <m:r>
                            <a:rPr lang="en-US" altLang="zh-CN" sz="1000" b="0" i="1" smtClean="0">
                              <a:latin typeface="Cambria Math" panose="02040503050406030204" pitchFamily="18" charset="0"/>
                            </a:rPr>
                            <m:t>2</m:t>
                          </m:r>
                        </m:sub>
                      </m:sSub>
                    </m:oMath>
                  </m:oMathPara>
                </a14:m>
                <a:endParaRPr lang="zh-CN" altLang="en-US" sz="1000" i="1" dirty="0"/>
              </a:p>
            </p:txBody>
          </p:sp>
        </mc:Choice>
        <mc:Fallback xmlns="">
          <p:sp>
            <p:nvSpPr>
              <p:cNvPr id="40" name="文本框 39">
                <a:extLst>
                  <a:ext uri="{FF2B5EF4-FFF2-40B4-BE49-F238E27FC236}">
                    <a16:creationId xmlns:a16="http://schemas.microsoft.com/office/drawing/2014/main" id="{FFF2532D-948B-8AD6-1420-9F599B9E18DD}"/>
                  </a:ext>
                </a:extLst>
              </p:cNvPr>
              <p:cNvSpPr txBox="1">
                <a:spLocks noRot="1" noChangeAspect="1" noMove="1" noResize="1" noEditPoints="1" noAdjustHandles="1" noChangeArrowheads="1" noChangeShapeType="1" noTextEdit="1"/>
              </p:cNvSpPr>
              <p:nvPr/>
            </p:nvSpPr>
            <p:spPr>
              <a:xfrm>
                <a:off x="1528172" y="2671709"/>
                <a:ext cx="225985" cy="246221"/>
              </a:xfrm>
              <a:prstGeom prst="rect">
                <a:avLst/>
              </a:prstGeom>
              <a:blipFill>
                <a:blip r:embed="rId10"/>
                <a:stretch>
                  <a:fillRect r="-5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A07F5B8B-48C0-74D9-B0B9-E4E1E73377E9}"/>
                  </a:ext>
                </a:extLst>
              </p:cNvPr>
              <p:cNvSpPr txBox="1"/>
              <p:nvPr/>
            </p:nvSpPr>
            <p:spPr>
              <a:xfrm>
                <a:off x="1801963" y="2681518"/>
                <a:ext cx="225985"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000" b="0" i="1" smtClean="0">
                              <a:latin typeface="Cambria Math" panose="02040503050406030204" pitchFamily="18" charset="0"/>
                            </a:rPr>
                          </m:ctrlPr>
                        </m:sSubPr>
                        <m:e>
                          <m:r>
                            <a:rPr lang="en-US" altLang="zh-CN" sz="1000" b="0" i="1" smtClean="0">
                              <a:latin typeface="Cambria Math" panose="02040503050406030204" pitchFamily="18" charset="0"/>
                            </a:rPr>
                            <m:t>𝑦</m:t>
                          </m:r>
                        </m:e>
                        <m:sub>
                          <m:r>
                            <a:rPr lang="en-US" altLang="zh-CN" sz="1000" b="0" i="1" smtClean="0">
                              <a:latin typeface="Cambria Math" panose="02040503050406030204" pitchFamily="18" charset="0"/>
                            </a:rPr>
                            <m:t>3</m:t>
                          </m:r>
                        </m:sub>
                      </m:sSub>
                    </m:oMath>
                  </m:oMathPara>
                </a14:m>
                <a:endParaRPr lang="zh-CN" altLang="en-US" sz="1000" i="1" dirty="0"/>
              </a:p>
            </p:txBody>
          </p:sp>
        </mc:Choice>
        <mc:Fallback xmlns="">
          <p:sp>
            <p:nvSpPr>
              <p:cNvPr id="41" name="文本框 40">
                <a:extLst>
                  <a:ext uri="{FF2B5EF4-FFF2-40B4-BE49-F238E27FC236}">
                    <a16:creationId xmlns:a16="http://schemas.microsoft.com/office/drawing/2014/main" id="{A07F5B8B-48C0-74D9-B0B9-E4E1E73377E9}"/>
                  </a:ext>
                </a:extLst>
              </p:cNvPr>
              <p:cNvSpPr txBox="1">
                <a:spLocks noRot="1" noChangeAspect="1" noMove="1" noResize="1" noEditPoints="1" noAdjustHandles="1" noChangeArrowheads="1" noChangeShapeType="1" noTextEdit="1"/>
              </p:cNvSpPr>
              <p:nvPr/>
            </p:nvSpPr>
            <p:spPr>
              <a:xfrm>
                <a:off x="1801963" y="2681518"/>
                <a:ext cx="225985" cy="246221"/>
              </a:xfrm>
              <a:prstGeom prst="rect">
                <a:avLst/>
              </a:prstGeom>
              <a:blipFill>
                <a:blip r:embed="rId11"/>
                <a:stretch>
                  <a:fillRect r="-111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9187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1"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dow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left)">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wipe(left)">
                                      <p:cBhvr>
                                        <p:cTn id="5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39" grpId="0"/>
      <p:bldP spid="40" grpId="0"/>
      <p:bldP spid="4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a:extLst>
              <a:ext uri="{FF2B5EF4-FFF2-40B4-BE49-F238E27FC236}">
                <a16:creationId xmlns:a16="http://schemas.microsoft.com/office/drawing/2014/main" id="{11A7E3D1-9AE6-C36C-CE70-CB2C5B0F0EAC}"/>
              </a:ext>
            </a:extLst>
          </p:cNvPr>
          <p:cNvSpPr txBox="1">
            <a:spLocks noChangeArrowheads="1"/>
          </p:cNvSpPr>
          <p:nvPr/>
        </p:nvSpPr>
        <p:spPr bwMode="auto">
          <a:xfrm>
            <a:off x="304139" y="171265"/>
            <a:ext cx="4138686" cy="4810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练习题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挤出效应的计算</a:t>
            </a:r>
          </a:p>
        </p:txBody>
      </p:sp>
      <p:sp>
        <p:nvSpPr>
          <p:cNvPr id="3" name="内容占位符 2">
            <a:extLst>
              <a:ext uri="{FF2B5EF4-FFF2-40B4-BE49-F238E27FC236}">
                <a16:creationId xmlns:a16="http://schemas.microsoft.com/office/drawing/2014/main" id="{7B784E60-C32A-4331-B452-7A5244210CCE}"/>
              </a:ext>
            </a:extLst>
          </p:cNvPr>
          <p:cNvSpPr>
            <a:spLocks noGrp="1"/>
          </p:cNvSpPr>
          <p:nvPr>
            <p:ph idx="1"/>
          </p:nvPr>
        </p:nvSpPr>
        <p:spPr>
          <a:xfrm>
            <a:off x="188086" y="722270"/>
            <a:ext cx="4191509" cy="2369173"/>
          </a:xfrm>
        </p:spPr>
        <p:txBody>
          <a:bodyPr/>
          <a:lstStyle/>
          <a:p>
            <a:pPr marL="0" indent="0">
              <a:buNone/>
            </a:pPr>
            <a:r>
              <a:rPr lang="zh-CN" altLang="en-US" sz="1050" dirty="0">
                <a:solidFill>
                  <a:schemeClr val="dk1"/>
                </a:solidFill>
                <a:ea typeface="+mn-ea"/>
              </a:rPr>
              <a:t>假设一个三部门经济中，消费</a:t>
            </a:r>
            <a:r>
              <a:rPr lang="en-US" altLang="zh-CN" sz="1050" dirty="0">
                <a:solidFill>
                  <a:schemeClr val="dk1"/>
                </a:solidFill>
                <a:ea typeface="+mn-ea"/>
              </a:rPr>
              <a:t>C=100+0.8Yd</a:t>
            </a:r>
            <a:r>
              <a:rPr lang="zh-CN" altLang="en-US" sz="1050" dirty="0">
                <a:solidFill>
                  <a:schemeClr val="dk1"/>
                </a:solidFill>
                <a:ea typeface="+mn-ea"/>
              </a:rPr>
              <a:t>，投资</a:t>
            </a:r>
            <a:r>
              <a:rPr lang="en-US" altLang="zh-CN" sz="1050" dirty="0">
                <a:solidFill>
                  <a:schemeClr val="dk1"/>
                </a:solidFill>
                <a:ea typeface="+mn-ea"/>
              </a:rPr>
              <a:t>I=150-6r, </a:t>
            </a:r>
            <a:r>
              <a:rPr lang="zh-CN" altLang="en-US" sz="1050" dirty="0">
                <a:solidFill>
                  <a:schemeClr val="dk1"/>
                </a:solidFill>
                <a:ea typeface="+mn-ea"/>
              </a:rPr>
              <a:t>政府支出</a:t>
            </a:r>
            <a:r>
              <a:rPr lang="en-US" altLang="zh-CN" sz="1050" dirty="0">
                <a:solidFill>
                  <a:schemeClr val="dk1"/>
                </a:solidFill>
                <a:ea typeface="+mn-ea"/>
              </a:rPr>
              <a:t>G=260, </a:t>
            </a:r>
            <a:r>
              <a:rPr lang="zh-CN" altLang="en-US" sz="1050" dirty="0">
                <a:solidFill>
                  <a:schemeClr val="dk1"/>
                </a:solidFill>
                <a:ea typeface="+mn-ea"/>
              </a:rPr>
              <a:t>政府税收</a:t>
            </a:r>
            <a:r>
              <a:rPr lang="en-US" altLang="zh-CN" sz="1050" dirty="0">
                <a:solidFill>
                  <a:schemeClr val="dk1"/>
                </a:solidFill>
                <a:ea typeface="+mn-ea"/>
              </a:rPr>
              <a:t>T=200</a:t>
            </a:r>
            <a:r>
              <a:rPr lang="zh-CN" altLang="en-US" sz="1050" dirty="0">
                <a:solidFill>
                  <a:schemeClr val="dk1"/>
                </a:solidFill>
                <a:ea typeface="+mn-ea"/>
              </a:rPr>
              <a:t>。货币供给</a:t>
            </a:r>
            <a:r>
              <a:rPr lang="en-US" altLang="zh-CN" sz="1050" dirty="0">
                <a:solidFill>
                  <a:schemeClr val="dk1"/>
                </a:solidFill>
                <a:ea typeface="+mn-ea"/>
              </a:rPr>
              <a:t>M=150</a:t>
            </a:r>
            <a:r>
              <a:rPr lang="zh-CN" altLang="en-US" sz="1050" dirty="0">
                <a:solidFill>
                  <a:schemeClr val="dk1"/>
                </a:solidFill>
                <a:ea typeface="+mn-ea"/>
              </a:rPr>
              <a:t>，货币需求</a:t>
            </a:r>
            <a:r>
              <a:rPr lang="en-US" altLang="zh-CN" sz="1050" dirty="0">
                <a:solidFill>
                  <a:schemeClr val="dk1"/>
                </a:solidFill>
                <a:ea typeface="+mn-ea"/>
              </a:rPr>
              <a:t>L=0.2Y-4r</a:t>
            </a:r>
            <a:r>
              <a:rPr lang="zh-CN" altLang="en-US" sz="1050" dirty="0">
                <a:solidFill>
                  <a:schemeClr val="dk1"/>
                </a:solidFill>
                <a:ea typeface="+mn-ea"/>
              </a:rPr>
              <a:t>，物价水平</a:t>
            </a:r>
            <a:r>
              <a:rPr lang="en-US" altLang="zh-CN" sz="1050" dirty="0">
                <a:solidFill>
                  <a:schemeClr val="dk1"/>
                </a:solidFill>
                <a:ea typeface="+mn-ea"/>
              </a:rPr>
              <a:t>P=1</a:t>
            </a:r>
            <a:r>
              <a:rPr lang="zh-CN" altLang="en-US" sz="1050" dirty="0">
                <a:solidFill>
                  <a:schemeClr val="dk1"/>
                </a:solidFill>
                <a:ea typeface="+mn-ea"/>
              </a:rPr>
              <a:t>。</a:t>
            </a:r>
            <a:r>
              <a:rPr lang="en-US" altLang="zh-CN" sz="1050" dirty="0">
                <a:solidFill>
                  <a:schemeClr val="dk1"/>
                </a:solidFill>
                <a:ea typeface="+mn-ea"/>
              </a:rPr>
              <a:t> </a:t>
            </a:r>
            <a:r>
              <a:rPr lang="zh-CN" altLang="en-US" sz="1050" dirty="0">
                <a:solidFill>
                  <a:schemeClr val="dk1"/>
                </a:solidFill>
                <a:ea typeface="+mn-ea"/>
              </a:rPr>
              <a:t>计算：</a:t>
            </a:r>
          </a:p>
          <a:p>
            <a:pPr marL="0" indent="0">
              <a:buNone/>
            </a:pPr>
            <a:r>
              <a:rPr lang="zh-CN" altLang="en-US" sz="1050" dirty="0">
                <a:solidFill>
                  <a:schemeClr val="dk1"/>
                </a:solidFill>
                <a:ea typeface="+mn-ea"/>
              </a:rPr>
              <a:t>（</a:t>
            </a:r>
            <a:r>
              <a:rPr lang="en-US" altLang="zh-CN" sz="1050" dirty="0">
                <a:solidFill>
                  <a:schemeClr val="dk1"/>
                </a:solidFill>
                <a:ea typeface="+mn-ea"/>
              </a:rPr>
              <a:t>1</a:t>
            </a:r>
            <a:r>
              <a:rPr lang="zh-CN" altLang="en-US" sz="1050" dirty="0">
                <a:solidFill>
                  <a:schemeClr val="dk1"/>
                </a:solidFill>
                <a:ea typeface="+mn-ea"/>
              </a:rPr>
              <a:t>）均衡利率与均衡国民收入。</a:t>
            </a:r>
          </a:p>
          <a:p>
            <a:pPr marL="0" indent="0">
              <a:buNone/>
            </a:pPr>
            <a:r>
              <a:rPr lang="zh-CN" altLang="en-US" sz="1050" dirty="0">
                <a:solidFill>
                  <a:schemeClr val="dk1"/>
                </a:solidFill>
                <a:ea typeface="+mn-ea"/>
              </a:rPr>
              <a:t>（</a:t>
            </a:r>
            <a:r>
              <a:rPr lang="en-US" altLang="zh-CN" sz="1050" dirty="0">
                <a:solidFill>
                  <a:schemeClr val="dk1"/>
                </a:solidFill>
                <a:ea typeface="+mn-ea"/>
              </a:rPr>
              <a:t>2</a:t>
            </a:r>
            <a:r>
              <a:rPr lang="zh-CN" altLang="en-US" sz="1050" dirty="0">
                <a:solidFill>
                  <a:schemeClr val="dk1"/>
                </a:solidFill>
                <a:ea typeface="+mn-ea"/>
              </a:rPr>
              <a:t>）如果政府支出增加</a:t>
            </a:r>
            <a:r>
              <a:rPr lang="en-US" altLang="zh-CN" sz="1050" dirty="0">
                <a:solidFill>
                  <a:schemeClr val="dk1"/>
                </a:solidFill>
                <a:ea typeface="+mn-ea"/>
              </a:rPr>
              <a:t>60</a:t>
            </a:r>
            <a:r>
              <a:rPr lang="zh-CN" altLang="en-US" sz="1050" dirty="0">
                <a:solidFill>
                  <a:schemeClr val="dk1"/>
                </a:solidFill>
                <a:ea typeface="+mn-ea"/>
              </a:rPr>
              <a:t>单位，新的均衡国民收入与均衡利率是多少？挤出效应是多少？</a:t>
            </a:r>
          </a:p>
          <a:p>
            <a:pPr marL="0" indent="0">
              <a:buNone/>
            </a:pPr>
            <a:r>
              <a:rPr lang="zh-CN" altLang="en-US" sz="1050" dirty="0">
                <a:solidFill>
                  <a:schemeClr val="dk1"/>
                </a:solidFill>
                <a:ea typeface="+mn-ea"/>
              </a:rPr>
              <a:t>（</a:t>
            </a:r>
            <a:r>
              <a:rPr lang="en-US" altLang="zh-CN" sz="1050" dirty="0">
                <a:solidFill>
                  <a:schemeClr val="dk1"/>
                </a:solidFill>
                <a:ea typeface="+mn-ea"/>
              </a:rPr>
              <a:t>3</a:t>
            </a:r>
            <a:r>
              <a:rPr lang="zh-CN" altLang="en-US" sz="1050" dirty="0">
                <a:solidFill>
                  <a:schemeClr val="dk1"/>
                </a:solidFill>
                <a:ea typeface="+mn-ea"/>
              </a:rPr>
              <a:t>）通过变动货币供给来使利率恢复到第（</a:t>
            </a:r>
            <a:r>
              <a:rPr lang="en-US" altLang="zh-CN" sz="1050" dirty="0">
                <a:solidFill>
                  <a:schemeClr val="dk1"/>
                </a:solidFill>
                <a:ea typeface="+mn-ea"/>
              </a:rPr>
              <a:t>1</a:t>
            </a:r>
            <a:r>
              <a:rPr lang="zh-CN" altLang="en-US" sz="1050" dirty="0">
                <a:solidFill>
                  <a:schemeClr val="dk1"/>
                </a:solidFill>
                <a:ea typeface="+mn-ea"/>
              </a:rPr>
              <a:t>）问的利率水平，需要变化多少货币量？</a:t>
            </a:r>
          </a:p>
        </p:txBody>
      </p:sp>
      <p:sp>
        <p:nvSpPr>
          <p:cNvPr id="4" name="页脚占位符 3">
            <a:extLst>
              <a:ext uri="{FF2B5EF4-FFF2-40B4-BE49-F238E27FC236}">
                <a16:creationId xmlns:a16="http://schemas.microsoft.com/office/drawing/2014/main" id="{6858A4E1-7D0C-4A7D-A5D9-4A8C2228E129}"/>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99FCB60E-3E3D-4013-B814-72C7BA4183BD}"/>
              </a:ext>
            </a:extLst>
          </p:cNvPr>
          <p:cNvSpPr>
            <a:spLocks noGrp="1"/>
          </p:cNvSpPr>
          <p:nvPr>
            <p:ph type="sldNum" sz="quarter" idx="11"/>
          </p:nvPr>
        </p:nvSpPr>
        <p:spPr/>
        <p:txBody>
          <a:bodyPr/>
          <a:lstStyle/>
          <a:p>
            <a:fld id="{FF75CA96-F32A-7F4F-98C9-CA940BD9BB90}" type="slidenum">
              <a:rPr lang="zh-CN" altLang="zh-CN" smtClean="0"/>
              <a:pPr/>
              <a:t>82</a:t>
            </a:fld>
            <a:endParaRPr lang="en-US" altLang="zh-CN"/>
          </a:p>
        </p:txBody>
      </p:sp>
      <p:sp>
        <p:nvSpPr>
          <p:cNvPr id="6" name="Rectangle 8">
            <a:extLst>
              <a:ext uri="{FF2B5EF4-FFF2-40B4-BE49-F238E27FC236}">
                <a16:creationId xmlns:a16="http://schemas.microsoft.com/office/drawing/2014/main" id="{A0CA5CD1-6A52-95DB-F5CA-34418389F0CE}"/>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7" name="Group 3">
            <a:extLst>
              <a:ext uri="{FF2B5EF4-FFF2-40B4-BE49-F238E27FC236}">
                <a16:creationId xmlns:a16="http://schemas.microsoft.com/office/drawing/2014/main" id="{7F6BF512-7AEC-75BB-28FD-21F671B4E1F1}"/>
              </a:ext>
            </a:extLst>
          </p:cNvPr>
          <p:cNvGrpSpPr>
            <a:grpSpLocks/>
          </p:cNvGrpSpPr>
          <p:nvPr/>
        </p:nvGrpSpPr>
        <p:grpSpPr bwMode="auto">
          <a:xfrm>
            <a:off x="299336" y="148055"/>
            <a:ext cx="4139486" cy="529041"/>
            <a:chOff x="0" y="0"/>
            <a:chExt cx="5000" cy="661"/>
          </a:xfrm>
        </p:grpSpPr>
        <p:sp>
          <p:nvSpPr>
            <p:cNvPr id="8" name="Line 9">
              <a:extLst>
                <a:ext uri="{FF2B5EF4-FFF2-40B4-BE49-F238E27FC236}">
                  <a16:creationId xmlns:a16="http://schemas.microsoft.com/office/drawing/2014/main" id="{AE3F7964-B8E7-6D0B-EC72-8C12E39E71D6}"/>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9" name="Line 10">
              <a:extLst>
                <a:ext uri="{FF2B5EF4-FFF2-40B4-BE49-F238E27FC236}">
                  <a16:creationId xmlns:a16="http://schemas.microsoft.com/office/drawing/2014/main" id="{816459F9-40F2-24B7-9F67-74D6AC5D6589}"/>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10" name="Rectangle 6">
            <a:extLst>
              <a:ext uri="{FF2B5EF4-FFF2-40B4-BE49-F238E27FC236}">
                <a16:creationId xmlns:a16="http://schemas.microsoft.com/office/drawing/2014/main" id="{C9F7F512-3F47-E248-3052-10ADABA9A6C7}"/>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82</a:t>
            </a:fld>
            <a:endParaRPr lang="zh-CN"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918505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B4AB9BF-295E-49B4-B915-51DA96F9432A}"/>
              </a:ext>
            </a:extLst>
          </p:cNvPr>
          <p:cNvGrpSpPr/>
          <p:nvPr/>
        </p:nvGrpSpPr>
        <p:grpSpPr>
          <a:xfrm>
            <a:off x="288826" y="650255"/>
            <a:ext cx="3893375" cy="2364352"/>
            <a:chOff x="446622" y="718376"/>
            <a:chExt cx="7722397" cy="5636238"/>
          </a:xfrm>
        </p:grpSpPr>
        <p:sp>
          <p:nvSpPr>
            <p:cNvPr id="30" name="Text Box 5"/>
            <p:cNvSpPr txBox="1">
              <a:spLocks noChangeArrowheads="1"/>
            </p:cNvSpPr>
            <p:nvPr/>
          </p:nvSpPr>
          <p:spPr bwMode="auto">
            <a:xfrm>
              <a:off x="446622" y="1694547"/>
              <a:ext cx="395288" cy="4216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b="1" dirty="0">
                  <a:latin typeface="+mn-ea"/>
                  <a:ea typeface="+mn-ea"/>
                </a:rPr>
                <a:t>凯恩斯的国民收入决定理论</a:t>
              </a:r>
            </a:p>
          </p:txBody>
        </p:sp>
        <p:sp>
          <p:nvSpPr>
            <p:cNvPr id="31" name="AutoShape 7"/>
            <p:cNvSpPr>
              <a:spLocks/>
            </p:cNvSpPr>
            <p:nvPr/>
          </p:nvSpPr>
          <p:spPr bwMode="auto">
            <a:xfrm>
              <a:off x="1111785" y="1948547"/>
              <a:ext cx="144463" cy="2881313"/>
            </a:xfrm>
            <a:prstGeom prst="leftBrace">
              <a:avLst>
                <a:gd name="adj1" fmla="val 16620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32" name="Text Box 9"/>
            <p:cNvSpPr txBox="1">
              <a:spLocks noChangeArrowheads="1"/>
            </p:cNvSpPr>
            <p:nvPr/>
          </p:nvSpPr>
          <p:spPr bwMode="auto">
            <a:xfrm>
              <a:off x="1399123" y="1805672"/>
              <a:ext cx="15843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消费（</a:t>
              </a:r>
              <a:r>
                <a:rPr lang="en-US" altLang="zh-CN" sz="908">
                  <a:latin typeface="+mn-ea"/>
                  <a:ea typeface="+mn-ea"/>
                </a:rPr>
                <a:t>c</a:t>
              </a:r>
              <a:r>
                <a:rPr lang="zh-CN" altLang="en-US" sz="908">
                  <a:latin typeface="+mn-ea"/>
                  <a:ea typeface="+mn-ea"/>
                </a:rPr>
                <a:t>）</a:t>
              </a:r>
            </a:p>
          </p:txBody>
        </p:sp>
        <p:sp>
          <p:nvSpPr>
            <p:cNvPr id="33" name="AutoShape 10"/>
            <p:cNvSpPr>
              <a:spLocks/>
            </p:cNvSpPr>
            <p:nvPr/>
          </p:nvSpPr>
          <p:spPr bwMode="auto">
            <a:xfrm>
              <a:off x="2624673" y="1229410"/>
              <a:ext cx="142875" cy="2159000"/>
            </a:xfrm>
            <a:prstGeom prst="leftBrace">
              <a:avLst>
                <a:gd name="adj1" fmla="val 12592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34" name="Text Box 11"/>
            <p:cNvSpPr txBox="1">
              <a:spLocks noChangeArrowheads="1"/>
            </p:cNvSpPr>
            <p:nvPr/>
          </p:nvSpPr>
          <p:spPr bwMode="auto">
            <a:xfrm>
              <a:off x="2912009" y="1438958"/>
              <a:ext cx="1728788"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消费倾向</a:t>
              </a:r>
            </a:p>
          </p:txBody>
        </p:sp>
        <p:sp>
          <p:nvSpPr>
            <p:cNvPr id="35" name="AutoShape 12"/>
            <p:cNvSpPr>
              <a:spLocks/>
            </p:cNvSpPr>
            <p:nvPr/>
          </p:nvSpPr>
          <p:spPr bwMode="auto">
            <a:xfrm>
              <a:off x="4064535" y="737589"/>
              <a:ext cx="215900" cy="1727200"/>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mc:AlternateContent xmlns:mc="http://schemas.openxmlformats.org/markup-compatibility/2006" xmlns:a14="http://schemas.microsoft.com/office/drawing/2010/main">
          <mc:Choice Requires="a14">
            <p:sp>
              <p:nvSpPr>
                <p:cNvPr id="36" name="Text Box 13"/>
                <p:cNvSpPr txBox="1">
                  <a:spLocks noChangeArrowheads="1"/>
                </p:cNvSpPr>
                <p:nvPr/>
              </p:nvSpPr>
              <p:spPr bwMode="auto">
                <a:xfrm>
                  <a:off x="4323832" y="718376"/>
                  <a:ext cx="3632952" cy="225304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平均消费倾向</a:t>
                  </a:r>
                  <a:r>
                    <a:rPr lang="en-US" altLang="zh-CN" sz="908" dirty="0">
                      <a:latin typeface="+mn-ea"/>
                      <a:ea typeface="+mn-ea"/>
                    </a:rPr>
                    <a:t>APC</a:t>
                  </a:r>
                  <a:r>
                    <a:rPr lang="zh-CN" altLang="en-US" sz="908" dirty="0">
                      <a:latin typeface="+mn-ea"/>
                      <a:ea typeface="+mn-ea"/>
                    </a:rPr>
                    <a:t>＝</a:t>
                  </a:r>
                  <a14:m>
                    <m:oMath xmlns:m="http://schemas.openxmlformats.org/officeDocument/2006/math">
                      <m:f>
                        <m:fPr>
                          <m:ctrlPr>
                            <a:rPr lang="en-US" altLang="zh-CN" sz="908" i="1">
                              <a:latin typeface="Cambria Math" panose="02040503050406030204" pitchFamily="18" charset="0"/>
                              <a:ea typeface="+mn-ea"/>
                            </a:rPr>
                          </m:ctrlPr>
                        </m:fPr>
                        <m:num>
                          <m:r>
                            <a:rPr lang="en-US" altLang="zh-CN" sz="908" i="1">
                              <a:latin typeface="Cambria Math" panose="02040503050406030204" pitchFamily="18" charset="0"/>
                              <a:ea typeface="+mn-ea"/>
                            </a:rPr>
                            <m:t>𝑐</m:t>
                          </m:r>
                        </m:num>
                        <m:den>
                          <m:r>
                            <a:rPr lang="en-US" altLang="zh-CN" sz="908" i="1">
                              <a:latin typeface="Cambria Math" panose="02040503050406030204" pitchFamily="18" charset="0"/>
                              <a:ea typeface="+mn-ea"/>
                            </a:rPr>
                            <m:t>𝑦</m:t>
                          </m:r>
                        </m:den>
                      </m:f>
                    </m:oMath>
                  </a14:m>
                  <a:endParaRPr lang="zh-CN" altLang="en-US" sz="908" dirty="0">
                    <a:latin typeface="+mn-ea"/>
                    <a:ea typeface="+mn-ea"/>
                  </a:endParaRPr>
                </a:p>
                <a:p>
                  <a:pPr eaLnBrk="1" hangingPunct="1">
                    <a:spcBef>
                      <a:spcPct val="50000"/>
                    </a:spcBef>
                  </a:pPr>
                  <a:r>
                    <a:rPr lang="zh-CN" altLang="en-US" sz="908" dirty="0">
                      <a:latin typeface="+mn-ea"/>
                      <a:ea typeface="+mn-ea"/>
                    </a:rPr>
                    <a:t>边际消费倾向</a:t>
                  </a:r>
                  <a:r>
                    <a:rPr lang="en-US" altLang="zh-CN" sz="908" dirty="0">
                      <a:latin typeface="+mn-ea"/>
                      <a:ea typeface="+mn-ea"/>
                    </a:rPr>
                    <a:t>MPC=</a:t>
                  </a:r>
                  <a14:m>
                    <m:oMath xmlns:m="http://schemas.openxmlformats.org/officeDocument/2006/math">
                      <m:f>
                        <m:fPr>
                          <m:ctrlPr>
                            <a:rPr lang="en-US" altLang="zh-CN" sz="908" i="1">
                              <a:latin typeface="Cambria Math" panose="02040503050406030204" pitchFamily="18" charset="0"/>
                              <a:ea typeface="Cambria Math" panose="02040503050406030204" pitchFamily="18" charset="0"/>
                            </a:rPr>
                          </m:ctrlPr>
                        </m:fPr>
                        <m:num>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𝑐</m:t>
                          </m:r>
                        </m:num>
                        <m:den>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𝑦</m:t>
                          </m:r>
                        </m:den>
                      </m:f>
                    </m:oMath>
                  </a14:m>
                  <a:endParaRPr lang="en-US" altLang="zh-CN" sz="908" dirty="0">
                    <a:latin typeface="+mn-ea"/>
                    <a:ea typeface="+mn-ea"/>
                  </a:endParaRPr>
                </a:p>
                <a:p>
                  <a:pPr eaLnBrk="1" hangingPunct="1">
                    <a:spcBef>
                      <a:spcPct val="50000"/>
                    </a:spcBef>
                  </a:pPr>
                  <a:r>
                    <a:rPr lang="zh-CN" altLang="en-US" sz="908" dirty="0">
                      <a:latin typeface="+mn-ea"/>
                      <a:ea typeface="+mn-ea"/>
                    </a:rPr>
                    <a:t>由此求投资乘数</a:t>
                  </a:r>
                  <a14:m>
                    <m:oMath xmlns:m="http://schemas.openxmlformats.org/officeDocument/2006/math">
                      <m:r>
                        <a:rPr lang="en-US" altLang="zh-CN" sz="908" i="1">
                          <a:latin typeface="Cambria Math" panose="02040503050406030204" pitchFamily="18" charset="0"/>
                          <a:ea typeface="+mn-ea"/>
                        </a:rPr>
                        <m:t>𝑘</m:t>
                      </m:r>
                      <m:r>
                        <a:rPr lang="en-US" altLang="zh-CN" sz="908" i="1">
                          <a:latin typeface="Cambria Math" panose="02040503050406030204" pitchFamily="18" charset="0"/>
                          <a:ea typeface="+mn-ea"/>
                        </a:rPr>
                        <m:t>=</m:t>
                      </m:r>
                      <m:f>
                        <m:fPr>
                          <m:ctrlPr>
                            <a:rPr lang="en-US" altLang="zh-CN" sz="908" i="1">
                              <a:latin typeface="Cambria Math" panose="02040503050406030204" pitchFamily="18" charset="0"/>
                              <a:ea typeface="+mn-ea"/>
                            </a:rPr>
                          </m:ctrlPr>
                        </m:fPr>
                        <m:num>
                          <m:r>
                            <a:rPr lang="en-US" altLang="zh-CN" sz="908" i="1">
                              <a:latin typeface="Cambria Math" panose="02040503050406030204" pitchFamily="18" charset="0"/>
                              <a:ea typeface="+mn-ea"/>
                            </a:rPr>
                            <m:t>1</m:t>
                          </m:r>
                        </m:num>
                        <m:den>
                          <m:r>
                            <a:rPr lang="en-US" altLang="zh-CN" sz="908" i="1">
                              <a:latin typeface="Cambria Math" panose="02040503050406030204" pitchFamily="18" charset="0"/>
                              <a:ea typeface="+mn-ea"/>
                            </a:rPr>
                            <m:t>1−</m:t>
                          </m:r>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𝑐</m:t>
                          </m:r>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𝑦</m:t>
                          </m:r>
                        </m:den>
                      </m:f>
                    </m:oMath>
                  </a14:m>
                  <a:endParaRPr lang="en-US" altLang="zh-CN" sz="908" dirty="0">
                    <a:latin typeface="+mn-ea"/>
                    <a:ea typeface="+mn-ea"/>
                  </a:endParaRPr>
                </a:p>
              </p:txBody>
            </p:sp>
          </mc:Choice>
          <mc:Fallback xmlns="">
            <p:sp>
              <p:nvSpPr>
                <p:cNvPr id="36" name="Text Box 13"/>
                <p:cNvSpPr txBox="1">
                  <a:spLocks noRot="1" noChangeAspect="1" noMove="1" noResize="1" noEditPoints="1" noAdjustHandles="1" noChangeArrowheads="1" noChangeShapeType="1" noTextEdit="1"/>
                </p:cNvSpPr>
                <p:nvPr/>
              </p:nvSpPr>
              <p:spPr bwMode="auto">
                <a:xfrm>
                  <a:off x="4323832" y="718376"/>
                  <a:ext cx="3632952" cy="2253041"/>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8" name="Text Box 20"/>
            <p:cNvSpPr txBox="1">
              <a:spLocks noChangeArrowheads="1"/>
            </p:cNvSpPr>
            <p:nvPr/>
          </p:nvSpPr>
          <p:spPr bwMode="auto">
            <a:xfrm>
              <a:off x="2912009" y="3029636"/>
              <a:ext cx="2087564"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收入</a:t>
              </a:r>
            </a:p>
          </p:txBody>
        </p:sp>
        <p:sp>
          <p:nvSpPr>
            <p:cNvPr id="39" name="Text Box 21"/>
            <p:cNvSpPr txBox="1">
              <a:spLocks noChangeArrowheads="1"/>
            </p:cNvSpPr>
            <p:nvPr/>
          </p:nvSpPr>
          <p:spPr bwMode="auto">
            <a:xfrm>
              <a:off x="1399123" y="4540936"/>
              <a:ext cx="13684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投资（</a:t>
              </a:r>
              <a:r>
                <a:rPr lang="en-US" altLang="zh-CN" sz="908">
                  <a:latin typeface="+mn-ea"/>
                  <a:ea typeface="+mn-ea"/>
                </a:rPr>
                <a:t>i</a:t>
              </a:r>
              <a:r>
                <a:rPr lang="zh-CN" altLang="en-US" sz="908">
                  <a:latin typeface="+mn-ea"/>
                  <a:ea typeface="+mn-ea"/>
                </a:rPr>
                <a:t>）</a:t>
              </a:r>
            </a:p>
          </p:txBody>
        </p:sp>
        <p:sp>
          <p:nvSpPr>
            <p:cNvPr id="40" name="AutoShape 23"/>
            <p:cNvSpPr>
              <a:spLocks/>
            </p:cNvSpPr>
            <p:nvPr/>
          </p:nvSpPr>
          <p:spPr bwMode="auto">
            <a:xfrm>
              <a:off x="2551648" y="4180572"/>
              <a:ext cx="73025" cy="1512888"/>
            </a:xfrm>
            <a:prstGeom prst="leftBrace">
              <a:avLst>
                <a:gd name="adj1" fmla="val 17264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1" name="Text Box 24"/>
            <p:cNvSpPr txBox="1">
              <a:spLocks noChangeArrowheads="1"/>
            </p:cNvSpPr>
            <p:nvPr/>
          </p:nvSpPr>
          <p:spPr bwMode="auto">
            <a:xfrm>
              <a:off x="2624674" y="3964673"/>
              <a:ext cx="1366838"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利率（</a:t>
              </a:r>
              <a:r>
                <a:rPr lang="en-US" altLang="zh-CN" sz="908" dirty="0">
                  <a:latin typeface="+mn-ea"/>
                  <a:ea typeface="+mn-ea"/>
                </a:rPr>
                <a:t>r</a:t>
              </a:r>
              <a:r>
                <a:rPr lang="zh-CN" altLang="en-US" sz="908" dirty="0">
                  <a:latin typeface="+mn-ea"/>
                  <a:ea typeface="+mn-ea"/>
                </a:rPr>
                <a:t>）</a:t>
              </a:r>
            </a:p>
          </p:txBody>
        </p:sp>
        <p:sp>
          <p:nvSpPr>
            <p:cNvPr id="42" name="AutoShape 25"/>
            <p:cNvSpPr>
              <a:spLocks/>
            </p:cNvSpPr>
            <p:nvPr/>
          </p:nvSpPr>
          <p:spPr bwMode="auto">
            <a:xfrm>
              <a:off x="3848635" y="3461435"/>
              <a:ext cx="142875" cy="1295400"/>
            </a:xfrm>
            <a:prstGeom prst="leftBrace">
              <a:avLst>
                <a:gd name="adj1" fmla="val 7555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3" name="Text Box 26"/>
            <p:cNvSpPr txBox="1">
              <a:spLocks noChangeArrowheads="1"/>
            </p:cNvSpPr>
            <p:nvPr/>
          </p:nvSpPr>
          <p:spPr bwMode="auto">
            <a:xfrm>
              <a:off x="3991509" y="3352248"/>
              <a:ext cx="1368425" cy="105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流动偏好</a:t>
              </a:r>
            </a:p>
            <a:p>
              <a:pPr eaLnBrk="1" hangingPunct="1">
                <a:spcBef>
                  <a:spcPct val="50000"/>
                </a:spcBef>
              </a:pPr>
              <a:r>
                <a:rPr lang="en-US" altLang="zh-CN" sz="908" dirty="0">
                  <a:latin typeface="+mn-ea"/>
                  <a:ea typeface="+mn-ea"/>
                </a:rPr>
                <a:t>L=L</a:t>
              </a:r>
              <a:r>
                <a:rPr lang="en-US" altLang="zh-CN" sz="908" baseline="-25000" dirty="0">
                  <a:latin typeface="+mn-ea"/>
                  <a:ea typeface="+mn-ea"/>
                </a:rPr>
                <a:t>1</a:t>
              </a:r>
              <a:r>
                <a:rPr lang="en-US" altLang="zh-CN" sz="908" dirty="0">
                  <a:latin typeface="+mn-ea"/>
                  <a:ea typeface="+mn-ea"/>
                </a:rPr>
                <a:t>+L</a:t>
              </a:r>
              <a:r>
                <a:rPr lang="en-US" altLang="zh-CN" sz="908" baseline="-25000" dirty="0">
                  <a:latin typeface="+mn-ea"/>
                  <a:ea typeface="+mn-ea"/>
                </a:rPr>
                <a:t>2</a:t>
              </a:r>
            </a:p>
          </p:txBody>
        </p:sp>
        <p:sp>
          <p:nvSpPr>
            <p:cNvPr id="44" name="AutoShape 27"/>
            <p:cNvSpPr>
              <a:spLocks/>
            </p:cNvSpPr>
            <p:nvPr/>
          </p:nvSpPr>
          <p:spPr bwMode="auto">
            <a:xfrm>
              <a:off x="5183921" y="3046842"/>
              <a:ext cx="215901" cy="1150937"/>
            </a:xfrm>
            <a:prstGeom prst="leftBrace">
              <a:avLst>
                <a:gd name="adj1" fmla="val 4442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5" name="Text Box 28"/>
            <p:cNvSpPr txBox="1">
              <a:spLocks noChangeArrowheads="1"/>
            </p:cNvSpPr>
            <p:nvPr/>
          </p:nvSpPr>
          <p:spPr bwMode="auto">
            <a:xfrm>
              <a:off x="5287706" y="2885592"/>
              <a:ext cx="2881313" cy="1552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交易动机 （由</a:t>
              </a:r>
              <a:r>
                <a:rPr lang="en-US" altLang="zh-CN" sz="908" dirty="0">
                  <a:latin typeface="+mn-ea"/>
                  <a:ea typeface="+mn-ea"/>
                </a:rPr>
                <a:t>m</a:t>
              </a:r>
              <a:r>
                <a:rPr lang="en-US" altLang="zh-CN" sz="908" baseline="-25000" dirty="0">
                  <a:latin typeface="+mn-ea"/>
                  <a:ea typeface="+mn-ea"/>
                </a:rPr>
                <a:t>1</a:t>
              </a:r>
              <a:r>
                <a:rPr lang="zh-CN" altLang="en-US" sz="908" dirty="0">
                  <a:latin typeface="+mn-ea"/>
                  <a:ea typeface="+mn-ea"/>
                </a:rPr>
                <a:t>满足）</a:t>
              </a:r>
            </a:p>
            <a:p>
              <a:pPr eaLnBrk="1" hangingPunct="1">
                <a:spcBef>
                  <a:spcPct val="50000"/>
                </a:spcBef>
              </a:pPr>
              <a:r>
                <a:rPr lang="zh-CN" altLang="en-US" sz="908" dirty="0">
                  <a:latin typeface="+mn-ea"/>
                  <a:ea typeface="+mn-ea"/>
                </a:rPr>
                <a:t>谨慎动机 （由</a:t>
              </a:r>
              <a:r>
                <a:rPr lang="en-US" altLang="zh-CN" sz="908" dirty="0">
                  <a:latin typeface="+mn-ea"/>
                  <a:ea typeface="+mn-ea"/>
                </a:rPr>
                <a:t>m</a:t>
              </a:r>
              <a:r>
                <a:rPr lang="en-US" altLang="zh-CN" sz="908" baseline="-25000" dirty="0">
                  <a:latin typeface="+mn-ea"/>
                  <a:ea typeface="+mn-ea"/>
                </a:rPr>
                <a:t>2</a:t>
              </a:r>
              <a:r>
                <a:rPr lang="zh-CN" altLang="en-US" sz="908" dirty="0">
                  <a:latin typeface="+mn-ea"/>
                  <a:ea typeface="+mn-ea"/>
                </a:rPr>
                <a:t>满足）</a:t>
              </a:r>
            </a:p>
            <a:p>
              <a:pPr eaLnBrk="1" hangingPunct="1">
                <a:spcBef>
                  <a:spcPct val="50000"/>
                </a:spcBef>
              </a:pPr>
              <a:r>
                <a:rPr lang="zh-CN" altLang="en-US" sz="908" dirty="0">
                  <a:latin typeface="+mn-ea"/>
                  <a:ea typeface="+mn-ea"/>
                </a:rPr>
                <a:t>投机动机 （由</a:t>
              </a:r>
              <a:r>
                <a:rPr lang="en-US" altLang="zh-CN" sz="908" dirty="0">
                  <a:latin typeface="+mn-ea"/>
                  <a:ea typeface="+mn-ea"/>
                </a:rPr>
                <a:t>m</a:t>
              </a:r>
              <a:r>
                <a:rPr lang="en-US" altLang="zh-CN" sz="908" baseline="-25000" dirty="0">
                  <a:latin typeface="+mn-ea"/>
                  <a:ea typeface="+mn-ea"/>
                </a:rPr>
                <a:t>3</a:t>
              </a:r>
              <a:r>
                <a:rPr lang="zh-CN" altLang="en-US" sz="908" dirty="0">
                  <a:latin typeface="+mn-ea"/>
                  <a:ea typeface="+mn-ea"/>
                </a:rPr>
                <a:t>满足）</a:t>
              </a:r>
            </a:p>
          </p:txBody>
        </p:sp>
        <p:sp>
          <p:nvSpPr>
            <p:cNvPr id="46" name="Text Box 29"/>
            <p:cNvSpPr txBox="1">
              <a:spLocks noChangeArrowheads="1"/>
            </p:cNvSpPr>
            <p:nvPr/>
          </p:nvSpPr>
          <p:spPr bwMode="auto">
            <a:xfrm>
              <a:off x="4062948" y="4538616"/>
              <a:ext cx="4032250"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货币数量 （</a:t>
              </a:r>
              <a:r>
                <a:rPr lang="en-US" altLang="zh-CN" sz="908" dirty="0">
                  <a:latin typeface="+mn-ea"/>
                  <a:ea typeface="+mn-ea"/>
                </a:rPr>
                <a:t>m= m</a:t>
              </a:r>
              <a:r>
                <a:rPr lang="en-US" altLang="zh-CN" sz="908" baseline="-25000" dirty="0">
                  <a:latin typeface="+mn-ea"/>
                  <a:ea typeface="+mn-ea"/>
                </a:rPr>
                <a:t>1</a:t>
              </a:r>
              <a:r>
                <a:rPr lang="en-US" altLang="zh-CN" sz="908" dirty="0">
                  <a:latin typeface="+mn-ea"/>
                  <a:ea typeface="+mn-ea"/>
                </a:rPr>
                <a:t>+m</a:t>
              </a:r>
              <a:r>
                <a:rPr lang="en-US" altLang="zh-CN" sz="908" baseline="-25000" dirty="0">
                  <a:latin typeface="+mn-ea"/>
                  <a:ea typeface="+mn-ea"/>
                </a:rPr>
                <a:t>2</a:t>
              </a:r>
              <a:r>
                <a:rPr lang="zh-CN" altLang="en-US" sz="908" dirty="0">
                  <a:latin typeface="+mn-ea"/>
                  <a:ea typeface="+mn-ea"/>
                </a:rPr>
                <a:t>）</a:t>
              </a:r>
            </a:p>
          </p:txBody>
        </p:sp>
        <p:sp>
          <p:nvSpPr>
            <p:cNvPr id="47" name="Text Box 30"/>
            <p:cNvSpPr txBox="1">
              <a:spLocks noChangeArrowheads="1"/>
            </p:cNvSpPr>
            <p:nvPr/>
          </p:nvSpPr>
          <p:spPr bwMode="auto">
            <a:xfrm>
              <a:off x="2624674" y="5491163"/>
              <a:ext cx="24479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资本边际效率</a:t>
              </a:r>
              <a:r>
                <a:rPr lang="en-US" altLang="zh-CN" sz="908">
                  <a:latin typeface="+mn-ea"/>
                  <a:ea typeface="+mn-ea"/>
                </a:rPr>
                <a:t>(MEC)</a:t>
              </a:r>
            </a:p>
          </p:txBody>
        </p:sp>
        <p:sp>
          <p:nvSpPr>
            <p:cNvPr id="48" name="Text Box 33"/>
            <p:cNvSpPr txBox="1">
              <a:spLocks noChangeArrowheads="1"/>
            </p:cNvSpPr>
            <p:nvPr/>
          </p:nvSpPr>
          <p:spPr bwMode="auto">
            <a:xfrm>
              <a:off x="4873624" y="5301769"/>
              <a:ext cx="3168651" cy="105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预期收益</a:t>
              </a:r>
            </a:p>
            <a:p>
              <a:pPr eaLnBrk="1" hangingPunct="1">
                <a:spcBef>
                  <a:spcPct val="50000"/>
                </a:spcBef>
              </a:pPr>
              <a:r>
                <a:rPr lang="zh-CN" altLang="en-US" sz="908" dirty="0">
                  <a:latin typeface="+mn-ea"/>
                  <a:ea typeface="+mn-ea"/>
                </a:rPr>
                <a:t>重置成本或资产的供给价格</a:t>
              </a:r>
            </a:p>
          </p:txBody>
        </p:sp>
        <p:sp>
          <p:nvSpPr>
            <p:cNvPr id="49" name="AutoShape 34"/>
            <p:cNvSpPr>
              <a:spLocks/>
            </p:cNvSpPr>
            <p:nvPr/>
          </p:nvSpPr>
          <p:spPr bwMode="auto">
            <a:xfrm>
              <a:off x="4901141" y="5440418"/>
              <a:ext cx="71437" cy="719138"/>
            </a:xfrm>
            <a:prstGeom prst="leftBrace">
              <a:avLst>
                <a:gd name="adj1" fmla="val 8388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grpSp>
      <p:sp>
        <p:nvSpPr>
          <p:cNvPr id="3" name="标题 2">
            <a:extLst>
              <a:ext uri="{FF2B5EF4-FFF2-40B4-BE49-F238E27FC236}">
                <a16:creationId xmlns:a16="http://schemas.microsoft.com/office/drawing/2014/main" id="{91D7AF40-19C1-653A-70F3-49C7A460F3FB}"/>
              </a:ext>
            </a:extLst>
          </p:cNvPr>
          <p:cNvSpPr>
            <a:spLocks noGrp="1"/>
          </p:cNvSpPr>
          <p:nvPr>
            <p:ph type="title"/>
          </p:nvPr>
        </p:nvSpPr>
        <p:spPr/>
        <p:txBody>
          <a:bodyPr/>
          <a:lstStyle/>
          <a:p>
            <a:r>
              <a:rPr kumimoji="1" lang="zh-CN" altLang="en-US" dirty="0"/>
              <a:t>总结：凯恩斯的基本理论框架</a:t>
            </a:r>
          </a:p>
        </p:txBody>
      </p:sp>
    </p:spTree>
    <p:extLst>
      <p:ext uri="{BB962C8B-B14F-4D97-AF65-F5344CB8AC3E}">
        <p14:creationId xmlns:p14="http://schemas.microsoft.com/office/powerpoint/2010/main" val="26250974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C35035-D67A-17C5-2A0E-B9A29BE03F7F}"/>
              </a:ext>
            </a:extLst>
          </p:cNvPr>
          <p:cNvSpPr>
            <a:spLocks noGrp="1"/>
          </p:cNvSpPr>
          <p:nvPr>
            <p:ph type="title"/>
          </p:nvPr>
        </p:nvSpPr>
        <p:spPr/>
        <p:txBody>
          <a:bodyPr/>
          <a:lstStyle/>
          <a:p>
            <a:r>
              <a:rPr kumimoji="1" lang="zh-CN" altLang="en-US" dirty="0"/>
              <a:t>我国的银行体系</a:t>
            </a:r>
          </a:p>
        </p:txBody>
      </p:sp>
      <p:pic>
        <p:nvPicPr>
          <p:cNvPr id="6" name="内容占位符 5">
            <a:extLst>
              <a:ext uri="{FF2B5EF4-FFF2-40B4-BE49-F238E27FC236}">
                <a16:creationId xmlns:a16="http://schemas.microsoft.com/office/drawing/2014/main" id="{507E77B8-095D-13FA-CA60-2C060397F1DB}"/>
              </a:ext>
            </a:extLst>
          </p:cNvPr>
          <p:cNvPicPr>
            <a:picLocks noGrp="1" noChangeAspect="1"/>
          </p:cNvPicPr>
          <p:nvPr>
            <p:ph idx="1"/>
          </p:nvPr>
        </p:nvPicPr>
        <p:blipFill>
          <a:blip r:embed="rId2"/>
          <a:stretch>
            <a:fillRect/>
          </a:stretch>
        </p:blipFill>
        <p:spPr>
          <a:xfrm>
            <a:off x="1786644" y="555369"/>
            <a:ext cx="821581" cy="487574"/>
          </a:xfrm>
          <a:prstGeom prst="rect">
            <a:avLst/>
          </a:prstGeom>
        </p:spPr>
      </p:pic>
      <p:sp>
        <p:nvSpPr>
          <p:cNvPr id="4" name="页脚占位符 3">
            <a:extLst>
              <a:ext uri="{FF2B5EF4-FFF2-40B4-BE49-F238E27FC236}">
                <a16:creationId xmlns:a16="http://schemas.microsoft.com/office/drawing/2014/main" id="{D7280D86-AC42-3351-169B-CCA7B11658E6}"/>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B42B5D9A-0FEE-589B-3F57-9FE287A58A78}"/>
              </a:ext>
            </a:extLst>
          </p:cNvPr>
          <p:cNvSpPr>
            <a:spLocks noGrp="1"/>
          </p:cNvSpPr>
          <p:nvPr>
            <p:ph type="sldNum" sz="quarter" idx="11"/>
          </p:nvPr>
        </p:nvSpPr>
        <p:spPr/>
        <p:txBody>
          <a:bodyPr/>
          <a:lstStyle/>
          <a:p>
            <a:fld id="{FF75CA96-F32A-7F4F-98C9-CA940BD9BB90}" type="slidenum">
              <a:rPr lang="zh-CN" altLang="zh-CN" smtClean="0"/>
              <a:pPr/>
              <a:t>84</a:t>
            </a:fld>
            <a:endParaRPr lang="en-US" altLang="zh-CN"/>
          </a:p>
        </p:txBody>
      </p:sp>
      <p:pic>
        <p:nvPicPr>
          <p:cNvPr id="7" name="图片 6">
            <a:extLst>
              <a:ext uri="{FF2B5EF4-FFF2-40B4-BE49-F238E27FC236}">
                <a16:creationId xmlns:a16="http://schemas.microsoft.com/office/drawing/2014/main" id="{B000F5DA-2B69-5099-83DB-9B859654D1E2}"/>
              </a:ext>
            </a:extLst>
          </p:cNvPr>
          <p:cNvPicPr>
            <a:picLocks noChangeAspect="1"/>
          </p:cNvPicPr>
          <p:nvPr/>
        </p:nvPicPr>
        <p:blipFill>
          <a:blip r:embed="rId3"/>
          <a:stretch>
            <a:fillRect/>
          </a:stretch>
        </p:blipFill>
        <p:spPr>
          <a:xfrm>
            <a:off x="1008905" y="1178226"/>
            <a:ext cx="2377058" cy="448659"/>
          </a:xfrm>
          <a:prstGeom prst="rect">
            <a:avLst/>
          </a:prstGeom>
        </p:spPr>
      </p:pic>
    </p:spTree>
    <p:extLst>
      <p:ext uri="{BB962C8B-B14F-4D97-AF65-F5344CB8AC3E}">
        <p14:creationId xmlns:p14="http://schemas.microsoft.com/office/powerpoint/2010/main" val="5612209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21C110-355E-01C1-FA89-526076BA4A55}"/>
              </a:ext>
            </a:extLst>
          </p:cNvPr>
          <p:cNvSpPr>
            <a:spLocks noGrp="1"/>
          </p:cNvSpPr>
          <p:nvPr>
            <p:ph type="title"/>
          </p:nvPr>
        </p:nvSpPr>
        <p:spPr/>
        <p:txBody>
          <a:bodyPr/>
          <a:lstStyle/>
          <a:p>
            <a:r>
              <a:rPr kumimoji="1" lang="zh-CN" altLang="en-US" dirty="0"/>
              <a:t>案例</a:t>
            </a:r>
            <a:r>
              <a:rPr kumimoji="1" lang="en-US" altLang="zh-CN" dirty="0"/>
              <a:t>1:</a:t>
            </a:r>
            <a:r>
              <a:rPr kumimoji="1" lang="zh-CN" altLang="en-US" dirty="0"/>
              <a:t> 美联储如何加息？</a:t>
            </a:r>
          </a:p>
        </p:txBody>
      </p:sp>
      <p:sp>
        <p:nvSpPr>
          <p:cNvPr id="4" name="页脚占位符 3">
            <a:extLst>
              <a:ext uri="{FF2B5EF4-FFF2-40B4-BE49-F238E27FC236}">
                <a16:creationId xmlns:a16="http://schemas.microsoft.com/office/drawing/2014/main" id="{AE2EB7B9-C77C-E5A0-B4C0-D186EAC1ABAF}"/>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19F5BE3E-72A0-3AC3-2AB8-0A157504B610}"/>
              </a:ext>
            </a:extLst>
          </p:cNvPr>
          <p:cNvSpPr>
            <a:spLocks noGrp="1"/>
          </p:cNvSpPr>
          <p:nvPr>
            <p:ph type="sldNum" sz="quarter" idx="11"/>
          </p:nvPr>
        </p:nvSpPr>
        <p:spPr/>
        <p:txBody>
          <a:bodyPr/>
          <a:lstStyle/>
          <a:p>
            <a:fld id="{FF75CA96-F32A-7F4F-98C9-CA940BD9BB90}" type="slidenum">
              <a:rPr lang="zh-CN" altLang="zh-CN" smtClean="0"/>
              <a:pPr/>
              <a:t>85</a:t>
            </a:fld>
            <a:endParaRPr lang="en-US" altLang="zh-CN"/>
          </a:p>
        </p:txBody>
      </p:sp>
      <p:pic>
        <p:nvPicPr>
          <p:cNvPr id="6" name="图片 5">
            <a:extLst>
              <a:ext uri="{FF2B5EF4-FFF2-40B4-BE49-F238E27FC236}">
                <a16:creationId xmlns:a16="http://schemas.microsoft.com/office/drawing/2014/main" id="{1C4CAB4F-D15F-E470-DA29-C2995657F46F}"/>
              </a:ext>
            </a:extLst>
          </p:cNvPr>
          <p:cNvPicPr>
            <a:picLocks noChangeAspect="1"/>
          </p:cNvPicPr>
          <p:nvPr/>
        </p:nvPicPr>
        <p:blipFill>
          <a:blip r:embed="rId2"/>
          <a:stretch>
            <a:fillRect/>
          </a:stretch>
        </p:blipFill>
        <p:spPr>
          <a:xfrm>
            <a:off x="76827" y="495617"/>
            <a:ext cx="3108176" cy="2396666"/>
          </a:xfrm>
          <a:prstGeom prst="rect">
            <a:avLst/>
          </a:prstGeom>
        </p:spPr>
      </p:pic>
      <p:sp>
        <p:nvSpPr>
          <p:cNvPr id="7" name="内容占位符 2">
            <a:extLst>
              <a:ext uri="{FF2B5EF4-FFF2-40B4-BE49-F238E27FC236}">
                <a16:creationId xmlns:a16="http://schemas.microsoft.com/office/drawing/2014/main" id="{CC951E84-E3B3-35F6-AB16-A707FC1373F1}"/>
              </a:ext>
            </a:extLst>
          </p:cNvPr>
          <p:cNvSpPr>
            <a:spLocks noGrp="1"/>
          </p:cNvSpPr>
          <p:nvPr>
            <p:ph idx="1"/>
          </p:nvPr>
        </p:nvSpPr>
        <p:spPr>
          <a:xfrm>
            <a:off x="2977897" y="618713"/>
            <a:ext cx="1552967" cy="2582745"/>
          </a:xfrm>
        </p:spPr>
        <p:txBody>
          <a:bodyPr/>
          <a:lstStyle/>
          <a:p>
            <a:r>
              <a:rPr lang="zh-CN" altLang="en-US" sz="1100" b="1" i="0" u="none" strike="noStrike" dirty="0">
                <a:solidFill>
                  <a:srgbClr val="121212"/>
                </a:solidFill>
                <a:effectLst/>
                <a:latin typeface="SimHei" panose="02010609060101010101" pitchFamily="49" charset="-122"/>
                <a:ea typeface="SimHei" panose="02010609060101010101" pitchFamily="49" charset="-122"/>
              </a:rPr>
              <a:t>管理印钞，</a:t>
            </a:r>
            <a:r>
              <a:rPr lang="zh-CN" altLang="en-US" sz="1100" b="0" i="0" u="none" strike="noStrike" dirty="0">
                <a:solidFill>
                  <a:srgbClr val="121212"/>
                </a:solidFill>
                <a:effectLst/>
                <a:latin typeface="-apple-system"/>
              </a:rPr>
              <a:t>决定以什么样的速度发行货币</a:t>
            </a:r>
            <a:endParaRPr lang="en-US" altLang="zh-CN" sz="1100" b="0" i="0" u="none" strike="noStrike" dirty="0">
              <a:solidFill>
                <a:srgbClr val="121212"/>
              </a:solidFill>
              <a:effectLst/>
              <a:latin typeface="-apple-system"/>
            </a:endParaRPr>
          </a:p>
          <a:p>
            <a:r>
              <a:rPr kumimoji="1" lang="zh-CN" altLang="en-US" sz="1100" b="1" dirty="0">
                <a:solidFill>
                  <a:srgbClr val="121212"/>
                </a:solidFill>
                <a:latin typeface="SimHei" panose="02010609060101010101" pitchFamily="49" charset="-122"/>
                <a:ea typeface="SimHei" panose="02010609060101010101" pitchFamily="49" charset="-122"/>
              </a:rPr>
              <a:t>控制货币流通量</a:t>
            </a:r>
            <a:endParaRPr kumimoji="1" lang="en-US" altLang="zh-CN" sz="1100" b="1" dirty="0">
              <a:solidFill>
                <a:srgbClr val="121212"/>
              </a:solidFill>
              <a:latin typeface="SimHei" panose="02010609060101010101" pitchFamily="49" charset="-122"/>
              <a:ea typeface="SimHei" panose="02010609060101010101" pitchFamily="49" charset="-122"/>
            </a:endParaRPr>
          </a:p>
          <a:p>
            <a:pPr lvl="1"/>
            <a:r>
              <a:rPr kumimoji="1" lang="zh-CN" altLang="en-US" sz="1049" dirty="0">
                <a:solidFill>
                  <a:srgbClr val="121212"/>
                </a:solidFill>
                <a:latin typeface="-apple-system"/>
              </a:rPr>
              <a:t>三大手段：公开市场操作；银行贷款（再贴现率</a:t>
            </a:r>
            <a:r>
              <a:rPr kumimoji="1" lang="zh-CN" altLang="en-US" sz="1049">
                <a:solidFill>
                  <a:srgbClr val="121212"/>
                </a:solidFill>
                <a:latin typeface="-apple-system"/>
              </a:rPr>
              <a:t>）；存款准备金率</a:t>
            </a:r>
            <a:endParaRPr kumimoji="1" lang="en-US" altLang="zh-CN" sz="1049" dirty="0">
              <a:solidFill>
                <a:srgbClr val="121212"/>
              </a:solidFill>
              <a:latin typeface="-apple-system"/>
            </a:endParaRPr>
          </a:p>
          <a:p>
            <a:r>
              <a:rPr kumimoji="1" lang="zh-CN" altLang="en-US" sz="1100" b="1" dirty="0">
                <a:solidFill>
                  <a:srgbClr val="121212"/>
                </a:solidFill>
                <a:latin typeface="SimHei" panose="02010609060101010101" pitchFamily="49" charset="-122"/>
                <a:ea typeface="SimHei" panose="02010609060101010101" pitchFamily="49" charset="-122"/>
              </a:rPr>
              <a:t>充当商业银行的最后贷款人</a:t>
            </a:r>
            <a:endParaRPr kumimoji="1" lang="zh-CN" altLang="en-US" sz="1100" b="1"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095822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1DD777C-806F-661E-DD01-D1343F46D03D}"/>
              </a:ext>
            </a:extLst>
          </p:cNvPr>
          <p:cNvSpPr>
            <a:spLocks noGrp="1"/>
          </p:cNvSpPr>
          <p:nvPr>
            <p:ph idx="1"/>
          </p:nvPr>
        </p:nvSpPr>
        <p:spPr>
          <a:xfrm>
            <a:off x="178305" y="234722"/>
            <a:ext cx="4191509" cy="2582745"/>
          </a:xfrm>
        </p:spPr>
        <p:txBody>
          <a:bodyPr/>
          <a:lstStyle/>
          <a:p>
            <a:r>
              <a:rPr lang="zh-CN" altLang="en-US" sz="1100" b="0" i="0" u="none" strike="noStrike" dirty="0">
                <a:solidFill>
                  <a:srgbClr val="121212"/>
                </a:solidFill>
                <a:effectLst/>
                <a:latin typeface="-apple-system"/>
              </a:rPr>
              <a:t>美联储的加息或降息</a:t>
            </a:r>
            <a:r>
              <a:rPr lang="zh-CN" altLang="en-US" sz="1100" b="1" i="0" u="none" strike="noStrike" dirty="0">
                <a:solidFill>
                  <a:srgbClr val="121212"/>
                </a:solidFill>
                <a:effectLst/>
                <a:latin typeface="-apple-system"/>
              </a:rPr>
              <a:t>不是手段</a:t>
            </a:r>
            <a:r>
              <a:rPr lang="zh-CN" altLang="en-US" sz="1100" b="0" i="0" u="none" strike="noStrike" dirty="0">
                <a:solidFill>
                  <a:srgbClr val="121212"/>
                </a:solidFill>
                <a:effectLst/>
                <a:latin typeface="-apple-system"/>
              </a:rPr>
              <a:t>，而是</a:t>
            </a:r>
            <a:r>
              <a:rPr lang="zh-CN" altLang="en-US" sz="1100" b="1" i="0" u="none" strike="noStrike" dirty="0">
                <a:solidFill>
                  <a:srgbClr val="121212"/>
                </a:solidFill>
                <a:effectLst/>
                <a:latin typeface="-apple-system"/>
              </a:rPr>
              <a:t>货币政策</a:t>
            </a:r>
            <a:r>
              <a:rPr lang="zh-CN" altLang="en-US" sz="1100" b="0" i="0" u="none" strike="noStrike" dirty="0">
                <a:solidFill>
                  <a:srgbClr val="121212"/>
                </a:solidFill>
                <a:effectLst/>
                <a:latin typeface="-apple-system"/>
              </a:rPr>
              <a:t>的</a:t>
            </a:r>
            <a:r>
              <a:rPr lang="zh-CN" altLang="en-US" sz="1100" b="1" i="0" u="none" strike="noStrike" dirty="0">
                <a:solidFill>
                  <a:srgbClr val="121212"/>
                </a:solidFill>
                <a:effectLst/>
                <a:latin typeface="-apple-system"/>
              </a:rPr>
              <a:t>最终结果</a:t>
            </a:r>
            <a:r>
              <a:rPr lang="zh-CN" altLang="en-US" sz="1100" b="0" i="0" u="none" strike="noStrike" dirty="0">
                <a:solidFill>
                  <a:srgbClr val="121212"/>
                </a:solidFill>
                <a:effectLst/>
                <a:latin typeface="-apple-system"/>
              </a:rPr>
              <a:t>。</a:t>
            </a:r>
            <a:endParaRPr lang="en-US" altLang="zh-CN" sz="1100" b="0" i="0" u="none" strike="noStrike" dirty="0">
              <a:solidFill>
                <a:srgbClr val="121212"/>
              </a:solidFill>
              <a:effectLst/>
              <a:latin typeface="-apple-system"/>
            </a:endParaRPr>
          </a:p>
          <a:p>
            <a:r>
              <a:rPr kumimoji="1" lang="zh-CN" altLang="en-US" sz="1100" dirty="0"/>
              <a:t>加息的现实操作是同时调整美联储的</a:t>
            </a:r>
            <a:r>
              <a:rPr kumimoji="1" lang="zh-CN" altLang="en-US" sz="1100" b="1" dirty="0">
                <a:highlight>
                  <a:srgbClr val="FFFF00"/>
                </a:highlight>
              </a:rPr>
              <a:t>超额准备金利率</a:t>
            </a:r>
            <a:r>
              <a:rPr kumimoji="1" lang="zh-CN" altLang="en-US" sz="1100" dirty="0"/>
              <a:t>和商业银行的</a:t>
            </a:r>
            <a:r>
              <a:rPr kumimoji="1" lang="zh-CN" altLang="en-US" sz="1100" b="1" dirty="0">
                <a:highlight>
                  <a:srgbClr val="FFFF00"/>
                </a:highlight>
              </a:rPr>
              <a:t>再贴现率</a:t>
            </a:r>
            <a:r>
              <a:rPr kumimoji="1" lang="zh-CN" altLang="en-US" sz="1100" dirty="0"/>
              <a:t>。其中，超额准备金利率是指商业银行在美联储的存款利率；再贴现率是指商业银行在美联储的</a:t>
            </a:r>
            <a:r>
              <a:rPr kumimoji="1" lang="zh-CN" altLang="en-US" sz="1100" b="1" dirty="0">
                <a:highlight>
                  <a:srgbClr val="FFFF00"/>
                </a:highlight>
              </a:rPr>
              <a:t>“抵押”</a:t>
            </a:r>
            <a:r>
              <a:rPr kumimoji="1" lang="zh-CN" altLang="en-US" sz="1100" dirty="0"/>
              <a:t>贷款。</a:t>
            </a:r>
            <a:br>
              <a:rPr kumimoji="1" lang="zh-CN" altLang="en-US" sz="1100" dirty="0"/>
            </a:br>
            <a:endParaRPr kumimoji="1" lang="zh-CN" altLang="en-US" sz="1100" dirty="0"/>
          </a:p>
        </p:txBody>
      </p:sp>
      <p:sp>
        <p:nvSpPr>
          <p:cNvPr id="4" name="页脚占位符 3">
            <a:extLst>
              <a:ext uri="{FF2B5EF4-FFF2-40B4-BE49-F238E27FC236}">
                <a16:creationId xmlns:a16="http://schemas.microsoft.com/office/drawing/2014/main" id="{C580205F-2BB5-A1F3-6B9C-75B20B15C855}"/>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D445108C-16C3-EF18-24EB-4B6C1B544163}"/>
              </a:ext>
            </a:extLst>
          </p:cNvPr>
          <p:cNvSpPr>
            <a:spLocks noGrp="1"/>
          </p:cNvSpPr>
          <p:nvPr>
            <p:ph type="sldNum" sz="quarter" idx="11"/>
          </p:nvPr>
        </p:nvSpPr>
        <p:spPr/>
        <p:txBody>
          <a:bodyPr/>
          <a:lstStyle/>
          <a:p>
            <a:fld id="{FF75CA96-F32A-7F4F-98C9-CA940BD9BB90}" type="slidenum">
              <a:rPr lang="zh-CN" altLang="zh-CN" smtClean="0"/>
              <a:pPr/>
              <a:t>86</a:t>
            </a:fld>
            <a:endParaRPr lang="en-US" altLang="zh-CN"/>
          </a:p>
        </p:txBody>
      </p:sp>
      <p:pic>
        <p:nvPicPr>
          <p:cNvPr id="1026" name="Picture 2">
            <a:extLst>
              <a:ext uri="{FF2B5EF4-FFF2-40B4-BE49-F238E27FC236}">
                <a16:creationId xmlns:a16="http://schemas.microsoft.com/office/drawing/2014/main" id="{F147F7BB-F3AE-C273-7B5C-55C1FC47A9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718" b="15633"/>
          <a:stretch/>
        </p:blipFill>
        <p:spPr bwMode="auto">
          <a:xfrm>
            <a:off x="8627" y="1226319"/>
            <a:ext cx="4530864" cy="191925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2167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2A3F0-D6E1-8886-6E15-325B1DC2334E}"/>
              </a:ext>
            </a:extLst>
          </p:cNvPr>
          <p:cNvSpPr>
            <a:spLocks noGrp="1"/>
          </p:cNvSpPr>
          <p:nvPr>
            <p:ph type="title"/>
          </p:nvPr>
        </p:nvSpPr>
        <p:spPr/>
        <p:txBody>
          <a:bodyPr/>
          <a:lstStyle/>
          <a:p>
            <a:r>
              <a:rPr kumimoji="1" lang="zh-CN" altLang="en-US" dirty="0"/>
              <a:t>美联储加息</a:t>
            </a:r>
          </a:p>
        </p:txBody>
      </p:sp>
      <p:sp>
        <p:nvSpPr>
          <p:cNvPr id="4" name="页脚占位符 3">
            <a:extLst>
              <a:ext uri="{FF2B5EF4-FFF2-40B4-BE49-F238E27FC236}">
                <a16:creationId xmlns:a16="http://schemas.microsoft.com/office/drawing/2014/main" id="{0C504F12-235E-90DB-94C4-8FE2585827FB}"/>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43E7E0C5-A42C-7034-235F-CDEFB710BF3C}"/>
              </a:ext>
            </a:extLst>
          </p:cNvPr>
          <p:cNvSpPr>
            <a:spLocks noGrp="1"/>
          </p:cNvSpPr>
          <p:nvPr>
            <p:ph type="sldNum" sz="quarter" idx="11"/>
          </p:nvPr>
        </p:nvSpPr>
        <p:spPr/>
        <p:txBody>
          <a:bodyPr/>
          <a:lstStyle/>
          <a:p>
            <a:fld id="{FF75CA96-F32A-7F4F-98C9-CA940BD9BB90}" type="slidenum">
              <a:rPr lang="zh-CN" altLang="zh-CN" smtClean="0"/>
              <a:pPr/>
              <a:t>87</a:t>
            </a:fld>
            <a:endParaRPr lang="en-US" altLang="zh-CN"/>
          </a:p>
        </p:txBody>
      </p:sp>
      <p:grpSp>
        <p:nvGrpSpPr>
          <p:cNvPr id="8" name="组合 7">
            <a:extLst>
              <a:ext uri="{FF2B5EF4-FFF2-40B4-BE49-F238E27FC236}">
                <a16:creationId xmlns:a16="http://schemas.microsoft.com/office/drawing/2014/main" id="{DDF83A19-48C5-0383-90E9-1603F9530834}"/>
              </a:ext>
            </a:extLst>
          </p:cNvPr>
          <p:cNvGrpSpPr/>
          <p:nvPr/>
        </p:nvGrpSpPr>
        <p:grpSpPr>
          <a:xfrm>
            <a:off x="336525" y="719179"/>
            <a:ext cx="1618257" cy="1484257"/>
            <a:chOff x="2966280" y="1154311"/>
            <a:chExt cx="1618257" cy="1484257"/>
          </a:xfrm>
        </p:grpSpPr>
        <p:cxnSp>
          <p:nvCxnSpPr>
            <p:cNvPr id="9" name="直线箭头连接符 8">
              <a:extLst>
                <a:ext uri="{FF2B5EF4-FFF2-40B4-BE49-F238E27FC236}">
                  <a16:creationId xmlns:a16="http://schemas.microsoft.com/office/drawing/2014/main" id="{7F0713AB-FB29-71B1-491F-3F6331896EAE}"/>
                </a:ext>
              </a:extLst>
            </p:cNvPr>
            <p:cNvCxnSpPr>
              <a:cxnSpLocks/>
            </p:cNvCxnSpPr>
            <p:nvPr/>
          </p:nvCxnSpPr>
          <p:spPr>
            <a:xfrm>
              <a:off x="3025130" y="2378447"/>
              <a:ext cx="1415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线箭头连接符 9">
              <a:extLst>
                <a:ext uri="{FF2B5EF4-FFF2-40B4-BE49-F238E27FC236}">
                  <a16:creationId xmlns:a16="http://schemas.microsoft.com/office/drawing/2014/main" id="{0CF86686-4271-3EC4-CE77-F2CC5D6E85ED}"/>
                </a:ext>
              </a:extLst>
            </p:cNvPr>
            <p:cNvCxnSpPr/>
            <p:nvPr/>
          </p:nvCxnSpPr>
          <p:spPr>
            <a:xfrm flipV="1">
              <a:off x="3025130" y="1154311"/>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89EE3839-8E84-5B10-BC38-0A8C013581AF}"/>
                </a:ext>
              </a:extLst>
            </p:cNvPr>
            <p:cNvCxnSpPr>
              <a:cxnSpLocks/>
            </p:cNvCxnSpPr>
            <p:nvPr/>
          </p:nvCxnSpPr>
          <p:spPr>
            <a:xfrm>
              <a:off x="3025130" y="1898710"/>
              <a:ext cx="1291582" cy="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90F78C6F-6597-2AD6-8563-CE8F381FAAA4}"/>
                </a:ext>
              </a:extLst>
            </p:cNvPr>
            <p:cNvSpPr txBox="1"/>
            <p:nvPr/>
          </p:nvSpPr>
          <p:spPr>
            <a:xfrm>
              <a:off x="2966280" y="2423124"/>
              <a:ext cx="1618257" cy="215444"/>
            </a:xfrm>
            <a:prstGeom prst="rect">
              <a:avLst/>
            </a:prstGeom>
            <a:noFill/>
          </p:spPr>
          <p:txBody>
            <a:bodyPr wrap="square" rtlCol="0">
              <a:spAutoFit/>
            </a:bodyPr>
            <a:lstStyle/>
            <a:p>
              <a:pPr algn="ctr"/>
              <a:r>
                <a:rPr kumimoji="1" lang="zh-CN" altLang="en-US" sz="800" b="1" dirty="0">
                  <a:latin typeface="Garamond" panose="02020404030301010803" pitchFamily="18" charset="0"/>
                </a:rPr>
                <a:t>美联储加息</a:t>
              </a:r>
            </a:p>
          </p:txBody>
        </p:sp>
      </p:grpSp>
      <p:cxnSp>
        <p:nvCxnSpPr>
          <p:cNvPr id="21" name="直线连接符 20">
            <a:extLst>
              <a:ext uri="{FF2B5EF4-FFF2-40B4-BE49-F238E27FC236}">
                <a16:creationId xmlns:a16="http://schemas.microsoft.com/office/drawing/2014/main" id="{276DF642-A4B5-6F66-C8AC-A1E5E252E44D}"/>
              </a:ext>
            </a:extLst>
          </p:cNvPr>
          <p:cNvCxnSpPr>
            <a:cxnSpLocks/>
          </p:cNvCxnSpPr>
          <p:nvPr/>
        </p:nvCxnSpPr>
        <p:spPr>
          <a:xfrm>
            <a:off x="395375" y="1109208"/>
            <a:ext cx="1291582" cy="5103"/>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AD58DBCF-7FCF-AE1A-4E0A-B4FEAC5C4C4F}"/>
              </a:ext>
            </a:extLst>
          </p:cNvPr>
          <p:cNvSpPr txBox="1"/>
          <p:nvPr/>
        </p:nvSpPr>
        <p:spPr>
          <a:xfrm>
            <a:off x="1549938" y="1974399"/>
            <a:ext cx="499003" cy="215444"/>
          </a:xfrm>
          <a:prstGeom prst="rect">
            <a:avLst/>
          </a:prstGeom>
          <a:noFill/>
        </p:spPr>
        <p:txBody>
          <a:bodyPr wrap="square">
            <a:spAutoFit/>
          </a:bodyPr>
          <a:lstStyle/>
          <a:p>
            <a:r>
              <a:rPr lang="zh-CN" altLang="en-US" sz="800" dirty="0">
                <a:latin typeface="Garamond" panose="02020404030301010803" pitchFamily="18" charset="0"/>
                <a:ea typeface="SimSun" panose="02010600030101010101" pitchFamily="2" charset="-122"/>
              </a:rPr>
              <a:t>时间</a:t>
            </a:r>
            <a:r>
              <a:rPr lang="en-US" altLang="zh-CN" sz="800" dirty="0">
                <a:latin typeface="Garamond" panose="02020404030301010803" pitchFamily="18" charset="0"/>
                <a:ea typeface="SimSun" panose="02010600030101010101" pitchFamily="2" charset="-122"/>
              </a:rPr>
              <a:t>/t</a:t>
            </a:r>
            <a:endParaRPr lang="zh-CN" altLang="en-US" sz="800" dirty="0">
              <a:latin typeface="Garamond" panose="02020404030301010803" pitchFamily="18" charset="0"/>
              <a:ea typeface="SimSun" panose="02010600030101010101" pitchFamily="2" charset="-122"/>
            </a:endParaRPr>
          </a:p>
        </p:txBody>
      </p:sp>
      <p:sp>
        <p:nvSpPr>
          <p:cNvPr id="27" name="文本框 26">
            <a:extLst>
              <a:ext uri="{FF2B5EF4-FFF2-40B4-BE49-F238E27FC236}">
                <a16:creationId xmlns:a16="http://schemas.microsoft.com/office/drawing/2014/main" id="{82DD1BBD-74BD-63CE-B475-A320C9ECB21C}"/>
              </a:ext>
            </a:extLst>
          </p:cNvPr>
          <p:cNvSpPr txBox="1"/>
          <p:nvPr/>
        </p:nvSpPr>
        <p:spPr>
          <a:xfrm>
            <a:off x="183471" y="629471"/>
            <a:ext cx="391978" cy="246221"/>
          </a:xfrm>
          <a:prstGeom prst="rect">
            <a:avLst/>
          </a:prstGeom>
          <a:noFill/>
        </p:spPr>
        <p:txBody>
          <a:bodyPr wrap="square">
            <a:spAutoFit/>
          </a:bodyPr>
          <a:lstStyle/>
          <a:p>
            <a:r>
              <a:rPr kumimoji="1" lang="en-US" altLang="zh-CN" sz="1000" dirty="0">
                <a:latin typeface="Garamond" panose="02020404030301010803" pitchFamily="18" charset="0"/>
              </a:rPr>
              <a:t>r</a:t>
            </a:r>
            <a:endParaRPr lang="zh-CN" altLang="en-US" sz="1000" dirty="0">
              <a:latin typeface="Garamond" panose="02020404030301010803" pitchFamily="18" charset="0"/>
            </a:endParaRPr>
          </a:p>
        </p:txBody>
      </p:sp>
      <p:sp>
        <p:nvSpPr>
          <p:cNvPr id="29" name="文本框 28">
            <a:extLst>
              <a:ext uri="{FF2B5EF4-FFF2-40B4-BE49-F238E27FC236}">
                <a16:creationId xmlns:a16="http://schemas.microsoft.com/office/drawing/2014/main" id="{0A5ED9F6-2884-8D44-4411-8240F8F7B84F}"/>
              </a:ext>
            </a:extLst>
          </p:cNvPr>
          <p:cNvSpPr txBox="1"/>
          <p:nvPr/>
        </p:nvSpPr>
        <p:spPr>
          <a:xfrm>
            <a:off x="172879" y="2362520"/>
            <a:ext cx="4243158" cy="646331"/>
          </a:xfrm>
          <a:prstGeom prst="rect">
            <a:avLst/>
          </a:prstGeom>
          <a:noFill/>
        </p:spPr>
        <p:txBody>
          <a:bodyPr wrap="square">
            <a:spAutoFit/>
          </a:bodyPr>
          <a:lstStyle/>
          <a:p>
            <a:pPr marL="171450" indent="-171450">
              <a:buFont typeface="Wingdings" pitchFamily="2" charset="2"/>
              <a:buChar char="l"/>
            </a:pPr>
            <a:r>
              <a:rPr lang="zh-CN" altLang="en-US" sz="1200" dirty="0">
                <a:latin typeface="Garamond" panose="02020404030301010803" pitchFamily="18" charset="0"/>
                <a:ea typeface="KaiTi" panose="02010609060101010101" pitchFamily="49" charset="-122"/>
              </a:rPr>
              <a:t>央行加息通过调整商业银行在央行的</a:t>
            </a:r>
            <a:r>
              <a:rPr lang="zh-CN" altLang="en-US" sz="1200" dirty="0">
                <a:solidFill>
                  <a:srgbClr val="C00000"/>
                </a:solidFill>
                <a:latin typeface="Garamond" panose="02020404030301010803" pitchFamily="18" charset="0"/>
                <a:ea typeface="KaiTi" panose="02010609060101010101" pitchFamily="49" charset="-122"/>
              </a:rPr>
              <a:t>存款和贷款利率</a:t>
            </a:r>
            <a:r>
              <a:rPr lang="zh-CN" altLang="en-US" sz="1200" dirty="0">
                <a:latin typeface="Garamond" panose="02020404030301010803" pitchFamily="18" charset="0"/>
                <a:ea typeface="KaiTi" panose="02010609060101010101" pitchFamily="49" charset="-122"/>
              </a:rPr>
              <a:t>实现</a:t>
            </a:r>
            <a:endParaRPr lang="en-US" altLang="zh-CN" sz="1200" dirty="0">
              <a:latin typeface="Garamond" panose="02020404030301010803" pitchFamily="18" charset="0"/>
              <a:ea typeface="KaiTi" panose="02010609060101010101" pitchFamily="49" charset="-122"/>
            </a:endParaRPr>
          </a:p>
          <a:p>
            <a:pPr marL="171450" indent="-171450">
              <a:buFont typeface="Wingdings" pitchFamily="2" charset="2"/>
              <a:buChar char="l"/>
            </a:pPr>
            <a:r>
              <a:rPr lang="zh-CN" altLang="en-US" sz="1200" dirty="0">
                <a:latin typeface="Garamond" panose="02020404030301010803" pitchFamily="18" charset="0"/>
                <a:ea typeface="KaiTi" panose="02010609060101010101" pitchFamily="49" charset="-122"/>
              </a:rPr>
              <a:t>当商业银行</a:t>
            </a:r>
            <a:r>
              <a:rPr lang="zh-CN" altLang="en-US" sz="1200" dirty="0">
                <a:solidFill>
                  <a:srgbClr val="C00000"/>
                </a:solidFill>
                <a:latin typeface="Garamond" panose="02020404030301010803" pitchFamily="18" charset="0"/>
                <a:ea typeface="KaiTi" panose="02010609060101010101" pitchFamily="49" charset="-122"/>
              </a:rPr>
              <a:t>同业拆借利率</a:t>
            </a:r>
            <a:r>
              <a:rPr lang="zh-CN" altLang="en-US" sz="1200" dirty="0">
                <a:latin typeface="Garamond" panose="02020404030301010803" pitchFamily="18" charset="0"/>
                <a:ea typeface="KaiTi" panose="02010609060101010101" pitchFamily="49" charset="-122"/>
              </a:rPr>
              <a:t>高于或低于找央行存钱或借钱的利率时，就没人愿意找商业银行借或借给商业银行。</a:t>
            </a:r>
          </a:p>
        </p:txBody>
      </p:sp>
      <p:sp>
        <p:nvSpPr>
          <p:cNvPr id="36" name="文本框 35">
            <a:extLst>
              <a:ext uri="{FF2B5EF4-FFF2-40B4-BE49-F238E27FC236}">
                <a16:creationId xmlns:a16="http://schemas.microsoft.com/office/drawing/2014/main" id="{44C4B81A-AACC-8714-29FD-AF06EF84CF94}"/>
              </a:ext>
            </a:extLst>
          </p:cNvPr>
          <p:cNvSpPr txBox="1"/>
          <p:nvPr/>
        </p:nvSpPr>
        <p:spPr>
          <a:xfrm>
            <a:off x="1658296" y="948933"/>
            <a:ext cx="736360" cy="33855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再贴现率</a:t>
            </a:r>
            <a:endParaRPr kumimoji="1" lang="en-US" altLang="zh-CN" sz="800" dirty="0">
              <a:latin typeface="Garamond" panose="02020404030301010803" pitchFamily="18" charset="0"/>
            </a:endParaRPr>
          </a:p>
          <a:p>
            <a:pPr algn="ctr"/>
            <a:r>
              <a:rPr kumimoji="1" lang="zh-CN" altLang="en-US" sz="800" dirty="0">
                <a:latin typeface="Garamond" panose="02020404030301010803" pitchFamily="18" charset="0"/>
              </a:rPr>
              <a:t>（贷款利率）</a:t>
            </a:r>
          </a:p>
        </p:txBody>
      </p:sp>
      <p:sp>
        <p:nvSpPr>
          <p:cNvPr id="37" name="文本框 36">
            <a:extLst>
              <a:ext uri="{FF2B5EF4-FFF2-40B4-BE49-F238E27FC236}">
                <a16:creationId xmlns:a16="http://schemas.microsoft.com/office/drawing/2014/main" id="{4D461DEC-F9DD-EAB7-FD72-1C8335F4D016}"/>
              </a:ext>
            </a:extLst>
          </p:cNvPr>
          <p:cNvSpPr txBox="1"/>
          <p:nvPr/>
        </p:nvSpPr>
        <p:spPr>
          <a:xfrm>
            <a:off x="1652402" y="1330078"/>
            <a:ext cx="806433" cy="33855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超额准备金率（存款利率）</a:t>
            </a:r>
          </a:p>
        </p:txBody>
      </p:sp>
      <p:cxnSp>
        <p:nvCxnSpPr>
          <p:cNvPr id="39" name="直线箭头连接符 38">
            <a:extLst>
              <a:ext uri="{FF2B5EF4-FFF2-40B4-BE49-F238E27FC236}">
                <a16:creationId xmlns:a16="http://schemas.microsoft.com/office/drawing/2014/main" id="{029E362A-4667-B894-27D3-7E68151C0296}"/>
              </a:ext>
            </a:extLst>
          </p:cNvPr>
          <p:cNvCxnSpPr>
            <a:cxnSpLocks/>
          </p:cNvCxnSpPr>
          <p:nvPr/>
        </p:nvCxnSpPr>
        <p:spPr>
          <a:xfrm>
            <a:off x="2453506" y="1948853"/>
            <a:ext cx="1415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线箭头连接符 39">
            <a:extLst>
              <a:ext uri="{FF2B5EF4-FFF2-40B4-BE49-F238E27FC236}">
                <a16:creationId xmlns:a16="http://schemas.microsoft.com/office/drawing/2014/main" id="{4AF3C774-99FA-5520-2E53-AC6B4D13CA04}"/>
              </a:ext>
            </a:extLst>
          </p:cNvPr>
          <p:cNvCxnSpPr/>
          <p:nvPr/>
        </p:nvCxnSpPr>
        <p:spPr>
          <a:xfrm flipV="1">
            <a:off x="2453506" y="724717"/>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线连接符 40">
            <a:extLst>
              <a:ext uri="{FF2B5EF4-FFF2-40B4-BE49-F238E27FC236}">
                <a16:creationId xmlns:a16="http://schemas.microsoft.com/office/drawing/2014/main" id="{208663E5-D41A-9625-51BD-59345FF6C712}"/>
              </a:ext>
            </a:extLst>
          </p:cNvPr>
          <p:cNvCxnSpPr>
            <a:cxnSpLocks/>
          </p:cNvCxnSpPr>
          <p:nvPr/>
        </p:nvCxnSpPr>
        <p:spPr>
          <a:xfrm>
            <a:off x="2453506" y="1469116"/>
            <a:ext cx="391978" cy="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A873E54-93C8-BBE1-942D-ED4DAF63E72A}"/>
              </a:ext>
            </a:extLst>
          </p:cNvPr>
          <p:cNvSpPr txBox="1"/>
          <p:nvPr/>
        </p:nvSpPr>
        <p:spPr>
          <a:xfrm>
            <a:off x="2394656" y="1993530"/>
            <a:ext cx="1618257" cy="215444"/>
          </a:xfrm>
          <a:prstGeom prst="rect">
            <a:avLst/>
          </a:prstGeom>
          <a:noFill/>
        </p:spPr>
        <p:txBody>
          <a:bodyPr wrap="square" rtlCol="0">
            <a:spAutoFit/>
          </a:bodyPr>
          <a:lstStyle/>
          <a:p>
            <a:pPr algn="ctr"/>
            <a:r>
              <a:rPr kumimoji="1" lang="zh-CN" altLang="en-US" sz="800" b="1" dirty="0">
                <a:latin typeface="Garamond" panose="02020404030301010803" pitchFamily="18" charset="0"/>
              </a:rPr>
              <a:t>美联储加息</a:t>
            </a:r>
          </a:p>
        </p:txBody>
      </p:sp>
      <p:cxnSp>
        <p:nvCxnSpPr>
          <p:cNvPr id="43" name="直线连接符 42">
            <a:extLst>
              <a:ext uri="{FF2B5EF4-FFF2-40B4-BE49-F238E27FC236}">
                <a16:creationId xmlns:a16="http://schemas.microsoft.com/office/drawing/2014/main" id="{D4E295DF-BB13-F09C-4458-1D8E9A192523}"/>
              </a:ext>
            </a:extLst>
          </p:cNvPr>
          <p:cNvCxnSpPr>
            <a:cxnSpLocks/>
          </p:cNvCxnSpPr>
          <p:nvPr/>
        </p:nvCxnSpPr>
        <p:spPr>
          <a:xfrm>
            <a:off x="2453506" y="1114746"/>
            <a:ext cx="391978"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B4533B90-E1D9-4518-5577-2C0F2D78562E}"/>
              </a:ext>
            </a:extLst>
          </p:cNvPr>
          <p:cNvSpPr txBox="1"/>
          <p:nvPr/>
        </p:nvSpPr>
        <p:spPr>
          <a:xfrm>
            <a:off x="3608069" y="1979937"/>
            <a:ext cx="499003" cy="215444"/>
          </a:xfrm>
          <a:prstGeom prst="rect">
            <a:avLst/>
          </a:prstGeom>
          <a:noFill/>
        </p:spPr>
        <p:txBody>
          <a:bodyPr wrap="square">
            <a:spAutoFit/>
          </a:bodyPr>
          <a:lstStyle/>
          <a:p>
            <a:r>
              <a:rPr lang="zh-CN" altLang="en-US" sz="800" dirty="0">
                <a:latin typeface="Garamond" panose="02020404030301010803" pitchFamily="18" charset="0"/>
                <a:ea typeface="SimSun" panose="02010600030101010101" pitchFamily="2" charset="-122"/>
              </a:rPr>
              <a:t>时间</a:t>
            </a:r>
            <a:r>
              <a:rPr lang="en-US" altLang="zh-CN" sz="800" dirty="0">
                <a:latin typeface="Garamond" panose="02020404030301010803" pitchFamily="18" charset="0"/>
                <a:ea typeface="SimSun" panose="02010600030101010101" pitchFamily="2" charset="-122"/>
              </a:rPr>
              <a:t>/t</a:t>
            </a:r>
            <a:endParaRPr lang="zh-CN" altLang="en-US" sz="800" dirty="0">
              <a:latin typeface="Garamond" panose="02020404030301010803" pitchFamily="18" charset="0"/>
              <a:ea typeface="SimSun" panose="02010600030101010101" pitchFamily="2" charset="-122"/>
            </a:endParaRPr>
          </a:p>
        </p:txBody>
      </p:sp>
      <p:sp>
        <p:nvSpPr>
          <p:cNvPr id="45" name="文本框 44">
            <a:extLst>
              <a:ext uri="{FF2B5EF4-FFF2-40B4-BE49-F238E27FC236}">
                <a16:creationId xmlns:a16="http://schemas.microsoft.com/office/drawing/2014/main" id="{F05851F8-F812-E66C-E29B-C1191F313588}"/>
              </a:ext>
            </a:extLst>
          </p:cNvPr>
          <p:cNvSpPr txBox="1"/>
          <p:nvPr/>
        </p:nvSpPr>
        <p:spPr>
          <a:xfrm>
            <a:off x="2241602" y="635009"/>
            <a:ext cx="391978" cy="246221"/>
          </a:xfrm>
          <a:prstGeom prst="rect">
            <a:avLst/>
          </a:prstGeom>
          <a:noFill/>
        </p:spPr>
        <p:txBody>
          <a:bodyPr wrap="square">
            <a:spAutoFit/>
          </a:bodyPr>
          <a:lstStyle/>
          <a:p>
            <a:r>
              <a:rPr kumimoji="1" lang="en-US" altLang="zh-CN" sz="1000" dirty="0">
                <a:latin typeface="Garamond" panose="02020404030301010803" pitchFamily="18" charset="0"/>
              </a:rPr>
              <a:t>r</a:t>
            </a:r>
            <a:endParaRPr lang="zh-CN" altLang="en-US" sz="1000" dirty="0">
              <a:latin typeface="Garamond" panose="02020404030301010803" pitchFamily="18" charset="0"/>
            </a:endParaRPr>
          </a:p>
        </p:txBody>
      </p:sp>
      <p:cxnSp>
        <p:nvCxnSpPr>
          <p:cNvPr id="57" name="直线连接符 56">
            <a:extLst>
              <a:ext uri="{FF2B5EF4-FFF2-40B4-BE49-F238E27FC236}">
                <a16:creationId xmlns:a16="http://schemas.microsoft.com/office/drawing/2014/main" id="{ADA26F9B-1EE7-A170-756D-B3C8CEF41493}"/>
              </a:ext>
            </a:extLst>
          </p:cNvPr>
          <p:cNvCxnSpPr>
            <a:cxnSpLocks/>
          </p:cNvCxnSpPr>
          <p:nvPr/>
        </p:nvCxnSpPr>
        <p:spPr>
          <a:xfrm>
            <a:off x="2966540" y="1287487"/>
            <a:ext cx="391978" cy="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线连接符 57">
            <a:extLst>
              <a:ext uri="{FF2B5EF4-FFF2-40B4-BE49-F238E27FC236}">
                <a16:creationId xmlns:a16="http://schemas.microsoft.com/office/drawing/2014/main" id="{0FFFFF45-BB36-043F-E975-D44969B949C4}"/>
              </a:ext>
            </a:extLst>
          </p:cNvPr>
          <p:cNvCxnSpPr>
            <a:cxnSpLocks/>
          </p:cNvCxnSpPr>
          <p:nvPr/>
        </p:nvCxnSpPr>
        <p:spPr>
          <a:xfrm>
            <a:off x="2966540" y="933117"/>
            <a:ext cx="391978"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线连接符 58">
            <a:extLst>
              <a:ext uri="{FF2B5EF4-FFF2-40B4-BE49-F238E27FC236}">
                <a16:creationId xmlns:a16="http://schemas.microsoft.com/office/drawing/2014/main" id="{37C5D961-1A64-C429-0FE6-216669ADEFCC}"/>
              </a:ext>
            </a:extLst>
          </p:cNvPr>
          <p:cNvCxnSpPr>
            <a:cxnSpLocks/>
          </p:cNvCxnSpPr>
          <p:nvPr/>
        </p:nvCxnSpPr>
        <p:spPr>
          <a:xfrm>
            <a:off x="3476928" y="1109208"/>
            <a:ext cx="391978" cy="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线连接符 59">
            <a:extLst>
              <a:ext uri="{FF2B5EF4-FFF2-40B4-BE49-F238E27FC236}">
                <a16:creationId xmlns:a16="http://schemas.microsoft.com/office/drawing/2014/main" id="{AF1D90D9-6784-A1E2-FEAC-7FCC6F178CA8}"/>
              </a:ext>
            </a:extLst>
          </p:cNvPr>
          <p:cNvCxnSpPr>
            <a:cxnSpLocks/>
          </p:cNvCxnSpPr>
          <p:nvPr/>
        </p:nvCxnSpPr>
        <p:spPr>
          <a:xfrm>
            <a:off x="3476928" y="754838"/>
            <a:ext cx="391978"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54AFE485-0DD7-6D35-DC87-B8C3F997F672}"/>
              </a:ext>
            </a:extLst>
          </p:cNvPr>
          <p:cNvSpPr txBox="1"/>
          <p:nvPr/>
        </p:nvSpPr>
        <p:spPr>
          <a:xfrm>
            <a:off x="2932581" y="1287487"/>
            <a:ext cx="454604" cy="21544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加息</a:t>
            </a:r>
          </a:p>
        </p:txBody>
      </p:sp>
      <p:sp>
        <p:nvSpPr>
          <p:cNvPr id="62" name="文本框 61">
            <a:extLst>
              <a:ext uri="{FF2B5EF4-FFF2-40B4-BE49-F238E27FC236}">
                <a16:creationId xmlns:a16="http://schemas.microsoft.com/office/drawing/2014/main" id="{EBA82E29-D886-5400-9B6C-C8E9D72A2DD5}"/>
              </a:ext>
            </a:extLst>
          </p:cNvPr>
          <p:cNvSpPr txBox="1"/>
          <p:nvPr/>
        </p:nvSpPr>
        <p:spPr>
          <a:xfrm>
            <a:off x="3445615" y="1113410"/>
            <a:ext cx="454604" cy="21544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加息</a:t>
            </a:r>
          </a:p>
        </p:txBody>
      </p:sp>
      <p:sp>
        <p:nvSpPr>
          <p:cNvPr id="63" name="任意形状 62">
            <a:extLst>
              <a:ext uri="{FF2B5EF4-FFF2-40B4-BE49-F238E27FC236}">
                <a16:creationId xmlns:a16="http://schemas.microsoft.com/office/drawing/2014/main" id="{44D4F6CF-9986-FEF3-9768-158ABF85CD6E}"/>
              </a:ext>
            </a:extLst>
          </p:cNvPr>
          <p:cNvSpPr/>
          <p:nvPr/>
        </p:nvSpPr>
        <p:spPr>
          <a:xfrm>
            <a:off x="2512358" y="765936"/>
            <a:ext cx="1421358" cy="697640"/>
          </a:xfrm>
          <a:custGeom>
            <a:avLst/>
            <a:gdLst>
              <a:gd name="connsiteX0" fmla="*/ 0 w 1398985"/>
              <a:gd name="connsiteY0" fmla="*/ 598394 h 598394"/>
              <a:gd name="connsiteX1" fmla="*/ 6723 w 1398985"/>
              <a:gd name="connsiteY1" fmla="*/ 504265 h 598394"/>
              <a:gd name="connsiteX2" fmla="*/ 13447 w 1398985"/>
              <a:gd name="connsiteY2" fmla="*/ 477371 h 598394"/>
              <a:gd name="connsiteX3" fmla="*/ 26894 w 1398985"/>
              <a:gd name="connsiteY3" fmla="*/ 423583 h 598394"/>
              <a:gd name="connsiteX4" fmla="*/ 33617 w 1398985"/>
              <a:gd name="connsiteY4" fmla="*/ 396688 h 598394"/>
              <a:gd name="connsiteX5" fmla="*/ 47064 w 1398985"/>
              <a:gd name="connsiteY5" fmla="*/ 376518 h 598394"/>
              <a:gd name="connsiteX6" fmla="*/ 87405 w 1398985"/>
              <a:gd name="connsiteY6" fmla="*/ 363071 h 598394"/>
              <a:gd name="connsiteX7" fmla="*/ 127747 w 1398985"/>
              <a:gd name="connsiteY7" fmla="*/ 369794 h 598394"/>
              <a:gd name="connsiteX8" fmla="*/ 154641 w 1398985"/>
              <a:gd name="connsiteY8" fmla="*/ 410136 h 598394"/>
              <a:gd name="connsiteX9" fmla="*/ 168088 w 1398985"/>
              <a:gd name="connsiteY9" fmla="*/ 430306 h 598394"/>
              <a:gd name="connsiteX10" fmla="*/ 181535 w 1398985"/>
              <a:gd name="connsiteY10" fmla="*/ 450477 h 598394"/>
              <a:gd name="connsiteX11" fmla="*/ 201705 w 1398985"/>
              <a:gd name="connsiteY11" fmla="*/ 463924 h 598394"/>
              <a:gd name="connsiteX12" fmla="*/ 221876 w 1398985"/>
              <a:gd name="connsiteY12" fmla="*/ 470647 h 598394"/>
              <a:gd name="connsiteX13" fmla="*/ 275664 w 1398985"/>
              <a:gd name="connsiteY13" fmla="*/ 457200 h 598394"/>
              <a:gd name="connsiteX14" fmla="*/ 289111 w 1398985"/>
              <a:gd name="connsiteY14" fmla="*/ 437030 h 598394"/>
              <a:gd name="connsiteX15" fmla="*/ 309282 w 1398985"/>
              <a:gd name="connsiteY15" fmla="*/ 423583 h 598394"/>
              <a:gd name="connsiteX16" fmla="*/ 336176 w 1398985"/>
              <a:gd name="connsiteY16" fmla="*/ 389965 h 598394"/>
              <a:gd name="connsiteX17" fmla="*/ 342900 w 1398985"/>
              <a:gd name="connsiteY17" fmla="*/ 369794 h 598394"/>
              <a:gd name="connsiteX18" fmla="*/ 363070 w 1398985"/>
              <a:gd name="connsiteY18" fmla="*/ 349624 h 598394"/>
              <a:gd name="connsiteX19" fmla="*/ 423582 w 1398985"/>
              <a:gd name="connsiteY19" fmla="*/ 316006 h 598394"/>
              <a:gd name="connsiteX20" fmla="*/ 510988 w 1398985"/>
              <a:gd name="connsiteY20" fmla="*/ 322730 h 598394"/>
              <a:gd name="connsiteX21" fmla="*/ 531158 w 1398985"/>
              <a:gd name="connsiteY21" fmla="*/ 363071 h 598394"/>
              <a:gd name="connsiteX22" fmla="*/ 544605 w 1398985"/>
              <a:gd name="connsiteY22" fmla="*/ 383241 h 598394"/>
              <a:gd name="connsiteX23" fmla="*/ 564776 w 1398985"/>
              <a:gd name="connsiteY23" fmla="*/ 423583 h 598394"/>
              <a:gd name="connsiteX24" fmla="*/ 584947 w 1398985"/>
              <a:gd name="connsiteY24" fmla="*/ 437030 h 598394"/>
              <a:gd name="connsiteX25" fmla="*/ 611841 w 1398985"/>
              <a:gd name="connsiteY25" fmla="*/ 376518 h 598394"/>
              <a:gd name="connsiteX26" fmla="*/ 618564 w 1398985"/>
              <a:gd name="connsiteY26" fmla="*/ 356347 h 598394"/>
              <a:gd name="connsiteX27" fmla="*/ 632011 w 1398985"/>
              <a:gd name="connsiteY27" fmla="*/ 336177 h 598394"/>
              <a:gd name="connsiteX28" fmla="*/ 645458 w 1398985"/>
              <a:gd name="connsiteY28" fmla="*/ 295836 h 598394"/>
              <a:gd name="connsiteX29" fmla="*/ 652182 w 1398985"/>
              <a:gd name="connsiteY29" fmla="*/ 275665 h 598394"/>
              <a:gd name="connsiteX30" fmla="*/ 672352 w 1398985"/>
              <a:gd name="connsiteY30" fmla="*/ 262218 h 598394"/>
              <a:gd name="connsiteX31" fmla="*/ 685800 w 1398985"/>
              <a:gd name="connsiteY31" fmla="*/ 248771 h 598394"/>
              <a:gd name="connsiteX32" fmla="*/ 726141 w 1398985"/>
              <a:gd name="connsiteY32" fmla="*/ 235324 h 598394"/>
              <a:gd name="connsiteX33" fmla="*/ 773205 w 1398985"/>
              <a:gd name="connsiteY33" fmla="*/ 262218 h 598394"/>
              <a:gd name="connsiteX34" fmla="*/ 786652 w 1398985"/>
              <a:gd name="connsiteY34" fmla="*/ 302559 h 598394"/>
              <a:gd name="connsiteX35" fmla="*/ 793376 w 1398985"/>
              <a:gd name="connsiteY35" fmla="*/ 322730 h 598394"/>
              <a:gd name="connsiteX36" fmla="*/ 820270 w 1398985"/>
              <a:gd name="connsiteY36" fmla="*/ 295836 h 598394"/>
              <a:gd name="connsiteX37" fmla="*/ 860611 w 1398985"/>
              <a:gd name="connsiteY37" fmla="*/ 242047 h 598394"/>
              <a:gd name="connsiteX38" fmla="*/ 874058 w 1398985"/>
              <a:gd name="connsiteY38" fmla="*/ 201706 h 598394"/>
              <a:gd name="connsiteX39" fmla="*/ 880782 w 1398985"/>
              <a:gd name="connsiteY39" fmla="*/ 181536 h 598394"/>
              <a:gd name="connsiteX40" fmla="*/ 894229 w 1398985"/>
              <a:gd name="connsiteY40" fmla="*/ 161365 h 598394"/>
              <a:gd name="connsiteX41" fmla="*/ 914400 w 1398985"/>
              <a:gd name="connsiteY41" fmla="*/ 127747 h 598394"/>
              <a:gd name="connsiteX42" fmla="*/ 934570 w 1398985"/>
              <a:gd name="connsiteY42" fmla="*/ 87406 h 598394"/>
              <a:gd name="connsiteX43" fmla="*/ 954741 w 1398985"/>
              <a:gd name="connsiteY43" fmla="*/ 80683 h 598394"/>
              <a:gd name="connsiteX44" fmla="*/ 974911 w 1398985"/>
              <a:gd name="connsiteY44" fmla="*/ 67236 h 598394"/>
              <a:gd name="connsiteX45" fmla="*/ 1028700 w 1398985"/>
              <a:gd name="connsiteY45" fmla="*/ 87406 h 598394"/>
              <a:gd name="connsiteX46" fmla="*/ 1035423 w 1398985"/>
              <a:gd name="connsiteY46" fmla="*/ 127747 h 598394"/>
              <a:gd name="connsiteX47" fmla="*/ 1042147 w 1398985"/>
              <a:gd name="connsiteY47" fmla="*/ 174812 h 598394"/>
              <a:gd name="connsiteX48" fmla="*/ 1062317 w 1398985"/>
              <a:gd name="connsiteY48" fmla="*/ 215153 h 598394"/>
              <a:gd name="connsiteX49" fmla="*/ 1082488 w 1398985"/>
              <a:gd name="connsiteY49" fmla="*/ 221877 h 598394"/>
              <a:gd name="connsiteX50" fmla="*/ 1122829 w 1398985"/>
              <a:gd name="connsiteY50" fmla="*/ 215153 h 598394"/>
              <a:gd name="connsiteX51" fmla="*/ 1129552 w 1398985"/>
              <a:gd name="connsiteY51" fmla="*/ 194983 h 598394"/>
              <a:gd name="connsiteX52" fmla="*/ 1143000 w 1398985"/>
              <a:gd name="connsiteY52" fmla="*/ 181536 h 598394"/>
              <a:gd name="connsiteX53" fmla="*/ 1169894 w 1398985"/>
              <a:gd name="connsiteY53" fmla="*/ 141194 h 598394"/>
              <a:gd name="connsiteX54" fmla="*/ 1183341 w 1398985"/>
              <a:gd name="connsiteY54" fmla="*/ 121024 h 598394"/>
              <a:gd name="connsiteX55" fmla="*/ 1196788 w 1398985"/>
              <a:gd name="connsiteY55" fmla="*/ 100853 h 598394"/>
              <a:gd name="connsiteX56" fmla="*/ 1203511 w 1398985"/>
              <a:gd name="connsiteY56" fmla="*/ 80683 h 598394"/>
              <a:gd name="connsiteX57" fmla="*/ 1223682 w 1398985"/>
              <a:gd name="connsiteY57" fmla="*/ 67236 h 598394"/>
              <a:gd name="connsiteX58" fmla="*/ 1237129 w 1398985"/>
              <a:gd name="connsiteY58" fmla="*/ 53788 h 598394"/>
              <a:gd name="connsiteX59" fmla="*/ 1264023 w 1398985"/>
              <a:gd name="connsiteY59" fmla="*/ 60512 h 598394"/>
              <a:gd name="connsiteX60" fmla="*/ 1304364 w 1398985"/>
              <a:gd name="connsiteY60" fmla="*/ 73959 h 598394"/>
              <a:gd name="connsiteX61" fmla="*/ 1311088 w 1398985"/>
              <a:gd name="connsiteY61" fmla="*/ 94130 h 598394"/>
              <a:gd name="connsiteX62" fmla="*/ 1324535 w 1398985"/>
              <a:gd name="connsiteY62" fmla="*/ 114300 h 598394"/>
              <a:gd name="connsiteX63" fmla="*/ 1351429 w 1398985"/>
              <a:gd name="connsiteY63" fmla="*/ 154641 h 598394"/>
              <a:gd name="connsiteX64" fmla="*/ 1371600 w 1398985"/>
              <a:gd name="connsiteY64" fmla="*/ 147918 h 598394"/>
              <a:gd name="connsiteX65" fmla="*/ 1378323 w 1398985"/>
              <a:gd name="connsiteY65" fmla="*/ 87406 h 598394"/>
              <a:gd name="connsiteX66" fmla="*/ 1385047 w 1398985"/>
              <a:gd name="connsiteY66" fmla="*/ 67236 h 598394"/>
              <a:gd name="connsiteX67" fmla="*/ 1391770 w 1398985"/>
              <a:gd name="connsiteY67" fmla="*/ 40341 h 598394"/>
              <a:gd name="connsiteX68" fmla="*/ 1398494 w 1398985"/>
              <a:gd name="connsiteY68" fmla="*/ 20171 h 598394"/>
              <a:gd name="connsiteX69" fmla="*/ 1398494 w 1398985"/>
              <a:gd name="connsiteY69" fmla="*/ 0 h 59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98985" h="598394">
                <a:moveTo>
                  <a:pt x="0" y="598394"/>
                </a:moveTo>
                <a:cubicBezTo>
                  <a:pt x="2241" y="567018"/>
                  <a:pt x="3249" y="535529"/>
                  <a:pt x="6723" y="504265"/>
                </a:cubicBezTo>
                <a:cubicBezTo>
                  <a:pt x="7743" y="495081"/>
                  <a:pt x="11442" y="486392"/>
                  <a:pt x="13447" y="477371"/>
                </a:cubicBezTo>
                <a:cubicBezTo>
                  <a:pt x="33960" y="385061"/>
                  <a:pt x="8866" y="486683"/>
                  <a:pt x="26894" y="423583"/>
                </a:cubicBezTo>
                <a:cubicBezTo>
                  <a:pt x="29433" y="414698"/>
                  <a:pt x="29977" y="405182"/>
                  <a:pt x="33617" y="396688"/>
                </a:cubicBezTo>
                <a:cubicBezTo>
                  <a:pt x="36800" y="389261"/>
                  <a:pt x="40212" y="380801"/>
                  <a:pt x="47064" y="376518"/>
                </a:cubicBezTo>
                <a:cubicBezTo>
                  <a:pt x="59084" y="369006"/>
                  <a:pt x="87405" y="363071"/>
                  <a:pt x="87405" y="363071"/>
                </a:cubicBezTo>
                <a:cubicBezTo>
                  <a:pt x="100852" y="365312"/>
                  <a:pt x="116579" y="361976"/>
                  <a:pt x="127747" y="369794"/>
                </a:cubicBezTo>
                <a:cubicBezTo>
                  <a:pt x="140987" y="379062"/>
                  <a:pt x="145676" y="396689"/>
                  <a:pt x="154641" y="410136"/>
                </a:cubicBezTo>
                <a:lnTo>
                  <a:pt x="168088" y="430306"/>
                </a:lnTo>
                <a:cubicBezTo>
                  <a:pt x="172570" y="437030"/>
                  <a:pt x="174811" y="445995"/>
                  <a:pt x="181535" y="450477"/>
                </a:cubicBezTo>
                <a:cubicBezTo>
                  <a:pt x="188258" y="454959"/>
                  <a:pt x="194478" y="460310"/>
                  <a:pt x="201705" y="463924"/>
                </a:cubicBezTo>
                <a:cubicBezTo>
                  <a:pt x="208044" y="467093"/>
                  <a:pt x="215152" y="468406"/>
                  <a:pt x="221876" y="470647"/>
                </a:cubicBezTo>
                <a:cubicBezTo>
                  <a:pt x="223554" y="470311"/>
                  <a:pt x="268770" y="462715"/>
                  <a:pt x="275664" y="457200"/>
                </a:cubicBezTo>
                <a:cubicBezTo>
                  <a:pt x="281974" y="452152"/>
                  <a:pt x="283397" y="442744"/>
                  <a:pt x="289111" y="437030"/>
                </a:cubicBezTo>
                <a:cubicBezTo>
                  <a:pt x="294825" y="431316"/>
                  <a:pt x="302558" y="428065"/>
                  <a:pt x="309282" y="423583"/>
                </a:cubicBezTo>
                <a:cubicBezTo>
                  <a:pt x="326180" y="372885"/>
                  <a:pt x="301420" y="433409"/>
                  <a:pt x="336176" y="389965"/>
                </a:cubicBezTo>
                <a:cubicBezTo>
                  <a:pt x="340604" y="384431"/>
                  <a:pt x="338969" y="375691"/>
                  <a:pt x="342900" y="369794"/>
                </a:cubicBezTo>
                <a:cubicBezTo>
                  <a:pt x="348174" y="361883"/>
                  <a:pt x="355565" y="355461"/>
                  <a:pt x="363070" y="349624"/>
                </a:cubicBezTo>
                <a:cubicBezTo>
                  <a:pt x="397748" y="322652"/>
                  <a:pt x="393149" y="326151"/>
                  <a:pt x="423582" y="316006"/>
                </a:cubicBezTo>
                <a:cubicBezTo>
                  <a:pt x="452717" y="318247"/>
                  <a:pt x="482753" y="315201"/>
                  <a:pt x="510988" y="322730"/>
                </a:cubicBezTo>
                <a:cubicBezTo>
                  <a:pt x="522106" y="325695"/>
                  <a:pt x="527371" y="355497"/>
                  <a:pt x="531158" y="363071"/>
                </a:cubicBezTo>
                <a:cubicBezTo>
                  <a:pt x="534772" y="370298"/>
                  <a:pt x="540991" y="376014"/>
                  <a:pt x="544605" y="383241"/>
                </a:cubicBezTo>
                <a:cubicBezTo>
                  <a:pt x="555542" y="405114"/>
                  <a:pt x="545508" y="404315"/>
                  <a:pt x="564776" y="423583"/>
                </a:cubicBezTo>
                <a:cubicBezTo>
                  <a:pt x="570490" y="429297"/>
                  <a:pt x="578223" y="432548"/>
                  <a:pt x="584947" y="437030"/>
                </a:cubicBezTo>
                <a:cubicBezTo>
                  <a:pt x="606256" y="405066"/>
                  <a:pt x="595840" y="424524"/>
                  <a:pt x="611841" y="376518"/>
                </a:cubicBezTo>
                <a:cubicBezTo>
                  <a:pt x="614082" y="369794"/>
                  <a:pt x="614633" y="362244"/>
                  <a:pt x="618564" y="356347"/>
                </a:cubicBezTo>
                <a:cubicBezTo>
                  <a:pt x="623046" y="349624"/>
                  <a:pt x="628729" y="343561"/>
                  <a:pt x="632011" y="336177"/>
                </a:cubicBezTo>
                <a:cubicBezTo>
                  <a:pt x="637768" y="323224"/>
                  <a:pt x="640976" y="309283"/>
                  <a:pt x="645458" y="295836"/>
                </a:cubicBezTo>
                <a:cubicBezTo>
                  <a:pt x="647699" y="289112"/>
                  <a:pt x="646285" y="279596"/>
                  <a:pt x="652182" y="275665"/>
                </a:cubicBezTo>
                <a:cubicBezTo>
                  <a:pt x="658905" y="271183"/>
                  <a:pt x="666042" y="267266"/>
                  <a:pt x="672352" y="262218"/>
                </a:cubicBezTo>
                <a:cubicBezTo>
                  <a:pt x="677302" y="258258"/>
                  <a:pt x="680130" y="251606"/>
                  <a:pt x="685800" y="248771"/>
                </a:cubicBezTo>
                <a:cubicBezTo>
                  <a:pt x="698478" y="242432"/>
                  <a:pt x="726141" y="235324"/>
                  <a:pt x="726141" y="235324"/>
                </a:cubicBezTo>
                <a:cubicBezTo>
                  <a:pt x="748866" y="241005"/>
                  <a:pt x="760283" y="238958"/>
                  <a:pt x="773205" y="262218"/>
                </a:cubicBezTo>
                <a:cubicBezTo>
                  <a:pt x="780089" y="274609"/>
                  <a:pt x="782170" y="289112"/>
                  <a:pt x="786652" y="302559"/>
                </a:cubicBezTo>
                <a:lnTo>
                  <a:pt x="793376" y="322730"/>
                </a:lnTo>
                <a:cubicBezTo>
                  <a:pt x="829235" y="310776"/>
                  <a:pt x="802342" y="325718"/>
                  <a:pt x="820270" y="295836"/>
                </a:cubicBezTo>
                <a:cubicBezTo>
                  <a:pt x="844162" y="256015"/>
                  <a:pt x="832705" y="325764"/>
                  <a:pt x="860611" y="242047"/>
                </a:cubicBezTo>
                <a:lnTo>
                  <a:pt x="874058" y="201706"/>
                </a:lnTo>
                <a:cubicBezTo>
                  <a:pt x="876299" y="194983"/>
                  <a:pt x="876851" y="187433"/>
                  <a:pt x="880782" y="181536"/>
                </a:cubicBezTo>
                <a:lnTo>
                  <a:pt x="894229" y="161365"/>
                </a:lnTo>
                <a:cubicBezTo>
                  <a:pt x="913273" y="104228"/>
                  <a:pt x="886713" y="173890"/>
                  <a:pt x="914400" y="127747"/>
                </a:cubicBezTo>
                <a:cubicBezTo>
                  <a:pt x="925644" y="109008"/>
                  <a:pt x="914950" y="103101"/>
                  <a:pt x="934570" y="87406"/>
                </a:cubicBezTo>
                <a:cubicBezTo>
                  <a:pt x="940104" y="82979"/>
                  <a:pt x="948017" y="82924"/>
                  <a:pt x="954741" y="80683"/>
                </a:cubicBezTo>
                <a:cubicBezTo>
                  <a:pt x="961464" y="76201"/>
                  <a:pt x="966893" y="68238"/>
                  <a:pt x="974911" y="67236"/>
                </a:cubicBezTo>
                <a:cubicBezTo>
                  <a:pt x="999399" y="64175"/>
                  <a:pt x="1011079" y="75659"/>
                  <a:pt x="1028700" y="87406"/>
                </a:cubicBezTo>
                <a:cubicBezTo>
                  <a:pt x="1030941" y="100853"/>
                  <a:pt x="1033350" y="114273"/>
                  <a:pt x="1035423" y="127747"/>
                </a:cubicBezTo>
                <a:cubicBezTo>
                  <a:pt x="1037833" y="143410"/>
                  <a:pt x="1039039" y="159272"/>
                  <a:pt x="1042147" y="174812"/>
                </a:cubicBezTo>
                <a:cubicBezTo>
                  <a:pt x="1044467" y="186414"/>
                  <a:pt x="1052871" y="207597"/>
                  <a:pt x="1062317" y="215153"/>
                </a:cubicBezTo>
                <a:cubicBezTo>
                  <a:pt x="1067851" y="219580"/>
                  <a:pt x="1075764" y="219636"/>
                  <a:pt x="1082488" y="221877"/>
                </a:cubicBezTo>
                <a:cubicBezTo>
                  <a:pt x="1095935" y="219636"/>
                  <a:pt x="1110993" y="221917"/>
                  <a:pt x="1122829" y="215153"/>
                </a:cubicBezTo>
                <a:cubicBezTo>
                  <a:pt x="1128982" y="211637"/>
                  <a:pt x="1125906" y="201060"/>
                  <a:pt x="1129552" y="194983"/>
                </a:cubicBezTo>
                <a:cubicBezTo>
                  <a:pt x="1132814" y="189547"/>
                  <a:pt x="1139196" y="186607"/>
                  <a:pt x="1143000" y="181536"/>
                </a:cubicBezTo>
                <a:cubicBezTo>
                  <a:pt x="1152697" y="168607"/>
                  <a:pt x="1160929" y="154641"/>
                  <a:pt x="1169894" y="141194"/>
                </a:cubicBezTo>
                <a:lnTo>
                  <a:pt x="1183341" y="121024"/>
                </a:lnTo>
                <a:lnTo>
                  <a:pt x="1196788" y="100853"/>
                </a:lnTo>
                <a:cubicBezTo>
                  <a:pt x="1199029" y="94130"/>
                  <a:pt x="1199084" y="86217"/>
                  <a:pt x="1203511" y="80683"/>
                </a:cubicBezTo>
                <a:cubicBezTo>
                  <a:pt x="1208559" y="74373"/>
                  <a:pt x="1217372" y="72284"/>
                  <a:pt x="1223682" y="67236"/>
                </a:cubicBezTo>
                <a:cubicBezTo>
                  <a:pt x="1228632" y="63276"/>
                  <a:pt x="1232647" y="58271"/>
                  <a:pt x="1237129" y="53788"/>
                </a:cubicBezTo>
                <a:cubicBezTo>
                  <a:pt x="1246094" y="56029"/>
                  <a:pt x="1255172" y="57857"/>
                  <a:pt x="1264023" y="60512"/>
                </a:cubicBezTo>
                <a:cubicBezTo>
                  <a:pt x="1277600" y="64585"/>
                  <a:pt x="1304364" y="73959"/>
                  <a:pt x="1304364" y="73959"/>
                </a:cubicBezTo>
                <a:cubicBezTo>
                  <a:pt x="1306605" y="80683"/>
                  <a:pt x="1307918" y="87791"/>
                  <a:pt x="1311088" y="94130"/>
                </a:cubicBezTo>
                <a:cubicBezTo>
                  <a:pt x="1314702" y="101357"/>
                  <a:pt x="1321352" y="106873"/>
                  <a:pt x="1324535" y="114300"/>
                </a:cubicBezTo>
                <a:cubicBezTo>
                  <a:pt x="1341902" y="154823"/>
                  <a:pt x="1315975" y="131006"/>
                  <a:pt x="1351429" y="154641"/>
                </a:cubicBezTo>
                <a:cubicBezTo>
                  <a:pt x="1358153" y="152400"/>
                  <a:pt x="1368968" y="154498"/>
                  <a:pt x="1371600" y="147918"/>
                </a:cubicBezTo>
                <a:cubicBezTo>
                  <a:pt x="1379137" y="129075"/>
                  <a:pt x="1374987" y="107425"/>
                  <a:pt x="1378323" y="87406"/>
                </a:cubicBezTo>
                <a:cubicBezTo>
                  <a:pt x="1379488" y="80415"/>
                  <a:pt x="1383100" y="74050"/>
                  <a:pt x="1385047" y="67236"/>
                </a:cubicBezTo>
                <a:cubicBezTo>
                  <a:pt x="1387586" y="58351"/>
                  <a:pt x="1389231" y="49226"/>
                  <a:pt x="1391770" y="40341"/>
                </a:cubicBezTo>
                <a:cubicBezTo>
                  <a:pt x="1393717" y="33527"/>
                  <a:pt x="1397329" y="27162"/>
                  <a:pt x="1398494" y="20171"/>
                </a:cubicBezTo>
                <a:cubicBezTo>
                  <a:pt x="1399599" y="13539"/>
                  <a:pt x="1398494" y="6724"/>
                  <a:pt x="139849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Garamond" panose="02020404030301010803" pitchFamily="18" charset="0"/>
            </a:endParaRPr>
          </a:p>
        </p:txBody>
      </p:sp>
      <p:cxnSp>
        <p:nvCxnSpPr>
          <p:cNvPr id="65" name="直线连接符 64">
            <a:extLst>
              <a:ext uri="{FF2B5EF4-FFF2-40B4-BE49-F238E27FC236}">
                <a16:creationId xmlns:a16="http://schemas.microsoft.com/office/drawing/2014/main" id="{66A19CAA-23AE-69CB-C319-255ACE3076E1}"/>
              </a:ext>
            </a:extLst>
          </p:cNvPr>
          <p:cNvCxnSpPr>
            <a:cxnSpLocks/>
            <a:stCxn id="63" idx="0"/>
            <a:endCxn id="63" idx="69"/>
          </p:cNvCxnSpPr>
          <p:nvPr/>
        </p:nvCxnSpPr>
        <p:spPr>
          <a:xfrm flipV="1">
            <a:off x="2512358" y="765936"/>
            <a:ext cx="1420859" cy="697640"/>
          </a:xfrm>
          <a:prstGeom prst="line">
            <a:avLst/>
          </a:prstGeom>
          <a:ln w="15875">
            <a:solidFill>
              <a:schemeClr val="accent1">
                <a:alpha val="99000"/>
              </a:schemeClr>
            </a:solidFill>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54714C5D-5F93-83B7-EF85-EF4AC23C67E8}"/>
              </a:ext>
            </a:extLst>
          </p:cNvPr>
          <p:cNvSpPr txBox="1"/>
          <p:nvPr/>
        </p:nvSpPr>
        <p:spPr>
          <a:xfrm>
            <a:off x="3927031" y="706415"/>
            <a:ext cx="627401" cy="33855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同业拆借利率</a:t>
            </a:r>
          </a:p>
        </p:txBody>
      </p:sp>
      <p:sp>
        <p:nvSpPr>
          <p:cNvPr id="72" name="文本框 71">
            <a:extLst>
              <a:ext uri="{FF2B5EF4-FFF2-40B4-BE49-F238E27FC236}">
                <a16:creationId xmlns:a16="http://schemas.microsoft.com/office/drawing/2014/main" id="{6A211CF8-0489-AE32-0753-1090DEAFA6B5}"/>
              </a:ext>
            </a:extLst>
          </p:cNvPr>
          <p:cNvSpPr txBox="1"/>
          <p:nvPr/>
        </p:nvSpPr>
        <p:spPr>
          <a:xfrm>
            <a:off x="2535912" y="501310"/>
            <a:ext cx="1067788" cy="430887"/>
          </a:xfrm>
          <a:prstGeom prst="rect">
            <a:avLst/>
          </a:prstGeom>
          <a:noFill/>
        </p:spPr>
        <p:txBody>
          <a:bodyPr wrap="square">
            <a:spAutoFit/>
          </a:bodyPr>
          <a:lstStyle/>
          <a:p>
            <a:pPr algn="ctr"/>
            <a:r>
              <a:rPr lang="en-US" altLang="zh-CN" sz="1100" b="0" i="0" u="none" strike="noStrike" dirty="0">
                <a:solidFill>
                  <a:srgbClr val="222222"/>
                </a:solidFill>
                <a:effectLst/>
                <a:latin typeface="Garamond" panose="02020404030301010803" pitchFamily="18" charset="0"/>
              </a:rPr>
              <a:t>2023/3</a:t>
            </a:r>
            <a:r>
              <a:rPr lang="en-US" altLang="zh-CN" sz="1100" dirty="0">
                <a:solidFill>
                  <a:srgbClr val="222222"/>
                </a:solidFill>
                <a:latin typeface="Garamond" panose="02020404030301010803" pitchFamily="18" charset="0"/>
              </a:rPr>
              <a:t>/</a:t>
            </a:r>
            <a:r>
              <a:rPr lang="en-US" altLang="zh-CN" sz="1100" b="0" i="0" u="none" strike="noStrike" dirty="0">
                <a:solidFill>
                  <a:srgbClr val="222222"/>
                </a:solidFill>
                <a:effectLst/>
                <a:latin typeface="Garamond" panose="02020404030301010803" pitchFamily="18" charset="0"/>
              </a:rPr>
              <a:t>23</a:t>
            </a:r>
          </a:p>
          <a:p>
            <a:pPr algn="ctr"/>
            <a:r>
              <a:rPr lang="en-US" altLang="zh-CN" sz="1100" b="0" i="0" u="none" strike="noStrike" dirty="0">
                <a:solidFill>
                  <a:srgbClr val="222222"/>
                </a:solidFill>
                <a:effectLst/>
                <a:latin typeface="Garamond" panose="02020404030301010803" pitchFamily="18" charset="0"/>
              </a:rPr>
              <a:t>4.75%-5%</a:t>
            </a:r>
            <a:endParaRPr lang="zh-CN" altLang="en-US" sz="1100" dirty="0">
              <a:latin typeface="Garamond" panose="02020404030301010803" pitchFamily="18" charset="0"/>
            </a:endParaRPr>
          </a:p>
        </p:txBody>
      </p:sp>
      <p:sp>
        <p:nvSpPr>
          <p:cNvPr id="74" name="文本框 73">
            <a:extLst>
              <a:ext uri="{FF2B5EF4-FFF2-40B4-BE49-F238E27FC236}">
                <a16:creationId xmlns:a16="http://schemas.microsoft.com/office/drawing/2014/main" id="{CE528701-2614-1896-4A7E-91EA22F9EF8B}"/>
              </a:ext>
            </a:extLst>
          </p:cNvPr>
          <p:cNvSpPr txBox="1"/>
          <p:nvPr/>
        </p:nvSpPr>
        <p:spPr>
          <a:xfrm>
            <a:off x="3387185" y="513463"/>
            <a:ext cx="788273" cy="246221"/>
          </a:xfrm>
          <a:prstGeom prst="rect">
            <a:avLst/>
          </a:prstGeom>
          <a:noFill/>
        </p:spPr>
        <p:txBody>
          <a:bodyPr wrap="square">
            <a:spAutoFit/>
          </a:bodyPr>
          <a:lstStyle/>
          <a:p>
            <a:r>
              <a:rPr lang="en-US" altLang="zh-CN" sz="1000" b="0" i="0" u="none" strike="noStrike" dirty="0">
                <a:solidFill>
                  <a:srgbClr val="222222"/>
                </a:solidFill>
                <a:effectLst/>
                <a:latin typeface="Garamond" panose="02020404030301010803" pitchFamily="18" charset="0"/>
              </a:rPr>
              <a:t>5%-5.25%</a:t>
            </a:r>
            <a:endParaRPr lang="zh-CN" altLang="en-US" sz="1000" dirty="0">
              <a:latin typeface="Garamond" panose="02020404030301010803" pitchFamily="18" charset="0"/>
            </a:endParaRPr>
          </a:p>
        </p:txBody>
      </p:sp>
    </p:spTree>
    <p:extLst>
      <p:ext uri="{BB962C8B-B14F-4D97-AF65-F5344CB8AC3E}">
        <p14:creationId xmlns:p14="http://schemas.microsoft.com/office/powerpoint/2010/main" val="15215340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BCEF79-3FCE-20F3-9659-F76E45FCF9A9}"/>
              </a:ext>
            </a:extLst>
          </p:cNvPr>
          <p:cNvSpPr>
            <a:spLocks noGrp="1"/>
          </p:cNvSpPr>
          <p:nvPr>
            <p:ph type="title"/>
          </p:nvPr>
        </p:nvSpPr>
        <p:spPr/>
        <p:txBody>
          <a:bodyPr/>
          <a:lstStyle/>
          <a:p>
            <a:r>
              <a:rPr kumimoji="1" lang="zh-CN" altLang="en-US" dirty="0"/>
              <a:t>美国近两年的加息操作</a:t>
            </a:r>
          </a:p>
        </p:txBody>
      </p:sp>
      <p:sp>
        <p:nvSpPr>
          <p:cNvPr id="3" name="内容占位符 2">
            <a:extLst>
              <a:ext uri="{FF2B5EF4-FFF2-40B4-BE49-F238E27FC236}">
                <a16:creationId xmlns:a16="http://schemas.microsoft.com/office/drawing/2014/main" id="{BF6B742A-92E2-8D37-12B9-C49C802FD4DE}"/>
              </a:ext>
            </a:extLst>
          </p:cNvPr>
          <p:cNvSpPr>
            <a:spLocks noGrp="1"/>
          </p:cNvSpPr>
          <p:nvPr>
            <p:ph idx="1"/>
          </p:nvPr>
        </p:nvSpPr>
        <p:spPr>
          <a:xfrm>
            <a:off x="144066" y="399456"/>
            <a:ext cx="4321224" cy="2915095"/>
          </a:xfrm>
        </p:spPr>
        <p:txBody>
          <a:bodyPr/>
          <a:lstStyle/>
          <a:p>
            <a:pPr marL="0" indent="0">
              <a:lnSpc>
                <a:spcPct val="100000"/>
              </a:lnSpc>
              <a:spcBef>
                <a:spcPts val="0"/>
              </a:spcBef>
              <a:buNone/>
            </a:pPr>
            <a:r>
              <a:rPr lang="en-US" altLang="zh-CN" sz="1050" dirty="0">
                <a:solidFill>
                  <a:schemeClr val="dk1"/>
                </a:solidFill>
                <a:ea typeface="+mn-ea"/>
              </a:rPr>
              <a:t>2022 </a:t>
            </a:r>
            <a:r>
              <a:rPr lang="zh-CN" altLang="en-US" sz="1050" dirty="0">
                <a:solidFill>
                  <a:schemeClr val="dk1"/>
                </a:solidFill>
                <a:ea typeface="+mn-ea"/>
              </a:rPr>
              <a:t>年：</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16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个基点，目标区间上调到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0.25%-0.50%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4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50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个基点，目标区间变为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0.75%-1.00%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6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个基点，目标区间升至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1.50%-1.75%</a:t>
            </a:r>
            <a:r>
              <a:rPr lang="zh-CN" altLang="en-US" sz="1000" i="1" u="sng"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r>
              <a:rPr lang="en-US" altLang="zh-CN" sz="1000" i="1" u="sng"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1994 </a:t>
            </a:r>
            <a:r>
              <a:rPr lang="zh-CN" altLang="en-US" sz="1000" i="1" u="sng"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年以来最大加息）</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27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2.25%-2.50%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9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21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个基点，目标区间达到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3.00%-3.25%</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11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3.75%-4.00%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14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50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个基点，目标区间上调到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4.25%-4.50%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00000"/>
              </a:lnSpc>
              <a:spcBef>
                <a:spcPts val="0"/>
              </a:spcBef>
              <a:buNone/>
            </a:pPr>
            <a:r>
              <a:rPr lang="en-US" altLang="zh-CN" sz="1050" dirty="0">
                <a:solidFill>
                  <a:schemeClr val="dk1"/>
                </a:solidFill>
                <a:ea typeface="+mn-ea"/>
              </a:rPr>
              <a:t>2023 </a:t>
            </a:r>
            <a:r>
              <a:rPr lang="zh-CN" altLang="en-US" sz="1050" dirty="0">
                <a:solidFill>
                  <a:schemeClr val="dk1"/>
                </a:solidFill>
                <a:ea typeface="+mn-ea"/>
              </a:rPr>
              <a:t>年：</a:t>
            </a: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4.50%-4.75%</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个基点，目标区间升至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4.75%-5.00%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，利率升至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2007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年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9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月以来最高水平。</a:t>
            </a: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5.00%-5.25%</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26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个基点，目标区间达到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5.25%-5.50%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endPar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endParaRP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9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11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月和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月的货币政策会议上，美联储均宣布维持当前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5.25%-5.50%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的联邦基金利率目标区间不变。</a:t>
            </a:r>
            <a:endPar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endParaRPr>
          </a:p>
          <a:p>
            <a:pPr marL="0" lvl="2" indent="0">
              <a:lnSpc>
                <a:spcPct val="105000"/>
              </a:lnSpc>
              <a:spcBef>
                <a:spcPct val="45000"/>
              </a:spcBef>
              <a:buNone/>
            </a:pPr>
            <a:r>
              <a:rPr lang="zh-CN" altLang="en-US" sz="1050" dirty="0">
                <a:solidFill>
                  <a:schemeClr val="dk1"/>
                </a:solidFill>
                <a:ea typeface="+mn-ea"/>
              </a:rPr>
              <a:t>截至 </a:t>
            </a:r>
            <a:r>
              <a:rPr lang="en-US" altLang="zh-CN" sz="1050">
                <a:solidFill>
                  <a:schemeClr val="dk1"/>
                </a:solidFill>
                <a:ea typeface="+mn-ea"/>
              </a:rPr>
              <a:t>2025</a:t>
            </a:r>
            <a:r>
              <a:rPr lang="zh-CN" altLang="en-US" sz="1050" dirty="0">
                <a:solidFill>
                  <a:schemeClr val="dk1"/>
                </a:solidFill>
                <a:ea typeface="+mn-ea"/>
              </a:rPr>
              <a:t>年 </a:t>
            </a:r>
            <a:r>
              <a:rPr lang="en-US" altLang="zh-CN" sz="1050" dirty="0">
                <a:solidFill>
                  <a:schemeClr val="dk1"/>
                </a:solidFill>
                <a:ea typeface="+mn-ea"/>
              </a:rPr>
              <a:t>4 </a:t>
            </a:r>
            <a:r>
              <a:rPr lang="zh-CN" altLang="en-US" sz="1050" dirty="0">
                <a:solidFill>
                  <a:schemeClr val="dk1"/>
                </a:solidFill>
                <a:ea typeface="+mn-ea"/>
              </a:rPr>
              <a:t>月，美联储仍维持 </a:t>
            </a:r>
            <a:r>
              <a:rPr lang="en-US" altLang="zh-CN" sz="1050" dirty="0">
                <a:solidFill>
                  <a:schemeClr val="dk1"/>
                </a:solidFill>
                <a:ea typeface="+mn-ea"/>
              </a:rPr>
              <a:t>5.25%-5.50% </a:t>
            </a:r>
            <a:r>
              <a:rPr lang="zh-CN" altLang="en-US" sz="1050" dirty="0">
                <a:solidFill>
                  <a:schemeClr val="dk1"/>
                </a:solidFill>
                <a:ea typeface="+mn-ea"/>
              </a:rPr>
              <a:t>的联邦基金利率目标区间</a:t>
            </a:r>
          </a:p>
        </p:txBody>
      </p:sp>
      <p:sp>
        <p:nvSpPr>
          <p:cNvPr id="5" name="灯片编号占位符 4">
            <a:extLst>
              <a:ext uri="{FF2B5EF4-FFF2-40B4-BE49-F238E27FC236}">
                <a16:creationId xmlns:a16="http://schemas.microsoft.com/office/drawing/2014/main" id="{B95FDF91-54E1-088F-C498-491814F86BE8}"/>
              </a:ext>
            </a:extLst>
          </p:cNvPr>
          <p:cNvSpPr>
            <a:spLocks noGrp="1"/>
          </p:cNvSpPr>
          <p:nvPr>
            <p:ph type="sldNum" sz="quarter" idx="11"/>
          </p:nvPr>
        </p:nvSpPr>
        <p:spPr/>
        <p:txBody>
          <a:bodyPr/>
          <a:lstStyle/>
          <a:p>
            <a:fld id="{FF75CA96-F32A-7F4F-98C9-CA940BD9BB90}" type="slidenum">
              <a:rPr lang="zh-CN" altLang="zh-CN" smtClean="0"/>
              <a:pPr/>
              <a:t>88</a:t>
            </a:fld>
            <a:endParaRPr lang="en-US" altLang="zh-CN"/>
          </a:p>
        </p:txBody>
      </p:sp>
    </p:spTree>
    <p:extLst>
      <p:ext uri="{BB962C8B-B14F-4D97-AF65-F5344CB8AC3E}">
        <p14:creationId xmlns:p14="http://schemas.microsoft.com/office/powerpoint/2010/main" val="40109456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CFE073B1-9521-3615-338F-99F962382CD5}"/>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7DA28F82-AE1E-0DE8-EB98-A4681DCDB1D9}"/>
              </a:ext>
            </a:extLst>
          </p:cNvPr>
          <p:cNvSpPr>
            <a:spLocks noGrp="1"/>
          </p:cNvSpPr>
          <p:nvPr>
            <p:ph type="sldNum" sz="quarter" idx="11"/>
          </p:nvPr>
        </p:nvSpPr>
        <p:spPr/>
        <p:txBody>
          <a:bodyPr/>
          <a:lstStyle/>
          <a:p>
            <a:fld id="{FF75CA96-F32A-7F4F-98C9-CA940BD9BB90}" type="slidenum">
              <a:rPr lang="zh-CN" altLang="zh-CN" smtClean="0"/>
              <a:pPr/>
              <a:t>89</a:t>
            </a:fld>
            <a:endParaRPr lang="en-US" altLang="zh-CN"/>
          </a:p>
        </p:txBody>
      </p:sp>
      <p:pic>
        <p:nvPicPr>
          <p:cNvPr id="4098" name="Picture 2">
            <a:extLst>
              <a:ext uri="{FF2B5EF4-FFF2-40B4-BE49-F238E27FC236}">
                <a16:creationId xmlns:a16="http://schemas.microsoft.com/office/drawing/2014/main" id="{801B8D80-75FC-2151-DA36-FBDA257165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826" y="287636"/>
            <a:ext cx="2158010" cy="14401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82D69EA7-C235-61FE-2CC0-01911B86C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8527" y="282469"/>
            <a:ext cx="1440160" cy="14401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2B2AD760-9BD3-ED08-B381-87D46881A237}"/>
              </a:ext>
            </a:extLst>
          </p:cNvPr>
          <p:cNvSpPr txBox="1"/>
          <p:nvPr/>
        </p:nvSpPr>
        <p:spPr>
          <a:xfrm>
            <a:off x="98798" y="1730375"/>
            <a:ext cx="4240331" cy="400110"/>
          </a:xfrm>
          <a:prstGeom prst="rect">
            <a:avLst/>
          </a:prstGeom>
          <a:noFill/>
        </p:spPr>
        <p:txBody>
          <a:bodyPr wrap="square">
            <a:spAutoFit/>
          </a:bodyPr>
          <a:lstStyle/>
          <a:p>
            <a:pPr algn="ctr"/>
            <a:r>
              <a:rPr lang="en-US" altLang="zh-CN" sz="1000" b="1" i="0" u="none" strike="noStrike" dirty="0">
                <a:solidFill>
                  <a:srgbClr val="222222"/>
                </a:solidFill>
                <a:effectLst/>
                <a:latin typeface="Garamond" panose="02020404030301010803" pitchFamily="18" charset="0"/>
                <a:ea typeface="SimSun" panose="02010600030101010101" pitchFamily="2" charset="-122"/>
              </a:rPr>
              <a:t>2023</a:t>
            </a:r>
            <a:r>
              <a:rPr lang="zh-CN" altLang="en-US" sz="1000" b="1" i="0" u="none" strike="noStrike" dirty="0">
                <a:solidFill>
                  <a:srgbClr val="222222"/>
                </a:solidFill>
                <a:effectLst/>
                <a:latin typeface="Garamond" panose="02020404030301010803" pitchFamily="18" charset="0"/>
                <a:ea typeface="SimSun" panose="02010600030101010101" pitchFamily="2" charset="-122"/>
              </a:rPr>
              <a:t>年</a:t>
            </a:r>
            <a:r>
              <a:rPr lang="en-US" altLang="zh-CN" sz="1000" b="1" i="0" u="none" strike="noStrike" dirty="0">
                <a:solidFill>
                  <a:srgbClr val="222222"/>
                </a:solidFill>
                <a:effectLst/>
                <a:latin typeface="Garamond" panose="02020404030301010803" pitchFamily="18" charset="0"/>
                <a:ea typeface="SimSun" panose="02010600030101010101" pitchFamily="2" charset="-122"/>
              </a:rPr>
              <a:t>3</a:t>
            </a:r>
            <a:r>
              <a:rPr lang="zh-CN" altLang="en-US" sz="1000" b="1" i="0" u="none" strike="noStrike" dirty="0">
                <a:solidFill>
                  <a:srgbClr val="222222"/>
                </a:solidFill>
                <a:effectLst/>
                <a:latin typeface="Garamond" panose="02020404030301010803" pitchFamily="18" charset="0"/>
                <a:ea typeface="SimSun" panose="02010600030101010101" pitchFamily="2" charset="-122"/>
              </a:rPr>
              <a:t>月</a:t>
            </a:r>
            <a:r>
              <a:rPr lang="en-US" altLang="zh-CN" sz="1000" b="1" i="0" u="none" strike="noStrike" dirty="0">
                <a:solidFill>
                  <a:srgbClr val="222222"/>
                </a:solidFill>
                <a:effectLst/>
                <a:latin typeface="Garamond" panose="02020404030301010803" pitchFamily="18" charset="0"/>
                <a:ea typeface="SimSun" panose="02010600030101010101" pitchFamily="2" charset="-122"/>
              </a:rPr>
              <a:t>22</a:t>
            </a:r>
            <a:r>
              <a:rPr lang="zh-CN" altLang="en-US" sz="1000" b="1" i="0" u="none" strike="noStrike" dirty="0">
                <a:solidFill>
                  <a:srgbClr val="222222"/>
                </a:solidFill>
                <a:effectLst/>
                <a:latin typeface="Garamond" panose="02020404030301010803" pitchFamily="18" charset="0"/>
                <a:ea typeface="SimSun" panose="02010600030101010101" pitchFamily="2" charset="-122"/>
              </a:rPr>
              <a:t>日，美国联邦储备委员会主席鲍威尔（左一）在华盛顿出席新闻发布会。新华社记者刘杰摄</a:t>
            </a:r>
            <a:endParaRPr lang="zh-CN" altLang="en-US" sz="1000" b="1" dirty="0">
              <a:latin typeface="Garamond" panose="02020404030301010803" pitchFamily="18" charset="0"/>
              <a:ea typeface="SimSun" panose="02010600030101010101" pitchFamily="2" charset="-122"/>
            </a:endParaRPr>
          </a:p>
        </p:txBody>
      </p:sp>
      <p:sp>
        <p:nvSpPr>
          <p:cNvPr id="9" name="文本框 8">
            <a:extLst>
              <a:ext uri="{FF2B5EF4-FFF2-40B4-BE49-F238E27FC236}">
                <a16:creationId xmlns:a16="http://schemas.microsoft.com/office/drawing/2014/main" id="{41856BE7-F96A-56B0-9241-6C8DE1AD62FF}"/>
              </a:ext>
            </a:extLst>
          </p:cNvPr>
          <p:cNvSpPr txBox="1"/>
          <p:nvPr/>
        </p:nvSpPr>
        <p:spPr>
          <a:xfrm>
            <a:off x="107885" y="2130485"/>
            <a:ext cx="4124385" cy="1015663"/>
          </a:xfrm>
          <a:prstGeom prst="rect">
            <a:avLst/>
          </a:prstGeom>
          <a:noFill/>
        </p:spPr>
        <p:txBody>
          <a:bodyPr wrap="square">
            <a:spAutoFit/>
          </a:bodyPr>
          <a:lstStyle/>
          <a:p>
            <a:pPr marL="171450" indent="-171450" algn="l">
              <a:buFont typeface="Arial" panose="020B0604020202020204" pitchFamily="34" charset="0"/>
              <a:buChar char="•"/>
            </a:pPr>
            <a:r>
              <a:rPr lang="zh-CN" altLang="en-US" sz="1000" b="0" i="0" u="none" strike="noStrike" dirty="0">
                <a:solidFill>
                  <a:srgbClr val="222222"/>
                </a:solidFill>
                <a:effectLst/>
                <a:latin typeface="Garamond" panose="02020404030301010803" pitchFamily="18" charset="0"/>
                <a:ea typeface="SimSun" panose="02010600030101010101" pitchFamily="2" charset="-122"/>
              </a:rPr>
              <a:t>美联储预计今明两年美国经济分别增长</a:t>
            </a:r>
            <a:r>
              <a:rPr lang="en-US" altLang="zh-CN" sz="1000" b="0" i="0" u="none" strike="noStrike" dirty="0">
                <a:solidFill>
                  <a:srgbClr val="222222"/>
                </a:solidFill>
                <a:effectLst/>
                <a:latin typeface="Garamond" panose="02020404030301010803" pitchFamily="18" charset="0"/>
                <a:ea typeface="SimSun" panose="02010600030101010101" pitchFamily="2" charset="-122"/>
              </a:rPr>
              <a:t>0.4%</a:t>
            </a:r>
            <a:r>
              <a:rPr lang="zh-CN" altLang="en-US" sz="1000" b="0" i="0" u="none" strike="noStrike" dirty="0">
                <a:solidFill>
                  <a:srgbClr val="222222"/>
                </a:solidFill>
                <a:effectLst/>
                <a:latin typeface="Garamond" panose="02020404030301010803" pitchFamily="18" charset="0"/>
                <a:ea typeface="SimSun" panose="02010600030101010101" pitchFamily="2" charset="-122"/>
              </a:rPr>
              <a:t>和</a:t>
            </a:r>
            <a:r>
              <a:rPr lang="en-US" altLang="zh-CN" sz="1000" b="0" i="0" u="none" strike="noStrike" dirty="0">
                <a:solidFill>
                  <a:srgbClr val="222222"/>
                </a:solidFill>
                <a:effectLst/>
                <a:latin typeface="Garamond" panose="02020404030301010803" pitchFamily="18" charset="0"/>
                <a:ea typeface="SimSun" panose="02010600030101010101" pitchFamily="2" charset="-122"/>
              </a:rPr>
              <a:t>1.2%</a:t>
            </a:r>
            <a:r>
              <a:rPr lang="zh-CN" altLang="en-US" sz="1000" b="0" i="0" u="none" strike="noStrike" dirty="0">
                <a:solidFill>
                  <a:srgbClr val="222222"/>
                </a:solidFill>
                <a:effectLst/>
                <a:latin typeface="Garamond" panose="02020404030301010803" pitchFamily="18" charset="0"/>
                <a:ea typeface="SimSun" panose="02010600030101010101" pitchFamily="2" charset="-122"/>
              </a:rPr>
              <a:t>，较去年</a:t>
            </a:r>
            <a:r>
              <a:rPr lang="en-US" altLang="zh-CN" sz="1000" b="0" i="0" u="none" strike="noStrike" dirty="0">
                <a:solidFill>
                  <a:srgbClr val="222222"/>
                </a:solidFill>
                <a:effectLst/>
                <a:latin typeface="Garamond" panose="02020404030301010803" pitchFamily="18" charset="0"/>
                <a:ea typeface="SimSun" panose="02010600030101010101" pitchFamily="2" charset="-122"/>
              </a:rPr>
              <a:t>12</a:t>
            </a:r>
            <a:r>
              <a:rPr lang="zh-CN" altLang="en-US" sz="1000" b="0" i="0" u="none" strike="noStrike" dirty="0">
                <a:solidFill>
                  <a:srgbClr val="222222"/>
                </a:solidFill>
                <a:effectLst/>
                <a:latin typeface="Garamond" panose="02020404030301010803" pitchFamily="18" charset="0"/>
                <a:ea typeface="SimSun" panose="02010600030101010101" pitchFamily="2" charset="-122"/>
              </a:rPr>
              <a:t>月预测分别下调</a:t>
            </a:r>
            <a:r>
              <a:rPr lang="en-US" altLang="zh-CN" sz="1000" b="0" i="0" u="none" strike="noStrike" dirty="0">
                <a:solidFill>
                  <a:srgbClr val="222222"/>
                </a:solidFill>
                <a:effectLst/>
                <a:latin typeface="Garamond" panose="02020404030301010803" pitchFamily="18" charset="0"/>
                <a:ea typeface="SimSun" panose="02010600030101010101" pitchFamily="2" charset="-122"/>
              </a:rPr>
              <a:t>0.1</a:t>
            </a:r>
            <a:r>
              <a:rPr lang="zh-CN" altLang="en-US" sz="1000" b="0" i="0" u="none" strike="noStrike" dirty="0">
                <a:solidFill>
                  <a:srgbClr val="222222"/>
                </a:solidFill>
                <a:effectLst/>
                <a:latin typeface="Garamond" panose="02020404030301010803" pitchFamily="18" charset="0"/>
                <a:ea typeface="SimSun" panose="02010600030101010101" pitchFamily="2" charset="-122"/>
              </a:rPr>
              <a:t>和</a:t>
            </a:r>
            <a:r>
              <a:rPr lang="en-US" altLang="zh-CN" sz="1000" b="0" i="0" u="none" strike="noStrike" dirty="0">
                <a:solidFill>
                  <a:srgbClr val="222222"/>
                </a:solidFill>
                <a:effectLst/>
                <a:latin typeface="Garamond" panose="02020404030301010803" pitchFamily="18" charset="0"/>
                <a:ea typeface="SimSun" panose="02010600030101010101" pitchFamily="2" charset="-122"/>
              </a:rPr>
              <a:t>0.4</a:t>
            </a:r>
            <a:r>
              <a:rPr lang="zh-CN" altLang="en-US" sz="1000" b="0" i="0" u="none" strike="noStrike" dirty="0">
                <a:solidFill>
                  <a:srgbClr val="222222"/>
                </a:solidFill>
                <a:effectLst/>
                <a:latin typeface="Garamond" panose="02020404030301010803" pitchFamily="18" charset="0"/>
                <a:ea typeface="SimSun" panose="02010600030101010101" pitchFamily="2" charset="-122"/>
              </a:rPr>
              <a:t>个百分点；今年美国失业率为</a:t>
            </a:r>
            <a:r>
              <a:rPr lang="en-US" altLang="zh-CN" sz="1000" b="0" i="0" u="none" strike="noStrike" dirty="0">
                <a:solidFill>
                  <a:srgbClr val="222222"/>
                </a:solidFill>
                <a:effectLst/>
                <a:latin typeface="Garamond" panose="02020404030301010803" pitchFamily="18" charset="0"/>
                <a:ea typeface="SimSun" panose="02010600030101010101" pitchFamily="2" charset="-122"/>
              </a:rPr>
              <a:t>4.5%</a:t>
            </a:r>
            <a:r>
              <a:rPr lang="zh-CN" altLang="en-US" sz="1000" b="0" i="0" u="none" strike="noStrike" dirty="0">
                <a:solidFill>
                  <a:srgbClr val="222222"/>
                </a:solidFill>
                <a:effectLst/>
                <a:latin typeface="Garamond" panose="02020404030301010803" pitchFamily="18" charset="0"/>
                <a:ea typeface="SimSun" panose="02010600030101010101" pitchFamily="2" charset="-122"/>
              </a:rPr>
              <a:t>，较此前预测下调</a:t>
            </a:r>
            <a:r>
              <a:rPr lang="en-US" altLang="zh-CN" sz="1000" b="0" i="0" u="none" strike="noStrike" dirty="0">
                <a:solidFill>
                  <a:srgbClr val="222222"/>
                </a:solidFill>
                <a:effectLst/>
                <a:latin typeface="Garamond" panose="02020404030301010803" pitchFamily="18" charset="0"/>
                <a:ea typeface="SimSun" panose="02010600030101010101" pitchFamily="2" charset="-122"/>
              </a:rPr>
              <a:t>0.1</a:t>
            </a:r>
            <a:r>
              <a:rPr lang="zh-CN" altLang="en-US" sz="1000" b="0" i="0" u="none" strike="noStrike" dirty="0">
                <a:solidFill>
                  <a:srgbClr val="222222"/>
                </a:solidFill>
                <a:effectLst/>
                <a:latin typeface="Garamond" panose="02020404030301010803" pitchFamily="18" charset="0"/>
                <a:ea typeface="SimSun" panose="02010600030101010101" pitchFamily="2" charset="-122"/>
              </a:rPr>
              <a:t>个百分点，明年失业率将升至</a:t>
            </a:r>
            <a:r>
              <a:rPr lang="en-US" altLang="zh-CN" sz="1000" b="0" i="0" u="none" strike="noStrike" dirty="0">
                <a:solidFill>
                  <a:srgbClr val="222222"/>
                </a:solidFill>
                <a:effectLst/>
                <a:latin typeface="Garamond" panose="02020404030301010803" pitchFamily="18" charset="0"/>
                <a:ea typeface="SimSun" panose="02010600030101010101" pitchFamily="2" charset="-122"/>
              </a:rPr>
              <a:t>4.6%</a:t>
            </a:r>
            <a:r>
              <a:rPr lang="zh-CN" altLang="en-US" sz="1000" b="0" i="0" u="none" strike="noStrike" dirty="0">
                <a:solidFill>
                  <a:srgbClr val="222222"/>
                </a:solidFill>
                <a:effectLst/>
                <a:latin typeface="Garamond" panose="02020404030301010803" pitchFamily="18" charset="0"/>
                <a:ea typeface="SimSun" panose="02010600030101010101" pitchFamily="2" charset="-122"/>
              </a:rPr>
              <a:t>。</a:t>
            </a:r>
          </a:p>
          <a:p>
            <a:pPr marL="171450" indent="-171450" algn="l">
              <a:buFont typeface="Arial" panose="020B0604020202020204" pitchFamily="34" charset="0"/>
              <a:buChar char="•"/>
            </a:pPr>
            <a:r>
              <a:rPr lang="zh-CN" altLang="en-US" sz="1000" b="0" i="0" u="none" strike="noStrike" dirty="0">
                <a:solidFill>
                  <a:srgbClr val="222222"/>
                </a:solidFill>
                <a:effectLst/>
                <a:latin typeface="Garamond" panose="02020404030301010803" pitchFamily="18" charset="0"/>
                <a:ea typeface="SimSun" panose="02010600030101010101" pitchFamily="2" charset="-122"/>
              </a:rPr>
              <a:t>物价方面，美联储预计今年通胀率升至</a:t>
            </a:r>
            <a:r>
              <a:rPr lang="en-US" altLang="zh-CN" sz="1000" b="0" i="0" u="none" strike="noStrike" dirty="0">
                <a:solidFill>
                  <a:srgbClr val="222222"/>
                </a:solidFill>
                <a:effectLst/>
                <a:latin typeface="Garamond" panose="02020404030301010803" pitchFamily="18" charset="0"/>
                <a:ea typeface="SimSun" panose="02010600030101010101" pitchFamily="2" charset="-122"/>
              </a:rPr>
              <a:t>3.3%</a:t>
            </a:r>
            <a:r>
              <a:rPr lang="zh-CN" altLang="en-US" sz="1000" b="0" i="0" u="none" strike="noStrike" dirty="0">
                <a:solidFill>
                  <a:srgbClr val="222222"/>
                </a:solidFill>
                <a:effectLst/>
                <a:latin typeface="Garamond" panose="02020404030301010803" pitchFamily="18" charset="0"/>
                <a:ea typeface="SimSun" panose="02010600030101010101" pitchFamily="2" charset="-122"/>
              </a:rPr>
              <a:t>，剔除食品和能源价格后的核心通胀率为</a:t>
            </a:r>
            <a:r>
              <a:rPr lang="en-US" altLang="zh-CN" sz="1000" b="0" i="0" u="none" strike="noStrike" dirty="0">
                <a:solidFill>
                  <a:srgbClr val="222222"/>
                </a:solidFill>
                <a:effectLst/>
                <a:latin typeface="Garamond" panose="02020404030301010803" pitchFamily="18" charset="0"/>
                <a:ea typeface="SimSun" panose="02010600030101010101" pitchFamily="2" charset="-122"/>
              </a:rPr>
              <a:t>3.6%</a:t>
            </a:r>
            <a:r>
              <a:rPr lang="zh-CN" altLang="en-US" sz="1000" b="0" i="0" u="none" strike="noStrike" dirty="0">
                <a:solidFill>
                  <a:srgbClr val="222222"/>
                </a:solidFill>
                <a:effectLst/>
                <a:latin typeface="Garamond" panose="02020404030301010803" pitchFamily="18" charset="0"/>
                <a:ea typeface="SimSun" panose="02010600030101010101" pitchFamily="2" charset="-122"/>
              </a:rPr>
              <a:t>，远高于</a:t>
            </a:r>
            <a:r>
              <a:rPr lang="en-US" altLang="zh-CN" sz="1000" b="0" i="0" u="none" strike="noStrike" dirty="0">
                <a:solidFill>
                  <a:srgbClr val="222222"/>
                </a:solidFill>
                <a:effectLst/>
                <a:latin typeface="Garamond" panose="02020404030301010803" pitchFamily="18" charset="0"/>
                <a:ea typeface="SimSun" panose="02010600030101010101" pitchFamily="2" charset="-122"/>
              </a:rPr>
              <a:t>2%</a:t>
            </a:r>
            <a:r>
              <a:rPr lang="zh-CN" altLang="en-US" sz="1000" b="0" i="0" u="none" strike="noStrike" dirty="0">
                <a:solidFill>
                  <a:srgbClr val="222222"/>
                </a:solidFill>
                <a:effectLst/>
                <a:latin typeface="Garamond" panose="02020404030301010803" pitchFamily="18" charset="0"/>
                <a:ea typeface="SimSun" panose="02010600030101010101" pitchFamily="2" charset="-122"/>
              </a:rPr>
              <a:t>的通胀目标。预计明年通胀率将放缓至</a:t>
            </a:r>
            <a:r>
              <a:rPr lang="en-US" altLang="zh-CN" sz="1000" b="0" i="0" u="none" strike="noStrike" dirty="0">
                <a:solidFill>
                  <a:srgbClr val="222222"/>
                </a:solidFill>
                <a:effectLst/>
                <a:latin typeface="Garamond" panose="02020404030301010803" pitchFamily="18" charset="0"/>
                <a:ea typeface="SimSun" panose="02010600030101010101" pitchFamily="2" charset="-122"/>
              </a:rPr>
              <a:t>2.5%</a:t>
            </a:r>
          </a:p>
        </p:txBody>
      </p:sp>
    </p:spTree>
    <p:extLst>
      <p:ext uri="{BB962C8B-B14F-4D97-AF65-F5344CB8AC3E}">
        <p14:creationId xmlns:p14="http://schemas.microsoft.com/office/powerpoint/2010/main" val="17371483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6D13AD-9DA0-A27B-115C-BDCD7BBEFF09}"/>
              </a:ext>
            </a:extLst>
          </p:cNvPr>
          <p:cNvSpPr>
            <a:spLocks noGrp="1"/>
          </p:cNvSpPr>
          <p:nvPr>
            <p:ph type="title"/>
          </p:nvPr>
        </p:nvSpPr>
        <p:spPr/>
        <p:txBody>
          <a:bodyPr/>
          <a:lstStyle/>
          <a:p>
            <a:r>
              <a:rPr kumimoji="1" lang="zh-CN" altLang="en-US" dirty="0"/>
              <a:t>案例</a:t>
            </a:r>
            <a:r>
              <a:rPr kumimoji="1" lang="en-US" altLang="zh-CN" dirty="0"/>
              <a:t>2:</a:t>
            </a:r>
            <a:r>
              <a:rPr kumimoji="1" lang="zh-CN" altLang="en-US" dirty="0"/>
              <a:t> 卷入政治漩涡的瑞士银行</a:t>
            </a:r>
          </a:p>
        </p:txBody>
      </p:sp>
      <p:sp>
        <p:nvSpPr>
          <p:cNvPr id="4" name="页脚占位符 3">
            <a:extLst>
              <a:ext uri="{FF2B5EF4-FFF2-40B4-BE49-F238E27FC236}">
                <a16:creationId xmlns:a16="http://schemas.microsoft.com/office/drawing/2014/main" id="{DB506D0B-9A09-2906-C8F7-575A6F366818}"/>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AAB74618-9E7D-103C-3848-A151F94EA653}"/>
              </a:ext>
            </a:extLst>
          </p:cNvPr>
          <p:cNvSpPr>
            <a:spLocks noGrp="1"/>
          </p:cNvSpPr>
          <p:nvPr>
            <p:ph type="sldNum" sz="quarter" idx="11"/>
          </p:nvPr>
        </p:nvSpPr>
        <p:spPr/>
        <p:txBody>
          <a:bodyPr/>
          <a:lstStyle/>
          <a:p>
            <a:fld id="{FF75CA96-F32A-7F4F-98C9-CA940BD9BB90}" type="slidenum">
              <a:rPr lang="zh-CN" altLang="zh-CN" smtClean="0"/>
              <a:pPr/>
              <a:t>90</a:t>
            </a:fld>
            <a:endParaRPr lang="en-US" altLang="zh-CN"/>
          </a:p>
        </p:txBody>
      </p:sp>
      <p:pic>
        <p:nvPicPr>
          <p:cNvPr id="8" name="内容占位符 7" descr="建筑与房屋的城市空拍图&#10;&#10;描述已自动生成">
            <a:extLst>
              <a:ext uri="{FF2B5EF4-FFF2-40B4-BE49-F238E27FC236}">
                <a16:creationId xmlns:a16="http://schemas.microsoft.com/office/drawing/2014/main" id="{DCD667B5-33EA-8E56-F91D-F5917DBB29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670" y="471047"/>
            <a:ext cx="2245135" cy="1582415"/>
          </a:xfrm>
          <a:prstGeom prst="rect">
            <a:avLst/>
          </a:prstGeom>
          <a:ln>
            <a:noFill/>
          </a:ln>
          <a:effectLst>
            <a:outerShdw blurRad="292100" dist="139700" dir="2700000" algn="tl" rotWithShape="0">
              <a:srgbClr val="333333">
                <a:alpha val="65000"/>
              </a:srgbClr>
            </a:outerShdw>
          </a:effectLst>
        </p:spPr>
      </p:pic>
      <p:pic>
        <p:nvPicPr>
          <p:cNvPr id="10" name="图片 9" descr="穿着西装笔挺的男子与图片配字&#10;&#10;描述已自动生成">
            <a:extLst>
              <a:ext uri="{FF2B5EF4-FFF2-40B4-BE49-F238E27FC236}">
                <a16:creationId xmlns:a16="http://schemas.microsoft.com/office/drawing/2014/main" id="{BF88CDD3-3E3D-A8B9-FFCE-B9A62391B1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823" y="1381470"/>
            <a:ext cx="2806700" cy="1574800"/>
          </a:xfrm>
          <a:prstGeom prst="rect">
            <a:avLst/>
          </a:prstGeom>
          <a:ln>
            <a:noFill/>
          </a:ln>
          <a:effectLst>
            <a:outerShdw blurRad="292100" dist="139700" dir="2700000" algn="tl" rotWithShape="0">
              <a:srgbClr val="333333">
                <a:alpha val="65000"/>
              </a:srgbClr>
            </a:outerShdw>
          </a:effectLst>
        </p:spPr>
      </p:pic>
      <p:sp>
        <p:nvSpPr>
          <p:cNvPr id="12" name="文本框 11">
            <a:extLst>
              <a:ext uri="{FF2B5EF4-FFF2-40B4-BE49-F238E27FC236}">
                <a16:creationId xmlns:a16="http://schemas.microsoft.com/office/drawing/2014/main" id="{B69E0BD2-BAD3-3849-E5E8-34366E5AC1B6}"/>
              </a:ext>
            </a:extLst>
          </p:cNvPr>
          <p:cNvSpPr txBox="1"/>
          <p:nvPr/>
        </p:nvSpPr>
        <p:spPr>
          <a:xfrm>
            <a:off x="2518244" y="514050"/>
            <a:ext cx="1944968" cy="830997"/>
          </a:xfrm>
          <a:prstGeom prst="rect">
            <a:avLst/>
          </a:prstGeom>
          <a:noFill/>
        </p:spPr>
        <p:txBody>
          <a:bodyPr wrap="square">
            <a:spAutoFit/>
          </a:bodyPr>
          <a:lstStyle/>
          <a:p>
            <a:pPr indent="266700" algn="l"/>
            <a:r>
              <a:rPr lang="zh-CN"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瑞士信贷银行成立于</a:t>
            </a:r>
            <a:r>
              <a:rPr lang="en-US"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1856</a:t>
            </a:r>
            <a:r>
              <a:rPr lang="zh-CN"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年，迄今有</a:t>
            </a:r>
            <a:r>
              <a:rPr lang="en-US"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167</a:t>
            </a:r>
            <a:r>
              <a:rPr lang="zh-CN"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年历史，其总部设在瑞士苏黎世，是全球第五大财团。</a:t>
            </a:r>
            <a:endParaRPr lang="zh-CN" altLang="zh-CN" sz="12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8BBC1BC2-E414-A1E1-BAA2-97D66B0C605D}"/>
              </a:ext>
            </a:extLst>
          </p:cNvPr>
          <p:cNvSpPr txBox="1"/>
          <p:nvPr/>
        </p:nvSpPr>
        <p:spPr>
          <a:xfrm>
            <a:off x="140577" y="2094957"/>
            <a:ext cx="2430556" cy="1015663"/>
          </a:xfrm>
          <a:prstGeom prst="rect">
            <a:avLst/>
          </a:prstGeom>
          <a:noFill/>
        </p:spPr>
        <p:txBody>
          <a:bodyPr wrap="square">
            <a:spAutoFit/>
          </a:bodyPr>
          <a:lstStyle/>
          <a:p>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2022</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年，瑞士信贷银行入选《财富》世界</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500</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强排行榜，位列第</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494</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位，其在</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2022</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年的总资产</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3.97</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万亿元，总负债</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3.63</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万亿元，其中存款</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1.74</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万亿元</a:t>
            </a:r>
            <a:r>
              <a:rPr lang="zh-CN" altLang="en-US"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 </a:t>
            </a:r>
            <a:endParaRPr lang="zh-CN" altLang="en-US" sz="1200" kern="0" dirty="0">
              <a:solidFill>
                <a:srgbClr val="333333"/>
              </a:solidFill>
              <a:latin typeface="DengXian" panose="02010600030101010101" pitchFamily="2" charset="-122"/>
              <a:ea typeface="宋体" panose="02010600030101010101" pitchFamily="2" charset="-122"/>
              <a:cs typeface="Arial" panose="020B0604020202020204" pitchFamily="34" charset="0"/>
            </a:endParaRPr>
          </a:p>
        </p:txBody>
      </p:sp>
      <p:sp>
        <p:nvSpPr>
          <p:cNvPr id="16" name="文本框 15">
            <a:extLst>
              <a:ext uri="{FF2B5EF4-FFF2-40B4-BE49-F238E27FC236}">
                <a16:creationId xmlns:a16="http://schemas.microsoft.com/office/drawing/2014/main" id="{BC5E80A7-7FCA-EE36-2257-75E0DF6092F3}"/>
              </a:ext>
            </a:extLst>
          </p:cNvPr>
          <p:cNvSpPr txBox="1"/>
          <p:nvPr/>
        </p:nvSpPr>
        <p:spPr>
          <a:xfrm>
            <a:off x="2176184" y="2971327"/>
            <a:ext cx="2433916" cy="230832"/>
          </a:xfrm>
          <a:prstGeom prst="rect">
            <a:avLst/>
          </a:prstGeom>
          <a:noFill/>
        </p:spPr>
        <p:txBody>
          <a:bodyPr wrap="square">
            <a:spAutoFit/>
          </a:bodyPr>
          <a:lstStyle/>
          <a:p>
            <a:r>
              <a:rPr lang="zh-CN" altLang="zh-CN" sz="900" b="1" kern="0" dirty="0">
                <a:solidFill>
                  <a:srgbClr val="333333"/>
                </a:solidFill>
                <a:effectLst/>
                <a:ea typeface="宋体" panose="02010600030101010101" pitchFamily="2" charset="-122"/>
                <a:cs typeface="Arial" panose="020B0604020202020204" pitchFamily="34" charset="0"/>
              </a:rPr>
              <a:t>瑞士联邦主席伊格纳齐奥</a:t>
            </a:r>
            <a:r>
              <a:rPr lang="en-US" altLang="zh-CN" sz="900" b="1" kern="0" dirty="0">
                <a:solidFill>
                  <a:srgbClr val="333333"/>
                </a:solidFill>
                <a:effectLst/>
                <a:ea typeface="宋体" panose="02010600030101010101" pitchFamily="2" charset="-122"/>
                <a:cs typeface="Arial" panose="020B0604020202020204" pitchFamily="34" charset="0"/>
              </a:rPr>
              <a:t>·</a:t>
            </a:r>
            <a:r>
              <a:rPr lang="zh-CN" altLang="zh-CN" sz="900" b="1" kern="0" dirty="0">
                <a:solidFill>
                  <a:srgbClr val="333333"/>
                </a:solidFill>
                <a:effectLst/>
                <a:ea typeface="宋体" panose="02010600030101010101" pitchFamily="2" charset="-122"/>
                <a:cs typeface="Arial" panose="020B0604020202020204" pitchFamily="34" charset="0"/>
              </a:rPr>
              <a:t>卡西斯</a:t>
            </a:r>
            <a:r>
              <a:rPr lang="zh-CN" altLang="zh-CN" sz="900" dirty="0">
                <a:effectLst/>
              </a:rPr>
              <a:t> </a:t>
            </a:r>
            <a:endParaRPr lang="zh-CN" altLang="en-US" sz="900" dirty="0"/>
          </a:p>
        </p:txBody>
      </p:sp>
    </p:spTree>
    <p:extLst>
      <p:ext uri="{BB962C8B-B14F-4D97-AF65-F5344CB8AC3E}">
        <p14:creationId xmlns:p14="http://schemas.microsoft.com/office/powerpoint/2010/main" val="32279474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EA2513-F33F-E305-7990-50C3BDAF87B5}"/>
              </a:ext>
            </a:extLst>
          </p:cNvPr>
          <p:cNvSpPr>
            <a:spLocks noGrp="1"/>
          </p:cNvSpPr>
          <p:nvPr>
            <p:ph type="title"/>
          </p:nvPr>
        </p:nvSpPr>
        <p:spPr/>
        <p:txBody>
          <a:bodyPr/>
          <a:lstStyle/>
          <a:p>
            <a:r>
              <a:rPr kumimoji="1" lang="zh-CN" altLang="en-US" dirty="0"/>
              <a:t>瑞士政府放弃中立立场 </a:t>
            </a:r>
          </a:p>
        </p:txBody>
      </p:sp>
      <p:sp>
        <p:nvSpPr>
          <p:cNvPr id="3" name="内容占位符 2">
            <a:extLst>
              <a:ext uri="{FF2B5EF4-FFF2-40B4-BE49-F238E27FC236}">
                <a16:creationId xmlns:a16="http://schemas.microsoft.com/office/drawing/2014/main" id="{9E80F170-0B77-CBFA-F4B4-E945AADAD48E}"/>
              </a:ext>
            </a:extLst>
          </p:cNvPr>
          <p:cNvSpPr>
            <a:spLocks noGrp="1"/>
          </p:cNvSpPr>
          <p:nvPr>
            <p:ph idx="1"/>
          </p:nvPr>
        </p:nvSpPr>
        <p:spPr/>
        <p:txBody>
          <a:bodyPr/>
          <a:lstStyle/>
          <a:p>
            <a:r>
              <a:rPr kumimoji="1" lang="zh-CN" altLang="en-US" dirty="0"/>
              <a:t>就在俄乌冲突爆发当天，瑞士政府便宣布对俄罗斯</a:t>
            </a:r>
            <a:r>
              <a:rPr kumimoji="1" lang="en-US" altLang="zh-CN" dirty="0"/>
              <a:t>3</a:t>
            </a:r>
            <a:r>
              <a:rPr kumimoji="1" lang="zh-CN" altLang="en-US" dirty="0"/>
              <a:t>家银行实施金融制裁，对俄罗斯国家杜马（议会下院）</a:t>
            </a:r>
            <a:r>
              <a:rPr kumimoji="1" lang="en-US" altLang="zh-CN" dirty="0"/>
              <a:t>361</a:t>
            </a:r>
            <a:r>
              <a:rPr kumimoji="1" lang="zh-CN" altLang="en-US" dirty="0"/>
              <a:t>名议员实施旅行限制。据最新资料显示，截止</a:t>
            </a:r>
            <a:r>
              <a:rPr kumimoji="1" lang="en-US" altLang="zh-CN" dirty="0"/>
              <a:t>2023</a:t>
            </a:r>
            <a:r>
              <a:rPr kumimoji="1" lang="zh-CN" altLang="en-US" dirty="0"/>
              <a:t>年</a:t>
            </a:r>
            <a:r>
              <a:rPr kumimoji="1" lang="en-US" altLang="zh-CN" dirty="0"/>
              <a:t>3</a:t>
            </a:r>
            <a:r>
              <a:rPr kumimoji="1" lang="zh-CN" altLang="en-US" dirty="0"/>
              <a:t>月份，瑞士银行冻结了俄罗斯人的资产，总计至少</a:t>
            </a:r>
            <a:r>
              <a:rPr kumimoji="1" lang="en-US" altLang="zh-CN" dirty="0"/>
              <a:t>270</a:t>
            </a:r>
            <a:r>
              <a:rPr kumimoji="1" lang="zh-CN" altLang="en-US" dirty="0"/>
              <a:t>亿美元（约合</a:t>
            </a:r>
            <a:r>
              <a:rPr kumimoji="1" lang="en-US" altLang="zh-CN" dirty="0"/>
              <a:t>1.99</a:t>
            </a:r>
            <a:r>
              <a:rPr kumimoji="1" lang="zh-CN" altLang="en-US" dirty="0"/>
              <a:t>万亿卢布）。</a:t>
            </a:r>
          </a:p>
          <a:p>
            <a:r>
              <a:rPr kumimoji="1" lang="zh-CN" altLang="en-US" dirty="0"/>
              <a:t>几乎一夜之间，瑞士第二大银行、百年老店瑞士信贷银行的股票暴跌</a:t>
            </a:r>
            <a:r>
              <a:rPr kumimoji="1" lang="en-US" altLang="zh-CN" dirty="0"/>
              <a:t>24%</a:t>
            </a:r>
            <a:r>
              <a:rPr kumimoji="1" lang="zh-CN" altLang="en-US" dirty="0"/>
              <a:t>，出现史上最大跌幅，引发了大规模的银行业抛售。 </a:t>
            </a:r>
          </a:p>
        </p:txBody>
      </p:sp>
      <p:sp>
        <p:nvSpPr>
          <p:cNvPr id="4" name="页脚占位符 3">
            <a:extLst>
              <a:ext uri="{FF2B5EF4-FFF2-40B4-BE49-F238E27FC236}">
                <a16:creationId xmlns:a16="http://schemas.microsoft.com/office/drawing/2014/main" id="{CCAE2BD6-63A2-C302-218F-8F5D5D01A9B7}"/>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14B6888D-76BE-063F-C829-D1E42602364E}"/>
              </a:ext>
            </a:extLst>
          </p:cNvPr>
          <p:cNvSpPr>
            <a:spLocks noGrp="1"/>
          </p:cNvSpPr>
          <p:nvPr>
            <p:ph type="sldNum" sz="quarter" idx="11"/>
          </p:nvPr>
        </p:nvSpPr>
        <p:spPr/>
        <p:txBody>
          <a:bodyPr/>
          <a:lstStyle/>
          <a:p>
            <a:fld id="{FF75CA96-F32A-7F4F-98C9-CA940BD9BB90}" type="slidenum">
              <a:rPr lang="zh-CN" altLang="zh-CN" smtClean="0"/>
              <a:pPr/>
              <a:t>91</a:t>
            </a:fld>
            <a:endParaRPr lang="en-US" altLang="zh-CN"/>
          </a:p>
        </p:txBody>
      </p:sp>
    </p:spTree>
    <p:extLst>
      <p:ext uri="{BB962C8B-B14F-4D97-AF65-F5344CB8AC3E}">
        <p14:creationId xmlns:p14="http://schemas.microsoft.com/office/powerpoint/2010/main" val="9577294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10100" cy="3460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图片 6" descr="图片包含 室内, 桌子, 男人, 礼堂&#10;&#10;描述已自动生成">
            <a:extLst>
              <a:ext uri="{FF2B5EF4-FFF2-40B4-BE49-F238E27FC236}">
                <a16:creationId xmlns:a16="http://schemas.microsoft.com/office/drawing/2014/main" id="{A95B1B40-B151-7549-938E-216E1CFF3DFE}"/>
              </a:ext>
            </a:extLst>
          </p:cNvPr>
          <p:cNvPicPr>
            <a:picLocks noChangeAspect="1"/>
          </p:cNvPicPr>
          <p:nvPr/>
        </p:nvPicPr>
        <p:blipFill rotWithShape="1">
          <a:blip r:embed="rId2">
            <a:extLst>
              <a:ext uri="{28A0092B-C50C-407E-A947-70E740481C1C}">
                <a14:useLocalDpi xmlns:a14="http://schemas.microsoft.com/office/drawing/2010/main" val="0"/>
              </a:ext>
            </a:extLst>
          </a:blip>
          <a:srcRect l="21515" t="9091" r="27686" b="3"/>
          <a:stretch/>
        </p:blipFill>
        <p:spPr>
          <a:xfrm>
            <a:off x="1332318" y="10"/>
            <a:ext cx="3277782" cy="3460740"/>
          </a:xfrm>
          <a:prstGeom prst="rect">
            <a:avLst/>
          </a:prstGeom>
        </p:spPr>
      </p:pic>
      <p:sp>
        <p:nvSpPr>
          <p:cNvPr id="14" name="Rectangle 13">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89215" cy="346075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a:extLst>
              <a:ext uri="{FF2B5EF4-FFF2-40B4-BE49-F238E27FC236}">
                <a16:creationId xmlns:a16="http://schemas.microsoft.com/office/drawing/2014/main" id="{066D13AD-9DA0-A27B-115C-BDCD7BBEFF09}"/>
              </a:ext>
            </a:extLst>
          </p:cNvPr>
          <p:cNvSpPr>
            <a:spLocks noGrp="1"/>
          </p:cNvSpPr>
          <p:nvPr>
            <p:ph type="title"/>
          </p:nvPr>
        </p:nvSpPr>
        <p:spPr>
          <a:xfrm>
            <a:off x="140319" y="444130"/>
            <a:ext cx="1881633" cy="567563"/>
          </a:xfrm>
        </p:spPr>
        <p:txBody>
          <a:bodyPr anchor="b">
            <a:noAutofit/>
          </a:bodyPr>
          <a:lstStyle/>
          <a:p>
            <a:pPr>
              <a:lnSpc>
                <a:spcPct val="90000"/>
              </a:lnSpc>
            </a:pPr>
            <a:r>
              <a:rPr kumimoji="1" lang="zh-CN" altLang="en-US" sz="1200" dirty="0"/>
              <a:t>美国持续打压中国加速了瑞士银行的信用崩塌</a:t>
            </a:r>
          </a:p>
        </p:txBody>
      </p:sp>
      <p:sp>
        <p:nvSpPr>
          <p:cNvPr id="16" name="Rectangle 1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5903" y="340402"/>
            <a:ext cx="36915" cy="207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929" y="1233052"/>
            <a:ext cx="1248185" cy="461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内容占位符 2">
            <a:extLst>
              <a:ext uri="{FF2B5EF4-FFF2-40B4-BE49-F238E27FC236}">
                <a16:creationId xmlns:a16="http://schemas.microsoft.com/office/drawing/2014/main" id="{04044A64-0B84-3046-9EC9-E4E7F849B5F7}"/>
              </a:ext>
            </a:extLst>
          </p:cNvPr>
          <p:cNvSpPr>
            <a:spLocks noGrp="1"/>
          </p:cNvSpPr>
          <p:nvPr>
            <p:ph idx="1"/>
          </p:nvPr>
        </p:nvSpPr>
        <p:spPr>
          <a:xfrm>
            <a:off x="140319" y="1371610"/>
            <a:ext cx="2596779" cy="1618478"/>
          </a:xfrm>
        </p:spPr>
        <p:txBody>
          <a:bodyPr anchor="t">
            <a:noAutofit/>
          </a:bodyPr>
          <a:lstStyle/>
          <a:p>
            <a:r>
              <a:rPr kumimoji="1" lang="en-US" altLang="zh-CN" sz="1100" dirty="0">
                <a:highlight>
                  <a:srgbClr val="FFFF00"/>
                </a:highlight>
              </a:rPr>
              <a:t>2023</a:t>
            </a:r>
            <a:r>
              <a:rPr kumimoji="1" lang="zh-CN" altLang="en-US" sz="1100" dirty="0">
                <a:highlight>
                  <a:srgbClr val="FFFF00"/>
                </a:highlight>
              </a:rPr>
              <a:t>年</a:t>
            </a:r>
            <a:r>
              <a:rPr kumimoji="1" lang="en-US" altLang="zh-CN" sz="1100" dirty="0">
                <a:highlight>
                  <a:srgbClr val="FFFF00"/>
                </a:highlight>
              </a:rPr>
              <a:t>2</a:t>
            </a:r>
            <a:r>
              <a:rPr kumimoji="1" lang="zh-CN" altLang="en-US" sz="1100" dirty="0">
                <a:highlight>
                  <a:srgbClr val="FFFF00"/>
                </a:highlight>
              </a:rPr>
              <a:t>月</a:t>
            </a:r>
            <a:r>
              <a:rPr kumimoji="1" lang="en-US" altLang="zh-CN" sz="1100" dirty="0">
                <a:highlight>
                  <a:srgbClr val="FFFF00"/>
                </a:highlight>
              </a:rPr>
              <a:t>28</a:t>
            </a:r>
            <a:r>
              <a:rPr kumimoji="1" lang="zh-CN" altLang="en-US" sz="1100" dirty="0">
                <a:highlight>
                  <a:srgbClr val="FFFF00"/>
                </a:highlight>
              </a:rPr>
              <a:t>日</a:t>
            </a:r>
            <a:r>
              <a:rPr kumimoji="1" lang="zh-CN" altLang="en-US" sz="1100" dirty="0"/>
              <a:t>，美国众议院金融委员会以</a:t>
            </a:r>
            <a:r>
              <a:rPr kumimoji="1" lang="en-US" altLang="zh-CN" sz="1100" dirty="0"/>
              <a:t>0</a:t>
            </a:r>
            <a:r>
              <a:rPr kumimoji="1" lang="zh-CN" altLang="en-US" sz="1100" dirty="0"/>
              <a:t>票反对的结果通过了“台湾冲突遏阻法”、“不歧视台湾法”和“保护台湾法”三项涉台法案。</a:t>
            </a:r>
            <a:endParaRPr kumimoji="1" lang="en-US" altLang="zh-CN" sz="1100" dirty="0"/>
          </a:p>
          <a:p>
            <a:r>
              <a:rPr kumimoji="1" lang="zh-CN" altLang="en-US" sz="1100" dirty="0"/>
              <a:t>其中，“台湾冲突遏阻法”中有这样的规定，一旦中国以武力方式收复台湾，美国方面将立即“曝光中国在美财产”和“不保证中国财产安全”。</a:t>
            </a:r>
          </a:p>
          <a:p>
            <a:endParaRPr kumimoji="1" lang="zh-CN" altLang="en-US" sz="1100" dirty="0"/>
          </a:p>
        </p:txBody>
      </p:sp>
      <p:sp>
        <p:nvSpPr>
          <p:cNvPr id="4" name="页脚占位符 3">
            <a:extLst>
              <a:ext uri="{FF2B5EF4-FFF2-40B4-BE49-F238E27FC236}">
                <a16:creationId xmlns:a16="http://schemas.microsoft.com/office/drawing/2014/main" id="{DB506D0B-9A09-2906-C8F7-575A6F366818}"/>
              </a:ext>
            </a:extLst>
          </p:cNvPr>
          <p:cNvSpPr>
            <a:spLocks noGrp="1"/>
          </p:cNvSpPr>
          <p:nvPr>
            <p:ph type="ftr" sz="quarter" idx="10"/>
          </p:nvPr>
        </p:nvSpPr>
        <p:spPr>
          <a:xfrm>
            <a:off x="1527095" y="3207602"/>
            <a:ext cx="1555909" cy="184253"/>
          </a:xfrm>
        </p:spPr>
        <p:txBody>
          <a:bodyPr>
            <a:normAutofit/>
          </a:bodyPr>
          <a:lstStyle/>
          <a:p>
            <a:pPr>
              <a:lnSpc>
                <a:spcPct val="90000"/>
              </a:lnSpc>
              <a:spcAft>
                <a:spcPts val="600"/>
              </a:spcAft>
            </a:pPr>
            <a:r>
              <a:rPr lang="en-US" altLang="zh-CN" sz="600">
                <a:solidFill>
                  <a:schemeClr val="tx1">
                    <a:lumMod val="50000"/>
                    <a:lumOff val="50000"/>
                  </a:schemeClr>
                </a:solidFill>
              </a:rPr>
              <a:t>IS- LM</a:t>
            </a:r>
            <a:r>
              <a:rPr lang="zh-CN" altLang="en-US" sz="600">
                <a:solidFill>
                  <a:schemeClr val="tx1">
                    <a:lumMod val="50000"/>
                    <a:lumOff val="50000"/>
                  </a:schemeClr>
                </a:solidFill>
              </a:rPr>
              <a:t>模型</a:t>
            </a:r>
            <a:endParaRPr lang="zh-CN" altLang="zh-CN" sz="600">
              <a:solidFill>
                <a:schemeClr val="tx1">
                  <a:lumMod val="50000"/>
                  <a:lumOff val="50000"/>
                </a:schemeClr>
              </a:solidFill>
            </a:endParaRPr>
          </a:p>
        </p:txBody>
      </p:sp>
      <p:sp>
        <p:nvSpPr>
          <p:cNvPr id="5" name="灯片编号占位符 4">
            <a:extLst>
              <a:ext uri="{FF2B5EF4-FFF2-40B4-BE49-F238E27FC236}">
                <a16:creationId xmlns:a16="http://schemas.microsoft.com/office/drawing/2014/main" id="{AAB74618-9E7D-103C-3848-A151F94EA653}"/>
              </a:ext>
            </a:extLst>
          </p:cNvPr>
          <p:cNvSpPr>
            <a:spLocks noGrp="1"/>
          </p:cNvSpPr>
          <p:nvPr>
            <p:ph type="sldNum" sz="quarter" idx="11"/>
          </p:nvPr>
        </p:nvSpPr>
        <p:spPr>
          <a:xfrm>
            <a:off x="3432507" y="3207602"/>
            <a:ext cx="1037273" cy="184253"/>
          </a:xfrm>
        </p:spPr>
        <p:txBody>
          <a:bodyPr>
            <a:normAutofit/>
          </a:bodyPr>
          <a:lstStyle/>
          <a:p>
            <a:pPr>
              <a:lnSpc>
                <a:spcPct val="90000"/>
              </a:lnSpc>
              <a:spcAft>
                <a:spcPts val="600"/>
              </a:spcAft>
            </a:pPr>
            <a:fld id="{FF75CA96-F32A-7F4F-98C9-CA940BD9BB90}" type="slidenum">
              <a:rPr lang="zh-CN" altLang="zh-CN" sz="600">
                <a:solidFill>
                  <a:schemeClr val="bg1"/>
                </a:solidFill>
              </a:rPr>
              <a:pPr>
                <a:lnSpc>
                  <a:spcPct val="90000"/>
                </a:lnSpc>
                <a:spcAft>
                  <a:spcPts val="600"/>
                </a:spcAft>
              </a:pPr>
              <a:t>92</a:t>
            </a:fld>
            <a:endParaRPr lang="en-US" altLang="zh-CN" sz="600">
              <a:solidFill>
                <a:schemeClr val="bg1"/>
              </a:solidFill>
            </a:endParaRPr>
          </a:p>
        </p:txBody>
      </p:sp>
    </p:spTree>
    <p:extLst>
      <p:ext uri="{BB962C8B-B14F-4D97-AF65-F5344CB8AC3E}">
        <p14:creationId xmlns:p14="http://schemas.microsoft.com/office/powerpoint/2010/main" val="25685687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77EBD8-2387-EC5F-5455-AC929EDC47EB}"/>
              </a:ext>
            </a:extLst>
          </p:cNvPr>
          <p:cNvSpPr>
            <a:spLocks noGrp="1"/>
          </p:cNvSpPr>
          <p:nvPr>
            <p:ph type="title"/>
          </p:nvPr>
        </p:nvSpPr>
        <p:spPr>
          <a:xfrm>
            <a:off x="172879" y="127376"/>
            <a:ext cx="4240332" cy="666895"/>
          </a:xfrm>
        </p:spPr>
        <p:txBody>
          <a:bodyPr/>
          <a:lstStyle/>
          <a:p>
            <a:r>
              <a:rPr kumimoji="1" lang="zh-CN" altLang="en-US" dirty="0"/>
              <a:t>王毅出席第</a:t>
            </a:r>
            <a:r>
              <a:rPr kumimoji="1" lang="en-US" altLang="zh-CN" dirty="0"/>
              <a:t>59</a:t>
            </a:r>
            <a:r>
              <a:rPr kumimoji="1" lang="zh-CN" altLang="en-US" dirty="0"/>
              <a:t>届慕尼黑安全会议并发表主旨讲话</a:t>
            </a:r>
          </a:p>
        </p:txBody>
      </p:sp>
      <p:sp>
        <p:nvSpPr>
          <p:cNvPr id="3" name="内容占位符 2">
            <a:extLst>
              <a:ext uri="{FF2B5EF4-FFF2-40B4-BE49-F238E27FC236}">
                <a16:creationId xmlns:a16="http://schemas.microsoft.com/office/drawing/2014/main" id="{CBBB46B0-A91E-5085-653E-6DFCCEE19497}"/>
              </a:ext>
            </a:extLst>
          </p:cNvPr>
          <p:cNvSpPr>
            <a:spLocks noGrp="1"/>
          </p:cNvSpPr>
          <p:nvPr>
            <p:ph idx="1"/>
          </p:nvPr>
        </p:nvSpPr>
        <p:spPr>
          <a:xfrm>
            <a:off x="188086" y="866279"/>
            <a:ext cx="4191509" cy="2225164"/>
          </a:xfrm>
        </p:spPr>
        <p:txBody>
          <a:bodyPr/>
          <a:lstStyle/>
          <a:p>
            <a:r>
              <a:rPr lang="zh-CN" altLang="zh-CN" dirty="0"/>
              <a:t>王毅说：</a:t>
            </a:r>
            <a:r>
              <a:rPr lang="en-US" altLang="zh-CN" dirty="0"/>
              <a:t>“</a:t>
            </a:r>
            <a:r>
              <a:rPr lang="zh-CN" altLang="zh-CN" b="1" dirty="0"/>
              <a:t>中国</a:t>
            </a:r>
            <a:r>
              <a:rPr lang="en-US" altLang="zh-CN" b="1" dirty="0"/>
              <a:t>2000</a:t>
            </a:r>
            <a:r>
              <a:rPr lang="zh-CN" altLang="zh-CN" b="1" dirty="0"/>
              <a:t>年前就有一句古话，叫做君子好财，取之有道，只有小人才去巧取豪夺。但是我们现在看到美方撕去了一切伪装，连巧取都没有了，只剩下豪夺。</a:t>
            </a:r>
            <a:r>
              <a:rPr lang="en-US" altLang="zh-CN" dirty="0"/>
              <a:t>”</a:t>
            </a:r>
            <a:r>
              <a:rPr lang="zh-CN" altLang="zh-CN" dirty="0"/>
              <a:t> </a:t>
            </a:r>
            <a:endParaRPr kumimoji="1" lang="zh-CN" altLang="en-US" dirty="0"/>
          </a:p>
        </p:txBody>
      </p:sp>
      <p:sp>
        <p:nvSpPr>
          <p:cNvPr id="4" name="页脚占位符 3">
            <a:extLst>
              <a:ext uri="{FF2B5EF4-FFF2-40B4-BE49-F238E27FC236}">
                <a16:creationId xmlns:a16="http://schemas.microsoft.com/office/drawing/2014/main" id="{39C8B180-DF6D-78FB-2A86-88359F2BD6A8}"/>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1C7679C7-7BF8-46D5-FCAD-10485E1D2F45}"/>
              </a:ext>
            </a:extLst>
          </p:cNvPr>
          <p:cNvSpPr>
            <a:spLocks noGrp="1"/>
          </p:cNvSpPr>
          <p:nvPr>
            <p:ph type="sldNum" sz="quarter" idx="11"/>
          </p:nvPr>
        </p:nvSpPr>
        <p:spPr/>
        <p:txBody>
          <a:bodyPr/>
          <a:lstStyle/>
          <a:p>
            <a:fld id="{FF75CA96-F32A-7F4F-98C9-CA940BD9BB90}" type="slidenum">
              <a:rPr lang="zh-CN" altLang="zh-CN" smtClean="0"/>
              <a:pPr/>
              <a:t>93</a:t>
            </a:fld>
            <a:endParaRPr lang="en-US" altLang="zh-CN"/>
          </a:p>
        </p:txBody>
      </p:sp>
    </p:spTree>
    <p:extLst>
      <p:ext uri="{BB962C8B-B14F-4D97-AF65-F5344CB8AC3E}">
        <p14:creationId xmlns:p14="http://schemas.microsoft.com/office/powerpoint/2010/main" val="17965484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66" name="Rectangle 206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08947" cy="3460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E621C110-355E-01C1-FA89-526076BA4A55}"/>
              </a:ext>
            </a:extLst>
          </p:cNvPr>
          <p:cNvSpPr>
            <a:spLocks noGrp="1"/>
          </p:cNvSpPr>
          <p:nvPr>
            <p:ph type="title"/>
          </p:nvPr>
        </p:nvSpPr>
        <p:spPr>
          <a:xfrm>
            <a:off x="242031" y="68634"/>
            <a:ext cx="1651877" cy="987480"/>
          </a:xfrm>
        </p:spPr>
        <p:txBody>
          <a:bodyPr anchor="b">
            <a:normAutofit/>
          </a:bodyPr>
          <a:lstStyle/>
          <a:p>
            <a:r>
              <a:rPr kumimoji="1" lang="zh-CN" altLang="en-US" sz="2400" dirty="0"/>
              <a:t>硅谷银行倒闭</a:t>
            </a:r>
          </a:p>
        </p:txBody>
      </p:sp>
      <p:sp>
        <p:nvSpPr>
          <p:cNvPr id="206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2030" y="1305473"/>
            <a:ext cx="1313878" cy="9229"/>
          </a:xfrm>
          <a:custGeom>
            <a:avLst/>
            <a:gdLst>
              <a:gd name="csX0" fmla="*/ 0 w 10000"/>
              <a:gd name="csY0" fmla="*/ 0 h 10000"/>
              <a:gd name="csX1" fmla="*/ 10000 w 10000"/>
              <a:gd name="csY1" fmla="*/ 0 h 10000"/>
              <a:gd name="csX2" fmla="*/ 10000 w 10000"/>
              <a:gd name="csY2" fmla="*/ 10000 h 10000"/>
              <a:gd name="csX3" fmla="*/ 0 w 10000"/>
              <a:gd name="csY3" fmla="*/ 10000 h 10000"/>
              <a:gd name="csX4" fmla="*/ 0 w 10000"/>
              <a:gd name="csY4" fmla="*/ 0 h 10000"/>
              <a:gd name="csX0" fmla="*/ 0 w 10000"/>
              <a:gd name="csY0" fmla="*/ 0 h 10000"/>
              <a:gd name="csX1" fmla="*/ 10000 w 10000"/>
              <a:gd name="csY1" fmla="*/ 0 h 10000"/>
              <a:gd name="csX2" fmla="*/ 10000 w 10000"/>
              <a:gd name="csY2" fmla="*/ 10000 h 10000"/>
              <a:gd name="csX3" fmla="*/ 0 w 10000"/>
              <a:gd name="csY3" fmla="*/ 10000 h 10000"/>
              <a:gd name="csX4" fmla="*/ 0 w 10000"/>
              <a:gd name="csY4" fmla="*/ 0 h 10000"/>
            </a:gdLst>
            <a:ahLst/>
            <a:cxnLst>
              <a:cxn ang="0">
                <a:pos x="csX0" y="csY0"/>
              </a:cxn>
              <a:cxn ang="0">
                <a:pos x="csX1" y="csY1"/>
              </a:cxn>
              <a:cxn ang="0">
                <a:pos x="csX2" y="csY2"/>
              </a:cxn>
              <a:cxn ang="0">
                <a:pos x="csX3" y="csY3"/>
              </a:cxn>
              <a:cxn ang="0">
                <a:pos x="csX4" y="csY4"/>
              </a:cxn>
            </a:cxnLst>
            <a:rect l="l" t="t" r="r" b="b"/>
            <a:pathLst>
              <a:path w="10000" h="10000" fill="none" extrusionOk="0">
                <a:moveTo>
                  <a:pt x="0" y="0"/>
                </a:moveTo>
                <a:cubicBezTo>
                  <a:pt x="4059" y="304"/>
                  <a:pt x="7277" y="-104"/>
                  <a:pt x="10000" y="0"/>
                </a:cubicBezTo>
                <a:cubicBezTo>
                  <a:pt x="10669" y="4851"/>
                  <a:pt x="9422" y="6620"/>
                  <a:pt x="10000" y="10000"/>
                </a:cubicBezTo>
                <a:cubicBezTo>
                  <a:pt x="7468" y="9962"/>
                  <a:pt x="3429" y="9965"/>
                  <a:pt x="0" y="10000"/>
                </a:cubicBezTo>
                <a:cubicBezTo>
                  <a:pt x="1072" y="7598"/>
                  <a:pt x="130" y="3789"/>
                  <a:pt x="0" y="0"/>
                </a:cubicBezTo>
                <a:close/>
              </a:path>
              <a:path w="10000" h="10000" stroke="0" extrusionOk="0">
                <a:moveTo>
                  <a:pt x="0" y="0"/>
                </a:moveTo>
                <a:cubicBezTo>
                  <a:pt x="2244" y="-313"/>
                  <a:pt x="7235" y="-117"/>
                  <a:pt x="10000" y="0"/>
                </a:cubicBezTo>
                <a:cubicBezTo>
                  <a:pt x="10180" y="2836"/>
                  <a:pt x="10053" y="6628"/>
                  <a:pt x="10000" y="10000"/>
                </a:cubicBezTo>
                <a:cubicBezTo>
                  <a:pt x="7389" y="9759"/>
                  <a:pt x="2248" y="10003"/>
                  <a:pt x="0" y="10000"/>
                </a:cubicBezTo>
                <a:cubicBezTo>
                  <a:pt x="-528" y="6886"/>
                  <a:pt x="70" y="4816"/>
                  <a:pt x="0" y="0"/>
                </a:cubicBezTo>
                <a:close/>
              </a:path>
              <a:path w="10000" h="10000" fill="none" stroke="0" extrusionOk="0">
                <a:moveTo>
                  <a:pt x="0" y="0"/>
                </a:moveTo>
                <a:cubicBezTo>
                  <a:pt x="4417" y="57"/>
                  <a:pt x="7439" y="-292"/>
                  <a:pt x="10000" y="0"/>
                </a:cubicBezTo>
                <a:cubicBezTo>
                  <a:pt x="10532" y="4527"/>
                  <a:pt x="9366" y="6696"/>
                  <a:pt x="10000" y="10000"/>
                </a:cubicBezTo>
                <a:cubicBezTo>
                  <a:pt x="7772" y="9161"/>
                  <a:pt x="3849" y="10173"/>
                  <a:pt x="0" y="10000"/>
                </a:cubicBezTo>
                <a:cubicBezTo>
                  <a:pt x="353" y="7467"/>
                  <a:pt x="-1175" y="388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fill="none" extrusionOk="0">
                        <a:moveTo>
                          <a:pt x="0" y="0"/>
                        </a:moveTo>
                        <a:cubicBezTo>
                          <a:pt x="4292" y="242"/>
                          <a:pt x="7484" y="-497"/>
                          <a:pt x="10000" y="0"/>
                        </a:cubicBezTo>
                        <a:cubicBezTo>
                          <a:pt x="10288" y="4886"/>
                          <a:pt x="9654" y="6717"/>
                          <a:pt x="10000" y="10000"/>
                        </a:cubicBezTo>
                        <a:cubicBezTo>
                          <a:pt x="7850" y="9583"/>
                          <a:pt x="4189" y="9525"/>
                          <a:pt x="0" y="10000"/>
                        </a:cubicBezTo>
                        <a:cubicBezTo>
                          <a:pt x="337" y="7181"/>
                          <a:pt x="-322" y="3814"/>
                          <a:pt x="0" y="0"/>
                        </a:cubicBezTo>
                        <a:close/>
                      </a:path>
                      <a:path w="10000" h="10000" stroke="0" extrusionOk="0">
                        <a:moveTo>
                          <a:pt x="0" y="0"/>
                        </a:moveTo>
                        <a:cubicBezTo>
                          <a:pt x="2050" y="-193"/>
                          <a:pt x="7646" y="-116"/>
                          <a:pt x="10000" y="0"/>
                        </a:cubicBezTo>
                        <a:cubicBezTo>
                          <a:pt x="9714" y="2111"/>
                          <a:pt x="10280" y="6181"/>
                          <a:pt x="10000" y="10000"/>
                        </a:cubicBezTo>
                        <a:cubicBezTo>
                          <a:pt x="7340" y="10213"/>
                          <a:pt x="2602" y="9865"/>
                          <a:pt x="0" y="10000"/>
                        </a:cubicBezTo>
                        <a:cubicBezTo>
                          <a:pt x="-428" y="7207"/>
                          <a:pt x="148" y="487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内容占位符 2">
            <a:extLst>
              <a:ext uri="{FF2B5EF4-FFF2-40B4-BE49-F238E27FC236}">
                <a16:creationId xmlns:a16="http://schemas.microsoft.com/office/drawing/2014/main" id="{BE058D5C-8BEE-A0DB-C76C-452671E6B741}"/>
              </a:ext>
            </a:extLst>
          </p:cNvPr>
          <p:cNvSpPr>
            <a:spLocks noGrp="1"/>
          </p:cNvSpPr>
          <p:nvPr>
            <p:ph idx="1"/>
          </p:nvPr>
        </p:nvSpPr>
        <p:spPr>
          <a:xfrm>
            <a:off x="242032" y="1354193"/>
            <a:ext cx="1486956" cy="1675708"/>
          </a:xfrm>
        </p:spPr>
        <p:txBody>
          <a:bodyPr>
            <a:normAutofit lnSpcReduction="10000"/>
          </a:bodyPr>
          <a:lstStyle/>
          <a:p>
            <a:pPr algn="just"/>
            <a:r>
              <a:rPr lang="zh-CN" altLang="en-US" sz="1000" b="0" i="0" u="none" strike="noStrike" dirty="0">
                <a:effectLst/>
                <a:latin typeface="-apple-system"/>
              </a:rPr>
              <a:t>美国</a:t>
            </a:r>
            <a:r>
              <a:rPr lang="zh-CN" altLang="en-US" sz="1000" b="0" i="0" u="none" strike="noStrike" dirty="0">
                <a:effectLst/>
              </a:rPr>
              <a:t>硅谷银行（</a:t>
            </a:r>
            <a:r>
              <a:rPr lang="en" altLang="zh-CN" sz="1000" dirty="0"/>
              <a:t>S</a:t>
            </a:r>
            <a:r>
              <a:rPr lang="en" altLang="zh-CN" sz="1000" b="0" i="0" u="none" strike="noStrike" dirty="0">
                <a:effectLst/>
              </a:rPr>
              <a:t>ilicon </a:t>
            </a:r>
            <a:r>
              <a:rPr lang="en" altLang="zh-CN" sz="1000" dirty="0"/>
              <a:t>V</a:t>
            </a:r>
            <a:r>
              <a:rPr lang="en" altLang="zh-CN" sz="1000" b="0" i="0" u="none" strike="noStrike" dirty="0">
                <a:effectLst/>
              </a:rPr>
              <a:t>alley Bank </a:t>
            </a:r>
            <a:r>
              <a:rPr lang="en-US" altLang="zh-CN" sz="1000" dirty="0"/>
              <a:t>, </a:t>
            </a:r>
            <a:r>
              <a:rPr lang="en" altLang="zh-CN" sz="1000" b="0" i="0" u="none" strike="noStrike" dirty="0">
                <a:effectLst/>
              </a:rPr>
              <a:t>SVB</a:t>
            </a:r>
            <a:r>
              <a:rPr lang="zh-CN" altLang="en" sz="1000" b="0" i="0" u="none" strike="noStrike" dirty="0">
                <a:effectLst/>
              </a:rPr>
              <a:t>）</a:t>
            </a:r>
            <a:r>
              <a:rPr lang="zh-CN" altLang="en-US" sz="1000" b="0" i="0" u="none" strike="noStrike" dirty="0">
                <a:effectLst/>
              </a:rPr>
              <a:t>自</a:t>
            </a:r>
            <a:r>
              <a:rPr lang="en-US" altLang="zh-CN" sz="1000" b="0" i="0" u="none" strike="noStrike" dirty="0">
                <a:effectLst/>
              </a:rPr>
              <a:t>1983</a:t>
            </a:r>
            <a:r>
              <a:rPr lang="zh-CN" altLang="en-US" sz="1000" b="0" i="0" u="none" strike="noStrike" dirty="0">
                <a:effectLst/>
              </a:rPr>
              <a:t>年成立运营了</a:t>
            </a:r>
            <a:r>
              <a:rPr lang="en-US" altLang="zh-CN" sz="1000" b="0" i="0" u="none" strike="noStrike" dirty="0">
                <a:effectLst/>
              </a:rPr>
              <a:t>40</a:t>
            </a:r>
            <a:r>
              <a:rPr lang="zh-CN" altLang="en-US" sz="1000" b="0" i="0" u="none" strike="noStrike" dirty="0">
                <a:effectLst/>
              </a:rPr>
              <a:t>年，</a:t>
            </a:r>
            <a:r>
              <a:rPr lang="en-US" altLang="zh-CN" sz="1000" b="0" i="0" u="none" strike="noStrike" dirty="0">
                <a:effectLst/>
              </a:rPr>
              <a:t>2022</a:t>
            </a:r>
            <a:r>
              <a:rPr lang="zh-CN" altLang="en-US" sz="1000" b="0" i="0" u="none" strike="noStrike" dirty="0">
                <a:effectLst/>
              </a:rPr>
              <a:t>年底总资产为</a:t>
            </a:r>
            <a:r>
              <a:rPr lang="en-US" altLang="zh-CN" sz="1000" b="0" i="0" u="none" strike="noStrike" dirty="0">
                <a:effectLst/>
              </a:rPr>
              <a:t>2090</a:t>
            </a:r>
            <a:r>
              <a:rPr lang="zh-CN" altLang="en-US" sz="1000" b="0" i="0" u="none" strike="noStrike" dirty="0">
                <a:effectLst/>
              </a:rPr>
              <a:t>亿美元，存款总额约为</a:t>
            </a:r>
            <a:r>
              <a:rPr lang="en-US" altLang="zh-CN" sz="1000" b="0" i="0" u="none" strike="noStrike" dirty="0">
                <a:effectLst/>
              </a:rPr>
              <a:t>1754</a:t>
            </a:r>
            <a:r>
              <a:rPr lang="zh-CN" altLang="en-US" sz="1000" b="0" i="0" u="none" strike="noStrike" dirty="0">
                <a:effectLst/>
              </a:rPr>
              <a:t>亿</a:t>
            </a:r>
            <a:r>
              <a:rPr lang="zh-CN" altLang="en-US" sz="1000" dirty="0"/>
              <a:t>美元。</a:t>
            </a:r>
            <a:endParaRPr lang="en-US" altLang="zh-CN" sz="1000" dirty="0"/>
          </a:p>
          <a:p>
            <a:pPr algn="just"/>
            <a:r>
              <a:rPr lang="en-US" altLang="zh-CN" sz="1000" b="0" i="0" u="none" strike="noStrike" dirty="0">
                <a:effectLst/>
              </a:rPr>
              <a:t>2023</a:t>
            </a:r>
            <a:r>
              <a:rPr lang="zh-CN" altLang="en-US" sz="1000" b="0" i="0" u="none" strike="noStrike" dirty="0">
                <a:effectLst/>
              </a:rPr>
              <a:t>年</a:t>
            </a:r>
            <a:r>
              <a:rPr lang="en-US" altLang="zh-CN" sz="1000" b="0" i="0" u="none" strike="noStrike" dirty="0">
                <a:effectLst/>
              </a:rPr>
              <a:t>3</a:t>
            </a:r>
            <a:r>
              <a:rPr lang="zh-CN" altLang="en-US" sz="1000" b="0" i="0" u="none" strike="noStrike" dirty="0">
                <a:effectLst/>
              </a:rPr>
              <a:t>月</a:t>
            </a:r>
            <a:r>
              <a:rPr lang="en-US" altLang="zh-CN" sz="1000" b="0" i="0" u="none" strike="noStrike" dirty="0">
                <a:effectLst/>
              </a:rPr>
              <a:t>1</a:t>
            </a:r>
            <a:r>
              <a:rPr lang="en-US" altLang="zh-CN" sz="1000" dirty="0"/>
              <a:t>0</a:t>
            </a:r>
            <a:r>
              <a:rPr lang="zh-CN" altLang="en-US" sz="1000" dirty="0"/>
              <a:t>日被加州金融保护和创新局关闭 </a:t>
            </a:r>
            <a:endParaRPr lang="zh-CN" altLang="en-US" sz="1000" b="0" i="0" u="none" strike="noStrike" dirty="0">
              <a:effectLst/>
            </a:endParaRPr>
          </a:p>
        </p:txBody>
      </p:sp>
      <p:sp>
        <p:nvSpPr>
          <p:cNvPr id="4" name="页脚占位符 3">
            <a:extLst>
              <a:ext uri="{FF2B5EF4-FFF2-40B4-BE49-F238E27FC236}">
                <a16:creationId xmlns:a16="http://schemas.microsoft.com/office/drawing/2014/main" id="{AE2EB7B9-C77C-E5A0-B4C0-D186EAC1ABAF}"/>
              </a:ext>
            </a:extLst>
          </p:cNvPr>
          <p:cNvSpPr>
            <a:spLocks noGrp="1"/>
          </p:cNvSpPr>
          <p:nvPr>
            <p:ph type="ftr" sz="quarter" idx="10"/>
          </p:nvPr>
        </p:nvSpPr>
        <p:spPr>
          <a:xfrm>
            <a:off x="2362676" y="3207602"/>
            <a:ext cx="1555909" cy="184253"/>
          </a:xfrm>
        </p:spPr>
        <p:txBody>
          <a:bodyPr>
            <a:normAutofit/>
          </a:bodyPr>
          <a:lstStyle/>
          <a:p>
            <a:pPr>
              <a:lnSpc>
                <a:spcPct val="90000"/>
              </a:lnSpc>
              <a:spcAft>
                <a:spcPts val="600"/>
              </a:spcAft>
            </a:pPr>
            <a:r>
              <a:rPr lang="en-US" altLang="zh-CN" sz="600" dirty="0">
                <a:solidFill>
                  <a:srgbClr val="FFFFFF"/>
                </a:solidFill>
              </a:rPr>
              <a:t>IS- LM</a:t>
            </a:r>
            <a:r>
              <a:rPr lang="zh-CN" altLang="en-US" sz="600" dirty="0">
                <a:solidFill>
                  <a:srgbClr val="FFFFFF"/>
                </a:solidFill>
              </a:rPr>
              <a:t>模型</a:t>
            </a:r>
            <a:endParaRPr lang="zh-CN" altLang="zh-CN" sz="600" dirty="0">
              <a:solidFill>
                <a:srgbClr val="FFFFFF"/>
              </a:solidFill>
            </a:endParaRPr>
          </a:p>
        </p:txBody>
      </p:sp>
      <p:sp>
        <p:nvSpPr>
          <p:cNvPr id="5" name="灯片编号占位符 4">
            <a:extLst>
              <a:ext uri="{FF2B5EF4-FFF2-40B4-BE49-F238E27FC236}">
                <a16:creationId xmlns:a16="http://schemas.microsoft.com/office/drawing/2014/main" id="{19F5BE3E-72A0-3AC3-2AB8-0A157504B610}"/>
              </a:ext>
            </a:extLst>
          </p:cNvPr>
          <p:cNvSpPr>
            <a:spLocks noGrp="1"/>
          </p:cNvSpPr>
          <p:nvPr>
            <p:ph type="sldNum" sz="quarter" idx="11"/>
          </p:nvPr>
        </p:nvSpPr>
        <p:spPr>
          <a:xfrm>
            <a:off x="3947398" y="3207602"/>
            <a:ext cx="345757" cy="184253"/>
          </a:xfrm>
        </p:spPr>
        <p:txBody>
          <a:bodyPr>
            <a:normAutofit/>
          </a:bodyPr>
          <a:lstStyle/>
          <a:p>
            <a:pPr>
              <a:lnSpc>
                <a:spcPct val="90000"/>
              </a:lnSpc>
              <a:spcAft>
                <a:spcPts val="600"/>
              </a:spcAft>
            </a:pPr>
            <a:fld id="{FF75CA96-F32A-7F4F-98C9-CA940BD9BB90}" type="slidenum">
              <a:rPr lang="zh-CN" altLang="zh-CN" sz="600" smtClean="0">
                <a:solidFill>
                  <a:srgbClr val="FFFFFF"/>
                </a:solidFill>
              </a:rPr>
              <a:pPr>
                <a:lnSpc>
                  <a:spcPct val="90000"/>
                </a:lnSpc>
                <a:spcAft>
                  <a:spcPts val="600"/>
                </a:spcAft>
              </a:pPr>
              <a:t>94</a:t>
            </a:fld>
            <a:endParaRPr lang="en-US" altLang="zh-CN" sz="600">
              <a:solidFill>
                <a:srgbClr val="FFFFFF"/>
              </a:solidFill>
            </a:endParaRPr>
          </a:p>
        </p:txBody>
      </p:sp>
      <p:sp>
        <p:nvSpPr>
          <p:cNvPr id="7" name="内容占位符 2">
            <a:extLst>
              <a:ext uri="{FF2B5EF4-FFF2-40B4-BE49-F238E27FC236}">
                <a16:creationId xmlns:a16="http://schemas.microsoft.com/office/drawing/2014/main" id="{A1434A42-F427-622F-5047-489D18C8BFD5}"/>
              </a:ext>
            </a:extLst>
          </p:cNvPr>
          <p:cNvSpPr txBox="1">
            <a:spLocks/>
          </p:cNvSpPr>
          <p:nvPr/>
        </p:nvSpPr>
        <p:spPr bwMode="auto">
          <a:xfrm>
            <a:off x="1846932" y="261461"/>
            <a:ext cx="2618358" cy="266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algn="ctr">
              <a:buNone/>
            </a:pPr>
            <a:r>
              <a:rPr lang="zh-CN" altLang="en-US" sz="1000" b="1" dirty="0"/>
              <a:t>硅谷银行倒闭的</a:t>
            </a:r>
            <a:r>
              <a:rPr lang="en-US" altLang="zh-CN" sz="1000" b="1" dirty="0"/>
              <a:t>48</a:t>
            </a:r>
            <a:r>
              <a:rPr lang="zh-CN" altLang="en-US" sz="1000" b="1" dirty="0"/>
              <a:t>小时</a:t>
            </a:r>
            <a:endParaRPr lang="en-US" altLang="zh-CN" sz="1000" b="1" dirty="0"/>
          </a:p>
          <a:p>
            <a:pPr algn="just"/>
            <a:r>
              <a:rPr lang="zh-CN" altLang="en-US" sz="1000" dirty="0"/>
              <a:t>当地时间周三（</a:t>
            </a:r>
            <a:r>
              <a:rPr lang="en-US" altLang="zh-CN" sz="1000" dirty="0"/>
              <a:t>8</a:t>
            </a:r>
            <a:r>
              <a:rPr lang="zh-CN" altLang="en-US" sz="1000" dirty="0"/>
              <a:t>日），该银行宣布已亏本出售大量债券、股票，以支撑其资产负债表，此举引发主要风险投资公司的恐慌。</a:t>
            </a:r>
            <a:endParaRPr lang="en-US" altLang="zh-CN" sz="1000" dirty="0"/>
          </a:p>
          <a:p>
            <a:pPr algn="just"/>
            <a:r>
              <a:rPr lang="en-US" altLang="zh-CN" sz="1000" dirty="0"/>
              <a:t>8</a:t>
            </a:r>
            <a:r>
              <a:rPr lang="zh-CN" altLang="en-US" sz="1000" dirty="0"/>
              <a:t>日，穆迪下调了硅谷银行金融集团及其银行子公司硅谷银行的评级。 </a:t>
            </a:r>
            <a:endParaRPr lang="en-US" altLang="zh-CN" sz="1000" dirty="0"/>
          </a:p>
          <a:p>
            <a:pPr algn="just"/>
            <a:r>
              <a:rPr lang="zh-CN" altLang="en-US" sz="1000" dirty="0"/>
              <a:t>次日（</a:t>
            </a:r>
            <a:r>
              <a:rPr lang="en-US" altLang="zh-CN" sz="1000" dirty="0"/>
              <a:t>9</a:t>
            </a:r>
            <a:r>
              <a:rPr lang="zh-CN" altLang="en-US" sz="1000" dirty="0"/>
              <a:t>日），美国硅谷银行股价暴跌超过</a:t>
            </a:r>
            <a:r>
              <a:rPr lang="en-US" altLang="zh-CN" sz="1000" dirty="0"/>
              <a:t>60%</a:t>
            </a:r>
            <a:r>
              <a:rPr lang="zh-CN" altLang="en-US" sz="1000" dirty="0"/>
              <a:t>。投资者和储户试图从硅谷银行提取</a:t>
            </a:r>
            <a:r>
              <a:rPr lang="en-US" altLang="zh-CN" sz="1000" dirty="0"/>
              <a:t>420</a:t>
            </a:r>
            <a:r>
              <a:rPr lang="zh-CN" altLang="en-US" sz="1000" dirty="0"/>
              <a:t>亿美元，这是</a:t>
            </a:r>
            <a:r>
              <a:rPr lang="en-US" altLang="zh-CN" sz="1000" dirty="0"/>
              <a:t>10</a:t>
            </a:r>
            <a:r>
              <a:rPr lang="zh-CN" altLang="en-US" sz="1000" dirty="0"/>
              <a:t>多年来美国最大的银行挤兑之一。 </a:t>
            </a:r>
            <a:endParaRPr lang="en-US" altLang="zh-CN" sz="1000" dirty="0"/>
          </a:p>
          <a:p>
            <a:pPr algn="just"/>
            <a:r>
              <a:rPr lang="zh-CN" altLang="en-US" sz="1000" dirty="0"/>
              <a:t>当地时间周五（</a:t>
            </a:r>
            <a:r>
              <a:rPr lang="en-US" altLang="zh-CN" sz="1000" dirty="0"/>
              <a:t>10</a:t>
            </a:r>
            <a:r>
              <a:rPr lang="zh-CN" altLang="en-US" sz="1000" dirty="0"/>
              <a:t>日）， 股票暴跌</a:t>
            </a:r>
            <a:r>
              <a:rPr lang="en-US" altLang="zh-CN" sz="1000" dirty="0"/>
              <a:t>68%</a:t>
            </a:r>
            <a:r>
              <a:rPr lang="zh-CN" altLang="en-US" sz="1000" dirty="0"/>
              <a:t>，进入停牌状态，并放弃了快速融资和寻找买家的努力。</a:t>
            </a:r>
          </a:p>
        </p:txBody>
      </p:sp>
      <p:sp>
        <p:nvSpPr>
          <p:cNvPr id="11" name="文本框 10">
            <a:extLst>
              <a:ext uri="{FF2B5EF4-FFF2-40B4-BE49-F238E27FC236}">
                <a16:creationId xmlns:a16="http://schemas.microsoft.com/office/drawing/2014/main" id="{38C3396B-C4F3-1B3B-3A26-6F31CE92073A}"/>
              </a:ext>
            </a:extLst>
          </p:cNvPr>
          <p:cNvSpPr txBox="1"/>
          <p:nvPr/>
        </p:nvSpPr>
        <p:spPr>
          <a:xfrm>
            <a:off x="144810" y="2942580"/>
            <a:ext cx="4464137" cy="430887"/>
          </a:xfrm>
          <a:prstGeom prst="rect">
            <a:avLst/>
          </a:prstGeom>
          <a:noFill/>
        </p:spPr>
        <p:txBody>
          <a:bodyPr wrap="square" rtlCol="0">
            <a:spAutoFit/>
          </a:bodyPr>
          <a:lstStyle/>
          <a:p>
            <a:r>
              <a:rPr lang="zh-CN" altLang="en-US" sz="1100" i="0" u="none" strike="noStrike" dirty="0">
                <a:solidFill>
                  <a:srgbClr val="333333"/>
                </a:solidFill>
                <a:effectLst/>
                <a:latin typeface="arial" panose="020B0604020202020204" pitchFamily="34" charset="0"/>
              </a:rPr>
              <a:t>美媒称硅谷银行是美国历史上倒闭的第二大银行，也是自</a:t>
            </a:r>
            <a:r>
              <a:rPr lang="en-US" altLang="zh-CN" sz="1100" i="0" u="none" strike="noStrike" dirty="0">
                <a:solidFill>
                  <a:srgbClr val="333333"/>
                </a:solidFill>
                <a:effectLst/>
                <a:latin typeface="arial" panose="020B0604020202020204" pitchFamily="34" charset="0"/>
              </a:rPr>
              <a:t>2008</a:t>
            </a:r>
            <a:r>
              <a:rPr lang="zh-CN" altLang="en-US" sz="1100" i="0" u="none" strike="noStrike" dirty="0">
                <a:solidFill>
                  <a:srgbClr val="333333"/>
                </a:solidFill>
                <a:effectLst/>
                <a:latin typeface="arial" panose="020B0604020202020204" pitchFamily="34" charset="0"/>
              </a:rPr>
              <a:t>年金融危机以来倒闭的最大一家美国银行。</a:t>
            </a:r>
            <a:endParaRPr kumimoji="1" lang="zh-CN" altLang="en-US" sz="1100" dirty="0"/>
          </a:p>
        </p:txBody>
      </p:sp>
    </p:spTree>
    <p:extLst>
      <p:ext uri="{BB962C8B-B14F-4D97-AF65-F5344CB8AC3E}">
        <p14:creationId xmlns:p14="http://schemas.microsoft.com/office/powerpoint/2010/main" val="4700379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128" name="Rectangle 5127">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08947" cy="3460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039B44AC-8DBD-A97D-B7CE-27769630D169}"/>
              </a:ext>
            </a:extLst>
          </p:cNvPr>
          <p:cNvSpPr>
            <a:spLocks noGrp="1"/>
          </p:cNvSpPr>
          <p:nvPr>
            <p:ph type="title"/>
          </p:nvPr>
        </p:nvSpPr>
        <p:spPr>
          <a:xfrm>
            <a:off x="242030" y="164190"/>
            <a:ext cx="1651877" cy="987480"/>
          </a:xfrm>
        </p:spPr>
        <p:txBody>
          <a:bodyPr anchor="b">
            <a:normAutofit/>
          </a:bodyPr>
          <a:lstStyle/>
          <a:p>
            <a:r>
              <a:rPr kumimoji="1" lang="zh-CN" altLang="en-US" sz="2400" dirty="0"/>
              <a:t>硅谷银行倒闭后续</a:t>
            </a:r>
          </a:p>
        </p:txBody>
      </p:sp>
      <p:sp>
        <p:nvSpPr>
          <p:cNvPr id="513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2030" y="1305473"/>
            <a:ext cx="1313878" cy="9229"/>
          </a:xfrm>
          <a:custGeom>
            <a:avLst/>
            <a:gdLst>
              <a:gd name="csX0" fmla="*/ 0 w 10000"/>
              <a:gd name="csY0" fmla="*/ 0 h 10000"/>
              <a:gd name="csX1" fmla="*/ 10000 w 10000"/>
              <a:gd name="csY1" fmla="*/ 0 h 10000"/>
              <a:gd name="csX2" fmla="*/ 10000 w 10000"/>
              <a:gd name="csY2" fmla="*/ 10000 h 10000"/>
              <a:gd name="csX3" fmla="*/ 0 w 10000"/>
              <a:gd name="csY3" fmla="*/ 10000 h 10000"/>
              <a:gd name="csX4" fmla="*/ 0 w 10000"/>
              <a:gd name="csY4" fmla="*/ 0 h 10000"/>
              <a:gd name="csX0" fmla="*/ 0 w 10000"/>
              <a:gd name="csY0" fmla="*/ 0 h 10000"/>
              <a:gd name="csX1" fmla="*/ 10000 w 10000"/>
              <a:gd name="csY1" fmla="*/ 0 h 10000"/>
              <a:gd name="csX2" fmla="*/ 10000 w 10000"/>
              <a:gd name="csY2" fmla="*/ 10000 h 10000"/>
              <a:gd name="csX3" fmla="*/ 0 w 10000"/>
              <a:gd name="csY3" fmla="*/ 10000 h 10000"/>
              <a:gd name="csX4" fmla="*/ 0 w 10000"/>
              <a:gd name="csY4" fmla="*/ 0 h 10000"/>
            </a:gdLst>
            <a:ahLst/>
            <a:cxnLst>
              <a:cxn ang="0">
                <a:pos x="csX0" y="csY0"/>
              </a:cxn>
              <a:cxn ang="0">
                <a:pos x="csX1" y="csY1"/>
              </a:cxn>
              <a:cxn ang="0">
                <a:pos x="csX2" y="csY2"/>
              </a:cxn>
              <a:cxn ang="0">
                <a:pos x="csX3" y="csY3"/>
              </a:cxn>
              <a:cxn ang="0">
                <a:pos x="csX4" y="csY4"/>
              </a:cxn>
            </a:cxnLst>
            <a:rect l="l" t="t" r="r" b="b"/>
            <a:pathLst>
              <a:path w="10000" h="10000" fill="none" extrusionOk="0">
                <a:moveTo>
                  <a:pt x="0" y="0"/>
                </a:moveTo>
                <a:cubicBezTo>
                  <a:pt x="4059" y="304"/>
                  <a:pt x="7277" y="-104"/>
                  <a:pt x="10000" y="0"/>
                </a:cubicBezTo>
                <a:cubicBezTo>
                  <a:pt x="10669" y="4851"/>
                  <a:pt x="9422" y="6620"/>
                  <a:pt x="10000" y="10000"/>
                </a:cubicBezTo>
                <a:cubicBezTo>
                  <a:pt x="7468" y="9962"/>
                  <a:pt x="3429" y="9965"/>
                  <a:pt x="0" y="10000"/>
                </a:cubicBezTo>
                <a:cubicBezTo>
                  <a:pt x="1072" y="7598"/>
                  <a:pt x="130" y="3789"/>
                  <a:pt x="0" y="0"/>
                </a:cubicBezTo>
                <a:close/>
              </a:path>
              <a:path w="10000" h="10000" stroke="0" extrusionOk="0">
                <a:moveTo>
                  <a:pt x="0" y="0"/>
                </a:moveTo>
                <a:cubicBezTo>
                  <a:pt x="2244" y="-313"/>
                  <a:pt x="7235" y="-117"/>
                  <a:pt x="10000" y="0"/>
                </a:cubicBezTo>
                <a:cubicBezTo>
                  <a:pt x="10180" y="2836"/>
                  <a:pt x="10053" y="6628"/>
                  <a:pt x="10000" y="10000"/>
                </a:cubicBezTo>
                <a:cubicBezTo>
                  <a:pt x="7389" y="9759"/>
                  <a:pt x="2248" y="10003"/>
                  <a:pt x="0" y="10000"/>
                </a:cubicBezTo>
                <a:cubicBezTo>
                  <a:pt x="-528" y="6886"/>
                  <a:pt x="70" y="4816"/>
                  <a:pt x="0" y="0"/>
                </a:cubicBezTo>
                <a:close/>
              </a:path>
              <a:path w="10000" h="10000" fill="none" stroke="0" extrusionOk="0">
                <a:moveTo>
                  <a:pt x="0" y="0"/>
                </a:moveTo>
                <a:cubicBezTo>
                  <a:pt x="4417" y="57"/>
                  <a:pt x="7439" y="-292"/>
                  <a:pt x="10000" y="0"/>
                </a:cubicBezTo>
                <a:cubicBezTo>
                  <a:pt x="10532" y="4527"/>
                  <a:pt x="9366" y="6696"/>
                  <a:pt x="10000" y="10000"/>
                </a:cubicBezTo>
                <a:cubicBezTo>
                  <a:pt x="7772" y="9161"/>
                  <a:pt x="3849" y="10173"/>
                  <a:pt x="0" y="10000"/>
                </a:cubicBezTo>
                <a:cubicBezTo>
                  <a:pt x="353" y="7467"/>
                  <a:pt x="-1175" y="388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fill="none" extrusionOk="0">
                        <a:moveTo>
                          <a:pt x="0" y="0"/>
                        </a:moveTo>
                        <a:cubicBezTo>
                          <a:pt x="4292" y="242"/>
                          <a:pt x="7484" y="-497"/>
                          <a:pt x="10000" y="0"/>
                        </a:cubicBezTo>
                        <a:cubicBezTo>
                          <a:pt x="10288" y="4886"/>
                          <a:pt x="9654" y="6717"/>
                          <a:pt x="10000" y="10000"/>
                        </a:cubicBezTo>
                        <a:cubicBezTo>
                          <a:pt x="7850" y="9583"/>
                          <a:pt x="4189" y="9525"/>
                          <a:pt x="0" y="10000"/>
                        </a:cubicBezTo>
                        <a:cubicBezTo>
                          <a:pt x="337" y="7181"/>
                          <a:pt x="-322" y="3814"/>
                          <a:pt x="0" y="0"/>
                        </a:cubicBezTo>
                        <a:close/>
                      </a:path>
                      <a:path w="10000" h="10000" stroke="0" extrusionOk="0">
                        <a:moveTo>
                          <a:pt x="0" y="0"/>
                        </a:moveTo>
                        <a:cubicBezTo>
                          <a:pt x="2050" y="-193"/>
                          <a:pt x="7646" y="-116"/>
                          <a:pt x="10000" y="0"/>
                        </a:cubicBezTo>
                        <a:cubicBezTo>
                          <a:pt x="9714" y="2111"/>
                          <a:pt x="10280" y="6181"/>
                          <a:pt x="10000" y="10000"/>
                        </a:cubicBezTo>
                        <a:cubicBezTo>
                          <a:pt x="7340" y="10213"/>
                          <a:pt x="2602" y="9865"/>
                          <a:pt x="0" y="10000"/>
                        </a:cubicBezTo>
                        <a:cubicBezTo>
                          <a:pt x="-428" y="7207"/>
                          <a:pt x="148" y="487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2AECFA18-0DA2-9878-357E-ADEDE07F2090}"/>
              </a:ext>
            </a:extLst>
          </p:cNvPr>
          <p:cNvSpPr>
            <a:spLocks noGrp="1"/>
          </p:cNvSpPr>
          <p:nvPr>
            <p:ph idx="1"/>
          </p:nvPr>
        </p:nvSpPr>
        <p:spPr>
          <a:xfrm>
            <a:off x="242030" y="1449749"/>
            <a:ext cx="1604607" cy="1675708"/>
          </a:xfrm>
        </p:spPr>
        <p:txBody>
          <a:bodyPr>
            <a:normAutofit/>
          </a:bodyPr>
          <a:lstStyle/>
          <a:p>
            <a:r>
              <a:rPr kumimoji="1" lang="zh-CN" altLang="en-US" sz="1000" dirty="0"/>
              <a:t>美国财政部长耶伦承诺全额担保</a:t>
            </a:r>
            <a:endParaRPr kumimoji="1" lang="en-US" altLang="zh-CN" sz="1000" dirty="0"/>
          </a:p>
          <a:p>
            <a:r>
              <a:rPr kumimoji="1" lang="zh-CN" altLang="en-US" sz="1000" dirty="0"/>
              <a:t>但是却有美议员向耶伦喊话，不应该为中国的储户担保，也不应该给中国的储户买单。</a:t>
            </a:r>
            <a:endParaRPr kumimoji="1" lang="en-US" altLang="zh-CN" sz="1000" dirty="0"/>
          </a:p>
          <a:p>
            <a:r>
              <a:rPr kumimoji="1" lang="zh-CN" altLang="en-US" sz="1000" dirty="0"/>
              <a:t>这项提议最终没有被通过。</a:t>
            </a:r>
          </a:p>
        </p:txBody>
      </p:sp>
      <p:pic>
        <p:nvPicPr>
          <p:cNvPr id="5123" name="图片 17">
            <a:extLst>
              <a:ext uri="{FF2B5EF4-FFF2-40B4-BE49-F238E27FC236}">
                <a16:creationId xmlns:a16="http://schemas.microsoft.com/office/drawing/2014/main" id="{F4F39C5F-4F6B-A333-1674-819E0E0B32F8}"/>
              </a:ext>
            </a:extLst>
          </p:cNvPr>
          <p:cNvPicPr>
            <a:picLocks noChangeAspect="1" noChangeArrowheads="1"/>
          </p:cNvPicPr>
          <p:nvPr/>
        </p:nvPicPr>
        <p:blipFill rotWithShape="1">
          <a:blip r:embed="rId2" r:link="rId3">
            <a:extLst>
              <a:ext uri="{28A0092B-C50C-407E-A947-70E740481C1C}">
                <a14:useLocalDpi xmlns:a14="http://schemas.microsoft.com/office/drawing/2010/main" val="0"/>
              </a:ext>
            </a:extLst>
          </a:blip>
          <a:srcRect l="24981" r="27482" b="1"/>
          <a:stretch>
            <a:fillRect/>
          </a:stretch>
        </p:blipFill>
        <p:spPr bwMode="auto">
          <a:xfrm>
            <a:off x="2008487" y="10"/>
            <a:ext cx="2601037" cy="34607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页脚占位符 3">
            <a:extLst>
              <a:ext uri="{FF2B5EF4-FFF2-40B4-BE49-F238E27FC236}">
                <a16:creationId xmlns:a16="http://schemas.microsoft.com/office/drawing/2014/main" id="{F57E73A4-E270-0B94-E2A9-1B1FDFCB9E55}"/>
              </a:ext>
            </a:extLst>
          </p:cNvPr>
          <p:cNvSpPr>
            <a:spLocks noGrp="1"/>
          </p:cNvSpPr>
          <p:nvPr>
            <p:ph type="ftr" sz="quarter" idx="10"/>
          </p:nvPr>
        </p:nvSpPr>
        <p:spPr>
          <a:xfrm>
            <a:off x="2362676" y="3207602"/>
            <a:ext cx="1555909" cy="184253"/>
          </a:xfrm>
        </p:spPr>
        <p:txBody>
          <a:bodyPr>
            <a:normAutofit/>
          </a:bodyPr>
          <a:lstStyle/>
          <a:p>
            <a:pPr>
              <a:lnSpc>
                <a:spcPct val="90000"/>
              </a:lnSpc>
              <a:spcAft>
                <a:spcPts val="600"/>
              </a:spcAft>
            </a:pPr>
            <a:r>
              <a:rPr lang="en-US" altLang="zh-CN" sz="600">
                <a:solidFill>
                  <a:srgbClr val="FFFFFF"/>
                </a:solidFill>
              </a:rPr>
              <a:t>IS- LM</a:t>
            </a:r>
            <a:r>
              <a:rPr lang="zh-CN" altLang="en-US" sz="600">
                <a:solidFill>
                  <a:srgbClr val="FFFFFF"/>
                </a:solidFill>
              </a:rPr>
              <a:t>模型</a:t>
            </a:r>
            <a:endParaRPr lang="zh-CN" altLang="zh-CN" sz="600">
              <a:solidFill>
                <a:srgbClr val="FFFFFF"/>
              </a:solidFill>
            </a:endParaRPr>
          </a:p>
        </p:txBody>
      </p:sp>
      <p:sp>
        <p:nvSpPr>
          <p:cNvPr id="5" name="灯片编号占位符 4">
            <a:extLst>
              <a:ext uri="{FF2B5EF4-FFF2-40B4-BE49-F238E27FC236}">
                <a16:creationId xmlns:a16="http://schemas.microsoft.com/office/drawing/2014/main" id="{74479136-546C-331B-F02B-4D197C53182D}"/>
              </a:ext>
            </a:extLst>
          </p:cNvPr>
          <p:cNvSpPr>
            <a:spLocks noGrp="1"/>
          </p:cNvSpPr>
          <p:nvPr>
            <p:ph type="sldNum" sz="quarter" idx="11"/>
          </p:nvPr>
        </p:nvSpPr>
        <p:spPr>
          <a:xfrm>
            <a:off x="3947398" y="3207602"/>
            <a:ext cx="345757" cy="184253"/>
          </a:xfrm>
        </p:spPr>
        <p:txBody>
          <a:bodyPr>
            <a:normAutofit/>
          </a:bodyPr>
          <a:lstStyle/>
          <a:p>
            <a:pPr>
              <a:lnSpc>
                <a:spcPct val="90000"/>
              </a:lnSpc>
              <a:spcAft>
                <a:spcPts val="600"/>
              </a:spcAft>
            </a:pPr>
            <a:fld id="{FF75CA96-F32A-7F4F-98C9-CA940BD9BB90}" type="slidenum">
              <a:rPr lang="zh-CN" altLang="zh-CN" sz="600">
                <a:solidFill>
                  <a:srgbClr val="FFFFFF"/>
                </a:solidFill>
              </a:rPr>
              <a:pPr>
                <a:lnSpc>
                  <a:spcPct val="90000"/>
                </a:lnSpc>
                <a:spcAft>
                  <a:spcPts val="600"/>
                </a:spcAft>
              </a:pPr>
              <a:t>95</a:t>
            </a:fld>
            <a:endParaRPr lang="en-US" altLang="zh-CN" sz="600">
              <a:solidFill>
                <a:srgbClr val="FFFFFF"/>
              </a:solidFill>
            </a:endParaRPr>
          </a:p>
        </p:txBody>
      </p:sp>
      <p:sp>
        <p:nvSpPr>
          <p:cNvPr id="6" name="Rectangle 2">
            <a:extLst>
              <a:ext uri="{FF2B5EF4-FFF2-40B4-BE49-F238E27FC236}">
                <a16:creationId xmlns:a16="http://schemas.microsoft.com/office/drawing/2014/main" id="{30DBB3E1-9FAD-8BDF-50A7-B5C01575331C}"/>
              </a:ext>
            </a:extLst>
          </p:cNvPr>
          <p:cNvSpPr>
            <a:spLocks noChangeArrowheads="1"/>
          </p:cNvSpPr>
          <p:nvPr/>
        </p:nvSpPr>
        <p:spPr bwMode="auto">
          <a:xfrm>
            <a:off x="0" y="0"/>
            <a:ext cx="46101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a:extLst>
              <a:ext uri="{FF2B5EF4-FFF2-40B4-BE49-F238E27FC236}">
                <a16:creationId xmlns:a16="http://schemas.microsoft.com/office/drawing/2014/main" id="{B2C6DBD6-6CC7-DBCA-2A48-CA254E9F7470}"/>
              </a:ext>
            </a:extLst>
          </p:cNvPr>
          <p:cNvSpPr>
            <a:spLocks noChangeArrowheads="1"/>
          </p:cNvSpPr>
          <p:nvPr/>
        </p:nvSpPr>
        <p:spPr bwMode="auto">
          <a:xfrm>
            <a:off x="0" y="0"/>
            <a:ext cx="46101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345708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FAF5EF-D550-4387-3135-B2C016D5A323}"/>
              </a:ext>
            </a:extLst>
          </p:cNvPr>
          <p:cNvSpPr>
            <a:spLocks noGrp="1"/>
          </p:cNvSpPr>
          <p:nvPr>
            <p:ph type="title"/>
          </p:nvPr>
        </p:nvSpPr>
        <p:spPr/>
        <p:txBody>
          <a:bodyPr/>
          <a:lstStyle/>
          <a:p>
            <a:r>
              <a:rPr kumimoji="1" lang="zh-CN" altLang="en-US" dirty="0"/>
              <a:t>倒闭仍在持续</a:t>
            </a:r>
          </a:p>
        </p:txBody>
      </p:sp>
      <p:sp>
        <p:nvSpPr>
          <p:cNvPr id="3" name="内容占位符 2">
            <a:extLst>
              <a:ext uri="{FF2B5EF4-FFF2-40B4-BE49-F238E27FC236}">
                <a16:creationId xmlns:a16="http://schemas.microsoft.com/office/drawing/2014/main" id="{D1860CD2-5DC8-F009-9ABC-C46F9ED0F731}"/>
              </a:ext>
            </a:extLst>
          </p:cNvPr>
          <p:cNvSpPr>
            <a:spLocks noGrp="1"/>
          </p:cNvSpPr>
          <p:nvPr>
            <p:ph idx="1"/>
          </p:nvPr>
        </p:nvSpPr>
        <p:spPr/>
        <p:txBody>
          <a:bodyPr/>
          <a:lstStyle/>
          <a:p>
            <a:pPr marL="0" indent="304800" algn="just">
              <a:spcBef>
                <a:spcPts val="0"/>
              </a:spcBef>
            </a:pPr>
            <a:r>
              <a:rPr lang="en-US" altLang="zh-CN" sz="1200" kern="100" dirty="0">
                <a:effectLst/>
                <a:ea typeface="宋体" panose="02010600030101010101" pitchFamily="2" charset="-122"/>
                <a:cs typeface="Times New Roman" panose="02020603050405020304" pitchFamily="18" charset="0"/>
              </a:rPr>
              <a:t>2023</a:t>
            </a:r>
            <a:r>
              <a:rPr lang="zh-CN" altLang="zh-CN" sz="1200" kern="100" dirty="0">
                <a:effectLst/>
                <a:ea typeface="宋体" panose="02010600030101010101" pitchFamily="2" charset="-122"/>
                <a:cs typeface="Times New Roman" panose="02020603050405020304" pitchFamily="18" charset="0"/>
              </a:rPr>
              <a:t>年，美国共有五家银行宣布破产倒闭，分别是硅谷银行、签名银行、第一共和银行、心脏地带三州银行、萨克城公民银行，</a:t>
            </a:r>
            <a:r>
              <a:rPr lang="zh-CN" altLang="zh-CN" sz="1200" b="1" kern="100" dirty="0">
                <a:effectLst/>
                <a:ea typeface="宋体" panose="02010600030101010101" pitchFamily="2" charset="-122"/>
                <a:cs typeface="Times New Roman" panose="02020603050405020304" pitchFamily="18" charset="0"/>
              </a:rPr>
              <a:t>共持有资产规模</a:t>
            </a:r>
            <a:r>
              <a:rPr lang="en-US" altLang="zh-CN" sz="1200" b="1" kern="100" dirty="0">
                <a:effectLst/>
                <a:ea typeface="宋体" panose="02010600030101010101" pitchFamily="2" charset="-122"/>
                <a:cs typeface="Times New Roman" panose="02020603050405020304" pitchFamily="18" charset="0"/>
              </a:rPr>
              <a:t>5487</a:t>
            </a:r>
            <a:r>
              <a:rPr lang="zh-CN" altLang="zh-CN" sz="1200" b="1" kern="100" dirty="0">
                <a:effectLst/>
                <a:ea typeface="宋体" panose="02010600030101010101" pitchFamily="2" charset="-122"/>
                <a:cs typeface="Times New Roman" panose="02020603050405020304" pitchFamily="18" charset="0"/>
              </a:rPr>
              <a:t>亿美元</a:t>
            </a:r>
            <a:r>
              <a:rPr lang="zh-CN" altLang="zh-CN" sz="1200" kern="100" dirty="0">
                <a:effectLst/>
                <a:ea typeface="宋体" panose="02010600030101010101" pitchFamily="2" charset="-122"/>
                <a:cs typeface="Times New Roman" panose="02020603050405020304" pitchFamily="18" charset="0"/>
              </a:rPr>
              <a:t>，远高于</a:t>
            </a:r>
            <a:r>
              <a:rPr lang="en-US" altLang="zh-CN" sz="1200" kern="100" dirty="0">
                <a:effectLst/>
                <a:ea typeface="宋体" panose="02010600030101010101" pitchFamily="2" charset="-122"/>
                <a:cs typeface="Times New Roman" panose="02020603050405020304" pitchFamily="18" charset="0"/>
              </a:rPr>
              <a:t>2008</a:t>
            </a:r>
            <a:r>
              <a:rPr lang="zh-CN" altLang="zh-CN" sz="1200" kern="100" dirty="0">
                <a:effectLst/>
                <a:ea typeface="宋体" panose="02010600030101010101" pitchFamily="2" charset="-122"/>
                <a:cs typeface="Times New Roman" panose="02020603050405020304" pitchFamily="18" charset="0"/>
              </a:rPr>
              <a:t>年次贷危机时期倒闭银行的资产规模。</a:t>
            </a:r>
            <a:endParaRPr lang="en-US" altLang="zh-CN" sz="1200" kern="100" dirty="0">
              <a:effectLst/>
              <a:ea typeface="宋体" panose="02010600030101010101" pitchFamily="2" charset="-122"/>
              <a:cs typeface="Times New Roman" panose="02020603050405020304" pitchFamily="18" charset="0"/>
            </a:endParaRPr>
          </a:p>
          <a:p>
            <a:pPr marL="0" indent="0" algn="just">
              <a:spcBef>
                <a:spcPts val="0"/>
              </a:spcBef>
              <a:buNone/>
            </a:pPr>
            <a:r>
              <a:rPr lang="zh-CN" altLang="zh-CN" sz="1200" u="sng" kern="100" dirty="0">
                <a:ea typeface="KaiTi" panose="02010609060101010101" pitchFamily="49" charset="-122"/>
                <a:cs typeface="Times New Roman" panose="02020603050405020304" pitchFamily="18" charset="0"/>
              </a:rPr>
              <a:t>（</a:t>
            </a:r>
            <a:r>
              <a:rPr lang="en-US" altLang="zh-CN" sz="1200" u="sng" kern="100" dirty="0">
                <a:ea typeface="KaiTi" panose="02010609060101010101" pitchFamily="49" charset="-122"/>
                <a:cs typeface="Times New Roman" panose="02020603050405020304" pitchFamily="18" charset="0"/>
              </a:rPr>
              <a:t>2022</a:t>
            </a:r>
            <a:r>
              <a:rPr lang="zh-CN" altLang="zh-CN" sz="1200" u="sng" kern="100" dirty="0">
                <a:ea typeface="KaiTi" panose="02010609060101010101" pitchFamily="49" charset="-122"/>
                <a:cs typeface="Times New Roman" panose="02020603050405020304" pitchFamily="18" charset="0"/>
              </a:rPr>
              <a:t>年美国</a:t>
            </a:r>
            <a:r>
              <a:rPr lang="en-US" altLang="zh-CN" sz="1200" u="sng" kern="100" dirty="0">
                <a:ea typeface="KaiTi" panose="02010609060101010101" pitchFamily="49" charset="-122"/>
                <a:cs typeface="Times New Roman" panose="02020603050405020304" pitchFamily="18" charset="0"/>
              </a:rPr>
              <a:t>GDP25.44</a:t>
            </a:r>
            <a:r>
              <a:rPr lang="zh-CN" altLang="zh-CN" sz="1200" u="sng" kern="100" dirty="0">
                <a:ea typeface="KaiTi" panose="02010609060101010101" pitchFamily="49" charset="-122"/>
                <a:cs typeface="Times New Roman" panose="02020603050405020304" pitchFamily="18" charset="0"/>
              </a:rPr>
              <a:t>万亿美元；中国</a:t>
            </a:r>
            <a:r>
              <a:rPr lang="en-US" altLang="zh-CN" sz="1200" u="sng" kern="100" dirty="0">
                <a:ea typeface="KaiTi" panose="02010609060101010101" pitchFamily="49" charset="-122"/>
                <a:cs typeface="Times New Roman" panose="02020603050405020304" pitchFamily="18" charset="0"/>
              </a:rPr>
              <a:t>17.96</a:t>
            </a:r>
            <a:r>
              <a:rPr lang="zh-CN" altLang="zh-CN" sz="1200" u="sng" kern="100" dirty="0">
                <a:ea typeface="KaiTi" panose="02010609060101010101" pitchFamily="49" charset="-122"/>
                <a:cs typeface="Times New Roman" panose="02020603050405020304" pitchFamily="18" charset="0"/>
              </a:rPr>
              <a:t>万亿美元，日本</a:t>
            </a:r>
            <a:r>
              <a:rPr lang="en-US" altLang="zh-CN" sz="1200" u="sng" kern="100" dirty="0">
                <a:ea typeface="KaiTi" panose="02010609060101010101" pitchFamily="49" charset="-122"/>
                <a:cs typeface="Times New Roman" panose="02020603050405020304" pitchFamily="18" charset="0"/>
              </a:rPr>
              <a:t>4.26</a:t>
            </a:r>
            <a:r>
              <a:rPr lang="zh-CN" altLang="zh-CN" sz="1200" u="sng" kern="100" dirty="0">
                <a:ea typeface="KaiTi" panose="02010609060101010101" pitchFamily="49" charset="-122"/>
                <a:cs typeface="Times New Roman" panose="02020603050405020304" pitchFamily="18" charset="0"/>
              </a:rPr>
              <a:t>万亿美元）</a:t>
            </a:r>
            <a:endParaRPr lang="en-US" altLang="zh-CN" sz="1200" u="sng" kern="100" dirty="0">
              <a:effectLst/>
              <a:ea typeface="宋体" panose="02010600030101010101" pitchFamily="2" charset="-122"/>
              <a:cs typeface="Times New Roman" panose="02020603050405020304" pitchFamily="18" charset="0"/>
            </a:endParaRPr>
          </a:p>
          <a:p>
            <a:pPr marL="0" algn="just">
              <a:spcBef>
                <a:spcPts val="0"/>
              </a:spcBef>
            </a:pPr>
            <a:r>
              <a:rPr lang="zh-CN" altLang="en-US" sz="1200" kern="100" dirty="0">
                <a:effectLst/>
                <a:cs typeface="Times New Roman" panose="02020603050405020304" pitchFamily="18" charset="0"/>
              </a:rPr>
              <a:t>硅谷银行（</a:t>
            </a:r>
            <a:r>
              <a:rPr lang="en-US" altLang="zh-CN" sz="1200" kern="100" dirty="0">
                <a:effectLst/>
                <a:cs typeface="Times New Roman" panose="02020603050405020304" pitchFamily="18" charset="0"/>
              </a:rPr>
              <a:t>2023</a:t>
            </a:r>
            <a:r>
              <a:rPr lang="zh-CN" altLang="en-US" sz="1200" kern="100" dirty="0">
                <a:effectLst/>
                <a:cs typeface="Times New Roman" panose="02020603050405020304" pitchFamily="18" charset="0"/>
              </a:rPr>
              <a:t>年</a:t>
            </a:r>
            <a:r>
              <a:rPr lang="en-US" altLang="zh-CN" sz="1200" kern="100" dirty="0">
                <a:effectLst/>
                <a:cs typeface="Times New Roman" panose="02020603050405020304" pitchFamily="18" charset="0"/>
              </a:rPr>
              <a:t>3</a:t>
            </a:r>
            <a:r>
              <a:rPr lang="zh-CN" altLang="en-US" sz="1200" kern="100" dirty="0">
                <a:effectLst/>
                <a:cs typeface="Times New Roman" panose="02020603050405020304" pitchFamily="18" charset="0"/>
              </a:rPr>
              <a:t>月</a:t>
            </a:r>
            <a:r>
              <a:rPr lang="en-US" altLang="zh-CN" sz="1200" kern="100" dirty="0">
                <a:effectLst/>
                <a:cs typeface="Times New Roman" panose="02020603050405020304" pitchFamily="18" charset="0"/>
              </a:rPr>
              <a:t>10</a:t>
            </a:r>
            <a:r>
              <a:rPr lang="zh-CN" altLang="en-US" sz="1200" kern="100" dirty="0">
                <a:effectLst/>
                <a:cs typeface="Times New Roman" panose="02020603050405020304" pitchFamily="18" charset="0"/>
              </a:rPr>
              <a:t>日倒闭）</a:t>
            </a:r>
          </a:p>
          <a:p>
            <a:pPr marL="0" algn="just">
              <a:spcBef>
                <a:spcPts val="0"/>
              </a:spcBef>
            </a:pPr>
            <a:r>
              <a:rPr lang="zh-CN" altLang="en-US" sz="1200" kern="100" dirty="0">
                <a:effectLst/>
                <a:cs typeface="Times New Roman" panose="02020603050405020304" pitchFamily="18" charset="0"/>
              </a:rPr>
              <a:t>签名银行（</a:t>
            </a:r>
            <a:r>
              <a:rPr lang="en-US" altLang="zh-CN" sz="1200" kern="100" dirty="0">
                <a:effectLst/>
                <a:cs typeface="Times New Roman" panose="02020603050405020304" pitchFamily="18" charset="0"/>
              </a:rPr>
              <a:t>2023</a:t>
            </a:r>
            <a:r>
              <a:rPr lang="zh-CN" altLang="en-US" sz="1200" kern="100" dirty="0">
                <a:effectLst/>
                <a:cs typeface="Times New Roman" panose="02020603050405020304" pitchFamily="18" charset="0"/>
              </a:rPr>
              <a:t>年</a:t>
            </a:r>
            <a:r>
              <a:rPr lang="en-US" altLang="zh-CN" sz="1200" kern="100" dirty="0">
                <a:effectLst/>
                <a:cs typeface="Times New Roman" panose="02020603050405020304" pitchFamily="18" charset="0"/>
              </a:rPr>
              <a:t>3</a:t>
            </a:r>
            <a:r>
              <a:rPr lang="zh-CN" altLang="en-US" sz="1200" kern="100" dirty="0">
                <a:effectLst/>
                <a:cs typeface="Times New Roman" panose="02020603050405020304" pitchFamily="18" charset="0"/>
              </a:rPr>
              <a:t>月</a:t>
            </a:r>
            <a:r>
              <a:rPr lang="en-US" altLang="zh-CN" sz="1200" kern="100" dirty="0">
                <a:effectLst/>
                <a:cs typeface="Times New Roman" panose="02020603050405020304" pitchFamily="18" charset="0"/>
              </a:rPr>
              <a:t>12</a:t>
            </a:r>
            <a:r>
              <a:rPr lang="zh-CN" altLang="en-US" sz="1200" kern="100" dirty="0">
                <a:effectLst/>
                <a:cs typeface="Times New Roman" panose="02020603050405020304" pitchFamily="18" charset="0"/>
              </a:rPr>
              <a:t>日倒闭）</a:t>
            </a:r>
            <a:endParaRPr lang="en-US" altLang="zh-CN" sz="1200" kern="100" dirty="0">
              <a:effectLst/>
              <a:cs typeface="Times New Roman" panose="02020603050405020304" pitchFamily="18" charset="0"/>
            </a:endParaRPr>
          </a:p>
          <a:p>
            <a:pPr marL="0" algn="just">
              <a:spcBef>
                <a:spcPts val="0"/>
              </a:spcBef>
            </a:pPr>
            <a:r>
              <a:rPr lang="zh-CN" altLang="en-US" sz="1200" kern="100" dirty="0">
                <a:effectLst/>
                <a:cs typeface="Times New Roman" panose="02020603050405020304" pitchFamily="18" charset="0"/>
              </a:rPr>
              <a:t>第一共和银行（</a:t>
            </a:r>
            <a:r>
              <a:rPr lang="en-US" altLang="zh-CN" sz="1200" kern="100" dirty="0">
                <a:effectLst/>
                <a:cs typeface="Times New Roman" panose="02020603050405020304" pitchFamily="18" charset="0"/>
              </a:rPr>
              <a:t>2023</a:t>
            </a:r>
            <a:r>
              <a:rPr lang="zh-CN" altLang="en-US" sz="1200" kern="100" dirty="0">
                <a:effectLst/>
                <a:cs typeface="Times New Roman" panose="02020603050405020304" pitchFamily="18" charset="0"/>
              </a:rPr>
              <a:t>年</a:t>
            </a:r>
            <a:r>
              <a:rPr lang="en-US" altLang="zh-CN" sz="1200" kern="100" dirty="0">
                <a:effectLst/>
                <a:cs typeface="Times New Roman" panose="02020603050405020304" pitchFamily="18" charset="0"/>
              </a:rPr>
              <a:t>5</a:t>
            </a:r>
            <a:r>
              <a:rPr lang="zh-CN" altLang="en-US" sz="1200" kern="100" dirty="0">
                <a:effectLst/>
                <a:cs typeface="Times New Roman" panose="02020603050405020304" pitchFamily="18" charset="0"/>
              </a:rPr>
              <a:t>月</a:t>
            </a:r>
            <a:r>
              <a:rPr lang="en-US" altLang="zh-CN" sz="1200" kern="100" dirty="0">
                <a:effectLst/>
                <a:cs typeface="Times New Roman" panose="02020603050405020304" pitchFamily="18" charset="0"/>
              </a:rPr>
              <a:t>1</a:t>
            </a:r>
            <a:r>
              <a:rPr lang="zh-CN" altLang="en-US" sz="1200" kern="100" dirty="0">
                <a:effectLst/>
                <a:cs typeface="Times New Roman" panose="02020603050405020304" pitchFamily="18" charset="0"/>
              </a:rPr>
              <a:t>日倒闭）</a:t>
            </a:r>
            <a:endParaRPr lang="en-US" altLang="zh-CN" sz="1200" kern="100" dirty="0">
              <a:effectLst/>
              <a:cs typeface="Times New Roman" panose="02020603050405020304" pitchFamily="18" charset="0"/>
            </a:endParaRPr>
          </a:p>
          <a:p>
            <a:pPr marL="0" algn="just">
              <a:spcBef>
                <a:spcPts val="0"/>
              </a:spcBef>
            </a:pPr>
            <a:r>
              <a:rPr lang="en-US" altLang="zh-CN" sz="1200" kern="100" dirty="0">
                <a:cs typeface="Times New Roman" panose="02020603050405020304" pitchFamily="18" charset="0"/>
              </a:rPr>
              <a:t>……</a:t>
            </a:r>
          </a:p>
          <a:p>
            <a:pPr marL="0" algn="just">
              <a:spcBef>
                <a:spcPts val="0"/>
              </a:spcBef>
            </a:pPr>
            <a:endParaRPr lang="en-US" altLang="zh-CN" sz="1200" kern="100" dirty="0">
              <a:cs typeface="Times New Roman" panose="02020603050405020304" pitchFamily="18" charset="0"/>
            </a:endParaRPr>
          </a:p>
          <a:p>
            <a:pPr marL="0" indent="0" algn="just">
              <a:spcBef>
                <a:spcPts val="0"/>
              </a:spcBef>
              <a:buNone/>
            </a:pPr>
            <a:r>
              <a:rPr lang="en-US" altLang="zh-CN" dirty="0"/>
              <a:t>2024</a:t>
            </a:r>
            <a:r>
              <a:rPr lang="zh-CN" altLang="en-US" dirty="0"/>
              <a:t>年美国第一家倒闭的银行：</a:t>
            </a:r>
            <a:endParaRPr lang="en-US" altLang="zh-CN" dirty="0"/>
          </a:p>
          <a:p>
            <a:pPr marL="0" algn="just">
              <a:spcBef>
                <a:spcPts val="0"/>
              </a:spcBef>
            </a:pPr>
            <a:r>
              <a:rPr lang="zh-CN" altLang="en-US" sz="1200" kern="100" dirty="0">
                <a:effectLst/>
                <a:cs typeface="Times New Roman" panose="02020603050405020304" pitchFamily="18" charset="0"/>
              </a:rPr>
              <a:t>共和第一银行（</a:t>
            </a:r>
            <a:r>
              <a:rPr lang="en-US" altLang="zh-CN" sz="1200" kern="100" dirty="0">
                <a:effectLst/>
                <a:cs typeface="Times New Roman" panose="02020603050405020304" pitchFamily="18" charset="0"/>
              </a:rPr>
              <a:t>2024</a:t>
            </a:r>
            <a:r>
              <a:rPr lang="zh-CN" altLang="en-US" sz="1200" kern="100" dirty="0">
                <a:effectLst/>
                <a:cs typeface="Times New Roman" panose="02020603050405020304" pitchFamily="18" charset="0"/>
              </a:rPr>
              <a:t>年</a:t>
            </a:r>
            <a:r>
              <a:rPr lang="en-US" altLang="zh-CN" sz="1200" kern="100" dirty="0">
                <a:effectLst/>
                <a:cs typeface="Times New Roman" panose="02020603050405020304" pitchFamily="18" charset="0"/>
              </a:rPr>
              <a:t>4</a:t>
            </a:r>
            <a:r>
              <a:rPr lang="zh-CN" altLang="en-US" sz="1200" kern="100" dirty="0">
                <a:effectLst/>
                <a:cs typeface="Times New Roman" panose="02020603050405020304" pitchFamily="18" charset="0"/>
              </a:rPr>
              <a:t>月</a:t>
            </a:r>
            <a:r>
              <a:rPr lang="en-US" altLang="zh-CN" sz="1200" kern="100" dirty="0">
                <a:effectLst/>
                <a:cs typeface="Times New Roman" panose="02020603050405020304" pitchFamily="18" charset="0"/>
              </a:rPr>
              <a:t>27</a:t>
            </a:r>
            <a:r>
              <a:rPr lang="zh-CN" altLang="en-US" sz="1200" kern="100" dirty="0">
                <a:effectLst/>
                <a:cs typeface="Times New Roman" panose="02020603050405020304" pitchFamily="18" charset="0"/>
              </a:rPr>
              <a:t>日倒闭）</a:t>
            </a:r>
          </a:p>
          <a:p>
            <a:pPr marL="0" algn="just">
              <a:spcBef>
                <a:spcPts val="0"/>
              </a:spcBef>
            </a:pPr>
            <a:endParaRPr lang="zh-CN" altLang="en-US" sz="12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algn="just">
              <a:spcBef>
                <a:spcPts val="0"/>
              </a:spcBef>
            </a:pPr>
            <a:endParaRPr lang="zh-CN" altLang="zh-CN" sz="12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a:spcBef>
                <a:spcPts val="0"/>
              </a:spcBef>
            </a:pPr>
            <a:endParaRPr kumimoji="1" lang="zh-CN" altLang="en-US" sz="1100" dirty="0"/>
          </a:p>
        </p:txBody>
      </p:sp>
      <p:sp>
        <p:nvSpPr>
          <p:cNvPr id="4" name="页脚占位符 3">
            <a:extLst>
              <a:ext uri="{FF2B5EF4-FFF2-40B4-BE49-F238E27FC236}">
                <a16:creationId xmlns:a16="http://schemas.microsoft.com/office/drawing/2014/main" id="{BA79DE26-0C89-F28B-BB4A-960944C1496F}"/>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A42E1D5-CCBB-5AF3-035D-60CFB607A2E2}"/>
              </a:ext>
            </a:extLst>
          </p:cNvPr>
          <p:cNvSpPr>
            <a:spLocks noGrp="1"/>
          </p:cNvSpPr>
          <p:nvPr>
            <p:ph type="sldNum" sz="quarter" idx="11"/>
          </p:nvPr>
        </p:nvSpPr>
        <p:spPr/>
        <p:txBody>
          <a:bodyPr/>
          <a:lstStyle/>
          <a:p>
            <a:fld id="{FF75CA96-F32A-7F4F-98C9-CA940BD9BB90}" type="slidenum">
              <a:rPr lang="zh-CN" altLang="zh-CN" smtClean="0"/>
              <a:pPr/>
              <a:t>96</a:t>
            </a:fld>
            <a:endParaRPr lang="en-US" altLang="zh-CN"/>
          </a:p>
        </p:txBody>
      </p:sp>
    </p:spTree>
    <p:extLst>
      <p:ext uri="{BB962C8B-B14F-4D97-AF65-F5344CB8AC3E}">
        <p14:creationId xmlns:p14="http://schemas.microsoft.com/office/powerpoint/2010/main" val="313844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dissolv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2C2FAE-3619-1879-3B66-FC9844FD939F}"/>
              </a:ext>
            </a:extLst>
          </p:cNvPr>
          <p:cNvSpPr>
            <a:spLocks noGrp="1"/>
          </p:cNvSpPr>
          <p:nvPr>
            <p:ph type="title"/>
          </p:nvPr>
        </p:nvSpPr>
        <p:spPr/>
        <p:txBody>
          <a:bodyPr/>
          <a:lstStyle/>
          <a:p>
            <a:r>
              <a:rPr kumimoji="1" lang="zh-CN" altLang="en-US" dirty="0"/>
              <a:t>我国部分银行的破产</a:t>
            </a:r>
          </a:p>
        </p:txBody>
      </p:sp>
      <p:sp>
        <p:nvSpPr>
          <p:cNvPr id="3" name="内容占位符 2">
            <a:extLst>
              <a:ext uri="{FF2B5EF4-FFF2-40B4-BE49-F238E27FC236}">
                <a16:creationId xmlns:a16="http://schemas.microsoft.com/office/drawing/2014/main" id="{990EF7A2-7A73-CFD1-398F-E22E8532C528}"/>
              </a:ext>
            </a:extLst>
          </p:cNvPr>
          <p:cNvSpPr>
            <a:spLocks noGrp="1"/>
          </p:cNvSpPr>
          <p:nvPr>
            <p:ph idx="1"/>
          </p:nvPr>
        </p:nvSpPr>
        <p:spPr/>
        <p:txBody>
          <a:bodyPr/>
          <a:lstStyle/>
          <a:p>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2021</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年</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3</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月，包商银行被法院裁定破产】</a:t>
            </a:r>
            <a:endPar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endParaRPr>
          </a:p>
          <a:p>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北京市第一中级人民法院在</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2</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月</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7</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日作出的《民事裁定书》显示，可以确认包商银行已经不能清偿到期债务，并且资产不足以清偿全部债务、缺乏清偿能力，已经具备宣告破产的条件。按照</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2015</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年出台的《存款保险条例》要求，有存款类金融机构都应当投保存款保险，存款保险的最高偿付限额为人民币</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50</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万元。根据央行测算，</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50</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万元的最高赔付限额可以覆盖</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99.63%</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存款人的全部存款。</a:t>
            </a:r>
          </a:p>
        </p:txBody>
      </p:sp>
      <p:sp>
        <p:nvSpPr>
          <p:cNvPr id="4" name="页脚占位符 3">
            <a:extLst>
              <a:ext uri="{FF2B5EF4-FFF2-40B4-BE49-F238E27FC236}">
                <a16:creationId xmlns:a16="http://schemas.microsoft.com/office/drawing/2014/main" id="{974D623E-9DAA-BE6C-EF6D-3B2DB76F019D}"/>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6F45673-4316-0FF1-8374-015863F3BC15}"/>
              </a:ext>
            </a:extLst>
          </p:cNvPr>
          <p:cNvSpPr>
            <a:spLocks noGrp="1"/>
          </p:cNvSpPr>
          <p:nvPr>
            <p:ph type="sldNum" sz="quarter" idx="11"/>
          </p:nvPr>
        </p:nvSpPr>
        <p:spPr/>
        <p:txBody>
          <a:bodyPr/>
          <a:lstStyle/>
          <a:p>
            <a:fld id="{FF75CA96-F32A-7F4F-98C9-CA940BD9BB90}" type="slidenum">
              <a:rPr lang="zh-CN" altLang="zh-CN" smtClean="0"/>
              <a:pPr/>
              <a:t>97</a:t>
            </a:fld>
            <a:endParaRPr lang="en-US" altLang="zh-CN"/>
          </a:p>
        </p:txBody>
      </p:sp>
    </p:spTree>
    <p:extLst>
      <p:ext uri="{BB962C8B-B14F-4D97-AF65-F5344CB8AC3E}">
        <p14:creationId xmlns:p14="http://schemas.microsoft.com/office/powerpoint/2010/main" val="33977474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33E82-5EDA-9A48-14F2-8621EC274EA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A035091E-CAAD-ADC1-38CE-DB4C569566BC}"/>
              </a:ext>
            </a:extLst>
          </p:cNvPr>
          <p:cNvSpPr>
            <a:spLocks noGrp="1"/>
          </p:cNvSpPr>
          <p:nvPr>
            <p:ph idx="1"/>
          </p:nvPr>
        </p:nvSpPr>
        <p:spPr>
          <a:xfrm>
            <a:off x="188086" y="2741491"/>
            <a:ext cx="4191509" cy="349951"/>
          </a:xfrm>
        </p:spPr>
        <p:txBody>
          <a:bodyPr/>
          <a:lstStyle/>
          <a:p>
            <a:pPr marL="0" indent="0">
              <a:buNone/>
            </a:pPr>
            <a:r>
              <a:rPr kumimoji="1" lang="zh-CN" altLang="en" sz="900" dirty="0"/>
              <a:t>资料</a:t>
            </a:r>
            <a:r>
              <a:rPr kumimoji="1" lang="zh-CN" altLang="en-US" sz="900" dirty="0"/>
              <a:t>来源：国家金融监管总局</a:t>
            </a:r>
            <a:endParaRPr kumimoji="1" lang="en-US" altLang="zh-CN" sz="900" dirty="0"/>
          </a:p>
          <a:p>
            <a:pPr marL="0" indent="0">
              <a:buNone/>
            </a:pPr>
            <a:r>
              <a:rPr kumimoji="1" lang="en" altLang="zh-CN" sz="900" dirty="0"/>
              <a:t>https://</a:t>
            </a:r>
            <a:r>
              <a:rPr kumimoji="1" lang="en" altLang="zh-CN" sz="900" dirty="0" err="1"/>
              <a:t>www.cbirc.gov.cn</a:t>
            </a:r>
            <a:r>
              <a:rPr kumimoji="1" lang="en" altLang="zh-CN" sz="900" dirty="0"/>
              <a:t>/</a:t>
            </a:r>
            <a:r>
              <a:rPr kumimoji="1" lang="en" altLang="zh-CN" sz="900" dirty="0" err="1"/>
              <a:t>cn</a:t>
            </a:r>
            <a:r>
              <a:rPr kumimoji="1" lang="en" altLang="zh-CN" sz="900" dirty="0"/>
              <a:t>/view/pages/index/</a:t>
            </a:r>
            <a:r>
              <a:rPr kumimoji="1" lang="en" altLang="zh-CN" sz="900" dirty="0" err="1"/>
              <a:t>jiansuo.html?keyWords</a:t>
            </a:r>
            <a:r>
              <a:rPr kumimoji="1" lang="en" altLang="zh-CN" sz="900" dirty="0"/>
              <a:t>=</a:t>
            </a:r>
            <a:r>
              <a:rPr kumimoji="1" lang="zh-CN" altLang="en-US" sz="900" dirty="0"/>
              <a:t>解散</a:t>
            </a:r>
          </a:p>
        </p:txBody>
      </p:sp>
      <p:sp>
        <p:nvSpPr>
          <p:cNvPr id="4" name="页脚占位符 3">
            <a:extLst>
              <a:ext uri="{FF2B5EF4-FFF2-40B4-BE49-F238E27FC236}">
                <a16:creationId xmlns:a16="http://schemas.microsoft.com/office/drawing/2014/main" id="{4E86B51E-7AB7-E7D1-20D4-F2479D81DF23}"/>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39EA4885-B26E-193F-CC3E-92C1AF763AC4}"/>
              </a:ext>
            </a:extLst>
          </p:cNvPr>
          <p:cNvSpPr>
            <a:spLocks noGrp="1"/>
          </p:cNvSpPr>
          <p:nvPr>
            <p:ph type="sldNum" sz="quarter" idx="11"/>
          </p:nvPr>
        </p:nvSpPr>
        <p:spPr/>
        <p:txBody>
          <a:bodyPr/>
          <a:lstStyle/>
          <a:p>
            <a:fld id="{FF75CA96-F32A-7F4F-98C9-CA940BD9BB90}" type="slidenum">
              <a:rPr lang="zh-CN" altLang="zh-CN" smtClean="0"/>
              <a:pPr/>
              <a:t>98</a:t>
            </a:fld>
            <a:endParaRPr lang="en-US" altLang="zh-CN"/>
          </a:p>
        </p:txBody>
      </p:sp>
      <p:pic>
        <p:nvPicPr>
          <p:cNvPr id="6" name="图片 5">
            <a:extLst>
              <a:ext uri="{FF2B5EF4-FFF2-40B4-BE49-F238E27FC236}">
                <a16:creationId xmlns:a16="http://schemas.microsoft.com/office/drawing/2014/main" id="{5DAB7071-CAE7-6C06-F38B-D6ABC761DBD4}"/>
              </a:ext>
            </a:extLst>
          </p:cNvPr>
          <p:cNvPicPr>
            <a:picLocks noChangeAspect="1"/>
          </p:cNvPicPr>
          <p:nvPr/>
        </p:nvPicPr>
        <p:blipFill>
          <a:blip r:embed="rId2"/>
          <a:stretch>
            <a:fillRect/>
          </a:stretch>
        </p:blipFill>
        <p:spPr>
          <a:xfrm>
            <a:off x="0" y="9502"/>
            <a:ext cx="4614077" cy="2120632"/>
          </a:xfrm>
          <a:prstGeom prst="rect">
            <a:avLst/>
          </a:prstGeom>
          <a:ln>
            <a:noFill/>
          </a:ln>
          <a:effectLst>
            <a:outerShdw blurRad="292100" dist="139700" dir="2700000" algn="tl" rotWithShape="0">
              <a:srgbClr val="333333">
                <a:alpha val="65000"/>
              </a:srgbClr>
            </a:outerShdw>
          </a:effectLst>
        </p:spPr>
      </p:pic>
      <p:pic>
        <p:nvPicPr>
          <p:cNvPr id="7" name="图片 6">
            <a:extLst>
              <a:ext uri="{FF2B5EF4-FFF2-40B4-BE49-F238E27FC236}">
                <a16:creationId xmlns:a16="http://schemas.microsoft.com/office/drawing/2014/main" id="{C1472437-2991-2DB6-3695-B65E0A7301CF}"/>
              </a:ext>
            </a:extLst>
          </p:cNvPr>
          <p:cNvPicPr>
            <a:picLocks noChangeAspect="1"/>
          </p:cNvPicPr>
          <p:nvPr/>
        </p:nvPicPr>
        <p:blipFill>
          <a:blip r:embed="rId3"/>
          <a:stretch>
            <a:fillRect/>
          </a:stretch>
        </p:blipFill>
        <p:spPr>
          <a:xfrm>
            <a:off x="15455" y="1735085"/>
            <a:ext cx="4391078" cy="976369"/>
          </a:xfrm>
          <a:prstGeom prst="rect">
            <a:avLst/>
          </a:prstGeom>
          <a:ln>
            <a:noFill/>
          </a:ln>
          <a:effectLst>
            <a:outerShdw blurRad="292100" dist="139700" dir="2700000" algn="tl" rotWithShape="0">
              <a:srgbClr val="333333">
                <a:alpha val="65000"/>
              </a:srgbClr>
            </a:outerShdw>
          </a:effectLst>
        </p:spPr>
      </p:pic>
      <p:pic>
        <p:nvPicPr>
          <p:cNvPr id="8" name="图片 7">
            <a:extLst>
              <a:ext uri="{FF2B5EF4-FFF2-40B4-BE49-F238E27FC236}">
                <a16:creationId xmlns:a16="http://schemas.microsoft.com/office/drawing/2014/main" id="{6A02667D-1747-6B6A-B2BF-D0943F2920C9}"/>
              </a:ext>
            </a:extLst>
          </p:cNvPr>
          <p:cNvPicPr>
            <a:picLocks noChangeAspect="1"/>
          </p:cNvPicPr>
          <p:nvPr/>
        </p:nvPicPr>
        <p:blipFill>
          <a:blip r:embed="rId4"/>
          <a:stretch>
            <a:fillRect/>
          </a:stretch>
        </p:blipFill>
        <p:spPr>
          <a:xfrm>
            <a:off x="116260" y="2305855"/>
            <a:ext cx="4610100" cy="10275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5824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9E3FA-7483-C433-A0FB-EB4BA606830F}"/>
              </a:ext>
            </a:extLst>
          </p:cNvPr>
          <p:cNvSpPr>
            <a:spLocks noGrp="1"/>
          </p:cNvSpPr>
          <p:nvPr>
            <p:ph type="title"/>
          </p:nvPr>
        </p:nvSpPr>
        <p:spPr/>
        <p:txBody>
          <a:bodyPr/>
          <a:lstStyle/>
          <a:p>
            <a:r>
              <a:rPr kumimoji="1" lang="zh-CN" altLang="en-US" dirty="0"/>
              <a:t>本章评析</a:t>
            </a:r>
          </a:p>
        </p:txBody>
      </p:sp>
      <p:sp>
        <p:nvSpPr>
          <p:cNvPr id="3" name="内容占位符 2">
            <a:extLst>
              <a:ext uri="{FF2B5EF4-FFF2-40B4-BE49-F238E27FC236}">
                <a16:creationId xmlns:a16="http://schemas.microsoft.com/office/drawing/2014/main" id="{E4BDCEEC-5E48-BAC1-CDD8-2A0C37A48E7B}"/>
              </a:ext>
            </a:extLst>
          </p:cNvPr>
          <p:cNvSpPr>
            <a:spLocks noGrp="1"/>
          </p:cNvSpPr>
          <p:nvPr>
            <p:ph idx="1"/>
          </p:nvPr>
        </p:nvSpPr>
        <p:spPr/>
        <p:txBody>
          <a:bodyPr/>
          <a:lstStyle/>
          <a:p>
            <a:r>
              <a:rPr kumimoji="1" lang="en-US" altLang="zh-CN" b="1" dirty="0"/>
              <a:t>1.</a:t>
            </a:r>
            <a:r>
              <a:rPr kumimoji="1" lang="zh-CN" altLang="en-US" b="1" dirty="0"/>
              <a:t> 对</a:t>
            </a:r>
            <a:r>
              <a:rPr kumimoji="1" lang="en-US" altLang="zh-CN" b="1" dirty="0"/>
              <a:t>IS- LM</a:t>
            </a:r>
            <a:r>
              <a:rPr kumimoji="1" lang="zh-CN" altLang="en-US" b="1" dirty="0"/>
              <a:t>模型的评析</a:t>
            </a:r>
            <a:endParaRPr kumimoji="1" lang="en-US" altLang="zh-CN" b="1" dirty="0"/>
          </a:p>
          <a:p>
            <a:r>
              <a:rPr kumimoji="1" lang="zh-CN" altLang="en-US" sz="1200" dirty="0">
                <a:latin typeface="KaiTi" panose="02010609060101010101" pitchFamily="49" charset="-122"/>
                <a:ea typeface="KaiTi" panose="02010609060101010101" pitchFamily="49" charset="-122"/>
              </a:rPr>
              <a:t>模型的设计和表述明显具有新古典经济学的特征，主要表现在：</a:t>
            </a:r>
            <a:endParaRPr kumimoji="1" lang="en-US" altLang="zh-CN" sz="1200" dirty="0">
              <a:latin typeface="KaiTi" panose="02010609060101010101" pitchFamily="49" charset="-122"/>
              <a:ea typeface="KaiTi" panose="02010609060101010101" pitchFamily="49" charset="-122"/>
            </a:endParaRPr>
          </a:p>
          <a:p>
            <a:r>
              <a:rPr kumimoji="1" lang="zh-CN" altLang="en-US" sz="1200" dirty="0">
                <a:latin typeface="KaiTi" panose="02010609060101010101" pitchFamily="49" charset="-122"/>
                <a:ea typeface="KaiTi" panose="02010609060101010101" pitchFamily="49" charset="-122"/>
              </a:rPr>
              <a:t>第一，在经济学理论的表述中，第一次以新古典经济学家所熟悉的数理表达方式</a:t>
            </a:r>
            <a:endParaRPr kumimoji="1" lang="en-US" altLang="zh-CN" sz="1200" dirty="0">
              <a:latin typeface="KaiTi" panose="02010609060101010101" pitchFamily="49" charset="-122"/>
              <a:ea typeface="KaiTi" panose="02010609060101010101" pitchFamily="49" charset="-122"/>
            </a:endParaRPr>
          </a:p>
          <a:p>
            <a:r>
              <a:rPr kumimoji="1" lang="zh-CN" altLang="en-US" sz="1200" dirty="0">
                <a:latin typeface="KaiTi" panose="02010609060101010101" pitchFamily="49" charset="-122"/>
                <a:ea typeface="KaiTi" panose="02010609060101010101" pitchFamily="49" charset="-122"/>
              </a:rPr>
              <a:t>第二，以确定的相对静态的数量关系说明凯恩斯的思想，却丢掉了凯恩斯所强调的经济活动中的不确定性。</a:t>
            </a:r>
            <a:endParaRPr kumimoji="1" lang="en-US" altLang="zh-CN" sz="1200" dirty="0">
              <a:latin typeface="KaiTi" panose="02010609060101010101" pitchFamily="49" charset="-122"/>
              <a:ea typeface="KaiTi" panose="02010609060101010101" pitchFamily="49" charset="-122"/>
            </a:endParaRPr>
          </a:p>
          <a:p>
            <a:r>
              <a:rPr kumimoji="1" lang="zh-CN" altLang="en-US" sz="1200" dirty="0">
                <a:latin typeface="KaiTi" panose="02010609060101010101" pitchFamily="49" charset="-122"/>
                <a:ea typeface="KaiTi" panose="02010609060101010101" pitchFamily="49" charset="-122"/>
              </a:rPr>
              <a:t>第三，以两条斜率相反的曲线在同一平面</a:t>
            </a:r>
            <a:r>
              <a:rPr kumimoji="1" lang="zh-CN" altLang="en-US" sz="1200">
                <a:latin typeface="KaiTi" panose="02010609060101010101" pitchFamily="49" charset="-122"/>
                <a:ea typeface="KaiTi" panose="02010609060101010101" pitchFamily="49" charset="-122"/>
              </a:rPr>
              <a:t>内必然相交说明</a:t>
            </a:r>
            <a:r>
              <a:rPr kumimoji="1" lang="zh-CN" altLang="en-US" sz="1200" dirty="0">
                <a:latin typeface="KaiTi" panose="02010609060101010101" pitchFamily="49" charset="-122"/>
                <a:ea typeface="KaiTi" panose="02010609060101010101" pitchFamily="49" charset="-122"/>
              </a:rPr>
              <a:t>流量和存量必然均衡。</a:t>
            </a:r>
          </a:p>
        </p:txBody>
      </p:sp>
      <p:sp>
        <p:nvSpPr>
          <p:cNvPr id="4" name="页脚占位符 3">
            <a:extLst>
              <a:ext uri="{FF2B5EF4-FFF2-40B4-BE49-F238E27FC236}">
                <a16:creationId xmlns:a16="http://schemas.microsoft.com/office/drawing/2014/main" id="{1E68FB12-A53E-B57E-1531-A8705C329556}"/>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B0484C1-B073-A849-C2A2-C8BE93BDB2D3}"/>
              </a:ext>
            </a:extLst>
          </p:cNvPr>
          <p:cNvSpPr>
            <a:spLocks noGrp="1"/>
          </p:cNvSpPr>
          <p:nvPr>
            <p:ph type="sldNum" sz="quarter" idx="11"/>
          </p:nvPr>
        </p:nvSpPr>
        <p:spPr/>
        <p:txBody>
          <a:bodyPr/>
          <a:lstStyle/>
          <a:p>
            <a:fld id="{FF75CA96-F32A-7F4F-98C9-CA940BD9BB90}" type="slidenum">
              <a:rPr lang="zh-CN" altLang="zh-CN" smtClean="0"/>
              <a:pPr/>
              <a:t>99</a:t>
            </a:fld>
            <a:endParaRPr lang="en-US" altLang="zh-CN"/>
          </a:p>
        </p:txBody>
      </p:sp>
    </p:spTree>
    <p:extLst>
      <p:ext uri="{BB962C8B-B14F-4D97-AF65-F5344CB8AC3E}">
        <p14:creationId xmlns:p14="http://schemas.microsoft.com/office/powerpoint/2010/main" val="15330561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9E3FA-7483-C433-A0FB-EB4BA606830F}"/>
              </a:ext>
            </a:extLst>
          </p:cNvPr>
          <p:cNvSpPr>
            <a:spLocks noGrp="1"/>
          </p:cNvSpPr>
          <p:nvPr>
            <p:ph type="title"/>
          </p:nvPr>
        </p:nvSpPr>
        <p:spPr/>
        <p:txBody>
          <a:bodyPr/>
          <a:lstStyle/>
          <a:p>
            <a:r>
              <a:rPr kumimoji="1" lang="en-US" altLang="zh-CN" dirty="0"/>
              <a:t>IS- LM</a:t>
            </a:r>
            <a:r>
              <a:rPr kumimoji="1" lang="zh-CN" altLang="en-US" dirty="0"/>
              <a:t>模型的主要问题</a:t>
            </a:r>
          </a:p>
        </p:txBody>
      </p:sp>
      <p:sp>
        <p:nvSpPr>
          <p:cNvPr id="3" name="内容占位符 2">
            <a:extLst>
              <a:ext uri="{FF2B5EF4-FFF2-40B4-BE49-F238E27FC236}">
                <a16:creationId xmlns:a16="http://schemas.microsoft.com/office/drawing/2014/main" id="{E4BDCEEC-5E48-BAC1-CDD8-2A0C37A48E7B}"/>
              </a:ext>
            </a:extLst>
          </p:cNvPr>
          <p:cNvSpPr>
            <a:spLocks noGrp="1"/>
          </p:cNvSpPr>
          <p:nvPr>
            <p:ph idx="1"/>
          </p:nvPr>
        </p:nvSpPr>
        <p:spPr/>
        <p:txBody>
          <a:bodyPr/>
          <a:lstStyle/>
          <a:p>
            <a:r>
              <a:rPr kumimoji="1" lang="zh-CN" altLang="en-US" sz="1200" dirty="0">
                <a:ea typeface="KaiTi" panose="02010609060101010101" pitchFamily="49" charset="-122"/>
              </a:rPr>
              <a:t>第一，代表经济流量的</a:t>
            </a:r>
            <a:r>
              <a:rPr kumimoji="1" lang="en-US" altLang="zh-CN" sz="1200" dirty="0">
                <a:ea typeface="KaiTi" panose="02010609060101010101" pitchFamily="49" charset="-122"/>
              </a:rPr>
              <a:t>IS</a:t>
            </a:r>
            <a:r>
              <a:rPr kumimoji="1" lang="zh-CN" altLang="en-US" sz="1200" dirty="0">
                <a:ea typeface="KaiTi" panose="02010609060101010101" pitchFamily="49" charset="-122"/>
              </a:rPr>
              <a:t>曲线和代表经济存量的</a:t>
            </a:r>
            <a:r>
              <a:rPr kumimoji="1" lang="en-US" altLang="zh-CN" sz="1200" dirty="0">
                <a:ea typeface="KaiTi" panose="02010609060101010101" pitchFamily="49" charset="-122"/>
              </a:rPr>
              <a:t>LM</a:t>
            </a:r>
            <a:r>
              <a:rPr kumimoji="1" lang="zh-CN" altLang="en-US" sz="1200" dirty="0">
                <a:ea typeface="KaiTi" panose="02010609060101010101" pitchFamily="49" charset="-122"/>
              </a:rPr>
              <a:t>曲线放在一起说明货币市场和产品市场均衡的必然性，但实际经济中这只是一种偶然性，并不存在必然性。</a:t>
            </a:r>
            <a:endParaRPr kumimoji="1" lang="en-US" altLang="zh-CN" sz="1200" dirty="0">
              <a:ea typeface="KaiTi" panose="02010609060101010101" pitchFamily="49" charset="-122"/>
            </a:endParaRPr>
          </a:p>
          <a:p>
            <a:r>
              <a:rPr kumimoji="1" lang="zh-CN" altLang="en-US" sz="1200" dirty="0">
                <a:ea typeface="KaiTi" panose="02010609060101010101" pitchFamily="49" charset="-122"/>
              </a:rPr>
              <a:t>第二，模型强调了总需求的作用，却将供给端完全排除在外。</a:t>
            </a:r>
            <a:endParaRPr kumimoji="1" lang="en-US" altLang="zh-CN" sz="1200" dirty="0">
              <a:ea typeface="KaiTi" panose="02010609060101010101" pitchFamily="49" charset="-122"/>
            </a:endParaRPr>
          </a:p>
          <a:p>
            <a:r>
              <a:rPr kumimoji="1" lang="zh-CN" altLang="en-US" sz="1200" dirty="0">
                <a:ea typeface="KaiTi" panose="02010609060101010101" pitchFamily="49" charset="-122"/>
              </a:rPr>
              <a:t>第三，模型强调了利率对总需求的作用，却忽视了价格对于总需求和总供给的作用。</a:t>
            </a:r>
            <a:endParaRPr kumimoji="1" lang="en-US" altLang="zh-CN" sz="1200" dirty="0">
              <a:ea typeface="KaiTi" panose="02010609060101010101" pitchFamily="49" charset="-122"/>
            </a:endParaRPr>
          </a:p>
          <a:p>
            <a:r>
              <a:rPr kumimoji="1" lang="zh-CN" altLang="en-US" sz="1200" dirty="0">
                <a:ea typeface="KaiTi" panose="02010609060101010101" pitchFamily="49" charset="-122"/>
              </a:rPr>
              <a:t>第四，模型基本上是以静态分析来说明经济运行，没有设计动态的问题。</a:t>
            </a:r>
            <a:endParaRPr kumimoji="1" lang="en-US" altLang="zh-CN" sz="1200" dirty="0">
              <a:ea typeface="KaiTi" panose="02010609060101010101" pitchFamily="49" charset="-122"/>
            </a:endParaRPr>
          </a:p>
          <a:p>
            <a:r>
              <a:rPr kumimoji="1" lang="zh-CN" altLang="en-US" sz="1200" dirty="0">
                <a:ea typeface="KaiTi" panose="02010609060101010101" pitchFamily="49" charset="-122"/>
              </a:rPr>
              <a:t>第五，模型没有全面反映凯恩斯的思想，如凯恩斯强调的消费需求、资本边际效率对</a:t>
            </a:r>
            <a:r>
              <a:rPr kumimoji="1" lang="zh-CN" altLang="en-US" sz="1200">
                <a:ea typeface="KaiTi" panose="02010609060101010101" pitchFamily="49" charset="-122"/>
              </a:rPr>
              <a:t>投资不确定性的</a:t>
            </a:r>
            <a:r>
              <a:rPr kumimoji="1" lang="zh-CN" altLang="en-US" sz="1200" dirty="0">
                <a:ea typeface="KaiTi" panose="02010609060101010101" pitchFamily="49" charset="-122"/>
              </a:rPr>
              <a:t>影响等都没有直接反映到模型中。</a:t>
            </a:r>
          </a:p>
        </p:txBody>
      </p:sp>
      <p:sp>
        <p:nvSpPr>
          <p:cNvPr id="4" name="页脚占位符 3">
            <a:extLst>
              <a:ext uri="{FF2B5EF4-FFF2-40B4-BE49-F238E27FC236}">
                <a16:creationId xmlns:a16="http://schemas.microsoft.com/office/drawing/2014/main" id="{1E68FB12-A53E-B57E-1531-A8705C329556}"/>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B0484C1-B073-A849-C2A2-C8BE93BDB2D3}"/>
              </a:ext>
            </a:extLst>
          </p:cNvPr>
          <p:cNvSpPr>
            <a:spLocks noGrp="1"/>
          </p:cNvSpPr>
          <p:nvPr>
            <p:ph type="sldNum" sz="quarter" idx="11"/>
          </p:nvPr>
        </p:nvSpPr>
        <p:spPr/>
        <p:txBody>
          <a:bodyPr/>
          <a:lstStyle/>
          <a:p>
            <a:fld id="{FF75CA96-F32A-7F4F-98C9-CA940BD9BB90}" type="slidenum">
              <a:rPr lang="zh-CN" altLang="zh-CN" smtClean="0"/>
              <a:pPr/>
              <a:t>100</a:t>
            </a:fld>
            <a:endParaRPr lang="en-US" altLang="zh-CN"/>
          </a:p>
        </p:txBody>
      </p:sp>
    </p:spTree>
    <p:extLst>
      <p:ext uri="{BB962C8B-B14F-4D97-AF65-F5344CB8AC3E}">
        <p14:creationId xmlns:p14="http://schemas.microsoft.com/office/powerpoint/2010/main" val="38323232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9E3FA-7483-C433-A0FB-EB4BA606830F}"/>
              </a:ext>
            </a:extLst>
          </p:cNvPr>
          <p:cNvSpPr>
            <a:spLocks noGrp="1"/>
          </p:cNvSpPr>
          <p:nvPr>
            <p:ph type="title"/>
          </p:nvPr>
        </p:nvSpPr>
        <p:spPr/>
        <p:txBody>
          <a:bodyPr/>
          <a:lstStyle/>
          <a:p>
            <a:r>
              <a:rPr kumimoji="1" lang="zh-CN" altLang="en-US" dirty="0"/>
              <a:t>对货币需求理论的评析</a:t>
            </a:r>
          </a:p>
        </p:txBody>
      </p:sp>
      <p:sp>
        <p:nvSpPr>
          <p:cNvPr id="3" name="内容占位符 2">
            <a:extLst>
              <a:ext uri="{FF2B5EF4-FFF2-40B4-BE49-F238E27FC236}">
                <a16:creationId xmlns:a16="http://schemas.microsoft.com/office/drawing/2014/main" id="{E4BDCEEC-5E48-BAC1-CDD8-2A0C37A48E7B}"/>
              </a:ext>
            </a:extLst>
          </p:cNvPr>
          <p:cNvSpPr>
            <a:spLocks noGrp="1"/>
          </p:cNvSpPr>
          <p:nvPr>
            <p:ph idx="1"/>
          </p:nvPr>
        </p:nvSpPr>
        <p:spPr/>
        <p:txBody>
          <a:bodyPr/>
          <a:lstStyle/>
          <a:p>
            <a:r>
              <a:rPr kumimoji="1" lang="zh-CN" altLang="en-US" sz="1200" dirty="0">
                <a:solidFill>
                  <a:srgbClr val="C00000"/>
                </a:solidFill>
                <a:latin typeface="SimSun" panose="02010600030101010101" pitchFamily="2" charset="-122"/>
              </a:rPr>
              <a:t>古典主义：</a:t>
            </a:r>
            <a:r>
              <a:rPr kumimoji="1" lang="zh-CN" altLang="en-US" sz="1200" dirty="0">
                <a:ea typeface="KaiTi" panose="02010609060101010101" pitchFamily="49" charset="-122"/>
              </a:rPr>
              <a:t>利率和投资，可贷资金市场上的投资资金需求，而非整个货币市场的货币需求</a:t>
            </a:r>
            <a:endParaRPr kumimoji="1" lang="en-US" altLang="zh-CN" sz="1200" dirty="0">
              <a:ea typeface="KaiTi" panose="02010609060101010101" pitchFamily="49" charset="-122"/>
            </a:endParaRPr>
          </a:p>
          <a:p>
            <a:r>
              <a:rPr kumimoji="1" lang="zh-CN" altLang="en-US" sz="1200" dirty="0">
                <a:solidFill>
                  <a:srgbClr val="C00000"/>
                </a:solidFill>
                <a:latin typeface="SimSun" panose="02010600030101010101" pitchFamily="2" charset="-122"/>
              </a:rPr>
              <a:t>凯恩斯理论：</a:t>
            </a:r>
            <a:r>
              <a:rPr kumimoji="1" lang="zh-CN" altLang="en-US" sz="1200" dirty="0">
                <a:ea typeface="KaiTi" panose="02010609060101010101" pitchFamily="49" charset="-122"/>
              </a:rPr>
              <a:t>资本边际效率也是投资资金需求的重要因素；三大流动性需求动机（交易动机、谨慎动机、投机动机）</a:t>
            </a:r>
            <a:endParaRPr kumimoji="1" lang="en-US" altLang="zh-CN" sz="1200" dirty="0">
              <a:ea typeface="KaiTi" panose="02010609060101010101" pitchFamily="49" charset="-122"/>
            </a:endParaRPr>
          </a:p>
          <a:p>
            <a:endParaRPr kumimoji="1" lang="zh-CN" altLang="en-US" sz="1200" dirty="0">
              <a:ea typeface="KaiTi" panose="02010609060101010101" pitchFamily="49" charset="-122"/>
            </a:endParaRPr>
          </a:p>
        </p:txBody>
      </p:sp>
      <p:sp>
        <p:nvSpPr>
          <p:cNvPr id="4" name="页脚占位符 3">
            <a:extLst>
              <a:ext uri="{FF2B5EF4-FFF2-40B4-BE49-F238E27FC236}">
                <a16:creationId xmlns:a16="http://schemas.microsoft.com/office/drawing/2014/main" id="{1E68FB12-A53E-B57E-1531-A8705C329556}"/>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B0484C1-B073-A849-C2A2-C8BE93BDB2D3}"/>
              </a:ext>
            </a:extLst>
          </p:cNvPr>
          <p:cNvSpPr>
            <a:spLocks noGrp="1"/>
          </p:cNvSpPr>
          <p:nvPr>
            <p:ph type="sldNum" sz="quarter" idx="11"/>
          </p:nvPr>
        </p:nvSpPr>
        <p:spPr/>
        <p:txBody>
          <a:bodyPr/>
          <a:lstStyle/>
          <a:p>
            <a:fld id="{FF75CA96-F32A-7F4F-98C9-CA940BD9BB90}" type="slidenum">
              <a:rPr lang="zh-CN" altLang="zh-CN" smtClean="0"/>
              <a:pPr/>
              <a:t>101</a:t>
            </a:fld>
            <a:endParaRPr lang="en-US" altLang="zh-CN"/>
          </a:p>
        </p:txBody>
      </p:sp>
    </p:spTree>
    <p:extLst>
      <p:ext uri="{BB962C8B-B14F-4D97-AF65-F5344CB8AC3E}">
        <p14:creationId xmlns:p14="http://schemas.microsoft.com/office/powerpoint/2010/main" val="174817737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545879"/>
            <a:ext cx="4415040" cy="368993"/>
          </a:xfrm>
        </p:spPr>
        <p:txBody>
          <a:bodyPr>
            <a:normAutofit fontScale="90000"/>
          </a:bodyPr>
          <a:lstStyle/>
          <a:p>
            <a:pPr algn="ctr"/>
            <a:r>
              <a:rPr kumimoji="1" lang="en-US" altLang="zh-CN" sz="2398" dirty="0"/>
              <a:t>Thanks!</a:t>
            </a:r>
            <a:endParaRPr kumimoji="1" lang="zh-CN" altLang="en-US" sz="2398"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24981</TotalTime>
  <Words>8758</Words>
  <Application>Microsoft Office PowerPoint</Application>
  <PresentationFormat>自定义</PresentationFormat>
  <Paragraphs>863</Paragraphs>
  <Slides>102</Slides>
  <Notes>7</Notes>
  <HiddenSlides>0</HiddenSlides>
  <MMClips>0</MMClips>
  <ScaleCrop>false</ScaleCrop>
  <HeadingPairs>
    <vt:vector size="6" baseType="variant">
      <vt:variant>
        <vt:lpstr>已用的字体</vt:lpstr>
      </vt:variant>
      <vt:variant>
        <vt:i4>20</vt:i4>
      </vt:variant>
      <vt:variant>
        <vt:lpstr>主题</vt:lpstr>
      </vt:variant>
      <vt:variant>
        <vt:i4>8</vt:i4>
      </vt:variant>
      <vt:variant>
        <vt:lpstr>幻灯片标题</vt:lpstr>
      </vt:variant>
      <vt:variant>
        <vt:i4>102</vt:i4>
      </vt:variant>
    </vt:vector>
  </HeadingPairs>
  <TitlesOfParts>
    <vt:vector size="130" baseType="lpstr">
      <vt:lpstr>-apple-system</vt:lpstr>
      <vt:lpstr>Helvetica Neue</vt:lpstr>
      <vt:lpstr>Inter</vt:lpstr>
      <vt:lpstr>DengXian</vt:lpstr>
      <vt:lpstr>DengXian</vt:lpstr>
      <vt:lpstr>SimHei</vt:lpstr>
      <vt:lpstr>KaiTi</vt:lpstr>
      <vt:lpstr>KaiTi</vt:lpstr>
      <vt:lpstr>宋体</vt:lpstr>
      <vt:lpstr>宋体</vt:lpstr>
      <vt:lpstr>Microsoft YaHei</vt:lpstr>
      <vt:lpstr>arial</vt:lpstr>
      <vt:lpstr>arial</vt:lpstr>
      <vt:lpstr>Book Antiqua</vt:lpstr>
      <vt:lpstr>Calibri</vt:lpstr>
      <vt:lpstr>Cambria Math</vt:lpstr>
      <vt:lpstr>Garamond</vt:lpstr>
      <vt:lpstr>Tahoma</vt:lpstr>
      <vt:lpstr>Times New Roman</vt:lpstr>
      <vt:lpstr>Wingdings</vt:lpstr>
      <vt:lpstr>Custom Design</vt:lpstr>
      <vt:lpstr>1_Custom Design</vt:lpstr>
      <vt:lpstr>2_Custom Design</vt:lpstr>
      <vt:lpstr>3_Custom Design</vt:lpstr>
      <vt:lpstr>4_Custom Design</vt:lpstr>
      <vt:lpstr>5_Custom Design</vt:lpstr>
      <vt:lpstr>6_Custom Design</vt:lpstr>
      <vt:lpstr>7_Custom Design</vt:lpstr>
      <vt:lpstr>宏观经济学</vt:lpstr>
      <vt:lpstr>PowerPoint 演示文稿</vt:lpstr>
      <vt:lpstr>PowerPoint 演示文稿</vt:lpstr>
      <vt:lpstr>投资的决策</vt:lpstr>
      <vt:lpstr>投资的决策</vt:lpstr>
      <vt:lpstr>投资函数</vt:lpstr>
      <vt:lpstr>主动学习   1       投资的决定</vt:lpstr>
      <vt:lpstr>主动学习答案   1       投资的决定</vt:lpstr>
      <vt:lpstr>投资曲线</vt:lpstr>
      <vt:lpstr>资本的边际效率</vt:lpstr>
      <vt:lpstr>资本的边际效率</vt:lpstr>
      <vt:lpstr>主动学习          资本的边际效率</vt:lpstr>
      <vt:lpstr>答案       资本的边际效率</vt:lpstr>
      <vt:lpstr>资本的边际效率</vt:lpstr>
      <vt:lpstr>资本边际效率曲线</vt:lpstr>
      <vt:lpstr>资本边际效率曲线</vt:lpstr>
      <vt:lpstr>投资的边际效率曲线</vt:lpstr>
      <vt:lpstr>预期收益与投资</vt:lpstr>
      <vt:lpstr>风险与投资</vt:lpstr>
      <vt:lpstr>托宾Q</vt:lpstr>
      <vt:lpstr>PowerPoint 演示文稿</vt:lpstr>
      <vt:lpstr>IS曲线及其推导</vt:lpstr>
      <vt:lpstr>IS曲线是由投资与利率的关系（投资函数）、储蓄与收入的关系（储蓄函数）、均衡国民收入决定条件（储蓄等于投资）推导出来的：</vt:lpstr>
      <vt:lpstr>主动学习          IS曲线</vt:lpstr>
      <vt:lpstr>参考答案         </vt:lpstr>
      <vt:lpstr>IS曲线的斜率</vt:lpstr>
      <vt:lpstr>IS曲线的斜率</vt:lpstr>
      <vt:lpstr>IS曲线的斜率</vt:lpstr>
      <vt:lpstr>IS曲线的移动</vt:lpstr>
      <vt:lpstr>IS曲线的移动</vt:lpstr>
      <vt:lpstr>IS曲线的移动</vt:lpstr>
      <vt:lpstr>IS曲线的移动</vt:lpstr>
      <vt:lpstr>主动学习          IS曲线</vt:lpstr>
      <vt:lpstr>主动学习          IS曲线</vt:lpstr>
      <vt:lpstr>PowerPoint 演示文稿</vt:lpstr>
      <vt:lpstr>古典学派的利率决定理论</vt:lpstr>
      <vt:lpstr>可贷资金市场的均衡</vt:lpstr>
      <vt:lpstr>利率决定于货币的供给与需求</vt:lpstr>
      <vt:lpstr>货币的供给：货币余额</vt:lpstr>
      <vt:lpstr>货币的供给</vt:lpstr>
      <vt:lpstr>货币市场中的货币供给</vt:lpstr>
      <vt:lpstr>货币供给的衡量</vt:lpstr>
      <vt:lpstr>货币的需求：流动性与流动性偏好</vt:lpstr>
      <vt:lpstr>流动性偏好理论</vt:lpstr>
      <vt:lpstr>流动性偏好陷阱</vt:lpstr>
      <vt:lpstr>利率与货币需求函数</vt:lpstr>
      <vt:lpstr>货币需求函数</vt:lpstr>
      <vt:lpstr>货币需求曲线</vt:lpstr>
      <vt:lpstr>不同收入水平下的货币需求曲线</vt:lpstr>
      <vt:lpstr>货币市场均衡</vt:lpstr>
      <vt:lpstr>货币市场均衡与利率的决定</vt:lpstr>
      <vt:lpstr>收入变化对利率的影响</vt:lpstr>
      <vt:lpstr>央行货币政策对利率的影响</vt:lpstr>
      <vt:lpstr>PowerPoint 演示文稿</vt:lpstr>
      <vt:lpstr>LM曲线及其推导</vt:lpstr>
      <vt:lpstr>LM曲线的推导</vt:lpstr>
      <vt:lpstr>LM曲线及其推导</vt:lpstr>
      <vt:lpstr>LM曲线及其推导</vt:lpstr>
      <vt:lpstr>LM曲线的均衡与非均衡状态</vt:lpstr>
      <vt:lpstr>主动学习  1         LM曲线</vt:lpstr>
      <vt:lpstr>主动学习  2         LM曲线</vt:lpstr>
      <vt:lpstr>参考答案</vt:lpstr>
      <vt:lpstr>LM曲线的斜率</vt:lpstr>
      <vt:lpstr>LM曲线的位置</vt:lpstr>
      <vt:lpstr>LM曲线的移动</vt:lpstr>
      <vt:lpstr>紧缩性货币政策对LM曲线的影响</vt:lpstr>
      <vt:lpstr>PowerPoint 演示文稿</vt:lpstr>
      <vt:lpstr>两个市场同时均衡的利率和收入</vt:lpstr>
      <vt:lpstr>两个市场同时均衡的利率和收入</vt:lpstr>
      <vt:lpstr>非均衡状态与调整路径</vt:lpstr>
      <vt:lpstr>现实的路径</vt:lpstr>
      <vt:lpstr>均衡的变化与经济波动</vt:lpstr>
      <vt:lpstr>均衡的变化与经济波动： IS曲线方面的冲击（财政政策）</vt:lpstr>
      <vt:lpstr>均衡的变化与经济波动：IS曲线</vt:lpstr>
      <vt:lpstr>均衡的变化与经济波动： LM曲线（货币政策）</vt:lpstr>
      <vt:lpstr>产品市场和货币市场共同均衡的调整和变动</vt:lpstr>
      <vt:lpstr>IS- LM 模型的非均衡状态</vt:lpstr>
      <vt:lpstr>主动学习  3        IS-LM 分析</vt:lpstr>
      <vt:lpstr>参考答案        IS-LM 分析</vt:lpstr>
      <vt:lpstr>参考答案        IS-LM 分析</vt:lpstr>
      <vt:lpstr>挤出效应</vt:lpstr>
      <vt:lpstr>PowerPoint 演示文稿</vt:lpstr>
      <vt:lpstr>总结：凯恩斯的基本理论框架</vt:lpstr>
      <vt:lpstr>我国的银行体系</vt:lpstr>
      <vt:lpstr>案例1: 美联储如何加息？</vt:lpstr>
      <vt:lpstr>PowerPoint 演示文稿</vt:lpstr>
      <vt:lpstr>美联储加息</vt:lpstr>
      <vt:lpstr>美国近两年的加息操作</vt:lpstr>
      <vt:lpstr>PowerPoint 演示文稿</vt:lpstr>
      <vt:lpstr>案例2: 卷入政治漩涡的瑞士银行</vt:lpstr>
      <vt:lpstr>瑞士政府放弃中立立场 </vt:lpstr>
      <vt:lpstr>美国持续打压中国加速了瑞士银行的信用崩塌</vt:lpstr>
      <vt:lpstr>王毅出席第59届慕尼黑安全会议并发表主旨讲话</vt:lpstr>
      <vt:lpstr>硅谷银行倒闭</vt:lpstr>
      <vt:lpstr>硅谷银行倒闭后续</vt:lpstr>
      <vt:lpstr>倒闭仍在持续</vt:lpstr>
      <vt:lpstr>我国部分银行的破产</vt:lpstr>
      <vt:lpstr>PowerPoint 演示文稿</vt:lpstr>
      <vt:lpstr>本章评析</vt:lpstr>
      <vt:lpstr>IS- LM模型的主要问题</vt:lpstr>
      <vt:lpstr>对货币需求理论的评析</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Leo</cp:lastModifiedBy>
  <cp:revision>2776</cp:revision>
  <dcterms:created xsi:type="dcterms:W3CDTF">2022-08-17T03:42:51Z</dcterms:created>
  <dcterms:modified xsi:type="dcterms:W3CDTF">2026-05-28T03:39:01Z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