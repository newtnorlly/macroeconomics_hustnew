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 id="2147483681" r:id="rId2"/>
    <p:sldMasterId id="2147483705" r:id="rId3"/>
    <p:sldMasterId id="2147483717" r:id="rId4"/>
    <p:sldMasterId id="2147483757" r:id="rId5"/>
    <p:sldMasterId id="2147483769" r:id="rId6"/>
    <p:sldMasterId id="2147483794" r:id="rId7"/>
    <p:sldMasterId id="2147483806" r:id="rId8"/>
  </p:sldMasterIdLst>
  <p:notesMasterIdLst>
    <p:notesMasterId r:id="rId66"/>
  </p:notesMasterIdLst>
  <p:sldIdLst>
    <p:sldId id="1097" r:id="rId9"/>
    <p:sldId id="962" r:id="rId10"/>
    <p:sldId id="1308" r:id="rId11"/>
    <p:sldId id="1309" r:id="rId12"/>
    <p:sldId id="1310" r:id="rId13"/>
    <p:sldId id="1311" r:id="rId14"/>
    <p:sldId id="1325" r:id="rId15"/>
    <p:sldId id="1312" r:id="rId16"/>
    <p:sldId id="1313" r:id="rId17"/>
    <p:sldId id="1314" r:id="rId18"/>
    <p:sldId id="1315" r:id="rId19"/>
    <p:sldId id="1317" r:id="rId20"/>
    <p:sldId id="1318" r:id="rId21"/>
    <p:sldId id="1319" r:id="rId22"/>
    <p:sldId id="1320" r:id="rId23"/>
    <p:sldId id="1321" r:id="rId24"/>
    <p:sldId id="1322" r:id="rId25"/>
    <p:sldId id="1323" r:id="rId26"/>
    <p:sldId id="1324" r:id="rId27"/>
    <p:sldId id="498" r:id="rId28"/>
    <p:sldId id="499" r:id="rId29"/>
    <p:sldId id="1328" r:id="rId30"/>
    <p:sldId id="502" r:id="rId31"/>
    <p:sldId id="504" r:id="rId32"/>
    <p:sldId id="505" r:id="rId33"/>
    <p:sldId id="503" r:id="rId34"/>
    <p:sldId id="506" r:id="rId35"/>
    <p:sldId id="1329" r:id="rId36"/>
    <p:sldId id="1327" r:id="rId37"/>
    <p:sldId id="508" r:id="rId38"/>
    <p:sldId id="509" r:id="rId39"/>
    <p:sldId id="510" r:id="rId40"/>
    <p:sldId id="511" r:id="rId41"/>
    <p:sldId id="512" r:id="rId42"/>
    <p:sldId id="513" r:id="rId43"/>
    <p:sldId id="514" r:id="rId44"/>
    <p:sldId id="515" r:id="rId45"/>
    <p:sldId id="516" r:id="rId46"/>
    <p:sldId id="1330" r:id="rId47"/>
    <p:sldId id="517" r:id="rId48"/>
    <p:sldId id="519" r:id="rId49"/>
    <p:sldId id="520" r:id="rId50"/>
    <p:sldId id="521" r:id="rId51"/>
    <p:sldId id="1332" r:id="rId52"/>
    <p:sldId id="1333" r:id="rId53"/>
    <p:sldId id="522" r:id="rId54"/>
    <p:sldId id="540" r:id="rId55"/>
    <p:sldId id="541" r:id="rId56"/>
    <p:sldId id="523" r:id="rId57"/>
    <p:sldId id="1334" r:id="rId58"/>
    <p:sldId id="542" r:id="rId59"/>
    <p:sldId id="525" r:id="rId60"/>
    <p:sldId id="526" r:id="rId61"/>
    <p:sldId id="527" r:id="rId62"/>
    <p:sldId id="543" r:id="rId63"/>
    <p:sldId id="528" r:id="rId64"/>
    <p:sldId id="367" r:id="rId65"/>
  </p:sldIdLst>
  <p:sldSz cx="4610100" cy="3460750"/>
  <p:notesSz cx="4610100" cy="34607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B591DDA-E7B4-E04D-B3E3-4101BC46824A}">
          <p14:sldIdLst>
            <p14:sldId id="1097"/>
            <p14:sldId id="962"/>
          </p14:sldIdLst>
        </p14:section>
        <p14:section name="投资需求" id="{67B13FD6-A9D1-4042-8509-111C0CCF2A12}">
          <p14:sldIdLst>
            <p14:sldId id="1308"/>
            <p14:sldId id="1309"/>
            <p14:sldId id="1310"/>
            <p14:sldId id="1311"/>
            <p14:sldId id="1325"/>
            <p14:sldId id="1312"/>
            <p14:sldId id="1313"/>
            <p14:sldId id="1314"/>
            <p14:sldId id="1315"/>
            <p14:sldId id="1317"/>
            <p14:sldId id="1318"/>
            <p14:sldId id="1319"/>
            <p14:sldId id="1320"/>
            <p14:sldId id="1321"/>
            <p14:sldId id="1322"/>
            <p14:sldId id="1323"/>
          </p14:sldIdLst>
        </p14:section>
        <p14:section name="第二节 IS曲线" id="{44EB3E03-6332-4ADC-9840-0504D9352350}">
          <p14:sldIdLst>
            <p14:sldId id="1324"/>
            <p14:sldId id="498"/>
            <p14:sldId id="499"/>
            <p14:sldId id="1328"/>
            <p14:sldId id="502"/>
            <p14:sldId id="504"/>
            <p14:sldId id="505"/>
            <p14:sldId id="503"/>
            <p14:sldId id="506"/>
            <p14:sldId id="1329"/>
          </p14:sldIdLst>
        </p14:section>
        <p14:section name="第三节 利率的决定" id="{E81477E4-113C-44D7-89C4-97DFD0DF9B0E}">
          <p14:sldIdLst>
            <p14:sldId id="1327"/>
            <p14:sldId id="508"/>
            <p14:sldId id="509"/>
            <p14:sldId id="510"/>
            <p14:sldId id="511"/>
            <p14:sldId id="512"/>
            <p14:sldId id="513"/>
            <p14:sldId id="514"/>
            <p14:sldId id="515"/>
            <p14:sldId id="516"/>
          </p14:sldIdLst>
        </p14:section>
        <p14:section name="第四节 LM曲线" id="{EEF8721E-8B25-4B9B-BA0F-E3DF59465B04}">
          <p14:sldIdLst>
            <p14:sldId id="1330"/>
            <p14:sldId id="517"/>
            <p14:sldId id="519"/>
            <p14:sldId id="520"/>
            <p14:sldId id="521"/>
            <p14:sldId id="1332"/>
            <p14:sldId id="1333"/>
            <p14:sldId id="522"/>
            <p14:sldId id="540"/>
            <p14:sldId id="541"/>
            <p14:sldId id="523"/>
          </p14:sldIdLst>
        </p14:section>
        <p14:section name="第五节  IS-LM分析" id="{3F6FA362-D72A-4A10-A7B1-FEB29FC16DFC}">
          <p14:sldIdLst>
            <p14:sldId id="1334"/>
            <p14:sldId id="542"/>
            <p14:sldId id="525"/>
            <p14:sldId id="526"/>
            <p14:sldId id="527"/>
            <p14:sldId id="543"/>
            <p14:sldId id="528"/>
            <p14:sldId id="367"/>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B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433"/>
    <p:restoredTop sz="95659"/>
  </p:normalViewPr>
  <p:slideViewPr>
    <p:cSldViewPr>
      <p:cViewPr varScale="1">
        <p:scale>
          <a:sx n="225" d="100"/>
          <a:sy n="225" d="100"/>
        </p:scale>
        <p:origin x="752" y="176"/>
      </p:cViewPr>
      <p:guideLst>
        <p:guide orient="horz" pos="2880"/>
        <p:guide pos="216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presProps" Target="presProp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2E002F3-C090-FD4F-93E3-8CAD6EC2E916}" type="datetimeFigureOut">
              <a:rPr kumimoji="1" lang="zh-CN" altLang="en-US" smtClean="0"/>
              <a:t>2024/5/15</a:t>
            </a:fld>
            <a:endParaRPr kumimoji="1" lang="zh-CN" altLang="en-US"/>
          </a:p>
        </p:txBody>
      </p:sp>
      <p:sp>
        <p:nvSpPr>
          <p:cNvPr id="4" name="幻灯片图像占位符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0DCDE1B-E8D0-FE4B-8B2C-D7C099D60E23}" type="slidenum">
              <a:rPr kumimoji="1" lang="zh-CN" altLang="en-US" smtClean="0"/>
              <a:t>‹#›</a:t>
            </a:fld>
            <a:endParaRPr kumimoji="1" lang="zh-CN" altLang="en-US"/>
          </a:p>
        </p:txBody>
      </p:sp>
    </p:spTree>
    <p:extLst>
      <p:ext uri="{BB962C8B-B14F-4D97-AF65-F5344CB8AC3E}">
        <p14:creationId xmlns:p14="http://schemas.microsoft.com/office/powerpoint/2010/main" val="2530736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44858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4199985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1062031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35567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355154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1146266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67215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1320950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3077325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103922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1460289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2F37E0-C852-4FFB-1755-F550F9BD7235}"/>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4BC59AA2-0437-7173-11E0-8D0F98A3BC88}"/>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Tree>
    <p:extLst>
      <p:ext uri="{BB962C8B-B14F-4D97-AF65-F5344CB8AC3E}">
        <p14:creationId xmlns:p14="http://schemas.microsoft.com/office/powerpoint/2010/main" val="2930215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205F85-C401-C788-F944-B7A6EF9F5A3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878F71-FEA1-EE7B-1943-3174F5DF435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369827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A8ECA0-53F7-9BF2-0237-4430EDA38EF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BBBE9AE-68BE-4F14-7E9E-B51AB88A4FC8}"/>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Tree>
    <p:extLst>
      <p:ext uri="{BB962C8B-B14F-4D97-AF65-F5344CB8AC3E}">
        <p14:creationId xmlns:p14="http://schemas.microsoft.com/office/powerpoint/2010/main" val="2528419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A03B3-25E5-4C62-85E6-9EDAE444EC0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434D33-945F-D635-6177-D0A5D9B20594}"/>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C2C5F6F-CF55-8761-4967-F2027A71245A}"/>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531395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B39FF-E59D-0F20-4506-2991DD9837C2}"/>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C7B0B73-1810-56A5-037F-05B62BC2322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DB74764-D1E4-87B9-2A12-7EF9E319F3EA}"/>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17A4EDC-DD11-8B0A-759C-780955B22EEC}"/>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966A007-4E75-AD89-E528-335EA2299858}"/>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738791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C980A7-C011-6EC5-1586-E55EF40C7114}"/>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3668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1618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C8A52-4877-26AA-1415-1C613EE5600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498628B-71CD-B8FC-CE63-5A6A5916B4E0}"/>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1A28FB9-3306-776E-62C8-50EA1BC1729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1491097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CD4825-4941-C57A-51D9-10AC7BA87C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5BBFA41E-64CF-A958-73D4-BF8C7AB56E35}"/>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EEAC0442-E05E-FD75-82B5-2EBAA9D6238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27908523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2C798-DBA1-EF46-97F2-1111BF8DEB3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ECDDE83-F4C9-1804-E5EC-A6BBDFAAA88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040779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E07FA61-BABF-D675-25FB-6EFF371899A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653B934-A955-27C0-8F26-BA03D897A7C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1047503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551697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431917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2491379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28083967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1318090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3364824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36946089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20448488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9838563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3908630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40267211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62E093A-D4FD-FF0C-95A6-C95C6AF75C83}"/>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D05A7577-1BD5-859B-AE64-3998BB53ECDA}"/>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D915076C-AFFB-C633-27A1-51C9AB40AD0C}"/>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9340E616-2EFF-C0CA-68E3-76AC23FABEDA}"/>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2985182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325BE6-9699-A2B3-54A2-EB00933D623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A6E5245-4975-C64F-B820-EF12F8551C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FA18E20B-DA43-1E62-3B6A-E7E85CC88F3A}"/>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46386611-8453-DC2C-881F-26A91F7E6125}"/>
              </a:ext>
            </a:extLst>
          </p:cNvPr>
          <p:cNvSpPr>
            <a:spLocks noGrp="1"/>
          </p:cNvSpPr>
          <p:nvPr>
            <p:ph type="sldNum" sz="quarter" idx="11"/>
          </p:nvPr>
        </p:nvSpPr>
        <p:spPr/>
        <p:txBody>
          <a:bodyPr/>
          <a:lstStyle>
            <a:lvl1pPr>
              <a:defRPr/>
            </a:lvl1pPr>
          </a:lstStyle>
          <a:p>
            <a:fld id="{B051FCA5-A2F0-8E45-9379-80C4F6EBC639}" type="slidenum">
              <a:rPr lang="zh-CN" altLang="zh-CN"/>
              <a:pPr/>
              <a:t>‹#›</a:t>
            </a:fld>
            <a:endParaRPr lang="en-US" altLang="zh-CN"/>
          </a:p>
        </p:txBody>
      </p:sp>
    </p:spTree>
    <p:extLst>
      <p:ext uri="{BB962C8B-B14F-4D97-AF65-F5344CB8AC3E}">
        <p14:creationId xmlns:p14="http://schemas.microsoft.com/office/powerpoint/2010/main" val="1460818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01BE8-F403-5F8D-54E6-181D76DF9E7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B2951E99-6B6A-CEB9-E4FF-4BEB1EC8D6D7}"/>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3470ED46-D259-CBC6-6AD5-152686DBAA9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9FEB97E0-90A2-398F-C708-2E137919814A}"/>
              </a:ext>
            </a:extLst>
          </p:cNvPr>
          <p:cNvSpPr>
            <a:spLocks noGrp="1"/>
          </p:cNvSpPr>
          <p:nvPr>
            <p:ph type="sldNum" sz="quarter" idx="11"/>
          </p:nvPr>
        </p:nvSpPr>
        <p:spPr/>
        <p:txBody>
          <a:bodyPr/>
          <a:lstStyle>
            <a:lvl1pPr>
              <a:defRPr/>
            </a:lvl1pPr>
          </a:lstStyle>
          <a:p>
            <a:fld id="{BD1BE090-09CA-8344-BCD4-B802B0B806EE}" type="slidenum">
              <a:rPr lang="zh-CN" altLang="zh-CN"/>
              <a:pPr/>
              <a:t>‹#›</a:t>
            </a:fld>
            <a:endParaRPr lang="en-US" altLang="zh-CN"/>
          </a:p>
        </p:txBody>
      </p:sp>
    </p:spTree>
    <p:extLst>
      <p:ext uri="{BB962C8B-B14F-4D97-AF65-F5344CB8AC3E}">
        <p14:creationId xmlns:p14="http://schemas.microsoft.com/office/powerpoint/2010/main" val="16098969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E6A088-A5E4-F23C-1700-F5F066FE6C3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E0970F3-C3D9-964A-601F-6142319E2961}"/>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194ADB4-4C60-8D4C-13A2-205500FAC3E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F20EB24-2C7B-1A84-305C-158FA3CBB16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610662FC-3123-AF7F-D290-838239580342}"/>
              </a:ext>
            </a:extLst>
          </p:cNvPr>
          <p:cNvSpPr>
            <a:spLocks noGrp="1"/>
          </p:cNvSpPr>
          <p:nvPr>
            <p:ph type="sldNum" sz="quarter" idx="11"/>
          </p:nvPr>
        </p:nvSpPr>
        <p:spPr/>
        <p:txBody>
          <a:bodyPr/>
          <a:lstStyle>
            <a:lvl1pPr>
              <a:defRPr/>
            </a:lvl1pPr>
          </a:lstStyle>
          <a:p>
            <a:fld id="{1F402D5B-4EF6-DD4B-B320-396F64754D48}" type="slidenum">
              <a:rPr lang="zh-CN" altLang="zh-CN"/>
              <a:pPr/>
              <a:t>‹#›</a:t>
            </a:fld>
            <a:endParaRPr lang="en-US" altLang="zh-CN"/>
          </a:p>
        </p:txBody>
      </p:sp>
    </p:spTree>
    <p:extLst>
      <p:ext uri="{BB962C8B-B14F-4D97-AF65-F5344CB8AC3E}">
        <p14:creationId xmlns:p14="http://schemas.microsoft.com/office/powerpoint/2010/main" val="34818368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DA780-E1BE-F5C9-B88A-E0FC50821476}"/>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6211110-B16B-2F66-FCAC-9B252B06AAEB}"/>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39BA422-FD5C-F0C4-755F-BBA6ACC00800}"/>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D8998F8-5F36-0CB1-7E95-79943212C95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E13E449-2E5B-742F-327B-DE0E937105AD}"/>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20108D55-DFD0-16C1-E974-1B8C5DD2B29B}"/>
              </a:ext>
            </a:extLst>
          </p:cNvPr>
          <p:cNvSpPr>
            <a:spLocks noGrp="1"/>
          </p:cNvSpPr>
          <p:nvPr>
            <p:ph type="ftr" sz="quarter" idx="10"/>
          </p:nvPr>
        </p:nvSpPr>
        <p:spPr/>
        <p:txBody>
          <a:bodyPr/>
          <a:lstStyle>
            <a:lvl1pPr>
              <a:defRPr/>
            </a:lvl1pPr>
          </a:lstStyle>
          <a:p>
            <a:r>
              <a:rPr lang="zh-CN" altLang="zh-CN"/>
              <a:t>失业</a:t>
            </a:r>
          </a:p>
        </p:txBody>
      </p:sp>
      <p:sp>
        <p:nvSpPr>
          <p:cNvPr id="8" name="灯片编号占位符 7">
            <a:extLst>
              <a:ext uri="{FF2B5EF4-FFF2-40B4-BE49-F238E27FC236}">
                <a16:creationId xmlns:a16="http://schemas.microsoft.com/office/drawing/2014/main" id="{87542D1F-8FF4-0AAD-7CFD-885387B04B2B}"/>
              </a:ext>
            </a:extLst>
          </p:cNvPr>
          <p:cNvSpPr>
            <a:spLocks noGrp="1"/>
          </p:cNvSpPr>
          <p:nvPr>
            <p:ph type="sldNum" sz="quarter" idx="11"/>
          </p:nvPr>
        </p:nvSpPr>
        <p:spPr/>
        <p:txBody>
          <a:bodyPr/>
          <a:lstStyle>
            <a:lvl1pPr>
              <a:defRPr/>
            </a:lvl1pPr>
          </a:lstStyle>
          <a:p>
            <a:fld id="{4F0A2AC6-4DC9-4A48-BB4A-60AD3ABC5960}" type="slidenum">
              <a:rPr lang="zh-CN" altLang="zh-CN"/>
              <a:pPr/>
              <a:t>‹#›</a:t>
            </a:fld>
            <a:endParaRPr lang="en-US" altLang="zh-CN"/>
          </a:p>
        </p:txBody>
      </p:sp>
    </p:spTree>
    <p:extLst>
      <p:ext uri="{BB962C8B-B14F-4D97-AF65-F5344CB8AC3E}">
        <p14:creationId xmlns:p14="http://schemas.microsoft.com/office/powerpoint/2010/main" val="3523028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354EA3-095D-A3E1-D232-795E1833FF0B}"/>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EEDE4DB-A6F6-EF2F-2DE5-9D75FD9BE5E6}"/>
              </a:ext>
            </a:extLst>
          </p:cNvPr>
          <p:cNvSpPr>
            <a:spLocks noGrp="1"/>
          </p:cNvSpPr>
          <p:nvPr>
            <p:ph type="ftr" sz="quarter" idx="10"/>
          </p:nvPr>
        </p:nvSpPr>
        <p:spPr/>
        <p:txBody>
          <a:bodyPr/>
          <a:lstStyle>
            <a:lvl1pPr>
              <a:defRPr/>
            </a:lvl1pPr>
          </a:lstStyle>
          <a:p>
            <a:r>
              <a:rPr lang="zh-CN" altLang="zh-CN"/>
              <a:t>失业</a:t>
            </a:r>
          </a:p>
        </p:txBody>
      </p:sp>
      <p:sp>
        <p:nvSpPr>
          <p:cNvPr id="4" name="灯片编号占位符 3">
            <a:extLst>
              <a:ext uri="{FF2B5EF4-FFF2-40B4-BE49-F238E27FC236}">
                <a16:creationId xmlns:a16="http://schemas.microsoft.com/office/drawing/2014/main" id="{F2A50AC6-89C4-B1F5-8123-5AB3994B2E6F}"/>
              </a:ext>
            </a:extLst>
          </p:cNvPr>
          <p:cNvSpPr>
            <a:spLocks noGrp="1"/>
          </p:cNvSpPr>
          <p:nvPr>
            <p:ph type="sldNum" sz="quarter" idx="11"/>
          </p:nvPr>
        </p:nvSpPr>
        <p:spPr/>
        <p:txBody>
          <a:bodyPr/>
          <a:lstStyle>
            <a:lvl1pPr>
              <a:defRPr/>
            </a:lvl1pPr>
          </a:lstStyle>
          <a:p>
            <a:fld id="{5F23D4F0-0404-334E-A4EB-1C015BC63AFF}" type="slidenum">
              <a:rPr lang="zh-CN" altLang="zh-CN"/>
              <a:pPr/>
              <a:t>‹#›</a:t>
            </a:fld>
            <a:endParaRPr lang="en-US" altLang="zh-CN"/>
          </a:p>
        </p:txBody>
      </p:sp>
    </p:spTree>
    <p:extLst>
      <p:ext uri="{BB962C8B-B14F-4D97-AF65-F5344CB8AC3E}">
        <p14:creationId xmlns:p14="http://schemas.microsoft.com/office/powerpoint/2010/main" val="3266898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2F40646-60A2-E4E4-21C8-DBC2F7C5CE9C}"/>
              </a:ext>
            </a:extLst>
          </p:cNvPr>
          <p:cNvSpPr>
            <a:spLocks noGrp="1"/>
          </p:cNvSpPr>
          <p:nvPr>
            <p:ph type="ftr" sz="quarter" idx="10"/>
          </p:nvPr>
        </p:nvSpPr>
        <p:spPr/>
        <p:txBody>
          <a:bodyPr/>
          <a:lstStyle>
            <a:lvl1pPr>
              <a:defRPr/>
            </a:lvl1pPr>
          </a:lstStyle>
          <a:p>
            <a:r>
              <a:rPr lang="zh-CN" altLang="zh-CN"/>
              <a:t>失业</a:t>
            </a:r>
          </a:p>
        </p:txBody>
      </p:sp>
      <p:sp>
        <p:nvSpPr>
          <p:cNvPr id="3" name="灯片编号占位符 2">
            <a:extLst>
              <a:ext uri="{FF2B5EF4-FFF2-40B4-BE49-F238E27FC236}">
                <a16:creationId xmlns:a16="http://schemas.microsoft.com/office/drawing/2014/main" id="{2852A371-1A45-C904-A1CC-354A2C05F7A3}"/>
              </a:ext>
            </a:extLst>
          </p:cNvPr>
          <p:cNvSpPr>
            <a:spLocks noGrp="1"/>
          </p:cNvSpPr>
          <p:nvPr>
            <p:ph type="sldNum" sz="quarter" idx="11"/>
          </p:nvPr>
        </p:nvSpPr>
        <p:spPr/>
        <p:txBody>
          <a:bodyPr/>
          <a:lstStyle>
            <a:lvl1pPr>
              <a:defRPr/>
            </a:lvl1pPr>
          </a:lstStyle>
          <a:p>
            <a:fld id="{0EBDC2B9-F60A-AA4B-90BB-05AE46850CFA}" type="slidenum">
              <a:rPr lang="zh-CN" altLang="zh-CN"/>
              <a:pPr/>
              <a:t>‹#›</a:t>
            </a:fld>
            <a:endParaRPr lang="en-US" altLang="zh-CN"/>
          </a:p>
        </p:txBody>
      </p:sp>
    </p:spTree>
    <p:extLst>
      <p:ext uri="{BB962C8B-B14F-4D97-AF65-F5344CB8AC3E}">
        <p14:creationId xmlns:p14="http://schemas.microsoft.com/office/powerpoint/2010/main" val="8390502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52F29-BFA5-898F-A520-0A75CA6B3D71}"/>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9DAA7428-2BE1-7B38-AAEF-CB8A856A671B}"/>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2A15505-FA00-D873-A269-1CA68B069BA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30D1603-D265-D9D7-8BAF-EA59E8C91DBD}"/>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7BC7CD3E-0FB6-9F93-BD8F-8447E990AFDC}"/>
              </a:ext>
            </a:extLst>
          </p:cNvPr>
          <p:cNvSpPr>
            <a:spLocks noGrp="1"/>
          </p:cNvSpPr>
          <p:nvPr>
            <p:ph type="sldNum" sz="quarter" idx="11"/>
          </p:nvPr>
        </p:nvSpPr>
        <p:spPr/>
        <p:txBody>
          <a:bodyPr/>
          <a:lstStyle>
            <a:lvl1pPr>
              <a:defRPr/>
            </a:lvl1pPr>
          </a:lstStyle>
          <a:p>
            <a:fld id="{7E24587C-9CDC-4A4D-95D6-4E4C878F19EB}" type="slidenum">
              <a:rPr lang="zh-CN" altLang="zh-CN"/>
              <a:pPr/>
              <a:t>‹#›</a:t>
            </a:fld>
            <a:endParaRPr lang="en-US" altLang="zh-CN"/>
          </a:p>
        </p:txBody>
      </p:sp>
    </p:spTree>
    <p:extLst>
      <p:ext uri="{BB962C8B-B14F-4D97-AF65-F5344CB8AC3E}">
        <p14:creationId xmlns:p14="http://schemas.microsoft.com/office/powerpoint/2010/main" val="22199294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6D7CB6-2815-851C-9963-93BB4B0E4F4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21912FC-2F18-1704-0891-C2EC885EB30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A9DDB3D8-0D11-6BBE-C6A8-9E1ED816CB1E}"/>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ED757EB3-C41B-F71C-9880-15AEA745BA4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F3756959-9B89-40D2-439A-08D16CEE3B49}"/>
              </a:ext>
            </a:extLst>
          </p:cNvPr>
          <p:cNvSpPr>
            <a:spLocks noGrp="1"/>
          </p:cNvSpPr>
          <p:nvPr>
            <p:ph type="sldNum" sz="quarter" idx="11"/>
          </p:nvPr>
        </p:nvSpPr>
        <p:spPr/>
        <p:txBody>
          <a:bodyPr/>
          <a:lstStyle>
            <a:lvl1pPr>
              <a:defRPr/>
            </a:lvl1pPr>
          </a:lstStyle>
          <a:p>
            <a:fld id="{A95D2E13-47B2-EE48-99AA-C099551196A2}" type="slidenum">
              <a:rPr lang="zh-CN" altLang="zh-CN"/>
              <a:pPr/>
              <a:t>‹#›</a:t>
            </a:fld>
            <a:endParaRPr lang="en-US" altLang="zh-CN"/>
          </a:p>
        </p:txBody>
      </p:sp>
    </p:spTree>
    <p:extLst>
      <p:ext uri="{BB962C8B-B14F-4D97-AF65-F5344CB8AC3E}">
        <p14:creationId xmlns:p14="http://schemas.microsoft.com/office/powerpoint/2010/main" val="3336455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9DFBF1-DE1E-869F-C5EB-F22F72BB7BC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76DBBD4-510B-532F-D5A2-5FA665CCB41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CB52DD2A-C144-F8FE-5D44-71B2FA57BEF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EF1AD0DC-18B8-B97C-537C-144B46BFDAD7}"/>
              </a:ext>
            </a:extLst>
          </p:cNvPr>
          <p:cNvSpPr>
            <a:spLocks noGrp="1"/>
          </p:cNvSpPr>
          <p:nvPr>
            <p:ph type="sldNum" sz="quarter" idx="11"/>
          </p:nvPr>
        </p:nvSpPr>
        <p:spPr/>
        <p:txBody>
          <a:bodyPr/>
          <a:lstStyle>
            <a:lvl1pPr>
              <a:defRPr/>
            </a:lvl1pPr>
          </a:lstStyle>
          <a:p>
            <a:fld id="{2FEF0E8A-4AF6-634E-8D80-88424E2EC811}" type="slidenum">
              <a:rPr lang="zh-CN" altLang="zh-CN"/>
              <a:pPr/>
              <a:t>‹#›</a:t>
            </a:fld>
            <a:endParaRPr lang="en-US" altLang="zh-CN"/>
          </a:p>
        </p:txBody>
      </p:sp>
    </p:spTree>
    <p:extLst>
      <p:ext uri="{BB962C8B-B14F-4D97-AF65-F5344CB8AC3E}">
        <p14:creationId xmlns:p14="http://schemas.microsoft.com/office/powerpoint/2010/main" val="37475970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4B0B9B1-11A6-DDF1-E52F-88C533173952}"/>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31515D9-4FFE-692B-B9C0-4E00B2D5CBF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259D0D84-E918-85ED-5A72-1E53A5050359}"/>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D52B6529-399C-E3F1-76D8-023374BFEA6E}"/>
              </a:ext>
            </a:extLst>
          </p:cNvPr>
          <p:cNvSpPr>
            <a:spLocks noGrp="1"/>
          </p:cNvSpPr>
          <p:nvPr>
            <p:ph type="sldNum" sz="quarter" idx="11"/>
          </p:nvPr>
        </p:nvSpPr>
        <p:spPr/>
        <p:txBody>
          <a:bodyPr/>
          <a:lstStyle>
            <a:lvl1pPr>
              <a:defRPr/>
            </a:lvl1pPr>
          </a:lstStyle>
          <a:p>
            <a:fld id="{B31C5811-928D-9447-A160-1F09DAF9FA61}" type="slidenum">
              <a:rPr lang="zh-CN" altLang="zh-CN"/>
              <a:pPr/>
              <a:t>‹#›</a:t>
            </a:fld>
            <a:endParaRPr lang="en-US" altLang="zh-CN"/>
          </a:p>
        </p:txBody>
      </p:sp>
    </p:spTree>
    <p:extLst>
      <p:ext uri="{BB962C8B-B14F-4D97-AF65-F5344CB8AC3E}">
        <p14:creationId xmlns:p14="http://schemas.microsoft.com/office/powerpoint/2010/main" val="13140784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5"/>
            <a:ext cx="4610100" cy="216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6"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1"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8">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0865776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zh-CN" altLang="en-US" dirty="0"/>
              <a:t>均衡国民收入的决定</a:t>
            </a:r>
            <a:endParaRPr lang="zh-CN" altLang="zh-CN" dirty="0"/>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23108578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24272280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18080346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7261336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9009955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0539122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870789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107181501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206882926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51640130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4" y="566377"/>
            <a:ext cx="3457575" cy="1204854"/>
          </a:xfrm>
        </p:spPr>
        <p:txBody>
          <a:bodyPr anchor="b"/>
          <a:lstStyle>
            <a:lvl1pPr algn="ctr">
              <a:defRPr sz="3023"/>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4" y="1817696"/>
            <a:ext cx="3457575" cy="835547"/>
          </a:xfrm>
        </p:spPr>
        <p:txBody>
          <a:bodyPr/>
          <a:lstStyle>
            <a:lvl1pPr marL="0" indent="0" algn="ctr">
              <a:buNone/>
              <a:defRPr sz="1209"/>
            </a:lvl1pPr>
            <a:lvl2pPr marL="230329" indent="0" algn="ctr">
              <a:buNone/>
              <a:defRPr sz="1007"/>
            </a:lvl2pPr>
            <a:lvl3pPr marL="460659" indent="0" algn="ctr">
              <a:buNone/>
              <a:defRPr sz="907"/>
            </a:lvl3pPr>
            <a:lvl4pPr marL="690989" indent="0" algn="ctr">
              <a:buNone/>
              <a:defRPr sz="806"/>
            </a:lvl4pPr>
            <a:lvl5pPr marL="921319" indent="0" algn="ctr">
              <a:buNone/>
              <a:defRPr sz="806"/>
            </a:lvl5pPr>
            <a:lvl6pPr marL="1151648" indent="0" algn="ctr">
              <a:buNone/>
              <a:defRPr sz="806"/>
            </a:lvl6pPr>
            <a:lvl7pPr marL="1381977" indent="0" algn="ctr">
              <a:buNone/>
              <a:defRPr sz="806"/>
            </a:lvl7pPr>
            <a:lvl8pPr marL="1612308" indent="0" algn="ctr">
              <a:buNone/>
              <a:defRPr sz="806"/>
            </a:lvl8pPr>
            <a:lvl9pPr marL="1842637" indent="0" algn="ctr">
              <a:buNone/>
              <a:defRPr sz="806"/>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421202055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lvl1pPr>
              <a:defRPr b="0">
                <a:latin typeface="Microsoft YaHei" panose="020B0503020204020204" pitchFamily="34" charset="-122"/>
                <a:ea typeface="Microsoft YaHei" panose="020B0503020204020204" pitchFamily="34" charset="-122"/>
              </a:defRPr>
            </a:lvl1p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sz="800"/>
            </a:lvl1pPr>
          </a:lstStyle>
          <a:p>
            <a:r>
              <a:rPr lang="zh-CN" altLang="zh-CN"/>
              <a:t>生活费用的衡量</a:t>
            </a:r>
            <a:endParaRPr lang="zh-CN" altLang="zh-CN" dirty="0"/>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0938655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47693156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7707752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33464349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285712654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48034570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349863450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85009168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1107896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221563045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913AEBC-FA56-78FC-EAEB-10DA04C92989}"/>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AD05D23-97CC-48BC-410F-61A2D120A5FD}"/>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7DF4076F-8EC8-654B-EA7B-B1957B306900}"/>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4D144554-1F7F-5489-ED13-15E41282E73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120190614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865C76-1E8C-DDA6-955B-EBDD5BB43EA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652C2C5-0D52-EA0C-48F5-B1188CDA762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990271-A6A1-BE5C-399F-E82D486146D8}"/>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A1604FF3-E6AE-2D85-5941-CB1E06EB1432}"/>
              </a:ext>
            </a:extLst>
          </p:cNvPr>
          <p:cNvSpPr>
            <a:spLocks noGrp="1"/>
          </p:cNvSpPr>
          <p:nvPr>
            <p:ph type="sldNum" sz="quarter" idx="11"/>
          </p:nvPr>
        </p:nvSpPr>
        <p:spPr/>
        <p:txBody>
          <a:bodyPr/>
          <a:lstStyle>
            <a:lvl1pPr>
              <a:defRPr/>
            </a:lvl1pPr>
          </a:lstStyle>
          <a:p>
            <a:fld id="{D5F37188-5717-5045-B75B-A8FAB37A0AF3}" type="slidenum">
              <a:rPr lang="zh-CN" altLang="zh-CN"/>
              <a:pPr/>
              <a:t>‹#›</a:t>
            </a:fld>
            <a:endParaRPr lang="en-US" altLang="zh-CN"/>
          </a:p>
        </p:txBody>
      </p:sp>
    </p:spTree>
    <p:extLst>
      <p:ext uri="{BB962C8B-B14F-4D97-AF65-F5344CB8AC3E}">
        <p14:creationId xmlns:p14="http://schemas.microsoft.com/office/powerpoint/2010/main" val="50290866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E38FF-7D26-DA02-36BC-76010B78D783}"/>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055F014-19A5-11AF-B6C7-ED7829230E64}"/>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5E52E18-009A-F26F-E5DA-EC4E9F1E6C2C}"/>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B318359B-4C79-8FA5-7F9C-E7BC409CD90D}"/>
              </a:ext>
            </a:extLst>
          </p:cNvPr>
          <p:cNvSpPr>
            <a:spLocks noGrp="1"/>
          </p:cNvSpPr>
          <p:nvPr>
            <p:ph type="sldNum" sz="quarter" idx="11"/>
          </p:nvPr>
        </p:nvSpPr>
        <p:spPr/>
        <p:txBody>
          <a:bodyPr/>
          <a:lstStyle>
            <a:lvl1pPr>
              <a:defRPr/>
            </a:lvl1pPr>
          </a:lstStyle>
          <a:p>
            <a:fld id="{BC742A95-D2CA-134D-8BA9-2A45D512CDEE}" type="slidenum">
              <a:rPr lang="zh-CN" altLang="zh-CN"/>
              <a:pPr/>
              <a:t>‹#›</a:t>
            </a:fld>
            <a:endParaRPr lang="en-US" altLang="zh-CN"/>
          </a:p>
        </p:txBody>
      </p:sp>
    </p:spTree>
    <p:extLst>
      <p:ext uri="{BB962C8B-B14F-4D97-AF65-F5344CB8AC3E}">
        <p14:creationId xmlns:p14="http://schemas.microsoft.com/office/powerpoint/2010/main" val="40090663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7882E8-CA64-CC74-F543-77FA61953A1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CDBBCA1-5E50-95C6-24EE-9CE05F3D7462}"/>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97D37ED-41A9-3CE6-AF2D-0D8BAE53B038}"/>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4BC0E6C4-2AA4-69C2-890C-06793C5E624D}"/>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B6029BD6-F5FB-6AD5-042D-5A6D44850C4B}"/>
              </a:ext>
            </a:extLst>
          </p:cNvPr>
          <p:cNvSpPr>
            <a:spLocks noGrp="1"/>
          </p:cNvSpPr>
          <p:nvPr>
            <p:ph type="sldNum" sz="quarter" idx="11"/>
          </p:nvPr>
        </p:nvSpPr>
        <p:spPr/>
        <p:txBody>
          <a:bodyPr/>
          <a:lstStyle>
            <a:lvl1pPr>
              <a:defRPr/>
            </a:lvl1pPr>
          </a:lstStyle>
          <a:p>
            <a:fld id="{F22C2D04-8537-F544-BF47-F9C134D75DB7}" type="slidenum">
              <a:rPr lang="zh-CN" altLang="zh-CN"/>
              <a:pPr/>
              <a:t>‹#›</a:t>
            </a:fld>
            <a:endParaRPr lang="en-US" altLang="zh-CN"/>
          </a:p>
        </p:txBody>
      </p:sp>
    </p:spTree>
    <p:extLst>
      <p:ext uri="{BB962C8B-B14F-4D97-AF65-F5344CB8AC3E}">
        <p14:creationId xmlns:p14="http://schemas.microsoft.com/office/powerpoint/2010/main" val="7558061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A865EC-42C4-3325-73AD-3A4DDB83D3D9}"/>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25FB373-5687-D3F4-1460-263F3B6E6E7F}"/>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80F3ED-0250-978B-B8FD-2BAE0C78765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39F04-1EB5-F9D6-A37B-DAF1DC91C8FD}"/>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C90B1D5-A84D-D9A4-6C5E-03A931DDEE55}"/>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5D18963C-3A8E-1BE8-DC30-12514288BCC7}"/>
              </a:ext>
            </a:extLst>
          </p:cNvPr>
          <p:cNvSpPr>
            <a:spLocks noGrp="1"/>
          </p:cNvSpPr>
          <p:nvPr>
            <p:ph type="ftr" sz="quarter" idx="10"/>
          </p:nvPr>
        </p:nvSpPr>
        <p:spPr/>
        <p:txBody>
          <a:bodyPr/>
          <a:lstStyle>
            <a:lvl1pPr>
              <a:defRPr/>
            </a:lvl1pPr>
          </a:lstStyle>
          <a:p>
            <a:r>
              <a:rPr lang="zh-CN" altLang="zh-CN"/>
              <a:t>储蓄、投资和金融体系</a:t>
            </a:r>
          </a:p>
        </p:txBody>
      </p:sp>
      <p:sp>
        <p:nvSpPr>
          <p:cNvPr id="8" name="灯片编号占位符 7">
            <a:extLst>
              <a:ext uri="{FF2B5EF4-FFF2-40B4-BE49-F238E27FC236}">
                <a16:creationId xmlns:a16="http://schemas.microsoft.com/office/drawing/2014/main" id="{CB475382-1BAE-A6E8-D2E4-174C61770AE3}"/>
              </a:ext>
            </a:extLst>
          </p:cNvPr>
          <p:cNvSpPr>
            <a:spLocks noGrp="1"/>
          </p:cNvSpPr>
          <p:nvPr>
            <p:ph type="sldNum" sz="quarter" idx="11"/>
          </p:nvPr>
        </p:nvSpPr>
        <p:spPr/>
        <p:txBody>
          <a:bodyPr/>
          <a:lstStyle>
            <a:lvl1pPr>
              <a:defRPr/>
            </a:lvl1pPr>
          </a:lstStyle>
          <a:p>
            <a:fld id="{D9933D98-7208-AF49-B27F-E9412298FFDB}" type="slidenum">
              <a:rPr lang="zh-CN" altLang="zh-CN"/>
              <a:pPr/>
              <a:t>‹#›</a:t>
            </a:fld>
            <a:endParaRPr lang="en-US" altLang="zh-CN"/>
          </a:p>
        </p:txBody>
      </p:sp>
    </p:spTree>
    <p:extLst>
      <p:ext uri="{BB962C8B-B14F-4D97-AF65-F5344CB8AC3E}">
        <p14:creationId xmlns:p14="http://schemas.microsoft.com/office/powerpoint/2010/main" val="155146761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6C815-0C85-9544-A368-1E719111616C}"/>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556DBF23-B046-00A0-A52F-7D34BC94221C}"/>
              </a:ext>
            </a:extLst>
          </p:cNvPr>
          <p:cNvSpPr>
            <a:spLocks noGrp="1"/>
          </p:cNvSpPr>
          <p:nvPr>
            <p:ph type="ftr" sz="quarter" idx="10"/>
          </p:nvPr>
        </p:nvSpPr>
        <p:spPr/>
        <p:txBody>
          <a:bodyPr/>
          <a:lstStyle>
            <a:lvl1pPr>
              <a:defRPr/>
            </a:lvl1pPr>
          </a:lstStyle>
          <a:p>
            <a:r>
              <a:rPr lang="zh-CN" altLang="zh-CN"/>
              <a:t>储蓄、投资和金融体系</a:t>
            </a:r>
          </a:p>
        </p:txBody>
      </p:sp>
      <p:sp>
        <p:nvSpPr>
          <p:cNvPr id="4" name="灯片编号占位符 3">
            <a:extLst>
              <a:ext uri="{FF2B5EF4-FFF2-40B4-BE49-F238E27FC236}">
                <a16:creationId xmlns:a16="http://schemas.microsoft.com/office/drawing/2014/main" id="{1D845473-B82B-769C-B586-234F6D24AE68}"/>
              </a:ext>
            </a:extLst>
          </p:cNvPr>
          <p:cNvSpPr>
            <a:spLocks noGrp="1"/>
          </p:cNvSpPr>
          <p:nvPr>
            <p:ph type="sldNum" sz="quarter" idx="11"/>
          </p:nvPr>
        </p:nvSpPr>
        <p:spPr/>
        <p:txBody>
          <a:bodyPr/>
          <a:lstStyle>
            <a:lvl1pPr>
              <a:defRPr/>
            </a:lvl1pPr>
          </a:lstStyle>
          <a:p>
            <a:fld id="{4CA00277-EA4E-B541-8928-37DC4A2E581D}" type="slidenum">
              <a:rPr lang="zh-CN" altLang="zh-CN"/>
              <a:pPr/>
              <a:t>‹#›</a:t>
            </a:fld>
            <a:endParaRPr lang="en-US" altLang="zh-CN"/>
          </a:p>
        </p:txBody>
      </p:sp>
    </p:spTree>
    <p:extLst>
      <p:ext uri="{BB962C8B-B14F-4D97-AF65-F5344CB8AC3E}">
        <p14:creationId xmlns:p14="http://schemas.microsoft.com/office/powerpoint/2010/main" val="269744783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75551265-6EEE-B36C-4D9A-340B667E1F32}"/>
              </a:ext>
            </a:extLst>
          </p:cNvPr>
          <p:cNvSpPr>
            <a:spLocks noGrp="1"/>
          </p:cNvSpPr>
          <p:nvPr>
            <p:ph type="ftr" sz="quarter" idx="10"/>
          </p:nvPr>
        </p:nvSpPr>
        <p:spPr/>
        <p:txBody>
          <a:bodyPr/>
          <a:lstStyle>
            <a:lvl1pPr>
              <a:defRPr/>
            </a:lvl1pPr>
          </a:lstStyle>
          <a:p>
            <a:r>
              <a:rPr lang="zh-CN" altLang="zh-CN"/>
              <a:t>储蓄、投资和金融体系</a:t>
            </a:r>
          </a:p>
        </p:txBody>
      </p:sp>
      <p:sp>
        <p:nvSpPr>
          <p:cNvPr id="3" name="灯片编号占位符 2">
            <a:extLst>
              <a:ext uri="{FF2B5EF4-FFF2-40B4-BE49-F238E27FC236}">
                <a16:creationId xmlns:a16="http://schemas.microsoft.com/office/drawing/2014/main" id="{BAD24D52-766A-C091-1491-EDC04DBE82AD}"/>
              </a:ext>
            </a:extLst>
          </p:cNvPr>
          <p:cNvSpPr>
            <a:spLocks noGrp="1"/>
          </p:cNvSpPr>
          <p:nvPr>
            <p:ph type="sldNum" sz="quarter" idx="11"/>
          </p:nvPr>
        </p:nvSpPr>
        <p:spPr/>
        <p:txBody>
          <a:bodyPr/>
          <a:lstStyle>
            <a:lvl1pPr>
              <a:defRPr/>
            </a:lvl1pPr>
          </a:lstStyle>
          <a:p>
            <a:fld id="{714CAD9D-8C32-FC49-BC3F-7C78B6FF6B46}" type="slidenum">
              <a:rPr lang="zh-CN" altLang="zh-CN"/>
              <a:pPr/>
              <a:t>‹#›</a:t>
            </a:fld>
            <a:endParaRPr lang="en-US" altLang="zh-CN"/>
          </a:p>
        </p:txBody>
      </p:sp>
    </p:spTree>
    <p:extLst>
      <p:ext uri="{BB962C8B-B14F-4D97-AF65-F5344CB8AC3E}">
        <p14:creationId xmlns:p14="http://schemas.microsoft.com/office/powerpoint/2010/main" val="31445674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CAA1BE-E03B-C0DD-3459-8877A936FA3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C4BBF1E-DD76-D9EB-AAF0-1753F267FFF8}"/>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2CA0124-46D8-3225-FCC8-A066CE19B0F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8682A032-E73B-89F2-808C-B6BF1F62A8A9}"/>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16D41276-A2FD-8D79-A438-26534024B829}"/>
              </a:ext>
            </a:extLst>
          </p:cNvPr>
          <p:cNvSpPr>
            <a:spLocks noGrp="1"/>
          </p:cNvSpPr>
          <p:nvPr>
            <p:ph type="sldNum" sz="quarter" idx="11"/>
          </p:nvPr>
        </p:nvSpPr>
        <p:spPr/>
        <p:txBody>
          <a:bodyPr/>
          <a:lstStyle>
            <a:lvl1pPr>
              <a:defRPr/>
            </a:lvl1pPr>
          </a:lstStyle>
          <a:p>
            <a:fld id="{A1D3D78F-6B90-6F47-99F9-753905A1F931}" type="slidenum">
              <a:rPr lang="zh-CN" altLang="zh-CN"/>
              <a:pPr/>
              <a:t>‹#›</a:t>
            </a:fld>
            <a:endParaRPr lang="en-US" altLang="zh-CN"/>
          </a:p>
        </p:txBody>
      </p:sp>
    </p:spTree>
    <p:extLst>
      <p:ext uri="{BB962C8B-B14F-4D97-AF65-F5344CB8AC3E}">
        <p14:creationId xmlns:p14="http://schemas.microsoft.com/office/powerpoint/2010/main" val="286624785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C7CDEC-CB2E-6AA3-3594-732949BA521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A5423ED-5B55-097A-C9B0-90F5E48035F6}"/>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FA6B09B1-B6DE-00F1-0CAB-97F86987F75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273A380-1AFB-0A19-E943-86D1DB6145DF}"/>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32E32E30-B1E1-A2DD-E1DC-8A779DB2C87D}"/>
              </a:ext>
            </a:extLst>
          </p:cNvPr>
          <p:cNvSpPr>
            <a:spLocks noGrp="1"/>
          </p:cNvSpPr>
          <p:nvPr>
            <p:ph type="sldNum" sz="quarter" idx="11"/>
          </p:nvPr>
        </p:nvSpPr>
        <p:spPr/>
        <p:txBody>
          <a:bodyPr/>
          <a:lstStyle>
            <a:lvl1pPr>
              <a:defRPr/>
            </a:lvl1pPr>
          </a:lstStyle>
          <a:p>
            <a:fld id="{EC7EC5F2-24F3-BF4B-9D15-216FEF53CCAE}" type="slidenum">
              <a:rPr lang="zh-CN" altLang="zh-CN"/>
              <a:pPr/>
              <a:t>‹#›</a:t>
            </a:fld>
            <a:endParaRPr lang="en-US" altLang="zh-CN"/>
          </a:p>
        </p:txBody>
      </p:sp>
    </p:spTree>
    <p:extLst>
      <p:ext uri="{BB962C8B-B14F-4D97-AF65-F5344CB8AC3E}">
        <p14:creationId xmlns:p14="http://schemas.microsoft.com/office/powerpoint/2010/main" val="288188286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EE332B-D91B-9E4E-F5A2-35532BB7968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0D367C6-4DFB-1E9F-1435-8B5633B3B8A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A91252-9271-EC3D-BFD2-24D0CB2E77F2}"/>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3CB13E21-16D5-C5D6-5A22-0FF96FD58202}"/>
              </a:ext>
            </a:extLst>
          </p:cNvPr>
          <p:cNvSpPr>
            <a:spLocks noGrp="1"/>
          </p:cNvSpPr>
          <p:nvPr>
            <p:ph type="sldNum" sz="quarter" idx="11"/>
          </p:nvPr>
        </p:nvSpPr>
        <p:spPr/>
        <p:txBody>
          <a:bodyPr/>
          <a:lstStyle>
            <a:lvl1pPr>
              <a:defRPr/>
            </a:lvl1pPr>
          </a:lstStyle>
          <a:p>
            <a:fld id="{2EE71058-4E43-0542-987D-BF6AFCFF7EBD}" type="slidenum">
              <a:rPr lang="zh-CN" altLang="zh-CN"/>
              <a:pPr/>
              <a:t>‹#›</a:t>
            </a:fld>
            <a:endParaRPr lang="en-US" altLang="zh-CN"/>
          </a:p>
        </p:txBody>
      </p:sp>
    </p:spTree>
    <p:extLst>
      <p:ext uri="{BB962C8B-B14F-4D97-AF65-F5344CB8AC3E}">
        <p14:creationId xmlns:p14="http://schemas.microsoft.com/office/powerpoint/2010/main" val="23761196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CC5A2A0-E392-4435-ECF8-8DDEAB03E7B8}"/>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37D4A8F-3CC8-F529-4BB4-45BCB97FC34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9E9550F-27AC-9823-A68E-1175E6C2E8DE}"/>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EBD5ABBF-6449-9A99-F8C5-4CBA4CC85CF9}"/>
              </a:ext>
            </a:extLst>
          </p:cNvPr>
          <p:cNvSpPr>
            <a:spLocks noGrp="1"/>
          </p:cNvSpPr>
          <p:nvPr>
            <p:ph type="sldNum" sz="quarter" idx="11"/>
          </p:nvPr>
        </p:nvSpPr>
        <p:spPr/>
        <p:txBody>
          <a:bodyPr/>
          <a:lstStyle>
            <a:lvl1pPr>
              <a:defRPr/>
            </a:lvl1pPr>
          </a:lstStyle>
          <a:p>
            <a:fld id="{E5CEB968-BD04-C74A-9891-6C4CFF90FA37}" type="slidenum">
              <a:rPr lang="zh-CN" altLang="zh-CN"/>
              <a:pPr/>
              <a:t>‹#›</a:t>
            </a:fld>
            <a:endParaRPr lang="en-US" altLang="zh-CN"/>
          </a:p>
        </p:txBody>
      </p:sp>
    </p:spTree>
    <p:extLst>
      <p:ext uri="{BB962C8B-B14F-4D97-AF65-F5344CB8AC3E}">
        <p14:creationId xmlns:p14="http://schemas.microsoft.com/office/powerpoint/2010/main" val="6983363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FFDEB9A-FE7D-1051-4208-856E7C05841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7188E2E1-FDA0-B5D9-84B7-A433F1384902}"/>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C756DFC6-196F-9AC3-0581-9BE8CBF55306}"/>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594D3A80-BD5A-1600-3481-C5603DECFE1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79884852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CB5C05-FBDF-341A-CCD0-AC5507CDA41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CC4EF02-FEFF-2C14-F67D-C9236443BA2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5AFC8F56-B222-2532-68E8-91AB4F1C284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53751CAD-20D1-C233-AFA2-0F59BC02DD3A}"/>
              </a:ext>
            </a:extLst>
          </p:cNvPr>
          <p:cNvSpPr>
            <a:spLocks noGrp="1"/>
          </p:cNvSpPr>
          <p:nvPr>
            <p:ph type="sldNum" sz="quarter" idx="11"/>
          </p:nvPr>
        </p:nvSpPr>
        <p:spPr/>
        <p:txBody>
          <a:bodyPr/>
          <a:lstStyle>
            <a:lvl1pPr>
              <a:defRPr/>
            </a:lvl1pPr>
          </a:lstStyle>
          <a:p>
            <a:fld id="{966E1FEE-F2FC-AB4C-B09C-16DD421BF41F}" type="slidenum">
              <a:rPr lang="zh-CN" altLang="zh-CN"/>
              <a:pPr/>
              <a:t>‹#›</a:t>
            </a:fld>
            <a:endParaRPr lang="en-US" altLang="zh-CN"/>
          </a:p>
        </p:txBody>
      </p:sp>
    </p:spTree>
    <p:extLst>
      <p:ext uri="{BB962C8B-B14F-4D97-AF65-F5344CB8AC3E}">
        <p14:creationId xmlns:p14="http://schemas.microsoft.com/office/powerpoint/2010/main" val="367650664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31D654-759B-9A87-1F1C-07FED230FBC1}"/>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D1B27ED2-E212-5434-DC6D-A5855A7A29CD}"/>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7A1E3DD6-909C-B538-ED8D-C0EC7BD25E4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9C943B11-B8B5-2419-BBB2-FD1915E704EE}"/>
              </a:ext>
            </a:extLst>
          </p:cNvPr>
          <p:cNvSpPr>
            <a:spLocks noGrp="1"/>
          </p:cNvSpPr>
          <p:nvPr>
            <p:ph type="sldNum" sz="quarter" idx="11"/>
          </p:nvPr>
        </p:nvSpPr>
        <p:spPr/>
        <p:txBody>
          <a:bodyPr/>
          <a:lstStyle>
            <a:lvl1pPr>
              <a:defRPr/>
            </a:lvl1pPr>
          </a:lstStyle>
          <a:p>
            <a:fld id="{EADFD29E-7D2B-3142-B772-DE78C399DBA5}" type="slidenum">
              <a:rPr lang="zh-CN" altLang="zh-CN"/>
              <a:pPr/>
              <a:t>‹#›</a:t>
            </a:fld>
            <a:endParaRPr lang="en-US" altLang="zh-CN"/>
          </a:p>
        </p:txBody>
      </p:sp>
    </p:spTree>
    <p:extLst>
      <p:ext uri="{BB962C8B-B14F-4D97-AF65-F5344CB8AC3E}">
        <p14:creationId xmlns:p14="http://schemas.microsoft.com/office/powerpoint/2010/main" val="123538557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B537FB-E14A-0949-36FC-23E1C08BCB5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79E38D4-BDAF-20A0-4377-EB8D8AD519B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60A62B9-907E-2A6A-7170-291131D51F3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B95B044-2CCD-7C34-AFE0-EA0664AD298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373743AC-B0C6-4BC9-8A24-B4860D349BD8}"/>
              </a:ext>
            </a:extLst>
          </p:cNvPr>
          <p:cNvSpPr>
            <a:spLocks noGrp="1"/>
          </p:cNvSpPr>
          <p:nvPr>
            <p:ph type="sldNum" sz="quarter" idx="11"/>
          </p:nvPr>
        </p:nvSpPr>
        <p:spPr/>
        <p:txBody>
          <a:bodyPr/>
          <a:lstStyle>
            <a:lvl1pPr>
              <a:defRPr/>
            </a:lvl1pPr>
          </a:lstStyle>
          <a:p>
            <a:fld id="{0C6A780A-0547-204E-9192-A3F4E9799DB5}" type="slidenum">
              <a:rPr lang="zh-CN" altLang="zh-CN"/>
              <a:pPr/>
              <a:t>‹#›</a:t>
            </a:fld>
            <a:endParaRPr lang="en-US" altLang="zh-CN"/>
          </a:p>
        </p:txBody>
      </p:sp>
    </p:spTree>
    <p:extLst>
      <p:ext uri="{BB962C8B-B14F-4D97-AF65-F5344CB8AC3E}">
        <p14:creationId xmlns:p14="http://schemas.microsoft.com/office/powerpoint/2010/main" val="211476028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3F927D-F4AA-1E72-EC35-297C7568824E}"/>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9F7918D-A189-014C-F77D-95C839DE6E05}"/>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C65AE4A-6E2C-F2BA-8924-0A1E12E7387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49748A9-BB39-B407-1D39-9C472037297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C65ADF9-0504-F073-4906-F97098CA2819}"/>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C1ADD6E2-3DD6-A34E-7784-83AE6D95E28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8" name="灯片编号占位符 7">
            <a:extLst>
              <a:ext uri="{FF2B5EF4-FFF2-40B4-BE49-F238E27FC236}">
                <a16:creationId xmlns:a16="http://schemas.microsoft.com/office/drawing/2014/main" id="{E9D17F4C-066C-8A52-0D93-4E5CE5735FF8}"/>
              </a:ext>
            </a:extLst>
          </p:cNvPr>
          <p:cNvSpPr>
            <a:spLocks noGrp="1"/>
          </p:cNvSpPr>
          <p:nvPr>
            <p:ph type="sldNum" sz="quarter" idx="11"/>
          </p:nvPr>
        </p:nvSpPr>
        <p:spPr/>
        <p:txBody>
          <a:bodyPr/>
          <a:lstStyle>
            <a:lvl1pPr>
              <a:defRPr/>
            </a:lvl1pPr>
          </a:lstStyle>
          <a:p>
            <a:fld id="{91298798-A395-3245-907B-C6CC2A9E6D66}" type="slidenum">
              <a:rPr lang="zh-CN" altLang="zh-CN"/>
              <a:pPr/>
              <a:t>‹#›</a:t>
            </a:fld>
            <a:endParaRPr lang="en-US" altLang="zh-CN"/>
          </a:p>
        </p:txBody>
      </p:sp>
    </p:spTree>
    <p:extLst>
      <p:ext uri="{BB962C8B-B14F-4D97-AF65-F5344CB8AC3E}">
        <p14:creationId xmlns:p14="http://schemas.microsoft.com/office/powerpoint/2010/main" val="30558981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2DD968-EBA9-80A5-1E89-579258BAF330}"/>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646323EE-162D-4F99-70DB-74CE33E90A0C}"/>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4" name="灯片编号占位符 3">
            <a:extLst>
              <a:ext uri="{FF2B5EF4-FFF2-40B4-BE49-F238E27FC236}">
                <a16:creationId xmlns:a16="http://schemas.microsoft.com/office/drawing/2014/main" id="{A2F88707-8A8D-235A-4670-E439CCE6B07B}"/>
              </a:ext>
            </a:extLst>
          </p:cNvPr>
          <p:cNvSpPr>
            <a:spLocks noGrp="1"/>
          </p:cNvSpPr>
          <p:nvPr>
            <p:ph type="sldNum" sz="quarter" idx="11"/>
          </p:nvPr>
        </p:nvSpPr>
        <p:spPr/>
        <p:txBody>
          <a:bodyPr/>
          <a:lstStyle>
            <a:lvl1pPr>
              <a:defRPr/>
            </a:lvl1pPr>
          </a:lstStyle>
          <a:p>
            <a:fld id="{5E06BA63-CDF4-A748-9244-36BF4EB5A578}" type="slidenum">
              <a:rPr lang="zh-CN" altLang="zh-CN"/>
              <a:pPr/>
              <a:t>‹#›</a:t>
            </a:fld>
            <a:endParaRPr lang="en-US" altLang="zh-CN"/>
          </a:p>
        </p:txBody>
      </p:sp>
    </p:spTree>
    <p:extLst>
      <p:ext uri="{BB962C8B-B14F-4D97-AF65-F5344CB8AC3E}">
        <p14:creationId xmlns:p14="http://schemas.microsoft.com/office/powerpoint/2010/main" val="159744503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389E356-5E4B-648A-96DF-F32F811C59B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3" name="灯片编号占位符 2">
            <a:extLst>
              <a:ext uri="{FF2B5EF4-FFF2-40B4-BE49-F238E27FC236}">
                <a16:creationId xmlns:a16="http://schemas.microsoft.com/office/drawing/2014/main" id="{58547BEA-F453-14DF-A7C6-4F6FF1630103}"/>
              </a:ext>
            </a:extLst>
          </p:cNvPr>
          <p:cNvSpPr>
            <a:spLocks noGrp="1"/>
          </p:cNvSpPr>
          <p:nvPr>
            <p:ph type="sldNum" sz="quarter" idx="11"/>
          </p:nvPr>
        </p:nvSpPr>
        <p:spPr/>
        <p:txBody>
          <a:bodyPr/>
          <a:lstStyle>
            <a:lvl1pPr>
              <a:defRPr/>
            </a:lvl1pPr>
          </a:lstStyle>
          <a:p>
            <a:fld id="{10BCB720-C51A-E240-913F-68A27FD87D60}" type="slidenum">
              <a:rPr lang="zh-CN" altLang="zh-CN"/>
              <a:pPr/>
              <a:t>‹#›</a:t>
            </a:fld>
            <a:endParaRPr lang="en-US" altLang="zh-CN"/>
          </a:p>
        </p:txBody>
      </p:sp>
    </p:spTree>
    <p:extLst>
      <p:ext uri="{BB962C8B-B14F-4D97-AF65-F5344CB8AC3E}">
        <p14:creationId xmlns:p14="http://schemas.microsoft.com/office/powerpoint/2010/main" val="290857451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41025-A295-F9BC-1225-13E1997AD7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944E6DE-5629-F8F1-381B-20B358B64DD1}"/>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86B7FAB-1DE0-1EF5-BBB9-945C1F3BF00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B1C3A1C-458F-6108-5FF2-8B3B931416A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F8907A46-6115-6C82-2C27-A19DAFF6BC9C}"/>
              </a:ext>
            </a:extLst>
          </p:cNvPr>
          <p:cNvSpPr>
            <a:spLocks noGrp="1"/>
          </p:cNvSpPr>
          <p:nvPr>
            <p:ph type="sldNum" sz="quarter" idx="11"/>
          </p:nvPr>
        </p:nvSpPr>
        <p:spPr/>
        <p:txBody>
          <a:bodyPr/>
          <a:lstStyle>
            <a:lvl1pPr>
              <a:defRPr/>
            </a:lvl1pPr>
          </a:lstStyle>
          <a:p>
            <a:fld id="{5142667C-68EE-4642-A4F3-496A64FF833A}" type="slidenum">
              <a:rPr lang="zh-CN" altLang="zh-CN"/>
              <a:pPr/>
              <a:t>‹#›</a:t>
            </a:fld>
            <a:endParaRPr lang="en-US" altLang="zh-CN"/>
          </a:p>
        </p:txBody>
      </p:sp>
    </p:spTree>
    <p:extLst>
      <p:ext uri="{BB962C8B-B14F-4D97-AF65-F5344CB8AC3E}">
        <p14:creationId xmlns:p14="http://schemas.microsoft.com/office/powerpoint/2010/main" val="129047250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14BAE9-5EFD-1E81-1E44-83B35CDEFAA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38EC81B0-0FC4-59A9-DF21-0D58AEA38EF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6F019806-BC98-3F05-A4B8-B6FF6BEA3073}"/>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D2A0BDA8-6C02-9BC3-900D-F97F578C24BF}"/>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EFC80D30-BA6D-6894-C7B5-EAB97CEF27F6}"/>
              </a:ext>
            </a:extLst>
          </p:cNvPr>
          <p:cNvSpPr>
            <a:spLocks noGrp="1"/>
          </p:cNvSpPr>
          <p:nvPr>
            <p:ph type="sldNum" sz="quarter" idx="11"/>
          </p:nvPr>
        </p:nvSpPr>
        <p:spPr/>
        <p:txBody>
          <a:bodyPr/>
          <a:lstStyle>
            <a:lvl1pPr>
              <a:defRPr/>
            </a:lvl1pPr>
          </a:lstStyle>
          <a:p>
            <a:fld id="{2AFC7DB8-8F70-4249-BF47-064636DE409F}" type="slidenum">
              <a:rPr lang="zh-CN" altLang="zh-CN"/>
              <a:pPr/>
              <a:t>‹#›</a:t>
            </a:fld>
            <a:endParaRPr lang="en-US" altLang="zh-CN"/>
          </a:p>
        </p:txBody>
      </p:sp>
    </p:spTree>
    <p:extLst>
      <p:ext uri="{BB962C8B-B14F-4D97-AF65-F5344CB8AC3E}">
        <p14:creationId xmlns:p14="http://schemas.microsoft.com/office/powerpoint/2010/main" val="155167612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070EA-5479-8C9D-2BC7-3EBB751F4B5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C602B8F-4993-250E-7AED-51D0E7DDCC9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990B6F2E-F7A0-8F8A-F8E0-7B027508FA9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C0F67A8-3313-C1E5-92A0-2612E579B099}"/>
              </a:ext>
            </a:extLst>
          </p:cNvPr>
          <p:cNvSpPr>
            <a:spLocks noGrp="1"/>
          </p:cNvSpPr>
          <p:nvPr>
            <p:ph type="sldNum" sz="quarter" idx="11"/>
          </p:nvPr>
        </p:nvSpPr>
        <p:spPr/>
        <p:txBody>
          <a:bodyPr/>
          <a:lstStyle>
            <a:lvl1pPr>
              <a:defRPr/>
            </a:lvl1pPr>
          </a:lstStyle>
          <a:p>
            <a:fld id="{BB77E4A8-8AD9-0342-BA1C-342D06E0EBCE}" type="slidenum">
              <a:rPr lang="zh-CN" altLang="zh-CN"/>
              <a:pPr/>
              <a:t>‹#›</a:t>
            </a:fld>
            <a:endParaRPr lang="en-US" altLang="zh-CN"/>
          </a:p>
        </p:txBody>
      </p:sp>
    </p:spTree>
    <p:extLst>
      <p:ext uri="{BB962C8B-B14F-4D97-AF65-F5344CB8AC3E}">
        <p14:creationId xmlns:p14="http://schemas.microsoft.com/office/powerpoint/2010/main" val="321619176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C1DC8E-9255-868F-13FC-FD34667A0A9D}"/>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D77E83C-9BFB-4551-8EE1-50C0450E10B3}"/>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E6A07A5B-F244-4EEC-E6E6-BAE3BC533733}"/>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7A1DB9A-41ED-1FFA-FDAA-05284D3E179F}"/>
              </a:ext>
            </a:extLst>
          </p:cNvPr>
          <p:cNvSpPr>
            <a:spLocks noGrp="1"/>
          </p:cNvSpPr>
          <p:nvPr>
            <p:ph type="sldNum" sz="quarter" idx="11"/>
          </p:nvPr>
        </p:nvSpPr>
        <p:spPr/>
        <p:txBody>
          <a:bodyPr/>
          <a:lstStyle>
            <a:lvl1pPr>
              <a:defRPr/>
            </a:lvl1pPr>
          </a:lstStyle>
          <a:p>
            <a:fld id="{133DC0D6-50E5-4741-A0A7-D9800ECF4329}" type="slidenum">
              <a:rPr lang="zh-CN" altLang="zh-CN"/>
              <a:pPr/>
              <a:t>‹#›</a:t>
            </a:fld>
            <a:endParaRPr lang="en-US" altLang="zh-CN"/>
          </a:p>
        </p:txBody>
      </p:sp>
    </p:spTree>
    <p:extLst>
      <p:ext uri="{BB962C8B-B14F-4D97-AF65-F5344CB8AC3E}">
        <p14:creationId xmlns:p14="http://schemas.microsoft.com/office/powerpoint/2010/main" val="730512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sz="900" i="1">
                <a:solidFill>
                  <a:srgbClr val="777777"/>
                </a:solidFill>
                <a:ea typeface="宋体" panose="02010600030101010101" pitchFamily="2" charset="-122"/>
              </a:defRPr>
            </a:lvl1pPr>
          </a:lstStyle>
          <a:p>
            <a:r>
              <a:rPr lang="en-US" altLang="zh-CN" dirty="0"/>
              <a:t>IS-LM</a:t>
            </a:r>
            <a:r>
              <a:rPr lang="zh-CN" altLang="en-US" dirty="0"/>
              <a:t>模型</a:t>
            </a:r>
            <a:endParaRPr lang="zh-CN" altLang="zh-CN" dirty="0"/>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218870577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0" kern="1200">
          <a:solidFill>
            <a:srgbClr val="333399"/>
          </a:solidFill>
          <a:latin typeface="Microsoft YaHei" panose="020B0503020204020204" pitchFamily="34" charset="-122"/>
          <a:ea typeface="Microsoft YaHei" panose="020B0503020204020204" pitchFamily="34" charset="-122"/>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ext Box 14">
            <a:extLst>
              <a:ext uri="{FF2B5EF4-FFF2-40B4-BE49-F238E27FC236}">
                <a16:creationId xmlns:a16="http://schemas.microsoft.com/office/drawing/2014/main" id="{97ADDFA9-4FB1-4040-1A89-B55CFAB9DA3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1" name="TextBox 6">
            <a:extLst>
              <a:ext uri="{FF2B5EF4-FFF2-40B4-BE49-F238E27FC236}">
                <a16:creationId xmlns:a16="http://schemas.microsoft.com/office/drawing/2014/main" id="{2352C8A3-570D-2836-6893-215C342169F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1109">
                <a:solidFill>
                  <a:srgbClr val="008080"/>
                </a:solidFill>
                <a:latin typeface="Tahoma" panose="020B0604030504040204" pitchFamily="34" charset="0"/>
                <a:ea typeface="宋体" panose="02010600030101010101" pitchFamily="2" charset="-122"/>
              </a:rPr>
              <a:t>C H A P T E R</a:t>
            </a:r>
          </a:p>
        </p:txBody>
      </p:sp>
      <p:sp>
        <p:nvSpPr>
          <p:cNvPr id="2052" name="Rectangle 2">
            <a:extLst>
              <a:ext uri="{FF2B5EF4-FFF2-40B4-BE49-F238E27FC236}">
                <a16:creationId xmlns:a16="http://schemas.microsoft.com/office/drawing/2014/main" id="{9690264A-A2AA-D1F2-E0AA-7B471C801FA6}"/>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2053" name="Rectangle 3">
            <a:extLst>
              <a:ext uri="{FF2B5EF4-FFF2-40B4-BE49-F238E27FC236}">
                <a16:creationId xmlns:a16="http://schemas.microsoft.com/office/drawing/2014/main" id="{BBB52232-5B15-D93A-29E1-6D368A4002F6}"/>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Tree>
    <p:extLst>
      <p:ext uri="{BB962C8B-B14F-4D97-AF65-F5344CB8AC3E}">
        <p14:creationId xmlns:p14="http://schemas.microsoft.com/office/powerpoint/2010/main" val="241988620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Effect transition="in" filter="wipe(left)">
                                      <p:cBhvr>
                                        <p:cTn id="7" dur="500"/>
                                        <p:tgtEl>
                                          <p:spTgt spid="20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53">
                                            <p:txEl>
                                              <p:pRg st="1" end="1"/>
                                            </p:txEl>
                                          </p:spTgt>
                                        </p:tgtEl>
                                        <p:attrNameLst>
                                          <p:attrName>style.visibility</p:attrName>
                                        </p:attrNameLst>
                                      </p:cBhvr>
                                      <p:to>
                                        <p:strVal val="visible"/>
                                      </p:to>
                                    </p:set>
                                    <p:animEffect transition="in" filter="wipe(left)">
                                      <p:cBhvr>
                                        <p:cTn id="12" dur="500"/>
                                        <p:tgtEl>
                                          <p:spTgt spid="205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53">
                                            <p:txEl>
                                              <p:pRg st="2" end="2"/>
                                            </p:txEl>
                                          </p:spTgt>
                                        </p:tgtEl>
                                        <p:attrNameLst>
                                          <p:attrName>style.visibility</p:attrName>
                                        </p:attrNameLst>
                                      </p:cBhvr>
                                      <p:to>
                                        <p:strVal val="visible"/>
                                      </p:to>
                                    </p:set>
                                    <p:animEffect transition="in" filter="wipe(left)">
                                      <p:cBhvr>
                                        <p:cTn id="17" dur="500"/>
                                        <p:tgtEl>
                                          <p:spTgt spid="205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53">
                                            <p:txEl>
                                              <p:pRg st="3" end="3"/>
                                            </p:txEl>
                                          </p:spTgt>
                                        </p:tgtEl>
                                        <p:attrNameLst>
                                          <p:attrName>style.visibility</p:attrName>
                                        </p:attrNameLst>
                                      </p:cBhvr>
                                      <p:to>
                                        <p:strVal val="visible"/>
                                      </p:to>
                                    </p:set>
                                    <p:animEffect transition="in" filter="wipe(left)">
                                      <p:cBhvr>
                                        <p:cTn id="22" dur="500"/>
                                        <p:tgtEl>
                                          <p:spTgt spid="2053">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053">
                                            <p:txEl>
                                              <p:pRg st="4" end="4"/>
                                            </p:txEl>
                                          </p:spTgt>
                                        </p:tgtEl>
                                        <p:attrNameLst>
                                          <p:attrName>style.visibility</p:attrName>
                                        </p:attrNameLst>
                                      </p:cBhvr>
                                      <p:to>
                                        <p:strVal val="visible"/>
                                      </p:to>
                                    </p:set>
                                    <p:animEffect transition="in" filter="wipe(left)">
                                      <p:cBhvr>
                                        <p:cTn id="25" dur="500"/>
                                        <p:tgtEl>
                                          <p:spTgt spid="20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uild="p" bldLvl="4" animBg="1" autoUpdateAnimBg="0"/>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6"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7"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238073169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6ECA6EC-9612-6EBD-6329-BCE42505C11B}"/>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9C65F63-6D34-3235-A7CB-E2D139D9C20B}"/>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7EFCC5-1D88-2D2D-3ACB-537A6BFA7FE9}"/>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失业</a:t>
            </a:r>
          </a:p>
        </p:txBody>
      </p:sp>
      <p:sp>
        <p:nvSpPr>
          <p:cNvPr id="1029" name="Rectangle 5">
            <a:extLst>
              <a:ext uri="{FF2B5EF4-FFF2-40B4-BE49-F238E27FC236}">
                <a16:creationId xmlns:a16="http://schemas.microsoft.com/office/drawing/2014/main" id="{1271616B-276C-3CA9-6F3F-B7B1EBEE6F7A}"/>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738C1631-73B5-174D-A282-E86D4BC290D0}" type="slidenum">
              <a:rPr lang="zh-CN" altLang="zh-CN"/>
              <a:pPr/>
              <a:t>‹#›</a:t>
            </a:fld>
            <a:endParaRPr lang="en-US" altLang="zh-CN"/>
          </a:p>
        </p:txBody>
      </p:sp>
    </p:spTree>
    <p:extLst>
      <p:ext uri="{BB962C8B-B14F-4D97-AF65-F5344CB8AC3E}">
        <p14:creationId xmlns:p14="http://schemas.microsoft.com/office/powerpoint/2010/main" val="2858994519"/>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7"/>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7"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7"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一国收入的衡量</a:t>
            </a:r>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8"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166146543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4" b="1" kern="1200">
          <a:solidFill>
            <a:srgbClr val="333399"/>
          </a:solidFill>
          <a:latin typeface="+mj-lt"/>
          <a:ea typeface="+mj-ea"/>
          <a:cs typeface="+mj-cs"/>
        </a:defRPr>
      </a:lvl1pPr>
      <a:lvl2pPr algn="ctr" rtl="0" fontAlgn="base">
        <a:spcBef>
          <a:spcPct val="0"/>
        </a:spcBef>
        <a:spcAft>
          <a:spcPct val="0"/>
        </a:spcAft>
        <a:defRPr sz="1914" b="1">
          <a:solidFill>
            <a:srgbClr val="333399"/>
          </a:solidFill>
          <a:latin typeface="Book Antiqua" panose="02040602050305030304" pitchFamily="18" charset="0"/>
        </a:defRPr>
      </a:lvl2pPr>
      <a:lvl3pPr algn="ctr" rtl="0" fontAlgn="base">
        <a:spcBef>
          <a:spcPct val="0"/>
        </a:spcBef>
        <a:spcAft>
          <a:spcPct val="0"/>
        </a:spcAft>
        <a:defRPr sz="1914" b="1">
          <a:solidFill>
            <a:srgbClr val="333399"/>
          </a:solidFill>
          <a:latin typeface="Book Antiqua" panose="02040602050305030304" pitchFamily="18" charset="0"/>
        </a:defRPr>
      </a:lvl3pPr>
      <a:lvl4pPr algn="ctr" rtl="0" fontAlgn="base">
        <a:spcBef>
          <a:spcPct val="0"/>
        </a:spcBef>
        <a:spcAft>
          <a:spcPct val="0"/>
        </a:spcAft>
        <a:defRPr sz="1914" b="1">
          <a:solidFill>
            <a:srgbClr val="333399"/>
          </a:solidFill>
          <a:latin typeface="Book Antiqua" panose="02040602050305030304" pitchFamily="18" charset="0"/>
        </a:defRPr>
      </a:lvl4pPr>
      <a:lvl5pPr algn="ctr" rtl="0" fontAlgn="base">
        <a:spcBef>
          <a:spcPct val="0"/>
        </a:spcBef>
        <a:spcAft>
          <a:spcPct val="0"/>
        </a:spcAft>
        <a:defRPr sz="1914" b="1">
          <a:solidFill>
            <a:srgbClr val="333399"/>
          </a:solidFill>
          <a:latin typeface="Book Antiqua" panose="02040602050305030304" pitchFamily="18" charset="0"/>
        </a:defRPr>
      </a:lvl5pPr>
      <a:lvl6pPr marL="230329" algn="ctr" rtl="0" fontAlgn="base">
        <a:spcBef>
          <a:spcPct val="0"/>
        </a:spcBef>
        <a:spcAft>
          <a:spcPct val="0"/>
        </a:spcAft>
        <a:defRPr sz="1914" b="1">
          <a:solidFill>
            <a:srgbClr val="333399"/>
          </a:solidFill>
          <a:latin typeface="Book Antiqua" panose="02040602050305030304" pitchFamily="18" charset="0"/>
        </a:defRPr>
      </a:lvl6pPr>
      <a:lvl7pPr marL="460659" algn="ctr" rtl="0" fontAlgn="base">
        <a:spcBef>
          <a:spcPct val="0"/>
        </a:spcBef>
        <a:spcAft>
          <a:spcPct val="0"/>
        </a:spcAft>
        <a:defRPr sz="1914" b="1">
          <a:solidFill>
            <a:srgbClr val="333399"/>
          </a:solidFill>
          <a:latin typeface="Book Antiqua" panose="02040602050305030304" pitchFamily="18" charset="0"/>
        </a:defRPr>
      </a:lvl7pPr>
      <a:lvl8pPr marL="690989" algn="ctr" rtl="0" fontAlgn="base">
        <a:spcBef>
          <a:spcPct val="0"/>
        </a:spcBef>
        <a:spcAft>
          <a:spcPct val="0"/>
        </a:spcAft>
        <a:defRPr sz="1914" b="1">
          <a:solidFill>
            <a:srgbClr val="333399"/>
          </a:solidFill>
          <a:latin typeface="Book Antiqua" panose="02040602050305030304" pitchFamily="18" charset="0"/>
        </a:defRPr>
      </a:lvl8pPr>
      <a:lvl9pPr marL="921319" algn="ctr" rtl="0" fontAlgn="base">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fontAlgn="base">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fontAlgn="base">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fontAlgn="base">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fontAlgn="base">
        <a:spcBef>
          <a:spcPct val="15000"/>
        </a:spcBef>
        <a:spcAft>
          <a:spcPct val="0"/>
        </a:spcAft>
        <a:buChar char="–"/>
        <a:defRPr sz="1007" kern="1200">
          <a:solidFill>
            <a:schemeClr val="tx1"/>
          </a:solidFill>
          <a:latin typeface="+mn-lt"/>
          <a:ea typeface="+mn-ea"/>
          <a:cs typeface="+mn-cs"/>
        </a:defRPr>
      </a:lvl4pPr>
      <a:lvl5pPr marL="1036483" indent="-115165" algn="l" rtl="0" fontAlgn="base">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7"/>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7"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7"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8"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1211662017"/>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4" b="1" kern="1200">
          <a:solidFill>
            <a:srgbClr val="333399"/>
          </a:solidFill>
          <a:latin typeface="+mj-lt"/>
          <a:ea typeface="+mj-ea"/>
          <a:cs typeface="+mj-cs"/>
        </a:defRPr>
      </a:lvl1pPr>
      <a:lvl2pPr algn="ctr" rtl="0" eaLnBrk="0" fontAlgn="base" hangingPunct="0">
        <a:spcBef>
          <a:spcPct val="0"/>
        </a:spcBef>
        <a:spcAft>
          <a:spcPct val="0"/>
        </a:spcAft>
        <a:defRPr sz="1914" b="1">
          <a:solidFill>
            <a:srgbClr val="333399"/>
          </a:solidFill>
          <a:latin typeface="Book Antiqua" panose="02040602050305030304" pitchFamily="18" charset="0"/>
        </a:defRPr>
      </a:lvl2pPr>
      <a:lvl3pPr algn="ctr" rtl="0" eaLnBrk="0" fontAlgn="base" hangingPunct="0">
        <a:spcBef>
          <a:spcPct val="0"/>
        </a:spcBef>
        <a:spcAft>
          <a:spcPct val="0"/>
        </a:spcAft>
        <a:defRPr sz="1914" b="1">
          <a:solidFill>
            <a:srgbClr val="333399"/>
          </a:solidFill>
          <a:latin typeface="Book Antiqua" panose="02040602050305030304" pitchFamily="18" charset="0"/>
        </a:defRPr>
      </a:lvl3pPr>
      <a:lvl4pPr algn="ctr" rtl="0" eaLnBrk="0" fontAlgn="base" hangingPunct="0">
        <a:spcBef>
          <a:spcPct val="0"/>
        </a:spcBef>
        <a:spcAft>
          <a:spcPct val="0"/>
        </a:spcAft>
        <a:defRPr sz="1914" b="1">
          <a:solidFill>
            <a:srgbClr val="333399"/>
          </a:solidFill>
          <a:latin typeface="Book Antiqua" panose="02040602050305030304" pitchFamily="18" charset="0"/>
        </a:defRPr>
      </a:lvl4pPr>
      <a:lvl5pPr algn="ctr" rtl="0" eaLnBrk="0" fontAlgn="base" hangingPunct="0">
        <a:spcBef>
          <a:spcPct val="0"/>
        </a:spcBef>
        <a:spcAft>
          <a:spcPct val="0"/>
        </a:spcAft>
        <a:defRPr sz="1914" b="1">
          <a:solidFill>
            <a:srgbClr val="333399"/>
          </a:solidFill>
          <a:latin typeface="Book Antiqua" panose="02040602050305030304" pitchFamily="18" charset="0"/>
        </a:defRPr>
      </a:lvl5pPr>
      <a:lvl6pPr marL="230329" algn="ctr" rtl="0" eaLnBrk="0" fontAlgn="base" hangingPunct="0">
        <a:spcBef>
          <a:spcPct val="0"/>
        </a:spcBef>
        <a:spcAft>
          <a:spcPct val="0"/>
        </a:spcAft>
        <a:defRPr sz="1914" b="1">
          <a:solidFill>
            <a:srgbClr val="333399"/>
          </a:solidFill>
          <a:latin typeface="Book Antiqua" panose="02040602050305030304" pitchFamily="18" charset="0"/>
        </a:defRPr>
      </a:lvl6pPr>
      <a:lvl7pPr marL="460659" algn="ctr" rtl="0" eaLnBrk="0" fontAlgn="base" hangingPunct="0">
        <a:spcBef>
          <a:spcPct val="0"/>
        </a:spcBef>
        <a:spcAft>
          <a:spcPct val="0"/>
        </a:spcAft>
        <a:defRPr sz="1914" b="1">
          <a:solidFill>
            <a:srgbClr val="333399"/>
          </a:solidFill>
          <a:latin typeface="Book Antiqua" panose="02040602050305030304" pitchFamily="18" charset="0"/>
        </a:defRPr>
      </a:lvl7pPr>
      <a:lvl8pPr marL="690989" algn="ctr" rtl="0" eaLnBrk="0" fontAlgn="base" hangingPunct="0">
        <a:spcBef>
          <a:spcPct val="0"/>
        </a:spcBef>
        <a:spcAft>
          <a:spcPct val="0"/>
        </a:spcAft>
        <a:defRPr sz="1914" b="1">
          <a:solidFill>
            <a:srgbClr val="333399"/>
          </a:solidFill>
          <a:latin typeface="Book Antiqua" panose="02040602050305030304" pitchFamily="18" charset="0"/>
        </a:defRPr>
      </a:lvl8pPr>
      <a:lvl9pPr marL="921319" algn="ctr" rtl="0" eaLnBrk="0" fontAlgn="base" hangingPunct="0">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eaLnBrk="0" fontAlgn="base" hangingPunct="0">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eaLnBrk="0" fontAlgn="base" hangingPunct="0">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eaLnBrk="0" fontAlgn="base" hangingPunct="0">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eaLnBrk="0" fontAlgn="base" hangingPunct="0">
        <a:spcBef>
          <a:spcPct val="15000"/>
        </a:spcBef>
        <a:spcAft>
          <a:spcPct val="0"/>
        </a:spcAft>
        <a:buChar char="–"/>
        <a:defRPr sz="1007" kern="1200">
          <a:solidFill>
            <a:schemeClr val="tx1"/>
          </a:solidFill>
          <a:latin typeface="+mn-lt"/>
          <a:ea typeface="+mn-ea"/>
          <a:cs typeface="+mn-cs"/>
        </a:defRPr>
      </a:lvl4pPr>
      <a:lvl5pPr marL="1036483" indent="-115165" algn="l" rtl="0" eaLnBrk="0" fontAlgn="base" hangingPunct="0">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4CACF47-282E-9251-5E38-9773C995D331}"/>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84CF1F3-1A21-5094-568D-A55E8094DF8F}"/>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79294301-7CB8-9AE9-385D-320FE3C363A7}"/>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储蓄、投资和金融体系</a:t>
            </a:r>
          </a:p>
        </p:txBody>
      </p:sp>
      <p:sp>
        <p:nvSpPr>
          <p:cNvPr id="1029" name="Rectangle 5">
            <a:extLst>
              <a:ext uri="{FF2B5EF4-FFF2-40B4-BE49-F238E27FC236}">
                <a16:creationId xmlns:a16="http://schemas.microsoft.com/office/drawing/2014/main" id="{6F1A230D-A13F-6E34-8E84-B7BAF6D7C766}"/>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CBE2655C-3234-C049-B5D7-3DC99A4C04D4}" type="slidenum">
              <a:rPr lang="zh-CN" altLang="zh-CN"/>
              <a:pPr/>
              <a:t>‹#›</a:t>
            </a:fld>
            <a:endParaRPr lang="en-US" altLang="zh-CN"/>
          </a:p>
        </p:txBody>
      </p:sp>
    </p:spTree>
    <p:extLst>
      <p:ext uri="{BB962C8B-B14F-4D97-AF65-F5344CB8AC3E}">
        <p14:creationId xmlns:p14="http://schemas.microsoft.com/office/powerpoint/2010/main" val="2761894336"/>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4587AD2-2A40-9296-D56D-93FDBD7636EF}"/>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0FDC28A-B9AE-127F-83F8-0B1FDA078C1C}"/>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E3BF17-E6D7-590E-F8B0-BB3DF8E77868}"/>
              </a:ext>
            </a:extLst>
          </p:cNvPr>
          <p:cNvSpPr>
            <a:spLocks noGrp="1" noChangeArrowheads="1"/>
          </p:cNvSpPr>
          <p:nvPr>
            <p:ph type="ftr" sz="quarter" idx="3"/>
          </p:nvPr>
        </p:nvSpPr>
        <p:spPr bwMode="auto">
          <a:xfrm>
            <a:off x="144066" y="3226028"/>
            <a:ext cx="3974611"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latin typeface="+mn-lt"/>
                <a:ea typeface="宋体" panose="02010600030101010101" pitchFamily="2" charset="-122"/>
              </a:defRPr>
            </a:lvl1pPr>
          </a:lstStyle>
          <a:p>
            <a:r>
              <a:rPr lang="zh-CN" altLang="zh-CN"/>
              <a:t>消费者、生产者与市场效率</a:t>
            </a:r>
          </a:p>
        </p:txBody>
      </p:sp>
      <p:sp>
        <p:nvSpPr>
          <p:cNvPr id="1029" name="Rectangle 5">
            <a:extLst>
              <a:ext uri="{FF2B5EF4-FFF2-40B4-BE49-F238E27FC236}">
                <a16:creationId xmlns:a16="http://schemas.microsoft.com/office/drawing/2014/main" id="{E3242819-FC19-56A0-789F-5AA03E128747}"/>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latin typeface="Tahoma" panose="020B0604030504040204" pitchFamily="34" charset="0"/>
                <a:ea typeface="宋体" panose="02010600030101010101" pitchFamily="2" charset="-122"/>
              </a:defRPr>
            </a:lvl1pPr>
          </a:lstStyle>
          <a:p>
            <a:fld id="{56D20B8E-C68C-114D-8CC8-E6658F47B712}" type="slidenum">
              <a:rPr lang="zh-CN" altLang="zh-CN"/>
              <a:pPr/>
              <a:t>‹#›</a:t>
            </a:fld>
            <a:endParaRPr lang="en-US" altLang="zh-CN"/>
          </a:p>
        </p:txBody>
      </p:sp>
    </p:spTree>
    <p:extLst>
      <p:ext uri="{BB962C8B-B14F-4D97-AF65-F5344CB8AC3E}">
        <p14:creationId xmlns:p14="http://schemas.microsoft.com/office/powerpoint/2010/main" val="1163310630"/>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2.png"/></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52" y="0"/>
            <a:ext cx="4608093" cy="143256"/>
          </a:xfrm>
          <a:prstGeom prst="rect">
            <a:avLst/>
          </a:prstGeom>
          <a:blipFill>
            <a:blip r:embed="rId2" cstate="print"/>
            <a:stretch>
              <a:fillRect/>
            </a:stretch>
          </a:blipFill>
        </p:spPr>
        <p:txBody>
          <a:bodyPr wrap="square" lIns="0" tIns="0" rIns="0" bIns="0" rtlCol="0"/>
          <a:lstStyle/>
          <a:p>
            <a:endParaRPr/>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a:p>
        </p:txBody>
      </p:sp>
      <p:sp>
        <p:nvSpPr>
          <p:cNvPr id="32" name="object 32"/>
          <p:cNvSpPr/>
          <p:nvPr/>
        </p:nvSpPr>
        <p:spPr>
          <a:xfrm>
            <a:off x="133126" y="1250219"/>
            <a:ext cx="112479" cy="109537"/>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4451394" y="1234344"/>
            <a:ext cx="122237" cy="125301"/>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a:cs typeface="Times New Roman"/>
              </a:rPr>
              <a:t>Macroeconomics</a:t>
            </a:r>
            <a:endParaRPr sz="1400" baseline="27777" dirty="0">
              <a:latin typeface="Times New Roman"/>
              <a:cs typeface="Times New Roman"/>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a:cs typeface="Times New Roman"/>
              </a:rPr>
              <a:t>  </a:t>
            </a:r>
            <a:endParaRPr sz="100">
              <a:latin typeface="Times New Roman"/>
              <a:cs typeface="Times New Roman"/>
            </a:endParaRPr>
          </a:p>
        </p:txBody>
      </p:sp>
      <p:sp>
        <p:nvSpPr>
          <p:cNvPr id="94" name="object 94"/>
          <p:cNvSpPr txBox="1"/>
          <p:nvPr/>
        </p:nvSpPr>
        <p:spPr>
          <a:xfrm>
            <a:off x="92008" y="1471712"/>
            <a:ext cx="4387324" cy="292709"/>
          </a:xfrm>
          <a:prstGeom prst="rect">
            <a:avLst/>
          </a:prstGeom>
        </p:spPr>
        <p:txBody>
          <a:bodyPr vert="horz" wrap="square" lIns="0" tIns="0" rIns="0" bIns="0" rtlCol="0">
            <a:spAutoFit/>
          </a:bodyPr>
          <a:lstStyle/>
          <a:p>
            <a:pPr marL="635" algn="ctr">
              <a:lnSpc>
                <a:spcPct val="130000"/>
              </a:lnSpc>
            </a:pPr>
            <a:r>
              <a:rPr lang="zh-CN" altLang="en-US" sz="1600" b="1" spc="-15" dirty="0">
                <a:latin typeface="Garamond" panose="02020404030301010803" pitchFamily="18" charset="0"/>
                <a:ea typeface="KaiTi" panose="02010609060101010101" pitchFamily="49" charset="-122"/>
                <a:cs typeface="Times New Roman"/>
              </a:rPr>
              <a:t>第三章 产品市场和货币市场的共同均衡</a:t>
            </a:r>
            <a:endParaRPr lang="en-US" altLang="zh-CN" sz="1600" b="1" spc="-15" dirty="0">
              <a:latin typeface="Garamond" panose="02020404030301010803" pitchFamily="18" charset="0"/>
              <a:ea typeface="KaiTi" panose="02010609060101010101" pitchFamily="49" charset="-122"/>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52" y="3345713"/>
            <a:ext cx="4608093" cy="111252"/>
          </a:xfrm>
          <a:prstGeom prst="rect">
            <a:avLst/>
          </a:prstGeom>
          <a:blipFill>
            <a:blip r:embed="rId5" cstate="print"/>
            <a:stretch>
              <a:fillRect/>
            </a:stretch>
          </a:blipFill>
        </p:spPr>
        <p:txBody>
          <a:bodyPr wrap="square" lIns="0" tIns="0" rIns="0" bIns="0" rtlCol="0"/>
          <a:lstStyle/>
          <a:p>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latin typeface="Times New Roman"/>
              <a:cs typeface="Times New Roman"/>
            </a:endParaRPr>
          </a:p>
        </p:txBody>
      </p:sp>
    </p:spTree>
    <p:extLst>
      <p:ext uri="{BB962C8B-B14F-4D97-AF65-F5344CB8AC3E}">
        <p14:creationId xmlns:p14="http://schemas.microsoft.com/office/powerpoint/2010/main" val="3610910616"/>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52AE4F3F-8DA5-30E2-BF15-00A15F9F6A89}"/>
              </a:ext>
            </a:extLst>
          </p:cNvPr>
          <p:cNvSpPr txBox="1">
            <a:spLocks/>
          </p:cNvSpPr>
          <p:nvPr/>
        </p:nvSpPr>
        <p:spPr>
          <a:xfrm>
            <a:off x="-1" y="144712"/>
            <a:ext cx="4603865" cy="471996"/>
          </a:xfrm>
          <a:prstGeom prst="rect">
            <a:avLst/>
          </a:prstGeom>
          <a:noFill/>
        </p:spPr>
        <p:txBody>
          <a:bodyPr wrap="square" lIns="0" tIns="0" rIns="0" bIns="0">
            <a:normAutofit/>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lnSpc>
                <a:spcPct val="140000"/>
              </a:lnSpc>
            </a:pPr>
            <a:r>
              <a:rPr lang="zh-CN" altLang="en-US" sz="1800" kern="0" dirty="0">
                <a:solidFill>
                  <a:srgbClr val="C00000"/>
                </a:solidFill>
                <a:latin typeface="Microsoft YaHei" panose="020B0503020204020204" pitchFamily="34" charset="-122"/>
                <a:ea typeface="Microsoft YaHei" panose="020B0503020204020204" pitchFamily="34" charset="-122"/>
              </a:rPr>
              <a:t>本章内容</a:t>
            </a:r>
            <a:endParaRPr lang="en-US" altLang="zh-CN" sz="1800" kern="0" dirty="0">
              <a:solidFill>
                <a:srgbClr val="C00000"/>
              </a:solidFill>
              <a:latin typeface="Microsoft YaHei" panose="020B0503020204020204" pitchFamily="34" charset="-122"/>
              <a:ea typeface="Microsoft YaHei" panose="020B0503020204020204" pitchFamily="34" charset="-122"/>
            </a:endParaRPr>
          </a:p>
        </p:txBody>
      </p:sp>
      <p:sp>
        <p:nvSpPr>
          <p:cNvPr id="2" name="Rectangle 3">
            <a:extLst>
              <a:ext uri="{FF2B5EF4-FFF2-40B4-BE49-F238E27FC236}">
                <a16:creationId xmlns:a16="http://schemas.microsoft.com/office/drawing/2014/main" id="{F46EEACB-6D97-FCA1-E3DD-9171829BE6B6}"/>
              </a:ext>
            </a:extLst>
          </p:cNvPr>
          <p:cNvSpPr txBox="1">
            <a:spLocks noChangeArrowheads="1"/>
          </p:cNvSpPr>
          <p:nvPr/>
        </p:nvSpPr>
        <p:spPr>
          <a:xfrm>
            <a:off x="288826" y="616708"/>
            <a:ext cx="3888432" cy="1632242"/>
          </a:xfrm>
          <a:prstGeom prst="rect">
            <a:avLst/>
          </a:prstGeom>
        </p:spPr>
        <p:txBody>
          <a:bodyPr wrap="square" lIns="0" tIns="0" rIns="0" bIns="0">
            <a:spAutoFit/>
          </a:bodyPr>
          <a:lstStyle>
            <a:lvl1pPr marL="0" eaLnBrk="1" hangingPunct="1">
              <a:defRPr sz="1000" b="0" i="0">
                <a:solidFill>
                  <a:schemeClr val="tx1"/>
                </a:solidFill>
                <a:latin typeface="Times New Roman"/>
                <a:ea typeface="SimSun" panose="02010600030101010101" pitchFamily="2" charset="-122"/>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1</a:t>
            </a:r>
            <a:r>
              <a:rPr lang="zh-CN" altLang="en-US" sz="1200" kern="0" dirty="0">
                <a:latin typeface="Garamond" panose="02020404030301010803" pitchFamily="18" charset="0"/>
                <a:ea typeface="KaiTi" panose="02010609060101010101" pitchFamily="49" charset="-122"/>
              </a:rPr>
              <a:t>节  投资的决定</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2</a:t>
            </a:r>
            <a:r>
              <a:rPr lang="zh-CN" altLang="en-US" sz="1200" kern="0" dirty="0">
                <a:latin typeface="Garamond" panose="02020404030301010803" pitchFamily="18" charset="0"/>
                <a:ea typeface="KaiTi" panose="02010609060101010101" pitchFamily="49" charset="-122"/>
              </a:rPr>
              <a:t>节  </a:t>
            </a:r>
            <a:r>
              <a:rPr lang="en" altLang="zh-CN" sz="1200" kern="0" dirty="0">
                <a:latin typeface="Garamond" panose="02020404030301010803" pitchFamily="18" charset="0"/>
                <a:ea typeface="KaiTi" panose="02010609060101010101" pitchFamily="49" charset="-122"/>
              </a:rPr>
              <a:t>IS</a:t>
            </a:r>
            <a:r>
              <a:rPr lang="zh-CN" altLang="en-US" sz="1200" kern="0" dirty="0">
                <a:latin typeface="Garamond" panose="02020404030301010803" pitchFamily="18" charset="0"/>
                <a:ea typeface="KaiTi" panose="02010609060101010101" pitchFamily="49" charset="-122"/>
              </a:rPr>
              <a:t>曲线</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3</a:t>
            </a:r>
            <a:r>
              <a:rPr lang="zh-CN" altLang="en-US" sz="1200" kern="0" dirty="0">
                <a:latin typeface="Garamond" panose="02020404030301010803" pitchFamily="18" charset="0"/>
                <a:ea typeface="KaiTi" panose="02010609060101010101" pitchFamily="49" charset="-122"/>
              </a:rPr>
              <a:t>节  利率的决定</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4</a:t>
            </a:r>
            <a:r>
              <a:rPr lang="zh-CN" altLang="en-US" sz="1200" kern="0" dirty="0">
                <a:latin typeface="Garamond" panose="02020404030301010803" pitchFamily="18" charset="0"/>
                <a:ea typeface="KaiTi" panose="02010609060101010101" pitchFamily="49" charset="-122"/>
              </a:rPr>
              <a:t>节  </a:t>
            </a:r>
            <a:r>
              <a:rPr lang="en" altLang="zh-CN" sz="1200" kern="0" dirty="0">
                <a:latin typeface="Garamond" panose="02020404030301010803" pitchFamily="18" charset="0"/>
                <a:ea typeface="KaiTi" panose="02010609060101010101" pitchFamily="49" charset="-122"/>
              </a:rPr>
              <a:t>LM</a:t>
            </a:r>
            <a:r>
              <a:rPr lang="zh-CN" altLang="en-US" sz="1200" kern="0" dirty="0">
                <a:latin typeface="Garamond" panose="02020404030301010803" pitchFamily="18" charset="0"/>
                <a:ea typeface="KaiTi" panose="02010609060101010101" pitchFamily="49" charset="-122"/>
              </a:rPr>
              <a:t>曲线</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5</a:t>
            </a:r>
            <a:r>
              <a:rPr lang="zh-CN" altLang="en-US" sz="1200" kern="0" dirty="0">
                <a:latin typeface="Garamond" panose="02020404030301010803" pitchFamily="18" charset="0"/>
                <a:ea typeface="KaiTi" panose="02010609060101010101" pitchFamily="49" charset="-122"/>
              </a:rPr>
              <a:t>节  </a:t>
            </a:r>
            <a:r>
              <a:rPr lang="en" altLang="zh-CN" sz="1200" kern="0" dirty="0">
                <a:latin typeface="Garamond" panose="02020404030301010803" pitchFamily="18" charset="0"/>
                <a:ea typeface="KaiTi" panose="02010609060101010101" pitchFamily="49" charset="-122"/>
              </a:rPr>
              <a:t>IS–LM</a:t>
            </a:r>
            <a:r>
              <a:rPr lang="zh-CN" altLang="en-US" sz="1200" kern="0" dirty="0">
                <a:latin typeface="Garamond" panose="02020404030301010803" pitchFamily="18" charset="0"/>
                <a:ea typeface="KaiTi" panose="02010609060101010101" pitchFamily="49" charset="-122"/>
              </a:rPr>
              <a:t>分析</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6</a:t>
            </a:r>
            <a:r>
              <a:rPr lang="zh-CN" altLang="en-US" sz="1200" kern="0" dirty="0">
                <a:latin typeface="Garamond" panose="02020404030301010803" pitchFamily="18" charset="0"/>
                <a:ea typeface="KaiTi" panose="02010609060101010101" pitchFamily="49" charset="-122"/>
              </a:rPr>
              <a:t>节  凯恩斯的基本理论框架</a:t>
            </a:r>
          </a:p>
        </p:txBody>
      </p:sp>
    </p:spTree>
    <p:extLst>
      <p:ext uri="{BB962C8B-B14F-4D97-AF65-F5344CB8AC3E}">
        <p14:creationId xmlns:p14="http://schemas.microsoft.com/office/powerpoint/2010/main" val="96403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slide(fromBottom)">
                                      <p:cBhvr>
                                        <p:cTn id="7" dur="500"/>
                                        <p:tgtEl>
                                          <p:spTgt spid="2">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slide(fromBottom)">
                                      <p:cBhvr>
                                        <p:cTn id="10" dur="500"/>
                                        <p:tgtEl>
                                          <p:spTgt spid="2">
                                            <p:txEl>
                                              <p:pRg st="1" end="1"/>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slide(fromBottom)">
                                      <p:cBhvr>
                                        <p:cTn id="13" dur="500"/>
                                        <p:tgtEl>
                                          <p:spTgt spid="2">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slide(fromBottom)">
                                      <p:cBhvr>
                                        <p:cTn id="16" dur="500"/>
                                        <p:tgtEl>
                                          <p:spTgt spid="2">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slide(fromBottom)">
                                      <p:cBhvr>
                                        <p:cTn id="19" dur="500"/>
                                        <p:tgtEl>
                                          <p:spTgt spid="2">
                                            <p:txEl>
                                              <p:pRg st="4" end="4"/>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slide(fromBottom)">
                                      <p:cBhvr>
                                        <p:cTn id="2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97016" y="1411959"/>
            <a:ext cx="4383299" cy="564770"/>
          </a:xfrm>
          <a:prstGeom prst="rect">
            <a:avLst/>
          </a:prstGeom>
        </p:spPr>
        <p:txBody>
          <a:bodyPr vert="horz" wrap="square" lIns="0" tIns="0" rIns="0" bIns="0" rtlCol="0">
            <a:spAutoFit/>
          </a:bodyPr>
          <a:lstStyle/>
          <a:p>
            <a:pPr marL="634" algn="ctr">
              <a:lnSpc>
                <a:spcPct val="130000"/>
              </a:lnSpc>
            </a:pPr>
            <a:r>
              <a:rPr lang="zh-CN" altLang="en-US" b="1" dirty="0">
                <a:solidFill>
                  <a:srgbClr val="333399"/>
                </a:solidFill>
                <a:latin typeface="Garamond" panose="02020404030301010803" pitchFamily="18" charset="0"/>
                <a:ea typeface="KaiTi" panose="02010609060101010101" pitchFamily="49" charset="-122"/>
                <a:cs typeface="+mj-cs"/>
              </a:rPr>
              <a:t>第</a:t>
            </a:r>
            <a:r>
              <a:rPr lang="en-US" altLang="zh-CN" b="1" dirty="0">
                <a:solidFill>
                  <a:srgbClr val="333399"/>
                </a:solidFill>
                <a:latin typeface="Garamond" panose="02020404030301010803" pitchFamily="18" charset="0"/>
                <a:ea typeface="KaiTi" panose="02010609060101010101" pitchFamily="49" charset="-122"/>
                <a:cs typeface="+mj-cs"/>
              </a:rPr>
              <a:t>1</a:t>
            </a:r>
            <a:r>
              <a:rPr lang="zh-CN" altLang="en-US" b="1" dirty="0">
                <a:solidFill>
                  <a:srgbClr val="333399"/>
                </a:solidFill>
                <a:latin typeface="Garamond" panose="02020404030301010803" pitchFamily="18" charset="0"/>
                <a:ea typeface="KaiTi" panose="02010609060101010101" pitchFamily="49" charset="-122"/>
                <a:cs typeface="+mj-cs"/>
              </a:rPr>
              <a:t>节 投资需求</a:t>
            </a:r>
            <a:endParaRPr lang="en-US" altLang="zh-CN"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1100" b="1" dirty="0">
              <a:latin typeface="Garamond" panose="02020404030301010803" pitchFamily="18" charset="0"/>
              <a:cs typeface="Times New Roman"/>
            </a:endParaRPr>
          </a:p>
        </p:txBody>
      </p:sp>
    </p:spTree>
    <p:extLst>
      <p:ext uri="{BB962C8B-B14F-4D97-AF65-F5344CB8AC3E}">
        <p14:creationId xmlns:p14="http://schemas.microsoft.com/office/powerpoint/2010/main" val="3121059534"/>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72879" y="500911"/>
            <a:ext cx="3976211" cy="2193800"/>
          </a:xfrm>
        </p:spPr>
        <p:txBody>
          <a:bodyPr/>
          <a:lstStyle/>
          <a:p>
            <a:pPr eaLnBrk="1" hangingPunct="1"/>
            <a:r>
              <a:rPr lang="zh-CN" altLang="en-US" sz="1100" b="1" dirty="0">
                <a:latin typeface="Garamond" panose="02020404030301010803" pitchFamily="18" charset="0"/>
                <a:ea typeface="SimSun" panose="02010600030101010101" pitchFamily="2" charset="-122"/>
              </a:rPr>
              <a:t>投资</a:t>
            </a:r>
            <a:r>
              <a:rPr lang="zh-CN" altLang="en-US" sz="1100" dirty="0">
                <a:latin typeface="Garamond" panose="02020404030301010803" pitchFamily="18" charset="0"/>
                <a:ea typeface="SimSun" panose="02010600030101010101" pitchFamily="2" charset="-122"/>
              </a:rPr>
              <a:t>是指资本的形成，即社会实际资本的增加，包括厂房、设备和存货的增加以及新住宅的建筑等，其中主要是厂房、设备的增加。</a:t>
            </a:r>
            <a:endParaRPr lang="en-US" altLang="zh-CN" sz="1100" dirty="0">
              <a:latin typeface="Garamond" panose="02020404030301010803" pitchFamily="18" charset="0"/>
              <a:ea typeface="SimSun" panose="02010600030101010101" pitchFamily="2" charset="-122"/>
            </a:endParaRPr>
          </a:p>
          <a:p>
            <a:pPr eaLnBrk="1" hangingPunct="1"/>
            <a:r>
              <a:rPr lang="zh-CN" altLang="en-US" sz="1100" b="1" dirty="0">
                <a:solidFill>
                  <a:srgbClr val="FF0000"/>
                </a:solidFill>
                <a:latin typeface="Garamond" panose="02020404030301010803" pitchFamily="18" charset="0"/>
                <a:ea typeface="SimSun" panose="02010600030101010101" pitchFamily="2" charset="-122"/>
              </a:rPr>
              <a:t>思考：投资如何决定？</a:t>
            </a:r>
            <a:endParaRPr lang="en-US" altLang="zh-CN" sz="1100" b="1" dirty="0">
              <a:solidFill>
                <a:srgbClr val="FF0000"/>
              </a:solidFill>
              <a:latin typeface="Garamond" panose="02020404030301010803" pitchFamily="18" charset="0"/>
              <a:ea typeface="SimSun" panose="02010600030101010101" pitchFamily="2" charset="-122"/>
            </a:endParaRPr>
          </a:p>
          <a:p>
            <a:pPr eaLnBrk="1" hangingPunct="1"/>
            <a:r>
              <a:rPr lang="zh-CN" altLang="en-US" sz="1000" b="1" dirty="0">
                <a:solidFill>
                  <a:schemeClr val="tx1">
                    <a:lumMod val="50000"/>
                    <a:lumOff val="50000"/>
                  </a:schemeClr>
                </a:solidFill>
                <a:latin typeface="KaiTi" panose="02010609060101010101" pitchFamily="49" charset="-122"/>
                <a:ea typeface="KaiTi" panose="02010609060101010101" pitchFamily="49" charset="-122"/>
              </a:rPr>
              <a:t>提示：企业用于投资的资金多半是借贷来的</a:t>
            </a:r>
            <a:r>
              <a:rPr lang="zh-CN" altLang="en-US" sz="1000" b="1" dirty="0">
                <a:latin typeface="KaiTi" panose="02010609060101010101" pitchFamily="49" charset="-122"/>
                <a:ea typeface="KaiTi" panose="02010609060101010101" pitchFamily="49" charset="-122"/>
              </a:rPr>
              <a:t>。</a:t>
            </a:r>
            <a:endParaRPr lang="en-US" altLang="zh-CN" sz="1000" b="1" dirty="0">
              <a:latin typeface="KaiTi" panose="02010609060101010101" pitchFamily="49" charset="-122"/>
              <a:ea typeface="KaiTi" panose="02010609060101010101" pitchFamily="49" charset="-122"/>
            </a:endParaRPr>
          </a:p>
        </p:txBody>
      </p:sp>
      <p:sp>
        <p:nvSpPr>
          <p:cNvPr id="2" name="标题 1">
            <a:extLst>
              <a:ext uri="{FF2B5EF4-FFF2-40B4-BE49-F238E27FC236}">
                <a16:creationId xmlns:a16="http://schemas.microsoft.com/office/drawing/2014/main" id="{76E7A8EF-7099-3B76-9BE8-7A24BA80D031}"/>
              </a:ext>
            </a:extLst>
          </p:cNvPr>
          <p:cNvSpPr>
            <a:spLocks noGrp="1"/>
          </p:cNvSpPr>
          <p:nvPr>
            <p:ph type="title"/>
          </p:nvPr>
        </p:nvSpPr>
        <p:spPr/>
        <p:txBody>
          <a:bodyPr/>
          <a:lstStyle/>
          <a:p>
            <a:r>
              <a:rPr kumimoji="1" lang="zh-CN" altLang="en-US" dirty="0"/>
              <a:t>投资的决策</a:t>
            </a:r>
          </a:p>
        </p:txBody>
      </p:sp>
      <p:sp>
        <p:nvSpPr>
          <p:cNvPr id="8" name="object 100">
            <a:extLst>
              <a:ext uri="{FF2B5EF4-FFF2-40B4-BE49-F238E27FC236}">
                <a16:creationId xmlns:a16="http://schemas.microsoft.com/office/drawing/2014/main" id="{102BEC15-3F14-0EC0-849D-93A279C07668}"/>
              </a:ext>
            </a:extLst>
          </p:cNvPr>
          <p:cNvSpPr txBox="1"/>
          <p:nvPr/>
        </p:nvSpPr>
        <p:spPr>
          <a:xfrm>
            <a:off x="74399" y="3554"/>
            <a:ext cx="1400159" cy="89768"/>
          </a:xfrm>
          <a:prstGeom prst="rect">
            <a:avLst/>
          </a:prstGeom>
        </p:spPr>
        <p:txBody>
          <a:bodyPr vert="horz" wrap="square" lIns="0" tIns="0" rIns="0" bIns="0" rtlCol="0">
            <a:spAutoFit/>
          </a:bodyPr>
          <a:lstStyle/>
          <a:p>
            <a:pPr marL="12690">
              <a:lnSpc>
                <a:spcPts val="699"/>
              </a:lnSpc>
            </a:pPr>
            <a:r>
              <a:rPr lang="en" sz="100" i="1" spc="60" dirty="0">
                <a:solidFill>
                  <a:srgbClr val="F2F2F2"/>
                </a:solidFill>
                <a:latin typeface="Times New Roman"/>
                <a:cs typeface="Times New Roman"/>
              </a:rPr>
              <a:t> </a:t>
            </a:r>
            <a:r>
              <a:rPr lang="en" sz="100" i="1" spc="80" dirty="0">
                <a:solidFill>
                  <a:srgbClr val="F2F2F2"/>
                </a:solidFill>
                <a:latin typeface="Times New Roman"/>
                <a:cs typeface="Times New Roman"/>
              </a:rPr>
              <a:t>I </a:t>
            </a:r>
            <a:r>
              <a:rPr lang="zh-CN" altLang="en" sz="599" spc="-5" dirty="0">
                <a:solidFill>
                  <a:srgbClr val="F2F2F2"/>
                </a:solidFill>
                <a:latin typeface="Times New Roman"/>
                <a:cs typeface="Times New Roman"/>
              </a:rPr>
              <a:t>第</a:t>
            </a:r>
            <a:r>
              <a:rPr lang="en-US" altLang="zh-CN" sz="599" spc="-5" dirty="0">
                <a:solidFill>
                  <a:srgbClr val="F2F2F2"/>
                </a:solidFill>
                <a:latin typeface="Times New Roman"/>
                <a:cs typeface="Times New Roman"/>
              </a:rPr>
              <a:t>3</a:t>
            </a:r>
            <a:r>
              <a:rPr lang="zh-CN" altLang="en" sz="599" spc="-5" dirty="0">
                <a:solidFill>
                  <a:srgbClr val="F2F2F2"/>
                </a:solidFill>
                <a:latin typeface="Times New Roman"/>
                <a:cs typeface="Times New Roman"/>
              </a:rPr>
              <a:t>节</a:t>
            </a:r>
            <a:r>
              <a:rPr lang="zh-CN" altLang="en-US" sz="599" spc="-5" dirty="0">
                <a:solidFill>
                  <a:srgbClr val="F2F2F2"/>
                </a:solidFill>
                <a:latin typeface="Times New Roman"/>
                <a:cs typeface="Times New Roman"/>
              </a:rPr>
              <a:t> </a:t>
            </a:r>
            <a:r>
              <a:rPr lang="zh-CN" altLang="en" sz="599" spc="-5" dirty="0">
                <a:solidFill>
                  <a:srgbClr val="F2F2F2"/>
                </a:solidFill>
                <a:latin typeface="Times New Roman"/>
                <a:cs typeface="Times New Roman"/>
              </a:rPr>
              <a:t>投资</a:t>
            </a:r>
            <a:r>
              <a:rPr lang="zh-CN" altLang="en-US" sz="599" spc="-5" dirty="0">
                <a:solidFill>
                  <a:srgbClr val="F2F2F2"/>
                </a:solidFill>
                <a:latin typeface="Times New Roman"/>
                <a:cs typeface="Times New Roman"/>
              </a:rPr>
              <a:t>需求</a:t>
            </a:r>
            <a:endParaRPr sz="599" dirty="0">
              <a:latin typeface="Times New Roman"/>
              <a:cs typeface="Times New Roman"/>
            </a:endParaRPr>
          </a:p>
        </p:txBody>
      </p:sp>
      <p:sp>
        <p:nvSpPr>
          <p:cNvPr id="10" name="灯片编号占位符 2">
            <a:extLst>
              <a:ext uri="{FF2B5EF4-FFF2-40B4-BE49-F238E27FC236}">
                <a16:creationId xmlns:a16="http://schemas.microsoft.com/office/drawing/2014/main" id="{7AE11084-A5D9-5769-5CA1-0550A0B5498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3DC81F74-44B7-50DF-F52C-A0C887B9806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102755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left)">
                                      <p:cBhvr>
                                        <p:cTn id="17" dur="500"/>
                                        <p:tgtEl>
                                          <p:spTgt spid="81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72879" y="500911"/>
            <a:ext cx="3976211" cy="2193800"/>
          </a:xfrm>
        </p:spPr>
        <p:txBody>
          <a:bodyPr/>
          <a:lstStyle/>
          <a:p>
            <a:pPr eaLnBrk="1" hangingPunct="1"/>
            <a:r>
              <a:rPr lang="zh-CN" altLang="en-US" sz="1100" dirty="0">
                <a:latin typeface="Garamond" panose="02020404030301010803" pitchFamily="18" charset="0"/>
                <a:ea typeface="SimSun" panose="02010600030101010101" pitchFamily="2" charset="-122"/>
              </a:rPr>
              <a:t>凯恩斯认为，是否要对新的实物资本进行投资取决于这些新投资的预期利润率与为购买这些资产而必须借进的款项所要求的利率的比较。</a:t>
            </a:r>
            <a:endParaRPr lang="en-US" altLang="zh-CN" sz="1100" dirty="0">
              <a:latin typeface="Garamond" panose="02020404030301010803" pitchFamily="18" charset="0"/>
              <a:ea typeface="SimSun" panose="02010600030101010101" pitchFamily="2" charset="-122"/>
            </a:endParaRPr>
          </a:p>
          <a:p>
            <a:pPr eaLnBrk="1" hangingPunct="1"/>
            <a:endParaRPr lang="en-US" altLang="zh-CN" sz="1100" dirty="0">
              <a:latin typeface="Garamond" panose="02020404030301010803" pitchFamily="18" charset="0"/>
              <a:ea typeface="SimSun" panose="02010600030101010101" pitchFamily="2" charset="-122"/>
            </a:endParaRPr>
          </a:p>
          <a:p>
            <a:pPr eaLnBrk="1" hangingPunct="1"/>
            <a:endParaRPr lang="en-US" altLang="zh-CN" sz="1100" dirty="0">
              <a:latin typeface="Garamond" panose="02020404030301010803" pitchFamily="18" charset="0"/>
              <a:ea typeface="SimSun" panose="02010600030101010101" pitchFamily="2" charset="-122"/>
            </a:endParaRPr>
          </a:p>
          <a:p>
            <a:pPr eaLnBrk="1" hangingPunct="1">
              <a:lnSpc>
                <a:spcPct val="100000"/>
              </a:lnSpc>
            </a:pPr>
            <a:r>
              <a:rPr lang="en-US" altLang="zh-CN" sz="1000" dirty="0">
                <a:latin typeface="Garamond" panose="02020404030301010803" pitchFamily="18" charset="0"/>
                <a:ea typeface="KaiTi" panose="02010609060101010101" pitchFamily="49" charset="-122"/>
              </a:rPr>
              <a:t>Note</a:t>
            </a:r>
            <a:r>
              <a:rPr lang="zh-CN" altLang="en-US" sz="1000" dirty="0">
                <a:latin typeface="Garamond" panose="02020404030301010803" pitchFamily="18" charset="0"/>
                <a:ea typeface="KaiTi" panose="02010609060101010101" pitchFamily="49" charset="-122"/>
              </a:rPr>
              <a:t>：这里的利率是</a:t>
            </a:r>
            <a:r>
              <a:rPr lang="zh-CN" altLang="en-US" sz="1000" b="1" dirty="0">
                <a:latin typeface="Garamond" panose="02020404030301010803" pitchFamily="18" charset="0"/>
                <a:ea typeface="KaiTi" panose="02010609060101010101" pitchFamily="49" charset="-122"/>
              </a:rPr>
              <a:t>实际利率</a:t>
            </a:r>
            <a:r>
              <a:rPr lang="zh-CN" altLang="en-US" sz="1000" dirty="0">
                <a:latin typeface="Garamond" panose="02020404030301010803" pitchFamily="18" charset="0"/>
                <a:ea typeface="KaiTi" panose="02010609060101010101" pitchFamily="49" charset="-122"/>
              </a:rPr>
              <a:t>，即名义利率</a:t>
            </a:r>
            <a:r>
              <a:rPr lang="en-US" altLang="zh-CN" sz="1000" dirty="0">
                <a:latin typeface="Garamond" panose="02020404030301010803" pitchFamily="18" charset="0"/>
                <a:ea typeface="KaiTi" panose="02010609060101010101" pitchFamily="49" charset="-122"/>
              </a:rPr>
              <a:t>-</a:t>
            </a:r>
            <a:r>
              <a:rPr lang="zh-CN" altLang="en-US" sz="1000" dirty="0">
                <a:latin typeface="Garamond" panose="02020404030301010803" pitchFamily="18" charset="0"/>
                <a:ea typeface="KaiTi" panose="02010609060101010101" pitchFamily="49" charset="-122"/>
              </a:rPr>
              <a:t>通货膨胀率</a:t>
            </a:r>
            <a:endParaRPr lang="en-US" altLang="zh-CN" sz="1000" dirty="0">
              <a:latin typeface="Garamond" panose="02020404030301010803" pitchFamily="18" charset="0"/>
              <a:ea typeface="KaiTi" panose="02010609060101010101" pitchFamily="49" charset="-122"/>
            </a:endParaRPr>
          </a:p>
          <a:p>
            <a:pPr eaLnBrk="1" hangingPunct="1">
              <a:lnSpc>
                <a:spcPct val="100000"/>
              </a:lnSpc>
            </a:pPr>
            <a:r>
              <a:rPr lang="zh-CN" altLang="en-US" sz="1000" dirty="0">
                <a:latin typeface="Garamond" panose="02020404030301010803" pitchFamily="18" charset="0"/>
                <a:ea typeface="KaiTi" panose="02010609060101010101" pitchFamily="49" charset="-122"/>
              </a:rPr>
              <a:t>在投资的预期利润率既定的条件下，投资取决于实际利率的高低。投资是利率的减函数。</a:t>
            </a:r>
          </a:p>
        </p:txBody>
      </p:sp>
      <p:sp>
        <p:nvSpPr>
          <p:cNvPr id="2" name="标题 1">
            <a:extLst>
              <a:ext uri="{FF2B5EF4-FFF2-40B4-BE49-F238E27FC236}">
                <a16:creationId xmlns:a16="http://schemas.microsoft.com/office/drawing/2014/main" id="{76E7A8EF-7099-3B76-9BE8-7A24BA80D031}"/>
              </a:ext>
            </a:extLst>
          </p:cNvPr>
          <p:cNvSpPr>
            <a:spLocks noGrp="1"/>
          </p:cNvSpPr>
          <p:nvPr>
            <p:ph type="title"/>
          </p:nvPr>
        </p:nvSpPr>
        <p:spPr/>
        <p:txBody>
          <a:bodyPr/>
          <a:lstStyle/>
          <a:p>
            <a:r>
              <a:rPr kumimoji="1" lang="zh-CN" altLang="en-US" dirty="0"/>
              <a:t>投资的决策</a:t>
            </a:r>
          </a:p>
        </p:txBody>
      </p:sp>
      <p:sp>
        <p:nvSpPr>
          <p:cNvPr id="8" name="object 100">
            <a:extLst>
              <a:ext uri="{FF2B5EF4-FFF2-40B4-BE49-F238E27FC236}">
                <a16:creationId xmlns:a16="http://schemas.microsoft.com/office/drawing/2014/main" id="{102BEC15-3F14-0EC0-849D-93A279C07668}"/>
              </a:ext>
            </a:extLst>
          </p:cNvPr>
          <p:cNvSpPr txBox="1"/>
          <p:nvPr/>
        </p:nvSpPr>
        <p:spPr>
          <a:xfrm>
            <a:off x="74399" y="3554"/>
            <a:ext cx="1400159" cy="89768"/>
          </a:xfrm>
          <a:prstGeom prst="rect">
            <a:avLst/>
          </a:prstGeom>
        </p:spPr>
        <p:txBody>
          <a:bodyPr vert="horz" wrap="square" lIns="0" tIns="0" rIns="0" bIns="0" rtlCol="0">
            <a:spAutoFit/>
          </a:bodyPr>
          <a:lstStyle/>
          <a:p>
            <a:pPr marL="12690">
              <a:lnSpc>
                <a:spcPts val="699"/>
              </a:lnSpc>
            </a:pPr>
            <a:r>
              <a:rPr lang="en" sz="100" i="1" spc="60" dirty="0">
                <a:solidFill>
                  <a:srgbClr val="F2F2F2"/>
                </a:solidFill>
                <a:latin typeface="Times New Roman"/>
                <a:cs typeface="Times New Roman"/>
              </a:rPr>
              <a:t> </a:t>
            </a:r>
            <a:r>
              <a:rPr lang="en" sz="100" i="1" spc="80" dirty="0">
                <a:solidFill>
                  <a:srgbClr val="F2F2F2"/>
                </a:solidFill>
                <a:latin typeface="Times New Roman"/>
                <a:cs typeface="Times New Roman"/>
              </a:rPr>
              <a:t>I </a:t>
            </a:r>
            <a:r>
              <a:rPr lang="zh-CN" altLang="en" sz="599" spc="-5" dirty="0">
                <a:solidFill>
                  <a:srgbClr val="F2F2F2"/>
                </a:solidFill>
                <a:latin typeface="Times New Roman"/>
                <a:cs typeface="Times New Roman"/>
              </a:rPr>
              <a:t>第</a:t>
            </a:r>
            <a:r>
              <a:rPr lang="en-US" altLang="zh-CN" sz="599" spc="-5" dirty="0">
                <a:solidFill>
                  <a:srgbClr val="F2F2F2"/>
                </a:solidFill>
                <a:latin typeface="Times New Roman"/>
                <a:cs typeface="Times New Roman"/>
              </a:rPr>
              <a:t>3</a:t>
            </a:r>
            <a:r>
              <a:rPr lang="zh-CN" altLang="en" sz="599" spc="-5" dirty="0">
                <a:solidFill>
                  <a:srgbClr val="F2F2F2"/>
                </a:solidFill>
                <a:latin typeface="Times New Roman"/>
                <a:cs typeface="Times New Roman"/>
              </a:rPr>
              <a:t>节</a:t>
            </a:r>
            <a:r>
              <a:rPr lang="zh-CN" altLang="en-US" sz="599" spc="-5" dirty="0">
                <a:solidFill>
                  <a:srgbClr val="F2F2F2"/>
                </a:solidFill>
                <a:latin typeface="Times New Roman"/>
                <a:cs typeface="Times New Roman"/>
              </a:rPr>
              <a:t> </a:t>
            </a:r>
            <a:r>
              <a:rPr lang="zh-CN" altLang="en" sz="599" spc="-5" dirty="0">
                <a:solidFill>
                  <a:srgbClr val="F2F2F2"/>
                </a:solidFill>
                <a:latin typeface="Times New Roman"/>
                <a:cs typeface="Times New Roman"/>
              </a:rPr>
              <a:t>投资</a:t>
            </a:r>
            <a:r>
              <a:rPr lang="zh-CN" altLang="en-US" sz="599" spc="-5" dirty="0">
                <a:solidFill>
                  <a:srgbClr val="F2F2F2"/>
                </a:solidFill>
                <a:latin typeface="Times New Roman"/>
                <a:cs typeface="Times New Roman"/>
              </a:rPr>
              <a:t>需求</a:t>
            </a:r>
            <a:endParaRPr sz="599" dirty="0">
              <a:latin typeface="Times New Roman"/>
              <a:cs typeface="Times New Roman"/>
            </a:endParaRPr>
          </a:p>
        </p:txBody>
      </p:sp>
      <p:sp>
        <p:nvSpPr>
          <p:cNvPr id="10" name="灯片编号占位符 2">
            <a:extLst>
              <a:ext uri="{FF2B5EF4-FFF2-40B4-BE49-F238E27FC236}">
                <a16:creationId xmlns:a16="http://schemas.microsoft.com/office/drawing/2014/main" id="{7AE11084-A5D9-5769-5CA1-0550A0B5498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3DC81F74-44B7-50DF-F52C-A0C887B9806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853226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3" end="3"/>
                                            </p:txEl>
                                          </p:spTgt>
                                        </p:tgtEl>
                                        <p:attrNameLst>
                                          <p:attrName>style.visibility</p:attrName>
                                        </p:attrNameLst>
                                      </p:cBhvr>
                                      <p:to>
                                        <p:strVal val="visible"/>
                                      </p:to>
                                    </p:set>
                                    <p:animEffect transition="in" filter="wipe(left)">
                                      <p:cBhvr>
                                        <p:cTn id="12" dur="500"/>
                                        <p:tgtEl>
                                          <p:spTgt spid="819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4" end="4"/>
                                            </p:txEl>
                                          </p:spTgt>
                                        </p:tgtEl>
                                        <p:attrNameLst>
                                          <p:attrName>style.visibility</p:attrName>
                                        </p:attrNameLst>
                                      </p:cBhvr>
                                      <p:to>
                                        <p:strVal val="visible"/>
                                      </p:to>
                                    </p:set>
                                    <p:animEffect transition="in" filter="wipe(left)">
                                      <p:cBhvr>
                                        <p:cTn id="17" dur="500"/>
                                        <p:tgtEl>
                                          <p:spTgt spid="81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type="body" idx="1"/>
              </p:nvPr>
            </p:nvSpPr>
            <p:spPr>
              <a:xfrm>
                <a:off x="172879" y="500911"/>
                <a:ext cx="3976211" cy="2193800"/>
              </a:xfrm>
            </p:spPr>
            <p:txBody>
              <a:bodyPr/>
              <a:lstStyle/>
              <a:p>
                <a:pPr eaLnBrk="1" hangingPunct="1"/>
                <a:r>
                  <a:rPr lang="zh-CN" altLang="en-US" sz="1100" dirty="0">
                    <a:latin typeface="Garamond" panose="02020404030301010803" pitchFamily="18" charset="0"/>
                    <a:ea typeface="SimSun" panose="02010600030101010101" pitchFamily="2" charset="-122"/>
                  </a:rPr>
                  <a:t>即使企业资金是自有的，它也会把利息看成投资的机会成本，从而把利息当作投资成本。</a:t>
                </a:r>
                <a:endParaRPr lang="en-US" altLang="zh-CN" sz="1100" dirty="0">
                  <a:latin typeface="Garamond" panose="02020404030301010803" pitchFamily="18" charset="0"/>
                  <a:ea typeface="SimSun" panose="02010600030101010101" pitchFamily="2" charset="-122"/>
                </a:endParaRPr>
              </a:p>
              <a:p>
                <a:pPr eaLnBrk="1" hangingPunct="1"/>
                <a:r>
                  <a:rPr lang="zh-CN" altLang="en-US" sz="1100" dirty="0">
                    <a:latin typeface="Garamond" panose="02020404030301010803" pitchFamily="18" charset="0"/>
                    <a:ea typeface="SimSun" panose="02010600030101010101" pitchFamily="2" charset="-122"/>
                  </a:rPr>
                  <a:t>因此，利率上升时，投资者自然会减少投资物品的购买。投资与利率之间的这种关系被称为投资函数，可表示为：</a:t>
                </a:r>
                <a:endParaRPr lang="en-US" altLang="zh-CN" sz="1100" dirty="0">
                  <a:latin typeface="Garamond" panose="02020404030301010803" pitchFamily="18" charset="0"/>
                  <a:ea typeface="SimSun" panose="02010600030101010101" pitchFamily="2" charset="-122"/>
                </a:endParaRPr>
              </a:p>
              <a:p>
                <a:pPr marL="0" indent="0" eaLnBrk="1" hangingPunct="1">
                  <a:buNone/>
                </a:pPr>
                <a14:m>
                  <m:oMathPara xmlns:m="http://schemas.openxmlformats.org/officeDocument/2006/math">
                    <m:oMathParaPr>
                      <m:jc m:val="centerGroup"/>
                    </m:oMathParaPr>
                    <m:oMath xmlns:m="http://schemas.openxmlformats.org/officeDocument/2006/math">
                      <m:r>
                        <a:rPr lang="en-US" altLang="zh-CN" sz="1100" b="0" i="1" smtClean="0">
                          <a:latin typeface="Cambria Math" panose="02040503050406030204" pitchFamily="18" charset="0"/>
                          <a:ea typeface="SimSun" panose="02010600030101010101" pitchFamily="2" charset="-122"/>
                        </a:rPr>
                        <m:t>𝐼</m:t>
                      </m:r>
                      <m:r>
                        <a:rPr lang="en-US" altLang="zh-CN" sz="1100" b="0" i="1" smtClean="0">
                          <a:latin typeface="Cambria Math" panose="02040503050406030204" pitchFamily="18" charset="0"/>
                          <a:ea typeface="SimSun" panose="02010600030101010101" pitchFamily="2" charset="-122"/>
                        </a:rPr>
                        <m:t>=</m:t>
                      </m:r>
                      <m:r>
                        <a:rPr lang="en-US" altLang="zh-CN" sz="1100" b="0" i="1" smtClean="0">
                          <a:latin typeface="Cambria Math" panose="02040503050406030204" pitchFamily="18" charset="0"/>
                          <a:ea typeface="SimSun" panose="02010600030101010101" pitchFamily="2" charset="-122"/>
                        </a:rPr>
                        <m:t>𝐼</m:t>
                      </m:r>
                      <m:d>
                        <m:dPr>
                          <m:ctrlPr>
                            <a:rPr lang="en-US" altLang="zh-CN" sz="1100" b="0" i="1" smtClean="0">
                              <a:latin typeface="Cambria Math" panose="02040503050406030204" pitchFamily="18" charset="0"/>
                              <a:ea typeface="SimSun" panose="02010600030101010101" pitchFamily="2" charset="-122"/>
                            </a:rPr>
                          </m:ctrlPr>
                        </m:dPr>
                        <m:e>
                          <m:r>
                            <a:rPr lang="en-US" altLang="zh-CN" sz="1100" b="0" i="1" smtClean="0">
                              <a:latin typeface="Cambria Math" panose="02040503050406030204" pitchFamily="18" charset="0"/>
                              <a:ea typeface="SimSun" panose="02010600030101010101" pitchFamily="2" charset="-122"/>
                            </a:rPr>
                            <m:t>𝑟</m:t>
                          </m:r>
                        </m:e>
                      </m:d>
                      <m:r>
                        <a:rPr lang="en-US" altLang="zh-CN" sz="1100" b="0" i="1" smtClean="0">
                          <a:latin typeface="Cambria Math" panose="02040503050406030204" pitchFamily="18" charset="0"/>
                          <a:ea typeface="SimSun" panose="02010600030101010101" pitchFamily="2" charset="-122"/>
                        </a:rPr>
                        <m:t>=</m:t>
                      </m:r>
                      <m:r>
                        <a:rPr lang="en-US" altLang="zh-CN" sz="1100" b="0" i="1" smtClean="0">
                          <a:latin typeface="Cambria Math" panose="02040503050406030204" pitchFamily="18" charset="0"/>
                          <a:ea typeface="SimSun" panose="02010600030101010101" pitchFamily="2" charset="-122"/>
                        </a:rPr>
                        <m:t>𝑒</m:t>
                      </m:r>
                      <m:r>
                        <a:rPr lang="en-US" altLang="zh-CN" sz="1100" b="0" i="1" smtClean="0">
                          <a:latin typeface="Cambria Math" panose="02040503050406030204" pitchFamily="18" charset="0"/>
                          <a:ea typeface="SimSun" panose="02010600030101010101" pitchFamily="2" charset="-122"/>
                        </a:rPr>
                        <m:t>−</m:t>
                      </m:r>
                      <m:r>
                        <a:rPr lang="en-US" altLang="zh-CN" sz="1100" b="0" i="1" smtClean="0">
                          <a:latin typeface="Cambria Math" panose="02040503050406030204" pitchFamily="18" charset="0"/>
                          <a:ea typeface="SimSun" panose="02010600030101010101" pitchFamily="2" charset="-122"/>
                        </a:rPr>
                        <m:t>𝑑𝑟</m:t>
                      </m:r>
                    </m:oMath>
                  </m:oMathPara>
                </a14:m>
                <a:endParaRPr lang="en-US" altLang="zh-CN" sz="1100" dirty="0">
                  <a:latin typeface="Garamond" panose="02020404030301010803" pitchFamily="18" charset="0"/>
                  <a:ea typeface="SimSun" panose="02010600030101010101" pitchFamily="2" charset="-122"/>
                </a:endParaRPr>
              </a:p>
              <a:p>
                <a:pPr eaLnBrk="1" hangingPunct="1">
                  <a:lnSpc>
                    <a:spcPct val="100000"/>
                  </a:lnSpc>
                </a:pPr>
                <a:r>
                  <a:rPr lang="zh-CN" altLang="en-US" sz="1000" dirty="0">
                    <a:latin typeface="Garamond" panose="02020404030301010803" pitchFamily="18" charset="0"/>
                    <a:ea typeface="KaiTi" panose="02010609060101010101" pitchFamily="49" charset="-122"/>
                  </a:rPr>
                  <a:t>其中，</a:t>
                </a:r>
                <a:r>
                  <a:rPr lang="en-US" altLang="zh-CN" sz="1000" dirty="0">
                    <a:latin typeface="Garamond" panose="02020404030301010803" pitchFamily="18" charset="0"/>
                    <a:ea typeface="KaiTi" panose="02010609060101010101" pitchFamily="49" charset="-122"/>
                  </a:rPr>
                  <a:t>I</a:t>
                </a:r>
                <a:r>
                  <a:rPr lang="zh-CN" altLang="en-US" sz="1000" dirty="0">
                    <a:latin typeface="Garamond" panose="02020404030301010803" pitchFamily="18" charset="0"/>
                    <a:ea typeface="KaiTi" panose="02010609060101010101" pitchFamily="49" charset="-122"/>
                  </a:rPr>
                  <a:t>表示投资，</a:t>
                </a:r>
                <a:r>
                  <a:rPr lang="en-US" altLang="zh-CN" sz="1000" dirty="0">
                    <a:ea typeface="SimSun" panose="02010600030101010101" pitchFamily="2" charset="-122"/>
                  </a:rPr>
                  <a:t> </a:t>
                </a:r>
                <a14:m>
                  <m:oMath xmlns:m="http://schemas.openxmlformats.org/officeDocument/2006/math">
                    <m:r>
                      <m:rPr>
                        <m:sty m:val="p"/>
                      </m:rPr>
                      <a:rPr lang="en-US" altLang="zh-CN" sz="1000" i="1" dirty="0" smtClean="0">
                        <a:latin typeface="Cambria Math" panose="02040503050406030204" pitchFamily="18" charset="0"/>
                        <a:ea typeface="SimSun" panose="02010600030101010101" pitchFamily="2" charset="-122"/>
                      </a:rPr>
                      <m:t>r</m:t>
                    </m:r>
                  </m:oMath>
                </a14:m>
                <a:r>
                  <a:rPr lang="zh-CN" altLang="en-US" sz="1000" dirty="0">
                    <a:latin typeface="Garamond" panose="02020404030301010803" pitchFamily="18" charset="0"/>
                    <a:ea typeface="KaiTi" panose="02010609060101010101" pitchFamily="49" charset="-122"/>
                  </a:rPr>
                  <a:t>表示利率。</a:t>
                </a:r>
                <a:r>
                  <a:rPr lang="en-US" altLang="zh-CN" sz="1000" dirty="0">
                    <a:ea typeface="SimSun" panose="02010600030101010101" pitchFamily="2" charset="-122"/>
                  </a:rPr>
                  <a:t> </a:t>
                </a:r>
                <a14:m>
                  <m:oMath xmlns:m="http://schemas.openxmlformats.org/officeDocument/2006/math">
                    <m:r>
                      <a:rPr lang="en-US" altLang="zh-CN" sz="1000" i="1">
                        <a:latin typeface="Cambria Math" panose="02040503050406030204" pitchFamily="18" charset="0"/>
                        <a:ea typeface="SimSun" panose="02010600030101010101" pitchFamily="2" charset="-122"/>
                      </a:rPr>
                      <m:t>𝑒</m:t>
                    </m:r>
                  </m:oMath>
                </a14:m>
                <a:r>
                  <a:rPr lang="zh-CN" altLang="en-US" sz="1000" dirty="0">
                    <a:latin typeface="Garamond" panose="02020404030301010803" pitchFamily="18" charset="0"/>
                    <a:ea typeface="KaiTi" panose="02010609060101010101" pitchFamily="49" charset="-122"/>
                  </a:rPr>
                  <a:t>是指企业的自主投资，</a:t>
                </a:r>
                <a14:m>
                  <m:oMath xmlns:m="http://schemas.openxmlformats.org/officeDocument/2006/math">
                    <m:r>
                      <a:rPr lang="en-US" altLang="zh-CN" sz="1000" i="1">
                        <a:latin typeface="Cambria Math" panose="02040503050406030204" pitchFamily="18" charset="0"/>
                        <a:ea typeface="SimSun" panose="02010600030101010101" pitchFamily="2" charset="-122"/>
                      </a:rPr>
                      <m:t>𝑑</m:t>
                    </m:r>
                  </m:oMath>
                </a14:m>
                <a:r>
                  <a:rPr lang="zh-CN" altLang="en-US" sz="1000" dirty="0">
                    <a:latin typeface="Garamond" panose="02020404030301010803" pitchFamily="18" charset="0"/>
                    <a:ea typeface="KaiTi" panose="02010609060101010101" pitchFamily="49" charset="-122"/>
                  </a:rPr>
                  <a:t>是投资的利率弹性，即投资对利率变动作出反应的程度。</a:t>
                </a:r>
                <a:endParaRPr lang="en-US" altLang="zh-CN" sz="1000" dirty="0">
                  <a:latin typeface="Garamond" panose="02020404030301010803" pitchFamily="18" charset="0"/>
                  <a:ea typeface="KaiTi" panose="02010609060101010101" pitchFamily="49" charset="-122"/>
                </a:endParaRPr>
              </a:p>
              <a:p>
                <a:pPr eaLnBrk="1" hangingPunct="1">
                  <a:lnSpc>
                    <a:spcPct val="100000"/>
                  </a:lnSpc>
                </a:pPr>
                <a:r>
                  <a:rPr lang="en-US" altLang="zh-CN" sz="1000" dirty="0">
                    <a:latin typeface="Garamond" panose="02020404030301010803" pitchFamily="18" charset="0"/>
                    <a:ea typeface="KaiTi" panose="02010609060101010101" pitchFamily="49" charset="-122"/>
                  </a:rPr>
                  <a:t>Note</a:t>
                </a:r>
                <a:r>
                  <a:rPr lang="zh-CN" altLang="en-US" sz="1000" dirty="0">
                    <a:latin typeface="Garamond" panose="02020404030301010803" pitchFamily="18" charset="0"/>
                    <a:ea typeface="KaiTi" panose="02010609060101010101" pitchFamily="49" charset="-122"/>
                  </a:rPr>
                  <a:t>：这里的利率是</a:t>
                </a:r>
                <a:r>
                  <a:rPr lang="zh-CN" altLang="en-US" sz="1000" b="1" dirty="0">
                    <a:latin typeface="Garamond" panose="02020404030301010803" pitchFamily="18" charset="0"/>
                    <a:ea typeface="KaiTi" panose="02010609060101010101" pitchFamily="49" charset="-122"/>
                  </a:rPr>
                  <a:t>实际利率</a:t>
                </a:r>
                <a:r>
                  <a:rPr lang="zh-CN" altLang="en-US" sz="1000" dirty="0">
                    <a:latin typeface="Garamond" panose="02020404030301010803" pitchFamily="18" charset="0"/>
                    <a:ea typeface="KaiTi" panose="02010609060101010101" pitchFamily="49" charset="-122"/>
                  </a:rPr>
                  <a:t>，即名义利率</a:t>
                </a:r>
                <a:r>
                  <a:rPr lang="en-US" altLang="zh-CN" sz="1000" dirty="0">
                    <a:latin typeface="Garamond" panose="02020404030301010803" pitchFamily="18" charset="0"/>
                    <a:ea typeface="KaiTi" panose="02010609060101010101" pitchFamily="49" charset="-122"/>
                  </a:rPr>
                  <a:t>-</a:t>
                </a:r>
                <a:r>
                  <a:rPr lang="zh-CN" altLang="en-US" sz="1000" dirty="0">
                    <a:latin typeface="Garamond" panose="02020404030301010803" pitchFamily="18" charset="0"/>
                    <a:ea typeface="KaiTi" panose="02010609060101010101" pitchFamily="49" charset="-122"/>
                  </a:rPr>
                  <a:t>通货膨胀率</a:t>
                </a:r>
                <a:endParaRPr lang="en-US" altLang="zh-CN" sz="1000" dirty="0">
                  <a:latin typeface="Garamond" panose="02020404030301010803" pitchFamily="18" charset="0"/>
                  <a:ea typeface="KaiTi" panose="02010609060101010101" pitchFamily="49" charset="-122"/>
                </a:endParaRPr>
              </a:p>
              <a:p>
                <a:pPr eaLnBrk="1" hangingPunct="1">
                  <a:lnSpc>
                    <a:spcPct val="100000"/>
                  </a:lnSpc>
                </a:pPr>
                <a:r>
                  <a:rPr lang="zh-CN" altLang="en-US" sz="1000" dirty="0">
                    <a:latin typeface="Garamond" panose="02020404030301010803" pitchFamily="18" charset="0"/>
                    <a:ea typeface="KaiTi" panose="02010609060101010101" pitchFamily="49" charset="-122"/>
                  </a:rPr>
                  <a:t>在投资的预期利润率既定的条件下，投资取决于实际利率的高低。投资是利率的减函数。</a:t>
                </a:r>
              </a:p>
            </p:txBody>
          </p:sp>
        </mc:Choice>
        <mc:Fallback xmlns="">
          <p:sp>
            <p:nvSpPr>
              <p:cNvPr id="8195" name="Rectangle 3"/>
              <p:cNvSpPr>
                <a:spLocks noGrp="1" noRot="1" noChangeAspect="1" noMove="1" noResize="1" noEditPoints="1" noAdjustHandles="1" noChangeArrowheads="1" noChangeShapeType="1" noTextEdit="1"/>
              </p:cNvSpPr>
              <p:nvPr>
                <p:ph type="body" idx="1"/>
              </p:nvPr>
            </p:nvSpPr>
            <p:spPr>
              <a:xfrm>
                <a:off x="172879" y="500911"/>
                <a:ext cx="3976211" cy="2193800"/>
              </a:xfrm>
              <a:blipFill>
                <a:blip r:embed="rId2"/>
                <a:stretch>
                  <a:fillRect l="-318" t="-1724" r="-1274"/>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76E7A8EF-7099-3B76-9BE8-7A24BA80D031}"/>
              </a:ext>
            </a:extLst>
          </p:cNvPr>
          <p:cNvSpPr>
            <a:spLocks noGrp="1"/>
          </p:cNvSpPr>
          <p:nvPr>
            <p:ph type="title"/>
          </p:nvPr>
        </p:nvSpPr>
        <p:spPr/>
        <p:txBody>
          <a:bodyPr/>
          <a:lstStyle/>
          <a:p>
            <a:r>
              <a:rPr kumimoji="1" lang="zh-CN" altLang="en-US" dirty="0"/>
              <a:t>投资函数</a:t>
            </a:r>
          </a:p>
        </p:txBody>
      </p:sp>
      <p:sp>
        <p:nvSpPr>
          <p:cNvPr id="8" name="object 100">
            <a:extLst>
              <a:ext uri="{FF2B5EF4-FFF2-40B4-BE49-F238E27FC236}">
                <a16:creationId xmlns:a16="http://schemas.microsoft.com/office/drawing/2014/main" id="{102BEC15-3F14-0EC0-849D-93A279C07668}"/>
              </a:ext>
            </a:extLst>
          </p:cNvPr>
          <p:cNvSpPr txBox="1"/>
          <p:nvPr/>
        </p:nvSpPr>
        <p:spPr>
          <a:xfrm>
            <a:off x="74399" y="3554"/>
            <a:ext cx="1400159" cy="89768"/>
          </a:xfrm>
          <a:prstGeom prst="rect">
            <a:avLst/>
          </a:prstGeom>
        </p:spPr>
        <p:txBody>
          <a:bodyPr vert="horz" wrap="square" lIns="0" tIns="0" rIns="0" bIns="0" rtlCol="0">
            <a:spAutoFit/>
          </a:bodyPr>
          <a:lstStyle/>
          <a:p>
            <a:pPr marL="12690">
              <a:lnSpc>
                <a:spcPts val="699"/>
              </a:lnSpc>
            </a:pPr>
            <a:r>
              <a:rPr lang="en" sz="100" i="1" spc="60" dirty="0">
                <a:solidFill>
                  <a:srgbClr val="F2F2F2"/>
                </a:solidFill>
                <a:latin typeface="Times New Roman"/>
                <a:cs typeface="Times New Roman"/>
              </a:rPr>
              <a:t> </a:t>
            </a:r>
            <a:r>
              <a:rPr lang="en" sz="100" i="1" spc="80" dirty="0">
                <a:solidFill>
                  <a:srgbClr val="F2F2F2"/>
                </a:solidFill>
                <a:latin typeface="Times New Roman"/>
                <a:cs typeface="Times New Roman"/>
              </a:rPr>
              <a:t>I </a:t>
            </a:r>
            <a:r>
              <a:rPr lang="zh-CN" altLang="en" sz="599" spc="-5" dirty="0">
                <a:solidFill>
                  <a:srgbClr val="F2F2F2"/>
                </a:solidFill>
                <a:latin typeface="Times New Roman"/>
                <a:cs typeface="Times New Roman"/>
              </a:rPr>
              <a:t>第</a:t>
            </a:r>
            <a:r>
              <a:rPr lang="en-US" altLang="zh-CN" sz="599" spc="-5" dirty="0">
                <a:solidFill>
                  <a:srgbClr val="F2F2F2"/>
                </a:solidFill>
                <a:latin typeface="Times New Roman"/>
                <a:cs typeface="Times New Roman"/>
              </a:rPr>
              <a:t>3</a:t>
            </a:r>
            <a:r>
              <a:rPr lang="zh-CN" altLang="en" sz="599" spc="-5" dirty="0">
                <a:solidFill>
                  <a:srgbClr val="F2F2F2"/>
                </a:solidFill>
                <a:latin typeface="Times New Roman"/>
                <a:cs typeface="Times New Roman"/>
              </a:rPr>
              <a:t>节</a:t>
            </a:r>
            <a:r>
              <a:rPr lang="zh-CN" altLang="en-US" sz="599" spc="-5" dirty="0">
                <a:solidFill>
                  <a:srgbClr val="F2F2F2"/>
                </a:solidFill>
                <a:latin typeface="Times New Roman"/>
                <a:cs typeface="Times New Roman"/>
              </a:rPr>
              <a:t> </a:t>
            </a:r>
            <a:r>
              <a:rPr lang="zh-CN" altLang="en" sz="599" spc="-5" dirty="0">
                <a:solidFill>
                  <a:srgbClr val="F2F2F2"/>
                </a:solidFill>
                <a:latin typeface="Times New Roman"/>
                <a:cs typeface="Times New Roman"/>
              </a:rPr>
              <a:t>投资</a:t>
            </a:r>
            <a:r>
              <a:rPr lang="zh-CN" altLang="en-US" sz="599" spc="-5" dirty="0">
                <a:solidFill>
                  <a:srgbClr val="F2F2F2"/>
                </a:solidFill>
                <a:latin typeface="Times New Roman"/>
                <a:cs typeface="Times New Roman"/>
              </a:rPr>
              <a:t>需求</a:t>
            </a:r>
            <a:endParaRPr sz="599" dirty="0">
              <a:latin typeface="Times New Roman"/>
              <a:cs typeface="Times New Roman"/>
            </a:endParaRPr>
          </a:p>
        </p:txBody>
      </p:sp>
      <p:sp>
        <p:nvSpPr>
          <p:cNvPr id="10" name="灯片编号占位符 2">
            <a:extLst>
              <a:ext uri="{FF2B5EF4-FFF2-40B4-BE49-F238E27FC236}">
                <a16:creationId xmlns:a16="http://schemas.microsoft.com/office/drawing/2014/main" id="{7AE11084-A5D9-5769-5CA1-0550A0B5498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3DC81F74-44B7-50DF-F52C-A0C887B9806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88239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left)">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wipe(left)">
                                      <p:cBhvr>
                                        <p:cTn id="22" dur="5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wipe(left)">
                                      <p:cBhvr>
                                        <p:cTn id="27" dur="5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wipe(left)">
                                      <p:cBhvr>
                                        <p:cTn id="32" dur="500"/>
                                        <p:tgtEl>
                                          <p:spTgt spid="8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投资的决定</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7"/>
            <a:ext cx="4110356" cy="1277752"/>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一个预期长期实际利率为</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的厂商正在考虑一个投资项目清单，每个项目都需要花费</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万美元，这些项目在回收期长短和回收数量上不同。第一个项目将在两年内回收</a:t>
            </a:r>
            <a:r>
              <a:rPr lang="en-US" altLang="zh-CN" sz="1210" dirty="0">
                <a:latin typeface="Garamond" panose="02020404030301010803" pitchFamily="18" charset="0"/>
                <a:ea typeface="SimSun" panose="02010600030101010101" pitchFamily="2" charset="-122"/>
                <a:cs typeface="Times New Roman" panose="02020603050405020304" pitchFamily="18" charset="0"/>
              </a:rPr>
              <a:t>120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万美元；第二个项目将在三年内回收</a:t>
            </a:r>
            <a:r>
              <a:rPr lang="en-US" altLang="zh-CN" sz="1210" dirty="0">
                <a:latin typeface="Garamond" panose="02020404030301010803" pitchFamily="18" charset="0"/>
                <a:ea typeface="SimSun" panose="02010600030101010101" pitchFamily="2" charset="-122"/>
                <a:cs typeface="Times New Roman" panose="02020603050405020304" pitchFamily="18" charset="0"/>
              </a:rPr>
              <a:t>125</a:t>
            </a:r>
            <a:r>
              <a:rPr lang="zh-CN" altLang="en-US" sz="1210" dirty="0">
                <a:latin typeface="Garamond" panose="02020404030301010803" pitchFamily="18" charset="0"/>
                <a:ea typeface="SimSun" panose="02010600030101010101" pitchFamily="2" charset="-122"/>
                <a:cs typeface="Times New Roman" panose="02020603050405020304" pitchFamily="18" charset="0"/>
              </a:rPr>
              <a:t>万美元；第三个项目将在四年内回收</a:t>
            </a:r>
            <a:r>
              <a:rPr lang="en-US" altLang="zh-CN" sz="1210" dirty="0">
                <a:latin typeface="Garamond" panose="02020404030301010803" pitchFamily="18" charset="0"/>
                <a:ea typeface="SimSun" panose="02010600030101010101" pitchFamily="2" charset="-122"/>
                <a:cs typeface="Times New Roman" panose="02020603050405020304" pitchFamily="18" charset="0"/>
              </a:rPr>
              <a:t>130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万美元。哪个项目值得投资？</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如果利率是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6%</a:t>
            </a:r>
            <a:r>
              <a:rPr lang="zh-CN" altLang="en-US" sz="1210" dirty="0">
                <a:latin typeface="Garamond" panose="02020404030301010803" pitchFamily="18" charset="0"/>
                <a:ea typeface="SimSun" panose="02010600030101010101" pitchFamily="2" charset="-122"/>
                <a:cs typeface="Times New Roman" panose="02020603050405020304" pitchFamily="18" charset="0"/>
              </a:rPr>
              <a:t>，答案有变化吗？</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12503363"/>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61033" y="938287"/>
            <a:ext cx="2369831" cy="1926900"/>
            <a:chOff x="3724375" y="1596552"/>
            <a:chExt cx="5034616" cy="3930848"/>
          </a:xfrm>
        </p:grpSpPr>
        <p:pic>
          <p:nvPicPr>
            <p:cNvPr id="8196" name="Picture 4" descr="xf141"/>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216" t="4101" r="5870" b="6661"/>
            <a:stretch/>
          </p:blipFill>
          <p:spPr bwMode="auto">
            <a:xfrm>
              <a:off x="3724375" y="1596552"/>
              <a:ext cx="4937761" cy="3465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 Box 5"/>
            <p:cNvSpPr txBox="1">
              <a:spLocks noChangeArrowheads="1"/>
            </p:cNvSpPr>
            <p:nvPr/>
          </p:nvSpPr>
          <p:spPr bwMode="auto">
            <a:xfrm>
              <a:off x="4241551" y="5067134"/>
              <a:ext cx="4517440" cy="460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lgn="ctr" defTabSz="230520">
                <a:spcBef>
                  <a:spcPct val="50000"/>
                </a:spcBef>
                <a:defRPr/>
              </a:pPr>
              <a:r>
                <a:rPr lang="zh-CN" altLang="en-US" sz="908" b="1" dirty="0">
                  <a:solidFill>
                    <a:prstClr val="black"/>
                  </a:solidFill>
                  <a:latin typeface="Garamond" panose="02020404030301010803" pitchFamily="18" charset="0"/>
                  <a:ea typeface="KaiTi" panose="02010609060101010101" pitchFamily="49" charset="-122"/>
                </a:rPr>
                <a:t>投资函数  </a:t>
              </a:r>
              <a:r>
                <a:rPr lang="en-US" altLang="zh-CN" sz="908" b="1" dirty="0" err="1">
                  <a:solidFill>
                    <a:prstClr val="black"/>
                  </a:solidFill>
                  <a:latin typeface="Garamond" panose="02020404030301010803" pitchFamily="18" charset="0"/>
                  <a:ea typeface="KaiTi" panose="02010609060101010101" pitchFamily="49" charset="-122"/>
                </a:rPr>
                <a:t>i</a:t>
              </a:r>
              <a:r>
                <a:rPr lang="en-US" altLang="zh-CN" sz="908" b="1" dirty="0">
                  <a:solidFill>
                    <a:prstClr val="black"/>
                  </a:solidFill>
                  <a:latin typeface="Garamond" panose="02020404030301010803" pitchFamily="18" charset="0"/>
                  <a:ea typeface="KaiTi" panose="02010609060101010101" pitchFamily="49" charset="-122"/>
                </a:rPr>
                <a:t> = </a:t>
              </a:r>
              <a:r>
                <a:rPr lang="en-US" altLang="zh-CN" sz="908" b="1" dirty="0" err="1">
                  <a:solidFill>
                    <a:prstClr val="black"/>
                  </a:solidFill>
                  <a:latin typeface="Garamond" panose="02020404030301010803" pitchFamily="18" charset="0"/>
                  <a:ea typeface="KaiTi" panose="02010609060101010101" pitchFamily="49" charset="-122"/>
                </a:rPr>
                <a:t>i</a:t>
              </a:r>
              <a:r>
                <a:rPr lang="en-US" altLang="zh-CN" sz="908" b="1" dirty="0">
                  <a:solidFill>
                    <a:prstClr val="black"/>
                  </a:solidFill>
                  <a:latin typeface="Garamond" panose="02020404030301010803" pitchFamily="18" charset="0"/>
                  <a:ea typeface="KaiTi" panose="02010609060101010101" pitchFamily="49" charset="-122"/>
                </a:rPr>
                <a:t> (r)</a:t>
              </a:r>
            </a:p>
          </p:txBody>
        </p:sp>
      </p:grpSp>
      <mc:AlternateContent xmlns:mc="http://schemas.openxmlformats.org/markup-compatibility/2006" xmlns:a14="http://schemas.microsoft.com/office/drawing/2010/main">
        <mc:Choice Requires="a14">
          <p:sp>
            <p:nvSpPr>
              <p:cNvPr id="8195" name="Rectangle 3"/>
              <p:cNvSpPr>
                <a:spLocks noGrp="1" noChangeArrowheads="1"/>
              </p:cNvSpPr>
              <p:nvPr>
                <p:ph type="body" idx="1"/>
              </p:nvPr>
            </p:nvSpPr>
            <p:spPr>
              <a:xfrm>
                <a:off x="173504" y="650255"/>
                <a:ext cx="2030987" cy="2566960"/>
              </a:xfrm>
            </p:spPr>
            <p:txBody>
              <a:bodyPr/>
              <a:lstStyle/>
              <a:p>
                <a:pPr marL="0" indent="0" eaLnBrk="1" hangingPunct="1">
                  <a:buNone/>
                </a:pPr>
                <a:r>
                  <a:rPr lang="zh-CN" altLang="en-US" sz="1008" b="1" dirty="0">
                    <a:latin typeface="Garamond" panose="02020404030301010803" pitchFamily="18" charset="0"/>
                    <a:ea typeface="SimSun" panose="02010600030101010101" pitchFamily="2" charset="-122"/>
                  </a:rPr>
                  <a:t>假定</a:t>
                </a:r>
                <a14:m>
                  <m:oMath xmlns:m="http://schemas.openxmlformats.org/officeDocument/2006/math">
                    <m:r>
                      <a:rPr lang="en-US" altLang="zh-CN" sz="1008" b="1" i="1">
                        <a:latin typeface="Cambria Math" panose="02040503050406030204" pitchFamily="18" charset="0"/>
                        <a:ea typeface="等线" panose="02010600030101010101" pitchFamily="2" charset="-122"/>
                      </a:rPr>
                      <m:t>𝒊</m:t>
                    </m:r>
                    <m:r>
                      <a:rPr lang="en-US" altLang="zh-CN" sz="1008" b="1" i="1">
                        <a:latin typeface="Cambria Math" panose="02040503050406030204" pitchFamily="18" charset="0"/>
                        <a:ea typeface="等线" panose="02010600030101010101" pitchFamily="2" charset="-122"/>
                      </a:rPr>
                      <m:t>=</m:t>
                    </m:r>
                    <m:r>
                      <a:rPr lang="en-US" altLang="zh-CN" sz="1008" b="1" i="1">
                        <a:latin typeface="Cambria Math" panose="02040503050406030204" pitchFamily="18" charset="0"/>
                        <a:ea typeface="等线" panose="02010600030101010101" pitchFamily="2" charset="-122"/>
                      </a:rPr>
                      <m:t>𝒊</m:t>
                    </m:r>
                    <m:d>
                      <m:dPr>
                        <m:ctrlPr>
                          <a:rPr lang="en-US" altLang="zh-CN" sz="1008" b="1" i="1">
                            <a:latin typeface="Cambria Math" panose="02040503050406030204" pitchFamily="18" charset="0"/>
                            <a:ea typeface="等线" panose="02010600030101010101" pitchFamily="2" charset="-122"/>
                          </a:rPr>
                        </m:ctrlPr>
                      </m:dPr>
                      <m:e>
                        <m:r>
                          <a:rPr lang="en-US" altLang="zh-CN" sz="1008" b="1" i="1">
                            <a:latin typeface="Cambria Math" panose="02040503050406030204" pitchFamily="18" charset="0"/>
                            <a:ea typeface="等线" panose="02010600030101010101" pitchFamily="2" charset="-122"/>
                          </a:rPr>
                          <m:t>𝒓</m:t>
                        </m:r>
                      </m:e>
                    </m:d>
                    <m:r>
                      <a:rPr lang="en-US" altLang="zh-CN" sz="1008" b="1" i="1">
                        <a:latin typeface="Cambria Math" panose="02040503050406030204" pitchFamily="18" charset="0"/>
                        <a:ea typeface="等线" panose="02010600030101010101" pitchFamily="2" charset="-122"/>
                      </a:rPr>
                      <m:t>=</m:t>
                    </m:r>
                    <m:r>
                      <a:rPr lang="en-US" altLang="zh-CN" sz="1008" b="1" i="1">
                        <a:latin typeface="Cambria Math" panose="02040503050406030204" pitchFamily="18" charset="0"/>
                        <a:ea typeface="等线" panose="02010600030101010101" pitchFamily="2" charset="-122"/>
                      </a:rPr>
                      <m:t>𝟏𝟐𝟓𝟎</m:t>
                    </m:r>
                    <m:r>
                      <a:rPr lang="en-US" altLang="zh-CN" sz="1008" b="1" i="1">
                        <a:latin typeface="Cambria Math" panose="02040503050406030204" pitchFamily="18" charset="0"/>
                        <a:ea typeface="等线" panose="02010600030101010101" pitchFamily="2" charset="-122"/>
                      </a:rPr>
                      <m:t>−</m:t>
                    </m:r>
                    <m:r>
                      <a:rPr lang="en-US" altLang="zh-CN" sz="1008" b="1" i="1">
                        <a:latin typeface="Cambria Math" panose="02040503050406030204" pitchFamily="18" charset="0"/>
                        <a:ea typeface="等线" panose="02010600030101010101" pitchFamily="2" charset="-122"/>
                      </a:rPr>
                      <m:t>𝟐𝟓𝟎</m:t>
                    </m:r>
                    <m:r>
                      <a:rPr lang="en-US" altLang="zh-CN" sz="1008" b="1" i="1">
                        <a:latin typeface="Cambria Math" panose="02040503050406030204" pitchFamily="18" charset="0"/>
                        <a:ea typeface="等线" panose="02010600030101010101" pitchFamily="2" charset="-122"/>
                      </a:rPr>
                      <m:t>𝒓</m:t>
                    </m:r>
                  </m:oMath>
                </a14:m>
                <a:r>
                  <a:rPr lang="zh-CN" altLang="en-US" sz="1008" dirty="0">
                    <a:latin typeface="Garamond" panose="02020404030301010803" pitchFamily="18" charset="0"/>
                    <a:ea typeface="SimSun" panose="02010600030101010101" pitchFamily="2" charset="-122"/>
                  </a:rPr>
                  <a:t>。</a:t>
                </a:r>
                <a:endParaRPr lang="en-US" altLang="zh-CN" sz="1008" dirty="0">
                  <a:latin typeface="Garamond" panose="02020404030301010803" pitchFamily="18" charset="0"/>
                  <a:ea typeface="SimSun" panose="02010600030101010101" pitchFamily="2" charset="-122"/>
                </a:endParaRPr>
              </a:p>
              <a:p>
                <a:pPr eaLnBrk="1" hangingPunct="1"/>
                <a:r>
                  <a:rPr lang="en-US" altLang="zh-CN" sz="1008" dirty="0">
                    <a:latin typeface="Garamond" panose="02020404030301010803" pitchFamily="18" charset="0"/>
                    <a:ea typeface="SimSun" panose="02010600030101010101" pitchFamily="2" charset="-122"/>
                  </a:rPr>
                  <a:t>1250</a:t>
                </a:r>
                <a:r>
                  <a:rPr lang="zh-CN" altLang="en-US" sz="1008" dirty="0">
                    <a:latin typeface="Garamond" panose="02020404030301010803" pitchFamily="18" charset="0"/>
                    <a:ea typeface="SimSun" panose="02010600030101010101" pitchFamily="2" charset="-122"/>
                  </a:rPr>
                  <a:t>表示</a:t>
                </a:r>
                <a:r>
                  <a:rPr lang="zh-CN" altLang="en-US" sz="1008" b="1" dirty="0">
                    <a:latin typeface="Garamond" panose="02020404030301010803" pitchFamily="18" charset="0"/>
                    <a:ea typeface="SimSun" panose="02010600030101010101" pitchFamily="2" charset="-122"/>
                  </a:rPr>
                  <a:t>即使利率为零时也有的投资量，称自主投资</a:t>
                </a:r>
                <a:r>
                  <a:rPr lang="zh-CN" altLang="en-US" sz="1008" dirty="0">
                    <a:latin typeface="Garamond" panose="02020404030301010803" pitchFamily="18" charset="0"/>
                    <a:ea typeface="SimSun" panose="02010600030101010101" pitchFamily="2" charset="-122"/>
                  </a:rPr>
                  <a:t>。</a:t>
                </a:r>
                <a:endParaRPr lang="en-US" altLang="zh-CN" sz="1008" dirty="0">
                  <a:latin typeface="Garamond" panose="02020404030301010803" pitchFamily="18" charset="0"/>
                  <a:ea typeface="SimSun" panose="02010600030101010101" pitchFamily="2" charset="-122"/>
                </a:endParaRPr>
              </a:p>
              <a:p>
                <a:pPr eaLnBrk="1" hangingPunct="1"/>
                <a:r>
                  <a:rPr lang="en-US" altLang="zh-CN" sz="1008" dirty="0">
                    <a:latin typeface="Garamond" panose="02020404030301010803" pitchFamily="18" charset="0"/>
                    <a:ea typeface="SimSun" panose="02010600030101010101" pitchFamily="2" charset="-122"/>
                  </a:rPr>
                  <a:t>250</a:t>
                </a:r>
                <a:r>
                  <a:rPr lang="zh-CN" altLang="en-US" sz="1008" dirty="0">
                    <a:latin typeface="Garamond" panose="02020404030301010803" pitchFamily="18" charset="0"/>
                    <a:ea typeface="SimSun" panose="02010600030101010101" pitchFamily="2" charset="-122"/>
                  </a:rPr>
                  <a:t>是系数，表示利率每上升或下降</a:t>
                </a:r>
                <a:r>
                  <a:rPr lang="en-US" altLang="zh-CN" sz="1008" dirty="0">
                    <a:latin typeface="Garamond" panose="02020404030301010803" pitchFamily="18" charset="0"/>
                    <a:ea typeface="SimSun" panose="02010600030101010101" pitchFamily="2" charset="-122"/>
                  </a:rPr>
                  <a:t>1</a:t>
                </a:r>
                <a:r>
                  <a:rPr lang="zh-CN" altLang="en-US" sz="1008" dirty="0">
                    <a:latin typeface="Garamond" panose="02020404030301010803" pitchFamily="18" charset="0"/>
                    <a:ea typeface="SimSun" panose="02010600030101010101" pitchFamily="2" charset="-122"/>
                  </a:rPr>
                  <a:t>个百分点，投资会减少或增加的数量，称为</a:t>
                </a:r>
                <a:r>
                  <a:rPr lang="zh-CN" altLang="en-US" sz="1008" b="1" dirty="0">
                    <a:latin typeface="Garamond" panose="02020404030301010803" pitchFamily="18" charset="0"/>
                    <a:ea typeface="SimSun" panose="02010600030101010101" pitchFamily="2" charset="-122"/>
                  </a:rPr>
                  <a:t>利率对投资需求的影响系数</a:t>
                </a:r>
                <a:r>
                  <a:rPr lang="zh-CN" altLang="en-US" sz="1008" dirty="0">
                    <a:latin typeface="Garamond" panose="02020404030301010803" pitchFamily="18" charset="0"/>
                    <a:ea typeface="SimSun" panose="02010600030101010101" pitchFamily="2" charset="-122"/>
                  </a:rPr>
                  <a:t>。</a:t>
                </a:r>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投资函数也可以写成：</a:t>
                </a:r>
                <a:endParaRPr lang="en-US" altLang="zh-CN" sz="1008" dirty="0">
                  <a:latin typeface="Garamond" panose="02020404030301010803" pitchFamily="18" charset="0"/>
                  <a:ea typeface="SimSun" panose="02010600030101010101" pitchFamily="2" charset="-122"/>
                </a:endParaRPr>
              </a:p>
              <a:p>
                <a:pPr eaLnBrk="1" hangingPunct="1"/>
                <a14:m>
                  <m:oMath xmlns:m="http://schemas.openxmlformats.org/officeDocument/2006/math">
                    <m:r>
                      <a:rPr lang="en-US" altLang="zh-CN" sz="1008" i="1">
                        <a:latin typeface="Cambria Math" panose="02040503050406030204" pitchFamily="18" charset="0"/>
                        <a:ea typeface="等线" panose="02010600030101010101" pitchFamily="2" charset="-122"/>
                      </a:rPr>
                      <m:t>𝑖</m:t>
                    </m:r>
                    <m:r>
                      <a:rPr lang="en-US" altLang="zh-CN" sz="1008" i="1">
                        <a:latin typeface="Cambria Math" panose="02040503050406030204" pitchFamily="18" charset="0"/>
                        <a:ea typeface="等线" panose="02010600030101010101" pitchFamily="2" charset="-122"/>
                      </a:rPr>
                      <m:t>=</m:t>
                    </m:r>
                    <m:r>
                      <a:rPr lang="en-US" altLang="zh-CN" sz="1008" i="1">
                        <a:latin typeface="Cambria Math" panose="02040503050406030204" pitchFamily="18" charset="0"/>
                        <a:ea typeface="等线" panose="02010600030101010101" pitchFamily="2" charset="-122"/>
                      </a:rPr>
                      <m:t>𝑖</m:t>
                    </m:r>
                    <m:d>
                      <m:dPr>
                        <m:ctrlPr>
                          <a:rPr lang="en-US" altLang="zh-CN" sz="1008" i="1">
                            <a:latin typeface="Cambria Math" panose="02040503050406030204" pitchFamily="18" charset="0"/>
                            <a:ea typeface="等线" panose="02010600030101010101" pitchFamily="2" charset="-122"/>
                          </a:rPr>
                        </m:ctrlPr>
                      </m:dPr>
                      <m:e>
                        <m:r>
                          <a:rPr lang="en-US" altLang="zh-CN" sz="1008" i="1">
                            <a:latin typeface="Cambria Math" panose="02040503050406030204" pitchFamily="18" charset="0"/>
                            <a:ea typeface="等线" panose="02010600030101010101" pitchFamily="2" charset="-122"/>
                          </a:rPr>
                          <m:t>𝑟</m:t>
                        </m:r>
                      </m:e>
                    </m:d>
                    <m:r>
                      <a:rPr lang="en-US" altLang="zh-CN" sz="1008" i="1">
                        <a:latin typeface="Cambria Math" panose="02040503050406030204" pitchFamily="18" charset="0"/>
                        <a:ea typeface="等线" panose="02010600030101010101" pitchFamily="2" charset="-122"/>
                      </a:rPr>
                      <m:t>=</m:t>
                    </m:r>
                    <m:r>
                      <a:rPr lang="en-US" altLang="zh-CN" sz="1008" i="1">
                        <a:latin typeface="Cambria Math" panose="02040503050406030204" pitchFamily="18" charset="0"/>
                        <a:ea typeface="等线" panose="02010600030101010101" pitchFamily="2" charset="-122"/>
                      </a:rPr>
                      <m:t>𝑒</m:t>
                    </m:r>
                    <m:r>
                      <a:rPr lang="en-US" altLang="zh-CN" sz="1008" i="1">
                        <a:latin typeface="Cambria Math" panose="02040503050406030204" pitchFamily="18" charset="0"/>
                        <a:ea typeface="等线" panose="02010600030101010101" pitchFamily="2" charset="-122"/>
                      </a:rPr>
                      <m:t>−</m:t>
                    </m:r>
                    <m:r>
                      <a:rPr lang="en-US" altLang="zh-CN" sz="1008" i="1">
                        <a:latin typeface="Cambria Math" panose="02040503050406030204" pitchFamily="18" charset="0"/>
                        <a:ea typeface="等线" panose="02010600030101010101" pitchFamily="2" charset="-122"/>
                      </a:rPr>
                      <m:t>𝑑𝑟</m:t>
                    </m:r>
                  </m:oMath>
                </a14:m>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右图的投资需求曲线也叫做</a:t>
                </a:r>
                <a:r>
                  <a:rPr lang="zh-CN" altLang="en-US" sz="1008" b="1" dirty="0">
                    <a:latin typeface="Garamond" panose="02020404030301010803" pitchFamily="18" charset="0"/>
                    <a:ea typeface="SimSun" panose="02010600030101010101" pitchFamily="2" charset="-122"/>
                  </a:rPr>
                  <a:t>投资的边际效率曲线</a:t>
                </a:r>
                <a:r>
                  <a:rPr lang="zh-CN" altLang="en-US" sz="1008" dirty="0">
                    <a:latin typeface="Garamond" panose="02020404030301010803" pitchFamily="18" charset="0"/>
                    <a:ea typeface="SimSun" panose="02010600030101010101" pitchFamily="2" charset="-122"/>
                  </a:rPr>
                  <a:t>。</a:t>
                </a:r>
              </a:p>
            </p:txBody>
          </p:sp>
        </mc:Choice>
        <mc:Fallback xmlns="">
          <p:sp>
            <p:nvSpPr>
              <p:cNvPr id="8195" name="Rectangle 3"/>
              <p:cNvSpPr>
                <a:spLocks noGrp="1" noRot="1" noChangeAspect="1" noMove="1" noResize="1" noEditPoints="1" noAdjustHandles="1" noChangeArrowheads="1" noChangeShapeType="1" noTextEdit="1"/>
              </p:cNvSpPr>
              <p:nvPr>
                <p:ph type="body" idx="1"/>
              </p:nvPr>
            </p:nvSpPr>
            <p:spPr>
              <a:xfrm>
                <a:off x="173504" y="650255"/>
                <a:ext cx="2030987" cy="2566960"/>
              </a:xfrm>
              <a:blipFill>
                <a:blip r:embed="rId3"/>
                <a:stretch>
                  <a:fillRect/>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7FD29120-FF75-F03A-CAA3-F4DB509A4284}"/>
              </a:ext>
            </a:extLst>
          </p:cNvPr>
          <p:cNvSpPr>
            <a:spLocks noGrp="1"/>
          </p:cNvSpPr>
          <p:nvPr>
            <p:ph type="title"/>
          </p:nvPr>
        </p:nvSpPr>
        <p:spPr/>
        <p:txBody>
          <a:bodyPr/>
          <a:lstStyle/>
          <a:p>
            <a:r>
              <a:rPr kumimoji="1" lang="zh-CN" altLang="en-US" dirty="0"/>
              <a:t>投资曲线</a:t>
            </a:r>
          </a:p>
        </p:txBody>
      </p:sp>
      <p:sp>
        <p:nvSpPr>
          <p:cNvPr id="5" name="灯片编号占位符 2">
            <a:extLst>
              <a:ext uri="{FF2B5EF4-FFF2-40B4-BE49-F238E27FC236}">
                <a16:creationId xmlns:a16="http://schemas.microsoft.com/office/drawing/2014/main" id="{EA2C68A2-37FA-5853-3F75-EAF6EE8696E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8</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854781E2-E560-8C2F-7F68-DE5246DD7CB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655976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219" name="Rectangle 3"/>
              <p:cNvSpPr>
                <a:spLocks noGrp="1" noChangeArrowheads="1"/>
              </p:cNvSpPr>
              <p:nvPr>
                <p:ph type="body" idx="1"/>
              </p:nvPr>
            </p:nvSpPr>
            <p:spPr>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p>
                <a:pPr eaLnBrk="1" hangingPunct="1"/>
                <a:r>
                  <a:rPr lang="zh-CN" altLang="en-US" sz="1008" b="1" dirty="0">
                    <a:latin typeface="Garamond" panose="02020404030301010803" pitchFamily="18" charset="0"/>
                    <a:ea typeface="SimSun" panose="02010600030101010101" pitchFamily="2" charset="-122"/>
                  </a:rPr>
                  <a:t>资本边际效率（</a:t>
                </a:r>
                <a:r>
                  <a:rPr lang="en-US" altLang="zh-CN" sz="1008" b="1" dirty="0">
                    <a:latin typeface="Garamond" panose="02020404030301010803" pitchFamily="18" charset="0"/>
                    <a:ea typeface="SimSun" panose="02010600030101010101" pitchFamily="2" charset="-122"/>
                  </a:rPr>
                  <a:t>marginal efficiency of capital, MEC</a:t>
                </a:r>
                <a:r>
                  <a:rPr lang="zh-CN" altLang="en-US" sz="1008" b="1" dirty="0">
                    <a:latin typeface="Garamond" panose="02020404030301010803" pitchFamily="18" charset="0"/>
                    <a:ea typeface="SimSun" panose="02010600030101010101" pitchFamily="2" charset="-122"/>
                  </a:rPr>
                  <a:t>）</a:t>
                </a:r>
                <a:r>
                  <a:rPr lang="zh-CN" altLang="en-US" sz="1008" dirty="0">
                    <a:latin typeface="Garamond" panose="02020404030301010803" pitchFamily="18" charset="0"/>
                    <a:ea typeface="SimSun" panose="02010600030101010101" pitchFamily="2" charset="-122"/>
                  </a:rPr>
                  <a:t>是一种贴现率，这种</a:t>
                </a:r>
                <a:r>
                  <a:rPr lang="zh-CN" altLang="en-US" sz="1008" u="sng" dirty="0">
                    <a:solidFill>
                      <a:srgbClr val="FF0000"/>
                    </a:solidFill>
                    <a:latin typeface="Garamond" panose="02020404030301010803" pitchFamily="18" charset="0"/>
                    <a:ea typeface="SimSun" panose="02010600030101010101" pitchFamily="2" charset="-122"/>
                  </a:rPr>
                  <a:t>贴现率</a:t>
                </a:r>
                <a:r>
                  <a:rPr lang="zh-CN" altLang="en-US" sz="1008" dirty="0">
                    <a:latin typeface="Garamond" panose="02020404030301010803" pitchFamily="18" charset="0"/>
                    <a:ea typeface="SimSun" panose="02010600030101010101" pitchFamily="2" charset="-122"/>
                  </a:rPr>
                  <a:t>正好使一项资本物品的使用期限内各预期收益的</a:t>
                </a:r>
                <a:r>
                  <a:rPr lang="zh-CN" altLang="en-US" sz="1008" u="sng" dirty="0">
                    <a:solidFill>
                      <a:srgbClr val="FF0000"/>
                    </a:solidFill>
                    <a:latin typeface="Garamond" panose="02020404030301010803" pitchFamily="18" charset="0"/>
                    <a:ea typeface="SimSun" panose="02010600030101010101" pitchFamily="2" charset="-122"/>
                  </a:rPr>
                  <a:t>现值之和</a:t>
                </a:r>
                <a:r>
                  <a:rPr lang="zh-CN" altLang="en-US" sz="1008" dirty="0">
                    <a:latin typeface="Garamond" panose="02020404030301010803" pitchFamily="18" charset="0"/>
                    <a:ea typeface="SimSun" panose="02010600030101010101" pitchFamily="2" charset="-122"/>
                  </a:rPr>
                  <a:t>等于这项资本品的供给价格或者重置成本。</a:t>
                </a:r>
                <a:endParaRPr lang="en-US" altLang="zh-CN" sz="1008" dirty="0">
                  <a:latin typeface="Garamond" panose="02020404030301010803" pitchFamily="18" charset="0"/>
                  <a:ea typeface="SimSun" panose="02010600030101010101" pitchFamily="2" charset="-122"/>
                </a:endParaRPr>
              </a:p>
              <a:p>
                <a:pPr eaLnBrk="1" hangingPunct="1"/>
                <a:r>
                  <a:rPr lang="zh-CN" altLang="en-US" sz="1008" b="1" dirty="0">
                    <a:latin typeface="Garamond" panose="02020404030301010803" pitchFamily="18" charset="0"/>
                    <a:ea typeface="SimSun" panose="02010600030101010101" pitchFamily="2" charset="-122"/>
                  </a:rPr>
                  <a:t>贴现率和现值</a:t>
                </a:r>
                <a:endParaRPr lang="en-US" altLang="zh-CN" sz="1008" b="1"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假定本金是</a:t>
                </a:r>
                <a:r>
                  <a:rPr lang="en-US" altLang="zh-CN" sz="1008" dirty="0">
                    <a:latin typeface="Garamond" panose="02020404030301010803" pitchFamily="18" charset="0"/>
                    <a:ea typeface="SimSun" panose="02010600030101010101" pitchFamily="2" charset="-122"/>
                  </a:rPr>
                  <a:t>100</a:t>
                </a:r>
                <a:r>
                  <a:rPr lang="zh-CN" altLang="en-US" sz="1008" dirty="0">
                    <a:latin typeface="Garamond" panose="02020404030301010803" pitchFamily="18" charset="0"/>
                    <a:ea typeface="SimSun" panose="02010600030101010101" pitchFamily="2" charset="-122"/>
                  </a:rPr>
                  <a:t>美元，年利率是</a:t>
                </a:r>
                <a:r>
                  <a:rPr lang="en-US" altLang="zh-CN" sz="1008" dirty="0">
                    <a:latin typeface="Garamond" panose="02020404030301010803" pitchFamily="18" charset="0"/>
                    <a:ea typeface="SimSun" panose="02010600030101010101" pitchFamily="2" charset="-122"/>
                  </a:rPr>
                  <a:t>5%</a:t>
                </a:r>
                <a:r>
                  <a:rPr lang="zh-CN" altLang="en-US" sz="1008" dirty="0">
                    <a:latin typeface="Garamond" panose="02020404030301010803" pitchFamily="18" charset="0"/>
                    <a:ea typeface="SimSun" panose="02010600030101010101" pitchFamily="2" charset="-122"/>
                  </a:rPr>
                  <a:t>：</a:t>
                </a:r>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第一年本利和：</a:t>
                </a:r>
                <a14:m>
                  <m:oMath xmlns:m="http://schemas.openxmlformats.org/officeDocument/2006/math">
                    <m:r>
                      <a:rPr lang="en-US" altLang="zh-CN" sz="1008" i="1" dirty="0">
                        <a:latin typeface="Cambria Math" panose="02040503050406030204" pitchFamily="18" charset="0"/>
                        <a:ea typeface="楷体" panose="02010609060101010101" pitchFamily="49" charset="-122"/>
                      </a:rPr>
                      <m:t>100</m:t>
                    </m:r>
                    <m:r>
                      <a:rPr lang="zh-CN" altLang="en-US" sz="1008" i="1" dirty="0">
                        <a:latin typeface="Cambria Math" panose="02040503050406030204" pitchFamily="18" charset="0"/>
                        <a:ea typeface="楷体" panose="02010609060101010101" pitchFamily="49" charset="-122"/>
                      </a:rPr>
                      <m:t>（</m:t>
                    </m:r>
                    <m:r>
                      <a:rPr lang="en-US" altLang="zh-CN" sz="1008" i="1" dirty="0">
                        <a:latin typeface="Cambria Math" panose="02040503050406030204" pitchFamily="18" charset="0"/>
                        <a:ea typeface="楷体" panose="02010609060101010101" pitchFamily="49" charset="-122"/>
                      </a:rPr>
                      <m:t>1+5%</m:t>
                    </m:r>
                    <m:r>
                      <a:rPr lang="zh-CN" altLang="en-US" sz="1008" i="1" dirty="0">
                        <a:latin typeface="Cambria Math" panose="02040503050406030204" pitchFamily="18" charset="0"/>
                        <a:ea typeface="楷体" panose="02010609060101010101" pitchFamily="49" charset="-122"/>
                      </a:rPr>
                      <m:t>）</m:t>
                    </m:r>
                    <m:r>
                      <a:rPr lang="en-US" altLang="zh-CN" sz="1008" i="1" dirty="0">
                        <a:latin typeface="Cambria Math" panose="02040503050406030204" pitchFamily="18" charset="0"/>
                        <a:ea typeface="楷体" panose="02010609060101010101" pitchFamily="49" charset="-122"/>
                      </a:rPr>
                      <m:t>=105</m:t>
                    </m:r>
                    <m:r>
                      <a:rPr lang="zh-CN" altLang="en-US" sz="1008" i="1" dirty="0">
                        <a:latin typeface="Cambria Math" panose="02040503050406030204" pitchFamily="18" charset="0"/>
                        <a:ea typeface="楷体" panose="02010609060101010101" pitchFamily="49" charset="-122"/>
                      </a:rPr>
                      <m:t>美元</m:t>
                    </m:r>
                  </m:oMath>
                </a14:m>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第二年本利和：</a:t>
                </a:r>
                <a14:m>
                  <m:oMath xmlns:m="http://schemas.openxmlformats.org/officeDocument/2006/math">
                    <m:r>
                      <a:rPr lang="en-US" altLang="zh-CN" sz="1008" i="1" dirty="0">
                        <a:latin typeface="Cambria Math" panose="02040503050406030204" pitchFamily="18" charset="0"/>
                        <a:ea typeface="楷体" panose="02010609060101010101" pitchFamily="49" charset="-122"/>
                      </a:rPr>
                      <m:t>105</m:t>
                    </m:r>
                    <m:d>
                      <m:dPr>
                        <m:begChr m:val="（"/>
                        <m:endChr m:val="）"/>
                        <m:ctrlPr>
                          <a:rPr lang="zh-CN" altLang="en-US"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r>
                      <a:rPr lang="en-US" altLang="zh-CN" sz="1008" i="1" dirty="0">
                        <a:latin typeface="Cambria Math" panose="02040503050406030204" pitchFamily="18" charset="0"/>
                        <a:ea typeface="楷体" panose="02010609060101010101" pitchFamily="49" charset="-122"/>
                      </a:rPr>
                      <m:t>=100</m:t>
                    </m:r>
                    <m:sSup>
                      <m:sSupPr>
                        <m:ctrlPr>
                          <a:rPr lang="en-US" altLang="zh-CN" sz="1008" i="1" dirty="0">
                            <a:latin typeface="Cambria Math" panose="02040503050406030204" pitchFamily="18" charset="0"/>
                            <a:ea typeface="楷体" panose="02010609060101010101" pitchFamily="49" charset="-122"/>
                          </a:rPr>
                        </m:ctrlPr>
                      </m:sSupPr>
                      <m:e>
                        <m:d>
                          <m:dPr>
                            <m:begChr m:val="（"/>
                            <m:endChr m:val="）"/>
                            <m:ctrlPr>
                              <a:rPr lang="zh-CN" altLang="en-US"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e>
                      <m:sup>
                        <m:r>
                          <a:rPr lang="en-US" altLang="zh-CN" sz="1008" i="1" dirty="0">
                            <a:latin typeface="Cambria Math" panose="02040503050406030204" pitchFamily="18" charset="0"/>
                            <a:ea typeface="楷体" panose="02010609060101010101" pitchFamily="49" charset="-122"/>
                          </a:rPr>
                          <m:t>2</m:t>
                        </m:r>
                      </m:sup>
                    </m:sSup>
                    <m:r>
                      <a:rPr lang="en-US" altLang="zh-CN" sz="1008" i="1" dirty="0">
                        <a:latin typeface="Cambria Math" panose="02040503050406030204" pitchFamily="18" charset="0"/>
                        <a:ea typeface="楷体" panose="02010609060101010101" pitchFamily="49" charset="-122"/>
                      </a:rPr>
                      <m:t>=110.25</m:t>
                    </m:r>
                    <m:r>
                      <a:rPr lang="zh-CN" altLang="en-US" sz="1008" i="1" dirty="0">
                        <a:latin typeface="Cambria Math" panose="02040503050406030204" pitchFamily="18" charset="0"/>
                        <a:ea typeface="楷体" panose="02010609060101010101" pitchFamily="49" charset="-122"/>
                      </a:rPr>
                      <m:t>美元</m:t>
                    </m:r>
                  </m:oMath>
                </a14:m>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第三年本利和：</a:t>
                </a:r>
                <a14:m>
                  <m:oMath xmlns:m="http://schemas.openxmlformats.org/officeDocument/2006/math">
                    <m:r>
                      <a:rPr lang="en-US" altLang="zh-CN" sz="1008" i="1" dirty="0">
                        <a:latin typeface="Cambria Math" panose="02040503050406030204" pitchFamily="18" charset="0"/>
                        <a:ea typeface="楷体" panose="02010609060101010101" pitchFamily="49" charset="-122"/>
                      </a:rPr>
                      <m:t>110.25</m:t>
                    </m:r>
                    <m:d>
                      <m:dPr>
                        <m:ctrlPr>
                          <a:rPr lang="en-US" altLang="zh-CN"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r>
                      <a:rPr lang="en-US" altLang="zh-CN" sz="1008" i="1" dirty="0">
                        <a:latin typeface="Cambria Math" panose="02040503050406030204" pitchFamily="18" charset="0"/>
                        <a:ea typeface="楷体" panose="02010609060101010101" pitchFamily="49" charset="-122"/>
                      </a:rPr>
                      <m:t>=100</m:t>
                    </m:r>
                    <m:sSup>
                      <m:sSupPr>
                        <m:ctrlPr>
                          <a:rPr lang="en-US" altLang="zh-CN" sz="1008" i="1" dirty="0">
                            <a:latin typeface="Cambria Math" panose="02040503050406030204" pitchFamily="18" charset="0"/>
                            <a:ea typeface="楷体" panose="02010609060101010101" pitchFamily="49" charset="-122"/>
                          </a:rPr>
                        </m:ctrlPr>
                      </m:sSupPr>
                      <m:e>
                        <m:d>
                          <m:dPr>
                            <m:begChr m:val="（"/>
                            <m:endChr m:val="）"/>
                            <m:ctrlPr>
                              <a:rPr lang="zh-CN" altLang="en-US"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e>
                      <m:sup>
                        <m:r>
                          <a:rPr lang="en-US" altLang="zh-CN" sz="1008" i="1" dirty="0">
                            <a:latin typeface="Cambria Math" panose="02040503050406030204" pitchFamily="18" charset="0"/>
                            <a:ea typeface="楷体" panose="02010609060101010101" pitchFamily="49" charset="-122"/>
                          </a:rPr>
                          <m:t>3</m:t>
                        </m:r>
                      </m:sup>
                    </m:sSup>
                    <m:r>
                      <a:rPr lang="en-US" altLang="zh-CN" sz="1008" i="1" dirty="0">
                        <a:latin typeface="Cambria Math" panose="02040503050406030204" pitchFamily="18" charset="0"/>
                        <a:ea typeface="楷体" panose="02010609060101010101" pitchFamily="49" charset="-122"/>
                      </a:rPr>
                      <m:t>=115.76</m:t>
                    </m:r>
                  </m:oMath>
                </a14:m>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以此类推，以</a:t>
                </a:r>
                <a:r>
                  <a:rPr lang="en-US" altLang="zh-CN" sz="1008" dirty="0">
                    <a:latin typeface="Garamond" panose="02020404030301010803" pitchFamily="18" charset="0"/>
                    <a:ea typeface="SimSun" panose="02010600030101010101" pitchFamily="2" charset="-122"/>
                  </a:rPr>
                  <a:t>r</a:t>
                </a:r>
                <a:r>
                  <a:rPr lang="zh-CN" altLang="en-US" sz="1008" dirty="0">
                    <a:latin typeface="Garamond" panose="02020404030301010803" pitchFamily="18" charset="0"/>
                    <a:ea typeface="SimSun" panose="02010600030101010101" pitchFamily="2" charset="-122"/>
                  </a:rPr>
                  <a:t>表示利率，</a:t>
                </a:r>
                <a14:m>
                  <m:oMath xmlns:m="http://schemas.openxmlformats.org/officeDocument/2006/math">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0</m:t>
                        </m:r>
                      </m:sub>
                    </m:sSub>
                  </m:oMath>
                </a14:m>
                <a:r>
                  <a:rPr lang="zh-CN" altLang="en-US" sz="1008" dirty="0">
                    <a:latin typeface="Garamond" panose="02020404030301010803" pitchFamily="18" charset="0"/>
                    <a:ea typeface="SimSun" panose="02010600030101010101" pitchFamily="2" charset="-122"/>
                  </a:rPr>
                  <a:t>表示本金，</a:t>
                </a:r>
                <a:r>
                  <a:rPr lang="en-US" altLang="zh-CN" sz="1008" dirty="0">
                    <a:latin typeface="Garamond" panose="02020404030301010803" pitchFamily="18" charset="0"/>
                    <a:ea typeface="SimSun" panose="02010600030101010101" pitchFamily="2" charset="-122"/>
                  </a:rPr>
                  <a:t> </a:t>
                </a:r>
                <a14:m>
                  <m:oMath xmlns:m="http://schemas.openxmlformats.org/officeDocument/2006/math">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1</m:t>
                        </m:r>
                      </m:sub>
                    </m:sSub>
                    <m:r>
                      <a:rPr lang="en-US" altLang="zh-CN" sz="1008">
                        <a:latin typeface="Cambria Math" panose="02040503050406030204" pitchFamily="18" charset="0"/>
                        <a:ea typeface="楷体" panose="02010609060101010101" pitchFamily="49" charset="-122"/>
                      </a:rPr>
                      <m:t>,</m:t>
                    </m:r>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2</m:t>
                        </m:r>
                      </m:sub>
                    </m:sSub>
                    <m:r>
                      <a:rPr lang="en-US" altLang="zh-CN" sz="1008" i="1">
                        <a:latin typeface="Cambria Math" panose="02040503050406030204" pitchFamily="18" charset="0"/>
                        <a:ea typeface="楷体" panose="02010609060101010101" pitchFamily="49" charset="-122"/>
                      </a:rPr>
                      <m:t>,</m:t>
                    </m:r>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3</m:t>
                        </m:r>
                      </m:sub>
                    </m:sSub>
                  </m:oMath>
                </a14:m>
                <a:r>
                  <a:rPr lang="zh-CN" altLang="en-US" sz="1008" dirty="0">
                    <a:latin typeface="Garamond" panose="02020404030301010803" pitchFamily="18" charset="0"/>
                    <a:ea typeface="SimSun" panose="02010600030101010101" pitchFamily="2" charset="-122"/>
                  </a:rPr>
                  <a:t>分别表示第</a:t>
                </a:r>
                <a:r>
                  <a:rPr lang="en-US" altLang="zh-CN" sz="1008" dirty="0">
                    <a:latin typeface="Garamond" panose="02020404030301010803" pitchFamily="18" charset="0"/>
                    <a:ea typeface="SimSun" panose="02010600030101010101" pitchFamily="2" charset="-122"/>
                  </a:rPr>
                  <a:t>1</a:t>
                </a:r>
                <a:r>
                  <a:rPr lang="zh-CN" altLang="en-US" sz="1008" dirty="0">
                    <a:latin typeface="Garamond" panose="02020404030301010803" pitchFamily="18" charset="0"/>
                    <a:ea typeface="SimSun" panose="02010600030101010101" pitchFamily="2" charset="-122"/>
                  </a:rPr>
                  <a:t>年、第二年、第三年的本利和，那么：</a:t>
                </a:r>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第</a:t>
                </a:r>
                <a:r>
                  <a:rPr lang="en-US" altLang="zh-CN" sz="1008" dirty="0">
                    <a:latin typeface="Garamond" panose="02020404030301010803" pitchFamily="18" charset="0"/>
                    <a:ea typeface="SimSun" panose="02010600030101010101" pitchFamily="2" charset="-122"/>
                  </a:rPr>
                  <a:t>n</a:t>
                </a:r>
                <a:r>
                  <a:rPr lang="zh-CN" altLang="en-US" sz="1008" dirty="0">
                    <a:latin typeface="Garamond" panose="02020404030301010803" pitchFamily="18" charset="0"/>
                    <a:ea typeface="SimSun" panose="02010600030101010101" pitchFamily="2" charset="-122"/>
                  </a:rPr>
                  <a:t>年的本利和为：</a:t>
                </a:r>
                <a14:m>
                  <m:oMath xmlns:m="http://schemas.openxmlformats.org/officeDocument/2006/math">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𝑛</m:t>
                        </m:r>
                      </m:sub>
                    </m:sSub>
                    <m:r>
                      <a:rPr lang="en-US" altLang="zh-CN" sz="1008" i="1">
                        <a:latin typeface="Cambria Math" panose="02040503050406030204" pitchFamily="18" charset="0"/>
                        <a:ea typeface="楷体" panose="02010609060101010101" pitchFamily="49" charset="-122"/>
                      </a:rPr>
                      <m:t>=</m:t>
                    </m:r>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0</m:t>
                        </m:r>
                      </m:sub>
                    </m:sSub>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𝑛</m:t>
                        </m:r>
                      </m:sup>
                    </m:sSup>
                  </m:oMath>
                </a14:m>
                <a:endParaRPr lang="en-US" altLang="zh-CN" sz="1008" dirty="0">
                  <a:latin typeface="Garamond" panose="02020404030301010803" pitchFamily="18" charset="0"/>
                  <a:ea typeface="SimSun" panose="02010600030101010101" pitchFamily="2" charset="-122"/>
                </a:endParaRPr>
              </a:p>
              <a:p>
                <a:pPr eaLnBrk="1" hangingPunct="1"/>
                <a:endParaRPr lang="en-US" altLang="zh-CN" sz="1008" dirty="0">
                  <a:latin typeface="Garamond" panose="02020404030301010803" pitchFamily="18" charset="0"/>
                  <a:ea typeface="SimSun" panose="02010600030101010101" pitchFamily="2" charset="-122"/>
                </a:endParaRPr>
              </a:p>
            </p:txBody>
          </p:sp>
        </mc:Choice>
        <mc:Fallback xmlns="">
          <p:sp>
            <p:nvSpPr>
              <p:cNvPr id="9219" name="Rectangle 3"/>
              <p:cNvSpPr>
                <a:spLocks noGrp="1" noRot="1" noChangeAspect="1" noMove="1" noResize="1" noEditPoints="1" noAdjustHandles="1" noChangeArrowheads="1" noChangeShapeType="1" noTextEdit="1"/>
              </p:cNvSpPr>
              <p:nvPr>
                <p:ph type="body" idx="1"/>
              </p:nvPr>
            </p:nvSpPr>
            <p:spPr>
              <a:blipFill>
                <a:blip r:embed="rId2"/>
                <a:stretch>
                  <a:fillRect l="-906" t="-97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灯片编号占位符 2">
            <a:extLst>
              <a:ext uri="{FF2B5EF4-FFF2-40B4-BE49-F238E27FC236}">
                <a16:creationId xmlns:a16="http://schemas.microsoft.com/office/drawing/2014/main" id="{9748D65C-7E9D-AF03-C055-64685163388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9</a:t>
            </a:fld>
            <a:endParaRPr lang="zh-CN" altLang="zh-CN" sz="856">
              <a:solidFill>
                <a:srgbClr val="777777"/>
              </a:solidFill>
              <a:ea typeface="宋体" panose="02010600030101010101" pitchFamily="2" charset="-122"/>
            </a:endParaRPr>
          </a:p>
        </p:txBody>
      </p:sp>
      <p:sp>
        <p:nvSpPr>
          <p:cNvPr id="5" name="标题 4">
            <a:extLst>
              <a:ext uri="{FF2B5EF4-FFF2-40B4-BE49-F238E27FC236}">
                <a16:creationId xmlns:a16="http://schemas.microsoft.com/office/drawing/2014/main" id="{308B85F2-EFFC-3049-B818-5B4ACFD677C2}"/>
              </a:ext>
            </a:extLst>
          </p:cNvPr>
          <p:cNvSpPr>
            <a:spLocks noGrp="1"/>
          </p:cNvSpPr>
          <p:nvPr>
            <p:ph type="title"/>
          </p:nvPr>
        </p:nvSpPr>
        <p:spPr/>
        <p:txBody>
          <a:bodyPr/>
          <a:lstStyle/>
          <a:p>
            <a:r>
              <a:rPr kumimoji="1" lang="zh-CN" altLang="en-US" dirty="0"/>
              <a:t>资本的边际效率</a:t>
            </a:r>
          </a:p>
        </p:txBody>
      </p:sp>
      <p:sp>
        <p:nvSpPr>
          <p:cNvPr id="3" name="页脚占位符 1">
            <a:extLst>
              <a:ext uri="{FF2B5EF4-FFF2-40B4-BE49-F238E27FC236}">
                <a16:creationId xmlns:a16="http://schemas.microsoft.com/office/drawing/2014/main" id="{659E0016-0321-3B82-B0BA-CDF0A8B88AAC}"/>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85713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10" dirty="0">
                    <a:latin typeface="Garamond" panose="02020404030301010803" pitchFamily="18" charset="0"/>
                    <a:ea typeface="SimSun" panose="02010600030101010101" pitchFamily="2" charset="-122"/>
                  </a:rPr>
                  <a:t>反过来看，若已知利率和本利和，利用同时求本金。</a:t>
                </a:r>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由</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𝑛</m:t>
                        </m:r>
                      </m:sub>
                    </m:sSub>
                    <m:r>
                      <a:rPr lang="en-US" altLang="zh-CN" sz="1210" i="1">
                        <a:latin typeface="Cambria Math" panose="02040503050406030204" pitchFamily="18" charset="0"/>
                        <a:ea typeface="楷体" panose="02010609060101010101" pitchFamily="49" charset="-122"/>
                      </a:rPr>
                      <m:t>=</m:t>
                    </m:r>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0</m:t>
                        </m:r>
                      </m:sub>
                    </m:sSub>
                    <m:sSup>
                      <m:sSupPr>
                        <m:ctrlPr>
                          <a:rPr lang="en-US" altLang="zh-CN" sz="1210" i="1">
                            <a:latin typeface="Cambria Math" panose="02040503050406030204" pitchFamily="18" charset="0"/>
                            <a:ea typeface="楷体" panose="02010609060101010101" pitchFamily="49" charset="-122"/>
                          </a:rPr>
                        </m:ctrlPr>
                      </m:sSupPr>
                      <m:e>
                        <m:d>
                          <m:dPr>
                            <m:ctrlPr>
                              <a:rPr lang="en-US" altLang="zh-CN" sz="1210" i="1">
                                <a:latin typeface="Cambria Math" panose="02040503050406030204" pitchFamily="18" charset="0"/>
                                <a:ea typeface="楷体" panose="02010609060101010101" pitchFamily="49" charset="-122"/>
                              </a:rPr>
                            </m:ctrlPr>
                          </m:dPr>
                          <m:e>
                            <m:r>
                              <a:rPr lang="en-US" altLang="zh-CN" sz="1210" i="1">
                                <a:latin typeface="Cambria Math" panose="02040503050406030204" pitchFamily="18" charset="0"/>
                                <a:ea typeface="楷体" panose="02010609060101010101" pitchFamily="49" charset="-122"/>
                              </a:rPr>
                              <m:t>1+</m:t>
                            </m:r>
                            <m:r>
                              <a:rPr lang="en-US" altLang="zh-CN" sz="1210" i="1">
                                <a:latin typeface="Cambria Math" panose="02040503050406030204" pitchFamily="18" charset="0"/>
                                <a:ea typeface="楷体" panose="02010609060101010101" pitchFamily="49" charset="-122"/>
                              </a:rPr>
                              <m:t>𝑟</m:t>
                            </m:r>
                          </m:e>
                        </m:d>
                      </m:e>
                      <m:sup>
                        <m:r>
                          <a:rPr lang="en-US" altLang="zh-CN" sz="1210" i="1">
                            <a:latin typeface="Cambria Math" panose="02040503050406030204" pitchFamily="18" charset="0"/>
                            <a:ea typeface="楷体" panose="02010609060101010101" pitchFamily="49" charset="-122"/>
                          </a:rPr>
                          <m:t>𝑛</m:t>
                        </m:r>
                      </m:sup>
                    </m:sSup>
                  </m:oMath>
                </a14:m>
                <a:r>
                  <a:rPr lang="zh-CN" altLang="en-US" sz="1210" dirty="0">
                    <a:latin typeface="Garamond" panose="02020404030301010803" pitchFamily="18" charset="0"/>
                    <a:ea typeface="SimSun" panose="02010600030101010101" pitchFamily="2" charset="-122"/>
                  </a:rPr>
                  <a:t>得：</a:t>
                </a:r>
                <a:r>
                  <a:rPr lang="en-US" altLang="zh-CN" sz="1210" dirty="0">
                    <a:latin typeface="Garamond" panose="02020404030301010803" pitchFamily="18" charset="0"/>
                    <a:ea typeface="SimSun" panose="02010600030101010101" pitchFamily="2" charset="-122"/>
                  </a:rPr>
                  <a:t> </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0</m:t>
                        </m:r>
                      </m:sub>
                    </m:sSub>
                    <m:r>
                      <a:rPr lang="en-US" altLang="zh-CN" sz="1210" i="1">
                        <a:latin typeface="Cambria Math" panose="02040503050406030204" pitchFamily="18" charset="0"/>
                        <a:ea typeface="楷体" panose="02010609060101010101" pitchFamily="49" charset="-122"/>
                      </a:rPr>
                      <m:t>=</m:t>
                    </m:r>
                    <m:f>
                      <m:fPr>
                        <m:ctrlPr>
                          <a:rPr lang="en-US" altLang="zh-CN" sz="1210" i="1">
                            <a:latin typeface="Cambria Math" panose="02040503050406030204" pitchFamily="18" charset="0"/>
                            <a:ea typeface="楷体" panose="02010609060101010101" pitchFamily="49" charset="-122"/>
                          </a:rPr>
                        </m:ctrlPr>
                      </m:fPr>
                      <m:num>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𝑛</m:t>
                            </m:r>
                          </m:sub>
                        </m:sSub>
                      </m:num>
                      <m:den>
                        <m:sSup>
                          <m:sSupPr>
                            <m:ctrlPr>
                              <a:rPr lang="en-US" altLang="zh-CN" sz="1210" i="1">
                                <a:latin typeface="Cambria Math" panose="02040503050406030204" pitchFamily="18" charset="0"/>
                                <a:ea typeface="楷体" panose="02010609060101010101" pitchFamily="49" charset="-122"/>
                              </a:rPr>
                            </m:ctrlPr>
                          </m:sSupPr>
                          <m:e>
                            <m:d>
                              <m:dPr>
                                <m:ctrlPr>
                                  <a:rPr lang="en-US" altLang="zh-CN" sz="1210" i="1">
                                    <a:latin typeface="Cambria Math" panose="02040503050406030204" pitchFamily="18" charset="0"/>
                                    <a:ea typeface="楷体" panose="02010609060101010101" pitchFamily="49" charset="-122"/>
                                  </a:rPr>
                                </m:ctrlPr>
                              </m:dPr>
                              <m:e>
                                <m:r>
                                  <a:rPr lang="en-US" altLang="zh-CN" sz="1210" i="1">
                                    <a:latin typeface="Cambria Math" panose="02040503050406030204" pitchFamily="18" charset="0"/>
                                    <a:ea typeface="楷体" panose="02010609060101010101" pitchFamily="49" charset="-122"/>
                                  </a:rPr>
                                  <m:t>1+</m:t>
                                </m:r>
                                <m:r>
                                  <a:rPr lang="en-US" altLang="zh-CN" sz="1210" i="1">
                                    <a:latin typeface="Cambria Math" panose="02040503050406030204" pitchFamily="18" charset="0"/>
                                    <a:ea typeface="楷体" panose="02010609060101010101" pitchFamily="49" charset="-122"/>
                                  </a:rPr>
                                  <m:t>𝑟</m:t>
                                </m:r>
                              </m:e>
                            </m:d>
                          </m:e>
                          <m:sup>
                            <m:r>
                              <a:rPr lang="en-US" altLang="zh-CN" sz="1210" i="1">
                                <a:latin typeface="Cambria Math" panose="02040503050406030204" pitchFamily="18" charset="0"/>
                                <a:ea typeface="楷体" panose="02010609060101010101" pitchFamily="49" charset="-122"/>
                              </a:rPr>
                              <m:t>𝑛</m:t>
                            </m:r>
                          </m:sup>
                        </m:sSup>
                      </m:den>
                    </m:f>
                  </m:oMath>
                </a14:m>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假定利率为</a:t>
                </a:r>
                <a:r>
                  <a:rPr lang="en-US" altLang="zh-CN" sz="1210" dirty="0">
                    <a:latin typeface="Garamond" panose="02020404030301010803" pitchFamily="18" charset="0"/>
                    <a:ea typeface="SimSun" panose="02010600030101010101" pitchFamily="2" charset="-122"/>
                  </a:rPr>
                  <a:t>5%</a:t>
                </a:r>
                <a:r>
                  <a:rPr lang="zh-CN" altLang="en-US" sz="1210" dirty="0">
                    <a:latin typeface="Garamond" panose="02020404030301010803" pitchFamily="18" charset="0"/>
                    <a:ea typeface="SimSun" panose="02010600030101010101" pitchFamily="2" charset="-122"/>
                  </a:rPr>
                  <a:t>，第一年后的本利和是</a:t>
                </a:r>
                <a:r>
                  <a:rPr lang="en-US" altLang="zh-CN" sz="1210" dirty="0">
                    <a:latin typeface="Garamond" panose="02020404030301010803" pitchFamily="18" charset="0"/>
                    <a:ea typeface="SimSun" panose="02010600030101010101" pitchFamily="2" charset="-122"/>
                  </a:rPr>
                  <a:t>105</a:t>
                </a:r>
                <a:r>
                  <a:rPr lang="zh-CN" altLang="en-US" sz="1210" dirty="0">
                    <a:latin typeface="Garamond" panose="02020404030301010803" pitchFamily="18" charset="0"/>
                    <a:ea typeface="SimSun" panose="02010600030101010101" pitchFamily="2" charset="-122"/>
                  </a:rPr>
                  <a:t>美元，则本金</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0</m:t>
                        </m:r>
                      </m:sub>
                    </m:sSub>
                    <m:r>
                      <a:rPr lang="en-US" altLang="zh-CN" sz="1210" i="1">
                        <a:latin typeface="Cambria Math" panose="02040503050406030204" pitchFamily="18" charset="0"/>
                        <a:ea typeface="楷体" panose="02010609060101010101" pitchFamily="49" charset="-122"/>
                      </a:rPr>
                      <m:t>=</m:t>
                    </m:r>
                    <m:f>
                      <m:fPr>
                        <m:ctrlPr>
                          <a:rPr lang="en-US" altLang="zh-CN" sz="1210" i="1">
                            <a:latin typeface="Cambria Math" panose="02040503050406030204" pitchFamily="18" charset="0"/>
                            <a:ea typeface="楷体" panose="02010609060101010101" pitchFamily="49" charset="-122"/>
                          </a:rPr>
                        </m:ctrlPr>
                      </m:fPr>
                      <m:num>
                        <m:r>
                          <a:rPr lang="en-US" altLang="zh-CN" sz="1210" i="1">
                            <a:latin typeface="Cambria Math" panose="02040503050406030204" pitchFamily="18" charset="0"/>
                            <a:ea typeface="楷体" panose="02010609060101010101" pitchFamily="49" charset="-122"/>
                          </a:rPr>
                          <m:t>105</m:t>
                        </m:r>
                      </m:num>
                      <m:den>
                        <m:r>
                          <a:rPr lang="en-US" altLang="zh-CN" sz="1210" i="1">
                            <a:latin typeface="Cambria Math" panose="02040503050406030204" pitchFamily="18" charset="0"/>
                            <a:ea typeface="楷体" panose="02010609060101010101" pitchFamily="49" charset="-122"/>
                          </a:rPr>
                          <m:t>1+5%</m:t>
                        </m:r>
                      </m:den>
                    </m:f>
                    <m:r>
                      <a:rPr lang="en-US" altLang="zh-CN" sz="1210" i="1">
                        <a:latin typeface="Cambria Math" panose="02040503050406030204" pitchFamily="18" charset="0"/>
                        <a:ea typeface="楷体" panose="02010609060101010101" pitchFamily="49" charset="-122"/>
                      </a:rPr>
                      <m:t>=</m:t>
                    </m:r>
                  </m:oMath>
                </a14:m>
                <a:r>
                  <a:rPr lang="en-US" altLang="zh-CN" sz="1210" dirty="0">
                    <a:latin typeface="Garamond" panose="02020404030301010803" pitchFamily="18" charset="0"/>
                    <a:ea typeface="SimSun" panose="02010600030101010101" pitchFamily="2" charset="-122"/>
                  </a:rPr>
                  <a:t>100</a:t>
                </a:r>
              </a:p>
              <a:p>
                <a:r>
                  <a:rPr lang="zh-CN" altLang="en-US" sz="1210" dirty="0">
                    <a:latin typeface="Garamond" panose="02020404030301010803" pitchFamily="18" charset="0"/>
                    <a:ea typeface="SimSun" panose="02010600030101010101" pitchFamily="2" charset="-122"/>
                  </a:rPr>
                  <a:t>也就是说，在利率是</a:t>
                </a:r>
                <a:r>
                  <a:rPr lang="en-US" altLang="zh-CN" sz="1210" dirty="0">
                    <a:latin typeface="Garamond" panose="02020404030301010803" pitchFamily="18" charset="0"/>
                    <a:ea typeface="SimSun" panose="02010600030101010101" pitchFamily="2" charset="-122"/>
                  </a:rPr>
                  <a:t>5%</a:t>
                </a:r>
                <a:r>
                  <a:rPr lang="zh-CN" altLang="en-US" sz="1210" dirty="0">
                    <a:latin typeface="Garamond" panose="02020404030301010803" pitchFamily="18" charset="0"/>
                    <a:ea typeface="SimSun" panose="02010600030101010101" pitchFamily="2" charset="-122"/>
                  </a:rPr>
                  <a:t>时，</a:t>
                </a:r>
                <a:r>
                  <a:rPr lang="en-US" altLang="zh-CN" sz="1210" dirty="0">
                    <a:latin typeface="Garamond" panose="02020404030301010803" pitchFamily="18" charset="0"/>
                    <a:ea typeface="SimSun" panose="02010600030101010101" pitchFamily="2" charset="-122"/>
                  </a:rPr>
                  <a:t>1</a:t>
                </a:r>
                <a:r>
                  <a:rPr lang="zh-CN" altLang="en-US" sz="1210" dirty="0">
                    <a:latin typeface="Garamond" panose="02020404030301010803" pitchFamily="18" charset="0"/>
                    <a:ea typeface="SimSun" panose="02010600030101010101" pitchFamily="2" charset="-122"/>
                  </a:rPr>
                  <a:t>年后</a:t>
                </a:r>
                <a:r>
                  <a:rPr lang="en-US" altLang="zh-CN" sz="1210" dirty="0">
                    <a:latin typeface="Garamond" panose="02020404030301010803" pitchFamily="18" charset="0"/>
                    <a:ea typeface="SimSun" panose="02010600030101010101" pitchFamily="2" charset="-122"/>
                  </a:rPr>
                  <a:t>105</a:t>
                </a:r>
                <a:r>
                  <a:rPr lang="zh-CN" altLang="en-US" sz="1210" dirty="0">
                    <a:latin typeface="Garamond" panose="02020404030301010803" pitchFamily="18" charset="0"/>
                    <a:ea typeface="SimSun" panose="02010600030101010101" pitchFamily="2" charset="-122"/>
                  </a:rPr>
                  <a:t>美元的现值是</a:t>
                </a:r>
                <a:r>
                  <a:rPr lang="en-US" altLang="zh-CN" sz="1210" dirty="0">
                    <a:latin typeface="Garamond" panose="02020404030301010803" pitchFamily="18" charset="0"/>
                    <a:ea typeface="SimSun" panose="02010600030101010101" pitchFamily="2" charset="-122"/>
                  </a:rPr>
                  <a:t>100</a:t>
                </a:r>
                <a:r>
                  <a:rPr lang="zh-CN" altLang="en-US" sz="1210" dirty="0">
                    <a:latin typeface="Garamond" panose="02020404030301010803" pitchFamily="18" charset="0"/>
                    <a:ea typeface="SimSun" panose="02010600030101010101" pitchFamily="2" charset="-122"/>
                  </a:rPr>
                  <a:t>美元。同样的利率下，</a:t>
                </a:r>
                <a:r>
                  <a:rPr lang="en-US" altLang="zh-CN" sz="1210" dirty="0">
                    <a:latin typeface="Garamond" panose="02020404030301010803" pitchFamily="18" charset="0"/>
                    <a:ea typeface="SimSun" panose="02010600030101010101" pitchFamily="2" charset="-122"/>
                  </a:rPr>
                  <a:t>2</a:t>
                </a:r>
                <a:r>
                  <a:rPr lang="zh-CN" altLang="en-US" sz="1210" dirty="0">
                    <a:latin typeface="Garamond" panose="02020404030301010803" pitchFamily="18" charset="0"/>
                    <a:ea typeface="SimSun" panose="02010600030101010101" pitchFamily="2" charset="-122"/>
                  </a:rPr>
                  <a:t>年后的</a:t>
                </a:r>
                <a:r>
                  <a:rPr lang="en-US" altLang="zh-CN" sz="1210" dirty="0">
                    <a:latin typeface="Garamond" panose="02020404030301010803" pitchFamily="18" charset="0"/>
                    <a:ea typeface="SimSun" panose="02010600030101010101" pitchFamily="2" charset="-122"/>
                  </a:rPr>
                  <a:t>110.25</a:t>
                </a:r>
                <a:r>
                  <a:rPr lang="zh-CN" altLang="en-US" sz="1210" dirty="0">
                    <a:latin typeface="Garamond" panose="02020404030301010803" pitchFamily="18" charset="0"/>
                    <a:ea typeface="SimSun" panose="02010600030101010101" pitchFamily="2" charset="-122"/>
                  </a:rPr>
                  <a:t>美元以及</a:t>
                </a:r>
                <a:r>
                  <a:rPr lang="en-US" altLang="zh-CN" sz="1210" dirty="0">
                    <a:latin typeface="Garamond" panose="02020404030301010803" pitchFamily="18" charset="0"/>
                    <a:ea typeface="SimSun" panose="02010600030101010101" pitchFamily="2" charset="-122"/>
                  </a:rPr>
                  <a:t>3</a:t>
                </a:r>
                <a:r>
                  <a:rPr lang="zh-CN" altLang="en-US" sz="1210" dirty="0">
                    <a:latin typeface="Garamond" panose="02020404030301010803" pitchFamily="18" charset="0"/>
                    <a:ea typeface="SimSun" panose="02010600030101010101" pitchFamily="2" charset="-122"/>
                  </a:rPr>
                  <a:t>年后的</a:t>
                </a:r>
                <a:r>
                  <a:rPr lang="en-US" altLang="zh-CN" sz="1210" dirty="0">
                    <a:latin typeface="Garamond" panose="02020404030301010803" pitchFamily="18" charset="0"/>
                    <a:ea typeface="SimSun" panose="02010600030101010101" pitchFamily="2" charset="-122"/>
                  </a:rPr>
                  <a:t>115.76</a:t>
                </a:r>
                <a:r>
                  <a:rPr lang="zh-CN" altLang="en-US" sz="1210" dirty="0">
                    <a:latin typeface="Garamond" panose="02020404030301010803" pitchFamily="18" charset="0"/>
                    <a:ea typeface="SimSun" panose="02010600030101010101" pitchFamily="2" charset="-122"/>
                  </a:rPr>
                  <a:t>美元的现值都是</a:t>
                </a:r>
                <a:r>
                  <a:rPr lang="en-US" altLang="zh-CN" sz="1210" dirty="0">
                    <a:latin typeface="Garamond" panose="02020404030301010803" pitchFamily="18" charset="0"/>
                    <a:ea typeface="SimSun" panose="02010600030101010101" pitchFamily="2" charset="-122"/>
                  </a:rPr>
                  <a:t>100</a:t>
                </a:r>
                <a:r>
                  <a:rPr lang="zh-CN" altLang="en-US" sz="1210" dirty="0">
                    <a:latin typeface="Garamond" panose="02020404030301010803" pitchFamily="18" charset="0"/>
                    <a:ea typeface="SimSun" panose="02010600030101010101" pitchFamily="2" charset="-122"/>
                  </a:rPr>
                  <a:t>美元。</a:t>
                </a:r>
                <a:endParaRPr lang="en-US" altLang="zh-CN" sz="1210"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t="-976"/>
                </a:stretch>
              </a:blipFill>
            </p:spPr>
            <p:txBody>
              <a:bodyPr/>
              <a:lstStyle/>
              <a:p>
                <a:r>
                  <a:rPr lang="zh-CN" altLang="en-US">
                    <a:noFill/>
                  </a:rPr>
                  <a:t> </a:t>
                </a:r>
              </a:p>
            </p:txBody>
          </p:sp>
        </mc:Fallback>
      </mc:AlternateContent>
      <p:sp>
        <p:nvSpPr>
          <p:cNvPr id="4" name="灯片编号占位符 2">
            <a:extLst>
              <a:ext uri="{FF2B5EF4-FFF2-40B4-BE49-F238E27FC236}">
                <a16:creationId xmlns:a16="http://schemas.microsoft.com/office/drawing/2014/main" id="{12EBD1F8-0564-747F-604B-5257EF671D2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10</a:t>
            </a:fld>
            <a:endParaRPr lang="zh-CN" altLang="zh-CN" sz="856">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F1B77C40-C063-5099-DAF6-448D30114CD6}"/>
              </a:ext>
            </a:extLst>
          </p:cNvPr>
          <p:cNvSpPr>
            <a:spLocks noGrp="1"/>
          </p:cNvSpPr>
          <p:nvPr>
            <p:ph type="title"/>
          </p:nvPr>
        </p:nvSpPr>
        <p:spPr/>
        <p:txBody>
          <a:bodyPr/>
          <a:lstStyle/>
          <a:p>
            <a:r>
              <a:rPr kumimoji="1" lang="zh-CN" altLang="en-US" dirty="0"/>
              <a:t>资本的边际效率</a:t>
            </a:r>
          </a:p>
        </p:txBody>
      </p:sp>
      <p:sp>
        <p:nvSpPr>
          <p:cNvPr id="2" name="页脚占位符 1">
            <a:extLst>
              <a:ext uri="{FF2B5EF4-FFF2-40B4-BE49-F238E27FC236}">
                <a16:creationId xmlns:a16="http://schemas.microsoft.com/office/drawing/2014/main" id="{9A2D2230-9330-A7B6-1DF6-9B1A7D669710}"/>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57529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11</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ea typeface="宋体" panose="02010600030101010101" pitchFamily="2" charset="-122"/>
              </a:rPr>
              <a:t>资本的边际效率</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7"/>
            <a:ext cx="4110356" cy="1277752"/>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某企业投资购买一台机器，这台机器的使用期限是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年后全部耗损。在假定把人工、原材料及其他成本扣除后，各年的预期收益是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11000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12100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13310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年合计为</a:t>
            </a:r>
            <a:r>
              <a:rPr lang="en-US" altLang="zh-CN" sz="1210" dirty="0">
                <a:latin typeface="Garamond" panose="02020404030301010803" pitchFamily="18" charset="0"/>
                <a:ea typeface="SimSun" panose="02010600030101010101" pitchFamily="2" charset="-122"/>
                <a:cs typeface="Times New Roman" panose="02020603050405020304" pitchFamily="18" charset="0"/>
              </a:rPr>
              <a:t>36410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美元。如果贴现率是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，那么</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年内全部预期收益</a:t>
            </a:r>
            <a:r>
              <a:rPr lang="en-US" altLang="zh-CN" sz="1210" dirty="0">
                <a:latin typeface="Garamond" panose="02020404030301010803" pitchFamily="18" charset="0"/>
                <a:ea typeface="SimSun" panose="02010600030101010101" pitchFamily="2" charset="-122"/>
                <a:cs typeface="Times New Roman" panose="02020603050405020304" pitchFamily="18" charset="0"/>
              </a:rPr>
              <a:t>36410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美元的现值是多少？</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64489452"/>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a:extLst>
              <a:ext uri="{FF2B5EF4-FFF2-40B4-BE49-F238E27FC236}">
                <a16:creationId xmlns:a16="http://schemas.microsoft.com/office/drawing/2014/main" id="{29C1FF41-18D6-DBF2-4006-6E8CF3C3721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12</a:t>
            </a:fld>
            <a:endParaRPr lang="zh-CN" altLang="zh-CN" sz="856">
              <a:solidFill>
                <a:srgbClr val="777777"/>
              </a:solidFill>
              <a:ea typeface="宋体" panose="02010600030101010101" pitchFamily="2" charset="-122"/>
            </a:endParaRPr>
          </a:p>
        </p:txBody>
      </p:sp>
      <p:sp>
        <p:nvSpPr>
          <p:cNvPr id="8" name="标题 7">
            <a:extLst>
              <a:ext uri="{FF2B5EF4-FFF2-40B4-BE49-F238E27FC236}">
                <a16:creationId xmlns:a16="http://schemas.microsoft.com/office/drawing/2014/main" id="{DC98E244-584B-6213-82FF-C4696C155764}"/>
              </a:ext>
            </a:extLst>
          </p:cNvPr>
          <p:cNvSpPr>
            <a:spLocks noGrp="1"/>
          </p:cNvSpPr>
          <p:nvPr>
            <p:ph type="title"/>
          </p:nvPr>
        </p:nvSpPr>
        <p:spPr/>
        <p:txBody>
          <a:bodyPr/>
          <a:lstStyle/>
          <a:p>
            <a:r>
              <a:rPr kumimoji="1" lang="zh-CN" altLang="en-US" dirty="0"/>
              <a:t>资本的边际效率</a:t>
            </a:r>
          </a:p>
        </p:txBody>
      </p:sp>
      <mc:AlternateContent xmlns:mc="http://schemas.openxmlformats.org/markup-compatibility/2006" xmlns:a14="http://schemas.microsoft.com/office/drawing/2010/main">
        <mc:Choice Requires="a14">
          <p:sp>
            <p:nvSpPr>
              <p:cNvPr id="11" name="内容占位符 2">
                <a:extLst>
                  <a:ext uri="{FF2B5EF4-FFF2-40B4-BE49-F238E27FC236}">
                    <a16:creationId xmlns:a16="http://schemas.microsoft.com/office/drawing/2014/main" id="{158FBA58-3E02-7C11-D838-806911D3B467}"/>
                  </a:ext>
                </a:extLst>
              </p:cNvPr>
              <p:cNvSpPr>
                <a:spLocks noGrp="1"/>
              </p:cNvSpPr>
              <p:nvPr>
                <p:ph idx="1"/>
              </p:nvPr>
            </p:nvSpPr>
            <p:spPr>
              <a:xfrm>
                <a:off x="188087" y="508698"/>
                <a:ext cx="4191509" cy="2582745"/>
              </a:xfrm>
            </p:spPr>
            <p:txBody>
              <a:bodyPr/>
              <a:lstStyle/>
              <a:p>
                <a:pPr marL="0" indent="0">
                  <a:buNone/>
                </a:pPr>
                <a:r>
                  <a:rPr lang="zh-CN" altLang="en-US" b="1" dirty="0">
                    <a:latin typeface="Times New Roman" panose="02020603050405020304" pitchFamily="18" charset="0"/>
                    <a:cs typeface="Times New Roman" panose="02020603050405020304" pitchFamily="18" charset="0"/>
                  </a:rPr>
                  <a:t>包含残值的资本边际收益</a:t>
                </a:r>
                <a:endParaRPr lang="en-US" altLang="zh-CN" b="1"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假定资本品在</a:t>
                </a:r>
                <a:r>
                  <a:rPr lang="en-US" altLang="zh-CN"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年中报废，并且在使用终了还有残值，则资本的边际效率公式是：</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b="0" i="1" smtClean="0">
                        <a:latin typeface="Cambria Math" panose="02040503050406030204" pitchFamily="18" charset="0"/>
                        <a:ea typeface="楷体" panose="02010609060101010101" pitchFamily="49" charset="-122"/>
                      </a:rPr>
                      <m:t>𝑅</m:t>
                    </m:r>
                    <m:r>
                      <a:rPr lang="en-US" altLang="zh-CN" i="1">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b="0" i="1" smtClean="0">
                                <a:latin typeface="Cambria Math" panose="02040503050406030204" pitchFamily="18" charset="0"/>
                                <a:ea typeface="楷体" panose="02010609060101010101" pitchFamily="49" charset="-122"/>
                              </a:rPr>
                              <m:t>1</m:t>
                            </m:r>
                          </m:sub>
                        </m:sSub>
                      </m:num>
                      <m:den>
                        <m:r>
                          <a:rPr lang="en-US" altLang="zh-CN" b="0" i="1" smtClean="0">
                            <a:latin typeface="Cambria Math" panose="02040503050406030204" pitchFamily="18" charset="0"/>
                            <a:ea typeface="楷体" panose="02010609060101010101" pitchFamily="49" charset="-122"/>
                          </a:rPr>
                          <m:t>1+</m:t>
                        </m:r>
                        <m:r>
                          <a:rPr lang="en-US" altLang="zh-CN" b="0" i="1" smtClean="0">
                            <a:latin typeface="Cambria Math" panose="02040503050406030204" pitchFamily="18" charset="0"/>
                            <a:ea typeface="楷体" panose="02010609060101010101" pitchFamily="49" charset="-122"/>
                          </a:rPr>
                          <m:t>𝑟</m:t>
                        </m:r>
                      </m:den>
                    </m:f>
                    <m:r>
                      <a:rPr lang="en-US" altLang="zh-CN" b="0" i="1" smtClean="0">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b="0" i="1" smtClean="0">
                                <a:latin typeface="Cambria Math" panose="02040503050406030204" pitchFamily="18" charset="0"/>
                                <a:ea typeface="楷体" panose="02010609060101010101" pitchFamily="49" charset="-122"/>
                              </a:rPr>
                              <m:t>2</m:t>
                            </m:r>
                          </m:sub>
                        </m:sSub>
                      </m:num>
                      <m:den>
                        <m:sSup>
                          <m:sSupPr>
                            <m:ctrlPr>
                              <a:rPr lang="en-US" altLang="zh-CN" i="1">
                                <a:latin typeface="Cambria Math" panose="02040503050406030204" pitchFamily="18" charset="0"/>
                                <a:ea typeface="楷体" panose="02010609060101010101" pitchFamily="49" charset="-122"/>
                              </a:rPr>
                            </m:ctrlPr>
                          </m:sSupPr>
                          <m:e>
                            <m:d>
                              <m:dPr>
                                <m:ctrlPr>
                                  <a:rPr lang="en-US" altLang="zh-CN" i="1">
                                    <a:latin typeface="Cambria Math" panose="02040503050406030204" pitchFamily="18" charset="0"/>
                                    <a:ea typeface="楷体" panose="02010609060101010101" pitchFamily="49" charset="-122"/>
                                  </a:rPr>
                                </m:ctrlPr>
                              </m:dPr>
                              <m:e>
                                <m:r>
                                  <a:rPr lang="en-US" altLang="zh-CN" i="1">
                                    <a:latin typeface="Cambria Math" panose="02040503050406030204" pitchFamily="18" charset="0"/>
                                    <a:ea typeface="楷体" panose="02010609060101010101" pitchFamily="49" charset="-122"/>
                                  </a:rPr>
                                  <m:t>1+</m:t>
                                </m:r>
                                <m:r>
                                  <a:rPr lang="en-US" altLang="zh-CN" i="1">
                                    <a:latin typeface="Cambria Math" panose="02040503050406030204" pitchFamily="18" charset="0"/>
                                    <a:ea typeface="楷体" panose="02010609060101010101" pitchFamily="49" charset="-122"/>
                                  </a:rPr>
                                  <m:t>𝑟</m:t>
                                </m:r>
                              </m:e>
                            </m:d>
                          </m:e>
                          <m:sup>
                            <m:r>
                              <a:rPr lang="en-US" altLang="zh-CN" b="0" i="1" smtClean="0">
                                <a:latin typeface="Cambria Math" panose="02040503050406030204" pitchFamily="18" charset="0"/>
                                <a:ea typeface="楷体" panose="02010609060101010101" pitchFamily="49" charset="-122"/>
                              </a:rPr>
                              <m:t>2</m:t>
                            </m:r>
                          </m:sup>
                        </m:sSup>
                      </m:den>
                    </m:f>
                    <m:r>
                      <a:rPr lang="en-US" altLang="zh-CN" b="0" i="1" smtClean="0">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𝑛</m:t>
                            </m:r>
                          </m:sub>
                        </m:sSub>
                      </m:num>
                      <m:den>
                        <m:sSup>
                          <m:sSupPr>
                            <m:ctrlPr>
                              <a:rPr lang="en-US" altLang="zh-CN" i="1">
                                <a:latin typeface="Cambria Math" panose="02040503050406030204" pitchFamily="18" charset="0"/>
                                <a:ea typeface="楷体" panose="02010609060101010101" pitchFamily="49" charset="-122"/>
                              </a:rPr>
                            </m:ctrlPr>
                          </m:sSupPr>
                          <m:e>
                            <m:d>
                              <m:dPr>
                                <m:ctrlPr>
                                  <a:rPr lang="en-US" altLang="zh-CN" i="1">
                                    <a:latin typeface="Cambria Math" panose="02040503050406030204" pitchFamily="18" charset="0"/>
                                    <a:ea typeface="楷体" panose="02010609060101010101" pitchFamily="49" charset="-122"/>
                                  </a:rPr>
                                </m:ctrlPr>
                              </m:dPr>
                              <m:e>
                                <m:r>
                                  <a:rPr lang="en-US" altLang="zh-CN" i="1">
                                    <a:latin typeface="Cambria Math" panose="02040503050406030204" pitchFamily="18" charset="0"/>
                                    <a:ea typeface="楷体" panose="02010609060101010101" pitchFamily="49" charset="-122"/>
                                  </a:rPr>
                                  <m:t>1+</m:t>
                                </m:r>
                                <m:r>
                                  <a:rPr lang="en-US" altLang="zh-CN" i="1">
                                    <a:latin typeface="Cambria Math" panose="02040503050406030204" pitchFamily="18" charset="0"/>
                                    <a:ea typeface="楷体" panose="02010609060101010101" pitchFamily="49" charset="-122"/>
                                  </a:rPr>
                                  <m:t>𝑟</m:t>
                                </m:r>
                              </m:e>
                            </m:d>
                          </m:e>
                          <m:sup>
                            <m:r>
                              <a:rPr lang="en-US" altLang="zh-CN" i="1">
                                <a:latin typeface="Cambria Math" panose="02040503050406030204" pitchFamily="18" charset="0"/>
                                <a:ea typeface="楷体" panose="02010609060101010101" pitchFamily="49" charset="-122"/>
                              </a:rPr>
                              <m:t>𝑛</m:t>
                            </m:r>
                          </m:sup>
                        </m:sSup>
                      </m:den>
                    </m:f>
                    <m:r>
                      <a:rPr lang="en-US" altLang="zh-CN" b="0" i="1" smtClean="0">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r>
                          <a:rPr lang="en-US" altLang="zh-CN" b="0" i="1" smtClean="0">
                            <a:latin typeface="Cambria Math" panose="02040503050406030204" pitchFamily="18" charset="0"/>
                            <a:ea typeface="楷体" panose="02010609060101010101" pitchFamily="49" charset="-122"/>
                          </a:rPr>
                          <m:t>𝐽</m:t>
                        </m:r>
                      </m:num>
                      <m:den>
                        <m:sSup>
                          <m:sSupPr>
                            <m:ctrlPr>
                              <a:rPr lang="en-US" altLang="zh-CN" i="1">
                                <a:latin typeface="Cambria Math" panose="02040503050406030204" pitchFamily="18" charset="0"/>
                                <a:ea typeface="楷体" panose="02010609060101010101" pitchFamily="49" charset="-122"/>
                              </a:rPr>
                            </m:ctrlPr>
                          </m:sSupPr>
                          <m:e>
                            <m:d>
                              <m:dPr>
                                <m:ctrlPr>
                                  <a:rPr lang="en-US" altLang="zh-CN" i="1">
                                    <a:latin typeface="Cambria Math" panose="02040503050406030204" pitchFamily="18" charset="0"/>
                                    <a:ea typeface="楷体" panose="02010609060101010101" pitchFamily="49" charset="-122"/>
                                  </a:rPr>
                                </m:ctrlPr>
                              </m:dPr>
                              <m:e>
                                <m:r>
                                  <a:rPr lang="en-US" altLang="zh-CN" i="1">
                                    <a:latin typeface="Cambria Math" panose="02040503050406030204" pitchFamily="18" charset="0"/>
                                    <a:ea typeface="楷体" panose="02010609060101010101" pitchFamily="49" charset="-122"/>
                                  </a:rPr>
                                  <m:t>1+</m:t>
                                </m:r>
                                <m:r>
                                  <a:rPr lang="en-US" altLang="zh-CN" i="1">
                                    <a:latin typeface="Cambria Math" panose="02040503050406030204" pitchFamily="18" charset="0"/>
                                    <a:ea typeface="楷体" panose="02010609060101010101" pitchFamily="49" charset="-122"/>
                                  </a:rPr>
                                  <m:t>𝑟</m:t>
                                </m:r>
                              </m:e>
                            </m:d>
                          </m:e>
                          <m:sup>
                            <m:r>
                              <a:rPr lang="en-US" altLang="zh-CN" i="1">
                                <a:latin typeface="Cambria Math" panose="02040503050406030204" pitchFamily="18" charset="0"/>
                                <a:ea typeface="楷体" panose="02010609060101010101" pitchFamily="49" charset="-122"/>
                              </a:rPr>
                              <m:t>𝑛</m:t>
                            </m:r>
                          </m:sup>
                        </m:sSup>
                      </m:den>
                    </m:f>
                  </m:oMath>
                </a14:m>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i="1">
                        <a:latin typeface="Cambria Math" panose="02040503050406030204" pitchFamily="18" charset="0"/>
                        <a:ea typeface="楷体" panose="02010609060101010101" pitchFamily="49" charset="-122"/>
                      </a:rPr>
                      <m:t>𝑅</m:t>
                    </m:r>
                  </m:oMath>
                </a14:m>
                <a:r>
                  <a:rPr lang="zh-CN" altLang="en-US" dirty="0">
                    <a:latin typeface="Times New Roman" panose="02020603050405020304" pitchFamily="18" charset="0"/>
                    <a:cs typeface="Times New Roman" panose="02020603050405020304" pitchFamily="18" charset="0"/>
                  </a:rPr>
                  <a:t>是该资本品的供给价格；</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1</m:t>
                        </m:r>
                      </m:sub>
                    </m:sSub>
                    <m:r>
                      <a:rPr lang="en-US" altLang="zh-CN" b="0" i="0" smtClean="0">
                        <a:latin typeface="Cambria Math" panose="02040503050406030204" pitchFamily="18" charset="0"/>
                        <a:ea typeface="楷体" panose="02010609060101010101" pitchFamily="49" charset="-122"/>
                      </a:rPr>
                      <m:t>,</m:t>
                    </m:r>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2</m:t>
                        </m:r>
                      </m:sub>
                    </m:sSub>
                    <m:r>
                      <a:rPr lang="en-US" altLang="zh-CN" b="0" i="0" smtClean="0">
                        <a:latin typeface="Cambria Math" panose="02040503050406030204" pitchFamily="18" charset="0"/>
                        <a:ea typeface="楷体" panose="02010609060101010101" pitchFamily="49" charset="-122"/>
                      </a:rPr>
                      <m:t>,…</m:t>
                    </m:r>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𝑛</m:t>
                        </m:r>
                      </m:sub>
                    </m:sSub>
                  </m:oMath>
                </a14:m>
                <a:r>
                  <a:rPr lang="zh-CN" altLang="en-US" dirty="0">
                    <a:latin typeface="Times New Roman" panose="02020603050405020304" pitchFamily="18" charset="0"/>
                    <a:cs typeface="Times New Roman" panose="02020603050405020304" pitchFamily="18" charset="0"/>
                  </a:rPr>
                  <a:t>是不同年份的预期收益；</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i="1">
                        <a:latin typeface="Cambria Math" panose="02040503050406030204" pitchFamily="18" charset="0"/>
                        <a:ea typeface="楷体" panose="02010609060101010101" pitchFamily="49" charset="-122"/>
                      </a:rPr>
                      <m:t>𝐽</m:t>
                    </m:r>
                  </m:oMath>
                </a14:m>
                <a:r>
                  <a:rPr lang="zh-CN" altLang="en-US" dirty="0">
                    <a:latin typeface="Times New Roman" panose="02020603050405020304" pitchFamily="18" charset="0"/>
                    <a:cs typeface="Times New Roman" panose="02020603050405020304" pitchFamily="18" charset="0"/>
                  </a:rPr>
                  <a:t>是该资本品在</a:t>
                </a:r>
                <a:r>
                  <a:rPr lang="en-US" altLang="zh-CN"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年年末时的报废残值；</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i="1">
                        <a:latin typeface="Cambria Math" panose="02040503050406030204" pitchFamily="18" charset="0"/>
                        <a:ea typeface="楷体" panose="02010609060101010101" pitchFamily="49" charset="-122"/>
                      </a:rPr>
                      <m:t>𝑟</m:t>
                    </m:r>
                  </m:oMath>
                </a14:m>
                <a:r>
                  <a:rPr lang="zh-CN" altLang="en-US" dirty="0">
                    <a:latin typeface="Times New Roman" panose="02020603050405020304" pitchFamily="18" charset="0"/>
                    <a:cs typeface="Times New Roman" panose="02020603050405020304" pitchFamily="18" charset="0"/>
                  </a:rPr>
                  <a:t>是资本边际效率。</a:t>
                </a:r>
              </a:p>
            </p:txBody>
          </p:sp>
        </mc:Choice>
        <mc:Fallback xmlns="">
          <p:sp>
            <p:nvSpPr>
              <p:cNvPr id="11" name="内容占位符 2">
                <a:extLst>
                  <a:ext uri="{FF2B5EF4-FFF2-40B4-BE49-F238E27FC236}">
                    <a16:creationId xmlns:a16="http://schemas.microsoft.com/office/drawing/2014/main" id="{158FBA58-3E02-7C11-D838-806911D3B467}"/>
                  </a:ext>
                </a:extLst>
              </p:cNvPr>
              <p:cNvSpPr>
                <a:spLocks noGrp="1" noRot="1" noChangeAspect="1" noMove="1" noResize="1" noEditPoints="1" noAdjustHandles="1" noChangeArrowheads="1" noChangeShapeType="1" noTextEdit="1"/>
              </p:cNvSpPr>
              <p:nvPr>
                <p:ph idx="1"/>
              </p:nvPr>
            </p:nvSpPr>
            <p:spPr>
              <a:xfrm>
                <a:off x="188087" y="508698"/>
                <a:ext cx="4191509" cy="2582745"/>
              </a:xfrm>
              <a:blipFill>
                <a:blip r:embed="rId2"/>
                <a:stretch>
                  <a:fillRect l="-604" t="-1463" b="-5366"/>
                </a:stretch>
              </a:blipFill>
            </p:spPr>
            <p:txBody>
              <a:bodyPr/>
              <a:lstStyle/>
              <a:p>
                <a:r>
                  <a:rPr lang="zh-CN" altLang="en-US">
                    <a:noFill/>
                  </a:rPr>
                  <a:t> </a:t>
                </a:r>
              </a:p>
            </p:txBody>
          </p:sp>
        </mc:Fallback>
      </mc:AlternateContent>
      <p:sp>
        <p:nvSpPr>
          <p:cNvPr id="2" name="页脚占位符 1">
            <a:extLst>
              <a:ext uri="{FF2B5EF4-FFF2-40B4-BE49-F238E27FC236}">
                <a16:creationId xmlns:a16="http://schemas.microsoft.com/office/drawing/2014/main" id="{8C66E9B8-A74E-F46B-6CDE-6A245C90FA6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623947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p:txBody>
          <a:bodyPr/>
          <a:lstStyle/>
          <a:p>
            <a:pPr eaLnBrk="1" hangingPunct="1">
              <a:buFont typeface="Wingdings" panose="05000000000000000000" pitchFamily="2" charset="2"/>
              <a:buNone/>
            </a:pPr>
            <a:endParaRPr lang="zh-CN" altLang="en-US" dirty="0">
              <a:ea typeface="宋体" panose="02010600030101010101" pitchFamily="2" charset="-122"/>
            </a:endParaRPr>
          </a:p>
          <a:p>
            <a:pPr eaLnBrk="1" hangingPunct="1">
              <a:buFont typeface="Wingdings" panose="05000000000000000000" pitchFamily="2" charset="2"/>
              <a:buNone/>
            </a:pPr>
            <a:r>
              <a:rPr lang="zh-CN" altLang="en-US" dirty="0">
                <a:ea typeface="宋体" panose="02010600030101010101" pitchFamily="2" charset="-122"/>
              </a:rPr>
              <a:t> </a:t>
            </a:r>
          </a:p>
        </p:txBody>
      </p:sp>
      <mc:AlternateContent xmlns:mc="http://schemas.openxmlformats.org/markup-compatibility/2006" xmlns:a14="http://schemas.microsoft.com/office/drawing/2010/main">
        <mc:Choice Requires="a14">
          <p:sp>
            <p:nvSpPr>
              <p:cNvPr id="9" name="内容占位符 2"/>
              <p:cNvSpPr txBox="1">
                <a:spLocks/>
              </p:cNvSpPr>
              <p:nvPr/>
            </p:nvSpPr>
            <p:spPr bwMode="auto">
              <a:xfrm>
                <a:off x="236260" y="508679"/>
                <a:ext cx="3976211" cy="2193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5260" indent="-115260" defTabSz="461040">
                  <a:spcBef>
                    <a:spcPts val="504"/>
                  </a:spcBef>
                  <a:defRPr/>
                </a:pPr>
                <a:r>
                  <a:rPr lang="zh-CN" altLang="en-US" sz="1210" dirty="0">
                    <a:solidFill>
                      <a:prstClr val="black"/>
                    </a:solidFill>
                    <a:latin typeface="Garamond" panose="02020404030301010803" pitchFamily="18" charset="0"/>
                    <a:ea typeface="SimSun" panose="02010600030101010101" pitchFamily="2" charset="-122"/>
                  </a:rPr>
                  <a:t>如果资本边际效率大于市场利率，则此投资就值得，否则就不值得。</a:t>
                </a:r>
                <a:endParaRPr lang="en-US" altLang="zh-CN" sz="1210" dirty="0">
                  <a:solidFill>
                    <a:prstClr val="black"/>
                  </a:solidFill>
                  <a:latin typeface="Garamond" panose="02020404030301010803" pitchFamily="18" charset="0"/>
                  <a:ea typeface="SimSun" panose="02010600030101010101" pitchFamily="2" charset="-122"/>
                </a:endParaRPr>
              </a:p>
              <a:p>
                <a:pPr marL="115260" indent="-115260" defTabSz="461040">
                  <a:spcBef>
                    <a:spcPts val="504"/>
                  </a:spcBef>
                  <a:defRPr/>
                </a:pPr>
                <a:r>
                  <a:rPr lang="zh-CN" altLang="en-US" sz="1210" dirty="0">
                    <a:solidFill>
                      <a:prstClr val="black"/>
                    </a:solidFill>
                    <a:latin typeface="Garamond" panose="02020404030301010803" pitchFamily="18" charset="0"/>
                    <a:ea typeface="SimSun" panose="02010600030101010101" pitchFamily="2" charset="-122"/>
                  </a:rPr>
                  <a:t>由</a:t>
                </a:r>
                <a14:m>
                  <m:oMath xmlns:m="http://schemas.openxmlformats.org/officeDocument/2006/math">
                    <m:r>
                      <a:rPr lang="en-US" altLang="zh-CN" sz="1210" i="1">
                        <a:solidFill>
                          <a:prstClr val="black"/>
                        </a:solidFill>
                        <a:latin typeface="Cambria Math" panose="02040503050406030204" pitchFamily="18" charset="0"/>
                        <a:ea typeface="楷体" panose="02010609060101010101" pitchFamily="49" charset="-122"/>
                      </a:rPr>
                      <m:t>𝑅</m:t>
                    </m:r>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sSub>
                          <m:sSubPr>
                            <m:ctrlPr>
                              <a:rPr lang="en-US" altLang="zh-CN" sz="1210" i="1">
                                <a:solidFill>
                                  <a:prstClr val="black"/>
                                </a:solidFill>
                                <a:latin typeface="Cambria Math" panose="02040503050406030204" pitchFamily="18" charset="0"/>
                                <a:ea typeface="楷体" panose="02010609060101010101" pitchFamily="49" charset="-122"/>
                              </a:rPr>
                            </m:ctrlPr>
                          </m:sSubPr>
                          <m:e>
                            <m:r>
                              <a:rPr lang="en-US" altLang="zh-CN" sz="1210" i="1">
                                <a:solidFill>
                                  <a:prstClr val="black"/>
                                </a:solidFill>
                                <a:latin typeface="Cambria Math" panose="02040503050406030204" pitchFamily="18" charset="0"/>
                                <a:ea typeface="楷体" panose="02010609060101010101" pitchFamily="49" charset="-122"/>
                              </a:rPr>
                              <m:t>𝑅</m:t>
                            </m:r>
                          </m:e>
                          <m:sub>
                            <m:r>
                              <a:rPr lang="en-US" altLang="zh-CN" sz="1210" i="1">
                                <a:solidFill>
                                  <a:prstClr val="black"/>
                                </a:solidFill>
                                <a:latin typeface="Cambria Math" panose="02040503050406030204" pitchFamily="18" charset="0"/>
                                <a:ea typeface="楷体" panose="02010609060101010101" pitchFamily="49" charset="-122"/>
                              </a:rPr>
                              <m:t>1</m:t>
                            </m:r>
                          </m:sub>
                        </m:sSub>
                      </m:num>
                      <m:den>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den>
                    </m:f>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sSub>
                          <m:sSubPr>
                            <m:ctrlPr>
                              <a:rPr lang="en-US" altLang="zh-CN" sz="1210" i="1">
                                <a:solidFill>
                                  <a:prstClr val="black"/>
                                </a:solidFill>
                                <a:latin typeface="Cambria Math" panose="02040503050406030204" pitchFamily="18" charset="0"/>
                                <a:ea typeface="楷体" panose="02010609060101010101" pitchFamily="49" charset="-122"/>
                              </a:rPr>
                            </m:ctrlPr>
                          </m:sSubPr>
                          <m:e>
                            <m:r>
                              <a:rPr lang="en-US" altLang="zh-CN" sz="1210" i="1">
                                <a:solidFill>
                                  <a:prstClr val="black"/>
                                </a:solidFill>
                                <a:latin typeface="Cambria Math" panose="02040503050406030204" pitchFamily="18" charset="0"/>
                                <a:ea typeface="楷体" panose="02010609060101010101" pitchFamily="49" charset="-122"/>
                              </a:rPr>
                              <m:t>𝑅</m:t>
                            </m:r>
                          </m:e>
                          <m:sub>
                            <m:r>
                              <a:rPr lang="en-US" altLang="zh-CN" sz="1210" i="1">
                                <a:solidFill>
                                  <a:prstClr val="black"/>
                                </a:solidFill>
                                <a:latin typeface="Cambria Math" panose="02040503050406030204" pitchFamily="18" charset="0"/>
                                <a:ea typeface="楷体" panose="02010609060101010101" pitchFamily="49" charset="-122"/>
                              </a:rPr>
                              <m:t>2</m:t>
                            </m:r>
                          </m:sub>
                        </m:sSub>
                      </m:num>
                      <m:den>
                        <m:sSup>
                          <m:sSupPr>
                            <m:ctrlPr>
                              <a:rPr lang="en-US" altLang="zh-CN" sz="1210" i="1">
                                <a:solidFill>
                                  <a:prstClr val="black"/>
                                </a:solidFill>
                                <a:latin typeface="Cambria Math" panose="02040503050406030204" pitchFamily="18" charset="0"/>
                                <a:ea typeface="楷体" panose="02010609060101010101" pitchFamily="49" charset="-122"/>
                              </a:rPr>
                            </m:ctrlPr>
                          </m:sSupPr>
                          <m:e>
                            <m:d>
                              <m:dPr>
                                <m:ctrlPr>
                                  <a:rPr lang="en-US" altLang="zh-CN" sz="1210" i="1">
                                    <a:solidFill>
                                      <a:prstClr val="black"/>
                                    </a:solidFill>
                                    <a:latin typeface="Cambria Math" panose="02040503050406030204" pitchFamily="18" charset="0"/>
                                    <a:ea typeface="楷体" panose="02010609060101010101" pitchFamily="49" charset="-122"/>
                                  </a:rPr>
                                </m:ctrlPr>
                              </m:dPr>
                              <m:e>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e>
                            </m:d>
                          </m:e>
                          <m:sup>
                            <m:r>
                              <a:rPr lang="en-US" altLang="zh-CN" sz="1210" i="1">
                                <a:solidFill>
                                  <a:prstClr val="black"/>
                                </a:solidFill>
                                <a:latin typeface="Cambria Math" panose="02040503050406030204" pitchFamily="18" charset="0"/>
                                <a:ea typeface="楷体" panose="02010609060101010101" pitchFamily="49" charset="-122"/>
                              </a:rPr>
                              <m:t>2</m:t>
                            </m:r>
                          </m:sup>
                        </m:sSup>
                      </m:den>
                    </m:f>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sSub>
                          <m:sSubPr>
                            <m:ctrlPr>
                              <a:rPr lang="en-US" altLang="zh-CN" sz="1210" i="1">
                                <a:solidFill>
                                  <a:prstClr val="black"/>
                                </a:solidFill>
                                <a:latin typeface="Cambria Math" panose="02040503050406030204" pitchFamily="18" charset="0"/>
                                <a:ea typeface="楷体" panose="02010609060101010101" pitchFamily="49" charset="-122"/>
                              </a:rPr>
                            </m:ctrlPr>
                          </m:sSubPr>
                          <m:e>
                            <m:r>
                              <a:rPr lang="en-US" altLang="zh-CN" sz="1210" i="1">
                                <a:solidFill>
                                  <a:prstClr val="black"/>
                                </a:solidFill>
                                <a:latin typeface="Cambria Math" panose="02040503050406030204" pitchFamily="18" charset="0"/>
                                <a:ea typeface="楷体" panose="02010609060101010101" pitchFamily="49" charset="-122"/>
                              </a:rPr>
                              <m:t>𝑅</m:t>
                            </m:r>
                          </m:e>
                          <m:sub>
                            <m:r>
                              <a:rPr lang="en-US" altLang="zh-CN" sz="1210" i="1">
                                <a:solidFill>
                                  <a:prstClr val="black"/>
                                </a:solidFill>
                                <a:latin typeface="Cambria Math" panose="02040503050406030204" pitchFamily="18" charset="0"/>
                                <a:ea typeface="楷体" panose="02010609060101010101" pitchFamily="49" charset="-122"/>
                              </a:rPr>
                              <m:t>𝑛</m:t>
                            </m:r>
                          </m:sub>
                        </m:sSub>
                      </m:num>
                      <m:den>
                        <m:sSup>
                          <m:sSupPr>
                            <m:ctrlPr>
                              <a:rPr lang="en-US" altLang="zh-CN" sz="1210" i="1">
                                <a:solidFill>
                                  <a:prstClr val="black"/>
                                </a:solidFill>
                                <a:latin typeface="Cambria Math" panose="02040503050406030204" pitchFamily="18" charset="0"/>
                                <a:ea typeface="楷体" panose="02010609060101010101" pitchFamily="49" charset="-122"/>
                              </a:rPr>
                            </m:ctrlPr>
                          </m:sSupPr>
                          <m:e>
                            <m:d>
                              <m:dPr>
                                <m:ctrlPr>
                                  <a:rPr lang="en-US" altLang="zh-CN" sz="1210" i="1">
                                    <a:solidFill>
                                      <a:prstClr val="black"/>
                                    </a:solidFill>
                                    <a:latin typeface="Cambria Math" panose="02040503050406030204" pitchFamily="18" charset="0"/>
                                    <a:ea typeface="楷体" panose="02010609060101010101" pitchFamily="49" charset="-122"/>
                                  </a:rPr>
                                </m:ctrlPr>
                              </m:dPr>
                              <m:e>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e>
                            </m:d>
                          </m:e>
                          <m:sup>
                            <m:r>
                              <a:rPr lang="en-US" altLang="zh-CN" sz="1210" i="1">
                                <a:solidFill>
                                  <a:prstClr val="black"/>
                                </a:solidFill>
                                <a:latin typeface="Cambria Math" panose="02040503050406030204" pitchFamily="18" charset="0"/>
                                <a:ea typeface="楷体" panose="02010609060101010101" pitchFamily="49" charset="-122"/>
                              </a:rPr>
                              <m:t>𝑛</m:t>
                            </m:r>
                          </m:sup>
                        </m:sSup>
                      </m:den>
                    </m:f>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r>
                          <a:rPr lang="en-US" altLang="zh-CN" sz="1210" i="1">
                            <a:solidFill>
                              <a:prstClr val="black"/>
                            </a:solidFill>
                            <a:latin typeface="Cambria Math" panose="02040503050406030204" pitchFamily="18" charset="0"/>
                            <a:ea typeface="楷体" panose="02010609060101010101" pitchFamily="49" charset="-122"/>
                          </a:rPr>
                          <m:t>𝐽</m:t>
                        </m:r>
                      </m:num>
                      <m:den>
                        <m:sSup>
                          <m:sSupPr>
                            <m:ctrlPr>
                              <a:rPr lang="en-US" altLang="zh-CN" sz="1210" i="1">
                                <a:solidFill>
                                  <a:prstClr val="black"/>
                                </a:solidFill>
                                <a:latin typeface="Cambria Math" panose="02040503050406030204" pitchFamily="18" charset="0"/>
                                <a:ea typeface="楷体" panose="02010609060101010101" pitchFamily="49" charset="-122"/>
                              </a:rPr>
                            </m:ctrlPr>
                          </m:sSupPr>
                          <m:e>
                            <m:d>
                              <m:dPr>
                                <m:ctrlPr>
                                  <a:rPr lang="en-US" altLang="zh-CN" sz="1210" i="1">
                                    <a:solidFill>
                                      <a:prstClr val="black"/>
                                    </a:solidFill>
                                    <a:latin typeface="Cambria Math" panose="02040503050406030204" pitchFamily="18" charset="0"/>
                                    <a:ea typeface="楷体" panose="02010609060101010101" pitchFamily="49" charset="-122"/>
                                  </a:rPr>
                                </m:ctrlPr>
                              </m:dPr>
                              <m:e>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e>
                            </m:d>
                          </m:e>
                          <m:sup>
                            <m:r>
                              <a:rPr lang="en-US" altLang="zh-CN" sz="1210" i="1">
                                <a:solidFill>
                                  <a:prstClr val="black"/>
                                </a:solidFill>
                                <a:latin typeface="Cambria Math" panose="02040503050406030204" pitchFamily="18" charset="0"/>
                                <a:ea typeface="楷体" panose="02010609060101010101" pitchFamily="49" charset="-122"/>
                              </a:rPr>
                              <m:t>𝑛</m:t>
                            </m:r>
                          </m:sup>
                        </m:sSup>
                      </m:den>
                    </m:f>
                  </m:oMath>
                </a14:m>
                <a:r>
                  <a:rPr lang="zh-CN" altLang="en-US" sz="1210" dirty="0">
                    <a:solidFill>
                      <a:prstClr val="black"/>
                    </a:solidFill>
                    <a:latin typeface="Garamond" panose="02020404030301010803" pitchFamily="18" charset="0"/>
                    <a:ea typeface="SimSun" panose="02010600030101010101" pitchFamily="2" charset="-122"/>
                  </a:rPr>
                  <a:t>可知，</a:t>
                </a:r>
                <a:endParaRPr lang="en-US" altLang="zh-CN" sz="1210" dirty="0">
                  <a:solidFill>
                    <a:prstClr val="black"/>
                  </a:solidFill>
                  <a:latin typeface="Garamond" panose="02020404030301010803" pitchFamily="18" charset="0"/>
                  <a:ea typeface="SimSun" panose="02010600030101010101" pitchFamily="2" charset="-122"/>
                </a:endParaRPr>
              </a:p>
              <a:p>
                <a:pPr marL="115260" indent="-115260" defTabSz="461040">
                  <a:spcBef>
                    <a:spcPts val="504"/>
                  </a:spcBef>
                  <a:defRPr/>
                </a:pPr>
                <a14:m>
                  <m:oMath xmlns:m="http://schemas.openxmlformats.org/officeDocument/2006/math">
                    <m:r>
                      <m:rPr>
                        <m:sty m:val="p"/>
                      </m:rPr>
                      <a:rPr lang="en-US" altLang="zh-CN" sz="1210">
                        <a:solidFill>
                          <a:prstClr val="black"/>
                        </a:solidFill>
                        <a:latin typeface="Cambria Math" panose="02040503050406030204" pitchFamily="18" charset="0"/>
                        <a:ea typeface="楷体" panose="02010609060101010101" pitchFamily="49" charset="-122"/>
                      </a:rPr>
                      <m:t>r</m:t>
                    </m:r>
                    <m:r>
                      <a:rPr lang="zh-CN" altLang="en-US" sz="1210">
                        <a:solidFill>
                          <a:prstClr val="black"/>
                        </a:solidFill>
                        <a:latin typeface="Cambria Math" panose="02040503050406030204" pitchFamily="18" charset="0"/>
                        <a:ea typeface="楷体" panose="02010609060101010101" pitchFamily="49" charset="-122"/>
                      </a:rPr>
                      <m:t>取决于</m:t>
                    </m:r>
                  </m:oMath>
                </a14:m>
                <a:r>
                  <a:rPr lang="zh-CN" altLang="en-US" sz="1210" dirty="0">
                    <a:solidFill>
                      <a:prstClr val="black"/>
                    </a:solidFill>
                    <a:latin typeface="楷体" panose="02010609060101010101" pitchFamily="49" charset="-122"/>
                    <a:ea typeface="楷体" panose="02010609060101010101" pitchFamily="49" charset="-122"/>
                  </a:rPr>
                  <a:t>资本品的供给价格和预期收益：</a:t>
                </a:r>
                <a:endParaRPr lang="en-US" altLang="zh-CN" sz="1210" dirty="0">
                  <a:solidFill>
                    <a:prstClr val="black"/>
                  </a:solidFill>
                  <a:latin typeface="楷体" panose="02010609060101010101" pitchFamily="49" charset="-122"/>
                  <a:ea typeface="楷体" panose="02010609060101010101" pitchFamily="49" charset="-122"/>
                </a:endParaRPr>
              </a:p>
              <a:p>
                <a:pPr marL="115260" indent="-115260" defTabSz="461040">
                  <a:spcBef>
                    <a:spcPts val="504"/>
                  </a:spcBef>
                  <a:defRPr/>
                </a:pPr>
                <a:r>
                  <a:rPr lang="zh-CN" altLang="en-US" sz="1210" dirty="0">
                    <a:solidFill>
                      <a:prstClr val="black"/>
                    </a:solidFill>
                    <a:latin typeface="楷体" panose="02010609060101010101" pitchFamily="49" charset="-122"/>
                    <a:ea typeface="楷体" panose="02010609060101010101" pitchFamily="49" charset="-122"/>
                  </a:rPr>
                  <a:t>当预期收益既定时，供给价格越大，</a:t>
                </a:r>
                <a:r>
                  <a:rPr lang="en-US" altLang="zh-CN" sz="1210" dirty="0">
                    <a:solidFill>
                      <a:prstClr val="black"/>
                    </a:solidFill>
                    <a:latin typeface="楷体" panose="02010609060101010101" pitchFamily="49" charset="-122"/>
                    <a:ea typeface="楷体" panose="02010609060101010101" pitchFamily="49" charset="-122"/>
                  </a:rPr>
                  <a:t> </a:t>
                </a:r>
                <a14:m>
                  <m:oMath xmlns:m="http://schemas.openxmlformats.org/officeDocument/2006/math">
                    <m:r>
                      <m:rPr>
                        <m:sty m:val="p"/>
                      </m:rPr>
                      <a:rPr lang="en-US" altLang="zh-CN" sz="1210">
                        <a:solidFill>
                          <a:prstClr val="black"/>
                        </a:solidFill>
                        <a:latin typeface="Cambria Math" panose="02040503050406030204" pitchFamily="18" charset="0"/>
                        <a:ea typeface="楷体" panose="02010609060101010101" pitchFamily="49" charset="-122"/>
                      </a:rPr>
                      <m:t>r</m:t>
                    </m:r>
                  </m:oMath>
                </a14:m>
                <a:r>
                  <a:rPr lang="zh-CN" altLang="en-US" sz="1210" dirty="0">
                    <a:solidFill>
                      <a:prstClr val="black"/>
                    </a:solidFill>
                    <a:latin typeface="楷体" panose="02010609060101010101" pitchFamily="49" charset="-122"/>
                    <a:ea typeface="楷体" panose="02010609060101010101" pitchFamily="49" charset="-122"/>
                  </a:rPr>
                  <a:t>越小；</a:t>
                </a:r>
                <a:endParaRPr lang="en-US" altLang="zh-CN" sz="1210" dirty="0">
                  <a:solidFill>
                    <a:prstClr val="black"/>
                  </a:solidFill>
                  <a:latin typeface="楷体" panose="02010609060101010101" pitchFamily="49" charset="-122"/>
                  <a:ea typeface="楷体" panose="02010609060101010101" pitchFamily="49" charset="-122"/>
                </a:endParaRPr>
              </a:p>
              <a:p>
                <a:pPr marL="115260" indent="-115260" defTabSz="461040">
                  <a:spcBef>
                    <a:spcPts val="504"/>
                  </a:spcBef>
                  <a:defRPr/>
                </a:pPr>
                <a:r>
                  <a:rPr lang="zh-CN" altLang="en-US" sz="1210" dirty="0">
                    <a:solidFill>
                      <a:prstClr val="black"/>
                    </a:solidFill>
                    <a:latin typeface="楷体" panose="02010609060101010101" pitchFamily="49" charset="-122"/>
                    <a:ea typeface="楷体" panose="02010609060101010101" pitchFamily="49" charset="-122"/>
                  </a:rPr>
                  <a:t>当供给价格既定时，预期收益越大，</a:t>
                </a:r>
                <a:r>
                  <a:rPr lang="en-US" altLang="zh-CN" sz="1210" dirty="0">
                    <a:solidFill>
                      <a:prstClr val="black"/>
                    </a:solidFill>
                    <a:latin typeface="楷体" panose="02010609060101010101" pitchFamily="49" charset="-122"/>
                    <a:ea typeface="楷体" panose="02010609060101010101" pitchFamily="49" charset="-122"/>
                  </a:rPr>
                  <a:t> </a:t>
                </a:r>
                <a14:m>
                  <m:oMath xmlns:m="http://schemas.openxmlformats.org/officeDocument/2006/math">
                    <m:r>
                      <m:rPr>
                        <m:sty m:val="p"/>
                      </m:rPr>
                      <a:rPr lang="en-US" altLang="zh-CN" sz="1210">
                        <a:solidFill>
                          <a:prstClr val="black"/>
                        </a:solidFill>
                        <a:latin typeface="Cambria Math" panose="02040503050406030204" pitchFamily="18" charset="0"/>
                        <a:ea typeface="楷体" panose="02010609060101010101" pitchFamily="49" charset="-122"/>
                      </a:rPr>
                      <m:t>r</m:t>
                    </m:r>
                  </m:oMath>
                </a14:m>
                <a:r>
                  <a:rPr lang="zh-CN" altLang="en-US" sz="1210" dirty="0">
                    <a:solidFill>
                      <a:prstClr val="black"/>
                    </a:solidFill>
                    <a:latin typeface="楷体" panose="02010609060101010101" pitchFamily="49" charset="-122"/>
                    <a:ea typeface="楷体" panose="02010609060101010101" pitchFamily="49" charset="-122"/>
                  </a:rPr>
                  <a:t>越大。</a:t>
                </a:r>
                <a:endParaRPr lang="en-US" altLang="zh-CN" sz="1210" dirty="0">
                  <a:solidFill>
                    <a:prstClr val="black"/>
                  </a:solidFill>
                  <a:latin typeface="楷体" panose="02010609060101010101" pitchFamily="49" charset="-122"/>
                  <a:ea typeface="楷体" panose="02010609060101010101" pitchFamily="49" charset="-122"/>
                </a:endParaRPr>
              </a:p>
              <a:p>
                <a:pPr marL="115260" indent="-115260" defTabSz="461040">
                  <a:spcBef>
                    <a:spcPts val="504"/>
                  </a:spcBef>
                  <a:defRPr/>
                </a:pPr>
                <a:endParaRPr lang="zh-CN" altLang="en-US" sz="1210" dirty="0">
                  <a:solidFill>
                    <a:prstClr val="black"/>
                  </a:solidFill>
                  <a:latin typeface="Calibri" panose="020F0502020204030204"/>
                  <a:ea typeface="等线" panose="02010600030101010101" pitchFamily="2" charset="-122"/>
                </a:endParaRPr>
              </a:p>
            </p:txBody>
          </p:sp>
        </mc:Choice>
        <mc:Fallback xmlns="">
          <p:sp>
            <p:nvSpPr>
              <p:cNvPr id="9" name="内容占位符 2"/>
              <p:cNvSpPr txBox="1">
                <a:spLocks noRot="1" noChangeAspect="1" noMove="1" noResize="1" noEditPoints="1" noAdjustHandles="1" noChangeArrowheads="1" noChangeShapeType="1" noTextEdit="1"/>
              </p:cNvSpPr>
              <p:nvPr/>
            </p:nvSpPr>
            <p:spPr bwMode="auto">
              <a:xfrm>
                <a:off x="236260" y="508679"/>
                <a:ext cx="3976211" cy="2193800"/>
              </a:xfrm>
              <a:prstGeom prst="rect">
                <a:avLst/>
              </a:prstGeom>
              <a:blipFill>
                <a:blip r:embed="rId2"/>
                <a:stretch>
                  <a:fillRect l="-1274" t="-17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92EFEC2B-91BE-87BA-55D7-94CF14EAD7E4}"/>
              </a:ext>
            </a:extLst>
          </p:cNvPr>
          <p:cNvSpPr>
            <a:spLocks noGrp="1"/>
          </p:cNvSpPr>
          <p:nvPr>
            <p:ph type="title"/>
          </p:nvPr>
        </p:nvSpPr>
        <p:spPr/>
        <p:txBody>
          <a:bodyPr/>
          <a:lstStyle/>
          <a:p>
            <a:r>
              <a:rPr kumimoji="1" lang="zh-CN" altLang="en-US" dirty="0"/>
              <a:t>资本边际效率曲线</a:t>
            </a:r>
          </a:p>
        </p:txBody>
      </p:sp>
      <p:sp>
        <p:nvSpPr>
          <p:cNvPr id="4" name="灯片编号占位符 2">
            <a:extLst>
              <a:ext uri="{FF2B5EF4-FFF2-40B4-BE49-F238E27FC236}">
                <a16:creationId xmlns:a16="http://schemas.microsoft.com/office/drawing/2014/main" id="{64C347BD-4FB4-16DC-1E27-1EA92C15F55E}"/>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13</a:t>
            </a:fld>
            <a:endParaRPr lang="zh-CN" altLang="zh-CN" sz="856">
              <a:solidFill>
                <a:srgbClr val="777777"/>
              </a:solidFill>
              <a:ea typeface="宋体" panose="02010600030101010101" pitchFamily="2" charset="-122"/>
            </a:endParaRPr>
          </a:p>
        </p:txBody>
      </p:sp>
      <p:sp>
        <p:nvSpPr>
          <p:cNvPr id="3" name="页脚占位符 1">
            <a:extLst>
              <a:ext uri="{FF2B5EF4-FFF2-40B4-BE49-F238E27FC236}">
                <a16:creationId xmlns:a16="http://schemas.microsoft.com/office/drawing/2014/main" id="{AD03233D-31A2-DBB9-B4C1-48BFF749BD30}"/>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214578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p:txBody>
          <a:bodyPr/>
          <a:lstStyle/>
          <a:p>
            <a:pPr eaLnBrk="1" hangingPunct="1">
              <a:buFont typeface="Wingdings" panose="05000000000000000000" pitchFamily="2" charset="2"/>
              <a:buNone/>
            </a:pPr>
            <a:endParaRPr lang="zh-CN" altLang="en-US" sz="2000" dirty="0">
              <a:ea typeface="宋体" panose="02010600030101010101" pitchFamily="2" charset="-122"/>
            </a:endParaRPr>
          </a:p>
          <a:p>
            <a:pPr eaLnBrk="1" hangingPunct="1">
              <a:buFont typeface="Wingdings" panose="05000000000000000000" pitchFamily="2" charset="2"/>
              <a:buNone/>
            </a:pPr>
            <a:r>
              <a:rPr lang="zh-CN" altLang="en-US" sz="2000" dirty="0">
                <a:ea typeface="宋体" panose="02010600030101010101" pitchFamily="2" charset="-122"/>
              </a:rPr>
              <a:t> </a:t>
            </a:r>
          </a:p>
        </p:txBody>
      </p:sp>
      <p:grpSp>
        <p:nvGrpSpPr>
          <p:cNvPr id="6" name="组合 5"/>
          <p:cNvGrpSpPr/>
          <p:nvPr/>
        </p:nvGrpSpPr>
        <p:grpSpPr>
          <a:xfrm>
            <a:off x="465180" y="922007"/>
            <a:ext cx="3667271" cy="1816373"/>
            <a:chOff x="922672" y="1825625"/>
            <a:chExt cx="7273925" cy="3602723"/>
          </a:xfrm>
        </p:grpSpPr>
        <p:pic>
          <p:nvPicPr>
            <p:cNvPr id="10244" name="Picture 4" descr="xf14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2672" y="1825625"/>
              <a:ext cx="7273925" cy="325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Text Box 5"/>
            <p:cNvSpPr txBox="1">
              <a:spLocks noChangeArrowheads="1"/>
            </p:cNvSpPr>
            <p:nvPr/>
          </p:nvSpPr>
          <p:spPr bwMode="auto">
            <a:xfrm>
              <a:off x="995695" y="4968082"/>
              <a:ext cx="7127874" cy="460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lgn="ctr" defTabSz="230520">
                <a:spcBef>
                  <a:spcPct val="50000"/>
                </a:spcBef>
                <a:defRPr/>
              </a:pPr>
              <a:r>
                <a:rPr lang="zh-CN" altLang="en-US" sz="908" b="1" dirty="0">
                  <a:solidFill>
                    <a:prstClr val="black"/>
                  </a:solidFill>
                  <a:latin typeface="KaiTi" panose="02010609060101010101" pitchFamily="49" charset="-122"/>
                  <a:ea typeface="KaiTi" panose="02010609060101010101" pitchFamily="49" charset="-122"/>
                </a:rPr>
                <a:t>某企业可供选择的投资项目</a:t>
              </a:r>
            </a:p>
          </p:txBody>
        </p:sp>
      </p:grpSp>
      <p:sp>
        <p:nvSpPr>
          <p:cNvPr id="5" name="矩形 4"/>
          <p:cNvSpPr/>
          <p:nvPr/>
        </p:nvSpPr>
        <p:spPr>
          <a:xfrm>
            <a:off x="2287956" y="1060335"/>
            <a:ext cx="1992731" cy="511487"/>
          </a:xfrm>
          <a:prstGeom prst="rect">
            <a:avLst/>
          </a:prstGeom>
        </p:spPr>
        <p:txBody>
          <a:bodyPr wrap="square">
            <a:spAutoFit/>
          </a:bodyPr>
          <a:lstStyle/>
          <a:p>
            <a:pPr defTabSz="230520">
              <a:defRPr/>
            </a:pPr>
            <a:r>
              <a:rPr lang="zh-CN" altLang="en-US" sz="908" dirty="0">
                <a:solidFill>
                  <a:prstClr val="black"/>
                </a:solidFill>
                <a:latin typeface="Garamond" panose="02020404030301010803" pitchFamily="18" charset="0"/>
                <a:ea typeface="SimSun" panose="02010600030101010101" pitchFamily="2" charset="-122"/>
              </a:rPr>
              <a:t>如果市场利率是</a:t>
            </a:r>
            <a:r>
              <a:rPr lang="en-US" altLang="zh-CN" sz="908" dirty="0">
                <a:solidFill>
                  <a:prstClr val="black"/>
                </a:solidFill>
                <a:latin typeface="Garamond" panose="02020404030301010803" pitchFamily="18" charset="0"/>
                <a:ea typeface="SimSun" panose="02010600030101010101" pitchFamily="2" charset="-122"/>
              </a:rPr>
              <a:t>10%</a:t>
            </a:r>
            <a:r>
              <a:rPr lang="zh-CN" altLang="en-US" sz="908" dirty="0">
                <a:solidFill>
                  <a:prstClr val="black"/>
                </a:solidFill>
                <a:latin typeface="Garamond" panose="02020404030301010803" pitchFamily="18" charset="0"/>
                <a:ea typeface="SimSun" panose="02010600030101010101" pitchFamily="2" charset="-122"/>
              </a:rPr>
              <a:t>，则只有</a:t>
            </a:r>
            <a:r>
              <a:rPr lang="en-US" altLang="zh-CN" sz="908" dirty="0">
                <a:solidFill>
                  <a:prstClr val="black"/>
                </a:solidFill>
                <a:latin typeface="Garamond" panose="02020404030301010803" pitchFamily="18" charset="0"/>
                <a:ea typeface="SimSun" panose="02010600030101010101" pitchFamily="2" charset="-122"/>
              </a:rPr>
              <a:t>A</a:t>
            </a:r>
            <a:r>
              <a:rPr lang="zh-CN" altLang="en-US" sz="908" dirty="0">
                <a:solidFill>
                  <a:prstClr val="black"/>
                </a:solidFill>
                <a:latin typeface="Garamond" panose="02020404030301010803" pitchFamily="18" charset="0"/>
                <a:ea typeface="SimSun" panose="02010600030101010101" pitchFamily="2" charset="-122"/>
              </a:rPr>
              <a:t>项目值得投资；若市场利率降到</a:t>
            </a:r>
            <a:r>
              <a:rPr lang="en-US" altLang="zh-CN" sz="908" dirty="0">
                <a:solidFill>
                  <a:prstClr val="black"/>
                </a:solidFill>
                <a:latin typeface="Garamond" panose="02020404030301010803" pitchFamily="18" charset="0"/>
                <a:ea typeface="SimSun" panose="02010600030101010101" pitchFamily="2" charset="-122"/>
              </a:rPr>
              <a:t>8%</a:t>
            </a:r>
            <a:r>
              <a:rPr lang="zh-CN" altLang="en-US" sz="908" dirty="0">
                <a:solidFill>
                  <a:prstClr val="black"/>
                </a:solidFill>
                <a:latin typeface="Garamond" panose="02020404030301010803" pitchFamily="18" charset="0"/>
                <a:ea typeface="SimSun" panose="02010600030101010101" pitchFamily="2" charset="-122"/>
              </a:rPr>
              <a:t>，则</a:t>
            </a:r>
            <a:r>
              <a:rPr lang="en-US" altLang="zh-CN" sz="908" dirty="0">
                <a:solidFill>
                  <a:prstClr val="black"/>
                </a:solidFill>
                <a:latin typeface="Garamond" panose="02020404030301010803" pitchFamily="18" charset="0"/>
                <a:ea typeface="SimSun" panose="02010600030101010101" pitchFamily="2" charset="-122"/>
              </a:rPr>
              <a:t>B</a:t>
            </a:r>
            <a:r>
              <a:rPr lang="zh-CN" altLang="en-US" sz="908" dirty="0">
                <a:solidFill>
                  <a:prstClr val="black"/>
                </a:solidFill>
                <a:latin typeface="Garamond" panose="02020404030301010803" pitchFamily="18" charset="0"/>
                <a:ea typeface="SimSun" panose="02010600030101010101" pitchFamily="2" charset="-122"/>
              </a:rPr>
              <a:t>项目也值得投资。</a:t>
            </a:r>
          </a:p>
        </p:txBody>
      </p:sp>
      <p:sp>
        <p:nvSpPr>
          <p:cNvPr id="10" name="矩形 9"/>
          <p:cNvSpPr/>
          <p:nvPr/>
        </p:nvSpPr>
        <p:spPr>
          <a:xfrm>
            <a:off x="316943" y="2789948"/>
            <a:ext cx="3963743" cy="371768"/>
          </a:xfrm>
          <a:prstGeom prst="rect">
            <a:avLst/>
          </a:prstGeom>
        </p:spPr>
        <p:txBody>
          <a:bodyPr wrap="square">
            <a:spAutoFit/>
          </a:bodyPr>
          <a:lstStyle/>
          <a:p>
            <a:pPr defTabSz="230520">
              <a:defRPr/>
            </a:pPr>
            <a:r>
              <a:rPr lang="zh-CN" altLang="en-US" sz="908" dirty="0">
                <a:solidFill>
                  <a:prstClr val="black"/>
                </a:solidFill>
                <a:latin typeface="Garamond" panose="02020404030301010803" pitchFamily="18" charset="0"/>
                <a:ea typeface="SimSun" panose="02010600030101010101" pitchFamily="2" charset="-122"/>
              </a:rPr>
              <a:t>对这个企业来说，利率越低，投资需求量会越大。</a:t>
            </a:r>
            <a:endParaRPr lang="en-US" altLang="zh-CN" sz="908" dirty="0">
              <a:solidFill>
                <a:prstClr val="black"/>
              </a:solidFill>
              <a:latin typeface="Garamond" panose="02020404030301010803" pitchFamily="18" charset="0"/>
              <a:ea typeface="SimSun" panose="02010600030101010101" pitchFamily="2" charset="-122"/>
            </a:endParaRPr>
          </a:p>
          <a:p>
            <a:pPr defTabSz="230520">
              <a:defRPr/>
            </a:pPr>
            <a:r>
              <a:rPr lang="zh-CN" altLang="en-US" sz="908" dirty="0">
                <a:solidFill>
                  <a:prstClr val="black"/>
                </a:solidFill>
                <a:latin typeface="Garamond" panose="02020404030301010803" pitchFamily="18" charset="0"/>
                <a:ea typeface="SimSun" panose="02010600030101010101" pitchFamily="2" charset="-122"/>
              </a:rPr>
              <a:t>图中各个长方形顶端所形成的折线就是该</a:t>
            </a:r>
            <a:r>
              <a:rPr lang="zh-CN" altLang="en-US" sz="908" b="1" dirty="0">
                <a:solidFill>
                  <a:prstClr val="black"/>
                </a:solidFill>
                <a:latin typeface="Garamond" panose="02020404030301010803" pitchFamily="18" charset="0"/>
                <a:ea typeface="SimSun" panose="02010600030101010101" pitchFamily="2" charset="-122"/>
              </a:rPr>
              <a:t>企业的资本边际效率曲线。</a:t>
            </a:r>
          </a:p>
        </p:txBody>
      </p:sp>
      <p:sp>
        <p:nvSpPr>
          <p:cNvPr id="2" name="灯片编号占位符 2">
            <a:extLst>
              <a:ext uri="{FF2B5EF4-FFF2-40B4-BE49-F238E27FC236}">
                <a16:creationId xmlns:a16="http://schemas.microsoft.com/office/drawing/2014/main" id="{A6AE7A28-D367-A374-1346-639D2D7A78A4}"/>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14</a:t>
            </a:fld>
            <a:endParaRPr lang="zh-CN" altLang="zh-CN" sz="856">
              <a:solidFill>
                <a:srgbClr val="777777"/>
              </a:solidFill>
              <a:ea typeface="宋体" panose="02010600030101010101" pitchFamily="2" charset="-122"/>
            </a:endParaRPr>
          </a:p>
        </p:txBody>
      </p:sp>
      <p:sp>
        <p:nvSpPr>
          <p:cNvPr id="7" name="标题 6">
            <a:extLst>
              <a:ext uri="{FF2B5EF4-FFF2-40B4-BE49-F238E27FC236}">
                <a16:creationId xmlns:a16="http://schemas.microsoft.com/office/drawing/2014/main" id="{F6F01066-003D-4627-C55F-9BB26B3DC116}"/>
              </a:ext>
            </a:extLst>
          </p:cNvPr>
          <p:cNvSpPr>
            <a:spLocks noGrp="1"/>
          </p:cNvSpPr>
          <p:nvPr>
            <p:ph type="title"/>
          </p:nvPr>
        </p:nvSpPr>
        <p:spPr/>
        <p:txBody>
          <a:bodyPr/>
          <a:lstStyle/>
          <a:p>
            <a:r>
              <a:rPr kumimoji="1" lang="zh-CN" altLang="en-US" dirty="0"/>
              <a:t>资本边际效率曲线</a:t>
            </a:r>
          </a:p>
        </p:txBody>
      </p:sp>
      <p:sp>
        <p:nvSpPr>
          <p:cNvPr id="3" name="页脚占位符 1">
            <a:extLst>
              <a:ext uri="{FF2B5EF4-FFF2-40B4-BE49-F238E27FC236}">
                <a16:creationId xmlns:a16="http://schemas.microsoft.com/office/drawing/2014/main" id="{5ED951EA-EDF3-7813-764A-5B5250F7576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993769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476406" y="635068"/>
            <a:ext cx="1936805" cy="1790163"/>
            <a:chOff x="3026194" y="1517945"/>
            <a:chExt cx="4342660" cy="4005590"/>
          </a:xfrm>
        </p:grpSpPr>
        <p:pic>
          <p:nvPicPr>
            <p:cNvPr id="11267" name="Picture 4" descr="xf14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6578" t="3521" r="14613" b="5192"/>
            <a:stretch/>
          </p:blipFill>
          <p:spPr bwMode="auto">
            <a:xfrm>
              <a:off x="3026194" y="1517945"/>
              <a:ext cx="4162927" cy="322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Text Box 5"/>
            <p:cNvSpPr txBox="1">
              <a:spLocks noChangeArrowheads="1"/>
            </p:cNvSpPr>
            <p:nvPr/>
          </p:nvSpPr>
          <p:spPr bwMode="auto">
            <a:xfrm>
              <a:off x="3026194" y="4761124"/>
              <a:ext cx="4342660" cy="762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lgn="ctr" defTabSz="230520">
                <a:spcBef>
                  <a:spcPct val="50000"/>
                </a:spcBef>
                <a:defRPr/>
              </a:pPr>
              <a:r>
                <a:rPr lang="zh-CN" altLang="en-US" sz="807" b="1" dirty="0">
                  <a:solidFill>
                    <a:prstClr val="black"/>
                  </a:solidFill>
                  <a:latin typeface="Garamond" panose="02020404030301010803" pitchFamily="18" charset="0"/>
                  <a:ea typeface="KaiTi" panose="02010609060101010101" pitchFamily="49" charset="-122"/>
                </a:rPr>
                <a:t>资本边际效率曲线（</a:t>
              </a:r>
              <a:r>
                <a:rPr lang="en-US" altLang="zh-CN" sz="807" b="1" dirty="0">
                  <a:solidFill>
                    <a:prstClr val="black"/>
                  </a:solidFill>
                  <a:latin typeface="Garamond" panose="02020404030301010803" pitchFamily="18" charset="0"/>
                  <a:ea typeface="KaiTi" panose="02010609060101010101" pitchFamily="49" charset="-122"/>
                </a:rPr>
                <a:t>MEC</a:t>
              </a:r>
              <a:r>
                <a:rPr lang="zh-CN" altLang="en-US" sz="807" b="1" dirty="0">
                  <a:solidFill>
                    <a:prstClr val="black"/>
                  </a:solidFill>
                  <a:latin typeface="Garamond" panose="02020404030301010803" pitchFamily="18" charset="0"/>
                  <a:ea typeface="KaiTi" panose="02010609060101010101" pitchFamily="49" charset="-122"/>
                </a:rPr>
                <a:t>）和投资边际效率曲线（</a:t>
              </a:r>
              <a:r>
                <a:rPr lang="en-US" altLang="zh-CN" sz="807" b="1" dirty="0">
                  <a:solidFill>
                    <a:prstClr val="black"/>
                  </a:solidFill>
                  <a:latin typeface="Garamond" panose="02020404030301010803" pitchFamily="18" charset="0"/>
                  <a:ea typeface="KaiTi" panose="02010609060101010101" pitchFamily="49" charset="-122"/>
                </a:rPr>
                <a:t>MEI</a:t>
              </a:r>
              <a:r>
                <a:rPr lang="zh-CN" altLang="en-US" sz="807" b="1" dirty="0">
                  <a:solidFill>
                    <a:prstClr val="black"/>
                  </a:solidFill>
                  <a:latin typeface="Garamond" panose="02020404030301010803" pitchFamily="18" charset="0"/>
                  <a:ea typeface="KaiTi" panose="02010609060101010101" pitchFamily="49" charset="-122"/>
                </a:rPr>
                <a:t>）</a:t>
              </a:r>
            </a:p>
          </p:txBody>
        </p:sp>
      </p:grpSp>
      <p:sp>
        <p:nvSpPr>
          <p:cNvPr id="6" name="矩形 5"/>
          <p:cNvSpPr/>
          <p:nvPr/>
        </p:nvSpPr>
        <p:spPr>
          <a:xfrm>
            <a:off x="316945" y="662356"/>
            <a:ext cx="1951710" cy="90024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defTabSz="230520">
              <a:defRPr/>
            </a:pPr>
            <a:r>
              <a:rPr lang="zh-CN" altLang="en-US" sz="1050" b="1" dirty="0">
                <a:solidFill>
                  <a:prstClr val="black"/>
                </a:solidFill>
                <a:latin typeface="Garamond" panose="02020404030301010803" pitchFamily="18" charset="0"/>
                <a:ea typeface="SimSun" panose="02010600030101010101" pitchFamily="2" charset="-122"/>
              </a:rPr>
              <a:t>资本边际效率曲线表明：</a:t>
            </a:r>
            <a:endParaRPr lang="en-US" altLang="zh-CN" sz="1050" b="1" dirty="0">
              <a:solidFill>
                <a:prstClr val="black"/>
              </a:solidFill>
              <a:latin typeface="Garamond" panose="02020404030301010803" pitchFamily="18" charset="0"/>
              <a:ea typeface="SimSun" panose="02010600030101010101" pitchFamily="2" charset="-122"/>
            </a:endParaRPr>
          </a:p>
          <a:p>
            <a:pPr defTabSz="230520">
              <a:defRPr/>
            </a:pPr>
            <a:r>
              <a:rPr lang="zh-CN" altLang="en-US" sz="1050" dirty="0">
                <a:solidFill>
                  <a:prstClr val="black"/>
                </a:solidFill>
                <a:latin typeface="Garamond" panose="02020404030301010803" pitchFamily="18" charset="0"/>
                <a:ea typeface="SimSun" panose="02010600030101010101" pitchFamily="2" charset="-122"/>
              </a:rPr>
              <a:t>社会总投资量和利润率之间存在反方向变动关系：利率越高，投资量越小；利率越低，投资量越大。</a:t>
            </a:r>
          </a:p>
        </p:txBody>
      </p:sp>
      <p:sp>
        <p:nvSpPr>
          <p:cNvPr id="11" name="矩形 10"/>
          <p:cNvSpPr/>
          <p:nvPr/>
        </p:nvSpPr>
        <p:spPr>
          <a:xfrm>
            <a:off x="316944" y="1553777"/>
            <a:ext cx="1951710" cy="138499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defTabSz="230520">
              <a:defRPr/>
            </a:pPr>
            <a:r>
              <a:rPr lang="zh-CN" altLang="en-US" sz="1050" dirty="0">
                <a:solidFill>
                  <a:prstClr val="black"/>
                </a:solidFill>
                <a:latin typeface="Garamond" panose="02020404030301010803" pitchFamily="18" charset="0"/>
                <a:ea typeface="SimSun" panose="02010600030101010101" pitchFamily="2" charset="-122"/>
              </a:rPr>
              <a:t>利率降低时，企业增加投资，资本品的价格上涨，即</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资本品供给价格</a:t>
            </a:r>
            <a:r>
              <a:rPr lang="en-US" altLang="zh-CN" sz="1050" dirty="0">
                <a:solidFill>
                  <a:prstClr val="black"/>
                </a:solidFill>
                <a:latin typeface="Garamond" panose="02020404030301010803" pitchFamily="18" charset="0"/>
                <a:ea typeface="SimSun" panose="02010600030101010101" pitchFamily="2" charset="-122"/>
              </a:rPr>
              <a:t>)</a:t>
            </a:r>
            <a:r>
              <a:rPr lang="zh-CN" altLang="en-US" sz="1050" dirty="0">
                <a:solidFill>
                  <a:prstClr val="black"/>
                </a:solidFill>
                <a:latin typeface="Garamond" panose="02020404030301010803" pitchFamily="18" charset="0"/>
                <a:ea typeface="SimSun" panose="02010600030101010101" pitchFamily="2" charset="-122"/>
              </a:rPr>
              <a:t>增加。</a:t>
            </a:r>
            <a:endParaRPr lang="en-US" altLang="zh-CN" sz="1050" dirty="0">
              <a:solidFill>
                <a:prstClr val="black"/>
              </a:solidFill>
              <a:latin typeface="Garamond" panose="02020404030301010803" pitchFamily="18" charset="0"/>
              <a:ea typeface="SimSun" panose="02010600030101010101" pitchFamily="2" charset="-122"/>
            </a:endParaRPr>
          </a:p>
          <a:p>
            <a:pPr defTabSz="230520">
              <a:defRPr/>
            </a:pPr>
            <a:r>
              <a:rPr lang="zh-CN" altLang="en-US" sz="1050" dirty="0">
                <a:solidFill>
                  <a:prstClr val="black"/>
                </a:solidFill>
                <a:latin typeface="Garamond" panose="02020404030301010803" pitchFamily="18" charset="0"/>
                <a:ea typeface="SimSun" panose="02010600030101010101" pitchFamily="2" charset="-122"/>
              </a:rPr>
              <a:t>在相同的预期收益情况下，</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必然缩小。</a:t>
            </a:r>
            <a:endParaRPr lang="en-US" altLang="zh-CN" sz="1050" dirty="0">
              <a:solidFill>
                <a:prstClr val="black"/>
              </a:solidFill>
              <a:latin typeface="Garamond" panose="02020404030301010803" pitchFamily="18" charset="0"/>
              <a:ea typeface="SimSun" panose="02010600030101010101" pitchFamily="2" charset="-122"/>
            </a:endParaRPr>
          </a:p>
          <a:p>
            <a:pPr defTabSz="230520">
              <a:defRPr/>
            </a:pPr>
            <a:r>
              <a:rPr lang="zh-CN" altLang="en-US" sz="1050" dirty="0">
                <a:solidFill>
                  <a:prstClr val="black"/>
                </a:solidFill>
                <a:latin typeface="Garamond" panose="02020404030301010803" pitchFamily="18" charset="0"/>
                <a:ea typeface="SimSun" panose="02010600030101010101" pitchFamily="2" charset="-122"/>
              </a:rPr>
              <a:t>由</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上升而被缩小了的</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的数值被称为</a:t>
            </a:r>
            <a:r>
              <a:rPr lang="zh-CN" altLang="en-US" sz="1050" dirty="0">
                <a:solidFill>
                  <a:srgbClr val="FF0000"/>
                </a:solidFill>
                <a:latin typeface="Garamond" panose="02020404030301010803" pitchFamily="18" charset="0"/>
                <a:ea typeface="SimSun" panose="02010600030101010101" pitchFamily="2" charset="-122"/>
              </a:rPr>
              <a:t>投资的边际效率（</a:t>
            </a:r>
            <a:r>
              <a:rPr lang="en-US" altLang="zh-CN" sz="1050" dirty="0">
                <a:solidFill>
                  <a:srgbClr val="FF0000"/>
                </a:solidFill>
                <a:latin typeface="Garamond" panose="02020404030301010803" pitchFamily="18" charset="0"/>
                <a:ea typeface="SimSun" panose="02010600030101010101" pitchFamily="2" charset="-122"/>
              </a:rPr>
              <a:t>MEI</a:t>
            </a:r>
            <a:r>
              <a:rPr lang="zh-CN" altLang="en-US" sz="1050" dirty="0">
                <a:solidFill>
                  <a:srgbClr val="FF0000"/>
                </a:solidFill>
                <a:latin typeface="Garamond" panose="02020404030301010803" pitchFamily="18" charset="0"/>
                <a:ea typeface="SimSun" panose="02010600030101010101" pitchFamily="2" charset="-122"/>
              </a:rPr>
              <a:t>）。</a:t>
            </a:r>
          </a:p>
        </p:txBody>
      </p:sp>
      <mc:AlternateContent xmlns:mc="http://schemas.openxmlformats.org/markup-compatibility/2006" xmlns:a14="http://schemas.microsoft.com/office/drawing/2010/main">
        <mc:Choice Requires="a14">
          <p:sp>
            <p:nvSpPr>
              <p:cNvPr id="7" name="矩形 6"/>
              <p:cNvSpPr/>
              <p:nvPr/>
            </p:nvSpPr>
            <p:spPr>
              <a:xfrm>
                <a:off x="2341446" y="2424383"/>
                <a:ext cx="1951710" cy="651204"/>
              </a:xfrm>
              <a:prstGeom prst="rect">
                <a:avLst/>
              </a:prstGeom>
            </p:spPr>
            <p:txBody>
              <a:bodyPr wrap="square">
                <a:spAutoFit/>
              </a:bodyPr>
              <a:lstStyle/>
              <a:p>
                <a:pPr defTabSz="230520">
                  <a:defRPr/>
                </a:pPr>
                <a:r>
                  <a:rPr lang="zh-CN" altLang="en-US" sz="908" dirty="0">
                    <a:solidFill>
                      <a:prstClr val="black"/>
                    </a:solidFill>
                    <a:latin typeface="Garamond" panose="02020404030301010803" pitchFamily="18" charset="0"/>
                    <a:ea typeface="SimSun" panose="02010600030101010101" pitchFamily="2" charset="-122"/>
                  </a:rPr>
                  <a:t>西方经济学一般用</a:t>
                </a:r>
                <a:r>
                  <a:rPr lang="en-US" altLang="zh-CN" sz="908" dirty="0">
                    <a:solidFill>
                      <a:prstClr val="black"/>
                    </a:solidFill>
                    <a:latin typeface="Garamond" panose="02020404030301010803" pitchFamily="18" charset="0"/>
                    <a:ea typeface="SimSun" panose="02010600030101010101" pitchFamily="2" charset="-122"/>
                  </a:rPr>
                  <a:t>MEI</a:t>
                </a:r>
                <a:r>
                  <a:rPr lang="zh-CN" altLang="en-US" sz="908" dirty="0">
                    <a:solidFill>
                      <a:prstClr val="black"/>
                    </a:solidFill>
                    <a:latin typeface="Garamond" panose="02020404030301010803" pitchFamily="18" charset="0"/>
                    <a:ea typeface="SimSun" panose="02010600030101010101" pitchFamily="2" charset="-122"/>
                  </a:rPr>
                  <a:t>曲线来表示利率与投资量之间的关系，投资需求曲线指的是</a:t>
                </a:r>
                <a:r>
                  <a:rPr lang="en-US" altLang="zh-CN" sz="908" dirty="0">
                    <a:solidFill>
                      <a:prstClr val="black"/>
                    </a:solidFill>
                    <a:latin typeface="Garamond" panose="02020404030301010803" pitchFamily="18" charset="0"/>
                    <a:ea typeface="SimSun" panose="02010600030101010101" pitchFamily="2" charset="-122"/>
                  </a:rPr>
                  <a:t>MEI</a:t>
                </a:r>
                <a:r>
                  <a:rPr lang="zh-CN" altLang="en-US" sz="908" dirty="0">
                    <a:solidFill>
                      <a:prstClr val="black"/>
                    </a:solidFill>
                    <a:latin typeface="Garamond" panose="02020404030301010803" pitchFamily="18" charset="0"/>
                    <a:ea typeface="SimSun" panose="02010600030101010101" pitchFamily="2" charset="-122"/>
                  </a:rPr>
                  <a:t>曲线，也是投资需求函数：</a:t>
                </a:r>
                <a14:m>
                  <m:oMath xmlns:m="http://schemas.openxmlformats.org/officeDocument/2006/math">
                    <m:r>
                      <a:rPr lang="en-US" altLang="zh-CN" sz="908" i="1">
                        <a:solidFill>
                          <a:prstClr val="black"/>
                        </a:solidFill>
                        <a:latin typeface="Cambria Math" panose="02040503050406030204" pitchFamily="18" charset="0"/>
                      </a:rPr>
                      <m:t>𝑖</m:t>
                    </m:r>
                    <m:r>
                      <a:rPr lang="en-US" altLang="zh-CN" sz="908" i="1">
                        <a:solidFill>
                          <a:prstClr val="black"/>
                        </a:solidFill>
                        <a:latin typeface="Cambria Math" panose="02040503050406030204" pitchFamily="18" charset="0"/>
                      </a:rPr>
                      <m:t>=</m:t>
                    </m:r>
                    <m:r>
                      <a:rPr lang="en-US" altLang="zh-CN" sz="908" i="1">
                        <a:solidFill>
                          <a:prstClr val="black"/>
                        </a:solidFill>
                        <a:latin typeface="Cambria Math" panose="02040503050406030204" pitchFamily="18" charset="0"/>
                      </a:rPr>
                      <m:t>𝑖</m:t>
                    </m:r>
                    <m:r>
                      <a:rPr lang="en-US" altLang="zh-CN" sz="908" i="1">
                        <a:solidFill>
                          <a:prstClr val="black"/>
                        </a:solidFill>
                        <a:latin typeface="Cambria Math" panose="02040503050406030204" pitchFamily="18" charset="0"/>
                      </a:rPr>
                      <m:t>(</m:t>
                    </m:r>
                    <m:r>
                      <a:rPr lang="en-US" altLang="zh-CN" sz="908" i="1">
                        <a:solidFill>
                          <a:prstClr val="black"/>
                        </a:solidFill>
                        <a:latin typeface="Cambria Math" panose="02040503050406030204" pitchFamily="18" charset="0"/>
                      </a:rPr>
                      <m:t>𝑟</m:t>
                    </m:r>
                    <m:r>
                      <a:rPr lang="en-US" altLang="zh-CN" sz="908" i="1">
                        <a:solidFill>
                          <a:prstClr val="black"/>
                        </a:solidFill>
                        <a:latin typeface="Cambria Math" panose="02040503050406030204" pitchFamily="18" charset="0"/>
                      </a:rPr>
                      <m:t>)</m:t>
                    </m:r>
                  </m:oMath>
                </a14:m>
                <a:endParaRPr lang="zh-CN" altLang="en-US" sz="908" dirty="0">
                  <a:solidFill>
                    <a:prstClr val="black"/>
                  </a:solidFill>
                  <a:latin typeface="Garamond" panose="02020404030301010803" pitchFamily="18" charset="0"/>
                  <a:ea typeface="SimSun" panose="02010600030101010101" pitchFamily="2"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2341446" y="2424383"/>
                <a:ext cx="1951710" cy="651204"/>
              </a:xfrm>
              <a:prstGeom prst="rect">
                <a:avLst/>
              </a:prstGeom>
              <a:blipFill>
                <a:blip r:embed="rId3"/>
                <a:stretch>
                  <a:fillRect b="-1923"/>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60884E6D-BE08-F98C-D02C-73EF3869FDCA}"/>
              </a:ext>
            </a:extLst>
          </p:cNvPr>
          <p:cNvSpPr>
            <a:spLocks noGrp="1"/>
          </p:cNvSpPr>
          <p:nvPr>
            <p:ph type="title"/>
          </p:nvPr>
        </p:nvSpPr>
        <p:spPr/>
        <p:txBody>
          <a:bodyPr/>
          <a:lstStyle/>
          <a:p>
            <a:r>
              <a:rPr kumimoji="1" lang="zh-CN" altLang="en-US" dirty="0"/>
              <a:t>投资的边际效率曲线</a:t>
            </a:r>
          </a:p>
        </p:txBody>
      </p:sp>
      <p:sp>
        <p:nvSpPr>
          <p:cNvPr id="4" name="灯片编号占位符 2">
            <a:extLst>
              <a:ext uri="{FF2B5EF4-FFF2-40B4-BE49-F238E27FC236}">
                <a16:creationId xmlns:a16="http://schemas.microsoft.com/office/drawing/2014/main" id="{DC0BDBDE-AFB5-EAD3-49F7-C710E9795386}"/>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15</a:t>
            </a:fld>
            <a:endParaRPr lang="zh-CN" altLang="zh-CN" sz="856">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9650522A-55DC-C80A-1F54-4E6A53697B1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911162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291" name="Rectangle 3"/>
              <p:cNvSpPr>
                <a:spLocks noGrp="1" noChangeArrowheads="1"/>
              </p:cNvSpPr>
              <p:nvPr>
                <p:ph type="body" idx="1"/>
              </p:nvPr>
            </p:nvSpPr>
            <p:spPr/>
            <p:txBody>
              <a:bodyPr/>
              <a:lstStyle/>
              <a:p>
                <a:pPr eaLnBrk="1" hangingPunct="1"/>
                <a:r>
                  <a:rPr lang="zh-CN" altLang="en-US" sz="1008" dirty="0">
                    <a:latin typeface="SimSun" panose="02010600030101010101" pitchFamily="2" charset="-122"/>
                    <a:ea typeface="SimSun" panose="02010600030101010101" pitchFamily="2" charset="-122"/>
                  </a:rPr>
                  <a:t>从利率水平探讨投资需求，实际上是从投资使用的资金成本角度探讨投资需求。</a:t>
                </a:r>
                <a:endParaRPr lang="en-US" altLang="zh-CN" sz="1008" dirty="0">
                  <a:latin typeface="SimSun" panose="02010600030101010101" pitchFamily="2" charset="-122"/>
                  <a:ea typeface="SimSun" panose="02010600030101010101" pitchFamily="2" charset="-122"/>
                </a:endParaRPr>
              </a:p>
              <a:p>
                <a:pPr eaLnBrk="1" hangingPunct="1"/>
                <a:r>
                  <a:rPr lang="zh-CN" altLang="en-US" sz="1008" dirty="0">
                    <a:latin typeface="SimSun" panose="02010600030101010101" pitchFamily="2" charset="-122"/>
                    <a:ea typeface="SimSun" panose="02010600030101010101" pitchFamily="2" charset="-122"/>
                  </a:rPr>
                  <a:t>根据</a:t>
                </a:r>
                <a14:m>
                  <m:oMath xmlns:m="http://schemas.openxmlformats.org/officeDocument/2006/math">
                    <m:r>
                      <a:rPr lang="zh-CN" altLang="en-US" sz="1008" i="1">
                        <a:latin typeface="Cambria Math" panose="02040503050406030204" pitchFamily="18" charset="0"/>
                        <a:ea typeface="楷体" panose="02010609060101010101" pitchFamily="49" charset="-122"/>
                      </a:rPr>
                      <m:t>资本边际效率公式：</m:t>
                    </m:r>
                  </m:oMath>
                </a14:m>
                <a:endParaRPr lang="en-US" altLang="zh-CN" sz="1008" i="1" dirty="0">
                  <a:latin typeface="SimSun" panose="02010600030101010101" pitchFamily="2" charset="-122"/>
                  <a:ea typeface="SimSun" panose="02010600030101010101" pitchFamily="2" charset="-122"/>
                </a:endParaRPr>
              </a:p>
              <a:p>
                <a:pPr eaLnBrk="1" hangingPunct="1"/>
                <a14:m>
                  <m:oMath xmlns:m="http://schemas.openxmlformats.org/officeDocument/2006/math">
                    <m:r>
                      <a:rPr lang="en-US" altLang="zh-CN" sz="1008" i="1">
                        <a:latin typeface="Cambria Math" panose="02040503050406030204" pitchFamily="18" charset="0"/>
                        <a:ea typeface="楷体" panose="02010609060101010101" pitchFamily="49" charset="-122"/>
                      </a:rPr>
                      <m:t>𝑅</m:t>
                    </m:r>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1</m:t>
                            </m:r>
                          </m:sub>
                        </m:sSub>
                      </m:num>
                      <m:den>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den>
                    </m:f>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2</m:t>
                            </m:r>
                          </m:sub>
                        </m:sSub>
                      </m:num>
                      <m:den>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2</m:t>
                            </m:r>
                          </m:sup>
                        </m:sSup>
                      </m:den>
                    </m:f>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𝑛</m:t>
                            </m:r>
                          </m:sub>
                        </m:sSub>
                      </m:num>
                      <m:den>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𝑛</m:t>
                            </m:r>
                          </m:sup>
                        </m:sSup>
                      </m:den>
                    </m:f>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r>
                          <a:rPr lang="en-US" altLang="zh-CN" sz="1008" i="1">
                            <a:latin typeface="Cambria Math" panose="02040503050406030204" pitchFamily="18" charset="0"/>
                            <a:ea typeface="楷体" panose="02010609060101010101" pitchFamily="49" charset="-122"/>
                          </a:rPr>
                          <m:t>𝐽</m:t>
                        </m:r>
                      </m:num>
                      <m:den>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𝑛</m:t>
                            </m:r>
                          </m:sup>
                        </m:sSup>
                      </m:den>
                    </m:f>
                  </m:oMath>
                </a14:m>
                <a:endParaRPr lang="en-US" altLang="zh-CN" sz="1008" dirty="0">
                  <a:latin typeface="SimSun" panose="02010600030101010101" pitchFamily="2" charset="-122"/>
                  <a:ea typeface="SimSun" panose="02010600030101010101" pitchFamily="2" charset="-122"/>
                </a:endParaRPr>
              </a:p>
              <a:p>
                <a:pPr eaLnBrk="1" hangingPunct="1"/>
                <a:r>
                  <a:rPr lang="zh-CN" altLang="en-US" sz="1008" dirty="0">
                    <a:latin typeface="SimSun" panose="02010600030101010101" pitchFamily="2" charset="-122"/>
                    <a:ea typeface="SimSun" panose="02010600030101010101" pitchFamily="2" charset="-122"/>
                  </a:rPr>
                  <a:t>预期收益，即一个投资项目在未来各个时期估计可得到的收益，也会影响投资。</a:t>
                </a:r>
                <a:r>
                  <a:rPr lang="zh-CN" altLang="en-US" sz="1008" b="1" dirty="0">
                    <a:latin typeface="SimSun" panose="02010600030101010101" pitchFamily="2" charset="-122"/>
                    <a:ea typeface="SimSun" panose="02010600030101010101" pitchFamily="2" charset="-122"/>
                  </a:rPr>
                  <a:t>影响预期收益</a:t>
                </a:r>
                <a:r>
                  <a:rPr lang="zh-CN" altLang="en-US" sz="1008" dirty="0">
                    <a:latin typeface="SimSun" panose="02010600030101010101" pitchFamily="2" charset="-122"/>
                    <a:ea typeface="SimSun" panose="02010600030101010101" pitchFamily="2" charset="-122"/>
                  </a:rPr>
                  <a:t>的因素主要有：</a:t>
                </a:r>
                <a:endParaRPr lang="en-US" altLang="zh-CN" sz="1008" dirty="0">
                  <a:latin typeface="SimSun" panose="02010600030101010101" pitchFamily="2" charset="-122"/>
                  <a:ea typeface="SimSun" panose="02010600030101010101" pitchFamily="2" charset="-122"/>
                </a:endParaRPr>
              </a:p>
              <a:p>
                <a:pPr eaLnBrk="1" hangingPunct="1"/>
                <a:r>
                  <a:rPr lang="en-US" altLang="zh-CN" sz="1008" dirty="0">
                    <a:latin typeface="SimSun" panose="02010600030101010101" pitchFamily="2" charset="-122"/>
                    <a:ea typeface="SimSun" panose="02010600030101010101" pitchFamily="2" charset="-122"/>
                  </a:rPr>
                  <a:t>1</a:t>
                </a:r>
                <a:r>
                  <a:rPr lang="zh-CN" altLang="en-US" sz="1008" dirty="0">
                    <a:latin typeface="SimSun" panose="02010600030101010101" pitchFamily="2" charset="-122"/>
                    <a:ea typeface="SimSun" panose="02010600030101010101" pitchFamily="2" charset="-122"/>
                  </a:rPr>
                  <a:t>、对投资项目的产出的需求预期</a:t>
                </a:r>
              </a:p>
              <a:p>
                <a:pPr eaLnBrk="1" hangingPunct="1"/>
                <a:r>
                  <a:rPr lang="en-US" altLang="zh-CN" sz="1008" dirty="0">
                    <a:latin typeface="SimSun" panose="02010600030101010101" pitchFamily="2" charset="-122"/>
                    <a:ea typeface="SimSun" panose="02010600030101010101" pitchFamily="2" charset="-122"/>
                  </a:rPr>
                  <a:t>2</a:t>
                </a:r>
                <a:r>
                  <a:rPr lang="zh-CN" altLang="en-US" sz="1008" dirty="0">
                    <a:latin typeface="SimSun" panose="02010600030101010101" pitchFamily="2" charset="-122"/>
                    <a:ea typeface="SimSun" panose="02010600030101010101" pitchFamily="2" charset="-122"/>
                  </a:rPr>
                  <a:t>、产品成本</a:t>
                </a:r>
                <a:r>
                  <a:rPr lang="en-US" altLang="zh-CN" sz="1008" dirty="0">
                    <a:latin typeface="SimSun" panose="02010600030101010101" pitchFamily="2" charset="-122"/>
                    <a:ea typeface="SimSun" panose="02010600030101010101" pitchFamily="2" charset="-122"/>
                  </a:rPr>
                  <a:t>(</a:t>
                </a:r>
                <a:r>
                  <a:rPr lang="zh-CN" altLang="en-US" sz="1008" dirty="0">
                    <a:latin typeface="SimSun" panose="02010600030101010101" pitchFamily="2" charset="-122"/>
                    <a:ea typeface="SimSun" panose="02010600030101010101" pitchFamily="2" charset="-122"/>
                  </a:rPr>
                  <a:t>工资成本对投资需求的双向影响</a:t>
                </a:r>
                <a:r>
                  <a:rPr lang="en-US" altLang="zh-CN" sz="1008" dirty="0">
                    <a:latin typeface="SimSun" panose="02010600030101010101" pitchFamily="2" charset="-122"/>
                    <a:ea typeface="SimSun" panose="02010600030101010101" pitchFamily="2" charset="-122"/>
                  </a:rPr>
                  <a:t>)</a:t>
                </a:r>
              </a:p>
              <a:p>
                <a:pPr eaLnBrk="1" hangingPunct="1"/>
                <a:r>
                  <a:rPr lang="zh-CN" altLang="en-US" sz="1008" dirty="0">
                    <a:latin typeface="SimSun" panose="02010600030101010101" pitchFamily="2" charset="-122"/>
                    <a:ea typeface="SimSun" panose="02010600030101010101" pitchFamily="2" charset="-122"/>
                  </a:rPr>
                  <a:t>新古典经济学认为劳动力成本上升会让企业越来越多地考虑采用新的机器设备，从而增加投资需求。</a:t>
                </a:r>
                <a:endParaRPr lang="en-US" altLang="zh-CN" sz="1008" dirty="0">
                  <a:latin typeface="SimSun" panose="02010600030101010101" pitchFamily="2" charset="-122"/>
                  <a:ea typeface="SimSun" panose="02010600030101010101" pitchFamily="2" charset="-122"/>
                </a:endParaRPr>
              </a:p>
              <a:p>
                <a:pPr eaLnBrk="1" hangingPunct="1"/>
                <a:r>
                  <a:rPr lang="en-US" altLang="zh-CN" sz="1008" dirty="0">
                    <a:latin typeface="SimSun" panose="02010600030101010101" pitchFamily="2" charset="-122"/>
                    <a:ea typeface="SimSun" panose="02010600030101010101" pitchFamily="2" charset="-122"/>
                  </a:rPr>
                  <a:t>3</a:t>
                </a:r>
                <a:r>
                  <a:rPr lang="zh-CN" altLang="en-US" sz="1008" dirty="0">
                    <a:latin typeface="SimSun" panose="02010600030101010101" pitchFamily="2" charset="-122"/>
                    <a:ea typeface="SimSun" panose="02010600030101010101" pitchFamily="2" charset="-122"/>
                  </a:rPr>
                  <a:t>、投资税抵免</a:t>
                </a:r>
              </a:p>
            </p:txBody>
          </p:sp>
        </mc:Choice>
        <mc:Fallback xmlns="">
          <p:sp>
            <p:nvSpPr>
              <p:cNvPr id="12291" name="Rectangle 3"/>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33A69C2C-FCAD-C0D8-2C20-C26C4B5510DC}"/>
              </a:ext>
            </a:extLst>
          </p:cNvPr>
          <p:cNvSpPr>
            <a:spLocks noGrp="1"/>
          </p:cNvSpPr>
          <p:nvPr>
            <p:ph type="title"/>
          </p:nvPr>
        </p:nvSpPr>
        <p:spPr/>
        <p:txBody>
          <a:bodyPr/>
          <a:lstStyle/>
          <a:p>
            <a:r>
              <a:rPr kumimoji="1" lang="zh-CN" altLang="en-US" dirty="0"/>
              <a:t>预期收益与投资</a:t>
            </a:r>
          </a:p>
        </p:txBody>
      </p:sp>
      <p:sp>
        <p:nvSpPr>
          <p:cNvPr id="4" name="灯片编号占位符 2">
            <a:extLst>
              <a:ext uri="{FF2B5EF4-FFF2-40B4-BE49-F238E27FC236}">
                <a16:creationId xmlns:a16="http://schemas.microsoft.com/office/drawing/2014/main" id="{40BC96FD-4598-8EFE-DC32-19A0E8250163}"/>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16</a:t>
            </a:fld>
            <a:endParaRPr lang="zh-CN" altLang="zh-CN" sz="856">
              <a:solidFill>
                <a:srgbClr val="777777"/>
              </a:solidFill>
              <a:ea typeface="宋体" panose="02010600030101010101" pitchFamily="2" charset="-122"/>
            </a:endParaRPr>
          </a:p>
        </p:txBody>
      </p:sp>
      <p:sp>
        <p:nvSpPr>
          <p:cNvPr id="5" name="页脚占位符 1">
            <a:extLst>
              <a:ext uri="{FF2B5EF4-FFF2-40B4-BE49-F238E27FC236}">
                <a16:creationId xmlns:a16="http://schemas.microsoft.com/office/drawing/2014/main" id="{7DE2E813-D77A-5BD0-4AD4-F0CAF6FCF99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150709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1"/>
          </p:nvPr>
        </p:nvSpPr>
        <p:spPr/>
        <p:txBody>
          <a:bodyPr/>
          <a:lstStyle/>
          <a:p>
            <a:pPr eaLnBrk="1" hangingPunct="1"/>
            <a:r>
              <a:rPr lang="zh-CN" altLang="en-US" sz="1200" dirty="0">
                <a:latin typeface="Garamond" panose="02020404030301010803" pitchFamily="18" charset="0"/>
                <a:ea typeface="SimSun" panose="02010600030101010101" pitchFamily="2" charset="-122"/>
              </a:rPr>
              <a:t>所谓的</a:t>
            </a:r>
            <a:r>
              <a:rPr lang="zh-CN" altLang="en-US" sz="1200" b="1" dirty="0">
                <a:latin typeface="Garamond" panose="02020404030301010803" pitchFamily="18" charset="0"/>
                <a:ea typeface="SimSun" panose="02010600030101010101" pitchFamily="2" charset="-122"/>
              </a:rPr>
              <a:t>风险</a:t>
            </a:r>
            <a:r>
              <a:rPr lang="zh-CN" altLang="en-US" sz="1200" dirty="0">
                <a:latin typeface="Garamond" panose="02020404030301010803" pitchFamily="18" charset="0"/>
                <a:ea typeface="SimSun" panose="02010600030101010101" pitchFamily="2" charset="-122"/>
              </a:rPr>
              <a:t>，包括未来的市场走势、产品价格变化、生产成本变动、实际利率变化、政府宏观经济政策变化等的不确定性。</a:t>
            </a:r>
            <a:endParaRPr lang="en-US" altLang="zh-CN" sz="1200" dirty="0">
              <a:latin typeface="Garamond" panose="02020404030301010803" pitchFamily="18" charset="0"/>
              <a:ea typeface="SimSun" panose="02010600030101010101" pitchFamily="2" charset="-122"/>
            </a:endParaRPr>
          </a:p>
          <a:p>
            <a:pPr eaLnBrk="1" hangingPunct="1"/>
            <a:r>
              <a:rPr lang="zh-CN" altLang="en-US" sz="1200" dirty="0">
                <a:latin typeface="Garamond" panose="02020404030301010803" pitchFamily="18" charset="0"/>
                <a:ea typeface="SimSun" panose="02010600030101010101" pitchFamily="2" charset="-122"/>
              </a:rPr>
              <a:t>一般来说，</a:t>
            </a:r>
            <a:r>
              <a:rPr lang="zh-CN" altLang="en-US" sz="1200" b="1" dirty="0">
                <a:latin typeface="Garamond" panose="02020404030301010803" pitchFamily="18" charset="0"/>
                <a:ea typeface="SimSun" panose="02010600030101010101" pitchFamily="2" charset="-122"/>
              </a:rPr>
              <a:t>经济繁荣</a:t>
            </a:r>
            <a:r>
              <a:rPr lang="zh-CN" altLang="en-US" sz="1200" dirty="0">
                <a:latin typeface="Garamond" panose="02020404030301010803" pitchFamily="18" charset="0"/>
                <a:ea typeface="SimSun" panose="02010600030101010101" pitchFamily="2" charset="-122"/>
              </a:rPr>
              <a:t>时，企业对未来会看好，认为投资风险较小；</a:t>
            </a:r>
            <a:r>
              <a:rPr lang="zh-CN" altLang="en-US" sz="1200" b="1" dirty="0">
                <a:latin typeface="Garamond" panose="02020404030301010803" pitchFamily="18" charset="0"/>
                <a:ea typeface="SimSun" panose="02010600030101010101" pitchFamily="2" charset="-122"/>
              </a:rPr>
              <a:t>经济衰退</a:t>
            </a:r>
            <a:r>
              <a:rPr lang="zh-CN" altLang="en-US" sz="1200" dirty="0">
                <a:latin typeface="Garamond" panose="02020404030301010803" pitchFamily="18" charset="0"/>
                <a:ea typeface="SimSun" panose="02010600030101010101" pitchFamily="2" charset="-122"/>
              </a:rPr>
              <a:t>时，企业对未来看法悲观，感觉投资风险较大。</a:t>
            </a:r>
            <a:endParaRPr lang="en-US" altLang="zh-CN" sz="1200" dirty="0">
              <a:latin typeface="Garamond" panose="02020404030301010803" pitchFamily="18" charset="0"/>
              <a:ea typeface="SimSun" panose="02010600030101010101" pitchFamily="2" charset="-122"/>
            </a:endParaRPr>
          </a:p>
          <a:p>
            <a:pPr eaLnBrk="1" hangingPunct="1"/>
            <a:r>
              <a:rPr lang="zh-CN" altLang="en-US" sz="1200" b="1" dirty="0">
                <a:latin typeface="Garamond" panose="02020404030301010803" pitchFamily="18" charset="0"/>
                <a:ea typeface="SimSun" panose="02010600030101010101" pitchFamily="2" charset="-122"/>
              </a:rPr>
              <a:t>凯恩斯认为，</a:t>
            </a:r>
            <a:r>
              <a:rPr lang="zh-CN" altLang="en-US" sz="1200" dirty="0">
                <a:latin typeface="Garamond" panose="02020404030301010803" pitchFamily="18" charset="0"/>
                <a:ea typeface="SimSun" panose="02010600030101010101" pitchFamily="2" charset="-122"/>
              </a:rPr>
              <a:t>投资需求与投资者的乐观和悲观情绪有很大关系，实际上，这说明投资需求会随人们承担风险的意愿和能力变化而变动。</a:t>
            </a:r>
          </a:p>
        </p:txBody>
      </p:sp>
      <p:sp>
        <p:nvSpPr>
          <p:cNvPr id="2" name="标题 1">
            <a:extLst>
              <a:ext uri="{FF2B5EF4-FFF2-40B4-BE49-F238E27FC236}">
                <a16:creationId xmlns:a16="http://schemas.microsoft.com/office/drawing/2014/main" id="{5682334A-0901-EFAD-5201-135CB37FA607}"/>
              </a:ext>
            </a:extLst>
          </p:cNvPr>
          <p:cNvSpPr>
            <a:spLocks noGrp="1"/>
          </p:cNvSpPr>
          <p:nvPr>
            <p:ph type="title"/>
          </p:nvPr>
        </p:nvSpPr>
        <p:spPr/>
        <p:txBody>
          <a:bodyPr/>
          <a:lstStyle/>
          <a:p>
            <a:r>
              <a:rPr kumimoji="1" lang="zh-CN" altLang="en-US" dirty="0"/>
              <a:t>风险与投资</a:t>
            </a:r>
          </a:p>
        </p:txBody>
      </p:sp>
      <p:sp>
        <p:nvSpPr>
          <p:cNvPr id="4" name="灯片编号占位符 2">
            <a:extLst>
              <a:ext uri="{FF2B5EF4-FFF2-40B4-BE49-F238E27FC236}">
                <a16:creationId xmlns:a16="http://schemas.microsoft.com/office/drawing/2014/main" id="{038D445D-FFB5-A665-3797-40BF4B5C4C3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17</a:t>
            </a:fld>
            <a:endParaRPr lang="zh-CN" altLang="zh-CN" sz="856">
              <a:solidFill>
                <a:srgbClr val="777777"/>
              </a:solidFill>
              <a:ea typeface="宋体" panose="02010600030101010101" pitchFamily="2" charset="-122"/>
            </a:endParaRPr>
          </a:p>
        </p:txBody>
      </p:sp>
      <p:sp>
        <p:nvSpPr>
          <p:cNvPr id="5" name="页脚占位符 1">
            <a:extLst>
              <a:ext uri="{FF2B5EF4-FFF2-40B4-BE49-F238E27FC236}">
                <a16:creationId xmlns:a16="http://schemas.microsoft.com/office/drawing/2014/main" id="{F0522552-FE4C-FC85-9FC3-B7F164CF587B}"/>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776772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美</a:t>
            </a:r>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詹姆斯</a:t>
            </a:r>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托宾</a:t>
            </a:r>
            <a:r>
              <a:rPr lang="en-US" altLang="zh-CN" sz="1210" dirty="0">
                <a:latin typeface="Garamond" panose="02020404030301010803" pitchFamily="18" charset="0"/>
                <a:ea typeface="SimSun" panose="02010600030101010101" pitchFamily="2" charset="-122"/>
              </a:rPr>
              <a:t>(James Tobin)</a:t>
            </a:r>
          </a:p>
          <a:p>
            <a:r>
              <a:rPr lang="zh-CN" altLang="en-US" sz="1210" dirty="0">
                <a:latin typeface="Garamond" panose="02020404030301010803" pitchFamily="18" charset="0"/>
                <a:ea typeface="SimSun" panose="02010600030101010101" pitchFamily="2" charset="-122"/>
              </a:rPr>
              <a:t>股票价格会影响投资的理论</a:t>
            </a:r>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企业的市场价值与其重置成本之比，可以作为衡量要不要进行新投资的标准，这一比率称为</a:t>
            </a:r>
            <a:r>
              <a:rPr lang="en-US" altLang="zh-CN" sz="1210" dirty="0">
                <a:latin typeface="Garamond" panose="02020404030301010803" pitchFamily="18" charset="0"/>
                <a:ea typeface="SimSun" panose="02010600030101010101" pitchFamily="2" charset="-122"/>
              </a:rPr>
              <a:t>q</a:t>
            </a:r>
            <a:r>
              <a:rPr lang="zh-CN" altLang="en-US" sz="1210" dirty="0">
                <a:latin typeface="Garamond" panose="02020404030301010803" pitchFamily="18" charset="0"/>
                <a:ea typeface="SimSun" panose="02010600030101010101" pitchFamily="2" charset="-122"/>
              </a:rPr>
              <a:t>。</a:t>
            </a:r>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企业的市场价值是这个企业股票的市场价格总和，等于每股价格*总股数。</a:t>
            </a:r>
            <a:endParaRPr lang="en-US" altLang="zh-CN" sz="1210" dirty="0">
              <a:latin typeface="Garamond" panose="02020404030301010803" pitchFamily="18" charset="0"/>
              <a:ea typeface="SimSun" panose="02010600030101010101" pitchFamily="2" charset="-122"/>
            </a:endParaRPr>
          </a:p>
          <a:p>
            <a:r>
              <a:rPr lang="en-US" altLang="zh-CN" sz="1210" dirty="0">
                <a:latin typeface="Garamond" panose="02020404030301010803" pitchFamily="18" charset="0"/>
                <a:ea typeface="SimSun" panose="02010600030101010101" pitchFamily="2" charset="-122"/>
              </a:rPr>
              <a:t>q=</a:t>
            </a:r>
            <a:r>
              <a:rPr lang="zh-CN" altLang="en-US" sz="1210" dirty="0">
                <a:latin typeface="Garamond" panose="02020404030301010803" pitchFamily="18" charset="0"/>
                <a:ea typeface="SimSun" panose="02010600030101010101" pitchFamily="2" charset="-122"/>
              </a:rPr>
              <a:t>企业的股票价值</a:t>
            </a:r>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新建企业的成本</a:t>
            </a:r>
            <a:endParaRPr lang="en-US" altLang="zh-CN" sz="1210" dirty="0">
              <a:latin typeface="Garamond" panose="02020404030301010803" pitchFamily="18" charset="0"/>
              <a:ea typeface="SimSun" panose="02010600030101010101" pitchFamily="2" charset="-122"/>
            </a:endParaRPr>
          </a:p>
          <a:p>
            <a:r>
              <a:rPr lang="en-US" altLang="zh-CN" sz="1210" dirty="0">
                <a:latin typeface="Garamond" panose="02020404030301010803" pitchFamily="18" charset="0"/>
                <a:ea typeface="SimSun" panose="02010600030101010101" pitchFamily="2" charset="-122"/>
              </a:rPr>
              <a:t>q&lt;1 </a:t>
            </a:r>
            <a:r>
              <a:rPr lang="zh-CN" altLang="en-US" sz="1210" dirty="0">
                <a:latin typeface="Garamond" panose="02020404030301010803" pitchFamily="18" charset="0"/>
                <a:ea typeface="SimSun" panose="02010600030101010101" pitchFamily="2" charset="-122"/>
              </a:rPr>
              <a:t>说明买旧的企业比建新企业便宜，于是不会有新投资；反之</a:t>
            </a:r>
            <a:r>
              <a:rPr lang="en-US" altLang="zh-CN" sz="1210" dirty="0">
                <a:latin typeface="Garamond" panose="02020404030301010803" pitchFamily="18" charset="0"/>
                <a:ea typeface="SimSun" panose="02010600030101010101" pitchFamily="2" charset="-122"/>
              </a:rPr>
              <a:t>q&gt;1 </a:t>
            </a:r>
            <a:r>
              <a:rPr lang="zh-CN" altLang="en-US" sz="1210" dirty="0">
                <a:latin typeface="Garamond" panose="02020404030301010803" pitchFamily="18" charset="0"/>
                <a:ea typeface="SimSun" panose="02010600030101010101" pitchFamily="2" charset="-122"/>
              </a:rPr>
              <a:t>说明新建企业比买就企业要便宜，因此会有新投资。</a:t>
            </a:r>
          </a:p>
        </p:txBody>
      </p:sp>
      <p:sp>
        <p:nvSpPr>
          <p:cNvPr id="4" name="标题 3">
            <a:extLst>
              <a:ext uri="{FF2B5EF4-FFF2-40B4-BE49-F238E27FC236}">
                <a16:creationId xmlns:a16="http://schemas.microsoft.com/office/drawing/2014/main" id="{04E8B583-8675-4811-53C2-EE7AB0F044A1}"/>
              </a:ext>
            </a:extLst>
          </p:cNvPr>
          <p:cNvSpPr>
            <a:spLocks noGrp="1"/>
          </p:cNvSpPr>
          <p:nvPr>
            <p:ph type="title"/>
          </p:nvPr>
        </p:nvSpPr>
        <p:spPr/>
        <p:txBody>
          <a:bodyPr/>
          <a:lstStyle/>
          <a:p>
            <a:r>
              <a:rPr kumimoji="1" lang="zh-CN" altLang="en-US" dirty="0"/>
              <a:t>托宾</a:t>
            </a:r>
            <a:r>
              <a:rPr kumimoji="1" lang="en-US" altLang="zh-CN" dirty="0"/>
              <a:t>Q</a:t>
            </a:r>
            <a:endParaRPr kumimoji="1" lang="zh-CN" altLang="en-US" dirty="0"/>
          </a:p>
        </p:txBody>
      </p:sp>
      <p:sp>
        <p:nvSpPr>
          <p:cNvPr id="6" name="灯片编号占位符 2">
            <a:extLst>
              <a:ext uri="{FF2B5EF4-FFF2-40B4-BE49-F238E27FC236}">
                <a16:creationId xmlns:a16="http://schemas.microsoft.com/office/drawing/2014/main" id="{95BFCD37-D72C-E50E-2B9C-9A9CE8180A7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18</a:t>
            </a:fld>
            <a:endParaRPr lang="zh-CN" altLang="zh-CN" sz="856">
              <a:solidFill>
                <a:srgbClr val="777777"/>
              </a:solidFill>
              <a:ea typeface="宋体" panose="02010600030101010101" pitchFamily="2" charset="-122"/>
            </a:endParaRPr>
          </a:p>
        </p:txBody>
      </p:sp>
      <p:sp>
        <p:nvSpPr>
          <p:cNvPr id="7" name="页脚占位符 1">
            <a:extLst>
              <a:ext uri="{FF2B5EF4-FFF2-40B4-BE49-F238E27FC236}">
                <a16:creationId xmlns:a16="http://schemas.microsoft.com/office/drawing/2014/main" id="{DE94E02B-6DD7-1F72-D9ED-2E6E923B82E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198389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112245" y="1182550"/>
            <a:ext cx="4383299" cy="623376"/>
          </a:xfrm>
          <a:prstGeom prst="rect">
            <a:avLst/>
          </a:prstGeom>
        </p:spPr>
        <p:txBody>
          <a:bodyPr vert="horz" wrap="square" lIns="0" tIns="0" rIns="0" bIns="0" rtlCol="0">
            <a:spAutoFit/>
          </a:bodyPr>
          <a:lstStyle/>
          <a:p>
            <a:pPr marL="634" algn="ctr">
              <a:lnSpc>
                <a:spcPct val="130000"/>
              </a:lnSpc>
            </a:pPr>
            <a:r>
              <a:rPr lang="zh-CN" altLang="en-US" sz="2000" b="1" dirty="0">
                <a:solidFill>
                  <a:srgbClr val="333399"/>
                </a:solidFill>
                <a:latin typeface="Garamond" panose="02020404030301010803" pitchFamily="18" charset="0"/>
                <a:ea typeface="KaiTi" panose="02010609060101010101" pitchFamily="49" charset="-122"/>
                <a:cs typeface="+mj-cs"/>
              </a:rPr>
              <a:t>第</a:t>
            </a:r>
            <a:r>
              <a:rPr lang="en-US" altLang="zh-CN" sz="2000" b="1" dirty="0">
                <a:solidFill>
                  <a:srgbClr val="333399"/>
                </a:solidFill>
                <a:latin typeface="Garamond" panose="02020404030301010803" pitchFamily="18" charset="0"/>
                <a:ea typeface="KaiTi" panose="02010609060101010101" pitchFamily="49" charset="-122"/>
                <a:cs typeface="+mj-cs"/>
              </a:rPr>
              <a:t>2</a:t>
            </a:r>
            <a:r>
              <a:rPr lang="zh-CN" altLang="en-US" sz="2000" b="1" dirty="0">
                <a:solidFill>
                  <a:srgbClr val="333399"/>
                </a:solidFill>
                <a:latin typeface="Garamond" panose="02020404030301010803" pitchFamily="18" charset="0"/>
                <a:ea typeface="KaiTi" panose="02010609060101010101" pitchFamily="49" charset="-122"/>
                <a:cs typeface="+mj-cs"/>
              </a:rPr>
              <a:t>节 </a:t>
            </a:r>
            <a:r>
              <a:rPr lang="en-US" altLang="zh-CN" sz="2000" b="1" dirty="0">
                <a:solidFill>
                  <a:srgbClr val="333399"/>
                </a:solidFill>
                <a:latin typeface="Garamond" panose="02020404030301010803" pitchFamily="18" charset="0"/>
                <a:ea typeface="KaiTi" panose="02010609060101010101" pitchFamily="49" charset="-122"/>
                <a:cs typeface="+mj-cs"/>
              </a:rPr>
              <a:t>IS</a:t>
            </a:r>
            <a:r>
              <a:rPr lang="zh-CN" altLang="en-US" sz="2000" b="1" dirty="0">
                <a:solidFill>
                  <a:srgbClr val="333399"/>
                </a:solidFill>
                <a:latin typeface="Garamond" panose="02020404030301010803" pitchFamily="18" charset="0"/>
                <a:ea typeface="KaiTi" panose="02010609060101010101" pitchFamily="49" charset="-122"/>
                <a:cs typeface="+mj-cs"/>
              </a:rPr>
              <a:t>曲线</a:t>
            </a:r>
            <a:endParaRPr lang="en-US" altLang="zh-CN" sz="2000"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1200" b="1" dirty="0">
              <a:latin typeface="Garamond" panose="02020404030301010803" pitchFamily="18" charset="0"/>
              <a:cs typeface="Times New Roman"/>
            </a:endParaRPr>
          </a:p>
        </p:txBody>
      </p:sp>
    </p:spTree>
    <p:extLst>
      <p:ext uri="{BB962C8B-B14F-4D97-AF65-F5344CB8AC3E}">
        <p14:creationId xmlns:p14="http://schemas.microsoft.com/office/powerpoint/2010/main" val="3138592214"/>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5853" y="504208"/>
            <a:ext cx="3976211" cy="232413"/>
          </a:xfrm>
        </p:spPr>
        <p:txBody>
          <a:bodyPr/>
          <a:lstStyle/>
          <a:p>
            <a:r>
              <a:rPr lang="zh-CN" altLang="en-US" sz="1210" b="1" dirty="0">
                <a:latin typeface="SimSun" panose="02010600030101010101" pitchFamily="2" charset="-122"/>
                <a:ea typeface="SimSun" panose="02010600030101010101" pitchFamily="2" charset="-122"/>
              </a:rPr>
              <a:t>产品市场的均衡</a:t>
            </a:r>
            <a:r>
              <a:rPr lang="zh-CN" altLang="en-US" sz="1210" dirty="0">
                <a:latin typeface="SimSun" panose="02010600030101010101" pitchFamily="2" charset="-122"/>
                <a:ea typeface="SimSun" panose="02010600030101010101" pitchFamily="2" charset="-122"/>
              </a:rPr>
              <a:t>是指总需求与总供给相等。</a:t>
            </a:r>
          </a:p>
        </p:txBody>
      </p:sp>
      <p:pic>
        <p:nvPicPr>
          <p:cNvPr id="7" name="Picture 4" descr="xf144"/>
          <p:cNvPicPr>
            <a:picLocks noChangeAspect="1" noChangeArrowheads="1"/>
          </p:cNvPicPr>
          <p:nvPr/>
        </p:nvPicPr>
        <p:blipFill rotWithShape="1">
          <a:blip r:embed="rId2">
            <a:extLst>
              <a:ext uri="{28A0092B-C50C-407E-A947-70E740481C1C}">
                <a14:useLocalDpi xmlns:a14="http://schemas.microsoft.com/office/drawing/2010/main" val="0"/>
              </a:ext>
            </a:extLst>
          </a:blip>
          <a:srcRect l="3764" t="3316" r="3939" b="4717"/>
          <a:stretch/>
        </p:blipFill>
        <p:spPr bwMode="auto">
          <a:xfrm>
            <a:off x="2105178" y="1096188"/>
            <a:ext cx="2402105" cy="1324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3076620" y="2454146"/>
            <a:ext cx="527710" cy="232051"/>
          </a:xfrm>
          <a:prstGeom prst="rect">
            <a:avLst/>
          </a:prstGeom>
        </p:spPr>
        <p:txBody>
          <a:bodyPr wrap="none">
            <a:spAutoFit/>
          </a:bodyPr>
          <a:lstStyle/>
          <a:p>
            <a:pPr algn="ctr" eaLnBrk="1" hangingPunct="1">
              <a:spcBef>
                <a:spcPct val="50000"/>
              </a:spcBef>
            </a:pPr>
            <a:r>
              <a:rPr lang="en-US" altLang="zh-CN" sz="908" dirty="0"/>
              <a:t>IS</a:t>
            </a:r>
            <a:r>
              <a:rPr lang="zh-CN" altLang="en-US" sz="908" dirty="0"/>
              <a:t>曲线</a:t>
            </a:r>
          </a:p>
        </p:txBody>
      </p:sp>
      <mc:AlternateContent xmlns:mc="http://schemas.openxmlformats.org/markup-compatibility/2006" xmlns:a14="http://schemas.microsoft.com/office/drawing/2010/main">
        <mc:Choice Requires="a14">
          <p:sp>
            <p:nvSpPr>
              <p:cNvPr id="9" name="矩形 8"/>
              <p:cNvSpPr/>
              <p:nvPr/>
            </p:nvSpPr>
            <p:spPr>
              <a:xfrm>
                <a:off x="310028" y="794271"/>
                <a:ext cx="1983017" cy="199174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p>
                <a:pPr marL="115260" indent="-115260">
                  <a:lnSpc>
                    <a:spcPct val="90000"/>
                  </a:lnSpc>
                  <a:spcBef>
                    <a:spcPts val="504"/>
                  </a:spcBef>
                  <a:buFont typeface="Arial" panose="020B0604020202020204" pitchFamily="34" charset="0"/>
                  <a:buChar char="•"/>
                </a:pPr>
                <a:r>
                  <a:rPr lang="zh-CN" altLang="en-US" sz="1008" dirty="0">
                    <a:latin typeface="Garamond" panose="02020404030301010803" pitchFamily="18" charset="0"/>
                    <a:ea typeface="SimSun" panose="02010600030101010101" pitchFamily="2" charset="-122"/>
                  </a:rPr>
                  <a:t>考虑投资的变动</a:t>
                </a:r>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r>
                  <a:rPr lang="zh-CN" altLang="en-US" sz="1008" dirty="0">
                    <a:latin typeface="Garamond" panose="02020404030301010803" pitchFamily="18" charset="0"/>
                    <a:ea typeface="SimSun" panose="02010600030101010101" pitchFamily="2" charset="-122"/>
                  </a:rPr>
                  <a:t>根据投资储蓄恒等式：</a:t>
                </a:r>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14:m>
                  <m:oMath xmlns:m="http://schemas.openxmlformats.org/officeDocument/2006/math">
                    <m:d>
                      <m:dPr>
                        <m:begChr m:val="{"/>
                        <m:endChr m:val=""/>
                        <m:ctrlPr>
                          <a:rPr lang="en-US" altLang="zh-CN" sz="1008" i="1">
                            <a:latin typeface="Cambria Math" panose="02040503050406030204" pitchFamily="18" charset="0"/>
                          </a:rPr>
                        </m:ctrlPr>
                      </m:dPr>
                      <m:e>
                        <m:eqArr>
                          <m:eqArrPr>
                            <m:ctrlPr>
                              <a:rPr lang="en-US" altLang="zh-CN" sz="1008" i="1">
                                <a:latin typeface="Cambria Math" panose="02040503050406030204" pitchFamily="18" charset="0"/>
                              </a:rPr>
                            </m:ctrlPr>
                          </m:eqArrPr>
                          <m:e>
                            <m:r>
                              <a:rPr lang="en-US" altLang="zh-CN" sz="1008">
                                <a:latin typeface="Cambria Math" panose="02040503050406030204" pitchFamily="18" charset="0"/>
                              </a:rPr>
                              <m:t>𝑖</m:t>
                            </m:r>
                            <m:r>
                              <a:rPr lang="en-US" altLang="zh-CN" sz="1008">
                                <a:latin typeface="Cambria Math" panose="02040503050406030204" pitchFamily="18" charset="0"/>
                              </a:rPr>
                              <m:t>=</m:t>
                            </m:r>
                            <m:r>
                              <a:rPr lang="en-US" altLang="zh-CN" sz="1008">
                                <a:latin typeface="Cambria Math" panose="02040503050406030204" pitchFamily="18" charset="0"/>
                              </a:rPr>
                              <m:t>𝑒</m:t>
                            </m:r>
                            <m:r>
                              <a:rPr lang="en-US" altLang="zh-CN" sz="1008">
                                <a:latin typeface="Cambria Math" panose="02040503050406030204" pitchFamily="18" charset="0"/>
                              </a:rPr>
                              <m:t>−</m:t>
                            </m:r>
                            <m:r>
                              <a:rPr lang="en-US" altLang="zh-CN" sz="1008">
                                <a:latin typeface="Cambria Math" panose="02040503050406030204" pitchFamily="18" charset="0"/>
                              </a:rPr>
                              <m:t>𝑑𝑟</m:t>
                            </m:r>
                          </m:e>
                          <m:e>
                            <m:r>
                              <a:rPr lang="en-US" altLang="zh-CN" sz="1008" i="1">
                                <a:latin typeface="Cambria Math" panose="02040503050406030204" pitchFamily="18" charset="0"/>
                              </a:rPr>
                              <m:t>𝑠</m:t>
                            </m:r>
                            <m:r>
                              <a:rPr lang="en-US" altLang="zh-CN" sz="1008" i="1">
                                <a:latin typeface="Cambria Math" panose="02040503050406030204" pitchFamily="18" charset="0"/>
                              </a:rPr>
                              <m:t>=</m:t>
                            </m:r>
                            <m:r>
                              <a:rPr lang="en-US" altLang="zh-CN" sz="1008" i="1">
                                <a:latin typeface="Cambria Math" panose="02040503050406030204" pitchFamily="18" charset="0"/>
                              </a:rPr>
                              <m:t>𝑦</m:t>
                            </m:r>
                            <m:r>
                              <a:rPr lang="en-US" altLang="zh-CN" sz="1008" i="1">
                                <a:latin typeface="Cambria Math" panose="02040503050406030204" pitchFamily="18" charset="0"/>
                              </a:rPr>
                              <m:t>−</m:t>
                            </m:r>
                            <m:r>
                              <a:rPr lang="en-US" altLang="zh-CN" sz="1008" i="1">
                                <a:latin typeface="Cambria Math" panose="02040503050406030204" pitchFamily="18" charset="0"/>
                              </a:rPr>
                              <m:t>𝑐</m:t>
                            </m:r>
                            <m:r>
                              <a:rPr lang="en-US" altLang="zh-CN" sz="1008" i="1">
                                <a:latin typeface="Cambria Math" panose="02040503050406030204" pitchFamily="18" charset="0"/>
                              </a:rPr>
                              <m:t>=−</m:t>
                            </m:r>
                            <m:r>
                              <a:rPr lang="zh-CN" altLang="en-US" sz="1008" i="1">
                                <a:latin typeface="Cambria Math" panose="02040503050406030204" pitchFamily="18" charset="0"/>
                              </a:rPr>
                              <m:t>𝛼</m:t>
                            </m:r>
                            <m:r>
                              <a:rPr lang="en-US" altLang="zh-CN" sz="1008" i="1">
                                <a:latin typeface="Cambria Math" panose="02040503050406030204" pitchFamily="18" charset="0"/>
                              </a:rPr>
                              <m:t>+</m:t>
                            </m:r>
                            <m:d>
                              <m:dPr>
                                <m:ctrlPr>
                                  <a:rPr lang="en-US" altLang="zh-CN" sz="1008" i="1">
                                    <a:latin typeface="Cambria Math" panose="02040503050406030204" pitchFamily="18" charset="0"/>
                                  </a:rPr>
                                </m:ctrlPr>
                              </m:dPr>
                              <m:e>
                                <m:r>
                                  <a:rPr lang="en-US" altLang="zh-CN" sz="1008" i="1">
                                    <a:latin typeface="Cambria Math" panose="02040503050406030204" pitchFamily="18" charset="0"/>
                                  </a:rPr>
                                  <m:t>1−</m:t>
                                </m:r>
                                <m:r>
                                  <a:rPr lang="zh-CN" altLang="en-US" sz="1008" i="1">
                                    <a:latin typeface="Cambria Math" panose="02040503050406030204" pitchFamily="18" charset="0"/>
                                  </a:rPr>
                                  <m:t>𝛽</m:t>
                                </m:r>
                              </m:e>
                            </m:d>
                            <m:r>
                              <a:rPr lang="en-US" altLang="zh-CN" sz="1008" i="1">
                                <a:latin typeface="Cambria Math" panose="02040503050406030204" pitchFamily="18" charset="0"/>
                              </a:rPr>
                              <m:t>𝑦</m:t>
                            </m:r>
                          </m:e>
                        </m:eqArr>
                      </m:e>
                    </m:d>
                  </m:oMath>
                </a14:m>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r>
                  <a:rPr lang="zh-CN" altLang="en-US" sz="1008" dirty="0">
                    <a:latin typeface="Garamond" panose="02020404030301010803" pitchFamily="18" charset="0"/>
                    <a:ea typeface="SimSun" panose="02010600030101010101" pitchFamily="2" charset="-122"/>
                  </a:rPr>
                  <a:t>两部门经济的均衡收入：</a:t>
                </a:r>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14:m>
                  <m:oMath xmlns:m="http://schemas.openxmlformats.org/officeDocument/2006/math">
                    <m:r>
                      <a:rPr lang="en-US" altLang="zh-CN" sz="1008">
                        <a:latin typeface="Cambria Math" panose="02040503050406030204" pitchFamily="18" charset="0"/>
                      </a:rPr>
                      <m:t>𝑦</m:t>
                    </m:r>
                    <m:r>
                      <a:rPr lang="en-US" altLang="zh-CN" sz="1008">
                        <a:latin typeface="Cambria Math" panose="02040503050406030204" pitchFamily="18" charset="0"/>
                      </a:rPr>
                      <m:t>=</m:t>
                    </m:r>
                    <m:f>
                      <m:fPr>
                        <m:ctrlPr>
                          <a:rPr lang="en-US" altLang="zh-CN" sz="1008" i="1">
                            <a:latin typeface="Cambria Math" panose="02040503050406030204" pitchFamily="18" charset="0"/>
                          </a:rPr>
                        </m:ctrlPr>
                      </m:fPr>
                      <m:num>
                        <m:r>
                          <a:rPr lang="zh-CN" altLang="en-US" sz="1008">
                            <a:latin typeface="Cambria Math" panose="02040503050406030204" pitchFamily="18" charset="0"/>
                          </a:rPr>
                          <m:t>𝛼</m:t>
                        </m:r>
                        <m:r>
                          <a:rPr lang="en-US" altLang="zh-CN" sz="1008">
                            <a:latin typeface="Cambria Math" panose="02040503050406030204" pitchFamily="18" charset="0"/>
                          </a:rPr>
                          <m:t>+</m:t>
                        </m:r>
                        <m:r>
                          <a:rPr lang="en-US" altLang="zh-CN" sz="1008">
                            <a:latin typeface="Cambria Math" panose="02040503050406030204" pitchFamily="18" charset="0"/>
                          </a:rPr>
                          <m:t>𝑖</m:t>
                        </m:r>
                      </m:num>
                      <m:den>
                        <m:r>
                          <a:rPr lang="en-US" altLang="zh-CN" sz="1008">
                            <a:latin typeface="Cambria Math" panose="02040503050406030204" pitchFamily="18" charset="0"/>
                          </a:rPr>
                          <m:t>1−</m:t>
                        </m:r>
                        <m:r>
                          <a:rPr lang="zh-CN" altLang="en-US" sz="1008">
                            <a:latin typeface="Cambria Math" panose="02040503050406030204" pitchFamily="18" charset="0"/>
                          </a:rPr>
                          <m:t>𝛽</m:t>
                        </m:r>
                      </m:den>
                    </m:f>
                  </m:oMath>
                </a14:m>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14:m>
                  <m:oMath xmlns:m="http://schemas.openxmlformats.org/officeDocument/2006/math">
                    <m:r>
                      <a:rPr lang="en-US" altLang="zh-CN" sz="1008">
                        <a:latin typeface="Cambria Math" panose="02040503050406030204" pitchFamily="18" charset="0"/>
                      </a:rPr>
                      <m:t>𝑦</m:t>
                    </m:r>
                    <m:r>
                      <a:rPr lang="en-US" altLang="zh-CN" sz="1008">
                        <a:latin typeface="Cambria Math" panose="02040503050406030204" pitchFamily="18" charset="0"/>
                      </a:rPr>
                      <m:t>=</m:t>
                    </m:r>
                    <m:f>
                      <m:fPr>
                        <m:ctrlPr>
                          <a:rPr lang="en-US" altLang="zh-CN" sz="1008" i="1">
                            <a:latin typeface="Cambria Math" panose="02040503050406030204" pitchFamily="18" charset="0"/>
                          </a:rPr>
                        </m:ctrlPr>
                      </m:fPr>
                      <m:num>
                        <m:r>
                          <a:rPr lang="zh-CN" altLang="en-US" sz="1008">
                            <a:latin typeface="Cambria Math" panose="02040503050406030204" pitchFamily="18" charset="0"/>
                          </a:rPr>
                          <m:t>𝛼</m:t>
                        </m:r>
                        <m:r>
                          <a:rPr lang="en-US" altLang="zh-CN" sz="1008">
                            <a:latin typeface="Cambria Math" panose="02040503050406030204" pitchFamily="18" charset="0"/>
                          </a:rPr>
                          <m:t>+</m:t>
                        </m:r>
                        <m:r>
                          <a:rPr lang="en-US" altLang="zh-CN" sz="1008">
                            <a:latin typeface="Cambria Math" panose="02040503050406030204" pitchFamily="18" charset="0"/>
                          </a:rPr>
                          <m:t>𝑒</m:t>
                        </m:r>
                        <m:r>
                          <a:rPr lang="en-US" altLang="zh-CN" sz="1008">
                            <a:latin typeface="Cambria Math" panose="02040503050406030204" pitchFamily="18" charset="0"/>
                          </a:rPr>
                          <m:t>−</m:t>
                        </m:r>
                        <m:r>
                          <a:rPr lang="en-US" altLang="zh-CN" sz="1008">
                            <a:latin typeface="Cambria Math" panose="02040503050406030204" pitchFamily="18" charset="0"/>
                          </a:rPr>
                          <m:t>𝑑𝑟</m:t>
                        </m:r>
                      </m:num>
                      <m:den>
                        <m:r>
                          <a:rPr lang="en-US" altLang="zh-CN" sz="1008">
                            <a:latin typeface="Cambria Math" panose="02040503050406030204" pitchFamily="18" charset="0"/>
                          </a:rPr>
                          <m:t>1−</m:t>
                        </m:r>
                        <m:r>
                          <a:rPr lang="zh-CN" altLang="en-US" sz="1008">
                            <a:latin typeface="Cambria Math" panose="02040503050406030204" pitchFamily="18" charset="0"/>
                          </a:rPr>
                          <m:t>𝛽</m:t>
                        </m:r>
                      </m:den>
                    </m:f>
                  </m:oMath>
                </a14:m>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endParaRPr lang="zh-CN" altLang="en-US" sz="1008" dirty="0">
                  <a:latin typeface="Garamond" panose="02020404030301010803" pitchFamily="18" charset="0"/>
                  <a:ea typeface="SimSun" panose="02010600030101010101" pitchFamily="2"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310028" y="794271"/>
                <a:ext cx="1983017" cy="1991741"/>
              </a:xfrm>
              <a:prstGeom prst="rect">
                <a:avLst/>
              </a:prstGeom>
              <a:blipFill>
                <a:blip r:embed="rId3"/>
                <a:stretch>
                  <a:fillRect l="-23567" t="-1835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 name="矩形 9"/>
          <p:cNvSpPr/>
          <p:nvPr/>
        </p:nvSpPr>
        <p:spPr>
          <a:xfrm>
            <a:off x="316945" y="2685463"/>
            <a:ext cx="3976211" cy="511487"/>
          </a:xfrm>
          <a:prstGeom prst="rect">
            <a:avLst/>
          </a:prstGeom>
        </p:spPr>
        <p:txBody>
          <a:bodyPr wrap="square">
            <a:spAutoFit/>
          </a:bodyPr>
          <a:lstStyle/>
          <a:p>
            <a:r>
              <a:rPr lang="en-US" altLang="zh-CN" sz="908" b="1" dirty="0">
                <a:ln w="0"/>
                <a:solidFill>
                  <a:srgbClr val="C0000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IS</a:t>
            </a:r>
            <a:r>
              <a:rPr lang="zh-CN" altLang="en-US" sz="908" b="1" dirty="0">
                <a:ln w="0"/>
                <a:solidFill>
                  <a:srgbClr val="C0000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曲线是</a:t>
            </a:r>
            <a:r>
              <a:rPr lang="zh-CN" altLang="en-US" sz="908" dirty="0">
                <a:ln w="0"/>
                <a:solidFill>
                  <a:srgbClr val="C0000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一条反映利率和收入间相互关系的曲线。曲线上任何一点都代表一定的利率和收入的组合，在这些组合下，投资和储蓄都是相等的，即产品市场是均衡的。</a:t>
            </a:r>
          </a:p>
        </p:txBody>
      </p:sp>
      <mc:AlternateContent xmlns:mc="http://schemas.openxmlformats.org/markup-compatibility/2006" xmlns:a14="http://schemas.microsoft.com/office/drawing/2010/main">
        <mc:Choice Requires="a14">
          <p:sp>
            <p:nvSpPr>
              <p:cNvPr id="11" name="文本框 10"/>
              <p:cNvSpPr txBox="1"/>
              <p:nvPr/>
            </p:nvSpPr>
            <p:spPr>
              <a:xfrm>
                <a:off x="3219626" y="1258774"/>
                <a:ext cx="869982" cy="1397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𝑖</m:t>
                      </m:r>
                      <m:r>
                        <a:rPr lang="en-US" altLang="zh-CN" sz="908" i="1">
                          <a:latin typeface="Cambria Math" panose="02040503050406030204" pitchFamily="18" charset="0"/>
                        </a:rPr>
                        <m:t>=1250−250</m:t>
                      </m:r>
                      <m:r>
                        <a:rPr lang="en-US" altLang="zh-CN" sz="908" i="1">
                          <a:latin typeface="Cambria Math" panose="02040503050406030204" pitchFamily="18" charset="0"/>
                        </a:rPr>
                        <m:t>𝑟</m:t>
                      </m:r>
                    </m:oMath>
                  </m:oMathPara>
                </a14:m>
                <a:endParaRPr lang="zh-CN" altLang="en-US" sz="908" dirty="0"/>
              </a:p>
            </p:txBody>
          </p:sp>
        </mc:Choice>
        <mc:Fallback xmlns="">
          <p:sp>
            <p:nvSpPr>
              <p:cNvPr id="11" name="文本框 10"/>
              <p:cNvSpPr txBox="1">
                <a:spLocks noRot="1" noChangeAspect="1" noMove="1" noResize="1" noEditPoints="1" noAdjustHandles="1" noChangeArrowheads="1" noChangeShapeType="1" noTextEdit="1"/>
              </p:cNvSpPr>
              <p:nvPr/>
            </p:nvSpPr>
            <p:spPr>
              <a:xfrm>
                <a:off x="3219626" y="1258774"/>
                <a:ext cx="869982" cy="139718"/>
              </a:xfrm>
              <a:prstGeom prst="rect">
                <a:avLst/>
              </a:prstGeom>
              <a:blipFill>
                <a:blip r:embed="rId4"/>
                <a:stretch>
                  <a:fillRect l="-1429" r="-1429"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3214470" y="1410017"/>
                <a:ext cx="1096839" cy="1397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𝑠</m:t>
                      </m:r>
                      <m:r>
                        <a:rPr lang="en-US" altLang="zh-CN" sz="908" i="1">
                          <a:latin typeface="Cambria Math" panose="02040503050406030204" pitchFamily="18" charset="0"/>
                        </a:rPr>
                        <m:t>=</m:t>
                      </m:r>
                      <m:r>
                        <a:rPr lang="en-US" altLang="zh-CN" sz="908" i="1">
                          <a:latin typeface="Cambria Math" panose="02040503050406030204" pitchFamily="18" charset="0"/>
                        </a:rPr>
                        <m:t>𝑦</m:t>
                      </m:r>
                      <m:r>
                        <a:rPr lang="en-US" altLang="zh-CN" sz="908" i="1">
                          <a:latin typeface="Cambria Math" panose="02040503050406030204" pitchFamily="18" charset="0"/>
                        </a:rPr>
                        <m:t>=−500+0.5</m:t>
                      </m:r>
                      <m:r>
                        <a:rPr lang="en-US" altLang="zh-CN" sz="908" i="1">
                          <a:latin typeface="Cambria Math" panose="02040503050406030204" pitchFamily="18" charset="0"/>
                        </a:rPr>
                        <m:t>𝑦</m:t>
                      </m:r>
                    </m:oMath>
                  </m:oMathPara>
                </a14:m>
                <a:endParaRPr lang="zh-CN" altLang="en-US" sz="908" dirty="0"/>
              </a:p>
            </p:txBody>
          </p:sp>
        </mc:Choice>
        <mc:Fallback xmlns="">
          <p:sp>
            <p:nvSpPr>
              <p:cNvPr id="12" name="文本框 11"/>
              <p:cNvSpPr txBox="1">
                <a:spLocks noRot="1" noChangeAspect="1" noMove="1" noResize="1" noEditPoints="1" noAdjustHandles="1" noChangeArrowheads="1" noChangeShapeType="1" noTextEdit="1"/>
              </p:cNvSpPr>
              <p:nvPr/>
            </p:nvSpPr>
            <p:spPr>
              <a:xfrm>
                <a:off x="3214470" y="1410017"/>
                <a:ext cx="1096839" cy="139718"/>
              </a:xfrm>
              <a:prstGeom prst="rect">
                <a:avLst/>
              </a:prstGeom>
              <a:blipFill>
                <a:blip r:embed="rId5"/>
                <a:stretch>
                  <a:fillRect r="-2273" b="-4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3306230" y="1604942"/>
                <a:ext cx="935834" cy="1397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b="1" i="1">
                          <a:latin typeface="Cambria Math" panose="02040503050406030204" pitchFamily="18" charset="0"/>
                        </a:rPr>
                        <m:t>𝒚</m:t>
                      </m:r>
                      <m:r>
                        <a:rPr lang="en-US" altLang="zh-CN" sz="908" b="1" i="1">
                          <a:latin typeface="Cambria Math" panose="02040503050406030204" pitchFamily="18" charset="0"/>
                        </a:rPr>
                        <m:t>=</m:t>
                      </m:r>
                      <m:r>
                        <a:rPr lang="en-US" altLang="zh-CN" sz="908" b="1" i="1">
                          <a:latin typeface="Cambria Math" panose="02040503050406030204" pitchFamily="18" charset="0"/>
                        </a:rPr>
                        <m:t>𝟑𝟓𝟎𝟎</m:t>
                      </m:r>
                      <m:r>
                        <a:rPr lang="en-US" altLang="zh-CN" sz="908" b="1" i="1">
                          <a:latin typeface="Cambria Math" panose="02040503050406030204" pitchFamily="18" charset="0"/>
                        </a:rPr>
                        <m:t>−</m:t>
                      </m:r>
                      <m:r>
                        <a:rPr lang="en-US" altLang="zh-CN" sz="908" b="1" i="1">
                          <a:latin typeface="Cambria Math" panose="02040503050406030204" pitchFamily="18" charset="0"/>
                        </a:rPr>
                        <m:t>𝟓𝟎𝟎</m:t>
                      </m:r>
                      <m:r>
                        <a:rPr lang="en-US" altLang="zh-CN" sz="908" b="1" i="1">
                          <a:latin typeface="Cambria Math" panose="02040503050406030204" pitchFamily="18" charset="0"/>
                        </a:rPr>
                        <m:t>𝒓</m:t>
                      </m:r>
                    </m:oMath>
                  </m:oMathPara>
                </a14:m>
                <a:endParaRPr lang="zh-CN" altLang="en-US" sz="908" b="1" dirty="0"/>
              </a:p>
            </p:txBody>
          </p:sp>
        </mc:Choice>
        <mc:Fallback xmlns="">
          <p:sp>
            <p:nvSpPr>
              <p:cNvPr id="13" name="文本框 12"/>
              <p:cNvSpPr txBox="1">
                <a:spLocks noRot="1" noChangeAspect="1" noMove="1" noResize="1" noEditPoints="1" noAdjustHandles="1" noChangeArrowheads="1" noChangeShapeType="1" noTextEdit="1"/>
              </p:cNvSpPr>
              <p:nvPr/>
            </p:nvSpPr>
            <p:spPr>
              <a:xfrm>
                <a:off x="3306230" y="1604942"/>
                <a:ext cx="935834" cy="139718"/>
              </a:xfrm>
              <a:prstGeom prst="rect">
                <a:avLst/>
              </a:prstGeom>
              <a:blipFill>
                <a:blip r:embed="rId6"/>
                <a:stretch>
                  <a:fillRect l="-2667" r="-1333" b="-25000"/>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DEA6C554-8EFB-5BC9-89FD-F44902EBAFFE}"/>
              </a:ext>
            </a:extLst>
          </p:cNvPr>
          <p:cNvSpPr>
            <a:spLocks noGrp="1"/>
          </p:cNvSpPr>
          <p:nvPr>
            <p:ph type="title"/>
          </p:nvPr>
        </p:nvSpPr>
        <p:spPr/>
        <p:txBody>
          <a:bodyPr/>
          <a:lstStyle/>
          <a:p>
            <a:r>
              <a:rPr kumimoji="1" lang="en-US" altLang="zh-CN" dirty="0"/>
              <a:t>IS</a:t>
            </a:r>
            <a:r>
              <a:rPr kumimoji="1" lang="zh-CN" altLang="en-US" dirty="0"/>
              <a:t>曲线及其推导</a:t>
            </a:r>
          </a:p>
        </p:txBody>
      </p:sp>
      <p:sp>
        <p:nvSpPr>
          <p:cNvPr id="2" name="灯片编号占位符 2">
            <a:extLst>
              <a:ext uri="{FF2B5EF4-FFF2-40B4-BE49-F238E27FC236}">
                <a16:creationId xmlns:a16="http://schemas.microsoft.com/office/drawing/2014/main" id="{24DCCBE4-5DCF-9CB9-1BD7-6DAE18C40F04}"/>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20</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D1C58E88-8CED-391A-752E-9783175DD75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532570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0" grpId="0"/>
      <p:bldP spid="11" grpId="0"/>
      <p:bldP spid="12" grpId="0"/>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6819" y="185672"/>
            <a:ext cx="4076338" cy="395818"/>
          </a:xfrm>
        </p:spPr>
        <p:txBody>
          <a:bodyPr/>
          <a:lstStyle/>
          <a:p>
            <a:r>
              <a:rPr lang="en-US" altLang="zh-CN" sz="1008" dirty="0"/>
              <a:t>IS</a:t>
            </a:r>
            <a:r>
              <a:rPr lang="zh-CN" altLang="en-US" sz="1008" dirty="0"/>
              <a:t>曲线是由投资与利率的关系（投资函数）、储蓄与收入的关系（储蓄函数）以及储蓄与投资的关系（储蓄等于投资）中推导出来的：</a:t>
            </a:r>
          </a:p>
        </p:txBody>
      </p:sp>
      <p:pic>
        <p:nvPicPr>
          <p:cNvPr id="7" name="Picture 4" descr="xf1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300" y="525936"/>
            <a:ext cx="3231072" cy="258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818731" y="3065178"/>
            <a:ext cx="912429" cy="216534"/>
          </a:xfrm>
          <a:prstGeom prst="rect">
            <a:avLst/>
          </a:prstGeom>
        </p:spPr>
        <p:txBody>
          <a:bodyPr wrap="none">
            <a:spAutoFit/>
          </a:bodyPr>
          <a:lstStyle/>
          <a:p>
            <a:pPr eaLnBrk="1" hangingPunct="1">
              <a:buFont typeface="Wingdings" panose="05000000000000000000" pitchFamily="2" charset="2"/>
              <a:buNone/>
            </a:pPr>
            <a:r>
              <a:rPr lang="en-US" altLang="zh-CN" sz="807" b="1" dirty="0">
                <a:solidFill>
                  <a:schemeClr val="tx1">
                    <a:lumMod val="50000"/>
                    <a:lumOff val="50000"/>
                  </a:schemeClr>
                </a:solidFill>
                <a:latin typeface="KaiTi" panose="02010609060101010101" pitchFamily="49" charset="-122"/>
                <a:ea typeface="KaiTi" panose="02010609060101010101" pitchFamily="49" charset="-122"/>
              </a:rPr>
              <a:t>IS</a:t>
            </a:r>
            <a:r>
              <a:rPr lang="zh-CN" altLang="en-US" sz="807" b="1" dirty="0">
                <a:solidFill>
                  <a:schemeClr val="tx1">
                    <a:lumMod val="50000"/>
                    <a:lumOff val="50000"/>
                  </a:schemeClr>
                </a:solidFill>
                <a:latin typeface="KaiTi" panose="02010609060101010101" pitchFamily="49" charset="-122"/>
                <a:ea typeface="KaiTi" panose="02010609060101010101" pitchFamily="49" charset="-122"/>
              </a:rPr>
              <a:t>曲线推导图示</a:t>
            </a:r>
          </a:p>
        </p:txBody>
      </p:sp>
      <p:sp>
        <p:nvSpPr>
          <p:cNvPr id="3" name="灯片编号占位符 2">
            <a:extLst>
              <a:ext uri="{FF2B5EF4-FFF2-40B4-BE49-F238E27FC236}">
                <a16:creationId xmlns:a16="http://schemas.microsoft.com/office/drawing/2014/main" id="{EACA5ECE-2111-B01A-D1B9-4D85A2FB72A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21</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12B1B1AD-8BE5-9465-8076-1497DB24142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554702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22</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a:t>
            </a:r>
            <a:r>
              <a:rPr lang="zh-CN" altLang="en-US" sz="1613" dirty="0">
                <a:solidFill>
                  <a:srgbClr val="339966"/>
                </a:solidFill>
                <a:effectLst>
                  <a:outerShdw blurRad="38100" dist="38100" dir="2700000" algn="tl">
                    <a:srgbClr val="C0C0C0"/>
                  </a:outerShdw>
                </a:effectLst>
                <a:ea typeface="宋体" panose="02010600030101010101" pitchFamily="2" charset="-122"/>
              </a:rPr>
              <a:t>曲线</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1815901"/>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ea typeface="SimSun" panose="02010600030101010101" pitchFamily="2" charset="-122"/>
                <a:cs typeface="Times New Roman" panose="02020603050405020304" pitchFamily="18" charset="0"/>
              </a:rPr>
              <a:t>计算并画图：</a:t>
            </a:r>
          </a:p>
          <a:p>
            <a:pPr marL="0" indent="0">
              <a:buNone/>
            </a:pP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1</a:t>
            </a:r>
            <a:r>
              <a:rPr lang="zh-CN" altLang="en-US" sz="1210" dirty="0">
                <a:ea typeface="SimSun" panose="02010600030101010101" pitchFamily="2" charset="-122"/>
                <a:cs typeface="Times New Roman" panose="02020603050405020304" pitchFamily="18" charset="0"/>
              </a:rPr>
              <a:t>）若投资函数为</a:t>
            </a:r>
            <a:r>
              <a:rPr lang="en" altLang="zh-CN" sz="1210" dirty="0" err="1">
                <a:ea typeface="SimSun" panose="02010600030101010101" pitchFamily="2" charset="-122"/>
                <a:cs typeface="Times New Roman" panose="02020603050405020304" pitchFamily="18" charset="0"/>
              </a:rPr>
              <a:t>i</a:t>
            </a:r>
            <a:r>
              <a:rPr lang="en" altLang="zh-CN" sz="1210" dirty="0">
                <a:ea typeface="SimSun" panose="02010600030101010101" pitchFamily="2" charset="-122"/>
                <a:cs typeface="Times New Roman" panose="02020603050405020304" pitchFamily="18" charset="0"/>
              </a:rPr>
              <a:t>=100-5r</a:t>
            </a:r>
            <a:r>
              <a:rPr lang="zh-CN" altLang="en" sz="1210" dirty="0">
                <a:ea typeface="SimSun" panose="02010600030101010101" pitchFamily="2" charset="-122"/>
                <a:cs typeface="Times New Roman" panose="02020603050405020304" pitchFamily="18" charset="0"/>
              </a:rPr>
              <a:t>，</a:t>
            </a:r>
            <a:r>
              <a:rPr lang="zh-CN" altLang="en-US" sz="1210" dirty="0">
                <a:ea typeface="SimSun" panose="02010600030101010101" pitchFamily="2" charset="-122"/>
                <a:cs typeface="Times New Roman" panose="02020603050405020304" pitchFamily="18" charset="0"/>
              </a:rPr>
              <a:t>找出利率为</a:t>
            </a:r>
            <a:r>
              <a:rPr lang="en-US" altLang="zh-CN" sz="1210" dirty="0">
                <a:ea typeface="SimSun" panose="02010600030101010101" pitchFamily="2" charset="-122"/>
                <a:cs typeface="Times New Roman" panose="02020603050405020304" pitchFamily="18" charset="0"/>
              </a:rPr>
              <a:t>4%</a:t>
            </a: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5%</a:t>
            </a: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6%</a:t>
            </a: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7%</a:t>
            </a:r>
            <a:r>
              <a:rPr lang="zh-CN" altLang="en-US" sz="1210" dirty="0">
                <a:ea typeface="SimSun" panose="02010600030101010101" pitchFamily="2" charset="-122"/>
                <a:cs typeface="Times New Roman" panose="02020603050405020304" pitchFamily="18" charset="0"/>
              </a:rPr>
              <a:t>时的投资量。</a:t>
            </a:r>
          </a:p>
          <a:p>
            <a:pPr marL="0" indent="0">
              <a:buNone/>
            </a:pP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2</a:t>
            </a:r>
            <a:r>
              <a:rPr lang="zh-CN" altLang="en-US" sz="1210" dirty="0">
                <a:ea typeface="SimSun" panose="02010600030101010101" pitchFamily="2" charset="-122"/>
                <a:cs typeface="Times New Roman" panose="02020603050405020304" pitchFamily="18" charset="0"/>
              </a:rPr>
              <a:t>）若储蓄为</a:t>
            </a:r>
            <a:r>
              <a:rPr lang="en" altLang="zh-CN" sz="1210" dirty="0">
                <a:ea typeface="SimSun" panose="02010600030101010101" pitchFamily="2" charset="-122"/>
                <a:cs typeface="Times New Roman" panose="02020603050405020304" pitchFamily="18" charset="0"/>
              </a:rPr>
              <a:t>s=-40+0.25y</a:t>
            </a:r>
            <a:r>
              <a:rPr lang="zh-CN" altLang="en" sz="1210" dirty="0">
                <a:ea typeface="SimSun" panose="02010600030101010101" pitchFamily="2" charset="-122"/>
                <a:cs typeface="Times New Roman" panose="02020603050405020304" pitchFamily="18" charset="0"/>
              </a:rPr>
              <a:t>，</a:t>
            </a:r>
            <a:r>
              <a:rPr lang="zh-CN" altLang="en-US" sz="1210" dirty="0">
                <a:ea typeface="SimSun" panose="02010600030101010101" pitchFamily="2" charset="-122"/>
                <a:cs typeface="Times New Roman" panose="02020603050405020304" pitchFamily="18" charset="0"/>
              </a:rPr>
              <a:t>找出与上述投资相均衡的收入水平。</a:t>
            </a:r>
          </a:p>
          <a:p>
            <a:pPr marL="0" indent="0">
              <a:buNone/>
            </a:pP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3</a:t>
            </a:r>
            <a:r>
              <a:rPr lang="zh-CN" altLang="en-US" sz="1210" dirty="0">
                <a:ea typeface="SimSun" panose="02010600030101010101" pitchFamily="2" charset="-122"/>
                <a:cs typeface="Times New Roman" panose="02020603050405020304" pitchFamily="18" charset="0"/>
              </a:rPr>
              <a:t>）求</a:t>
            </a:r>
            <a:r>
              <a:rPr lang="en" altLang="zh-CN" sz="1210" dirty="0">
                <a:ea typeface="SimSun" panose="02010600030101010101" pitchFamily="2" charset="-122"/>
                <a:cs typeface="Times New Roman" panose="02020603050405020304" pitchFamily="18" charset="0"/>
              </a:rPr>
              <a:t>IS</a:t>
            </a:r>
            <a:r>
              <a:rPr lang="zh-CN" altLang="en-US" sz="1210" dirty="0">
                <a:ea typeface="SimSun" panose="02010600030101010101" pitchFamily="2" charset="-122"/>
                <a:cs typeface="Times New Roman" panose="02020603050405020304" pitchFamily="18" charset="0"/>
              </a:rPr>
              <a:t>曲线并作出图形</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78994948"/>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008" dirty="0"/>
                  <a:t>在两部门的经济中，均衡收入的代数表达式为：</a:t>
                </a:r>
                <a:endParaRPr lang="en-US" altLang="zh-CN" sz="1008" dirty="0"/>
              </a:p>
              <a:p>
                <a14:m>
                  <m:oMath xmlns:m="http://schemas.openxmlformats.org/officeDocument/2006/math">
                    <m:r>
                      <a:rPr lang="en-US" altLang="zh-CN" sz="1008">
                        <a:latin typeface="Cambria Math" panose="02040503050406030204" pitchFamily="18" charset="0"/>
                      </a:rPr>
                      <m:t>𝑦</m:t>
                    </m:r>
                    <m:r>
                      <a:rPr lang="en-US" altLang="zh-CN" sz="1008">
                        <a:latin typeface="Cambria Math" panose="02040503050406030204" pitchFamily="18" charset="0"/>
                      </a:rPr>
                      <m:t>=</m:t>
                    </m:r>
                    <m:f>
                      <m:fPr>
                        <m:ctrlPr>
                          <a:rPr lang="en-US" altLang="zh-CN" sz="1008" i="1">
                            <a:latin typeface="Cambria Math" panose="02040503050406030204" pitchFamily="18" charset="0"/>
                          </a:rPr>
                        </m:ctrlPr>
                      </m:fPr>
                      <m:num>
                        <m:r>
                          <a:rPr lang="zh-CN" altLang="en-US" sz="1008">
                            <a:latin typeface="Cambria Math" panose="02040503050406030204" pitchFamily="18" charset="0"/>
                          </a:rPr>
                          <m:t>𝛼</m:t>
                        </m:r>
                        <m:r>
                          <a:rPr lang="en-US" altLang="zh-CN" sz="1008">
                            <a:latin typeface="Cambria Math" panose="02040503050406030204" pitchFamily="18" charset="0"/>
                          </a:rPr>
                          <m:t>+</m:t>
                        </m:r>
                        <m:r>
                          <a:rPr lang="en-US" altLang="zh-CN" sz="1008">
                            <a:latin typeface="Cambria Math" panose="02040503050406030204" pitchFamily="18" charset="0"/>
                          </a:rPr>
                          <m:t>𝑒</m:t>
                        </m:r>
                        <m:r>
                          <a:rPr lang="en-US" altLang="zh-CN" sz="1008">
                            <a:latin typeface="Cambria Math" panose="02040503050406030204" pitchFamily="18" charset="0"/>
                          </a:rPr>
                          <m:t>−</m:t>
                        </m:r>
                        <m:r>
                          <a:rPr lang="en-US" altLang="zh-CN" sz="1008">
                            <a:latin typeface="Cambria Math" panose="02040503050406030204" pitchFamily="18" charset="0"/>
                          </a:rPr>
                          <m:t>𝑑𝑟</m:t>
                        </m:r>
                      </m:num>
                      <m:den>
                        <m:r>
                          <a:rPr lang="en-US" altLang="zh-CN" sz="1008">
                            <a:latin typeface="Cambria Math" panose="02040503050406030204" pitchFamily="18" charset="0"/>
                          </a:rPr>
                          <m:t>1−</m:t>
                        </m:r>
                        <m:r>
                          <a:rPr lang="zh-CN" altLang="en-US" sz="1008">
                            <a:latin typeface="Cambria Math" panose="02040503050406030204" pitchFamily="18" charset="0"/>
                          </a:rPr>
                          <m:t>𝛽</m:t>
                        </m:r>
                      </m:den>
                    </m:f>
                  </m:oMath>
                </a14:m>
                <a:endParaRPr lang="en-US" altLang="zh-CN" sz="1008" dirty="0"/>
              </a:p>
              <a:p>
                <a:r>
                  <a:rPr lang="zh-CN" altLang="en-US" sz="1008" dirty="0"/>
                  <a:t>可转化为：</a:t>
                </a:r>
                <a:r>
                  <a:rPr lang="en-US" altLang="zh-CN" sz="1008" dirty="0"/>
                  <a:t> </a:t>
                </a:r>
                <a14:m>
                  <m:oMath xmlns:m="http://schemas.openxmlformats.org/officeDocument/2006/math">
                    <m:r>
                      <m:rPr>
                        <m:sty m:val="p"/>
                      </m:rPr>
                      <a:rPr lang="en-US" altLang="zh-CN" sz="1008">
                        <a:latin typeface="Cambria Math" panose="02040503050406030204" pitchFamily="18" charset="0"/>
                      </a:rPr>
                      <m:t>r</m:t>
                    </m:r>
                    <m:r>
                      <a:rPr lang="en-US" altLang="zh-CN" sz="1008">
                        <a:latin typeface="Cambria Math" panose="02040503050406030204" pitchFamily="18" charset="0"/>
                      </a:rPr>
                      <m:t>=</m:t>
                    </m:r>
                    <m:f>
                      <m:fPr>
                        <m:ctrlPr>
                          <a:rPr lang="en-US" altLang="zh-CN" sz="1008" i="1">
                            <a:latin typeface="Cambria Math" panose="02040503050406030204" pitchFamily="18" charset="0"/>
                          </a:rPr>
                        </m:ctrlPr>
                      </m:fPr>
                      <m:num>
                        <m:r>
                          <a:rPr lang="zh-CN" altLang="en-US" sz="1008">
                            <a:latin typeface="Cambria Math" panose="02040503050406030204" pitchFamily="18" charset="0"/>
                          </a:rPr>
                          <m:t>𝛼</m:t>
                        </m:r>
                        <m:r>
                          <a:rPr lang="en-US" altLang="zh-CN" sz="1008">
                            <a:latin typeface="Cambria Math" panose="02040503050406030204" pitchFamily="18" charset="0"/>
                          </a:rPr>
                          <m:t>+</m:t>
                        </m:r>
                        <m:r>
                          <a:rPr lang="en-US" altLang="zh-CN" sz="1008">
                            <a:latin typeface="Cambria Math" panose="02040503050406030204" pitchFamily="18" charset="0"/>
                          </a:rPr>
                          <m:t>𝑒</m:t>
                        </m:r>
                      </m:num>
                      <m:den>
                        <m:r>
                          <m:rPr>
                            <m:sty m:val="p"/>
                          </m:rPr>
                          <a:rPr lang="en-US" altLang="zh-CN" sz="1008">
                            <a:latin typeface="Cambria Math" panose="02040503050406030204" pitchFamily="18" charset="0"/>
                          </a:rPr>
                          <m:t>d</m:t>
                        </m:r>
                      </m:den>
                    </m:f>
                    <m:r>
                      <a:rPr lang="en-US" altLang="zh-CN" sz="1008" i="1">
                        <a:latin typeface="Cambria Math" panose="02040503050406030204" pitchFamily="18" charset="0"/>
                      </a:rPr>
                      <m:t>−</m:t>
                    </m:r>
                    <m:f>
                      <m:fPr>
                        <m:ctrlPr>
                          <a:rPr lang="en-US" altLang="zh-CN" sz="1008" i="1">
                            <a:latin typeface="Cambria Math" panose="02040503050406030204" pitchFamily="18" charset="0"/>
                          </a:rPr>
                        </m:ctrlPr>
                      </m:fPr>
                      <m:num>
                        <m:r>
                          <a:rPr lang="en-US" altLang="zh-CN" sz="1008">
                            <a:latin typeface="Cambria Math" panose="02040503050406030204" pitchFamily="18" charset="0"/>
                          </a:rPr>
                          <m:t>1−</m:t>
                        </m:r>
                        <m:r>
                          <a:rPr lang="zh-CN" altLang="en-US" sz="1008">
                            <a:latin typeface="Cambria Math" panose="02040503050406030204" pitchFamily="18" charset="0"/>
                          </a:rPr>
                          <m:t>𝛽</m:t>
                        </m:r>
                      </m:num>
                      <m:den>
                        <m:r>
                          <m:rPr>
                            <m:sty m:val="p"/>
                          </m:rPr>
                          <a:rPr lang="en-US" altLang="zh-CN" sz="1008">
                            <a:latin typeface="Cambria Math" panose="02040503050406030204" pitchFamily="18" charset="0"/>
                          </a:rPr>
                          <m:t>d</m:t>
                        </m:r>
                      </m:den>
                    </m:f>
                    <m:r>
                      <a:rPr lang="en-US" altLang="zh-CN" sz="1008" i="1">
                        <a:latin typeface="Cambria Math" panose="02040503050406030204" pitchFamily="18" charset="0"/>
                      </a:rPr>
                      <m:t>𝑦</m:t>
                    </m:r>
                  </m:oMath>
                </a14:m>
                <a:endParaRPr lang="en-US" altLang="zh-CN" sz="1008" dirty="0"/>
              </a:p>
              <a:p>
                <a:r>
                  <a:rPr lang="en-US" altLang="zh-CN" sz="1008" dirty="0"/>
                  <a:t>d</a:t>
                </a:r>
                <a:r>
                  <a:rPr lang="zh-CN" altLang="en-US" sz="1008" dirty="0"/>
                  <a:t>是投资需求对利率变动的反应程度，它表示利率变动一定幅度时投资变动的程度。在</a:t>
                </a:r>
                <a:r>
                  <a:rPr lang="en-US" altLang="zh-CN" sz="1008" dirty="0"/>
                  <a:t>IS</a:t>
                </a:r>
                <a:r>
                  <a:rPr lang="zh-CN" altLang="en-US" sz="1008" dirty="0"/>
                  <a:t>曲线上，利率较小变动就要求有收入较大变动与之相配合，才能使产品市场均衡。</a:t>
                </a:r>
                <a:endParaRPr lang="en-US" altLang="zh-CN" sz="1008" dirty="0"/>
              </a:p>
              <a:p>
                <a14:m>
                  <m:oMath xmlns:m="http://schemas.openxmlformats.org/officeDocument/2006/math">
                    <m:r>
                      <a:rPr lang="zh-CN" altLang="en-US" sz="1008">
                        <a:latin typeface="Cambria Math" panose="02040503050406030204" pitchFamily="18" charset="0"/>
                      </a:rPr>
                      <m:t>𝛽</m:t>
                    </m:r>
                  </m:oMath>
                </a14:m>
                <a:r>
                  <a:rPr lang="zh-CN" altLang="en-US" sz="1008" dirty="0"/>
                  <a:t>是边际消费倾向，若</a:t>
                </a:r>
                <a14:m>
                  <m:oMath xmlns:m="http://schemas.openxmlformats.org/officeDocument/2006/math">
                    <m:r>
                      <a:rPr lang="zh-CN" altLang="en-US" sz="1008">
                        <a:latin typeface="Cambria Math" panose="02040503050406030204" pitchFamily="18" charset="0"/>
                      </a:rPr>
                      <m:t>𝛽</m:t>
                    </m:r>
                  </m:oMath>
                </a14:m>
                <a:r>
                  <a:rPr lang="zh-CN" altLang="en-US" sz="1008" dirty="0"/>
                  <a:t>较大，则</a:t>
                </a:r>
                <a:r>
                  <a:rPr lang="en-US" altLang="zh-CN" sz="1008" dirty="0"/>
                  <a:t>IS</a:t>
                </a:r>
                <a:r>
                  <a:rPr lang="zh-CN" altLang="en-US" sz="1008" dirty="0"/>
                  <a:t>曲线的斜率绝对值会较小。因为</a:t>
                </a:r>
                <a14:m>
                  <m:oMath xmlns:m="http://schemas.openxmlformats.org/officeDocument/2006/math">
                    <m:r>
                      <a:rPr lang="zh-CN" altLang="en-US" sz="1008">
                        <a:latin typeface="Cambria Math" panose="02040503050406030204" pitchFamily="18" charset="0"/>
                      </a:rPr>
                      <m:t>𝛽</m:t>
                    </m:r>
                  </m:oMath>
                </a14:m>
                <a:r>
                  <a:rPr lang="zh-CN" altLang="en-US" sz="1008" dirty="0"/>
                  <a:t>较大，则支出乘数较大，当利率变动引起投资变动时，收入会以较大幅度变动，因而</a:t>
                </a:r>
                <a:r>
                  <a:rPr lang="en-US" altLang="zh-CN" sz="1008" dirty="0"/>
                  <a:t>IS</a:t>
                </a:r>
                <a:r>
                  <a:rPr lang="zh-CN" altLang="en-US" sz="1008" dirty="0"/>
                  <a:t>曲线较为平缓。</a:t>
                </a:r>
                <a:endParaRPr lang="en-US" altLang="zh-CN" sz="1008"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18D4C31A-12A9-59C2-4084-5AB1277771D6}"/>
              </a:ext>
            </a:extLst>
          </p:cNvPr>
          <p:cNvSpPr>
            <a:spLocks noGrp="1"/>
          </p:cNvSpPr>
          <p:nvPr>
            <p:ph type="title"/>
          </p:nvPr>
        </p:nvSpPr>
        <p:spPr/>
        <p:txBody>
          <a:bodyPr/>
          <a:lstStyle/>
          <a:p>
            <a:r>
              <a:rPr kumimoji="1" lang="en-US" altLang="zh-CN" dirty="0"/>
              <a:t>IS</a:t>
            </a:r>
            <a:r>
              <a:rPr kumimoji="1" lang="zh-CN" altLang="en-US" dirty="0"/>
              <a:t>曲线的斜率</a:t>
            </a:r>
          </a:p>
        </p:txBody>
      </p:sp>
      <p:sp>
        <p:nvSpPr>
          <p:cNvPr id="2" name="灯片编号占位符 2">
            <a:extLst>
              <a:ext uri="{FF2B5EF4-FFF2-40B4-BE49-F238E27FC236}">
                <a16:creationId xmlns:a16="http://schemas.microsoft.com/office/drawing/2014/main" id="{3D73541F-761B-E9CA-3C04-1BCF8247290B}"/>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23</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141588A1-767A-4021-1DBE-7A45066E9FD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821847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008" dirty="0">
                    <a:latin typeface="Garamond" panose="02020404030301010803" pitchFamily="18" charset="0"/>
                    <a:ea typeface="SimSun" panose="02010600030101010101" pitchFamily="2" charset="-122"/>
                  </a:rPr>
                  <a:t>三部门的经济中，存在税收和政府支出，消费是可支配收入的函数</a:t>
                </a:r>
                <a:endParaRPr lang="en-US" altLang="zh-CN" sz="1008" dirty="0">
                  <a:latin typeface="Garamond" panose="02020404030301010803" pitchFamily="18" charset="0"/>
                  <a:ea typeface="SimSun" panose="02010600030101010101" pitchFamily="2" charset="-122"/>
                </a:endParaRPr>
              </a:p>
              <a:p>
                <a:r>
                  <a:rPr lang="en-US" altLang="zh-CN" sz="1008" dirty="0">
                    <a:latin typeface="Garamond" panose="02020404030301010803" pitchFamily="18" charset="0"/>
                    <a:ea typeface="SimSun" panose="02010600030101010101" pitchFamily="2" charset="-122"/>
                  </a:rPr>
                  <a:t>1</a:t>
                </a:r>
                <a:r>
                  <a:rPr lang="zh-CN" altLang="en-US" sz="1008" dirty="0">
                    <a:latin typeface="Garamond" panose="02020404030301010803" pitchFamily="18" charset="0"/>
                    <a:ea typeface="SimSun" panose="02010600030101010101" pitchFamily="2" charset="-122"/>
                  </a:rPr>
                  <a:t>）定量税：</a:t>
                </a:r>
                <a:endParaRPr lang="en-US" altLang="zh-CN" sz="1008" dirty="0">
                  <a:latin typeface="Garamond" panose="02020404030301010803" pitchFamily="18" charset="0"/>
                  <a:ea typeface="SimSun" panose="02010600030101010101" pitchFamily="2" charset="-122"/>
                </a:endParaRPr>
              </a:p>
              <a:p>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斜率的绝对值仍然是</a:t>
                </a:r>
                <a14:m>
                  <m:oMath xmlns:m="http://schemas.openxmlformats.org/officeDocument/2006/math">
                    <m:f>
                      <m:fPr>
                        <m:ctrlPr>
                          <a:rPr lang="en-US" altLang="zh-CN" sz="1008" i="1">
                            <a:latin typeface="Cambria Math" panose="02040503050406030204" pitchFamily="18" charset="0"/>
                          </a:rPr>
                        </m:ctrlPr>
                      </m:fPr>
                      <m:num>
                        <m:r>
                          <a:rPr lang="en-US" altLang="zh-CN" sz="1008">
                            <a:latin typeface="Cambria Math" panose="02040503050406030204" pitchFamily="18" charset="0"/>
                          </a:rPr>
                          <m:t>1−</m:t>
                        </m:r>
                        <m:r>
                          <a:rPr lang="zh-CN" altLang="en-US" sz="1008">
                            <a:latin typeface="Cambria Math" panose="02040503050406030204" pitchFamily="18" charset="0"/>
                          </a:rPr>
                          <m:t>𝛽</m:t>
                        </m:r>
                      </m:num>
                      <m:den>
                        <m:r>
                          <m:rPr>
                            <m:sty m:val="p"/>
                          </m:rPr>
                          <a:rPr lang="en-US" altLang="zh-CN" sz="1008">
                            <a:latin typeface="Cambria Math" panose="02040503050406030204" pitchFamily="18" charset="0"/>
                          </a:rPr>
                          <m:t>d</m:t>
                        </m:r>
                      </m:den>
                    </m:f>
                  </m:oMath>
                </a14:m>
                <a:endParaRPr lang="en-US" altLang="zh-CN" sz="1008" dirty="0">
                  <a:latin typeface="Garamond" panose="02020404030301010803" pitchFamily="18" charset="0"/>
                  <a:ea typeface="SimSun" panose="02010600030101010101" pitchFamily="2" charset="-122"/>
                </a:endParaRPr>
              </a:p>
              <a:p>
                <a14:m>
                  <m:oMath xmlns:m="http://schemas.openxmlformats.org/officeDocument/2006/math">
                    <m:r>
                      <a:rPr lang="en-US" altLang="zh-CN" sz="1008" i="1">
                        <a:latin typeface="Cambria Math" panose="02040503050406030204" pitchFamily="18" charset="0"/>
                      </a:rPr>
                      <m:t>2</m:t>
                    </m:r>
                    <m:r>
                      <a:rPr lang="zh-CN" altLang="en-US" sz="1008" i="1">
                        <a:latin typeface="Cambria Math" panose="02040503050406030204" pitchFamily="18" charset="0"/>
                      </a:rPr>
                      <m:t>）</m:t>
                    </m:r>
                  </m:oMath>
                </a14:m>
                <a:r>
                  <a:rPr lang="zh-CN" altLang="en-US" sz="1008" dirty="0">
                    <a:latin typeface="Garamond" panose="02020404030301010803" pitchFamily="18" charset="0"/>
                    <a:ea typeface="SimSun" panose="02010600030101010101" pitchFamily="2" charset="-122"/>
                  </a:rPr>
                  <a:t>比例税：</a:t>
                </a:r>
                <a:endParaRPr lang="en-US" altLang="zh-CN" sz="1008" dirty="0">
                  <a:latin typeface="Garamond" panose="02020404030301010803" pitchFamily="18" charset="0"/>
                  <a:ea typeface="SimSun" panose="02010600030101010101" pitchFamily="2" charset="-122"/>
                </a:endParaRPr>
              </a:p>
              <a:p>
                <a14:m>
                  <m:oMath xmlns:m="http://schemas.openxmlformats.org/officeDocument/2006/math">
                    <m:r>
                      <m:rPr>
                        <m:sty m:val="p"/>
                      </m:rPr>
                      <a:rPr lang="en-US" altLang="zh-CN" sz="1008">
                        <a:latin typeface="Cambria Math" panose="02040503050406030204" pitchFamily="18" charset="0"/>
                      </a:rPr>
                      <m:t>c</m:t>
                    </m:r>
                    <m:r>
                      <a:rPr lang="en-US" altLang="zh-CN" sz="1008">
                        <a:latin typeface="Cambria Math" panose="02040503050406030204" pitchFamily="18" charset="0"/>
                      </a:rPr>
                      <m:t>=</m:t>
                    </m:r>
                    <m:r>
                      <m:rPr>
                        <m:sty m:val="p"/>
                      </m:rPr>
                      <a:rPr lang="el-GR" altLang="zh-CN" sz="1008" i="1">
                        <a:latin typeface="Cambria Math" panose="02040503050406030204" pitchFamily="18" charset="0"/>
                        <a:ea typeface="Cambria Math" panose="02040503050406030204" pitchFamily="18" charset="0"/>
                      </a:rPr>
                      <m:t>α</m:t>
                    </m:r>
                    <m:r>
                      <a:rPr lang="en-US" altLang="zh-CN" sz="1008" i="1">
                        <a:latin typeface="Cambria Math" panose="02040503050406030204" pitchFamily="18" charset="0"/>
                        <a:ea typeface="Cambria Math" panose="02040503050406030204" pitchFamily="18" charset="0"/>
                      </a:rPr>
                      <m:t>+</m:t>
                    </m:r>
                    <m:r>
                      <a:rPr lang="zh-CN" altLang="en-US" sz="1008">
                        <a:latin typeface="Cambria Math" panose="02040503050406030204" pitchFamily="18" charset="0"/>
                      </a:rPr>
                      <m:t>𝛽</m:t>
                    </m:r>
                    <m:d>
                      <m:dPr>
                        <m:ctrlPr>
                          <a:rPr lang="en-US" altLang="zh-CN" sz="1008" i="1">
                            <a:latin typeface="Cambria Math" panose="02040503050406030204" pitchFamily="18" charset="0"/>
                          </a:rPr>
                        </m:ctrlPr>
                      </m:dPr>
                      <m:e>
                        <m:r>
                          <a:rPr lang="en-US" altLang="zh-CN" sz="1008">
                            <a:latin typeface="Cambria Math" panose="02040503050406030204" pitchFamily="18" charset="0"/>
                          </a:rPr>
                          <m:t>1−</m:t>
                        </m:r>
                        <m:r>
                          <m:rPr>
                            <m:sty m:val="p"/>
                          </m:rPr>
                          <a:rPr lang="en-US" altLang="zh-CN" sz="1008">
                            <a:latin typeface="Cambria Math" panose="02040503050406030204" pitchFamily="18" charset="0"/>
                          </a:rPr>
                          <m:t>t</m:t>
                        </m:r>
                      </m:e>
                    </m:d>
                    <m:r>
                      <m:rPr>
                        <m:sty m:val="p"/>
                      </m:rPr>
                      <a:rPr lang="en-US" altLang="zh-CN" sz="1008">
                        <a:latin typeface="Cambria Math" panose="02040503050406030204" pitchFamily="18" charset="0"/>
                      </a:rPr>
                      <m:t>y</m:t>
                    </m:r>
                  </m:oMath>
                </a14:m>
                <a:endParaRPr lang="en-US" altLang="zh-CN" sz="1008" dirty="0">
                  <a:latin typeface="Garamond" panose="02020404030301010803" pitchFamily="18" charset="0"/>
                  <a:ea typeface="SimSun" panose="02010600030101010101" pitchFamily="2" charset="-122"/>
                </a:endParaRPr>
              </a:p>
              <a:p>
                <a:r>
                  <a:rPr lang="en-US" altLang="zh-CN" sz="1008" dirty="0">
                    <a:latin typeface="Garamond" panose="02020404030301010803" pitchFamily="18" charset="0"/>
                    <a:ea typeface="SimSun" panose="02010600030101010101" pitchFamily="2" charset="-122"/>
                  </a:rPr>
                  <a:t>t</a:t>
                </a:r>
                <a:r>
                  <a:rPr lang="zh-CN" altLang="en-US" sz="1008" dirty="0">
                    <a:latin typeface="Garamond" panose="02020404030301010803" pitchFamily="18" charset="0"/>
                    <a:ea typeface="SimSun" panose="02010600030101010101" pitchFamily="2" charset="-122"/>
                  </a:rPr>
                  <a:t>是边际税率，因此</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的斜率绝对值变为：</a:t>
                </a:r>
                <a:r>
                  <a:rPr lang="en-US" altLang="zh-CN" sz="1008" dirty="0">
                    <a:latin typeface="Garamond" panose="02020404030301010803" pitchFamily="18" charset="0"/>
                    <a:ea typeface="SimSun" panose="02010600030101010101" pitchFamily="2" charset="-122"/>
                  </a:rPr>
                  <a:t> </a:t>
                </a:r>
                <a14:m>
                  <m:oMath xmlns:m="http://schemas.openxmlformats.org/officeDocument/2006/math">
                    <m:f>
                      <m:fPr>
                        <m:ctrlPr>
                          <a:rPr lang="en-US" altLang="zh-CN" sz="1008" i="1">
                            <a:latin typeface="Cambria Math" panose="02040503050406030204" pitchFamily="18" charset="0"/>
                          </a:rPr>
                        </m:ctrlPr>
                      </m:fPr>
                      <m:num>
                        <m:r>
                          <a:rPr lang="en-US" altLang="zh-CN" sz="1008">
                            <a:latin typeface="Cambria Math" panose="02040503050406030204" pitchFamily="18" charset="0"/>
                          </a:rPr>
                          <m:t>1−</m:t>
                        </m:r>
                        <m:r>
                          <a:rPr lang="zh-CN" altLang="en-US" sz="1008">
                            <a:latin typeface="Cambria Math" panose="02040503050406030204" pitchFamily="18" charset="0"/>
                          </a:rPr>
                          <m:t>𝛽</m:t>
                        </m:r>
                        <m:r>
                          <a:rPr lang="en-US" altLang="zh-CN" sz="1008">
                            <a:latin typeface="Cambria Math" panose="02040503050406030204" pitchFamily="18" charset="0"/>
                          </a:rPr>
                          <m:t>(1−</m:t>
                        </m:r>
                        <m:r>
                          <m:rPr>
                            <m:sty m:val="p"/>
                          </m:rPr>
                          <a:rPr lang="en-US" altLang="zh-CN" sz="1008">
                            <a:latin typeface="Cambria Math" panose="02040503050406030204" pitchFamily="18" charset="0"/>
                          </a:rPr>
                          <m:t>t</m:t>
                        </m:r>
                        <m:r>
                          <a:rPr lang="en-US" altLang="zh-CN" sz="1008">
                            <a:latin typeface="Cambria Math" panose="02040503050406030204" pitchFamily="18" charset="0"/>
                          </a:rPr>
                          <m:t>)</m:t>
                        </m:r>
                      </m:num>
                      <m:den>
                        <m:r>
                          <m:rPr>
                            <m:sty m:val="p"/>
                          </m:rPr>
                          <a:rPr lang="en-US" altLang="zh-CN" sz="1008">
                            <a:latin typeface="Cambria Math" panose="02040503050406030204" pitchFamily="18" charset="0"/>
                          </a:rPr>
                          <m:t>d</m:t>
                        </m:r>
                      </m:den>
                    </m:f>
                  </m:oMath>
                </a14:m>
                <a:endParaRPr lang="en-US" altLang="zh-CN" sz="1008" dirty="0">
                  <a:latin typeface="Garamond" panose="02020404030301010803" pitchFamily="18" charset="0"/>
                  <a:ea typeface="SimSun" panose="02010600030101010101" pitchFamily="2" charset="-122"/>
                </a:endParaRPr>
              </a:p>
              <a:p>
                <a:r>
                  <a:rPr lang="zh-CN" altLang="en-US" sz="1008" dirty="0">
                    <a:latin typeface="Garamond" panose="02020404030301010803" pitchFamily="18" charset="0"/>
                    <a:ea typeface="SimSun" panose="02010600030101010101" pitchFamily="2" charset="-122"/>
                  </a:rPr>
                  <a:t>此时，</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曲线的斜率除了与</a:t>
                </a:r>
                <a14:m>
                  <m:oMath xmlns:m="http://schemas.openxmlformats.org/officeDocument/2006/math">
                    <m:r>
                      <m:rPr>
                        <m:sty m:val="p"/>
                      </m:rPr>
                      <a:rPr lang="en-US" altLang="zh-CN" sz="1008">
                        <a:latin typeface="Cambria Math" panose="02040503050406030204" pitchFamily="18" charset="0"/>
                      </a:rPr>
                      <m:t>d</m:t>
                    </m:r>
                  </m:oMath>
                </a14:m>
                <a:r>
                  <a:rPr lang="zh-CN" altLang="en-US" sz="1008" dirty="0">
                    <a:latin typeface="Garamond" panose="02020404030301010803" pitchFamily="18" charset="0"/>
                    <a:ea typeface="SimSun" panose="02010600030101010101" pitchFamily="2" charset="-122"/>
                  </a:rPr>
                  <a:t>和</a:t>
                </a:r>
                <a14:m>
                  <m:oMath xmlns:m="http://schemas.openxmlformats.org/officeDocument/2006/math">
                    <m:r>
                      <a:rPr lang="zh-CN" altLang="en-US" sz="1008">
                        <a:latin typeface="Cambria Math" panose="02040503050406030204" pitchFamily="18" charset="0"/>
                      </a:rPr>
                      <m:t>𝛽</m:t>
                    </m:r>
                  </m:oMath>
                </a14:m>
                <a:r>
                  <a:rPr lang="zh-CN" altLang="en-US" sz="1008" dirty="0">
                    <a:latin typeface="Garamond" panose="02020404030301010803" pitchFamily="18" charset="0"/>
                    <a:ea typeface="SimSun" panose="02010600030101010101" pitchFamily="2" charset="-122"/>
                  </a:rPr>
                  <a:t>相关之外，还与边际税率</a:t>
                </a:r>
                <a14:m>
                  <m:oMath xmlns:m="http://schemas.openxmlformats.org/officeDocument/2006/math">
                    <m:r>
                      <m:rPr>
                        <m:sty m:val="p"/>
                      </m:rPr>
                      <a:rPr lang="en-US" altLang="zh-CN" sz="1008">
                        <a:latin typeface="Cambria Math" panose="02040503050406030204" pitchFamily="18" charset="0"/>
                      </a:rPr>
                      <m:t>t</m:t>
                    </m:r>
                  </m:oMath>
                </a14:m>
                <a:r>
                  <a:rPr lang="zh-CN" altLang="en-US" sz="1008" dirty="0">
                    <a:latin typeface="Garamond" panose="02020404030301010803" pitchFamily="18" charset="0"/>
                    <a:ea typeface="SimSun" panose="02010600030101010101" pitchFamily="2" charset="-122"/>
                  </a:rPr>
                  <a:t>相关。</a:t>
                </a:r>
                <a:endParaRPr lang="en-US" altLang="zh-CN" sz="1008" dirty="0">
                  <a:latin typeface="Garamond" panose="02020404030301010803" pitchFamily="18" charset="0"/>
                  <a:ea typeface="SimSun" panose="02010600030101010101" pitchFamily="2" charset="-122"/>
                </a:endParaRPr>
              </a:p>
              <a:p>
                <a:r>
                  <a:rPr lang="zh-CN" altLang="en-US" sz="1008" dirty="0">
                    <a:latin typeface="Garamond" panose="02020404030301010803" pitchFamily="18" charset="0"/>
                    <a:ea typeface="SimSun" panose="02010600030101010101" pitchFamily="2" charset="-122"/>
                  </a:rPr>
                  <a:t>当</a:t>
                </a:r>
                <a14:m>
                  <m:oMath xmlns:m="http://schemas.openxmlformats.org/officeDocument/2006/math">
                    <m:r>
                      <m:rPr>
                        <m:sty m:val="p"/>
                      </m:rPr>
                      <a:rPr lang="en-US" altLang="zh-CN" sz="1008">
                        <a:latin typeface="Cambria Math" panose="02040503050406030204" pitchFamily="18" charset="0"/>
                      </a:rPr>
                      <m:t>d</m:t>
                    </m:r>
                  </m:oMath>
                </a14:m>
                <a:r>
                  <a:rPr lang="zh-CN" altLang="en-US" sz="1008" dirty="0">
                    <a:latin typeface="Garamond" panose="02020404030301010803" pitchFamily="18" charset="0"/>
                    <a:ea typeface="SimSun" panose="02010600030101010101" pitchFamily="2" charset="-122"/>
                  </a:rPr>
                  <a:t>和</a:t>
                </a:r>
                <a14:m>
                  <m:oMath xmlns:m="http://schemas.openxmlformats.org/officeDocument/2006/math">
                    <m:r>
                      <a:rPr lang="zh-CN" altLang="en-US" sz="1008">
                        <a:latin typeface="Cambria Math" panose="02040503050406030204" pitchFamily="18" charset="0"/>
                      </a:rPr>
                      <m:t>𝛽</m:t>
                    </m:r>
                  </m:oMath>
                </a14:m>
                <a:r>
                  <a:rPr lang="zh-CN" altLang="en-US" sz="1008" dirty="0">
                    <a:latin typeface="Garamond" panose="02020404030301010803" pitchFamily="18" charset="0"/>
                    <a:ea typeface="SimSun" panose="02010600030101010101" pitchFamily="2" charset="-122"/>
                  </a:rPr>
                  <a:t>一定时，</a:t>
                </a:r>
                <a:r>
                  <a:rPr lang="en-US" altLang="zh-CN" sz="1008" dirty="0">
                    <a:latin typeface="Garamond" panose="02020404030301010803" pitchFamily="18" charset="0"/>
                    <a:ea typeface="SimSun" panose="02010600030101010101" pitchFamily="2" charset="-122"/>
                  </a:rPr>
                  <a:t> </a:t>
                </a:r>
                <a14:m>
                  <m:oMath xmlns:m="http://schemas.openxmlformats.org/officeDocument/2006/math">
                    <m:r>
                      <m:rPr>
                        <m:sty m:val="p"/>
                      </m:rPr>
                      <a:rPr lang="en-US" altLang="zh-CN" sz="1008">
                        <a:latin typeface="Cambria Math" panose="02040503050406030204" pitchFamily="18" charset="0"/>
                      </a:rPr>
                      <m:t>t</m:t>
                    </m:r>
                  </m:oMath>
                </a14:m>
                <a:r>
                  <a:rPr lang="zh-CN" altLang="en-US" sz="1008" dirty="0">
                    <a:latin typeface="Garamond" panose="02020404030301010803" pitchFamily="18" charset="0"/>
                    <a:ea typeface="SimSun" panose="02010600030101010101" pitchFamily="2" charset="-122"/>
                  </a:rPr>
                  <a:t>越小，</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曲线越平缓；</a:t>
                </a:r>
                <a:r>
                  <a:rPr lang="en-US" altLang="zh-CN" sz="1008" dirty="0">
                    <a:latin typeface="Garamond" panose="02020404030301010803" pitchFamily="18" charset="0"/>
                    <a:ea typeface="SimSun" panose="02010600030101010101" pitchFamily="2" charset="-122"/>
                  </a:rPr>
                  <a:t> </a:t>
                </a:r>
                <a14:m>
                  <m:oMath xmlns:m="http://schemas.openxmlformats.org/officeDocument/2006/math">
                    <m:r>
                      <m:rPr>
                        <m:sty m:val="p"/>
                      </m:rPr>
                      <a:rPr lang="en-US" altLang="zh-CN" sz="1008">
                        <a:latin typeface="Cambria Math" panose="02040503050406030204" pitchFamily="18" charset="0"/>
                      </a:rPr>
                      <m:t>t</m:t>
                    </m:r>
                  </m:oMath>
                </a14:m>
                <a:r>
                  <a:rPr lang="zh-CN" altLang="en-US" sz="1008" dirty="0">
                    <a:latin typeface="Garamond" panose="02020404030301010803" pitchFamily="18" charset="0"/>
                    <a:ea typeface="SimSun" panose="02010600030101010101" pitchFamily="2" charset="-122"/>
                  </a:rPr>
                  <a:t>越大，</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曲线越陡峭。</a:t>
                </a:r>
                <a:endParaRPr lang="en-US" altLang="zh-CN" sz="1008"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0F1FA28A-1E24-5E8A-E42C-ECF9A2E0D5F4}"/>
              </a:ext>
            </a:extLst>
          </p:cNvPr>
          <p:cNvSpPr>
            <a:spLocks noGrp="1"/>
          </p:cNvSpPr>
          <p:nvPr>
            <p:ph type="title"/>
          </p:nvPr>
        </p:nvSpPr>
        <p:spPr/>
        <p:txBody>
          <a:bodyPr/>
          <a:lstStyle/>
          <a:p>
            <a:r>
              <a:rPr kumimoji="1" lang="en-US" altLang="zh-CN" dirty="0"/>
              <a:t>IS</a:t>
            </a:r>
            <a:r>
              <a:rPr kumimoji="1" lang="zh-CN" altLang="en-US" dirty="0"/>
              <a:t>曲线的斜率</a:t>
            </a:r>
          </a:p>
        </p:txBody>
      </p:sp>
      <p:sp>
        <p:nvSpPr>
          <p:cNvPr id="2" name="灯片编号占位符 2">
            <a:extLst>
              <a:ext uri="{FF2B5EF4-FFF2-40B4-BE49-F238E27FC236}">
                <a16:creationId xmlns:a16="http://schemas.microsoft.com/office/drawing/2014/main" id="{FB8B910D-DAA4-79C0-0C02-37867B6EAF1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24</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15D2896F-BFC8-9C1C-8EF4-166254B2E6E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1806011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008" dirty="0">
                    <a:latin typeface="Garamond" panose="02020404030301010803" pitchFamily="18" charset="0"/>
                    <a:ea typeface="SimSun" panose="02010600030101010101" pitchFamily="2" charset="-122"/>
                  </a:rPr>
                  <a:t>需要注意的两点：</a:t>
                </a:r>
                <a:endParaRPr lang="en-US" altLang="zh-CN" sz="1008" dirty="0">
                  <a:latin typeface="Garamond" panose="02020404030301010803" pitchFamily="18" charset="0"/>
                  <a:ea typeface="SimSun" panose="02010600030101010101" pitchFamily="2" charset="-122"/>
                </a:endParaRPr>
              </a:p>
              <a:p>
                <a:r>
                  <a:rPr lang="en-US" altLang="zh-CN" sz="1008" dirty="0">
                    <a:latin typeface="Garamond" panose="02020404030301010803" pitchFamily="18" charset="0"/>
                    <a:ea typeface="SimSun" panose="02010600030101010101" pitchFamily="2" charset="-122"/>
                  </a:rPr>
                  <a:t>1. </a:t>
                </a:r>
                <a:r>
                  <a:rPr lang="zh-CN" altLang="en-US" sz="1008" dirty="0">
                    <a:latin typeface="Garamond" panose="02020404030301010803" pitchFamily="18" charset="0"/>
                    <a:ea typeface="SimSun" panose="02010600030101010101" pitchFamily="2" charset="-122"/>
                  </a:rPr>
                  <a:t>西方学者认为，影响</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斜率大小变化的主要是投资对利率的敏感度，原因是边际消费倾向比较稳定，税率也不会轻易变动。</a:t>
                </a:r>
                <a:endParaRPr lang="en-US" altLang="zh-CN" sz="1008" dirty="0">
                  <a:latin typeface="Garamond" panose="02020404030301010803" pitchFamily="18" charset="0"/>
                  <a:ea typeface="SimSun" panose="02010600030101010101" pitchFamily="2" charset="-122"/>
                </a:endParaRPr>
              </a:p>
              <a:p>
                <a:r>
                  <a:rPr lang="en-US" altLang="zh-CN" sz="1008" dirty="0">
                    <a:latin typeface="Garamond" panose="02020404030301010803" pitchFamily="18" charset="0"/>
                    <a:ea typeface="SimSun" panose="02010600030101010101" pitchFamily="2" charset="-122"/>
                  </a:rPr>
                  <a:t>2. </a:t>
                </a:r>
                <a:r>
                  <a:rPr lang="zh-CN" altLang="en-US" sz="1008" dirty="0">
                    <a:latin typeface="Garamond" panose="02020404030301010803" pitchFamily="18" charset="0"/>
                    <a:ea typeface="SimSun" panose="02010600030101010101" pitchFamily="2" charset="-122"/>
                  </a:rPr>
                  <a:t>上述斜率是以预期不变为前提的。</a:t>
                </a:r>
                <a:endParaRPr lang="en-US" altLang="zh-CN" sz="1008" dirty="0">
                  <a:latin typeface="Garamond" panose="02020404030301010803" pitchFamily="18" charset="0"/>
                  <a:ea typeface="SimSun" panose="02010600030101010101" pitchFamily="2" charset="-122"/>
                </a:endParaRPr>
              </a:p>
              <a:p>
                <a:r>
                  <a:rPr lang="zh-CN" altLang="en-US" sz="1008" dirty="0">
                    <a:latin typeface="Garamond" panose="02020404030301010803" pitchFamily="18" charset="0"/>
                    <a:ea typeface="SimSun" panose="02010600030101010101" pitchFamily="2" charset="-122"/>
                  </a:rPr>
                  <a:t>以</a:t>
                </a:r>
                <a:r>
                  <a:rPr lang="en-US" altLang="zh-CN" sz="1008" dirty="0">
                    <a:latin typeface="Garamond" panose="02020404030301010803" pitchFamily="18" charset="0"/>
                    <a:ea typeface="SimSun" panose="02010600030101010101" pitchFamily="2" charset="-122"/>
                  </a:rPr>
                  <a:t>d</a:t>
                </a:r>
                <a:r>
                  <a:rPr lang="zh-CN" altLang="en-US" sz="1008" dirty="0">
                    <a:latin typeface="Garamond" panose="02020404030301010803" pitchFamily="18" charset="0"/>
                    <a:ea typeface="SimSun" panose="02010600030101010101" pitchFamily="2" charset="-122"/>
                  </a:rPr>
                  <a:t>为例，加入预期因素后，若</a:t>
                </a:r>
                <a:r>
                  <a:rPr lang="en-US" altLang="zh-CN" sz="1008" dirty="0">
                    <a:latin typeface="Garamond" panose="02020404030301010803" pitchFamily="18" charset="0"/>
                    <a:ea typeface="SimSun" panose="02010600030101010101" pitchFamily="2" charset="-122"/>
                  </a:rPr>
                  <a:t>d</a:t>
                </a:r>
                <a:r>
                  <a:rPr lang="zh-CN" altLang="en-US" sz="1008" dirty="0">
                    <a:latin typeface="Garamond" panose="02020404030301010803" pitchFamily="18" charset="0"/>
                    <a:ea typeface="SimSun" panose="02010600030101010101" pitchFamily="2" charset="-122"/>
                  </a:rPr>
                  <a:t>下降，企业又预期未来实际利率不会像现在这样低，那么企业就不会按</a:t>
                </a:r>
                <a:r>
                  <a:rPr lang="en-US" altLang="zh-CN" sz="1008" dirty="0">
                    <a:latin typeface="Garamond" panose="02020404030301010803" pitchFamily="18" charset="0"/>
                    <a:ea typeface="SimSun" panose="02010600030101010101" pitchFamily="2" charset="-122"/>
                  </a:rPr>
                  <a:t>d</a:t>
                </a:r>
                <a:r>
                  <a:rPr lang="zh-CN" altLang="en-US" sz="1008" dirty="0">
                    <a:latin typeface="Garamond" panose="02020404030301010803" pitchFamily="18" charset="0"/>
                    <a:ea typeface="SimSun" panose="02010600030101010101" pitchFamily="2" charset="-122"/>
                  </a:rPr>
                  <a:t>这一系数大幅度改变投资计划，即不会增加多少投资，从而收入也不会增加那么多；</a:t>
                </a:r>
                <a:endParaRPr lang="en-US" altLang="zh-CN" sz="1008" dirty="0">
                  <a:latin typeface="Garamond" panose="02020404030301010803" pitchFamily="18" charset="0"/>
                  <a:ea typeface="SimSun" panose="02010600030101010101" pitchFamily="2" charset="-122"/>
                </a:endParaRPr>
              </a:p>
              <a:p>
                <a:r>
                  <a:rPr lang="zh-CN" altLang="en-US" sz="1008" dirty="0">
                    <a:latin typeface="Garamond" panose="02020404030301010803" pitchFamily="18" charset="0"/>
                    <a:ea typeface="SimSun" panose="02010600030101010101" pitchFamily="2" charset="-122"/>
                  </a:rPr>
                  <a:t>以乘数</a:t>
                </a:r>
                <a:r>
                  <a:rPr lang="en-US" altLang="zh-CN" sz="1008" dirty="0">
                    <a:latin typeface="Garamond" panose="02020404030301010803" pitchFamily="18" charset="0"/>
                    <a:ea typeface="SimSun" panose="02010600030101010101" pitchFamily="2" charset="-122"/>
                  </a:rPr>
                  <a:t>1/1-</a:t>
                </a:r>
                <a14:m>
                  <m:oMath xmlns:m="http://schemas.openxmlformats.org/officeDocument/2006/math">
                    <m:r>
                      <a:rPr lang="zh-CN" altLang="en-US" sz="1008">
                        <a:latin typeface="Cambria Math" panose="02040503050406030204" pitchFamily="18" charset="0"/>
                      </a:rPr>
                      <m:t>𝛽</m:t>
                    </m:r>
                  </m:oMath>
                </a14:m>
                <a:r>
                  <a:rPr lang="zh-CN" altLang="en-US" sz="1008" dirty="0">
                    <a:latin typeface="Garamond" panose="02020404030301010803" pitchFamily="18" charset="0"/>
                    <a:ea typeface="SimSun" panose="02010600030101010101" pitchFamily="2" charset="-122"/>
                  </a:rPr>
                  <a:t>为例，加入预期因素后，若人们预期不会持久的收入变化对消费和投资的影响就都有限。也就是说，边际消费倾向较小，因而乘数就较小。</a:t>
                </a:r>
                <a:endParaRPr lang="en-US" altLang="zh-CN" sz="1008" dirty="0">
                  <a:latin typeface="Garamond" panose="02020404030301010803" pitchFamily="18" charset="0"/>
                  <a:ea typeface="SimSun" panose="02010600030101010101" pitchFamily="2" charset="-122"/>
                </a:endParaRPr>
              </a:p>
              <a:p>
                <a:r>
                  <a:rPr lang="zh-CN" altLang="en-US" sz="1008" dirty="0">
                    <a:latin typeface="Garamond" panose="02020404030301010803" pitchFamily="18" charset="0"/>
                    <a:ea typeface="SimSun" panose="02010600030101010101" pitchFamily="2" charset="-122"/>
                  </a:rPr>
                  <a:t>这意味着，考虑预期因素之后，</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的曲线会陡一些。</a:t>
                </a:r>
                <a:endParaRPr lang="en-US" altLang="zh-CN" sz="1008"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r="-2719"/>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C622570D-A2E3-A207-CD99-69A6C3F77F12}"/>
              </a:ext>
            </a:extLst>
          </p:cNvPr>
          <p:cNvSpPr>
            <a:spLocks noGrp="1"/>
          </p:cNvSpPr>
          <p:nvPr>
            <p:ph type="title"/>
          </p:nvPr>
        </p:nvSpPr>
        <p:spPr/>
        <p:txBody>
          <a:bodyPr/>
          <a:lstStyle/>
          <a:p>
            <a:r>
              <a:rPr kumimoji="1" lang="en-US" altLang="zh-CN" dirty="0"/>
              <a:t>IS</a:t>
            </a:r>
            <a:r>
              <a:rPr kumimoji="1" lang="zh-CN" altLang="en-US" dirty="0"/>
              <a:t>曲线的斜率</a:t>
            </a:r>
          </a:p>
        </p:txBody>
      </p:sp>
      <p:sp>
        <p:nvSpPr>
          <p:cNvPr id="2" name="灯片编号占位符 2">
            <a:extLst>
              <a:ext uri="{FF2B5EF4-FFF2-40B4-BE49-F238E27FC236}">
                <a16:creationId xmlns:a16="http://schemas.microsoft.com/office/drawing/2014/main" id="{3C9C9CAF-ADAA-69A4-8BB8-1DEDAA22358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25</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0FDEF6AD-0804-4766-FAD5-C78222ADF70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087232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xf14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76858" y="786988"/>
            <a:ext cx="3281004" cy="211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652543" y="2940551"/>
            <a:ext cx="3281004" cy="216534"/>
          </a:xfrm>
          <a:prstGeom prst="rect">
            <a:avLst/>
          </a:prstGeom>
        </p:spPr>
        <p:txBody>
          <a:bodyPr wrap="square">
            <a:spAutoFit/>
          </a:bodyPr>
          <a:lstStyle/>
          <a:p>
            <a:pPr algn="ctr"/>
            <a:r>
              <a:rPr lang="zh-CN" altLang="en-US" sz="807" b="1" dirty="0">
                <a:latin typeface="Garamond" panose="02020404030301010803" pitchFamily="18" charset="0"/>
                <a:ea typeface="KaiTi" panose="02010609060101010101" pitchFamily="49" charset="-122"/>
              </a:rPr>
              <a:t>投资需求变动使</a:t>
            </a:r>
            <a:r>
              <a:rPr lang="en-US" altLang="zh-CN" sz="807" b="1" dirty="0">
                <a:latin typeface="Garamond" panose="02020404030301010803" pitchFamily="18" charset="0"/>
                <a:ea typeface="KaiTi" panose="02010609060101010101" pitchFamily="49" charset="-122"/>
              </a:rPr>
              <a:t>IS</a:t>
            </a:r>
            <a:r>
              <a:rPr lang="zh-CN" altLang="en-US" sz="807" b="1" dirty="0">
                <a:latin typeface="Garamond" panose="02020404030301010803" pitchFamily="18" charset="0"/>
                <a:ea typeface="KaiTi" panose="02010609060101010101" pitchFamily="49" charset="-122"/>
              </a:rPr>
              <a:t>曲线移动</a:t>
            </a:r>
          </a:p>
        </p:txBody>
      </p:sp>
      <p:sp>
        <p:nvSpPr>
          <p:cNvPr id="9" name="内容占位符 2">
            <a:extLst>
              <a:ext uri="{FF2B5EF4-FFF2-40B4-BE49-F238E27FC236}">
                <a16:creationId xmlns:a16="http://schemas.microsoft.com/office/drawing/2014/main" id="{B97DD7F7-8305-45DA-A072-A46F8F86C4D3}"/>
              </a:ext>
            </a:extLst>
          </p:cNvPr>
          <p:cNvSpPr txBox="1">
            <a:spLocks/>
          </p:cNvSpPr>
          <p:nvPr/>
        </p:nvSpPr>
        <p:spPr bwMode="auto">
          <a:xfrm>
            <a:off x="216818" y="565753"/>
            <a:ext cx="3976211" cy="2261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461040"/>
            <a:r>
              <a:rPr lang="zh-CN" altLang="en-US" sz="1008" dirty="0">
                <a:latin typeface="Garamond" panose="02020404030301010803" pitchFamily="18" charset="0"/>
                <a:ea typeface="SimSun" panose="02010600030101010101" pitchFamily="2" charset="-122"/>
              </a:rPr>
              <a:t>在其他条件不变的情况下，</a:t>
            </a:r>
            <a:r>
              <a:rPr lang="zh-CN" altLang="en-US" sz="1008" b="1" u="sng" dirty="0">
                <a:latin typeface="Garamond" panose="02020404030301010803" pitchFamily="18" charset="0"/>
                <a:ea typeface="SimSun" panose="02010600030101010101" pitchFamily="2" charset="-122"/>
              </a:rPr>
              <a:t>投资需求增加</a:t>
            </a:r>
            <a:r>
              <a:rPr lang="zh-CN" altLang="en-US" sz="1008" dirty="0">
                <a:latin typeface="Garamond" panose="02020404030301010803" pitchFamily="18" charset="0"/>
                <a:ea typeface="SimSun" panose="02010600030101010101" pitchFamily="2" charset="-122"/>
              </a:rPr>
              <a:t>会引起</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曲线右移。</a:t>
            </a:r>
            <a:endParaRPr lang="en-US" altLang="zh-CN" sz="1008" dirty="0">
              <a:latin typeface="Garamond" panose="02020404030301010803" pitchFamily="18" charset="0"/>
              <a:ea typeface="SimSun" panose="02010600030101010101" pitchFamily="2" charset="-122"/>
            </a:endParaRPr>
          </a:p>
        </p:txBody>
      </p:sp>
      <p:sp>
        <p:nvSpPr>
          <p:cNvPr id="3" name="标题 2">
            <a:extLst>
              <a:ext uri="{FF2B5EF4-FFF2-40B4-BE49-F238E27FC236}">
                <a16:creationId xmlns:a16="http://schemas.microsoft.com/office/drawing/2014/main" id="{0D1C5BC5-CAAB-F435-A6B0-B48AEA371E0D}"/>
              </a:ext>
            </a:extLst>
          </p:cNvPr>
          <p:cNvSpPr>
            <a:spLocks noGrp="1"/>
          </p:cNvSpPr>
          <p:nvPr>
            <p:ph type="title"/>
          </p:nvPr>
        </p:nvSpPr>
        <p:spPr/>
        <p:txBody>
          <a:bodyPr/>
          <a:lstStyle/>
          <a:p>
            <a:r>
              <a:rPr kumimoji="1" lang="en-US" altLang="zh-CN" dirty="0"/>
              <a:t>IS</a:t>
            </a:r>
            <a:r>
              <a:rPr kumimoji="1" lang="zh-CN" altLang="en-US" dirty="0"/>
              <a:t>曲线的移动</a:t>
            </a:r>
          </a:p>
        </p:txBody>
      </p:sp>
      <p:sp>
        <p:nvSpPr>
          <p:cNvPr id="2" name="灯片编号占位符 2">
            <a:extLst>
              <a:ext uri="{FF2B5EF4-FFF2-40B4-BE49-F238E27FC236}">
                <a16:creationId xmlns:a16="http://schemas.microsoft.com/office/drawing/2014/main" id="{17054423-E184-9B71-3949-D9493E5D37C7}"/>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26</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76300220-49B2-DB1D-AF7B-E26F6CD785A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10223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xf1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343" y="866279"/>
            <a:ext cx="3225414" cy="207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692343" y="2930910"/>
            <a:ext cx="3225414" cy="216534"/>
          </a:xfrm>
          <a:prstGeom prst="rect">
            <a:avLst/>
          </a:prstGeom>
        </p:spPr>
        <p:txBody>
          <a:bodyPr wrap="square">
            <a:spAutoFit/>
          </a:bodyPr>
          <a:lstStyle/>
          <a:p>
            <a:pPr algn="ctr"/>
            <a:r>
              <a:rPr lang="zh-CN" altLang="en-US" sz="807" b="1" dirty="0">
                <a:latin typeface="Garamond" panose="02020404030301010803" pitchFamily="18" charset="0"/>
                <a:ea typeface="KaiTi" panose="02010609060101010101" pitchFamily="49" charset="-122"/>
              </a:rPr>
              <a:t>储蓄需求变动使</a:t>
            </a:r>
            <a:r>
              <a:rPr lang="en-US" altLang="zh-CN" sz="807" b="1" dirty="0">
                <a:latin typeface="Garamond" panose="02020404030301010803" pitchFamily="18" charset="0"/>
                <a:ea typeface="KaiTi" panose="02010609060101010101" pitchFamily="49" charset="-122"/>
              </a:rPr>
              <a:t>IS</a:t>
            </a:r>
            <a:r>
              <a:rPr lang="zh-CN" altLang="en-US" sz="807" b="1" dirty="0">
                <a:latin typeface="Garamond" panose="02020404030301010803" pitchFamily="18" charset="0"/>
                <a:ea typeface="KaiTi" panose="02010609060101010101" pitchFamily="49" charset="-122"/>
              </a:rPr>
              <a:t>曲线移动</a:t>
            </a:r>
          </a:p>
        </p:txBody>
      </p:sp>
      <p:sp>
        <p:nvSpPr>
          <p:cNvPr id="9" name="内容占位符 2">
            <a:extLst>
              <a:ext uri="{FF2B5EF4-FFF2-40B4-BE49-F238E27FC236}">
                <a16:creationId xmlns:a16="http://schemas.microsoft.com/office/drawing/2014/main" id="{76E3527A-AACE-4579-99EF-2FC9377C27BC}"/>
              </a:ext>
            </a:extLst>
          </p:cNvPr>
          <p:cNvSpPr txBox="1">
            <a:spLocks/>
          </p:cNvSpPr>
          <p:nvPr/>
        </p:nvSpPr>
        <p:spPr bwMode="auto">
          <a:xfrm>
            <a:off x="232146" y="599460"/>
            <a:ext cx="3976211"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461040"/>
            <a:r>
              <a:rPr lang="zh-CN" altLang="en-US" sz="1008" dirty="0">
                <a:latin typeface="Garamond" panose="02020404030301010803" pitchFamily="18" charset="0"/>
                <a:ea typeface="SimSun" panose="02010600030101010101" pitchFamily="2" charset="-122"/>
              </a:rPr>
              <a:t>在其他条件不变的情况下，</a:t>
            </a:r>
            <a:r>
              <a:rPr lang="zh-CN" altLang="en-US" sz="1008" b="1" u="sng" dirty="0">
                <a:latin typeface="Garamond" panose="02020404030301010803" pitchFamily="18" charset="0"/>
                <a:ea typeface="SimSun" panose="02010600030101010101" pitchFamily="2" charset="-122"/>
              </a:rPr>
              <a:t>储蓄需求减少</a:t>
            </a:r>
            <a:r>
              <a:rPr lang="zh-CN" altLang="en-US" sz="1008" dirty="0">
                <a:latin typeface="Garamond" panose="02020404030301010803" pitchFamily="18" charset="0"/>
                <a:ea typeface="SimSun" panose="02010600030101010101" pitchFamily="2" charset="-122"/>
              </a:rPr>
              <a:t>会引起</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曲线左移。</a:t>
            </a:r>
            <a:endParaRPr lang="en-US" altLang="zh-CN" sz="1008" dirty="0">
              <a:latin typeface="Garamond" panose="02020404030301010803" pitchFamily="18" charset="0"/>
              <a:ea typeface="SimSun" panose="02010600030101010101" pitchFamily="2" charset="-122"/>
            </a:endParaRPr>
          </a:p>
        </p:txBody>
      </p:sp>
      <p:sp>
        <p:nvSpPr>
          <p:cNvPr id="3" name="标题 2">
            <a:extLst>
              <a:ext uri="{FF2B5EF4-FFF2-40B4-BE49-F238E27FC236}">
                <a16:creationId xmlns:a16="http://schemas.microsoft.com/office/drawing/2014/main" id="{10B8405D-FDB2-0374-51EC-9F5164A7D207}"/>
              </a:ext>
            </a:extLst>
          </p:cNvPr>
          <p:cNvSpPr>
            <a:spLocks noGrp="1"/>
          </p:cNvSpPr>
          <p:nvPr>
            <p:ph type="title"/>
          </p:nvPr>
        </p:nvSpPr>
        <p:spPr/>
        <p:txBody>
          <a:bodyPr/>
          <a:lstStyle/>
          <a:p>
            <a:r>
              <a:rPr kumimoji="1" lang="en-US" altLang="zh-CN" dirty="0"/>
              <a:t>IS</a:t>
            </a:r>
            <a:r>
              <a:rPr kumimoji="1" lang="zh-CN" altLang="en-US" dirty="0"/>
              <a:t>曲线的移动</a:t>
            </a:r>
          </a:p>
        </p:txBody>
      </p:sp>
      <p:sp>
        <p:nvSpPr>
          <p:cNvPr id="2" name="灯片编号占位符 2">
            <a:extLst>
              <a:ext uri="{FF2B5EF4-FFF2-40B4-BE49-F238E27FC236}">
                <a16:creationId xmlns:a16="http://schemas.microsoft.com/office/drawing/2014/main" id="{3ADF9189-530A-7751-295B-27E2345EFAA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27</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EE09B24E-573B-9021-05BB-62284300025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107237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28</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a:t>
            </a:r>
            <a:r>
              <a:rPr lang="zh-CN" altLang="en-US" sz="1613" dirty="0">
                <a:solidFill>
                  <a:srgbClr val="339966"/>
                </a:solidFill>
                <a:effectLst>
                  <a:outerShdw blurRad="38100" dist="38100" dir="2700000" algn="tl">
                    <a:srgbClr val="C0C0C0"/>
                  </a:outerShdw>
                </a:effectLst>
                <a:ea typeface="宋体" panose="02010600030101010101" pitchFamily="2" charset="-122"/>
              </a:rPr>
              <a:t>曲线</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39197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50" dirty="0">
                <a:ea typeface="SimSun" panose="02010600030101010101" pitchFamily="2" charset="-122"/>
                <a:cs typeface="Times New Roman" panose="02020603050405020304" pitchFamily="18" charset="0"/>
              </a:rPr>
              <a:t>假定：</a:t>
            </a:r>
          </a:p>
          <a:p>
            <a:pPr marL="0" indent="0">
              <a:buNone/>
            </a:pPr>
            <a:r>
              <a:rPr lang="zh-CN" altLang="en-US" sz="1050" dirty="0">
                <a:ea typeface="SimSun" panose="02010600030101010101" pitchFamily="2" charset="-122"/>
                <a:cs typeface="Times New Roman" panose="02020603050405020304" pitchFamily="18" charset="0"/>
              </a:rPr>
              <a:t>（</a:t>
            </a:r>
            <a:r>
              <a:rPr lang="en" altLang="zh-CN" sz="1050" dirty="0">
                <a:ea typeface="SimSun" panose="02010600030101010101" pitchFamily="2" charset="-122"/>
                <a:cs typeface="Times New Roman" panose="02020603050405020304" pitchFamily="18" charset="0"/>
              </a:rPr>
              <a:t>a</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消费函数为</a:t>
            </a:r>
            <a:r>
              <a:rPr lang="en" altLang="zh-CN" sz="1050" dirty="0">
                <a:ea typeface="SimSun" panose="02010600030101010101" pitchFamily="2" charset="-122"/>
                <a:cs typeface="Times New Roman" panose="02020603050405020304" pitchFamily="18" charset="0"/>
              </a:rPr>
              <a:t>c=50+0.8y</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投资函数是</a:t>
            </a:r>
            <a:r>
              <a:rPr lang="en" altLang="zh-CN" sz="1050" dirty="0" err="1">
                <a:ea typeface="SimSun" panose="02010600030101010101" pitchFamily="2" charset="-122"/>
                <a:cs typeface="Times New Roman" panose="02020603050405020304" pitchFamily="18" charset="0"/>
              </a:rPr>
              <a:t>i</a:t>
            </a:r>
            <a:r>
              <a:rPr lang="en" altLang="zh-CN" sz="1050" dirty="0">
                <a:ea typeface="SimSun" panose="02010600030101010101" pitchFamily="2" charset="-122"/>
                <a:cs typeface="Times New Roman" panose="02020603050405020304" pitchFamily="18" charset="0"/>
              </a:rPr>
              <a:t>=100-5r</a:t>
            </a:r>
            <a:r>
              <a:rPr lang="zh-CN" altLang="en" sz="1050" dirty="0">
                <a:ea typeface="SimSun" panose="02010600030101010101" pitchFamily="2" charset="-122"/>
                <a:cs typeface="Times New Roman" panose="02020603050405020304" pitchFamily="18" charset="0"/>
              </a:rPr>
              <a:t>；</a:t>
            </a:r>
          </a:p>
          <a:p>
            <a:pPr marL="0" indent="0">
              <a:buNone/>
            </a:pPr>
            <a:r>
              <a:rPr lang="zh-CN" altLang="en" sz="1050" dirty="0">
                <a:ea typeface="SimSun" panose="02010600030101010101" pitchFamily="2" charset="-122"/>
                <a:cs typeface="Times New Roman" panose="02020603050405020304" pitchFamily="18" charset="0"/>
              </a:rPr>
              <a:t>（</a:t>
            </a:r>
            <a:r>
              <a:rPr lang="en" altLang="zh-CN" sz="1050" dirty="0">
                <a:ea typeface="SimSun" panose="02010600030101010101" pitchFamily="2" charset="-122"/>
                <a:cs typeface="Times New Roman" panose="02020603050405020304" pitchFamily="18" charset="0"/>
              </a:rPr>
              <a:t>b</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消费函数为</a:t>
            </a:r>
            <a:r>
              <a:rPr lang="en" altLang="zh-CN" sz="1050" dirty="0">
                <a:ea typeface="SimSun" panose="02010600030101010101" pitchFamily="2" charset="-122"/>
                <a:cs typeface="Times New Roman" panose="02020603050405020304" pitchFamily="18" charset="0"/>
              </a:rPr>
              <a:t>c=50+0.8y</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投资函数是</a:t>
            </a:r>
            <a:r>
              <a:rPr lang="en" altLang="zh-CN" sz="1050" dirty="0" err="1">
                <a:ea typeface="SimSun" panose="02010600030101010101" pitchFamily="2" charset="-122"/>
                <a:cs typeface="Times New Roman" panose="02020603050405020304" pitchFamily="18" charset="0"/>
              </a:rPr>
              <a:t>i</a:t>
            </a:r>
            <a:r>
              <a:rPr lang="en" altLang="zh-CN" sz="1050" dirty="0">
                <a:ea typeface="SimSun" panose="02010600030101010101" pitchFamily="2" charset="-122"/>
                <a:cs typeface="Times New Roman" panose="02020603050405020304" pitchFamily="18" charset="0"/>
              </a:rPr>
              <a:t>=100-10r</a:t>
            </a:r>
            <a:r>
              <a:rPr lang="zh-CN" altLang="en" sz="1050" dirty="0">
                <a:ea typeface="SimSun" panose="02010600030101010101" pitchFamily="2" charset="-122"/>
                <a:cs typeface="Times New Roman" panose="02020603050405020304" pitchFamily="18" charset="0"/>
              </a:rPr>
              <a:t>；</a:t>
            </a:r>
          </a:p>
          <a:p>
            <a:pPr marL="0" indent="0">
              <a:buNone/>
            </a:pPr>
            <a:r>
              <a:rPr lang="zh-CN" altLang="en" sz="1050" dirty="0">
                <a:ea typeface="SimSun" panose="02010600030101010101" pitchFamily="2" charset="-122"/>
                <a:cs typeface="Times New Roman" panose="02020603050405020304" pitchFamily="18" charset="0"/>
              </a:rPr>
              <a:t>（</a:t>
            </a:r>
            <a:r>
              <a:rPr lang="en" altLang="zh-CN" sz="1050" dirty="0">
                <a:ea typeface="SimSun" panose="02010600030101010101" pitchFamily="2" charset="-122"/>
                <a:cs typeface="Times New Roman" panose="02020603050405020304" pitchFamily="18" charset="0"/>
              </a:rPr>
              <a:t>c</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消费函数为</a:t>
            </a:r>
            <a:r>
              <a:rPr lang="en" altLang="zh-CN" sz="1050" dirty="0">
                <a:ea typeface="SimSun" panose="02010600030101010101" pitchFamily="2" charset="-122"/>
                <a:cs typeface="Times New Roman" panose="02020603050405020304" pitchFamily="18" charset="0"/>
              </a:rPr>
              <a:t>c=50+0.75y</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投资函数是</a:t>
            </a:r>
            <a:r>
              <a:rPr lang="en" altLang="zh-CN" sz="1050" dirty="0" err="1">
                <a:ea typeface="SimSun" panose="02010600030101010101" pitchFamily="2" charset="-122"/>
                <a:cs typeface="Times New Roman" panose="02020603050405020304" pitchFamily="18" charset="0"/>
              </a:rPr>
              <a:t>i</a:t>
            </a:r>
            <a:r>
              <a:rPr lang="en" altLang="zh-CN" sz="1050" dirty="0">
                <a:ea typeface="SimSun" panose="02010600030101010101" pitchFamily="2" charset="-122"/>
                <a:cs typeface="Times New Roman" panose="02020603050405020304" pitchFamily="18" charset="0"/>
              </a:rPr>
              <a:t>=100-10r</a:t>
            </a:r>
            <a:r>
              <a:rPr lang="zh-CN" altLang="en" sz="1050" dirty="0">
                <a:ea typeface="SimSun" panose="02010600030101010101" pitchFamily="2" charset="-122"/>
                <a:cs typeface="Times New Roman" panose="02020603050405020304" pitchFamily="18" charset="0"/>
              </a:rPr>
              <a:t>；</a:t>
            </a:r>
          </a:p>
          <a:p>
            <a:pPr marL="0" indent="0">
              <a:buNone/>
            </a:pPr>
            <a:r>
              <a:rPr lang="zh-CN" altLang="en-US" sz="1050" dirty="0">
                <a:ea typeface="SimSun" panose="02010600030101010101" pitchFamily="2" charset="-122"/>
                <a:cs typeface="Times New Roman" panose="02020603050405020304" pitchFamily="18" charset="0"/>
              </a:rPr>
              <a:t>求：</a:t>
            </a:r>
            <a:endParaRPr lang="en-US" altLang="zh-CN" sz="1050" dirty="0">
              <a:ea typeface="SimSun" panose="02010600030101010101" pitchFamily="2" charset="-122"/>
              <a:cs typeface="Times New Roman" panose="02020603050405020304" pitchFamily="18" charset="0"/>
            </a:endParaRPr>
          </a:p>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a:t>
            </a:r>
            <a:r>
              <a:rPr lang="zh-CN" altLang="en-US" sz="1050" dirty="0">
                <a:ea typeface="SimSun" panose="02010600030101010101" pitchFamily="2" charset="-122"/>
                <a:cs typeface="Times New Roman" panose="02020603050405020304" pitchFamily="18" charset="0"/>
              </a:rPr>
              <a:t>）</a:t>
            </a:r>
            <a:r>
              <a:rPr lang="en" altLang="zh-CN" sz="1050" dirty="0" err="1">
                <a:ea typeface="SimSun" panose="02010600030101010101" pitchFamily="2" charset="-122"/>
                <a:cs typeface="Times New Roman" panose="02020603050405020304" pitchFamily="18" charset="0"/>
              </a:rPr>
              <a:t>a,b,c</a:t>
            </a:r>
            <a:r>
              <a:rPr lang="zh-CN" altLang="en-US" sz="1050" dirty="0">
                <a:ea typeface="SimSun" panose="02010600030101010101" pitchFamily="2" charset="-122"/>
                <a:cs typeface="Times New Roman" panose="02020603050405020304" pitchFamily="18" charset="0"/>
              </a:rPr>
              <a:t>的</a:t>
            </a:r>
            <a:r>
              <a:rPr lang="en"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曲线；</a:t>
            </a:r>
            <a:endParaRPr lang="en-US" altLang="zh-CN" sz="1050" dirty="0">
              <a:ea typeface="SimSun" panose="02010600030101010101" pitchFamily="2" charset="-122"/>
              <a:cs typeface="Times New Roman" panose="02020603050405020304" pitchFamily="18" charset="0"/>
            </a:endParaRPr>
          </a:p>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2</a:t>
            </a:r>
            <a:r>
              <a:rPr lang="zh-CN" altLang="en-US" sz="1050" dirty="0">
                <a:ea typeface="SimSun" panose="02010600030101010101" pitchFamily="2" charset="-122"/>
                <a:cs typeface="Times New Roman" panose="02020603050405020304" pitchFamily="18" charset="0"/>
              </a:rPr>
              <a:t>）比较</a:t>
            </a:r>
            <a:r>
              <a:rPr lang="en" altLang="zh-CN" sz="1050" dirty="0">
                <a:ea typeface="SimSun" panose="02010600030101010101" pitchFamily="2" charset="-122"/>
                <a:cs typeface="Times New Roman" panose="02020603050405020304" pitchFamily="18" charset="0"/>
              </a:rPr>
              <a:t>a</a:t>
            </a:r>
            <a:r>
              <a:rPr lang="zh-CN" altLang="en-US" sz="1050" dirty="0">
                <a:ea typeface="SimSun" panose="02010600030101010101" pitchFamily="2" charset="-122"/>
                <a:cs typeface="Times New Roman" panose="02020603050405020304" pitchFamily="18" charset="0"/>
              </a:rPr>
              <a:t>和</a:t>
            </a:r>
            <a:r>
              <a:rPr lang="en" altLang="zh-CN" sz="1050" dirty="0">
                <a:ea typeface="SimSun" panose="02010600030101010101" pitchFamily="2" charset="-122"/>
                <a:cs typeface="Times New Roman" panose="02020603050405020304" pitchFamily="18" charset="0"/>
              </a:rPr>
              <a:t>b</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说明投资对利率更敏感时，</a:t>
            </a:r>
            <a:r>
              <a:rPr lang="en"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曲线的斜率发生什么变化？</a:t>
            </a:r>
            <a:endParaRPr lang="en-US" altLang="zh-CN" sz="1050" dirty="0">
              <a:ea typeface="SimSun" panose="02010600030101010101" pitchFamily="2" charset="-122"/>
              <a:cs typeface="Times New Roman" panose="02020603050405020304" pitchFamily="18" charset="0"/>
            </a:endParaRPr>
          </a:p>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3</a:t>
            </a:r>
            <a:r>
              <a:rPr lang="zh-CN" altLang="en-US" sz="1050" dirty="0">
                <a:ea typeface="SimSun" panose="02010600030101010101" pitchFamily="2" charset="-122"/>
                <a:cs typeface="Times New Roman" panose="02020603050405020304" pitchFamily="18" charset="0"/>
              </a:rPr>
              <a:t>）比较</a:t>
            </a:r>
            <a:r>
              <a:rPr lang="en" altLang="zh-CN" sz="1050" dirty="0">
                <a:ea typeface="SimSun" panose="02010600030101010101" pitchFamily="2" charset="-122"/>
                <a:cs typeface="Times New Roman" panose="02020603050405020304" pitchFamily="18" charset="0"/>
              </a:rPr>
              <a:t>b</a:t>
            </a:r>
            <a:r>
              <a:rPr lang="zh-CN" altLang="en-US" sz="1050" dirty="0">
                <a:ea typeface="SimSun" panose="02010600030101010101" pitchFamily="2" charset="-122"/>
                <a:cs typeface="Times New Roman" panose="02020603050405020304" pitchFamily="18" charset="0"/>
              </a:rPr>
              <a:t>和</a:t>
            </a:r>
            <a:r>
              <a:rPr lang="en" altLang="zh-CN" sz="1050" dirty="0">
                <a:ea typeface="SimSun" panose="02010600030101010101" pitchFamily="2" charset="-122"/>
                <a:cs typeface="Times New Roman" panose="02020603050405020304" pitchFamily="18" charset="0"/>
              </a:rPr>
              <a:t>c</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说明边际消费倾向变动时，</a:t>
            </a:r>
            <a:r>
              <a:rPr lang="en"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曲线的斜率将会发生什么变化。</a:t>
            </a:r>
          </a:p>
        </p:txBody>
      </p:sp>
    </p:spTree>
    <p:extLst>
      <p:ext uri="{BB962C8B-B14F-4D97-AF65-F5344CB8AC3E}">
        <p14:creationId xmlns:p14="http://schemas.microsoft.com/office/powerpoint/2010/main" val="246080624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112245" y="1182550"/>
            <a:ext cx="4383299" cy="623376"/>
          </a:xfrm>
          <a:prstGeom prst="rect">
            <a:avLst/>
          </a:prstGeom>
        </p:spPr>
        <p:txBody>
          <a:bodyPr vert="horz" wrap="square" lIns="0" tIns="0" rIns="0" bIns="0" rtlCol="0">
            <a:spAutoFit/>
          </a:bodyPr>
          <a:lstStyle/>
          <a:p>
            <a:pPr marL="634" algn="ctr">
              <a:lnSpc>
                <a:spcPct val="130000"/>
              </a:lnSpc>
            </a:pPr>
            <a:r>
              <a:rPr lang="zh-CN" altLang="en-US" sz="2000" b="1" dirty="0">
                <a:solidFill>
                  <a:srgbClr val="333399"/>
                </a:solidFill>
                <a:latin typeface="Garamond" panose="02020404030301010803" pitchFamily="18" charset="0"/>
                <a:ea typeface="KaiTi" panose="02010609060101010101" pitchFamily="49" charset="-122"/>
                <a:cs typeface="+mj-cs"/>
              </a:rPr>
              <a:t>第</a:t>
            </a:r>
            <a:r>
              <a:rPr lang="en-US" altLang="zh-CN" sz="2000" b="1" dirty="0">
                <a:solidFill>
                  <a:srgbClr val="333399"/>
                </a:solidFill>
                <a:latin typeface="Garamond" panose="02020404030301010803" pitchFamily="18" charset="0"/>
                <a:ea typeface="KaiTi" panose="02010609060101010101" pitchFamily="49" charset="-122"/>
                <a:cs typeface="+mj-cs"/>
              </a:rPr>
              <a:t>3</a:t>
            </a:r>
            <a:r>
              <a:rPr lang="zh-CN" altLang="en-US" sz="2000" b="1" dirty="0">
                <a:solidFill>
                  <a:srgbClr val="333399"/>
                </a:solidFill>
                <a:latin typeface="Garamond" panose="02020404030301010803" pitchFamily="18" charset="0"/>
                <a:ea typeface="KaiTi" panose="02010609060101010101" pitchFamily="49" charset="-122"/>
                <a:cs typeface="+mj-cs"/>
              </a:rPr>
              <a:t>节 利率的决定</a:t>
            </a:r>
            <a:endParaRPr lang="en-US" altLang="zh-CN" sz="2000"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1200" b="1" dirty="0">
              <a:latin typeface="Garamond" panose="02020404030301010803" pitchFamily="18" charset="0"/>
              <a:cs typeface="Times New Roman"/>
            </a:endParaRPr>
          </a:p>
        </p:txBody>
      </p:sp>
    </p:spTree>
    <p:extLst>
      <p:ext uri="{BB962C8B-B14F-4D97-AF65-F5344CB8AC3E}">
        <p14:creationId xmlns:p14="http://schemas.microsoft.com/office/powerpoint/2010/main" val="2898850957"/>
      </p:ext>
    </p:extLst>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凯恩斯认为，利率是由货币的供给量和货币的需求量所决定的。</a:t>
            </a:r>
            <a:endParaRPr lang="en-US" altLang="zh-CN" dirty="0"/>
          </a:p>
          <a:p>
            <a:r>
              <a:rPr lang="zh-CN" altLang="en-US" dirty="0"/>
              <a:t>货币的</a:t>
            </a:r>
            <a:r>
              <a:rPr lang="zh-CN" altLang="en-US" b="1" dirty="0"/>
              <a:t>实际供给量</a:t>
            </a:r>
            <a:r>
              <a:rPr lang="zh-CN" altLang="en-US" dirty="0"/>
              <a:t>（用</a:t>
            </a:r>
            <a:r>
              <a:rPr lang="en-US" altLang="zh-CN" dirty="0"/>
              <a:t>m</a:t>
            </a:r>
            <a:r>
              <a:rPr lang="zh-CN" altLang="en-US" dirty="0"/>
              <a:t>表示）一般由国家加以控制，是一个外生变量，因此需要分析的是货币的需求。</a:t>
            </a:r>
          </a:p>
        </p:txBody>
      </p:sp>
      <p:sp>
        <p:nvSpPr>
          <p:cNvPr id="4" name="标题 3">
            <a:extLst>
              <a:ext uri="{FF2B5EF4-FFF2-40B4-BE49-F238E27FC236}">
                <a16:creationId xmlns:a16="http://schemas.microsoft.com/office/drawing/2014/main" id="{C338C121-1654-FFCD-61C4-30E80AA744DA}"/>
              </a:ext>
            </a:extLst>
          </p:cNvPr>
          <p:cNvSpPr>
            <a:spLocks noGrp="1"/>
          </p:cNvSpPr>
          <p:nvPr>
            <p:ph type="title"/>
          </p:nvPr>
        </p:nvSpPr>
        <p:spPr/>
        <p:txBody>
          <a:bodyPr/>
          <a:lstStyle/>
          <a:p>
            <a:r>
              <a:rPr kumimoji="1" lang="zh-CN" altLang="en-US" dirty="0"/>
              <a:t>利率决定于货币的供给与需求</a:t>
            </a:r>
          </a:p>
        </p:txBody>
      </p:sp>
      <p:sp>
        <p:nvSpPr>
          <p:cNvPr id="2" name="灯片编号占位符 2">
            <a:extLst>
              <a:ext uri="{FF2B5EF4-FFF2-40B4-BE49-F238E27FC236}">
                <a16:creationId xmlns:a16="http://schemas.microsoft.com/office/drawing/2014/main" id="{AA816565-A898-AE6E-DE85-B42328095AA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30</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29D68768-47E3-4CA4-5C2F-81A1BC4C23B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5027230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1008" b="1" dirty="0"/>
              <a:t>流动性偏好</a:t>
            </a:r>
            <a:r>
              <a:rPr lang="zh-CN" altLang="en-US" sz="1008" dirty="0"/>
              <a:t>，就是对货币的需求。它是指由于货币具有使用上的灵活性，人们宁肯以牺牲利息收入而储存不生息的货币来保持财富的心理倾向。</a:t>
            </a:r>
            <a:endParaRPr lang="en-US" altLang="zh-CN" sz="1008" dirty="0"/>
          </a:p>
          <a:p>
            <a:r>
              <a:rPr lang="zh-CN" altLang="en-US" sz="1008" dirty="0"/>
              <a:t>人们的财富如果不以货币形式持有，而以其他形式持有，会给他们带来收益，如债券</a:t>
            </a:r>
            <a:r>
              <a:rPr lang="en-US" altLang="zh-CN" sz="1008" dirty="0"/>
              <a:t>(</a:t>
            </a:r>
            <a:r>
              <a:rPr lang="zh-CN" altLang="en-US" sz="1008" dirty="0"/>
              <a:t>债息</a:t>
            </a:r>
            <a:r>
              <a:rPr lang="en-US" altLang="zh-CN" sz="1008" dirty="0"/>
              <a:t>)</a:t>
            </a:r>
            <a:r>
              <a:rPr lang="zh-CN" altLang="en-US" sz="1008" dirty="0"/>
              <a:t>、股票</a:t>
            </a:r>
            <a:r>
              <a:rPr lang="en-US" altLang="zh-CN" sz="1008" dirty="0"/>
              <a:t>(</a:t>
            </a:r>
            <a:r>
              <a:rPr lang="zh-CN" altLang="en-US" sz="1008" dirty="0"/>
              <a:t>股息及红利</a:t>
            </a:r>
            <a:r>
              <a:rPr lang="en-US" altLang="zh-CN" sz="1008" dirty="0"/>
              <a:t>)</a:t>
            </a:r>
            <a:r>
              <a:rPr lang="zh-CN" altLang="en-US" sz="1008" dirty="0"/>
              <a:t>、房产</a:t>
            </a:r>
            <a:r>
              <a:rPr lang="en-US" altLang="zh-CN" sz="1008" dirty="0"/>
              <a:t>(</a:t>
            </a:r>
            <a:r>
              <a:rPr lang="zh-CN" altLang="en-US" sz="1008" dirty="0"/>
              <a:t>租金</a:t>
            </a:r>
            <a:r>
              <a:rPr lang="en-US" altLang="zh-CN" sz="1008" dirty="0"/>
              <a:t>)</a:t>
            </a:r>
            <a:r>
              <a:rPr lang="zh-CN" altLang="en-US" sz="1008" dirty="0"/>
              <a:t>。</a:t>
            </a:r>
            <a:endParaRPr lang="en-US" altLang="zh-CN" sz="1008" dirty="0"/>
          </a:p>
          <a:p>
            <a:r>
              <a:rPr lang="zh-CN" altLang="en-US" sz="1008" b="1" dirty="0"/>
              <a:t>持有货币的动机：</a:t>
            </a:r>
            <a:endParaRPr lang="en-US" altLang="zh-CN" sz="1008" b="1" dirty="0"/>
          </a:p>
          <a:p>
            <a:r>
              <a:rPr lang="en-US" altLang="zh-CN" sz="1008" u="sng" dirty="0"/>
              <a:t>1. </a:t>
            </a:r>
            <a:r>
              <a:rPr lang="zh-CN" altLang="en-US" sz="1008" u="sng" dirty="0"/>
              <a:t>交易动机，</a:t>
            </a:r>
            <a:r>
              <a:rPr lang="zh-CN" altLang="en-US" sz="1008" dirty="0"/>
              <a:t>指个人和企业需要货币是为了进行正常的交易活动。收入越高，交易数量越大，为应付日常开支所需的货币量就越大。</a:t>
            </a:r>
            <a:endParaRPr lang="en-US" altLang="zh-CN" sz="1008" dirty="0"/>
          </a:p>
          <a:p>
            <a:r>
              <a:rPr lang="en-US" altLang="zh-CN" sz="1008" u="sng" dirty="0"/>
              <a:t>2. </a:t>
            </a:r>
            <a:r>
              <a:rPr lang="zh-CN" altLang="en-US" sz="1008" u="sng" dirty="0"/>
              <a:t>谨慎动机或预防性动机</a:t>
            </a:r>
            <a:r>
              <a:rPr lang="zh-CN" altLang="en-US" sz="1008" dirty="0"/>
              <a:t>，指为预防意外支出而持有一部分货币的动机，如个人或企业为应付事故、失业、疾病等意外事件而需要实现持有一定数量的货币。</a:t>
            </a:r>
            <a:r>
              <a:rPr lang="en-US" altLang="zh-CN" sz="1008" dirty="0"/>
              <a:t>(</a:t>
            </a:r>
            <a:r>
              <a:rPr lang="zh-CN" altLang="en-US" sz="1008" dirty="0"/>
              <a:t>与收入成正比</a:t>
            </a:r>
            <a:r>
              <a:rPr lang="en-US" altLang="zh-CN" sz="1008" dirty="0"/>
              <a:t>)</a:t>
            </a:r>
          </a:p>
          <a:p>
            <a:r>
              <a:rPr lang="en-US" altLang="zh-CN" sz="1008" u="sng" dirty="0"/>
              <a:t>3. </a:t>
            </a:r>
            <a:r>
              <a:rPr lang="zh-CN" altLang="en-US" sz="1008" u="sng" dirty="0"/>
              <a:t>投机动机，</a:t>
            </a:r>
            <a:r>
              <a:rPr lang="zh-CN" altLang="en-US" sz="1008" dirty="0"/>
              <a:t>指人们为了抓住有利的购买有价证券的机会而持有一部分货币的动机。</a:t>
            </a:r>
            <a:r>
              <a:rPr lang="en-US" altLang="zh-CN" sz="1008" dirty="0"/>
              <a:t>(</a:t>
            </a:r>
            <a:r>
              <a:rPr lang="zh-CN" altLang="en-US" sz="1008" dirty="0"/>
              <a:t>与利率变动有关</a:t>
            </a:r>
            <a:r>
              <a:rPr lang="en-US" altLang="zh-CN" sz="1008" dirty="0"/>
              <a:t>)</a:t>
            </a:r>
          </a:p>
          <a:p>
            <a:endParaRPr lang="en-US" altLang="zh-CN" sz="1008" dirty="0"/>
          </a:p>
          <a:p>
            <a:endParaRPr lang="zh-CN" altLang="en-US" sz="1008" dirty="0"/>
          </a:p>
        </p:txBody>
      </p:sp>
      <p:sp>
        <p:nvSpPr>
          <p:cNvPr id="4" name="标题 3">
            <a:extLst>
              <a:ext uri="{FF2B5EF4-FFF2-40B4-BE49-F238E27FC236}">
                <a16:creationId xmlns:a16="http://schemas.microsoft.com/office/drawing/2014/main" id="{F53C21B7-3175-E5E7-04C6-C2ADFFB431C7}"/>
              </a:ext>
            </a:extLst>
          </p:cNvPr>
          <p:cNvSpPr>
            <a:spLocks noGrp="1"/>
          </p:cNvSpPr>
          <p:nvPr>
            <p:ph type="title"/>
          </p:nvPr>
        </p:nvSpPr>
        <p:spPr/>
        <p:txBody>
          <a:bodyPr/>
          <a:lstStyle/>
          <a:p>
            <a:r>
              <a:rPr kumimoji="1" lang="zh-CN" altLang="en-US" dirty="0"/>
              <a:t>流动性偏好和货币需求动机</a:t>
            </a:r>
          </a:p>
        </p:txBody>
      </p:sp>
      <p:sp>
        <p:nvSpPr>
          <p:cNvPr id="2" name="灯片编号占位符 2">
            <a:extLst>
              <a:ext uri="{FF2B5EF4-FFF2-40B4-BE49-F238E27FC236}">
                <a16:creationId xmlns:a16="http://schemas.microsoft.com/office/drawing/2014/main" id="{A2F2BDEC-203A-7D4E-3FBC-F1309318DA8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31</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8BF9F9A2-B9FF-CFC5-198D-EC3D8E3AE39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070025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1210" dirty="0"/>
              <a:t>对</a:t>
            </a:r>
            <a:r>
              <a:rPr lang="zh-CN" altLang="en-US" sz="1210" b="1" u="sng" dirty="0"/>
              <a:t>利率的预期</a:t>
            </a:r>
            <a:r>
              <a:rPr lang="zh-CN" altLang="en-US" sz="1210" dirty="0"/>
              <a:t>是人们调节货币和债券配置比例的重要依据，利率越高，货币需求量越小。当利率极高时，这一需求量为零。</a:t>
            </a:r>
            <a:endParaRPr lang="en-US" altLang="zh-CN" sz="1210" dirty="0"/>
          </a:p>
          <a:p>
            <a:r>
              <a:rPr lang="zh-CN" altLang="en-US" sz="1210" b="1" dirty="0"/>
              <a:t>当利率极低时，人们会认为这时利率不大可能再下降，或者说有价证券价格不大可能再上升而只会跌落，</a:t>
            </a:r>
            <a:r>
              <a:rPr lang="zh-CN" altLang="en-US" sz="1210" dirty="0"/>
              <a:t>因而会将有价证券全部换成货币。</a:t>
            </a:r>
            <a:endParaRPr lang="en-US" altLang="zh-CN" sz="1210" dirty="0"/>
          </a:p>
          <a:p>
            <a:r>
              <a:rPr lang="zh-CN" altLang="en-US" sz="1210" dirty="0"/>
              <a:t>人们有了货币也决不肯再去买有价证券，以免证券价格下跌时遭受损失，</a:t>
            </a:r>
            <a:r>
              <a:rPr lang="zh-CN" altLang="en-US" sz="1210" b="1" dirty="0"/>
              <a:t>人们不管有多少货币都愿意持在手中，这种情况称为</a:t>
            </a:r>
            <a:r>
              <a:rPr lang="en-US" altLang="zh-CN" sz="1210" b="1" dirty="0"/>
              <a:t>”</a:t>
            </a:r>
            <a:r>
              <a:rPr lang="zh-CN" altLang="en-US" sz="1210" b="1" dirty="0"/>
              <a:t>凯恩斯陷阱</a:t>
            </a:r>
            <a:r>
              <a:rPr lang="en-US" altLang="zh-CN" sz="1210" b="1" dirty="0"/>
              <a:t>”</a:t>
            </a:r>
            <a:r>
              <a:rPr lang="zh-CN" altLang="en-US" sz="1210" b="1" dirty="0"/>
              <a:t>或</a:t>
            </a:r>
            <a:r>
              <a:rPr lang="en-US" altLang="zh-CN" sz="1210" b="1" dirty="0"/>
              <a:t>”</a:t>
            </a:r>
            <a:r>
              <a:rPr lang="zh-CN" altLang="en-US" sz="1210" b="1" dirty="0"/>
              <a:t>流动性陷阱</a:t>
            </a:r>
            <a:r>
              <a:rPr lang="en-US" altLang="zh-CN" sz="1210" b="1" dirty="0"/>
              <a:t>”</a:t>
            </a:r>
            <a:r>
              <a:rPr lang="zh-CN" altLang="en-US" sz="1210" dirty="0"/>
              <a:t>。</a:t>
            </a:r>
          </a:p>
        </p:txBody>
      </p:sp>
      <p:sp>
        <p:nvSpPr>
          <p:cNvPr id="4" name="标题 3">
            <a:extLst>
              <a:ext uri="{FF2B5EF4-FFF2-40B4-BE49-F238E27FC236}">
                <a16:creationId xmlns:a16="http://schemas.microsoft.com/office/drawing/2014/main" id="{DC5B6950-16E9-AFCC-B071-EE9F89FDD9FD}"/>
              </a:ext>
            </a:extLst>
          </p:cNvPr>
          <p:cNvSpPr>
            <a:spLocks noGrp="1"/>
          </p:cNvSpPr>
          <p:nvPr>
            <p:ph type="title"/>
          </p:nvPr>
        </p:nvSpPr>
        <p:spPr/>
        <p:txBody>
          <a:bodyPr/>
          <a:lstStyle/>
          <a:p>
            <a:r>
              <a:rPr kumimoji="1" lang="zh-CN" altLang="en-US" dirty="0"/>
              <a:t>流动性偏好陷阱</a:t>
            </a:r>
          </a:p>
        </p:txBody>
      </p:sp>
      <p:sp>
        <p:nvSpPr>
          <p:cNvPr id="2" name="灯片编号占位符 2">
            <a:extLst>
              <a:ext uri="{FF2B5EF4-FFF2-40B4-BE49-F238E27FC236}">
                <a16:creationId xmlns:a16="http://schemas.microsoft.com/office/drawing/2014/main" id="{C87E5998-5538-02FD-615D-A991FDFFC07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32</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A75C73A8-AEF9-375B-0019-68B2AA5876E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2166965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10" dirty="0"/>
                  <a:t>对货币的总需求是人们对货币的交易需求、预防需求和投机需求的总和。货币的交易需求、预防需求决定于收入，而货币的投机需求决定于利率，因此，货币总需求可描述为：</a:t>
                </a:r>
                <a:endParaRPr lang="en-US" altLang="zh-CN" sz="1210" dirty="0"/>
              </a:p>
              <a:p>
                <a14:m>
                  <m:oMath xmlns:m="http://schemas.openxmlformats.org/officeDocument/2006/math">
                    <m:r>
                      <a:rPr lang="en-US" altLang="zh-CN" sz="1210" i="1">
                        <a:latin typeface="Cambria Math" panose="02040503050406030204" pitchFamily="18" charset="0"/>
                      </a:rPr>
                      <m:t>𝐿</m:t>
                    </m:r>
                    <m:r>
                      <a:rPr lang="en-US" altLang="zh-CN" sz="1210" i="1">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𝐿</m:t>
                        </m:r>
                      </m:e>
                      <m:sub>
                        <m:r>
                          <a:rPr lang="en-US" altLang="zh-CN" sz="1210" i="1">
                            <a:latin typeface="Cambria Math" panose="02040503050406030204" pitchFamily="18" charset="0"/>
                          </a:rPr>
                          <m:t>1</m:t>
                        </m:r>
                      </m:sub>
                    </m:sSub>
                    <m:r>
                      <a:rPr lang="en-US" altLang="zh-CN" sz="1210" i="1">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𝐿</m:t>
                        </m:r>
                      </m:e>
                      <m:sub>
                        <m:r>
                          <a:rPr lang="en-US" altLang="zh-CN" sz="1210" i="1">
                            <a:latin typeface="Cambria Math" panose="02040503050406030204" pitchFamily="18" charset="0"/>
                          </a:rPr>
                          <m:t>2</m:t>
                        </m:r>
                      </m:sub>
                    </m:sSub>
                    <m:r>
                      <a:rPr lang="en-US" altLang="zh-CN" sz="1210" i="1">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𝐿</m:t>
                        </m:r>
                      </m:e>
                      <m:sub>
                        <m:r>
                          <a:rPr lang="en-US" altLang="zh-CN" sz="1210" i="1">
                            <a:latin typeface="Cambria Math" panose="02040503050406030204" pitchFamily="18" charset="0"/>
                          </a:rPr>
                          <m:t>1</m:t>
                        </m:r>
                      </m:sub>
                    </m:sSub>
                    <m:d>
                      <m:dPr>
                        <m:ctrlPr>
                          <a:rPr lang="en-US" altLang="zh-CN" sz="1210" i="1">
                            <a:latin typeface="Cambria Math" panose="02040503050406030204" pitchFamily="18" charset="0"/>
                          </a:rPr>
                        </m:ctrlPr>
                      </m:dPr>
                      <m:e>
                        <m:r>
                          <a:rPr lang="en-US" altLang="zh-CN" sz="1210" i="1">
                            <a:latin typeface="Cambria Math" panose="02040503050406030204" pitchFamily="18" charset="0"/>
                          </a:rPr>
                          <m:t>𝑦</m:t>
                        </m:r>
                      </m:e>
                    </m:d>
                    <m:r>
                      <a:rPr lang="en-US" altLang="zh-CN" sz="1210" i="1">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𝐿</m:t>
                        </m:r>
                      </m:e>
                      <m:sub>
                        <m:r>
                          <a:rPr lang="en-US" altLang="zh-CN" sz="1210" i="1">
                            <a:latin typeface="Cambria Math" panose="02040503050406030204" pitchFamily="18" charset="0"/>
                          </a:rPr>
                          <m:t>2</m:t>
                        </m:r>
                      </m:sub>
                    </m:sSub>
                    <m:d>
                      <m:dPr>
                        <m:ctrlPr>
                          <a:rPr lang="en-US" altLang="zh-CN" sz="1210" i="1">
                            <a:latin typeface="Cambria Math" panose="02040503050406030204" pitchFamily="18" charset="0"/>
                          </a:rPr>
                        </m:ctrlPr>
                      </m:dPr>
                      <m:e>
                        <m:r>
                          <a:rPr lang="en-US" altLang="zh-CN" sz="1210" i="1">
                            <a:latin typeface="Cambria Math" panose="02040503050406030204" pitchFamily="18" charset="0"/>
                          </a:rPr>
                          <m:t>𝑟</m:t>
                        </m:r>
                      </m:e>
                    </m:d>
                    <m:r>
                      <a:rPr lang="en-US" altLang="zh-CN" sz="1210" i="1">
                        <a:latin typeface="Cambria Math" panose="02040503050406030204" pitchFamily="18" charset="0"/>
                      </a:rPr>
                      <m:t>=</m:t>
                    </m:r>
                    <m:r>
                      <a:rPr lang="en-US" altLang="zh-CN" sz="1210" i="1">
                        <a:latin typeface="Cambria Math" panose="02040503050406030204" pitchFamily="18" charset="0"/>
                      </a:rPr>
                      <m:t>𝑘𝑦</m:t>
                    </m:r>
                    <m:r>
                      <a:rPr lang="en-US" altLang="zh-CN" sz="1210" i="1">
                        <a:latin typeface="Cambria Math" panose="02040503050406030204" pitchFamily="18" charset="0"/>
                      </a:rPr>
                      <m:t>−</m:t>
                    </m:r>
                    <m:r>
                      <a:rPr lang="en-US" altLang="zh-CN" sz="1210" i="1">
                        <a:latin typeface="Cambria Math" panose="02040503050406030204" pitchFamily="18" charset="0"/>
                      </a:rPr>
                      <m:t>h𝑟</m:t>
                    </m:r>
                  </m:oMath>
                </a14:m>
                <a:endParaRPr lang="en-US" altLang="zh-CN" sz="1210" dirty="0"/>
              </a:p>
              <a:p>
                <a14:m>
                  <m:oMath xmlns:m="http://schemas.openxmlformats.org/officeDocument/2006/math">
                    <m:r>
                      <a:rPr lang="en-US" altLang="zh-CN" sz="1210" i="1">
                        <a:latin typeface="Cambria Math" panose="02040503050406030204" pitchFamily="18" charset="0"/>
                      </a:rPr>
                      <m:t>𝐿</m:t>
                    </m:r>
                    <m:r>
                      <a:rPr lang="en-US" altLang="zh-CN" sz="1210">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𝐿</m:t>
                        </m:r>
                      </m:e>
                      <m:sub>
                        <m:r>
                          <a:rPr lang="en-US" altLang="zh-CN" sz="1210" i="1">
                            <a:latin typeface="Cambria Math" panose="02040503050406030204" pitchFamily="18" charset="0"/>
                          </a:rPr>
                          <m:t>1</m:t>
                        </m:r>
                      </m:sub>
                    </m:sSub>
                    <m:r>
                      <a:rPr lang="en-US" altLang="zh-CN" sz="1210" i="1">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𝐿</m:t>
                        </m:r>
                      </m:e>
                      <m:sub>
                        <m:r>
                          <a:rPr lang="en-US" altLang="zh-CN" sz="1210" i="1">
                            <a:latin typeface="Cambria Math" panose="02040503050406030204" pitchFamily="18" charset="0"/>
                          </a:rPr>
                          <m:t>2</m:t>
                        </m:r>
                      </m:sub>
                    </m:sSub>
                  </m:oMath>
                </a14:m>
                <a:r>
                  <a:rPr lang="zh-CN" altLang="en-US" sz="1210" dirty="0"/>
                  <a:t>都是代表对货币的</a:t>
                </a:r>
                <a:r>
                  <a:rPr lang="zh-CN" altLang="en-US" sz="1210" b="1" dirty="0"/>
                  <a:t>实际需求</a:t>
                </a:r>
                <a:r>
                  <a:rPr lang="zh-CN" altLang="en-US" sz="1210" dirty="0"/>
                  <a:t>，即具有</a:t>
                </a:r>
                <a:r>
                  <a:rPr lang="zh-CN" altLang="en-US" sz="1210" b="1" dirty="0"/>
                  <a:t>不变购买力</a:t>
                </a:r>
                <a:r>
                  <a:rPr lang="zh-CN" altLang="en-US" sz="1210" dirty="0"/>
                  <a:t>的</a:t>
                </a:r>
                <a:r>
                  <a:rPr lang="zh-CN" altLang="en-US" sz="1210" b="1" dirty="0"/>
                  <a:t>实际货币需求量</a:t>
                </a:r>
                <a:r>
                  <a:rPr lang="zh-CN" altLang="en-US" sz="1210" dirty="0"/>
                  <a:t>。</a:t>
                </a:r>
                <a:endParaRPr lang="en-US" altLang="zh-CN" sz="1210" dirty="0"/>
              </a:p>
              <a:p>
                <a:r>
                  <a:rPr lang="zh-CN" altLang="en-US" sz="1210" dirty="0"/>
                  <a:t>名义货币量是不管货币购买力如何而仅计算其票面值的货币量。把名义货币量折算成具有不变购买力的实际货币量，必须用</a:t>
                </a:r>
                <a:r>
                  <a:rPr lang="zh-CN" altLang="en-US" sz="1210" u="sng" dirty="0"/>
                  <a:t>价格指数</a:t>
                </a:r>
                <a:r>
                  <a:rPr lang="zh-CN" altLang="en-US" sz="1210" dirty="0"/>
                  <a:t>加以调整。</a:t>
                </a:r>
                <a:endParaRPr lang="en-US" altLang="zh-CN" sz="1210" dirty="0"/>
              </a:p>
              <a:p>
                <a14:m>
                  <m:oMath xmlns:m="http://schemas.openxmlformats.org/officeDocument/2006/math">
                    <m:r>
                      <a:rPr lang="en-US" altLang="zh-CN" sz="1210" i="1">
                        <a:latin typeface="Cambria Math" panose="02040503050406030204" pitchFamily="18" charset="0"/>
                      </a:rPr>
                      <m:t>𝑚</m:t>
                    </m:r>
                    <m:r>
                      <a:rPr lang="en-US" altLang="zh-CN" sz="1210" i="1">
                        <a:latin typeface="Cambria Math" panose="02040503050406030204" pitchFamily="18" charset="0"/>
                      </a:rPr>
                      <m:t>=</m:t>
                    </m:r>
                    <m:f>
                      <m:fPr>
                        <m:ctrlPr>
                          <a:rPr lang="en-US" altLang="zh-CN" sz="1210" i="1">
                            <a:latin typeface="Cambria Math" panose="02040503050406030204" pitchFamily="18" charset="0"/>
                          </a:rPr>
                        </m:ctrlPr>
                      </m:fPr>
                      <m:num>
                        <m:r>
                          <a:rPr lang="en-US" altLang="zh-CN" sz="1210" i="1">
                            <a:latin typeface="Cambria Math" panose="02040503050406030204" pitchFamily="18" charset="0"/>
                          </a:rPr>
                          <m:t>𝑀</m:t>
                        </m:r>
                      </m:num>
                      <m:den>
                        <m:r>
                          <a:rPr lang="en-US" altLang="zh-CN" sz="1210" i="1">
                            <a:latin typeface="Cambria Math" panose="02040503050406030204" pitchFamily="18" charset="0"/>
                          </a:rPr>
                          <m:t>𝑃</m:t>
                        </m:r>
                      </m:den>
                    </m:f>
                  </m:oMath>
                </a14:m>
                <a:endParaRPr lang="en-US" altLang="zh-CN" sz="121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005" t="-1821" r="-232"/>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F2678BC3-CA07-5131-1D06-EE385A7C4433}"/>
              </a:ext>
            </a:extLst>
          </p:cNvPr>
          <p:cNvSpPr>
            <a:spLocks noGrp="1"/>
          </p:cNvSpPr>
          <p:nvPr>
            <p:ph type="title"/>
          </p:nvPr>
        </p:nvSpPr>
        <p:spPr/>
        <p:txBody>
          <a:bodyPr/>
          <a:lstStyle/>
          <a:p>
            <a:r>
              <a:rPr kumimoji="1" lang="zh-CN" altLang="en-US" dirty="0"/>
              <a:t>货币需求函数</a:t>
            </a:r>
          </a:p>
        </p:txBody>
      </p:sp>
      <p:sp>
        <p:nvSpPr>
          <p:cNvPr id="2" name="灯片编号占位符 2">
            <a:extLst>
              <a:ext uri="{FF2B5EF4-FFF2-40B4-BE49-F238E27FC236}">
                <a16:creationId xmlns:a16="http://schemas.microsoft.com/office/drawing/2014/main" id="{4FB203F0-850A-5D15-965B-CDE52C8BC16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33</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7D9706C5-2717-9BD0-5551-D45A566E5AF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696021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6435" y="471047"/>
                <a:ext cx="4186776" cy="2483464"/>
              </a:xfrm>
            </p:spPr>
            <p:txBody>
              <a:bodyPr/>
              <a:lstStyle/>
              <a:p>
                <a:r>
                  <a:rPr lang="zh-CN" altLang="en-US" sz="1210" dirty="0">
                    <a:latin typeface="Cambria Math" panose="02040503050406030204" pitchFamily="18" charset="0"/>
                  </a:rPr>
                  <a:t>由于</a:t>
                </a:r>
                <a14:m>
                  <m:oMath xmlns:m="http://schemas.openxmlformats.org/officeDocument/2006/math">
                    <m:r>
                      <a:rPr lang="en-US" altLang="zh-CN" sz="1210" i="1">
                        <a:latin typeface="Cambria Math" panose="02040503050406030204" pitchFamily="18" charset="0"/>
                      </a:rPr>
                      <m:t>𝐿</m:t>
                    </m:r>
                    <m:r>
                      <a:rPr lang="en-US" altLang="zh-CN" sz="1210" i="1">
                        <a:latin typeface="Cambria Math" panose="02040503050406030204" pitchFamily="18" charset="0"/>
                      </a:rPr>
                      <m:t>=</m:t>
                    </m:r>
                    <m:r>
                      <a:rPr lang="en-US" altLang="zh-CN" sz="1210" i="1">
                        <a:latin typeface="Cambria Math" panose="02040503050406030204" pitchFamily="18" charset="0"/>
                      </a:rPr>
                      <m:t>𝑘𝑦</m:t>
                    </m:r>
                    <m:r>
                      <a:rPr lang="en-US" altLang="zh-CN" sz="1210" i="1">
                        <a:latin typeface="Cambria Math" panose="02040503050406030204" pitchFamily="18" charset="0"/>
                      </a:rPr>
                      <m:t>−</m:t>
                    </m:r>
                    <m:r>
                      <a:rPr lang="en-US" altLang="zh-CN" sz="1210" i="1">
                        <a:latin typeface="Cambria Math" panose="02040503050406030204" pitchFamily="18" charset="0"/>
                      </a:rPr>
                      <m:t>h𝑟</m:t>
                    </m:r>
                  </m:oMath>
                </a14:m>
                <a:r>
                  <a:rPr lang="zh-CN" altLang="en-US" sz="1210" dirty="0"/>
                  <a:t>仅代表对货币的实际需求量或者说需要的实际货币量。因此，名义货币需求函数还需要乘以价格指数：</a:t>
                </a:r>
                <a:endParaRPr lang="en-US" altLang="zh-CN" sz="1210" dirty="0"/>
              </a:p>
              <a:p>
                <a14:m>
                  <m:oMath xmlns:m="http://schemas.openxmlformats.org/officeDocument/2006/math">
                    <m:r>
                      <a:rPr lang="en-US" altLang="zh-CN" sz="1210" i="1">
                        <a:latin typeface="Cambria Math" panose="02040503050406030204" pitchFamily="18" charset="0"/>
                      </a:rPr>
                      <m:t>𝐿</m:t>
                    </m:r>
                    <m:r>
                      <a:rPr lang="en-US" altLang="zh-CN" sz="1210" i="1">
                        <a:latin typeface="Cambria Math" panose="02040503050406030204" pitchFamily="18" charset="0"/>
                      </a:rPr>
                      <m:t>=</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𝑘𝑦</m:t>
                        </m:r>
                        <m:r>
                          <a:rPr lang="en-US" altLang="zh-CN" sz="1210" i="1">
                            <a:latin typeface="Cambria Math" panose="02040503050406030204" pitchFamily="18" charset="0"/>
                          </a:rPr>
                          <m:t>−</m:t>
                        </m:r>
                        <m:r>
                          <a:rPr lang="en-US" altLang="zh-CN" sz="1210" i="1">
                            <a:latin typeface="Cambria Math" panose="02040503050406030204" pitchFamily="18" charset="0"/>
                          </a:rPr>
                          <m:t>h𝑟</m:t>
                        </m:r>
                      </m:e>
                    </m:d>
                    <m:r>
                      <a:rPr lang="en-US" altLang="zh-CN" sz="1210" i="1">
                        <a:latin typeface="Cambria Math" panose="02040503050406030204" pitchFamily="18" charset="0"/>
                      </a:rPr>
                      <m:t>𝑃</m:t>
                    </m:r>
                  </m:oMath>
                </a14:m>
                <a:endParaRPr lang="en-US" altLang="zh-CN" sz="1210" dirty="0"/>
              </a:p>
              <a:p>
                <a:r>
                  <a:rPr lang="zh-CN" altLang="en-US" sz="1210" dirty="0"/>
                  <a:t>上式代表的是实际货币需求函数。</a:t>
                </a:r>
                <a:endParaRPr lang="en-US" altLang="zh-CN" sz="1210" dirty="0"/>
              </a:p>
              <a:p>
                <a:r>
                  <a:rPr lang="zh-CN" altLang="en-US" sz="1210" dirty="0"/>
                  <a:t>式中</a:t>
                </a:r>
                <a14:m>
                  <m:oMath xmlns:m="http://schemas.openxmlformats.org/officeDocument/2006/math">
                    <m:r>
                      <a:rPr lang="en-US" altLang="zh-CN" sz="1210" i="1">
                        <a:latin typeface="Cambria Math" panose="02040503050406030204" pitchFamily="18" charset="0"/>
                      </a:rPr>
                      <m:t>𝑘</m:t>
                    </m:r>
                  </m:oMath>
                </a14:m>
                <a:r>
                  <a:rPr lang="zh-CN" altLang="en-US" sz="1210" dirty="0"/>
                  <a:t>和</a:t>
                </a:r>
                <a14:m>
                  <m:oMath xmlns:m="http://schemas.openxmlformats.org/officeDocument/2006/math">
                    <m:r>
                      <a:rPr lang="en-US" altLang="zh-CN" sz="1210" i="1">
                        <a:latin typeface="Cambria Math" panose="02040503050406030204" pitchFamily="18" charset="0"/>
                      </a:rPr>
                      <m:t>h</m:t>
                    </m:r>
                  </m:oMath>
                </a14:m>
                <a:r>
                  <a:rPr lang="zh-CN" altLang="en-US" sz="1210" dirty="0"/>
                  <a:t>是常数。</a:t>
                </a:r>
                <a:endParaRPr lang="en-US" altLang="zh-CN" sz="1210" i="1" dirty="0">
                  <a:latin typeface="Cambria Math" panose="02040503050406030204" pitchFamily="18" charset="0"/>
                </a:endParaRPr>
              </a:p>
              <a:p>
                <a14:m>
                  <m:oMath xmlns:m="http://schemas.openxmlformats.org/officeDocument/2006/math">
                    <m:r>
                      <a:rPr lang="en-US" altLang="zh-CN" sz="1210" i="1">
                        <a:latin typeface="Cambria Math" panose="02040503050406030204" pitchFamily="18" charset="0"/>
                      </a:rPr>
                      <m:t>𝑘</m:t>
                    </m:r>
                  </m:oMath>
                </a14:m>
                <a:r>
                  <a:rPr lang="zh-CN" altLang="en-US" sz="1210" dirty="0"/>
                  <a:t>衡量收入增加时货币需求增加多少，这是货币需求关于收入变动的系数。</a:t>
                </a:r>
                <a:endParaRPr lang="en-US" altLang="zh-CN" sz="1210" dirty="0"/>
              </a:p>
              <a:p>
                <a14:m>
                  <m:oMath xmlns:m="http://schemas.openxmlformats.org/officeDocument/2006/math">
                    <m:r>
                      <a:rPr lang="en-US" altLang="zh-CN" sz="1210" i="1">
                        <a:latin typeface="Cambria Math" panose="02040503050406030204" pitchFamily="18" charset="0"/>
                      </a:rPr>
                      <m:t>h</m:t>
                    </m:r>
                  </m:oMath>
                </a14:m>
                <a:r>
                  <a:rPr lang="zh-CN" altLang="en-US" sz="1210" dirty="0"/>
                  <a:t>衡量利率提高时货币需求变动多少，这是货币需求关于利率变动的系数。</a:t>
                </a:r>
                <a:endParaRPr lang="en-US" altLang="zh-CN" sz="1210" dirty="0"/>
              </a:p>
              <a:p>
                <a:endParaRPr lang="zh-CN" altLang="en-US" sz="121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6435" y="471047"/>
                <a:ext cx="4186776" cy="2483464"/>
              </a:xfrm>
              <a:blipFill>
                <a:blip r:embed="rId2"/>
                <a:stretch>
                  <a:fillRect l="-302" t="-1015"/>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6DE5939F-7261-49CF-922D-49F8F179E6D8}"/>
              </a:ext>
            </a:extLst>
          </p:cNvPr>
          <p:cNvSpPr>
            <a:spLocks noGrp="1"/>
          </p:cNvSpPr>
          <p:nvPr>
            <p:ph type="title"/>
          </p:nvPr>
        </p:nvSpPr>
        <p:spPr/>
        <p:txBody>
          <a:bodyPr/>
          <a:lstStyle/>
          <a:p>
            <a:r>
              <a:rPr kumimoji="1" lang="zh-CN" altLang="en-US" dirty="0"/>
              <a:t>货币需求函数</a:t>
            </a:r>
          </a:p>
        </p:txBody>
      </p:sp>
      <p:sp>
        <p:nvSpPr>
          <p:cNvPr id="2" name="灯片编号占位符 2">
            <a:extLst>
              <a:ext uri="{FF2B5EF4-FFF2-40B4-BE49-F238E27FC236}">
                <a16:creationId xmlns:a16="http://schemas.microsoft.com/office/drawing/2014/main" id="{A9D94131-1348-F4F2-2208-5A341040715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34</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36C767D4-0798-2563-9199-225311EAF08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6059358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xf1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9943" y="249640"/>
            <a:ext cx="2116964" cy="2541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2493897" y="2787472"/>
            <a:ext cx="1872208" cy="230832"/>
          </a:xfrm>
          <a:prstGeom prst="rect">
            <a:avLst/>
          </a:prstGeom>
        </p:spPr>
        <p:txBody>
          <a:bodyPr wrap="square">
            <a:spAutoFit/>
          </a:bodyPr>
          <a:lstStyle/>
          <a:p>
            <a:pPr algn="ctr"/>
            <a:r>
              <a:rPr lang="zh-CN" altLang="en-US" sz="900" b="1" dirty="0">
                <a:latin typeface="KaiTi" panose="02010609060101010101" pitchFamily="49" charset="-122"/>
                <a:ea typeface="KaiTi" panose="02010609060101010101" pitchFamily="49" charset="-122"/>
              </a:rPr>
              <a:t>货币需求曲线</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88826" y="248231"/>
                <a:ext cx="2232248" cy="2689529"/>
              </a:xfrm>
            </p:spPr>
            <p:txBody>
              <a:bodyPr/>
              <a:lstStyle/>
              <a:p>
                <a:r>
                  <a:rPr lang="zh-CN" altLang="en-US" sz="1210" dirty="0"/>
                  <a:t>图</a:t>
                </a:r>
                <a:r>
                  <a:rPr lang="en-US" altLang="zh-CN" sz="1210" dirty="0"/>
                  <a:t>(a)</a:t>
                </a:r>
                <a:r>
                  <a:rPr lang="zh-CN" altLang="en-US" sz="1210" dirty="0"/>
                  <a:t>中的</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𝐿</m:t>
                        </m:r>
                      </m:e>
                      <m:sub>
                        <m:r>
                          <a:rPr lang="en-US" altLang="zh-CN" sz="1210" i="1">
                            <a:latin typeface="Cambria Math" panose="02040503050406030204" pitchFamily="18" charset="0"/>
                          </a:rPr>
                          <m:t>1</m:t>
                        </m:r>
                      </m:sub>
                    </m:sSub>
                  </m:oMath>
                </a14:m>
                <a:r>
                  <a:rPr lang="zh-CN" altLang="en-US" sz="1210" dirty="0"/>
                  <a:t>表示为满足交易动机和谨慎动机的货币需求曲线，它与利率无关。</a:t>
                </a:r>
                <a:endParaRPr lang="en-US" altLang="zh-CN" sz="1210" dirty="0"/>
              </a:p>
              <a:p>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𝐿</m:t>
                        </m:r>
                      </m:e>
                      <m:sub>
                        <m:r>
                          <a:rPr lang="en-US" altLang="zh-CN" sz="1210" i="1">
                            <a:latin typeface="Cambria Math" panose="02040503050406030204" pitchFamily="18" charset="0"/>
                          </a:rPr>
                          <m:t>2</m:t>
                        </m:r>
                      </m:sub>
                    </m:sSub>
                    <m:r>
                      <a:rPr lang="zh-CN" altLang="en-US" sz="1210" i="1">
                        <a:latin typeface="Cambria Math" panose="02040503050406030204" pitchFamily="18" charset="0"/>
                      </a:rPr>
                      <m:t>表示</m:t>
                    </m:r>
                  </m:oMath>
                </a14:m>
                <a:r>
                  <a:rPr lang="zh-CN" altLang="en-US" sz="1210" dirty="0"/>
                  <a:t>满足投机动机的货币需求曲线，起初向下倾斜，表示货币的投机需求量随利率下降而增加，最后为水平状，表示</a:t>
                </a:r>
                <a:r>
                  <a:rPr lang="en-US" altLang="zh-CN" sz="1210" dirty="0"/>
                  <a:t>”</a:t>
                </a:r>
                <a:r>
                  <a:rPr lang="zh-CN" altLang="en-US" sz="1210" dirty="0"/>
                  <a:t>流动偏好陷阱</a:t>
                </a:r>
                <a:r>
                  <a:rPr lang="en-US" altLang="zh-CN" sz="1210" dirty="0"/>
                  <a:t>”</a:t>
                </a:r>
                <a:r>
                  <a:rPr lang="zh-CN" altLang="en-US" sz="1210" dirty="0"/>
                  <a:t>。</a:t>
                </a:r>
                <a:endParaRPr lang="en-US" altLang="zh-CN" sz="1210" dirty="0"/>
              </a:p>
              <a:p>
                <a:r>
                  <a:rPr lang="zh-CN" altLang="en-US" sz="1210" dirty="0"/>
                  <a:t>图</a:t>
                </a:r>
                <a:r>
                  <a:rPr lang="en-US" altLang="zh-CN" sz="1210" dirty="0"/>
                  <a:t>(a)</a:t>
                </a:r>
                <a:r>
                  <a:rPr lang="zh-CN" altLang="en-US" sz="1210" dirty="0"/>
                  <a:t>中的</a:t>
                </a:r>
                <a14:m>
                  <m:oMath xmlns:m="http://schemas.openxmlformats.org/officeDocument/2006/math">
                    <m:r>
                      <a:rPr lang="en-US" altLang="zh-CN" sz="1210" i="1">
                        <a:latin typeface="Cambria Math" panose="02040503050406030204" pitchFamily="18" charset="0"/>
                      </a:rPr>
                      <m:t>𝐿</m:t>
                    </m:r>
                    <m:r>
                      <a:rPr lang="zh-CN" altLang="en-US" sz="1210" i="1">
                        <a:latin typeface="Cambria Math" panose="02040503050406030204" pitchFamily="18" charset="0"/>
                      </a:rPr>
                      <m:t>则</m:t>
                    </m:r>
                  </m:oMath>
                </a14:m>
                <a:r>
                  <a:rPr lang="zh-CN" altLang="en-US" sz="1210" dirty="0"/>
                  <a:t>是包括</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𝐿</m:t>
                        </m:r>
                      </m:e>
                      <m:sub>
                        <m:r>
                          <a:rPr lang="en-US" altLang="zh-CN" sz="1210" i="1">
                            <a:latin typeface="Cambria Math" panose="02040503050406030204" pitchFamily="18" charset="0"/>
                          </a:rPr>
                          <m:t>1</m:t>
                        </m:r>
                      </m:sub>
                    </m:sSub>
                  </m:oMath>
                </a14:m>
                <a:r>
                  <a:rPr lang="zh-CN" altLang="en-US" sz="1210" dirty="0"/>
                  <a:t>和</a:t>
                </a:r>
                <a14:m>
                  <m:oMath xmlns:m="http://schemas.openxmlformats.org/officeDocument/2006/math">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𝐿</m:t>
                        </m:r>
                      </m:e>
                      <m:sub>
                        <m:r>
                          <a:rPr lang="en-US" altLang="zh-CN" sz="1210" i="1">
                            <a:latin typeface="Cambria Math" panose="02040503050406030204" pitchFamily="18" charset="0"/>
                          </a:rPr>
                          <m:t>2</m:t>
                        </m:r>
                      </m:sub>
                    </m:sSub>
                  </m:oMath>
                </a14:m>
                <a:r>
                  <a:rPr lang="zh-CN" altLang="en-US" sz="1210" dirty="0"/>
                  <a:t>在内的全部货币需求曲线。</a:t>
                </a:r>
                <a:endParaRPr lang="en-US" altLang="zh-CN" sz="1210" dirty="0"/>
              </a:p>
              <a:p>
                <a:r>
                  <a:rPr lang="zh-CN" altLang="en-US" sz="1210" dirty="0"/>
                  <a:t>由于具有不变购买力的实际货币一般用</a:t>
                </a:r>
                <a:r>
                  <a:rPr lang="en-US" altLang="zh-CN" sz="1210" dirty="0"/>
                  <a:t>m</a:t>
                </a:r>
                <a:r>
                  <a:rPr lang="zh-CN" altLang="en-US" sz="1210" dirty="0"/>
                  <a:t>表示，因此横轴也可用</a:t>
                </a:r>
                <a:r>
                  <a:rPr lang="en-US" altLang="zh-CN" sz="1210" dirty="0"/>
                  <a:t>m</a:t>
                </a:r>
                <a:r>
                  <a:rPr lang="zh-CN" altLang="en-US" sz="1210" dirty="0"/>
                  <a:t>表示。</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88826" y="248231"/>
                <a:ext cx="2232248" cy="2689529"/>
              </a:xfrm>
              <a:blipFill>
                <a:blip r:embed="rId3"/>
                <a:stretch>
                  <a:fillRect l="-565" t="-1408" b="-7512"/>
                </a:stretch>
              </a:blipFill>
            </p:spPr>
            <p:txBody>
              <a:bodyPr/>
              <a:lstStyle/>
              <a:p>
                <a:r>
                  <a:rPr lang="zh-CN" altLang="en-US">
                    <a:noFill/>
                  </a:rPr>
                  <a:t> </a:t>
                </a:r>
              </a:p>
            </p:txBody>
          </p:sp>
        </mc:Fallback>
      </mc:AlternateContent>
      <p:sp>
        <p:nvSpPr>
          <p:cNvPr id="2" name="灯片编号占位符 2">
            <a:extLst>
              <a:ext uri="{FF2B5EF4-FFF2-40B4-BE49-F238E27FC236}">
                <a16:creationId xmlns:a16="http://schemas.microsoft.com/office/drawing/2014/main" id="{868F9887-2223-0530-E6C0-8ABD672250D6}"/>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35</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35C0971D-2D46-36AD-12BD-1E04861FF41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7325617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41998" y="472568"/>
            <a:ext cx="3976211" cy="227856"/>
          </a:xfrm>
        </p:spPr>
        <p:txBody>
          <a:bodyPr/>
          <a:lstStyle/>
          <a:p>
            <a:r>
              <a:rPr lang="zh-CN" altLang="en-US" sz="1008" dirty="0"/>
              <a:t>下图表示的是货币需求量和收入水平的正向关系：</a:t>
            </a:r>
          </a:p>
        </p:txBody>
      </p:sp>
      <p:pic>
        <p:nvPicPr>
          <p:cNvPr id="7" name="Picture 4" descr="xf1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469" y="676461"/>
            <a:ext cx="3667271" cy="2137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532451" y="2840113"/>
            <a:ext cx="1595309" cy="246221"/>
          </a:xfrm>
          <a:prstGeom prst="rect">
            <a:avLst/>
          </a:prstGeom>
        </p:spPr>
        <p:txBody>
          <a:bodyPr wrap="none">
            <a:spAutoFit/>
          </a:bodyPr>
          <a:lstStyle/>
          <a:p>
            <a:pPr algn="ctr" eaLnBrk="1" hangingPunct="1">
              <a:spcBef>
                <a:spcPct val="50000"/>
              </a:spcBef>
            </a:pPr>
            <a:r>
              <a:rPr lang="zh-CN" altLang="en-US" sz="1000" b="1" dirty="0">
                <a:latin typeface="KaiTi" panose="02010609060101010101" pitchFamily="49" charset="-122"/>
                <a:ea typeface="KaiTi" panose="02010609060101010101" pitchFamily="49" charset="-122"/>
              </a:rPr>
              <a:t>不同收入的货币需求曲线</a:t>
            </a:r>
          </a:p>
        </p:txBody>
      </p:sp>
      <p:sp>
        <p:nvSpPr>
          <p:cNvPr id="2" name="灯片编号占位符 2">
            <a:extLst>
              <a:ext uri="{FF2B5EF4-FFF2-40B4-BE49-F238E27FC236}">
                <a16:creationId xmlns:a16="http://schemas.microsoft.com/office/drawing/2014/main" id="{4C6DF398-CF91-9084-2DBD-96A40A22D9C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36</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81F5B0CA-BC44-960C-0018-5A722D333AB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9692656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b="1" dirty="0">
                <a:highlight>
                  <a:srgbClr val="FFFF00"/>
                </a:highlight>
              </a:rPr>
              <a:t>货币供给</a:t>
            </a:r>
            <a:r>
              <a:rPr lang="zh-CN" altLang="en-US" dirty="0"/>
              <a:t>有狭义和广义之分。</a:t>
            </a:r>
            <a:endParaRPr lang="en-US" altLang="zh-CN" dirty="0"/>
          </a:p>
          <a:p>
            <a:r>
              <a:rPr lang="zh-CN" altLang="en-US" b="1" dirty="0"/>
              <a:t>狭义的货币供给</a:t>
            </a:r>
            <a:r>
              <a:rPr lang="zh-CN" altLang="en-US" dirty="0"/>
              <a:t>是指流通中的硬币、纸币和银行活期存款的总和</a:t>
            </a:r>
            <a:r>
              <a:rPr lang="en-US" altLang="zh-CN" dirty="0"/>
              <a:t>(</a:t>
            </a:r>
            <a:r>
              <a:rPr lang="zh-CN" altLang="en-US" dirty="0"/>
              <a:t>一般用</a:t>
            </a:r>
            <a:r>
              <a:rPr lang="en-US" altLang="zh-CN" dirty="0"/>
              <a:t>M1</a:t>
            </a:r>
            <a:r>
              <a:rPr lang="zh-CN" altLang="en-US" dirty="0"/>
              <a:t>表示</a:t>
            </a:r>
            <a:r>
              <a:rPr lang="en-US" altLang="zh-CN" dirty="0"/>
              <a:t>)</a:t>
            </a:r>
            <a:r>
              <a:rPr lang="zh-CN" altLang="en-US" dirty="0"/>
              <a:t>。</a:t>
            </a:r>
            <a:endParaRPr lang="en-US" altLang="zh-CN" dirty="0"/>
          </a:p>
          <a:p>
            <a:r>
              <a:rPr lang="zh-CN" altLang="en-US" b="1" dirty="0"/>
              <a:t>广义的货币供给</a:t>
            </a:r>
            <a:r>
              <a:rPr lang="zh-CN" altLang="en-US" dirty="0"/>
              <a:t>是狭义货币供给加上</a:t>
            </a:r>
            <a:r>
              <a:rPr lang="zh-CN" altLang="en-US" b="1" dirty="0"/>
              <a:t>定期存款</a:t>
            </a:r>
            <a:r>
              <a:rPr lang="en-US" altLang="zh-CN" dirty="0"/>
              <a:t>(</a:t>
            </a:r>
            <a:r>
              <a:rPr lang="zh-CN" altLang="en-US" dirty="0"/>
              <a:t>一般用</a:t>
            </a:r>
            <a:r>
              <a:rPr lang="en-US" altLang="zh-CN" dirty="0"/>
              <a:t>M2</a:t>
            </a:r>
            <a:r>
              <a:rPr lang="zh-CN" altLang="en-US" dirty="0"/>
              <a:t>表示</a:t>
            </a:r>
            <a:r>
              <a:rPr lang="en-US" altLang="zh-CN" dirty="0"/>
              <a:t>)</a:t>
            </a:r>
            <a:r>
              <a:rPr lang="zh-CN" altLang="en-US" dirty="0"/>
              <a:t>。</a:t>
            </a:r>
            <a:endParaRPr lang="en-US" altLang="zh-CN" dirty="0"/>
          </a:p>
          <a:p>
            <a:r>
              <a:rPr lang="zh-CN" altLang="en-US" dirty="0"/>
              <a:t>更广泛的货币供给是在广义货币供给上再加上</a:t>
            </a:r>
            <a:r>
              <a:rPr lang="zh-CN" altLang="en-US" b="1" dirty="0"/>
              <a:t>个人和企业持有的政府债券等流动资产或</a:t>
            </a:r>
            <a:r>
              <a:rPr lang="en-US" altLang="zh-CN" b="1" dirty="0"/>
              <a:t>”</a:t>
            </a:r>
            <a:r>
              <a:rPr lang="zh-CN" altLang="en-US" b="1" dirty="0"/>
              <a:t>货币近似物</a:t>
            </a:r>
            <a:r>
              <a:rPr lang="en-US" altLang="zh-CN" b="1" dirty="0"/>
              <a:t>”</a:t>
            </a:r>
            <a:r>
              <a:rPr lang="en-US" altLang="zh-CN" dirty="0"/>
              <a:t> (</a:t>
            </a:r>
            <a:r>
              <a:rPr lang="zh-CN" altLang="en-US" dirty="0"/>
              <a:t>一般用</a:t>
            </a:r>
            <a:r>
              <a:rPr lang="en-US" altLang="zh-CN" dirty="0"/>
              <a:t>M3</a:t>
            </a:r>
            <a:r>
              <a:rPr lang="zh-CN" altLang="en-US" dirty="0"/>
              <a:t>表示</a:t>
            </a:r>
            <a:r>
              <a:rPr lang="en-US" altLang="zh-CN" dirty="0"/>
              <a:t>) </a:t>
            </a:r>
            <a:r>
              <a:rPr lang="zh-CN" altLang="en-US" dirty="0"/>
              <a:t>。</a:t>
            </a:r>
          </a:p>
        </p:txBody>
      </p:sp>
      <p:sp>
        <p:nvSpPr>
          <p:cNvPr id="4" name="标题 3">
            <a:extLst>
              <a:ext uri="{FF2B5EF4-FFF2-40B4-BE49-F238E27FC236}">
                <a16:creationId xmlns:a16="http://schemas.microsoft.com/office/drawing/2014/main" id="{DA08785A-B566-541B-B465-5E6BC8F44165}"/>
              </a:ext>
            </a:extLst>
          </p:cNvPr>
          <p:cNvSpPr>
            <a:spLocks noGrp="1"/>
          </p:cNvSpPr>
          <p:nvPr>
            <p:ph type="title"/>
          </p:nvPr>
        </p:nvSpPr>
        <p:spPr/>
        <p:txBody>
          <a:bodyPr/>
          <a:lstStyle/>
          <a:p>
            <a:r>
              <a:rPr kumimoji="1" lang="zh-CN" altLang="en-US" dirty="0"/>
              <a:t>货币供求均衡和利率的决定</a:t>
            </a:r>
          </a:p>
        </p:txBody>
      </p:sp>
      <p:sp>
        <p:nvSpPr>
          <p:cNvPr id="2" name="灯片编号占位符 2">
            <a:extLst>
              <a:ext uri="{FF2B5EF4-FFF2-40B4-BE49-F238E27FC236}">
                <a16:creationId xmlns:a16="http://schemas.microsoft.com/office/drawing/2014/main" id="{D73BECD6-B2C9-5B02-80B4-AB18037E65D6}"/>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37</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BE2CF2EE-D6CE-D4BE-2DEB-582778E7A0F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9494984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xf1410"/>
          <p:cNvPicPr>
            <a:picLocks noChangeAspect="1" noChangeArrowheads="1"/>
          </p:cNvPicPr>
          <p:nvPr/>
        </p:nvPicPr>
        <p:blipFill rotWithShape="1">
          <a:blip r:embed="rId2">
            <a:extLst>
              <a:ext uri="{28A0092B-C50C-407E-A947-70E740481C1C}">
                <a14:useLocalDpi xmlns:a14="http://schemas.microsoft.com/office/drawing/2010/main" val="0"/>
              </a:ext>
            </a:extLst>
          </a:blip>
          <a:srcRect l="16662" t="235" r="17810" b="-235"/>
          <a:stretch/>
        </p:blipFill>
        <p:spPr bwMode="auto">
          <a:xfrm>
            <a:off x="220695" y="496362"/>
            <a:ext cx="1974429" cy="1710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xf1411"/>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4213" t="5640" r="20233" b="4058"/>
          <a:stretch/>
        </p:blipFill>
        <p:spPr bwMode="auto">
          <a:xfrm>
            <a:off x="2154819" y="614181"/>
            <a:ext cx="2013607" cy="1571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a:xfrm>
            <a:off x="242857" y="2231835"/>
            <a:ext cx="4124385" cy="651204"/>
          </a:xfrm>
          <a:prstGeom prst="rect">
            <a:avLst/>
          </a:prstGeom>
        </p:spPr>
        <p:txBody>
          <a:bodyPr wrap="square">
            <a:spAutoFit/>
          </a:bodyPr>
          <a:lstStyle/>
          <a:p>
            <a:r>
              <a:rPr lang="zh-CN" altLang="en-US" sz="908" dirty="0">
                <a:latin typeface="Garamond" panose="02020404030301010803" pitchFamily="18" charset="0"/>
                <a:ea typeface="SimSun" panose="02010600030101010101" pitchFamily="2" charset="-122"/>
              </a:rPr>
              <a:t>        </a:t>
            </a:r>
            <a:r>
              <a:rPr lang="zh-CN" altLang="en-US" sz="908" b="1" dirty="0">
                <a:latin typeface="Garamond" panose="02020404030301010803" pitchFamily="18" charset="0"/>
                <a:ea typeface="SimSun" panose="02010600030101010101" pitchFamily="2" charset="-122"/>
              </a:rPr>
              <a:t>货币供给是</a:t>
            </a:r>
            <a:r>
              <a:rPr lang="zh-CN" altLang="en-US" sz="908" dirty="0">
                <a:latin typeface="Garamond" panose="02020404030301010803" pitchFamily="18" charset="0"/>
                <a:ea typeface="SimSun" panose="02010600030101010101" pitchFamily="2" charset="-122"/>
              </a:rPr>
              <a:t>一个存量概念。它是一个国家在某一时点上所保持的不属政府和银行所有的硬币、纸币和银行存款的总和。</a:t>
            </a:r>
            <a:endParaRPr lang="en-US" altLang="zh-CN" sz="908" dirty="0">
              <a:latin typeface="Garamond" panose="02020404030301010803" pitchFamily="18" charset="0"/>
              <a:ea typeface="SimSun" panose="02010600030101010101" pitchFamily="2" charset="-122"/>
            </a:endParaRPr>
          </a:p>
          <a:p>
            <a:r>
              <a:rPr lang="zh-CN" altLang="en-US" sz="908" dirty="0">
                <a:latin typeface="Garamond" panose="02020404030301010803" pitchFamily="18" charset="0"/>
                <a:ea typeface="SimSun" panose="02010600030101010101" pitchFamily="2" charset="-122"/>
              </a:rPr>
              <a:t>        西方经济学家认为，货币供给量是由国家用货币政策调节的，因此是一个外生变量，其大小与利率高低无关。</a:t>
            </a:r>
          </a:p>
        </p:txBody>
      </p:sp>
      <p:sp>
        <p:nvSpPr>
          <p:cNvPr id="3" name="标题 2">
            <a:extLst>
              <a:ext uri="{FF2B5EF4-FFF2-40B4-BE49-F238E27FC236}">
                <a16:creationId xmlns:a16="http://schemas.microsoft.com/office/drawing/2014/main" id="{7DB0F04C-6453-6E11-FF2A-8F34E7DEB57D}"/>
              </a:ext>
            </a:extLst>
          </p:cNvPr>
          <p:cNvSpPr>
            <a:spLocks noGrp="1"/>
          </p:cNvSpPr>
          <p:nvPr>
            <p:ph type="title"/>
          </p:nvPr>
        </p:nvSpPr>
        <p:spPr/>
        <p:txBody>
          <a:bodyPr/>
          <a:lstStyle/>
          <a:p>
            <a:r>
              <a:rPr kumimoji="1" lang="zh-CN" altLang="en-US" dirty="0"/>
              <a:t>货币供求均衡和利率的决定</a:t>
            </a:r>
          </a:p>
        </p:txBody>
      </p:sp>
      <p:sp>
        <p:nvSpPr>
          <p:cNvPr id="2" name="灯片编号占位符 2">
            <a:extLst>
              <a:ext uri="{FF2B5EF4-FFF2-40B4-BE49-F238E27FC236}">
                <a16:creationId xmlns:a16="http://schemas.microsoft.com/office/drawing/2014/main" id="{5BBA3D5D-B5B1-379E-8785-93D8B9718D5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38</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F2E9E5D7-AEA0-C70A-415F-B9C1C5F4C33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7142389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112245" y="1182550"/>
            <a:ext cx="4383299" cy="623376"/>
          </a:xfrm>
          <a:prstGeom prst="rect">
            <a:avLst/>
          </a:prstGeom>
        </p:spPr>
        <p:txBody>
          <a:bodyPr vert="horz" wrap="square" lIns="0" tIns="0" rIns="0" bIns="0" rtlCol="0">
            <a:spAutoFit/>
          </a:bodyPr>
          <a:lstStyle/>
          <a:p>
            <a:pPr marL="634" algn="ctr">
              <a:lnSpc>
                <a:spcPct val="130000"/>
              </a:lnSpc>
            </a:pPr>
            <a:r>
              <a:rPr lang="zh-CN" altLang="en-US" sz="2000" b="1" dirty="0">
                <a:solidFill>
                  <a:srgbClr val="333399"/>
                </a:solidFill>
                <a:latin typeface="Garamond" panose="02020404030301010803" pitchFamily="18" charset="0"/>
                <a:ea typeface="KaiTi" panose="02010609060101010101" pitchFamily="49" charset="-122"/>
                <a:cs typeface="+mj-cs"/>
              </a:rPr>
              <a:t>第</a:t>
            </a:r>
            <a:r>
              <a:rPr lang="en-US" altLang="zh-CN" sz="2000" b="1" dirty="0">
                <a:solidFill>
                  <a:srgbClr val="333399"/>
                </a:solidFill>
                <a:latin typeface="Garamond" panose="02020404030301010803" pitchFamily="18" charset="0"/>
                <a:ea typeface="KaiTi" panose="02010609060101010101" pitchFamily="49" charset="-122"/>
                <a:cs typeface="+mj-cs"/>
              </a:rPr>
              <a:t>4</a:t>
            </a:r>
            <a:r>
              <a:rPr lang="zh-CN" altLang="en-US" sz="2000" b="1" dirty="0">
                <a:solidFill>
                  <a:srgbClr val="333399"/>
                </a:solidFill>
                <a:latin typeface="Garamond" panose="02020404030301010803" pitchFamily="18" charset="0"/>
                <a:ea typeface="KaiTi" panose="02010609060101010101" pitchFamily="49" charset="-122"/>
                <a:cs typeface="+mj-cs"/>
              </a:rPr>
              <a:t>节 </a:t>
            </a:r>
            <a:r>
              <a:rPr lang="en-US" altLang="zh-CN" sz="2000" b="1" dirty="0">
                <a:solidFill>
                  <a:srgbClr val="333399"/>
                </a:solidFill>
                <a:latin typeface="Garamond" panose="02020404030301010803" pitchFamily="18" charset="0"/>
                <a:ea typeface="KaiTi" panose="02010609060101010101" pitchFamily="49" charset="-122"/>
                <a:cs typeface="+mj-cs"/>
              </a:rPr>
              <a:t>LM</a:t>
            </a:r>
            <a:r>
              <a:rPr lang="zh-CN" altLang="en-US" sz="2000" b="1" dirty="0">
                <a:solidFill>
                  <a:srgbClr val="333399"/>
                </a:solidFill>
                <a:latin typeface="Garamond" panose="02020404030301010803" pitchFamily="18" charset="0"/>
                <a:ea typeface="KaiTi" panose="02010609060101010101" pitchFamily="49" charset="-122"/>
                <a:cs typeface="+mj-cs"/>
              </a:rPr>
              <a:t>曲线</a:t>
            </a:r>
            <a:endParaRPr lang="en-US" altLang="zh-CN" sz="2000"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1200" b="1" dirty="0">
              <a:latin typeface="Garamond" panose="02020404030301010803" pitchFamily="18" charset="0"/>
              <a:cs typeface="Times New Roman"/>
            </a:endParaRPr>
          </a:p>
        </p:txBody>
      </p:sp>
    </p:spTree>
    <p:extLst>
      <p:ext uri="{BB962C8B-B14F-4D97-AF65-F5344CB8AC3E}">
        <p14:creationId xmlns:p14="http://schemas.microsoft.com/office/powerpoint/2010/main" val="3368645236"/>
      </p:ext>
    </p:extLst>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6945" y="471047"/>
            <a:ext cx="3976211" cy="1991910"/>
          </a:xfrm>
        </p:spPr>
        <p:txBody>
          <a:bodyPr/>
          <a:lstStyle/>
          <a:p>
            <a:r>
              <a:rPr lang="zh-CN" altLang="en-US" sz="1210" dirty="0"/>
              <a:t>在货币供给量既定情况下，货币市场的均衡只能通过调节对货币的需求来实现。</a:t>
            </a:r>
            <a:endParaRPr lang="en-US" altLang="zh-CN" sz="1210" dirty="0"/>
          </a:p>
          <a:p>
            <a:r>
              <a:rPr lang="zh-CN" altLang="en-US" sz="1210" dirty="0"/>
              <a:t>假定</a:t>
            </a:r>
            <a:r>
              <a:rPr lang="en-US" altLang="zh-CN" sz="1210" dirty="0"/>
              <a:t>m</a:t>
            </a:r>
            <a:r>
              <a:rPr lang="zh-CN" altLang="en-US" sz="1210" dirty="0"/>
              <a:t>是实际货币供给量，则货币市场均衡是</a:t>
            </a:r>
            <a:endParaRPr lang="en-US" altLang="zh-CN" sz="1210" dirty="0"/>
          </a:p>
          <a:p>
            <a:r>
              <a:rPr lang="en-US" altLang="zh-CN" sz="1210" dirty="0"/>
              <a:t>m=L=L</a:t>
            </a:r>
            <a:r>
              <a:rPr lang="en-US" altLang="zh-CN" sz="807" dirty="0"/>
              <a:t>1</a:t>
            </a:r>
            <a:r>
              <a:rPr lang="en-US" altLang="zh-CN" sz="1210" dirty="0"/>
              <a:t>(y)+L</a:t>
            </a:r>
            <a:r>
              <a:rPr lang="en-US" altLang="zh-CN" sz="807" dirty="0"/>
              <a:t>2</a:t>
            </a:r>
            <a:r>
              <a:rPr lang="en-US" altLang="zh-CN" sz="1210" dirty="0"/>
              <a:t>(r)=</a:t>
            </a:r>
            <a:r>
              <a:rPr lang="en-US" altLang="zh-CN" sz="1210" dirty="0" err="1"/>
              <a:t>ky-hr</a:t>
            </a:r>
            <a:r>
              <a:rPr lang="zh-CN" altLang="en-US" sz="1210" dirty="0"/>
              <a:t>。</a:t>
            </a:r>
            <a:endParaRPr lang="en-US" altLang="zh-CN" sz="1210" dirty="0"/>
          </a:p>
          <a:p>
            <a:r>
              <a:rPr lang="zh-CN" altLang="en-US" sz="1210" dirty="0"/>
              <a:t>当</a:t>
            </a:r>
            <a:r>
              <a:rPr lang="en-US" altLang="zh-CN" sz="1210" dirty="0"/>
              <a:t>m</a:t>
            </a:r>
            <a:r>
              <a:rPr lang="zh-CN" altLang="en-US" sz="1210" dirty="0"/>
              <a:t>为一定量时，</a:t>
            </a:r>
            <a:r>
              <a:rPr lang="en-US" altLang="zh-CN" sz="1210" dirty="0"/>
              <a:t> L</a:t>
            </a:r>
            <a:r>
              <a:rPr lang="en-US" altLang="zh-CN" sz="807" dirty="0"/>
              <a:t>1</a:t>
            </a:r>
            <a:r>
              <a:rPr lang="zh-CN" altLang="en-US" sz="1210" dirty="0"/>
              <a:t>增加，</a:t>
            </a:r>
            <a:r>
              <a:rPr lang="en-US" altLang="zh-CN" sz="1210" dirty="0"/>
              <a:t>L</a:t>
            </a:r>
            <a:r>
              <a:rPr lang="en-US" altLang="zh-CN" sz="807" dirty="0"/>
              <a:t>2</a:t>
            </a:r>
            <a:r>
              <a:rPr lang="zh-CN" altLang="en-US" sz="1210" dirty="0"/>
              <a:t>必须减少才能保持均衡。</a:t>
            </a:r>
          </a:p>
        </p:txBody>
      </p:sp>
      <p:sp>
        <p:nvSpPr>
          <p:cNvPr id="8" name="矩形 7"/>
          <p:cNvSpPr/>
          <p:nvPr/>
        </p:nvSpPr>
        <p:spPr>
          <a:xfrm>
            <a:off x="441725" y="1946399"/>
            <a:ext cx="3851429" cy="600164"/>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en-US" sz="1100" dirty="0">
                <a:solidFill>
                  <a:schemeClr val="tx1"/>
                </a:solidFill>
                <a:latin typeface="Garamond" panose="02020404030301010803" pitchFamily="18" charset="0"/>
                <a:ea typeface="SimSun" panose="02010600030101010101" pitchFamily="2" charset="-122"/>
              </a:rPr>
              <a:t>当</a:t>
            </a:r>
            <a:r>
              <a:rPr lang="en-US" altLang="zh-CN" sz="1100" dirty="0">
                <a:solidFill>
                  <a:schemeClr val="tx1"/>
                </a:solidFill>
                <a:latin typeface="Garamond" panose="02020404030301010803" pitchFamily="18" charset="0"/>
                <a:ea typeface="SimSun" panose="02010600030101010101" pitchFamily="2" charset="-122"/>
              </a:rPr>
              <a:t>m</a:t>
            </a:r>
            <a:r>
              <a:rPr lang="zh-CN" altLang="en-US" sz="1100" dirty="0">
                <a:solidFill>
                  <a:schemeClr val="tx1"/>
                </a:solidFill>
                <a:latin typeface="Garamond" panose="02020404030301010803" pitchFamily="18" charset="0"/>
                <a:ea typeface="SimSun" panose="02010600030101010101" pitchFamily="2" charset="-122"/>
              </a:rPr>
              <a:t>给定时，</a:t>
            </a:r>
            <a:r>
              <a:rPr lang="en-US" altLang="zh-CN" sz="1100" dirty="0">
                <a:solidFill>
                  <a:schemeClr val="tx1"/>
                </a:solidFill>
                <a:latin typeface="Garamond" panose="02020404030301010803" pitchFamily="18" charset="0"/>
                <a:ea typeface="SimSun" panose="02010600030101010101" pitchFamily="2" charset="-122"/>
              </a:rPr>
              <a:t> m=</a:t>
            </a:r>
            <a:r>
              <a:rPr lang="en-US" altLang="zh-CN" sz="1100" dirty="0" err="1">
                <a:solidFill>
                  <a:schemeClr val="tx1"/>
                </a:solidFill>
                <a:latin typeface="Garamond" panose="02020404030301010803" pitchFamily="18" charset="0"/>
                <a:ea typeface="SimSun" panose="02010600030101010101" pitchFamily="2" charset="-122"/>
              </a:rPr>
              <a:t>ky-hr</a:t>
            </a:r>
            <a:r>
              <a:rPr lang="en-US" altLang="zh-CN" sz="1100" dirty="0">
                <a:solidFill>
                  <a:schemeClr val="tx1"/>
                </a:solidFill>
                <a:latin typeface="Garamond" panose="02020404030301010803" pitchFamily="18" charset="0"/>
                <a:ea typeface="SimSun" panose="02010600030101010101" pitchFamily="2" charset="-122"/>
              </a:rPr>
              <a:t> </a:t>
            </a:r>
            <a:r>
              <a:rPr lang="zh-CN" altLang="en-US" sz="1100" dirty="0">
                <a:solidFill>
                  <a:schemeClr val="tx1"/>
                </a:solidFill>
                <a:latin typeface="Garamond" panose="02020404030301010803" pitchFamily="18" charset="0"/>
                <a:ea typeface="SimSun" panose="02010600030101010101" pitchFamily="2" charset="-122"/>
              </a:rPr>
              <a:t>的公式可以表示</a:t>
            </a:r>
            <a:r>
              <a:rPr lang="zh-CN" altLang="en-US" sz="1100" b="1" dirty="0">
                <a:solidFill>
                  <a:schemeClr val="tx1"/>
                </a:solidFill>
                <a:latin typeface="Garamond" panose="02020404030301010803" pitchFamily="18" charset="0"/>
                <a:ea typeface="SimSun" panose="02010600030101010101" pitchFamily="2" charset="-122"/>
              </a:rPr>
              <a:t>为满足货币市场的均衡条件下的收入</a:t>
            </a:r>
            <a:r>
              <a:rPr lang="en-US" altLang="zh-CN" sz="1100" b="1" dirty="0">
                <a:solidFill>
                  <a:schemeClr val="tx1"/>
                </a:solidFill>
                <a:latin typeface="Garamond" panose="02020404030301010803" pitchFamily="18" charset="0"/>
                <a:ea typeface="SimSun" panose="02010600030101010101" pitchFamily="2" charset="-122"/>
              </a:rPr>
              <a:t>y</a:t>
            </a:r>
            <a:r>
              <a:rPr lang="zh-CN" altLang="en-US" sz="1100" b="1" dirty="0">
                <a:solidFill>
                  <a:schemeClr val="tx1"/>
                </a:solidFill>
                <a:latin typeface="Garamond" panose="02020404030301010803" pitchFamily="18" charset="0"/>
                <a:ea typeface="SimSun" panose="02010600030101010101" pitchFamily="2" charset="-122"/>
              </a:rPr>
              <a:t>与利率</a:t>
            </a:r>
            <a:r>
              <a:rPr lang="en-US" altLang="zh-CN" sz="1100" b="1" dirty="0">
                <a:solidFill>
                  <a:schemeClr val="tx1"/>
                </a:solidFill>
                <a:latin typeface="Garamond" panose="02020404030301010803" pitchFamily="18" charset="0"/>
                <a:ea typeface="SimSun" panose="02010600030101010101" pitchFamily="2" charset="-122"/>
              </a:rPr>
              <a:t>r </a:t>
            </a:r>
            <a:r>
              <a:rPr lang="zh-CN" altLang="en-US" sz="1100" b="1" dirty="0">
                <a:solidFill>
                  <a:schemeClr val="tx1"/>
                </a:solidFill>
                <a:latin typeface="Garamond" panose="02020404030301010803" pitchFamily="18" charset="0"/>
                <a:ea typeface="SimSun" panose="02010600030101010101" pitchFamily="2" charset="-122"/>
              </a:rPr>
              <a:t>的关系</a:t>
            </a:r>
            <a:r>
              <a:rPr lang="zh-CN" altLang="en-US" sz="1100" dirty="0">
                <a:solidFill>
                  <a:schemeClr val="tx1"/>
                </a:solidFill>
                <a:latin typeface="Garamond" panose="02020404030301010803" pitchFamily="18" charset="0"/>
                <a:ea typeface="SimSun" panose="02010600030101010101" pitchFamily="2" charset="-122"/>
              </a:rPr>
              <a:t>，这一关系的图形被称为</a:t>
            </a:r>
            <a:r>
              <a:rPr lang="en-US" altLang="zh-CN" sz="1100" b="1" dirty="0">
                <a:solidFill>
                  <a:schemeClr val="tx1"/>
                </a:solidFill>
                <a:latin typeface="Garamond" panose="02020404030301010803" pitchFamily="18" charset="0"/>
                <a:ea typeface="SimSun" panose="02010600030101010101" pitchFamily="2" charset="-122"/>
              </a:rPr>
              <a:t>LM</a:t>
            </a:r>
            <a:r>
              <a:rPr lang="zh-CN" altLang="en-US" sz="1100" b="1" dirty="0">
                <a:solidFill>
                  <a:schemeClr val="tx1"/>
                </a:solidFill>
                <a:latin typeface="Garamond" panose="02020404030301010803" pitchFamily="18" charset="0"/>
                <a:ea typeface="SimSun" panose="02010600030101010101" pitchFamily="2" charset="-122"/>
              </a:rPr>
              <a:t>曲线</a:t>
            </a:r>
            <a:r>
              <a:rPr lang="zh-CN" altLang="en-US" sz="1100" dirty="0">
                <a:solidFill>
                  <a:schemeClr val="tx1"/>
                </a:solidFill>
                <a:latin typeface="Garamond" panose="02020404030301010803" pitchFamily="18" charset="0"/>
                <a:ea typeface="SimSun" panose="02010600030101010101" pitchFamily="2" charset="-122"/>
              </a:rPr>
              <a:t>。</a:t>
            </a:r>
          </a:p>
        </p:txBody>
      </p:sp>
      <p:sp>
        <p:nvSpPr>
          <p:cNvPr id="4" name="标题 3">
            <a:extLst>
              <a:ext uri="{FF2B5EF4-FFF2-40B4-BE49-F238E27FC236}">
                <a16:creationId xmlns:a16="http://schemas.microsoft.com/office/drawing/2014/main" id="{4AB2AEEA-22A3-676C-1143-F2F9F1029F4A}"/>
              </a:ext>
            </a:extLst>
          </p:cNvPr>
          <p:cNvSpPr>
            <a:spLocks noGrp="1"/>
          </p:cNvSpPr>
          <p:nvPr>
            <p:ph type="title"/>
          </p:nvPr>
        </p:nvSpPr>
        <p:spPr/>
        <p:txBody>
          <a:bodyPr/>
          <a:lstStyle/>
          <a:p>
            <a:r>
              <a:rPr kumimoji="1" lang="en" altLang="zh-CN" dirty="0"/>
              <a:t>LM</a:t>
            </a:r>
            <a:r>
              <a:rPr kumimoji="1" lang="zh-CN" altLang="en-US" dirty="0"/>
              <a:t>曲线及其推导</a:t>
            </a:r>
          </a:p>
        </p:txBody>
      </p:sp>
      <p:sp>
        <p:nvSpPr>
          <p:cNvPr id="2" name="灯片编号占位符 2">
            <a:extLst>
              <a:ext uri="{FF2B5EF4-FFF2-40B4-BE49-F238E27FC236}">
                <a16:creationId xmlns:a16="http://schemas.microsoft.com/office/drawing/2014/main" id="{4E56E6A1-B8D9-B228-6844-215F8AF98EC2}"/>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40</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9945EDD0-20F8-0805-A054-C6381725DDB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5830212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04939" y="534164"/>
                <a:ext cx="3976211" cy="525696"/>
              </a:xfrm>
            </p:spPr>
            <p:txBody>
              <a:bodyPr/>
              <a:lstStyle/>
              <a:p>
                <a:r>
                  <a:rPr lang="zh-CN" altLang="en-US" sz="1210" dirty="0"/>
                  <a:t>由于货币市场均衡时</a:t>
                </a:r>
                <a14:m>
                  <m:oMath xmlns:m="http://schemas.openxmlformats.org/officeDocument/2006/math">
                    <m:r>
                      <a:rPr lang="en-US" altLang="zh-CN" sz="1210" i="1">
                        <a:latin typeface="Cambria Math" panose="02040503050406030204" pitchFamily="18" charset="0"/>
                      </a:rPr>
                      <m:t>𝑚</m:t>
                    </m:r>
                    <m:r>
                      <a:rPr lang="en-US" altLang="zh-CN" sz="1210" i="1">
                        <a:latin typeface="Cambria Math" panose="02040503050406030204" pitchFamily="18" charset="0"/>
                      </a:rPr>
                      <m:t>=</m:t>
                    </m:r>
                    <m:r>
                      <a:rPr lang="en-US" altLang="zh-CN" sz="1210" i="1">
                        <a:latin typeface="Cambria Math" panose="02040503050406030204" pitchFamily="18" charset="0"/>
                      </a:rPr>
                      <m:t>𝐿</m:t>
                    </m:r>
                    <m:r>
                      <a:rPr lang="en-US" altLang="zh-CN" sz="1210" i="1">
                        <a:latin typeface="Cambria Math" panose="02040503050406030204" pitchFamily="18" charset="0"/>
                      </a:rPr>
                      <m:t>=</m:t>
                    </m:r>
                    <m:r>
                      <a:rPr lang="en-US" altLang="zh-CN" sz="1210" i="1">
                        <a:latin typeface="Cambria Math" panose="02040503050406030204" pitchFamily="18" charset="0"/>
                      </a:rPr>
                      <m:t>𝑘𝑦</m:t>
                    </m:r>
                    <m:r>
                      <a:rPr lang="en-US" altLang="zh-CN" sz="1210" i="1">
                        <a:latin typeface="Cambria Math" panose="02040503050406030204" pitchFamily="18" charset="0"/>
                      </a:rPr>
                      <m:t>−</m:t>
                    </m:r>
                    <m:r>
                      <a:rPr lang="en-US" altLang="zh-CN" sz="1210" i="1">
                        <a:latin typeface="Cambria Math" panose="02040503050406030204" pitchFamily="18" charset="0"/>
                      </a:rPr>
                      <m:t>h𝑟</m:t>
                    </m:r>
                  </m:oMath>
                </a14:m>
                <a:endParaRPr lang="en-US" altLang="zh-CN" sz="1210" dirty="0"/>
              </a:p>
              <a:p>
                <a:r>
                  <a:rPr lang="zh-CN" altLang="en-US" sz="1210" dirty="0"/>
                  <a:t>因此：</a:t>
                </a:r>
                <a14:m>
                  <m:oMath xmlns:m="http://schemas.openxmlformats.org/officeDocument/2006/math">
                    <m:r>
                      <m:rPr>
                        <m:sty m:val="p"/>
                      </m:rPr>
                      <a:rPr lang="en-US" altLang="zh-CN" sz="1210">
                        <a:latin typeface="Cambria Math" panose="02040503050406030204" pitchFamily="18" charset="0"/>
                      </a:rPr>
                      <m:t>r</m:t>
                    </m:r>
                    <m:r>
                      <a:rPr lang="en-US" altLang="zh-CN" sz="1210">
                        <a:latin typeface="Cambria Math" panose="02040503050406030204" pitchFamily="18" charset="0"/>
                      </a:rPr>
                      <m:t>=</m:t>
                    </m:r>
                    <m:f>
                      <m:fPr>
                        <m:ctrlPr>
                          <a:rPr lang="en-US" altLang="zh-CN" sz="1210" i="1">
                            <a:latin typeface="Cambria Math" panose="02040503050406030204" pitchFamily="18" charset="0"/>
                          </a:rPr>
                        </m:ctrlPr>
                      </m:fPr>
                      <m:num>
                        <m:r>
                          <m:rPr>
                            <m:sty m:val="p"/>
                          </m:rPr>
                          <a:rPr lang="en-US" altLang="zh-CN" sz="1210">
                            <a:latin typeface="Cambria Math" panose="02040503050406030204" pitchFamily="18" charset="0"/>
                          </a:rPr>
                          <m:t>ky</m:t>
                        </m:r>
                      </m:num>
                      <m:den>
                        <m:r>
                          <m:rPr>
                            <m:sty m:val="p"/>
                          </m:rPr>
                          <a:rPr lang="en-US" altLang="zh-CN" sz="1210">
                            <a:latin typeface="Cambria Math" panose="02040503050406030204" pitchFamily="18" charset="0"/>
                          </a:rPr>
                          <m:t>h</m:t>
                        </m:r>
                      </m:den>
                    </m:f>
                    <m:r>
                      <a:rPr lang="en-US" altLang="zh-CN" sz="1210">
                        <a:latin typeface="Cambria Math" panose="02040503050406030204" pitchFamily="18" charset="0"/>
                      </a:rPr>
                      <m:t>−</m:t>
                    </m:r>
                    <m:f>
                      <m:fPr>
                        <m:ctrlPr>
                          <a:rPr lang="en-US" altLang="zh-CN" sz="1210" i="1">
                            <a:latin typeface="Cambria Math" panose="02040503050406030204" pitchFamily="18" charset="0"/>
                          </a:rPr>
                        </m:ctrlPr>
                      </m:fPr>
                      <m:num>
                        <m:r>
                          <a:rPr lang="en-US" altLang="zh-CN" sz="1210" i="1">
                            <a:latin typeface="Cambria Math" panose="02040503050406030204" pitchFamily="18" charset="0"/>
                          </a:rPr>
                          <m:t>𝑚</m:t>
                        </m:r>
                      </m:num>
                      <m:den>
                        <m:r>
                          <a:rPr lang="en-US" altLang="zh-CN" sz="1210" i="1">
                            <a:latin typeface="Cambria Math" panose="02040503050406030204" pitchFamily="18" charset="0"/>
                          </a:rPr>
                          <m:t>h</m:t>
                        </m:r>
                      </m:den>
                    </m:f>
                  </m:oMath>
                </a14:m>
                <a:endParaRPr lang="en-US" altLang="zh-CN" sz="1210" i="1" dirty="0">
                  <a:latin typeface="Cambria Math" panose="020405030504060302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04939" y="534164"/>
                <a:ext cx="3976211" cy="525696"/>
              </a:xfrm>
              <a:blipFill>
                <a:blip r:embed="rId2"/>
                <a:stretch>
                  <a:fillRect l="-319" t="-7143" b="-33333"/>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F0FA33B6-1E26-0F38-BCD9-5AEE0384D157}"/>
              </a:ext>
            </a:extLst>
          </p:cNvPr>
          <p:cNvSpPr>
            <a:spLocks noGrp="1"/>
          </p:cNvSpPr>
          <p:nvPr>
            <p:ph type="title"/>
          </p:nvPr>
        </p:nvSpPr>
        <p:spPr/>
        <p:txBody>
          <a:bodyPr/>
          <a:lstStyle/>
          <a:p>
            <a:r>
              <a:rPr kumimoji="1" lang="en" altLang="zh-CN" dirty="0"/>
              <a:t>LM</a:t>
            </a:r>
            <a:r>
              <a:rPr kumimoji="1" lang="zh-CN" altLang="en-US" dirty="0"/>
              <a:t>曲线及其推导</a:t>
            </a:r>
          </a:p>
        </p:txBody>
      </p:sp>
      <p:sp>
        <p:nvSpPr>
          <p:cNvPr id="10" name="灯片编号占位符 2">
            <a:extLst>
              <a:ext uri="{FF2B5EF4-FFF2-40B4-BE49-F238E27FC236}">
                <a16:creationId xmlns:a16="http://schemas.microsoft.com/office/drawing/2014/main" id="{91000552-6188-E6BA-D1DC-ECC7E19A160B}"/>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41</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FD4C23C1-AB5B-0836-10B1-337A5891D0C3}"/>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50350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1210" dirty="0"/>
              <a:t>LM</a:t>
            </a:r>
            <a:r>
              <a:rPr lang="zh-CN" altLang="en-US" sz="1210" dirty="0"/>
              <a:t>曲线上任一点都代表一定利率和收入的组合，在这样的组合下，货币需求和供给都是相等的，亦即货币市场是均衡的。</a:t>
            </a:r>
            <a:endParaRPr lang="en-US" altLang="zh-CN" sz="1210" dirty="0"/>
          </a:p>
          <a:p>
            <a:r>
              <a:rPr lang="zh-CN" altLang="en-US" sz="1210" dirty="0"/>
              <a:t>从上例可以看出，</a:t>
            </a:r>
            <a:r>
              <a:rPr lang="en-US" altLang="zh-CN" sz="1210" dirty="0"/>
              <a:t>LM</a:t>
            </a:r>
            <a:r>
              <a:rPr lang="zh-CN" altLang="en-US" sz="1210" dirty="0"/>
              <a:t>曲线其实上是从货币的投机需求与利率的关系、货币的交易需求与收入的关系亦即货币需求与供给相等的关系中推导出来的。</a:t>
            </a:r>
          </a:p>
        </p:txBody>
      </p:sp>
      <p:sp>
        <p:nvSpPr>
          <p:cNvPr id="4" name="标题 3">
            <a:extLst>
              <a:ext uri="{FF2B5EF4-FFF2-40B4-BE49-F238E27FC236}">
                <a16:creationId xmlns:a16="http://schemas.microsoft.com/office/drawing/2014/main" id="{611483D1-D94F-393F-B25A-5AC444E28085}"/>
              </a:ext>
            </a:extLst>
          </p:cNvPr>
          <p:cNvSpPr>
            <a:spLocks noGrp="1"/>
          </p:cNvSpPr>
          <p:nvPr>
            <p:ph type="title"/>
          </p:nvPr>
        </p:nvSpPr>
        <p:spPr/>
        <p:txBody>
          <a:bodyPr/>
          <a:lstStyle/>
          <a:p>
            <a:r>
              <a:rPr kumimoji="1" lang="en" altLang="zh-CN" dirty="0"/>
              <a:t>LM</a:t>
            </a:r>
            <a:r>
              <a:rPr kumimoji="1" lang="zh-CN" altLang="en-US" dirty="0"/>
              <a:t>曲线及其推导</a:t>
            </a:r>
          </a:p>
        </p:txBody>
      </p:sp>
      <p:sp>
        <p:nvSpPr>
          <p:cNvPr id="6" name="灯片编号占位符 2">
            <a:extLst>
              <a:ext uri="{FF2B5EF4-FFF2-40B4-BE49-F238E27FC236}">
                <a16:creationId xmlns:a16="http://schemas.microsoft.com/office/drawing/2014/main" id="{503E853C-0664-A157-4C68-B43038A315F8}"/>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42</a:t>
            </a:fld>
            <a:endParaRPr lang="zh-CN" altLang="zh-CN" sz="856">
              <a:solidFill>
                <a:srgbClr val="777777"/>
              </a:solidFill>
              <a:ea typeface="宋体" panose="02010600030101010101" pitchFamily="2" charset="-122"/>
            </a:endParaRPr>
          </a:p>
        </p:txBody>
      </p:sp>
      <p:sp>
        <p:nvSpPr>
          <p:cNvPr id="7" name="页脚占位符 1">
            <a:extLst>
              <a:ext uri="{FF2B5EF4-FFF2-40B4-BE49-F238E27FC236}">
                <a16:creationId xmlns:a16="http://schemas.microsoft.com/office/drawing/2014/main" id="{22C24059-0767-D6DE-B07E-97D3CFCE704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061611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50031" y="2908340"/>
            <a:ext cx="3786890" cy="232051"/>
          </a:xfrm>
          <a:prstGeom prst="rect">
            <a:avLst/>
          </a:prstGeom>
        </p:spPr>
        <p:txBody>
          <a:bodyPr wrap="square">
            <a:spAutoFit/>
          </a:bodyPr>
          <a:lstStyle/>
          <a:p>
            <a:pPr algn="ctr" eaLnBrk="1" hangingPunct="1">
              <a:spcBef>
                <a:spcPct val="50000"/>
              </a:spcBef>
            </a:pPr>
            <a:r>
              <a:rPr lang="en-US" altLang="zh-CN" sz="908" b="1" dirty="0">
                <a:latin typeface="Garamond" panose="02020404030301010803" pitchFamily="18" charset="0"/>
                <a:ea typeface="KaiTi" panose="02010609060101010101" pitchFamily="49" charset="-122"/>
              </a:rPr>
              <a:t>LM</a:t>
            </a:r>
            <a:r>
              <a:rPr lang="zh-CN" altLang="en-US" sz="908" b="1" dirty="0">
                <a:latin typeface="Garamond" panose="02020404030301010803" pitchFamily="18" charset="0"/>
                <a:ea typeface="KaiTi" panose="02010609060101010101" pitchFamily="49" charset="-122"/>
              </a:rPr>
              <a:t>曲线的推导</a:t>
            </a:r>
          </a:p>
        </p:txBody>
      </p:sp>
      <p:grpSp>
        <p:nvGrpSpPr>
          <p:cNvPr id="2" name="组合 1">
            <a:extLst>
              <a:ext uri="{FF2B5EF4-FFF2-40B4-BE49-F238E27FC236}">
                <a16:creationId xmlns:a16="http://schemas.microsoft.com/office/drawing/2014/main" id="{299D054E-6AD9-43BB-8C0C-9474040B3D93}"/>
              </a:ext>
            </a:extLst>
          </p:cNvPr>
          <p:cNvGrpSpPr/>
          <p:nvPr/>
        </p:nvGrpSpPr>
        <p:grpSpPr>
          <a:xfrm>
            <a:off x="450031" y="320851"/>
            <a:ext cx="3636744" cy="2513945"/>
            <a:chOff x="1367631" y="1044668"/>
            <a:chExt cx="7213376" cy="4986338"/>
          </a:xfrm>
        </p:grpSpPr>
        <p:pic>
          <p:nvPicPr>
            <p:cNvPr id="8" name="Picture 4" descr="xf14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7631" y="1044668"/>
              <a:ext cx="6618688" cy="498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0" name="文本框 9"/>
                <p:cNvSpPr txBox="1"/>
                <p:nvPr/>
              </p:nvSpPr>
              <p:spPr>
                <a:xfrm>
                  <a:off x="6419448" y="4603281"/>
                  <a:ext cx="2161559" cy="215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706" i="1">
                                <a:latin typeface="Cambria Math" panose="02040503050406030204" pitchFamily="18" charset="0"/>
                              </a:rPr>
                            </m:ctrlPr>
                          </m:sSubPr>
                          <m:e>
                            <m:r>
                              <a:rPr lang="en-US" altLang="zh-CN" sz="706" i="1">
                                <a:latin typeface="Cambria Math" panose="02040503050406030204" pitchFamily="18" charset="0"/>
                              </a:rPr>
                              <m:t>𝑚</m:t>
                            </m:r>
                          </m:e>
                          <m:sub>
                            <m:r>
                              <a:rPr lang="en-US" altLang="zh-CN" sz="706" i="1">
                                <a:latin typeface="Cambria Math" panose="02040503050406030204" pitchFamily="18" charset="0"/>
                              </a:rPr>
                              <m:t>2</m:t>
                            </m:r>
                          </m:sub>
                        </m:sSub>
                        <m:r>
                          <a:rPr lang="en-US" altLang="zh-CN" sz="706" i="1">
                            <a:latin typeface="Cambria Math" panose="02040503050406030204" pitchFamily="18" charset="0"/>
                          </a:rPr>
                          <m:t>=</m:t>
                        </m:r>
                        <m:sSub>
                          <m:sSubPr>
                            <m:ctrlPr>
                              <a:rPr lang="en-US" altLang="zh-CN" sz="706" i="1">
                                <a:latin typeface="Cambria Math" panose="02040503050406030204" pitchFamily="18" charset="0"/>
                              </a:rPr>
                            </m:ctrlPr>
                          </m:sSubPr>
                          <m:e>
                            <m:r>
                              <a:rPr lang="en-US" altLang="zh-CN" sz="706" i="1">
                                <a:latin typeface="Cambria Math" panose="02040503050406030204" pitchFamily="18" charset="0"/>
                              </a:rPr>
                              <m:t>𝐿</m:t>
                            </m:r>
                          </m:e>
                          <m:sub>
                            <m:r>
                              <a:rPr lang="en-US" altLang="zh-CN" sz="706" i="1">
                                <a:latin typeface="Cambria Math" panose="02040503050406030204" pitchFamily="18" charset="0"/>
                              </a:rPr>
                              <m:t>2</m:t>
                            </m:r>
                          </m:sub>
                        </m:sSub>
                        <m:d>
                          <m:dPr>
                            <m:ctrlPr>
                              <a:rPr lang="en-US" altLang="zh-CN" sz="706" i="1">
                                <a:latin typeface="Cambria Math" panose="02040503050406030204" pitchFamily="18" charset="0"/>
                              </a:rPr>
                            </m:ctrlPr>
                          </m:dPr>
                          <m:e>
                            <m:r>
                              <a:rPr lang="en-US" altLang="zh-CN" sz="706" i="1">
                                <a:latin typeface="Cambria Math" panose="02040503050406030204" pitchFamily="18" charset="0"/>
                              </a:rPr>
                              <m:t>𝑟</m:t>
                            </m:r>
                          </m:e>
                        </m:d>
                        <m:r>
                          <a:rPr lang="en-US" altLang="zh-CN" sz="706" i="1">
                            <a:latin typeface="Cambria Math" panose="02040503050406030204" pitchFamily="18" charset="0"/>
                          </a:rPr>
                          <m:t>=1000−250</m:t>
                        </m:r>
                        <m:r>
                          <a:rPr lang="en-US" altLang="zh-CN" sz="706" i="1">
                            <a:latin typeface="Cambria Math" panose="02040503050406030204" pitchFamily="18" charset="0"/>
                          </a:rPr>
                          <m:t>𝑟</m:t>
                        </m:r>
                      </m:oMath>
                    </m:oMathPara>
                  </a14:m>
                  <a:endParaRPr lang="zh-CN" altLang="en-US" sz="706" dirty="0"/>
                </a:p>
              </p:txBody>
            </p:sp>
          </mc:Choice>
          <mc:Fallback xmlns="">
            <p:sp>
              <p:nvSpPr>
                <p:cNvPr id="10" name="文本框 9"/>
                <p:cNvSpPr txBox="1">
                  <a:spLocks noRot="1" noChangeAspect="1" noMove="1" noResize="1" noEditPoints="1" noAdjustHandles="1" noChangeArrowheads="1" noChangeShapeType="1" noTextEdit="1"/>
                </p:cNvSpPr>
                <p:nvPr/>
              </p:nvSpPr>
              <p:spPr>
                <a:xfrm>
                  <a:off x="6419448" y="4603281"/>
                  <a:ext cx="2161559" cy="215443"/>
                </a:xfrm>
                <a:prstGeom prst="rect">
                  <a:avLst/>
                </a:prstGeom>
                <a:blipFill>
                  <a:blip r:embed="rId3"/>
                  <a:stretch>
                    <a:fillRect r="-1149" b="-22222"/>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1" name="矩形 10"/>
              <p:cNvSpPr/>
              <p:nvPr/>
            </p:nvSpPr>
            <p:spPr>
              <a:xfrm>
                <a:off x="450031" y="199565"/>
                <a:ext cx="948786" cy="2009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706" i="1">
                              <a:latin typeface="Cambria Math" panose="02040503050406030204" pitchFamily="18" charset="0"/>
                            </a:rPr>
                          </m:ctrlPr>
                        </m:sSubPr>
                        <m:e>
                          <m:r>
                            <a:rPr lang="en-US" altLang="zh-CN" sz="706" i="1">
                              <a:latin typeface="Cambria Math" panose="02040503050406030204" pitchFamily="18" charset="0"/>
                            </a:rPr>
                            <m:t>𝑚</m:t>
                          </m:r>
                        </m:e>
                        <m:sub>
                          <m:r>
                            <a:rPr lang="en-US" altLang="zh-CN" sz="706" i="1">
                              <a:latin typeface="Cambria Math" panose="02040503050406030204" pitchFamily="18" charset="0"/>
                            </a:rPr>
                            <m:t>1</m:t>
                          </m:r>
                        </m:sub>
                      </m:sSub>
                      <m:r>
                        <a:rPr lang="en-US" altLang="zh-CN" sz="706" i="1">
                          <a:latin typeface="Cambria Math" panose="02040503050406030204" pitchFamily="18" charset="0"/>
                        </a:rPr>
                        <m:t>=</m:t>
                      </m:r>
                      <m:sSub>
                        <m:sSubPr>
                          <m:ctrlPr>
                            <a:rPr lang="en-US" altLang="zh-CN" sz="706" i="1">
                              <a:latin typeface="Cambria Math" panose="02040503050406030204" pitchFamily="18" charset="0"/>
                            </a:rPr>
                          </m:ctrlPr>
                        </m:sSubPr>
                        <m:e>
                          <m:r>
                            <a:rPr lang="en-US" altLang="zh-CN" sz="706" i="1">
                              <a:latin typeface="Cambria Math" panose="02040503050406030204" pitchFamily="18" charset="0"/>
                            </a:rPr>
                            <m:t>𝐿</m:t>
                          </m:r>
                        </m:e>
                        <m:sub>
                          <m:r>
                            <a:rPr lang="en-US" altLang="zh-CN" sz="706" i="1">
                              <a:latin typeface="Cambria Math" panose="02040503050406030204" pitchFamily="18" charset="0"/>
                            </a:rPr>
                            <m:t>1</m:t>
                          </m:r>
                        </m:sub>
                      </m:sSub>
                      <m:d>
                        <m:dPr>
                          <m:ctrlPr>
                            <a:rPr lang="en-US" altLang="zh-CN" sz="706" i="1">
                              <a:latin typeface="Cambria Math" panose="02040503050406030204" pitchFamily="18" charset="0"/>
                            </a:rPr>
                          </m:ctrlPr>
                        </m:dPr>
                        <m:e>
                          <m:r>
                            <a:rPr lang="en-US" altLang="zh-CN" sz="706" i="1">
                              <a:latin typeface="Cambria Math" panose="02040503050406030204" pitchFamily="18" charset="0"/>
                            </a:rPr>
                            <m:t>𝑦</m:t>
                          </m:r>
                        </m:e>
                      </m:d>
                      <m:r>
                        <a:rPr lang="en-US" altLang="zh-CN" sz="706" i="1">
                          <a:latin typeface="Cambria Math" panose="02040503050406030204" pitchFamily="18" charset="0"/>
                        </a:rPr>
                        <m:t>=0.5</m:t>
                      </m:r>
                      <m:r>
                        <a:rPr lang="en-US" altLang="zh-CN" sz="706" i="1">
                          <a:latin typeface="Cambria Math" panose="02040503050406030204" pitchFamily="18" charset="0"/>
                        </a:rPr>
                        <m:t>𝑦</m:t>
                      </m:r>
                    </m:oMath>
                  </m:oMathPara>
                </a14:m>
                <a:endParaRPr lang="zh-CN" altLang="en-US" sz="706" dirty="0"/>
              </a:p>
            </p:txBody>
          </p:sp>
        </mc:Choice>
        <mc:Fallback xmlns="">
          <p:sp>
            <p:nvSpPr>
              <p:cNvPr id="11" name="矩形 10"/>
              <p:cNvSpPr>
                <a:spLocks noRot="1" noChangeAspect="1" noMove="1" noResize="1" noEditPoints="1" noAdjustHandles="1" noChangeArrowheads="1" noChangeShapeType="1" noTextEdit="1"/>
              </p:cNvSpPr>
              <p:nvPr/>
            </p:nvSpPr>
            <p:spPr>
              <a:xfrm>
                <a:off x="450031" y="199565"/>
                <a:ext cx="948786" cy="200952"/>
              </a:xfrm>
              <a:prstGeom prst="rect">
                <a:avLst/>
              </a:prstGeom>
              <a:blipFill>
                <a:blip r:embed="rId4"/>
                <a:stretch>
                  <a:fillRect b="-58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255884" y="870540"/>
                <a:ext cx="603563" cy="2009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706" i="1">
                          <a:latin typeface="Cambria Math" panose="02040503050406030204" pitchFamily="18" charset="0"/>
                        </a:rPr>
                        <m:t>𝑚</m:t>
                      </m:r>
                      <m:r>
                        <a:rPr lang="en-US" altLang="zh-CN" sz="706" i="1">
                          <a:latin typeface="Cambria Math" panose="02040503050406030204" pitchFamily="18" charset="0"/>
                        </a:rPr>
                        <m:t>=1250</m:t>
                      </m:r>
                    </m:oMath>
                  </m:oMathPara>
                </a14:m>
                <a:endParaRPr lang="zh-CN" altLang="en-US" sz="706" dirty="0"/>
              </a:p>
            </p:txBody>
          </p:sp>
        </mc:Choice>
        <mc:Fallback xmlns="">
          <p:sp>
            <p:nvSpPr>
              <p:cNvPr id="12" name="矩形 11"/>
              <p:cNvSpPr>
                <a:spLocks noRot="1" noChangeAspect="1" noMove="1" noResize="1" noEditPoints="1" noAdjustHandles="1" noChangeArrowheads="1" noChangeShapeType="1" noTextEdit="1"/>
              </p:cNvSpPr>
              <p:nvPr/>
            </p:nvSpPr>
            <p:spPr>
              <a:xfrm>
                <a:off x="3255884" y="870540"/>
                <a:ext cx="603563" cy="200952"/>
              </a:xfrm>
              <a:prstGeom prst="rect">
                <a:avLst/>
              </a:prstGeom>
              <a:blipFill>
                <a:blip r:embed="rId5"/>
                <a:stretch>
                  <a:fillRect/>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7D48A3FE-AE4D-99F4-5826-CEF6AC6EC32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43</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5DC6C09B-C749-1660-2DE8-C6BCE79FED1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7558444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44</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a:t>
            </a:r>
            <a:r>
              <a:rPr lang="zh-CN" altLang="en-US" sz="1613" dirty="0">
                <a:solidFill>
                  <a:srgbClr val="339966"/>
                </a:solidFill>
                <a:effectLst>
                  <a:outerShdw blurRad="38100" dist="38100" dir="2700000" algn="tl">
                    <a:srgbClr val="C0C0C0"/>
                  </a:outerShdw>
                </a:effectLst>
                <a:ea typeface="宋体" panose="02010600030101010101" pitchFamily="2" charset="-122"/>
              </a:rPr>
              <a:t>曲线</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39197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50" dirty="0"/>
                  <a:t>假定货币的交易需求函数是</a:t>
                </a:r>
                <a14:m>
                  <m:oMath xmlns:m="http://schemas.openxmlformats.org/officeDocument/2006/math">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𝑚</m:t>
                        </m:r>
                      </m:e>
                      <m:sub>
                        <m:r>
                          <a:rPr lang="en-US" altLang="zh-CN" sz="1050" i="1">
                            <a:latin typeface="Cambria Math" panose="02040503050406030204" pitchFamily="18" charset="0"/>
                          </a:rPr>
                          <m:t>1</m:t>
                        </m:r>
                      </m:sub>
                    </m:sSub>
                    <m:r>
                      <a:rPr lang="en-US" altLang="zh-CN" sz="1050" i="1">
                        <a:latin typeface="Cambria Math" panose="02040503050406030204" pitchFamily="18" charset="0"/>
                      </a:rPr>
                      <m:t>=</m:t>
                    </m:r>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𝐿</m:t>
                        </m:r>
                      </m:e>
                      <m:sub>
                        <m:r>
                          <a:rPr lang="en-US" altLang="zh-CN" sz="1050" i="1">
                            <a:latin typeface="Cambria Math" panose="02040503050406030204" pitchFamily="18" charset="0"/>
                          </a:rPr>
                          <m:t>1</m:t>
                        </m:r>
                      </m:sub>
                    </m:sSub>
                    <m:d>
                      <m:dPr>
                        <m:ctrlPr>
                          <a:rPr lang="en-US" altLang="zh-CN" sz="1050" i="1">
                            <a:latin typeface="Cambria Math" panose="02040503050406030204" pitchFamily="18" charset="0"/>
                          </a:rPr>
                        </m:ctrlPr>
                      </m:dPr>
                      <m:e>
                        <m:r>
                          <a:rPr lang="en-US" altLang="zh-CN" sz="1050" i="1">
                            <a:latin typeface="Cambria Math" panose="02040503050406030204" pitchFamily="18" charset="0"/>
                          </a:rPr>
                          <m:t>𝑦</m:t>
                        </m:r>
                      </m:e>
                    </m:d>
                    <m:r>
                      <a:rPr lang="en-US" altLang="zh-CN" sz="1050" i="1">
                        <a:latin typeface="Cambria Math" panose="02040503050406030204" pitchFamily="18" charset="0"/>
                      </a:rPr>
                      <m:t>=0.5</m:t>
                    </m:r>
                    <m:r>
                      <a:rPr lang="en-US" altLang="zh-CN" sz="1050" i="1">
                        <a:latin typeface="Cambria Math" panose="02040503050406030204" pitchFamily="18" charset="0"/>
                      </a:rPr>
                      <m:t>𝑦</m:t>
                    </m:r>
                    <m:r>
                      <a:rPr lang="en-US" altLang="zh-CN" sz="1050" i="1">
                        <a:latin typeface="Cambria Math" panose="02040503050406030204" pitchFamily="18" charset="0"/>
                      </a:rPr>
                      <m:t>, </m:t>
                    </m:r>
                  </m:oMath>
                </a14:m>
                <a:r>
                  <a:rPr lang="zh-CN" altLang="en-US" sz="1050" i="0" dirty="0">
                    <a:latin typeface="+mj-lt"/>
                  </a:rPr>
                  <a:t>货币的投资需求函数是</a:t>
                </a:r>
                <a14:m>
                  <m:oMath xmlns:m="http://schemas.openxmlformats.org/officeDocument/2006/math">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𝑚</m:t>
                        </m:r>
                      </m:e>
                      <m:sub>
                        <m:r>
                          <a:rPr lang="en-US" altLang="zh-CN" sz="1050" i="1">
                            <a:latin typeface="Cambria Math" panose="02040503050406030204" pitchFamily="18" charset="0"/>
                          </a:rPr>
                          <m:t>2</m:t>
                        </m:r>
                      </m:sub>
                    </m:sSub>
                    <m:r>
                      <a:rPr lang="en-US" altLang="zh-CN" sz="1050" i="1">
                        <a:latin typeface="Cambria Math" panose="02040503050406030204" pitchFamily="18" charset="0"/>
                      </a:rPr>
                      <m:t>=</m:t>
                    </m:r>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𝐿</m:t>
                        </m:r>
                      </m:e>
                      <m:sub>
                        <m:r>
                          <a:rPr lang="en-US" altLang="zh-CN" sz="1050" i="1">
                            <a:latin typeface="Cambria Math" panose="02040503050406030204" pitchFamily="18" charset="0"/>
                          </a:rPr>
                          <m:t>2</m:t>
                        </m:r>
                      </m:sub>
                    </m:sSub>
                    <m:d>
                      <m:dPr>
                        <m:ctrlPr>
                          <a:rPr lang="en-US" altLang="zh-CN" sz="1050" i="1">
                            <a:latin typeface="Cambria Math" panose="02040503050406030204" pitchFamily="18" charset="0"/>
                          </a:rPr>
                        </m:ctrlPr>
                      </m:dPr>
                      <m:e>
                        <m:r>
                          <a:rPr lang="en-US" altLang="zh-CN" sz="1050" i="1">
                            <a:latin typeface="Cambria Math" panose="02040503050406030204" pitchFamily="18" charset="0"/>
                          </a:rPr>
                          <m:t>𝑟</m:t>
                        </m:r>
                      </m:e>
                    </m:d>
                    <m:r>
                      <a:rPr lang="en-US" altLang="zh-CN" sz="1050" i="1">
                        <a:latin typeface="Cambria Math" panose="02040503050406030204" pitchFamily="18" charset="0"/>
                      </a:rPr>
                      <m:t>=1000−250</m:t>
                    </m:r>
                    <m:r>
                      <a:rPr lang="en-US" altLang="zh-CN" sz="1050" i="1">
                        <a:latin typeface="Cambria Math" panose="02040503050406030204" pitchFamily="18" charset="0"/>
                      </a:rPr>
                      <m:t>𝑟</m:t>
                    </m:r>
                  </m:oMath>
                </a14:m>
                <a:r>
                  <a:rPr lang="zh-CN" altLang="en-US" sz="1050" i="0" dirty="0">
                    <a:latin typeface="+mj-lt"/>
                  </a:rPr>
                  <a:t>，货币供给量</a:t>
                </a:r>
                <a14:m>
                  <m:oMath xmlns:m="http://schemas.openxmlformats.org/officeDocument/2006/math">
                    <m:r>
                      <a:rPr lang="en-US" altLang="zh-CN" sz="1050" i="1">
                        <a:latin typeface="Cambria Math" panose="02040503050406030204" pitchFamily="18" charset="0"/>
                      </a:rPr>
                      <m:t>𝑚</m:t>
                    </m:r>
                    <m:r>
                      <a:rPr lang="en-US" altLang="zh-CN" sz="1050" i="1">
                        <a:latin typeface="Cambria Math" panose="02040503050406030204" pitchFamily="18" charset="0"/>
                      </a:rPr>
                      <m:t>=1250</m:t>
                    </m:r>
                  </m:oMath>
                </a14:m>
                <a:r>
                  <a:rPr lang="zh-CN" altLang="en-US" sz="1050" dirty="0"/>
                  <a:t>亿美元，并假定这一实际货币供给量就是名义货币供给量</a:t>
                </a:r>
                <a:r>
                  <a:rPr lang="en-US" altLang="zh-CN" sz="1050" dirty="0"/>
                  <a:t>(M)</a:t>
                </a:r>
                <a:r>
                  <a:rPr lang="zh-CN" altLang="en-US" sz="1050" dirty="0"/>
                  <a:t>，则</a:t>
                </a:r>
                <a:r>
                  <a:rPr lang="en-US" altLang="zh-CN" sz="1050" dirty="0"/>
                  <a:t>LM</a:t>
                </a:r>
                <a:r>
                  <a:rPr lang="zh-CN" altLang="en-US" sz="1050" dirty="0"/>
                  <a:t>曲线是？</a:t>
                </a:r>
                <a:endParaRPr lang="zh-CN" altLang="en-US" sz="1050" dirty="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391979"/>
              </a:xfrm>
              <a:blipFill>
                <a:blip r:embed="rId2"/>
                <a:stretch>
                  <a:fillRect t="-529"/>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265775614"/>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45</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a:t>
            </a:r>
            <a:r>
              <a:rPr lang="zh-CN" altLang="en-US" sz="1613" dirty="0">
                <a:solidFill>
                  <a:srgbClr val="339966"/>
                </a:solidFill>
                <a:effectLst>
                  <a:outerShdw blurRad="38100" dist="38100" dir="2700000" algn="tl">
                    <a:srgbClr val="C0C0C0"/>
                  </a:outerShdw>
                </a:effectLst>
                <a:ea typeface="宋体" panose="02010600030101010101" pitchFamily="2" charset="-122"/>
              </a:rPr>
              <a:t>曲线</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391979"/>
          </a:xfrm>
          <a:ln>
            <a:noFill/>
          </a:ln>
        </p:spPr>
        <p:style>
          <a:lnRef idx="2">
            <a:schemeClr val="accent1"/>
          </a:lnRef>
          <a:fillRef idx="1">
            <a:schemeClr val="lt1"/>
          </a:fillRef>
          <a:effectRef idx="0">
            <a:schemeClr val="accent1"/>
          </a:effectRef>
          <a:fontRef idx="minor">
            <a:schemeClr val="dk1"/>
          </a:fontRef>
        </p:style>
        <p:txBody>
          <a:bodyPr/>
          <a:lstStyle/>
          <a:p>
            <a:r>
              <a:rPr lang="zh-CN" altLang="en-US" sz="1050" dirty="0">
                <a:ea typeface="SimSun" panose="02010600030101010101" pitchFamily="2" charset="-122"/>
                <a:cs typeface="Times New Roman" panose="02020603050405020304" pitchFamily="18" charset="0"/>
              </a:rPr>
              <a:t>假定货币需求为</a:t>
            </a:r>
            <a:r>
              <a:rPr lang="en-US" altLang="zh-CN" sz="1050" dirty="0">
                <a:ea typeface="SimSun" panose="02010600030101010101" pitchFamily="2" charset="-122"/>
                <a:cs typeface="Times New Roman" panose="02020603050405020304" pitchFamily="18" charset="0"/>
              </a:rPr>
              <a:t>L=0.2y-5r</a:t>
            </a:r>
          </a:p>
          <a:p>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a:t>
            </a:r>
            <a:r>
              <a:rPr lang="zh-CN" altLang="en-US" sz="1050" dirty="0">
                <a:ea typeface="SimSun" panose="02010600030101010101" pitchFamily="2" charset="-122"/>
                <a:cs typeface="Times New Roman" panose="02020603050405020304" pitchFamily="18" charset="0"/>
              </a:rPr>
              <a:t>）画出利率为</a:t>
            </a:r>
            <a:r>
              <a:rPr lang="en-US" altLang="zh-CN" sz="1050" dirty="0">
                <a:ea typeface="SimSun" panose="02010600030101010101" pitchFamily="2" charset="-122"/>
                <a:cs typeface="Times New Roman" panose="02020603050405020304" pitchFamily="18" charset="0"/>
              </a:rPr>
              <a:t>10%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6%</a:t>
            </a:r>
            <a:r>
              <a:rPr lang="zh-CN" altLang="en-US" sz="1050" dirty="0">
                <a:ea typeface="SimSun" panose="02010600030101010101" pitchFamily="2" charset="-122"/>
                <a:cs typeface="Times New Roman" panose="02020603050405020304" pitchFamily="18" charset="0"/>
              </a:rPr>
              <a:t>而收入为</a:t>
            </a:r>
            <a:r>
              <a:rPr lang="en-US" altLang="zh-CN" sz="1050" dirty="0">
                <a:ea typeface="SimSun" panose="02010600030101010101" pitchFamily="2" charset="-122"/>
                <a:cs typeface="Times New Roman" panose="02020603050405020304" pitchFamily="18" charset="0"/>
              </a:rPr>
              <a:t>800</a:t>
            </a:r>
            <a:r>
              <a:rPr lang="zh-CN" altLang="en-US" sz="1050" dirty="0">
                <a:ea typeface="SimSun" panose="02010600030101010101" pitchFamily="2" charset="-122"/>
                <a:cs typeface="Times New Roman" panose="02020603050405020304" pitchFamily="18" charset="0"/>
              </a:rPr>
              <a:t>亿美元、</a:t>
            </a:r>
            <a:r>
              <a:rPr lang="en-US" altLang="zh-CN" sz="1050" dirty="0">
                <a:ea typeface="SimSun" panose="02010600030101010101" pitchFamily="2" charset="-122"/>
                <a:cs typeface="Times New Roman" panose="02020603050405020304" pitchFamily="18" charset="0"/>
              </a:rPr>
              <a:t>900</a:t>
            </a:r>
            <a:r>
              <a:rPr lang="zh-CN" altLang="en-US" sz="1050" dirty="0">
                <a:ea typeface="SimSun" panose="02010600030101010101" pitchFamily="2" charset="-122"/>
                <a:cs typeface="Times New Roman" panose="02020603050405020304" pitchFamily="18" charset="0"/>
              </a:rPr>
              <a:t>亿美元、</a:t>
            </a:r>
            <a:r>
              <a:rPr lang="en-US" altLang="zh-CN" sz="1050" dirty="0">
                <a:ea typeface="SimSun" panose="02010600030101010101" pitchFamily="2" charset="-122"/>
                <a:cs typeface="Times New Roman" panose="02020603050405020304" pitchFamily="18" charset="0"/>
              </a:rPr>
              <a:t>1000</a:t>
            </a:r>
            <a:r>
              <a:rPr lang="zh-CN" altLang="en-US" sz="1050" dirty="0">
                <a:ea typeface="SimSun" panose="02010600030101010101" pitchFamily="2" charset="-122"/>
                <a:cs typeface="Times New Roman" panose="02020603050405020304" pitchFamily="18" charset="0"/>
              </a:rPr>
              <a:t>亿美元时的货币需求曲线；</a:t>
            </a:r>
            <a:endParaRPr lang="en-US" altLang="zh-CN" sz="1050" dirty="0">
              <a:ea typeface="SimSun" panose="02010600030101010101" pitchFamily="2" charset="-122"/>
              <a:cs typeface="Times New Roman" panose="02020603050405020304" pitchFamily="18" charset="0"/>
            </a:endParaRPr>
          </a:p>
          <a:p>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2</a:t>
            </a:r>
            <a:r>
              <a:rPr lang="zh-CN" altLang="en-US" sz="1050" dirty="0">
                <a:ea typeface="SimSun" panose="02010600030101010101" pitchFamily="2" charset="-122"/>
                <a:cs typeface="Times New Roman" panose="02020603050405020304" pitchFamily="18" charset="0"/>
              </a:rPr>
              <a:t>）若名义货币供给量是</a:t>
            </a:r>
            <a:r>
              <a:rPr lang="en-US" altLang="zh-CN" sz="1050" dirty="0">
                <a:ea typeface="SimSun" panose="02010600030101010101" pitchFamily="2" charset="-122"/>
                <a:cs typeface="Times New Roman" panose="02020603050405020304" pitchFamily="18" charset="0"/>
              </a:rPr>
              <a:t>150</a:t>
            </a:r>
            <a:r>
              <a:rPr lang="zh-CN" altLang="en-US" sz="1050" dirty="0">
                <a:ea typeface="SimSun" panose="02010600030101010101" pitchFamily="2" charset="-122"/>
                <a:cs typeface="Times New Roman" panose="02020603050405020304" pitchFamily="18" charset="0"/>
              </a:rPr>
              <a:t>亿美元，价格水平</a:t>
            </a:r>
            <a:r>
              <a:rPr lang="en-US" altLang="zh-CN" sz="1050" dirty="0">
                <a:ea typeface="SimSun" panose="02010600030101010101" pitchFamily="2" charset="-122"/>
                <a:cs typeface="Times New Roman" panose="02020603050405020304" pitchFamily="18" charset="0"/>
              </a:rPr>
              <a:t>P=1</a:t>
            </a:r>
            <a:r>
              <a:rPr lang="zh-CN" altLang="en-US" sz="1050" dirty="0">
                <a:ea typeface="SimSun" panose="02010600030101010101" pitchFamily="2" charset="-122"/>
                <a:cs typeface="Times New Roman" panose="02020603050405020304" pitchFamily="18" charset="0"/>
              </a:rPr>
              <a:t>，找出货币需求与供给相均衡的收入与利率；</a:t>
            </a:r>
            <a:endParaRPr lang="en-US" altLang="zh-CN" sz="1050" dirty="0">
              <a:ea typeface="SimSun" panose="02010600030101010101" pitchFamily="2" charset="-122"/>
              <a:cs typeface="Times New Roman" panose="02020603050405020304" pitchFamily="18" charset="0"/>
            </a:endParaRPr>
          </a:p>
          <a:p>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3</a:t>
            </a:r>
            <a:r>
              <a:rPr lang="zh-CN" altLang="en-US" sz="1050" dirty="0">
                <a:ea typeface="SimSun" panose="02010600030101010101" pitchFamily="2" charset="-122"/>
                <a:cs typeface="Times New Roman" panose="02020603050405020304" pitchFamily="18" charset="0"/>
              </a:rPr>
              <a:t>）画出</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曲线，说明什么是</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a:t>
            </a:r>
            <a:endParaRPr lang="en-US" altLang="zh-CN" sz="1050" dirty="0">
              <a:ea typeface="SimSun" panose="02010600030101010101" pitchFamily="2" charset="-122"/>
              <a:cs typeface="Times New Roman" panose="02020603050405020304" pitchFamily="18" charset="0"/>
            </a:endParaRPr>
          </a:p>
          <a:p>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4</a:t>
            </a:r>
            <a:r>
              <a:rPr lang="zh-CN" altLang="en-US" sz="1050" dirty="0">
                <a:ea typeface="SimSun" panose="02010600030101010101" pitchFamily="2" charset="-122"/>
                <a:cs typeface="Times New Roman" panose="02020603050405020304" pitchFamily="18" charset="0"/>
              </a:rPr>
              <a:t>）若货币供给为</a:t>
            </a:r>
            <a:r>
              <a:rPr lang="en-US" altLang="zh-CN" sz="1050" dirty="0">
                <a:ea typeface="SimSun" panose="02010600030101010101" pitchFamily="2" charset="-122"/>
                <a:cs typeface="Times New Roman" panose="02020603050405020304" pitchFamily="18" charset="0"/>
              </a:rPr>
              <a:t>200</a:t>
            </a:r>
            <a:r>
              <a:rPr lang="zh-CN" altLang="en-US" sz="1050" dirty="0">
                <a:ea typeface="SimSun" panose="02010600030101010101" pitchFamily="2" charset="-122"/>
                <a:cs typeface="Times New Roman" panose="02020603050405020304" pitchFamily="18" charset="0"/>
              </a:rPr>
              <a:t>亿美元，再画一条</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曲线，这条</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曲线与（</a:t>
            </a:r>
            <a:r>
              <a:rPr lang="en-US" altLang="zh-CN" sz="1050" dirty="0">
                <a:ea typeface="SimSun" panose="02010600030101010101" pitchFamily="2" charset="-122"/>
                <a:cs typeface="Times New Roman" panose="02020603050405020304" pitchFamily="18" charset="0"/>
              </a:rPr>
              <a:t>3</a:t>
            </a:r>
            <a:r>
              <a:rPr lang="zh-CN" altLang="en-US" sz="1050" dirty="0">
                <a:ea typeface="SimSun" panose="02010600030101010101" pitchFamily="2" charset="-122"/>
                <a:cs typeface="Times New Roman" panose="02020603050405020304" pitchFamily="18" charset="0"/>
              </a:rPr>
              <a:t>）相比有何不同？</a:t>
            </a:r>
            <a:endParaRPr lang="en-US" altLang="zh-CN" sz="1050" dirty="0">
              <a:ea typeface="SimSun" panose="02010600030101010101" pitchFamily="2" charset="-122"/>
              <a:cs typeface="Times New Roman" panose="02020603050405020304" pitchFamily="18" charset="0"/>
            </a:endParaRPr>
          </a:p>
          <a:p>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5</a:t>
            </a:r>
            <a:r>
              <a:rPr lang="zh-CN" altLang="en-US" sz="1050" dirty="0">
                <a:ea typeface="SimSun" panose="02010600030101010101" pitchFamily="2" charset="-122"/>
                <a:cs typeface="Times New Roman" panose="02020603050405020304" pitchFamily="18" charset="0"/>
              </a:rPr>
              <a:t>）对于（</a:t>
            </a:r>
            <a:r>
              <a:rPr lang="en-US" altLang="zh-CN" sz="1050" dirty="0">
                <a:ea typeface="SimSun" panose="02010600030101010101" pitchFamily="2" charset="-122"/>
                <a:cs typeface="Times New Roman" panose="02020603050405020304" pitchFamily="18" charset="0"/>
              </a:rPr>
              <a:t>4</a:t>
            </a:r>
            <a:r>
              <a:rPr lang="zh-CN" altLang="en-US" sz="1050" dirty="0">
                <a:ea typeface="SimSun" panose="02010600030101010101" pitchFamily="2" charset="-122"/>
                <a:cs typeface="Times New Roman" panose="02020603050405020304" pitchFamily="18" charset="0"/>
              </a:rPr>
              <a:t>）中的</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曲线，若</a:t>
            </a:r>
            <a:r>
              <a:rPr lang="en-US" altLang="zh-CN" sz="1050" dirty="0">
                <a:ea typeface="SimSun" panose="02010600030101010101" pitchFamily="2" charset="-122"/>
                <a:cs typeface="Times New Roman" panose="02020603050405020304" pitchFamily="18" charset="0"/>
              </a:rPr>
              <a:t>r=10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y=1100</a:t>
            </a:r>
            <a:r>
              <a:rPr lang="zh-CN" altLang="en-US" sz="1050" dirty="0">
                <a:ea typeface="SimSun" panose="02010600030101010101" pitchFamily="2" charset="-122"/>
                <a:cs typeface="Times New Roman" panose="02020603050405020304" pitchFamily="18" charset="0"/>
              </a:rPr>
              <a:t>亿美元，货币需求与供给是否均衡？若不均衡，利率将怎样变动？</a:t>
            </a:r>
          </a:p>
        </p:txBody>
      </p:sp>
    </p:spTree>
    <p:extLst>
      <p:ext uri="{BB962C8B-B14F-4D97-AF65-F5344CB8AC3E}">
        <p14:creationId xmlns:p14="http://schemas.microsoft.com/office/powerpoint/2010/main" val="2711144593"/>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xf141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65253" y="685492"/>
            <a:ext cx="2492504" cy="1758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2505074" y="2552686"/>
            <a:ext cx="1063112" cy="216534"/>
          </a:xfrm>
          <a:prstGeom prst="rect">
            <a:avLst/>
          </a:prstGeom>
        </p:spPr>
        <p:txBody>
          <a:bodyPr wrap="none">
            <a:spAutoFit/>
          </a:bodyPr>
          <a:lstStyle/>
          <a:p>
            <a:r>
              <a:rPr lang="en-US" altLang="zh-CN" sz="807" b="1" dirty="0"/>
              <a:t>LM</a:t>
            </a:r>
            <a:r>
              <a:rPr lang="zh-CN" altLang="en-US" sz="807" b="1" dirty="0"/>
              <a:t>曲线的三个区域</a:t>
            </a:r>
          </a:p>
        </p:txBody>
      </p:sp>
      <mc:AlternateContent xmlns:mc="http://schemas.openxmlformats.org/markup-compatibility/2006" xmlns:a14="http://schemas.microsoft.com/office/drawing/2010/main">
        <mc:Choice Requires="a14">
          <p:sp>
            <p:nvSpPr>
              <p:cNvPr id="9" name="矩形 8"/>
              <p:cNvSpPr/>
              <p:nvPr/>
            </p:nvSpPr>
            <p:spPr>
              <a:xfrm>
                <a:off x="252343" y="628576"/>
                <a:ext cx="1686326" cy="2113912"/>
              </a:xfrm>
              <a:prstGeom prst="rect">
                <a:avLst/>
              </a:prstGeom>
            </p:spPr>
            <p:txBody>
              <a:bodyPr wrap="square">
                <a:spAutoFit/>
              </a:bodyPr>
              <a:lstStyle/>
              <a:p>
                <a:r>
                  <a:rPr lang="zh-CN" altLang="en-US" sz="908" dirty="0">
                    <a:latin typeface="Garamond" panose="02020404030301010803" pitchFamily="18" charset="0"/>
                    <a:ea typeface="SimSun" panose="02010600030101010101" pitchFamily="2" charset="-122"/>
                  </a:rPr>
                  <a:t>    从上例中的图形推导可以看出，</a:t>
                </a:r>
                <a:r>
                  <a:rPr lang="en-US" altLang="zh-CN" sz="908" dirty="0">
                    <a:latin typeface="Garamond" panose="02020404030301010803" pitchFamily="18" charset="0"/>
                    <a:ea typeface="SimSun" panose="02010600030101010101" pitchFamily="2" charset="-122"/>
                  </a:rPr>
                  <a:t>LM</a:t>
                </a:r>
                <a:r>
                  <a:rPr lang="zh-CN" altLang="en-US" sz="908" dirty="0">
                    <a:latin typeface="Garamond" panose="02020404030301010803" pitchFamily="18" charset="0"/>
                    <a:ea typeface="SimSun" panose="02010600030101010101" pitchFamily="2" charset="-122"/>
                  </a:rPr>
                  <a:t>是一条向右上方倾斜的直线， 且与水平轴相交。但实际上，这样的假定并不真实。</a:t>
                </a:r>
                <a:endParaRPr lang="en-US" altLang="zh-CN" sz="908" dirty="0">
                  <a:latin typeface="Garamond" panose="02020404030301010803" pitchFamily="18" charset="0"/>
                  <a:ea typeface="SimSun" panose="02010600030101010101" pitchFamily="2" charset="-122"/>
                </a:endParaRPr>
              </a:p>
              <a:p>
                <a:r>
                  <a:rPr lang="zh-CN" altLang="en-US" sz="908" dirty="0">
                    <a:latin typeface="Garamond" panose="02020404030301010803" pitchFamily="18" charset="0"/>
                    <a:ea typeface="SimSun" panose="02010600030101010101" pitchFamily="2" charset="-122"/>
                  </a:rPr>
                  <a:t>    当利率很低时</a:t>
                </a:r>
                <a:r>
                  <a:rPr lang="en-US" altLang="zh-CN" sz="908" dirty="0">
                    <a:latin typeface="Garamond" panose="02020404030301010803" pitchFamily="18" charset="0"/>
                    <a:ea typeface="SimSun" panose="02010600030101010101" pitchFamily="2" charset="-122"/>
                  </a:rPr>
                  <a:t>(</a:t>
                </a:r>
                <a:r>
                  <a:rPr lang="zh-CN" altLang="en-US" sz="908" dirty="0">
                    <a:latin typeface="Garamond" panose="02020404030301010803" pitchFamily="18" charset="0"/>
                    <a:ea typeface="SimSun" panose="02010600030101010101" pitchFamily="2" charset="-122"/>
                  </a:rPr>
                  <a:t>不为零</a:t>
                </a:r>
                <a:r>
                  <a:rPr lang="en-US" altLang="zh-CN" sz="908" dirty="0">
                    <a:latin typeface="Garamond" panose="02020404030301010803" pitchFamily="18" charset="0"/>
                    <a:ea typeface="SimSun" panose="02010600030101010101" pitchFamily="2" charset="-122"/>
                  </a:rPr>
                  <a:t>)</a:t>
                </a:r>
                <a:r>
                  <a:rPr lang="zh-CN" altLang="en-US" sz="908" dirty="0">
                    <a:latin typeface="Garamond" panose="02020404030301010803" pitchFamily="18" charset="0"/>
                    <a:ea typeface="SimSun" panose="02010600030101010101" pitchFamily="2" charset="-122"/>
                  </a:rPr>
                  <a:t>，货币的投资需求会变得无限大；反之，利率升的足够高即远高于</a:t>
                </a:r>
                <a:r>
                  <a:rPr lang="en-US" altLang="zh-CN" sz="908" dirty="0">
                    <a:latin typeface="Garamond" panose="02020404030301010803" pitchFamily="18" charset="0"/>
                    <a:ea typeface="SimSun" panose="02010600030101010101" pitchFamily="2" charset="-122"/>
                  </a:rPr>
                  <a:t>4%</a:t>
                </a:r>
                <a:r>
                  <a:rPr lang="zh-CN" altLang="en-US" sz="908" dirty="0">
                    <a:latin typeface="Garamond" panose="02020404030301010803" pitchFamily="18" charset="0"/>
                    <a:ea typeface="SimSun" panose="02010600030101010101" pitchFamily="2" charset="-122"/>
                  </a:rPr>
                  <a:t>时，货币投机需求才会完全消失。</a:t>
                </a:r>
                <a:endParaRPr lang="en-US" altLang="zh-CN" sz="908" dirty="0">
                  <a:latin typeface="Garamond" panose="02020404030301010803" pitchFamily="18" charset="0"/>
                  <a:ea typeface="SimSun" panose="02010600030101010101" pitchFamily="2" charset="-122"/>
                </a:endParaRPr>
              </a:p>
              <a:p>
                <a:r>
                  <a:rPr lang="en-US" altLang="zh-CN" sz="908" dirty="0">
                    <a:latin typeface="Garamond" panose="02020404030301010803" pitchFamily="18" charset="0"/>
                    <a:ea typeface="SimSun" panose="02010600030101010101" pitchFamily="2" charset="-122"/>
                  </a:rPr>
                  <a:t>    LM</a:t>
                </a:r>
                <a:r>
                  <a:rPr lang="zh-CN" altLang="en-US" sz="908" dirty="0">
                    <a:latin typeface="Garamond" panose="02020404030301010803" pitchFamily="18" charset="0"/>
                    <a:ea typeface="SimSun" panose="02010600030101010101" pitchFamily="2" charset="-122"/>
                  </a:rPr>
                  <a:t>曲线的斜率取决于货币的投机需求曲线和交易需求曲线的斜率。即</a:t>
                </a:r>
                <a14:m>
                  <m:oMath xmlns:m="http://schemas.openxmlformats.org/officeDocument/2006/math">
                    <m:r>
                      <m:rPr>
                        <m:sty m:val="p"/>
                      </m:rPr>
                      <a:rPr lang="en-US" altLang="zh-CN" sz="908">
                        <a:latin typeface="Cambria Math" panose="02040503050406030204" pitchFamily="18" charset="0"/>
                      </a:rPr>
                      <m:t>r</m:t>
                    </m:r>
                    <m:r>
                      <a:rPr lang="en-US" altLang="zh-CN" sz="908">
                        <a:latin typeface="Cambria Math" panose="02040503050406030204" pitchFamily="18" charset="0"/>
                      </a:rPr>
                      <m:t>=</m:t>
                    </m:r>
                    <m:f>
                      <m:fPr>
                        <m:ctrlPr>
                          <a:rPr lang="en-US" altLang="zh-CN" sz="908" i="1">
                            <a:latin typeface="Cambria Math" panose="02040503050406030204" pitchFamily="18" charset="0"/>
                          </a:rPr>
                        </m:ctrlPr>
                      </m:fPr>
                      <m:num>
                        <m:r>
                          <m:rPr>
                            <m:sty m:val="p"/>
                          </m:rPr>
                          <a:rPr lang="en-US" altLang="zh-CN" sz="908">
                            <a:latin typeface="Cambria Math" panose="02040503050406030204" pitchFamily="18" charset="0"/>
                          </a:rPr>
                          <m:t>ky</m:t>
                        </m:r>
                      </m:num>
                      <m:den>
                        <m:r>
                          <m:rPr>
                            <m:sty m:val="p"/>
                          </m:rPr>
                          <a:rPr lang="en-US" altLang="zh-CN" sz="908">
                            <a:latin typeface="Cambria Math" panose="02040503050406030204" pitchFamily="18" charset="0"/>
                          </a:rPr>
                          <m:t>h</m:t>
                        </m:r>
                      </m:den>
                    </m:f>
                    <m:r>
                      <a:rPr lang="en-US" altLang="zh-CN" sz="908">
                        <a:latin typeface="Cambria Math" panose="02040503050406030204" pitchFamily="18" charset="0"/>
                      </a:rPr>
                      <m:t>−</m:t>
                    </m:r>
                    <m:f>
                      <m:fPr>
                        <m:ctrlPr>
                          <a:rPr lang="en-US" altLang="zh-CN" sz="908" i="1">
                            <a:latin typeface="Cambria Math" panose="02040503050406030204" pitchFamily="18" charset="0"/>
                          </a:rPr>
                        </m:ctrlPr>
                      </m:fPr>
                      <m:num>
                        <m:r>
                          <a:rPr lang="en-US" altLang="zh-CN" sz="908" i="1">
                            <a:latin typeface="Cambria Math" panose="02040503050406030204" pitchFamily="18" charset="0"/>
                          </a:rPr>
                          <m:t>𝑚</m:t>
                        </m:r>
                      </m:num>
                      <m:den>
                        <m:r>
                          <a:rPr lang="en-US" altLang="zh-CN" sz="908" i="1">
                            <a:latin typeface="Cambria Math" panose="02040503050406030204" pitchFamily="18" charset="0"/>
                          </a:rPr>
                          <m:t>h</m:t>
                        </m:r>
                      </m:den>
                    </m:f>
                  </m:oMath>
                </a14:m>
                <a:r>
                  <a:rPr lang="zh-CN" altLang="en-US" sz="908" dirty="0">
                    <a:latin typeface="Garamond" panose="02020404030301010803" pitchFamily="18" charset="0"/>
                    <a:ea typeface="SimSun" panose="02010600030101010101" pitchFamily="2" charset="-122"/>
                  </a:rPr>
                  <a:t>中的</a:t>
                </a:r>
                <a:r>
                  <a:rPr lang="en-US" altLang="zh-CN" sz="908" dirty="0" err="1">
                    <a:latin typeface="Garamond" panose="02020404030301010803" pitchFamily="18" charset="0"/>
                    <a:ea typeface="SimSun" panose="02010600030101010101" pitchFamily="2" charset="-122"/>
                  </a:rPr>
                  <a:t>k,h</a:t>
                </a:r>
                <a:r>
                  <a:rPr lang="zh-CN" altLang="en-US" sz="908" dirty="0">
                    <a:latin typeface="Garamond" panose="02020404030301010803" pitchFamily="18" charset="0"/>
                    <a:ea typeface="SimSun" panose="02010600030101010101" pitchFamily="2" charset="-122"/>
                  </a:rPr>
                  <a:t>。</a:t>
                </a:r>
              </a:p>
            </p:txBody>
          </p:sp>
        </mc:Choice>
        <mc:Fallback xmlns="">
          <p:sp>
            <p:nvSpPr>
              <p:cNvPr id="9" name="矩形 8"/>
              <p:cNvSpPr>
                <a:spLocks noRot="1" noChangeAspect="1" noMove="1" noResize="1" noEditPoints="1" noAdjustHandles="1" noChangeArrowheads="1" noChangeShapeType="1" noTextEdit="1"/>
              </p:cNvSpPr>
              <p:nvPr/>
            </p:nvSpPr>
            <p:spPr>
              <a:xfrm>
                <a:off x="252343" y="628576"/>
                <a:ext cx="1686326" cy="2113912"/>
              </a:xfrm>
              <a:prstGeom prst="rect">
                <a:avLst/>
              </a:prstGeom>
              <a:blipFill>
                <a:blip r:embed="rId3"/>
                <a:stretch>
                  <a:fillRect r="-746"/>
                </a:stretch>
              </a:blipFill>
            </p:spPr>
            <p:txBody>
              <a:bodyPr/>
              <a:lstStyle/>
              <a:p>
                <a:r>
                  <a:rPr lang="zh-CN" altLang="en-US">
                    <a:noFill/>
                  </a:rPr>
                  <a:t> </a:t>
                </a:r>
              </a:p>
            </p:txBody>
          </p:sp>
        </mc:Fallback>
      </mc:AlternateContent>
      <p:sp>
        <p:nvSpPr>
          <p:cNvPr id="10" name="矩形 9"/>
          <p:cNvSpPr/>
          <p:nvPr/>
        </p:nvSpPr>
        <p:spPr>
          <a:xfrm>
            <a:off x="252343" y="2788371"/>
            <a:ext cx="4040813" cy="37176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908" dirty="0">
                <a:latin typeface="Garamond" panose="02020404030301010803" pitchFamily="18" charset="0"/>
                <a:ea typeface="SimSun" panose="02010600030101010101" pitchFamily="2" charset="-122"/>
              </a:rPr>
              <a:t> 西方学者认为，货币的交易需求函数一般比较稳定，因此，</a:t>
            </a:r>
            <a:r>
              <a:rPr lang="en-US" altLang="zh-CN" sz="908" dirty="0">
                <a:latin typeface="Garamond" panose="02020404030301010803" pitchFamily="18" charset="0"/>
                <a:ea typeface="SimSun" panose="02010600030101010101" pitchFamily="2" charset="-122"/>
              </a:rPr>
              <a:t>LM</a:t>
            </a:r>
            <a:r>
              <a:rPr lang="zh-CN" altLang="en-US" sz="908" dirty="0">
                <a:latin typeface="Garamond" panose="02020404030301010803" pitchFamily="18" charset="0"/>
                <a:ea typeface="SimSun" panose="02010600030101010101" pitchFamily="2" charset="-122"/>
              </a:rPr>
              <a:t>曲线的斜率主要取决于货币的投机需求函数。投机动机的需求函数是利率的减函数。</a:t>
            </a:r>
          </a:p>
        </p:txBody>
      </p:sp>
      <p:sp>
        <p:nvSpPr>
          <p:cNvPr id="3" name="标题 2">
            <a:extLst>
              <a:ext uri="{FF2B5EF4-FFF2-40B4-BE49-F238E27FC236}">
                <a16:creationId xmlns:a16="http://schemas.microsoft.com/office/drawing/2014/main" id="{38AC9DD0-E90F-83DC-74CE-2AB0320D838B}"/>
              </a:ext>
            </a:extLst>
          </p:cNvPr>
          <p:cNvSpPr>
            <a:spLocks noGrp="1"/>
          </p:cNvSpPr>
          <p:nvPr>
            <p:ph type="title"/>
          </p:nvPr>
        </p:nvSpPr>
        <p:spPr/>
        <p:txBody>
          <a:bodyPr/>
          <a:lstStyle/>
          <a:p>
            <a:r>
              <a:rPr kumimoji="1" lang="en" altLang="zh-CN" dirty="0"/>
              <a:t>LM</a:t>
            </a:r>
            <a:r>
              <a:rPr kumimoji="1" lang="zh-CN" altLang="en-US" dirty="0"/>
              <a:t>曲线的斜率</a:t>
            </a:r>
          </a:p>
        </p:txBody>
      </p:sp>
      <p:sp>
        <p:nvSpPr>
          <p:cNvPr id="4" name="灯片编号占位符 2">
            <a:extLst>
              <a:ext uri="{FF2B5EF4-FFF2-40B4-BE49-F238E27FC236}">
                <a16:creationId xmlns:a16="http://schemas.microsoft.com/office/drawing/2014/main" id="{D08E6F54-71B5-9513-4A54-CC0F47F994B3}"/>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46</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6E9A9322-107A-50AC-358A-2CBC82FA40B8}"/>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51451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77914E-81B3-47A0-9663-DED21FD412A0}"/>
              </a:ext>
            </a:extLst>
          </p:cNvPr>
          <p:cNvSpPr>
            <a:spLocks noGrp="1"/>
          </p:cNvSpPr>
          <p:nvPr>
            <p:ph type="title"/>
          </p:nvPr>
        </p:nvSpPr>
        <p:spPr/>
        <p:txBody>
          <a:bodyPr/>
          <a:lstStyle/>
          <a:p>
            <a:r>
              <a:rPr lang="en" altLang="zh-CN" dirty="0"/>
              <a:t>LM</a:t>
            </a:r>
            <a:r>
              <a:rPr lang="zh-CN" altLang="en-US" dirty="0"/>
              <a:t>曲线的斜率</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6565FA2-A35C-4B66-8496-064B68862F2C}"/>
                  </a:ext>
                </a:extLst>
              </p:cNvPr>
              <p:cNvSpPr>
                <a:spLocks noGrp="1"/>
              </p:cNvSpPr>
              <p:nvPr>
                <p:ph idx="1"/>
              </p:nvPr>
            </p:nvSpPr>
            <p:spPr/>
            <p:txBody>
              <a:bodyPr/>
              <a:lstStyle/>
              <a:p>
                <a:r>
                  <a:rPr lang="en-US" altLang="zh-CN" sz="1210" b="1" dirty="0">
                    <a:latin typeface="微软雅黑 Light" panose="020B0502040204020203" pitchFamily="34" charset="-122"/>
                    <a:ea typeface="微软雅黑 Light" panose="020B0502040204020203" pitchFamily="34" charset="-122"/>
                  </a:rPr>
                  <a:t>1. </a:t>
                </a:r>
                <a:r>
                  <a:rPr lang="zh-CN" altLang="en-US" sz="1210" b="1" dirty="0">
                    <a:latin typeface="微软雅黑 Light" panose="020B0502040204020203" pitchFamily="34" charset="-122"/>
                    <a:ea typeface="微软雅黑 Light" panose="020B0502040204020203" pitchFamily="34" charset="-122"/>
                  </a:rPr>
                  <a:t>凯恩斯区域</a:t>
                </a:r>
                <a:endParaRPr lang="en-US" altLang="zh-CN" sz="1210" b="1" dirty="0">
                  <a:latin typeface="微软雅黑 Light" panose="020B0502040204020203" pitchFamily="34" charset="-122"/>
                  <a:ea typeface="微软雅黑 Light" panose="020B0502040204020203" pitchFamily="34" charset="-122"/>
                </a:endParaRPr>
              </a:p>
              <a:p>
                <a:r>
                  <a:rPr lang="zh-CN" altLang="en-US" sz="1210" dirty="0">
                    <a:latin typeface="微软雅黑 Light" panose="020B0502040204020203" pitchFamily="34" charset="-122"/>
                    <a:ea typeface="微软雅黑 Light" panose="020B0502040204020203" pitchFamily="34" charset="-122"/>
                  </a:rPr>
                  <a:t>实际利率较低的时候，投机性需求无限大</a:t>
                </a:r>
                <a:endParaRPr lang="en-US" altLang="zh-CN" sz="1210" dirty="0">
                  <a:latin typeface="微软雅黑 Light" panose="020B0502040204020203" pitchFamily="34" charset="-122"/>
                  <a:ea typeface="微软雅黑 Light" panose="020B0502040204020203" pitchFamily="34" charset="-122"/>
                </a:endParaRPr>
              </a:p>
              <a:p>
                <a:r>
                  <a:rPr lang="zh-CN" altLang="en-US" sz="1210" dirty="0">
                    <a:latin typeface="微软雅黑 Light" panose="020B0502040204020203" pitchFamily="34" charset="-122"/>
                    <a:ea typeface="微软雅黑 Light" panose="020B0502040204020203" pitchFamily="34" charset="-122"/>
                  </a:rPr>
                  <a:t>即</a:t>
                </a:r>
                <a14:m>
                  <m:oMath xmlns:m="http://schemas.openxmlformats.org/officeDocument/2006/math">
                    <m:r>
                      <a:rPr lang="en-US" altLang="zh-CN" sz="1210" i="1">
                        <a:latin typeface="Cambria Math" panose="02040503050406030204" pitchFamily="18" charset="0"/>
                      </a:rPr>
                      <m:t>h</m:t>
                    </m:r>
                    <m:r>
                      <a:rPr lang="en-US" altLang="zh-CN" sz="1210" i="1">
                        <a:latin typeface="Cambria Math" panose="02040503050406030204" pitchFamily="18" charset="0"/>
                        <a:ea typeface="Cambria Math" panose="02040503050406030204" pitchFamily="18" charset="0"/>
                      </a:rPr>
                      <m:t>→∞,</m:t>
                    </m:r>
                    <m:f>
                      <m:fPr>
                        <m:ctrlPr>
                          <a:rPr lang="en-US" altLang="zh-CN" sz="1210" i="1">
                            <a:latin typeface="Cambria Math" panose="02040503050406030204" pitchFamily="18" charset="0"/>
                            <a:ea typeface="Cambria Math" panose="02040503050406030204" pitchFamily="18" charset="0"/>
                          </a:rPr>
                        </m:ctrlPr>
                      </m:fPr>
                      <m:num>
                        <m:r>
                          <a:rPr lang="en-US" altLang="zh-CN" sz="1210" i="1">
                            <a:latin typeface="Cambria Math" panose="02040503050406030204" pitchFamily="18" charset="0"/>
                            <a:ea typeface="Cambria Math" panose="02040503050406030204" pitchFamily="18" charset="0"/>
                          </a:rPr>
                          <m:t>𝑘</m:t>
                        </m:r>
                      </m:num>
                      <m:den>
                        <m:r>
                          <a:rPr lang="en-US" altLang="zh-CN" sz="1210" i="1">
                            <a:latin typeface="Cambria Math" panose="02040503050406030204" pitchFamily="18" charset="0"/>
                            <a:ea typeface="Cambria Math" panose="02040503050406030204" pitchFamily="18" charset="0"/>
                          </a:rPr>
                          <m:t>h</m:t>
                        </m:r>
                      </m:den>
                    </m:f>
                    <m:r>
                      <a:rPr lang="en-US" altLang="zh-CN" sz="1210" i="1">
                        <a:latin typeface="Cambria Math" panose="02040503050406030204" pitchFamily="18" charset="0"/>
                        <a:ea typeface="Cambria Math" panose="02040503050406030204" pitchFamily="18" charset="0"/>
                      </a:rPr>
                      <m:t>→0,</m:t>
                    </m:r>
                    <m:r>
                      <a:rPr lang="en-US" altLang="zh-CN" sz="1210" i="1">
                        <a:latin typeface="Cambria Math" panose="02040503050406030204" pitchFamily="18" charset="0"/>
                        <a:ea typeface="Cambria Math" panose="02040503050406030204" pitchFamily="18" charset="0"/>
                      </a:rPr>
                      <m:t>𝐿𝑀</m:t>
                    </m:r>
                    <m:r>
                      <a:rPr lang="zh-CN" altLang="en-US" sz="1210" i="1">
                        <a:latin typeface="Cambria Math" panose="02040503050406030204" pitchFamily="18" charset="0"/>
                        <a:ea typeface="Cambria Math" panose="02040503050406030204" pitchFamily="18" charset="0"/>
                      </a:rPr>
                      <m:t>曲线</m:t>
                    </m:r>
                  </m:oMath>
                </a14:m>
                <a:r>
                  <a:rPr lang="zh-CN" altLang="en-US" sz="1210" dirty="0">
                    <a:latin typeface="微软雅黑 Light" panose="020B0502040204020203" pitchFamily="34" charset="-122"/>
                    <a:ea typeface="微软雅黑 Light" panose="020B0502040204020203" pitchFamily="34" charset="-122"/>
                  </a:rPr>
                  <a:t>趋向水平</a:t>
                </a:r>
                <a:endParaRPr lang="en-US" altLang="zh-CN" sz="1210" dirty="0">
                  <a:latin typeface="微软雅黑 Light" panose="020B0502040204020203" pitchFamily="34" charset="-122"/>
                  <a:ea typeface="微软雅黑 Light" panose="020B0502040204020203" pitchFamily="34" charset="-122"/>
                </a:endParaRPr>
              </a:p>
              <a:p>
                <a:r>
                  <a:rPr lang="en-US" altLang="zh-CN" sz="1210" b="1" dirty="0">
                    <a:latin typeface="微软雅黑 Light" panose="020B0502040204020203" pitchFamily="34" charset="-122"/>
                    <a:ea typeface="微软雅黑 Light" panose="020B0502040204020203" pitchFamily="34" charset="-122"/>
                  </a:rPr>
                  <a:t>2. </a:t>
                </a:r>
                <a:r>
                  <a:rPr lang="zh-CN" altLang="en-US" sz="1210" b="1" dirty="0">
                    <a:latin typeface="微软雅黑 Light" panose="020B0502040204020203" pitchFamily="34" charset="-122"/>
                    <a:ea typeface="微软雅黑 Light" panose="020B0502040204020203" pitchFamily="34" charset="-122"/>
                  </a:rPr>
                  <a:t>古典区域</a:t>
                </a:r>
                <a:endParaRPr lang="en-US" altLang="zh-CN" sz="1210" b="1" dirty="0">
                  <a:latin typeface="微软雅黑 Light" panose="020B0502040204020203" pitchFamily="34" charset="-122"/>
                  <a:ea typeface="微软雅黑 Light" panose="020B0502040204020203" pitchFamily="34" charset="-122"/>
                </a:endParaRPr>
              </a:p>
              <a:p>
                <a:r>
                  <a:rPr lang="zh-CN" altLang="en-US" sz="1210" dirty="0">
                    <a:latin typeface="微软雅黑 Light" panose="020B0502040204020203" pitchFamily="34" charset="-122"/>
                    <a:ea typeface="微软雅黑 Light" panose="020B0502040204020203" pitchFamily="34" charset="-122"/>
                  </a:rPr>
                  <a:t>实际利率较高的时候，投机性需求趋于零</a:t>
                </a:r>
                <a:endParaRPr lang="en-US" altLang="zh-CN" sz="1210" dirty="0">
                  <a:latin typeface="微软雅黑 Light" panose="020B0502040204020203" pitchFamily="34" charset="-122"/>
                  <a:ea typeface="微软雅黑 Light" panose="020B0502040204020203" pitchFamily="34" charset="-122"/>
                </a:endParaRPr>
              </a:p>
              <a:p>
                <a:r>
                  <a:rPr lang="zh-CN" altLang="en-US" sz="1210" dirty="0">
                    <a:latin typeface="微软雅黑 Light" panose="020B0502040204020203" pitchFamily="34" charset="-122"/>
                    <a:ea typeface="微软雅黑 Light" panose="020B0502040204020203" pitchFamily="34" charset="-122"/>
                  </a:rPr>
                  <a:t>即</a:t>
                </a:r>
                <a14:m>
                  <m:oMath xmlns:m="http://schemas.openxmlformats.org/officeDocument/2006/math">
                    <m:r>
                      <a:rPr lang="en-US" altLang="zh-CN" sz="1210" i="1">
                        <a:latin typeface="Cambria Math" panose="02040503050406030204" pitchFamily="18" charset="0"/>
                      </a:rPr>
                      <m:t>h</m:t>
                    </m:r>
                    <m:r>
                      <a:rPr lang="en-US" altLang="zh-CN" sz="1210" i="1">
                        <a:latin typeface="Cambria Math" panose="02040503050406030204" pitchFamily="18" charset="0"/>
                        <a:ea typeface="Cambria Math" panose="02040503050406030204" pitchFamily="18" charset="0"/>
                      </a:rPr>
                      <m:t>→0,</m:t>
                    </m:r>
                    <m:f>
                      <m:fPr>
                        <m:ctrlPr>
                          <a:rPr lang="en-US" altLang="zh-CN" sz="1210" i="1">
                            <a:latin typeface="Cambria Math" panose="02040503050406030204" pitchFamily="18" charset="0"/>
                            <a:ea typeface="Cambria Math" panose="02040503050406030204" pitchFamily="18" charset="0"/>
                          </a:rPr>
                        </m:ctrlPr>
                      </m:fPr>
                      <m:num>
                        <m:r>
                          <a:rPr lang="en-US" altLang="zh-CN" sz="1210" i="1">
                            <a:latin typeface="Cambria Math" panose="02040503050406030204" pitchFamily="18" charset="0"/>
                            <a:ea typeface="Cambria Math" panose="02040503050406030204" pitchFamily="18" charset="0"/>
                          </a:rPr>
                          <m:t>𝑘</m:t>
                        </m:r>
                      </m:num>
                      <m:den>
                        <m:r>
                          <a:rPr lang="en-US" altLang="zh-CN" sz="1210" i="1">
                            <a:latin typeface="Cambria Math" panose="02040503050406030204" pitchFamily="18" charset="0"/>
                            <a:ea typeface="Cambria Math" panose="02040503050406030204" pitchFamily="18" charset="0"/>
                          </a:rPr>
                          <m:t>h</m:t>
                        </m:r>
                      </m:den>
                    </m:f>
                    <m:r>
                      <a:rPr lang="en-US" altLang="zh-CN" sz="1210" i="1">
                        <a:latin typeface="Cambria Math" panose="02040503050406030204" pitchFamily="18" charset="0"/>
                        <a:ea typeface="Cambria Math" panose="02040503050406030204" pitchFamily="18" charset="0"/>
                      </a:rPr>
                      <m:t>→∞,</m:t>
                    </m:r>
                    <m:r>
                      <a:rPr lang="en-US" altLang="zh-CN" sz="1210" i="1">
                        <a:latin typeface="Cambria Math" panose="02040503050406030204" pitchFamily="18" charset="0"/>
                        <a:ea typeface="Cambria Math" panose="02040503050406030204" pitchFamily="18" charset="0"/>
                      </a:rPr>
                      <m:t>𝐿𝑀</m:t>
                    </m:r>
                    <m:r>
                      <a:rPr lang="zh-CN" altLang="en-US" sz="1210" i="1">
                        <a:latin typeface="Cambria Math" panose="02040503050406030204" pitchFamily="18" charset="0"/>
                        <a:ea typeface="Cambria Math" panose="02040503050406030204" pitchFamily="18" charset="0"/>
                      </a:rPr>
                      <m:t>曲线</m:t>
                    </m:r>
                  </m:oMath>
                </a14:m>
                <a:r>
                  <a:rPr lang="zh-CN" altLang="en-US" sz="1210" dirty="0">
                    <a:latin typeface="微软雅黑 Light" panose="020B0502040204020203" pitchFamily="34" charset="-122"/>
                    <a:ea typeface="微软雅黑 Light" panose="020B0502040204020203" pitchFamily="34" charset="-122"/>
                  </a:rPr>
                  <a:t>趋向垂直</a:t>
                </a:r>
                <a:endParaRPr lang="en-US" altLang="zh-CN" sz="1210" dirty="0">
                  <a:latin typeface="微软雅黑 Light" panose="020B0502040204020203" pitchFamily="34" charset="-122"/>
                  <a:ea typeface="微软雅黑 Light" panose="020B0502040204020203" pitchFamily="34" charset="-122"/>
                </a:endParaRPr>
              </a:p>
              <a:p>
                <a:r>
                  <a:rPr lang="en-US" altLang="zh-CN" sz="1210" b="1" dirty="0">
                    <a:latin typeface="微软雅黑 Light" panose="020B0502040204020203" pitchFamily="34" charset="-122"/>
                    <a:ea typeface="微软雅黑 Light" panose="020B0502040204020203" pitchFamily="34" charset="-122"/>
                  </a:rPr>
                  <a:t>3. </a:t>
                </a:r>
                <a:r>
                  <a:rPr lang="zh-CN" altLang="en-US" sz="1210" b="1" dirty="0">
                    <a:latin typeface="微软雅黑 Light" panose="020B0502040204020203" pitchFamily="34" charset="-122"/>
                    <a:ea typeface="微软雅黑 Light" panose="020B0502040204020203" pitchFamily="34" charset="-122"/>
                  </a:rPr>
                  <a:t>中间区域</a:t>
                </a:r>
                <a:endParaRPr lang="en-US" altLang="zh-CN" sz="1210" b="1" dirty="0">
                  <a:latin typeface="微软雅黑 Light" panose="020B0502040204020203" pitchFamily="34" charset="-122"/>
                  <a:ea typeface="微软雅黑 Light" panose="020B0502040204020203" pitchFamily="34" charset="-122"/>
                </a:endParaRPr>
              </a:p>
              <a:p>
                <a:r>
                  <a:rPr lang="zh-CN" altLang="en-US" sz="1210" dirty="0">
                    <a:latin typeface="微软雅黑 Light" panose="020B0502040204020203" pitchFamily="34" charset="-122"/>
                    <a:ea typeface="微软雅黑 Light" panose="020B0502040204020203" pitchFamily="34" charset="-122"/>
                  </a:rPr>
                  <a:t>当</a:t>
                </a:r>
                <a:r>
                  <a:rPr lang="en-US" altLang="zh-CN" sz="1210" dirty="0">
                    <a:latin typeface="微软雅黑 Light" panose="020B0502040204020203" pitchFamily="34" charset="-122"/>
                    <a:ea typeface="微软雅黑 Light" panose="020B0502040204020203" pitchFamily="34" charset="-122"/>
                  </a:rPr>
                  <a:t>h</a:t>
                </a:r>
                <a:r>
                  <a:rPr lang="zh-CN" altLang="en-US" sz="1210" dirty="0">
                    <a:latin typeface="微软雅黑 Light" panose="020B0502040204020203" pitchFamily="34" charset="-122"/>
                    <a:ea typeface="微软雅黑 Light" panose="020B0502040204020203" pitchFamily="34" charset="-122"/>
                  </a:rPr>
                  <a:t>介于无穷大和零之间的任何值时，由于</a:t>
                </a:r>
                <a:r>
                  <a:rPr lang="en-US" altLang="zh-CN" sz="1210" dirty="0">
                    <a:latin typeface="微软雅黑 Light" panose="020B0502040204020203" pitchFamily="34" charset="-122"/>
                    <a:ea typeface="微软雅黑 Light" panose="020B0502040204020203" pitchFamily="34" charset="-122"/>
                  </a:rPr>
                  <a:t>k</a:t>
                </a:r>
                <a:r>
                  <a:rPr lang="zh-CN" altLang="en-US" sz="1210" dirty="0">
                    <a:latin typeface="微软雅黑 Light" panose="020B0502040204020203" pitchFamily="34" charset="-122"/>
                    <a:ea typeface="微软雅黑 Light" panose="020B0502040204020203" pitchFamily="34" charset="-122"/>
                  </a:rPr>
                  <a:t>为正值，因此，</a:t>
                </a:r>
                <a:r>
                  <a:rPr lang="en-US" altLang="zh-CN" sz="1210" dirty="0">
                    <a:latin typeface="微软雅黑 Light" panose="020B0502040204020203" pitchFamily="34" charset="-122"/>
                    <a:ea typeface="微软雅黑 Light" panose="020B0502040204020203" pitchFamily="34" charset="-122"/>
                  </a:rPr>
                  <a:t> </a:t>
                </a:r>
                <a14:m>
                  <m:oMath xmlns:m="http://schemas.openxmlformats.org/officeDocument/2006/math">
                    <m:f>
                      <m:fPr>
                        <m:ctrlPr>
                          <a:rPr lang="en-US" altLang="zh-CN" sz="1210" i="1">
                            <a:latin typeface="Cambria Math" panose="02040503050406030204" pitchFamily="18" charset="0"/>
                            <a:ea typeface="Cambria Math" panose="02040503050406030204" pitchFamily="18" charset="0"/>
                          </a:rPr>
                        </m:ctrlPr>
                      </m:fPr>
                      <m:num>
                        <m:r>
                          <a:rPr lang="en-US" altLang="zh-CN" sz="1210" i="1">
                            <a:latin typeface="Cambria Math" panose="02040503050406030204" pitchFamily="18" charset="0"/>
                            <a:ea typeface="Cambria Math" panose="02040503050406030204" pitchFamily="18" charset="0"/>
                          </a:rPr>
                          <m:t>𝑘</m:t>
                        </m:r>
                      </m:num>
                      <m:den>
                        <m:r>
                          <a:rPr lang="en-US" altLang="zh-CN" sz="1210" i="1">
                            <a:latin typeface="Cambria Math" panose="02040503050406030204" pitchFamily="18" charset="0"/>
                            <a:ea typeface="Cambria Math" panose="02040503050406030204" pitchFamily="18" charset="0"/>
                          </a:rPr>
                          <m:t>h</m:t>
                        </m:r>
                      </m:den>
                    </m:f>
                  </m:oMath>
                </a14:m>
                <a:r>
                  <a:rPr lang="zh-CN" altLang="en-US" sz="1210" dirty="0">
                    <a:latin typeface="微软雅黑 Light" panose="020B0502040204020203" pitchFamily="34" charset="-122"/>
                    <a:ea typeface="微软雅黑 Light" panose="020B0502040204020203" pitchFamily="34" charset="-122"/>
                  </a:rPr>
                  <a:t>为正，</a:t>
                </a:r>
                <a:r>
                  <a:rPr lang="en-US" altLang="zh-CN" sz="1210" dirty="0">
                    <a:latin typeface="微软雅黑 Light" panose="020B0502040204020203" pitchFamily="34" charset="-122"/>
                    <a:ea typeface="微软雅黑 Light" panose="020B0502040204020203" pitchFamily="34" charset="-122"/>
                  </a:rPr>
                  <a:t>LM</a:t>
                </a:r>
                <a:r>
                  <a:rPr lang="zh-CN" altLang="en-US" sz="1210" dirty="0">
                    <a:latin typeface="微软雅黑 Light" panose="020B0502040204020203" pitchFamily="34" charset="-122"/>
                    <a:ea typeface="微软雅黑 Light" panose="020B0502040204020203" pitchFamily="34" charset="-122"/>
                  </a:rPr>
                  <a:t>曲线向上倾斜</a:t>
                </a:r>
                <a:endParaRPr lang="en-US" altLang="zh-CN" sz="1210" dirty="0">
                  <a:latin typeface="微软雅黑 Light" panose="020B0502040204020203" pitchFamily="34" charset="-122"/>
                  <a:ea typeface="微软雅黑 Light" panose="020B0502040204020203" pitchFamily="34" charset="-122"/>
                </a:endParaRPr>
              </a:p>
            </p:txBody>
          </p:sp>
        </mc:Choice>
        <mc:Fallback xmlns="">
          <p:sp>
            <p:nvSpPr>
              <p:cNvPr id="3" name="内容占位符 2">
                <a:extLst>
                  <a:ext uri="{FF2B5EF4-FFF2-40B4-BE49-F238E27FC236}">
                    <a16:creationId xmlns:a16="http://schemas.microsoft.com/office/drawing/2014/main" id="{06565FA2-A35C-4B66-8496-064B68862F2C}"/>
                  </a:ext>
                </a:extLst>
              </p:cNvPr>
              <p:cNvSpPr>
                <a:spLocks noGrp="1" noRot="1" noChangeAspect="1" noMove="1" noResize="1" noEditPoints="1" noAdjustHandles="1" noChangeArrowheads="1" noChangeShapeType="1" noTextEdit="1"/>
              </p:cNvSpPr>
              <p:nvPr>
                <p:ph idx="1"/>
              </p:nvPr>
            </p:nvSpPr>
            <p:spPr>
              <a:blipFill>
                <a:blip r:embed="rId2"/>
                <a:stretch>
                  <a:fillRect l="-1005" t="-1961" b="-2241"/>
                </a:stretch>
              </a:blipFill>
            </p:spPr>
            <p:txBody>
              <a:bodyPr/>
              <a:lstStyle/>
              <a:p>
                <a:r>
                  <a:rPr lang="zh-CN" altLang="en-US">
                    <a:noFill/>
                  </a:rPr>
                  <a:t> </a:t>
                </a:r>
              </a:p>
            </p:txBody>
          </p:sp>
        </mc:Fallback>
      </mc:AlternateContent>
      <p:sp>
        <p:nvSpPr>
          <p:cNvPr id="4" name="灯片编号占位符 2">
            <a:extLst>
              <a:ext uri="{FF2B5EF4-FFF2-40B4-BE49-F238E27FC236}">
                <a16:creationId xmlns:a16="http://schemas.microsoft.com/office/drawing/2014/main" id="{87607561-8D2B-48FE-DF0A-7098C23DC49E}"/>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47</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FD66BA79-DF35-ABB7-9E1C-889E2FC1F0F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942416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E6D4A3-D5CD-42C1-B4FE-913075E8418F}"/>
              </a:ext>
            </a:extLst>
          </p:cNvPr>
          <p:cNvSpPr>
            <a:spLocks noGrp="1"/>
          </p:cNvSpPr>
          <p:nvPr>
            <p:ph type="title"/>
          </p:nvPr>
        </p:nvSpPr>
        <p:spPr/>
        <p:txBody>
          <a:bodyPr/>
          <a:lstStyle/>
          <a:p>
            <a:r>
              <a:rPr lang="en" altLang="zh-CN" dirty="0"/>
              <a:t>LM</a:t>
            </a:r>
            <a:r>
              <a:rPr lang="zh-CN" altLang="en-US" dirty="0"/>
              <a:t>曲线的移动</a:t>
            </a:r>
          </a:p>
        </p:txBody>
      </p:sp>
      <p:sp>
        <p:nvSpPr>
          <p:cNvPr id="3" name="内容占位符 2">
            <a:extLst>
              <a:ext uri="{FF2B5EF4-FFF2-40B4-BE49-F238E27FC236}">
                <a16:creationId xmlns:a16="http://schemas.microsoft.com/office/drawing/2014/main" id="{8EF7B105-109D-4D0F-BC22-1D1761E04DC5}"/>
              </a:ext>
            </a:extLst>
          </p:cNvPr>
          <p:cNvSpPr>
            <a:spLocks noGrp="1"/>
          </p:cNvSpPr>
          <p:nvPr>
            <p:ph idx="1"/>
          </p:nvPr>
        </p:nvSpPr>
        <p:spPr/>
        <p:txBody>
          <a:bodyPr/>
          <a:lstStyle/>
          <a:p>
            <a:r>
              <a:rPr lang="zh-CN" altLang="en-US" dirty="0"/>
              <a:t>影响</a:t>
            </a:r>
            <a:r>
              <a:rPr lang="en-US" altLang="zh-CN" dirty="0"/>
              <a:t>LM</a:t>
            </a:r>
            <a:r>
              <a:rPr lang="zh-CN" altLang="en-US" dirty="0"/>
              <a:t>曲线移动的因素</a:t>
            </a:r>
            <a:r>
              <a:rPr lang="en-US" altLang="zh-CN" dirty="0"/>
              <a:t>(y</a:t>
            </a:r>
            <a:r>
              <a:rPr lang="zh-CN" altLang="en-US" dirty="0"/>
              <a:t>与</a:t>
            </a:r>
            <a:r>
              <a:rPr lang="en-US" altLang="zh-CN" dirty="0"/>
              <a:t>r</a:t>
            </a:r>
            <a:r>
              <a:rPr lang="zh-CN" altLang="en-US" dirty="0"/>
              <a:t>之外影响货币供给与需求的其他因素</a:t>
            </a:r>
            <a:r>
              <a:rPr lang="en-US" altLang="zh-CN" dirty="0"/>
              <a:t>)</a:t>
            </a:r>
          </a:p>
          <a:p>
            <a:r>
              <a:rPr lang="en-US" altLang="zh-CN" dirty="0"/>
              <a:t>1. </a:t>
            </a:r>
            <a:r>
              <a:rPr lang="zh-CN" altLang="en-US" dirty="0"/>
              <a:t>货币投机需求  </a:t>
            </a:r>
            <a:endParaRPr lang="en-US" altLang="zh-CN" dirty="0"/>
          </a:p>
          <a:p>
            <a:r>
              <a:rPr lang="zh-CN" altLang="en-US" dirty="0"/>
              <a:t>与</a:t>
            </a:r>
            <a:r>
              <a:rPr lang="en-US" altLang="zh-CN" dirty="0"/>
              <a:t>LM</a:t>
            </a:r>
            <a:r>
              <a:rPr lang="zh-CN" altLang="en-US" dirty="0"/>
              <a:t>曲线反方向移动</a:t>
            </a:r>
            <a:endParaRPr lang="en-US" altLang="zh-CN" dirty="0"/>
          </a:p>
          <a:p>
            <a:r>
              <a:rPr lang="en-US" altLang="zh-CN" dirty="0"/>
              <a:t>2. </a:t>
            </a:r>
            <a:r>
              <a:rPr lang="zh-CN" altLang="en-US" dirty="0"/>
              <a:t>货币交易需求  </a:t>
            </a:r>
            <a:endParaRPr lang="en-US" altLang="zh-CN" dirty="0"/>
          </a:p>
          <a:p>
            <a:r>
              <a:rPr lang="zh-CN" altLang="en-US" dirty="0"/>
              <a:t>与</a:t>
            </a:r>
            <a:r>
              <a:rPr lang="en-US" altLang="zh-CN" dirty="0"/>
              <a:t>LM</a:t>
            </a:r>
            <a:r>
              <a:rPr lang="zh-CN" altLang="en-US" dirty="0"/>
              <a:t>曲线同方向移动</a:t>
            </a:r>
            <a:endParaRPr lang="en-US" altLang="zh-CN" dirty="0"/>
          </a:p>
          <a:p>
            <a:r>
              <a:rPr lang="en-US" altLang="zh-CN" dirty="0"/>
              <a:t>3. </a:t>
            </a:r>
            <a:r>
              <a:rPr lang="zh-CN" altLang="en-US" dirty="0"/>
              <a:t>货币供给变化</a:t>
            </a:r>
            <a:endParaRPr lang="en-US" altLang="zh-CN" dirty="0"/>
          </a:p>
          <a:p>
            <a:r>
              <a:rPr lang="zh-CN" altLang="en-US" dirty="0"/>
              <a:t>与</a:t>
            </a:r>
            <a:r>
              <a:rPr lang="en-US" altLang="zh-CN" dirty="0"/>
              <a:t>LM</a:t>
            </a:r>
            <a:r>
              <a:rPr lang="zh-CN" altLang="en-US" dirty="0"/>
              <a:t>曲线同方向移动</a:t>
            </a:r>
            <a:endParaRPr lang="en-US" altLang="zh-CN" dirty="0"/>
          </a:p>
          <a:p>
            <a:endParaRPr lang="zh-CN" altLang="en-US" dirty="0"/>
          </a:p>
        </p:txBody>
      </p:sp>
      <p:sp>
        <p:nvSpPr>
          <p:cNvPr id="4" name="灯片编号占位符 2">
            <a:extLst>
              <a:ext uri="{FF2B5EF4-FFF2-40B4-BE49-F238E27FC236}">
                <a16:creationId xmlns:a16="http://schemas.microsoft.com/office/drawing/2014/main" id="{173FF057-8CF6-4159-CD66-8B816E849E1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48</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C2D3A28F-9B62-54FC-3ED7-797F8D2DECE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504269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E60FE4D-9D5B-4B5F-8B76-69CDB38D8283}"/>
              </a:ext>
            </a:extLst>
          </p:cNvPr>
          <p:cNvGrpSpPr/>
          <p:nvPr/>
        </p:nvGrpSpPr>
        <p:grpSpPr>
          <a:xfrm>
            <a:off x="720874" y="764521"/>
            <a:ext cx="3013372" cy="2407982"/>
            <a:chOff x="1385788" y="1635042"/>
            <a:chExt cx="5976937" cy="4776164"/>
          </a:xfrm>
        </p:grpSpPr>
        <p:pic>
          <p:nvPicPr>
            <p:cNvPr id="7" name="Picture 4" descr="xf14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788" y="1635042"/>
              <a:ext cx="5976937" cy="450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2983315" y="5950939"/>
              <a:ext cx="3485378" cy="460267"/>
            </a:xfrm>
            <a:prstGeom prst="rect">
              <a:avLst/>
            </a:prstGeom>
          </p:spPr>
          <p:txBody>
            <a:bodyPr wrap="none">
              <a:spAutoFit/>
            </a:bodyPr>
            <a:lstStyle/>
            <a:p>
              <a:pPr algn="ctr" eaLnBrk="1" hangingPunct="1">
                <a:spcBef>
                  <a:spcPct val="50000"/>
                </a:spcBef>
              </a:pPr>
              <a:r>
                <a:rPr lang="zh-CN" altLang="en-US" sz="908" b="1" dirty="0">
                  <a:latin typeface="Garamond" panose="02020404030301010803" pitchFamily="18" charset="0"/>
                  <a:ea typeface="KaiTi" panose="02010609060101010101" pitchFamily="49" charset="-122"/>
                </a:rPr>
                <a:t>货币供给量变动使</a:t>
              </a:r>
              <a:r>
                <a:rPr lang="en-US" altLang="zh-CN" sz="908" b="1" dirty="0">
                  <a:latin typeface="Garamond" panose="02020404030301010803" pitchFamily="18" charset="0"/>
                  <a:ea typeface="KaiTi" panose="02010609060101010101" pitchFamily="49" charset="-122"/>
                </a:rPr>
                <a:t>LM</a:t>
              </a:r>
              <a:r>
                <a:rPr lang="zh-CN" altLang="en-US" sz="908" b="1" dirty="0">
                  <a:latin typeface="Garamond" panose="02020404030301010803" pitchFamily="18" charset="0"/>
                  <a:ea typeface="KaiTi" panose="02010609060101010101" pitchFamily="49" charset="-122"/>
                </a:rPr>
                <a:t>曲线移动</a:t>
              </a:r>
            </a:p>
          </p:txBody>
        </p:sp>
      </p:grpSp>
      <p:sp>
        <p:nvSpPr>
          <p:cNvPr id="9" name="矩形 8">
            <a:extLst>
              <a:ext uri="{FF2B5EF4-FFF2-40B4-BE49-F238E27FC236}">
                <a16:creationId xmlns:a16="http://schemas.microsoft.com/office/drawing/2014/main" id="{244283BB-8186-4DC3-A552-A9E7338F94FC}"/>
              </a:ext>
            </a:extLst>
          </p:cNvPr>
          <p:cNvSpPr/>
          <p:nvPr/>
        </p:nvSpPr>
        <p:spPr>
          <a:xfrm>
            <a:off x="297022" y="508579"/>
            <a:ext cx="2305050" cy="247440"/>
          </a:xfrm>
          <a:prstGeom prst="rect">
            <a:avLst/>
          </a:prstGeom>
        </p:spPr>
        <p:txBody>
          <a:bodyPr>
            <a:spAutoFit/>
          </a:bodyPr>
          <a:lstStyle/>
          <a:p>
            <a:r>
              <a:rPr lang="zh-CN" altLang="en-US" sz="1008" b="1" dirty="0">
                <a:latin typeface="Garamond" panose="02020404030301010803" pitchFamily="18" charset="0"/>
                <a:ea typeface="SimSun" panose="02010600030101010101" pitchFamily="2" charset="-122"/>
              </a:rPr>
              <a:t>货币供给变化与</a:t>
            </a:r>
            <a:r>
              <a:rPr lang="en-US" altLang="zh-CN" sz="1008" b="1" dirty="0">
                <a:latin typeface="Garamond" panose="02020404030301010803" pitchFamily="18" charset="0"/>
                <a:ea typeface="SimSun" panose="02010600030101010101" pitchFamily="2" charset="-122"/>
              </a:rPr>
              <a:t>LM</a:t>
            </a:r>
            <a:r>
              <a:rPr lang="zh-CN" altLang="en-US" sz="1008" b="1" dirty="0">
                <a:latin typeface="Garamond" panose="02020404030301010803" pitchFamily="18" charset="0"/>
                <a:ea typeface="SimSun" panose="02010600030101010101" pitchFamily="2" charset="-122"/>
              </a:rPr>
              <a:t>曲线同方向移动</a:t>
            </a:r>
            <a:endParaRPr lang="en-US" altLang="zh-CN" sz="1008" b="1" dirty="0">
              <a:latin typeface="Garamond" panose="02020404030301010803" pitchFamily="18" charset="0"/>
              <a:ea typeface="SimSun" panose="02010600030101010101" pitchFamily="2" charset="-122"/>
            </a:endParaRPr>
          </a:p>
        </p:txBody>
      </p:sp>
      <p:sp>
        <p:nvSpPr>
          <p:cNvPr id="4" name="标题 1">
            <a:extLst>
              <a:ext uri="{FF2B5EF4-FFF2-40B4-BE49-F238E27FC236}">
                <a16:creationId xmlns:a16="http://schemas.microsoft.com/office/drawing/2014/main" id="{EEBC0413-7723-8C8F-CBEF-B2DFD96D56EE}"/>
              </a:ext>
            </a:extLst>
          </p:cNvPr>
          <p:cNvSpPr>
            <a:spLocks noGrp="1"/>
          </p:cNvSpPr>
          <p:nvPr>
            <p:ph type="title"/>
          </p:nvPr>
        </p:nvSpPr>
        <p:spPr>
          <a:xfrm>
            <a:off x="172879" y="127376"/>
            <a:ext cx="4240332" cy="343671"/>
          </a:xfrm>
        </p:spPr>
        <p:txBody>
          <a:bodyPr/>
          <a:lstStyle/>
          <a:p>
            <a:r>
              <a:rPr lang="en" altLang="zh-CN" dirty="0"/>
              <a:t>LM</a:t>
            </a:r>
            <a:r>
              <a:rPr lang="zh-CN" altLang="en-US" dirty="0"/>
              <a:t>曲线的移动</a:t>
            </a:r>
          </a:p>
        </p:txBody>
      </p:sp>
      <p:sp>
        <p:nvSpPr>
          <p:cNvPr id="6" name="灯片编号占位符 2">
            <a:extLst>
              <a:ext uri="{FF2B5EF4-FFF2-40B4-BE49-F238E27FC236}">
                <a16:creationId xmlns:a16="http://schemas.microsoft.com/office/drawing/2014/main" id="{1F7C455E-6F3C-A639-243F-F5051DAEC34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49</a:t>
            </a:fld>
            <a:endParaRPr lang="zh-CN" altLang="zh-CN" sz="856">
              <a:solidFill>
                <a:srgbClr val="777777"/>
              </a:solidFill>
              <a:ea typeface="宋体" panose="02010600030101010101" pitchFamily="2" charset="-122"/>
            </a:endParaRPr>
          </a:p>
        </p:txBody>
      </p:sp>
      <p:sp>
        <p:nvSpPr>
          <p:cNvPr id="10" name="页脚占位符 1">
            <a:extLst>
              <a:ext uri="{FF2B5EF4-FFF2-40B4-BE49-F238E27FC236}">
                <a16:creationId xmlns:a16="http://schemas.microsoft.com/office/drawing/2014/main" id="{96E3BA0D-24A7-DFC9-3844-A23DA098A7F8}"/>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6844420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112245" y="1182550"/>
            <a:ext cx="4383299" cy="623376"/>
          </a:xfrm>
          <a:prstGeom prst="rect">
            <a:avLst/>
          </a:prstGeom>
        </p:spPr>
        <p:txBody>
          <a:bodyPr vert="horz" wrap="square" lIns="0" tIns="0" rIns="0" bIns="0" rtlCol="0">
            <a:spAutoFit/>
          </a:bodyPr>
          <a:lstStyle/>
          <a:p>
            <a:pPr marL="634" algn="ctr">
              <a:lnSpc>
                <a:spcPct val="130000"/>
              </a:lnSpc>
            </a:pPr>
            <a:r>
              <a:rPr lang="zh-CN" altLang="en-US" sz="2000" b="1" dirty="0">
                <a:solidFill>
                  <a:srgbClr val="333399"/>
                </a:solidFill>
                <a:latin typeface="Garamond" panose="02020404030301010803" pitchFamily="18" charset="0"/>
                <a:ea typeface="KaiTi" panose="02010609060101010101" pitchFamily="49" charset="-122"/>
                <a:cs typeface="+mj-cs"/>
              </a:rPr>
              <a:t>第</a:t>
            </a:r>
            <a:r>
              <a:rPr lang="en-US" altLang="zh-CN" sz="2000" b="1" dirty="0">
                <a:solidFill>
                  <a:srgbClr val="333399"/>
                </a:solidFill>
                <a:latin typeface="Garamond" panose="02020404030301010803" pitchFamily="18" charset="0"/>
                <a:ea typeface="KaiTi" panose="02010609060101010101" pitchFamily="49" charset="-122"/>
                <a:cs typeface="+mj-cs"/>
              </a:rPr>
              <a:t>5</a:t>
            </a:r>
            <a:r>
              <a:rPr lang="zh-CN" altLang="en-US" sz="2000" b="1" dirty="0">
                <a:solidFill>
                  <a:srgbClr val="333399"/>
                </a:solidFill>
                <a:latin typeface="Garamond" panose="02020404030301010803" pitchFamily="18" charset="0"/>
                <a:ea typeface="KaiTi" panose="02010609060101010101" pitchFamily="49" charset="-122"/>
                <a:cs typeface="+mj-cs"/>
              </a:rPr>
              <a:t>节 </a:t>
            </a:r>
            <a:r>
              <a:rPr lang="en-US" altLang="zh-CN" sz="2000" b="1" dirty="0">
                <a:solidFill>
                  <a:srgbClr val="333399"/>
                </a:solidFill>
                <a:latin typeface="Garamond" panose="02020404030301010803" pitchFamily="18" charset="0"/>
                <a:ea typeface="KaiTi" panose="02010609060101010101" pitchFamily="49" charset="-122"/>
                <a:cs typeface="+mj-cs"/>
              </a:rPr>
              <a:t>IS-LM</a:t>
            </a:r>
            <a:r>
              <a:rPr lang="zh-CN" altLang="en-US" sz="2000" b="1" dirty="0">
                <a:solidFill>
                  <a:srgbClr val="333399"/>
                </a:solidFill>
                <a:latin typeface="Garamond" panose="02020404030301010803" pitchFamily="18" charset="0"/>
                <a:ea typeface="KaiTi" panose="02010609060101010101" pitchFamily="49" charset="-122"/>
                <a:cs typeface="+mj-cs"/>
              </a:rPr>
              <a:t>分析</a:t>
            </a:r>
            <a:endParaRPr lang="en-US" altLang="zh-CN" sz="2000"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1200" b="1" dirty="0">
              <a:latin typeface="Garamond" panose="02020404030301010803" pitchFamily="18" charset="0"/>
              <a:cs typeface="Times New Roman"/>
            </a:endParaRPr>
          </a:p>
        </p:txBody>
      </p:sp>
    </p:spTree>
    <p:extLst>
      <p:ext uri="{BB962C8B-B14F-4D97-AF65-F5344CB8AC3E}">
        <p14:creationId xmlns:p14="http://schemas.microsoft.com/office/powerpoint/2010/main" val="659289844"/>
      </p:ext>
    </p:extLst>
  </p:cSld>
  <p:clrMapOvr>
    <a:masterClrMapping/>
  </p:clrMapOvr>
  <p:transition>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EB83BC-3260-4337-B04E-FFC91238E77F}"/>
              </a:ext>
            </a:extLst>
          </p:cNvPr>
          <p:cNvSpPr>
            <a:spLocks noGrp="1"/>
          </p:cNvSpPr>
          <p:nvPr>
            <p:ph idx="1"/>
          </p:nvPr>
        </p:nvSpPr>
        <p:spPr/>
        <p:txBody>
          <a:bodyPr/>
          <a:lstStyle/>
          <a:p>
            <a:r>
              <a:rPr lang="zh-CN" altLang="en-US" dirty="0"/>
              <a:t>产品市场</a:t>
            </a:r>
            <a:endParaRPr lang="en-US" altLang="zh-CN" dirty="0"/>
          </a:p>
          <a:p>
            <a:pPr lvl="1"/>
            <a:r>
              <a:rPr lang="zh-CN" altLang="en-US" dirty="0"/>
              <a:t>利率</a:t>
            </a:r>
            <a:r>
              <a:rPr lang="en-US" altLang="zh-CN" dirty="0"/>
              <a:t>——</a:t>
            </a:r>
            <a:r>
              <a:rPr lang="zh-CN" altLang="en-US" dirty="0"/>
              <a:t>投资</a:t>
            </a:r>
            <a:r>
              <a:rPr lang="en-US" altLang="zh-CN" dirty="0"/>
              <a:t>——</a:t>
            </a:r>
            <a:r>
              <a:rPr lang="zh-CN" altLang="en-US" dirty="0"/>
              <a:t>收入</a:t>
            </a:r>
            <a:endParaRPr lang="en-US" altLang="zh-CN" dirty="0"/>
          </a:p>
          <a:p>
            <a:pPr lvl="0"/>
            <a:r>
              <a:rPr lang="zh-CN" altLang="en-US" dirty="0">
                <a:solidFill>
                  <a:prstClr val="black"/>
                </a:solidFill>
              </a:rPr>
              <a:t>货币市场</a:t>
            </a:r>
            <a:endParaRPr lang="en-US" altLang="zh-CN" dirty="0">
              <a:solidFill>
                <a:prstClr val="black"/>
              </a:solidFill>
            </a:endParaRPr>
          </a:p>
          <a:p>
            <a:pPr lvl="1"/>
            <a:r>
              <a:rPr lang="zh-CN" altLang="en-US" dirty="0"/>
              <a:t>收入</a:t>
            </a:r>
            <a:r>
              <a:rPr lang="en-US" altLang="zh-CN" dirty="0"/>
              <a:t>——</a:t>
            </a:r>
            <a:r>
              <a:rPr lang="zh-CN" altLang="en-US" dirty="0"/>
              <a:t>货币需求</a:t>
            </a:r>
            <a:r>
              <a:rPr lang="en-US" altLang="zh-CN" dirty="0"/>
              <a:t>——</a:t>
            </a:r>
            <a:r>
              <a:rPr lang="zh-CN" altLang="en-US" dirty="0"/>
              <a:t>利率</a:t>
            </a:r>
            <a:endParaRPr lang="en-US" altLang="zh-CN" dirty="0"/>
          </a:p>
          <a:p>
            <a:pPr lvl="0"/>
            <a:r>
              <a:rPr lang="zh-CN" altLang="en-US" dirty="0">
                <a:solidFill>
                  <a:prstClr val="black"/>
                </a:solidFill>
              </a:rPr>
              <a:t>一般均衡模型：产品市场与货币市场同时均衡</a:t>
            </a:r>
            <a:endParaRPr lang="en-US" altLang="zh-CN" dirty="0">
              <a:solidFill>
                <a:prstClr val="black"/>
              </a:solidFill>
            </a:endParaRPr>
          </a:p>
          <a:p>
            <a:pPr lvl="1"/>
            <a:r>
              <a:rPr lang="en-US" altLang="zh-CN" dirty="0">
                <a:solidFill>
                  <a:prstClr val="black"/>
                </a:solidFill>
              </a:rPr>
              <a:t>IS</a:t>
            </a:r>
            <a:r>
              <a:rPr lang="zh-CN" altLang="en-US" dirty="0">
                <a:solidFill>
                  <a:prstClr val="black"/>
                </a:solidFill>
              </a:rPr>
              <a:t>与</a:t>
            </a:r>
            <a:r>
              <a:rPr lang="en-US" altLang="zh-CN" dirty="0">
                <a:solidFill>
                  <a:prstClr val="black"/>
                </a:solidFill>
              </a:rPr>
              <a:t>LM</a:t>
            </a:r>
            <a:r>
              <a:rPr lang="zh-CN" altLang="en-US" dirty="0">
                <a:solidFill>
                  <a:prstClr val="black"/>
                </a:solidFill>
              </a:rPr>
              <a:t>曲线合并</a:t>
            </a:r>
            <a:endParaRPr lang="en-US" altLang="zh-CN" dirty="0">
              <a:solidFill>
                <a:prstClr val="black"/>
              </a:solidFill>
            </a:endParaRPr>
          </a:p>
          <a:p>
            <a:pPr lvl="1"/>
            <a:endParaRPr lang="en-US" altLang="zh-CN" dirty="0"/>
          </a:p>
        </p:txBody>
      </p:sp>
      <p:sp>
        <p:nvSpPr>
          <p:cNvPr id="4" name="灯片编号占位符 2">
            <a:extLst>
              <a:ext uri="{FF2B5EF4-FFF2-40B4-BE49-F238E27FC236}">
                <a16:creationId xmlns:a16="http://schemas.microsoft.com/office/drawing/2014/main" id="{FD740725-7729-BF4F-EB41-4D41659F538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51</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C8CFB205-AA7B-5F73-678A-100524B2E39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
        <p:nvSpPr>
          <p:cNvPr id="7" name="标题 6">
            <a:extLst>
              <a:ext uri="{FF2B5EF4-FFF2-40B4-BE49-F238E27FC236}">
                <a16:creationId xmlns:a16="http://schemas.microsoft.com/office/drawing/2014/main" id="{40145023-ECD3-FC95-76C7-1A0DEDA129E7}"/>
              </a:ext>
            </a:extLst>
          </p:cNvPr>
          <p:cNvSpPr>
            <a:spLocks noGrp="1"/>
          </p:cNvSpPr>
          <p:nvPr>
            <p:ph type="title"/>
          </p:nvPr>
        </p:nvSpPr>
        <p:spPr/>
        <p:txBody>
          <a:bodyPr/>
          <a:lstStyle/>
          <a:p>
            <a:r>
              <a:rPr kumimoji="1" lang="zh-CN" altLang="en-US" dirty="0"/>
              <a:t>两个市场同时均衡的利率和收入</a:t>
            </a:r>
          </a:p>
        </p:txBody>
      </p:sp>
    </p:spTree>
    <p:extLst>
      <p:ext uri="{BB962C8B-B14F-4D97-AF65-F5344CB8AC3E}">
        <p14:creationId xmlns:p14="http://schemas.microsoft.com/office/powerpoint/2010/main" val="23052092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dirty="0"/>
          </a:p>
        </p:txBody>
      </p:sp>
      <p:pic>
        <p:nvPicPr>
          <p:cNvPr id="7" name="Picture 4" descr="xf14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350" y="695503"/>
            <a:ext cx="3049389" cy="206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512962" y="2849967"/>
            <a:ext cx="1822936" cy="232051"/>
          </a:xfrm>
          <a:prstGeom prst="rect">
            <a:avLst/>
          </a:prstGeom>
        </p:spPr>
        <p:txBody>
          <a:bodyPr wrap="none">
            <a:spAutoFit/>
          </a:bodyPr>
          <a:lstStyle/>
          <a:p>
            <a:pPr algn="ctr" eaLnBrk="1" hangingPunct="1">
              <a:spcBef>
                <a:spcPct val="50000"/>
              </a:spcBef>
            </a:pPr>
            <a:r>
              <a:rPr lang="zh-CN" altLang="en-US" sz="908" b="1" dirty="0">
                <a:latin typeface="KaiTi" panose="02010609060101010101" pitchFamily="49" charset="-122"/>
                <a:ea typeface="KaiTi" panose="02010609060101010101" pitchFamily="49" charset="-122"/>
              </a:rPr>
              <a:t>产品市场和货币市场的一般均衡</a:t>
            </a:r>
          </a:p>
        </p:txBody>
      </p:sp>
      <p:sp>
        <p:nvSpPr>
          <p:cNvPr id="4" name="标题 3">
            <a:extLst>
              <a:ext uri="{FF2B5EF4-FFF2-40B4-BE49-F238E27FC236}">
                <a16:creationId xmlns:a16="http://schemas.microsoft.com/office/drawing/2014/main" id="{A4CF7FEE-ADE5-BF3F-8A72-2E0C3A017B04}"/>
              </a:ext>
            </a:extLst>
          </p:cNvPr>
          <p:cNvSpPr>
            <a:spLocks noGrp="1"/>
          </p:cNvSpPr>
          <p:nvPr>
            <p:ph type="title"/>
          </p:nvPr>
        </p:nvSpPr>
        <p:spPr/>
        <p:txBody>
          <a:bodyPr/>
          <a:lstStyle/>
          <a:p>
            <a:r>
              <a:rPr kumimoji="1" lang="zh-CN" altLang="en-US" dirty="0"/>
              <a:t>两个市场同时均衡的利率和收入</a:t>
            </a:r>
          </a:p>
        </p:txBody>
      </p:sp>
      <p:sp>
        <p:nvSpPr>
          <p:cNvPr id="6" name="灯片编号占位符 2">
            <a:extLst>
              <a:ext uri="{FF2B5EF4-FFF2-40B4-BE49-F238E27FC236}">
                <a16:creationId xmlns:a16="http://schemas.microsoft.com/office/drawing/2014/main" id="{95B3683B-9405-AFF4-942B-F1BF6952024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52</a:t>
            </a:fld>
            <a:endParaRPr lang="zh-CN" altLang="zh-CN" sz="856">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3DD4DD71-0554-0050-BF16-63300654DBC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5482070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Grp="1" noChangeArrowheads="1"/>
          </p:cNvSpPr>
          <p:nvPr>
            <p:ph idx="1"/>
          </p:nvPr>
        </p:nvSpPr>
        <p:spPr/>
        <p:txBody>
          <a:bodyPr/>
          <a:lstStyle/>
          <a:p>
            <a:pPr algn="ctr" eaLnBrk="1" hangingPunct="1">
              <a:buFont typeface="Wingdings" panose="05000000000000000000" pitchFamily="2" charset="2"/>
              <a:buNone/>
            </a:pPr>
            <a:r>
              <a:rPr lang="zh-CN" altLang="en-US" dirty="0">
                <a:ea typeface="宋体" panose="02010600030101010101" pitchFamily="2" charset="-122"/>
              </a:rPr>
              <a:t>产品市场和货币市场的非均衡</a:t>
            </a:r>
          </a:p>
        </p:txBody>
      </p:sp>
      <p:graphicFrame>
        <p:nvGraphicFramePr>
          <p:cNvPr id="9" name="Group 42"/>
          <p:cNvGraphicFramePr>
            <a:graphicFrameLocks/>
          </p:cNvGraphicFramePr>
          <p:nvPr>
            <p:extLst>
              <p:ext uri="{D42A27DB-BD31-4B8C-83A1-F6EECF244321}">
                <p14:modId xmlns:p14="http://schemas.microsoft.com/office/powerpoint/2010/main" val="3037446962"/>
              </p:ext>
            </p:extLst>
          </p:nvPr>
        </p:nvGraphicFramePr>
        <p:xfrm>
          <a:off x="313743" y="866279"/>
          <a:ext cx="4065852" cy="1572717"/>
        </p:xfrm>
        <a:graphic>
          <a:graphicData uri="http://schemas.openxmlformats.org/drawingml/2006/table">
            <a:tbl>
              <a:tblPr/>
              <a:tblGrid>
                <a:gridCol w="725930">
                  <a:extLst>
                    <a:ext uri="{9D8B030D-6E8A-4147-A177-3AD203B41FA5}">
                      <a16:colId xmlns:a16="http://schemas.microsoft.com/office/drawing/2014/main" val="90959148"/>
                    </a:ext>
                  </a:extLst>
                </a:gridCol>
                <a:gridCol w="1597528">
                  <a:extLst>
                    <a:ext uri="{9D8B030D-6E8A-4147-A177-3AD203B41FA5}">
                      <a16:colId xmlns:a16="http://schemas.microsoft.com/office/drawing/2014/main" val="3358388416"/>
                    </a:ext>
                  </a:extLst>
                </a:gridCol>
                <a:gridCol w="1742394">
                  <a:extLst>
                    <a:ext uri="{9D8B030D-6E8A-4147-A177-3AD203B41FA5}">
                      <a16:colId xmlns:a16="http://schemas.microsoft.com/office/drawing/2014/main" val="3384614296"/>
                    </a:ext>
                  </a:extLst>
                </a:gridCol>
              </a:tblGrid>
              <a:tr h="230505">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区域</a:t>
                      </a:r>
                    </a:p>
                  </a:txBody>
                  <a:tcPr marL="46101" marR="46101" marT="23051" marB="230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产品市场</a:t>
                      </a:r>
                    </a:p>
                  </a:txBody>
                  <a:tcPr marL="46101" marR="46101" marT="23051" marB="230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货币市场</a:t>
                      </a:r>
                    </a:p>
                  </a:txBody>
                  <a:tcPr marL="46101" marR="46101" marT="23051" marB="230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33141102"/>
                  </a:ext>
                </a:extLst>
              </a:tr>
              <a:tr h="1342212">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rPr>
                        <a:t>Ⅰ</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rPr>
                        <a:t>Ⅱ</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rPr>
                        <a:t>Ⅲ</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000" b="0" i="0" u="none" strike="noStrike" cap="none" normalizeH="0" baseline="0">
                          <a:ln>
                            <a:noFill/>
                          </a:ln>
                          <a:solidFill>
                            <a:schemeClr val="tx1"/>
                          </a:solidFill>
                          <a:effectLst/>
                          <a:latin typeface="Arial" panose="020B0604020202020204" pitchFamily="34" charset="0"/>
                          <a:ea typeface="宋体" panose="02010600030101010101" pitchFamily="2" charset="-122"/>
                        </a:rPr>
                        <a:t>Ⅳ</a:t>
                      </a:r>
                      <a:endParaRPr kumimoji="0" lang="zh-CN" altLang="en-US" sz="1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0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&lt;s </a:t>
                      </a:r>
                      <a:r>
                        <a:rPr kumimoji="0" lang="zh-CN" altLang="en-US"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有超额产品供给</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0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&lt;s </a:t>
                      </a:r>
                      <a:r>
                        <a:rPr kumimoji="0" lang="zh-CN" altLang="en-US"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有超额产品供给</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0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&gt;s </a:t>
                      </a:r>
                      <a:r>
                        <a:rPr kumimoji="0" lang="zh-CN" altLang="en-US"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有超额产品需求</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0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a:t>
                      </a:r>
                      <a:r>
                        <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&gt;s </a:t>
                      </a:r>
                      <a:r>
                        <a:rPr kumimoji="0" lang="zh-CN" altLang="en-US"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有超额产品需求</a:t>
                      </a:r>
                    </a:p>
                  </a:txBody>
                  <a:tcPr marL="46101" marR="46101" marT="23051" marB="230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L&lt;M</a:t>
                      </a:r>
                      <a:r>
                        <a:rPr kumimoji="0" lang="zh-CN" altLang="en-US"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有超额货币供给</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L&gt;M</a:t>
                      </a:r>
                      <a:r>
                        <a:rPr kumimoji="0" lang="zh-CN" altLang="en-US"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有超额货币需求</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L&gt;M</a:t>
                      </a:r>
                      <a:r>
                        <a:rPr kumimoji="0" lang="zh-CN" altLang="en-US"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有超额货币需求</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L&lt;M</a:t>
                      </a:r>
                      <a:r>
                        <a:rPr kumimoji="0" lang="zh-CN" altLang="en-US"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有超额货币供给</a:t>
                      </a:r>
                    </a:p>
                  </a:txBody>
                  <a:tcPr marL="46101" marR="46101" marT="23051" marB="230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18793379"/>
                  </a:ext>
                </a:extLst>
              </a:tr>
            </a:tbl>
          </a:graphicData>
        </a:graphic>
      </p:graphicFrame>
      <p:sp>
        <p:nvSpPr>
          <p:cNvPr id="2" name="标题 1">
            <a:extLst>
              <a:ext uri="{FF2B5EF4-FFF2-40B4-BE49-F238E27FC236}">
                <a16:creationId xmlns:a16="http://schemas.microsoft.com/office/drawing/2014/main" id="{C25E271A-C759-7B5F-95D9-E4D7DDCBA0C4}"/>
              </a:ext>
            </a:extLst>
          </p:cNvPr>
          <p:cNvSpPr>
            <a:spLocks noGrp="1"/>
          </p:cNvSpPr>
          <p:nvPr>
            <p:ph type="title"/>
          </p:nvPr>
        </p:nvSpPr>
        <p:spPr/>
        <p:txBody>
          <a:bodyPr/>
          <a:lstStyle/>
          <a:p>
            <a:r>
              <a:rPr kumimoji="1" lang="zh-CN" altLang="en-US" dirty="0"/>
              <a:t>两个市场同时均衡的利率和收入</a:t>
            </a:r>
          </a:p>
        </p:txBody>
      </p:sp>
      <p:sp>
        <p:nvSpPr>
          <p:cNvPr id="3" name="灯片编号占位符 2">
            <a:extLst>
              <a:ext uri="{FF2B5EF4-FFF2-40B4-BE49-F238E27FC236}">
                <a16:creationId xmlns:a16="http://schemas.microsoft.com/office/drawing/2014/main" id="{838BA0CF-5F2C-27D0-00F5-640683511EC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53</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558635B9-4A3B-13DA-D423-CDD648B5C6C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3378970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43731" y="710780"/>
                <a:ext cx="2135610" cy="1473450"/>
              </a:xfrm>
            </p:spPr>
            <p:txBody>
              <a:bodyPr/>
              <a:lstStyle/>
              <a:p>
                <a:r>
                  <a:rPr lang="zh-CN" altLang="en-US" dirty="0"/>
                  <a:t>当经济均衡</a:t>
                </a:r>
                <a14:m>
                  <m:oMath xmlns:m="http://schemas.openxmlformats.org/officeDocument/2006/math">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r>
                      <a:rPr lang="en-US" altLang="zh-CN" b="0" i="1" smtClean="0">
                        <a:latin typeface="Cambria Math" panose="02040503050406030204" pitchFamily="18" charset="0"/>
                      </a:rPr>
                      <m:t>)</m:t>
                    </m:r>
                  </m:oMath>
                </a14:m>
                <a:r>
                  <a:rPr lang="zh-CN" altLang="en-US" dirty="0"/>
                  <a:t>不是充分就业的均衡</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𝑦</m:t>
                        </m:r>
                      </m:e>
                      <m:sup>
                        <m:r>
                          <a:rPr lang="en-US" altLang="zh-CN" b="0" i="1" smtClean="0">
                            <a:latin typeface="Cambria Math" panose="02040503050406030204" pitchFamily="18" charset="0"/>
                          </a:rPr>
                          <m:t>∗</m:t>
                        </m:r>
                      </m:sup>
                    </m:sSup>
                  </m:oMath>
                </a14:m>
                <a:r>
                  <a:rPr lang="zh-CN" altLang="en-US" dirty="0"/>
                  <a:t>时，需要用</a:t>
                </a:r>
                <a:r>
                  <a:rPr lang="zh-CN" altLang="en-US" b="1" dirty="0"/>
                  <a:t>财政政策或货币政策</a:t>
                </a:r>
                <a:r>
                  <a:rPr lang="zh-CN" altLang="en-US" dirty="0"/>
                  <a:t>来加以调节。</a:t>
                </a:r>
                <a:endParaRPr lang="en-US" altLang="zh-CN" dirty="0"/>
              </a:p>
              <a:p>
                <a:r>
                  <a:rPr lang="zh-CN" altLang="en-US" b="1" dirty="0"/>
                  <a:t>财政政策</a:t>
                </a:r>
                <a:r>
                  <a:rPr lang="zh-CN" altLang="en-US" dirty="0"/>
                  <a:t>是指政府变动支出或税收来调节国民收入。</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43731" y="710780"/>
                <a:ext cx="2135610" cy="1473450"/>
              </a:xfrm>
              <a:blipFill>
                <a:blip r:embed="rId2"/>
                <a:stretch>
                  <a:fillRect l="-1775" t="-3448" b="-23276"/>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9A6A70E9-5AF2-46A2-A69D-69A93C626D50}"/>
              </a:ext>
            </a:extLst>
          </p:cNvPr>
          <p:cNvGrpSpPr/>
          <p:nvPr/>
        </p:nvGrpSpPr>
        <p:grpSpPr>
          <a:xfrm>
            <a:off x="2305050" y="922007"/>
            <a:ext cx="2017403" cy="1555559"/>
            <a:chOff x="4572000" y="1825625"/>
            <a:chExt cx="4001461" cy="3085406"/>
          </a:xfrm>
        </p:grpSpPr>
        <p:pic>
          <p:nvPicPr>
            <p:cNvPr id="7" name="Picture 4" descr="xf14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825625"/>
              <a:ext cx="4001461" cy="272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4996965" y="4450765"/>
              <a:ext cx="3151532" cy="460266"/>
            </a:xfrm>
            <a:prstGeom prst="rect">
              <a:avLst/>
            </a:prstGeom>
          </p:spPr>
          <p:txBody>
            <a:bodyPr wrap="none">
              <a:spAutoFit/>
            </a:bodyPr>
            <a:lstStyle/>
            <a:p>
              <a:pPr algn="ctr" eaLnBrk="1" hangingPunct="1">
                <a:spcBef>
                  <a:spcPct val="50000"/>
                </a:spcBef>
              </a:pPr>
              <a:r>
                <a:rPr lang="zh-CN" altLang="en-US" sz="908" b="1" dirty="0">
                  <a:latin typeface="KaiTi" panose="02010609060101010101" pitchFamily="49" charset="-122"/>
                  <a:ea typeface="KaiTi" panose="02010609060101010101" pitchFamily="49" charset="-122"/>
                </a:rPr>
                <a:t>均衡收入和均衡利率的变动</a:t>
              </a:r>
            </a:p>
          </p:txBody>
        </p:sp>
      </p:grpSp>
      <p:sp>
        <p:nvSpPr>
          <p:cNvPr id="10" name="矩形 9">
            <a:extLst>
              <a:ext uri="{FF2B5EF4-FFF2-40B4-BE49-F238E27FC236}">
                <a16:creationId xmlns:a16="http://schemas.microsoft.com/office/drawing/2014/main" id="{1E7F1A44-9EDA-47D8-AC5A-4A13EC12737B}"/>
              </a:ext>
            </a:extLst>
          </p:cNvPr>
          <p:cNvSpPr/>
          <p:nvPr/>
        </p:nvSpPr>
        <p:spPr>
          <a:xfrm>
            <a:off x="322837" y="2513573"/>
            <a:ext cx="3858004" cy="483466"/>
          </a:xfrm>
          <a:prstGeom prst="rect">
            <a:avLst/>
          </a:prstGeom>
        </p:spPr>
        <p:txBody>
          <a:bodyPr wrap="square">
            <a:spAutoFit/>
          </a:bodyPr>
          <a:lstStyle/>
          <a:p>
            <a:pPr marL="115260" indent="-115260">
              <a:lnSpc>
                <a:spcPct val="90000"/>
              </a:lnSpc>
              <a:spcBef>
                <a:spcPts val="504"/>
              </a:spcBef>
              <a:buFont typeface="Arial" panose="020B0604020202020204" pitchFamily="34" charset="0"/>
              <a:buChar char="•"/>
            </a:pPr>
            <a:r>
              <a:rPr lang="zh-CN" altLang="en-US" sz="1412" b="1" dirty="0">
                <a:latin typeface="Garamond" panose="02020404030301010803" pitchFamily="18" charset="0"/>
                <a:ea typeface="SimSun" panose="02010600030101010101" pitchFamily="2" charset="-122"/>
              </a:rPr>
              <a:t>货币政策</a:t>
            </a:r>
            <a:r>
              <a:rPr lang="zh-CN" altLang="en-US" sz="1412" dirty="0">
                <a:latin typeface="Garamond" panose="02020404030301010803" pitchFamily="18" charset="0"/>
                <a:ea typeface="SimSun" panose="02010600030101010101" pitchFamily="2" charset="-122"/>
              </a:rPr>
              <a:t>是指政府货币当局（中央银行）用变动货币供给量的方法来改变利率和收入。</a:t>
            </a:r>
          </a:p>
        </p:txBody>
      </p:sp>
      <p:sp>
        <p:nvSpPr>
          <p:cNvPr id="4" name="标题 3">
            <a:extLst>
              <a:ext uri="{FF2B5EF4-FFF2-40B4-BE49-F238E27FC236}">
                <a16:creationId xmlns:a16="http://schemas.microsoft.com/office/drawing/2014/main" id="{8A307242-621B-078E-DB66-511F9FBA53E0}"/>
              </a:ext>
            </a:extLst>
          </p:cNvPr>
          <p:cNvSpPr>
            <a:spLocks noGrp="1"/>
          </p:cNvSpPr>
          <p:nvPr>
            <p:ph type="title"/>
          </p:nvPr>
        </p:nvSpPr>
        <p:spPr/>
        <p:txBody>
          <a:bodyPr/>
          <a:lstStyle/>
          <a:p>
            <a:r>
              <a:rPr kumimoji="1" lang="zh-CN" altLang="en-US" dirty="0"/>
              <a:t>均衡收入与均衡利率的变动</a:t>
            </a:r>
          </a:p>
        </p:txBody>
      </p:sp>
      <p:sp>
        <p:nvSpPr>
          <p:cNvPr id="6" name="灯片编号占位符 2">
            <a:extLst>
              <a:ext uri="{FF2B5EF4-FFF2-40B4-BE49-F238E27FC236}">
                <a16:creationId xmlns:a16="http://schemas.microsoft.com/office/drawing/2014/main" id="{9449CC5C-E7BD-A163-AFA3-24109DCC297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54</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87895CFE-2B79-534E-0E31-9C51EAEBCF3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0355536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4D092C-CD3C-4036-AED0-89159D2291E7}"/>
              </a:ext>
            </a:extLst>
          </p:cNvPr>
          <p:cNvSpPr>
            <a:spLocks noGrp="1"/>
          </p:cNvSpPr>
          <p:nvPr>
            <p:ph type="title"/>
          </p:nvPr>
        </p:nvSpPr>
        <p:spPr/>
        <p:txBody>
          <a:bodyPr/>
          <a:lstStyle/>
          <a:p>
            <a:r>
              <a:rPr kumimoji="1" lang="zh-CN" altLang="en-US" dirty="0"/>
              <a:t>均衡收入与均衡利率的变动</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67125C1-9698-4AE2-A910-F7802F73DC10}"/>
                  </a:ext>
                </a:extLst>
              </p:cNvPr>
              <p:cNvSpPr>
                <a:spLocks noGrp="1"/>
              </p:cNvSpPr>
              <p:nvPr>
                <p:ph idx="1"/>
              </p:nvPr>
            </p:nvSpPr>
            <p:spPr/>
            <p:txBody>
              <a:bodyPr/>
              <a:lstStyle/>
              <a:p>
                <a:r>
                  <a:rPr lang="zh-CN" altLang="en-US" b="1" dirty="0"/>
                  <a:t>用</a:t>
                </a:r>
                <a:r>
                  <a:rPr lang="en-US" altLang="zh-CN" b="1" dirty="0"/>
                  <a:t>IS-LM</a:t>
                </a:r>
                <a:r>
                  <a:rPr lang="zh-CN" altLang="en-US" b="1" dirty="0"/>
                  <a:t>模型分析：当政府支出增加时，</a:t>
                </a:r>
                <a:r>
                  <a:rPr lang="en-US" altLang="zh-CN" b="1" dirty="0"/>
                  <a:t>LM</a:t>
                </a:r>
                <a:r>
                  <a:rPr lang="zh-CN" altLang="en-US" b="1" dirty="0"/>
                  <a:t>曲线会如何变动？</a:t>
                </a:r>
                <a:endParaRPr lang="en-US" altLang="zh-CN" b="1" dirty="0"/>
              </a:p>
              <a:p>
                <a:r>
                  <a:rPr lang="zh-CN" altLang="en-US" dirty="0"/>
                  <a:t>根据计划支出模型，</a:t>
                </a:r>
                <a:endParaRPr lang="en-US" altLang="zh-CN" dirty="0"/>
              </a:p>
              <a:p>
                <a14:m>
                  <m:oMath xmlns:m="http://schemas.openxmlformats.org/officeDocument/2006/math">
                    <m:r>
                      <m:rPr>
                        <m:sty m:val="p"/>
                      </m:rPr>
                      <a:rPr lang="en-US" altLang="zh-CN" b="0" i="0" smtClean="0">
                        <a:latin typeface="Cambria Math" panose="02040503050406030204" pitchFamily="18" charset="0"/>
                      </a:rPr>
                      <m:t>r</m:t>
                    </m:r>
                    <m:r>
                      <a:rPr lang="zh-CN" altLang="en-US" i="1">
                        <a:latin typeface="Cambria Math" panose="02040503050406030204" pitchFamily="18" charset="0"/>
                      </a:rPr>
                      <m:t>不变</m:t>
                    </m:r>
                    <m:r>
                      <a:rPr lang="zh-CN" altLang="en-US" i="1" smtClean="0">
                        <a:latin typeface="Cambria Math" panose="02040503050406030204" pitchFamily="18" charset="0"/>
                      </a:rPr>
                      <m:t>时</m:t>
                    </m:r>
                    <m:r>
                      <a:rPr lang="zh-CN" altLang="en-US" i="1">
                        <a:latin typeface="Cambria Math" panose="02040503050406030204" pitchFamily="18" charset="0"/>
                      </a:rPr>
                      <m:t>，</m:t>
                    </m:r>
                    <m:r>
                      <a:rPr lang="en-US" altLang="zh-CN" b="0" i="1" smtClean="0">
                        <a:latin typeface="Cambria Math" panose="02040503050406030204" pitchFamily="18" charset="0"/>
                      </a:rPr>
                      <m:t>𝐺</m:t>
                    </m:r>
                    <m:r>
                      <a:rPr lang="zh-CN" altLang="en-US" i="1">
                        <a:latin typeface="Cambria Math" panose="02040503050406030204" pitchFamily="18" charset="0"/>
                      </a:rPr>
                      <m:t>增加</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𝐸</m:t>
                        </m:r>
                      </m:e>
                      <m:sup>
                        <m:r>
                          <a:rPr lang="en-US" altLang="zh-CN" b="0" i="1" smtClean="0">
                            <a:latin typeface="Cambria Math" panose="02040503050406030204" pitchFamily="18" charset="0"/>
                          </a:rPr>
                          <m:t>𝑃</m:t>
                        </m:r>
                      </m:sup>
                    </m:sSup>
                    <m:r>
                      <a:rPr lang="zh-CN" altLang="en-US" i="1">
                        <a:latin typeface="Cambria Math" panose="02040503050406030204" pitchFamily="18" charset="0"/>
                      </a:rPr>
                      <m:t>增加</m:t>
                    </m:r>
                  </m:oMath>
                </a14:m>
                <a:endParaRPr lang="en-US" altLang="zh-CN" i="1" dirty="0">
                  <a:latin typeface="Cambria Math" panose="02040503050406030204" pitchFamily="18" charset="0"/>
                </a:endParaRPr>
              </a:p>
              <a:p>
                <a:r>
                  <a:rPr lang="zh-CN" altLang="en-US" dirty="0"/>
                  <a:t>根据</a:t>
                </a:r>
                <a14:m>
                  <m:oMath xmlns:m="http://schemas.openxmlformats.org/officeDocument/2006/math">
                    <m:r>
                      <m:rPr>
                        <m:sty m:val="p"/>
                      </m:rPr>
                      <a:rPr lang="en-US" altLang="zh-CN" b="0" i="1" smtClean="0">
                        <a:latin typeface="Cambria Math" panose="02040503050406030204" pitchFamily="18" charset="0"/>
                      </a:rPr>
                      <m:t>IS</m:t>
                    </m:r>
                    <m:r>
                      <a:rPr lang="zh-CN" altLang="en-US" i="1">
                        <a:latin typeface="Cambria Math" panose="02040503050406030204" pitchFamily="18" charset="0"/>
                      </a:rPr>
                      <m:t>曲线，</m:t>
                    </m:r>
                    <m:sSup>
                      <m:sSupPr>
                        <m:ctrlPr>
                          <a:rPr lang="en-US" altLang="zh-CN" i="1">
                            <a:latin typeface="Cambria Math" panose="02040503050406030204" pitchFamily="18" charset="0"/>
                          </a:rPr>
                        </m:ctrlPr>
                      </m:sSupPr>
                      <m:e>
                        <m:r>
                          <a:rPr lang="en-US" altLang="zh-CN" i="1">
                            <a:latin typeface="Cambria Math" panose="02040503050406030204" pitchFamily="18" charset="0"/>
                          </a:rPr>
                          <m:t>𝐸</m:t>
                        </m:r>
                      </m:e>
                      <m:sup>
                        <m:r>
                          <a:rPr lang="en-US" altLang="zh-CN" i="1">
                            <a:latin typeface="Cambria Math" panose="02040503050406030204" pitchFamily="18" charset="0"/>
                          </a:rPr>
                          <m:t>𝑃</m:t>
                        </m:r>
                      </m:sup>
                    </m:sSup>
                    <m:r>
                      <a:rPr lang="zh-CN" altLang="en-US" i="1">
                        <a:latin typeface="Cambria Math" panose="02040503050406030204" pitchFamily="18" charset="0"/>
                      </a:rPr>
                      <m:t>增加</m:t>
                    </m:r>
                    <m:r>
                      <a:rPr lang="en-US" altLang="zh-CN" b="0" i="1" smtClean="0">
                        <a:latin typeface="Cambria Math" panose="02040503050406030204" pitchFamily="18" charset="0"/>
                      </a:rPr>
                      <m:t>−</m:t>
                    </m:r>
                    <m:r>
                      <a:rPr lang="en-US" altLang="zh-CN" b="0" i="1" smtClean="0">
                        <a:latin typeface="Cambria Math" panose="02040503050406030204" pitchFamily="18" charset="0"/>
                      </a:rPr>
                      <m:t>𝑌</m:t>
                    </m:r>
                    <m:r>
                      <a:rPr lang="zh-CN" altLang="en-US" i="1">
                        <a:latin typeface="Cambria Math" panose="02040503050406030204" pitchFamily="18" charset="0"/>
                      </a:rPr>
                      <m:t>增加</m:t>
                    </m:r>
                    <m:r>
                      <a:rPr lang="en-US" altLang="zh-CN" b="0" i="1" smtClean="0">
                        <a:latin typeface="Cambria Math" panose="02040503050406030204" pitchFamily="18" charset="0"/>
                      </a:rPr>
                      <m:t>−</m:t>
                    </m:r>
                    <m:r>
                      <a:rPr lang="en-US" altLang="zh-CN" b="0" i="1" smtClean="0">
                        <a:latin typeface="Cambria Math" panose="02040503050406030204" pitchFamily="18" charset="0"/>
                      </a:rPr>
                      <m:t>𝐼𝑆</m:t>
                    </m:r>
                    <m:r>
                      <a:rPr lang="zh-CN" altLang="en-US" i="1">
                        <a:latin typeface="Cambria Math" panose="02040503050406030204" pitchFamily="18" charset="0"/>
                      </a:rPr>
                      <m:t>右移</m:t>
                    </m:r>
                  </m:oMath>
                </a14:m>
                <a:endParaRPr lang="en-US" altLang="zh-CN" i="1" dirty="0">
                  <a:latin typeface="Cambria Math" panose="02040503050406030204" pitchFamily="18" charset="0"/>
                </a:endParaRPr>
              </a:p>
              <a:p>
                <a:r>
                  <a:rPr lang="zh-CN" altLang="en-US" b="0" dirty="0"/>
                  <a:t>根据</a:t>
                </a:r>
                <a14:m>
                  <m:oMath xmlns:m="http://schemas.openxmlformats.org/officeDocument/2006/math">
                    <m:r>
                      <m:rPr>
                        <m:sty m:val="p"/>
                      </m:rPr>
                      <a:rPr lang="en-US" altLang="zh-CN" i="1">
                        <a:latin typeface="Cambria Math" panose="02040503050406030204" pitchFamily="18" charset="0"/>
                      </a:rPr>
                      <m:t>LM</m:t>
                    </m:r>
                    <m:r>
                      <a:rPr lang="zh-CN" altLang="en-US" i="1" smtClean="0">
                        <a:latin typeface="Cambria Math" panose="02040503050406030204" pitchFamily="18" charset="0"/>
                      </a:rPr>
                      <m:t>曲线，</m:t>
                    </m:r>
                    <m:r>
                      <a:rPr lang="en-US" altLang="zh-CN" i="1">
                        <a:latin typeface="Cambria Math" panose="02040503050406030204" pitchFamily="18" charset="0"/>
                      </a:rPr>
                      <m:t>𝑌</m:t>
                    </m:r>
                    <m:r>
                      <a:rPr lang="zh-CN" altLang="en-US" i="1">
                        <a:latin typeface="Cambria Math" panose="02040503050406030204" pitchFamily="18" charset="0"/>
                      </a:rPr>
                      <m:t>增加</m:t>
                    </m:r>
                    <m:r>
                      <a:rPr lang="zh-CN" altLang="en-US" i="1" smtClean="0">
                        <a:latin typeface="Cambria Math" panose="02040503050406030204" pitchFamily="18" charset="0"/>
                      </a:rPr>
                      <m:t>，</m:t>
                    </m:r>
                    <m:r>
                      <a:rPr lang="en-US" altLang="zh-CN" b="0" i="1" smtClean="0">
                        <a:latin typeface="Cambria Math" panose="02040503050406030204" pitchFamily="18" charset="0"/>
                      </a:rPr>
                      <m:t>𝐿𝑀</m:t>
                    </m:r>
                    <m:r>
                      <a:rPr lang="zh-CN" altLang="en-US" i="1">
                        <a:latin typeface="Cambria Math" panose="02040503050406030204" pitchFamily="18" charset="0"/>
                      </a:rPr>
                      <m:t>不变</m:t>
                    </m:r>
                  </m:oMath>
                </a14:m>
                <a:endParaRPr lang="en-US" altLang="zh-CN" dirty="0"/>
              </a:p>
              <a:p>
                <a:r>
                  <a:rPr lang="zh-CN" altLang="en-US" dirty="0"/>
                  <a:t>根据</a:t>
                </a:r>
                <a:r>
                  <a:rPr lang="en-US" altLang="zh-CN" dirty="0"/>
                  <a:t>IS-LM</a:t>
                </a:r>
                <a:r>
                  <a:rPr lang="zh-CN" altLang="en-US" dirty="0"/>
                  <a:t>模型，此时实际</a:t>
                </a:r>
                <a:r>
                  <a:rPr lang="en-US" altLang="zh-CN" dirty="0"/>
                  <a:t>GDP</a:t>
                </a:r>
                <a:r>
                  <a:rPr lang="zh-CN" altLang="en-US" dirty="0"/>
                  <a:t>增加。</a:t>
                </a:r>
              </a:p>
            </p:txBody>
          </p:sp>
        </mc:Choice>
        <mc:Fallback xmlns="">
          <p:sp>
            <p:nvSpPr>
              <p:cNvPr id="3" name="内容占位符 2">
                <a:extLst>
                  <a:ext uri="{FF2B5EF4-FFF2-40B4-BE49-F238E27FC236}">
                    <a16:creationId xmlns:a16="http://schemas.microsoft.com/office/drawing/2014/main" id="{867125C1-9698-4AE2-A910-F7802F73DC10}"/>
                  </a:ext>
                </a:extLst>
              </p:cNvPr>
              <p:cNvSpPr>
                <a:spLocks noGrp="1" noRot="1" noChangeAspect="1" noMove="1" noResize="1" noEditPoints="1" noAdjustHandles="1" noChangeArrowheads="1" noChangeShapeType="1" noTextEdit="1"/>
              </p:cNvSpPr>
              <p:nvPr>
                <p:ph idx="1"/>
              </p:nvPr>
            </p:nvSpPr>
            <p:spPr>
              <a:blipFill>
                <a:blip r:embed="rId2"/>
                <a:stretch>
                  <a:fillRect l="-1391" t="-2521"/>
                </a:stretch>
              </a:blipFill>
            </p:spPr>
            <p:txBody>
              <a:bodyPr/>
              <a:lstStyle/>
              <a:p>
                <a:r>
                  <a:rPr lang="zh-CN" altLang="en-US">
                    <a:noFill/>
                  </a:rPr>
                  <a:t> </a:t>
                </a:r>
              </a:p>
            </p:txBody>
          </p:sp>
        </mc:Fallback>
      </mc:AlternateContent>
      <p:sp>
        <p:nvSpPr>
          <p:cNvPr id="4" name="灯片编号占位符 2">
            <a:extLst>
              <a:ext uri="{FF2B5EF4-FFF2-40B4-BE49-F238E27FC236}">
                <a16:creationId xmlns:a16="http://schemas.microsoft.com/office/drawing/2014/main" id="{4A7D4951-1158-83F9-0751-E03FDA4DA763}"/>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55</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CEF2AD6A-4D02-22C7-831F-867EFD6D1FC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162252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B4AB9BF-295E-49B4-B915-51DA96F9432A}"/>
              </a:ext>
            </a:extLst>
          </p:cNvPr>
          <p:cNvGrpSpPr/>
          <p:nvPr/>
        </p:nvGrpSpPr>
        <p:grpSpPr>
          <a:xfrm>
            <a:off x="288826" y="650255"/>
            <a:ext cx="3893375" cy="2364352"/>
            <a:chOff x="446622" y="718376"/>
            <a:chExt cx="7722397" cy="5636238"/>
          </a:xfrm>
        </p:grpSpPr>
        <p:sp>
          <p:nvSpPr>
            <p:cNvPr id="30" name="Text Box 5"/>
            <p:cNvSpPr txBox="1">
              <a:spLocks noChangeArrowheads="1"/>
            </p:cNvSpPr>
            <p:nvPr/>
          </p:nvSpPr>
          <p:spPr bwMode="auto">
            <a:xfrm>
              <a:off x="446622" y="1694547"/>
              <a:ext cx="395288" cy="4216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b="1" dirty="0">
                  <a:latin typeface="+mn-ea"/>
                  <a:ea typeface="+mn-ea"/>
                </a:rPr>
                <a:t>凯恩斯的国民收入决定理论</a:t>
              </a:r>
            </a:p>
          </p:txBody>
        </p:sp>
        <p:sp>
          <p:nvSpPr>
            <p:cNvPr id="31" name="AutoShape 7"/>
            <p:cNvSpPr>
              <a:spLocks/>
            </p:cNvSpPr>
            <p:nvPr/>
          </p:nvSpPr>
          <p:spPr bwMode="auto">
            <a:xfrm>
              <a:off x="1111785" y="1948547"/>
              <a:ext cx="144463" cy="2881313"/>
            </a:xfrm>
            <a:prstGeom prst="leftBrace">
              <a:avLst>
                <a:gd name="adj1" fmla="val 16620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sp>
          <p:nvSpPr>
            <p:cNvPr id="32" name="Text Box 9"/>
            <p:cNvSpPr txBox="1">
              <a:spLocks noChangeArrowheads="1"/>
            </p:cNvSpPr>
            <p:nvPr/>
          </p:nvSpPr>
          <p:spPr bwMode="auto">
            <a:xfrm>
              <a:off x="1399123" y="1805672"/>
              <a:ext cx="1584325"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a:latin typeface="+mn-ea"/>
                  <a:ea typeface="+mn-ea"/>
                </a:rPr>
                <a:t>消费（</a:t>
              </a:r>
              <a:r>
                <a:rPr lang="en-US" altLang="zh-CN" sz="908">
                  <a:latin typeface="+mn-ea"/>
                  <a:ea typeface="+mn-ea"/>
                </a:rPr>
                <a:t>c</a:t>
              </a:r>
              <a:r>
                <a:rPr lang="zh-CN" altLang="en-US" sz="908">
                  <a:latin typeface="+mn-ea"/>
                  <a:ea typeface="+mn-ea"/>
                </a:rPr>
                <a:t>）</a:t>
              </a:r>
            </a:p>
          </p:txBody>
        </p:sp>
        <p:sp>
          <p:nvSpPr>
            <p:cNvPr id="33" name="AutoShape 10"/>
            <p:cNvSpPr>
              <a:spLocks/>
            </p:cNvSpPr>
            <p:nvPr/>
          </p:nvSpPr>
          <p:spPr bwMode="auto">
            <a:xfrm>
              <a:off x="2624673" y="1229410"/>
              <a:ext cx="142875" cy="2159000"/>
            </a:xfrm>
            <a:prstGeom prst="leftBrace">
              <a:avLst>
                <a:gd name="adj1" fmla="val 12592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sp>
          <p:nvSpPr>
            <p:cNvPr id="34" name="Text Box 11"/>
            <p:cNvSpPr txBox="1">
              <a:spLocks noChangeArrowheads="1"/>
            </p:cNvSpPr>
            <p:nvPr/>
          </p:nvSpPr>
          <p:spPr bwMode="auto">
            <a:xfrm>
              <a:off x="2912009" y="1438958"/>
              <a:ext cx="1728788"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消费倾向</a:t>
              </a:r>
            </a:p>
          </p:txBody>
        </p:sp>
        <p:sp>
          <p:nvSpPr>
            <p:cNvPr id="35" name="AutoShape 12"/>
            <p:cNvSpPr>
              <a:spLocks/>
            </p:cNvSpPr>
            <p:nvPr/>
          </p:nvSpPr>
          <p:spPr bwMode="auto">
            <a:xfrm>
              <a:off x="4064535" y="737589"/>
              <a:ext cx="215900" cy="1727200"/>
            </a:xfrm>
            <a:prstGeom prst="lef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mc:AlternateContent xmlns:mc="http://schemas.openxmlformats.org/markup-compatibility/2006" xmlns:a14="http://schemas.microsoft.com/office/drawing/2010/main">
          <mc:Choice Requires="a14">
            <p:sp>
              <p:nvSpPr>
                <p:cNvPr id="36" name="Text Box 13"/>
                <p:cNvSpPr txBox="1">
                  <a:spLocks noChangeArrowheads="1"/>
                </p:cNvSpPr>
                <p:nvPr/>
              </p:nvSpPr>
              <p:spPr bwMode="auto">
                <a:xfrm>
                  <a:off x="4323832" y="718376"/>
                  <a:ext cx="3632952" cy="225304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平均消费倾向</a:t>
                  </a:r>
                  <a:r>
                    <a:rPr lang="en-US" altLang="zh-CN" sz="908" dirty="0">
                      <a:latin typeface="+mn-ea"/>
                      <a:ea typeface="+mn-ea"/>
                    </a:rPr>
                    <a:t>APC</a:t>
                  </a:r>
                  <a:r>
                    <a:rPr lang="zh-CN" altLang="en-US" sz="908" dirty="0">
                      <a:latin typeface="+mn-ea"/>
                      <a:ea typeface="+mn-ea"/>
                    </a:rPr>
                    <a:t>＝</a:t>
                  </a:r>
                  <a14:m>
                    <m:oMath xmlns:m="http://schemas.openxmlformats.org/officeDocument/2006/math">
                      <m:f>
                        <m:fPr>
                          <m:ctrlPr>
                            <a:rPr lang="en-US" altLang="zh-CN" sz="908" i="1">
                              <a:latin typeface="Cambria Math" panose="02040503050406030204" pitchFamily="18" charset="0"/>
                              <a:ea typeface="+mn-ea"/>
                            </a:rPr>
                          </m:ctrlPr>
                        </m:fPr>
                        <m:num>
                          <m:r>
                            <a:rPr lang="en-US" altLang="zh-CN" sz="908" i="1">
                              <a:latin typeface="Cambria Math" panose="02040503050406030204" pitchFamily="18" charset="0"/>
                              <a:ea typeface="+mn-ea"/>
                            </a:rPr>
                            <m:t>𝑐</m:t>
                          </m:r>
                        </m:num>
                        <m:den>
                          <m:r>
                            <a:rPr lang="en-US" altLang="zh-CN" sz="908" i="1">
                              <a:latin typeface="Cambria Math" panose="02040503050406030204" pitchFamily="18" charset="0"/>
                              <a:ea typeface="+mn-ea"/>
                            </a:rPr>
                            <m:t>𝑦</m:t>
                          </m:r>
                        </m:den>
                      </m:f>
                    </m:oMath>
                  </a14:m>
                  <a:endParaRPr lang="zh-CN" altLang="en-US" sz="908" dirty="0">
                    <a:latin typeface="+mn-ea"/>
                    <a:ea typeface="+mn-ea"/>
                  </a:endParaRPr>
                </a:p>
                <a:p>
                  <a:pPr eaLnBrk="1" hangingPunct="1">
                    <a:spcBef>
                      <a:spcPct val="50000"/>
                    </a:spcBef>
                  </a:pPr>
                  <a:r>
                    <a:rPr lang="zh-CN" altLang="en-US" sz="908" dirty="0">
                      <a:latin typeface="+mn-ea"/>
                      <a:ea typeface="+mn-ea"/>
                    </a:rPr>
                    <a:t>边际消费倾向</a:t>
                  </a:r>
                  <a:r>
                    <a:rPr lang="en-US" altLang="zh-CN" sz="908" dirty="0">
                      <a:latin typeface="+mn-ea"/>
                      <a:ea typeface="+mn-ea"/>
                    </a:rPr>
                    <a:t>MPC=</a:t>
                  </a:r>
                  <a14:m>
                    <m:oMath xmlns:m="http://schemas.openxmlformats.org/officeDocument/2006/math">
                      <m:f>
                        <m:fPr>
                          <m:ctrlPr>
                            <a:rPr lang="en-US" altLang="zh-CN" sz="908" i="1">
                              <a:latin typeface="Cambria Math" panose="02040503050406030204" pitchFamily="18" charset="0"/>
                              <a:ea typeface="Cambria Math" panose="02040503050406030204" pitchFamily="18" charset="0"/>
                            </a:rPr>
                          </m:ctrlPr>
                        </m:fPr>
                        <m:num>
                          <m:r>
                            <a:rPr lang="en-US" altLang="zh-CN" sz="908" i="1">
                              <a:latin typeface="Cambria Math" panose="02040503050406030204" pitchFamily="18" charset="0"/>
                              <a:ea typeface="Cambria Math" panose="02040503050406030204" pitchFamily="18" charset="0"/>
                            </a:rPr>
                            <m:t>∆</m:t>
                          </m:r>
                          <m:r>
                            <a:rPr lang="en-US" altLang="zh-CN" sz="908" i="1">
                              <a:latin typeface="Cambria Math" panose="02040503050406030204" pitchFamily="18" charset="0"/>
                              <a:ea typeface="Cambria Math" panose="02040503050406030204" pitchFamily="18" charset="0"/>
                            </a:rPr>
                            <m:t>𝑐</m:t>
                          </m:r>
                        </m:num>
                        <m:den>
                          <m:r>
                            <a:rPr lang="en-US" altLang="zh-CN" sz="908" i="1">
                              <a:latin typeface="Cambria Math" panose="02040503050406030204" pitchFamily="18" charset="0"/>
                              <a:ea typeface="Cambria Math" panose="02040503050406030204" pitchFamily="18" charset="0"/>
                            </a:rPr>
                            <m:t>∆</m:t>
                          </m:r>
                          <m:r>
                            <a:rPr lang="en-US" altLang="zh-CN" sz="908" i="1">
                              <a:latin typeface="Cambria Math" panose="02040503050406030204" pitchFamily="18" charset="0"/>
                              <a:ea typeface="Cambria Math" panose="02040503050406030204" pitchFamily="18" charset="0"/>
                            </a:rPr>
                            <m:t>𝑦</m:t>
                          </m:r>
                        </m:den>
                      </m:f>
                    </m:oMath>
                  </a14:m>
                  <a:endParaRPr lang="en-US" altLang="zh-CN" sz="908" dirty="0">
                    <a:latin typeface="+mn-ea"/>
                    <a:ea typeface="+mn-ea"/>
                  </a:endParaRPr>
                </a:p>
                <a:p>
                  <a:pPr eaLnBrk="1" hangingPunct="1">
                    <a:spcBef>
                      <a:spcPct val="50000"/>
                    </a:spcBef>
                  </a:pPr>
                  <a:r>
                    <a:rPr lang="zh-CN" altLang="en-US" sz="908" dirty="0">
                      <a:latin typeface="+mn-ea"/>
                      <a:ea typeface="+mn-ea"/>
                    </a:rPr>
                    <a:t>由此求投资乘数</a:t>
                  </a:r>
                  <a14:m>
                    <m:oMath xmlns:m="http://schemas.openxmlformats.org/officeDocument/2006/math">
                      <m:r>
                        <a:rPr lang="en-US" altLang="zh-CN" sz="908" i="1">
                          <a:latin typeface="Cambria Math" panose="02040503050406030204" pitchFamily="18" charset="0"/>
                          <a:ea typeface="+mn-ea"/>
                        </a:rPr>
                        <m:t>𝑘</m:t>
                      </m:r>
                      <m:r>
                        <a:rPr lang="en-US" altLang="zh-CN" sz="908" i="1">
                          <a:latin typeface="Cambria Math" panose="02040503050406030204" pitchFamily="18" charset="0"/>
                          <a:ea typeface="+mn-ea"/>
                        </a:rPr>
                        <m:t>=</m:t>
                      </m:r>
                      <m:f>
                        <m:fPr>
                          <m:ctrlPr>
                            <a:rPr lang="en-US" altLang="zh-CN" sz="908" i="1">
                              <a:latin typeface="Cambria Math" panose="02040503050406030204" pitchFamily="18" charset="0"/>
                              <a:ea typeface="+mn-ea"/>
                            </a:rPr>
                          </m:ctrlPr>
                        </m:fPr>
                        <m:num>
                          <m:r>
                            <a:rPr lang="en-US" altLang="zh-CN" sz="908" i="1">
                              <a:latin typeface="Cambria Math" panose="02040503050406030204" pitchFamily="18" charset="0"/>
                              <a:ea typeface="+mn-ea"/>
                            </a:rPr>
                            <m:t>1</m:t>
                          </m:r>
                        </m:num>
                        <m:den>
                          <m:r>
                            <a:rPr lang="en-US" altLang="zh-CN" sz="908" i="1">
                              <a:latin typeface="Cambria Math" panose="02040503050406030204" pitchFamily="18" charset="0"/>
                              <a:ea typeface="+mn-ea"/>
                            </a:rPr>
                            <m:t>1−</m:t>
                          </m:r>
                          <m:r>
                            <a:rPr lang="en-US" altLang="zh-CN" sz="908" i="1">
                              <a:latin typeface="Cambria Math" panose="02040503050406030204" pitchFamily="18" charset="0"/>
                              <a:ea typeface="Cambria Math" panose="02040503050406030204" pitchFamily="18" charset="0"/>
                            </a:rPr>
                            <m:t>∆</m:t>
                          </m:r>
                          <m:r>
                            <a:rPr lang="en-US" altLang="zh-CN" sz="908" i="1">
                              <a:latin typeface="Cambria Math" panose="02040503050406030204" pitchFamily="18" charset="0"/>
                              <a:ea typeface="Cambria Math" panose="02040503050406030204" pitchFamily="18" charset="0"/>
                            </a:rPr>
                            <m:t>𝑐</m:t>
                          </m:r>
                          <m:r>
                            <a:rPr lang="en-US" altLang="zh-CN" sz="908" i="1">
                              <a:latin typeface="Cambria Math" panose="02040503050406030204" pitchFamily="18" charset="0"/>
                              <a:ea typeface="Cambria Math" panose="02040503050406030204" pitchFamily="18" charset="0"/>
                            </a:rPr>
                            <m:t>/∆</m:t>
                          </m:r>
                          <m:r>
                            <a:rPr lang="en-US" altLang="zh-CN" sz="908" i="1">
                              <a:latin typeface="Cambria Math" panose="02040503050406030204" pitchFamily="18" charset="0"/>
                              <a:ea typeface="Cambria Math" panose="02040503050406030204" pitchFamily="18" charset="0"/>
                            </a:rPr>
                            <m:t>𝑦</m:t>
                          </m:r>
                        </m:den>
                      </m:f>
                    </m:oMath>
                  </a14:m>
                  <a:endParaRPr lang="en-US" altLang="zh-CN" sz="908" dirty="0">
                    <a:latin typeface="+mn-ea"/>
                    <a:ea typeface="+mn-ea"/>
                  </a:endParaRPr>
                </a:p>
              </p:txBody>
            </p:sp>
          </mc:Choice>
          <mc:Fallback xmlns="">
            <p:sp>
              <p:nvSpPr>
                <p:cNvPr id="36" name="Text Box 13"/>
                <p:cNvSpPr txBox="1">
                  <a:spLocks noRot="1" noChangeAspect="1" noMove="1" noResize="1" noEditPoints="1" noAdjustHandles="1" noChangeArrowheads="1" noChangeShapeType="1" noTextEdit="1"/>
                </p:cNvSpPr>
                <p:nvPr/>
              </p:nvSpPr>
              <p:spPr bwMode="auto">
                <a:xfrm>
                  <a:off x="4323832" y="718376"/>
                  <a:ext cx="3632952" cy="2253041"/>
                </a:xfrm>
                <a:prstGeom prst="rect">
                  <a:avLst/>
                </a:prstGeom>
                <a:blipFill>
                  <a:blip r:embed="rId2"/>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8" name="Text Box 20"/>
            <p:cNvSpPr txBox="1">
              <a:spLocks noChangeArrowheads="1"/>
            </p:cNvSpPr>
            <p:nvPr/>
          </p:nvSpPr>
          <p:spPr bwMode="auto">
            <a:xfrm>
              <a:off x="2912009" y="3029636"/>
              <a:ext cx="2087564"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a:latin typeface="+mn-ea"/>
                  <a:ea typeface="+mn-ea"/>
                </a:rPr>
                <a:t>收入</a:t>
              </a:r>
            </a:p>
          </p:txBody>
        </p:sp>
        <p:sp>
          <p:nvSpPr>
            <p:cNvPr id="39" name="Text Box 21"/>
            <p:cNvSpPr txBox="1">
              <a:spLocks noChangeArrowheads="1"/>
            </p:cNvSpPr>
            <p:nvPr/>
          </p:nvSpPr>
          <p:spPr bwMode="auto">
            <a:xfrm>
              <a:off x="1399123" y="4540936"/>
              <a:ext cx="1368425"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a:latin typeface="+mn-ea"/>
                  <a:ea typeface="+mn-ea"/>
                </a:rPr>
                <a:t>投资（</a:t>
              </a:r>
              <a:r>
                <a:rPr lang="en-US" altLang="zh-CN" sz="908">
                  <a:latin typeface="+mn-ea"/>
                  <a:ea typeface="+mn-ea"/>
                </a:rPr>
                <a:t>i</a:t>
              </a:r>
              <a:r>
                <a:rPr lang="zh-CN" altLang="en-US" sz="908">
                  <a:latin typeface="+mn-ea"/>
                  <a:ea typeface="+mn-ea"/>
                </a:rPr>
                <a:t>）</a:t>
              </a:r>
            </a:p>
          </p:txBody>
        </p:sp>
        <p:sp>
          <p:nvSpPr>
            <p:cNvPr id="40" name="AutoShape 23"/>
            <p:cNvSpPr>
              <a:spLocks/>
            </p:cNvSpPr>
            <p:nvPr/>
          </p:nvSpPr>
          <p:spPr bwMode="auto">
            <a:xfrm>
              <a:off x="2551648" y="4180572"/>
              <a:ext cx="73025" cy="1512888"/>
            </a:xfrm>
            <a:prstGeom prst="leftBrace">
              <a:avLst>
                <a:gd name="adj1" fmla="val 17264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sp>
          <p:nvSpPr>
            <p:cNvPr id="41" name="Text Box 24"/>
            <p:cNvSpPr txBox="1">
              <a:spLocks noChangeArrowheads="1"/>
            </p:cNvSpPr>
            <p:nvPr/>
          </p:nvSpPr>
          <p:spPr bwMode="auto">
            <a:xfrm>
              <a:off x="2624674" y="3964673"/>
              <a:ext cx="1366838"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a:latin typeface="+mn-ea"/>
                  <a:ea typeface="+mn-ea"/>
                </a:rPr>
                <a:t>利率（</a:t>
              </a:r>
              <a:r>
                <a:rPr lang="en-US" altLang="zh-CN" sz="908">
                  <a:latin typeface="+mn-ea"/>
                  <a:ea typeface="+mn-ea"/>
                </a:rPr>
                <a:t>r</a:t>
              </a:r>
              <a:r>
                <a:rPr lang="zh-CN" altLang="en-US" sz="908">
                  <a:latin typeface="+mn-ea"/>
                  <a:ea typeface="+mn-ea"/>
                </a:rPr>
                <a:t>）</a:t>
              </a:r>
            </a:p>
          </p:txBody>
        </p:sp>
        <p:sp>
          <p:nvSpPr>
            <p:cNvPr id="42" name="AutoShape 25"/>
            <p:cNvSpPr>
              <a:spLocks/>
            </p:cNvSpPr>
            <p:nvPr/>
          </p:nvSpPr>
          <p:spPr bwMode="auto">
            <a:xfrm>
              <a:off x="3848635" y="3461435"/>
              <a:ext cx="142875" cy="1295400"/>
            </a:xfrm>
            <a:prstGeom prst="leftBrace">
              <a:avLst>
                <a:gd name="adj1" fmla="val 7555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sp>
          <p:nvSpPr>
            <p:cNvPr id="43" name="Text Box 26"/>
            <p:cNvSpPr txBox="1">
              <a:spLocks noChangeArrowheads="1"/>
            </p:cNvSpPr>
            <p:nvPr/>
          </p:nvSpPr>
          <p:spPr bwMode="auto">
            <a:xfrm>
              <a:off x="3991509" y="3306497"/>
              <a:ext cx="1368425" cy="105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流动偏好</a:t>
              </a:r>
            </a:p>
            <a:p>
              <a:pPr eaLnBrk="1" hangingPunct="1">
                <a:spcBef>
                  <a:spcPct val="50000"/>
                </a:spcBef>
              </a:pPr>
              <a:r>
                <a:rPr lang="en-US" altLang="zh-CN" sz="908" dirty="0">
                  <a:latin typeface="+mn-ea"/>
                  <a:ea typeface="+mn-ea"/>
                </a:rPr>
                <a:t>L=L</a:t>
              </a:r>
              <a:r>
                <a:rPr lang="en-US" altLang="zh-CN" sz="908" baseline="-25000" dirty="0">
                  <a:latin typeface="+mn-ea"/>
                  <a:ea typeface="+mn-ea"/>
                </a:rPr>
                <a:t>1</a:t>
              </a:r>
              <a:r>
                <a:rPr lang="en-US" altLang="zh-CN" sz="908" dirty="0">
                  <a:latin typeface="+mn-ea"/>
                  <a:ea typeface="+mn-ea"/>
                </a:rPr>
                <a:t>+L</a:t>
              </a:r>
              <a:r>
                <a:rPr lang="en-US" altLang="zh-CN" sz="908" baseline="-25000" dirty="0">
                  <a:latin typeface="+mn-ea"/>
                  <a:ea typeface="+mn-ea"/>
                </a:rPr>
                <a:t>2</a:t>
              </a:r>
            </a:p>
          </p:txBody>
        </p:sp>
        <p:sp>
          <p:nvSpPr>
            <p:cNvPr id="44" name="AutoShape 27"/>
            <p:cNvSpPr>
              <a:spLocks/>
            </p:cNvSpPr>
            <p:nvPr/>
          </p:nvSpPr>
          <p:spPr bwMode="auto">
            <a:xfrm>
              <a:off x="5036088" y="2910199"/>
              <a:ext cx="215900" cy="1150938"/>
            </a:xfrm>
            <a:prstGeom prst="leftBrace">
              <a:avLst>
                <a:gd name="adj1" fmla="val 4442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sp>
          <p:nvSpPr>
            <p:cNvPr id="45" name="Text Box 28"/>
            <p:cNvSpPr txBox="1">
              <a:spLocks noChangeArrowheads="1"/>
            </p:cNvSpPr>
            <p:nvPr/>
          </p:nvSpPr>
          <p:spPr bwMode="auto">
            <a:xfrm>
              <a:off x="5287706" y="2885592"/>
              <a:ext cx="2881313" cy="1552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a:latin typeface="+mn-ea"/>
                  <a:ea typeface="+mn-ea"/>
                </a:rPr>
                <a:t>交易动机 （由</a:t>
              </a:r>
              <a:r>
                <a:rPr lang="en-US" altLang="zh-CN" sz="908">
                  <a:latin typeface="+mn-ea"/>
                  <a:ea typeface="+mn-ea"/>
                </a:rPr>
                <a:t>m</a:t>
              </a:r>
              <a:r>
                <a:rPr lang="en-US" altLang="zh-CN" sz="908" baseline="-25000">
                  <a:latin typeface="+mn-ea"/>
                  <a:ea typeface="+mn-ea"/>
                </a:rPr>
                <a:t>1</a:t>
              </a:r>
              <a:r>
                <a:rPr lang="zh-CN" altLang="en-US" sz="908">
                  <a:latin typeface="+mn-ea"/>
                  <a:ea typeface="+mn-ea"/>
                </a:rPr>
                <a:t>满足）</a:t>
              </a:r>
            </a:p>
            <a:p>
              <a:pPr eaLnBrk="1" hangingPunct="1">
                <a:spcBef>
                  <a:spcPct val="50000"/>
                </a:spcBef>
              </a:pPr>
              <a:r>
                <a:rPr lang="zh-CN" altLang="en-US" sz="908">
                  <a:latin typeface="+mn-ea"/>
                  <a:ea typeface="+mn-ea"/>
                </a:rPr>
                <a:t>谨慎动机 （由</a:t>
              </a:r>
              <a:r>
                <a:rPr lang="en-US" altLang="zh-CN" sz="908">
                  <a:latin typeface="+mn-ea"/>
                  <a:ea typeface="+mn-ea"/>
                </a:rPr>
                <a:t>m</a:t>
              </a:r>
              <a:r>
                <a:rPr lang="en-US" altLang="zh-CN" sz="908" baseline="-25000">
                  <a:latin typeface="+mn-ea"/>
                  <a:ea typeface="+mn-ea"/>
                </a:rPr>
                <a:t>2</a:t>
              </a:r>
              <a:r>
                <a:rPr lang="zh-CN" altLang="en-US" sz="908">
                  <a:latin typeface="+mn-ea"/>
                  <a:ea typeface="+mn-ea"/>
                </a:rPr>
                <a:t>满足）</a:t>
              </a:r>
            </a:p>
            <a:p>
              <a:pPr eaLnBrk="1" hangingPunct="1">
                <a:spcBef>
                  <a:spcPct val="50000"/>
                </a:spcBef>
              </a:pPr>
              <a:r>
                <a:rPr lang="zh-CN" altLang="en-US" sz="908">
                  <a:latin typeface="+mn-ea"/>
                  <a:ea typeface="+mn-ea"/>
                </a:rPr>
                <a:t>投机动机 （由</a:t>
              </a:r>
              <a:r>
                <a:rPr lang="en-US" altLang="zh-CN" sz="908">
                  <a:latin typeface="+mn-ea"/>
                  <a:ea typeface="+mn-ea"/>
                </a:rPr>
                <a:t>m</a:t>
              </a:r>
              <a:r>
                <a:rPr lang="en-US" altLang="zh-CN" sz="908" baseline="-25000">
                  <a:latin typeface="+mn-ea"/>
                  <a:ea typeface="+mn-ea"/>
                </a:rPr>
                <a:t>3</a:t>
              </a:r>
              <a:r>
                <a:rPr lang="zh-CN" altLang="en-US" sz="908">
                  <a:latin typeface="+mn-ea"/>
                  <a:ea typeface="+mn-ea"/>
                </a:rPr>
                <a:t>满足）</a:t>
              </a:r>
            </a:p>
          </p:txBody>
        </p:sp>
        <p:sp>
          <p:nvSpPr>
            <p:cNvPr id="46" name="Text Box 29"/>
            <p:cNvSpPr txBox="1">
              <a:spLocks noChangeArrowheads="1"/>
            </p:cNvSpPr>
            <p:nvPr/>
          </p:nvSpPr>
          <p:spPr bwMode="auto">
            <a:xfrm>
              <a:off x="4062948" y="4538616"/>
              <a:ext cx="4032250"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货币数量 （</a:t>
              </a:r>
              <a:r>
                <a:rPr lang="en-US" altLang="zh-CN" sz="908" dirty="0">
                  <a:latin typeface="+mn-ea"/>
                  <a:ea typeface="+mn-ea"/>
                </a:rPr>
                <a:t>m= m</a:t>
              </a:r>
              <a:r>
                <a:rPr lang="en-US" altLang="zh-CN" sz="908" baseline="-25000" dirty="0">
                  <a:latin typeface="+mn-ea"/>
                  <a:ea typeface="+mn-ea"/>
                </a:rPr>
                <a:t>1</a:t>
              </a:r>
              <a:r>
                <a:rPr lang="en-US" altLang="zh-CN" sz="908" dirty="0">
                  <a:latin typeface="+mn-ea"/>
                  <a:ea typeface="+mn-ea"/>
                </a:rPr>
                <a:t>+m</a:t>
              </a:r>
              <a:r>
                <a:rPr lang="en-US" altLang="zh-CN" sz="908" baseline="-25000" dirty="0">
                  <a:latin typeface="+mn-ea"/>
                  <a:ea typeface="+mn-ea"/>
                </a:rPr>
                <a:t>2</a:t>
              </a:r>
              <a:r>
                <a:rPr lang="zh-CN" altLang="en-US" sz="908" dirty="0">
                  <a:latin typeface="+mn-ea"/>
                  <a:ea typeface="+mn-ea"/>
                </a:rPr>
                <a:t>）</a:t>
              </a:r>
            </a:p>
          </p:txBody>
        </p:sp>
        <p:sp>
          <p:nvSpPr>
            <p:cNvPr id="47" name="Text Box 30"/>
            <p:cNvSpPr txBox="1">
              <a:spLocks noChangeArrowheads="1"/>
            </p:cNvSpPr>
            <p:nvPr/>
          </p:nvSpPr>
          <p:spPr bwMode="auto">
            <a:xfrm>
              <a:off x="2624674" y="5491163"/>
              <a:ext cx="2447925"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a:latin typeface="+mn-ea"/>
                  <a:ea typeface="+mn-ea"/>
                </a:rPr>
                <a:t>资本边际效率</a:t>
              </a:r>
              <a:r>
                <a:rPr lang="en-US" altLang="zh-CN" sz="908">
                  <a:latin typeface="+mn-ea"/>
                  <a:ea typeface="+mn-ea"/>
                </a:rPr>
                <a:t>(MEC)</a:t>
              </a:r>
            </a:p>
          </p:txBody>
        </p:sp>
        <p:sp>
          <p:nvSpPr>
            <p:cNvPr id="48" name="Text Box 33"/>
            <p:cNvSpPr txBox="1">
              <a:spLocks noChangeArrowheads="1"/>
            </p:cNvSpPr>
            <p:nvPr/>
          </p:nvSpPr>
          <p:spPr bwMode="auto">
            <a:xfrm>
              <a:off x="4873624" y="5301769"/>
              <a:ext cx="3168651" cy="105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预期收益</a:t>
              </a:r>
            </a:p>
            <a:p>
              <a:pPr eaLnBrk="1" hangingPunct="1">
                <a:spcBef>
                  <a:spcPct val="50000"/>
                </a:spcBef>
              </a:pPr>
              <a:r>
                <a:rPr lang="zh-CN" altLang="en-US" sz="908" dirty="0">
                  <a:latin typeface="+mn-ea"/>
                  <a:ea typeface="+mn-ea"/>
                </a:rPr>
                <a:t>重置成本或资产的供给价格</a:t>
              </a:r>
            </a:p>
          </p:txBody>
        </p:sp>
        <p:sp>
          <p:nvSpPr>
            <p:cNvPr id="49" name="AutoShape 34"/>
            <p:cNvSpPr>
              <a:spLocks/>
            </p:cNvSpPr>
            <p:nvPr/>
          </p:nvSpPr>
          <p:spPr bwMode="auto">
            <a:xfrm>
              <a:off x="4730667" y="5342877"/>
              <a:ext cx="71437" cy="719137"/>
            </a:xfrm>
            <a:prstGeom prst="leftBrace">
              <a:avLst>
                <a:gd name="adj1" fmla="val 8388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grpSp>
      <p:sp>
        <p:nvSpPr>
          <p:cNvPr id="3" name="标题 2">
            <a:extLst>
              <a:ext uri="{FF2B5EF4-FFF2-40B4-BE49-F238E27FC236}">
                <a16:creationId xmlns:a16="http://schemas.microsoft.com/office/drawing/2014/main" id="{91D7AF40-19C1-653A-70F3-49C7A460F3FB}"/>
              </a:ext>
            </a:extLst>
          </p:cNvPr>
          <p:cNvSpPr>
            <a:spLocks noGrp="1"/>
          </p:cNvSpPr>
          <p:nvPr>
            <p:ph type="title"/>
          </p:nvPr>
        </p:nvSpPr>
        <p:spPr/>
        <p:txBody>
          <a:bodyPr/>
          <a:lstStyle/>
          <a:p>
            <a:r>
              <a:rPr kumimoji="1" lang="zh-CN" altLang="en-US" dirty="0"/>
              <a:t>总结：凯恩斯的基本理论框架</a:t>
            </a:r>
          </a:p>
        </p:txBody>
      </p:sp>
    </p:spTree>
    <p:extLst>
      <p:ext uri="{BB962C8B-B14F-4D97-AF65-F5344CB8AC3E}">
        <p14:creationId xmlns:p14="http://schemas.microsoft.com/office/powerpoint/2010/main" val="26250974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942D0-B04B-BBEC-9497-527290109026}"/>
              </a:ext>
            </a:extLst>
          </p:cNvPr>
          <p:cNvSpPr>
            <a:spLocks noGrp="1"/>
          </p:cNvSpPr>
          <p:nvPr>
            <p:ph type="title"/>
          </p:nvPr>
        </p:nvSpPr>
        <p:spPr>
          <a:xfrm>
            <a:off x="97530" y="1545879"/>
            <a:ext cx="4415040" cy="368993"/>
          </a:xfrm>
        </p:spPr>
        <p:txBody>
          <a:bodyPr>
            <a:normAutofit fontScale="90000"/>
          </a:bodyPr>
          <a:lstStyle/>
          <a:p>
            <a:pPr algn="ctr"/>
            <a:r>
              <a:rPr kumimoji="1" lang="en-US" altLang="zh-CN" sz="2398" dirty="0"/>
              <a:t>Thanks!</a:t>
            </a:r>
            <a:endParaRPr kumimoji="1" lang="zh-CN" altLang="en-US" sz="2398" dirty="0"/>
          </a:p>
        </p:txBody>
      </p:sp>
    </p:spTree>
    <p:extLst>
      <p:ext uri="{BB962C8B-B14F-4D97-AF65-F5344CB8AC3E}">
        <p14:creationId xmlns:p14="http://schemas.microsoft.com/office/powerpoint/2010/main" val="346154294"/>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17435</TotalTime>
  <Words>4802</Words>
  <Application>Microsoft Macintosh PowerPoint</Application>
  <PresentationFormat>自定义</PresentationFormat>
  <Paragraphs>437</Paragraphs>
  <Slides>57</Slides>
  <Notes>0</Notes>
  <HiddenSlides>0</HiddenSlides>
  <MMClips>0</MMClips>
  <ScaleCrop>false</ScaleCrop>
  <HeadingPairs>
    <vt:vector size="6" baseType="variant">
      <vt:variant>
        <vt:lpstr>已用的字体</vt:lpstr>
      </vt:variant>
      <vt:variant>
        <vt:i4>16</vt:i4>
      </vt:variant>
      <vt:variant>
        <vt:lpstr>主题</vt:lpstr>
      </vt:variant>
      <vt:variant>
        <vt:i4>8</vt:i4>
      </vt:variant>
      <vt:variant>
        <vt:lpstr>幻灯片标题</vt:lpstr>
      </vt:variant>
      <vt:variant>
        <vt:i4>57</vt:i4>
      </vt:variant>
    </vt:vector>
  </HeadingPairs>
  <TitlesOfParts>
    <vt:vector size="81" baseType="lpstr">
      <vt:lpstr>DengXian</vt:lpstr>
      <vt:lpstr>DengXian</vt:lpstr>
      <vt:lpstr>KaiTi</vt:lpstr>
      <vt:lpstr>KaiTi</vt:lpstr>
      <vt:lpstr>SimSun</vt:lpstr>
      <vt:lpstr>SimSun</vt:lpstr>
      <vt:lpstr>Microsoft YaHei</vt:lpstr>
      <vt:lpstr>微软雅黑 Light</vt:lpstr>
      <vt:lpstr>Arial</vt:lpstr>
      <vt:lpstr>Book Antiqua</vt:lpstr>
      <vt:lpstr>Calibri</vt:lpstr>
      <vt:lpstr>Cambria Math</vt:lpstr>
      <vt:lpstr>Garamond</vt:lpstr>
      <vt:lpstr>Tahoma</vt:lpstr>
      <vt:lpstr>Times New Roman</vt:lpstr>
      <vt:lpstr>Wingdings</vt:lpstr>
      <vt:lpstr>Custom Design</vt:lpstr>
      <vt:lpstr>1_Custom Design</vt:lpstr>
      <vt:lpstr>2_Custom Design</vt:lpstr>
      <vt:lpstr>3_Custom Design</vt:lpstr>
      <vt:lpstr>4_Custom Design</vt:lpstr>
      <vt:lpstr>5_Custom Design</vt:lpstr>
      <vt:lpstr>6_Custom Design</vt:lpstr>
      <vt:lpstr>7_Custom Design</vt:lpstr>
      <vt:lpstr>宏观经济学</vt:lpstr>
      <vt:lpstr>PowerPoint 演示文稿</vt:lpstr>
      <vt:lpstr>PowerPoint 演示文稿</vt:lpstr>
      <vt:lpstr>投资的决策</vt:lpstr>
      <vt:lpstr>投资的决策</vt:lpstr>
      <vt:lpstr>投资函数</vt:lpstr>
      <vt:lpstr>主动学习   1       投资的决定</vt:lpstr>
      <vt:lpstr>投资曲线</vt:lpstr>
      <vt:lpstr>资本的边际效率</vt:lpstr>
      <vt:lpstr>资本的边际效率</vt:lpstr>
      <vt:lpstr>主动学习          资本的边际效率</vt:lpstr>
      <vt:lpstr>资本的边际效率</vt:lpstr>
      <vt:lpstr>资本边际效率曲线</vt:lpstr>
      <vt:lpstr>资本边际效率曲线</vt:lpstr>
      <vt:lpstr>投资的边际效率曲线</vt:lpstr>
      <vt:lpstr>预期收益与投资</vt:lpstr>
      <vt:lpstr>风险与投资</vt:lpstr>
      <vt:lpstr>托宾Q</vt:lpstr>
      <vt:lpstr>PowerPoint 演示文稿</vt:lpstr>
      <vt:lpstr>IS曲线及其推导</vt:lpstr>
      <vt:lpstr>IS曲线是由投资与利率的关系（投资函数）、储蓄与收入的关系（储蓄函数）以及储蓄与投资的关系（储蓄等于投资）中推导出来的：</vt:lpstr>
      <vt:lpstr>主动学习          IS曲线</vt:lpstr>
      <vt:lpstr>IS曲线的斜率</vt:lpstr>
      <vt:lpstr>IS曲线的斜率</vt:lpstr>
      <vt:lpstr>IS曲线的斜率</vt:lpstr>
      <vt:lpstr>IS曲线的移动</vt:lpstr>
      <vt:lpstr>IS曲线的移动</vt:lpstr>
      <vt:lpstr>主动学习          IS曲线</vt:lpstr>
      <vt:lpstr>PowerPoint 演示文稿</vt:lpstr>
      <vt:lpstr>利率决定于货币的供给与需求</vt:lpstr>
      <vt:lpstr>流动性偏好和货币需求动机</vt:lpstr>
      <vt:lpstr>流动性偏好陷阱</vt:lpstr>
      <vt:lpstr>货币需求函数</vt:lpstr>
      <vt:lpstr>货币需求函数</vt:lpstr>
      <vt:lpstr>PowerPoint 演示文稿</vt:lpstr>
      <vt:lpstr>PowerPoint 演示文稿</vt:lpstr>
      <vt:lpstr>货币供求均衡和利率的决定</vt:lpstr>
      <vt:lpstr>货币供求均衡和利率的决定</vt:lpstr>
      <vt:lpstr>PowerPoint 演示文稿</vt:lpstr>
      <vt:lpstr>LM曲线及其推导</vt:lpstr>
      <vt:lpstr>LM曲线及其推导</vt:lpstr>
      <vt:lpstr>LM曲线及其推导</vt:lpstr>
      <vt:lpstr>PowerPoint 演示文稿</vt:lpstr>
      <vt:lpstr>主动学习          IS曲线</vt:lpstr>
      <vt:lpstr>主动学习          IS曲线</vt:lpstr>
      <vt:lpstr>LM曲线的斜率</vt:lpstr>
      <vt:lpstr>LM曲线的斜率</vt:lpstr>
      <vt:lpstr>LM曲线的移动</vt:lpstr>
      <vt:lpstr>LM曲线的移动</vt:lpstr>
      <vt:lpstr>PowerPoint 演示文稿</vt:lpstr>
      <vt:lpstr>两个市场同时均衡的利率和收入</vt:lpstr>
      <vt:lpstr>两个市场同时均衡的利率和收入</vt:lpstr>
      <vt:lpstr>两个市场同时均衡的利率和收入</vt:lpstr>
      <vt:lpstr>均衡收入与均衡利率的变动</vt:lpstr>
      <vt:lpstr>均衡收入与均衡利率的变动</vt:lpstr>
      <vt:lpstr>总结：凯恩斯的基本理论框架</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公共部门经济学</dc:title>
  <dc:creator>QD5164</dc:creator>
  <cp:keywords>()</cp:keywords>
  <cp:lastModifiedBy>Zhiqing YANG</cp:lastModifiedBy>
  <cp:revision>2037</cp:revision>
  <dcterms:created xsi:type="dcterms:W3CDTF">2022-08-17T03:42:51Z</dcterms:created>
  <dcterms:modified xsi:type="dcterms:W3CDTF">2024-05-15T01:37:01Z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2014-11-25T00:00:00Z</vt:filetime>
  </property>
  <property fmtid="{D5CDD505-2E9C-101B-9397-08002B2CF9AE}" pid="3" name="Creator">
    <vt:lpwstr>LaTeX with Beamer class version 3.33</vt:lpwstr>
  </property>
  <property fmtid="{D5CDD505-2E9C-101B-9397-08002B2CF9AE}" pid="4" name="LastSaved">
    <vt:filetime>2018-11-23T00:00:00Z</vt:filetime>
  </property>
</Properties>
</file>