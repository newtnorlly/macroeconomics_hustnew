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6" r:id="rId3"/>
    <p:sldMasterId id="2147483679" r:id="rId4"/>
  </p:sldMasterIdLst>
  <p:notesMasterIdLst>
    <p:notesMasterId r:id="rId73"/>
  </p:notesMasterIdLst>
  <p:sldIdLst>
    <p:sldId id="256" r:id="rId5"/>
    <p:sldId id="362" r:id="rId6"/>
    <p:sldId id="549" r:id="rId7"/>
    <p:sldId id="359" r:id="rId8"/>
    <p:sldId id="415" r:id="rId9"/>
    <p:sldId id="1097" r:id="rId10"/>
    <p:sldId id="962" r:id="rId11"/>
    <p:sldId id="1110" r:id="rId12"/>
    <p:sldId id="1107" r:id="rId13"/>
    <p:sldId id="1108" r:id="rId14"/>
    <p:sldId id="1109" r:id="rId15"/>
    <p:sldId id="1106" r:id="rId16"/>
    <p:sldId id="1099" r:id="rId17"/>
    <p:sldId id="1100" r:id="rId18"/>
    <p:sldId id="1101" r:id="rId19"/>
    <p:sldId id="986" r:id="rId20"/>
    <p:sldId id="987" r:id="rId21"/>
    <p:sldId id="988" r:id="rId22"/>
    <p:sldId id="276" r:id="rId23"/>
    <p:sldId id="1094" r:id="rId24"/>
    <p:sldId id="989" r:id="rId25"/>
    <p:sldId id="1095" r:id="rId26"/>
    <p:sldId id="990" r:id="rId27"/>
    <p:sldId id="429" r:id="rId28"/>
    <p:sldId id="357" r:id="rId29"/>
    <p:sldId id="277" r:id="rId30"/>
    <p:sldId id="1102" r:id="rId31"/>
    <p:sldId id="1085" r:id="rId32"/>
    <p:sldId id="326" r:id="rId33"/>
    <p:sldId id="281" r:id="rId34"/>
    <p:sldId id="282" r:id="rId35"/>
    <p:sldId id="283" r:id="rId36"/>
    <p:sldId id="284" r:id="rId37"/>
    <p:sldId id="285" r:id="rId38"/>
    <p:sldId id="286" r:id="rId39"/>
    <p:sldId id="287" r:id="rId40"/>
    <p:sldId id="288" r:id="rId41"/>
    <p:sldId id="289" r:id="rId42"/>
    <p:sldId id="290" r:id="rId43"/>
    <p:sldId id="291" r:id="rId44"/>
    <p:sldId id="1086" r:id="rId45"/>
    <p:sldId id="293" r:id="rId46"/>
    <p:sldId id="1088" r:id="rId47"/>
    <p:sldId id="1089" r:id="rId48"/>
    <p:sldId id="1090" r:id="rId49"/>
    <p:sldId id="1111" r:id="rId50"/>
    <p:sldId id="298" r:id="rId51"/>
    <p:sldId id="299" r:id="rId52"/>
    <p:sldId id="300" r:id="rId53"/>
    <p:sldId id="301" r:id="rId54"/>
    <p:sldId id="302" r:id="rId55"/>
    <p:sldId id="303" r:id="rId56"/>
    <p:sldId id="304" r:id="rId57"/>
    <p:sldId id="305" r:id="rId58"/>
    <p:sldId id="1091" r:id="rId59"/>
    <p:sldId id="1092" r:id="rId60"/>
    <p:sldId id="1093" r:id="rId61"/>
    <p:sldId id="427" r:id="rId62"/>
    <p:sldId id="428" r:id="rId63"/>
    <p:sldId id="309" r:id="rId64"/>
    <p:sldId id="310" r:id="rId65"/>
    <p:sldId id="311" r:id="rId66"/>
    <p:sldId id="312" r:id="rId67"/>
    <p:sldId id="327" r:id="rId68"/>
    <p:sldId id="328" r:id="rId69"/>
    <p:sldId id="329" r:id="rId70"/>
    <p:sldId id="273" r:id="rId71"/>
    <p:sldId id="367" r:id="rId72"/>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256"/>
            <p14:sldId id="362"/>
            <p14:sldId id="549"/>
            <p14:sldId id="359"/>
            <p14:sldId id="415"/>
            <p14:sldId id="1097"/>
            <p14:sldId id="962"/>
            <p14:sldId id="1110"/>
            <p14:sldId id="1107"/>
            <p14:sldId id="1108"/>
            <p14:sldId id="1109"/>
            <p14:sldId id="1106"/>
            <p14:sldId id="1099"/>
            <p14:sldId id="1100"/>
            <p14:sldId id="1101"/>
            <p14:sldId id="986"/>
            <p14:sldId id="987"/>
            <p14:sldId id="988"/>
          </p14:sldIdLst>
        </p14:section>
        <p14:section name="1. 宏观经济学研究什么" id="{9E6C69B0-9757-594D-A9C9-BD1DB31F67A5}">
          <p14:sldIdLst>
            <p14:sldId id="276"/>
            <p14:sldId id="1094"/>
            <p14:sldId id="989"/>
            <p14:sldId id="1095"/>
            <p14:sldId id="990"/>
            <p14:sldId id="429"/>
            <p14:sldId id="357"/>
          </p14:sldIdLst>
        </p14:section>
        <p14:section name="2.收入与支出的循环" id="{C343D21A-BE20-AA4C-93FB-48F0E29BD1C8}">
          <p14:sldIdLst>
            <p14:sldId id="277"/>
            <p14:sldId id="1102"/>
            <p14:sldId id="1085"/>
            <p14:sldId id="326"/>
            <p14:sldId id="281"/>
            <p14:sldId id="282"/>
          </p14:sldIdLst>
        </p14:section>
        <p14:section name="3. GDP的概念" id="{D88D515E-71BA-3F41-9D2D-9DE0CB8E071F}">
          <p14:sldIdLst>
            <p14:sldId id="283"/>
            <p14:sldId id="284"/>
            <p14:sldId id="285"/>
            <p14:sldId id="286"/>
            <p14:sldId id="287"/>
            <p14:sldId id="288"/>
          </p14:sldIdLst>
        </p14:section>
        <p14:section name="4.GDP的组成部分" id="{16A6962F-EBC2-5C41-9E99-0FE7A5DE8BA2}">
          <p14:sldIdLst>
            <p14:sldId id="289"/>
            <p14:sldId id="290"/>
            <p14:sldId id="291"/>
            <p14:sldId id="1086"/>
            <p14:sldId id="293"/>
            <p14:sldId id="1088"/>
            <p14:sldId id="1089"/>
            <p14:sldId id="1090"/>
            <p14:sldId id="1111"/>
          </p14:sldIdLst>
        </p14:section>
        <p14:section name="5. GDP平减指数" id="{9B1C2E04-4D03-8D48-A8DF-441C1D124D53}">
          <p14:sldIdLst>
            <p14:sldId id="298"/>
            <p14:sldId id="299"/>
            <p14:sldId id="300"/>
            <p14:sldId id="301"/>
            <p14:sldId id="302"/>
            <p14:sldId id="303"/>
            <p14:sldId id="304"/>
            <p14:sldId id="305"/>
            <p14:sldId id="1091"/>
            <p14:sldId id="1092"/>
            <p14:sldId id="1093"/>
            <p14:sldId id="427"/>
            <p14:sldId id="428"/>
          </p14:sldIdLst>
        </p14:section>
        <p14:section name="6.GDP的缺陷" id="{D5F4B89B-DC94-C04C-B049-939FEE6B0BBC}">
          <p14:sldIdLst>
            <p14:sldId id="309"/>
            <p14:sldId id="310"/>
            <p14:sldId id="311"/>
            <p14:sldId id="312"/>
            <p14:sldId id="327"/>
            <p14:sldId id="328"/>
            <p14:sldId id="329"/>
            <p14:sldId id="273"/>
            <p14:sldId id="367"/>
          </p14:sldIdLst>
        </p14:section>
      </p14:sectionLst>
    </p:ex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364" autoAdjust="0"/>
    <p:restoredTop sz="93153"/>
  </p:normalViewPr>
  <p:slideViewPr>
    <p:cSldViewPr showGuides="1">
      <p:cViewPr varScale="1">
        <p:scale>
          <a:sx n="224" d="100"/>
          <a:sy n="224" d="100"/>
        </p:scale>
        <p:origin x="1096" y="176"/>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2026/4/10</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a:fld id="{C6E6A26D-E477-4AA4-9C01-110ECDCB2DAD}" type="slidenum">
              <a:rPr lang="zh-CN" altLang="en-US" sz="1200">
                <a:ea typeface="宋体" pitchFamily="2" charset="-122"/>
                <a:cs typeface="Arial" panose="020B0604020202090204" pitchFamily="34" charset="0"/>
              </a:rPr>
              <a:t>9</a:t>
            </a:fld>
            <a:endParaRPr lang="en-US" altLang="zh-CN" sz="1200">
              <a:ea typeface="宋体" pitchFamily="2" charset="-122"/>
              <a:cs typeface="Arial" panose="020B0604020202090204" pitchFamily="34" charset="0"/>
            </a:endParaRPr>
          </a:p>
        </p:txBody>
      </p:sp>
      <p:sp>
        <p:nvSpPr>
          <p:cNvPr id="11267" name="Rectangle 2"/>
          <p:cNvSpPr>
            <a:spLocks noGrp="1" noRot="1" noChangeAspect="1" noChangeArrowheads="1" noTextEdit="1"/>
          </p:cNvSpPr>
          <p:nvPr>
            <p:ph type="sldImg"/>
          </p:nvPr>
        </p:nvSpPr>
        <p:spPr>
          <a:xfrm>
            <a:off x="1144588" y="534988"/>
            <a:ext cx="4568825" cy="3429000"/>
          </a:xfrm>
        </p:spPr>
      </p:sp>
      <p:sp>
        <p:nvSpPr>
          <p:cNvPr id="11268" name="Rectangle 3"/>
          <p:cNvSpPr>
            <a:spLocks noGrp="1" noChangeArrowheads="1"/>
          </p:cNvSpPr>
          <p:nvPr>
            <p:ph type="body" idx="1"/>
          </p:nvPr>
        </p:nvSpPr>
        <p:spPr>
          <a:xfrm>
            <a:off x="685800" y="4225925"/>
            <a:ext cx="5486400" cy="4484688"/>
          </a:xfrm>
        </p:spPr>
        <p:txBody>
          <a:bodyPr anchor="t"/>
          <a:lstStyle/>
          <a:p>
            <a:r>
              <a:rPr lang="en-US" altLang="zh-CN" dirty="0">
                <a:ea typeface="宋体" pitchFamily="2" charset="-122"/>
              </a:rPr>
              <a:t>This and the next two slides are from the FYI box entitled “A Picture is Worth A Thousand Statistics.”  These photos put a human face on the statistics and theories.  Many students connect to these pictures more than to the data in Table 1.   </a:t>
            </a:r>
          </a:p>
          <a:p>
            <a:endParaRPr lang="en-US" altLang="zh-CN" dirty="0">
              <a:ea typeface="宋体" pitchFamily="2" charset="-122"/>
            </a:endParaRPr>
          </a:p>
          <a:p>
            <a:r>
              <a:rPr lang="en-US" altLang="zh-CN" dirty="0">
                <a:ea typeface="宋体" pitchFamily="2" charset="-122"/>
              </a:rPr>
              <a:t>For each picture, the family was paid to drag all of its stuff outside for the photo. </a:t>
            </a:r>
          </a:p>
          <a:p>
            <a:endParaRPr lang="en-US" altLang="zh-CN" dirty="0">
              <a:ea typeface="宋体" pitchFamily="2" charset="-122"/>
            </a:endParaRPr>
          </a:p>
          <a:p>
            <a:r>
              <a:rPr lang="en-US" altLang="zh-CN" dirty="0">
                <a:ea typeface="宋体" pitchFamily="2" charset="-122"/>
              </a:rPr>
              <a:t>Before revealing the statistics in the lower left-hand corner, let your students soak in the picture for a moment.  Point out some of the lovely things the family owns – the sailboat, the house with two chimneys and two bay windows in front, the state-of-the-art washer/dryer, and so forth.  </a:t>
            </a:r>
          </a:p>
          <a:p>
            <a:endParaRPr lang="en-US" altLang="zh-CN" dirty="0">
              <a:ea typeface="宋体" pitchFamily="2" charset="-122"/>
            </a:endParaRPr>
          </a:p>
          <a:p>
            <a:r>
              <a:rPr lang="en-US" altLang="zh-CN" dirty="0">
                <a:ea typeface="宋体" pitchFamily="2" charset="-122"/>
              </a:rPr>
              <a:t>Data sources:</a:t>
            </a:r>
          </a:p>
          <a:p>
            <a:endParaRPr lang="en-US" altLang="zh-CN" dirty="0">
              <a:ea typeface="宋体" pitchFamily="2" charset="-122"/>
            </a:endParaRPr>
          </a:p>
          <a:p>
            <a:r>
              <a:rPr lang="en-US" altLang="zh-CN" dirty="0">
                <a:ea typeface="宋体" pitchFamily="2" charset="-122"/>
              </a:rPr>
              <a:t>GDP per capita, 2006:  Same as textbook. </a:t>
            </a:r>
          </a:p>
          <a:p>
            <a:endParaRPr lang="en-US" altLang="zh-CN" dirty="0">
              <a:ea typeface="宋体" pitchFamily="2" charset="-122"/>
            </a:endParaRPr>
          </a:p>
          <a:p>
            <a:r>
              <a:rPr lang="en-US" altLang="zh-CN" dirty="0">
                <a:ea typeface="宋体" pitchFamily="2" charset="-122"/>
              </a:rPr>
              <a:t>Life expectancy at birth, 2008 estimate.  Source:  U.S. Census Bureau, International Database.  </a:t>
            </a:r>
          </a:p>
          <a:p>
            <a:r>
              <a:rPr lang="en-US" altLang="zh-CN" dirty="0">
                <a:ea typeface="宋体" pitchFamily="2" charset="-122"/>
              </a:rPr>
              <a:t>http://www.census.gov/ipc/www/idb/idbprint.html</a:t>
            </a:r>
          </a:p>
          <a:p>
            <a:endParaRPr lang="en-US" altLang="zh-CN" dirty="0">
              <a:ea typeface="宋体" pitchFamily="2" charset="-122"/>
            </a:endParaRPr>
          </a:p>
          <a:p>
            <a:r>
              <a:rPr lang="en-US" altLang="zh-CN" dirty="0">
                <a:ea typeface="宋体" pitchFamily="2" charset="-122"/>
              </a:rPr>
              <a:t>Adult literacy, 2003 estimate.  Source:  CIA World Factbook.</a:t>
            </a:r>
          </a:p>
          <a:p>
            <a:r>
              <a:rPr lang="en-US" altLang="zh-CN" dirty="0">
                <a:ea typeface="宋体" pitchFamily="2" charset="-122"/>
              </a:rPr>
              <a:t>https://www.cia.gov/library/publications/the-world-factbook/</a:t>
            </a: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a:fld id="{64CE1B9F-D616-474C-91C8-0058B67C12AB}" type="slidenum">
              <a:rPr lang="zh-CN" altLang="en-US" sz="1200">
                <a:ea typeface="宋体" pitchFamily="2" charset="-122"/>
                <a:cs typeface="Arial" panose="020B0604020202090204" pitchFamily="34" charset="0"/>
              </a:rPr>
              <a:t>10</a:t>
            </a:fld>
            <a:endParaRPr lang="en-US" altLang="zh-CN" sz="1200">
              <a:ea typeface="宋体" pitchFamily="2" charset="-122"/>
              <a:cs typeface="Arial" panose="020B0604020202090204" pitchFamily="34" charset="0"/>
            </a:endParaRPr>
          </a:p>
        </p:txBody>
      </p:sp>
      <p:sp>
        <p:nvSpPr>
          <p:cNvPr id="13315" name="Rectangle 2"/>
          <p:cNvSpPr>
            <a:spLocks noGrp="1" noRot="1" noChangeAspect="1" noChangeArrowheads="1" noTextEdit="1"/>
          </p:cNvSpPr>
          <p:nvPr>
            <p:ph type="sldImg"/>
          </p:nvPr>
        </p:nvSpPr>
        <p:spPr>
          <a:xfrm>
            <a:off x="1144588" y="534988"/>
            <a:ext cx="4568825" cy="3429000"/>
          </a:xfrm>
        </p:spPr>
      </p:sp>
      <p:sp>
        <p:nvSpPr>
          <p:cNvPr id="13316" name="Rectangle 3"/>
          <p:cNvSpPr>
            <a:spLocks noGrp="1" noChangeArrowheads="1"/>
          </p:cNvSpPr>
          <p:nvPr>
            <p:ph type="body" idx="1"/>
          </p:nvPr>
        </p:nvSpPr>
        <p:spPr>
          <a:xfrm>
            <a:off x="685800" y="4248150"/>
            <a:ext cx="5486400" cy="4210050"/>
          </a:xfrm>
        </p:spPr>
        <p:txBody>
          <a:bodyPr anchor="t"/>
          <a:lstStyle/>
          <a:p>
            <a:r>
              <a:rPr lang="en-US" altLang="zh-CN" dirty="0">
                <a:ea typeface="宋体" pitchFamily="2" charset="-122"/>
              </a:rPr>
              <a:t>Again, let your students have a good look at the photo before revealing the statistics in the lower left corner.  </a:t>
            </a:r>
          </a:p>
          <a:p>
            <a:endParaRPr lang="en-US" altLang="zh-CN" dirty="0">
              <a:ea typeface="宋体" pitchFamily="2" charset="-122"/>
            </a:endParaRPr>
          </a:p>
          <a:p>
            <a:r>
              <a:rPr lang="en-US" altLang="zh-CN" dirty="0">
                <a:ea typeface="宋体" pitchFamily="2" charset="-122"/>
              </a:rPr>
              <a:t>This family seems comfortable, but they don’t have quite as much stuff as the British family.  No sailboat.  No house with bay windows.  </a:t>
            </a:r>
          </a:p>
          <a:p>
            <a:endParaRPr lang="en-US" altLang="zh-CN" dirty="0">
              <a:ea typeface="宋体" pitchFamily="2" charset="-122"/>
            </a:endParaRPr>
          </a:p>
          <a:p>
            <a:r>
              <a:rPr lang="en-US" altLang="zh-CN" dirty="0">
                <a:ea typeface="宋体" pitchFamily="2" charset="-122"/>
              </a:rPr>
              <a:t>But they’re not doing so bad.  To many students (especially in America), an income of $11,000 seems incredibly poor.  But relative to the rest of the world, it’s not so bad.  </a:t>
            </a:r>
          </a:p>
          <a:p>
            <a:endParaRPr lang="en-US" altLang="zh-CN" dirty="0">
              <a:ea typeface="宋体" pitchFamily="2" charset="-122"/>
            </a:endParaRPr>
          </a:p>
          <a:p>
            <a:r>
              <a:rPr lang="en-US" altLang="zh-CN" dirty="0">
                <a:ea typeface="宋体" pitchFamily="2" charset="-122"/>
              </a:rPr>
              <a:t>Data sources:</a:t>
            </a:r>
          </a:p>
          <a:p>
            <a:endParaRPr lang="en-US" altLang="zh-CN" dirty="0">
              <a:ea typeface="宋体" pitchFamily="2" charset="-122"/>
            </a:endParaRPr>
          </a:p>
          <a:p>
            <a:r>
              <a:rPr lang="en-US" altLang="zh-CN" dirty="0">
                <a:ea typeface="宋体" pitchFamily="2" charset="-122"/>
              </a:rPr>
              <a:t>GDP per capita, 2006: Same as textbook. </a:t>
            </a:r>
          </a:p>
          <a:p>
            <a:endParaRPr lang="en-US" altLang="zh-CN" dirty="0">
              <a:ea typeface="宋体" pitchFamily="2" charset="-122"/>
            </a:endParaRPr>
          </a:p>
          <a:p>
            <a:r>
              <a:rPr lang="en-US" altLang="zh-CN" dirty="0">
                <a:ea typeface="宋体" pitchFamily="2" charset="-122"/>
              </a:rPr>
              <a:t>Life expectancy at birth, 2008 estimate.  Source:  U.S. Census Bureau, International Database.  </a:t>
            </a:r>
          </a:p>
          <a:p>
            <a:r>
              <a:rPr lang="en-US" altLang="zh-CN" dirty="0">
                <a:ea typeface="宋体" pitchFamily="2" charset="-122"/>
              </a:rPr>
              <a:t>http://www.census.gov/ipc/www/idb/idbprint.html</a:t>
            </a:r>
          </a:p>
          <a:p>
            <a:endParaRPr lang="en-US" altLang="zh-CN" dirty="0">
              <a:ea typeface="宋体" pitchFamily="2" charset="-122"/>
            </a:endParaRPr>
          </a:p>
          <a:p>
            <a:r>
              <a:rPr lang="en-US" altLang="zh-CN" dirty="0">
                <a:ea typeface="宋体" pitchFamily="2" charset="-122"/>
              </a:rPr>
              <a:t>Adult literacy, 2004 estimate.  Source:  CIA World Factbook.</a:t>
            </a:r>
          </a:p>
          <a:p>
            <a:r>
              <a:rPr lang="en-US" altLang="zh-CN" dirty="0">
                <a:ea typeface="宋体" pitchFamily="2" charset="-122"/>
              </a:rPr>
              <a:t>https://www.cia.gov/library/publications/the-world-factbook/</a:t>
            </a: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a:fld id="{22EDCA64-1CC4-4428-AB0D-B264339F65AD}" type="slidenum">
              <a:rPr lang="zh-CN" altLang="en-US" sz="1200">
                <a:ea typeface="宋体" pitchFamily="2" charset="-122"/>
                <a:cs typeface="Arial" panose="020B0604020202090204" pitchFamily="34" charset="0"/>
              </a:rPr>
              <a:t>11</a:t>
            </a:fld>
            <a:endParaRPr lang="en-US" altLang="zh-CN" sz="1200">
              <a:ea typeface="宋体" pitchFamily="2" charset="-122"/>
              <a:cs typeface="Arial" panose="020B0604020202090204" pitchFamily="34" charset="0"/>
            </a:endParaRPr>
          </a:p>
        </p:txBody>
      </p:sp>
      <p:sp>
        <p:nvSpPr>
          <p:cNvPr id="15363" name="Rectangle 2"/>
          <p:cNvSpPr>
            <a:spLocks noGrp="1" noRot="1" noChangeAspect="1" noChangeArrowheads="1" noTextEdit="1"/>
          </p:cNvSpPr>
          <p:nvPr>
            <p:ph type="sldImg"/>
          </p:nvPr>
        </p:nvSpPr>
        <p:spPr>
          <a:xfrm>
            <a:off x="1144588" y="534988"/>
            <a:ext cx="4568825" cy="3429000"/>
          </a:xfrm>
        </p:spPr>
      </p:sp>
      <p:sp>
        <p:nvSpPr>
          <p:cNvPr id="15364" name="Rectangle 3"/>
          <p:cNvSpPr>
            <a:spLocks noGrp="1" noChangeArrowheads="1"/>
          </p:cNvSpPr>
          <p:nvPr>
            <p:ph type="body" idx="1"/>
          </p:nvPr>
        </p:nvSpPr>
        <p:spPr>
          <a:xfrm>
            <a:off x="685800" y="4248150"/>
            <a:ext cx="5486400" cy="4210050"/>
          </a:xfrm>
        </p:spPr>
        <p:txBody>
          <a:bodyPr anchor="t"/>
          <a:lstStyle/>
          <a:p>
            <a:r>
              <a:rPr lang="en-US" altLang="zh-CN" dirty="0">
                <a:ea typeface="宋体" pitchFamily="2" charset="-122"/>
              </a:rPr>
              <a:t>Here, the photo really is worth a thousand words.  Look at the family’s possessions.  Pottery, a few sticks, some clothing, and a dwelling that does not appear to have running water or climate control.  That’s it.  No sailboat, no upholstered furniture, no bicycles.  This family is very poor.  </a:t>
            </a:r>
          </a:p>
          <a:p>
            <a:endParaRPr lang="en-US" altLang="zh-CN" dirty="0">
              <a:ea typeface="宋体" pitchFamily="2" charset="-122"/>
            </a:endParaRPr>
          </a:p>
          <a:p>
            <a:r>
              <a:rPr lang="en-US" altLang="zh-CN" dirty="0">
                <a:ea typeface="宋体" pitchFamily="2" charset="-122"/>
              </a:rPr>
              <a:t>Now look at the statistics - $1130 income per capita?  Heck, I spend that much on Starbucks drinks each year.  Life expectancy is frighteningly low.  And less than half the population can read or write their own language – most students can readily grasp that it’s hard to grow out of poverty if over half of the population is illiterate.  </a:t>
            </a:r>
          </a:p>
          <a:p>
            <a:endParaRPr lang="en-US" altLang="zh-CN" dirty="0">
              <a:ea typeface="宋体" pitchFamily="2" charset="-122"/>
            </a:endParaRPr>
          </a:p>
          <a:p>
            <a:r>
              <a:rPr lang="en-US" altLang="zh-CN" dirty="0">
                <a:ea typeface="宋体" pitchFamily="2" charset="-122"/>
              </a:rPr>
              <a:t>Data sources:</a:t>
            </a:r>
          </a:p>
          <a:p>
            <a:endParaRPr lang="en-US" altLang="zh-CN" dirty="0">
              <a:ea typeface="宋体" pitchFamily="2" charset="-122"/>
            </a:endParaRPr>
          </a:p>
          <a:p>
            <a:r>
              <a:rPr lang="en-US" altLang="zh-CN" dirty="0">
                <a:ea typeface="宋体" pitchFamily="2" charset="-122"/>
              </a:rPr>
              <a:t>GDP per capita, 2006:  Same as textbook. </a:t>
            </a:r>
          </a:p>
          <a:p>
            <a:endParaRPr lang="en-US" altLang="zh-CN" dirty="0">
              <a:ea typeface="宋体" pitchFamily="2" charset="-122"/>
            </a:endParaRPr>
          </a:p>
          <a:p>
            <a:r>
              <a:rPr lang="en-US" altLang="zh-CN" dirty="0">
                <a:ea typeface="宋体" pitchFamily="2" charset="-122"/>
              </a:rPr>
              <a:t>Life expectancy at birth, 2008 estimate.  Source:  U.S. Census Bureau, International Database.  </a:t>
            </a:r>
          </a:p>
          <a:p>
            <a:r>
              <a:rPr lang="en-US" altLang="zh-CN" dirty="0">
                <a:ea typeface="宋体" pitchFamily="2" charset="-122"/>
              </a:rPr>
              <a:t>http://www.census.gov/ipc/www/idb/idbprint.html</a:t>
            </a:r>
          </a:p>
          <a:p>
            <a:endParaRPr lang="en-US" altLang="zh-CN" dirty="0">
              <a:ea typeface="宋体" pitchFamily="2" charset="-122"/>
            </a:endParaRPr>
          </a:p>
          <a:p>
            <a:r>
              <a:rPr lang="en-US" altLang="zh-CN" dirty="0">
                <a:ea typeface="宋体" pitchFamily="2" charset="-122"/>
              </a:rPr>
              <a:t>Adult literacy, 2003 estimate.  Source:  CIA World Factbook.</a:t>
            </a:r>
          </a:p>
          <a:p>
            <a:r>
              <a:rPr lang="en-US" altLang="zh-CN" dirty="0">
                <a:ea typeface="宋体" pitchFamily="2" charset="-122"/>
              </a:rPr>
              <a:t>https://www.cia.gov/library/publications/the-world-factbook/</a:t>
            </a: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a:fld id="{C6E6A26D-E477-4AA4-9C01-110ECDCB2DAD}" type="slidenum">
              <a:rPr lang="zh-CN" altLang="en-US" sz="1200">
                <a:ea typeface="宋体" pitchFamily="2" charset="-122"/>
                <a:cs typeface="Arial" panose="020B0604020202090204" pitchFamily="34" charset="0"/>
              </a:rPr>
              <a:t>16</a:t>
            </a:fld>
            <a:endParaRPr lang="en-US" altLang="zh-CN" sz="1200">
              <a:ea typeface="宋体" pitchFamily="2" charset="-122"/>
              <a:cs typeface="Arial" panose="020B0604020202090204" pitchFamily="34" charset="0"/>
            </a:endParaRPr>
          </a:p>
        </p:txBody>
      </p:sp>
      <p:sp>
        <p:nvSpPr>
          <p:cNvPr id="11267" name="Rectangle 2"/>
          <p:cNvSpPr>
            <a:spLocks noGrp="1" noRot="1" noChangeAspect="1" noChangeArrowheads="1" noTextEdit="1"/>
          </p:cNvSpPr>
          <p:nvPr>
            <p:ph type="sldImg"/>
          </p:nvPr>
        </p:nvSpPr>
        <p:spPr>
          <a:xfrm>
            <a:off x="1144588" y="534988"/>
            <a:ext cx="4568825" cy="3429000"/>
          </a:xfrm>
        </p:spPr>
      </p:sp>
      <p:sp>
        <p:nvSpPr>
          <p:cNvPr id="11268" name="Rectangle 3"/>
          <p:cNvSpPr>
            <a:spLocks noGrp="1" noChangeArrowheads="1"/>
          </p:cNvSpPr>
          <p:nvPr>
            <p:ph type="body" idx="1"/>
          </p:nvPr>
        </p:nvSpPr>
        <p:spPr>
          <a:xfrm>
            <a:off x="685800" y="4225925"/>
            <a:ext cx="5486400" cy="4484688"/>
          </a:xfrm>
        </p:spPr>
        <p:txBody>
          <a:bodyPr anchor="t"/>
          <a:lstStyle/>
          <a:p>
            <a:r>
              <a:rPr lang="en-US" altLang="zh-CN" dirty="0">
                <a:ea typeface="宋体" pitchFamily="2" charset="-122"/>
              </a:rPr>
              <a:t>This and the next two slides are from the FYI box entitled “A Picture is Worth A Thousand Statistics.”  These photos put a human face on the statistics and theories.  Many students connect to these pictures more than to the data in Table 1.   </a:t>
            </a:r>
          </a:p>
          <a:p>
            <a:endParaRPr lang="en-US" altLang="zh-CN" dirty="0">
              <a:ea typeface="宋体" pitchFamily="2" charset="-122"/>
            </a:endParaRPr>
          </a:p>
          <a:p>
            <a:r>
              <a:rPr lang="en-US" altLang="zh-CN" dirty="0">
                <a:ea typeface="宋体" pitchFamily="2" charset="-122"/>
              </a:rPr>
              <a:t>For each picture, the family was paid to drag all of its stuff outside for the photo. </a:t>
            </a:r>
          </a:p>
          <a:p>
            <a:endParaRPr lang="en-US" altLang="zh-CN" dirty="0">
              <a:ea typeface="宋体" pitchFamily="2" charset="-122"/>
            </a:endParaRPr>
          </a:p>
          <a:p>
            <a:r>
              <a:rPr lang="en-US" altLang="zh-CN" dirty="0">
                <a:ea typeface="宋体" pitchFamily="2" charset="-122"/>
              </a:rPr>
              <a:t>Before revealing the statistics in the lower left-hand corner, let your students soak in the picture for a moment.  Point out some of the lovely things the family owns – the sailboat, the house with two chimneys and two bay windows in front, the state-of-the-art washer/dryer, and so forth.  </a:t>
            </a:r>
          </a:p>
          <a:p>
            <a:endParaRPr lang="en-US" altLang="zh-CN" dirty="0">
              <a:ea typeface="宋体" pitchFamily="2" charset="-122"/>
            </a:endParaRPr>
          </a:p>
          <a:p>
            <a:r>
              <a:rPr lang="en-US" altLang="zh-CN" dirty="0">
                <a:ea typeface="宋体" pitchFamily="2" charset="-122"/>
              </a:rPr>
              <a:t>Data sources:</a:t>
            </a:r>
          </a:p>
          <a:p>
            <a:endParaRPr lang="en-US" altLang="zh-CN" dirty="0">
              <a:ea typeface="宋体" pitchFamily="2" charset="-122"/>
            </a:endParaRPr>
          </a:p>
          <a:p>
            <a:r>
              <a:rPr lang="en-US" altLang="zh-CN" dirty="0">
                <a:ea typeface="宋体" pitchFamily="2" charset="-122"/>
              </a:rPr>
              <a:t>GDP per capita, 2006:  Same as textbook. </a:t>
            </a:r>
          </a:p>
          <a:p>
            <a:endParaRPr lang="en-US" altLang="zh-CN" dirty="0">
              <a:ea typeface="宋体" pitchFamily="2" charset="-122"/>
            </a:endParaRPr>
          </a:p>
          <a:p>
            <a:r>
              <a:rPr lang="en-US" altLang="zh-CN" dirty="0">
                <a:ea typeface="宋体" pitchFamily="2" charset="-122"/>
              </a:rPr>
              <a:t>Life expectancy at birth, 2008 estimate.  Source:  U.S. Census Bureau, International Database.  </a:t>
            </a:r>
          </a:p>
          <a:p>
            <a:r>
              <a:rPr lang="en-US" altLang="zh-CN" dirty="0">
                <a:ea typeface="宋体" pitchFamily="2" charset="-122"/>
              </a:rPr>
              <a:t>http://www.census.gov/ipc/www/idb/idbprint.html</a:t>
            </a:r>
          </a:p>
          <a:p>
            <a:endParaRPr lang="en-US" altLang="zh-CN" dirty="0">
              <a:ea typeface="宋体" pitchFamily="2" charset="-122"/>
            </a:endParaRPr>
          </a:p>
          <a:p>
            <a:r>
              <a:rPr lang="en-US" altLang="zh-CN" dirty="0">
                <a:ea typeface="宋体" pitchFamily="2" charset="-122"/>
              </a:rPr>
              <a:t>Adult literacy, 2003 estimate.  Source:  CIA World Factbook.</a:t>
            </a:r>
          </a:p>
          <a:p>
            <a:r>
              <a:rPr lang="en-US" altLang="zh-CN" dirty="0">
                <a:ea typeface="宋体" pitchFamily="2" charset="-122"/>
              </a:rPr>
              <a:t>https://www.cia.gov/library/publications/the-world-factbook/</a:t>
            </a: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a:fld id="{64CE1B9F-D616-474C-91C8-0058B67C12AB}" type="slidenum">
              <a:rPr lang="zh-CN" altLang="en-US" sz="1200">
                <a:ea typeface="宋体" pitchFamily="2" charset="-122"/>
                <a:cs typeface="Arial" panose="020B0604020202090204" pitchFamily="34" charset="0"/>
              </a:rPr>
              <a:t>17</a:t>
            </a:fld>
            <a:endParaRPr lang="en-US" altLang="zh-CN" sz="1200">
              <a:ea typeface="宋体" pitchFamily="2" charset="-122"/>
              <a:cs typeface="Arial" panose="020B0604020202090204" pitchFamily="34" charset="0"/>
            </a:endParaRPr>
          </a:p>
        </p:txBody>
      </p:sp>
      <p:sp>
        <p:nvSpPr>
          <p:cNvPr id="13315" name="Rectangle 2"/>
          <p:cNvSpPr>
            <a:spLocks noGrp="1" noRot="1" noChangeAspect="1" noChangeArrowheads="1" noTextEdit="1"/>
          </p:cNvSpPr>
          <p:nvPr>
            <p:ph type="sldImg"/>
          </p:nvPr>
        </p:nvSpPr>
        <p:spPr>
          <a:xfrm>
            <a:off x="1144588" y="534988"/>
            <a:ext cx="4568825" cy="3429000"/>
          </a:xfrm>
        </p:spPr>
      </p:sp>
      <p:sp>
        <p:nvSpPr>
          <p:cNvPr id="13316" name="Rectangle 3"/>
          <p:cNvSpPr>
            <a:spLocks noGrp="1" noChangeArrowheads="1"/>
          </p:cNvSpPr>
          <p:nvPr>
            <p:ph type="body" idx="1"/>
          </p:nvPr>
        </p:nvSpPr>
        <p:spPr>
          <a:xfrm>
            <a:off x="685800" y="4248150"/>
            <a:ext cx="5486400" cy="4210050"/>
          </a:xfrm>
        </p:spPr>
        <p:txBody>
          <a:bodyPr anchor="t"/>
          <a:lstStyle/>
          <a:p>
            <a:r>
              <a:rPr lang="en-US" altLang="zh-CN" dirty="0">
                <a:ea typeface="宋体" pitchFamily="2" charset="-122"/>
              </a:rPr>
              <a:t>Again, let your students have a good look at the photo before revealing the statistics in the lower left corner.  </a:t>
            </a:r>
          </a:p>
          <a:p>
            <a:endParaRPr lang="en-US" altLang="zh-CN" dirty="0">
              <a:ea typeface="宋体" pitchFamily="2" charset="-122"/>
            </a:endParaRPr>
          </a:p>
          <a:p>
            <a:r>
              <a:rPr lang="en-US" altLang="zh-CN" dirty="0">
                <a:ea typeface="宋体" pitchFamily="2" charset="-122"/>
              </a:rPr>
              <a:t>This family seems comfortable, but they don’t have quite as much stuff as the British family.  No sailboat.  No house with bay windows.  </a:t>
            </a:r>
          </a:p>
          <a:p>
            <a:endParaRPr lang="en-US" altLang="zh-CN" dirty="0">
              <a:ea typeface="宋体" pitchFamily="2" charset="-122"/>
            </a:endParaRPr>
          </a:p>
          <a:p>
            <a:r>
              <a:rPr lang="en-US" altLang="zh-CN" dirty="0">
                <a:ea typeface="宋体" pitchFamily="2" charset="-122"/>
              </a:rPr>
              <a:t>But they’re not doing so bad.  To many students (especially in America), an income of $11,000 seems incredibly poor.  But relative to the rest of the world, it’s not so bad.  </a:t>
            </a:r>
          </a:p>
          <a:p>
            <a:endParaRPr lang="en-US" altLang="zh-CN" dirty="0">
              <a:ea typeface="宋体" pitchFamily="2" charset="-122"/>
            </a:endParaRPr>
          </a:p>
          <a:p>
            <a:r>
              <a:rPr lang="en-US" altLang="zh-CN" dirty="0">
                <a:ea typeface="宋体" pitchFamily="2" charset="-122"/>
              </a:rPr>
              <a:t>Data sources:</a:t>
            </a:r>
          </a:p>
          <a:p>
            <a:endParaRPr lang="en-US" altLang="zh-CN" dirty="0">
              <a:ea typeface="宋体" pitchFamily="2" charset="-122"/>
            </a:endParaRPr>
          </a:p>
          <a:p>
            <a:r>
              <a:rPr lang="en-US" altLang="zh-CN" dirty="0">
                <a:ea typeface="宋体" pitchFamily="2" charset="-122"/>
              </a:rPr>
              <a:t>GDP per capita, 2006: Same as textbook. </a:t>
            </a:r>
          </a:p>
          <a:p>
            <a:endParaRPr lang="en-US" altLang="zh-CN" dirty="0">
              <a:ea typeface="宋体" pitchFamily="2" charset="-122"/>
            </a:endParaRPr>
          </a:p>
          <a:p>
            <a:r>
              <a:rPr lang="en-US" altLang="zh-CN" dirty="0">
                <a:ea typeface="宋体" pitchFamily="2" charset="-122"/>
              </a:rPr>
              <a:t>Life expectancy at birth, 2008 estimate.  Source:  U.S. Census Bureau, International Database.  </a:t>
            </a:r>
          </a:p>
          <a:p>
            <a:r>
              <a:rPr lang="en-US" altLang="zh-CN" dirty="0">
                <a:ea typeface="宋体" pitchFamily="2" charset="-122"/>
              </a:rPr>
              <a:t>http://www.census.gov/ipc/www/idb/idbprint.html</a:t>
            </a:r>
          </a:p>
          <a:p>
            <a:endParaRPr lang="en-US" altLang="zh-CN" dirty="0">
              <a:ea typeface="宋体" pitchFamily="2" charset="-122"/>
            </a:endParaRPr>
          </a:p>
          <a:p>
            <a:r>
              <a:rPr lang="en-US" altLang="zh-CN" dirty="0">
                <a:ea typeface="宋体" pitchFamily="2" charset="-122"/>
              </a:rPr>
              <a:t>Adult literacy, 2004 estimate.  Source:  CIA World Factbook.</a:t>
            </a:r>
          </a:p>
          <a:p>
            <a:r>
              <a:rPr lang="en-US" altLang="zh-CN" dirty="0">
                <a:ea typeface="宋体" pitchFamily="2" charset="-122"/>
              </a:rPr>
              <a:t>https://www.cia.gov/library/publications/the-world-factbook/</a:t>
            </a: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a:fld id="{22EDCA64-1CC4-4428-AB0D-B264339F65AD}" type="slidenum">
              <a:rPr lang="zh-CN" altLang="en-US" sz="1200">
                <a:ea typeface="宋体" pitchFamily="2" charset="-122"/>
                <a:cs typeface="Arial" panose="020B0604020202090204" pitchFamily="34" charset="0"/>
              </a:rPr>
              <a:t>18</a:t>
            </a:fld>
            <a:endParaRPr lang="en-US" altLang="zh-CN" sz="1200">
              <a:ea typeface="宋体" pitchFamily="2" charset="-122"/>
              <a:cs typeface="Arial" panose="020B0604020202090204" pitchFamily="34" charset="0"/>
            </a:endParaRPr>
          </a:p>
        </p:txBody>
      </p:sp>
      <p:sp>
        <p:nvSpPr>
          <p:cNvPr id="15363" name="Rectangle 2"/>
          <p:cNvSpPr>
            <a:spLocks noGrp="1" noRot="1" noChangeAspect="1" noChangeArrowheads="1" noTextEdit="1"/>
          </p:cNvSpPr>
          <p:nvPr>
            <p:ph type="sldImg"/>
          </p:nvPr>
        </p:nvSpPr>
        <p:spPr>
          <a:xfrm>
            <a:off x="1144588" y="534988"/>
            <a:ext cx="4568825" cy="3429000"/>
          </a:xfrm>
        </p:spPr>
      </p:sp>
      <p:sp>
        <p:nvSpPr>
          <p:cNvPr id="15364" name="Rectangle 3"/>
          <p:cNvSpPr>
            <a:spLocks noGrp="1" noChangeArrowheads="1"/>
          </p:cNvSpPr>
          <p:nvPr>
            <p:ph type="body" idx="1"/>
          </p:nvPr>
        </p:nvSpPr>
        <p:spPr>
          <a:xfrm>
            <a:off x="685800" y="4248150"/>
            <a:ext cx="5486400" cy="4210050"/>
          </a:xfrm>
        </p:spPr>
        <p:txBody>
          <a:bodyPr anchor="t"/>
          <a:lstStyle/>
          <a:p>
            <a:r>
              <a:rPr lang="en-US" altLang="zh-CN" dirty="0">
                <a:ea typeface="宋体" pitchFamily="2" charset="-122"/>
              </a:rPr>
              <a:t>Here, the photo really is worth a thousand words.  Look at the family’s possessions.  Pottery, a few sticks, some clothing, and a dwelling that does not appear to have running water or climate control.  That’s it.  No sailboat, no upholstered furniture, no bicycles.  This family is very poor.  </a:t>
            </a:r>
          </a:p>
          <a:p>
            <a:endParaRPr lang="en-US" altLang="zh-CN" dirty="0">
              <a:ea typeface="宋体" pitchFamily="2" charset="-122"/>
            </a:endParaRPr>
          </a:p>
          <a:p>
            <a:r>
              <a:rPr lang="en-US" altLang="zh-CN" dirty="0">
                <a:ea typeface="宋体" pitchFamily="2" charset="-122"/>
              </a:rPr>
              <a:t>Now look at the statistics - $1130 income per capita?  Heck, I spend that much on Starbucks drinks each year.  Life expectancy is frighteningly low.  And less than half the population can read or write their own language – most students can readily grasp that it’s hard to grow out of poverty if over half of the population is illiterate.  </a:t>
            </a:r>
          </a:p>
          <a:p>
            <a:endParaRPr lang="en-US" altLang="zh-CN" dirty="0">
              <a:ea typeface="宋体" pitchFamily="2" charset="-122"/>
            </a:endParaRPr>
          </a:p>
          <a:p>
            <a:r>
              <a:rPr lang="en-US" altLang="zh-CN" dirty="0">
                <a:ea typeface="宋体" pitchFamily="2" charset="-122"/>
              </a:rPr>
              <a:t>Data sources:</a:t>
            </a:r>
          </a:p>
          <a:p>
            <a:endParaRPr lang="en-US" altLang="zh-CN" dirty="0">
              <a:ea typeface="宋体" pitchFamily="2" charset="-122"/>
            </a:endParaRPr>
          </a:p>
          <a:p>
            <a:r>
              <a:rPr lang="en-US" altLang="zh-CN" dirty="0">
                <a:ea typeface="宋体" pitchFamily="2" charset="-122"/>
              </a:rPr>
              <a:t>GDP per capita, 2006:  Same as textbook. </a:t>
            </a:r>
          </a:p>
          <a:p>
            <a:endParaRPr lang="en-US" altLang="zh-CN" dirty="0">
              <a:ea typeface="宋体" pitchFamily="2" charset="-122"/>
            </a:endParaRPr>
          </a:p>
          <a:p>
            <a:r>
              <a:rPr lang="en-US" altLang="zh-CN" dirty="0">
                <a:ea typeface="宋体" pitchFamily="2" charset="-122"/>
              </a:rPr>
              <a:t>Life expectancy at birth, 2008 estimate.  Source:  U.S. Census Bureau, International Database.  </a:t>
            </a:r>
          </a:p>
          <a:p>
            <a:r>
              <a:rPr lang="en-US" altLang="zh-CN" dirty="0">
                <a:ea typeface="宋体" pitchFamily="2" charset="-122"/>
              </a:rPr>
              <a:t>http://www.census.gov/ipc/www/idb/idbprint.html</a:t>
            </a:r>
          </a:p>
          <a:p>
            <a:endParaRPr lang="en-US" altLang="zh-CN" dirty="0">
              <a:ea typeface="宋体" pitchFamily="2" charset="-122"/>
            </a:endParaRPr>
          </a:p>
          <a:p>
            <a:r>
              <a:rPr lang="en-US" altLang="zh-CN" dirty="0">
                <a:ea typeface="宋体" pitchFamily="2" charset="-122"/>
              </a:rPr>
              <a:t>Adult literacy, 2003 estimate.  Source:  CIA World Factbook.</a:t>
            </a:r>
          </a:p>
          <a:p>
            <a:r>
              <a:rPr lang="en-US" altLang="zh-CN" dirty="0">
                <a:ea typeface="宋体" pitchFamily="2" charset="-122"/>
              </a:rPr>
              <a:t>https://www.cia.gov/library/publications/the-world-factbook/</a:t>
            </a: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D092E0F-5555-6849-A541-0B463FDA6297}"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19</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p:txBody>
          <a:bodyPr anchor="t"/>
          <a:lstStyle/>
          <a:p>
            <a:r>
              <a:rPr lang="en-US" altLang="zh-CN">
                <a:ea typeface="宋体" pitchFamily="2" charset="-122"/>
              </a:rPr>
              <a:t>This is the first strictly macro chapter of the textbook, so it’s worth spending a moment emphasizing the difference between microeconomics and macroeconomics.  </a:t>
            </a:r>
          </a:p>
          <a:p>
            <a:endParaRPr lang="en-US" altLang="zh-CN">
              <a:ea typeface="宋体" pitchFamily="2" charset="-122"/>
            </a:endParaRPr>
          </a:p>
          <a:p>
            <a:r>
              <a:rPr lang="en-US" altLang="zh-CN">
                <a:ea typeface="宋体" pitchFamily="2" charset="-122"/>
              </a:rPr>
              <a:t>Examples of questions that microeconomics seeks to answer:</a:t>
            </a:r>
          </a:p>
          <a:p>
            <a:pPr marL="228600" lvl="1" indent="-114300">
              <a:buFontTx/>
              <a:buChar char="•"/>
            </a:pPr>
            <a:r>
              <a:rPr lang="en-US" altLang="zh-CN">
                <a:ea typeface="宋体" pitchFamily="2" charset="-122"/>
              </a:rPr>
              <a:t>How do consumers decide how much of each good to buy?</a:t>
            </a:r>
          </a:p>
          <a:p>
            <a:pPr marL="228600" lvl="1" indent="-114300">
              <a:buFontTx/>
              <a:buChar char="•"/>
            </a:pPr>
            <a:r>
              <a:rPr lang="en-US" altLang="zh-CN">
                <a:ea typeface="宋体" pitchFamily="2" charset="-122"/>
              </a:rPr>
              <a:t>How do firms decide how much output to produce and what price to charge? </a:t>
            </a:r>
          </a:p>
          <a:p>
            <a:pPr marL="228600" lvl="1" indent="-114300">
              <a:buFontTx/>
              <a:buChar char="•"/>
            </a:pPr>
            <a:r>
              <a:rPr lang="en-US" altLang="zh-CN">
                <a:ea typeface="宋体" pitchFamily="2" charset="-122"/>
              </a:rPr>
              <a:t>What determines the price and quantity of individual goods and services?  </a:t>
            </a:r>
          </a:p>
          <a:p>
            <a:pPr marL="228600" lvl="1" indent="-114300">
              <a:buFontTx/>
              <a:buChar char="•"/>
            </a:pPr>
            <a:r>
              <a:rPr lang="en-US" altLang="zh-CN">
                <a:ea typeface="宋体" pitchFamily="2" charset="-122"/>
              </a:rPr>
              <a:t>How do taxes on specific goods and services affect the allocation of resources?</a:t>
            </a:r>
          </a:p>
          <a:p>
            <a:pPr marL="228600" lvl="1" indent="-114300">
              <a:buFontTx/>
              <a:buChar char="•"/>
            </a:pPr>
            <a:endParaRPr lang="en-US" altLang="zh-CN">
              <a:ea typeface="宋体" pitchFamily="2" charset="-122"/>
            </a:endParaRPr>
          </a:p>
          <a:p>
            <a:r>
              <a:rPr lang="en-US" altLang="zh-CN">
                <a:ea typeface="宋体" pitchFamily="2" charset="-122"/>
              </a:rPr>
              <a:t>Examples of questions that macroeconomics seeks to answer:</a:t>
            </a:r>
          </a:p>
          <a:p>
            <a:pPr marL="228600" lvl="1" indent="-114300">
              <a:buFontTx/>
              <a:buChar char="•"/>
            </a:pPr>
            <a:r>
              <a:rPr lang="en-US" altLang="zh-CN">
                <a:ea typeface="宋体" pitchFamily="2" charset="-122"/>
              </a:rPr>
              <a:t>How do consumers decide how to divide their income between spending and saving? </a:t>
            </a:r>
          </a:p>
          <a:p>
            <a:pPr marL="228600" lvl="1" indent="-114300">
              <a:buFontTx/>
              <a:buChar char="•"/>
            </a:pPr>
            <a:r>
              <a:rPr lang="en-US" altLang="zh-CN">
                <a:ea typeface="宋体" pitchFamily="2" charset="-122"/>
              </a:rPr>
              <a:t>What determines the total amount of employment and unemployment? </a:t>
            </a:r>
          </a:p>
          <a:p>
            <a:pPr marL="228600" lvl="1" indent="-114300">
              <a:buFontTx/>
              <a:buChar char="•"/>
            </a:pPr>
            <a:r>
              <a:rPr lang="en-US" altLang="zh-CN">
                <a:ea typeface="宋体" pitchFamily="2" charset="-122"/>
              </a:rPr>
              <a:t>What determines the overall level of prices and the rate of inflation?  </a:t>
            </a:r>
          </a:p>
          <a:p>
            <a:pPr marL="228600" lvl="1" indent="-114300">
              <a:buFontTx/>
              <a:buChar char="•"/>
            </a:pPr>
            <a:r>
              <a:rPr lang="en-US" altLang="zh-CN">
                <a:ea typeface="宋体" pitchFamily="2" charset="-122"/>
              </a:rPr>
              <a:t>Why does the economy go through cycles, where things are great for a few years (like the late ’90s) and then lousy for a year or two (like 2001-2002)?</a:t>
            </a:r>
          </a:p>
          <a:p>
            <a:pPr marL="228600" lvl="1" indent="-114300">
              <a:buFontTx/>
              <a:buChar char="•"/>
            </a:pPr>
            <a:r>
              <a:rPr lang="en-US" altLang="zh-CN">
                <a:ea typeface="宋体" pitchFamily="2" charset="-122"/>
              </a:rPr>
              <a:t>When unemployment is high, what can the government do to help?</a:t>
            </a: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9B17AC3-4F34-AA41-988F-1135ACF9BAF0}"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20</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p:txBody>
          <a:bodyPr anchor="t"/>
          <a:lstStyle/>
          <a:p>
            <a:r>
              <a:rPr lang="en-US" altLang="zh-CN">
                <a:ea typeface="宋体" pitchFamily="2" charset="-122"/>
              </a:rPr>
              <a:t>If your students already know the terms “factors of production” and “factor payments,” you may wish to delete the “preliminaries” from this slide.  </a:t>
            </a: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410"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a:fld id="{66EE0EA5-D43A-4740-8B72-86479A5955F1}" type="slidenum">
              <a:rPr lang="zh-CN" altLang="en-US" sz="1200">
                <a:ea typeface="宋体" pitchFamily="2" charset="-122"/>
                <a:cs typeface="Arial" panose="020B0604020202090204" pitchFamily="34" charset="0"/>
              </a:rPr>
              <a:t>21</a:t>
            </a:fld>
            <a:endParaRPr lang="en-US" altLang="zh-CN" sz="1200">
              <a:ea typeface="宋体" pitchFamily="2" charset="-122"/>
              <a:cs typeface="Arial" panose="020B0604020202090204" pitchFamily="34" charset="0"/>
            </a:endParaRPr>
          </a:p>
        </p:txBody>
      </p:sp>
      <p:sp>
        <p:nvSpPr>
          <p:cNvPr id="17411" name="Rectangle 2"/>
          <p:cNvSpPr>
            <a:spLocks noGrp="1" noRot="1" noChangeAspect="1" noChangeArrowheads="1" noTextEdit="1"/>
          </p:cNvSpPr>
          <p:nvPr>
            <p:ph type="sldImg"/>
          </p:nvPr>
        </p:nvSpPr>
        <p:spPr>
          <a:xfrm>
            <a:off x="1144588" y="534988"/>
            <a:ext cx="4568825" cy="3429000"/>
          </a:xfrm>
        </p:spPr>
      </p:sp>
      <p:sp>
        <p:nvSpPr>
          <p:cNvPr id="17412" name="Rectangle 3"/>
          <p:cNvSpPr>
            <a:spLocks noGrp="1" noChangeArrowheads="1"/>
          </p:cNvSpPr>
          <p:nvPr>
            <p:ph type="body" idx="1"/>
          </p:nvPr>
        </p:nvSpPr>
        <p:spPr>
          <a:xfrm>
            <a:off x="685800" y="4087813"/>
            <a:ext cx="5486400" cy="4586287"/>
          </a:xfrm>
        </p:spPr>
        <p:txBody>
          <a:bodyPr anchor="t"/>
          <a:lstStyle/>
          <a:p>
            <a:r>
              <a:rPr lang="en-US" altLang="zh-CN" sz="1000" dirty="0">
                <a:ea typeface="宋体" pitchFamily="2" charset="-122"/>
              </a:rPr>
              <a:t>Source:  World Development Indicators, World Bank, and my calculations.    </a:t>
            </a:r>
          </a:p>
          <a:p>
            <a:r>
              <a:rPr lang="en-US" altLang="zh-CN" sz="1000" dirty="0">
                <a:ea typeface="宋体" pitchFamily="2" charset="-122"/>
              </a:rPr>
              <a:t>GDP per capita is in PPP$.   “Growth rate” is the average annual growth rate of real GDP per capita (local currency), computed as </a:t>
            </a:r>
          </a:p>
          <a:p>
            <a:r>
              <a:rPr lang="en-US" altLang="zh-CN" sz="1000" b="1" dirty="0">
                <a:ea typeface="宋体" pitchFamily="2" charset="-122"/>
              </a:rPr>
              <a:t>     {ln(2005 value)-ln(1960 value)}/45</a:t>
            </a:r>
          </a:p>
          <a:p>
            <a:r>
              <a:rPr lang="en-US" altLang="zh-CN" sz="1000" dirty="0">
                <a:ea typeface="宋体" pitchFamily="2" charset="-122"/>
              </a:rPr>
              <a:t>Exceptions:</a:t>
            </a:r>
          </a:p>
          <a:p>
            <a:r>
              <a:rPr lang="en-US" altLang="zh-CN" sz="1000" dirty="0">
                <a:ea typeface="宋体" pitchFamily="2" charset="-122"/>
              </a:rPr>
              <a:t>The growth rates shown for Canada and Saudi Arabia were computed over 1965-2005 and 1968-2005, respectively, due to missing early years of real GDP data in the World Development Indicators.  </a:t>
            </a:r>
          </a:p>
          <a:p>
            <a:endParaRPr lang="en-US" altLang="zh-CN" sz="1000" dirty="0">
              <a:ea typeface="宋体" pitchFamily="2" charset="-122"/>
            </a:endParaRPr>
          </a:p>
          <a:p>
            <a:r>
              <a:rPr lang="en-US" altLang="zh-CN" sz="1000" dirty="0">
                <a:ea typeface="宋体" pitchFamily="2" charset="-122"/>
              </a:rPr>
              <a:t>This table is similar to Table 1 in the textbook.  There are two differences.  </a:t>
            </a:r>
          </a:p>
          <a:p>
            <a:endParaRPr lang="en-US" altLang="zh-CN" sz="1000" dirty="0">
              <a:ea typeface="宋体" pitchFamily="2" charset="-122"/>
            </a:endParaRPr>
          </a:p>
          <a:p>
            <a:r>
              <a:rPr lang="en-US" altLang="zh-CN" sz="1000" dirty="0">
                <a:ea typeface="宋体" pitchFamily="2" charset="-122"/>
              </a:rPr>
              <a:t>First, the set of countries is slightly different.  I have excluded Mexico and the U.K. because they (and data on their GDP per capita) were featured in the photos.  I have excluded Germany because unification there makes earlier data not comparable with recent data, and thus complicates the calculation of the growth rate.  Other countries from Table 1 excluded here are Brazil, Indonesia, Pakistan, and Bangladesh.  The table on this slide includes the following countries, which do not appear in Table 1:  Singapore, Spain (I wanted at least one country from Europe), Israel (it’s in the news often), Saudi Arabia (I wanted at least one OPEC country), Colombia (they make good coffee there, plus I wanted a couple countries from S. America), New Zealand (Oceania’s representative here), the Philippines, Rwanda and Haiti (representative poor countries, different from Table 1 just for variety).  </a:t>
            </a:r>
          </a:p>
          <a:p>
            <a:endParaRPr lang="en-US" altLang="zh-CN" sz="1000" dirty="0">
              <a:ea typeface="宋体" pitchFamily="2" charset="-122"/>
            </a:endParaRPr>
          </a:p>
          <a:p>
            <a:r>
              <a:rPr lang="en-US" altLang="zh-CN" sz="1000" dirty="0">
                <a:ea typeface="宋体" pitchFamily="2" charset="-122"/>
              </a:rPr>
              <a:t>Second, growth rates here are computed over 1960-2005 (except Canada and S. Arabia, as noted above).  </a:t>
            </a:r>
          </a:p>
          <a:p>
            <a:endParaRPr lang="en-US" altLang="zh-CN" sz="1000" dirty="0">
              <a:ea typeface="宋体" pitchFamily="2" charset="-122"/>
            </a:endParaRPr>
          </a:p>
          <a:p>
            <a:r>
              <a:rPr lang="en-US" altLang="zh-CN" sz="1000" dirty="0">
                <a:ea typeface="宋体" pitchFamily="2" charset="-122"/>
              </a:rPr>
              <a:t>The purpose of this table (and of Table 1 in the text) is to convey the following two facts:  </a:t>
            </a:r>
          </a:p>
          <a:p>
            <a:r>
              <a:rPr lang="en-US" altLang="zh-CN" sz="1000" dirty="0">
                <a:ea typeface="宋体" pitchFamily="2" charset="-122"/>
              </a:rPr>
              <a:t>1)  There are great differences in the standard of living across countries.  </a:t>
            </a:r>
          </a:p>
          <a:p>
            <a:r>
              <a:rPr lang="en-US" altLang="zh-CN" sz="1000" dirty="0">
                <a:ea typeface="宋体" pitchFamily="2" charset="-122"/>
              </a:rPr>
              <a:t>2)  There are great differences in the growth rates across countries.  </a:t>
            </a:r>
          </a:p>
          <a:p>
            <a:r>
              <a:rPr lang="en-US" altLang="zh-CN" sz="1000" dirty="0">
                <a:ea typeface="宋体" pitchFamily="2" charset="-122"/>
              </a:rPr>
              <a:t>A corollary is that the rankings of countries can change over time:  Countries at the bottom need not remain there – witness Japan and China, both of whom were far poorer in 1960.   </a:t>
            </a: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2686DC6-1F82-CA4F-A979-CF45F7AC4BB4}"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26</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p:txBody>
          <a:bodyPr anchor="t"/>
          <a:lstStyle/>
          <a:p>
            <a:r>
              <a:rPr lang="en-US" altLang="zh-CN">
                <a:ea typeface="宋体" pitchFamily="2" charset="-122"/>
              </a:rPr>
              <a:t>Notes:  </a:t>
            </a:r>
          </a:p>
          <a:p>
            <a:endParaRPr lang="en-US" altLang="zh-CN">
              <a:ea typeface="宋体" pitchFamily="2" charset="-122"/>
            </a:endParaRPr>
          </a:p>
          <a:p>
            <a:r>
              <a:rPr lang="en-US" altLang="zh-CN">
                <a:ea typeface="宋体" pitchFamily="2" charset="-122"/>
              </a:rPr>
              <a:t>1.  The text in the first bullet point is NOT the formal textbook definition of GDP.  The formal definition is given and discussed in detail immediately after the Circular-Flow Diagram.  </a:t>
            </a:r>
          </a:p>
          <a:p>
            <a:endParaRPr lang="en-US" altLang="zh-CN">
              <a:ea typeface="宋体" pitchFamily="2" charset="-122"/>
            </a:endParaRPr>
          </a:p>
          <a:p>
            <a:r>
              <a:rPr lang="en-US" altLang="zh-CN">
                <a:ea typeface="宋体" pitchFamily="2" charset="-122"/>
              </a:rPr>
              <a:t>2.  “g&amp;s” = goods and services</a:t>
            </a:r>
          </a:p>
          <a:p>
            <a:endParaRPr lang="en-US" altLang="zh-CN">
              <a:ea typeface="宋体" pitchFamily="2" charset="-122"/>
            </a:endParaRPr>
          </a:p>
          <a:p>
            <a:r>
              <a:rPr lang="en-US" altLang="zh-CN">
                <a:ea typeface="宋体" pitchFamily="2" charset="-122"/>
              </a:rPr>
              <a:t>A good way to judge how well someone is doing economically is to look at his or her income.  We can judge how well a country is doing economically by looking at the total income that everyone in the economy is earning.  GDP is our measure of the economy’s total income, often called “national income.”</a:t>
            </a:r>
          </a:p>
          <a:p>
            <a:endParaRPr lang="en-US" altLang="zh-CN">
              <a:ea typeface="宋体" pitchFamily="2" charset="-122"/>
            </a:endParaRPr>
          </a:p>
          <a:p>
            <a:r>
              <a:rPr lang="en-US" altLang="zh-CN">
                <a:ea typeface="宋体" pitchFamily="2" charset="-122"/>
              </a:rPr>
              <a:t>GDP also measures total expenditure on the goods and services produced in the economy, and the value of the economy’s output (production) of goods and services.  Thus, GDP is also referred to as “output.” </a:t>
            </a:r>
          </a:p>
          <a:p>
            <a:endParaRPr lang="en-US" altLang="zh-CN">
              <a:ea typeface="宋体" pitchFamily="2" charset="-122"/>
            </a:endParaRPr>
          </a:p>
          <a:p>
            <a:r>
              <a:rPr lang="en-US" altLang="zh-CN">
                <a:ea typeface="宋体" pitchFamily="2" charset="-122"/>
              </a:rPr>
              <a:t>The equality of income and expenditure is an accounting identity (not, for example, an equilibrium condition):  it </a:t>
            </a:r>
            <a:r>
              <a:rPr lang="en-US" altLang="zh-CN" u="sng">
                <a:ea typeface="宋体" pitchFamily="2" charset="-122"/>
              </a:rPr>
              <a:t>must</a:t>
            </a:r>
            <a:r>
              <a:rPr lang="en-US" altLang="zh-CN">
                <a:ea typeface="宋体" pitchFamily="2" charset="-122"/>
              </a:rPr>
              <a:t> be true that income equals expenditure.  </a:t>
            </a: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9B17AC3-4F34-AA41-988F-1135ACF9BAF0}"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28</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p:txBody>
          <a:bodyPr anchor="t"/>
          <a:lstStyle/>
          <a:p>
            <a:r>
              <a:rPr lang="en-US" altLang="zh-CN">
                <a:ea typeface="宋体" pitchFamily="2" charset="-122"/>
              </a:rPr>
              <a:t>If your students already know the terms “factors of production” and “factor payments,” you may wish to delete the “preliminaries” from this slide.  </a:t>
            </a: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410"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52C5BDEF-0AD5-A648-BA27-3AC9A0171084}"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29</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7411" name="Rectangle 2"/>
          <p:cNvSpPr>
            <a:spLocks noGrp="1" noRot="1" noChangeAspect="1" noChangeArrowheads="1" noTextEdit="1"/>
          </p:cNvSpPr>
          <p:nvPr>
            <p:ph type="sldImg"/>
          </p:nvPr>
        </p:nvSpPr>
        <p:spPr/>
      </p:sp>
      <p:sp>
        <p:nvSpPr>
          <p:cNvPr id="17412" name="Rectangle 3"/>
          <p:cNvSpPr>
            <a:spLocks noGrp="1" noChangeArrowheads="1"/>
          </p:cNvSpPr>
          <p:nvPr>
            <p:ph type="body" idx="1"/>
          </p:nvPr>
        </p:nvSpPr>
        <p:spPr/>
        <p:txBody>
          <a:bodyPr anchor="t"/>
          <a:lstStyle/>
          <a:p>
            <a:r>
              <a:rPr lang="en-US" altLang="zh-CN">
                <a:ea typeface="宋体" pitchFamily="2" charset="-122"/>
              </a:rPr>
              <a:t>This and the following slide build the Circular-Flow Diagram piece by piece.  </a:t>
            </a: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9458"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5D3E3DD6-2F7F-614F-9AD3-69786A2132CE}"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30</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p:txBody>
          <a:bodyPr anchor="t"/>
          <a:lstStyle/>
          <a:p>
            <a:r>
              <a:rPr lang="en-US" altLang="zh-CN">
                <a:ea typeface="宋体" pitchFamily="2" charset="-122"/>
              </a:rPr>
              <a:t>In this diagram, the green arrows represent flows of income/payments.  The red arrows represent flows of goods &amp; services (including services of the factors of production in the lower half of the diagram).  </a:t>
            </a:r>
          </a:p>
          <a:p>
            <a:endParaRPr lang="en-US" altLang="zh-CN">
              <a:ea typeface="宋体" pitchFamily="2" charset="-122"/>
            </a:endParaRPr>
          </a:p>
          <a:p>
            <a:r>
              <a:rPr lang="en-US" altLang="zh-CN">
                <a:ea typeface="宋体" pitchFamily="2" charset="-122"/>
              </a:rPr>
              <a:t>To keep the graph simple, we have omitted the government, financial system, and foreign sector, as discussed on the next slide. </a:t>
            </a:r>
          </a:p>
          <a:p>
            <a:endParaRPr lang="en-US" altLang="zh-CN">
              <a:ea typeface="宋体" pitchFamily="2" charset="-122"/>
            </a:endParaRPr>
          </a:p>
          <a:p>
            <a:r>
              <a:rPr lang="en-US" altLang="zh-CN" b="1" i="1">
                <a:ea typeface="宋体" pitchFamily="2" charset="-122"/>
              </a:rPr>
              <a:t>Changing the animation on this slide:</a:t>
            </a:r>
          </a:p>
          <a:p>
            <a:r>
              <a:rPr lang="en-US" altLang="zh-CN">
                <a:ea typeface="宋体" pitchFamily="2" charset="-122"/>
              </a:rPr>
              <a:t>If you wish, you can easily change the order in which the markets and arrows appear.  From the “Slide Show” drop-down menu, choose “Custom Animation…”  Then, a box will appear (maybe along the right-hand-side of your PowerPoint window) that allows you to modify the order in which things appear (as well as other aspects of the animation).  For further information, open PowerPoint help and search on “change the sequence of animations.” </a:t>
            </a: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150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D7B4A6B-FB0E-7545-8987-85E0B3190897}"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31</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1507" name="Rectangle 2"/>
          <p:cNvSpPr>
            <a:spLocks noGrp="1" noRot="1" noChangeAspect="1" noChangeArrowheads="1" noTextEdit="1"/>
          </p:cNvSpPr>
          <p:nvPr>
            <p:ph type="sldImg"/>
          </p:nvPr>
        </p:nvSpPr>
        <p:spPr/>
      </p:sp>
      <p:sp>
        <p:nvSpPr>
          <p:cNvPr id="21508" name="Rectangle 3"/>
          <p:cNvSpPr>
            <a:spLocks noGrp="1" noChangeArrowheads="1"/>
          </p:cNvSpPr>
          <p:nvPr>
            <p:ph type="body" idx="1"/>
          </p:nvPr>
        </p:nvSpPr>
        <p:spPr/>
        <p:txBody>
          <a:bodyPr anchor="t"/>
          <a:lstStyle/>
          <a:p>
            <a:r>
              <a:rPr lang="en-US" altLang="zh-CN">
                <a:ea typeface="宋体" pitchFamily="2" charset="-122"/>
              </a:rPr>
              <a:t>In future chapters, we will study the role of each of these in greater detail.  </a:t>
            </a:r>
          </a:p>
          <a:p>
            <a:endParaRPr lang="en-US" altLang="zh-CN">
              <a:ea typeface="宋体" pitchFamily="2" charset="-122"/>
            </a:endParaRPr>
          </a:p>
          <a:p>
            <a:r>
              <a:rPr lang="en-US" altLang="zh-CN">
                <a:ea typeface="宋体" pitchFamily="2" charset="-122"/>
              </a:rPr>
              <a:t>We could draw a more complicated circular flow diagram that includes the government, financial system, and foreign sector.  Including them, however, would not change the basic conclusion that GDP simultaneously measures the country’s total income, expenditure, revenue, and factor payments.  </a:t>
            </a: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E4A07DB-F239-4C4E-8251-516B343E57EC}"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32</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3555" name="Rectangle 2"/>
          <p:cNvSpPr>
            <a:spLocks noGrp="1" noRot="1" noChangeAspect="1" noChangeArrowheads="1" noTextEdit="1"/>
          </p:cNvSpPr>
          <p:nvPr>
            <p:ph type="sldImg"/>
          </p:nvPr>
        </p:nvSpPr>
        <p:spPr/>
      </p:sp>
      <p:sp>
        <p:nvSpPr>
          <p:cNvPr id="23556" name="Rectangle 3"/>
          <p:cNvSpPr>
            <a:spLocks noGrp="1" noChangeArrowheads="1"/>
          </p:cNvSpPr>
          <p:nvPr>
            <p:ph type="body" idx="1"/>
          </p:nvPr>
        </p:nvSpPr>
        <p:spPr/>
        <p:txBody>
          <a:bodyPr anchor="t"/>
          <a:lstStyle/>
          <a:p>
            <a:r>
              <a:rPr lang="en-US" altLang="zh-CN">
                <a:ea typeface="宋体" pitchFamily="2" charset="-122"/>
              </a:rPr>
              <a:t>This slide and the five that follow focus on the meaning of each part of this critically important definition.  </a:t>
            </a:r>
          </a:p>
          <a:p>
            <a:endParaRPr lang="en-US" altLang="zh-CN">
              <a:ea typeface="宋体" pitchFamily="2" charset="-122"/>
            </a:endParaRPr>
          </a:p>
          <a:p>
            <a:r>
              <a:rPr lang="en-US" altLang="zh-CN">
                <a:ea typeface="宋体" pitchFamily="2" charset="-122"/>
              </a:rPr>
              <a:t>Note that transactions occurring in the so-called “underground economy” are also omitted from the official measure of GDP.  In the textbook, near the end of this chapter, an “In the News” box contains an excellent article on the underground economy.  </a:t>
            </a: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0722"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431CC92-22EC-8D4B-BFF7-E54A83C90BDA}"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38</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p:txBody>
          <a:bodyPr anchor="t"/>
          <a:lstStyle/>
          <a:p>
            <a:r>
              <a:rPr lang="en-US" altLang="zh-CN">
                <a:ea typeface="宋体" pitchFamily="2" charset="-122"/>
              </a:rPr>
              <a:t>Each of the four components is defined and discussed in detail on the following slides.  </a:t>
            </a: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2770"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D833BEC-E718-A44D-AE5C-37BB1E8D6F8F}"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39</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2771" name="Rectangle 2"/>
          <p:cNvSpPr>
            <a:spLocks noGrp="1" noRot="1" noChangeAspect="1" noChangeArrowheads="1" noTextEdit="1"/>
          </p:cNvSpPr>
          <p:nvPr>
            <p:ph type="sldImg"/>
          </p:nvPr>
        </p:nvSpPr>
        <p:spPr/>
      </p:sp>
      <p:sp>
        <p:nvSpPr>
          <p:cNvPr id="32772" name="Rectangle 3"/>
          <p:cNvSpPr>
            <a:spLocks noGrp="1" noChangeArrowheads="1"/>
          </p:cNvSpPr>
          <p:nvPr>
            <p:ph type="body" idx="1"/>
          </p:nvPr>
        </p:nvSpPr>
        <p:spPr/>
        <p:txBody>
          <a:bodyPr anchor="t"/>
          <a:lstStyle/>
          <a:p>
            <a:r>
              <a:rPr lang="en-US" altLang="zh-CN">
                <a:ea typeface="宋体" pitchFamily="2" charset="-122"/>
              </a:rPr>
              <a:t>Mostly, the term “consumption” refers to what students probably already think of as total consumer spending.  The note about the treatment of owner-occupied housing is an exception, and some of the test bank questions are designed to see if students remember this exception.  </a:t>
            </a:r>
          </a:p>
          <a:p>
            <a:endParaRPr lang="en-US" altLang="zh-CN">
              <a:ea typeface="宋体" pitchFamily="2" charset="-122"/>
            </a:endParaRPr>
          </a:p>
          <a:p>
            <a:r>
              <a:rPr lang="en-US" altLang="zh-CN">
                <a:ea typeface="宋体" pitchFamily="2" charset="-122"/>
              </a:rPr>
              <a:t>(For more on this issue, see the notes accompanying the following slide.) </a:t>
            </a: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4818"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A0FF83E-7F0F-8C4C-A6F3-258E7128B7F8}"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40</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4819" name="Rectangle 2"/>
          <p:cNvSpPr>
            <a:spLocks noGrp="1" noRot="1" noChangeAspect="1" noChangeArrowheads="1" noTextEdit="1"/>
          </p:cNvSpPr>
          <p:nvPr>
            <p:ph type="sldImg"/>
          </p:nvPr>
        </p:nvSpPr>
        <p:spPr/>
      </p:sp>
      <p:sp>
        <p:nvSpPr>
          <p:cNvPr id="34820" name="Rectangle 3"/>
          <p:cNvSpPr>
            <a:spLocks noGrp="1" noChangeArrowheads="1"/>
          </p:cNvSpPr>
          <p:nvPr>
            <p:ph type="body" idx="1"/>
          </p:nvPr>
        </p:nvSpPr>
        <p:spPr/>
        <p:txBody>
          <a:bodyPr anchor="t"/>
          <a:lstStyle/>
          <a:p>
            <a:r>
              <a:rPr lang="en-US" altLang="zh-CN">
                <a:ea typeface="宋体" pitchFamily="2" charset="-122"/>
              </a:rPr>
              <a:t>More on the treatment of owner-occupied housing:</a:t>
            </a:r>
          </a:p>
          <a:p>
            <a:endParaRPr lang="en-US" altLang="zh-CN">
              <a:ea typeface="宋体" pitchFamily="2" charset="-122"/>
            </a:endParaRPr>
          </a:p>
          <a:p>
            <a:r>
              <a:rPr lang="en-US" altLang="zh-CN">
                <a:ea typeface="宋体" pitchFamily="2" charset="-122"/>
              </a:rPr>
              <a:t>In the national income and product accounts, a house is considered a piece of capital that is used to produce a flow of services – housing services.  </a:t>
            </a:r>
          </a:p>
          <a:p>
            <a:endParaRPr lang="en-US" altLang="zh-CN">
              <a:ea typeface="宋体" pitchFamily="2" charset="-122"/>
            </a:endParaRPr>
          </a:p>
          <a:p>
            <a:r>
              <a:rPr lang="en-US" altLang="zh-CN">
                <a:ea typeface="宋体" pitchFamily="2" charset="-122"/>
              </a:rPr>
              <a:t>When a consumer (as a tenant) rents a house or apartment, the consumer is buying housing services.  These services are considered consumption, so the price paid for these services – rent – is counted in the “consumption” component of GDP .  </a:t>
            </a:r>
          </a:p>
          <a:p>
            <a:endParaRPr lang="en-US" altLang="zh-CN">
              <a:ea typeface="宋体" pitchFamily="2" charset="-122"/>
            </a:endParaRPr>
          </a:p>
          <a:p>
            <a:r>
              <a:rPr lang="en-US" altLang="zh-CN">
                <a:ea typeface="宋体" pitchFamily="2" charset="-122"/>
              </a:rPr>
              <a:t>When someone buys a new house to live in, she is both a producer and a consumer.  As a producer, she has made an investment (the purchase of the house) that will produce a service.  She is also the consumer of this service, which is valued at the market rental rate for that type of house.  So, the accounting conventions treat this situation as if the person is her own landlord and rents the house to/from herself.  </a:t>
            </a:r>
          </a:p>
          <a:p>
            <a:endParaRPr lang="en-US" altLang="zh-CN">
              <a:ea typeface="宋体" pitchFamily="2" charset="-122"/>
            </a:endParaRPr>
          </a:p>
          <a:p>
            <a:r>
              <a:rPr lang="en-US" altLang="zh-CN">
                <a:ea typeface="宋体" pitchFamily="2" charset="-122"/>
              </a:rPr>
              <a:t>When students begin to understand this, they may wonder why certain other goods (like cars) that produce a flow of consumer services are not also treated this way.  There really is no good answer.  It’s just a convention of the national income and product accounts.  </a:t>
            </a: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686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8BA80EF-735B-AD4B-8120-188414C0BB8C}"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41</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6867" name="Rectangle 2"/>
          <p:cNvSpPr>
            <a:spLocks noGrp="1" noRot="1" noChangeAspect="1" noChangeArrowheads="1" noTextEdit="1"/>
          </p:cNvSpPr>
          <p:nvPr>
            <p:ph type="sldImg"/>
          </p:nvPr>
        </p:nvSpPr>
        <p:spPr>
          <a:xfrm>
            <a:off x="1144588" y="534988"/>
            <a:ext cx="4568825" cy="3429000"/>
          </a:xfrm>
        </p:spPr>
      </p:sp>
      <p:sp>
        <p:nvSpPr>
          <p:cNvPr id="36868"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You might tell your students that transfer payments, like Social Security checks, are excluded from G to avoid double-counting:  retired persons spend part or all of their Social Security benefits on food, rent, prescriptions, and so forth, all of which count in consumption.  If we also counted the Social Security check as part of G, then the same money would be counted twice, which would make GDP look bigger than it really is. </a:t>
            </a:r>
          </a:p>
          <a:p>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8914"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0FA2214-F355-5645-90DD-2578B9EF5784}"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42</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p:txBody>
          <a:bodyPr anchor="t"/>
          <a:lstStyle/>
          <a:p>
            <a:r>
              <a:rPr lang="en-US" altLang="zh-CN">
                <a:ea typeface="宋体" pitchFamily="2" charset="-122"/>
              </a:rPr>
              <a:t>The “net” in “net exports” refers to the fact that we are subtracting imports from exports.  This subtraction is important, because imports are also counted in the other components of GDP; failing to subtract them would cause GDP to measure not just the value of goods produced domestically, but also goods produced abroad and imported.  </a:t>
            </a:r>
          </a:p>
          <a:p>
            <a:endParaRPr lang="en-US" altLang="zh-CN">
              <a:ea typeface="宋体" pitchFamily="2" charset="-122"/>
            </a:endParaRPr>
          </a:p>
          <a:p>
            <a:r>
              <a:rPr lang="en-US" altLang="zh-CN">
                <a:ea typeface="宋体" pitchFamily="2" charset="-122"/>
              </a:rPr>
              <a:t>For example, if a consumer spends $100 on a DVD player imported from Japan, that $100 counts in “consumption,” even though the player was not produced domestically.  We subtract off that $100 import so that GDP ends up including the value of only domestically-produced goods and services.  </a:t>
            </a: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p:sp>
      <p:sp>
        <p:nvSpPr>
          <p:cNvPr id="43011" name="Rectangle 3"/>
          <p:cNvSpPr>
            <a:spLocks noGrp="1" noRot="1" noChangeArrowheads="1"/>
          </p:cNvSpPr>
          <p:nvPr>
            <p:ph type="body" idx="1"/>
          </p:nvPr>
        </p:nvSpPr>
        <p:spPr/>
        <p:txBody>
          <a:bodyPr/>
          <a:lstStyle/>
          <a:p>
            <a:r>
              <a:rPr lang="en-US" altLang="zh-CN">
                <a:ea typeface="宋体" pitchFamily="2" charset="-122"/>
              </a:rPr>
              <a:t>Suggestion:  Show these questions, and give your students 1-3 minutes to formulate their answers.  When you are ready to discuss the answers, go to the next slide….</a:t>
            </a:r>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p:sp>
      <p:sp>
        <p:nvSpPr>
          <p:cNvPr id="45059" name="Rectangle 3"/>
          <p:cNvSpPr>
            <a:spLocks noGrp="1" noRot="1" noChangeArrowheads="1"/>
          </p:cNvSpPr>
          <p:nvPr>
            <p:ph type="body" idx="1"/>
          </p:nvPr>
        </p:nvSpPr>
        <p:spPr/>
        <p:txBody>
          <a:bodyPr/>
          <a:lstStyle/>
          <a:p>
            <a:r>
              <a:rPr lang="en-US" altLang="zh-CN">
                <a:ea typeface="宋体" pitchFamily="2" charset="-122"/>
              </a:rPr>
              <a:t>Suggestion (continued from previous slide):  Show part A (but not the answer) and ask for someone to volunteer his or her response.  Then show the answer to part A.  Repeat for parts B, C, and D.  (The answers to parts C and D appear on the following slide.) </a:t>
            </a:r>
          </a:p>
          <a:p>
            <a:endParaRPr lang="en-US" altLang="zh-CN">
              <a:ea typeface="宋体" pitchFamily="2" charset="-122"/>
            </a:endParaRPr>
          </a:p>
          <a:p>
            <a:r>
              <a:rPr lang="en-US" altLang="zh-CN">
                <a:ea typeface="宋体" pitchFamily="2" charset="-122"/>
              </a:rPr>
              <a:t>After showing the answer to part A, ask your students whether the answer would be different if Debbie were a government employee.  The correct answer is NO.  Government employees engage in consumption, just like everyone else. </a:t>
            </a: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p:sp>
      <p:sp>
        <p:nvSpPr>
          <p:cNvPr id="47107" name="Rectangle 3"/>
          <p:cNvSpPr>
            <a:spLocks noGrp="1" noRot="1" noChangeArrowheads="1"/>
          </p:cNvSpPr>
          <p:nvPr>
            <p:ph type="body" idx="1"/>
          </p:nvPr>
        </p:nvSpPr>
        <p:spPr/>
        <p:txBody>
          <a:bodyPr/>
          <a:lstStyle/>
          <a:p>
            <a:r>
              <a:rPr lang="en-US" altLang="zh-CN">
                <a:ea typeface="宋体" pitchFamily="2" charset="-122"/>
              </a:rPr>
              <a:t>Regarding part C:  </a:t>
            </a:r>
          </a:p>
          <a:p>
            <a:r>
              <a:rPr lang="en-US" altLang="zh-CN">
                <a:ea typeface="宋体" pitchFamily="2" charset="-122"/>
              </a:rPr>
              <a:t>Jane’s purchase causes investment (for her own business) to increase by $1200.  However, the computer is sold out of inventory, so inventory investment falls by $1200.  The two transactions cancel each other, leaving aggregate investment and GDP unchanged. </a:t>
            </a:r>
          </a:p>
          <a:p>
            <a:endParaRPr lang="en-US" altLang="zh-CN">
              <a:ea typeface="宋体" pitchFamily="2" charset="-122"/>
            </a:endParaRPr>
          </a:p>
          <a:p>
            <a:r>
              <a:rPr lang="en-US" altLang="zh-CN">
                <a:ea typeface="宋体" pitchFamily="2" charset="-122"/>
              </a:rPr>
              <a:t>Regarding part D:</a:t>
            </a:r>
          </a:p>
          <a:p>
            <a:r>
              <a:rPr lang="en-US" altLang="zh-CN">
                <a:ea typeface="宋体" pitchFamily="2" charset="-122"/>
              </a:rPr>
              <a:t>This problem illustrates why expenditure always equals output, even when firms don’t sell everything they produce due to lackluster demand.  The point here is that unsold output is counted in inventory investment, even when that “investment” was unintentional.</a:t>
            </a: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0178"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37115C5-8950-6548-B174-B15091C5E52A}"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48</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p:txBody>
          <a:bodyPr anchor="t"/>
          <a:lstStyle/>
          <a:p>
            <a:r>
              <a:rPr lang="en-US" altLang="zh-CN">
                <a:ea typeface="宋体" pitchFamily="2" charset="-122"/>
              </a:rPr>
              <a:t>This example is similar to that in the text, but using different goods and different numerical values. </a:t>
            </a:r>
          </a:p>
          <a:p>
            <a:endParaRPr lang="en-US" altLang="zh-CN">
              <a:ea typeface="宋体" pitchFamily="2" charset="-122"/>
            </a:endParaRPr>
          </a:p>
          <a:p>
            <a:r>
              <a:rPr lang="en-US" altLang="zh-CN">
                <a:ea typeface="宋体" pitchFamily="2" charset="-122"/>
              </a:rPr>
              <a:t>Suggestion:  Ask your students to compute nominal GDP in each year before revealing the answers.  Ask them to compute the rate of increase before revealing the answers.  </a:t>
            </a:r>
          </a:p>
          <a:p>
            <a:endParaRPr lang="en-US" altLang="zh-CN">
              <a:ea typeface="宋体" pitchFamily="2" charset="-122"/>
            </a:endParaRPr>
          </a:p>
          <a:p>
            <a:r>
              <a:rPr lang="en-US" altLang="zh-CN">
                <a:ea typeface="宋体" pitchFamily="2" charset="-122"/>
              </a:rPr>
              <a:t>In this example, nominal GDP grows for two reasons:  prices are rising, and the economy is producing a larger quantity of goods.  </a:t>
            </a:r>
          </a:p>
          <a:p>
            <a:endParaRPr lang="en-US" altLang="zh-CN">
              <a:ea typeface="宋体" pitchFamily="2" charset="-122"/>
            </a:endParaRPr>
          </a:p>
          <a:p>
            <a:r>
              <a:rPr lang="en-US" altLang="zh-CN">
                <a:ea typeface="宋体" pitchFamily="2" charset="-122"/>
              </a:rPr>
              <a:t>Thinking of nominal GDP as total income, the increases in income will overstate the increases in society’s well-being because part of these increases are due to inflation.  </a:t>
            </a:r>
          </a:p>
          <a:p>
            <a:endParaRPr lang="en-US" altLang="zh-CN">
              <a:ea typeface="宋体" pitchFamily="2" charset="-122"/>
            </a:endParaRPr>
          </a:p>
          <a:p>
            <a:r>
              <a:rPr lang="en-US" altLang="zh-CN">
                <a:ea typeface="宋体" pitchFamily="2" charset="-122"/>
              </a:rPr>
              <a:t>We need a way to take out the effects of inflation, to see how much people’s incomes are growing in purchasing power terms.  That is the job of real GDP.  </a:t>
            </a:r>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222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377E738-003D-E043-93E1-72F3FC4B749C}"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49</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p:txBody>
          <a:bodyPr anchor="t"/>
          <a:lstStyle/>
          <a:p>
            <a:r>
              <a:rPr lang="en-US" altLang="zh-CN">
                <a:ea typeface="宋体" pitchFamily="2" charset="-122"/>
              </a:rPr>
              <a:t>This example shows that real GDP in every year is constructed using the prices of the base year and that the base year doesn’t change.   </a:t>
            </a:r>
          </a:p>
          <a:p>
            <a:endParaRPr lang="en-US" altLang="zh-CN">
              <a:ea typeface="宋体" pitchFamily="2" charset="-122"/>
            </a:endParaRPr>
          </a:p>
          <a:p>
            <a:r>
              <a:rPr lang="en-US" altLang="zh-CN">
                <a:ea typeface="宋体" pitchFamily="2" charset="-122"/>
              </a:rPr>
              <a:t>The growth rate of real GDP from one year to the next is the answer to this question:</a:t>
            </a:r>
          </a:p>
          <a:p>
            <a:endParaRPr lang="en-US" altLang="zh-CN">
              <a:ea typeface="宋体" pitchFamily="2" charset="-122"/>
            </a:endParaRPr>
          </a:p>
          <a:p>
            <a:r>
              <a:rPr lang="en-US" altLang="zh-CN">
                <a:ea typeface="宋体" pitchFamily="2" charset="-122"/>
              </a:rPr>
              <a:t>“How much would GDP (and hence everyone’s income) have grown if there had been zero inflation?”</a:t>
            </a:r>
          </a:p>
          <a:p>
            <a:endParaRPr lang="en-US" altLang="zh-CN">
              <a:ea typeface="宋体" pitchFamily="2" charset="-122"/>
            </a:endParaRPr>
          </a:p>
          <a:p>
            <a:r>
              <a:rPr lang="en-US" altLang="zh-CN">
                <a:ea typeface="宋体" pitchFamily="2" charset="-122"/>
              </a:rPr>
              <a:t>Thus, real GDP is corrected for inflation.  </a:t>
            </a: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4274"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3FE9F6D-48A6-F841-A78C-6632C50B4F0C}"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50</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54275" name="Rectangle 2"/>
          <p:cNvSpPr>
            <a:spLocks noGrp="1" noRot="1" noChangeAspect="1" noChangeArrowheads="1" noTextEdit="1"/>
          </p:cNvSpPr>
          <p:nvPr>
            <p:ph type="sldImg"/>
          </p:nvPr>
        </p:nvSpPr>
        <p:spPr/>
      </p:sp>
      <p:sp>
        <p:nvSpPr>
          <p:cNvPr id="54276" name="Rectangle 3"/>
          <p:cNvSpPr>
            <a:spLocks noGrp="1" noChangeArrowheads="1"/>
          </p:cNvSpPr>
          <p:nvPr>
            <p:ph type="body" idx="1"/>
          </p:nvPr>
        </p:nvSpPr>
        <p:spPr/>
        <p:txBody>
          <a:bodyPr anchor="t"/>
          <a:lstStyle/>
          <a:p>
            <a:r>
              <a:rPr lang="en-US" altLang="zh-CN">
                <a:ea typeface="宋体" pitchFamily="2" charset="-122"/>
              </a:rPr>
              <a:t>The table in the top half of this slide merely summarizes the answers from the previous two slides.  This table will be used shortly to compute the growth rates in nominal and real GDP and to compute the GDP deflator and inflation rates.   </a:t>
            </a: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6322"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EB02F368-5DA5-D845-8F19-525997C8111A}"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51</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56323" name="Rectangle 2"/>
          <p:cNvSpPr>
            <a:spLocks noGrp="1" noRot="1" noChangeAspect="1" noChangeArrowheads="1" noTextEdit="1"/>
          </p:cNvSpPr>
          <p:nvPr>
            <p:ph type="sldImg"/>
          </p:nvPr>
        </p:nvSpPr>
        <p:spPr/>
      </p:sp>
      <p:sp>
        <p:nvSpPr>
          <p:cNvPr id="56324" name="Rectangle 3"/>
          <p:cNvSpPr>
            <a:spLocks noGrp="1" noChangeArrowheads="1"/>
          </p:cNvSpPr>
          <p:nvPr>
            <p:ph type="body" idx="1"/>
          </p:nvPr>
        </p:nvSpPr>
        <p:spPr/>
        <p:txBody>
          <a:bodyPr anchor="t"/>
          <a:lstStyle/>
          <a:p>
            <a:r>
              <a:rPr lang="en-US" altLang="zh-CN">
                <a:ea typeface="宋体" pitchFamily="2" charset="-122"/>
              </a:rPr>
              <a:t>Again, the growth rate of real GDP from one year to the next is the answer to this question:</a:t>
            </a:r>
          </a:p>
          <a:p>
            <a:endParaRPr lang="en-US" altLang="zh-CN">
              <a:ea typeface="宋体" pitchFamily="2" charset="-122"/>
            </a:endParaRPr>
          </a:p>
          <a:p>
            <a:r>
              <a:rPr lang="en-US" altLang="zh-CN">
                <a:ea typeface="宋体" pitchFamily="2" charset="-122"/>
              </a:rPr>
              <a:t>“How much would GDP (and hence everyone’s income) have grown if there had been zero inflation?”</a:t>
            </a:r>
          </a:p>
          <a:p>
            <a:endParaRPr lang="en-US" altLang="zh-CN">
              <a:ea typeface="宋体" pitchFamily="2" charset="-122"/>
            </a:endParaRPr>
          </a:p>
          <a:p>
            <a:r>
              <a:rPr lang="en-US" altLang="zh-CN">
                <a:ea typeface="宋体" pitchFamily="2" charset="-122"/>
              </a:rPr>
              <a:t>This is why real GDP is corrected for inflation.</a:t>
            </a: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3C76147-9066-8F40-8956-837B3ECB99AF}"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52</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58371" name="Rectangle 2"/>
          <p:cNvSpPr>
            <a:spLocks noGrp="1" noRot="1" noChangeAspect="1" noChangeArrowheads="1" noTextEdit="1"/>
          </p:cNvSpPr>
          <p:nvPr>
            <p:ph type="sldImg"/>
          </p:nvPr>
        </p:nvSpPr>
        <p:spPr>
          <a:xfrm>
            <a:off x="1371600" y="630238"/>
            <a:ext cx="4117975" cy="3092450"/>
          </a:xfrm>
        </p:spPr>
      </p:sp>
      <p:sp>
        <p:nvSpPr>
          <p:cNvPr id="58372" name="Rectangle 3"/>
          <p:cNvSpPr>
            <a:spLocks noGrp="1" noChangeArrowheads="1"/>
          </p:cNvSpPr>
          <p:nvPr>
            <p:ph type="body" idx="1"/>
          </p:nvPr>
        </p:nvSpPr>
        <p:spPr>
          <a:xfrm>
            <a:off x="685800" y="3860800"/>
            <a:ext cx="5511800" cy="4994275"/>
          </a:xfrm>
        </p:spPr>
        <p:txBody>
          <a:bodyPr anchor="t"/>
          <a:lstStyle/>
          <a:p>
            <a:pPr>
              <a:lnSpc>
                <a:spcPct val="105000"/>
              </a:lnSpc>
            </a:pPr>
            <a:r>
              <a:rPr lang="en-US" altLang="zh-CN" sz="1100">
                <a:ea typeface="宋体" pitchFamily="2" charset="-122"/>
              </a:rPr>
              <a:t>The source I used:  http://research.stlouisfed.org/fred2/	</a:t>
            </a:r>
          </a:p>
          <a:p>
            <a:pPr>
              <a:lnSpc>
                <a:spcPct val="105000"/>
              </a:lnSpc>
            </a:pPr>
            <a:r>
              <a:rPr lang="en-US" altLang="zh-CN" sz="1100">
                <a:ea typeface="宋体" pitchFamily="2" charset="-122"/>
              </a:rPr>
              <a:t>The original source:  U.S. Department of Commerce: Bureau of Economic Analysis</a:t>
            </a:r>
          </a:p>
          <a:p>
            <a:pPr>
              <a:lnSpc>
                <a:spcPct val="105000"/>
              </a:lnSpc>
            </a:pPr>
            <a:endParaRPr lang="en-US" altLang="zh-CN" sz="1100">
              <a:ea typeface="宋体" pitchFamily="2" charset="-122"/>
            </a:endParaRPr>
          </a:p>
          <a:p>
            <a:pPr>
              <a:lnSpc>
                <a:spcPct val="105000"/>
              </a:lnSpc>
            </a:pPr>
            <a:r>
              <a:rPr lang="en-US" altLang="zh-CN" sz="1100">
                <a:ea typeface="宋体" pitchFamily="2" charset="-122"/>
              </a:rPr>
              <a:t>Note:  This graph is different than the one in this chapter of the textbook.  The one in the textbook excludes nominal GDP, but includes shaded vertical bars over the dates of each recession.  </a:t>
            </a:r>
          </a:p>
          <a:p>
            <a:pPr>
              <a:lnSpc>
                <a:spcPct val="105000"/>
              </a:lnSpc>
            </a:pPr>
            <a:endParaRPr lang="en-US" altLang="zh-CN" sz="1100">
              <a:ea typeface="宋体" pitchFamily="2" charset="-122"/>
            </a:endParaRPr>
          </a:p>
          <a:p>
            <a:pPr>
              <a:lnSpc>
                <a:spcPct val="105000"/>
              </a:lnSpc>
            </a:pPr>
            <a:r>
              <a:rPr lang="en-US" altLang="zh-CN" sz="1100">
                <a:ea typeface="宋体" pitchFamily="2" charset="-122"/>
              </a:rPr>
              <a:t>Since you have just finished covering real vs. nominal GDP, it might be worthwhile pointing out the following to your students:</a:t>
            </a:r>
          </a:p>
          <a:p>
            <a:pPr>
              <a:lnSpc>
                <a:spcPct val="105000"/>
              </a:lnSpc>
            </a:pPr>
            <a:endParaRPr lang="en-US" altLang="zh-CN" sz="1100">
              <a:ea typeface="宋体" pitchFamily="2" charset="-122"/>
            </a:endParaRPr>
          </a:p>
          <a:p>
            <a:pPr>
              <a:lnSpc>
                <a:spcPct val="105000"/>
              </a:lnSpc>
            </a:pPr>
            <a:r>
              <a:rPr lang="en-US" altLang="zh-CN" sz="1100">
                <a:ea typeface="宋体" pitchFamily="2" charset="-122"/>
              </a:rPr>
              <a:t>The graph shows that nominal GDP rises faster than real GDP.  This should make sense, because growth in nominal GDP is driven by growth in output AND by inflation.  Growth in real GDP is driven only by growth in output.  </a:t>
            </a:r>
          </a:p>
          <a:p>
            <a:pPr>
              <a:lnSpc>
                <a:spcPct val="105000"/>
              </a:lnSpc>
            </a:pPr>
            <a:endParaRPr lang="en-US" altLang="zh-CN" sz="1100">
              <a:ea typeface="宋体" pitchFamily="2" charset="-122"/>
            </a:endParaRPr>
          </a:p>
          <a:p>
            <a:pPr>
              <a:lnSpc>
                <a:spcPct val="105000"/>
              </a:lnSpc>
            </a:pPr>
            <a:r>
              <a:rPr lang="en-US" altLang="zh-CN" sz="1100">
                <a:ea typeface="宋体" pitchFamily="2" charset="-122"/>
              </a:rPr>
              <a:t>The two lines cross in the year 2000 (the base year for the real GDP data in this graph).  This should make sense because real GDP equals nominal GDP in the base year.  (Better yet, ask your students whether there’s anything significant about the point where the two lines cross.)</a:t>
            </a:r>
          </a:p>
          <a:p>
            <a:pPr>
              <a:lnSpc>
                <a:spcPct val="105000"/>
              </a:lnSpc>
            </a:pPr>
            <a:endParaRPr lang="en-US" altLang="zh-CN" sz="1100">
              <a:ea typeface="宋体" pitchFamily="2" charset="-122"/>
            </a:endParaRPr>
          </a:p>
          <a:p>
            <a:pPr>
              <a:lnSpc>
                <a:spcPct val="105000"/>
              </a:lnSpc>
            </a:pPr>
            <a:r>
              <a:rPr lang="en-US" altLang="zh-CN" sz="1100">
                <a:ea typeface="宋体" pitchFamily="2" charset="-122"/>
              </a:rPr>
              <a:t>Before the base year, real GDP &gt; nominal GDP.  For example, in 1970, nominal GDP is about $1 trillion, while real GDP is about $3.8 trillion (in 2000 dollars).  This should make sense because prices were so much higher in 2000 than in 1970, so using those high 2000 prices to value 1970 output would lead to a bigger result than valuing 1970 output using 1970 prices.  </a:t>
            </a:r>
          </a:p>
          <a:p>
            <a:pPr>
              <a:lnSpc>
                <a:spcPct val="105000"/>
              </a:lnSpc>
            </a:pPr>
            <a:endParaRPr lang="en-US" altLang="zh-CN" sz="1100">
              <a:ea typeface="宋体" pitchFamily="2" charset="-122"/>
            </a:endParaRPr>
          </a:p>
          <a:p>
            <a:pPr>
              <a:lnSpc>
                <a:spcPct val="105000"/>
              </a:lnSpc>
            </a:pPr>
            <a:r>
              <a:rPr lang="en-US" altLang="zh-CN" sz="1100">
                <a:ea typeface="宋体" pitchFamily="2" charset="-122"/>
              </a:rPr>
              <a:t>Similarly, after 2000, nominal GDP is higher than real GDP because prices are higher in later years than they were in 2000.  </a:t>
            </a:r>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0418"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BC3CE88-8AFB-8E47-91E5-DB1C3509FED4}"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53</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60419" name="Rectangle 2"/>
          <p:cNvSpPr>
            <a:spLocks noGrp="1" noRot="1" noChangeAspect="1" noChangeArrowheads="1" noTextEdit="1"/>
          </p:cNvSpPr>
          <p:nvPr>
            <p:ph type="sldImg"/>
          </p:nvPr>
        </p:nvSpPr>
        <p:spPr>
          <a:xfrm>
            <a:off x="1144588" y="534988"/>
            <a:ext cx="4568825" cy="3429000"/>
          </a:xfrm>
        </p:spPr>
      </p:sp>
      <p:sp>
        <p:nvSpPr>
          <p:cNvPr id="60420"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The GDP Deflator gets its name because it is used to “deflate” (i.e., take the inflation out of) nominal GDP to get real GDP.  </a:t>
            </a: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p:sp>
      <p:sp>
        <p:nvSpPr>
          <p:cNvPr id="63491" name="Rectangle 3"/>
          <p:cNvSpPr>
            <a:spLocks noGrp="1" noRot="1" noChangeArrowheads="1"/>
          </p:cNvSpPr>
          <p:nvPr>
            <p:ph type="body" idx="1"/>
          </p:nvPr>
        </p:nvSpPr>
        <p:spPr/>
        <p:txBody>
          <a:bodyPr/>
          <a:lstStyle/>
          <a:p>
            <a:r>
              <a:rPr lang="en-US" altLang="zh-CN">
                <a:ea typeface="宋体" pitchFamily="2" charset="-122"/>
              </a:rPr>
              <a:t>The data in the table are for a hypothetical economy that produces two final goods, A and B.  For all parts of this problem, use 2007 as the base year.  </a:t>
            </a:r>
          </a:p>
          <a:p>
            <a:endParaRPr lang="en-US" altLang="zh-CN">
              <a:ea typeface="宋体" pitchFamily="2" charset="-122"/>
            </a:endParaRPr>
          </a:p>
          <a:p>
            <a:r>
              <a:rPr lang="en-US" altLang="zh-CN">
                <a:ea typeface="宋体" pitchFamily="2" charset="-122"/>
              </a:rPr>
              <a:t>If you’re running short on time, you can skip part A – it’s the least challenging.  If you only have time for one of the three, you might skip A and B, as C by itself covers all of the material:  it requires students to compute nominal and real GDP before they can compute the GDP deflator.</a:t>
            </a:r>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BA05B50-B01E-3D4D-9BAD-BE3ACADF5E90}"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60</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p:txBody>
          <a:bodyPr anchor="t"/>
          <a:lstStyle/>
          <a:p>
            <a:r>
              <a:rPr lang="en-US" altLang="zh-CN">
                <a:ea typeface="宋体" pitchFamily="2" charset="-122"/>
              </a:rPr>
              <a:t>Most economists, policymakers, social scientists, and businesspersons use a country’s real GDP per capita as the main indicator of the average person’s standard of living in that country.  </a:t>
            </a: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9634"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97C1E73-FC86-6644-91B6-373B254A3B13}"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61</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p:txBody>
          <a:bodyPr anchor="t"/>
          <a:lstStyle/>
          <a:p>
            <a:r>
              <a:rPr lang="en-US" altLang="zh-CN">
                <a:ea typeface="宋体" pitchFamily="2" charset="-122"/>
              </a:rPr>
              <a:t>Very scathing words, indeed!  </a:t>
            </a:r>
          </a:p>
          <a:p>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682"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6707373-6DF6-7B48-8011-1A43965A26EA}"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62</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71683" name="Rectangle 2"/>
          <p:cNvSpPr>
            <a:spLocks noGrp="1" noRot="1" noChangeAspect="1" noChangeArrowheads="1" noTextEdit="1"/>
          </p:cNvSpPr>
          <p:nvPr>
            <p:ph type="sldImg"/>
          </p:nvPr>
        </p:nvSpPr>
        <p:spPr>
          <a:xfrm>
            <a:off x="1144588" y="534988"/>
            <a:ext cx="4568825" cy="3429000"/>
          </a:xfrm>
        </p:spPr>
      </p:sp>
      <p:sp>
        <p:nvSpPr>
          <p:cNvPr id="71684"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Much of what Robert Kennedy said about GDP is correct.  </a:t>
            </a:r>
          </a:p>
        </p:txBody>
      </p:sp>
    </p:spTree>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A13F8144-B2C3-5D4A-A4D5-BBD625A91768}"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t>63</a:t>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73731" name="Rectangle 2"/>
          <p:cNvSpPr>
            <a:spLocks noGrp="1" noRot="1" noChangeAspect="1" noChangeArrowheads="1" noTextEdit="1"/>
          </p:cNvSpPr>
          <p:nvPr>
            <p:ph type="sldImg"/>
          </p:nvPr>
        </p:nvSpPr>
        <p:spPr>
          <a:xfrm>
            <a:off x="1144588" y="534988"/>
            <a:ext cx="4568825" cy="3429000"/>
          </a:xfrm>
        </p:spPr>
      </p:sp>
      <p:sp>
        <p:nvSpPr>
          <p:cNvPr id="73732" name="Rectangle 3"/>
          <p:cNvSpPr>
            <a:spLocks noGrp="1" noChangeArrowheads="1"/>
          </p:cNvSpPr>
          <p:nvPr>
            <p:ph type="body" idx="1"/>
          </p:nvPr>
        </p:nvSpPr>
        <p:spPr>
          <a:xfrm>
            <a:off x="685800" y="4248150"/>
            <a:ext cx="5486400" cy="4210050"/>
          </a:xfrm>
        </p:spPr>
        <p:txBody>
          <a:bodyPr anchor="t"/>
          <a:lstStyle/>
          <a:p>
            <a:r>
              <a:rPr lang="en-US" altLang="zh-CN">
                <a:ea typeface="宋体" pitchFamily="2" charset="-122"/>
              </a:rPr>
              <a:t>Then why do we care about GDP?  </a:t>
            </a:r>
          </a:p>
          <a:p>
            <a:endParaRPr lang="en-US" altLang="zh-CN">
              <a:ea typeface="宋体" pitchFamily="2" charset="-122"/>
            </a:endParaRPr>
          </a:p>
          <a:p>
            <a:r>
              <a:rPr lang="en-US" altLang="zh-CN">
                <a:ea typeface="宋体" pitchFamily="2" charset="-122"/>
              </a:rPr>
              <a:t>Because a large GDP does in fact help us to lead a good life.  GDP does not measure the health of our children, but nations with larger GDP can afford better health care for their children.  GDP does not measure the beauty of our poetry, but nations with larger GDP can afford to teach more of their citizens to read and enjoy poetry.  GDP does not take account of our intelligence, integrity, courage, wisdom, or devotion to country, but all of these laudable attributes are easier to foster when people are less concerned about being able to afford the material necessities of life.  </a:t>
            </a:r>
          </a:p>
          <a:p>
            <a:endParaRPr lang="en-US" altLang="zh-CN">
              <a:ea typeface="宋体" pitchFamily="2" charset="-122"/>
            </a:endParaRPr>
          </a:p>
          <a:p>
            <a:r>
              <a:rPr lang="en-US" altLang="zh-CN">
                <a:ea typeface="宋体" pitchFamily="2" charset="-122"/>
              </a:rPr>
              <a:t>In short, GDP does not directly measure those things that make life worthwhile, but it does measure our ability to obtain the inputs into a worthwhile life.  </a:t>
            </a:r>
          </a:p>
        </p:txBody>
      </p:sp>
    </p:spTree>
  </p:cSld>
  <p:clrMapOvr>
    <a:overrideClrMapping bg1="lt1" tx1="dk1" bg2="lt2" tx2="dk2" accent1="accent1" accent2="accent2" accent3="accent3" accent4="accent4" accent5="accent5" accent6="accent6" hlink="hlink" folHlink="folHlink"/>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p:sp>
      <p:sp>
        <p:nvSpPr>
          <p:cNvPr id="75779" name="Rectangle 3"/>
          <p:cNvSpPr>
            <a:spLocks noGrp="1" noRot="1" noChangeArrowheads="1"/>
          </p:cNvSpPr>
          <p:nvPr>
            <p:ph type="body" idx="1"/>
          </p:nvPr>
        </p:nvSpPr>
        <p:spPr/>
        <p:txBody>
          <a:bodyPr/>
          <a:lstStyle/>
          <a:p>
            <a:r>
              <a:rPr lang="en-US" altLang="zh-CN" dirty="0">
                <a:ea typeface="宋体" pitchFamily="2" charset="-122"/>
              </a:rPr>
              <a:t>This figure and the two that follow are from the data in Table 3 of the textbook.  </a:t>
            </a:r>
          </a:p>
          <a:p>
            <a:endParaRPr lang="en-US" altLang="zh-CN" dirty="0">
              <a:ea typeface="宋体" pitchFamily="2" charset="-122"/>
            </a:endParaRPr>
          </a:p>
          <a:p>
            <a:r>
              <a:rPr lang="en-US" altLang="zh-CN" dirty="0">
                <a:ea typeface="宋体" pitchFamily="2" charset="-122"/>
              </a:rPr>
              <a:t>Real GDP per capita figures are expressed in U.S. dollars. </a:t>
            </a:r>
          </a:p>
          <a:p>
            <a:endParaRPr lang="en-US" altLang="zh-CN" dirty="0">
              <a:ea typeface="宋体" pitchFamily="2" charset="-122"/>
            </a:endParaRPr>
          </a:p>
          <a:p>
            <a:r>
              <a:rPr lang="en-US" altLang="zh-CN" dirty="0">
                <a:ea typeface="宋体" pitchFamily="2" charset="-122"/>
              </a:rPr>
              <a:t>Source:  Human Development Report 2007/2008, United Nations.</a:t>
            </a:r>
          </a:p>
        </p:txBody>
      </p:sp>
    </p:spTree>
  </p:cSld>
  <p:clrMapOvr>
    <a:overrideClrMapping bg1="lt1" tx1="dk1" bg2="lt2" tx2="dk2" accent1="accent1" accent2="accent2" accent3="accent3" accent4="accent4" accent5="accent5" accent6="accent6" hlink="hlink" folHlink="folHlink"/>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p:sp>
      <p:sp>
        <p:nvSpPr>
          <p:cNvPr id="77827" name="Rectangle 3"/>
          <p:cNvSpPr>
            <a:spLocks noGrp="1" noRot="1" noChangeArrowheads="1"/>
          </p:cNvSpPr>
          <p:nvPr>
            <p:ph type="body" idx="1"/>
          </p:nvPr>
        </p:nvSpPr>
        <p:spPr/>
        <p:txBody>
          <a:bodyPr/>
          <a:lstStyle/>
          <a:p>
            <a:r>
              <a:rPr lang="en-US" altLang="zh-CN" dirty="0">
                <a:ea typeface="宋体" pitchFamily="2" charset="-122"/>
              </a:rPr>
              <a:t>Source:  Human Development Report 2007/2008, United Nations.</a:t>
            </a:r>
          </a:p>
        </p:txBody>
      </p:sp>
    </p:spTree>
  </p:cSld>
  <p:clrMapOvr>
    <a:overrideClrMapping bg1="lt1" tx1="dk1" bg2="lt2" tx2="dk2" accent1="accent1" accent2="accent2" accent3="accent3" accent4="accent4" accent5="accent5" accent6="accent6" hlink="hlink" folHlink="folHlink"/>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Rot="1" noChangeArrowheads="1"/>
          </p:cNvSpPr>
          <p:nvPr>
            <p:ph type="body" idx="1"/>
          </p:nvPr>
        </p:nvSpPr>
        <p:spPr/>
        <p:txBody>
          <a:bodyPr/>
          <a:lstStyle/>
          <a:p>
            <a:r>
              <a:rPr lang="en-US" altLang="zh-CN" dirty="0">
                <a:ea typeface="宋体" pitchFamily="2" charset="-122"/>
              </a:rPr>
              <a:t>Source:  </a:t>
            </a:r>
            <a:r>
              <a:rPr lang="en-US" altLang="zh-CN" dirty="0">
                <a:highlight>
                  <a:srgbClr val="FFFF00"/>
                </a:highlight>
                <a:ea typeface="宋体" pitchFamily="2" charset="-122"/>
              </a:rPr>
              <a:t>Human Development Report 2007/2008, United Nations.</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幻灯片">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r>
              <a:rPr lang="zh-CN" altLang="en-US"/>
              <a:t>单击此处编辑母版标题样式</a:t>
            </a: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r>
              <a:rPr lang="zh-CN" altLang="en-US"/>
              <a:t>单击此处编辑母版副标题样式</a:t>
            </a:r>
          </a:p>
        </p:txBody>
      </p:sp>
      <p:sp>
        <p:nvSpPr>
          <p:cNvPr id="4" name="Holder 4"/>
          <p:cNvSpPr>
            <a:spLocks noGrp="1"/>
          </p:cNvSpPr>
          <p:nvPr>
            <p:ph type="ftr" sz="quarter" idx="5"/>
          </p:nvPr>
        </p:nvSpPr>
        <p:spPr>
          <a:xfrm>
            <a:off x="3569850" y="3347973"/>
            <a:ext cx="603243" cy="179536"/>
          </a:xfrm>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a:t>
            </a:r>
            <a:r>
              <a:rPr lang="en-US" spc="-5" dirty="0"/>
              <a:t>23</a:t>
            </a:r>
            <a:r>
              <a:rPr spc="-5" dirty="0"/>
              <a:t>-</a:t>
            </a:r>
            <a:r>
              <a:rPr lang="en-US" spc="-5" dirty="0"/>
              <a:t>February</a:t>
            </a:r>
            <a:endParaRPr spc="-5" dirty="0"/>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gn="ctr">
              <a:lnSpc>
                <a:spcPts val="700"/>
              </a:lnSpc>
            </a:pPr>
            <a:r>
              <a:rPr lang="en-US" spc="-5" dirty="0" err="1"/>
              <a:t>Macreconomics</a:t>
            </a:r>
            <a:endParaRPr lang="en-US" spc="-5" dirty="0"/>
          </a:p>
        </p:txBody>
      </p:sp>
      <p:sp>
        <p:nvSpPr>
          <p:cNvPr id="6" name="Holder 6"/>
          <p:cNvSpPr>
            <a:spLocks noGrp="1"/>
          </p:cNvSpPr>
          <p:nvPr>
            <p:ph type="sldNum" sz="quarter" idx="7"/>
          </p:nvPr>
        </p:nvSpPr>
        <p:spPr>
          <a:xfrm>
            <a:off x="4173093" y="3347973"/>
            <a:ext cx="379858" cy="101600"/>
          </a:xfrm>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Holder 2"/>
          <p:cNvSpPr>
            <a:spLocks noGrp="1"/>
          </p:cNvSpPr>
          <p:nvPr>
            <p:ph type="title"/>
          </p:nvPr>
        </p:nvSpPr>
        <p:spPr>
          <a:xfrm>
            <a:off x="95502" y="244221"/>
            <a:ext cx="4419094" cy="184666"/>
          </a:xfrm>
        </p:spPr>
        <p:txBody>
          <a:bodyPr lIns="0" tIns="0" rIns="0" bIns="0"/>
          <a:lstStyle>
            <a:lvl1pPr>
              <a:defRPr sz="1200" b="1" i="0">
                <a:solidFill>
                  <a:srgbClr val="CC0000"/>
                </a:solidFill>
                <a:latin typeface="Garamond" panose="02020404030301010803" pitchFamily="18" charset="0"/>
                <a:ea typeface="宋体" pitchFamily="2" charset="-122"/>
                <a:cs typeface="Times New Roman" panose="02020503050405090304"/>
              </a:defRPr>
            </a:lvl1pPr>
          </a:lstStyle>
          <a:p>
            <a:r>
              <a:rPr lang="zh-CN" altLang="en-US"/>
              <a:t>单击此处编辑母版标题样式</a:t>
            </a:r>
          </a:p>
        </p:txBody>
      </p:sp>
      <p:sp>
        <p:nvSpPr>
          <p:cNvPr id="3" name="Holder 3"/>
          <p:cNvSpPr>
            <a:spLocks noGrp="1"/>
          </p:cNvSpPr>
          <p:nvPr>
            <p:ph type="body" idx="1"/>
          </p:nvPr>
        </p:nvSpPr>
        <p:spPr>
          <a:xfrm>
            <a:off x="124842" y="777113"/>
            <a:ext cx="4360415" cy="153888"/>
          </a:xfrm>
        </p:spPr>
        <p:txBody>
          <a:bodyPr lIns="0" tIns="0" rIns="0" bIns="0"/>
          <a:lstStyle>
            <a:lvl1pPr>
              <a:defRPr sz="1000" b="0" i="0">
                <a:solidFill>
                  <a:schemeClr val="tx1"/>
                </a:solidFill>
                <a:latin typeface="Garamond" panose="02020404030301010803" pitchFamily="18" charset="0"/>
                <a:ea typeface="宋体" pitchFamily="2" charset="-122"/>
                <a:cs typeface="Times New Roman" panose="02020503050405090304"/>
              </a:defRPr>
            </a:lvl1pPr>
          </a:lstStyle>
          <a:p>
            <a:pPr lvl="0"/>
            <a:r>
              <a:rPr lang="zh-CN" altLang="en-US"/>
              <a:t>单击此处编辑母版文本样式</a:t>
            </a:r>
          </a:p>
        </p:txBody>
      </p:sp>
      <p:sp>
        <p:nvSpPr>
          <p:cNvPr id="4" name="Holder 4"/>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两栏内容">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a:endParaRPr/>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1" i="0">
                <a:solidFill>
                  <a:srgbClr val="CC0000"/>
                </a:solidFill>
                <a:latin typeface="Times New Roman" panose="02020503050405090304"/>
                <a:cs typeface="Times New Roman" panose="02020503050405090304"/>
              </a:defRPr>
            </a:lvl1pPr>
          </a:lstStyle>
          <a:p>
            <a:r>
              <a:rPr lang="zh-CN" altLang="en-US"/>
              <a:t>单击此处编辑母版标题样式</a:t>
            </a: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p>
        </p:txBody>
      </p:sp>
      <p:sp>
        <p:nvSpPr>
          <p:cNvPr id="5" name="Holder 5"/>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p>
        </p:txBody>
      </p:sp>
      <p:sp>
        <p:nvSpPr>
          <p:cNvPr id="6" name="Holder 6"/>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p>
        </p:txBody>
      </p:sp>
      <p:sp>
        <p:nvSpPr>
          <p:cNvPr id="7" name="Holder 7"/>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仅标题">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1" i="0">
                <a:solidFill>
                  <a:srgbClr val="CC0000"/>
                </a:solidFill>
                <a:latin typeface="Times New Roman" panose="02020503050405090304"/>
                <a:cs typeface="Times New Roman" panose="02020503050405090304"/>
              </a:defRPr>
            </a:lvl1pPr>
          </a:lstStyle>
          <a:p>
            <a:r>
              <a:rPr lang="zh-CN" altLang="en-US"/>
              <a:t>单击此处编辑母版标题样式</a:t>
            </a:r>
          </a:p>
        </p:txBody>
      </p:sp>
      <p:sp>
        <p:nvSpPr>
          <p:cNvPr id="3" name="Holder 3"/>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p>
        </p:txBody>
      </p:sp>
      <p:sp>
        <p:nvSpPr>
          <p:cNvPr id="4" name="Holder 4"/>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p>
        </p:txBody>
      </p:sp>
      <p:sp>
        <p:nvSpPr>
          <p:cNvPr id="5" name="Holder 5"/>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空白">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a:endParaRPr/>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p>
        </p:txBody>
      </p:sp>
      <p:sp>
        <p:nvSpPr>
          <p:cNvPr id="3" name="Holder 3"/>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p>
        </p:txBody>
      </p:sp>
      <p:sp>
        <p:nvSpPr>
          <p:cNvPr id="4" name="Holder 4"/>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a:spcBef>
                <a:spcPct val="50000"/>
              </a:spcBef>
            </a:pPr>
            <a:r>
              <a:rPr lang="en-US" altLang="zh-CN" sz="805" i="1">
                <a:solidFill>
                  <a:srgbClr val="969696"/>
                </a:solidFill>
                <a:latin typeface="Times New Roman" panose="02020503050405090304" pitchFamily="18" charset="0"/>
                <a:ea typeface="宋体" pitchFamily="2" charset="-122"/>
              </a:rPr>
              <a:t>© 2009 South-Western, a part of Cengage Learning, all rights reserved</a:t>
            </a:r>
          </a:p>
        </p:txBody>
      </p:sp>
      <p:sp>
        <p:nvSpPr>
          <p:cNvPr id="2052" name="Rectangle 4"/>
          <p:cNvSpPr>
            <a:spLocks noGrp="1" noChangeArrowheads="1"/>
          </p:cNvSpPr>
          <p:nvPr>
            <p:ph type="subTitle" idx="1" hasCustomPrompt="1"/>
          </p:nvPr>
        </p:nvSpPr>
        <p:spPr>
          <a:xfrm>
            <a:off x="1002056" y="65690"/>
            <a:ext cx="614680" cy="499886"/>
          </a:xfrm>
        </p:spPr>
        <p:txBody>
          <a:bodyPr/>
          <a:lstStyle>
            <a:lvl1pPr marL="0" indent="0" algn="ctr">
              <a:buFont typeface="Wingdings" panose="05000000000000000000" pitchFamily="2" charset="2"/>
              <a:buNone/>
              <a:defRPr sz="2925" i="1">
                <a:solidFill>
                  <a:srgbClr val="008080"/>
                </a:solidFill>
                <a:latin typeface="Tahoma" panose="020B0604030504040204" pitchFamily="34" charset="0"/>
              </a:defRPr>
            </a:lvl1pPr>
          </a:lstStyle>
          <a:p>
            <a:pPr lvl="0"/>
            <a:r>
              <a:rPr lang="en-US" altLang="zh-CN" noProof="0"/>
              <a:t>34</a:t>
            </a:r>
          </a:p>
        </p:txBody>
      </p:sp>
      <p:sp>
        <p:nvSpPr>
          <p:cNvPr id="2053" name="TextBox 6"/>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r>
              <a:rPr lang="en-US" altLang="zh-CN" sz="1110">
                <a:solidFill>
                  <a:srgbClr val="008080"/>
                </a:solidFill>
                <a:latin typeface="Tahoma" panose="020B0604030504040204" pitchFamily="34" charset="0"/>
                <a:ea typeface="宋体" pitchFamily="2" charset="-122"/>
              </a:rPr>
              <a:t>C H A P T E 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p:cNvSpPr>
            <a:spLocks noGrp="1"/>
          </p:cNvSpPr>
          <p:nvPr>
            <p:ph type="ftr" sz="quarter" idx="10"/>
          </p:nvPr>
        </p:nvSpPr>
        <p:spPr/>
        <p:txBody>
          <a:bodyPr/>
          <a:lstStyle>
            <a:lvl1pPr>
              <a:defRPr/>
            </a:lvl1pPr>
          </a:lstStyle>
          <a:p>
            <a:r>
              <a:rPr lang="zh-CN" altLang="zh-CN"/>
              <a:t>一国收入的衡量</a:t>
            </a:r>
          </a:p>
        </p:txBody>
      </p:sp>
      <p:sp>
        <p:nvSpPr>
          <p:cNvPr id="5" name="灯片编号占位符 4"/>
          <p:cNvSpPr>
            <a:spLocks noGrp="1"/>
          </p:cNvSpPr>
          <p:nvPr>
            <p:ph type="sldNum" sz="quarter" idx="11"/>
          </p:nvPr>
        </p:nvSpPr>
        <p:spPr/>
        <p:txBody>
          <a:bodyPr/>
          <a:lstStyle>
            <a:lvl1pPr>
              <a:defRPr/>
            </a:lvl1pPr>
          </a:lstStyle>
          <a:p>
            <a:fld id="{FF75CA96-F32A-7F4F-98C9-CA940BD9BB90}" type="slidenum">
              <a:rPr lang="zh-CN"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p:cNvSpPr>
            <a:spLocks noGrp="1"/>
          </p:cNvSpPr>
          <p:nvPr>
            <p:ph type="body" idx="1"/>
          </p:nvPr>
        </p:nvSpPr>
        <p:spPr>
          <a:xfrm>
            <a:off x="314544" y="2315979"/>
            <a:ext cx="3976211" cy="757039"/>
          </a:xfrm>
        </p:spPr>
        <p:txBody>
          <a:bodyPr/>
          <a:lstStyle>
            <a:lvl1pPr marL="0" indent="0">
              <a:buNone/>
              <a:defRPr sz="1210"/>
            </a:lvl1pPr>
            <a:lvl2pPr marL="230505" indent="0">
              <a:buNone/>
              <a:defRPr sz="1010"/>
            </a:lvl2pPr>
            <a:lvl3pPr marL="461010" indent="0">
              <a:buNone/>
              <a:defRPr sz="910"/>
            </a:lvl3pPr>
            <a:lvl4pPr marL="691515" indent="0">
              <a:buNone/>
              <a:defRPr sz="805"/>
            </a:lvl4pPr>
            <a:lvl5pPr marL="922020" indent="0">
              <a:buNone/>
              <a:defRPr sz="805"/>
            </a:lvl5pPr>
            <a:lvl6pPr marL="1152525" indent="0">
              <a:buNone/>
              <a:defRPr sz="805"/>
            </a:lvl6pPr>
            <a:lvl7pPr marL="1383030" indent="0">
              <a:buNone/>
              <a:defRPr sz="805"/>
            </a:lvl7pPr>
            <a:lvl8pPr marL="1613535" indent="0">
              <a:buNone/>
              <a:defRPr sz="805"/>
            </a:lvl8pPr>
            <a:lvl9pPr marL="1844040" indent="0">
              <a:buNone/>
              <a:defRPr sz="805"/>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lvl1pPr>
              <a:defRPr/>
            </a:lvl1pPr>
          </a:lstStyle>
          <a:p>
            <a:r>
              <a:rPr lang="zh-CN" altLang="zh-CN"/>
              <a:t>一国收入的衡量</a:t>
            </a:r>
          </a:p>
        </p:txBody>
      </p:sp>
      <p:sp>
        <p:nvSpPr>
          <p:cNvPr id="5" name="灯片编号占位符 4"/>
          <p:cNvSpPr>
            <a:spLocks noGrp="1"/>
          </p:cNvSpPr>
          <p:nvPr>
            <p:ph type="sldNum" sz="quarter" idx="11"/>
          </p:nvPr>
        </p:nvSpPr>
        <p:spPr/>
        <p:txBody>
          <a:bodyPr/>
          <a:lstStyle>
            <a:lvl1pPr>
              <a:defRPr/>
            </a:lvl1pPr>
          </a:lstStyle>
          <a:p>
            <a:fld id="{4BC52F8A-5993-F941-9059-8758F3FCE6C7}" type="slidenum">
              <a:rPr lang="zh-CN"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p:cNvSpPr>
            <a:spLocks noGrp="1"/>
          </p:cNvSpPr>
          <p:nvPr>
            <p:ph type="ftr" sz="quarter" idx="10"/>
          </p:nvPr>
        </p:nvSpPr>
        <p:spPr/>
        <p:txBody>
          <a:bodyPr/>
          <a:lstStyle>
            <a:lvl1pPr>
              <a:defRPr/>
            </a:lvl1pPr>
          </a:lstStyle>
          <a:p>
            <a:r>
              <a:rPr lang="zh-CN" altLang="zh-CN"/>
              <a:t>一国收入的衡量</a:t>
            </a:r>
          </a:p>
        </p:txBody>
      </p:sp>
      <p:sp>
        <p:nvSpPr>
          <p:cNvPr id="6" name="灯片编号占位符 5"/>
          <p:cNvSpPr>
            <a:spLocks noGrp="1"/>
          </p:cNvSpPr>
          <p:nvPr>
            <p:ph type="sldNum" sz="quarter" idx="11"/>
          </p:nvPr>
        </p:nvSpPr>
        <p:spPr/>
        <p:txBody>
          <a:bodyPr/>
          <a:lstStyle>
            <a:lvl1pPr>
              <a:defRPr/>
            </a:lvl1pPr>
          </a:lstStyle>
          <a:p>
            <a:fld id="{AE84F7AA-C74F-4642-B3C6-9CC2F1DD8A1E}" type="slidenum">
              <a:rPr lang="zh-CN"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p:cNvSpPr>
            <a:spLocks noGrp="1"/>
          </p:cNvSpPr>
          <p:nvPr>
            <p:ph type="body" idx="1"/>
          </p:nvPr>
        </p:nvSpPr>
        <p:spPr>
          <a:xfrm>
            <a:off x="317745" y="848365"/>
            <a:ext cx="19504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p>
        </p:txBody>
      </p:sp>
      <p:sp>
        <p:nvSpPr>
          <p:cNvPr id="4" name="内容占位符 3"/>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2333863" y="848365"/>
            <a:ext cx="19600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p>
        </p:txBody>
      </p:sp>
      <p:sp>
        <p:nvSpPr>
          <p:cNvPr id="6" name="内容占位符 5"/>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p:cNvSpPr>
            <a:spLocks noGrp="1"/>
          </p:cNvSpPr>
          <p:nvPr>
            <p:ph type="ftr" sz="quarter" idx="10"/>
          </p:nvPr>
        </p:nvSpPr>
        <p:spPr/>
        <p:txBody>
          <a:bodyPr/>
          <a:lstStyle>
            <a:lvl1pPr>
              <a:defRPr/>
            </a:lvl1pPr>
          </a:lstStyle>
          <a:p>
            <a:r>
              <a:rPr lang="zh-CN" altLang="zh-CN"/>
              <a:t>一国收入的衡量</a:t>
            </a:r>
          </a:p>
        </p:txBody>
      </p:sp>
      <p:sp>
        <p:nvSpPr>
          <p:cNvPr id="8" name="灯片编号占位符 7"/>
          <p:cNvSpPr>
            <a:spLocks noGrp="1"/>
          </p:cNvSpPr>
          <p:nvPr>
            <p:ph type="sldNum" sz="quarter" idx="11"/>
          </p:nvPr>
        </p:nvSpPr>
        <p:spPr/>
        <p:txBody>
          <a:bodyPr/>
          <a:lstStyle>
            <a:lvl1pPr>
              <a:defRPr/>
            </a:lvl1pPr>
          </a:lstStyle>
          <a:p>
            <a:fld id="{97981451-FC73-D44F-A0E8-CF0A9828A28E}" type="slidenum">
              <a:rPr lang="zh-CN"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lvl1pPr>
              <a:defRPr/>
            </a:lvl1pPr>
          </a:lstStyle>
          <a:p>
            <a:r>
              <a:rPr lang="zh-CN" altLang="zh-CN"/>
              <a:t>一国收入的衡量</a:t>
            </a:r>
          </a:p>
        </p:txBody>
      </p:sp>
      <p:sp>
        <p:nvSpPr>
          <p:cNvPr id="4" name="灯片编号占位符 3"/>
          <p:cNvSpPr>
            <a:spLocks noGrp="1"/>
          </p:cNvSpPr>
          <p:nvPr>
            <p:ph type="sldNum" sz="quarter" idx="11"/>
          </p:nvPr>
        </p:nvSpPr>
        <p:spPr/>
        <p:txBody>
          <a:bodyPr/>
          <a:lstStyle>
            <a:lvl1pPr>
              <a:defRPr/>
            </a:lvl1pPr>
          </a:lstStyle>
          <a:p>
            <a:fld id="{E81E734D-8C0F-6D40-9298-031592D104B3}" type="slidenum">
              <a:rPr lang="zh-CN"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r>
              <a:rPr lang="zh-CN" altLang="zh-CN"/>
              <a:t>一国收入的衡量</a:t>
            </a:r>
          </a:p>
        </p:txBody>
      </p:sp>
      <p:sp>
        <p:nvSpPr>
          <p:cNvPr id="3" name="灯片编号占位符 2"/>
          <p:cNvSpPr>
            <a:spLocks noGrp="1"/>
          </p:cNvSpPr>
          <p:nvPr>
            <p:ph type="sldNum" sz="quarter" idx="11"/>
          </p:nvPr>
        </p:nvSpPr>
        <p:spPr/>
        <p:txBody>
          <a:bodyPr/>
          <a:lstStyle>
            <a:lvl1pPr>
              <a:defRPr/>
            </a:lvl1pPr>
          </a:lstStyle>
          <a:p>
            <a:fld id="{8FC9ECCE-9A67-6F4D-96F4-AF59AF685F27}" type="slidenum">
              <a:rPr lang="zh-CN"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p>
        </p:txBody>
      </p:sp>
      <p:sp>
        <p:nvSpPr>
          <p:cNvPr id="3" name="内容占位符 2"/>
          <p:cNvSpPr>
            <a:spLocks noGrp="1"/>
          </p:cNvSpPr>
          <p:nvPr>
            <p:ph idx="1"/>
          </p:nvPr>
        </p:nvSpPr>
        <p:spPr>
          <a:xfrm>
            <a:off x="19600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lvl1pPr>
              <a:defRPr/>
            </a:lvl1pPr>
          </a:lstStyle>
          <a:p>
            <a:r>
              <a:rPr lang="zh-CN" altLang="zh-CN"/>
              <a:t>一国收入的衡量</a:t>
            </a:r>
          </a:p>
        </p:txBody>
      </p:sp>
      <p:sp>
        <p:nvSpPr>
          <p:cNvPr id="6" name="灯片编号占位符 5"/>
          <p:cNvSpPr>
            <a:spLocks noGrp="1"/>
          </p:cNvSpPr>
          <p:nvPr>
            <p:ph type="sldNum" sz="quarter" idx="11"/>
          </p:nvPr>
        </p:nvSpPr>
        <p:spPr/>
        <p:txBody>
          <a:bodyPr/>
          <a:lstStyle>
            <a:lvl1pPr>
              <a:defRPr/>
            </a:lvl1pPr>
          </a:lstStyle>
          <a:p>
            <a:fld id="{F4D19EBE-0DD8-064C-BD84-2B44820FB47D}" type="slidenum">
              <a:rPr lang="zh-CN"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p>
        </p:txBody>
      </p:sp>
      <p:sp>
        <p:nvSpPr>
          <p:cNvPr id="3" name="图片占位符 2"/>
          <p:cNvSpPr>
            <a:spLocks noGrp="1"/>
          </p:cNvSpPr>
          <p:nvPr>
            <p:ph type="pic" idx="1"/>
          </p:nvPr>
        </p:nvSpPr>
        <p:spPr>
          <a:xfrm>
            <a:off x="1960093" y="498284"/>
            <a:ext cx="2333863" cy="2459376"/>
          </a:xfrm>
        </p:spPr>
        <p:txBody>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lvl1pPr>
              <a:defRPr/>
            </a:lvl1pPr>
          </a:lstStyle>
          <a:p>
            <a:r>
              <a:rPr lang="zh-CN" altLang="zh-CN"/>
              <a:t>一国收入的衡量</a:t>
            </a:r>
          </a:p>
        </p:txBody>
      </p:sp>
      <p:sp>
        <p:nvSpPr>
          <p:cNvPr id="6" name="灯片编号占位符 5"/>
          <p:cNvSpPr>
            <a:spLocks noGrp="1"/>
          </p:cNvSpPr>
          <p:nvPr>
            <p:ph type="sldNum" sz="quarter" idx="11"/>
          </p:nvPr>
        </p:nvSpPr>
        <p:spPr/>
        <p:txBody>
          <a:bodyPr/>
          <a:lstStyle>
            <a:lvl1pPr>
              <a:defRPr/>
            </a:lvl1pPr>
          </a:lstStyle>
          <a:p>
            <a:fld id="{0CA6175B-25A3-0348-9995-252FAA117B57}" type="slidenum">
              <a:rPr lang="zh-CN"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p:cNvSpPr>
            <a:spLocks noGrp="1"/>
          </p:cNvSpPr>
          <p:nvPr>
            <p:ph type="ftr" sz="quarter" idx="10"/>
          </p:nvPr>
        </p:nvSpPr>
        <p:spPr/>
        <p:txBody>
          <a:bodyPr/>
          <a:lstStyle>
            <a:lvl1pPr>
              <a:defRPr/>
            </a:lvl1pPr>
          </a:lstStyle>
          <a:p>
            <a:r>
              <a:rPr lang="zh-CN" altLang="zh-CN"/>
              <a:t>一国收入的衡量</a:t>
            </a:r>
          </a:p>
        </p:txBody>
      </p:sp>
      <p:sp>
        <p:nvSpPr>
          <p:cNvPr id="5" name="灯片编号占位符 4"/>
          <p:cNvSpPr>
            <a:spLocks noGrp="1"/>
          </p:cNvSpPr>
          <p:nvPr>
            <p:ph type="sldNum" sz="quarter" idx="11"/>
          </p:nvPr>
        </p:nvSpPr>
        <p:spPr/>
        <p:txBody>
          <a:bodyPr/>
          <a:lstStyle>
            <a:lvl1pPr>
              <a:defRPr/>
            </a:lvl1pPr>
          </a:lstStyle>
          <a:p>
            <a:fld id="{87C2A238-9660-194D-A420-58FAEDDE43DF}" type="slidenum">
              <a:rPr lang="zh-CN" altLang="zh-CN"/>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p:cNvSpPr>
            <a:spLocks noGrp="1"/>
          </p:cNvSpPr>
          <p:nvPr>
            <p:ph type="ftr" sz="quarter" idx="10"/>
          </p:nvPr>
        </p:nvSpPr>
        <p:spPr/>
        <p:txBody>
          <a:bodyPr/>
          <a:lstStyle>
            <a:lvl1pPr>
              <a:defRPr/>
            </a:lvl1pPr>
          </a:lstStyle>
          <a:p>
            <a:r>
              <a:rPr lang="zh-CN" altLang="zh-CN"/>
              <a:t>一国收入的衡量</a:t>
            </a:r>
          </a:p>
        </p:txBody>
      </p:sp>
      <p:sp>
        <p:nvSpPr>
          <p:cNvPr id="5" name="灯片编号占位符 4"/>
          <p:cNvSpPr>
            <a:spLocks noGrp="1"/>
          </p:cNvSpPr>
          <p:nvPr>
            <p:ph type="sldNum" sz="quarter" idx="11"/>
          </p:nvPr>
        </p:nvSpPr>
        <p:spPr/>
        <p:txBody>
          <a:bodyPr/>
          <a:lstStyle>
            <a:lvl1pPr>
              <a:defRPr/>
            </a:lvl1pPr>
          </a:lstStyle>
          <a:p>
            <a:fld id="{BB8105D9-7A7C-6B49-807E-0CBDD1F99FD3}" type="slidenum">
              <a:rPr lang="zh-CN" altLang="zh-CN"/>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45758" y="566377"/>
            <a:ext cx="3918585" cy="1204854"/>
          </a:xfrm>
        </p:spPr>
        <p:txBody>
          <a:bodyPr anchor="b"/>
          <a:lstStyle>
            <a:lvl1pPr algn="ctr">
              <a:defRPr sz="3025"/>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576263" y="1817695"/>
            <a:ext cx="3457575" cy="835547"/>
          </a:xfrm>
        </p:spPr>
        <p:txBody>
          <a:bodyPr/>
          <a:lstStyle>
            <a:lvl1pPr marL="0" indent="0" algn="ctr">
              <a:buNone/>
              <a:defRPr sz="1210"/>
            </a:lvl1pPr>
            <a:lvl2pPr marL="230505" indent="0" algn="ctr">
              <a:buNone/>
              <a:defRPr sz="1010"/>
            </a:lvl2pPr>
            <a:lvl3pPr marL="461010" indent="0" algn="ctr">
              <a:buNone/>
              <a:defRPr sz="910"/>
            </a:lvl3pPr>
            <a:lvl4pPr marL="691515" indent="0" algn="ctr">
              <a:buNone/>
              <a:defRPr sz="805"/>
            </a:lvl4pPr>
            <a:lvl5pPr marL="922020" indent="0" algn="ctr">
              <a:buNone/>
              <a:defRPr sz="805"/>
            </a:lvl5pPr>
            <a:lvl6pPr marL="1152525" indent="0" algn="ctr">
              <a:buNone/>
              <a:defRPr sz="805"/>
            </a:lvl6pPr>
            <a:lvl7pPr marL="1383030" indent="0" algn="ctr">
              <a:buNone/>
              <a:defRPr sz="805"/>
            </a:lvl7pPr>
            <a:lvl8pPr marL="1613535" indent="0" algn="ctr">
              <a:buNone/>
              <a:defRPr sz="805"/>
            </a:lvl8pPr>
            <a:lvl9pPr marL="1844040" indent="0" algn="ctr">
              <a:buNone/>
              <a:defRPr sz="805"/>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9B404B6B-F219-48D2-B538-6D799E07C711}"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64AE66C-D93E-4875-B9B4-E980903F94FB}" type="slidenum">
              <a:rPr lang="zh-CN" altLang="en-US"/>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88E74CBE-2322-4706-A00B-18479DB58106}"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AD6B5C5-F173-4E8F-B7DC-6ED3A3EC0E6C}" type="slidenum">
              <a:rPr lang="zh-CN" altLang="en-US"/>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314544" y="2315980"/>
            <a:ext cx="3976211" cy="757039"/>
          </a:xfrm>
        </p:spPr>
        <p:txBody>
          <a:bodyPr/>
          <a:lstStyle>
            <a:lvl1pPr marL="0" indent="0">
              <a:buNone/>
              <a:defRPr sz="1210">
                <a:solidFill>
                  <a:schemeClr val="tx1"/>
                </a:solidFill>
              </a:defRPr>
            </a:lvl1pPr>
            <a:lvl2pPr marL="230505" indent="0">
              <a:buNone/>
              <a:defRPr sz="1010">
                <a:solidFill>
                  <a:schemeClr val="tx1">
                    <a:tint val="75000"/>
                  </a:schemeClr>
                </a:solidFill>
              </a:defRPr>
            </a:lvl2pPr>
            <a:lvl3pPr marL="461010" indent="0">
              <a:buNone/>
              <a:defRPr sz="910">
                <a:solidFill>
                  <a:schemeClr val="tx1">
                    <a:tint val="75000"/>
                  </a:schemeClr>
                </a:solidFill>
              </a:defRPr>
            </a:lvl3pPr>
            <a:lvl4pPr marL="691515" indent="0">
              <a:buNone/>
              <a:defRPr sz="805">
                <a:solidFill>
                  <a:schemeClr val="tx1">
                    <a:tint val="75000"/>
                  </a:schemeClr>
                </a:solidFill>
              </a:defRPr>
            </a:lvl4pPr>
            <a:lvl5pPr marL="922020" indent="0">
              <a:buNone/>
              <a:defRPr sz="805">
                <a:solidFill>
                  <a:schemeClr val="tx1">
                    <a:tint val="75000"/>
                  </a:schemeClr>
                </a:solidFill>
              </a:defRPr>
            </a:lvl5pPr>
            <a:lvl6pPr marL="1152525" indent="0">
              <a:buNone/>
              <a:defRPr sz="805">
                <a:solidFill>
                  <a:schemeClr val="tx1">
                    <a:tint val="75000"/>
                  </a:schemeClr>
                </a:solidFill>
              </a:defRPr>
            </a:lvl6pPr>
            <a:lvl7pPr marL="1383030" indent="0">
              <a:buNone/>
              <a:defRPr sz="805">
                <a:solidFill>
                  <a:schemeClr val="tx1">
                    <a:tint val="75000"/>
                  </a:schemeClr>
                </a:solidFill>
              </a:defRPr>
            </a:lvl7pPr>
            <a:lvl8pPr marL="1613535" indent="0">
              <a:buNone/>
              <a:defRPr sz="805">
                <a:solidFill>
                  <a:schemeClr val="tx1">
                    <a:tint val="75000"/>
                  </a:schemeClr>
                </a:solidFill>
              </a:defRPr>
            </a:lvl8pPr>
            <a:lvl9pPr marL="1844040" indent="0">
              <a:buNone/>
              <a:defRPr sz="805">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lvl1pPr>
              <a:defRPr/>
            </a:lvl1pPr>
          </a:lstStyle>
          <a:p>
            <a:pPr>
              <a:defRPr/>
            </a:pPr>
            <a:fld id="{D732027E-9240-4F84-B1D9-9D7DCE660613}"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AEDC0A7-F598-4694-B7B2-077FFC1FB214}" type="slidenum">
              <a:rPr lang="zh-CN" altLang="en-US"/>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316944"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2333863"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2DFCF8DC-2EE4-47B1-8C14-09ED6B7F8AB4}" type="datetime1">
              <a:rPr lang="zh-CN" altLang="en-US" smtClean="0"/>
              <a:t>2026/4/10</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D88AC015-5C64-4ACE-A962-588A0DF6AE76}" type="slidenum">
              <a:rPr lang="zh-CN" altLang="en-US"/>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17545" y="184254"/>
            <a:ext cx="3976211" cy="668918"/>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317545" y="848365"/>
            <a:ext cx="19502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编辑母版文本样式</a:t>
            </a:r>
          </a:p>
        </p:txBody>
      </p:sp>
      <p:sp>
        <p:nvSpPr>
          <p:cNvPr id="4" name="Content Placeholder 3"/>
          <p:cNvSpPr>
            <a:spLocks noGrp="1"/>
          </p:cNvSpPr>
          <p:nvPr>
            <p:ph sz="half" idx="2" hasCustomPrompt="1"/>
          </p:nvPr>
        </p:nvSpPr>
        <p:spPr>
          <a:xfrm>
            <a:off x="317545" y="1264135"/>
            <a:ext cx="1950288"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2333863" y="848365"/>
            <a:ext cx="19598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编辑母版文本样式</a:t>
            </a:r>
          </a:p>
        </p:txBody>
      </p:sp>
      <p:sp>
        <p:nvSpPr>
          <p:cNvPr id="6" name="Content Placeholder 5"/>
          <p:cNvSpPr>
            <a:spLocks noGrp="1"/>
          </p:cNvSpPr>
          <p:nvPr>
            <p:ph sz="quarter" idx="4" hasCustomPrompt="1"/>
          </p:nvPr>
        </p:nvSpPr>
        <p:spPr>
          <a:xfrm>
            <a:off x="2333863" y="1264135"/>
            <a:ext cx="1959893"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7D000B0A-FD55-4439-BB36-1B7DD16AEF9D}" type="datetime1">
              <a:rPr lang="zh-CN" altLang="en-US" smtClean="0"/>
              <a:t>2026/4/10</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9A4E9772-D260-4B6D-9762-C1ACB07CF1A4}" type="slidenum">
              <a:rPr lang="zh-CN" altLang="en-US"/>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5B40F887-9D7C-4661-8CA9-433247C43161}" type="datetime1">
              <a:rPr lang="zh-CN" altLang="en-US" smtClean="0"/>
              <a:t>2026/4/10</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EC1AE1EE-FD52-4D68-B5DB-95147DAA2186}" type="slidenum">
              <a:rPr lang="zh-CN" altLang="en-US"/>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CEE2579-3327-433C-A8D3-133F40BB42A3}" type="datetime1">
              <a:rPr lang="zh-CN" altLang="en-US" smtClean="0"/>
              <a:t>2026/4/10</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C45A43E4-5C02-4FFA-9B9C-4EA269E3E4C1}" type="slidenum">
              <a:rPr lang="zh-CN" altLang="en-US"/>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5"/>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19598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317545" y="1038225"/>
            <a:ext cx="14868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ECB33477-4C33-4C06-9797-6D08AC7583C3}" type="datetime1">
              <a:rPr lang="zh-CN" altLang="en-US" smtClean="0"/>
              <a:t>2026/4/10</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F3CE963-05B5-426D-8DD8-55C8BCB1E553}" type="slidenum">
              <a:rPr lang="zh-CN" altLang="en-US"/>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5"/>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959893" y="498284"/>
            <a:ext cx="2333863" cy="2459376"/>
          </a:xfrm>
        </p:spPr>
        <p:txBody>
          <a:bodyPr rtlCol="0">
            <a:normAutofit/>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pPr lvl="0"/>
            <a:r>
              <a:rPr lang="zh-CN" altLang="en-US" noProof="0"/>
              <a:t>单击图标添加图片</a:t>
            </a:r>
            <a:endParaRPr lang="en-US" noProof="0" dirty="0"/>
          </a:p>
        </p:txBody>
      </p:sp>
      <p:sp>
        <p:nvSpPr>
          <p:cNvPr id="4" name="Text Placeholder 3"/>
          <p:cNvSpPr>
            <a:spLocks noGrp="1"/>
          </p:cNvSpPr>
          <p:nvPr>
            <p:ph type="body" sz="half" idx="2" hasCustomPrompt="1"/>
          </p:nvPr>
        </p:nvSpPr>
        <p:spPr>
          <a:xfrm>
            <a:off x="317545" y="1038225"/>
            <a:ext cx="14868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3A3494F3-7AAE-4076-A079-901FBE5F6956}" type="datetime1">
              <a:rPr lang="zh-CN" altLang="en-US" smtClean="0"/>
              <a:t>2026/4/10</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37A9C5D-3E79-4A5E-9A50-FA793561A4F7}" type="slidenum">
              <a:rPr lang="zh-CN" altLang="en-US"/>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F6A6E0C9-AF86-4B77-A08C-0B6478F9B105}"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DFF417A-3AC2-4628-96D9-6511A09D2330}" type="slidenum">
              <a:rPr lang="zh-CN" altLang="en-US"/>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99103" y="184253"/>
            <a:ext cx="994053" cy="293282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316945" y="184253"/>
            <a:ext cx="2924532" cy="293282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76214EE-A259-4C30-B1C2-FFE3C2C51249}"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ABD9B7A-ECF0-49BC-A2CC-180F72059867}" type="slidenum">
              <a:rPr lang="zh-CN" altLang="en-US"/>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070" y="346075"/>
            <a:ext cx="4305961" cy="576792"/>
          </a:xfrm>
        </p:spPr>
        <p:txBody>
          <a:bodyPr/>
          <a:lstStyle/>
          <a:p>
            <a:r>
              <a:rPr lang="zh-CN" altLang="en-US"/>
              <a:t>单击此处编辑母版标题样式</a:t>
            </a:r>
          </a:p>
        </p:txBody>
      </p:sp>
      <p:sp>
        <p:nvSpPr>
          <p:cNvPr id="3" name="文本占位符 2"/>
          <p:cNvSpPr>
            <a:spLocks noGrp="1"/>
          </p:cNvSpPr>
          <p:nvPr>
            <p:ph type="body" sz="half" idx="1" hasCustomPrompt="1"/>
          </p:nvPr>
        </p:nvSpPr>
        <p:spPr>
          <a:xfrm>
            <a:off x="153670" y="999772"/>
            <a:ext cx="2114563" cy="196109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2345069" y="999772"/>
            <a:ext cx="2114563" cy="196109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52069" y="3037769"/>
            <a:ext cx="1154126" cy="240330"/>
          </a:xfrm>
        </p:spPr>
        <p:txBody>
          <a:bodyPr/>
          <a:lstStyle>
            <a:lvl1pPr>
              <a:defRPr/>
            </a:lvl1pPr>
          </a:lstStyle>
          <a:p>
            <a:fld id="{7205116B-3867-44C2-9217-29904CEC159F}" type="datetime1">
              <a:rPr lang="zh-CN" altLang="en-US" smtClean="0"/>
              <a:t>2026/4/10</a:t>
            </a:fld>
            <a:endParaRPr lang="en-US" altLang="zh-CN"/>
          </a:p>
        </p:txBody>
      </p:sp>
      <p:sp>
        <p:nvSpPr>
          <p:cNvPr id="6" name="页脚占位符 5"/>
          <p:cNvSpPr>
            <a:spLocks noGrp="1"/>
          </p:cNvSpPr>
          <p:nvPr>
            <p:ph type="ftr" sz="quarter" idx="11"/>
          </p:nvPr>
        </p:nvSpPr>
        <p:spPr>
          <a:xfrm>
            <a:off x="1575118" y="3037769"/>
            <a:ext cx="1459865" cy="24033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3303905" y="3037769"/>
            <a:ext cx="1154126" cy="240330"/>
          </a:xfrm>
        </p:spPr>
        <p:txBody>
          <a:bodyPr/>
          <a:lstStyle>
            <a:lvl1pPr>
              <a:defRPr/>
            </a:lvl1pPr>
          </a:lstStyle>
          <a:p>
            <a:fld id="{5A08F56C-74D2-4D39-AC8D-A978A0333993}" type="slidenum">
              <a:rPr lang="en-US" altLang="zh-CN"/>
              <a:t>‹#›</a:t>
            </a:fld>
            <a:endParaRPr lang="en-US" altLang="zh-CN"/>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45758" y="566377"/>
            <a:ext cx="3918585" cy="1204854"/>
          </a:xfrm>
        </p:spPr>
        <p:txBody>
          <a:bodyPr anchor="b"/>
          <a:lstStyle>
            <a:lvl1pPr algn="ctr">
              <a:defRPr sz="3025"/>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576263" y="1817695"/>
            <a:ext cx="3457575" cy="835547"/>
          </a:xfrm>
        </p:spPr>
        <p:txBody>
          <a:bodyPr/>
          <a:lstStyle>
            <a:lvl1pPr marL="0" indent="0" algn="ctr">
              <a:buNone/>
              <a:defRPr sz="1210"/>
            </a:lvl1pPr>
            <a:lvl2pPr marL="230505" indent="0" algn="ctr">
              <a:buNone/>
              <a:defRPr sz="1010"/>
            </a:lvl2pPr>
            <a:lvl3pPr marL="461010" indent="0" algn="ctr">
              <a:buNone/>
              <a:defRPr sz="910"/>
            </a:lvl3pPr>
            <a:lvl4pPr marL="691515" indent="0" algn="ctr">
              <a:buNone/>
              <a:defRPr sz="805"/>
            </a:lvl4pPr>
            <a:lvl5pPr marL="922020" indent="0" algn="ctr">
              <a:buNone/>
              <a:defRPr sz="805"/>
            </a:lvl5pPr>
            <a:lvl6pPr marL="1152525" indent="0" algn="ctr">
              <a:buNone/>
              <a:defRPr sz="805"/>
            </a:lvl6pPr>
            <a:lvl7pPr marL="1383030" indent="0" algn="ctr">
              <a:buNone/>
              <a:defRPr sz="805"/>
            </a:lvl7pPr>
            <a:lvl8pPr marL="1613535" indent="0" algn="ctr">
              <a:buNone/>
              <a:defRPr sz="805"/>
            </a:lvl8pPr>
            <a:lvl9pPr marL="1844040" indent="0" algn="ctr">
              <a:buNone/>
              <a:defRPr sz="805"/>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E0717907-4000-4848-859E-92EAEFBB09E5}"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64AE66C-D93E-4875-B9B4-E980903F94FB}" type="slidenum">
              <a:rPr lang="zh-CN" altLang="en-US"/>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3C1DD118-5890-49BE-99BE-BB5FEBFAC173}"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AD6B5C5-F173-4E8F-B7DC-6ED3A3EC0E6C}" type="slidenum">
              <a:rPr lang="zh-CN" altLang="en-US"/>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314544" y="2315980"/>
            <a:ext cx="3976211" cy="757039"/>
          </a:xfrm>
        </p:spPr>
        <p:txBody>
          <a:bodyPr/>
          <a:lstStyle>
            <a:lvl1pPr marL="0" indent="0">
              <a:buNone/>
              <a:defRPr sz="1210">
                <a:solidFill>
                  <a:schemeClr val="tx1"/>
                </a:solidFill>
              </a:defRPr>
            </a:lvl1pPr>
            <a:lvl2pPr marL="230505" indent="0">
              <a:buNone/>
              <a:defRPr sz="1010">
                <a:solidFill>
                  <a:schemeClr val="tx1">
                    <a:tint val="75000"/>
                  </a:schemeClr>
                </a:solidFill>
              </a:defRPr>
            </a:lvl2pPr>
            <a:lvl3pPr marL="461010" indent="0">
              <a:buNone/>
              <a:defRPr sz="910">
                <a:solidFill>
                  <a:schemeClr val="tx1">
                    <a:tint val="75000"/>
                  </a:schemeClr>
                </a:solidFill>
              </a:defRPr>
            </a:lvl3pPr>
            <a:lvl4pPr marL="691515" indent="0">
              <a:buNone/>
              <a:defRPr sz="805">
                <a:solidFill>
                  <a:schemeClr val="tx1">
                    <a:tint val="75000"/>
                  </a:schemeClr>
                </a:solidFill>
              </a:defRPr>
            </a:lvl4pPr>
            <a:lvl5pPr marL="922020" indent="0">
              <a:buNone/>
              <a:defRPr sz="805">
                <a:solidFill>
                  <a:schemeClr val="tx1">
                    <a:tint val="75000"/>
                  </a:schemeClr>
                </a:solidFill>
              </a:defRPr>
            </a:lvl5pPr>
            <a:lvl6pPr marL="1152525" indent="0">
              <a:buNone/>
              <a:defRPr sz="805">
                <a:solidFill>
                  <a:schemeClr val="tx1">
                    <a:tint val="75000"/>
                  </a:schemeClr>
                </a:solidFill>
              </a:defRPr>
            </a:lvl6pPr>
            <a:lvl7pPr marL="1383030" indent="0">
              <a:buNone/>
              <a:defRPr sz="805">
                <a:solidFill>
                  <a:schemeClr val="tx1">
                    <a:tint val="75000"/>
                  </a:schemeClr>
                </a:solidFill>
              </a:defRPr>
            </a:lvl7pPr>
            <a:lvl8pPr marL="1613535" indent="0">
              <a:buNone/>
              <a:defRPr sz="805">
                <a:solidFill>
                  <a:schemeClr val="tx1">
                    <a:tint val="75000"/>
                  </a:schemeClr>
                </a:solidFill>
              </a:defRPr>
            </a:lvl8pPr>
            <a:lvl9pPr marL="1844040" indent="0">
              <a:buNone/>
              <a:defRPr sz="805">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lvl1pPr>
              <a:defRPr/>
            </a:lvl1pPr>
          </a:lstStyle>
          <a:p>
            <a:pPr>
              <a:defRPr/>
            </a:pPr>
            <a:fld id="{84E2CD93-5C73-4564-9D5D-2BA1109C02B2}"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AEDC0A7-F598-4694-B7B2-077FFC1FB214}" type="slidenum">
              <a:rPr lang="zh-CN" altLang="en-US"/>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316944"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2333863"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FD61B8AF-C163-4629-AADE-0B407E4AD744}" type="datetime1">
              <a:rPr lang="zh-CN" altLang="en-US" smtClean="0"/>
              <a:t>2026/4/10</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D88AC015-5C64-4ACE-A962-588A0DF6AE76}" type="slidenum">
              <a:rPr lang="zh-CN" altLang="en-US"/>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17545" y="184254"/>
            <a:ext cx="3976211" cy="668918"/>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317545" y="848365"/>
            <a:ext cx="19502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编辑母版文本样式</a:t>
            </a:r>
          </a:p>
        </p:txBody>
      </p:sp>
      <p:sp>
        <p:nvSpPr>
          <p:cNvPr id="4" name="Content Placeholder 3"/>
          <p:cNvSpPr>
            <a:spLocks noGrp="1"/>
          </p:cNvSpPr>
          <p:nvPr>
            <p:ph sz="half" idx="2" hasCustomPrompt="1"/>
          </p:nvPr>
        </p:nvSpPr>
        <p:spPr>
          <a:xfrm>
            <a:off x="317545" y="1264135"/>
            <a:ext cx="1950288"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2333863" y="848365"/>
            <a:ext cx="19598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编辑母版文本样式</a:t>
            </a:r>
          </a:p>
        </p:txBody>
      </p:sp>
      <p:sp>
        <p:nvSpPr>
          <p:cNvPr id="6" name="Content Placeholder 5"/>
          <p:cNvSpPr>
            <a:spLocks noGrp="1"/>
          </p:cNvSpPr>
          <p:nvPr>
            <p:ph sz="quarter" idx="4" hasCustomPrompt="1"/>
          </p:nvPr>
        </p:nvSpPr>
        <p:spPr>
          <a:xfrm>
            <a:off x="2333863" y="1264135"/>
            <a:ext cx="1959893"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1D2CBBFE-F0A2-4DA6-A3D8-7555D963EE69}" type="datetime1">
              <a:rPr lang="zh-CN" altLang="en-US" smtClean="0"/>
              <a:t>2026/4/10</a:t>
            </a:fld>
            <a:endParaRPr lang="zh-CN" altLang="en-US"/>
          </a:p>
        </p:txBody>
      </p:sp>
      <p:sp>
        <p:nvSpPr>
          <p:cNvPr id="8"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9A4E9772-D260-4B6D-9762-C1ACB07CF1A4}" type="slidenum">
              <a:rPr lang="zh-CN" altLang="en-US"/>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889CF19F-E5C3-4817-9343-88CD27FBF3E0}" type="datetime1">
              <a:rPr lang="zh-CN" altLang="en-US" smtClean="0"/>
              <a:t>2026/4/10</a:t>
            </a:fld>
            <a:endParaRPr lang="zh-CN" altLang="en-US"/>
          </a:p>
        </p:txBody>
      </p:sp>
      <p:sp>
        <p:nvSpPr>
          <p:cNvPr id="4"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EC1AE1EE-FD52-4D68-B5DB-95147DAA2186}" type="slidenum">
              <a:rPr lang="zh-CN" altLang="en-US"/>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73F6EFB-730A-47E5-A5C2-4668C163DA6B}" type="datetime1">
              <a:rPr lang="zh-CN" altLang="en-US" smtClean="0"/>
              <a:t>2026/4/10</a:t>
            </a:fld>
            <a:endParaRPr lang="zh-CN" altLang="en-US"/>
          </a:p>
        </p:txBody>
      </p:sp>
      <p:sp>
        <p:nvSpPr>
          <p:cNvPr id="3"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C45A43E4-5C02-4FFA-9B9C-4EA269E3E4C1}" type="slidenum">
              <a:rPr lang="zh-CN" altLang="en-US"/>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5"/>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19598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317545" y="1038225"/>
            <a:ext cx="14868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5755972E-1A7F-4721-B0B2-9FE2CA01B53B}" type="datetime1">
              <a:rPr lang="zh-CN" altLang="en-US" smtClean="0"/>
              <a:t>2026/4/10</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F3CE963-05B5-426D-8DD8-55C8BCB1E553}" type="slidenum">
              <a:rPr lang="zh-CN" altLang="en-US"/>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5"/>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959893" y="498284"/>
            <a:ext cx="2333863" cy="2459376"/>
          </a:xfrm>
        </p:spPr>
        <p:txBody>
          <a:bodyPr rtlCol="0">
            <a:normAutofit/>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pPr lvl="0"/>
            <a:r>
              <a:rPr lang="zh-CN" altLang="en-US" noProof="0"/>
              <a:t>单击图标添加图片</a:t>
            </a:r>
            <a:endParaRPr lang="en-US" noProof="0" dirty="0"/>
          </a:p>
        </p:txBody>
      </p:sp>
      <p:sp>
        <p:nvSpPr>
          <p:cNvPr id="4" name="Text Placeholder 3"/>
          <p:cNvSpPr>
            <a:spLocks noGrp="1"/>
          </p:cNvSpPr>
          <p:nvPr>
            <p:ph type="body" sz="half" idx="2" hasCustomPrompt="1"/>
          </p:nvPr>
        </p:nvSpPr>
        <p:spPr>
          <a:xfrm>
            <a:off x="317545" y="1038225"/>
            <a:ext cx="14868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07A7919C-243A-418B-8F91-31D3F1F4EAE0}" type="datetime1">
              <a:rPr lang="zh-CN" altLang="en-US" smtClean="0"/>
              <a:t>2026/4/10</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37A9C5D-3E79-4A5E-9A50-FA793561A4F7}" type="slidenum">
              <a:rPr lang="zh-CN" altLang="en-US"/>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F4F6EC1-0C7F-4D60-BAFF-1151C51CB5E6}"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DFF417A-3AC2-4628-96D9-6511A09D2330}" type="slidenum">
              <a:rPr lang="zh-CN" altLang="en-US"/>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99103" y="184253"/>
            <a:ext cx="994053" cy="293282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316945" y="184253"/>
            <a:ext cx="2924532" cy="293282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E37F267-0B34-4A2A-BDDF-8CDCC5B69520}" type="datetime1">
              <a:rPr lang="zh-CN" altLang="en-US" smtClean="0"/>
              <a:t>2026/4/10</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ABD9B7A-ECF0-49BC-A2CC-180F72059867}"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3.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2" name="Holder 2"/>
          <p:cNvSpPr>
            <a:spLocks noGrp="1"/>
          </p:cNvSpPr>
          <p:nvPr>
            <p:ph type="title"/>
          </p:nvPr>
        </p:nvSpPr>
        <p:spPr>
          <a:xfrm>
            <a:off x="95502" y="244221"/>
            <a:ext cx="4419094" cy="184666"/>
          </a:xfrm>
          <a:prstGeom prst="rect">
            <a:avLst/>
          </a:prstGeom>
        </p:spPr>
        <p:txBody>
          <a:bodyPr wrap="square" lIns="0" tIns="0" rIns="0" bIns="0">
            <a:spAutoFit/>
          </a:bodyPr>
          <a:lstStyle>
            <a:lvl1pPr>
              <a:defRPr sz="1200" b="1" i="0">
                <a:solidFill>
                  <a:srgbClr val="CC0000"/>
                </a:solidFill>
                <a:latin typeface="Times New Roman" panose="02020503050405090304"/>
                <a:cs typeface="Times New Roman" panose="02020503050405090304"/>
              </a:defRPr>
            </a:lvl1pPr>
          </a:lstStyle>
          <a:p>
            <a:endParaRPr/>
          </a:p>
        </p:txBody>
      </p:sp>
      <p:sp>
        <p:nvSpPr>
          <p:cNvPr id="3" name="Holder 3"/>
          <p:cNvSpPr>
            <a:spLocks noGrp="1"/>
          </p:cNvSpPr>
          <p:nvPr>
            <p:ph type="body" idx="1"/>
          </p:nvPr>
        </p:nvSpPr>
        <p:spPr>
          <a:xfrm>
            <a:off x="124842" y="777113"/>
            <a:ext cx="4360415" cy="153888"/>
          </a:xfrm>
          <a:prstGeom prst="rect">
            <a:avLst/>
          </a:prstGeom>
        </p:spPr>
        <p:txBody>
          <a:bodyPr wrap="square" lIns="0" tIns="0" rIns="0" bIns="0">
            <a:spAutoFit/>
          </a:bodyPr>
          <a:lstStyle>
            <a:lvl1pPr>
              <a:defRPr sz="1000" b="0" i="0">
                <a:solidFill>
                  <a:schemeClr val="tx1"/>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a:xfrm>
            <a:off x="3724147" y="3347973"/>
            <a:ext cx="448945" cy="89768"/>
          </a:xfrm>
          <a:prstGeom prst="rect">
            <a:avLst/>
          </a:prstGeom>
        </p:spPr>
        <p:txBody>
          <a:bodyPr wrap="square" lIns="0" tIns="0" rIns="0" bIns="0">
            <a:spAutoFit/>
          </a:bodyPr>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a:t>
            </a:r>
            <a:r>
              <a:rPr lang="en-US" spc="-5" dirty="0"/>
              <a:t>23</a:t>
            </a:r>
            <a:r>
              <a:rPr spc="-5" dirty="0"/>
              <a:t>-</a:t>
            </a:r>
            <a:r>
              <a:rPr lang="en-US" spc="-5" dirty="0"/>
              <a:t>Feb</a:t>
            </a:r>
            <a:endParaRPr spc="-5" dirty="0"/>
          </a:p>
        </p:txBody>
      </p:sp>
      <p:sp>
        <p:nvSpPr>
          <p:cNvPr id="5" name="Holder 5"/>
          <p:cNvSpPr>
            <a:spLocks noGrp="1"/>
          </p:cNvSpPr>
          <p:nvPr>
            <p:ph type="dt" sz="half" idx="6"/>
          </p:nvPr>
        </p:nvSpPr>
        <p:spPr>
          <a:xfrm>
            <a:off x="1945010" y="3347973"/>
            <a:ext cx="603243" cy="89768"/>
          </a:xfrm>
          <a:prstGeom prst="rect">
            <a:avLst/>
          </a:prstGeom>
        </p:spPr>
        <p:txBody>
          <a:bodyPr wrap="square" lIns="0" tIns="0" rIns="0" bIns="0">
            <a:spAutoFit/>
          </a:bodyPr>
          <a:lstStyle>
            <a:lvl1pPr>
              <a:defRPr sz="600" b="0" i="0">
                <a:solidFill>
                  <a:srgbClr val="8E0000"/>
                </a:solidFill>
                <a:latin typeface="Times New Roman" panose="02020503050405090304"/>
                <a:cs typeface="Times New Roman" panose="02020503050405090304"/>
              </a:defRPr>
            </a:lvl1pPr>
          </a:lstStyle>
          <a:p>
            <a:pPr marL="12700" algn="ctr">
              <a:lnSpc>
                <a:spcPts val="700"/>
              </a:lnSpc>
            </a:pPr>
            <a:r>
              <a:rPr lang="en-US" altLang="zh-CN" spc="-5" dirty="0"/>
              <a:t>Macroeconomics</a:t>
            </a:r>
            <a:endParaRPr lang="en-US" spc="-5" dirty="0"/>
          </a:p>
        </p:txBody>
      </p:sp>
      <p:sp>
        <p:nvSpPr>
          <p:cNvPr id="6" name="Holder 6"/>
          <p:cNvSpPr>
            <a:spLocks noGrp="1"/>
          </p:cNvSpPr>
          <p:nvPr>
            <p:ph type="sldNum" sz="quarter" idx="7"/>
          </p:nvPr>
        </p:nvSpPr>
        <p:spPr>
          <a:xfrm>
            <a:off x="4302761" y="3347973"/>
            <a:ext cx="250189" cy="101600"/>
          </a:xfrm>
          <a:prstGeom prst="rect">
            <a:avLst/>
          </a:prstGeom>
        </p:spPr>
        <p:txBody>
          <a:bodyPr wrap="square" lIns="0" tIns="0" rIns="0" bIns="0">
            <a:spAutoFit/>
          </a:bodyPr>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eaLnBrk="1" hangingPunct="1">
        <a:defRPr>
          <a:latin typeface="Garamond" panose="02020404030301010803" pitchFamily="18" charset="0"/>
          <a:ea typeface="宋体" pitchFamily="2" charset="-122"/>
          <a:cs typeface="+mj-cs"/>
        </a:defRPr>
      </a:lvl1pPr>
    </p:titleStyle>
    <p:bodyStyle>
      <a:lvl1pPr marL="0" eaLnBrk="1" hangingPunct="1">
        <a:defRPr>
          <a:latin typeface="Garamond" panose="02020404030301010803" pitchFamily="18" charset="0"/>
          <a:ea typeface="宋体" pitchFamily="2" charset="-122"/>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endParaRPr lang="zh-CN" altLang="en-US"/>
          </a:p>
        </p:txBody>
      </p:sp>
      <p:sp>
        <p:nvSpPr>
          <p:cNvPr id="1027" name="Rectangle 3"/>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i="1">
                <a:solidFill>
                  <a:srgbClr val="777777"/>
                </a:solidFill>
                <a:ea typeface="宋体" pitchFamily="2" charset="-122"/>
              </a:defRPr>
            </a:lvl1pPr>
          </a:lstStyle>
          <a:p>
            <a:r>
              <a:rPr lang="zh-CN" altLang="zh-CN"/>
              <a:t>一国收入的衡量</a:t>
            </a:r>
          </a:p>
        </p:txBody>
      </p:sp>
      <p:sp>
        <p:nvSpPr>
          <p:cNvPr id="1029" name="Rectangle 5"/>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855">
                <a:solidFill>
                  <a:srgbClr val="777777"/>
                </a:solidFill>
                <a:ea typeface="宋体" pitchFamily="2" charset="-122"/>
              </a:defRPr>
            </a:lvl1pPr>
          </a:lstStyle>
          <a:p>
            <a:fld id="{F133D32A-41AB-3244-B29B-0A71F7EBCF2E}" type="slidenum">
              <a:rPr lang="zh-CN" altLang="zh-CN"/>
              <a:t>‹#›</a:t>
            </a:fld>
            <a:endParaRPr lang="en-US" altLang="zh-CN"/>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p:titleStyle>
    <p:bodyStyle>
      <a:lvl1pPr marL="172720" indent="-172720" algn="l" rtl="0" fontAlgn="base">
        <a:lnSpc>
          <a:spcPct val="105000"/>
        </a:lnSpc>
        <a:spcBef>
          <a:spcPct val="45000"/>
        </a:spcBef>
        <a:spcAft>
          <a:spcPct val="0"/>
        </a:spcAft>
        <a:buClr>
          <a:srgbClr val="339966"/>
        </a:buClr>
        <a:buSzPct val="120000"/>
        <a:buFont typeface="Wingdings" panose="05000000000000000000" pitchFamily="2" charset="2"/>
        <a:buChar char="§"/>
        <a:defRPr sz="1410" kern="1200">
          <a:solidFill>
            <a:schemeClr val="tx1"/>
          </a:solidFill>
          <a:latin typeface="+mn-lt"/>
          <a:ea typeface="+mn-ea"/>
          <a:cs typeface="+mn-cs"/>
        </a:defRPr>
      </a:lvl1pPr>
      <a:lvl2pPr marL="374650" indent="-144145" algn="l" rtl="0" fontAlgn="base">
        <a:spcBef>
          <a:spcPct val="15000"/>
        </a:spcBef>
        <a:spcAft>
          <a:spcPct val="0"/>
        </a:spcAft>
        <a:buClr>
          <a:srgbClr val="996633"/>
        </a:buClr>
        <a:buSzPct val="120000"/>
        <a:buFont typeface="Wingdings" panose="05000000000000000000" pitchFamily="2" charset="2"/>
        <a:buChar char="§"/>
        <a:defRPr sz="1360" kern="1200">
          <a:solidFill>
            <a:schemeClr val="tx1"/>
          </a:solidFill>
          <a:latin typeface="+mn-lt"/>
          <a:ea typeface="+mn-ea"/>
          <a:cs typeface="+mn-cs"/>
        </a:defRPr>
      </a:lvl2pPr>
      <a:lvl3pPr marL="576580" indent="-115570" algn="l" rtl="0" fontAlgn="base">
        <a:spcBef>
          <a:spcPct val="15000"/>
        </a:spcBef>
        <a:spcAft>
          <a:spcPct val="0"/>
        </a:spcAft>
        <a:buClr>
          <a:srgbClr val="339966"/>
        </a:buClr>
        <a:buSzPct val="120000"/>
        <a:buFont typeface="Wingdings" panose="05000000000000000000" pitchFamily="2" charset="2"/>
        <a:buChar char="§"/>
        <a:defRPr sz="1260" kern="1200">
          <a:solidFill>
            <a:schemeClr val="tx1"/>
          </a:solidFill>
          <a:latin typeface="+mn-lt"/>
          <a:ea typeface="+mn-ea"/>
          <a:cs typeface="+mn-cs"/>
        </a:defRPr>
      </a:lvl3pPr>
      <a:lvl4pPr marL="807085" indent="-115570" algn="l" rtl="0" fontAlgn="base">
        <a:spcBef>
          <a:spcPct val="15000"/>
        </a:spcBef>
        <a:spcAft>
          <a:spcPct val="0"/>
        </a:spcAft>
        <a:buChar char="–"/>
        <a:defRPr sz="1010" kern="1200">
          <a:solidFill>
            <a:schemeClr val="tx1"/>
          </a:solidFill>
          <a:latin typeface="+mn-lt"/>
          <a:ea typeface="+mn-ea"/>
          <a:cs typeface="+mn-cs"/>
        </a:defRPr>
      </a:lvl4pPr>
      <a:lvl5pPr marL="1037590" indent="-115570" algn="l" rtl="0" fontAlgn="base">
        <a:spcBef>
          <a:spcPct val="20000"/>
        </a:spcBef>
        <a:spcAft>
          <a:spcPct val="0"/>
        </a:spcAft>
        <a:buChar char="»"/>
        <a:defRPr sz="1010"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zh-CN"/>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16945" y="184253"/>
            <a:ext cx="3976211" cy="668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Text Placeholder 2"/>
          <p:cNvSpPr>
            <a:spLocks noGrp="1"/>
          </p:cNvSpPr>
          <p:nvPr>
            <p:ph type="body" idx="1"/>
          </p:nvPr>
        </p:nvSpPr>
        <p:spPr bwMode="auto">
          <a:xfrm>
            <a:off x="316945" y="921265"/>
            <a:ext cx="3976211" cy="219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Date Placeholder 3"/>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eaLnBrk="1" fontAlgn="auto" hangingPunct="1">
              <a:spcBef>
                <a:spcPts val="0"/>
              </a:spcBef>
              <a:spcAft>
                <a:spcPts val="0"/>
              </a:spcAft>
              <a:defRPr sz="605">
                <a:solidFill>
                  <a:schemeClr val="tx1">
                    <a:tint val="75000"/>
                  </a:schemeClr>
                </a:solidFill>
                <a:latin typeface="+mn-lt"/>
              </a:defRPr>
            </a:lvl1pPr>
          </a:lstStyle>
          <a:p>
            <a:pPr>
              <a:defRPr/>
            </a:pPr>
            <a:fld id="{EADDBFC5-59A4-4385-98C8-23964CB32517}" type="datetime1">
              <a:rPr lang="zh-CN" altLang="en-US" smtClean="0"/>
              <a:t>2026/4/10</a:t>
            </a:fld>
            <a:endParaRPr lang="zh-CN" altLang="en-US"/>
          </a:p>
        </p:txBody>
      </p:sp>
      <p:sp>
        <p:nvSpPr>
          <p:cNvPr id="5" name="Footer Placeholder 4"/>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eaLnBrk="1" fontAlgn="auto" hangingPunct="1">
              <a:spcBef>
                <a:spcPts val="0"/>
              </a:spcBef>
              <a:spcAft>
                <a:spcPts val="0"/>
              </a:spcAft>
              <a:defRPr sz="605">
                <a:solidFill>
                  <a:schemeClr val="tx1">
                    <a:tint val="75000"/>
                  </a:schemeClr>
                </a:solidFill>
                <a:latin typeface="+mn-lt"/>
              </a:defRPr>
            </a:lvl1pPr>
          </a:lstStyle>
          <a:p>
            <a:pPr>
              <a:defRPr/>
            </a:pPr>
            <a:endParaRPr lang="zh-CN" altLang="en-US"/>
          </a:p>
        </p:txBody>
      </p:sp>
      <p:sp>
        <p:nvSpPr>
          <p:cNvPr id="6" name="Slide Number Placeholder 5"/>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eaLnBrk="1" fontAlgn="auto" hangingPunct="1">
              <a:spcBef>
                <a:spcPts val="0"/>
              </a:spcBef>
              <a:spcAft>
                <a:spcPts val="0"/>
              </a:spcAft>
              <a:defRPr sz="605">
                <a:solidFill>
                  <a:schemeClr val="tx1">
                    <a:tint val="75000"/>
                  </a:schemeClr>
                </a:solidFill>
                <a:latin typeface="+mn-lt"/>
              </a:defRPr>
            </a:lvl1pPr>
          </a:lstStyle>
          <a:p>
            <a:pPr>
              <a:defRPr/>
            </a:pPr>
            <a:fld id="{A998689A-74B8-4B27-BFD6-2B1D6C2F642A}"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hdr="0" ftr="0"/>
  <p:txStyles>
    <p:titleStyle>
      <a:lvl1pPr algn="l" rtl="0" eaLnBrk="0" fontAlgn="base" hangingPunct="0">
        <a:lnSpc>
          <a:spcPct val="90000"/>
        </a:lnSpc>
        <a:spcBef>
          <a:spcPct val="0"/>
        </a:spcBef>
        <a:spcAft>
          <a:spcPct val="0"/>
        </a:spcAft>
        <a:defRPr sz="2220" b="0" kern="1200" cap="none" spc="0">
          <a:ln w="0"/>
          <a:solidFill>
            <a:schemeClr val="accent1"/>
          </a:solidFill>
          <a:effectLst>
            <a:outerShdw blurRad="38100" dist="25400" dir="5400000" algn="ctr" rotWithShape="0">
              <a:srgbClr val="6E747A">
                <a:alpha val="43000"/>
              </a:srgbClr>
            </a:outerShdw>
          </a:effectLst>
          <a:latin typeface="+mj-lt"/>
          <a:ea typeface="+mj-ea"/>
          <a:cs typeface="+mj-cs"/>
        </a:defRPr>
      </a:lvl1pPr>
      <a:lvl2pPr algn="l" rtl="0" eaLnBrk="0" fontAlgn="base" hangingPunct="0">
        <a:lnSpc>
          <a:spcPct val="90000"/>
        </a:lnSpc>
        <a:spcBef>
          <a:spcPct val="0"/>
        </a:spcBef>
        <a:spcAft>
          <a:spcPct val="0"/>
        </a:spcAft>
        <a:defRPr sz="222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222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222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2220">
          <a:solidFill>
            <a:schemeClr val="tx1"/>
          </a:solidFill>
          <a:latin typeface="Calibri Light" panose="020F0302020204030204" pitchFamily="34" charset="0"/>
        </a:defRPr>
      </a:lvl5pPr>
      <a:lvl6pPr marL="230505" algn="l" rtl="0" fontAlgn="base">
        <a:lnSpc>
          <a:spcPct val="90000"/>
        </a:lnSpc>
        <a:spcBef>
          <a:spcPct val="0"/>
        </a:spcBef>
        <a:spcAft>
          <a:spcPct val="0"/>
        </a:spcAft>
        <a:defRPr sz="2220">
          <a:solidFill>
            <a:schemeClr val="tx1"/>
          </a:solidFill>
          <a:latin typeface="Calibri Light" panose="020F0302020204030204" pitchFamily="34" charset="0"/>
        </a:defRPr>
      </a:lvl6pPr>
      <a:lvl7pPr marL="461010" algn="l" rtl="0" fontAlgn="base">
        <a:lnSpc>
          <a:spcPct val="90000"/>
        </a:lnSpc>
        <a:spcBef>
          <a:spcPct val="0"/>
        </a:spcBef>
        <a:spcAft>
          <a:spcPct val="0"/>
        </a:spcAft>
        <a:defRPr sz="2220">
          <a:solidFill>
            <a:schemeClr val="tx1"/>
          </a:solidFill>
          <a:latin typeface="Calibri Light" panose="020F0302020204030204" pitchFamily="34" charset="0"/>
        </a:defRPr>
      </a:lvl7pPr>
      <a:lvl8pPr marL="691515" algn="l" rtl="0" fontAlgn="base">
        <a:lnSpc>
          <a:spcPct val="90000"/>
        </a:lnSpc>
        <a:spcBef>
          <a:spcPct val="0"/>
        </a:spcBef>
        <a:spcAft>
          <a:spcPct val="0"/>
        </a:spcAft>
        <a:defRPr sz="2220">
          <a:solidFill>
            <a:schemeClr val="tx1"/>
          </a:solidFill>
          <a:latin typeface="Calibri Light" panose="020F0302020204030204" pitchFamily="34" charset="0"/>
        </a:defRPr>
      </a:lvl8pPr>
      <a:lvl9pPr marL="922020" algn="l" rtl="0" fontAlgn="base">
        <a:lnSpc>
          <a:spcPct val="90000"/>
        </a:lnSpc>
        <a:spcBef>
          <a:spcPct val="0"/>
        </a:spcBef>
        <a:spcAft>
          <a:spcPct val="0"/>
        </a:spcAft>
        <a:defRPr sz="2220">
          <a:solidFill>
            <a:schemeClr val="tx1"/>
          </a:solidFill>
          <a:latin typeface="Calibri Light" panose="020F0302020204030204" pitchFamily="34" charset="0"/>
        </a:defRPr>
      </a:lvl9pPr>
    </p:titleStyle>
    <p:bodyStyle>
      <a:lvl1pPr marL="115570" indent="-115570" algn="l" rtl="0" eaLnBrk="0" fontAlgn="base" hangingPunct="0">
        <a:lnSpc>
          <a:spcPct val="90000"/>
        </a:lnSpc>
        <a:spcBef>
          <a:spcPts val="505"/>
        </a:spcBef>
        <a:spcAft>
          <a:spcPct val="0"/>
        </a:spcAft>
        <a:buFont typeface="Arial" panose="020B0604020202090204" pitchFamily="34" charset="0"/>
        <a:buChar char="•"/>
        <a:defRPr sz="1410" kern="1200">
          <a:solidFill>
            <a:schemeClr val="tx1"/>
          </a:solidFill>
          <a:latin typeface="微软雅黑 Light" panose="020B0502040204020203" pitchFamily="34" charset="-122"/>
          <a:ea typeface="微软雅黑 Light" panose="020B0502040204020203" pitchFamily="34" charset="-122"/>
          <a:cs typeface="+mn-cs"/>
        </a:defRPr>
      </a:lvl1pPr>
      <a:lvl2pPr marL="346075" indent="-115570" algn="l" rtl="0" eaLnBrk="0" fontAlgn="base" hangingPunct="0">
        <a:lnSpc>
          <a:spcPct val="90000"/>
        </a:lnSpc>
        <a:spcBef>
          <a:spcPts val="250"/>
        </a:spcBef>
        <a:spcAft>
          <a:spcPct val="0"/>
        </a:spcAft>
        <a:buFont typeface="Arial" panose="020B0604020202090204" pitchFamily="34" charset="0"/>
        <a:buChar char="•"/>
        <a:defRPr sz="1210" kern="1200">
          <a:solidFill>
            <a:schemeClr val="tx1"/>
          </a:solidFill>
          <a:latin typeface="微软雅黑 Light" panose="020B0502040204020203" pitchFamily="34" charset="-122"/>
          <a:ea typeface="微软雅黑 Light" panose="020B0502040204020203" pitchFamily="34" charset="-122"/>
          <a:cs typeface="+mn-cs"/>
        </a:defRPr>
      </a:lvl2pPr>
      <a:lvl3pPr marL="576580" indent="-115570" algn="l" rtl="0" eaLnBrk="0" fontAlgn="base" hangingPunct="0">
        <a:lnSpc>
          <a:spcPct val="90000"/>
        </a:lnSpc>
        <a:spcBef>
          <a:spcPts val="250"/>
        </a:spcBef>
        <a:spcAft>
          <a:spcPct val="0"/>
        </a:spcAft>
        <a:buFont typeface="Arial" panose="020B0604020202090204" pitchFamily="34" charset="0"/>
        <a:buChar char="•"/>
        <a:defRPr sz="1010" kern="1200">
          <a:solidFill>
            <a:schemeClr val="tx1"/>
          </a:solidFill>
          <a:latin typeface="微软雅黑 Light" panose="020B0502040204020203" pitchFamily="34" charset="-122"/>
          <a:ea typeface="微软雅黑 Light" panose="020B0502040204020203" pitchFamily="34" charset="-122"/>
          <a:cs typeface="+mn-cs"/>
        </a:defRPr>
      </a:lvl3pPr>
      <a:lvl4pPr marL="807085" indent="-115570" algn="l" rtl="0" eaLnBrk="0" fontAlgn="base" hangingPunct="0">
        <a:lnSpc>
          <a:spcPct val="90000"/>
        </a:lnSpc>
        <a:spcBef>
          <a:spcPts val="250"/>
        </a:spcBef>
        <a:spcAft>
          <a:spcPct val="0"/>
        </a:spcAft>
        <a:buFont typeface="Arial" panose="020B0604020202090204" pitchFamily="34" charset="0"/>
        <a:buChar char="•"/>
        <a:defRPr kern="1200">
          <a:solidFill>
            <a:schemeClr val="tx1"/>
          </a:solidFill>
          <a:latin typeface="微软雅黑 Light" panose="020B0502040204020203" pitchFamily="34" charset="-122"/>
          <a:ea typeface="微软雅黑 Light" panose="020B0502040204020203" pitchFamily="34" charset="-122"/>
          <a:cs typeface="+mn-cs"/>
        </a:defRPr>
      </a:lvl4pPr>
      <a:lvl5pPr marL="1037590" indent="-115570" algn="l" rtl="0" eaLnBrk="0" fontAlgn="base" hangingPunct="0">
        <a:lnSpc>
          <a:spcPct val="90000"/>
        </a:lnSpc>
        <a:spcBef>
          <a:spcPts val="250"/>
        </a:spcBef>
        <a:spcAft>
          <a:spcPct val="0"/>
        </a:spcAft>
        <a:buFont typeface="Arial" panose="020B0604020202090204" pitchFamily="34" charset="0"/>
        <a:buChar char="•"/>
        <a:defRPr kern="1200">
          <a:solidFill>
            <a:schemeClr val="tx1"/>
          </a:solidFill>
          <a:latin typeface="微软雅黑 Light" panose="020B0502040204020203" pitchFamily="34" charset="-122"/>
          <a:ea typeface="微软雅黑 Light" panose="020B0502040204020203" pitchFamily="34" charset="-122"/>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en-US"/>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16945" y="184253"/>
            <a:ext cx="3976211" cy="668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Text Placeholder 2"/>
          <p:cNvSpPr>
            <a:spLocks noGrp="1"/>
          </p:cNvSpPr>
          <p:nvPr>
            <p:ph type="body" idx="1"/>
          </p:nvPr>
        </p:nvSpPr>
        <p:spPr bwMode="auto">
          <a:xfrm>
            <a:off x="316945" y="921265"/>
            <a:ext cx="3976211" cy="219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eaLnBrk="1" fontAlgn="auto" hangingPunct="1">
              <a:spcBef>
                <a:spcPts val="0"/>
              </a:spcBef>
              <a:spcAft>
                <a:spcPts val="0"/>
              </a:spcAft>
              <a:defRPr sz="605">
                <a:solidFill>
                  <a:schemeClr val="tx1">
                    <a:tint val="75000"/>
                  </a:schemeClr>
                </a:solidFill>
                <a:latin typeface="+mn-lt"/>
              </a:defRPr>
            </a:lvl1pPr>
          </a:lstStyle>
          <a:p>
            <a:pPr>
              <a:defRPr/>
            </a:pPr>
            <a:fld id="{5DDF8B5E-781A-40CC-9EC9-5F86CF8F000F}" type="datetime1">
              <a:rPr lang="zh-CN" altLang="en-US" smtClean="0"/>
              <a:t>2026/4/10</a:t>
            </a:fld>
            <a:endParaRPr lang="zh-CN" altLang="en-US"/>
          </a:p>
        </p:txBody>
      </p:sp>
      <p:sp>
        <p:nvSpPr>
          <p:cNvPr id="5" name="Footer Placeholder 4"/>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eaLnBrk="1" fontAlgn="auto" hangingPunct="1">
              <a:spcBef>
                <a:spcPts val="0"/>
              </a:spcBef>
              <a:spcAft>
                <a:spcPts val="0"/>
              </a:spcAft>
              <a:defRPr sz="605">
                <a:solidFill>
                  <a:schemeClr val="tx1">
                    <a:tint val="75000"/>
                  </a:schemeClr>
                </a:solidFill>
                <a:latin typeface="+mn-lt"/>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eaLnBrk="1" fontAlgn="auto" hangingPunct="1">
              <a:spcBef>
                <a:spcPts val="0"/>
              </a:spcBef>
              <a:spcAft>
                <a:spcPts val="0"/>
              </a:spcAft>
              <a:defRPr sz="605">
                <a:solidFill>
                  <a:schemeClr val="tx1">
                    <a:tint val="75000"/>
                  </a:schemeClr>
                </a:solidFill>
                <a:latin typeface="+mn-lt"/>
              </a:defRPr>
            </a:lvl1pPr>
          </a:lstStyle>
          <a:p>
            <a:pPr>
              <a:defRPr/>
            </a:pPr>
            <a:fld id="{A998689A-74B8-4B27-BFD6-2B1D6C2F642A}"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hf hdr="0"/>
  <p:txStyles>
    <p:titleStyle>
      <a:lvl1pPr algn="l" rtl="0" eaLnBrk="0" fontAlgn="base" hangingPunct="0">
        <a:lnSpc>
          <a:spcPct val="90000"/>
        </a:lnSpc>
        <a:spcBef>
          <a:spcPct val="0"/>
        </a:spcBef>
        <a:spcAft>
          <a:spcPct val="0"/>
        </a:spcAft>
        <a:defRPr sz="2220" b="0" kern="1200" cap="none" spc="0">
          <a:ln w="0"/>
          <a:solidFill>
            <a:schemeClr val="accent1"/>
          </a:solidFill>
          <a:effectLst>
            <a:outerShdw blurRad="38100" dist="25400" dir="5400000" algn="ctr" rotWithShape="0">
              <a:srgbClr val="6E747A">
                <a:alpha val="43000"/>
              </a:srgbClr>
            </a:outerShdw>
          </a:effectLst>
          <a:latin typeface="+mj-lt"/>
          <a:ea typeface="+mj-ea"/>
          <a:cs typeface="+mj-cs"/>
        </a:defRPr>
      </a:lvl1pPr>
      <a:lvl2pPr algn="l" rtl="0" eaLnBrk="0" fontAlgn="base" hangingPunct="0">
        <a:lnSpc>
          <a:spcPct val="90000"/>
        </a:lnSpc>
        <a:spcBef>
          <a:spcPct val="0"/>
        </a:spcBef>
        <a:spcAft>
          <a:spcPct val="0"/>
        </a:spcAft>
        <a:defRPr sz="222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222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222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2220">
          <a:solidFill>
            <a:schemeClr val="tx1"/>
          </a:solidFill>
          <a:latin typeface="Calibri Light" panose="020F0302020204030204" pitchFamily="34" charset="0"/>
        </a:defRPr>
      </a:lvl5pPr>
      <a:lvl6pPr marL="230505" algn="l" rtl="0" fontAlgn="base">
        <a:lnSpc>
          <a:spcPct val="90000"/>
        </a:lnSpc>
        <a:spcBef>
          <a:spcPct val="0"/>
        </a:spcBef>
        <a:spcAft>
          <a:spcPct val="0"/>
        </a:spcAft>
        <a:defRPr sz="2220">
          <a:solidFill>
            <a:schemeClr val="tx1"/>
          </a:solidFill>
          <a:latin typeface="Calibri Light" panose="020F0302020204030204" pitchFamily="34" charset="0"/>
        </a:defRPr>
      </a:lvl6pPr>
      <a:lvl7pPr marL="461010" algn="l" rtl="0" fontAlgn="base">
        <a:lnSpc>
          <a:spcPct val="90000"/>
        </a:lnSpc>
        <a:spcBef>
          <a:spcPct val="0"/>
        </a:spcBef>
        <a:spcAft>
          <a:spcPct val="0"/>
        </a:spcAft>
        <a:defRPr sz="2220">
          <a:solidFill>
            <a:schemeClr val="tx1"/>
          </a:solidFill>
          <a:latin typeface="Calibri Light" panose="020F0302020204030204" pitchFamily="34" charset="0"/>
        </a:defRPr>
      </a:lvl7pPr>
      <a:lvl8pPr marL="691515" algn="l" rtl="0" fontAlgn="base">
        <a:lnSpc>
          <a:spcPct val="90000"/>
        </a:lnSpc>
        <a:spcBef>
          <a:spcPct val="0"/>
        </a:spcBef>
        <a:spcAft>
          <a:spcPct val="0"/>
        </a:spcAft>
        <a:defRPr sz="2220">
          <a:solidFill>
            <a:schemeClr val="tx1"/>
          </a:solidFill>
          <a:latin typeface="Calibri Light" panose="020F0302020204030204" pitchFamily="34" charset="0"/>
        </a:defRPr>
      </a:lvl8pPr>
      <a:lvl9pPr marL="922020" algn="l" rtl="0" fontAlgn="base">
        <a:lnSpc>
          <a:spcPct val="90000"/>
        </a:lnSpc>
        <a:spcBef>
          <a:spcPct val="0"/>
        </a:spcBef>
        <a:spcAft>
          <a:spcPct val="0"/>
        </a:spcAft>
        <a:defRPr sz="2220">
          <a:solidFill>
            <a:schemeClr val="tx1"/>
          </a:solidFill>
          <a:latin typeface="Calibri Light" panose="020F0302020204030204" pitchFamily="34" charset="0"/>
        </a:defRPr>
      </a:lvl9pPr>
    </p:titleStyle>
    <p:bodyStyle>
      <a:lvl1pPr marL="115570" indent="-115570" algn="l" rtl="0" eaLnBrk="0" fontAlgn="base" hangingPunct="0">
        <a:lnSpc>
          <a:spcPct val="90000"/>
        </a:lnSpc>
        <a:spcBef>
          <a:spcPts val="505"/>
        </a:spcBef>
        <a:spcAft>
          <a:spcPct val="0"/>
        </a:spcAft>
        <a:buFont typeface="Arial" panose="020B0604020202090204" pitchFamily="34" charset="0"/>
        <a:buChar char="•"/>
        <a:defRPr sz="1410" kern="1200">
          <a:solidFill>
            <a:schemeClr val="tx1"/>
          </a:solidFill>
          <a:latin typeface="+mn-lt"/>
          <a:ea typeface="+mn-ea"/>
          <a:cs typeface="+mn-cs"/>
        </a:defRPr>
      </a:lvl1pPr>
      <a:lvl2pPr marL="346075" indent="-115570" algn="l" rtl="0" eaLnBrk="0" fontAlgn="base" hangingPunct="0">
        <a:lnSpc>
          <a:spcPct val="90000"/>
        </a:lnSpc>
        <a:spcBef>
          <a:spcPts val="250"/>
        </a:spcBef>
        <a:spcAft>
          <a:spcPct val="0"/>
        </a:spcAft>
        <a:buFont typeface="Arial" panose="020B0604020202090204" pitchFamily="34" charset="0"/>
        <a:buChar char="•"/>
        <a:defRPr sz="1210" kern="1200">
          <a:solidFill>
            <a:schemeClr val="tx1"/>
          </a:solidFill>
          <a:latin typeface="+mn-lt"/>
          <a:ea typeface="+mn-ea"/>
          <a:cs typeface="+mn-cs"/>
        </a:defRPr>
      </a:lvl2pPr>
      <a:lvl3pPr marL="576580" indent="-115570" algn="l" rtl="0" eaLnBrk="0" fontAlgn="base" hangingPunct="0">
        <a:lnSpc>
          <a:spcPct val="90000"/>
        </a:lnSpc>
        <a:spcBef>
          <a:spcPts val="250"/>
        </a:spcBef>
        <a:spcAft>
          <a:spcPct val="0"/>
        </a:spcAft>
        <a:buFont typeface="Arial" panose="020B0604020202090204" pitchFamily="34" charset="0"/>
        <a:buChar char="•"/>
        <a:defRPr sz="1010" kern="1200">
          <a:solidFill>
            <a:schemeClr val="tx1"/>
          </a:solidFill>
          <a:latin typeface="+mn-lt"/>
          <a:ea typeface="+mn-ea"/>
          <a:cs typeface="+mn-cs"/>
        </a:defRPr>
      </a:lvl3pPr>
      <a:lvl4pPr marL="807085" indent="-115570" algn="l" rtl="0" eaLnBrk="0" fontAlgn="base" hangingPunct="0">
        <a:lnSpc>
          <a:spcPct val="90000"/>
        </a:lnSpc>
        <a:spcBef>
          <a:spcPts val="250"/>
        </a:spcBef>
        <a:spcAft>
          <a:spcPct val="0"/>
        </a:spcAft>
        <a:buFont typeface="Arial" panose="020B0604020202090204" pitchFamily="34" charset="0"/>
        <a:buChar char="•"/>
        <a:defRPr kern="1200">
          <a:solidFill>
            <a:schemeClr val="tx1"/>
          </a:solidFill>
          <a:latin typeface="+mn-lt"/>
          <a:ea typeface="+mn-ea"/>
          <a:cs typeface="+mn-cs"/>
        </a:defRPr>
      </a:lvl4pPr>
      <a:lvl5pPr marL="1037590" indent="-115570" algn="l" rtl="0" eaLnBrk="0" fontAlgn="base" hangingPunct="0">
        <a:lnSpc>
          <a:spcPct val="90000"/>
        </a:lnSpc>
        <a:spcBef>
          <a:spcPts val="250"/>
        </a:spcBef>
        <a:spcAft>
          <a:spcPct val="0"/>
        </a:spcAft>
        <a:buFont typeface="Arial" panose="020B0604020202090204" pitchFamily="34" charset="0"/>
        <a:buChar char="•"/>
        <a:defRPr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en-US"/>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mailto:yangzhiqing@hust.edu.cn"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hyperlink" Target="https://b23.tv/LUcdhIS" TargetMode="External"/><Relationship Id="rId2" Type="http://schemas.openxmlformats.org/officeDocument/2006/relationships/hyperlink" Target="https://b23.tv/qQ4EvcK" TargetMode="Externa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3" name="object 3"/>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6" name="object 6"/>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8" name="object 8"/>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9" name="object 9"/>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10" name="object 10"/>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1" name="object 11"/>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18" name="object 18"/>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9" name="object 19"/>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1" name="object 21"/>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5" name="object 25"/>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26" name="object 26"/>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27" name="object 27"/>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8" name="object 28"/>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panose="02020503050405090304"/>
                <a:cs typeface="Times New Roman" panose="02020503050405090304"/>
              </a:rPr>
              <a:t>Macroeconomics</a:t>
            </a:r>
            <a:endParaRPr sz="1400" baseline="28000" dirty="0">
              <a:latin typeface="Times New Roman" panose="02020503050405090304"/>
              <a:cs typeface="Times New Roman" panose="02020503050405090304"/>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panose="02020503050405090304"/>
                <a:cs typeface="Times New Roman" panose="02020503050405090304"/>
              </a:rPr>
              <a:t>  </a:t>
            </a:r>
            <a:endParaRPr sz="100">
              <a:latin typeface="Times New Roman" panose="02020503050405090304"/>
              <a:cs typeface="Times New Roman" panose="02020503050405090304"/>
            </a:endParaRPr>
          </a:p>
        </p:txBody>
      </p:sp>
      <p:sp>
        <p:nvSpPr>
          <p:cNvPr id="94" name="object 94"/>
          <p:cNvSpPr txBox="1"/>
          <p:nvPr/>
        </p:nvSpPr>
        <p:spPr>
          <a:xfrm>
            <a:off x="1552769" y="1594153"/>
            <a:ext cx="1589023" cy="676910"/>
          </a:xfrm>
          <a:prstGeom prst="rect">
            <a:avLst/>
          </a:prstGeom>
        </p:spPr>
        <p:txBody>
          <a:bodyPr vert="horz" wrap="square" lIns="0" tIns="0" rIns="0" bIns="0" rtlCol="0">
            <a:spAutoFit/>
          </a:bodyPr>
          <a:lstStyle/>
          <a:p>
            <a:pPr marL="635" algn="ctr"/>
            <a:r>
              <a:rPr lang="en-US" sz="1400" spc="-15" dirty="0" err="1">
                <a:latin typeface="KaiTi" panose="02010609060101010101" pitchFamily="49" charset="-122"/>
                <a:ea typeface="KaiTi" panose="02010609060101010101" pitchFamily="49" charset="-122"/>
                <a:cs typeface="Times New Roman" panose="02020503050405090304"/>
              </a:rPr>
              <a:t>杨芷晴</a:t>
            </a:r>
            <a:endParaRPr sz="1000" dirty="0">
              <a:latin typeface="Times New Roman" panose="02020503050405090304"/>
              <a:cs typeface="Times New Roman" panose="02020503050405090304"/>
            </a:endParaRPr>
          </a:p>
          <a:p>
            <a:pPr algn="ctr">
              <a:lnSpc>
                <a:spcPct val="150000"/>
              </a:lnSpc>
            </a:pPr>
            <a:r>
              <a:rPr lang="en-US" altLang="zh-CN" sz="1000" spc="-10" dirty="0">
                <a:latin typeface="Times New Roman" panose="02020503050405090304"/>
                <a:cs typeface="Times New Roman" panose="02020503050405090304"/>
                <a:hlinkClick r:id="rId5"/>
              </a:rPr>
              <a:t>yangzhiqing</a:t>
            </a:r>
            <a:r>
              <a:rPr sz="1000" spc="-10" dirty="0">
                <a:latin typeface="Times New Roman" panose="02020503050405090304"/>
                <a:cs typeface="Times New Roman" panose="02020503050405090304"/>
                <a:hlinkClick r:id="rId5"/>
              </a:rPr>
              <a:t>@</a:t>
            </a:r>
            <a:r>
              <a:rPr lang="en-US" sz="1000" spc="-10" dirty="0">
                <a:latin typeface="Times New Roman" panose="02020503050405090304"/>
                <a:cs typeface="Times New Roman" panose="02020503050405090304"/>
                <a:hlinkClick r:id="rId5"/>
              </a:rPr>
              <a:t>hust</a:t>
            </a:r>
            <a:r>
              <a:rPr sz="1000" spc="-10" dirty="0">
                <a:latin typeface="Times New Roman" panose="02020503050405090304"/>
                <a:cs typeface="Times New Roman" panose="02020503050405090304"/>
                <a:hlinkClick r:id="rId5"/>
              </a:rPr>
              <a:t>.</a:t>
            </a:r>
            <a:r>
              <a:rPr lang="en-US" sz="1000" spc="-10" dirty="0">
                <a:latin typeface="Times New Roman" panose="02020503050405090304"/>
                <a:cs typeface="Times New Roman" panose="02020503050405090304"/>
                <a:hlinkClick r:id="rId5"/>
              </a:rPr>
              <a:t>edu.cn</a:t>
            </a:r>
            <a:endParaRPr sz="1000" dirty="0">
              <a:latin typeface="Times New Roman" panose="02020503050405090304"/>
              <a:cs typeface="Times New Roman" panose="02020503050405090304"/>
            </a:endParaRPr>
          </a:p>
          <a:p>
            <a:pPr marL="635" algn="ctr">
              <a:lnSpc>
                <a:spcPct val="150000"/>
              </a:lnSpc>
            </a:pPr>
            <a:r>
              <a:rPr sz="1000" spc="-15" dirty="0">
                <a:latin typeface="Times New Roman" panose="02020503050405090304"/>
                <a:cs typeface="Times New Roman" panose="02020503050405090304"/>
              </a:rPr>
              <a:t>20</a:t>
            </a:r>
            <a:r>
              <a:rPr lang="en-US" altLang="zh-CN" sz="1000" spc="-15" dirty="0">
                <a:latin typeface="Times New Roman" panose="02020503050405090304"/>
                <a:cs typeface="Times New Roman" panose="02020503050405090304"/>
              </a:rPr>
              <a:t>26-Apr</a:t>
            </a:r>
          </a:p>
        </p:txBody>
      </p:sp>
      <p:sp>
        <p:nvSpPr>
          <p:cNvPr id="97" name="object 97"/>
          <p:cNvSpPr txBox="1"/>
          <p:nvPr/>
        </p:nvSpPr>
        <p:spPr>
          <a:xfrm>
            <a:off x="3332657" y="3219067"/>
            <a:ext cx="84455" cy="104139"/>
          </a:xfrm>
          <a:prstGeom prst="rect">
            <a:avLst/>
          </a:prstGeom>
        </p:spPr>
        <p:txBody>
          <a:bodyPr vert="horz" wrap="square" lIns="0" tIns="0" rIns="0" bIns="0" rtlCol="0">
            <a:spAutoFit/>
          </a:bodyPr>
          <a:lstStyle/>
          <a:p>
            <a:pPr marL="12700">
              <a:lnSpc>
                <a:spcPct val="100000"/>
              </a:lnSpc>
              <a:tabLst>
                <a:tab pos="71120" algn="l"/>
              </a:tabLst>
            </a:pPr>
            <a:r>
              <a:rPr sz="600" u="sng" spc="-5" dirty="0">
                <a:latin typeface="Times New Roman" panose="02020503050405090304"/>
                <a:cs typeface="Times New Roman" panose="02020503050405090304"/>
              </a:rPr>
              <a:t> 	</a:t>
            </a:r>
            <a:endParaRPr sz="600">
              <a:latin typeface="Times New Roman" panose="02020503050405090304"/>
              <a:cs typeface="Times New Roman" panose="02020503050405090304"/>
            </a:endParaRPr>
          </a:p>
        </p:txBody>
      </p:sp>
      <p:sp>
        <p:nvSpPr>
          <p:cNvPr id="98" name="object 98"/>
          <p:cNvSpPr txBox="1"/>
          <p:nvPr/>
        </p:nvSpPr>
        <p:spPr>
          <a:xfrm>
            <a:off x="4155440" y="3219067"/>
            <a:ext cx="79375" cy="104139"/>
          </a:xfrm>
          <a:prstGeom prst="rect">
            <a:avLst/>
          </a:prstGeom>
        </p:spPr>
        <p:txBody>
          <a:bodyPr vert="horz" wrap="square" lIns="0" tIns="0" rIns="0" bIns="0" rtlCol="0">
            <a:spAutoFit/>
          </a:bodyPr>
          <a:lstStyle/>
          <a:p>
            <a:pPr marL="12700">
              <a:lnSpc>
                <a:spcPct val="100000"/>
              </a:lnSpc>
              <a:tabLst>
                <a:tab pos="66040" algn="l"/>
              </a:tabLst>
            </a:pPr>
            <a:r>
              <a:rPr sz="600" u="sng" spc="-5" dirty="0">
                <a:latin typeface="Times New Roman" panose="02020503050405090304"/>
                <a:cs typeface="Times New Roman" panose="02020503050405090304"/>
              </a:rPr>
              <a:t> 	</a:t>
            </a:r>
            <a:endParaRPr sz="600">
              <a:latin typeface="Times New Roman" panose="02020503050405090304"/>
              <a:cs typeface="Times New Roman" panose="02020503050405090304"/>
            </a:endParaRPr>
          </a:p>
        </p:txBody>
      </p:sp>
      <p:sp>
        <p:nvSpPr>
          <p:cNvPr id="99" name="object 99"/>
          <p:cNvSpPr/>
          <p:nvPr/>
        </p:nvSpPr>
        <p:spPr>
          <a:xfrm>
            <a:off x="-152" y="3345713"/>
            <a:ext cx="4608093" cy="111252"/>
          </a:xfrm>
          <a:prstGeom prst="rect">
            <a:avLst/>
          </a:prstGeom>
          <a:blipFill>
            <a:blip r:embed="rId6" cstate="print"/>
            <a:stretch>
              <a:fillRect/>
            </a:stretch>
          </a:blipFill>
        </p:spPr>
        <p:txBody>
          <a:bodyPr wrap="square" lIns="0" tIns="0" rIns="0" bIns="0" rtlCol="0"/>
          <a:lstStyle/>
          <a:p>
            <a:endParaRPr/>
          </a:p>
        </p:txBody>
      </p:sp>
      <p:sp>
        <p:nvSpPr>
          <p:cNvPr id="100" name="object 100"/>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panose="02020503050405090304"/>
                <a:cs typeface="Times New Roman" panose="02020503050405090304"/>
              </a:rPr>
              <a:t> </a:t>
            </a:r>
            <a:r>
              <a:rPr sz="100" i="1" spc="80" dirty="0">
                <a:solidFill>
                  <a:srgbClr val="F2F2F2"/>
                </a:solidFill>
                <a:latin typeface="Times New Roman" panose="02020503050405090304"/>
                <a:cs typeface="Times New Roman" panose="02020503050405090304"/>
              </a:rPr>
              <a:t>I   </a:t>
            </a:r>
            <a:r>
              <a:rPr sz="600" spc="-5" dirty="0">
                <a:solidFill>
                  <a:srgbClr val="F2F2F2"/>
                </a:solidFill>
                <a:latin typeface="Times New Roman" panose="02020503050405090304"/>
                <a:cs typeface="Times New Roman" panose="02020503050405090304"/>
              </a:rPr>
              <a:t>(</a:t>
            </a:r>
            <a:r>
              <a:rPr lang="en-US" sz="600" spc="-5" dirty="0">
                <a:solidFill>
                  <a:srgbClr val="F2F2F2"/>
                </a:solidFill>
                <a:latin typeface="Times New Roman" panose="02020503050405090304"/>
                <a:cs typeface="Times New Roman" panose="02020503050405090304"/>
              </a:rPr>
              <a:t>Zhiqing Yang</a:t>
            </a:r>
            <a:r>
              <a:rPr sz="600" spc="135" dirty="0">
                <a:solidFill>
                  <a:srgbClr val="F2F2F2"/>
                </a:solidFill>
                <a:latin typeface="Times New Roman" panose="02020503050405090304"/>
                <a:cs typeface="Times New Roman" panose="02020503050405090304"/>
              </a:rPr>
              <a:t> </a:t>
            </a:r>
            <a:r>
              <a:rPr lang="en-US" altLang="zh-CN" sz="600" spc="-5" dirty="0" err="1">
                <a:solidFill>
                  <a:srgbClr val="F2F2F2"/>
                </a:solidFill>
                <a:latin typeface="Times New Roman" panose="02020503050405090304"/>
                <a:cs typeface="Times New Roman" panose="02020503050405090304"/>
              </a:rPr>
              <a:t>yangzhiqing</a:t>
            </a:r>
            <a:r>
              <a:rPr sz="600" spc="-5" dirty="0" err="1">
                <a:solidFill>
                  <a:srgbClr val="F2F2F2"/>
                </a:solidFill>
                <a:latin typeface="Times New Roman" panose="02020503050405090304"/>
                <a:cs typeface="Times New Roman" panose="02020503050405090304"/>
              </a:rPr>
              <a:t>@</a:t>
            </a:r>
            <a:r>
              <a:rPr lang="en-US" sz="600" spc="-5" dirty="0" err="1">
                <a:solidFill>
                  <a:srgbClr val="F2F2F2"/>
                </a:solidFill>
                <a:latin typeface="Times New Roman" panose="02020503050405090304"/>
                <a:cs typeface="Times New Roman" panose="02020503050405090304"/>
              </a:rPr>
              <a:t>hust.edu.cn</a:t>
            </a:r>
            <a:r>
              <a:rPr sz="600" spc="-5" dirty="0">
                <a:solidFill>
                  <a:srgbClr val="F2F2F2"/>
                </a:solidFill>
                <a:latin typeface="Times New Roman" panose="02020503050405090304"/>
                <a:cs typeface="Times New Roman" panose="02020503050405090304"/>
              </a:rPr>
              <a:t>)</a:t>
            </a:r>
            <a:endParaRPr sz="600" dirty="0">
              <a:latin typeface="Times New Roman" panose="02020503050405090304"/>
              <a:cs typeface="Times New Roman" panose="02020503050405090304"/>
            </a:endParaRPr>
          </a:p>
        </p:txBody>
      </p:sp>
      <p:sp>
        <p:nvSpPr>
          <p:cNvPr id="101" name="object 101"/>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gn="ctr">
              <a:lnSpc>
                <a:spcPts val="700"/>
              </a:lnSpc>
            </a:pPr>
            <a:r>
              <a:rPr lang="en-US" spc="-5" dirty="0"/>
              <a:t>Macroeconomics</a:t>
            </a:r>
            <a:endParaRPr spc="-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0" y="0"/>
            <a:ext cx="4610100" cy="460382"/>
          </a:xfrm>
          <a:prstGeom prst="rect">
            <a:avLst/>
          </a:prstGeom>
          <a:solidFill>
            <a:srgbClr val="C00000"/>
          </a:solidFill>
        </p:spPr>
        <p:txBody>
          <a:bodyPr wrap="square" rtlCol="0">
            <a:spAutoFit/>
          </a:bodyPr>
          <a:lstStyle/>
          <a:p>
            <a:pPr algn="ctr">
              <a:lnSpc>
                <a:spcPct val="150000"/>
              </a:lnSpc>
            </a:pPr>
            <a:r>
              <a:rPr kumimoji="1" lang="zh-CN" altLang="en-US" dirty="0">
                <a:solidFill>
                  <a:schemeClr val="bg1"/>
                </a:solidFill>
                <a:latin typeface="微软雅黑" panose="020B0503020204020204" pitchFamily="34" charset="-122"/>
                <a:ea typeface="微软雅黑" panose="020B0503020204020204" pitchFamily="34" charset="-122"/>
              </a:rPr>
              <a:t>课堂纪律与考核标准</a:t>
            </a:r>
          </a:p>
        </p:txBody>
      </p:sp>
      <p:sp>
        <p:nvSpPr>
          <p:cNvPr id="71" name="内容占位符 2"/>
          <p:cNvSpPr txBox="1"/>
          <p:nvPr/>
        </p:nvSpPr>
        <p:spPr>
          <a:xfrm>
            <a:off x="138684" y="504730"/>
            <a:ext cx="4332732" cy="2796633"/>
          </a:xfrm>
          <a:prstGeom prst="rect">
            <a:avLst/>
          </a:prstGeom>
        </p:spPr>
        <p:txBody>
          <a:bodyPr wrap="square" lIns="0" tIns="0" rIns="0" bIns="0">
            <a:normAutofit/>
          </a:bodyPr>
          <a:lstStyle>
            <a:lvl1pPr marL="0" eaLnBrk="1" hangingPunct="1">
              <a:defRPr sz="1000" b="0" i="0">
                <a:solidFill>
                  <a:schemeClr val="tx1"/>
                </a:solidFill>
                <a:latin typeface="Times New Roman" panose="02020503050405090304"/>
                <a:ea typeface="+mn-ea"/>
                <a:cs typeface="Times New Roman" panose="02020503050405090304"/>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40000"/>
              </a:lnSpc>
              <a:buFont typeface="Arial" panose="020B0604020202090204" pitchFamily="34" charset="0"/>
              <a:buChar char="•"/>
            </a:pPr>
            <a:r>
              <a:rPr lang="zh-CN" altLang="en-US" sz="1400" kern="0" dirty="0">
                <a:latin typeface="Garamond" panose="02020404030301010803" pitchFamily="18" charset="0"/>
                <a:ea typeface="DengXian" panose="02010600030101010101" pitchFamily="2" charset="-122"/>
              </a:rPr>
              <a:t>闭卷考试</a:t>
            </a:r>
            <a:endParaRPr lang="en-US" altLang="zh-CN" sz="1400" kern="0" dirty="0">
              <a:latin typeface="Garamond" panose="02020404030301010803" pitchFamily="18" charset="0"/>
              <a:ea typeface="DengXian" panose="02010600030101010101" pitchFamily="2" charset="-122"/>
            </a:endParaRPr>
          </a:p>
          <a:p>
            <a:pPr marL="171450" indent="-171450">
              <a:lnSpc>
                <a:spcPct val="140000"/>
              </a:lnSpc>
              <a:buFont typeface="Arial" panose="020B0604020202090204" pitchFamily="34" charset="0"/>
              <a:buChar char="•"/>
            </a:pPr>
            <a:r>
              <a:rPr lang="zh-CN" altLang="en-US" sz="1400" kern="0" dirty="0">
                <a:latin typeface="Garamond" panose="02020404030301010803" pitchFamily="18" charset="0"/>
                <a:ea typeface="DengXian" panose="02010600030101010101" pitchFamily="2" charset="-122"/>
              </a:rPr>
              <a:t>平时成绩</a:t>
            </a:r>
            <a:r>
              <a:rPr lang="en-US" altLang="zh-CN" sz="1400" kern="0" dirty="0">
                <a:latin typeface="Garamond" panose="02020404030301010803" pitchFamily="18" charset="0"/>
                <a:ea typeface="DengXian" panose="02010600030101010101" pitchFamily="2" charset="-122"/>
              </a:rPr>
              <a:t>20%+</a:t>
            </a:r>
            <a:r>
              <a:rPr lang="zh-CN" altLang="en-US" sz="1400" kern="0" dirty="0">
                <a:latin typeface="Garamond" panose="02020404030301010803" pitchFamily="18" charset="0"/>
                <a:ea typeface="DengXian" panose="02010600030101010101" pitchFamily="2" charset="-122"/>
              </a:rPr>
              <a:t>期末考试</a:t>
            </a:r>
            <a:r>
              <a:rPr lang="en-US" altLang="zh-CN" sz="1400" kern="0" dirty="0">
                <a:latin typeface="Garamond" panose="02020404030301010803" pitchFamily="18" charset="0"/>
                <a:ea typeface="DengXian" panose="02010600030101010101" pitchFamily="2" charset="-122"/>
              </a:rPr>
              <a:t>80%</a:t>
            </a:r>
          </a:p>
          <a:p>
            <a:pPr marL="171450" indent="-171450">
              <a:lnSpc>
                <a:spcPct val="140000"/>
              </a:lnSpc>
              <a:buFont typeface="Arial" panose="020B0604020202090204" pitchFamily="34" charset="0"/>
              <a:buChar char="•"/>
            </a:pPr>
            <a:r>
              <a:rPr lang="zh-CN" altLang="en-US" sz="1400" kern="0" dirty="0">
                <a:latin typeface="Garamond" panose="02020404030301010803" pitchFamily="18" charset="0"/>
                <a:ea typeface="DengXian" panose="02010600030101010101" pitchFamily="2" charset="-122"/>
              </a:rPr>
              <a:t>平时考核：考勤、上课互动、章节作业</a:t>
            </a:r>
            <a:endParaRPr lang="en-US" altLang="zh-CN" sz="1400" kern="0" dirty="0">
              <a:latin typeface="Garamond" panose="02020404030301010803" pitchFamily="18" charset="0"/>
              <a:ea typeface="DengXian" panose="02010600030101010101" pitchFamily="2" charset="-122"/>
            </a:endParaRPr>
          </a:p>
          <a:p>
            <a:pPr marL="171450" indent="-171450">
              <a:lnSpc>
                <a:spcPct val="140000"/>
              </a:lnSpc>
              <a:buFont typeface="Arial" panose="020B0604020202090204" pitchFamily="34" charset="0"/>
              <a:buChar char="•"/>
            </a:pPr>
            <a:r>
              <a:rPr lang="zh-CN" altLang="en-US" sz="1400" kern="0" dirty="0">
                <a:latin typeface="Garamond" panose="02020404030301010803" pitchFamily="18" charset="0"/>
                <a:ea typeface="DengXian" panose="02010600030101010101" pitchFamily="2" charset="-122"/>
              </a:rPr>
              <a:t>期末考试</a:t>
            </a:r>
            <a:endParaRPr lang="en-US" altLang="zh-CN" sz="1400" kern="0" dirty="0">
              <a:latin typeface="Garamond" panose="02020404030301010803" pitchFamily="18" charset="0"/>
              <a:ea typeface="DengXian" panose="02010600030101010101" pitchFamily="2" charset="-122"/>
            </a:endParaRPr>
          </a:p>
        </p:txBody>
      </p:sp>
      <p:sp>
        <p:nvSpPr>
          <p:cNvPr id="5" name="object 2"/>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6" name="object 3"/>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7" name="object 4"/>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8" name="object 5"/>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6"/>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7"/>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11" name="object 8"/>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9"/>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13" name="object 10"/>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1"/>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2"/>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3"/>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4"/>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5"/>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6"/>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17"/>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1" name="object 18"/>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19"/>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0"/>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1"/>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2"/>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3"/>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4"/>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8" name="object 25"/>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29" name="object 26"/>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30" name="object 27"/>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1" name="object 28"/>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32" name="object 29"/>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4" name="object 97"/>
          <p:cNvSpPr txBox="1"/>
          <p:nvPr/>
        </p:nvSpPr>
        <p:spPr>
          <a:xfrm>
            <a:off x="3332657" y="3219067"/>
            <a:ext cx="84455" cy="104139"/>
          </a:xfrm>
          <a:prstGeom prst="rect">
            <a:avLst/>
          </a:prstGeom>
        </p:spPr>
        <p:txBody>
          <a:bodyPr vert="horz" wrap="square" lIns="0" tIns="0" rIns="0" bIns="0" rtlCol="0">
            <a:spAutoFit/>
          </a:bodyPr>
          <a:lstStyle/>
          <a:p>
            <a:pPr marL="12700">
              <a:lnSpc>
                <a:spcPct val="100000"/>
              </a:lnSpc>
              <a:tabLst>
                <a:tab pos="71120" algn="l"/>
              </a:tabLst>
            </a:pPr>
            <a:r>
              <a:rPr sz="600" u="sng" spc="-5" dirty="0">
                <a:latin typeface="Times New Roman" panose="02020503050405090304"/>
                <a:cs typeface="Times New Roman" panose="02020503050405090304"/>
              </a:rPr>
              <a:t> 	</a:t>
            </a:r>
            <a:endParaRPr sz="600">
              <a:latin typeface="Times New Roman" panose="02020503050405090304"/>
              <a:cs typeface="Times New Roman" panose="02020503050405090304"/>
            </a:endParaRPr>
          </a:p>
        </p:txBody>
      </p:sp>
      <p:sp>
        <p:nvSpPr>
          <p:cNvPr id="35" name="object 98"/>
          <p:cNvSpPr txBox="1"/>
          <p:nvPr/>
        </p:nvSpPr>
        <p:spPr>
          <a:xfrm>
            <a:off x="4155440" y="3219067"/>
            <a:ext cx="79375" cy="104139"/>
          </a:xfrm>
          <a:prstGeom prst="rect">
            <a:avLst/>
          </a:prstGeom>
        </p:spPr>
        <p:txBody>
          <a:bodyPr vert="horz" wrap="square" lIns="0" tIns="0" rIns="0" bIns="0" rtlCol="0">
            <a:spAutoFit/>
          </a:bodyPr>
          <a:lstStyle/>
          <a:p>
            <a:pPr marL="12700">
              <a:lnSpc>
                <a:spcPct val="100000"/>
              </a:lnSpc>
              <a:tabLst>
                <a:tab pos="66040" algn="l"/>
              </a:tabLst>
            </a:pPr>
            <a:r>
              <a:rPr sz="600" u="sng" spc="-5" dirty="0">
                <a:latin typeface="Times New Roman" panose="02020503050405090304"/>
                <a:cs typeface="Times New Roman" panose="02020503050405090304"/>
              </a:rPr>
              <a:t> 	</a:t>
            </a:r>
            <a:endParaRPr sz="600">
              <a:latin typeface="Times New Roman" panose="02020503050405090304"/>
              <a:cs typeface="Times New Roman" panose="02020503050405090304"/>
            </a:endParaRPr>
          </a:p>
        </p:txBody>
      </p:sp>
      <p:sp>
        <p:nvSpPr>
          <p:cNvPr id="36" name="object 99"/>
          <p:cNvSpPr/>
          <p:nvPr/>
        </p:nvSpPr>
        <p:spPr>
          <a:xfrm>
            <a:off x="-152" y="3345713"/>
            <a:ext cx="4608093" cy="111252"/>
          </a:xfrm>
          <a:prstGeom prst="rect">
            <a:avLst/>
          </a:prstGeom>
          <a:blipFill>
            <a:blip r:embed="rId2" cstate="print"/>
            <a:stretch>
              <a:fillRect/>
            </a:stretch>
          </a:blipFill>
        </p:spPr>
        <p:txBody>
          <a:bodyPr wrap="square" lIns="0" tIns="0" rIns="0" bIns="0" rtlCol="0"/>
          <a:lstStyle/>
          <a:p>
            <a:endParaRPr/>
          </a:p>
        </p:txBody>
      </p:sp>
      <p:sp>
        <p:nvSpPr>
          <p:cNvPr id="37" name="object 100"/>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panose="02020503050405090304"/>
                <a:cs typeface="Times New Roman" panose="02020503050405090304"/>
              </a:rPr>
              <a:t> </a:t>
            </a:r>
            <a:r>
              <a:rPr sz="100" i="1" spc="80" dirty="0">
                <a:solidFill>
                  <a:srgbClr val="F2F2F2"/>
                </a:solidFill>
                <a:latin typeface="Times New Roman" panose="02020503050405090304"/>
                <a:cs typeface="Times New Roman" panose="02020503050405090304"/>
              </a:rPr>
              <a:t>I   </a:t>
            </a:r>
            <a:r>
              <a:rPr sz="600" spc="-5" dirty="0">
                <a:solidFill>
                  <a:srgbClr val="F2F2F2"/>
                </a:solidFill>
                <a:latin typeface="Times New Roman" panose="02020503050405090304"/>
                <a:cs typeface="Times New Roman" panose="02020503050405090304"/>
              </a:rPr>
              <a:t>(</a:t>
            </a:r>
            <a:r>
              <a:rPr lang="en-US" sz="600" spc="-5" dirty="0">
                <a:solidFill>
                  <a:srgbClr val="F2F2F2"/>
                </a:solidFill>
                <a:latin typeface="Times New Roman" panose="02020503050405090304"/>
                <a:cs typeface="Times New Roman" panose="02020503050405090304"/>
              </a:rPr>
              <a:t>Zhiqing Yang</a:t>
            </a:r>
            <a:r>
              <a:rPr sz="600" spc="135" dirty="0">
                <a:solidFill>
                  <a:srgbClr val="F2F2F2"/>
                </a:solidFill>
                <a:latin typeface="Times New Roman" panose="02020503050405090304"/>
                <a:cs typeface="Times New Roman" panose="02020503050405090304"/>
              </a:rPr>
              <a:t> </a:t>
            </a:r>
            <a:r>
              <a:rPr lang="en-US" altLang="zh-CN" sz="600" spc="-5" dirty="0" err="1">
                <a:solidFill>
                  <a:srgbClr val="F2F2F2"/>
                </a:solidFill>
                <a:latin typeface="Times New Roman" panose="02020503050405090304"/>
                <a:cs typeface="Times New Roman" panose="02020503050405090304"/>
              </a:rPr>
              <a:t>yangzhiqing</a:t>
            </a:r>
            <a:r>
              <a:rPr sz="600" spc="-5" dirty="0" err="1">
                <a:solidFill>
                  <a:srgbClr val="F2F2F2"/>
                </a:solidFill>
                <a:latin typeface="Times New Roman" panose="02020503050405090304"/>
                <a:cs typeface="Times New Roman" panose="02020503050405090304"/>
              </a:rPr>
              <a:t>@</a:t>
            </a:r>
            <a:r>
              <a:rPr lang="en-US" sz="600" spc="-5" dirty="0" err="1">
                <a:solidFill>
                  <a:srgbClr val="F2F2F2"/>
                </a:solidFill>
                <a:latin typeface="Times New Roman" panose="02020503050405090304"/>
                <a:cs typeface="Times New Roman" panose="02020503050405090304"/>
              </a:rPr>
              <a:t>hust.edu.cn</a:t>
            </a:r>
            <a:r>
              <a:rPr sz="600" spc="-5" dirty="0">
                <a:solidFill>
                  <a:srgbClr val="F2F2F2"/>
                </a:solidFill>
                <a:latin typeface="Times New Roman" panose="02020503050405090304"/>
                <a:cs typeface="Times New Roman" panose="02020503050405090304"/>
              </a:rPr>
              <a:t>)</a:t>
            </a:r>
            <a:endParaRPr sz="600" dirty="0">
              <a:latin typeface="Times New Roman" panose="02020503050405090304"/>
              <a:cs typeface="Times New Roman" panose="02020503050405090304"/>
            </a:endParaRPr>
          </a:p>
        </p:txBody>
      </p:sp>
      <p:sp>
        <p:nvSpPr>
          <p:cNvPr id="38" name="object 101"/>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gn="ctr">
              <a:lnSpc>
                <a:spcPts val="700"/>
              </a:lnSpc>
            </a:pPr>
            <a:r>
              <a:rPr lang="en-US" spc="-5" dirty="0"/>
              <a:t>Macroeconomics</a:t>
            </a:r>
            <a:endParaRPr spc="-5" dirty="0"/>
          </a:p>
        </p:txBody>
      </p:sp>
      <p:sp>
        <p:nvSpPr>
          <p:cNvPr id="39" name="object 102"/>
          <p:cNvSpPr txBox="1"/>
          <p:nvPr/>
        </p:nvSpPr>
        <p:spPr>
          <a:xfrm>
            <a:off x="3762247" y="3347973"/>
            <a:ext cx="448945" cy="89535"/>
          </a:xfrm>
          <a:prstGeom prst="rect">
            <a:avLst/>
          </a:prstGeom>
        </p:spPr>
        <p:txBody>
          <a:bodyPr vert="horz" wrap="square" lIns="0" tIns="0" rIns="0" bIns="0" rtlCol="0">
            <a:spAutoFit/>
          </a:bodyPr>
          <a:lstStyle/>
          <a:p>
            <a:pPr marL="12700">
              <a:lnSpc>
                <a:spcPts val="700"/>
              </a:lnSpc>
            </a:pPr>
            <a:r>
              <a:rPr lang="en-US" sz="600" spc="-5" dirty="0">
                <a:solidFill>
                  <a:srgbClr val="7A0000"/>
                </a:solidFill>
                <a:latin typeface="Times New Roman" panose="02020503050405090304"/>
                <a:cs typeface="Times New Roman" panose="02020503050405090304"/>
              </a:rPr>
              <a:t>2026-Apr</a:t>
            </a:r>
            <a:endParaRPr lang="en-US" sz="600" dirty="0">
              <a:latin typeface="Times New Roman" panose="02020503050405090304"/>
              <a:cs typeface="Times New Roman" panose="0202050305040509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0" y="0"/>
            <a:ext cx="4610100" cy="460382"/>
          </a:xfrm>
          <a:prstGeom prst="rect">
            <a:avLst/>
          </a:prstGeom>
          <a:solidFill>
            <a:srgbClr val="C00000"/>
          </a:solidFill>
        </p:spPr>
        <p:txBody>
          <a:bodyPr wrap="square" rtlCol="0">
            <a:spAutoFit/>
          </a:bodyPr>
          <a:lstStyle/>
          <a:p>
            <a:pPr algn="ctr">
              <a:lnSpc>
                <a:spcPct val="150000"/>
              </a:lnSpc>
            </a:pPr>
            <a:r>
              <a:rPr kumimoji="1" lang="zh-CN" altLang="en-US" dirty="0">
                <a:solidFill>
                  <a:schemeClr val="bg1"/>
                </a:solidFill>
                <a:latin typeface="微软雅黑" panose="020B0503020204020204" pitchFamily="34" charset="-122"/>
                <a:ea typeface="微软雅黑" panose="020B0503020204020204" pitchFamily="34" charset="-122"/>
              </a:rPr>
              <a:t>教材与学习资料</a:t>
            </a:r>
          </a:p>
        </p:txBody>
      </p:sp>
      <p:sp>
        <p:nvSpPr>
          <p:cNvPr id="4" name="内容占位符 2"/>
          <p:cNvSpPr txBox="1"/>
          <p:nvPr/>
        </p:nvSpPr>
        <p:spPr>
          <a:xfrm>
            <a:off x="138684" y="504730"/>
            <a:ext cx="4332732" cy="2796633"/>
          </a:xfrm>
          <a:prstGeom prst="rect">
            <a:avLst/>
          </a:prstGeom>
        </p:spPr>
        <p:txBody>
          <a:bodyPr wrap="square" lIns="0" tIns="0" rIns="0" bIns="0">
            <a:normAutofit lnSpcReduction="10000"/>
          </a:bodyPr>
          <a:lstStyle>
            <a:lvl1pPr marL="0" eaLnBrk="1" hangingPunct="1">
              <a:defRPr sz="1000" b="0" i="0">
                <a:solidFill>
                  <a:schemeClr val="tx1"/>
                </a:solidFill>
                <a:latin typeface="Times New Roman" panose="02020503050405090304"/>
                <a:ea typeface="+mn-ea"/>
                <a:cs typeface="Times New Roman" panose="02020503050405090304"/>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40000"/>
              </a:lnSpc>
              <a:buFont typeface="Arial" panose="020B0604020202090204" pitchFamily="34" charset="0"/>
              <a:buChar char="•"/>
            </a:pPr>
            <a:r>
              <a:rPr lang="en-US" altLang="zh-CN" sz="1400" b="1" kern="0" dirty="0">
                <a:latin typeface="Garamond" panose="02020404030301010803" pitchFamily="18" charset="0"/>
                <a:ea typeface="DengXian" panose="02010600030101010101" pitchFamily="2" charset="-122"/>
              </a:rPr>
              <a:t>1.</a:t>
            </a:r>
            <a:r>
              <a:rPr lang="zh-CN" altLang="en-US" sz="1400" b="1" kern="0" dirty="0">
                <a:latin typeface="Garamond" panose="02020404030301010803" pitchFamily="18" charset="0"/>
                <a:ea typeface="DengXian" panose="02010600030101010101" pitchFamily="2" charset="-122"/>
              </a:rPr>
              <a:t> 教材</a:t>
            </a:r>
            <a:endParaRPr lang="en-US" altLang="zh-CN" sz="1400" b="1" kern="0" dirty="0">
              <a:latin typeface="Garamond" panose="02020404030301010803" pitchFamily="18" charset="0"/>
              <a:ea typeface="DengXian" panose="02010600030101010101" pitchFamily="2" charset="-122"/>
            </a:endParaRPr>
          </a:p>
          <a:p>
            <a:pPr marL="171450" indent="-171450">
              <a:lnSpc>
                <a:spcPct val="140000"/>
              </a:lnSpc>
              <a:buFont typeface="Arial" panose="020B0604020202090204" pitchFamily="34" charset="0"/>
              <a:buChar char="•"/>
            </a:pP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西方经济学</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编写组：</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西方经济学（下册）</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，高等教育出版社（马克思主义理论研究和建设工程重点教材）</a:t>
            </a:r>
            <a:endParaRPr lang="en-US" altLang="zh-CN" sz="1300" dirty="0">
              <a:latin typeface="Garamond" panose="02020404030301010803" pitchFamily="18" charset="0"/>
              <a:ea typeface="KaiTi" panose="02010609060101010101" pitchFamily="49" charset="-122"/>
            </a:endParaRPr>
          </a:p>
          <a:p>
            <a:pPr marL="171450" indent="-171450">
              <a:lnSpc>
                <a:spcPct val="140000"/>
              </a:lnSpc>
              <a:buFont typeface="Arial" panose="020B0604020202090204" pitchFamily="34" charset="0"/>
              <a:buChar char="•"/>
            </a:pPr>
            <a:r>
              <a:rPr lang="en-US" altLang="zh-CN" sz="1400" b="1" kern="0" dirty="0">
                <a:latin typeface="Garamond" panose="02020404030301010803" pitchFamily="18" charset="0"/>
                <a:ea typeface="DengXian" panose="02010600030101010101" pitchFamily="2" charset="-122"/>
              </a:rPr>
              <a:t>2.</a:t>
            </a:r>
            <a:r>
              <a:rPr lang="zh-CN" altLang="en-US" sz="1400" b="1" kern="0" dirty="0">
                <a:latin typeface="Garamond" panose="02020404030301010803" pitchFamily="18" charset="0"/>
                <a:ea typeface="DengXian" panose="02010600030101010101" pitchFamily="2" charset="-122"/>
              </a:rPr>
              <a:t> 推荐学习资料</a:t>
            </a:r>
            <a:endParaRPr lang="en-US" altLang="zh-CN" sz="1400" b="1" kern="0" dirty="0">
              <a:latin typeface="Garamond" panose="02020404030301010803" pitchFamily="18" charset="0"/>
              <a:ea typeface="DengXian" panose="02010600030101010101" pitchFamily="2" charset="-122"/>
            </a:endParaRPr>
          </a:p>
          <a:p>
            <a:pPr marL="171450" indent="-171450">
              <a:lnSpc>
                <a:spcPct val="140000"/>
              </a:lnSpc>
              <a:buFont typeface="Arial" panose="020B0604020202090204" pitchFamily="34" charset="0"/>
              <a:buChar char="•"/>
            </a:pPr>
            <a:r>
              <a:rPr lang="zh-CN" altLang="en-US" sz="1300" u="sng" dirty="0">
                <a:latin typeface="Garamond" panose="02020404030301010803" pitchFamily="18" charset="0"/>
                <a:ea typeface="KaiTi" panose="02010609060101010101" pitchFamily="49" charset="-122"/>
              </a:rPr>
              <a:t>书籍</a:t>
            </a:r>
            <a:r>
              <a:rPr lang="zh-CN" altLang="en-US" sz="1300" dirty="0">
                <a:latin typeface="Garamond" panose="02020404030301010803" pitchFamily="18" charset="0"/>
                <a:ea typeface="KaiTi" panose="02010609060101010101" pitchFamily="49" charset="-122"/>
              </a:rPr>
              <a:t>：</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贫穷的本质</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我们的孩子</a:t>
            </a:r>
            <a:r>
              <a:rPr lang="en-US" altLang="zh-CN" sz="1300" dirty="0">
                <a:latin typeface="Garamond" panose="02020404030301010803" pitchFamily="18" charset="0"/>
                <a:ea typeface="KaiTi" panose="02010609060101010101" pitchFamily="49" charset="-122"/>
              </a:rPr>
              <a:t>/</a:t>
            </a:r>
            <a:r>
              <a:rPr lang="en-GB" altLang="zh-CN" sz="1300" dirty="0">
                <a:latin typeface="Garamond" panose="02020404030301010803" pitchFamily="18" charset="0"/>
                <a:ea typeface="KaiTi" panose="02010609060101010101" pitchFamily="49" charset="-122"/>
              </a:rPr>
              <a:t>OUR KIDS:</a:t>
            </a:r>
            <a:r>
              <a:rPr lang="zh-CN" altLang="en-US" sz="1300" dirty="0">
                <a:latin typeface="Garamond" panose="02020404030301010803" pitchFamily="18" charset="0"/>
                <a:ea typeface="KaiTi" panose="02010609060101010101" pitchFamily="49" charset="-122"/>
              </a:rPr>
              <a:t> </a:t>
            </a:r>
            <a:r>
              <a:rPr lang="en-GB" altLang="zh-CN" sz="1300" dirty="0">
                <a:latin typeface="Garamond" panose="02020404030301010803" pitchFamily="18" charset="0"/>
                <a:ea typeface="KaiTi" panose="02010609060101010101" pitchFamily="49" charset="-122"/>
              </a:rPr>
              <a:t>The American Dream in Crisis</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枪炮、病菌与钢铁</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 </a:t>
            </a:r>
            <a:r>
              <a:rPr lang="en-US" altLang="zh-CN" sz="1300" dirty="0">
                <a:latin typeface="Garamond" panose="02020404030301010803" pitchFamily="18" charset="0"/>
                <a:ea typeface="KaiTi" panose="02010609060101010101" pitchFamily="49" charset="-122"/>
              </a:rPr>
              <a:t>Jared Diamond), 《</a:t>
            </a:r>
            <a:r>
              <a:rPr lang="zh-CN" altLang="en-US" sz="1300" dirty="0">
                <a:latin typeface="Garamond" panose="02020404030301010803" pitchFamily="18" charset="0"/>
                <a:ea typeface="KaiTi" panose="02010609060101010101" pitchFamily="49" charset="-122"/>
              </a:rPr>
              <a:t>为什么有的国家富裕、有的国家贫穷</a:t>
            </a:r>
            <a:r>
              <a:rPr lang="en-US" altLang="zh-CN" sz="1300" dirty="0">
                <a:latin typeface="Garamond" panose="02020404030301010803" pitchFamily="18" charset="0"/>
                <a:ea typeface="KaiTi" panose="02010609060101010101" pitchFamily="49" charset="-122"/>
              </a:rPr>
              <a:t>/Comparing Human Societies》(Jared Diamond)</a:t>
            </a:r>
          </a:p>
          <a:p>
            <a:pPr marL="171450" indent="-171450">
              <a:lnSpc>
                <a:spcPct val="140000"/>
              </a:lnSpc>
              <a:buFont typeface="Arial" panose="020B0604020202090204" pitchFamily="34" charset="0"/>
              <a:buChar char="•"/>
            </a:pPr>
            <a:r>
              <a:rPr lang="zh-CN" altLang="en-US" sz="1300" u="sng" dirty="0">
                <a:latin typeface="Garamond" panose="02020404030301010803" pitchFamily="18" charset="0"/>
                <a:ea typeface="KaiTi" panose="02010609060101010101" pitchFamily="49" charset="-122"/>
              </a:rPr>
              <a:t>期刊</a:t>
            </a:r>
            <a:r>
              <a:rPr lang="zh-CN" altLang="en-US" sz="1300" dirty="0">
                <a:latin typeface="Garamond" panose="02020404030301010803" pitchFamily="18" charset="0"/>
                <a:ea typeface="KaiTi" panose="02010609060101010101" pitchFamily="49" charset="-122"/>
              </a:rPr>
              <a:t>：经济研究、管理世界、经济学季刊、</a:t>
            </a:r>
            <a:r>
              <a:rPr lang="en-US" altLang="zh-CN" sz="1300" dirty="0">
                <a:latin typeface="Garamond" panose="02020404030301010803" pitchFamily="18" charset="0"/>
                <a:ea typeface="KaiTi" panose="02010609060101010101" pitchFamily="49" charset="-122"/>
              </a:rPr>
              <a:t>Journal</a:t>
            </a:r>
            <a:r>
              <a:rPr lang="zh-CN" altLang="en-US" sz="1300" dirty="0">
                <a:latin typeface="Garamond" panose="02020404030301010803" pitchFamily="18" charset="0"/>
                <a:ea typeface="KaiTi" panose="02010609060101010101" pitchFamily="49" charset="-122"/>
              </a:rPr>
              <a:t> </a:t>
            </a:r>
            <a:r>
              <a:rPr lang="en-US" altLang="zh-CN" sz="1300" dirty="0">
                <a:latin typeface="Garamond" panose="02020404030301010803" pitchFamily="18" charset="0"/>
                <a:ea typeface="KaiTi" panose="02010609060101010101" pitchFamily="49" charset="-122"/>
              </a:rPr>
              <a:t>of Development Economics, China Economic Review</a:t>
            </a:r>
          </a:p>
          <a:p>
            <a:pPr marL="171450" indent="-171450">
              <a:lnSpc>
                <a:spcPct val="140000"/>
              </a:lnSpc>
              <a:buFont typeface="Arial" panose="020B0604020202090204" pitchFamily="34" charset="0"/>
              <a:buChar char="•"/>
            </a:pPr>
            <a:endParaRPr lang="en-US" altLang="zh-CN" sz="1300" dirty="0">
              <a:latin typeface="Garamond" panose="02020404030301010803" pitchFamily="18" charset="0"/>
              <a:ea typeface="KaiTi" panose="02010609060101010101" pitchFamily="49" charset="-122"/>
            </a:endParaRPr>
          </a:p>
        </p:txBody>
      </p:sp>
      <p:sp>
        <p:nvSpPr>
          <p:cNvPr id="5" name="object 99"/>
          <p:cNvSpPr/>
          <p:nvPr/>
        </p:nvSpPr>
        <p:spPr>
          <a:xfrm>
            <a:off x="-152" y="3345713"/>
            <a:ext cx="4608093" cy="111252"/>
          </a:xfrm>
          <a:prstGeom prst="rect">
            <a:avLst/>
          </a:prstGeom>
          <a:blipFill>
            <a:blip r:embed="rId2" cstate="print"/>
            <a:stretch>
              <a:fillRect/>
            </a:stretch>
          </a:blipFill>
        </p:spPr>
        <p:txBody>
          <a:bodyPr wrap="square" lIns="0" tIns="0" rIns="0" bIns="0" rtlCol="0"/>
          <a:lstStyle/>
          <a:p>
            <a:endParaRPr/>
          </a:p>
        </p:txBody>
      </p:sp>
      <p:sp>
        <p:nvSpPr>
          <p:cNvPr id="6" name="object 100"/>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panose="02020503050405090304"/>
                <a:cs typeface="Times New Roman" panose="02020503050405090304"/>
              </a:rPr>
              <a:t> </a:t>
            </a:r>
            <a:r>
              <a:rPr sz="100" i="1" spc="80" dirty="0">
                <a:solidFill>
                  <a:srgbClr val="F2F2F2"/>
                </a:solidFill>
                <a:latin typeface="Times New Roman" panose="02020503050405090304"/>
                <a:cs typeface="Times New Roman" panose="02020503050405090304"/>
              </a:rPr>
              <a:t>I   </a:t>
            </a:r>
            <a:r>
              <a:rPr sz="600" spc="-5" dirty="0">
                <a:solidFill>
                  <a:srgbClr val="F2F2F2"/>
                </a:solidFill>
                <a:latin typeface="Times New Roman" panose="02020503050405090304"/>
                <a:cs typeface="Times New Roman" panose="02020503050405090304"/>
              </a:rPr>
              <a:t>(</a:t>
            </a:r>
            <a:r>
              <a:rPr lang="en-US" sz="600" spc="-5" dirty="0">
                <a:solidFill>
                  <a:srgbClr val="F2F2F2"/>
                </a:solidFill>
                <a:latin typeface="Times New Roman" panose="02020503050405090304"/>
                <a:cs typeface="Times New Roman" panose="02020503050405090304"/>
              </a:rPr>
              <a:t>Zhiqing Yang</a:t>
            </a:r>
            <a:r>
              <a:rPr sz="600" spc="135" dirty="0">
                <a:solidFill>
                  <a:srgbClr val="F2F2F2"/>
                </a:solidFill>
                <a:latin typeface="Times New Roman" panose="02020503050405090304"/>
                <a:cs typeface="Times New Roman" panose="02020503050405090304"/>
              </a:rPr>
              <a:t> </a:t>
            </a:r>
            <a:r>
              <a:rPr lang="en-US" altLang="zh-CN" sz="600" spc="-5" dirty="0" err="1">
                <a:solidFill>
                  <a:srgbClr val="F2F2F2"/>
                </a:solidFill>
                <a:latin typeface="Times New Roman" panose="02020503050405090304"/>
                <a:cs typeface="Times New Roman" panose="02020503050405090304"/>
              </a:rPr>
              <a:t>yangzhiqing</a:t>
            </a:r>
            <a:r>
              <a:rPr sz="600" spc="-5" dirty="0" err="1">
                <a:solidFill>
                  <a:srgbClr val="F2F2F2"/>
                </a:solidFill>
                <a:latin typeface="Times New Roman" panose="02020503050405090304"/>
                <a:cs typeface="Times New Roman" panose="02020503050405090304"/>
              </a:rPr>
              <a:t>@</a:t>
            </a:r>
            <a:r>
              <a:rPr lang="en-US" sz="600" spc="-5" dirty="0" err="1">
                <a:solidFill>
                  <a:srgbClr val="F2F2F2"/>
                </a:solidFill>
                <a:latin typeface="Times New Roman" panose="02020503050405090304"/>
                <a:cs typeface="Times New Roman" panose="02020503050405090304"/>
              </a:rPr>
              <a:t>hust.edu.cn</a:t>
            </a:r>
            <a:r>
              <a:rPr sz="600" spc="-5" dirty="0">
                <a:solidFill>
                  <a:srgbClr val="F2F2F2"/>
                </a:solidFill>
                <a:latin typeface="Times New Roman" panose="02020503050405090304"/>
                <a:cs typeface="Times New Roman" panose="02020503050405090304"/>
              </a:rPr>
              <a:t>)</a:t>
            </a:r>
            <a:endParaRPr sz="600" dirty="0">
              <a:latin typeface="Times New Roman" panose="02020503050405090304"/>
              <a:cs typeface="Times New Roman" panose="02020503050405090304"/>
            </a:endParaRPr>
          </a:p>
        </p:txBody>
      </p:sp>
      <p:sp>
        <p:nvSpPr>
          <p:cNvPr id="7" name="object 101"/>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
        <p:nvSpPr>
          <p:cNvPr id="8" name="object 102"/>
          <p:cNvSpPr txBox="1"/>
          <p:nvPr/>
        </p:nvSpPr>
        <p:spPr>
          <a:xfrm>
            <a:off x="3762247" y="3347973"/>
            <a:ext cx="448945" cy="89535"/>
          </a:xfrm>
          <a:prstGeom prst="rect">
            <a:avLst/>
          </a:prstGeom>
        </p:spPr>
        <p:txBody>
          <a:bodyPr vert="horz" wrap="square" lIns="0" tIns="0" rIns="0" bIns="0" rtlCol="0">
            <a:spAutoFit/>
          </a:bodyPr>
          <a:lstStyle/>
          <a:p>
            <a:pPr marL="12700">
              <a:lnSpc>
                <a:spcPts val="700"/>
              </a:lnSpc>
            </a:pPr>
            <a:r>
              <a:rPr lang="en-US" sz="600" spc="-5" dirty="0">
                <a:solidFill>
                  <a:srgbClr val="7A0000"/>
                </a:solidFill>
                <a:latin typeface="Times New Roman" panose="02020503050405090304"/>
                <a:cs typeface="Times New Roman" panose="02020503050405090304"/>
                <a:sym typeface="+mn-ea"/>
              </a:rPr>
              <a:t>2026-Apr</a:t>
            </a:r>
            <a:endParaRPr sz="600" dirty="0">
              <a:latin typeface="Times New Roman" panose="02020503050405090304"/>
              <a:cs typeface="Times New Roman" panose="0202050305040509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object 32"/>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800"/>
          </a:p>
        </p:txBody>
      </p:sp>
      <p:sp>
        <p:nvSpPr>
          <p:cNvPr id="39" name="内容占位符 2"/>
          <p:cNvSpPr>
            <a:spLocks noGrp="1"/>
          </p:cNvSpPr>
          <p:nvPr>
            <p:ph idx="1"/>
          </p:nvPr>
        </p:nvSpPr>
        <p:spPr>
          <a:xfrm>
            <a:off x="594360" y="181745"/>
            <a:ext cx="3787368" cy="3146312"/>
          </a:xfrm>
        </p:spPr>
        <p:txBody>
          <a:bodyPr>
            <a:normAutofit fontScale="62500" lnSpcReduction="20000"/>
          </a:bodyPr>
          <a:lstStyle/>
          <a:p>
            <a:pPr marL="171450" indent="-171450">
              <a:lnSpc>
                <a:spcPct val="140000"/>
              </a:lnSpc>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章 宏观经济学的基本指标及其衡量</a:t>
            </a:r>
            <a:endParaRPr lang="en-US" altLang="zh-CN" sz="1400" dirty="0">
              <a:latin typeface="微软雅黑" panose="020B0503020204020204" pitchFamily="34" charset="-122"/>
              <a:ea typeface="微软雅黑" panose="020B0503020204020204" pitchFamily="34"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1</a:t>
            </a:r>
            <a:r>
              <a:rPr lang="zh-CN" altLang="en-US" sz="1400" dirty="0">
                <a:latin typeface="Garamond" panose="02020404030301010803" pitchFamily="18" charset="0"/>
                <a:ea typeface="KaiTi" panose="02010609060101010101" pitchFamily="49" charset="-122"/>
              </a:rPr>
              <a:t>节 国内生产总值</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2</a:t>
            </a:r>
            <a:r>
              <a:rPr lang="zh-CN" altLang="en-US" sz="1400" dirty="0">
                <a:latin typeface="Garamond" panose="02020404030301010803" pitchFamily="18" charset="0"/>
                <a:ea typeface="KaiTi" panose="02010609060101010101" pitchFamily="49" charset="-122"/>
              </a:rPr>
              <a:t>节 价格水平及其衡量</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3</a:t>
            </a:r>
            <a:r>
              <a:rPr lang="zh-CN" altLang="en-US" sz="1400" dirty="0">
                <a:latin typeface="Garamond" panose="02020404030301010803" pitchFamily="18" charset="0"/>
                <a:ea typeface="KaiTi" panose="02010609060101010101" pitchFamily="49" charset="-122"/>
              </a:rPr>
              <a:t>节 失业及其衡量</a:t>
            </a:r>
            <a:endParaRPr lang="en-US" altLang="zh-CN" sz="1400" dirty="0">
              <a:latin typeface="微软雅黑" panose="020B0503020204020204" pitchFamily="34" charset="-122"/>
              <a:ea typeface="微软雅黑" panose="020B0503020204020204" pitchFamily="34" charset="-122"/>
            </a:endParaRPr>
          </a:p>
          <a:p>
            <a:pPr marL="171450" indent="-171450">
              <a:lnSpc>
                <a:spcPct val="140000"/>
              </a:lnSpc>
              <a:buFont typeface="Arial" panose="020B060402020209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503050405090304"/>
              </a:rPr>
              <a:t>第</a:t>
            </a:r>
            <a:r>
              <a:rPr lang="en-US" altLang="zh-CN" sz="1400" dirty="0">
                <a:latin typeface="微软雅黑" panose="020B0503020204020204" pitchFamily="34" charset="-122"/>
                <a:ea typeface="微软雅黑" panose="020B0503020204020204" pitchFamily="34" charset="-122"/>
              </a:rPr>
              <a:t>2</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503050405090304"/>
              </a:rPr>
              <a:t>章 短期经济波动模型：产品市场的均衡</a:t>
            </a:r>
            <a:endParaRPr lang="en-US" altLang="zh-CN" sz="1400" dirty="0">
              <a:solidFill>
                <a:schemeClr val="tx1"/>
              </a:solidFill>
              <a:latin typeface="微软雅黑" panose="020B0503020204020204" pitchFamily="34" charset="-122"/>
              <a:ea typeface="微软雅黑" panose="020B0503020204020204" pitchFamily="34" charset="-122"/>
              <a:cs typeface="Times New Roman" panose="02020503050405090304"/>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1</a:t>
            </a:r>
            <a:r>
              <a:rPr lang="zh-CN" altLang="en-US" sz="1400" dirty="0">
                <a:latin typeface="Garamond" panose="02020404030301010803" pitchFamily="18" charset="0"/>
                <a:ea typeface="KaiTi" panose="02010609060101010101" pitchFamily="49" charset="-122"/>
              </a:rPr>
              <a:t>节 均衡国民收入的决定   </a:t>
            </a:r>
            <a:r>
              <a:rPr lang="en-US" altLang="zh-CN" sz="1400" dirty="0">
                <a:latin typeface="Garamond" panose="02020404030301010803" pitchFamily="18" charset="0"/>
                <a:ea typeface="KaiTi" panose="02010609060101010101" pitchFamily="49" charset="-122"/>
              </a:rPr>
              <a:t> </a:t>
            </a: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4</a:t>
            </a:r>
            <a:r>
              <a:rPr lang="zh-CN" altLang="en-US" sz="1400" dirty="0">
                <a:latin typeface="Garamond" panose="02020404030301010803" pitchFamily="18" charset="0"/>
                <a:ea typeface="KaiTi" panose="02010609060101010101" pitchFamily="49" charset="-122"/>
              </a:rPr>
              <a:t>节 政府需求</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2</a:t>
            </a:r>
            <a:r>
              <a:rPr lang="zh-CN" altLang="en-US" sz="1400" dirty="0">
                <a:latin typeface="Garamond" panose="02020404030301010803" pitchFamily="18" charset="0"/>
                <a:ea typeface="KaiTi" panose="02010609060101010101" pitchFamily="49" charset="-122"/>
              </a:rPr>
              <a:t>节 消费需求与储蓄           </a:t>
            </a:r>
            <a:r>
              <a:rPr lang="en-US" altLang="zh-CN" sz="1400" dirty="0">
                <a:latin typeface="Garamond" panose="02020404030301010803" pitchFamily="18" charset="0"/>
                <a:ea typeface="KaiTi" panose="02010609060101010101" pitchFamily="49" charset="-122"/>
              </a:rPr>
              <a:t> </a:t>
            </a: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5</a:t>
            </a:r>
            <a:r>
              <a:rPr lang="zh-CN" altLang="en-US" sz="1400" dirty="0">
                <a:latin typeface="Garamond" panose="02020404030301010803" pitchFamily="18" charset="0"/>
                <a:ea typeface="KaiTi" panose="02010609060101010101" pitchFamily="49" charset="-122"/>
              </a:rPr>
              <a:t>节 国外需求</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3</a:t>
            </a:r>
            <a:r>
              <a:rPr lang="zh-CN" altLang="en-US" sz="1400" dirty="0">
                <a:latin typeface="Garamond" panose="02020404030301010803" pitchFamily="18" charset="0"/>
                <a:ea typeface="KaiTi" panose="02010609060101010101" pitchFamily="49" charset="-122"/>
              </a:rPr>
              <a:t>节 投资需求                       </a:t>
            </a:r>
            <a:r>
              <a:rPr lang="en-US" altLang="zh-CN" sz="1400" dirty="0">
                <a:latin typeface="Garamond" panose="02020404030301010803" pitchFamily="18" charset="0"/>
                <a:ea typeface="KaiTi" panose="02010609060101010101" pitchFamily="49" charset="-122"/>
              </a:rPr>
              <a:t> </a:t>
            </a: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6</a:t>
            </a:r>
            <a:r>
              <a:rPr lang="zh-CN" altLang="en-US" sz="1400" dirty="0">
                <a:latin typeface="Garamond" panose="02020404030301010803" pitchFamily="18" charset="0"/>
                <a:ea typeface="KaiTi" panose="02010609060101010101" pitchFamily="49" charset="-122"/>
              </a:rPr>
              <a:t>节 乘数</a:t>
            </a:r>
            <a:endParaRPr lang="en-US" altLang="zh-CN" sz="1400" dirty="0">
              <a:latin typeface="Garamond" panose="02020404030301010803" pitchFamily="18" charset="0"/>
              <a:ea typeface="KaiTi" panose="02010609060101010101" pitchFamily="49" charset="-122"/>
            </a:endParaRPr>
          </a:p>
          <a:p>
            <a:pPr marL="171450" lvl="0" indent="-171450">
              <a:lnSpc>
                <a:spcPct val="140000"/>
              </a:lnSpc>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章 短期经济波动模型：产品市场和货币市场的共同均衡</a:t>
            </a:r>
            <a:endParaRPr lang="en-US" altLang="zh-CN" sz="1400" dirty="0">
              <a:latin typeface="微软雅黑" panose="020B0503020204020204" pitchFamily="34" charset="-122"/>
              <a:ea typeface="微软雅黑" panose="020B0503020204020204" pitchFamily="34"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1</a:t>
            </a:r>
            <a:r>
              <a:rPr lang="zh-CN" altLang="en-US" sz="1400" dirty="0">
                <a:latin typeface="Garamond" panose="02020404030301010803" pitchFamily="18" charset="0"/>
                <a:ea typeface="KaiTi" panose="02010609060101010101" pitchFamily="49" charset="-122"/>
              </a:rPr>
              <a:t>节 产品市场的均衡：</a:t>
            </a:r>
            <a:r>
              <a:rPr lang="en-US" altLang="zh-CN" sz="1400" dirty="0">
                <a:latin typeface="Garamond" panose="02020404030301010803" pitchFamily="18" charset="0"/>
                <a:ea typeface="KaiTi" panose="02010609060101010101" pitchFamily="49" charset="-122"/>
              </a:rPr>
              <a:t>IS</a:t>
            </a:r>
            <a:r>
              <a:rPr lang="zh-CN" altLang="en-US" sz="1400" dirty="0">
                <a:latin typeface="Garamond" panose="02020404030301010803" pitchFamily="18" charset="0"/>
                <a:ea typeface="KaiTi" panose="02010609060101010101" pitchFamily="49" charset="-122"/>
              </a:rPr>
              <a:t>模型</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2</a:t>
            </a:r>
            <a:r>
              <a:rPr lang="zh-CN" altLang="en-US" sz="1400" dirty="0">
                <a:latin typeface="Garamond" panose="02020404030301010803" pitchFamily="18" charset="0"/>
                <a:ea typeface="KaiTi" panose="02010609060101010101" pitchFamily="49" charset="-122"/>
              </a:rPr>
              <a:t>节 货币市场的均衡：</a:t>
            </a:r>
            <a:r>
              <a:rPr lang="en-US" altLang="zh-CN" sz="1400" dirty="0">
                <a:latin typeface="Garamond" panose="02020404030301010803" pitchFamily="18" charset="0"/>
                <a:ea typeface="KaiTi" panose="02010609060101010101" pitchFamily="49" charset="-122"/>
              </a:rPr>
              <a:t>LM</a:t>
            </a:r>
            <a:r>
              <a:rPr lang="zh-CN" altLang="en-US" sz="1400" dirty="0">
                <a:latin typeface="Garamond" panose="02020404030301010803" pitchFamily="18" charset="0"/>
                <a:ea typeface="KaiTi" panose="02010609060101010101" pitchFamily="49" charset="-122"/>
              </a:rPr>
              <a:t>模型</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3</a:t>
            </a:r>
            <a:r>
              <a:rPr lang="zh-CN" altLang="en-US" sz="1400" dirty="0">
                <a:latin typeface="Garamond" panose="02020404030301010803" pitchFamily="18" charset="0"/>
                <a:ea typeface="KaiTi" panose="02010609060101010101" pitchFamily="49" charset="-122"/>
              </a:rPr>
              <a:t>节 产品市场和货币市场的共同均衡：</a:t>
            </a:r>
            <a:r>
              <a:rPr lang="en-US" altLang="zh-CN" sz="1400" dirty="0">
                <a:latin typeface="Garamond" panose="02020404030301010803" pitchFamily="18" charset="0"/>
                <a:ea typeface="KaiTi" panose="02010609060101010101" pitchFamily="49" charset="-122"/>
              </a:rPr>
              <a:t>IS-LM</a:t>
            </a:r>
            <a:r>
              <a:rPr lang="zh-CN" altLang="en-US" sz="1400" dirty="0">
                <a:latin typeface="Garamond" panose="02020404030301010803" pitchFamily="18" charset="0"/>
                <a:ea typeface="KaiTi" panose="02010609060101010101" pitchFamily="49" charset="-122"/>
              </a:rPr>
              <a:t>模型</a:t>
            </a:r>
            <a:endParaRPr lang="en-US" altLang="zh-CN" sz="1400" dirty="0">
              <a:latin typeface="Garamond" panose="02020404030301010803" pitchFamily="18" charset="0"/>
              <a:ea typeface="KaiTi" panose="02010609060101010101" pitchFamily="49" charset="-122"/>
            </a:endParaRPr>
          </a:p>
          <a:p>
            <a:pPr marL="171450" lvl="0" indent="-171450">
              <a:lnSpc>
                <a:spcPct val="140000"/>
              </a:lnSpc>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章 短期经济波动模型：总需求</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总供给分析</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1</a:t>
            </a:r>
            <a:r>
              <a:rPr lang="zh-CN" altLang="en-US" sz="1400" dirty="0">
                <a:latin typeface="Garamond" panose="02020404030301010803" pitchFamily="18" charset="0"/>
                <a:ea typeface="KaiTi" panose="02010609060101010101" pitchFamily="49" charset="-122"/>
              </a:rPr>
              <a:t>节 总需求曲线及其变动</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2</a:t>
            </a:r>
            <a:r>
              <a:rPr lang="zh-CN" altLang="en-US" sz="1400" dirty="0">
                <a:latin typeface="Garamond" panose="02020404030301010803" pitchFamily="18" charset="0"/>
                <a:ea typeface="KaiTi" panose="02010609060101010101" pitchFamily="49" charset="-122"/>
              </a:rPr>
              <a:t>节 总供给曲线及其变动</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9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3</a:t>
            </a:r>
            <a:r>
              <a:rPr lang="zh-CN" altLang="en-US" sz="1400" dirty="0">
                <a:latin typeface="Garamond" panose="02020404030301010803" pitchFamily="18" charset="0"/>
                <a:ea typeface="KaiTi" panose="02010609060101010101" pitchFamily="49" charset="-122"/>
              </a:rPr>
              <a:t>节 总需求</a:t>
            </a:r>
            <a:r>
              <a:rPr lang="en-US" altLang="zh-CN" sz="1400" dirty="0">
                <a:latin typeface="Garamond" panose="02020404030301010803" pitchFamily="18" charset="0"/>
                <a:ea typeface="KaiTi" panose="02010609060101010101" pitchFamily="49" charset="-122"/>
              </a:rPr>
              <a:t>-</a:t>
            </a:r>
            <a:r>
              <a:rPr lang="zh-CN" altLang="en-US" sz="1400" dirty="0">
                <a:latin typeface="Garamond" panose="02020404030301010803" pitchFamily="18" charset="0"/>
                <a:ea typeface="KaiTi" panose="02010609060101010101" pitchFamily="49" charset="-122"/>
              </a:rPr>
              <a:t>总供给模型</a:t>
            </a:r>
            <a:endParaRPr lang="en-US" altLang="zh-CN" sz="1400" dirty="0">
              <a:latin typeface="Garamond" panose="02020404030301010803" pitchFamily="18" charset="0"/>
              <a:ea typeface="KaiTi" panose="02010609060101010101" pitchFamily="49" charset="-122"/>
            </a:endParaRPr>
          </a:p>
          <a:p>
            <a:pPr marL="171450" indent="-171450">
              <a:lnSpc>
                <a:spcPct val="140000"/>
              </a:lnSpc>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5</a:t>
            </a:r>
            <a:r>
              <a:rPr lang="zh-CN" altLang="en-US" sz="1400" dirty="0">
                <a:latin typeface="微软雅黑" panose="020B0503020204020204" pitchFamily="34" charset="-122"/>
                <a:ea typeface="微软雅黑" panose="020B0503020204020204" pitchFamily="34" charset="-122"/>
              </a:rPr>
              <a:t>章 开放经济的宏观经济学</a:t>
            </a:r>
            <a:endParaRPr lang="en-US" altLang="zh-CN" sz="1400" dirty="0">
              <a:latin typeface="微软雅黑" panose="020B0503020204020204" pitchFamily="34" charset="-122"/>
              <a:ea typeface="微软雅黑" panose="020B0503020204020204" pitchFamily="34" charset="-122"/>
            </a:endParaRPr>
          </a:p>
          <a:p>
            <a:pPr marL="171450" indent="-171450">
              <a:lnSpc>
                <a:spcPct val="140000"/>
              </a:lnSpc>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章 宏观经济政策</a:t>
            </a:r>
            <a:endParaRPr lang="en-US" altLang="zh-CN" sz="1400" dirty="0">
              <a:latin typeface="微软雅黑" panose="020B0503020204020204" pitchFamily="34" charset="-122"/>
              <a:ea typeface="微软雅黑" panose="020B0503020204020204" pitchFamily="34" charset="-122"/>
            </a:endParaRPr>
          </a:p>
          <a:p>
            <a:pPr marL="171450" indent="-171450">
              <a:lnSpc>
                <a:spcPct val="140000"/>
              </a:lnSpc>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7</a:t>
            </a:r>
            <a:r>
              <a:rPr lang="zh-CN" altLang="en-US" sz="1400" dirty="0">
                <a:latin typeface="微软雅黑" panose="020B0503020204020204" pitchFamily="34" charset="-122"/>
                <a:ea typeface="微软雅黑" panose="020B0503020204020204" pitchFamily="34" charset="-122"/>
              </a:rPr>
              <a:t>章 通货膨胀与失业理论</a:t>
            </a:r>
            <a:endParaRPr lang="en-US" altLang="zh-CN" sz="1400" dirty="0">
              <a:latin typeface="微软雅黑" panose="020B0503020204020204" pitchFamily="34" charset="-122"/>
              <a:ea typeface="微软雅黑" panose="020B0503020204020204" pitchFamily="34" charset="-122"/>
            </a:endParaRPr>
          </a:p>
        </p:txBody>
      </p:sp>
      <p:sp>
        <p:nvSpPr>
          <p:cNvPr id="4" name="object 34"/>
          <p:cNvSpPr/>
          <p:nvPr/>
        </p:nvSpPr>
        <p:spPr>
          <a:xfrm>
            <a:off x="-152" y="140741"/>
            <a:ext cx="500151" cy="3204972"/>
          </a:xfrm>
          <a:prstGeom prst="rect">
            <a:avLst/>
          </a:prstGeom>
          <a:blipFill>
            <a:blip r:embed="rId3" cstate="print"/>
            <a:stretch>
              <a:fillRect/>
            </a:stretch>
          </a:blipFill>
        </p:spPr>
        <p:txBody>
          <a:bodyPr wrap="square" lIns="0" tIns="0" rIns="0" bIns="0" rtlCol="0"/>
          <a:lstStyle/>
          <a:p>
            <a:endParaRPr/>
          </a:p>
        </p:txBody>
      </p:sp>
      <p:sp>
        <p:nvSpPr>
          <p:cNvPr id="5" name="文本框 4"/>
          <p:cNvSpPr txBox="1"/>
          <p:nvPr/>
        </p:nvSpPr>
        <p:spPr>
          <a:xfrm>
            <a:off x="0" y="222159"/>
            <a:ext cx="461665" cy="2886670"/>
          </a:xfrm>
          <a:prstGeom prst="rect">
            <a:avLst/>
          </a:prstGeom>
          <a:noFill/>
        </p:spPr>
        <p:txBody>
          <a:bodyPr vert="eaVert" wrap="square" rtlCol="0">
            <a:spAutoFit/>
          </a:bodyPr>
          <a:lstStyle/>
          <a:p>
            <a:pPr algn="ctr"/>
            <a:r>
              <a:rPr kumimoji="1" lang="zh-CN" altLang="en-US" dirty="0">
                <a:solidFill>
                  <a:srgbClr val="C00000"/>
                </a:solidFill>
                <a:latin typeface="微软雅黑" panose="020B0503020204020204" pitchFamily="34" charset="-122"/>
                <a:ea typeface="微软雅黑" panose="020B0503020204020204" pitchFamily="34" charset="-122"/>
              </a:rPr>
              <a:t>课程基本结构</a:t>
            </a:r>
          </a:p>
        </p:txBody>
      </p:sp>
      <p:sp>
        <p:nvSpPr>
          <p:cNvPr id="2" name="object 99"/>
          <p:cNvSpPr/>
          <p:nvPr/>
        </p:nvSpPr>
        <p:spPr>
          <a:xfrm>
            <a:off x="-152" y="3345713"/>
            <a:ext cx="4608093" cy="111252"/>
          </a:xfrm>
          <a:prstGeom prst="rect">
            <a:avLst/>
          </a:prstGeom>
          <a:blipFill>
            <a:blip r:embed="rId4" cstate="print"/>
            <a:stretch>
              <a:fillRect/>
            </a:stretch>
          </a:blipFill>
        </p:spPr>
        <p:txBody>
          <a:bodyPr wrap="square" lIns="0" tIns="0" rIns="0" bIns="0" rtlCol="0"/>
          <a:lstStyle/>
          <a:p>
            <a:endParaRPr/>
          </a:p>
        </p:txBody>
      </p:sp>
      <p:sp>
        <p:nvSpPr>
          <p:cNvPr id="3" name="object 100"/>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panose="02020503050405090304"/>
                <a:cs typeface="Times New Roman" panose="02020503050405090304"/>
              </a:rPr>
              <a:t> </a:t>
            </a:r>
            <a:r>
              <a:rPr sz="100" i="1" spc="80" dirty="0">
                <a:solidFill>
                  <a:srgbClr val="F2F2F2"/>
                </a:solidFill>
                <a:latin typeface="Times New Roman" panose="02020503050405090304"/>
                <a:cs typeface="Times New Roman" panose="02020503050405090304"/>
              </a:rPr>
              <a:t>I   </a:t>
            </a:r>
            <a:r>
              <a:rPr sz="600" spc="-5" dirty="0">
                <a:solidFill>
                  <a:srgbClr val="F2F2F2"/>
                </a:solidFill>
                <a:latin typeface="Times New Roman" panose="02020503050405090304"/>
                <a:cs typeface="Times New Roman" panose="02020503050405090304"/>
              </a:rPr>
              <a:t>(</a:t>
            </a:r>
            <a:r>
              <a:rPr lang="en-US" sz="600" spc="-5" dirty="0">
                <a:solidFill>
                  <a:srgbClr val="F2F2F2"/>
                </a:solidFill>
                <a:latin typeface="Times New Roman" panose="02020503050405090304"/>
                <a:cs typeface="Times New Roman" panose="02020503050405090304"/>
              </a:rPr>
              <a:t>Zhiqing Yang</a:t>
            </a:r>
            <a:r>
              <a:rPr sz="600" spc="135" dirty="0">
                <a:solidFill>
                  <a:srgbClr val="F2F2F2"/>
                </a:solidFill>
                <a:latin typeface="Times New Roman" panose="02020503050405090304"/>
                <a:cs typeface="Times New Roman" panose="02020503050405090304"/>
              </a:rPr>
              <a:t> </a:t>
            </a:r>
            <a:r>
              <a:rPr lang="en-US" altLang="zh-CN" sz="600" spc="-5" dirty="0" err="1">
                <a:solidFill>
                  <a:srgbClr val="F2F2F2"/>
                </a:solidFill>
                <a:latin typeface="Times New Roman" panose="02020503050405090304"/>
                <a:cs typeface="Times New Roman" panose="02020503050405090304"/>
              </a:rPr>
              <a:t>yangzhiqing</a:t>
            </a:r>
            <a:r>
              <a:rPr sz="600" spc="-5" dirty="0" err="1">
                <a:solidFill>
                  <a:srgbClr val="F2F2F2"/>
                </a:solidFill>
                <a:latin typeface="Times New Roman" panose="02020503050405090304"/>
                <a:cs typeface="Times New Roman" panose="02020503050405090304"/>
              </a:rPr>
              <a:t>@</a:t>
            </a:r>
            <a:r>
              <a:rPr lang="en-US" sz="600" spc="-5" dirty="0" err="1">
                <a:solidFill>
                  <a:srgbClr val="F2F2F2"/>
                </a:solidFill>
                <a:latin typeface="Times New Roman" panose="02020503050405090304"/>
                <a:cs typeface="Times New Roman" panose="02020503050405090304"/>
              </a:rPr>
              <a:t>hust.edu.cn</a:t>
            </a:r>
            <a:r>
              <a:rPr sz="600" spc="-5" dirty="0">
                <a:solidFill>
                  <a:srgbClr val="F2F2F2"/>
                </a:solidFill>
                <a:latin typeface="Times New Roman" panose="02020503050405090304"/>
                <a:cs typeface="Times New Roman" panose="02020503050405090304"/>
              </a:rPr>
              <a:t>)</a:t>
            </a:r>
            <a:endParaRPr sz="600" dirty="0">
              <a:latin typeface="Times New Roman" panose="02020503050405090304"/>
              <a:cs typeface="Times New Roman" panose="02020503050405090304"/>
            </a:endParaRPr>
          </a:p>
        </p:txBody>
      </p:sp>
      <p:sp>
        <p:nvSpPr>
          <p:cNvPr id="33" name="object 101"/>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
        <p:nvSpPr>
          <p:cNvPr id="34" name="object 102"/>
          <p:cNvSpPr txBox="1"/>
          <p:nvPr/>
        </p:nvSpPr>
        <p:spPr>
          <a:xfrm>
            <a:off x="3762247" y="3347973"/>
            <a:ext cx="448945" cy="89535"/>
          </a:xfrm>
          <a:prstGeom prst="rect">
            <a:avLst/>
          </a:prstGeom>
        </p:spPr>
        <p:txBody>
          <a:bodyPr vert="horz" wrap="square" lIns="0" tIns="0" rIns="0" bIns="0" rtlCol="0">
            <a:spAutoFit/>
          </a:bodyPr>
          <a:lstStyle/>
          <a:p>
            <a:pPr marL="12700">
              <a:lnSpc>
                <a:spcPts val="700"/>
              </a:lnSpc>
            </a:pPr>
            <a:r>
              <a:rPr lang="en-US" sz="600" spc="-5" dirty="0">
                <a:solidFill>
                  <a:srgbClr val="7A0000"/>
                </a:solidFill>
                <a:latin typeface="Times New Roman" panose="02020503050405090304"/>
                <a:cs typeface="Times New Roman" panose="02020503050405090304"/>
                <a:sym typeface="+mn-ea"/>
              </a:rPr>
              <a:t>2026-Apr</a:t>
            </a:r>
            <a:endParaRPr sz="600" dirty="0">
              <a:latin typeface="Times New Roman" panose="02020503050405090304"/>
              <a:cs typeface="Times New Roman" panose="02020503050405090304"/>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33475" y="737364"/>
            <a:ext cx="651176" cy="2320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defTabSz="230505" eaLnBrk="0" fontAlgn="base" hangingPunct="0">
              <a:spcBef>
                <a:spcPct val="0"/>
              </a:spcBef>
              <a:spcAft>
                <a:spcPct val="0"/>
              </a:spcAft>
            </a:pPr>
            <a:r>
              <a:rPr lang="zh-CN" altLang="en-US" sz="910" dirty="0">
                <a:solidFill>
                  <a:prstClr val="black"/>
                </a:solidFill>
                <a:latin typeface="Calibri" panose="020F0502020204030204"/>
                <a:ea typeface="等线" panose="02010600030101010101" pitchFamily="2" charset="-122"/>
              </a:rPr>
              <a:t>产品市场</a:t>
            </a:r>
          </a:p>
        </p:txBody>
      </p:sp>
      <p:sp>
        <p:nvSpPr>
          <p:cNvPr id="12" name="文本框 11"/>
          <p:cNvSpPr txBox="1"/>
          <p:nvPr/>
        </p:nvSpPr>
        <p:spPr>
          <a:xfrm>
            <a:off x="534054" y="1218229"/>
            <a:ext cx="653217" cy="2320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defTabSz="230505" eaLnBrk="0" fontAlgn="base" hangingPunct="0">
              <a:spcBef>
                <a:spcPct val="0"/>
              </a:spcBef>
              <a:spcAft>
                <a:spcPct val="0"/>
              </a:spcAft>
            </a:pPr>
            <a:r>
              <a:rPr lang="zh-CN" altLang="en-US" sz="910" dirty="0">
                <a:solidFill>
                  <a:srgbClr val="0070C0"/>
                </a:solidFill>
                <a:latin typeface="Calibri" panose="020F0502020204030204"/>
                <a:ea typeface="等线" panose="02010600030101010101" pitchFamily="2" charset="-122"/>
              </a:rPr>
              <a:t>货币市场</a:t>
            </a:r>
          </a:p>
        </p:txBody>
      </p:sp>
      <p:sp>
        <p:nvSpPr>
          <p:cNvPr id="13" name="文本框 12"/>
          <p:cNvSpPr txBox="1"/>
          <p:nvPr/>
        </p:nvSpPr>
        <p:spPr>
          <a:xfrm>
            <a:off x="530069" y="1742674"/>
            <a:ext cx="654582" cy="2320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defTabSz="230505" eaLnBrk="0" fontAlgn="base" hangingPunct="0">
              <a:spcBef>
                <a:spcPct val="0"/>
              </a:spcBef>
              <a:spcAft>
                <a:spcPct val="0"/>
              </a:spcAft>
            </a:pPr>
            <a:r>
              <a:rPr lang="zh-CN" altLang="en-US" sz="910" dirty="0">
                <a:solidFill>
                  <a:srgbClr val="C00000"/>
                </a:solidFill>
                <a:latin typeface="Calibri" panose="020F0502020204030204"/>
                <a:ea typeface="等线" panose="02010600030101010101" pitchFamily="2" charset="-122"/>
              </a:rPr>
              <a:t>劳动市场</a:t>
            </a:r>
          </a:p>
        </p:txBody>
      </p:sp>
      <p:sp>
        <p:nvSpPr>
          <p:cNvPr id="23" name="文本框 22"/>
          <p:cNvSpPr txBox="1"/>
          <p:nvPr/>
        </p:nvSpPr>
        <p:spPr>
          <a:xfrm>
            <a:off x="1714814" y="733592"/>
            <a:ext cx="2042116" cy="247440"/>
          </a:xfrm>
          <a:prstGeom prst="rect">
            <a:avLst/>
          </a:prstGeom>
          <a:ln w="15875">
            <a:solidFill>
              <a:schemeClr val="tx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230505" eaLnBrk="0" fontAlgn="base" hangingPunct="0">
              <a:spcBef>
                <a:spcPct val="0"/>
              </a:spcBef>
              <a:spcAft>
                <a:spcPct val="0"/>
              </a:spcAft>
            </a:pPr>
            <a:r>
              <a:rPr lang="zh-CN" altLang="en-US" sz="1010" dirty="0">
                <a:solidFill>
                  <a:prstClr val="black"/>
                </a:solidFill>
                <a:latin typeface="Calibri" panose="020F0502020204030204"/>
                <a:ea typeface="等线" panose="02010600030101010101" pitchFamily="2" charset="-122"/>
              </a:rPr>
              <a:t>国民收入决定的收入</a:t>
            </a:r>
            <a:r>
              <a:rPr lang="en-US" altLang="zh-CN" sz="1010" dirty="0">
                <a:solidFill>
                  <a:prstClr val="black"/>
                </a:solidFill>
                <a:latin typeface="Calibri" panose="020F0502020204030204"/>
                <a:ea typeface="等线" panose="02010600030101010101" pitchFamily="2" charset="-122"/>
              </a:rPr>
              <a:t>—</a:t>
            </a:r>
            <a:r>
              <a:rPr lang="zh-CN" altLang="en-US" sz="1010" dirty="0">
                <a:solidFill>
                  <a:prstClr val="black"/>
                </a:solidFill>
                <a:latin typeface="Calibri" panose="020F0502020204030204"/>
                <a:ea typeface="等线" panose="02010600030101010101" pitchFamily="2" charset="-122"/>
              </a:rPr>
              <a:t>支出模型</a:t>
            </a:r>
          </a:p>
        </p:txBody>
      </p:sp>
      <p:sp>
        <p:nvSpPr>
          <p:cNvPr id="24" name="文本框 23"/>
          <p:cNvSpPr txBox="1"/>
          <p:nvPr/>
        </p:nvSpPr>
        <p:spPr>
          <a:xfrm>
            <a:off x="2335129" y="1011447"/>
            <a:ext cx="1701441" cy="247440"/>
          </a:xfrm>
          <a:prstGeom prst="rect">
            <a:avLst/>
          </a:prstGeom>
          <a:ln w="15875"/>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230505" eaLnBrk="0" fontAlgn="base" hangingPunct="0">
              <a:spcBef>
                <a:spcPct val="0"/>
              </a:spcBef>
              <a:spcAft>
                <a:spcPct val="0"/>
              </a:spcAft>
            </a:pPr>
            <a:r>
              <a:rPr lang="zh-CN" altLang="en-US" sz="1010" dirty="0">
                <a:solidFill>
                  <a:srgbClr val="0070C0"/>
                </a:solidFill>
                <a:latin typeface="Calibri" panose="020F0502020204030204"/>
                <a:ea typeface="等线" panose="02010600030101010101" pitchFamily="2" charset="-122"/>
              </a:rPr>
              <a:t>国民收入决定的</a:t>
            </a:r>
            <a:r>
              <a:rPr lang="en-US" altLang="zh-CN" sz="1010" dirty="0">
                <a:solidFill>
                  <a:srgbClr val="0070C0"/>
                </a:solidFill>
                <a:latin typeface="Calibri" panose="020F0502020204030204"/>
                <a:ea typeface="等线" panose="02010600030101010101" pitchFamily="2" charset="-122"/>
              </a:rPr>
              <a:t>IS-LM</a:t>
            </a:r>
            <a:r>
              <a:rPr lang="zh-CN" altLang="en-US" sz="1010" dirty="0">
                <a:solidFill>
                  <a:srgbClr val="0070C0"/>
                </a:solidFill>
                <a:latin typeface="Calibri" panose="020F0502020204030204"/>
                <a:ea typeface="等线" panose="02010600030101010101" pitchFamily="2" charset="-122"/>
              </a:rPr>
              <a:t>模型</a:t>
            </a:r>
          </a:p>
        </p:txBody>
      </p:sp>
      <p:sp>
        <p:nvSpPr>
          <p:cNvPr id="25" name="文本框 24"/>
          <p:cNvSpPr txBox="1"/>
          <p:nvPr/>
        </p:nvSpPr>
        <p:spPr>
          <a:xfrm>
            <a:off x="2682935" y="1232473"/>
            <a:ext cx="1789446" cy="402546"/>
          </a:xfrm>
          <a:prstGeom prst="rect">
            <a:avLst/>
          </a:prstGeom>
          <a:ln w="15875">
            <a:solidFill>
              <a:srgbClr val="C0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230505" eaLnBrk="0" fontAlgn="base" hangingPunct="0">
              <a:spcBef>
                <a:spcPct val="0"/>
              </a:spcBef>
              <a:spcAft>
                <a:spcPct val="0"/>
              </a:spcAft>
            </a:pPr>
            <a:r>
              <a:rPr lang="zh-CN" altLang="en-US" sz="1010" dirty="0">
                <a:solidFill>
                  <a:srgbClr val="C00000"/>
                </a:solidFill>
                <a:latin typeface="Calibri" panose="020F0502020204030204"/>
                <a:ea typeface="等线" panose="02010600030101010101" pitchFamily="2" charset="-122"/>
              </a:rPr>
              <a:t>总需求</a:t>
            </a:r>
            <a:r>
              <a:rPr lang="en-US" altLang="zh-CN" sz="1010" dirty="0">
                <a:solidFill>
                  <a:srgbClr val="C00000"/>
                </a:solidFill>
                <a:latin typeface="Calibri" panose="020F0502020204030204"/>
                <a:ea typeface="等线" panose="02010600030101010101" pitchFamily="2" charset="-122"/>
              </a:rPr>
              <a:t>-</a:t>
            </a:r>
            <a:r>
              <a:rPr lang="zh-CN" altLang="en-US" sz="1010" dirty="0">
                <a:solidFill>
                  <a:srgbClr val="C00000"/>
                </a:solidFill>
                <a:latin typeface="Calibri" panose="020F0502020204030204"/>
                <a:ea typeface="等线" panose="02010600030101010101" pitchFamily="2" charset="-122"/>
              </a:rPr>
              <a:t>总供给模型</a:t>
            </a:r>
            <a:endParaRPr lang="en-US" altLang="zh-CN" sz="1010" dirty="0">
              <a:solidFill>
                <a:srgbClr val="C00000"/>
              </a:solidFill>
              <a:latin typeface="Calibri" panose="020F0502020204030204"/>
              <a:ea typeface="等线" panose="02010600030101010101" pitchFamily="2" charset="-122"/>
            </a:endParaRPr>
          </a:p>
          <a:p>
            <a:pPr algn="ctr" defTabSz="230505" eaLnBrk="0" fontAlgn="base" hangingPunct="0">
              <a:spcBef>
                <a:spcPct val="0"/>
              </a:spcBef>
              <a:spcAft>
                <a:spcPct val="0"/>
              </a:spcAft>
            </a:pPr>
            <a:r>
              <a:rPr lang="en-US" altLang="zh-CN" sz="1010" dirty="0">
                <a:solidFill>
                  <a:srgbClr val="C00000"/>
                </a:solidFill>
                <a:latin typeface="Calibri" panose="020F0502020204030204"/>
                <a:ea typeface="等线" panose="02010600030101010101" pitchFamily="2" charset="-122"/>
              </a:rPr>
              <a:t>AD-AS</a:t>
            </a:r>
            <a:r>
              <a:rPr lang="zh-CN" altLang="en-US" sz="1010" dirty="0">
                <a:solidFill>
                  <a:srgbClr val="C00000"/>
                </a:solidFill>
                <a:latin typeface="Calibri" panose="020F0502020204030204"/>
                <a:ea typeface="等线" panose="02010600030101010101" pitchFamily="2" charset="-122"/>
              </a:rPr>
              <a:t>模型</a:t>
            </a:r>
          </a:p>
        </p:txBody>
      </p:sp>
      <p:cxnSp>
        <p:nvCxnSpPr>
          <p:cNvPr id="27" name="直接箭头连接符 26"/>
          <p:cNvCxnSpPr>
            <a:stCxn id="7" idx="3"/>
            <a:endCxn id="23" idx="1"/>
          </p:cNvCxnSpPr>
          <p:nvPr/>
        </p:nvCxnSpPr>
        <p:spPr>
          <a:xfrm>
            <a:off x="1184651" y="853390"/>
            <a:ext cx="530163" cy="3922"/>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34" name="矩形 33"/>
          <p:cNvSpPr/>
          <p:nvPr/>
        </p:nvSpPr>
        <p:spPr>
          <a:xfrm>
            <a:off x="434904" y="649352"/>
            <a:ext cx="863787" cy="911150"/>
          </a:xfrm>
          <a:prstGeom prst="rect">
            <a:avLst/>
          </a:prstGeom>
          <a:noFill/>
          <a:ln w="22225">
            <a:prstDash val="dash"/>
          </a:ln>
        </p:spPr>
        <p:style>
          <a:lnRef idx="2">
            <a:schemeClr val="accent1"/>
          </a:lnRef>
          <a:fillRef idx="1">
            <a:schemeClr val="lt1"/>
          </a:fillRef>
          <a:effectRef idx="0">
            <a:schemeClr val="accent1"/>
          </a:effectRef>
          <a:fontRef idx="minor">
            <a:schemeClr val="dk1"/>
          </a:fontRef>
        </p:style>
        <p:txBody>
          <a:bodyPr rtlCol="0" anchor="ctr"/>
          <a:lstStyle/>
          <a:p>
            <a:pPr algn="ctr" defTabSz="230505" eaLnBrk="0" fontAlgn="base" hangingPunct="0">
              <a:spcBef>
                <a:spcPct val="0"/>
              </a:spcBef>
              <a:spcAft>
                <a:spcPct val="0"/>
              </a:spcAft>
            </a:pPr>
            <a:endParaRPr lang="zh-CN" altLang="en-US" sz="910">
              <a:solidFill>
                <a:prstClr val="black"/>
              </a:solidFill>
              <a:latin typeface="Calibri" panose="020F0502020204030204"/>
              <a:ea typeface="等线" panose="02010600030101010101" pitchFamily="2" charset="-122"/>
            </a:endParaRPr>
          </a:p>
        </p:txBody>
      </p:sp>
      <p:cxnSp>
        <p:nvCxnSpPr>
          <p:cNvPr id="36" name="直接箭头连接符 35"/>
          <p:cNvCxnSpPr>
            <a:endCxn id="24" idx="1"/>
          </p:cNvCxnSpPr>
          <p:nvPr/>
        </p:nvCxnSpPr>
        <p:spPr>
          <a:xfrm>
            <a:off x="1315979" y="1135167"/>
            <a:ext cx="1019150"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374244" y="601417"/>
            <a:ext cx="968121" cy="1456490"/>
          </a:xfrm>
          <a:prstGeom prst="rect">
            <a:avLst/>
          </a:prstGeom>
          <a:noFill/>
          <a:ln w="22225">
            <a:solidFill>
              <a:srgbClr val="C00000"/>
            </a:solidFill>
            <a:prstDash val="dash"/>
          </a:ln>
        </p:spPr>
        <p:style>
          <a:lnRef idx="2">
            <a:schemeClr val="accent2"/>
          </a:lnRef>
          <a:fillRef idx="1">
            <a:schemeClr val="lt1"/>
          </a:fillRef>
          <a:effectRef idx="0">
            <a:schemeClr val="accent2"/>
          </a:effectRef>
          <a:fontRef idx="minor">
            <a:schemeClr val="dk1"/>
          </a:fontRef>
        </p:style>
        <p:txBody>
          <a:bodyPr rtlCol="0" anchor="ctr"/>
          <a:lstStyle/>
          <a:p>
            <a:pPr algn="ctr" defTabSz="230505" eaLnBrk="0" fontAlgn="base" hangingPunct="0">
              <a:spcBef>
                <a:spcPct val="0"/>
              </a:spcBef>
              <a:spcAft>
                <a:spcPct val="0"/>
              </a:spcAft>
            </a:pPr>
            <a:endParaRPr lang="zh-CN" altLang="en-US" sz="910">
              <a:solidFill>
                <a:prstClr val="black"/>
              </a:solidFill>
              <a:latin typeface="Calibri" panose="020F0502020204030204"/>
              <a:ea typeface="等线" panose="02010600030101010101" pitchFamily="2" charset="-122"/>
            </a:endParaRPr>
          </a:p>
        </p:txBody>
      </p:sp>
      <p:cxnSp>
        <p:nvCxnSpPr>
          <p:cNvPr id="39" name="直接箭头连接符 38"/>
          <p:cNvCxnSpPr>
            <a:endCxn id="25" idx="1"/>
          </p:cNvCxnSpPr>
          <p:nvPr/>
        </p:nvCxnSpPr>
        <p:spPr>
          <a:xfrm>
            <a:off x="1397262" y="1433746"/>
            <a:ext cx="1285673" cy="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136459" y="2629510"/>
            <a:ext cx="4374087" cy="246221"/>
          </a:xfrm>
          <a:prstGeom prst="rect">
            <a:avLst/>
          </a:prstGeom>
          <a:noFill/>
        </p:spPr>
        <p:txBody>
          <a:bodyPr wrap="square" rtlCol="0">
            <a:spAutoFit/>
          </a:bodyPr>
          <a:lstStyle/>
          <a:p>
            <a:pPr algn="ctr" defTabSz="230505" eaLnBrk="0" fontAlgn="base" hangingPunct="0">
              <a:spcBef>
                <a:spcPct val="0"/>
              </a:spcBef>
              <a:spcAft>
                <a:spcPct val="0"/>
              </a:spcAft>
            </a:pPr>
            <a:r>
              <a:rPr lang="zh-CN" altLang="en-US" sz="1000" b="1" dirty="0">
                <a:solidFill>
                  <a:prstClr val="black"/>
                </a:solidFill>
                <a:latin typeface="KaiTi" panose="02010609060101010101" pitchFamily="49" charset="-122"/>
                <a:ea typeface="KaiTi" panose="02010609060101010101" pitchFamily="49" charset="-122"/>
              </a:rPr>
              <a:t>宏观经济学的基本理论框架</a:t>
            </a:r>
          </a:p>
        </p:txBody>
      </p:sp>
      <p:sp>
        <p:nvSpPr>
          <p:cNvPr id="11" name="矩形 10"/>
          <p:cNvSpPr/>
          <p:nvPr/>
        </p:nvSpPr>
        <p:spPr>
          <a:xfrm>
            <a:off x="278706" y="512311"/>
            <a:ext cx="1177699" cy="1933380"/>
          </a:xfrm>
          <a:prstGeom prst="rect">
            <a:avLst/>
          </a:prstGeom>
          <a:noFill/>
          <a:ln w="2222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defTabSz="230505" eaLnBrk="0" fontAlgn="base" hangingPunct="0">
              <a:spcBef>
                <a:spcPct val="0"/>
              </a:spcBef>
              <a:spcAft>
                <a:spcPct val="0"/>
              </a:spcAft>
            </a:pPr>
            <a:endParaRPr lang="zh-CN" altLang="en-US" sz="910">
              <a:solidFill>
                <a:prstClr val="black"/>
              </a:solidFill>
              <a:latin typeface="Calibri" panose="020F0502020204030204"/>
              <a:ea typeface="等线" panose="02010600030101010101" pitchFamily="2" charset="-122"/>
            </a:endParaRPr>
          </a:p>
        </p:txBody>
      </p:sp>
      <p:cxnSp>
        <p:nvCxnSpPr>
          <p:cNvPr id="15" name="直接箭头连接符 14"/>
          <p:cNvCxnSpPr/>
          <p:nvPr/>
        </p:nvCxnSpPr>
        <p:spPr>
          <a:xfrm>
            <a:off x="1504595" y="1985350"/>
            <a:ext cx="1336929" cy="0"/>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809106" y="1817732"/>
            <a:ext cx="1701441" cy="247440"/>
          </a:xfrm>
          <a:prstGeom prst="rect">
            <a:avLst/>
          </a:prstGeom>
          <a:ln w="15875">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230505" eaLnBrk="0" fontAlgn="base" hangingPunct="0">
              <a:spcBef>
                <a:spcPct val="0"/>
              </a:spcBef>
              <a:spcAft>
                <a:spcPct val="0"/>
              </a:spcAft>
            </a:pPr>
            <a:r>
              <a:rPr lang="zh-CN" altLang="en-US" sz="1010" dirty="0">
                <a:solidFill>
                  <a:srgbClr val="00B050"/>
                </a:solidFill>
                <a:latin typeface="Calibri" panose="020F0502020204030204"/>
                <a:ea typeface="等线" panose="02010600030101010101" pitchFamily="2" charset="-122"/>
              </a:rPr>
              <a:t>开放经济下的</a:t>
            </a:r>
            <a:r>
              <a:rPr lang="en-US" altLang="zh-CN" sz="1010" dirty="0">
                <a:solidFill>
                  <a:srgbClr val="00B050"/>
                </a:solidFill>
                <a:latin typeface="Calibri" panose="020F0502020204030204"/>
                <a:ea typeface="等线" panose="02010600030101010101" pitchFamily="2" charset="-122"/>
              </a:rPr>
              <a:t>IS-LM-BP</a:t>
            </a:r>
            <a:r>
              <a:rPr lang="zh-CN" altLang="en-US" sz="1010" dirty="0">
                <a:solidFill>
                  <a:srgbClr val="00B050"/>
                </a:solidFill>
                <a:latin typeface="Calibri" panose="020F0502020204030204"/>
                <a:ea typeface="等线" panose="02010600030101010101" pitchFamily="2" charset="-122"/>
              </a:rPr>
              <a:t>模型</a:t>
            </a:r>
          </a:p>
        </p:txBody>
      </p:sp>
      <p:sp>
        <p:nvSpPr>
          <p:cNvPr id="26" name="文本框 25"/>
          <p:cNvSpPr txBox="1"/>
          <p:nvPr/>
        </p:nvSpPr>
        <p:spPr>
          <a:xfrm>
            <a:off x="533475" y="2167006"/>
            <a:ext cx="653217" cy="2320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defTabSz="230505" eaLnBrk="0" fontAlgn="base" hangingPunct="0">
              <a:spcBef>
                <a:spcPct val="0"/>
              </a:spcBef>
              <a:spcAft>
                <a:spcPct val="0"/>
              </a:spcAft>
            </a:pPr>
            <a:r>
              <a:rPr lang="zh-CN" altLang="en-US" sz="910" dirty="0">
                <a:solidFill>
                  <a:srgbClr val="00B050"/>
                </a:solidFill>
                <a:latin typeface="Calibri" panose="020F0502020204030204"/>
                <a:ea typeface="等线" panose="02010600030101010101" pitchFamily="2" charset="-122"/>
              </a:rPr>
              <a:t>国际市场</a:t>
            </a:r>
          </a:p>
        </p:txBody>
      </p:sp>
      <p:sp>
        <p:nvSpPr>
          <p:cNvPr id="14" name="object 32"/>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800"/>
          </a:p>
        </p:txBody>
      </p:sp>
      <p:sp>
        <p:nvSpPr>
          <p:cNvPr id="20" name="object 99"/>
          <p:cNvSpPr/>
          <p:nvPr/>
        </p:nvSpPr>
        <p:spPr>
          <a:xfrm>
            <a:off x="-152" y="3345713"/>
            <a:ext cx="4608093" cy="111252"/>
          </a:xfrm>
          <a:prstGeom prst="rect">
            <a:avLst/>
          </a:prstGeom>
          <a:blipFill>
            <a:blip r:embed="rId3" cstate="print"/>
            <a:stretch>
              <a:fillRect/>
            </a:stretch>
          </a:bli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prstClr val="black"/>
              </a:solidFill>
              <a:effectLst/>
              <a:uLnTx/>
              <a:uFillTx/>
            </a:endParaRPr>
          </a:p>
        </p:txBody>
      </p:sp>
      <p:sp>
        <p:nvSpPr>
          <p:cNvPr id="21" name="object 100"/>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panose="02020503050405090304"/>
                <a:cs typeface="Times New Roman" panose="02020503050405090304"/>
              </a:rPr>
              <a:t> </a:t>
            </a:r>
            <a:r>
              <a:rPr sz="100" i="1" spc="80" dirty="0">
                <a:solidFill>
                  <a:srgbClr val="F2F2F2"/>
                </a:solidFill>
                <a:latin typeface="Times New Roman" panose="02020503050405090304"/>
                <a:cs typeface="Times New Roman" panose="02020503050405090304"/>
              </a:rPr>
              <a:t>I   </a:t>
            </a:r>
            <a:r>
              <a:rPr sz="600" spc="-5" dirty="0">
                <a:solidFill>
                  <a:srgbClr val="F2F2F2"/>
                </a:solidFill>
                <a:latin typeface="Times New Roman" panose="02020503050405090304"/>
                <a:cs typeface="Times New Roman" panose="02020503050405090304"/>
              </a:rPr>
              <a:t>(</a:t>
            </a:r>
            <a:r>
              <a:rPr lang="en-US" sz="600" spc="-5" dirty="0">
                <a:solidFill>
                  <a:srgbClr val="F2F2F2"/>
                </a:solidFill>
                <a:latin typeface="Times New Roman" panose="02020503050405090304"/>
                <a:cs typeface="Times New Roman" panose="02020503050405090304"/>
              </a:rPr>
              <a:t>Zhiqing Yang</a:t>
            </a:r>
            <a:r>
              <a:rPr sz="600" spc="135" dirty="0">
                <a:solidFill>
                  <a:srgbClr val="F2F2F2"/>
                </a:solidFill>
                <a:latin typeface="Times New Roman" panose="02020503050405090304"/>
                <a:cs typeface="Times New Roman" panose="02020503050405090304"/>
              </a:rPr>
              <a:t> </a:t>
            </a:r>
            <a:r>
              <a:rPr lang="en-US" altLang="zh-CN" sz="600" spc="-5" dirty="0" err="1">
                <a:solidFill>
                  <a:srgbClr val="F2F2F2"/>
                </a:solidFill>
                <a:latin typeface="Times New Roman" panose="02020503050405090304"/>
                <a:ea typeface="宋体" pitchFamily="2" charset="-122"/>
                <a:cs typeface="Times New Roman" panose="02020503050405090304"/>
              </a:rPr>
              <a:t>yangzhiqing</a:t>
            </a:r>
            <a:r>
              <a:rPr sz="600" spc="-5" dirty="0" err="1">
                <a:solidFill>
                  <a:srgbClr val="F2F2F2"/>
                </a:solidFill>
                <a:latin typeface="Times New Roman" panose="02020503050405090304"/>
                <a:cs typeface="Times New Roman" panose="02020503050405090304"/>
              </a:rPr>
              <a:t>@</a:t>
            </a:r>
            <a:r>
              <a:rPr lang="en-US" sz="600" spc="-5" dirty="0" err="1">
                <a:solidFill>
                  <a:srgbClr val="F2F2F2"/>
                </a:solidFill>
                <a:latin typeface="Times New Roman" panose="02020503050405090304"/>
                <a:cs typeface="Times New Roman" panose="02020503050405090304"/>
              </a:rPr>
              <a:t>hust.edu.cn</a:t>
            </a:r>
            <a:r>
              <a:rPr sz="600" spc="-5" dirty="0">
                <a:solidFill>
                  <a:srgbClr val="F2F2F2"/>
                </a:solidFill>
                <a:latin typeface="Times New Roman" panose="02020503050405090304"/>
                <a:cs typeface="Times New Roman" panose="02020503050405090304"/>
              </a:rPr>
              <a:t>)</a:t>
            </a:r>
            <a:endParaRPr sz="600" dirty="0">
              <a:solidFill>
                <a:prstClr val="black"/>
              </a:solidFill>
              <a:latin typeface="Times New Roman" panose="02020503050405090304"/>
              <a:cs typeface="Times New Roman" panose="02020503050405090304"/>
            </a:endParaRPr>
          </a:p>
        </p:txBody>
      </p:sp>
      <p:sp>
        <p:nvSpPr>
          <p:cNvPr id="22" name="object 101"/>
          <p:cNvSpPr txBox="1"/>
          <p:nvPr/>
        </p:nvSpPr>
        <p:spPr>
          <a:xfrm>
            <a:off x="2059938" y="3347973"/>
            <a:ext cx="677159" cy="89768"/>
          </a:xfrm>
          <a:prstGeom prst="rect">
            <a:avLst/>
          </a:prstGeom>
        </p:spPr>
        <p:txBody>
          <a:bodyPr vert="horz" wrap="square" lIns="0" tIns="0" rIns="0" bIns="0" rtlCol="0">
            <a:spAutoFit/>
          </a:bodyPr>
          <a:lstStyle>
            <a:defPPr>
              <a:defRPr lang="zh-CN"/>
            </a:defPPr>
            <a:lvl1pPr marL="0" algn="l" defTabSz="914400" rtl="0" eaLnBrk="1" latinLnBrk="0" hangingPunct="1">
              <a:defRPr sz="600" b="0" i="0" kern="1200">
                <a:solidFill>
                  <a:srgbClr val="8E0000"/>
                </a:solidFill>
                <a:latin typeface="Times New Roman" panose="02020503050405090304"/>
                <a:ea typeface="+mn-ea"/>
                <a:cs typeface="Times New Roman" panose="020205030504050903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700"/>
              </a:lnSpc>
              <a:spcBef>
                <a:spcPts val="0"/>
              </a:spcBef>
              <a:spcAft>
                <a:spcPts val="0"/>
              </a:spcAft>
              <a:buClrTx/>
              <a:buSzTx/>
              <a:buFontTx/>
              <a:buNone/>
              <a:defRPr/>
            </a:pPr>
            <a:r>
              <a:rPr kumimoji="0" lang="en-US" sz="600" b="0" i="0" u="none" strike="noStrike" kern="1200" cap="none" spc="-5" normalizeH="0" baseline="0" noProof="0">
                <a:ln>
                  <a:noFill/>
                </a:ln>
                <a:solidFill>
                  <a:srgbClr val="8E0000"/>
                </a:solidFill>
                <a:effectLst/>
                <a:uLnTx/>
                <a:uFillTx/>
                <a:latin typeface="Times New Roman" panose="02020503050405090304"/>
                <a:ea typeface="+mn-ea"/>
                <a:cs typeface="Times New Roman" panose="02020503050405090304"/>
              </a:rPr>
              <a:t>Macroeconomics</a:t>
            </a:r>
            <a:endParaRPr kumimoji="0" lang="en-US" sz="600" b="0" i="0" u="none" strike="noStrike" kern="1200" cap="none" spc="-5" normalizeH="0" baseline="0" noProof="0" dirty="0">
              <a:ln>
                <a:noFill/>
              </a:ln>
              <a:solidFill>
                <a:srgbClr val="8E0000"/>
              </a:solidFill>
              <a:effectLst/>
              <a:uLnTx/>
              <a:uFillTx/>
              <a:latin typeface="Times New Roman" panose="02020503050405090304"/>
              <a:ea typeface="+mn-ea"/>
              <a:cs typeface="Times New Roman" panose="02020503050405090304"/>
            </a:endParaRPr>
          </a:p>
        </p:txBody>
      </p:sp>
      <p:sp>
        <p:nvSpPr>
          <p:cNvPr id="29" name="object 102"/>
          <p:cNvSpPr txBox="1"/>
          <p:nvPr/>
        </p:nvSpPr>
        <p:spPr>
          <a:xfrm>
            <a:off x="3762247" y="3347973"/>
            <a:ext cx="448945" cy="89535"/>
          </a:xfrm>
          <a:prstGeom prst="rect">
            <a:avLst/>
          </a:prstGeom>
        </p:spPr>
        <p:txBody>
          <a:bodyPr vert="horz" wrap="square" lIns="0" tIns="0" rIns="0" bIns="0" rtlCol="0">
            <a:spAutoFit/>
          </a:bodyPr>
          <a:lstStyle/>
          <a:p>
            <a:pPr marL="12700">
              <a:lnSpc>
                <a:spcPts val="700"/>
              </a:lnSpc>
            </a:pPr>
            <a:r>
              <a:rPr lang="en-US" sz="600" spc="-5" dirty="0">
                <a:solidFill>
                  <a:srgbClr val="7A0000"/>
                </a:solidFill>
                <a:latin typeface="Times New Roman" panose="02020503050405090304"/>
                <a:cs typeface="Times New Roman" panose="02020503050405090304"/>
                <a:sym typeface="+mn-ea"/>
              </a:rPr>
              <a:t>2026-Apr</a:t>
            </a:r>
            <a:endParaRPr sz="600" dirty="0">
              <a:solidFill>
                <a:prstClr val="black"/>
              </a:solidFill>
              <a:latin typeface="Times New Roman" panose="02020503050405090304"/>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left)">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left)">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left)">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left)">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left)">
                                      <p:cBhvr>
                                        <p:cTn id="67" dur="500"/>
                                        <p:tgtEl>
                                          <p:spTgt spid="1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left)">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wipe(left)">
                                      <p:cBhvr>
                                        <p:cTn id="77" dur="500"/>
                                        <p:tgtEl>
                                          <p:spTgt spid="2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wipe(left)">
                                      <p:cBhvr>
                                        <p:cTn id="8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23" grpId="0" animBg="1"/>
      <p:bldP spid="24" grpId="0" animBg="1"/>
      <p:bldP spid="25" grpId="0" animBg="1"/>
      <p:bldP spid="34" grpId="0" animBg="1"/>
      <p:bldP spid="37" grpId="0" animBg="1"/>
      <p:bldP spid="42" grpId="0"/>
      <p:bldP spid="11" grpId="0" animBg="1"/>
      <p:bldP spid="28"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panose="02020503050405090304"/>
                <a:cs typeface="Times New Roman" panose="02020503050405090304"/>
              </a:rPr>
              <a:t>Macroeconomics</a:t>
            </a:r>
            <a:endParaRPr sz="1400" baseline="28000" dirty="0">
              <a:latin typeface="Times New Roman" panose="02020503050405090304"/>
              <a:cs typeface="Times New Roman" panose="02020503050405090304"/>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panose="02020503050405090304"/>
                <a:cs typeface="Times New Roman" panose="02020503050405090304"/>
              </a:rPr>
              <a:t>  </a:t>
            </a:r>
            <a:endParaRPr sz="100">
              <a:latin typeface="Times New Roman" panose="02020503050405090304"/>
              <a:cs typeface="Times New Roman" panose="02020503050405090304"/>
            </a:endParaRPr>
          </a:p>
        </p:txBody>
      </p:sp>
      <p:sp>
        <p:nvSpPr>
          <p:cNvPr id="94" name="object 94"/>
          <p:cNvSpPr txBox="1"/>
          <p:nvPr/>
        </p:nvSpPr>
        <p:spPr>
          <a:xfrm>
            <a:off x="92008" y="1471712"/>
            <a:ext cx="4387324" cy="786177"/>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panose="02020503050405090304"/>
              </a:rPr>
              <a:t>第一章 宏观经济学的基本指标及其衡量</a:t>
            </a:r>
            <a:endParaRPr lang="en-US" altLang="zh-CN" sz="1600" b="1" spc="-15" dirty="0">
              <a:latin typeface="Garamond" panose="02020404030301010803" pitchFamily="18" charset="0"/>
              <a:ea typeface="KaiTi" panose="02010609060101010101" pitchFamily="49" charset="-122"/>
              <a:cs typeface="Times New Roman" panose="02020503050405090304"/>
            </a:endParaRPr>
          </a:p>
          <a:p>
            <a:pPr marL="635" algn="ctr">
              <a:lnSpc>
                <a:spcPct val="130000"/>
              </a:lnSpc>
            </a:pPr>
            <a:r>
              <a:rPr lang="zh-CN" altLang="en-US" sz="1400" b="1" dirty="0">
                <a:solidFill>
                  <a:srgbClr val="333399"/>
                </a:solidFill>
                <a:latin typeface="Garamond" panose="02020404030301010803" pitchFamily="18" charset="0"/>
                <a:ea typeface="KaiTi" panose="02010609060101010101" pitchFamily="49" charset="-122"/>
                <a:cs typeface="+mj-cs"/>
              </a:rPr>
              <a:t>第</a:t>
            </a:r>
            <a:r>
              <a:rPr lang="en-US" altLang="zh-CN" sz="1400" b="1" dirty="0">
                <a:solidFill>
                  <a:srgbClr val="333399"/>
                </a:solidFill>
                <a:latin typeface="Garamond" panose="02020404030301010803" pitchFamily="18" charset="0"/>
                <a:ea typeface="KaiTi" panose="02010609060101010101" pitchFamily="49" charset="-122"/>
                <a:cs typeface="+mj-cs"/>
              </a:rPr>
              <a:t>1</a:t>
            </a:r>
            <a:r>
              <a:rPr lang="zh-CN" altLang="en-US" sz="1400" b="1" dirty="0">
                <a:solidFill>
                  <a:srgbClr val="333399"/>
                </a:solidFill>
                <a:latin typeface="Garamond" panose="02020404030301010803" pitchFamily="18" charset="0"/>
                <a:ea typeface="KaiTi" panose="02010609060101010101" pitchFamily="49" charset="-122"/>
                <a:cs typeface="+mj-cs"/>
              </a:rPr>
              <a:t>节 国内生产总值</a:t>
            </a:r>
            <a:endParaRPr lang="en-US" altLang="zh-CN" sz="1400" b="1" dirty="0">
              <a:solidFill>
                <a:srgbClr val="333399"/>
              </a:solidFill>
              <a:latin typeface="Garamond" panose="02020404030301010803" pitchFamily="18" charset="0"/>
              <a:ea typeface="KaiTi" panose="02010609060101010101" pitchFamily="49" charset="-122"/>
              <a:cs typeface="+mj-cs"/>
            </a:endParaRPr>
          </a:p>
          <a:p>
            <a:pPr marL="635" algn="ctr">
              <a:lnSpc>
                <a:spcPct val="130000"/>
              </a:lnSpc>
            </a:pPr>
            <a:endParaRPr sz="1000" b="1" dirty="0">
              <a:latin typeface="Garamond" panose="02020404030301010803" pitchFamily="18" charset="0"/>
              <a:cs typeface="Times New Roman" panose="02020503050405090304"/>
            </a:endParaRPr>
          </a:p>
        </p:txBody>
      </p:sp>
      <p:sp>
        <p:nvSpPr>
          <p:cNvPr id="95" name="object 99"/>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panose="02020503050405090304"/>
                <a:cs typeface="Times New Roman" panose="02020503050405090304"/>
              </a:rPr>
              <a:t> </a:t>
            </a:r>
            <a:r>
              <a:rPr sz="100" i="1" spc="80" dirty="0">
                <a:solidFill>
                  <a:srgbClr val="F2F2F2"/>
                </a:solidFill>
                <a:latin typeface="Times New Roman" panose="02020503050405090304"/>
                <a:cs typeface="Times New Roman" panose="02020503050405090304"/>
              </a:rPr>
              <a:t>I   </a:t>
            </a:r>
            <a:r>
              <a:rPr sz="600" spc="-5" dirty="0">
                <a:solidFill>
                  <a:srgbClr val="F2F2F2"/>
                </a:solidFill>
                <a:latin typeface="Times New Roman" panose="02020503050405090304"/>
                <a:cs typeface="Times New Roman" panose="02020503050405090304"/>
              </a:rPr>
              <a:t>(</a:t>
            </a:r>
            <a:r>
              <a:rPr lang="en-US" sz="600" spc="-5" dirty="0">
                <a:solidFill>
                  <a:srgbClr val="F2F2F2"/>
                </a:solidFill>
                <a:latin typeface="Times New Roman" panose="02020503050405090304"/>
                <a:cs typeface="Times New Roman" panose="02020503050405090304"/>
              </a:rPr>
              <a:t>Zhiqing Yang</a:t>
            </a:r>
            <a:r>
              <a:rPr sz="600" spc="135" dirty="0">
                <a:solidFill>
                  <a:srgbClr val="F2F2F2"/>
                </a:solidFill>
                <a:latin typeface="Times New Roman" panose="02020503050405090304"/>
                <a:cs typeface="Times New Roman" panose="02020503050405090304"/>
              </a:rPr>
              <a:t> </a:t>
            </a:r>
            <a:r>
              <a:rPr lang="en-US" altLang="zh-CN" sz="600" spc="-5" dirty="0" err="1">
                <a:solidFill>
                  <a:srgbClr val="F2F2F2"/>
                </a:solidFill>
                <a:latin typeface="Times New Roman" panose="02020503050405090304"/>
                <a:cs typeface="Times New Roman" panose="02020503050405090304"/>
              </a:rPr>
              <a:t>yangzhiqing</a:t>
            </a:r>
            <a:r>
              <a:rPr sz="600" spc="-5" dirty="0" err="1">
                <a:solidFill>
                  <a:srgbClr val="F2F2F2"/>
                </a:solidFill>
                <a:latin typeface="Times New Roman" panose="02020503050405090304"/>
                <a:cs typeface="Times New Roman" panose="02020503050405090304"/>
              </a:rPr>
              <a:t>@</a:t>
            </a:r>
            <a:r>
              <a:rPr lang="en-US" sz="600" spc="-5" dirty="0" err="1">
                <a:solidFill>
                  <a:srgbClr val="F2F2F2"/>
                </a:solidFill>
                <a:latin typeface="Times New Roman" panose="02020503050405090304"/>
                <a:cs typeface="Times New Roman" panose="02020503050405090304"/>
              </a:rPr>
              <a:t>hust.edu.cn</a:t>
            </a:r>
            <a:r>
              <a:rPr sz="600" spc="-5" dirty="0">
                <a:solidFill>
                  <a:srgbClr val="F2F2F2"/>
                </a:solidFill>
                <a:latin typeface="Times New Roman" panose="02020503050405090304"/>
                <a:cs typeface="Times New Roman" panose="02020503050405090304"/>
              </a:rPr>
              <a:t>)</a:t>
            </a:r>
            <a:endParaRPr sz="600" dirty="0">
              <a:latin typeface="Times New Roman" panose="02020503050405090304"/>
              <a:cs typeface="Times New Roman" panose="02020503050405090304"/>
            </a:endParaRPr>
          </a:p>
        </p:txBody>
      </p:sp>
      <p:sp>
        <p:nvSpPr>
          <p:cNvPr id="103" name="object 101"/>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
        <p:nvSpPr>
          <p:cNvPr id="104" name="object 102"/>
          <p:cNvSpPr txBox="1"/>
          <p:nvPr/>
        </p:nvSpPr>
        <p:spPr>
          <a:xfrm>
            <a:off x="3762247" y="3347973"/>
            <a:ext cx="448945" cy="89535"/>
          </a:xfrm>
          <a:prstGeom prst="rect">
            <a:avLst/>
          </a:prstGeom>
        </p:spPr>
        <p:txBody>
          <a:bodyPr vert="horz" wrap="square" lIns="0" tIns="0" rIns="0" bIns="0" rtlCol="0">
            <a:spAutoFit/>
          </a:bodyPr>
          <a:lstStyle/>
          <a:p>
            <a:pPr marL="12700">
              <a:lnSpc>
                <a:spcPts val="700"/>
              </a:lnSpc>
            </a:pPr>
            <a:r>
              <a:rPr lang="en-US" sz="600" spc="-5" dirty="0">
                <a:solidFill>
                  <a:srgbClr val="7A0000"/>
                </a:solidFill>
                <a:latin typeface="Times New Roman" panose="02020503050405090304"/>
                <a:cs typeface="Times New Roman" panose="02020503050405090304"/>
                <a:sym typeface="+mn-ea"/>
              </a:rPr>
              <a:t>2026-Apr</a:t>
            </a:r>
            <a:endParaRPr sz="600" dirty="0">
              <a:latin typeface="Times New Roman" panose="02020503050405090304"/>
              <a:cs typeface="Times New Roman" panose="02020503050405090304"/>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135565" y="609721"/>
            <a:ext cx="4332732" cy="2684655"/>
          </a:xfrm>
          <a:prstGeom prst="rect">
            <a:avLst/>
          </a:prstGeom>
        </p:spPr>
        <p:txBody>
          <a:bodyPr wrap="square" lIns="0" tIns="0" rIns="0" bIns="0">
            <a:normAutofit/>
          </a:bodyPr>
          <a:lstStyle>
            <a:lvl1pPr marL="0" eaLnBrk="1" hangingPunct="1">
              <a:defRPr sz="1000" b="0" i="0">
                <a:solidFill>
                  <a:schemeClr val="tx1"/>
                </a:solidFill>
                <a:latin typeface="Times New Roman" panose="02020503050405090304"/>
                <a:ea typeface="+mn-ea"/>
                <a:cs typeface="Times New Roman" panose="02020503050405090304"/>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宏观经济学研究什么？</a:t>
            </a:r>
            <a:endParaRPr lang="en-US" altLang="zh-CN"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什么是国内生产总值（</a:t>
            </a: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a:t>
            </a:r>
          </a:p>
          <a:p>
            <a:pPr marL="285750" indent="-285750">
              <a:lnSpc>
                <a:spcPct val="140000"/>
              </a:lnSpc>
              <a:buClr>
                <a:schemeClr val="tx1"/>
              </a:buClr>
              <a:buFont typeface="Wingdings" panose="05000000000000000000" pitchFamily="2" charset="2"/>
              <a:buChar char="p"/>
            </a:pP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与一国的总收入与总支出有什么联系？</a:t>
            </a:r>
          </a:p>
          <a:p>
            <a:pPr marL="285750" indent="-285750">
              <a:lnSpc>
                <a:spcPct val="140000"/>
              </a:lnSpc>
              <a:buClr>
                <a:schemeClr val="tx1"/>
              </a:buClr>
              <a:buFont typeface="Wingdings" panose="05000000000000000000" pitchFamily="2" charset="2"/>
              <a:buChar char="p"/>
            </a:pP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由哪几部分组成？</a:t>
            </a:r>
          </a:p>
          <a:p>
            <a:pPr marL="285750" indent="-285750">
              <a:lnSpc>
                <a:spcPct val="140000"/>
              </a:lnSpc>
              <a:buClr>
                <a:schemeClr val="tx1"/>
              </a:buClr>
              <a:buFont typeface="Wingdings" panose="05000000000000000000" pitchFamily="2" charset="2"/>
              <a:buChar char="p"/>
            </a:pP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怎么进行通货膨胀的校正？</a:t>
            </a:r>
          </a:p>
          <a:p>
            <a:pPr marL="285750" indent="-285750">
              <a:lnSpc>
                <a:spcPct val="140000"/>
              </a:lnSpc>
              <a:buClr>
                <a:schemeClr val="tx1"/>
              </a:buClr>
              <a:buFont typeface="Wingdings" panose="05000000000000000000" pitchFamily="2" charset="2"/>
              <a:buChar char="p"/>
            </a:pP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是衡量经济福利的好指标吗？</a:t>
            </a:r>
            <a:endParaRPr lang="en-US" altLang="zh-CN" sz="1400" kern="0" dirty="0">
              <a:latin typeface="Garamond" panose="02020404030301010803" pitchFamily="18" charset="0"/>
              <a:ea typeface="KaiTi" panose="02010609060101010101" pitchFamily="49" charset="-122"/>
            </a:endParaRPr>
          </a:p>
        </p:txBody>
      </p:sp>
      <p:sp>
        <p:nvSpPr>
          <p:cNvPr id="5" name="内容占位符 2"/>
          <p:cNvSpPr txBox="1"/>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panose="02020503050405090304"/>
                <a:ea typeface="+mn-ea"/>
                <a:cs typeface="Times New Roman" panose="02020503050405090304"/>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a:solidFill>
                  <a:srgbClr val="C00000"/>
                </a:solidFill>
                <a:latin typeface="微软雅黑" panose="020B0503020204020204" pitchFamily="34" charset="-122"/>
                <a:ea typeface="微软雅黑" panose="020B0503020204020204" pitchFamily="34" charset="-122"/>
              </a:rPr>
              <a:t>本节要</a:t>
            </a:r>
            <a:r>
              <a:rPr lang="zh-CN" altLang="en-US" sz="1800" kern="0" dirty="0">
                <a:solidFill>
                  <a:srgbClr val="C00000"/>
                </a:solidFill>
                <a:latin typeface="微软雅黑" panose="020B0503020204020204" pitchFamily="34" charset="-122"/>
                <a:ea typeface="微软雅黑" panose="020B0503020204020204" pitchFamily="34" charset="-122"/>
              </a:rPr>
              <a:t>解决以下问题</a:t>
            </a:r>
            <a:endParaRPr lang="en-US" altLang="zh-CN" sz="1800"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503" y="1370335"/>
            <a:ext cx="4419094" cy="184666"/>
          </a:xfrm>
        </p:spPr>
        <p:txBody>
          <a:bodyPr/>
          <a:lstStyle/>
          <a:p>
            <a:pPr algn="ctr"/>
            <a:r>
              <a:rPr lang="en-US" altLang="zh-CN" dirty="0"/>
              <a:t>Open discuss</a:t>
            </a:r>
            <a:r>
              <a:rPr lang="zh-CN" altLang="en-US" dirty="0"/>
              <a:t>：你想生活在什么样的国家？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descr="25"/>
          <p:cNvPicPr>
            <a:picLocks noChangeAspect="1" noChangeArrowheads="1"/>
          </p:cNvPicPr>
          <p:nvPr/>
        </p:nvPicPr>
        <p:blipFill>
          <a:blip r:embed="rId3">
            <a:extLst>
              <a:ext uri="{28A0092B-C50C-407E-A947-70E740481C1C}">
                <a14:useLocalDpi xmlns:a14="http://schemas.microsoft.com/office/drawing/2010/main" val="0"/>
              </a:ext>
            </a:extLst>
          </a:blip>
          <a:srcRect l="11719"/>
          <a:stretch>
            <a:fillRect/>
          </a:stretch>
        </p:blipFill>
        <p:spPr bwMode="auto">
          <a:xfrm>
            <a:off x="324830" y="107130"/>
            <a:ext cx="3960440" cy="324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left)">
                                      <p:cBhvr>
                                        <p:cTn id="7"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290" name="Picture 5" descr="25"/>
          <p:cNvPicPr>
            <a:picLocks noChangeAspect="1" noChangeArrowheads="1"/>
          </p:cNvPicPr>
          <p:nvPr/>
        </p:nvPicPr>
        <p:blipFill>
          <a:blip r:embed="rId3" cstate="print">
            <a:extLst>
              <a:ext uri="{28A0092B-C50C-407E-A947-70E740481C1C}">
                <a14:useLocalDpi xmlns:a14="http://schemas.microsoft.com/office/drawing/2010/main" val="0"/>
              </a:ext>
            </a:extLst>
          </a:blip>
          <a:srcRect l="5051" r="7576" b="6818"/>
          <a:stretch>
            <a:fillRect/>
          </a:stretch>
        </p:blipFill>
        <p:spPr bwMode="auto">
          <a:xfrm>
            <a:off x="288429" y="137039"/>
            <a:ext cx="4033242" cy="3186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left)">
                                      <p:cBhvr>
                                        <p:cTn id="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25"/>
          <p:cNvPicPr>
            <a:picLocks noChangeAspect="1" noChangeArrowheads="1"/>
          </p:cNvPicPr>
          <p:nvPr/>
        </p:nvPicPr>
        <p:blipFill>
          <a:blip r:embed="rId3" cstate="print">
            <a:extLst>
              <a:ext uri="{28A0092B-C50C-407E-A947-70E740481C1C}">
                <a14:useLocalDpi xmlns:a14="http://schemas.microsoft.com/office/drawing/2010/main" val="0"/>
              </a:ext>
            </a:extLst>
          </a:blip>
          <a:srcRect l="6737" t="1237" r="4210" b="2475"/>
          <a:stretch>
            <a:fillRect/>
          </a:stretch>
        </p:blipFill>
        <p:spPr bwMode="auto">
          <a:xfrm>
            <a:off x="144810" y="146199"/>
            <a:ext cx="4207245" cy="309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defPPr>
              <a:defRPr lang="zh-CN"/>
            </a:defPPr>
            <a:lvl1pPr marL="0" algn="r" defTabSz="914400" rtl="0" eaLnBrk="1" latinLnBrk="0" hangingPunct="1">
              <a:defRPr sz="855" kern="1200">
                <a:solidFill>
                  <a:srgbClr val="777777"/>
                </a:solidFill>
                <a:latin typeface="+mn-lt"/>
                <a:ea typeface="宋体"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C9ECCE-9A67-6F4D-96F4-AF59AF685F27}" type="slidenum">
              <a:rPr lang="zh-CN" altLang="zh-CN" smtClean="0"/>
              <a:t>12</a:t>
            </a:fld>
            <a:endParaRPr lang="en-US" altLang="zh-C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166"/>
            <a:ext cx="4610100" cy="3067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34975"/>
            <a:ext cx="4610100" cy="258921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0" y="37983"/>
            <a:ext cx="4590689" cy="309637"/>
          </a:xfrm>
          <a:prstGeom prst="rect">
            <a:avLst/>
          </a:prstGeom>
        </p:spPr>
        <p:txBody>
          <a:bodyPr wrap="square">
            <a:spAutoFit/>
          </a:bodyPr>
          <a:lstStyle/>
          <a:p>
            <a:r>
              <a:rPr lang="zh-CN" altLang="en-US" sz="1410" dirty="0">
                <a:ln w="0"/>
                <a:solidFill>
                  <a:srgbClr val="C00000"/>
                </a:solidFill>
                <a:effectLst>
                  <a:outerShdw blurRad="38100" dist="25400" dir="5400000" algn="ctr" rotWithShape="0">
                    <a:srgbClr val="6E747A">
                      <a:alpha val="43000"/>
                    </a:srgbClr>
                  </a:outerShdw>
                </a:effectLst>
                <a:latin typeface="DengXian" panose="02010600030101010101" pitchFamily="2" charset="-122"/>
                <a:ea typeface="DengXian" panose="02010600030101010101" pitchFamily="2" charset="-122"/>
              </a:rPr>
              <a:t>一个中国普通家庭及其所有财产</a:t>
            </a:r>
          </a:p>
        </p:txBody>
      </p:sp>
      <p:sp>
        <p:nvSpPr>
          <p:cNvPr id="5" name="矩形 4"/>
          <p:cNvSpPr/>
          <p:nvPr/>
        </p:nvSpPr>
        <p:spPr>
          <a:xfrm>
            <a:off x="2665090" y="2763811"/>
            <a:ext cx="1925599" cy="650947"/>
          </a:xfrm>
          <a:prstGeom prst="rect">
            <a:avLst/>
          </a:prstGeom>
          <a:solidFill>
            <a:schemeClr val="bg1"/>
          </a:solidFill>
        </p:spPr>
        <p:txBody>
          <a:bodyPr wrap="square">
            <a:spAutoFit/>
          </a:bodyPr>
          <a:lstStyle/>
          <a:p>
            <a:r>
              <a:rPr lang="zh-CN" altLang="en-US" sz="1210" dirty="0">
                <a:ln w="0"/>
                <a:solidFill>
                  <a:srgbClr val="C00000"/>
                </a:solidFill>
                <a:effectLst>
                  <a:outerShdw blurRad="38100" dist="25400" dir="5400000" algn="ctr" rotWithShape="0">
                    <a:srgbClr val="6E747A">
                      <a:alpha val="43000"/>
                    </a:srgbClr>
                  </a:outerShdw>
                </a:effectLst>
              </a:rPr>
              <a:t>人均GDP ：      $</a:t>
            </a:r>
            <a:r>
              <a:rPr lang="en-US" altLang="zh-CN" sz="1210" dirty="0">
                <a:ln w="0"/>
                <a:solidFill>
                  <a:srgbClr val="C00000"/>
                </a:solidFill>
                <a:effectLst>
                  <a:outerShdw blurRad="38100" dist="25400" dir="5400000" algn="ctr" rotWithShape="0">
                    <a:srgbClr val="6E747A">
                      <a:alpha val="43000"/>
                    </a:srgbClr>
                  </a:outerShdw>
                </a:effectLst>
              </a:rPr>
              <a:t>12</a:t>
            </a:r>
            <a:r>
              <a:rPr lang="zh-CN" altLang="en-US" sz="1210" dirty="0">
                <a:ln w="0"/>
                <a:solidFill>
                  <a:srgbClr val="C00000"/>
                </a:solidFill>
                <a:effectLst>
                  <a:outerShdw blurRad="38100" dist="25400" dir="5400000" algn="ctr" rotWithShape="0">
                    <a:srgbClr val="6E747A">
                      <a:alpha val="43000"/>
                    </a:srgbClr>
                  </a:outerShdw>
                </a:effectLst>
              </a:rPr>
              <a:t>,</a:t>
            </a:r>
            <a:r>
              <a:rPr lang="en-US" altLang="zh-CN" sz="1210" dirty="0">
                <a:ln w="0"/>
                <a:solidFill>
                  <a:srgbClr val="C00000"/>
                </a:solidFill>
                <a:effectLst>
                  <a:outerShdw blurRad="38100" dist="25400" dir="5400000" algn="ctr" rotWithShape="0">
                    <a:srgbClr val="6E747A">
                      <a:alpha val="43000"/>
                    </a:srgbClr>
                  </a:outerShdw>
                </a:effectLst>
              </a:rPr>
              <a:t>70</a:t>
            </a:r>
            <a:r>
              <a:rPr lang="zh-CN" altLang="en-US" sz="1210" dirty="0">
                <a:ln w="0"/>
                <a:solidFill>
                  <a:srgbClr val="C00000"/>
                </a:solidFill>
                <a:effectLst>
                  <a:outerShdw blurRad="38100" dist="25400" dir="5400000" algn="ctr" rotWithShape="0">
                    <a:srgbClr val="6E747A">
                      <a:alpha val="43000"/>
                    </a:srgbClr>
                  </a:outerShdw>
                </a:effectLst>
              </a:rPr>
              <a:t>0</a:t>
            </a:r>
          </a:p>
          <a:p>
            <a:r>
              <a:rPr lang="zh-CN" altLang="en-US" sz="1210" dirty="0">
                <a:ln w="0"/>
                <a:solidFill>
                  <a:srgbClr val="C00000"/>
                </a:solidFill>
                <a:effectLst>
                  <a:outerShdw blurRad="38100" dist="25400" dir="5400000" algn="ctr" rotWithShape="0">
                    <a:srgbClr val="6E747A">
                      <a:alpha val="43000"/>
                    </a:srgbClr>
                  </a:outerShdw>
                </a:effectLst>
              </a:rPr>
              <a:t>预期寿命： 	 7</a:t>
            </a:r>
            <a:r>
              <a:rPr lang="en-US" altLang="zh-CN" sz="1210" dirty="0">
                <a:ln w="0"/>
                <a:solidFill>
                  <a:srgbClr val="C00000"/>
                </a:solidFill>
                <a:effectLst>
                  <a:outerShdw blurRad="38100" dist="25400" dir="5400000" algn="ctr" rotWithShape="0">
                    <a:srgbClr val="6E747A">
                      <a:alpha val="43000"/>
                    </a:srgbClr>
                  </a:outerShdw>
                </a:effectLst>
              </a:rPr>
              <a:t>5.4</a:t>
            </a:r>
            <a:r>
              <a:rPr lang="zh-CN" altLang="en-US" sz="1210" dirty="0">
                <a:ln w="0"/>
                <a:solidFill>
                  <a:srgbClr val="C00000"/>
                </a:solidFill>
                <a:effectLst>
                  <a:outerShdw blurRad="38100" dist="25400" dir="5400000" algn="ctr" rotWithShape="0">
                    <a:srgbClr val="6E747A">
                      <a:alpha val="43000"/>
                    </a:srgbClr>
                  </a:outerShdw>
                </a:effectLst>
              </a:rPr>
              <a:t>岁</a:t>
            </a:r>
          </a:p>
          <a:p>
            <a:r>
              <a:rPr lang="zh-CN" altLang="en-US" sz="1210" dirty="0">
                <a:ln w="0"/>
                <a:solidFill>
                  <a:srgbClr val="C00000"/>
                </a:solidFill>
                <a:effectLst>
                  <a:outerShdw blurRad="38100" dist="25400" dir="5400000" algn="ctr" rotWithShape="0">
                    <a:srgbClr val="6E747A">
                      <a:alpha val="43000"/>
                    </a:srgbClr>
                  </a:outerShdw>
                </a:effectLst>
              </a:rPr>
              <a:t>成人识字率： 9</a:t>
            </a:r>
            <a:r>
              <a:rPr lang="en-US" altLang="zh-CN" sz="1210" dirty="0">
                <a:ln w="0"/>
                <a:solidFill>
                  <a:srgbClr val="C00000"/>
                </a:solidFill>
                <a:effectLst>
                  <a:outerShdw blurRad="38100" dist="25400" dir="5400000" algn="ctr" rotWithShape="0">
                    <a:srgbClr val="6E747A">
                      <a:alpha val="43000"/>
                    </a:srgbClr>
                  </a:outerShdw>
                </a:effectLst>
              </a:rPr>
              <a:t>6.4</a:t>
            </a:r>
            <a:r>
              <a:rPr lang="zh-CN" altLang="en-US" sz="1210" dirty="0">
                <a:ln w="0"/>
                <a:solidFill>
                  <a:srgbClr val="C00000"/>
                </a:solidFill>
                <a:effectLst>
                  <a:outerShdw blurRad="38100" dist="25400" dir="5400000" algn="ctr" rotWithShape="0">
                    <a:srgbClr val="6E747A">
                      <a:alpha val="43000"/>
                    </a:srgbClr>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defPPr>
              <a:defRPr lang="zh-CN"/>
            </a:defPPr>
            <a:lvl1pPr marL="0" algn="r" defTabSz="914400" rtl="0" eaLnBrk="1" latinLnBrk="0" hangingPunct="1">
              <a:defRPr sz="855" kern="1200">
                <a:solidFill>
                  <a:srgbClr val="777777"/>
                </a:solidFill>
                <a:latin typeface="+mn-lt"/>
                <a:ea typeface="宋体"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C9ECCE-9A67-6F4D-96F4-AF59AF685F27}" type="slidenum">
              <a:rPr lang="zh-CN" altLang="zh-CN" smtClean="0"/>
              <a:t>14</a:t>
            </a:fld>
            <a:endParaRPr lang="en-US" altLang="zh-CN"/>
          </a:p>
        </p:txBody>
      </p:sp>
      <p:pic>
        <p:nvPicPr>
          <p:cNvPr id="205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810" y="74191"/>
            <a:ext cx="4176464" cy="33180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defPPr>
              <a:defRPr lang="zh-CN"/>
            </a:defPPr>
            <a:lvl1pPr marL="0" algn="r" defTabSz="914400" rtl="0" eaLnBrk="1" latinLnBrk="0" hangingPunct="1">
              <a:defRPr sz="855" kern="1200">
                <a:solidFill>
                  <a:srgbClr val="777777"/>
                </a:solidFill>
                <a:latin typeface="+mn-lt"/>
                <a:ea typeface="宋体"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C9ECCE-9A67-6F4D-96F4-AF59AF685F27}" type="slidenum">
              <a:rPr lang="zh-CN" altLang="zh-CN" smtClean="0"/>
              <a:t>15</a:t>
            </a:fld>
            <a:endParaRPr lang="en-US" altLang="zh-C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166"/>
            <a:ext cx="4610100" cy="3067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descr="25"/>
          <p:cNvPicPr>
            <a:picLocks noChangeAspect="1" noChangeArrowheads="1"/>
          </p:cNvPicPr>
          <p:nvPr/>
        </p:nvPicPr>
        <p:blipFill>
          <a:blip r:embed="rId3" cstate="print">
            <a:extLst>
              <a:ext uri="{28A0092B-C50C-407E-A947-70E740481C1C}">
                <a14:useLocalDpi xmlns:a14="http://schemas.microsoft.com/office/drawing/2010/main" val="0"/>
              </a:ext>
            </a:extLst>
          </a:blip>
          <a:srcRect l="11719"/>
          <a:stretch>
            <a:fillRect/>
          </a:stretch>
        </p:blipFill>
        <p:spPr bwMode="auto">
          <a:xfrm>
            <a:off x="219163" y="347620"/>
            <a:ext cx="3196656" cy="2620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0" y="37983"/>
            <a:ext cx="4590689" cy="309637"/>
          </a:xfrm>
          <a:prstGeom prst="rect">
            <a:avLst/>
          </a:prstGeom>
        </p:spPr>
        <p:txBody>
          <a:bodyPr wrap="square">
            <a:spAutoFit/>
          </a:bodyPr>
          <a:lstStyle/>
          <a:p>
            <a:r>
              <a:rPr lang="zh-CN" altLang="en-US" sz="1410" dirty="0">
                <a:ln w="0"/>
                <a:solidFill>
                  <a:srgbClr val="C00000"/>
                </a:solidFill>
                <a:effectLst>
                  <a:outerShdw blurRad="38100" dist="25400" dir="5400000" algn="ctr" rotWithShape="0">
                    <a:srgbClr val="6E747A">
                      <a:alpha val="43000"/>
                    </a:srgbClr>
                  </a:outerShdw>
                </a:effectLst>
                <a:latin typeface="DengXian" panose="02010600030101010101" pitchFamily="2" charset="-122"/>
                <a:ea typeface="DengXian" panose="02010600030101010101" pitchFamily="2" charset="-122"/>
              </a:rPr>
              <a:t>一个英国普通家庭及其所有财产，发达国家</a:t>
            </a:r>
          </a:p>
        </p:txBody>
      </p:sp>
      <p:sp>
        <p:nvSpPr>
          <p:cNvPr id="3" name="矩形 2"/>
          <p:cNvSpPr/>
          <p:nvPr/>
        </p:nvSpPr>
        <p:spPr>
          <a:xfrm>
            <a:off x="2665090" y="2763811"/>
            <a:ext cx="1925599" cy="650947"/>
          </a:xfrm>
          <a:prstGeom prst="rect">
            <a:avLst/>
          </a:prstGeom>
          <a:solidFill>
            <a:schemeClr val="bg1"/>
          </a:solidFill>
        </p:spPr>
        <p:txBody>
          <a:bodyPr wrap="square">
            <a:spAutoFit/>
          </a:bodyPr>
          <a:lstStyle/>
          <a:p>
            <a:r>
              <a:rPr lang="zh-CN" altLang="en-US" sz="1210" dirty="0">
                <a:ln w="0"/>
                <a:solidFill>
                  <a:srgbClr val="C00000"/>
                </a:solidFill>
                <a:effectLst>
                  <a:outerShdw blurRad="38100" dist="25400" dir="5400000" algn="ctr" rotWithShape="0">
                    <a:srgbClr val="6E747A">
                      <a:alpha val="43000"/>
                    </a:srgbClr>
                  </a:outerShdw>
                </a:effectLst>
              </a:rPr>
              <a:t>人均GDP ：      $35,580</a:t>
            </a:r>
          </a:p>
          <a:p>
            <a:r>
              <a:rPr lang="zh-CN" altLang="en-US" sz="1210" dirty="0">
                <a:ln w="0"/>
                <a:solidFill>
                  <a:srgbClr val="C00000"/>
                </a:solidFill>
                <a:effectLst>
                  <a:outerShdw blurRad="38100" dist="25400" dir="5400000" algn="ctr" rotWithShape="0">
                    <a:srgbClr val="6E747A">
                      <a:alpha val="43000"/>
                    </a:srgbClr>
                  </a:outerShdw>
                </a:effectLst>
              </a:rPr>
              <a:t>预期寿命： 	 79 岁</a:t>
            </a:r>
          </a:p>
          <a:p>
            <a:r>
              <a:rPr lang="zh-CN" altLang="en-US" sz="1210" dirty="0">
                <a:ln w="0"/>
                <a:solidFill>
                  <a:srgbClr val="C00000"/>
                </a:solidFill>
                <a:effectLst>
                  <a:outerShdw blurRad="38100" dist="25400" dir="5400000" algn="ctr" rotWithShape="0">
                    <a:srgbClr val="6E747A">
                      <a:alpha val="43000"/>
                    </a:srgbClr>
                  </a:outerShdw>
                </a:effectLst>
              </a:rPr>
              <a:t>成人识字率： 99%</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left)">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290" name="Picture 5" descr="25"/>
          <p:cNvPicPr>
            <a:picLocks noChangeAspect="1" noChangeArrowheads="1"/>
          </p:cNvPicPr>
          <p:nvPr/>
        </p:nvPicPr>
        <p:blipFill>
          <a:blip r:embed="rId3" cstate="print">
            <a:extLst>
              <a:ext uri="{28A0092B-C50C-407E-A947-70E740481C1C}">
                <a14:useLocalDpi xmlns:a14="http://schemas.microsoft.com/office/drawing/2010/main" val="0"/>
              </a:ext>
            </a:extLst>
          </a:blip>
          <a:srcRect l="5051" r="7576" b="6818"/>
          <a:stretch>
            <a:fillRect/>
          </a:stretch>
        </p:blipFill>
        <p:spPr bwMode="auto">
          <a:xfrm>
            <a:off x="144810" y="278748"/>
            <a:ext cx="3622450" cy="286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0" y="0"/>
            <a:ext cx="4326027" cy="307777"/>
          </a:xfrm>
          <a:prstGeom prst="rect">
            <a:avLst/>
          </a:prstGeom>
          <a:noFill/>
        </p:spPr>
        <p:txBody>
          <a:bodyPr wrap="square">
            <a:spAutoFit/>
          </a:bodyPr>
          <a:lstStyle/>
          <a:p>
            <a:r>
              <a:rPr lang="zh-CN" altLang="zh-CN" sz="1400" kern="1200" dirty="0">
                <a:ln w="0"/>
                <a:solidFill>
                  <a:srgbClr val="C00000"/>
                </a:solidFill>
                <a:effectLst>
                  <a:outerShdw blurRad="38100" dist="25400" dir="5400000" algn="ctr" rotWithShape="0">
                    <a:srgbClr val="6E747A">
                      <a:alpha val="43000"/>
                    </a:srgbClr>
                  </a:outerShdw>
                </a:effectLst>
                <a:latin typeface="DengXian" panose="02010600030101010101" pitchFamily="2" charset="-122"/>
                <a:ea typeface="DengXian" panose="02010600030101010101" pitchFamily="2" charset="-122"/>
                <a:cs typeface="+mn-cs"/>
              </a:rPr>
              <a:t>一个墨西哥普通家庭及其所有财产，中等</a:t>
            </a:r>
            <a:r>
              <a:rPr lang="zh-CN" altLang="zh-CN" sz="1400" dirty="0">
                <a:solidFill>
                  <a:srgbClr val="C00000"/>
                </a:solidFill>
                <a:latin typeface="微软雅黑 Light" panose="020B0502040204020203" pitchFamily="34" charset="-122"/>
                <a:ea typeface="微软雅黑 Light" panose="020B0502040204020203" pitchFamily="34" charset="-122"/>
              </a:rPr>
              <a:t>收入国家</a:t>
            </a:r>
            <a:endParaRPr lang="zh-CN" altLang="en-US" sz="1400" dirty="0">
              <a:solidFill>
                <a:srgbClr val="C00000"/>
              </a:solidFill>
            </a:endParaRPr>
          </a:p>
        </p:txBody>
      </p:sp>
      <p:sp>
        <p:nvSpPr>
          <p:cNvPr id="5" name="文本框 4"/>
          <p:cNvSpPr txBox="1"/>
          <p:nvPr/>
        </p:nvSpPr>
        <p:spPr>
          <a:xfrm>
            <a:off x="3016466" y="2822776"/>
            <a:ext cx="1584175" cy="584775"/>
          </a:xfrm>
          <a:prstGeom prst="rect">
            <a:avLst/>
          </a:prstGeom>
          <a:solidFill>
            <a:schemeClr val="bg1"/>
          </a:solidFill>
        </p:spPr>
        <p:txBody>
          <a:bodyPr wrap="square">
            <a:spAutoFit/>
          </a:bodyPr>
          <a:lstStyle/>
          <a:p>
            <a:pPr>
              <a:spcBef>
                <a:spcPct val="10000"/>
              </a:spcBef>
              <a:buClr>
                <a:schemeClr val="bg2"/>
              </a:buClr>
              <a:tabLst>
                <a:tab pos="1759585" algn="l"/>
              </a:tabLst>
            </a:pPr>
            <a:r>
              <a:rPr lang="zh-CN" altLang="zh-CN" sz="1000" dirty="0">
                <a:solidFill>
                  <a:srgbClr val="C00000"/>
                </a:solidFill>
                <a:latin typeface="微软雅黑 Light" panose="020B0502040204020203" pitchFamily="34" charset="-122"/>
                <a:ea typeface="微软雅黑 Light" panose="020B0502040204020203" pitchFamily="34" charset="-122"/>
              </a:rPr>
              <a:t>人均GDP</a:t>
            </a:r>
            <a:r>
              <a:rPr lang="zh-CN" altLang="en-US" sz="1000" dirty="0">
                <a:solidFill>
                  <a:srgbClr val="C00000"/>
                </a:solidFill>
                <a:latin typeface="微软雅黑 Light" panose="020B0502040204020203" pitchFamily="34" charset="-122"/>
                <a:ea typeface="微软雅黑 Light" panose="020B0502040204020203" pitchFamily="34" charset="-122"/>
              </a:rPr>
              <a:t>：</a:t>
            </a:r>
            <a:r>
              <a:rPr lang="zh-CN" altLang="zh-CN" sz="1000" dirty="0">
                <a:solidFill>
                  <a:srgbClr val="C00000"/>
                </a:solidFill>
                <a:latin typeface="微软雅黑 Light" panose="020B0502040204020203" pitchFamily="34" charset="-122"/>
                <a:ea typeface="微软雅黑 Light" panose="020B0502040204020203" pitchFamily="34" charset="-122"/>
              </a:rPr>
              <a:t>$11,410</a:t>
            </a:r>
          </a:p>
          <a:p>
            <a:pPr>
              <a:spcBef>
                <a:spcPct val="10000"/>
              </a:spcBef>
              <a:buClr>
                <a:schemeClr val="bg2"/>
              </a:buClr>
              <a:tabLst>
                <a:tab pos="1759585" algn="l"/>
              </a:tabLst>
            </a:pPr>
            <a:r>
              <a:rPr lang="zh-CN" altLang="zh-CN" sz="1000" dirty="0">
                <a:solidFill>
                  <a:srgbClr val="C00000"/>
                </a:solidFill>
                <a:latin typeface="微软雅黑 Light" panose="020B0502040204020203" pitchFamily="34" charset="-122"/>
                <a:ea typeface="微软雅黑 Light" panose="020B0502040204020203" pitchFamily="34" charset="-122"/>
              </a:rPr>
              <a:t>预期寿命</a:t>
            </a:r>
            <a:r>
              <a:rPr lang="zh-CN" altLang="en-US" sz="1000" dirty="0">
                <a:solidFill>
                  <a:srgbClr val="C00000"/>
                </a:solidFill>
                <a:latin typeface="微软雅黑 Light" panose="020B0502040204020203" pitchFamily="34" charset="-122"/>
                <a:ea typeface="微软雅黑 Light" panose="020B0502040204020203" pitchFamily="34" charset="-122"/>
              </a:rPr>
              <a:t>：</a:t>
            </a:r>
            <a:r>
              <a:rPr lang="zh-CN" altLang="zh-CN" sz="1000" dirty="0">
                <a:solidFill>
                  <a:srgbClr val="C00000"/>
                </a:solidFill>
                <a:latin typeface="微软雅黑 Light" panose="020B0502040204020203" pitchFamily="34" charset="-122"/>
                <a:ea typeface="微软雅黑 Light" panose="020B0502040204020203" pitchFamily="34" charset="-122"/>
              </a:rPr>
              <a:t>76 岁</a:t>
            </a:r>
          </a:p>
          <a:p>
            <a:pPr>
              <a:spcBef>
                <a:spcPct val="10000"/>
              </a:spcBef>
              <a:buClr>
                <a:schemeClr val="bg2"/>
              </a:buClr>
              <a:tabLst>
                <a:tab pos="1759585" algn="l"/>
              </a:tabLst>
            </a:pPr>
            <a:r>
              <a:rPr lang="zh-CN" altLang="zh-CN" sz="1000" dirty="0">
                <a:solidFill>
                  <a:srgbClr val="C00000"/>
                </a:solidFill>
                <a:latin typeface="微软雅黑 Light" panose="020B0502040204020203" pitchFamily="34" charset="-122"/>
                <a:ea typeface="微软雅黑 Light" panose="020B0502040204020203" pitchFamily="34" charset="-122"/>
              </a:rPr>
              <a:t>成人识字率</a:t>
            </a:r>
            <a:r>
              <a:rPr lang="zh-CN" altLang="en-US" sz="1000" dirty="0">
                <a:solidFill>
                  <a:srgbClr val="C00000"/>
                </a:solidFill>
                <a:latin typeface="微软雅黑 Light" panose="020B0502040204020203" pitchFamily="34" charset="-122"/>
                <a:ea typeface="微软雅黑 Light" panose="020B0502040204020203" pitchFamily="34" charset="-122"/>
              </a:rPr>
              <a:t>：</a:t>
            </a:r>
            <a:r>
              <a:rPr lang="zh-CN" altLang="zh-CN" sz="1000" dirty="0">
                <a:solidFill>
                  <a:srgbClr val="C00000"/>
                </a:solidFill>
                <a:latin typeface="微软雅黑 Light" panose="020B0502040204020203" pitchFamily="34" charset="-122"/>
                <a:ea typeface="微软雅黑 Light" panose="020B0502040204020203" pitchFamily="34" charset="-122"/>
              </a:rPr>
              <a:t>92%</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left)">
                                      <p:cBhvr>
                                        <p:cTn id="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25"/>
          <p:cNvPicPr>
            <a:picLocks noChangeAspect="1" noChangeArrowheads="1"/>
          </p:cNvPicPr>
          <p:nvPr/>
        </p:nvPicPr>
        <p:blipFill>
          <a:blip r:embed="rId3" cstate="print">
            <a:extLst>
              <a:ext uri="{28A0092B-C50C-407E-A947-70E740481C1C}">
                <a14:useLocalDpi xmlns:a14="http://schemas.microsoft.com/office/drawing/2010/main" val="0"/>
              </a:ext>
            </a:extLst>
          </a:blip>
          <a:srcRect l="6737" t="1237" r="4210" b="2475"/>
          <a:stretch>
            <a:fillRect/>
          </a:stretch>
        </p:blipFill>
        <p:spPr bwMode="auto">
          <a:xfrm>
            <a:off x="216818" y="362223"/>
            <a:ext cx="3846552" cy="2830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2802" y="100613"/>
            <a:ext cx="4248472" cy="307777"/>
          </a:xfrm>
          <a:prstGeom prst="rect">
            <a:avLst/>
          </a:prstGeom>
          <a:noFill/>
        </p:spPr>
        <p:txBody>
          <a:bodyPr wrap="square">
            <a:spAutoFit/>
          </a:bodyPr>
          <a:lstStyle/>
          <a:p>
            <a:r>
              <a:rPr lang="zh-CN" altLang="zh-CN" sz="1400" dirty="0">
                <a:solidFill>
                  <a:srgbClr val="C00000"/>
                </a:solidFill>
                <a:latin typeface="微软雅黑 Light" panose="020B0502040204020203" pitchFamily="34" charset="-122"/>
                <a:ea typeface="微软雅黑 Light" panose="020B0502040204020203" pitchFamily="34" charset="-122"/>
              </a:rPr>
              <a:t>一个马里普通家庭及其所有财产，发展中国家</a:t>
            </a:r>
            <a:endParaRPr lang="zh-CN" altLang="en-US" sz="1400" dirty="0"/>
          </a:p>
        </p:txBody>
      </p:sp>
      <p:sp>
        <p:nvSpPr>
          <p:cNvPr id="5" name="文本框 4"/>
          <p:cNvSpPr txBox="1"/>
          <p:nvPr/>
        </p:nvSpPr>
        <p:spPr>
          <a:xfrm>
            <a:off x="2521074" y="2754389"/>
            <a:ext cx="2016224" cy="584775"/>
          </a:xfrm>
          <a:prstGeom prst="rect">
            <a:avLst/>
          </a:prstGeom>
          <a:solidFill>
            <a:schemeClr val="bg1"/>
          </a:solidFill>
        </p:spPr>
        <p:txBody>
          <a:bodyPr wrap="square">
            <a:spAutoFit/>
          </a:bodyPr>
          <a:lstStyle/>
          <a:p>
            <a:pPr>
              <a:spcBef>
                <a:spcPct val="10000"/>
              </a:spcBef>
              <a:buClr>
                <a:schemeClr val="bg2"/>
              </a:buClr>
              <a:buSzPct val="120000"/>
            </a:pPr>
            <a:r>
              <a:rPr lang="zh-CN" altLang="zh-CN" sz="1000" dirty="0">
                <a:solidFill>
                  <a:srgbClr val="C00000"/>
                </a:solidFill>
                <a:ea typeface="宋体" pitchFamily="2" charset="-122"/>
              </a:rPr>
              <a:t>人均GDP ：	$1,130</a:t>
            </a:r>
          </a:p>
          <a:p>
            <a:pPr>
              <a:spcBef>
                <a:spcPct val="10000"/>
              </a:spcBef>
              <a:buClr>
                <a:schemeClr val="bg2"/>
              </a:buClr>
              <a:buSzPct val="120000"/>
            </a:pPr>
            <a:r>
              <a:rPr lang="zh-CN" altLang="zh-CN" sz="1000" dirty="0">
                <a:solidFill>
                  <a:srgbClr val="C00000"/>
                </a:solidFill>
                <a:ea typeface="宋体" pitchFamily="2" charset="-122"/>
              </a:rPr>
              <a:t>预期寿命： 	50 岁</a:t>
            </a:r>
          </a:p>
          <a:p>
            <a:pPr>
              <a:spcBef>
                <a:spcPct val="10000"/>
              </a:spcBef>
              <a:buClr>
                <a:schemeClr val="bg2"/>
              </a:buClr>
              <a:buSzPct val="120000"/>
            </a:pPr>
            <a:r>
              <a:rPr lang="zh-CN" altLang="zh-CN" sz="1000" dirty="0">
                <a:solidFill>
                  <a:srgbClr val="C00000"/>
                </a:solidFill>
                <a:ea typeface="宋体" pitchFamily="2" charset="-122"/>
              </a:rPr>
              <a:t>成人识字率：	46%</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l" defTabSz="461010" rtl="0" eaLnBrk="1" fontAlgn="base" latinLnBrk="0" hangingPunct="1">
              <a:lnSpc>
                <a:spcPct val="100000"/>
              </a:lnSpc>
              <a:spcBef>
                <a:spcPct val="0"/>
              </a:spcBef>
              <a:spcAft>
                <a:spcPct val="0"/>
              </a:spcAft>
              <a:buClrTx/>
              <a:buSzTx/>
              <a:buFontTx/>
              <a:buNone/>
              <a:defRPr/>
            </a:pPr>
            <a:r>
              <a:rPr kumimoji="0" lang="zh-CN" altLang="en-US" sz="910" b="0" i="1" u="none" strike="noStrike" kern="1200" cap="none" spc="0" normalizeH="0" baseline="0" noProof="0" dirty="0">
                <a:ln>
                  <a:noFill/>
                </a:ln>
                <a:solidFill>
                  <a:srgbClr val="777777"/>
                </a:solidFill>
                <a:effectLst/>
                <a:uLnTx/>
                <a:uFillTx/>
                <a:latin typeface="Arial" panose="020B0604020202090204" pitchFamily="34" charset="0"/>
                <a:ea typeface="宋体" pitchFamily="2" charset="-122"/>
                <a:cs typeface="+mn-cs"/>
              </a:rPr>
              <a:t>国内生产总值</a:t>
            </a:r>
            <a:endParaRPr kumimoji="0" lang="zh-CN" altLang="zh-CN" sz="910" b="0" i="1" u="none" strike="noStrike" kern="1200" cap="none" spc="0" normalizeH="0" baseline="0" noProof="0" dirty="0">
              <a:ln>
                <a:noFill/>
              </a:ln>
              <a:solidFill>
                <a:srgbClr val="777777"/>
              </a:solidFill>
              <a:effectLst/>
              <a:uLnTx/>
              <a:uFillTx/>
              <a:latin typeface="Arial" panose="020B0604020202090204" pitchFamily="34" charset="0"/>
              <a:ea typeface="宋体"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461010" rtl="0" eaLnBrk="1" fontAlgn="base" latinLnBrk="0" hangingPunct="1">
              <a:lnSpc>
                <a:spcPct val="100000"/>
              </a:lnSpc>
              <a:spcBef>
                <a:spcPct val="0"/>
              </a:spcBef>
              <a:spcAft>
                <a:spcPct val="0"/>
              </a:spcAft>
              <a:buClrTx/>
              <a:buSzTx/>
              <a:buFontTx/>
              <a:buNone/>
              <a:defRPr/>
            </a:pPr>
            <a:fld id="{01A10CA9-DD10-9942-9743-3961BB95EC44}" type="slidenum">
              <a:rPr kumimoji="0" lang="zh-CN" altLang="zh-CN" sz="855" b="0" i="0" u="none" strike="noStrike" kern="1200" cap="none" spc="0" normalizeH="0" baseline="0" noProof="0">
                <a:ln>
                  <a:noFill/>
                </a:ln>
                <a:solidFill>
                  <a:srgbClr val="777777"/>
                </a:solidFill>
                <a:effectLst/>
                <a:uLnTx/>
                <a:uFillTx/>
                <a:latin typeface="Arial" panose="020B0604020202090204" pitchFamily="34" charset="0"/>
                <a:ea typeface="宋体" pitchFamily="2" charset="-122"/>
                <a:cs typeface="+mn-cs"/>
              </a:rPr>
              <a:t>19</a:t>
            </a:fld>
            <a:endParaRPr kumimoji="0" lang="en-US" altLang="zh-CN" sz="855" b="0" i="0" u="none" strike="noStrike" kern="1200" cap="none" spc="0" normalizeH="0" baseline="0" noProof="0">
              <a:ln>
                <a:noFill/>
              </a:ln>
              <a:solidFill>
                <a:srgbClr val="777777"/>
              </a:solidFill>
              <a:effectLst/>
              <a:uLnTx/>
              <a:uFillTx/>
              <a:latin typeface="Arial" panose="020B0604020202090204" pitchFamily="34" charset="0"/>
              <a:ea typeface="宋体" pitchFamily="2" charset="-122"/>
              <a:cs typeface="+mn-cs"/>
            </a:endParaRPr>
          </a:p>
        </p:txBody>
      </p:sp>
      <p:sp>
        <p:nvSpPr>
          <p:cNvPr id="10242" name="Rectangle 2"/>
          <p:cNvSpPr>
            <a:spLocks noGrp="1" noChangeArrowheads="1"/>
          </p:cNvSpPr>
          <p:nvPr>
            <p:ph type="title" idx="4294967295"/>
          </p:nvPr>
        </p:nvSpPr>
        <p:spPr>
          <a:xfrm>
            <a:off x="172879" y="128846"/>
            <a:ext cx="4240332" cy="290532"/>
          </a:xfrm>
        </p:spPr>
        <p:txBody>
          <a:bodyPr/>
          <a:lstStyle/>
          <a:p>
            <a:r>
              <a:rPr lang="zh-CN" altLang="zh-CN" sz="1815">
                <a:ea typeface="宋体" pitchFamily="2" charset="-122"/>
              </a:rPr>
              <a:t>微观经济学与宏观经济学</a:t>
            </a:r>
            <a:endParaRPr lang="zh-CN" altLang="en-US" sz="1815">
              <a:ea typeface="宋体" pitchFamily="2" charset="-122"/>
            </a:endParaRPr>
          </a:p>
        </p:txBody>
      </p:sp>
      <p:sp>
        <p:nvSpPr>
          <p:cNvPr id="10243" name="Rectangle 3"/>
          <p:cNvSpPr>
            <a:spLocks noGrp="1" noChangeArrowheads="1"/>
          </p:cNvSpPr>
          <p:nvPr>
            <p:ph type="body" idx="4294967295"/>
          </p:nvPr>
        </p:nvSpPr>
        <p:spPr>
          <a:xfrm>
            <a:off x="230505" y="525026"/>
            <a:ext cx="4149090" cy="2594782"/>
          </a:xfrm>
        </p:spPr>
        <p:txBody>
          <a:bodyPr/>
          <a:lstStyle/>
          <a:p>
            <a:pPr>
              <a:spcBef>
                <a:spcPct val="60000"/>
              </a:spcBef>
            </a:pPr>
            <a:r>
              <a:rPr lang="zh-CN" altLang="zh-CN" b="1" dirty="0">
                <a:solidFill>
                  <a:srgbClr val="CC0000"/>
                </a:solidFill>
                <a:ea typeface="宋体" pitchFamily="2" charset="-122"/>
              </a:rPr>
              <a:t>微观经济学:</a:t>
            </a:r>
            <a:r>
              <a:rPr lang="zh-CN" altLang="zh-CN" dirty="0">
                <a:ea typeface="宋体" pitchFamily="2" charset="-122"/>
              </a:rPr>
              <a:t>  </a:t>
            </a:r>
            <a:br>
              <a:rPr lang="zh-CN" altLang="zh-CN" dirty="0">
                <a:ea typeface="宋体" pitchFamily="2" charset="-122"/>
              </a:rPr>
            </a:br>
            <a:r>
              <a:rPr lang="zh-CN" altLang="zh-CN" dirty="0">
                <a:ea typeface="宋体" pitchFamily="2" charset="-122"/>
              </a:rPr>
              <a:t>研究家庭和企业如何做出决策，以及它们如何在市场上相互交易</a:t>
            </a:r>
          </a:p>
          <a:p>
            <a:pPr>
              <a:spcBef>
                <a:spcPct val="60000"/>
              </a:spcBef>
            </a:pPr>
            <a:r>
              <a:rPr lang="zh-CN" altLang="zh-CN" b="1" dirty="0">
                <a:solidFill>
                  <a:srgbClr val="CC0000"/>
                </a:solidFill>
                <a:ea typeface="宋体" pitchFamily="2" charset="-122"/>
              </a:rPr>
              <a:t>宏观经济学：</a:t>
            </a:r>
            <a:r>
              <a:rPr lang="zh-CN" altLang="zh-CN" dirty="0">
                <a:ea typeface="宋体" pitchFamily="2" charset="-122"/>
              </a:rPr>
              <a:t> </a:t>
            </a:r>
            <a:br>
              <a:rPr lang="zh-CN" altLang="zh-CN" dirty="0">
                <a:ea typeface="宋体" pitchFamily="2" charset="-122"/>
              </a:rPr>
            </a:br>
            <a:r>
              <a:rPr lang="zh-CN" altLang="zh-CN" dirty="0">
                <a:ea typeface="宋体" pitchFamily="2" charset="-122"/>
              </a:rPr>
              <a:t>研究整体经济现象</a:t>
            </a:r>
          </a:p>
          <a:p>
            <a:pPr>
              <a:spcBef>
                <a:spcPct val="60000"/>
              </a:spcBef>
            </a:pPr>
            <a:r>
              <a:rPr lang="zh-CN" altLang="zh-CN" dirty="0">
                <a:ea typeface="宋体" pitchFamily="2" charset="-122"/>
              </a:rPr>
              <a:t>我们从国家的总收入和总支出开始学习宏观经济学</a:t>
            </a: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marL="0" marR="0" lvl="0" indent="0" algn="r" defTabSz="461010" rtl="0" eaLnBrk="1" fontAlgn="base" latinLnBrk="0" hangingPunct="1">
              <a:lnSpc>
                <a:spcPct val="100000"/>
              </a:lnSpc>
              <a:spcBef>
                <a:spcPct val="0"/>
              </a:spcBef>
              <a:spcAft>
                <a:spcPct val="0"/>
              </a:spcAft>
              <a:buClrTx/>
              <a:buSzTx/>
              <a:buFontTx/>
              <a:buNone/>
              <a:defRPr/>
            </a:pPr>
            <a:fld id="{72F005FF-FB2C-2E45-8BCC-12773CA6E14A}" type="slidenum">
              <a:rPr kumimoji="0" lang="zh-CN" altLang="zh-CN" sz="855" b="0" i="0" u="none" strike="noStrike" kern="1200" cap="none" spc="0" normalizeH="0" baseline="0" noProof="0">
                <a:ln>
                  <a:noFill/>
                </a:ln>
                <a:solidFill>
                  <a:srgbClr val="777777"/>
                </a:solidFill>
                <a:effectLst/>
                <a:uLnTx/>
                <a:uFillTx/>
                <a:latin typeface="Arial" panose="020B0604020202090204" pitchFamily="34" charset="0"/>
                <a:ea typeface="宋体" pitchFamily="2" charset="-122"/>
                <a:cs typeface="+mn-cs"/>
              </a:rPr>
              <a:t>20</a:t>
            </a:fld>
            <a:endParaRPr kumimoji="0" lang="en-US" altLang="zh-CN" sz="855" b="0" i="0" u="none" strike="noStrike" kern="1200" cap="none" spc="0" normalizeH="0" baseline="0" noProof="0">
              <a:ln>
                <a:noFill/>
              </a:ln>
              <a:solidFill>
                <a:srgbClr val="777777"/>
              </a:solidFill>
              <a:effectLst/>
              <a:uLnTx/>
              <a:uFillTx/>
              <a:latin typeface="Arial" panose="020B0604020202090204" pitchFamily="34" charset="0"/>
              <a:ea typeface="宋体" pitchFamily="2" charset="-122"/>
              <a:cs typeface="+mn-cs"/>
            </a:endParaRPr>
          </a:p>
        </p:txBody>
      </p:sp>
      <p:sp>
        <p:nvSpPr>
          <p:cNvPr id="14338" name="Rectangle 2"/>
          <p:cNvSpPr>
            <a:spLocks noGrp="1" noChangeArrowheads="1"/>
          </p:cNvSpPr>
          <p:nvPr>
            <p:ph type="title" idx="4294967295"/>
          </p:nvPr>
        </p:nvSpPr>
        <p:spPr/>
        <p:txBody>
          <a:bodyPr/>
          <a:lstStyle/>
          <a:p>
            <a:r>
              <a:rPr lang="zh-CN" altLang="en-US" sz="1815" dirty="0">
                <a:ea typeface="宋体" pitchFamily="2" charset="-122"/>
              </a:rPr>
              <a:t>宏观经济学研究什么</a:t>
            </a:r>
          </a:p>
        </p:txBody>
      </p:sp>
      <p:sp>
        <p:nvSpPr>
          <p:cNvPr id="14339" name="Rectangle 3"/>
          <p:cNvSpPr>
            <a:spLocks noGrp="1" noChangeArrowheads="1"/>
          </p:cNvSpPr>
          <p:nvPr>
            <p:ph type="body" idx="4294967295"/>
          </p:nvPr>
        </p:nvSpPr>
        <p:spPr>
          <a:xfrm>
            <a:off x="229705" y="532230"/>
            <a:ext cx="4132282" cy="2569170"/>
          </a:xfrm>
        </p:spPr>
        <p:txBody>
          <a:bodyPr/>
          <a:lstStyle/>
          <a:p>
            <a:pPr>
              <a:spcBef>
                <a:spcPct val="20000"/>
              </a:spcBef>
            </a:pPr>
            <a:r>
              <a:rPr lang="zh-CN" altLang="en-US" dirty="0">
                <a:ea typeface="宋体" pitchFamily="2" charset="-122"/>
              </a:rPr>
              <a:t>经济增长</a:t>
            </a:r>
            <a:endParaRPr lang="en-US" altLang="zh-CN" dirty="0">
              <a:ea typeface="宋体" pitchFamily="2" charset="-122"/>
            </a:endParaRPr>
          </a:p>
          <a:p>
            <a:pPr>
              <a:spcBef>
                <a:spcPct val="20000"/>
              </a:spcBef>
            </a:pPr>
            <a:r>
              <a:rPr lang="zh-CN" altLang="en-US" dirty="0">
                <a:ea typeface="宋体" pitchFamily="2" charset="-122"/>
              </a:rPr>
              <a:t>通货膨胀</a:t>
            </a:r>
            <a:endParaRPr lang="en-US" altLang="zh-CN" dirty="0">
              <a:ea typeface="宋体" pitchFamily="2" charset="-122"/>
            </a:endParaRPr>
          </a:p>
          <a:p>
            <a:pPr>
              <a:spcBef>
                <a:spcPct val="20000"/>
              </a:spcBef>
            </a:pPr>
            <a:r>
              <a:rPr lang="zh-CN" altLang="en-US" dirty="0">
                <a:ea typeface="宋体" pitchFamily="2" charset="-122"/>
              </a:rPr>
              <a:t>失业</a:t>
            </a:r>
            <a:endParaRPr lang="en-US" altLang="zh-CN" dirty="0">
              <a:ea typeface="宋体" pitchFamily="2" charset="-122"/>
            </a:endParaRPr>
          </a:p>
          <a:p>
            <a:pPr>
              <a:spcBef>
                <a:spcPct val="20000"/>
              </a:spcBef>
            </a:pPr>
            <a:r>
              <a:rPr lang="zh-CN" altLang="en-US" dirty="0">
                <a:ea typeface="宋体" pitchFamily="2" charset="-122"/>
              </a:rPr>
              <a:t>国际经济</a:t>
            </a:r>
            <a:endParaRPr lang="en-US" altLang="zh-CN" dirty="0">
              <a:ea typeface="宋体" pitchFamily="2" charset="-122"/>
            </a:endParaRPr>
          </a:p>
          <a:p>
            <a:pPr>
              <a:spcBef>
                <a:spcPct val="20000"/>
              </a:spcBef>
            </a:pPr>
            <a:r>
              <a:rPr lang="en-US" altLang="zh-CN" dirty="0">
                <a:ea typeface="宋体" pitchFamily="2" charset="-122"/>
              </a:rPr>
              <a:t>……</a:t>
            </a:r>
          </a:p>
        </p:txBody>
      </p:sp>
      <p:sp>
        <p:nvSpPr>
          <p:cNvPr id="4" name="页脚占位符 1"/>
          <p:cNvSpPr>
            <a:spLocks noGrp="1"/>
          </p:cNvSpPr>
          <p:nvPr>
            <p:ph type="ftr" sz="quarter" idx="10"/>
          </p:nvPr>
        </p:nvSpPr>
        <p:spPr>
          <a:xfrm>
            <a:off x="144066" y="3226028"/>
            <a:ext cx="3698485" cy="185054"/>
          </a:xfrm>
        </p:spPr>
        <p:txBody>
          <a:bodyPr/>
          <a:lstStyle/>
          <a:p>
            <a:pPr marL="0" marR="0" lvl="0" indent="0" algn="l" defTabSz="461010" rtl="0" eaLnBrk="1" fontAlgn="base" latinLnBrk="0" hangingPunct="1">
              <a:lnSpc>
                <a:spcPct val="100000"/>
              </a:lnSpc>
              <a:spcBef>
                <a:spcPct val="0"/>
              </a:spcBef>
              <a:spcAft>
                <a:spcPct val="0"/>
              </a:spcAft>
              <a:buClrTx/>
              <a:buSzTx/>
              <a:buFontTx/>
              <a:buNone/>
              <a:defRPr/>
            </a:pPr>
            <a:r>
              <a:rPr kumimoji="0" lang="zh-CN" altLang="en-US" sz="910" b="0" i="1" u="none" strike="noStrike" kern="1200" cap="none" spc="0" normalizeH="0" baseline="0" noProof="0" dirty="0">
                <a:ln>
                  <a:noFill/>
                </a:ln>
                <a:solidFill>
                  <a:srgbClr val="777777"/>
                </a:solidFill>
                <a:effectLst/>
                <a:uLnTx/>
                <a:uFillTx/>
                <a:latin typeface="Arial" panose="020B0604020202090204" pitchFamily="34" charset="0"/>
                <a:ea typeface="宋体" pitchFamily="2" charset="-122"/>
                <a:cs typeface="+mn-cs"/>
              </a:rPr>
              <a:t>国内生产总值</a:t>
            </a:r>
            <a:endParaRPr kumimoji="0" lang="zh-CN" altLang="zh-CN" sz="910" b="0" i="1" u="none" strike="noStrike" kern="1200" cap="none" spc="0" normalizeH="0" baseline="0" noProof="0" dirty="0">
              <a:ln>
                <a:noFill/>
              </a:ln>
              <a:solidFill>
                <a:srgbClr val="777777"/>
              </a:solidFill>
              <a:effectLst/>
              <a:uLnTx/>
              <a:uFillTx/>
              <a:latin typeface="Arial" panose="020B0604020202090204" pitchFamily="34" charset="0"/>
              <a:ea typeface="宋体" pitchFamily="2" charset="-122"/>
              <a:cs typeface="+mn-cs"/>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 name="页脚占位符 1"/>
          <p:cNvSpPr>
            <a:spLocks noGrp="1"/>
          </p:cNvSpPr>
          <p:nvPr>
            <p:ph type="ftr" sz="quarter" idx="10"/>
          </p:nvPr>
        </p:nvSpPr>
        <p:spPr>
          <a:xfrm>
            <a:off x="628650" y="6356350"/>
            <a:ext cx="2057400" cy="365125"/>
          </a:xfrm>
          <a:prstGeom prst="rect">
            <a:avLst/>
          </a:prstGeom>
        </p:spPr>
        <p:txBody>
          <a:bodyPr vert="horz" lIns="91440" tIns="45720" rIns="91440" bIns="45720" rtlCol="0" anchor="ctr"/>
          <a:lstStyle>
            <a:defPPr>
              <a:defRPr lang="en-US"/>
            </a:defPPr>
            <a:lvl1pPr algn="l"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fld id="{BCEE2579-3327-433C-A8D3-133F40BB42A3}" type="datetime1">
              <a:rPr lang="zh-CN" altLang="en-US" smtClean="0"/>
              <a:t>2026/4/10</a:t>
            </a:fld>
            <a:endParaRPr lang="zh-CN" altLang="zh-CN"/>
          </a:p>
        </p:txBody>
      </p:sp>
      <p:sp>
        <p:nvSpPr>
          <p:cNvPr id="76" name="灯片编号占位符 2"/>
          <p:cNvSpPr>
            <a:spLocks noGrp="1"/>
          </p:cNvSpPr>
          <p:nvPr>
            <p:ph type="sldNum" sz="quarter" idx="11"/>
          </p:nvPr>
        </p:nvSpPr>
        <p:spPr>
          <a:xfrm>
            <a:off x="3028950" y="6356350"/>
            <a:ext cx="3086100" cy="365125"/>
          </a:xfrm>
          <a:prstGeom prst="rect">
            <a:avLst/>
          </a:prstGeom>
        </p:spPr>
        <p:txBody>
          <a:bodyPr vert="horz" lIns="91440" tIns="45720" rIns="91440" bIns="45720" rtlCol="0" anchor="ctr"/>
          <a:lstStyle>
            <a:defPPr>
              <a:defRPr lang="en-US"/>
            </a:defPPr>
            <a:lvl1pPr algn="ct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ltLang="zh-CN"/>
          </a:p>
        </p:txBody>
      </p:sp>
      <p:sp>
        <p:nvSpPr>
          <p:cNvPr id="16457" name="Rectangle 2"/>
          <p:cNvSpPr>
            <a:spLocks noGrp="1" noChangeArrowheads="1"/>
          </p:cNvSpPr>
          <p:nvPr>
            <p:ph type="title" idx="4294967295"/>
          </p:nvPr>
        </p:nvSpPr>
        <p:spPr>
          <a:xfrm>
            <a:off x="173679" y="122443"/>
            <a:ext cx="1185340" cy="434606"/>
          </a:xfrm>
          <a:noFill/>
        </p:spPr>
        <p:txBody>
          <a:bodyPr anchor="t"/>
          <a:lstStyle/>
          <a:p>
            <a:pPr algn="l"/>
            <a:r>
              <a:rPr lang="en-US" altLang="zh-CN" sz="1410" dirty="0">
                <a:latin typeface="Garamond" panose="02020404030301010803" pitchFamily="18" charset="0"/>
                <a:ea typeface="微软雅黑 Light" panose="020B0502040204020203" pitchFamily="34" charset="-122"/>
              </a:rPr>
              <a:t>1.</a:t>
            </a:r>
            <a:r>
              <a:rPr lang="zh-CN" altLang="en-US" sz="1410" dirty="0">
                <a:latin typeface="Garamond" panose="02020404030301010803" pitchFamily="18" charset="0"/>
                <a:ea typeface="微软雅黑 Light" panose="020B0502040204020203" pitchFamily="34" charset="-122"/>
              </a:rPr>
              <a:t> </a:t>
            </a:r>
            <a:r>
              <a:rPr lang="zh-CN" altLang="zh-CN" sz="1410" dirty="0">
                <a:latin typeface="Garamond" panose="02020404030301010803" pitchFamily="18" charset="0"/>
                <a:ea typeface="微软雅黑 Light" panose="020B0502040204020203" pitchFamily="34" charset="-122"/>
              </a:rPr>
              <a:t>经济增长</a:t>
            </a:r>
          </a:p>
        </p:txBody>
      </p:sp>
      <p:sp>
        <p:nvSpPr>
          <p:cNvPr id="6" name="Rectangle 74"/>
          <p:cNvSpPr txBox="1">
            <a:spLocks noChangeArrowheads="1"/>
          </p:cNvSpPr>
          <p:nvPr/>
        </p:nvSpPr>
        <p:spPr bwMode="auto">
          <a:xfrm>
            <a:off x="922" y="530512"/>
            <a:ext cx="1584048" cy="839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2720" indent="-172720" algn="l" rtl="0" fontAlgn="base">
              <a:lnSpc>
                <a:spcPct val="105000"/>
              </a:lnSpc>
              <a:spcBef>
                <a:spcPct val="45000"/>
              </a:spcBef>
              <a:spcAft>
                <a:spcPct val="0"/>
              </a:spcAft>
              <a:buClr>
                <a:srgbClr val="339966"/>
              </a:buClr>
              <a:buSzPct val="120000"/>
              <a:buFont typeface="Wingdings" panose="05000000000000000000" pitchFamily="2" charset="2"/>
              <a:buChar char="§"/>
              <a:defRPr sz="1410" kern="1200">
                <a:solidFill>
                  <a:schemeClr val="tx1"/>
                </a:solidFill>
                <a:latin typeface="+mn-lt"/>
                <a:ea typeface="+mn-ea"/>
                <a:cs typeface="+mn-cs"/>
              </a:defRPr>
            </a:lvl1pPr>
            <a:lvl2pPr marL="374650" indent="-144145" algn="l" rtl="0" fontAlgn="base">
              <a:spcBef>
                <a:spcPct val="15000"/>
              </a:spcBef>
              <a:spcAft>
                <a:spcPct val="0"/>
              </a:spcAft>
              <a:buClr>
                <a:srgbClr val="996633"/>
              </a:buClr>
              <a:buSzPct val="120000"/>
              <a:buFont typeface="Wingdings" panose="05000000000000000000" pitchFamily="2" charset="2"/>
              <a:buChar char="§"/>
              <a:defRPr sz="1360" kern="1200">
                <a:solidFill>
                  <a:schemeClr val="tx1"/>
                </a:solidFill>
                <a:latin typeface="+mn-lt"/>
                <a:ea typeface="+mn-ea"/>
                <a:cs typeface="+mn-cs"/>
              </a:defRPr>
            </a:lvl2pPr>
            <a:lvl3pPr marL="576580" indent="-115570" algn="l" rtl="0" fontAlgn="base">
              <a:spcBef>
                <a:spcPct val="15000"/>
              </a:spcBef>
              <a:spcAft>
                <a:spcPct val="0"/>
              </a:spcAft>
              <a:buClr>
                <a:srgbClr val="339966"/>
              </a:buClr>
              <a:buSzPct val="120000"/>
              <a:buFont typeface="Wingdings" panose="05000000000000000000" pitchFamily="2" charset="2"/>
              <a:buChar char="§"/>
              <a:defRPr sz="1260" kern="1200">
                <a:solidFill>
                  <a:schemeClr val="tx1"/>
                </a:solidFill>
                <a:latin typeface="+mn-lt"/>
                <a:ea typeface="+mn-ea"/>
                <a:cs typeface="+mn-cs"/>
              </a:defRPr>
            </a:lvl3pPr>
            <a:lvl4pPr marL="807085" indent="-115570" algn="l" rtl="0" fontAlgn="base">
              <a:spcBef>
                <a:spcPct val="15000"/>
              </a:spcBef>
              <a:spcAft>
                <a:spcPct val="0"/>
              </a:spcAft>
              <a:buChar char="–"/>
              <a:defRPr sz="1010" kern="1200">
                <a:solidFill>
                  <a:schemeClr val="tx1"/>
                </a:solidFill>
                <a:latin typeface="+mn-lt"/>
                <a:ea typeface="+mn-ea"/>
                <a:cs typeface="+mn-cs"/>
              </a:defRPr>
            </a:lvl4pPr>
            <a:lvl5pPr marL="1037590" indent="-115570" algn="l" rtl="0" fontAlgn="base">
              <a:spcBef>
                <a:spcPct val="20000"/>
              </a:spcBef>
              <a:spcAft>
                <a:spcPct val="0"/>
              </a:spcAft>
              <a:buChar char="»"/>
              <a:defRPr sz="1010"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a:lstStyle>
          <a:p>
            <a:pPr>
              <a:lnSpc>
                <a:spcPct val="100000"/>
              </a:lnSpc>
              <a:spcBef>
                <a:spcPct val="20000"/>
              </a:spcBef>
            </a:pPr>
            <a:r>
              <a:rPr lang="zh-CN" altLang="zh-CN" sz="1200" b="1" dirty="0">
                <a:latin typeface="Garamond" panose="02020404030301010803" pitchFamily="18" charset="0"/>
                <a:ea typeface="微软雅黑 Light" panose="020B0502040204020203" pitchFamily="34" charset="-122"/>
              </a:rPr>
              <a:t>事实</a:t>
            </a:r>
            <a:r>
              <a:rPr lang="en-US" altLang="zh-CN" sz="1200" b="1" dirty="0">
                <a:latin typeface="Garamond" panose="02020404030301010803" pitchFamily="18" charset="0"/>
                <a:ea typeface="微软雅黑 Light" panose="020B0502040204020203" pitchFamily="34" charset="-122"/>
              </a:rPr>
              <a:t>1</a:t>
            </a:r>
            <a:r>
              <a:rPr lang="zh-CN" altLang="zh-CN" sz="1200" b="1" dirty="0">
                <a:latin typeface="Garamond" panose="02020404030301010803" pitchFamily="18" charset="0"/>
                <a:ea typeface="微软雅黑 Light" panose="020B0502040204020203" pitchFamily="34" charset="-122"/>
              </a:rPr>
              <a:t>:</a:t>
            </a:r>
            <a:r>
              <a:rPr lang="zh-CN" altLang="en-US" sz="1200" b="1" dirty="0">
                <a:latin typeface="Garamond" panose="02020404030301010803" pitchFamily="18" charset="0"/>
                <a:ea typeface="微软雅黑 Light" panose="020B0502040204020203" pitchFamily="34" charset="-122"/>
              </a:rPr>
              <a:t>  </a:t>
            </a:r>
            <a:r>
              <a:rPr lang="zh-CN" altLang="zh-CN" sz="1200" dirty="0">
                <a:latin typeface="Garamond" panose="02020404030301010803" pitchFamily="18" charset="0"/>
                <a:ea typeface="微软雅黑 Light" panose="020B0502040204020203" pitchFamily="34" charset="-122"/>
              </a:rPr>
              <a:t>世界各国的经济增长有很大差别</a:t>
            </a:r>
          </a:p>
        </p:txBody>
      </p:sp>
      <p:pic>
        <p:nvPicPr>
          <p:cNvPr id="3" name="图片 2" descr="IMG_8198"/>
          <p:cNvPicPr>
            <a:picLocks noChangeAspect="1"/>
          </p:cNvPicPr>
          <p:nvPr/>
        </p:nvPicPr>
        <p:blipFill>
          <a:blip r:embed="rId3"/>
          <a:stretch>
            <a:fillRect/>
          </a:stretch>
        </p:blipFill>
        <p:spPr>
          <a:xfrm>
            <a:off x="1584970" y="1"/>
            <a:ext cx="3025130" cy="3460602"/>
          </a:xfrm>
          <a:prstGeom prst="rect">
            <a:avLst/>
          </a:prstGeom>
        </p:spPr>
      </p:pic>
      <p:sp>
        <p:nvSpPr>
          <p:cNvPr id="7" name="文本框 6"/>
          <p:cNvSpPr txBox="1"/>
          <p:nvPr/>
        </p:nvSpPr>
        <p:spPr>
          <a:xfrm>
            <a:off x="0" y="2996675"/>
            <a:ext cx="1440953" cy="341632"/>
          </a:xfrm>
          <a:prstGeom prst="rect">
            <a:avLst/>
          </a:prstGeom>
          <a:noFill/>
        </p:spPr>
        <p:txBody>
          <a:bodyPr wrap="square">
            <a:spAutoFit/>
          </a:bodyPr>
          <a:lstStyle/>
          <a:p>
            <a:pPr algn="ctr">
              <a:lnSpc>
                <a:spcPct val="90000"/>
              </a:lnSpc>
            </a:pPr>
            <a:r>
              <a:rPr lang="zh-CN" altLang="en-US" sz="900" b="1" dirty="0">
                <a:latin typeface="Garamond" panose="02020404030301010803" pitchFamily="18" charset="0"/>
                <a:ea typeface="KaiTi" panose="02010609060101010101" pitchFamily="49" charset="-122"/>
              </a:rPr>
              <a:t>右图：</a:t>
            </a:r>
            <a:r>
              <a:rPr lang="en-US" altLang="zh-CN" sz="900" b="1" dirty="0">
                <a:latin typeface="Garamond" panose="02020404030301010803" pitchFamily="18" charset="0"/>
                <a:ea typeface="KaiTi" panose="02010609060101010101" pitchFamily="49" charset="-122"/>
              </a:rPr>
              <a:t>1980-2025</a:t>
            </a:r>
            <a:r>
              <a:rPr lang="zh-CN" altLang="en-US" sz="900" b="1" dirty="0">
                <a:latin typeface="Garamond" panose="02020404030301010803" pitchFamily="18" charset="0"/>
                <a:ea typeface="KaiTi" panose="02010609060101010101" pitchFamily="49" charset="-122"/>
              </a:rPr>
              <a:t>年全球各主要经济体</a:t>
            </a:r>
            <a:r>
              <a:rPr lang="en-US" altLang="zh-CN" sz="900" b="1" dirty="0">
                <a:latin typeface="Garamond" panose="02020404030301010803" pitchFamily="18" charset="0"/>
                <a:ea typeface="KaiTi" panose="02010609060101010101" pitchFamily="49" charset="-122"/>
              </a:rPr>
              <a:t>GDP</a:t>
            </a:r>
            <a:r>
              <a:rPr lang="zh-CN" altLang="en-US" sz="900" b="1" dirty="0">
                <a:latin typeface="Garamond" panose="02020404030301010803" pitchFamily="18" charset="0"/>
                <a:ea typeface="KaiTi" panose="02010609060101010101" pitchFamily="49" charset="-122"/>
              </a:rPr>
              <a:t>变化</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5"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8FC9ECCE-9A67-6F4D-96F4-AF59AF685F27}" type="slidenum">
              <a:rPr lang="zh-CN" altLang="zh-CN" smtClean="0"/>
              <a:t>22</a:t>
            </a:fld>
            <a:endParaRPr lang="en-US" altLang="zh-CN"/>
          </a:p>
        </p:txBody>
      </p:sp>
      <p:sp>
        <p:nvSpPr>
          <p:cNvPr id="6" name="文本框 5"/>
          <p:cNvSpPr txBox="1"/>
          <p:nvPr/>
        </p:nvSpPr>
        <p:spPr>
          <a:xfrm>
            <a:off x="456011" y="3021379"/>
            <a:ext cx="3888432" cy="229870"/>
          </a:xfrm>
          <a:prstGeom prst="rect">
            <a:avLst/>
          </a:prstGeom>
          <a:noFill/>
        </p:spPr>
        <p:txBody>
          <a:bodyPr wrap="square">
            <a:spAutoFit/>
          </a:bodyPr>
          <a:lstStyle/>
          <a:p>
            <a:pPr algn="ctr"/>
            <a:r>
              <a:rPr lang="en-US" altLang="zh-CN" sz="900" dirty="0">
                <a:highlight>
                  <a:srgbClr val="FFFF00"/>
                </a:highlight>
                <a:latin typeface="Garamond" panose="02020404030301010803" pitchFamily="18" charset="0"/>
                <a:ea typeface="KaiTi" panose="02010609060101010101" pitchFamily="49" charset="-122"/>
              </a:rPr>
              <a:t>1990-2024</a:t>
            </a:r>
            <a:r>
              <a:rPr lang="zh-CN" altLang="en-US" sz="900" dirty="0">
                <a:highlight>
                  <a:srgbClr val="FFFF00"/>
                </a:highlight>
                <a:latin typeface="Garamond" panose="02020404030301010803" pitchFamily="18" charset="0"/>
                <a:ea typeface="KaiTi" panose="02010609060101010101" pitchFamily="49" charset="-122"/>
              </a:rPr>
              <a:t>年</a:t>
            </a:r>
            <a:r>
              <a:rPr lang="zh-CN" altLang="en-US" sz="900" dirty="0">
                <a:latin typeface="Garamond" panose="02020404030301010803" pitchFamily="18" charset="0"/>
                <a:ea typeface="KaiTi" panose="02010609060101010101" pitchFamily="49" charset="-122"/>
              </a:rPr>
              <a:t>全球各主要经济体</a:t>
            </a:r>
            <a:r>
              <a:rPr lang="zh-CN" altLang="en-US" sz="900" b="1" dirty="0">
                <a:latin typeface="Garamond" panose="02020404030301010803" pitchFamily="18" charset="0"/>
                <a:ea typeface="KaiTi" panose="02010609060101010101" pitchFamily="49" charset="-122"/>
              </a:rPr>
              <a:t>人均</a:t>
            </a:r>
            <a:r>
              <a:rPr lang="en-US" altLang="zh-CN" sz="900" b="1" dirty="0">
                <a:latin typeface="Garamond" panose="02020404030301010803" pitchFamily="18" charset="0"/>
                <a:ea typeface="KaiTi" panose="02010609060101010101" pitchFamily="49" charset="-122"/>
              </a:rPr>
              <a:t>GDP</a:t>
            </a:r>
            <a:r>
              <a:rPr lang="zh-CN" altLang="en-US" sz="900" b="1" dirty="0">
                <a:latin typeface="Garamond" panose="02020404030301010803" pitchFamily="18" charset="0"/>
                <a:ea typeface="KaiTi" panose="02010609060101010101" pitchFamily="49" charset="-122"/>
              </a:rPr>
              <a:t>变化</a:t>
            </a:r>
          </a:p>
        </p:txBody>
      </p:sp>
      <p:sp>
        <p:nvSpPr>
          <p:cNvPr id="7" name="Rectangle 2"/>
          <p:cNvSpPr txBox="1">
            <a:spLocks noChangeArrowheads="1"/>
          </p:cNvSpPr>
          <p:nvPr/>
        </p:nvSpPr>
        <p:spPr bwMode="auto">
          <a:xfrm>
            <a:off x="173679" y="122443"/>
            <a:ext cx="1185340" cy="434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a:lstStyle>
          <a:p>
            <a:pPr algn="l"/>
            <a:r>
              <a:rPr lang="en-US" altLang="zh-CN" sz="1410" dirty="0">
                <a:latin typeface="Garamond" panose="02020404030301010803" pitchFamily="18" charset="0"/>
                <a:ea typeface="微软雅黑 Light" panose="020B0502040204020203" pitchFamily="34" charset="-122"/>
              </a:rPr>
              <a:t>1.</a:t>
            </a:r>
            <a:r>
              <a:rPr lang="zh-CN" altLang="en-US" sz="1410" dirty="0">
                <a:latin typeface="Garamond" panose="02020404030301010803" pitchFamily="18" charset="0"/>
                <a:ea typeface="微软雅黑 Light" panose="020B0502040204020203" pitchFamily="34" charset="-122"/>
              </a:rPr>
              <a:t> </a:t>
            </a:r>
            <a:r>
              <a:rPr lang="zh-CN" altLang="zh-CN" sz="1410" dirty="0">
                <a:latin typeface="Garamond" panose="02020404030301010803" pitchFamily="18" charset="0"/>
                <a:ea typeface="微软雅黑 Light" panose="020B0502040204020203" pitchFamily="34" charset="-122"/>
              </a:rPr>
              <a:t>经济增长</a:t>
            </a:r>
          </a:p>
        </p:txBody>
      </p:sp>
      <p:pic>
        <p:nvPicPr>
          <p:cNvPr id="2" name="图片 1" descr="gdp-per-capita-worldbank"/>
          <p:cNvPicPr>
            <a:picLocks noChangeAspect="1"/>
          </p:cNvPicPr>
          <p:nvPr/>
        </p:nvPicPr>
        <p:blipFill>
          <a:blip r:embed="rId2"/>
          <a:srcRect b="35431"/>
          <a:stretch>
            <a:fillRect/>
          </a:stretch>
        </p:blipFill>
        <p:spPr>
          <a:xfrm>
            <a:off x="294640" y="434340"/>
            <a:ext cx="4022090" cy="25450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 name="灯片编号占位符 2"/>
          <p:cNvSpPr>
            <a:spLocks noGrp="1"/>
          </p:cNvSpPr>
          <p:nvPr>
            <p:ph type="sldNum" sz="quarter" idx="11"/>
          </p:nvPr>
        </p:nvSpPr>
        <p:spPr>
          <a:xfrm>
            <a:off x="3028950" y="6356350"/>
            <a:ext cx="3086100" cy="365125"/>
          </a:xfrm>
          <a:prstGeom prst="rect">
            <a:avLst/>
          </a:prstGeom>
        </p:spPr>
        <p:txBody>
          <a:bodyPr vert="horz" lIns="91440" tIns="45720" rIns="91440" bIns="45720" rtlCol="0" anchor="ctr"/>
          <a:lstStyle>
            <a:defPPr>
              <a:defRPr lang="en-US"/>
            </a:defPPr>
            <a:lvl1pPr algn="ct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ltLang="zh-CN"/>
          </a:p>
        </p:txBody>
      </p:sp>
      <p:sp>
        <p:nvSpPr>
          <p:cNvPr id="18506" name="Rectangle 74"/>
          <p:cNvSpPr>
            <a:spLocks noGrp="1" noChangeArrowheads="1"/>
          </p:cNvSpPr>
          <p:nvPr>
            <p:ph type="body" idx="4294967295"/>
          </p:nvPr>
        </p:nvSpPr>
        <p:spPr>
          <a:xfrm>
            <a:off x="72802" y="146199"/>
            <a:ext cx="3767546" cy="423193"/>
          </a:xfrm>
        </p:spPr>
        <p:txBody>
          <a:bodyPr/>
          <a:lstStyle/>
          <a:p>
            <a:pPr>
              <a:lnSpc>
                <a:spcPct val="85000"/>
              </a:lnSpc>
              <a:spcBef>
                <a:spcPct val="20000"/>
              </a:spcBef>
            </a:pPr>
            <a:r>
              <a:rPr lang="zh-CN" altLang="zh-CN" sz="1200" b="1" dirty="0">
                <a:latin typeface="Garamond" panose="02020404030301010803" pitchFamily="18" charset="0"/>
                <a:ea typeface="微软雅黑 Light" panose="020B0502040204020203" pitchFamily="34" charset="-122"/>
              </a:rPr>
              <a:t>事实 2:</a:t>
            </a:r>
            <a:r>
              <a:rPr lang="zh-CN" altLang="en-US" sz="1200" b="1" dirty="0">
                <a:latin typeface="Garamond" panose="02020404030301010803" pitchFamily="18" charset="0"/>
                <a:ea typeface="微软雅黑 Light" panose="020B0502040204020203" pitchFamily="34" charset="-122"/>
              </a:rPr>
              <a:t> </a:t>
            </a:r>
            <a:r>
              <a:rPr lang="zh-CN" altLang="zh-CN" sz="1200" dirty="0">
                <a:latin typeface="Garamond" panose="02020404030301010803" pitchFamily="18" charset="0"/>
                <a:ea typeface="微软雅黑 Light" panose="020B0502040204020203" pitchFamily="34" charset="-122"/>
              </a:rPr>
              <a:t>世界各国的经济增长率有很大差别</a:t>
            </a:r>
          </a:p>
        </p:txBody>
      </p:sp>
      <p:sp>
        <p:nvSpPr>
          <p:cNvPr id="4" name="文本框 3"/>
          <p:cNvSpPr txBox="1"/>
          <p:nvPr/>
        </p:nvSpPr>
        <p:spPr>
          <a:xfrm>
            <a:off x="432842" y="3007725"/>
            <a:ext cx="3888432" cy="229870"/>
          </a:xfrm>
          <a:prstGeom prst="rect">
            <a:avLst/>
          </a:prstGeom>
          <a:noFill/>
        </p:spPr>
        <p:txBody>
          <a:bodyPr wrap="square">
            <a:spAutoFit/>
          </a:bodyPr>
          <a:lstStyle/>
          <a:p>
            <a:pPr algn="ctr"/>
            <a:r>
              <a:rPr lang="en-US" altLang="zh-CN" sz="900" dirty="0">
                <a:solidFill>
                  <a:srgbClr val="FF0000"/>
                </a:solidFill>
                <a:highlight>
                  <a:srgbClr val="FFFF00"/>
                </a:highlight>
                <a:latin typeface="Garamond" panose="02020404030301010803" pitchFamily="18" charset="0"/>
                <a:ea typeface="KaiTi" panose="02010609060101010101" pitchFamily="49" charset="-122"/>
              </a:rPr>
              <a:t>1961-2024</a:t>
            </a:r>
            <a:r>
              <a:rPr lang="zh-CN" altLang="en-US" sz="900" dirty="0">
                <a:latin typeface="Garamond" panose="02020404030301010803" pitchFamily="18" charset="0"/>
                <a:ea typeface="KaiTi" panose="02010609060101010101" pitchFamily="49" charset="-122"/>
              </a:rPr>
              <a:t>年全球各主要经济体</a:t>
            </a:r>
            <a:r>
              <a:rPr lang="zh-CN" altLang="en-US" sz="900" b="1" dirty="0">
                <a:latin typeface="Garamond" panose="02020404030301010803" pitchFamily="18" charset="0"/>
                <a:ea typeface="KaiTi" panose="02010609060101010101" pitchFamily="49" charset="-122"/>
              </a:rPr>
              <a:t>人均</a:t>
            </a:r>
            <a:r>
              <a:rPr lang="en-US" altLang="zh-CN" sz="900" b="1" dirty="0">
                <a:latin typeface="Garamond" panose="02020404030301010803" pitchFamily="18" charset="0"/>
                <a:ea typeface="KaiTi" panose="02010609060101010101" pitchFamily="49" charset="-122"/>
              </a:rPr>
              <a:t>GDP</a:t>
            </a:r>
            <a:r>
              <a:rPr lang="zh-CN" altLang="en-US" sz="900" b="1" dirty="0">
                <a:latin typeface="Garamond" panose="02020404030301010803" pitchFamily="18" charset="0"/>
                <a:ea typeface="KaiTi" panose="02010609060101010101" pitchFamily="49" charset="-122"/>
              </a:rPr>
              <a:t>增长率</a:t>
            </a:r>
          </a:p>
        </p:txBody>
      </p:sp>
      <p:pic>
        <p:nvPicPr>
          <p:cNvPr id="5" name="图片 4" descr="gdp-per-capita-growth"/>
          <p:cNvPicPr>
            <a:picLocks noChangeAspect="1"/>
          </p:cNvPicPr>
          <p:nvPr/>
        </p:nvPicPr>
        <p:blipFill>
          <a:blip r:embed="rId2"/>
          <a:srcRect t="11764" b="12373"/>
          <a:stretch>
            <a:fillRect/>
          </a:stretch>
        </p:blipFill>
        <p:spPr>
          <a:xfrm>
            <a:off x="170180" y="489585"/>
            <a:ext cx="4322445" cy="2481580"/>
          </a:xfrm>
          <a:prstGeom prst="rect">
            <a:avLst/>
          </a:prstGeom>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506"/>
                                        </p:tgtEl>
                                        <p:attrNameLst>
                                          <p:attrName>style.visibility</p:attrName>
                                        </p:attrNameLst>
                                      </p:cBhvr>
                                      <p:to>
                                        <p:strVal val="visible"/>
                                      </p:to>
                                    </p:set>
                                    <p:animEffect transition="in" filter="dissolve">
                                      <p:cBhvr>
                                        <p:cTn id="7" dur="500"/>
                                        <p:tgtEl>
                                          <p:spTgt spid="18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06" grpId="0" bldLvl="5"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79754" y="331553"/>
            <a:ext cx="1717211" cy="2060654"/>
          </a:xfrm>
        </p:spPr>
      </p:pic>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fld id="{FAD6B5C5-F173-4E8F-B7DC-6ED3A3EC0E6C}" type="slidenum">
              <a:rPr lang="zh-CN" altLang="en-US" smtClean="0"/>
              <a:t>24</a:t>
            </a:fld>
            <a:endParaRPr lang="zh-CN" altLang="en-US"/>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944" y="1766665"/>
            <a:ext cx="1666827" cy="1536512"/>
          </a:xfrm>
          <a:prstGeom prst="rect">
            <a:avLst/>
          </a:prstGeom>
        </p:spPr>
      </p:pic>
      <p:pic>
        <p:nvPicPr>
          <p:cNvPr id="10" name="图片 9"/>
          <p:cNvPicPr>
            <a:picLocks noChangeAspect="1"/>
          </p:cNvPicPr>
          <p:nvPr/>
        </p:nvPicPr>
        <p:blipFill>
          <a:blip r:embed="rId4"/>
          <a:stretch>
            <a:fillRect/>
          </a:stretch>
        </p:blipFill>
        <p:spPr>
          <a:xfrm>
            <a:off x="316944" y="331553"/>
            <a:ext cx="2225009" cy="1390630"/>
          </a:xfrm>
          <a:prstGeom prst="rect">
            <a:avLst/>
          </a:prstGeom>
        </p:spPr>
      </p:pic>
      <p:sp>
        <p:nvSpPr>
          <p:cNvPr id="11" name="文本框 10"/>
          <p:cNvSpPr txBox="1"/>
          <p:nvPr/>
        </p:nvSpPr>
        <p:spPr>
          <a:xfrm>
            <a:off x="2101235" y="2514711"/>
            <a:ext cx="2414236" cy="511487"/>
          </a:xfrm>
          <a:prstGeom prst="rect">
            <a:avLst/>
          </a:prstGeom>
          <a:noFill/>
        </p:spPr>
        <p:txBody>
          <a:bodyPr wrap="square" rtlCol="0">
            <a:spAutoFit/>
          </a:bodyPr>
          <a:lstStyle/>
          <a:p>
            <a:r>
              <a:rPr lang="zh-CN" altLang="en-US" sz="910" b="1" dirty="0"/>
              <a:t>左上图</a:t>
            </a:r>
            <a:r>
              <a:rPr lang="zh-CN" altLang="en-US" sz="910" dirty="0"/>
              <a:t>：印钞厂的一幕</a:t>
            </a:r>
            <a:endParaRPr lang="en-US" altLang="zh-CN" sz="910" dirty="0"/>
          </a:p>
          <a:p>
            <a:r>
              <a:rPr lang="zh-CN" altLang="en-US" sz="910" b="1" dirty="0"/>
              <a:t>左下图</a:t>
            </a:r>
            <a:r>
              <a:rPr lang="zh-CN" altLang="en-US" sz="910" dirty="0"/>
              <a:t>：民众用一麻袋装的钱放到黄包车上</a:t>
            </a:r>
            <a:endParaRPr lang="en-US" altLang="zh-CN" sz="910" dirty="0"/>
          </a:p>
          <a:p>
            <a:r>
              <a:rPr lang="zh-CN" altLang="en-US" sz="910" b="1" dirty="0"/>
              <a:t>右    图</a:t>
            </a:r>
            <a:r>
              <a:rPr lang="zh-CN" altLang="en-US" sz="910" dirty="0"/>
              <a:t>：买东西的妇女所带的钱</a:t>
            </a:r>
          </a:p>
        </p:txBody>
      </p:sp>
      <p:sp>
        <p:nvSpPr>
          <p:cNvPr id="5" name="Rectangle 2"/>
          <p:cNvSpPr txBox="1">
            <a:spLocks noChangeArrowheads="1"/>
          </p:cNvSpPr>
          <p:nvPr/>
        </p:nvSpPr>
        <p:spPr>
          <a:xfrm>
            <a:off x="144810" y="92008"/>
            <a:ext cx="1185340" cy="217304"/>
          </a:xfrm>
          <a:prstGeom prst="rect">
            <a:avLst/>
          </a:prstGeom>
          <a:noFill/>
        </p:spPr>
        <p:txBody>
          <a:bodyPr wrap="square" lIns="0" tIns="0" rIns="0" bIns="0" anchor="t">
            <a:spAutoFit/>
          </a:bodyPr>
          <a:lstStyle>
            <a:lvl1pPr eaLnBrk="1" hangingPunct="1">
              <a:defRPr sz="1200" b="1" i="0">
                <a:solidFill>
                  <a:srgbClr val="CC0000"/>
                </a:solidFill>
                <a:latin typeface="Times New Roman" panose="02020503050405090304"/>
                <a:ea typeface="宋体" pitchFamily="2" charset="-122"/>
                <a:cs typeface="Times New Roman" panose="02020503050405090304"/>
              </a:defRPr>
            </a:lvl1pPr>
          </a:lstStyle>
          <a:p>
            <a:pPr algn="l"/>
            <a:r>
              <a:rPr lang="en-US" altLang="zh-CN" sz="1410" kern="0" dirty="0">
                <a:latin typeface="Garamond" panose="02020404030301010803" pitchFamily="18" charset="0"/>
                <a:ea typeface="微软雅黑 Light" panose="020B0502040204020203" pitchFamily="34" charset="-122"/>
              </a:rPr>
              <a:t>2.</a:t>
            </a:r>
            <a:r>
              <a:rPr lang="zh-CN" altLang="en-US" sz="1410" kern="0" dirty="0">
                <a:latin typeface="Garamond" panose="02020404030301010803" pitchFamily="18" charset="0"/>
                <a:ea typeface="微软雅黑 Light" panose="020B0502040204020203" pitchFamily="34" charset="-122"/>
              </a:rPr>
              <a:t> 通货膨胀</a:t>
            </a:r>
            <a:endParaRPr lang="zh-CN" altLang="zh-CN" sz="1410" kern="0" dirty="0">
              <a:latin typeface="Garamond" panose="02020404030301010803" pitchFamily="18" charset="0"/>
              <a:ea typeface="微软雅黑 Light" panose="020B0502040204020203"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9504" y="660491"/>
            <a:ext cx="2198376" cy="1185837"/>
          </a:xfrm>
        </p:spPr>
        <p:txBody>
          <a:bodyPr/>
          <a:lstStyle/>
          <a:p>
            <a:pPr>
              <a:lnSpc>
                <a:spcPct val="150000"/>
              </a:lnSpc>
            </a:pPr>
            <a:r>
              <a:rPr lang="zh-CN" altLang="en-US" sz="1050" b="1" dirty="0"/>
              <a:t>失业的基本问题：</a:t>
            </a:r>
            <a:endParaRPr lang="en-US" altLang="zh-CN" sz="1050" b="1" dirty="0"/>
          </a:p>
          <a:p>
            <a:pPr>
              <a:lnSpc>
                <a:spcPct val="150000"/>
              </a:lnSpc>
              <a:buFont typeface="Wingdings" panose="05000000000000000000" pitchFamily="2" charset="2"/>
              <a:buChar char="p"/>
            </a:pPr>
            <a:r>
              <a:rPr lang="zh-CN" altLang="en-US" sz="1050" dirty="0"/>
              <a:t>劳动市场是否总是均衡的，哪些因素影响了劳动市场的均衡？</a:t>
            </a:r>
            <a:endParaRPr lang="en-US" altLang="zh-CN" sz="1050" dirty="0"/>
          </a:p>
          <a:p>
            <a:pPr>
              <a:lnSpc>
                <a:spcPct val="150000"/>
              </a:lnSpc>
              <a:buFont typeface="Wingdings" panose="05000000000000000000" pitchFamily="2" charset="2"/>
              <a:buChar char="p"/>
            </a:pPr>
            <a:r>
              <a:rPr lang="zh-CN" altLang="en-US" sz="1050" dirty="0"/>
              <a:t>市场经济能否自发地保持充分就业？</a:t>
            </a:r>
            <a:endParaRPr lang="en-US" altLang="zh-CN" sz="1050" dirty="0"/>
          </a:p>
          <a:p>
            <a:pPr>
              <a:lnSpc>
                <a:spcPct val="150000"/>
              </a:lnSpc>
              <a:buFont typeface="Wingdings" panose="05000000000000000000" pitchFamily="2" charset="2"/>
              <a:buChar char="p"/>
            </a:pPr>
            <a:r>
              <a:rPr lang="zh-CN" altLang="en-US" sz="1050" dirty="0"/>
              <a:t>失业率是否越低越好？</a:t>
            </a:r>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lstStyle>
            <a:defPPr>
              <a:defRPr lang="en-US"/>
            </a:defPPr>
            <a:lvl1pPr algn="l"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fld id="{88E74CBE-2322-4706-A00B-18479DB58106}"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itchFamily="2" charset="-122"/>
                <a:cs typeface="+mn-cs"/>
              </a:rPr>
              <a:t>2026/4/10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FAD6B5C5-F173-4E8F-B7DC-6ED3A3EC0E6C}"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itchFamily="2" charset="-122"/>
                <a:cs typeface="+mn-cs"/>
              </a:rPr>
              <a:t>25</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2" name="页脚占位符 1"/>
          <p:cNvSpPr>
            <a:spLocks noGrp="1"/>
          </p:cNvSpPr>
          <p:nvPr>
            <p:ph type="ftr" sz="quarter" idx="11"/>
          </p:nvPr>
        </p:nvSpPr>
        <p:spPr>
          <a:xfrm>
            <a:off x="3028950" y="6356350"/>
            <a:ext cx="3086100" cy="365125"/>
          </a:xfrm>
          <a:prstGeom prst="rect">
            <a:avLst/>
          </a:prstGeom>
        </p:spPr>
        <p:txBody>
          <a:bodyPr vert="horz" lIns="91440" tIns="45720" rIns="91440" bIns="45720" rtlCol="0" anchor="ctr"/>
          <a:lstStyle>
            <a:defPPr>
              <a:defRPr lang="en-US"/>
            </a:defPPr>
            <a:lvl1pPr algn="ct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8" name="Rectangle 2"/>
          <p:cNvSpPr txBox="1">
            <a:spLocks noChangeArrowheads="1"/>
          </p:cNvSpPr>
          <p:nvPr/>
        </p:nvSpPr>
        <p:spPr>
          <a:xfrm>
            <a:off x="159128" y="239466"/>
            <a:ext cx="1185340" cy="217304"/>
          </a:xfrm>
          <a:prstGeom prst="rect">
            <a:avLst/>
          </a:prstGeom>
          <a:noFill/>
        </p:spPr>
        <p:txBody>
          <a:bodyPr wrap="square" lIns="0" tIns="0" rIns="0" bIns="0" anchor="t">
            <a:spAutoFit/>
          </a:bodyPr>
          <a:lstStyle>
            <a:lvl1pPr eaLnBrk="1" hangingPunct="1">
              <a:defRPr sz="1200" b="1" i="0">
                <a:solidFill>
                  <a:srgbClr val="CC0000"/>
                </a:solidFill>
                <a:latin typeface="Times New Roman" panose="02020503050405090304"/>
                <a:ea typeface="宋体" pitchFamily="2" charset="-122"/>
                <a:cs typeface="Times New Roman" panose="02020503050405090304"/>
              </a:defRPr>
            </a:lvl1pPr>
          </a:lstStyle>
          <a:p>
            <a:pPr algn="l"/>
            <a:r>
              <a:rPr lang="en-US" altLang="zh-CN" sz="1410" kern="0" dirty="0">
                <a:latin typeface="Garamond" panose="02020404030301010803" pitchFamily="18" charset="0"/>
                <a:ea typeface="微软雅黑 Light" panose="020B0502040204020203" pitchFamily="34" charset="-122"/>
              </a:rPr>
              <a:t>3.</a:t>
            </a:r>
            <a:r>
              <a:rPr lang="zh-CN" altLang="en-US" sz="1410" kern="0" dirty="0">
                <a:latin typeface="Garamond" panose="02020404030301010803" pitchFamily="18" charset="0"/>
                <a:ea typeface="微软雅黑 Light" panose="020B0502040204020203" pitchFamily="34" charset="-122"/>
              </a:rPr>
              <a:t> 失业</a:t>
            </a:r>
            <a:endParaRPr lang="zh-CN" altLang="zh-CN" sz="1410" kern="0" dirty="0">
              <a:latin typeface="Garamond" panose="02020404030301010803" pitchFamily="18" charset="0"/>
              <a:ea typeface="微软雅黑 Light" panose="020B0502040204020203" pitchFamily="34" charset="-122"/>
            </a:endParaRPr>
          </a:p>
        </p:txBody>
      </p:sp>
      <p:pic>
        <p:nvPicPr>
          <p:cNvPr id="10" name="图片 9"/>
          <p:cNvPicPr>
            <a:picLocks noChangeAspect="1"/>
          </p:cNvPicPr>
          <p:nvPr/>
        </p:nvPicPr>
        <p:blipFill rotWithShape="1">
          <a:blip r:embed="rId2"/>
          <a:srcRect l="28216" r="1217" b="1"/>
          <a:stretch>
            <a:fillRect/>
          </a:stretch>
        </p:blipFill>
        <p:spPr>
          <a:xfrm>
            <a:off x="2500293" y="831790"/>
            <a:ext cx="2119266" cy="1261343"/>
          </a:xfrm>
          <a:custGeom>
            <a:avLst/>
            <a:gdLst>
              <a:gd name="connsiteX0" fmla="*/ 1159248 w 5604670"/>
              <a:gd name="connsiteY0" fmla="*/ 0 h 2501837"/>
              <a:gd name="connsiteX1" fmla="*/ 5604670 w 5604670"/>
              <a:gd name="connsiteY1" fmla="*/ 0 h 2501837"/>
              <a:gd name="connsiteX2" fmla="*/ 5604670 w 5604670"/>
              <a:gd name="connsiteY2" fmla="*/ 2501837 h 2501837"/>
              <a:gd name="connsiteX3" fmla="*/ 0 w 5604670"/>
              <a:gd name="connsiteY3" fmla="*/ 2501837 h 2501837"/>
            </a:gdLst>
            <a:ahLst/>
            <a:cxnLst>
              <a:cxn ang="0">
                <a:pos x="connsiteX0" y="connsiteY0"/>
              </a:cxn>
              <a:cxn ang="0">
                <a:pos x="connsiteX1" y="connsiteY1"/>
              </a:cxn>
              <a:cxn ang="0">
                <a:pos x="connsiteX2" y="connsiteY2"/>
              </a:cxn>
              <a:cxn ang="0">
                <a:pos x="connsiteX3" y="connsiteY3"/>
              </a:cxn>
            </a:cxnLst>
            <a:rect l="l" t="t" r="r" b="b"/>
            <a:pathLst>
              <a:path w="5604670" h="2501837">
                <a:moveTo>
                  <a:pt x="1159248" y="0"/>
                </a:moveTo>
                <a:lnTo>
                  <a:pt x="5604670" y="0"/>
                </a:lnTo>
                <a:lnTo>
                  <a:pt x="5604670" y="2501837"/>
                </a:lnTo>
                <a:lnTo>
                  <a:pt x="0" y="2501837"/>
                </a:lnTo>
                <a:close/>
              </a:path>
            </a:pathLst>
          </a:custGeom>
        </p:spPr>
      </p:pic>
      <p:pic>
        <p:nvPicPr>
          <p:cNvPr id="11" name="图片 10"/>
          <p:cNvPicPr>
            <a:picLocks noChangeAspect="1"/>
          </p:cNvPicPr>
          <p:nvPr/>
        </p:nvPicPr>
        <p:blipFill rotWithShape="1">
          <a:blip r:embed="rId3"/>
          <a:srcRect t="4050" r="2" b="27685"/>
          <a:stretch>
            <a:fillRect/>
          </a:stretch>
        </p:blipFill>
        <p:spPr>
          <a:xfrm>
            <a:off x="1821084" y="2176114"/>
            <a:ext cx="2798475" cy="1260862"/>
          </a:xfrm>
          <a:custGeom>
            <a:avLst/>
            <a:gdLst>
              <a:gd name="connsiteX0" fmla="*/ 1717230 w 7400925"/>
              <a:gd name="connsiteY0" fmla="*/ 0 h 2500884"/>
              <a:gd name="connsiteX1" fmla="*/ 7400925 w 7400925"/>
              <a:gd name="connsiteY1" fmla="*/ 0 h 2500884"/>
              <a:gd name="connsiteX2" fmla="*/ 7400925 w 7400925"/>
              <a:gd name="connsiteY2" fmla="*/ 2500884 h 2500884"/>
              <a:gd name="connsiteX3" fmla="*/ 0 w 7400925"/>
              <a:gd name="connsiteY3" fmla="*/ 2500884 h 2500884"/>
              <a:gd name="connsiteX4" fmla="*/ 0 w 7400925"/>
              <a:gd name="connsiteY4" fmla="*/ 2500883 h 2500884"/>
              <a:gd name="connsiteX5" fmla="*/ 552186 w 7400925"/>
              <a:gd name="connsiteY5" fmla="*/ 2500883 h 2500884"/>
              <a:gd name="connsiteX6" fmla="*/ 558423 w 7400925"/>
              <a:gd name="connsiteY6" fmla="*/ 2500883 h 25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00925" h="2500884">
                <a:moveTo>
                  <a:pt x="1717230" y="0"/>
                </a:moveTo>
                <a:lnTo>
                  <a:pt x="7400925" y="0"/>
                </a:lnTo>
                <a:lnTo>
                  <a:pt x="7400925" y="2500884"/>
                </a:lnTo>
                <a:lnTo>
                  <a:pt x="0" y="2500884"/>
                </a:lnTo>
                <a:lnTo>
                  <a:pt x="0" y="2500883"/>
                </a:lnTo>
                <a:lnTo>
                  <a:pt x="552186" y="2500883"/>
                </a:lnTo>
                <a:lnTo>
                  <a:pt x="558423" y="2500883"/>
                </a:lnTo>
                <a:close/>
              </a:path>
            </a:pathLst>
          </a:custGeom>
        </p:spPr>
      </p:pic>
      <p:sp>
        <p:nvSpPr>
          <p:cNvPr id="12" name="标题 1"/>
          <p:cNvSpPr>
            <a:spLocks noGrp="1"/>
          </p:cNvSpPr>
          <p:nvPr>
            <p:ph type="title"/>
          </p:nvPr>
        </p:nvSpPr>
        <p:spPr>
          <a:xfrm>
            <a:off x="159189" y="2176123"/>
            <a:ext cx="1805506" cy="203721"/>
          </a:xfrm>
        </p:spPr>
        <p:txBody>
          <a:bodyPr>
            <a:normAutofit/>
          </a:bodyPr>
          <a:lstStyle/>
          <a:p>
            <a:pPr algn="ctr"/>
            <a:r>
              <a:rPr lang="zh-CN" altLang="en-US" b="1" dirty="0">
                <a:solidFill>
                  <a:schemeClr val="bg1">
                    <a:lumMod val="50000"/>
                  </a:schemeClr>
                </a:solidFill>
              </a:rPr>
              <a:t>电影：</a:t>
            </a:r>
            <a:r>
              <a:rPr lang="en-US" altLang="zh-CN" b="1" dirty="0">
                <a:solidFill>
                  <a:schemeClr val="bg1">
                    <a:lumMod val="50000"/>
                  </a:schemeClr>
                </a:solidFill>
              </a:rPr>
              <a:t>《</a:t>
            </a:r>
            <a:r>
              <a:rPr lang="zh-CN" altLang="en-US" b="1" dirty="0">
                <a:solidFill>
                  <a:schemeClr val="bg1">
                    <a:lumMod val="50000"/>
                  </a:schemeClr>
                </a:solidFill>
              </a:rPr>
              <a:t>当幸福来敲门</a:t>
            </a:r>
            <a:r>
              <a:rPr lang="en-US" altLang="zh-CN" b="1" dirty="0">
                <a:solidFill>
                  <a:schemeClr val="bg1">
                    <a:lumMod val="50000"/>
                  </a:schemeClr>
                </a:solidFill>
              </a:rPr>
              <a:t>》</a:t>
            </a:r>
            <a:endParaRPr lang="zh-CN" altLang="en-US" b="1" dirty="0">
              <a:solidFill>
                <a:schemeClr val="bg1">
                  <a:lumMod val="50000"/>
                </a:schemeClr>
              </a:solidFill>
            </a:endParaRPr>
          </a:p>
        </p:txBody>
      </p:sp>
      <p:sp>
        <p:nvSpPr>
          <p:cNvPr id="13" name="内容占位符 2"/>
          <p:cNvSpPr txBox="1"/>
          <p:nvPr/>
        </p:nvSpPr>
        <p:spPr>
          <a:xfrm>
            <a:off x="72802" y="2472288"/>
            <a:ext cx="1921901" cy="346651"/>
          </a:xfrm>
          <a:prstGeom prst="rect">
            <a:avLst/>
          </a:prstGeom>
        </p:spPr>
        <p:txBody>
          <a:bodyPr wrap="square" lIns="0" tIns="0" rIns="0" bIns="0" anchor="ctr">
            <a:normAutofit fontScale="70000" lnSpcReduction="20000"/>
          </a:bodyPr>
          <a:lstStyle>
            <a:lvl1pPr marL="0" eaLnBrk="1" hangingPunct="1">
              <a:defRPr sz="1000" b="0" i="0">
                <a:solidFill>
                  <a:schemeClr val="tx1"/>
                </a:solidFill>
                <a:latin typeface="Garamond" panose="02020404030301010803" pitchFamily="18" charset="0"/>
                <a:ea typeface="宋体" pitchFamily="2" charset="-122"/>
                <a:cs typeface="Times New Roman" panose="02020503050405090304"/>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r>
              <a:rPr lang="en-US" altLang="zh-CN" sz="2015" kern="0" dirty="0">
                <a:solidFill>
                  <a:schemeClr val="bg1">
                    <a:lumMod val="50000"/>
                  </a:schemeClr>
                </a:solidFill>
              </a:rPr>
              <a:t>The Pursuit of Happiness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3">
                                            <p:txEl>
                                              <p:pRg st="0" end="0"/>
                                            </p:txEl>
                                          </p:spTgt>
                                        </p:tgtEl>
                                        <p:attrNameLst>
                                          <p:attrName>style.visibility</p:attrName>
                                        </p:attrNameLst>
                                      </p:cBhvr>
                                      <p:to>
                                        <p:strVal val="visible"/>
                                      </p:to>
                                    </p:set>
                                    <p:animEffect transition="in" filter="barn(inVertical)">
                                      <p:cBhvr>
                                        <p:cTn id="18"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E4BF3FFE-FF3E-0840-8B1D-41A780A74E14}" type="slidenum">
              <a:rPr lang="zh-CN" altLang="zh-CN">
                <a:latin typeface="Arial" panose="020B0604020202090204" pitchFamily="34" charset="0"/>
              </a:rPr>
              <a:t>26</a:t>
            </a:fld>
            <a:endParaRPr lang="en-US" altLang="zh-CN">
              <a:latin typeface="Arial" panose="020B0604020202090204" pitchFamily="34" charset="0"/>
            </a:endParaRPr>
          </a:p>
        </p:txBody>
      </p:sp>
      <p:sp>
        <p:nvSpPr>
          <p:cNvPr id="12290" name="Rectangle 6"/>
          <p:cNvSpPr>
            <a:spLocks noGrp="1" noChangeArrowheads="1"/>
          </p:cNvSpPr>
          <p:nvPr>
            <p:ph type="title" idx="4294967295"/>
          </p:nvPr>
        </p:nvSpPr>
        <p:spPr/>
        <p:txBody>
          <a:bodyPr/>
          <a:lstStyle/>
          <a:p>
            <a:r>
              <a:rPr lang="zh-CN" altLang="zh-CN" sz="1815" dirty="0">
                <a:ea typeface="宋体" pitchFamily="2" charset="-122"/>
              </a:rPr>
              <a:t>收入与支出</a:t>
            </a:r>
            <a:endParaRPr lang="zh-CN" altLang="en-US" sz="1815" dirty="0">
              <a:ea typeface="宋体" pitchFamily="2" charset="-122"/>
            </a:endParaRPr>
          </a:p>
        </p:txBody>
      </p:sp>
      <p:sp>
        <p:nvSpPr>
          <p:cNvPr id="12291" name="Rectangle 7"/>
          <p:cNvSpPr>
            <a:spLocks noGrp="1" noChangeArrowheads="1"/>
          </p:cNvSpPr>
          <p:nvPr>
            <p:ph type="body" idx="4294967295"/>
          </p:nvPr>
        </p:nvSpPr>
        <p:spPr>
          <a:xfrm>
            <a:off x="188086" y="509819"/>
            <a:ext cx="4191509" cy="1097300"/>
          </a:xfrm>
        </p:spPr>
        <p:txBody>
          <a:bodyPr/>
          <a:lstStyle/>
          <a:p>
            <a:r>
              <a:rPr lang="zh-CN" altLang="zh-CN" b="1">
                <a:solidFill>
                  <a:srgbClr val="CC0000"/>
                </a:solidFill>
                <a:ea typeface="宋体" pitchFamily="2" charset="-122"/>
              </a:rPr>
              <a:t>国内生产总值 (GDP)</a:t>
            </a:r>
            <a:r>
              <a:rPr lang="zh-CN" altLang="zh-CN">
                <a:ea typeface="宋体" pitchFamily="2" charset="-122"/>
              </a:rPr>
              <a:t> 衡量经济中所有人的总收入  </a:t>
            </a:r>
          </a:p>
          <a:p>
            <a:r>
              <a:rPr lang="zh-CN" altLang="zh-CN">
                <a:ea typeface="宋体" pitchFamily="2" charset="-122"/>
              </a:rPr>
              <a:t>GDP也衡量用于经济中物品与劳务生产的总支出</a:t>
            </a:r>
          </a:p>
        </p:txBody>
      </p:sp>
      <p:sp>
        <p:nvSpPr>
          <p:cNvPr id="12292" name="Text Box 8"/>
          <p:cNvSpPr txBox="1">
            <a:spLocks noChangeArrowheads="1"/>
          </p:cNvSpPr>
          <p:nvPr/>
        </p:nvSpPr>
        <p:spPr bwMode="auto">
          <a:xfrm>
            <a:off x="456208" y="1735978"/>
            <a:ext cx="3627252" cy="1179737"/>
          </a:xfrm>
          <a:prstGeom prst="rect">
            <a:avLst/>
          </a:prstGeom>
          <a:gradFill rotWithShape="1">
            <a:gsLst>
              <a:gs pos="0">
                <a:srgbClr val="FFFFCC"/>
              </a:gs>
              <a:gs pos="50000">
                <a:srgbClr val="FFCC99"/>
              </a:gs>
              <a:gs pos="100000">
                <a:srgbClr val="FFFFCC"/>
              </a:gs>
            </a:gsLst>
            <a:lin ang="18900000" scaled="1"/>
          </a:gra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lnSpc>
                <a:spcPct val="120000"/>
              </a:lnSpc>
              <a:spcBef>
                <a:spcPct val="0"/>
              </a:spcBef>
              <a:spcAft>
                <a:spcPct val="0"/>
              </a:spcAft>
            </a:pPr>
            <a:r>
              <a:rPr lang="zh-CN" altLang="zh-CN" sz="1410">
                <a:solidFill>
                  <a:srgbClr val="000000"/>
                </a:solidFill>
                <a:ea typeface="宋体" pitchFamily="2" charset="-122"/>
              </a:rPr>
              <a:t>对一个整体经济而言，</a:t>
            </a:r>
            <a:br>
              <a:rPr lang="zh-CN" altLang="en-US" sz="1410">
                <a:solidFill>
                  <a:srgbClr val="000000"/>
                </a:solidFill>
                <a:ea typeface="宋体" pitchFamily="2" charset="-122"/>
              </a:rPr>
            </a:br>
            <a:r>
              <a:rPr lang="zh-CN" altLang="zh-CN" sz="1410" b="1">
                <a:solidFill>
                  <a:srgbClr val="FF3300"/>
                </a:solidFill>
                <a:ea typeface="宋体" pitchFamily="2" charset="-122"/>
              </a:rPr>
              <a:t>收入等于支出</a:t>
            </a:r>
            <a:br>
              <a:rPr lang="zh-CN" altLang="en-US" sz="1410">
                <a:solidFill>
                  <a:srgbClr val="000000"/>
                </a:solidFill>
                <a:ea typeface="宋体" pitchFamily="2" charset="-122"/>
              </a:rPr>
            </a:br>
            <a:r>
              <a:rPr lang="zh-CN" altLang="zh-CN" sz="1410">
                <a:solidFill>
                  <a:srgbClr val="000000"/>
                </a:solidFill>
                <a:ea typeface="宋体" pitchFamily="2" charset="-122"/>
              </a:rPr>
              <a:t>因为某个买者的</a:t>
            </a:r>
            <a:r>
              <a:rPr lang="en-US" altLang="zh-CN" sz="1410">
                <a:solidFill>
                  <a:srgbClr val="000000"/>
                </a:solidFill>
                <a:ea typeface="宋体" pitchFamily="2" charset="-122"/>
              </a:rPr>
              <a:t>1</a:t>
            </a:r>
            <a:r>
              <a:rPr lang="zh-CN" altLang="zh-CN" sz="1410">
                <a:solidFill>
                  <a:srgbClr val="000000"/>
                </a:solidFill>
                <a:ea typeface="宋体" pitchFamily="2" charset="-122"/>
              </a:rPr>
              <a:t>美元支出正是某个卖者的</a:t>
            </a:r>
            <a:r>
              <a:rPr lang="en-US" altLang="zh-CN" sz="1410">
                <a:solidFill>
                  <a:srgbClr val="000000"/>
                </a:solidFill>
                <a:ea typeface="宋体" pitchFamily="2" charset="-122"/>
              </a:rPr>
              <a:t>1</a:t>
            </a:r>
            <a:r>
              <a:rPr lang="zh-CN" altLang="zh-CN" sz="1410">
                <a:solidFill>
                  <a:srgbClr val="000000"/>
                </a:solidFill>
                <a:ea typeface="宋体" pitchFamily="2" charset="-122"/>
              </a:rPr>
              <a:t>美元收入</a:t>
            </a:r>
            <a:endParaRPr lang="zh-CN" altLang="en-US" sz="1410">
              <a:solidFill>
                <a:srgbClr val="000000"/>
              </a:solidFill>
              <a:ea typeface="宋体" pitchFamily="2" charset="-122"/>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dissolve">
                                      <p:cBhvr>
                                        <p:cTn id="7"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8FC9ECCE-9A67-6F4D-96F4-AF59AF685F27}" type="slidenum">
              <a:rPr lang="zh-CN" altLang="zh-CN" smtClean="0"/>
              <a:t>27</a:t>
            </a:fld>
            <a:endParaRPr lang="en-US" altLang="zh-CN"/>
          </a:p>
        </p:txBody>
      </p:sp>
      <p:sp>
        <p:nvSpPr>
          <p:cNvPr id="5" name="文本框 4"/>
          <p:cNvSpPr txBox="1"/>
          <p:nvPr/>
        </p:nvSpPr>
        <p:spPr>
          <a:xfrm>
            <a:off x="216818" y="578247"/>
            <a:ext cx="4176464" cy="1169551"/>
          </a:xfrm>
          <a:prstGeom prst="rect">
            <a:avLst/>
          </a:prstGeom>
          <a:noFill/>
        </p:spPr>
        <p:txBody>
          <a:bodyPr wrap="square">
            <a:spAutoFit/>
          </a:bodyPr>
          <a:lstStyle/>
          <a:p>
            <a:pPr algn="just"/>
            <a:r>
              <a:rPr lang="en-US" altLang="zh-CN" sz="1400" kern="100" dirty="0">
                <a:effectLst/>
                <a:latin typeface="Garamond" panose="02020404030301010803" pitchFamily="18" charset="0"/>
                <a:ea typeface="宋体" pitchFamily="2" charset="-122"/>
                <a:cs typeface="Times New Roman" panose="02020503050405090304" pitchFamily="18" charset="0"/>
              </a:rPr>
              <a:t> </a:t>
            </a:r>
            <a:endParaRPr lang="zh-CN" altLang="zh-CN" sz="1400" kern="100" dirty="0">
              <a:effectLst/>
              <a:latin typeface="Garamond" panose="02020404030301010803" pitchFamily="18" charset="0"/>
              <a:ea typeface="宋体" pitchFamily="2" charset="-122"/>
              <a:cs typeface="Times New Roman" panose="02020503050405090304" pitchFamily="18" charset="0"/>
            </a:endParaRPr>
          </a:p>
          <a:p>
            <a:pPr algn="just"/>
            <a:r>
              <a:rPr lang="zh-CN" altLang="zh-CN" sz="1400" kern="100" dirty="0">
                <a:effectLst/>
                <a:latin typeface="Garamond" panose="02020404030301010803" pitchFamily="18" charset="0"/>
                <a:ea typeface="宋体" pitchFamily="2" charset="-122"/>
                <a:cs typeface="Times New Roman" panose="02020503050405090304" pitchFamily="18" charset="0"/>
              </a:rPr>
              <a:t>一千零一夜 第</a:t>
            </a:r>
            <a:r>
              <a:rPr lang="en-US" altLang="zh-CN" sz="1400" kern="100" dirty="0">
                <a:effectLst/>
                <a:latin typeface="Garamond" panose="02020404030301010803" pitchFamily="18" charset="0"/>
                <a:ea typeface="宋体" pitchFamily="2" charset="-122"/>
                <a:cs typeface="Times New Roman" panose="02020503050405090304" pitchFamily="18" charset="0"/>
              </a:rPr>
              <a:t>10</a:t>
            </a:r>
            <a:r>
              <a:rPr lang="zh-CN" altLang="zh-CN" sz="1400" kern="100" dirty="0">
                <a:effectLst/>
                <a:latin typeface="Garamond" panose="02020404030301010803" pitchFamily="18" charset="0"/>
                <a:ea typeface="宋体" pitchFamily="2" charset="-122"/>
                <a:cs typeface="Times New Roman" panose="02020503050405090304" pitchFamily="18" charset="0"/>
              </a:rPr>
              <a:t>集《小镇传奇》</a:t>
            </a:r>
          </a:p>
          <a:p>
            <a:pPr algn="just"/>
            <a:r>
              <a:rPr lang="zh-CN" altLang="zh-CN" sz="1400" kern="100" dirty="0">
                <a:effectLst/>
                <a:latin typeface="Garamond" panose="02020404030301010803" pitchFamily="18" charset="0"/>
                <a:ea typeface="宋体" pitchFamily="2" charset="-122"/>
                <a:cs typeface="Times New Roman" panose="02020503050405090304" pitchFamily="18" charset="0"/>
              </a:rPr>
              <a:t>【【</a:t>
            </a:r>
            <a:r>
              <a:rPr lang="en-US" altLang="zh-CN" sz="1400" kern="100" dirty="0">
                <a:effectLst/>
                <a:latin typeface="Garamond" panose="02020404030301010803" pitchFamily="18" charset="0"/>
                <a:ea typeface="宋体" pitchFamily="2" charset="-122"/>
                <a:cs typeface="Times New Roman" panose="02020503050405090304" pitchFamily="18" charset="0"/>
              </a:rPr>
              <a:t>720P</a:t>
            </a:r>
            <a:r>
              <a:rPr lang="zh-CN" altLang="zh-CN" sz="1400" kern="100" dirty="0">
                <a:effectLst/>
                <a:latin typeface="Garamond" panose="02020404030301010803" pitchFamily="18" charset="0"/>
                <a:ea typeface="宋体" pitchFamily="2" charset="-122"/>
                <a:cs typeface="Times New Roman" panose="02020503050405090304" pitchFamily="18" charset="0"/>
              </a:rPr>
              <a:t>】一千零一夜</a:t>
            </a:r>
            <a:r>
              <a:rPr lang="en-US" altLang="zh-CN" sz="1400" kern="100" dirty="0">
                <a:effectLst/>
                <a:latin typeface="Garamond" panose="02020404030301010803" pitchFamily="18" charset="0"/>
                <a:ea typeface="宋体" pitchFamily="2" charset="-122"/>
                <a:cs typeface="Times New Roman" panose="02020503050405090304" pitchFamily="18" charset="0"/>
              </a:rPr>
              <a:t> 01—50</a:t>
            </a:r>
            <a:r>
              <a:rPr lang="zh-CN" altLang="zh-CN" sz="1400" kern="100" dirty="0">
                <a:effectLst/>
                <a:latin typeface="Garamond" panose="02020404030301010803" pitchFamily="18" charset="0"/>
                <a:ea typeface="宋体" pitchFamily="2" charset="-122"/>
                <a:cs typeface="Times New Roman" panose="02020503050405090304" pitchFamily="18" charset="0"/>
              </a:rPr>
              <a:t>【国语】</a:t>
            </a:r>
            <a:r>
              <a:rPr lang="en-US" altLang="zh-CN" sz="1400" kern="100" dirty="0">
                <a:effectLst/>
                <a:latin typeface="Garamond" panose="02020404030301010803" pitchFamily="18" charset="0"/>
                <a:ea typeface="宋体" pitchFamily="2" charset="-122"/>
                <a:cs typeface="Times New Roman" panose="02020503050405090304" pitchFamily="18" charset="0"/>
              </a:rPr>
              <a:t>-</a:t>
            </a:r>
            <a:r>
              <a:rPr lang="zh-CN" altLang="zh-CN" sz="1400" kern="100" dirty="0">
                <a:effectLst/>
                <a:latin typeface="Garamond" panose="02020404030301010803" pitchFamily="18" charset="0"/>
                <a:ea typeface="宋体" pitchFamily="2" charset="-122"/>
                <a:cs typeface="Times New Roman" panose="02020503050405090304" pitchFamily="18" charset="0"/>
              </a:rPr>
              <a:t>哔哩哔哩】 </a:t>
            </a:r>
            <a:r>
              <a:rPr lang="en-US" altLang="zh-CN" sz="1400" u="sng" kern="100" dirty="0">
                <a:solidFill>
                  <a:srgbClr val="467886"/>
                </a:solidFill>
                <a:effectLst/>
                <a:latin typeface="Garamond" panose="02020404030301010803" pitchFamily="18" charset="0"/>
                <a:ea typeface="宋体" pitchFamily="2" charset="-122"/>
                <a:cs typeface="Times New Roman" panose="02020503050405090304" pitchFamily="18" charset="0"/>
                <a:hlinkClick r:id="rId2"/>
              </a:rPr>
              <a:t>https://b23.tv/qQ4EvcK</a:t>
            </a:r>
            <a:endParaRPr lang="zh-CN" altLang="zh-CN" sz="1400" kern="100" dirty="0">
              <a:effectLst/>
              <a:latin typeface="Garamond" panose="02020404030301010803" pitchFamily="18" charset="0"/>
              <a:ea typeface="宋体" pitchFamily="2" charset="-122"/>
              <a:cs typeface="Times New Roman" panose="02020503050405090304" pitchFamily="18" charset="0"/>
            </a:endParaRPr>
          </a:p>
          <a:p>
            <a:pPr algn="just"/>
            <a:r>
              <a:rPr lang="en-US" altLang="zh-CN" sz="1400" kern="100" dirty="0">
                <a:effectLst/>
                <a:latin typeface="Garamond" panose="02020404030301010803" pitchFamily="18" charset="0"/>
                <a:ea typeface="宋体" pitchFamily="2" charset="-122"/>
                <a:cs typeface="Times New Roman" panose="02020503050405090304" pitchFamily="18" charset="0"/>
              </a:rPr>
              <a:t> </a:t>
            </a:r>
            <a:endParaRPr lang="zh-CN" altLang="zh-CN" sz="1400" kern="100" dirty="0">
              <a:effectLst/>
              <a:latin typeface="Garamond" panose="02020404030301010803" pitchFamily="18" charset="0"/>
              <a:ea typeface="宋体" pitchFamily="2" charset="-122"/>
              <a:cs typeface="Times New Roman" panose="02020503050405090304" pitchFamily="18" charset="0"/>
            </a:endParaRPr>
          </a:p>
        </p:txBody>
      </p:sp>
      <p:sp>
        <p:nvSpPr>
          <p:cNvPr id="6" name="Rectangle 6"/>
          <p:cNvSpPr txBox="1">
            <a:spLocks noChangeArrowheads="1"/>
          </p:cNvSpPr>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a:lstStyle>
          <a:p>
            <a:r>
              <a:rPr lang="en-US" altLang="zh-CN" sz="1815" dirty="0">
                <a:ea typeface="宋体" pitchFamily="2" charset="-122"/>
              </a:rPr>
              <a:t>GDP</a:t>
            </a:r>
            <a:r>
              <a:rPr lang="zh-CN" altLang="en-US" sz="1815" dirty="0">
                <a:ea typeface="宋体" pitchFamily="2" charset="-122"/>
              </a:rPr>
              <a:t>的循环</a:t>
            </a:r>
          </a:p>
        </p:txBody>
      </p:sp>
      <p:sp>
        <p:nvSpPr>
          <p:cNvPr id="4" name="文本框 3"/>
          <p:cNvSpPr txBox="1"/>
          <p:nvPr/>
        </p:nvSpPr>
        <p:spPr>
          <a:xfrm>
            <a:off x="276821" y="1906425"/>
            <a:ext cx="4032447" cy="523220"/>
          </a:xfrm>
          <a:prstGeom prst="rect">
            <a:avLst/>
          </a:prstGeom>
          <a:noFill/>
        </p:spPr>
        <p:txBody>
          <a:bodyPr wrap="square">
            <a:spAutoFit/>
          </a:bodyPr>
          <a:lstStyle/>
          <a:p>
            <a:r>
              <a:rPr lang="zh-CN" altLang="zh-CN" sz="1400" kern="100" dirty="0">
                <a:effectLst/>
                <a:latin typeface="宋体" pitchFamily="2" charset="-122"/>
                <a:ea typeface="宋体" pitchFamily="2" charset="-122"/>
                <a:cs typeface="Times New Roman" panose="02020503050405090304" pitchFamily="18" charset="0"/>
              </a:rPr>
              <a:t>回顾</a:t>
            </a:r>
            <a:r>
              <a:rPr lang="en-US" altLang="zh-CN" sz="1400" kern="100" dirty="0">
                <a:effectLst/>
                <a:latin typeface="宋体" pitchFamily="2" charset="-122"/>
                <a:ea typeface="宋体" pitchFamily="2" charset="-122"/>
                <a:cs typeface="Times New Roman" panose="02020503050405090304" pitchFamily="18" charset="0"/>
              </a:rPr>
              <a:t>GDP</a:t>
            </a:r>
            <a:r>
              <a:rPr lang="zh-CN" altLang="zh-CN" sz="1400" kern="100" dirty="0">
                <a:effectLst/>
                <a:latin typeface="宋体" pitchFamily="2" charset="-122"/>
                <a:ea typeface="宋体" pitchFamily="2" charset="-122"/>
                <a:cs typeface="Times New Roman" panose="02020503050405090304" pitchFamily="18" charset="0"/>
              </a:rPr>
              <a:t>的特征 世界范围内的</a:t>
            </a:r>
            <a:r>
              <a:rPr lang="en-US" altLang="zh-CN" sz="1400" kern="100" dirty="0">
                <a:effectLst/>
                <a:latin typeface="宋体" pitchFamily="2" charset="-122"/>
                <a:ea typeface="宋体" pitchFamily="2" charset="-122"/>
                <a:cs typeface="Times New Roman" panose="02020503050405090304" pitchFamily="18" charset="0"/>
              </a:rPr>
              <a:t>GDP</a:t>
            </a:r>
            <a:r>
              <a:rPr lang="zh-CN" altLang="zh-CN" sz="1400" kern="100" dirty="0">
                <a:effectLst/>
                <a:latin typeface="宋体" pitchFamily="2" charset="-122"/>
                <a:ea typeface="宋体" pitchFamily="2" charset="-122"/>
                <a:cs typeface="Times New Roman" panose="02020503050405090304" pitchFamily="18" charset="0"/>
              </a:rPr>
              <a:t>概况</a:t>
            </a:r>
          </a:p>
          <a:p>
            <a:r>
              <a:rPr lang="en-US" altLang="zh-CN" sz="1400" u="sng" kern="100" dirty="0">
                <a:solidFill>
                  <a:srgbClr val="467886"/>
                </a:solidFill>
                <a:effectLst/>
                <a:latin typeface="Garamond" panose="02020404030301010803" pitchFamily="18" charset="0"/>
                <a:ea typeface="宋体" pitchFamily="2" charset="-122"/>
                <a:cs typeface="Times New Roman" panose="02020503050405090304" pitchFamily="18" charset="0"/>
                <a:hlinkClick r:id="rId3"/>
              </a:rPr>
              <a:t>https://b23.tv/LUcdhIS</a:t>
            </a:r>
            <a:endParaRPr lang="zh-CN" altLang="zh-CN" sz="1400" kern="100" dirty="0">
              <a:effectLst/>
              <a:latin typeface="宋体" pitchFamily="2" charset="-122"/>
              <a:ea typeface="宋体" pitchFamily="2" charset="-122"/>
              <a:cs typeface="Times New Roman" panose="0202050305040509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72F005FF-FB2C-2E45-8BCC-12773CA6E14A}" type="slidenum">
              <a:rPr lang="zh-CN" altLang="zh-CN">
                <a:latin typeface="Arial" panose="020B0604020202090204" pitchFamily="34" charset="0"/>
              </a:rPr>
              <a:t>28</a:t>
            </a:fld>
            <a:endParaRPr lang="en-US" altLang="zh-CN">
              <a:latin typeface="Arial" panose="020B0604020202090204" pitchFamily="34" charset="0"/>
            </a:endParaRPr>
          </a:p>
        </p:txBody>
      </p:sp>
      <p:sp>
        <p:nvSpPr>
          <p:cNvPr id="14338" name="Rectangle 2"/>
          <p:cNvSpPr>
            <a:spLocks noGrp="1" noChangeArrowheads="1"/>
          </p:cNvSpPr>
          <p:nvPr>
            <p:ph type="title" idx="4294967295"/>
          </p:nvPr>
        </p:nvSpPr>
        <p:spPr/>
        <p:txBody>
          <a:bodyPr/>
          <a:lstStyle/>
          <a:p>
            <a:r>
              <a:rPr lang="zh-CN" altLang="en-US" sz="1815" dirty="0">
                <a:ea typeface="宋体" pitchFamily="2" charset="-122"/>
              </a:rPr>
              <a:t>宏观经济学的</a:t>
            </a:r>
            <a:r>
              <a:rPr lang="zh-CN" altLang="en-US" sz="1815">
                <a:ea typeface="宋体" pitchFamily="2" charset="-122"/>
              </a:rPr>
              <a:t>第一个模型：</a:t>
            </a:r>
            <a:r>
              <a:rPr lang="zh-CN" altLang="zh-CN" sz="1815">
                <a:ea typeface="宋体" pitchFamily="2" charset="-122"/>
              </a:rPr>
              <a:t>循环流量图</a:t>
            </a:r>
            <a:endParaRPr lang="zh-CN" altLang="en-US" sz="1815">
              <a:ea typeface="宋体" pitchFamily="2" charset="-122"/>
            </a:endParaRPr>
          </a:p>
        </p:txBody>
      </p:sp>
      <p:sp>
        <p:nvSpPr>
          <p:cNvPr id="14339" name="Rectangle 3"/>
          <p:cNvSpPr>
            <a:spLocks noGrp="1" noChangeArrowheads="1"/>
          </p:cNvSpPr>
          <p:nvPr>
            <p:ph type="body" idx="4294967295"/>
          </p:nvPr>
        </p:nvSpPr>
        <p:spPr>
          <a:xfrm>
            <a:off x="229705" y="532230"/>
            <a:ext cx="4132282" cy="2569170"/>
          </a:xfrm>
        </p:spPr>
        <p:txBody>
          <a:bodyPr/>
          <a:lstStyle/>
          <a:p>
            <a:pPr>
              <a:spcBef>
                <a:spcPct val="20000"/>
              </a:spcBef>
            </a:pPr>
            <a:r>
              <a:rPr lang="zh-CN" altLang="zh-CN">
                <a:ea typeface="宋体" pitchFamily="2" charset="-122"/>
              </a:rPr>
              <a:t>宏观经济的一个简单描述</a:t>
            </a:r>
          </a:p>
          <a:p>
            <a:pPr>
              <a:spcBef>
                <a:spcPct val="20000"/>
              </a:spcBef>
            </a:pPr>
            <a:r>
              <a:rPr lang="zh-CN" altLang="zh-CN">
                <a:ea typeface="宋体" pitchFamily="2" charset="-122"/>
              </a:rPr>
              <a:t>用支出，收益，要素支付和收入来说明GDP</a:t>
            </a:r>
          </a:p>
          <a:p>
            <a:pPr>
              <a:spcBef>
                <a:spcPct val="50000"/>
              </a:spcBef>
            </a:pPr>
            <a:r>
              <a:rPr lang="zh-CN" altLang="zh-CN">
                <a:ea typeface="宋体" pitchFamily="2" charset="-122"/>
              </a:rPr>
              <a:t>预备知识：</a:t>
            </a:r>
          </a:p>
          <a:p>
            <a:pPr lvl="1">
              <a:lnSpc>
                <a:spcPct val="105000"/>
              </a:lnSpc>
              <a:spcBef>
                <a:spcPct val="25000"/>
              </a:spcBef>
            </a:pPr>
            <a:r>
              <a:rPr lang="zh-CN" altLang="zh-CN" b="1">
                <a:solidFill>
                  <a:srgbClr val="800080"/>
                </a:solidFill>
                <a:ea typeface="宋体" pitchFamily="2" charset="-122"/>
              </a:rPr>
              <a:t>生产要素：</a:t>
            </a:r>
            <a:r>
              <a:rPr lang="zh-CN" altLang="zh-CN">
                <a:ea typeface="宋体" pitchFamily="2" charset="-122"/>
              </a:rPr>
              <a:t>诸如劳动，土地，资本，自然资源等投入  </a:t>
            </a:r>
          </a:p>
          <a:p>
            <a:pPr lvl="1">
              <a:lnSpc>
                <a:spcPct val="105000"/>
              </a:lnSpc>
              <a:spcBef>
                <a:spcPct val="25000"/>
              </a:spcBef>
            </a:pPr>
            <a:r>
              <a:rPr lang="zh-CN" altLang="zh-CN" b="1">
                <a:solidFill>
                  <a:srgbClr val="800080"/>
                </a:solidFill>
                <a:ea typeface="宋体" pitchFamily="2" charset="-122"/>
              </a:rPr>
              <a:t>要素支付：</a:t>
            </a:r>
            <a:r>
              <a:rPr lang="zh-CN" altLang="zh-CN">
                <a:ea typeface="宋体" pitchFamily="2" charset="-122"/>
              </a:rPr>
              <a:t>支付给生产要素的报酬（例如，工资，租金）</a:t>
            </a: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958588DD-06FF-6C49-890E-4E89B1101ADD}" type="slidenum">
              <a:rPr lang="zh-CN" altLang="zh-CN">
                <a:latin typeface="Arial" panose="020B0604020202090204" pitchFamily="34" charset="0"/>
              </a:rPr>
              <a:t>29</a:t>
            </a:fld>
            <a:endParaRPr lang="en-US" altLang="zh-CN">
              <a:latin typeface="Arial" panose="020B0604020202090204" pitchFamily="34" charset="0"/>
            </a:endParaRPr>
          </a:p>
        </p:txBody>
      </p:sp>
      <p:sp>
        <p:nvSpPr>
          <p:cNvPr id="16386" name="Rectangle 2"/>
          <p:cNvSpPr>
            <a:spLocks noChangeArrowheads="1"/>
          </p:cNvSpPr>
          <p:nvPr/>
        </p:nvSpPr>
        <p:spPr bwMode="auto">
          <a:xfrm>
            <a:off x="100046" y="1480662"/>
            <a:ext cx="1026067" cy="49462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6387" name="Rectangle 2"/>
          <p:cNvSpPr>
            <a:spLocks noChangeArrowheads="1"/>
          </p:cNvSpPr>
          <p:nvPr/>
        </p:nvSpPr>
        <p:spPr bwMode="auto">
          <a:xfrm>
            <a:off x="3317512" y="1474259"/>
            <a:ext cx="1134917" cy="49862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6388" name="Rectangle 3"/>
          <p:cNvSpPr>
            <a:spLocks noGrp="1" noChangeArrowheads="1"/>
          </p:cNvSpPr>
          <p:nvPr>
            <p:ph type="title" idx="4294967295"/>
          </p:nvPr>
        </p:nvSpPr>
        <p:spPr>
          <a:xfrm>
            <a:off x="115253" y="68018"/>
            <a:ext cx="4149090" cy="284930"/>
          </a:xfrm>
        </p:spPr>
        <p:txBody>
          <a:bodyPr/>
          <a:lstStyle/>
          <a:p>
            <a:pPr algn="l"/>
            <a:r>
              <a:rPr lang="zh-CN" altLang="zh-CN" sz="1815">
                <a:ea typeface="宋体" pitchFamily="2" charset="-122"/>
              </a:rPr>
              <a:t>循环流量图</a:t>
            </a:r>
            <a:endParaRPr lang="zh-CN" altLang="en-US" sz="1815">
              <a:ea typeface="宋体" pitchFamily="2" charset="-122"/>
            </a:endParaRPr>
          </a:p>
        </p:txBody>
      </p:sp>
      <p:sp>
        <p:nvSpPr>
          <p:cNvPr id="16389" name="Text Box 4"/>
          <p:cNvSpPr txBox="1">
            <a:spLocks noChangeArrowheads="1"/>
          </p:cNvSpPr>
          <p:nvPr/>
        </p:nvSpPr>
        <p:spPr bwMode="auto">
          <a:xfrm>
            <a:off x="1421448" y="445790"/>
            <a:ext cx="3002168" cy="992836"/>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0830" indent="-231775">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146685" indent="-116840" defTabSz="461010" fontAlgn="base">
              <a:spcBef>
                <a:spcPct val="15000"/>
              </a:spcBef>
              <a:spcAft>
                <a:spcPct val="0"/>
              </a:spcAft>
              <a:buClr>
                <a:srgbClr val="CC0000"/>
              </a:buClr>
            </a:pPr>
            <a:r>
              <a:rPr lang="zh-CN" altLang="zh-CN" sz="1360" b="1">
                <a:solidFill>
                  <a:srgbClr val="000000"/>
                </a:solidFill>
                <a:ea typeface="宋体" pitchFamily="2" charset="-122"/>
              </a:rPr>
              <a:t>家庭</a:t>
            </a:r>
            <a:r>
              <a:rPr lang="en-US" altLang="zh-CN" sz="1360">
                <a:solidFill>
                  <a:srgbClr val="000000"/>
                </a:solidFill>
                <a:ea typeface="宋体" pitchFamily="2" charset="-122"/>
              </a:rPr>
              <a:t>:</a:t>
            </a:r>
          </a:p>
          <a:p>
            <a:pPr marL="146685" indent="-116840" defTabSz="461010" fontAlgn="base">
              <a:spcBef>
                <a:spcPct val="15000"/>
              </a:spcBef>
              <a:spcAft>
                <a:spcPct val="0"/>
              </a:spcAft>
              <a:buClr>
                <a:srgbClr val="CC0000"/>
              </a:buClr>
              <a:buFont typeface="Wingdings" panose="05000000000000000000" pitchFamily="2" charset="2"/>
              <a:buChar char="§"/>
            </a:pPr>
            <a:r>
              <a:rPr lang="zh-CN" altLang="zh-CN" sz="1360">
                <a:solidFill>
                  <a:srgbClr val="000000"/>
                </a:solidFill>
                <a:ea typeface="宋体" pitchFamily="2" charset="-122"/>
              </a:rPr>
              <a:t>拥有生产要素，出售或出租它们给企业以换取收入</a:t>
            </a:r>
            <a:endParaRPr lang="zh-CN" altLang="en-US" sz="1360">
              <a:solidFill>
                <a:srgbClr val="000000"/>
              </a:solidFill>
              <a:ea typeface="宋体" pitchFamily="2" charset="-122"/>
            </a:endParaRPr>
          </a:p>
          <a:p>
            <a:pPr marL="146685" indent="-116840" defTabSz="461010" fontAlgn="base">
              <a:spcBef>
                <a:spcPct val="15000"/>
              </a:spcBef>
              <a:spcAft>
                <a:spcPct val="0"/>
              </a:spcAft>
              <a:buClr>
                <a:srgbClr val="CC0000"/>
              </a:buClr>
              <a:buFont typeface="Wingdings" panose="05000000000000000000" pitchFamily="2" charset="2"/>
              <a:buChar char="§"/>
            </a:pPr>
            <a:r>
              <a:rPr lang="zh-CN" altLang="zh-CN" sz="1360">
                <a:solidFill>
                  <a:srgbClr val="000000"/>
                </a:solidFill>
                <a:ea typeface="宋体" pitchFamily="2" charset="-122"/>
              </a:rPr>
              <a:t>购买并消费物品与劳务</a:t>
            </a:r>
            <a:endParaRPr lang="zh-CN" altLang="en-US" sz="1360">
              <a:solidFill>
                <a:srgbClr val="000000"/>
              </a:solidFill>
              <a:ea typeface="宋体" pitchFamily="2" charset="-122"/>
            </a:endParaRPr>
          </a:p>
        </p:txBody>
      </p:sp>
      <p:grpSp>
        <p:nvGrpSpPr>
          <p:cNvPr id="16390" name="Group 6"/>
          <p:cNvGrpSpPr/>
          <p:nvPr/>
        </p:nvGrpSpPr>
        <p:grpSpPr bwMode="auto">
          <a:xfrm>
            <a:off x="3339922" y="1498269"/>
            <a:ext cx="1090097" cy="450606"/>
            <a:chOff x="0" y="0"/>
            <a:chExt cx="1362" cy="563"/>
          </a:xfrm>
        </p:grpSpPr>
        <p:sp>
          <p:nvSpPr>
            <p:cNvPr id="16391" name="Rectangle 6"/>
            <p:cNvSpPr>
              <a:spLocks noChangeArrowheads="1"/>
            </p:cNvSpPr>
            <p:nvPr/>
          </p:nvSpPr>
          <p:spPr bwMode="auto">
            <a:xfrm>
              <a:off x="0" y="0"/>
              <a:ext cx="1362" cy="5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6392" name="Text Box 7"/>
            <p:cNvSpPr txBox="1">
              <a:spLocks noChangeArrowheads="1"/>
            </p:cNvSpPr>
            <p:nvPr/>
          </p:nvSpPr>
          <p:spPr bwMode="auto">
            <a:xfrm>
              <a:off x="29" y="128"/>
              <a:ext cx="1309"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360">
                  <a:solidFill>
                    <a:srgbClr val="000000"/>
                  </a:solidFill>
                  <a:ea typeface="宋体" pitchFamily="2" charset="-122"/>
                </a:rPr>
                <a:t>家庭</a:t>
              </a:r>
            </a:p>
          </p:txBody>
        </p:sp>
      </p:grpSp>
      <p:grpSp>
        <p:nvGrpSpPr>
          <p:cNvPr id="16393" name="Group 9"/>
          <p:cNvGrpSpPr/>
          <p:nvPr/>
        </p:nvGrpSpPr>
        <p:grpSpPr bwMode="auto">
          <a:xfrm>
            <a:off x="121655" y="1503071"/>
            <a:ext cx="980447" cy="450606"/>
            <a:chOff x="0" y="0"/>
            <a:chExt cx="1225" cy="563"/>
          </a:xfrm>
        </p:grpSpPr>
        <p:sp>
          <p:nvSpPr>
            <p:cNvPr id="16394" name="Rectangle 9"/>
            <p:cNvSpPr>
              <a:spLocks noChangeArrowheads="1"/>
            </p:cNvSpPr>
            <p:nvPr/>
          </p:nvSpPr>
          <p:spPr bwMode="auto">
            <a:xfrm>
              <a:off x="0" y="0"/>
              <a:ext cx="1225" cy="5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6395" name="Text Box 10"/>
            <p:cNvSpPr txBox="1">
              <a:spLocks noChangeArrowheads="1"/>
            </p:cNvSpPr>
            <p:nvPr/>
          </p:nvSpPr>
          <p:spPr bwMode="auto">
            <a:xfrm>
              <a:off x="115" y="113"/>
              <a:ext cx="1021"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360">
                  <a:solidFill>
                    <a:srgbClr val="000000"/>
                  </a:solidFill>
                  <a:ea typeface="宋体" pitchFamily="2" charset="-122"/>
                </a:rPr>
                <a:t>企业</a:t>
              </a:r>
            </a:p>
          </p:txBody>
        </p:sp>
      </p:grpSp>
      <p:sp>
        <p:nvSpPr>
          <p:cNvPr id="16396" name="Text Box 9"/>
          <p:cNvSpPr txBox="1">
            <a:spLocks noChangeArrowheads="1"/>
          </p:cNvSpPr>
          <p:nvPr/>
        </p:nvSpPr>
        <p:spPr bwMode="auto">
          <a:xfrm>
            <a:off x="112051" y="2052922"/>
            <a:ext cx="2558766" cy="992836"/>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0830" indent="-231775">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146685" indent="-116840" defTabSz="461010" fontAlgn="base">
              <a:spcBef>
                <a:spcPct val="15000"/>
              </a:spcBef>
              <a:spcAft>
                <a:spcPct val="0"/>
              </a:spcAft>
              <a:buClr>
                <a:srgbClr val="CC0000"/>
              </a:buClr>
            </a:pPr>
            <a:r>
              <a:rPr lang="zh-CN" altLang="zh-CN" sz="1360" b="1">
                <a:solidFill>
                  <a:srgbClr val="000000"/>
                </a:solidFill>
                <a:ea typeface="宋体" pitchFamily="2" charset="-122"/>
              </a:rPr>
              <a:t>企业</a:t>
            </a:r>
            <a:r>
              <a:rPr lang="en-US" altLang="zh-CN" sz="1360">
                <a:solidFill>
                  <a:srgbClr val="000000"/>
                </a:solidFill>
                <a:ea typeface="宋体" pitchFamily="2" charset="-122"/>
              </a:rPr>
              <a:t>:</a:t>
            </a:r>
          </a:p>
          <a:p>
            <a:pPr marL="146685" indent="-116840" defTabSz="461010" fontAlgn="base">
              <a:spcBef>
                <a:spcPct val="15000"/>
              </a:spcBef>
              <a:spcAft>
                <a:spcPct val="0"/>
              </a:spcAft>
              <a:buClr>
                <a:srgbClr val="CC0000"/>
              </a:buClr>
              <a:buFont typeface="Wingdings" panose="05000000000000000000" pitchFamily="2" charset="2"/>
              <a:buChar char="§"/>
            </a:pPr>
            <a:r>
              <a:rPr lang="zh-CN" altLang="zh-CN" sz="1360">
                <a:solidFill>
                  <a:srgbClr val="000000"/>
                </a:solidFill>
                <a:ea typeface="宋体" pitchFamily="2" charset="-122"/>
              </a:rPr>
              <a:t>购买或租赁生产要素，用它们来生产物品与劳务</a:t>
            </a:r>
            <a:endParaRPr lang="zh-CN" altLang="en-US" sz="1360">
              <a:solidFill>
                <a:srgbClr val="000000"/>
              </a:solidFill>
              <a:ea typeface="宋体" pitchFamily="2" charset="-122"/>
            </a:endParaRPr>
          </a:p>
          <a:p>
            <a:pPr marL="146685" indent="-116840" defTabSz="461010" fontAlgn="base">
              <a:spcBef>
                <a:spcPct val="15000"/>
              </a:spcBef>
              <a:spcAft>
                <a:spcPct val="0"/>
              </a:spcAft>
              <a:buClr>
                <a:srgbClr val="CC0000"/>
              </a:buClr>
              <a:buFont typeface="Wingdings" panose="05000000000000000000" pitchFamily="2" charset="2"/>
              <a:buChar char="§"/>
            </a:pPr>
            <a:r>
              <a:rPr lang="zh-CN" altLang="zh-CN" sz="1360">
                <a:solidFill>
                  <a:srgbClr val="000000"/>
                </a:solidFill>
                <a:ea typeface="宋体" pitchFamily="2" charset="-122"/>
              </a:rPr>
              <a:t>出售物品与劳务</a:t>
            </a:r>
            <a:endParaRPr lang="zh-CN" altLang="en-US" sz="1360">
              <a:solidFill>
                <a:srgbClr val="000000"/>
              </a:solidFill>
              <a:ea typeface="宋体" pitchFamily="2" charset="-122"/>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390"/>
                                        </p:tgtEl>
                                        <p:attrNameLst>
                                          <p:attrName>style.visibility</p:attrName>
                                        </p:attrNameLst>
                                      </p:cBhvr>
                                      <p:to>
                                        <p:strVal val="visible"/>
                                      </p:to>
                                    </p:set>
                                    <p:animEffect transition="in" filter="dissolve">
                                      <p:cBhvr>
                                        <p:cTn id="7" dur="500"/>
                                        <p:tgtEl>
                                          <p:spTgt spid="1639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393"/>
                                        </p:tgtEl>
                                        <p:attrNameLst>
                                          <p:attrName>style.visibility</p:attrName>
                                        </p:attrNameLst>
                                      </p:cBhvr>
                                      <p:to>
                                        <p:strVal val="visible"/>
                                      </p:to>
                                    </p:set>
                                    <p:animEffect transition="in" filter="dissolve">
                                      <p:cBhvr>
                                        <p:cTn id="12" dur="500"/>
                                        <p:tgtEl>
                                          <p:spTgt spid="1639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389"/>
                                        </p:tgtEl>
                                        <p:attrNameLst>
                                          <p:attrName>style.visibility</p:attrName>
                                        </p:attrNameLst>
                                      </p:cBhvr>
                                      <p:to>
                                        <p:strVal val="visible"/>
                                      </p:to>
                                    </p:set>
                                    <p:animEffect transition="in" filter="dissolve">
                                      <p:cBhvr>
                                        <p:cTn id="17" dur="500"/>
                                        <p:tgtEl>
                                          <p:spTgt spid="16389"/>
                                        </p:tgtEl>
                                      </p:cBhvr>
                                    </p:animEffect>
                                  </p:childTnLst>
                                </p:cTn>
                              </p:par>
                              <p:par>
                                <p:cTn id="18" presetID="9" presetClass="entr" presetSubtype="0" fill="hold" nodeType="withEffect">
                                  <p:stCondLst>
                                    <p:cond delay="0"/>
                                  </p:stCondLst>
                                  <p:childTnLst>
                                    <p:set>
                                      <p:cBhvr>
                                        <p:cTn id="19" dur="1" fill="hold">
                                          <p:stCondLst>
                                            <p:cond delay="0"/>
                                          </p:stCondLst>
                                        </p:cTn>
                                        <p:tgtEl>
                                          <p:spTgt spid="16387"/>
                                        </p:tgtEl>
                                        <p:attrNameLst>
                                          <p:attrName>style.visibility</p:attrName>
                                        </p:attrNameLst>
                                      </p:cBhvr>
                                      <p:to>
                                        <p:strVal val="visible"/>
                                      </p:to>
                                    </p:set>
                                    <p:animEffect transition="in" filter="dissolve">
                                      <p:cBhvr>
                                        <p:cTn id="20" dur="500"/>
                                        <p:tgtEl>
                                          <p:spTgt spid="1638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nodeType="clickEffect">
                                  <p:stCondLst>
                                    <p:cond delay="0"/>
                                  </p:stCondLst>
                                  <p:childTnLst>
                                    <p:animEffect transition="out" filter="dissolve">
                                      <p:cBhvr>
                                        <p:cTn id="24" dur="500"/>
                                        <p:tgtEl>
                                          <p:spTgt spid="16387"/>
                                        </p:tgtEl>
                                      </p:cBhvr>
                                    </p:animEffect>
                                    <p:set>
                                      <p:cBhvr>
                                        <p:cTn id="25" dur="1" fill="hold">
                                          <p:stCondLst>
                                            <p:cond delay="499"/>
                                          </p:stCondLst>
                                        </p:cTn>
                                        <p:tgtEl>
                                          <p:spTgt spid="16387"/>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16389"/>
                                        </p:tgtEl>
                                      </p:cBhvr>
                                    </p:animEffect>
                                    <p:set>
                                      <p:cBhvr>
                                        <p:cTn id="28" dur="1" fill="hold">
                                          <p:stCondLst>
                                            <p:cond delay="499"/>
                                          </p:stCondLst>
                                        </p:cTn>
                                        <p:tgtEl>
                                          <p:spTgt spid="1638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6396"/>
                                        </p:tgtEl>
                                        <p:attrNameLst>
                                          <p:attrName>style.visibility</p:attrName>
                                        </p:attrNameLst>
                                      </p:cBhvr>
                                      <p:to>
                                        <p:strVal val="visible"/>
                                      </p:to>
                                    </p:set>
                                    <p:animEffect transition="in" filter="dissolve">
                                      <p:cBhvr>
                                        <p:cTn id="33" dur="500"/>
                                        <p:tgtEl>
                                          <p:spTgt spid="16396"/>
                                        </p:tgtEl>
                                      </p:cBhvr>
                                    </p:animEffect>
                                  </p:childTnLst>
                                </p:cTn>
                              </p:par>
                              <p:par>
                                <p:cTn id="34" presetID="9" presetClass="entr" presetSubtype="0" fill="hold" nodeType="withEffect">
                                  <p:stCondLst>
                                    <p:cond delay="0"/>
                                  </p:stCondLst>
                                  <p:childTnLst>
                                    <p:set>
                                      <p:cBhvr>
                                        <p:cTn id="35" dur="1" fill="hold">
                                          <p:stCondLst>
                                            <p:cond delay="0"/>
                                          </p:stCondLst>
                                        </p:cTn>
                                        <p:tgtEl>
                                          <p:spTgt spid="16386"/>
                                        </p:tgtEl>
                                        <p:attrNameLst>
                                          <p:attrName>style.visibility</p:attrName>
                                        </p:attrNameLst>
                                      </p:cBhvr>
                                      <p:to>
                                        <p:strVal val="visible"/>
                                      </p:to>
                                    </p:set>
                                    <p:animEffect transition="in" filter="dissolve">
                                      <p:cBhvr>
                                        <p:cTn id="36"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autoUpdateAnimBg="0"/>
      <p:bldP spid="16387" grpId="0" animBg="1" autoUpdateAnimBg="0"/>
      <p:bldP spid="16387" grpId="1" animBg="1" autoUpdateAnimBg="0"/>
      <p:bldP spid="16389" grpId="0" bldLvl="0" animBg="1" autoUpdateAnimBg="0"/>
      <p:bldP spid="16389" grpId="1" bldLvl="0" animBg="1" autoUpdateAnimBg="0"/>
      <p:bldP spid="16396"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E6C85C5C-D50E-D947-ADA3-0B412AC193A2}" type="slidenum">
              <a:rPr lang="zh-CN" altLang="zh-CN">
                <a:latin typeface="Arial" panose="020B0604020202090204" pitchFamily="34" charset="0"/>
              </a:rPr>
              <a:t>30</a:t>
            </a:fld>
            <a:endParaRPr lang="en-US" altLang="zh-CN">
              <a:latin typeface="Arial" panose="020B0604020202090204" pitchFamily="34" charset="0"/>
            </a:endParaRPr>
          </a:p>
        </p:txBody>
      </p:sp>
      <p:sp>
        <p:nvSpPr>
          <p:cNvPr id="18434" name="Rectangle 2"/>
          <p:cNvSpPr>
            <a:spLocks noGrp="1" noChangeArrowheads="1"/>
          </p:cNvSpPr>
          <p:nvPr>
            <p:ph type="title" idx="4294967295"/>
          </p:nvPr>
        </p:nvSpPr>
        <p:spPr>
          <a:xfrm>
            <a:off x="115253" y="72820"/>
            <a:ext cx="4149090" cy="278527"/>
          </a:xfrm>
        </p:spPr>
        <p:txBody>
          <a:bodyPr/>
          <a:lstStyle/>
          <a:p>
            <a:pPr algn="l"/>
            <a:r>
              <a:rPr lang="zh-CN" altLang="en-US" sz="1815">
                <a:ea typeface="宋体" pitchFamily="2" charset="-122"/>
              </a:rPr>
              <a:t>循环流量图</a:t>
            </a:r>
          </a:p>
        </p:txBody>
      </p:sp>
      <p:grpSp>
        <p:nvGrpSpPr>
          <p:cNvPr id="18435" name="Group 3"/>
          <p:cNvGrpSpPr/>
          <p:nvPr/>
        </p:nvGrpSpPr>
        <p:grpSpPr bwMode="auto">
          <a:xfrm>
            <a:off x="1692772" y="2237806"/>
            <a:ext cx="1221356" cy="851588"/>
            <a:chOff x="0" y="0"/>
            <a:chExt cx="1526" cy="1064"/>
          </a:xfrm>
        </p:grpSpPr>
        <p:sp>
          <p:nvSpPr>
            <p:cNvPr id="18436" name="Oval 4"/>
            <p:cNvSpPr>
              <a:spLocks noChangeArrowheads="1"/>
            </p:cNvSpPr>
            <p:nvPr/>
          </p:nvSpPr>
          <p:spPr bwMode="auto">
            <a:xfrm>
              <a:off x="23" y="0"/>
              <a:ext cx="1462" cy="1064"/>
            </a:xfrm>
            <a:prstGeom prst="ellipse">
              <a:avLst/>
            </a:prstGeom>
            <a:solidFill>
              <a:srgbClr val="FFCC99"/>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8437" name="Text Box 5"/>
            <p:cNvSpPr txBox="1">
              <a:spLocks noChangeArrowheads="1"/>
            </p:cNvSpPr>
            <p:nvPr/>
          </p:nvSpPr>
          <p:spPr bwMode="auto">
            <a:xfrm>
              <a:off x="0" y="136"/>
              <a:ext cx="1526" cy="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310">
                  <a:solidFill>
                    <a:srgbClr val="000000"/>
                  </a:solidFill>
                  <a:ea typeface="宋体" pitchFamily="2" charset="-122"/>
                </a:rPr>
                <a:t>生产要素</a:t>
              </a:r>
            </a:p>
            <a:p>
              <a:pPr algn="ctr" defTabSz="461010" fontAlgn="base">
                <a:spcBef>
                  <a:spcPct val="50000"/>
                </a:spcBef>
                <a:spcAft>
                  <a:spcPct val="0"/>
                </a:spcAft>
              </a:pPr>
              <a:r>
                <a:rPr lang="zh-CN" altLang="zh-CN" sz="1310">
                  <a:solidFill>
                    <a:srgbClr val="000000"/>
                  </a:solidFill>
                  <a:ea typeface="宋体" pitchFamily="2" charset="-122"/>
                </a:rPr>
                <a:t>市场</a:t>
              </a:r>
              <a:endParaRPr lang="zh-CN" altLang="en-US" sz="1310">
                <a:solidFill>
                  <a:srgbClr val="000000"/>
                </a:solidFill>
                <a:ea typeface="宋体" pitchFamily="2" charset="-122"/>
              </a:endParaRPr>
            </a:p>
          </p:txBody>
        </p:sp>
      </p:grpSp>
      <p:grpSp>
        <p:nvGrpSpPr>
          <p:cNvPr id="18438" name="Group 6"/>
          <p:cNvGrpSpPr/>
          <p:nvPr/>
        </p:nvGrpSpPr>
        <p:grpSpPr bwMode="auto">
          <a:xfrm>
            <a:off x="3339922" y="1498269"/>
            <a:ext cx="1090097" cy="450606"/>
            <a:chOff x="0" y="0"/>
            <a:chExt cx="1362" cy="563"/>
          </a:xfrm>
        </p:grpSpPr>
        <p:sp>
          <p:nvSpPr>
            <p:cNvPr id="18439" name="Rectangle 7"/>
            <p:cNvSpPr>
              <a:spLocks noChangeArrowheads="1"/>
            </p:cNvSpPr>
            <p:nvPr/>
          </p:nvSpPr>
          <p:spPr bwMode="auto">
            <a:xfrm>
              <a:off x="0" y="0"/>
              <a:ext cx="1362" cy="5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8440" name="Text Box 8"/>
            <p:cNvSpPr txBox="1">
              <a:spLocks noChangeArrowheads="1"/>
            </p:cNvSpPr>
            <p:nvPr/>
          </p:nvSpPr>
          <p:spPr bwMode="auto">
            <a:xfrm>
              <a:off x="29" y="128"/>
              <a:ext cx="1309"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360">
                  <a:solidFill>
                    <a:srgbClr val="000000"/>
                  </a:solidFill>
                  <a:ea typeface="宋体" pitchFamily="2" charset="-122"/>
                </a:rPr>
                <a:t>家庭</a:t>
              </a:r>
              <a:endParaRPr lang="zh-CN" altLang="en-US" sz="1360">
                <a:solidFill>
                  <a:srgbClr val="000000"/>
                </a:solidFill>
                <a:ea typeface="宋体" pitchFamily="2" charset="-122"/>
              </a:endParaRPr>
            </a:p>
          </p:txBody>
        </p:sp>
      </p:grpSp>
      <p:grpSp>
        <p:nvGrpSpPr>
          <p:cNvPr id="18441" name="Group 9"/>
          <p:cNvGrpSpPr/>
          <p:nvPr/>
        </p:nvGrpSpPr>
        <p:grpSpPr bwMode="auto">
          <a:xfrm>
            <a:off x="121655" y="1503071"/>
            <a:ext cx="980447" cy="450606"/>
            <a:chOff x="0" y="0"/>
            <a:chExt cx="1225" cy="563"/>
          </a:xfrm>
        </p:grpSpPr>
        <p:sp>
          <p:nvSpPr>
            <p:cNvPr id="18442" name="Rectangle 10"/>
            <p:cNvSpPr>
              <a:spLocks noChangeArrowheads="1"/>
            </p:cNvSpPr>
            <p:nvPr/>
          </p:nvSpPr>
          <p:spPr bwMode="auto">
            <a:xfrm>
              <a:off x="0" y="0"/>
              <a:ext cx="1225" cy="5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8443" name="Text Box 11"/>
            <p:cNvSpPr txBox="1">
              <a:spLocks noChangeArrowheads="1"/>
            </p:cNvSpPr>
            <p:nvPr/>
          </p:nvSpPr>
          <p:spPr bwMode="auto">
            <a:xfrm>
              <a:off x="115" y="113"/>
              <a:ext cx="1021"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360">
                  <a:solidFill>
                    <a:srgbClr val="000000"/>
                  </a:solidFill>
                  <a:ea typeface="宋体" pitchFamily="2" charset="-122"/>
                </a:rPr>
                <a:t>企业</a:t>
              </a:r>
            </a:p>
          </p:txBody>
        </p:sp>
      </p:grpSp>
      <p:grpSp>
        <p:nvGrpSpPr>
          <p:cNvPr id="18444" name="Group 12"/>
          <p:cNvGrpSpPr/>
          <p:nvPr/>
        </p:nvGrpSpPr>
        <p:grpSpPr bwMode="auto">
          <a:xfrm>
            <a:off x="2883714" y="1948074"/>
            <a:ext cx="1462266" cy="1106104"/>
            <a:chOff x="0" y="0"/>
            <a:chExt cx="1827" cy="1382"/>
          </a:xfrm>
        </p:grpSpPr>
        <p:grpSp>
          <p:nvGrpSpPr>
            <p:cNvPr id="18445" name="Group 13"/>
            <p:cNvGrpSpPr/>
            <p:nvPr/>
          </p:nvGrpSpPr>
          <p:grpSpPr bwMode="auto">
            <a:xfrm rot="5400000">
              <a:off x="263" y="-263"/>
              <a:ext cx="1048" cy="1573"/>
              <a:chOff x="0" y="0"/>
              <a:chExt cx="1008" cy="752"/>
            </a:xfrm>
          </p:grpSpPr>
          <p:sp>
            <p:nvSpPr>
              <p:cNvPr id="18446" name="Line 14"/>
              <p:cNvSpPr>
                <a:spLocks noChangeShapeType="1"/>
              </p:cNvSpPr>
              <p:nvPr/>
            </p:nvSpPr>
            <p:spPr bwMode="auto">
              <a:xfrm flipH="1">
                <a:off x="0" y="0"/>
                <a:ext cx="1008" cy="0"/>
              </a:xfrm>
              <a:prstGeom prst="line">
                <a:avLst/>
              </a:prstGeom>
              <a:noFill/>
              <a:ln w="57150">
                <a:solidFill>
                  <a:srgbClr val="009900"/>
                </a:solidFill>
                <a:round/>
                <a:tailEnd type="stealth" w="lg" len="lg"/>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47" name="Line 15"/>
              <p:cNvSpPr>
                <a:spLocks noChangeShapeType="1"/>
              </p:cNvSpPr>
              <p:nvPr/>
            </p:nvSpPr>
            <p:spPr bwMode="auto">
              <a:xfrm>
                <a:off x="990" y="1"/>
                <a:ext cx="0" cy="751"/>
              </a:xfrm>
              <a:prstGeom prst="line">
                <a:avLst/>
              </a:prstGeom>
              <a:noFill/>
              <a:ln w="57150">
                <a:solidFill>
                  <a:srgbClr val="00990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8448" name="Text Box 16"/>
            <p:cNvSpPr txBox="1">
              <a:spLocks noChangeArrowheads="1"/>
            </p:cNvSpPr>
            <p:nvPr/>
          </p:nvSpPr>
          <p:spPr bwMode="auto">
            <a:xfrm>
              <a:off x="218" y="1024"/>
              <a:ext cx="160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zh-CN" altLang="zh-CN" sz="1260">
                  <a:solidFill>
                    <a:srgbClr val="000000"/>
                  </a:solidFill>
                  <a:ea typeface="宋体" pitchFamily="2" charset="-122"/>
                </a:rPr>
                <a:t>收入</a:t>
              </a:r>
              <a:r>
                <a:rPr lang="zh-CN" altLang="en-US" sz="1260">
                  <a:solidFill>
                    <a:srgbClr val="000000"/>
                  </a:solidFill>
                  <a:ea typeface="宋体" pitchFamily="2" charset="-122"/>
                </a:rPr>
                <a:t> </a:t>
              </a:r>
              <a:r>
                <a:rPr lang="en-US" altLang="zh-CN" sz="1260">
                  <a:solidFill>
                    <a:srgbClr val="000000"/>
                  </a:solidFill>
                  <a:ea typeface="宋体" pitchFamily="2" charset="-122"/>
                </a:rPr>
                <a:t>(=GDP)</a:t>
              </a:r>
            </a:p>
          </p:txBody>
        </p:sp>
      </p:grpSp>
      <p:grpSp>
        <p:nvGrpSpPr>
          <p:cNvPr id="18449" name="Group 17"/>
          <p:cNvGrpSpPr/>
          <p:nvPr/>
        </p:nvGrpSpPr>
        <p:grpSpPr bwMode="auto">
          <a:xfrm>
            <a:off x="244112" y="1963282"/>
            <a:ext cx="1700890" cy="1253934"/>
            <a:chOff x="0" y="0"/>
            <a:chExt cx="1857" cy="1825"/>
          </a:xfrm>
        </p:grpSpPr>
        <p:grpSp>
          <p:nvGrpSpPr>
            <p:cNvPr id="18450" name="Group 18"/>
            <p:cNvGrpSpPr/>
            <p:nvPr/>
          </p:nvGrpSpPr>
          <p:grpSpPr bwMode="auto">
            <a:xfrm>
              <a:off x="149" y="0"/>
              <a:ext cx="1708" cy="1029"/>
              <a:chOff x="0" y="0"/>
              <a:chExt cx="1684" cy="1029"/>
            </a:xfrm>
          </p:grpSpPr>
          <p:sp>
            <p:nvSpPr>
              <p:cNvPr id="18451" name="Line 19"/>
              <p:cNvSpPr>
                <a:spLocks noChangeShapeType="1"/>
              </p:cNvSpPr>
              <p:nvPr/>
            </p:nvSpPr>
            <p:spPr bwMode="auto">
              <a:xfrm rot="10800000" flipH="1">
                <a:off x="0" y="1029"/>
                <a:ext cx="1684" cy="0"/>
              </a:xfrm>
              <a:prstGeom prst="line">
                <a:avLst/>
              </a:prstGeom>
              <a:noFill/>
              <a:ln w="57150">
                <a:solidFill>
                  <a:srgbClr val="009900"/>
                </a:solidFill>
                <a:round/>
                <a:tailEnd type="stealth" w="lg" len="lg"/>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52" name="Line 20"/>
              <p:cNvSpPr>
                <a:spLocks noChangeShapeType="1"/>
              </p:cNvSpPr>
              <p:nvPr/>
            </p:nvSpPr>
            <p:spPr bwMode="auto">
              <a:xfrm rot="10800000">
                <a:off x="18" y="0"/>
                <a:ext cx="0" cy="1029"/>
              </a:xfrm>
              <a:prstGeom prst="line">
                <a:avLst/>
              </a:prstGeom>
              <a:noFill/>
              <a:ln w="57150">
                <a:solidFill>
                  <a:srgbClr val="00990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8453" name="Text Box 21"/>
            <p:cNvSpPr txBox="1">
              <a:spLocks noChangeArrowheads="1"/>
            </p:cNvSpPr>
            <p:nvPr/>
          </p:nvSpPr>
          <p:spPr bwMode="auto">
            <a:xfrm>
              <a:off x="0" y="1019"/>
              <a:ext cx="1408" cy="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95000"/>
                </a:lnSpc>
                <a:spcBef>
                  <a:spcPct val="50000"/>
                </a:spcBef>
                <a:spcAft>
                  <a:spcPct val="0"/>
                </a:spcAft>
              </a:pPr>
              <a:r>
                <a:rPr lang="zh-CN" altLang="zh-CN" sz="1260">
                  <a:solidFill>
                    <a:srgbClr val="000000"/>
                  </a:solidFill>
                  <a:ea typeface="宋体" pitchFamily="2" charset="-122"/>
                </a:rPr>
                <a:t>工资、租金和利润</a:t>
              </a:r>
              <a:r>
                <a:rPr lang="zh-CN" altLang="en-US" sz="1260">
                  <a:solidFill>
                    <a:srgbClr val="000000"/>
                  </a:solidFill>
                  <a:ea typeface="宋体" pitchFamily="2" charset="-122"/>
                </a:rPr>
                <a:t> </a:t>
              </a:r>
              <a:r>
                <a:rPr lang="en-US" altLang="zh-CN" sz="1260">
                  <a:solidFill>
                    <a:srgbClr val="000000"/>
                  </a:solidFill>
                  <a:ea typeface="宋体" pitchFamily="2" charset="-122"/>
                </a:rPr>
                <a:t>(=GDP)</a:t>
              </a:r>
            </a:p>
          </p:txBody>
        </p:sp>
      </p:grpSp>
      <p:grpSp>
        <p:nvGrpSpPr>
          <p:cNvPr id="18454" name="Group 22"/>
          <p:cNvGrpSpPr/>
          <p:nvPr/>
        </p:nvGrpSpPr>
        <p:grpSpPr bwMode="auto">
          <a:xfrm>
            <a:off x="584266" y="1956078"/>
            <a:ext cx="1120510" cy="648295"/>
            <a:chOff x="0" y="0"/>
            <a:chExt cx="1400" cy="810"/>
          </a:xfrm>
        </p:grpSpPr>
        <p:grpSp>
          <p:nvGrpSpPr>
            <p:cNvPr id="18455" name="Group 23"/>
            <p:cNvGrpSpPr/>
            <p:nvPr/>
          </p:nvGrpSpPr>
          <p:grpSpPr bwMode="auto">
            <a:xfrm>
              <a:off x="0" y="0"/>
              <a:ext cx="1400" cy="810"/>
              <a:chOff x="0" y="0"/>
              <a:chExt cx="879" cy="774"/>
            </a:xfrm>
          </p:grpSpPr>
          <p:sp>
            <p:nvSpPr>
              <p:cNvPr id="18456" name="Line 24"/>
              <p:cNvSpPr>
                <a:spLocks noChangeShapeType="1"/>
              </p:cNvSpPr>
              <p:nvPr/>
            </p:nvSpPr>
            <p:spPr bwMode="auto">
              <a:xfrm rot="5400000" flipH="1" flipV="1">
                <a:off x="-386" y="387"/>
                <a:ext cx="774" cy="0"/>
              </a:xfrm>
              <a:prstGeom prst="line">
                <a:avLst/>
              </a:prstGeom>
              <a:noFill/>
              <a:ln w="57150">
                <a:solidFill>
                  <a:srgbClr val="CC0000"/>
                </a:solidFill>
                <a:round/>
                <a:tailEnd type="stealth" w="lg" len="lg"/>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57" name="Line 25"/>
              <p:cNvSpPr>
                <a:spLocks noChangeShapeType="1"/>
              </p:cNvSpPr>
              <p:nvPr/>
            </p:nvSpPr>
            <p:spPr bwMode="auto">
              <a:xfrm rot="5400000" flipV="1">
                <a:off x="440" y="311"/>
                <a:ext cx="0" cy="879"/>
              </a:xfrm>
              <a:prstGeom prst="line">
                <a:avLst/>
              </a:prstGeom>
              <a:noFill/>
              <a:ln w="57150">
                <a:solidFill>
                  <a:srgbClr val="CC000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8458" name="Text Box 26"/>
            <p:cNvSpPr txBox="1">
              <a:spLocks noChangeArrowheads="1"/>
            </p:cNvSpPr>
            <p:nvPr/>
          </p:nvSpPr>
          <p:spPr bwMode="auto">
            <a:xfrm>
              <a:off x="28" y="294"/>
              <a:ext cx="126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90000"/>
                </a:lnSpc>
                <a:spcBef>
                  <a:spcPct val="50000"/>
                </a:spcBef>
                <a:spcAft>
                  <a:spcPct val="0"/>
                </a:spcAft>
              </a:pPr>
              <a:r>
                <a:rPr lang="zh-CN" altLang="zh-CN" sz="1260">
                  <a:solidFill>
                    <a:srgbClr val="000000"/>
                  </a:solidFill>
                  <a:ea typeface="宋体" pitchFamily="2" charset="-122"/>
                </a:rPr>
                <a:t>生产投入</a:t>
              </a:r>
              <a:endParaRPr lang="zh-CN" altLang="en-US" sz="1260">
                <a:solidFill>
                  <a:srgbClr val="000000"/>
                </a:solidFill>
                <a:ea typeface="宋体" pitchFamily="2" charset="-122"/>
              </a:endParaRPr>
            </a:p>
          </p:txBody>
        </p:sp>
      </p:grpSp>
      <p:grpSp>
        <p:nvGrpSpPr>
          <p:cNvPr id="18459" name="Group 27"/>
          <p:cNvGrpSpPr/>
          <p:nvPr/>
        </p:nvGrpSpPr>
        <p:grpSpPr bwMode="auto">
          <a:xfrm>
            <a:off x="2890117" y="1948074"/>
            <a:ext cx="1071688" cy="695517"/>
            <a:chOff x="0" y="0"/>
            <a:chExt cx="1339" cy="869"/>
          </a:xfrm>
        </p:grpSpPr>
        <p:grpSp>
          <p:nvGrpSpPr>
            <p:cNvPr id="18460" name="Group 28"/>
            <p:cNvGrpSpPr/>
            <p:nvPr/>
          </p:nvGrpSpPr>
          <p:grpSpPr bwMode="auto">
            <a:xfrm>
              <a:off x="0" y="0"/>
              <a:ext cx="1339" cy="820"/>
              <a:chOff x="0" y="0"/>
              <a:chExt cx="1339" cy="796"/>
            </a:xfrm>
          </p:grpSpPr>
          <p:sp>
            <p:nvSpPr>
              <p:cNvPr id="18461" name="Line 29"/>
              <p:cNvSpPr>
                <a:spLocks noChangeShapeType="1"/>
              </p:cNvSpPr>
              <p:nvPr/>
            </p:nvSpPr>
            <p:spPr bwMode="auto">
              <a:xfrm flipH="1" flipV="1">
                <a:off x="0" y="792"/>
                <a:ext cx="1339" cy="0"/>
              </a:xfrm>
              <a:prstGeom prst="line">
                <a:avLst/>
              </a:prstGeom>
              <a:noFill/>
              <a:ln w="57150">
                <a:solidFill>
                  <a:srgbClr val="CC0000"/>
                </a:solidFill>
                <a:round/>
                <a:tailEnd type="stealth" w="lg" len="lg"/>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62" name="Line 30"/>
              <p:cNvSpPr>
                <a:spLocks noChangeShapeType="1"/>
              </p:cNvSpPr>
              <p:nvPr/>
            </p:nvSpPr>
            <p:spPr bwMode="auto">
              <a:xfrm flipV="1">
                <a:off x="1320" y="0"/>
                <a:ext cx="0" cy="796"/>
              </a:xfrm>
              <a:prstGeom prst="line">
                <a:avLst/>
              </a:prstGeom>
              <a:noFill/>
              <a:ln w="57150">
                <a:solidFill>
                  <a:srgbClr val="CC000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8463" name="Text Box 31"/>
            <p:cNvSpPr txBox="1">
              <a:spLocks noChangeArrowheads="1"/>
            </p:cNvSpPr>
            <p:nvPr/>
          </p:nvSpPr>
          <p:spPr bwMode="auto">
            <a:xfrm>
              <a:off x="71" y="317"/>
              <a:ext cx="1262"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defTabSz="461010" fontAlgn="base">
                <a:lnSpc>
                  <a:spcPct val="90000"/>
                </a:lnSpc>
                <a:spcBef>
                  <a:spcPct val="50000"/>
                </a:spcBef>
                <a:spcAft>
                  <a:spcPct val="0"/>
                </a:spcAft>
              </a:pPr>
              <a:r>
                <a:rPr lang="zh-CN" altLang="zh-CN" sz="1260">
                  <a:solidFill>
                    <a:srgbClr val="000000"/>
                  </a:solidFill>
                  <a:ea typeface="宋体" pitchFamily="2" charset="-122"/>
                </a:rPr>
                <a:t>劳动、土地和资本</a:t>
              </a:r>
              <a:endParaRPr lang="zh-CN" altLang="en-US" sz="1260">
                <a:solidFill>
                  <a:srgbClr val="000000"/>
                </a:solidFill>
                <a:ea typeface="宋体" pitchFamily="2" charset="-122"/>
              </a:endParaRPr>
            </a:p>
          </p:txBody>
        </p:sp>
      </p:grpSp>
      <p:grpSp>
        <p:nvGrpSpPr>
          <p:cNvPr id="18464" name="Group 32"/>
          <p:cNvGrpSpPr/>
          <p:nvPr/>
        </p:nvGrpSpPr>
        <p:grpSpPr bwMode="auto">
          <a:xfrm>
            <a:off x="2854901" y="452193"/>
            <a:ext cx="1596727" cy="1042875"/>
            <a:chOff x="0" y="0"/>
            <a:chExt cx="1995" cy="1303"/>
          </a:xfrm>
        </p:grpSpPr>
        <p:grpSp>
          <p:nvGrpSpPr>
            <p:cNvPr id="18465" name="Group 33"/>
            <p:cNvGrpSpPr/>
            <p:nvPr/>
          </p:nvGrpSpPr>
          <p:grpSpPr bwMode="auto">
            <a:xfrm>
              <a:off x="0" y="289"/>
              <a:ext cx="1621" cy="1014"/>
              <a:chOff x="0" y="0"/>
              <a:chExt cx="1661" cy="998"/>
            </a:xfrm>
          </p:grpSpPr>
          <p:sp>
            <p:nvSpPr>
              <p:cNvPr id="18466" name="Line 34"/>
              <p:cNvSpPr>
                <a:spLocks noChangeShapeType="1"/>
              </p:cNvSpPr>
              <p:nvPr/>
            </p:nvSpPr>
            <p:spPr bwMode="auto">
              <a:xfrm flipH="1">
                <a:off x="0" y="9"/>
                <a:ext cx="1661" cy="0"/>
              </a:xfrm>
              <a:prstGeom prst="line">
                <a:avLst/>
              </a:prstGeom>
              <a:noFill/>
              <a:ln w="57150">
                <a:solidFill>
                  <a:srgbClr val="009900"/>
                </a:solidFill>
                <a:round/>
                <a:tailEnd type="stealth" w="lg" len="lg"/>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67" name="Line 35"/>
              <p:cNvSpPr>
                <a:spLocks noChangeShapeType="1"/>
              </p:cNvSpPr>
              <p:nvPr/>
            </p:nvSpPr>
            <p:spPr bwMode="auto">
              <a:xfrm>
                <a:off x="1641" y="0"/>
                <a:ext cx="0" cy="998"/>
              </a:xfrm>
              <a:prstGeom prst="line">
                <a:avLst/>
              </a:prstGeom>
              <a:noFill/>
              <a:ln w="57150">
                <a:solidFill>
                  <a:srgbClr val="00990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8468" name="Text Box 36"/>
            <p:cNvSpPr txBox="1">
              <a:spLocks noChangeArrowheads="1"/>
            </p:cNvSpPr>
            <p:nvPr/>
          </p:nvSpPr>
          <p:spPr bwMode="auto">
            <a:xfrm>
              <a:off x="176" y="0"/>
              <a:ext cx="181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zh-CN" altLang="zh-CN" sz="1260">
                  <a:solidFill>
                    <a:srgbClr val="000000"/>
                  </a:solidFill>
                  <a:ea typeface="宋体" pitchFamily="2" charset="-122"/>
                </a:rPr>
                <a:t>支出</a:t>
              </a:r>
              <a:r>
                <a:rPr lang="en-US" altLang="zh-CN" sz="1260">
                  <a:solidFill>
                    <a:srgbClr val="000000"/>
                  </a:solidFill>
                  <a:ea typeface="宋体" pitchFamily="2" charset="-122"/>
                </a:rPr>
                <a:t>(=GDP)</a:t>
              </a:r>
            </a:p>
          </p:txBody>
        </p:sp>
      </p:grpSp>
      <p:grpSp>
        <p:nvGrpSpPr>
          <p:cNvPr id="18469" name="Group 37"/>
          <p:cNvGrpSpPr/>
          <p:nvPr/>
        </p:nvGrpSpPr>
        <p:grpSpPr bwMode="auto">
          <a:xfrm>
            <a:off x="2878111" y="839569"/>
            <a:ext cx="1073289" cy="804367"/>
            <a:chOff x="0" y="0"/>
            <a:chExt cx="1341" cy="1005"/>
          </a:xfrm>
        </p:grpSpPr>
        <p:grpSp>
          <p:nvGrpSpPr>
            <p:cNvPr id="18470" name="Group 38"/>
            <p:cNvGrpSpPr/>
            <p:nvPr/>
          </p:nvGrpSpPr>
          <p:grpSpPr bwMode="auto">
            <a:xfrm>
              <a:off x="0" y="0"/>
              <a:ext cx="1341" cy="816"/>
              <a:chOff x="0" y="0"/>
              <a:chExt cx="1341" cy="816"/>
            </a:xfrm>
          </p:grpSpPr>
          <p:sp>
            <p:nvSpPr>
              <p:cNvPr id="18471" name="Line 39"/>
              <p:cNvSpPr>
                <a:spLocks noChangeShapeType="1"/>
              </p:cNvSpPr>
              <p:nvPr/>
            </p:nvSpPr>
            <p:spPr bwMode="auto">
              <a:xfrm rot="16200000" flipH="1" flipV="1">
                <a:off x="914" y="408"/>
                <a:ext cx="816" cy="0"/>
              </a:xfrm>
              <a:prstGeom prst="line">
                <a:avLst/>
              </a:prstGeom>
              <a:noFill/>
              <a:ln w="57150">
                <a:solidFill>
                  <a:srgbClr val="CC0000"/>
                </a:solidFill>
                <a:round/>
                <a:tailEnd type="stealth" w="lg" len="lg"/>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72" name="Line 40"/>
              <p:cNvSpPr>
                <a:spLocks noChangeShapeType="1"/>
              </p:cNvSpPr>
              <p:nvPr/>
            </p:nvSpPr>
            <p:spPr bwMode="auto">
              <a:xfrm rot="16200000" flipV="1">
                <a:off x="671" y="-659"/>
                <a:ext cx="0" cy="1341"/>
              </a:xfrm>
              <a:prstGeom prst="line">
                <a:avLst/>
              </a:prstGeom>
              <a:noFill/>
              <a:ln w="57150">
                <a:solidFill>
                  <a:srgbClr val="CC000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8473" name="Text Box 41"/>
            <p:cNvSpPr txBox="1">
              <a:spLocks noChangeArrowheads="1"/>
            </p:cNvSpPr>
            <p:nvPr/>
          </p:nvSpPr>
          <p:spPr bwMode="auto">
            <a:xfrm>
              <a:off x="499" y="17"/>
              <a:ext cx="825" cy="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r" defTabSz="461010" fontAlgn="base">
                <a:lnSpc>
                  <a:spcPct val="90000"/>
                </a:lnSpc>
                <a:spcBef>
                  <a:spcPct val="50000"/>
                </a:spcBef>
                <a:spcAft>
                  <a:spcPct val="0"/>
                </a:spcAft>
              </a:pPr>
              <a:r>
                <a:rPr lang="zh-CN" altLang="zh-CN" sz="1260">
                  <a:solidFill>
                    <a:srgbClr val="000000"/>
                  </a:solidFill>
                  <a:ea typeface="宋体" pitchFamily="2" charset="-122"/>
                </a:rPr>
                <a:t>物品和劳务的购买</a:t>
              </a:r>
              <a:endParaRPr lang="zh-CN" altLang="en-US" sz="1260">
                <a:solidFill>
                  <a:srgbClr val="000000"/>
                </a:solidFill>
                <a:ea typeface="宋体" pitchFamily="2" charset="-122"/>
              </a:endParaRPr>
            </a:p>
          </p:txBody>
        </p:sp>
      </p:grpSp>
      <p:grpSp>
        <p:nvGrpSpPr>
          <p:cNvPr id="18474" name="Group 42"/>
          <p:cNvGrpSpPr/>
          <p:nvPr/>
        </p:nvGrpSpPr>
        <p:grpSpPr bwMode="auto">
          <a:xfrm>
            <a:off x="563457" y="811557"/>
            <a:ext cx="1138919" cy="799564"/>
            <a:chOff x="0" y="0"/>
            <a:chExt cx="1423" cy="999"/>
          </a:xfrm>
        </p:grpSpPr>
        <p:grpSp>
          <p:nvGrpSpPr>
            <p:cNvPr id="18475" name="Group 43"/>
            <p:cNvGrpSpPr/>
            <p:nvPr/>
          </p:nvGrpSpPr>
          <p:grpSpPr bwMode="auto">
            <a:xfrm>
              <a:off x="0" y="0"/>
              <a:ext cx="1423" cy="861"/>
              <a:chOff x="0" y="0"/>
              <a:chExt cx="1423" cy="885"/>
            </a:xfrm>
          </p:grpSpPr>
          <p:sp>
            <p:nvSpPr>
              <p:cNvPr id="18476" name="Line 44"/>
              <p:cNvSpPr>
                <a:spLocks noChangeShapeType="1"/>
              </p:cNvSpPr>
              <p:nvPr/>
            </p:nvSpPr>
            <p:spPr bwMode="auto">
              <a:xfrm rot="10800000" flipH="1" flipV="1">
                <a:off x="0" y="12"/>
                <a:ext cx="1423" cy="0"/>
              </a:xfrm>
              <a:prstGeom prst="line">
                <a:avLst/>
              </a:prstGeom>
              <a:noFill/>
              <a:ln w="57150">
                <a:solidFill>
                  <a:srgbClr val="CC0000"/>
                </a:solidFill>
                <a:round/>
                <a:tailEnd type="stealth" w="lg" len="lg"/>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77" name="Line 45"/>
              <p:cNvSpPr>
                <a:spLocks noChangeShapeType="1"/>
              </p:cNvSpPr>
              <p:nvPr/>
            </p:nvSpPr>
            <p:spPr bwMode="auto">
              <a:xfrm rot="10800000" flipV="1">
                <a:off x="17" y="0"/>
                <a:ext cx="0" cy="885"/>
              </a:xfrm>
              <a:prstGeom prst="line">
                <a:avLst/>
              </a:prstGeom>
              <a:noFill/>
              <a:ln w="57150">
                <a:solidFill>
                  <a:srgbClr val="CC000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8478" name="Text Box 46"/>
            <p:cNvSpPr txBox="1">
              <a:spLocks noChangeArrowheads="1"/>
            </p:cNvSpPr>
            <p:nvPr/>
          </p:nvSpPr>
          <p:spPr bwMode="auto">
            <a:xfrm>
              <a:off x="41" y="11"/>
              <a:ext cx="825" cy="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90000"/>
                </a:lnSpc>
                <a:spcBef>
                  <a:spcPct val="50000"/>
                </a:spcBef>
                <a:spcAft>
                  <a:spcPct val="0"/>
                </a:spcAft>
              </a:pPr>
              <a:r>
                <a:rPr lang="zh-CN" altLang="zh-CN" sz="1260">
                  <a:solidFill>
                    <a:srgbClr val="000000"/>
                  </a:solidFill>
                  <a:ea typeface="宋体" pitchFamily="2" charset="-122"/>
                </a:rPr>
                <a:t>物品和劳务的销售</a:t>
              </a:r>
              <a:endParaRPr lang="zh-CN" altLang="en-US" sz="1260">
                <a:solidFill>
                  <a:srgbClr val="000000"/>
                </a:solidFill>
                <a:ea typeface="宋体" pitchFamily="2" charset="-122"/>
              </a:endParaRPr>
            </a:p>
          </p:txBody>
        </p:sp>
      </p:grpSp>
      <p:grpSp>
        <p:nvGrpSpPr>
          <p:cNvPr id="18479" name="Group 47"/>
          <p:cNvGrpSpPr/>
          <p:nvPr/>
        </p:nvGrpSpPr>
        <p:grpSpPr bwMode="auto">
          <a:xfrm>
            <a:off x="299337" y="440187"/>
            <a:ext cx="1455863" cy="1053280"/>
            <a:chOff x="0" y="0"/>
            <a:chExt cx="1819" cy="1316"/>
          </a:xfrm>
        </p:grpSpPr>
        <p:grpSp>
          <p:nvGrpSpPr>
            <p:cNvPr id="18480" name="Group 48"/>
            <p:cNvGrpSpPr/>
            <p:nvPr/>
          </p:nvGrpSpPr>
          <p:grpSpPr bwMode="auto">
            <a:xfrm rot="-5400000">
              <a:off x="417" y="-53"/>
              <a:ext cx="1055" cy="1683"/>
              <a:chOff x="0" y="0"/>
              <a:chExt cx="1008" cy="752"/>
            </a:xfrm>
          </p:grpSpPr>
          <p:sp>
            <p:nvSpPr>
              <p:cNvPr id="18481" name="Line 49"/>
              <p:cNvSpPr>
                <a:spLocks noChangeShapeType="1"/>
              </p:cNvSpPr>
              <p:nvPr/>
            </p:nvSpPr>
            <p:spPr bwMode="auto">
              <a:xfrm flipH="1">
                <a:off x="0" y="0"/>
                <a:ext cx="1008" cy="0"/>
              </a:xfrm>
              <a:prstGeom prst="line">
                <a:avLst/>
              </a:prstGeom>
              <a:noFill/>
              <a:ln w="57150">
                <a:solidFill>
                  <a:srgbClr val="009900"/>
                </a:solidFill>
                <a:round/>
                <a:tailEnd type="stealth" w="lg" len="lg"/>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82" name="Line 50"/>
              <p:cNvSpPr>
                <a:spLocks noChangeShapeType="1"/>
              </p:cNvSpPr>
              <p:nvPr/>
            </p:nvSpPr>
            <p:spPr bwMode="auto">
              <a:xfrm>
                <a:off x="990" y="1"/>
                <a:ext cx="0" cy="751"/>
              </a:xfrm>
              <a:prstGeom prst="line">
                <a:avLst/>
              </a:prstGeom>
              <a:noFill/>
              <a:ln w="57150">
                <a:solidFill>
                  <a:srgbClr val="00990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8483" name="Text Box 51"/>
            <p:cNvSpPr txBox="1">
              <a:spLocks noChangeArrowheads="1"/>
            </p:cNvSpPr>
            <p:nvPr/>
          </p:nvSpPr>
          <p:spPr bwMode="auto">
            <a:xfrm>
              <a:off x="0" y="0"/>
              <a:ext cx="181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zh-CN" altLang="zh-CN" sz="1260">
                  <a:solidFill>
                    <a:srgbClr val="000000"/>
                  </a:solidFill>
                  <a:ea typeface="宋体" pitchFamily="2" charset="-122"/>
                </a:rPr>
                <a:t>收入</a:t>
              </a:r>
              <a:r>
                <a:rPr lang="zh-CN" altLang="en-US" sz="1260">
                  <a:solidFill>
                    <a:srgbClr val="000000"/>
                  </a:solidFill>
                  <a:ea typeface="宋体" pitchFamily="2" charset="-122"/>
                </a:rPr>
                <a:t> </a:t>
              </a:r>
              <a:r>
                <a:rPr lang="en-US" altLang="zh-CN" sz="1260">
                  <a:solidFill>
                    <a:srgbClr val="000000"/>
                  </a:solidFill>
                  <a:ea typeface="宋体" pitchFamily="2" charset="-122"/>
                </a:rPr>
                <a:t>(=GDP)</a:t>
              </a:r>
            </a:p>
          </p:txBody>
        </p:sp>
      </p:grpSp>
      <p:grpSp>
        <p:nvGrpSpPr>
          <p:cNvPr id="18484" name="Group 52"/>
          <p:cNvGrpSpPr/>
          <p:nvPr/>
        </p:nvGrpSpPr>
        <p:grpSpPr bwMode="auto">
          <a:xfrm>
            <a:off x="1707178" y="412975"/>
            <a:ext cx="1170133" cy="851588"/>
            <a:chOff x="0" y="0"/>
            <a:chExt cx="1462" cy="1064"/>
          </a:xfrm>
        </p:grpSpPr>
        <p:sp>
          <p:nvSpPr>
            <p:cNvPr id="18485" name="Oval 53"/>
            <p:cNvSpPr>
              <a:spLocks noChangeArrowheads="1"/>
            </p:cNvSpPr>
            <p:nvPr/>
          </p:nvSpPr>
          <p:spPr bwMode="auto">
            <a:xfrm>
              <a:off x="0" y="0"/>
              <a:ext cx="1462" cy="1064"/>
            </a:xfrm>
            <a:prstGeom prst="ellipse">
              <a:avLst/>
            </a:prstGeom>
            <a:solidFill>
              <a:srgbClr val="FFCC99"/>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18486" name="Text Box 54"/>
            <p:cNvSpPr txBox="1">
              <a:spLocks noChangeArrowheads="1"/>
            </p:cNvSpPr>
            <p:nvPr/>
          </p:nvSpPr>
          <p:spPr bwMode="auto">
            <a:xfrm>
              <a:off x="57" y="157"/>
              <a:ext cx="1371"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310">
                  <a:solidFill>
                    <a:srgbClr val="000000"/>
                  </a:solidFill>
                  <a:ea typeface="宋体" pitchFamily="2" charset="-122"/>
                </a:rPr>
                <a:t>物品与劳务市场</a:t>
              </a:r>
              <a:endParaRPr lang="zh-CN" altLang="en-US" sz="1310">
                <a:solidFill>
                  <a:srgbClr val="000000"/>
                </a:solidFill>
                <a:ea typeface="宋体" pitchFamily="2" charset="-122"/>
              </a:endParaRPr>
            </a:p>
          </p:txBody>
        </p:sp>
      </p:gr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dissolve">
                                      <p:cBhvr>
                                        <p:cTn id="7" dur="500"/>
                                        <p:tgtEl>
                                          <p:spTgt spid="1843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8459"/>
                                        </p:tgtEl>
                                        <p:attrNameLst>
                                          <p:attrName>style.visibility</p:attrName>
                                        </p:attrNameLst>
                                      </p:cBhvr>
                                      <p:to>
                                        <p:strVal val="visible"/>
                                      </p:to>
                                    </p:set>
                                    <p:animEffect transition="in" filter="strips(downLeft)">
                                      <p:cBhvr>
                                        <p:cTn id="12" dur="500"/>
                                        <p:tgtEl>
                                          <p:spTgt spid="18459"/>
                                        </p:tgtEl>
                                      </p:cBhvr>
                                    </p:animEffect>
                                  </p:childTnLst>
                                </p:cTn>
                              </p:par>
                            </p:childTnLst>
                          </p:cTn>
                        </p:par>
                        <p:par>
                          <p:cTn id="13" fill="hold">
                            <p:stCondLst>
                              <p:cond delay="500"/>
                            </p:stCondLst>
                            <p:childTnLst>
                              <p:par>
                                <p:cTn id="14" presetID="18" presetClass="entr" presetSubtype="9" fill="hold" nodeType="afterEffect">
                                  <p:stCondLst>
                                    <p:cond delay="0"/>
                                  </p:stCondLst>
                                  <p:childTnLst>
                                    <p:set>
                                      <p:cBhvr>
                                        <p:cTn id="15" dur="1" fill="hold">
                                          <p:stCondLst>
                                            <p:cond delay="0"/>
                                          </p:stCondLst>
                                        </p:cTn>
                                        <p:tgtEl>
                                          <p:spTgt spid="18454"/>
                                        </p:tgtEl>
                                        <p:attrNameLst>
                                          <p:attrName>style.visibility</p:attrName>
                                        </p:attrNameLst>
                                      </p:cBhvr>
                                      <p:to>
                                        <p:strVal val="visible"/>
                                      </p:to>
                                    </p:set>
                                    <p:animEffect transition="in" filter="strips(upLeft)">
                                      <p:cBhvr>
                                        <p:cTn id="16" dur="500"/>
                                        <p:tgtEl>
                                          <p:spTgt spid="18454"/>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18449"/>
                                        </p:tgtEl>
                                        <p:attrNameLst>
                                          <p:attrName>style.visibility</p:attrName>
                                        </p:attrNameLst>
                                      </p:cBhvr>
                                      <p:to>
                                        <p:strVal val="visible"/>
                                      </p:to>
                                    </p:set>
                                    <p:animEffect transition="in" filter="strips(downRight)">
                                      <p:cBhvr>
                                        <p:cTn id="21" dur="500"/>
                                        <p:tgtEl>
                                          <p:spTgt spid="18449"/>
                                        </p:tgtEl>
                                      </p:cBhvr>
                                    </p:animEffect>
                                  </p:childTnLst>
                                </p:cTn>
                              </p:par>
                            </p:childTnLst>
                          </p:cTn>
                        </p:par>
                        <p:par>
                          <p:cTn id="22" fill="hold">
                            <p:stCondLst>
                              <p:cond delay="500"/>
                            </p:stCondLst>
                            <p:childTnLst>
                              <p:par>
                                <p:cTn id="23" presetID="18" presetClass="entr" presetSubtype="3" fill="hold" nodeType="afterEffect">
                                  <p:stCondLst>
                                    <p:cond delay="0"/>
                                  </p:stCondLst>
                                  <p:childTnLst>
                                    <p:set>
                                      <p:cBhvr>
                                        <p:cTn id="24" dur="1" fill="hold">
                                          <p:stCondLst>
                                            <p:cond delay="0"/>
                                          </p:stCondLst>
                                        </p:cTn>
                                        <p:tgtEl>
                                          <p:spTgt spid="18444"/>
                                        </p:tgtEl>
                                        <p:attrNameLst>
                                          <p:attrName>style.visibility</p:attrName>
                                        </p:attrNameLst>
                                      </p:cBhvr>
                                      <p:to>
                                        <p:strVal val="visible"/>
                                      </p:to>
                                    </p:set>
                                    <p:animEffect transition="in" filter="strips(upRight)">
                                      <p:cBhvr>
                                        <p:cTn id="25" dur="500"/>
                                        <p:tgtEl>
                                          <p:spTgt spid="1844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8484"/>
                                        </p:tgtEl>
                                        <p:attrNameLst>
                                          <p:attrName>style.visibility</p:attrName>
                                        </p:attrNameLst>
                                      </p:cBhvr>
                                      <p:to>
                                        <p:strVal val="visible"/>
                                      </p:to>
                                    </p:set>
                                    <p:animEffect transition="in" filter="dissolve">
                                      <p:cBhvr>
                                        <p:cTn id="30" dur="500"/>
                                        <p:tgtEl>
                                          <p:spTgt spid="18484"/>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9" fill="hold" nodeType="clickEffect">
                                  <p:stCondLst>
                                    <p:cond delay="0"/>
                                  </p:stCondLst>
                                  <p:childTnLst>
                                    <p:set>
                                      <p:cBhvr>
                                        <p:cTn id="34" dur="1" fill="hold">
                                          <p:stCondLst>
                                            <p:cond delay="0"/>
                                          </p:stCondLst>
                                        </p:cTn>
                                        <p:tgtEl>
                                          <p:spTgt spid="18464"/>
                                        </p:tgtEl>
                                        <p:attrNameLst>
                                          <p:attrName>style.visibility</p:attrName>
                                        </p:attrNameLst>
                                      </p:cBhvr>
                                      <p:to>
                                        <p:strVal val="visible"/>
                                      </p:to>
                                    </p:set>
                                    <p:animEffect transition="in" filter="strips(upLeft)">
                                      <p:cBhvr>
                                        <p:cTn id="35" dur="500"/>
                                        <p:tgtEl>
                                          <p:spTgt spid="18464"/>
                                        </p:tgtEl>
                                      </p:cBhvr>
                                    </p:animEffect>
                                  </p:childTnLst>
                                </p:cTn>
                              </p:par>
                            </p:childTnLst>
                          </p:cTn>
                        </p:par>
                        <p:par>
                          <p:cTn id="36" fill="hold">
                            <p:stCondLst>
                              <p:cond delay="500"/>
                            </p:stCondLst>
                            <p:childTnLst>
                              <p:par>
                                <p:cTn id="37" presetID="18" presetClass="entr" presetSubtype="12" fill="hold" nodeType="afterEffect">
                                  <p:stCondLst>
                                    <p:cond delay="0"/>
                                  </p:stCondLst>
                                  <p:childTnLst>
                                    <p:set>
                                      <p:cBhvr>
                                        <p:cTn id="38" dur="1" fill="hold">
                                          <p:stCondLst>
                                            <p:cond delay="0"/>
                                          </p:stCondLst>
                                        </p:cTn>
                                        <p:tgtEl>
                                          <p:spTgt spid="18479"/>
                                        </p:tgtEl>
                                        <p:attrNameLst>
                                          <p:attrName>style.visibility</p:attrName>
                                        </p:attrNameLst>
                                      </p:cBhvr>
                                      <p:to>
                                        <p:strVal val="visible"/>
                                      </p:to>
                                    </p:set>
                                    <p:animEffect transition="in" filter="strips(downLeft)">
                                      <p:cBhvr>
                                        <p:cTn id="39" dur="500"/>
                                        <p:tgtEl>
                                          <p:spTgt spid="18479"/>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3" fill="hold" nodeType="clickEffect">
                                  <p:stCondLst>
                                    <p:cond delay="0"/>
                                  </p:stCondLst>
                                  <p:childTnLst>
                                    <p:set>
                                      <p:cBhvr>
                                        <p:cTn id="43" dur="1" fill="hold">
                                          <p:stCondLst>
                                            <p:cond delay="0"/>
                                          </p:stCondLst>
                                        </p:cTn>
                                        <p:tgtEl>
                                          <p:spTgt spid="18474"/>
                                        </p:tgtEl>
                                        <p:attrNameLst>
                                          <p:attrName>style.visibility</p:attrName>
                                        </p:attrNameLst>
                                      </p:cBhvr>
                                      <p:to>
                                        <p:strVal val="visible"/>
                                      </p:to>
                                    </p:set>
                                    <p:animEffect transition="in" filter="strips(upRight)">
                                      <p:cBhvr>
                                        <p:cTn id="44" dur="500"/>
                                        <p:tgtEl>
                                          <p:spTgt spid="18474"/>
                                        </p:tgtEl>
                                      </p:cBhvr>
                                    </p:animEffect>
                                  </p:childTnLst>
                                </p:cTn>
                              </p:par>
                            </p:childTnLst>
                          </p:cTn>
                        </p:par>
                        <p:par>
                          <p:cTn id="45" fill="hold">
                            <p:stCondLst>
                              <p:cond delay="500"/>
                            </p:stCondLst>
                            <p:childTnLst>
                              <p:par>
                                <p:cTn id="46" presetID="18" presetClass="entr" presetSubtype="6" fill="hold" nodeType="afterEffect">
                                  <p:stCondLst>
                                    <p:cond delay="0"/>
                                  </p:stCondLst>
                                  <p:childTnLst>
                                    <p:set>
                                      <p:cBhvr>
                                        <p:cTn id="47" dur="1" fill="hold">
                                          <p:stCondLst>
                                            <p:cond delay="0"/>
                                          </p:stCondLst>
                                        </p:cTn>
                                        <p:tgtEl>
                                          <p:spTgt spid="18469"/>
                                        </p:tgtEl>
                                        <p:attrNameLst>
                                          <p:attrName>style.visibility</p:attrName>
                                        </p:attrNameLst>
                                      </p:cBhvr>
                                      <p:to>
                                        <p:strVal val="visible"/>
                                      </p:to>
                                    </p:set>
                                    <p:animEffect transition="in" filter="strips(downRight)">
                                      <p:cBhvr>
                                        <p:cTn id="48" dur="500"/>
                                        <p:tgtEl>
                                          <p:spTgt spid="18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20EECA67-7BA4-D745-9B50-1B92C070D2A6}" type="slidenum">
              <a:rPr lang="zh-CN" altLang="zh-CN">
                <a:latin typeface="Arial" panose="020B0604020202090204" pitchFamily="34" charset="0"/>
              </a:rPr>
              <a:t>31</a:t>
            </a:fld>
            <a:endParaRPr lang="en-US" altLang="zh-CN">
              <a:latin typeface="Arial" panose="020B0604020202090204" pitchFamily="34" charset="0"/>
            </a:endParaRPr>
          </a:p>
        </p:txBody>
      </p:sp>
      <p:sp>
        <p:nvSpPr>
          <p:cNvPr id="20482" name="Rectangle 2"/>
          <p:cNvSpPr>
            <a:spLocks noGrp="1" noChangeArrowheads="1"/>
          </p:cNvSpPr>
          <p:nvPr>
            <p:ph type="title" idx="4294967295"/>
          </p:nvPr>
        </p:nvSpPr>
        <p:spPr>
          <a:xfrm>
            <a:off x="122456" y="109637"/>
            <a:ext cx="4379595" cy="388977"/>
          </a:xfrm>
        </p:spPr>
        <p:txBody>
          <a:bodyPr/>
          <a:lstStyle/>
          <a:p>
            <a:r>
              <a:rPr lang="zh-CN" altLang="en-US" sz="1815">
                <a:ea typeface="宋体" pitchFamily="2" charset="-122"/>
              </a:rPr>
              <a:t>这张图省略了什么</a:t>
            </a:r>
          </a:p>
        </p:txBody>
      </p:sp>
      <p:sp>
        <p:nvSpPr>
          <p:cNvPr id="20483" name="Rectangle 3"/>
          <p:cNvSpPr>
            <a:spLocks noGrp="1" noChangeArrowheads="1"/>
          </p:cNvSpPr>
          <p:nvPr>
            <p:ph type="body" idx="4294967295"/>
          </p:nvPr>
        </p:nvSpPr>
        <p:spPr>
          <a:xfrm>
            <a:off x="252115" y="501816"/>
            <a:ext cx="3973810" cy="2630798"/>
          </a:xfrm>
        </p:spPr>
        <p:txBody>
          <a:bodyPr/>
          <a:lstStyle/>
          <a:p>
            <a:pPr>
              <a:spcBef>
                <a:spcPct val="5000"/>
              </a:spcBef>
            </a:pPr>
            <a:r>
              <a:rPr lang="zh-CN" altLang="zh-CN">
                <a:ea typeface="宋体" pitchFamily="2" charset="-122"/>
              </a:rPr>
              <a:t>政府</a:t>
            </a:r>
          </a:p>
          <a:p>
            <a:pPr lvl="1">
              <a:lnSpc>
                <a:spcPct val="105000"/>
              </a:lnSpc>
              <a:spcBef>
                <a:spcPct val="5000"/>
              </a:spcBef>
            </a:pPr>
            <a:r>
              <a:rPr lang="zh-CN" altLang="zh-CN">
                <a:ea typeface="宋体" pitchFamily="2" charset="-122"/>
              </a:rPr>
              <a:t>征税，购买物品与劳务</a:t>
            </a:r>
          </a:p>
          <a:p>
            <a:pPr>
              <a:spcBef>
                <a:spcPct val="55000"/>
              </a:spcBef>
            </a:pPr>
            <a:r>
              <a:rPr lang="zh-CN" altLang="zh-CN">
                <a:ea typeface="宋体" pitchFamily="2" charset="-122"/>
              </a:rPr>
              <a:t>金融体系</a:t>
            </a:r>
            <a:endParaRPr lang="zh-CN" altLang="en-US">
              <a:ea typeface="宋体" pitchFamily="2" charset="-122"/>
            </a:endParaRPr>
          </a:p>
          <a:p>
            <a:pPr lvl="1">
              <a:lnSpc>
                <a:spcPct val="105000"/>
              </a:lnSpc>
              <a:spcBef>
                <a:spcPct val="5000"/>
              </a:spcBef>
            </a:pPr>
            <a:r>
              <a:rPr lang="zh-CN" altLang="zh-CN">
                <a:ea typeface="宋体" pitchFamily="2" charset="-122"/>
              </a:rPr>
              <a:t>在储蓄者资金的供给和借款者贷款的需求之间达成均衡</a:t>
            </a:r>
            <a:endParaRPr lang="zh-CN" altLang="en-US">
              <a:ea typeface="宋体" pitchFamily="2" charset="-122"/>
            </a:endParaRPr>
          </a:p>
          <a:p>
            <a:pPr>
              <a:spcBef>
                <a:spcPct val="55000"/>
              </a:spcBef>
            </a:pPr>
            <a:r>
              <a:rPr lang="zh-CN" altLang="zh-CN">
                <a:ea typeface="宋体" pitchFamily="2" charset="-122"/>
              </a:rPr>
              <a:t>外国部门</a:t>
            </a:r>
          </a:p>
          <a:p>
            <a:pPr lvl="1">
              <a:lnSpc>
                <a:spcPct val="105000"/>
              </a:lnSpc>
              <a:spcBef>
                <a:spcPct val="5000"/>
              </a:spcBef>
            </a:pPr>
            <a:r>
              <a:rPr lang="zh-CN" altLang="zh-CN">
                <a:ea typeface="宋体" pitchFamily="2" charset="-122"/>
              </a:rPr>
              <a:t>物品与劳务贸易，金融资产，外国居民的货币</a:t>
            </a: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left)">
                                      <p:cBhvr>
                                        <p:cTn id="7" dur="500"/>
                                        <p:tgtEl>
                                          <p:spTgt spid="20483">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0483">
                                            <p:txEl>
                                              <p:pRg st="1" end="1"/>
                                            </p:txEl>
                                          </p:spTgt>
                                        </p:tgtEl>
                                        <p:attrNameLst>
                                          <p:attrName>style.visibility</p:attrName>
                                        </p:attrNameLst>
                                      </p:cBhvr>
                                      <p:to>
                                        <p:strVal val="visible"/>
                                      </p:to>
                                    </p:set>
                                    <p:animEffect transition="in" filter="wipe(left)">
                                      <p:cBhvr>
                                        <p:cTn id="10" dur="500"/>
                                        <p:tgtEl>
                                          <p:spTgt spid="2048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wipe(left)">
                                      <p:cBhvr>
                                        <p:cTn id="15" dur="500"/>
                                        <p:tgtEl>
                                          <p:spTgt spid="20483">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0483">
                                            <p:txEl>
                                              <p:pRg st="3" end="3"/>
                                            </p:txEl>
                                          </p:spTgt>
                                        </p:tgtEl>
                                        <p:attrNameLst>
                                          <p:attrName>style.visibility</p:attrName>
                                        </p:attrNameLst>
                                      </p:cBhvr>
                                      <p:to>
                                        <p:strVal val="visible"/>
                                      </p:to>
                                    </p:set>
                                    <p:animEffect transition="in" filter="wipe(left)">
                                      <p:cBhvr>
                                        <p:cTn id="18" dur="500"/>
                                        <p:tgtEl>
                                          <p:spTgt spid="2048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animEffect transition="in" filter="wipe(left)">
                                      <p:cBhvr>
                                        <p:cTn id="23" dur="500"/>
                                        <p:tgtEl>
                                          <p:spTgt spid="20483">
                                            <p:txEl>
                                              <p:pRg st="4" end="4"/>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20483">
                                            <p:txEl>
                                              <p:pRg st="5" end="5"/>
                                            </p:txEl>
                                          </p:spTgt>
                                        </p:tgtEl>
                                        <p:attrNameLst>
                                          <p:attrName>style.visibility</p:attrName>
                                        </p:attrNameLst>
                                      </p:cBhvr>
                                      <p:to>
                                        <p:strVal val="visible"/>
                                      </p:to>
                                    </p:set>
                                    <p:animEffect transition="in" filter="wipe(left)">
                                      <p:cBhvr>
                                        <p:cTn id="26" dur="500"/>
                                        <p:tgtEl>
                                          <p:spTgt spid="204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B3DF5493-BAE7-D74E-AC92-75054DA463C6}" type="slidenum">
              <a:rPr lang="zh-CN" altLang="zh-CN">
                <a:latin typeface="Arial" panose="020B0604020202090204" pitchFamily="34" charset="0"/>
              </a:rPr>
              <a:t>32</a:t>
            </a:fld>
            <a:endParaRPr lang="en-US" altLang="zh-CN">
              <a:latin typeface="Arial" panose="020B0604020202090204" pitchFamily="34" charset="0"/>
            </a:endParaRPr>
          </a:p>
        </p:txBody>
      </p:sp>
      <p:sp>
        <p:nvSpPr>
          <p:cNvPr id="22531" name="Rectangle 3"/>
          <p:cNvSpPr>
            <a:spLocks noGrp="1" noChangeArrowheads="1"/>
          </p:cNvSpPr>
          <p:nvPr>
            <p:ph type="body" idx="4294967295"/>
          </p:nvPr>
        </p:nvSpPr>
        <p:spPr>
          <a:xfrm>
            <a:off x="216760" y="510706"/>
            <a:ext cx="3823342" cy="901211"/>
          </a:xfrm>
        </p:spPr>
        <p:txBody>
          <a:bodyPr/>
          <a:lstStyle/>
          <a:p>
            <a:pPr>
              <a:lnSpc>
                <a:spcPct val="120000"/>
              </a:lnSpc>
              <a:buFont typeface="Wingdings" panose="05000000000000000000" pitchFamily="2" charset="2"/>
              <a:buNone/>
            </a:pPr>
            <a:r>
              <a:rPr lang="zh-CN" altLang="zh-CN" sz="1515" dirty="0">
                <a:ea typeface="宋体" pitchFamily="2" charset="-122"/>
              </a:rPr>
              <a:t>         </a:t>
            </a:r>
            <a:r>
              <a:rPr lang="zh-CN" altLang="zh-CN" dirty="0">
                <a:ea typeface="宋体" pitchFamily="2" charset="-122"/>
              </a:rPr>
              <a:t>在某一既定时期一个国家</a:t>
            </a:r>
            <a:r>
              <a:rPr lang="zh-CN" altLang="en-US" dirty="0">
                <a:ea typeface="宋体" pitchFamily="2" charset="-122"/>
              </a:rPr>
              <a:t>（或地区）</a:t>
            </a:r>
            <a:r>
              <a:rPr lang="zh-CN" altLang="zh-CN" dirty="0">
                <a:ea typeface="宋体" pitchFamily="2" charset="-122"/>
              </a:rPr>
              <a:t>内生产的所有</a:t>
            </a:r>
            <a:r>
              <a:rPr lang="zh-CN" altLang="zh-CN" dirty="0">
                <a:highlight>
                  <a:srgbClr val="FFFF00"/>
                </a:highlight>
                <a:ea typeface="宋体" pitchFamily="2" charset="-122"/>
              </a:rPr>
              <a:t>最终物品与劳务</a:t>
            </a:r>
            <a:r>
              <a:rPr lang="zh-CN" altLang="zh-CN" dirty="0">
                <a:ea typeface="宋体" pitchFamily="2" charset="-122"/>
              </a:rPr>
              <a:t>的市场价值</a:t>
            </a:r>
            <a:r>
              <a:rPr lang="zh-CN" altLang="en-US" dirty="0">
                <a:ea typeface="宋体" pitchFamily="2" charset="-122"/>
              </a:rPr>
              <a:t>的总和</a:t>
            </a:r>
            <a:endParaRPr lang="zh-CN" altLang="zh-CN" dirty="0">
              <a:ea typeface="宋体" pitchFamily="2" charset="-122"/>
            </a:endParaRPr>
          </a:p>
        </p:txBody>
      </p:sp>
      <p:sp>
        <p:nvSpPr>
          <p:cNvPr id="22532" name="Rectangle 4"/>
          <p:cNvSpPr>
            <a:spLocks noGrp="1" noChangeArrowheads="1"/>
          </p:cNvSpPr>
          <p:nvPr>
            <p:ph type="title" idx="4294967295"/>
          </p:nvPr>
        </p:nvSpPr>
        <p:spPr>
          <a:xfrm>
            <a:off x="172879" y="167264"/>
            <a:ext cx="4240332" cy="276926"/>
          </a:xfrm>
        </p:spPr>
        <p:txBody>
          <a:bodyPr/>
          <a:lstStyle/>
          <a:p>
            <a:pPr algn="l"/>
            <a:r>
              <a:rPr lang="zh-CN" altLang="zh-CN" sz="1815">
                <a:ea typeface="宋体" pitchFamily="2" charset="-122"/>
              </a:rPr>
              <a:t>国内生产总值（</a:t>
            </a:r>
            <a:r>
              <a:rPr lang="en-US" altLang="zh-CN" sz="1815">
                <a:ea typeface="宋体" pitchFamily="2" charset="-122"/>
              </a:rPr>
              <a:t>GDP</a:t>
            </a:r>
            <a:r>
              <a:rPr lang="zh-CN" altLang="zh-CN" sz="1815">
                <a:ea typeface="宋体" pitchFamily="2" charset="-122"/>
              </a:rPr>
              <a:t>）：</a:t>
            </a:r>
          </a:p>
        </p:txBody>
      </p:sp>
      <p:sp>
        <p:nvSpPr>
          <p:cNvPr id="22533" name="Text Box 5"/>
          <p:cNvSpPr txBox="1">
            <a:spLocks noChangeArrowheads="1"/>
          </p:cNvSpPr>
          <p:nvPr/>
        </p:nvSpPr>
        <p:spPr bwMode="auto">
          <a:xfrm>
            <a:off x="288694" y="1593083"/>
            <a:ext cx="4219522" cy="327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10000"/>
              </a:lnSpc>
              <a:spcBef>
                <a:spcPct val="25000"/>
              </a:spcBef>
              <a:spcAft>
                <a:spcPct val="0"/>
              </a:spcAft>
            </a:pPr>
            <a:r>
              <a:rPr lang="zh-CN" altLang="zh-CN" sz="1410">
                <a:solidFill>
                  <a:srgbClr val="008080"/>
                </a:solidFill>
                <a:ea typeface="宋体" pitchFamily="2" charset="-122"/>
              </a:rPr>
              <a:t>物品用它们的市场价值来评价，那:</a:t>
            </a:r>
            <a:endParaRPr lang="en-US" altLang="zh-CN" sz="1410">
              <a:solidFill>
                <a:srgbClr val="008080"/>
              </a:solidFill>
              <a:ea typeface="宋体" pitchFamily="2" charset="-122"/>
            </a:endParaRPr>
          </a:p>
        </p:txBody>
      </p:sp>
      <p:sp>
        <p:nvSpPr>
          <p:cNvPr id="22534" name="Text Box 7"/>
          <p:cNvSpPr txBox="1">
            <a:spLocks noChangeArrowheads="1"/>
          </p:cNvSpPr>
          <p:nvPr/>
        </p:nvSpPr>
        <p:spPr bwMode="auto">
          <a:xfrm>
            <a:off x="288839" y="1947122"/>
            <a:ext cx="4052246" cy="1320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144145" indent="-144145" defTabSz="461010" fontAlgn="base">
              <a:lnSpc>
                <a:spcPct val="110000"/>
              </a:lnSpc>
              <a:spcBef>
                <a:spcPct val="25000"/>
              </a:spcBef>
              <a:spcAft>
                <a:spcPct val="0"/>
              </a:spcAft>
              <a:buClr>
                <a:srgbClr val="777777"/>
              </a:buClr>
              <a:buSzPct val="120000"/>
              <a:buFont typeface="Wingdings" panose="05000000000000000000" pitchFamily="2" charset="2"/>
              <a:buChar char="§"/>
            </a:pPr>
            <a:r>
              <a:rPr lang="zh-CN" altLang="zh-CN" sz="1410" dirty="0">
                <a:solidFill>
                  <a:srgbClr val="008080"/>
                </a:solidFill>
                <a:ea typeface="宋体" pitchFamily="2" charset="-122"/>
              </a:rPr>
              <a:t>所有物品都用相同的单位来衡量</a:t>
            </a:r>
            <a:r>
              <a:rPr lang="zh-CN" altLang="en-US" sz="1410" dirty="0">
                <a:solidFill>
                  <a:srgbClr val="008080"/>
                </a:solidFill>
                <a:ea typeface="宋体" pitchFamily="2" charset="-122"/>
              </a:rPr>
              <a:t> </a:t>
            </a:r>
            <a:r>
              <a:rPr lang="en-US" altLang="zh-CN" sz="1410" dirty="0">
                <a:solidFill>
                  <a:srgbClr val="008080"/>
                </a:solidFill>
                <a:ea typeface="宋体" pitchFamily="2" charset="-122"/>
              </a:rPr>
              <a:t>(</a:t>
            </a:r>
            <a:r>
              <a:rPr lang="zh-CN" altLang="zh-CN" sz="1410" dirty="0">
                <a:solidFill>
                  <a:srgbClr val="008080"/>
                </a:solidFill>
                <a:ea typeface="宋体" pitchFamily="2" charset="-122"/>
              </a:rPr>
              <a:t>比如</a:t>
            </a:r>
            <a:r>
              <a:rPr lang="zh-CN" altLang="en-US" sz="1410" dirty="0">
                <a:solidFill>
                  <a:srgbClr val="008080"/>
                </a:solidFill>
                <a:ea typeface="宋体" pitchFamily="2" charset="-122"/>
              </a:rPr>
              <a:t>，在中国用人民币，</a:t>
            </a:r>
            <a:r>
              <a:rPr lang="zh-CN" altLang="zh-CN" sz="1410" dirty="0">
                <a:solidFill>
                  <a:srgbClr val="008080"/>
                </a:solidFill>
                <a:ea typeface="宋体" pitchFamily="2" charset="-122"/>
              </a:rPr>
              <a:t>在美国用美元</a:t>
            </a:r>
            <a:r>
              <a:rPr lang="en-US" altLang="zh-CN" sz="1410" dirty="0">
                <a:solidFill>
                  <a:srgbClr val="008080"/>
                </a:solidFill>
                <a:ea typeface="宋体" pitchFamily="2" charset="-122"/>
              </a:rPr>
              <a:t>……)</a:t>
            </a:r>
          </a:p>
          <a:p>
            <a:pPr marL="144145" indent="-144145" defTabSz="461010" fontAlgn="base">
              <a:lnSpc>
                <a:spcPct val="110000"/>
              </a:lnSpc>
              <a:spcBef>
                <a:spcPct val="25000"/>
              </a:spcBef>
              <a:spcAft>
                <a:spcPct val="0"/>
              </a:spcAft>
              <a:buClr>
                <a:srgbClr val="777777"/>
              </a:buClr>
              <a:buSzPct val="120000"/>
              <a:buFont typeface="Wingdings" panose="05000000000000000000" pitchFamily="2" charset="2"/>
              <a:buChar char="§"/>
            </a:pPr>
            <a:r>
              <a:rPr lang="zh-CN" altLang="zh-CN" sz="1410" dirty="0">
                <a:solidFill>
                  <a:srgbClr val="008080"/>
                </a:solidFill>
                <a:ea typeface="宋体" pitchFamily="2" charset="-122"/>
              </a:rPr>
              <a:t>那些没有市场价值的物品被排除在外，比如你为自己而做的家务</a:t>
            </a:r>
            <a:endParaRPr lang="zh-CN" altLang="en-US" sz="1410" dirty="0">
              <a:solidFill>
                <a:srgbClr val="008080"/>
              </a:solidFill>
              <a:ea typeface="宋体" pitchFamily="2" charset="-122"/>
            </a:endParaRPr>
          </a:p>
        </p:txBody>
      </p:sp>
      <p:sp>
        <p:nvSpPr>
          <p:cNvPr id="22535" name="Line 8"/>
          <p:cNvSpPr>
            <a:spLocks noChangeShapeType="1"/>
          </p:cNvSpPr>
          <p:nvPr/>
        </p:nvSpPr>
        <p:spPr bwMode="auto">
          <a:xfrm>
            <a:off x="135262" y="1499070"/>
            <a:ext cx="43083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wipe(left)">
                                      <p:cBhvr>
                                        <p:cTn id="7" dur="500"/>
                                        <p:tgtEl>
                                          <p:spTgt spid="22531">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2535"/>
                                        </p:tgtEl>
                                        <p:attrNameLst>
                                          <p:attrName>style.visibility</p:attrName>
                                        </p:attrNameLst>
                                      </p:cBhvr>
                                      <p:to>
                                        <p:strVal val="visible"/>
                                      </p:to>
                                    </p:set>
                                    <p:animEffect transition="in" filter="wipe(left)">
                                      <p:cBhvr>
                                        <p:cTn id="11" dur="500"/>
                                        <p:tgtEl>
                                          <p:spTgt spid="2253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2533"/>
                                        </p:tgtEl>
                                        <p:attrNameLst>
                                          <p:attrName>style.visibility</p:attrName>
                                        </p:attrNameLst>
                                      </p:cBhvr>
                                      <p:to>
                                        <p:strVal val="visible"/>
                                      </p:to>
                                    </p:set>
                                    <p:animEffect transition="in" filter="wipe(left)">
                                      <p:cBhvr>
                                        <p:cTn id="15" dur="500"/>
                                        <p:tgtEl>
                                          <p:spTgt spid="2253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534">
                                            <p:txEl>
                                              <p:pRg st="0" end="0"/>
                                            </p:txEl>
                                          </p:spTgt>
                                        </p:tgtEl>
                                        <p:attrNameLst>
                                          <p:attrName>style.visibility</p:attrName>
                                        </p:attrNameLst>
                                      </p:cBhvr>
                                      <p:to>
                                        <p:strVal val="visible"/>
                                      </p:to>
                                    </p:set>
                                    <p:animEffect transition="in" filter="wipe(left)">
                                      <p:cBhvr>
                                        <p:cTn id="20" dur="500"/>
                                        <p:tgtEl>
                                          <p:spTgt spid="2253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2534">
                                            <p:txEl>
                                              <p:pRg st="1" end="1"/>
                                            </p:txEl>
                                          </p:spTgt>
                                        </p:tgtEl>
                                        <p:attrNameLst>
                                          <p:attrName>style.visibility</p:attrName>
                                        </p:attrNameLst>
                                      </p:cBhvr>
                                      <p:to>
                                        <p:strVal val="visible"/>
                                      </p:to>
                                    </p:set>
                                    <p:animEffect transition="in" filter="wipe(left)">
                                      <p:cBhvr>
                                        <p:cTn id="25" dur="500"/>
                                        <p:tgtEl>
                                          <p:spTgt spid="225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P spid="22533" grpId="0" autoUpdateAnimBg="0"/>
      <p:bldP spid="22534"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F18C5557-E428-1C4E-82F0-1A29CFC78342}" type="slidenum">
              <a:rPr lang="zh-CN" altLang="zh-CN">
                <a:latin typeface="Arial" panose="020B0604020202090204" pitchFamily="34" charset="0"/>
              </a:rPr>
              <a:t>33</a:t>
            </a:fld>
            <a:endParaRPr lang="en-US" altLang="zh-CN">
              <a:latin typeface="Arial" panose="020B0604020202090204" pitchFamily="34" charset="0"/>
            </a:endParaRPr>
          </a:p>
        </p:txBody>
      </p:sp>
      <p:sp>
        <p:nvSpPr>
          <p:cNvPr id="24579" name="Rectangle 3"/>
          <p:cNvSpPr>
            <a:spLocks noGrp="1" noChangeArrowheads="1"/>
          </p:cNvSpPr>
          <p:nvPr>
            <p:ph type="body" idx="4294967295"/>
          </p:nvPr>
        </p:nvSpPr>
        <p:spPr>
          <a:xfrm>
            <a:off x="344884" y="614191"/>
            <a:ext cx="3823342" cy="946832"/>
          </a:xfrm>
          <a:noFill/>
        </p:spPr>
        <p:txBody>
          <a:bodyPr/>
          <a:lstStyle/>
          <a:p>
            <a:pPr>
              <a:lnSpc>
                <a:spcPct val="120000"/>
              </a:lnSpc>
              <a:buFont typeface="Wingdings" panose="05000000000000000000" pitchFamily="2" charset="2"/>
              <a:buNone/>
            </a:pPr>
            <a:r>
              <a:rPr lang="zh-CN" altLang="zh-CN" sz="1515" dirty="0">
                <a:ea typeface="宋体" pitchFamily="2" charset="-122"/>
              </a:rPr>
              <a:t>    </a:t>
            </a:r>
            <a:r>
              <a:rPr lang="zh-CN" altLang="zh-CN" dirty="0">
                <a:ea typeface="宋体" pitchFamily="2" charset="-122"/>
              </a:rPr>
              <a:t>  在某一既定时期一个国家内生产的</a:t>
            </a:r>
            <a:r>
              <a:rPr lang="zh-CN" altLang="zh-CN" dirty="0">
                <a:highlight>
                  <a:srgbClr val="FFFF00"/>
                </a:highlight>
                <a:ea typeface="宋体" pitchFamily="2" charset="-122"/>
              </a:rPr>
              <a:t>所有最终物品和劳务</a:t>
            </a:r>
            <a:r>
              <a:rPr lang="zh-CN" altLang="zh-CN" dirty="0">
                <a:ea typeface="宋体" pitchFamily="2" charset="-122"/>
              </a:rPr>
              <a:t>的市场价值</a:t>
            </a:r>
          </a:p>
        </p:txBody>
      </p:sp>
      <p:sp>
        <p:nvSpPr>
          <p:cNvPr id="24580" name="Rectangle 4"/>
          <p:cNvSpPr>
            <a:spLocks noGrp="1" noChangeArrowheads="1"/>
          </p:cNvSpPr>
          <p:nvPr>
            <p:ph type="title" idx="4294967295"/>
          </p:nvPr>
        </p:nvSpPr>
        <p:spPr>
          <a:xfrm>
            <a:off x="172879" y="167264"/>
            <a:ext cx="4240332" cy="276926"/>
          </a:xfrm>
        </p:spPr>
        <p:txBody>
          <a:bodyPr/>
          <a:lstStyle/>
          <a:p>
            <a:pPr algn="l"/>
            <a:r>
              <a:rPr lang="zh-CN" altLang="zh-CN" sz="1815">
                <a:ea typeface="宋体" pitchFamily="2" charset="-122"/>
              </a:rPr>
              <a:t>国内生产总值</a:t>
            </a:r>
            <a:r>
              <a:rPr lang="zh-CN" altLang="en-US" sz="1815">
                <a:ea typeface="宋体" pitchFamily="2" charset="-122"/>
              </a:rPr>
              <a:t> </a:t>
            </a:r>
            <a:r>
              <a:rPr lang="en-US" altLang="zh-CN" sz="1815">
                <a:ea typeface="宋体" pitchFamily="2" charset="-122"/>
              </a:rPr>
              <a:t>(GDP) </a:t>
            </a:r>
            <a:r>
              <a:rPr lang="zh-CN" altLang="zh-CN" sz="1815">
                <a:ea typeface="宋体" pitchFamily="2" charset="-122"/>
              </a:rPr>
              <a:t>：</a:t>
            </a:r>
            <a:endParaRPr lang="zh-CN" altLang="en-US" sz="1815">
              <a:ea typeface="宋体" pitchFamily="2" charset="-122"/>
            </a:endParaRPr>
          </a:p>
        </p:txBody>
      </p:sp>
      <p:sp>
        <p:nvSpPr>
          <p:cNvPr id="24581" name="Text Box 5"/>
          <p:cNvSpPr txBox="1">
            <a:spLocks noChangeArrowheads="1"/>
          </p:cNvSpPr>
          <p:nvPr/>
        </p:nvSpPr>
        <p:spPr bwMode="auto">
          <a:xfrm>
            <a:off x="390294" y="1560698"/>
            <a:ext cx="4219522" cy="343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10000"/>
              </a:lnSpc>
              <a:spcBef>
                <a:spcPct val="25000"/>
              </a:spcBef>
              <a:spcAft>
                <a:spcPct val="0"/>
              </a:spcAft>
            </a:pPr>
            <a:r>
              <a:rPr lang="zh-CN" altLang="zh-CN" sz="1410" b="1">
                <a:solidFill>
                  <a:srgbClr val="008080"/>
                </a:solidFill>
                <a:ea typeface="宋体" pitchFamily="2" charset="-122"/>
              </a:rPr>
              <a:t>最终物品：</a:t>
            </a:r>
            <a:r>
              <a:rPr lang="zh-CN" altLang="zh-CN" sz="1410">
                <a:solidFill>
                  <a:srgbClr val="008080"/>
                </a:solidFill>
                <a:ea typeface="宋体" pitchFamily="2" charset="-122"/>
              </a:rPr>
              <a:t>为终端使用者所准备</a:t>
            </a:r>
            <a:endParaRPr lang="zh-CN" altLang="en-US" sz="1410">
              <a:solidFill>
                <a:srgbClr val="008080"/>
              </a:solidFill>
              <a:ea typeface="宋体" pitchFamily="2" charset="-122"/>
            </a:endParaRPr>
          </a:p>
        </p:txBody>
      </p:sp>
      <p:sp>
        <p:nvSpPr>
          <p:cNvPr id="24582" name="Text Box 6"/>
          <p:cNvSpPr txBox="1">
            <a:spLocks noChangeArrowheads="1"/>
          </p:cNvSpPr>
          <p:nvPr/>
        </p:nvSpPr>
        <p:spPr bwMode="auto">
          <a:xfrm>
            <a:off x="390268" y="1880381"/>
            <a:ext cx="3988216" cy="1336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10000"/>
              </a:lnSpc>
              <a:spcBef>
                <a:spcPct val="30000"/>
              </a:spcBef>
              <a:spcAft>
                <a:spcPct val="0"/>
              </a:spcAft>
            </a:pPr>
            <a:r>
              <a:rPr lang="zh-CN" altLang="zh-CN" sz="1410" b="1">
                <a:solidFill>
                  <a:srgbClr val="008080"/>
                </a:solidFill>
                <a:ea typeface="宋体" pitchFamily="2" charset="-122"/>
              </a:rPr>
              <a:t>中间物品：</a:t>
            </a:r>
            <a:r>
              <a:rPr lang="zh-CN" altLang="zh-CN" sz="1410">
                <a:solidFill>
                  <a:srgbClr val="008080"/>
                </a:solidFill>
                <a:ea typeface="宋体" pitchFamily="2" charset="-122"/>
              </a:rPr>
              <a:t>生产其他物品的一种组成成份或要素</a:t>
            </a:r>
            <a:r>
              <a:rPr lang="zh-CN" altLang="en-US" sz="1410">
                <a:solidFill>
                  <a:srgbClr val="008080"/>
                </a:solidFill>
                <a:ea typeface="宋体" pitchFamily="2" charset="-122"/>
              </a:rPr>
              <a:t> </a:t>
            </a:r>
          </a:p>
          <a:p>
            <a:pPr defTabSz="461010" fontAlgn="base">
              <a:lnSpc>
                <a:spcPct val="110000"/>
              </a:lnSpc>
              <a:spcBef>
                <a:spcPct val="30000"/>
              </a:spcBef>
              <a:spcAft>
                <a:spcPct val="0"/>
              </a:spcAft>
            </a:pPr>
            <a:r>
              <a:rPr lang="en-US" altLang="zh-CN" sz="1410">
                <a:solidFill>
                  <a:srgbClr val="008080"/>
                </a:solidFill>
                <a:ea typeface="宋体" pitchFamily="2" charset="-122"/>
              </a:rPr>
              <a:t>GDP</a:t>
            </a:r>
            <a:r>
              <a:rPr lang="zh-CN" altLang="zh-CN" sz="1410">
                <a:solidFill>
                  <a:srgbClr val="008080"/>
                </a:solidFill>
                <a:ea typeface="宋体" pitchFamily="2" charset="-122"/>
              </a:rPr>
              <a:t>只包括最终产品</a:t>
            </a:r>
            <a:r>
              <a:rPr lang="en-US" altLang="zh-CN" sz="1410">
                <a:solidFill>
                  <a:srgbClr val="008080"/>
                </a:solidFill>
                <a:ea typeface="宋体" pitchFamily="2" charset="-122"/>
              </a:rPr>
              <a:t>—</a:t>
            </a:r>
            <a:r>
              <a:rPr lang="zh-CN" altLang="zh-CN" sz="1410">
                <a:solidFill>
                  <a:srgbClr val="008080"/>
                </a:solidFill>
                <a:ea typeface="宋体" pitchFamily="2" charset="-122"/>
              </a:rPr>
              <a:t>生产过程中使用的中间物品的价值已经包含在最终物品的价值中</a:t>
            </a:r>
            <a:endParaRPr lang="zh-CN" altLang="en-US" sz="1410">
              <a:solidFill>
                <a:srgbClr val="008080"/>
              </a:solidFill>
              <a:ea typeface="宋体" pitchFamily="2" charset="-122"/>
            </a:endParaRPr>
          </a:p>
        </p:txBody>
      </p:sp>
      <p:sp>
        <p:nvSpPr>
          <p:cNvPr id="24583" name="Line 8"/>
          <p:cNvSpPr>
            <a:spLocks noChangeShapeType="1"/>
          </p:cNvSpPr>
          <p:nvPr/>
        </p:nvSpPr>
        <p:spPr bwMode="auto">
          <a:xfrm>
            <a:off x="135262" y="1499070"/>
            <a:ext cx="43083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wipe(left)">
                                      <p:cBhvr>
                                        <p:cTn id="7" dur="500"/>
                                        <p:tgtEl>
                                          <p:spTgt spid="245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582">
                                            <p:txEl>
                                              <p:pRg st="0" end="0"/>
                                            </p:txEl>
                                          </p:spTgt>
                                        </p:tgtEl>
                                        <p:attrNameLst>
                                          <p:attrName>style.visibility</p:attrName>
                                        </p:attrNameLst>
                                      </p:cBhvr>
                                      <p:to>
                                        <p:strVal val="visible"/>
                                      </p:to>
                                    </p:set>
                                    <p:animEffect transition="in" filter="wipe(left)">
                                      <p:cBhvr>
                                        <p:cTn id="12" dur="500"/>
                                        <p:tgtEl>
                                          <p:spTgt spid="2458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582">
                                            <p:txEl>
                                              <p:pRg st="1" end="1"/>
                                            </p:txEl>
                                          </p:spTgt>
                                        </p:tgtEl>
                                        <p:attrNameLst>
                                          <p:attrName>style.visibility</p:attrName>
                                        </p:attrNameLst>
                                      </p:cBhvr>
                                      <p:to>
                                        <p:strVal val="visible"/>
                                      </p:to>
                                    </p:set>
                                    <p:animEffect transition="in" filter="wipe(left)">
                                      <p:cBhvr>
                                        <p:cTn id="17" dur="500"/>
                                        <p:tgtEl>
                                          <p:spTgt spid="245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autoUpdateAnimBg="0"/>
      <p:bldP spid="24582"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134B6BCF-86F7-D84B-97A3-C89A4653C77F}" type="slidenum">
              <a:rPr lang="zh-CN" altLang="zh-CN">
                <a:latin typeface="Arial" panose="020B0604020202090204" pitchFamily="34" charset="0"/>
              </a:rPr>
              <a:t>34</a:t>
            </a:fld>
            <a:endParaRPr lang="en-US" altLang="zh-CN">
              <a:latin typeface="Arial" panose="020B0604020202090204" pitchFamily="34" charset="0"/>
            </a:endParaRPr>
          </a:p>
        </p:txBody>
      </p:sp>
      <p:sp>
        <p:nvSpPr>
          <p:cNvPr id="25604" name="Rectangle 10"/>
          <p:cNvSpPr>
            <a:spLocks noGrp="1" noChangeArrowheads="1"/>
          </p:cNvSpPr>
          <p:nvPr>
            <p:ph type="body" idx="4294967295"/>
          </p:nvPr>
        </p:nvSpPr>
        <p:spPr>
          <a:xfrm>
            <a:off x="432514" y="617498"/>
            <a:ext cx="3823342" cy="946832"/>
          </a:xfrm>
          <a:noFill/>
        </p:spPr>
        <p:txBody>
          <a:bodyPr/>
          <a:lstStyle/>
          <a:p>
            <a:pPr>
              <a:lnSpc>
                <a:spcPct val="120000"/>
              </a:lnSpc>
              <a:buFont typeface="Wingdings" panose="05000000000000000000" pitchFamily="2" charset="2"/>
              <a:buNone/>
            </a:pPr>
            <a:r>
              <a:rPr lang="zh-CN" altLang="zh-CN" sz="1515" dirty="0">
                <a:ea typeface="宋体" pitchFamily="2" charset="-122"/>
              </a:rPr>
              <a:t>      </a:t>
            </a:r>
            <a:r>
              <a:rPr lang="zh-CN" altLang="zh-CN" dirty="0">
                <a:ea typeface="宋体" pitchFamily="2" charset="-122"/>
              </a:rPr>
              <a:t>在某一既定时期一个国家内生产的所有最终</a:t>
            </a:r>
            <a:r>
              <a:rPr lang="zh-CN" altLang="zh-CN" dirty="0">
                <a:highlight>
                  <a:srgbClr val="00FFFF"/>
                </a:highlight>
                <a:ea typeface="宋体" pitchFamily="2" charset="-122"/>
              </a:rPr>
              <a:t>物品和劳务</a:t>
            </a:r>
            <a:r>
              <a:rPr lang="zh-CN" altLang="zh-CN" dirty="0">
                <a:ea typeface="宋体" pitchFamily="2" charset="-122"/>
              </a:rPr>
              <a:t>的市场价值</a:t>
            </a:r>
          </a:p>
        </p:txBody>
      </p:sp>
      <p:sp>
        <p:nvSpPr>
          <p:cNvPr id="25605" name="Rectangle 5"/>
          <p:cNvSpPr>
            <a:spLocks noGrp="1" noChangeArrowheads="1"/>
          </p:cNvSpPr>
          <p:nvPr>
            <p:ph type="title" idx="4294967295"/>
          </p:nvPr>
        </p:nvSpPr>
        <p:spPr>
          <a:xfrm>
            <a:off x="172879" y="167264"/>
            <a:ext cx="4240332" cy="276926"/>
          </a:xfrm>
        </p:spPr>
        <p:txBody>
          <a:bodyPr/>
          <a:lstStyle/>
          <a:p>
            <a:pPr algn="l"/>
            <a:r>
              <a:rPr lang="zh-CN" altLang="zh-CN" sz="1815">
                <a:ea typeface="宋体" pitchFamily="2" charset="-122"/>
              </a:rPr>
              <a:t>国内生产总值</a:t>
            </a:r>
            <a:r>
              <a:rPr lang="zh-CN" altLang="en-US" sz="1815">
                <a:ea typeface="宋体" pitchFamily="2" charset="-122"/>
              </a:rPr>
              <a:t> </a:t>
            </a:r>
            <a:r>
              <a:rPr lang="en-US" altLang="zh-CN" sz="1815">
                <a:ea typeface="宋体" pitchFamily="2" charset="-122"/>
              </a:rPr>
              <a:t>(GDP)</a:t>
            </a:r>
            <a:r>
              <a:rPr lang="zh-CN" altLang="zh-CN" sz="1815">
                <a:ea typeface="宋体" pitchFamily="2" charset="-122"/>
              </a:rPr>
              <a:t>：</a:t>
            </a:r>
            <a:endParaRPr lang="zh-CN" altLang="en-US" sz="1815">
              <a:ea typeface="宋体" pitchFamily="2" charset="-122"/>
            </a:endParaRPr>
          </a:p>
        </p:txBody>
      </p:sp>
      <p:sp>
        <p:nvSpPr>
          <p:cNvPr id="25606" name="Text Box 6"/>
          <p:cNvSpPr txBox="1">
            <a:spLocks noChangeArrowheads="1"/>
          </p:cNvSpPr>
          <p:nvPr/>
        </p:nvSpPr>
        <p:spPr bwMode="auto">
          <a:xfrm>
            <a:off x="576349" y="1586733"/>
            <a:ext cx="4219522" cy="57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10000"/>
              </a:lnSpc>
              <a:spcBef>
                <a:spcPct val="25000"/>
              </a:spcBef>
              <a:spcAft>
                <a:spcPct val="0"/>
              </a:spcAft>
            </a:pPr>
            <a:r>
              <a:rPr lang="en-US" altLang="zh-CN" sz="1410">
                <a:solidFill>
                  <a:srgbClr val="008080"/>
                </a:solidFill>
                <a:ea typeface="宋体" pitchFamily="2" charset="-122"/>
              </a:rPr>
              <a:t>GDP</a:t>
            </a:r>
            <a:r>
              <a:rPr lang="zh-CN" altLang="zh-CN" sz="1410">
                <a:solidFill>
                  <a:srgbClr val="008080"/>
                </a:solidFill>
                <a:ea typeface="宋体" pitchFamily="2" charset="-122"/>
              </a:rPr>
              <a:t>包括有形的物品</a:t>
            </a:r>
            <a:br>
              <a:rPr lang="zh-CN" altLang="en-US" sz="1410">
                <a:solidFill>
                  <a:srgbClr val="008080"/>
                </a:solidFill>
                <a:ea typeface="宋体" pitchFamily="2" charset="-122"/>
              </a:rPr>
            </a:br>
            <a:r>
              <a:rPr lang="en-US" altLang="zh-CN" sz="1410">
                <a:solidFill>
                  <a:srgbClr val="008080"/>
                </a:solidFill>
                <a:ea typeface="宋体" pitchFamily="2" charset="-122"/>
              </a:rPr>
              <a:t>(</a:t>
            </a:r>
            <a:r>
              <a:rPr lang="zh-CN" altLang="zh-CN" sz="1410">
                <a:solidFill>
                  <a:srgbClr val="008080"/>
                </a:solidFill>
                <a:ea typeface="宋体" pitchFamily="2" charset="-122"/>
              </a:rPr>
              <a:t>比如</a:t>
            </a:r>
            <a:r>
              <a:rPr lang="en-US" altLang="zh-CN" sz="1410">
                <a:solidFill>
                  <a:srgbClr val="008080"/>
                </a:solidFill>
                <a:ea typeface="宋体" pitchFamily="2" charset="-122"/>
              </a:rPr>
              <a:t>DVD, </a:t>
            </a:r>
            <a:r>
              <a:rPr lang="zh-CN" altLang="zh-CN" sz="1410">
                <a:solidFill>
                  <a:srgbClr val="008080"/>
                </a:solidFill>
                <a:ea typeface="宋体" pitchFamily="2" charset="-122"/>
              </a:rPr>
              <a:t>山地自行车</a:t>
            </a:r>
            <a:r>
              <a:rPr lang="en-US" altLang="zh-CN" sz="1410">
                <a:solidFill>
                  <a:srgbClr val="008080"/>
                </a:solidFill>
                <a:ea typeface="宋体" pitchFamily="2" charset="-122"/>
              </a:rPr>
              <a:t>, </a:t>
            </a:r>
            <a:r>
              <a:rPr lang="zh-CN" altLang="zh-CN" sz="1410">
                <a:solidFill>
                  <a:srgbClr val="008080"/>
                </a:solidFill>
                <a:ea typeface="宋体" pitchFamily="2" charset="-122"/>
              </a:rPr>
              <a:t>啤酒</a:t>
            </a:r>
            <a:r>
              <a:rPr lang="en-US" altLang="zh-CN" sz="1410">
                <a:solidFill>
                  <a:srgbClr val="008080"/>
                </a:solidFill>
                <a:ea typeface="宋体" pitchFamily="2" charset="-122"/>
              </a:rPr>
              <a:t>)</a:t>
            </a:r>
          </a:p>
        </p:txBody>
      </p:sp>
      <p:sp>
        <p:nvSpPr>
          <p:cNvPr id="25607" name="Text Box 8"/>
          <p:cNvSpPr txBox="1">
            <a:spLocks noChangeArrowheads="1"/>
          </p:cNvSpPr>
          <p:nvPr/>
        </p:nvSpPr>
        <p:spPr bwMode="auto">
          <a:xfrm>
            <a:off x="576706" y="2181946"/>
            <a:ext cx="4219522" cy="56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10000"/>
              </a:lnSpc>
              <a:spcBef>
                <a:spcPct val="25000"/>
              </a:spcBef>
              <a:spcAft>
                <a:spcPct val="0"/>
              </a:spcAft>
            </a:pPr>
            <a:r>
              <a:rPr lang="zh-CN" altLang="zh-CN" sz="1410">
                <a:solidFill>
                  <a:srgbClr val="008080"/>
                </a:solidFill>
                <a:ea typeface="宋体" pitchFamily="2" charset="-122"/>
              </a:rPr>
              <a:t>也包括无形的劳务</a:t>
            </a:r>
            <a:br>
              <a:rPr lang="zh-CN" altLang="en-US" sz="1410">
                <a:solidFill>
                  <a:srgbClr val="008080"/>
                </a:solidFill>
                <a:ea typeface="宋体" pitchFamily="2" charset="-122"/>
              </a:rPr>
            </a:br>
            <a:r>
              <a:rPr lang="en-US" altLang="zh-CN" sz="1410">
                <a:solidFill>
                  <a:srgbClr val="008080"/>
                </a:solidFill>
                <a:ea typeface="宋体" pitchFamily="2" charset="-122"/>
              </a:rPr>
              <a:t>(</a:t>
            </a:r>
            <a:r>
              <a:rPr lang="zh-CN" altLang="zh-CN" sz="1410">
                <a:solidFill>
                  <a:srgbClr val="008080"/>
                </a:solidFill>
                <a:ea typeface="宋体" pitchFamily="2" charset="-122"/>
              </a:rPr>
              <a:t>比如干洗</a:t>
            </a:r>
            <a:r>
              <a:rPr lang="en-US" altLang="zh-CN" sz="1410">
                <a:solidFill>
                  <a:srgbClr val="008080"/>
                </a:solidFill>
                <a:ea typeface="宋体" pitchFamily="2" charset="-122"/>
              </a:rPr>
              <a:t>, </a:t>
            </a:r>
            <a:r>
              <a:rPr lang="zh-CN" altLang="zh-CN" sz="1410">
                <a:solidFill>
                  <a:srgbClr val="008080"/>
                </a:solidFill>
                <a:ea typeface="宋体" pitchFamily="2" charset="-122"/>
              </a:rPr>
              <a:t>音乐会</a:t>
            </a:r>
            <a:r>
              <a:rPr lang="en-US" altLang="zh-CN" sz="1410">
                <a:solidFill>
                  <a:srgbClr val="008080"/>
                </a:solidFill>
                <a:ea typeface="宋体" pitchFamily="2" charset="-122"/>
              </a:rPr>
              <a:t>, </a:t>
            </a:r>
            <a:r>
              <a:rPr lang="zh-CN" altLang="zh-CN" sz="1410">
                <a:solidFill>
                  <a:srgbClr val="008080"/>
                </a:solidFill>
                <a:ea typeface="宋体" pitchFamily="2" charset="-122"/>
              </a:rPr>
              <a:t>移动电话服务</a:t>
            </a:r>
            <a:r>
              <a:rPr lang="en-US" altLang="zh-CN" sz="1410">
                <a:solidFill>
                  <a:srgbClr val="008080"/>
                </a:solidFill>
                <a:ea typeface="宋体" pitchFamily="2" charset="-122"/>
              </a:rPr>
              <a:t>)</a:t>
            </a:r>
          </a:p>
        </p:txBody>
      </p:sp>
      <p:sp>
        <p:nvSpPr>
          <p:cNvPr id="25608" name="Line 12"/>
          <p:cNvSpPr>
            <a:spLocks noChangeShapeType="1"/>
          </p:cNvSpPr>
          <p:nvPr/>
        </p:nvSpPr>
        <p:spPr bwMode="auto">
          <a:xfrm>
            <a:off x="135262" y="1499070"/>
            <a:ext cx="43083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wipe(left)">
                                      <p:cBhvr>
                                        <p:cTn id="7" dur="500"/>
                                        <p:tgtEl>
                                          <p:spTgt spid="2560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607"/>
                                        </p:tgtEl>
                                        <p:attrNameLst>
                                          <p:attrName>style.visibility</p:attrName>
                                        </p:attrNameLst>
                                      </p:cBhvr>
                                      <p:to>
                                        <p:strVal val="visible"/>
                                      </p:to>
                                    </p:set>
                                    <p:animEffect transition="in" filter="wipe(left)">
                                      <p:cBhvr>
                                        <p:cTn id="11" dur="500"/>
                                        <p:tgtEl>
                                          <p:spTgt spid="25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autoUpdateAnimBg="0"/>
      <p:bldP spid="25607"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DA72DC90-FB1A-9C44-8522-14767E41A8BA}" type="slidenum">
              <a:rPr lang="zh-CN" altLang="zh-CN">
                <a:latin typeface="Arial" panose="020B0604020202090204" pitchFamily="34" charset="0"/>
              </a:rPr>
              <a:t>35</a:t>
            </a:fld>
            <a:endParaRPr lang="en-US" altLang="zh-CN">
              <a:latin typeface="Arial" panose="020B0604020202090204" pitchFamily="34" charset="0"/>
            </a:endParaRPr>
          </a:p>
        </p:txBody>
      </p:sp>
      <p:sp>
        <p:nvSpPr>
          <p:cNvPr id="26627" name="Rectangle 8"/>
          <p:cNvSpPr>
            <a:spLocks noGrp="1" noChangeArrowheads="1"/>
          </p:cNvSpPr>
          <p:nvPr>
            <p:ph type="body" idx="4294967295"/>
          </p:nvPr>
        </p:nvSpPr>
        <p:spPr>
          <a:xfrm>
            <a:off x="288634" y="578465"/>
            <a:ext cx="3823342" cy="946831"/>
          </a:xfrm>
          <a:noFill/>
        </p:spPr>
        <p:txBody>
          <a:bodyPr/>
          <a:lstStyle/>
          <a:p>
            <a:pPr>
              <a:lnSpc>
                <a:spcPct val="120000"/>
              </a:lnSpc>
              <a:buFont typeface="Wingdings" panose="05000000000000000000" pitchFamily="2" charset="2"/>
              <a:buNone/>
            </a:pPr>
            <a:r>
              <a:rPr lang="zh-CN" altLang="zh-CN" sz="1515" dirty="0">
                <a:ea typeface="宋体" pitchFamily="2" charset="-122"/>
              </a:rPr>
              <a:t>              </a:t>
            </a:r>
            <a:r>
              <a:rPr lang="zh-CN" altLang="zh-CN" dirty="0">
                <a:ea typeface="宋体" pitchFamily="2" charset="-122"/>
              </a:rPr>
              <a:t>在某一既定时期一个国家内</a:t>
            </a:r>
            <a:r>
              <a:rPr lang="zh-CN" altLang="zh-CN" dirty="0">
                <a:highlight>
                  <a:srgbClr val="00FFFF"/>
                </a:highlight>
                <a:ea typeface="宋体" pitchFamily="2" charset="-122"/>
              </a:rPr>
              <a:t>生产</a:t>
            </a:r>
            <a:r>
              <a:rPr lang="zh-CN" altLang="zh-CN" dirty="0">
                <a:ea typeface="宋体" pitchFamily="2" charset="-122"/>
              </a:rPr>
              <a:t>的所有最终物品和劳务的市场价值</a:t>
            </a:r>
          </a:p>
          <a:p>
            <a:pPr>
              <a:lnSpc>
                <a:spcPct val="120000"/>
              </a:lnSpc>
              <a:buFont typeface="Wingdings" panose="05000000000000000000" pitchFamily="2" charset="2"/>
              <a:buNone/>
            </a:pPr>
            <a:endParaRPr lang="zh-CN" altLang="zh-CN" dirty="0">
              <a:ea typeface="宋体" pitchFamily="2" charset="-122"/>
            </a:endParaRPr>
          </a:p>
        </p:txBody>
      </p:sp>
      <p:sp>
        <p:nvSpPr>
          <p:cNvPr id="26628" name="Rectangle 4"/>
          <p:cNvSpPr>
            <a:spLocks noGrp="1" noChangeArrowheads="1"/>
          </p:cNvSpPr>
          <p:nvPr>
            <p:ph type="title" idx="4294967295"/>
          </p:nvPr>
        </p:nvSpPr>
        <p:spPr>
          <a:xfrm>
            <a:off x="172879" y="167264"/>
            <a:ext cx="4240332" cy="276926"/>
          </a:xfrm>
        </p:spPr>
        <p:txBody>
          <a:bodyPr/>
          <a:lstStyle/>
          <a:p>
            <a:pPr algn="l"/>
            <a:r>
              <a:rPr lang="zh-CN" altLang="zh-CN" sz="1815">
                <a:ea typeface="宋体" pitchFamily="2" charset="-122"/>
              </a:rPr>
              <a:t>国内生产总值</a:t>
            </a:r>
            <a:r>
              <a:rPr lang="zh-CN" altLang="en-US" sz="1815">
                <a:ea typeface="宋体" pitchFamily="2" charset="-122"/>
              </a:rPr>
              <a:t> </a:t>
            </a:r>
            <a:r>
              <a:rPr lang="en-US" altLang="zh-CN" sz="1815">
                <a:ea typeface="宋体" pitchFamily="2" charset="-122"/>
              </a:rPr>
              <a:t>(GDP)</a:t>
            </a:r>
            <a:r>
              <a:rPr lang="zh-CN" altLang="zh-CN" sz="1815">
                <a:ea typeface="宋体" pitchFamily="2" charset="-122"/>
              </a:rPr>
              <a:t>：</a:t>
            </a:r>
            <a:endParaRPr lang="zh-CN" altLang="en-US" sz="1815">
              <a:ea typeface="宋体" pitchFamily="2" charset="-122"/>
            </a:endParaRPr>
          </a:p>
        </p:txBody>
      </p:sp>
      <p:sp>
        <p:nvSpPr>
          <p:cNvPr id="26629" name="Text Box 5"/>
          <p:cNvSpPr txBox="1">
            <a:spLocks noChangeArrowheads="1"/>
          </p:cNvSpPr>
          <p:nvPr/>
        </p:nvSpPr>
        <p:spPr bwMode="auto">
          <a:xfrm>
            <a:off x="576580" y="1658620"/>
            <a:ext cx="3807460" cy="560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10000"/>
              </a:lnSpc>
              <a:spcBef>
                <a:spcPct val="25000"/>
              </a:spcBef>
              <a:spcAft>
                <a:spcPct val="0"/>
              </a:spcAft>
            </a:pPr>
            <a:r>
              <a:rPr lang="en-US" altLang="zh-CN" sz="1410">
                <a:solidFill>
                  <a:srgbClr val="008080"/>
                </a:solidFill>
                <a:ea typeface="宋体" pitchFamily="2" charset="-122"/>
              </a:rPr>
              <a:t>GDP </a:t>
            </a:r>
            <a:r>
              <a:rPr lang="zh-CN" altLang="zh-CN" sz="1410">
                <a:solidFill>
                  <a:srgbClr val="008080"/>
                </a:solidFill>
                <a:ea typeface="宋体" pitchFamily="2" charset="-122"/>
              </a:rPr>
              <a:t>只包括现期生产的物品，不包括过去生产的物品</a:t>
            </a:r>
            <a:endParaRPr lang="zh-CN" altLang="en-US" sz="1410">
              <a:solidFill>
                <a:srgbClr val="008080"/>
              </a:solidFill>
              <a:ea typeface="宋体" pitchFamily="2" charset="-122"/>
            </a:endParaRPr>
          </a:p>
        </p:txBody>
      </p:sp>
      <p:sp>
        <p:nvSpPr>
          <p:cNvPr id="26630" name="Line 10"/>
          <p:cNvSpPr>
            <a:spLocks noChangeShapeType="1"/>
          </p:cNvSpPr>
          <p:nvPr/>
        </p:nvSpPr>
        <p:spPr bwMode="auto">
          <a:xfrm>
            <a:off x="135262" y="1499070"/>
            <a:ext cx="43083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wipe(left)">
                                      <p:cBhvr>
                                        <p:cTn id="7"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814B096B-EE9B-5E44-B0DC-DA341625DAF0}" type="slidenum">
              <a:rPr lang="zh-CN" altLang="zh-CN">
                <a:latin typeface="Arial" panose="020B0604020202090204" pitchFamily="34" charset="0"/>
              </a:rPr>
              <a:t>36</a:t>
            </a:fld>
            <a:endParaRPr lang="en-US" altLang="zh-CN">
              <a:latin typeface="Arial" panose="020B0604020202090204" pitchFamily="34" charset="0"/>
            </a:endParaRPr>
          </a:p>
        </p:txBody>
      </p:sp>
      <p:sp>
        <p:nvSpPr>
          <p:cNvPr id="27651" name="Rectangle 8"/>
          <p:cNvSpPr>
            <a:spLocks noGrp="1" noChangeArrowheads="1"/>
          </p:cNvSpPr>
          <p:nvPr>
            <p:ph type="body" idx="4294967295"/>
          </p:nvPr>
        </p:nvSpPr>
        <p:spPr>
          <a:xfrm>
            <a:off x="432514" y="650386"/>
            <a:ext cx="3823342" cy="946832"/>
          </a:xfrm>
          <a:noFill/>
        </p:spPr>
        <p:txBody>
          <a:bodyPr/>
          <a:lstStyle/>
          <a:p>
            <a:pPr>
              <a:lnSpc>
                <a:spcPct val="120000"/>
              </a:lnSpc>
              <a:buFont typeface="Wingdings" panose="05000000000000000000" pitchFamily="2" charset="2"/>
              <a:buNone/>
            </a:pPr>
            <a:r>
              <a:rPr lang="zh-CN" altLang="zh-CN" sz="1515" dirty="0">
                <a:ea typeface="宋体" pitchFamily="2" charset="-122"/>
              </a:rPr>
              <a:t>         在某一既定时期</a:t>
            </a:r>
            <a:r>
              <a:rPr lang="zh-CN" altLang="zh-CN" sz="1515" dirty="0">
                <a:highlight>
                  <a:srgbClr val="00FFFF"/>
                </a:highlight>
                <a:ea typeface="宋体" pitchFamily="2" charset="-122"/>
              </a:rPr>
              <a:t>一个国家内</a:t>
            </a:r>
            <a:r>
              <a:rPr lang="zh-CN" altLang="zh-CN" sz="1515" dirty="0">
                <a:ea typeface="宋体" pitchFamily="2" charset="-122"/>
              </a:rPr>
              <a:t>生产的所有最终物品和劳务的市场价值</a:t>
            </a:r>
          </a:p>
        </p:txBody>
      </p:sp>
      <p:sp>
        <p:nvSpPr>
          <p:cNvPr id="27652" name="Rectangle 4"/>
          <p:cNvSpPr>
            <a:spLocks noGrp="1" noChangeArrowheads="1"/>
          </p:cNvSpPr>
          <p:nvPr>
            <p:ph type="title" idx="4294967295"/>
          </p:nvPr>
        </p:nvSpPr>
        <p:spPr>
          <a:xfrm>
            <a:off x="172879" y="167264"/>
            <a:ext cx="4240332" cy="276926"/>
          </a:xfrm>
        </p:spPr>
        <p:txBody>
          <a:bodyPr/>
          <a:lstStyle/>
          <a:p>
            <a:pPr algn="l"/>
            <a:r>
              <a:rPr lang="zh-CN" altLang="zh-CN" sz="1815">
                <a:ea typeface="宋体" pitchFamily="2" charset="-122"/>
              </a:rPr>
              <a:t>国内生产总值</a:t>
            </a:r>
            <a:r>
              <a:rPr lang="zh-CN" altLang="en-US" sz="1815">
                <a:ea typeface="宋体" pitchFamily="2" charset="-122"/>
              </a:rPr>
              <a:t> </a:t>
            </a:r>
            <a:r>
              <a:rPr lang="en-US" altLang="zh-CN" sz="1815">
                <a:ea typeface="宋体" pitchFamily="2" charset="-122"/>
              </a:rPr>
              <a:t>(GDP)</a:t>
            </a:r>
            <a:r>
              <a:rPr lang="zh-CN" altLang="zh-CN" sz="1815">
                <a:ea typeface="宋体" pitchFamily="2" charset="-122"/>
              </a:rPr>
              <a:t>：</a:t>
            </a:r>
            <a:endParaRPr lang="zh-CN" altLang="en-US" sz="1815">
              <a:ea typeface="宋体" pitchFamily="2" charset="-122"/>
            </a:endParaRPr>
          </a:p>
        </p:txBody>
      </p:sp>
      <p:sp>
        <p:nvSpPr>
          <p:cNvPr id="27653" name="Text Box 5"/>
          <p:cNvSpPr txBox="1">
            <a:spLocks noChangeArrowheads="1"/>
          </p:cNvSpPr>
          <p:nvPr/>
        </p:nvSpPr>
        <p:spPr bwMode="auto">
          <a:xfrm>
            <a:off x="576580" y="1586230"/>
            <a:ext cx="3698875"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10000"/>
              </a:lnSpc>
              <a:spcBef>
                <a:spcPct val="25000"/>
              </a:spcBef>
              <a:spcAft>
                <a:spcPct val="0"/>
              </a:spcAft>
            </a:pPr>
            <a:r>
              <a:rPr lang="en-US" altLang="zh-CN" sz="1410">
                <a:solidFill>
                  <a:srgbClr val="008080"/>
                </a:solidFill>
                <a:ea typeface="宋体" pitchFamily="2" charset="-122"/>
              </a:rPr>
              <a:t>GDP </a:t>
            </a:r>
            <a:r>
              <a:rPr lang="zh-CN" altLang="zh-CN" sz="1410">
                <a:solidFill>
                  <a:srgbClr val="008080"/>
                </a:solidFill>
                <a:ea typeface="宋体" pitchFamily="2" charset="-122"/>
              </a:rPr>
              <a:t>衡量的生产价值局限于一个国家的地理范围之内，不管是由本国的国民还是住在本国的外国人生产</a:t>
            </a:r>
            <a:endParaRPr lang="zh-CN" altLang="en-US" sz="1410">
              <a:solidFill>
                <a:srgbClr val="008080"/>
              </a:solidFill>
              <a:ea typeface="宋体" pitchFamily="2" charset="-122"/>
            </a:endParaRPr>
          </a:p>
        </p:txBody>
      </p:sp>
      <p:sp>
        <p:nvSpPr>
          <p:cNvPr id="27654" name="Line 10"/>
          <p:cNvSpPr>
            <a:spLocks noChangeShapeType="1"/>
          </p:cNvSpPr>
          <p:nvPr/>
        </p:nvSpPr>
        <p:spPr bwMode="auto">
          <a:xfrm>
            <a:off x="135262" y="1499070"/>
            <a:ext cx="43083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left)">
                                      <p:cBhvr>
                                        <p:cTn id="7" dur="500"/>
                                        <p:tgtEl>
                                          <p:spTgt spid="2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B6B65E24-9C3B-5E4E-A72D-9A1748A87B84}" type="slidenum">
              <a:rPr lang="zh-CN" altLang="zh-CN">
                <a:latin typeface="Arial" panose="020B0604020202090204" pitchFamily="34" charset="0"/>
              </a:rPr>
              <a:t>37</a:t>
            </a:fld>
            <a:endParaRPr lang="en-US" altLang="zh-CN">
              <a:latin typeface="Arial" panose="020B0604020202090204" pitchFamily="34" charset="0"/>
            </a:endParaRPr>
          </a:p>
        </p:txBody>
      </p:sp>
      <p:sp>
        <p:nvSpPr>
          <p:cNvPr id="28675" name="Rectangle 8"/>
          <p:cNvSpPr>
            <a:spLocks noGrp="1" noChangeArrowheads="1"/>
          </p:cNvSpPr>
          <p:nvPr>
            <p:ph type="body" idx="4294967295"/>
          </p:nvPr>
        </p:nvSpPr>
        <p:spPr>
          <a:xfrm>
            <a:off x="432514" y="650386"/>
            <a:ext cx="3823342" cy="946832"/>
          </a:xfrm>
          <a:noFill/>
        </p:spPr>
        <p:txBody>
          <a:bodyPr/>
          <a:lstStyle/>
          <a:p>
            <a:pPr>
              <a:lnSpc>
                <a:spcPct val="120000"/>
              </a:lnSpc>
              <a:buFont typeface="Wingdings" panose="05000000000000000000" pitchFamily="2" charset="2"/>
              <a:buNone/>
            </a:pPr>
            <a:r>
              <a:rPr lang="zh-CN" altLang="zh-CN" sz="1515" dirty="0">
                <a:ea typeface="宋体" pitchFamily="2" charset="-122"/>
              </a:rPr>
              <a:t>       </a:t>
            </a:r>
            <a:r>
              <a:rPr lang="zh-CN" altLang="zh-CN" sz="1515" dirty="0">
                <a:highlight>
                  <a:srgbClr val="00FFFF"/>
                </a:highlight>
                <a:ea typeface="宋体" pitchFamily="2" charset="-122"/>
              </a:rPr>
              <a:t>在某一既定时期</a:t>
            </a:r>
            <a:r>
              <a:rPr lang="zh-CN" altLang="zh-CN" sz="1515" dirty="0">
                <a:ea typeface="宋体" pitchFamily="2" charset="-122"/>
              </a:rPr>
              <a:t>一个国家内生产的所有最终物品和劳务的市场价值</a:t>
            </a:r>
          </a:p>
        </p:txBody>
      </p:sp>
      <p:sp>
        <p:nvSpPr>
          <p:cNvPr id="28676" name="Rectangle 4"/>
          <p:cNvSpPr>
            <a:spLocks noGrp="1" noChangeArrowheads="1"/>
          </p:cNvSpPr>
          <p:nvPr>
            <p:ph type="title" idx="4294967295"/>
          </p:nvPr>
        </p:nvSpPr>
        <p:spPr>
          <a:xfrm>
            <a:off x="172879" y="167264"/>
            <a:ext cx="4240332" cy="276926"/>
          </a:xfrm>
        </p:spPr>
        <p:txBody>
          <a:bodyPr/>
          <a:lstStyle/>
          <a:p>
            <a:pPr algn="l"/>
            <a:r>
              <a:rPr lang="zh-CN" altLang="zh-CN" sz="1815">
                <a:ea typeface="宋体" pitchFamily="2" charset="-122"/>
              </a:rPr>
              <a:t>国内生产总值</a:t>
            </a:r>
            <a:r>
              <a:rPr lang="zh-CN" altLang="en-US" sz="1815">
                <a:ea typeface="宋体" pitchFamily="2" charset="-122"/>
              </a:rPr>
              <a:t> </a:t>
            </a:r>
            <a:r>
              <a:rPr lang="en-US" altLang="zh-CN" sz="1815">
                <a:ea typeface="宋体" pitchFamily="2" charset="-122"/>
              </a:rPr>
              <a:t>(GDP)</a:t>
            </a:r>
            <a:r>
              <a:rPr lang="zh-CN" altLang="zh-CN" sz="1815">
                <a:ea typeface="宋体" pitchFamily="2" charset="-122"/>
              </a:rPr>
              <a:t>：</a:t>
            </a:r>
            <a:endParaRPr lang="zh-CN" altLang="en-US" sz="1815">
              <a:ea typeface="宋体" pitchFamily="2" charset="-122"/>
            </a:endParaRPr>
          </a:p>
        </p:txBody>
      </p:sp>
      <p:sp>
        <p:nvSpPr>
          <p:cNvPr id="28677" name="Text Box 5"/>
          <p:cNvSpPr txBox="1">
            <a:spLocks noChangeArrowheads="1"/>
          </p:cNvSpPr>
          <p:nvPr/>
        </p:nvSpPr>
        <p:spPr bwMode="auto">
          <a:xfrm>
            <a:off x="576349" y="1586098"/>
            <a:ext cx="4219522" cy="1543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10000"/>
              </a:lnSpc>
              <a:spcBef>
                <a:spcPct val="25000"/>
              </a:spcBef>
              <a:spcAft>
                <a:spcPct val="0"/>
              </a:spcAft>
            </a:pPr>
            <a:r>
              <a:rPr lang="zh-CN" altLang="zh-CN" sz="1410">
                <a:solidFill>
                  <a:srgbClr val="008080"/>
                </a:solidFill>
                <a:ea typeface="宋体" pitchFamily="2" charset="-122"/>
              </a:rPr>
              <a:t>通常是一年或一个季度（</a:t>
            </a:r>
            <a:r>
              <a:rPr lang="en-US" altLang="zh-CN" sz="1410">
                <a:solidFill>
                  <a:srgbClr val="008080"/>
                </a:solidFill>
                <a:ea typeface="宋体" pitchFamily="2" charset="-122"/>
              </a:rPr>
              <a:t>3</a:t>
            </a:r>
            <a:r>
              <a:rPr lang="zh-CN" altLang="zh-CN" sz="1410">
                <a:solidFill>
                  <a:srgbClr val="008080"/>
                </a:solidFill>
                <a:ea typeface="宋体" pitchFamily="2" charset="-122"/>
              </a:rPr>
              <a:t>个月）</a:t>
            </a:r>
            <a:r>
              <a:rPr lang="zh-CN" altLang="en-US" sz="1410">
                <a:solidFill>
                  <a:srgbClr val="008080"/>
                </a:solidFill>
                <a:ea typeface="宋体" pitchFamily="2" charset="-122"/>
              </a:rPr>
              <a:t> </a:t>
            </a:r>
          </a:p>
        </p:txBody>
      </p:sp>
      <p:sp>
        <p:nvSpPr>
          <p:cNvPr id="28678" name="Line 10"/>
          <p:cNvSpPr>
            <a:spLocks noChangeShapeType="1"/>
          </p:cNvSpPr>
          <p:nvPr/>
        </p:nvSpPr>
        <p:spPr bwMode="auto">
          <a:xfrm>
            <a:off x="135262" y="1499070"/>
            <a:ext cx="43083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wipe(left)">
                                      <p:cBhvr>
                                        <p:cTn id="7"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3542918B-841C-DA45-B6DA-0E82FA3166EB}" type="slidenum">
              <a:rPr lang="zh-CN" altLang="zh-CN">
                <a:latin typeface="Arial" panose="020B0604020202090204" pitchFamily="34" charset="0"/>
              </a:rPr>
              <a:t>38</a:t>
            </a:fld>
            <a:endParaRPr lang="en-US" altLang="zh-CN">
              <a:latin typeface="Arial" panose="020B0604020202090204" pitchFamily="34" charset="0"/>
            </a:endParaRPr>
          </a:p>
        </p:txBody>
      </p:sp>
      <p:sp>
        <p:nvSpPr>
          <p:cNvPr id="29698" name="Rectangle 2"/>
          <p:cNvSpPr>
            <a:spLocks noGrp="1" noChangeArrowheads="1"/>
          </p:cNvSpPr>
          <p:nvPr>
            <p:ph type="title" idx="4294967295"/>
          </p:nvPr>
        </p:nvSpPr>
        <p:spPr>
          <a:xfrm>
            <a:off x="172879" y="131247"/>
            <a:ext cx="4240332" cy="296135"/>
          </a:xfrm>
        </p:spPr>
        <p:txBody>
          <a:bodyPr/>
          <a:lstStyle/>
          <a:p>
            <a:r>
              <a:rPr lang="en-US" altLang="zh-CN">
                <a:ea typeface="宋体" pitchFamily="2" charset="-122"/>
              </a:rPr>
              <a:t>GDP</a:t>
            </a:r>
            <a:r>
              <a:rPr lang="zh-CN" altLang="zh-CN">
                <a:ea typeface="宋体" pitchFamily="2" charset="-122"/>
              </a:rPr>
              <a:t>的组成部分</a:t>
            </a:r>
          </a:p>
        </p:txBody>
      </p:sp>
      <p:sp>
        <p:nvSpPr>
          <p:cNvPr id="29699" name="Rectangle 3"/>
          <p:cNvSpPr>
            <a:spLocks noGrp="1" noChangeArrowheads="1"/>
          </p:cNvSpPr>
          <p:nvPr>
            <p:ph type="body" idx="4294967295"/>
          </p:nvPr>
        </p:nvSpPr>
        <p:spPr>
          <a:xfrm>
            <a:off x="152870" y="458596"/>
            <a:ext cx="4224324" cy="2288242"/>
          </a:xfrm>
        </p:spPr>
        <p:txBody>
          <a:bodyPr/>
          <a:lstStyle/>
          <a:p>
            <a:pPr>
              <a:spcBef>
                <a:spcPct val="25000"/>
              </a:spcBef>
            </a:pPr>
            <a:r>
              <a:rPr lang="zh-CN" altLang="zh-CN">
                <a:ea typeface="宋体" pitchFamily="2" charset="-122"/>
              </a:rPr>
              <a:t>GDP 是总支出</a:t>
            </a:r>
          </a:p>
          <a:p>
            <a:pPr>
              <a:spcBef>
                <a:spcPct val="25000"/>
              </a:spcBef>
            </a:pPr>
            <a:r>
              <a:rPr lang="zh-CN" altLang="zh-CN">
                <a:ea typeface="宋体" pitchFamily="2" charset="-122"/>
              </a:rPr>
              <a:t>四个组成部分：</a:t>
            </a:r>
          </a:p>
          <a:p>
            <a:pPr lvl="1"/>
            <a:r>
              <a:rPr lang="zh-CN" altLang="zh-CN" sz="1410">
                <a:ea typeface="宋体" pitchFamily="2" charset="-122"/>
              </a:rPr>
              <a:t>消费 （</a:t>
            </a:r>
            <a:r>
              <a:rPr lang="zh-CN" altLang="zh-CN" sz="1410" b="1">
                <a:latin typeface="Tahoma" panose="020B0604030504040204" pitchFamily="34" charset="0"/>
                <a:ea typeface="宋体" pitchFamily="2" charset="-122"/>
              </a:rPr>
              <a:t>C</a:t>
            </a:r>
            <a:r>
              <a:rPr lang="zh-CN" altLang="zh-CN" sz="1410">
                <a:latin typeface="Tahoma" panose="020B0604030504040204" pitchFamily="34" charset="0"/>
                <a:ea typeface="宋体" pitchFamily="2" charset="-122"/>
              </a:rPr>
              <a:t>）</a:t>
            </a:r>
          </a:p>
          <a:p>
            <a:pPr lvl="1"/>
            <a:r>
              <a:rPr lang="zh-CN" altLang="zh-CN" sz="1410">
                <a:ea typeface="宋体" pitchFamily="2" charset="-122"/>
              </a:rPr>
              <a:t>投资 （</a:t>
            </a:r>
            <a:r>
              <a:rPr lang="zh-CN" altLang="zh-CN" sz="1410" b="1">
                <a:latin typeface="Tahoma" panose="020B0604030504040204" pitchFamily="34" charset="0"/>
                <a:ea typeface="宋体" pitchFamily="2" charset="-122"/>
              </a:rPr>
              <a:t>I</a:t>
            </a:r>
            <a:r>
              <a:rPr lang="zh-CN" altLang="zh-CN" sz="1410">
                <a:ea typeface="宋体" pitchFamily="2" charset="-122"/>
              </a:rPr>
              <a:t>）</a:t>
            </a:r>
          </a:p>
          <a:p>
            <a:pPr lvl="1"/>
            <a:r>
              <a:rPr lang="zh-CN" altLang="zh-CN" sz="1410">
                <a:ea typeface="宋体" pitchFamily="2" charset="-122"/>
              </a:rPr>
              <a:t>政府购买 （</a:t>
            </a:r>
            <a:r>
              <a:rPr lang="zh-CN" altLang="zh-CN" sz="1410" b="1">
                <a:latin typeface="Tahoma" panose="020B0604030504040204" pitchFamily="34" charset="0"/>
                <a:ea typeface="宋体" pitchFamily="2" charset="-122"/>
              </a:rPr>
              <a:t>G</a:t>
            </a:r>
            <a:r>
              <a:rPr lang="zh-CN" altLang="zh-CN" sz="1410">
                <a:ea typeface="宋体" pitchFamily="2" charset="-122"/>
              </a:rPr>
              <a:t>）</a:t>
            </a:r>
          </a:p>
          <a:p>
            <a:pPr lvl="1"/>
            <a:r>
              <a:rPr lang="zh-CN" altLang="zh-CN" sz="1410">
                <a:ea typeface="宋体" pitchFamily="2" charset="-122"/>
              </a:rPr>
              <a:t>净出口（</a:t>
            </a:r>
            <a:r>
              <a:rPr lang="zh-CN" altLang="zh-CN" sz="1410" b="1">
                <a:latin typeface="Tahoma" panose="020B0604030504040204" pitchFamily="34" charset="0"/>
                <a:ea typeface="宋体" pitchFamily="2" charset="-122"/>
              </a:rPr>
              <a:t>NX</a:t>
            </a:r>
            <a:r>
              <a:rPr lang="zh-CN" altLang="zh-CN" sz="1410">
                <a:ea typeface="宋体" pitchFamily="2" charset="-122"/>
              </a:rPr>
              <a:t>）</a:t>
            </a:r>
          </a:p>
          <a:p>
            <a:r>
              <a:rPr lang="zh-CN" altLang="zh-CN">
                <a:ea typeface="宋体" pitchFamily="2" charset="-122"/>
              </a:rPr>
              <a:t>这四个组成部分的总和等于GDP（用</a:t>
            </a:r>
            <a:r>
              <a:rPr lang="zh-CN" altLang="zh-CN" b="1">
                <a:latin typeface="Tahoma" panose="020B0604030504040204" pitchFamily="34" charset="0"/>
                <a:ea typeface="宋体" pitchFamily="2" charset="-122"/>
              </a:rPr>
              <a:t>Y</a:t>
            </a:r>
            <a:r>
              <a:rPr lang="zh-CN" altLang="zh-CN">
                <a:latin typeface="Tahoma" panose="020B0604030504040204" pitchFamily="34" charset="0"/>
                <a:ea typeface="宋体" pitchFamily="2" charset="-122"/>
              </a:rPr>
              <a:t>表示）</a:t>
            </a:r>
            <a:r>
              <a:rPr lang="zh-CN" altLang="zh-CN">
                <a:ea typeface="宋体" pitchFamily="2" charset="-122"/>
              </a:rPr>
              <a:t>：</a:t>
            </a:r>
          </a:p>
        </p:txBody>
      </p:sp>
      <p:sp>
        <p:nvSpPr>
          <p:cNvPr id="29700" name="Text Box 5"/>
          <p:cNvSpPr txBox="1">
            <a:spLocks noChangeArrowheads="1"/>
          </p:cNvSpPr>
          <p:nvPr/>
        </p:nvSpPr>
        <p:spPr bwMode="auto">
          <a:xfrm>
            <a:off x="921220" y="2529940"/>
            <a:ext cx="2556364" cy="366567"/>
          </a:xfrm>
          <a:prstGeom prst="rect">
            <a:avLst/>
          </a:prstGeom>
          <a:solidFill>
            <a:srgbClr val="FFFF99"/>
          </a:solidFill>
          <a:ln>
            <a:noFill/>
          </a:ln>
          <a:effectLst>
            <a:outerShdw dist="8980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en-US" altLang="zh-CN" sz="1515" b="1">
                <a:solidFill>
                  <a:srgbClr val="000000"/>
                </a:solidFill>
                <a:latin typeface="Tahoma" panose="020B0604030504040204" pitchFamily="34" charset="0"/>
                <a:ea typeface="宋体" pitchFamily="2" charset="-122"/>
              </a:rPr>
              <a:t>Y  =  C  +  I  +  G  +  NX</a:t>
            </a: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wipe(left)">
                                      <p:cBhvr>
                                        <p:cTn id="7" dur="500"/>
                                        <p:tgtEl>
                                          <p:spTgt spid="29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wipe(left)">
                                      <p:cBhvr>
                                        <p:cTn id="12" dur="500"/>
                                        <p:tgtEl>
                                          <p:spTgt spid="29699">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animEffect transition="in" filter="wipe(left)">
                                      <p:cBhvr>
                                        <p:cTn id="15" dur="500"/>
                                        <p:tgtEl>
                                          <p:spTgt spid="29699">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9699">
                                            <p:txEl>
                                              <p:pRg st="3" end="3"/>
                                            </p:txEl>
                                          </p:spTgt>
                                        </p:tgtEl>
                                        <p:attrNameLst>
                                          <p:attrName>style.visibility</p:attrName>
                                        </p:attrNameLst>
                                      </p:cBhvr>
                                      <p:to>
                                        <p:strVal val="visible"/>
                                      </p:to>
                                    </p:set>
                                    <p:animEffect transition="in" filter="wipe(left)">
                                      <p:cBhvr>
                                        <p:cTn id="18" dur="500"/>
                                        <p:tgtEl>
                                          <p:spTgt spid="29699">
                                            <p:txEl>
                                              <p:pRg st="3" end="3"/>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29699">
                                            <p:txEl>
                                              <p:pRg st="4" end="4"/>
                                            </p:txEl>
                                          </p:spTgt>
                                        </p:tgtEl>
                                        <p:attrNameLst>
                                          <p:attrName>style.visibility</p:attrName>
                                        </p:attrNameLst>
                                      </p:cBhvr>
                                      <p:to>
                                        <p:strVal val="visible"/>
                                      </p:to>
                                    </p:set>
                                    <p:animEffect transition="in" filter="wipe(left)">
                                      <p:cBhvr>
                                        <p:cTn id="21" dur="500"/>
                                        <p:tgtEl>
                                          <p:spTgt spid="29699">
                                            <p:txEl>
                                              <p:pRg st="4" end="4"/>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29699">
                                            <p:txEl>
                                              <p:pRg st="5" end="5"/>
                                            </p:txEl>
                                          </p:spTgt>
                                        </p:tgtEl>
                                        <p:attrNameLst>
                                          <p:attrName>style.visibility</p:attrName>
                                        </p:attrNameLst>
                                      </p:cBhvr>
                                      <p:to>
                                        <p:strVal val="visible"/>
                                      </p:to>
                                    </p:set>
                                    <p:animEffect transition="in" filter="wipe(left)">
                                      <p:cBhvr>
                                        <p:cTn id="24" dur="500"/>
                                        <p:tgtEl>
                                          <p:spTgt spid="2969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9699">
                                            <p:txEl>
                                              <p:pRg st="6" end="6"/>
                                            </p:txEl>
                                          </p:spTgt>
                                        </p:tgtEl>
                                        <p:attrNameLst>
                                          <p:attrName>style.visibility</p:attrName>
                                        </p:attrNameLst>
                                      </p:cBhvr>
                                      <p:to>
                                        <p:strVal val="visible"/>
                                      </p:to>
                                    </p:set>
                                    <p:animEffect transition="in" filter="wipe(left)">
                                      <p:cBhvr>
                                        <p:cTn id="29" dur="500"/>
                                        <p:tgtEl>
                                          <p:spTgt spid="29699">
                                            <p:txEl>
                                              <p:pRg st="6" end="6"/>
                                            </p:txEl>
                                          </p:spTgt>
                                        </p:tgtEl>
                                      </p:cBhvr>
                                    </p:animEffect>
                                  </p:childTnLst>
                                </p:cTn>
                              </p:par>
                            </p:childTnLst>
                          </p:cTn>
                        </p:par>
                        <p:par>
                          <p:cTn id="30" fill="hold">
                            <p:stCondLst>
                              <p:cond delay="500"/>
                            </p:stCondLst>
                            <p:childTnLst>
                              <p:par>
                                <p:cTn id="31" presetID="9" presetClass="entr" presetSubtype="0" fill="hold" nodeType="afterEffect">
                                  <p:stCondLst>
                                    <p:cond delay="0"/>
                                  </p:stCondLst>
                                  <p:childTnLst>
                                    <p:set>
                                      <p:cBhvr>
                                        <p:cTn id="32" dur="1" fill="hold">
                                          <p:stCondLst>
                                            <p:cond delay="0"/>
                                          </p:stCondLst>
                                        </p:cTn>
                                        <p:tgtEl>
                                          <p:spTgt spid="29700"/>
                                        </p:tgtEl>
                                        <p:attrNameLst>
                                          <p:attrName>style.visibility</p:attrName>
                                        </p:attrNameLst>
                                      </p:cBhvr>
                                      <p:to>
                                        <p:strVal val="visible"/>
                                      </p:to>
                                    </p:set>
                                    <p:animEffect transition="in" filter="dissolve">
                                      <p:cBhvr>
                                        <p:cTn id="33"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bldLvl="4" autoUpdateAnimBg="0"/>
      <p:bldP spid="29700"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87E7FC70-C3AA-E04F-8E26-B24E0323E8C9}" type="slidenum">
              <a:rPr lang="zh-CN" altLang="zh-CN">
                <a:latin typeface="Arial" panose="020B0604020202090204" pitchFamily="34" charset="0"/>
              </a:rPr>
              <a:t>39</a:t>
            </a:fld>
            <a:endParaRPr lang="en-US" altLang="zh-CN">
              <a:latin typeface="Arial" panose="020B0604020202090204" pitchFamily="34" charset="0"/>
            </a:endParaRPr>
          </a:p>
        </p:txBody>
      </p:sp>
      <p:sp>
        <p:nvSpPr>
          <p:cNvPr id="31746" name="Rectangle 2"/>
          <p:cNvSpPr>
            <a:spLocks noGrp="1" noChangeArrowheads="1"/>
          </p:cNvSpPr>
          <p:nvPr>
            <p:ph type="title" idx="4294967295"/>
          </p:nvPr>
        </p:nvSpPr>
        <p:spPr/>
        <p:txBody>
          <a:bodyPr/>
          <a:lstStyle/>
          <a:p>
            <a:r>
              <a:rPr lang="zh-CN" altLang="zh-CN">
                <a:ea typeface="宋体" pitchFamily="2" charset="-122"/>
              </a:rPr>
              <a:t>消费 </a:t>
            </a:r>
            <a:r>
              <a:rPr lang="en-US" altLang="zh-CN">
                <a:ea typeface="宋体" pitchFamily="2" charset="-122"/>
              </a:rPr>
              <a:t>(C)</a:t>
            </a:r>
          </a:p>
        </p:txBody>
      </p:sp>
      <p:sp>
        <p:nvSpPr>
          <p:cNvPr id="31747" name="Rectangle 3"/>
          <p:cNvSpPr>
            <a:spLocks noGrp="1" noChangeArrowheads="1"/>
          </p:cNvSpPr>
          <p:nvPr>
            <p:ph type="body" idx="4294967295"/>
          </p:nvPr>
        </p:nvSpPr>
        <p:spPr>
          <a:xfrm>
            <a:off x="188086" y="542634"/>
            <a:ext cx="4191509" cy="2417101"/>
          </a:xfrm>
        </p:spPr>
        <p:txBody>
          <a:bodyPr/>
          <a:lstStyle/>
          <a:p>
            <a:r>
              <a:rPr lang="zh-CN" altLang="en-US" dirty="0">
                <a:ea typeface="宋体" pitchFamily="2" charset="-122"/>
              </a:rPr>
              <a:t>消费是指</a:t>
            </a:r>
            <a:r>
              <a:rPr lang="zh-CN" altLang="zh-CN" dirty="0">
                <a:ea typeface="宋体" pitchFamily="2" charset="-122"/>
              </a:rPr>
              <a:t>家庭除购买新住房之外用于物品和劳务的总支出</a:t>
            </a:r>
          </a:p>
          <a:p>
            <a:r>
              <a:rPr lang="zh-CN" altLang="zh-CN" dirty="0">
                <a:ea typeface="宋体" pitchFamily="2" charset="-122"/>
              </a:rPr>
              <a:t>关于居住成本的注释：  </a:t>
            </a:r>
            <a:endParaRPr lang="zh-CN" altLang="zh-CN" b="1" dirty="0">
              <a:ea typeface="宋体" pitchFamily="2" charset="-122"/>
            </a:endParaRPr>
          </a:p>
          <a:p>
            <a:pPr lvl="1">
              <a:lnSpc>
                <a:spcPct val="105000"/>
              </a:lnSpc>
              <a:spcBef>
                <a:spcPct val="25000"/>
              </a:spcBef>
            </a:pPr>
            <a:r>
              <a:rPr lang="zh-CN" altLang="zh-CN" dirty="0">
                <a:ea typeface="宋体" pitchFamily="2" charset="-122"/>
              </a:rPr>
              <a:t>对租房者而言，消费包括租金</a:t>
            </a:r>
          </a:p>
          <a:p>
            <a:pPr lvl="1">
              <a:lnSpc>
                <a:spcPct val="105000"/>
              </a:lnSpc>
              <a:spcBef>
                <a:spcPct val="25000"/>
              </a:spcBef>
            </a:pPr>
            <a:r>
              <a:rPr lang="zh-CN" altLang="zh-CN" dirty="0">
                <a:ea typeface="宋体" pitchFamily="2" charset="-122"/>
              </a:rPr>
              <a:t>对房主而言，消费包括住房的隐含租金价值，但不包括住房的购买价格或按揭贷款</a:t>
            </a:r>
            <a:br>
              <a:rPr lang="zh-CN" altLang="zh-CN" dirty="0">
                <a:ea typeface="宋体" pitchFamily="2" charset="-122"/>
              </a:rPr>
            </a:br>
            <a:endParaRPr lang="zh-CN" altLang="zh-CN" dirty="0">
              <a:ea typeface="宋体" pitchFamily="2" charset="-122"/>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D33F6E3D-E20A-F543-A3DE-68CCA822A1F8}" type="slidenum">
              <a:rPr lang="zh-CN" altLang="zh-CN">
                <a:latin typeface="Arial" panose="020B0604020202090204" pitchFamily="34" charset="0"/>
              </a:rPr>
              <a:t>40</a:t>
            </a:fld>
            <a:endParaRPr lang="en-US" altLang="zh-CN">
              <a:latin typeface="Arial" panose="020B0604020202090204" pitchFamily="34" charset="0"/>
            </a:endParaRPr>
          </a:p>
        </p:txBody>
      </p:sp>
      <p:sp>
        <p:nvSpPr>
          <p:cNvPr id="33794" name="Rectangle 2"/>
          <p:cNvSpPr>
            <a:spLocks noGrp="1" noChangeArrowheads="1"/>
          </p:cNvSpPr>
          <p:nvPr>
            <p:ph type="title" idx="4294967295"/>
          </p:nvPr>
        </p:nvSpPr>
        <p:spPr/>
        <p:txBody>
          <a:bodyPr/>
          <a:lstStyle/>
          <a:p>
            <a:r>
              <a:rPr lang="zh-CN" altLang="zh-CN">
                <a:ea typeface="宋体" pitchFamily="2" charset="-122"/>
              </a:rPr>
              <a:t>投资 （</a:t>
            </a:r>
            <a:r>
              <a:rPr lang="en-US" altLang="zh-CN">
                <a:ea typeface="宋体" pitchFamily="2" charset="-122"/>
              </a:rPr>
              <a:t>I</a:t>
            </a:r>
            <a:r>
              <a:rPr lang="zh-CN" altLang="zh-CN">
                <a:ea typeface="宋体" pitchFamily="2" charset="-122"/>
              </a:rPr>
              <a:t>）</a:t>
            </a:r>
            <a:endParaRPr lang="zh-CN" altLang="en-US">
              <a:ea typeface="宋体" pitchFamily="2" charset="-122"/>
            </a:endParaRPr>
          </a:p>
        </p:txBody>
      </p:sp>
      <p:sp>
        <p:nvSpPr>
          <p:cNvPr id="33795" name="Rectangle 3"/>
          <p:cNvSpPr>
            <a:spLocks noGrp="1" noChangeArrowheads="1"/>
          </p:cNvSpPr>
          <p:nvPr>
            <p:ph type="body" idx="4294967295"/>
          </p:nvPr>
        </p:nvSpPr>
        <p:spPr>
          <a:xfrm>
            <a:off x="188086" y="519424"/>
            <a:ext cx="4191509" cy="1683967"/>
          </a:xfrm>
        </p:spPr>
        <p:txBody>
          <a:bodyPr/>
          <a:lstStyle/>
          <a:p>
            <a:r>
              <a:rPr lang="zh-CN" altLang="zh-CN" dirty="0">
                <a:ea typeface="宋体" pitchFamily="2" charset="-122"/>
              </a:rPr>
              <a:t>投资是对用于未来生产更多物品和劳务的物品的购买</a:t>
            </a:r>
          </a:p>
          <a:p>
            <a:r>
              <a:rPr lang="zh-CN" altLang="zh-CN" dirty="0">
                <a:ea typeface="宋体" pitchFamily="2" charset="-122"/>
              </a:rPr>
              <a:t>包括下列支出：</a:t>
            </a:r>
          </a:p>
          <a:p>
            <a:pPr lvl="1"/>
            <a:r>
              <a:rPr lang="zh-CN" altLang="zh-CN" dirty="0">
                <a:ea typeface="宋体" pitchFamily="2" charset="-122"/>
              </a:rPr>
              <a:t>资本设备 (比如机器, 工具)</a:t>
            </a:r>
          </a:p>
          <a:p>
            <a:pPr lvl="1"/>
            <a:r>
              <a:rPr lang="zh-CN" altLang="zh-CN" dirty="0">
                <a:ea typeface="宋体" pitchFamily="2" charset="-122"/>
              </a:rPr>
              <a:t>建筑物(工厂，办公楼，住房)</a:t>
            </a:r>
          </a:p>
          <a:p>
            <a:pPr lvl="1"/>
            <a:r>
              <a:rPr lang="zh-CN" altLang="zh-CN" dirty="0">
                <a:ea typeface="宋体" pitchFamily="2" charset="-122"/>
              </a:rPr>
              <a:t>存货 (已经生产出来但尚未售出的物品)</a:t>
            </a:r>
          </a:p>
        </p:txBody>
      </p:sp>
      <p:sp>
        <p:nvSpPr>
          <p:cNvPr id="33796" name="Text Box 5"/>
          <p:cNvSpPr txBox="1">
            <a:spLocks noChangeArrowheads="1"/>
          </p:cNvSpPr>
          <p:nvPr/>
        </p:nvSpPr>
        <p:spPr bwMode="auto">
          <a:xfrm>
            <a:off x="950833" y="2213795"/>
            <a:ext cx="2660412" cy="853189"/>
          </a:xfrm>
          <a:prstGeom prst="rect">
            <a:avLst/>
          </a:prstGeom>
          <a:gradFill rotWithShape="1">
            <a:gsLst>
              <a:gs pos="0">
                <a:srgbClr val="FFFFCC"/>
              </a:gs>
              <a:gs pos="50000">
                <a:srgbClr val="FFCC99"/>
              </a:gs>
              <a:gs pos="100000">
                <a:srgbClr val="FFFFCC"/>
              </a:gs>
            </a:gsLst>
            <a:lin ang="18900000" scaled="1"/>
          </a:gra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lnSpc>
                <a:spcPct val="120000"/>
              </a:lnSpc>
              <a:spcBef>
                <a:spcPct val="0"/>
              </a:spcBef>
              <a:spcAft>
                <a:spcPct val="0"/>
              </a:spcAft>
            </a:pPr>
            <a:r>
              <a:rPr lang="zh-CN" altLang="zh-CN" sz="1410">
                <a:solidFill>
                  <a:srgbClr val="000000"/>
                </a:solidFill>
                <a:ea typeface="宋体" pitchFamily="2" charset="-122"/>
              </a:rPr>
              <a:t>注意</a:t>
            </a:r>
            <a:r>
              <a:rPr lang="en-US" altLang="zh-CN" sz="1410">
                <a:solidFill>
                  <a:srgbClr val="000000"/>
                </a:solidFill>
                <a:ea typeface="宋体" pitchFamily="2" charset="-122"/>
              </a:rPr>
              <a:t>: </a:t>
            </a:r>
            <a:r>
              <a:rPr lang="zh-CN" altLang="zh-CN" sz="1410">
                <a:solidFill>
                  <a:srgbClr val="000000"/>
                </a:solidFill>
                <a:ea typeface="宋体" pitchFamily="2" charset="-122"/>
              </a:rPr>
              <a:t>“</a:t>
            </a:r>
            <a:r>
              <a:rPr lang="zh-CN" altLang="zh-CN" sz="1410" b="1">
                <a:solidFill>
                  <a:srgbClr val="FF6600"/>
                </a:solidFill>
                <a:effectLst>
                  <a:outerShdw blurRad="38100" dist="38100" dir="2700000" algn="tl">
                    <a:srgbClr val="000000"/>
                  </a:outerShdw>
                </a:effectLst>
                <a:ea typeface="宋体" pitchFamily="2" charset="-122"/>
              </a:rPr>
              <a:t>投资 </a:t>
            </a:r>
            <a:r>
              <a:rPr lang="zh-CN" altLang="zh-CN" sz="1410">
                <a:solidFill>
                  <a:srgbClr val="000000"/>
                </a:solidFill>
                <a:effectLst>
                  <a:outerShdw blurRad="38100" dist="38100" dir="2700000" algn="tl">
                    <a:srgbClr val="FFFFFF"/>
                  </a:outerShdw>
                </a:effectLst>
                <a:ea typeface="宋体" pitchFamily="2" charset="-122"/>
              </a:rPr>
              <a:t>”</a:t>
            </a:r>
            <a:r>
              <a:rPr lang="zh-CN" altLang="zh-CN" sz="1410">
                <a:solidFill>
                  <a:srgbClr val="000000"/>
                </a:solidFill>
                <a:ea typeface="宋体" pitchFamily="2" charset="-122"/>
              </a:rPr>
              <a:t>并不是指购买股票或债券这类金融资产</a:t>
            </a:r>
            <a:endParaRPr lang="zh-CN" altLang="en-US" sz="1410">
              <a:solidFill>
                <a:srgbClr val="000000"/>
              </a:solidFill>
              <a:ea typeface="宋体" pitchFamily="2" charset="-122"/>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dissolve">
                                      <p:cBhvr>
                                        <p:cTn id="7" dur="500"/>
                                        <p:tgtEl>
                                          <p:spTgt spid="3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9D055D5C-0349-6042-8351-8FA67690D912}" type="slidenum">
              <a:rPr lang="zh-CN" altLang="zh-CN">
                <a:latin typeface="Arial" panose="020B0604020202090204" pitchFamily="34" charset="0"/>
              </a:rPr>
              <a:t>41</a:t>
            </a:fld>
            <a:endParaRPr lang="en-US" altLang="zh-CN">
              <a:latin typeface="Arial" panose="020B0604020202090204" pitchFamily="34" charset="0"/>
            </a:endParaRPr>
          </a:p>
        </p:txBody>
      </p:sp>
      <p:sp>
        <p:nvSpPr>
          <p:cNvPr id="35842" name="Rectangle 2"/>
          <p:cNvSpPr>
            <a:spLocks noGrp="1" noChangeArrowheads="1"/>
          </p:cNvSpPr>
          <p:nvPr>
            <p:ph type="title" idx="4294967295"/>
          </p:nvPr>
        </p:nvSpPr>
        <p:spPr/>
        <p:txBody>
          <a:bodyPr/>
          <a:lstStyle/>
          <a:p>
            <a:r>
              <a:rPr lang="zh-CN" altLang="zh-CN">
                <a:ea typeface="宋体" pitchFamily="2" charset="-122"/>
              </a:rPr>
              <a:t>政府购买 （</a:t>
            </a:r>
            <a:r>
              <a:rPr lang="en-US" altLang="zh-CN">
                <a:ea typeface="宋体" pitchFamily="2" charset="-122"/>
              </a:rPr>
              <a:t>G</a:t>
            </a:r>
            <a:r>
              <a:rPr lang="zh-CN" altLang="zh-CN">
                <a:ea typeface="宋体" pitchFamily="2" charset="-122"/>
              </a:rPr>
              <a:t>）</a:t>
            </a:r>
            <a:endParaRPr lang="zh-CN" altLang="en-US">
              <a:ea typeface="宋体" pitchFamily="2" charset="-122"/>
            </a:endParaRPr>
          </a:p>
        </p:txBody>
      </p:sp>
      <p:sp>
        <p:nvSpPr>
          <p:cNvPr id="35843" name="Rectangle 3"/>
          <p:cNvSpPr>
            <a:spLocks noGrp="1" noChangeArrowheads="1"/>
          </p:cNvSpPr>
          <p:nvPr>
            <p:ph type="body" idx="4294967295"/>
          </p:nvPr>
        </p:nvSpPr>
        <p:spPr>
          <a:xfrm>
            <a:off x="217699" y="549037"/>
            <a:ext cx="4095466" cy="2353872"/>
          </a:xfrm>
        </p:spPr>
        <p:txBody>
          <a:bodyPr/>
          <a:lstStyle/>
          <a:p>
            <a:pPr>
              <a:spcBef>
                <a:spcPct val="55000"/>
              </a:spcBef>
            </a:pPr>
            <a:r>
              <a:rPr lang="zh-CN" altLang="zh-CN" dirty="0">
                <a:ea typeface="宋体" pitchFamily="2" charset="-122"/>
              </a:rPr>
              <a:t>是地方、州、和联邦政府用于物品与劳务的支出。</a:t>
            </a:r>
          </a:p>
          <a:p>
            <a:pPr>
              <a:spcBef>
                <a:spcPct val="55000"/>
              </a:spcBef>
            </a:pPr>
            <a:r>
              <a:rPr lang="zh-CN" altLang="zh-CN" dirty="0">
                <a:ea typeface="宋体" pitchFamily="2" charset="-122"/>
              </a:rPr>
              <a:t>政府购买不包括</a:t>
            </a:r>
            <a:r>
              <a:rPr lang="zh-CN" altLang="zh-CN" b="1" dirty="0">
                <a:solidFill>
                  <a:srgbClr val="CC0000"/>
                </a:solidFill>
                <a:ea typeface="宋体" pitchFamily="2" charset="-122"/>
              </a:rPr>
              <a:t>转移支付</a:t>
            </a:r>
            <a:r>
              <a:rPr lang="zh-CN" altLang="zh-CN" dirty="0">
                <a:ea typeface="宋体" pitchFamily="2" charset="-122"/>
              </a:rPr>
              <a:t>，比如社会保障补助或失业保险补助</a:t>
            </a:r>
          </a:p>
          <a:p>
            <a:pPr>
              <a:spcBef>
                <a:spcPct val="55000"/>
              </a:spcBef>
              <a:buFont typeface="Wingdings" panose="05000000000000000000" pitchFamily="2" charset="2"/>
              <a:buNone/>
            </a:pPr>
            <a:r>
              <a:rPr lang="zh-CN" altLang="zh-CN" dirty="0">
                <a:ea typeface="宋体" pitchFamily="2" charset="-122"/>
              </a:rPr>
              <a:t>   因为它们不是物品与劳务的购买</a:t>
            </a: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44BC7051-FAED-934C-AAFE-0EB2F252C8CC}" type="slidenum">
              <a:rPr lang="zh-CN" altLang="zh-CN">
                <a:latin typeface="Arial" panose="020B0604020202090204" pitchFamily="34" charset="0"/>
              </a:rPr>
              <a:t>42</a:t>
            </a:fld>
            <a:endParaRPr lang="en-US" altLang="zh-CN">
              <a:latin typeface="Arial" panose="020B0604020202090204" pitchFamily="34" charset="0"/>
            </a:endParaRPr>
          </a:p>
        </p:txBody>
      </p:sp>
      <p:sp>
        <p:nvSpPr>
          <p:cNvPr id="37890" name="Rectangle 2"/>
          <p:cNvSpPr>
            <a:spLocks noGrp="1" noChangeArrowheads="1"/>
          </p:cNvSpPr>
          <p:nvPr>
            <p:ph type="title" idx="4294967295"/>
          </p:nvPr>
        </p:nvSpPr>
        <p:spPr/>
        <p:txBody>
          <a:bodyPr/>
          <a:lstStyle/>
          <a:p>
            <a:r>
              <a:rPr lang="zh-CN" altLang="zh-CN">
                <a:ea typeface="宋体" pitchFamily="2" charset="-122"/>
              </a:rPr>
              <a:t>净出口 （</a:t>
            </a:r>
            <a:r>
              <a:rPr lang="en-US" altLang="zh-CN">
                <a:ea typeface="宋体" pitchFamily="2" charset="-122"/>
              </a:rPr>
              <a:t>NX</a:t>
            </a:r>
            <a:r>
              <a:rPr lang="zh-CN" altLang="zh-CN">
                <a:ea typeface="宋体" pitchFamily="2" charset="-122"/>
              </a:rPr>
              <a:t>）</a:t>
            </a:r>
            <a:endParaRPr lang="zh-CN" altLang="en-US">
              <a:ea typeface="宋体" pitchFamily="2" charset="-122"/>
            </a:endParaRPr>
          </a:p>
        </p:txBody>
      </p:sp>
      <p:sp>
        <p:nvSpPr>
          <p:cNvPr id="37891" name="Rectangle 3"/>
          <p:cNvSpPr>
            <a:spLocks noGrp="1" noChangeArrowheads="1"/>
          </p:cNvSpPr>
          <p:nvPr>
            <p:ph type="body" sz="half" idx="4294967295"/>
          </p:nvPr>
        </p:nvSpPr>
        <p:spPr>
          <a:xfrm>
            <a:off x="188086" y="509820"/>
            <a:ext cx="4089863" cy="2369879"/>
          </a:xfrm>
        </p:spPr>
        <p:txBody>
          <a:bodyPr/>
          <a:lstStyle/>
          <a:p>
            <a:r>
              <a:rPr lang="zh-CN" altLang="zh-CN" b="1">
                <a:latin typeface="Tahoma" panose="020B0604030504040204" pitchFamily="34" charset="0"/>
                <a:ea typeface="宋体" pitchFamily="2" charset="-122"/>
              </a:rPr>
              <a:t>NX</a:t>
            </a:r>
            <a:r>
              <a:rPr lang="zh-CN" altLang="zh-CN">
                <a:ea typeface="宋体" pitchFamily="2" charset="-122"/>
              </a:rPr>
              <a:t> = 出口 – 进口</a:t>
            </a:r>
          </a:p>
          <a:p>
            <a:r>
              <a:rPr lang="zh-CN" altLang="zh-CN">
                <a:ea typeface="宋体" pitchFamily="2" charset="-122"/>
              </a:rPr>
              <a:t>出口代表外国对国内生产物品与劳务的支出</a:t>
            </a:r>
          </a:p>
          <a:p>
            <a:r>
              <a:rPr lang="zh-CN" altLang="zh-CN">
                <a:ea typeface="宋体" pitchFamily="2" charset="-122"/>
              </a:rPr>
              <a:t>进口是消费，投资和政府购买中对外国生产的物品和劳务的支出</a:t>
            </a:r>
          </a:p>
          <a:p>
            <a:r>
              <a:rPr lang="zh-CN" altLang="zh-CN">
                <a:ea typeface="宋体" pitchFamily="2" charset="-122"/>
              </a:rPr>
              <a:t>把所有组成部分加总起来得到：</a:t>
            </a:r>
          </a:p>
        </p:txBody>
      </p:sp>
      <p:sp>
        <p:nvSpPr>
          <p:cNvPr id="37892" name="Text Box 5"/>
          <p:cNvSpPr txBox="1">
            <a:spLocks noChangeArrowheads="1"/>
          </p:cNvSpPr>
          <p:nvPr/>
        </p:nvSpPr>
        <p:spPr bwMode="auto">
          <a:xfrm>
            <a:off x="938028" y="2349857"/>
            <a:ext cx="2556364" cy="366567"/>
          </a:xfrm>
          <a:prstGeom prst="rect">
            <a:avLst/>
          </a:prstGeom>
          <a:solidFill>
            <a:srgbClr val="FFFF99"/>
          </a:solidFill>
          <a:ln>
            <a:noFill/>
          </a:ln>
          <a:effectLst>
            <a:outerShdw dist="8980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en-US" altLang="zh-CN" sz="1515" b="1">
                <a:solidFill>
                  <a:srgbClr val="000000"/>
                </a:solidFill>
                <a:latin typeface="Tahoma" panose="020B0604030504040204" pitchFamily="34" charset="0"/>
                <a:ea typeface="宋体" pitchFamily="2" charset="-122"/>
              </a:rPr>
              <a:t>Y  =  C  +  I  +  G  +  NX</a:t>
            </a: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dissolve">
                                      <p:cBhvr>
                                        <p:cTn id="7"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xfrm>
            <a:off x="276126" y="681097"/>
            <a:ext cx="4179504" cy="2682822"/>
          </a:xfrm>
        </p:spPr>
        <p:txBody>
          <a:bodyPr/>
          <a:lstStyle/>
          <a:p>
            <a:pPr marL="0" indent="0">
              <a:spcBef>
                <a:spcPct val="40000"/>
              </a:spcBef>
              <a:buNone/>
            </a:pPr>
            <a:r>
              <a:rPr lang="zh-CN" altLang="zh-CN" sz="1310" dirty="0">
                <a:ea typeface="宋体" pitchFamily="2" charset="-122"/>
              </a:rPr>
              <a:t>在下面的各种情形下，计算GDP及它受影响的组成部分的变化量</a:t>
            </a:r>
            <a:endParaRPr lang="zh-CN" altLang="en-US" sz="1310" dirty="0">
              <a:ea typeface="宋体" pitchFamily="2" charset="-122"/>
            </a:endParaRPr>
          </a:p>
          <a:p>
            <a:pPr marL="287655" lvl="1" indent="-229870">
              <a:lnSpc>
                <a:spcPct val="105000"/>
              </a:lnSpc>
              <a:spcBef>
                <a:spcPct val="40000"/>
              </a:spcBef>
              <a:buClr>
                <a:srgbClr val="00AC56"/>
              </a:buClr>
              <a:buSzTx/>
              <a:buNone/>
            </a:pPr>
            <a:r>
              <a:rPr lang="en-US" altLang="zh-CN" sz="1310" b="1" dirty="0">
                <a:solidFill>
                  <a:srgbClr val="339966"/>
                </a:solidFill>
                <a:ea typeface="宋体" pitchFamily="2" charset="-122"/>
              </a:rPr>
              <a:t>A.</a:t>
            </a:r>
            <a:r>
              <a:rPr lang="en-US" altLang="zh-CN" sz="1310" dirty="0">
                <a:solidFill>
                  <a:srgbClr val="339966"/>
                </a:solidFill>
                <a:ea typeface="宋体" pitchFamily="2" charset="-122"/>
              </a:rPr>
              <a:t>	</a:t>
            </a:r>
            <a:r>
              <a:rPr lang="zh-CN" altLang="en-US" sz="1310" dirty="0">
                <a:ea typeface="宋体" pitchFamily="2" charset="-122"/>
              </a:rPr>
              <a:t>你</a:t>
            </a:r>
            <a:r>
              <a:rPr lang="zh-CN" altLang="zh-CN" sz="1310" dirty="0">
                <a:ea typeface="宋体" pitchFamily="2" charset="-122"/>
              </a:rPr>
              <a:t>在</a:t>
            </a:r>
            <a:r>
              <a:rPr lang="zh-CN" altLang="en-US" sz="1310" dirty="0">
                <a:ea typeface="宋体" pitchFamily="2" charset="-122"/>
              </a:rPr>
              <a:t>上海</a:t>
            </a:r>
            <a:r>
              <a:rPr lang="zh-CN" altLang="zh-CN" sz="1310" dirty="0">
                <a:ea typeface="宋体" pitchFamily="2" charset="-122"/>
              </a:rPr>
              <a:t>最好的饭店花了</a:t>
            </a:r>
            <a:r>
              <a:rPr lang="en-US" altLang="zh-CN" sz="1310" dirty="0">
                <a:ea typeface="宋体" pitchFamily="2" charset="-122"/>
              </a:rPr>
              <a:t>¥</a:t>
            </a:r>
            <a:r>
              <a:rPr lang="zh-CN" altLang="zh-CN" sz="1310" dirty="0">
                <a:ea typeface="宋体" pitchFamily="2" charset="-122"/>
              </a:rPr>
              <a:t>200</a:t>
            </a:r>
            <a:r>
              <a:rPr lang="en-US" altLang="zh-CN" sz="1310" dirty="0">
                <a:ea typeface="宋体" pitchFamily="2" charset="-122"/>
              </a:rPr>
              <a:t>0</a:t>
            </a:r>
            <a:r>
              <a:rPr lang="zh-CN" altLang="zh-CN" sz="1310" dirty="0">
                <a:ea typeface="宋体" pitchFamily="2" charset="-122"/>
              </a:rPr>
              <a:t>请</a:t>
            </a:r>
            <a:r>
              <a:rPr lang="zh-CN" altLang="en-US" sz="1310" dirty="0">
                <a:ea typeface="宋体" pitchFamily="2" charset="-122"/>
              </a:rPr>
              <a:t>你同学</a:t>
            </a:r>
            <a:r>
              <a:rPr lang="zh-CN" altLang="zh-CN" sz="1310" dirty="0">
                <a:ea typeface="宋体" pitchFamily="2" charset="-122"/>
              </a:rPr>
              <a:t>吃晚饭</a:t>
            </a:r>
            <a:endParaRPr lang="zh-CN" altLang="zh-CN" sz="1515" dirty="0">
              <a:ea typeface="宋体" pitchFamily="2" charset="-122"/>
            </a:endParaRPr>
          </a:p>
          <a:p>
            <a:pPr marL="287655" lvl="1" indent="-229870">
              <a:lnSpc>
                <a:spcPct val="105000"/>
              </a:lnSpc>
              <a:spcBef>
                <a:spcPct val="40000"/>
              </a:spcBef>
              <a:buClr>
                <a:srgbClr val="00AC56"/>
              </a:buClr>
              <a:buSzTx/>
              <a:buNone/>
            </a:pPr>
            <a:r>
              <a:rPr lang="zh-CN" altLang="zh-CN" sz="1310" b="1" dirty="0">
                <a:solidFill>
                  <a:srgbClr val="339966"/>
                </a:solidFill>
                <a:ea typeface="宋体" pitchFamily="2" charset="-122"/>
              </a:rPr>
              <a:t>B.</a:t>
            </a:r>
            <a:r>
              <a:rPr lang="zh-CN" altLang="zh-CN" sz="1310" dirty="0">
                <a:solidFill>
                  <a:srgbClr val="339966"/>
                </a:solidFill>
                <a:ea typeface="宋体" pitchFamily="2" charset="-122"/>
              </a:rPr>
              <a:t>	</a:t>
            </a:r>
            <a:r>
              <a:rPr lang="zh-CN" altLang="en-US" sz="1310" dirty="0">
                <a:ea typeface="宋体" pitchFamily="2" charset="-122"/>
              </a:rPr>
              <a:t>你</a:t>
            </a:r>
            <a:r>
              <a:rPr lang="zh-CN" altLang="zh-CN" sz="1310" dirty="0">
                <a:ea typeface="宋体" pitchFamily="2" charset="-122"/>
              </a:rPr>
              <a:t>为了出版业务的需要，</a:t>
            </a:r>
            <a:r>
              <a:rPr lang="zh-CN" altLang="en-US" sz="1310" dirty="0">
                <a:ea typeface="宋体" pitchFamily="2" charset="-122"/>
              </a:rPr>
              <a:t>花</a:t>
            </a:r>
            <a:r>
              <a:rPr lang="en-US" altLang="zh-CN" sz="1310" dirty="0">
                <a:ea typeface="宋体" pitchFamily="2" charset="-122"/>
              </a:rPr>
              <a:t>¥50</a:t>
            </a:r>
            <a:r>
              <a:rPr lang="zh-CN" altLang="zh-CN" sz="1310" dirty="0">
                <a:ea typeface="宋体" pitchFamily="2" charset="-122"/>
              </a:rPr>
              <a:t>00买了一台新笔记本。这台笔记本是在</a:t>
            </a:r>
            <a:r>
              <a:rPr lang="zh-CN" altLang="en-US" sz="1310" dirty="0">
                <a:ea typeface="宋体" pitchFamily="2" charset="-122"/>
              </a:rPr>
              <a:t>美</a:t>
            </a:r>
            <a:r>
              <a:rPr lang="zh-CN" altLang="zh-CN" sz="1310" dirty="0">
                <a:ea typeface="宋体" pitchFamily="2" charset="-122"/>
              </a:rPr>
              <a:t>国制造的  </a:t>
            </a:r>
          </a:p>
          <a:p>
            <a:pPr marL="287655" lvl="1" indent="-229870">
              <a:lnSpc>
                <a:spcPct val="105000"/>
              </a:lnSpc>
              <a:spcBef>
                <a:spcPct val="40000"/>
              </a:spcBef>
              <a:buClr>
                <a:srgbClr val="00AC56"/>
              </a:buClr>
              <a:buSzTx/>
              <a:buNone/>
            </a:pPr>
            <a:r>
              <a:rPr lang="zh-CN" altLang="zh-CN" sz="1310" b="1" dirty="0">
                <a:solidFill>
                  <a:srgbClr val="339966"/>
                </a:solidFill>
                <a:ea typeface="宋体" pitchFamily="2" charset="-122"/>
              </a:rPr>
              <a:t>C.</a:t>
            </a:r>
            <a:r>
              <a:rPr lang="zh-CN" altLang="en-US" sz="1310" b="1" dirty="0">
                <a:solidFill>
                  <a:srgbClr val="339966"/>
                </a:solidFill>
                <a:ea typeface="宋体" pitchFamily="2" charset="-122"/>
              </a:rPr>
              <a:t> </a:t>
            </a:r>
            <a:r>
              <a:rPr lang="zh-CN" altLang="zh-CN" sz="1310" dirty="0">
                <a:solidFill>
                  <a:srgbClr val="339966"/>
                </a:solidFill>
                <a:ea typeface="宋体" pitchFamily="2" charset="-122"/>
              </a:rPr>
              <a:t>	</a:t>
            </a:r>
            <a:r>
              <a:rPr lang="zh-CN" altLang="en-US" sz="1310" dirty="0">
                <a:ea typeface="宋体" pitchFamily="2" charset="-122"/>
              </a:rPr>
              <a:t>你</a:t>
            </a:r>
            <a:r>
              <a:rPr lang="zh-CN" altLang="zh-CN" sz="1310" dirty="0">
                <a:ea typeface="宋体" pitchFamily="2" charset="-122"/>
              </a:rPr>
              <a:t>为了编辑业务的需要花了</a:t>
            </a:r>
            <a:r>
              <a:rPr lang="en-US" altLang="zh-CN" sz="1310" dirty="0">
                <a:ea typeface="宋体" pitchFamily="2" charset="-122"/>
              </a:rPr>
              <a:t>¥50</a:t>
            </a:r>
            <a:r>
              <a:rPr lang="zh-CN" altLang="zh-CN" sz="1310" dirty="0">
                <a:ea typeface="宋体" pitchFamily="2" charset="-122"/>
              </a:rPr>
              <a:t>00购买一台新电脑，这台电脑是由本地的制造商在去年生产的  </a:t>
            </a:r>
          </a:p>
          <a:p>
            <a:pPr marL="287655" lvl="1" indent="-229870">
              <a:lnSpc>
                <a:spcPct val="105000"/>
              </a:lnSpc>
              <a:spcBef>
                <a:spcPct val="40000"/>
              </a:spcBef>
              <a:buClr>
                <a:srgbClr val="00AC56"/>
              </a:buClr>
              <a:buSzTx/>
              <a:buNone/>
            </a:pPr>
            <a:r>
              <a:rPr lang="zh-CN" altLang="zh-CN" sz="1310" b="1" dirty="0">
                <a:solidFill>
                  <a:srgbClr val="339966"/>
                </a:solidFill>
                <a:ea typeface="宋体" pitchFamily="2" charset="-122"/>
              </a:rPr>
              <a:t>D.</a:t>
            </a:r>
            <a:r>
              <a:rPr lang="zh-CN" altLang="zh-CN" sz="1310" dirty="0">
                <a:solidFill>
                  <a:srgbClr val="339966"/>
                </a:solidFill>
                <a:ea typeface="宋体" pitchFamily="2" charset="-122"/>
              </a:rPr>
              <a:t>	</a:t>
            </a:r>
            <a:r>
              <a:rPr lang="zh-CN" altLang="zh-CN" sz="1310" dirty="0">
                <a:ea typeface="宋体" pitchFamily="2" charset="-122"/>
              </a:rPr>
              <a:t>通用汽车公司</a:t>
            </a:r>
            <a:r>
              <a:rPr lang="zh-CN" altLang="en-US" sz="1310" dirty="0">
                <a:ea typeface="宋体" pitchFamily="2" charset="-122"/>
              </a:rPr>
              <a:t>在中国</a:t>
            </a:r>
            <a:r>
              <a:rPr lang="zh-CN" altLang="zh-CN" sz="1310" dirty="0">
                <a:ea typeface="宋体" pitchFamily="2" charset="-122"/>
              </a:rPr>
              <a:t>生产了价值5亿美元的汽车，但消费者只购买了价值4.7亿美元的汽车</a:t>
            </a:r>
          </a:p>
        </p:txBody>
      </p:sp>
      <p:sp>
        <p:nvSpPr>
          <p:cNvPr id="41987"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41988"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en-US"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1</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en-US" altLang="zh-CN" sz="1615">
                <a:solidFill>
                  <a:srgbClr val="339966"/>
                </a:solidFill>
                <a:effectLst>
                  <a:outerShdw blurRad="38100" dist="38100" dir="2700000" algn="tl">
                    <a:srgbClr val="C0C0C0"/>
                  </a:outerShdw>
                </a:effectLst>
                <a:ea typeface="宋体" pitchFamily="2" charset="-122"/>
              </a:rPr>
              <a:t>GDP</a:t>
            </a:r>
            <a:r>
              <a:rPr lang="zh-CN" altLang="zh-CN" sz="1615">
                <a:solidFill>
                  <a:srgbClr val="339966"/>
                </a:solidFill>
                <a:effectLst>
                  <a:outerShdw blurRad="38100" dist="38100" dir="2700000" algn="tl">
                    <a:srgbClr val="C0C0C0"/>
                  </a:outerShdw>
                </a:effectLst>
                <a:ea typeface="宋体" pitchFamily="2" charset="-122"/>
              </a:rPr>
              <a:t>及其组成部分</a:t>
            </a:r>
          </a:p>
        </p:txBody>
      </p:sp>
      <p:grpSp>
        <p:nvGrpSpPr>
          <p:cNvPr id="41989" name="Group 5"/>
          <p:cNvGrpSpPr/>
          <p:nvPr/>
        </p:nvGrpSpPr>
        <p:grpSpPr bwMode="auto">
          <a:xfrm>
            <a:off x="299336" y="148055"/>
            <a:ext cx="4139486" cy="529041"/>
            <a:chOff x="0" y="0"/>
            <a:chExt cx="5000" cy="661"/>
          </a:xfrm>
        </p:grpSpPr>
        <p:sp>
          <p:nvSpPr>
            <p:cNvPr id="41990"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1991"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Tree>
  </p:cSld>
  <p:clrMapOvr>
    <a:masterClrMapping/>
  </p:clrMapOvr>
  <p:transition spd="med">
    <p:diamon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xfrm>
            <a:off x="300937" y="765135"/>
            <a:ext cx="4143488" cy="2275437"/>
          </a:xfrm>
        </p:spPr>
        <p:txBody>
          <a:bodyPr/>
          <a:lstStyle/>
          <a:p>
            <a:pPr marL="233680" indent="-233680">
              <a:spcBef>
                <a:spcPct val="40000"/>
              </a:spcBef>
              <a:buClr>
                <a:srgbClr val="00AC56"/>
              </a:buClr>
              <a:buSzTx/>
              <a:buNone/>
            </a:pPr>
            <a:r>
              <a:rPr lang="zh-CN" altLang="zh-CN" sz="1310" b="1" dirty="0">
                <a:solidFill>
                  <a:srgbClr val="339966"/>
                </a:solidFill>
                <a:ea typeface="宋体" pitchFamily="2" charset="-122"/>
              </a:rPr>
              <a:t>A.</a:t>
            </a:r>
            <a:r>
              <a:rPr lang="zh-CN" altLang="en-US" sz="1310" b="1" dirty="0">
                <a:solidFill>
                  <a:srgbClr val="339966"/>
                </a:solidFill>
                <a:ea typeface="宋体" pitchFamily="2" charset="-122"/>
              </a:rPr>
              <a:t> </a:t>
            </a:r>
            <a:r>
              <a:rPr lang="zh-CN" altLang="en-US" sz="1310" dirty="0">
                <a:ea typeface="宋体" pitchFamily="2" charset="-122"/>
              </a:rPr>
              <a:t>你</a:t>
            </a:r>
            <a:r>
              <a:rPr lang="zh-CN" altLang="zh-CN" sz="1310" dirty="0">
                <a:ea typeface="宋体" pitchFamily="2" charset="-122"/>
              </a:rPr>
              <a:t>在</a:t>
            </a:r>
            <a:r>
              <a:rPr lang="zh-CN" altLang="en-US" sz="1310" dirty="0">
                <a:ea typeface="宋体" pitchFamily="2" charset="-122"/>
              </a:rPr>
              <a:t>上海</a:t>
            </a:r>
            <a:r>
              <a:rPr lang="zh-CN" altLang="zh-CN" sz="1310" dirty="0">
                <a:ea typeface="宋体" pitchFamily="2" charset="-122"/>
              </a:rPr>
              <a:t>最好的饭店花了</a:t>
            </a:r>
            <a:r>
              <a:rPr lang="en-US" altLang="zh-CN" sz="1310" dirty="0">
                <a:ea typeface="宋体" pitchFamily="2" charset="-122"/>
              </a:rPr>
              <a:t>¥</a:t>
            </a:r>
            <a:r>
              <a:rPr lang="zh-CN" altLang="zh-CN" sz="1310" dirty="0">
                <a:ea typeface="宋体" pitchFamily="2" charset="-122"/>
              </a:rPr>
              <a:t>200</a:t>
            </a:r>
            <a:r>
              <a:rPr lang="en-US" altLang="zh-CN" sz="1310" dirty="0">
                <a:ea typeface="宋体" pitchFamily="2" charset="-122"/>
              </a:rPr>
              <a:t>0</a:t>
            </a:r>
            <a:r>
              <a:rPr lang="zh-CN" altLang="zh-CN" sz="1310" dirty="0">
                <a:ea typeface="宋体" pitchFamily="2" charset="-122"/>
              </a:rPr>
              <a:t>请</a:t>
            </a:r>
            <a:r>
              <a:rPr lang="zh-CN" altLang="en-US" sz="1310" dirty="0">
                <a:ea typeface="宋体" pitchFamily="2" charset="-122"/>
              </a:rPr>
              <a:t>你同学</a:t>
            </a:r>
            <a:r>
              <a:rPr lang="zh-CN" altLang="zh-CN" sz="1310" dirty="0">
                <a:ea typeface="宋体" pitchFamily="2" charset="-122"/>
              </a:rPr>
              <a:t>吃晚饭</a:t>
            </a:r>
            <a:endParaRPr lang="zh-CN" altLang="zh-CN" dirty="0">
              <a:ea typeface="宋体" pitchFamily="2" charset="-122"/>
            </a:endParaRPr>
          </a:p>
          <a:p>
            <a:pPr marL="233680" indent="-233680">
              <a:spcBef>
                <a:spcPct val="40000"/>
              </a:spcBef>
              <a:buClr>
                <a:srgbClr val="00AC56"/>
              </a:buClr>
              <a:buSzTx/>
              <a:buNone/>
            </a:pPr>
            <a:r>
              <a:rPr lang="zh-CN" altLang="zh-CN" dirty="0">
                <a:solidFill>
                  <a:srgbClr val="CC0000"/>
                </a:solidFill>
                <a:ea typeface="宋体" pitchFamily="2" charset="-122"/>
              </a:rPr>
              <a:t>	消费和 GDP都增加了200</a:t>
            </a:r>
            <a:r>
              <a:rPr lang="en-US" altLang="zh-CN" dirty="0">
                <a:solidFill>
                  <a:srgbClr val="CC0000"/>
                </a:solidFill>
                <a:ea typeface="宋体" pitchFamily="2" charset="-122"/>
              </a:rPr>
              <a:t>0</a:t>
            </a:r>
            <a:r>
              <a:rPr lang="zh-CN" altLang="zh-CN" dirty="0">
                <a:solidFill>
                  <a:srgbClr val="CC0000"/>
                </a:solidFill>
                <a:ea typeface="宋体" pitchFamily="2" charset="-122"/>
              </a:rPr>
              <a:t>元 </a:t>
            </a:r>
          </a:p>
          <a:p>
            <a:pPr marL="233680" indent="-233680">
              <a:spcBef>
                <a:spcPct val="80000"/>
              </a:spcBef>
              <a:buClr>
                <a:srgbClr val="00AC56"/>
              </a:buClr>
              <a:buSzTx/>
              <a:buNone/>
            </a:pPr>
            <a:r>
              <a:rPr lang="zh-CN" altLang="zh-CN" sz="1310" b="1" dirty="0">
                <a:solidFill>
                  <a:srgbClr val="339966"/>
                </a:solidFill>
                <a:ea typeface="宋体" pitchFamily="2" charset="-122"/>
              </a:rPr>
              <a:t>B.</a:t>
            </a:r>
            <a:r>
              <a:rPr lang="zh-CN" altLang="zh-CN" sz="1310" dirty="0">
                <a:solidFill>
                  <a:srgbClr val="339966"/>
                </a:solidFill>
                <a:ea typeface="宋体" pitchFamily="2" charset="-122"/>
              </a:rPr>
              <a:t>	</a:t>
            </a:r>
            <a:r>
              <a:rPr lang="zh-CN" altLang="en-US" sz="1310" dirty="0">
                <a:ea typeface="宋体" pitchFamily="2" charset="-122"/>
              </a:rPr>
              <a:t>你</a:t>
            </a:r>
            <a:r>
              <a:rPr lang="zh-CN" altLang="zh-CN" sz="1310" dirty="0">
                <a:ea typeface="宋体" pitchFamily="2" charset="-122"/>
              </a:rPr>
              <a:t>为了出版业务的需要，</a:t>
            </a:r>
            <a:r>
              <a:rPr lang="zh-CN" altLang="en-US" sz="1310" dirty="0">
                <a:ea typeface="宋体" pitchFamily="2" charset="-122"/>
              </a:rPr>
              <a:t>花</a:t>
            </a:r>
            <a:r>
              <a:rPr lang="en-US" altLang="zh-CN" sz="1310" dirty="0">
                <a:ea typeface="宋体" pitchFamily="2" charset="-122"/>
              </a:rPr>
              <a:t>¥50</a:t>
            </a:r>
            <a:r>
              <a:rPr lang="zh-CN" altLang="zh-CN" sz="1310" dirty="0">
                <a:ea typeface="宋体" pitchFamily="2" charset="-122"/>
              </a:rPr>
              <a:t>00买了一台新笔记本。这台笔记本是在</a:t>
            </a:r>
            <a:r>
              <a:rPr lang="zh-CN" altLang="en-US" sz="1310" dirty="0">
                <a:ea typeface="宋体" pitchFamily="2" charset="-122"/>
              </a:rPr>
              <a:t>美</a:t>
            </a:r>
            <a:r>
              <a:rPr lang="zh-CN" altLang="zh-CN" sz="1310" dirty="0">
                <a:ea typeface="宋体" pitchFamily="2" charset="-122"/>
              </a:rPr>
              <a:t>国制造的 </a:t>
            </a:r>
            <a:endParaRPr lang="zh-CN" altLang="zh-CN" dirty="0">
              <a:ea typeface="宋体" pitchFamily="2" charset="-122"/>
            </a:endParaRPr>
          </a:p>
          <a:p>
            <a:pPr marL="233680" indent="-233680">
              <a:spcBef>
                <a:spcPct val="40000"/>
              </a:spcBef>
              <a:buClr>
                <a:srgbClr val="00AC56"/>
              </a:buClr>
              <a:buSzTx/>
              <a:buNone/>
            </a:pPr>
            <a:r>
              <a:rPr lang="zh-CN" altLang="zh-CN" i="1" dirty="0">
                <a:solidFill>
                  <a:srgbClr val="CC0000"/>
                </a:solidFill>
                <a:ea typeface="宋体" pitchFamily="2" charset="-122"/>
              </a:rPr>
              <a:t>	</a:t>
            </a:r>
            <a:r>
              <a:rPr lang="zh-CN" altLang="zh-CN" dirty="0">
                <a:solidFill>
                  <a:srgbClr val="CC0000"/>
                </a:solidFill>
                <a:ea typeface="宋体" pitchFamily="2" charset="-122"/>
              </a:rPr>
              <a:t>投资增加</a:t>
            </a:r>
            <a:r>
              <a:rPr lang="en-US" altLang="zh-CN" dirty="0">
                <a:solidFill>
                  <a:srgbClr val="CC0000"/>
                </a:solidFill>
                <a:ea typeface="宋体" pitchFamily="2" charset="-122"/>
              </a:rPr>
              <a:t>5000</a:t>
            </a:r>
            <a:r>
              <a:rPr lang="zh-CN" altLang="zh-CN" dirty="0">
                <a:solidFill>
                  <a:srgbClr val="CC0000"/>
                </a:solidFill>
                <a:ea typeface="宋体" pitchFamily="2" charset="-122"/>
              </a:rPr>
              <a:t>元，净出口减少</a:t>
            </a:r>
            <a:r>
              <a:rPr lang="en-US" altLang="zh-CN" dirty="0">
                <a:solidFill>
                  <a:srgbClr val="CC0000"/>
                </a:solidFill>
                <a:ea typeface="宋体" pitchFamily="2" charset="-122"/>
              </a:rPr>
              <a:t>5000</a:t>
            </a:r>
            <a:r>
              <a:rPr lang="zh-CN" altLang="zh-CN" dirty="0">
                <a:solidFill>
                  <a:srgbClr val="CC0000"/>
                </a:solidFill>
                <a:ea typeface="宋体" pitchFamily="2" charset="-122"/>
              </a:rPr>
              <a:t>元, GDP 不变</a:t>
            </a:r>
            <a:endParaRPr lang="zh-CN" altLang="zh-CN" dirty="0">
              <a:ea typeface="宋体" pitchFamily="2" charset="-122"/>
            </a:endParaRPr>
          </a:p>
        </p:txBody>
      </p:sp>
      <p:sp>
        <p:nvSpPr>
          <p:cNvPr id="44035"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44036"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en-US"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1</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p>
        </p:txBody>
      </p:sp>
      <p:grpSp>
        <p:nvGrpSpPr>
          <p:cNvPr id="44037" name="Group 5"/>
          <p:cNvGrpSpPr/>
          <p:nvPr/>
        </p:nvGrpSpPr>
        <p:grpSpPr bwMode="auto">
          <a:xfrm>
            <a:off x="299336" y="148055"/>
            <a:ext cx="4139486" cy="529041"/>
            <a:chOff x="0" y="0"/>
            <a:chExt cx="5000" cy="661"/>
          </a:xfrm>
        </p:grpSpPr>
        <p:sp>
          <p:nvSpPr>
            <p:cNvPr id="44038"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4039"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44040" name="Rectangle 8"/>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4D87A883-DF44-FD43-99DF-EF752649EE0A}" type="slidenum">
              <a:rPr lang="zh-CN" altLang="zh-CN" sz="855">
                <a:solidFill>
                  <a:srgbClr val="777777"/>
                </a:solidFill>
                <a:latin typeface="Tahoma" panose="020B0604030504040204" pitchFamily="34" charset="0"/>
                <a:ea typeface="宋体" pitchFamily="2" charset="-122"/>
              </a:rPr>
              <a:t>44</a:t>
            </a:fld>
            <a:endParaRPr lang="en-US" altLang="zh-CN" sz="855">
              <a:solidFill>
                <a:srgbClr val="777777"/>
              </a:solidFill>
              <a:latin typeface="Tahoma" panose="020B0604030504040204" pitchFamily="34" charset="0"/>
              <a:ea typeface="宋体" pitchFamily="2" charset="-122"/>
            </a:endParaRPr>
          </a:p>
        </p:txBody>
      </p:sp>
    </p:spTree>
  </p:cSld>
  <p:clrMapOvr>
    <a:masterClrMapping/>
  </p:clrMapOvr>
  <p:transition spd="med">
    <p:diamon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300937" y="714713"/>
            <a:ext cx="4143488" cy="2639602"/>
          </a:xfrm>
        </p:spPr>
        <p:txBody>
          <a:bodyPr/>
          <a:lstStyle/>
          <a:p>
            <a:pPr marL="233680" indent="-233680">
              <a:spcBef>
                <a:spcPct val="40000"/>
              </a:spcBef>
              <a:buClr>
                <a:srgbClr val="00AC56"/>
              </a:buClr>
              <a:buSzTx/>
              <a:buNone/>
            </a:pPr>
            <a:r>
              <a:rPr lang="zh-CN" altLang="zh-CN" sz="1310" b="1" dirty="0">
                <a:solidFill>
                  <a:srgbClr val="339966"/>
                </a:solidFill>
                <a:ea typeface="宋体" pitchFamily="2" charset="-122"/>
              </a:rPr>
              <a:t>C.</a:t>
            </a:r>
            <a:r>
              <a:rPr lang="zh-CN" altLang="zh-CN" sz="1310" dirty="0">
                <a:solidFill>
                  <a:srgbClr val="339966"/>
                </a:solidFill>
                <a:ea typeface="宋体" pitchFamily="2" charset="-122"/>
              </a:rPr>
              <a:t>	</a:t>
            </a:r>
            <a:r>
              <a:rPr lang="zh-CN" altLang="en-US" sz="1310" dirty="0">
                <a:solidFill>
                  <a:srgbClr val="339966"/>
                </a:solidFill>
                <a:ea typeface="宋体" pitchFamily="2" charset="-122"/>
              </a:rPr>
              <a:t> </a:t>
            </a:r>
            <a:r>
              <a:rPr lang="zh-CN" altLang="en-US" sz="1310" dirty="0">
                <a:ea typeface="宋体" pitchFamily="2" charset="-122"/>
              </a:rPr>
              <a:t>你</a:t>
            </a:r>
            <a:r>
              <a:rPr lang="zh-CN" altLang="zh-CN" sz="1310" dirty="0">
                <a:ea typeface="宋体" pitchFamily="2" charset="-122"/>
              </a:rPr>
              <a:t>为了编辑业务的需要花了</a:t>
            </a:r>
            <a:r>
              <a:rPr lang="en-US" altLang="zh-CN" sz="1310" dirty="0">
                <a:ea typeface="宋体" pitchFamily="2" charset="-122"/>
              </a:rPr>
              <a:t>¥50</a:t>
            </a:r>
            <a:r>
              <a:rPr lang="zh-CN" altLang="zh-CN" sz="1310" dirty="0">
                <a:ea typeface="宋体" pitchFamily="2" charset="-122"/>
              </a:rPr>
              <a:t>00购买一台新电脑，这台电脑是由本地的制造商在去年生产的 </a:t>
            </a:r>
            <a:endParaRPr lang="zh-CN" altLang="zh-CN" dirty="0">
              <a:ea typeface="宋体" pitchFamily="2" charset="-122"/>
            </a:endParaRPr>
          </a:p>
          <a:p>
            <a:pPr marL="233680" indent="-233680">
              <a:spcBef>
                <a:spcPct val="30000"/>
              </a:spcBef>
              <a:buClr>
                <a:srgbClr val="00AC56"/>
              </a:buClr>
              <a:buSzTx/>
              <a:buNone/>
            </a:pPr>
            <a:r>
              <a:rPr lang="zh-CN" altLang="zh-CN" i="1" dirty="0">
                <a:solidFill>
                  <a:srgbClr val="CC0000"/>
                </a:solidFill>
                <a:ea typeface="宋体" pitchFamily="2" charset="-122"/>
              </a:rPr>
              <a:t>	</a:t>
            </a:r>
            <a:r>
              <a:rPr lang="zh-CN" altLang="zh-CN" dirty="0">
                <a:solidFill>
                  <a:srgbClr val="CC0000"/>
                </a:solidFill>
                <a:ea typeface="宋体" pitchFamily="2" charset="-122"/>
              </a:rPr>
              <a:t>当前的GDP与投资都不变，因为电脑是在去年生产出来的</a:t>
            </a:r>
          </a:p>
          <a:p>
            <a:pPr marL="233680" indent="-233680">
              <a:spcBef>
                <a:spcPct val="75000"/>
              </a:spcBef>
              <a:buClr>
                <a:srgbClr val="00AC56"/>
              </a:buClr>
              <a:buSzTx/>
              <a:buNone/>
            </a:pPr>
            <a:r>
              <a:rPr lang="zh-CN" altLang="zh-CN" sz="1310" b="1" dirty="0">
                <a:solidFill>
                  <a:srgbClr val="339966"/>
                </a:solidFill>
                <a:ea typeface="宋体" pitchFamily="2" charset="-122"/>
              </a:rPr>
              <a:t>D.</a:t>
            </a:r>
            <a:r>
              <a:rPr lang="zh-CN" altLang="zh-CN" sz="1310" dirty="0">
                <a:solidFill>
                  <a:srgbClr val="339966"/>
                </a:solidFill>
                <a:ea typeface="宋体" pitchFamily="2" charset="-122"/>
              </a:rPr>
              <a:t>	</a:t>
            </a:r>
            <a:r>
              <a:rPr lang="zh-CN" altLang="zh-CN" sz="1310" dirty="0">
                <a:ea typeface="宋体" pitchFamily="2" charset="-122"/>
              </a:rPr>
              <a:t>通用汽车公司</a:t>
            </a:r>
            <a:r>
              <a:rPr lang="zh-CN" altLang="en-US" sz="1310" dirty="0">
                <a:ea typeface="宋体" pitchFamily="2" charset="-122"/>
              </a:rPr>
              <a:t>在中国</a:t>
            </a:r>
            <a:r>
              <a:rPr lang="zh-CN" altLang="zh-CN" sz="1310" dirty="0">
                <a:ea typeface="宋体" pitchFamily="2" charset="-122"/>
              </a:rPr>
              <a:t>生产了价值5亿美元的汽车，但消费者只购买了价值4.7亿美元的汽车</a:t>
            </a:r>
          </a:p>
          <a:p>
            <a:pPr marL="233680" indent="-233680">
              <a:spcBef>
                <a:spcPct val="30000"/>
              </a:spcBef>
              <a:buClr>
                <a:srgbClr val="00AC56"/>
              </a:buClr>
              <a:buSzTx/>
              <a:buNone/>
            </a:pPr>
            <a:r>
              <a:rPr lang="zh-CN" altLang="zh-CN" dirty="0">
                <a:solidFill>
                  <a:srgbClr val="CC0000"/>
                </a:solidFill>
                <a:ea typeface="宋体" pitchFamily="2" charset="-122"/>
              </a:rPr>
              <a:t>	消费增加4.7亿美元，存货投资增加0.3亿，GDP 增加5亿美元</a:t>
            </a:r>
          </a:p>
        </p:txBody>
      </p:sp>
      <p:sp>
        <p:nvSpPr>
          <p:cNvPr id="46083"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46084"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en-US"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1</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p>
        </p:txBody>
      </p:sp>
      <p:grpSp>
        <p:nvGrpSpPr>
          <p:cNvPr id="46085" name="Group 5"/>
          <p:cNvGrpSpPr/>
          <p:nvPr/>
        </p:nvGrpSpPr>
        <p:grpSpPr bwMode="auto">
          <a:xfrm>
            <a:off x="299336" y="148055"/>
            <a:ext cx="4139486" cy="529041"/>
            <a:chOff x="0" y="0"/>
            <a:chExt cx="5000" cy="661"/>
          </a:xfrm>
        </p:grpSpPr>
        <p:sp>
          <p:nvSpPr>
            <p:cNvPr id="46086"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6087"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46088" name="Rectangle 8"/>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4C9D8CE9-9070-C340-8541-9AD7B8208DFE}" type="slidenum">
              <a:rPr lang="zh-CN" altLang="zh-CN" sz="855">
                <a:solidFill>
                  <a:srgbClr val="777777"/>
                </a:solidFill>
                <a:latin typeface="Tahoma" panose="020B0604030504040204" pitchFamily="34" charset="0"/>
                <a:ea typeface="宋体" pitchFamily="2" charset="-122"/>
              </a:rPr>
              <a:t>45</a:t>
            </a:fld>
            <a:endParaRPr lang="en-US" altLang="zh-CN" sz="855">
              <a:solidFill>
                <a:srgbClr val="777777"/>
              </a:solidFill>
              <a:latin typeface="Tahoma" panose="020B0604030504040204" pitchFamily="34" charset="0"/>
              <a:ea typeface="宋体" pitchFamily="2" charset="-122"/>
            </a:endParaRPr>
          </a:p>
        </p:txBody>
      </p:sp>
    </p:spTree>
  </p:cSld>
  <p:clrMapOvr>
    <a:masterClrMapping/>
  </p:clrMapOvr>
  <p:transition spd="med">
    <p:diamon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B9530E-91F6-07C3-B27A-DD352B916EA8}"/>
              </a:ext>
            </a:extLst>
          </p:cNvPr>
          <p:cNvSpPr>
            <a:spLocks noGrp="1"/>
          </p:cNvSpPr>
          <p:nvPr>
            <p:ph type="title"/>
          </p:nvPr>
        </p:nvSpPr>
        <p:spPr/>
        <p:txBody>
          <a:bodyPr/>
          <a:lstStyle/>
          <a:p>
            <a:r>
              <a:rPr kumimoji="1" lang="zh-CN" altLang="en-US" dirty="0"/>
              <a:t>历史真题</a:t>
            </a:r>
          </a:p>
        </p:txBody>
      </p:sp>
      <p:sp>
        <p:nvSpPr>
          <p:cNvPr id="3" name="内容占位符 2">
            <a:extLst>
              <a:ext uri="{FF2B5EF4-FFF2-40B4-BE49-F238E27FC236}">
                <a16:creationId xmlns:a16="http://schemas.microsoft.com/office/drawing/2014/main" id="{4593E1E8-BEDD-A92F-0656-69F088CE632A}"/>
              </a:ext>
            </a:extLst>
          </p:cNvPr>
          <p:cNvSpPr>
            <a:spLocks noGrp="1"/>
          </p:cNvSpPr>
          <p:nvPr>
            <p:ph idx="1"/>
          </p:nvPr>
        </p:nvSpPr>
        <p:spPr/>
        <p:txBody>
          <a:bodyPr/>
          <a:lstStyle/>
          <a:p>
            <a:endParaRPr kumimoji="1" lang="zh-CN" altLang="en-US"/>
          </a:p>
        </p:txBody>
      </p:sp>
      <p:sp>
        <p:nvSpPr>
          <p:cNvPr id="4" name="页脚占位符 3">
            <a:extLst>
              <a:ext uri="{FF2B5EF4-FFF2-40B4-BE49-F238E27FC236}">
                <a16:creationId xmlns:a16="http://schemas.microsoft.com/office/drawing/2014/main" id="{0DEA4892-FA7C-0A7E-E07E-E2EEEFCB0398}"/>
              </a:ext>
            </a:extLst>
          </p:cNvPr>
          <p:cNvSpPr>
            <a:spLocks noGrp="1"/>
          </p:cNvSpPr>
          <p:nvPr>
            <p:ph type="ftr" sz="quarter" idx="10"/>
          </p:nvPr>
        </p:nvSpPr>
        <p:spPr/>
        <p:txBody>
          <a:bodyPr/>
          <a:lstStyle/>
          <a:p>
            <a:r>
              <a:rPr lang="zh-CN" altLang="zh-CN"/>
              <a:t>一国收入的衡量</a:t>
            </a:r>
          </a:p>
        </p:txBody>
      </p:sp>
      <p:sp>
        <p:nvSpPr>
          <p:cNvPr id="5" name="灯片编号占位符 4">
            <a:extLst>
              <a:ext uri="{FF2B5EF4-FFF2-40B4-BE49-F238E27FC236}">
                <a16:creationId xmlns:a16="http://schemas.microsoft.com/office/drawing/2014/main" id="{C160FA34-FBB0-3A1C-F496-A0A7686B15F9}"/>
              </a:ext>
            </a:extLst>
          </p:cNvPr>
          <p:cNvSpPr>
            <a:spLocks noGrp="1"/>
          </p:cNvSpPr>
          <p:nvPr>
            <p:ph type="sldNum" sz="quarter" idx="11"/>
          </p:nvPr>
        </p:nvSpPr>
        <p:spPr/>
        <p:txBody>
          <a:bodyPr/>
          <a:lstStyle/>
          <a:p>
            <a:fld id="{FF75CA96-F32A-7F4F-98C9-CA940BD9BB90}" type="slidenum">
              <a:rPr lang="zh-CN" altLang="zh-CN" smtClean="0"/>
              <a:t>46</a:t>
            </a:fld>
            <a:endParaRPr lang="en-US" altLang="zh-CN"/>
          </a:p>
        </p:txBody>
      </p:sp>
      <p:pic>
        <p:nvPicPr>
          <p:cNvPr id="6" name="图片 5">
            <a:extLst>
              <a:ext uri="{FF2B5EF4-FFF2-40B4-BE49-F238E27FC236}">
                <a16:creationId xmlns:a16="http://schemas.microsoft.com/office/drawing/2014/main" id="{86781D73-60FF-D805-25A2-BFF15F943727}"/>
              </a:ext>
            </a:extLst>
          </p:cNvPr>
          <p:cNvPicPr>
            <a:picLocks noChangeAspect="1"/>
          </p:cNvPicPr>
          <p:nvPr/>
        </p:nvPicPr>
        <p:blipFill>
          <a:blip r:embed="rId2"/>
          <a:stretch>
            <a:fillRect/>
          </a:stretch>
        </p:blipFill>
        <p:spPr>
          <a:xfrm>
            <a:off x="10734" y="482581"/>
            <a:ext cx="4610100" cy="1365956"/>
          </a:xfrm>
          <a:prstGeom prst="rect">
            <a:avLst/>
          </a:prstGeom>
        </p:spPr>
      </p:pic>
    </p:spTree>
    <p:extLst>
      <p:ext uri="{BB962C8B-B14F-4D97-AF65-F5344CB8AC3E}">
        <p14:creationId xmlns:p14="http://schemas.microsoft.com/office/powerpoint/2010/main" val="17314315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2C812E66-A1C0-CF4F-8EDA-1423B9FF8263}" type="slidenum">
              <a:rPr lang="zh-CN" altLang="zh-CN">
                <a:latin typeface="Arial" panose="020B0604020202090204" pitchFamily="34" charset="0"/>
              </a:rPr>
              <a:t>47</a:t>
            </a:fld>
            <a:endParaRPr lang="en-US" altLang="zh-CN">
              <a:latin typeface="Arial" panose="020B0604020202090204" pitchFamily="34" charset="0"/>
            </a:endParaRPr>
          </a:p>
        </p:txBody>
      </p:sp>
      <p:sp>
        <p:nvSpPr>
          <p:cNvPr id="48130" name="Rectangle 2"/>
          <p:cNvSpPr>
            <a:spLocks noGrp="1" noChangeArrowheads="1"/>
          </p:cNvSpPr>
          <p:nvPr>
            <p:ph type="title" idx="4294967295"/>
          </p:nvPr>
        </p:nvSpPr>
        <p:spPr>
          <a:xfrm>
            <a:off x="113652" y="140051"/>
            <a:ext cx="4397203" cy="432997"/>
          </a:xfrm>
        </p:spPr>
        <p:txBody>
          <a:bodyPr/>
          <a:lstStyle/>
          <a:p>
            <a:r>
              <a:rPr lang="zh-CN" altLang="zh-CN" sz="1815">
                <a:ea typeface="宋体" pitchFamily="2" charset="-122"/>
              </a:rPr>
              <a:t>真实</a:t>
            </a:r>
            <a:r>
              <a:rPr lang="en-US" altLang="zh-CN" sz="1815">
                <a:ea typeface="宋体" pitchFamily="2" charset="-122"/>
              </a:rPr>
              <a:t>GDP</a:t>
            </a:r>
            <a:r>
              <a:rPr lang="zh-CN" altLang="zh-CN" sz="1815">
                <a:ea typeface="宋体" pitchFamily="2" charset="-122"/>
              </a:rPr>
              <a:t>与名义</a:t>
            </a:r>
            <a:r>
              <a:rPr lang="en-US" altLang="zh-CN" sz="1815">
                <a:ea typeface="宋体" pitchFamily="2" charset="-122"/>
              </a:rPr>
              <a:t>GDP</a:t>
            </a:r>
            <a:endParaRPr lang="zh-CN" altLang="zh-CN" sz="1815">
              <a:ea typeface="宋体" pitchFamily="2" charset="-122"/>
            </a:endParaRPr>
          </a:p>
        </p:txBody>
      </p:sp>
      <p:sp>
        <p:nvSpPr>
          <p:cNvPr id="48131" name="Rectangle 3"/>
          <p:cNvSpPr>
            <a:spLocks noGrp="1" noChangeArrowheads="1"/>
          </p:cNvSpPr>
          <p:nvPr>
            <p:ph type="body" idx="4294967295"/>
          </p:nvPr>
        </p:nvSpPr>
        <p:spPr>
          <a:xfrm>
            <a:off x="196890" y="624272"/>
            <a:ext cx="4206716" cy="2419502"/>
          </a:xfrm>
        </p:spPr>
        <p:txBody>
          <a:bodyPr/>
          <a:lstStyle/>
          <a:p>
            <a:pPr>
              <a:spcBef>
                <a:spcPct val="50000"/>
              </a:spcBef>
            </a:pPr>
            <a:r>
              <a:rPr lang="zh-CN" altLang="zh-CN">
                <a:ea typeface="宋体" pitchFamily="2" charset="-122"/>
              </a:rPr>
              <a:t>通货膨胀会扭曲像GDP这样的经济变量，因此我们有两种类型的GDP：</a:t>
            </a:r>
          </a:p>
          <a:p>
            <a:pPr>
              <a:spcBef>
                <a:spcPct val="50000"/>
              </a:spcBef>
              <a:buFont typeface="Wingdings" panose="05000000000000000000" pitchFamily="2" charset="2"/>
              <a:buNone/>
            </a:pPr>
            <a:r>
              <a:rPr lang="zh-CN" altLang="zh-CN">
                <a:ea typeface="宋体" pitchFamily="2" charset="-122"/>
              </a:rPr>
              <a:t>   一种是经过通货膨胀校正，另一种则没有  </a:t>
            </a:r>
          </a:p>
          <a:p>
            <a:pPr>
              <a:spcBef>
                <a:spcPct val="50000"/>
              </a:spcBef>
            </a:pPr>
            <a:r>
              <a:rPr lang="zh-CN" altLang="zh-CN" b="1">
                <a:solidFill>
                  <a:srgbClr val="CC0000"/>
                </a:solidFill>
                <a:ea typeface="宋体" pitchFamily="2" charset="-122"/>
              </a:rPr>
              <a:t>名义GDP</a:t>
            </a:r>
            <a:r>
              <a:rPr lang="zh-CN" altLang="zh-CN">
                <a:solidFill>
                  <a:srgbClr val="CC0000"/>
                </a:solidFill>
                <a:ea typeface="宋体" pitchFamily="2" charset="-122"/>
              </a:rPr>
              <a:t> </a:t>
            </a:r>
            <a:r>
              <a:rPr lang="zh-CN" altLang="zh-CN">
                <a:ea typeface="宋体" pitchFamily="2" charset="-122"/>
              </a:rPr>
              <a:t>按现期价格评价的物品与劳务的生产，它没有经过通货膨胀校正  </a:t>
            </a:r>
          </a:p>
          <a:p>
            <a:pPr>
              <a:spcBef>
                <a:spcPct val="50000"/>
              </a:spcBef>
            </a:pPr>
            <a:r>
              <a:rPr lang="zh-CN" altLang="zh-CN" b="1">
                <a:solidFill>
                  <a:srgbClr val="CC0000"/>
                </a:solidFill>
                <a:ea typeface="宋体" pitchFamily="2" charset="-122"/>
              </a:rPr>
              <a:t>真实 GDP</a:t>
            </a:r>
            <a:r>
              <a:rPr lang="zh-CN" altLang="zh-CN">
                <a:solidFill>
                  <a:srgbClr val="CC0000"/>
                </a:solidFill>
                <a:ea typeface="宋体" pitchFamily="2" charset="-122"/>
              </a:rPr>
              <a:t> </a:t>
            </a:r>
            <a:r>
              <a:rPr lang="zh-CN" altLang="zh-CN">
                <a:ea typeface="宋体" pitchFamily="2" charset="-122"/>
              </a:rPr>
              <a:t>按</a:t>
            </a:r>
            <a:r>
              <a:rPr lang="zh-CN" altLang="zh-CN" b="1">
                <a:solidFill>
                  <a:srgbClr val="9900CC"/>
                </a:solidFill>
                <a:ea typeface="宋体" pitchFamily="2" charset="-122"/>
              </a:rPr>
              <a:t>基年</a:t>
            </a:r>
            <a:r>
              <a:rPr lang="zh-CN" altLang="zh-CN">
                <a:ea typeface="宋体" pitchFamily="2" charset="-122"/>
              </a:rPr>
              <a:t>价格评价的物品与劳务的生产，它经过通货膨胀校正</a:t>
            </a: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E9758F20-A0B3-C546-BA48-F3BE37427D5D}" type="slidenum">
              <a:rPr lang="zh-CN" altLang="zh-CN">
                <a:latin typeface="Arial" panose="020B0604020202090204" pitchFamily="34" charset="0"/>
              </a:rPr>
              <a:t>48</a:t>
            </a:fld>
            <a:endParaRPr lang="en-US" altLang="zh-CN">
              <a:latin typeface="Arial" panose="020B0604020202090204" pitchFamily="34" charset="0"/>
            </a:endParaRPr>
          </a:p>
        </p:txBody>
      </p:sp>
      <p:sp>
        <p:nvSpPr>
          <p:cNvPr id="49154" name="Rectangle 2"/>
          <p:cNvSpPr>
            <a:spLocks noGrp="1" noChangeArrowheads="1"/>
          </p:cNvSpPr>
          <p:nvPr>
            <p:ph type="title" idx="4294967295"/>
          </p:nvPr>
        </p:nvSpPr>
        <p:spPr>
          <a:xfrm>
            <a:off x="201692" y="125644"/>
            <a:ext cx="3402350" cy="286531"/>
          </a:xfrm>
        </p:spPr>
        <p:txBody>
          <a:bodyPr/>
          <a:lstStyle/>
          <a:p>
            <a:pPr algn="l"/>
            <a:r>
              <a:rPr lang="zh-CN" altLang="zh-CN" sz="1715">
                <a:ea typeface="宋体" pitchFamily="2" charset="-122"/>
              </a:rPr>
              <a:t>例：</a:t>
            </a:r>
            <a:endParaRPr lang="zh-CN" altLang="en-US" sz="1715">
              <a:ea typeface="宋体" pitchFamily="2" charset="-122"/>
            </a:endParaRPr>
          </a:p>
        </p:txBody>
      </p:sp>
      <p:sp>
        <p:nvSpPr>
          <p:cNvPr id="49155" name="Rectangle 3"/>
          <p:cNvSpPr>
            <a:spLocks noGrp="1" noChangeArrowheads="1"/>
          </p:cNvSpPr>
          <p:nvPr>
            <p:ph type="body" idx="4294967295"/>
          </p:nvPr>
        </p:nvSpPr>
        <p:spPr>
          <a:xfrm>
            <a:off x="201692" y="1878442"/>
            <a:ext cx="3759542" cy="1292589"/>
          </a:xfrm>
        </p:spPr>
        <p:txBody>
          <a:bodyPr/>
          <a:lstStyle/>
          <a:p>
            <a:pPr marL="0" indent="0">
              <a:spcBef>
                <a:spcPct val="60000"/>
              </a:spcBef>
              <a:buNone/>
              <a:tabLst>
                <a:tab pos="577850" algn="l"/>
                <a:tab pos="2619375" algn="l"/>
              </a:tabLst>
            </a:pPr>
            <a:r>
              <a:rPr lang="zh-CN" altLang="zh-CN" sz="1310" dirty="0">
                <a:ea typeface="宋体" pitchFamily="2" charset="-122"/>
              </a:rPr>
              <a:t>计算每年的名义GDP：</a:t>
            </a:r>
          </a:p>
          <a:p>
            <a:pPr marL="0" indent="0">
              <a:spcBef>
                <a:spcPct val="60000"/>
              </a:spcBef>
              <a:buNone/>
              <a:tabLst>
                <a:tab pos="577850" algn="l"/>
                <a:tab pos="2619375" algn="l"/>
              </a:tabLst>
            </a:pPr>
            <a:r>
              <a:rPr lang="zh-CN" altLang="zh-CN" sz="1310" dirty="0">
                <a:ea typeface="宋体" pitchFamily="2" charset="-122"/>
              </a:rPr>
              <a:t>2005:	$10 x 400  +    $2 x 1000  	=   $6,000</a:t>
            </a:r>
          </a:p>
          <a:p>
            <a:pPr marL="0" indent="0">
              <a:spcBef>
                <a:spcPct val="60000"/>
              </a:spcBef>
              <a:buNone/>
              <a:tabLst>
                <a:tab pos="577850" algn="l"/>
                <a:tab pos="2619375" algn="l"/>
              </a:tabLst>
            </a:pPr>
            <a:r>
              <a:rPr lang="zh-CN" altLang="zh-CN" sz="1310" dirty="0">
                <a:ea typeface="宋体" pitchFamily="2" charset="-122"/>
              </a:rPr>
              <a:t>2006:	$11 x 500  + $2.50 x 1100 	=   $8,250</a:t>
            </a:r>
          </a:p>
          <a:p>
            <a:pPr marL="0" indent="0">
              <a:spcBef>
                <a:spcPct val="60000"/>
              </a:spcBef>
              <a:buNone/>
              <a:tabLst>
                <a:tab pos="577850" algn="l"/>
                <a:tab pos="2619375" algn="l"/>
              </a:tabLst>
            </a:pPr>
            <a:r>
              <a:rPr lang="zh-CN" altLang="zh-CN" sz="1310" dirty="0">
                <a:ea typeface="宋体" pitchFamily="2" charset="-122"/>
              </a:rPr>
              <a:t>2007:	$12 x 600  +    $3 x 1200 	=  $10,800</a:t>
            </a:r>
          </a:p>
        </p:txBody>
      </p:sp>
      <p:graphicFrame>
        <p:nvGraphicFramePr>
          <p:cNvPr id="49156" name="Group 4"/>
          <p:cNvGraphicFramePr>
            <a:graphicFrameLocks noGrp="1"/>
          </p:cNvGraphicFramePr>
          <p:nvPr/>
        </p:nvGraphicFramePr>
        <p:xfrm>
          <a:off x="386576" y="393766"/>
          <a:ext cx="4001024" cy="1473471"/>
        </p:xfrm>
        <a:graphic>
          <a:graphicData uri="http://schemas.openxmlformats.org/drawingml/2006/table">
            <a:tbl>
              <a:tblPr/>
              <a:tblGrid>
                <a:gridCol w="800365">
                  <a:extLst>
                    <a:ext uri="{9D8B030D-6E8A-4147-A177-3AD203B41FA5}">
                      <a16:colId xmlns:a16="http://schemas.microsoft.com/office/drawing/2014/main" val="20000"/>
                    </a:ext>
                  </a:extLst>
                </a:gridCol>
                <a:gridCol w="799564">
                  <a:extLst>
                    <a:ext uri="{9D8B030D-6E8A-4147-A177-3AD203B41FA5}">
                      <a16:colId xmlns:a16="http://schemas.microsoft.com/office/drawing/2014/main" val="20001"/>
                    </a:ext>
                  </a:extLst>
                </a:gridCol>
                <a:gridCol w="793162">
                  <a:extLst>
                    <a:ext uri="{9D8B030D-6E8A-4147-A177-3AD203B41FA5}">
                      <a16:colId xmlns:a16="http://schemas.microsoft.com/office/drawing/2014/main" val="20002"/>
                    </a:ext>
                  </a:extLst>
                </a:gridCol>
                <a:gridCol w="807568">
                  <a:extLst>
                    <a:ext uri="{9D8B030D-6E8A-4147-A177-3AD203B41FA5}">
                      <a16:colId xmlns:a16="http://schemas.microsoft.com/office/drawing/2014/main" val="20003"/>
                    </a:ext>
                  </a:extLst>
                </a:gridCol>
                <a:gridCol w="800365">
                  <a:extLst>
                    <a:ext uri="{9D8B030D-6E8A-4147-A177-3AD203B41FA5}">
                      <a16:colId xmlns:a16="http://schemas.microsoft.com/office/drawing/2014/main" val="20004"/>
                    </a:ext>
                  </a:extLst>
                </a:gridCol>
              </a:tblGrid>
              <a:tr h="51543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皮萨</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p>
                  </a:txBody>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拿铁咖啡</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p>
                  </a:txBody>
                  <a:tcPr/>
                </a:tc>
                <a:extLst>
                  <a:ext uri="{0D108BD9-81ED-4DB2-BD59-A6C34878D82A}">
                    <a16:rowId xmlns:a16="http://schemas.microsoft.com/office/drawing/2014/main" val="10000"/>
                  </a:ext>
                </a:extLst>
              </a:tr>
              <a:tr h="2401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年份</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1"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1"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1"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1"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393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2005</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400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1000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2393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2006</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$11</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500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$2.50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1100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2393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2007</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$12</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600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$3.00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1200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bl>
          </a:graphicData>
        </a:graphic>
      </p:graphicFrame>
      <p:grpSp>
        <p:nvGrpSpPr>
          <p:cNvPr id="49192" name="Group 40"/>
          <p:cNvGrpSpPr/>
          <p:nvPr/>
        </p:nvGrpSpPr>
        <p:grpSpPr bwMode="auto">
          <a:xfrm>
            <a:off x="3660868" y="2321044"/>
            <a:ext cx="683511" cy="345758"/>
            <a:chOff x="0" y="0"/>
            <a:chExt cx="854" cy="426"/>
          </a:xfrm>
        </p:grpSpPr>
        <p:sp>
          <p:nvSpPr>
            <p:cNvPr id="49193" name="Text Box 41"/>
            <p:cNvSpPr txBox="1">
              <a:spLocks noChangeArrowheads="1"/>
            </p:cNvSpPr>
            <p:nvPr/>
          </p:nvSpPr>
          <p:spPr bwMode="auto">
            <a:xfrm>
              <a:off x="182" y="41"/>
              <a:ext cx="672" cy="36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310">
                  <a:solidFill>
                    <a:srgbClr val="000000"/>
                  </a:solidFill>
                  <a:ea typeface="宋体" pitchFamily="2" charset="-122"/>
                </a:rPr>
                <a:t>37.5%</a:t>
              </a:r>
            </a:p>
          </p:txBody>
        </p:sp>
        <p:sp>
          <p:nvSpPr>
            <p:cNvPr id="49194" name="AutoShape 42"/>
            <p:cNvSpPr/>
            <p:nvPr/>
          </p:nvSpPr>
          <p:spPr bwMode="auto">
            <a:xfrm>
              <a:off x="0" y="0"/>
              <a:ext cx="156" cy="426"/>
            </a:xfrm>
            <a:prstGeom prst="rightBrace">
              <a:avLst>
                <a:gd name="adj1" fmla="val 22756"/>
                <a:gd name="adj2" fmla="val 50000"/>
              </a:avLst>
            </a:prstGeom>
            <a:noFill/>
            <a:ln w="19050">
              <a:solidFill>
                <a:srgbClr val="3333CC"/>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sp>
        <p:nvSpPr>
          <p:cNvPr id="49195" name="Text Box 43"/>
          <p:cNvSpPr txBox="1">
            <a:spLocks noChangeArrowheads="1"/>
          </p:cNvSpPr>
          <p:nvPr/>
        </p:nvSpPr>
        <p:spPr bwMode="auto">
          <a:xfrm>
            <a:off x="3649662" y="1971285"/>
            <a:ext cx="787559" cy="2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r>
              <a:rPr lang="zh-CN" altLang="zh-CN" sz="1310" u="sng">
                <a:solidFill>
                  <a:srgbClr val="000000"/>
                </a:solidFill>
                <a:ea typeface="宋体" pitchFamily="2" charset="-122"/>
              </a:rPr>
              <a:t>增加：</a:t>
            </a:r>
            <a:endParaRPr lang="zh-CN" altLang="zh-CN" sz="1310" b="1" u="sng">
              <a:solidFill>
                <a:srgbClr val="000000"/>
              </a:solidFill>
              <a:ea typeface="宋体" pitchFamily="2" charset="-122"/>
            </a:endParaRPr>
          </a:p>
        </p:txBody>
      </p:sp>
      <p:grpSp>
        <p:nvGrpSpPr>
          <p:cNvPr id="49196" name="Group 44"/>
          <p:cNvGrpSpPr/>
          <p:nvPr/>
        </p:nvGrpSpPr>
        <p:grpSpPr bwMode="auto">
          <a:xfrm>
            <a:off x="3664870" y="2663600"/>
            <a:ext cx="673907" cy="355362"/>
            <a:chOff x="0" y="0"/>
            <a:chExt cx="842" cy="432"/>
          </a:xfrm>
        </p:grpSpPr>
        <p:sp>
          <p:nvSpPr>
            <p:cNvPr id="49197" name="Text Box 45"/>
            <p:cNvSpPr txBox="1">
              <a:spLocks noChangeArrowheads="1"/>
            </p:cNvSpPr>
            <p:nvPr/>
          </p:nvSpPr>
          <p:spPr bwMode="auto">
            <a:xfrm>
              <a:off x="187" y="65"/>
              <a:ext cx="655" cy="35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310">
                  <a:solidFill>
                    <a:srgbClr val="000000"/>
                  </a:solidFill>
                  <a:ea typeface="宋体" pitchFamily="2" charset="-122"/>
                </a:rPr>
                <a:t>30.9%</a:t>
              </a:r>
            </a:p>
          </p:txBody>
        </p:sp>
        <p:sp>
          <p:nvSpPr>
            <p:cNvPr id="49198" name="AutoShape 46"/>
            <p:cNvSpPr/>
            <p:nvPr/>
          </p:nvSpPr>
          <p:spPr bwMode="auto">
            <a:xfrm>
              <a:off x="0" y="0"/>
              <a:ext cx="156" cy="432"/>
            </a:xfrm>
            <a:prstGeom prst="rightBrace">
              <a:avLst>
                <a:gd name="adj1" fmla="val 23077"/>
                <a:gd name="adj2" fmla="val 50000"/>
              </a:avLst>
            </a:prstGeom>
            <a:noFill/>
            <a:ln w="19050">
              <a:solidFill>
                <a:srgbClr val="3333CC"/>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dissolve">
                                      <p:cBhvr>
                                        <p:cTn id="7" dur="500"/>
                                        <p:tgtEl>
                                          <p:spTgt spid="491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155">
                                            <p:txEl>
                                              <p:pRg st="0" end="0"/>
                                            </p:txEl>
                                          </p:spTgt>
                                        </p:tgtEl>
                                        <p:attrNameLst>
                                          <p:attrName>style.visibility</p:attrName>
                                        </p:attrNameLst>
                                      </p:cBhvr>
                                      <p:to>
                                        <p:strVal val="visible"/>
                                      </p:to>
                                    </p:set>
                                    <p:animEffect transition="in" filter="wipe(left)">
                                      <p:cBhvr>
                                        <p:cTn id="12" dur="500"/>
                                        <p:tgtEl>
                                          <p:spTgt spid="4915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155">
                                            <p:txEl>
                                              <p:pRg st="1" end="1"/>
                                            </p:txEl>
                                          </p:spTgt>
                                        </p:tgtEl>
                                        <p:attrNameLst>
                                          <p:attrName>style.visibility</p:attrName>
                                        </p:attrNameLst>
                                      </p:cBhvr>
                                      <p:to>
                                        <p:strVal val="visible"/>
                                      </p:to>
                                    </p:set>
                                    <p:animEffect transition="in" filter="wipe(left)">
                                      <p:cBhvr>
                                        <p:cTn id="17" dur="500"/>
                                        <p:tgtEl>
                                          <p:spTgt spid="4915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9155">
                                            <p:txEl>
                                              <p:pRg st="2" end="2"/>
                                            </p:txEl>
                                          </p:spTgt>
                                        </p:tgtEl>
                                        <p:attrNameLst>
                                          <p:attrName>style.visibility</p:attrName>
                                        </p:attrNameLst>
                                      </p:cBhvr>
                                      <p:to>
                                        <p:strVal val="visible"/>
                                      </p:to>
                                    </p:set>
                                    <p:animEffect transition="in" filter="wipe(left)">
                                      <p:cBhvr>
                                        <p:cTn id="22" dur="500"/>
                                        <p:tgtEl>
                                          <p:spTgt spid="4915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155">
                                            <p:txEl>
                                              <p:pRg st="3" end="3"/>
                                            </p:txEl>
                                          </p:spTgt>
                                        </p:tgtEl>
                                        <p:attrNameLst>
                                          <p:attrName>style.visibility</p:attrName>
                                        </p:attrNameLst>
                                      </p:cBhvr>
                                      <p:to>
                                        <p:strVal val="visible"/>
                                      </p:to>
                                    </p:set>
                                    <p:animEffect transition="in" filter="wipe(left)">
                                      <p:cBhvr>
                                        <p:cTn id="27" dur="500"/>
                                        <p:tgtEl>
                                          <p:spTgt spid="4915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9195"/>
                                        </p:tgtEl>
                                        <p:attrNameLst>
                                          <p:attrName>style.visibility</p:attrName>
                                        </p:attrNameLst>
                                      </p:cBhvr>
                                      <p:to>
                                        <p:strVal val="visible"/>
                                      </p:to>
                                    </p:set>
                                    <p:animEffect transition="in" filter="dissolve">
                                      <p:cBhvr>
                                        <p:cTn id="32" dur="500"/>
                                        <p:tgtEl>
                                          <p:spTgt spid="49195"/>
                                        </p:tgtEl>
                                      </p:cBhvr>
                                    </p:animEffect>
                                  </p:childTnLst>
                                </p:cTn>
                              </p:par>
                              <p:par>
                                <p:cTn id="33" presetID="9" presetClass="entr" presetSubtype="0" fill="hold" nodeType="withEffect">
                                  <p:stCondLst>
                                    <p:cond delay="0"/>
                                  </p:stCondLst>
                                  <p:childTnLst>
                                    <p:set>
                                      <p:cBhvr>
                                        <p:cTn id="34" dur="1" fill="hold">
                                          <p:stCondLst>
                                            <p:cond delay="0"/>
                                          </p:stCondLst>
                                        </p:cTn>
                                        <p:tgtEl>
                                          <p:spTgt spid="49192"/>
                                        </p:tgtEl>
                                        <p:attrNameLst>
                                          <p:attrName>style.visibility</p:attrName>
                                        </p:attrNameLst>
                                      </p:cBhvr>
                                      <p:to>
                                        <p:strVal val="visible"/>
                                      </p:to>
                                    </p:set>
                                    <p:animEffect transition="in" filter="dissolve">
                                      <p:cBhvr>
                                        <p:cTn id="35" dur="500"/>
                                        <p:tgtEl>
                                          <p:spTgt spid="4919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49196"/>
                                        </p:tgtEl>
                                        <p:attrNameLst>
                                          <p:attrName>style.visibility</p:attrName>
                                        </p:attrNameLst>
                                      </p:cBhvr>
                                      <p:to>
                                        <p:strVal val="visible"/>
                                      </p:to>
                                    </p:set>
                                    <p:animEffect transition="in" filter="dissolve">
                                      <p:cBhvr>
                                        <p:cTn id="40" dur="500"/>
                                        <p:tgtEl>
                                          <p:spTgt spid="49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bldLvl="5" autoUpdateAnimBg="0"/>
      <p:bldP spid="49195"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EF51481B-3635-CE4C-AD68-F6E7CC8760F0}" type="slidenum">
              <a:rPr lang="zh-CN" altLang="zh-CN">
                <a:latin typeface="Arial" panose="020B0604020202090204" pitchFamily="34" charset="0"/>
              </a:rPr>
              <a:t>49</a:t>
            </a:fld>
            <a:endParaRPr lang="en-US" altLang="zh-CN">
              <a:latin typeface="Arial" panose="020B0604020202090204" pitchFamily="34" charset="0"/>
            </a:endParaRPr>
          </a:p>
        </p:txBody>
      </p:sp>
      <p:sp>
        <p:nvSpPr>
          <p:cNvPr id="51202" name="Rectangle 2"/>
          <p:cNvSpPr>
            <a:spLocks noGrp="1" noChangeArrowheads="1"/>
          </p:cNvSpPr>
          <p:nvPr>
            <p:ph type="title" idx="4294967295"/>
          </p:nvPr>
        </p:nvSpPr>
        <p:spPr>
          <a:xfrm>
            <a:off x="201692" y="125644"/>
            <a:ext cx="3402350" cy="286531"/>
          </a:xfrm>
        </p:spPr>
        <p:txBody>
          <a:bodyPr/>
          <a:lstStyle/>
          <a:p>
            <a:pPr algn="l"/>
            <a:r>
              <a:rPr lang="zh-CN" altLang="zh-CN" sz="1715">
                <a:ea typeface="宋体" pitchFamily="2" charset="-122"/>
              </a:rPr>
              <a:t>例：</a:t>
            </a:r>
          </a:p>
        </p:txBody>
      </p:sp>
      <p:sp>
        <p:nvSpPr>
          <p:cNvPr id="51203" name="Rectangle 3"/>
          <p:cNvSpPr>
            <a:spLocks noGrp="1" noChangeArrowheads="1"/>
          </p:cNvSpPr>
          <p:nvPr>
            <p:ph type="body" idx="4294967295"/>
          </p:nvPr>
        </p:nvSpPr>
        <p:spPr>
          <a:xfrm>
            <a:off x="173680" y="1834423"/>
            <a:ext cx="3323914" cy="505030"/>
          </a:xfrm>
        </p:spPr>
        <p:txBody>
          <a:bodyPr/>
          <a:lstStyle/>
          <a:p>
            <a:pPr marL="0" indent="0">
              <a:spcBef>
                <a:spcPct val="50000"/>
              </a:spcBef>
              <a:buNone/>
              <a:tabLst>
                <a:tab pos="577850" algn="l"/>
                <a:tab pos="2449830" algn="l"/>
              </a:tabLst>
            </a:pPr>
            <a:r>
              <a:rPr lang="zh-CN" altLang="zh-CN" sz="1310">
                <a:ea typeface="宋体" pitchFamily="2" charset="-122"/>
              </a:rPr>
              <a:t>计算每年的真实GDP, </a:t>
            </a:r>
            <a:br>
              <a:rPr lang="zh-CN" altLang="zh-CN" sz="1310">
                <a:ea typeface="宋体" pitchFamily="2" charset="-122"/>
              </a:rPr>
            </a:br>
            <a:r>
              <a:rPr lang="zh-CN" altLang="zh-CN" sz="1310">
                <a:ea typeface="宋体" pitchFamily="2" charset="-122"/>
              </a:rPr>
              <a:t>以2005 年作为基年:</a:t>
            </a:r>
          </a:p>
        </p:txBody>
      </p:sp>
      <p:graphicFrame>
        <p:nvGraphicFramePr>
          <p:cNvPr id="51204" name="Group 4"/>
          <p:cNvGraphicFramePr>
            <a:graphicFrameLocks noGrp="1"/>
          </p:cNvGraphicFramePr>
          <p:nvPr/>
        </p:nvGraphicFramePr>
        <p:xfrm>
          <a:off x="403384" y="373758"/>
          <a:ext cx="3804134" cy="1473471"/>
        </p:xfrm>
        <a:graphic>
          <a:graphicData uri="http://schemas.openxmlformats.org/drawingml/2006/table">
            <a:tbl>
              <a:tblPr/>
              <a:tblGrid>
                <a:gridCol w="742738">
                  <a:extLst>
                    <a:ext uri="{9D8B030D-6E8A-4147-A177-3AD203B41FA5}">
                      <a16:colId xmlns:a16="http://schemas.microsoft.com/office/drawing/2014/main" val="20000"/>
                    </a:ext>
                  </a:extLst>
                </a:gridCol>
                <a:gridCol w="765149">
                  <a:extLst>
                    <a:ext uri="{9D8B030D-6E8A-4147-A177-3AD203B41FA5}">
                      <a16:colId xmlns:a16="http://schemas.microsoft.com/office/drawing/2014/main" val="20001"/>
                    </a:ext>
                  </a:extLst>
                </a:gridCol>
                <a:gridCol w="765149">
                  <a:extLst>
                    <a:ext uri="{9D8B030D-6E8A-4147-A177-3AD203B41FA5}">
                      <a16:colId xmlns:a16="http://schemas.microsoft.com/office/drawing/2014/main" val="20002"/>
                    </a:ext>
                  </a:extLst>
                </a:gridCol>
                <a:gridCol w="765149">
                  <a:extLst>
                    <a:ext uri="{9D8B030D-6E8A-4147-A177-3AD203B41FA5}">
                      <a16:colId xmlns:a16="http://schemas.microsoft.com/office/drawing/2014/main" val="20003"/>
                    </a:ext>
                  </a:extLst>
                </a:gridCol>
                <a:gridCol w="765949">
                  <a:extLst>
                    <a:ext uri="{9D8B030D-6E8A-4147-A177-3AD203B41FA5}">
                      <a16:colId xmlns:a16="http://schemas.microsoft.com/office/drawing/2014/main" val="20004"/>
                    </a:ext>
                  </a:extLst>
                </a:gridCol>
              </a:tblGrid>
              <a:tr h="51543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皮萨</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p>
                  </a:txBody>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拿铁咖啡</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p>
                  </a:txBody>
                  <a:tcPr/>
                </a:tc>
                <a:extLst>
                  <a:ext uri="{0D108BD9-81ED-4DB2-BD59-A6C34878D82A}">
                    <a16:rowId xmlns:a16="http://schemas.microsoft.com/office/drawing/2014/main" val="10000"/>
                  </a:ext>
                </a:extLst>
              </a:tr>
              <a:tr h="2401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1" u="none" strike="noStrike" cap="none" normalizeH="0" baseline="0">
                          <a:ln>
                            <a:noFill/>
                          </a:ln>
                          <a:solidFill>
                            <a:schemeClr val="tx1"/>
                          </a:solidFill>
                          <a:effectLst/>
                          <a:latin typeface="Arial" panose="020B0604020202090204" pitchFamily="34" charset="0"/>
                          <a:ea typeface="宋体" pitchFamily="2" charset="-122"/>
                        </a:rPr>
                        <a:t>年份</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1"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1"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1"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1"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393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2005</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400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1000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2393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2006</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$11</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500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$2.50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1100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2393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2007</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$12</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600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$3.00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1200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bl>
          </a:graphicData>
        </a:graphic>
      </p:graphicFrame>
      <p:grpSp>
        <p:nvGrpSpPr>
          <p:cNvPr id="51240" name="Group 40"/>
          <p:cNvGrpSpPr/>
          <p:nvPr/>
        </p:nvGrpSpPr>
        <p:grpSpPr bwMode="auto">
          <a:xfrm>
            <a:off x="3450372" y="2405083"/>
            <a:ext cx="692315" cy="331351"/>
            <a:chOff x="0" y="0"/>
            <a:chExt cx="865" cy="414"/>
          </a:xfrm>
        </p:grpSpPr>
        <p:sp>
          <p:nvSpPr>
            <p:cNvPr id="51241" name="Text Box 41"/>
            <p:cNvSpPr txBox="1">
              <a:spLocks noChangeArrowheads="1"/>
            </p:cNvSpPr>
            <p:nvPr/>
          </p:nvSpPr>
          <p:spPr bwMode="auto">
            <a:xfrm>
              <a:off x="193" y="32"/>
              <a:ext cx="672" cy="36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310">
                  <a:solidFill>
                    <a:srgbClr val="000000"/>
                  </a:solidFill>
                  <a:ea typeface="宋体" pitchFamily="2" charset="-122"/>
                </a:rPr>
                <a:t>20.0%</a:t>
              </a:r>
            </a:p>
          </p:txBody>
        </p:sp>
        <p:sp>
          <p:nvSpPr>
            <p:cNvPr id="51242" name="AutoShape 42"/>
            <p:cNvSpPr/>
            <p:nvPr/>
          </p:nvSpPr>
          <p:spPr bwMode="auto">
            <a:xfrm>
              <a:off x="0" y="0"/>
              <a:ext cx="156" cy="414"/>
            </a:xfrm>
            <a:prstGeom prst="rightBrace">
              <a:avLst>
                <a:gd name="adj1" fmla="val 22115"/>
                <a:gd name="adj2" fmla="val 50000"/>
              </a:avLst>
            </a:prstGeom>
            <a:noFill/>
            <a:ln w="19050">
              <a:solidFill>
                <a:srgbClr val="8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sp>
        <p:nvSpPr>
          <p:cNvPr id="51243" name="Text Box 43"/>
          <p:cNvSpPr txBox="1">
            <a:spLocks noChangeArrowheads="1"/>
          </p:cNvSpPr>
          <p:nvPr/>
        </p:nvSpPr>
        <p:spPr bwMode="auto">
          <a:xfrm>
            <a:off x="3450372" y="2062527"/>
            <a:ext cx="787559" cy="2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r>
              <a:rPr lang="zh-CN" altLang="zh-CN" sz="1310" u="sng">
                <a:solidFill>
                  <a:srgbClr val="000000"/>
                </a:solidFill>
                <a:ea typeface="宋体" pitchFamily="2" charset="-122"/>
              </a:rPr>
              <a:t>增加：</a:t>
            </a:r>
            <a:endParaRPr lang="zh-CN" altLang="zh-CN" sz="1310" b="1" u="sng">
              <a:solidFill>
                <a:srgbClr val="000000"/>
              </a:solidFill>
              <a:ea typeface="宋体" pitchFamily="2" charset="-122"/>
            </a:endParaRPr>
          </a:p>
        </p:txBody>
      </p:sp>
      <p:grpSp>
        <p:nvGrpSpPr>
          <p:cNvPr id="51244" name="Group 44"/>
          <p:cNvGrpSpPr/>
          <p:nvPr/>
        </p:nvGrpSpPr>
        <p:grpSpPr bwMode="auto">
          <a:xfrm>
            <a:off x="3458376" y="2738034"/>
            <a:ext cx="681110" cy="345758"/>
            <a:chOff x="0" y="0"/>
            <a:chExt cx="851" cy="432"/>
          </a:xfrm>
        </p:grpSpPr>
        <p:sp>
          <p:nvSpPr>
            <p:cNvPr id="51245" name="Text Box 45"/>
            <p:cNvSpPr txBox="1">
              <a:spLocks noChangeArrowheads="1"/>
            </p:cNvSpPr>
            <p:nvPr/>
          </p:nvSpPr>
          <p:spPr bwMode="auto">
            <a:xfrm>
              <a:off x="196" y="65"/>
              <a:ext cx="655" cy="36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310">
                  <a:solidFill>
                    <a:srgbClr val="000000"/>
                  </a:solidFill>
                  <a:ea typeface="宋体" pitchFamily="2" charset="-122"/>
                </a:rPr>
                <a:t>16.7%</a:t>
              </a:r>
            </a:p>
          </p:txBody>
        </p:sp>
        <p:sp>
          <p:nvSpPr>
            <p:cNvPr id="51246" name="AutoShape 46"/>
            <p:cNvSpPr/>
            <p:nvPr/>
          </p:nvSpPr>
          <p:spPr bwMode="auto">
            <a:xfrm>
              <a:off x="0" y="0"/>
              <a:ext cx="156" cy="414"/>
            </a:xfrm>
            <a:prstGeom prst="rightBrace">
              <a:avLst>
                <a:gd name="adj1" fmla="val 22115"/>
                <a:gd name="adj2" fmla="val 50000"/>
              </a:avLst>
            </a:prstGeom>
            <a:noFill/>
            <a:ln w="19050">
              <a:solidFill>
                <a:srgbClr val="8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grpSp>
        <p:nvGrpSpPr>
          <p:cNvPr id="51247" name="Group 47"/>
          <p:cNvGrpSpPr/>
          <p:nvPr/>
        </p:nvGrpSpPr>
        <p:grpSpPr bwMode="auto">
          <a:xfrm>
            <a:off x="294535" y="1162116"/>
            <a:ext cx="3091008" cy="185685"/>
            <a:chOff x="0" y="0"/>
            <a:chExt cx="3862" cy="232"/>
          </a:xfrm>
        </p:grpSpPr>
        <p:sp>
          <p:nvSpPr>
            <p:cNvPr id="51248" name="Text Box 48"/>
            <p:cNvSpPr txBox="1">
              <a:spLocks noChangeArrowheads="1"/>
            </p:cNvSpPr>
            <p:nvPr/>
          </p:nvSpPr>
          <p:spPr bwMode="auto">
            <a:xfrm>
              <a:off x="1285" y="0"/>
              <a:ext cx="649" cy="229"/>
            </a:xfrm>
            <a:prstGeom prst="rect">
              <a:avLst/>
            </a:prstGeom>
            <a:solidFill>
              <a:schemeClr val="bg1"/>
            </a:solidFill>
            <a:ln w="12700">
              <a:solidFill>
                <a:srgbClr val="FF0000"/>
              </a:solidFill>
              <a:miter lim="800000"/>
            </a:ln>
          </p:spPr>
          <p:txBody>
            <a:bodyPr anchor="ctr" anchorCtr="1"/>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210">
                  <a:solidFill>
                    <a:srgbClr val="000000"/>
                  </a:solidFill>
                  <a:ea typeface="宋体" pitchFamily="2" charset="-122"/>
                </a:rPr>
                <a:t>$10</a:t>
              </a:r>
            </a:p>
          </p:txBody>
        </p:sp>
        <p:sp>
          <p:nvSpPr>
            <p:cNvPr id="51249" name="Text Box 49"/>
            <p:cNvSpPr txBox="1">
              <a:spLocks noChangeArrowheads="1"/>
            </p:cNvSpPr>
            <p:nvPr/>
          </p:nvSpPr>
          <p:spPr bwMode="auto">
            <a:xfrm>
              <a:off x="3150" y="3"/>
              <a:ext cx="712" cy="229"/>
            </a:xfrm>
            <a:prstGeom prst="rect">
              <a:avLst/>
            </a:prstGeom>
            <a:solidFill>
              <a:schemeClr val="bg1"/>
            </a:solidFill>
            <a:ln w="12700">
              <a:solidFill>
                <a:srgbClr val="FF0000"/>
              </a:solidFill>
              <a:miter lim="800000"/>
            </a:ln>
          </p:spPr>
          <p:txBody>
            <a:bodyPr anchor="ctr" anchorCtr="1"/>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210">
                  <a:solidFill>
                    <a:srgbClr val="000000"/>
                  </a:solidFill>
                  <a:ea typeface="宋体" pitchFamily="2" charset="-122"/>
                </a:rPr>
                <a:t>$2.00</a:t>
              </a:r>
            </a:p>
          </p:txBody>
        </p:sp>
        <p:sp>
          <p:nvSpPr>
            <p:cNvPr id="51250" name="Line 50"/>
            <p:cNvSpPr>
              <a:spLocks noChangeShapeType="1"/>
            </p:cNvSpPr>
            <p:nvPr/>
          </p:nvSpPr>
          <p:spPr bwMode="auto">
            <a:xfrm flipV="1">
              <a:off x="0" y="114"/>
              <a:ext cx="273" cy="0"/>
            </a:xfrm>
            <a:prstGeom prst="line">
              <a:avLst/>
            </a:prstGeom>
            <a:noFill/>
            <a:ln w="44450">
              <a:solidFill>
                <a:srgbClr val="FF0000"/>
              </a:solidFill>
              <a:round/>
              <a:tailEnd type="triangle" w="lg" len="me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51251" name="Rectangle 51"/>
          <p:cNvSpPr>
            <a:spLocks noChangeArrowheads="1"/>
          </p:cNvSpPr>
          <p:nvPr/>
        </p:nvSpPr>
        <p:spPr bwMode="auto">
          <a:xfrm>
            <a:off x="116053" y="2078534"/>
            <a:ext cx="1731989" cy="193688"/>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51252" name="Rectangle 52"/>
          <p:cNvSpPr>
            <a:spLocks noChangeArrowheads="1"/>
          </p:cNvSpPr>
          <p:nvPr/>
        </p:nvSpPr>
        <p:spPr bwMode="auto">
          <a:xfrm>
            <a:off x="211297" y="2302636"/>
            <a:ext cx="3461905" cy="890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1146175" algn="l"/>
                <a:tab pos="4859020" algn="l"/>
              </a:tabLst>
              <a:defRPr>
                <a:solidFill>
                  <a:schemeClr val="tx1"/>
                </a:solidFill>
                <a:latin typeface="Arial" panose="020B0604020202090204" pitchFamily="34" charset="0"/>
              </a:defRPr>
            </a:lvl1pPr>
            <a:lvl2pPr marL="742950" indent="-285750">
              <a:tabLst>
                <a:tab pos="1146175" algn="l"/>
                <a:tab pos="4859020" algn="l"/>
              </a:tabLst>
              <a:defRPr>
                <a:solidFill>
                  <a:schemeClr val="tx1"/>
                </a:solidFill>
                <a:latin typeface="Arial" panose="020B0604020202090204" pitchFamily="34" charset="0"/>
              </a:defRPr>
            </a:lvl2pPr>
            <a:lvl3pPr marL="1143000" indent="-228600">
              <a:tabLst>
                <a:tab pos="1146175" algn="l"/>
                <a:tab pos="4859020" algn="l"/>
              </a:tabLst>
              <a:defRPr>
                <a:solidFill>
                  <a:schemeClr val="tx1"/>
                </a:solidFill>
                <a:latin typeface="Arial" panose="020B0604020202090204" pitchFamily="34" charset="0"/>
              </a:defRPr>
            </a:lvl3pPr>
            <a:lvl4pPr marL="1600200" indent="-228600">
              <a:tabLst>
                <a:tab pos="1146175" algn="l"/>
                <a:tab pos="4859020" algn="l"/>
              </a:tabLst>
              <a:defRPr>
                <a:solidFill>
                  <a:schemeClr val="tx1"/>
                </a:solidFill>
                <a:latin typeface="Arial" panose="020B0604020202090204" pitchFamily="34" charset="0"/>
              </a:defRPr>
            </a:lvl4pPr>
            <a:lvl5pPr marL="2057400" indent="-228600">
              <a:tabLst>
                <a:tab pos="1146175" algn="l"/>
                <a:tab pos="4859020" algn="l"/>
              </a:tabLst>
              <a:defRPr>
                <a:solidFill>
                  <a:schemeClr val="tx1"/>
                </a:solidFill>
                <a:latin typeface="Arial" panose="020B0604020202090204" pitchFamily="34" charset="0"/>
              </a:defRPr>
            </a:lvl5pPr>
            <a:lvl6pPr marL="2514600" indent="-228600" fontAlgn="base">
              <a:spcBef>
                <a:spcPct val="0"/>
              </a:spcBef>
              <a:spcAft>
                <a:spcPct val="0"/>
              </a:spcAft>
              <a:tabLst>
                <a:tab pos="1146175" algn="l"/>
                <a:tab pos="4859020" algn="l"/>
              </a:tabLst>
              <a:defRPr>
                <a:solidFill>
                  <a:schemeClr val="tx1"/>
                </a:solidFill>
                <a:latin typeface="Arial" panose="020B0604020202090204" pitchFamily="34" charset="0"/>
              </a:defRPr>
            </a:lvl6pPr>
            <a:lvl7pPr marL="2971800" indent="-228600" fontAlgn="base">
              <a:spcBef>
                <a:spcPct val="0"/>
              </a:spcBef>
              <a:spcAft>
                <a:spcPct val="0"/>
              </a:spcAft>
              <a:tabLst>
                <a:tab pos="1146175" algn="l"/>
                <a:tab pos="4859020" algn="l"/>
              </a:tabLst>
              <a:defRPr>
                <a:solidFill>
                  <a:schemeClr val="tx1"/>
                </a:solidFill>
                <a:latin typeface="Arial" panose="020B0604020202090204" pitchFamily="34" charset="0"/>
              </a:defRPr>
            </a:lvl7pPr>
            <a:lvl8pPr marL="3429000" indent="-228600" fontAlgn="base">
              <a:spcBef>
                <a:spcPct val="0"/>
              </a:spcBef>
              <a:spcAft>
                <a:spcPct val="0"/>
              </a:spcAft>
              <a:tabLst>
                <a:tab pos="1146175" algn="l"/>
                <a:tab pos="4859020" algn="l"/>
              </a:tabLst>
              <a:defRPr>
                <a:solidFill>
                  <a:schemeClr val="tx1"/>
                </a:solidFill>
                <a:latin typeface="Arial" panose="020B0604020202090204" pitchFamily="34" charset="0"/>
              </a:defRPr>
            </a:lvl8pPr>
            <a:lvl9pPr marL="3886200" indent="-228600" fontAlgn="base">
              <a:spcBef>
                <a:spcPct val="0"/>
              </a:spcBef>
              <a:spcAft>
                <a:spcPct val="0"/>
              </a:spcAft>
              <a:tabLst>
                <a:tab pos="1146175" algn="l"/>
                <a:tab pos="4859020" algn="l"/>
              </a:tabLst>
              <a:defRPr>
                <a:solidFill>
                  <a:schemeClr val="tx1"/>
                </a:solidFill>
                <a:latin typeface="Arial" panose="020B0604020202090204" pitchFamily="34" charset="0"/>
              </a:defRPr>
            </a:lvl9pPr>
          </a:lstStyle>
          <a:p>
            <a:pPr defTabSz="461010" fontAlgn="base">
              <a:lnSpc>
                <a:spcPct val="105000"/>
              </a:lnSpc>
              <a:spcBef>
                <a:spcPct val="50000"/>
              </a:spcBef>
              <a:spcAft>
                <a:spcPct val="0"/>
              </a:spcAft>
              <a:buClr>
                <a:srgbClr val="00B85C"/>
              </a:buClr>
              <a:buSzPct val="120000"/>
              <a:tabLst>
                <a:tab pos="577850" algn="l"/>
                <a:tab pos="2449830" algn="l"/>
              </a:tabLst>
            </a:pPr>
            <a:r>
              <a:rPr lang="en-US" altLang="zh-CN" sz="1310" dirty="0">
                <a:solidFill>
                  <a:srgbClr val="000000"/>
                </a:solidFill>
                <a:ea typeface="宋体" pitchFamily="2" charset="-122"/>
              </a:rPr>
              <a:t>2005:	$10 x 400  +  $2 x 1000  	=  $6,000</a:t>
            </a:r>
          </a:p>
          <a:p>
            <a:pPr defTabSz="461010" fontAlgn="base">
              <a:lnSpc>
                <a:spcPct val="105000"/>
              </a:lnSpc>
              <a:spcBef>
                <a:spcPct val="50000"/>
              </a:spcBef>
              <a:spcAft>
                <a:spcPct val="0"/>
              </a:spcAft>
              <a:buClr>
                <a:srgbClr val="00B85C"/>
              </a:buClr>
              <a:buSzPct val="120000"/>
              <a:tabLst>
                <a:tab pos="577850" algn="l"/>
                <a:tab pos="2449830" algn="l"/>
              </a:tabLst>
            </a:pPr>
            <a:r>
              <a:rPr lang="en-US" altLang="zh-CN" sz="1310" dirty="0">
                <a:solidFill>
                  <a:srgbClr val="000000"/>
                </a:solidFill>
                <a:ea typeface="宋体" pitchFamily="2" charset="-122"/>
              </a:rPr>
              <a:t>2006:	$10 x 500  +  $2 x 1100 	=  $7,200</a:t>
            </a:r>
          </a:p>
          <a:p>
            <a:pPr defTabSz="461010" fontAlgn="base">
              <a:lnSpc>
                <a:spcPct val="105000"/>
              </a:lnSpc>
              <a:spcBef>
                <a:spcPct val="50000"/>
              </a:spcBef>
              <a:spcAft>
                <a:spcPct val="0"/>
              </a:spcAft>
              <a:buClr>
                <a:srgbClr val="00B85C"/>
              </a:buClr>
              <a:buSzPct val="120000"/>
              <a:tabLst>
                <a:tab pos="577850" algn="l"/>
                <a:tab pos="2449830" algn="l"/>
              </a:tabLst>
            </a:pPr>
            <a:r>
              <a:rPr lang="en-US" altLang="zh-CN" sz="1310" dirty="0">
                <a:solidFill>
                  <a:srgbClr val="000000"/>
                </a:solidFill>
                <a:ea typeface="宋体" pitchFamily="2" charset="-122"/>
              </a:rPr>
              <a:t>2007:	$10 x 600  +  $2 x 1200 	=  $8,400</a:t>
            </a: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251"/>
                                        </p:tgtEl>
                                        <p:attrNameLst>
                                          <p:attrName>style.visibility</p:attrName>
                                        </p:attrNameLst>
                                      </p:cBhvr>
                                      <p:to>
                                        <p:strVal val="visible"/>
                                      </p:to>
                                    </p:set>
                                    <p:animEffect transition="in" filter="dissolve">
                                      <p:cBhvr>
                                        <p:cTn id="7" dur="500"/>
                                        <p:tgtEl>
                                          <p:spTgt spid="5125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1247"/>
                                        </p:tgtEl>
                                        <p:attrNameLst>
                                          <p:attrName>style.visibility</p:attrName>
                                        </p:attrNameLst>
                                      </p:cBhvr>
                                      <p:to>
                                        <p:strVal val="visible"/>
                                      </p:to>
                                    </p:set>
                                    <p:animEffect transition="in" filter="wipe(left)">
                                      <p:cBhvr>
                                        <p:cTn id="11" dur="500"/>
                                        <p:tgtEl>
                                          <p:spTgt spid="5124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1252">
                                            <p:txEl>
                                              <p:pRg st="0" end="0"/>
                                            </p:txEl>
                                          </p:spTgt>
                                        </p:tgtEl>
                                        <p:attrNameLst>
                                          <p:attrName>style.visibility</p:attrName>
                                        </p:attrNameLst>
                                      </p:cBhvr>
                                      <p:to>
                                        <p:strVal val="visible"/>
                                      </p:to>
                                    </p:set>
                                    <p:animEffect transition="in" filter="wipe(left)">
                                      <p:cBhvr>
                                        <p:cTn id="16" dur="500"/>
                                        <p:tgtEl>
                                          <p:spTgt spid="5125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1252">
                                            <p:txEl>
                                              <p:pRg st="1" end="1"/>
                                            </p:txEl>
                                          </p:spTgt>
                                        </p:tgtEl>
                                        <p:attrNameLst>
                                          <p:attrName>style.visibility</p:attrName>
                                        </p:attrNameLst>
                                      </p:cBhvr>
                                      <p:to>
                                        <p:strVal val="visible"/>
                                      </p:to>
                                    </p:set>
                                    <p:animEffect transition="in" filter="wipe(left)">
                                      <p:cBhvr>
                                        <p:cTn id="21" dur="500"/>
                                        <p:tgtEl>
                                          <p:spTgt spid="51252">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1252">
                                            <p:txEl>
                                              <p:pRg st="2" end="2"/>
                                            </p:txEl>
                                          </p:spTgt>
                                        </p:tgtEl>
                                        <p:attrNameLst>
                                          <p:attrName>style.visibility</p:attrName>
                                        </p:attrNameLst>
                                      </p:cBhvr>
                                      <p:to>
                                        <p:strVal val="visible"/>
                                      </p:to>
                                    </p:set>
                                    <p:animEffect transition="in" filter="wipe(left)">
                                      <p:cBhvr>
                                        <p:cTn id="26" dur="500"/>
                                        <p:tgtEl>
                                          <p:spTgt spid="5125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1243"/>
                                        </p:tgtEl>
                                        <p:attrNameLst>
                                          <p:attrName>style.visibility</p:attrName>
                                        </p:attrNameLst>
                                      </p:cBhvr>
                                      <p:to>
                                        <p:strVal val="visible"/>
                                      </p:to>
                                    </p:set>
                                    <p:animEffect transition="in" filter="dissolve">
                                      <p:cBhvr>
                                        <p:cTn id="31" dur="500"/>
                                        <p:tgtEl>
                                          <p:spTgt spid="51243"/>
                                        </p:tgtEl>
                                      </p:cBhvr>
                                    </p:animEffect>
                                  </p:childTnLst>
                                </p:cTn>
                              </p:par>
                              <p:par>
                                <p:cTn id="32" presetID="9" presetClass="entr" presetSubtype="0" fill="hold" nodeType="withEffect">
                                  <p:stCondLst>
                                    <p:cond delay="0"/>
                                  </p:stCondLst>
                                  <p:childTnLst>
                                    <p:set>
                                      <p:cBhvr>
                                        <p:cTn id="33" dur="1" fill="hold">
                                          <p:stCondLst>
                                            <p:cond delay="0"/>
                                          </p:stCondLst>
                                        </p:cTn>
                                        <p:tgtEl>
                                          <p:spTgt spid="51240"/>
                                        </p:tgtEl>
                                        <p:attrNameLst>
                                          <p:attrName>style.visibility</p:attrName>
                                        </p:attrNameLst>
                                      </p:cBhvr>
                                      <p:to>
                                        <p:strVal val="visible"/>
                                      </p:to>
                                    </p:set>
                                    <p:animEffect transition="in" filter="dissolve">
                                      <p:cBhvr>
                                        <p:cTn id="34" dur="500"/>
                                        <p:tgtEl>
                                          <p:spTgt spid="5124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51244"/>
                                        </p:tgtEl>
                                        <p:attrNameLst>
                                          <p:attrName>style.visibility</p:attrName>
                                        </p:attrNameLst>
                                      </p:cBhvr>
                                      <p:to>
                                        <p:strVal val="visible"/>
                                      </p:to>
                                    </p:set>
                                    <p:animEffect transition="in" filter="dissolve">
                                      <p:cBhvr>
                                        <p:cTn id="39" dur="500"/>
                                        <p:tgtEl>
                                          <p:spTgt spid="51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3" grpId="0" autoUpdateAnimBg="0"/>
      <p:bldP spid="51251" grpId="0" bldLvl="0" animBg="1" autoUpdateAnimBg="0"/>
      <p:bldP spid="51252"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8CDA2E83-CADE-4345-8C9D-A2DBC081BE8B}" type="slidenum">
              <a:rPr lang="zh-CN" altLang="zh-CN">
                <a:latin typeface="Arial" panose="020B0604020202090204" pitchFamily="34" charset="0"/>
              </a:rPr>
              <a:t>50</a:t>
            </a:fld>
            <a:endParaRPr lang="en-US" altLang="zh-CN">
              <a:latin typeface="Arial" panose="020B0604020202090204" pitchFamily="34" charset="0"/>
            </a:endParaRPr>
          </a:p>
        </p:txBody>
      </p:sp>
      <p:sp>
        <p:nvSpPr>
          <p:cNvPr id="53250" name="Rectangle 2"/>
          <p:cNvSpPr>
            <a:spLocks noGrp="1" noChangeArrowheads="1"/>
          </p:cNvSpPr>
          <p:nvPr>
            <p:ph type="title" idx="4294967295"/>
          </p:nvPr>
        </p:nvSpPr>
        <p:spPr>
          <a:xfrm>
            <a:off x="201692" y="125644"/>
            <a:ext cx="3402350" cy="286531"/>
          </a:xfrm>
        </p:spPr>
        <p:txBody>
          <a:bodyPr/>
          <a:lstStyle/>
          <a:p>
            <a:pPr algn="l"/>
            <a:r>
              <a:rPr lang="zh-CN" altLang="zh-CN" sz="1815">
                <a:ea typeface="宋体" pitchFamily="2" charset="-122"/>
              </a:rPr>
              <a:t>例</a:t>
            </a:r>
            <a:r>
              <a:rPr lang="en-US" altLang="zh-CN" sz="1815">
                <a:ea typeface="宋体" pitchFamily="2" charset="-122"/>
              </a:rPr>
              <a:t>:</a:t>
            </a:r>
          </a:p>
        </p:txBody>
      </p:sp>
      <p:sp>
        <p:nvSpPr>
          <p:cNvPr id="53251" name="Rectangle 3"/>
          <p:cNvSpPr>
            <a:spLocks noGrp="1" noChangeArrowheads="1"/>
          </p:cNvSpPr>
          <p:nvPr>
            <p:ph type="body" idx="4294967295"/>
          </p:nvPr>
        </p:nvSpPr>
        <p:spPr>
          <a:xfrm>
            <a:off x="235307" y="1812012"/>
            <a:ext cx="4063451" cy="1363821"/>
          </a:xfrm>
        </p:spPr>
        <p:txBody>
          <a:bodyPr/>
          <a:lstStyle/>
          <a:p>
            <a:pPr marL="173990" indent="-173990">
              <a:lnSpc>
                <a:spcPct val="85000"/>
              </a:lnSpc>
              <a:spcBef>
                <a:spcPct val="30000"/>
              </a:spcBef>
              <a:buNone/>
              <a:tabLst>
                <a:tab pos="2449830" algn="l"/>
              </a:tabLst>
            </a:pPr>
            <a:r>
              <a:rPr lang="zh-CN" altLang="zh-CN">
                <a:ea typeface="宋体" pitchFamily="2" charset="-122"/>
              </a:rPr>
              <a:t>每年,</a:t>
            </a:r>
          </a:p>
          <a:p>
            <a:pPr marL="173990" indent="-173990">
              <a:lnSpc>
                <a:spcPct val="85000"/>
              </a:lnSpc>
              <a:spcBef>
                <a:spcPct val="30000"/>
              </a:spcBef>
              <a:tabLst>
                <a:tab pos="2449830" algn="l"/>
              </a:tabLst>
            </a:pPr>
            <a:r>
              <a:rPr lang="zh-CN" altLang="zh-CN">
                <a:ea typeface="宋体" pitchFamily="2" charset="-122"/>
              </a:rPr>
              <a:t>名义GDP是用当期价格来衡量</a:t>
            </a:r>
          </a:p>
          <a:p>
            <a:pPr marL="173990" indent="-173990">
              <a:lnSpc>
                <a:spcPct val="85000"/>
              </a:lnSpc>
              <a:spcBef>
                <a:spcPct val="30000"/>
              </a:spcBef>
              <a:tabLst>
                <a:tab pos="2449830" algn="l"/>
              </a:tabLst>
            </a:pPr>
            <a:r>
              <a:rPr lang="zh-CN" altLang="zh-CN">
                <a:ea typeface="宋体" pitchFamily="2" charset="-122"/>
              </a:rPr>
              <a:t>真实GDP是用不变的基年价格来衡量（本例中以2005年作为基年）</a:t>
            </a:r>
          </a:p>
        </p:txBody>
      </p:sp>
      <p:graphicFrame>
        <p:nvGraphicFramePr>
          <p:cNvPr id="53252" name="Group 4"/>
          <p:cNvGraphicFramePr>
            <a:graphicFrameLocks noGrp="1"/>
          </p:cNvGraphicFramePr>
          <p:nvPr/>
        </p:nvGraphicFramePr>
        <p:xfrm>
          <a:off x="221701" y="427382"/>
          <a:ext cx="3850553" cy="1234964"/>
        </p:xfrm>
        <a:graphic>
          <a:graphicData uri="http://schemas.openxmlformats.org/drawingml/2006/table">
            <a:tbl>
              <a:tblPr/>
              <a:tblGrid>
                <a:gridCol w="530641">
                  <a:extLst>
                    <a:ext uri="{9D8B030D-6E8A-4147-A177-3AD203B41FA5}">
                      <a16:colId xmlns:a16="http://schemas.microsoft.com/office/drawing/2014/main" val="20000"/>
                    </a:ext>
                  </a:extLst>
                </a:gridCol>
                <a:gridCol w="827577">
                  <a:extLst>
                    <a:ext uri="{9D8B030D-6E8A-4147-A177-3AD203B41FA5}">
                      <a16:colId xmlns:a16="http://schemas.microsoft.com/office/drawing/2014/main" val="20001"/>
                    </a:ext>
                  </a:extLst>
                </a:gridCol>
                <a:gridCol w="551451">
                  <a:extLst>
                    <a:ext uri="{9D8B030D-6E8A-4147-A177-3AD203B41FA5}">
                      <a16:colId xmlns:a16="http://schemas.microsoft.com/office/drawing/2014/main" val="20002"/>
                    </a:ext>
                  </a:extLst>
                </a:gridCol>
                <a:gridCol w="649896">
                  <a:extLst>
                    <a:ext uri="{9D8B030D-6E8A-4147-A177-3AD203B41FA5}">
                      <a16:colId xmlns:a16="http://schemas.microsoft.com/office/drawing/2014/main" val="20003"/>
                    </a:ext>
                  </a:extLst>
                </a:gridCol>
                <a:gridCol w="1290988">
                  <a:extLst>
                    <a:ext uri="{9D8B030D-6E8A-4147-A177-3AD203B41FA5}">
                      <a16:colId xmlns:a16="http://schemas.microsoft.com/office/drawing/2014/main" val="20004"/>
                    </a:ext>
                  </a:extLst>
                </a:gridCol>
              </a:tblGrid>
              <a:tr h="46661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年份</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名义 </a:t>
                      </a:r>
                      <a:b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b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真实</a:t>
                      </a:r>
                      <a:b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b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2005</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$6000</a:t>
                      </a:r>
                    </a:p>
                  </a:txBody>
                  <a:tcPr marL="46101" marR="115253" marT="23051" marB="23051"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$6000</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2006</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$8250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$7200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2007</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$10,800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$8400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AD22016C-62BF-D740-8450-98AA711E9D41}" type="slidenum">
              <a:rPr lang="zh-CN" altLang="zh-CN">
                <a:latin typeface="Arial" panose="020B0604020202090204" pitchFamily="34" charset="0"/>
              </a:rPr>
              <a:t>51</a:t>
            </a:fld>
            <a:endParaRPr lang="en-US" altLang="zh-CN">
              <a:latin typeface="Arial" panose="020B0604020202090204" pitchFamily="34" charset="0"/>
            </a:endParaRPr>
          </a:p>
        </p:txBody>
      </p:sp>
      <p:sp>
        <p:nvSpPr>
          <p:cNvPr id="55298" name="Rectangle 2"/>
          <p:cNvSpPr>
            <a:spLocks noGrp="1" noChangeArrowheads="1"/>
          </p:cNvSpPr>
          <p:nvPr>
            <p:ph type="title" idx="4294967295"/>
          </p:nvPr>
        </p:nvSpPr>
        <p:spPr>
          <a:xfrm>
            <a:off x="201692" y="125644"/>
            <a:ext cx="3402350" cy="286531"/>
          </a:xfrm>
        </p:spPr>
        <p:txBody>
          <a:bodyPr/>
          <a:lstStyle/>
          <a:p>
            <a:pPr algn="l"/>
            <a:r>
              <a:rPr lang="zh-CN" altLang="zh-CN" sz="1815">
                <a:ea typeface="宋体" pitchFamily="2" charset="-122"/>
              </a:rPr>
              <a:t>例：</a:t>
            </a:r>
            <a:endParaRPr lang="zh-CN" altLang="en-US" sz="1815">
              <a:ea typeface="宋体" pitchFamily="2" charset="-122"/>
            </a:endParaRPr>
          </a:p>
        </p:txBody>
      </p:sp>
      <p:sp>
        <p:nvSpPr>
          <p:cNvPr id="55299" name="Rectangle 3"/>
          <p:cNvSpPr>
            <a:spLocks noGrp="1" noChangeArrowheads="1"/>
          </p:cNvSpPr>
          <p:nvPr>
            <p:ph type="body" idx="4294967295"/>
          </p:nvPr>
        </p:nvSpPr>
        <p:spPr>
          <a:xfrm>
            <a:off x="187286" y="1739979"/>
            <a:ext cx="4058649" cy="544248"/>
          </a:xfrm>
        </p:spPr>
        <p:txBody>
          <a:bodyPr/>
          <a:lstStyle/>
          <a:p>
            <a:pPr marL="144145" indent="-144145">
              <a:lnSpc>
                <a:spcPct val="85000"/>
              </a:lnSpc>
              <a:spcBef>
                <a:spcPct val="50000"/>
              </a:spcBef>
              <a:tabLst>
                <a:tab pos="2449830" algn="l"/>
              </a:tabLst>
            </a:pPr>
            <a:r>
              <a:rPr lang="zh-CN" altLang="zh-CN">
                <a:ea typeface="宋体" pitchFamily="2" charset="-122"/>
              </a:rPr>
              <a:t>名义GDP的变化反映了价格与产量的变化  </a:t>
            </a:r>
          </a:p>
        </p:txBody>
      </p:sp>
      <p:graphicFrame>
        <p:nvGraphicFramePr>
          <p:cNvPr id="55300" name="Group 4"/>
          <p:cNvGraphicFramePr>
            <a:graphicFrameLocks noGrp="1"/>
          </p:cNvGraphicFramePr>
          <p:nvPr/>
        </p:nvGraphicFramePr>
        <p:xfrm>
          <a:off x="221701" y="427382"/>
          <a:ext cx="3850554" cy="1234964"/>
        </p:xfrm>
        <a:graphic>
          <a:graphicData uri="http://schemas.openxmlformats.org/drawingml/2006/table">
            <a:tbl>
              <a:tblPr/>
              <a:tblGrid>
                <a:gridCol w="530641">
                  <a:extLst>
                    <a:ext uri="{9D8B030D-6E8A-4147-A177-3AD203B41FA5}">
                      <a16:colId xmlns:a16="http://schemas.microsoft.com/office/drawing/2014/main" val="20000"/>
                    </a:ext>
                  </a:extLst>
                </a:gridCol>
                <a:gridCol w="828378">
                  <a:extLst>
                    <a:ext uri="{9D8B030D-6E8A-4147-A177-3AD203B41FA5}">
                      <a16:colId xmlns:a16="http://schemas.microsoft.com/office/drawing/2014/main" val="20001"/>
                    </a:ext>
                  </a:extLst>
                </a:gridCol>
                <a:gridCol w="550651">
                  <a:extLst>
                    <a:ext uri="{9D8B030D-6E8A-4147-A177-3AD203B41FA5}">
                      <a16:colId xmlns:a16="http://schemas.microsoft.com/office/drawing/2014/main" val="20002"/>
                    </a:ext>
                  </a:extLst>
                </a:gridCol>
                <a:gridCol w="649896">
                  <a:extLst>
                    <a:ext uri="{9D8B030D-6E8A-4147-A177-3AD203B41FA5}">
                      <a16:colId xmlns:a16="http://schemas.microsoft.com/office/drawing/2014/main" val="20003"/>
                    </a:ext>
                  </a:extLst>
                </a:gridCol>
                <a:gridCol w="1290988">
                  <a:extLst>
                    <a:ext uri="{9D8B030D-6E8A-4147-A177-3AD203B41FA5}">
                      <a16:colId xmlns:a16="http://schemas.microsoft.com/office/drawing/2014/main" val="20004"/>
                    </a:ext>
                  </a:extLst>
                </a:gridCol>
              </a:tblGrid>
              <a:tr h="46661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年份</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名义 </a:t>
                      </a:r>
                      <a:b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b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真实</a:t>
                      </a:r>
                      <a:b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b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2005</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$6000</a:t>
                      </a:r>
                    </a:p>
                  </a:txBody>
                  <a:tcPr marL="46101" marR="115253" marT="23051" marB="23051"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$6000</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2006</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$8250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$7200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2007</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$10,800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$8400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55322" name="Group 26"/>
          <p:cNvGrpSpPr/>
          <p:nvPr/>
        </p:nvGrpSpPr>
        <p:grpSpPr bwMode="auto">
          <a:xfrm>
            <a:off x="2694027" y="1006846"/>
            <a:ext cx="649896" cy="597072"/>
            <a:chOff x="0" y="0"/>
            <a:chExt cx="812" cy="746"/>
          </a:xfrm>
        </p:grpSpPr>
        <p:grpSp>
          <p:nvGrpSpPr>
            <p:cNvPr id="55323" name="Group 27"/>
            <p:cNvGrpSpPr/>
            <p:nvPr/>
          </p:nvGrpSpPr>
          <p:grpSpPr bwMode="auto">
            <a:xfrm>
              <a:off x="4" y="0"/>
              <a:ext cx="808" cy="385"/>
              <a:chOff x="0" y="0"/>
              <a:chExt cx="865" cy="481"/>
            </a:xfrm>
          </p:grpSpPr>
          <p:sp>
            <p:nvSpPr>
              <p:cNvPr id="55324" name="Text Box 44"/>
              <p:cNvSpPr txBox="1">
                <a:spLocks noChangeArrowheads="1"/>
              </p:cNvSpPr>
              <p:nvPr/>
            </p:nvSpPr>
            <p:spPr bwMode="auto">
              <a:xfrm>
                <a:off x="193" y="33"/>
                <a:ext cx="672" cy="44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260">
                    <a:solidFill>
                      <a:srgbClr val="000000"/>
                    </a:solidFill>
                    <a:ea typeface="宋体" pitchFamily="2" charset="-122"/>
                  </a:rPr>
                  <a:t>20.0%</a:t>
                </a:r>
              </a:p>
            </p:txBody>
          </p:sp>
          <p:sp>
            <p:nvSpPr>
              <p:cNvPr id="55325" name="AutoShape 45"/>
              <p:cNvSpPr/>
              <p:nvPr/>
            </p:nvSpPr>
            <p:spPr bwMode="auto">
              <a:xfrm>
                <a:off x="0" y="0"/>
                <a:ext cx="156" cy="414"/>
              </a:xfrm>
              <a:prstGeom prst="rightBrace">
                <a:avLst>
                  <a:gd name="adj1" fmla="val 22115"/>
                  <a:gd name="adj2" fmla="val 50000"/>
                </a:avLst>
              </a:prstGeom>
              <a:noFill/>
              <a:ln w="19050">
                <a:solidFill>
                  <a:srgbClr val="8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grpSp>
          <p:nvGrpSpPr>
            <p:cNvPr id="55326" name="Group 30"/>
            <p:cNvGrpSpPr/>
            <p:nvPr/>
          </p:nvGrpSpPr>
          <p:grpSpPr bwMode="auto">
            <a:xfrm>
              <a:off x="0" y="330"/>
              <a:ext cx="812" cy="416"/>
              <a:chOff x="0" y="0"/>
              <a:chExt cx="851" cy="465"/>
            </a:xfrm>
          </p:grpSpPr>
          <p:sp>
            <p:nvSpPr>
              <p:cNvPr id="55327" name="Text Box 47"/>
              <p:cNvSpPr txBox="1">
                <a:spLocks noChangeArrowheads="1"/>
              </p:cNvSpPr>
              <p:nvPr/>
            </p:nvSpPr>
            <p:spPr bwMode="auto">
              <a:xfrm>
                <a:off x="196" y="65"/>
                <a:ext cx="655" cy="4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260">
                    <a:solidFill>
                      <a:srgbClr val="000000"/>
                    </a:solidFill>
                    <a:ea typeface="宋体" pitchFamily="2" charset="-122"/>
                  </a:rPr>
                  <a:t>16.7%</a:t>
                </a:r>
              </a:p>
            </p:txBody>
          </p:sp>
          <p:sp>
            <p:nvSpPr>
              <p:cNvPr id="55328" name="AutoShape 48"/>
              <p:cNvSpPr/>
              <p:nvPr/>
            </p:nvSpPr>
            <p:spPr bwMode="auto">
              <a:xfrm>
                <a:off x="0" y="0"/>
                <a:ext cx="156" cy="414"/>
              </a:xfrm>
              <a:prstGeom prst="rightBrace">
                <a:avLst>
                  <a:gd name="adj1" fmla="val 22115"/>
                  <a:gd name="adj2" fmla="val 50000"/>
                </a:avLst>
              </a:prstGeom>
              <a:noFill/>
              <a:ln w="19050">
                <a:solidFill>
                  <a:srgbClr val="8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grpSp>
      <p:grpSp>
        <p:nvGrpSpPr>
          <p:cNvPr id="55329" name="Group 33"/>
          <p:cNvGrpSpPr/>
          <p:nvPr/>
        </p:nvGrpSpPr>
        <p:grpSpPr bwMode="auto">
          <a:xfrm>
            <a:off x="1479874" y="988437"/>
            <a:ext cx="652297" cy="619482"/>
            <a:chOff x="0" y="0"/>
            <a:chExt cx="815" cy="774"/>
          </a:xfrm>
        </p:grpSpPr>
        <p:grpSp>
          <p:nvGrpSpPr>
            <p:cNvPr id="55330" name="Group 34"/>
            <p:cNvGrpSpPr/>
            <p:nvPr/>
          </p:nvGrpSpPr>
          <p:grpSpPr bwMode="auto">
            <a:xfrm>
              <a:off x="0" y="0"/>
              <a:ext cx="809" cy="393"/>
              <a:chOff x="0" y="0"/>
              <a:chExt cx="854" cy="457"/>
            </a:xfrm>
          </p:grpSpPr>
          <p:sp>
            <p:nvSpPr>
              <p:cNvPr id="55331" name="Text Box 51"/>
              <p:cNvSpPr txBox="1">
                <a:spLocks noChangeArrowheads="1"/>
              </p:cNvSpPr>
              <p:nvPr/>
            </p:nvSpPr>
            <p:spPr bwMode="auto">
              <a:xfrm>
                <a:off x="182" y="41"/>
                <a:ext cx="672" cy="41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260">
                    <a:solidFill>
                      <a:srgbClr val="000000"/>
                    </a:solidFill>
                    <a:ea typeface="宋体" pitchFamily="2" charset="-122"/>
                  </a:rPr>
                  <a:t>37.5%</a:t>
                </a:r>
              </a:p>
            </p:txBody>
          </p:sp>
          <p:sp>
            <p:nvSpPr>
              <p:cNvPr id="55332" name="AutoShape 52"/>
              <p:cNvSpPr/>
              <p:nvPr/>
            </p:nvSpPr>
            <p:spPr bwMode="auto">
              <a:xfrm>
                <a:off x="0" y="0"/>
                <a:ext cx="156" cy="426"/>
              </a:xfrm>
              <a:prstGeom prst="rightBrace">
                <a:avLst>
                  <a:gd name="adj1" fmla="val 22756"/>
                  <a:gd name="adj2" fmla="val 50000"/>
                </a:avLst>
              </a:prstGeom>
              <a:noFill/>
              <a:ln w="19050">
                <a:solidFill>
                  <a:srgbClr val="3333CC"/>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grpSp>
          <p:nvGrpSpPr>
            <p:cNvPr id="55333" name="Group 37"/>
            <p:cNvGrpSpPr/>
            <p:nvPr/>
          </p:nvGrpSpPr>
          <p:grpSpPr bwMode="auto">
            <a:xfrm>
              <a:off x="3" y="364"/>
              <a:ext cx="812" cy="410"/>
              <a:chOff x="0" y="0"/>
              <a:chExt cx="842" cy="499"/>
            </a:xfrm>
          </p:grpSpPr>
          <p:sp>
            <p:nvSpPr>
              <p:cNvPr id="55334" name="Text Box 54"/>
              <p:cNvSpPr txBox="1">
                <a:spLocks noChangeArrowheads="1"/>
              </p:cNvSpPr>
              <p:nvPr/>
            </p:nvSpPr>
            <p:spPr bwMode="auto">
              <a:xfrm>
                <a:off x="187" y="64"/>
                <a:ext cx="655" cy="43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260">
                    <a:solidFill>
                      <a:srgbClr val="000000"/>
                    </a:solidFill>
                    <a:ea typeface="宋体" pitchFamily="2" charset="-122"/>
                  </a:rPr>
                  <a:t>30.9%</a:t>
                </a:r>
              </a:p>
            </p:txBody>
          </p:sp>
          <p:sp>
            <p:nvSpPr>
              <p:cNvPr id="55335" name="AutoShape 55"/>
              <p:cNvSpPr/>
              <p:nvPr/>
            </p:nvSpPr>
            <p:spPr bwMode="auto">
              <a:xfrm>
                <a:off x="0" y="0"/>
                <a:ext cx="156" cy="432"/>
              </a:xfrm>
              <a:prstGeom prst="rightBrace">
                <a:avLst>
                  <a:gd name="adj1" fmla="val 23077"/>
                  <a:gd name="adj2" fmla="val 50000"/>
                </a:avLst>
              </a:prstGeom>
              <a:noFill/>
              <a:ln w="19050">
                <a:solidFill>
                  <a:srgbClr val="3333CC"/>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grpSp>
      <p:sp>
        <p:nvSpPr>
          <p:cNvPr id="55336" name="Rectangle 56"/>
          <p:cNvSpPr>
            <a:spLocks noChangeArrowheads="1"/>
          </p:cNvSpPr>
          <p:nvPr/>
        </p:nvSpPr>
        <p:spPr bwMode="auto">
          <a:xfrm>
            <a:off x="201692" y="2237006"/>
            <a:ext cx="4047444" cy="71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tabLst>
                <a:tab pos="4859020" algn="l"/>
              </a:tabLst>
              <a:defRPr>
                <a:solidFill>
                  <a:schemeClr val="tx1"/>
                </a:solidFill>
                <a:latin typeface="Arial" panose="020B0604020202090204" pitchFamily="34" charset="0"/>
              </a:defRPr>
            </a:lvl1pPr>
            <a:lvl2pPr marL="742950" indent="-285750">
              <a:tabLst>
                <a:tab pos="4859020" algn="l"/>
              </a:tabLst>
              <a:defRPr>
                <a:solidFill>
                  <a:schemeClr val="tx1"/>
                </a:solidFill>
                <a:latin typeface="Arial" panose="020B0604020202090204" pitchFamily="34" charset="0"/>
              </a:defRPr>
            </a:lvl2pPr>
            <a:lvl3pPr marL="1143000" indent="-228600">
              <a:tabLst>
                <a:tab pos="4859020" algn="l"/>
              </a:tabLst>
              <a:defRPr>
                <a:solidFill>
                  <a:schemeClr val="tx1"/>
                </a:solidFill>
                <a:latin typeface="Arial" panose="020B0604020202090204" pitchFamily="34" charset="0"/>
              </a:defRPr>
            </a:lvl3pPr>
            <a:lvl4pPr marL="1600200" indent="-228600">
              <a:tabLst>
                <a:tab pos="4859020" algn="l"/>
              </a:tabLst>
              <a:defRPr>
                <a:solidFill>
                  <a:schemeClr val="tx1"/>
                </a:solidFill>
                <a:latin typeface="Arial" panose="020B0604020202090204" pitchFamily="34" charset="0"/>
              </a:defRPr>
            </a:lvl4pPr>
            <a:lvl5pPr marL="2057400" indent="-228600">
              <a:tabLst>
                <a:tab pos="4859020" algn="l"/>
              </a:tabLst>
              <a:defRPr>
                <a:solidFill>
                  <a:schemeClr val="tx1"/>
                </a:solidFill>
                <a:latin typeface="Arial" panose="020B0604020202090204" pitchFamily="34" charset="0"/>
              </a:defRPr>
            </a:lvl5pPr>
            <a:lvl6pPr marL="2514600" indent="-228600" fontAlgn="base">
              <a:spcBef>
                <a:spcPct val="0"/>
              </a:spcBef>
              <a:spcAft>
                <a:spcPct val="0"/>
              </a:spcAft>
              <a:tabLst>
                <a:tab pos="4859020" algn="l"/>
              </a:tabLst>
              <a:defRPr>
                <a:solidFill>
                  <a:schemeClr val="tx1"/>
                </a:solidFill>
                <a:latin typeface="Arial" panose="020B0604020202090204" pitchFamily="34" charset="0"/>
              </a:defRPr>
            </a:lvl6pPr>
            <a:lvl7pPr marL="2971800" indent="-228600" fontAlgn="base">
              <a:spcBef>
                <a:spcPct val="0"/>
              </a:spcBef>
              <a:spcAft>
                <a:spcPct val="0"/>
              </a:spcAft>
              <a:tabLst>
                <a:tab pos="4859020" algn="l"/>
              </a:tabLst>
              <a:defRPr>
                <a:solidFill>
                  <a:schemeClr val="tx1"/>
                </a:solidFill>
                <a:latin typeface="Arial" panose="020B0604020202090204" pitchFamily="34" charset="0"/>
              </a:defRPr>
            </a:lvl7pPr>
            <a:lvl8pPr marL="3429000" indent="-228600" fontAlgn="base">
              <a:spcBef>
                <a:spcPct val="0"/>
              </a:spcBef>
              <a:spcAft>
                <a:spcPct val="0"/>
              </a:spcAft>
              <a:tabLst>
                <a:tab pos="4859020" algn="l"/>
              </a:tabLst>
              <a:defRPr>
                <a:solidFill>
                  <a:schemeClr val="tx1"/>
                </a:solidFill>
                <a:latin typeface="Arial" panose="020B0604020202090204" pitchFamily="34" charset="0"/>
              </a:defRPr>
            </a:lvl8pPr>
            <a:lvl9pPr marL="3886200" indent="-228600" fontAlgn="base">
              <a:spcBef>
                <a:spcPct val="0"/>
              </a:spcBef>
              <a:spcAft>
                <a:spcPct val="0"/>
              </a:spcAft>
              <a:tabLst>
                <a:tab pos="4859020" algn="l"/>
              </a:tabLst>
              <a:defRPr>
                <a:solidFill>
                  <a:schemeClr val="tx1"/>
                </a:solidFill>
                <a:latin typeface="Arial" panose="020B0604020202090204" pitchFamily="34" charset="0"/>
              </a:defRPr>
            </a:lvl9pPr>
          </a:lstStyle>
          <a:p>
            <a:pPr marL="144145" indent="-144145" defTabSz="461010" fontAlgn="base">
              <a:lnSpc>
                <a:spcPct val="105000"/>
              </a:lnSpc>
              <a:spcBef>
                <a:spcPct val="50000"/>
              </a:spcBef>
              <a:spcAft>
                <a:spcPct val="0"/>
              </a:spcAft>
              <a:buClr>
                <a:srgbClr val="339966"/>
              </a:buClr>
              <a:buSzPct val="120000"/>
              <a:buFont typeface="Wingdings" panose="05000000000000000000" pitchFamily="2" charset="2"/>
              <a:buChar char="§"/>
              <a:tabLst>
                <a:tab pos="2449830" algn="l"/>
              </a:tabLst>
            </a:pPr>
            <a:r>
              <a:rPr lang="zh-CN" altLang="zh-CN" sz="1410">
                <a:solidFill>
                  <a:srgbClr val="000000"/>
                </a:solidFill>
                <a:ea typeface="宋体" pitchFamily="2" charset="-122"/>
              </a:rPr>
              <a:t>真实</a:t>
            </a:r>
            <a:r>
              <a:rPr lang="en-US" altLang="zh-CN" sz="1410">
                <a:solidFill>
                  <a:srgbClr val="000000"/>
                </a:solidFill>
                <a:ea typeface="宋体" pitchFamily="2" charset="-122"/>
              </a:rPr>
              <a:t>GDP</a:t>
            </a:r>
            <a:r>
              <a:rPr lang="zh-CN" altLang="zh-CN" sz="1410">
                <a:solidFill>
                  <a:srgbClr val="000000"/>
                </a:solidFill>
                <a:ea typeface="宋体" pitchFamily="2" charset="-122"/>
              </a:rPr>
              <a:t>的变化是价格不变时（就是零通货膨胀条件），</a:t>
            </a:r>
            <a:r>
              <a:rPr lang="en-US" altLang="zh-CN" sz="1410">
                <a:solidFill>
                  <a:srgbClr val="000000"/>
                </a:solidFill>
                <a:ea typeface="宋体" pitchFamily="2" charset="-122"/>
              </a:rPr>
              <a:t>GDP</a:t>
            </a:r>
            <a:r>
              <a:rPr lang="zh-CN" altLang="zh-CN" sz="1410">
                <a:solidFill>
                  <a:srgbClr val="000000"/>
                </a:solidFill>
                <a:ea typeface="宋体" pitchFamily="2" charset="-122"/>
              </a:rPr>
              <a:t>数量的变化 </a:t>
            </a:r>
            <a:br>
              <a:rPr lang="zh-CN" altLang="zh-CN" sz="1310">
                <a:solidFill>
                  <a:srgbClr val="000000"/>
                </a:solidFill>
                <a:ea typeface="宋体" pitchFamily="2" charset="-122"/>
              </a:rPr>
            </a:br>
            <a:endParaRPr lang="zh-CN" altLang="en-US" sz="1310">
              <a:solidFill>
                <a:srgbClr val="000000"/>
              </a:solidFill>
              <a:ea typeface="宋体" pitchFamily="2" charset="-122"/>
            </a:endParaRPr>
          </a:p>
        </p:txBody>
      </p:sp>
      <p:sp>
        <p:nvSpPr>
          <p:cNvPr id="55337" name="Rectangle 57"/>
          <p:cNvSpPr>
            <a:spLocks noChangeArrowheads="1"/>
          </p:cNvSpPr>
          <p:nvPr/>
        </p:nvSpPr>
        <p:spPr bwMode="auto">
          <a:xfrm>
            <a:off x="218500" y="2875697"/>
            <a:ext cx="4047443" cy="267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tabLst>
                <a:tab pos="4859020" algn="l"/>
              </a:tabLst>
              <a:defRPr>
                <a:solidFill>
                  <a:schemeClr val="tx1"/>
                </a:solidFill>
                <a:latin typeface="Arial" panose="020B0604020202090204" pitchFamily="34" charset="0"/>
              </a:defRPr>
            </a:lvl1pPr>
            <a:lvl2pPr marL="742950" indent="-285750">
              <a:tabLst>
                <a:tab pos="4859020" algn="l"/>
              </a:tabLst>
              <a:defRPr>
                <a:solidFill>
                  <a:schemeClr val="tx1"/>
                </a:solidFill>
                <a:latin typeface="Arial" panose="020B0604020202090204" pitchFamily="34" charset="0"/>
              </a:defRPr>
            </a:lvl2pPr>
            <a:lvl3pPr marL="1143000" indent="-228600">
              <a:tabLst>
                <a:tab pos="4859020" algn="l"/>
              </a:tabLst>
              <a:defRPr>
                <a:solidFill>
                  <a:schemeClr val="tx1"/>
                </a:solidFill>
                <a:latin typeface="Arial" panose="020B0604020202090204" pitchFamily="34" charset="0"/>
              </a:defRPr>
            </a:lvl3pPr>
            <a:lvl4pPr marL="1600200" indent="-228600">
              <a:tabLst>
                <a:tab pos="4859020" algn="l"/>
              </a:tabLst>
              <a:defRPr>
                <a:solidFill>
                  <a:schemeClr val="tx1"/>
                </a:solidFill>
                <a:latin typeface="Arial" panose="020B0604020202090204" pitchFamily="34" charset="0"/>
              </a:defRPr>
            </a:lvl4pPr>
            <a:lvl5pPr marL="2057400" indent="-228600">
              <a:tabLst>
                <a:tab pos="4859020" algn="l"/>
              </a:tabLst>
              <a:defRPr>
                <a:solidFill>
                  <a:schemeClr val="tx1"/>
                </a:solidFill>
                <a:latin typeface="Arial" panose="020B0604020202090204" pitchFamily="34" charset="0"/>
              </a:defRPr>
            </a:lvl5pPr>
            <a:lvl6pPr marL="2514600" indent="-228600" fontAlgn="base">
              <a:spcBef>
                <a:spcPct val="0"/>
              </a:spcBef>
              <a:spcAft>
                <a:spcPct val="0"/>
              </a:spcAft>
              <a:tabLst>
                <a:tab pos="4859020" algn="l"/>
              </a:tabLst>
              <a:defRPr>
                <a:solidFill>
                  <a:schemeClr val="tx1"/>
                </a:solidFill>
                <a:latin typeface="Arial" panose="020B0604020202090204" pitchFamily="34" charset="0"/>
              </a:defRPr>
            </a:lvl6pPr>
            <a:lvl7pPr marL="2971800" indent="-228600" fontAlgn="base">
              <a:spcBef>
                <a:spcPct val="0"/>
              </a:spcBef>
              <a:spcAft>
                <a:spcPct val="0"/>
              </a:spcAft>
              <a:tabLst>
                <a:tab pos="4859020" algn="l"/>
              </a:tabLst>
              <a:defRPr>
                <a:solidFill>
                  <a:schemeClr val="tx1"/>
                </a:solidFill>
                <a:latin typeface="Arial" panose="020B0604020202090204" pitchFamily="34" charset="0"/>
              </a:defRPr>
            </a:lvl7pPr>
            <a:lvl8pPr marL="3429000" indent="-228600" fontAlgn="base">
              <a:spcBef>
                <a:spcPct val="0"/>
              </a:spcBef>
              <a:spcAft>
                <a:spcPct val="0"/>
              </a:spcAft>
              <a:tabLst>
                <a:tab pos="4859020" algn="l"/>
              </a:tabLst>
              <a:defRPr>
                <a:solidFill>
                  <a:schemeClr val="tx1"/>
                </a:solidFill>
                <a:latin typeface="Arial" panose="020B0604020202090204" pitchFamily="34" charset="0"/>
              </a:defRPr>
            </a:lvl8pPr>
            <a:lvl9pPr marL="3886200" indent="-228600" fontAlgn="base">
              <a:spcBef>
                <a:spcPct val="0"/>
              </a:spcBef>
              <a:spcAft>
                <a:spcPct val="0"/>
              </a:spcAft>
              <a:tabLst>
                <a:tab pos="4859020" algn="l"/>
              </a:tabLst>
              <a:defRPr>
                <a:solidFill>
                  <a:schemeClr val="tx1"/>
                </a:solidFill>
                <a:latin typeface="Arial" panose="020B0604020202090204" pitchFamily="34" charset="0"/>
              </a:defRPr>
            </a:lvl9pPr>
          </a:lstStyle>
          <a:p>
            <a:pPr marL="144145" indent="-144145" algn="ctr" defTabSz="461010" fontAlgn="base">
              <a:lnSpc>
                <a:spcPct val="105000"/>
              </a:lnSpc>
              <a:spcBef>
                <a:spcPct val="25000"/>
              </a:spcBef>
              <a:spcAft>
                <a:spcPct val="0"/>
              </a:spcAft>
              <a:buClr>
                <a:srgbClr val="00B85C"/>
              </a:buClr>
              <a:buSzPct val="120000"/>
              <a:tabLst>
                <a:tab pos="2449830" algn="l"/>
              </a:tabLst>
            </a:pPr>
            <a:r>
              <a:rPr lang="zh-CN" altLang="zh-CN" sz="1410">
                <a:solidFill>
                  <a:srgbClr val="CC0000"/>
                </a:solidFill>
                <a:ea typeface="宋体" pitchFamily="2" charset="-122"/>
              </a:rPr>
              <a:t>因此，真实</a:t>
            </a:r>
            <a:r>
              <a:rPr lang="zh-CN" altLang="en-US" sz="1410">
                <a:solidFill>
                  <a:srgbClr val="CC0000"/>
                </a:solidFill>
                <a:ea typeface="宋体" pitchFamily="2" charset="-122"/>
              </a:rPr>
              <a:t> </a:t>
            </a:r>
            <a:r>
              <a:rPr lang="en-US" altLang="zh-CN" sz="1410">
                <a:solidFill>
                  <a:srgbClr val="CC0000"/>
                </a:solidFill>
                <a:ea typeface="宋体" pitchFamily="2" charset="-122"/>
              </a:rPr>
              <a:t>GDP</a:t>
            </a:r>
            <a:r>
              <a:rPr lang="zh-CN" altLang="zh-CN" sz="1410">
                <a:solidFill>
                  <a:srgbClr val="CC0000"/>
                </a:solidFill>
                <a:ea typeface="宋体" pitchFamily="2" charset="-122"/>
              </a:rPr>
              <a:t>经过通货膨胀校正</a:t>
            </a:r>
            <a:endParaRPr lang="zh-CN" altLang="en-US" sz="1410">
              <a:solidFill>
                <a:srgbClr val="CC0000"/>
              </a:solidFill>
              <a:ea typeface="宋体" pitchFamily="2" charset="-122"/>
            </a:endParaRPr>
          </a:p>
        </p:txBody>
      </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5329"/>
                                        </p:tgtEl>
                                        <p:attrNameLst>
                                          <p:attrName>style.visibility</p:attrName>
                                        </p:attrNameLst>
                                      </p:cBhvr>
                                      <p:to>
                                        <p:strVal val="visible"/>
                                      </p:to>
                                    </p:set>
                                    <p:animEffect transition="in" filter="dissolve">
                                      <p:cBhvr>
                                        <p:cTn id="7" dur="500"/>
                                        <p:tgtEl>
                                          <p:spTgt spid="5532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5299">
                                            <p:txEl>
                                              <p:pRg st="0" end="0"/>
                                            </p:txEl>
                                          </p:spTgt>
                                        </p:tgtEl>
                                        <p:attrNameLst>
                                          <p:attrName>style.visibility</p:attrName>
                                        </p:attrNameLst>
                                      </p:cBhvr>
                                      <p:to>
                                        <p:strVal val="visible"/>
                                      </p:to>
                                    </p:set>
                                    <p:animEffect transition="in" filter="wipe(left)">
                                      <p:cBhvr>
                                        <p:cTn id="11" dur="500"/>
                                        <p:tgtEl>
                                          <p:spTgt spid="5529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55322"/>
                                        </p:tgtEl>
                                        <p:attrNameLst>
                                          <p:attrName>style.visibility</p:attrName>
                                        </p:attrNameLst>
                                      </p:cBhvr>
                                      <p:to>
                                        <p:strVal val="visible"/>
                                      </p:to>
                                    </p:set>
                                    <p:animEffect transition="in" filter="dissolve">
                                      <p:cBhvr>
                                        <p:cTn id="16" dur="500"/>
                                        <p:tgtEl>
                                          <p:spTgt spid="55322"/>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5336"/>
                                        </p:tgtEl>
                                        <p:attrNameLst>
                                          <p:attrName>style.visibility</p:attrName>
                                        </p:attrNameLst>
                                      </p:cBhvr>
                                      <p:to>
                                        <p:strVal val="visible"/>
                                      </p:to>
                                    </p:set>
                                    <p:animEffect transition="in" filter="wipe(left)">
                                      <p:cBhvr>
                                        <p:cTn id="20" dur="500"/>
                                        <p:tgtEl>
                                          <p:spTgt spid="5533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5337"/>
                                        </p:tgtEl>
                                        <p:attrNameLst>
                                          <p:attrName>style.visibility</p:attrName>
                                        </p:attrNameLst>
                                      </p:cBhvr>
                                      <p:to>
                                        <p:strVal val="visible"/>
                                      </p:to>
                                    </p:set>
                                    <p:animEffect transition="in" filter="wipe(left)">
                                      <p:cBhvr>
                                        <p:cTn id="25" dur="500"/>
                                        <p:tgtEl>
                                          <p:spTgt spid="55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bldLvl="5" autoUpdateAnimBg="0"/>
      <p:bldP spid="55336" grpId="0" autoUpdateAnimBg="0"/>
      <p:bldP spid="55337"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bwMode="auto">
      <p:bgPr>
        <a:solidFill>
          <a:srgbClr val="CCFFCC"/>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a:xfrm>
            <a:off x="100846" y="140051"/>
            <a:ext cx="4394802" cy="410587"/>
          </a:xfrm>
        </p:spPr>
        <p:txBody>
          <a:bodyPr/>
          <a:lstStyle/>
          <a:p>
            <a:r>
              <a:rPr lang="zh-CN" altLang="zh-CN" sz="1815">
                <a:ea typeface="宋体" pitchFamily="2" charset="-122"/>
              </a:rPr>
              <a:t>美国的名义</a:t>
            </a:r>
            <a:r>
              <a:rPr lang="en-US" altLang="zh-CN" sz="1815">
                <a:ea typeface="宋体" pitchFamily="2" charset="-122"/>
              </a:rPr>
              <a:t>GDP</a:t>
            </a:r>
            <a:r>
              <a:rPr lang="zh-CN" altLang="zh-CN" sz="1815">
                <a:ea typeface="宋体" pitchFamily="2" charset="-122"/>
              </a:rPr>
              <a:t>与真实</a:t>
            </a:r>
            <a:r>
              <a:rPr lang="en-US" altLang="zh-CN" sz="1815">
                <a:ea typeface="宋体" pitchFamily="2" charset="-122"/>
              </a:rPr>
              <a:t>GDP</a:t>
            </a:r>
            <a:r>
              <a:rPr lang="zh-CN" altLang="zh-CN" sz="1815">
                <a:ea typeface="宋体" pitchFamily="2" charset="-122"/>
              </a:rPr>
              <a:t>：</a:t>
            </a:r>
            <a:r>
              <a:rPr lang="zh-CN" altLang="en-US" sz="1815">
                <a:ea typeface="宋体" pitchFamily="2" charset="-122"/>
              </a:rPr>
              <a:t>  </a:t>
            </a:r>
            <a:br>
              <a:rPr lang="zh-CN" altLang="en-US" sz="1815">
                <a:ea typeface="宋体" pitchFamily="2" charset="-122"/>
              </a:rPr>
            </a:br>
            <a:r>
              <a:rPr lang="en-US" altLang="zh-CN" sz="1815">
                <a:ea typeface="宋体" pitchFamily="2" charset="-122"/>
              </a:rPr>
              <a:t>1950-2020</a:t>
            </a:r>
          </a:p>
        </p:txBody>
      </p:sp>
      <p:sp>
        <p:nvSpPr>
          <p:cNvPr id="57352" name="Rectangle 8"/>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F83AEF6B-1DBA-034F-A029-35D324C743C4}" type="slidenum">
              <a:rPr lang="zh-CN" altLang="zh-CN" sz="855">
                <a:solidFill>
                  <a:srgbClr val="777777"/>
                </a:solidFill>
                <a:latin typeface="Arial" panose="020B0604020202090204" pitchFamily="34" charset="0"/>
                <a:ea typeface="宋体" pitchFamily="2" charset="-122"/>
              </a:rPr>
              <a:t>52</a:t>
            </a:fld>
            <a:endParaRPr lang="en-US" altLang="zh-CN" sz="855">
              <a:solidFill>
                <a:srgbClr val="777777"/>
              </a:solidFill>
              <a:latin typeface="Arial" panose="020B0604020202090204" pitchFamily="34" charset="0"/>
              <a:ea typeface="宋体" pitchFamily="2" charset="-122"/>
            </a:endParaRPr>
          </a:p>
        </p:txBody>
      </p:sp>
      <p:pic>
        <p:nvPicPr>
          <p:cNvPr id="3" name="图片 2" descr="fredgraph-2"/>
          <p:cNvPicPr>
            <a:picLocks noChangeAspect="1"/>
          </p:cNvPicPr>
          <p:nvPr/>
        </p:nvPicPr>
        <p:blipFill>
          <a:blip r:embed="rId3"/>
          <a:stretch>
            <a:fillRect/>
          </a:stretch>
        </p:blipFill>
        <p:spPr>
          <a:xfrm>
            <a:off x="0" y="619760"/>
            <a:ext cx="4610100" cy="2534285"/>
          </a:xfrm>
          <a:prstGeom prst="rect">
            <a:avLst/>
          </a:prstGeom>
        </p:spPr>
      </p:pic>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6D11537A-76C7-3149-8955-8442A1FF812B}" type="slidenum">
              <a:rPr lang="zh-CN" altLang="zh-CN">
                <a:latin typeface="Arial" panose="020B0604020202090204" pitchFamily="34" charset="0"/>
              </a:rPr>
              <a:t>53</a:t>
            </a:fld>
            <a:endParaRPr lang="en-US" altLang="zh-CN">
              <a:latin typeface="Arial" panose="020B0604020202090204" pitchFamily="34" charset="0"/>
            </a:endParaRPr>
          </a:p>
        </p:txBody>
      </p:sp>
      <p:sp>
        <p:nvSpPr>
          <p:cNvPr id="59394" name="Rectangle 2"/>
          <p:cNvSpPr>
            <a:spLocks noGrp="1" noChangeArrowheads="1"/>
          </p:cNvSpPr>
          <p:nvPr>
            <p:ph type="title" idx="4294967295"/>
          </p:nvPr>
        </p:nvSpPr>
        <p:spPr>
          <a:xfrm>
            <a:off x="230505" y="117641"/>
            <a:ext cx="4149090" cy="432997"/>
          </a:xfrm>
        </p:spPr>
        <p:txBody>
          <a:bodyPr/>
          <a:lstStyle/>
          <a:p>
            <a:r>
              <a:rPr lang="en-US" altLang="zh-CN" sz="2015">
                <a:ea typeface="宋体" pitchFamily="2" charset="-122"/>
              </a:rPr>
              <a:t> GDP</a:t>
            </a:r>
            <a:r>
              <a:rPr lang="zh-CN" altLang="zh-CN" sz="2015">
                <a:ea typeface="宋体" pitchFamily="2" charset="-122"/>
              </a:rPr>
              <a:t>平减指数</a:t>
            </a:r>
          </a:p>
        </p:txBody>
      </p:sp>
      <p:sp>
        <p:nvSpPr>
          <p:cNvPr id="59395" name="Rectangle 3"/>
          <p:cNvSpPr>
            <a:spLocks noGrp="1" noChangeArrowheads="1"/>
          </p:cNvSpPr>
          <p:nvPr>
            <p:ph type="body" idx="4294967295"/>
          </p:nvPr>
        </p:nvSpPr>
        <p:spPr>
          <a:xfrm>
            <a:off x="199291" y="529028"/>
            <a:ext cx="4052246" cy="874798"/>
          </a:xfrm>
        </p:spPr>
        <p:txBody>
          <a:bodyPr/>
          <a:lstStyle/>
          <a:p>
            <a:r>
              <a:rPr lang="zh-CN" altLang="zh-CN">
                <a:ea typeface="宋体" pitchFamily="2" charset="-122"/>
              </a:rPr>
              <a:t>GDP平减指数是对总体价格水平的衡量   </a:t>
            </a:r>
          </a:p>
          <a:p>
            <a:r>
              <a:rPr lang="zh-CN" altLang="zh-CN">
                <a:ea typeface="宋体" pitchFamily="2" charset="-122"/>
              </a:rPr>
              <a:t>定义:</a:t>
            </a:r>
          </a:p>
        </p:txBody>
      </p:sp>
      <p:sp>
        <p:nvSpPr>
          <p:cNvPr id="59396" name="Rectangle 5"/>
          <p:cNvSpPr>
            <a:spLocks noChangeArrowheads="1"/>
          </p:cNvSpPr>
          <p:nvPr/>
        </p:nvSpPr>
        <p:spPr bwMode="auto">
          <a:xfrm>
            <a:off x="194489" y="2207392"/>
            <a:ext cx="4077057" cy="77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marL="172720" indent="-172720" defTabSz="461010" fontAlgn="base">
              <a:lnSpc>
                <a:spcPct val="105000"/>
              </a:lnSpc>
              <a:spcBef>
                <a:spcPct val="45000"/>
              </a:spcBef>
              <a:spcAft>
                <a:spcPct val="0"/>
              </a:spcAft>
              <a:buClr>
                <a:srgbClr val="339966"/>
              </a:buClr>
              <a:buSzPct val="120000"/>
              <a:buFont typeface="Wingdings" panose="05000000000000000000" pitchFamily="2" charset="2"/>
              <a:buChar char="§"/>
            </a:pPr>
            <a:r>
              <a:rPr lang="zh-CN" altLang="zh-CN" sz="1410">
                <a:solidFill>
                  <a:srgbClr val="000000"/>
                </a:solidFill>
                <a:ea typeface="宋体" pitchFamily="2" charset="-122"/>
              </a:rPr>
              <a:t>衡量经济</a:t>
            </a:r>
            <a:r>
              <a:rPr lang="zh-CN" altLang="zh-CN" sz="1410" b="1">
                <a:solidFill>
                  <a:srgbClr val="CC0000"/>
                </a:solidFill>
                <a:ea typeface="宋体" pitchFamily="2" charset="-122"/>
              </a:rPr>
              <a:t>通货膨胀率</a:t>
            </a:r>
            <a:r>
              <a:rPr lang="zh-CN" altLang="zh-CN" sz="1410">
                <a:solidFill>
                  <a:srgbClr val="000000"/>
                </a:solidFill>
                <a:ea typeface="宋体" pitchFamily="2" charset="-122"/>
              </a:rPr>
              <a:t>的一种方法是计算从一年到下一年</a:t>
            </a:r>
            <a:r>
              <a:rPr lang="en-US" altLang="zh-CN" sz="1410">
                <a:solidFill>
                  <a:srgbClr val="000000"/>
                </a:solidFill>
                <a:ea typeface="宋体" pitchFamily="2" charset="-122"/>
              </a:rPr>
              <a:t>GDP</a:t>
            </a:r>
            <a:r>
              <a:rPr lang="zh-CN" altLang="zh-CN" sz="1410">
                <a:solidFill>
                  <a:srgbClr val="000000"/>
                </a:solidFill>
                <a:ea typeface="宋体" pitchFamily="2" charset="-122"/>
              </a:rPr>
              <a:t>平减指数增加的百分比</a:t>
            </a:r>
            <a:endParaRPr lang="zh-CN" altLang="en-US" sz="1410">
              <a:solidFill>
                <a:srgbClr val="000000"/>
              </a:solidFill>
              <a:ea typeface="宋体" pitchFamily="2" charset="-122"/>
            </a:endParaRPr>
          </a:p>
        </p:txBody>
      </p:sp>
      <p:grpSp>
        <p:nvGrpSpPr>
          <p:cNvPr id="59397" name="Group 5"/>
          <p:cNvGrpSpPr/>
          <p:nvPr/>
        </p:nvGrpSpPr>
        <p:grpSpPr bwMode="auto">
          <a:xfrm>
            <a:off x="590669" y="1396623"/>
            <a:ext cx="3483187" cy="625885"/>
            <a:chOff x="0" y="0"/>
            <a:chExt cx="4144" cy="782"/>
          </a:xfrm>
        </p:grpSpPr>
        <p:sp>
          <p:nvSpPr>
            <p:cNvPr id="59398" name="Text Box 6"/>
            <p:cNvSpPr txBox="1">
              <a:spLocks noChangeArrowheads="1"/>
            </p:cNvSpPr>
            <p:nvPr/>
          </p:nvSpPr>
          <p:spPr bwMode="auto">
            <a:xfrm>
              <a:off x="0" y="0"/>
              <a:ext cx="4144" cy="779"/>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lIns="138303"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460">
                  <a:solidFill>
                    <a:srgbClr val="000000"/>
                  </a:solidFill>
                  <a:ea typeface="宋体" pitchFamily="2" charset="-122"/>
                </a:rPr>
                <a:t>GDP</a:t>
              </a:r>
              <a:r>
                <a:rPr lang="zh-CN" altLang="zh-CN" sz="1460">
                  <a:solidFill>
                    <a:srgbClr val="000000"/>
                  </a:solidFill>
                  <a:ea typeface="宋体" pitchFamily="2" charset="-122"/>
                </a:rPr>
                <a:t>平减指数</a:t>
              </a:r>
              <a:r>
                <a:rPr lang="en-US" altLang="zh-CN" sz="1460">
                  <a:solidFill>
                    <a:srgbClr val="000000"/>
                  </a:solidFill>
                  <a:ea typeface="宋体" pitchFamily="2" charset="-122"/>
                </a:rPr>
                <a:t>=  100 </a:t>
              </a:r>
              <a:r>
                <a:rPr lang="en-US" altLang="zh-CN" sz="1460">
                  <a:solidFill>
                    <a:srgbClr val="000000"/>
                  </a:solidFill>
                  <a:latin typeface="Tahoma" panose="020B0604030504040204" pitchFamily="34" charset="0"/>
                  <a:ea typeface="宋体" pitchFamily="2" charset="-122"/>
                </a:rPr>
                <a:t>x</a:t>
              </a:r>
              <a:r>
                <a:rPr lang="en-US" altLang="zh-CN" sz="1460">
                  <a:solidFill>
                    <a:srgbClr val="000000"/>
                  </a:solidFill>
                  <a:ea typeface="宋体" pitchFamily="2" charset="-122"/>
                </a:rPr>
                <a:t> </a:t>
              </a:r>
            </a:p>
          </p:txBody>
        </p:sp>
        <p:grpSp>
          <p:nvGrpSpPr>
            <p:cNvPr id="59399" name="Group 7"/>
            <p:cNvGrpSpPr/>
            <p:nvPr/>
          </p:nvGrpSpPr>
          <p:grpSpPr bwMode="auto">
            <a:xfrm>
              <a:off x="2464" y="72"/>
              <a:ext cx="1578" cy="710"/>
              <a:chOff x="0" y="0"/>
              <a:chExt cx="1578" cy="710"/>
            </a:xfrm>
          </p:grpSpPr>
          <p:sp>
            <p:nvSpPr>
              <p:cNvPr id="59400" name="Text Box 7"/>
              <p:cNvSpPr txBox="1">
                <a:spLocks noChangeArrowheads="1"/>
              </p:cNvSpPr>
              <p:nvPr/>
            </p:nvSpPr>
            <p:spPr bwMode="auto">
              <a:xfrm>
                <a:off x="0" y="0"/>
                <a:ext cx="1574"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460">
                    <a:solidFill>
                      <a:srgbClr val="000000"/>
                    </a:solidFill>
                    <a:ea typeface="宋体" pitchFamily="2" charset="-122"/>
                  </a:rPr>
                  <a:t>名义 </a:t>
                </a:r>
                <a:r>
                  <a:rPr lang="en-US" altLang="zh-CN" sz="1460">
                    <a:solidFill>
                      <a:srgbClr val="000000"/>
                    </a:solidFill>
                    <a:ea typeface="宋体" pitchFamily="2" charset="-122"/>
                  </a:rPr>
                  <a:t>GDP</a:t>
                </a:r>
              </a:p>
            </p:txBody>
          </p:sp>
          <p:sp>
            <p:nvSpPr>
              <p:cNvPr id="59401" name="Text Box 8"/>
              <p:cNvSpPr txBox="1">
                <a:spLocks noChangeArrowheads="1"/>
              </p:cNvSpPr>
              <p:nvPr/>
            </p:nvSpPr>
            <p:spPr bwMode="auto">
              <a:xfrm>
                <a:off x="4" y="314"/>
                <a:ext cx="1574"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460">
                    <a:solidFill>
                      <a:srgbClr val="000000"/>
                    </a:solidFill>
                    <a:ea typeface="宋体" pitchFamily="2" charset="-122"/>
                  </a:rPr>
                  <a:t>真实 </a:t>
                </a:r>
                <a:r>
                  <a:rPr lang="en-US" altLang="zh-CN" sz="1460">
                    <a:solidFill>
                      <a:srgbClr val="000000"/>
                    </a:solidFill>
                    <a:ea typeface="宋体" pitchFamily="2" charset="-122"/>
                  </a:rPr>
                  <a:t>GDP</a:t>
                </a:r>
              </a:p>
            </p:txBody>
          </p:sp>
          <p:sp>
            <p:nvSpPr>
              <p:cNvPr id="59402" name="Line 9"/>
              <p:cNvSpPr>
                <a:spLocks noChangeShapeType="1"/>
              </p:cNvSpPr>
              <p:nvPr/>
            </p:nvSpPr>
            <p:spPr bwMode="auto">
              <a:xfrm>
                <a:off x="93" y="336"/>
                <a:ext cx="1363"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gr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dissolve">
                                      <p:cBhvr>
                                        <p:cTn id="7" dur="500"/>
                                        <p:tgtEl>
                                          <p:spTgt spid="593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396"/>
                                        </p:tgtEl>
                                        <p:attrNameLst>
                                          <p:attrName>style.visibility</p:attrName>
                                        </p:attrNameLst>
                                      </p:cBhvr>
                                      <p:to>
                                        <p:strVal val="visible"/>
                                      </p:to>
                                    </p:set>
                                    <p:animEffect transition="in" filter="wipe(left)">
                                      <p:cBhvr>
                                        <p:cTn id="12" dur="500"/>
                                        <p:tgtEl>
                                          <p:spTgt spid="59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pPr defTabSz="461010" fontAlgn="base">
              <a:spcBef>
                <a:spcPct val="0"/>
              </a:spcBef>
              <a:spcAft>
                <a:spcPct val="0"/>
              </a:spcAft>
            </a:pPr>
            <a:fld id="{2CD10290-F54D-E344-B810-8F96B93B3726}" type="slidenum">
              <a:rPr lang="zh-CN" altLang="zh-CN">
                <a:latin typeface="Arial" panose="020B0604020202090204" pitchFamily="34" charset="0"/>
              </a:rPr>
              <a:t>54</a:t>
            </a:fld>
            <a:endParaRPr lang="en-US" altLang="zh-CN">
              <a:latin typeface="Arial" panose="020B0604020202090204" pitchFamily="34" charset="0"/>
            </a:endParaRPr>
          </a:p>
        </p:txBody>
      </p:sp>
      <p:sp>
        <p:nvSpPr>
          <p:cNvPr id="61442" name="Rectangle 2"/>
          <p:cNvSpPr>
            <a:spLocks noGrp="1" noChangeArrowheads="1"/>
          </p:cNvSpPr>
          <p:nvPr>
            <p:ph type="title" idx="4294967295"/>
          </p:nvPr>
        </p:nvSpPr>
        <p:spPr>
          <a:xfrm>
            <a:off x="201692" y="125644"/>
            <a:ext cx="3402350" cy="286531"/>
          </a:xfrm>
        </p:spPr>
        <p:txBody>
          <a:bodyPr/>
          <a:lstStyle/>
          <a:p>
            <a:pPr algn="l"/>
            <a:r>
              <a:rPr lang="zh-CN" altLang="zh-CN" sz="1715">
                <a:ea typeface="宋体" pitchFamily="2" charset="-122"/>
              </a:rPr>
              <a:t>例：</a:t>
            </a:r>
            <a:endParaRPr lang="zh-CN" altLang="en-US" sz="1715">
              <a:ea typeface="宋体" pitchFamily="2" charset="-122"/>
            </a:endParaRPr>
          </a:p>
        </p:txBody>
      </p:sp>
      <p:sp>
        <p:nvSpPr>
          <p:cNvPr id="61443" name="Rectangle 3"/>
          <p:cNvSpPr>
            <a:spLocks noGrp="1" noChangeArrowheads="1"/>
          </p:cNvSpPr>
          <p:nvPr>
            <p:ph type="body" idx="4294967295"/>
          </p:nvPr>
        </p:nvSpPr>
        <p:spPr>
          <a:xfrm>
            <a:off x="168077" y="1839225"/>
            <a:ext cx="4106671" cy="273725"/>
          </a:xfrm>
        </p:spPr>
        <p:txBody>
          <a:bodyPr/>
          <a:lstStyle/>
          <a:p>
            <a:pPr marL="144145" indent="-144145">
              <a:spcBef>
                <a:spcPct val="50000"/>
              </a:spcBef>
              <a:buNone/>
              <a:tabLst>
                <a:tab pos="2449830" algn="l"/>
              </a:tabLst>
            </a:pPr>
            <a:r>
              <a:rPr lang="zh-CN" altLang="zh-CN">
                <a:ea typeface="宋体" pitchFamily="2" charset="-122"/>
              </a:rPr>
              <a:t>计算每年的GDP 平减指数：</a:t>
            </a:r>
          </a:p>
        </p:txBody>
      </p:sp>
      <p:graphicFrame>
        <p:nvGraphicFramePr>
          <p:cNvPr id="61444" name="Group 4"/>
          <p:cNvGraphicFramePr>
            <a:graphicFrameLocks noGrp="1"/>
          </p:cNvGraphicFramePr>
          <p:nvPr/>
        </p:nvGraphicFramePr>
        <p:xfrm>
          <a:off x="277727" y="472202"/>
          <a:ext cx="3927388" cy="1166932"/>
        </p:xfrm>
        <a:graphic>
          <a:graphicData uri="http://schemas.openxmlformats.org/drawingml/2006/table">
            <a:tbl>
              <a:tblPr/>
              <a:tblGrid>
                <a:gridCol w="556253">
                  <a:extLst>
                    <a:ext uri="{9D8B030D-6E8A-4147-A177-3AD203B41FA5}">
                      <a16:colId xmlns:a16="http://schemas.microsoft.com/office/drawing/2014/main" val="20000"/>
                    </a:ext>
                  </a:extLst>
                </a:gridCol>
                <a:gridCol w="904412">
                  <a:extLst>
                    <a:ext uri="{9D8B030D-6E8A-4147-A177-3AD203B41FA5}">
                      <a16:colId xmlns:a16="http://schemas.microsoft.com/office/drawing/2014/main" val="20001"/>
                    </a:ext>
                  </a:extLst>
                </a:gridCol>
                <a:gridCol w="849987">
                  <a:extLst>
                    <a:ext uri="{9D8B030D-6E8A-4147-A177-3AD203B41FA5}">
                      <a16:colId xmlns:a16="http://schemas.microsoft.com/office/drawing/2014/main" val="20002"/>
                    </a:ext>
                  </a:extLst>
                </a:gridCol>
                <a:gridCol w="724330">
                  <a:extLst>
                    <a:ext uri="{9D8B030D-6E8A-4147-A177-3AD203B41FA5}">
                      <a16:colId xmlns:a16="http://schemas.microsoft.com/office/drawing/2014/main" val="20003"/>
                    </a:ext>
                  </a:extLst>
                </a:gridCol>
                <a:gridCol w="892406">
                  <a:extLst>
                    <a:ext uri="{9D8B030D-6E8A-4147-A177-3AD203B41FA5}">
                      <a16:colId xmlns:a16="http://schemas.microsoft.com/office/drawing/2014/main" val="20004"/>
                    </a:ext>
                  </a:extLst>
                </a:gridCol>
              </a:tblGrid>
              <a:tr h="43299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年份</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名义 </a:t>
                      </a:r>
                      <a:b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b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真实</a:t>
                      </a:r>
                      <a:b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b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GDP </a:t>
                      </a:r>
                      <a:b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br>
                      <a:r>
                        <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rPr>
                        <a:t>平减指数</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491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2005</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$6000</a:t>
                      </a:r>
                    </a:p>
                  </a:txBody>
                  <a:tcPr marL="46101" marR="115253" marT="23051" marB="23051"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$6000</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4491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2006</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$8250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$7200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244111">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2007</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$10,800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200" b="0" i="0" u="none" strike="noStrike" cap="none" normalizeH="0" baseline="0">
                          <a:ln>
                            <a:noFill/>
                          </a:ln>
                          <a:solidFill>
                            <a:schemeClr val="tx1"/>
                          </a:solidFill>
                          <a:effectLst/>
                          <a:latin typeface="Arial" panose="020B0604020202090204" pitchFamily="34" charset="0"/>
                          <a:ea typeface="宋体" pitchFamily="2" charset="-122"/>
                        </a:rPr>
                        <a:t>$8400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2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61466" name="Group 26"/>
          <p:cNvGrpSpPr/>
          <p:nvPr/>
        </p:nvGrpSpPr>
        <p:grpSpPr bwMode="auto">
          <a:xfrm>
            <a:off x="340156" y="927610"/>
            <a:ext cx="3160639" cy="1503085"/>
            <a:chOff x="0" y="0"/>
            <a:chExt cx="3949" cy="1878"/>
          </a:xfrm>
        </p:grpSpPr>
        <p:sp>
          <p:nvSpPr>
            <p:cNvPr id="61467" name="Rectangle 43"/>
            <p:cNvSpPr>
              <a:spLocks noChangeArrowheads="1"/>
            </p:cNvSpPr>
            <p:nvPr/>
          </p:nvSpPr>
          <p:spPr bwMode="auto">
            <a:xfrm>
              <a:off x="0" y="1536"/>
              <a:ext cx="3949"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1200150" algn="l"/>
                </a:tabLst>
                <a:defRPr>
                  <a:solidFill>
                    <a:schemeClr val="tx1"/>
                  </a:solidFill>
                  <a:latin typeface="Arial" panose="020B0604020202090204" pitchFamily="34" charset="0"/>
                </a:defRPr>
              </a:lvl1pPr>
              <a:lvl2pPr marL="742950" indent="-285750">
                <a:tabLst>
                  <a:tab pos="1200150" algn="l"/>
                </a:tabLst>
                <a:defRPr>
                  <a:solidFill>
                    <a:schemeClr val="tx1"/>
                  </a:solidFill>
                  <a:latin typeface="Arial" panose="020B0604020202090204" pitchFamily="34" charset="0"/>
                </a:defRPr>
              </a:lvl2pPr>
              <a:lvl3pPr marL="1143000" indent="-228600">
                <a:tabLst>
                  <a:tab pos="1200150" algn="l"/>
                </a:tabLst>
                <a:defRPr>
                  <a:solidFill>
                    <a:schemeClr val="tx1"/>
                  </a:solidFill>
                  <a:latin typeface="Arial" panose="020B0604020202090204" pitchFamily="34" charset="0"/>
                </a:defRPr>
              </a:lvl3pPr>
              <a:lvl4pPr marL="1600200" indent="-228600">
                <a:tabLst>
                  <a:tab pos="1200150" algn="l"/>
                </a:tabLst>
                <a:defRPr>
                  <a:solidFill>
                    <a:schemeClr val="tx1"/>
                  </a:solidFill>
                  <a:latin typeface="Arial" panose="020B0604020202090204" pitchFamily="34" charset="0"/>
                </a:defRPr>
              </a:lvl4pPr>
              <a:lvl5pPr marL="2057400" indent="-228600">
                <a:tabLst>
                  <a:tab pos="1200150" algn="l"/>
                </a:tabLst>
                <a:defRPr>
                  <a:solidFill>
                    <a:schemeClr val="tx1"/>
                  </a:solidFill>
                  <a:latin typeface="Arial" panose="020B0604020202090204" pitchFamily="34" charset="0"/>
                </a:defRPr>
              </a:lvl5pPr>
              <a:lvl6pPr marL="2514600" indent="-228600" fontAlgn="base">
                <a:spcBef>
                  <a:spcPct val="0"/>
                </a:spcBef>
                <a:spcAft>
                  <a:spcPct val="0"/>
                </a:spcAft>
                <a:tabLst>
                  <a:tab pos="1200150" algn="l"/>
                </a:tabLst>
                <a:defRPr>
                  <a:solidFill>
                    <a:schemeClr val="tx1"/>
                  </a:solidFill>
                  <a:latin typeface="Arial" panose="020B0604020202090204" pitchFamily="34" charset="0"/>
                </a:defRPr>
              </a:lvl6pPr>
              <a:lvl7pPr marL="2971800" indent="-228600" fontAlgn="base">
                <a:spcBef>
                  <a:spcPct val="0"/>
                </a:spcBef>
                <a:spcAft>
                  <a:spcPct val="0"/>
                </a:spcAft>
                <a:tabLst>
                  <a:tab pos="1200150" algn="l"/>
                </a:tabLst>
                <a:defRPr>
                  <a:solidFill>
                    <a:schemeClr val="tx1"/>
                  </a:solidFill>
                  <a:latin typeface="Arial" panose="020B0604020202090204" pitchFamily="34" charset="0"/>
                </a:defRPr>
              </a:lvl7pPr>
              <a:lvl8pPr marL="3429000" indent="-228600" fontAlgn="base">
                <a:spcBef>
                  <a:spcPct val="0"/>
                </a:spcBef>
                <a:spcAft>
                  <a:spcPct val="0"/>
                </a:spcAft>
                <a:tabLst>
                  <a:tab pos="1200150" algn="l"/>
                </a:tabLst>
                <a:defRPr>
                  <a:solidFill>
                    <a:schemeClr val="tx1"/>
                  </a:solidFill>
                  <a:latin typeface="Arial" panose="020B0604020202090204" pitchFamily="34" charset="0"/>
                </a:defRPr>
              </a:lvl8pPr>
              <a:lvl9pPr marL="3886200" indent="-228600" fontAlgn="base">
                <a:spcBef>
                  <a:spcPct val="0"/>
                </a:spcBef>
                <a:spcAft>
                  <a:spcPct val="0"/>
                </a:spcAft>
                <a:tabLst>
                  <a:tab pos="1200150" algn="l"/>
                </a:tabLst>
                <a:defRPr>
                  <a:solidFill>
                    <a:schemeClr val="tx1"/>
                  </a:solidFill>
                  <a:latin typeface="Arial" panose="020B0604020202090204" pitchFamily="34" charset="0"/>
                </a:defRPr>
              </a:lvl9pPr>
            </a:lstStyle>
            <a:p>
              <a:pPr defTabSz="461010" fontAlgn="base">
                <a:lnSpc>
                  <a:spcPct val="105000"/>
                </a:lnSpc>
                <a:spcBef>
                  <a:spcPct val="50000"/>
                </a:spcBef>
                <a:spcAft>
                  <a:spcPct val="0"/>
                </a:spcAft>
                <a:buClr>
                  <a:srgbClr val="00B85C"/>
                </a:buClr>
                <a:buSzPct val="120000"/>
                <a:tabLst>
                  <a:tab pos="604520" algn="l"/>
                </a:tabLst>
              </a:pPr>
              <a:r>
                <a:rPr lang="en-US" altLang="zh-CN" sz="1210">
                  <a:solidFill>
                    <a:srgbClr val="000000"/>
                  </a:solidFill>
                  <a:ea typeface="宋体" pitchFamily="2" charset="-122"/>
                </a:rPr>
                <a:t>2005:	100 x (6000/6000)  = 	</a:t>
              </a:r>
              <a:r>
                <a:rPr lang="en-US" altLang="zh-CN" sz="1210">
                  <a:solidFill>
                    <a:srgbClr val="FF0000"/>
                  </a:solidFill>
                  <a:ea typeface="宋体" pitchFamily="2" charset="-122"/>
                </a:rPr>
                <a:t>100.0</a:t>
              </a:r>
            </a:p>
          </p:txBody>
        </p:sp>
        <p:sp>
          <p:nvSpPr>
            <p:cNvPr id="61468" name="Rectangle 44"/>
            <p:cNvSpPr>
              <a:spLocks noChangeArrowheads="1"/>
            </p:cNvSpPr>
            <p:nvPr/>
          </p:nvSpPr>
          <p:spPr bwMode="auto">
            <a:xfrm>
              <a:off x="2815" y="0"/>
              <a:ext cx="80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lnSpc>
                  <a:spcPct val="105000"/>
                </a:lnSpc>
                <a:spcBef>
                  <a:spcPct val="50000"/>
                </a:spcBef>
                <a:spcAft>
                  <a:spcPct val="0"/>
                </a:spcAft>
                <a:buClr>
                  <a:srgbClr val="00B85C"/>
                </a:buClr>
                <a:buSzPct val="120000"/>
              </a:pPr>
              <a:r>
                <a:rPr lang="en-US" altLang="zh-CN" sz="1210" dirty="0">
                  <a:solidFill>
                    <a:srgbClr val="FF0000"/>
                  </a:solidFill>
                  <a:ea typeface="宋体" pitchFamily="2" charset="-122"/>
                </a:rPr>
                <a:t>100.0</a:t>
              </a:r>
            </a:p>
          </p:txBody>
        </p:sp>
      </p:grpSp>
      <p:grpSp>
        <p:nvGrpSpPr>
          <p:cNvPr id="61469" name="Group 29"/>
          <p:cNvGrpSpPr/>
          <p:nvPr/>
        </p:nvGrpSpPr>
        <p:grpSpPr bwMode="auto">
          <a:xfrm>
            <a:off x="344157" y="1178124"/>
            <a:ext cx="3160640" cy="1547905"/>
            <a:chOff x="0" y="0"/>
            <a:chExt cx="3949" cy="1934"/>
          </a:xfrm>
        </p:grpSpPr>
        <p:sp>
          <p:nvSpPr>
            <p:cNvPr id="61470" name="Rectangle 46"/>
            <p:cNvSpPr>
              <a:spLocks noChangeArrowheads="1"/>
            </p:cNvSpPr>
            <p:nvPr/>
          </p:nvSpPr>
          <p:spPr bwMode="auto">
            <a:xfrm>
              <a:off x="0" y="1592"/>
              <a:ext cx="3949"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1200150" algn="l"/>
                </a:tabLst>
                <a:defRPr>
                  <a:solidFill>
                    <a:schemeClr val="tx1"/>
                  </a:solidFill>
                  <a:latin typeface="Arial" panose="020B0604020202090204" pitchFamily="34" charset="0"/>
                </a:defRPr>
              </a:lvl1pPr>
              <a:lvl2pPr marL="742950" indent="-285750">
                <a:tabLst>
                  <a:tab pos="1200150" algn="l"/>
                </a:tabLst>
                <a:defRPr>
                  <a:solidFill>
                    <a:schemeClr val="tx1"/>
                  </a:solidFill>
                  <a:latin typeface="Arial" panose="020B0604020202090204" pitchFamily="34" charset="0"/>
                </a:defRPr>
              </a:lvl2pPr>
              <a:lvl3pPr marL="1143000" indent="-228600">
                <a:tabLst>
                  <a:tab pos="1200150" algn="l"/>
                </a:tabLst>
                <a:defRPr>
                  <a:solidFill>
                    <a:schemeClr val="tx1"/>
                  </a:solidFill>
                  <a:latin typeface="Arial" panose="020B0604020202090204" pitchFamily="34" charset="0"/>
                </a:defRPr>
              </a:lvl3pPr>
              <a:lvl4pPr marL="1600200" indent="-228600">
                <a:tabLst>
                  <a:tab pos="1200150" algn="l"/>
                </a:tabLst>
                <a:defRPr>
                  <a:solidFill>
                    <a:schemeClr val="tx1"/>
                  </a:solidFill>
                  <a:latin typeface="Arial" panose="020B0604020202090204" pitchFamily="34" charset="0"/>
                </a:defRPr>
              </a:lvl4pPr>
              <a:lvl5pPr marL="2057400" indent="-228600">
                <a:tabLst>
                  <a:tab pos="1200150" algn="l"/>
                </a:tabLst>
                <a:defRPr>
                  <a:solidFill>
                    <a:schemeClr val="tx1"/>
                  </a:solidFill>
                  <a:latin typeface="Arial" panose="020B0604020202090204" pitchFamily="34" charset="0"/>
                </a:defRPr>
              </a:lvl5pPr>
              <a:lvl6pPr marL="2514600" indent="-228600" fontAlgn="base">
                <a:spcBef>
                  <a:spcPct val="0"/>
                </a:spcBef>
                <a:spcAft>
                  <a:spcPct val="0"/>
                </a:spcAft>
                <a:tabLst>
                  <a:tab pos="1200150" algn="l"/>
                </a:tabLst>
                <a:defRPr>
                  <a:solidFill>
                    <a:schemeClr val="tx1"/>
                  </a:solidFill>
                  <a:latin typeface="Arial" panose="020B0604020202090204" pitchFamily="34" charset="0"/>
                </a:defRPr>
              </a:lvl6pPr>
              <a:lvl7pPr marL="2971800" indent="-228600" fontAlgn="base">
                <a:spcBef>
                  <a:spcPct val="0"/>
                </a:spcBef>
                <a:spcAft>
                  <a:spcPct val="0"/>
                </a:spcAft>
                <a:tabLst>
                  <a:tab pos="1200150" algn="l"/>
                </a:tabLst>
                <a:defRPr>
                  <a:solidFill>
                    <a:schemeClr val="tx1"/>
                  </a:solidFill>
                  <a:latin typeface="Arial" panose="020B0604020202090204" pitchFamily="34" charset="0"/>
                </a:defRPr>
              </a:lvl7pPr>
              <a:lvl8pPr marL="3429000" indent="-228600" fontAlgn="base">
                <a:spcBef>
                  <a:spcPct val="0"/>
                </a:spcBef>
                <a:spcAft>
                  <a:spcPct val="0"/>
                </a:spcAft>
                <a:tabLst>
                  <a:tab pos="1200150" algn="l"/>
                </a:tabLst>
                <a:defRPr>
                  <a:solidFill>
                    <a:schemeClr val="tx1"/>
                  </a:solidFill>
                  <a:latin typeface="Arial" panose="020B0604020202090204" pitchFamily="34" charset="0"/>
                </a:defRPr>
              </a:lvl8pPr>
              <a:lvl9pPr marL="3886200" indent="-228600" fontAlgn="base">
                <a:spcBef>
                  <a:spcPct val="0"/>
                </a:spcBef>
                <a:spcAft>
                  <a:spcPct val="0"/>
                </a:spcAft>
                <a:tabLst>
                  <a:tab pos="1200150" algn="l"/>
                </a:tabLst>
                <a:defRPr>
                  <a:solidFill>
                    <a:schemeClr val="tx1"/>
                  </a:solidFill>
                  <a:latin typeface="Arial" panose="020B0604020202090204" pitchFamily="34" charset="0"/>
                </a:defRPr>
              </a:lvl9pPr>
            </a:lstStyle>
            <a:p>
              <a:pPr defTabSz="461010" fontAlgn="base">
                <a:lnSpc>
                  <a:spcPct val="105000"/>
                </a:lnSpc>
                <a:spcBef>
                  <a:spcPct val="50000"/>
                </a:spcBef>
                <a:spcAft>
                  <a:spcPct val="0"/>
                </a:spcAft>
                <a:buClr>
                  <a:srgbClr val="00B85C"/>
                </a:buClr>
                <a:buSzPct val="120000"/>
                <a:tabLst>
                  <a:tab pos="604520" algn="l"/>
                </a:tabLst>
              </a:pPr>
              <a:r>
                <a:rPr lang="en-US" altLang="zh-CN" sz="1210">
                  <a:solidFill>
                    <a:srgbClr val="000000"/>
                  </a:solidFill>
                  <a:ea typeface="宋体" pitchFamily="2" charset="-122"/>
                </a:rPr>
                <a:t>2006:	100 x (8250/7200)  = 	</a:t>
              </a:r>
              <a:r>
                <a:rPr lang="en-US" altLang="zh-CN" sz="1210">
                  <a:solidFill>
                    <a:srgbClr val="FF0000"/>
                  </a:solidFill>
                  <a:ea typeface="宋体" pitchFamily="2" charset="-122"/>
                </a:rPr>
                <a:t>114.6</a:t>
              </a:r>
            </a:p>
          </p:txBody>
        </p:sp>
        <p:sp>
          <p:nvSpPr>
            <p:cNvPr id="61471" name="Rectangle 47"/>
            <p:cNvSpPr>
              <a:spLocks noChangeArrowheads="1"/>
            </p:cNvSpPr>
            <p:nvPr/>
          </p:nvSpPr>
          <p:spPr bwMode="auto">
            <a:xfrm>
              <a:off x="2810" y="0"/>
              <a:ext cx="803"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lnSpc>
                  <a:spcPct val="105000"/>
                </a:lnSpc>
                <a:spcBef>
                  <a:spcPct val="50000"/>
                </a:spcBef>
                <a:spcAft>
                  <a:spcPct val="0"/>
                </a:spcAft>
                <a:buClr>
                  <a:srgbClr val="00B85C"/>
                </a:buClr>
                <a:buSzPct val="120000"/>
              </a:pPr>
              <a:r>
                <a:rPr lang="en-US" altLang="zh-CN" sz="1210" dirty="0">
                  <a:solidFill>
                    <a:srgbClr val="FF0000"/>
                  </a:solidFill>
                  <a:ea typeface="宋体" pitchFamily="2" charset="-122"/>
                </a:rPr>
                <a:t>114.6</a:t>
              </a:r>
            </a:p>
          </p:txBody>
        </p:sp>
      </p:grpSp>
      <p:grpSp>
        <p:nvGrpSpPr>
          <p:cNvPr id="61472" name="Group 32"/>
          <p:cNvGrpSpPr/>
          <p:nvPr/>
        </p:nvGrpSpPr>
        <p:grpSpPr bwMode="auto">
          <a:xfrm>
            <a:off x="342556" y="1417433"/>
            <a:ext cx="3160640" cy="1620738"/>
            <a:chOff x="0" y="0"/>
            <a:chExt cx="3949" cy="2025"/>
          </a:xfrm>
        </p:grpSpPr>
        <p:sp>
          <p:nvSpPr>
            <p:cNvPr id="61473" name="Rectangle 49"/>
            <p:cNvSpPr>
              <a:spLocks noChangeArrowheads="1"/>
            </p:cNvSpPr>
            <p:nvPr/>
          </p:nvSpPr>
          <p:spPr bwMode="auto">
            <a:xfrm>
              <a:off x="0" y="1683"/>
              <a:ext cx="3949"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1080770" algn="l"/>
                </a:tabLst>
                <a:defRPr>
                  <a:solidFill>
                    <a:schemeClr val="tx1"/>
                  </a:solidFill>
                  <a:latin typeface="Arial" panose="020B0604020202090204" pitchFamily="34" charset="0"/>
                </a:defRPr>
              </a:lvl1pPr>
              <a:lvl2pPr marL="742950" indent="-285750">
                <a:tabLst>
                  <a:tab pos="1080770" algn="l"/>
                </a:tabLst>
                <a:defRPr>
                  <a:solidFill>
                    <a:schemeClr val="tx1"/>
                  </a:solidFill>
                  <a:latin typeface="Arial" panose="020B0604020202090204" pitchFamily="34" charset="0"/>
                </a:defRPr>
              </a:lvl2pPr>
              <a:lvl3pPr marL="1143000" indent="-228600">
                <a:tabLst>
                  <a:tab pos="1080770" algn="l"/>
                </a:tabLst>
                <a:defRPr>
                  <a:solidFill>
                    <a:schemeClr val="tx1"/>
                  </a:solidFill>
                  <a:latin typeface="Arial" panose="020B0604020202090204" pitchFamily="34" charset="0"/>
                </a:defRPr>
              </a:lvl3pPr>
              <a:lvl4pPr marL="1600200" indent="-228600">
                <a:tabLst>
                  <a:tab pos="1080770" algn="l"/>
                </a:tabLst>
                <a:defRPr>
                  <a:solidFill>
                    <a:schemeClr val="tx1"/>
                  </a:solidFill>
                  <a:latin typeface="Arial" panose="020B0604020202090204" pitchFamily="34" charset="0"/>
                </a:defRPr>
              </a:lvl4pPr>
              <a:lvl5pPr marL="2057400" indent="-228600">
                <a:tabLst>
                  <a:tab pos="1080770" algn="l"/>
                </a:tabLst>
                <a:defRPr>
                  <a:solidFill>
                    <a:schemeClr val="tx1"/>
                  </a:solidFill>
                  <a:latin typeface="Arial" panose="020B0604020202090204" pitchFamily="34" charset="0"/>
                </a:defRPr>
              </a:lvl5pPr>
              <a:lvl6pPr marL="2514600" indent="-228600" fontAlgn="base">
                <a:spcBef>
                  <a:spcPct val="0"/>
                </a:spcBef>
                <a:spcAft>
                  <a:spcPct val="0"/>
                </a:spcAft>
                <a:tabLst>
                  <a:tab pos="1080770" algn="l"/>
                </a:tabLst>
                <a:defRPr>
                  <a:solidFill>
                    <a:schemeClr val="tx1"/>
                  </a:solidFill>
                  <a:latin typeface="Arial" panose="020B0604020202090204" pitchFamily="34" charset="0"/>
                </a:defRPr>
              </a:lvl6pPr>
              <a:lvl7pPr marL="2971800" indent="-228600" fontAlgn="base">
                <a:spcBef>
                  <a:spcPct val="0"/>
                </a:spcBef>
                <a:spcAft>
                  <a:spcPct val="0"/>
                </a:spcAft>
                <a:tabLst>
                  <a:tab pos="1080770" algn="l"/>
                </a:tabLst>
                <a:defRPr>
                  <a:solidFill>
                    <a:schemeClr val="tx1"/>
                  </a:solidFill>
                  <a:latin typeface="Arial" panose="020B0604020202090204" pitchFamily="34" charset="0"/>
                </a:defRPr>
              </a:lvl7pPr>
              <a:lvl8pPr marL="3429000" indent="-228600" fontAlgn="base">
                <a:spcBef>
                  <a:spcPct val="0"/>
                </a:spcBef>
                <a:spcAft>
                  <a:spcPct val="0"/>
                </a:spcAft>
                <a:tabLst>
                  <a:tab pos="1080770" algn="l"/>
                </a:tabLst>
                <a:defRPr>
                  <a:solidFill>
                    <a:schemeClr val="tx1"/>
                  </a:solidFill>
                  <a:latin typeface="Arial" panose="020B0604020202090204" pitchFamily="34" charset="0"/>
                </a:defRPr>
              </a:lvl8pPr>
              <a:lvl9pPr marL="3886200" indent="-228600" fontAlgn="base">
                <a:spcBef>
                  <a:spcPct val="0"/>
                </a:spcBef>
                <a:spcAft>
                  <a:spcPct val="0"/>
                </a:spcAft>
                <a:tabLst>
                  <a:tab pos="1080770" algn="l"/>
                </a:tabLst>
                <a:defRPr>
                  <a:solidFill>
                    <a:schemeClr val="tx1"/>
                  </a:solidFill>
                  <a:latin typeface="Arial" panose="020B0604020202090204" pitchFamily="34" charset="0"/>
                </a:defRPr>
              </a:lvl9pPr>
            </a:lstStyle>
            <a:p>
              <a:pPr defTabSz="461010" fontAlgn="base">
                <a:lnSpc>
                  <a:spcPct val="105000"/>
                </a:lnSpc>
                <a:spcBef>
                  <a:spcPct val="50000"/>
                </a:spcBef>
                <a:spcAft>
                  <a:spcPct val="0"/>
                </a:spcAft>
                <a:buClr>
                  <a:srgbClr val="00B85C"/>
                </a:buClr>
                <a:buSzPct val="120000"/>
                <a:tabLst>
                  <a:tab pos="544830" algn="l"/>
                </a:tabLst>
              </a:pPr>
              <a:r>
                <a:rPr lang="en-US" altLang="zh-CN" sz="1210">
                  <a:solidFill>
                    <a:srgbClr val="000000"/>
                  </a:solidFill>
                  <a:ea typeface="宋体" pitchFamily="2" charset="-122"/>
                </a:rPr>
                <a:t>2007:	100 x (10,800/8400) = 	</a:t>
              </a:r>
              <a:r>
                <a:rPr lang="en-US" altLang="zh-CN" sz="1210">
                  <a:solidFill>
                    <a:srgbClr val="FF0000"/>
                  </a:solidFill>
                  <a:ea typeface="宋体" pitchFamily="2" charset="-122"/>
                </a:rPr>
                <a:t>128.6</a:t>
              </a:r>
            </a:p>
          </p:txBody>
        </p:sp>
        <p:sp>
          <p:nvSpPr>
            <p:cNvPr id="61474" name="Rectangle 50"/>
            <p:cNvSpPr>
              <a:spLocks noChangeArrowheads="1"/>
            </p:cNvSpPr>
            <p:nvPr/>
          </p:nvSpPr>
          <p:spPr bwMode="auto">
            <a:xfrm>
              <a:off x="2812" y="0"/>
              <a:ext cx="801"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lnSpc>
                  <a:spcPct val="105000"/>
                </a:lnSpc>
                <a:spcBef>
                  <a:spcPct val="50000"/>
                </a:spcBef>
                <a:spcAft>
                  <a:spcPct val="0"/>
                </a:spcAft>
                <a:buClr>
                  <a:srgbClr val="00B85C"/>
                </a:buClr>
                <a:buSzPct val="120000"/>
              </a:pPr>
              <a:r>
                <a:rPr lang="en-US" altLang="zh-CN" sz="1210" dirty="0">
                  <a:solidFill>
                    <a:srgbClr val="FF0000"/>
                  </a:solidFill>
                  <a:ea typeface="宋体" pitchFamily="2" charset="-122"/>
                </a:rPr>
                <a:t>128.6</a:t>
              </a:r>
            </a:p>
          </p:txBody>
        </p:sp>
      </p:grpSp>
      <p:grpSp>
        <p:nvGrpSpPr>
          <p:cNvPr id="61475" name="Group 35"/>
          <p:cNvGrpSpPr/>
          <p:nvPr/>
        </p:nvGrpSpPr>
        <p:grpSpPr bwMode="auto">
          <a:xfrm>
            <a:off x="3195856" y="1018051"/>
            <a:ext cx="646695" cy="296135"/>
            <a:chOff x="0" y="0"/>
            <a:chExt cx="808" cy="370"/>
          </a:xfrm>
        </p:grpSpPr>
        <p:sp>
          <p:nvSpPr>
            <p:cNvPr id="61476" name="Text Box 52"/>
            <p:cNvSpPr txBox="1">
              <a:spLocks noChangeArrowheads="1"/>
            </p:cNvSpPr>
            <p:nvPr/>
          </p:nvSpPr>
          <p:spPr bwMode="auto">
            <a:xfrm>
              <a:off x="180" y="12"/>
              <a:ext cx="628" cy="35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260">
                  <a:solidFill>
                    <a:srgbClr val="000000"/>
                  </a:solidFill>
                  <a:ea typeface="宋体" pitchFamily="2" charset="-122"/>
                </a:rPr>
                <a:t>14.6%</a:t>
              </a:r>
            </a:p>
          </p:txBody>
        </p:sp>
        <p:sp>
          <p:nvSpPr>
            <p:cNvPr id="61477" name="AutoShape 53"/>
            <p:cNvSpPr/>
            <p:nvPr/>
          </p:nvSpPr>
          <p:spPr bwMode="auto">
            <a:xfrm>
              <a:off x="0" y="0"/>
              <a:ext cx="146" cy="331"/>
            </a:xfrm>
            <a:prstGeom prst="rightBrace">
              <a:avLst>
                <a:gd name="adj1" fmla="val 18893"/>
                <a:gd name="adj2" fmla="val 50000"/>
              </a:avLst>
            </a:prstGeom>
            <a:noFill/>
            <a:ln w="19050">
              <a:solidFill>
                <a:srgbClr val="66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grpSp>
        <p:nvGrpSpPr>
          <p:cNvPr id="61478" name="Group 38"/>
          <p:cNvGrpSpPr/>
          <p:nvPr/>
        </p:nvGrpSpPr>
        <p:grpSpPr bwMode="auto">
          <a:xfrm>
            <a:off x="3198257" y="1282171"/>
            <a:ext cx="649896" cy="329751"/>
            <a:chOff x="0" y="0"/>
            <a:chExt cx="812" cy="412"/>
          </a:xfrm>
        </p:grpSpPr>
        <p:sp>
          <p:nvSpPr>
            <p:cNvPr id="61479" name="Text Box 55"/>
            <p:cNvSpPr txBox="1">
              <a:spLocks noChangeArrowheads="1"/>
            </p:cNvSpPr>
            <p:nvPr/>
          </p:nvSpPr>
          <p:spPr bwMode="auto">
            <a:xfrm>
              <a:off x="187" y="54"/>
              <a:ext cx="625" cy="35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50000"/>
                </a:spcBef>
                <a:spcAft>
                  <a:spcPct val="0"/>
                </a:spcAft>
              </a:pPr>
              <a:r>
                <a:rPr lang="en-US" altLang="zh-CN" sz="1260">
                  <a:solidFill>
                    <a:srgbClr val="000000"/>
                  </a:solidFill>
                  <a:ea typeface="宋体" pitchFamily="2" charset="-122"/>
                </a:rPr>
                <a:t>12.2%</a:t>
              </a:r>
            </a:p>
          </p:txBody>
        </p:sp>
        <p:sp>
          <p:nvSpPr>
            <p:cNvPr id="61480" name="AutoShape 56"/>
            <p:cNvSpPr/>
            <p:nvPr/>
          </p:nvSpPr>
          <p:spPr bwMode="auto">
            <a:xfrm>
              <a:off x="0" y="0"/>
              <a:ext cx="149" cy="341"/>
            </a:xfrm>
            <a:prstGeom prst="rightBrace">
              <a:avLst>
                <a:gd name="adj1" fmla="val 19072"/>
                <a:gd name="adj2" fmla="val 50000"/>
              </a:avLst>
            </a:prstGeom>
            <a:noFill/>
            <a:ln w="19050">
              <a:solidFill>
                <a:srgbClr val="66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grpSp>
      <p:sp>
        <p:nvSpPr>
          <p:cNvPr id="4" name="页脚占位符 1"/>
          <p:cNvSpPr>
            <a:spLocks noGrp="1"/>
          </p:cNvSpPr>
          <p:nvPr>
            <p:ph type="ftr" sz="quarter" idx="10"/>
          </p:nvPr>
        </p:nvSpPr>
        <p:spPr>
          <a:xfrm>
            <a:off x="144066" y="3226028"/>
            <a:ext cx="3698485" cy="185054"/>
          </a:xfrm>
        </p:spPr>
        <p:txBody>
          <a:bodyPr/>
          <a:lstStyle/>
          <a:p>
            <a:pPr defTabSz="461010" fontAlgn="base">
              <a:spcBef>
                <a:spcPct val="0"/>
              </a:spcBef>
              <a:spcAft>
                <a:spcPct val="0"/>
              </a:spcAft>
            </a:pPr>
            <a:r>
              <a:rPr lang="zh-CN" altLang="en-US" sz="910" dirty="0">
                <a:latin typeface="Arial" panose="020B0604020202090204" pitchFamily="34" charset="0"/>
              </a:rPr>
              <a:t>国内生产总值</a:t>
            </a:r>
            <a:endParaRPr lang="zh-CN" altLang="zh-CN" sz="910" dirty="0">
              <a:latin typeface="Arial" panose="020B060402020209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466"/>
                                        </p:tgtEl>
                                        <p:attrNameLst>
                                          <p:attrName>style.visibility</p:attrName>
                                        </p:attrNameLst>
                                      </p:cBhvr>
                                      <p:to>
                                        <p:strVal val="visible"/>
                                      </p:to>
                                    </p:set>
                                    <p:animEffect transition="in" filter="wipe(left)">
                                      <p:cBhvr>
                                        <p:cTn id="7" dur="500"/>
                                        <p:tgtEl>
                                          <p:spTgt spid="61466"/>
                                        </p:tgtEl>
                                      </p:cBhvr>
                                    </p:animEffect>
                                  </p:childTnLst>
                                  <p:subTnLst>
                                    <p:animClr clrSpc="rgb" dir="cw">
                                      <p:cBhvr override="childStyle">
                                        <p:cTn dur="1" fill="hold" display="0" masterRel="nextClick" afterEffect="1"/>
                                        <p:tgtEl>
                                          <p:spTgt spid="61466"/>
                                        </p:tgtEl>
                                        <p:attrNameLst>
                                          <p:attrName>ppt_c</p:attrName>
                                        </p:attrNameLst>
                                      </p:cBhvr>
                                      <p:to>
                                        <a:srgbClr val="0000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469"/>
                                        </p:tgtEl>
                                        <p:attrNameLst>
                                          <p:attrName>style.visibility</p:attrName>
                                        </p:attrNameLst>
                                      </p:cBhvr>
                                      <p:to>
                                        <p:strVal val="visible"/>
                                      </p:to>
                                    </p:set>
                                    <p:animEffect transition="in" filter="wipe(left)">
                                      <p:cBhvr>
                                        <p:cTn id="12" dur="500"/>
                                        <p:tgtEl>
                                          <p:spTgt spid="61469"/>
                                        </p:tgtEl>
                                      </p:cBhvr>
                                    </p:animEffect>
                                  </p:childTnLst>
                                  <p:subTnLst>
                                    <p:animClr clrSpc="rgb" dir="cw">
                                      <p:cBhvr override="childStyle">
                                        <p:cTn dur="1" fill="hold" display="0" masterRel="nextClick" afterEffect="1"/>
                                        <p:tgtEl>
                                          <p:spTgt spid="61469"/>
                                        </p:tgtEl>
                                        <p:attrNameLst>
                                          <p:attrName>ppt_c</p:attrName>
                                        </p:attrNameLst>
                                      </p:cBhvr>
                                      <p:to>
                                        <a:srgbClr val="000000"/>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472"/>
                                        </p:tgtEl>
                                        <p:attrNameLst>
                                          <p:attrName>style.visibility</p:attrName>
                                        </p:attrNameLst>
                                      </p:cBhvr>
                                      <p:to>
                                        <p:strVal val="visible"/>
                                      </p:to>
                                    </p:set>
                                    <p:animEffect transition="in" filter="wipe(left)">
                                      <p:cBhvr>
                                        <p:cTn id="17" dur="500"/>
                                        <p:tgtEl>
                                          <p:spTgt spid="61472"/>
                                        </p:tgtEl>
                                      </p:cBhvr>
                                    </p:animEffect>
                                  </p:childTnLst>
                                  <p:subTnLst>
                                    <p:animClr clrSpc="rgb" dir="cw">
                                      <p:cBhvr override="childStyle">
                                        <p:cTn dur="1" fill="hold" display="0" masterRel="nextClick" afterEffect="1"/>
                                        <p:tgtEl>
                                          <p:spTgt spid="61472"/>
                                        </p:tgtEl>
                                        <p:attrNameLst>
                                          <p:attrName>ppt_c</p:attrName>
                                        </p:attrNameLst>
                                      </p:cBhvr>
                                      <p:to>
                                        <a:srgbClr val="000000"/>
                                      </p:to>
                                    </p:animClr>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1475"/>
                                        </p:tgtEl>
                                        <p:attrNameLst>
                                          <p:attrName>style.visibility</p:attrName>
                                        </p:attrNameLst>
                                      </p:cBhvr>
                                      <p:to>
                                        <p:strVal val="visible"/>
                                      </p:to>
                                    </p:set>
                                    <p:animEffect transition="in" filter="dissolve">
                                      <p:cBhvr>
                                        <p:cTn id="22" dur="500"/>
                                        <p:tgtEl>
                                          <p:spTgt spid="6147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1478"/>
                                        </p:tgtEl>
                                        <p:attrNameLst>
                                          <p:attrName>style.visibility</p:attrName>
                                        </p:attrNameLst>
                                      </p:cBhvr>
                                      <p:to>
                                        <p:strVal val="visible"/>
                                      </p:to>
                                    </p:set>
                                    <p:animEffect transition="in" filter="dissolve">
                                      <p:cBhvr>
                                        <p:cTn id="27" dur="500"/>
                                        <p:tgtEl>
                                          <p:spTgt spid="61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62467"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en-US"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en-US" altLang="zh-CN" sz="1815">
                <a:solidFill>
                  <a:srgbClr val="339966"/>
                </a:solidFill>
                <a:effectLst>
                  <a:outerShdw blurRad="38100" dist="38100" dir="2700000" algn="tl">
                    <a:srgbClr val="C0C0C0"/>
                  </a:outerShdw>
                </a:effectLst>
                <a:ea typeface="宋体" pitchFamily="2" charset="-122"/>
              </a:rPr>
              <a:t>GDP</a:t>
            </a:r>
            <a:r>
              <a:rPr lang="zh-CN" altLang="zh-CN" sz="1815">
                <a:solidFill>
                  <a:srgbClr val="339966"/>
                </a:solidFill>
                <a:effectLst>
                  <a:outerShdw blurRad="38100" dist="38100" dir="2700000" algn="tl">
                    <a:srgbClr val="C0C0C0"/>
                  </a:outerShdw>
                </a:effectLst>
                <a:ea typeface="宋体" pitchFamily="2" charset="-122"/>
              </a:rPr>
              <a:t>的计算</a:t>
            </a:r>
            <a:endParaRPr lang="zh-CN" altLang="en-US" sz="1815">
              <a:solidFill>
                <a:srgbClr val="339966"/>
              </a:solidFill>
              <a:effectLst>
                <a:outerShdw blurRad="38100" dist="38100" dir="2700000" algn="tl">
                  <a:srgbClr val="C0C0C0"/>
                </a:outerShdw>
              </a:effectLst>
              <a:ea typeface="宋体" pitchFamily="2" charset="-122"/>
            </a:endParaRPr>
          </a:p>
        </p:txBody>
      </p:sp>
      <p:grpSp>
        <p:nvGrpSpPr>
          <p:cNvPr id="62468" name="Group 4"/>
          <p:cNvGrpSpPr/>
          <p:nvPr/>
        </p:nvGrpSpPr>
        <p:grpSpPr bwMode="auto">
          <a:xfrm>
            <a:off x="299336" y="148055"/>
            <a:ext cx="4139486" cy="529041"/>
            <a:chOff x="0" y="0"/>
            <a:chExt cx="5000" cy="661"/>
          </a:xfrm>
        </p:grpSpPr>
        <p:sp>
          <p:nvSpPr>
            <p:cNvPr id="62469"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62470"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62471"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B5C3997D-77A6-7048-B0BF-6D6B598E9ED0}" type="slidenum">
              <a:rPr lang="zh-CN" altLang="zh-CN" sz="855">
                <a:solidFill>
                  <a:srgbClr val="777777"/>
                </a:solidFill>
                <a:latin typeface="Tahoma" panose="020B0604030504040204" pitchFamily="34" charset="0"/>
                <a:ea typeface="宋体" pitchFamily="2" charset="-122"/>
              </a:rPr>
              <a:t>55</a:t>
            </a:fld>
            <a:endParaRPr lang="en-US" altLang="zh-CN" sz="855">
              <a:solidFill>
                <a:srgbClr val="777777"/>
              </a:solidFill>
              <a:latin typeface="Tahoma" panose="020B0604030504040204" pitchFamily="34" charset="0"/>
              <a:ea typeface="宋体" pitchFamily="2" charset="-122"/>
            </a:endParaRPr>
          </a:p>
        </p:txBody>
      </p:sp>
      <p:sp>
        <p:nvSpPr>
          <p:cNvPr id="62472" name="Rectangle 49"/>
          <p:cNvSpPr>
            <a:spLocks noChangeArrowheads="1"/>
          </p:cNvSpPr>
          <p:nvPr/>
        </p:nvSpPr>
        <p:spPr bwMode="auto">
          <a:xfrm>
            <a:off x="292133" y="1896851"/>
            <a:ext cx="4149090" cy="1302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90204" pitchFamily="34" charset="0"/>
              </a:defRPr>
            </a:lvl1pPr>
            <a:lvl2pPr marL="681355" indent="-514350">
              <a:spcBef>
                <a:spcPct val="15000"/>
              </a:spcBef>
              <a:buClr>
                <a:srgbClr val="996633"/>
              </a:buClr>
              <a:buSzPct val="120000"/>
              <a:buFont typeface="Wingdings" panose="05000000000000000000" pitchFamily="2" charset="2"/>
              <a:buChar char="§"/>
              <a:defRPr sz="2700">
                <a:solidFill>
                  <a:schemeClr val="tx1"/>
                </a:solidFill>
                <a:latin typeface="Arial" panose="020B060402020209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90204" pitchFamily="34" charset="0"/>
              </a:defRPr>
            </a:lvl3pPr>
            <a:lvl4pPr marL="1600200" indent="-228600">
              <a:spcBef>
                <a:spcPct val="15000"/>
              </a:spcBef>
              <a:buChar char="–"/>
              <a:defRPr sz="2000">
                <a:solidFill>
                  <a:schemeClr val="tx1"/>
                </a:solidFill>
                <a:latin typeface="Arial" panose="020B0604020202090204" pitchFamily="34" charset="0"/>
              </a:defRPr>
            </a:lvl4pPr>
            <a:lvl5pPr marL="2057400" indent="-228600">
              <a:spcBef>
                <a:spcPct val="20000"/>
              </a:spcBef>
              <a:buChar char="»"/>
              <a:defRPr sz="2000">
                <a:solidFill>
                  <a:schemeClr val="tx1"/>
                </a:solidFill>
                <a:latin typeface="Arial" panose="020B0604020202090204" pitchFamily="34" charset="0"/>
              </a:defRPr>
            </a:lvl5pPr>
            <a:lvl6pPr marL="2514600" indent="-228600" fontAlgn="base">
              <a:spcBef>
                <a:spcPct val="20000"/>
              </a:spcBef>
              <a:spcAft>
                <a:spcPct val="0"/>
              </a:spcAft>
              <a:buChar char="»"/>
              <a:defRPr sz="2000">
                <a:solidFill>
                  <a:schemeClr val="tx1"/>
                </a:solidFill>
                <a:latin typeface="Arial" panose="020B0604020202090204" pitchFamily="34" charset="0"/>
              </a:defRPr>
            </a:lvl6pPr>
            <a:lvl7pPr marL="2971800" indent="-228600" fontAlgn="base">
              <a:spcBef>
                <a:spcPct val="20000"/>
              </a:spcBef>
              <a:spcAft>
                <a:spcPct val="0"/>
              </a:spcAft>
              <a:buChar char="»"/>
              <a:defRPr sz="2000">
                <a:solidFill>
                  <a:schemeClr val="tx1"/>
                </a:solidFill>
                <a:latin typeface="Arial" panose="020B0604020202090204" pitchFamily="34" charset="0"/>
              </a:defRPr>
            </a:lvl7pPr>
            <a:lvl8pPr marL="3429000" indent="-228600" fontAlgn="base">
              <a:spcBef>
                <a:spcPct val="20000"/>
              </a:spcBef>
              <a:spcAft>
                <a:spcPct val="0"/>
              </a:spcAft>
              <a:buChar char="»"/>
              <a:defRPr sz="2000">
                <a:solidFill>
                  <a:schemeClr val="tx1"/>
                </a:solidFill>
                <a:latin typeface="Arial" panose="020B0604020202090204" pitchFamily="34" charset="0"/>
              </a:defRPr>
            </a:lvl8pPr>
            <a:lvl9pPr marL="3886200" indent="-228600" fontAlgn="base">
              <a:spcBef>
                <a:spcPct val="20000"/>
              </a:spcBef>
              <a:spcAft>
                <a:spcPct val="0"/>
              </a:spcAft>
              <a:buChar char="»"/>
              <a:defRPr sz="2000">
                <a:solidFill>
                  <a:schemeClr val="tx1"/>
                </a:solidFill>
                <a:latin typeface="Arial" panose="020B0604020202090204" pitchFamily="34" charset="0"/>
              </a:defRPr>
            </a:lvl9pPr>
          </a:lstStyle>
          <a:p>
            <a:pPr defTabSz="461010" fontAlgn="base">
              <a:spcBef>
                <a:spcPct val="40000"/>
              </a:spcBef>
              <a:spcAft>
                <a:spcPct val="0"/>
              </a:spcAft>
              <a:buClr>
                <a:srgbClr val="003399"/>
              </a:buClr>
              <a:buNone/>
            </a:pPr>
            <a:r>
              <a:rPr lang="zh-CN" altLang="zh-CN" sz="1410">
                <a:solidFill>
                  <a:srgbClr val="000000"/>
                </a:solidFill>
                <a:ea typeface="宋体" pitchFamily="2" charset="-122"/>
              </a:rPr>
              <a:t>使用上述数据解决以下问题：</a:t>
            </a:r>
            <a:endParaRPr lang="zh-CN" altLang="en-US" sz="1410">
              <a:solidFill>
                <a:srgbClr val="000000"/>
              </a:solidFill>
              <a:ea typeface="宋体" pitchFamily="2" charset="-122"/>
            </a:endParaRPr>
          </a:p>
          <a:p>
            <a:pPr marL="343535" lvl="1" indent="-259080" defTabSz="461010" fontAlgn="base">
              <a:lnSpc>
                <a:spcPct val="105000"/>
              </a:lnSpc>
              <a:spcBef>
                <a:spcPct val="40000"/>
              </a:spcBef>
              <a:spcAft>
                <a:spcPct val="0"/>
              </a:spcAft>
              <a:buClr>
                <a:srgbClr val="003399"/>
              </a:buClr>
              <a:buNone/>
            </a:pPr>
            <a:r>
              <a:rPr lang="en-US" altLang="zh-CN" sz="1310" b="1">
                <a:solidFill>
                  <a:srgbClr val="339966"/>
                </a:solidFill>
                <a:ea typeface="宋体" pitchFamily="2" charset="-122"/>
              </a:rPr>
              <a:t>A.  </a:t>
            </a:r>
            <a:r>
              <a:rPr lang="zh-CN" altLang="zh-CN" sz="1410">
                <a:solidFill>
                  <a:srgbClr val="000000"/>
                </a:solidFill>
                <a:ea typeface="宋体" pitchFamily="2" charset="-122"/>
              </a:rPr>
              <a:t>计算 2007年的名义GDP</a:t>
            </a:r>
          </a:p>
          <a:p>
            <a:pPr marL="343535" lvl="1" indent="-259080" defTabSz="461010" fontAlgn="base">
              <a:lnSpc>
                <a:spcPct val="105000"/>
              </a:lnSpc>
              <a:spcBef>
                <a:spcPct val="40000"/>
              </a:spcBef>
              <a:spcAft>
                <a:spcPct val="0"/>
              </a:spcAft>
              <a:buClr>
                <a:srgbClr val="003399"/>
              </a:buClr>
              <a:buNone/>
            </a:pPr>
            <a:r>
              <a:rPr lang="zh-CN" altLang="zh-CN" sz="1310" b="1">
                <a:solidFill>
                  <a:srgbClr val="339966"/>
                </a:solidFill>
                <a:ea typeface="宋体" pitchFamily="2" charset="-122"/>
              </a:rPr>
              <a:t>B. 	</a:t>
            </a:r>
            <a:r>
              <a:rPr lang="zh-CN" altLang="zh-CN" sz="1410">
                <a:solidFill>
                  <a:srgbClr val="000000"/>
                </a:solidFill>
                <a:ea typeface="宋体" pitchFamily="2" charset="-122"/>
              </a:rPr>
              <a:t>计算2008年真实GDP</a:t>
            </a:r>
          </a:p>
          <a:p>
            <a:pPr marL="343535" lvl="1" indent="-259080" defTabSz="461010" fontAlgn="base">
              <a:lnSpc>
                <a:spcPct val="105000"/>
              </a:lnSpc>
              <a:spcBef>
                <a:spcPct val="40000"/>
              </a:spcBef>
              <a:spcAft>
                <a:spcPct val="0"/>
              </a:spcAft>
              <a:buClr>
                <a:srgbClr val="003399"/>
              </a:buClr>
              <a:buNone/>
            </a:pPr>
            <a:r>
              <a:rPr lang="zh-CN" altLang="zh-CN" sz="1310" b="1">
                <a:solidFill>
                  <a:srgbClr val="339966"/>
                </a:solidFill>
                <a:ea typeface="宋体" pitchFamily="2" charset="-122"/>
              </a:rPr>
              <a:t>C. 	</a:t>
            </a:r>
            <a:r>
              <a:rPr lang="zh-CN" altLang="zh-CN" sz="1410">
                <a:solidFill>
                  <a:srgbClr val="000000"/>
                </a:solidFill>
                <a:ea typeface="宋体" pitchFamily="2" charset="-122"/>
              </a:rPr>
              <a:t>计算2009年的GDP平减指数 </a:t>
            </a:r>
          </a:p>
        </p:txBody>
      </p:sp>
      <p:graphicFrame>
        <p:nvGraphicFramePr>
          <p:cNvPr id="62473" name="Group 9"/>
          <p:cNvGraphicFramePr>
            <a:graphicFrameLocks noGrp="1"/>
          </p:cNvGraphicFramePr>
          <p:nvPr/>
        </p:nvGraphicFramePr>
        <p:xfrm>
          <a:off x="312943" y="775540"/>
          <a:ext cx="4200315" cy="1004618"/>
        </p:xfrm>
        <a:graphic>
          <a:graphicData uri="http://schemas.openxmlformats.org/drawingml/2006/table">
            <a:tbl>
              <a:tblPr/>
              <a:tblGrid>
                <a:gridCol w="687513">
                  <a:extLst>
                    <a:ext uri="{9D8B030D-6E8A-4147-A177-3AD203B41FA5}">
                      <a16:colId xmlns:a16="http://schemas.microsoft.com/office/drawing/2014/main" val="20000"/>
                    </a:ext>
                  </a:extLst>
                </a:gridCol>
                <a:gridCol w="657900">
                  <a:extLst>
                    <a:ext uri="{9D8B030D-6E8A-4147-A177-3AD203B41FA5}">
                      <a16:colId xmlns:a16="http://schemas.microsoft.com/office/drawing/2014/main" val="20001"/>
                    </a:ext>
                  </a:extLst>
                </a:gridCol>
                <a:gridCol w="587468">
                  <a:extLst>
                    <a:ext uri="{9D8B030D-6E8A-4147-A177-3AD203B41FA5}">
                      <a16:colId xmlns:a16="http://schemas.microsoft.com/office/drawing/2014/main" val="20002"/>
                    </a:ext>
                  </a:extLst>
                </a:gridCol>
                <a:gridCol w="528241">
                  <a:extLst>
                    <a:ext uri="{9D8B030D-6E8A-4147-A177-3AD203B41FA5}">
                      <a16:colId xmlns:a16="http://schemas.microsoft.com/office/drawing/2014/main" val="20003"/>
                    </a:ext>
                  </a:extLst>
                </a:gridCol>
                <a:gridCol w="572261">
                  <a:extLst>
                    <a:ext uri="{9D8B030D-6E8A-4147-A177-3AD203B41FA5}">
                      <a16:colId xmlns:a16="http://schemas.microsoft.com/office/drawing/2014/main" val="20004"/>
                    </a:ext>
                  </a:extLst>
                </a:gridCol>
                <a:gridCol w="597072">
                  <a:extLst>
                    <a:ext uri="{9D8B030D-6E8A-4147-A177-3AD203B41FA5}">
                      <a16:colId xmlns:a16="http://schemas.microsoft.com/office/drawing/2014/main" val="20005"/>
                    </a:ext>
                  </a:extLst>
                </a:gridCol>
                <a:gridCol w="569860">
                  <a:extLst>
                    <a:ext uri="{9D8B030D-6E8A-4147-A177-3AD203B41FA5}">
                      <a16:colId xmlns:a16="http://schemas.microsoft.com/office/drawing/2014/main" val="20006"/>
                    </a:ext>
                  </a:extLst>
                </a:gridCol>
              </a:tblGrid>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2007 (基年)</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2008</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2009</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extLst>
                  <a:ext uri="{0D108BD9-81ED-4DB2-BD59-A6C34878D82A}">
                    <a16:rowId xmlns:a16="http://schemas.microsoft.com/office/drawing/2014/main" val="10000"/>
                  </a:ext>
                </a:extLst>
              </a:tr>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4651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物品 A</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$30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$31</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$36</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1050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4587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物品 B</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192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205</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472">
                                            <p:txEl>
                                              <p:pRg st="1" end="1"/>
                                            </p:txEl>
                                          </p:spTgt>
                                        </p:tgtEl>
                                        <p:attrNameLst>
                                          <p:attrName>style.visibility</p:attrName>
                                        </p:attrNameLst>
                                      </p:cBhvr>
                                      <p:to>
                                        <p:strVal val="visible"/>
                                      </p:to>
                                    </p:set>
                                    <p:animEffect transition="in" filter="wipe(left)">
                                      <p:cBhvr>
                                        <p:cTn id="7" dur="500"/>
                                        <p:tgtEl>
                                          <p:spTgt spid="6247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2472">
                                            <p:txEl>
                                              <p:pRg st="2" end="2"/>
                                            </p:txEl>
                                          </p:spTgt>
                                        </p:tgtEl>
                                        <p:attrNameLst>
                                          <p:attrName>style.visibility</p:attrName>
                                        </p:attrNameLst>
                                      </p:cBhvr>
                                      <p:to>
                                        <p:strVal val="visible"/>
                                      </p:to>
                                    </p:set>
                                    <p:animEffect transition="in" filter="wipe(left)">
                                      <p:cBhvr>
                                        <p:cTn id="12" dur="500"/>
                                        <p:tgtEl>
                                          <p:spTgt spid="6247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2472">
                                            <p:txEl>
                                              <p:pRg st="3" end="3"/>
                                            </p:txEl>
                                          </p:spTgt>
                                        </p:tgtEl>
                                        <p:attrNameLst>
                                          <p:attrName>style.visibility</p:attrName>
                                        </p:attrNameLst>
                                      </p:cBhvr>
                                      <p:to>
                                        <p:strVal val="visible"/>
                                      </p:to>
                                    </p:set>
                                    <p:animEffect transition="in" filter="wipe(left)">
                                      <p:cBhvr>
                                        <p:cTn id="17" dur="500"/>
                                        <p:tgtEl>
                                          <p:spTgt spid="624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2" grpId="0" build="p" bldLvl="5"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64515"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en-US"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815">
                <a:solidFill>
                  <a:srgbClr val="339966"/>
                </a:solidFill>
                <a:effectLst>
                  <a:outerShdw blurRad="38100" dist="38100" dir="2700000" algn="tl">
                    <a:srgbClr val="C0C0C0"/>
                  </a:outerShdw>
                </a:effectLst>
                <a:ea typeface="宋体" pitchFamily="2" charset="-122"/>
              </a:rPr>
              <a:t>参考答案</a:t>
            </a:r>
          </a:p>
        </p:txBody>
      </p:sp>
      <p:grpSp>
        <p:nvGrpSpPr>
          <p:cNvPr id="64516" name="Group 4"/>
          <p:cNvGrpSpPr/>
          <p:nvPr/>
        </p:nvGrpSpPr>
        <p:grpSpPr bwMode="auto">
          <a:xfrm>
            <a:off x="299336" y="148055"/>
            <a:ext cx="4139486" cy="529041"/>
            <a:chOff x="0" y="0"/>
            <a:chExt cx="5000" cy="661"/>
          </a:xfrm>
        </p:grpSpPr>
        <p:sp>
          <p:nvSpPr>
            <p:cNvPr id="64517"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64518"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64519"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6EDC255F-469A-AC47-8903-7D6301C0A74A}" type="slidenum">
              <a:rPr lang="zh-CN" altLang="zh-CN" sz="855">
                <a:solidFill>
                  <a:srgbClr val="777777"/>
                </a:solidFill>
                <a:latin typeface="Tahoma" panose="020B0604030504040204" pitchFamily="34" charset="0"/>
                <a:ea typeface="宋体" pitchFamily="2" charset="-122"/>
              </a:rPr>
              <a:t>56</a:t>
            </a:fld>
            <a:endParaRPr lang="en-US" altLang="zh-CN" sz="855">
              <a:solidFill>
                <a:srgbClr val="777777"/>
              </a:solidFill>
              <a:latin typeface="Tahoma" panose="020B0604030504040204" pitchFamily="34" charset="0"/>
              <a:ea typeface="宋体" pitchFamily="2" charset="-122"/>
            </a:endParaRPr>
          </a:p>
        </p:txBody>
      </p:sp>
      <p:sp>
        <p:nvSpPr>
          <p:cNvPr id="64520" name="Rectangle 10"/>
          <p:cNvSpPr>
            <a:spLocks noChangeArrowheads="1"/>
          </p:cNvSpPr>
          <p:nvPr/>
        </p:nvSpPr>
        <p:spPr bwMode="auto">
          <a:xfrm>
            <a:off x="292134" y="1852030"/>
            <a:ext cx="3967407" cy="1367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9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9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90204" pitchFamily="34" charset="0"/>
              </a:defRPr>
            </a:lvl3pPr>
            <a:lvl4pPr marL="1600200" indent="-228600">
              <a:spcBef>
                <a:spcPct val="15000"/>
              </a:spcBef>
              <a:buChar char="–"/>
              <a:defRPr sz="2000">
                <a:solidFill>
                  <a:schemeClr val="tx1"/>
                </a:solidFill>
                <a:latin typeface="Arial" panose="020B0604020202090204" pitchFamily="34" charset="0"/>
              </a:defRPr>
            </a:lvl4pPr>
            <a:lvl5pPr marL="2057400" indent="-228600">
              <a:spcBef>
                <a:spcPct val="20000"/>
              </a:spcBef>
              <a:buChar char="»"/>
              <a:defRPr sz="2000">
                <a:solidFill>
                  <a:schemeClr val="tx1"/>
                </a:solidFill>
                <a:latin typeface="Arial" panose="020B0604020202090204" pitchFamily="34" charset="0"/>
              </a:defRPr>
            </a:lvl5pPr>
            <a:lvl6pPr marL="2514600" indent="-228600" fontAlgn="base">
              <a:spcBef>
                <a:spcPct val="20000"/>
              </a:spcBef>
              <a:spcAft>
                <a:spcPct val="0"/>
              </a:spcAft>
              <a:buChar char="»"/>
              <a:defRPr sz="2000">
                <a:solidFill>
                  <a:schemeClr val="tx1"/>
                </a:solidFill>
                <a:latin typeface="Arial" panose="020B0604020202090204" pitchFamily="34" charset="0"/>
              </a:defRPr>
            </a:lvl6pPr>
            <a:lvl7pPr marL="2971800" indent="-228600" fontAlgn="base">
              <a:spcBef>
                <a:spcPct val="20000"/>
              </a:spcBef>
              <a:spcAft>
                <a:spcPct val="0"/>
              </a:spcAft>
              <a:buChar char="»"/>
              <a:defRPr sz="2000">
                <a:solidFill>
                  <a:schemeClr val="tx1"/>
                </a:solidFill>
                <a:latin typeface="Arial" panose="020B0604020202090204" pitchFamily="34" charset="0"/>
              </a:defRPr>
            </a:lvl7pPr>
            <a:lvl8pPr marL="3429000" indent="-228600" fontAlgn="base">
              <a:spcBef>
                <a:spcPct val="20000"/>
              </a:spcBef>
              <a:spcAft>
                <a:spcPct val="0"/>
              </a:spcAft>
              <a:buChar char="»"/>
              <a:defRPr sz="2000">
                <a:solidFill>
                  <a:schemeClr val="tx1"/>
                </a:solidFill>
                <a:latin typeface="Arial" panose="020B0604020202090204" pitchFamily="34" charset="0"/>
              </a:defRPr>
            </a:lvl8pPr>
            <a:lvl9pPr marL="3886200" indent="-228600" fontAlgn="base">
              <a:spcBef>
                <a:spcPct val="20000"/>
              </a:spcBef>
              <a:spcAft>
                <a:spcPct val="0"/>
              </a:spcAft>
              <a:buChar char="»"/>
              <a:defRPr sz="2000">
                <a:solidFill>
                  <a:schemeClr val="tx1"/>
                </a:solidFill>
                <a:latin typeface="Arial" panose="020B0604020202090204" pitchFamily="34" charset="0"/>
              </a:defRPr>
            </a:lvl9pPr>
          </a:lstStyle>
          <a:p>
            <a:pPr marL="230505" indent="-230505" defTabSz="461010" fontAlgn="base">
              <a:spcBef>
                <a:spcPct val="40000"/>
              </a:spcBef>
              <a:spcAft>
                <a:spcPct val="0"/>
              </a:spcAft>
              <a:buClr>
                <a:srgbClr val="003399"/>
              </a:buClr>
              <a:buNone/>
            </a:pPr>
            <a:r>
              <a:rPr lang="zh-CN" altLang="zh-CN" sz="1310" b="1">
                <a:solidFill>
                  <a:srgbClr val="339966"/>
                </a:solidFill>
                <a:ea typeface="宋体" pitchFamily="2" charset="-122"/>
              </a:rPr>
              <a:t>A. </a:t>
            </a:r>
            <a:r>
              <a:rPr lang="zh-CN" altLang="zh-CN" sz="1410">
                <a:solidFill>
                  <a:srgbClr val="000000"/>
                </a:solidFill>
                <a:ea typeface="宋体" pitchFamily="2" charset="-122"/>
              </a:rPr>
              <a:t>计算2007年的名义GDP</a:t>
            </a:r>
          </a:p>
          <a:p>
            <a:pPr marL="230505" indent="-230505" defTabSz="461010" fontAlgn="base">
              <a:spcBef>
                <a:spcPct val="35000"/>
              </a:spcBef>
              <a:spcAft>
                <a:spcPct val="0"/>
              </a:spcAft>
              <a:buClr>
                <a:srgbClr val="003399"/>
              </a:buClr>
              <a:buNone/>
            </a:pPr>
            <a:r>
              <a:rPr lang="zh-CN" altLang="zh-CN" sz="1410">
                <a:solidFill>
                  <a:srgbClr val="000000"/>
                </a:solidFill>
                <a:ea typeface="宋体" pitchFamily="2" charset="-122"/>
              </a:rPr>
              <a:t>	</a:t>
            </a:r>
            <a:r>
              <a:rPr lang="zh-CN" altLang="zh-CN" sz="1410">
                <a:solidFill>
                  <a:srgbClr val="FF0000"/>
                </a:solidFill>
                <a:ea typeface="宋体" pitchFamily="2" charset="-122"/>
              </a:rPr>
              <a:t>$30 x 900  +  $100 x 192  =  </a:t>
            </a:r>
            <a:r>
              <a:rPr lang="zh-CN" altLang="zh-CN" sz="1410" u="sng">
                <a:solidFill>
                  <a:srgbClr val="FF0000"/>
                </a:solidFill>
                <a:ea typeface="宋体" pitchFamily="2" charset="-122"/>
              </a:rPr>
              <a:t>$46,200</a:t>
            </a:r>
          </a:p>
          <a:p>
            <a:pPr marL="230505" indent="-230505" defTabSz="461010" fontAlgn="base">
              <a:spcBef>
                <a:spcPct val="80000"/>
              </a:spcBef>
              <a:spcAft>
                <a:spcPct val="0"/>
              </a:spcAft>
              <a:buClr>
                <a:srgbClr val="003399"/>
              </a:buClr>
              <a:buNone/>
            </a:pPr>
            <a:r>
              <a:rPr lang="zh-CN" altLang="zh-CN" sz="1310" b="1">
                <a:solidFill>
                  <a:srgbClr val="339966"/>
                </a:solidFill>
                <a:ea typeface="宋体" pitchFamily="2" charset="-122"/>
              </a:rPr>
              <a:t>B.	</a:t>
            </a:r>
            <a:r>
              <a:rPr lang="zh-CN" altLang="zh-CN" sz="1410">
                <a:solidFill>
                  <a:srgbClr val="000000"/>
                </a:solidFill>
                <a:ea typeface="宋体" pitchFamily="2" charset="-122"/>
              </a:rPr>
              <a:t>计算2008年的真实GDP</a:t>
            </a:r>
          </a:p>
          <a:p>
            <a:pPr marL="230505" indent="-230505" defTabSz="461010" fontAlgn="base">
              <a:spcBef>
                <a:spcPct val="80000"/>
              </a:spcBef>
              <a:spcAft>
                <a:spcPct val="0"/>
              </a:spcAft>
              <a:buClr>
                <a:srgbClr val="003399"/>
              </a:buClr>
              <a:buNone/>
            </a:pPr>
            <a:r>
              <a:rPr lang="zh-CN" altLang="zh-CN" sz="1410">
                <a:solidFill>
                  <a:srgbClr val="000000"/>
                </a:solidFill>
                <a:ea typeface="宋体" pitchFamily="2" charset="-122"/>
              </a:rPr>
              <a:t>	</a:t>
            </a:r>
            <a:r>
              <a:rPr lang="zh-CN" altLang="zh-CN" sz="1410">
                <a:solidFill>
                  <a:srgbClr val="FF0000"/>
                </a:solidFill>
                <a:ea typeface="宋体" pitchFamily="2" charset="-122"/>
              </a:rPr>
              <a:t>$30 x 1000  +  $100 x 200  =  </a:t>
            </a:r>
            <a:r>
              <a:rPr lang="zh-CN" altLang="zh-CN" sz="1410" u="sng">
                <a:solidFill>
                  <a:srgbClr val="FF0000"/>
                </a:solidFill>
                <a:ea typeface="宋体" pitchFamily="2" charset="-122"/>
              </a:rPr>
              <a:t>$50,000</a:t>
            </a:r>
          </a:p>
        </p:txBody>
      </p:sp>
      <p:graphicFrame>
        <p:nvGraphicFramePr>
          <p:cNvPr id="64521" name="Group 9"/>
          <p:cNvGraphicFramePr>
            <a:graphicFrameLocks noGrp="1"/>
          </p:cNvGraphicFramePr>
          <p:nvPr/>
        </p:nvGraphicFramePr>
        <p:xfrm>
          <a:off x="312943" y="775540"/>
          <a:ext cx="4200315" cy="1004618"/>
        </p:xfrm>
        <a:graphic>
          <a:graphicData uri="http://schemas.openxmlformats.org/drawingml/2006/table">
            <a:tbl>
              <a:tblPr/>
              <a:tblGrid>
                <a:gridCol w="687513">
                  <a:extLst>
                    <a:ext uri="{9D8B030D-6E8A-4147-A177-3AD203B41FA5}">
                      <a16:colId xmlns:a16="http://schemas.microsoft.com/office/drawing/2014/main" val="20000"/>
                    </a:ext>
                  </a:extLst>
                </a:gridCol>
                <a:gridCol w="657900">
                  <a:extLst>
                    <a:ext uri="{9D8B030D-6E8A-4147-A177-3AD203B41FA5}">
                      <a16:colId xmlns:a16="http://schemas.microsoft.com/office/drawing/2014/main" val="20001"/>
                    </a:ext>
                  </a:extLst>
                </a:gridCol>
                <a:gridCol w="587468">
                  <a:extLst>
                    <a:ext uri="{9D8B030D-6E8A-4147-A177-3AD203B41FA5}">
                      <a16:colId xmlns:a16="http://schemas.microsoft.com/office/drawing/2014/main" val="20002"/>
                    </a:ext>
                  </a:extLst>
                </a:gridCol>
                <a:gridCol w="528241">
                  <a:extLst>
                    <a:ext uri="{9D8B030D-6E8A-4147-A177-3AD203B41FA5}">
                      <a16:colId xmlns:a16="http://schemas.microsoft.com/office/drawing/2014/main" val="20003"/>
                    </a:ext>
                  </a:extLst>
                </a:gridCol>
                <a:gridCol w="572261">
                  <a:extLst>
                    <a:ext uri="{9D8B030D-6E8A-4147-A177-3AD203B41FA5}">
                      <a16:colId xmlns:a16="http://schemas.microsoft.com/office/drawing/2014/main" val="20004"/>
                    </a:ext>
                  </a:extLst>
                </a:gridCol>
                <a:gridCol w="597072">
                  <a:extLst>
                    <a:ext uri="{9D8B030D-6E8A-4147-A177-3AD203B41FA5}">
                      <a16:colId xmlns:a16="http://schemas.microsoft.com/office/drawing/2014/main" val="20005"/>
                    </a:ext>
                  </a:extLst>
                </a:gridCol>
                <a:gridCol w="569860">
                  <a:extLst>
                    <a:ext uri="{9D8B030D-6E8A-4147-A177-3AD203B41FA5}">
                      <a16:colId xmlns:a16="http://schemas.microsoft.com/office/drawing/2014/main" val="20006"/>
                    </a:ext>
                  </a:extLst>
                </a:gridCol>
              </a:tblGrid>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2007 (基年)</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2008</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2009</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extLst>
                  <a:ext uri="{0D108BD9-81ED-4DB2-BD59-A6C34878D82A}">
                    <a16:rowId xmlns:a16="http://schemas.microsoft.com/office/drawing/2014/main" val="10000"/>
                  </a:ext>
                </a:extLst>
              </a:tr>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4651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物品 A</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$30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$31</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$36</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1050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4587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物品 B</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192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205</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520">
                                            <p:txEl>
                                              <p:pRg st="1" end="1"/>
                                            </p:txEl>
                                          </p:spTgt>
                                        </p:tgtEl>
                                        <p:attrNameLst>
                                          <p:attrName>style.visibility</p:attrName>
                                        </p:attrNameLst>
                                      </p:cBhvr>
                                      <p:to>
                                        <p:strVal val="visible"/>
                                      </p:to>
                                    </p:set>
                                    <p:animEffect transition="in" filter="wipe(left)">
                                      <p:cBhvr>
                                        <p:cTn id="7" dur="500"/>
                                        <p:tgtEl>
                                          <p:spTgt spid="64520">
                                            <p:txEl>
                                              <p:pRg st="1" end="1"/>
                                            </p:txEl>
                                          </p:spTgt>
                                        </p:tgtEl>
                                      </p:cBhvr>
                                    </p:animEffect>
                                  </p:childTnLst>
                                  <p:subTnLst>
                                    <p:animClr clrSpc="rgb" dir="cw">
                                      <p:cBhvr override="childStyle">
                                        <p:cTn dur="1" fill="hold" display="0" masterRel="nextClick" afterEffect="1"/>
                                        <p:tgtEl>
                                          <p:spTgt spid="64520">
                                            <p:txEl>
                                              <p:pRg st="1" end="1"/>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4520">
                                            <p:txEl>
                                              <p:pRg st="2" end="2"/>
                                            </p:txEl>
                                          </p:spTgt>
                                        </p:tgtEl>
                                        <p:attrNameLst>
                                          <p:attrName>style.visibility</p:attrName>
                                        </p:attrNameLst>
                                      </p:cBhvr>
                                      <p:to>
                                        <p:strVal val="visible"/>
                                      </p:to>
                                    </p:set>
                                    <p:animEffect transition="in" filter="wipe(left)">
                                      <p:cBhvr>
                                        <p:cTn id="12" dur="500"/>
                                        <p:tgtEl>
                                          <p:spTgt spid="6452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4520">
                                            <p:txEl>
                                              <p:pRg st="3" end="3"/>
                                            </p:txEl>
                                          </p:spTgt>
                                        </p:tgtEl>
                                        <p:attrNameLst>
                                          <p:attrName>style.visibility</p:attrName>
                                        </p:attrNameLst>
                                      </p:cBhvr>
                                      <p:to>
                                        <p:strVal val="visible"/>
                                      </p:to>
                                    </p:set>
                                    <p:animEffect transition="in" filter="wipe(left)">
                                      <p:cBhvr>
                                        <p:cTn id="17" dur="500"/>
                                        <p:tgtEl>
                                          <p:spTgt spid="645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0" grpId="0" build="p" bldLvl="5"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spcBef>
                <a:spcPct val="0"/>
              </a:spcBef>
              <a:spcAft>
                <a:spcPct val="0"/>
              </a:spcAft>
            </a:pPr>
            <a:endParaRPr lang="zh-CN" altLang="zh-CN" sz="910">
              <a:solidFill>
                <a:srgbClr val="000000"/>
              </a:solidFill>
              <a:ea typeface="宋体" pitchFamily="2" charset="-122"/>
            </a:endParaRPr>
          </a:p>
        </p:txBody>
      </p:sp>
      <p:sp>
        <p:nvSpPr>
          <p:cNvPr id="65539" name="Rectangle 4"/>
          <p:cNvSpPr>
            <a:spLocks noGrp="1" noChangeArrowheads="1"/>
          </p:cNvSpPr>
          <p:nvPr>
            <p:ph type="title"/>
          </p:nvPr>
        </p:nvSpPr>
        <p:spPr>
          <a:xfrm>
            <a:off x="296135" y="179269"/>
            <a:ext cx="4138686" cy="481019"/>
          </a:xfrm>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en-US"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815">
                <a:solidFill>
                  <a:srgbClr val="339966"/>
                </a:solidFill>
                <a:effectLst>
                  <a:outerShdw blurRad="38100" dist="38100" dir="2700000" algn="tl">
                    <a:srgbClr val="C0C0C0"/>
                  </a:outerShdw>
                </a:effectLst>
                <a:ea typeface="宋体" pitchFamily="2" charset="-122"/>
              </a:rPr>
              <a:t>参考答案</a:t>
            </a:r>
          </a:p>
        </p:txBody>
      </p:sp>
      <p:grpSp>
        <p:nvGrpSpPr>
          <p:cNvPr id="65540" name="Group 4"/>
          <p:cNvGrpSpPr/>
          <p:nvPr/>
        </p:nvGrpSpPr>
        <p:grpSpPr bwMode="auto">
          <a:xfrm>
            <a:off x="299336" y="148055"/>
            <a:ext cx="4139486" cy="529041"/>
            <a:chOff x="0" y="0"/>
            <a:chExt cx="5000" cy="661"/>
          </a:xfrm>
        </p:grpSpPr>
        <p:sp>
          <p:nvSpPr>
            <p:cNvPr id="65541"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65542"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65543" name="Rectangle 7"/>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C7ADAC20-857C-FE48-A259-AD173C97707F}" type="slidenum">
              <a:rPr lang="zh-CN" altLang="zh-CN" sz="855">
                <a:solidFill>
                  <a:srgbClr val="777777"/>
                </a:solidFill>
                <a:latin typeface="Tahoma" panose="020B0604030504040204" pitchFamily="34" charset="0"/>
                <a:ea typeface="宋体" pitchFamily="2" charset="-122"/>
              </a:rPr>
              <a:t>57</a:t>
            </a:fld>
            <a:endParaRPr lang="en-US" altLang="zh-CN" sz="855">
              <a:solidFill>
                <a:srgbClr val="777777"/>
              </a:solidFill>
              <a:latin typeface="Tahoma" panose="020B0604030504040204" pitchFamily="34" charset="0"/>
              <a:ea typeface="宋体" pitchFamily="2" charset="-122"/>
            </a:endParaRPr>
          </a:p>
        </p:txBody>
      </p:sp>
      <p:sp>
        <p:nvSpPr>
          <p:cNvPr id="65544" name="Rectangle 11"/>
          <p:cNvSpPr>
            <a:spLocks noChangeArrowheads="1"/>
          </p:cNvSpPr>
          <p:nvPr/>
        </p:nvSpPr>
        <p:spPr bwMode="auto">
          <a:xfrm>
            <a:off x="308941" y="1852031"/>
            <a:ext cx="4146689" cy="148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9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9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90204" pitchFamily="34" charset="0"/>
              </a:defRPr>
            </a:lvl3pPr>
            <a:lvl4pPr marL="1600200" indent="-228600">
              <a:spcBef>
                <a:spcPct val="15000"/>
              </a:spcBef>
              <a:buChar char="–"/>
              <a:defRPr sz="2000">
                <a:solidFill>
                  <a:schemeClr val="tx1"/>
                </a:solidFill>
                <a:latin typeface="Arial" panose="020B0604020202090204" pitchFamily="34" charset="0"/>
              </a:defRPr>
            </a:lvl4pPr>
            <a:lvl5pPr marL="2057400" indent="-228600">
              <a:spcBef>
                <a:spcPct val="20000"/>
              </a:spcBef>
              <a:buChar char="»"/>
              <a:defRPr sz="2000">
                <a:solidFill>
                  <a:schemeClr val="tx1"/>
                </a:solidFill>
                <a:latin typeface="Arial" panose="020B0604020202090204" pitchFamily="34" charset="0"/>
              </a:defRPr>
            </a:lvl5pPr>
            <a:lvl6pPr marL="2514600" indent="-228600" fontAlgn="base">
              <a:spcBef>
                <a:spcPct val="20000"/>
              </a:spcBef>
              <a:spcAft>
                <a:spcPct val="0"/>
              </a:spcAft>
              <a:buChar char="»"/>
              <a:defRPr sz="2000">
                <a:solidFill>
                  <a:schemeClr val="tx1"/>
                </a:solidFill>
                <a:latin typeface="Arial" panose="020B0604020202090204" pitchFamily="34" charset="0"/>
              </a:defRPr>
            </a:lvl6pPr>
            <a:lvl7pPr marL="2971800" indent="-228600" fontAlgn="base">
              <a:spcBef>
                <a:spcPct val="20000"/>
              </a:spcBef>
              <a:spcAft>
                <a:spcPct val="0"/>
              </a:spcAft>
              <a:buChar char="»"/>
              <a:defRPr sz="2000">
                <a:solidFill>
                  <a:schemeClr val="tx1"/>
                </a:solidFill>
                <a:latin typeface="Arial" panose="020B0604020202090204" pitchFamily="34" charset="0"/>
              </a:defRPr>
            </a:lvl7pPr>
            <a:lvl8pPr marL="3429000" indent="-228600" fontAlgn="base">
              <a:spcBef>
                <a:spcPct val="20000"/>
              </a:spcBef>
              <a:spcAft>
                <a:spcPct val="0"/>
              </a:spcAft>
              <a:buChar char="»"/>
              <a:defRPr sz="2000">
                <a:solidFill>
                  <a:schemeClr val="tx1"/>
                </a:solidFill>
                <a:latin typeface="Arial" panose="020B0604020202090204" pitchFamily="34" charset="0"/>
              </a:defRPr>
            </a:lvl8pPr>
            <a:lvl9pPr marL="3886200" indent="-228600" fontAlgn="base">
              <a:spcBef>
                <a:spcPct val="20000"/>
              </a:spcBef>
              <a:spcAft>
                <a:spcPct val="0"/>
              </a:spcAft>
              <a:buChar char="»"/>
              <a:defRPr sz="2000">
                <a:solidFill>
                  <a:schemeClr val="tx1"/>
                </a:solidFill>
                <a:latin typeface="Arial" panose="020B0604020202090204" pitchFamily="34" charset="0"/>
              </a:defRPr>
            </a:lvl9pPr>
          </a:lstStyle>
          <a:p>
            <a:pPr marL="230505" indent="-230505" defTabSz="461010" fontAlgn="base">
              <a:spcAft>
                <a:spcPct val="0"/>
              </a:spcAft>
              <a:buClr>
                <a:srgbClr val="003399"/>
              </a:buClr>
              <a:buNone/>
            </a:pPr>
            <a:r>
              <a:rPr lang="zh-CN" altLang="zh-CN" sz="1310" b="1">
                <a:solidFill>
                  <a:srgbClr val="339966"/>
                </a:solidFill>
                <a:ea typeface="宋体" pitchFamily="2" charset="-122"/>
              </a:rPr>
              <a:t>C.	</a:t>
            </a:r>
            <a:r>
              <a:rPr lang="zh-CN" altLang="zh-CN" sz="1360">
                <a:solidFill>
                  <a:srgbClr val="000000"/>
                </a:solidFill>
                <a:ea typeface="宋体" pitchFamily="2" charset="-122"/>
              </a:rPr>
              <a:t>计算2009年GDP平减指数</a:t>
            </a:r>
          </a:p>
          <a:p>
            <a:pPr marL="230505" indent="-230505" defTabSz="461010" fontAlgn="base">
              <a:spcBef>
                <a:spcPct val="40000"/>
              </a:spcBef>
              <a:spcAft>
                <a:spcPct val="0"/>
              </a:spcAft>
              <a:buClr>
                <a:srgbClr val="003399"/>
              </a:buClr>
              <a:buNone/>
            </a:pPr>
            <a:r>
              <a:rPr lang="zh-CN" altLang="zh-CN" sz="1310">
                <a:solidFill>
                  <a:srgbClr val="FF0000"/>
                </a:solidFill>
                <a:ea typeface="宋体" pitchFamily="2" charset="-122"/>
              </a:rPr>
              <a:t>  名义GDP  =  $36 x 1050  +  $100 x 205  =  </a:t>
            </a:r>
            <a:r>
              <a:rPr lang="zh-CN" altLang="zh-CN" sz="1310" u="sng">
                <a:solidFill>
                  <a:srgbClr val="FF0000"/>
                </a:solidFill>
                <a:ea typeface="宋体" pitchFamily="2" charset="-122"/>
              </a:rPr>
              <a:t>$58,300</a:t>
            </a:r>
            <a:endParaRPr lang="zh-CN" altLang="zh-CN" sz="1310">
              <a:solidFill>
                <a:srgbClr val="FF0000"/>
              </a:solidFill>
              <a:ea typeface="宋体" pitchFamily="2" charset="-122"/>
            </a:endParaRPr>
          </a:p>
          <a:p>
            <a:pPr marL="230505" indent="-230505" defTabSz="461010" fontAlgn="base">
              <a:spcAft>
                <a:spcPct val="0"/>
              </a:spcAft>
              <a:buClr>
                <a:srgbClr val="003399"/>
              </a:buClr>
              <a:buNone/>
            </a:pPr>
            <a:r>
              <a:rPr lang="zh-CN" altLang="zh-CN" sz="1310">
                <a:solidFill>
                  <a:srgbClr val="FF0000"/>
                </a:solidFill>
                <a:ea typeface="宋体" pitchFamily="2" charset="-122"/>
              </a:rPr>
              <a:t>  真实GDP  =  $30 x 1050  +  $100 x 205  =  </a:t>
            </a:r>
            <a:r>
              <a:rPr lang="zh-CN" altLang="zh-CN" sz="1310" u="sng">
                <a:solidFill>
                  <a:srgbClr val="FF0000"/>
                </a:solidFill>
                <a:ea typeface="宋体" pitchFamily="2" charset="-122"/>
              </a:rPr>
              <a:t>$52,000</a:t>
            </a:r>
            <a:endParaRPr lang="zh-CN" altLang="zh-CN" sz="1310">
              <a:solidFill>
                <a:srgbClr val="FF0000"/>
              </a:solidFill>
              <a:ea typeface="宋体" pitchFamily="2" charset="-122"/>
            </a:endParaRPr>
          </a:p>
          <a:p>
            <a:pPr marL="230505" indent="-230505" defTabSz="461010" fontAlgn="base">
              <a:spcAft>
                <a:spcPct val="0"/>
              </a:spcAft>
              <a:buClr>
                <a:srgbClr val="003399"/>
              </a:buClr>
              <a:buNone/>
            </a:pPr>
            <a:r>
              <a:rPr lang="zh-CN" altLang="zh-CN" sz="1310">
                <a:solidFill>
                  <a:srgbClr val="FF0000"/>
                </a:solidFill>
                <a:ea typeface="宋体" pitchFamily="2" charset="-122"/>
              </a:rPr>
              <a:t>  GDP平减指数 = 100 x (名义 GDP)/(真实 GDP)</a:t>
            </a:r>
          </a:p>
          <a:p>
            <a:pPr marL="230505" indent="-230505" defTabSz="461010" fontAlgn="base">
              <a:spcBef>
                <a:spcPct val="20000"/>
              </a:spcBef>
              <a:spcAft>
                <a:spcPct val="0"/>
              </a:spcAft>
              <a:buClr>
                <a:srgbClr val="003399"/>
              </a:buClr>
              <a:buNone/>
            </a:pPr>
            <a:r>
              <a:rPr lang="zh-CN" altLang="zh-CN" sz="1310">
                <a:solidFill>
                  <a:srgbClr val="FF0000"/>
                </a:solidFill>
                <a:ea typeface="宋体" pitchFamily="2" charset="-122"/>
              </a:rPr>
              <a:t>			    = 100 x ($58,300)/($52,000) =  </a:t>
            </a:r>
            <a:r>
              <a:rPr lang="zh-CN" altLang="zh-CN" sz="1310" u="sng">
                <a:solidFill>
                  <a:srgbClr val="FF0000"/>
                </a:solidFill>
                <a:ea typeface="宋体" pitchFamily="2" charset="-122"/>
              </a:rPr>
              <a:t>112.1</a:t>
            </a:r>
          </a:p>
        </p:txBody>
      </p:sp>
      <p:graphicFrame>
        <p:nvGraphicFramePr>
          <p:cNvPr id="65545" name="Group 9"/>
          <p:cNvGraphicFramePr>
            <a:graphicFrameLocks noGrp="1"/>
          </p:cNvGraphicFramePr>
          <p:nvPr/>
        </p:nvGraphicFramePr>
        <p:xfrm>
          <a:off x="312943" y="775541"/>
          <a:ext cx="4200315" cy="1003978"/>
        </p:xfrm>
        <a:graphic>
          <a:graphicData uri="http://schemas.openxmlformats.org/drawingml/2006/table">
            <a:tbl>
              <a:tblPr/>
              <a:tblGrid>
                <a:gridCol w="687513">
                  <a:extLst>
                    <a:ext uri="{9D8B030D-6E8A-4147-A177-3AD203B41FA5}">
                      <a16:colId xmlns:a16="http://schemas.microsoft.com/office/drawing/2014/main" val="20000"/>
                    </a:ext>
                  </a:extLst>
                </a:gridCol>
                <a:gridCol w="657900">
                  <a:extLst>
                    <a:ext uri="{9D8B030D-6E8A-4147-A177-3AD203B41FA5}">
                      <a16:colId xmlns:a16="http://schemas.microsoft.com/office/drawing/2014/main" val="20001"/>
                    </a:ext>
                  </a:extLst>
                </a:gridCol>
                <a:gridCol w="587468">
                  <a:extLst>
                    <a:ext uri="{9D8B030D-6E8A-4147-A177-3AD203B41FA5}">
                      <a16:colId xmlns:a16="http://schemas.microsoft.com/office/drawing/2014/main" val="20002"/>
                    </a:ext>
                  </a:extLst>
                </a:gridCol>
                <a:gridCol w="528241">
                  <a:extLst>
                    <a:ext uri="{9D8B030D-6E8A-4147-A177-3AD203B41FA5}">
                      <a16:colId xmlns:a16="http://schemas.microsoft.com/office/drawing/2014/main" val="20003"/>
                    </a:ext>
                  </a:extLst>
                </a:gridCol>
                <a:gridCol w="572261">
                  <a:extLst>
                    <a:ext uri="{9D8B030D-6E8A-4147-A177-3AD203B41FA5}">
                      <a16:colId xmlns:a16="http://schemas.microsoft.com/office/drawing/2014/main" val="20004"/>
                    </a:ext>
                  </a:extLst>
                </a:gridCol>
                <a:gridCol w="597072">
                  <a:extLst>
                    <a:ext uri="{9D8B030D-6E8A-4147-A177-3AD203B41FA5}">
                      <a16:colId xmlns:a16="http://schemas.microsoft.com/office/drawing/2014/main" val="20005"/>
                    </a:ext>
                  </a:extLst>
                </a:gridCol>
                <a:gridCol w="569860">
                  <a:extLst>
                    <a:ext uri="{9D8B030D-6E8A-4147-A177-3AD203B41FA5}">
                      <a16:colId xmlns:a16="http://schemas.microsoft.com/office/drawing/2014/main" val="20006"/>
                    </a:ext>
                  </a:extLst>
                </a:gridCol>
              </a:tblGrid>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2007 (基年)</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2008</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tc gridSpan="2">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2009</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extLst>
                  <a:ext uri="{0D108BD9-81ED-4DB2-BD59-A6C34878D82A}">
                    <a16:rowId xmlns:a16="http://schemas.microsoft.com/office/drawing/2014/main" val="10000"/>
                  </a:ext>
                </a:extLst>
              </a:tr>
              <a:tr h="25611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1" u="none" strike="noStrike" cap="none" normalizeH="0" baseline="0">
                          <a:ln>
                            <a:noFill/>
                          </a:ln>
                          <a:solidFill>
                            <a:schemeClr val="tx1"/>
                          </a:solidFill>
                          <a:effectLst/>
                          <a:latin typeface="Arial" panose="020B0604020202090204" pitchFamily="34" charset="0"/>
                          <a:ea typeface="宋体"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4587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Good A</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$30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$31</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$36</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1050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4587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Good B</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192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a:spcBef>
                          <a:spcPct val="15000"/>
                        </a:spcBef>
                        <a:defRPr>
                          <a:solidFill>
                            <a:schemeClr val="tx1"/>
                          </a:solidFill>
                          <a:latin typeface="Arial" panose="020B0604020202090204" pitchFamily="34" charset="0"/>
                        </a:defRPr>
                      </a:lvl4pPr>
                      <a:lvl5pPr>
                        <a:spcBef>
                          <a:spcPct val="20000"/>
                        </a:spcBef>
                        <a:defRPr>
                          <a:solidFill>
                            <a:schemeClr val="tx1"/>
                          </a:solidFill>
                          <a:latin typeface="Arial" panose="020B0604020202090204" pitchFamily="34" charset="0"/>
                        </a:defRPr>
                      </a:lvl5pPr>
                      <a:lvl6pPr fontAlgn="base">
                        <a:spcBef>
                          <a:spcPct val="20000"/>
                        </a:spcBef>
                        <a:spcAft>
                          <a:spcPct val="0"/>
                        </a:spcAft>
                        <a:defRPr>
                          <a:solidFill>
                            <a:schemeClr val="tx1"/>
                          </a:solidFill>
                          <a:latin typeface="Arial" panose="020B0604020202090204" pitchFamily="34" charset="0"/>
                        </a:defRPr>
                      </a:lvl6pPr>
                      <a:lvl7pPr fontAlgn="base">
                        <a:spcBef>
                          <a:spcPct val="20000"/>
                        </a:spcBef>
                        <a:spcAft>
                          <a:spcPct val="0"/>
                        </a:spcAft>
                        <a:defRPr>
                          <a:solidFill>
                            <a:schemeClr val="tx1"/>
                          </a:solidFill>
                          <a:latin typeface="Arial" panose="020B0604020202090204" pitchFamily="34" charset="0"/>
                        </a:defRPr>
                      </a:lvl7pPr>
                      <a:lvl8pPr fontAlgn="base">
                        <a:spcBef>
                          <a:spcPct val="20000"/>
                        </a:spcBef>
                        <a:spcAft>
                          <a:spcPct val="0"/>
                        </a:spcAft>
                        <a:defRPr>
                          <a:solidFill>
                            <a:schemeClr val="tx1"/>
                          </a:solidFill>
                          <a:latin typeface="Arial" panose="020B0604020202090204" pitchFamily="34" charset="0"/>
                        </a:defRPr>
                      </a:lvl8pPr>
                      <a:lvl9pPr fontAlgn="base">
                        <a:spcBef>
                          <a:spcPct val="2000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205</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5544">
                                            <p:txEl>
                                              <p:pRg st="0" end="0"/>
                                            </p:txEl>
                                          </p:spTgt>
                                        </p:tgtEl>
                                        <p:attrNameLst>
                                          <p:attrName>style.visibility</p:attrName>
                                        </p:attrNameLst>
                                      </p:cBhvr>
                                      <p:to>
                                        <p:strVal val="visible"/>
                                      </p:to>
                                    </p:set>
                                    <p:animEffect transition="in" filter="wipe(left)">
                                      <p:cBhvr>
                                        <p:cTn id="7" dur="500"/>
                                        <p:tgtEl>
                                          <p:spTgt spid="655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544">
                                            <p:txEl>
                                              <p:pRg st="1" end="1"/>
                                            </p:txEl>
                                          </p:spTgt>
                                        </p:tgtEl>
                                        <p:attrNameLst>
                                          <p:attrName>style.visibility</p:attrName>
                                        </p:attrNameLst>
                                      </p:cBhvr>
                                      <p:to>
                                        <p:strVal val="visible"/>
                                      </p:to>
                                    </p:set>
                                    <p:animEffect transition="in" filter="wipe(left)">
                                      <p:cBhvr>
                                        <p:cTn id="12" dur="500"/>
                                        <p:tgtEl>
                                          <p:spTgt spid="65544">
                                            <p:txEl>
                                              <p:pRg st="1" end="1"/>
                                            </p:txEl>
                                          </p:spTgt>
                                        </p:tgtEl>
                                      </p:cBhvr>
                                    </p:animEffect>
                                  </p:childTnLst>
                                  <p:subTnLst>
                                    <p:animClr clrSpc="rgb" dir="cw">
                                      <p:cBhvr override="childStyle">
                                        <p:cTn dur="1" fill="hold" display="0" masterRel="nextClick" afterEffect="1"/>
                                        <p:tgtEl>
                                          <p:spTgt spid="65544">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5544">
                                            <p:txEl>
                                              <p:pRg st="2" end="2"/>
                                            </p:txEl>
                                          </p:spTgt>
                                        </p:tgtEl>
                                        <p:attrNameLst>
                                          <p:attrName>style.visibility</p:attrName>
                                        </p:attrNameLst>
                                      </p:cBhvr>
                                      <p:to>
                                        <p:strVal val="visible"/>
                                      </p:to>
                                    </p:set>
                                    <p:animEffect transition="in" filter="wipe(left)">
                                      <p:cBhvr>
                                        <p:cTn id="17" dur="500"/>
                                        <p:tgtEl>
                                          <p:spTgt spid="65544">
                                            <p:txEl>
                                              <p:pRg st="2" end="2"/>
                                            </p:txEl>
                                          </p:spTgt>
                                        </p:tgtEl>
                                      </p:cBhvr>
                                    </p:animEffect>
                                  </p:childTnLst>
                                  <p:subTnLst>
                                    <p:animClr clrSpc="rgb" dir="cw">
                                      <p:cBhvr override="childStyle">
                                        <p:cTn dur="1" fill="hold" display="0" masterRel="nextClick" afterEffect="1"/>
                                        <p:tgtEl>
                                          <p:spTgt spid="65544">
                                            <p:txEl>
                                              <p:pRg st="2" end="2"/>
                                            </p:txEl>
                                          </p:spTgt>
                                        </p:tgtEl>
                                        <p:attrNameLst>
                                          <p:attrName>ppt_c</p:attrName>
                                        </p:attrNameLst>
                                      </p:cBhvr>
                                      <p:to>
                                        <a:schemeClr val="bg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5544">
                                            <p:txEl>
                                              <p:pRg st="3" end="3"/>
                                            </p:txEl>
                                          </p:spTgt>
                                        </p:tgtEl>
                                        <p:attrNameLst>
                                          <p:attrName>style.visibility</p:attrName>
                                        </p:attrNameLst>
                                      </p:cBhvr>
                                      <p:to>
                                        <p:strVal val="visible"/>
                                      </p:to>
                                    </p:set>
                                    <p:animEffect transition="in" filter="wipe(left)">
                                      <p:cBhvr>
                                        <p:cTn id="22" dur="500"/>
                                        <p:tgtEl>
                                          <p:spTgt spid="655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5544">
                                            <p:txEl>
                                              <p:pRg st="4" end="4"/>
                                            </p:txEl>
                                          </p:spTgt>
                                        </p:tgtEl>
                                        <p:attrNameLst>
                                          <p:attrName>style.visibility</p:attrName>
                                        </p:attrNameLst>
                                      </p:cBhvr>
                                      <p:to>
                                        <p:strVal val="visible"/>
                                      </p:to>
                                    </p:set>
                                    <p:animEffect transition="in" filter="wipe(left)">
                                      <p:cBhvr>
                                        <p:cTn id="27" dur="500"/>
                                        <p:tgtEl>
                                          <p:spTgt spid="655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4" grpId="0" build="p" bldLvl="5"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0505" y="650255"/>
            <a:ext cx="4162777" cy="2304256"/>
          </a:xfrm>
        </p:spPr>
        <p:txBody>
          <a:bodyPr/>
          <a:lstStyle/>
          <a:p>
            <a:r>
              <a:rPr lang="zh-CN" altLang="en-US" sz="1210" b="1" dirty="0"/>
              <a:t>国内生产净值</a:t>
            </a:r>
            <a:r>
              <a:rPr lang="en-US" altLang="zh-CN" sz="1210" b="1" dirty="0"/>
              <a:t>(net domestic product, NDP)</a:t>
            </a:r>
          </a:p>
          <a:p>
            <a:pPr marL="0" indent="0">
              <a:buNone/>
            </a:pPr>
            <a:r>
              <a:rPr lang="zh-CN" altLang="en-US" sz="1210" dirty="0"/>
              <a:t>    一个国家或地区在一定时期内（通常为一年）所生产的最终产品和服务按市场价格计算的净值。</a:t>
            </a:r>
            <a:endParaRPr lang="en-US" altLang="zh-CN" sz="1210" dirty="0"/>
          </a:p>
          <a:p>
            <a:r>
              <a:rPr lang="zh-CN" altLang="en-US" sz="1210" b="1" dirty="0"/>
              <a:t>国民收入（</a:t>
            </a:r>
            <a:r>
              <a:rPr lang="en-US" altLang="zh-CN" sz="1210" b="1" dirty="0"/>
              <a:t>national income</a:t>
            </a:r>
            <a:r>
              <a:rPr lang="zh-CN" altLang="en-US" sz="1210" b="1" dirty="0"/>
              <a:t>，</a:t>
            </a:r>
            <a:r>
              <a:rPr lang="en-US" altLang="zh-CN" sz="1210" b="1" dirty="0"/>
              <a:t>NI</a:t>
            </a:r>
            <a:r>
              <a:rPr lang="zh-CN" altLang="en-US" sz="1210" b="1" dirty="0"/>
              <a:t>）</a:t>
            </a:r>
            <a:endParaRPr lang="en-US" altLang="zh-CN" sz="1210" b="1" dirty="0"/>
          </a:p>
          <a:p>
            <a:pPr marL="0" indent="0">
              <a:buNone/>
            </a:pPr>
            <a:r>
              <a:rPr lang="zh-CN" altLang="en-US" sz="1210" dirty="0"/>
              <a:t>    一国国民拥有的各种生产要素所得到的实际报酬</a:t>
            </a:r>
            <a:endParaRPr lang="en-US" altLang="zh-CN" sz="1210" dirty="0"/>
          </a:p>
          <a:p>
            <a:r>
              <a:rPr lang="zh-CN" altLang="en-US" sz="1210" b="1" dirty="0"/>
              <a:t>个人收入（</a:t>
            </a:r>
            <a:r>
              <a:rPr lang="en-US" altLang="zh-CN" sz="1210" b="1" dirty="0"/>
              <a:t>personal income</a:t>
            </a:r>
            <a:r>
              <a:rPr lang="zh-CN" altLang="en-US" sz="1210" b="1" dirty="0"/>
              <a:t>，</a:t>
            </a:r>
            <a:r>
              <a:rPr lang="en-US" altLang="zh-CN" sz="1210" b="1" dirty="0"/>
              <a:t>PI</a:t>
            </a:r>
            <a:r>
              <a:rPr lang="zh-CN" altLang="en-US" sz="1210" b="1" dirty="0"/>
              <a:t>）</a:t>
            </a:r>
            <a:endParaRPr lang="en-US" altLang="zh-CN" sz="1210" b="1" dirty="0"/>
          </a:p>
          <a:p>
            <a:pPr marL="0" indent="0">
              <a:buNone/>
            </a:pPr>
            <a:r>
              <a:rPr lang="zh-CN" altLang="en-US" sz="1210" dirty="0"/>
              <a:t>    国民收入经过各种调整和转移支付后作为公民个人得到的收入之和。</a:t>
            </a:r>
            <a:endParaRPr lang="en-US" altLang="zh-CN" sz="1210" dirty="0"/>
          </a:p>
          <a:p>
            <a:r>
              <a:rPr lang="zh-CN" altLang="en-US" sz="1210" b="1" dirty="0"/>
              <a:t>个人可支配收入（</a:t>
            </a:r>
            <a:r>
              <a:rPr lang="en-US" altLang="zh-CN" sz="1210" b="1" dirty="0"/>
              <a:t>disposable personal income</a:t>
            </a:r>
            <a:r>
              <a:rPr lang="zh-CN" altLang="en-US" sz="1210" b="1" dirty="0"/>
              <a:t>）</a:t>
            </a:r>
            <a:endParaRPr lang="en-US" altLang="zh-CN" sz="1210" b="1" dirty="0"/>
          </a:p>
          <a:p>
            <a:pPr marL="0" indent="0">
              <a:buNone/>
            </a:pPr>
            <a:r>
              <a:rPr lang="zh-CN" altLang="en-US" sz="1210" dirty="0"/>
              <a:t>    个人收入减去“个人所得税和其他非税支付”后归个人支付的部分。</a:t>
            </a:r>
          </a:p>
        </p:txBody>
      </p:sp>
      <p:sp>
        <p:nvSpPr>
          <p:cNvPr id="4" name="日期占位符 3"/>
          <p:cNvSpPr>
            <a:spLocks noGrp="1"/>
          </p:cNvSpPr>
          <p:nvPr>
            <p:ph type="dt" sz="half" idx="10"/>
          </p:nvPr>
        </p:nvSpPr>
        <p:spPr/>
        <p:txBody>
          <a:bodyPr/>
          <a:lstStyle/>
          <a:p>
            <a:pPr marL="0" marR="0" lvl="0" indent="0" algn="l" defTabSz="230505" rtl="0" eaLnBrk="1" fontAlgn="auto" latinLnBrk="0" hangingPunct="1">
              <a:lnSpc>
                <a:spcPct val="100000"/>
              </a:lnSpc>
              <a:spcBef>
                <a:spcPts val="0"/>
              </a:spcBef>
              <a:spcAft>
                <a:spcPts val="0"/>
              </a:spcAft>
              <a:buClrTx/>
              <a:buSzTx/>
              <a:buFontTx/>
              <a:buNone/>
              <a:defRPr/>
            </a:pPr>
            <a:r>
              <a:rPr kumimoji="0" lang="en-US" altLang="zh-CN"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2026-4</a:t>
            </a:r>
          </a:p>
        </p:txBody>
      </p:sp>
      <p:sp>
        <p:nvSpPr>
          <p:cNvPr id="5" name="页脚占位符 4"/>
          <p:cNvSpPr>
            <a:spLocks noGrp="1"/>
          </p:cNvSpPr>
          <p:nvPr>
            <p:ph type="ftr" sz="quarter" idx="11"/>
          </p:nvPr>
        </p:nvSpPr>
        <p:spPr/>
        <p:txBody>
          <a:bodyPr/>
          <a:lstStyle/>
          <a:p>
            <a:pPr marL="0" marR="0" lvl="0" indent="0" algn="ctr" defTabSz="230505" rtl="0" eaLnBrk="1" fontAlgn="auto" latinLnBrk="0" hangingPunct="1">
              <a:lnSpc>
                <a:spcPct val="100000"/>
              </a:lnSpc>
              <a:spcBef>
                <a:spcPts val="0"/>
              </a:spcBef>
              <a:spcAft>
                <a:spcPts val="0"/>
              </a:spcAft>
              <a:buClrTx/>
              <a:buSzTx/>
              <a:buFontTx/>
              <a:buNone/>
              <a:defRPr/>
            </a:pPr>
            <a:r>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a:t>
            </a:r>
            <a:r>
              <a:rPr kumimoji="0" lang="en-US" altLang="zh-CN"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1</a:t>
            </a:r>
            <a:r>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节 国民收入核算的基本概念</a:t>
            </a:r>
          </a:p>
        </p:txBody>
      </p:sp>
      <p:sp>
        <p:nvSpPr>
          <p:cNvPr id="6" name="灯片编号占位符 5"/>
          <p:cNvSpPr>
            <a:spLocks noGrp="1"/>
          </p:cNvSpPr>
          <p:nvPr>
            <p:ph type="sldNum" sz="quarter" idx="12"/>
          </p:nvPr>
        </p:nvSpPr>
        <p:spPr/>
        <p:txBody>
          <a:bodyPr/>
          <a:lstStyle/>
          <a:p>
            <a:pPr marL="0" marR="0" lvl="0" indent="0" algn="r" defTabSz="230505" rtl="0" eaLnBrk="1" fontAlgn="auto" latinLnBrk="0" hangingPunct="1">
              <a:lnSpc>
                <a:spcPct val="100000"/>
              </a:lnSpc>
              <a:spcBef>
                <a:spcPts val="0"/>
              </a:spcBef>
              <a:spcAft>
                <a:spcPts val="0"/>
              </a:spcAft>
              <a:buClrTx/>
              <a:buSzTx/>
              <a:buFontTx/>
              <a:buNone/>
              <a:defRPr/>
            </a:pPr>
            <a:fld id="{FAD6B5C5-F173-4E8F-B7DC-6ED3A3EC0E6C}" type="slidenum">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58</a:t>
            </a:fld>
            <a:endPar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0" name="Rectangle 2"/>
          <p:cNvSpPr txBox="1">
            <a:spLocks noChangeArrowheads="1"/>
          </p:cNvSpPr>
          <p:nvPr/>
        </p:nvSpPr>
        <p:spPr bwMode="auto">
          <a:xfrm>
            <a:off x="230505" y="117641"/>
            <a:ext cx="4149090" cy="432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a:lstStyle>
          <a:p>
            <a:r>
              <a:rPr lang="en-US" altLang="zh-CN" sz="2015" dirty="0">
                <a:ea typeface="宋体" pitchFamily="2" charset="-122"/>
              </a:rPr>
              <a:t> </a:t>
            </a:r>
            <a:r>
              <a:rPr lang="zh-CN" altLang="en-US" sz="2015" dirty="0">
                <a:ea typeface="宋体" pitchFamily="2" charset="-122"/>
              </a:rPr>
              <a:t>与</a:t>
            </a:r>
            <a:r>
              <a:rPr lang="en-US" altLang="zh-CN" sz="2015" dirty="0">
                <a:ea typeface="宋体" pitchFamily="2" charset="-122"/>
              </a:rPr>
              <a:t>GDP</a:t>
            </a:r>
            <a:r>
              <a:rPr lang="zh-CN" altLang="en-US" sz="2015" dirty="0">
                <a:ea typeface="宋体" pitchFamily="2" charset="-122"/>
              </a:rPr>
              <a:t>相关的其他指标</a:t>
            </a:r>
            <a:endParaRPr lang="zh-CN" altLang="zh-CN" sz="2015" dirty="0">
              <a:ea typeface="宋体"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内容占位符 7"/>
          <p:cNvGraphicFramePr>
            <a:graphicFrameLocks noGrp="1"/>
          </p:cNvGraphicFramePr>
          <p:nvPr>
            <p:ph idx="1"/>
          </p:nvPr>
        </p:nvGraphicFramePr>
        <p:xfrm>
          <a:off x="316944" y="650255"/>
          <a:ext cx="3917137" cy="2565062"/>
        </p:xfrm>
        <a:graphic>
          <a:graphicData uri="http://schemas.openxmlformats.org/drawingml/2006/table">
            <a:tbl>
              <a:tblPr firstRow="1" bandRow="1">
                <a:tableStyleId>{5940675A-B579-460E-94D1-54222C63F5DA}</a:tableStyleId>
              </a:tblPr>
              <a:tblGrid>
                <a:gridCol w="3917137">
                  <a:extLst>
                    <a:ext uri="{9D8B030D-6E8A-4147-A177-3AD203B41FA5}">
                      <a16:colId xmlns:a16="http://schemas.microsoft.com/office/drawing/2014/main" val="20000"/>
                    </a:ext>
                  </a:extLst>
                </a:gridCol>
              </a:tblGrid>
              <a:tr h="221416">
                <a:tc>
                  <a:txBody>
                    <a:bodyPr/>
                    <a:lstStyle/>
                    <a:p>
                      <a:r>
                        <a:rPr lang="zh-CN" altLang="en-US" sz="1000" dirty="0"/>
                        <a:t>国内生产总值</a:t>
                      </a:r>
                      <a:r>
                        <a:rPr lang="en-US" altLang="zh-CN" sz="1000" dirty="0"/>
                        <a:t>(GDP</a:t>
                      </a:r>
                      <a:r>
                        <a:rPr lang="zh-CN" altLang="en-US" sz="1000" dirty="0"/>
                        <a:t>，</a:t>
                      </a:r>
                      <a:r>
                        <a:rPr lang="en-US" altLang="zh-CN" sz="1000" dirty="0"/>
                        <a:t>gross domestic product)</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221416">
                <a:tc>
                  <a:txBody>
                    <a:bodyPr/>
                    <a:lstStyle/>
                    <a:p>
                      <a:r>
                        <a:rPr lang="en-US" altLang="zh-CN" sz="1000" dirty="0">
                          <a:latin typeface="KaiTi" panose="02010609060101010101" pitchFamily="49" charset="-122"/>
                          <a:ea typeface="KaiTi" panose="02010609060101010101" pitchFamily="49" charset="-122"/>
                        </a:rPr>
                        <a:t>    </a:t>
                      </a:r>
                      <a:r>
                        <a:rPr lang="zh-CN" altLang="en-US" sz="1000" dirty="0">
                          <a:latin typeface="KaiTi" panose="02010609060101010101" pitchFamily="49" charset="-122"/>
                          <a:ea typeface="KaiTi" panose="02010609060101010101" pitchFamily="49" charset="-122"/>
                        </a:rPr>
                        <a:t>减：折旧</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2214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00" dirty="0"/>
                        <a:t>国内生产净值</a:t>
                      </a:r>
                      <a:r>
                        <a:rPr lang="en-US" altLang="zh-CN" sz="1000" dirty="0"/>
                        <a:t>(NDP</a:t>
                      </a:r>
                      <a:r>
                        <a:rPr lang="zh-CN" altLang="en-US" sz="1000" dirty="0"/>
                        <a:t>，</a:t>
                      </a:r>
                      <a:r>
                        <a:rPr lang="en-US" altLang="zh-CN" sz="1000" dirty="0"/>
                        <a:t>)</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21416">
                <a:tc>
                  <a:txBody>
                    <a:bodyPr/>
                    <a:lstStyle/>
                    <a:p>
                      <a:pPr marL="0" marR="0" lvl="0" indent="0" algn="l" defTabSz="461010" rtl="0" eaLnBrk="1" fontAlgn="auto" latinLnBrk="0" hangingPunct="1">
                        <a:lnSpc>
                          <a:spcPct val="100000"/>
                        </a:lnSpc>
                        <a:spcBef>
                          <a:spcPts val="0"/>
                        </a:spcBef>
                        <a:spcAft>
                          <a:spcPts val="0"/>
                        </a:spcAft>
                        <a:buClrTx/>
                        <a:buSzTx/>
                        <a:buFontTx/>
                        <a:buNone/>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减：间接税、企业转移支付</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21416">
                <a:tc>
                  <a:txBody>
                    <a:bodyPr/>
                    <a:lstStyle/>
                    <a:p>
                      <a:pPr marL="0" marR="0" lvl="0" indent="0" algn="l" defTabSz="461010" rtl="0" eaLnBrk="1" fontAlgn="auto" latinLnBrk="0" hangingPunct="1">
                        <a:lnSpc>
                          <a:spcPct val="100000"/>
                        </a:lnSpc>
                        <a:spcBef>
                          <a:spcPts val="0"/>
                        </a:spcBef>
                        <a:spcAft>
                          <a:spcPts val="0"/>
                        </a:spcAft>
                        <a:buClrTx/>
                        <a:buSzTx/>
                        <a:buFontTx/>
                        <a:buNone/>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加：政府补助金</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214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00" dirty="0"/>
                        <a:t>国民收入</a:t>
                      </a:r>
                      <a:r>
                        <a:rPr lang="en-US" altLang="zh-CN" sz="1000" dirty="0"/>
                        <a:t>(NI)</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221416">
                <a:tc>
                  <a:txBody>
                    <a:bodyPr/>
                    <a:lstStyle/>
                    <a:p>
                      <a:pPr marL="0" marR="0" lvl="0" indent="0" algn="l" defTabSz="461010" rtl="0" eaLnBrk="1" fontAlgn="auto" latinLnBrk="0" hangingPunct="1">
                        <a:lnSpc>
                          <a:spcPct val="100000"/>
                        </a:lnSpc>
                        <a:spcBef>
                          <a:spcPts val="0"/>
                        </a:spcBef>
                        <a:spcAft>
                          <a:spcPts val="0"/>
                        </a:spcAft>
                        <a:buClrTx/>
                        <a:buSzTx/>
                        <a:buFontTx/>
                        <a:buNone/>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减：企业向政府交纳的所得税、留存收益</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221416">
                <a:tc>
                  <a:txBody>
                    <a:bodyPr/>
                    <a:lstStyle/>
                    <a:p>
                      <a:pPr marL="0" marR="0" lvl="0" indent="0" algn="l" defTabSz="461010" rtl="0" eaLnBrk="1" fontAlgn="auto" latinLnBrk="0" hangingPunct="1">
                        <a:lnSpc>
                          <a:spcPct val="100000"/>
                        </a:lnSpc>
                        <a:spcBef>
                          <a:spcPts val="0"/>
                        </a:spcBef>
                        <a:spcAft>
                          <a:spcPts val="0"/>
                        </a:spcAft>
                        <a:buClrTx/>
                        <a:buSzTx/>
                        <a:buFontTx/>
                        <a:buNone/>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加：政府给个人的退伍军人津贴、工人失业救济金、职工养老金等</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2214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00" dirty="0"/>
                        <a:t>个人收入</a:t>
                      </a:r>
                      <a:r>
                        <a:rPr lang="en-US" altLang="zh-CN" sz="1000" dirty="0"/>
                        <a:t>(PI)</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221416">
                <a:tc>
                  <a:txBody>
                    <a:bodyPr/>
                    <a:lstStyle/>
                    <a:p>
                      <a:pPr marL="0" marR="0" lvl="0" indent="0" algn="l" defTabSz="461010" rtl="0" eaLnBrk="1" fontAlgn="auto" latinLnBrk="0" hangingPunct="1">
                        <a:lnSpc>
                          <a:spcPct val="100000"/>
                        </a:lnSpc>
                        <a:spcBef>
                          <a:spcPts val="0"/>
                        </a:spcBef>
                        <a:spcAft>
                          <a:spcPts val="0"/>
                        </a:spcAft>
                        <a:buClrTx/>
                        <a:buSzTx/>
                        <a:buFontTx/>
                        <a:buNone/>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减：个人所得税和其他非税支付</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22141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00" dirty="0"/>
                        <a:t>个人可支配收入</a:t>
                      </a:r>
                      <a:r>
                        <a:rPr lang="en-US" altLang="zh-CN" sz="1000" dirty="0"/>
                        <a:t>(DPI)</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bl>
          </a:graphicData>
        </a:graphic>
      </p:graphicFrame>
      <p:sp>
        <p:nvSpPr>
          <p:cNvPr id="4" name="日期占位符 3"/>
          <p:cNvSpPr>
            <a:spLocks noGrp="1"/>
          </p:cNvSpPr>
          <p:nvPr>
            <p:ph type="dt" sz="half" idx="10"/>
          </p:nvPr>
        </p:nvSpPr>
        <p:spPr/>
        <p:txBody>
          <a:bodyPr/>
          <a:lstStyle/>
          <a:p>
            <a:pPr marL="0" marR="0" lvl="0" indent="0" algn="l" defTabSz="230505" rtl="0" eaLnBrk="1" fontAlgn="auto" latinLnBrk="0" hangingPunct="1">
              <a:lnSpc>
                <a:spcPct val="100000"/>
              </a:lnSpc>
              <a:spcBef>
                <a:spcPts val="0"/>
              </a:spcBef>
              <a:spcAft>
                <a:spcPts val="0"/>
              </a:spcAft>
              <a:buClrTx/>
              <a:buSzTx/>
              <a:buFontTx/>
              <a:buNone/>
              <a:defRPr/>
            </a:pPr>
            <a:r>
              <a:rPr kumimoji="0" lang="en-US" altLang="zh-CN"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2026-4</a:t>
            </a:r>
          </a:p>
        </p:txBody>
      </p:sp>
      <p:sp>
        <p:nvSpPr>
          <p:cNvPr id="5" name="页脚占位符 4"/>
          <p:cNvSpPr>
            <a:spLocks noGrp="1"/>
          </p:cNvSpPr>
          <p:nvPr>
            <p:ph type="ftr" sz="quarter" idx="11"/>
          </p:nvPr>
        </p:nvSpPr>
        <p:spPr/>
        <p:txBody>
          <a:bodyPr/>
          <a:lstStyle/>
          <a:p>
            <a:pPr marL="0" marR="0" lvl="0" indent="0" algn="ctr" defTabSz="230505" rtl="0" eaLnBrk="1" fontAlgn="auto" latinLnBrk="0" hangingPunct="1">
              <a:lnSpc>
                <a:spcPct val="100000"/>
              </a:lnSpc>
              <a:spcBef>
                <a:spcPts val="0"/>
              </a:spcBef>
              <a:spcAft>
                <a:spcPts val="0"/>
              </a:spcAft>
              <a:buClrTx/>
              <a:buSzTx/>
              <a:buFontTx/>
              <a:buNone/>
              <a:defRPr/>
            </a:pPr>
            <a:r>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a:t>
            </a:r>
            <a:r>
              <a:rPr kumimoji="0" lang="en-US" altLang="zh-CN"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1</a:t>
            </a:r>
            <a:r>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节 国民收入核算的基本概念</a:t>
            </a:r>
          </a:p>
        </p:txBody>
      </p:sp>
      <p:sp>
        <p:nvSpPr>
          <p:cNvPr id="6" name="灯片编号占位符 5"/>
          <p:cNvSpPr>
            <a:spLocks noGrp="1"/>
          </p:cNvSpPr>
          <p:nvPr>
            <p:ph type="sldNum" sz="quarter" idx="12"/>
          </p:nvPr>
        </p:nvSpPr>
        <p:spPr/>
        <p:txBody>
          <a:bodyPr/>
          <a:lstStyle/>
          <a:p>
            <a:pPr marL="0" marR="0" lvl="0" indent="0" algn="r" defTabSz="230505" rtl="0" eaLnBrk="1" fontAlgn="auto" latinLnBrk="0" hangingPunct="1">
              <a:lnSpc>
                <a:spcPct val="100000"/>
              </a:lnSpc>
              <a:spcBef>
                <a:spcPts val="0"/>
              </a:spcBef>
              <a:spcAft>
                <a:spcPts val="0"/>
              </a:spcAft>
              <a:buClrTx/>
              <a:buSzTx/>
              <a:buFontTx/>
              <a:buNone/>
              <a:defRPr/>
            </a:pPr>
            <a:fld id="{FAD6B5C5-F173-4E8F-B7DC-6ED3A3EC0E6C}" type="slidenum">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59</a:t>
            </a:fld>
            <a:endPar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Rectangle 2"/>
          <p:cNvSpPr txBox="1">
            <a:spLocks noChangeArrowheads="1"/>
          </p:cNvSpPr>
          <p:nvPr/>
        </p:nvSpPr>
        <p:spPr bwMode="auto">
          <a:xfrm>
            <a:off x="230505" y="117641"/>
            <a:ext cx="4149090" cy="432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a:lstStyle>
          <a:p>
            <a:r>
              <a:rPr lang="en-US" altLang="zh-CN" sz="2015" dirty="0">
                <a:ea typeface="宋体" pitchFamily="2" charset="-122"/>
              </a:rPr>
              <a:t> </a:t>
            </a:r>
            <a:r>
              <a:rPr lang="zh-CN" altLang="en-US" sz="2015" dirty="0">
                <a:ea typeface="宋体" pitchFamily="2" charset="-122"/>
              </a:rPr>
              <a:t>与</a:t>
            </a:r>
            <a:r>
              <a:rPr lang="en-US" altLang="zh-CN" sz="2015" dirty="0">
                <a:ea typeface="宋体" pitchFamily="2" charset="-122"/>
              </a:rPr>
              <a:t>GDP</a:t>
            </a:r>
            <a:r>
              <a:rPr lang="zh-CN" altLang="en-US" sz="2015" dirty="0">
                <a:ea typeface="宋体" pitchFamily="2" charset="-122"/>
              </a:rPr>
              <a:t>相关的其他指标</a:t>
            </a:r>
            <a:endParaRPr lang="zh-CN" altLang="zh-CN" sz="2015" dirty="0">
              <a:ea typeface="宋体"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一国收入的衡量</a:t>
            </a: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8966A34F-B625-4C4C-8FC0-13EDAC74ED18}" type="slidenum">
              <a:rPr lang="zh-CN" altLang="zh-CN">
                <a:latin typeface="Arial" panose="020B0604020202090204" pitchFamily="34" charset="0"/>
              </a:rPr>
              <a:t>60</a:t>
            </a:fld>
            <a:endParaRPr lang="en-US" altLang="zh-CN">
              <a:latin typeface="Arial" panose="020B0604020202090204" pitchFamily="34" charset="0"/>
            </a:endParaRPr>
          </a:p>
        </p:txBody>
      </p:sp>
      <p:sp>
        <p:nvSpPr>
          <p:cNvPr id="66562" name="Rectangle 6"/>
          <p:cNvSpPr>
            <a:spLocks noGrp="1" noChangeArrowheads="1"/>
          </p:cNvSpPr>
          <p:nvPr>
            <p:ph type="title" idx="4294967295"/>
          </p:nvPr>
        </p:nvSpPr>
        <p:spPr/>
        <p:txBody>
          <a:bodyPr/>
          <a:lstStyle/>
          <a:p>
            <a:r>
              <a:rPr lang="en-US" altLang="zh-CN">
                <a:ea typeface="宋体" pitchFamily="2" charset="-122"/>
              </a:rPr>
              <a:t>GDP</a:t>
            </a:r>
            <a:r>
              <a:rPr lang="zh-CN" altLang="zh-CN">
                <a:ea typeface="宋体" pitchFamily="2" charset="-122"/>
              </a:rPr>
              <a:t>与经济福利</a:t>
            </a:r>
          </a:p>
        </p:txBody>
      </p:sp>
      <p:sp>
        <p:nvSpPr>
          <p:cNvPr id="66563" name="Rectangle 7"/>
          <p:cNvSpPr>
            <a:spLocks noGrp="1" noChangeArrowheads="1"/>
          </p:cNvSpPr>
          <p:nvPr>
            <p:ph type="body" idx="4294967295"/>
          </p:nvPr>
        </p:nvSpPr>
        <p:spPr>
          <a:xfrm>
            <a:off x="230505" y="512220"/>
            <a:ext cx="4149090" cy="2583577"/>
          </a:xfrm>
        </p:spPr>
        <p:txBody>
          <a:bodyPr/>
          <a:lstStyle/>
          <a:p>
            <a:pPr>
              <a:spcBef>
                <a:spcPct val="50000"/>
              </a:spcBef>
            </a:pPr>
            <a:r>
              <a:rPr lang="zh-CN" altLang="zh-CN" b="1">
                <a:solidFill>
                  <a:srgbClr val="660066"/>
                </a:solidFill>
                <a:ea typeface="宋体" pitchFamily="2" charset="-122"/>
              </a:rPr>
              <a:t>人均真实 GDP是衡量普通人生活水平的主要指标</a:t>
            </a:r>
          </a:p>
          <a:p>
            <a:pPr>
              <a:spcBef>
                <a:spcPct val="50000"/>
              </a:spcBef>
            </a:pPr>
            <a:endParaRPr lang="zh-CN" altLang="zh-CN" b="1" i="1">
              <a:solidFill>
                <a:srgbClr val="660066"/>
              </a:solidFill>
              <a:ea typeface="宋体" pitchFamily="2" charset="-122"/>
            </a:endParaRPr>
          </a:p>
          <a:p>
            <a:pPr>
              <a:spcBef>
                <a:spcPct val="50000"/>
              </a:spcBef>
            </a:pPr>
            <a:r>
              <a:rPr lang="zh-CN" altLang="zh-CN">
                <a:ea typeface="宋体" pitchFamily="2" charset="-122"/>
              </a:rPr>
              <a:t>但GDP不是衡量经济福利的完美指标</a:t>
            </a:r>
          </a:p>
          <a:p>
            <a:pPr>
              <a:spcBef>
                <a:spcPct val="50000"/>
              </a:spcBef>
              <a:buFont typeface="Wingdings" panose="05000000000000000000" pitchFamily="2" charset="2"/>
              <a:buNone/>
            </a:pPr>
            <a:endParaRPr lang="zh-CN" altLang="zh-CN">
              <a:ea typeface="宋体" pitchFamily="2" charset="-122"/>
            </a:endParaRPr>
          </a:p>
          <a:p>
            <a:pPr>
              <a:spcBef>
                <a:spcPct val="50000"/>
              </a:spcBef>
            </a:pPr>
            <a:r>
              <a:rPr lang="zh-CN" altLang="zh-CN">
                <a:ea typeface="宋体" pitchFamily="2" charset="-122"/>
              </a:rPr>
              <a:t>罗伯特·肯尼迪慷慨激昂地批评了这种经济衡量指标：</a:t>
            </a:r>
          </a:p>
        </p:txBody>
      </p:sp>
    </p:spTree>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165676" y="114439"/>
            <a:ext cx="2670016" cy="272124"/>
          </a:xfrm>
        </p:spPr>
        <p:txBody>
          <a:bodyPr/>
          <a:lstStyle/>
          <a:p>
            <a:pPr algn="l"/>
            <a:r>
              <a:rPr lang="zh-CN" altLang="zh-CN" sz="1665">
                <a:solidFill>
                  <a:srgbClr val="990033"/>
                </a:solidFill>
                <a:latin typeface="Times New Roman" panose="02020503050405090304" pitchFamily="18" charset="0"/>
                <a:ea typeface="宋体" pitchFamily="2" charset="-122"/>
              </a:rPr>
              <a:t>国内生产总值</a:t>
            </a:r>
            <a:r>
              <a:rPr lang="en-US" altLang="zh-CN" sz="1665">
                <a:solidFill>
                  <a:srgbClr val="990033"/>
                </a:solidFill>
                <a:latin typeface="Times New Roman" panose="02020503050405090304" pitchFamily="18" charset="0"/>
                <a:ea typeface="宋体" pitchFamily="2" charset="-122"/>
              </a:rPr>
              <a:t>……</a:t>
            </a:r>
          </a:p>
        </p:txBody>
      </p:sp>
      <p:sp>
        <p:nvSpPr>
          <p:cNvPr id="68611" name="Rectangle 3"/>
          <p:cNvSpPr>
            <a:spLocks noGrp="1" noChangeArrowheads="1"/>
          </p:cNvSpPr>
          <p:nvPr>
            <p:ph type="body" idx="4294967295"/>
          </p:nvPr>
        </p:nvSpPr>
        <p:spPr>
          <a:xfrm>
            <a:off x="144066" y="490610"/>
            <a:ext cx="2932536" cy="1551907"/>
          </a:xfrm>
          <a:solidFill>
            <a:schemeClr val="bg1"/>
          </a:solidFill>
        </p:spPr>
        <p:txBody>
          <a:bodyPr/>
          <a:lstStyle/>
          <a:p>
            <a:pPr marL="0" indent="0">
              <a:lnSpc>
                <a:spcPct val="95000"/>
              </a:lnSpc>
              <a:spcBef>
                <a:spcPct val="20000"/>
              </a:spcBef>
              <a:buNone/>
            </a:pPr>
            <a:r>
              <a:rPr lang="zh-CN" altLang="zh-CN">
                <a:latin typeface="Times New Roman" panose="02020503050405090304" pitchFamily="18" charset="0"/>
                <a:ea typeface="宋体" pitchFamily="2" charset="-122"/>
              </a:rPr>
              <a:t>“……并没有考虑到我们孩子的健康、他们的教育质量，或者他们做游戏的快乐。它也没有包括我们的诗歌之美和婚姻的稳定，以及我们关于公共问题争论的智慧和我们公务员的廉正。它既没有衡量我们的勇气、我们的智慧，也没有衡量我</a:t>
            </a:r>
          </a:p>
        </p:txBody>
      </p:sp>
      <p:sp>
        <p:nvSpPr>
          <p:cNvPr id="68612" name="Text Box 5"/>
          <p:cNvSpPr txBox="1">
            <a:spLocks noChangeArrowheads="1"/>
          </p:cNvSpPr>
          <p:nvPr/>
        </p:nvSpPr>
        <p:spPr bwMode="auto">
          <a:xfrm>
            <a:off x="157672" y="800352"/>
            <a:ext cx="2658811" cy="305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05000"/>
              </a:lnSpc>
              <a:spcBef>
                <a:spcPct val="20000"/>
              </a:spcBef>
              <a:spcAft>
                <a:spcPct val="0"/>
              </a:spcAft>
              <a:buClr>
                <a:srgbClr val="00B85C"/>
              </a:buClr>
              <a:buSzPct val="120000"/>
            </a:pPr>
            <a:r>
              <a:rPr lang="zh-CN" altLang="zh-CN" sz="1410">
                <a:solidFill>
                  <a:srgbClr val="000000"/>
                </a:solidFill>
                <a:latin typeface="Times New Roman" panose="02020503050405090304" pitchFamily="18" charset="0"/>
                <a:ea typeface="宋体" pitchFamily="2" charset="-122"/>
              </a:rPr>
              <a:t> </a:t>
            </a:r>
            <a:endParaRPr lang="en-US" altLang="zh-CN" sz="910">
              <a:solidFill>
                <a:srgbClr val="000000"/>
              </a:solidFill>
              <a:ea typeface="宋体" pitchFamily="2" charset="-122"/>
            </a:endParaRPr>
          </a:p>
        </p:txBody>
      </p:sp>
      <p:pic>
        <p:nvPicPr>
          <p:cNvPr id="68613" name="Picture 8" descr="rfk"/>
          <p:cNvPicPr>
            <a:picLocks noChangeAspect="1" noChangeArrowheads="1"/>
          </p:cNvPicPr>
          <p:nvPr/>
        </p:nvPicPr>
        <p:blipFill>
          <a:blip r:embed="rId3" cstate="print">
            <a:extLst>
              <a:ext uri="{28A0092B-C50C-407E-A947-70E740481C1C}">
                <a14:useLocalDpi xmlns:a14="http://schemas.microsoft.com/office/drawing/2010/main" val="0"/>
              </a:ext>
            </a:extLst>
          </a:blip>
          <a:srcRect l="1666" t="9743" r="10001" b="1218"/>
          <a:stretch>
            <a:fillRect/>
          </a:stretch>
        </p:blipFill>
        <p:spPr bwMode="auto">
          <a:xfrm>
            <a:off x="3123823" y="115240"/>
            <a:ext cx="1319801" cy="182002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8614" name="Rectangle 6"/>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41428746-BB56-D440-B86A-2EDC6FE71733}" type="slidenum">
              <a:rPr lang="zh-CN" altLang="zh-CN" sz="855">
                <a:solidFill>
                  <a:srgbClr val="777777"/>
                </a:solidFill>
                <a:latin typeface="Tahoma" panose="020B0604030504040204" pitchFamily="34" charset="0"/>
                <a:ea typeface="宋体" pitchFamily="2" charset="-122"/>
              </a:rPr>
              <a:t>61</a:t>
            </a:fld>
            <a:endParaRPr lang="en-US" altLang="zh-CN" sz="855">
              <a:solidFill>
                <a:srgbClr val="777777"/>
              </a:solidFill>
              <a:latin typeface="Tahoma" panose="020B0604030504040204" pitchFamily="34" charset="0"/>
              <a:ea typeface="宋体" pitchFamily="2" charset="-122"/>
            </a:endParaRPr>
          </a:p>
        </p:txBody>
      </p:sp>
      <p:sp>
        <p:nvSpPr>
          <p:cNvPr id="68615" name="Text Box 7"/>
          <p:cNvSpPr txBox="1">
            <a:spLocks noChangeArrowheads="1"/>
          </p:cNvSpPr>
          <p:nvPr/>
        </p:nvSpPr>
        <p:spPr bwMode="auto">
          <a:xfrm>
            <a:off x="144066" y="1952877"/>
            <a:ext cx="4289154" cy="1272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defTabSz="461010" fontAlgn="base">
              <a:lnSpc>
                <a:spcPct val="105000"/>
              </a:lnSpc>
              <a:spcBef>
                <a:spcPct val="20000"/>
              </a:spcBef>
              <a:spcAft>
                <a:spcPct val="0"/>
              </a:spcAft>
              <a:buClr>
                <a:srgbClr val="00B85C"/>
              </a:buClr>
              <a:buSzPct val="120000"/>
            </a:pPr>
            <a:r>
              <a:rPr lang="zh-CN" altLang="zh-CN" sz="1410">
                <a:solidFill>
                  <a:srgbClr val="000000"/>
                </a:solidFill>
                <a:latin typeface="Times New Roman" panose="02020503050405090304" pitchFamily="18" charset="0"/>
                <a:ea typeface="宋体" pitchFamily="2" charset="-122"/>
              </a:rPr>
              <a:t>们对祖国的热爱。简言之，它衡量一切，但并不包括使我们的生活有意义的东西；它可以告诉我们关于美  国人的一切，但没有告诉我们为什么我们以做一个美国人而骄傲</a:t>
            </a:r>
            <a:r>
              <a:rPr lang="en-US" altLang="zh-CN" sz="1410">
                <a:solidFill>
                  <a:srgbClr val="000000"/>
                </a:solidFill>
                <a:latin typeface="Times New Roman" panose="02020503050405090304" pitchFamily="18" charset="0"/>
                <a:ea typeface="宋体" pitchFamily="2" charset="-122"/>
              </a:rPr>
              <a:t>。</a:t>
            </a:r>
            <a:r>
              <a:rPr lang="zh-CN" altLang="en-US" sz="1410">
                <a:solidFill>
                  <a:srgbClr val="000000"/>
                </a:solidFill>
                <a:latin typeface="Times New Roman" panose="02020503050405090304" pitchFamily="18" charset="0"/>
                <a:ea typeface="宋体" pitchFamily="2" charset="-122"/>
              </a:rPr>
              <a:t>	</a:t>
            </a:r>
          </a:p>
          <a:p>
            <a:pPr defTabSz="461010" fontAlgn="base">
              <a:lnSpc>
                <a:spcPct val="105000"/>
              </a:lnSpc>
              <a:spcBef>
                <a:spcPct val="20000"/>
              </a:spcBef>
              <a:spcAft>
                <a:spcPct val="0"/>
              </a:spcAft>
              <a:buClr>
                <a:srgbClr val="00B85C"/>
              </a:buClr>
              <a:buSzPct val="120000"/>
            </a:pPr>
            <a:r>
              <a:rPr lang="zh-CN" altLang="zh-CN" sz="1410">
                <a:solidFill>
                  <a:srgbClr val="000000"/>
                </a:solidFill>
                <a:latin typeface="Times New Roman" panose="02020503050405090304" pitchFamily="18" charset="0"/>
                <a:ea typeface="宋体" pitchFamily="2" charset="-122"/>
              </a:rPr>
              <a:t>参议员</a:t>
            </a:r>
            <a:r>
              <a:rPr lang="zh-CN" altLang="zh-CN" sz="1410">
                <a:solidFill>
                  <a:srgbClr val="000000"/>
                </a:solidFill>
                <a:ea typeface="宋体" pitchFamily="2" charset="-122"/>
              </a:rPr>
              <a:t>罗伯特</a:t>
            </a:r>
            <a:r>
              <a:rPr lang="zh-CN" altLang="zh-CN" sz="1410">
                <a:solidFill>
                  <a:srgbClr val="000000"/>
                </a:solidFill>
              </a:rPr>
              <a:t>·</a:t>
            </a:r>
            <a:r>
              <a:rPr lang="zh-CN" altLang="zh-CN" sz="1410">
                <a:solidFill>
                  <a:srgbClr val="000000"/>
                </a:solidFill>
                <a:ea typeface="宋体" pitchFamily="2" charset="-122"/>
              </a:rPr>
              <a:t>肯尼迪，1968</a:t>
            </a:r>
            <a:r>
              <a:rPr lang="en-US" altLang="zh-CN" sz="1410">
                <a:solidFill>
                  <a:srgbClr val="000000"/>
                </a:solidFill>
                <a:latin typeface="Times New Roman" panose="02020503050405090304" pitchFamily="18" charset="0"/>
                <a:ea typeface="宋体" pitchFamily="2" charset="-122"/>
              </a:rPr>
              <a:t>				</a:t>
            </a:r>
            <a:endParaRPr lang="en-US" altLang="zh-CN" sz="910">
              <a:solidFill>
                <a:srgbClr val="000000"/>
              </a:solidFill>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Effect transition="in" filter="dissolve">
                                      <p:cBhvr>
                                        <p:cTn id="7" dur="500"/>
                                        <p:tgtEl>
                                          <p:spTgt spid="68611">
                                            <p:txEl>
                                              <p:pRg st="0" end="0"/>
                                            </p:txEl>
                                          </p:spTgt>
                                        </p:tgtEl>
                                      </p:cBhvr>
                                    </p:animEffect>
                                  </p:childTnLst>
                                  <p:subTnLst>
                                    <p:animClr clrSpc="rgb" dir="cw">
                                      <p:cBhvr override="childStyle">
                                        <p:cTn dur="1" fill="hold" display="0" masterRel="nextClick" afterEffect="1"/>
                                        <p:tgtEl>
                                          <p:spTgt spid="68611">
                                            <p:txEl>
                                              <p:pRg st="0" end="0"/>
                                            </p:txEl>
                                          </p:spTgt>
                                        </p:tgtEl>
                                        <p:attrNameLst>
                                          <p:attrName>ppt_c</p:attrName>
                                        </p:attrNameLst>
                                      </p:cBhvr>
                                      <p:to>
                                        <a:srgbClr val="336699"/>
                                      </p:to>
                                    </p:animClr>
                                  </p:sub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8612"/>
                                        </p:tgtEl>
                                        <p:attrNameLst>
                                          <p:attrName>style.visibility</p:attrName>
                                        </p:attrNameLst>
                                      </p:cBhvr>
                                      <p:to>
                                        <p:strVal val="visible"/>
                                      </p:to>
                                    </p:set>
                                    <p:animEffect transition="in" filter="dissolve">
                                      <p:cBhvr>
                                        <p:cTn id="12" dur="500"/>
                                        <p:tgtEl>
                                          <p:spTgt spid="68612"/>
                                        </p:tgtEl>
                                      </p:cBhvr>
                                    </p:animEffect>
                                  </p:childTnLst>
                                  <p:subTnLst>
                                    <p:animClr clrSpc="rgb" dir="cw">
                                      <p:cBhvr override="childStyle">
                                        <p:cTn dur="1" fill="hold" display="0" masterRel="nextClick" afterEffect="1"/>
                                        <p:tgtEl>
                                          <p:spTgt spid="68612"/>
                                        </p:tgtEl>
                                        <p:attrNameLst>
                                          <p:attrName>ppt_c</p:attrName>
                                        </p:attrNameLst>
                                      </p:cBhvr>
                                      <p:to>
                                        <a:srgbClr val="336699"/>
                                      </p:to>
                                    </p:animClr>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8615"/>
                                        </p:tgtEl>
                                        <p:attrNameLst>
                                          <p:attrName>style.visibility</p:attrName>
                                        </p:attrNameLst>
                                      </p:cBhvr>
                                      <p:to>
                                        <p:strVal val="visible"/>
                                      </p:to>
                                    </p:set>
                                    <p:animEffect transition="in" filter="dissolve">
                                      <p:cBhvr>
                                        <p:cTn id="17" dur="500"/>
                                        <p:tgtEl>
                                          <p:spTgt spid="68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autoUpdateAnimBg="0"/>
      <p:bldP spid="68612" grpId="0" autoUpdateAnimBg="0"/>
      <p:bldP spid="68615"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一国收入的衡量</a:t>
            </a: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D3401AC5-545C-6A4F-A01B-BB5BD37906B4}" type="slidenum">
              <a:rPr lang="zh-CN" altLang="zh-CN">
                <a:latin typeface="Arial" panose="020B0604020202090204" pitchFamily="34" charset="0"/>
              </a:rPr>
              <a:t>62</a:t>
            </a:fld>
            <a:endParaRPr lang="en-US" altLang="zh-CN">
              <a:latin typeface="Arial" panose="020B0604020202090204" pitchFamily="34" charset="0"/>
            </a:endParaRPr>
          </a:p>
        </p:txBody>
      </p:sp>
      <p:sp>
        <p:nvSpPr>
          <p:cNvPr id="70658" name="Rectangle 4"/>
          <p:cNvSpPr>
            <a:spLocks noGrp="1" noChangeArrowheads="1"/>
          </p:cNvSpPr>
          <p:nvPr>
            <p:ph type="title" idx="4294967295"/>
          </p:nvPr>
        </p:nvSpPr>
        <p:spPr/>
        <p:txBody>
          <a:bodyPr/>
          <a:lstStyle/>
          <a:p>
            <a:r>
              <a:rPr lang="en-US" altLang="zh-CN">
                <a:ea typeface="宋体" pitchFamily="2" charset="-122"/>
              </a:rPr>
              <a:t>GDP </a:t>
            </a:r>
            <a:r>
              <a:rPr lang="zh-CN" altLang="zh-CN">
                <a:ea typeface="宋体" pitchFamily="2" charset="-122"/>
              </a:rPr>
              <a:t>并没有评价</a:t>
            </a:r>
            <a:r>
              <a:rPr lang="en-US" altLang="zh-CN">
                <a:ea typeface="宋体" pitchFamily="2" charset="-122"/>
              </a:rPr>
              <a:t>:</a:t>
            </a:r>
          </a:p>
        </p:txBody>
      </p:sp>
      <p:sp>
        <p:nvSpPr>
          <p:cNvPr id="70659" name="Rectangle 5"/>
          <p:cNvSpPr>
            <a:spLocks noGrp="1" noChangeArrowheads="1"/>
          </p:cNvSpPr>
          <p:nvPr>
            <p:ph type="body" idx="4294967295"/>
          </p:nvPr>
        </p:nvSpPr>
        <p:spPr>
          <a:xfrm>
            <a:off x="188086" y="515422"/>
            <a:ext cx="4191509" cy="2524350"/>
          </a:xfrm>
        </p:spPr>
        <p:txBody>
          <a:bodyPr/>
          <a:lstStyle/>
          <a:p>
            <a:pPr>
              <a:spcBef>
                <a:spcPct val="50000"/>
              </a:spcBef>
            </a:pPr>
            <a:r>
              <a:rPr lang="zh-CN" altLang="zh-CN">
                <a:ea typeface="宋体" pitchFamily="2" charset="-122"/>
              </a:rPr>
              <a:t>环境质量</a:t>
            </a:r>
          </a:p>
          <a:p>
            <a:pPr>
              <a:spcBef>
                <a:spcPct val="50000"/>
              </a:spcBef>
            </a:pPr>
            <a:r>
              <a:rPr lang="zh-CN" altLang="zh-CN">
                <a:ea typeface="宋体" pitchFamily="2" charset="-122"/>
              </a:rPr>
              <a:t>闲暇时间</a:t>
            </a:r>
          </a:p>
          <a:p>
            <a:pPr>
              <a:spcBef>
                <a:spcPct val="50000"/>
              </a:spcBef>
            </a:pPr>
            <a:r>
              <a:rPr lang="zh-CN" altLang="zh-CN">
                <a:ea typeface="宋体" pitchFamily="2" charset="-122"/>
              </a:rPr>
              <a:t>非市场性活动，比如家长在家里对他或她孩子的照顾</a:t>
            </a:r>
          </a:p>
          <a:p>
            <a:pPr>
              <a:spcBef>
                <a:spcPct val="50000"/>
              </a:spcBef>
            </a:pPr>
            <a:r>
              <a:rPr lang="zh-CN" altLang="zh-CN">
                <a:ea typeface="宋体" pitchFamily="2" charset="-122"/>
              </a:rPr>
              <a:t>收入的公平分配 </a:t>
            </a:r>
          </a:p>
        </p:txBody>
      </p:sp>
    </p:spTree>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defTabSz="461010" fontAlgn="base">
              <a:spcBef>
                <a:spcPct val="0"/>
              </a:spcBef>
              <a:spcAft>
                <a:spcPct val="0"/>
              </a:spcAft>
            </a:pPr>
            <a:r>
              <a:rPr lang="zh-CN" altLang="zh-CN" sz="910">
                <a:latin typeface="Arial" panose="020B0604020202090204" pitchFamily="34" charset="0"/>
              </a:rPr>
              <a:t>一国收入的衡量</a:t>
            </a:r>
          </a:p>
        </p:txBody>
      </p:sp>
      <p:sp>
        <p:nvSpPr>
          <p:cNvPr id="3" name="灯片编号占位符 2"/>
          <p:cNvSpPr>
            <a:spLocks noGrp="1"/>
          </p:cNvSpPr>
          <p:nvPr>
            <p:ph type="sldNum" sz="quarter" idx="11"/>
          </p:nvPr>
        </p:nvSpPr>
        <p:spPr/>
        <p:txBody>
          <a:bodyPr/>
          <a:lstStyle/>
          <a:p>
            <a:pPr defTabSz="461010" fontAlgn="base">
              <a:spcBef>
                <a:spcPct val="0"/>
              </a:spcBef>
              <a:spcAft>
                <a:spcPct val="0"/>
              </a:spcAft>
            </a:pPr>
            <a:fld id="{4D4FF68D-D511-A649-88EF-7C112D50B33C}" type="slidenum">
              <a:rPr lang="zh-CN" altLang="zh-CN">
                <a:latin typeface="Arial" panose="020B0604020202090204" pitchFamily="34" charset="0"/>
              </a:rPr>
              <a:t>63</a:t>
            </a:fld>
            <a:endParaRPr lang="en-US" altLang="zh-CN">
              <a:latin typeface="Arial" panose="020B0604020202090204" pitchFamily="34" charset="0"/>
            </a:endParaRPr>
          </a:p>
        </p:txBody>
      </p:sp>
      <p:sp>
        <p:nvSpPr>
          <p:cNvPr id="72706" name="Rectangle 4"/>
          <p:cNvSpPr>
            <a:spLocks noGrp="1" noChangeArrowheads="1"/>
          </p:cNvSpPr>
          <p:nvPr>
            <p:ph type="title" idx="4294967295"/>
          </p:nvPr>
        </p:nvSpPr>
        <p:spPr/>
        <p:txBody>
          <a:bodyPr/>
          <a:lstStyle/>
          <a:p>
            <a:r>
              <a:rPr lang="zh-CN" altLang="zh-CN">
                <a:ea typeface="宋体" pitchFamily="2" charset="-122"/>
              </a:rPr>
              <a:t>为什么我们还要关注</a:t>
            </a:r>
            <a:r>
              <a:rPr lang="en-US" altLang="zh-CN">
                <a:ea typeface="宋体" pitchFamily="2" charset="-122"/>
              </a:rPr>
              <a:t>GDP?</a:t>
            </a:r>
          </a:p>
        </p:txBody>
      </p:sp>
      <p:sp>
        <p:nvSpPr>
          <p:cNvPr id="72707" name="Rectangle 5"/>
          <p:cNvSpPr>
            <a:spLocks noGrp="1" noChangeArrowheads="1"/>
          </p:cNvSpPr>
          <p:nvPr>
            <p:ph type="body" idx="4294967295"/>
          </p:nvPr>
        </p:nvSpPr>
        <p:spPr>
          <a:xfrm>
            <a:off x="230505" y="512220"/>
            <a:ext cx="4149090" cy="2583577"/>
          </a:xfrm>
        </p:spPr>
        <p:txBody>
          <a:bodyPr/>
          <a:lstStyle/>
          <a:p>
            <a:pPr>
              <a:spcBef>
                <a:spcPct val="50000"/>
              </a:spcBef>
            </a:pPr>
            <a:r>
              <a:rPr lang="zh-CN" altLang="zh-CN">
                <a:ea typeface="宋体" pitchFamily="2" charset="-122"/>
              </a:rPr>
              <a:t>GDP高的国家能提供更好的学校，更清洁的环境，更好的医疗福利等等</a:t>
            </a:r>
          </a:p>
          <a:p>
            <a:pPr>
              <a:spcBef>
                <a:spcPct val="50000"/>
              </a:spcBef>
            </a:pPr>
            <a:r>
              <a:rPr lang="zh-CN" altLang="zh-CN">
                <a:ea typeface="宋体" pitchFamily="2" charset="-122"/>
              </a:rPr>
              <a:t>生活质量的许多指标与GDP成正比，比如：</a:t>
            </a:r>
          </a:p>
        </p:txBody>
      </p:sp>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showMasterSp="0">
  <p:cSld>
    <p:bg bwMode="auto">
      <p:bgPr>
        <a:solidFill>
          <a:srgbClr val="FFCCCC"/>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72879" y="64817"/>
            <a:ext cx="4240332" cy="281728"/>
          </a:xfrm>
        </p:spPr>
        <p:txBody>
          <a:bodyPr/>
          <a:lstStyle/>
          <a:p>
            <a:r>
              <a:rPr lang="en-US" altLang="zh-CN" sz="1515">
                <a:ea typeface="宋体" pitchFamily="2" charset="-122"/>
              </a:rPr>
              <a:t>12</a:t>
            </a:r>
            <a:r>
              <a:rPr lang="zh-CN" altLang="zh-CN" sz="1515">
                <a:ea typeface="宋体" pitchFamily="2" charset="-122"/>
              </a:rPr>
              <a:t>个国家的</a:t>
            </a:r>
            <a:r>
              <a:rPr lang="en-US" altLang="zh-CN" sz="1515">
                <a:ea typeface="宋体" pitchFamily="2" charset="-122"/>
              </a:rPr>
              <a:t>GDP</a:t>
            </a:r>
            <a:r>
              <a:rPr lang="zh-CN" altLang="zh-CN" sz="1515">
                <a:ea typeface="宋体" pitchFamily="2" charset="-122"/>
              </a:rPr>
              <a:t>和预期寿命</a:t>
            </a:r>
          </a:p>
        </p:txBody>
      </p:sp>
      <p:sp>
        <p:nvSpPr>
          <p:cNvPr id="74755" name="Rectangle 3"/>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F17D712E-C3DC-CD43-8D2D-C62C949D09E6}" type="slidenum">
              <a:rPr lang="zh-CN" altLang="zh-CN" sz="855">
                <a:solidFill>
                  <a:srgbClr val="777777"/>
                </a:solidFill>
                <a:latin typeface="Arial" panose="020B0604020202090204" pitchFamily="34" charset="0"/>
                <a:ea typeface="宋体" pitchFamily="2" charset="-122"/>
              </a:rPr>
              <a:t>64</a:t>
            </a:fld>
            <a:endParaRPr lang="en-US" altLang="zh-CN" sz="855">
              <a:solidFill>
                <a:srgbClr val="777777"/>
              </a:solidFill>
              <a:latin typeface="Arial" panose="020B0604020202090204" pitchFamily="34" charset="0"/>
              <a:ea typeface="宋体" pitchFamily="2" charset="-122"/>
            </a:endParaRPr>
          </a:p>
        </p:txBody>
      </p:sp>
      <p:sp>
        <p:nvSpPr>
          <p:cNvPr id="74756" name="Text Box 4"/>
          <p:cNvSpPr txBox="1">
            <a:spLocks noChangeArrowheads="1"/>
          </p:cNvSpPr>
          <p:nvPr/>
        </p:nvSpPr>
        <p:spPr bwMode="auto">
          <a:xfrm rot="16200000">
            <a:off x="-643092" y="1472498"/>
            <a:ext cx="1906468" cy="2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160" b="1">
                <a:solidFill>
                  <a:srgbClr val="000000"/>
                </a:solidFill>
                <a:ea typeface="宋体" pitchFamily="2" charset="-122"/>
              </a:rPr>
              <a:t>预期寿命 </a:t>
            </a:r>
            <a:r>
              <a:rPr lang="en-US" altLang="zh-CN" sz="1160" b="1">
                <a:solidFill>
                  <a:srgbClr val="000000"/>
                </a:solidFill>
                <a:ea typeface="宋体" pitchFamily="2" charset="-122"/>
              </a:rPr>
              <a:t>(</a:t>
            </a:r>
            <a:r>
              <a:rPr lang="zh-CN" altLang="zh-CN" sz="1160" b="1">
                <a:solidFill>
                  <a:srgbClr val="000000"/>
                </a:solidFill>
                <a:ea typeface="宋体" pitchFamily="2" charset="-122"/>
              </a:rPr>
              <a:t>年</a:t>
            </a:r>
            <a:r>
              <a:rPr lang="en-US" altLang="zh-CN" sz="1160" b="1">
                <a:solidFill>
                  <a:srgbClr val="000000"/>
                </a:solidFill>
                <a:ea typeface="宋体" pitchFamily="2" charset="-122"/>
              </a:rPr>
              <a:t>)</a:t>
            </a:r>
          </a:p>
        </p:txBody>
      </p:sp>
      <p:sp>
        <p:nvSpPr>
          <p:cNvPr id="74757" name="Text Box 5"/>
          <p:cNvSpPr txBox="1">
            <a:spLocks noChangeArrowheads="1"/>
          </p:cNvSpPr>
          <p:nvPr/>
        </p:nvSpPr>
        <p:spPr bwMode="auto">
          <a:xfrm>
            <a:off x="989251" y="3147821"/>
            <a:ext cx="3163841" cy="2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160" b="1">
                <a:solidFill>
                  <a:srgbClr val="000000"/>
                </a:solidFill>
                <a:ea typeface="宋体" pitchFamily="2" charset="-122"/>
              </a:rPr>
              <a:t>人均真实</a:t>
            </a:r>
            <a:r>
              <a:rPr lang="en-US" altLang="zh-CN" sz="1160" b="1">
                <a:solidFill>
                  <a:srgbClr val="000000"/>
                </a:solidFill>
                <a:ea typeface="宋体" pitchFamily="2" charset="-122"/>
              </a:rPr>
              <a:t>GDP</a:t>
            </a:r>
          </a:p>
        </p:txBody>
      </p:sp>
      <p:pic>
        <p:nvPicPr>
          <p:cNvPr id="74758"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618" y="306527"/>
            <a:ext cx="3951400" cy="2867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759" name="Text Box 6"/>
          <p:cNvSpPr txBox="1">
            <a:spLocks noChangeArrowheads="1"/>
          </p:cNvSpPr>
          <p:nvPr/>
        </p:nvSpPr>
        <p:spPr bwMode="auto">
          <a:xfrm>
            <a:off x="3571227" y="806754"/>
            <a:ext cx="344157"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美国</a:t>
            </a:r>
          </a:p>
        </p:txBody>
      </p:sp>
      <p:sp>
        <p:nvSpPr>
          <p:cNvPr id="74760" name="Text Box 7"/>
          <p:cNvSpPr txBox="1">
            <a:spLocks noChangeArrowheads="1"/>
          </p:cNvSpPr>
          <p:nvPr/>
        </p:nvSpPr>
        <p:spPr bwMode="auto">
          <a:xfrm>
            <a:off x="2449916" y="970829"/>
            <a:ext cx="636290"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德国</a:t>
            </a:r>
          </a:p>
        </p:txBody>
      </p:sp>
      <p:sp>
        <p:nvSpPr>
          <p:cNvPr id="74761" name="Text Box 8"/>
          <p:cNvSpPr txBox="1">
            <a:spLocks noChangeArrowheads="1"/>
          </p:cNvSpPr>
          <p:nvPr/>
        </p:nvSpPr>
        <p:spPr bwMode="auto">
          <a:xfrm>
            <a:off x="2870908" y="624271"/>
            <a:ext cx="465012"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日本</a:t>
            </a:r>
          </a:p>
        </p:txBody>
      </p:sp>
      <p:sp>
        <p:nvSpPr>
          <p:cNvPr id="74762" name="Text Box 10"/>
          <p:cNvSpPr txBox="1">
            <a:spLocks noChangeArrowheads="1"/>
          </p:cNvSpPr>
          <p:nvPr/>
        </p:nvSpPr>
        <p:spPr bwMode="auto">
          <a:xfrm>
            <a:off x="1512689" y="945218"/>
            <a:ext cx="541046"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墨西哥</a:t>
            </a:r>
          </a:p>
        </p:txBody>
      </p:sp>
      <p:sp>
        <p:nvSpPr>
          <p:cNvPr id="74763" name="Text Box 11"/>
          <p:cNvSpPr txBox="1">
            <a:spLocks noChangeArrowheads="1"/>
          </p:cNvSpPr>
          <p:nvPr/>
        </p:nvSpPr>
        <p:spPr bwMode="auto">
          <a:xfrm>
            <a:off x="1629543" y="1650339"/>
            <a:ext cx="52343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俄罗斯</a:t>
            </a:r>
          </a:p>
        </p:txBody>
      </p:sp>
      <p:sp>
        <p:nvSpPr>
          <p:cNvPr id="74764" name="Text Box 12"/>
          <p:cNvSpPr txBox="1">
            <a:spLocks noChangeArrowheads="1"/>
          </p:cNvSpPr>
          <p:nvPr/>
        </p:nvSpPr>
        <p:spPr bwMode="auto">
          <a:xfrm>
            <a:off x="1376627" y="1186928"/>
            <a:ext cx="427395"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巴西</a:t>
            </a:r>
          </a:p>
        </p:txBody>
      </p:sp>
      <p:sp>
        <p:nvSpPr>
          <p:cNvPr id="74765" name="Text Box 13"/>
          <p:cNvSpPr txBox="1">
            <a:spLocks noChangeArrowheads="1"/>
          </p:cNvSpPr>
          <p:nvPr/>
        </p:nvSpPr>
        <p:spPr bwMode="auto">
          <a:xfrm>
            <a:off x="1197346" y="737923"/>
            <a:ext cx="41218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中国</a:t>
            </a:r>
          </a:p>
        </p:txBody>
      </p:sp>
      <p:sp>
        <p:nvSpPr>
          <p:cNvPr id="74766" name="Line 14"/>
          <p:cNvSpPr>
            <a:spLocks noChangeShapeType="1"/>
          </p:cNvSpPr>
          <p:nvPr/>
        </p:nvSpPr>
        <p:spPr bwMode="auto">
          <a:xfrm flipV="1">
            <a:off x="1287787" y="896395"/>
            <a:ext cx="89641" cy="32334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4767" name="Text Box 16"/>
          <p:cNvSpPr txBox="1">
            <a:spLocks noChangeArrowheads="1"/>
          </p:cNvSpPr>
          <p:nvPr/>
        </p:nvSpPr>
        <p:spPr bwMode="auto">
          <a:xfrm>
            <a:off x="1214953" y="1760789"/>
            <a:ext cx="378573"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印度</a:t>
            </a:r>
          </a:p>
        </p:txBody>
      </p:sp>
      <p:sp>
        <p:nvSpPr>
          <p:cNvPr id="74768" name="Text Box 17"/>
          <p:cNvSpPr txBox="1">
            <a:spLocks noChangeArrowheads="1"/>
          </p:cNvSpPr>
          <p:nvPr/>
        </p:nvSpPr>
        <p:spPr bwMode="auto">
          <a:xfrm>
            <a:off x="670705" y="555440"/>
            <a:ext cx="69791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印度尼西亚</a:t>
            </a:r>
          </a:p>
        </p:txBody>
      </p:sp>
      <p:sp>
        <p:nvSpPr>
          <p:cNvPr id="74769" name="Line 17"/>
          <p:cNvSpPr>
            <a:spLocks noChangeShapeType="1"/>
          </p:cNvSpPr>
          <p:nvPr/>
        </p:nvSpPr>
        <p:spPr bwMode="auto">
          <a:xfrm>
            <a:off x="1090097" y="1696760"/>
            <a:ext cx="148868" cy="1368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4770" name="Line 18"/>
          <p:cNvSpPr>
            <a:spLocks noChangeShapeType="1"/>
          </p:cNvSpPr>
          <p:nvPr/>
        </p:nvSpPr>
        <p:spPr bwMode="auto">
          <a:xfrm flipH="1" flipV="1">
            <a:off x="946031" y="719515"/>
            <a:ext cx="120055" cy="60267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4771" name="Text Box 14"/>
          <p:cNvSpPr txBox="1">
            <a:spLocks noChangeArrowheads="1"/>
          </p:cNvSpPr>
          <p:nvPr/>
        </p:nvSpPr>
        <p:spPr bwMode="auto">
          <a:xfrm>
            <a:off x="1236564" y="1408629"/>
            <a:ext cx="61307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巴基斯坦</a:t>
            </a:r>
          </a:p>
        </p:txBody>
      </p:sp>
      <p:sp>
        <p:nvSpPr>
          <p:cNvPr id="74772" name="Text Box 15"/>
          <p:cNvSpPr txBox="1">
            <a:spLocks noChangeArrowheads="1"/>
          </p:cNvSpPr>
          <p:nvPr/>
        </p:nvSpPr>
        <p:spPr bwMode="auto">
          <a:xfrm>
            <a:off x="1056481" y="1981690"/>
            <a:ext cx="76514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孟加拉国</a:t>
            </a:r>
          </a:p>
        </p:txBody>
      </p:sp>
      <p:sp>
        <p:nvSpPr>
          <p:cNvPr id="74773" name="Line 21"/>
          <p:cNvSpPr>
            <a:spLocks noChangeShapeType="1"/>
          </p:cNvSpPr>
          <p:nvPr/>
        </p:nvSpPr>
        <p:spPr bwMode="auto">
          <a:xfrm flipV="1">
            <a:off x="1008460" y="1501471"/>
            <a:ext cx="254516" cy="864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4774" name="Line 22"/>
          <p:cNvSpPr>
            <a:spLocks noChangeShapeType="1"/>
          </p:cNvSpPr>
          <p:nvPr/>
        </p:nvSpPr>
        <p:spPr bwMode="auto">
          <a:xfrm>
            <a:off x="1577519" y="1656741"/>
            <a:ext cx="80837" cy="664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4775" name="Line 23"/>
          <p:cNvSpPr>
            <a:spLocks noChangeShapeType="1"/>
          </p:cNvSpPr>
          <p:nvPr/>
        </p:nvSpPr>
        <p:spPr bwMode="auto">
          <a:xfrm>
            <a:off x="982047" y="1762389"/>
            <a:ext cx="137663" cy="22490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4776" name="Text Box 15"/>
          <p:cNvSpPr txBox="1">
            <a:spLocks noChangeArrowheads="1"/>
          </p:cNvSpPr>
          <p:nvPr/>
        </p:nvSpPr>
        <p:spPr bwMode="auto">
          <a:xfrm>
            <a:off x="943630" y="2412286"/>
            <a:ext cx="441801" cy="3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尼日利亚</a:t>
            </a:r>
          </a:p>
        </p:txBody>
      </p:sp>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showMasterSp="0">
  <p:cSld>
    <p:bg bwMode="auto">
      <p:bgPr>
        <a:solidFill>
          <a:srgbClr val="FFCCCC"/>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72879" y="64817"/>
            <a:ext cx="4240332" cy="281728"/>
          </a:xfrm>
        </p:spPr>
        <p:txBody>
          <a:bodyPr/>
          <a:lstStyle/>
          <a:p>
            <a:r>
              <a:rPr lang="en-US" altLang="zh-CN" sz="1515">
                <a:ea typeface="宋体" pitchFamily="2" charset="-122"/>
              </a:rPr>
              <a:t>12</a:t>
            </a:r>
            <a:r>
              <a:rPr lang="zh-CN" altLang="zh-CN" sz="1515">
                <a:ea typeface="宋体" pitchFamily="2" charset="-122"/>
              </a:rPr>
              <a:t>个国家的</a:t>
            </a:r>
            <a:r>
              <a:rPr lang="en-US" altLang="zh-CN" sz="1515">
                <a:ea typeface="宋体" pitchFamily="2" charset="-122"/>
              </a:rPr>
              <a:t>GDP</a:t>
            </a:r>
            <a:r>
              <a:rPr lang="zh-CN" altLang="zh-CN" sz="1515">
                <a:ea typeface="宋体" pitchFamily="2" charset="-122"/>
              </a:rPr>
              <a:t>与成人识字率</a:t>
            </a:r>
          </a:p>
        </p:txBody>
      </p:sp>
      <p:sp>
        <p:nvSpPr>
          <p:cNvPr id="76803" name="Rectangle 3"/>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9FC14E18-C35A-3B4A-96EF-A7051BD929DF}" type="slidenum">
              <a:rPr lang="zh-CN" altLang="zh-CN" sz="855">
                <a:solidFill>
                  <a:srgbClr val="777777"/>
                </a:solidFill>
                <a:latin typeface="Arial" panose="020B0604020202090204" pitchFamily="34" charset="0"/>
                <a:ea typeface="宋体" pitchFamily="2" charset="-122"/>
              </a:rPr>
              <a:t>65</a:t>
            </a:fld>
            <a:endParaRPr lang="en-US" altLang="zh-CN" sz="855">
              <a:solidFill>
                <a:srgbClr val="777777"/>
              </a:solidFill>
              <a:latin typeface="Arial" panose="020B0604020202090204" pitchFamily="34" charset="0"/>
              <a:ea typeface="宋体" pitchFamily="2" charset="-122"/>
            </a:endParaRPr>
          </a:p>
        </p:txBody>
      </p:sp>
      <p:sp>
        <p:nvSpPr>
          <p:cNvPr id="76804" name="Text Box 4"/>
          <p:cNvSpPr txBox="1">
            <a:spLocks noChangeArrowheads="1"/>
          </p:cNvSpPr>
          <p:nvPr/>
        </p:nvSpPr>
        <p:spPr bwMode="auto">
          <a:xfrm rot="16200000">
            <a:off x="-284529" y="1365620"/>
            <a:ext cx="1270178" cy="627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160" b="1">
                <a:solidFill>
                  <a:srgbClr val="000000"/>
                </a:solidFill>
                <a:ea typeface="宋体" pitchFamily="2" charset="-122"/>
              </a:rPr>
              <a:t>成人识字率 </a:t>
            </a:r>
            <a:br>
              <a:rPr lang="zh-CN" altLang="zh-CN" sz="1160" b="1">
                <a:solidFill>
                  <a:srgbClr val="000000"/>
                </a:solidFill>
                <a:ea typeface="宋体" pitchFamily="2" charset="-122"/>
              </a:rPr>
            </a:br>
            <a:r>
              <a:rPr lang="zh-CN" altLang="zh-CN" sz="1160" b="1">
                <a:solidFill>
                  <a:srgbClr val="000000"/>
                </a:solidFill>
                <a:ea typeface="宋体" pitchFamily="2" charset="-122"/>
              </a:rPr>
              <a:t>（占总人口的百分）比</a:t>
            </a:r>
            <a:r>
              <a:rPr lang="en-US" altLang="zh-CN" sz="1160" b="1">
                <a:solidFill>
                  <a:srgbClr val="000000"/>
                </a:solidFill>
                <a:ea typeface="宋体" pitchFamily="2" charset="-122"/>
              </a:rPr>
              <a:t>)</a:t>
            </a:r>
          </a:p>
        </p:txBody>
      </p:sp>
      <p:sp>
        <p:nvSpPr>
          <p:cNvPr id="76805" name="Text Box 5"/>
          <p:cNvSpPr txBox="1">
            <a:spLocks noChangeArrowheads="1"/>
          </p:cNvSpPr>
          <p:nvPr/>
        </p:nvSpPr>
        <p:spPr bwMode="auto">
          <a:xfrm>
            <a:off x="1018064" y="3155024"/>
            <a:ext cx="3163841" cy="2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160" b="1">
                <a:solidFill>
                  <a:srgbClr val="000000"/>
                </a:solidFill>
                <a:ea typeface="宋体" pitchFamily="2" charset="-122"/>
              </a:rPr>
              <a:t>人均真实</a:t>
            </a:r>
            <a:r>
              <a:rPr lang="en-US" altLang="zh-CN" sz="1160" b="1">
                <a:solidFill>
                  <a:srgbClr val="000000"/>
                </a:solidFill>
                <a:ea typeface="宋体" pitchFamily="2" charset="-122"/>
              </a:rPr>
              <a:t>GDP</a:t>
            </a:r>
          </a:p>
        </p:txBody>
      </p:sp>
      <p:pic>
        <p:nvPicPr>
          <p:cNvPr id="7680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0246" y="299323"/>
            <a:ext cx="3961805" cy="2874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7" name="Text Box 6"/>
          <p:cNvSpPr txBox="1">
            <a:spLocks noChangeArrowheads="1"/>
          </p:cNvSpPr>
          <p:nvPr/>
        </p:nvSpPr>
        <p:spPr bwMode="auto">
          <a:xfrm>
            <a:off x="3662468" y="481806"/>
            <a:ext cx="344157"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美国</a:t>
            </a:r>
            <a:endParaRPr lang="zh-CN" altLang="en-US" sz="1060">
              <a:solidFill>
                <a:srgbClr val="000000"/>
              </a:solidFill>
              <a:ea typeface="宋体" pitchFamily="2" charset="-122"/>
            </a:endParaRPr>
          </a:p>
        </p:txBody>
      </p:sp>
      <p:sp>
        <p:nvSpPr>
          <p:cNvPr id="76808" name="Text Box 7"/>
          <p:cNvSpPr txBox="1">
            <a:spLocks noChangeArrowheads="1"/>
          </p:cNvSpPr>
          <p:nvPr/>
        </p:nvSpPr>
        <p:spPr bwMode="auto">
          <a:xfrm>
            <a:off x="2333063" y="578651"/>
            <a:ext cx="636290"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德国</a:t>
            </a:r>
          </a:p>
        </p:txBody>
      </p:sp>
      <p:sp>
        <p:nvSpPr>
          <p:cNvPr id="76809" name="Text Box 8"/>
          <p:cNvSpPr txBox="1">
            <a:spLocks noChangeArrowheads="1"/>
          </p:cNvSpPr>
          <p:nvPr/>
        </p:nvSpPr>
        <p:spPr bwMode="auto">
          <a:xfrm>
            <a:off x="3098212" y="603462"/>
            <a:ext cx="465012"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日本</a:t>
            </a:r>
          </a:p>
        </p:txBody>
      </p:sp>
      <p:sp>
        <p:nvSpPr>
          <p:cNvPr id="76810" name="Line 10"/>
          <p:cNvSpPr>
            <a:spLocks noChangeShapeType="1"/>
          </p:cNvSpPr>
          <p:nvPr/>
        </p:nvSpPr>
        <p:spPr bwMode="auto">
          <a:xfrm>
            <a:off x="3013373" y="497014"/>
            <a:ext cx="124056" cy="15126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6811" name="Line 11"/>
          <p:cNvSpPr>
            <a:spLocks noChangeShapeType="1"/>
          </p:cNvSpPr>
          <p:nvPr/>
        </p:nvSpPr>
        <p:spPr bwMode="auto">
          <a:xfrm flipH="1">
            <a:off x="2738048" y="504217"/>
            <a:ext cx="75234" cy="824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6812" name="Text Box 10"/>
          <p:cNvSpPr txBox="1">
            <a:spLocks noChangeArrowheads="1"/>
          </p:cNvSpPr>
          <p:nvPr/>
        </p:nvSpPr>
        <p:spPr bwMode="auto">
          <a:xfrm>
            <a:off x="1650352" y="725117"/>
            <a:ext cx="541046"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墨西哥</a:t>
            </a:r>
          </a:p>
        </p:txBody>
      </p:sp>
      <p:sp>
        <p:nvSpPr>
          <p:cNvPr id="76813" name="Text Box 11"/>
          <p:cNvSpPr txBox="1">
            <a:spLocks noChangeArrowheads="1"/>
          </p:cNvSpPr>
          <p:nvPr/>
        </p:nvSpPr>
        <p:spPr bwMode="auto">
          <a:xfrm>
            <a:off x="1648752" y="448191"/>
            <a:ext cx="52343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俄罗斯</a:t>
            </a:r>
          </a:p>
        </p:txBody>
      </p:sp>
      <p:sp>
        <p:nvSpPr>
          <p:cNvPr id="76814" name="Text Box 12"/>
          <p:cNvSpPr txBox="1">
            <a:spLocks noChangeArrowheads="1"/>
          </p:cNvSpPr>
          <p:nvPr/>
        </p:nvSpPr>
        <p:spPr bwMode="auto">
          <a:xfrm>
            <a:off x="1562312" y="982835"/>
            <a:ext cx="427395"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巴西</a:t>
            </a:r>
          </a:p>
        </p:txBody>
      </p:sp>
      <p:sp>
        <p:nvSpPr>
          <p:cNvPr id="76815" name="Text Box 13"/>
          <p:cNvSpPr txBox="1">
            <a:spLocks noChangeArrowheads="1"/>
          </p:cNvSpPr>
          <p:nvPr/>
        </p:nvSpPr>
        <p:spPr bwMode="auto">
          <a:xfrm>
            <a:off x="1077291" y="466600"/>
            <a:ext cx="41218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中国</a:t>
            </a:r>
          </a:p>
        </p:txBody>
      </p:sp>
      <p:sp>
        <p:nvSpPr>
          <p:cNvPr id="76816" name="Line 16"/>
          <p:cNvSpPr>
            <a:spLocks noChangeShapeType="1"/>
          </p:cNvSpPr>
          <p:nvPr/>
        </p:nvSpPr>
        <p:spPr bwMode="auto">
          <a:xfrm>
            <a:off x="1304594" y="617868"/>
            <a:ext cx="60828" cy="1136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6817" name="Line 17"/>
          <p:cNvSpPr>
            <a:spLocks noChangeShapeType="1"/>
          </p:cNvSpPr>
          <p:nvPr/>
        </p:nvSpPr>
        <p:spPr bwMode="auto">
          <a:xfrm>
            <a:off x="1527096" y="889992"/>
            <a:ext cx="88841" cy="10084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6818" name="Text Box 16"/>
          <p:cNvSpPr txBox="1">
            <a:spLocks noChangeArrowheads="1"/>
          </p:cNvSpPr>
          <p:nvPr/>
        </p:nvSpPr>
        <p:spPr bwMode="auto">
          <a:xfrm>
            <a:off x="1203748" y="1904054"/>
            <a:ext cx="378573"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印度</a:t>
            </a:r>
          </a:p>
        </p:txBody>
      </p:sp>
      <p:sp>
        <p:nvSpPr>
          <p:cNvPr id="76819" name="Text Box 17"/>
          <p:cNvSpPr txBox="1">
            <a:spLocks noChangeArrowheads="1"/>
          </p:cNvSpPr>
          <p:nvPr/>
        </p:nvSpPr>
        <p:spPr bwMode="auto">
          <a:xfrm>
            <a:off x="1035672" y="1142107"/>
            <a:ext cx="69791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印度尼西亚</a:t>
            </a:r>
          </a:p>
        </p:txBody>
      </p:sp>
      <p:sp>
        <p:nvSpPr>
          <p:cNvPr id="76820" name="Line 20"/>
          <p:cNvSpPr>
            <a:spLocks noChangeShapeType="1"/>
          </p:cNvSpPr>
          <p:nvPr/>
        </p:nvSpPr>
        <p:spPr bwMode="auto">
          <a:xfrm>
            <a:off x="1228560" y="866782"/>
            <a:ext cx="89641" cy="2897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6821" name="Text Box 15"/>
          <p:cNvSpPr txBox="1">
            <a:spLocks noChangeArrowheads="1"/>
          </p:cNvSpPr>
          <p:nvPr/>
        </p:nvSpPr>
        <p:spPr bwMode="auto">
          <a:xfrm>
            <a:off x="1078091" y="1579907"/>
            <a:ext cx="441801" cy="3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尼日利亚</a:t>
            </a:r>
          </a:p>
        </p:txBody>
      </p:sp>
      <p:sp>
        <p:nvSpPr>
          <p:cNvPr id="76822" name="Text Box 14"/>
          <p:cNvSpPr txBox="1">
            <a:spLocks noChangeArrowheads="1"/>
          </p:cNvSpPr>
          <p:nvPr/>
        </p:nvSpPr>
        <p:spPr bwMode="auto">
          <a:xfrm>
            <a:off x="1107705" y="2266619"/>
            <a:ext cx="61307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巴基斯坦</a:t>
            </a:r>
          </a:p>
        </p:txBody>
      </p:sp>
      <p:sp>
        <p:nvSpPr>
          <p:cNvPr id="76823" name="Text Box 15"/>
          <p:cNvSpPr txBox="1">
            <a:spLocks noChangeArrowheads="1"/>
          </p:cNvSpPr>
          <p:nvPr/>
        </p:nvSpPr>
        <p:spPr bwMode="auto">
          <a:xfrm>
            <a:off x="1105304" y="2538743"/>
            <a:ext cx="76514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孟加拉国</a:t>
            </a:r>
          </a:p>
        </p:txBody>
      </p:sp>
    </p:spTree>
  </p:cSld>
  <p:clrMapOvr>
    <a:masterClrMapping/>
  </p:clrMapOvr>
  <p:transition>
    <p:pull dir="ld"/>
  </p:transition>
</p:sld>
</file>

<file path=ppt/slides/slide66.xml><?xml version="1.0" encoding="utf-8"?>
<p:sld xmlns:a="http://schemas.openxmlformats.org/drawingml/2006/main" xmlns:r="http://schemas.openxmlformats.org/officeDocument/2006/relationships" xmlns:p="http://schemas.openxmlformats.org/presentationml/2006/main" showMasterSp="0">
  <p:cSld>
    <p:bg bwMode="auto">
      <p:bgPr>
        <a:solidFill>
          <a:srgbClr val="FFCCCC"/>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72879" y="64817"/>
            <a:ext cx="4240332" cy="281728"/>
          </a:xfrm>
        </p:spPr>
        <p:txBody>
          <a:bodyPr/>
          <a:lstStyle/>
          <a:p>
            <a:r>
              <a:rPr lang="en-US" altLang="zh-CN" sz="1515">
                <a:ea typeface="宋体" pitchFamily="2" charset="-122"/>
              </a:rPr>
              <a:t>12</a:t>
            </a:r>
            <a:r>
              <a:rPr lang="zh-CN" altLang="zh-CN" sz="1515">
                <a:ea typeface="宋体" pitchFamily="2" charset="-122"/>
              </a:rPr>
              <a:t>个国家</a:t>
            </a:r>
            <a:r>
              <a:rPr lang="en-US" altLang="zh-CN" sz="1515">
                <a:ea typeface="宋体" pitchFamily="2" charset="-122"/>
              </a:rPr>
              <a:t>GDP</a:t>
            </a:r>
            <a:r>
              <a:rPr lang="zh-CN" altLang="zh-CN" sz="1515">
                <a:ea typeface="宋体" pitchFamily="2" charset="-122"/>
              </a:rPr>
              <a:t>与网络的使用</a:t>
            </a:r>
          </a:p>
        </p:txBody>
      </p:sp>
      <p:sp>
        <p:nvSpPr>
          <p:cNvPr id="78851" name="Rectangle 3"/>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4FCAFAAD-8D2B-894F-A06C-E4C3FB15F622}" type="slidenum">
              <a:rPr lang="zh-CN" altLang="zh-CN" sz="855">
                <a:solidFill>
                  <a:srgbClr val="777777"/>
                </a:solidFill>
                <a:latin typeface="Arial" panose="020B0604020202090204" pitchFamily="34" charset="0"/>
                <a:ea typeface="宋体" pitchFamily="2" charset="-122"/>
              </a:rPr>
              <a:t>66</a:t>
            </a:fld>
            <a:endParaRPr lang="en-US" altLang="zh-CN" sz="855">
              <a:solidFill>
                <a:srgbClr val="777777"/>
              </a:solidFill>
              <a:latin typeface="Arial" panose="020B0604020202090204" pitchFamily="34" charset="0"/>
              <a:ea typeface="宋体" pitchFamily="2" charset="-122"/>
            </a:endParaRPr>
          </a:p>
        </p:txBody>
      </p:sp>
      <p:sp>
        <p:nvSpPr>
          <p:cNvPr id="78852" name="Text Box 4"/>
          <p:cNvSpPr txBox="1">
            <a:spLocks noChangeArrowheads="1"/>
          </p:cNvSpPr>
          <p:nvPr/>
        </p:nvSpPr>
        <p:spPr bwMode="auto">
          <a:xfrm rot="16200000">
            <a:off x="-483820" y="1336420"/>
            <a:ext cx="1630343" cy="44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160" b="1" dirty="0">
                <a:solidFill>
                  <a:srgbClr val="000000"/>
                </a:solidFill>
                <a:ea typeface="宋体" pitchFamily="2" charset="-122"/>
              </a:rPr>
              <a:t>网络的使用 </a:t>
            </a:r>
            <a:br>
              <a:rPr lang="zh-CN" altLang="zh-CN" sz="1160" b="1" dirty="0">
                <a:solidFill>
                  <a:srgbClr val="000000"/>
                </a:solidFill>
                <a:ea typeface="宋体" pitchFamily="2" charset="-122"/>
              </a:rPr>
            </a:br>
            <a:r>
              <a:rPr lang="en-US" altLang="zh-CN" sz="1160" b="1" dirty="0">
                <a:solidFill>
                  <a:srgbClr val="000000"/>
                </a:solidFill>
                <a:ea typeface="宋体" pitchFamily="2" charset="-122"/>
              </a:rPr>
              <a:t>( </a:t>
            </a:r>
            <a:r>
              <a:rPr lang="zh-CN" altLang="zh-CN" sz="1160" b="1" dirty="0">
                <a:solidFill>
                  <a:srgbClr val="000000"/>
                </a:solidFill>
                <a:ea typeface="宋体" pitchFamily="2" charset="-122"/>
              </a:rPr>
              <a:t>占总人口的百分比</a:t>
            </a:r>
            <a:r>
              <a:rPr lang="en-US" altLang="zh-CN" sz="1160" b="1" dirty="0">
                <a:solidFill>
                  <a:srgbClr val="000000"/>
                </a:solidFill>
                <a:ea typeface="宋体" pitchFamily="2" charset="-122"/>
              </a:rPr>
              <a:t>)</a:t>
            </a:r>
          </a:p>
        </p:txBody>
      </p:sp>
      <p:sp>
        <p:nvSpPr>
          <p:cNvPr id="78853" name="Text Box 5"/>
          <p:cNvSpPr txBox="1">
            <a:spLocks noChangeArrowheads="1"/>
          </p:cNvSpPr>
          <p:nvPr/>
        </p:nvSpPr>
        <p:spPr bwMode="auto">
          <a:xfrm>
            <a:off x="1025268" y="3169431"/>
            <a:ext cx="3163841" cy="2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160" b="1">
                <a:solidFill>
                  <a:srgbClr val="000000"/>
                </a:solidFill>
                <a:ea typeface="宋体" pitchFamily="2" charset="-122"/>
              </a:rPr>
              <a:t>人均真实</a:t>
            </a:r>
            <a:r>
              <a:rPr lang="en-US" altLang="zh-CN" sz="1160" b="1">
                <a:solidFill>
                  <a:srgbClr val="000000"/>
                </a:solidFill>
                <a:ea typeface="宋体" pitchFamily="2" charset="-122"/>
              </a:rPr>
              <a:t>GDP</a:t>
            </a:r>
          </a:p>
        </p:txBody>
      </p:sp>
      <p:pic>
        <p:nvPicPr>
          <p:cNvPr id="78854"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054" y="350547"/>
            <a:ext cx="3932992" cy="28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55" name="Text Box 6"/>
          <p:cNvSpPr txBox="1">
            <a:spLocks noChangeArrowheads="1"/>
          </p:cNvSpPr>
          <p:nvPr/>
        </p:nvSpPr>
        <p:spPr bwMode="auto">
          <a:xfrm>
            <a:off x="3521604" y="745927"/>
            <a:ext cx="344157"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美国</a:t>
            </a:r>
          </a:p>
        </p:txBody>
      </p:sp>
      <p:sp>
        <p:nvSpPr>
          <p:cNvPr id="78856" name="Text Box 7"/>
          <p:cNvSpPr txBox="1">
            <a:spLocks noChangeArrowheads="1"/>
          </p:cNvSpPr>
          <p:nvPr/>
        </p:nvSpPr>
        <p:spPr bwMode="auto">
          <a:xfrm>
            <a:off x="2842095" y="1322990"/>
            <a:ext cx="636290"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德国</a:t>
            </a:r>
          </a:p>
        </p:txBody>
      </p:sp>
      <p:sp>
        <p:nvSpPr>
          <p:cNvPr id="78857" name="Text Box 8"/>
          <p:cNvSpPr txBox="1">
            <a:spLocks noChangeArrowheads="1"/>
          </p:cNvSpPr>
          <p:nvPr/>
        </p:nvSpPr>
        <p:spPr bwMode="auto">
          <a:xfrm>
            <a:off x="2914128" y="638678"/>
            <a:ext cx="465012"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日本</a:t>
            </a:r>
          </a:p>
        </p:txBody>
      </p:sp>
      <p:sp>
        <p:nvSpPr>
          <p:cNvPr id="78858" name="Text Box 10"/>
          <p:cNvSpPr txBox="1">
            <a:spLocks noChangeArrowheads="1"/>
          </p:cNvSpPr>
          <p:nvPr/>
        </p:nvSpPr>
        <p:spPr bwMode="auto">
          <a:xfrm>
            <a:off x="1764004" y="2137761"/>
            <a:ext cx="541046"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墨西哥</a:t>
            </a:r>
          </a:p>
        </p:txBody>
      </p:sp>
      <p:sp>
        <p:nvSpPr>
          <p:cNvPr id="78859" name="Text Box 11"/>
          <p:cNvSpPr txBox="1">
            <a:spLocks noChangeArrowheads="1"/>
          </p:cNvSpPr>
          <p:nvPr/>
        </p:nvSpPr>
        <p:spPr bwMode="auto">
          <a:xfrm>
            <a:off x="1774409" y="2358662"/>
            <a:ext cx="52343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俄罗斯</a:t>
            </a:r>
          </a:p>
        </p:txBody>
      </p:sp>
      <p:sp>
        <p:nvSpPr>
          <p:cNvPr id="78860" name="Line 12"/>
          <p:cNvSpPr>
            <a:spLocks noChangeShapeType="1"/>
          </p:cNvSpPr>
          <p:nvPr/>
        </p:nvSpPr>
        <p:spPr bwMode="auto">
          <a:xfrm flipV="1">
            <a:off x="1667160" y="2226601"/>
            <a:ext cx="128858" cy="5042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8861" name="Line 13"/>
          <p:cNvSpPr>
            <a:spLocks noChangeShapeType="1"/>
          </p:cNvSpPr>
          <p:nvPr/>
        </p:nvSpPr>
        <p:spPr bwMode="auto">
          <a:xfrm>
            <a:off x="1679165" y="2396278"/>
            <a:ext cx="116853" cy="352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8862" name="Text Box 12"/>
          <p:cNvSpPr txBox="1">
            <a:spLocks noChangeArrowheads="1"/>
          </p:cNvSpPr>
          <p:nvPr/>
        </p:nvSpPr>
        <p:spPr bwMode="auto">
          <a:xfrm>
            <a:off x="1517491" y="1869639"/>
            <a:ext cx="427395"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巴西</a:t>
            </a:r>
          </a:p>
        </p:txBody>
      </p:sp>
      <p:sp>
        <p:nvSpPr>
          <p:cNvPr id="78863" name="Text Box 13"/>
          <p:cNvSpPr txBox="1">
            <a:spLocks noChangeArrowheads="1"/>
          </p:cNvSpPr>
          <p:nvPr/>
        </p:nvSpPr>
        <p:spPr bwMode="auto">
          <a:xfrm>
            <a:off x="1535100" y="2505929"/>
            <a:ext cx="41218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中国</a:t>
            </a:r>
          </a:p>
        </p:txBody>
      </p:sp>
      <p:sp>
        <p:nvSpPr>
          <p:cNvPr id="78864" name="Line 16"/>
          <p:cNvSpPr>
            <a:spLocks noChangeShapeType="1"/>
          </p:cNvSpPr>
          <p:nvPr/>
        </p:nvSpPr>
        <p:spPr bwMode="auto">
          <a:xfrm flipV="1">
            <a:off x="1491080" y="2018506"/>
            <a:ext cx="182483" cy="20889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8865" name="Line 17"/>
          <p:cNvSpPr>
            <a:spLocks noChangeShapeType="1"/>
          </p:cNvSpPr>
          <p:nvPr/>
        </p:nvSpPr>
        <p:spPr bwMode="auto">
          <a:xfrm>
            <a:off x="1404640" y="2568357"/>
            <a:ext cx="144066" cy="1440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8866" name="Text Box 16"/>
          <p:cNvSpPr txBox="1">
            <a:spLocks noChangeArrowheads="1"/>
          </p:cNvSpPr>
          <p:nvPr/>
        </p:nvSpPr>
        <p:spPr bwMode="auto">
          <a:xfrm>
            <a:off x="1267777" y="2649194"/>
            <a:ext cx="378573"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印度</a:t>
            </a:r>
          </a:p>
        </p:txBody>
      </p:sp>
      <p:sp>
        <p:nvSpPr>
          <p:cNvPr id="78867" name="Text Box 17"/>
          <p:cNvSpPr txBox="1">
            <a:spLocks noChangeArrowheads="1"/>
          </p:cNvSpPr>
          <p:nvPr/>
        </p:nvSpPr>
        <p:spPr bwMode="auto">
          <a:xfrm>
            <a:off x="785158" y="2004100"/>
            <a:ext cx="67870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印度尼西亚</a:t>
            </a:r>
          </a:p>
        </p:txBody>
      </p:sp>
      <p:sp>
        <p:nvSpPr>
          <p:cNvPr id="78868" name="Line 20"/>
          <p:cNvSpPr>
            <a:spLocks noChangeShapeType="1"/>
          </p:cNvSpPr>
          <p:nvPr/>
        </p:nvSpPr>
        <p:spPr bwMode="auto">
          <a:xfrm flipV="1">
            <a:off x="1182939" y="2734833"/>
            <a:ext cx="119255" cy="560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8869" name="Line 21"/>
          <p:cNvSpPr>
            <a:spLocks noChangeShapeType="1"/>
          </p:cNvSpPr>
          <p:nvPr/>
        </p:nvSpPr>
        <p:spPr bwMode="auto">
          <a:xfrm flipH="1" flipV="1">
            <a:off x="1122111" y="2162572"/>
            <a:ext cx="34416" cy="3953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8870" name="Text Box 15"/>
          <p:cNvSpPr txBox="1">
            <a:spLocks noChangeArrowheads="1"/>
          </p:cNvSpPr>
          <p:nvPr/>
        </p:nvSpPr>
        <p:spPr bwMode="auto">
          <a:xfrm>
            <a:off x="16807" y="2585164"/>
            <a:ext cx="557855"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dirty="0">
                <a:solidFill>
                  <a:srgbClr val="000000"/>
                </a:solidFill>
                <a:ea typeface="宋体" pitchFamily="2" charset="-122"/>
              </a:rPr>
              <a:t>尼日利亚</a:t>
            </a:r>
          </a:p>
        </p:txBody>
      </p:sp>
      <p:sp>
        <p:nvSpPr>
          <p:cNvPr id="78871" name="Line 23"/>
          <p:cNvSpPr>
            <a:spLocks noChangeShapeType="1"/>
          </p:cNvSpPr>
          <p:nvPr/>
        </p:nvSpPr>
        <p:spPr bwMode="auto">
          <a:xfrm flipH="1" flipV="1">
            <a:off x="580265" y="2683610"/>
            <a:ext cx="341755" cy="272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8872" name="Text Box 15"/>
          <p:cNvSpPr txBox="1">
            <a:spLocks noChangeArrowheads="1"/>
          </p:cNvSpPr>
          <p:nvPr/>
        </p:nvSpPr>
        <p:spPr bwMode="auto">
          <a:xfrm>
            <a:off x="800364" y="3177434"/>
            <a:ext cx="76514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a:solidFill>
                  <a:srgbClr val="000000"/>
                </a:solidFill>
                <a:ea typeface="宋体" pitchFamily="2" charset="-122"/>
              </a:rPr>
              <a:t>孟加拉国</a:t>
            </a:r>
          </a:p>
        </p:txBody>
      </p:sp>
      <p:sp>
        <p:nvSpPr>
          <p:cNvPr id="78873" name="Line 25"/>
          <p:cNvSpPr>
            <a:spLocks noChangeShapeType="1"/>
          </p:cNvSpPr>
          <p:nvPr/>
        </p:nvSpPr>
        <p:spPr bwMode="auto">
          <a:xfrm>
            <a:off x="1047678" y="2872496"/>
            <a:ext cx="77635" cy="33215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78874" name="Text Box 14"/>
          <p:cNvSpPr txBox="1">
            <a:spLocks noChangeArrowheads="1"/>
          </p:cNvSpPr>
          <p:nvPr/>
        </p:nvSpPr>
        <p:spPr bwMode="auto">
          <a:xfrm>
            <a:off x="16807" y="2273022"/>
            <a:ext cx="596272"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defTabSz="461010" fontAlgn="base">
              <a:spcBef>
                <a:spcPct val="50000"/>
              </a:spcBef>
              <a:spcAft>
                <a:spcPct val="0"/>
              </a:spcAft>
            </a:pPr>
            <a:r>
              <a:rPr lang="zh-CN" altLang="zh-CN" sz="1060" dirty="0">
                <a:solidFill>
                  <a:srgbClr val="000000"/>
                </a:solidFill>
                <a:ea typeface="宋体" pitchFamily="2" charset="-122"/>
              </a:rPr>
              <a:t>巴基斯坦</a:t>
            </a:r>
          </a:p>
        </p:txBody>
      </p:sp>
      <p:sp>
        <p:nvSpPr>
          <p:cNvPr id="78875" name="Line 27"/>
          <p:cNvSpPr>
            <a:spLocks noChangeShapeType="1"/>
          </p:cNvSpPr>
          <p:nvPr/>
        </p:nvSpPr>
        <p:spPr bwMode="auto">
          <a:xfrm flipH="1" flipV="1">
            <a:off x="634689" y="2369066"/>
            <a:ext cx="392179" cy="228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Tree>
  </p:cSld>
  <p:clrMapOvr>
    <a:masterClrMapping/>
  </p:clrMapOvr>
  <p:transition>
    <p:pull dir="ld"/>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900" name="Rectangle 4"/>
          <p:cNvSpPr>
            <a:spLocks noGrp="1" noChangeArrowheads="1"/>
          </p:cNvSpPr>
          <p:nvPr>
            <p:ph type="body" idx="1"/>
          </p:nvPr>
        </p:nvSpPr>
        <p:spPr>
          <a:xfrm>
            <a:off x="165676" y="911602"/>
            <a:ext cx="4191509" cy="2453918"/>
          </a:xfrm>
        </p:spPr>
        <p:txBody>
          <a:bodyPr/>
          <a:lstStyle/>
          <a:p>
            <a:pPr>
              <a:lnSpc>
                <a:spcPct val="85000"/>
              </a:lnSpc>
              <a:spcBef>
                <a:spcPct val="35000"/>
              </a:spcBef>
              <a:buClr>
                <a:srgbClr val="996633"/>
              </a:buClr>
            </a:pPr>
            <a:r>
              <a:rPr lang="zh-CN" altLang="zh-CN">
                <a:ea typeface="宋体" pitchFamily="2" charset="-122"/>
              </a:rPr>
              <a:t>国内生产总值(GDP) 衡量一国的总收入与支出</a:t>
            </a:r>
          </a:p>
          <a:p>
            <a:pPr>
              <a:lnSpc>
                <a:spcPct val="85000"/>
              </a:lnSpc>
              <a:spcBef>
                <a:spcPct val="35000"/>
              </a:spcBef>
              <a:buClr>
                <a:srgbClr val="996633"/>
              </a:buClr>
            </a:pPr>
            <a:r>
              <a:rPr lang="zh-CN" altLang="zh-CN">
                <a:ea typeface="宋体" pitchFamily="2" charset="-122"/>
              </a:rPr>
              <a:t>GDP的四个支出组成部分包括：消费，投资，政府购买和净出口</a:t>
            </a:r>
          </a:p>
          <a:p>
            <a:pPr>
              <a:lnSpc>
                <a:spcPct val="85000"/>
              </a:lnSpc>
              <a:spcBef>
                <a:spcPct val="35000"/>
              </a:spcBef>
              <a:buClr>
                <a:srgbClr val="996633"/>
              </a:buClr>
            </a:pPr>
            <a:r>
              <a:rPr lang="zh-CN" altLang="zh-CN">
                <a:ea typeface="宋体" pitchFamily="2" charset="-122"/>
              </a:rPr>
              <a:t>名义GDP是用现期价格来衡量，真实GDP是用不变的基年价格来衡量，并经过通货膨胀的校正   </a:t>
            </a:r>
          </a:p>
          <a:p>
            <a:pPr>
              <a:lnSpc>
                <a:spcPct val="85000"/>
              </a:lnSpc>
              <a:spcBef>
                <a:spcPct val="35000"/>
              </a:spcBef>
              <a:buClr>
                <a:srgbClr val="996633"/>
              </a:buClr>
            </a:pPr>
            <a:r>
              <a:rPr lang="zh-CN" altLang="zh-CN">
                <a:ea typeface="宋体" pitchFamily="2" charset="-122"/>
              </a:rPr>
              <a:t>GDP虽然不是一个完美的指标，但它仍是衡量一国经济福利的主要指标</a:t>
            </a:r>
          </a:p>
        </p:txBody>
      </p:sp>
      <p:sp>
        <p:nvSpPr>
          <p:cNvPr id="80901" name="Rectangle 5"/>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10" fontAlgn="base">
              <a:spcBef>
                <a:spcPct val="0"/>
              </a:spcBef>
              <a:spcAft>
                <a:spcPct val="0"/>
              </a:spcAft>
            </a:pPr>
            <a:fld id="{381FDD96-2E32-1D42-9EA2-BE5B29A09DD4}" type="slidenum">
              <a:rPr lang="zh-CN" altLang="zh-CN" sz="855">
                <a:solidFill>
                  <a:srgbClr val="777777"/>
                </a:solidFill>
                <a:latin typeface="Tahoma" panose="020B0604030504040204" pitchFamily="34" charset="0"/>
                <a:ea typeface="宋体" pitchFamily="2" charset="-122"/>
              </a:rPr>
              <a:t>67</a:t>
            </a:fld>
            <a:endParaRPr lang="en-US" altLang="zh-CN" sz="855">
              <a:solidFill>
                <a:srgbClr val="777777"/>
              </a:solidFill>
              <a:latin typeface="Tahoma" panose="020B0604030504040204" pitchFamily="34" charset="0"/>
              <a:ea typeface="宋体" pitchFamily="2" charset="-122"/>
            </a:endParaRPr>
          </a:p>
        </p:txBody>
      </p:sp>
      <p:sp>
        <p:nvSpPr>
          <p:cNvPr id="2" name="标题 1"/>
          <p:cNvSpPr>
            <a:spLocks noGrp="1"/>
          </p:cNvSpPr>
          <p:nvPr>
            <p:ph type="title"/>
          </p:nvPr>
        </p:nvSpPr>
        <p:spPr/>
        <p:txBody>
          <a:bodyPr/>
          <a:lstStyle/>
          <a:p>
            <a:r>
              <a:rPr kumimoji="1" lang="zh-CN" altLang="en-US" dirty="0"/>
              <a:t>本节总结</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503" y="1545709"/>
            <a:ext cx="4419094" cy="369332"/>
          </a:xfrm>
        </p:spPr>
        <p:txBody>
          <a:bodyPr/>
          <a:lstStyle/>
          <a:p>
            <a:pPr algn="ctr"/>
            <a:r>
              <a:rPr kumimoji="1" lang="en-US" altLang="zh-CN" sz="2400" dirty="0"/>
              <a:t>Thanks!</a:t>
            </a:r>
            <a:endParaRPr kumimoji="1" lang="zh-CN" altLang="en-US" sz="24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91</TotalTime>
  <Words>7735</Words>
  <Application>Microsoft Macintosh PowerPoint</Application>
  <PresentationFormat>自定义</PresentationFormat>
  <Paragraphs>890</Paragraphs>
  <Slides>68</Slides>
  <Notes>37</Notes>
  <HiddenSlides>0</HiddenSlides>
  <MMClips>0</MMClips>
  <ScaleCrop>false</ScaleCrop>
  <HeadingPairs>
    <vt:vector size="6" baseType="variant">
      <vt:variant>
        <vt:lpstr>已用的字体</vt:lpstr>
      </vt:variant>
      <vt:variant>
        <vt:i4>14</vt:i4>
      </vt:variant>
      <vt:variant>
        <vt:lpstr>主题</vt:lpstr>
      </vt:variant>
      <vt:variant>
        <vt:i4>4</vt:i4>
      </vt:variant>
      <vt:variant>
        <vt:lpstr>幻灯片标题</vt:lpstr>
      </vt:variant>
      <vt:variant>
        <vt:i4>68</vt:i4>
      </vt:variant>
    </vt:vector>
  </HeadingPairs>
  <TitlesOfParts>
    <vt:vector size="86" baseType="lpstr">
      <vt:lpstr>等线</vt:lpstr>
      <vt:lpstr>等线</vt:lpstr>
      <vt:lpstr>KaiTi</vt:lpstr>
      <vt:lpstr>宋体</vt:lpstr>
      <vt:lpstr>微软雅黑</vt:lpstr>
      <vt:lpstr>微软雅黑 Light</vt:lpstr>
      <vt:lpstr>Arial</vt:lpstr>
      <vt:lpstr>Book Antiqua</vt:lpstr>
      <vt:lpstr>Calibri</vt:lpstr>
      <vt:lpstr>Calibri Light</vt:lpstr>
      <vt:lpstr>Garamond</vt:lpstr>
      <vt:lpstr>Tahoma</vt:lpstr>
      <vt:lpstr>Times New Roman</vt:lpstr>
      <vt:lpstr>Wingdings</vt:lpstr>
      <vt:lpstr>Office 主题​​</vt:lpstr>
      <vt:lpstr>Custom Design</vt:lpstr>
      <vt:lpstr>1_Office 主题​​</vt:lpstr>
      <vt:lpstr>2_Office 主题​​</vt:lpstr>
      <vt:lpstr>宏观经济学</vt:lpstr>
      <vt:lpstr>PowerPoint 演示文稿</vt:lpstr>
      <vt:lpstr>PowerPoint 演示文稿</vt:lpstr>
      <vt:lpstr>PowerPoint 演示文稿</vt:lpstr>
      <vt:lpstr>PowerPoint 演示文稿</vt:lpstr>
      <vt:lpstr>宏观经济学</vt:lpstr>
      <vt:lpstr>PowerPoint 演示文稿</vt:lpstr>
      <vt:lpstr>Open discuss：你想生活在什么样的国家？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微观经济学与宏观经济学</vt:lpstr>
      <vt:lpstr>宏观经济学研究什么</vt:lpstr>
      <vt:lpstr>1. 经济增长</vt:lpstr>
      <vt:lpstr>PowerPoint 演示文稿</vt:lpstr>
      <vt:lpstr>PowerPoint 演示文稿</vt:lpstr>
      <vt:lpstr>PowerPoint 演示文稿</vt:lpstr>
      <vt:lpstr>电影：《当幸福来敲门》</vt:lpstr>
      <vt:lpstr>收入与支出</vt:lpstr>
      <vt:lpstr>PowerPoint 演示文稿</vt:lpstr>
      <vt:lpstr>宏观经济学的第一个模型：循环流量图</vt:lpstr>
      <vt:lpstr>循环流量图</vt:lpstr>
      <vt:lpstr>循环流量图</vt:lpstr>
      <vt:lpstr>这张图省略了什么</vt:lpstr>
      <vt:lpstr>国内生产总值（GDP）：</vt:lpstr>
      <vt:lpstr>国内生产总值 (GDP) ：</vt:lpstr>
      <vt:lpstr>国内生产总值 (GDP)：</vt:lpstr>
      <vt:lpstr>国内生产总值 (GDP)：</vt:lpstr>
      <vt:lpstr>国内生产总值 (GDP)：</vt:lpstr>
      <vt:lpstr>国内生产总值 (GDP)：</vt:lpstr>
      <vt:lpstr>GDP的组成部分</vt:lpstr>
      <vt:lpstr>消费 (C)</vt:lpstr>
      <vt:lpstr>投资 （I）</vt:lpstr>
      <vt:lpstr>政府购买 （G）</vt:lpstr>
      <vt:lpstr>净出口 （NX）</vt:lpstr>
      <vt:lpstr>主动学习  1    GDP及其组成部分</vt:lpstr>
      <vt:lpstr>主动学习  1    参考答案</vt:lpstr>
      <vt:lpstr>主动学习  1    参考答案</vt:lpstr>
      <vt:lpstr>历史真题</vt:lpstr>
      <vt:lpstr>真实GDP与名义GDP</vt:lpstr>
      <vt:lpstr>例：</vt:lpstr>
      <vt:lpstr>例：</vt:lpstr>
      <vt:lpstr>例:</vt:lpstr>
      <vt:lpstr>例：</vt:lpstr>
      <vt:lpstr>美国的名义GDP与真实GDP：   1950-2020</vt:lpstr>
      <vt:lpstr> GDP平减指数</vt:lpstr>
      <vt:lpstr>例：</vt:lpstr>
      <vt:lpstr>主动学习  2    GDP的计算</vt:lpstr>
      <vt:lpstr>主动学习  2    参考答案</vt:lpstr>
      <vt:lpstr>主动学习  2    参考答案</vt:lpstr>
      <vt:lpstr>PowerPoint 演示文稿</vt:lpstr>
      <vt:lpstr>PowerPoint 演示文稿</vt:lpstr>
      <vt:lpstr>GDP与经济福利</vt:lpstr>
      <vt:lpstr>国内生产总值……</vt:lpstr>
      <vt:lpstr>GDP 并没有评价:</vt:lpstr>
      <vt:lpstr>为什么我们还要关注GDP?</vt:lpstr>
      <vt:lpstr>12个国家的GDP和预期寿命</vt:lpstr>
      <vt:lpstr>12个国家的GDP与成人识字率</vt:lpstr>
      <vt:lpstr>12个国家GDP与网络的使用</vt:lpstr>
      <vt:lpstr>本节总结</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Zhiqing Yang</cp:lastModifiedBy>
  <cp:revision>1537</cp:revision>
  <dcterms:created xsi:type="dcterms:W3CDTF">2026-04-02T03:18:08Z</dcterms:created>
  <dcterms:modified xsi:type="dcterms:W3CDTF">2026-04-10T07:24:32Z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2014-11-26T00:00:00Z</vt:filetime>
  </property>
  <property fmtid="{D5CDD505-2E9C-101B-9397-08002B2CF9AE}" pid="3" name="Creator">
    <vt:lpwstr>LaTeX with Beamer class version 3.33</vt:lpwstr>
  </property>
  <property fmtid="{D5CDD505-2E9C-101B-9397-08002B2CF9AE}" pid="4" name="LastSaved">
    <vt:filetime>2018-11-24T00:00:00Z</vt:filetime>
  </property>
  <property fmtid="{D5CDD505-2E9C-101B-9397-08002B2CF9AE}" pid="5" name="KSOProductBuildVer">
    <vt:lpwstr>2052-12.1.24031.24031</vt:lpwstr>
  </property>
  <property fmtid="{D5CDD505-2E9C-101B-9397-08002B2CF9AE}" pid="6" name="ICV">
    <vt:lpwstr>11D0CE12F4713656DC16CD698D28BB75_43</vt:lpwstr>
  </property>
</Properties>
</file>