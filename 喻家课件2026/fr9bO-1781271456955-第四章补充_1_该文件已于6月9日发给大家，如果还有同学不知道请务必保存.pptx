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2.xml" ContentType="application/vnd.openxmlformats-officedocument.themeOverride+xml"/>
  <Override PartName="/ppt/notesSlides/notesSlide8.xml" ContentType="application/vnd.openxmlformats-officedocument.presentationml.notesSlide+xml"/>
  <Override PartName="/ppt/theme/themeOverride3.xml" ContentType="application/vnd.openxmlformats-officedocument.themeOverride+xml"/>
  <Override PartName="/ppt/notesSlides/notesSlide9.xml" ContentType="application/vnd.openxmlformats-officedocument.presentationml.notesSlide+xml"/>
  <Override PartName="/ppt/theme/themeOverride4.xml" ContentType="application/vnd.openxmlformats-officedocument.themeOverride+xml"/>
  <Override PartName="/ppt/notesSlides/notesSlide10.xml" ContentType="application/vnd.openxmlformats-officedocument.presentationml.notesSlide+xml"/>
  <Override PartName="/ppt/theme/themeOverride5.xml" ContentType="application/vnd.openxmlformats-officedocument.themeOverride+xml"/>
  <Override PartName="/ppt/notesSlides/notesSlide11.xml" ContentType="application/vnd.openxmlformats-officedocument.presentationml.notesSlide+xml"/>
  <Override PartName="/ppt/theme/themeOverride6.xml" ContentType="application/vnd.openxmlformats-officedocument.themeOverride+xml"/>
  <Override PartName="/ppt/notesSlides/notesSlide12.xml" ContentType="application/vnd.openxmlformats-officedocument.presentationml.notesSlide+xml"/>
  <Override PartName="/ppt/theme/themeOverride7.xml" ContentType="application/vnd.openxmlformats-officedocument.themeOverride+xml"/>
  <Override PartName="/ppt/notesSlides/notesSlide13.xml" ContentType="application/vnd.openxmlformats-officedocument.presentationml.notesSlide+xml"/>
  <Override PartName="/ppt/theme/themeOverride8.xml" ContentType="application/vnd.openxmlformats-officedocument.themeOverride+xml"/>
  <Override PartName="/ppt/notesSlides/notesSlide14.xml" ContentType="application/vnd.openxmlformats-officedocument.presentationml.notesSlide+xml"/>
  <Override PartName="/ppt/theme/themeOverride9.xml" ContentType="application/vnd.openxmlformats-officedocument.themeOverride+xml"/>
  <Override PartName="/ppt/notesSlides/notesSlide15.xml" ContentType="application/vnd.openxmlformats-officedocument.presentationml.notesSlide+xml"/>
  <Override PartName="/ppt/theme/themeOverride10.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Override11.xml" ContentType="application/vnd.openxmlformats-officedocument.themeOverride+xml"/>
  <Override PartName="/ppt/notesSlides/notesSlide19.xml" ContentType="application/vnd.openxmlformats-officedocument.presentationml.notesSlide+xml"/>
  <Override PartName="/ppt/theme/themeOverride1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6"/>
  </p:notesMasterIdLst>
  <p:sldIdLst>
    <p:sldId id="1342" r:id="rId3"/>
    <p:sldId id="587" r:id="rId4"/>
    <p:sldId id="1347" r:id="rId5"/>
    <p:sldId id="1376" r:id="rId6"/>
    <p:sldId id="1360" r:id="rId7"/>
    <p:sldId id="1355" r:id="rId8"/>
    <p:sldId id="572" r:id="rId9"/>
    <p:sldId id="573" r:id="rId10"/>
    <p:sldId id="547" r:id="rId11"/>
    <p:sldId id="1361" r:id="rId12"/>
    <p:sldId id="1378" r:id="rId13"/>
    <p:sldId id="1369" r:id="rId14"/>
    <p:sldId id="1365" r:id="rId15"/>
    <p:sldId id="574" r:id="rId16"/>
    <p:sldId id="548" r:id="rId17"/>
    <p:sldId id="575" r:id="rId18"/>
    <p:sldId id="550" r:id="rId19"/>
    <p:sldId id="1387" r:id="rId20"/>
    <p:sldId id="1388" r:id="rId21"/>
    <p:sldId id="1389" r:id="rId22"/>
    <p:sldId id="576" r:id="rId23"/>
    <p:sldId id="1390" r:id="rId24"/>
    <p:sldId id="1350" r:id="rId25"/>
    <p:sldId id="305" r:id="rId26"/>
    <p:sldId id="307" r:id="rId27"/>
    <p:sldId id="309" r:id="rId28"/>
    <p:sldId id="312" r:id="rId29"/>
    <p:sldId id="313" r:id="rId30"/>
    <p:sldId id="1381" r:id="rId31"/>
    <p:sldId id="1344" r:id="rId32"/>
    <p:sldId id="316" r:id="rId33"/>
    <p:sldId id="317" r:id="rId34"/>
    <p:sldId id="318" r:id="rId35"/>
    <p:sldId id="319" r:id="rId36"/>
    <p:sldId id="1391" r:id="rId37"/>
    <p:sldId id="315" r:id="rId38"/>
    <p:sldId id="1100" r:id="rId39"/>
    <p:sldId id="1101" r:id="rId40"/>
    <p:sldId id="322" r:id="rId41"/>
    <p:sldId id="323" r:id="rId42"/>
    <p:sldId id="1351" r:id="rId43"/>
    <p:sldId id="1392" r:id="rId44"/>
    <p:sldId id="324" r:id="rId45"/>
    <p:sldId id="577" r:id="rId46"/>
    <p:sldId id="325" r:id="rId47"/>
    <p:sldId id="1346" r:id="rId48"/>
    <p:sldId id="1348" r:id="rId49"/>
    <p:sldId id="1349" r:id="rId50"/>
    <p:sldId id="555" r:id="rId51"/>
    <p:sldId id="1393" r:id="rId52"/>
    <p:sldId id="581" r:id="rId53"/>
    <p:sldId id="582" r:id="rId54"/>
    <p:sldId id="1394"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5" d="100"/>
          <a:sy n="75" d="100"/>
        </p:scale>
        <p:origin x="106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555BF0-E62A-4E05-94E4-EB567A6FA05F}" type="datetimeFigureOut">
              <a:rPr lang="zh-CN" altLang="en-US" smtClean="0"/>
              <a:t>2026/6/9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E749F-662D-4B43-8E34-E0D0CFB01EC2}" type="slidenum">
              <a:rPr lang="zh-CN" altLang="en-US" smtClean="0"/>
              <a:t>‹#›</a:t>
            </a:fld>
            <a:endParaRPr lang="zh-CN" altLang="en-US"/>
          </a:p>
        </p:txBody>
      </p:sp>
    </p:spTree>
    <p:extLst>
      <p:ext uri="{BB962C8B-B14F-4D97-AF65-F5344CB8AC3E}">
        <p14:creationId xmlns:p14="http://schemas.microsoft.com/office/powerpoint/2010/main" val="3922554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45.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DCDE1B-E8D0-FE4B-8B2C-D7C099D60E23}"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29477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假设总需求变化，考虑长期，最终会出现什么变化？</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原来均衡点在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假设消费者</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对未来缺乏信心等</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因素</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导致</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AD</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曲线</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向左移动到</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AD2</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，经过一段时间，价格从</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点降到</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B</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点，如果不下降需求会在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C</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点，需求小于供给，最终价格会下降。</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长期经济价格会调整。</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如果在短期假设市场机制非常灵活，这种长期的供给曲线非常会第一时间发挥作用。价格很快降低。非常灵活。这种情形在短期内也存在。但这种情况比较少见。</a:t>
            </a: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DCDE1B-E8D0-FE4B-8B2C-D7C099D60E23}"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87624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15</a:t>
            </a:fld>
            <a:endParaRPr kumimoji="1" lang="zh-CN" altLang="en-US"/>
          </a:p>
        </p:txBody>
      </p:sp>
    </p:spTree>
    <p:extLst>
      <p:ext uri="{BB962C8B-B14F-4D97-AF65-F5344CB8AC3E}">
        <p14:creationId xmlns:p14="http://schemas.microsoft.com/office/powerpoint/2010/main" val="2458158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DF4A1-91BA-E8AD-D82F-FEB988ABD8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FE4B57-8CEA-F14D-72D7-46C643C9E2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F76C70-B581-36A6-1C5C-41AFF8AB390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DA9F3D6-AA20-3277-9C56-F6711A89996B}"/>
              </a:ext>
            </a:extLst>
          </p:cNvPr>
          <p:cNvSpPr>
            <a:spLocks noGrp="1"/>
          </p:cNvSpPr>
          <p:nvPr>
            <p:ph type="sldNum" sz="quarter" idx="5"/>
          </p:nvPr>
        </p:nvSpPr>
        <p:spPr/>
        <p:txBody>
          <a:bodyPr/>
          <a:lstStyle/>
          <a:p>
            <a:fld id="{00DCDE1B-E8D0-FE4B-8B2C-D7C099D60E23}" type="slidenum">
              <a:rPr kumimoji="1" lang="zh-CN" altLang="en-US" smtClean="0"/>
              <a:t>18</a:t>
            </a:fld>
            <a:endParaRPr kumimoji="1" lang="zh-CN" altLang="en-US"/>
          </a:p>
        </p:txBody>
      </p:sp>
    </p:spTree>
    <p:extLst>
      <p:ext uri="{BB962C8B-B14F-4D97-AF65-F5344CB8AC3E}">
        <p14:creationId xmlns:p14="http://schemas.microsoft.com/office/powerpoint/2010/main" val="4000070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a:extLst>
            <a:ext uri="{FF2B5EF4-FFF2-40B4-BE49-F238E27FC236}">
              <a16:creationId xmlns:a16="http://schemas.microsoft.com/office/drawing/2014/main" id="{D7CD476F-70A5-1083-ABA9-D9FBB3C6F82E}"/>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C3D9A2E3-E9B8-A323-CF9B-726D619DABE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95465FD0-EB96-284F-A320-78CAEAAE934F}" type="slidenum">
              <a:rPr lang="zh-CN" altLang="zh-CN" sz="1200">
                <a:ea typeface="宋体" panose="02010600030101010101" pitchFamily="2" charset="-122"/>
              </a:rPr>
              <a:pPr algn="r"/>
              <a:t>20</a:t>
            </a:fld>
            <a:endParaRPr lang="zh-CN" altLang="zh-CN" sz="1200">
              <a:ea typeface="宋体" panose="02010600030101010101" pitchFamily="2" charset="-122"/>
            </a:endParaRPr>
          </a:p>
        </p:txBody>
      </p:sp>
      <p:sp>
        <p:nvSpPr>
          <p:cNvPr id="69635" name="Rectangle 2">
            <a:extLst>
              <a:ext uri="{FF2B5EF4-FFF2-40B4-BE49-F238E27FC236}">
                <a16:creationId xmlns:a16="http://schemas.microsoft.com/office/drawing/2014/main" id="{66860016-E15E-9494-C475-B5343159DCA6}"/>
              </a:ext>
            </a:extLst>
          </p:cNvPr>
          <p:cNvSpPr>
            <a:spLocks noGrp="1" noRot="1" noChangeAspect="1" noChangeArrowheads="1" noTextEdit="1"/>
          </p:cNvSpPr>
          <p:nvPr>
            <p:ph type="sldImg"/>
          </p:nvPr>
        </p:nvSpPr>
        <p:spPr>
          <a:xfrm>
            <a:off x="382588" y="534988"/>
            <a:ext cx="6096000" cy="3429000"/>
          </a:xfrm>
        </p:spPr>
      </p:sp>
      <p:sp>
        <p:nvSpPr>
          <p:cNvPr id="69636" name="Rectangle 3">
            <a:extLst>
              <a:ext uri="{FF2B5EF4-FFF2-40B4-BE49-F238E27FC236}">
                <a16:creationId xmlns:a16="http://schemas.microsoft.com/office/drawing/2014/main" id="{A6C83B3E-77DE-AEEE-02D6-75A1D551EA74}"/>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经济学家争论这些理论中哪一种是正确的。有可能每一个都包含一些真理的元素。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就我们这里的目的而言，这些理论之间的相似之处比它们的差异更重要</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这三种理论都暗示，当价格水平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偏离人们的预期水平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时，产出就会偏离其长期水平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自然产出率”</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a:t>
            </a:r>
          </a:p>
          <a:p>
            <a:endParaRPr lang="en-US" altLang="zh-CN" dirty="0">
              <a:ea typeface="宋体" panose="02010600030101010101" pitchFamily="2" charset="-122"/>
            </a:endParaRPr>
          </a:p>
          <a:p>
            <a:r>
              <a:rPr lang="zh-CN" altLang="zh-CN" dirty="0">
                <a:ea typeface="宋体" panose="02010600030101010101" pitchFamily="2" charset="-122"/>
              </a:rPr>
              <a:t>Economists debate which of these theories is correct.  It’s possible that each of them contains some element of truth.  </a:t>
            </a:r>
          </a:p>
          <a:p>
            <a:endParaRPr lang="zh-CN" altLang="zh-CN" dirty="0">
              <a:ea typeface="宋体" panose="02010600030101010101" pitchFamily="2" charset="-122"/>
            </a:endParaRPr>
          </a:p>
          <a:p>
            <a:r>
              <a:rPr lang="zh-CN" altLang="zh-CN" dirty="0">
                <a:ea typeface="宋体" panose="02010600030101010101" pitchFamily="2" charset="-122"/>
              </a:rPr>
              <a:t>For our purposes here, the similarities between these theories are more important than their differences:  all three imply that output deviates from its long-run level (the “natural rate of output”) when the price level (</a:t>
            </a:r>
            <a:r>
              <a:rPr lang="zh-CN" altLang="zh-CN" b="1" i="1" dirty="0">
                <a:ea typeface="宋体" panose="02010600030101010101" pitchFamily="2" charset="-122"/>
              </a:rPr>
              <a:t>P</a:t>
            </a:r>
            <a:r>
              <a:rPr lang="zh-CN" altLang="zh-CN" dirty="0">
                <a:ea typeface="宋体" panose="02010600030101010101" pitchFamily="2" charset="-122"/>
              </a:rPr>
              <a:t>) deviates from the level people had expected (</a:t>
            </a:r>
            <a:r>
              <a:rPr lang="zh-CN" altLang="zh-CN" sz="1100" b="1" i="1" dirty="0">
                <a:ea typeface="宋体" panose="02010600030101010101" pitchFamily="2" charset="-122"/>
              </a:rPr>
              <a:t>P</a:t>
            </a:r>
            <a:r>
              <a:rPr lang="zh-CN" altLang="zh-CN" sz="1100" b="1" baseline="-25000" dirty="0">
                <a:ea typeface="宋体" panose="02010600030101010101" pitchFamily="2" charset="-122"/>
              </a:rPr>
              <a:t>E</a:t>
            </a:r>
            <a:r>
              <a:rPr lang="zh-CN" altLang="zh-CN" dirty="0">
                <a:ea typeface="宋体" panose="02010600030101010101" pitchFamily="2" charset="-122"/>
              </a:rPr>
              <a:t>).  </a:t>
            </a:r>
          </a:p>
          <a:p>
            <a:endParaRPr lang="zh-CN" altLang="zh-CN" dirty="0">
              <a:ea typeface="宋体" panose="02010600030101010101" pitchFamily="2" charset="-122"/>
            </a:endParaRPr>
          </a:p>
        </p:txBody>
      </p:sp>
    </p:spTree>
    <p:extLst>
      <p:ext uri="{BB962C8B-B14F-4D97-AF65-F5344CB8AC3E}">
        <p14:creationId xmlns:p14="http://schemas.microsoft.com/office/powerpoint/2010/main" val="2992788586"/>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21</a:t>
            </a:fld>
            <a:endParaRPr kumimoji="1" lang="zh-CN" altLang="en-US"/>
          </a:p>
        </p:txBody>
      </p:sp>
    </p:spTree>
    <p:extLst>
      <p:ext uri="{BB962C8B-B14F-4D97-AF65-F5344CB8AC3E}">
        <p14:creationId xmlns:p14="http://schemas.microsoft.com/office/powerpoint/2010/main" val="2984176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a:extLst>
            <a:ext uri="{FF2B5EF4-FFF2-40B4-BE49-F238E27FC236}">
              <a16:creationId xmlns:a16="http://schemas.microsoft.com/office/drawing/2014/main" id="{374A1A6B-03ED-C935-FD45-F64436DAA08D}"/>
            </a:ext>
          </a:extLst>
        </p:cNvPr>
        <p:cNvGrpSpPr/>
        <p:nvPr/>
      </p:nvGrpSpPr>
      <p:grpSpPr>
        <a:xfrm>
          <a:off x="0" y="0"/>
          <a:ext cx="0" cy="0"/>
          <a:chOff x="0" y="0"/>
          <a:chExt cx="0" cy="0"/>
        </a:xfrm>
      </p:grpSpPr>
      <p:sp>
        <p:nvSpPr>
          <p:cNvPr id="71682" name="Rectangle 7">
            <a:extLst>
              <a:ext uri="{FF2B5EF4-FFF2-40B4-BE49-F238E27FC236}">
                <a16:creationId xmlns:a16="http://schemas.microsoft.com/office/drawing/2014/main" id="{8E9B8439-2A84-4160-4021-051A241CE9E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A2B72FC7-E9E9-2C4F-8861-BBC211BDC658}" type="slidenum">
              <a:rPr lang="zh-CN" altLang="zh-CN" sz="1200">
                <a:ea typeface="宋体" panose="02010600030101010101" pitchFamily="2" charset="-122"/>
              </a:rPr>
              <a:pPr algn="r"/>
              <a:t>22</a:t>
            </a:fld>
            <a:endParaRPr lang="zh-CN" altLang="zh-CN" sz="1200">
              <a:ea typeface="宋体" panose="02010600030101010101" pitchFamily="2" charset="-122"/>
            </a:endParaRPr>
          </a:p>
        </p:txBody>
      </p:sp>
      <p:sp>
        <p:nvSpPr>
          <p:cNvPr id="71683" name="Rectangle 2">
            <a:extLst>
              <a:ext uri="{FF2B5EF4-FFF2-40B4-BE49-F238E27FC236}">
                <a16:creationId xmlns:a16="http://schemas.microsoft.com/office/drawing/2014/main" id="{7BABBA04-3E64-6BC8-4FD9-1D6733DCF54D}"/>
              </a:ext>
            </a:extLst>
          </p:cNvPr>
          <p:cNvSpPr>
            <a:spLocks noGrp="1" noRot="1" noChangeAspect="1" noChangeArrowheads="1" noTextEdit="1"/>
          </p:cNvSpPr>
          <p:nvPr>
            <p:ph type="sldImg"/>
          </p:nvPr>
        </p:nvSpPr>
        <p:spPr>
          <a:xfrm>
            <a:off x="382588" y="534988"/>
            <a:ext cx="6096000" cy="3429000"/>
          </a:xfrm>
        </p:spPr>
      </p:sp>
      <p:sp>
        <p:nvSpPr>
          <p:cNvPr id="71684" name="Rectangle 3">
            <a:extLst>
              <a:ext uri="{FF2B5EF4-FFF2-40B4-BE49-F238E27FC236}">
                <a16:creationId xmlns:a16="http://schemas.microsoft.com/office/drawing/2014/main" id="{355488F8-83C2-F881-785B-9C5641F5C5BC}"/>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前面的幻灯片介绍了一个总供给方程，它显示了当实际价格水平与预期不同时，产出如何偏离充分就业。</a:t>
            </a:r>
            <a:endParaRPr lang="en-US" altLang="zh-CN" dirty="0">
              <a:ea typeface="宋体" panose="02010600030101010101" pitchFamily="2" charset="-122"/>
            </a:endParaRPr>
          </a:p>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这张幻灯片用图表说明了这些概念。</a:t>
            </a:r>
            <a:endParaRPr lang="en-US" altLang="zh-CN" b="0" i="0" u="none" strike="noStrike" dirty="0">
              <a:solidFill>
                <a:srgbClr val="101214"/>
              </a:solidFill>
              <a:effectLst/>
              <a:latin typeface="PingFang SC" panose="020B0400000000000000" pitchFamily="34" charset="-122"/>
              <a:ea typeface="PingFang SC" panose="020B0400000000000000" pitchFamily="34" charset="-122"/>
            </a:endParaRPr>
          </a:p>
          <a:p>
            <a:endParaRPr lang="en-US" altLang="zh-CN"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endParaRPr lang="en-US" altLang="zh-CN" sz="1100" dirty="0">
              <a:ea typeface="宋体" panose="02010600030101010101" pitchFamily="2" charset="-122"/>
            </a:endParaRPr>
          </a:p>
          <a:p>
            <a:endParaRPr lang="en-US" altLang="zh-CN" sz="1100"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&lt;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&lt;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endParaRPr lang="en-US" altLang="zh-CN" sz="1100" dirty="0">
              <a:ea typeface="宋体" panose="02010600030101010101" pitchFamily="2" charset="-122"/>
            </a:endParaRPr>
          </a:p>
          <a:p>
            <a:endParaRPr lang="en-US" altLang="zh-CN" sz="1100"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&gt;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&gt;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p>
          <a:p>
            <a:endParaRPr lang="zh-CN" altLang="en-US" dirty="0">
              <a:ea typeface="宋体" panose="02010600030101010101" pitchFamily="2" charset="-122"/>
            </a:endParaRPr>
          </a:p>
        </p:txBody>
      </p:sp>
    </p:spTree>
    <p:extLst>
      <p:ext uri="{BB962C8B-B14F-4D97-AF65-F5344CB8AC3E}">
        <p14:creationId xmlns:p14="http://schemas.microsoft.com/office/powerpoint/2010/main" val="3981041020"/>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3E95753-2195-DF03-50A4-5469F702B1E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BE63441C-A6E6-AC46-B41C-4B0160C2E189}" type="slidenum">
              <a:rPr lang="zh-CN" altLang="zh-CN" sz="1200">
                <a:ea typeface="宋体" panose="02010600030101010101" pitchFamily="2" charset="-122"/>
              </a:rPr>
              <a:pPr algn="r"/>
              <a:t>26</a:t>
            </a:fld>
            <a:endParaRPr lang="zh-CN" altLang="zh-CN" sz="1200">
              <a:ea typeface="宋体" panose="02010600030101010101" pitchFamily="2" charset="-122"/>
            </a:endParaRPr>
          </a:p>
        </p:txBody>
      </p:sp>
      <p:sp>
        <p:nvSpPr>
          <p:cNvPr id="67587" name="Rectangle 2">
            <a:extLst>
              <a:ext uri="{FF2B5EF4-FFF2-40B4-BE49-F238E27FC236}">
                <a16:creationId xmlns:a16="http://schemas.microsoft.com/office/drawing/2014/main" id="{B1AC5FE3-3FA5-D3C0-9A3A-26A4749A9726}"/>
              </a:ext>
            </a:extLst>
          </p:cNvPr>
          <p:cNvSpPr>
            <a:spLocks noGrp="1" noRot="1" noChangeAspect="1" noChangeArrowheads="1" noTextEdit="1"/>
          </p:cNvSpPr>
          <p:nvPr>
            <p:ph type="sldImg"/>
          </p:nvPr>
        </p:nvSpPr>
        <p:spPr>
          <a:xfrm>
            <a:off x="382588" y="534988"/>
            <a:ext cx="6096000" cy="3429000"/>
          </a:xfrm>
        </p:spPr>
      </p:sp>
      <p:sp>
        <p:nvSpPr>
          <p:cNvPr id="67588" name="Rectangle 3">
            <a:extLst>
              <a:ext uri="{FF2B5EF4-FFF2-40B4-BE49-F238E27FC236}">
                <a16:creationId xmlns:a16="http://schemas.microsoft.com/office/drawing/2014/main" id="{E52F5552-C34B-69DF-0D5A-E7DA7F5AFACC}"/>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在这三种理论中，这一理论似乎是最不可信的。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企业当然有很强的动机，不会将一般价格上涨误认为相对价格上涨。而且，有关价格水平的信息是无成本的，而且只需要很短的滞后时间</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尤其是</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CPI</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它每月发布一次，一经发布就被广泛报道</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我在这里的评论不是正式教材的一部分，所以它们不支持在学习指南或考题库中。请随意忽略它们。</a:t>
            </a:r>
          </a:p>
          <a:p>
            <a:endParaRPr lang="en-US" altLang="zh-CN" dirty="0">
              <a:ea typeface="宋体" panose="02010600030101010101" pitchFamily="2" charset="-122"/>
            </a:endParaRPr>
          </a:p>
          <a:p>
            <a:r>
              <a:rPr lang="en-US" altLang="zh-CN" dirty="0">
                <a:ea typeface="宋体" panose="02010600030101010101" pitchFamily="2" charset="-122"/>
              </a:rPr>
              <a:t>Of the three theories, this one seems the least plausible.  </a:t>
            </a:r>
          </a:p>
          <a:p>
            <a:endParaRPr lang="en-US" altLang="zh-CN" dirty="0">
              <a:ea typeface="宋体" panose="02010600030101010101" pitchFamily="2" charset="-122"/>
            </a:endParaRPr>
          </a:p>
          <a:p>
            <a:r>
              <a:rPr lang="en-US" altLang="zh-CN" dirty="0">
                <a:ea typeface="宋体" panose="02010600030101010101" pitchFamily="2" charset="-122"/>
              </a:rPr>
              <a:t>Firms certainly have a strong incentive to not mistake a general price increase for a relative price increase.  And information about the price level is costless and available with only a short lag (especially the CPI, which is published monthly and very widely reported the moment it comes out).  </a:t>
            </a:r>
          </a:p>
          <a:p>
            <a:endParaRPr lang="en-US" altLang="zh-CN" dirty="0">
              <a:ea typeface="宋体" panose="02010600030101010101" pitchFamily="2" charset="-122"/>
            </a:endParaRPr>
          </a:p>
          <a:p>
            <a:r>
              <a:rPr lang="en-US" altLang="zh-CN" dirty="0">
                <a:ea typeface="宋体" panose="02010600030101010101" pitchFamily="2" charset="-122"/>
              </a:rPr>
              <a:t>My remarks here are not officially part of the textbook, so they are not supported in the study guide or test bank.  Feel free to ignore them. </a:t>
            </a:r>
          </a:p>
        </p:txBody>
      </p:sp>
    </p:spTree>
    <p:extLst>
      <p:ext uri="{BB962C8B-B14F-4D97-AF65-F5344CB8AC3E}">
        <p14:creationId xmlns:p14="http://schemas.microsoft.com/office/powerpoint/2010/main" val="3035440171"/>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BE8674A-DB4D-489F-1A1D-5CF3A441A46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D4A6CAB-627E-4742-892E-61789D9E00B3}" type="slidenum">
              <a:rPr lang="zh-CN" altLang="zh-CN" sz="1200">
                <a:ea typeface="宋体" panose="02010600030101010101" pitchFamily="2" charset="-122"/>
              </a:rPr>
              <a:pPr algn="r"/>
              <a:t>28</a:t>
            </a:fld>
            <a:endParaRPr lang="zh-CN" altLang="zh-CN" sz="1200">
              <a:ea typeface="宋体" panose="02010600030101010101" pitchFamily="2" charset="-122"/>
            </a:endParaRPr>
          </a:p>
        </p:txBody>
      </p:sp>
      <p:sp>
        <p:nvSpPr>
          <p:cNvPr id="74755" name="Rectangle 2">
            <a:extLst>
              <a:ext uri="{FF2B5EF4-FFF2-40B4-BE49-F238E27FC236}">
                <a16:creationId xmlns:a16="http://schemas.microsoft.com/office/drawing/2014/main" id="{381442C5-63D2-0D20-582F-6E83DAC0144C}"/>
              </a:ext>
            </a:extLst>
          </p:cNvPr>
          <p:cNvSpPr>
            <a:spLocks noGrp="1" noRot="1" noChangeAspect="1" noChangeArrowheads="1" noTextEdit="1"/>
          </p:cNvSpPr>
          <p:nvPr>
            <p:ph type="sldImg"/>
          </p:nvPr>
        </p:nvSpPr>
        <p:spPr>
          <a:xfrm>
            <a:off x="382588" y="534988"/>
            <a:ext cx="6096000" cy="3429000"/>
          </a:xfrm>
        </p:spPr>
      </p:sp>
      <p:sp>
        <p:nvSpPr>
          <p:cNvPr id="74756" name="Rectangle 3">
            <a:extLst>
              <a:ext uri="{FF2B5EF4-FFF2-40B4-BE49-F238E27FC236}">
                <a16:creationId xmlns:a16="http://schemas.microsoft.com/office/drawing/2014/main" id="{61866534-7061-175E-1D6F-CE08A809F726}"/>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请注意，当价格水平等于预期价格水平时，产出等于其长期价值，即自然产出率。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解释</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在短期内，人们可能会被价格水平愚弄，或者他们可能会被锁定在他们知道实际价格水平之前设定的工资或价格上。因此，在短期内，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可能不同于</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但从长期来看，预期会赶上现实，</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 = PE</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因此</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Y = YN</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就像经典模型中那样。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因此，我们的经济波动理论基本上是经典模型</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我们已经研究了几章</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，加上某种市场不完善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比如粘性工资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。市场不完美的影响只在短期内发生，所以我们模型的长期行为是经典的。</a:t>
            </a:r>
          </a:p>
          <a:p>
            <a:endParaRPr lang="en-US" altLang="zh-CN" dirty="0">
              <a:ea typeface="宋体" panose="02010600030101010101" pitchFamily="2" charset="-122"/>
            </a:endParaRPr>
          </a:p>
          <a:p>
            <a:r>
              <a:rPr lang="en-US" altLang="zh-CN" dirty="0">
                <a:ea typeface="宋体" panose="02010600030101010101" pitchFamily="2" charset="-122"/>
              </a:rPr>
              <a:t>Notice that when the price level equals the expected price level, output is equal to its long-run value, the natural rate of output.  </a:t>
            </a:r>
          </a:p>
          <a:p>
            <a:endParaRPr lang="en-US" altLang="zh-CN" dirty="0">
              <a:ea typeface="宋体" panose="02010600030101010101" pitchFamily="2" charset="-122"/>
            </a:endParaRPr>
          </a:p>
          <a:p>
            <a:r>
              <a:rPr lang="en-US" altLang="zh-CN" dirty="0">
                <a:ea typeface="宋体" panose="02010600030101010101" pitchFamily="2" charset="-122"/>
              </a:rPr>
              <a:t>Interpretation:  </a:t>
            </a:r>
          </a:p>
          <a:p>
            <a:endParaRPr lang="en-US" altLang="zh-CN" dirty="0">
              <a:ea typeface="宋体" panose="02010600030101010101" pitchFamily="2" charset="-122"/>
            </a:endParaRPr>
          </a:p>
          <a:p>
            <a:r>
              <a:rPr lang="en-US" altLang="zh-CN" dirty="0">
                <a:ea typeface="宋体" panose="02010600030101010101" pitchFamily="2" charset="-122"/>
              </a:rPr>
              <a:t>In the short run, people may be fooled about the price level, or they may be locked into wages or prices that were set before they knew what the price level would actually be.  Hence, in the short run, </a:t>
            </a:r>
            <a:r>
              <a:rPr lang="en-US" altLang="zh-CN" b="1" i="1" dirty="0">
                <a:ea typeface="宋体" panose="02010600030101010101" pitchFamily="2" charset="-122"/>
              </a:rPr>
              <a:t>P</a:t>
            </a:r>
            <a:r>
              <a:rPr lang="en-US" altLang="zh-CN" dirty="0">
                <a:ea typeface="宋体" panose="02010600030101010101" pitchFamily="2" charset="-122"/>
              </a:rPr>
              <a:t> may differ from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dirty="0">
                <a:ea typeface="宋体" panose="02010600030101010101" pitchFamily="2" charset="-122"/>
              </a:rPr>
              <a:t>.  </a:t>
            </a:r>
          </a:p>
          <a:p>
            <a:endParaRPr lang="en-US" altLang="zh-CN" dirty="0">
              <a:ea typeface="宋体" panose="02010600030101010101" pitchFamily="2" charset="-122"/>
            </a:endParaRPr>
          </a:p>
          <a:p>
            <a:r>
              <a:rPr lang="en-US" altLang="zh-CN" dirty="0">
                <a:ea typeface="宋体" panose="02010600030101010101" pitchFamily="2" charset="-122"/>
              </a:rPr>
              <a:t>But in the long run, expectations catch up to reality, </a:t>
            </a:r>
            <a:r>
              <a:rPr lang="en-US" altLang="zh-CN" b="1" i="1" dirty="0">
                <a:ea typeface="宋体" panose="02010600030101010101" pitchFamily="2" charset="-122"/>
              </a:rPr>
              <a:t>P</a:t>
            </a:r>
            <a:r>
              <a:rPr lang="en-US" altLang="zh-CN" dirty="0">
                <a:ea typeface="宋体" panose="02010600030101010101" pitchFamily="2" charset="-122"/>
              </a:rPr>
              <a:t> =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dirty="0">
                <a:ea typeface="宋体" panose="02010600030101010101" pitchFamily="2" charset="-122"/>
              </a:rPr>
              <a:t>, and therefore  </a:t>
            </a:r>
            <a:r>
              <a:rPr lang="en-US" altLang="zh-CN" b="1" i="1" dirty="0">
                <a:ea typeface="宋体" panose="02010600030101010101" pitchFamily="2" charset="-122"/>
              </a:rPr>
              <a:t>Y</a:t>
            </a:r>
            <a:r>
              <a:rPr lang="en-US" altLang="zh-CN" dirty="0">
                <a:ea typeface="宋体" panose="02010600030101010101" pitchFamily="2" charset="-122"/>
              </a:rPr>
              <a:t> =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r>
              <a:rPr lang="en-US" altLang="zh-CN" dirty="0">
                <a:ea typeface="宋体" panose="02010600030101010101" pitchFamily="2" charset="-122"/>
              </a:rPr>
              <a:t>, as in the Classical model.  </a:t>
            </a:r>
          </a:p>
          <a:p>
            <a:endParaRPr lang="en-US" altLang="zh-CN" dirty="0">
              <a:ea typeface="宋体" panose="02010600030101010101" pitchFamily="2" charset="-122"/>
            </a:endParaRPr>
          </a:p>
          <a:p>
            <a:r>
              <a:rPr lang="en-US" altLang="zh-CN" dirty="0">
                <a:ea typeface="宋体" panose="02010600030101010101" pitchFamily="2" charset="-122"/>
              </a:rPr>
              <a:t>Thus, our theory of economic fluctuations is basically the Classical model (which we studied for several chapters) augmented with some kind of market imperfection (such as sticky wages).  The impact of the market imperfection occurs only in the short run, so the long-run behavior of our model is Classical.  </a:t>
            </a:r>
          </a:p>
          <a:p>
            <a:endParaRPr lang="zh-CN" altLang="en-US" dirty="0">
              <a:ea typeface="宋体" panose="02010600030101010101" pitchFamily="2" charset="-122"/>
            </a:endParaRPr>
          </a:p>
        </p:txBody>
      </p:sp>
    </p:spTree>
    <p:extLst>
      <p:ext uri="{BB962C8B-B14F-4D97-AF65-F5344CB8AC3E}">
        <p14:creationId xmlns:p14="http://schemas.microsoft.com/office/powerpoint/2010/main" val="856811049"/>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2859F6D-1C3E-27FD-38F0-4894F8C40FB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27E310B-8950-FB40-BEE0-86FA5DFA91B1}" type="slidenum">
              <a:rPr lang="zh-CN" altLang="zh-CN" sz="1200">
                <a:ea typeface="宋体" panose="02010600030101010101" pitchFamily="2" charset="-122"/>
              </a:rPr>
              <a:pPr algn="r"/>
              <a:t>31</a:t>
            </a:fld>
            <a:endParaRPr lang="zh-CN" altLang="zh-CN" sz="1200">
              <a:ea typeface="宋体" panose="02010600030101010101" pitchFamily="2" charset="-122"/>
            </a:endParaRPr>
          </a:p>
        </p:txBody>
      </p:sp>
      <p:sp>
        <p:nvSpPr>
          <p:cNvPr id="78851" name="Rectangle 2">
            <a:extLst>
              <a:ext uri="{FF2B5EF4-FFF2-40B4-BE49-F238E27FC236}">
                <a16:creationId xmlns:a16="http://schemas.microsoft.com/office/drawing/2014/main" id="{040E05C3-7135-3175-A419-0F66E7BAC40F}"/>
              </a:ext>
            </a:extLst>
          </p:cNvPr>
          <p:cNvSpPr>
            <a:spLocks noGrp="1" noRot="1" noChangeAspect="1" noChangeArrowheads="1" noTextEdit="1"/>
          </p:cNvSpPr>
          <p:nvPr>
            <p:ph type="sldImg"/>
          </p:nvPr>
        </p:nvSpPr>
        <p:spPr>
          <a:xfrm>
            <a:off x="1146175" y="534988"/>
            <a:ext cx="4568825" cy="3429000"/>
          </a:xfrm>
        </p:spPr>
      </p:sp>
      <p:sp>
        <p:nvSpPr>
          <p:cNvPr id="78852" name="Rectangle 3">
            <a:extLst>
              <a:ext uri="{FF2B5EF4-FFF2-40B4-BE49-F238E27FC236}">
                <a16:creationId xmlns:a16="http://schemas.microsoft.com/office/drawing/2014/main" id="{1C92C6B4-E2C7-03D3-07A3-1300F2A09944}"/>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这个四步法是基于第四章中用来分析基本供求模型变化的三步法。</a:t>
            </a:r>
            <a:endParaRPr lang="en-US" altLang="zh-CN" dirty="0">
              <a:ea typeface="宋体" panose="02010600030101010101" pitchFamily="2" charset="-122"/>
            </a:endParaRPr>
          </a:p>
          <a:p>
            <a:r>
              <a:rPr lang="en-US" altLang="zh-CN" dirty="0">
                <a:ea typeface="宋体" panose="02010600030101010101" pitchFamily="2" charset="-122"/>
              </a:rPr>
              <a:t>This four-step approach is based on the three-step approach used in Chapter 4 to analyze changes in the basic supply &amp; demand model.  </a:t>
            </a:r>
          </a:p>
        </p:txBody>
      </p:sp>
    </p:spTree>
    <p:extLst>
      <p:ext uri="{BB962C8B-B14F-4D97-AF65-F5344CB8AC3E}">
        <p14:creationId xmlns:p14="http://schemas.microsoft.com/office/powerpoint/2010/main" val="1280441949"/>
      </p:ext>
    </p:extLst>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1D249E8-DCF8-6052-9A1F-30AADE5089F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1E329456-8F43-F345-9292-EB9D7BA04BC5}" type="slidenum">
              <a:rPr lang="zh-CN" altLang="zh-CN" sz="1200">
                <a:ea typeface="宋体" panose="02010600030101010101" pitchFamily="2" charset="-122"/>
              </a:rPr>
              <a:pPr algn="r"/>
              <a:t>32</a:t>
            </a:fld>
            <a:endParaRPr lang="zh-CN" altLang="zh-CN" sz="1200">
              <a:ea typeface="宋体" panose="02010600030101010101" pitchFamily="2" charset="-122"/>
            </a:endParaRPr>
          </a:p>
        </p:txBody>
      </p:sp>
      <p:sp>
        <p:nvSpPr>
          <p:cNvPr id="80899" name="Rectangle 2">
            <a:extLst>
              <a:ext uri="{FF2B5EF4-FFF2-40B4-BE49-F238E27FC236}">
                <a16:creationId xmlns:a16="http://schemas.microsoft.com/office/drawing/2014/main" id="{A38B90D8-4335-9F24-A43B-1C23D5D88712}"/>
              </a:ext>
            </a:extLst>
          </p:cNvPr>
          <p:cNvSpPr>
            <a:spLocks noGrp="1" noRot="1" noChangeAspect="1" noChangeArrowheads="1" noTextEdit="1"/>
          </p:cNvSpPr>
          <p:nvPr>
            <p:ph type="sldImg"/>
          </p:nvPr>
        </p:nvSpPr>
        <p:spPr>
          <a:xfrm>
            <a:off x="1146175" y="534988"/>
            <a:ext cx="4568825" cy="3429000"/>
          </a:xfrm>
        </p:spPr>
      </p:sp>
      <p:sp>
        <p:nvSpPr>
          <p:cNvPr id="80900" name="Rectangle 3">
            <a:extLst>
              <a:ext uri="{FF2B5EF4-FFF2-40B4-BE49-F238E27FC236}">
                <a16:creationId xmlns:a16="http://schemas.microsoft.com/office/drawing/2014/main" id="{D84CC865-5167-5CC7-F8E6-125C3EAF9222}"/>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i="1" dirty="0">
                <a:ea typeface="宋体" panose="02010600030101010101" pitchFamily="2" charset="-122"/>
              </a:rPr>
              <a:t>The results from this exercise apply to any event that shifts AD to the left, whether a stock market crash, recession abroad, wave of pessimism, or other. </a:t>
            </a:r>
            <a:r>
              <a:rPr lang="en-US" altLang="zh-CN" dirty="0">
                <a:ea typeface="宋体" panose="02010600030101010101" pitchFamily="2" charset="-122"/>
              </a:rPr>
              <a:t> </a:t>
            </a:r>
          </a:p>
          <a:p>
            <a:endParaRPr lang="en-US" altLang="zh-CN" dirty="0">
              <a:ea typeface="宋体" panose="02010600030101010101" pitchFamily="2" charset="-122"/>
            </a:endParaRPr>
          </a:p>
          <a:p>
            <a:r>
              <a:rPr lang="en-US" altLang="zh-CN" dirty="0">
                <a:ea typeface="宋体" panose="02010600030101010101" pitchFamily="2" charset="-122"/>
              </a:rPr>
              <a:t>The stock market crash reduces consumers’ wealth, which depresses their spending.  The AD curve shifts to the left.  </a:t>
            </a:r>
          </a:p>
          <a:p>
            <a:endParaRPr lang="en-US" altLang="zh-CN" dirty="0">
              <a:ea typeface="宋体" panose="02010600030101010101" pitchFamily="2" charset="-122"/>
            </a:endParaRPr>
          </a:p>
          <a:p>
            <a:r>
              <a:rPr lang="en-US" altLang="zh-CN" dirty="0">
                <a:ea typeface="宋体" panose="02010600030101010101" pitchFamily="2" charset="-122"/>
              </a:rPr>
              <a:t>The new short-run equilibrium is at point B, where P and Y are lower, and hence unemployment is higher.  (Remember Fact #3 about economic fluctuations:  unemployment and output move in opposite directions.)</a:t>
            </a:r>
          </a:p>
          <a:p>
            <a:endParaRPr lang="en-US" altLang="zh-CN" dirty="0">
              <a:ea typeface="宋体" panose="02010600030101010101" pitchFamily="2" charset="-122"/>
            </a:endParaRPr>
          </a:p>
          <a:p>
            <a:r>
              <a:rPr lang="en-US" altLang="zh-CN" dirty="0">
                <a:ea typeface="宋体" panose="02010600030101010101" pitchFamily="2" charset="-122"/>
              </a:rPr>
              <a:t>At point B, P &lt; P</a:t>
            </a:r>
            <a:r>
              <a:rPr lang="en-US" altLang="zh-CN" baseline="-25000" dirty="0">
                <a:ea typeface="宋体" panose="02010600030101010101" pitchFamily="2" charset="-122"/>
              </a:rPr>
              <a:t>E</a:t>
            </a:r>
            <a:r>
              <a:rPr lang="en-US" altLang="zh-CN" dirty="0">
                <a:ea typeface="宋体" panose="02010600030101010101" pitchFamily="2" charset="-122"/>
              </a:rPr>
              <a:t>.  Over time, P</a:t>
            </a:r>
            <a:r>
              <a:rPr lang="en-US" altLang="zh-CN" baseline="-25000" dirty="0">
                <a:ea typeface="宋体" panose="02010600030101010101" pitchFamily="2" charset="-122"/>
              </a:rPr>
              <a:t>E</a:t>
            </a:r>
            <a:r>
              <a:rPr lang="en-US" altLang="zh-CN" dirty="0">
                <a:ea typeface="宋体" panose="02010600030101010101" pitchFamily="2" charset="-122"/>
              </a:rPr>
              <a:t> falls, wages fall, and sticky prices become flexible and fall.  The SRAS curve moves rightward.  </a:t>
            </a:r>
          </a:p>
          <a:p>
            <a:endParaRPr lang="en-US" altLang="zh-CN" dirty="0">
              <a:ea typeface="宋体" panose="02010600030101010101" pitchFamily="2" charset="-122"/>
            </a:endParaRPr>
          </a:p>
          <a:p>
            <a:r>
              <a:rPr lang="en-US" altLang="zh-CN" dirty="0">
                <a:ea typeface="宋体" panose="02010600030101010101" pitchFamily="2" charset="-122"/>
              </a:rPr>
              <a:t>This process continues until the economy arrives at point C, where GDP and unemployment are back at their natural rates, and  P</a:t>
            </a:r>
            <a:r>
              <a:rPr lang="en-US" altLang="zh-CN" baseline="-25000" dirty="0">
                <a:ea typeface="宋体" panose="02010600030101010101" pitchFamily="2" charset="-122"/>
              </a:rPr>
              <a:t>E</a:t>
            </a:r>
            <a:r>
              <a:rPr lang="en-US" altLang="zh-CN" dirty="0">
                <a:ea typeface="宋体" panose="02010600030101010101" pitchFamily="2" charset="-122"/>
              </a:rPr>
              <a:t> = P once again. </a:t>
            </a:r>
          </a:p>
          <a:p>
            <a:endParaRPr lang="en-US" altLang="zh-CN" dirty="0">
              <a:ea typeface="宋体" panose="02010600030101010101" pitchFamily="2" charset="-122"/>
            </a:endParaRPr>
          </a:p>
          <a:p>
            <a:r>
              <a:rPr lang="en-US" altLang="zh-CN" dirty="0">
                <a:ea typeface="宋体" panose="02010600030101010101" pitchFamily="2" charset="-122"/>
              </a:rPr>
              <a:t>Notice that, in the absence of policy intervention, the economy “self-corrects.”  Of course, this process takes time, and policymakers may not want to wait.  At point B, policymakers could use fiscal or monetary policy to shift aggregate demand to the right and move the economy back to A.  </a:t>
            </a:r>
          </a:p>
        </p:txBody>
      </p:sp>
    </p:spTree>
    <p:extLst>
      <p:ext uri="{BB962C8B-B14F-4D97-AF65-F5344CB8AC3E}">
        <p14:creationId xmlns:p14="http://schemas.microsoft.com/office/powerpoint/2010/main" val="3752982957"/>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E572EA87-7F80-5E7F-9DF8-F63CDE5853A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35E5175D-1A16-CE4F-824E-1DB9FF1F4E43}" type="slidenum">
              <a:rPr lang="zh-CN" altLang="zh-CN" sz="1200">
                <a:ea typeface="宋体" panose="02010600030101010101" pitchFamily="2" charset="-122"/>
              </a:rPr>
              <a:pPr algn="r"/>
              <a:t>33</a:t>
            </a:fld>
            <a:endParaRPr lang="zh-CN" altLang="zh-CN" sz="1200">
              <a:ea typeface="宋体" panose="02010600030101010101" pitchFamily="2" charset="-122"/>
            </a:endParaRPr>
          </a:p>
        </p:txBody>
      </p:sp>
      <p:sp>
        <p:nvSpPr>
          <p:cNvPr id="82947" name="Rectangle 2">
            <a:extLst>
              <a:ext uri="{FF2B5EF4-FFF2-40B4-BE49-F238E27FC236}">
                <a16:creationId xmlns:a16="http://schemas.microsoft.com/office/drawing/2014/main" id="{7E991888-08F3-D01F-B770-DCF2C70E8695}"/>
              </a:ext>
            </a:extLst>
          </p:cNvPr>
          <p:cNvSpPr>
            <a:spLocks noGrp="1" noRot="1" noChangeAspect="1" noChangeArrowheads="1" noTextEdit="1"/>
          </p:cNvSpPr>
          <p:nvPr>
            <p:ph type="sldImg"/>
          </p:nvPr>
        </p:nvSpPr>
        <p:spPr>
          <a:xfrm>
            <a:off x="1146175" y="534988"/>
            <a:ext cx="4568825" cy="3429000"/>
          </a:xfrm>
        </p:spPr>
      </p:sp>
      <p:sp>
        <p:nvSpPr>
          <p:cNvPr id="82948" name="Rectangle 3">
            <a:extLst>
              <a:ext uri="{FF2B5EF4-FFF2-40B4-BE49-F238E27FC236}">
                <a16:creationId xmlns:a16="http://schemas.microsoft.com/office/drawing/2014/main" id="{ED4BE31B-73E8-9E28-6B79-E71E25FE392B}"/>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a:ea typeface="宋体" panose="02010600030101010101" pitchFamily="2" charset="-122"/>
              </a:rPr>
              <a:t>Two possible causes of the Great Depression:  the fall in the money supply, and the stock market crash.  Either would shift the AD curve left, causing P and Y to fall and causing unemployment to rise.  </a:t>
            </a:r>
          </a:p>
          <a:p>
            <a:endParaRPr lang="en-US" altLang="zh-CN">
              <a:ea typeface="宋体" panose="02010600030101010101" pitchFamily="2" charset="-122"/>
            </a:endParaRPr>
          </a:p>
          <a:p>
            <a:r>
              <a:rPr lang="en-US" altLang="zh-CN">
                <a:ea typeface="宋体" panose="02010600030101010101" pitchFamily="2" charset="-122"/>
              </a:rPr>
              <a:t>Data source:  Bureau of Economic Analysis, U.S. Department of Commerce</a:t>
            </a:r>
          </a:p>
          <a:p>
            <a:r>
              <a:rPr lang="en-US" altLang="zh-CN">
                <a:ea typeface="宋体" panose="02010600030101010101" pitchFamily="2" charset="-122"/>
              </a:rPr>
              <a:t>http://www.bea.doc.gov/bea/dn/home/gdp.htm</a:t>
            </a:r>
          </a:p>
          <a:p>
            <a:endParaRPr lang="zh-CN" altLang="en-US">
              <a:ea typeface="宋体" panose="02010600030101010101" pitchFamily="2" charset="-122"/>
            </a:endParaRPr>
          </a:p>
        </p:txBody>
      </p:sp>
    </p:spTree>
    <p:extLst>
      <p:ext uri="{BB962C8B-B14F-4D97-AF65-F5344CB8AC3E}">
        <p14:creationId xmlns:p14="http://schemas.microsoft.com/office/powerpoint/2010/main" val="1399259258"/>
      </p:ext>
    </p:extLst>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B98034E-55CE-4B6C-A7FB-DED40B5A4EF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3520B5B5-A1BE-C343-BECF-358FC722AEA4}" type="slidenum">
              <a:rPr lang="zh-CN" altLang="zh-CN" sz="1200">
                <a:ea typeface="宋体" panose="02010600030101010101" pitchFamily="2" charset="-122"/>
              </a:rPr>
              <a:pPr algn="r"/>
              <a:t>34</a:t>
            </a:fld>
            <a:endParaRPr lang="zh-CN" altLang="zh-CN" sz="1200">
              <a:ea typeface="宋体" panose="02010600030101010101" pitchFamily="2" charset="-122"/>
            </a:endParaRPr>
          </a:p>
        </p:txBody>
      </p:sp>
      <p:sp>
        <p:nvSpPr>
          <p:cNvPr id="84995" name="Rectangle 2">
            <a:extLst>
              <a:ext uri="{FF2B5EF4-FFF2-40B4-BE49-F238E27FC236}">
                <a16:creationId xmlns:a16="http://schemas.microsoft.com/office/drawing/2014/main" id="{61BB9B99-3C0A-E9EB-2D76-E744D27BB08E}"/>
              </a:ext>
            </a:extLst>
          </p:cNvPr>
          <p:cNvSpPr>
            <a:spLocks noGrp="1" noRot="1" noChangeAspect="1" noChangeArrowheads="1" noTextEdit="1"/>
          </p:cNvSpPr>
          <p:nvPr>
            <p:ph type="sldImg"/>
          </p:nvPr>
        </p:nvSpPr>
        <p:spPr>
          <a:xfrm>
            <a:off x="1146175" y="534988"/>
            <a:ext cx="4568825" cy="3429000"/>
          </a:xfrm>
        </p:spPr>
      </p:sp>
      <p:sp>
        <p:nvSpPr>
          <p:cNvPr id="84996" name="Rectangle 3">
            <a:extLst>
              <a:ext uri="{FF2B5EF4-FFF2-40B4-BE49-F238E27FC236}">
                <a16:creationId xmlns:a16="http://schemas.microsoft.com/office/drawing/2014/main" id="{A1EB8051-961F-1098-58EF-D4B2AC5B347D}"/>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a:ea typeface="宋体" panose="02010600030101010101" pitchFamily="2" charset="-122"/>
              </a:rPr>
              <a:t>This boom was clearly caused by a surge in govt spending.  Our model predicts an increase in G would shift AD to the right, increasing P and Y, and reducing unemployment.  These predictions are consistent with the data.  </a:t>
            </a:r>
          </a:p>
          <a:p>
            <a:endParaRPr lang="en-US" altLang="zh-CN">
              <a:ea typeface="宋体" panose="02010600030101010101" pitchFamily="2" charset="-122"/>
            </a:endParaRPr>
          </a:p>
          <a:p>
            <a:r>
              <a:rPr lang="en-US" altLang="zh-CN">
                <a:ea typeface="宋体" panose="02010600030101010101" pitchFamily="2" charset="-122"/>
              </a:rPr>
              <a:t>Source for GDP data:  Bureau of Economic Analysis, U.S. Department of Commerce</a:t>
            </a:r>
          </a:p>
          <a:p>
            <a:r>
              <a:rPr lang="en-US" altLang="zh-CN">
                <a:ea typeface="宋体" panose="02010600030101010101" pitchFamily="2" charset="-122"/>
              </a:rPr>
              <a:t>http://www.bea.doc.gov/bea/dn/home/gdp.htm</a:t>
            </a:r>
          </a:p>
          <a:p>
            <a:endParaRPr lang="en-US" altLang="zh-CN">
              <a:ea typeface="宋体" panose="02010600030101010101" pitchFamily="2" charset="-122"/>
            </a:endParaRPr>
          </a:p>
          <a:p>
            <a:r>
              <a:rPr lang="en-US" altLang="zh-CN">
                <a:ea typeface="宋体" panose="02010600030101010101" pitchFamily="2" charset="-122"/>
              </a:rPr>
              <a:t>Source for data on government outlays:  Economic Report of the President, 2005 edition, Table B-78.  http://www.gpoaccess.gov/eop/</a:t>
            </a:r>
          </a:p>
        </p:txBody>
      </p:sp>
    </p:spTree>
    <p:extLst>
      <p:ext uri="{BB962C8B-B14F-4D97-AF65-F5344CB8AC3E}">
        <p14:creationId xmlns:p14="http://schemas.microsoft.com/office/powerpoint/2010/main" val="3331632108"/>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02FA4D54-E2B3-1C96-BAC4-15DEB3C73BAC}"/>
              </a:ext>
            </a:extLst>
          </p:cNvPr>
          <p:cNvSpPr>
            <a:spLocks noGrp="1" noRot="1" noChangeAspect="1" noChangeArrowheads="1" noTextEdit="1"/>
          </p:cNvSpPr>
          <p:nvPr>
            <p:ph type="sldImg"/>
          </p:nvPr>
        </p:nvSpPr>
        <p:spPr/>
      </p:sp>
      <p:sp>
        <p:nvSpPr>
          <p:cNvPr id="88067" name="Rectangle 3">
            <a:extLst>
              <a:ext uri="{FF2B5EF4-FFF2-40B4-BE49-F238E27FC236}">
                <a16:creationId xmlns:a16="http://schemas.microsoft.com/office/drawing/2014/main" id="{2EC0B334-D422-7DA0-0815-C29C05DC7475}"/>
              </a:ext>
            </a:extLst>
          </p:cNvPr>
          <p:cNvSpPr>
            <a:spLocks noGrp="1" noRot="1" noChangeArrowheads="1"/>
          </p:cNvSpPr>
          <p:nvPr>
            <p:ph type="body" idx="1"/>
          </p:nvPr>
        </p:nvSpPr>
        <p:spPr/>
        <p:txBody>
          <a:bodyPr/>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加拿大的经济繁荣增加了加拿大消费者的收入。反过来，他们的支出也会增加。他们的部分支出是购买美国产品，因此他们的支出增加导致美国出口增加。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这使得美国的</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AD</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曲线向右平移。新的短期均衡在点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B</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Y</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更高，因此失业率更低。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B</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US" altLang="zh-CN" dirty="0">
                <a:ea typeface="宋体" panose="02010600030101010101" pitchFamily="2" charset="-122"/>
              </a:rPr>
              <a:t> P &gt; P</a:t>
            </a:r>
            <a:r>
              <a:rPr lang="en-US" altLang="zh-CN" baseline="-25000" dirty="0">
                <a:ea typeface="宋体" panose="02010600030101010101" pitchFamily="2" charset="-122"/>
              </a:rPr>
              <a:t>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。随着时间的推移，</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上升，工资上涨，粘性价格变得灵活和上涨。</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曲线向左移动。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这个过程一直持续到经济到达</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C</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和失业率回到自然水平，对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的预期赶上了现实。</a:t>
            </a:r>
          </a:p>
          <a:p>
            <a:endParaRPr lang="en-US" altLang="zh-CN" dirty="0">
              <a:ea typeface="宋体" panose="02010600030101010101" pitchFamily="2" charset="-122"/>
            </a:endParaRPr>
          </a:p>
          <a:p>
            <a:r>
              <a:rPr lang="en-US" altLang="zh-CN" dirty="0">
                <a:ea typeface="宋体" panose="02010600030101010101" pitchFamily="2" charset="-122"/>
              </a:rPr>
              <a:t>The boom in Canada increases the incomes of Canadian consumers.  In turn, their spending rises.  Some of their spending is on products from the U.S., so their spending increase causes U.S. exports to rise.  </a:t>
            </a:r>
          </a:p>
          <a:p>
            <a:endParaRPr lang="en-US" altLang="zh-CN" dirty="0">
              <a:ea typeface="宋体" panose="02010600030101010101" pitchFamily="2" charset="-122"/>
            </a:endParaRPr>
          </a:p>
          <a:p>
            <a:r>
              <a:rPr lang="en-US" altLang="zh-CN" dirty="0">
                <a:ea typeface="宋体" panose="02010600030101010101" pitchFamily="2" charset="-122"/>
              </a:rPr>
              <a:t>This shifts the U.S. AD curve to the right.  The new short-run equilibrium is at point B, where P and Y are higher, and hence unemployment is lower.  </a:t>
            </a:r>
          </a:p>
          <a:p>
            <a:endParaRPr lang="en-US" altLang="zh-CN" dirty="0">
              <a:ea typeface="宋体" panose="02010600030101010101" pitchFamily="2" charset="-122"/>
            </a:endParaRPr>
          </a:p>
          <a:p>
            <a:r>
              <a:rPr lang="en-US" altLang="zh-CN" dirty="0">
                <a:ea typeface="宋体" panose="02010600030101010101" pitchFamily="2" charset="-122"/>
              </a:rPr>
              <a:t>At B, P &gt; P</a:t>
            </a:r>
            <a:r>
              <a:rPr lang="en-US" altLang="zh-CN" baseline="-25000" dirty="0">
                <a:ea typeface="宋体" panose="02010600030101010101" pitchFamily="2" charset="-122"/>
              </a:rPr>
              <a:t>E</a:t>
            </a:r>
            <a:r>
              <a:rPr lang="en-US" altLang="zh-CN" dirty="0">
                <a:ea typeface="宋体" panose="02010600030101010101" pitchFamily="2" charset="-122"/>
              </a:rPr>
              <a:t>.  Over time, P</a:t>
            </a:r>
            <a:r>
              <a:rPr lang="en-US" altLang="zh-CN" baseline="-25000" dirty="0">
                <a:ea typeface="宋体" panose="02010600030101010101" pitchFamily="2" charset="-122"/>
              </a:rPr>
              <a:t>E</a:t>
            </a:r>
            <a:r>
              <a:rPr lang="en-US" altLang="zh-CN" dirty="0">
                <a:ea typeface="宋体" panose="02010600030101010101" pitchFamily="2" charset="-122"/>
              </a:rPr>
              <a:t> rises, wages rise, and sticky prices become flexible and rise.  The SRAS curve moves leftward.  </a:t>
            </a:r>
          </a:p>
          <a:p>
            <a:endParaRPr lang="en-US" altLang="zh-CN" dirty="0">
              <a:ea typeface="宋体" panose="02010600030101010101" pitchFamily="2" charset="-122"/>
            </a:endParaRPr>
          </a:p>
          <a:p>
            <a:r>
              <a:rPr lang="en-US" altLang="zh-CN" dirty="0">
                <a:ea typeface="宋体" panose="02010600030101010101" pitchFamily="2" charset="-122"/>
              </a:rPr>
              <a:t>This process continues until the economy arrives at point C, where GDP and unemployment are back at their natural rates and expectations about P have caught up to reality.</a:t>
            </a:r>
          </a:p>
        </p:txBody>
      </p:sp>
    </p:spTree>
    <p:extLst>
      <p:ext uri="{BB962C8B-B14F-4D97-AF65-F5344CB8AC3E}">
        <p14:creationId xmlns:p14="http://schemas.microsoft.com/office/powerpoint/2010/main" val="1929229832"/>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BAC05423-13AC-C786-0C00-450C1A158F6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ADFBB4F1-63C8-1247-8DF2-B93FB5B45203}" type="slidenum">
              <a:rPr lang="zh-CN" altLang="zh-CN" sz="1200">
                <a:ea typeface="宋体" panose="02010600030101010101" pitchFamily="2" charset="-122"/>
              </a:rPr>
              <a:pPr algn="r"/>
              <a:t>39</a:t>
            </a:fld>
            <a:endParaRPr lang="zh-CN" altLang="zh-CN" sz="1200">
              <a:ea typeface="宋体" panose="02010600030101010101" pitchFamily="2" charset="-122"/>
            </a:endParaRPr>
          </a:p>
        </p:txBody>
      </p:sp>
      <p:sp>
        <p:nvSpPr>
          <p:cNvPr id="90115" name="Rectangle 2">
            <a:extLst>
              <a:ext uri="{FF2B5EF4-FFF2-40B4-BE49-F238E27FC236}">
                <a16:creationId xmlns:a16="http://schemas.microsoft.com/office/drawing/2014/main" id="{31A0D506-3F21-0669-6558-36D1CABF64C2}"/>
              </a:ext>
            </a:extLst>
          </p:cNvPr>
          <p:cNvSpPr>
            <a:spLocks noGrp="1" noRot="1" noChangeAspect="1" noChangeArrowheads="1" noTextEdit="1"/>
          </p:cNvSpPr>
          <p:nvPr>
            <p:ph type="sldImg"/>
          </p:nvPr>
        </p:nvSpPr>
        <p:spPr>
          <a:xfrm>
            <a:off x="1146175" y="534988"/>
            <a:ext cx="4568825" cy="3429000"/>
          </a:xfrm>
        </p:spPr>
      </p:sp>
      <p:sp>
        <p:nvSpPr>
          <p:cNvPr id="90116" name="Rectangle 3">
            <a:extLst>
              <a:ext uri="{FF2B5EF4-FFF2-40B4-BE49-F238E27FC236}">
                <a16:creationId xmlns:a16="http://schemas.microsoft.com/office/drawing/2014/main" id="{0CEDEB39-CFB3-2BA9-563A-10E78ECA87F1}"/>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油价上涨也可能影响</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LRAS</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为了简单起见，并与教科书一致，我们假设它只影响</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zh-CN" dirty="0">
                <a:ea typeface="宋体" panose="02010600030101010101" pitchFamily="2" charset="-122"/>
              </a:rPr>
              <a:t>An increase in oil prices might also affect LRAS.  For simplicity, and to be consistent with the textbook, we assume it only affects the SRAS curve.  </a:t>
            </a:r>
          </a:p>
          <a:p>
            <a:endParaRPr lang="zh-CN" altLang="zh-CN" dirty="0">
              <a:ea typeface="宋体" panose="02010600030101010101" pitchFamily="2" charset="-122"/>
            </a:endParaRPr>
          </a:p>
          <a:p>
            <a:endParaRPr lang="zh-CN" altLang="zh-CN" dirty="0">
              <a:ea typeface="宋体" panose="02010600030101010101" pitchFamily="2" charset="-122"/>
            </a:endParaRPr>
          </a:p>
        </p:txBody>
      </p:sp>
    </p:spTree>
    <p:extLst>
      <p:ext uri="{BB962C8B-B14F-4D97-AF65-F5344CB8AC3E}">
        <p14:creationId xmlns:p14="http://schemas.microsoft.com/office/powerpoint/2010/main" val="2223247038"/>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第四步考虑从短期均衡转向长期均衡。根据粘性工资理论，关键问题时滞胀如何影响名义工资。</a:t>
            </a:r>
            <a:endParaRPr kumimoji="1" lang="en-US" altLang="zh-CN" dirty="0"/>
          </a:p>
          <a:p>
            <a:r>
              <a:rPr kumimoji="1" lang="zh-CN" altLang="en-US" dirty="0"/>
              <a:t>企业和工人最初对高物价水平的反应是提高对物价水平的预期，并确定更高的名义工资，但这种情况下，企业成本还会进一步上升，而且短期总供给曲线还会进一步向左移动，使滞胀问题加剧。</a:t>
            </a:r>
            <a:endParaRPr kumimoji="1" lang="en-US" altLang="zh-CN" dirty="0"/>
          </a:p>
          <a:p>
            <a:r>
              <a:rPr kumimoji="1" lang="zh-CN" altLang="en-US" dirty="0"/>
              <a:t>物价上升引起工资上升，更高的工资又引起更高的物价，这一现象也称为工资</a:t>
            </a:r>
            <a:r>
              <a:rPr kumimoji="1" lang="en-US" altLang="zh-CN" dirty="0"/>
              <a:t>——</a:t>
            </a:r>
            <a:r>
              <a:rPr kumimoji="1" lang="zh-CN" altLang="en-US" dirty="0"/>
              <a:t>物价螺旋式上升。</a:t>
            </a:r>
            <a:endParaRPr kumimoji="1" lang="en-US" altLang="zh-CN" dirty="0"/>
          </a:p>
          <a:p>
            <a:r>
              <a:rPr kumimoji="1" lang="zh-CN" altLang="en-US" dirty="0"/>
              <a:t>在某一点时，这种工资物价螺旋式上升会放慢。低产量与低就业水平将压低工人的工资，因为当失业率较高的时候工人的议价能力下降了。</a:t>
            </a:r>
            <a:endParaRPr kumimoji="1" lang="en-US" altLang="zh-CN" dirty="0"/>
          </a:p>
          <a:p>
            <a:r>
              <a:rPr kumimoji="1" lang="zh-CN" altLang="en-US" dirty="0"/>
              <a:t>当名义工资下降时，生产物品和服务变得有利可图了，短期总供给曲线向右移动。</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40</a:t>
            </a:fld>
            <a:endParaRPr kumimoji="1" lang="zh-CN" altLang="en-US"/>
          </a:p>
        </p:txBody>
      </p:sp>
    </p:spTree>
    <p:extLst>
      <p:ext uri="{BB962C8B-B14F-4D97-AF65-F5344CB8AC3E}">
        <p14:creationId xmlns:p14="http://schemas.microsoft.com/office/powerpoint/2010/main" val="5735154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抵消性政策为了维持较高的产量和就业水平而接受了持久的高物价水平。</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41</a:t>
            </a:fld>
            <a:endParaRPr kumimoji="1" lang="zh-CN" altLang="en-US"/>
          </a:p>
        </p:txBody>
      </p:sp>
    </p:spTree>
    <p:extLst>
      <p:ext uri="{BB962C8B-B14F-4D97-AF65-F5344CB8AC3E}">
        <p14:creationId xmlns:p14="http://schemas.microsoft.com/office/powerpoint/2010/main" val="16716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BF10AE53-CFEA-8CE4-EAE4-64D9D914BF5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657CCA0D-E272-1848-980D-5106D6AD488D}" type="slidenum">
              <a:rPr lang="zh-CN" altLang="zh-CN" sz="1200">
                <a:ea typeface="宋体" panose="02010600030101010101" pitchFamily="2" charset="-122"/>
              </a:rPr>
              <a:pPr algn="r"/>
              <a:t>43</a:t>
            </a:fld>
            <a:endParaRPr lang="zh-CN" altLang="zh-CN" sz="1200">
              <a:ea typeface="宋体" panose="02010600030101010101" pitchFamily="2" charset="-122"/>
            </a:endParaRPr>
          </a:p>
        </p:txBody>
      </p:sp>
      <p:sp>
        <p:nvSpPr>
          <p:cNvPr id="93187" name="Rectangle 2">
            <a:extLst>
              <a:ext uri="{FF2B5EF4-FFF2-40B4-BE49-F238E27FC236}">
                <a16:creationId xmlns:a16="http://schemas.microsoft.com/office/drawing/2014/main" id="{398D59F1-1E59-40F5-7DB1-B4418E07A089}"/>
              </a:ext>
            </a:extLst>
          </p:cNvPr>
          <p:cNvSpPr>
            <a:spLocks noGrp="1" noRot="1" noChangeAspect="1" noChangeArrowheads="1" noTextEdit="1"/>
          </p:cNvSpPr>
          <p:nvPr>
            <p:ph type="sldImg"/>
          </p:nvPr>
        </p:nvSpPr>
        <p:spPr>
          <a:xfrm>
            <a:off x="1146175" y="534988"/>
            <a:ext cx="4568825" cy="3429000"/>
          </a:xfrm>
        </p:spPr>
      </p:sp>
      <p:sp>
        <p:nvSpPr>
          <p:cNvPr id="93188" name="Rectangle 3">
            <a:extLst>
              <a:ext uri="{FF2B5EF4-FFF2-40B4-BE49-F238E27FC236}">
                <a16:creationId xmlns:a16="http://schemas.microsoft.com/office/drawing/2014/main" id="{ECE4144E-5A70-25F9-4820-76E3A7826DC1}"/>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第一次石油危机发生在</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1973</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1975</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石油价格在短短两年内翻了一番多，导致</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向左倾斜。正如我们的模型所预测的那样，价格水平上升，</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下降，失业率上升。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从</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1975</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年到</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1978</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年，石油价格的涨幅低于通货膨胀率，失业人数减少了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170</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万，实际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增长了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16%</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。经济在自我修正。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但就在情况好转的时候，第二次石油危机来了。石油价格翻了一番，部分原因是</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年伊朗的革命。同样，正如我们的模型所预测的那样，</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向左移动，通货膨胀上升，失业率上升。该表显示，在此期间，实际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增长了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2.9%——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但请记住，这不是年度增长率，而是整个时期的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2.9%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，这大大低于每年</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3%</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的长期平均增长率。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数据来源</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en" altLang="zh-CN" b="0" i="0" u="none" strike="noStrike" dirty="0">
                <a:solidFill>
                  <a:srgbClr val="101214"/>
                </a:solidFill>
                <a:effectLst/>
                <a:latin typeface="PingFang SC" panose="020B0400000000000000" pitchFamily="34" charset="-122"/>
                <a:ea typeface="PingFang SC" panose="020B0400000000000000" pitchFamily="34" charset="-122"/>
              </a:rPr>
              <a:t>CPI</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和失业率</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劳工统计局，</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http://</a:t>
            </a:r>
            <a:r>
              <a:rPr lang="en" altLang="zh-CN" b="0" i="0" u="none" strike="noStrike" dirty="0" err="1">
                <a:solidFill>
                  <a:srgbClr val="101214"/>
                </a:solidFill>
                <a:effectLst/>
                <a:latin typeface="PingFang SC" panose="020B0400000000000000" pitchFamily="34" charset="-122"/>
                <a:ea typeface="PingFang SC" panose="020B0400000000000000" pitchFamily="34" charset="-122"/>
              </a:rPr>
              <a:t>www.bls.gov</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和石油价格</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FRED</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数据库，圣路易斯联邦储备银行，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http://</a:t>
            </a:r>
            <a:r>
              <a:rPr lang="en" altLang="zh-CN" b="0" i="0" u="none" strike="noStrike" dirty="0" err="1">
                <a:solidFill>
                  <a:srgbClr val="101214"/>
                </a:solidFill>
                <a:effectLst/>
                <a:latin typeface="PingFang SC" panose="020B0400000000000000" pitchFamily="34" charset="-122"/>
                <a:ea typeface="PingFang SC" panose="020B0400000000000000" pitchFamily="34" charset="-122"/>
              </a:rPr>
              <a:t>research.stlouisfed.org</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/fred2/</a:t>
            </a:r>
          </a:p>
          <a:p>
            <a:endParaRPr lang="en-US" altLang="zh-CN" dirty="0">
              <a:ea typeface="宋体" panose="02010600030101010101" pitchFamily="2" charset="-122"/>
            </a:endParaRPr>
          </a:p>
          <a:p>
            <a:r>
              <a:rPr lang="en-US" altLang="zh-CN" dirty="0">
                <a:ea typeface="宋体" panose="02010600030101010101" pitchFamily="2" charset="-122"/>
              </a:rPr>
              <a:t>The first oil shock:  1973-75</a:t>
            </a:r>
          </a:p>
          <a:p>
            <a:r>
              <a:rPr lang="en-US" altLang="zh-CN" dirty="0">
                <a:ea typeface="宋体" panose="02010600030101010101" pitchFamily="2" charset="-122"/>
              </a:rPr>
              <a:t>Oil prices more than doubled in just two years, causing SRAS to shift leftward.  As our model predicts, the price level rose, GDP fell, and unemployment rose.  </a:t>
            </a:r>
          </a:p>
          <a:p>
            <a:endParaRPr lang="en-US" altLang="zh-CN" dirty="0">
              <a:ea typeface="宋体" panose="02010600030101010101" pitchFamily="2" charset="-122"/>
            </a:endParaRPr>
          </a:p>
          <a:p>
            <a:r>
              <a:rPr lang="en-US" altLang="zh-CN" dirty="0">
                <a:ea typeface="宋体" panose="02010600030101010101" pitchFamily="2" charset="-122"/>
              </a:rPr>
              <a:t>From 1975 to 1978, oil prices rose at less than the rate of inflation, the number of unemployed persons fell by 1.7 million, and real GDP grew by 16%.  The economy was self-correcting.  </a:t>
            </a:r>
          </a:p>
          <a:p>
            <a:endParaRPr lang="en-US" altLang="zh-CN" dirty="0">
              <a:ea typeface="宋体" panose="02010600030101010101" pitchFamily="2" charset="-122"/>
            </a:endParaRPr>
          </a:p>
          <a:p>
            <a:r>
              <a:rPr lang="en-US" altLang="zh-CN" dirty="0">
                <a:ea typeface="宋体" panose="02010600030101010101" pitchFamily="2" charset="-122"/>
              </a:rPr>
              <a:t>But just when things were getting better, the second oil shock hit.  Oil prices doubled, due in part to a revolution in Iran in 1979.  Again, as our model predicts, SRAS shifted left, inflation rose, and unemployment increased.  The table shows that real GDP rose 2.9% during this period – but remember, this is not an annual rate, it is 2.9% for the entire period, which is substantially below the long-run average growth rate of about 3% per year.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CPI and unemployment:  Bureau of Labor Statistics, http://</a:t>
            </a:r>
            <a:r>
              <a:rPr lang="en-US" altLang="zh-CN" dirty="0" err="1">
                <a:ea typeface="宋体" panose="02010600030101010101" pitchFamily="2" charset="-122"/>
              </a:rPr>
              <a:t>www.bls.gov</a:t>
            </a:r>
            <a:endParaRPr lang="en-US" altLang="zh-CN" dirty="0">
              <a:ea typeface="宋体" panose="02010600030101010101" pitchFamily="2" charset="-122"/>
            </a:endParaRPr>
          </a:p>
          <a:p>
            <a:endParaRPr lang="en-US" altLang="zh-CN" dirty="0">
              <a:ea typeface="宋体" panose="02010600030101010101" pitchFamily="2" charset="-122"/>
            </a:endParaRPr>
          </a:p>
          <a:p>
            <a:r>
              <a:rPr lang="en-US" altLang="zh-CN" dirty="0">
                <a:ea typeface="宋体" panose="02010600030101010101" pitchFamily="2" charset="-122"/>
              </a:rPr>
              <a:t>GDP and oil prices:  FRED database, Federal Reserve Bank of St Louis, http://</a:t>
            </a:r>
            <a:r>
              <a:rPr lang="en-US" altLang="zh-CN" dirty="0" err="1">
                <a:ea typeface="宋体" panose="02010600030101010101" pitchFamily="2" charset="-122"/>
              </a:rPr>
              <a:t>research.stlouisfed.org</a:t>
            </a:r>
            <a:r>
              <a:rPr lang="en-US" altLang="zh-CN" dirty="0">
                <a:ea typeface="宋体" panose="02010600030101010101" pitchFamily="2" charset="-122"/>
              </a:rPr>
              <a:t>/fred2/</a:t>
            </a:r>
          </a:p>
        </p:txBody>
      </p:sp>
    </p:spTree>
    <p:extLst>
      <p:ext uri="{BB962C8B-B14F-4D97-AF65-F5344CB8AC3E}">
        <p14:creationId xmlns:p14="http://schemas.microsoft.com/office/powerpoint/2010/main" val="1597556773"/>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F8CA9034-544B-804F-E291-2F97A4CCC56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75599B4-CA13-F74D-AC0C-D8E60EDF516C}" type="slidenum">
              <a:rPr lang="zh-CN" altLang="zh-CN" sz="1200">
                <a:ea typeface="宋体" panose="02010600030101010101" pitchFamily="2" charset="-122"/>
              </a:rPr>
              <a:pPr algn="r"/>
              <a:t>45</a:t>
            </a:fld>
            <a:endParaRPr lang="zh-CN" altLang="zh-CN" sz="1200">
              <a:ea typeface="宋体" panose="02010600030101010101" pitchFamily="2" charset="-122"/>
            </a:endParaRPr>
          </a:p>
        </p:txBody>
      </p:sp>
      <p:sp>
        <p:nvSpPr>
          <p:cNvPr id="95235" name="Rectangle 2">
            <a:extLst>
              <a:ext uri="{FF2B5EF4-FFF2-40B4-BE49-F238E27FC236}">
                <a16:creationId xmlns:a16="http://schemas.microsoft.com/office/drawing/2014/main" id="{8083E316-435B-3DC1-F084-172B4E02F500}"/>
              </a:ext>
            </a:extLst>
          </p:cNvPr>
          <p:cNvSpPr>
            <a:spLocks noGrp="1" noRot="1" noChangeAspect="1" noChangeArrowheads="1" noTextEdit="1"/>
          </p:cNvSpPr>
          <p:nvPr>
            <p:ph type="sldImg"/>
          </p:nvPr>
        </p:nvSpPr>
        <p:spPr>
          <a:xfrm>
            <a:off x="1146175" y="534988"/>
            <a:ext cx="4568825" cy="3429000"/>
          </a:xfrm>
        </p:spPr>
      </p:sp>
      <p:sp>
        <p:nvSpPr>
          <p:cNvPr id="95236" name="Rectangle 3">
            <a:extLst>
              <a:ext uri="{FF2B5EF4-FFF2-40B4-BE49-F238E27FC236}">
                <a16:creationId xmlns:a16="http://schemas.microsoft.com/office/drawing/2014/main" id="{2EADF0E5-AC5E-D486-11B3-52FDDABA1A55}"/>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本章和下一章的大部分理论都起源于凯恩斯的著作。这张幻灯片再现了他对古典宏观经济学长期焦点的著名批判。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在某种程度上，如果你觉得这个</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ppt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文件太长，这张幻灯片可以剪掉。学生们可以很容易地在本章末尾教科书上的参考框中自己阅读有关凯恩斯的内容。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另一方面，在课堂上展示这一点可以让学生从他们坐下来的所有理论中得到很好的休息。学生们可能不会自己阅读供参考的方框。</a:t>
            </a:r>
          </a:p>
          <a:p>
            <a:endParaRPr lang="en-US" altLang="zh-CN" dirty="0">
              <a:ea typeface="宋体" panose="02010600030101010101" pitchFamily="2" charset="-122"/>
            </a:endParaRPr>
          </a:p>
          <a:p>
            <a:r>
              <a:rPr lang="en-US" altLang="zh-CN" dirty="0">
                <a:ea typeface="宋体" panose="02010600030101010101" pitchFamily="2" charset="-122"/>
              </a:rPr>
              <a:t>Much of the theory in this chapter and the one that follows originates in the work of Keynes.  This slide reproduces his famous critique of the long-run focus of classical macroeconomics.  </a:t>
            </a:r>
          </a:p>
          <a:p>
            <a:endParaRPr lang="en-US" altLang="zh-CN" dirty="0">
              <a:ea typeface="宋体" panose="02010600030101010101" pitchFamily="2" charset="-122"/>
            </a:endParaRPr>
          </a:p>
          <a:p>
            <a:r>
              <a:rPr lang="en-US" altLang="zh-CN" dirty="0">
                <a:ea typeface="宋体" panose="02010600030101010101" pitchFamily="2" charset="-122"/>
              </a:rPr>
              <a:t>In one way, this slide is a good candidate for cutting if you think this PowerPoint file is too long.  Students can easily read about Keynes on their own in the FYI box that appears in the textbook at the end of this chapter.  </a:t>
            </a:r>
          </a:p>
          <a:p>
            <a:endParaRPr lang="en-US" altLang="zh-CN" dirty="0">
              <a:ea typeface="宋体" panose="02010600030101010101" pitchFamily="2" charset="-122"/>
            </a:endParaRPr>
          </a:p>
          <a:p>
            <a:r>
              <a:rPr lang="en-US" altLang="zh-CN" dirty="0">
                <a:ea typeface="宋体" panose="02010600030101010101" pitchFamily="2" charset="-122"/>
              </a:rPr>
              <a:t>On the other hand, showing this in class gives students a nice break from all the theory they have sat through.  And students may not read the FYI box on their own.  </a:t>
            </a:r>
          </a:p>
        </p:txBody>
      </p:sp>
    </p:spTree>
    <p:extLst>
      <p:ext uri="{BB962C8B-B14F-4D97-AF65-F5344CB8AC3E}">
        <p14:creationId xmlns:p14="http://schemas.microsoft.com/office/powerpoint/2010/main" val="2432366971"/>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4A9053-17A9-A5BD-A312-0DAAC66A1BA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7EF5401-D31C-C936-DC36-FEB66969F1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85946EC-02E1-1649-3963-BE56449E250B}"/>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CE35BF17-085E-CA07-887D-36CBB449A9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328AD7-3A69-B4D4-D4E6-AA505794FD27}"/>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2075928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626783-673E-31CB-7CF5-C8E99CF2691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15E5E69-6101-5725-13BE-059B232EA53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2B5D643-CE2F-9451-6DA7-ED0D1327AEFE}"/>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16A5D506-5014-3822-D357-AD3420E8B8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71E651-EFD9-D9DC-5E6A-A21F1569C048}"/>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2744032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B99BF-6487-7D91-803F-A3C70B27ACF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EE2CABC-C4DA-6D59-44FC-54036B49E5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C46A4AF-8A2E-9695-36CE-B675E921A460}"/>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B571A6F9-D9C5-FE52-EBB8-F0BC45C867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F98923A-F197-F47C-174B-4A9156D4925F}"/>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3186951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450AC1-BC06-5BDA-486A-002D0E01C48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59E7EA2-1AD2-0DC9-235A-739C9D25F83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3E35996-C798-6F06-A187-EDD59413B25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0762619-327A-FE7A-76DF-90A739D118EB}"/>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C1B47A37-6F06-4494-AFDC-24717D2B1FD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552A8A4-117E-5A2E-5029-3674CA964020}"/>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202775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4FF50-FFCF-2DE5-B534-E44F77F3A66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DD20FD-2C3F-F47B-EAED-BD145CFBF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50596A9-9FD4-04BB-C7A2-E42E6359397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8F94A51-4018-CE54-5AF3-DB5259C1A3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AC5FBF8-5032-4731-6558-C1A2D35A096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4CDA2F-8C6C-9026-D884-627326FAFA5A}"/>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8" name="页脚占位符 7">
            <a:extLst>
              <a:ext uri="{FF2B5EF4-FFF2-40B4-BE49-F238E27FC236}">
                <a16:creationId xmlns:a16="http://schemas.microsoft.com/office/drawing/2014/main" id="{8E02885D-BAEC-25D7-0BE5-861B0CC7BAB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CCF7E2E-A1C9-3881-7B40-48433F5EA1B1}"/>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2883126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EB02E-2644-08AE-7DC8-72319E0EE47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734B3D-3E9A-CEC4-D825-72F7BE245066}"/>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4" name="页脚占位符 3">
            <a:extLst>
              <a:ext uri="{FF2B5EF4-FFF2-40B4-BE49-F238E27FC236}">
                <a16:creationId xmlns:a16="http://schemas.microsoft.com/office/drawing/2014/main" id="{8734608F-DE3A-5C36-2BDE-C3D21E08308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57C638F-3E7E-4B1D-1FCA-A95167EE26A8}"/>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373113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FC4BF8-A7DF-B96A-21C8-980C149324CA}"/>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3" name="页脚占位符 2">
            <a:extLst>
              <a:ext uri="{FF2B5EF4-FFF2-40B4-BE49-F238E27FC236}">
                <a16:creationId xmlns:a16="http://schemas.microsoft.com/office/drawing/2014/main" id="{116C628E-6FED-A99B-5F7A-FD0F47095C3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460A8B1-1012-E54E-74F6-85F65E2AD215}"/>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32169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13C137-E718-03A7-313C-89F12363286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7D02B19-378B-58AF-2F35-0D6A101460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871A325-B855-9DBC-E04A-9A6B09845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21981E-BAF0-10C1-B33C-5432CB9761F1}"/>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EC06B660-9B1A-9EFF-3B8F-E3B59290E3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21AA28-DD6F-80F3-FD70-3CF24A6821F7}"/>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372995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5BE115-4637-E84B-09F0-892815925A0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E1F0FCA-7F95-0620-BFCD-5C0C6A382D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318216B-00AC-3306-5B71-267027728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535DF5A-1E6E-77DA-1904-D68E7665E96B}"/>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6" name="页脚占位符 5">
            <a:extLst>
              <a:ext uri="{FF2B5EF4-FFF2-40B4-BE49-F238E27FC236}">
                <a16:creationId xmlns:a16="http://schemas.microsoft.com/office/drawing/2014/main" id="{259C6275-2384-7907-CF48-6784FA7B6A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B141C6-6CB4-BC1A-7205-866BD6E0986E}"/>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1385688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E1D2D2-C4B0-50EA-2534-2DB26C9E667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E1E925B-E0A1-7662-EF0E-DF4C9DC405E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B107D98-77BB-C393-24CE-1D8D643DAB34}"/>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BAB71A6F-F218-2ABA-CF67-E5E85EF157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5DF654-7CD1-8BC4-B855-43C2BBAD8F1E}"/>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209566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B6480E-D58C-7986-DF88-454EB30077A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98BEF46-3241-4983-65B3-115E7065B7C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53D347-AF15-5BCD-9F9B-87072661FDA2}"/>
              </a:ext>
            </a:extLst>
          </p:cNvPr>
          <p:cNvSpPr>
            <a:spLocks noGrp="1"/>
          </p:cNvSpPr>
          <p:nvPr>
            <p:ph type="dt" sz="half" idx="10"/>
          </p:nvPr>
        </p:nvSpPr>
        <p:spPr/>
        <p:txBody>
          <a:bodyPr/>
          <a:lstStyle/>
          <a:p>
            <a:fld id="{C53C45EB-3A88-4AEB-B8E1-EF79130572B5}"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622263D9-D619-3552-2166-2B52EB4743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F47128-5EE6-37D7-FDA0-ECD3B57E6065}"/>
              </a:ext>
            </a:extLst>
          </p:cNvPr>
          <p:cNvSpPr>
            <a:spLocks noGrp="1"/>
          </p:cNvSpPr>
          <p:nvPr>
            <p:ph type="sldNum" sz="quarter" idx="12"/>
          </p:nvPr>
        </p:nvSpPr>
        <p:spPr/>
        <p:txBody>
          <a:body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3117121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1479550"/>
            <a:ext cx="12192000" cy="1470025"/>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6445251"/>
            <a:ext cx="12192000" cy="33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599"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2650065" y="130175"/>
            <a:ext cx="1625600" cy="990600"/>
          </a:xfrm>
        </p:spPr>
        <p:txBody>
          <a:bodyPr/>
          <a:lstStyle>
            <a:lvl1pPr marL="0" indent="0" algn="ctr">
              <a:buFont typeface="Wingdings" pitchFamily="2" charset="2"/>
              <a:buNone/>
              <a:defRPr sz="579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436033" y="301625"/>
            <a:ext cx="2611967" cy="430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219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896836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3109191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831853" y="1709739"/>
            <a:ext cx="10515599" cy="2852738"/>
          </a:xfrm>
        </p:spPr>
        <p:txBody>
          <a:bodyPr anchor="b"/>
          <a:lstStyle>
            <a:lvl1pPr>
              <a:defRPr sz="599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831853" y="4589464"/>
            <a:ext cx="10515599" cy="1500187"/>
          </a:xfrm>
        </p:spPr>
        <p:txBody>
          <a:bodyPr/>
          <a:lstStyle>
            <a:lvl1pPr marL="0" indent="0">
              <a:buNone/>
              <a:defRPr sz="2398"/>
            </a:lvl1pPr>
            <a:lvl2pPr marL="456821" indent="0">
              <a:buNone/>
              <a:defRPr sz="1998"/>
            </a:lvl2pPr>
            <a:lvl3pPr marL="913643" indent="0">
              <a:buNone/>
              <a:defRPr sz="1799"/>
            </a:lvl3pPr>
            <a:lvl4pPr marL="1370466" indent="0">
              <a:buNone/>
              <a:defRPr sz="1599"/>
            </a:lvl4pPr>
            <a:lvl5pPr marL="1827288" indent="0">
              <a:buNone/>
              <a:defRPr sz="1599"/>
            </a:lvl5pPr>
            <a:lvl6pPr marL="2284109" indent="0">
              <a:buNone/>
              <a:defRPr sz="1599"/>
            </a:lvl6pPr>
            <a:lvl7pPr marL="2740931" indent="0">
              <a:buNone/>
              <a:defRPr sz="1599"/>
            </a:lvl7pPr>
            <a:lvl8pPr marL="3197754" indent="0">
              <a:buNone/>
              <a:defRPr sz="1599"/>
            </a:lvl8pPr>
            <a:lvl9pPr marL="3654576" indent="0">
              <a:buNone/>
              <a:defRPr sz="1599"/>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895550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497419" y="1008063"/>
            <a:ext cx="5439833" cy="51181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6140452" y="1008063"/>
            <a:ext cx="5441949" cy="51181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9265270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840319" y="365125"/>
            <a:ext cx="10515599" cy="1325562"/>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840318" y="1681164"/>
            <a:ext cx="5158315" cy="823911"/>
          </a:xfrm>
        </p:spPr>
        <p:txBody>
          <a:bodyPr anchor="b"/>
          <a:lstStyle>
            <a:lvl1pPr marL="0" indent="0">
              <a:buNone/>
              <a:defRPr sz="2398" b="1"/>
            </a:lvl1pPr>
            <a:lvl2pPr marL="456821" indent="0">
              <a:buNone/>
              <a:defRPr sz="1998" b="1"/>
            </a:lvl2pPr>
            <a:lvl3pPr marL="913643" indent="0">
              <a:buNone/>
              <a:defRPr sz="1799" b="1"/>
            </a:lvl3pPr>
            <a:lvl4pPr marL="1370466" indent="0">
              <a:buNone/>
              <a:defRPr sz="1599" b="1"/>
            </a:lvl4pPr>
            <a:lvl5pPr marL="1827288" indent="0">
              <a:buNone/>
              <a:defRPr sz="1599" b="1"/>
            </a:lvl5pPr>
            <a:lvl6pPr marL="2284109" indent="0">
              <a:buNone/>
              <a:defRPr sz="1599" b="1"/>
            </a:lvl6pPr>
            <a:lvl7pPr marL="2740931" indent="0">
              <a:buNone/>
              <a:defRPr sz="1599" b="1"/>
            </a:lvl7pPr>
            <a:lvl8pPr marL="3197754" indent="0">
              <a:buNone/>
              <a:defRPr sz="1599" b="1"/>
            </a:lvl8pPr>
            <a:lvl9pPr marL="3654576" indent="0">
              <a:buNone/>
              <a:defRPr sz="1599"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840318" y="2505075"/>
            <a:ext cx="5158315" cy="36845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6172201" y="1681164"/>
            <a:ext cx="5183717" cy="823911"/>
          </a:xfrm>
        </p:spPr>
        <p:txBody>
          <a:bodyPr anchor="b"/>
          <a:lstStyle>
            <a:lvl1pPr marL="0" indent="0">
              <a:buNone/>
              <a:defRPr sz="2398" b="1"/>
            </a:lvl1pPr>
            <a:lvl2pPr marL="456821" indent="0">
              <a:buNone/>
              <a:defRPr sz="1998" b="1"/>
            </a:lvl2pPr>
            <a:lvl3pPr marL="913643" indent="0">
              <a:buNone/>
              <a:defRPr sz="1799" b="1"/>
            </a:lvl3pPr>
            <a:lvl4pPr marL="1370466" indent="0">
              <a:buNone/>
              <a:defRPr sz="1599" b="1"/>
            </a:lvl4pPr>
            <a:lvl5pPr marL="1827288" indent="0">
              <a:buNone/>
              <a:defRPr sz="1599" b="1"/>
            </a:lvl5pPr>
            <a:lvl6pPr marL="2284109" indent="0">
              <a:buNone/>
              <a:defRPr sz="1599" b="1"/>
            </a:lvl6pPr>
            <a:lvl7pPr marL="2740931" indent="0">
              <a:buNone/>
              <a:defRPr sz="1599" b="1"/>
            </a:lvl7pPr>
            <a:lvl8pPr marL="3197754" indent="0">
              <a:buNone/>
              <a:defRPr sz="1599" b="1"/>
            </a:lvl8pPr>
            <a:lvl9pPr marL="3654576" indent="0">
              <a:buNone/>
              <a:defRPr sz="1599"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6172201" y="2505075"/>
            <a:ext cx="5183717" cy="36845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1097967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2952010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41528394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840318" y="457201"/>
            <a:ext cx="3932766" cy="1600199"/>
          </a:xfrm>
        </p:spPr>
        <p:txBody>
          <a:bodyPr anchor="b"/>
          <a:lstStyle>
            <a:lvl1pPr>
              <a:defRPr sz="3196"/>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5183718" y="987425"/>
            <a:ext cx="6172200" cy="4873626"/>
          </a:xfrm>
        </p:spPr>
        <p:txBody>
          <a:bodyPr/>
          <a:lstStyle>
            <a:lvl1pPr>
              <a:defRPr sz="3196"/>
            </a:lvl1pPr>
            <a:lvl2pPr>
              <a:defRPr sz="2798"/>
            </a:lvl2pPr>
            <a:lvl3pPr>
              <a:defRPr sz="2398"/>
            </a:lvl3pPr>
            <a:lvl4pPr>
              <a:defRPr sz="1998"/>
            </a:lvl4pPr>
            <a:lvl5pPr>
              <a:defRPr sz="1998"/>
            </a:lvl5pPr>
            <a:lvl6pPr>
              <a:defRPr sz="1998"/>
            </a:lvl6pPr>
            <a:lvl7pPr>
              <a:defRPr sz="1998"/>
            </a:lvl7pPr>
            <a:lvl8pPr>
              <a:defRPr sz="1998"/>
            </a:lvl8pPr>
            <a:lvl9pPr>
              <a:defRPr sz="199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840318" y="2057400"/>
            <a:ext cx="3932766" cy="3811588"/>
          </a:xfrm>
        </p:spPr>
        <p:txBody>
          <a:bodyPr/>
          <a:lstStyle>
            <a:lvl1pPr marL="0" indent="0">
              <a:buNone/>
              <a:defRPr sz="1599"/>
            </a:lvl1pPr>
            <a:lvl2pPr marL="456821" indent="0">
              <a:buNone/>
              <a:defRPr sz="1399"/>
            </a:lvl2pPr>
            <a:lvl3pPr marL="913643" indent="0">
              <a:buNone/>
              <a:defRPr sz="1199"/>
            </a:lvl3pPr>
            <a:lvl4pPr marL="1370466" indent="0">
              <a:buNone/>
              <a:defRPr sz="999"/>
            </a:lvl4pPr>
            <a:lvl5pPr marL="1827288" indent="0">
              <a:buNone/>
              <a:defRPr sz="999"/>
            </a:lvl5pPr>
            <a:lvl6pPr marL="2284109" indent="0">
              <a:buNone/>
              <a:defRPr sz="999"/>
            </a:lvl6pPr>
            <a:lvl7pPr marL="2740931" indent="0">
              <a:buNone/>
              <a:defRPr sz="999"/>
            </a:lvl7pPr>
            <a:lvl8pPr marL="3197754" indent="0">
              <a:buNone/>
              <a:defRPr sz="999"/>
            </a:lvl8pPr>
            <a:lvl9pPr marL="3654576" indent="0">
              <a:buNone/>
              <a:defRPr sz="999"/>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20068156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840318" y="457201"/>
            <a:ext cx="3932766" cy="1600199"/>
          </a:xfrm>
        </p:spPr>
        <p:txBody>
          <a:bodyPr anchor="b"/>
          <a:lstStyle>
            <a:lvl1pPr>
              <a:defRPr sz="3196"/>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5183718" y="987425"/>
            <a:ext cx="6172200" cy="4873626"/>
          </a:xfrm>
        </p:spPr>
        <p:txBody>
          <a:bodyPr/>
          <a:lstStyle>
            <a:lvl1pPr marL="0" indent="0">
              <a:buNone/>
              <a:defRPr sz="3196"/>
            </a:lvl1pPr>
            <a:lvl2pPr marL="456821" indent="0">
              <a:buNone/>
              <a:defRPr sz="2798"/>
            </a:lvl2pPr>
            <a:lvl3pPr marL="913643" indent="0">
              <a:buNone/>
              <a:defRPr sz="2398"/>
            </a:lvl3pPr>
            <a:lvl4pPr marL="1370466" indent="0">
              <a:buNone/>
              <a:defRPr sz="1998"/>
            </a:lvl4pPr>
            <a:lvl5pPr marL="1827288" indent="0">
              <a:buNone/>
              <a:defRPr sz="1998"/>
            </a:lvl5pPr>
            <a:lvl6pPr marL="2284109" indent="0">
              <a:buNone/>
              <a:defRPr sz="1998"/>
            </a:lvl6pPr>
            <a:lvl7pPr marL="2740931" indent="0">
              <a:buNone/>
              <a:defRPr sz="1998"/>
            </a:lvl7pPr>
            <a:lvl8pPr marL="3197754" indent="0">
              <a:buNone/>
              <a:defRPr sz="1998"/>
            </a:lvl8pPr>
            <a:lvl9pPr marL="3654576" indent="0">
              <a:buNone/>
              <a:defRPr sz="199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840318" y="2057400"/>
            <a:ext cx="3932766" cy="3811588"/>
          </a:xfrm>
        </p:spPr>
        <p:txBody>
          <a:bodyPr/>
          <a:lstStyle>
            <a:lvl1pPr marL="0" indent="0">
              <a:buNone/>
              <a:defRPr sz="1599"/>
            </a:lvl1pPr>
            <a:lvl2pPr marL="456821" indent="0">
              <a:buNone/>
              <a:defRPr sz="1399"/>
            </a:lvl2pPr>
            <a:lvl3pPr marL="913643" indent="0">
              <a:buNone/>
              <a:defRPr sz="1199"/>
            </a:lvl3pPr>
            <a:lvl4pPr marL="1370466" indent="0">
              <a:buNone/>
              <a:defRPr sz="999"/>
            </a:lvl4pPr>
            <a:lvl5pPr marL="1827288" indent="0">
              <a:buNone/>
              <a:defRPr sz="999"/>
            </a:lvl5pPr>
            <a:lvl6pPr marL="2284109" indent="0">
              <a:buNone/>
              <a:defRPr sz="999"/>
            </a:lvl6pPr>
            <a:lvl7pPr marL="2740931" indent="0">
              <a:buNone/>
              <a:defRPr sz="999"/>
            </a:lvl7pPr>
            <a:lvl8pPr marL="3197754" indent="0">
              <a:buNone/>
              <a:defRPr sz="999"/>
            </a:lvl8pPr>
            <a:lvl9pPr marL="3654576" indent="0">
              <a:buNone/>
              <a:defRPr sz="999"/>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9589262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6415836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8868833" y="252413"/>
            <a:ext cx="2802467" cy="5873749"/>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457201" y="252413"/>
            <a:ext cx="8208434" cy="587374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884658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107B08D-5E03-EF06-7E05-F2ABD67DB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B345B7A-E243-625D-2165-EC3B52720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841F158-DE2E-5501-F738-C656F1567F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3C45EB-3A88-4AEB-B8E1-EF79130572B5}" type="datetimeFigureOut">
              <a:rPr lang="zh-CN" altLang="en-US" smtClean="0"/>
              <a:t>2026/6/9</a:t>
            </a:fld>
            <a:endParaRPr lang="zh-CN" altLang="en-US"/>
          </a:p>
        </p:txBody>
      </p:sp>
      <p:sp>
        <p:nvSpPr>
          <p:cNvPr id="5" name="页脚占位符 4">
            <a:extLst>
              <a:ext uri="{FF2B5EF4-FFF2-40B4-BE49-F238E27FC236}">
                <a16:creationId xmlns:a16="http://schemas.microsoft.com/office/drawing/2014/main" id="{416D2E2D-97C3-CF8C-EEB2-152BF7EE55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1A046EB-1DEE-E64E-7532-3E81AF50A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D36182-847C-4868-B06C-78E411DD4A79}" type="slidenum">
              <a:rPr lang="zh-CN" altLang="en-US" smtClean="0"/>
              <a:t>‹#›</a:t>
            </a:fld>
            <a:endParaRPr lang="zh-CN" altLang="en-US"/>
          </a:p>
        </p:txBody>
      </p:sp>
    </p:spTree>
    <p:extLst>
      <p:ext uri="{BB962C8B-B14F-4D97-AF65-F5344CB8AC3E}">
        <p14:creationId xmlns:p14="http://schemas.microsoft.com/office/powerpoint/2010/main" val="1541891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457201" y="252416"/>
            <a:ext cx="11214101" cy="681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497419" y="1008063"/>
            <a:ext cx="11084982" cy="511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381002" y="6392863"/>
            <a:ext cx="978111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1784" i="1">
                <a:solidFill>
                  <a:srgbClr val="777777"/>
                </a:solidFill>
                <a:ea typeface="宋体" panose="02010600030101010101" pitchFamily="2" charset="-122"/>
              </a:defRPr>
            </a:lvl1pPr>
          </a:lstStyle>
          <a:p>
            <a:r>
              <a:rPr lang="en-US" altLang="zh-CN" dirty="0"/>
              <a:t>IS-LM</a:t>
            </a:r>
            <a:r>
              <a:rPr lang="zh-CN" altLang="en-US" dirty="0"/>
              <a:t>模型</a:t>
            </a:r>
            <a:endParaRPr lang="zh-CN" altLang="zh-CN" dirty="0"/>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11070169" y="6375401"/>
            <a:ext cx="91228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698">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4212172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3797"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3797" b="1">
          <a:solidFill>
            <a:srgbClr val="333399"/>
          </a:solidFill>
          <a:latin typeface="Book Antiqua" panose="02040602050305030304" pitchFamily="18" charset="0"/>
        </a:defRPr>
      </a:lvl2pPr>
      <a:lvl3pPr algn="ctr" rtl="0" fontAlgn="base">
        <a:spcBef>
          <a:spcPct val="0"/>
        </a:spcBef>
        <a:spcAft>
          <a:spcPct val="0"/>
        </a:spcAft>
        <a:defRPr sz="3797" b="1">
          <a:solidFill>
            <a:srgbClr val="333399"/>
          </a:solidFill>
          <a:latin typeface="Book Antiqua" panose="02040602050305030304" pitchFamily="18" charset="0"/>
        </a:defRPr>
      </a:lvl3pPr>
      <a:lvl4pPr algn="ctr" rtl="0" fontAlgn="base">
        <a:spcBef>
          <a:spcPct val="0"/>
        </a:spcBef>
        <a:spcAft>
          <a:spcPct val="0"/>
        </a:spcAft>
        <a:defRPr sz="3797" b="1">
          <a:solidFill>
            <a:srgbClr val="333399"/>
          </a:solidFill>
          <a:latin typeface="Book Antiqua" panose="02040602050305030304" pitchFamily="18" charset="0"/>
        </a:defRPr>
      </a:lvl4pPr>
      <a:lvl5pPr algn="ctr" rtl="0" fontAlgn="base">
        <a:spcBef>
          <a:spcPct val="0"/>
        </a:spcBef>
        <a:spcAft>
          <a:spcPct val="0"/>
        </a:spcAft>
        <a:defRPr sz="3797" b="1">
          <a:solidFill>
            <a:srgbClr val="333399"/>
          </a:solidFill>
          <a:latin typeface="Book Antiqua" panose="02040602050305030304" pitchFamily="18" charset="0"/>
        </a:defRPr>
      </a:lvl5pPr>
      <a:lvl6pPr marL="456821" algn="ctr" rtl="0" fontAlgn="base">
        <a:spcBef>
          <a:spcPct val="0"/>
        </a:spcBef>
        <a:spcAft>
          <a:spcPct val="0"/>
        </a:spcAft>
        <a:defRPr sz="3797" b="1">
          <a:solidFill>
            <a:srgbClr val="333399"/>
          </a:solidFill>
          <a:latin typeface="Book Antiqua" panose="02040602050305030304" pitchFamily="18" charset="0"/>
        </a:defRPr>
      </a:lvl6pPr>
      <a:lvl7pPr marL="913643" algn="ctr" rtl="0" fontAlgn="base">
        <a:spcBef>
          <a:spcPct val="0"/>
        </a:spcBef>
        <a:spcAft>
          <a:spcPct val="0"/>
        </a:spcAft>
        <a:defRPr sz="3797" b="1">
          <a:solidFill>
            <a:srgbClr val="333399"/>
          </a:solidFill>
          <a:latin typeface="Book Antiqua" panose="02040602050305030304" pitchFamily="18" charset="0"/>
        </a:defRPr>
      </a:lvl7pPr>
      <a:lvl8pPr marL="1370466" algn="ctr" rtl="0" fontAlgn="base">
        <a:spcBef>
          <a:spcPct val="0"/>
        </a:spcBef>
        <a:spcAft>
          <a:spcPct val="0"/>
        </a:spcAft>
        <a:defRPr sz="3797" b="1">
          <a:solidFill>
            <a:srgbClr val="333399"/>
          </a:solidFill>
          <a:latin typeface="Book Antiqua" panose="02040602050305030304" pitchFamily="18" charset="0"/>
        </a:defRPr>
      </a:lvl8pPr>
      <a:lvl9pPr marL="1827288" algn="ctr" rtl="0" fontAlgn="base">
        <a:spcBef>
          <a:spcPct val="0"/>
        </a:spcBef>
        <a:spcAft>
          <a:spcPct val="0"/>
        </a:spcAft>
        <a:defRPr sz="3797" b="1">
          <a:solidFill>
            <a:srgbClr val="333399"/>
          </a:solidFill>
          <a:latin typeface="Book Antiqua" panose="02040602050305030304" pitchFamily="18" charset="0"/>
        </a:defRPr>
      </a:lvl9pPr>
    </p:titleStyle>
    <p:bodyStyle>
      <a:lvl1pPr marL="342616" indent="-342616" algn="l" rtl="0" fontAlgn="base">
        <a:lnSpc>
          <a:spcPct val="105000"/>
        </a:lnSpc>
        <a:spcBef>
          <a:spcPct val="45000"/>
        </a:spcBef>
        <a:spcAft>
          <a:spcPct val="0"/>
        </a:spcAft>
        <a:buClr>
          <a:srgbClr val="339966"/>
        </a:buClr>
        <a:buSzPct val="120000"/>
        <a:buFont typeface="Wingdings" pitchFamily="2" charset="2"/>
        <a:buChar char="§"/>
        <a:defRPr sz="2798" kern="1200">
          <a:solidFill>
            <a:schemeClr val="tx1"/>
          </a:solidFill>
          <a:latin typeface="Garamond" panose="02020404030301010803" pitchFamily="18" charset="0"/>
          <a:ea typeface="SimSun" panose="02010600030101010101" pitchFamily="2" charset="-122"/>
          <a:cs typeface="+mn-cs"/>
        </a:defRPr>
      </a:lvl1pPr>
      <a:lvl2pPr marL="742335" indent="-285513" algn="l" rtl="0" fontAlgn="base">
        <a:spcBef>
          <a:spcPct val="15000"/>
        </a:spcBef>
        <a:spcAft>
          <a:spcPct val="0"/>
        </a:spcAft>
        <a:buClr>
          <a:srgbClr val="996633"/>
        </a:buClr>
        <a:buSzPct val="120000"/>
        <a:buFont typeface="Wingdings" pitchFamily="2" charset="2"/>
        <a:buChar char="§"/>
        <a:defRPr sz="2697" kern="1200">
          <a:solidFill>
            <a:schemeClr val="tx1"/>
          </a:solidFill>
          <a:latin typeface="Garamond" panose="02020404030301010803" pitchFamily="18" charset="0"/>
          <a:ea typeface="SimSun" panose="02010600030101010101" pitchFamily="2" charset="-122"/>
          <a:cs typeface="+mn-cs"/>
        </a:defRPr>
      </a:lvl2pPr>
      <a:lvl3pPr marL="1142056" indent="-228411" algn="l" rtl="0" fontAlgn="base">
        <a:spcBef>
          <a:spcPct val="15000"/>
        </a:spcBef>
        <a:spcAft>
          <a:spcPct val="0"/>
        </a:spcAft>
        <a:buClr>
          <a:srgbClr val="339966"/>
        </a:buClr>
        <a:buSzPct val="120000"/>
        <a:buFont typeface="Wingdings" pitchFamily="2" charset="2"/>
        <a:buChar char="§"/>
        <a:defRPr sz="2499" kern="1200">
          <a:solidFill>
            <a:schemeClr val="tx1"/>
          </a:solidFill>
          <a:latin typeface="Garamond" panose="02020404030301010803" pitchFamily="18" charset="0"/>
          <a:ea typeface="SimSun" panose="02010600030101010101" pitchFamily="2" charset="-122"/>
          <a:cs typeface="+mn-cs"/>
        </a:defRPr>
      </a:lvl3pPr>
      <a:lvl4pPr marL="1598877" indent="-228411" algn="l" rtl="0" fontAlgn="base">
        <a:spcBef>
          <a:spcPct val="15000"/>
        </a:spcBef>
        <a:spcAft>
          <a:spcPct val="0"/>
        </a:spcAft>
        <a:buChar char="–"/>
        <a:defRPr sz="1998" kern="1200">
          <a:solidFill>
            <a:schemeClr val="tx1"/>
          </a:solidFill>
          <a:latin typeface="Garamond" panose="02020404030301010803" pitchFamily="18" charset="0"/>
          <a:ea typeface="SimSun" panose="02010600030101010101" pitchFamily="2" charset="-122"/>
          <a:cs typeface="+mn-cs"/>
        </a:defRPr>
      </a:lvl4pPr>
      <a:lvl5pPr marL="2055699" indent="-228411" algn="l" rtl="0" fontAlgn="base">
        <a:spcBef>
          <a:spcPct val="20000"/>
        </a:spcBef>
        <a:spcAft>
          <a:spcPct val="0"/>
        </a:spcAft>
        <a:buChar char="»"/>
        <a:defRPr sz="1998" kern="1200">
          <a:solidFill>
            <a:schemeClr val="tx1"/>
          </a:solidFill>
          <a:latin typeface="Garamond" panose="02020404030301010803" pitchFamily="18" charset="0"/>
          <a:ea typeface="SimSun" panose="02010600030101010101" pitchFamily="2" charset="-122"/>
          <a:cs typeface="+mn-cs"/>
        </a:defRPr>
      </a:lvl5pPr>
      <a:lvl6pPr marL="2512520"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69344"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6165"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2987"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3643" rtl="0" eaLnBrk="1" latinLnBrk="0" hangingPunct="1">
        <a:defRPr sz="1799" kern="1200">
          <a:solidFill>
            <a:schemeClr val="tx1"/>
          </a:solidFill>
          <a:latin typeface="+mn-lt"/>
          <a:ea typeface="+mn-ea"/>
          <a:cs typeface="+mn-cs"/>
        </a:defRPr>
      </a:lvl1pPr>
      <a:lvl2pPr marL="456821" algn="l" defTabSz="913643" rtl="0" eaLnBrk="1" latinLnBrk="0" hangingPunct="1">
        <a:defRPr sz="1799" kern="1200">
          <a:solidFill>
            <a:schemeClr val="tx1"/>
          </a:solidFill>
          <a:latin typeface="+mn-lt"/>
          <a:ea typeface="+mn-ea"/>
          <a:cs typeface="+mn-cs"/>
        </a:defRPr>
      </a:lvl2pPr>
      <a:lvl3pPr marL="913643" algn="l" defTabSz="913643" rtl="0" eaLnBrk="1" latinLnBrk="0" hangingPunct="1">
        <a:defRPr sz="1799" kern="1200">
          <a:solidFill>
            <a:schemeClr val="tx1"/>
          </a:solidFill>
          <a:latin typeface="+mn-lt"/>
          <a:ea typeface="+mn-ea"/>
          <a:cs typeface="+mn-cs"/>
        </a:defRPr>
      </a:lvl3pPr>
      <a:lvl4pPr marL="1370466" algn="l" defTabSz="913643" rtl="0" eaLnBrk="1" latinLnBrk="0" hangingPunct="1">
        <a:defRPr sz="1799" kern="1200">
          <a:solidFill>
            <a:schemeClr val="tx1"/>
          </a:solidFill>
          <a:latin typeface="+mn-lt"/>
          <a:ea typeface="+mn-ea"/>
          <a:cs typeface="+mn-cs"/>
        </a:defRPr>
      </a:lvl4pPr>
      <a:lvl5pPr marL="1827288" algn="l" defTabSz="913643" rtl="0" eaLnBrk="1" latinLnBrk="0" hangingPunct="1">
        <a:defRPr sz="1799" kern="1200">
          <a:solidFill>
            <a:schemeClr val="tx1"/>
          </a:solidFill>
          <a:latin typeface="+mn-lt"/>
          <a:ea typeface="+mn-ea"/>
          <a:cs typeface="+mn-cs"/>
        </a:defRPr>
      </a:lvl5pPr>
      <a:lvl6pPr marL="2284109" algn="l" defTabSz="913643" rtl="0" eaLnBrk="1" latinLnBrk="0" hangingPunct="1">
        <a:defRPr sz="1799" kern="1200">
          <a:solidFill>
            <a:schemeClr val="tx1"/>
          </a:solidFill>
          <a:latin typeface="+mn-lt"/>
          <a:ea typeface="+mn-ea"/>
          <a:cs typeface="+mn-cs"/>
        </a:defRPr>
      </a:lvl6pPr>
      <a:lvl7pPr marL="2740931" algn="l" defTabSz="913643" rtl="0" eaLnBrk="1" latinLnBrk="0" hangingPunct="1">
        <a:defRPr sz="1799" kern="1200">
          <a:solidFill>
            <a:schemeClr val="tx1"/>
          </a:solidFill>
          <a:latin typeface="+mn-lt"/>
          <a:ea typeface="+mn-ea"/>
          <a:cs typeface="+mn-cs"/>
        </a:defRPr>
      </a:lvl7pPr>
      <a:lvl8pPr marL="3197754" algn="l" defTabSz="913643" rtl="0" eaLnBrk="1" latinLnBrk="0" hangingPunct="1">
        <a:defRPr sz="1799" kern="1200">
          <a:solidFill>
            <a:schemeClr val="tx1"/>
          </a:solidFill>
          <a:latin typeface="+mn-lt"/>
          <a:ea typeface="+mn-ea"/>
          <a:cs typeface="+mn-cs"/>
        </a:defRPr>
      </a:lvl8pPr>
      <a:lvl9pPr marL="3654576" algn="l" defTabSz="91364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hyperlink" Target="../../../../../../../../Program%20Files/TurningPoint/2003/Questions.htm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hyperlink" Target="../../../../../../../../Program%20Files/TurningPoint/2003/Questions.html" TargetMode="Externa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hyperlink" Target="../../../../../../../../Program%20Files/TurningPoint/2003/Questions.html" TargetMode="External"/><Relationship Id="rId4" Type="http://schemas.openxmlformats.org/officeDocument/2006/relationships/image" Target="../media/image30.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hyperlink" Target="../../../../../../../../Program%20Files/TurningPoint/2003/Questions.html" TargetMode="External"/><Relationship Id="rId4" Type="http://schemas.openxmlformats.org/officeDocument/2006/relationships/image" Target="../media/image31.emf"/></Relationships>
</file>

<file path=ppt/slides/_rels/slide3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hyperlink" Target="../../../../../Program%20Files/TurningPoint/2003/Questions.html"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hyperlink" Target="../../../../../../../../Program%20Files/TurningPoint/2003/Questions.html"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hyperlink" Target="../../../../../../../../Program%20Files/TurningPoint/2003/Questions.html"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13.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5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1528195" y="2287442"/>
            <a:ext cx="9135611" cy="114155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12066"/>
            <a:endParaRPr kumimoji="1" lang="zh-CN" altLang="en-US" sz="3567">
              <a:solidFill>
                <a:srgbClr val="FFFFFF"/>
              </a:solidFill>
              <a:latin typeface="Arial"/>
            </a:endParaRPr>
          </a:p>
        </p:txBody>
      </p:sp>
      <p:sp>
        <p:nvSpPr>
          <p:cNvPr id="30" name="object 30"/>
          <p:cNvSpPr/>
          <p:nvPr/>
        </p:nvSpPr>
        <p:spPr>
          <a:xfrm>
            <a:off x="1532086" y="3147"/>
            <a:ext cx="9123255" cy="283622"/>
          </a:xfrm>
          <a:prstGeom prst="rect">
            <a:avLst/>
          </a:prstGeom>
          <a:blipFill>
            <a:blip r:embed="rId2" cstate="print"/>
            <a:stretch>
              <a:fillRect/>
            </a:stretch>
          </a:blipFill>
        </p:spPr>
        <p:txBody>
          <a:bodyPr wrap="square" lIns="0" tIns="0" rIns="0" bIns="0" rtlCol="0"/>
          <a:lstStyle/>
          <a:p>
            <a:pPr defTabSz="456821"/>
            <a:endParaRPr sz="3563">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32086" y="6627100"/>
            <a:ext cx="9123255" cy="220261"/>
          </a:xfrm>
          <a:prstGeom prst="rect">
            <a:avLst/>
          </a:prstGeom>
          <a:blipFill>
            <a:blip r:embed="rId3" cstate="print"/>
            <a:stretch>
              <a:fillRect/>
            </a:stretch>
          </a:blipFill>
        </p:spPr>
        <p:txBody>
          <a:bodyPr wrap="square" lIns="0" tIns="0" rIns="0" bIns="0" rtlCol="0"/>
          <a:lstStyle/>
          <a:p>
            <a:pPr defTabSz="456821"/>
            <a:endParaRPr sz="3563">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1667163" y="6631576"/>
            <a:ext cx="2774627" cy="179536"/>
          </a:xfrm>
          <a:prstGeom prst="rect">
            <a:avLst/>
          </a:prstGeom>
        </p:spPr>
        <p:txBody>
          <a:bodyPr vert="horz" wrap="square" lIns="0" tIns="0" rIns="0" bIns="0" rtlCol="0">
            <a:spAutoFit/>
          </a:bodyPr>
          <a:lstStyle/>
          <a:p>
            <a:pPr marL="25148" defTabSz="456821">
              <a:lnSpc>
                <a:spcPts val="1385"/>
              </a:lnSpc>
            </a:pPr>
            <a:r>
              <a:rPr sz="198" i="1" spc="119" dirty="0">
                <a:solidFill>
                  <a:srgbClr val="F2F2F2"/>
                </a:solidFill>
                <a:latin typeface="Times New Roman"/>
                <a:cs typeface="Times New Roman"/>
              </a:rPr>
              <a:t> </a:t>
            </a:r>
            <a:r>
              <a:rPr sz="198" i="1" spc="159" dirty="0">
                <a:solidFill>
                  <a:srgbClr val="F2F2F2"/>
                </a:solidFill>
                <a:latin typeface="Times New Roman"/>
                <a:cs typeface="Times New Roman"/>
              </a:rPr>
              <a:t>I   </a:t>
            </a:r>
            <a:r>
              <a:rPr sz="1187" spc="-10" dirty="0">
                <a:solidFill>
                  <a:srgbClr val="F2F2F2"/>
                </a:solidFill>
                <a:latin typeface="Times New Roman"/>
                <a:cs typeface="Times New Roman"/>
              </a:rPr>
              <a:t>(</a:t>
            </a:r>
            <a:r>
              <a:rPr lang="en-US" sz="1187" spc="-10" dirty="0">
                <a:solidFill>
                  <a:srgbClr val="F2F2F2"/>
                </a:solidFill>
                <a:latin typeface="Times New Roman"/>
                <a:cs typeface="Times New Roman"/>
              </a:rPr>
              <a:t>Zhiqing Yang</a:t>
            </a:r>
            <a:r>
              <a:rPr sz="1187" spc="268" dirty="0">
                <a:solidFill>
                  <a:srgbClr val="F2F2F2"/>
                </a:solidFill>
                <a:latin typeface="Times New Roman"/>
                <a:cs typeface="Times New Roman"/>
              </a:rPr>
              <a:t> </a:t>
            </a:r>
            <a:r>
              <a:rPr lang="en-US" altLang="zh-CN" sz="1187" spc="-10" dirty="0" err="1">
                <a:solidFill>
                  <a:srgbClr val="F2F2F2"/>
                </a:solidFill>
                <a:latin typeface="Times New Roman"/>
                <a:ea typeface="等线" panose="02010600030101010101" pitchFamily="2" charset="-122"/>
                <a:cs typeface="Times New Roman"/>
              </a:rPr>
              <a:t>yangzhiqing</a:t>
            </a:r>
            <a:r>
              <a:rPr sz="1187" spc="-10" dirty="0" err="1">
                <a:solidFill>
                  <a:srgbClr val="F2F2F2"/>
                </a:solidFill>
                <a:latin typeface="Times New Roman"/>
                <a:cs typeface="Times New Roman"/>
              </a:rPr>
              <a:t>@</a:t>
            </a:r>
            <a:r>
              <a:rPr lang="en-US" sz="1187" spc="-10" dirty="0" err="1">
                <a:solidFill>
                  <a:srgbClr val="F2F2F2"/>
                </a:solidFill>
                <a:latin typeface="Times New Roman"/>
                <a:cs typeface="Times New Roman"/>
              </a:rPr>
              <a:t>hust.edu.cn</a:t>
            </a:r>
            <a:r>
              <a:rPr sz="1187" spc="-10" dirty="0">
                <a:solidFill>
                  <a:srgbClr val="F2F2F2"/>
                </a:solidFill>
                <a:latin typeface="Times New Roman"/>
                <a:cs typeface="Times New Roman"/>
              </a:rPr>
              <a:t>)</a:t>
            </a:r>
            <a:endParaRPr sz="1187"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815158" y="2287442"/>
            <a:ext cx="8561685" cy="865622"/>
          </a:xfrm>
          <a:prstGeom prst="rect">
            <a:avLst/>
          </a:prstGeom>
          <a:noFill/>
        </p:spPr>
        <p:txBody>
          <a:bodyPr wrap="square">
            <a:spAutoFit/>
          </a:bodyPr>
          <a:lstStyle/>
          <a:p>
            <a:pPr algn="ctr" defTabSz="1812066" fontAlgn="base">
              <a:lnSpc>
                <a:spcPct val="150000"/>
              </a:lnSpc>
              <a:spcBef>
                <a:spcPct val="0"/>
              </a:spcBef>
              <a:spcAft>
                <a:spcPct val="0"/>
              </a:spcAft>
            </a:pPr>
            <a:r>
              <a:rPr kumimoji="1" lang="zh-CN" altLang="en-US" sz="3797" dirty="0">
                <a:solidFill>
                  <a:srgbClr val="000000"/>
                </a:solidFill>
                <a:latin typeface="Microsoft YaHei" panose="020B0503020204020204" pitchFamily="34" charset="-122"/>
                <a:ea typeface="Microsoft YaHei" panose="020B0503020204020204" pitchFamily="34" charset="-122"/>
              </a:rPr>
              <a:t>第</a:t>
            </a:r>
            <a:r>
              <a:rPr kumimoji="1" lang="en-US" altLang="zh-CN" sz="3797" dirty="0">
                <a:solidFill>
                  <a:srgbClr val="000000"/>
                </a:solidFill>
                <a:latin typeface="Microsoft YaHei" panose="020B0503020204020204" pitchFamily="34" charset="-122"/>
                <a:ea typeface="Microsoft YaHei" panose="020B0503020204020204" pitchFamily="34" charset="-122"/>
              </a:rPr>
              <a:t>2</a:t>
            </a:r>
            <a:r>
              <a:rPr kumimoji="1" lang="zh-CN" altLang="en-US" sz="3797" dirty="0">
                <a:solidFill>
                  <a:srgbClr val="000000"/>
                </a:solidFill>
                <a:latin typeface="Microsoft YaHei" panose="020B0503020204020204" pitchFamily="34" charset="-122"/>
                <a:ea typeface="Microsoft YaHei" panose="020B0503020204020204" pitchFamily="34" charset="-122"/>
              </a:rPr>
              <a:t>节  总供给曲线</a:t>
            </a:r>
          </a:p>
        </p:txBody>
      </p:sp>
    </p:spTree>
    <p:extLst>
      <p:ext uri="{BB962C8B-B14F-4D97-AF65-F5344CB8AC3E}">
        <p14:creationId xmlns:p14="http://schemas.microsoft.com/office/powerpoint/2010/main" val="621081849"/>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A09EF-721C-41A9-A4ED-38E7EBCA36CA}"/>
              </a:ext>
            </a:extLst>
          </p:cNvPr>
          <p:cNvSpPr>
            <a:spLocks noGrp="1"/>
          </p:cNvSpPr>
          <p:nvPr>
            <p:ph type="title"/>
          </p:nvPr>
        </p:nvSpPr>
        <p:spPr/>
        <p:txBody>
          <a:bodyPr/>
          <a:lstStyle/>
          <a:p>
            <a:r>
              <a:rPr lang="zh-CN" altLang="en-US" dirty="0"/>
              <a:t>本节概要</a:t>
            </a:r>
          </a:p>
        </p:txBody>
      </p:sp>
      <p:sp>
        <p:nvSpPr>
          <p:cNvPr id="3" name="内容占位符 2">
            <a:extLst>
              <a:ext uri="{FF2B5EF4-FFF2-40B4-BE49-F238E27FC236}">
                <a16:creationId xmlns:a16="http://schemas.microsoft.com/office/drawing/2014/main" id="{7154353C-EE66-4D68-ABAB-28388F912AFB}"/>
              </a:ext>
            </a:extLst>
          </p:cNvPr>
          <p:cNvSpPr>
            <a:spLocks noGrp="1"/>
          </p:cNvSpPr>
          <p:nvPr>
            <p:ph idx="1"/>
          </p:nvPr>
        </p:nvSpPr>
        <p:spPr/>
        <p:txBody>
          <a:bodyPr/>
          <a:lstStyle/>
          <a:p>
            <a:r>
              <a:rPr lang="zh-CN" altLang="en-US" dirty="0"/>
              <a:t>总供给曲线描述的是</a:t>
            </a:r>
            <a:r>
              <a:rPr lang="zh-CN" altLang="en-US" b="1" dirty="0"/>
              <a:t>在各个价格水平上，厂商愿意供给的产出数量</a:t>
            </a:r>
            <a:r>
              <a:rPr lang="zh-CN" altLang="en-US" dirty="0"/>
              <a:t>。</a:t>
            </a:r>
            <a:endParaRPr lang="en-US" altLang="zh-CN" dirty="0"/>
          </a:p>
          <a:p>
            <a:r>
              <a:rPr lang="zh-CN" altLang="en-US" dirty="0"/>
              <a:t>在</a:t>
            </a:r>
            <a:r>
              <a:rPr lang="zh-CN" altLang="en-US" b="1" dirty="0"/>
              <a:t>短期与长期</a:t>
            </a:r>
            <a:r>
              <a:rPr lang="zh-CN" altLang="en-US" dirty="0"/>
              <a:t>，总供给曲线的斜率是不同的。</a:t>
            </a:r>
            <a:endParaRPr lang="en-US" altLang="zh-CN" dirty="0"/>
          </a:p>
          <a:p>
            <a:r>
              <a:rPr lang="zh-CN" altLang="en-US" dirty="0"/>
              <a:t>按照</a:t>
            </a:r>
            <a:r>
              <a:rPr lang="zh-CN" altLang="en-US" b="1" dirty="0"/>
              <a:t>货币工资（</a:t>
            </a:r>
            <a:r>
              <a:rPr lang="en-US" altLang="zh-CN" b="1" dirty="0"/>
              <a:t>W</a:t>
            </a:r>
            <a:r>
              <a:rPr lang="zh-CN" altLang="en-US" b="1" dirty="0"/>
              <a:t>）和价格水平（</a:t>
            </a:r>
            <a:r>
              <a:rPr lang="en-US" altLang="zh-CN" b="1" dirty="0"/>
              <a:t>P</a:t>
            </a:r>
            <a:r>
              <a:rPr lang="zh-CN" altLang="en-US" b="1" dirty="0"/>
              <a:t>）进行调整</a:t>
            </a:r>
            <a:r>
              <a:rPr lang="zh-CN" altLang="en-US" dirty="0"/>
              <a:t>所要求的时间长短，宏观经济学将总产出与总价格水平之间的关系分为三种：</a:t>
            </a:r>
            <a:endParaRPr lang="en-US" altLang="zh-CN" dirty="0"/>
          </a:p>
          <a:p>
            <a:r>
              <a:rPr lang="en-US" altLang="zh-CN" dirty="0"/>
              <a:t>1. </a:t>
            </a:r>
            <a:r>
              <a:rPr lang="zh-CN" altLang="en-US" dirty="0"/>
              <a:t>古典总供给曲线</a:t>
            </a:r>
            <a:endParaRPr lang="en-US" altLang="zh-CN" dirty="0"/>
          </a:p>
          <a:p>
            <a:r>
              <a:rPr lang="en-US" altLang="zh-CN" dirty="0"/>
              <a:t>2. </a:t>
            </a:r>
            <a:r>
              <a:rPr lang="zh-CN" altLang="en-US" dirty="0"/>
              <a:t>凯恩斯总供给曲线</a:t>
            </a:r>
            <a:endParaRPr lang="en-US" altLang="zh-CN" dirty="0"/>
          </a:p>
          <a:p>
            <a:r>
              <a:rPr lang="en-US" altLang="zh-CN" dirty="0"/>
              <a:t>3. </a:t>
            </a:r>
            <a:r>
              <a:rPr lang="zh-CN" altLang="en-US" dirty="0"/>
              <a:t>常规总供给曲线</a:t>
            </a:r>
            <a:endParaRPr lang="en-US" altLang="zh-CN" dirty="0"/>
          </a:p>
        </p:txBody>
      </p:sp>
      <p:sp>
        <p:nvSpPr>
          <p:cNvPr id="6" name="灯片编号占位符 5">
            <a:extLst>
              <a:ext uri="{FF2B5EF4-FFF2-40B4-BE49-F238E27FC236}">
                <a16:creationId xmlns:a16="http://schemas.microsoft.com/office/drawing/2014/main" id="{CDFB07B0-E6D5-4D91-87B5-EA86D3EDE164}"/>
              </a:ext>
            </a:extLst>
          </p:cNvPr>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a:solidFill>
                  <a:srgbClr val="000000"/>
                </a:solidFill>
                <a:effectLst>
                  <a:outerShdw blurRad="38100" dist="19050" dir="2700000" algn="tl" rotWithShape="0">
                    <a:srgbClr val="000000">
                      <a:alpha val="40000"/>
                    </a:srgbClr>
                  </a:outerShdw>
                </a:effectLst>
              </a:rPr>
              <a:pPr>
                <a:defRPr/>
              </a:pPr>
              <a:t>2</a:t>
            </a:fld>
            <a:endParaRPr lang="zh-CN" altLang="en-US">
              <a:solidFill>
                <a:srgbClr val="000000"/>
              </a:solidFill>
              <a:effectLst>
                <a:outerShdw blurRad="38100" dist="19050" dir="2700000" algn="tl" rotWithShape="0">
                  <a:srgbClr val="000000">
                    <a:alpha val="40000"/>
                  </a:srgbClr>
                </a:outerShdw>
              </a:effectLst>
            </a:endParaRPr>
          </a:p>
        </p:txBody>
      </p:sp>
      <p:sp>
        <p:nvSpPr>
          <p:cNvPr id="7" name="Rectangle 6">
            <a:extLst>
              <a:ext uri="{FF2B5EF4-FFF2-40B4-BE49-F238E27FC236}">
                <a16:creationId xmlns:a16="http://schemas.microsoft.com/office/drawing/2014/main" id="{FC52CFFA-D3E4-237D-2736-17DEB886C294}"/>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2</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AB58AB05-C0E2-B29B-802A-6D086AF028BA}"/>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12066">
              <a:defRPr/>
            </a:pPr>
            <a:r>
              <a:rPr lang="en-US" altLang="zh-CN" sz="1784">
                <a:latin typeface="Arial"/>
              </a:rPr>
              <a:t>AS-AD</a:t>
            </a:r>
            <a:r>
              <a:rPr lang="zh-CN" altLang="en-US" sz="1784">
                <a:latin typeface="Arial"/>
              </a:rPr>
              <a:t>模型</a:t>
            </a:r>
            <a:endParaRPr lang="zh-CN" altLang="en-US" sz="1784" dirty="0">
              <a:latin typeface="Arial"/>
            </a:endParaRPr>
          </a:p>
        </p:txBody>
      </p:sp>
    </p:spTree>
    <p:extLst>
      <p:ext uri="{BB962C8B-B14F-4D97-AF65-F5344CB8AC3E}">
        <p14:creationId xmlns:p14="http://schemas.microsoft.com/office/powerpoint/2010/main" val="300900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70780" y="252416"/>
            <a:ext cx="8402860" cy="750774"/>
          </a:xfrm>
        </p:spPr>
        <p:txBody>
          <a:bodyPr/>
          <a:lstStyle/>
          <a:p>
            <a:r>
              <a:rPr lang="zh-CN" altLang="en-US" dirty="0">
                <a:ln w="0"/>
                <a:effectLst>
                  <a:outerShdw blurRad="38100" dist="19050" dir="2700000" algn="tl" rotWithShape="0">
                    <a:schemeClr val="dk1">
                      <a:alpha val="40000"/>
                    </a:schemeClr>
                  </a:outerShdw>
                </a:effectLst>
              </a:rPr>
              <a:t>总供给曲线</a:t>
            </a:r>
            <a:r>
              <a:rPr lang="en-US" altLang="zh-CN" dirty="0">
                <a:ln w="0"/>
                <a:effectLst>
                  <a:outerShdw blurRad="38100" dist="19050" dir="2700000" algn="tl" rotWithShape="0">
                    <a:schemeClr val="dk1">
                      <a:alpha val="40000"/>
                    </a:schemeClr>
                  </a:outerShdw>
                </a:effectLst>
              </a:rPr>
              <a:t>aggregate</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supply</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curve</a:t>
            </a:r>
            <a:endParaRPr lang="zh-CN" altLang="en-US" dirty="0">
              <a:ln w="0"/>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1900916" y="1003189"/>
            <a:ext cx="8306110" cy="5122973"/>
          </a:xfrm>
        </p:spPr>
        <p:txBody>
          <a:bodyPr/>
          <a:lstStyle/>
          <a:p>
            <a:r>
              <a:rPr lang="zh-CN" altLang="en-US" b="1" dirty="0"/>
              <a:t>总供给</a:t>
            </a:r>
            <a:r>
              <a:rPr lang="zh-CN" altLang="en-US" dirty="0"/>
              <a:t>曲线表示在</a:t>
            </a:r>
            <a:r>
              <a:rPr lang="zh-CN" altLang="en-US" u="sng" dirty="0"/>
              <a:t>每一种物价水平下</a:t>
            </a:r>
            <a:r>
              <a:rPr lang="zh-CN" altLang="en-US" dirty="0"/>
              <a:t>企业生产并销售的物品与服务的数量。</a:t>
            </a:r>
            <a:endParaRPr lang="en-US" altLang="zh-CN" dirty="0"/>
          </a:p>
          <a:p>
            <a:r>
              <a:rPr lang="zh-CN" altLang="en-US" dirty="0"/>
              <a:t>总供给曲线的走势取决于所考察</a:t>
            </a:r>
            <a:r>
              <a:rPr lang="zh-CN" altLang="en-US"/>
              <a:t>的时间长短。</a:t>
            </a:r>
            <a:endParaRPr lang="en-US" altLang="zh-CN" dirty="0"/>
          </a:p>
        </p:txBody>
      </p:sp>
      <p:sp>
        <p:nvSpPr>
          <p:cNvPr id="4" name="日期占位符 3"/>
          <p:cNvSpPr>
            <a:spLocks noGrp="1"/>
          </p:cNvSpPr>
          <p:nvPr>
            <p:ph type="dt" sz="half" idx="10"/>
          </p:nvPr>
        </p:nvSpPr>
        <p:spPr/>
        <p:txBody>
          <a:bodyPr/>
          <a:lstStyle/>
          <a:p>
            <a:pPr defTabSz="1812066">
              <a:defRPr/>
            </a:pPr>
            <a:r>
              <a:rPr lang="en-US" altLang="zh-CN" dirty="0">
                <a:latin typeface="Arial"/>
              </a:rPr>
              <a:t>AS-AD</a:t>
            </a:r>
            <a:r>
              <a:rPr lang="zh-CN" altLang="en-US" dirty="0">
                <a:latin typeface="Arial"/>
              </a:rPr>
              <a:t>模型</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a:solidFill>
                  <a:srgbClr val="000000"/>
                </a:solidFill>
                <a:effectLst>
                  <a:outerShdw blurRad="38100" dist="19050" dir="2700000" algn="tl" rotWithShape="0">
                    <a:srgbClr val="000000">
                      <a:alpha val="40000"/>
                    </a:srgbClr>
                  </a:outerShdw>
                </a:effectLst>
              </a:rPr>
              <a:pPr>
                <a:defRPr/>
              </a:pPr>
              <a:t>3</a:t>
            </a:fld>
            <a:endParaRPr lang="zh-CN" altLang="en-US">
              <a:solidFill>
                <a:srgbClr val="000000"/>
              </a:solidFill>
              <a:effectLst>
                <a:outerShdw blurRad="38100" dist="19050" dir="2700000" algn="tl" rotWithShape="0">
                  <a:srgbClr val="000000">
                    <a:alpha val="40000"/>
                  </a:srgbClr>
                </a:outerShdw>
              </a:effectLst>
            </a:endParaRPr>
          </a:p>
        </p:txBody>
      </p:sp>
    </p:spTree>
    <p:extLst>
      <p:ext uri="{BB962C8B-B14F-4D97-AF65-F5344CB8AC3E}">
        <p14:creationId xmlns:p14="http://schemas.microsoft.com/office/powerpoint/2010/main" val="1797833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614ED-05E2-6CDC-FCD0-508F08E909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84EDDE-7B30-04B9-71B4-5BECE279EBE6}"/>
              </a:ext>
            </a:extLst>
          </p:cNvPr>
          <p:cNvSpPr>
            <a:spLocks noGrp="1"/>
          </p:cNvSpPr>
          <p:nvPr>
            <p:ph type="title"/>
          </p:nvPr>
        </p:nvSpPr>
        <p:spPr>
          <a:xfrm>
            <a:off x="1886091" y="-21264"/>
            <a:ext cx="8402860" cy="681036"/>
          </a:xfrm>
        </p:spPr>
        <p:txBody>
          <a:bodyPr/>
          <a:lstStyle/>
          <a:p>
            <a:r>
              <a:rPr kumimoji="1" lang="zh-CN" altLang="en-US" dirty="0"/>
              <a:t>宏观经济学中的时间维度 </a:t>
            </a:r>
          </a:p>
        </p:txBody>
      </p:sp>
      <p:sp>
        <p:nvSpPr>
          <p:cNvPr id="3" name="内容占位符 2">
            <a:extLst>
              <a:ext uri="{FF2B5EF4-FFF2-40B4-BE49-F238E27FC236}">
                <a16:creationId xmlns:a16="http://schemas.microsoft.com/office/drawing/2014/main" id="{B5240DF4-B507-2832-B34A-8E426B9A51D3}"/>
              </a:ext>
            </a:extLst>
          </p:cNvPr>
          <p:cNvSpPr>
            <a:spLocks noGrp="1"/>
          </p:cNvSpPr>
          <p:nvPr>
            <p:ph idx="1"/>
          </p:nvPr>
        </p:nvSpPr>
        <p:spPr>
          <a:xfrm>
            <a:off x="1528195" y="674127"/>
            <a:ext cx="9135611" cy="2135548"/>
          </a:xfrm>
        </p:spPr>
        <p:txBody>
          <a:bodyPr/>
          <a:lstStyle/>
          <a:p>
            <a:r>
              <a:rPr kumimoji="1" lang="zh-CN" altLang="en-US" sz="1982" dirty="0"/>
              <a:t>短期经济波动：指生产能力既定、技术固定不变、资本存量固定的时期。</a:t>
            </a:r>
            <a:r>
              <a:rPr lang="zh-CN" altLang="zh-CN" sz="1982" dirty="0"/>
              <a:t>在短期中，价格和工资调整不充分，产出可能偏离潜在水平。</a:t>
            </a:r>
            <a:endParaRPr kumimoji="1" lang="zh-CN" altLang="en-US" sz="1982" dirty="0"/>
          </a:p>
          <a:p>
            <a:r>
              <a:rPr kumimoji="1" lang="zh-CN" altLang="en-US" sz="1982" dirty="0"/>
              <a:t>长期经济增长：是指技术进步、资本积累逐步发生，生产能力不断提高的过程。从长期均衡而言，价格和工资可以充分调整，使总供给与总需求相等。</a:t>
            </a:r>
            <a:endParaRPr kumimoji="1" lang="en-US" altLang="zh-CN" sz="1982" dirty="0"/>
          </a:p>
        </p:txBody>
      </p:sp>
      <p:sp>
        <p:nvSpPr>
          <p:cNvPr id="6" name="文本框 5">
            <a:extLst>
              <a:ext uri="{FF2B5EF4-FFF2-40B4-BE49-F238E27FC236}">
                <a16:creationId xmlns:a16="http://schemas.microsoft.com/office/drawing/2014/main" id="{644148BB-7D30-CBD4-D921-5FAEDC91A580}"/>
              </a:ext>
            </a:extLst>
          </p:cNvPr>
          <p:cNvSpPr txBox="1"/>
          <p:nvPr/>
        </p:nvSpPr>
        <p:spPr>
          <a:xfrm>
            <a:off x="1488736" y="3407615"/>
            <a:ext cx="1430142" cy="763286"/>
          </a:xfrm>
          <a:prstGeom prst="rect">
            <a:avLst/>
          </a:prstGeom>
          <a:noFill/>
        </p:spPr>
        <p:txBody>
          <a:bodyPr wrap="square" rtlCol="0">
            <a:spAutoFit/>
          </a:bodyPr>
          <a:lstStyle/>
          <a:p>
            <a:pPr algn="ctr" defTabSz="1812066"/>
            <a:r>
              <a:rPr kumimoji="1" lang="zh-CN" altLang="en-US" sz="2180" dirty="0">
                <a:solidFill>
                  <a:srgbClr val="000000"/>
                </a:solidFill>
                <a:latin typeface="KaiTi" panose="02010609060101010101" pitchFamily="49" charset="-122"/>
                <a:ea typeface="KaiTi" panose="02010609060101010101" pitchFamily="49" charset="-122"/>
              </a:rPr>
              <a:t>宏观</a:t>
            </a:r>
            <a:endParaRPr kumimoji="1" lang="en-US" altLang="zh-CN" sz="2180" dirty="0">
              <a:solidFill>
                <a:srgbClr val="000000"/>
              </a:solidFill>
              <a:latin typeface="KaiTi" panose="02010609060101010101" pitchFamily="49" charset="-122"/>
              <a:ea typeface="KaiTi" panose="02010609060101010101" pitchFamily="49" charset="-122"/>
            </a:endParaRPr>
          </a:p>
          <a:p>
            <a:pPr algn="ctr" defTabSz="1812066"/>
            <a:r>
              <a:rPr kumimoji="1" lang="zh-CN" altLang="en-US" sz="2180" dirty="0">
                <a:solidFill>
                  <a:srgbClr val="000000"/>
                </a:solidFill>
                <a:latin typeface="KaiTi" panose="02010609060101010101" pitchFamily="49" charset="-122"/>
                <a:ea typeface="KaiTi" panose="02010609060101010101" pitchFamily="49" charset="-122"/>
              </a:rPr>
              <a:t>经济学</a:t>
            </a:r>
          </a:p>
        </p:txBody>
      </p:sp>
      <p:sp>
        <p:nvSpPr>
          <p:cNvPr id="21" name="文本框 20">
            <a:extLst>
              <a:ext uri="{FF2B5EF4-FFF2-40B4-BE49-F238E27FC236}">
                <a16:creationId xmlns:a16="http://schemas.microsoft.com/office/drawing/2014/main" id="{A2FE8804-AC0B-3D67-FAAB-0554816298A0}"/>
              </a:ext>
            </a:extLst>
          </p:cNvPr>
          <p:cNvSpPr txBox="1"/>
          <p:nvPr/>
        </p:nvSpPr>
        <p:spPr>
          <a:xfrm>
            <a:off x="3242105" y="2809676"/>
            <a:ext cx="2140421" cy="702372"/>
          </a:xfrm>
          <a:prstGeom prst="rect">
            <a:avLst/>
          </a:prstGeom>
          <a:noFill/>
        </p:spPr>
        <p:txBody>
          <a:bodyPr wrap="square" rtlCol="0">
            <a:spAutoFit/>
          </a:bodyPr>
          <a:lstStyle/>
          <a:p>
            <a:pPr defTabSz="1812066"/>
            <a:r>
              <a:rPr kumimoji="1" lang="zh-CN" altLang="en-US" sz="2180" dirty="0">
                <a:solidFill>
                  <a:srgbClr val="000000"/>
                </a:solidFill>
                <a:latin typeface="KaiTi" panose="02010609060101010101" pitchFamily="49" charset="-122"/>
                <a:ea typeface="KaiTi" panose="02010609060101010101" pitchFamily="49" charset="-122"/>
              </a:rPr>
              <a:t>短期经济波动</a:t>
            </a:r>
            <a:endParaRPr kumimoji="1" lang="en-US" altLang="zh-CN" sz="2180" dirty="0">
              <a:solidFill>
                <a:srgbClr val="000000"/>
              </a:solidFill>
              <a:latin typeface="KaiTi" panose="02010609060101010101" pitchFamily="49" charset="-122"/>
              <a:ea typeface="KaiTi" panose="02010609060101010101" pitchFamily="49" charset="-122"/>
            </a:endParaRPr>
          </a:p>
          <a:p>
            <a:pPr defTabSz="1812066"/>
            <a:r>
              <a:rPr kumimoji="1" lang="zh-CN" altLang="en-US" sz="1784" u="sng" dirty="0">
                <a:solidFill>
                  <a:srgbClr val="000000"/>
                </a:solidFill>
                <a:latin typeface="KaiTi" panose="02010609060101010101" pitchFamily="49" charset="-122"/>
                <a:ea typeface="KaiTi" panose="02010609060101010101" pitchFamily="49" charset="-122"/>
              </a:rPr>
              <a:t>生产能力既定</a:t>
            </a:r>
          </a:p>
        </p:txBody>
      </p:sp>
      <p:sp>
        <p:nvSpPr>
          <p:cNvPr id="22" name="文本框 21">
            <a:extLst>
              <a:ext uri="{FF2B5EF4-FFF2-40B4-BE49-F238E27FC236}">
                <a16:creationId xmlns:a16="http://schemas.microsoft.com/office/drawing/2014/main" id="{FAB55CCE-563B-1EF6-9EA5-9816345C4918}"/>
              </a:ext>
            </a:extLst>
          </p:cNvPr>
          <p:cNvSpPr txBox="1"/>
          <p:nvPr/>
        </p:nvSpPr>
        <p:spPr>
          <a:xfrm>
            <a:off x="3137817" y="5026848"/>
            <a:ext cx="2140417" cy="702372"/>
          </a:xfrm>
          <a:prstGeom prst="rect">
            <a:avLst/>
          </a:prstGeom>
          <a:noFill/>
        </p:spPr>
        <p:txBody>
          <a:bodyPr wrap="square" rtlCol="0">
            <a:spAutoFit/>
          </a:bodyPr>
          <a:lstStyle/>
          <a:p>
            <a:pPr defTabSz="1812066"/>
            <a:r>
              <a:rPr kumimoji="1" lang="zh-CN" altLang="en-US" sz="2180" dirty="0">
                <a:solidFill>
                  <a:srgbClr val="000000"/>
                </a:solidFill>
                <a:latin typeface="KaiTi" panose="02010609060101010101" pitchFamily="49" charset="-122"/>
                <a:ea typeface="KaiTi" panose="02010609060101010101" pitchFamily="49" charset="-122"/>
              </a:rPr>
              <a:t>长期经济增长</a:t>
            </a:r>
            <a:endParaRPr kumimoji="1" lang="en-US" altLang="zh-CN" sz="2180" dirty="0">
              <a:solidFill>
                <a:srgbClr val="000000"/>
              </a:solidFill>
              <a:latin typeface="KaiTi" panose="02010609060101010101" pitchFamily="49" charset="-122"/>
              <a:ea typeface="KaiTi" panose="02010609060101010101" pitchFamily="49" charset="-122"/>
            </a:endParaRPr>
          </a:p>
          <a:p>
            <a:pPr defTabSz="1812066"/>
            <a:r>
              <a:rPr kumimoji="1" lang="zh-CN" altLang="en-US" sz="1784" u="sng" dirty="0">
                <a:solidFill>
                  <a:srgbClr val="000000"/>
                </a:solidFill>
                <a:latin typeface="KaiTi" panose="02010609060101010101" pitchFamily="49" charset="-122"/>
                <a:ea typeface="KaiTi" panose="02010609060101010101" pitchFamily="49" charset="-122"/>
              </a:rPr>
              <a:t>生产能力的增长</a:t>
            </a:r>
          </a:p>
        </p:txBody>
      </p:sp>
      <p:sp>
        <p:nvSpPr>
          <p:cNvPr id="23" name="文本框 22">
            <a:extLst>
              <a:ext uri="{FF2B5EF4-FFF2-40B4-BE49-F238E27FC236}">
                <a16:creationId xmlns:a16="http://schemas.microsoft.com/office/drawing/2014/main" id="{E388432E-54D6-005D-54FB-711476C6C5DE}"/>
              </a:ext>
            </a:extLst>
          </p:cNvPr>
          <p:cNvSpPr txBox="1"/>
          <p:nvPr/>
        </p:nvSpPr>
        <p:spPr>
          <a:xfrm>
            <a:off x="5409572" y="2371056"/>
            <a:ext cx="6968144" cy="366895"/>
          </a:xfrm>
          <a:prstGeom prst="rect">
            <a:avLst/>
          </a:prstGeom>
          <a:noFill/>
        </p:spPr>
        <p:txBody>
          <a:bodyPr wrap="square" rtlCol="0">
            <a:spAutoFit/>
          </a:bodyPr>
          <a:lstStyle/>
          <a:p>
            <a:pPr defTabSz="1812066"/>
            <a:r>
              <a:rPr kumimoji="1" lang="zh-CN" altLang="en-US" sz="1784" dirty="0">
                <a:solidFill>
                  <a:srgbClr val="000000"/>
                </a:solidFill>
                <a:latin typeface="Garamond" panose="02020404030301010803" pitchFamily="18" charset="0"/>
                <a:ea typeface="KaiTi" panose="02010609060101010101" pitchFamily="49" charset="-122"/>
              </a:rPr>
              <a:t>短期总供给曲线</a:t>
            </a:r>
            <a:r>
              <a:rPr kumimoji="1" lang="en-US" altLang="zh-CN" sz="1784" dirty="0">
                <a:solidFill>
                  <a:srgbClr val="000000"/>
                </a:solidFill>
                <a:latin typeface="Garamond" panose="02020404030301010803" pitchFamily="18" charset="0"/>
                <a:ea typeface="KaiTi" panose="02010609060101010101" pitchFamily="49" charset="-122"/>
              </a:rPr>
              <a:t>Short-Run Aggregate Supply</a:t>
            </a:r>
            <a:r>
              <a:rPr kumimoji="1" lang="zh-CN" altLang="en-US" sz="1784" dirty="0">
                <a:solidFill>
                  <a:srgbClr val="000000"/>
                </a:solidFill>
                <a:latin typeface="Garamond" panose="02020404030301010803" pitchFamily="18" charset="0"/>
                <a:ea typeface="KaiTi" panose="02010609060101010101" pitchFamily="49" charset="-122"/>
              </a:rPr>
              <a:t>（</a:t>
            </a:r>
            <a:r>
              <a:rPr kumimoji="1" lang="en-US" altLang="zh-CN" sz="1784" dirty="0">
                <a:solidFill>
                  <a:srgbClr val="000000"/>
                </a:solidFill>
                <a:latin typeface="Garamond" panose="02020404030301010803" pitchFamily="18" charset="0"/>
                <a:ea typeface="KaiTi" panose="02010609060101010101" pitchFamily="49" charset="-122"/>
              </a:rPr>
              <a:t>SRAS</a:t>
            </a:r>
            <a:r>
              <a:rPr kumimoji="1" lang="zh-CN" altLang="en-US" sz="1784" dirty="0">
                <a:solidFill>
                  <a:srgbClr val="000000"/>
                </a:solidFill>
                <a:latin typeface="Garamond" panose="02020404030301010803" pitchFamily="18" charset="0"/>
                <a:ea typeface="KaiTi" panose="02010609060101010101" pitchFamily="49" charset="-122"/>
              </a:rPr>
              <a:t>）</a:t>
            </a:r>
          </a:p>
        </p:txBody>
      </p:sp>
      <p:sp>
        <p:nvSpPr>
          <p:cNvPr id="24" name="文本框 23">
            <a:extLst>
              <a:ext uri="{FF2B5EF4-FFF2-40B4-BE49-F238E27FC236}">
                <a16:creationId xmlns:a16="http://schemas.microsoft.com/office/drawing/2014/main" id="{D209C2C3-8ADB-AB8B-448A-38A3A25F44C5}"/>
              </a:ext>
            </a:extLst>
          </p:cNvPr>
          <p:cNvSpPr txBox="1"/>
          <p:nvPr/>
        </p:nvSpPr>
        <p:spPr>
          <a:xfrm>
            <a:off x="5409571" y="3447570"/>
            <a:ext cx="5538052" cy="366895"/>
          </a:xfrm>
          <a:prstGeom prst="rect">
            <a:avLst/>
          </a:prstGeom>
          <a:noFill/>
        </p:spPr>
        <p:txBody>
          <a:bodyPr wrap="square" rtlCol="0">
            <a:spAutoFit/>
          </a:bodyPr>
          <a:lstStyle/>
          <a:p>
            <a:pPr defTabSz="1812066"/>
            <a:r>
              <a:rPr kumimoji="1" lang="zh-CN" altLang="en-US" sz="1784" dirty="0">
                <a:solidFill>
                  <a:srgbClr val="000000"/>
                </a:solidFill>
                <a:latin typeface="Garamond" panose="02020404030301010803" pitchFamily="18" charset="0"/>
                <a:ea typeface="KaiTi" panose="02010609060101010101" pitchFamily="49" charset="-122"/>
              </a:rPr>
              <a:t>长期总供给曲线</a:t>
            </a:r>
            <a:r>
              <a:rPr kumimoji="1" lang="en-US" altLang="zh-CN" sz="1784" dirty="0">
                <a:solidFill>
                  <a:srgbClr val="000000"/>
                </a:solidFill>
                <a:latin typeface="Garamond" panose="02020404030301010803" pitchFamily="18" charset="0"/>
                <a:ea typeface="KaiTi" panose="02010609060101010101" pitchFamily="49" charset="-122"/>
              </a:rPr>
              <a:t>Long-Run Aggregate Supply</a:t>
            </a:r>
            <a:r>
              <a:rPr kumimoji="1" lang="zh-CN" altLang="en-US" sz="1784" dirty="0">
                <a:solidFill>
                  <a:srgbClr val="000000"/>
                </a:solidFill>
                <a:latin typeface="Garamond" panose="02020404030301010803" pitchFamily="18" charset="0"/>
                <a:ea typeface="KaiTi" panose="02010609060101010101" pitchFamily="49" charset="-122"/>
              </a:rPr>
              <a:t>（ </a:t>
            </a:r>
            <a:r>
              <a:rPr kumimoji="1" lang="en-US" altLang="zh-CN" sz="1784" dirty="0">
                <a:solidFill>
                  <a:srgbClr val="000000"/>
                </a:solidFill>
                <a:latin typeface="Garamond" panose="02020404030301010803" pitchFamily="18" charset="0"/>
                <a:ea typeface="KaiTi" panose="02010609060101010101" pitchFamily="49" charset="-122"/>
              </a:rPr>
              <a:t>LRAS</a:t>
            </a:r>
            <a:r>
              <a:rPr kumimoji="1" lang="zh-CN" altLang="en-US" sz="1784" dirty="0">
                <a:solidFill>
                  <a:srgbClr val="000000"/>
                </a:solidFill>
                <a:latin typeface="Garamond" panose="02020404030301010803" pitchFamily="18" charset="0"/>
                <a:ea typeface="KaiTi" panose="02010609060101010101" pitchFamily="49" charset="-122"/>
              </a:rPr>
              <a:t> ）</a:t>
            </a:r>
            <a:r>
              <a:rPr kumimoji="1" lang="en-US" altLang="zh-CN" sz="1784" dirty="0">
                <a:solidFill>
                  <a:srgbClr val="000000"/>
                </a:solidFill>
                <a:latin typeface="Garamond" panose="02020404030301010803" pitchFamily="18" charset="0"/>
                <a:ea typeface="KaiTi" panose="02010609060101010101" pitchFamily="49" charset="-122"/>
              </a:rPr>
              <a:t> </a:t>
            </a:r>
            <a:endParaRPr kumimoji="1" lang="zh-CN" altLang="en-US" sz="1784" dirty="0">
              <a:solidFill>
                <a:srgbClr val="000000"/>
              </a:solidFill>
              <a:latin typeface="Garamond" panose="02020404030301010803" pitchFamily="18" charset="0"/>
              <a:ea typeface="KaiTi" panose="02010609060101010101" pitchFamily="49" charset="-122"/>
            </a:endParaRPr>
          </a:p>
        </p:txBody>
      </p:sp>
      <p:cxnSp>
        <p:nvCxnSpPr>
          <p:cNvPr id="25" name="直线箭头连接符 12">
            <a:extLst>
              <a:ext uri="{FF2B5EF4-FFF2-40B4-BE49-F238E27FC236}">
                <a16:creationId xmlns:a16="http://schemas.microsoft.com/office/drawing/2014/main" id="{EF2C2ECF-025B-1D10-23BE-57B182AB9C48}"/>
              </a:ext>
            </a:extLst>
          </p:cNvPr>
          <p:cNvCxnSpPr>
            <a:cxnSpLocks/>
            <a:endCxn id="21" idx="1"/>
          </p:cNvCxnSpPr>
          <p:nvPr/>
        </p:nvCxnSpPr>
        <p:spPr>
          <a:xfrm flipV="1">
            <a:off x="2671326" y="3160862"/>
            <a:ext cx="570779" cy="6736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线箭头连接符 15">
            <a:extLst>
              <a:ext uri="{FF2B5EF4-FFF2-40B4-BE49-F238E27FC236}">
                <a16:creationId xmlns:a16="http://schemas.microsoft.com/office/drawing/2014/main" id="{1B0F5400-3164-14B5-D2F8-949F0DA202A1}"/>
              </a:ext>
            </a:extLst>
          </p:cNvPr>
          <p:cNvCxnSpPr>
            <a:cxnSpLocks/>
          </p:cNvCxnSpPr>
          <p:nvPr/>
        </p:nvCxnSpPr>
        <p:spPr>
          <a:xfrm>
            <a:off x="2671327" y="3897644"/>
            <a:ext cx="570777" cy="14854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左大括号 26">
            <a:extLst>
              <a:ext uri="{FF2B5EF4-FFF2-40B4-BE49-F238E27FC236}">
                <a16:creationId xmlns:a16="http://schemas.microsoft.com/office/drawing/2014/main" id="{3F6727B1-2C9D-3335-7E58-5F28CCE08416}"/>
              </a:ext>
            </a:extLst>
          </p:cNvPr>
          <p:cNvSpPr/>
          <p:nvPr/>
        </p:nvSpPr>
        <p:spPr>
          <a:xfrm>
            <a:off x="5086346" y="2700057"/>
            <a:ext cx="373654" cy="1078268"/>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defTabSz="1812066"/>
            <a:endParaRPr kumimoji="1" lang="zh-CN" altLang="en-US" sz="3567">
              <a:solidFill>
                <a:srgbClr val="000000"/>
              </a:solidFill>
              <a:latin typeface="Arial"/>
            </a:endParaRPr>
          </a:p>
        </p:txBody>
      </p:sp>
      <p:sp>
        <p:nvSpPr>
          <p:cNvPr id="28" name="文本框 27">
            <a:extLst>
              <a:ext uri="{FF2B5EF4-FFF2-40B4-BE49-F238E27FC236}">
                <a16:creationId xmlns:a16="http://schemas.microsoft.com/office/drawing/2014/main" id="{F8B25FE4-BB19-CD16-B869-6CE26C8501BE}"/>
              </a:ext>
            </a:extLst>
          </p:cNvPr>
          <p:cNvSpPr txBox="1"/>
          <p:nvPr/>
        </p:nvSpPr>
        <p:spPr>
          <a:xfrm>
            <a:off x="5487045" y="2748685"/>
            <a:ext cx="4945542" cy="427809"/>
          </a:xfrm>
          <a:prstGeom prst="rect">
            <a:avLst/>
          </a:prstGeom>
          <a:noFill/>
        </p:spPr>
        <p:txBody>
          <a:bodyPr wrap="square" rtlCol="0">
            <a:spAutoFit/>
          </a:bodyPr>
          <a:lstStyle/>
          <a:p>
            <a:pPr defTabSz="1812066"/>
            <a:r>
              <a:rPr kumimoji="1" lang="zh-CN" altLang="en-US" sz="2180" dirty="0">
                <a:solidFill>
                  <a:srgbClr val="000000"/>
                </a:solidFill>
                <a:latin typeface="Garamond" panose="02020404030301010803" pitchFamily="18" charset="0"/>
                <a:ea typeface="KaiTi" panose="02010609060101010101" pitchFamily="49" charset="-122"/>
              </a:rPr>
              <a:t>（价格、工资</a:t>
            </a:r>
            <a:r>
              <a:rPr kumimoji="1" lang="zh-CN" altLang="en-US" sz="2180" b="1" dirty="0">
                <a:solidFill>
                  <a:srgbClr val="000000"/>
                </a:solidFill>
                <a:latin typeface="Garamond" panose="02020404030301010803" pitchFamily="18" charset="0"/>
                <a:ea typeface="KaiTi" panose="02010609060101010101" pitchFamily="49" charset="-122"/>
              </a:rPr>
              <a:t>刚性</a:t>
            </a:r>
            <a:r>
              <a:rPr kumimoji="1" lang="en-US" altLang="zh-CN" sz="2180" dirty="0">
                <a:solidFill>
                  <a:srgbClr val="000000"/>
                </a:solidFill>
                <a:latin typeface="Garamond" panose="02020404030301010803" pitchFamily="18" charset="0"/>
                <a:ea typeface="KaiTi" panose="02010609060101010101" pitchFamily="49" charset="-122"/>
              </a:rPr>
              <a:t>——</a:t>
            </a:r>
            <a:r>
              <a:rPr kumimoji="1" lang="zh-CN" altLang="en-US" sz="2180" dirty="0">
                <a:solidFill>
                  <a:srgbClr val="000000"/>
                </a:solidFill>
                <a:latin typeface="Garamond" panose="02020404030301010803" pitchFamily="18" charset="0"/>
                <a:ea typeface="KaiTi" panose="02010609060101010101" pitchFamily="49" charset="-122"/>
              </a:rPr>
              <a:t>合同限制）</a:t>
            </a:r>
          </a:p>
        </p:txBody>
      </p:sp>
      <p:sp>
        <p:nvSpPr>
          <p:cNvPr id="29" name="文本框 28">
            <a:extLst>
              <a:ext uri="{FF2B5EF4-FFF2-40B4-BE49-F238E27FC236}">
                <a16:creationId xmlns:a16="http://schemas.microsoft.com/office/drawing/2014/main" id="{664B676E-5EE2-3A05-3070-1FFD155D0887}"/>
              </a:ext>
            </a:extLst>
          </p:cNvPr>
          <p:cNvSpPr txBox="1"/>
          <p:nvPr/>
        </p:nvSpPr>
        <p:spPr>
          <a:xfrm>
            <a:off x="5460000" y="3880931"/>
            <a:ext cx="4945542" cy="427809"/>
          </a:xfrm>
          <a:prstGeom prst="rect">
            <a:avLst/>
          </a:prstGeom>
          <a:noFill/>
        </p:spPr>
        <p:txBody>
          <a:bodyPr wrap="square" rtlCol="0">
            <a:spAutoFit/>
          </a:bodyPr>
          <a:lstStyle/>
          <a:p>
            <a:pPr defTabSz="1812066"/>
            <a:r>
              <a:rPr kumimoji="1" lang="zh-CN" altLang="en-US" sz="2180" dirty="0">
                <a:solidFill>
                  <a:srgbClr val="000000"/>
                </a:solidFill>
                <a:latin typeface="Garamond" panose="02020404030301010803" pitchFamily="18" charset="0"/>
                <a:ea typeface="KaiTi" panose="02010609060101010101" pitchFamily="49" charset="-122"/>
              </a:rPr>
              <a:t>（价格、工资可以充分</a:t>
            </a:r>
            <a:r>
              <a:rPr kumimoji="1" lang="zh-CN" altLang="en-US" sz="2180" b="1" dirty="0">
                <a:solidFill>
                  <a:srgbClr val="000000"/>
                </a:solidFill>
                <a:latin typeface="Garamond" panose="02020404030301010803" pitchFamily="18" charset="0"/>
                <a:ea typeface="KaiTi" panose="02010609060101010101" pitchFamily="49" charset="-122"/>
              </a:rPr>
              <a:t>灵活调整</a:t>
            </a:r>
            <a:r>
              <a:rPr kumimoji="1" lang="zh-CN" altLang="en-US" sz="2180" dirty="0">
                <a:solidFill>
                  <a:srgbClr val="000000"/>
                </a:solidFill>
                <a:latin typeface="Garamond" panose="02020404030301010803" pitchFamily="18" charset="0"/>
                <a:ea typeface="KaiTi" panose="02010609060101010101" pitchFamily="49" charset="-122"/>
              </a:rPr>
              <a:t>）</a:t>
            </a:r>
          </a:p>
        </p:txBody>
      </p:sp>
      <p:sp>
        <p:nvSpPr>
          <p:cNvPr id="31" name="文本框 30">
            <a:extLst>
              <a:ext uri="{FF2B5EF4-FFF2-40B4-BE49-F238E27FC236}">
                <a16:creationId xmlns:a16="http://schemas.microsoft.com/office/drawing/2014/main" id="{DD4EC6FE-4127-4512-B332-B72AA15B65CD}"/>
              </a:ext>
            </a:extLst>
          </p:cNvPr>
          <p:cNvSpPr txBox="1"/>
          <p:nvPr/>
        </p:nvSpPr>
        <p:spPr>
          <a:xfrm>
            <a:off x="5345422" y="4649667"/>
            <a:ext cx="4945544" cy="427809"/>
          </a:xfrm>
          <a:prstGeom prst="rect">
            <a:avLst/>
          </a:prstGeom>
          <a:noFill/>
        </p:spPr>
        <p:txBody>
          <a:bodyPr wrap="square" rtlCol="0">
            <a:spAutoFit/>
          </a:bodyPr>
          <a:lstStyle/>
          <a:p>
            <a:pPr defTabSz="1812066"/>
            <a:r>
              <a:rPr kumimoji="1" lang="zh-CN" altLang="en-US" sz="2180" dirty="0">
                <a:solidFill>
                  <a:srgbClr val="000000"/>
                </a:solidFill>
                <a:latin typeface="Garamond" panose="02020404030301010803" pitchFamily="18" charset="0"/>
                <a:ea typeface="KaiTi" panose="02010609060101010101" pitchFamily="49" charset="-122"/>
              </a:rPr>
              <a:t>技术进步</a:t>
            </a:r>
          </a:p>
        </p:txBody>
      </p:sp>
      <p:sp>
        <p:nvSpPr>
          <p:cNvPr id="32" name="文本框 31">
            <a:extLst>
              <a:ext uri="{FF2B5EF4-FFF2-40B4-BE49-F238E27FC236}">
                <a16:creationId xmlns:a16="http://schemas.microsoft.com/office/drawing/2014/main" id="{5FDC80E1-CE06-33D8-703C-B70BA1A9A25E}"/>
              </a:ext>
            </a:extLst>
          </p:cNvPr>
          <p:cNvSpPr txBox="1"/>
          <p:nvPr/>
        </p:nvSpPr>
        <p:spPr>
          <a:xfrm>
            <a:off x="5345421" y="5726181"/>
            <a:ext cx="4945542" cy="427809"/>
          </a:xfrm>
          <a:prstGeom prst="rect">
            <a:avLst/>
          </a:prstGeom>
          <a:noFill/>
        </p:spPr>
        <p:txBody>
          <a:bodyPr wrap="square" rtlCol="0">
            <a:spAutoFit/>
          </a:bodyPr>
          <a:lstStyle/>
          <a:p>
            <a:pPr defTabSz="1812066"/>
            <a:r>
              <a:rPr kumimoji="1" lang="zh-CN" altLang="en-US" sz="2180" dirty="0">
                <a:solidFill>
                  <a:srgbClr val="000000"/>
                </a:solidFill>
                <a:latin typeface="Garamond" panose="02020404030301010803" pitchFamily="18" charset="0"/>
                <a:ea typeface="KaiTi" panose="02010609060101010101" pitchFamily="49" charset="-122"/>
              </a:rPr>
              <a:t>假设供求相等</a:t>
            </a:r>
          </a:p>
        </p:txBody>
      </p:sp>
      <p:sp>
        <p:nvSpPr>
          <p:cNvPr id="33" name="左大括号 32">
            <a:extLst>
              <a:ext uri="{FF2B5EF4-FFF2-40B4-BE49-F238E27FC236}">
                <a16:creationId xmlns:a16="http://schemas.microsoft.com/office/drawing/2014/main" id="{97D9A15B-0498-818A-6379-5FA3B7BE20E0}"/>
              </a:ext>
            </a:extLst>
          </p:cNvPr>
          <p:cNvSpPr/>
          <p:nvPr/>
        </p:nvSpPr>
        <p:spPr>
          <a:xfrm>
            <a:off x="5022196" y="4978667"/>
            <a:ext cx="373654" cy="1078268"/>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defTabSz="1812066"/>
            <a:endParaRPr kumimoji="1" lang="zh-CN" altLang="en-US" sz="3567">
              <a:solidFill>
                <a:srgbClr val="000000"/>
              </a:solidFill>
              <a:latin typeface="Arial"/>
            </a:endParaRPr>
          </a:p>
        </p:txBody>
      </p:sp>
      <p:sp>
        <p:nvSpPr>
          <p:cNvPr id="34" name="文本框 33">
            <a:extLst>
              <a:ext uri="{FF2B5EF4-FFF2-40B4-BE49-F238E27FC236}">
                <a16:creationId xmlns:a16="http://schemas.microsoft.com/office/drawing/2014/main" id="{A9A6A5A3-EC0D-95B7-75A0-E3BDAD6ED8F4}"/>
              </a:ext>
            </a:extLst>
          </p:cNvPr>
          <p:cNvSpPr txBox="1"/>
          <p:nvPr/>
        </p:nvSpPr>
        <p:spPr>
          <a:xfrm>
            <a:off x="5345666" y="5187922"/>
            <a:ext cx="1640466" cy="427809"/>
          </a:xfrm>
          <a:prstGeom prst="rect">
            <a:avLst/>
          </a:prstGeom>
          <a:noFill/>
        </p:spPr>
        <p:txBody>
          <a:bodyPr wrap="square" rtlCol="0">
            <a:spAutoFit/>
          </a:bodyPr>
          <a:lstStyle/>
          <a:p>
            <a:pPr defTabSz="1812066"/>
            <a:r>
              <a:rPr kumimoji="1" lang="zh-CN" altLang="en-US" sz="2180" dirty="0">
                <a:solidFill>
                  <a:srgbClr val="000000"/>
                </a:solidFill>
                <a:latin typeface="Garamond" panose="02020404030301010803" pitchFamily="18" charset="0"/>
                <a:ea typeface="KaiTi" panose="02010609060101010101" pitchFamily="49" charset="-122"/>
              </a:rPr>
              <a:t>资本积累</a:t>
            </a:r>
          </a:p>
        </p:txBody>
      </p:sp>
      <p:sp>
        <p:nvSpPr>
          <p:cNvPr id="35" name="文本框 34">
            <a:extLst>
              <a:ext uri="{FF2B5EF4-FFF2-40B4-BE49-F238E27FC236}">
                <a16:creationId xmlns:a16="http://schemas.microsoft.com/office/drawing/2014/main" id="{A68C63CC-DA2F-FF74-4EE5-B29269063489}"/>
              </a:ext>
            </a:extLst>
          </p:cNvPr>
          <p:cNvSpPr txBox="1"/>
          <p:nvPr/>
        </p:nvSpPr>
        <p:spPr>
          <a:xfrm>
            <a:off x="7585040" y="5124881"/>
            <a:ext cx="2705923" cy="427809"/>
          </a:xfrm>
          <a:prstGeom prst="rect">
            <a:avLst/>
          </a:prstGeom>
          <a:noFill/>
        </p:spPr>
        <p:txBody>
          <a:bodyPr wrap="square" rtlCol="0">
            <a:spAutoFit/>
          </a:bodyPr>
          <a:lstStyle/>
          <a:p>
            <a:pPr defTabSz="1812066"/>
            <a:r>
              <a:rPr kumimoji="1" lang="en-US" altLang="zh-CN" sz="2180" dirty="0">
                <a:solidFill>
                  <a:srgbClr val="000000"/>
                </a:solidFill>
                <a:latin typeface="Garamond" panose="02020404030301010803" pitchFamily="18" charset="0"/>
                <a:ea typeface="KaiTi" panose="02010609060101010101" pitchFamily="49" charset="-122"/>
              </a:rPr>
              <a:t>The very long run </a:t>
            </a:r>
            <a:endParaRPr kumimoji="1" lang="zh-CN" altLang="en-US" sz="2180" dirty="0">
              <a:solidFill>
                <a:srgbClr val="000000"/>
              </a:solidFill>
              <a:latin typeface="Garamond" panose="02020404030301010803" pitchFamily="18" charset="0"/>
              <a:ea typeface="KaiTi" panose="02010609060101010101" pitchFamily="49" charset="-122"/>
            </a:endParaRPr>
          </a:p>
        </p:txBody>
      </p:sp>
      <p:sp>
        <p:nvSpPr>
          <p:cNvPr id="36" name="左大括号 35">
            <a:extLst>
              <a:ext uri="{FF2B5EF4-FFF2-40B4-BE49-F238E27FC236}">
                <a16:creationId xmlns:a16="http://schemas.microsoft.com/office/drawing/2014/main" id="{EB0C5891-AA84-85C8-70BB-7E6321AD6A4B}"/>
              </a:ext>
            </a:extLst>
          </p:cNvPr>
          <p:cNvSpPr/>
          <p:nvPr/>
        </p:nvSpPr>
        <p:spPr>
          <a:xfrm rot="10800000">
            <a:off x="7349445" y="4978667"/>
            <a:ext cx="373654" cy="1078268"/>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defTabSz="1812066"/>
            <a:endParaRPr kumimoji="1" lang="zh-CN" altLang="en-US" sz="3567">
              <a:solidFill>
                <a:srgbClr val="000000"/>
              </a:solidFill>
              <a:latin typeface="Arial"/>
            </a:endParaRPr>
          </a:p>
        </p:txBody>
      </p:sp>
    </p:spTree>
    <p:extLst>
      <p:ext uri="{BB962C8B-B14F-4D97-AF65-F5344CB8AC3E}">
        <p14:creationId xmlns:p14="http://schemas.microsoft.com/office/powerpoint/2010/main" val="1299395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779F14-C6AA-CC78-3DB0-09B7758468EB}"/>
              </a:ext>
            </a:extLst>
          </p:cNvPr>
          <p:cNvSpPr>
            <a:spLocks noGrp="1"/>
          </p:cNvSpPr>
          <p:nvPr>
            <p:ph type="title"/>
          </p:nvPr>
        </p:nvSpPr>
        <p:spPr/>
        <p:txBody>
          <a:bodyPr/>
          <a:lstStyle/>
          <a:p>
            <a:r>
              <a:rPr kumimoji="1" lang="zh-CN" altLang="en-US" dirty="0"/>
              <a:t>价格调整的实际情况</a:t>
            </a:r>
          </a:p>
        </p:txBody>
      </p:sp>
      <p:sp>
        <p:nvSpPr>
          <p:cNvPr id="4" name="页脚占位符 3">
            <a:extLst>
              <a:ext uri="{FF2B5EF4-FFF2-40B4-BE49-F238E27FC236}">
                <a16:creationId xmlns:a16="http://schemas.microsoft.com/office/drawing/2014/main" id="{155896FA-2A35-D539-56ED-E0695D00C483}"/>
              </a:ext>
            </a:extLst>
          </p:cNvPr>
          <p:cNvSpPr>
            <a:spLocks noGrp="1"/>
          </p:cNvSpPr>
          <p:nvPr>
            <p:ph type="ftr" sz="quarter" idx="10"/>
          </p:nvPr>
        </p:nvSpPr>
        <p:spPr/>
        <p:txBody>
          <a:bodyPr/>
          <a:lstStyle/>
          <a:p>
            <a:pPr defTabSz="1812066"/>
            <a:r>
              <a:rPr lang="en-US" altLang="zh-CN" dirty="0">
                <a:latin typeface="Arial"/>
              </a:rPr>
              <a:t>AS-AD</a:t>
            </a:r>
            <a:r>
              <a:rPr lang="zh-CN" altLang="en-US" dirty="0">
                <a:latin typeface="Arial"/>
              </a:rPr>
              <a:t>模型</a:t>
            </a:r>
            <a:endParaRPr lang="zh-CN" altLang="zh-CN" dirty="0">
              <a:latin typeface="Arial"/>
            </a:endParaRPr>
          </a:p>
        </p:txBody>
      </p:sp>
      <p:sp>
        <p:nvSpPr>
          <p:cNvPr id="5" name="灯片编号占位符 4">
            <a:extLst>
              <a:ext uri="{FF2B5EF4-FFF2-40B4-BE49-F238E27FC236}">
                <a16:creationId xmlns:a16="http://schemas.microsoft.com/office/drawing/2014/main" id="{BA215D2D-470D-8F0D-277E-04826A8F9DCD}"/>
              </a:ext>
            </a:extLst>
          </p:cNvPr>
          <p:cNvSpPr>
            <a:spLocks noGrp="1"/>
          </p:cNvSpPr>
          <p:nvPr>
            <p:ph type="sldNum" sz="quarter" idx="11"/>
          </p:nvPr>
        </p:nvSpPr>
        <p:spPr/>
        <p:txBody>
          <a:bodyPr/>
          <a:lstStyle/>
          <a:p>
            <a:pPr defTabSz="1812066"/>
            <a:fld id="{FF75CA96-F32A-7F4F-98C9-CA940BD9BB90}" type="slidenum">
              <a:rPr lang="zh-CN" altLang="zh-CN">
                <a:latin typeface="Arial"/>
              </a:rPr>
              <a:pPr defTabSz="1812066"/>
              <a:t>5</a:t>
            </a:fld>
            <a:endParaRPr lang="en-US" altLang="zh-CN">
              <a:latin typeface="Arial"/>
            </a:endParaRPr>
          </a:p>
        </p:txBody>
      </p:sp>
      <p:pic>
        <p:nvPicPr>
          <p:cNvPr id="6" name="内容占位符 5" descr="图形用户界面, 文本, 应用程序, 电子邮件&#10;&#10;描述已自动生成">
            <a:extLst>
              <a:ext uri="{FF2B5EF4-FFF2-40B4-BE49-F238E27FC236}">
                <a16:creationId xmlns:a16="http://schemas.microsoft.com/office/drawing/2014/main" id="{0B9DF324-EDB1-E004-2B33-650B0E9989F5}"/>
              </a:ext>
            </a:extLst>
          </p:cNvPr>
          <p:cNvPicPr>
            <a:picLocks noGrp="1" noChangeAspect="1"/>
          </p:cNvPicPr>
          <p:nvPr>
            <p:ph idx="1"/>
          </p:nvPr>
        </p:nvPicPr>
        <p:blipFill rotWithShape="1">
          <a:blip r:embed="rId2"/>
          <a:srcRect b="15552"/>
          <a:stretch/>
        </p:blipFill>
        <p:spPr>
          <a:xfrm>
            <a:off x="1899407" y="1071972"/>
            <a:ext cx="8308248" cy="42120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文本框 6">
            <a:extLst>
              <a:ext uri="{FF2B5EF4-FFF2-40B4-BE49-F238E27FC236}">
                <a16:creationId xmlns:a16="http://schemas.microsoft.com/office/drawing/2014/main" id="{69C4C756-2857-DF8A-F7C1-2FFB2CB01B16}"/>
              </a:ext>
            </a:extLst>
          </p:cNvPr>
          <p:cNvSpPr txBox="1"/>
          <p:nvPr/>
        </p:nvSpPr>
        <p:spPr>
          <a:xfrm>
            <a:off x="1672463" y="5526820"/>
            <a:ext cx="8834325" cy="519245"/>
          </a:xfrm>
          <a:prstGeom prst="rect">
            <a:avLst/>
          </a:prstGeom>
          <a:noFill/>
        </p:spPr>
        <p:txBody>
          <a:bodyPr wrap="square" rtlCol="0">
            <a:spAutoFit/>
          </a:bodyPr>
          <a:lstStyle/>
          <a:p>
            <a:pPr defTabSz="1812066"/>
            <a:r>
              <a:rPr kumimoji="1" lang="en-US" altLang="zh-CN" sz="1387" i="1" dirty="0">
                <a:solidFill>
                  <a:srgbClr val="000000"/>
                </a:solidFill>
              </a:rPr>
              <a:t>Source</a:t>
            </a:r>
            <a:r>
              <a:rPr kumimoji="1" lang="en-US" altLang="zh-CN" sz="1387" dirty="0">
                <a:solidFill>
                  <a:srgbClr val="000000"/>
                </a:solidFill>
              </a:rPr>
              <a:t>: Table 4.1, Alan S. Blinder, “On Sticky Prices: Academic Theories Meet the Real World,” in N. G. Mankiw, ed., Monetary Policy (Chicago: University of Chicago Press, 1994), 117-154.</a:t>
            </a:r>
            <a:endParaRPr kumimoji="1" lang="zh-CN" altLang="en-US" sz="1387" dirty="0">
              <a:solidFill>
                <a:srgbClr val="000000"/>
              </a:solidFill>
            </a:endParaRPr>
          </a:p>
        </p:txBody>
      </p:sp>
    </p:spTree>
    <p:extLst>
      <p:ext uri="{BB962C8B-B14F-4D97-AF65-F5344CB8AC3E}">
        <p14:creationId xmlns:p14="http://schemas.microsoft.com/office/powerpoint/2010/main" val="2082809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4F219-EA87-C311-D1D4-2686AEC94178}"/>
              </a:ext>
            </a:extLst>
          </p:cNvPr>
          <p:cNvSpPr>
            <a:spLocks noGrp="1"/>
          </p:cNvSpPr>
          <p:nvPr>
            <p:ph type="title"/>
          </p:nvPr>
        </p:nvSpPr>
        <p:spPr/>
        <p:txBody>
          <a:bodyPr/>
          <a:lstStyle/>
          <a:p>
            <a:r>
              <a:rPr kumimoji="1" lang="en-US" altLang="zh-CN" dirty="0"/>
              <a:t>AS-AD</a:t>
            </a:r>
            <a:r>
              <a:rPr kumimoji="1" lang="zh-CN" altLang="en-US" dirty="0"/>
              <a:t>模型与</a:t>
            </a:r>
            <a:r>
              <a:rPr kumimoji="1" lang="en-US" altLang="zh-CN" dirty="0"/>
              <a:t>IS- LM</a:t>
            </a:r>
            <a:r>
              <a:rPr kumimoji="1" lang="zh-CN" altLang="en-US" dirty="0"/>
              <a:t>曲线</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EE7445F-27CC-C29D-79EB-D48858836BF4}"/>
                  </a:ext>
                </a:extLst>
              </p:cNvPr>
              <p:cNvSpPr>
                <a:spLocks noGrp="1"/>
              </p:cNvSpPr>
              <p:nvPr>
                <p:ph idx="1"/>
              </p:nvPr>
            </p:nvSpPr>
            <p:spPr>
              <a:xfrm>
                <a:off x="1900915" y="1008063"/>
                <a:ext cx="8605872" cy="5118100"/>
              </a:xfrm>
            </p:spPr>
            <p:txBody>
              <a:bodyPr/>
              <a:lstStyle/>
              <a:p>
                <a:r>
                  <a:rPr kumimoji="1" lang="zh-CN" altLang="en-US" sz="2774" dirty="0"/>
                  <a:t>总需求曲线：由</a:t>
                </a:r>
                <a:r>
                  <a:rPr kumimoji="1" lang="en-US" altLang="zh-CN" sz="2774" dirty="0"/>
                  <a:t>IS-LM</a:t>
                </a:r>
                <a:r>
                  <a:rPr kumimoji="1" lang="zh-CN" altLang="en-US" sz="2774" dirty="0"/>
                  <a:t>模型推导</a:t>
                </a:r>
                <a:endParaRPr kumimoji="1" lang="en-US" altLang="zh-CN" sz="2774" dirty="0"/>
              </a:p>
              <a:p>
                <a:pPr lvl="1"/>
                <a:r>
                  <a:rPr kumimoji="1" lang="en-US" altLang="zh-CN" sz="2576" dirty="0"/>
                  <a:t>IS: </a:t>
                </a:r>
                <a14:m>
                  <m:oMath xmlns:m="http://schemas.openxmlformats.org/officeDocument/2006/math">
                    <m:r>
                      <a:rPr kumimoji="1" lang="en-US" altLang="zh-CN" sz="2576" i="1" dirty="0">
                        <a:latin typeface="Cambria Math" panose="02040503050406030204" pitchFamily="18" charset="0"/>
                      </a:rPr>
                      <m:t>𝑌</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𝐶</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𝑌</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𝑇</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𝐼</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𝑟</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𝐺</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𝑁𝑋</m:t>
                    </m:r>
                  </m:oMath>
                </a14:m>
                <a:endParaRPr kumimoji="1" lang="en-US" altLang="zh-CN" sz="2576" dirty="0"/>
              </a:p>
              <a:p>
                <a:pPr lvl="1"/>
                <a:r>
                  <a:rPr kumimoji="1" lang="en-US" altLang="zh-CN" sz="2576" dirty="0"/>
                  <a:t>LM:</a:t>
                </a:r>
                <a14:m>
                  <m:oMath xmlns:m="http://schemas.openxmlformats.org/officeDocument/2006/math">
                    <m:r>
                      <a:rPr kumimoji="1" lang="en-US" altLang="zh-CN" sz="2576" dirty="0">
                        <a:latin typeface="Cambria Math" panose="02040503050406030204" pitchFamily="18" charset="0"/>
                      </a:rPr>
                      <m:t> </m:t>
                    </m:r>
                    <m:r>
                      <a:rPr kumimoji="1" lang="en-US" altLang="zh-CN" sz="2576" i="1" dirty="0">
                        <a:latin typeface="Cambria Math" panose="02040503050406030204" pitchFamily="18" charset="0"/>
                      </a:rPr>
                      <m:t>𝑀</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𝑃</m:t>
                    </m:r>
                    <m:r>
                      <a:rPr kumimoji="1" lang="en-US" altLang="zh-CN" sz="2576" i="1" dirty="0">
                        <a:latin typeface="Cambria Math" panose="02040503050406030204" pitchFamily="18" charset="0"/>
                      </a:rPr>
                      <m:t>=</m:t>
                    </m:r>
                    <m:r>
                      <a:rPr kumimoji="1" lang="en-US" altLang="zh-CN" sz="2576" i="1" dirty="0">
                        <a:latin typeface="Cambria Math" panose="02040503050406030204" pitchFamily="18" charset="0"/>
                      </a:rPr>
                      <m:t>𝐿</m:t>
                    </m:r>
                    <m:r>
                      <a:rPr kumimoji="1" lang="en-US" altLang="zh-CN" sz="2576" i="1" dirty="0">
                        <a:latin typeface="Cambria Math" panose="02040503050406030204" pitchFamily="18" charset="0"/>
                      </a:rPr>
                      <m:t>(</m:t>
                    </m:r>
                    <m:r>
                      <a:rPr kumimoji="1" lang="en-US" altLang="zh-CN" sz="2576" i="1" dirty="0" err="1">
                        <a:latin typeface="Cambria Math" panose="02040503050406030204" pitchFamily="18" charset="0"/>
                      </a:rPr>
                      <m:t>𝑟</m:t>
                    </m:r>
                    <m:r>
                      <a:rPr kumimoji="1" lang="en-US" altLang="zh-CN" sz="2576" i="1" dirty="0" err="1">
                        <a:latin typeface="Cambria Math" panose="02040503050406030204" pitchFamily="18" charset="0"/>
                      </a:rPr>
                      <m:t>,</m:t>
                    </m:r>
                    <m:r>
                      <a:rPr kumimoji="1" lang="en-US" altLang="zh-CN" sz="2576" i="1" dirty="0" err="1">
                        <a:latin typeface="Cambria Math" panose="02040503050406030204" pitchFamily="18" charset="0"/>
                      </a:rPr>
                      <m:t>𝑌</m:t>
                    </m:r>
                    <m:r>
                      <a:rPr kumimoji="1" lang="en-US" altLang="zh-CN" sz="2576" i="1" dirty="0">
                        <a:latin typeface="Cambria Math" panose="02040503050406030204" pitchFamily="18" charset="0"/>
                      </a:rPr>
                      <m:t>)</m:t>
                    </m:r>
                  </m:oMath>
                </a14:m>
                <a:endParaRPr kumimoji="1" lang="en-US" altLang="zh-CN" sz="2378" dirty="0"/>
              </a:p>
              <a:p>
                <a:r>
                  <a:rPr kumimoji="1" lang="zh-CN" altLang="en-US" sz="2479" dirty="0"/>
                  <a:t>凯恩斯：价格固定</a:t>
                </a:r>
                <a:endParaRPr kumimoji="1" lang="en-US" altLang="zh-CN" sz="2479" dirty="0"/>
              </a:p>
              <a:p>
                <a:pPr lvl="1"/>
                <a:r>
                  <a:rPr kumimoji="1" lang="zh-CN" altLang="en-US" sz="2378" dirty="0"/>
                  <a:t>假设</a:t>
                </a:r>
                <a:r>
                  <a:rPr kumimoji="1" lang="en-US" altLang="zh-CN" sz="2378" dirty="0"/>
                  <a:t>P =</a:t>
                </a:r>
                <a14:m>
                  <m:oMath xmlns:m="http://schemas.openxmlformats.org/officeDocument/2006/math">
                    <m:acc>
                      <m:accPr>
                        <m:chr m:val="̅"/>
                        <m:ctrlPr>
                          <a:rPr kumimoji="1" lang="en-US" altLang="zh-CN" sz="2378" i="1">
                            <a:latin typeface="Cambria Math" panose="02040503050406030204" pitchFamily="18" charset="0"/>
                          </a:rPr>
                        </m:ctrlPr>
                      </m:accPr>
                      <m:e>
                        <m:r>
                          <a:rPr kumimoji="1" lang="en-US" altLang="zh-CN" sz="2378" i="1">
                            <a:latin typeface="Cambria Math" panose="02040503050406030204" pitchFamily="18" charset="0"/>
                          </a:rPr>
                          <m:t>𝑃</m:t>
                        </m:r>
                      </m:e>
                    </m:acc>
                  </m:oMath>
                </a14:m>
                <a:endParaRPr kumimoji="1" lang="en-US" altLang="zh-CN" sz="2378" dirty="0"/>
              </a:p>
              <a:p>
                <a:pPr lvl="1"/>
                <a:r>
                  <a:rPr kumimoji="1" lang="en-US" altLang="zh-CN" sz="2378" dirty="0"/>
                  <a:t>AS</a:t>
                </a:r>
                <a:r>
                  <a:rPr kumimoji="1" lang="zh-CN" altLang="en-US" sz="2378" dirty="0"/>
                  <a:t>曲线为水平线</a:t>
                </a:r>
                <a:endParaRPr kumimoji="1" lang="en-US" altLang="zh-CN" sz="2378" dirty="0"/>
              </a:p>
              <a:p>
                <a:pPr lvl="1"/>
                <a:r>
                  <a:rPr kumimoji="1" lang="zh-CN" altLang="en-US" sz="2378" dirty="0"/>
                  <a:t>含义：短期内价格不变，总需求变化主要影响产出。</a:t>
                </a:r>
                <a:endParaRPr kumimoji="1" lang="en-US" altLang="zh-CN" sz="2378" dirty="0"/>
              </a:p>
              <a:p>
                <a:r>
                  <a:rPr kumimoji="1" lang="zh-CN" altLang="en-US" sz="2479" dirty="0"/>
                  <a:t>古典主义：产出固定在充分就业水平</a:t>
                </a:r>
                <a:endParaRPr kumimoji="1" lang="en-US" altLang="zh-CN" sz="2479" dirty="0"/>
              </a:p>
              <a:p>
                <a:pPr lvl="1"/>
                <a:r>
                  <a:rPr kumimoji="1" lang="zh-CN" altLang="en-US" sz="2378" dirty="0"/>
                  <a:t>假设</a:t>
                </a:r>
                <a14:m>
                  <m:oMath xmlns:m="http://schemas.openxmlformats.org/officeDocument/2006/math">
                    <m:r>
                      <a:rPr kumimoji="1" lang="en-US" altLang="zh-CN" sz="2378" i="1" dirty="0">
                        <a:latin typeface="Cambria Math" panose="02040503050406030204" pitchFamily="18" charset="0"/>
                      </a:rPr>
                      <m:t>𝑌</m:t>
                    </m:r>
                    <m:r>
                      <a:rPr kumimoji="1" lang="en-US" altLang="zh-CN" sz="2378" i="1" dirty="0">
                        <a:latin typeface="Cambria Math" panose="02040503050406030204" pitchFamily="18" charset="0"/>
                      </a:rPr>
                      <m:t> =</m:t>
                    </m:r>
                    <m:acc>
                      <m:accPr>
                        <m:chr m:val="̅"/>
                        <m:ctrlPr>
                          <a:rPr kumimoji="1" lang="en-US" altLang="zh-CN" sz="2378" i="1">
                            <a:latin typeface="Cambria Math" panose="02040503050406030204" pitchFamily="18" charset="0"/>
                          </a:rPr>
                        </m:ctrlPr>
                      </m:accPr>
                      <m:e>
                        <m:r>
                          <m:rPr>
                            <m:sty m:val="p"/>
                          </m:rPr>
                          <a:rPr kumimoji="1" lang="en-US" altLang="zh-CN" sz="2378" i="1">
                            <a:latin typeface="Cambria Math" panose="02040503050406030204" pitchFamily="18" charset="0"/>
                          </a:rPr>
                          <m:t>Y</m:t>
                        </m:r>
                      </m:e>
                    </m:acc>
                  </m:oMath>
                </a14:m>
                <a:r>
                  <a:rPr kumimoji="1" lang="zh-CN" altLang="en-US" sz="2378" dirty="0"/>
                  <a:t>（外生给定的量）或</a:t>
                </a:r>
                <a14:m>
                  <m:oMath xmlns:m="http://schemas.openxmlformats.org/officeDocument/2006/math">
                    <m:r>
                      <a:rPr kumimoji="1" lang="en-US" altLang="zh-CN" sz="2378" i="1" dirty="0">
                        <a:latin typeface="Cambria Math" panose="02040503050406030204" pitchFamily="18" charset="0"/>
                      </a:rPr>
                      <m:t>𝑌</m:t>
                    </m:r>
                    <m:r>
                      <a:rPr kumimoji="1" lang="en-US" altLang="zh-CN" sz="2378" i="1" dirty="0">
                        <a:latin typeface="Cambria Math" panose="02040503050406030204" pitchFamily="18" charset="0"/>
                      </a:rPr>
                      <m:t>=</m:t>
                    </m:r>
                    <m:sSub>
                      <m:sSubPr>
                        <m:ctrlPr>
                          <a:rPr kumimoji="1" lang="en-US" altLang="zh-CN" sz="2378" i="1" dirty="0">
                            <a:latin typeface="Cambria Math" panose="02040503050406030204" pitchFamily="18" charset="0"/>
                          </a:rPr>
                        </m:ctrlPr>
                      </m:sSubPr>
                      <m:e>
                        <m:r>
                          <a:rPr kumimoji="1" lang="en-US" altLang="zh-CN" sz="2378" i="1" dirty="0">
                            <a:latin typeface="Cambria Math" panose="02040503050406030204" pitchFamily="18" charset="0"/>
                          </a:rPr>
                          <m:t>𝑌</m:t>
                        </m:r>
                      </m:e>
                      <m:sub>
                        <m:r>
                          <a:rPr kumimoji="1" lang="en-US" altLang="zh-CN" sz="2378" i="1" dirty="0">
                            <a:latin typeface="Cambria Math" panose="02040503050406030204" pitchFamily="18" charset="0"/>
                          </a:rPr>
                          <m:t>𝑓</m:t>
                        </m:r>
                      </m:sub>
                    </m:sSub>
                  </m:oMath>
                </a14:m>
                <a:r>
                  <a:rPr kumimoji="1" lang="zh-CN" altLang="en-US" sz="2378" dirty="0"/>
                  <a:t>（</a:t>
                </a:r>
                <a:r>
                  <a:rPr lang="zh-CN" altLang="zh-CN" sz="2378" dirty="0"/>
                  <a:t>full employment</a:t>
                </a:r>
                <a:r>
                  <a:rPr kumimoji="1" lang="zh-CN" altLang="en-US" sz="2378" dirty="0"/>
                  <a:t>）</a:t>
                </a:r>
                <a:endParaRPr kumimoji="1" lang="en-US" altLang="zh-CN" sz="2378" dirty="0"/>
              </a:p>
              <a:p>
                <a:pPr lvl="1"/>
                <a:r>
                  <a:rPr kumimoji="1" lang="en-US" altLang="zh-CN" sz="2378" dirty="0"/>
                  <a:t>AS</a:t>
                </a:r>
                <a:r>
                  <a:rPr kumimoji="1" lang="zh-CN" altLang="en-US" sz="2378" dirty="0"/>
                  <a:t>曲线为垂直线</a:t>
                </a:r>
                <a:endParaRPr kumimoji="1" lang="en-US" altLang="zh-CN" sz="2378" dirty="0"/>
              </a:p>
              <a:p>
                <a:pPr lvl="1"/>
                <a:r>
                  <a:rPr kumimoji="1" lang="zh-CN" altLang="en-US" sz="2378" dirty="0"/>
                  <a:t>含义：</a:t>
                </a:r>
                <a:r>
                  <a:rPr lang="zh-CN" altLang="zh-CN" sz="2378" dirty="0"/>
                  <a:t>长期中价格和工资充分调整，总需求变化主要影响价格，不能改变充分就业产出。</a:t>
                </a:r>
                <a:endParaRPr kumimoji="1" lang="en-US" altLang="zh-CN" sz="2378" dirty="0"/>
              </a:p>
            </p:txBody>
          </p:sp>
        </mc:Choice>
        <mc:Fallback>
          <p:sp>
            <p:nvSpPr>
              <p:cNvPr id="3" name="内容占位符 2">
                <a:extLst>
                  <a:ext uri="{FF2B5EF4-FFF2-40B4-BE49-F238E27FC236}">
                    <a16:creationId xmlns:a16="http://schemas.microsoft.com/office/drawing/2014/main" id="{8EE7445F-27CC-C29D-79EB-D48858836BF4}"/>
                  </a:ext>
                </a:extLst>
              </p:cNvPr>
              <p:cNvSpPr>
                <a:spLocks noGrp="1" noRot="1" noChangeAspect="1" noMove="1" noResize="1" noEditPoints="1" noAdjustHandles="1" noChangeArrowheads="1" noChangeShapeType="1" noTextEdit="1"/>
              </p:cNvSpPr>
              <p:nvPr>
                <p:ph idx="1"/>
              </p:nvPr>
            </p:nvSpPr>
            <p:spPr>
              <a:xfrm>
                <a:off x="1900915" y="1008063"/>
                <a:ext cx="8605872" cy="5118100"/>
              </a:xfrm>
              <a:blipFill>
                <a:blip r:embed="rId3"/>
                <a:stretch>
                  <a:fillRect l="-1700" t="-2262" b="-8929"/>
                </a:stretch>
              </a:blipFill>
            </p:spPr>
            <p:txBody>
              <a:bodyPr/>
              <a:lstStyle/>
              <a:p>
                <a:r>
                  <a:rPr lang="zh-CN" altLang="en-US">
                    <a:noFill/>
                  </a:rPr>
                  <a:t> </a:t>
                </a:r>
              </a:p>
            </p:txBody>
          </p:sp>
        </mc:Fallback>
      </mc:AlternateContent>
      <p:sp>
        <p:nvSpPr>
          <p:cNvPr id="5" name="灯片编号占位符 4">
            <a:extLst>
              <a:ext uri="{FF2B5EF4-FFF2-40B4-BE49-F238E27FC236}">
                <a16:creationId xmlns:a16="http://schemas.microsoft.com/office/drawing/2014/main" id="{E239D2D6-EA2E-A1CF-F1E5-E454F1BD2C54}"/>
              </a:ext>
            </a:extLst>
          </p:cNvPr>
          <p:cNvSpPr>
            <a:spLocks noGrp="1"/>
          </p:cNvSpPr>
          <p:nvPr>
            <p:ph type="sldNum" sz="quarter" idx="11"/>
          </p:nvPr>
        </p:nvSpPr>
        <p:spPr/>
        <p:txBody>
          <a:bodyPr/>
          <a:lstStyle/>
          <a:p>
            <a:pPr defTabSz="1812066"/>
            <a:fld id="{FF75CA96-F32A-7F4F-98C9-CA940BD9BB90}" type="slidenum">
              <a:rPr lang="zh-CN" altLang="zh-CN">
                <a:latin typeface="Arial"/>
              </a:rPr>
              <a:pPr defTabSz="1812066"/>
              <a:t>6</a:t>
            </a:fld>
            <a:endParaRPr lang="en-US" altLang="zh-CN">
              <a:latin typeface="Arial"/>
            </a:endParaRPr>
          </a:p>
        </p:txBody>
      </p:sp>
    </p:spTree>
    <p:extLst>
      <p:ext uri="{BB962C8B-B14F-4D97-AF65-F5344CB8AC3E}">
        <p14:creationId xmlns:p14="http://schemas.microsoft.com/office/powerpoint/2010/main" val="1537672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64109" y="1503821"/>
            <a:ext cx="8306110" cy="4436123"/>
          </a:xfrm>
        </p:spPr>
        <p:txBody>
          <a:bodyPr/>
          <a:lstStyle/>
          <a:p>
            <a:r>
              <a:rPr lang="zh-CN" altLang="en-US" sz="2398" b="1" dirty="0"/>
              <a:t>假定：</a:t>
            </a:r>
            <a:r>
              <a:rPr lang="zh-CN" altLang="en-US" sz="2398" dirty="0"/>
              <a:t>劳动力市场处于充分就业的均衡状态</a:t>
            </a:r>
            <a:endParaRPr lang="en-US" altLang="zh-CN" sz="2398" dirty="0"/>
          </a:p>
          <a:p>
            <a:endParaRPr lang="en-US" altLang="zh-CN" sz="2398" dirty="0"/>
          </a:p>
          <a:p>
            <a:endParaRPr lang="en-US" altLang="zh-CN" sz="2398" dirty="0"/>
          </a:p>
          <a:p>
            <a:endParaRPr lang="en-US" altLang="zh-CN" sz="2398" dirty="0"/>
          </a:p>
          <a:p>
            <a:endParaRPr lang="en-US" altLang="zh-CN" sz="2398" dirty="0"/>
          </a:p>
          <a:p>
            <a:endParaRPr lang="en-US" altLang="zh-CN" sz="2398" dirty="0"/>
          </a:p>
          <a:p>
            <a:r>
              <a:rPr lang="zh-CN" altLang="en-US" sz="2398" dirty="0"/>
              <a:t>当经济出现技术进步时，潜在</a:t>
            </a:r>
            <a:endParaRPr lang="en-US" altLang="zh-CN" sz="2398" dirty="0"/>
          </a:p>
          <a:p>
            <a:pPr marL="0" indent="0">
              <a:buNone/>
            </a:pPr>
            <a:r>
              <a:rPr lang="en-US" altLang="zh-CN" sz="2398" dirty="0"/>
              <a:t>GDP</a:t>
            </a:r>
            <a:r>
              <a:rPr lang="zh-CN" altLang="en-US" sz="2398" dirty="0"/>
              <a:t>将随时间推移而增长，古典</a:t>
            </a:r>
            <a:r>
              <a:rPr lang="en-US" altLang="zh-CN" sz="2398" dirty="0"/>
              <a:t>AS</a:t>
            </a:r>
            <a:r>
              <a:rPr lang="zh-CN" altLang="en-US" sz="2398" dirty="0"/>
              <a:t>曲线会向右移动。</a:t>
            </a:r>
            <a:endParaRPr lang="en-US" altLang="zh-CN" sz="2398" dirty="0"/>
          </a:p>
          <a:p>
            <a:r>
              <a:rPr lang="zh-CN" altLang="en-US" sz="2398" dirty="0"/>
              <a:t>也就是说，潜在</a:t>
            </a:r>
            <a:r>
              <a:rPr lang="en-US" altLang="zh-CN" sz="2398" dirty="0"/>
              <a:t>GDP</a:t>
            </a:r>
            <a:r>
              <a:rPr lang="zh-CN" altLang="en-US" sz="2398" dirty="0"/>
              <a:t>“相对于价格而言，是外生的”</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a:solidFill>
                  <a:srgbClr val="000000"/>
                </a:solidFill>
                <a:effectLst>
                  <a:outerShdw blurRad="38100" dist="19050" dir="2700000" algn="tl" rotWithShape="0">
                    <a:srgbClr val="000000">
                      <a:alpha val="40000"/>
                    </a:srgbClr>
                  </a:outerShdw>
                </a:effectLst>
              </a:rPr>
              <a:pPr>
                <a:defRPr/>
              </a:pPr>
              <a:t>7</a:t>
            </a:fld>
            <a:endParaRPr lang="zh-CN" altLang="en-US">
              <a:solidFill>
                <a:srgbClr val="000000"/>
              </a:solidFill>
              <a:effectLst>
                <a:outerShdw blurRad="38100" dist="19050" dir="2700000" algn="tl" rotWithShape="0">
                  <a:srgbClr val="000000">
                    <a:alpha val="40000"/>
                  </a:srgbClr>
                </a:outerShdw>
              </a:effectLst>
            </a:endParaRPr>
          </a:p>
        </p:txBody>
      </p:sp>
      <p:grpSp>
        <p:nvGrpSpPr>
          <p:cNvPr id="7" name="组合 6">
            <a:extLst>
              <a:ext uri="{FF2B5EF4-FFF2-40B4-BE49-F238E27FC236}">
                <a16:creationId xmlns:a16="http://schemas.microsoft.com/office/drawing/2014/main" id="{ED31D0A1-0F9D-46F2-A0ED-0ABA46027841}"/>
              </a:ext>
            </a:extLst>
          </p:cNvPr>
          <p:cNvGrpSpPr/>
          <p:nvPr/>
        </p:nvGrpSpPr>
        <p:grpSpPr>
          <a:xfrm>
            <a:off x="6809474" y="2338835"/>
            <a:ext cx="3537173" cy="2722164"/>
            <a:chOff x="5096577" y="2982085"/>
            <a:chExt cx="3540421" cy="2724663"/>
          </a:xfrm>
        </p:grpSpPr>
        <p:pic>
          <p:nvPicPr>
            <p:cNvPr id="8" name="Picture 4" descr="xf178">
              <a:extLst>
                <a:ext uri="{FF2B5EF4-FFF2-40B4-BE49-F238E27FC236}">
                  <a16:creationId xmlns:a16="http://schemas.microsoft.com/office/drawing/2014/main" id="{1FD2B949-CE3B-437B-8DC5-9D89BCBAC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6577" y="2982085"/>
              <a:ext cx="3540421" cy="236146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02F4BD4E-1B2E-4651-96AE-F6A4C63904B8}"/>
                </a:ext>
              </a:extLst>
            </p:cNvPr>
            <p:cNvSpPr/>
            <p:nvPr/>
          </p:nvSpPr>
          <p:spPr>
            <a:xfrm>
              <a:off x="5909781" y="5293820"/>
              <a:ext cx="2049235" cy="412928"/>
            </a:xfrm>
            <a:prstGeom prst="rect">
              <a:avLst/>
            </a:prstGeom>
          </p:spPr>
          <p:txBody>
            <a:bodyPr wrap="none">
              <a:spAutoFit/>
            </a:bodyPr>
            <a:lstStyle/>
            <a:p>
              <a:pPr algn="ctr" defTabSz="1812066">
                <a:spcBef>
                  <a:spcPct val="50000"/>
                </a:spcBef>
              </a:pPr>
              <a:r>
                <a:rPr lang="zh-CN" altLang="en-US" sz="2081" dirty="0">
                  <a:ln w="0"/>
                  <a:solidFill>
                    <a:srgbClr val="000000"/>
                  </a:solidFill>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古典总供给曲线</a:t>
              </a:r>
            </a:p>
          </p:txBody>
        </p:sp>
      </p:grpSp>
      <mc:AlternateContent xmlns:mc="http://schemas.openxmlformats.org/markup-compatibility/2006">
        <mc:Choice xmlns:a14="http://schemas.microsoft.com/office/drawing/2010/main" Requires="a14">
          <p:sp>
            <p:nvSpPr>
              <p:cNvPr id="10" name="内容占位符 2">
                <a:extLst>
                  <a:ext uri="{FF2B5EF4-FFF2-40B4-BE49-F238E27FC236}">
                    <a16:creationId xmlns:a16="http://schemas.microsoft.com/office/drawing/2014/main" id="{75A0E672-59F8-4D8B-AAB2-F240FB8C19EB}"/>
                  </a:ext>
                </a:extLst>
              </p:cNvPr>
              <p:cNvSpPr txBox="1">
                <a:spLocks/>
              </p:cNvSpPr>
              <p:nvPr/>
            </p:nvSpPr>
            <p:spPr bwMode="auto">
              <a:xfrm>
                <a:off x="2085872" y="2124469"/>
                <a:ext cx="4723601" cy="2517113"/>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91356" tIns="45679" rIns="91356" bIns="45679"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3643">
                  <a:spcBef>
                    <a:spcPts val="1982"/>
                  </a:spcBef>
                  <a:buNone/>
                </a:pPr>
                <a:r>
                  <a:rPr lang="en-US" altLang="zh-CN" sz="2180" dirty="0">
                    <a:solidFill>
                      <a:srgbClr val="000000"/>
                    </a:solidFill>
                    <a:latin typeface="KaiTi" panose="02010609060101010101" pitchFamily="49" charset="-122"/>
                    <a:ea typeface="KaiTi" panose="02010609060101010101" pitchFamily="49" charset="-122"/>
                  </a:rPr>
                  <a:t>    </a:t>
                </a:r>
                <a:r>
                  <a:rPr lang="zh-CN" altLang="en-US" sz="2180" dirty="0">
                    <a:solidFill>
                      <a:srgbClr val="000000"/>
                    </a:solidFill>
                    <a:latin typeface="KaiTi" panose="02010609060101010101" pitchFamily="49" charset="-122"/>
                    <a:ea typeface="KaiTi" panose="02010609060101010101" pitchFamily="49" charset="-122"/>
                  </a:rPr>
                  <a:t>古典学派认为，总供给曲线是一条位于</a:t>
                </a:r>
                <a:r>
                  <a:rPr lang="zh-CN" altLang="en-US" sz="2180" b="1" dirty="0">
                    <a:solidFill>
                      <a:srgbClr val="000000"/>
                    </a:solidFill>
                    <a:latin typeface="KaiTi" panose="02010609060101010101" pitchFamily="49" charset="-122"/>
                    <a:ea typeface="KaiTi" panose="02010609060101010101" pitchFamily="49" charset="-122"/>
                  </a:rPr>
                  <a:t>潜在产出或充分就业水平上</a:t>
                </a:r>
                <a:r>
                  <a:rPr lang="zh-CN" altLang="en-US" sz="2180" dirty="0">
                    <a:solidFill>
                      <a:srgbClr val="000000"/>
                    </a:solidFill>
                    <a:latin typeface="KaiTi" panose="02010609060101010101" pitchFamily="49" charset="-122"/>
                    <a:ea typeface="KaiTi" panose="02010609060101010101" pitchFamily="49" charset="-122"/>
                  </a:rPr>
                  <a:t>的垂直线。</a:t>
                </a:r>
                <a:endParaRPr lang="en-US" altLang="zh-CN" sz="2180" dirty="0">
                  <a:solidFill>
                    <a:srgbClr val="000000"/>
                  </a:solidFill>
                  <a:latin typeface="KaiTi" panose="02010609060101010101" pitchFamily="49" charset="-122"/>
                  <a:ea typeface="KaiTi" panose="02010609060101010101" pitchFamily="49" charset="-122"/>
                </a:endParaRPr>
              </a:p>
              <a:p>
                <a:pPr marL="0" indent="0" defTabSz="913643">
                  <a:spcBef>
                    <a:spcPts val="1982"/>
                  </a:spcBef>
                  <a:buNone/>
                </a:pPr>
                <a:r>
                  <a:rPr lang="en-US" altLang="zh-CN" sz="1982" dirty="0">
                    <a:solidFill>
                      <a:srgbClr val="000000"/>
                    </a:solidFill>
                    <a:latin typeface="KaiTi" panose="02010609060101010101" pitchFamily="49" charset="-122"/>
                    <a:ea typeface="KaiTi" panose="02010609060101010101" pitchFamily="49" charset="-122"/>
                  </a:rPr>
                  <a:t>    </a:t>
                </a:r>
                <a:r>
                  <a:rPr lang="zh-CN" altLang="en-US" sz="1982" dirty="0">
                    <a:solidFill>
                      <a:srgbClr val="000000"/>
                    </a:solidFill>
                    <a:latin typeface="KaiTi" panose="02010609060101010101" pitchFamily="49" charset="-122"/>
                    <a:ea typeface="KaiTi" panose="02010609060101010101" pitchFamily="49" charset="-122"/>
                  </a:rPr>
                  <a:t>这是因为，在给定技术、资本和劳动供给条件下，长期产出由生产能力决定。工资和价格充分调整后，经济产出保持在充分就业产出</a:t>
                </a:r>
                <a14:m>
                  <m:oMath xmlns:m="http://schemas.openxmlformats.org/officeDocument/2006/math">
                    <m:sSub>
                      <m:sSubPr>
                        <m:ctrlPr>
                          <a:rPr lang="en-US" altLang="zh-CN" sz="1982" i="1">
                            <a:solidFill>
                              <a:srgbClr val="000000"/>
                            </a:solidFill>
                            <a:latin typeface="Cambria Math" panose="02040503050406030204" pitchFamily="18" charset="0"/>
                            <a:ea typeface="KaiTi" panose="02010609060101010101" pitchFamily="49" charset="-122"/>
                          </a:rPr>
                        </m:ctrlPr>
                      </m:sSubPr>
                      <m:e>
                        <m:r>
                          <a:rPr lang="en-US" altLang="zh-CN" sz="1982" i="1">
                            <a:solidFill>
                              <a:srgbClr val="000000"/>
                            </a:solidFill>
                            <a:latin typeface="Cambria Math" panose="02040503050406030204" pitchFamily="18" charset="0"/>
                            <a:ea typeface="KaiTi" panose="02010609060101010101" pitchFamily="49" charset="-122"/>
                          </a:rPr>
                          <m:t>𝑌</m:t>
                        </m:r>
                      </m:e>
                      <m:sub>
                        <m:r>
                          <a:rPr lang="en-US" altLang="zh-CN" sz="1982" i="1">
                            <a:solidFill>
                              <a:srgbClr val="000000"/>
                            </a:solidFill>
                            <a:latin typeface="Cambria Math" panose="02040503050406030204" pitchFamily="18" charset="0"/>
                            <a:ea typeface="KaiTi" panose="02010609060101010101" pitchFamily="49" charset="-122"/>
                          </a:rPr>
                          <m:t>𝑓</m:t>
                        </m:r>
                      </m:sub>
                    </m:sSub>
                  </m:oMath>
                </a14:m>
                <a:r>
                  <a:rPr lang="en-US" altLang="zh-CN" sz="1982" dirty="0">
                    <a:solidFill>
                      <a:srgbClr val="000000"/>
                    </a:solidFill>
                    <a:latin typeface="KaiTi" panose="02010609060101010101" pitchFamily="49" charset="-122"/>
                    <a:ea typeface="KaiTi" panose="02010609060101010101" pitchFamily="49" charset="-122"/>
                  </a:rPr>
                  <a:t>​</a:t>
                </a:r>
                <a:r>
                  <a:rPr lang="zh-CN" altLang="en-US" sz="1982" dirty="0">
                    <a:solidFill>
                      <a:srgbClr val="000000"/>
                    </a:solidFill>
                    <a:latin typeface="KaiTi" panose="02010609060101010101" pitchFamily="49" charset="-122"/>
                    <a:ea typeface="KaiTi" panose="02010609060101010101" pitchFamily="49" charset="-122"/>
                  </a:rPr>
                  <a:t>，而不随价格水平变化</a:t>
                </a:r>
                <a:endParaRPr lang="en-US" altLang="zh-CN" sz="1982" dirty="0">
                  <a:solidFill>
                    <a:srgbClr val="000000"/>
                  </a:solidFill>
                  <a:latin typeface="KaiTi" panose="02010609060101010101" pitchFamily="49" charset="-122"/>
                  <a:ea typeface="KaiTi" panose="02010609060101010101" pitchFamily="49" charset="-122"/>
                </a:endParaRPr>
              </a:p>
            </p:txBody>
          </p:sp>
        </mc:Choice>
        <mc:Fallback>
          <p:sp>
            <p:nvSpPr>
              <p:cNvPr id="10" name="内容占位符 2">
                <a:extLst>
                  <a:ext uri="{FF2B5EF4-FFF2-40B4-BE49-F238E27FC236}">
                    <a16:creationId xmlns:a16="http://schemas.microsoft.com/office/drawing/2014/main" id="{75A0E672-59F8-4D8B-AAB2-F240FB8C19EB}"/>
                  </a:ext>
                </a:extLst>
              </p:cNvPr>
              <p:cNvSpPr txBox="1">
                <a:spLocks noRot="1" noChangeAspect="1" noMove="1" noResize="1" noEditPoints="1" noAdjustHandles="1" noChangeArrowheads="1" noChangeShapeType="1" noTextEdit="1"/>
              </p:cNvSpPr>
              <p:nvPr/>
            </p:nvSpPr>
            <p:spPr bwMode="auto">
              <a:xfrm>
                <a:off x="2085872" y="2124469"/>
                <a:ext cx="4723601" cy="2517113"/>
              </a:xfrm>
              <a:prstGeom prst="rect">
                <a:avLst/>
              </a:prstGeom>
              <a:blipFill>
                <a:blip r:embed="rId3"/>
                <a:stretch>
                  <a:fillRect l="-1416" t="-2899" r="-1158" b="-8213"/>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1" name="Rectangle 6">
            <a:extLst>
              <a:ext uri="{FF2B5EF4-FFF2-40B4-BE49-F238E27FC236}">
                <a16:creationId xmlns:a16="http://schemas.microsoft.com/office/drawing/2014/main" id="{FFB3C34A-2127-E347-464A-C2D4EC5658CD}"/>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7</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13" name="标题 12">
            <a:extLst>
              <a:ext uri="{FF2B5EF4-FFF2-40B4-BE49-F238E27FC236}">
                <a16:creationId xmlns:a16="http://schemas.microsoft.com/office/drawing/2014/main" id="{093B3CE2-DCF2-DA8A-78D3-72BCFF6FAD81}"/>
              </a:ext>
            </a:extLst>
          </p:cNvPr>
          <p:cNvSpPr>
            <a:spLocks noGrp="1"/>
          </p:cNvSpPr>
          <p:nvPr>
            <p:ph type="title"/>
          </p:nvPr>
        </p:nvSpPr>
        <p:spPr>
          <a:xfrm>
            <a:off x="1870780" y="252415"/>
            <a:ext cx="8402860" cy="1251405"/>
          </a:xfrm>
        </p:spPr>
        <p:txBody>
          <a:bodyPr/>
          <a:lstStyle/>
          <a:p>
            <a:r>
              <a:rPr kumimoji="1" lang="zh-CN" altLang="en-US" dirty="0"/>
              <a:t>长期总供给曲线（古典）</a:t>
            </a:r>
          </a:p>
        </p:txBody>
      </p:sp>
    </p:spTree>
    <p:extLst>
      <p:ext uri="{BB962C8B-B14F-4D97-AF65-F5344CB8AC3E}">
        <p14:creationId xmlns:p14="http://schemas.microsoft.com/office/powerpoint/2010/main" val="1423962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00915" y="1008063"/>
            <a:ext cx="8618622" cy="5118100"/>
          </a:xfrm>
        </p:spPr>
        <p:txBody>
          <a:bodyPr/>
          <a:lstStyle/>
          <a:p>
            <a:r>
              <a:rPr lang="zh-CN" altLang="en-US" b="1" dirty="0"/>
              <a:t>为什么古典总供给曲线具有垂直形状？</a:t>
            </a:r>
            <a:endParaRPr lang="en-US" altLang="zh-CN" b="1" dirty="0"/>
          </a:p>
          <a:p>
            <a:r>
              <a:rPr lang="en-US" altLang="zh-CN" dirty="0">
                <a:latin typeface="+mn-ea"/>
                <a:cs typeface="Times New Roman" panose="02020603050405020304" pitchFamily="18" charset="0"/>
              </a:rPr>
              <a:t>1. </a:t>
            </a:r>
            <a:r>
              <a:rPr lang="zh-CN" altLang="en-US" dirty="0">
                <a:latin typeface="+mn-ea"/>
                <a:cs typeface="Times New Roman" panose="02020603050405020304" pitchFamily="18" charset="0"/>
              </a:rPr>
              <a:t>古典学派假设货币工资（</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）和价格水平（</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）可以迅速进行调节，使得</a:t>
            </a:r>
            <a:r>
              <a:rPr lang="zh-CN" altLang="en-US" b="1" dirty="0">
                <a:latin typeface="+mn-ea"/>
                <a:cs typeface="Times New Roman" panose="02020603050405020304" pitchFamily="18" charset="0"/>
              </a:rPr>
              <a:t>实际工资（</a:t>
            </a:r>
            <a:r>
              <a:rPr lang="en-US" altLang="zh-CN" b="1" dirty="0">
                <a:latin typeface="+mn-ea"/>
                <a:cs typeface="Times New Roman" panose="02020603050405020304" pitchFamily="18" charset="0"/>
              </a:rPr>
              <a:t>W/P</a:t>
            </a:r>
            <a:r>
              <a:rPr lang="zh-CN" altLang="en-US" b="1" dirty="0">
                <a:latin typeface="+mn-ea"/>
                <a:cs typeface="Times New Roman" panose="02020603050405020304" pitchFamily="18" charset="0"/>
              </a:rPr>
              <a:t>）总是处于充分就业时的水平</a:t>
            </a:r>
            <a:r>
              <a:rPr lang="zh-CN" altLang="en-US" dirty="0">
                <a:latin typeface="+mn-ea"/>
                <a:cs typeface="Times New Roman" panose="02020603050405020304" pitchFamily="18" charset="0"/>
              </a:rPr>
              <a:t>，总产量也处于充分就业水平。</a:t>
            </a:r>
            <a:endParaRPr lang="en-US" altLang="zh-CN" dirty="0">
              <a:latin typeface="+mn-ea"/>
              <a:cs typeface="Times New Roman" panose="02020603050405020304" pitchFamily="18" charset="0"/>
            </a:endParaRPr>
          </a:p>
          <a:p>
            <a:pPr marL="0" indent="0">
              <a:buNone/>
            </a:pPr>
            <a:r>
              <a:rPr lang="zh-CN" altLang="en-US" dirty="0">
                <a:latin typeface="+mn-ea"/>
                <a:cs typeface="Times New Roman" panose="02020603050405020304" pitchFamily="18" charset="0"/>
              </a:rPr>
              <a:t>       只要存在</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可迅速调整的假设，古典总供给曲线也是短期总供给曲线。</a:t>
            </a:r>
            <a:endParaRPr lang="en-US" altLang="zh-CN" dirty="0">
              <a:latin typeface="+mn-ea"/>
              <a:cs typeface="Times New Roman" panose="02020603050405020304" pitchFamily="18" charset="0"/>
            </a:endParaRPr>
          </a:p>
          <a:p>
            <a:r>
              <a:rPr lang="en-US" altLang="zh-CN" dirty="0">
                <a:latin typeface="+mn-ea"/>
                <a:cs typeface="Times New Roman" panose="02020603050405020304" pitchFamily="18" charset="0"/>
              </a:rPr>
              <a:t>2. </a:t>
            </a:r>
            <a:r>
              <a:rPr lang="zh-CN" altLang="en-US" dirty="0">
                <a:latin typeface="+mn-ea"/>
                <a:cs typeface="Times New Roman" panose="02020603050405020304" pitchFamily="18" charset="0"/>
              </a:rPr>
              <a:t>在长期，即使不采用</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能够迅速调整的假设，货币工资和价格水平也被认为</a:t>
            </a:r>
            <a:r>
              <a:rPr lang="zh-CN" altLang="en-US" b="1" dirty="0">
                <a:latin typeface="+mn-ea"/>
                <a:cs typeface="Times New Roman" panose="02020603050405020304" pitchFamily="18" charset="0"/>
              </a:rPr>
              <a:t>具有充分的时间</a:t>
            </a:r>
            <a:r>
              <a:rPr lang="zh-CN" altLang="en-US" dirty="0">
                <a:latin typeface="+mn-ea"/>
                <a:cs typeface="Times New Roman" panose="02020603050405020304" pitchFamily="18" charset="0"/>
              </a:rPr>
              <a:t>来进行调整，使实际工资处于充分就业水平。</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a:solidFill>
                  <a:srgbClr val="000000"/>
                </a:solidFill>
                <a:effectLst>
                  <a:outerShdw blurRad="38100" dist="19050" dir="2700000" algn="tl" rotWithShape="0">
                    <a:srgbClr val="000000">
                      <a:alpha val="40000"/>
                    </a:srgbClr>
                  </a:outerShdw>
                </a:effectLst>
              </a:rPr>
              <a:pPr>
                <a:defRPr/>
              </a:pPr>
              <a:t>8</a:t>
            </a:fld>
            <a:endParaRPr lang="zh-CN" altLang="en-US">
              <a:solidFill>
                <a:srgbClr val="000000"/>
              </a:solidFill>
              <a:effectLst>
                <a:outerShdw blurRad="38100" dist="19050" dir="2700000" algn="tl" rotWithShape="0">
                  <a:srgbClr val="000000">
                    <a:alpha val="40000"/>
                  </a:srgbClr>
                </a:outerShdw>
              </a:effectLst>
            </a:endParaRPr>
          </a:p>
        </p:txBody>
      </p:sp>
      <p:sp>
        <p:nvSpPr>
          <p:cNvPr id="7" name="Rectangle 6">
            <a:extLst>
              <a:ext uri="{FF2B5EF4-FFF2-40B4-BE49-F238E27FC236}">
                <a16:creationId xmlns:a16="http://schemas.microsoft.com/office/drawing/2014/main" id="{1707E6EC-99F2-E285-C17A-4209CD1BAA22}"/>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8</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0C0C0B5B-4608-AD8B-A28D-F40638473A9B}"/>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12066">
              <a:defRPr/>
            </a:pPr>
            <a:r>
              <a:rPr lang="en-US" altLang="zh-CN" sz="1784">
                <a:latin typeface="Arial"/>
              </a:rPr>
              <a:t>AS-AD</a:t>
            </a:r>
            <a:r>
              <a:rPr lang="zh-CN" altLang="en-US" sz="1784">
                <a:latin typeface="Arial"/>
              </a:rPr>
              <a:t>模型</a:t>
            </a:r>
            <a:endParaRPr lang="zh-CN" altLang="en-US" sz="1784" dirty="0">
              <a:latin typeface="Arial"/>
            </a:endParaRPr>
          </a:p>
        </p:txBody>
      </p:sp>
      <p:sp>
        <p:nvSpPr>
          <p:cNvPr id="9" name="标题 8">
            <a:extLst>
              <a:ext uri="{FF2B5EF4-FFF2-40B4-BE49-F238E27FC236}">
                <a16:creationId xmlns:a16="http://schemas.microsoft.com/office/drawing/2014/main" id="{F8B9878C-7F60-4EB9-8C4F-83291B86ADA1}"/>
              </a:ext>
            </a:extLst>
          </p:cNvPr>
          <p:cNvSpPr>
            <a:spLocks noGrp="1"/>
          </p:cNvSpPr>
          <p:nvPr>
            <p:ph type="title"/>
          </p:nvPr>
        </p:nvSpPr>
        <p:spPr/>
        <p:txBody>
          <a:bodyPr/>
          <a:lstStyle/>
          <a:p>
            <a:r>
              <a:rPr kumimoji="1" lang="zh-CN" altLang="en-US" dirty="0"/>
              <a:t>古典总供给曲线</a:t>
            </a:r>
          </a:p>
        </p:txBody>
      </p:sp>
    </p:spTree>
    <p:extLst>
      <p:ext uri="{BB962C8B-B14F-4D97-AF65-F5344CB8AC3E}">
        <p14:creationId xmlns:p14="http://schemas.microsoft.com/office/powerpoint/2010/main" val="1597511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021123" y="1050737"/>
                <a:ext cx="7879464" cy="1268304"/>
              </a:xfrm>
            </p:spPr>
            <p:txBody>
              <a:bodyPr/>
              <a:lstStyle/>
              <a:p>
                <a:r>
                  <a:rPr lang="zh-CN" altLang="en-US" sz="2398" dirty="0"/>
                  <a:t>总需求曲线</a:t>
                </a:r>
                <a14:m>
                  <m:oMath xmlns:m="http://schemas.openxmlformats.org/officeDocument/2006/math">
                    <m:r>
                      <a:rPr lang="en-US" altLang="zh-CN" sz="2398" i="1">
                        <a:latin typeface="Cambria Math" panose="02040503050406030204" pitchFamily="18" charset="0"/>
                      </a:rPr>
                      <m:t>𝐴</m:t>
                    </m:r>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𝐷</m:t>
                        </m:r>
                      </m:e>
                      <m:sub>
                        <m:r>
                          <a:rPr lang="en-US" altLang="zh-CN" sz="2398" i="1">
                            <a:latin typeface="Cambria Math" panose="02040503050406030204" pitchFamily="18" charset="0"/>
                          </a:rPr>
                          <m:t>0</m:t>
                        </m:r>
                      </m:sub>
                    </m:sSub>
                  </m:oMath>
                </a14:m>
                <a:r>
                  <a:rPr lang="zh-CN" altLang="en-US" sz="2398" dirty="0"/>
                  <a:t>与古典总供给曲线</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𝑦</m:t>
                        </m:r>
                      </m:e>
                      <m:sub>
                        <m:r>
                          <a:rPr lang="en-US" altLang="zh-CN" sz="2398" i="1">
                            <a:latin typeface="Cambria Math" panose="02040503050406030204" pitchFamily="18" charset="0"/>
                          </a:rPr>
                          <m:t>𝑓</m:t>
                        </m:r>
                      </m:sub>
                    </m:sSub>
                  </m:oMath>
                </a14:m>
                <a:r>
                  <a:rPr lang="zh-CN" altLang="en-US" sz="2398" dirty="0"/>
                  <a:t>相交于</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𝐸</m:t>
                        </m:r>
                      </m:e>
                      <m:sub>
                        <m:r>
                          <a:rPr lang="en-US" altLang="zh-CN" sz="2398" i="1">
                            <a:latin typeface="Cambria Math" panose="02040503050406030204" pitchFamily="18" charset="0"/>
                          </a:rPr>
                          <m:t>0</m:t>
                        </m:r>
                      </m:sub>
                    </m:sSub>
                  </m:oMath>
                </a14:m>
                <a:r>
                  <a:rPr lang="zh-CN" altLang="en-US" sz="2398" dirty="0"/>
                  <a:t>，此时价格水平是</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𝑃</m:t>
                        </m:r>
                      </m:e>
                      <m:sub>
                        <m:r>
                          <a:rPr lang="en-US" altLang="zh-CN" sz="2398" i="1">
                            <a:latin typeface="Cambria Math" panose="02040503050406030204" pitchFamily="18" charset="0"/>
                          </a:rPr>
                          <m:t>0</m:t>
                        </m:r>
                      </m:sub>
                    </m:sSub>
                  </m:oMath>
                </a14:m>
                <a:r>
                  <a:rPr lang="zh-CN" altLang="en-US" sz="2398" dirty="0"/>
                  <a:t>，产量是充分就业时的产量</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𝑦</m:t>
                        </m:r>
                      </m:e>
                      <m:sub>
                        <m:r>
                          <a:rPr lang="en-US" altLang="zh-CN" sz="2398" i="1">
                            <a:latin typeface="Cambria Math" panose="02040503050406030204" pitchFamily="18" charset="0"/>
                          </a:rPr>
                          <m:t>𝑓</m:t>
                        </m:r>
                      </m:sub>
                    </m:sSub>
                    <m:r>
                      <a:rPr lang="zh-CN" altLang="en-US" sz="2398" i="1">
                        <a:latin typeface="Cambria Math" panose="02040503050406030204" pitchFamily="18" charset="0"/>
                      </a:rPr>
                      <m:t>。</m:t>
                    </m:r>
                  </m:oMath>
                </a14:m>
                <a:endParaRPr lang="zh-CN" altLang="en-US" sz="2398"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2021123" y="1050737"/>
                <a:ext cx="7879464" cy="1268304"/>
              </a:xfrm>
              <a:blipFill>
                <a:blip r:embed="rId2"/>
                <a:stretch>
                  <a:fillRect l="-1471" t="-5769"/>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a:solidFill>
                  <a:srgbClr val="000000"/>
                </a:solidFill>
                <a:effectLst>
                  <a:outerShdw blurRad="38100" dist="19050" dir="2700000" algn="tl" rotWithShape="0">
                    <a:srgbClr val="000000">
                      <a:alpha val="40000"/>
                    </a:srgbClr>
                  </a:outerShdw>
                </a:effectLst>
              </a:rPr>
              <a:pPr>
                <a:defRPr/>
              </a:pPr>
              <a:t>9</a:t>
            </a:fld>
            <a:endParaRPr lang="zh-CN" altLang="en-US">
              <a:solidFill>
                <a:srgbClr val="000000"/>
              </a:solidFill>
              <a:effectLst>
                <a:outerShdw blurRad="38100" dist="19050" dir="2700000" algn="tl" rotWithShape="0">
                  <a:srgbClr val="000000">
                    <a:alpha val="40000"/>
                  </a:srgbClr>
                </a:outerShdw>
              </a:effectLst>
            </a:endParaRPr>
          </a:p>
        </p:txBody>
      </p:sp>
      <p:pic>
        <p:nvPicPr>
          <p:cNvPr id="7" name="Picture 4" descr="xf1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207" y="2319041"/>
            <a:ext cx="3794072" cy="292691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6746197" y="5238713"/>
            <a:ext cx="2954655" cy="369204"/>
          </a:xfrm>
          <a:prstGeom prst="rect">
            <a:avLst/>
          </a:prstGeom>
        </p:spPr>
        <p:txBody>
          <a:bodyPr wrap="none">
            <a:spAutoFit/>
          </a:bodyPr>
          <a:lstStyle/>
          <a:p>
            <a:pPr algn="ctr" defTabSz="1812066">
              <a:spcBef>
                <a:spcPct val="50000"/>
              </a:spcBef>
            </a:pPr>
            <a:r>
              <a:rPr lang="zh-CN" altLang="en-US" sz="1799" dirty="0">
                <a:ln w="0"/>
                <a:solidFill>
                  <a:srgbClr val="000000"/>
                </a:solidFill>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古典总供给曲线的政策含义</a:t>
            </a:r>
          </a:p>
        </p:txBody>
      </p:sp>
      <mc:AlternateContent xmlns:mc="http://schemas.openxmlformats.org/markup-compatibility/2006">
        <mc:Choice xmlns:a14="http://schemas.microsoft.com/office/drawing/2010/main" Requires="a14">
          <p:sp>
            <p:nvSpPr>
              <p:cNvPr id="9" name="内容占位符 2"/>
              <p:cNvSpPr txBox="1">
                <a:spLocks/>
              </p:cNvSpPr>
              <p:nvPr/>
            </p:nvSpPr>
            <p:spPr bwMode="auto">
              <a:xfrm>
                <a:off x="2095394" y="2319042"/>
                <a:ext cx="4271499" cy="361615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356" tIns="45679" rIns="91356" bIns="45679"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3017" indent="-453017" algn="just" defTabSz="913643">
                  <a:lnSpc>
                    <a:spcPts val="2398"/>
                  </a:lnSpc>
                  <a:spcBef>
                    <a:spcPts val="1982"/>
                  </a:spcBef>
                </a:pPr>
                <a:r>
                  <a:rPr lang="zh-CN" altLang="en-US" sz="2180" dirty="0">
                    <a:solidFill>
                      <a:srgbClr val="000000"/>
                    </a:solidFill>
                    <a:latin typeface="Garamond" panose="02020404030301010803" pitchFamily="18" charset="0"/>
                    <a:ea typeface="KaiTi" panose="02010609060101010101" pitchFamily="49" charset="-122"/>
                  </a:rPr>
                  <a:t>在</a:t>
                </a:r>
                <a14:m>
                  <m:oMath xmlns:m="http://schemas.openxmlformats.org/officeDocument/2006/math">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𝐸</m:t>
                        </m:r>
                      </m:e>
                      <m:sub>
                        <m:r>
                          <a:rPr lang="en-US" altLang="zh-CN" sz="2180" i="1">
                            <a:solidFill>
                              <a:srgbClr val="000000"/>
                            </a:solidFill>
                            <a:latin typeface="Cambria Math" panose="02040503050406030204" pitchFamily="18" charset="0"/>
                          </a:rPr>
                          <m:t>0</m:t>
                        </m:r>
                      </m:sub>
                    </m:sSub>
                  </m:oMath>
                </a14:m>
                <a:r>
                  <a:rPr lang="zh-CN" altLang="en-US" sz="2180" dirty="0">
                    <a:solidFill>
                      <a:srgbClr val="000000"/>
                    </a:solidFill>
                    <a:latin typeface="Garamond" panose="02020404030301010803" pitchFamily="18" charset="0"/>
                    <a:ea typeface="KaiTi" panose="02010609060101010101" pitchFamily="49" charset="-122"/>
                  </a:rPr>
                  <a:t>的状态下，国家即使通过增加需求的政策使</a:t>
                </a:r>
                <a14:m>
                  <m:oMath xmlns:m="http://schemas.openxmlformats.org/officeDocument/2006/math">
                    <m:r>
                      <a:rPr lang="en-US" altLang="zh-CN" sz="2180" i="1">
                        <a:solidFill>
                          <a:srgbClr val="000000"/>
                        </a:solidFill>
                        <a:latin typeface="Cambria Math" panose="02040503050406030204" pitchFamily="18" charset="0"/>
                      </a:rPr>
                      <m:t>𝐴</m:t>
                    </m:r>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𝐷</m:t>
                        </m:r>
                      </m:e>
                      <m:sub>
                        <m:r>
                          <a:rPr lang="en-US" altLang="zh-CN" sz="2180" i="1">
                            <a:solidFill>
                              <a:srgbClr val="000000"/>
                            </a:solidFill>
                            <a:latin typeface="Cambria Math" panose="02040503050406030204" pitchFamily="18" charset="0"/>
                          </a:rPr>
                          <m:t>0</m:t>
                        </m:r>
                      </m:sub>
                    </m:sSub>
                  </m:oMath>
                </a14:m>
                <a:r>
                  <a:rPr lang="zh-CN" altLang="en-US" sz="2180" dirty="0">
                    <a:solidFill>
                      <a:srgbClr val="000000"/>
                    </a:solidFill>
                    <a:latin typeface="Garamond" panose="02020404030301010803" pitchFamily="18" charset="0"/>
                    <a:ea typeface="KaiTi" panose="02010609060101010101" pitchFamily="49" charset="-122"/>
                  </a:rPr>
                  <a:t>向右移动到</a:t>
                </a:r>
                <a14:m>
                  <m:oMath xmlns:m="http://schemas.openxmlformats.org/officeDocument/2006/math">
                    <m:r>
                      <a:rPr lang="en-US" altLang="zh-CN" sz="2180" i="1">
                        <a:solidFill>
                          <a:srgbClr val="000000"/>
                        </a:solidFill>
                        <a:latin typeface="Cambria Math" panose="02040503050406030204" pitchFamily="18" charset="0"/>
                      </a:rPr>
                      <m:t>𝐴</m:t>
                    </m:r>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𝐷</m:t>
                        </m:r>
                      </m:e>
                      <m:sub>
                        <m:r>
                          <a:rPr lang="en-US" altLang="zh-CN" sz="2180" i="1">
                            <a:solidFill>
                              <a:srgbClr val="000000"/>
                            </a:solidFill>
                            <a:latin typeface="Cambria Math" panose="02040503050406030204" pitchFamily="18" charset="0"/>
                          </a:rPr>
                          <m:t>1</m:t>
                        </m:r>
                      </m:sub>
                    </m:sSub>
                  </m:oMath>
                </a14:m>
                <a:r>
                  <a:rPr lang="zh-CN" altLang="en-US" sz="2180" dirty="0">
                    <a:solidFill>
                      <a:srgbClr val="000000"/>
                    </a:solidFill>
                    <a:latin typeface="Garamond" panose="02020404030301010803" pitchFamily="18" charset="0"/>
                    <a:ea typeface="KaiTi" panose="02010609060101010101" pitchFamily="49" charset="-122"/>
                  </a:rPr>
                  <a:t>的位置，其与</a:t>
                </a:r>
                <a14:m>
                  <m:oMath xmlns:m="http://schemas.openxmlformats.org/officeDocument/2006/math">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𝑦</m:t>
                        </m:r>
                      </m:e>
                      <m:sub>
                        <m:r>
                          <a:rPr lang="en-US" altLang="zh-CN" sz="2180" i="1">
                            <a:solidFill>
                              <a:srgbClr val="000000"/>
                            </a:solidFill>
                            <a:latin typeface="Cambria Math" panose="02040503050406030204" pitchFamily="18" charset="0"/>
                          </a:rPr>
                          <m:t>𝑓</m:t>
                        </m:r>
                      </m:sub>
                    </m:sSub>
                  </m:oMath>
                </a14:m>
                <a:r>
                  <a:rPr lang="zh-CN" altLang="en-US" sz="2180" dirty="0">
                    <a:solidFill>
                      <a:srgbClr val="000000"/>
                    </a:solidFill>
                    <a:latin typeface="Garamond" panose="02020404030301010803" pitchFamily="18" charset="0"/>
                    <a:ea typeface="KaiTi" panose="02010609060101010101" pitchFamily="49" charset="-122"/>
                  </a:rPr>
                  <a:t>的新交点为</a:t>
                </a:r>
                <a14:m>
                  <m:oMath xmlns:m="http://schemas.openxmlformats.org/officeDocument/2006/math">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𝐸</m:t>
                        </m:r>
                      </m:e>
                      <m:sub>
                        <m:r>
                          <a:rPr lang="en-US" altLang="zh-CN" sz="2180" i="1">
                            <a:solidFill>
                              <a:srgbClr val="000000"/>
                            </a:solidFill>
                            <a:latin typeface="Cambria Math" panose="02040503050406030204" pitchFamily="18" charset="0"/>
                          </a:rPr>
                          <m:t>1</m:t>
                        </m:r>
                      </m:sub>
                    </m:sSub>
                  </m:oMath>
                </a14:m>
                <a:r>
                  <a:rPr lang="zh-CN" altLang="en-US" sz="2180" dirty="0">
                    <a:solidFill>
                      <a:srgbClr val="000000"/>
                    </a:solidFill>
                    <a:latin typeface="Garamond" panose="02020404030301010803" pitchFamily="18" charset="0"/>
                    <a:ea typeface="KaiTi" panose="02010609060101010101" pitchFamily="49" charset="-122"/>
                  </a:rPr>
                  <a:t>，在</a:t>
                </a:r>
                <a14:m>
                  <m:oMath xmlns:m="http://schemas.openxmlformats.org/officeDocument/2006/math">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𝐸</m:t>
                        </m:r>
                      </m:e>
                      <m:sub>
                        <m:r>
                          <a:rPr lang="en-US" altLang="zh-CN" sz="2180" i="1">
                            <a:solidFill>
                              <a:srgbClr val="000000"/>
                            </a:solidFill>
                            <a:latin typeface="Cambria Math" panose="02040503050406030204" pitchFamily="18" charset="0"/>
                          </a:rPr>
                          <m:t>1</m:t>
                        </m:r>
                      </m:sub>
                    </m:sSub>
                    <m:r>
                      <a:rPr lang="zh-CN" altLang="en-US" sz="2180" i="1">
                        <a:solidFill>
                          <a:srgbClr val="000000"/>
                        </a:solidFill>
                        <a:latin typeface="Cambria Math" panose="02040503050406030204" pitchFamily="18" charset="0"/>
                      </a:rPr>
                      <m:t>点</m:t>
                    </m:r>
                  </m:oMath>
                </a14:m>
                <a:r>
                  <a:rPr lang="zh-CN" altLang="en-US" sz="2180" dirty="0">
                    <a:solidFill>
                      <a:srgbClr val="000000"/>
                    </a:solidFill>
                    <a:latin typeface="Garamond" panose="02020404030301010803" pitchFamily="18" charset="0"/>
                    <a:ea typeface="KaiTi" panose="02010609060101010101" pitchFamily="49" charset="-122"/>
                  </a:rPr>
                  <a:t>，价格水平是</a:t>
                </a:r>
                <a14:m>
                  <m:oMath xmlns:m="http://schemas.openxmlformats.org/officeDocument/2006/math">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𝑃</m:t>
                        </m:r>
                      </m:e>
                      <m:sub>
                        <m:r>
                          <a:rPr lang="en-US" altLang="zh-CN" sz="2180" i="1">
                            <a:solidFill>
                              <a:srgbClr val="000000"/>
                            </a:solidFill>
                            <a:latin typeface="Cambria Math" panose="02040503050406030204" pitchFamily="18" charset="0"/>
                          </a:rPr>
                          <m:t>1</m:t>
                        </m:r>
                      </m:sub>
                    </m:sSub>
                  </m:oMath>
                </a14:m>
                <a:r>
                  <a:rPr lang="zh-CN" altLang="en-US" sz="2180" dirty="0">
                    <a:solidFill>
                      <a:srgbClr val="000000"/>
                    </a:solidFill>
                    <a:latin typeface="Garamond" panose="02020404030301010803" pitchFamily="18" charset="0"/>
                    <a:ea typeface="KaiTi" panose="02010609060101010101" pitchFamily="49" charset="-122"/>
                  </a:rPr>
                  <a:t>，可是产量依然是</a:t>
                </a:r>
                <a14:m>
                  <m:oMath xmlns:m="http://schemas.openxmlformats.org/officeDocument/2006/math">
                    <m:sSub>
                      <m:sSubPr>
                        <m:ctrlPr>
                          <a:rPr lang="en-US" altLang="zh-CN" sz="2180" i="1">
                            <a:solidFill>
                              <a:srgbClr val="000000"/>
                            </a:solidFill>
                            <a:latin typeface="Cambria Math" panose="02040503050406030204" pitchFamily="18" charset="0"/>
                          </a:rPr>
                        </m:ctrlPr>
                      </m:sSubPr>
                      <m:e>
                        <m:r>
                          <a:rPr lang="en-US" altLang="zh-CN" sz="2180" i="1">
                            <a:solidFill>
                              <a:srgbClr val="000000"/>
                            </a:solidFill>
                            <a:latin typeface="Cambria Math" panose="02040503050406030204" pitchFamily="18" charset="0"/>
                          </a:rPr>
                          <m:t>𝑦</m:t>
                        </m:r>
                      </m:e>
                      <m:sub>
                        <m:r>
                          <a:rPr lang="en-US" altLang="zh-CN" sz="2180" i="1">
                            <a:solidFill>
                              <a:srgbClr val="000000"/>
                            </a:solidFill>
                            <a:latin typeface="Cambria Math" panose="02040503050406030204" pitchFamily="18" charset="0"/>
                          </a:rPr>
                          <m:t>𝑓</m:t>
                        </m:r>
                      </m:sub>
                    </m:sSub>
                  </m:oMath>
                </a14:m>
                <a:r>
                  <a:rPr lang="zh-CN" altLang="en-US" sz="2180" dirty="0">
                    <a:solidFill>
                      <a:srgbClr val="000000"/>
                    </a:solidFill>
                    <a:latin typeface="Garamond" panose="02020404030301010803" pitchFamily="18" charset="0"/>
                    <a:ea typeface="KaiTi" panose="02010609060101010101" pitchFamily="49" charset="-122"/>
                  </a:rPr>
                  <a:t>。</a:t>
                </a:r>
                <a:endParaRPr lang="en-US" altLang="zh-CN" sz="2180" dirty="0">
                  <a:solidFill>
                    <a:srgbClr val="000000"/>
                  </a:solidFill>
                  <a:latin typeface="Garamond" panose="02020404030301010803" pitchFamily="18" charset="0"/>
                  <a:ea typeface="KaiTi" panose="02010609060101010101" pitchFamily="49" charset="-122"/>
                </a:endParaRPr>
              </a:p>
              <a:p>
                <a:pPr marL="453017" indent="-453017" algn="just" defTabSz="913643">
                  <a:lnSpc>
                    <a:spcPts val="2398"/>
                  </a:lnSpc>
                  <a:spcBef>
                    <a:spcPts val="1982"/>
                  </a:spcBef>
                </a:pPr>
                <a:r>
                  <a:rPr lang="zh-CN" altLang="en-US" sz="2180" dirty="0">
                    <a:solidFill>
                      <a:srgbClr val="000000"/>
                    </a:solidFill>
                    <a:latin typeface="Garamond" panose="02020404030301010803" pitchFamily="18" charset="0"/>
                    <a:ea typeface="KaiTi" panose="02010609060101010101" pitchFamily="49" charset="-122"/>
                  </a:rPr>
                  <a:t>也就是说，增加需求的政策并不能改变产量，而只能造成物价上涨，甚至通货膨胀。</a:t>
                </a:r>
              </a:p>
            </p:txBody>
          </p:sp>
        </mc:Choice>
        <mc:Fallback>
          <p:sp>
            <p:nvSpPr>
              <p:cNvPr id="9" name="内容占位符 2"/>
              <p:cNvSpPr txBox="1">
                <a:spLocks noRot="1" noChangeAspect="1" noMove="1" noResize="1" noEditPoints="1" noAdjustHandles="1" noChangeArrowheads="1" noChangeShapeType="1" noTextEdit="1"/>
              </p:cNvSpPr>
              <p:nvPr/>
            </p:nvSpPr>
            <p:spPr bwMode="auto">
              <a:xfrm>
                <a:off x="2095394" y="2319042"/>
                <a:ext cx="4271499" cy="3616159"/>
              </a:xfrm>
              <a:prstGeom prst="rect">
                <a:avLst/>
              </a:prstGeom>
              <a:blipFill>
                <a:blip r:embed="rId4"/>
                <a:stretch>
                  <a:fillRect l="-1571" t="-2189" r="-18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Rectangle 6">
            <a:extLst>
              <a:ext uri="{FF2B5EF4-FFF2-40B4-BE49-F238E27FC236}">
                <a16:creationId xmlns:a16="http://schemas.microsoft.com/office/drawing/2014/main" id="{AD5921D3-926B-E5E0-8943-D3DBE7E3BD4C}"/>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9</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B7B5C547-A372-2C34-5643-E13F85DF1C6D}"/>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12066">
              <a:defRPr/>
            </a:pPr>
            <a:r>
              <a:rPr lang="en-US" altLang="zh-CN" sz="1784">
                <a:latin typeface="Arial"/>
              </a:rPr>
              <a:t>AS-AD</a:t>
            </a:r>
            <a:r>
              <a:rPr lang="zh-CN" altLang="en-US" sz="1784">
                <a:latin typeface="Arial"/>
              </a:rPr>
              <a:t>模型</a:t>
            </a:r>
            <a:endParaRPr lang="zh-CN" altLang="en-US" sz="1784" dirty="0">
              <a:latin typeface="Arial"/>
            </a:endParaRPr>
          </a:p>
        </p:txBody>
      </p:sp>
      <p:sp>
        <p:nvSpPr>
          <p:cNvPr id="12" name="标题 11">
            <a:extLst>
              <a:ext uri="{FF2B5EF4-FFF2-40B4-BE49-F238E27FC236}">
                <a16:creationId xmlns:a16="http://schemas.microsoft.com/office/drawing/2014/main" id="{97C87328-CDF0-86A2-631F-580286DCF303}"/>
              </a:ext>
            </a:extLst>
          </p:cNvPr>
          <p:cNvSpPr>
            <a:spLocks noGrp="1"/>
          </p:cNvSpPr>
          <p:nvPr>
            <p:ph type="title"/>
          </p:nvPr>
        </p:nvSpPr>
        <p:spPr/>
        <p:txBody>
          <a:bodyPr/>
          <a:lstStyle/>
          <a:p>
            <a:r>
              <a:rPr kumimoji="1" lang="zh-CN" altLang="en-US" dirty="0"/>
              <a:t>长期总供给曲线的含义</a:t>
            </a:r>
          </a:p>
        </p:txBody>
      </p:sp>
    </p:spTree>
    <p:extLst>
      <p:ext uri="{BB962C8B-B14F-4D97-AF65-F5344CB8AC3E}">
        <p14:creationId xmlns:p14="http://schemas.microsoft.com/office/powerpoint/2010/main" val="4212034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CFF27F-7468-C933-70BA-91515F05A10E}"/>
              </a:ext>
            </a:extLst>
          </p:cNvPr>
          <p:cNvSpPr>
            <a:spLocks noGrp="1"/>
          </p:cNvSpPr>
          <p:nvPr>
            <p:ph type="title"/>
          </p:nvPr>
        </p:nvSpPr>
        <p:spPr/>
        <p:txBody>
          <a:bodyPr/>
          <a:lstStyle/>
          <a:p>
            <a:r>
              <a:rPr kumimoji="1" lang="zh-CN" altLang="en-US" dirty="0"/>
              <a:t>长期总供给曲线的分析</a:t>
            </a:r>
          </a:p>
        </p:txBody>
      </p:sp>
      <p:sp>
        <p:nvSpPr>
          <p:cNvPr id="5" name="灯片编号占位符 4">
            <a:extLst>
              <a:ext uri="{FF2B5EF4-FFF2-40B4-BE49-F238E27FC236}">
                <a16:creationId xmlns:a16="http://schemas.microsoft.com/office/drawing/2014/main" id="{11A65DEA-F7D2-8819-7C07-150B1FBB40EC}"/>
              </a:ext>
            </a:extLst>
          </p:cNvPr>
          <p:cNvSpPr>
            <a:spLocks noGrp="1"/>
          </p:cNvSpPr>
          <p:nvPr>
            <p:ph type="sldNum" sz="quarter" idx="11"/>
          </p:nvPr>
        </p:nvSpPr>
        <p:spPr/>
        <p:txBody>
          <a:bodyPr/>
          <a:lstStyle/>
          <a:p>
            <a:pPr defTabSz="1812066"/>
            <a:fld id="{FF75CA96-F32A-7F4F-98C9-CA940BD9BB90}" type="slidenum">
              <a:rPr lang="zh-CN" altLang="zh-CN">
                <a:latin typeface="Arial"/>
              </a:rPr>
              <a:pPr defTabSz="1812066"/>
              <a:t>10</a:t>
            </a:fld>
            <a:endParaRPr lang="en-US" altLang="zh-CN">
              <a:latin typeface="Arial"/>
            </a:endParaRPr>
          </a:p>
        </p:txBody>
      </p:sp>
      <p:pic>
        <p:nvPicPr>
          <p:cNvPr id="7" name="图片 6">
            <a:extLst>
              <a:ext uri="{FF2B5EF4-FFF2-40B4-BE49-F238E27FC236}">
                <a16:creationId xmlns:a16="http://schemas.microsoft.com/office/drawing/2014/main" id="{F63CC5D3-2B32-447F-B582-83F31FD497ED}"/>
              </a:ext>
            </a:extLst>
          </p:cNvPr>
          <p:cNvPicPr>
            <a:picLocks noChangeAspect="1"/>
          </p:cNvPicPr>
          <p:nvPr/>
        </p:nvPicPr>
        <p:blipFill rotWithShape="1">
          <a:blip r:embed="rId3"/>
          <a:srcRect l="68004"/>
          <a:stretch/>
        </p:blipFill>
        <p:spPr>
          <a:xfrm>
            <a:off x="7668535" y="1361865"/>
            <a:ext cx="2922997" cy="4261547"/>
          </a:xfrm>
          <a:prstGeom prst="rect">
            <a:avLst/>
          </a:prstGeom>
        </p:spPr>
      </p:pic>
      <p:cxnSp>
        <p:nvCxnSpPr>
          <p:cNvPr id="11" name="直线连接符 10">
            <a:extLst>
              <a:ext uri="{FF2B5EF4-FFF2-40B4-BE49-F238E27FC236}">
                <a16:creationId xmlns:a16="http://schemas.microsoft.com/office/drawing/2014/main" id="{3F8C80E2-7EF1-603E-76B3-9D97F454C9AC}"/>
              </a:ext>
            </a:extLst>
          </p:cNvPr>
          <p:cNvCxnSpPr>
            <a:cxnSpLocks/>
            <a:endCxn id="21" idx="5"/>
          </p:cNvCxnSpPr>
          <p:nvPr/>
        </p:nvCxnSpPr>
        <p:spPr>
          <a:xfrm>
            <a:off x="3196038" y="3485901"/>
            <a:ext cx="1975047" cy="1906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线箭头连接符 12">
            <a:extLst>
              <a:ext uri="{FF2B5EF4-FFF2-40B4-BE49-F238E27FC236}">
                <a16:creationId xmlns:a16="http://schemas.microsoft.com/office/drawing/2014/main" id="{401D1995-A2BA-7EC8-AFCA-AA010A18D826}"/>
              </a:ext>
            </a:extLst>
          </p:cNvPr>
          <p:cNvCxnSpPr>
            <a:cxnSpLocks/>
          </p:cNvCxnSpPr>
          <p:nvPr/>
        </p:nvCxnSpPr>
        <p:spPr>
          <a:xfrm>
            <a:off x="3219673" y="5186735"/>
            <a:ext cx="39992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线箭头连接符 13">
            <a:extLst>
              <a:ext uri="{FF2B5EF4-FFF2-40B4-BE49-F238E27FC236}">
                <a16:creationId xmlns:a16="http://schemas.microsoft.com/office/drawing/2014/main" id="{3370BA2A-6108-7B4B-8862-204C98D3D93A}"/>
              </a:ext>
            </a:extLst>
          </p:cNvPr>
          <p:cNvCxnSpPr>
            <a:cxnSpLocks/>
          </p:cNvCxnSpPr>
          <p:nvPr/>
        </p:nvCxnSpPr>
        <p:spPr>
          <a:xfrm flipH="1" flipV="1">
            <a:off x="3174649" y="1807162"/>
            <a:ext cx="44615" cy="33795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线连接符 14">
            <a:extLst>
              <a:ext uri="{FF2B5EF4-FFF2-40B4-BE49-F238E27FC236}">
                <a16:creationId xmlns:a16="http://schemas.microsoft.com/office/drawing/2014/main" id="{9B30300B-392B-815D-662A-D07EF92BEBE7}"/>
              </a:ext>
            </a:extLst>
          </p:cNvPr>
          <p:cNvCxnSpPr>
            <a:cxnSpLocks/>
          </p:cNvCxnSpPr>
          <p:nvPr/>
        </p:nvCxnSpPr>
        <p:spPr>
          <a:xfrm flipH="1">
            <a:off x="5139054" y="1872757"/>
            <a:ext cx="9510" cy="329094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D3C6DCE-3FFB-8212-4E2E-37847C235E21}"/>
              </a:ext>
            </a:extLst>
          </p:cNvPr>
          <p:cNvSpPr txBox="1"/>
          <p:nvPr/>
        </p:nvSpPr>
        <p:spPr>
          <a:xfrm>
            <a:off x="1569882" y="1326566"/>
            <a:ext cx="1758815" cy="458267"/>
          </a:xfrm>
          <a:prstGeom prst="rect">
            <a:avLst/>
          </a:prstGeom>
          <a:noFill/>
        </p:spPr>
        <p:txBody>
          <a:bodyPr wrap="none" rtlCol="0">
            <a:spAutoFit/>
          </a:bodyPr>
          <a:lstStyle/>
          <a:p>
            <a:pPr defTabSz="1812066"/>
            <a:r>
              <a:rPr kumimoji="1" lang="en-US" altLang="zh-CN" sz="2378" i="1" dirty="0">
                <a:solidFill>
                  <a:srgbClr val="000000"/>
                </a:solidFill>
                <a:latin typeface="Book Antiqua"/>
              </a:rPr>
              <a:t>price level, P</a:t>
            </a:r>
            <a:endParaRPr kumimoji="1" lang="zh-CN" altLang="en-US" sz="2378" i="1" dirty="0">
              <a:solidFill>
                <a:srgbClr val="000000"/>
              </a:solidFill>
              <a:latin typeface="Book Antiqua"/>
            </a:endParaRP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587EE60D-176D-B915-2956-B73518F3F19C}"/>
                  </a:ext>
                </a:extLst>
              </p:cNvPr>
              <p:cNvSpPr txBox="1"/>
              <p:nvPr/>
            </p:nvSpPr>
            <p:spPr>
              <a:xfrm>
                <a:off x="4578547" y="1405814"/>
                <a:ext cx="917879" cy="427809"/>
              </a:xfrm>
              <a:prstGeom prst="rect">
                <a:avLst/>
              </a:prstGeom>
              <a:noFill/>
            </p:spPr>
            <p:txBody>
              <a:bodyPr wrap="none" rtlCol="0">
                <a:spAutoFit/>
              </a:bodyPr>
              <a:lstStyle/>
              <a:p>
                <a:pPr defTabSz="1812066"/>
                <a14:m>
                  <m:oMathPara xmlns:m="http://schemas.openxmlformats.org/officeDocument/2006/math">
                    <m:oMathParaPr>
                      <m:jc m:val="centerGroup"/>
                    </m:oMathParaPr>
                    <m:oMath xmlns:m="http://schemas.openxmlformats.org/officeDocument/2006/math">
                      <m:r>
                        <a:rPr kumimoji="1" lang="en-US" altLang="zh-CN" sz="2180" i="1" dirty="0">
                          <a:solidFill>
                            <a:srgbClr val="000000"/>
                          </a:solidFill>
                          <a:latin typeface="Cambria Math" panose="02040503050406030204" pitchFamily="18" charset="0"/>
                        </a:rPr>
                        <m:t>𝐿𝑅𝐴𝑆</m:t>
                      </m:r>
                    </m:oMath>
                  </m:oMathPara>
                </a14:m>
                <a:endParaRPr kumimoji="1" lang="zh-CN" altLang="en-US" sz="2180" dirty="0">
                  <a:solidFill>
                    <a:srgbClr val="000000"/>
                  </a:solidFill>
                  <a:latin typeface="Arial"/>
                </a:endParaRPr>
              </a:p>
            </p:txBody>
          </p:sp>
        </mc:Choice>
        <mc:Fallback>
          <p:sp>
            <p:nvSpPr>
              <p:cNvPr id="17" name="文本框 16">
                <a:extLst>
                  <a:ext uri="{FF2B5EF4-FFF2-40B4-BE49-F238E27FC236}">
                    <a16:creationId xmlns:a16="http://schemas.microsoft.com/office/drawing/2014/main" id="{587EE60D-176D-B915-2956-B73518F3F19C}"/>
                  </a:ext>
                </a:extLst>
              </p:cNvPr>
              <p:cNvSpPr txBox="1">
                <a:spLocks noRot="1" noChangeAspect="1" noMove="1" noResize="1" noEditPoints="1" noAdjustHandles="1" noChangeArrowheads="1" noChangeShapeType="1" noTextEdit="1"/>
              </p:cNvSpPr>
              <p:nvPr/>
            </p:nvSpPr>
            <p:spPr>
              <a:xfrm>
                <a:off x="4578547" y="1405814"/>
                <a:ext cx="917879" cy="427809"/>
              </a:xfrm>
              <a:prstGeom prst="rect">
                <a:avLst/>
              </a:prstGeom>
              <a:blipFill>
                <a:blip r:embed="rId4"/>
                <a:stretch>
                  <a:fillRect/>
                </a:stretch>
              </a:blipFill>
            </p:spPr>
            <p:txBody>
              <a:bodyPr/>
              <a:lstStyle/>
              <a:p>
                <a:r>
                  <a:rPr lang="zh-CN" altLang="en-US">
                    <a:noFill/>
                  </a:rPr>
                  <a:t> </a:t>
                </a:r>
              </a:p>
            </p:txBody>
          </p:sp>
        </mc:Fallback>
      </mc:AlternateContent>
      <p:cxnSp>
        <p:nvCxnSpPr>
          <p:cNvPr id="18" name="直线连接符 17">
            <a:extLst>
              <a:ext uri="{FF2B5EF4-FFF2-40B4-BE49-F238E27FC236}">
                <a16:creationId xmlns:a16="http://schemas.microsoft.com/office/drawing/2014/main" id="{0688F414-FAA7-21EF-349F-5DBBE4ACAC40}"/>
              </a:ext>
            </a:extLst>
          </p:cNvPr>
          <p:cNvCxnSpPr/>
          <p:nvPr/>
        </p:nvCxnSpPr>
        <p:spPr>
          <a:xfrm>
            <a:off x="3221944" y="4338217"/>
            <a:ext cx="1962408"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0F65CF88-E746-CEF0-C043-97146C3C7182}"/>
              </a:ext>
            </a:extLst>
          </p:cNvPr>
          <p:cNvSpPr txBox="1"/>
          <p:nvPr/>
        </p:nvSpPr>
        <p:spPr>
          <a:xfrm>
            <a:off x="3884315" y="3130895"/>
            <a:ext cx="349776" cy="366895"/>
          </a:xfrm>
          <a:prstGeom prst="rect">
            <a:avLst/>
          </a:prstGeom>
          <a:noFill/>
        </p:spPr>
        <p:txBody>
          <a:bodyPr wrap="none" rtlCol="0">
            <a:spAutoFit/>
          </a:bodyPr>
          <a:lstStyle/>
          <a:p>
            <a:pPr defTabSz="1812066"/>
            <a:r>
              <a:rPr kumimoji="1" lang="en-US" altLang="zh-CN" sz="1784" dirty="0">
                <a:solidFill>
                  <a:srgbClr val="000000"/>
                </a:solidFill>
                <a:latin typeface="Arial"/>
              </a:rPr>
              <a:t>C</a:t>
            </a:r>
            <a:endParaRPr kumimoji="1" lang="zh-CN" altLang="en-US" sz="1784" dirty="0">
              <a:solidFill>
                <a:srgbClr val="000000"/>
              </a:solidFill>
              <a:latin typeface="Arial"/>
            </a:endParaRPr>
          </a:p>
        </p:txBody>
      </p:sp>
      <p:sp>
        <p:nvSpPr>
          <p:cNvPr id="24" name="文本框 23">
            <a:extLst>
              <a:ext uri="{FF2B5EF4-FFF2-40B4-BE49-F238E27FC236}">
                <a16:creationId xmlns:a16="http://schemas.microsoft.com/office/drawing/2014/main" id="{B390AEE6-49C8-8EFF-C12D-BD863D8AFB3B}"/>
              </a:ext>
            </a:extLst>
          </p:cNvPr>
          <p:cNvSpPr txBox="1"/>
          <p:nvPr/>
        </p:nvSpPr>
        <p:spPr>
          <a:xfrm>
            <a:off x="5086170" y="3147862"/>
            <a:ext cx="336952" cy="366895"/>
          </a:xfrm>
          <a:prstGeom prst="rect">
            <a:avLst/>
          </a:prstGeom>
          <a:noFill/>
        </p:spPr>
        <p:txBody>
          <a:bodyPr wrap="none" rtlCol="0">
            <a:spAutoFit/>
          </a:bodyPr>
          <a:lstStyle/>
          <a:p>
            <a:pPr defTabSz="1812066"/>
            <a:r>
              <a:rPr kumimoji="1" lang="en-US" altLang="zh-CN" sz="1784" dirty="0">
                <a:solidFill>
                  <a:srgbClr val="000000"/>
                </a:solidFill>
                <a:latin typeface="Arial"/>
              </a:rPr>
              <a:t>A</a:t>
            </a:r>
            <a:endParaRPr kumimoji="1" lang="zh-CN" altLang="en-US" sz="1784" dirty="0">
              <a:solidFill>
                <a:srgbClr val="000000"/>
              </a:solidFill>
              <a:latin typeface="Arial"/>
            </a:endParaRPr>
          </a:p>
        </p:txBody>
      </p:sp>
      <mc:AlternateContent xmlns:mc="http://schemas.openxmlformats.org/markup-compatibility/2006">
        <mc:Choice xmlns:a14="http://schemas.microsoft.com/office/drawing/2010/main" Requires="a14">
          <p:sp>
            <p:nvSpPr>
              <p:cNvPr id="39" name="文本框 38">
                <a:extLst>
                  <a:ext uri="{FF2B5EF4-FFF2-40B4-BE49-F238E27FC236}">
                    <a16:creationId xmlns:a16="http://schemas.microsoft.com/office/drawing/2014/main" id="{5FCE7217-4603-90FB-6C91-30784D2BEBFD}"/>
                  </a:ext>
                </a:extLst>
              </p:cNvPr>
              <p:cNvSpPr txBox="1"/>
              <p:nvPr/>
            </p:nvSpPr>
            <p:spPr>
              <a:xfrm>
                <a:off x="5267088" y="5115147"/>
                <a:ext cx="2403991" cy="427809"/>
              </a:xfrm>
              <a:prstGeom prst="rect">
                <a:avLst/>
              </a:prstGeom>
              <a:noFill/>
            </p:spPr>
            <p:txBody>
              <a:bodyPr wrap="none" rtlCol="0">
                <a:spAutoFit/>
              </a:bodyPr>
              <a:lstStyle/>
              <a:p>
                <a:pPr defTabSz="1812066"/>
                <a14:m>
                  <m:oMathPara xmlns:m="http://schemas.openxmlformats.org/officeDocument/2006/math">
                    <m:oMathParaPr>
                      <m:jc m:val="centerGroup"/>
                    </m:oMathParaPr>
                    <m:oMath xmlns:m="http://schemas.openxmlformats.org/officeDocument/2006/math">
                      <m:r>
                        <a:rPr kumimoji="1" lang="en-US" altLang="zh-CN" sz="2180" i="1" dirty="0">
                          <a:solidFill>
                            <a:srgbClr val="000000"/>
                          </a:solidFill>
                          <a:latin typeface="Cambria Math" panose="02040503050406030204" pitchFamily="18" charset="0"/>
                        </a:rPr>
                        <m:t>𝑖𝑛𝑐𝑜𝑚𝑒</m:t>
                      </m:r>
                      <m:r>
                        <a:rPr kumimoji="1" lang="en-US" altLang="zh-CN" sz="2180" i="1" dirty="0">
                          <a:solidFill>
                            <a:srgbClr val="000000"/>
                          </a:solidFill>
                          <a:latin typeface="Cambria Math" panose="02040503050406030204" pitchFamily="18" charset="0"/>
                        </a:rPr>
                        <m:t>, </m:t>
                      </m:r>
                      <m:r>
                        <a:rPr kumimoji="1" lang="en-US" altLang="zh-CN" sz="2180" i="1" dirty="0">
                          <a:solidFill>
                            <a:srgbClr val="000000"/>
                          </a:solidFill>
                          <a:latin typeface="Cambria Math" panose="02040503050406030204" pitchFamily="18" charset="0"/>
                        </a:rPr>
                        <m:t>𝑜𝑢𝑡𝑝𝑢𝑡</m:t>
                      </m:r>
                      <m:r>
                        <a:rPr kumimoji="1" lang="en-US" altLang="zh-CN" sz="2180" i="1" dirty="0">
                          <a:solidFill>
                            <a:srgbClr val="000000"/>
                          </a:solidFill>
                          <a:latin typeface="Cambria Math" panose="02040503050406030204" pitchFamily="18" charset="0"/>
                        </a:rPr>
                        <m:t>, </m:t>
                      </m:r>
                      <m:r>
                        <a:rPr kumimoji="1" lang="en-US" altLang="zh-CN" sz="2180" i="1" dirty="0">
                          <a:solidFill>
                            <a:srgbClr val="000000"/>
                          </a:solidFill>
                          <a:latin typeface="Cambria Math" panose="02040503050406030204" pitchFamily="18" charset="0"/>
                        </a:rPr>
                        <m:t>𝑌</m:t>
                      </m:r>
                    </m:oMath>
                  </m:oMathPara>
                </a14:m>
                <a:endParaRPr kumimoji="1" lang="zh-CN" altLang="en-US" sz="2180" dirty="0">
                  <a:solidFill>
                    <a:srgbClr val="000000"/>
                  </a:solidFill>
                  <a:latin typeface="Arial"/>
                </a:endParaRPr>
              </a:p>
            </p:txBody>
          </p:sp>
        </mc:Choice>
        <mc:Fallback>
          <p:sp>
            <p:nvSpPr>
              <p:cNvPr id="39" name="文本框 38">
                <a:extLst>
                  <a:ext uri="{FF2B5EF4-FFF2-40B4-BE49-F238E27FC236}">
                    <a16:creationId xmlns:a16="http://schemas.microsoft.com/office/drawing/2014/main" id="{5FCE7217-4603-90FB-6C91-30784D2BEBFD}"/>
                  </a:ext>
                </a:extLst>
              </p:cNvPr>
              <p:cNvSpPr txBox="1">
                <a:spLocks noRot="1" noChangeAspect="1" noMove="1" noResize="1" noEditPoints="1" noAdjustHandles="1" noChangeArrowheads="1" noChangeShapeType="1" noTextEdit="1"/>
              </p:cNvSpPr>
              <p:nvPr/>
            </p:nvSpPr>
            <p:spPr>
              <a:xfrm>
                <a:off x="5267088" y="5115147"/>
                <a:ext cx="2403991" cy="427809"/>
              </a:xfrm>
              <a:prstGeom prst="rect">
                <a:avLst/>
              </a:prstGeom>
              <a:blipFill>
                <a:blip r:embed="rId5"/>
                <a:stretch>
                  <a:fillRect b="-12857"/>
                </a:stretch>
              </a:blipFill>
            </p:spPr>
            <p:txBody>
              <a:bodyPr/>
              <a:lstStyle/>
              <a:p>
                <a:r>
                  <a:rPr lang="zh-CN" altLang="en-US">
                    <a:noFill/>
                  </a:rPr>
                  <a:t> </a:t>
                </a:r>
              </a:p>
            </p:txBody>
          </p:sp>
        </mc:Fallback>
      </mc:AlternateContent>
      <p:cxnSp>
        <p:nvCxnSpPr>
          <p:cNvPr id="40" name="直线箭头连接符 39">
            <a:extLst>
              <a:ext uri="{FF2B5EF4-FFF2-40B4-BE49-F238E27FC236}">
                <a16:creationId xmlns:a16="http://schemas.microsoft.com/office/drawing/2014/main" id="{1955E5D6-006C-7C8C-5438-AC7289753001}"/>
              </a:ext>
            </a:extLst>
          </p:cNvPr>
          <p:cNvCxnSpPr>
            <a:cxnSpLocks/>
          </p:cNvCxnSpPr>
          <p:nvPr/>
        </p:nvCxnSpPr>
        <p:spPr>
          <a:xfrm>
            <a:off x="2970633" y="3605290"/>
            <a:ext cx="0" cy="4921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8" name="任意形状 47">
            <a:extLst>
              <a:ext uri="{FF2B5EF4-FFF2-40B4-BE49-F238E27FC236}">
                <a16:creationId xmlns:a16="http://schemas.microsoft.com/office/drawing/2014/main" id="{59460822-BCFA-5BC9-B36D-64363529F655}"/>
              </a:ext>
            </a:extLst>
          </p:cNvPr>
          <p:cNvSpPr/>
          <p:nvPr/>
        </p:nvSpPr>
        <p:spPr>
          <a:xfrm>
            <a:off x="3508239" y="2235192"/>
            <a:ext cx="3558269" cy="2438283"/>
          </a:xfrm>
          <a:custGeom>
            <a:avLst/>
            <a:gdLst>
              <a:gd name="connsiteX0" fmla="*/ 0 w 1746298"/>
              <a:gd name="connsiteY0" fmla="*/ 0 h 1457540"/>
              <a:gd name="connsiteX1" fmla="*/ 529389 w 1746298"/>
              <a:gd name="connsiteY1" fmla="*/ 1106905 h 1457540"/>
              <a:gd name="connsiteX2" fmla="*/ 1746298 w 1746298"/>
              <a:gd name="connsiteY2" fmla="*/ 1457540 h 1457540"/>
            </a:gdLst>
            <a:ahLst/>
            <a:cxnLst>
              <a:cxn ang="0">
                <a:pos x="connsiteX0" y="connsiteY0"/>
              </a:cxn>
              <a:cxn ang="0">
                <a:pos x="connsiteX1" y="connsiteY1"/>
              </a:cxn>
              <a:cxn ang="0">
                <a:pos x="connsiteX2" y="connsiteY2"/>
              </a:cxn>
            </a:cxnLst>
            <a:rect l="l" t="t" r="r" b="b"/>
            <a:pathLst>
              <a:path w="1746298" h="1457540">
                <a:moveTo>
                  <a:pt x="0" y="0"/>
                </a:moveTo>
                <a:cubicBezTo>
                  <a:pt x="119169" y="431991"/>
                  <a:pt x="238339" y="863982"/>
                  <a:pt x="529389" y="1106905"/>
                </a:cubicBezTo>
                <a:cubicBezTo>
                  <a:pt x="820439" y="1349828"/>
                  <a:pt x="1283368" y="1403684"/>
                  <a:pt x="1746298" y="1457540"/>
                </a:cubicBezTo>
              </a:path>
            </a:pathLst>
          </a:custGeom>
          <a:ln w="19050">
            <a:solidFill>
              <a:srgbClr val="C0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defTabSz="1812066"/>
            <a:endParaRPr kumimoji="1" lang="zh-CN" altLang="en-US" sz="3567" dirty="0">
              <a:solidFill>
                <a:srgbClr val="000000"/>
              </a:solidFill>
              <a:latin typeface="Arial"/>
            </a:endParaRPr>
          </a:p>
        </p:txBody>
      </p:sp>
      <p:sp>
        <p:nvSpPr>
          <p:cNvPr id="51" name="任意形状 50">
            <a:extLst>
              <a:ext uri="{FF2B5EF4-FFF2-40B4-BE49-F238E27FC236}">
                <a16:creationId xmlns:a16="http://schemas.microsoft.com/office/drawing/2014/main" id="{304A42E6-7D38-28A2-2AF8-AE8CBB216CEE}"/>
              </a:ext>
            </a:extLst>
          </p:cNvPr>
          <p:cNvSpPr/>
          <p:nvPr/>
        </p:nvSpPr>
        <p:spPr>
          <a:xfrm>
            <a:off x="4260239" y="2003334"/>
            <a:ext cx="2868902" cy="1941616"/>
          </a:xfrm>
          <a:custGeom>
            <a:avLst/>
            <a:gdLst>
              <a:gd name="connsiteX0" fmla="*/ 0 w 1746298"/>
              <a:gd name="connsiteY0" fmla="*/ 0 h 1457540"/>
              <a:gd name="connsiteX1" fmla="*/ 529389 w 1746298"/>
              <a:gd name="connsiteY1" fmla="*/ 1106905 h 1457540"/>
              <a:gd name="connsiteX2" fmla="*/ 1746298 w 1746298"/>
              <a:gd name="connsiteY2" fmla="*/ 1457540 h 1457540"/>
            </a:gdLst>
            <a:ahLst/>
            <a:cxnLst>
              <a:cxn ang="0">
                <a:pos x="connsiteX0" y="connsiteY0"/>
              </a:cxn>
              <a:cxn ang="0">
                <a:pos x="connsiteX1" y="connsiteY1"/>
              </a:cxn>
              <a:cxn ang="0">
                <a:pos x="connsiteX2" y="connsiteY2"/>
              </a:cxn>
            </a:cxnLst>
            <a:rect l="l" t="t" r="r" b="b"/>
            <a:pathLst>
              <a:path w="1746298" h="1457540">
                <a:moveTo>
                  <a:pt x="0" y="0"/>
                </a:moveTo>
                <a:cubicBezTo>
                  <a:pt x="119169" y="431991"/>
                  <a:pt x="238339" y="863982"/>
                  <a:pt x="529389" y="1106905"/>
                </a:cubicBezTo>
                <a:cubicBezTo>
                  <a:pt x="820439" y="1349828"/>
                  <a:pt x="1283368" y="1403684"/>
                  <a:pt x="1746298" y="1457540"/>
                </a:cubicBezTo>
              </a:path>
            </a:pathLst>
          </a:custGeom>
          <a:ln w="1905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defTabSz="1812066"/>
            <a:endParaRPr kumimoji="1" lang="zh-CN" altLang="en-US" sz="3567" dirty="0">
              <a:solidFill>
                <a:srgbClr val="00B0F0"/>
              </a:solidFill>
              <a:latin typeface="Arial"/>
            </a:endParaRPr>
          </a:p>
        </p:txBody>
      </p:sp>
      <p:sp>
        <p:nvSpPr>
          <p:cNvPr id="22" name="椭圆 21">
            <a:extLst>
              <a:ext uri="{FF2B5EF4-FFF2-40B4-BE49-F238E27FC236}">
                <a16:creationId xmlns:a16="http://schemas.microsoft.com/office/drawing/2014/main" id="{AC329D43-889D-6F18-B033-2AB8ACEE9AE4}"/>
              </a:ext>
            </a:extLst>
          </p:cNvPr>
          <p:cNvSpPr/>
          <p:nvPr/>
        </p:nvSpPr>
        <p:spPr>
          <a:xfrm>
            <a:off x="5093753" y="4292920"/>
            <a:ext cx="90599" cy="905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12066"/>
            <a:endParaRPr kumimoji="1" lang="zh-CN" altLang="en-US" sz="3567">
              <a:solidFill>
                <a:srgbClr val="FFFFFF"/>
              </a:solidFill>
              <a:latin typeface="Arial"/>
            </a:endParaRPr>
          </a:p>
        </p:txBody>
      </p:sp>
      <p:sp>
        <p:nvSpPr>
          <p:cNvPr id="21" name="椭圆 20">
            <a:extLst>
              <a:ext uri="{FF2B5EF4-FFF2-40B4-BE49-F238E27FC236}">
                <a16:creationId xmlns:a16="http://schemas.microsoft.com/office/drawing/2014/main" id="{5687D2E4-CD84-49AC-E652-844DFD1B9AB7}"/>
              </a:ext>
            </a:extLst>
          </p:cNvPr>
          <p:cNvSpPr/>
          <p:nvPr/>
        </p:nvSpPr>
        <p:spPr>
          <a:xfrm>
            <a:off x="5093753" y="3427630"/>
            <a:ext cx="90599" cy="905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12066"/>
            <a:endParaRPr kumimoji="1" lang="zh-CN" altLang="en-US" sz="3567">
              <a:solidFill>
                <a:srgbClr val="FFFFFF"/>
              </a:solidFill>
              <a:latin typeface="Arial"/>
            </a:endParaRPr>
          </a:p>
        </p:txBody>
      </p:sp>
      <p:sp>
        <p:nvSpPr>
          <p:cNvPr id="56" name="椭圆 55">
            <a:extLst>
              <a:ext uri="{FF2B5EF4-FFF2-40B4-BE49-F238E27FC236}">
                <a16:creationId xmlns:a16="http://schemas.microsoft.com/office/drawing/2014/main" id="{CC586991-DEAF-9DAC-8266-D75A8AF0B506}"/>
              </a:ext>
            </a:extLst>
          </p:cNvPr>
          <p:cNvSpPr/>
          <p:nvPr/>
        </p:nvSpPr>
        <p:spPr>
          <a:xfrm>
            <a:off x="3964846" y="3451053"/>
            <a:ext cx="90599" cy="905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12066"/>
            <a:endParaRPr kumimoji="1" lang="zh-CN" altLang="en-US" sz="3567">
              <a:solidFill>
                <a:srgbClr val="FFFFFF"/>
              </a:solidFill>
              <a:latin typeface="Arial"/>
            </a:endParaRPr>
          </a:p>
        </p:txBody>
      </p:sp>
      <p:sp>
        <p:nvSpPr>
          <p:cNvPr id="57" name="文本框 56">
            <a:extLst>
              <a:ext uri="{FF2B5EF4-FFF2-40B4-BE49-F238E27FC236}">
                <a16:creationId xmlns:a16="http://schemas.microsoft.com/office/drawing/2014/main" id="{CC6710EA-2C6B-FEBD-766A-0A14E295D206}"/>
              </a:ext>
            </a:extLst>
          </p:cNvPr>
          <p:cNvSpPr txBox="1"/>
          <p:nvPr/>
        </p:nvSpPr>
        <p:spPr>
          <a:xfrm>
            <a:off x="5096729" y="4003222"/>
            <a:ext cx="336952" cy="366895"/>
          </a:xfrm>
          <a:prstGeom prst="rect">
            <a:avLst/>
          </a:prstGeom>
          <a:noFill/>
        </p:spPr>
        <p:txBody>
          <a:bodyPr wrap="none" rtlCol="0">
            <a:spAutoFit/>
          </a:bodyPr>
          <a:lstStyle/>
          <a:p>
            <a:pPr defTabSz="1812066"/>
            <a:r>
              <a:rPr kumimoji="1" lang="en-US" altLang="zh-CN" sz="1784" dirty="0">
                <a:solidFill>
                  <a:srgbClr val="000000"/>
                </a:solidFill>
                <a:latin typeface="Arial"/>
              </a:rPr>
              <a:t>B</a:t>
            </a:r>
            <a:endParaRPr kumimoji="1" lang="zh-CN" altLang="en-US" sz="1784" dirty="0">
              <a:solidFill>
                <a:srgbClr val="000000"/>
              </a:solidFill>
              <a:latin typeface="Arial"/>
            </a:endParaRPr>
          </a:p>
        </p:txBody>
      </p:sp>
      <mc:AlternateContent xmlns:mc="http://schemas.openxmlformats.org/markup-compatibility/2006">
        <mc:Choice xmlns:a14="http://schemas.microsoft.com/office/drawing/2010/main" Requires="a14">
          <p:sp>
            <p:nvSpPr>
              <p:cNvPr id="59" name="文本框 58">
                <a:extLst>
                  <a:ext uri="{FF2B5EF4-FFF2-40B4-BE49-F238E27FC236}">
                    <a16:creationId xmlns:a16="http://schemas.microsoft.com/office/drawing/2014/main" id="{E1586B07-1A88-6335-0435-B4266B37E5F6}"/>
                  </a:ext>
                </a:extLst>
              </p:cNvPr>
              <p:cNvSpPr txBox="1"/>
              <p:nvPr/>
            </p:nvSpPr>
            <p:spPr>
              <a:xfrm>
                <a:off x="4820856" y="5161040"/>
                <a:ext cx="436722" cy="427809"/>
              </a:xfrm>
              <a:prstGeom prst="rect">
                <a:avLst/>
              </a:prstGeom>
              <a:noFill/>
            </p:spPr>
            <p:txBody>
              <a:bodyPr wrap="none" rtlCol="0">
                <a:spAutoFit/>
              </a:bodyPr>
              <a:lstStyle/>
              <a:p>
                <a:pPr defTabSz="1812066"/>
                <a14:m>
                  <m:oMathPara xmlns:m="http://schemas.openxmlformats.org/officeDocument/2006/math">
                    <m:oMathParaPr>
                      <m:jc m:val="centerGroup"/>
                    </m:oMathParaPr>
                    <m:oMath xmlns:m="http://schemas.openxmlformats.org/officeDocument/2006/math">
                      <m:acc>
                        <m:accPr>
                          <m:chr m:val="̅"/>
                          <m:ctrlPr>
                            <a:rPr kumimoji="1" lang="en-US" altLang="zh-CN" sz="2180" i="1" dirty="0">
                              <a:solidFill>
                                <a:srgbClr val="000000"/>
                              </a:solidFill>
                              <a:latin typeface="Cambria Math" panose="02040503050406030204" pitchFamily="18" charset="0"/>
                            </a:rPr>
                          </m:ctrlPr>
                        </m:accPr>
                        <m:e>
                          <m:r>
                            <a:rPr kumimoji="1" lang="en-US" altLang="zh-CN" sz="2180" i="1" dirty="0">
                              <a:solidFill>
                                <a:srgbClr val="000000"/>
                              </a:solidFill>
                              <a:latin typeface="Cambria Math" panose="02040503050406030204" pitchFamily="18" charset="0"/>
                            </a:rPr>
                            <m:t>𝑌</m:t>
                          </m:r>
                        </m:e>
                      </m:acc>
                    </m:oMath>
                  </m:oMathPara>
                </a14:m>
                <a:endParaRPr kumimoji="1" lang="zh-CN" altLang="en-US" sz="2180" dirty="0">
                  <a:solidFill>
                    <a:srgbClr val="000000"/>
                  </a:solidFill>
                  <a:latin typeface="Arial"/>
                </a:endParaRPr>
              </a:p>
            </p:txBody>
          </p:sp>
        </mc:Choice>
        <mc:Fallback>
          <p:sp>
            <p:nvSpPr>
              <p:cNvPr id="59" name="文本框 58">
                <a:extLst>
                  <a:ext uri="{FF2B5EF4-FFF2-40B4-BE49-F238E27FC236}">
                    <a16:creationId xmlns:a16="http://schemas.microsoft.com/office/drawing/2014/main" id="{E1586B07-1A88-6335-0435-B4266B37E5F6}"/>
                  </a:ext>
                </a:extLst>
              </p:cNvPr>
              <p:cNvSpPr txBox="1">
                <a:spLocks noRot="1" noChangeAspect="1" noMove="1" noResize="1" noEditPoints="1" noAdjustHandles="1" noChangeArrowheads="1" noChangeShapeType="1" noTextEdit="1"/>
              </p:cNvSpPr>
              <p:nvPr/>
            </p:nvSpPr>
            <p:spPr>
              <a:xfrm>
                <a:off x="4820856" y="5161040"/>
                <a:ext cx="436722" cy="427809"/>
              </a:xfrm>
              <a:prstGeom prst="rect">
                <a:avLst/>
              </a:prstGeom>
              <a:blipFill>
                <a:blip r:embed="rId6"/>
                <a:stretch>
                  <a:fillRect r="-1408"/>
                </a:stretch>
              </a:blipFill>
            </p:spPr>
            <p:txBody>
              <a:bodyPr/>
              <a:lstStyle/>
              <a:p>
                <a:r>
                  <a:rPr lang="zh-CN" altLang="en-US">
                    <a:noFill/>
                  </a:rPr>
                  <a:t> </a:t>
                </a:r>
              </a:p>
            </p:txBody>
          </p:sp>
        </mc:Fallback>
      </mc:AlternateContent>
      <p:sp>
        <p:nvSpPr>
          <p:cNvPr id="60" name="文本框 59">
            <a:extLst>
              <a:ext uri="{FF2B5EF4-FFF2-40B4-BE49-F238E27FC236}">
                <a16:creationId xmlns:a16="http://schemas.microsoft.com/office/drawing/2014/main" id="{C8273846-BAD7-DC3A-8D3A-6918B90AC9A8}"/>
              </a:ext>
            </a:extLst>
          </p:cNvPr>
          <p:cNvSpPr txBox="1"/>
          <p:nvPr/>
        </p:nvSpPr>
        <p:spPr>
          <a:xfrm>
            <a:off x="5773111" y="3112695"/>
            <a:ext cx="1593803" cy="519245"/>
          </a:xfrm>
          <a:prstGeom prst="rect">
            <a:avLst/>
          </a:prstGeom>
          <a:noFill/>
        </p:spPr>
        <p:txBody>
          <a:bodyPr wrap="square" rtlCol="0">
            <a:spAutoFit/>
          </a:bodyPr>
          <a:lstStyle/>
          <a:p>
            <a:pPr defTabSz="1812066"/>
            <a:r>
              <a:rPr kumimoji="1" lang="en-US" altLang="zh-CN" sz="1387" dirty="0">
                <a:solidFill>
                  <a:srgbClr val="000000"/>
                </a:solidFill>
                <a:latin typeface="Garamond" panose="02020404030301010803" pitchFamily="18" charset="0"/>
                <a:ea typeface="KaiTi" panose="02010609060101010101" pitchFamily="49" charset="-122"/>
              </a:rPr>
              <a:t>1.</a:t>
            </a:r>
            <a:r>
              <a:rPr kumimoji="1" lang="zh-CN" altLang="en-US" sz="1387" dirty="0">
                <a:solidFill>
                  <a:srgbClr val="000000"/>
                </a:solidFill>
                <a:latin typeface="Garamond" panose="02020404030301010803" pitchFamily="18" charset="0"/>
                <a:ea typeface="KaiTi" panose="02010609060101010101" pitchFamily="49" charset="-122"/>
              </a:rPr>
              <a:t> 央行减少货币供给</a:t>
            </a:r>
            <a:r>
              <a:rPr kumimoji="1" lang="en-US" altLang="zh-CN" sz="1387" dirty="0">
                <a:solidFill>
                  <a:srgbClr val="000000"/>
                </a:solidFill>
                <a:latin typeface="Garamond" panose="02020404030301010803" pitchFamily="18" charset="0"/>
                <a:ea typeface="KaiTi" panose="02010609060101010101" pitchFamily="49" charset="-122"/>
              </a:rPr>
              <a:t>……</a:t>
            </a:r>
            <a:endParaRPr kumimoji="1" lang="zh-CN" altLang="en-US" sz="1387" dirty="0">
              <a:solidFill>
                <a:srgbClr val="000000"/>
              </a:solidFill>
              <a:latin typeface="Garamond" panose="02020404030301010803" pitchFamily="18" charset="0"/>
              <a:ea typeface="KaiTi" panose="02010609060101010101" pitchFamily="49" charset="-122"/>
            </a:endParaRPr>
          </a:p>
        </p:txBody>
      </p:sp>
      <p:cxnSp>
        <p:nvCxnSpPr>
          <p:cNvPr id="61" name="直线箭头连接符 60">
            <a:extLst>
              <a:ext uri="{FF2B5EF4-FFF2-40B4-BE49-F238E27FC236}">
                <a16:creationId xmlns:a16="http://schemas.microsoft.com/office/drawing/2014/main" id="{E127FBEF-BB0E-DFC1-2904-3F065F0FFEE4}"/>
              </a:ext>
            </a:extLst>
          </p:cNvPr>
          <p:cNvCxnSpPr>
            <a:cxnSpLocks/>
          </p:cNvCxnSpPr>
          <p:nvPr/>
        </p:nvCxnSpPr>
        <p:spPr>
          <a:xfrm flipH="1">
            <a:off x="5484914" y="4258535"/>
            <a:ext cx="639316" cy="0"/>
          </a:xfrm>
          <a:prstGeom prst="straightConnector1">
            <a:avLst/>
          </a:prstGeom>
          <a:ln>
            <a:solidFill>
              <a:srgbClr val="C00000"/>
            </a:solidFill>
            <a:tailEnd type="triangle"/>
          </a:ln>
        </p:spPr>
        <p:style>
          <a:lnRef idx="3">
            <a:schemeClr val="accent2"/>
          </a:lnRef>
          <a:fillRef idx="0">
            <a:schemeClr val="accent2"/>
          </a:fillRef>
          <a:effectRef idx="2">
            <a:schemeClr val="accent2"/>
          </a:effectRef>
          <a:fontRef idx="minor">
            <a:schemeClr val="tx1"/>
          </a:fontRef>
        </p:style>
      </p:cxnSp>
      <p:cxnSp>
        <p:nvCxnSpPr>
          <p:cNvPr id="64" name="直线连接符 63">
            <a:extLst>
              <a:ext uri="{FF2B5EF4-FFF2-40B4-BE49-F238E27FC236}">
                <a16:creationId xmlns:a16="http://schemas.microsoft.com/office/drawing/2014/main" id="{AFCECAF5-F6D4-3588-3B5D-AF3DF4849510}"/>
              </a:ext>
            </a:extLst>
          </p:cNvPr>
          <p:cNvCxnSpPr>
            <a:cxnSpLocks/>
          </p:cNvCxnSpPr>
          <p:nvPr/>
        </p:nvCxnSpPr>
        <p:spPr>
          <a:xfrm flipH="1">
            <a:off x="5895257" y="3751706"/>
            <a:ext cx="445570" cy="469437"/>
          </a:xfrm>
          <a:prstGeom prst="line">
            <a:avLst/>
          </a:prstGeom>
        </p:spPr>
        <p:style>
          <a:lnRef idx="1">
            <a:schemeClr val="dk1"/>
          </a:lnRef>
          <a:fillRef idx="0">
            <a:schemeClr val="dk1"/>
          </a:fillRef>
          <a:effectRef idx="0">
            <a:schemeClr val="dk1"/>
          </a:effectRef>
          <a:fontRef idx="minor">
            <a:schemeClr val="tx1"/>
          </a:fontRef>
        </p:style>
      </p:cxnSp>
      <p:sp>
        <p:nvSpPr>
          <p:cNvPr id="66" name="文本框 65">
            <a:extLst>
              <a:ext uri="{FF2B5EF4-FFF2-40B4-BE49-F238E27FC236}">
                <a16:creationId xmlns:a16="http://schemas.microsoft.com/office/drawing/2014/main" id="{A83330E0-C2A4-72D1-6BBC-539D9E083953}"/>
              </a:ext>
            </a:extLst>
          </p:cNvPr>
          <p:cNvSpPr txBox="1"/>
          <p:nvPr/>
        </p:nvSpPr>
        <p:spPr>
          <a:xfrm>
            <a:off x="1640888" y="3502865"/>
            <a:ext cx="1505031" cy="732701"/>
          </a:xfrm>
          <a:prstGeom prst="rect">
            <a:avLst/>
          </a:prstGeom>
          <a:noFill/>
        </p:spPr>
        <p:txBody>
          <a:bodyPr wrap="square" rtlCol="0">
            <a:spAutoFit/>
          </a:bodyPr>
          <a:lstStyle/>
          <a:p>
            <a:pPr defTabSz="1812066"/>
            <a:r>
              <a:rPr kumimoji="1" lang="en-US" altLang="zh-CN" sz="1387" dirty="0">
                <a:solidFill>
                  <a:srgbClr val="000000"/>
                </a:solidFill>
                <a:latin typeface="Garamond" panose="02020404030301010803" pitchFamily="18" charset="0"/>
                <a:ea typeface="KaiTi" panose="02010609060101010101" pitchFamily="49" charset="-122"/>
              </a:rPr>
              <a:t>2.……</a:t>
            </a:r>
            <a:r>
              <a:rPr kumimoji="1" lang="zh-CN" altLang="en-US" sz="1387" dirty="0">
                <a:solidFill>
                  <a:srgbClr val="000000"/>
                </a:solidFill>
                <a:latin typeface="Garamond" panose="02020404030301010803" pitchFamily="18" charset="0"/>
                <a:ea typeface="KaiTi" panose="02010609060101010101" pitchFamily="49" charset="-122"/>
              </a:rPr>
              <a:t>在长期价格会很快降低</a:t>
            </a:r>
            <a:r>
              <a:rPr kumimoji="1" lang="en-US" altLang="zh-CN" sz="1387" dirty="0">
                <a:solidFill>
                  <a:srgbClr val="000000"/>
                </a:solidFill>
                <a:latin typeface="Garamond" panose="02020404030301010803" pitchFamily="18" charset="0"/>
                <a:ea typeface="KaiTi" panose="02010609060101010101" pitchFamily="49" charset="-122"/>
              </a:rPr>
              <a:t>……</a:t>
            </a:r>
            <a:endParaRPr kumimoji="1" lang="zh-CN" altLang="en-US" sz="1387" dirty="0">
              <a:solidFill>
                <a:srgbClr val="000000"/>
              </a:solidFill>
              <a:latin typeface="Garamond" panose="02020404030301010803" pitchFamily="18" charset="0"/>
              <a:ea typeface="KaiTi" panose="02010609060101010101" pitchFamily="49" charset="-122"/>
            </a:endParaRPr>
          </a:p>
        </p:txBody>
      </p:sp>
      <p:sp>
        <p:nvSpPr>
          <p:cNvPr id="67" name="文本框 66">
            <a:extLst>
              <a:ext uri="{FF2B5EF4-FFF2-40B4-BE49-F238E27FC236}">
                <a16:creationId xmlns:a16="http://schemas.microsoft.com/office/drawing/2014/main" id="{AF0641FA-5343-76DC-44B2-9110986DBF5A}"/>
              </a:ext>
            </a:extLst>
          </p:cNvPr>
          <p:cNvSpPr txBox="1"/>
          <p:nvPr/>
        </p:nvSpPr>
        <p:spPr>
          <a:xfrm>
            <a:off x="3828344" y="5511672"/>
            <a:ext cx="1917226" cy="519245"/>
          </a:xfrm>
          <a:prstGeom prst="rect">
            <a:avLst/>
          </a:prstGeom>
          <a:noFill/>
        </p:spPr>
        <p:txBody>
          <a:bodyPr wrap="square" rtlCol="0">
            <a:spAutoFit/>
          </a:bodyPr>
          <a:lstStyle/>
          <a:p>
            <a:pPr defTabSz="1812066"/>
            <a:r>
              <a:rPr kumimoji="1" lang="en-US" altLang="zh-CN" sz="1387" dirty="0">
                <a:solidFill>
                  <a:srgbClr val="000000"/>
                </a:solidFill>
                <a:latin typeface="Garamond" panose="02020404030301010803" pitchFamily="18" charset="0"/>
                <a:ea typeface="KaiTi" panose="02010609060101010101" pitchFamily="49" charset="-122"/>
              </a:rPr>
              <a:t>3.……</a:t>
            </a:r>
            <a:r>
              <a:rPr kumimoji="1" lang="zh-CN" altLang="en-US" sz="1387" dirty="0">
                <a:solidFill>
                  <a:srgbClr val="000000"/>
                </a:solidFill>
                <a:latin typeface="Garamond" panose="02020404030301010803" pitchFamily="18" charset="0"/>
                <a:ea typeface="KaiTi" panose="02010609060101010101" pitchFamily="49" charset="-122"/>
              </a:rPr>
              <a:t>总产出会维持在相同的水平</a:t>
            </a:r>
          </a:p>
        </p:txBody>
      </p:sp>
      <mc:AlternateContent xmlns:mc="http://schemas.openxmlformats.org/markup-compatibility/2006">
        <mc:Choice xmlns:a14="http://schemas.microsoft.com/office/drawing/2010/main" Requires="a14">
          <p:sp>
            <p:nvSpPr>
              <p:cNvPr id="68" name="文本框 67">
                <a:extLst>
                  <a:ext uri="{FF2B5EF4-FFF2-40B4-BE49-F238E27FC236}">
                    <a16:creationId xmlns:a16="http://schemas.microsoft.com/office/drawing/2014/main" id="{3B45243F-7681-C60F-ADF4-3D59B0F7B792}"/>
                  </a:ext>
                </a:extLst>
              </p:cNvPr>
              <p:cNvSpPr txBox="1"/>
              <p:nvPr/>
            </p:nvSpPr>
            <p:spPr>
              <a:xfrm>
                <a:off x="7009986" y="3735448"/>
                <a:ext cx="640945" cy="366895"/>
              </a:xfrm>
              <a:prstGeom prst="rect">
                <a:avLst/>
              </a:prstGeom>
              <a:noFill/>
            </p:spPr>
            <p:txBody>
              <a:bodyPr wrap="none" rtlCol="0">
                <a:spAutoFit/>
              </a:bodyPr>
              <a:lstStyle/>
              <a:p>
                <a:pPr defTabSz="1812066"/>
                <a14:m>
                  <m:oMathPara xmlns:m="http://schemas.openxmlformats.org/officeDocument/2006/math">
                    <m:oMathParaPr>
                      <m:jc m:val="centerGroup"/>
                    </m:oMathParaPr>
                    <m:oMath xmlns:m="http://schemas.openxmlformats.org/officeDocument/2006/math">
                      <m:r>
                        <a:rPr kumimoji="1" lang="en-US" altLang="zh-CN" sz="1784" i="1">
                          <a:solidFill>
                            <a:srgbClr val="000000"/>
                          </a:solidFill>
                          <a:latin typeface="Cambria Math" panose="02040503050406030204" pitchFamily="18" charset="0"/>
                        </a:rPr>
                        <m:t>𝐴</m:t>
                      </m:r>
                      <m:sSub>
                        <m:sSubPr>
                          <m:ctrlPr>
                            <a:rPr kumimoji="1" lang="en-US" altLang="zh-CN" sz="1784" i="1">
                              <a:solidFill>
                                <a:srgbClr val="000000"/>
                              </a:solidFill>
                              <a:latin typeface="Cambria Math" panose="02040503050406030204" pitchFamily="18" charset="0"/>
                            </a:rPr>
                          </m:ctrlPr>
                        </m:sSubPr>
                        <m:e>
                          <m:r>
                            <a:rPr kumimoji="1" lang="en-US" altLang="zh-CN" sz="1784" i="1">
                              <a:solidFill>
                                <a:srgbClr val="000000"/>
                              </a:solidFill>
                              <a:latin typeface="Cambria Math" panose="02040503050406030204" pitchFamily="18" charset="0"/>
                            </a:rPr>
                            <m:t>𝐷</m:t>
                          </m:r>
                        </m:e>
                        <m:sub>
                          <m:r>
                            <a:rPr kumimoji="1" lang="en-US" altLang="zh-CN" sz="1784" i="1">
                              <a:solidFill>
                                <a:srgbClr val="000000"/>
                              </a:solidFill>
                              <a:latin typeface="Cambria Math" panose="02040503050406030204" pitchFamily="18" charset="0"/>
                            </a:rPr>
                            <m:t>1</m:t>
                          </m:r>
                        </m:sub>
                      </m:sSub>
                    </m:oMath>
                  </m:oMathPara>
                </a14:m>
                <a:endParaRPr kumimoji="1" lang="zh-CN" altLang="en-US" sz="1784" dirty="0">
                  <a:solidFill>
                    <a:srgbClr val="000000"/>
                  </a:solidFill>
                  <a:latin typeface="Arial"/>
                </a:endParaRPr>
              </a:p>
            </p:txBody>
          </p:sp>
        </mc:Choice>
        <mc:Fallback>
          <p:sp>
            <p:nvSpPr>
              <p:cNvPr id="68" name="文本框 67">
                <a:extLst>
                  <a:ext uri="{FF2B5EF4-FFF2-40B4-BE49-F238E27FC236}">
                    <a16:creationId xmlns:a16="http://schemas.microsoft.com/office/drawing/2014/main" id="{3B45243F-7681-C60F-ADF4-3D59B0F7B792}"/>
                  </a:ext>
                </a:extLst>
              </p:cNvPr>
              <p:cNvSpPr txBox="1">
                <a:spLocks noRot="1" noChangeAspect="1" noMove="1" noResize="1" noEditPoints="1" noAdjustHandles="1" noChangeArrowheads="1" noChangeShapeType="1" noTextEdit="1"/>
              </p:cNvSpPr>
              <p:nvPr/>
            </p:nvSpPr>
            <p:spPr>
              <a:xfrm>
                <a:off x="7009986" y="3735448"/>
                <a:ext cx="640945" cy="36689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 name="文本框 68">
                <a:extLst>
                  <a:ext uri="{FF2B5EF4-FFF2-40B4-BE49-F238E27FC236}">
                    <a16:creationId xmlns:a16="http://schemas.microsoft.com/office/drawing/2014/main" id="{E59CA232-C52E-6DC1-1A3F-880D7F7FA367}"/>
                  </a:ext>
                </a:extLst>
              </p:cNvPr>
              <p:cNvSpPr txBox="1"/>
              <p:nvPr/>
            </p:nvSpPr>
            <p:spPr>
              <a:xfrm>
                <a:off x="6915669" y="4511193"/>
                <a:ext cx="646267" cy="366895"/>
              </a:xfrm>
              <a:prstGeom prst="rect">
                <a:avLst/>
              </a:prstGeom>
              <a:noFill/>
            </p:spPr>
            <p:txBody>
              <a:bodyPr wrap="none" rtlCol="0">
                <a:spAutoFit/>
              </a:bodyPr>
              <a:lstStyle/>
              <a:p>
                <a:pPr defTabSz="1812066"/>
                <a14:m>
                  <m:oMathPara xmlns:m="http://schemas.openxmlformats.org/officeDocument/2006/math">
                    <m:oMathParaPr>
                      <m:jc m:val="centerGroup"/>
                    </m:oMathParaPr>
                    <m:oMath xmlns:m="http://schemas.openxmlformats.org/officeDocument/2006/math">
                      <m:r>
                        <a:rPr kumimoji="1" lang="en-US" altLang="zh-CN" sz="1784" i="1">
                          <a:solidFill>
                            <a:srgbClr val="000000"/>
                          </a:solidFill>
                          <a:latin typeface="Cambria Math" panose="02040503050406030204" pitchFamily="18" charset="0"/>
                        </a:rPr>
                        <m:t>𝐴</m:t>
                      </m:r>
                      <m:sSub>
                        <m:sSubPr>
                          <m:ctrlPr>
                            <a:rPr kumimoji="1" lang="en-US" altLang="zh-CN" sz="1784" i="1">
                              <a:solidFill>
                                <a:srgbClr val="000000"/>
                              </a:solidFill>
                              <a:latin typeface="Cambria Math" panose="02040503050406030204" pitchFamily="18" charset="0"/>
                            </a:rPr>
                          </m:ctrlPr>
                        </m:sSubPr>
                        <m:e>
                          <m:r>
                            <a:rPr kumimoji="1" lang="en-US" altLang="zh-CN" sz="1784" i="1">
                              <a:solidFill>
                                <a:srgbClr val="000000"/>
                              </a:solidFill>
                              <a:latin typeface="Cambria Math" panose="02040503050406030204" pitchFamily="18" charset="0"/>
                            </a:rPr>
                            <m:t>𝐷</m:t>
                          </m:r>
                        </m:e>
                        <m:sub>
                          <m:r>
                            <a:rPr kumimoji="1" lang="en-US" altLang="zh-CN" sz="1784" i="1">
                              <a:solidFill>
                                <a:srgbClr val="000000"/>
                              </a:solidFill>
                              <a:latin typeface="Cambria Math" panose="02040503050406030204" pitchFamily="18" charset="0"/>
                            </a:rPr>
                            <m:t>2</m:t>
                          </m:r>
                        </m:sub>
                      </m:sSub>
                    </m:oMath>
                  </m:oMathPara>
                </a14:m>
                <a:endParaRPr kumimoji="1" lang="zh-CN" altLang="en-US" sz="1784" dirty="0">
                  <a:solidFill>
                    <a:srgbClr val="000000"/>
                  </a:solidFill>
                  <a:latin typeface="Arial"/>
                </a:endParaRPr>
              </a:p>
            </p:txBody>
          </p:sp>
        </mc:Choice>
        <mc:Fallback>
          <p:sp>
            <p:nvSpPr>
              <p:cNvPr id="69" name="文本框 68">
                <a:extLst>
                  <a:ext uri="{FF2B5EF4-FFF2-40B4-BE49-F238E27FC236}">
                    <a16:creationId xmlns:a16="http://schemas.microsoft.com/office/drawing/2014/main" id="{E59CA232-C52E-6DC1-1A3F-880D7F7FA367}"/>
                  </a:ext>
                </a:extLst>
              </p:cNvPr>
              <p:cNvSpPr txBox="1">
                <a:spLocks noRot="1" noChangeAspect="1" noMove="1" noResize="1" noEditPoints="1" noAdjustHandles="1" noChangeArrowheads="1" noChangeShapeType="1" noTextEdit="1"/>
              </p:cNvSpPr>
              <p:nvPr/>
            </p:nvSpPr>
            <p:spPr>
              <a:xfrm>
                <a:off x="6915669" y="4511193"/>
                <a:ext cx="646267" cy="366895"/>
              </a:xfrm>
              <a:prstGeom prst="rect">
                <a:avLst/>
              </a:prstGeom>
              <a:blipFill>
                <a:blip r:embed="rId8"/>
                <a:stretch>
                  <a:fillRect b="-1667"/>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D1E6FDF6-C54D-CB8A-42C1-538893056257}"/>
              </a:ext>
            </a:extLst>
          </p:cNvPr>
          <p:cNvSpPr txBox="1"/>
          <p:nvPr/>
        </p:nvSpPr>
        <p:spPr>
          <a:xfrm>
            <a:off x="1754193" y="6191248"/>
            <a:ext cx="7461443" cy="458267"/>
          </a:xfrm>
          <a:prstGeom prst="rect">
            <a:avLst/>
          </a:prstGeom>
          <a:noFill/>
        </p:spPr>
        <p:txBody>
          <a:bodyPr wrap="square">
            <a:spAutoFit/>
          </a:bodyPr>
          <a:lstStyle/>
          <a:p>
            <a:pPr defTabSz="1812066"/>
            <a:r>
              <a:rPr lang="zh-CN" altLang="zh-CN" sz="2378" dirty="0">
                <a:solidFill>
                  <a:srgbClr val="000000"/>
                </a:solidFill>
                <a:latin typeface="Arial"/>
              </a:rPr>
              <a:t>长期中，价格和工资充分调整，价格水平下降。</a:t>
            </a:r>
            <a:endParaRPr lang="zh-CN" altLang="en-US" sz="2378" dirty="0">
              <a:solidFill>
                <a:srgbClr val="000000"/>
              </a:solidFill>
              <a:latin typeface="Arial"/>
            </a:endParaRPr>
          </a:p>
        </p:txBody>
      </p:sp>
    </p:spTree>
    <p:extLst>
      <p:ext uri="{BB962C8B-B14F-4D97-AF65-F5344CB8AC3E}">
        <p14:creationId xmlns:p14="http://schemas.microsoft.com/office/powerpoint/2010/main" val="3432897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7EA05-E179-F7B6-8939-8F8B97F37F2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512CF44-20A6-5156-C8D6-F97F3E3FF086}"/>
                  </a:ext>
                </a:extLst>
              </p:cNvPr>
              <p:cNvSpPr>
                <a:spLocks noGrp="1"/>
              </p:cNvSpPr>
              <p:nvPr>
                <p:ph idx="1"/>
              </p:nvPr>
            </p:nvSpPr>
            <p:spPr>
              <a:xfrm>
                <a:off x="1529768" y="1008063"/>
                <a:ext cx="8977019" cy="5118100"/>
              </a:xfrm>
            </p:spPr>
            <p:txBody>
              <a:bodyPr/>
              <a:lstStyle/>
              <a:p>
                <a:pPr>
                  <a:buClr>
                    <a:srgbClr val="0070C0"/>
                  </a:buClr>
                  <a:buFont typeface="Wingdings" panose="05000000000000000000" pitchFamily="2" charset="2"/>
                  <a:buChar char="l"/>
                </a:pPr>
                <a:r>
                  <a:rPr lang="zh-CN" altLang="zh-CN" sz="1982" dirty="0"/>
                  <a:t>古典主义反对政府通过扩张总需求来持续提高产出和就业</a:t>
                </a:r>
                <a:r>
                  <a:rPr lang="zh-CN" altLang="en-US" sz="1982" dirty="0"/>
                  <a:t>；</a:t>
                </a:r>
                <a:endParaRPr lang="en-US" altLang="zh-CN" sz="1982" dirty="0"/>
              </a:p>
              <a:p>
                <a:pPr>
                  <a:buClr>
                    <a:srgbClr val="0070C0"/>
                  </a:buClr>
                  <a:buFont typeface="Wingdings" panose="05000000000000000000" pitchFamily="2" charset="2"/>
                  <a:buChar char="l"/>
                </a:pPr>
                <a:r>
                  <a:rPr lang="zh-CN" altLang="en-US" sz="1982" dirty="0"/>
                  <a:t>在古典主义框架里，长期产出由供给因素决定，比如技术、资本、劳动供给和生产效率，而不是由总需求决定；</a:t>
                </a:r>
                <a:endParaRPr lang="en-US" altLang="zh-CN" sz="1982" dirty="0"/>
              </a:p>
              <a:p>
                <a:pPr>
                  <a:buClr>
                    <a:srgbClr val="0070C0"/>
                  </a:buClr>
                  <a:buFont typeface="Wingdings" panose="05000000000000000000" pitchFamily="2" charset="2"/>
                  <a:buChar char="l"/>
                </a:pPr>
                <a:r>
                  <a:rPr lang="zh-CN" altLang="en-US" sz="1982" dirty="0"/>
                  <a:t>因此，政府增加支出、减税、扩大货币供给，最多只是把</a:t>
                </a:r>
                <a:r>
                  <a:rPr lang="en-US" altLang="zh-CN" sz="1982" dirty="0"/>
                  <a:t>AD</a:t>
                </a:r>
                <a:r>
                  <a:rPr lang="zh-CN" altLang="en-US" sz="1982" dirty="0"/>
                  <a:t>曲线往右推，但不能</a:t>
                </a:r>
                <a14:m>
                  <m:oMath xmlns:m="http://schemas.openxmlformats.org/officeDocument/2006/math">
                    <m:sSub>
                      <m:sSubPr>
                        <m:ctrlPr>
                          <a:rPr lang="en-US" altLang="zh-CN" sz="1982" i="1">
                            <a:latin typeface="Cambria Math" panose="02040503050406030204" pitchFamily="18" charset="0"/>
                          </a:rPr>
                        </m:ctrlPr>
                      </m:sSubPr>
                      <m:e>
                        <m:r>
                          <a:rPr lang="en-US" altLang="zh-CN" sz="1982" i="1">
                            <a:latin typeface="Cambria Math" panose="02040503050406030204" pitchFamily="18" charset="0"/>
                          </a:rPr>
                          <m:t>𝑌</m:t>
                        </m:r>
                      </m:e>
                      <m:sub>
                        <m:r>
                          <a:rPr lang="en-US" altLang="zh-CN" sz="1982" i="1">
                            <a:latin typeface="Cambria Math" panose="02040503050406030204" pitchFamily="18" charset="0"/>
                          </a:rPr>
                          <m:t>𝑓</m:t>
                        </m:r>
                      </m:sub>
                    </m:sSub>
                  </m:oMath>
                </a14:m>
                <a:r>
                  <a:rPr lang="en-US" altLang="zh-CN" sz="1982" dirty="0"/>
                  <a:t>​ </a:t>
                </a:r>
                <a:r>
                  <a:rPr lang="zh-CN" altLang="en-US" sz="1982" dirty="0"/>
                  <a:t>往右推。</a:t>
                </a:r>
                <a:endParaRPr lang="en-US" altLang="zh-CN" sz="1982" b="1" dirty="0"/>
              </a:p>
            </p:txBody>
          </p:sp>
        </mc:Choice>
        <mc:Fallback>
          <p:sp>
            <p:nvSpPr>
              <p:cNvPr id="3" name="内容占位符 2">
                <a:extLst>
                  <a:ext uri="{FF2B5EF4-FFF2-40B4-BE49-F238E27FC236}">
                    <a16:creationId xmlns:a16="http://schemas.microsoft.com/office/drawing/2014/main" id="{C512CF44-20A6-5156-C8D6-F97F3E3FF086}"/>
                  </a:ext>
                </a:extLst>
              </p:cNvPr>
              <p:cNvSpPr>
                <a:spLocks noGrp="1" noRot="1" noChangeAspect="1" noMove="1" noResize="1" noEditPoints="1" noAdjustHandles="1" noChangeArrowheads="1" noChangeShapeType="1" noTextEdit="1"/>
              </p:cNvSpPr>
              <p:nvPr>
                <p:ph idx="1"/>
              </p:nvPr>
            </p:nvSpPr>
            <p:spPr>
              <a:xfrm>
                <a:off x="1529768" y="1008063"/>
                <a:ext cx="8977019" cy="5118100"/>
              </a:xfrm>
              <a:blipFill>
                <a:blip r:embed="rId2"/>
                <a:stretch>
                  <a:fillRect l="-950" t="-1548" r="-204"/>
                </a:stretch>
              </a:blipFill>
            </p:spPr>
            <p:txBody>
              <a:bodyPr/>
              <a:lstStyle/>
              <a:p>
                <a:r>
                  <a:rPr lang="zh-CN" altLang="en-US">
                    <a:noFill/>
                  </a:rPr>
                  <a:t> </a:t>
                </a:r>
              </a:p>
            </p:txBody>
          </p:sp>
        </mc:Fallback>
      </mc:AlternateContent>
      <p:sp>
        <p:nvSpPr>
          <p:cNvPr id="6" name="灯片编号占位符 5">
            <a:extLst>
              <a:ext uri="{FF2B5EF4-FFF2-40B4-BE49-F238E27FC236}">
                <a16:creationId xmlns:a16="http://schemas.microsoft.com/office/drawing/2014/main" id="{023A1793-8C8A-F507-275F-9B929A0C0EC3}"/>
              </a:ext>
            </a:extLst>
          </p:cNvPr>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11</a:t>
            </a:fld>
            <a:endParaRPr lang="zh-CN" altLang="en-US"/>
          </a:p>
        </p:txBody>
      </p:sp>
      <p:sp>
        <p:nvSpPr>
          <p:cNvPr id="7" name="Rectangle 6">
            <a:extLst>
              <a:ext uri="{FF2B5EF4-FFF2-40B4-BE49-F238E27FC236}">
                <a16:creationId xmlns:a16="http://schemas.microsoft.com/office/drawing/2014/main" id="{F27147F1-F492-8C1D-0E97-B5F537FE483A}"/>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11</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2ABE68AA-9AA9-3350-A227-FF0E7C578B4D}"/>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BF0F202C-2A6D-6EB7-2DD0-3F988419299B}"/>
              </a:ext>
            </a:extLst>
          </p:cNvPr>
          <p:cNvSpPr>
            <a:spLocks noGrp="1"/>
          </p:cNvSpPr>
          <p:nvPr>
            <p:ph type="title"/>
          </p:nvPr>
        </p:nvSpPr>
        <p:spPr/>
        <p:txBody>
          <a:bodyPr/>
          <a:lstStyle/>
          <a:p>
            <a:r>
              <a:rPr kumimoji="1" lang="zh-CN" altLang="en-US" dirty="0"/>
              <a:t>关于古典主义的思考</a:t>
            </a:r>
          </a:p>
        </p:txBody>
      </p:sp>
    </p:spTree>
    <p:extLst>
      <p:ext uri="{BB962C8B-B14F-4D97-AF65-F5344CB8AC3E}">
        <p14:creationId xmlns:p14="http://schemas.microsoft.com/office/powerpoint/2010/main" val="1619106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45F7-90E6-CC5D-A75B-51563DE2165C}"/>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9C6C94EF-6F9F-422F-64AC-F78D8A1D5BF9}"/>
              </a:ext>
            </a:extLst>
          </p:cNvPr>
          <p:cNvSpPr>
            <a:spLocks noGrp="1"/>
          </p:cNvSpPr>
          <p:nvPr>
            <p:ph idx="1"/>
          </p:nvPr>
        </p:nvSpPr>
        <p:spPr>
          <a:xfrm>
            <a:off x="1529768" y="1008063"/>
            <a:ext cx="8977019" cy="5118100"/>
          </a:xfrm>
        </p:spPr>
        <p:txBody>
          <a:bodyPr/>
          <a:lstStyle/>
          <a:p>
            <a:pPr>
              <a:buClr>
                <a:srgbClr val="0070C0"/>
              </a:buClr>
              <a:buFont typeface="Wingdings" panose="05000000000000000000" pitchFamily="2" charset="2"/>
              <a:buChar char="l"/>
            </a:pPr>
            <a:r>
              <a:rPr lang="zh-CN" altLang="en-US" sz="1982" dirty="0"/>
              <a:t>凯恩斯经济学产生于</a:t>
            </a:r>
            <a:r>
              <a:rPr lang="en-US" altLang="zh-CN" sz="1982" dirty="0"/>
              <a:t>20</a:t>
            </a:r>
            <a:r>
              <a:rPr lang="zh-CN" altLang="en-US" sz="1982" dirty="0"/>
              <a:t>世纪</a:t>
            </a:r>
            <a:r>
              <a:rPr lang="en-US" altLang="zh-CN" sz="1982" dirty="0"/>
              <a:t>30</a:t>
            </a:r>
            <a:r>
              <a:rPr lang="zh-CN" altLang="en-US" sz="1982" dirty="0"/>
              <a:t>年代大萧条的历史背景下。</a:t>
            </a:r>
            <a:r>
              <a:rPr lang="en-US" altLang="zh-CN" sz="1982" dirty="0"/>
              <a:t>1929</a:t>
            </a:r>
            <a:r>
              <a:rPr lang="zh-CN" altLang="en-US" sz="1982" dirty="0"/>
              <a:t>年美国股市崩盘后，经济危机迅速蔓延到主要资本主义国家，</a:t>
            </a:r>
            <a:r>
              <a:rPr lang="zh-CN" altLang="en-US" sz="1982" b="1" dirty="0"/>
              <a:t>企业投资大幅下降，生产持续萎缩，银行体系受到严重冲击，大量工人失业，社会总需求严重不足。</a:t>
            </a:r>
            <a:endParaRPr lang="en-US" altLang="zh-CN" sz="1982" b="1" dirty="0"/>
          </a:p>
          <a:p>
            <a:pPr>
              <a:buClr>
                <a:srgbClr val="0070C0"/>
              </a:buClr>
              <a:buFont typeface="Wingdings" panose="05000000000000000000" pitchFamily="2" charset="2"/>
              <a:buChar char="l"/>
            </a:pPr>
            <a:r>
              <a:rPr lang="zh-CN" altLang="zh-CN" sz="1982" dirty="0"/>
              <a:t>在大萧条期间，许多国家并没有很快走出经济低迷，失业和产出下降持续了较长时间。现实中的经济危机表明，宏观经济并不总是能够在短期内自动恢复到充分就业状态，如何解释</a:t>
            </a:r>
            <a:r>
              <a:rPr lang="zh-CN" altLang="zh-CN" sz="1982" b="1" dirty="0"/>
              <a:t>需求不足、产出下降和大规模失业</a:t>
            </a:r>
            <a:r>
              <a:rPr lang="zh-CN" altLang="zh-CN" sz="1982" dirty="0"/>
              <a:t>，成为当时经济学面临的重要问题。</a:t>
            </a:r>
            <a:endParaRPr lang="en-US" altLang="zh-CN" sz="1982" dirty="0"/>
          </a:p>
          <a:p>
            <a:pPr>
              <a:buClr>
                <a:srgbClr val="0070C0"/>
              </a:buClr>
              <a:buFont typeface="Wingdings" panose="05000000000000000000" pitchFamily="2" charset="2"/>
              <a:buChar char="l"/>
            </a:pPr>
            <a:r>
              <a:rPr lang="zh-CN" altLang="zh-CN" sz="1982" dirty="0"/>
              <a:t>正是在这一背景下，凯恩斯开始重新思考就业、利率、货币和总需求之间的关系。1936年，凯恩斯出版</a:t>
            </a:r>
            <a:r>
              <a:rPr lang="zh-CN" altLang="zh-CN" sz="1982" b="1" dirty="0"/>
              <a:t>《就业、利息和货币通论》</a:t>
            </a:r>
            <a:r>
              <a:rPr lang="zh-CN" altLang="zh-CN" sz="1982" dirty="0"/>
              <a:t>，系统提出以</a:t>
            </a:r>
            <a:r>
              <a:rPr lang="zh-CN" altLang="zh-CN" sz="1982" b="1" dirty="0"/>
              <a:t>总需求</a:t>
            </a:r>
            <a:r>
              <a:rPr lang="zh-CN" altLang="zh-CN" sz="1982" dirty="0"/>
              <a:t>分析为核心的宏观经济理论，凯恩斯经济学由此形成。</a:t>
            </a:r>
            <a:endParaRPr lang="en-US" altLang="zh-CN" sz="1982" dirty="0"/>
          </a:p>
          <a:p>
            <a:pPr>
              <a:buClr>
                <a:srgbClr val="0070C0"/>
              </a:buClr>
              <a:buFont typeface="Wingdings" panose="05000000000000000000" pitchFamily="2" charset="2"/>
              <a:buChar char="l"/>
            </a:pPr>
            <a:endParaRPr lang="en-US" altLang="zh-CN" sz="1982" dirty="0"/>
          </a:p>
          <a:p>
            <a:pPr>
              <a:buClr>
                <a:srgbClr val="0070C0"/>
              </a:buClr>
              <a:buFont typeface="Wingdings" panose="05000000000000000000" pitchFamily="2" charset="2"/>
              <a:buChar char="l"/>
            </a:pPr>
            <a:r>
              <a:rPr lang="zh-CN" altLang="zh-CN" sz="1982" b="1" dirty="0"/>
              <a:t>凯恩斯经济学产生于大萧条背景下，核心关切是：当经济陷入需求不足、产出低迷和大规模失业时，如何推动经济走出萧条。</a:t>
            </a:r>
            <a:endParaRPr lang="en-US" altLang="zh-CN" sz="1982" b="1" dirty="0"/>
          </a:p>
        </p:txBody>
      </p:sp>
      <p:sp>
        <p:nvSpPr>
          <p:cNvPr id="6" name="灯片编号占位符 5">
            <a:extLst>
              <a:ext uri="{FF2B5EF4-FFF2-40B4-BE49-F238E27FC236}">
                <a16:creationId xmlns:a16="http://schemas.microsoft.com/office/drawing/2014/main" id="{95591BFE-7E52-1F6D-D5DC-23105906B35E}"/>
              </a:ext>
            </a:extLst>
          </p:cNvPr>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12</a:t>
            </a:fld>
            <a:endParaRPr lang="zh-CN" altLang="en-US"/>
          </a:p>
        </p:txBody>
      </p:sp>
      <p:sp>
        <p:nvSpPr>
          <p:cNvPr id="7" name="Rectangle 6">
            <a:extLst>
              <a:ext uri="{FF2B5EF4-FFF2-40B4-BE49-F238E27FC236}">
                <a16:creationId xmlns:a16="http://schemas.microsoft.com/office/drawing/2014/main" id="{45CD3B6E-C4D0-7BBB-D8BE-B27961C02BDE}"/>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12</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40A249DD-6CDF-1E3F-DEA9-9122423B07DE}"/>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0C91E01F-B442-9C67-8A8C-192F5E54CE1C}"/>
              </a:ext>
            </a:extLst>
          </p:cNvPr>
          <p:cNvSpPr>
            <a:spLocks noGrp="1"/>
          </p:cNvSpPr>
          <p:nvPr>
            <p:ph type="title"/>
          </p:nvPr>
        </p:nvSpPr>
        <p:spPr/>
        <p:txBody>
          <a:bodyPr/>
          <a:lstStyle/>
          <a:p>
            <a:r>
              <a:rPr kumimoji="1" lang="zh-CN" altLang="en-US" dirty="0"/>
              <a:t>凯恩斯经济学的历史背景</a:t>
            </a:r>
          </a:p>
        </p:txBody>
      </p:sp>
    </p:spTree>
    <p:extLst>
      <p:ext uri="{BB962C8B-B14F-4D97-AF65-F5344CB8AC3E}">
        <p14:creationId xmlns:p14="http://schemas.microsoft.com/office/powerpoint/2010/main" val="391939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2225-FF49-F17E-7A85-3390DB925CB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0358763-91F3-BF19-A557-E7A2D2A6A9B4}"/>
              </a:ext>
            </a:extLst>
          </p:cNvPr>
          <p:cNvSpPr>
            <a:spLocks noGrp="1"/>
          </p:cNvSpPr>
          <p:nvPr>
            <p:ph idx="1"/>
          </p:nvPr>
        </p:nvSpPr>
        <p:spPr/>
        <p:txBody>
          <a:bodyPr/>
          <a:lstStyle/>
          <a:p>
            <a:pPr marL="0" indent="0">
              <a:buNone/>
            </a:pPr>
            <a:r>
              <a:rPr lang="zh-CN" altLang="en-US" i="1" u="sng" dirty="0">
                <a:highlight>
                  <a:srgbClr val="00FFFF"/>
                </a:highlight>
              </a:rPr>
              <a:t>短期总供给曲线的情形一：凯恩斯总供给曲线</a:t>
            </a:r>
            <a:endParaRPr lang="en-US" altLang="zh-CN" i="1" u="sng" dirty="0">
              <a:highlight>
                <a:srgbClr val="00FFFF"/>
              </a:highlight>
            </a:endParaRPr>
          </a:p>
          <a:p>
            <a:pPr marL="0" indent="0">
              <a:buNone/>
            </a:pPr>
            <a:r>
              <a:rPr lang="zh-CN" altLang="en-US" i="1" u="sng" dirty="0"/>
              <a:t>凯恩斯：</a:t>
            </a:r>
            <a:endParaRPr lang="en-US" altLang="zh-CN" i="1" u="sng" dirty="0"/>
          </a:p>
          <a:p>
            <a:pPr marL="0" indent="0">
              <a:buNone/>
            </a:pPr>
            <a:r>
              <a:rPr lang="en-US" altLang="zh-CN" dirty="0"/>
              <a:t>1.</a:t>
            </a:r>
            <a:r>
              <a:rPr lang="zh-CN" altLang="en-US" dirty="0"/>
              <a:t>长期，我们都将死去</a:t>
            </a:r>
            <a:endParaRPr lang="en-US" altLang="zh-CN" dirty="0"/>
          </a:p>
          <a:p>
            <a:pPr marL="0" indent="0">
              <a:buNone/>
            </a:pPr>
            <a:r>
              <a:rPr lang="en-US" altLang="zh-CN" dirty="0"/>
              <a:t>2.</a:t>
            </a:r>
            <a:r>
              <a:rPr lang="zh-CN" altLang="en-US" dirty="0"/>
              <a:t>长期观点并不能指导眼前的问题。因为在长期中，我们都死了。如果经济正处在暴风雨之中，经济学家却只能告诉人们：等风暴过去很久以后，海面自然会恢复平静，那么这样的解释既太容易，也没有多大用处。</a:t>
            </a:r>
            <a:endParaRPr lang="en-US" altLang="zh-CN" dirty="0"/>
          </a:p>
        </p:txBody>
      </p:sp>
      <p:sp>
        <p:nvSpPr>
          <p:cNvPr id="6" name="灯片编号占位符 5">
            <a:extLst>
              <a:ext uri="{FF2B5EF4-FFF2-40B4-BE49-F238E27FC236}">
                <a16:creationId xmlns:a16="http://schemas.microsoft.com/office/drawing/2014/main" id="{72C4CAC6-FC2A-D59B-8071-2D6CC14171CC}"/>
              </a:ext>
            </a:extLst>
          </p:cNvPr>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13</a:t>
            </a:fld>
            <a:endParaRPr lang="zh-CN" altLang="en-US"/>
          </a:p>
        </p:txBody>
      </p:sp>
      <p:sp>
        <p:nvSpPr>
          <p:cNvPr id="7" name="Rectangle 6">
            <a:extLst>
              <a:ext uri="{FF2B5EF4-FFF2-40B4-BE49-F238E27FC236}">
                <a16:creationId xmlns:a16="http://schemas.microsoft.com/office/drawing/2014/main" id="{D7BA3A98-0C59-8D41-14BB-51F4BB3BD58C}"/>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13</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6C3CFE19-7CD9-61BF-BC97-CC9A1D1640A6}"/>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FF2D7ABB-337A-7E85-9FBA-CDB174C52132}"/>
              </a:ext>
            </a:extLst>
          </p:cNvPr>
          <p:cNvSpPr>
            <a:spLocks noGrp="1"/>
          </p:cNvSpPr>
          <p:nvPr>
            <p:ph type="title"/>
          </p:nvPr>
        </p:nvSpPr>
        <p:spPr/>
        <p:txBody>
          <a:bodyPr/>
          <a:lstStyle/>
          <a:p>
            <a:r>
              <a:rPr kumimoji="1" lang="zh-CN" altLang="en-US" dirty="0"/>
              <a:t>短期总供给曲线</a:t>
            </a:r>
          </a:p>
        </p:txBody>
      </p:sp>
    </p:spTree>
    <p:extLst>
      <p:ext uri="{BB962C8B-B14F-4D97-AF65-F5344CB8AC3E}">
        <p14:creationId xmlns:p14="http://schemas.microsoft.com/office/powerpoint/2010/main" val="1466274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i="1" u="sng" dirty="0">
                <a:highlight>
                  <a:srgbClr val="00FFFF"/>
                </a:highlight>
              </a:rPr>
              <a:t>短期总供给曲线的情形一：凯恩斯总供给曲线</a:t>
            </a:r>
            <a:endParaRPr lang="en-US" altLang="zh-CN" i="1" u="sng" dirty="0">
              <a:highlight>
                <a:srgbClr val="00FFFF"/>
              </a:highlight>
            </a:endParaRPr>
          </a:p>
          <a:p>
            <a:r>
              <a:rPr lang="zh-CN" altLang="en-US" dirty="0"/>
              <a:t>短期的含义：</a:t>
            </a:r>
            <a:r>
              <a:rPr lang="zh-CN" altLang="en-US" b="1" dirty="0"/>
              <a:t>价格无法充分调整</a:t>
            </a:r>
            <a:endParaRPr lang="en-US" altLang="zh-CN" b="1" dirty="0"/>
          </a:p>
          <a:p>
            <a:r>
              <a:rPr lang="zh-CN" altLang="en-US" dirty="0"/>
              <a:t>凯恩斯总供给曲线的前提是短期分析。他认为，</a:t>
            </a:r>
            <a:r>
              <a:rPr lang="zh-CN" altLang="en-US" b="1" dirty="0"/>
              <a:t>经济体中存在着大量失业和生产能力</a:t>
            </a:r>
            <a:r>
              <a:rPr lang="zh-CN" altLang="en-US" dirty="0"/>
              <a:t>。</a:t>
            </a:r>
            <a:endParaRPr lang="en-US" altLang="zh-CN" dirty="0"/>
          </a:p>
          <a:p>
            <a:r>
              <a:rPr lang="zh-CN" altLang="en-US" b="1" dirty="0"/>
              <a:t>假设：</a:t>
            </a:r>
            <a:r>
              <a:rPr lang="zh-CN" altLang="en-US" dirty="0"/>
              <a:t>货币工资具有“刚性” ，即出于种种原因，货币工资不会轻易变动。</a:t>
            </a:r>
            <a:endParaRPr lang="en-US" altLang="zh-CN" dirty="0"/>
          </a:p>
          <a:p>
            <a:pPr lvl="1"/>
            <a:r>
              <a:rPr lang="zh-CN" altLang="en-US" dirty="0"/>
              <a:t>在刚性货币工资假定下，当产量增加时，价格和货币工资都不会发生变化。因此，凯恩斯的总供给曲线被认为是一条水平线。</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14</a:t>
            </a:fld>
            <a:endParaRPr lang="zh-CN" altLang="en-US"/>
          </a:p>
        </p:txBody>
      </p:sp>
      <p:sp>
        <p:nvSpPr>
          <p:cNvPr id="7" name="Rectangle 6">
            <a:extLst>
              <a:ext uri="{FF2B5EF4-FFF2-40B4-BE49-F238E27FC236}">
                <a16:creationId xmlns:a16="http://schemas.microsoft.com/office/drawing/2014/main" id="{D7BF22B9-E1D2-72EF-0693-7A60AA217204}"/>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14</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31DD6D67-4C05-3884-6BFA-437323B9F74A}"/>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38F56146-0102-72B1-8E10-648024F29A95}"/>
              </a:ext>
            </a:extLst>
          </p:cNvPr>
          <p:cNvSpPr>
            <a:spLocks noGrp="1"/>
          </p:cNvSpPr>
          <p:nvPr>
            <p:ph type="title"/>
          </p:nvPr>
        </p:nvSpPr>
        <p:spPr/>
        <p:txBody>
          <a:bodyPr/>
          <a:lstStyle/>
          <a:p>
            <a:r>
              <a:rPr kumimoji="1" lang="zh-CN" altLang="en-US" dirty="0"/>
              <a:t>短期总供给曲线</a:t>
            </a:r>
          </a:p>
        </p:txBody>
      </p:sp>
    </p:spTree>
    <p:extLst>
      <p:ext uri="{BB962C8B-B14F-4D97-AF65-F5344CB8AC3E}">
        <p14:creationId xmlns:p14="http://schemas.microsoft.com/office/powerpoint/2010/main" val="1071259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125916" y="983527"/>
                <a:ext cx="7940168" cy="453541"/>
              </a:xfrm>
            </p:spPr>
            <p:txBody>
              <a:bodyPr/>
              <a:lstStyle/>
              <a:p>
                <a:r>
                  <a:rPr lang="zh-CN" altLang="en-US" sz="2378" dirty="0"/>
                  <a:t>图中</a:t>
                </a:r>
                <a14:m>
                  <m:oMath xmlns:m="http://schemas.openxmlformats.org/officeDocument/2006/math">
                    <m:sSub>
                      <m:sSubPr>
                        <m:ctrlPr>
                          <a:rPr lang="en-US" altLang="zh-CN" sz="2378" i="1">
                            <a:latin typeface="Cambria Math" panose="02040503050406030204" pitchFamily="18" charset="0"/>
                          </a:rPr>
                        </m:ctrlPr>
                      </m:sSubPr>
                      <m:e>
                        <m:r>
                          <a:rPr lang="en-US" altLang="zh-CN" sz="2378" i="1">
                            <a:latin typeface="Cambria Math" panose="02040503050406030204" pitchFamily="18" charset="0"/>
                          </a:rPr>
                          <m:t>𝑦</m:t>
                        </m:r>
                      </m:e>
                      <m:sub>
                        <m:r>
                          <a:rPr lang="en-US" altLang="zh-CN" sz="2378" i="1">
                            <a:latin typeface="Cambria Math" panose="02040503050406030204" pitchFamily="18" charset="0"/>
                          </a:rPr>
                          <m:t>𝑓</m:t>
                        </m:r>
                      </m:sub>
                    </m:sSub>
                  </m:oMath>
                </a14:m>
                <a:r>
                  <a:rPr lang="zh-CN" altLang="en-US" sz="2378" dirty="0"/>
                  <a:t>是充分就业时的产量。</a:t>
                </a:r>
                <a:endParaRPr lang="en-US" altLang="zh-CN" sz="2378"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2125916" y="983527"/>
                <a:ext cx="7940168" cy="453541"/>
              </a:xfrm>
              <a:blipFill>
                <a:blip r:embed="rId3"/>
                <a:stretch>
                  <a:fillRect l="-1382" t="-14667" b="-38667"/>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15</a:t>
            </a:fld>
            <a:endParaRPr lang="zh-CN" altLang="en-US"/>
          </a:p>
        </p:txBody>
      </p:sp>
      <p:pic>
        <p:nvPicPr>
          <p:cNvPr id="7" name="Picture 4" descr="xf17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1430" y="1626237"/>
            <a:ext cx="4274908" cy="374742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7048675" y="5283785"/>
            <a:ext cx="2313454" cy="412549"/>
          </a:xfrm>
          <a:prstGeom prst="rect">
            <a:avLst/>
          </a:prstGeom>
        </p:spPr>
        <p:txBody>
          <a:bodyPr wrap="none">
            <a:spAutoFit/>
          </a:bodyPr>
          <a:lstStyle/>
          <a:p>
            <a:pPr algn="ctr">
              <a:spcBef>
                <a:spcPct val="50000"/>
              </a:spcBef>
            </a:pPr>
            <a:r>
              <a:rPr lang="zh-CN" altLang="en-US" sz="208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凯恩斯总供给曲线</a:t>
            </a:r>
          </a:p>
        </p:txBody>
      </p:sp>
      <mc:AlternateContent xmlns:mc="http://schemas.openxmlformats.org/markup-compatibility/2006">
        <mc:Choice xmlns:a14="http://schemas.microsoft.com/office/drawing/2010/main" Requires="a14">
          <p:sp>
            <p:nvSpPr>
              <p:cNvPr id="9" name="矩形 8"/>
              <p:cNvSpPr/>
              <p:nvPr/>
            </p:nvSpPr>
            <p:spPr>
              <a:xfrm>
                <a:off x="2125916" y="1526518"/>
                <a:ext cx="4398168" cy="4144917"/>
              </a:xfrm>
              <a:prstGeom prst="rect">
                <a:avLst/>
              </a:prstGeom>
            </p:spPr>
            <p:txBody>
              <a:bodyPr wrap="square">
                <a:spAutoFit/>
              </a:bodyPr>
              <a:lstStyle/>
              <a:p>
                <a:pPr marL="285513" indent="-285513">
                  <a:buFont typeface="Arial" panose="020B0604020202020204" pitchFamily="34" charset="0"/>
                  <a:buChar char="•"/>
                </a:pPr>
                <a14:m>
                  <m:oMath xmlns:m="http://schemas.openxmlformats.org/officeDocument/2006/math">
                    <m:sSub>
                      <m:sSubPr>
                        <m:ctrlPr>
                          <a:rPr lang="en-US" altLang="zh-CN" sz="2180" i="1">
                            <a:latin typeface="Cambria Math" panose="02040503050406030204" pitchFamily="18" charset="0"/>
                          </a:rPr>
                        </m:ctrlPr>
                      </m:sSubPr>
                      <m:e>
                        <m:r>
                          <a:rPr lang="en-US" altLang="zh-CN" sz="2180" i="1">
                            <a:latin typeface="Cambria Math" panose="02040503050406030204" pitchFamily="18" charset="0"/>
                          </a:rPr>
                          <m:t>𝑃</m:t>
                        </m:r>
                      </m:e>
                      <m:sub>
                        <m:r>
                          <a:rPr lang="en-US" altLang="zh-CN" sz="2180" i="1">
                            <a:latin typeface="Cambria Math" panose="02040503050406030204" pitchFamily="18" charset="0"/>
                          </a:rPr>
                          <m:t>0</m:t>
                        </m:r>
                      </m:sub>
                    </m:sSub>
                    <m:sSub>
                      <m:sSubPr>
                        <m:ctrlPr>
                          <a:rPr lang="en-US" altLang="zh-CN" sz="2180" i="1">
                            <a:latin typeface="Cambria Math" panose="02040503050406030204" pitchFamily="18" charset="0"/>
                          </a:rPr>
                        </m:ctrlPr>
                      </m:sSubPr>
                      <m:e>
                        <m:r>
                          <a:rPr lang="en-US" altLang="zh-CN" sz="2180" i="1">
                            <a:latin typeface="Cambria Math" panose="02040503050406030204" pitchFamily="18" charset="0"/>
                          </a:rPr>
                          <m:t>𝐸</m:t>
                        </m:r>
                      </m:e>
                      <m:sub>
                        <m:r>
                          <a:rPr lang="en-US" altLang="zh-CN" sz="2180" i="1">
                            <a:latin typeface="Cambria Math" panose="02040503050406030204" pitchFamily="18" charset="0"/>
                          </a:rPr>
                          <m:t>0</m:t>
                        </m:r>
                      </m:sub>
                    </m:sSub>
                    <m:r>
                      <a:rPr lang="zh-CN" altLang="en-US" sz="2180" i="1">
                        <a:latin typeface="Cambria Math" panose="02040503050406030204" pitchFamily="18" charset="0"/>
                      </a:rPr>
                      <m:t>是</m:t>
                    </m:r>
                  </m:oMath>
                </a14:m>
                <a:r>
                  <a:rPr lang="zh-CN" altLang="en-US" sz="2180" dirty="0">
                    <a:latin typeface="Garamond" panose="02020404030301010803" pitchFamily="18" charset="0"/>
                    <a:ea typeface="SimSun" panose="02010600030101010101" pitchFamily="2" charset="-122"/>
                  </a:rPr>
                  <a:t>水平线的意思是：当产量小于</a:t>
                </a:r>
                <a14:m>
                  <m:oMath xmlns:m="http://schemas.openxmlformats.org/officeDocument/2006/math">
                    <m:sSub>
                      <m:sSubPr>
                        <m:ctrlPr>
                          <a:rPr lang="en-US" altLang="zh-CN" sz="2180" i="1">
                            <a:latin typeface="Cambria Math" panose="02040503050406030204" pitchFamily="18" charset="0"/>
                          </a:rPr>
                        </m:ctrlPr>
                      </m:sSubPr>
                      <m:e>
                        <m:r>
                          <a:rPr lang="en-US" altLang="zh-CN" sz="2180" i="1">
                            <a:latin typeface="Cambria Math" panose="02040503050406030204" pitchFamily="18" charset="0"/>
                          </a:rPr>
                          <m:t>𝑦</m:t>
                        </m:r>
                      </m:e>
                      <m:sub>
                        <m:r>
                          <a:rPr lang="en-US" altLang="zh-CN" sz="2180" i="1">
                            <a:latin typeface="Cambria Math" panose="02040503050406030204" pitchFamily="18" charset="0"/>
                          </a:rPr>
                          <m:t>𝑓</m:t>
                        </m:r>
                      </m:sub>
                    </m:sSub>
                  </m:oMath>
                </a14:m>
                <a:r>
                  <a:rPr lang="zh-CN" altLang="en-US" sz="2180" dirty="0">
                    <a:latin typeface="Garamond" panose="02020404030301010803" pitchFamily="18" charset="0"/>
                    <a:ea typeface="SimSun" panose="02010600030101010101" pitchFamily="2" charset="-122"/>
                  </a:rPr>
                  <a:t>时，由于</a:t>
                </a:r>
                <a:r>
                  <a:rPr lang="en-US" altLang="zh-CN" sz="2180" dirty="0">
                    <a:latin typeface="Garamond" panose="02020404030301010803" pitchFamily="18" charset="0"/>
                    <a:ea typeface="SimSun" panose="02010600030101010101" pitchFamily="2" charset="-122"/>
                  </a:rPr>
                  <a:t>W</a:t>
                </a:r>
                <a:r>
                  <a:rPr lang="zh-CN" altLang="en-US" sz="2180" dirty="0">
                    <a:latin typeface="Garamond" panose="02020404030301010803" pitchFamily="18" charset="0"/>
                    <a:ea typeface="SimSun" panose="02010600030101010101" pitchFamily="2" charset="-122"/>
                  </a:rPr>
                  <a:t>和</a:t>
                </a:r>
                <a:r>
                  <a:rPr lang="en-US" altLang="zh-CN" sz="2180" dirty="0">
                    <a:latin typeface="Garamond" panose="02020404030301010803" pitchFamily="18" charset="0"/>
                    <a:ea typeface="SimSun" panose="02010600030101010101" pitchFamily="2" charset="-122"/>
                  </a:rPr>
                  <a:t>P</a:t>
                </a:r>
                <a:r>
                  <a:rPr lang="zh-CN" altLang="en-US" sz="2180" dirty="0">
                    <a:latin typeface="Garamond" panose="02020404030301010803" pitchFamily="18" charset="0"/>
                    <a:ea typeface="SimSun" panose="02010600030101010101" pitchFamily="2" charset="-122"/>
                  </a:rPr>
                  <a:t>都不会变动，所以</a:t>
                </a:r>
                <a:r>
                  <a:rPr lang="zh-CN" altLang="en-US" sz="2180" b="1" dirty="0">
                    <a:latin typeface="Garamond" panose="02020404030301010803" pitchFamily="18" charset="0"/>
                    <a:ea typeface="SimSun" panose="02010600030101010101" pitchFamily="2" charset="-122"/>
                  </a:rPr>
                  <a:t>在既有的价格</a:t>
                </a:r>
                <a14:m>
                  <m:oMath xmlns:m="http://schemas.openxmlformats.org/officeDocument/2006/math">
                    <m:sSub>
                      <m:sSubPr>
                        <m:ctrlPr>
                          <a:rPr lang="en-US" altLang="zh-CN" sz="2180" b="1" i="1">
                            <a:latin typeface="Cambria Math" panose="02040503050406030204" pitchFamily="18" charset="0"/>
                          </a:rPr>
                        </m:ctrlPr>
                      </m:sSubPr>
                      <m:e>
                        <m:r>
                          <a:rPr lang="en-US" altLang="zh-CN" sz="2180" b="1" i="1">
                            <a:latin typeface="Cambria Math" panose="02040503050406030204" pitchFamily="18" charset="0"/>
                          </a:rPr>
                          <m:t>𝑷</m:t>
                        </m:r>
                      </m:e>
                      <m:sub>
                        <m:r>
                          <a:rPr lang="en-US" altLang="zh-CN" sz="2180" b="1" i="1">
                            <a:latin typeface="Cambria Math" panose="02040503050406030204" pitchFamily="18" charset="0"/>
                          </a:rPr>
                          <m:t>𝟎</m:t>
                        </m:r>
                      </m:sub>
                    </m:sSub>
                  </m:oMath>
                </a14:m>
                <a:r>
                  <a:rPr lang="zh-CN" altLang="en-US" sz="2180" b="1" dirty="0">
                    <a:latin typeface="Garamond" panose="02020404030301010803" pitchFamily="18" charset="0"/>
                    <a:ea typeface="SimSun" panose="02010600030101010101" pitchFamily="2" charset="-122"/>
                  </a:rPr>
                  <a:t>，经济社会能提供任何数量的</a:t>
                </a:r>
                <a14:m>
                  <m:oMath xmlns:m="http://schemas.openxmlformats.org/officeDocument/2006/math">
                    <m:r>
                      <a:rPr lang="en-US" altLang="zh-CN" sz="2180" b="1" i="1">
                        <a:latin typeface="Cambria Math" panose="02040503050406030204" pitchFamily="18" charset="0"/>
                      </a:rPr>
                      <m:t>𝒚</m:t>
                    </m:r>
                  </m:oMath>
                </a14:m>
                <a:r>
                  <a:rPr lang="zh-CN" altLang="en-US" sz="2180" dirty="0">
                    <a:latin typeface="Garamond" panose="02020404030301010803" pitchFamily="18" charset="0"/>
                    <a:ea typeface="SimSun" panose="02010600030101010101" pitchFamily="2" charset="-122"/>
                  </a:rPr>
                  <a:t>。</a:t>
                </a:r>
                <a:endParaRPr lang="en-US" altLang="zh-CN" sz="2180" dirty="0">
                  <a:latin typeface="Garamond" panose="02020404030301010803" pitchFamily="18" charset="0"/>
                  <a:ea typeface="SimSun" panose="02010600030101010101" pitchFamily="2" charset="-122"/>
                </a:endParaRPr>
              </a:p>
              <a:p>
                <a:pPr marL="285513" indent="-285513">
                  <a:buFont typeface="Arial" panose="020B0604020202020204" pitchFamily="34" charset="0"/>
                  <a:buChar char="•"/>
                </a:pPr>
                <a:r>
                  <a:rPr lang="zh-CN" altLang="en-US" sz="2180" dirty="0">
                    <a:latin typeface="Garamond" panose="02020404030301010803" pitchFamily="18" charset="0"/>
                    <a:ea typeface="SimSun" panose="02010600030101010101" pitchFamily="2" charset="-122"/>
                  </a:rPr>
                  <a:t>即，</a:t>
                </a:r>
                <a:r>
                  <a:rPr lang="zh-CN" altLang="en-US" sz="2180" b="1" dirty="0">
                    <a:latin typeface="Garamond" panose="02020404030301010803" pitchFamily="18" charset="0"/>
                    <a:ea typeface="SimSun" panose="02010600030101010101" pitchFamily="2" charset="-122"/>
                  </a:rPr>
                  <a:t>达到充分就业之前，经济社会能按照既定的价格提供任何数量的产量</a:t>
                </a:r>
                <a:r>
                  <a:rPr lang="zh-CN" altLang="en-US" sz="2180" dirty="0">
                    <a:latin typeface="Garamond" panose="02020404030301010803" pitchFamily="18" charset="0"/>
                    <a:ea typeface="SimSun" panose="02010600030101010101" pitchFamily="2" charset="-122"/>
                  </a:rPr>
                  <a:t>；</a:t>
                </a:r>
                <a:endParaRPr lang="en-US" altLang="zh-CN" sz="2180" dirty="0">
                  <a:latin typeface="Garamond" panose="02020404030301010803" pitchFamily="18" charset="0"/>
                  <a:ea typeface="SimSun" panose="02010600030101010101" pitchFamily="2" charset="-122"/>
                </a:endParaRPr>
              </a:p>
              <a:p>
                <a:pPr marL="285513" indent="-285513">
                  <a:buFont typeface="Arial" panose="020B0604020202020204" pitchFamily="34" charset="0"/>
                  <a:buChar char="•"/>
                </a:pPr>
                <a:r>
                  <a:rPr lang="zh-CN" altLang="en-US" sz="2180" dirty="0">
                    <a:latin typeface="Garamond" panose="02020404030301010803" pitchFamily="18" charset="0"/>
                    <a:ea typeface="SimSun" panose="02010600030101010101" pitchFamily="2" charset="-122"/>
                  </a:rPr>
                  <a:t>而达到充分就业之后，社会已经没有多余的生产能力，从而不可能生产更多的产品。因此，增加需求不但不会增加产量，反而会引起价格上升。</a:t>
                </a:r>
              </a:p>
            </p:txBody>
          </p:sp>
        </mc:Choice>
        <mc:Fallback>
          <p:sp>
            <p:nvSpPr>
              <p:cNvPr id="9" name="矩形 8"/>
              <p:cNvSpPr>
                <a:spLocks noRot="1" noChangeAspect="1" noMove="1" noResize="1" noEditPoints="1" noAdjustHandles="1" noChangeArrowheads="1" noChangeShapeType="1" noTextEdit="1"/>
              </p:cNvSpPr>
              <p:nvPr/>
            </p:nvSpPr>
            <p:spPr>
              <a:xfrm>
                <a:off x="2125916" y="1526518"/>
                <a:ext cx="4398168" cy="4144917"/>
              </a:xfrm>
              <a:prstGeom prst="rect">
                <a:avLst/>
              </a:prstGeom>
              <a:blipFill>
                <a:blip r:embed="rId5"/>
                <a:stretch>
                  <a:fillRect l="-1526" t="-1176" r="-1664" b="-1324"/>
                </a:stretch>
              </a:blipFill>
            </p:spPr>
            <p:txBody>
              <a:bodyPr/>
              <a:lstStyle/>
              <a:p>
                <a:r>
                  <a:rPr lang="zh-CN" altLang="en-US">
                    <a:noFill/>
                  </a:rPr>
                  <a:t> </a:t>
                </a:r>
              </a:p>
            </p:txBody>
          </p:sp>
        </mc:Fallback>
      </mc:AlternateContent>
      <p:sp>
        <p:nvSpPr>
          <p:cNvPr id="10" name="Rectangle 6">
            <a:extLst>
              <a:ext uri="{FF2B5EF4-FFF2-40B4-BE49-F238E27FC236}">
                <a16:creationId xmlns:a16="http://schemas.microsoft.com/office/drawing/2014/main" id="{859B07A6-40B2-D742-A0BB-AA596299705C}"/>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15</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BC49B116-4267-AB89-5276-382C705DF6A4}"/>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12" name="标题 11">
            <a:extLst>
              <a:ext uri="{FF2B5EF4-FFF2-40B4-BE49-F238E27FC236}">
                <a16:creationId xmlns:a16="http://schemas.microsoft.com/office/drawing/2014/main" id="{56C99D6D-8776-3966-56DC-278A6E782871}"/>
              </a:ext>
            </a:extLst>
          </p:cNvPr>
          <p:cNvSpPr>
            <a:spLocks noGrp="1"/>
          </p:cNvSpPr>
          <p:nvPr>
            <p:ph type="title"/>
          </p:nvPr>
        </p:nvSpPr>
        <p:spPr/>
        <p:txBody>
          <a:bodyPr/>
          <a:lstStyle/>
          <a:p>
            <a:r>
              <a:rPr kumimoji="1" lang="zh-CN" altLang="en-US" dirty="0"/>
              <a:t>凯恩斯总供给曲线</a:t>
            </a:r>
          </a:p>
        </p:txBody>
      </p:sp>
    </p:spTree>
    <p:extLst>
      <p:ext uri="{BB962C8B-B14F-4D97-AF65-F5344CB8AC3E}">
        <p14:creationId xmlns:p14="http://schemas.microsoft.com/office/powerpoint/2010/main" val="343697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00916" y="1573968"/>
            <a:ext cx="8306110" cy="4552194"/>
          </a:xfrm>
        </p:spPr>
        <p:txBody>
          <a:bodyPr/>
          <a:lstStyle/>
          <a:p>
            <a:r>
              <a:rPr lang="en-US" altLang="zh-CN" dirty="0"/>
              <a:t>1. </a:t>
            </a:r>
            <a:r>
              <a:rPr lang="zh-CN" altLang="en-US" b="1" dirty="0"/>
              <a:t>货币工资和价格具有刚性，也就是说二者完全不能进行调整；</a:t>
            </a:r>
            <a:endParaRPr lang="en-US" altLang="zh-CN" b="1" dirty="0"/>
          </a:p>
          <a:p>
            <a:r>
              <a:rPr lang="en-US" altLang="zh-CN" dirty="0"/>
              <a:t>2. </a:t>
            </a:r>
            <a:r>
              <a:rPr lang="zh-CN" altLang="en-US" dirty="0"/>
              <a:t>凯恩斯研究的是短期情况，</a:t>
            </a:r>
            <a:r>
              <a:rPr lang="zh-CN" altLang="en-US" b="1" dirty="0"/>
              <a:t>即使不使用刚性工资的假设</a:t>
            </a:r>
            <a:r>
              <a:rPr lang="zh-CN" altLang="en-US" dirty="0"/>
              <a:t>，</a:t>
            </a:r>
            <a:r>
              <a:rPr lang="zh-CN" altLang="en-US" b="1" dirty="0"/>
              <a:t>由于时间太短，</a:t>
            </a:r>
            <a:r>
              <a:rPr lang="en-US" altLang="zh-CN" b="1" dirty="0"/>
              <a:t>W</a:t>
            </a:r>
            <a:r>
              <a:rPr lang="zh-CN" altLang="en-US" b="1" dirty="0"/>
              <a:t>和</a:t>
            </a:r>
            <a:r>
              <a:rPr lang="en-US" altLang="zh-CN" b="1" dirty="0"/>
              <a:t>P</a:t>
            </a:r>
            <a:r>
              <a:rPr lang="zh-CN" altLang="en-US" b="1" dirty="0"/>
              <a:t>也没有足够的时间来进行调整</a:t>
            </a:r>
            <a:r>
              <a:rPr lang="zh-CN" altLang="en-US" dirty="0"/>
              <a:t>。</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16</a:t>
            </a:fld>
            <a:endParaRPr lang="zh-CN" altLang="en-US"/>
          </a:p>
        </p:txBody>
      </p:sp>
      <p:sp>
        <p:nvSpPr>
          <p:cNvPr id="7" name="Rectangle 6">
            <a:extLst>
              <a:ext uri="{FF2B5EF4-FFF2-40B4-BE49-F238E27FC236}">
                <a16:creationId xmlns:a16="http://schemas.microsoft.com/office/drawing/2014/main" id="{DFAEDF99-1571-344C-DBD2-1A3B60D8EF4F}"/>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16</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5BAF62E5-893B-0FFD-54B0-9D95C53018D7}"/>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61E65EB6-AF6E-7A13-8159-FD3B88596046}"/>
              </a:ext>
            </a:extLst>
          </p:cNvPr>
          <p:cNvSpPr>
            <a:spLocks noGrp="1"/>
          </p:cNvSpPr>
          <p:nvPr>
            <p:ph type="title"/>
          </p:nvPr>
        </p:nvSpPr>
        <p:spPr>
          <a:xfrm>
            <a:off x="1870780" y="252416"/>
            <a:ext cx="8402860" cy="1178859"/>
          </a:xfrm>
        </p:spPr>
        <p:txBody>
          <a:bodyPr/>
          <a:lstStyle/>
          <a:p>
            <a:r>
              <a:rPr lang="zh-CN" altLang="en-US" dirty="0"/>
              <a:t>为什么凯恩斯总供给曲线具有水平的形状？</a:t>
            </a:r>
            <a:endParaRPr lang="en-US" altLang="zh-CN" dirty="0"/>
          </a:p>
        </p:txBody>
      </p:sp>
    </p:spTree>
    <p:extLst>
      <p:ext uri="{BB962C8B-B14F-4D97-AF65-F5344CB8AC3E}">
        <p14:creationId xmlns:p14="http://schemas.microsoft.com/office/powerpoint/2010/main" val="3285918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66440" y="1001333"/>
            <a:ext cx="7879464" cy="1041746"/>
          </a:xfrm>
        </p:spPr>
        <p:txBody>
          <a:bodyPr/>
          <a:lstStyle/>
          <a:p>
            <a:r>
              <a:rPr lang="zh-CN" altLang="en-US" sz="2398" b="1" dirty="0"/>
              <a:t>凯恩斯总供给曲线的政策含义是</a:t>
            </a:r>
            <a:r>
              <a:rPr lang="zh-CN" altLang="en-US" sz="2398" dirty="0"/>
              <a:t>：只要</a:t>
            </a:r>
            <a:r>
              <a:rPr lang="zh-CN" altLang="en-US" sz="2398" b="1" dirty="0"/>
              <a:t>国民收入或产量处在小于充分就业的水平，那么国家就可以使用增加需求的政策来使经济达到充分就业状态。</a:t>
            </a:r>
            <a:endParaRPr lang="en-US" altLang="zh-CN" sz="2398" b="1" dirty="0"/>
          </a:p>
          <a:p>
            <a:endParaRPr lang="zh-CN" altLang="en-US" sz="2398" dirty="0"/>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17</a:t>
            </a:fld>
            <a:endParaRPr lang="zh-CN" altLang="en-US"/>
          </a:p>
        </p:txBody>
      </p:sp>
      <p:grpSp>
        <p:nvGrpSpPr>
          <p:cNvPr id="9" name="组合 8"/>
          <p:cNvGrpSpPr/>
          <p:nvPr/>
        </p:nvGrpSpPr>
        <p:grpSpPr>
          <a:xfrm>
            <a:off x="6043525" y="2321409"/>
            <a:ext cx="4354746" cy="3508734"/>
            <a:chOff x="4364749" y="2813511"/>
            <a:chExt cx="4150601" cy="3376497"/>
          </a:xfrm>
        </p:grpSpPr>
        <p:pic>
          <p:nvPicPr>
            <p:cNvPr id="7" name="Picture 4" descr="xf17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4749" y="2813511"/>
              <a:ext cx="4150601" cy="3111317"/>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4946955" y="5807630"/>
              <a:ext cx="3334088" cy="382378"/>
            </a:xfrm>
            <a:prstGeom prst="rect">
              <a:avLst/>
            </a:prstGeom>
          </p:spPr>
          <p:txBody>
            <a:bodyPr wrap="none">
              <a:spAutoFit/>
            </a:bodyPr>
            <a:lstStyle/>
            <a:p>
              <a:pPr algn="ctr">
                <a:spcBef>
                  <a:spcPct val="50000"/>
                </a:spcBef>
              </a:pPr>
              <a:r>
                <a:rPr lang="zh-CN" altLang="en-US" sz="1982"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凯恩斯总供给曲线的政策含义</a:t>
              </a:r>
            </a:p>
          </p:txBody>
        </p:sp>
      </p:grpSp>
      <mc:AlternateContent xmlns:mc="http://schemas.openxmlformats.org/markup-compatibility/2006">
        <mc:Choice xmlns:a14="http://schemas.microsoft.com/office/drawing/2010/main" Requires="a14">
          <p:sp>
            <p:nvSpPr>
              <p:cNvPr id="10" name="内容占位符 2"/>
              <p:cNvSpPr txBox="1">
                <a:spLocks/>
              </p:cNvSpPr>
              <p:nvPr/>
            </p:nvSpPr>
            <p:spPr bwMode="auto">
              <a:xfrm>
                <a:off x="1995146" y="2390680"/>
                <a:ext cx="4292584" cy="341694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356" tIns="45679" rIns="91356" bIns="45679"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913643"/>
                <a:r>
                  <a:rPr lang="zh-CN" altLang="en-US" sz="2398" b="1" dirty="0">
                    <a:latin typeface="Garamond" panose="02020404030301010803" pitchFamily="18" charset="0"/>
                    <a:ea typeface="SimSun" panose="02010600030101010101" pitchFamily="2" charset="-122"/>
                  </a:rPr>
                  <a:t>右图中，总需求曲线</a:t>
                </a:r>
                <a14:m>
                  <m:oMath xmlns:m="http://schemas.openxmlformats.org/officeDocument/2006/math">
                    <m:r>
                      <a:rPr lang="en-US" altLang="zh-CN" sz="2398" b="1" i="1">
                        <a:latin typeface="Cambria Math" panose="02040503050406030204" pitchFamily="18" charset="0"/>
                      </a:rPr>
                      <m:t>𝑨</m:t>
                    </m:r>
                    <m:sSub>
                      <m:sSubPr>
                        <m:ctrlPr>
                          <a:rPr lang="en-US" altLang="zh-CN" sz="2398" b="1" i="1">
                            <a:latin typeface="Cambria Math" panose="02040503050406030204" pitchFamily="18" charset="0"/>
                          </a:rPr>
                        </m:ctrlPr>
                      </m:sSubPr>
                      <m:e>
                        <m:r>
                          <a:rPr lang="en-US" altLang="zh-CN" sz="2398" b="1" i="1">
                            <a:latin typeface="Cambria Math" panose="02040503050406030204" pitchFamily="18" charset="0"/>
                          </a:rPr>
                          <m:t>𝑫</m:t>
                        </m:r>
                      </m:e>
                      <m:sub>
                        <m:r>
                          <a:rPr lang="en-US" altLang="zh-CN" sz="2398" b="1" i="1">
                            <a:latin typeface="Cambria Math" panose="02040503050406030204" pitchFamily="18" charset="0"/>
                          </a:rPr>
                          <m:t>𝟏</m:t>
                        </m:r>
                      </m:sub>
                    </m:sSub>
                  </m:oMath>
                </a14:m>
                <a:r>
                  <a:rPr lang="zh-CN" altLang="en-US" sz="2398" dirty="0">
                    <a:latin typeface="Garamond" panose="02020404030301010803" pitchFamily="18" charset="0"/>
                    <a:ea typeface="SimSun" panose="02010600030101010101" pitchFamily="2" charset="-122"/>
                  </a:rPr>
                  <a:t>与凯恩斯</a:t>
                </a:r>
                <a14:m>
                  <m:oMath xmlns:m="http://schemas.openxmlformats.org/officeDocument/2006/math">
                    <m:r>
                      <a:rPr lang="zh-CN" altLang="en-US" sz="2398" i="1" dirty="0">
                        <a:latin typeface="Cambria Math" panose="02040503050406030204" pitchFamily="18" charset="0"/>
                      </a:rPr>
                      <m:t>总供给曲线</m:t>
                    </m:r>
                    <m:sSub>
                      <m:sSubPr>
                        <m:ctrlPr>
                          <a:rPr lang="en-US" altLang="zh-CN" sz="2398" i="1" dirty="0">
                            <a:latin typeface="Cambria Math" panose="02040503050406030204" pitchFamily="18" charset="0"/>
                          </a:rPr>
                        </m:ctrlPr>
                      </m:sSubPr>
                      <m:e>
                        <m:r>
                          <m:rPr>
                            <m:sty m:val="p"/>
                          </m:rPr>
                          <a:rPr lang="en-US" altLang="zh-CN" sz="2398" i="1" dirty="0">
                            <a:latin typeface="Cambria Math" panose="02040503050406030204" pitchFamily="18" charset="0"/>
                          </a:rPr>
                          <m:t>P</m:t>
                        </m:r>
                      </m:e>
                      <m:sub>
                        <m:r>
                          <a:rPr lang="en-US" altLang="zh-CN" sz="2398" i="1" dirty="0">
                            <a:latin typeface="Cambria Math" panose="02040503050406030204" pitchFamily="18" charset="0"/>
                          </a:rPr>
                          <m:t>0</m:t>
                        </m:r>
                      </m:sub>
                    </m:sSub>
                    <m:sSub>
                      <m:sSubPr>
                        <m:ctrlPr>
                          <a:rPr lang="en-US" altLang="zh-CN" sz="2398" i="1" dirty="0">
                            <a:latin typeface="Cambria Math" panose="02040503050406030204" pitchFamily="18" charset="0"/>
                          </a:rPr>
                        </m:ctrlPr>
                      </m:sSubPr>
                      <m:e>
                        <m:r>
                          <a:rPr lang="en-US" altLang="zh-CN" sz="2398" i="1" dirty="0">
                            <a:latin typeface="Cambria Math" panose="02040503050406030204" pitchFamily="18" charset="0"/>
                          </a:rPr>
                          <m:t>𝐸</m:t>
                        </m:r>
                      </m:e>
                      <m:sub>
                        <m:r>
                          <a:rPr lang="en-US" altLang="zh-CN" sz="2398" i="1" dirty="0">
                            <a:latin typeface="Cambria Math" panose="02040503050406030204" pitchFamily="18" charset="0"/>
                          </a:rPr>
                          <m:t>0</m:t>
                        </m:r>
                      </m:sub>
                    </m:sSub>
                  </m:oMath>
                </a14:m>
                <a:r>
                  <a:rPr lang="zh-CN" altLang="en-US" sz="2398" dirty="0">
                    <a:latin typeface="Garamond" panose="02020404030301010803" pitchFamily="18" charset="0"/>
                    <a:ea typeface="SimSun" panose="02010600030101010101" pitchFamily="2" charset="-122"/>
                  </a:rPr>
                  <a:t>相交于</a:t>
                </a:r>
                <a14:m>
                  <m:oMath xmlns:m="http://schemas.openxmlformats.org/officeDocument/2006/math">
                    <m:sSub>
                      <m:sSubPr>
                        <m:ctrlPr>
                          <a:rPr lang="en-US" altLang="zh-CN" sz="2398" i="1" dirty="0">
                            <a:latin typeface="Cambria Math" panose="02040503050406030204" pitchFamily="18" charset="0"/>
                          </a:rPr>
                        </m:ctrlPr>
                      </m:sSubPr>
                      <m:e>
                        <m:r>
                          <a:rPr lang="en-US" altLang="zh-CN" sz="2398" i="1" dirty="0">
                            <a:latin typeface="Cambria Math" panose="02040503050406030204" pitchFamily="18" charset="0"/>
                          </a:rPr>
                          <m:t>𝐸</m:t>
                        </m:r>
                      </m:e>
                      <m:sub>
                        <m:r>
                          <a:rPr lang="en-US" altLang="zh-CN" sz="2398" i="1" dirty="0">
                            <a:latin typeface="Cambria Math" panose="02040503050406030204" pitchFamily="18" charset="0"/>
                          </a:rPr>
                          <m:t>1</m:t>
                        </m:r>
                      </m:sub>
                    </m:sSub>
                  </m:oMath>
                </a14:m>
                <a:r>
                  <a:rPr lang="zh-CN" altLang="en-US" sz="2398" dirty="0">
                    <a:latin typeface="Garamond" panose="02020404030301010803" pitchFamily="18" charset="0"/>
                    <a:ea typeface="SimSun" panose="02010600030101010101" pitchFamily="2" charset="-122"/>
                  </a:rPr>
                  <a:t>，此时的价格水平是</a:t>
                </a:r>
                <a14:m>
                  <m:oMath xmlns:m="http://schemas.openxmlformats.org/officeDocument/2006/math">
                    <m:sSub>
                      <m:sSubPr>
                        <m:ctrlPr>
                          <a:rPr lang="en-US" altLang="zh-CN" sz="2398" i="1" dirty="0">
                            <a:latin typeface="Cambria Math" panose="02040503050406030204" pitchFamily="18" charset="0"/>
                          </a:rPr>
                        </m:ctrlPr>
                      </m:sSubPr>
                      <m:e>
                        <m:r>
                          <m:rPr>
                            <m:sty m:val="p"/>
                          </m:rPr>
                          <a:rPr lang="en-US" altLang="zh-CN" sz="2398" i="1" dirty="0">
                            <a:latin typeface="Cambria Math" panose="02040503050406030204" pitchFamily="18" charset="0"/>
                          </a:rPr>
                          <m:t>P</m:t>
                        </m:r>
                      </m:e>
                      <m:sub>
                        <m:r>
                          <a:rPr lang="en-US" altLang="zh-CN" sz="2398" i="1" dirty="0">
                            <a:latin typeface="Cambria Math" panose="02040503050406030204" pitchFamily="18" charset="0"/>
                          </a:rPr>
                          <m:t>0</m:t>
                        </m:r>
                      </m:sub>
                    </m:sSub>
                    <m:r>
                      <a:rPr lang="zh-CN" altLang="en-US" sz="2398" i="1" dirty="0">
                        <a:latin typeface="Cambria Math" panose="02040503050406030204" pitchFamily="18" charset="0"/>
                      </a:rPr>
                      <m:t>产量</m:t>
                    </m:r>
                  </m:oMath>
                </a14:m>
                <a:r>
                  <a:rPr lang="zh-CN" altLang="en-US" sz="2398" dirty="0">
                    <a:latin typeface="Garamond" panose="02020404030301010803" pitchFamily="18" charset="0"/>
                    <a:ea typeface="SimSun" panose="02010600030101010101" pitchFamily="2" charset="-122"/>
                  </a:rPr>
                  <a:t>处于小于充分就业的产量水平。</a:t>
                </a:r>
                <a:endParaRPr lang="en-US" altLang="zh-CN" sz="2398" dirty="0">
                  <a:latin typeface="Garamond" panose="02020404030301010803" pitchFamily="18" charset="0"/>
                  <a:ea typeface="SimSun" panose="02010600030101010101" pitchFamily="2" charset="-122"/>
                </a:endParaRPr>
              </a:p>
              <a:p>
                <a:pPr algn="just" defTabSz="913643"/>
                <a:r>
                  <a:rPr lang="zh-CN" altLang="en-US" sz="2398" dirty="0">
                    <a:latin typeface="Garamond" panose="02020404030301010803" pitchFamily="18" charset="0"/>
                    <a:ea typeface="SimSun" panose="02010600030101010101" pitchFamily="2" charset="-122"/>
                  </a:rPr>
                  <a:t>为改善这一点，国家通过增加需求的政策使总需求曲线右移，此时价格水平不变，但国民收入达到充分就业状态。</a:t>
                </a:r>
              </a:p>
            </p:txBody>
          </p:sp>
        </mc:Choice>
        <mc:Fallback>
          <p:sp>
            <p:nvSpPr>
              <p:cNvPr id="10" name="内容占位符 2"/>
              <p:cNvSpPr txBox="1">
                <a:spLocks noRot="1" noChangeAspect="1" noMove="1" noResize="1" noEditPoints="1" noAdjustHandles="1" noChangeArrowheads="1" noChangeShapeType="1" noTextEdit="1"/>
              </p:cNvSpPr>
              <p:nvPr/>
            </p:nvSpPr>
            <p:spPr bwMode="auto">
              <a:xfrm>
                <a:off x="1995146" y="2390680"/>
                <a:ext cx="4292584" cy="3416942"/>
              </a:xfrm>
              <a:prstGeom prst="rect">
                <a:avLst/>
              </a:prstGeom>
              <a:blipFill>
                <a:blip r:embed="rId3"/>
                <a:stretch>
                  <a:fillRect l="-1847" t="-3030" r="-2273" b="-588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1" name="Rectangle 6">
            <a:extLst>
              <a:ext uri="{FF2B5EF4-FFF2-40B4-BE49-F238E27FC236}">
                <a16:creationId xmlns:a16="http://schemas.microsoft.com/office/drawing/2014/main" id="{99240E05-47AF-C344-88C6-5042B8B196CE}"/>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17</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12" name="日期占位符 3">
            <a:extLst>
              <a:ext uri="{FF2B5EF4-FFF2-40B4-BE49-F238E27FC236}">
                <a16:creationId xmlns:a16="http://schemas.microsoft.com/office/drawing/2014/main" id="{7C718860-7334-9F83-7578-90DAE80E5727}"/>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13" name="标题 12">
            <a:extLst>
              <a:ext uri="{FF2B5EF4-FFF2-40B4-BE49-F238E27FC236}">
                <a16:creationId xmlns:a16="http://schemas.microsoft.com/office/drawing/2014/main" id="{0AB9B0C1-C440-ED2A-F8D2-1CA408B9D808}"/>
              </a:ext>
            </a:extLst>
          </p:cNvPr>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凯恩斯总供给曲线</a:t>
            </a:r>
            <a:endParaRPr kumimoji="1" lang="zh-CN" altLang="en-US"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089443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5E0A4-812C-4B4E-3D1C-B8EE56BBCFE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828185C5-5445-8799-E0C0-F94BD3F44E8C}"/>
              </a:ext>
            </a:extLst>
          </p:cNvPr>
          <p:cNvSpPr>
            <a:spLocks noGrp="1"/>
          </p:cNvSpPr>
          <p:nvPr>
            <p:ph idx="1"/>
          </p:nvPr>
        </p:nvSpPr>
        <p:spPr>
          <a:xfrm>
            <a:off x="1900916" y="1145898"/>
            <a:ext cx="8372725" cy="4980266"/>
          </a:xfrm>
        </p:spPr>
        <p:txBody>
          <a:bodyPr/>
          <a:lstStyle/>
          <a:p>
            <a:r>
              <a:rPr lang="zh-CN" altLang="en-US" i="1" u="sng" dirty="0">
                <a:highlight>
                  <a:srgbClr val="00FFFF"/>
                </a:highlight>
              </a:rPr>
              <a:t>短期总供给曲线的情形二：常规的总供给曲线</a:t>
            </a:r>
            <a:endParaRPr lang="en-US" altLang="zh-CN" i="1" u="sng" dirty="0">
              <a:highlight>
                <a:srgbClr val="00FFFF"/>
              </a:highlight>
            </a:endParaRPr>
          </a:p>
        </p:txBody>
      </p:sp>
      <p:sp>
        <p:nvSpPr>
          <p:cNvPr id="19" name="内容占位符 2">
            <a:extLst>
              <a:ext uri="{FF2B5EF4-FFF2-40B4-BE49-F238E27FC236}">
                <a16:creationId xmlns:a16="http://schemas.microsoft.com/office/drawing/2014/main" id="{A065EB18-5004-8F48-E689-A6520C956433}"/>
              </a:ext>
            </a:extLst>
          </p:cNvPr>
          <p:cNvSpPr txBox="1">
            <a:spLocks/>
          </p:cNvSpPr>
          <p:nvPr/>
        </p:nvSpPr>
        <p:spPr bwMode="auto">
          <a:xfrm>
            <a:off x="1918361" y="1962028"/>
            <a:ext cx="4677226" cy="2933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sz="2774" dirty="0"/>
              <a:t>在通常的或常规的情况下，经济的短期总供给曲线位于凯恩斯总供给曲线和古典总供给曲线这两个极端之间</a:t>
            </a:r>
            <a:endParaRPr lang="en-US" altLang="zh-CN" sz="2774" dirty="0"/>
          </a:p>
          <a:p>
            <a:endParaRPr lang="en-US" altLang="zh-CN" sz="2774" b="1" i="1" u="sng" dirty="0">
              <a:highlight>
                <a:srgbClr val="00FFFF"/>
              </a:highlight>
            </a:endParaRPr>
          </a:p>
        </p:txBody>
      </p:sp>
      <p:sp>
        <p:nvSpPr>
          <p:cNvPr id="6" name="灯片编号占位符 5">
            <a:extLst>
              <a:ext uri="{FF2B5EF4-FFF2-40B4-BE49-F238E27FC236}">
                <a16:creationId xmlns:a16="http://schemas.microsoft.com/office/drawing/2014/main" id="{D4977AE0-E487-AD89-6D9B-B99DFF25AAB9}"/>
              </a:ext>
            </a:extLst>
          </p:cNvPr>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18</a:t>
            </a:fld>
            <a:endParaRPr lang="zh-CN" altLang="en-US"/>
          </a:p>
        </p:txBody>
      </p:sp>
      <p:sp>
        <p:nvSpPr>
          <p:cNvPr id="7" name="Rectangle 6">
            <a:extLst>
              <a:ext uri="{FF2B5EF4-FFF2-40B4-BE49-F238E27FC236}">
                <a16:creationId xmlns:a16="http://schemas.microsoft.com/office/drawing/2014/main" id="{27F18B08-6E93-BD3F-3C9F-241BC368AAB6}"/>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18</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E858F65A-744A-F4C0-311C-AD5DD72AB655}"/>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02603B31-64C2-9E19-5101-E58F72A33D8A}"/>
              </a:ext>
            </a:extLst>
          </p:cNvPr>
          <p:cNvSpPr>
            <a:spLocks noGrp="1"/>
          </p:cNvSpPr>
          <p:nvPr>
            <p:ph type="title"/>
          </p:nvPr>
        </p:nvSpPr>
        <p:spPr/>
        <p:txBody>
          <a:bodyPr/>
          <a:lstStyle/>
          <a:p>
            <a:r>
              <a:rPr kumimoji="1" lang="zh-CN" altLang="en-US" dirty="0">
                <a:latin typeface="SimSun" panose="02010600030101010101" pitchFamily="2" charset="-122"/>
                <a:ea typeface="SimSun" panose="02010600030101010101" pitchFamily="2" charset="-122"/>
              </a:rPr>
              <a:t>常规总供给曲线的形状</a:t>
            </a:r>
          </a:p>
        </p:txBody>
      </p:sp>
      <p:grpSp>
        <p:nvGrpSpPr>
          <p:cNvPr id="2" name="Group 6">
            <a:extLst>
              <a:ext uri="{FF2B5EF4-FFF2-40B4-BE49-F238E27FC236}">
                <a16:creationId xmlns:a16="http://schemas.microsoft.com/office/drawing/2014/main" id="{B26793A2-4548-0F75-E1E0-608935C31578}"/>
              </a:ext>
            </a:extLst>
          </p:cNvPr>
          <p:cNvGrpSpPr>
            <a:grpSpLocks/>
          </p:cNvGrpSpPr>
          <p:nvPr/>
        </p:nvGrpSpPr>
        <p:grpSpPr bwMode="auto">
          <a:xfrm>
            <a:off x="6666780" y="1620186"/>
            <a:ext cx="3606861" cy="3897003"/>
            <a:chOff x="0" y="0"/>
            <a:chExt cx="2786" cy="2462"/>
          </a:xfrm>
        </p:grpSpPr>
        <p:grpSp>
          <p:nvGrpSpPr>
            <p:cNvPr id="4" name="Group 7">
              <a:extLst>
                <a:ext uri="{FF2B5EF4-FFF2-40B4-BE49-F238E27FC236}">
                  <a16:creationId xmlns:a16="http://schemas.microsoft.com/office/drawing/2014/main" id="{DFA67CA2-9A43-E90E-FC98-945EBD5FE17D}"/>
                </a:ext>
              </a:extLst>
            </p:cNvPr>
            <p:cNvGrpSpPr>
              <a:grpSpLocks/>
            </p:cNvGrpSpPr>
            <p:nvPr/>
          </p:nvGrpSpPr>
          <p:grpSpPr bwMode="auto">
            <a:xfrm>
              <a:off x="118" y="252"/>
              <a:ext cx="2409" cy="2049"/>
              <a:chOff x="0" y="0"/>
              <a:chExt cx="2116" cy="2027"/>
            </a:xfrm>
          </p:grpSpPr>
          <p:sp>
            <p:nvSpPr>
              <p:cNvPr id="11" name="Line 5">
                <a:extLst>
                  <a:ext uri="{FF2B5EF4-FFF2-40B4-BE49-F238E27FC236}">
                    <a16:creationId xmlns:a16="http://schemas.microsoft.com/office/drawing/2014/main" id="{11B33DB4-9EC1-3E57-2E80-C7B553D237CD}"/>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12" name="Line 6">
                <a:extLst>
                  <a:ext uri="{FF2B5EF4-FFF2-40B4-BE49-F238E27FC236}">
                    <a16:creationId xmlns:a16="http://schemas.microsoft.com/office/drawing/2014/main" id="{E239515B-A940-2186-9B25-D10772D0F38A}"/>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5" name="Text Box 7">
              <a:extLst>
                <a:ext uri="{FF2B5EF4-FFF2-40B4-BE49-F238E27FC236}">
                  <a16:creationId xmlns:a16="http://schemas.microsoft.com/office/drawing/2014/main" id="{08313F09-3EF5-D560-101D-301333521D9A}"/>
                </a:ext>
              </a:extLst>
            </p:cNvPr>
            <p:cNvSpPr txBox="1">
              <a:spLocks noChangeArrowheads="1"/>
            </p:cNvSpPr>
            <p:nvPr/>
          </p:nvSpPr>
          <p:spPr bwMode="auto">
            <a:xfrm>
              <a:off x="0" y="0"/>
              <a:ext cx="26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p>
          </p:txBody>
        </p:sp>
        <p:sp>
          <p:nvSpPr>
            <p:cNvPr id="10" name="Text Box 8">
              <a:extLst>
                <a:ext uri="{FF2B5EF4-FFF2-40B4-BE49-F238E27FC236}">
                  <a16:creationId xmlns:a16="http://schemas.microsoft.com/office/drawing/2014/main" id="{873A71E6-D6DA-04F8-1176-5CF6F0B43793}"/>
                </a:ext>
              </a:extLst>
            </p:cNvPr>
            <p:cNvSpPr txBox="1">
              <a:spLocks noChangeArrowheads="1"/>
            </p:cNvSpPr>
            <p:nvPr/>
          </p:nvSpPr>
          <p:spPr bwMode="auto">
            <a:xfrm>
              <a:off x="2496" y="2151"/>
              <a:ext cx="29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Y</a:t>
              </a:r>
            </a:p>
          </p:txBody>
        </p:sp>
      </p:grpSp>
      <p:sp>
        <p:nvSpPr>
          <p:cNvPr id="13" name="Line 10">
            <a:extLst>
              <a:ext uri="{FF2B5EF4-FFF2-40B4-BE49-F238E27FC236}">
                <a16:creationId xmlns:a16="http://schemas.microsoft.com/office/drawing/2014/main" id="{7D2E28CB-C3B6-30F3-1C7D-B2C965F1C44C}"/>
              </a:ext>
            </a:extLst>
          </p:cNvPr>
          <p:cNvSpPr>
            <a:spLocks noChangeShapeType="1"/>
          </p:cNvSpPr>
          <p:nvPr/>
        </p:nvSpPr>
        <p:spPr bwMode="auto">
          <a:xfrm flipV="1">
            <a:off x="6913525" y="2646403"/>
            <a:ext cx="2374306" cy="219508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14" name="Text Box 11">
            <a:extLst>
              <a:ext uri="{FF2B5EF4-FFF2-40B4-BE49-F238E27FC236}">
                <a16:creationId xmlns:a16="http://schemas.microsoft.com/office/drawing/2014/main" id="{0E7F2AF5-B6B6-B366-1DCF-CD69C32F8AC5}"/>
              </a:ext>
            </a:extLst>
          </p:cNvPr>
          <p:cNvSpPr txBox="1">
            <a:spLocks noChangeArrowheads="1"/>
          </p:cNvSpPr>
          <p:nvPr/>
        </p:nvSpPr>
        <p:spPr bwMode="auto">
          <a:xfrm>
            <a:off x="9113366" y="2275270"/>
            <a:ext cx="1495639" cy="492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ea typeface="宋体" panose="02010600030101010101" pitchFamily="2" charset="-122"/>
              </a:rPr>
              <a:t>SRAS</a:t>
            </a:r>
            <a:endParaRPr lang="en-US" altLang="zh-CN" sz="2598" i="1" baseline="-25000" dirty="0">
              <a:ea typeface="宋体" panose="02010600030101010101" pitchFamily="2" charset="-122"/>
            </a:endParaRPr>
          </a:p>
        </p:txBody>
      </p:sp>
      <p:sp>
        <p:nvSpPr>
          <p:cNvPr id="15" name="文本框 14">
            <a:extLst>
              <a:ext uri="{FF2B5EF4-FFF2-40B4-BE49-F238E27FC236}">
                <a16:creationId xmlns:a16="http://schemas.microsoft.com/office/drawing/2014/main" id="{7C771866-3A59-C29B-37B6-8C3A0E02F018}"/>
              </a:ext>
            </a:extLst>
          </p:cNvPr>
          <p:cNvSpPr txBox="1"/>
          <p:nvPr/>
        </p:nvSpPr>
        <p:spPr>
          <a:xfrm>
            <a:off x="1900916" y="5680010"/>
            <a:ext cx="6160195" cy="702372"/>
          </a:xfrm>
          <a:prstGeom prst="rect">
            <a:avLst/>
          </a:prstGeom>
          <a:noFill/>
        </p:spPr>
        <p:txBody>
          <a:bodyPr wrap="square">
            <a:spAutoFit/>
          </a:bodyPr>
          <a:lstStyle/>
          <a:p>
            <a:r>
              <a:rPr lang="en-US" altLang="zh-CN" sz="1982" i="1" dirty="0">
                <a:ea typeface="宋体" panose="02010600030101010101" pitchFamily="2" charset="-122"/>
              </a:rPr>
              <a:t>LRAS:</a:t>
            </a:r>
            <a:r>
              <a:rPr lang="zh-CN" altLang="en-US" sz="1982" i="1" dirty="0">
                <a:ea typeface="宋体" panose="02010600030101010101" pitchFamily="2" charset="-122"/>
              </a:rPr>
              <a:t> </a:t>
            </a:r>
            <a:r>
              <a:rPr lang="zh-CN" altLang="zh-CN" sz="1982" dirty="0"/>
              <a:t>Long-Run Aggregate Supply</a:t>
            </a:r>
            <a:endParaRPr lang="en-US" altLang="zh-CN" sz="1982" dirty="0"/>
          </a:p>
          <a:p>
            <a:r>
              <a:rPr lang="en-US" altLang="zh-CN" sz="1982" i="1" dirty="0">
                <a:ea typeface="宋体" panose="02010600030101010101" pitchFamily="2" charset="-122"/>
              </a:rPr>
              <a:t>SRAS:</a:t>
            </a:r>
            <a:r>
              <a:rPr lang="zh-CN" altLang="en-US" sz="1982" i="1" dirty="0">
                <a:ea typeface="宋体" panose="02010600030101010101" pitchFamily="2" charset="-122"/>
              </a:rPr>
              <a:t> </a:t>
            </a:r>
            <a:r>
              <a:rPr lang="en-US" altLang="zh-CN" sz="1982" dirty="0"/>
              <a:t>Short</a:t>
            </a:r>
            <a:r>
              <a:rPr lang="zh-CN" altLang="zh-CN" sz="1982" dirty="0"/>
              <a:t>-Run Aggregate Supply</a:t>
            </a:r>
            <a:endParaRPr lang="zh-CN" altLang="en-US" sz="1982" dirty="0"/>
          </a:p>
        </p:txBody>
      </p:sp>
    </p:spTree>
    <p:extLst>
      <p:ext uri="{BB962C8B-B14F-4D97-AF65-F5344CB8AC3E}">
        <p14:creationId xmlns:p14="http://schemas.microsoft.com/office/powerpoint/2010/main" val="3347916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CF53F-6780-0FDA-B026-929E68436F5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7AFA95E7-A583-EAE5-1329-F6A04E2900D7}"/>
                  </a:ext>
                </a:extLst>
              </p:cNvPr>
              <p:cNvSpPr>
                <a:spLocks noGrp="1"/>
              </p:cNvSpPr>
              <p:nvPr>
                <p:ph idx="1"/>
              </p:nvPr>
            </p:nvSpPr>
            <p:spPr>
              <a:xfrm>
                <a:off x="1529768" y="653153"/>
                <a:ext cx="9134038" cy="6087504"/>
              </a:xfrm>
            </p:spPr>
            <p:txBody>
              <a:bodyPr/>
              <a:lstStyle/>
              <a:p>
                <a:r>
                  <a:rPr lang="zh-CN" altLang="en-US" sz="2180" dirty="0">
                    <a:latin typeface="Times New Roman" panose="02020603050405020304" pitchFamily="18" charset="0"/>
                    <a:ea typeface="宋体" panose="02010600030101010101" pitchFamily="2" charset="-122"/>
                  </a:rPr>
                  <a:t>当</a:t>
                </a:r>
                <a:r>
                  <a:rPr lang="zh-CN" altLang="zh-CN" sz="2180" b="1" dirty="0">
                    <a:latin typeface="Times New Roman" panose="02020603050405020304" pitchFamily="18" charset="0"/>
                    <a:ea typeface="宋体" panose="02010600030101010101" pitchFamily="2" charset="-122"/>
                  </a:rPr>
                  <a:t>实际物价水平 </a:t>
                </a:r>
                <a14:m>
                  <m:oMath xmlns:m="http://schemas.openxmlformats.org/officeDocument/2006/math">
                    <m:r>
                      <a:rPr lang="zh-CN" altLang="zh-CN" sz="2180" b="1" i="1" dirty="0">
                        <a:latin typeface="Cambria Math" panose="02040503050406030204" pitchFamily="18" charset="0"/>
                      </a:rPr>
                      <m:t>𝑷</m:t>
                    </m:r>
                  </m:oMath>
                </a14:m>
                <a:r>
                  <a:rPr lang="zh-CN" altLang="zh-CN" sz="2180" b="1" dirty="0">
                    <a:latin typeface="Times New Roman" panose="02020603050405020304" pitchFamily="18" charset="0"/>
                    <a:ea typeface="宋体" panose="02010600030101010101" pitchFamily="2" charset="-122"/>
                  </a:rPr>
                  <a:t> 和预期物价水平 </a:t>
                </a:r>
                <a14:m>
                  <m:oMath xmlns:m="http://schemas.openxmlformats.org/officeDocument/2006/math">
                    <m:sSub>
                      <m:sSubPr>
                        <m:ctrlPr>
                          <a:rPr lang="en-US" altLang="zh-CN" sz="2180" i="1" dirty="0">
                            <a:latin typeface="Cambria Math" panose="02040503050406030204" pitchFamily="18" charset="0"/>
                          </a:rPr>
                        </m:ctrlPr>
                      </m:sSubPr>
                      <m:e>
                        <m:r>
                          <a:rPr lang="zh-CN" altLang="zh-CN" sz="2180" i="1" dirty="0">
                            <a:latin typeface="Cambria Math" panose="02040503050406030204" pitchFamily="18" charset="0"/>
                          </a:rPr>
                          <m:t>𝑃</m:t>
                        </m:r>
                      </m:e>
                      <m:sub>
                        <m:r>
                          <a:rPr lang="zh-CN" altLang="zh-CN" sz="2180" i="1" dirty="0">
                            <a:latin typeface="Cambria Math" panose="02040503050406030204" pitchFamily="18" charset="0"/>
                          </a:rPr>
                          <m:t>𝐸</m:t>
                        </m:r>
                      </m:sub>
                    </m:sSub>
                  </m:oMath>
                </a14:m>
                <a:r>
                  <a:rPr lang="zh-CN" altLang="zh-CN" sz="2180" b="1" dirty="0">
                    <a:latin typeface="Times New Roman" panose="02020603050405020304" pitchFamily="18" charset="0"/>
                    <a:ea typeface="宋体" panose="02010600030101010101" pitchFamily="2" charset="-122"/>
                  </a:rPr>
                  <a:t> 不一致时，产出会发生什么变化？</a:t>
                </a:r>
                <a:endParaRPr lang="en-US" altLang="zh-CN" sz="2180" b="1" dirty="0">
                  <a:latin typeface="Times New Roman" panose="02020603050405020304" pitchFamily="18" charset="0"/>
                  <a:ea typeface="宋体" panose="02010600030101010101" pitchFamily="2" charset="-122"/>
                </a:endParaRPr>
              </a:p>
              <a:p>
                <a:r>
                  <a:rPr lang="zh-CN" altLang="zh-CN" sz="2180" dirty="0">
                    <a:latin typeface="Times New Roman" panose="02020603050405020304" pitchFamily="18" charset="0"/>
                    <a:ea typeface="宋体" panose="02010600030101010101" pitchFamily="2" charset="-122"/>
                  </a:rPr>
                  <a:t>在短期中，工资、价格和生产计划往往会受到</a:t>
                </a:r>
                <a:r>
                  <a:rPr lang="zh-CN" altLang="zh-CN" sz="2180" b="1" dirty="0">
                    <a:latin typeface="Times New Roman" panose="02020603050405020304" pitchFamily="18" charset="0"/>
                    <a:ea typeface="宋体" panose="02010600030101010101" pitchFamily="2" charset="-122"/>
                  </a:rPr>
                  <a:t>预期物价水平 </a:t>
                </a:r>
                <a14:m>
                  <m:oMath xmlns:m="http://schemas.openxmlformats.org/officeDocument/2006/math">
                    <m:sSub>
                      <m:sSubPr>
                        <m:ctrlPr>
                          <a:rPr lang="en-US" altLang="zh-CN" sz="2180" i="1" dirty="0">
                            <a:latin typeface="Cambria Math" panose="02040503050406030204" pitchFamily="18" charset="0"/>
                          </a:rPr>
                        </m:ctrlPr>
                      </m:sSubPr>
                      <m:e>
                        <m:r>
                          <a:rPr lang="zh-CN" altLang="zh-CN" sz="2180" i="1" dirty="0">
                            <a:latin typeface="Cambria Math" panose="02040503050406030204" pitchFamily="18" charset="0"/>
                          </a:rPr>
                          <m:t>𝑃</m:t>
                        </m:r>
                      </m:e>
                      <m:sub>
                        <m:r>
                          <a:rPr lang="zh-CN" altLang="zh-CN" sz="2180" i="1" dirty="0">
                            <a:latin typeface="Cambria Math" panose="02040503050406030204" pitchFamily="18" charset="0"/>
                          </a:rPr>
                          <m:t>𝐸</m:t>
                        </m:r>
                      </m:sub>
                    </m:sSub>
                  </m:oMath>
                </a14:m>
                <a:r>
                  <a:rPr lang="zh-CN" altLang="zh-CN" sz="2180" dirty="0">
                    <a:latin typeface="Times New Roman" panose="02020603050405020304" pitchFamily="18" charset="0"/>
                    <a:ea typeface="宋体" panose="02010600030101010101" pitchFamily="2" charset="-122"/>
                  </a:rPr>
                  <a:t> 的影响。因此，实际物价水平</a:t>
                </a:r>
                <a14:m>
                  <m:oMath xmlns:m="http://schemas.openxmlformats.org/officeDocument/2006/math">
                    <m:r>
                      <a:rPr lang="zh-CN" altLang="zh-CN" sz="2180" b="1" i="1" dirty="0">
                        <a:latin typeface="Cambria Math" panose="02040503050406030204" pitchFamily="18" charset="0"/>
                      </a:rPr>
                      <m:t>𝑷</m:t>
                    </m:r>
                  </m:oMath>
                </a14:m>
                <a:r>
                  <a:rPr lang="zh-CN" altLang="zh-CN" sz="2180" dirty="0">
                    <a:latin typeface="Times New Roman" panose="02020603050405020304" pitchFamily="18" charset="0"/>
                    <a:ea typeface="宋体" panose="02010600030101010101" pitchFamily="2" charset="-122"/>
                  </a:rPr>
                  <a:t>与预期物价水平 </a:t>
                </a:r>
                <a14:m>
                  <m:oMath xmlns:m="http://schemas.openxmlformats.org/officeDocument/2006/math">
                    <m:sSub>
                      <m:sSubPr>
                        <m:ctrlPr>
                          <a:rPr lang="en-US" altLang="zh-CN" sz="2180" i="1" dirty="0">
                            <a:latin typeface="Cambria Math" panose="02040503050406030204" pitchFamily="18" charset="0"/>
                          </a:rPr>
                        </m:ctrlPr>
                      </m:sSubPr>
                      <m:e>
                        <m:r>
                          <a:rPr lang="zh-CN" altLang="zh-CN" sz="2180" i="1" dirty="0">
                            <a:latin typeface="Cambria Math" panose="02040503050406030204" pitchFamily="18" charset="0"/>
                          </a:rPr>
                          <m:t>𝑃</m:t>
                        </m:r>
                      </m:e>
                      <m:sub>
                        <m:r>
                          <a:rPr lang="zh-CN" altLang="zh-CN" sz="2180" i="1" dirty="0">
                            <a:latin typeface="Cambria Math" panose="02040503050406030204" pitchFamily="18" charset="0"/>
                          </a:rPr>
                          <m:t>𝐸</m:t>
                        </m:r>
                      </m:sub>
                    </m:sSub>
                  </m:oMath>
                </a14:m>
                <a:r>
                  <a:rPr lang="zh-CN" altLang="zh-CN" sz="2180" dirty="0">
                    <a:latin typeface="Times New Roman" panose="02020603050405020304" pitchFamily="18" charset="0"/>
                    <a:ea typeface="宋体" panose="02010600030101010101" pitchFamily="2" charset="-122"/>
                  </a:rPr>
                  <a:t> 是否一致，会影响企业的实际收益、实际成本和生产决策。</a:t>
                </a:r>
                <a:endParaRPr lang="en-US" altLang="zh-CN" sz="2180" dirty="0">
                  <a:latin typeface="Times New Roman" panose="02020603050405020304" pitchFamily="18" charset="0"/>
                  <a:ea typeface="宋体" panose="02010600030101010101" pitchFamily="2" charset="-122"/>
                </a:endParaRPr>
              </a:p>
              <a:p>
                <a:pPr lvl="1"/>
                <a14:m>
                  <m:oMath xmlns:m="http://schemas.openxmlformats.org/officeDocument/2006/math">
                    <m:r>
                      <a:rPr lang="zh-CN" altLang="zh-CN" sz="2180" b="1" i="1" dirty="0">
                        <a:latin typeface="Cambria Math" panose="02040503050406030204" pitchFamily="18" charset="0"/>
                      </a:rPr>
                      <m:t>𝑷</m:t>
                    </m:r>
                    <m:r>
                      <a:rPr lang="zh-CN" altLang="zh-CN" sz="2180" b="1" i="1" dirty="0">
                        <a:latin typeface="Cambria Math" panose="02040503050406030204" pitchFamily="18" charset="0"/>
                      </a:rPr>
                      <m:t> &gt; </m:t>
                    </m:r>
                    <m:sSub>
                      <m:sSubPr>
                        <m:ctrlPr>
                          <a:rPr lang="en-US" altLang="zh-CN" sz="2180" b="1" i="1" dirty="0">
                            <a:latin typeface="Cambria Math" panose="02040503050406030204" pitchFamily="18" charset="0"/>
                          </a:rPr>
                        </m:ctrlPr>
                      </m:sSubPr>
                      <m:e>
                        <m:r>
                          <a:rPr lang="zh-CN" altLang="zh-CN" sz="2180" b="1" i="1" dirty="0">
                            <a:latin typeface="Cambria Math" panose="02040503050406030204" pitchFamily="18" charset="0"/>
                          </a:rPr>
                          <m:t>𝑷</m:t>
                        </m:r>
                      </m:e>
                      <m:sub>
                        <m:r>
                          <a:rPr lang="zh-CN" altLang="zh-CN" sz="2180" b="1" i="1" dirty="0">
                            <a:latin typeface="Cambria Math" panose="02040503050406030204" pitchFamily="18" charset="0"/>
                          </a:rPr>
                          <m:t>𝑬</m:t>
                        </m:r>
                      </m:sub>
                    </m:sSub>
                  </m:oMath>
                </a14:m>
                <a:r>
                  <a:rPr lang="zh-CN" altLang="zh-CN" sz="2180" dirty="0">
                    <a:latin typeface="Times New Roman" panose="02020603050405020304" pitchFamily="18" charset="0"/>
                    <a:ea typeface="宋体" panose="02010600030101010101" pitchFamily="2" charset="-122"/>
                  </a:rPr>
                  <a:t>：实际物价水平高于原先预期，企业生产更有利可图，产出可能高于自然产出 </a:t>
                </a:r>
                <a14:m>
                  <m:oMath xmlns:m="http://schemas.openxmlformats.org/officeDocument/2006/math">
                    <m:sSub>
                      <m:sSubPr>
                        <m:ctrlPr>
                          <a:rPr lang="en-US" altLang="zh-CN" sz="2180" i="1" dirty="0">
                            <a:latin typeface="Cambria Math" panose="02040503050406030204" pitchFamily="18" charset="0"/>
                          </a:rPr>
                        </m:ctrlPr>
                      </m:sSubPr>
                      <m:e>
                        <m:r>
                          <a:rPr lang="zh-CN" altLang="zh-CN" sz="2180" i="1" dirty="0">
                            <a:latin typeface="Cambria Math" panose="02040503050406030204" pitchFamily="18" charset="0"/>
                          </a:rPr>
                          <m:t>𝑌</m:t>
                        </m:r>
                      </m:e>
                      <m:sub>
                        <m:r>
                          <a:rPr lang="zh-CN" altLang="zh-CN" sz="2180" i="1" dirty="0">
                            <a:latin typeface="Cambria Math" panose="02040503050406030204" pitchFamily="18" charset="0"/>
                          </a:rPr>
                          <m:t>𝑁</m:t>
                        </m:r>
                      </m:sub>
                    </m:sSub>
                  </m:oMath>
                </a14:m>
                <a:r>
                  <a:rPr lang="zh-CN" altLang="zh-CN" sz="2180" dirty="0">
                    <a:latin typeface="Times New Roman" panose="02020603050405020304" pitchFamily="18" charset="0"/>
                    <a:ea typeface="宋体" panose="02010600030101010101" pitchFamily="2" charset="-122"/>
                  </a:rPr>
                  <a:t>。 </a:t>
                </a:r>
                <a:endParaRPr lang="en-US" altLang="zh-CN" sz="2180" dirty="0">
                  <a:latin typeface="Times New Roman" panose="02020603050405020304" pitchFamily="18" charset="0"/>
                  <a:ea typeface="宋体" panose="02010600030101010101" pitchFamily="2" charset="-122"/>
                </a:endParaRPr>
              </a:p>
              <a:p>
                <a:pPr lvl="1"/>
                <a14:m>
                  <m:oMath xmlns:m="http://schemas.openxmlformats.org/officeDocument/2006/math">
                    <m:r>
                      <a:rPr lang="zh-CN" altLang="zh-CN" sz="2180" b="1" i="1" dirty="0">
                        <a:latin typeface="Cambria Math" panose="02040503050406030204" pitchFamily="18" charset="0"/>
                      </a:rPr>
                      <m:t>𝑷</m:t>
                    </m:r>
                    <m:r>
                      <a:rPr lang="zh-CN" altLang="zh-CN" sz="2180" b="1" i="1" dirty="0">
                        <a:latin typeface="Cambria Math" panose="02040503050406030204" pitchFamily="18" charset="0"/>
                      </a:rPr>
                      <m:t> &lt;</m:t>
                    </m:r>
                    <m:sSub>
                      <m:sSubPr>
                        <m:ctrlPr>
                          <a:rPr lang="en-US" altLang="zh-CN" sz="2180" b="1" i="1" dirty="0">
                            <a:latin typeface="Cambria Math" panose="02040503050406030204" pitchFamily="18" charset="0"/>
                          </a:rPr>
                        </m:ctrlPr>
                      </m:sSubPr>
                      <m:e>
                        <m:r>
                          <a:rPr lang="zh-CN" altLang="zh-CN" sz="2180" b="1" i="1" dirty="0">
                            <a:latin typeface="Cambria Math" panose="02040503050406030204" pitchFamily="18" charset="0"/>
                          </a:rPr>
                          <m:t>𝑷</m:t>
                        </m:r>
                      </m:e>
                      <m:sub>
                        <m:r>
                          <a:rPr lang="zh-CN" altLang="zh-CN" sz="2180" b="1" i="1" dirty="0">
                            <a:latin typeface="Cambria Math" panose="02040503050406030204" pitchFamily="18" charset="0"/>
                          </a:rPr>
                          <m:t>𝑬</m:t>
                        </m:r>
                      </m:sub>
                    </m:sSub>
                  </m:oMath>
                </a14:m>
                <a:r>
                  <a:rPr lang="zh-CN" altLang="zh-CN" sz="2180" dirty="0">
                    <a:latin typeface="Times New Roman" panose="02020603050405020304" pitchFamily="18" charset="0"/>
                    <a:ea typeface="宋体" panose="02010600030101010101" pitchFamily="2" charset="-122"/>
                  </a:rPr>
                  <a:t>：实际物价水平低于原先预期，企业生产积极性下降，产出可能低于自然产出 </a:t>
                </a:r>
                <a14:m>
                  <m:oMath xmlns:m="http://schemas.openxmlformats.org/officeDocument/2006/math">
                    <m:sSub>
                      <m:sSubPr>
                        <m:ctrlPr>
                          <a:rPr lang="en-US" altLang="zh-CN" sz="2180" i="1" dirty="0">
                            <a:latin typeface="Cambria Math" panose="02040503050406030204" pitchFamily="18" charset="0"/>
                          </a:rPr>
                        </m:ctrlPr>
                      </m:sSubPr>
                      <m:e>
                        <m:r>
                          <a:rPr lang="zh-CN" altLang="zh-CN" sz="2180" i="1" dirty="0">
                            <a:latin typeface="Cambria Math" panose="02040503050406030204" pitchFamily="18" charset="0"/>
                          </a:rPr>
                          <m:t>𝑌</m:t>
                        </m:r>
                      </m:e>
                      <m:sub>
                        <m:r>
                          <a:rPr lang="zh-CN" altLang="zh-CN" sz="2180" i="1" dirty="0">
                            <a:latin typeface="Cambria Math" panose="02040503050406030204" pitchFamily="18" charset="0"/>
                          </a:rPr>
                          <m:t>𝑁</m:t>
                        </m:r>
                      </m:sub>
                    </m:sSub>
                    <m:r>
                      <a:rPr lang="zh-CN" altLang="zh-CN" sz="2180" i="1" dirty="0">
                        <a:latin typeface="Cambria Math" panose="02040503050406030204" pitchFamily="18" charset="0"/>
                      </a:rPr>
                      <m:t> </m:t>
                    </m:r>
                  </m:oMath>
                </a14:m>
                <a:r>
                  <a:rPr lang="zh-CN" altLang="zh-CN" sz="2180" dirty="0">
                    <a:latin typeface="Times New Roman" panose="02020603050405020304" pitchFamily="18" charset="0"/>
                    <a:ea typeface="宋体" panose="02010600030101010101" pitchFamily="2" charset="-122"/>
                  </a:rPr>
                  <a:t>。 </a:t>
                </a:r>
                <a:endParaRPr lang="en-US" altLang="zh-CN" sz="2180" dirty="0">
                  <a:latin typeface="Times New Roman" panose="02020603050405020304" pitchFamily="18" charset="0"/>
                  <a:ea typeface="宋体" panose="02010600030101010101" pitchFamily="2" charset="-122"/>
                </a:endParaRPr>
              </a:p>
              <a:p>
                <a:r>
                  <a:rPr lang="zh-CN" altLang="zh-CN" sz="2180" b="1" dirty="0">
                    <a:latin typeface="Times New Roman" panose="02020603050405020304" pitchFamily="18" charset="0"/>
                    <a:ea typeface="宋体" panose="02010600030101010101" pitchFamily="2" charset="-122"/>
                  </a:rPr>
                  <a:t>一般表达：</a:t>
                </a:r>
                <a14:m>
                  <m:oMath xmlns:m="http://schemas.openxmlformats.org/officeDocument/2006/math">
                    <m:r>
                      <a:rPr lang="en-US" altLang="zh-CN" sz="2180" b="1" i="1" dirty="0">
                        <a:latin typeface="Cambria Math" panose="02040503050406030204" pitchFamily="18" charset="0"/>
                        <a:ea typeface="宋体" panose="02010600030101010101" pitchFamily="2" charset="-122"/>
                      </a:rPr>
                      <m:t>𝒀</m:t>
                    </m:r>
                    <m:r>
                      <a:rPr lang="en-US" altLang="zh-CN" sz="2180" i="1" dirty="0">
                        <a:latin typeface="Cambria Math" panose="02040503050406030204" pitchFamily="18" charset="0"/>
                        <a:ea typeface="宋体" panose="02010600030101010101" pitchFamily="2" charset="-122"/>
                      </a:rPr>
                      <m:t>  =  </m:t>
                    </m:r>
                    <m:r>
                      <a:rPr lang="en-US" altLang="zh-CN" sz="2180" b="1" i="1" dirty="0">
                        <a:latin typeface="Cambria Math" panose="02040503050406030204" pitchFamily="18" charset="0"/>
                        <a:ea typeface="宋体" panose="02010600030101010101" pitchFamily="2" charset="-122"/>
                      </a:rPr>
                      <m:t>𝒀</m:t>
                    </m:r>
                    <m:r>
                      <a:rPr lang="en-US" altLang="zh-CN" sz="2180" b="1" i="1" baseline="-25000" dirty="0">
                        <a:latin typeface="Cambria Math" panose="02040503050406030204" pitchFamily="18" charset="0"/>
                        <a:ea typeface="宋体" panose="02010600030101010101" pitchFamily="2" charset="-122"/>
                      </a:rPr>
                      <m:t>𝑵</m:t>
                    </m:r>
                    <m:r>
                      <a:rPr lang="en-US" altLang="zh-CN" sz="2180" i="1" dirty="0">
                        <a:latin typeface="Cambria Math" panose="02040503050406030204" pitchFamily="18" charset="0"/>
                        <a:ea typeface="宋体" panose="02010600030101010101" pitchFamily="2" charset="-122"/>
                      </a:rPr>
                      <m:t>  +  </m:t>
                    </m:r>
                    <m:r>
                      <a:rPr lang="en-US" altLang="zh-CN" sz="2180" b="1" i="1" dirty="0">
                        <a:latin typeface="Cambria Math" panose="02040503050406030204" pitchFamily="18" charset="0"/>
                        <a:ea typeface="宋体" panose="02010600030101010101" pitchFamily="2" charset="-122"/>
                      </a:rPr>
                      <m:t>𝒂</m:t>
                    </m:r>
                    <m:r>
                      <a:rPr lang="en-US" altLang="zh-CN" sz="2180" i="1" dirty="0">
                        <a:latin typeface="Cambria Math" panose="02040503050406030204" pitchFamily="18" charset="0"/>
                        <a:ea typeface="宋体" panose="02010600030101010101" pitchFamily="2" charset="-122"/>
                      </a:rPr>
                      <m:t> (</m:t>
                    </m:r>
                    <m:r>
                      <a:rPr lang="en-US" altLang="zh-CN" sz="2180" b="1" i="1" dirty="0">
                        <a:latin typeface="Cambria Math" panose="02040503050406030204" pitchFamily="18" charset="0"/>
                        <a:ea typeface="宋体" panose="02010600030101010101" pitchFamily="2" charset="-122"/>
                      </a:rPr>
                      <m:t>𝑷</m:t>
                    </m:r>
                    <m:r>
                      <a:rPr lang="en-US" altLang="zh-CN" sz="2180" b="1" i="1" dirty="0">
                        <a:latin typeface="Cambria Math" panose="02040503050406030204" pitchFamily="18" charset="0"/>
                        <a:ea typeface="宋体" panose="02010600030101010101" pitchFamily="2" charset="-122"/>
                      </a:rPr>
                      <m:t>  </m:t>
                    </m:r>
                    <m:r>
                      <a:rPr lang="en-US" altLang="zh-CN" sz="2180" i="1" dirty="0">
                        <a:latin typeface="Cambria Math" panose="02040503050406030204" pitchFamily="18" charset="0"/>
                        <a:ea typeface="宋体" panose="02010600030101010101" pitchFamily="2" charset="-122"/>
                      </a:rPr>
                      <m:t>–  </m:t>
                    </m:r>
                    <m:r>
                      <a:rPr lang="en-US" altLang="zh-CN" sz="2180" b="1" i="1" dirty="0">
                        <a:latin typeface="Cambria Math" panose="02040503050406030204" pitchFamily="18" charset="0"/>
                        <a:ea typeface="宋体" panose="02010600030101010101" pitchFamily="2" charset="-122"/>
                      </a:rPr>
                      <m:t>𝑷</m:t>
                    </m:r>
                    <m:r>
                      <a:rPr lang="en-US" altLang="zh-CN" sz="2180" b="1" i="1" baseline="-25000" dirty="0">
                        <a:latin typeface="Cambria Math" panose="02040503050406030204" pitchFamily="18" charset="0"/>
                        <a:ea typeface="宋体" panose="02010600030101010101" pitchFamily="2" charset="-122"/>
                      </a:rPr>
                      <m:t>𝑬</m:t>
                    </m:r>
                    <m:r>
                      <a:rPr lang="en-US" altLang="zh-CN" sz="2180" i="1" dirty="0">
                        <a:latin typeface="Cambria Math" panose="02040503050406030204" pitchFamily="18" charset="0"/>
                        <a:ea typeface="宋体" panose="02010600030101010101" pitchFamily="2" charset="-122"/>
                      </a:rPr>
                      <m:t>)</m:t>
                    </m:r>
                  </m:oMath>
                </a14:m>
                <a:endParaRPr lang="en-US" altLang="zh-CN" sz="2180" dirty="0">
                  <a:latin typeface="Times New Roman" panose="02020603050405020304" pitchFamily="18" charset="0"/>
                  <a:ea typeface="宋体" panose="02010600030101010101" pitchFamily="2" charset="-122"/>
                </a:endParaRPr>
              </a:p>
              <a:p>
                <a:r>
                  <a:rPr lang="zh-CN" altLang="en-US" sz="2180" dirty="0">
                    <a:latin typeface="Times New Roman" panose="02020603050405020304" pitchFamily="18" charset="0"/>
                    <a:ea typeface="宋体" panose="02010600030101010101" pitchFamily="2" charset="-122"/>
                  </a:rPr>
                  <a:t>注：前文中的</a:t>
                </a:r>
                <a14:m>
                  <m:oMath xmlns:m="http://schemas.openxmlformats.org/officeDocument/2006/math">
                    <m:sSub>
                      <m:sSubPr>
                        <m:ctrlPr>
                          <a:rPr lang="en-US" altLang="zh-CN" sz="2180" i="1">
                            <a:latin typeface="Cambria Math" panose="02040503050406030204" pitchFamily="18" charset="0"/>
                          </a:rPr>
                        </m:ctrlPr>
                      </m:sSubPr>
                      <m:e>
                        <m:r>
                          <a:rPr lang="en-US" altLang="zh-CN" sz="2180" i="1">
                            <a:latin typeface="Cambria Math" panose="02040503050406030204" pitchFamily="18" charset="0"/>
                          </a:rPr>
                          <m:t>𝑌</m:t>
                        </m:r>
                      </m:e>
                      <m:sub>
                        <m:r>
                          <a:rPr lang="en-US" altLang="zh-CN" sz="2180" i="1">
                            <a:latin typeface="Cambria Math" panose="02040503050406030204" pitchFamily="18" charset="0"/>
                          </a:rPr>
                          <m:t>𝑓</m:t>
                        </m:r>
                      </m:sub>
                    </m:sSub>
                  </m:oMath>
                </a14:m>
                <a:r>
                  <a:rPr lang="zh-CN" altLang="zh-CN" sz="2180" dirty="0">
                    <a:latin typeface="Times New Roman" panose="02020603050405020304" pitchFamily="18" charset="0"/>
                    <a:ea typeface="宋体" panose="02010600030101010101" pitchFamily="2" charset="-122"/>
                  </a:rPr>
                  <a:t>从劳动市场角度理解，表示劳动市场达到充分就业状态时的产出水平</a:t>
                </a:r>
                <a:r>
                  <a:rPr lang="zh-CN" altLang="en-US" sz="2180" dirty="0">
                    <a:latin typeface="Times New Roman" panose="02020603050405020304" pitchFamily="18" charset="0"/>
                    <a:ea typeface="宋体" panose="02010600030101010101" pitchFamily="2" charset="-122"/>
                  </a:rPr>
                  <a:t>；</a:t>
                </a:r>
                <a14:m>
                  <m:oMath xmlns:m="http://schemas.openxmlformats.org/officeDocument/2006/math">
                    <m:sSub>
                      <m:sSubPr>
                        <m:ctrlPr>
                          <a:rPr lang="en-US" altLang="zh-CN" sz="2180" i="1">
                            <a:latin typeface="Cambria Math" panose="02040503050406030204" pitchFamily="18" charset="0"/>
                          </a:rPr>
                        </m:ctrlPr>
                      </m:sSubPr>
                      <m:e>
                        <m:r>
                          <a:rPr lang="en-US" altLang="zh-CN" sz="2180" i="1">
                            <a:latin typeface="Cambria Math" panose="02040503050406030204" pitchFamily="18" charset="0"/>
                          </a:rPr>
                          <m:t>𝑌</m:t>
                        </m:r>
                      </m:e>
                      <m:sub>
                        <m:r>
                          <a:rPr lang="en-US" altLang="zh-CN" sz="2180" i="1">
                            <a:latin typeface="Cambria Math" panose="02040503050406030204" pitchFamily="18" charset="0"/>
                          </a:rPr>
                          <m:t>𝑁</m:t>
                        </m:r>
                      </m:sub>
                    </m:sSub>
                  </m:oMath>
                </a14:m>
                <a:r>
                  <a:rPr lang="zh-CN" altLang="en-US" sz="2180" b="1" dirty="0">
                    <a:latin typeface="Times New Roman" panose="02020603050405020304" pitchFamily="18" charset="0"/>
                    <a:ea typeface="宋体" panose="02010600030101010101" pitchFamily="2" charset="-122"/>
                  </a:rPr>
                  <a:t>为</a:t>
                </a:r>
                <a:r>
                  <a:rPr lang="zh-CN" altLang="zh-CN" sz="2180" dirty="0">
                    <a:latin typeface="Times New Roman" panose="02020603050405020304" pitchFamily="18" charset="0"/>
                    <a:ea typeface="宋体" panose="02010600030101010101" pitchFamily="2" charset="-122"/>
                  </a:rPr>
                  <a:t>自然产出</a:t>
                </a:r>
                <a:r>
                  <a:rPr lang="zh-CN" altLang="en-US" sz="2180" dirty="0">
                    <a:latin typeface="Times New Roman" panose="02020603050405020304" pitchFamily="18" charset="0"/>
                    <a:ea typeface="宋体" panose="02010600030101010101" pitchFamily="2" charset="-122"/>
                  </a:rPr>
                  <a:t>，是</a:t>
                </a:r>
                <a:r>
                  <a:rPr lang="zh-CN" altLang="zh-CN" sz="2180" dirty="0">
                    <a:latin typeface="Times New Roman" panose="02020603050405020304" pitchFamily="18" charset="0"/>
                    <a:ea typeface="宋体" panose="02010600030101010101" pitchFamily="2" charset="-122"/>
                  </a:rPr>
                  <a:t>从长期均衡角度理解，表示价格和工资充分调整后，经济能够维持的正常产出水平。在本章中</a:t>
                </a:r>
                <a:r>
                  <a:rPr lang="zh-CN" altLang="en-US" sz="2180" dirty="0">
                    <a:latin typeface="Times New Roman" panose="02020603050405020304" pitchFamily="18" charset="0"/>
                    <a:ea typeface="宋体" panose="02010600030101010101" pitchFamily="2" charset="-122"/>
                  </a:rPr>
                  <a:t>：</a:t>
                </a:r>
                <a:endParaRPr lang="en-US" altLang="zh-CN" sz="2180" dirty="0">
                  <a:latin typeface="Times New Roman" panose="02020603050405020304" pitchFamily="18" charset="0"/>
                  <a:ea typeface="宋体" panose="02010600030101010101" pitchFamily="2" charset="-122"/>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sz="2180" i="1" dirty="0">
                              <a:latin typeface="Cambria Math" panose="02040503050406030204" pitchFamily="18" charset="0"/>
                            </a:rPr>
                          </m:ctrlPr>
                        </m:sSubPr>
                        <m:e>
                          <m:r>
                            <a:rPr lang="zh-CN" altLang="en-US" sz="2180" i="1" dirty="0">
                              <a:latin typeface="Cambria Math" panose="02040503050406030204" pitchFamily="18" charset="0"/>
                            </a:rPr>
                            <m:t>“</m:t>
                          </m:r>
                          <m:r>
                            <a:rPr lang="en-US" altLang="zh-CN" sz="2180" i="1" dirty="0">
                              <a:latin typeface="Cambria Math" panose="02040503050406030204" pitchFamily="18" charset="0"/>
                            </a:rPr>
                            <m:t>𝑌</m:t>
                          </m:r>
                        </m:e>
                        <m:sub>
                          <m:r>
                            <a:rPr lang="en-US" altLang="zh-CN" sz="2180" i="1" dirty="0">
                              <a:latin typeface="Cambria Math" panose="02040503050406030204" pitchFamily="18" charset="0"/>
                            </a:rPr>
                            <m:t>𝑓</m:t>
                          </m:r>
                        </m:sub>
                      </m:sSub>
                      <m:r>
                        <a:rPr lang="en-US" altLang="zh-CN" sz="2180" i="1" dirty="0">
                          <a:latin typeface="Cambria Math" panose="02040503050406030204" pitchFamily="18" charset="0"/>
                        </a:rPr>
                        <m:t>(</m:t>
                      </m:r>
                      <m:r>
                        <a:rPr lang="zh-CN" altLang="en-US" sz="2180" i="1" dirty="0">
                          <a:latin typeface="Cambria Math" panose="02040503050406030204" pitchFamily="18" charset="0"/>
                        </a:rPr>
                        <m:t>充分</m:t>
                      </m:r>
                      <m:r>
                        <a:rPr lang="zh-CN" altLang="en-US" sz="2180" i="1" dirty="0">
                          <a:latin typeface="Cambria Math" panose="02040503050406030204" pitchFamily="18" charset="0"/>
                        </a:rPr>
                        <m:t>就业</m:t>
                      </m:r>
                      <m:r>
                        <a:rPr lang="zh-CN" altLang="en-US" sz="2180" i="1" dirty="0">
                          <a:latin typeface="Cambria Math" panose="02040503050406030204" pitchFamily="18" charset="0"/>
                        </a:rPr>
                        <m:t>产出</m:t>
                      </m:r>
                      <m:r>
                        <a:rPr lang="en-US" altLang="zh-CN" sz="2180" i="1" dirty="0">
                          <a:latin typeface="Cambria Math" panose="02040503050406030204" pitchFamily="18" charset="0"/>
                        </a:rPr>
                        <m:t>)"  </m:t>
                      </m:r>
                      <m:r>
                        <a:rPr lang="zh-CN" altLang="en-US" sz="2180" i="1" dirty="0">
                          <a:latin typeface="Cambria Math" panose="02040503050406030204" pitchFamily="18" charset="0"/>
                        </a:rPr>
                        <m:t>等价于</m:t>
                      </m:r>
                      <m:r>
                        <a:rPr lang="en-US" altLang="zh-CN" sz="2180" i="1" dirty="0">
                          <a:latin typeface="Cambria Math" panose="02040503050406030204" pitchFamily="18" charset="0"/>
                        </a:rPr>
                        <m:t>  "</m:t>
                      </m:r>
                      <m:sSub>
                        <m:sSubPr>
                          <m:ctrlPr>
                            <a:rPr lang="en-US" altLang="zh-CN" sz="2180" i="1" dirty="0">
                              <a:latin typeface="Cambria Math" panose="02040503050406030204" pitchFamily="18" charset="0"/>
                            </a:rPr>
                          </m:ctrlPr>
                        </m:sSubPr>
                        <m:e>
                          <m:r>
                            <a:rPr lang="en-US" altLang="zh-CN" sz="2180" i="1" dirty="0">
                              <a:latin typeface="Cambria Math" panose="02040503050406030204" pitchFamily="18" charset="0"/>
                            </a:rPr>
                            <m:t>𝑌</m:t>
                          </m:r>
                        </m:e>
                        <m:sub>
                          <m:r>
                            <a:rPr lang="en-US" altLang="zh-CN" sz="2180" i="1" dirty="0">
                              <a:latin typeface="Cambria Math" panose="02040503050406030204" pitchFamily="18" charset="0"/>
                            </a:rPr>
                            <m:t>𝑁</m:t>
                          </m:r>
                        </m:sub>
                      </m:sSub>
                      <m:r>
                        <a:rPr lang="en-US" altLang="zh-CN" sz="2180" i="1" dirty="0">
                          <a:latin typeface="Cambria Math" panose="02040503050406030204" pitchFamily="18" charset="0"/>
                        </a:rPr>
                        <m:t>(</m:t>
                      </m:r>
                      <m:r>
                        <a:rPr lang="zh-CN" altLang="en-US" sz="2180" i="1" dirty="0">
                          <a:latin typeface="Cambria Math" panose="02040503050406030204" pitchFamily="18" charset="0"/>
                        </a:rPr>
                        <m:t>自然</m:t>
                      </m:r>
                      <m:r>
                        <a:rPr lang="zh-CN" altLang="en-US" sz="2180" i="1" dirty="0">
                          <a:latin typeface="Cambria Math" panose="02040503050406030204" pitchFamily="18" charset="0"/>
                        </a:rPr>
                        <m:t>产出</m:t>
                      </m:r>
                      <m:r>
                        <a:rPr lang="en-US" altLang="zh-CN" sz="2180" i="1" dirty="0">
                          <a:latin typeface="Cambria Math" panose="02040503050406030204" pitchFamily="18" charset="0"/>
                        </a:rPr>
                        <m:t>)"  </m:t>
                      </m:r>
                      <m:r>
                        <a:rPr lang="zh-CN" altLang="en-US" sz="2180" i="1" dirty="0">
                          <a:latin typeface="Cambria Math" panose="02040503050406030204" pitchFamily="18" charset="0"/>
                        </a:rPr>
                        <m:t>等价于</m:t>
                      </m:r>
                      <m:r>
                        <a:rPr lang="en-US" altLang="zh-CN" sz="2180" i="1" dirty="0">
                          <a:latin typeface="Cambria Math" panose="02040503050406030204" pitchFamily="18" charset="0"/>
                        </a:rPr>
                        <m:t>  </m:t>
                      </m:r>
                      <m:r>
                        <a:rPr lang="zh-CN" altLang="en-US" sz="2180" i="1" dirty="0">
                          <a:latin typeface="Cambria Math" panose="02040503050406030204" pitchFamily="18" charset="0"/>
                        </a:rPr>
                        <m:t>”</m:t>
                      </m:r>
                      <m:r>
                        <a:rPr lang="zh-CN" altLang="en-US" sz="2180" i="1" dirty="0">
                          <a:latin typeface="Cambria Math" panose="02040503050406030204" pitchFamily="18" charset="0"/>
                        </a:rPr>
                        <m:t>潜在产出</m:t>
                      </m:r>
                      <m:r>
                        <a:rPr lang="en-US" altLang="zh-CN" sz="2180" i="1" dirty="0">
                          <a:latin typeface="Cambria Math" panose="02040503050406030204" pitchFamily="18" charset="0"/>
                        </a:rPr>
                        <m:t>"</m:t>
                      </m:r>
                    </m:oMath>
                  </m:oMathPara>
                </a14:m>
                <a:endParaRPr lang="en-US" altLang="zh-CN" sz="2180" dirty="0">
                  <a:latin typeface="Times New Roman" panose="02020603050405020304" pitchFamily="18" charset="0"/>
                  <a:ea typeface="宋体" panose="02010600030101010101" pitchFamily="2" charset="-122"/>
                </a:endParaRPr>
              </a:p>
              <a:p>
                <a:endParaRPr lang="zh-CN" altLang="zh-CN" sz="2083" dirty="0"/>
              </a:p>
            </p:txBody>
          </p:sp>
        </mc:Choice>
        <mc:Fallback>
          <p:sp>
            <p:nvSpPr>
              <p:cNvPr id="3" name="内容占位符 2">
                <a:extLst>
                  <a:ext uri="{FF2B5EF4-FFF2-40B4-BE49-F238E27FC236}">
                    <a16:creationId xmlns:a16="http://schemas.microsoft.com/office/drawing/2014/main" id="{7AFA95E7-A583-EAE5-1329-F6A04E2900D7}"/>
                  </a:ext>
                </a:extLst>
              </p:cNvPr>
              <p:cNvSpPr>
                <a:spLocks noGrp="1" noRot="1" noChangeAspect="1" noMove="1" noResize="1" noEditPoints="1" noAdjustHandles="1" noChangeArrowheads="1" noChangeShapeType="1" noTextEdit="1"/>
              </p:cNvSpPr>
              <p:nvPr>
                <p:ph idx="1"/>
              </p:nvPr>
            </p:nvSpPr>
            <p:spPr>
              <a:xfrm>
                <a:off x="1529768" y="653153"/>
                <a:ext cx="9134038" cy="6087504"/>
              </a:xfrm>
              <a:blipFill>
                <a:blip r:embed="rId2"/>
                <a:stretch>
                  <a:fillRect l="-1068" t="-1401" r="-3872"/>
                </a:stretch>
              </a:blipFill>
            </p:spPr>
            <p:txBody>
              <a:bodyPr/>
              <a:lstStyle/>
              <a:p>
                <a:r>
                  <a:rPr lang="zh-CN" altLang="en-US">
                    <a:noFill/>
                  </a:rPr>
                  <a:t> </a:t>
                </a:r>
              </a:p>
            </p:txBody>
          </p:sp>
        </mc:Fallback>
      </mc:AlternateContent>
      <p:sp>
        <p:nvSpPr>
          <p:cNvPr id="6" name="灯片编号占位符 5">
            <a:extLst>
              <a:ext uri="{FF2B5EF4-FFF2-40B4-BE49-F238E27FC236}">
                <a16:creationId xmlns:a16="http://schemas.microsoft.com/office/drawing/2014/main" id="{BF00E7CF-7D45-35DE-6BB3-50AC1816FE6D}"/>
              </a:ext>
            </a:extLst>
          </p:cNvPr>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19</a:t>
            </a:fld>
            <a:endParaRPr lang="zh-CN" altLang="en-US"/>
          </a:p>
        </p:txBody>
      </p:sp>
      <p:sp>
        <p:nvSpPr>
          <p:cNvPr id="7" name="Rectangle 6">
            <a:extLst>
              <a:ext uri="{FF2B5EF4-FFF2-40B4-BE49-F238E27FC236}">
                <a16:creationId xmlns:a16="http://schemas.microsoft.com/office/drawing/2014/main" id="{69A2E770-9F42-BC69-DC82-D3E1E5E61D9E}"/>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19</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9" name="标题 8">
            <a:extLst>
              <a:ext uri="{FF2B5EF4-FFF2-40B4-BE49-F238E27FC236}">
                <a16:creationId xmlns:a16="http://schemas.microsoft.com/office/drawing/2014/main" id="{A6212379-A3F6-1C4A-5042-DA46955FC362}"/>
              </a:ext>
            </a:extLst>
          </p:cNvPr>
          <p:cNvSpPr>
            <a:spLocks noGrp="1"/>
          </p:cNvSpPr>
          <p:nvPr>
            <p:ph type="title"/>
          </p:nvPr>
        </p:nvSpPr>
        <p:spPr>
          <a:xfrm>
            <a:off x="1894570" y="1"/>
            <a:ext cx="8402860" cy="608080"/>
          </a:xfrm>
        </p:spPr>
        <p:txBody>
          <a:bodyPr/>
          <a:lstStyle/>
          <a:p>
            <a:r>
              <a:rPr lang="zh-CN" altLang="en-US" dirty="0"/>
              <a:t>常规总供给曲线</a:t>
            </a:r>
            <a:endParaRPr lang="en-US" altLang="zh-CN" dirty="0"/>
          </a:p>
        </p:txBody>
      </p:sp>
    </p:spTree>
    <p:extLst>
      <p:ext uri="{BB962C8B-B14F-4D97-AF65-F5344CB8AC3E}">
        <p14:creationId xmlns:p14="http://schemas.microsoft.com/office/powerpoint/2010/main" val="1061319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255E4-CC13-F8D3-2351-6C0E0F771D92}"/>
            </a:ext>
          </a:extLst>
        </p:cNvPr>
        <p:cNvGrpSpPr/>
        <p:nvPr/>
      </p:nvGrpSpPr>
      <p:grpSpPr>
        <a:xfrm>
          <a:off x="0" y="0"/>
          <a:ext cx="0" cy="0"/>
          <a:chOff x="0" y="0"/>
          <a:chExt cx="0" cy="0"/>
        </a:xfrm>
      </p:grpSpPr>
      <p:sp>
        <p:nvSpPr>
          <p:cNvPr id="2" name="页脚占位符 1">
            <a:extLst>
              <a:ext uri="{FF2B5EF4-FFF2-40B4-BE49-F238E27FC236}">
                <a16:creationId xmlns:a16="http://schemas.microsoft.com/office/drawing/2014/main" id="{10B7685D-A1BA-3EC9-AC72-FE7745FCAA9D}"/>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74715AB8-88FE-9E8F-EB8B-FA32E450679F}"/>
              </a:ext>
            </a:extLst>
          </p:cNvPr>
          <p:cNvSpPr>
            <a:spLocks noGrp="1"/>
          </p:cNvSpPr>
          <p:nvPr>
            <p:ph type="sldNum" sz="quarter" idx="11"/>
          </p:nvPr>
        </p:nvSpPr>
        <p:spPr/>
        <p:txBody>
          <a:bodyPr/>
          <a:lstStyle/>
          <a:p>
            <a:fld id="{E7DBD5AB-2A44-5F48-B250-1BB55DA35BE9}" type="slidenum">
              <a:rPr lang="zh-CN" altLang="zh-CN"/>
              <a:pPr/>
              <a:t>20</a:t>
            </a:fld>
            <a:endParaRPr lang="zh-CN" altLang="zh-CN"/>
          </a:p>
        </p:txBody>
      </p:sp>
      <p:sp>
        <p:nvSpPr>
          <p:cNvPr id="68610" name="Rectangle 2">
            <a:extLst>
              <a:ext uri="{FF2B5EF4-FFF2-40B4-BE49-F238E27FC236}">
                <a16:creationId xmlns:a16="http://schemas.microsoft.com/office/drawing/2014/main" id="{80E4E9F8-EF80-07DF-46BB-8AFAE4D098F8}"/>
              </a:ext>
            </a:extLst>
          </p:cNvPr>
          <p:cNvSpPr>
            <a:spLocks noGrp="1" noChangeArrowheads="1"/>
          </p:cNvSpPr>
          <p:nvPr>
            <p:ph type="title" idx="4294967295"/>
          </p:nvPr>
        </p:nvSpPr>
        <p:spPr>
          <a:xfrm>
            <a:off x="1528195" y="217263"/>
            <a:ext cx="9135611" cy="648692"/>
          </a:xfrm>
        </p:spPr>
        <p:txBody>
          <a:bodyPr/>
          <a:lstStyle/>
          <a:p>
            <a:r>
              <a:rPr lang="zh-CN" altLang="en-US" sz="3567" dirty="0"/>
              <a:t>常规总供给曲线</a:t>
            </a:r>
            <a:endParaRPr lang="zh-CN" altLang="en-US" sz="3597" dirty="0">
              <a:ea typeface="宋体" panose="02010600030101010101" pitchFamily="2" charset="-122"/>
            </a:endParaRPr>
          </a:p>
        </p:txBody>
      </p:sp>
      <p:sp>
        <p:nvSpPr>
          <p:cNvPr id="68611" name="Rectangle 3">
            <a:extLst>
              <a:ext uri="{FF2B5EF4-FFF2-40B4-BE49-F238E27FC236}">
                <a16:creationId xmlns:a16="http://schemas.microsoft.com/office/drawing/2014/main" id="{AFFEBBDE-346C-CBF5-FC89-1A418DCC38E3}"/>
              </a:ext>
            </a:extLst>
          </p:cNvPr>
          <p:cNvSpPr>
            <a:spLocks noGrp="1" noChangeArrowheads="1"/>
          </p:cNvSpPr>
          <p:nvPr>
            <p:ph type="body" idx="4294967295"/>
          </p:nvPr>
        </p:nvSpPr>
        <p:spPr>
          <a:xfrm>
            <a:off x="1996079" y="937326"/>
            <a:ext cx="8218877" cy="977004"/>
          </a:xfrm>
        </p:spPr>
        <p:txBody>
          <a:bodyPr/>
          <a:lstStyle/>
          <a:p>
            <a:pPr marL="0" indent="0">
              <a:lnSpc>
                <a:spcPct val="95000"/>
              </a:lnSpc>
              <a:buNone/>
            </a:pPr>
            <a:r>
              <a:rPr lang="zh-CN" altLang="zh-CN" sz="2398" dirty="0">
                <a:ea typeface="宋体" panose="02010600030101010101" pitchFamily="2" charset="-122"/>
              </a:rPr>
              <a:t>在这三个理论中，当实际物价水平背离人们预期的物价水平时，短期产量就背离其长期水平（自然产量率）</a:t>
            </a:r>
            <a:r>
              <a:rPr lang="zh-CN" altLang="zh-CN" sz="1998" dirty="0">
                <a:ea typeface="宋体" panose="02010600030101010101" pitchFamily="2" charset="-122"/>
              </a:rPr>
              <a:t> </a:t>
            </a:r>
          </a:p>
        </p:txBody>
      </p:sp>
      <p:sp>
        <p:nvSpPr>
          <p:cNvPr id="68612" name="Rectangle 5">
            <a:extLst>
              <a:ext uri="{FF2B5EF4-FFF2-40B4-BE49-F238E27FC236}">
                <a16:creationId xmlns:a16="http://schemas.microsoft.com/office/drawing/2014/main" id="{EE374071-23B6-EAD2-8C30-726E47633F01}"/>
              </a:ext>
            </a:extLst>
          </p:cNvPr>
          <p:cNvSpPr>
            <a:spLocks noChangeArrowheads="1"/>
          </p:cNvSpPr>
          <p:nvPr/>
        </p:nvSpPr>
        <p:spPr bwMode="auto">
          <a:xfrm>
            <a:off x="3823201" y="2061831"/>
            <a:ext cx="4432992" cy="71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3196" b="1" i="1" dirty="0">
                <a:ea typeface="宋体" panose="02010600030101010101" pitchFamily="2" charset="-122"/>
              </a:rPr>
              <a:t>Y</a:t>
            </a:r>
            <a:r>
              <a:rPr lang="en-US" altLang="zh-CN" sz="3196" dirty="0">
                <a:ea typeface="宋体" panose="02010600030101010101" pitchFamily="2" charset="-122"/>
              </a:rPr>
              <a:t>  =  </a:t>
            </a:r>
            <a:r>
              <a:rPr lang="en-US" altLang="zh-CN" sz="3196" b="1" i="1" dirty="0">
                <a:ea typeface="宋体" panose="02010600030101010101" pitchFamily="2" charset="-122"/>
              </a:rPr>
              <a:t>Y</a:t>
            </a:r>
            <a:r>
              <a:rPr lang="en-US" altLang="zh-CN" sz="3196" b="1" baseline="-25000" dirty="0">
                <a:ea typeface="宋体" panose="02010600030101010101" pitchFamily="2" charset="-122"/>
              </a:rPr>
              <a:t>N</a:t>
            </a:r>
            <a:r>
              <a:rPr lang="en-US" altLang="zh-CN" sz="3196" dirty="0">
                <a:ea typeface="宋体" panose="02010600030101010101" pitchFamily="2" charset="-122"/>
              </a:rPr>
              <a:t>  +  </a:t>
            </a:r>
            <a:r>
              <a:rPr lang="en-US" altLang="zh-CN" sz="3196" b="1" i="1" dirty="0">
                <a:latin typeface="Times New Roman" panose="02020603050405020304" pitchFamily="18" charset="0"/>
                <a:ea typeface="宋体" panose="02010600030101010101" pitchFamily="2" charset="-122"/>
              </a:rPr>
              <a:t>a</a:t>
            </a:r>
            <a:r>
              <a:rPr lang="en-US" altLang="zh-CN" sz="1199" dirty="0">
                <a:ea typeface="宋体" panose="02010600030101010101" pitchFamily="2" charset="-122"/>
              </a:rPr>
              <a:t> </a:t>
            </a:r>
            <a:r>
              <a:rPr lang="en-US" altLang="zh-CN" sz="3196" dirty="0">
                <a:ea typeface="宋体" panose="02010600030101010101" pitchFamily="2" charset="-122"/>
              </a:rPr>
              <a:t>(</a:t>
            </a:r>
            <a:r>
              <a:rPr lang="en-US" altLang="zh-CN" sz="3196" b="1" i="1" dirty="0">
                <a:ea typeface="宋体" panose="02010600030101010101" pitchFamily="2" charset="-122"/>
              </a:rPr>
              <a:t>P</a:t>
            </a:r>
            <a:r>
              <a:rPr lang="en-US" altLang="zh-CN" sz="3196" b="1" dirty="0">
                <a:ea typeface="宋体" panose="02010600030101010101" pitchFamily="2" charset="-122"/>
              </a:rPr>
              <a:t>  </a:t>
            </a:r>
            <a:r>
              <a:rPr lang="en-US" altLang="zh-CN" sz="3196" dirty="0">
                <a:ea typeface="宋体" panose="02010600030101010101" pitchFamily="2" charset="-122"/>
              </a:rPr>
              <a:t>–  </a:t>
            </a:r>
            <a:r>
              <a:rPr lang="en-US" altLang="zh-CN" sz="3196" b="1" i="1" dirty="0">
                <a:ea typeface="宋体" panose="02010600030101010101" pitchFamily="2" charset="-122"/>
              </a:rPr>
              <a:t>P</a:t>
            </a:r>
            <a:r>
              <a:rPr lang="en-US" altLang="zh-CN" sz="3196" b="1" baseline="-25000" dirty="0">
                <a:ea typeface="宋体" panose="02010600030101010101" pitchFamily="2" charset="-122"/>
              </a:rPr>
              <a:t>E</a:t>
            </a:r>
            <a:r>
              <a:rPr lang="en-US" altLang="zh-CN" sz="3196" dirty="0">
                <a:ea typeface="宋体" panose="02010600030101010101" pitchFamily="2" charset="-122"/>
              </a:rPr>
              <a:t>)</a:t>
            </a:r>
          </a:p>
        </p:txBody>
      </p:sp>
      <p:grpSp>
        <p:nvGrpSpPr>
          <p:cNvPr id="68613" name="Group 5">
            <a:extLst>
              <a:ext uri="{FF2B5EF4-FFF2-40B4-BE49-F238E27FC236}">
                <a16:creationId xmlns:a16="http://schemas.microsoft.com/office/drawing/2014/main" id="{B5ECDBFC-CD84-34B0-DD78-1E46C1558F46}"/>
              </a:ext>
            </a:extLst>
          </p:cNvPr>
          <p:cNvGrpSpPr>
            <a:grpSpLocks/>
          </p:cNvGrpSpPr>
          <p:nvPr/>
        </p:nvGrpSpPr>
        <p:grpSpPr bwMode="auto">
          <a:xfrm>
            <a:off x="1875538" y="2290220"/>
            <a:ext cx="2028549" cy="1117985"/>
            <a:chOff x="0" y="0"/>
            <a:chExt cx="1175" cy="468"/>
          </a:xfrm>
        </p:grpSpPr>
        <p:sp>
          <p:nvSpPr>
            <p:cNvPr id="68614" name="Line 12">
              <a:extLst>
                <a:ext uri="{FF2B5EF4-FFF2-40B4-BE49-F238E27FC236}">
                  <a16:creationId xmlns:a16="http://schemas.microsoft.com/office/drawing/2014/main" id="{332E62AC-96FA-328D-C622-50166AC2D641}"/>
                </a:ext>
              </a:extLst>
            </p:cNvPr>
            <p:cNvSpPr>
              <a:spLocks noChangeShapeType="1"/>
            </p:cNvSpPr>
            <p:nvPr/>
          </p:nvSpPr>
          <p:spPr bwMode="auto">
            <a:xfrm flipV="1">
              <a:off x="768" y="0"/>
              <a:ext cx="407" cy="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68615" name="Text Box 6">
              <a:extLst>
                <a:ext uri="{FF2B5EF4-FFF2-40B4-BE49-F238E27FC236}">
                  <a16:creationId xmlns:a16="http://schemas.microsoft.com/office/drawing/2014/main" id="{8D33C70D-96F3-509C-382E-CB3D059543FA}"/>
                </a:ext>
              </a:extLst>
            </p:cNvPr>
            <p:cNvSpPr txBox="1">
              <a:spLocks noChangeArrowheads="1"/>
            </p:cNvSpPr>
            <p:nvPr/>
          </p:nvSpPr>
          <p:spPr bwMode="auto">
            <a:xfrm>
              <a:off x="0" y="107"/>
              <a:ext cx="780" cy="36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2499">
                  <a:ea typeface="宋体" panose="02010600030101010101" pitchFamily="2" charset="-122"/>
                </a:rPr>
                <a:t>产量的供给量</a:t>
              </a:r>
            </a:p>
          </p:txBody>
        </p:sp>
      </p:grpSp>
      <p:grpSp>
        <p:nvGrpSpPr>
          <p:cNvPr id="68616" name="Group 8">
            <a:extLst>
              <a:ext uri="{FF2B5EF4-FFF2-40B4-BE49-F238E27FC236}">
                <a16:creationId xmlns:a16="http://schemas.microsoft.com/office/drawing/2014/main" id="{1D63C1B5-F552-CD4F-E215-497305A117AA}"/>
              </a:ext>
            </a:extLst>
          </p:cNvPr>
          <p:cNvGrpSpPr>
            <a:grpSpLocks/>
          </p:cNvGrpSpPr>
          <p:nvPr/>
        </p:nvGrpSpPr>
        <p:grpSpPr bwMode="auto">
          <a:xfrm>
            <a:off x="2265706" y="2677216"/>
            <a:ext cx="2861223" cy="1670104"/>
            <a:chOff x="0" y="0"/>
            <a:chExt cx="1804" cy="1053"/>
          </a:xfrm>
        </p:grpSpPr>
        <p:sp>
          <p:nvSpPr>
            <p:cNvPr id="68617" name="Line 13">
              <a:extLst>
                <a:ext uri="{FF2B5EF4-FFF2-40B4-BE49-F238E27FC236}">
                  <a16:creationId xmlns:a16="http://schemas.microsoft.com/office/drawing/2014/main" id="{330CCF8F-EBC4-1236-0D00-937D54D25FF4}"/>
                </a:ext>
              </a:extLst>
            </p:cNvPr>
            <p:cNvSpPr>
              <a:spLocks noChangeShapeType="1"/>
            </p:cNvSpPr>
            <p:nvPr/>
          </p:nvSpPr>
          <p:spPr bwMode="auto">
            <a:xfrm flipV="1">
              <a:off x="962" y="0"/>
              <a:ext cx="842" cy="7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68618" name="Text Box 7">
              <a:extLst>
                <a:ext uri="{FF2B5EF4-FFF2-40B4-BE49-F238E27FC236}">
                  <a16:creationId xmlns:a16="http://schemas.microsoft.com/office/drawing/2014/main" id="{32342F39-8AE9-BCB3-369C-FB27C972BED3}"/>
                </a:ext>
              </a:extLst>
            </p:cNvPr>
            <p:cNvSpPr txBox="1">
              <a:spLocks noChangeArrowheads="1"/>
            </p:cNvSpPr>
            <p:nvPr/>
          </p:nvSpPr>
          <p:spPr bwMode="auto">
            <a:xfrm>
              <a:off x="0" y="510"/>
              <a:ext cx="1221" cy="54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2499" dirty="0">
                  <a:ea typeface="宋体" panose="02010600030101010101" pitchFamily="2" charset="-122"/>
                </a:rPr>
                <a:t>自然</a:t>
              </a:r>
              <a:r>
                <a:rPr lang="zh-CN" altLang="en-US" sz="2499" dirty="0">
                  <a:ea typeface="宋体" panose="02010600030101010101" pitchFamily="2" charset="-122"/>
                </a:rPr>
                <a:t>产出水平</a:t>
              </a:r>
              <a:r>
                <a:rPr lang="zh-CN" altLang="zh-CN" sz="2499" dirty="0">
                  <a:ea typeface="宋体" panose="02010600030101010101" pitchFamily="2" charset="-122"/>
                </a:rPr>
                <a:t> </a:t>
              </a:r>
              <a:r>
                <a:rPr lang="en-US" altLang="zh-CN" sz="2499" dirty="0">
                  <a:ea typeface="宋体" panose="02010600030101010101" pitchFamily="2" charset="-122"/>
                </a:rPr>
                <a:t>(</a:t>
              </a:r>
              <a:r>
                <a:rPr lang="zh-CN" altLang="zh-CN" sz="2499" dirty="0">
                  <a:ea typeface="宋体" panose="02010600030101010101" pitchFamily="2" charset="-122"/>
                </a:rPr>
                <a:t>长期</a:t>
              </a:r>
              <a:r>
                <a:rPr lang="en-US" altLang="zh-CN" sz="2499" dirty="0">
                  <a:ea typeface="宋体" panose="02010600030101010101" pitchFamily="2" charset="-122"/>
                </a:rPr>
                <a:t>)</a:t>
              </a:r>
            </a:p>
          </p:txBody>
        </p:sp>
      </p:grpSp>
      <p:grpSp>
        <p:nvGrpSpPr>
          <p:cNvPr id="68619" name="Group 11">
            <a:extLst>
              <a:ext uri="{FF2B5EF4-FFF2-40B4-BE49-F238E27FC236}">
                <a16:creationId xmlns:a16="http://schemas.microsoft.com/office/drawing/2014/main" id="{CF16D184-A809-5EA6-77D5-08B7D1BC6EE7}"/>
              </a:ext>
            </a:extLst>
          </p:cNvPr>
          <p:cNvGrpSpPr>
            <a:grpSpLocks/>
          </p:cNvGrpSpPr>
          <p:nvPr/>
        </p:nvGrpSpPr>
        <p:grpSpPr bwMode="auto">
          <a:xfrm>
            <a:off x="4595603" y="2699420"/>
            <a:ext cx="2225220" cy="3259320"/>
            <a:chOff x="0" y="0"/>
            <a:chExt cx="1403" cy="2055"/>
          </a:xfrm>
        </p:grpSpPr>
        <p:sp>
          <p:nvSpPr>
            <p:cNvPr id="68620" name="Line 14">
              <a:extLst>
                <a:ext uri="{FF2B5EF4-FFF2-40B4-BE49-F238E27FC236}">
                  <a16:creationId xmlns:a16="http://schemas.microsoft.com/office/drawing/2014/main" id="{19648D24-20BB-0F41-2069-0FDE82729203}"/>
                </a:ext>
              </a:extLst>
            </p:cNvPr>
            <p:cNvSpPr>
              <a:spLocks noChangeShapeType="1"/>
            </p:cNvSpPr>
            <p:nvPr/>
          </p:nvSpPr>
          <p:spPr bwMode="auto">
            <a:xfrm flipH="1">
              <a:off x="812" y="0"/>
              <a:ext cx="183" cy="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68621" name="Text Box 8">
              <a:extLst>
                <a:ext uri="{FF2B5EF4-FFF2-40B4-BE49-F238E27FC236}">
                  <a16:creationId xmlns:a16="http://schemas.microsoft.com/office/drawing/2014/main" id="{D9B80254-9BBA-B05A-49C3-694758A8F97C}"/>
                </a:ext>
              </a:extLst>
            </p:cNvPr>
            <p:cNvSpPr txBox="1">
              <a:spLocks noChangeArrowheads="1"/>
            </p:cNvSpPr>
            <p:nvPr/>
          </p:nvSpPr>
          <p:spPr bwMode="auto">
            <a:xfrm>
              <a:off x="0" y="717"/>
              <a:ext cx="1403" cy="133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91356"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3196" b="1" i="1">
                  <a:latin typeface="Times New Roman" panose="02020603050405020304" pitchFamily="18" charset="0"/>
                  <a:ea typeface="宋体" panose="02010600030101010101" pitchFamily="2" charset="-122"/>
                </a:rPr>
                <a:t>a</a:t>
              </a:r>
              <a:r>
                <a:rPr lang="en-US" altLang="zh-CN" sz="2499">
                  <a:ea typeface="宋体" panose="02010600030101010101" pitchFamily="2" charset="-122"/>
                </a:rPr>
                <a:t> &gt; 0</a:t>
              </a:r>
              <a:r>
                <a:rPr lang="zh-CN" altLang="zh-CN" sz="2499">
                  <a:ea typeface="宋体" panose="02010600030101010101" pitchFamily="2" charset="-122"/>
                </a:rPr>
                <a:t>，衡量产量对物价水平未预期到的变动做出多大反应的数字</a:t>
              </a:r>
              <a:endParaRPr lang="zh-CN" altLang="zh-CN" sz="2499" b="1" i="1">
                <a:ea typeface="宋体" panose="02010600030101010101" pitchFamily="2" charset="-122"/>
              </a:endParaRPr>
            </a:p>
          </p:txBody>
        </p:sp>
      </p:grpSp>
      <p:grpSp>
        <p:nvGrpSpPr>
          <p:cNvPr id="68622" name="Group 14">
            <a:extLst>
              <a:ext uri="{FF2B5EF4-FFF2-40B4-BE49-F238E27FC236}">
                <a16:creationId xmlns:a16="http://schemas.microsoft.com/office/drawing/2014/main" id="{3F655579-E125-37BF-5A20-5A4968657A66}"/>
              </a:ext>
            </a:extLst>
          </p:cNvPr>
          <p:cNvGrpSpPr>
            <a:grpSpLocks/>
          </p:cNvGrpSpPr>
          <p:nvPr/>
        </p:nvGrpSpPr>
        <p:grpSpPr bwMode="auto">
          <a:xfrm>
            <a:off x="6652702" y="2666114"/>
            <a:ext cx="2179224" cy="2158606"/>
            <a:chOff x="0" y="0"/>
            <a:chExt cx="1374" cy="1361"/>
          </a:xfrm>
        </p:grpSpPr>
        <p:sp>
          <p:nvSpPr>
            <p:cNvPr id="68623" name="Line 15">
              <a:extLst>
                <a:ext uri="{FF2B5EF4-FFF2-40B4-BE49-F238E27FC236}">
                  <a16:creationId xmlns:a16="http://schemas.microsoft.com/office/drawing/2014/main" id="{60A7FD40-3C33-39CA-35D5-00DD05FB1A9D}"/>
                </a:ext>
              </a:extLst>
            </p:cNvPr>
            <p:cNvSpPr>
              <a:spLocks noChangeShapeType="1"/>
            </p:cNvSpPr>
            <p:nvPr/>
          </p:nvSpPr>
          <p:spPr bwMode="auto">
            <a:xfrm flipH="1" flipV="1">
              <a:off x="0" y="0"/>
              <a:ext cx="589" cy="9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68624" name="Text Box 9">
              <a:extLst>
                <a:ext uri="{FF2B5EF4-FFF2-40B4-BE49-F238E27FC236}">
                  <a16:creationId xmlns:a16="http://schemas.microsoft.com/office/drawing/2014/main" id="{FA67D74D-8874-2D6E-7086-217E60025BE6}"/>
                </a:ext>
              </a:extLst>
            </p:cNvPr>
            <p:cNvSpPr txBox="1">
              <a:spLocks noChangeArrowheads="1"/>
            </p:cNvSpPr>
            <p:nvPr/>
          </p:nvSpPr>
          <p:spPr bwMode="auto">
            <a:xfrm>
              <a:off x="312" y="818"/>
              <a:ext cx="1062" cy="54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2499">
                  <a:ea typeface="宋体" panose="02010600030101010101" pitchFamily="2" charset="-122"/>
                </a:rPr>
                <a:t>实际物价水平</a:t>
              </a:r>
            </a:p>
          </p:txBody>
        </p:sp>
      </p:grpSp>
      <p:grpSp>
        <p:nvGrpSpPr>
          <p:cNvPr id="68625" name="Group 17">
            <a:extLst>
              <a:ext uri="{FF2B5EF4-FFF2-40B4-BE49-F238E27FC236}">
                <a16:creationId xmlns:a16="http://schemas.microsoft.com/office/drawing/2014/main" id="{3E9E52F6-1B9E-BEBE-ECAF-9761DE713074}"/>
              </a:ext>
            </a:extLst>
          </p:cNvPr>
          <p:cNvGrpSpPr>
            <a:grpSpLocks/>
          </p:cNvGrpSpPr>
          <p:nvPr/>
        </p:nvGrpSpPr>
        <p:grpSpPr bwMode="auto">
          <a:xfrm>
            <a:off x="7667772" y="2699422"/>
            <a:ext cx="2241079" cy="1043616"/>
            <a:chOff x="0" y="0"/>
            <a:chExt cx="1413" cy="658"/>
          </a:xfrm>
        </p:grpSpPr>
        <p:sp>
          <p:nvSpPr>
            <p:cNvPr id="68626" name="Line 16">
              <a:extLst>
                <a:ext uri="{FF2B5EF4-FFF2-40B4-BE49-F238E27FC236}">
                  <a16:creationId xmlns:a16="http://schemas.microsoft.com/office/drawing/2014/main" id="{AEECD96A-BF55-993C-77A1-1090B59C8754}"/>
                </a:ext>
              </a:extLst>
            </p:cNvPr>
            <p:cNvSpPr>
              <a:spLocks noChangeShapeType="1"/>
            </p:cNvSpPr>
            <p:nvPr/>
          </p:nvSpPr>
          <p:spPr bwMode="auto">
            <a:xfrm flipH="1" flipV="1">
              <a:off x="0" y="0"/>
              <a:ext cx="316" cy="3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68627" name="Text Box 11">
              <a:extLst>
                <a:ext uri="{FF2B5EF4-FFF2-40B4-BE49-F238E27FC236}">
                  <a16:creationId xmlns:a16="http://schemas.microsoft.com/office/drawing/2014/main" id="{1FE88E4B-4EF0-5E1A-F597-9746255CDDD9}"/>
                </a:ext>
              </a:extLst>
            </p:cNvPr>
            <p:cNvSpPr txBox="1">
              <a:spLocks noChangeArrowheads="1"/>
            </p:cNvSpPr>
            <p:nvPr/>
          </p:nvSpPr>
          <p:spPr bwMode="auto">
            <a:xfrm>
              <a:off x="302" y="115"/>
              <a:ext cx="1111" cy="54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2499">
                  <a:ea typeface="宋体" panose="02010600030101010101" pitchFamily="2" charset="-122"/>
                </a:rPr>
                <a:t>预期的物价水平</a:t>
              </a:r>
            </a:p>
          </p:txBody>
        </p:sp>
      </p:grpSp>
      <p:sp>
        <p:nvSpPr>
          <p:cNvPr id="68628" name="FlagCount" hidden="1">
            <a:hlinkClick r:id="rId3" action="ppaction://hlinkfile"/>
            <a:extLst>
              <a:ext uri="{FF2B5EF4-FFF2-40B4-BE49-F238E27FC236}">
                <a16:creationId xmlns:a16="http://schemas.microsoft.com/office/drawing/2014/main" id="{6F2A10F3-C82A-B42F-9CFC-530A3F1818D3}"/>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57140186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68613"/>
                                        </p:tgtEl>
                                        <p:attrNameLst>
                                          <p:attrName>style.visibility</p:attrName>
                                        </p:attrNameLst>
                                      </p:cBhvr>
                                      <p:to>
                                        <p:strVal val="visible"/>
                                      </p:to>
                                    </p:set>
                                    <p:animEffect transition="in" filter="strips(downLeft)">
                                      <p:cBhvr>
                                        <p:cTn id="12" dur="500"/>
                                        <p:tgtEl>
                                          <p:spTgt spid="686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68616"/>
                                        </p:tgtEl>
                                        <p:attrNameLst>
                                          <p:attrName>style.visibility</p:attrName>
                                        </p:attrNameLst>
                                      </p:cBhvr>
                                      <p:to>
                                        <p:strVal val="visible"/>
                                      </p:to>
                                    </p:set>
                                    <p:animEffect transition="in" filter="strips(downLeft)">
                                      <p:cBhvr>
                                        <p:cTn id="17" dur="500"/>
                                        <p:tgtEl>
                                          <p:spTgt spid="686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68622"/>
                                        </p:tgtEl>
                                        <p:attrNameLst>
                                          <p:attrName>style.visibility</p:attrName>
                                        </p:attrNameLst>
                                      </p:cBhvr>
                                      <p:to>
                                        <p:strVal val="visible"/>
                                      </p:to>
                                    </p:set>
                                    <p:animEffect transition="in" filter="strips(downRight)">
                                      <p:cBhvr>
                                        <p:cTn id="22" dur="500"/>
                                        <p:tgtEl>
                                          <p:spTgt spid="686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68625"/>
                                        </p:tgtEl>
                                        <p:attrNameLst>
                                          <p:attrName>style.visibility</p:attrName>
                                        </p:attrNameLst>
                                      </p:cBhvr>
                                      <p:to>
                                        <p:strVal val="visible"/>
                                      </p:to>
                                    </p:set>
                                    <p:animEffect transition="in" filter="strips(downRight)">
                                      <p:cBhvr>
                                        <p:cTn id="27" dur="500"/>
                                        <p:tgtEl>
                                          <p:spTgt spid="686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nodeType="clickEffect">
                                  <p:stCondLst>
                                    <p:cond delay="0"/>
                                  </p:stCondLst>
                                  <p:childTnLst>
                                    <p:set>
                                      <p:cBhvr>
                                        <p:cTn id="31" dur="1" fill="hold">
                                          <p:stCondLst>
                                            <p:cond delay="0"/>
                                          </p:stCondLst>
                                        </p:cTn>
                                        <p:tgtEl>
                                          <p:spTgt spid="68619"/>
                                        </p:tgtEl>
                                        <p:attrNameLst>
                                          <p:attrName>style.visibility</p:attrName>
                                        </p:attrNameLst>
                                      </p:cBhvr>
                                      <p:to>
                                        <p:strVal val="visible"/>
                                      </p:to>
                                    </p:set>
                                    <p:animEffect transition="in" filter="strips(downLeft)">
                                      <p:cBhvr>
                                        <p:cTn id="32" dur="500"/>
                                        <p:tgtEl>
                                          <p:spTgt spid="68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00916" y="1145898"/>
            <a:ext cx="8372725" cy="4980266"/>
          </a:xfrm>
        </p:spPr>
        <p:txBody>
          <a:bodyPr/>
          <a:lstStyle/>
          <a:p>
            <a:r>
              <a:rPr lang="zh-CN" altLang="en-US" i="1" u="sng" dirty="0">
                <a:highlight>
                  <a:srgbClr val="00FFFF"/>
                </a:highlight>
              </a:rPr>
              <a:t>短期总供给曲线的情形二：常规的总供给曲线</a:t>
            </a:r>
            <a:endParaRPr lang="en-US" altLang="zh-CN" i="1" u="sng" dirty="0">
              <a:highlight>
                <a:srgbClr val="00FFFF"/>
              </a:highlight>
            </a:endParaRPr>
          </a:p>
        </p:txBody>
      </p:sp>
      <p:sp>
        <p:nvSpPr>
          <p:cNvPr id="19" name="内容占位符 2">
            <a:extLst>
              <a:ext uri="{FF2B5EF4-FFF2-40B4-BE49-F238E27FC236}">
                <a16:creationId xmlns:a16="http://schemas.microsoft.com/office/drawing/2014/main" id="{DCBA3758-8388-447B-6490-96FA80911E1F}"/>
              </a:ext>
            </a:extLst>
          </p:cNvPr>
          <p:cNvSpPr txBox="1">
            <a:spLocks/>
          </p:cNvSpPr>
          <p:nvPr/>
        </p:nvSpPr>
        <p:spPr bwMode="auto">
          <a:xfrm>
            <a:off x="1918361" y="1962028"/>
            <a:ext cx="4677226" cy="2933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sz="2774" dirty="0"/>
              <a:t>在通常的或常规的情况下，经济的短期总供给曲线位于凯恩斯总供给曲线和古典总供给曲线这两个极端之间</a:t>
            </a:r>
            <a:endParaRPr lang="en-US" altLang="zh-CN" sz="2774" dirty="0"/>
          </a:p>
          <a:p>
            <a:endParaRPr lang="en-US" altLang="zh-CN" sz="2774" b="1" i="1" u="sng" dirty="0">
              <a:highlight>
                <a:srgbClr val="00FFFF"/>
              </a:highlight>
            </a:endParaRP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21</a:t>
            </a:fld>
            <a:endParaRPr lang="zh-CN" altLang="en-US"/>
          </a:p>
        </p:txBody>
      </p:sp>
      <p:sp>
        <p:nvSpPr>
          <p:cNvPr id="7" name="Rectangle 6">
            <a:extLst>
              <a:ext uri="{FF2B5EF4-FFF2-40B4-BE49-F238E27FC236}">
                <a16:creationId xmlns:a16="http://schemas.microsoft.com/office/drawing/2014/main" id="{F15FF945-1144-1DE2-D8FE-22E9F12B754C}"/>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21</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71EA6C77-5DEA-0858-A66D-108EBFEDDD81}"/>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0E4AC004-EFAF-9B8F-A302-5770B25BCE12}"/>
              </a:ext>
            </a:extLst>
          </p:cNvPr>
          <p:cNvSpPr>
            <a:spLocks noGrp="1"/>
          </p:cNvSpPr>
          <p:nvPr>
            <p:ph type="title"/>
          </p:nvPr>
        </p:nvSpPr>
        <p:spPr/>
        <p:txBody>
          <a:bodyPr/>
          <a:lstStyle/>
          <a:p>
            <a:r>
              <a:rPr kumimoji="1" lang="zh-CN" altLang="en-US" dirty="0">
                <a:latin typeface="SimSun" panose="02010600030101010101" pitchFamily="2" charset="-122"/>
                <a:ea typeface="SimSun" panose="02010600030101010101" pitchFamily="2" charset="-122"/>
              </a:rPr>
              <a:t>常规总供给曲线的形状</a:t>
            </a:r>
          </a:p>
        </p:txBody>
      </p:sp>
      <p:grpSp>
        <p:nvGrpSpPr>
          <p:cNvPr id="2" name="Group 6">
            <a:extLst>
              <a:ext uri="{FF2B5EF4-FFF2-40B4-BE49-F238E27FC236}">
                <a16:creationId xmlns:a16="http://schemas.microsoft.com/office/drawing/2014/main" id="{7F0590B0-1164-9F20-F66B-16BEB0320638}"/>
              </a:ext>
            </a:extLst>
          </p:cNvPr>
          <p:cNvGrpSpPr>
            <a:grpSpLocks/>
          </p:cNvGrpSpPr>
          <p:nvPr/>
        </p:nvGrpSpPr>
        <p:grpSpPr bwMode="auto">
          <a:xfrm>
            <a:off x="6666780" y="1620186"/>
            <a:ext cx="3606861" cy="3897003"/>
            <a:chOff x="0" y="0"/>
            <a:chExt cx="2786" cy="2462"/>
          </a:xfrm>
        </p:grpSpPr>
        <p:grpSp>
          <p:nvGrpSpPr>
            <p:cNvPr id="4" name="Group 7">
              <a:extLst>
                <a:ext uri="{FF2B5EF4-FFF2-40B4-BE49-F238E27FC236}">
                  <a16:creationId xmlns:a16="http://schemas.microsoft.com/office/drawing/2014/main" id="{C493DAC3-94FE-72B9-4EE7-5C825952B0D9}"/>
                </a:ext>
              </a:extLst>
            </p:cNvPr>
            <p:cNvGrpSpPr>
              <a:grpSpLocks/>
            </p:cNvGrpSpPr>
            <p:nvPr/>
          </p:nvGrpSpPr>
          <p:grpSpPr bwMode="auto">
            <a:xfrm>
              <a:off x="118" y="252"/>
              <a:ext cx="2409" cy="2049"/>
              <a:chOff x="0" y="0"/>
              <a:chExt cx="2116" cy="2027"/>
            </a:xfrm>
          </p:grpSpPr>
          <p:sp>
            <p:nvSpPr>
              <p:cNvPr id="11" name="Line 5">
                <a:extLst>
                  <a:ext uri="{FF2B5EF4-FFF2-40B4-BE49-F238E27FC236}">
                    <a16:creationId xmlns:a16="http://schemas.microsoft.com/office/drawing/2014/main" id="{D25A898C-C7EF-E447-25C2-44F70967B4D9}"/>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12" name="Line 6">
                <a:extLst>
                  <a:ext uri="{FF2B5EF4-FFF2-40B4-BE49-F238E27FC236}">
                    <a16:creationId xmlns:a16="http://schemas.microsoft.com/office/drawing/2014/main" id="{5D1B549F-FFB4-D027-F0EA-F4FB7A98A579}"/>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5" name="Text Box 7">
              <a:extLst>
                <a:ext uri="{FF2B5EF4-FFF2-40B4-BE49-F238E27FC236}">
                  <a16:creationId xmlns:a16="http://schemas.microsoft.com/office/drawing/2014/main" id="{0BD1A178-91CA-34FB-3ECD-701743D0B775}"/>
                </a:ext>
              </a:extLst>
            </p:cNvPr>
            <p:cNvSpPr txBox="1">
              <a:spLocks noChangeArrowheads="1"/>
            </p:cNvSpPr>
            <p:nvPr/>
          </p:nvSpPr>
          <p:spPr bwMode="auto">
            <a:xfrm>
              <a:off x="0" y="0"/>
              <a:ext cx="26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p>
          </p:txBody>
        </p:sp>
        <p:sp>
          <p:nvSpPr>
            <p:cNvPr id="10" name="Text Box 8">
              <a:extLst>
                <a:ext uri="{FF2B5EF4-FFF2-40B4-BE49-F238E27FC236}">
                  <a16:creationId xmlns:a16="http://schemas.microsoft.com/office/drawing/2014/main" id="{59FC66FB-35FE-3992-3960-5870B090DD68}"/>
                </a:ext>
              </a:extLst>
            </p:cNvPr>
            <p:cNvSpPr txBox="1">
              <a:spLocks noChangeArrowheads="1"/>
            </p:cNvSpPr>
            <p:nvPr/>
          </p:nvSpPr>
          <p:spPr bwMode="auto">
            <a:xfrm>
              <a:off x="2496" y="2151"/>
              <a:ext cx="29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Y</a:t>
              </a:r>
            </a:p>
          </p:txBody>
        </p:sp>
      </p:grpSp>
      <p:sp>
        <p:nvSpPr>
          <p:cNvPr id="13" name="Line 10">
            <a:extLst>
              <a:ext uri="{FF2B5EF4-FFF2-40B4-BE49-F238E27FC236}">
                <a16:creationId xmlns:a16="http://schemas.microsoft.com/office/drawing/2014/main" id="{C5331B75-7411-E154-B35D-FE4D1AB2F90F}"/>
              </a:ext>
            </a:extLst>
          </p:cNvPr>
          <p:cNvSpPr>
            <a:spLocks noChangeShapeType="1"/>
          </p:cNvSpPr>
          <p:nvPr/>
        </p:nvSpPr>
        <p:spPr bwMode="auto">
          <a:xfrm flipV="1">
            <a:off x="6913525" y="2646403"/>
            <a:ext cx="2374306" cy="219508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14" name="Text Box 11">
            <a:extLst>
              <a:ext uri="{FF2B5EF4-FFF2-40B4-BE49-F238E27FC236}">
                <a16:creationId xmlns:a16="http://schemas.microsoft.com/office/drawing/2014/main" id="{57066386-1376-CA44-D7D5-19BA945F7F8B}"/>
              </a:ext>
            </a:extLst>
          </p:cNvPr>
          <p:cNvSpPr txBox="1">
            <a:spLocks noChangeArrowheads="1"/>
          </p:cNvSpPr>
          <p:nvPr/>
        </p:nvSpPr>
        <p:spPr bwMode="auto">
          <a:xfrm>
            <a:off x="9113366" y="2275270"/>
            <a:ext cx="1495639" cy="492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ea typeface="宋体" panose="02010600030101010101" pitchFamily="2" charset="-122"/>
              </a:rPr>
              <a:t>SRAS</a:t>
            </a:r>
            <a:endParaRPr lang="en-US" altLang="zh-CN" sz="2598" i="1" baseline="-25000" dirty="0">
              <a:ea typeface="宋体" panose="02010600030101010101" pitchFamily="2" charset="-122"/>
            </a:endParaRPr>
          </a:p>
        </p:txBody>
      </p:sp>
      <p:sp>
        <p:nvSpPr>
          <p:cNvPr id="15" name="文本框 14">
            <a:extLst>
              <a:ext uri="{FF2B5EF4-FFF2-40B4-BE49-F238E27FC236}">
                <a16:creationId xmlns:a16="http://schemas.microsoft.com/office/drawing/2014/main" id="{49F4A2AB-2E3D-AAED-FA83-8B8F7DA19285}"/>
              </a:ext>
            </a:extLst>
          </p:cNvPr>
          <p:cNvSpPr txBox="1"/>
          <p:nvPr/>
        </p:nvSpPr>
        <p:spPr>
          <a:xfrm>
            <a:off x="1900916" y="5680010"/>
            <a:ext cx="6160195" cy="702372"/>
          </a:xfrm>
          <a:prstGeom prst="rect">
            <a:avLst/>
          </a:prstGeom>
          <a:noFill/>
        </p:spPr>
        <p:txBody>
          <a:bodyPr wrap="square">
            <a:spAutoFit/>
          </a:bodyPr>
          <a:lstStyle/>
          <a:p>
            <a:r>
              <a:rPr lang="en-US" altLang="zh-CN" sz="1982" i="1" dirty="0">
                <a:ea typeface="宋体" panose="02010600030101010101" pitchFamily="2" charset="-122"/>
              </a:rPr>
              <a:t>LRAS:</a:t>
            </a:r>
            <a:r>
              <a:rPr lang="zh-CN" altLang="en-US" sz="1982" i="1" dirty="0">
                <a:ea typeface="宋体" panose="02010600030101010101" pitchFamily="2" charset="-122"/>
              </a:rPr>
              <a:t> </a:t>
            </a:r>
            <a:r>
              <a:rPr lang="zh-CN" altLang="zh-CN" sz="1982" dirty="0"/>
              <a:t>Long-Run Aggregate Supply</a:t>
            </a:r>
            <a:endParaRPr lang="en-US" altLang="zh-CN" sz="1982" dirty="0"/>
          </a:p>
          <a:p>
            <a:r>
              <a:rPr lang="en-US" altLang="zh-CN" sz="1982" i="1" dirty="0">
                <a:ea typeface="宋体" panose="02010600030101010101" pitchFamily="2" charset="-122"/>
              </a:rPr>
              <a:t>SRAS:</a:t>
            </a:r>
            <a:r>
              <a:rPr lang="zh-CN" altLang="en-US" sz="1982" i="1" dirty="0">
                <a:ea typeface="宋体" panose="02010600030101010101" pitchFamily="2" charset="-122"/>
              </a:rPr>
              <a:t> </a:t>
            </a:r>
            <a:r>
              <a:rPr lang="en-US" altLang="zh-CN" sz="1982" dirty="0"/>
              <a:t>Short</a:t>
            </a:r>
            <a:r>
              <a:rPr lang="zh-CN" altLang="zh-CN" sz="1982" dirty="0"/>
              <a:t>-Run Aggregate Supply</a:t>
            </a:r>
            <a:endParaRPr lang="zh-CN" altLang="en-US" sz="1982" dirty="0"/>
          </a:p>
        </p:txBody>
      </p:sp>
    </p:spTree>
    <p:extLst>
      <p:ext uri="{BB962C8B-B14F-4D97-AF65-F5344CB8AC3E}">
        <p14:creationId xmlns:p14="http://schemas.microsoft.com/office/powerpoint/2010/main" val="4240073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51AA593-2CC5-45CE-3898-299C63E6A74E}"/>
            </a:ext>
          </a:extLst>
        </p:cNvPr>
        <p:cNvGrpSpPr/>
        <p:nvPr/>
      </p:nvGrpSpPr>
      <p:grpSpPr>
        <a:xfrm>
          <a:off x="0" y="0"/>
          <a:ext cx="0" cy="0"/>
          <a:chOff x="0" y="0"/>
          <a:chExt cx="0" cy="0"/>
        </a:xfrm>
      </p:grpSpPr>
      <p:sp>
        <p:nvSpPr>
          <p:cNvPr id="2" name="页脚占位符 1">
            <a:extLst>
              <a:ext uri="{FF2B5EF4-FFF2-40B4-BE49-F238E27FC236}">
                <a16:creationId xmlns:a16="http://schemas.microsoft.com/office/drawing/2014/main" id="{D017917D-DE6A-62E4-0F72-07DAA52FCF37}"/>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8411B5D1-E0B0-6920-0AE4-202C5E02122E}"/>
              </a:ext>
            </a:extLst>
          </p:cNvPr>
          <p:cNvSpPr>
            <a:spLocks noGrp="1"/>
          </p:cNvSpPr>
          <p:nvPr>
            <p:ph type="sldNum" sz="quarter" idx="11"/>
          </p:nvPr>
        </p:nvSpPr>
        <p:spPr>
          <a:xfrm>
            <a:off x="9806064" y="6442885"/>
            <a:ext cx="683585" cy="368300"/>
          </a:xfrm>
        </p:spPr>
        <p:txBody>
          <a:bodyPr/>
          <a:lstStyle/>
          <a:p>
            <a:fld id="{1897E1C9-4B40-3649-9967-610D6883B228}" type="slidenum">
              <a:rPr lang="zh-CN" altLang="zh-CN"/>
              <a:pPr/>
              <a:t>22</a:t>
            </a:fld>
            <a:endParaRPr lang="zh-CN" altLang="zh-CN" dirty="0"/>
          </a:p>
        </p:txBody>
      </p:sp>
      <p:sp>
        <p:nvSpPr>
          <p:cNvPr id="70658" name="Rectangle 2">
            <a:extLst>
              <a:ext uri="{FF2B5EF4-FFF2-40B4-BE49-F238E27FC236}">
                <a16:creationId xmlns:a16="http://schemas.microsoft.com/office/drawing/2014/main" id="{2AA7F150-06BE-CBB7-C07E-C764C650A235}"/>
              </a:ext>
            </a:extLst>
          </p:cNvPr>
          <p:cNvSpPr>
            <a:spLocks noGrp="1" noChangeArrowheads="1"/>
          </p:cNvSpPr>
          <p:nvPr>
            <p:ph type="title" idx="4294967295"/>
          </p:nvPr>
        </p:nvSpPr>
        <p:spPr>
          <a:xfrm>
            <a:off x="1486958" y="9061"/>
            <a:ext cx="9135611" cy="648692"/>
          </a:xfrm>
        </p:spPr>
        <p:txBody>
          <a:bodyPr/>
          <a:lstStyle/>
          <a:p>
            <a:r>
              <a:rPr lang="zh-CN" altLang="en-US" sz="3597" dirty="0">
                <a:ea typeface="宋体" panose="02010600030101010101" pitchFamily="2" charset="-122"/>
              </a:rPr>
              <a:t>常规总供给曲线</a:t>
            </a:r>
          </a:p>
        </p:txBody>
      </p:sp>
      <p:grpSp>
        <p:nvGrpSpPr>
          <p:cNvPr id="70659" name="Group 3">
            <a:extLst>
              <a:ext uri="{FF2B5EF4-FFF2-40B4-BE49-F238E27FC236}">
                <a16:creationId xmlns:a16="http://schemas.microsoft.com/office/drawing/2014/main" id="{03A65F1A-11D0-3F5C-D783-CF955AA59BC5}"/>
              </a:ext>
            </a:extLst>
          </p:cNvPr>
          <p:cNvGrpSpPr>
            <a:grpSpLocks/>
          </p:cNvGrpSpPr>
          <p:nvPr/>
        </p:nvGrpSpPr>
        <p:grpSpPr bwMode="auto">
          <a:xfrm>
            <a:off x="5631291" y="1856383"/>
            <a:ext cx="4418718" cy="4108181"/>
            <a:chOff x="0" y="0"/>
            <a:chExt cx="2786" cy="2423"/>
          </a:xfrm>
        </p:grpSpPr>
        <p:grpSp>
          <p:nvGrpSpPr>
            <p:cNvPr id="70660" name="Group 4">
              <a:extLst>
                <a:ext uri="{FF2B5EF4-FFF2-40B4-BE49-F238E27FC236}">
                  <a16:creationId xmlns:a16="http://schemas.microsoft.com/office/drawing/2014/main" id="{861B1253-7C5F-A75D-F329-690165CE1912}"/>
                </a:ext>
              </a:extLst>
            </p:cNvPr>
            <p:cNvGrpSpPr>
              <a:grpSpLocks/>
            </p:cNvGrpSpPr>
            <p:nvPr/>
          </p:nvGrpSpPr>
          <p:grpSpPr bwMode="auto">
            <a:xfrm>
              <a:off x="118" y="252"/>
              <a:ext cx="2409" cy="2049"/>
              <a:chOff x="0" y="0"/>
              <a:chExt cx="2116" cy="2027"/>
            </a:xfrm>
          </p:grpSpPr>
          <p:sp>
            <p:nvSpPr>
              <p:cNvPr id="70661" name="Line 6">
                <a:extLst>
                  <a:ext uri="{FF2B5EF4-FFF2-40B4-BE49-F238E27FC236}">
                    <a16:creationId xmlns:a16="http://schemas.microsoft.com/office/drawing/2014/main" id="{5AEBC483-07A7-14FC-B154-069EBC5A1B5A}"/>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0662" name="Line 7">
                <a:extLst>
                  <a:ext uri="{FF2B5EF4-FFF2-40B4-BE49-F238E27FC236}">
                    <a16:creationId xmlns:a16="http://schemas.microsoft.com/office/drawing/2014/main" id="{B1495992-D69A-3A08-7F43-79DE77ACF560}"/>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70663" name="Text Box 8">
              <a:extLst>
                <a:ext uri="{FF2B5EF4-FFF2-40B4-BE49-F238E27FC236}">
                  <a16:creationId xmlns:a16="http://schemas.microsoft.com/office/drawing/2014/main" id="{0762D21B-4EAD-9A7D-4087-4A8EFEF9A0EA}"/>
                </a:ext>
              </a:extLst>
            </p:cNvPr>
            <p:cNvSpPr txBox="1">
              <a:spLocks noChangeArrowheads="1"/>
            </p:cNvSpPr>
            <p:nvPr/>
          </p:nvSpPr>
          <p:spPr bwMode="auto">
            <a:xfrm>
              <a:off x="0" y="0"/>
              <a:ext cx="2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p>
          </p:txBody>
        </p:sp>
        <p:sp>
          <p:nvSpPr>
            <p:cNvPr id="70664" name="Text Box 9">
              <a:extLst>
                <a:ext uri="{FF2B5EF4-FFF2-40B4-BE49-F238E27FC236}">
                  <a16:creationId xmlns:a16="http://schemas.microsoft.com/office/drawing/2014/main" id="{B17A8BF1-C30F-B728-A6F2-FF4C23D370D7}"/>
                </a:ext>
              </a:extLst>
            </p:cNvPr>
            <p:cNvSpPr txBox="1">
              <a:spLocks noChangeArrowheads="1"/>
            </p:cNvSpPr>
            <p:nvPr/>
          </p:nvSpPr>
          <p:spPr bwMode="auto">
            <a:xfrm>
              <a:off x="2496" y="2151"/>
              <a:ext cx="2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p>
          </p:txBody>
        </p:sp>
      </p:grpSp>
      <p:grpSp>
        <p:nvGrpSpPr>
          <p:cNvPr id="70665" name="Group 9">
            <a:extLst>
              <a:ext uri="{FF2B5EF4-FFF2-40B4-BE49-F238E27FC236}">
                <a16:creationId xmlns:a16="http://schemas.microsoft.com/office/drawing/2014/main" id="{9E545656-A6FE-0B2F-3A80-DACF38F1AE32}"/>
              </a:ext>
            </a:extLst>
          </p:cNvPr>
          <p:cNvGrpSpPr>
            <a:grpSpLocks/>
          </p:cNvGrpSpPr>
          <p:nvPr/>
        </p:nvGrpSpPr>
        <p:grpSpPr bwMode="auto">
          <a:xfrm>
            <a:off x="6405280" y="2635131"/>
            <a:ext cx="3543220" cy="2566219"/>
            <a:chOff x="0" y="0"/>
            <a:chExt cx="2234" cy="1618"/>
          </a:xfrm>
        </p:grpSpPr>
        <p:sp>
          <p:nvSpPr>
            <p:cNvPr id="70666" name="Line 11">
              <a:extLst>
                <a:ext uri="{FF2B5EF4-FFF2-40B4-BE49-F238E27FC236}">
                  <a16:creationId xmlns:a16="http://schemas.microsoft.com/office/drawing/2014/main" id="{11CF1292-28FC-E570-6F3B-72EBDFC15CFE}"/>
                </a:ext>
              </a:extLst>
            </p:cNvPr>
            <p:cNvSpPr>
              <a:spLocks noChangeShapeType="1"/>
            </p:cNvSpPr>
            <p:nvPr/>
          </p:nvSpPr>
          <p:spPr bwMode="auto">
            <a:xfrm flipV="1">
              <a:off x="0" y="234"/>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0667" name="Text Box 12">
              <a:extLst>
                <a:ext uri="{FF2B5EF4-FFF2-40B4-BE49-F238E27FC236}">
                  <a16:creationId xmlns:a16="http://schemas.microsoft.com/office/drawing/2014/main" id="{2163652C-855D-1A11-E4FD-915F43F3F80F}"/>
                </a:ext>
              </a:extLst>
            </p:cNvPr>
            <p:cNvSpPr txBox="1">
              <a:spLocks noChangeArrowheads="1"/>
            </p:cNvSpPr>
            <p:nvPr/>
          </p:nvSpPr>
          <p:spPr bwMode="auto">
            <a:xfrm>
              <a:off x="1387" y="0"/>
              <a:ext cx="8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endParaRPr lang="en-US" altLang="zh-CN" sz="2398" i="1" baseline="-25000" dirty="0">
                <a:ea typeface="宋体" panose="02010600030101010101" pitchFamily="2" charset="-122"/>
              </a:endParaRPr>
            </a:p>
          </p:txBody>
        </p:sp>
      </p:grpSp>
      <p:grpSp>
        <p:nvGrpSpPr>
          <p:cNvPr id="70668" name="Group 12">
            <a:extLst>
              <a:ext uri="{FF2B5EF4-FFF2-40B4-BE49-F238E27FC236}">
                <a16:creationId xmlns:a16="http://schemas.microsoft.com/office/drawing/2014/main" id="{BF558C85-AB55-D673-53BF-F617E5E60801}"/>
              </a:ext>
            </a:extLst>
          </p:cNvPr>
          <p:cNvGrpSpPr>
            <a:grpSpLocks/>
          </p:cNvGrpSpPr>
          <p:nvPr/>
        </p:nvGrpSpPr>
        <p:grpSpPr bwMode="auto">
          <a:xfrm>
            <a:off x="7528199" y="2316337"/>
            <a:ext cx="488501" cy="3849328"/>
            <a:chOff x="0" y="0"/>
            <a:chExt cx="308" cy="2427"/>
          </a:xfrm>
        </p:grpSpPr>
        <p:sp>
          <p:nvSpPr>
            <p:cNvPr id="70669" name="Line 14">
              <a:extLst>
                <a:ext uri="{FF2B5EF4-FFF2-40B4-BE49-F238E27FC236}">
                  <a16:creationId xmlns:a16="http://schemas.microsoft.com/office/drawing/2014/main" id="{9F9B66DF-4D8C-7216-8341-EEECC97294EE}"/>
                </a:ext>
              </a:extLst>
            </p:cNvPr>
            <p:cNvSpPr>
              <a:spLocks noChangeShapeType="1"/>
            </p:cNvSpPr>
            <p:nvPr/>
          </p:nvSpPr>
          <p:spPr bwMode="auto">
            <a:xfrm rot="16200000" flipH="1">
              <a:off x="-955" y="1082"/>
              <a:ext cx="2167" cy="3"/>
            </a:xfrm>
            <a:prstGeom prst="line">
              <a:avLst/>
            </a:prstGeom>
            <a:noFill/>
            <a:ln w="19050">
              <a:solidFill>
                <a:srgbClr val="DE84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0670" name="Text Box 18">
              <a:extLst>
                <a:ext uri="{FF2B5EF4-FFF2-40B4-BE49-F238E27FC236}">
                  <a16:creationId xmlns:a16="http://schemas.microsoft.com/office/drawing/2014/main" id="{4287B03E-93CC-FAEF-B8E2-A77A4F991D4F}"/>
                </a:ext>
              </a:extLst>
            </p:cNvPr>
            <p:cNvSpPr txBox="1">
              <a:spLocks noChangeArrowheads="1"/>
            </p:cNvSpPr>
            <p:nvPr/>
          </p:nvSpPr>
          <p:spPr bwMode="auto">
            <a:xfrm>
              <a:off x="0" y="2194"/>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grpSp>
        <p:nvGrpSpPr>
          <p:cNvPr id="70671" name="Group 15">
            <a:extLst>
              <a:ext uri="{FF2B5EF4-FFF2-40B4-BE49-F238E27FC236}">
                <a16:creationId xmlns:a16="http://schemas.microsoft.com/office/drawing/2014/main" id="{88F30ED6-E3F4-279F-6B09-719F81B6DE8C}"/>
              </a:ext>
            </a:extLst>
          </p:cNvPr>
          <p:cNvGrpSpPr>
            <a:grpSpLocks/>
          </p:cNvGrpSpPr>
          <p:nvPr/>
        </p:nvGrpSpPr>
        <p:grpSpPr bwMode="auto">
          <a:xfrm>
            <a:off x="3130098" y="2346471"/>
            <a:ext cx="2558288" cy="1487709"/>
            <a:chOff x="0" y="0"/>
            <a:chExt cx="1613" cy="938"/>
          </a:xfrm>
        </p:grpSpPr>
        <p:sp>
          <p:nvSpPr>
            <p:cNvPr id="70672" name="AutoShape 22">
              <a:extLst>
                <a:ext uri="{FF2B5EF4-FFF2-40B4-BE49-F238E27FC236}">
                  <a16:creationId xmlns:a16="http://schemas.microsoft.com/office/drawing/2014/main" id="{503BEA7C-5B94-FA64-7065-B703772FFBC5}"/>
                </a:ext>
              </a:extLst>
            </p:cNvPr>
            <p:cNvSpPr>
              <a:spLocks/>
            </p:cNvSpPr>
            <p:nvPr/>
          </p:nvSpPr>
          <p:spPr bwMode="auto">
            <a:xfrm>
              <a:off x="1398" y="0"/>
              <a:ext cx="215" cy="938"/>
            </a:xfrm>
            <a:prstGeom prst="leftBrace">
              <a:avLst>
                <a:gd name="adj1" fmla="val 42335"/>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70673" name="Rectangle 23">
              <a:extLst>
                <a:ext uri="{FF2B5EF4-FFF2-40B4-BE49-F238E27FC236}">
                  <a16:creationId xmlns:a16="http://schemas.microsoft.com/office/drawing/2014/main" id="{82F2E56F-C6E0-7A07-83E7-9CF40525CA4F}"/>
                </a:ext>
              </a:extLst>
            </p:cNvPr>
            <p:cNvSpPr>
              <a:spLocks noChangeArrowheads="1"/>
            </p:cNvSpPr>
            <p:nvPr/>
          </p:nvSpPr>
          <p:spPr bwMode="auto">
            <a:xfrm>
              <a:off x="0" y="272"/>
              <a:ext cx="1390" cy="35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2499" b="1" i="1">
                  <a:ea typeface="宋体" panose="02010600030101010101" pitchFamily="2" charset="-122"/>
                </a:rPr>
                <a:t>P</a:t>
              </a:r>
              <a:r>
                <a:rPr lang="en-US" altLang="zh-CN" sz="2499">
                  <a:ea typeface="宋体" panose="02010600030101010101" pitchFamily="2" charset="-122"/>
                </a:rPr>
                <a:t> &gt; </a:t>
              </a:r>
              <a:r>
                <a:rPr lang="en-US" altLang="zh-CN" sz="2398" b="1" i="1">
                  <a:ea typeface="宋体" panose="02010600030101010101" pitchFamily="2" charset="-122"/>
                </a:rPr>
                <a:t>P</a:t>
              </a:r>
              <a:r>
                <a:rPr lang="en-US" altLang="zh-CN" sz="2398" b="1" baseline="-25000">
                  <a:ea typeface="宋体" panose="02010600030101010101" pitchFamily="2" charset="-122"/>
                </a:rPr>
                <a:t>E</a:t>
              </a:r>
              <a:r>
                <a:rPr lang="zh-CN" altLang="zh-CN" sz="2398" b="1" baseline="-25000">
                  <a:ea typeface="宋体" panose="02010600030101010101" pitchFamily="2" charset="-122"/>
                </a:rPr>
                <a:t>   </a:t>
              </a:r>
              <a:endParaRPr lang="en-US" altLang="zh-CN" sz="2398" b="1" baseline="-25000">
                <a:ea typeface="宋体" panose="02010600030101010101" pitchFamily="2" charset="-122"/>
              </a:endParaRPr>
            </a:p>
          </p:txBody>
        </p:sp>
      </p:grpSp>
      <p:grpSp>
        <p:nvGrpSpPr>
          <p:cNvPr id="70674" name="Group 18">
            <a:extLst>
              <a:ext uri="{FF2B5EF4-FFF2-40B4-BE49-F238E27FC236}">
                <a16:creationId xmlns:a16="http://schemas.microsoft.com/office/drawing/2014/main" id="{53F90002-D96B-737F-1EE6-61AA4F336ACF}"/>
              </a:ext>
            </a:extLst>
          </p:cNvPr>
          <p:cNvGrpSpPr>
            <a:grpSpLocks/>
          </p:cNvGrpSpPr>
          <p:nvPr/>
        </p:nvGrpSpPr>
        <p:grpSpPr bwMode="auto">
          <a:xfrm>
            <a:off x="7873958" y="5865902"/>
            <a:ext cx="1763680" cy="948454"/>
            <a:chOff x="-4" y="0"/>
            <a:chExt cx="1112" cy="598"/>
          </a:xfrm>
        </p:grpSpPr>
        <p:sp>
          <p:nvSpPr>
            <p:cNvPr id="70675" name="Rectangle 26">
              <a:extLst>
                <a:ext uri="{FF2B5EF4-FFF2-40B4-BE49-F238E27FC236}">
                  <a16:creationId xmlns:a16="http://schemas.microsoft.com/office/drawing/2014/main" id="{5CB2C70A-1B0A-6F98-DB87-C7E85BA78065}"/>
                </a:ext>
              </a:extLst>
            </p:cNvPr>
            <p:cNvSpPr>
              <a:spLocks noChangeArrowheads="1"/>
            </p:cNvSpPr>
            <p:nvPr/>
          </p:nvSpPr>
          <p:spPr bwMode="auto">
            <a:xfrm>
              <a:off x="210" y="265"/>
              <a:ext cx="828" cy="33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2499" b="1" i="1" dirty="0">
                  <a:ea typeface="宋体" panose="02010600030101010101" pitchFamily="2" charset="-122"/>
                </a:rPr>
                <a:t>Y</a:t>
              </a:r>
              <a:r>
                <a:rPr lang="en-US" altLang="zh-CN" sz="2499" dirty="0">
                  <a:ea typeface="宋体" panose="02010600030101010101" pitchFamily="2" charset="-122"/>
                </a:rPr>
                <a:t> &gt; </a:t>
              </a:r>
              <a:r>
                <a:rPr lang="en-US" altLang="zh-CN" sz="2398" b="1" i="1" dirty="0">
                  <a:ea typeface="宋体" panose="02010600030101010101" pitchFamily="2" charset="-122"/>
                </a:rPr>
                <a:t>Y</a:t>
              </a:r>
              <a:r>
                <a:rPr lang="en-US" altLang="zh-CN" sz="2398" b="1" baseline="-25000" dirty="0">
                  <a:ea typeface="宋体" panose="02010600030101010101" pitchFamily="2" charset="-122"/>
                </a:rPr>
                <a:t>N</a:t>
              </a:r>
            </a:p>
          </p:txBody>
        </p:sp>
        <p:sp>
          <p:nvSpPr>
            <p:cNvPr id="70676" name="AutoShape 27">
              <a:extLst>
                <a:ext uri="{FF2B5EF4-FFF2-40B4-BE49-F238E27FC236}">
                  <a16:creationId xmlns:a16="http://schemas.microsoft.com/office/drawing/2014/main" id="{48D029B3-B119-1EF0-1DF4-205B23273697}"/>
                </a:ext>
              </a:extLst>
            </p:cNvPr>
            <p:cNvSpPr>
              <a:spLocks/>
            </p:cNvSpPr>
            <p:nvPr/>
          </p:nvSpPr>
          <p:spPr bwMode="auto">
            <a:xfrm rot="16200000">
              <a:off x="444" y="-448"/>
              <a:ext cx="215" cy="1112"/>
            </a:xfrm>
            <a:prstGeom prst="leftBrace">
              <a:avLst>
                <a:gd name="adj1" fmla="val 50188"/>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grpSp>
        <p:nvGrpSpPr>
          <p:cNvPr id="70677" name="Group 21">
            <a:extLst>
              <a:ext uri="{FF2B5EF4-FFF2-40B4-BE49-F238E27FC236}">
                <a16:creationId xmlns:a16="http://schemas.microsoft.com/office/drawing/2014/main" id="{8A858692-4B7C-D22E-993B-D5F5AA4E698C}"/>
              </a:ext>
            </a:extLst>
          </p:cNvPr>
          <p:cNvGrpSpPr>
            <a:grpSpLocks/>
          </p:cNvGrpSpPr>
          <p:nvPr/>
        </p:nvGrpSpPr>
        <p:grpSpPr bwMode="auto">
          <a:xfrm>
            <a:off x="3066658" y="4195798"/>
            <a:ext cx="2558288" cy="1487709"/>
            <a:chOff x="0" y="0"/>
            <a:chExt cx="1613" cy="938"/>
          </a:xfrm>
        </p:grpSpPr>
        <p:sp>
          <p:nvSpPr>
            <p:cNvPr id="70678" name="AutoShape 28">
              <a:extLst>
                <a:ext uri="{FF2B5EF4-FFF2-40B4-BE49-F238E27FC236}">
                  <a16:creationId xmlns:a16="http://schemas.microsoft.com/office/drawing/2014/main" id="{02495851-5C6B-8E45-02A1-302CB0D31C7A}"/>
                </a:ext>
              </a:extLst>
            </p:cNvPr>
            <p:cNvSpPr>
              <a:spLocks/>
            </p:cNvSpPr>
            <p:nvPr/>
          </p:nvSpPr>
          <p:spPr bwMode="auto">
            <a:xfrm>
              <a:off x="1398" y="0"/>
              <a:ext cx="215" cy="938"/>
            </a:xfrm>
            <a:prstGeom prst="leftBrace">
              <a:avLst>
                <a:gd name="adj1" fmla="val 42335"/>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70679" name="Rectangle 29">
              <a:extLst>
                <a:ext uri="{FF2B5EF4-FFF2-40B4-BE49-F238E27FC236}">
                  <a16:creationId xmlns:a16="http://schemas.microsoft.com/office/drawing/2014/main" id="{C2BBA57B-819F-E482-7EE0-CF553CB42696}"/>
                </a:ext>
              </a:extLst>
            </p:cNvPr>
            <p:cNvSpPr>
              <a:spLocks noChangeArrowheads="1"/>
            </p:cNvSpPr>
            <p:nvPr/>
          </p:nvSpPr>
          <p:spPr bwMode="auto">
            <a:xfrm>
              <a:off x="0" y="285"/>
              <a:ext cx="1376" cy="35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2499" b="1" i="1">
                  <a:ea typeface="宋体" panose="02010600030101010101" pitchFamily="2" charset="-122"/>
                </a:rPr>
                <a:t>P</a:t>
              </a:r>
              <a:r>
                <a:rPr lang="en-US" altLang="zh-CN" sz="2499">
                  <a:ea typeface="宋体" panose="02010600030101010101" pitchFamily="2" charset="-122"/>
                </a:rPr>
                <a:t> &lt; </a:t>
              </a:r>
              <a:r>
                <a:rPr lang="en-US" altLang="zh-CN" sz="2398" b="1" i="1">
                  <a:ea typeface="宋体" panose="02010600030101010101" pitchFamily="2" charset="-122"/>
                </a:rPr>
                <a:t>P</a:t>
              </a:r>
              <a:r>
                <a:rPr lang="en-US" altLang="zh-CN" sz="2398" b="1" baseline="-25000">
                  <a:ea typeface="宋体" panose="02010600030101010101" pitchFamily="2" charset="-122"/>
                </a:rPr>
                <a:t>E</a:t>
              </a:r>
            </a:p>
          </p:txBody>
        </p:sp>
      </p:grpSp>
      <p:grpSp>
        <p:nvGrpSpPr>
          <p:cNvPr id="70680" name="Group 24">
            <a:extLst>
              <a:ext uri="{FF2B5EF4-FFF2-40B4-BE49-F238E27FC236}">
                <a16:creationId xmlns:a16="http://schemas.microsoft.com/office/drawing/2014/main" id="{29724D0A-2C0B-6C86-5798-3F52A745DA52}"/>
              </a:ext>
            </a:extLst>
          </p:cNvPr>
          <p:cNvGrpSpPr>
            <a:grpSpLocks/>
          </p:cNvGrpSpPr>
          <p:nvPr/>
        </p:nvGrpSpPr>
        <p:grpSpPr bwMode="auto">
          <a:xfrm>
            <a:off x="5843819" y="5870660"/>
            <a:ext cx="1743061" cy="940523"/>
            <a:chOff x="0" y="0"/>
            <a:chExt cx="1099" cy="593"/>
          </a:xfrm>
        </p:grpSpPr>
        <p:sp>
          <p:nvSpPr>
            <p:cNvPr id="70681" name="Rectangle 30">
              <a:extLst>
                <a:ext uri="{FF2B5EF4-FFF2-40B4-BE49-F238E27FC236}">
                  <a16:creationId xmlns:a16="http://schemas.microsoft.com/office/drawing/2014/main" id="{F77CB8AA-20AD-A693-E1F8-1EEBA3381DD6}"/>
                </a:ext>
              </a:extLst>
            </p:cNvPr>
            <p:cNvSpPr>
              <a:spLocks noChangeArrowheads="1"/>
            </p:cNvSpPr>
            <p:nvPr/>
          </p:nvSpPr>
          <p:spPr bwMode="auto">
            <a:xfrm>
              <a:off x="69" y="260"/>
              <a:ext cx="828" cy="33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2499" b="1" i="1" dirty="0">
                  <a:ea typeface="宋体" panose="02010600030101010101" pitchFamily="2" charset="-122"/>
                </a:rPr>
                <a:t>Y</a:t>
              </a:r>
              <a:r>
                <a:rPr lang="en-US" altLang="zh-CN" sz="2499" dirty="0">
                  <a:ea typeface="宋体" panose="02010600030101010101" pitchFamily="2" charset="-122"/>
                </a:rPr>
                <a:t> &lt; </a:t>
              </a:r>
              <a:r>
                <a:rPr lang="en-US" altLang="zh-CN" sz="2398" b="1" i="1" dirty="0">
                  <a:ea typeface="宋体" panose="02010600030101010101" pitchFamily="2" charset="-122"/>
                </a:rPr>
                <a:t>Y</a:t>
              </a:r>
              <a:r>
                <a:rPr lang="en-US" altLang="zh-CN" sz="2398" b="1" baseline="-25000" dirty="0">
                  <a:ea typeface="宋体" panose="02010600030101010101" pitchFamily="2" charset="-122"/>
                </a:rPr>
                <a:t>N</a:t>
              </a:r>
            </a:p>
          </p:txBody>
        </p:sp>
        <p:sp>
          <p:nvSpPr>
            <p:cNvPr id="70682" name="AutoShape 31">
              <a:extLst>
                <a:ext uri="{FF2B5EF4-FFF2-40B4-BE49-F238E27FC236}">
                  <a16:creationId xmlns:a16="http://schemas.microsoft.com/office/drawing/2014/main" id="{B10036B9-87B1-97BD-86FE-E74696633657}"/>
                </a:ext>
              </a:extLst>
            </p:cNvPr>
            <p:cNvSpPr>
              <a:spLocks/>
            </p:cNvSpPr>
            <p:nvPr/>
          </p:nvSpPr>
          <p:spPr bwMode="auto">
            <a:xfrm rot="16200000">
              <a:off x="442" y="-442"/>
              <a:ext cx="215" cy="1099"/>
            </a:xfrm>
            <a:prstGeom prst="leftBrace">
              <a:avLst>
                <a:gd name="adj1" fmla="val 4960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grpSp>
        <p:nvGrpSpPr>
          <p:cNvPr id="70683" name="Group 27">
            <a:extLst>
              <a:ext uri="{FF2B5EF4-FFF2-40B4-BE49-F238E27FC236}">
                <a16:creationId xmlns:a16="http://schemas.microsoft.com/office/drawing/2014/main" id="{2F2B8CB2-F9AF-0570-5F78-6F3185AC7499}"/>
              </a:ext>
            </a:extLst>
          </p:cNvPr>
          <p:cNvGrpSpPr>
            <a:grpSpLocks/>
          </p:cNvGrpSpPr>
          <p:nvPr/>
        </p:nvGrpSpPr>
        <p:grpSpPr bwMode="auto">
          <a:xfrm>
            <a:off x="5296635" y="3789770"/>
            <a:ext cx="2507536" cy="369548"/>
            <a:chOff x="0" y="0"/>
            <a:chExt cx="1581" cy="233"/>
          </a:xfrm>
        </p:grpSpPr>
        <p:sp>
          <p:nvSpPr>
            <p:cNvPr id="70684" name="Line 19">
              <a:extLst>
                <a:ext uri="{FF2B5EF4-FFF2-40B4-BE49-F238E27FC236}">
                  <a16:creationId xmlns:a16="http://schemas.microsoft.com/office/drawing/2014/main" id="{C0C50ACC-3DDF-3F41-A219-909C26D51657}"/>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0685" name="Text Box 20">
              <a:extLst>
                <a:ext uri="{FF2B5EF4-FFF2-40B4-BE49-F238E27FC236}">
                  <a16:creationId xmlns:a16="http://schemas.microsoft.com/office/drawing/2014/main" id="{1BC0C71D-3ABC-311A-0D5F-E4A1BE8B5515}"/>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E</a:t>
              </a:r>
            </a:p>
          </p:txBody>
        </p:sp>
        <p:sp>
          <p:nvSpPr>
            <p:cNvPr id="70686" name="Oval 33">
              <a:extLst>
                <a:ext uri="{FF2B5EF4-FFF2-40B4-BE49-F238E27FC236}">
                  <a16:creationId xmlns:a16="http://schemas.microsoft.com/office/drawing/2014/main" id="{0CE3769F-737E-3C6C-C655-18EF9B6F2AF8}"/>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grpSp>
        <p:nvGrpSpPr>
          <p:cNvPr id="70687" name="Group 31">
            <a:extLst>
              <a:ext uri="{FF2B5EF4-FFF2-40B4-BE49-F238E27FC236}">
                <a16:creationId xmlns:a16="http://schemas.microsoft.com/office/drawing/2014/main" id="{6E95DFBE-BDD3-8477-7B87-6AB6CF983708}"/>
              </a:ext>
            </a:extLst>
          </p:cNvPr>
          <p:cNvGrpSpPr>
            <a:grpSpLocks/>
          </p:cNvGrpSpPr>
          <p:nvPr/>
        </p:nvGrpSpPr>
        <p:grpSpPr bwMode="auto">
          <a:xfrm>
            <a:off x="2050004" y="3555035"/>
            <a:ext cx="3224426" cy="477399"/>
            <a:chOff x="0" y="0"/>
            <a:chExt cx="2033" cy="301"/>
          </a:xfrm>
        </p:grpSpPr>
        <p:sp>
          <p:nvSpPr>
            <p:cNvPr id="70688" name="Line 21">
              <a:extLst>
                <a:ext uri="{FF2B5EF4-FFF2-40B4-BE49-F238E27FC236}">
                  <a16:creationId xmlns:a16="http://schemas.microsoft.com/office/drawing/2014/main" id="{38B9B324-7951-18E8-834B-4D0FDC85C095}"/>
                </a:ext>
              </a:extLst>
            </p:cNvPr>
            <p:cNvSpPr>
              <a:spLocks noChangeShapeType="1"/>
            </p:cNvSpPr>
            <p:nvPr/>
          </p:nvSpPr>
          <p:spPr bwMode="auto">
            <a:xfrm>
              <a:off x="1262" y="269"/>
              <a:ext cx="771"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70689" name="Text Box 41">
              <a:extLst>
                <a:ext uri="{FF2B5EF4-FFF2-40B4-BE49-F238E27FC236}">
                  <a16:creationId xmlns:a16="http://schemas.microsoft.com/office/drawing/2014/main" id="{9822F62B-E292-F9F0-D004-3B7DCEA3B7C7}"/>
                </a:ext>
              </a:extLst>
            </p:cNvPr>
            <p:cNvSpPr txBox="1">
              <a:spLocks noChangeArrowheads="1"/>
            </p:cNvSpPr>
            <p:nvPr/>
          </p:nvSpPr>
          <p:spPr bwMode="auto">
            <a:xfrm>
              <a:off x="0" y="0"/>
              <a:ext cx="1346" cy="301"/>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2499">
                  <a:ea typeface="宋体" panose="02010600030101010101" pitchFamily="2" charset="-122"/>
                </a:rPr>
                <a:t>预期物价水平</a:t>
              </a:r>
            </a:p>
          </p:txBody>
        </p:sp>
      </p:grpSp>
      <p:sp>
        <p:nvSpPr>
          <p:cNvPr id="70690" name="Line 47">
            <a:extLst>
              <a:ext uri="{FF2B5EF4-FFF2-40B4-BE49-F238E27FC236}">
                <a16:creationId xmlns:a16="http://schemas.microsoft.com/office/drawing/2014/main" id="{C870F352-401B-0818-11B7-869D03AB0BDF}"/>
              </a:ext>
            </a:extLst>
          </p:cNvPr>
          <p:cNvSpPr>
            <a:spLocks noChangeShapeType="1"/>
          </p:cNvSpPr>
          <p:nvPr/>
        </p:nvSpPr>
        <p:spPr bwMode="auto">
          <a:xfrm flipV="1">
            <a:off x="7804170" y="3033228"/>
            <a:ext cx="994448" cy="918319"/>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0691" name="Line 49">
            <a:extLst>
              <a:ext uri="{FF2B5EF4-FFF2-40B4-BE49-F238E27FC236}">
                <a16:creationId xmlns:a16="http://schemas.microsoft.com/office/drawing/2014/main" id="{56CE82B5-5E51-127A-25F3-13A829EE9C30}"/>
              </a:ext>
            </a:extLst>
          </p:cNvPr>
          <p:cNvSpPr>
            <a:spLocks noChangeShapeType="1"/>
          </p:cNvSpPr>
          <p:nvPr/>
        </p:nvSpPr>
        <p:spPr bwMode="auto">
          <a:xfrm flipV="1">
            <a:off x="6425897" y="4037194"/>
            <a:ext cx="1279937" cy="1187946"/>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0692" name="FlagCount" hidden="1">
            <a:hlinkClick r:id="rId3" action="ppaction://hlinkfile"/>
            <a:extLst>
              <a:ext uri="{FF2B5EF4-FFF2-40B4-BE49-F238E27FC236}">
                <a16:creationId xmlns:a16="http://schemas.microsoft.com/office/drawing/2014/main" id="{867CD0AB-D228-172A-A40A-033A50E15049}"/>
              </a:ext>
            </a:extLst>
          </p:cNvPr>
          <p:cNvSpPr>
            <a:spLocks noChangeArrowheads="1"/>
          </p:cNvSpPr>
          <p:nvPr/>
        </p:nvSpPr>
        <p:spPr bwMode="auto">
          <a:xfrm>
            <a:off x="9788310" y="662941"/>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
        <p:nvSpPr>
          <p:cNvPr id="70693" name="Rectangle 53">
            <a:extLst>
              <a:ext uri="{FF2B5EF4-FFF2-40B4-BE49-F238E27FC236}">
                <a16:creationId xmlns:a16="http://schemas.microsoft.com/office/drawing/2014/main" id="{19688C9A-2A4F-5CAB-4F9C-E400992D8207}"/>
              </a:ext>
            </a:extLst>
          </p:cNvPr>
          <p:cNvSpPr>
            <a:spLocks noChangeArrowheads="1"/>
          </p:cNvSpPr>
          <p:nvPr/>
        </p:nvSpPr>
        <p:spPr bwMode="auto">
          <a:xfrm>
            <a:off x="1672464" y="1288579"/>
            <a:ext cx="3865251" cy="704204"/>
          </a:xfrm>
          <a:prstGeom prst="rect">
            <a:avLst/>
          </a:prstGeom>
          <a:solidFill>
            <a:srgbClr val="CC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2798" b="1" i="1" dirty="0">
                <a:ea typeface="宋体" panose="02010600030101010101" pitchFamily="2" charset="-122"/>
              </a:rPr>
              <a:t>Y</a:t>
            </a:r>
            <a:r>
              <a:rPr lang="en-US" altLang="zh-CN" sz="2798" dirty="0">
                <a:ea typeface="宋体" panose="02010600030101010101" pitchFamily="2" charset="-122"/>
              </a:rPr>
              <a:t>  = </a:t>
            </a:r>
            <a:r>
              <a:rPr lang="en-US" altLang="zh-CN" sz="999" dirty="0">
                <a:ea typeface="宋体" panose="02010600030101010101" pitchFamily="2" charset="-122"/>
              </a:rPr>
              <a:t> </a:t>
            </a:r>
            <a:r>
              <a:rPr lang="en-US" altLang="zh-CN" sz="2798" b="1" i="1" dirty="0">
                <a:ea typeface="宋体" panose="02010600030101010101" pitchFamily="2" charset="-122"/>
              </a:rPr>
              <a:t>Y</a:t>
            </a:r>
            <a:r>
              <a:rPr lang="en-US" altLang="zh-CN" sz="2798" b="1" baseline="-25000" dirty="0">
                <a:ea typeface="宋体" panose="02010600030101010101" pitchFamily="2" charset="-122"/>
              </a:rPr>
              <a:t>N</a:t>
            </a:r>
            <a:r>
              <a:rPr lang="en-US" altLang="zh-CN" sz="2798" dirty="0">
                <a:ea typeface="宋体" panose="02010600030101010101" pitchFamily="2" charset="-122"/>
              </a:rPr>
              <a:t>  +  </a:t>
            </a:r>
            <a:r>
              <a:rPr lang="en-US" altLang="zh-CN" sz="2798" b="1" i="1" dirty="0">
                <a:latin typeface="Times New Roman" panose="02020603050405020304" pitchFamily="18" charset="0"/>
                <a:ea typeface="宋体" panose="02010600030101010101" pitchFamily="2" charset="-122"/>
              </a:rPr>
              <a:t>a</a:t>
            </a:r>
            <a:r>
              <a:rPr lang="en-US" altLang="zh-CN" sz="999" dirty="0">
                <a:ea typeface="宋体" panose="02010600030101010101" pitchFamily="2" charset="-122"/>
              </a:rPr>
              <a:t> </a:t>
            </a:r>
            <a:r>
              <a:rPr lang="en-US" altLang="zh-CN" sz="2798" dirty="0">
                <a:ea typeface="宋体" panose="02010600030101010101" pitchFamily="2" charset="-122"/>
              </a:rPr>
              <a:t>(</a:t>
            </a:r>
            <a:r>
              <a:rPr lang="en-US" altLang="zh-CN" sz="2798" b="1" i="1" dirty="0">
                <a:ea typeface="宋体" panose="02010600030101010101" pitchFamily="2" charset="-122"/>
              </a:rPr>
              <a:t>P</a:t>
            </a:r>
            <a:r>
              <a:rPr lang="en-US" altLang="zh-CN" sz="2798" b="1" dirty="0">
                <a:ea typeface="宋体" panose="02010600030101010101" pitchFamily="2" charset="-122"/>
              </a:rPr>
              <a:t>  </a:t>
            </a:r>
            <a:r>
              <a:rPr lang="en-US" altLang="zh-CN" sz="2798" dirty="0">
                <a:ea typeface="宋体" panose="02010600030101010101" pitchFamily="2" charset="-122"/>
              </a:rPr>
              <a:t>–  </a:t>
            </a:r>
            <a:r>
              <a:rPr lang="en-US" altLang="zh-CN" sz="2798" b="1" i="1" dirty="0">
                <a:ea typeface="宋体" panose="02010600030101010101" pitchFamily="2" charset="-122"/>
              </a:rPr>
              <a:t>P</a:t>
            </a:r>
            <a:r>
              <a:rPr lang="en-US" altLang="zh-CN" sz="2798" b="1" baseline="-25000" dirty="0">
                <a:ea typeface="宋体" panose="02010600030101010101" pitchFamily="2" charset="-122"/>
              </a:rPr>
              <a:t>E</a:t>
            </a:r>
            <a:r>
              <a:rPr lang="en-US" altLang="zh-CN" sz="2798" dirty="0">
                <a:ea typeface="宋体" panose="02010600030101010101" pitchFamily="2" charset="-122"/>
              </a:rPr>
              <a:t>)</a:t>
            </a:r>
          </a:p>
        </p:txBody>
      </p:sp>
    </p:spTree>
    <p:extLst>
      <p:ext uri="{BB962C8B-B14F-4D97-AF65-F5344CB8AC3E}">
        <p14:creationId xmlns:p14="http://schemas.microsoft.com/office/powerpoint/2010/main" val="38398223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665"/>
                                        </p:tgtEl>
                                        <p:attrNameLst>
                                          <p:attrName>style.visibility</p:attrName>
                                        </p:attrNameLst>
                                      </p:cBhvr>
                                      <p:to>
                                        <p:strVal val="visible"/>
                                      </p:to>
                                    </p:set>
                                    <p:animEffect transition="in" filter="dissolve">
                                      <p:cBhvr>
                                        <p:cTn id="7" dur="500"/>
                                        <p:tgtEl>
                                          <p:spTgt spid="70665"/>
                                        </p:tgtEl>
                                      </p:cBhvr>
                                    </p:animEffect>
                                  </p:childTnLst>
                                </p:cTn>
                              </p:par>
                              <p:par>
                                <p:cTn id="8" presetID="9" presetClass="entr" presetSubtype="0" fill="hold" nodeType="withEffect">
                                  <p:stCondLst>
                                    <p:cond delay="0"/>
                                  </p:stCondLst>
                                  <p:childTnLst>
                                    <p:set>
                                      <p:cBhvr>
                                        <p:cTn id="9" dur="1" fill="hold">
                                          <p:stCondLst>
                                            <p:cond delay="0"/>
                                          </p:stCondLst>
                                        </p:cTn>
                                        <p:tgtEl>
                                          <p:spTgt spid="70659"/>
                                        </p:tgtEl>
                                        <p:attrNameLst>
                                          <p:attrName>style.visibility</p:attrName>
                                        </p:attrNameLst>
                                      </p:cBhvr>
                                      <p:to>
                                        <p:strVal val="visible"/>
                                      </p:to>
                                    </p:set>
                                    <p:animEffect transition="in" filter="dissolve">
                                      <p:cBhvr>
                                        <p:cTn id="10" dur="500"/>
                                        <p:tgtEl>
                                          <p:spTgt spid="7065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70668"/>
                                        </p:tgtEl>
                                        <p:attrNameLst>
                                          <p:attrName>style.visibility</p:attrName>
                                        </p:attrNameLst>
                                      </p:cBhvr>
                                      <p:to>
                                        <p:strVal val="visible"/>
                                      </p:to>
                                    </p:set>
                                    <p:animEffect transition="in" filter="wipe(down)">
                                      <p:cBhvr>
                                        <p:cTn id="15" dur="500"/>
                                        <p:tgtEl>
                                          <p:spTgt spid="7066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0687"/>
                                        </p:tgtEl>
                                        <p:attrNameLst>
                                          <p:attrName>style.visibility</p:attrName>
                                        </p:attrNameLst>
                                      </p:cBhvr>
                                      <p:to>
                                        <p:strVal val="visible"/>
                                      </p:to>
                                    </p:set>
                                    <p:animEffect transition="in" filter="wipe(left)">
                                      <p:cBhvr>
                                        <p:cTn id="20" dur="500"/>
                                        <p:tgtEl>
                                          <p:spTgt spid="70687"/>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70683"/>
                                        </p:tgtEl>
                                        <p:attrNameLst>
                                          <p:attrName>style.visibility</p:attrName>
                                        </p:attrNameLst>
                                      </p:cBhvr>
                                      <p:to>
                                        <p:strVal val="visible"/>
                                      </p:to>
                                    </p:set>
                                    <p:animEffect transition="in" filter="wipe(left)">
                                      <p:cBhvr>
                                        <p:cTn id="24" dur="500"/>
                                        <p:tgtEl>
                                          <p:spTgt spid="706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12" fill="hold" nodeType="clickEffect">
                                  <p:stCondLst>
                                    <p:cond delay="0"/>
                                  </p:stCondLst>
                                  <p:childTnLst>
                                    <p:set>
                                      <p:cBhvr>
                                        <p:cTn id="28" dur="1" fill="hold">
                                          <p:stCondLst>
                                            <p:cond delay="0"/>
                                          </p:stCondLst>
                                        </p:cTn>
                                        <p:tgtEl>
                                          <p:spTgt spid="70671"/>
                                        </p:tgtEl>
                                        <p:attrNameLst>
                                          <p:attrName>style.visibility</p:attrName>
                                        </p:attrNameLst>
                                      </p:cBhvr>
                                      <p:to>
                                        <p:strVal val="visible"/>
                                      </p:to>
                                    </p:set>
                                    <p:animEffect transition="in" filter="strips(downLeft)">
                                      <p:cBhvr>
                                        <p:cTn id="29" dur="500"/>
                                        <p:tgtEl>
                                          <p:spTgt spid="70671"/>
                                        </p:tgtEl>
                                      </p:cBhvr>
                                    </p:animEffect>
                                  </p:childTnLst>
                                </p:cTn>
                              </p:par>
                              <p:par>
                                <p:cTn id="30" presetID="9" presetClass="entr" presetSubtype="0" fill="hold" nodeType="withEffect">
                                  <p:stCondLst>
                                    <p:cond delay="0"/>
                                  </p:stCondLst>
                                  <p:childTnLst>
                                    <p:set>
                                      <p:cBhvr>
                                        <p:cTn id="31" dur="1" fill="hold">
                                          <p:stCondLst>
                                            <p:cond delay="0"/>
                                          </p:stCondLst>
                                        </p:cTn>
                                        <p:tgtEl>
                                          <p:spTgt spid="70690"/>
                                        </p:tgtEl>
                                        <p:attrNameLst>
                                          <p:attrName>style.visibility</p:attrName>
                                        </p:attrNameLst>
                                      </p:cBhvr>
                                      <p:to>
                                        <p:strVal val="visible"/>
                                      </p:to>
                                    </p:set>
                                    <p:animEffect transition="in" filter="dissolve">
                                      <p:cBhvr>
                                        <p:cTn id="32" dur="500"/>
                                        <p:tgtEl>
                                          <p:spTgt spid="70690"/>
                                        </p:tgtEl>
                                      </p:cBhvr>
                                    </p:animEffect>
                                  </p:childTnLst>
                                </p:cTn>
                              </p:par>
                              <p:par>
                                <p:cTn id="33" presetID="18" presetClass="entr" presetSubtype="3" fill="hold" nodeType="withEffect">
                                  <p:stCondLst>
                                    <p:cond delay="0"/>
                                  </p:stCondLst>
                                  <p:childTnLst>
                                    <p:set>
                                      <p:cBhvr>
                                        <p:cTn id="34" dur="1" fill="hold">
                                          <p:stCondLst>
                                            <p:cond delay="0"/>
                                          </p:stCondLst>
                                        </p:cTn>
                                        <p:tgtEl>
                                          <p:spTgt spid="70674"/>
                                        </p:tgtEl>
                                        <p:attrNameLst>
                                          <p:attrName>style.visibility</p:attrName>
                                        </p:attrNameLst>
                                      </p:cBhvr>
                                      <p:to>
                                        <p:strVal val="visible"/>
                                      </p:to>
                                    </p:set>
                                    <p:animEffect transition="in" filter="strips(upRight)">
                                      <p:cBhvr>
                                        <p:cTn id="35" dur="500"/>
                                        <p:tgtEl>
                                          <p:spTgt spid="7067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xit" presetSubtype="0" fill="hold" nodeType="clickEffect">
                                  <p:stCondLst>
                                    <p:cond delay="0"/>
                                  </p:stCondLst>
                                  <p:childTnLst>
                                    <p:animEffect transition="out" filter="dissolve">
                                      <p:cBhvr>
                                        <p:cTn id="39" dur="500"/>
                                        <p:tgtEl>
                                          <p:spTgt spid="70671"/>
                                        </p:tgtEl>
                                      </p:cBhvr>
                                    </p:animEffect>
                                    <p:set>
                                      <p:cBhvr>
                                        <p:cTn id="40" dur="1" fill="hold">
                                          <p:stCondLst>
                                            <p:cond delay="499"/>
                                          </p:stCondLst>
                                        </p:cTn>
                                        <p:tgtEl>
                                          <p:spTgt spid="70671"/>
                                        </p:tgtEl>
                                        <p:attrNameLst>
                                          <p:attrName>style.visibility</p:attrName>
                                        </p:attrNameLst>
                                      </p:cBhvr>
                                      <p:to>
                                        <p:strVal val="hidden"/>
                                      </p:to>
                                    </p:set>
                                  </p:childTnLst>
                                </p:cTn>
                              </p:par>
                              <p:par>
                                <p:cTn id="41" presetID="9" presetClass="exit" presetSubtype="0" fill="hold" nodeType="withEffect">
                                  <p:stCondLst>
                                    <p:cond delay="0"/>
                                  </p:stCondLst>
                                  <p:childTnLst>
                                    <p:animEffect transition="out" filter="dissolve">
                                      <p:cBhvr>
                                        <p:cTn id="42" dur="500"/>
                                        <p:tgtEl>
                                          <p:spTgt spid="70674"/>
                                        </p:tgtEl>
                                      </p:cBhvr>
                                    </p:animEffect>
                                    <p:set>
                                      <p:cBhvr>
                                        <p:cTn id="43" dur="1" fill="hold">
                                          <p:stCondLst>
                                            <p:cond delay="499"/>
                                          </p:stCondLst>
                                        </p:cTn>
                                        <p:tgtEl>
                                          <p:spTgt spid="70674"/>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70690"/>
                                        </p:tgtEl>
                                      </p:cBhvr>
                                    </p:animEffect>
                                    <p:set>
                                      <p:cBhvr>
                                        <p:cTn id="46" dur="1" fill="hold">
                                          <p:stCondLst>
                                            <p:cond delay="499"/>
                                          </p:stCondLst>
                                        </p:cTn>
                                        <p:tgtEl>
                                          <p:spTgt spid="70690"/>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12" fill="hold" nodeType="clickEffect">
                                  <p:stCondLst>
                                    <p:cond delay="0"/>
                                  </p:stCondLst>
                                  <p:childTnLst>
                                    <p:set>
                                      <p:cBhvr>
                                        <p:cTn id="50" dur="1" fill="hold">
                                          <p:stCondLst>
                                            <p:cond delay="0"/>
                                          </p:stCondLst>
                                        </p:cTn>
                                        <p:tgtEl>
                                          <p:spTgt spid="70677"/>
                                        </p:tgtEl>
                                        <p:attrNameLst>
                                          <p:attrName>style.visibility</p:attrName>
                                        </p:attrNameLst>
                                      </p:cBhvr>
                                      <p:to>
                                        <p:strVal val="visible"/>
                                      </p:to>
                                    </p:set>
                                    <p:animEffect transition="in" filter="strips(downLeft)">
                                      <p:cBhvr>
                                        <p:cTn id="51" dur="500"/>
                                        <p:tgtEl>
                                          <p:spTgt spid="70677"/>
                                        </p:tgtEl>
                                      </p:cBhvr>
                                    </p:animEffect>
                                  </p:childTnLst>
                                </p:cTn>
                              </p:par>
                              <p:par>
                                <p:cTn id="52" presetID="9" presetClass="entr" presetSubtype="0" fill="hold" nodeType="withEffect">
                                  <p:stCondLst>
                                    <p:cond delay="0"/>
                                  </p:stCondLst>
                                  <p:childTnLst>
                                    <p:set>
                                      <p:cBhvr>
                                        <p:cTn id="53" dur="1" fill="hold">
                                          <p:stCondLst>
                                            <p:cond delay="0"/>
                                          </p:stCondLst>
                                        </p:cTn>
                                        <p:tgtEl>
                                          <p:spTgt spid="70691"/>
                                        </p:tgtEl>
                                        <p:attrNameLst>
                                          <p:attrName>style.visibility</p:attrName>
                                        </p:attrNameLst>
                                      </p:cBhvr>
                                      <p:to>
                                        <p:strVal val="visible"/>
                                      </p:to>
                                    </p:set>
                                    <p:animEffect transition="in" filter="dissolve">
                                      <p:cBhvr>
                                        <p:cTn id="54" dur="500"/>
                                        <p:tgtEl>
                                          <p:spTgt spid="70691"/>
                                        </p:tgtEl>
                                      </p:cBhvr>
                                    </p:animEffect>
                                  </p:childTnLst>
                                </p:cTn>
                              </p:par>
                              <p:par>
                                <p:cTn id="55" presetID="18" presetClass="entr" presetSubtype="3" fill="hold" nodeType="withEffect">
                                  <p:stCondLst>
                                    <p:cond delay="0"/>
                                  </p:stCondLst>
                                  <p:childTnLst>
                                    <p:set>
                                      <p:cBhvr>
                                        <p:cTn id="56" dur="1" fill="hold">
                                          <p:stCondLst>
                                            <p:cond delay="0"/>
                                          </p:stCondLst>
                                        </p:cTn>
                                        <p:tgtEl>
                                          <p:spTgt spid="70680"/>
                                        </p:tgtEl>
                                        <p:attrNameLst>
                                          <p:attrName>style.visibility</p:attrName>
                                        </p:attrNameLst>
                                      </p:cBhvr>
                                      <p:to>
                                        <p:strVal val="visible"/>
                                      </p:to>
                                    </p:set>
                                    <p:animEffect transition="in" filter="strips(upRight)">
                                      <p:cBhvr>
                                        <p:cTn id="57" dur="500"/>
                                        <p:tgtEl>
                                          <p:spTgt spid="7068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xit" presetSubtype="0" fill="hold" nodeType="clickEffect">
                                  <p:stCondLst>
                                    <p:cond delay="0"/>
                                  </p:stCondLst>
                                  <p:childTnLst>
                                    <p:animEffect transition="out" filter="dissolve">
                                      <p:cBhvr>
                                        <p:cTn id="61" dur="500"/>
                                        <p:tgtEl>
                                          <p:spTgt spid="70677"/>
                                        </p:tgtEl>
                                      </p:cBhvr>
                                    </p:animEffect>
                                    <p:set>
                                      <p:cBhvr>
                                        <p:cTn id="62" dur="1" fill="hold">
                                          <p:stCondLst>
                                            <p:cond delay="499"/>
                                          </p:stCondLst>
                                        </p:cTn>
                                        <p:tgtEl>
                                          <p:spTgt spid="70677"/>
                                        </p:tgtEl>
                                        <p:attrNameLst>
                                          <p:attrName>style.visibility</p:attrName>
                                        </p:attrNameLst>
                                      </p:cBhvr>
                                      <p:to>
                                        <p:strVal val="hidden"/>
                                      </p:to>
                                    </p:set>
                                  </p:childTnLst>
                                </p:cTn>
                              </p:par>
                              <p:par>
                                <p:cTn id="63" presetID="9" presetClass="exit" presetSubtype="0" fill="hold" nodeType="withEffect">
                                  <p:stCondLst>
                                    <p:cond delay="0"/>
                                  </p:stCondLst>
                                  <p:childTnLst>
                                    <p:animEffect transition="out" filter="dissolve">
                                      <p:cBhvr>
                                        <p:cTn id="64" dur="500"/>
                                        <p:tgtEl>
                                          <p:spTgt spid="70691"/>
                                        </p:tgtEl>
                                      </p:cBhvr>
                                    </p:animEffect>
                                    <p:set>
                                      <p:cBhvr>
                                        <p:cTn id="65" dur="1" fill="hold">
                                          <p:stCondLst>
                                            <p:cond delay="499"/>
                                          </p:stCondLst>
                                        </p:cTn>
                                        <p:tgtEl>
                                          <p:spTgt spid="70691"/>
                                        </p:tgtEl>
                                        <p:attrNameLst>
                                          <p:attrName>style.visibility</p:attrName>
                                        </p:attrNameLst>
                                      </p:cBhvr>
                                      <p:to>
                                        <p:strVal val="hidden"/>
                                      </p:to>
                                    </p:set>
                                  </p:childTnLst>
                                </p:cTn>
                              </p:par>
                              <p:par>
                                <p:cTn id="66" presetID="9" presetClass="exit" presetSubtype="0" fill="hold" nodeType="withEffect">
                                  <p:stCondLst>
                                    <p:cond delay="0"/>
                                  </p:stCondLst>
                                  <p:childTnLst>
                                    <p:animEffect transition="out" filter="dissolve">
                                      <p:cBhvr>
                                        <p:cTn id="67" dur="500"/>
                                        <p:tgtEl>
                                          <p:spTgt spid="70680"/>
                                        </p:tgtEl>
                                      </p:cBhvr>
                                    </p:animEffect>
                                    <p:set>
                                      <p:cBhvr>
                                        <p:cTn id="68" dur="1" fill="hold">
                                          <p:stCondLst>
                                            <p:cond delay="499"/>
                                          </p:stCondLst>
                                        </p:cTn>
                                        <p:tgtEl>
                                          <p:spTgt spid="706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529768" y="1008063"/>
                <a:ext cx="9134038" cy="5118100"/>
              </a:xfrm>
            </p:spPr>
            <p:txBody>
              <a:bodyPr/>
              <a:lstStyle/>
              <a:p>
                <a:r>
                  <a:rPr lang="zh-CN" altLang="en-US" dirty="0"/>
                  <a:t>宏观经济学家提出了三种说明总供给曲线向右上方倾斜的理论，</a:t>
                </a:r>
                <a:r>
                  <a:rPr lang="zh-CN" altLang="en-US" dirty="0">
                    <a:latin typeface="SimHei" panose="02010609060101010101" pitchFamily="49" charset="-122"/>
                    <a:ea typeface="SimHei" panose="02010609060101010101" pitchFamily="49" charset="-122"/>
                  </a:rPr>
                  <a:t>粘性工资理论、粘性价格理论、错觉理论</a:t>
                </a:r>
                <a:endParaRPr lang="en-US" altLang="zh-CN" dirty="0">
                  <a:latin typeface="SimHei" panose="02010609060101010101" pitchFamily="49" charset="-122"/>
                  <a:ea typeface="SimHei" panose="02010609060101010101" pitchFamily="49" charset="-122"/>
                </a:endParaRPr>
              </a:p>
              <a:p>
                <a:endParaRPr lang="en-US" altLang="zh-CN" dirty="0">
                  <a:latin typeface="SimHei" panose="02010609060101010101" pitchFamily="49" charset="-122"/>
                  <a:ea typeface="SimHei" panose="02010609060101010101" pitchFamily="49" charset="-122"/>
                </a:endParaRPr>
              </a:p>
              <a:p>
                <a:r>
                  <a:rPr lang="zh-CN" altLang="en-US" dirty="0"/>
                  <a:t>共同逻辑：</a:t>
                </a:r>
                <a:r>
                  <a:rPr lang="zh-CN" altLang="zh-CN" dirty="0">
                    <a:ea typeface="宋体" panose="02010600030101010101" pitchFamily="2" charset="-122"/>
                  </a:rPr>
                  <a:t>市场的</a:t>
                </a:r>
                <a:r>
                  <a:rPr lang="zh-CN" altLang="zh-CN" b="1" dirty="0">
                    <a:ea typeface="宋体" panose="02010600030101010101" pitchFamily="2" charset="-122"/>
                  </a:rPr>
                  <a:t>不完全性</a:t>
                </a:r>
                <a:r>
                  <a:rPr lang="zh-CN" altLang="en-US" dirty="0">
                    <a:ea typeface="宋体" panose="02010600030101010101" pitchFamily="2" charset="-122"/>
                  </a:rPr>
                  <a:t>（价格无法自由调节），</a:t>
                </a:r>
                <a:r>
                  <a:rPr lang="zh-CN" altLang="zh-CN" dirty="0"/>
                  <a:t>价格和工资不能及时充分调整</a:t>
                </a:r>
                <a:r>
                  <a:rPr lang="zh-CN" altLang="en-US" dirty="0"/>
                  <a:t>。</a:t>
                </a:r>
                <a:r>
                  <a:rPr lang="zh-CN" altLang="zh-CN" dirty="0">
                    <a:ea typeface="宋体" panose="02010600030101010101" pitchFamily="2" charset="-122"/>
                  </a:rPr>
                  <a:t>当经济中的</a:t>
                </a:r>
                <a:r>
                  <a:rPr lang="zh-CN" altLang="zh-CN" b="1" dirty="0">
                    <a:ea typeface="宋体" panose="02010600030101010101" pitchFamily="2" charset="-122"/>
                  </a:rPr>
                  <a:t>实际物价</a:t>
                </a:r>
                <a:r>
                  <a:rPr lang="zh-CN" altLang="zh-CN" dirty="0">
                    <a:ea typeface="宋体" panose="02010600030101010101" pitchFamily="2" charset="-122"/>
                  </a:rPr>
                  <a:t>水平</a:t>
                </a:r>
                <a:r>
                  <a:rPr lang="zh-CN" altLang="zh-CN" b="1" dirty="0">
                    <a:ea typeface="宋体" panose="02010600030101010101" pitchFamily="2" charset="-122"/>
                  </a:rPr>
                  <a:t>背离了人们预期的物价水平</a:t>
                </a:r>
                <a:r>
                  <a:rPr lang="zh-CN" altLang="zh-CN" dirty="0">
                    <a:ea typeface="宋体" panose="02010600030101010101" pitchFamily="2" charset="-122"/>
                  </a:rPr>
                  <a:t>时，供给量就背离了其长期水平或自然水平</a:t>
                </a:r>
                <a:r>
                  <a:rPr lang="zh-CN" altLang="en-US" dirty="0">
                    <a:ea typeface="宋体" panose="02010600030101010101" pitchFamily="2" charset="-122"/>
                  </a:rPr>
                  <a:t>，即：</a:t>
                </a:r>
                <a:endParaRPr lang="en-US" altLang="zh-CN" dirty="0">
                  <a:ea typeface="宋体" panose="02010600030101010101" pitchFamily="2" charset="-122"/>
                </a:endParaRPr>
              </a:p>
              <a:p>
                <a:pPr marL="0" indent="0">
                  <a:buNone/>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ea typeface="宋体" panose="02010600030101010101" pitchFamily="2" charset="-122"/>
                        </a:rPr>
                        <m:t>𝑃</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𝑃</m:t>
                          </m:r>
                        </m:e>
                        <m:sub>
                          <m:r>
                            <a:rPr lang="en-US" altLang="zh-CN" b="0" i="1" smtClean="0">
                              <a:latin typeface="Cambria Math" panose="02040503050406030204" pitchFamily="18" charset="0"/>
                              <a:ea typeface="宋体" panose="02010600030101010101" pitchFamily="2" charset="-122"/>
                            </a:rPr>
                            <m:t>𝐸</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𝑌</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𝑌</m:t>
                          </m:r>
                        </m:e>
                        <m:sub>
                          <m:r>
                            <a:rPr lang="en-US" altLang="zh-CN" b="0" i="1" smtClean="0">
                              <a:latin typeface="Cambria Math" panose="02040503050406030204" pitchFamily="18" charset="0"/>
                              <a:ea typeface="Cambria Math" panose="02040503050406030204" pitchFamily="18" charset="0"/>
                            </a:rPr>
                            <m:t>𝑁</m:t>
                          </m:r>
                        </m:sub>
                      </m:sSub>
                    </m:oMath>
                  </m:oMathPara>
                </a14:m>
                <a:endParaRPr lang="en-US" altLang="zh-CN" dirty="0">
                  <a:ea typeface="宋体" panose="02010600030101010101" pitchFamily="2" charset="-122"/>
                </a:endParaRPr>
              </a:p>
              <a:p>
                <a:endParaRPr lang="zh-CN" altLang="zh-CN" dirty="0">
                  <a:ea typeface="宋体" panose="02010600030101010101" pitchFamily="2" charset="-122"/>
                </a:endParaRP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529768" y="1008063"/>
                <a:ext cx="9134038" cy="5118100"/>
              </a:xfrm>
              <a:blipFill>
                <a:blip r:embed="rId2"/>
                <a:stretch>
                  <a:fillRect l="-1669" t="-2381" r="-66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23</a:t>
            </a:fld>
            <a:endParaRPr lang="zh-CN" altLang="en-US"/>
          </a:p>
        </p:txBody>
      </p:sp>
      <p:sp>
        <p:nvSpPr>
          <p:cNvPr id="7" name="Rectangle 6">
            <a:extLst>
              <a:ext uri="{FF2B5EF4-FFF2-40B4-BE49-F238E27FC236}">
                <a16:creationId xmlns:a16="http://schemas.microsoft.com/office/drawing/2014/main" id="{F15FF945-1144-1DE2-D8FE-22E9F12B754C}"/>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23</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71EA6C77-5DEA-0858-A66D-108EBFEDDD81}"/>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9" name="标题 8">
            <a:extLst>
              <a:ext uri="{FF2B5EF4-FFF2-40B4-BE49-F238E27FC236}">
                <a16:creationId xmlns:a16="http://schemas.microsoft.com/office/drawing/2014/main" id="{0E4AC004-EFAF-9B8F-A302-5770B25BCE12}"/>
              </a:ext>
            </a:extLst>
          </p:cNvPr>
          <p:cNvSpPr>
            <a:spLocks noGrp="1"/>
          </p:cNvSpPr>
          <p:nvPr>
            <p:ph type="title"/>
          </p:nvPr>
        </p:nvSpPr>
        <p:spPr/>
        <p:txBody>
          <a:bodyPr/>
          <a:lstStyle/>
          <a:p>
            <a:r>
              <a:rPr kumimoji="1" lang="zh-CN" altLang="en-US" dirty="0">
                <a:latin typeface="SimSun" panose="02010600030101010101" pitchFamily="2" charset="-122"/>
                <a:ea typeface="SimSun" panose="02010600030101010101" pitchFamily="2" charset="-122"/>
              </a:rPr>
              <a:t>为什么短期总供给曲线向右上方倾斜？</a:t>
            </a:r>
          </a:p>
        </p:txBody>
      </p:sp>
    </p:spTree>
    <p:extLst>
      <p:ext uri="{BB962C8B-B14F-4D97-AF65-F5344CB8AC3E}">
        <p14:creationId xmlns:p14="http://schemas.microsoft.com/office/powerpoint/2010/main" val="1724899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8EBA4CA-3FC8-4CEF-FE06-FA8C3F611248}"/>
              </a:ext>
            </a:extLst>
          </p:cNvPr>
          <p:cNvSpPr>
            <a:spLocks noGrp="1"/>
          </p:cNvSpPr>
          <p:nvPr>
            <p:ph type="sldNum" sz="quarter" idx="11"/>
          </p:nvPr>
        </p:nvSpPr>
        <p:spPr/>
        <p:txBody>
          <a:bodyPr/>
          <a:lstStyle/>
          <a:p>
            <a:fld id="{FF233D1B-8C37-F548-9E25-D26AE9293A47}" type="slidenum">
              <a:rPr lang="zh-CN" altLang="zh-CN"/>
              <a:pPr/>
              <a:t>24</a:t>
            </a:fld>
            <a:endParaRPr lang="zh-CN" altLang="zh-CN"/>
          </a:p>
        </p:txBody>
      </p:sp>
      <p:sp>
        <p:nvSpPr>
          <p:cNvPr id="61442" name="Rectangle 2">
            <a:extLst>
              <a:ext uri="{FF2B5EF4-FFF2-40B4-BE49-F238E27FC236}">
                <a16:creationId xmlns:a16="http://schemas.microsoft.com/office/drawing/2014/main" id="{0B127D6B-ED0F-CC1B-EFA6-3A52822E85C1}"/>
              </a:ext>
            </a:extLst>
          </p:cNvPr>
          <p:cNvSpPr>
            <a:spLocks noGrp="1" noChangeArrowheads="1"/>
          </p:cNvSpPr>
          <p:nvPr>
            <p:ph type="title" idx="4294967295"/>
          </p:nvPr>
        </p:nvSpPr>
        <p:spPr>
          <a:xfrm>
            <a:off x="1815157" y="1"/>
            <a:ext cx="8402860" cy="608080"/>
          </a:xfrm>
        </p:spPr>
        <p:txBody>
          <a:bodyPr/>
          <a:lstStyle/>
          <a:p>
            <a:r>
              <a:rPr lang="en-US" altLang="zh-CN" sz="3597" dirty="0">
                <a:ea typeface="宋体" panose="02010600030101010101" pitchFamily="2" charset="-122"/>
              </a:rPr>
              <a:t>1</a:t>
            </a:r>
            <a:r>
              <a:rPr lang="zh-CN" altLang="zh-CN" sz="3597" dirty="0">
                <a:ea typeface="宋体" panose="02010600030101010101" pitchFamily="2" charset="-122"/>
              </a:rPr>
              <a:t>. 粘性工资理论</a:t>
            </a:r>
          </a:p>
        </p:txBody>
      </p:sp>
      <mc:AlternateContent xmlns:mc="http://schemas.openxmlformats.org/markup-compatibility/2006">
        <mc:Choice xmlns:a14="http://schemas.microsoft.com/office/drawing/2010/main" Requires="a14">
          <p:sp>
            <p:nvSpPr>
              <p:cNvPr id="61443" name="Rectangle 3">
                <a:extLst>
                  <a:ext uri="{FF2B5EF4-FFF2-40B4-BE49-F238E27FC236}">
                    <a16:creationId xmlns:a16="http://schemas.microsoft.com/office/drawing/2014/main" id="{B0DF6985-40A6-1C0F-4A4F-E849E7CFF734}"/>
                  </a:ext>
                </a:extLst>
              </p:cNvPr>
              <p:cNvSpPr>
                <a:spLocks noGrp="1" noChangeArrowheads="1"/>
              </p:cNvSpPr>
              <p:nvPr>
                <p:ph type="body" idx="4294967295"/>
              </p:nvPr>
            </p:nvSpPr>
            <p:spPr>
              <a:xfrm>
                <a:off x="1528195" y="575105"/>
                <a:ext cx="9135611" cy="6168595"/>
              </a:xfrm>
            </p:spPr>
            <p:txBody>
              <a:bodyPr/>
              <a:lstStyle/>
              <a:p>
                <a:r>
                  <a:rPr lang="zh-CN" altLang="en-US" dirty="0">
                    <a:ea typeface="宋体" panose="02010600030101010101" pitchFamily="2" charset="-122"/>
                  </a:rPr>
                  <a:t>关键前提：</a:t>
                </a:r>
                <a:r>
                  <a:rPr lang="zh-CN" altLang="zh-CN" dirty="0">
                    <a:ea typeface="宋体" panose="02010600030101010101" pitchFamily="2" charset="-122"/>
                  </a:rPr>
                  <a:t>名义工资在短期中</a:t>
                </a:r>
                <a:r>
                  <a:rPr lang="zh-CN" altLang="en-US" dirty="0">
                    <a:ea typeface="宋体" panose="02010600030101010101" pitchFamily="2" charset="-122"/>
                  </a:rPr>
                  <a:t>具有</a:t>
                </a:r>
                <a:r>
                  <a:rPr lang="zh-CN" altLang="zh-CN" b="1" dirty="0">
                    <a:ea typeface="宋体" panose="02010600030101010101" pitchFamily="2" charset="-122"/>
                  </a:rPr>
                  <a:t>粘性</a:t>
                </a:r>
                <a:r>
                  <a:rPr lang="zh-CN" altLang="zh-CN" dirty="0">
                    <a:ea typeface="宋体" panose="02010600030101010101" pitchFamily="2" charset="-122"/>
                  </a:rPr>
                  <a:t>，</a:t>
                </a:r>
                <a:r>
                  <a:rPr lang="zh-CN" altLang="en-US" dirty="0">
                    <a:ea typeface="宋体" panose="02010600030101010101" pitchFamily="2" charset="-122"/>
                  </a:rPr>
                  <a:t>不随物价变化迅速调整，</a:t>
                </a:r>
                <a:r>
                  <a:rPr lang="zh-CN" altLang="zh-CN" dirty="0">
                    <a:ea typeface="宋体" panose="02010600030101010101" pitchFamily="2" charset="-122"/>
                  </a:rPr>
                  <a:t>调整</a:t>
                </a:r>
                <a:r>
                  <a:rPr lang="zh-CN" altLang="en-US" dirty="0">
                    <a:ea typeface="宋体" panose="02010600030101010101" pitchFamily="2" charset="-122"/>
                  </a:rPr>
                  <a:t>较为</a:t>
                </a:r>
                <a:r>
                  <a:rPr lang="zh-CN" altLang="zh-CN" dirty="0">
                    <a:ea typeface="宋体" panose="02010600030101010101" pitchFamily="2" charset="-122"/>
                  </a:rPr>
                  <a:t>缓慢</a:t>
                </a:r>
                <a:r>
                  <a:rPr lang="zh-CN" altLang="en-US" dirty="0">
                    <a:ea typeface="宋体" panose="02010600030101010101" pitchFamily="2" charset="-122"/>
                  </a:rPr>
                  <a:t>（</a:t>
                </a:r>
                <a:r>
                  <a:rPr lang="zh-CN" altLang="en-US" b="1" dirty="0">
                    <a:ea typeface="宋体" panose="02010600030101010101" pitchFamily="2" charset="-122"/>
                  </a:rPr>
                  <a:t>不完全性</a:t>
                </a:r>
                <a:r>
                  <a:rPr lang="zh-CN" altLang="en-US" dirty="0">
                    <a:ea typeface="宋体" panose="02010600030101010101" pitchFamily="2" charset="-122"/>
                  </a:rPr>
                  <a:t>）。原因包括：</a:t>
                </a:r>
                <a:r>
                  <a:rPr lang="zh-CN" altLang="zh-CN" dirty="0">
                    <a:ea typeface="宋体" panose="02010600030101010101" pitchFamily="2" charset="-122"/>
                  </a:rPr>
                  <a:t> 由于劳动合同</a:t>
                </a:r>
                <a:r>
                  <a:rPr lang="zh-CN" altLang="en-US" dirty="0">
                    <a:ea typeface="宋体" panose="02010600030101010101" pitchFamily="2" charset="-122"/>
                  </a:rPr>
                  <a:t>、薪酬制度、</a:t>
                </a:r>
                <a:r>
                  <a:rPr lang="zh-CN" altLang="zh-CN" dirty="0">
                    <a:ea typeface="宋体" panose="02010600030101010101" pitchFamily="2" charset="-122"/>
                  </a:rPr>
                  <a:t>社会规范</a:t>
                </a:r>
                <a:r>
                  <a:rPr lang="zh-CN" altLang="en-US" dirty="0">
                    <a:ea typeface="宋体" panose="02010600030101010101" pitchFamily="2" charset="-122"/>
                  </a:rPr>
                  <a:t>等。</a:t>
                </a:r>
                <a:endParaRPr lang="zh-CN" altLang="zh-CN" dirty="0">
                  <a:ea typeface="宋体" panose="02010600030101010101" pitchFamily="2" charset="-122"/>
                </a:endParaRPr>
              </a:p>
              <a:p>
                <a:pPr>
                  <a:spcBef>
                    <a:spcPct val="60000"/>
                  </a:spcBef>
                </a:pPr>
                <a:r>
                  <a:rPr lang="zh-CN" altLang="en-US" dirty="0">
                    <a:ea typeface="宋体" panose="02010600030101010101" pitchFamily="2" charset="-122"/>
                  </a:rPr>
                  <a:t>工资设定方式：</a:t>
                </a:r>
                <a:r>
                  <a:rPr lang="zh-CN" altLang="zh-CN" dirty="0">
                    <a:ea typeface="宋体" panose="02010600030101010101" pitchFamily="2" charset="-122"/>
                  </a:rPr>
                  <a:t>企业和工人在</a:t>
                </a:r>
                <a:r>
                  <a:rPr lang="zh-CN" altLang="zh-CN" dirty="0"/>
                  <a:t>在尚未知道实际物价水平 </a:t>
                </a:r>
                <a:r>
                  <a:rPr lang="zh-CN" altLang="zh-CN" b="1" dirty="0"/>
                  <a:t>P</a:t>
                </a:r>
                <a:r>
                  <a:rPr lang="zh-CN" altLang="zh-CN" dirty="0"/>
                  <a:t> 之前</a:t>
                </a:r>
                <a:r>
                  <a:rPr lang="zh-CN" altLang="en-US" dirty="0"/>
                  <a:t>，通常会根据预期物价水平</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𝑃</m:t>
                        </m:r>
                      </m:e>
                      <m:sub>
                        <m:r>
                          <a:rPr lang="en-US" altLang="zh-CN" i="1" dirty="0" smtClean="0">
                            <a:latin typeface="Cambria Math" panose="02040503050406030204" pitchFamily="18" charset="0"/>
                          </a:rPr>
                          <m:t>𝐸</m:t>
                        </m:r>
                      </m:sub>
                    </m:sSub>
                    <m:r>
                      <a:rPr lang="zh-CN" altLang="en-US" i="1" dirty="0">
                        <a:latin typeface="Cambria Math" panose="02040503050406030204" pitchFamily="18" charset="0"/>
                      </a:rPr>
                      <m:t>签订</m:t>
                    </m:r>
                  </m:oMath>
                </a14:m>
                <a:r>
                  <a:rPr lang="zh-CN" altLang="en-US" dirty="0">
                    <a:ea typeface="宋体" panose="02010600030101010101" pitchFamily="2" charset="-122"/>
                  </a:rPr>
                  <a:t>合同，设定名义工资。</a:t>
                </a:r>
                <a:endParaRPr lang="en-US" altLang="zh-CN" dirty="0">
                  <a:ea typeface="宋体" panose="02010600030101010101" pitchFamily="2" charset="-122"/>
                </a:endParaRPr>
              </a:p>
              <a:p>
                <a:r>
                  <a:rPr lang="zh-CN" altLang="zh-CN" dirty="0">
                    <a:ea typeface="宋体" panose="02010600030101010101" pitchFamily="2" charset="-122"/>
                  </a:rPr>
                  <a:t>如果 </a:t>
                </a:r>
                <a14:m>
                  <m:oMath xmlns:m="http://schemas.openxmlformats.org/officeDocument/2006/math">
                    <m:r>
                      <a:rPr lang="zh-CN" altLang="zh-CN" b="1" i="1" dirty="0" smtClean="0">
                        <a:latin typeface="Cambria Math" panose="02040503050406030204" pitchFamily="18" charset="0"/>
                        <a:ea typeface="宋体" panose="02010600030101010101" pitchFamily="2" charset="-122"/>
                      </a:rPr>
                      <m:t>𝑷</m:t>
                    </m:r>
                    <m:r>
                      <a:rPr lang="zh-CN" altLang="zh-CN" i="1" dirty="0">
                        <a:latin typeface="Cambria Math" panose="02040503050406030204" pitchFamily="18" charset="0"/>
                        <a:ea typeface="宋体" panose="02010600030101010101" pitchFamily="2" charset="-122"/>
                      </a:rPr>
                      <m:t> &gt; </m:t>
                    </m:r>
                    <m:r>
                      <a:rPr lang="zh-CN" altLang="zh-CN" b="1" i="1" dirty="0">
                        <a:latin typeface="Cambria Math" panose="02040503050406030204" pitchFamily="18" charset="0"/>
                        <a:ea typeface="宋体" panose="02010600030101010101" pitchFamily="2" charset="-122"/>
                      </a:rPr>
                      <m:t>𝑷</m:t>
                    </m:r>
                    <m:r>
                      <a:rPr lang="zh-CN" altLang="zh-CN" b="1" i="1" baseline="-25000" dirty="0">
                        <a:latin typeface="Cambria Math" panose="02040503050406030204" pitchFamily="18" charset="0"/>
                        <a:ea typeface="宋体" panose="02010600030101010101" pitchFamily="2" charset="-122"/>
                      </a:rPr>
                      <m:t>𝑬</m:t>
                    </m:r>
                  </m:oMath>
                </a14:m>
                <a:r>
                  <a:rPr lang="zh-CN" altLang="en-US" dirty="0">
                    <a:ea typeface="宋体" panose="02010600030101010101" pitchFamily="2" charset="-122"/>
                  </a:rPr>
                  <a:t>：</a:t>
                </a:r>
                <a:r>
                  <a:rPr lang="zh-CN" altLang="zh-CN" dirty="0"/>
                  <a:t>实际物价水平高于原先预期，但名义工资来不及调整，</a:t>
                </a:r>
                <a:r>
                  <a:rPr lang="zh-CN" altLang="zh-CN" b="1" dirty="0"/>
                  <a:t>企业的实际劳动成本下降</a:t>
                </a:r>
                <a:r>
                  <a:rPr lang="zh-CN" altLang="zh-CN" dirty="0"/>
                  <a:t>。</a:t>
                </a:r>
                <a:r>
                  <a:rPr lang="zh-CN" altLang="en-US" dirty="0"/>
                  <a:t>即</a:t>
                </a:r>
                <a:r>
                  <a:rPr lang="zh-CN" altLang="zh-CN" dirty="0">
                    <a:ea typeface="宋体" panose="02010600030101010101" pitchFamily="2" charset="-122"/>
                  </a:rPr>
                  <a:t>收入增加，但劳动成本不变</a:t>
                </a:r>
                <a:r>
                  <a:rPr lang="zh-CN" altLang="en-US" dirty="0">
                    <a:ea typeface="宋体" panose="02010600030101010101" pitchFamily="2" charset="-122"/>
                  </a:rPr>
                  <a:t>，此时</a:t>
                </a:r>
                <a:r>
                  <a:rPr lang="zh-CN" altLang="zh-CN" dirty="0">
                    <a:ea typeface="宋体" panose="02010600030101010101" pitchFamily="2" charset="-122"/>
                  </a:rPr>
                  <a:t>生产有利可图，企业提高产量和增加雇佣工人 </a:t>
                </a:r>
                <a:r>
                  <a:rPr lang="zh-CN" altLang="en-US" dirty="0">
                    <a:ea typeface="宋体" panose="02010600030101010101" pitchFamily="2" charset="-122"/>
                  </a:rPr>
                  <a:t>。</a:t>
                </a:r>
                <a:endParaRPr lang="zh-CN" altLang="zh-CN" dirty="0">
                  <a:ea typeface="宋体" panose="02010600030101010101" pitchFamily="2" charset="-122"/>
                </a:endParaRPr>
              </a:p>
              <a:p>
                <a:r>
                  <a:rPr lang="zh-CN" altLang="en-US" dirty="0">
                    <a:ea typeface="宋体" panose="02010600030101010101" pitchFamily="2" charset="-122"/>
                  </a:rPr>
                  <a:t>结论：</a:t>
                </a:r>
                <a:r>
                  <a:rPr lang="zh-CN" altLang="zh-CN" b="1" dirty="0"/>
                  <a:t>较高的实际物价水平会带来较高的短期产出，因此短期总供给曲线向右上方倾斜。</a:t>
                </a:r>
                <a:endParaRPr lang="zh-CN" altLang="zh-CN" b="1" dirty="0">
                  <a:ea typeface="宋体" panose="02010600030101010101" pitchFamily="2" charset="-122"/>
                </a:endParaRPr>
              </a:p>
              <a:p>
                <a:pPr>
                  <a:spcBef>
                    <a:spcPct val="60000"/>
                  </a:spcBef>
                </a:pPr>
                <a:endParaRPr lang="zh-CN" altLang="zh-CN" dirty="0">
                  <a:ea typeface="宋体" panose="02010600030101010101" pitchFamily="2" charset="-122"/>
                </a:endParaRPr>
              </a:p>
            </p:txBody>
          </p:sp>
        </mc:Choice>
        <mc:Fallback>
          <p:sp>
            <p:nvSpPr>
              <p:cNvPr id="61443" name="Rectangle 3">
                <a:extLst>
                  <a:ext uri="{FF2B5EF4-FFF2-40B4-BE49-F238E27FC236}">
                    <a16:creationId xmlns:a16="http://schemas.microsoft.com/office/drawing/2014/main" id="{B0DF6985-40A6-1C0F-4A4F-E849E7CFF734}"/>
                  </a:ext>
                </a:extLst>
              </p:cNvPr>
              <p:cNvSpPr>
                <a:spLocks noGrp="1" noRot="1" noChangeAspect="1" noMove="1" noResize="1" noEditPoints="1" noAdjustHandles="1" noChangeArrowheads="1" noChangeShapeType="1" noTextEdit="1"/>
              </p:cNvSpPr>
              <p:nvPr>
                <p:ph type="body" idx="4294967295"/>
              </p:nvPr>
            </p:nvSpPr>
            <p:spPr>
              <a:xfrm>
                <a:off x="1528195" y="575105"/>
                <a:ext cx="9135611" cy="6168595"/>
              </a:xfrm>
              <a:blipFill>
                <a:blip r:embed="rId2"/>
                <a:stretch>
                  <a:fillRect l="-1669" t="-1976" r="-4606" b="-889"/>
                </a:stretch>
              </a:blipFill>
            </p:spPr>
            <p:txBody>
              <a:bodyPr/>
              <a:lstStyle/>
              <a:p>
                <a:r>
                  <a:rPr lang="zh-CN" altLang="en-US">
                    <a:noFill/>
                  </a:rPr>
                  <a:t> </a:t>
                </a:r>
              </a:p>
            </p:txBody>
          </p:sp>
        </mc:Fallback>
      </mc:AlternateContent>
      <p:sp>
        <p:nvSpPr>
          <p:cNvPr id="61444" name="FlagCount" hidden="1">
            <a:hlinkClick r:id="rId3" action="ppaction://hlinkfile"/>
            <a:extLst>
              <a:ext uri="{FF2B5EF4-FFF2-40B4-BE49-F238E27FC236}">
                <a16:creationId xmlns:a16="http://schemas.microsoft.com/office/drawing/2014/main" id="{0C72D1EB-D151-9588-2A33-8B3B9A945013}"/>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43512104"/>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B024FC4-9132-E55C-D82A-0499882C1DBB}"/>
              </a:ext>
            </a:extLst>
          </p:cNvPr>
          <p:cNvSpPr>
            <a:spLocks noGrp="1"/>
          </p:cNvSpPr>
          <p:nvPr>
            <p:ph type="sldNum" sz="quarter" idx="11"/>
          </p:nvPr>
        </p:nvSpPr>
        <p:spPr/>
        <p:txBody>
          <a:bodyPr/>
          <a:lstStyle/>
          <a:p>
            <a:fld id="{EA648D73-E19B-9944-8465-6326A11F96A9}" type="slidenum">
              <a:rPr lang="zh-CN" altLang="zh-CN"/>
              <a:pPr/>
              <a:t>25</a:t>
            </a:fld>
            <a:endParaRPr lang="zh-CN" altLang="zh-CN"/>
          </a:p>
        </p:txBody>
      </p:sp>
      <p:sp>
        <p:nvSpPr>
          <p:cNvPr id="64514" name="Rectangle 2">
            <a:extLst>
              <a:ext uri="{FF2B5EF4-FFF2-40B4-BE49-F238E27FC236}">
                <a16:creationId xmlns:a16="http://schemas.microsoft.com/office/drawing/2014/main" id="{092EAE40-DE6B-8679-86BA-C23E26246460}"/>
              </a:ext>
            </a:extLst>
          </p:cNvPr>
          <p:cNvSpPr>
            <a:spLocks noGrp="1" noChangeArrowheads="1"/>
          </p:cNvSpPr>
          <p:nvPr>
            <p:ph type="title" idx="4294967295"/>
          </p:nvPr>
        </p:nvSpPr>
        <p:spPr>
          <a:xfrm>
            <a:off x="1815453" y="1"/>
            <a:ext cx="8402860" cy="681036"/>
          </a:xfrm>
        </p:spPr>
        <p:txBody>
          <a:bodyPr/>
          <a:lstStyle/>
          <a:p>
            <a:r>
              <a:rPr lang="en-US" altLang="zh-CN" sz="3597" dirty="0">
                <a:ea typeface="宋体" panose="02010600030101010101" pitchFamily="2" charset="-122"/>
              </a:rPr>
              <a:t>2.</a:t>
            </a:r>
            <a:r>
              <a:rPr lang="zh-CN" altLang="zh-CN" sz="3597" dirty="0">
                <a:ea typeface="宋体" panose="02010600030101010101" pitchFamily="2" charset="-122"/>
              </a:rPr>
              <a:t> 粘性价格理论</a:t>
            </a:r>
          </a:p>
        </p:txBody>
      </p:sp>
      <mc:AlternateContent xmlns:mc="http://schemas.openxmlformats.org/markup-compatibility/2006">
        <mc:Choice xmlns:a14="http://schemas.microsoft.com/office/drawing/2010/main" Requires="a14">
          <p:sp>
            <p:nvSpPr>
              <p:cNvPr id="64515" name="Rectangle 3">
                <a:extLst>
                  <a:ext uri="{FF2B5EF4-FFF2-40B4-BE49-F238E27FC236}">
                    <a16:creationId xmlns:a16="http://schemas.microsoft.com/office/drawing/2014/main" id="{33D2FE7E-0F0C-5157-6E52-67FCC1A7CD8D}"/>
                  </a:ext>
                </a:extLst>
              </p:cNvPr>
              <p:cNvSpPr>
                <a:spLocks noGrp="1" noChangeArrowheads="1"/>
              </p:cNvSpPr>
              <p:nvPr>
                <p:ph type="body" idx="4294967295"/>
              </p:nvPr>
            </p:nvSpPr>
            <p:spPr>
              <a:xfrm>
                <a:off x="1528195" y="575105"/>
                <a:ext cx="9135611" cy="6135874"/>
              </a:xfrm>
            </p:spPr>
            <p:txBody>
              <a:bodyPr/>
              <a:lstStyle/>
              <a:p>
                <a:r>
                  <a:rPr lang="zh-CN" altLang="en-US" dirty="0">
                    <a:ea typeface="宋体" panose="02010600030101010101" pitchFamily="2" charset="-122"/>
                  </a:rPr>
                  <a:t>关键前提：</a:t>
                </a:r>
                <a:r>
                  <a:rPr lang="zh-CN" altLang="zh-CN" dirty="0"/>
                  <a:t>许多产品价格在短期中具有粘性，不能随总体物价变化迅速调整</a:t>
                </a:r>
                <a:r>
                  <a:rPr lang="zh-CN" altLang="en-US" dirty="0"/>
                  <a:t>（不完全性）</a:t>
                </a:r>
                <a:r>
                  <a:rPr lang="zh-CN" altLang="zh-CN" dirty="0"/>
                  <a:t>。</a:t>
                </a:r>
                <a:r>
                  <a:rPr lang="zh-CN" altLang="en-US" dirty="0"/>
                  <a:t>原因包括：</a:t>
                </a:r>
                <a:r>
                  <a:rPr lang="zh-CN" altLang="zh-CN" b="1" dirty="0"/>
                  <a:t>菜单成本</a:t>
                </a:r>
                <a:r>
                  <a:rPr lang="zh-CN" altLang="en-US" b="1" dirty="0"/>
                  <a:t>（</a:t>
                </a:r>
                <a:r>
                  <a:rPr lang="zh-CN" altLang="zh-CN" dirty="0">
                    <a:ea typeface="宋体" panose="02010600030101010101" pitchFamily="2" charset="-122"/>
                  </a:rPr>
                  <a:t>印刷新菜单的成本，改变价格标签所需要的时间 </a:t>
                </a:r>
                <a:r>
                  <a:rPr lang="zh-CN" altLang="en-US" b="1" dirty="0"/>
                  <a:t>）</a:t>
                </a:r>
                <a:r>
                  <a:rPr lang="zh-CN" altLang="zh-CN" dirty="0"/>
                  <a:t>、合同约束和价格调整习惯等。</a:t>
                </a:r>
                <a:endParaRPr lang="en-US" altLang="zh-CN" dirty="0"/>
              </a:p>
              <a:p>
                <a:r>
                  <a:rPr lang="zh-CN" altLang="en-US" dirty="0">
                    <a:ea typeface="宋体" panose="02010600030101010101" pitchFamily="2" charset="-122"/>
                  </a:rPr>
                  <a:t>价格设定方式：</a:t>
                </a:r>
                <a:r>
                  <a:rPr lang="zh-CN" altLang="zh-CN" dirty="0"/>
                  <a:t>企业在尚未知道实际物价水平 </a:t>
                </a:r>
                <a:r>
                  <a:rPr lang="zh-CN" altLang="zh-CN" b="1" dirty="0"/>
                  <a:t>P</a:t>
                </a:r>
                <a:r>
                  <a:rPr lang="zh-CN" altLang="zh-CN" dirty="0"/>
                  <a:t> 之前，通常会根据预期物价水平 </a:t>
                </a:r>
                <a14:m>
                  <m:oMath xmlns:m="http://schemas.openxmlformats.org/officeDocument/2006/math">
                    <m:sSub>
                      <m:sSubPr>
                        <m:ctrlPr>
                          <a:rPr lang="en-US" altLang="zh-CN" b="1" i="1" dirty="0" smtClean="0">
                            <a:latin typeface="Cambria Math" panose="02040503050406030204" pitchFamily="18" charset="0"/>
                          </a:rPr>
                        </m:ctrlPr>
                      </m:sSubPr>
                      <m:e>
                        <m:r>
                          <a:rPr lang="zh-CN" altLang="zh-CN" b="1" i="1" dirty="0" smtClean="0">
                            <a:latin typeface="Cambria Math" panose="02040503050406030204" pitchFamily="18" charset="0"/>
                          </a:rPr>
                          <m:t>𝑷</m:t>
                        </m:r>
                      </m:e>
                      <m:sub>
                        <m:r>
                          <a:rPr lang="zh-CN" altLang="zh-CN" b="1" i="1" dirty="0" smtClean="0">
                            <a:latin typeface="Cambria Math" panose="02040503050406030204" pitchFamily="18" charset="0"/>
                          </a:rPr>
                          <m:t>𝑬</m:t>
                        </m:r>
                      </m:sub>
                    </m:sSub>
                  </m:oMath>
                </a14:m>
                <a:r>
                  <a:rPr lang="zh-CN" altLang="zh-CN" dirty="0"/>
                  <a:t>设定产品价格。</a:t>
                </a:r>
                <a:endParaRPr lang="en-US" altLang="zh-CN" dirty="0"/>
              </a:p>
              <a:p>
                <a:r>
                  <a:rPr lang="zh-CN" altLang="zh-CN" b="1" dirty="0"/>
                  <a:t>如果 </a:t>
                </a:r>
                <a14:m>
                  <m:oMath xmlns:m="http://schemas.openxmlformats.org/officeDocument/2006/math">
                    <m:r>
                      <a:rPr lang="zh-CN" altLang="zh-CN" b="1" i="1" dirty="0" smtClean="0">
                        <a:latin typeface="Cambria Math" panose="02040503050406030204" pitchFamily="18" charset="0"/>
                      </a:rPr>
                      <m:t>𝑷</m:t>
                    </m:r>
                    <m:r>
                      <a:rPr lang="zh-CN" altLang="zh-CN" b="1" i="1" dirty="0" smtClean="0">
                        <a:latin typeface="Cambria Math" panose="02040503050406030204" pitchFamily="18" charset="0"/>
                      </a:rPr>
                      <m:t> &gt; </m:t>
                    </m:r>
                    <m:sSub>
                      <m:sSubPr>
                        <m:ctrlPr>
                          <a:rPr lang="en-US" altLang="zh-CN" b="1" i="1" dirty="0" smtClean="0">
                            <a:latin typeface="Cambria Math" panose="02040503050406030204" pitchFamily="18" charset="0"/>
                          </a:rPr>
                        </m:ctrlPr>
                      </m:sSubPr>
                      <m:e>
                        <m:r>
                          <a:rPr lang="zh-CN" altLang="zh-CN" b="1" i="1" dirty="0" smtClean="0">
                            <a:latin typeface="Cambria Math" panose="02040503050406030204" pitchFamily="18" charset="0"/>
                          </a:rPr>
                          <m:t>𝑷</m:t>
                        </m:r>
                      </m:e>
                      <m:sub>
                        <m:r>
                          <a:rPr lang="zh-CN" altLang="zh-CN" b="1" i="1" dirty="0" smtClean="0">
                            <a:latin typeface="Cambria Math" panose="02040503050406030204" pitchFamily="18" charset="0"/>
                          </a:rPr>
                          <m:t>𝑬</m:t>
                        </m:r>
                      </m:sub>
                    </m:sSub>
                  </m:oMath>
                </a14:m>
                <a:r>
                  <a:rPr lang="zh-CN" altLang="zh-CN" b="1" dirty="0"/>
                  <a:t>：</a:t>
                </a:r>
                <a:r>
                  <a:rPr lang="zh-CN" altLang="zh-CN" dirty="0"/>
                  <a:t>实际物价水平高于原先预期，但部分企业价格来不及上调，其产品相对价格下降，需求增加。为满足增加的需求，</a:t>
                </a:r>
                <a:r>
                  <a:rPr lang="zh-CN" altLang="en-US" dirty="0"/>
                  <a:t>企业会在边际收益仍高于边际成本的范围内增加产量，</a:t>
                </a:r>
                <a:r>
                  <a:rPr lang="zh-CN" altLang="en-US" sz="3171" dirty="0"/>
                  <a:t>增加用工等。</a:t>
                </a:r>
                <a:endParaRPr lang="en-US" altLang="zh-CN" dirty="0"/>
              </a:p>
              <a:p>
                <a:r>
                  <a:rPr lang="zh-CN" altLang="en-US" dirty="0">
                    <a:ea typeface="宋体" panose="02010600030101010101" pitchFamily="2" charset="-122"/>
                  </a:rPr>
                  <a:t>结论：</a:t>
                </a:r>
                <a:r>
                  <a:rPr lang="zh-CN" altLang="zh-CN" dirty="0"/>
                  <a:t>较高的实际物价水平会带来较高的短期产出，因此短期总供给曲线向右上方倾斜。</a:t>
                </a:r>
                <a:endParaRPr lang="zh-CN" altLang="zh-CN" dirty="0">
                  <a:ea typeface="宋体" panose="02010600030101010101" pitchFamily="2" charset="-122"/>
                </a:endParaRPr>
              </a:p>
            </p:txBody>
          </p:sp>
        </mc:Choice>
        <mc:Fallback>
          <p:sp>
            <p:nvSpPr>
              <p:cNvPr id="64515" name="Rectangle 3">
                <a:extLst>
                  <a:ext uri="{FF2B5EF4-FFF2-40B4-BE49-F238E27FC236}">
                    <a16:creationId xmlns:a16="http://schemas.microsoft.com/office/drawing/2014/main" id="{33D2FE7E-0F0C-5157-6E52-67FCC1A7CD8D}"/>
                  </a:ext>
                </a:extLst>
              </p:cNvPr>
              <p:cNvSpPr>
                <a:spLocks noGrp="1" noRot="1" noChangeAspect="1" noMove="1" noResize="1" noEditPoints="1" noAdjustHandles="1" noChangeArrowheads="1" noChangeShapeType="1" noTextEdit="1"/>
              </p:cNvSpPr>
              <p:nvPr>
                <p:ph type="body" idx="4294967295"/>
              </p:nvPr>
            </p:nvSpPr>
            <p:spPr>
              <a:xfrm>
                <a:off x="1528195" y="575105"/>
                <a:ext cx="9135611" cy="6135874"/>
              </a:xfrm>
              <a:blipFill>
                <a:blip r:embed="rId2"/>
                <a:stretch>
                  <a:fillRect l="-1669" t="-1986" r="-935" b="-1291"/>
                </a:stretch>
              </a:blipFill>
            </p:spPr>
            <p:txBody>
              <a:bodyPr/>
              <a:lstStyle/>
              <a:p>
                <a:r>
                  <a:rPr lang="zh-CN" altLang="en-US">
                    <a:noFill/>
                  </a:rPr>
                  <a:t> </a:t>
                </a:r>
              </a:p>
            </p:txBody>
          </p:sp>
        </mc:Fallback>
      </mc:AlternateContent>
      <p:sp>
        <p:nvSpPr>
          <p:cNvPr id="64516" name="FlagCount" hidden="1">
            <a:hlinkClick r:id="rId3" action="ppaction://hlinkfile"/>
            <a:extLst>
              <a:ext uri="{FF2B5EF4-FFF2-40B4-BE49-F238E27FC236}">
                <a16:creationId xmlns:a16="http://schemas.microsoft.com/office/drawing/2014/main" id="{57CAE3DA-4EAC-2D0A-71EA-5876E9A8CE6C}"/>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651411482"/>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F937D99-906A-9A91-789D-C6B1CF6FF12F}"/>
              </a:ext>
            </a:extLst>
          </p:cNvPr>
          <p:cNvSpPr>
            <a:spLocks noGrp="1"/>
          </p:cNvSpPr>
          <p:nvPr>
            <p:ph type="sldNum" sz="quarter" idx="11"/>
          </p:nvPr>
        </p:nvSpPr>
        <p:spPr/>
        <p:txBody>
          <a:bodyPr/>
          <a:lstStyle/>
          <a:p>
            <a:fld id="{631E8A1C-2E93-4243-BE53-E1C9022AACDB}" type="slidenum">
              <a:rPr lang="zh-CN" altLang="zh-CN"/>
              <a:pPr/>
              <a:t>26</a:t>
            </a:fld>
            <a:endParaRPr lang="zh-CN" altLang="zh-CN"/>
          </a:p>
        </p:txBody>
      </p:sp>
      <p:sp>
        <p:nvSpPr>
          <p:cNvPr id="66562" name="Rectangle 2">
            <a:extLst>
              <a:ext uri="{FF2B5EF4-FFF2-40B4-BE49-F238E27FC236}">
                <a16:creationId xmlns:a16="http://schemas.microsoft.com/office/drawing/2014/main" id="{25B9DFAA-1FB8-3725-A6E4-963AF88C94DA}"/>
              </a:ext>
            </a:extLst>
          </p:cNvPr>
          <p:cNvSpPr>
            <a:spLocks noGrp="1" noChangeArrowheads="1"/>
          </p:cNvSpPr>
          <p:nvPr>
            <p:ph type="title" idx="4294967295"/>
          </p:nvPr>
        </p:nvSpPr>
        <p:spPr>
          <a:xfrm>
            <a:off x="1762134" y="1"/>
            <a:ext cx="8402860" cy="681036"/>
          </a:xfrm>
        </p:spPr>
        <p:txBody>
          <a:bodyPr/>
          <a:lstStyle/>
          <a:p>
            <a:r>
              <a:rPr lang="en-US" altLang="zh-CN" sz="3597" dirty="0">
                <a:ea typeface="宋体" panose="02010600030101010101" pitchFamily="2" charset="-122"/>
              </a:rPr>
              <a:t>3.</a:t>
            </a:r>
            <a:r>
              <a:rPr lang="zh-CN" altLang="zh-CN" sz="3597" dirty="0">
                <a:ea typeface="宋体" panose="02010600030101010101" pitchFamily="2" charset="-122"/>
              </a:rPr>
              <a:t> 错觉理论</a:t>
            </a:r>
          </a:p>
        </p:txBody>
      </p:sp>
      <mc:AlternateContent xmlns:mc="http://schemas.openxmlformats.org/markup-compatibility/2006">
        <mc:Choice xmlns:a14="http://schemas.microsoft.com/office/drawing/2010/main" Requires="a14">
          <p:sp>
            <p:nvSpPr>
              <p:cNvPr id="66563" name="Rectangle 3">
                <a:extLst>
                  <a:ext uri="{FF2B5EF4-FFF2-40B4-BE49-F238E27FC236}">
                    <a16:creationId xmlns:a16="http://schemas.microsoft.com/office/drawing/2014/main" id="{2143923B-4062-1FEA-C9CC-C1A84080D783}"/>
                  </a:ext>
                </a:extLst>
              </p:cNvPr>
              <p:cNvSpPr>
                <a:spLocks noGrp="1" noChangeArrowheads="1"/>
              </p:cNvSpPr>
              <p:nvPr>
                <p:ph type="body" idx="4294967295"/>
              </p:nvPr>
            </p:nvSpPr>
            <p:spPr>
              <a:xfrm>
                <a:off x="1529770" y="575105"/>
                <a:ext cx="9134038" cy="6278569"/>
              </a:xfrm>
            </p:spPr>
            <p:txBody>
              <a:bodyPr/>
              <a:lstStyle/>
              <a:p>
                <a:r>
                  <a:rPr lang="zh-CN" altLang="en-US" sz="2378" dirty="0">
                    <a:ea typeface="宋体" panose="02010600030101010101" pitchFamily="2" charset="-122"/>
                  </a:rPr>
                  <a:t>关键前提：</a:t>
                </a:r>
                <a:r>
                  <a:rPr lang="zh-CN" altLang="zh-CN" sz="2378" dirty="0"/>
                  <a:t>企业通常</a:t>
                </a:r>
                <a:r>
                  <a:rPr lang="zh-CN" altLang="zh-CN" sz="2378" b="1" dirty="0"/>
                  <a:t>更容易观察到自己产品价格的变化</a:t>
                </a:r>
                <a:r>
                  <a:rPr lang="zh-CN" altLang="zh-CN" sz="2378" dirty="0"/>
                  <a:t>，但不一定能立即准确判断总体物价水平是否也在同步上升</a:t>
                </a:r>
                <a:r>
                  <a:rPr lang="zh-CN" altLang="en-US" sz="2378" dirty="0"/>
                  <a:t>（</a:t>
                </a:r>
                <a:r>
                  <a:rPr lang="zh-CN" altLang="zh-CN" sz="2378" dirty="0">
                    <a:ea typeface="宋体" panose="02010600030101010101" pitchFamily="2" charset="-122"/>
                  </a:rPr>
                  <a:t>不完全</a:t>
                </a:r>
                <a:r>
                  <a:rPr lang="zh-CN" altLang="en-US" sz="2378" dirty="0">
                    <a:ea typeface="宋体" panose="02010600030101010101" pitchFamily="2" charset="-122"/>
                  </a:rPr>
                  <a:t>性</a:t>
                </a:r>
                <a:r>
                  <a:rPr lang="zh-CN" altLang="en-US" sz="2378" dirty="0"/>
                  <a:t>）（价格接受者）。</a:t>
                </a:r>
                <a:endParaRPr lang="en-US" altLang="zh-CN" sz="2378" dirty="0"/>
              </a:p>
              <a:p>
                <a:r>
                  <a:rPr lang="zh-CN" altLang="en-US" sz="2378" dirty="0"/>
                  <a:t>企业判断方式：</a:t>
                </a:r>
                <a:r>
                  <a:rPr lang="zh-CN" altLang="zh-CN" sz="2378" dirty="0"/>
                  <a:t>企业会根据自己产品价格的变化来判断市场需求和相对价格变化。</a:t>
                </a:r>
                <a:endParaRPr lang="en-US" altLang="zh-CN" sz="2378" dirty="0"/>
              </a:p>
              <a:p>
                <a:r>
                  <a:rPr lang="zh-CN" altLang="zh-CN" sz="2378" b="1" dirty="0"/>
                  <a:t>如果 </a:t>
                </a:r>
                <a14:m>
                  <m:oMath xmlns:m="http://schemas.openxmlformats.org/officeDocument/2006/math">
                    <m:r>
                      <a:rPr lang="zh-CN" altLang="zh-CN" sz="2378" b="1" i="1" dirty="0">
                        <a:latin typeface="Cambria Math" panose="02040503050406030204" pitchFamily="18" charset="0"/>
                      </a:rPr>
                      <m:t>𝑷</m:t>
                    </m:r>
                    <m:r>
                      <a:rPr lang="zh-CN" altLang="zh-CN" sz="2378" b="1" i="1" dirty="0">
                        <a:latin typeface="Cambria Math" panose="02040503050406030204" pitchFamily="18" charset="0"/>
                      </a:rPr>
                      <m:t> &gt; </m:t>
                    </m:r>
                    <m:sSub>
                      <m:sSubPr>
                        <m:ctrlPr>
                          <a:rPr lang="en-US" altLang="zh-CN" sz="2378" b="1" i="1" dirty="0">
                            <a:latin typeface="Cambria Math" panose="02040503050406030204" pitchFamily="18" charset="0"/>
                          </a:rPr>
                        </m:ctrlPr>
                      </m:sSubPr>
                      <m:e>
                        <m:r>
                          <a:rPr lang="zh-CN" altLang="zh-CN" sz="2378" b="1" i="1" dirty="0">
                            <a:latin typeface="Cambria Math" panose="02040503050406030204" pitchFamily="18" charset="0"/>
                          </a:rPr>
                          <m:t>𝑷</m:t>
                        </m:r>
                      </m:e>
                      <m:sub>
                        <m:r>
                          <a:rPr lang="zh-CN" altLang="zh-CN" sz="2378" b="1" i="1" dirty="0">
                            <a:latin typeface="Cambria Math" panose="02040503050406030204" pitchFamily="18" charset="0"/>
                          </a:rPr>
                          <m:t>𝑬</m:t>
                        </m:r>
                      </m:sub>
                    </m:sSub>
                    <m:r>
                      <a:rPr lang="zh-CN" altLang="zh-CN" sz="2378" b="1" i="1" dirty="0">
                        <a:latin typeface="Cambria Math" panose="02040503050406030204" pitchFamily="18" charset="0"/>
                      </a:rPr>
                      <m:t> </m:t>
                    </m:r>
                  </m:oMath>
                </a14:m>
                <a:r>
                  <a:rPr lang="zh-CN" altLang="zh-CN" sz="2378" dirty="0"/>
                  <a:t>，企业</a:t>
                </a:r>
                <a:r>
                  <a:rPr lang="zh-CN" altLang="zh-CN" sz="2378" b="1" dirty="0"/>
                  <a:t>可能先看到自己产品价格上升，并误以为这是本企业产品相对价格上升</a:t>
                </a:r>
                <a:r>
                  <a:rPr lang="zh-CN" altLang="zh-CN" sz="2378" dirty="0"/>
                  <a:t>。在这种判断下，企业会认为扩大生产更有利可图，于是</a:t>
                </a:r>
                <a:r>
                  <a:rPr lang="zh-CN" altLang="zh-CN" sz="2378" b="1" dirty="0"/>
                  <a:t>在边际收益仍高于边际成本的范围内增加产量</a:t>
                </a:r>
                <a:r>
                  <a:rPr lang="zh-CN" altLang="zh-CN" sz="2378" dirty="0"/>
                  <a:t>，并可能增加工时、提高设备利用率或增加雇佣。</a:t>
                </a:r>
                <a:endParaRPr lang="en-US" altLang="zh-CN" sz="2378" dirty="0"/>
              </a:p>
              <a:p>
                <a:r>
                  <a:rPr lang="zh-CN" altLang="en-US" sz="2378" dirty="0"/>
                  <a:t>结论：</a:t>
                </a:r>
                <a:r>
                  <a:rPr lang="zh-CN" altLang="zh-CN" sz="2378" b="1" dirty="0"/>
                  <a:t>当实际物价水平高于预期物价水平时，企业可能误判相对价格上升并增加生产，使短期产出高于自然水平，短期总供给曲线表现为向右上方倾斜。</a:t>
                </a:r>
                <a:endParaRPr lang="en-US" altLang="zh-CN" sz="2378" b="1" dirty="0">
                  <a:ea typeface="宋体" panose="02010600030101010101" pitchFamily="2" charset="-122"/>
                </a:endParaRPr>
              </a:p>
            </p:txBody>
          </p:sp>
        </mc:Choice>
        <mc:Fallback>
          <p:sp>
            <p:nvSpPr>
              <p:cNvPr id="66563" name="Rectangle 3">
                <a:extLst>
                  <a:ext uri="{FF2B5EF4-FFF2-40B4-BE49-F238E27FC236}">
                    <a16:creationId xmlns:a16="http://schemas.microsoft.com/office/drawing/2014/main" id="{2143923B-4062-1FEA-C9CC-C1A84080D783}"/>
                  </a:ext>
                </a:extLst>
              </p:cNvPr>
              <p:cNvSpPr>
                <a:spLocks noGrp="1" noRot="1" noChangeAspect="1" noMove="1" noResize="1" noEditPoints="1" noAdjustHandles="1" noChangeArrowheads="1" noChangeShapeType="1" noTextEdit="1"/>
              </p:cNvSpPr>
              <p:nvPr>
                <p:ph type="body" idx="4294967295"/>
              </p:nvPr>
            </p:nvSpPr>
            <p:spPr>
              <a:xfrm>
                <a:off x="1529770" y="575105"/>
                <a:ext cx="9134038" cy="6278569"/>
              </a:xfrm>
              <a:blipFill>
                <a:blip r:embed="rId3"/>
                <a:stretch>
                  <a:fillRect l="-1202" t="-1456" r="-134"/>
                </a:stretch>
              </a:blipFill>
            </p:spPr>
            <p:txBody>
              <a:bodyPr/>
              <a:lstStyle/>
              <a:p>
                <a:r>
                  <a:rPr lang="zh-CN" altLang="en-US">
                    <a:noFill/>
                  </a:rPr>
                  <a:t> </a:t>
                </a:r>
              </a:p>
            </p:txBody>
          </p:sp>
        </mc:Fallback>
      </mc:AlternateContent>
      <p:sp>
        <p:nvSpPr>
          <p:cNvPr id="66564" name="FlagCount" hidden="1">
            <a:hlinkClick r:id="rId4" action="ppaction://hlinkfile"/>
            <a:extLst>
              <a:ext uri="{FF2B5EF4-FFF2-40B4-BE49-F238E27FC236}">
                <a16:creationId xmlns:a16="http://schemas.microsoft.com/office/drawing/2014/main" id="{FCD19ADF-F2EF-374E-4626-EE6180147E97}"/>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858349180"/>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9715D17-2430-F367-038B-B0F978DF7BA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95BE8163-5420-DF26-019C-0F802E03FD27}"/>
              </a:ext>
            </a:extLst>
          </p:cNvPr>
          <p:cNvSpPr>
            <a:spLocks noGrp="1"/>
          </p:cNvSpPr>
          <p:nvPr>
            <p:ph type="sldNum" sz="quarter" idx="11"/>
          </p:nvPr>
        </p:nvSpPr>
        <p:spPr/>
        <p:txBody>
          <a:bodyPr/>
          <a:lstStyle/>
          <a:p>
            <a:fld id="{61BE183C-642D-8648-8947-1EE082880ED5}" type="slidenum">
              <a:rPr lang="zh-CN" altLang="zh-CN"/>
              <a:pPr/>
              <a:t>27</a:t>
            </a:fld>
            <a:endParaRPr lang="zh-CN" altLang="zh-CN"/>
          </a:p>
        </p:txBody>
      </p:sp>
      <p:sp>
        <p:nvSpPr>
          <p:cNvPr id="72706" name="Rectangle 2">
            <a:extLst>
              <a:ext uri="{FF2B5EF4-FFF2-40B4-BE49-F238E27FC236}">
                <a16:creationId xmlns:a16="http://schemas.microsoft.com/office/drawing/2014/main" id="{A6D13232-BE7B-A2F1-1AFF-E2AB5F4F464E}"/>
              </a:ext>
            </a:extLst>
          </p:cNvPr>
          <p:cNvSpPr>
            <a:spLocks noGrp="1" noChangeArrowheads="1"/>
          </p:cNvSpPr>
          <p:nvPr>
            <p:ph type="title" idx="4294967295"/>
          </p:nvPr>
        </p:nvSpPr>
        <p:spPr>
          <a:xfrm>
            <a:off x="1528195" y="255329"/>
            <a:ext cx="9135611" cy="648692"/>
          </a:xfrm>
        </p:spPr>
        <p:txBody>
          <a:bodyPr/>
          <a:lstStyle/>
          <a:p>
            <a:r>
              <a:rPr lang="zh-CN" altLang="en-US" sz="3597">
                <a:ea typeface="宋体" panose="02010600030101010101" pitchFamily="2" charset="-122"/>
              </a:rPr>
              <a:t>短期总供给曲线与长期总供给曲线</a:t>
            </a:r>
          </a:p>
        </p:txBody>
      </p:sp>
      <mc:AlternateContent xmlns:mc="http://schemas.openxmlformats.org/markup-compatibility/2006">
        <mc:Choice xmlns:a14="http://schemas.microsoft.com/office/drawing/2010/main" Requires="a14">
          <p:sp>
            <p:nvSpPr>
              <p:cNvPr id="72707" name="Rectangle 3">
                <a:extLst>
                  <a:ext uri="{FF2B5EF4-FFF2-40B4-BE49-F238E27FC236}">
                    <a16:creationId xmlns:a16="http://schemas.microsoft.com/office/drawing/2014/main" id="{611DDE7C-B608-7257-0198-72D428554A51}"/>
                  </a:ext>
                </a:extLst>
              </p:cNvPr>
              <p:cNvSpPr>
                <a:spLocks noGrp="1" noChangeArrowheads="1"/>
              </p:cNvSpPr>
              <p:nvPr>
                <p:ph type="body" idx="4294967295"/>
              </p:nvPr>
            </p:nvSpPr>
            <p:spPr>
              <a:xfrm>
                <a:off x="1528194" y="1008063"/>
                <a:ext cx="9134038" cy="5118100"/>
              </a:xfrm>
            </p:spPr>
            <p:txBody>
              <a:bodyPr/>
              <a:lstStyle/>
              <a:p>
                <a:r>
                  <a:rPr lang="zh-CN" altLang="zh-CN" sz="2378" dirty="0"/>
                  <a:t>在上述三种理论中，工资粘性、价格粘性和</a:t>
                </a:r>
                <a:r>
                  <a:rPr lang="zh-CN" altLang="zh-CN" sz="2378" dirty="0">
                    <a:ea typeface="宋体" panose="02010600030101010101" pitchFamily="2" charset="-122"/>
                  </a:rPr>
                  <a:t>错觉理论</a:t>
                </a:r>
                <a:r>
                  <a:rPr lang="zh-CN" altLang="zh-CN" sz="2378" dirty="0"/>
                  <a:t>主要是短期现象。随着时间推移：</a:t>
                </a:r>
                <a:endParaRPr lang="en-US" altLang="zh-CN" sz="2378" dirty="0"/>
              </a:p>
              <a:p>
                <a:pPr lvl="1"/>
                <a:r>
                  <a:rPr lang="zh-CN" altLang="en-US" sz="2378" dirty="0"/>
                  <a:t>工资和价格会逐步调整，短期粘性会减弱； </a:t>
                </a:r>
              </a:p>
              <a:p>
                <a:pPr lvl="1"/>
                <a:r>
                  <a:rPr lang="zh-CN" altLang="en-US" sz="2378" dirty="0"/>
                  <a:t>企业对相对价格的误判会逐步得到纠正； </a:t>
                </a:r>
              </a:p>
              <a:p>
                <a:pPr lvl="1"/>
                <a:r>
                  <a:rPr lang="zh-CN" altLang="en-US" sz="2378" dirty="0"/>
                  <a:t>预期物价水平会根据实际物价水平进行修正</a:t>
                </a:r>
                <a:endParaRPr lang="en-US" altLang="zh-CN" sz="2378" dirty="0"/>
              </a:p>
              <a:p>
                <a:pPr lvl="1"/>
                <a:endParaRPr lang="en-US" altLang="zh-CN" sz="2378" dirty="0"/>
              </a:p>
              <a:p>
                <a:pPr>
                  <a:spcBef>
                    <a:spcPct val="60000"/>
                  </a:spcBef>
                </a:pPr>
                <a:r>
                  <a:rPr lang="zh-CN" altLang="zh-CN" sz="2378" dirty="0">
                    <a:ea typeface="宋体" panose="02010600030101010101" pitchFamily="2" charset="-122"/>
                  </a:rPr>
                  <a:t>在长期中， </a:t>
                </a:r>
              </a:p>
              <a:p>
                <a:pPr lvl="1">
                  <a:lnSpc>
                    <a:spcPct val="105000"/>
                  </a:lnSpc>
                </a:pPr>
                <a14:m>
                  <m:oMath xmlns:m="http://schemas.openxmlformats.org/officeDocument/2006/math">
                    <m:sSub>
                      <m:sSubPr>
                        <m:ctrlPr>
                          <a:rPr lang="en-US" altLang="zh-CN" sz="2378" i="1" dirty="0">
                            <a:latin typeface="Cambria Math" panose="02040503050406030204" pitchFamily="18" charset="0"/>
                            <a:ea typeface="宋体" panose="02010600030101010101" pitchFamily="2" charset="-122"/>
                          </a:rPr>
                        </m:ctrlPr>
                      </m:sSubPr>
                      <m:e>
                        <m:r>
                          <a:rPr lang="en-US" altLang="zh-CN" sz="2378" i="1" dirty="0">
                            <a:latin typeface="Cambria Math" panose="02040503050406030204" pitchFamily="18" charset="0"/>
                            <a:ea typeface="宋体" panose="02010600030101010101" pitchFamily="2" charset="-122"/>
                          </a:rPr>
                          <m:t>𝑃</m:t>
                        </m:r>
                      </m:e>
                      <m:sub>
                        <m:r>
                          <a:rPr lang="en-US" altLang="zh-CN" sz="2378" i="1" dirty="0">
                            <a:latin typeface="Cambria Math" panose="02040503050406030204" pitchFamily="18" charset="0"/>
                            <a:ea typeface="宋体" panose="02010600030101010101" pitchFamily="2" charset="-122"/>
                          </a:rPr>
                          <m:t>𝐸</m:t>
                        </m:r>
                      </m:sub>
                    </m:sSub>
                    <m:r>
                      <a:rPr lang="zh-CN" altLang="zh-CN" sz="2378" i="1" dirty="0">
                        <a:latin typeface="Cambria Math" panose="02040503050406030204" pitchFamily="18" charset="0"/>
                        <a:ea typeface="宋体" panose="02010600030101010101" pitchFamily="2" charset="-122"/>
                      </a:rPr>
                      <m:t>= </m:t>
                    </m:r>
                    <m:r>
                      <a:rPr lang="zh-CN" altLang="zh-CN" sz="2378" b="1" i="1" dirty="0">
                        <a:latin typeface="Cambria Math" panose="02040503050406030204" pitchFamily="18" charset="0"/>
                        <a:ea typeface="宋体" panose="02010600030101010101" pitchFamily="2" charset="-122"/>
                      </a:rPr>
                      <m:t>𝑷</m:t>
                    </m:r>
                    <m:r>
                      <a:rPr lang="zh-CN" altLang="zh-CN" sz="2378" i="1" dirty="0">
                        <a:latin typeface="Cambria Math" panose="02040503050406030204" pitchFamily="18" charset="0"/>
                        <a:ea typeface="宋体" panose="02010600030101010101" pitchFamily="2" charset="-122"/>
                      </a:rPr>
                      <m:t> </m:t>
                    </m:r>
                  </m:oMath>
                </a14:m>
                <a:endParaRPr lang="en-US" altLang="zh-CN" sz="2378" dirty="0">
                  <a:ea typeface="宋体" panose="02010600030101010101" pitchFamily="2" charset="-122"/>
                </a:endParaRPr>
              </a:p>
              <a:p>
                <a:pPr lvl="1">
                  <a:lnSpc>
                    <a:spcPct val="105000"/>
                  </a:lnSpc>
                </a:pPr>
                <a:r>
                  <a:rPr lang="zh-CN" altLang="zh-CN" sz="2378" dirty="0"/>
                  <a:t>此时实际物价水平等于预期物价水平，短期产出不再偏离自然产出水平：</a:t>
                </a:r>
                <a14:m>
                  <m:oMath xmlns:m="http://schemas.openxmlformats.org/officeDocument/2006/math">
                    <m:r>
                      <a:rPr lang="en-US" altLang="zh-CN" sz="2378" i="1">
                        <a:latin typeface="Cambria Math" panose="02040503050406030204" pitchFamily="18" charset="0"/>
                      </a:rPr>
                      <m:t>𝑌</m:t>
                    </m:r>
                    <m:r>
                      <a:rPr lang="en-US" altLang="zh-CN" sz="2378" i="1">
                        <a:latin typeface="Cambria Math" panose="02040503050406030204" pitchFamily="18" charset="0"/>
                      </a:rPr>
                      <m:t>=</m:t>
                    </m:r>
                    <m:sSub>
                      <m:sSubPr>
                        <m:ctrlPr>
                          <a:rPr lang="en-US" altLang="zh-CN" sz="2378" i="1">
                            <a:latin typeface="Cambria Math" panose="02040503050406030204" pitchFamily="18" charset="0"/>
                          </a:rPr>
                        </m:ctrlPr>
                      </m:sSubPr>
                      <m:e>
                        <m:r>
                          <a:rPr lang="en-US" altLang="zh-CN" sz="2378" i="1">
                            <a:latin typeface="Cambria Math" panose="02040503050406030204" pitchFamily="18" charset="0"/>
                          </a:rPr>
                          <m:t>𝑌</m:t>
                        </m:r>
                      </m:e>
                      <m:sub>
                        <m:r>
                          <a:rPr lang="en-US" altLang="zh-CN" sz="2378" i="1">
                            <a:latin typeface="Cambria Math" panose="02040503050406030204" pitchFamily="18" charset="0"/>
                          </a:rPr>
                          <m:t>𝑁</m:t>
                        </m:r>
                      </m:sub>
                    </m:sSub>
                  </m:oMath>
                </a14:m>
                <a:endParaRPr lang="en-US" altLang="zh-CN" sz="2378" dirty="0"/>
              </a:p>
              <a:p>
                <a:pPr lvl="1">
                  <a:lnSpc>
                    <a:spcPct val="105000"/>
                  </a:lnSpc>
                </a:pPr>
                <a:r>
                  <a:rPr lang="zh-CN" altLang="zh-CN" sz="2378" dirty="0"/>
                  <a:t>因此，长期总供给曲线是垂直的，表示长期产出由技术、资本、劳动供给和制度等实际因素决定，而不取决于物价水平。</a:t>
                </a:r>
                <a:endParaRPr lang="zh-CN" altLang="zh-CN" sz="2378" dirty="0">
                  <a:ea typeface="宋体" panose="02010600030101010101" pitchFamily="2" charset="-122"/>
                </a:endParaRPr>
              </a:p>
            </p:txBody>
          </p:sp>
        </mc:Choice>
        <mc:Fallback>
          <p:sp>
            <p:nvSpPr>
              <p:cNvPr id="72707" name="Rectangle 3">
                <a:extLst>
                  <a:ext uri="{FF2B5EF4-FFF2-40B4-BE49-F238E27FC236}">
                    <a16:creationId xmlns:a16="http://schemas.microsoft.com/office/drawing/2014/main" id="{611DDE7C-B608-7257-0198-72D428554A51}"/>
                  </a:ext>
                </a:extLst>
              </p:cNvPr>
              <p:cNvSpPr>
                <a:spLocks noGrp="1" noRot="1" noChangeAspect="1" noMove="1" noResize="1" noEditPoints="1" noAdjustHandles="1" noChangeArrowheads="1" noChangeShapeType="1" noTextEdit="1"/>
              </p:cNvSpPr>
              <p:nvPr>
                <p:ph type="body" idx="4294967295"/>
              </p:nvPr>
            </p:nvSpPr>
            <p:spPr>
              <a:xfrm>
                <a:off x="1528194" y="1008063"/>
                <a:ext cx="9134038" cy="5118100"/>
              </a:xfrm>
              <a:blipFill>
                <a:blip r:embed="rId2"/>
                <a:stretch>
                  <a:fillRect l="-1202" t="-1786" r="-3672" b="-3095"/>
                </a:stretch>
              </a:blipFill>
            </p:spPr>
            <p:txBody>
              <a:bodyPr/>
              <a:lstStyle/>
              <a:p>
                <a:r>
                  <a:rPr lang="zh-CN" altLang="en-US">
                    <a:noFill/>
                  </a:rPr>
                  <a:t> </a:t>
                </a:r>
              </a:p>
            </p:txBody>
          </p:sp>
        </mc:Fallback>
      </mc:AlternateContent>
      <p:sp>
        <p:nvSpPr>
          <p:cNvPr id="72708" name="FlagCount" hidden="1">
            <a:hlinkClick r:id="rId3" action="ppaction://hlinkfile"/>
            <a:extLst>
              <a:ext uri="{FF2B5EF4-FFF2-40B4-BE49-F238E27FC236}">
                <a16:creationId xmlns:a16="http://schemas.microsoft.com/office/drawing/2014/main" id="{918B32A0-9573-D6BD-406D-C02750A6D5AB}"/>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500252276"/>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934CC7C-D708-10DE-6ED7-EBE4AF39679A}"/>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987C38DB-1B06-1A83-6C15-D55E2FEA6859}"/>
              </a:ext>
            </a:extLst>
          </p:cNvPr>
          <p:cNvSpPr>
            <a:spLocks noGrp="1"/>
          </p:cNvSpPr>
          <p:nvPr>
            <p:ph type="sldNum" sz="quarter" idx="11"/>
          </p:nvPr>
        </p:nvSpPr>
        <p:spPr/>
        <p:txBody>
          <a:bodyPr/>
          <a:lstStyle/>
          <a:p>
            <a:fld id="{8223C9AD-75C9-9D4A-918A-F599F9BBB86D}" type="slidenum">
              <a:rPr lang="zh-CN" altLang="zh-CN"/>
              <a:pPr/>
              <a:t>28</a:t>
            </a:fld>
            <a:endParaRPr lang="zh-CN" altLang="zh-CN"/>
          </a:p>
        </p:txBody>
      </p:sp>
      <p:grpSp>
        <p:nvGrpSpPr>
          <p:cNvPr id="73730" name="Group 2">
            <a:extLst>
              <a:ext uri="{FF2B5EF4-FFF2-40B4-BE49-F238E27FC236}">
                <a16:creationId xmlns:a16="http://schemas.microsoft.com/office/drawing/2014/main" id="{DE02B321-5F78-B8A4-2431-AB0BD35BC24D}"/>
              </a:ext>
            </a:extLst>
          </p:cNvPr>
          <p:cNvGrpSpPr>
            <a:grpSpLocks/>
          </p:cNvGrpSpPr>
          <p:nvPr/>
        </p:nvGrpSpPr>
        <p:grpSpPr bwMode="auto">
          <a:xfrm>
            <a:off x="7133274" y="1796963"/>
            <a:ext cx="1360826" cy="3971453"/>
            <a:chOff x="-17" y="-86"/>
            <a:chExt cx="858" cy="2504"/>
          </a:xfrm>
        </p:grpSpPr>
        <p:sp>
          <p:nvSpPr>
            <p:cNvPr id="73731" name="Line 42">
              <a:extLst>
                <a:ext uri="{FF2B5EF4-FFF2-40B4-BE49-F238E27FC236}">
                  <a16:creationId xmlns:a16="http://schemas.microsoft.com/office/drawing/2014/main" id="{DD4049BA-674C-E39D-161C-66199778B9E1}"/>
                </a:ext>
              </a:extLst>
            </p:cNvPr>
            <p:cNvSpPr>
              <a:spLocks noChangeShapeType="1"/>
            </p:cNvSpPr>
            <p:nvPr/>
          </p:nvSpPr>
          <p:spPr bwMode="auto">
            <a:xfrm rot="16200000" flipH="1">
              <a:off x="-716" y="1333"/>
              <a:ext cx="2167" cy="3"/>
            </a:xfrm>
            <a:prstGeom prst="line">
              <a:avLst/>
            </a:prstGeom>
            <a:noFill/>
            <a:ln w="38100">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3732" name="Text Box 43">
              <a:extLst>
                <a:ext uri="{FF2B5EF4-FFF2-40B4-BE49-F238E27FC236}">
                  <a16:creationId xmlns:a16="http://schemas.microsoft.com/office/drawing/2014/main" id="{D9FF35FC-FDF8-6962-EBB9-011F5CC15296}"/>
                </a:ext>
              </a:extLst>
            </p:cNvPr>
            <p:cNvSpPr txBox="1">
              <a:spLocks noChangeArrowheads="1"/>
            </p:cNvSpPr>
            <p:nvPr/>
          </p:nvSpPr>
          <p:spPr bwMode="auto">
            <a:xfrm>
              <a:off x="-17" y="-86"/>
              <a:ext cx="85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ea typeface="宋体" panose="02010600030101010101" pitchFamily="2" charset="-122"/>
                </a:rPr>
                <a:t>LRAS</a:t>
              </a:r>
              <a:endParaRPr lang="en-US" altLang="zh-CN" sz="2598" i="1" baseline="-25000" dirty="0">
                <a:ea typeface="宋体" panose="02010600030101010101" pitchFamily="2" charset="-122"/>
              </a:endParaRPr>
            </a:p>
          </p:txBody>
        </p:sp>
      </p:grpSp>
      <p:sp>
        <p:nvSpPr>
          <p:cNvPr id="73733" name="Rectangle 2">
            <a:extLst>
              <a:ext uri="{FF2B5EF4-FFF2-40B4-BE49-F238E27FC236}">
                <a16:creationId xmlns:a16="http://schemas.microsoft.com/office/drawing/2014/main" id="{DFF4EDA8-9D21-561E-9BF3-17DCAE19A520}"/>
              </a:ext>
            </a:extLst>
          </p:cNvPr>
          <p:cNvSpPr>
            <a:spLocks noGrp="1" noChangeArrowheads="1"/>
          </p:cNvSpPr>
          <p:nvPr>
            <p:ph type="title" idx="4294967295"/>
          </p:nvPr>
        </p:nvSpPr>
        <p:spPr>
          <a:xfrm>
            <a:off x="1528195" y="206159"/>
            <a:ext cx="9135611" cy="737511"/>
          </a:xfrm>
          <a:noFill/>
        </p:spPr>
        <p:txBody>
          <a:bodyPr/>
          <a:lstStyle/>
          <a:p>
            <a:pPr>
              <a:lnSpc>
                <a:spcPct val="110000"/>
              </a:lnSpc>
            </a:pPr>
            <a:r>
              <a:rPr lang="zh-CN" altLang="en-US" sz="3597">
                <a:ea typeface="宋体" panose="02010600030101010101" pitchFamily="2" charset="-122"/>
              </a:rPr>
              <a:t>短期总供给曲线与长期总供给曲线</a:t>
            </a:r>
          </a:p>
        </p:txBody>
      </p:sp>
      <p:grpSp>
        <p:nvGrpSpPr>
          <p:cNvPr id="73734" name="Group 6">
            <a:extLst>
              <a:ext uri="{FF2B5EF4-FFF2-40B4-BE49-F238E27FC236}">
                <a16:creationId xmlns:a16="http://schemas.microsoft.com/office/drawing/2014/main" id="{2E0B9E4E-D710-8D43-817F-FC4E4672DD2B}"/>
              </a:ext>
            </a:extLst>
          </p:cNvPr>
          <p:cNvGrpSpPr>
            <a:grpSpLocks/>
          </p:cNvGrpSpPr>
          <p:nvPr/>
        </p:nvGrpSpPr>
        <p:grpSpPr bwMode="auto">
          <a:xfrm>
            <a:off x="5640807" y="1881021"/>
            <a:ext cx="4418718" cy="4138208"/>
            <a:chOff x="0" y="0"/>
            <a:chExt cx="2786" cy="2441"/>
          </a:xfrm>
        </p:grpSpPr>
        <p:grpSp>
          <p:nvGrpSpPr>
            <p:cNvPr id="73735" name="Group 7">
              <a:extLst>
                <a:ext uri="{FF2B5EF4-FFF2-40B4-BE49-F238E27FC236}">
                  <a16:creationId xmlns:a16="http://schemas.microsoft.com/office/drawing/2014/main" id="{66F772E4-37A6-086E-9435-49AD9B65A33B}"/>
                </a:ext>
              </a:extLst>
            </p:cNvPr>
            <p:cNvGrpSpPr>
              <a:grpSpLocks/>
            </p:cNvGrpSpPr>
            <p:nvPr/>
          </p:nvGrpSpPr>
          <p:grpSpPr bwMode="auto">
            <a:xfrm>
              <a:off x="118" y="252"/>
              <a:ext cx="2409" cy="2049"/>
              <a:chOff x="0" y="0"/>
              <a:chExt cx="2116" cy="2027"/>
            </a:xfrm>
          </p:grpSpPr>
          <p:sp>
            <p:nvSpPr>
              <p:cNvPr id="73736" name="Line 5">
                <a:extLst>
                  <a:ext uri="{FF2B5EF4-FFF2-40B4-BE49-F238E27FC236}">
                    <a16:creationId xmlns:a16="http://schemas.microsoft.com/office/drawing/2014/main" id="{5C15E857-473F-4EEE-49E3-E280A26F07B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3737" name="Line 6">
                <a:extLst>
                  <a:ext uri="{FF2B5EF4-FFF2-40B4-BE49-F238E27FC236}">
                    <a16:creationId xmlns:a16="http://schemas.microsoft.com/office/drawing/2014/main" id="{178901C2-58B2-BAA3-B677-F0BED3B04DC2}"/>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73738" name="Text Box 7">
              <a:extLst>
                <a:ext uri="{FF2B5EF4-FFF2-40B4-BE49-F238E27FC236}">
                  <a16:creationId xmlns:a16="http://schemas.microsoft.com/office/drawing/2014/main" id="{E60E2260-5AED-AEE6-BEFB-99C195F467EA}"/>
                </a:ext>
              </a:extLst>
            </p:cNvPr>
            <p:cNvSpPr txBox="1">
              <a:spLocks noChangeArrowheads="1"/>
            </p:cNvSpPr>
            <p:nvPr/>
          </p:nvSpPr>
          <p:spPr bwMode="auto">
            <a:xfrm>
              <a:off x="0" y="0"/>
              <a:ext cx="2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p>
          </p:txBody>
        </p:sp>
        <p:sp>
          <p:nvSpPr>
            <p:cNvPr id="73739" name="Text Box 8">
              <a:extLst>
                <a:ext uri="{FF2B5EF4-FFF2-40B4-BE49-F238E27FC236}">
                  <a16:creationId xmlns:a16="http://schemas.microsoft.com/office/drawing/2014/main" id="{55045EC4-F4AB-039E-E334-EDA7D319420E}"/>
                </a:ext>
              </a:extLst>
            </p:cNvPr>
            <p:cNvSpPr txBox="1">
              <a:spLocks noChangeArrowheads="1"/>
            </p:cNvSpPr>
            <p:nvPr/>
          </p:nvSpPr>
          <p:spPr bwMode="auto">
            <a:xfrm>
              <a:off x="2496" y="2151"/>
              <a:ext cx="29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Y</a:t>
              </a:r>
            </a:p>
          </p:txBody>
        </p:sp>
      </p:grpSp>
      <p:grpSp>
        <p:nvGrpSpPr>
          <p:cNvPr id="73740" name="Group 12">
            <a:extLst>
              <a:ext uri="{FF2B5EF4-FFF2-40B4-BE49-F238E27FC236}">
                <a16:creationId xmlns:a16="http://schemas.microsoft.com/office/drawing/2014/main" id="{6FD18E92-57BC-768C-1966-F5332B6906A5}"/>
              </a:ext>
            </a:extLst>
          </p:cNvPr>
          <p:cNvGrpSpPr>
            <a:grpSpLocks/>
          </p:cNvGrpSpPr>
          <p:nvPr/>
        </p:nvGrpSpPr>
        <p:grpSpPr bwMode="auto">
          <a:xfrm>
            <a:off x="6414797" y="2659770"/>
            <a:ext cx="3695481" cy="2566219"/>
            <a:chOff x="0" y="0"/>
            <a:chExt cx="2330" cy="1618"/>
          </a:xfrm>
        </p:grpSpPr>
        <p:sp>
          <p:nvSpPr>
            <p:cNvPr id="73741" name="Line 10">
              <a:extLst>
                <a:ext uri="{FF2B5EF4-FFF2-40B4-BE49-F238E27FC236}">
                  <a16:creationId xmlns:a16="http://schemas.microsoft.com/office/drawing/2014/main" id="{54004A4A-F6FB-7DCC-EE5E-F5A7D51C0234}"/>
                </a:ext>
              </a:extLst>
            </p:cNvPr>
            <p:cNvSpPr>
              <a:spLocks noChangeShapeType="1"/>
            </p:cNvSpPr>
            <p:nvPr/>
          </p:nvSpPr>
          <p:spPr bwMode="auto">
            <a:xfrm flipV="1">
              <a:off x="0" y="234"/>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3742" name="Text Box 11">
              <a:extLst>
                <a:ext uri="{FF2B5EF4-FFF2-40B4-BE49-F238E27FC236}">
                  <a16:creationId xmlns:a16="http://schemas.microsoft.com/office/drawing/2014/main" id="{8112F443-C123-D8E5-6E5A-926DF14E01F9}"/>
                </a:ext>
              </a:extLst>
            </p:cNvPr>
            <p:cNvSpPr txBox="1">
              <a:spLocks noChangeArrowheads="1"/>
            </p:cNvSpPr>
            <p:nvPr/>
          </p:nvSpPr>
          <p:spPr bwMode="auto">
            <a:xfrm>
              <a:off x="1387" y="0"/>
              <a:ext cx="9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ea typeface="宋体" panose="02010600030101010101" pitchFamily="2" charset="-122"/>
                </a:rPr>
                <a:t>SRAS</a:t>
              </a:r>
              <a:endParaRPr lang="en-US" altLang="zh-CN" sz="2598" i="1" baseline="-25000" dirty="0">
                <a:ea typeface="宋体" panose="02010600030101010101" pitchFamily="2" charset="-122"/>
              </a:endParaRPr>
            </a:p>
          </p:txBody>
        </p:sp>
      </p:grpSp>
      <p:grpSp>
        <p:nvGrpSpPr>
          <p:cNvPr id="73743" name="Group 15">
            <a:extLst>
              <a:ext uri="{FF2B5EF4-FFF2-40B4-BE49-F238E27FC236}">
                <a16:creationId xmlns:a16="http://schemas.microsoft.com/office/drawing/2014/main" id="{8D9F6F4F-DF50-4B34-AB61-44792340EAFD}"/>
              </a:ext>
            </a:extLst>
          </p:cNvPr>
          <p:cNvGrpSpPr>
            <a:grpSpLocks/>
          </p:cNvGrpSpPr>
          <p:nvPr/>
        </p:nvGrpSpPr>
        <p:grpSpPr bwMode="auto">
          <a:xfrm>
            <a:off x="5306150" y="3814410"/>
            <a:ext cx="2507536" cy="399681"/>
            <a:chOff x="0" y="0"/>
            <a:chExt cx="1581" cy="252"/>
          </a:xfrm>
        </p:grpSpPr>
        <p:sp>
          <p:nvSpPr>
            <p:cNvPr id="73744" name="Line 32">
              <a:extLst>
                <a:ext uri="{FF2B5EF4-FFF2-40B4-BE49-F238E27FC236}">
                  <a16:creationId xmlns:a16="http://schemas.microsoft.com/office/drawing/2014/main" id="{D55B5207-2021-8B34-4142-438EBED1DB41}"/>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3745" name="Text Box 33">
              <a:extLst>
                <a:ext uri="{FF2B5EF4-FFF2-40B4-BE49-F238E27FC236}">
                  <a16:creationId xmlns:a16="http://schemas.microsoft.com/office/drawing/2014/main" id="{8F7820C9-3E60-9A3E-8BA2-73DEF3B7028B}"/>
                </a:ext>
              </a:extLst>
            </p:cNvPr>
            <p:cNvSpPr txBox="1">
              <a:spLocks noChangeArrowheads="1"/>
            </p:cNvSpPr>
            <p:nvPr/>
          </p:nvSpPr>
          <p:spPr bwMode="auto">
            <a:xfrm>
              <a:off x="0" y="0"/>
              <a:ext cx="3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r>
                <a:rPr lang="en-US" altLang="zh-CN" sz="2598" b="1" baseline="-25000">
                  <a:ea typeface="宋体" panose="02010600030101010101" pitchFamily="2" charset="-122"/>
                </a:rPr>
                <a:t>E</a:t>
              </a:r>
            </a:p>
          </p:txBody>
        </p:sp>
        <p:sp>
          <p:nvSpPr>
            <p:cNvPr id="73746" name="Oval 34">
              <a:extLst>
                <a:ext uri="{FF2B5EF4-FFF2-40B4-BE49-F238E27FC236}">
                  <a16:creationId xmlns:a16="http://schemas.microsoft.com/office/drawing/2014/main" id="{487E2667-FDF2-1C82-14CB-1ACC95103A36}"/>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73747" name="Text Box 44">
            <a:extLst>
              <a:ext uri="{FF2B5EF4-FFF2-40B4-BE49-F238E27FC236}">
                <a16:creationId xmlns:a16="http://schemas.microsoft.com/office/drawing/2014/main" id="{54F5D4F0-428B-465B-740D-D3FE42150C2C}"/>
              </a:ext>
            </a:extLst>
          </p:cNvPr>
          <p:cNvSpPr txBox="1">
            <a:spLocks noChangeArrowheads="1"/>
          </p:cNvSpPr>
          <p:nvPr/>
        </p:nvSpPr>
        <p:spPr bwMode="auto">
          <a:xfrm>
            <a:off x="7504407" y="5823928"/>
            <a:ext cx="488501" cy="3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sp>
        <p:nvSpPr>
          <p:cNvPr id="73748" name="Rectangle 45">
            <a:extLst>
              <a:ext uri="{FF2B5EF4-FFF2-40B4-BE49-F238E27FC236}">
                <a16:creationId xmlns:a16="http://schemas.microsoft.com/office/drawing/2014/main" id="{9157DB21-F5B1-60CC-D934-0846304323D9}"/>
              </a:ext>
            </a:extLst>
          </p:cNvPr>
          <p:cNvSpPr>
            <a:spLocks noGrp="1" noChangeArrowheads="1"/>
          </p:cNvSpPr>
          <p:nvPr>
            <p:ph type="body" idx="4294967295"/>
          </p:nvPr>
        </p:nvSpPr>
        <p:spPr>
          <a:xfrm>
            <a:off x="2064278" y="3999975"/>
            <a:ext cx="2872326" cy="1373514"/>
          </a:xfrm>
          <a:noFill/>
          <a:ln>
            <a:solidFill>
              <a:srgbClr val="FF0000"/>
            </a:solidFill>
            <a:miter lim="800000"/>
            <a:headEnd/>
            <a:tailEnd/>
          </a:ln>
        </p:spPr>
        <p:txBody>
          <a:bodyPr/>
          <a:lstStyle/>
          <a:p>
            <a:pPr marL="290273" indent="-290273">
              <a:lnSpc>
                <a:spcPct val="125000"/>
              </a:lnSpc>
              <a:buNone/>
            </a:pPr>
            <a:r>
              <a:rPr lang="zh-CN" altLang="zh-CN" sz="2598">
                <a:ea typeface="宋体" panose="02010600030101010101" pitchFamily="2" charset="-122"/>
              </a:rPr>
              <a:t>       在长期中，</a:t>
            </a:r>
          </a:p>
          <a:p>
            <a:pPr marL="290273" indent="-290273" algn="ctr">
              <a:lnSpc>
                <a:spcPct val="125000"/>
              </a:lnSpc>
              <a:buNone/>
            </a:pPr>
            <a:r>
              <a:rPr lang="zh-CN" altLang="zh-CN" sz="2598" b="1" i="1">
                <a:ea typeface="宋体" panose="02010600030101010101" pitchFamily="2" charset="-122"/>
              </a:rPr>
              <a:t>P</a:t>
            </a:r>
            <a:r>
              <a:rPr lang="zh-CN" altLang="zh-CN" sz="2598" b="1" baseline="-25000">
                <a:ea typeface="宋体" panose="02010600030101010101" pitchFamily="2" charset="-122"/>
              </a:rPr>
              <a:t>E</a:t>
            </a:r>
            <a:r>
              <a:rPr lang="zh-CN" altLang="zh-CN" sz="2598">
                <a:ea typeface="宋体" panose="02010600030101010101" pitchFamily="2" charset="-122"/>
              </a:rPr>
              <a:t> = </a:t>
            </a:r>
            <a:r>
              <a:rPr lang="zh-CN" altLang="zh-CN" sz="2598" b="1" i="1">
                <a:ea typeface="宋体" panose="02010600030101010101" pitchFamily="2" charset="-122"/>
              </a:rPr>
              <a:t>P</a:t>
            </a:r>
            <a:r>
              <a:rPr lang="zh-CN" altLang="zh-CN" sz="2598">
                <a:ea typeface="宋体" panose="02010600030101010101" pitchFamily="2" charset="-122"/>
              </a:rPr>
              <a:t> ，</a:t>
            </a:r>
            <a:r>
              <a:rPr lang="zh-CN" altLang="zh-CN" sz="2598" b="1" i="1">
                <a:ea typeface="宋体" panose="02010600030101010101" pitchFamily="2" charset="-122"/>
              </a:rPr>
              <a:t>Y</a:t>
            </a:r>
            <a:r>
              <a:rPr lang="zh-CN" altLang="zh-CN" sz="2598">
                <a:ea typeface="宋体" panose="02010600030101010101" pitchFamily="2" charset="-122"/>
              </a:rPr>
              <a:t> = </a:t>
            </a:r>
            <a:r>
              <a:rPr lang="zh-CN" altLang="zh-CN" sz="2598" b="1" i="1">
                <a:ea typeface="宋体" panose="02010600030101010101" pitchFamily="2" charset="-122"/>
              </a:rPr>
              <a:t>Y</a:t>
            </a:r>
            <a:r>
              <a:rPr lang="zh-CN" altLang="zh-CN" sz="2598" b="1" baseline="-25000">
                <a:ea typeface="宋体" panose="02010600030101010101" pitchFamily="2" charset="-122"/>
              </a:rPr>
              <a:t>N</a:t>
            </a:r>
            <a:r>
              <a:rPr lang="zh-CN" altLang="zh-CN" sz="2598">
                <a:ea typeface="宋体" panose="02010600030101010101" pitchFamily="2" charset="-122"/>
              </a:rPr>
              <a:t>.</a:t>
            </a:r>
          </a:p>
        </p:txBody>
      </p:sp>
      <p:sp>
        <p:nvSpPr>
          <p:cNvPr id="73749" name="FlagCount" hidden="1">
            <a:hlinkClick r:id="rId3" action="ppaction://hlinkfile"/>
            <a:extLst>
              <a:ext uri="{FF2B5EF4-FFF2-40B4-BE49-F238E27FC236}">
                <a16:creationId xmlns:a16="http://schemas.microsoft.com/office/drawing/2014/main" id="{D7FD9C9C-258A-13B2-88FC-B15B20297C5A}"/>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
        <p:nvSpPr>
          <p:cNvPr id="73750" name="Rectangle 47">
            <a:extLst>
              <a:ext uri="{FF2B5EF4-FFF2-40B4-BE49-F238E27FC236}">
                <a16:creationId xmlns:a16="http://schemas.microsoft.com/office/drawing/2014/main" id="{D870EC55-44D3-FD8A-70A8-5370259F4782}"/>
              </a:ext>
            </a:extLst>
          </p:cNvPr>
          <p:cNvSpPr>
            <a:spLocks noChangeArrowheads="1"/>
          </p:cNvSpPr>
          <p:nvPr/>
        </p:nvSpPr>
        <p:spPr bwMode="auto">
          <a:xfrm>
            <a:off x="1672485" y="2218849"/>
            <a:ext cx="3806546" cy="704204"/>
          </a:xfrm>
          <a:prstGeom prst="rect">
            <a:avLst/>
          </a:prstGeom>
          <a:solidFill>
            <a:srgbClr val="CC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2798" b="1" i="1" dirty="0">
                <a:ea typeface="宋体" panose="02010600030101010101" pitchFamily="2" charset="-122"/>
              </a:rPr>
              <a:t>Y</a:t>
            </a:r>
            <a:r>
              <a:rPr lang="en-US" altLang="zh-CN" sz="2798" dirty="0">
                <a:ea typeface="宋体" panose="02010600030101010101" pitchFamily="2" charset="-122"/>
              </a:rPr>
              <a:t>  = </a:t>
            </a:r>
            <a:r>
              <a:rPr lang="en-US" altLang="zh-CN" sz="999" dirty="0">
                <a:ea typeface="宋体" panose="02010600030101010101" pitchFamily="2" charset="-122"/>
              </a:rPr>
              <a:t> </a:t>
            </a:r>
            <a:r>
              <a:rPr lang="en-US" altLang="zh-CN" sz="2798" b="1" i="1" dirty="0">
                <a:ea typeface="宋体" panose="02010600030101010101" pitchFamily="2" charset="-122"/>
              </a:rPr>
              <a:t>Y</a:t>
            </a:r>
            <a:r>
              <a:rPr lang="en-US" altLang="zh-CN" sz="2798" b="1" baseline="-25000" dirty="0">
                <a:ea typeface="宋体" panose="02010600030101010101" pitchFamily="2" charset="-122"/>
              </a:rPr>
              <a:t>N</a:t>
            </a:r>
            <a:r>
              <a:rPr lang="en-US" altLang="zh-CN" sz="2798" dirty="0">
                <a:ea typeface="宋体" panose="02010600030101010101" pitchFamily="2" charset="-122"/>
              </a:rPr>
              <a:t>  +  </a:t>
            </a:r>
            <a:r>
              <a:rPr lang="en-US" altLang="zh-CN" sz="2798" b="1" i="1" dirty="0">
                <a:latin typeface="Times New Roman" panose="02020603050405020304" pitchFamily="18" charset="0"/>
                <a:ea typeface="宋体" panose="02010600030101010101" pitchFamily="2" charset="-122"/>
              </a:rPr>
              <a:t>a</a:t>
            </a:r>
            <a:r>
              <a:rPr lang="en-US" altLang="zh-CN" sz="999" dirty="0">
                <a:ea typeface="宋体" panose="02010600030101010101" pitchFamily="2" charset="-122"/>
              </a:rPr>
              <a:t> </a:t>
            </a:r>
            <a:r>
              <a:rPr lang="en-US" altLang="zh-CN" sz="2798" dirty="0">
                <a:ea typeface="宋体" panose="02010600030101010101" pitchFamily="2" charset="-122"/>
              </a:rPr>
              <a:t>(</a:t>
            </a:r>
            <a:r>
              <a:rPr lang="en-US" altLang="zh-CN" sz="2798" b="1" i="1" dirty="0">
                <a:ea typeface="宋体" panose="02010600030101010101" pitchFamily="2" charset="-122"/>
              </a:rPr>
              <a:t>P</a:t>
            </a:r>
            <a:r>
              <a:rPr lang="en-US" altLang="zh-CN" sz="2798" b="1" dirty="0">
                <a:ea typeface="宋体" panose="02010600030101010101" pitchFamily="2" charset="-122"/>
              </a:rPr>
              <a:t>  </a:t>
            </a:r>
            <a:r>
              <a:rPr lang="en-US" altLang="zh-CN" sz="2798" dirty="0">
                <a:ea typeface="宋体" panose="02010600030101010101" pitchFamily="2" charset="-122"/>
              </a:rPr>
              <a:t>–  </a:t>
            </a:r>
            <a:r>
              <a:rPr lang="en-US" altLang="zh-CN" sz="2798" b="1" i="1" dirty="0">
                <a:ea typeface="宋体" panose="02010600030101010101" pitchFamily="2" charset="-122"/>
              </a:rPr>
              <a:t>P</a:t>
            </a:r>
            <a:r>
              <a:rPr lang="en-US" altLang="zh-CN" sz="2798" b="1" baseline="-25000" dirty="0">
                <a:ea typeface="宋体" panose="02010600030101010101" pitchFamily="2" charset="-122"/>
              </a:rPr>
              <a:t>E</a:t>
            </a:r>
            <a:r>
              <a:rPr lang="en-US" altLang="zh-CN" sz="2798" dirty="0">
                <a:ea typeface="宋体" panose="02010600030101010101" pitchFamily="2" charset="-122"/>
              </a:rPr>
              <a:t>)</a:t>
            </a:r>
          </a:p>
        </p:txBody>
      </p:sp>
    </p:spTree>
    <p:extLst>
      <p:ext uri="{BB962C8B-B14F-4D97-AF65-F5344CB8AC3E}">
        <p14:creationId xmlns:p14="http://schemas.microsoft.com/office/powerpoint/2010/main" val="2479020861"/>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02A37ED-ADA1-6C70-DDEB-F6ED2A361A8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927C01A-9E85-2535-361E-7FAAD0E6611A}"/>
              </a:ext>
            </a:extLst>
          </p:cNvPr>
          <p:cNvSpPr>
            <a:spLocks noGrp="1"/>
          </p:cNvSpPr>
          <p:nvPr>
            <p:ph type="sldNum" sz="quarter" idx="11"/>
          </p:nvPr>
        </p:nvSpPr>
        <p:spPr/>
        <p:txBody>
          <a:bodyPr/>
          <a:lstStyle/>
          <a:p>
            <a:fld id="{20B685C0-79EC-7F42-A4B1-FDBA64A910F3}" type="slidenum">
              <a:rPr lang="zh-CN" altLang="zh-CN"/>
              <a:pPr/>
              <a:t>29</a:t>
            </a:fld>
            <a:endParaRPr lang="zh-CN" altLang="zh-CN"/>
          </a:p>
        </p:txBody>
      </p:sp>
      <p:sp>
        <p:nvSpPr>
          <p:cNvPr id="75778" name="Rectangle 2">
            <a:extLst>
              <a:ext uri="{FF2B5EF4-FFF2-40B4-BE49-F238E27FC236}">
                <a16:creationId xmlns:a16="http://schemas.microsoft.com/office/drawing/2014/main" id="{26344E6F-1DBD-CDD5-729B-13C0954B6572}"/>
              </a:ext>
            </a:extLst>
          </p:cNvPr>
          <p:cNvSpPr>
            <a:spLocks noGrp="1" noChangeArrowheads="1"/>
          </p:cNvSpPr>
          <p:nvPr>
            <p:ph type="title" idx="4294967295"/>
          </p:nvPr>
        </p:nvSpPr>
        <p:spPr>
          <a:xfrm>
            <a:off x="1867509" y="85000"/>
            <a:ext cx="8402860" cy="681036"/>
          </a:xfrm>
        </p:spPr>
        <p:txBody>
          <a:bodyPr/>
          <a:lstStyle/>
          <a:p>
            <a:r>
              <a:rPr lang="zh-CN" altLang="en-US" sz="3597" dirty="0">
                <a:ea typeface="宋体" panose="02010600030101010101" pitchFamily="2" charset="-122"/>
              </a:rPr>
              <a:t>为什么短期总供给曲线会移动</a:t>
            </a:r>
          </a:p>
        </p:txBody>
      </p:sp>
      <mc:AlternateContent xmlns:mc="http://schemas.openxmlformats.org/markup-compatibility/2006">
        <mc:Choice xmlns:a14="http://schemas.microsoft.com/office/drawing/2010/main" Requires="a14">
          <p:sp>
            <p:nvSpPr>
              <p:cNvPr id="75779" name="Rectangle 3">
                <a:extLst>
                  <a:ext uri="{FF2B5EF4-FFF2-40B4-BE49-F238E27FC236}">
                    <a16:creationId xmlns:a16="http://schemas.microsoft.com/office/drawing/2014/main" id="{590F4E64-4B01-1C34-6110-FD859F64F885}"/>
                  </a:ext>
                </a:extLst>
              </p:cNvPr>
              <p:cNvSpPr>
                <a:spLocks noGrp="1" noChangeArrowheads="1"/>
              </p:cNvSpPr>
              <p:nvPr>
                <p:ph type="body" idx="4294967295"/>
              </p:nvPr>
            </p:nvSpPr>
            <p:spPr>
              <a:xfrm>
                <a:off x="1559231" y="842159"/>
                <a:ext cx="4562907" cy="5901534"/>
              </a:xfrm>
            </p:spPr>
            <p:txBody>
              <a:bodyPr/>
              <a:lstStyle/>
              <a:p>
                <a:pPr>
                  <a:lnSpc>
                    <a:spcPct val="100000"/>
                  </a:lnSpc>
                  <a:buFont typeface="Wingdings" panose="05000000000000000000" pitchFamily="2" charset="2"/>
                  <a:buChar char="l"/>
                </a:pPr>
                <a:r>
                  <a:rPr lang="zh-CN" altLang="zh-CN" sz="1982" dirty="0">
                    <a:latin typeface="Times New Roman" panose="02020603050405020304" pitchFamily="18" charset="0"/>
                  </a:rPr>
                  <a:t>短期总供给曲线移动，主要来自两类因素：</a:t>
                </a:r>
                <a:endParaRPr lang="en-US" altLang="zh-CN" sz="1982" dirty="0">
                  <a:latin typeface="Times New Roman" panose="02020603050405020304" pitchFamily="18" charset="0"/>
                </a:endParaRPr>
              </a:p>
              <a:p>
                <a:pPr>
                  <a:lnSpc>
                    <a:spcPct val="100000"/>
                  </a:lnSpc>
                </a:pPr>
                <a:r>
                  <a:rPr lang="zh-CN" altLang="zh-CN" sz="1982" b="1" dirty="0">
                    <a:latin typeface="Times New Roman" panose="02020603050405020304" pitchFamily="18" charset="0"/>
                  </a:rPr>
                  <a:t>1. 生产能力变化</a:t>
                </a:r>
                <a:br>
                  <a:rPr lang="zh-CN" altLang="zh-CN" sz="1982" dirty="0">
                    <a:latin typeface="Times New Roman" panose="02020603050405020304" pitchFamily="18" charset="0"/>
                  </a:rPr>
                </a:br>
                <a:r>
                  <a:rPr lang="zh-CN" altLang="zh-CN" sz="1982" dirty="0">
                    <a:latin typeface="Times New Roman" panose="02020603050405020304" pitchFamily="18" charset="0"/>
                  </a:rPr>
                  <a:t>劳动、资本、自然资源和技术变化，会影响经济能够生产的产出水平。</a:t>
                </a:r>
                <a:r>
                  <a:rPr lang="zh-CN" altLang="en-US" sz="1982" dirty="0">
                    <a:latin typeface="Times New Roman" panose="02020603050405020304" pitchFamily="18" charset="0"/>
                  </a:rPr>
                  <a:t>（</a:t>
                </a:r>
                <a:r>
                  <a:rPr lang="zh-CN" altLang="en-US" sz="1982" b="1" dirty="0">
                    <a:latin typeface="Times New Roman" panose="02020603050405020304" pitchFamily="18" charset="0"/>
                  </a:rPr>
                  <a:t>使长期总供给曲线发生移动的因素</a:t>
                </a:r>
                <a:r>
                  <a:rPr lang="zh-CN" altLang="en-US" sz="1982" dirty="0">
                    <a:latin typeface="Times New Roman" panose="02020603050405020304" pitchFamily="18" charset="0"/>
                  </a:rPr>
                  <a:t>一般也会影响短期供给曲线移动）</a:t>
                </a:r>
                <a:endParaRPr lang="zh-CN" altLang="zh-CN" sz="1982" dirty="0">
                  <a:latin typeface="Times New Roman" panose="02020603050405020304" pitchFamily="18" charset="0"/>
                </a:endParaRPr>
              </a:p>
              <a:p>
                <a:pPr>
                  <a:lnSpc>
                    <a:spcPct val="100000"/>
                  </a:lnSpc>
                </a:pPr>
                <a:r>
                  <a:rPr lang="zh-CN" altLang="zh-CN" sz="1982" b="1" dirty="0">
                    <a:latin typeface="Times New Roman" panose="02020603050405020304" pitchFamily="18" charset="0"/>
                  </a:rPr>
                  <a:t>2. 生产成本变化</a:t>
                </a:r>
                <a:br>
                  <a:rPr lang="zh-CN" altLang="zh-CN" sz="1982" dirty="0">
                    <a:latin typeface="Times New Roman" panose="02020603050405020304" pitchFamily="18" charset="0"/>
                  </a:rPr>
                </a:br>
                <a:r>
                  <a:rPr lang="zh-CN" altLang="zh-CN" sz="1982" dirty="0">
                    <a:latin typeface="Times New Roman" panose="02020603050405020304" pitchFamily="18" charset="0"/>
                  </a:rPr>
                  <a:t>预期物价水平、名义工资和投入品价格变化，会影响企业在既定价格水平下的生产意愿。其中，</a:t>
                </a:r>
                <a:r>
                  <a:rPr lang="zh-CN" altLang="zh-CN" sz="1982" b="1" dirty="0">
                    <a:latin typeface="Times New Roman" panose="02020603050405020304" pitchFamily="18" charset="0"/>
                  </a:rPr>
                  <a:t>预期物价水平属于生产成本因素</a:t>
                </a:r>
                <a:r>
                  <a:rPr lang="zh-CN" altLang="zh-CN" sz="1982" dirty="0">
                    <a:latin typeface="Times New Roman" panose="02020603050405020304" pitchFamily="18" charset="0"/>
                  </a:rPr>
                  <a:t>：</a:t>
                </a:r>
                <a:endParaRPr lang="en-US" altLang="zh-CN" sz="1982" dirty="0">
                  <a:latin typeface="Times New Roman" panose="02020603050405020304" pitchFamily="18" charset="0"/>
                </a:endParaRPr>
              </a:p>
              <a:p>
                <a:pPr lvl="1"/>
                <a:r>
                  <a:rPr lang="en-US" altLang="zh-CN" sz="1881" dirty="0">
                    <a:latin typeface="Times New Roman" panose="02020603050405020304" pitchFamily="18" charset="0"/>
                  </a:rPr>
                  <a:t>1.</a:t>
                </a:r>
                <a:r>
                  <a:rPr lang="zh-CN" altLang="en-US" sz="1881" dirty="0">
                    <a:latin typeface="Times New Roman" panose="02020603050405020304" pitchFamily="18" charset="0"/>
                  </a:rPr>
                  <a:t>（</a:t>
                </a:r>
                <a14:m>
                  <m:oMath xmlns:m="http://schemas.openxmlformats.org/officeDocument/2006/math">
                    <m:sSub>
                      <m:sSubPr>
                        <m:ctrlPr>
                          <a:rPr lang="zh-CN" altLang="zh-CN" sz="1881" i="1" dirty="0">
                            <a:latin typeface="Cambria Math" panose="02040503050406030204" pitchFamily="18" charset="0"/>
                          </a:rPr>
                        </m:ctrlPr>
                      </m:sSubPr>
                      <m:e>
                        <m:r>
                          <a:rPr lang="zh-CN" altLang="zh-CN" sz="1881" i="1" dirty="0">
                            <a:latin typeface="Cambria Math" panose="02040503050406030204" pitchFamily="18" charset="0"/>
                          </a:rPr>
                          <m:t>𝑃</m:t>
                        </m:r>
                      </m:e>
                      <m:sub>
                        <m:r>
                          <a:rPr lang="zh-CN" altLang="zh-CN" sz="1881" i="1" dirty="0">
                            <a:latin typeface="Cambria Math" panose="02040503050406030204" pitchFamily="18" charset="0"/>
                          </a:rPr>
                          <m:t>𝐸</m:t>
                        </m:r>
                      </m:sub>
                    </m:sSub>
                    <m:r>
                      <a:rPr lang="zh-CN" altLang="en-US" sz="1881" i="1" dirty="0">
                        <a:latin typeface="Cambria Math" panose="02040503050406030204" pitchFamily="18" charset="0"/>
                      </a:rPr>
                      <m:t>）</m:t>
                    </m:r>
                  </m:oMath>
                </a14:m>
                <a:r>
                  <a:rPr lang="zh-CN" altLang="zh-CN" sz="1881" dirty="0">
                    <a:latin typeface="Times New Roman" panose="02020603050405020304" pitchFamily="18" charset="0"/>
                  </a:rPr>
                  <a:t>上升 → 名义工资和成本上升 → SRAS左移</a:t>
                </a:r>
                <a:endParaRPr lang="en-US" altLang="zh-CN" sz="1881" dirty="0">
                  <a:latin typeface="Times New Roman" panose="02020603050405020304" pitchFamily="18" charset="0"/>
                </a:endParaRPr>
              </a:p>
              <a:p>
                <a:pPr lvl="1"/>
                <a:r>
                  <a:rPr lang="en-US" altLang="zh-CN" sz="1881" dirty="0">
                    <a:latin typeface="Times New Roman" panose="02020603050405020304" pitchFamily="18" charset="0"/>
                  </a:rPr>
                  <a:t>2.</a:t>
                </a:r>
                <a:r>
                  <a:rPr lang="zh-CN" altLang="en-US" sz="1881" dirty="0">
                    <a:latin typeface="Times New Roman" panose="02020603050405020304" pitchFamily="18" charset="0"/>
                  </a:rPr>
                  <a:t>（</a:t>
                </a:r>
                <a14:m>
                  <m:oMath xmlns:m="http://schemas.openxmlformats.org/officeDocument/2006/math">
                    <m:sSub>
                      <m:sSubPr>
                        <m:ctrlPr>
                          <a:rPr lang="zh-CN" altLang="zh-CN" sz="1881" i="1" dirty="0">
                            <a:latin typeface="Cambria Math" panose="02040503050406030204" pitchFamily="18" charset="0"/>
                          </a:rPr>
                        </m:ctrlPr>
                      </m:sSubPr>
                      <m:e>
                        <m:r>
                          <a:rPr lang="zh-CN" altLang="zh-CN" sz="1881" i="1" dirty="0">
                            <a:latin typeface="Cambria Math" panose="02040503050406030204" pitchFamily="18" charset="0"/>
                          </a:rPr>
                          <m:t>𝑃</m:t>
                        </m:r>
                      </m:e>
                      <m:sub>
                        <m:r>
                          <a:rPr lang="zh-CN" altLang="zh-CN" sz="1881" i="1" dirty="0">
                            <a:latin typeface="Cambria Math" panose="02040503050406030204" pitchFamily="18" charset="0"/>
                          </a:rPr>
                          <m:t>𝐸</m:t>
                        </m:r>
                      </m:sub>
                    </m:sSub>
                    <m:r>
                      <a:rPr lang="zh-CN" altLang="en-US" sz="1881" i="1" dirty="0">
                        <a:latin typeface="Cambria Math" panose="02040503050406030204" pitchFamily="18" charset="0"/>
                      </a:rPr>
                      <m:t>）</m:t>
                    </m:r>
                  </m:oMath>
                </a14:m>
                <a:r>
                  <a:rPr lang="zh-CN" altLang="zh-CN" sz="1881" dirty="0">
                    <a:latin typeface="Times New Roman" panose="02020603050405020304" pitchFamily="18" charset="0"/>
                  </a:rPr>
                  <a:t>下降 → 名义工资和成本下降 → SRAS右移 </a:t>
                </a:r>
              </a:p>
            </p:txBody>
          </p:sp>
        </mc:Choice>
        <mc:Fallback>
          <p:sp>
            <p:nvSpPr>
              <p:cNvPr id="75779" name="Rectangle 3">
                <a:extLst>
                  <a:ext uri="{FF2B5EF4-FFF2-40B4-BE49-F238E27FC236}">
                    <a16:creationId xmlns:a16="http://schemas.microsoft.com/office/drawing/2014/main" id="{590F4E64-4B01-1C34-6110-FD859F64F885}"/>
                  </a:ext>
                </a:extLst>
              </p:cNvPr>
              <p:cNvSpPr>
                <a:spLocks noGrp="1" noRot="1" noChangeAspect="1" noMove="1" noResize="1" noEditPoints="1" noAdjustHandles="1" noChangeArrowheads="1" noChangeShapeType="1" noTextEdit="1"/>
              </p:cNvSpPr>
              <p:nvPr>
                <p:ph type="body" idx="4294967295"/>
              </p:nvPr>
            </p:nvSpPr>
            <p:spPr>
              <a:xfrm>
                <a:off x="1559231" y="842159"/>
                <a:ext cx="4562907" cy="5901534"/>
              </a:xfrm>
              <a:blipFill>
                <a:blip r:embed="rId2"/>
                <a:stretch>
                  <a:fillRect l="-1872" t="-930" r="-1337"/>
                </a:stretch>
              </a:blipFill>
            </p:spPr>
            <p:txBody>
              <a:bodyPr/>
              <a:lstStyle/>
              <a:p>
                <a:r>
                  <a:rPr lang="zh-CN" altLang="en-US">
                    <a:noFill/>
                  </a:rPr>
                  <a:t> </a:t>
                </a:r>
              </a:p>
            </p:txBody>
          </p:sp>
        </mc:Fallback>
      </mc:AlternateContent>
      <p:grpSp>
        <p:nvGrpSpPr>
          <p:cNvPr id="75780" name="Group 4">
            <a:extLst>
              <a:ext uri="{FF2B5EF4-FFF2-40B4-BE49-F238E27FC236}">
                <a16:creationId xmlns:a16="http://schemas.microsoft.com/office/drawing/2014/main" id="{A10A5FC4-939E-3633-2CF2-C9311B7E9363}"/>
              </a:ext>
            </a:extLst>
          </p:cNvPr>
          <p:cNvGrpSpPr>
            <a:grpSpLocks/>
          </p:cNvGrpSpPr>
          <p:nvPr/>
        </p:nvGrpSpPr>
        <p:grpSpPr bwMode="auto">
          <a:xfrm>
            <a:off x="7445624" y="1078484"/>
            <a:ext cx="1435372" cy="3835054"/>
            <a:chOff x="-163" y="0"/>
            <a:chExt cx="905" cy="2418"/>
          </a:xfrm>
        </p:grpSpPr>
        <p:sp>
          <p:nvSpPr>
            <p:cNvPr id="75781" name="Line 5">
              <a:extLst>
                <a:ext uri="{FF2B5EF4-FFF2-40B4-BE49-F238E27FC236}">
                  <a16:creationId xmlns:a16="http://schemas.microsoft.com/office/drawing/2014/main" id="{2C7DD2EC-94F1-599A-F941-75E51B60690F}"/>
                </a:ext>
              </a:extLst>
            </p:cNvPr>
            <p:cNvSpPr>
              <a:spLocks noChangeShapeType="1"/>
            </p:cNvSpPr>
            <p:nvPr/>
          </p:nvSpPr>
          <p:spPr bwMode="auto">
            <a:xfrm rot="16200000" flipH="1">
              <a:off x="-716" y="1333"/>
              <a:ext cx="2167" cy="3"/>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82" name="Text Box 6">
              <a:extLst>
                <a:ext uri="{FF2B5EF4-FFF2-40B4-BE49-F238E27FC236}">
                  <a16:creationId xmlns:a16="http://schemas.microsoft.com/office/drawing/2014/main" id="{4B4EFD9A-1984-9DDA-F3F2-088F2A0E8221}"/>
                </a:ext>
              </a:extLst>
            </p:cNvPr>
            <p:cNvSpPr txBox="1">
              <a:spLocks noChangeArrowheads="1"/>
            </p:cNvSpPr>
            <p:nvPr/>
          </p:nvSpPr>
          <p:spPr bwMode="auto">
            <a:xfrm>
              <a:off x="-163" y="0"/>
              <a:ext cx="90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solidFill>
                    <a:srgbClr val="5F5F5F"/>
                  </a:solidFill>
                  <a:ea typeface="宋体" panose="02010600030101010101" pitchFamily="2" charset="-122"/>
                </a:rPr>
                <a:t>LRAS</a:t>
              </a:r>
              <a:endParaRPr lang="en-US" altLang="zh-CN" sz="2598" i="1" baseline="-25000" dirty="0">
                <a:solidFill>
                  <a:srgbClr val="5F5F5F"/>
                </a:solidFill>
                <a:ea typeface="宋体" panose="02010600030101010101" pitchFamily="2" charset="-122"/>
              </a:endParaRPr>
            </a:p>
          </p:txBody>
        </p:sp>
      </p:grpSp>
      <p:grpSp>
        <p:nvGrpSpPr>
          <p:cNvPr id="75783" name="Group 7">
            <a:extLst>
              <a:ext uri="{FF2B5EF4-FFF2-40B4-BE49-F238E27FC236}">
                <a16:creationId xmlns:a16="http://schemas.microsoft.com/office/drawing/2014/main" id="{33DBB9D4-CB4A-EE6C-E144-3E7CC04BA4A5}"/>
              </a:ext>
            </a:extLst>
          </p:cNvPr>
          <p:cNvGrpSpPr>
            <a:grpSpLocks/>
          </p:cNvGrpSpPr>
          <p:nvPr/>
        </p:nvGrpSpPr>
        <p:grpSpPr bwMode="auto">
          <a:xfrm>
            <a:off x="6381390" y="1026144"/>
            <a:ext cx="3676449" cy="4138208"/>
            <a:chOff x="0" y="0"/>
            <a:chExt cx="2786" cy="2441"/>
          </a:xfrm>
        </p:grpSpPr>
        <p:grpSp>
          <p:nvGrpSpPr>
            <p:cNvPr id="75784" name="Group 8">
              <a:extLst>
                <a:ext uri="{FF2B5EF4-FFF2-40B4-BE49-F238E27FC236}">
                  <a16:creationId xmlns:a16="http://schemas.microsoft.com/office/drawing/2014/main" id="{6F3C6DE0-561F-0F5A-7A0C-43067E4DB066}"/>
                </a:ext>
              </a:extLst>
            </p:cNvPr>
            <p:cNvGrpSpPr>
              <a:grpSpLocks/>
            </p:cNvGrpSpPr>
            <p:nvPr/>
          </p:nvGrpSpPr>
          <p:grpSpPr bwMode="auto">
            <a:xfrm>
              <a:off x="118" y="252"/>
              <a:ext cx="2409" cy="2049"/>
              <a:chOff x="0" y="0"/>
              <a:chExt cx="2116" cy="2027"/>
            </a:xfrm>
          </p:grpSpPr>
          <p:sp>
            <p:nvSpPr>
              <p:cNvPr id="75785" name="Line 9">
                <a:extLst>
                  <a:ext uri="{FF2B5EF4-FFF2-40B4-BE49-F238E27FC236}">
                    <a16:creationId xmlns:a16="http://schemas.microsoft.com/office/drawing/2014/main" id="{23ABCBE8-0F74-2F01-85BC-BB956A62883C}"/>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86" name="Line 10">
                <a:extLst>
                  <a:ext uri="{FF2B5EF4-FFF2-40B4-BE49-F238E27FC236}">
                    <a16:creationId xmlns:a16="http://schemas.microsoft.com/office/drawing/2014/main" id="{E5F5E5B7-EFDE-A675-A17C-6E3B94515D45}"/>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75787" name="Text Box 11">
              <a:extLst>
                <a:ext uri="{FF2B5EF4-FFF2-40B4-BE49-F238E27FC236}">
                  <a16:creationId xmlns:a16="http://schemas.microsoft.com/office/drawing/2014/main" id="{097C31F8-77A4-572B-FE92-46501B88B62F}"/>
                </a:ext>
              </a:extLst>
            </p:cNvPr>
            <p:cNvSpPr txBox="1">
              <a:spLocks noChangeArrowheads="1"/>
            </p:cNvSpPr>
            <p:nvPr/>
          </p:nvSpPr>
          <p:spPr bwMode="auto">
            <a:xfrm>
              <a:off x="0" y="0"/>
              <a:ext cx="2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p>
          </p:txBody>
        </p:sp>
        <p:sp>
          <p:nvSpPr>
            <p:cNvPr id="75788" name="Text Box 12">
              <a:extLst>
                <a:ext uri="{FF2B5EF4-FFF2-40B4-BE49-F238E27FC236}">
                  <a16:creationId xmlns:a16="http://schemas.microsoft.com/office/drawing/2014/main" id="{8759D125-F690-BBC2-58A9-239EBBADFCDE}"/>
                </a:ext>
              </a:extLst>
            </p:cNvPr>
            <p:cNvSpPr txBox="1">
              <a:spLocks noChangeArrowheads="1"/>
            </p:cNvSpPr>
            <p:nvPr/>
          </p:nvSpPr>
          <p:spPr bwMode="auto">
            <a:xfrm>
              <a:off x="2496" y="2151"/>
              <a:ext cx="29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Y</a:t>
              </a:r>
            </a:p>
          </p:txBody>
        </p:sp>
      </p:grpSp>
      <p:grpSp>
        <p:nvGrpSpPr>
          <p:cNvPr id="75789" name="Group 13">
            <a:extLst>
              <a:ext uri="{FF2B5EF4-FFF2-40B4-BE49-F238E27FC236}">
                <a16:creationId xmlns:a16="http://schemas.microsoft.com/office/drawing/2014/main" id="{B48871D6-EBB7-B830-98F1-410696758065}"/>
              </a:ext>
            </a:extLst>
          </p:cNvPr>
          <p:cNvGrpSpPr>
            <a:grpSpLocks/>
          </p:cNvGrpSpPr>
          <p:nvPr/>
        </p:nvGrpSpPr>
        <p:grpSpPr bwMode="auto">
          <a:xfrm>
            <a:off x="7361564" y="1828682"/>
            <a:ext cx="3381446" cy="2599526"/>
            <a:chOff x="0" y="0"/>
            <a:chExt cx="2132" cy="1639"/>
          </a:xfrm>
        </p:grpSpPr>
        <p:sp>
          <p:nvSpPr>
            <p:cNvPr id="75790" name="Line 14">
              <a:extLst>
                <a:ext uri="{FF2B5EF4-FFF2-40B4-BE49-F238E27FC236}">
                  <a16:creationId xmlns:a16="http://schemas.microsoft.com/office/drawing/2014/main" id="{FC538F13-6E44-349F-8514-0B4C1FDAE751}"/>
                </a:ext>
              </a:extLst>
            </p:cNvPr>
            <p:cNvSpPr>
              <a:spLocks noChangeShapeType="1"/>
            </p:cNvSpPr>
            <p:nvPr/>
          </p:nvSpPr>
          <p:spPr bwMode="auto">
            <a:xfrm flipV="1">
              <a:off x="0" y="255"/>
              <a:ext cx="1393"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91" name="Text Box 15">
              <a:extLst>
                <a:ext uri="{FF2B5EF4-FFF2-40B4-BE49-F238E27FC236}">
                  <a16:creationId xmlns:a16="http://schemas.microsoft.com/office/drawing/2014/main" id="{13A1382B-7E57-73BC-7D0C-F69092A09328}"/>
                </a:ext>
              </a:extLst>
            </p:cNvPr>
            <p:cNvSpPr txBox="1">
              <a:spLocks noChangeArrowheads="1"/>
            </p:cNvSpPr>
            <p:nvPr/>
          </p:nvSpPr>
          <p:spPr bwMode="auto">
            <a:xfrm>
              <a:off x="1298" y="0"/>
              <a:ext cx="8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ea typeface="宋体" panose="02010600030101010101" pitchFamily="2" charset="-122"/>
                </a:rPr>
                <a:t>SRAS</a:t>
              </a:r>
              <a:endParaRPr lang="en-US" altLang="zh-CN" sz="2598" i="1" baseline="-25000" dirty="0">
                <a:ea typeface="宋体" panose="02010600030101010101" pitchFamily="2" charset="-122"/>
              </a:endParaRPr>
            </a:p>
          </p:txBody>
        </p:sp>
      </p:grpSp>
      <p:grpSp>
        <p:nvGrpSpPr>
          <p:cNvPr id="75792" name="Group 16">
            <a:extLst>
              <a:ext uri="{FF2B5EF4-FFF2-40B4-BE49-F238E27FC236}">
                <a16:creationId xmlns:a16="http://schemas.microsoft.com/office/drawing/2014/main" id="{BDE6D4C4-F93A-8A22-274A-77EF07CF3B39}"/>
              </a:ext>
            </a:extLst>
          </p:cNvPr>
          <p:cNvGrpSpPr>
            <a:grpSpLocks/>
          </p:cNvGrpSpPr>
          <p:nvPr/>
        </p:nvGrpSpPr>
        <p:grpSpPr bwMode="auto">
          <a:xfrm>
            <a:off x="6068938" y="3325908"/>
            <a:ext cx="2288661" cy="399681"/>
            <a:chOff x="0" y="0"/>
            <a:chExt cx="1581" cy="252"/>
          </a:xfrm>
        </p:grpSpPr>
        <p:sp>
          <p:nvSpPr>
            <p:cNvPr id="75793" name="Line 17">
              <a:extLst>
                <a:ext uri="{FF2B5EF4-FFF2-40B4-BE49-F238E27FC236}">
                  <a16:creationId xmlns:a16="http://schemas.microsoft.com/office/drawing/2014/main" id="{2CAE0C7D-2E9F-4482-731E-542093660CE6}"/>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94" name="Text Box 18">
              <a:extLst>
                <a:ext uri="{FF2B5EF4-FFF2-40B4-BE49-F238E27FC236}">
                  <a16:creationId xmlns:a16="http://schemas.microsoft.com/office/drawing/2014/main" id="{CCDC26F9-2B90-E27E-EC0B-6E3180411D4C}"/>
                </a:ext>
              </a:extLst>
            </p:cNvPr>
            <p:cNvSpPr txBox="1">
              <a:spLocks noChangeArrowheads="1"/>
            </p:cNvSpPr>
            <p:nvPr/>
          </p:nvSpPr>
          <p:spPr bwMode="auto">
            <a:xfrm>
              <a:off x="0" y="0"/>
              <a:ext cx="3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r>
                <a:rPr lang="en-US" altLang="zh-CN" sz="2598" b="1" baseline="-25000">
                  <a:ea typeface="宋体" panose="02010600030101010101" pitchFamily="2" charset="-122"/>
                </a:rPr>
                <a:t>E</a:t>
              </a:r>
            </a:p>
          </p:txBody>
        </p:sp>
        <p:sp>
          <p:nvSpPr>
            <p:cNvPr id="75795" name="Oval 19">
              <a:extLst>
                <a:ext uri="{FF2B5EF4-FFF2-40B4-BE49-F238E27FC236}">
                  <a16:creationId xmlns:a16="http://schemas.microsoft.com/office/drawing/2014/main" id="{53A62BF9-DCF9-B943-0D8D-A82BB3AEB3B1}"/>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75796" name="Text Box 20">
            <a:extLst>
              <a:ext uri="{FF2B5EF4-FFF2-40B4-BE49-F238E27FC236}">
                <a16:creationId xmlns:a16="http://schemas.microsoft.com/office/drawing/2014/main" id="{B38CB0F3-BAD6-AD80-F244-6BC367CC09AE}"/>
              </a:ext>
            </a:extLst>
          </p:cNvPr>
          <p:cNvSpPr txBox="1">
            <a:spLocks noChangeArrowheads="1"/>
          </p:cNvSpPr>
          <p:nvPr/>
        </p:nvSpPr>
        <p:spPr bwMode="auto">
          <a:xfrm>
            <a:off x="8048321" y="4969049"/>
            <a:ext cx="488501" cy="3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nvGrpSpPr>
          <p:cNvPr id="75797" name="Group 21">
            <a:extLst>
              <a:ext uri="{FF2B5EF4-FFF2-40B4-BE49-F238E27FC236}">
                <a16:creationId xmlns:a16="http://schemas.microsoft.com/office/drawing/2014/main" id="{7813EAB2-E08B-2EF9-5967-75DF1EF5517A}"/>
              </a:ext>
            </a:extLst>
          </p:cNvPr>
          <p:cNvGrpSpPr>
            <a:grpSpLocks/>
          </p:cNvGrpSpPr>
          <p:nvPr/>
        </p:nvGrpSpPr>
        <p:grpSpPr bwMode="auto">
          <a:xfrm>
            <a:off x="6760454" y="1516233"/>
            <a:ext cx="3335448" cy="2610628"/>
            <a:chOff x="0" y="0"/>
            <a:chExt cx="2103" cy="1646"/>
          </a:xfrm>
        </p:grpSpPr>
        <p:sp>
          <p:nvSpPr>
            <p:cNvPr id="75798" name="Line 22">
              <a:extLst>
                <a:ext uri="{FF2B5EF4-FFF2-40B4-BE49-F238E27FC236}">
                  <a16:creationId xmlns:a16="http://schemas.microsoft.com/office/drawing/2014/main" id="{35F32272-CEF0-D71A-C5A8-CD9504D306CF}"/>
                </a:ext>
              </a:extLst>
            </p:cNvPr>
            <p:cNvSpPr>
              <a:spLocks noChangeShapeType="1"/>
            </p:cNvSpPr>
            <p:nvPr/>
          </p:nvSpPr>
          <p:spPr bwMode="auto">
            <a:xfrm flipV="1">
              <a:off x="0" y="262"/>
              <a:ext cx="1393" cy="1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99" name="Text Box 23">
              <a:extLst>
                <a:ext uri="{FF2B5EF4-FFF2-40B4-BE49-F238E27FC236}">
                  <a16:creationId xmlns:a16="http://schemas.microsoft.com/office/drawing/2014/main" id="{6499ABF0-8133-0B93-D245-5A3D90B09EC1}"/>
                </a:ext>
              </a:extLst>
            </p:cNvPr>
            <p:cNvSpPr txBox="1">
              <a:spLocks noChangeArrowheads="1"/>
            </p:cNvSpPr>
            <p:nvPr/>
          </p:nvSpPr>
          <p:spPr bwMode="auto">
            <a:xfrm>
              <a:off x="1228" y="0"/>
              <a:ext cx="87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solidFill>
                    <a:srgbClr val="CC0000"/>
                  </a:solidFill>
                  <a:ea typeface="宋体" panose="02010600030101010101" pitchFamily="2" charset="-122"/>
                </a:rPr>
                <a:t>SRAS</a:t>
              </a:r>
              <a:endParaRPr lang="en-US" altLang="zh-CN" sz="2598" i="1" baseline="-25000" dirty="0">
                <a:solidFill>
                  <a:srgbClr val="CC0000"/>
                </a:solidFill>
                <a:ea typeface="宋体" panose="02010600030101010101" pitchFamily="2" charset="-122"/>
              </a:endParaRPr>
            </a:p>
          </p:txBody>
        </p:sp>
      </p:grpSp>
      <p:grpSp>
        <p:nvGrpSpPr>
          <p:cNvPr id="75800" name="Group 24">
            <a:extLst>
              <a:ext uri="{FF2B5EF4-FFF2-40B4-BE49-F238E27FC236}">
                <a16:creationId xmlns:a16="http://schemas.microsoft.com/office/drawing/2014/main" id="{B2DC2E36-BCDF-5F3B-B529-70ADE6A1C9DE}"/>
              </a:ext>
            </a:extLst>
          </p:cNvPr>
          <p:cNvGrpSpPr>
            <a:grpSpLocks/>
          </p:cNvGrpSpPr>
          <p:nvPr/>
        </p:nvGrpSpPr>
        <p:grpSpPr bwMode="auto">
          <a:xfrm>
            <a:off x="6076867" y="2417106"/>
            <a:ext cx="2288661" cy="431404"/>
            <a:chOff x="0" y="0"/>
            <a:chExt cx="1443" cy="272"/>
          </a:xfrm>
        </p:grpSpPr>
        <p:sp>
          <p:nvSpPr>
            <p:cNvPr id="75801" name="Line 25">
              <a:extLst>
                <a:ext uri="{FF2B5EF4-FFF2-40B4-BE49-F238E27FC236}">
                  <a16:creationId xmlns:a16="http://schemas.microsoft.com/office/drawing/2014/main" id="{C3AAE18F-1104-DBAC-7126-84AEF3229ECB}"/>
                </a:ext>
              </a:extLst>
            </p:cNvPr>
            <p:cNvSpPr>
              <a:spLocks noChangeShapeType="1"/>
            </p:cNvSpPr>
            <p:nvPr/>
          </p:nvSpPr>
          <p:spPr bwMode="auto">
            <a:xfrm flipH="1">
              <a:off x="303" y="121"/>
              <a:ext cx="1101"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802" name="Text Box 26">
              <a:extLst>
                <a:ext uri="{FF2B5EF4-FFF2-40B4-BE49-F238E27FC236}">
                  <a16:creationId xmlns:a16="http://schemas.microsoft.com/office/drawing/2014/main" id="{9E9DA96D-818D-5CD4-30C6-EC728A338372}"/>
                </a:ext>
              </a:extLst>
            </p:cNvPr>
            <p:cNvSpPr txBox="1">
              <a:spLocks noChangeArrowheads="1"/>
            </p:cNvSpPr>
            <p:nvPr/>
          </p:nvSpPr>
          <p:spPr bwMode="auto">
            <a:xfrm>
              <a:off x="0" y="0"/>
              <a:ext cx="28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solidFill>
                    <a:srgbClr val="CC0000"/>
                  </a:solidFill>
                  <a:ea typeface="宋体" panose="02010600030101010101" pitchFamily="2" charset="-122"/>
                </a:rPr>
                <a:t>P</a:t>
              </a:r>
              <a:r>
                <a:rPr lang="en-US" altLang="zh-CN" sz="2598" b="1" baseline="-25000">
                  <a:solidFill>
                    <a:srgbClr val="CC0000"/>
                  </a:solidFill>
                  <a:ea typeface="宋体" panose="02010600030101010101" pitchFamily="2" charset="-122"/>
                </a:rPr>
                <a:t>E</a:t>
              </a:r>
            </a:p>
          </p:txBody>
        </p:sp>
        <p:sp>
          <p:nvSpPr>
            <p:cNvPr id="75803" name="Oval 27">
              <a:extLst>
                <a:ext uri="{FF2B5EF4-FFF2-40B4-BE49-F238E27FC236}">
                  <a16:creationId xmlns:a16="http://schemas.microsoft.com/office/drawing/2014/main" id="{7B7D7CAF-181F-7364-60EA-DAE9CE93D0D9}"/>
                </a:ext>
              </a:extLst>
            </p:cNvPr>
            <p:cNvSpPr>
              <a:spLocks noChangeArrowheads="1"/>
            </p:cNvSpPr>
            <p:nvPr/>
          </p:nvSpPr>
          <p:spPr bwMode="auto">
            <a:xfrm>
              <a:off x="1363" y="74"/>
              <a:ext cx="80"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75804" name="Line 28">
            <a:extLst>
              <a:ext uri="{FF2B5EF4-FFF2-40B4-BE49-F238E27FC236}">
                <a16:creationId xmlns:a16="http://schemas.microsoft.com/office/drawing/2014/main" id="{EAE199F1-DCEE-B2D4-5F3B-9BB0C67E5973}"/>
              </a:ext>
            </a:extLst>
          </p:cNvPr>
          <p:cNvSpPr>
            <a:spLocks noChangeShapeType="1"/>
          </p:cNvSpPr>
          <p:nvPr/>
        </p:nvSpPr>
        <p:spPr bwMode="auto">
          <a:xfrm flipV="1">
            <a:off x="6248161" y="2805685"/>
            <a:ext cx="0" cy="574148"/>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75805" name="Line 31">
            <a:extLst>
              <a:ext uri="{FF2B5EF4-FFF2-40B4-BE49-F238E27FC236}">
                <a16:creationId xmlns:a16="http://schemas.microsoft.com/office/drawing/2014/main" id="{656129FB-DC68-9B6A-009D-D4FA43F98BA8}"/>
              </a:ext>
            </a:extLst>
          </p:cNvPr>
          <p:cNvSpPr>
            <a:spLocks noChangeShapeType="1"/>
          </p:cNvSpPr>
          <p:nvPr/>
        </p:nvSpPr>
        <p:spPr bwMode="auto">
          <a:xfrm flipH="1">
            <a:off x="7464656" y="3509887"/>
            <a:ext cx="707376"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75806" name="Line 32">
            <a:extLst>
              <a:ext uri="{FF2B5EF4-FFF2-40B4-BE49-F238E27FC236}">
                <a16:creationId xmlns:a16="http://schemas.microsoft.com/office/drawing/2014/main" id="{8157BDBA-FD2E-A164-3F24-1F03B43781C7}"/>
              </a:ext>
            </a:extLst>
          </p:cNvPr>
          <p:cNvSpPr>
            <a:spLocks noChangeShapeType="1"/>
          </p:cNvSpPr>
          <p:nvPr/>
        </p:nvSpPr>
        <p:spPr bwMode="auto">
          <a:xfrm flipH="1">
            <a:off x="8658948" y="2320355"/>
            <a:ext cx="707376"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75807" name="FlagCount" hidden="1">
            <a:hlinkClick r:id="rId3" action="ppaction://hlinkfile"/>
            <a:extLst>
              <a:ext uri="{FF2B5EF4-FFF2-40B4-BE49-F238E27FC236}">
                <a16:creationId xmlns:a16="http://schemas.microsoft.com/office/drawing/2014/main" id="{E5B10AD6-F7C6-E38B-5547-906AE4E1FA86}"/>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
        <p:nvSpPr>
          <p:cNvPr id="6" name="文本框 5">
            <a:extLst>
              <a:ext uri="{FF2B5EF4-FFF2-40B4-BE49-F238E27FC236}">
                <a16:creationId xmlns:a16="http://schemas.microsoft.com/office/drawing/2014/main" id="{11F4CF71-F90A-2D25-EDE5-687207F31C6B}"/>
              </a:ext>
            </a:extLst>
          </p:cNvPr>
          <p:cNvSpPr txBox="1"/>
          <p:nvPr/>
        </p:nvSpPr>
        <p:spPr>
          <a:xfrm>
            <a:off x="5785934" y="5892890"/>
            <a:ext cx="5074686" cy="458267"/>
          </a:xfrm>
          <a:prstGeom prst="rect">
            <a:avLst/>
          </a:prstGeom>
          <a:noFill/>
        </p:spPr>
        <p:txBody>
          <a:bodyPr wrap="square">
            <a:spAutoFit/>
          </a:bodyPr>
          <a:lstStyle/>
          <a:p>
            <a:pPr algn="ctr"/>
            <a:r>
              <a:rPr lang="en-US" altLang="zh-CN" sz="2378" b="1" i="1" dirty="0">
                <a:ea typeface="宋体" panose="02010600030101010101" pitchFamily="2" charset="-122"/>
              </a:rPr>
              <a:t>Y</a:t>
            </a:r>
            <a:r>
              <a:rPr lang="en-US" altLang="zh-CN" sz="2378" dirty="0">
                <a:ea typeface="宋体" panose="02010600030101010101" pitchFamily="2" charset="-122"/>
              </a:rPr>
              <a:t>  =  </a:t>
            </a:r>
            <a:r>
              <a:rPr lang="en-US" altLang="zh-CN" sz="2378" b="1" i="1" dirty="0">
                <a:ea typeface="宋体" panose="02010600030101010101" pitchFamily="2" charset="-122"/>
              </a:rPr>
              <a:t>Y</a:t>
            </a:r>
            <a:r>
              <a:rPr lang="en-US" altLang="zh-CN" sz="2378" b="1" baseline="-25000" dirty="0">
                <a:ea typeface="宋体" panose="02010600030101010101" pitchFamily="2" charset="-122"/>
              </a:rPr>
              <a:t>N</a:t>
            </a:r>
            <a:r>
              <a:rPr lang="en-US" altLang="zh-CN" sz="2378" dirty="0">
                <a:ea typeface="宋体" panose="02010600030101010101" pitchFamily="2" charset="-122"/>
              </a:rPr>
              <a:t>  +  </a:t>
            </a:r>
            <a:r>
              <a:rPr lang="en-US" altLang="zh-CN" sz="2378" b="1" i="1" dirty="0">
                <a:latin typeface="Times New Roman" panose="02020603050405020304" pitchFamily="18" charset="0"/>
                <a:ea typeface="宋体" panose="02010600030101010101" pitchFamily="2" charset="-122"/>
              </a:rPr>
              <a:t>a</a:t>
            </a:r>
            <a:r>
              <a:rPr lang="en-US" altLang="zh-CN" sz="2378" dirty="0">
                <a:ea typeface="宋体" panose="02010600030101010101" pitchFamily="2" charset="-122"/>
              </a:rPr>
              <a:t> (</a:t>
            </a:r>
            <a:r>
              <a:rPr lang="en-US" altLang="zh-CN" sz="2378" b="1" i="1" dirty="0">
                <a:ea typeface="宋体" panose="02010600030101010101" pitchFamily="2" charset="-122"/>
              </a:rPr>
              <a:t>P</a:t>
            </a:r>
            <a:r>
              <a:rPr lang="en-US" altLang="zh-CN" sz="2378" b="1" dirty="0">
                <a:ea typeface="宋体" panose="02010600030101010101" pitchFamily="2" charset="-122"/>
              </a:rPr>
              <a:t>  </a:t>
            </a:r>
            <a:r>
              <a:rPr lang="en-US" altLang="zh-CN" sz="2378" dirty="0">
                <a:ea typeface="宋体" panose="02010600030101010101" pitchFamily="2" charset="-122"/>
              </a:rPr>
              <a:t>–  </a:t>
            </a:r>
            <a:r>
              <a:rPr lang="en-US" altLang="zh-CN" sz="2378" b="1" i="1" dirty="0">
                <a:ea typeface="宋体" panose="02010600030101010101" pitchFamily="2" charset="-122"/>
              </a:rPr>
              <a:t>P</a:t>
            </a:r>
            <a:r>
              <a:rPr lang="en-US" altLang="zh-CN" sz="2378" b="1" baseline="-25000" dirty="0">
                <a:ea typeface="宋体" panose="02010600030101010101" pitchFamily="2" charset="-122"/>
              </a:rPr>
              <a:t>E</a:t>
            </a:r>
            <a:r>
              <a:rPr lang="en-US" altLang="zh-CN" sz="2378" dirty="0">
                <a:ea typeface="宋体" panose="02010600030101010101" pitchFamily="2" charset="-122"/>
              </a:rPr>
              <a:t>)</a:t>
            </a:r>
          </a:p>
        </p:txBody>
      </p:sp>
    </p:spTree>
    <p:extLst>
      <p:ext uri="{BB962C8B-B14F-4D97-AF65-F5344CB8AC3E}">
        <p14:creationId xmlns:p14="http://schemas.microsoft.com/office/powerpoint/2010/main" val="39054655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5779">
                                            <p:txEl>
                                              <p:pRg st="3" end="3"/>
                                            </p:txEl>
                                          </p:spTgt>
                                        </p:tgtEl>
                                        <p:attrNameLst>
                                          <p:attrName>style.visibility</p:attrName>
                                        </p:attrNameLst>
                                      </p:cBhvr>
                                      <p:to>
                                        <p:strVal val="visible"/>
                                      </p:to>
                                    </p:set>
                                    <p:animEffect transition="in" filter="wipe(left)">
                                      <p:cBhvr>
                                        <p:cTn id="22" dur="500"/>
                                        <p:tgtEl>
                                          <p:spTgt spid="757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5779">
                                            <p:txEl>
                                              <p:pRg st="4" end="4"/>
                                            </p:txEl>
                                          </p:spTgt>
                                        </p:tgtEl>
                                        <p:attrNameLst>
                                          <p:attrName>style.visibility</p:attrName>
                                        </p:attrNameLst>
                                      </p:cBhvr>
                                      <p:to>
                                        <p:strVal val="visible"/>
                                      </p:to>
                                    </p:set>
                                    <p:animEffect transition="in" filter="wipe(left)">
                                      <p:cBhvr>
                                        <p:cTn id="27" dur="500"/>
                                        <p:tgtEl>
                                          <p:spTgt spid="75779">
                                            <p:txEl>
                                              <p:pRg st="4" end="4"/>
                                            </p:txEl>
                                          </p:spTgt>
                                        </p:tgtEl>
                                      </p:cBhvr>
                                    </p:animEffect>
                                  </p:childTnLst>
                                </p:cTn>
                              </p:par>
                            </p:childTnLst>
                          </p:cTn>
                        </p:par>
                        <p:par>
                          <p:cTn id="28" fill="hold" nodeType="afterGroup">
                            <p:stCondLst>
                              <p:cond delay="500"/>
                            </p:stCondLst>
                            <p:childTnLst>
                              <p:par>
                                <p:cTn id="29" presetID="22" presetClass="entr" presetSubtype="4" fill="hold" nodeType="afterEffect">
                                  <p:stCondLst>
                                    <p:cond delay="0"/>
                                  </p:stCondLst>
                                  <p:childTnLst>
                                    <p:set>
                                      <p:cBhvr>
                                        <p:cTn id="30" dur="1" fill="hold">
                                          <p:stCondLst>
                                            <p:cond delay="0"/>
                                          </p:stCondLst>
                                        </p:cTn>
                                        <p:tgtEl>
                                          <p:spTgt spid="75804"/>
                                        </p:tgtEl>
                                        <p:attrNameLst>
                                          <p:attrName>style.visibility</p:attrName>
                                        </p:attrNameLst>
                                      </p:cBhvr>
                                      <p:to>
                                        <p:strVal val="visible"/>
                                      </p:to>
                                    </p:set>
                                    <p:animEffect transition="in" filter="wipe(down)">
                                      <p:cBhvr>
                                        <p:cTn id="31" dur="500"/>
                                        <p:tgtEl>
                                          <p:spTgt spid="75804"/>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75800"/>
                                        </p:tgtEl>
                                        <p:attrNameLst>
                                          <p:attrName>style.visibility</p:attrName>
                                        </p:attrNameLst>
                                      </p:cBhvr>
                                      <p:to>
                                        <p:strVal val="visible"/>
                                      </p:to>
                                    </p:set>
                                    <p:animEffect transition="in" filter="wipe(left)">
                                      <p:cBhvr>
                                        <p:cTn id="35" dur="500"/>
                                        <p:tgtEl>
                                          <p:spTgt spid="75800"/>
                                        </p:tgtEl>
                                      </p:cBhvr>
                                    </p:animEffect>
                                  </p:childTnLst>
                                </p:cTn>
                              </p:par>
                            </p:childTnLst>
                          </p:cTn>
                        </p:par>
                        <p:par>
                          <p:cTn id="36" fill="hold" nodeType="afterGroup">
                            <p:stCondLst>
                              <p:cond delay="1500"/>
                            </p:stCondLst>
                            <p:childTnLst>
                              <p:par>
                                <p:cTn id="37" presetID="22" presetClass="entr" presetSubtype="2" fill="hold" nodeType="afterEffect">
                                  <p:stCondLst>
                                    <p:cond delay="0"/>
                                  </p:stCondLst>
                                  <p:childTnLst>
                                    <p:set>
                                      <p:cBhvr>
                                        <p:cTn id="38" dur="1" fill="hold">
                                          <p:stCondLst>
                                            <p:cond delay="0"/>
                                          </p:stCondLst>
                                        </p:cTn>
                                        <p:tgtEl>
                                          <p:spTgt spid="75805"/>
                                        </p:tgtEl>
                                        <p:attrNameLst>
                                          <p:attrName>style.visibility</p:attrName>
                                        </p:attrNameLst>
                                      </p:cBhvr>
                                      <p:to>
                                        <p:strVal val="visible"/>
                                      </p:to>
                                    </p:set>
                                    <p:animEffect transition="in" filter="wipe(right)">
                                      <p:cBhvr>
                                        <p:cTn id="39" dur="500"/>
                                        <p:tgtEl>
                                          <p:spTgt spid="75805"/>
                                        </p:tgtEl>
                                      </p:cBhvr>
                                    </p:animEffect>
                                  </p:childTnLst>
                                </p:cTn>
                              </p:par>
                              <p:par>
                                <p:cTn id="40" presetID="22" presetClass="entr" presetSubtype="2" fill="hold" nodeType="withEffect">
                                  <p:stCondLst>
                                    <p:cond delay="0"/>
                                  </p:stCondLst>
                                  <p:childTnLst>
                                    <p:set>
                                      <p:cBhvr>
                                        <p:cTn id="41" dur="1" fill="hold">
                                          <p:stCondLst>
                                            <p:cond delay="0"/>
                                          </p:stCondLst>
                                        </p:cTn>
                                        <p:tgtEl>
                                          <p:spTgt spid="75806"/>
                                        </p:tgtEl>
                                        <p:attrNameLst>
                                          <p:attrName>style.visibility</p:attrName>
                                        </p:attrNameLst>
                                      </p:cBhvr>
                                      <p:to>
                                        <p:strVal val="visible"/>
                                      </p:to>
                                    </p:set>
                                    <p:animEffect transition="in" filter="wipe(right)">
                                      <p:cBhvr>
                                        <p:cTn id="42" dur="500"/>
                                        <p:tgtEl>
                                          <p:spTgt spid="75806"/>
                                        </p:tgtEl>
                                      </p:cBhvr>
                                    </p:animEffect>
                                  </p:childTnLst>
                                </p:cTn>
                              </p:par>
                            </p:childTnLst>
                          </p:cTn>
                        </p:par>
                        <p:par>
                          <p:cTn id="43" fill="hold" nodeType="afterGroup">
                            <p:stCondLst>
                              <p:cond delay="2000"/>
                            </p:stCondLst>
                            <p:childTnLst>
                              <p:par>
                                <p:cTn id="44" presetID="18" presetClass="entr" presetSubtype="12" fill="hold" nodeType="afterEffect">
                                  <p:stCondLst>
                                    <p:cond delay="0"/>
                                  </p:stCondLst>
                                  <p:childTnLst>
                                    <p:set>
                                      <p:cBhvr>
                                        <p:cTn id="45" dur="1" fill="hold">
                                          <p:stCondLst>
                                            <p:cond delay="0"/>
                                          </p:stCondLst>
                                        </p:cTn>
                                        <p:tgtEl>
                                          <p:spTgt spid="75797"/>
                                        </p:tgtEl>
                                        <p:attrNameLst>
                                          <p:attrName>style.visibility</p:attrName>
                                        </p:attrNameLst>
                                      </p:cBhvr>
                                      <p:to>
                                        <p:strVal val="visible"/>
                                      </p:to>
                                    </p:set>
                                    <p:animEffect transition="in" filter="strips(downLeft)">
                                      <p:cBhvr>
                                        <p:cTn id="46" dur="500"/>
                                        <p:tgtEl>
                                          <p:spTgt spid="75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bldLvl="5"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1528195" y="2287442"/>
            <a:ext cx="9135611" cy="114155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30" name="object 30"/>
          <p:cNvSpPr/>
          <p:nvPr/>
        </p:nvSpPr>
        <p:spPr>
          <a:xfrm>
            <a:off x="1532086" y="3147"/>
            <a:ext cx="9123255" cy="283622"/>
          </a:xfrm>
          <a:prstGeom prst="rect">
            <a:avLst/>
          </a:prstGeom>
          <a:blipFill>
            <a:blip r:embed="rId2" cstate="print"/>
            <a:stretch>
              <a:fillRect/>
            </a:stretch>
          </a:blipFill>
        </p:spPr>
        <p:txBody>
          <a:bodyPr wrap="square" lIns="0" tIns="0" rIns="0" bIns="0" rtlCol="0"/>
          <a:lstStyle/>
          <a:p>
            <a:pPr defTabSz="456821"/>
            <a:endParaRPr sz="3563">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32086" y="6627100"/>
            <a:ext cx="9123255" cy="220261"/>
          </a:xfrm>
          <a:prstGeom prst="rect">
            <a:avLst/>
          </a:prstGeom>
          <a:blipFill>
            <a:blip r:embed="rId3" cstate="print"/>
            <a:stretch>
              <a:fillRect/>
            </a:stretch>
          </a:blipFill>
        </p:spPr>
        <p:txBody>
          <a:bodyPr wrap="square" lIns="0" tIns="0" rIns="0" bIns="0" rtlCol="0"/>
          <a:lstStyle/>
          <a:p>
            <a:pPr defTabSz="456821"/>
            <a:endParaRPr sz="3563">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1667163" y="6631576"/>
            <a:ext cx="2774627" cy="179536"/>
          </a:xfrm>
          <a:prstGeom prst="rect">
            <a:avLst/>
          </a:prstGeom>
        </p:spPr>
        <p:txBody>
          <a:bodyPr vert="horz" wrap="square" lIns="0" tIns="0" rIns="0" bIns="0" rtlCol="0">
            <a:spAutoFit/>
          </a:bodyPr>
          <a:lstStyle/>
          <a:p>
            <a:pPr marL="25148" defTabSz="456821">
              <a:lnSpc>
                <a:spcPts val="1385"/>
              </a:lnSpc>
            </a:pPr>
            <a:r>
              <a:rPr sz="198" i="1" spc="119" dirty="0">
                <a:solidFill>
                  <a:srgbClr val="F2F2F2"/>
                </a:solidFill>
                <a:latin typeface="Times New Roman"/>
                <a:cs typeface="Times New Roman"/>
              </a:rPr>
              <a:t> </a:t>
            </a:r>
            <a:r>
              <a:rPr sz="198" i="1" spc="159" dirty="0">
                <a:solidFill>
                  <a:srgbClr val="F2F2F2"/>
                </a:solidFill>
                <a:latin typeface="Times New Roman"/>
                <a:cs typeface="Times New Roman"/>
              </a:rPr>
              <a:t>I   </a:t>
            </a:r>
            <a:r>
              <a:rPr sz="1187" spc="-10" dirty="0">
                <a:solidFill>
                  <a:srgbClr val="F2F2F2"/>
                </a:solidFill>
                <a:latin typeface="Times New Roman"/>
                <a:cs typeface="Times New Roman"/>
              </a:rPr>
              <a:t>(</a:t>
            </a:r>
            <a:r>
              <a:rPr lang="en-US" sz="1187" spc="-10" dirty="0">
                <a:solidFill>
                  <a:srgbClr val="F2F2F2"/>
                </a:solidFill>
                <a:latin typeface="Times New Roman"/>
                <a:cs typeface="Times New Roman"/>
              </a:rPr>
              <a:t>Zhiqing Yang</a:t>
            </a:r>
            <a:r>
              <a:rPr sz="1187" spc="268" dirty="0">
                <a:solidFill>
                  <a:srgbClr val="F2F2F2"/>
                </a:solidFill>
                <a:latin typeface="Times New Roman"/>
                <a:cs typeface="Times New Roman"/>
              </a:rPr>
              <a:t> </a:t>
            </a:r>
            <a:r>
              <a:rPr lang="en-US" altLang="zh-CN" sz="1187" spc="-10" dirty="0" err="1">
                <a:solidFill>
                  <a:srgbClr val="F2F2F2"/>
                </a:solidFill>
                <a:latin typeface="Times New Roman"/>
                <a:ea typeface="等线" panose="02010600030101010101" pitchFamily="2" charset="-122"/>
                <a:cs typeface="Times New Roman"/>
              </a:rPr>
              <a:t>yangzhiqing</a:t>
            </a:r>
            <a:r>
              <a:rPr sz="1187" spc="-10" dirty="0" err="1">
                <a:solidFill>
                  <a:srgbClr val="F2F2F2"/>
                </a:solidFill>
                <a:latin typeface="Times New Roman"/>
                <a:cs typeface="Times New Roman"/>
              </a:rPr>
              <a:t>@</a:t>
            </a:r>
            <a:r>
              <a:rPr lang="en-US" sz="1187" spc="-10" dirty="0" err="1">
                <a:solidFill>
                  <a:srgbClr val="F2F2F2"/>
                </a:solidFill>
                <a:latin typeface="Times New Roman"/>
                <a:cs typeface="Times New Roman"/>
              </a:rPr>
              <a:t>hust.edu.cn</a:t>
            </a:r>
            <a:r>
              <a:rPr sz="1187" spc="-10" dirty="0">
                <a:solidFill>
                  <a:srgbClr val="F2F2F2"/>
                </a:solidFill>
                <a:latin typeface="Times New Roman"/>
                <a:cs typeface="Times New Roman"/>
              </a:rPr>
              <a:t>)</a:t>
            </a:r>
            <a:endParaRPr sz="1187"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815158" y="2287442"/>
            <a:ext cx="8561685" cy="865622"/>
          </a:xfrm>
          <a:prstGeom prst="rect">
            <a:avLst/>
          </a:prstGeom>
          <a:noFill/>
        </p:spPr>
        <p:txBody>
          <a:bodyPr wrap="square">
            <a:spAutoFit/>
          </a:bodyPr>
          <a:lstStyle/>
          <a:p>
            <a:pPr algn="ctr" fontAlgn="base">
              <a:lnSpc>
                <a:spcPct val="150000"/>
              </a:lnSpc>
              <a:spcBef>
                <a:spcPct val="0"/>
              </a:spcBef>
              <a:spcAft>
                <a:spcPct val="0"/>
              </a:spcAft>
            </a:pPr>
            <a:r>
              <a:rPr kumimoji="1" lang="zh-CN" altLang="en-US" sz="3797" dirty="0">
                <a:latin typeface="Microsoft YaHei" panose="020B0503020204020204" pitchFamily="34" charset="-122"/>
                <a:ea typeface="Microsoft YaHei" panose="020B0503020204020204" pitchFamily="34" charset="-122"/>
                <a:cs typeface="+mj-cs"/>
              </a:rPr>
              <a:t>第</a:t>
            </a:r>
            <a:r>
              <a:rPr kumimoji="1" lang="en-US" altLang="zh-CN" sz="3797" dirty="0">
                <a:latin typeface="Microsoft YaHei" panose="020B0503020204020204" pitchFamily="34" charset="-122"/>
                <a:ea typeface="Microsoft YaHei" panose="020B0503020204020204" pitchFamily="34" charset="-122"/>
                <a:cs typeface="+mj-cs"/>
              </a:rPr>
              <a:t>4</a:t>
            </a:r>
            <a:r>
              <a:rPr kumimoji="1" lang="zh-CN" altLang="en-US" sz="3797" dirty="0">
                <a:latin typeface="Microsoft YaHei" panose="020B0503020204020204" pitchFamily="34" charset="-122"/>
                <a:ea typeface="Microsoft YaHei" panose="020B0503020204020204" pitchFamily="34" charset="-122"/>
                <a:cs typeface="+mj-cs"/>
              </a:rPr>
              <a:t>节  总需求</a:t>
            </a:r>
            <a:r>
              <a:rPr kumimoji="1" lang="en-US" altLang="zh-CN" sz="3797" dirty="0">
                <a:latin typeface="Microsoft YaHei" panose="020B0503020204020204" pitchFamily="34" charset="-122"/>
                <a:ea typeface="Microsoft YaHei" panose="020B0503020204020204" pitchFamily="34" charset="-122"/>
                <a:cs typeface="+mj-cs"/>
              </a:rPr>
              <a:t>-</a:t>
            </a:r>
            <a:r>
              <a:rPr kumimoji="1" lang="zh-CN" altLang="en-US" sz="3797" dirty="0">
                <a:latin typeface="Microsoft YaHei" panose="020B0503020204020204" pitchFamily="34" charset="-122"/>
                <a:ea typeface="Microsoft YaHei" panose="020B0503020204020204" pitchFamily="34" charset="-122"/>
                <a:cs typeface="+mj-cs"/>
              </a:rPr>
              <a:t>总供给分析</a:t>
            </a:r>
          </a:p>
        </p:txBody>
      </p:sp>
    </p:spTree>
    <p:extLst>
      <p:ext uri="{BB962C8B-B14F-4D97-AF65-F5344CB8AC3E}">
        <p14:creationId xmlns:p14="http://schemas.microsoft.com/office/powerpoint/2010/main" val="841203415"/>
      </p:ext>
    </p:extLst>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BAA25F7-02B0-6F38-E28F-25941D9B3E68}"/>
              </a:ext>
            </a:extLst>
          </p:cNvPr>
          <p:cNvSpPr>
            <a:spLocks noGrp="1" noChangeArrowheads="1"/>
          </p:cNvSpPr>
          <p:nvPr>
            <p:ph type="title" idx="4294967295"/>
          </p:nvPr>
        </p:nvSpPr>
        <p:spPr>
          <a:xfrm>
            <a:off x="1805685" y="1"/>
            <a:ext cx="8402860" cy="681036"/>
          </a:xfrm>
        </p:spPr>
        <p:txBody>
          <a:bodyPr/>
          <a:lstStyle/>
          <a:p>
            <a:r>
              <a:rPr lang="zh-CN" altLang="en-US" sz="3597" dirty="0">
                <a:ea typeface="宋体" panose="02010600030101010101" pitchFamily="2" charset="-122"/>
              </a:rPr>
              <a:t>经济波动</a:t>
            </a:r>
          </a:p>
        </p:txBody>
      </p:sp>
      <p:sp>
        <p:nvSpPr>
          <p:cNvPr id="77827" name="Rectangle 3">
            <a:extLst>
              <a:ext uri="{FF2B5EF4-FFF2-40B4-BE49-F238E27FC236}">
                <a16:creationId xmlns:a16="http://schemas.microsoft.com/office/drawing/2014/main" id="{AD367D4E-0930-CFCC-0C96-32182121F72E}"/>
              </a:ext>
            </a:extLst>
          </p:cNvPr>
          <p:cNvSpPr>
            <a:spLocks noGrp="1" noChangeArrowheads="1"/>
          </p:cNvSpPr>
          <p:nvPr>
            <p:ph type="body" idx="4294967295"/>
          </p:nvPr>
        </p:nvSpPr>
        <p:spPr>
          <a:xfrm>
            <a:off x="1528196" y="681038"/>
            <a:ext cx="9135609" cy="6176962"/>
          </a:xfrm>
        </p:spPr>
        <p:txBody>
          <a:bodyPr/>
          <a:lstStyle/>
          <a:p>
            <a:r>
              <a:rPr lang="zh-CN" altLang="zh-CN" sz="2378" dirty="0"/>
              <a:t>经济波动通常表现为 </a:t>
            </a:r>
            <a:r>
              <a:rPr lang="zh-CN" altLang="zh-CN" sz="2378" b="1" dirty="0"/>
              <a:t>AD 或 AS 曲线的位置移动</a:t>
            </a:r>
            <a:r>
              <a:rPr lang="zh-CN" altLang="zh-CN" sz="2378" dirty="0"/>
              <a:t>。</a:t>
            </a:r>
            <a:endParaRPr lang="en-US" altLang="zh-CN" sz="2378" dirty="0"/>
          </a:p>
          <a:p>
            <a:r>
              <a:rPr lang="zh-CN" altLang="zh-CN" sz="2378" dirty="0"/>
              <a:t>若经济主体对价格变化的反应程度发生变化，曲线斜率也可能改变；例如投资、货币需求、工资价格调整速度等因素变化。但本节暂不考虑斜率变化。</a:t>
            </a:r>
            <a:endParaRPr lang="en-US" altLang="zh-CN" sz="2378" dirty="0"/>
          </a:p>
          <a:p>
            <a:r>
              <a:rPr lang="zh-CN" altLang="en-US" sz="2378" dirty="0">
                <a:latin typeface="Times New Roman" panose="02020603050405020304" pitchFamily="18" charset="0"/>
                <a:ea typeface="宋体" panose="02010600030101010101" pitchFamily="2" charset="-122"/>
              </a:rPr>
              <a:t>分析</a:t>
            </a:r>
            <a:r>
              <a:rPr lang="zh-CN" altLang="zh-CN" sz="2378" dirty="0"/>
              <a:t>经济波动的 4 个步骤：</a:t>
            </a:r>
            <a:endParaRPr lang="zh-CN" altLang="zh-CN" sz="2378" dirty="0">
              <a:latin typeface="Times New Roman" panose="02020603050405020304" pitchFamily="18" charset="0"/>
              <a:ea typeface="宋体" panose="02010600030101010101" pitchFamily="2" charset="-122"/>
            </a:endParaRPr>
          </a:p>
          <a:p>
            <a:pPr marL="913643" lvl="1" indent="-456821">
              <a:lnSpc>
                <a:spcPct val="105000"/>
              </a:lnSpc>
              <a:spcBef>
                <a:spcPct val="35000"/>
              </a:spcBef>
              <a:buClr>
                <a:srgbClr val="0070C0"/>
              </a:buClr>
              <a:buFont typeface="+mj-lt"/>
              <a:buAutoNum type="arabicPeriod"/>
            </a:pPr>
            <a:r>
              <a:rPr lang="zh-CN" altLang="zh-CN" sz="2378" b="1" dirty="0">
                <a:latin typeface="Times New Roman" panose="02020603050405020304" pitchFamily="18" charset="0"/>
                <a:ea typeface="宋体" panose="02010600030101010101" pitchFamily="2" charset="-122"/>
              </a:rPr>
              <a:t>判断影响哪条曲线</a:t>
            </a:r>
            <a:r>
              <a:rPr lang="zh-CN" altLang="en-US" sz="2378" b="1" dirty="0">
                <a:latin typeface="Times New Roman" panose="02020603050405020304" pitchFamily="18" charset="0"/>
                <a:ea typeface="宋体" panose="02010600030101010101" pitchFamily="2" charset="-122"/>
              </a:rPr>
              <a:t>。</a:t>
            </a:r>
            <a:r>
              <a:rPr lang="zh-CN" altLang="zh-CN" sz="2378" dirty="0">
                <a:latin typeface="Times New Roman" panose="02020603050405020304" pitchFamily="18" charset="0"/>
                <a:ea typeface="宋体" panose="02010600030101010101" pitchFamily="2" charset="-122"/>
              </a:rPr>
              <a:t>冲击主要影响 AD，还是影响 AS，或者二者同时受影响。</a:t>
            </a:r>
            <a:endParaRPr lang="en-US" altLang="zh-CN" sz="2378" dirty="0">
              <a:latin typeface="Times New Roman" panose="02020603050405020304" pitchFamily="18" charset="0"/>
              <a:ea typeface="宋体" panose="02010600030101010101" pitchFamily="2" charset="-122"/>
            </a:endParaRPr>
          </a:p>
          <a:p>
            <a:pPr marL="913643" lvl="1" indent="-456821">
              <a:lnSpc>
                <a:spcPct val="105000"/>
              </a:lnSpc>
              <a:spcBef>
                <a:spcPct val="35000"/>
              </a:spcBef>
              <a:buClr>
                <a:srgbClr val="0070C0"/>
              </a:buClr>
              <a:buFont typeface="+mj-lt"/>
              <a:buAutoNum type="arabicPeriod"/>
            </a:pPr>
            <a:r>
              <a:rPr lang="zh-CN" altLang="en-US" sz="2378" b="1" dirty="0">
                <a:latin typeface="Times New Roman" panose="02020603050405020304" pitchFamily="18" charset="0"/>
                <a:ea typeface="宋体" panose="02010600030101010101" pitchFamily="2" charset="-122"/>
              </a:rPr>
              <a:t>判断移动方向。</a:t>
            </a:r>
            <a:r>
              <a:rPr lang="zh-CN" altLang="zh-CN" sz="2378" dirty="0">
                <a:latin typeface="Times New Roman" panose="02020603050405020304" pitchFamily="18" charset="0"/>
                <a:ea typeface="宋体" panose="02010600030101010101" pitchFamily="2" charset="-122"/>
              </a:rPr>
              <a:t>曲线是向右移动，还是向左移动。</a:t>
            </a:r>
            <a:endParaRPr lang="en-US" altLang="zh-CN" sz="2378" b="1" dirty="0">
              <a:latin typeface="Times New Roman" panose="02020603050405020304" pitchFamily="18" charset="0"/>
              <a:ea typeface="宋体" panose="02010600030101010101" pitchFamily="2" charset="-122"/>
            </a:endParaRPr>
          </a:p>
          <a:p>
            <a:pPr marL="913643" lvl="1" indent="-456821">
              <a:lnSpc>
                <a:spcPct val="105000"/>
              </a:lnSpc>
              <a:spcBef>
                <a:spcPct val="35000"/>
              </a:spcBef>
              <a:buClr>
                <a:srgbClr val="0070C0"/>
              </a:buClr>
              <a:buFont typeface="+mj-lt"/>
              <a:buAutoNum type="arabicPeriod"/>
            </a:pPr>
            <a:r>
              <a:rPr lang="zh-CN" altLang="zh-CN" sz="2378" b="1" dirty="0">
                <a:latin typeface="Times New Roman" panose="02020603050405020304" pitchFamily="18" charset="0"/>
                <a:ea typeface="宋体" panose="02010600030101010101" pitchFamily="2" charset="-122"/>
              </a:rPr>
              <a:t>分析短期影响</a:t>
            </a:r>
            <a:r>
              <a:rPr lang="zh-CN" altLang="en-US" sz="2378" b="1" dirty="0">
                <a:latin typeface="Times New Roman" panose="02020603050405020304" pitchFamily="18" charset="0"/>
                <a:ea typeface="宋体" panose="02010600030101010101" pitchFamily="2" charset="-122"/>
              </a:rPr>
              <a:t>。</a:t>
            </a:r>
            <a:r>
              <a:rPr lang="zh-CN" altLang="zh-CN" sz="2378" dirty="0">
                <a:latin typeface="Times New Roman" panose="02020603050405020304" pitchFamily="18" charset="0"/>
                <a:ea typeface="宋体" panose="02010600030101010101" pitchFamily="2" charset="-122"/>
              </a:rPr>
              <a:t>用总需求和总供给图说明新的短期均衡如何影响</a:t>
            </a:r>
            <a:r>
              <a:rPr lang="zh-CN" altLang="en-US" sz="2378" dirty="0">
                <a:latin typeface="Times New Roman" panose="02020603050405020304" pitchFamily="18" charset="0"/>
                <a:ea typeface="宋体" panose="02010600030101010101" pitchFamily="2" charset="-122"/>
              </a:rPr>
              <a:t>短期</a:t>
            </a:r>
            <a:r>
              <a:rPr lang="zh-CN" altLang="zh-CN" sz="2378" dirty="0">
                <a:latin typeface="Times New Roman" panose="02020603050405020304" pitchFamily="18" charset="0"/>
                <a:ea typeface="宋体" panose="02010600030101010101" pitchFamily="2" charset="-122"/>
              </a:rPr>
              <a:t>产量、物价水平</a:t>
            </a:r>
            <a:r>
              <a:rPr lang="zh-CN" altLang="en-US" sz="2378" dirty="0">
                <a:latin typeface="Times New Roman" panose="02020603050405020304" pitchFamily="18" charset="0"/>
                <a:ea typeface="宋体" panose="02010600030101010101" pitchFamily="2" charset="-122"/>
              </a:rPr>
              <a:t>。</a:t>
            </a:r>
            <a:endParaRPr lang="zh-CN" altLang="zh-CN" sz="2378" dirty="0">
              <a:latin typeface="Times New Roman" panose="02020603050405020304" pitchFamily="18" charset="0"/>
              <a:ea typeface="宋体" panose="02010600030101010101" pitchFamily="2" charset="-122"/>
            </a:endParaRPr>
          </a:p>
          <a:p>
            <a:pPr marL="913643" lvl="1" indent="-456821">
              <a:lnSpc>
                <a:spcPct val="105000"/>
              </a:lnSpc>
              <a:spcBef>
                <a:spcPct val="35000"/>
              </a:spcBef>
              <a:buClr>
                <a:srgbClr val="0070C0"/>
              </a:buClr>
              <a:buFont typeface="+mj-lt"/>
              <a:buAutoNum type="arabicPeriod"/>
            </a:pPr>
            <a:r>
              <a:rPr lang="zh-CN" altLang="en-US" sz="2378" b="1" dirty="0">
                <a:latin typeface="Times New Roman" panose="02020603050405020304" pitchFamily="18" charset="0"/>
                <a:ea typeface="宋体" panose="02010600030101010101" pitchFamily="2" charset="-122"/>
              </a:rPr>
              <a:t>分析长期调整。</a:t>
            </a:r>
            <a:r>
              <a:rPr lang="zh-CN" altLang="zh-CN" sz="2378" dirty="0">
                <a:latin typeface="Times New Roman" panose="02020603050405020304" pitchFamily="18" charset="0"/>
                <a:ea typeface="宋体" panose="02010600030101010101" pitchFamily="2" charset="-122"/>
              </a:rPr>
              <a:t>用总需求和总供给图分析经济如何从其新的短期均衡变动到其长期均衡</a:t>
            </a:r>
          </a:p>
        </p:txBody>
      </p:sp>
      <p:sp>
        <p:nvSpPr>
          <p:cNvPr id="77828" name="FlagCount" hidden="1">
            <a:hlinkClick r:id="rId3" action="ppaction://hlinkfile"/>
            <a:extLst>
              <a:ext uri="{FF2B5EF4-FFF2-40B4-BE49-F238E27FC236}">
                <a16:creationId xmlns:a16="http://schemas.microsoft.com/office/drawing/2014/main" id="{3A962FC0-C197-BBE9-C6A3-F22818B0541A}"/>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947485957"/>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5ED5028-4FD3-0AE0-89BC-01BFAD601DF7}"/>
              </a:ext>
            </a:extLst>
          </p:cNvPr>
          <p:cNvSpPr>
            <a:spLocks noGrp="1"/>
          </p:cNvSpPr>
          <p:nvPr>
            <p:ph type="sldNum" sz="quarter" idx="11"/>
          </p:nvPr>
        </p:nvSpPr>
        <p:spPr/>
        <p:txBody>
          <a:bodyPr/>
          <a:lstStyle/>
          <a:p>
            <a:fld id="{972074B2-F9A9-D34B-975D-8F72ACC64E81}" type="slidenum">
              <a:rPr lang="zh-CN" altLang="zh-CN"/>
              <a:pPr/>
              <a:t>32</a:t>
            </a:fld>
            <a:endParaRPr lang="zh-CN" altLang="zh-CN"/>
          </a:p>
        </p:txBody>
      </p:sp>
      <p:grpSp>
        <p:nvGrpSpPr>
          <p:cNvPr id="79874" name="Group 2">
            <a:extLst>
              <a:ext uri="{FF2B5EF4-FFF2-40B4-BE49-F238E27FC236}">
                <a16:creationId xmlns:a16="http://schemas.microsoft.com/office/drawing/2014/main" id="{0060404C-6E0A-CA05-35B5-2B1697E439CC}"/>
              </a:ext>
            </a:extLst>
          </p:cNvPr>
          <p:cNvGrpSpPr>
            <a:grpSpLocks/>
          </p:cNvGrpSpPr>
          <p:nvPr/>
        </p:nvGrpSpPr>
        <p:grpSpPr bwMode="auto">
          <a:xfrm>
            <a:off x="8108492" y="951599"/>
            <a:ext cx="1176845" cy="4307695"/>
            <a:chOff x="0" y="0"/>
            <a:chExt cx="742" cy="2716"/>
          </a:xfrm>
        </p:grpSpPr>
        <p:sp>
          <p:nvSpPr>
            <p:cNvPr id="79875" name="Line 17">
              <a:extLst>
                <a:ext uri="{FF2B5EF4-FFF2-40B4-BE49-F238E27FC236}">
                  <a16:creationId xmlns:a16="http://schemas.microsoft.com/office/drawing/2014/main" id="{49AADE3D-67AC-78D0-E306-44576D089CBA}"/>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876" name="Text Box 19">
              <a:extLst>
                <a:ext uri="{FF2B5EF4-FFF2-40B4-BE49-F238E27FC236}">
                  <a16:creationId xmlns:a16="http://schemas.microsoft.com/office/drawing/2014/main" id="{D10D68DD-CF19-F265-7BB7-A87096E1D26D}"/>
                </a:ext>
              </a:extLst>
            </p:cNvPr>
            <p:cNvSpPr txBox="1">
              <a:spLocks noChangeArrowheads="1"/>
            </p:cNvSpPr>
            <p:nvPr/>
          </p:nvSpPr>
          <p:spPr bwMode="auto">
            <a:xfrm>
              <a:off x="0" y="0"/>
              <a:ext cx="7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LRAS</a:t>
              </a:r>
              <a:endParaRPr lang="en-US" altLang="zh-CN" sz="2398" i="1" baseline="-25000">
                <a:ea typeface="宋体" panose="02010600030101010101" pitchFamily="2" charset="-122"/>
              </a:endParaRPr>
            </a:p>
          </p:txBody>
        </p:sp>
        <p:sp>
          <p:nvSpPr>
            <p:cNvPr id="79877" name="Rectangle 51">
              <a:extLst>
                <a:ext uri="{FF2B5EF4-FFF2-40B4-BE49-F238E27FC236}">
                  <a16:creationId xmlns:a16="http://schemas.microsoft.com/office/drawing/2014/main" id="{9AAF5913-E498-DC0C-B9B9-EEE2502D4821}"/>
                </a:ext>
              </a:extLst>
            </p:cNvPr>
            <p:cNvSpPr>
              <a:spLocks noChangeArrowheads="1"/>
            </p:cNvSpPr>
            <p:nvPr/>
          </p:nvSpPr>
          <p:spPr bwMode="auto">
            <a:xfrm>
              <a:off x="221" y="2425"/>
              <a:ext cx="33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sp>
        <p:nvSpPr>
          <p:cNvPr id="79878" name="Rectangle 3">
            <a:extLst>
              <a:ext uri="{FF2B5EF4-FFF2-40B4-BE49-F238E27FC236}">
                <a16:creationId xmlns:a16="http://schemas.microsoft.com/office/drawing/2014/main" id="{4A157E05-DADB-54AA-C0A8-2E0FB21FD558}"/>
              </a:ext>
            </a:extLst>
          </p:cNvPr>
          <p:cNvSpPr>
            <a:spLocks noGrp="1" noChangeArrowheads="1"/>
          </p:cNvSpPr>
          <p:nvPr>
            <p:ph type="title" idx="4294967295"/>
          </p:nvPr>
        </p:nvSpPr>
        <p:spPr>
          <a:xfrm>
            <a:off x="1528195" y="166509"/>
            <a:ext cx="9135611" cy="648692"/>
          </a:xfrm>
        </p:spPr>
        <p:txBody>
          <a:bodyPr/>
          <a:lstStyle/>
          <a:p>
            <a:r>
              <a:rPr lang="zh-CN" altLang="en-US" sz="3597">
                <a:ea typeface="宋体" panose="02010600030101010101" pitchFamily="2" charset="-122"/>
              </a:rPr>
              <a:t>总需求移动的影响</a:t>
            </a:r>
            <a:endParaRPr lang="zh-CN" altLang="en-US" sz="3597" i="1">
              <a:ea typeface="宋体" panose="02010600030101010101" pitchFamily="2" charset="-122"/>
            </a:endParaRPr>
          </a:p>
        </p:txBody>
      </p:sp>
      <mc:AlternateContent xmlns:mc="http://schemas.openxmlformats.org/markup-compatibility/2006">
        <mc:Choice xmlns:a14="http://schemas.microsoft.com/office/drawing/2010/main" Requires="a14">
          <p:sp>
            <p:nvSpPr>
              <p:cNvPr id="79879" name="Rectangle 4">
                <a:extLst>
                  <a:ext uri="{FF2B5EF4-FFF2-40B4-BE49-F238E27FC236}">
                    <a16:creationId xmlns:a16="http://schemas.microsoft.com/office/drawing/2014/main" id="{9CF933A7-7800-2D98-0A29-D8E2B4F099B1}"/>
                  </a:ext>
                </a:extLst>
              </p:cNvPr>
              <p:cNvSpPr>
                <a:spLocks noGrp="1" noChangeArrowheads="1"/>
              </p:cNvSpPr>
              <p:nvPr>
                <p:ph type="body" idx="4294967295"/>
              </p:nvPr>
            </p:nvSpPr>
            <p:spPr>
              <a:xfrm>
                <a:off x="1528194" y="896089"/>
                <a:ext cx="4873206" cy="5413166"/>
              </a:xfrm>
            </p:spPr>
            <p:txBody>
              <a:bodyPr/>
              <a:lstStyle/>
              <a:p>
                <a:pPr marL="463167" indent="-463167">
                  <a:lnSpc>
                    <a:spcPct val="95000"/>
                  </a:lnSpc>
                  <a:spcBef>
                    <a:spcPct val="35000"/>
                  </a:spcBef>
                  <a:buNone/>
                </a:pPr>
                <a:r>
                  <a:rPr lang="zh-CN" altLang="zh-CN" sz="2180" u="sng" dirty="0">
                    <a:ea typeface="宋体" panose="02010600030101010101" pitchFamily="2" charset="-122"/>
                  </a:rPr>
                  <a:t>事件：股票市场崩溃 </a:t>
                </a:r>
              </a:p>
              <a:p>
                <a:pPr marL="463167" indent="-463167">
                  <a:lnSpc>
                    <a:spcPct val="95000"/>
                  </a:lnSpc>
                  <a:spcBef>
                    <a:spcPct val="35000"/>
                  </a:spcBef>
                  <a:buNone/>
                </a:pPr>
                <a:r>
                  <a:rPr lang="zh-CN" altLang="zh-CN" sz="2180" b="1" dirty="0">
                    <a:solidFill>
                      <a:srgbClr val="339966"/>
                    </a:solidFill>
                    <a:ea typeface="宋体" panose="02010600030101010101" pitchFamily="2" charset="-122"/>
                  </a:rPr>
                  <a:t>1.</a:t>
                </a:r>
                <a:r>
                  <a:rPr lang="zh-CN" altLang="zh-CN" sz="2180" dirty="0">
                    <a:ea typeface="宋体" panose="02010600030101010101" pitchFamily="2" charset="-122"/>
                  </a:rPr>
                  <a:t>影响消费，</a:t>
                </a:r>
                <a14:m>
                  <m:oMath xmlns:m="http://schemas.openxmlformats.org/officeDocument/2006/math">
                    <m:r>
                      <a:rPr lang="zh-CN" altLang="zh-CN" sz="2180" i="1" dirty="0">
                        <a:latin typeface="Cambria Math" panose="02040503050406030204" pitchFamily="18" charset="0"/>
                        <a:ea typeface="宋体" panose="02010600030101010101" pitchFamily="2" charset="-122"/>
                      </a:rPr>
                      <m:t>𝐴</m:t>
                    </m:r>
                    <m:sSub>
                      <m:sSubPr>
                        <m:ctrlPr>
                          <a:rPr lang="en-US" altLang="zh-CN" sz="2180" i="1" dirty="0">
                            <a:latin typeface="Cambria Math" panose="02040503050406030204" pitchFamily="18" charset="0"/>
                            <a:ea typeface="宋体" panose="02010600030101010101" pitchFamily="2" charset="-122"/>
                          </a:rPr>
                        </m:ctrlPr>
                      </m:sSubPr>
                      <m:e>
                        <m:r>
                          <a:rPr lang="zh-CN" altLang="zh-CN" sz="2180" i="1" dirty="0">
                            <a:latin typeface="Cambria Math" panose="02040503050406030204" pitchFamily="18" charset="0"/>
                            <a:ea typeface="宋体" panose="02010600030101010101" pitchFamily="2" charset="-122"/>
                          </a:rPr>
                          <m:t>𝐷</m:t>
                        </m:r>
                      </m:e>
                      <m:sub>
                        <m:r>
                          <a:rPr lang="en-US" altLang="zh-CN" sz="2180" i="1" dirty="0">
                            <a:latin typeface="Cambria Math" panose="02040503050406030204" pitchFamily="18" charset="0"/>
                            <a:ea typeface="宋体" panose="02010600030101010101" pitchFamily="2" charset="-122"/>
                          </a:rPr>
                          <m:t>1</m:t>
                        </m:r>
                      </m:sub>
                    </m:sSub>
                  </m:oMath>
                </a14:m>
                <a:r>
                  <a:rPr lang="zh-CN" altLang="zh-CN" sz="2180" dirty="0">
                    <a:ea typeface="宋体" panose="02010600030101010101" pitchFamily="2" charset="-122"/>
                  </a:rPr>
                  <a:t>曲线</a:t>
                </a:r>
              </a:p>
              <a:p>
                <a:pPr marL="0" indent="-463167">
                  <a:lnSpc>
                    <a:spcPct val="95000"/>
                  </a:lnSpc>
                  <a:spcBef>
                    <a:spcPct val="35000"/>
                  </a:spcBef>
                  <a:buNone/>
                </a:pPr>
                <a:r>
                  <a:rPr lang="zh-CN" altLang="zh-CN" sz="2180" b="1" dirty="0">
                    <a:solidFill>
                      <a:srgbClr val="339966"/>
                    </a:solidFill>
                    <a:ea typeface="宋体" panose="02010600030101010101" pitchFamily="2" charset="-122"/>
                  </a:rPr>
                  <a:t>2.</a:t>
                </a:r>
                <a:r>
                  <a:rPr lang="zh-CN" altLang="zh-CN" sz="2180" dirty="0">
                    <a:ea typeface="宋体" panose="02010600030101010101" pitchFamily="2" charset="-122"/>
                  </a:rPr>
                  <a:t>消费减少</a:t>
                </a:r>
                <a:r>
                  <a:rPr lang="zh-CN" altLang="en-US" sz="2180" dirty="0">
                    <a:ea typeface="宋体" panose="02010600030101010101" pitchFamily="2" charset="-122"/>
                  </a:rPr>
                  <a:t>，</a:t>
                </a:r>
                <a:r>
                  <a:rPr lang="zh-CN" altLang="zh-CN" sz="2180" dirty="0">
                    <a:ea typeface="宋体" panose="02010600030101010101" pitchFamily="2" charset="-122"/>
                  </a:rPr>
                  <a:t>所以</a:t>
                </a:r>
                <a14:m>
                  <m:oMath xmlns:m="http://schemas.openxmlformats.org/officeDocument/2006/math">
                    <m:r>
                      <a:rPr lang="zh-CN" altLang="zh-CN" sz="2180" i="1" dirty="0">
                        <a:latin typeface="Cambria Math" panose="02040503050406030204" pitchFamily="18" charset="0"/>
                        <a:ea typeface="宋体" panose="02010600030101010101" pitchFamily="2" charset="-122"/>
                      </a:rPr>
                      <m:t>𝐴</m:t>
                    </m:r>
                    <m:sSub>
                      <m:sSubPr>
                        <m:ctrlPr>
                          <a:rPr lang="en-US" altLang="zh-CN" sz="2180" i="1" dirty="0">
                            <a:latin typeface="Cambria Math" panose="02040503050406030204" pitchFamily="18" charset="0"/>
                            <a:ea typeface="宋体" panose="02010600030101010101" pitchFamily="2" charset="-122"/>
                          </a:rPr>
                        </m:ctrlPr>
                      </m:sSubPr>
                      <m:e>
                        <m:r>
                          <a:rPr lang="zh-CN" altLang="zh-CN" sz="2180" i="1" dirty="0">
                            <a:latin typeface="Cambria Math" panose="02040503050406030204" pitchFamily="18" charset="0"/>
                            <a:ea typeface="宋体" panose="02010600030101010101" pitchFamily="2" charset="-122"/>
                          </a:rPr>
                          <m:t>𝐷</m:t>
                        </m:r>
                      </m:e>
                      <m:sub>
                        <m:r>
                          <a:rPr lang="en-US" altLang="zh-CN" sz="2180" i="1" dirty="0">
                            <a:latin typeface="Cambria Math" panose="02040503050406030204" pitchFamily="18" charset="0"/>
                            <a:ea typeface="宋体" panose="02010600030101010101" pitchFamily="2" charset="-122"/>
                          </a:rPr>
                          <m:t>1</m:t>
                        </m:r>
                      </m:sub>
                    </m:sSub>
                  </m:oMath>
                </a14:m>
                <a:r>
                  <a:rPr lang="zh-CN" altLang="zh-CN" sz="2180" dirty="0">
                    <a:ea typeface="宋体" panose="02010600030101010101" pitchFamily="2" charset="-122"/>
                  </a:rPr>
                  <a:t>曲线向左移动</a:t>
                </a:r>
                <a:r>
                  <a:rPr lang="zh-CN" altLang="en-US" sz="2180" dirty="0">
                    <a:ea typeface="宋体" panose="02010600030101010101" pitchFamily="2" charset="-122"/>
                  </a:rPr>
                  <a:t>至</a:t>
                </a:r>
                <a14:m>
                  <m:oMath xmlns:m="http://schemas.openxmlformats.org/officeDocument/2006/math">
                    <m:r>
                      <a:rPr lang="zh-CN" altLang="zh-CN" sz="2180" i="1" dirty="0">
                        <a:latin typeface="Cambria Math" panose="02040503050406030204" pitchFamily="18" charset="0"/>
                        <a:ea typeface="宋体" panose="02010600030101010101" pitchFamily="2" charset="-122"/>
                      </a:rPr>
                      <m:t>𝐴</m:t>
                    </m:r>
                    <m:sSub>
                      <m:sSubPr>
                        <m:ctrlPr>
                          <a:rPr lang="en-US" altLang="zh-CN" sz="2180" i="1" dirty="0">
                            <a:latin typeface="Cambria Math" panose="02040503050406030204" pitchFamily="18" charset="0"/>
                            <a:ea typeface="宋体" panose="02010600030101010101" pitchFamily="2" charset="-122"/>
                          </a:rPr>
                        </m:ctrlPr>
                      </m:sSubPr>
                      <m:e>
                        <m:r>
                          <a:rPr lang="zh-CN" altLang="zh-CN" sz="2180" i="1" dirty="0">
                            <a:latin typeface="Cambria Math" panose="02040503050406030204" pitchFamily="18" charset="0"/>
                            <a:ea typeface="宋体" panose="02010600030101010101" pitchFamily="2" charset="-122"/>
                          </a:rPr>
                          <m:t>𝐷</m:t>
                        </m:r>
                      </m:e>
                      <m:sub>
                        <m:r>
                          <a:rPr lang="en-US" altLang="zh-CN" sz="2180" i="1" dirty="0">
                            <a:latin typeface="Cambria Math" panose="02040503050406030204" pitchFamily="18" charset="0"/>
                            <a:ea typeface="宋体" panose="02010600030101010101" pitchFamily="2" charset="-122"/>
                          </a:rPr>
                          <m:t>2</m:t>
                        </m:r>
                      </m:sub>
                    </m:sSub>
                  </m:oMath>
                </a14:m>
                <a:endParaRPr lang="en-US" altLang="zh-CN" sz="2180" dirty="0">
                  <a:ea typeface="宋体" panose="02010600030101010101" pitchFamily="2" charset="-122"/>
                </a:endParaRPr>
              </a:p>
              <a:p>
                <a:pPr marL="0" indent="0">
                  <a:lnSpc>
                    <a:spcPct val="95000"/>
                  </a:lnSpc>
                  <a:spcBef>
                    <a:spcPct val="35000"/>
                  </a:spcBef>
                  <a:buNone/>
                </a:pPr>
                <a:r>
                  <a:rPr lang="zh-CN" altLang="zh-CN" sz="2180" b="1" dirty="0">
                    <a:solidFill>
                      <a:srgbClr val="339966"/>
                    </a:solidFill>
                    <a:ea typeface="宋体" panose="02010600030101010101" pitchFamily="2" charset="-122"/>
                  </a:rPr>
                  <a:t>3.</a:t>
                </a:r>
                <a:r>
                  <a:rPr lang="zh-CN" altLang="zh-CN" sz="2180" dirty="0">
                    <a:ea typeface="宋体" panose="02010600030101010101" pitchFamily="2" charset="-122"/>
                  </a:rPr>
                  <a:t>短期</a:t>
                </a:r>
                <a:r>
                  <a:rPr lang="zh-CN" altLang="en-US" sz="2180" dirty="0">
                    <a:ea typeface="宋体" panose="02010600030101010101" pitchFamily="2" charset="-122"/>
                  </a:rPr>
                  <a:t>内</a:t>
                </a:r>
                <a:r>
                  <a:rPr lang="zh-CN" altLang="zh-CN" sz="2180" dirty="0"/>
                  <a:t>预期物价水平和名义工资来不及调整</a:t>
                </a:r>
                <a:r>
                  <a:rPr lang="zh-CN" altLang="en-US" sz="2180" dirty="0"/>
                  <a:t>，</a:t>
                </a:r>
                <a14:m>
                  <m:oMath xmlns:m="http://schemas.openxmlformats.org/officeDocument/2006/math">
                    <m:r>
                      <a:rPr lang="en-US" altLang="zh-CN" sz="2180" i="1" dirty="0">
                        <a:latin typeface="Cambria Math" panose="02040503050406030204" pitchFamily="18" charset="0"/>
                      </a:rPr>
                      <m:t>𝑆𝑅𝐴</m:t>
                    </m:r>
                    <m:sSub>
                      <m:sSubPr>
                        <m:ctrlPr>
                          <a:rPr lang="en-US" altLang="zh-CN" sz="2180" i="1" dirty="0">
                            <a:latin typeface="Cambria Math" panose="02040503050406030204" pitchFamily="18" charset="0"/>
                          </a:rPr>
                        </m:ctrlPr>
                      </m:sSubPr>
                      <m:e>
                        <m:r>
                          <a:rPr lang="en-US" altLang="zh-CN" sz="2180" i="1" dirty="0">
                            <a:latin typeface="Cambria Math" panose="02040503050406030204" pitchFamily="18" charset="0"/>
                          </a:rPr>
                          <m:t>𝑆</m:t>
                        </m:r>
                      </m:e>
                      <m:sub>
                        <m:r>
                          <a:rPr lang="en-US" altLang="zh-CN" sz="2180" i="1" dirty="0">
                            <a:latin typeface="Cambria Math" panose="02040503050406030204" pitchFamily="18" charset="0"/>
                          </a:rPr>
                          <m:t>1</m:t>
                        </m:r>
                      </m:sub>
                    </m:sSub>
                  </m:oMath>
                </a14:m>
                <a:r>
                  <a:rPr lang="zh-CN" altLang="en-US" sz="2180" dirty="0">
                    <a:ea typeface="宋体" panose="02010600030101010101" pitchFamily="2" charset="-122"/>
                  </a:rPr>
                  <a:t>暂时不变，经济</a:t>
                </a:r>
                <a:r>
                  <a:rPr lang="zh-CN" altLang="zh-CN" sz="2180" dirty="0">
                    <a:ea typeface="宋体" panose="02010600030101010101" pitchFamily="2" charset="-122"/>
                  </a:rPr>
                  <a:t>在B点达到</a:t>
                </a:r>
                <a:r>
                  <a:rPr lang="zh-CN" altLang="en-US" sz="2180" dirty="0">
                    <a:ea typeface="宋体" panose="02010600030101010101" pitchFamily="2" charset="-122"/>
                  </a:rPr>
                  <a:t>短期均衡：</a:t>
                </a:r>
                <a:r>
                  <a:rPr lang="zh-CN" altLang="zh-CN" sz="2180" dirty="0">
                    <a:ea typeface="宋体" panose="02010600030101010101" pitchFamily="2" charset="-122"/>
                  </a:rPr>
                  <a:t>物价水平</a:t>
                </a:r>
                <a:r>
                  <a:rPr lang="zh-CN" altLang="en-US" sz="2180" dirty="0">
                    <a:ea typeface="宋体" panose="02010600030101010101" pitchFamily="2" charset="-122"/>
                  </a:rPr>
                  <a:t>下降，</a:t>
                </a:r>
                <a:r>
                  <a:rPr lang="zh-CN" altLang="zh-CN" sz="2180" dirty="0">
                    <a:ea typeface="宋体" panose="02010600030101010101" pitchFamily="2" charset="-122"/>
                  </a:rPr>
                  <a:t>产出</a:t>
                </a:r>
                <a:r>
                  <a:rPr lang="zh-CN" altLang="en-US" sz="2180" dirty="0">
                    <a:ea typeface="宋体" panose="02010600030101010101" pitchFamily="2" charset="-122"/>
                  </a:rPr>
                  <a:t>低于自然产出</a:t>
                </a:r>
                <a:r>
                  <a:rPr lang="zh-CN" altLang="zh-CN" sz="2180" dirty="0">
                    <a:ea typeface="宋体" panose="02010600030101010101" pitchFamily="2" charset="-122"/>
                  </a:rPr>
                  <a:t>，失业增加</a:t>
                </a:r>
                <a:endParaRPr lang="en-US" altLang="zh-CN" sz="2180" dirty="0">
                  <a:ea typeface="宋体" panose="02010600030101010101" pitchFamily="2" charset="-122"/>
                </a:endParaRPr>
              </a:p>
              <a:p>
                <a:pPr marL="0" indent="0">
                  <a:lnSpc>
                    <a:spcPct val="95000"/>
                  </a:lnSpc>
                  <a:spcBef>
                    <a:spcPct val="35000"/>
                  </a:spcBef>
                  <a:buNone/>
                </a:pPr>
                <a:r>
                  <a:rPr lang="en-US" altLang="zh-CN" sz="2180" b="1" dirty="0">
                    <a:solidFill>
                      <a:srgbClr val="339966"/>
                    </a:solidFill>
                    <a:ea typeface="宋体" panose="02010600030101010101" pitchFamily="2" charset="-122"/>
                  </a:rPr>
                  <a:t>4</a:t>
                </a:r>
                <a:r>
                  <a:rPr lang="zh-CN" altLang="zh-CN" sz="2180" b="1" dirty="0">
                    <a:solidFill>
                      <a:srgbClr val="339966"/>
                    </a:solidFill>
                    <a:ea typeface="宋体" panose="02010600030101010101" pitchFamily="2" charset="-122"/>
                  </a:rPr>
                  <a:t>. </a:t>
                </a:r>
                <a:r>
                  <a:rPr lang="zh-CN" altLang="en-US" sz="2180" b="1" dirty="0">
                    <a:ea typeface="宋体" panose="02010600030101010101" pitchFamily="2" charset="-122"/>
                  </a:rPr>
                  <a:t>在长期中，</a:t>
                </a:r>
                <a:r>
                  <a:rPr lang="zh-CN" altLang="zh-CN" sz="2180" dirty="0"/>
                  <a:t>在B点</a:t>
                </a:r>
                <a:r>
                  <a:rPr lang="zh-CN" altLang="en-US" sz="2180" dirty="0"/>
                  <a:t>，</a:t>
                </a:r>
                <a:r>
                  <a:rPr lang="zh-CN" altLang="zh-CN" sz="2180" dirty="0"/>
                  <a:t>由于产出低于自然产出、失业较高，预期物价水平和名义工资逐步下降，企业生产成本下降</a:t>
                </a:r>
                <a:r>
                  <a:rPr lang="zh-CN" altLang="en-US" sz="2180" dirty="0"/>
                  <a:t>，</a:t>
                </a:r>
                <a:r>
                  <a:rPr lang="en-US" altLang="zh-CN" sz="2180" dirty="0"/>
                  <a:t> </a:t>
                </a:r>
                <a14:m>
                  <m:oMath xmlns:m="http://schemas.openxmlformats.org/officeDocument/2006/math">
                    <m:r>
                      <a:rPr lang="en-US" altLang="zh-CN" sz="2180" i="1" dirty="0">
                        <a:latin typeface="Cambria Math" panose="02040503050406030204" pitchFamily="18" charset="0"/>
                      </a:rPr>
                      <m:t>𝑆𝑅𝐴</m:t>
                    </m:r>
                    <m:sSub>
                      <m:sSubPr>
                        <m:ctrlPr>
                          <a:rPr lang="en-US" altLang="zh-CN" sz="2180" i="1" dirty="0">
                            <a:latin typeface="Cambria Math" panose="02040503050406030204" pitchFamily="18" charset="0"/>
                          </a:rPr>
                        </m:ctrlPr>
                      </m:sSubPr>
                      <m:e>
                        <m:r>
                          <a:rPr lang="en-US" altLang="zh-CN" sz="2180" i="1" dirty="0">
                            <a:latin typeface="Cambria Math" panose="02040503050406030204" pitchFamily="18" charset="0"/>
                          </a:rPr>
                          <m:t>𝑆</m:t>
                        </m:r>
                      </m:e>
                      <m:sub>
                        <m:r>
                          <a:rPr lang="en-US" altLang="zh-CN" sz="2180" i="1" dirty="0">
                            <a:latin typeface="Cambria Math" panose="02040503050406030204" pitchFamily="18" charset="0"/>
                          </a:rPr>
                          <m:t>1</m:t>
                        </m:r>
                      </m:sub>
                    </m:sSub>
                  </m:oMath>
                </a14:m>
                <a:r>
                  <a:rPr lang="zh-CN" altLang="en-US" sz="2180" b="1" dirty="0">
                    <a:ea typeface="宋体" panose="02010600030101010101" pitchFamily="2" charset="-122"/>
                  </a:rPr>
                  <a:t>曲线向右移动到</a:t>
                </a:r>
                <a14:m>
                  <m:oMath xmlns:m="http://schemas.openxmlformats.org/officeDocument/2006/math">
                    <m:r>
                      <a:rPr lang="en-US" altLang="zh-CN" sz="2180" i="1" dirty="0">
                        <a:latin typeface="Cambria Math" panose="02040503050406030204" pitchFamily="18" charset="0"/>
                      </a:rPr>
                      <m:t>𝑆𝑅𝐴</m:t>
                    </m:r>
                    <m:sSub>
                      <m:sSubPr>
                        <m:ctrlPr>
                          <a:rPr lang="en-US" altLang="zh-CN" sz="2180" i="1" dirty="0">
                            <a:latin typeface="Cambria Math" panose="02040503050406030204" pitchFamily="18" charset="0"/>
                          </a:rPr>
                        </m:ctrlPr>
                      </m:sSubPr>
                      <m:e>
                        <m:r>
                          <a:rPr lang="en-US" altLang="zh-CN" sz="2180" i="1" dirty="0">
                            <a:latin typeface="Cambria Math" panose="02040503050406030204" pitchFamily="18" charset="0"/>
                          </a:rPr>
                          <m:t>𝑆</m:t>
                        </m:r>
                      </m:e>
                      <m:sub>
                        <m:r>
                          <a:rPr lang="en-US" altLang="zh-CN" sz="2180" i="1" dirty="0">
                            <a:latin typeface="Cambria Math" panose="02040503050406030204" pitchFamily="18" charset="0"/>
                          </a:rPr>
                          <m:t>2</m:t>
                        </m:r>
                      </m:sub>
                    </m:sSub>
                  </m:oMath>
                </a14:m>
                <a:r>
                  <a:rPr lang="zh-CN" altLang="en-US" sz="2180" b="1" dirty="0">
                    <a:ea typeface="宋体" panose="02010600030101010101" pitchFamily="2" charset="-122"/>
                  </a:rPr>
                  <a:t>。经济沿着</a:t>
                </a:r>
                <a14:m>
                  <m:oMath xmlns:m="http://schemas.openxmlformats.org/officeDocument/2006/math">
                    <m:r>
                      <a:rPr lang="zh-CN" altLang="zh-CN" sz="2180" i="1" dirty="0">
                        <a:latin typeface="Cambria Math" panose="02040503050406030204" pitchFamily="18" charset="0"/>
                        <a:ea typeface="宋体" panose="02010600030101010101" pitchFamily="2" charset="-122"/>
                      </a:rPr>
                      <m:t>𝐴</m:t>
                    </m:r>
                    <m:sSub>
                      <m:sSubPr>
                        <m:ctrlPr>
                          <a:rPr lang="en-US" altLang="zh-CN" sz="2180" i="1" dirty="0">
                            <a:latin typeface="Cambria Math" panose="02040503050406030204" pitchFamily="18" charset="0"/>
                            <a:ea typeface="宋体" panose="02010600030101010101" pitchFamily="2" charset="-122"/>
                          </a:rPr>
                        </m:ctrlPr>
                      </m:sSubPr>
                      <m:e>
                        <m:r>
                          <a:rPr lang="zh-CN" altLang="zh-CN" sz="2180" i="1" dirty="0">
                            <a:latin typeface="Cambria Math" panose="02040503050406030204" pitchFamily="18" charset="0"/>
                            <a:ea typeface="宋体" panose="02010600030101010101" pitchFamily="2" charset="-122"/>
                          </a:rPr>
                          <m:t>𝐷</m:t>
                        </m:r>
                      </m:e>
                      <m:sub>
                        <m:r>
                          <a:rPr lang="en-US" altLang="zh-CN" sz="2180" i="1" dirty="0">
                            <a:latin typeface="Cambria Math" panose="02040503050406030204" pitchFamily="18" charset="0"/>
                            <a:ea typeface="宋体" panose="02010600030101010101" pitchFamily="2" charset="-122"/>
                          </a:rPr>
                          <m:t>2</m:t>
                        </m:r>
                      </m:sub>
                    </m:sSub>
                    <m:r>
                      <a:rPr lang="zh-CN" altLang="en-US" sz="2180" i="1" dirty="0">
                        <a:latin typeface="Cambria Math" panose="02040503050406030204" pitchFamily="18" charset="0"/>
                        <a:ea typeface="宋体" panose="02010600030101010101" pitchFamily="2" charset="-122"/>
                      </a:rPr>
                      <m:t>从</m:t>
                    </m:r>
                  </m:oMath>
                </a14:m>
                <a:r>
                  <a:rPr lang="en-US" altLang="zh-CN" sz="2180" b="1" dirty="0">
                    <a:ea typeface="宋体" panose="02010600030101010101" pitchFamily="2" charset="-122"/>
                  </a:rPr>
                  <a:t>B</a:t>
                </a:r>
                <a:r>
                  <a:rPr lang="zh-CN" altLang="en-US" sz="2180" b="1" dirty="0">
                    <a:ea typeface="宋体" panose="02010600030101010101" pitchFamily="2" charset="-122"/>
                  </a:rPr>
                  <a:t>点移动至</a:t>
                </a:r>
                <a:r>
                  <a:rPr lang="en-US" altLang="zh-CN" sz="2180" b="1" dirty="0">
                    <a:ea typeface="宋体" panose="02010600030101010101" pitchFamily="2" charset="-122"/>
                  </a:rPr>
                  <a:t>C</a:t>
                </a:r>
                <a:r>
                  <a:rPr lang="zh-CN" altLang="en-US" sz="2180" b="1" dirty="0">
                    <a:ea typeface="宋体" panose="02010600030101010101" pitchFamily="2" charset="-122"/>
                  </a:rPr>
                  <a:t>点。此时，</a:t>
                </a:r>
                <a:r>
                  <a:rPr lang="zh-CN" altLang="zh-CN" sz="2180" dirty="0"/>
                  <a:t>产出回到自然产出水平，失业率回到自然失业率附近，但价格水平进一步下降。</a:t>
                </a:r>
                <a:endParaRPr lang="zh-CN" altLang="zh-CN" sz="2180" dirty="0">
                  <a:ea typeface="宋体" panose="02010600030101010101" pitchFamily="2" charset="-122"/>
                </a:endParaRPr>
              </a:p>
            </p:txBody>
          </p:sp>
        </mc:Choice>
        <mc:Fallback>
          <p:sp>
            <p:nvSpPr>
              <p:cNvPr id="79879" name="Rectangle 4">
                <a:extLst>
                  <a:ext uri="{FF2B5EF4-FFF2-40B4-BE49-F238E27FC236}">
                    <a16:creationId xmlns:a16="http://schemas.microsoft.com/office/drawing/2014/main" id="{9CF933A7-7800-2D98-0A29-D8E2B4F099B1}"/>
                  </a:ext>
                </a:extLst>
              </p:cNvPr>
              <p:cNvSpPr>
                <a:spLocks noGrp="1" noRot="1" noChangeAspect="1" noMove="1" noResize="1" noEditPoints="1" noAdjustHandles="1" noChangeArrowheads="1" noChangeShapeType="1" noTextEdit="1"/>
              </p:cNvSpPr>
              <p:nvPr>
                <p:ph type="body" idx="4294967295"/>
              </p:nvPr>
            </p:nvSpPr>
            <p:spPr>
              <a:xfrm>
                <a:off x="1528194" y="896089"/>
                <a:ext cx="4873206" cy="5413166"/>
              </a:xfrm>
              <a:blipFill>
                <a:blip r:embed="rId3"/>
                <a:stretch>
                  <a:fillRect l="-1627" t="-1577" r="-876" b="-5293"/>
                </a:stretch>
              </a:blipFill>
            </p:spPr>
            <p:txBody>
              <a:bodyPr/>
              <a:lstStyle/>
              <a:p>
                <a:r>
                  <a:rPr lang="zh-CN" altLang="en-US">
                    <a:noFill/>
                  </a:rPr>
                  <a:t> </a:t>
                </a:r>
              </a:p>
            </p:txBody>
          </p:sp>
        </mc:Fallback>
      </mc:AlternateContent>
      <p:grpSp>
        <p:nvGrpSpPr>
          <p:cNvPr id="79880" name="Group 8">
            <a:extLst>
              <a:ext uri="{FF2B5EF4-FFF2-40B4-BE49-F238E27FC236}">
                <a16:creationId xmlns:a16="http://schemas.microsoft.com/office/drawing/2014/main" id="{54F2DE4E-7EF1-9AEF-FE1D-0ACD36EE0CEA}"/>
              </a:ext>
            </a:extLst>
          </p:cNvPr>
          <p:cNvGrpSpPr>
            <a:grpSpLocks/>
          </p:cNvGrpSpPr>
          <p:nvPr/>
        </p:nvGrpSpPr>
        <p:grpSpPr bwMode="auto">
          <a:xfrm>
            <a:off x="6666780" y="896089"/>
            <a:ext cx="3990485" cy="4108181"/>
            <a:chOff x="0" y="0"/>
            <a:chExt cx="2786" cy="2423"/>
          </a:xfrm>
        </p:grpSpPr>
        <p:grpSp>
          <p:nvGrpSpPr>
            <p:cNvPr id="79881" name="Group 9">
              <a:extLst>
                <a:ext uri="{FF2B5EF4-FFF2-40B4-BE49-F238E27FC236}">
                  <a16:creationId xmlns:a16="http://schemas.microsoft.com/office/drawing/2014/main" id="{BFB1DA15-F24C-5031-2174-A88A3965AECE}"/>
                </a:ext>
              </a:extLst>
            </p:cNvPr>
            <p:cNvGrpSpPr>
              <a:grpSpLocks/>
            </p:cNvGrpSpPr>
            <p:nvPr/>
          </p:nvGrpSpPr>
          <p:grpSpPr bwMode="auto">
            <a:xfrm>
              <a:off x="118" y="252"/>
              <a:ext cx="2409" cy="2049"/>
              <a:chOff x="0" y="0"/>
              <a:chExt cx="2116" cy="2027"/>
            </a:xfrm>
          </p:grpSpPr>
          <p:sp>
            <p:nvSpPr>
              <p:cNvPr id="79882" name="Line 7">
                <a:extLst>
                  <a:ext uri="{FF2B5EF4-FFF2-40B4-BE49-F238E27FC236}">
                    <a16:creationId xmlns:a16="http://schemas.microsoft.com/office/drawing/2014/main" id="{36E3C5F1-8A60-5B55-4905-46F2C856F2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883" name="Line 8">
                <a:extLst>
                  <a:ext uri="{FF2B5EF4-FFF2-40B4-BE49-F238E27FC236}">
                    <a16:creationId xmlns:a16="http://schemas.microsoft.com/office/drawing/2014/main" id="{2E161441-173A-65D6-C794-2F0534247164}"/>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79884" name="Text Box 9">
              <a:extLst>
                <a:ext uri="{FF2B5EF4-FFF2-40B4-BE49-F238E27FC236}">
                  <a16:creationId xmlns:a16="http://schemas.microsoft.com/office/drawing/2014/main" id="{275A997E-2C90-DE57-61E7-2DB108FB2889}"/>
                </a:ext>
              </a:extLst>
            </p:cNvPr>
            <p:cNvSpPr txBox="1">
              <a:spLocks noChangeArrowheads="1"/>
            </p:cNvSpPr>
            <p:nvPr/>
          </p:nvSpPr>
          <p:spPr bwMode="auto">
            <a:xfrm>
              <a:off x="0" y="0"/>
              <a:ext cx="2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p>
          </p:txBody>
        </p:sp>
        <p:sp>
          <p:nvSpPr>
            <p:cNvPr id="79885" name="Text Box 10">
              <a:extLst>
                <a:ext uri="{FF2B5EF4-FFF2-40B4-BE49-F238E27FC236}">
                  <a16:creationId xmlns:a16="http://schemas.microsoft.com/office/drawing/2014/main" id="{A88334D8-6E94-E27F-3016-A2701425CE9A}"/>
                </a:ext>
              </a:extLst>
            </p:cNvPr>
            <p:cNvSpPr txBox="1">
              <a:spLocks noChangeArrowheads="1"/>
            </p:cNvSpPr>
            <p:nvPr/>
          </p:nvSpPr>
          <p:spPr bwMode="auto">
            <a:xfrm>
              <a:off x="2496" y="2151"/>
              <a:ext cx="2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p>
          </p:txBody>
        </p:sp>
      </p:grpSp>
      <p:grpSp>
        <p:nvGrpSpPr>
          <p:cNvPr id="79886" name="Group 14">
            <a:extLst>
              <a:ext uri="{FF2B5EF4-FFF2-40B4-BE49-F238E27FC236}">
                <a16:creationId xmlns:a16="http://schemas.microsoft.com/office/drawing/2014/main" id="{F79AA4D2-4704-A6CC-91E0-F60F7B85A7A8}"/>
              </a:ext>
            </a:extLst>
          </p:cNvPr>
          <p:cNvGrpSpPr>
            <a:grpSpLocks/>
          </p:cNvGrpSpPr>
          <p:nvPr/>
        </p:nvGrpSpPr>
        <p:grpSpPr bwMode="auto">
          <a:xfrm>
            <a:off x="7363053" y="1400451"/>
            <a:ext cx="2945283" cy="2612213"/>
            <a:chOff x="0" y="0"/>
            <a:chExt cx="1857" cy="1647"/>
          </a:xfrm>
        </p:grpSpPr>
        <p:sp>
          <p:nvSpPr>
            <p:cNvPr id="79887" name="Line 11">
              <a:extLst>
                <a:ext uri="{FF2B5EF4-FFF2-40B4-BE49-F238E27FC236}">
                  <a16:creationId xmlns:a16="http://schemas.microsoft.com/office/drawing/2014/main" id="{B655C672-B860-8463-A98B-E638B235B74A}"/>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888" name="Text Box 12">
              <a:extLst>
                <a:ext uri="{FF2B5EF4-FFF2-40B4-BE49-F238E27FC236}">
                  <a16:creationId xmlns:a16="http://schemas.microsoft.com/office/drawing/2014/main" id="{CE13525F-07DA-DB9D-4D58-65DEDDEB7E53}"/>
                </a:ext>
              </a:extLst>
            </p:cNvPr>
            <p:cNvSpPr txBox="1">
              <a:spLocks noChangeArrowheads="1"/>
            </p:cNvSpPr>
            <p:nvPr/>
          </p:nvSpPr>
          <p:spPr bwMode="auto">
            <a:xfrm>
              <a:off x="1388" y="1356"/>
              <a:ext cx="4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AD</a:t>
              </a:r>
              <a:r>
                <a:rPr lang="en-US" altLang="zh-CN" sz="2398" baseline="-25000">
                  <a:ea typeface="宋体" panose="02010600030101010101" pitchFamily="2" charset="-122"/>
                </a:rPr>
                <a:t>1</a:t>
              </a:r>
            </a:p>
          </p:txBody>
        </p:sp>
      </p:grpSp>
      <p:grpSp>
        <p:nvGrpSpPr>
          <p:cNvPr id="79889" name="Group 17">
            <a:extLst>
              <a:ext uri="{FF2B5EF4-FFF2-40B4-BE49-F238E27FC236}">
                <a16:creationId xmlns:a16="http://schemas.microsoft.com/office/drawing/2014/main" id="{2E5FD167-A537-06B5-6C5E-2FDE3C0BFFAE}"/>
              </a:ext>
            </a:extLst>
          </p:cNvPr>
          <p:cNvGrpSpPr>
            <a:grpSpLocks/>
          </p:cNvGrpSpPr>
          <p:nvPr/>
        </p:nvGrpSpPr>
        <p:grpSpPr bwMode="auto">
          <a:xfrm>
            <a:off x="7152108" y="1551124"/>
            <a:ext cx="3387790" cy="2594767"/>
            <a:chOff x="0" y="0"/>
            <a:chExt cx="2136" cy="1636"/>
          </a:xfrm>
        </p:grpSpPr>
        <p:sp>
          <p:nvSpPr>
            <p:cNvPr id="79890" name="Line 13">
              <a:extLst>
                <a:ext uri="{FF2B5EF4-FFF2-40B4-BE49-F238E27FC236}">
                  <a16:creationId xmlns:a16="http://schemas.microsoft.com/office/drawing/2014/main" id="{627C4652-7306-E37C-F6DA-0AB502F314FA}"/>
                </a:ext>
              </a:extLst>
            </p:cNvPr>
            <p:cNvSpPr>
              <a:spLocks noChangeShapeType="1"/>
            </p:cNvSpPr>
            <p:nvPr/>
          </p:nvSpPr>
          <p:spPr bwMode="auto">
            <a:xfrm flipV="1">
              <a:off x="0" y="252"/>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891" name="Text Box 14">
              <a:extLst>
                <a:ext uri="{FF2B5EF4-FFF2-40B4-BE49-F238E27FC236}">
                  <a16:creationId xmlns:a16="http://schemas.microsoft.com/office/drawing/2014/main" id="{0ED795E2-F377-BCF9-1227-B8D95E36F427}"/>
                </a:ext>
              </a:extLst>
            </p:cNvPr>
            <p:cNvSpPr txBox="1">
              <a:spLocks noChangeArrowheads="1"/>
            </p:cNvSpPr>
            <p:nvPr/>
          </p:nvSpPr>
          <p:spPr bwMode="auto">
            <a:xfrm>
              <a:off x="1394" y="0"/>
              <a:ext cx="7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SRAS</a:t>
              </a:r>
              <a:r>
                <a:rPr lang="en-US" altLang="zh-CN" sz="2398" baseline="-25000">
                  <a:ea typeface="宋体" panose="02010600030101010101" pitchFamily="2" charset="-122"/>
                </a:rPr>
                <a:t>1</a:t>
              </a:r>
            </a:p>
          </p:txBody>
        </p:sp>
      </p:grpSp>
      <p:grpSp>
        <p:nvGrpSpPr>
          <p:cNvPr id="79892" name="Group 20">
            <a:extLst>
              <a:ext uri="{FF2B5EF4-FFF2-40B4-BE49-F238E27FC236}">
                <a16:creationId xmlns:a16="http://schemas.microsoft.com/office/drawing/2014/main" id="{1F8A2C5C-5A16-34AA-3563-8F9F05C7EAD5}"/>
              </a:ext>
            </a:extLst>
          </p:cNvPr>
          <p:cNvGrpSpPr>
            <a:grpSpLocks/>
          </p:cNvGrpSpPr>
          <p:nvPr/>
        </p:nvGrpSpPr>
        <p:grpSpPr bwMode="auto">
          <a:xfrm>
            <a:off x="7126733" y="2444069"/>
            <a:ext cx="2604284" cy="2218876"/>
            <a:chOff x="0" y="0"/>
            <a:chExt cx="1642" cy="1399"/>
          </a:xfrm>
        </p:grpSpPr>
        <p:sp>
          <p:nvSpPr>
            <p:cNvPr id="79893" name="Text Box 21">
              <a:extLst>
                <a:ext uri="{FF2B5EF4-FFF2-40B4-BE49-F238E27FC236}">
                  <a16:creationId xmlns:a16="http://schemas.microsoft.com/office/drawing/2014/main" id="{2AC1DB27-7513-8EA0-46E3-D2179E1A6630}"/>
                </a:ext>
              </a:extLst>
            </p:cNvPr>
            <p:cNvSpPr txBox="1">
              <a:spLocks noChangeArrowheads="1"/>
            </p:cNvSpPr>
            <p:nvPr/>
          </p:nvSpPr>
          <p:spPr bwMode="auto">
            <a:xfrm>
              <a:off x="1185" y="1108"/>
              <a:ext cx="4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AD</a:t>
              </a:r>
              <a:r>
                <a:rPr lang="en-US" altLang="zh-CN" sz="2398" baseline="-25000">
                  <a:ea typeface="宋体" panose="02010600030101010101" pitchFamily="2" charset="-122"/>
                </a:rPr>
                <a:t>2</a:t>
              </a:r>
            </a:p>
          </p:txBody>
        </p:sp>
        <p:sp>
          <p:nvSpPr>
            <p:cNvPr id="79894" name="Line 22">
              <a:extLst>
                <a:ext uri="{FF2B5EF4-FFF2-40B4-BE49-F238E27FC236}">
                  <a16:creationId xmlns:a16="http://schemas.microsoft.com/office/drawing/2014/main" id="{8F2A6D2B-D745-40BB-B96D-E02022DF5D06}"/>
                </a:ext>
              </a:extLst>
            </p:cNvPr>
            <p:cNvSpPr>
              <a:spLocks noChangeShapeType="1"/>
            </p:cNvSpPr>
            <p:nvPr/>
          </p:nvSpPr>
          <p:spPr bwMode="auto">
            <a:xfrm>
              <a:off x="0" y="0"/>
              <a:ext cx="1235" cy="121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grpSp>
        <p:nvGrpSpPr>
          <p:cNvPr id="79895" name="Group 23">
            <a:extLst>
              <a:ext uri="{FF2B5EF4-FFF2-40B4-BE49-F238E27FC236}">
                <a16:creationId xmlns:a16="http://schemas.microsoft.com/office/drawing/2014/main" id="{B127B1ED-8F5E-0BE4-1411-155397B0E715}"/>
              </a:ext>
            </a:extLst>
          </p:cNvPr>
          <p:cNvGrpSpPr>
            <a:grpSpLocks/>
          </p:cNvGrpSpPr>
          <p:nvPr/>
        </p:nvGrpSpPr>
        <p:grpSpPr bwMode="auto">
          <a:xfrm>
            <a:off x="8016502" y="2613774"/>
            <a:ext cx="2762888" cy="2011103"/>
            <a:chOff x="0" y="0"/>
            <a:chExt cx="1742" cy="1268"/>
          </a:xfrm>
        </p:grpSpPr>
        <p:sp>
          <p:nvSpPr>
            <p:cNvPr id="79896" name="Line 23">
              <a:extLst>
                <a:ext uri="{FF2B5EF4-FFF2-40B4-BE49-F238E27FC236}">
                  <a16:creationId xmlns:a16="http://schemas.microsoft.com/office/drawing/2014/main" id="{24D48E9B-F6BF-3320-A78B-170808E598F7}"/>
                </a:ext>
              </a:extLst>
            </p:cNvPr>
            <p:cNvSpPr>
              <a:spLocks noChangeShapeType="1"/>
            </p:cNvSpPr>
            <p:nvPr/>
          </p:nvSpPr>
          <p:spPr bwMode="auto">
            <a:xfrm flipV="1">
              <a:off x="0" y="246"/>
              <a:ext cx="1092" cy="1022"/>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897" name="Text Box 24">
              <a:extLst>
                <a:ext uri="{FF2B5EF4-FFF2-40B4-BE49-F238E27FC236}">
                  <a16:creationId xmlns:a16="http://schemas.microsoft.com/office/drawing/2014/main" id="{AF5FC7CA-4019-7E01-1C60-E3A769B3D355}"/>
                </a:ext>
              </a:extLst>
            </p:cNvPr>
            <p:cNvSpPr txBox="1">
              <a:spLocks noChangeArrowheads="1"/>
            </p:cNvSpPr>
            <p:nvPr/>
          </p:nvSpPr>
          <p:spPr bwMode="auto">
            <a:xfrm>
              <a:off x="1000" y="0"/>
              <a:ext cx="7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SRAS</a:t>
              </a:r>
              <a:r>
                <a:rPr lang="en-US" altLang="zh-CN" sz="2398" baseline="-25000">
                  <a:ea typeface="宋体" panose="02010600030101010101" pitchFamily="2" charset="-122"/>
                </a:rPr>
                <a:t>2</a:t>
              </a:r>
            </a:p>
          </p:txBody>
        </p:sp>
      </p:grpSp>
      <p:grpSp>
        <p:nvGrpSpPr>
          <p:cNvPr id="79898" name="Group 26">
            <a:extLst>
              <a:ext uri="{FF2B5EF4-FFF2-40B4-BE49-F238E27FC236}">
                <a16:creationId xmlns:a16="http://schemas.microsoft.com/office/drawing/2014/main" id="{A05F35FC-CA8E-FD84-C39C-B97EB5C58208}"/>
              </a:ext>
            </a:extLst>
          </p:cNvPr>
          <p:cNvGrpSpPr>
            <a:grpSpLocks/>
          </p:cNvGrpSpPr>
          <p:nvPr/>
        </p:nvGrpSpPr>
        <p:grpSpPr bwMode="auto">
          <a:xfrm>
            <a:off x="6343227" y="2526542"/>
            <a:ext cx="2420302" cy="369548"/>
            <a:chOff x="0" y="0"/>
            <a:chExt cx="1526" cy="233"/>
          </a:xfrm>
        </p:grpSpPr>
        <p:sp>
          <p:nvSpPr>
            <p:cNvPr id="79899" name="Line 15">
              <a:extLst>
                <a:ext uri="{FF2B5EF4-FFF2-40B4-BE49-F238E27FC236}">
                  <a16:creationId xmlns:a16="http://schemas.microsoft.com/office/drawing/2014/main" id="{055103B2-648D-3AA7-374D-56E8781BD717}"/>
                </a:ext>
              </a:extLst>
            </p:cNvPr>
            <p:cNvSpPr>
              <a:spLocks noChangeShapeType="1"/>
            </p:cNvSpPr>
            <p:nvPr/>
          </p:nvSpPr>
          <p:spPr bwMode="auto">
            <a:xfrm flipV="1">
              <a:off x="316" y="120"/>
              <a:ext cx="11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900" name="Text Box 16">
              <a:extLst>
                <a:ext uri="{FF2B5EF4-FFF2-40B4-BE49-F238E27FC236}">
                  <a16:creationId xmlns:a16="http://schemas.microsoft.com/office/drawing/2014/main" id="{CC58FB2B-882A-C81A-CDC9-8243585201C7}"/>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1</a:t>
              </a:r>
            </a:p>
          </p:txBody>
        </p:sp>
        <p:sp>
          <p:nvSpPr>
            <p:cNvPr id="79901" name="Oval 28">
              <a:extLst>
                <a:ext uri="{FF2B5EF4-FFF2-40B4-BE49-F238E27FC236}">
                  <a16:creationId xmlns:a16="http://schemas.microsoft.com/office/drawing/2014/main" id="{7608ADC2-1376-F77A-C0B4-6A81A51EC146}"/>
                </a:ext>
              </a:extLst>
            </p:cNvPr>
            <p:cNvSpPr>
              <a:spLocks noChangeArrowheads="1"/>
            </p:cNvSpPr>
            <p:nvPr/>
          </p:nvSpPr>
          <p:spPr bwMode="auto">
            <a:xfrm>
              <a:off x="1438" y="7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79902" name="Text Box 58">
            <a:extLst>
              <a:ext uri="{FF2B5EF4-FFF2-40B4-BE49-F238E27FC236}">
                <a16:creationId xmlns:a16="http://schemas.microsoft.com/office/drawing/2014/main" id="{E2C7EA08-FEE0-2596-B2DB-672328BF6EBD}"/>
              </a:ext>
            </a:extLst>
          </p:cNvPr>
          <p:cNvSpPr txBox="1">
            <a:spLocks noChangeArrowheads="1"/>
          </p:cNvSpPr>
          <p:nvPr/>
        </p:nvSpPr>
        <p:spPr bwMode="auto">
          <a:xfrm>
            <a:off x="8815866" y="2524955"/>
            <a:ext cx="318796" cy="3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A</a:t>
            </a:r>
            <a:endParaRPr lang="en-US" altLang="zh-CN" sz="2398" baseline="-25000">
              <a:ea typeface="宋体" panose="02010600030101010101" pitchFamily="2" charset="-122"/>
            </a:endParaRPr>
          </a:p>
        </p:txBody>
      </p:sp>
      <p:grpSp>
        <p:nvGrpSpPr>
          <p:cNvPr id="79903" name="Group 31">
            <a:extLst>
              <a:ext uri="{FF2B5EF4-FFF2-40B4-BE49-F238E27FC236}">
                <a16:creationId xmlns:a16="http://schemas.microsoft.com/office/drawing/2014/main" id="{1C288984-35C7-4C59-AFDE-EFFA41752718}"/>
              </a:ext>
            </a:extLst>
          </p:cNvPr>
          <p:cNvGrpSpPr>
            <a:grpSpLocks/>
          </p:cNvGrpSpPr>
          <p:nvPr/>
        </p:nvGrpSpPr>
        <p:grpSpPr bwMode="auto">
          <a:xfrm>
            <a:off x="6349570" y="3149857"/>
            <a:ext cx="2133228" cy="2057099"/>
            <a:chOff x="0" y="0"/>
            <a:chExt cx="1345" cy="1297"/>
          </a:xfrm>
        </p:grpSpPr>
        <p:grpSp>
          <p:nvGrpSpPr>
            <p:cNvPr id="79904" name="Group 32">
              <a:extLst>
                <a:ext uri="{FF2B5EF4-FFF2-40B4-BE49-F238E27FC236}">
                  <a16:creationId xmlns:a16="http://schemas.microsoft.com/office/drawing/2014/main" id="{148EDBF9-B515-609D-7246-9384BDE965E5}"/>
                </a:ext>
              </a:extLst>
            </p:cNvPr>
            <p:cNvGrpSpPr>
              <a:grpSpLocks/>
            </p:cNvGrpSpPr>
            <p:nvPr/>
          </p:nvGrpSpPr>
          <p:grpSpPr bwMode="auto">
            <a:xfrm>
              <a:off x="0" y="0"/>
              <a:ext cx="1220" cy="1297"/>
              <a:chOff x="0" y="0"/>
              <a:chExt cx="1220" cy="1297"/>
            </a:xfrm>
          </p:grpSpPr>
          <p:sp>
            <p:nvSpPr>
              <p:cNvPr id="79905" name="Oval 33">
                <a:extLst>
                  <a:ext uri="{FF2B5EF4-FFF2-40B4-BE49-F238E27FC236}">
                    <a16:creationId xmlns:a16="http://schemas.microsoft.com/office/drawing/2014/main" id="{65DFE4DA-3882-771D-15B1-36CA48C7BD57}"/>
                  </a:ext>
                </a:extLst>
              </p:cNvPr>
              <p:cNvSpPr>
                <a:spLocks noChangeArrowheads="1"/>
              </p:cNvSpPr>
              <p:nvPr/>
            </p:nvSpPr>
            <p:spPr bwMode="auto">
              <a:xfrm>
                <a:off x="1009"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nvGrpSpPr>
              <p:cNvPr id="79906" name="Group 34">
                <a:extLst>
                  <a:ext uri="{FF2B5EF4-FFF2-40B4-BE49-F238E27FC236}">
                    <a16:creationId xmlns:a16="http://schemas.microsoft.com/office/drawing/2014/main" id="{EABEACCD-BD36-44FA-4550-03091FFBC69F}"/>
                  </a:ext>
                </a:extLst>
              </p:cNvPr>
              <p:cNvGrpSpPr>
                <a:grpSpLocks/>
              </p:cNvGrpSpPr>
              <p:nvPr/>
            </p:nvGrpSpPr>
            <p:grpSpPr bwMode="auto">
              <a:xfrm>
                <a:off x="309" y="116"/>
                <a:ext cx="746" cy="924"/>
                <a:chOff x="0" y="0"/>
                <a:chExt cx="795" cy="646"/>
              </a:xfrm>
            </p:grpSpPr>
            <p:sp>
              <p:nvSpPr>
                <p:cNvPr id="79907" name="Line 35">
                  <a:extLst>
                    <a:ext uri="{FF2B5EF4-FFF2-40B4-BE49-F238E27FC236}">
                      <a16:creationId xmlns:a16="http://schemas.microsoft.com/office/drawing/2014/main" id="{B87347B0-92DF-A65D-493C-DE2A6B98CEE8}"/>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908" name="Line 36">
                  <a:extLst>
                    <a:ext uri="{FF2B5EF4-FFF2-40B4-BE49-F238E27FC236}">
                      <a16:creationId xmlns:a16="http://schemas.microsoft.com/office/drawing/2014/main" id="{0D7EB209-1C40-9AB3-BFB7-74F89F96DB20}"/>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79909" name="Text Box 37">
                <a:extLst>
                  <a:ext uri="{FF2B5EF4-FFF2-40B4-BE49-F238E27FC236}">
                    <a16:creationId xmlns:a16="http://schemas.microsoft.com/office/drawing/2014/main" id="{A73FBFD2-F943-4703-F116-EA9393A9E8DA}"/>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2</a:t>
                </a:r>
              </a:p>
            </p:txBody>
          </p:sp>
          <p:sp>
            <p:nvSpPr>
              <p:cNvPr id="79910" name="Text Box 50">
                <a:extLst>
                  <a:ext uri="{FF2B5EF4-FFF2-40B4-BE49-F238E27FC236}">
                    <a16:creationId xmlns:a16="http://schemas.microsoft.com/office/drawing/2014/main" id="{CACAF259-F14D-2054-C5A1-E041D5BACAEA}"/>
                  </a:ext>
                </a:extLst>
              </p:cNvPr>
              <p:cNvSpPr txBox="1">
                <a:spLocks noChangeArrowheads="1"/>
              </p:cNvSpPr>
              <p:nvPr/>
            </p:nvSpPr>
            <p:spPr bwMode="auto">
              <a:xfrm>
                <a:off x="912" y="1064"/>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2</a:t>
                </a:r>
              </a:p>
            </p:txBody>
          </p:sp>
        </p:grpSp>
        <p:sp>
          <p:nvSpPr>
            <p:cNvPr id="79911" name="Text Box 59">
              <a:extLst>
                <a:ext uri="{FF2B5EF4-FFF2-40B4-BE49-F238E27FC236}">
                  <a16:creationId xmlns:a16="http://schemas.microsoft.com/office/drawing/2014/main" id="{4FC0EF9B-1D2D-4953-FB9D-BC3F234F6179}"/>
                </a:ext>
              </a:extLst>
            </p:cNvPr>
            <p:cNvSpPr txBox="1">
              <a:spLocks noChangeArrowheads="1"/>
            </p:cNvSpPr>
            <p:nvPr/>
          </p:nvSpPr>
          <p:spPr bwMode="auto">
            <a:xfrm>
              <a:off x="1144" y="4"/>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B</a:t>
              </a:r>
              <a:endParaRPr lang="en-US" altLang="zh-CN" sz="2398" baseline="-25000">
                <a:ea typeface="宋体" panose="02010600030101010101" pitchFamily="2" charset="-122"/>
              </a:endParaRPr>
            </a:p>
          </p:txBody>
        </p:sp>
      </p:grpSp>
      <p:grpSp>
        <p:nvGrpSpPr>
          <p:cNvPr id="79912" name="Group 40">
            <a:extLst>
              <a:ext uri="{FF2B5EF4-FFF2-40B4-BE49-F238E27FC236}">
                <a16:creationId xmlns:a16="http://schemas.microsoft.com/office/drawing/2014/main" id="{2374E061-26DB-70EF-52D0-D73C4A5F6B2E}"/>
              </a:ext>
            </a:extLst>
          </p:cNvPr>
          <p:cNvGrpSpPr>
            <a:grpSpLocks/>
          </p:cNvGrpSpPr>
          <p:nvPr/>
        </p:nvGrpSpPr>
        <p:grpSpPr bwMode="auto">
          <a:xfrm>
            <a:off x="6346399" y="3806479"/>
            <a:ext cx="2770818" cy="380652"/>
            <a:chOff x="0" y="0"/>
            <a:chExt cx="1747" cy="240"/>
          </a:xfrm>
        </p:grpSpPr>
        <p:grpSp>
          <p:nvGrpSpPr>
            <p:cNvPr id="79913" name="Group 41">
              <a:extLst>
                <a:ext uri="{FF2B5EF4-FFF2-40B4-BE49-F238E27FC236}">
                  <a16:creationId xmlns:a16="http://schemas.microsoft.com/office/drawing/2014/main" id="{3436E5A0-BA22-38AC-33DD-6AAF5FC25BBE}"/>
                </a:ext>
              </a:extLst>
            </p:cNvPr>
            <p:cNvGrpSpPr>
              <a:grpSpLocks/>
            </p:cNvGrpSpPr>
            <p:nvPr/>
          </p:nvGrpSpPr>
          <p:grpSpPr bwMode="auto">
            <a:xfrm>
              <a:off x="0" y="0"/>
              <a:ext cx="1525" cy="233"/>
              <a:chOff x="0" y="0"/>
              <a:chExt cx="1525" cy="233"/>
            </a:xfrm>
          </p:grpSpPr>
          <p:sp>
            <p:nvSpPr>
              <p:cNvPr id="79914" name="Oval 29">
                <a:extLst>
                  <a:ext uri="{FF2B5EF4-FFF2-40B4-BE49-F238E27FC236}">
                    <a16:creationId xmlns:a16="http://schemas.microsoft.com/office/drawing/2014/main" id="{B13B44CB-12FB-68E5-8FFD-B03A58CD6939}"/>
                  </a:ext>
                </a:extLst>
              </p:cNvPr>
              <p:cNvSpPr>
                <a:spLocks noChangeArrowheads="1"/>
              </p:cNvSpPr>
              <p:nvPr/>
            </p:nvSpPr>
            <p:spPr bwMode="auto">
              <a:xfrm>
                <a:off x="1437"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79915" name="Line 44">
                <a:extLst>
                  <a:ext uri="{FF2B5EF4-FFF2-40B4-BE49-F238E27FC236}">
                    <a16:creationId xmlns:a16="http://schemas.microsoft.com/office/drawing/2014/main" id="{A6587900-E0C6-F6EA-8685-DF525AFB14A7}"/>
                  </a:ext>
                </a:extLst>
              </p:cNvPr>
              <p:cNvSpPr>
                <a:spLocks noChangeShapeType="1"/>
              </p:cNvSpPr>
              <p:nvPr/>
            </p:nvSpPr>
            <p:spPr bwMode="auto">
              <a:xfrm>
                <a:off x="312" y="115"/>
                <a:ext cx="1159"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9916" name="Text Box 45">
                <a:extLst>
                  <a:ext uri="{FF2B5EF4-FFF2-40B4-BE49-F238E27FC236}">
                    <a16:creationId xmlns:a16="http://schemas.microsoft.com/office/drawing/2014/main" id="{41304A6F-9B44-2CC9-78C4-066418C289DF}"/>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3</a:t>
                </a:r>
              </a:p>
            </p:txBody>
          </p:sp>
        </p:grpSp>
        <p:sp>
          <p:nvSpPr>
            <p:cNvPr id="79917" name="Text Box 60">
              <a:extLst>
                <a:ext uri="{FF2B5EF4-FFF2-40B4-BE49-F238E27FC236}">
                  <a16:creationId xmlns:a16="http://schemas.microsoft.com/office/drawing/2014/main" id="{D1343F59-E591-3A4D-8EB3-3E6B16761AD6}"/>
                </a:ext>
              </a:extLst>
            </p:cNvPr>
            <p:cNvSpPr txBox="1">
              <a:spLocks noChangeArrowheads="1"/>
            </p:cNvSpPr>
            <p:nvPr/>
          </p:nvSpPr>
          <p:spPr bwMode="auto">
            <a:xfrm>
              <a:off x="1546" y="7"/>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C</a:t>
              </a:r>
              <a:endParaRPr lang="en-US" altLang="zh-CN" sz="2398" baseline="-25000">
                <a:ea typeface="宋体" panose="02010600030101010101" pitchFamily="2" charset="-122"/>
              </a:endParaRPr>
            </a:p>
          </p:txBody>
        </p:sp>
      </p:grpSp>
      <p:sp>
        <p:nvSpPr>
          <p:cNvPr id="79918" name="FlagCount" hidden="1">
            <a:hlinkClick r:id="rId4" action="ppaction://hlinkfile"/>
            <a:extLst>
              <a:ext uri="{FF2B5EF4-FFF2-40B4-BE49-F238E27FC236}">
                <a16:creationId xmlns:a16="http://schemas.microsoft.com/office/drawing/2014/main" id="{31DE7730-DC01-F4D1-845E-D91F8529B361}"/>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3898450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9879">
                                            <p:txEl>
                                              <p:pRg st="0" end="0"/>
                                            </p:txEl>
                                          </p:spTgt>
                                        </p:tgtEl>
                                        <p:attrNameLst>
                                          <p:attrName>style.visibility</p:attrName>
                                        </p:attrNameLst>
                                      </p:cBhvr>
                                      <p:to>
                                        <p:strVal val="visible"/>
                                      </p:to>
                                    </p:set>
                                    <p:animEffect transition="in" filter="wipe(left)">
                                      <p:cBhvr>
                                        <p:cTn id="7" dur="500"/>
                                        <p:tgtEl>
                                          <p:spTgt spid="798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879">
                                            <p:txEl>
                                              <p:pRg st="1" end="1"/>
                                            </p:txEl>
                                          </p:spTgt>
                                        </p:tgtEl>
                                        <p:attrNameLst>
                                          <p:attrName>style.visibility</p:attrName>
                                        </p:attrNameLst>
                                      </p:cBhvr>
                                      <p:to>
                                        <p:strVal val="visible"/>
                                      </p:to>
                                    </p:set>
                                    <p:animEffect transition="in" filter="wipe(left)">
                                      <p:cBhvr>
                                        <p:cTn id="12" dur="500"/>
                                        <p:tgtEl>
                                          <p:spTgt spid="798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9879">
                                            <p:txEl>
                                              <p:pRg st="2" end="2"/>
                                            </p:txEl>
                                          </p:spTgt>
                                        </p:tgtEl>
                                        <p:attrNameLst>
                                          <p:attrName>style.visibility</p:attrName>
                                        </p:attrNameLst>
                                      </p:cBhvr>
                                      <p:to>
                                        <p:strVal val="visible"/>
                                      </p:to>
                                    </p:set>
                                    <p:animEffect transition="in" filter="wipe(left)">
                                      <p:cBhvr>
                                        <p:cTn id="17" dur="500"/>
                                        <p:tgtEl>
                                          <p:spTgt spid="798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9879">
                                            <p:txEl>
                                              <p:pRg st="3" end="3"/>
                                            </p:txEl>
                                          </p:spTgt>
                                        </p:tgtEl>
                                        <p:attrNameLst>
                                          <p:attrName>style.visibility</p:attrName>
                                        </p:attrNameLst>
                                      </p:cBhvr>
                                      <p:to>
                                        <p:strVal val="visible"/>
                                      </p:to>
                                    </p:set>
                                    <p:animEffect transition="in" filter="wipe(left)">
                                      <p:cBhvr>
                                        <p:cTn id="22" dur="500"/>
                                        <p:tgtEl>
                                          <p:spTgt spid="798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9879">
                                            <p:txEl>
                                              <p:pRg st="4" end="4"/>
                                            </p:txEl>
                                          </p:spTgt>
                                        </p:tgtEl>
                                        <p:attrNameLst>
                                          <p:attrName>style.visibility</p:attrName>
                                        </p:attrNameLst>
                                      </p:cBhvr>
                                      <p:to>
                                        <p:strVal val="visible"/>
                                      </p:to>
                                    </p:set>
                                    <p:animEffect transition="in" filter="wipe(left)">
                                      <p:cBhvr>
                                        <p:cTn id="27" dur="500"/>
                                        <p:tgtEl>
                                          <p:spTgt spid="79879">
                                            <p:txEl>
                                              <p:pRg st="4" end="4"/>
                                            </p:txEl>
                                          </p:spTgt>
                                        </p:tgtEl>
                                      </p:cBhvr>
                                    </p:animEffect>
                                  </p:childTnLst>
                                </p:cTn>
                              </p:par>
                            </p:childTnLst>
                          </p:cTn>
                        </p:par>
                        <p:par>
                          <p:cTn id="28" fill="hold" nodeType="afterGroup">
                            <p:stCondLst>
                              <p:cond delay="500"/>
                            </p:stCondLst>
                            <p:childTnLst>
                              <p:par>
                                <p:cTn id="29" presetID="18" presetClass="entr" presetSubtype="6" fill="hold" nodeType="afterEffect">
                                  <p:stCondLst>
                                    <p:cond delay="0"/>
                                  </p:stCondLst>
                                  <p:childTnLst>
                                    <p:set>
                                      <p:cBhvr>
                                        <p:cTn id="30" dur="1" fill="hold">
                                          <p:stCondLst>
                                            <p:cond delay="0"/>
                                          </p:stCondLst>
                                        </p:cTn>
                                        <p:tgtEl>
                                          <p:spTgt spid="79892"/>
                                        </p:tgtEl>
                                        <p:attrNameLst>
                                          <p:attrName>style.visibility</p:attrName>
                                        </p:attrNameLst>
                                      </p:cBhvr>
                                      <p:to>
                                        <p:strVal val="visible"/>
                                      </p:to>
                                    </p:set>
                                    <p:animEffect transition="in" filter="strips(downRight)">
                                      <p:cBhvr>
                                        <p:cTn id="31" dur="500"/>
                                        <p:tgtEl>
                                          <p:spTgt spid="79892"/>
                                        </p:tgtEl>
                                      </p:cBhvr>
                                    </p:animEffect>
                                  </p:childTnLst>
                                </p:cTn>
                              </p:par>
                            </p:childTnLst>
                          </p:cTn>
                        </p:par>
                        <p:par>
                          <p:cTn id="32" fill="hold" nodeType="afterGroup">
                            <p:stCondLst>
                              <p:cond delay="1000"/>
                            </p:stCondLst>
                            <p:childTnLst>
                              <p:par>
                                <p:cTn id="33" presetID="18" presetClass="entr" presetSubtype="12" fill="hold" nodeType="afterEffect">
                                  <p:stCondLst>
                                    <p:cond delay="0"/>
                                  </p:stCondLst>
                                  <p:childTnLst>
                                    <p:set>
                                      <p:cBhvr>
                                        <p:cTn id="34" dur="1" fill="hold">
                                          <p:stCondLst>
                                            <p:cond delay="0"/>
                                          </p:stCondLst>
                                        </p:cTn>
                                        <p:tgtEl>
                                          <p:spTgt spid="79903"/>
                                        </p:tgtEl>
                                        <p:attrNameLst>
                                          <p:attrName>style.visibility</p:attrName>
                                        </p:attrNameLst>
                                      </p:cBhvr>
                                      <p:to>
                                        <p:strVal val="visible"/>
                                      </p:to>
                                    </p:set>
                                    <p:animEffect transition="in" filter="strips(downLeft)">
                                      <p:cBhvr>
                                        <p:cTn id="35" dur="500"/>
                                        <p:tgtEl>
                                          <p:spTgt spid="79903"/>
                                        </p:tgtEl>
                                      </p:cBhvr>
                                    </p:animEffect>
                                  </p:childTnLst>
                                </p:cTn>
                              </p:par>
                            </p:childTnLst>
                          </p:cTn>
                        </p:par>
                        <p:par>
                          <p:cTn id="36" fill="hold" nodeType="afterGroup">
                            <p:stCondLst>
                              <p:cond delay="1500"/>
                            </p:stCondLst>
                            <p:childTnLst>
                              <p:par>
                                <p:cTn id="37" presetID="18" presetClass="entr" presetSubtype="12" fill="hold" nodeType="afterEffect">
                                  <p:stCondLst>
                                    <p:cond delay="0"/>
                                  </p:stCondLst>
                                  <p:childTnLst>
                                    <p:set>
                                      <p:cBhvr>
                                        <p:cTn id="38" dur="1" fill="hold">
                                          <p:stCondLst>
                                            <p:cond delay="0"/>
                                          </p:stCondLst>
                                        </p:cTn>
                                        <p:tgtEl>
                                          <p:spTgt spid="79895"/>
                                        </p:tgtEl>
                                        <p:attrNameLst>
                                          <p:attrName>style.visibility</p:attrName>
                                        </p:attrNameLst>
                                      </p:cBhvr>
                                      <p:to>
                                        <p:strVal val="visible"/>
                                      </p:to>
                                    </p:set>
                                    <p:animEffect transition="in" filter="strips(downLeft)">
                                      <p:cBhvr>
                                        <p:cTn id="39" dur="500"/>
                                        <p:tgtEl>
                                          <p:spTgt spid="79895"/>
                                        </p:tgtEl>
                                      </p:cBhvr>
                                    </p:animEffect>
                                  </p:childTnLst>
                                </p:cTn>
                              </p:par>
                            </p:childTnLst>
                          </p:cTn>
                        </p:par>
                        <p:par>
                          <p:cTn id="40" fill="hold" nodeType="afterGroup">
                            <p:stCondLst>
                              <p:cond delay="2000"/>
                            </p:stCondLst>
                            <p:childTnLst>
                              <p:par>
                                <p:cTn id="41" presetID="22" presetClass="entr" presetSubtype="2" fill="hold" nodeType="afterEffect">
                                  <p:stCondLst>
                                    <p:cond delay="0"/>
                                  </p:stCondLst>
                                  <p:childTnLst>
                                    <p:set>
                                      <p:cBhvr>
                                        <p:cTn id="42" dur="1" fill="hold">
                                          <p:stCondLst>
                                            <p:cond delay="0"/>
                                          </p:stCondLst>
                                        </p:cTn>
                                        <p:tgtEl>
                                          <p:spTgt spid="79912"/>
                                        </p:tgtEl>
                                        <p:attrNameLst>
                                          <p:attrName>style.visibility</p:attrName>
                                        </p:attrNameLst>
                                      </p:cBhvr>
                                      <p:to>
                                        <p:strVal val="visible"/>
                                      </p:to>
                                    </p:set>
                                    <p:animEffect transition="in" filter="wipe(right)">
                                      <p:cBhvr>
                                        <p:cTn id="43" dur="500"/>
                                        <p:tgtEl>
                                          <p:spTgt spid="79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9" grpId="0" build="p" bldLvl="5"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6BFAC07-6B38-AE23-25B1-31696CB63B79}"/>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6BCCA648-6D19-C7C9-D6C0-E527C942057B}"/>
              </a:ext>
            </a:extLst>
          </p:cNvPr>
          <p:cNvSpPr>
            <a:spLocks noGrp="1"/>
          </p:cNvSpPr>
          <p:nvPr>
            <p:ph type="sldNum" sz="quarter" idx="11"/>
          </p:nvPr>
        </p:nvSpPr>
        <p:spPr/>
        <p:txBody>
          <a:bodyPr/>
          <a:lstStyle/>
          <a:p>
            <a:fld id="{BB6764DC-03DA-F64B-8F0C-714352340962}" type="slidenum">
              <a:rPr lang="zh-CN" altLang="zh-CN"/>
              <a:pPr/>
              <a:t>33</a:t>
            </a:fld>
            <a:endParaRPr lang="zh-CN" altLang="zh-CN"/>
          </a:p>
        </p:txBody>
      </p:sp>
      <p:sp>
        <p:nvSpPr>
          <p:cNvPr id="81922" name="Rectangle 2">
            <a:extLst>
              <a:ext uri="{FF2B5EF4-FFF2-40B4-BE49-F238E27FC236}">
                <a16:creationId xmlns:a16="http://schemas.microsoft.com/office/drawing/2014/main" id="{A369E8E9-867A-53F8-7728-C24294D1DA36}"/>
              </a:ext>
            </a:extLst>
          </p:cNvPr>
          <p:cNvSpPr>
            <a:spLocks noGrp="1" noChangeArrowheads="1"/>
          </p:cNvSpPr>
          <p:nvPr>
            <p:ph type="title" idx="4294967295"/>
          </p:nvPr>
        </p:nvSpPr>
        <p:spPr>
          <a:xfrm>
            <a:off x="1984975" y="255328"/>
            <a:ext cx="8222050" cy="827914"/>
          </a:xfrm>
        </p:spPr>
        <p:txBody>
          <a:bodyPr/>
          <a:lstStyle/>
          <a:p>
            <a:pPr>
              <a:lnSpc>
                <a:spcPct val="105000"/>
              </a:lnSpc>
            </a:pPr>
            <a:r>
              <a:rPr lang="zh-CN" altLang="zh-CN" sz="3597">
                <a:ea typeface="宋体" panose="02010600030101010101" pitchFamily="2" charset="-122"/>
              </a:rPr>
              <a:t>总需求两次重大的移动：  </a:t>
            </a:r>
            <a:br>
              <a:rPr lang="zh-CN" altLang="zh-CN" sz="3597">
                <a:ea typeface="宋体" panose="02010600030101010101" pitchFamily="2" charset="-122"/>
              </a:rPr>
            </a:br>
            <a:r>
              <a:rPr lang="en-US" altLang="zh-CN" sz="3597">
                <a:solidFill>
                  <a:srgbClr val="996633"/>
                </a:solidFill>
                <a:ea typeface="宋体" panose="02010600030101010101" pitchFamily="2" charset="-122"/>
              </a:rPr>
              <a:t>1. </a:t>
            </a:r>
            <a:r>
              <a:rPr lang="zh-CN" altLang="zh-CN" sz="3597">
                <a:solidFill>
                  <a:srgbClr val="996633"/>
                </a:solidFill>
                <a:ea typeface="宋体" panose="02010600030101010101" pitchFamily="2" charset="-122"/>
              </a:rPr>
              <a:t>大萧条</a:t>
            </a:r>
          </a:p>
        </p:txBody>
      </p:sp>
      <p:sp>
        <p:nvSpPr>
          <p:cNvPr id="81923" name="Rectangle 3">
            <a:extLst>
              <a:ext uri="{FF2B5EF4-FFF2-40B4-BE49-F238E27FC236}">
                <a16:creationId xmlns:a16="http://schemas.microsoft.com/office/drawing/2014/main" id="{7807D63A-3D8A-09E7-E4F1-A7C01B2F9A10}"/>
              </a:ext>
            </a:extLst>
          </p:cNvPr>
          <p:cNvSpPr>
            <a:spLocks noGrp="1" noChangeArrowheads="1"/>
          </p:cNvSpPr>
          <p:nvPr>
            <p:ph type="body" idx="4294967295"/>
          </p:nvPr>
        </p:nvSpPr>
        <p:spPr>
          <a:xfrm>
            <a:off x="2032556" y="1387763"/>
            <a:ext cx="3842985" cy="5049963"/>
          </a:xfrm>
        </p:spPr>
        <p:txBody>
          <a:bodyPr/>
          <a:lstStyle/>
          <a:p>
            <a:pPr marL="0" indent="0">
              <a:spcBef>
                <a:spcPct val="25000"/>
              </a:spcBef>
              <a:buNone/>
            </a:pPr>
            <a:r>
              <a:rPr lang="zh-CN" altLang="zh-CN" sz="2598">
                <a:ea typeface="宋体" panose="02010600030101010101" pitchFamily="2" charset="-122"/>
              </a:rPr>
              <a:t>从1929-1933年， </a:t>
            </a:r>
          </a:p>
          <a:p>
            <a:pPr marL="399719" lvl="1">
              <a:lnSpc>
                <a:spcPct val="105000"/>
              </a:lnSpc>
              <a:spcBef>
                <a:spcPct val="25000"/>
              </a:spcBef>
              <a:buClr>
                <a:srgbClr val="339966"/>
              </a:buClr>
            </a:pPr>
            <a:r>
              <a:rPr lang="zh-CN" altLang="zh-CN" sz="2598">
                <a:ea typeface="宋体" panose="02010600030101010101" pitchFamily="2" charset="-122"/>
              </a:rPr>
              <a:t>由于银行体系出现问题，货币供给量下降 28% </a:t>
            </a:r>
          </a:p>
          <a:p>
            <a:pPr marL="399719" lvl="1">
              <a:lnSpc>
                <a:spcPct val="105000"/>
              </a:lnSpc>
              <a:spcBef>
                <a:spcPct val="25000"/>
              </a:spcBef>
              <a:buClr>
                <a:srgbClr val="339966"/>
              </a:buClr>
            </a:pPr>
            <a:r>
              <a:rPr lang="zh-CN" altLang="zh-CN" sz="2598">
                <a:ea typeface="宋体" panose="02010600030101010101" pitchFamily="2" charset="-122"/>
              </a:rPr>
              <a:t>股价价格下降90%，消费与投资减少</a:t>
            </a:r>
            <a:endParaRPr lang="zh-CN" altLang="zh-CN" sz="2598" b="1" i="1">
              <a:ea typeface="宋体" panose="02010600030101010101" pitchFamily="2" charset="-122"/>
            </a:endParaRPr>
          </a:p>
          <a:p>
            <a:pPr marL="399719" lvl="1">
              <a:lnSpc>
                <a:spcPct val="105000"/>
              </a:lnSpc>
              <a:spcBef>
                <a:spcPct val="25000"/>
              </a:spcBef>
              <a:buClr>
                <a:srgbClr val="339966"/>
              </a:buClr>
            </a:pPr>
            <a:r>
              <a:rPr lang="zh-CN" altLang="zh-CN" sz="2598" b="1" i="1">
                <a:ea typeface="宋体" panose="02010600030101010101" pitchFamily="2" charset="-122"/>
              </a:rPr>
              <a:t>Y</a:t>
            </a:r>
            <a:r>
              <a:rPr lang="zh-CN" altLang="zh-CN" sz="2598">
                <a:ea typeface="宋体" panose="02010600030101010101" pitchFamily="2" charset="-122"/>
              </a:rPr>
              <a:t>下降27%</a:t>
            </a:r>
          </a:p>
          <a:p>
            <a:pPr marL="399719" lvl="1">
              <a:lnSpc>
                <a:spcPct val="105000"/>
              </a:lnSpc>
              <a:spcBef>
                <a:spcPct val="25000"/>
              </a:spcBef>
              <a:buClr>
                <a:srgbClr val="339966"/>
              </a:buClr>
            </a:pPr>
            <a:r>
              <a:rPr lang="zh-CN" altLang="zh-CN" sz="2598" b="1" i="1">
                <a:ea typeface="宋体" panose="02010600030101010101" pitchFamily="2" charset="-122"/>
              </a:rPr>
              <a:t>P</a:t>
            </a:r>
            <a:r>
              <a:rPr lang="zh-CN" altLang="zh-CN" sz="2598">
                <a:ea typeface="宋体" panose="02010600030101010101" pitchFamily="2" charset="-122"/>
              </a:rPr>
              <a:t>下降22%</a:t>
            </a:r>
          </a:p>
          <a:p>
            <a:pPr marL="399719" lvl="1">
              <a:lnSpc>
                <a:spcPct val="105000"/>
              </a:lnSpc>
              <a:spcBef>
                <a:spcPct val="25000"/>
              </a:spcBef>
              <a:buClr>
                <a:srgbClr val="339966"/>
              </a:buClr>
            </a:pPr>
            <a:r>
              <a:rPr lang="zh-CN" altLang="zh-CN" sz="2598">
                <a:ea typeface="宋体" panose="02010600030101010101" pitchFamily="2" charset="-122"/>
              </a:rPr>
              <a:t>失业率从3%上升到25%</a:t>
            </a:r>
          </a:p>
        </p:txBody>
      </p:sp>
      <p:graphicFrame>
        <p:nvGraphicFramePr>
          <p:cNvPr id="81924" name="Object 178">
            <a:extLst>
              <a:ext uri="{FF2B5EF4-FFF2-40B4-BE49-F238E27FC236}">
                <a16:creationId xmlns:a16="http://schemas.microsoft.com/office/drawing/2014/main" id="{554ED0A8-8266-6163-D4B6-3F94E4BE2522}"/>
              </a:ext>
            </a:extLst>
          </p:cNvPr>
          <p:cNvGraphicFramePr>
            <a:graphicFrameLocks noChangeAspect="1"/>
          </p:cNvGraphicFramePr>
          <p:nvPr/>
        </p:nvGraphicFramePr>
        <p:xfrm>
          <a:off x="6175302" y="1961910"/>
          <a:ext cx="4026965" cy="4099922"/>
        </p:xfrm>
        <a:graphic>
          <a:graphicData uri="http://schemas.openxmlformats.org/presentationml/2006/ole">
            <mc:AlternateContent xmlns:mc="http://schemas.openxmlformats.org/markup-compatibility/2006">
              <mc:Choice xmlns:v="urn:schemas-microsoft-com:vml" Requires="v">
                <p:oleObj r:id="rId3" imgW="3149600" imgH="3213100" progId="MSGraph.Chart.8">
                  <p:embed/>
                </p:oleObj>
              </mc:Choice>
              <mc:Fallback>
                <p:oleObj r:id="rId3" imgW="3149600" imgH="3213100" progId="MSGraph.Chart.8">
                  <p:embed/>
                  <p:pic>
                    <p:nvPicPr>
                      <p:cNvPr id="81924" name="Object 178">
                        <a:extLst>
                          <a:ext uri="{FF2B5EF4-FFF2-40B4-BE49-F238E27FC236}">
                            <a16:creationId xmlns:a16="http://schemas.microsoft.com/office/drawing/2014/main" id="{554ED0A8-8266-6163-D4B6-3F94E4BE25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302" y="1961910"/>
                        <a:ext cx="4026965" cy="4099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5" name="Text Box 179">
            <a:extLst>
              <a:ext uri="{FF2B5EF4-FFF2-40B4-BE49-F238E27FC236}">
                <a16:creationId xmlns:a16="http://schemas.microsoft.com/office/drawing/2014/main" id="{409FFA36-FADF-D7CA-36DB-4BB566308E9A}"/>
              </a:ext>
            </a:extLst>
          </p:cNvPr>
          <p:cNvSpPr txBox="1">
            <a:spLocks noChangeArrowheads="1"/>
          </p:cNvSpPr>
          <p:nvPr/>
        </p:nvSpPr>
        <p:spPr bwMode="auto">
          <a:xfrm>
            <a:off x="6567056" y="1363973"/>
            <a:ext cx="3500397" cy="83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2398" b="1">
                <a:ea typeface="宋体" panose="02010600030101010101" pitchFamily="2" charset="-122"/>
              </a:rPr>
              <a:t>美国真实</a:t>
            </a:r>
            <a:r>
              <a:rPr lang="en-US" altLang="zh-CN" sz="2398" b="1">
                <a:ea typeface="宋体" panose="02010600030101010101" pitchFamily="2" charset="-122"/>
              </a:rPr>
              <a:t>GDP</a:t>
            </a:r>
            <a:r>
              <a:rPr lang="zh-CN" altLang="zh-CN" sz="2398" b="1">
                <a:ea typeface="宋体" panose="02010600030101010101" pitchFamily="2" charset="-122"/>
              </a:rPr>
              <a:t>，</a:t>
            </a:r>
            <a:r>
              <a:rPr lang="zh-CN" altLang="zh-CN" sz="2398">
                <a:ea typeface="宋体" panose="02010600030101010101" pitchFamily="2" charset="-122"/>
              </a:rPr>
              <a:t> </a:t>
            </a:r>
            <a:br>
              <a:rPr lang="zh-CN" altLang="zh-CN" sz="2398">
                <a:ea typeface="宋体" panose="02010600030101010101" pitchFamily="2" charset="-122"/>
              </a:rPr>
            </a:br>
            <a:r>
              <a:rPr lang="zh-CN" altLang="zh-CN" sz="2398">
                <a:ea typeface="宋体" panose="02010600030101010101" pitchFamily="2" charset="-122"/>
              </a:rPr>
              <a:t>2000年的十亿美元</a:t>
            </a:r>
          </a:p>
        </p:txBody>
      </p:sp>
      <p:sp>
        <p:nvSpPr>
          <p:cNvPr id="81926" name="FlagCount" hidden="1">
            <a:hlinkClick r:id="rId5" action="ppaction://hlinkfile"/>
            <a:extLst>
              <a:ext uri="{FF2B5EF4-FFF2-40B4-BE49-F238E27FC236}">
                <a16:creationId xmlns:a16="http://schemas.microsoft.com/office/drawing/2014/main" id="{8B01EC97-BC83-346D-E82B-027AB629F527}"/>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319539387"/>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4477068-6E64-84E1-1D65-4420F01B2652}"/>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F784AFEB-5A8E-4C02-44DD-FE5E5C9400D0}"/>
              </a:ext>
            </a:extLst>
          </p:cNvPr>
          <p:cNvSpPr>
            <a:spLocks noGrp="1"/>
          </p:cNvSpPr>
          <p:nvPr>
            <p:ph type="sldNum" sz="quarter" idx="11"/>
          </p:nvPr>
        </p:nvSpPr>
        <p:spPr/>
        <p:txBody>
          <a:bodyPr/>
          <a:lstStyle/>
          <a:p>
            <a:fld id="{40E0398A-586E-2643-B085-919FF3AC24EF}" type="slidenum">
              <a:rPr lang="zh-CN" altLang="zh-CN"/>
              <a:pPr/>
              <a:t>34</a:t>
            </a:fld>
            <a:endParaRPr lang="zh-CN" altLang="zh-CN"/>
          </a:p>
        </p:txBody>
      </p:sp>
      <p:sp>
        <p:nvSpPr>
          <p:cNvPr id="83970" name="Rectangle 2">
            <a:extLst>
              <a:ext uri="{FF2B5EF4-FFF2-40B4-BE49-F238E27FC236}">
                <a16:creationId xmlns:a16="http://schemas.microsoft.com/office/drawing/2014/main" id="{973E05E2-7907-FB46-576E-75D55930ADC6}"/>
              </a:ext>
            </a:extLst>
          </p:cNvPr>
          <p:cNvSpPr>
            <a:spLocks noGrp="1" noChangeArrowheads="1"/>
          </p:cNvSpPr>
          <p:nvPr>
            <p:ph type="title" idx="4294967295"/>
          </p:nvPr>
        </p:nvSpPr>
        <p:spPr>
          <a:xfrm>
            <a:off x="1984975" y="255328"/>
            <a:ext cx="8222050" cy="827914"/>
          </a:xfrm>
        </p:spPr>
        <p:txBody>
          <a:bodyPr/>
          <a:lstStyle/>
          <a:p>
            <a:pPr>
              <a:lnSpc>
                <a:spcPct val="105000"/>
              </a:lnSpc>
            </a:pPr>
            <a:r>
              <a:rPr lang="zh-CN" altLang="zh-CN" sz="3597">
                <a:ea typeface="宋体" panose="02010600030101010101" pitchFamily="2" charset="-122"/>
              </a:rPr>
              <a:t>总需求两次重大的移动： </a:t>
            </a:r>
            <a:br>
              <a:rPr lang="zh-CN" altLang="zh-CN" sz="3597">
                <a:ea typeface="宋体" panose="02010600030101010101" pitchFamily="2" charset="-122"/>
              </a:rPr>
            </a:br>
            <a:r>
              <a:rPr lang="en-US" altLang="zh-CN" sz="3597">
                <a:solidFill>
                  <a:srgbClr val="996633"/>
                </a:solidFill>
                <a:ea typeface="宋体" panose="02010600030101010101" pitchFamily="2" charset="-122"/>
              </a:rPr>
              <a:t>2. </a:t>
            </a:r>
            <a:r>
              <a:rPr lang="zh-CN" altLang="zh-CN" sz="3597">
                <a:solidFill>
                  <a:srgbClr val="996633"/>
                </a:solidFill>
                <a:ea typeface="宋体" panose="02010600030101010101" pitchFamily="2" charset="-122"/>
              </a:rPr>
              <a:t>第二次世界大战</a:t>
            </a:r>
          </a:p>
        </p:txBody>
      </p:sp>
      <p:sp>
        <p:nvSpPr>
          <p:cNvPr id="83971" name="Rectangle 3">
            <a:extLst>
              <a:ext uri="{FF2B5EF4-FFF2-40B4-BE49-F238E27FC236}">
                <a16:creationId xmlns:a16="http://schemas.microsoft.com/office/drawing/2014/main" id="{1127C0EB-C376-1A6B-782A-2FB0E26B8FF9}"/>
              </a:ext>
            </a:extLst>
          </p:cNvPr>
          <p:cNvSpPr>
            <a:spLocks noGrp="1" noChangeArrowheads="1"/>
          </p:cNvSpPr>
          <p:nvPr>
            <p:ph type="body" idx="4294967295"/>
          </p:nvPr>
        </p:nvSpPr>
        <p:spPr>
          <a:xfrm>
            <a:off x="2081726" y="1524163"/>
            <a:ext cx="3711342" cy="4474228"/>
          </a:xfrm>
        </p:spPr>
        <p:txBody>
          <a:bodyPr/>
          <a:lstStyle/>
          <a:p>
            <a:pPr marL="0" indent="0">
              <a:lnSpc>
                <a:spcPct val="85000"/>
              </a:lnSpc>
              <a:spcBef>
                <a:spcPct val="30000"/>
              </a:spcBef>
              <a:buNone/>
            </a:pPr>
            <a:r>
              <a:rPr lang="zh-CN" altLang="zh-CN">
                <a:ea typeface="宋体" panose="02010600030101010101" pitchFamily="2" charset="-122"/>
              </a:rPr>
              <a:t>从1939-1944年， </a:t>
            </a:r>
          </a:p>
          <a:p>
            <a:pPr marL="399719" lvl="1">
              <a:lnSpc>
                <a:spcPct val="105000"/>
              </a:lnSpc>
              <a:spcBef>
                <a:spcPct val="30000"/>
              </a:spcBef>
              <a:buClr>
                <a:srgbClr val="339966"/>
              </a:buClr>
            </a:pPr>
            <a:r>
              <a:rPr lang="zh-CN" altLang="zh-CN" sz="2798">
                <a:ea typeface="宋体" panose="02010600030101010101" pitchFamily="2" charset="-122"/>
              </a:rPr>
              <a:t>政府支出从91亿美元上升到913亿美元</a:t>
            </a:r>
            <a:endParaRPr lang="zh-CN" altLang="zh-CN" sz="2798" b="1" i="1">
              <a:ea typeface="宋体" panose="02010600030101010101" pitchFamily="2" charset="-122"/>
            </a:endParaRPr>
          </a:p>
          <a:p>
            <a:pPr marL="399719" lvl="1">
              <a:lnSpc>
                <a:spcPct val="105000"/>
              </a:lnSpc>
              <a:spcBef>
                <a:spcPct val="30000"/>
              </a:spcBef>
              <a:buClr>
                <a:srgbClr val="339966"/>
              </a:buClr>
            </a:pPr>
            <a:r>
              <a:rPr lang="zh-CN" altLang="zh-CN" sz="2798" b="1" i="1">
                <a:ea typeface="宋体" panose="02010600030101010101" pitchFamily="2" charset="-122"/>
              </a:rPr>
              <a:t>Y</a:t>
            </a:r>
            <a:r>
              <a:rPr lang="zh-CN" altLang="zh-CN" sz="2798">
                <a:ea typeface="宋体" panose="02010600030101010101" pitchFamily="2" charset="-122"/>
              </a:rPr>
              <a:t>增加90%</a:t>
            </a:r>
          </a:p>
          <a:p>
            <a:pPr marL="399719" lvl="1">
              <a:lnSpc>
                <a:spcPct val="105000"/>
              </a:lnSpc>
              <a:spcBef>
                <a:spcPct val="30000"/>
              </a:spcBef>
              <a:buClr>
                <a:srgbClr val="339966"/>
              </a:buClr>
            </a:pPr>
            <a:r>
              <a:rPr lang="zh-CN" altLang="zh-CN" sz="2798" b="1" i="1">
                <a:ea typeface="宋体" panose="02010600030101010101" pitchFamily="2" charset="-122"/>
              </a:rPr>
              <a:t>P</a:t>
            </a:r>
            <a:r>
              <a:rPr lang="zh-CN" altLang="zh-CN" sz="2798">
                <a:ea typeface="宋体" panose="02010600030101010101" pitchFamily="2" charset="-122"/>
              </a:rPr>
              <a:t>上升20%</a:t>
            </a:r>
          </a:p>
          <a:p>
            <a:pPr marL="399719" lvl="1">
              <a:lnSpc>
                <a:spcPct val="105000"/>
              </a:lnSpc>
              <a:spcBef>
                <a:spcPct val="30000"/>
              </a:spcBef>
              <a:buClr>
                <a:srgbClr val="339966"/>
              </a:buClr>
            </a:pPr>
            <a:r>
              <a:rPr lang="zh-CN" altLang="zh-CN" sz="2798">
                <a:ea typeface="宋体" panose="02010600030101010101" pitchFamily="2" charset="-122"/>
              </a:rPr>
              <a:t>失业率从17%下降到1%</a:t>
            </a:r>
          </a:p>
        </p:txBody>
      </p:sp>
      <p:graphicFrame>
        <p:nvGraphicFramePr>
          <p:cNvPr id="83972" name="Object 0">
            <a:extLst>
              <a:ext uri="{FF2B5EF4-FFF2-40B4-BE49-F238E27FC236}">
                <a16:creationId xmlns:a16="http://schemas.microsoft.com/office/drawing/2014/main" id="{C001E680-0831-C9D3-6FE1-A31594B7EC12}"/>
              </a:ext>
            </a:extLst>
          </p:cNvPr>
          <p:cNvGraphicFramePr>
            <a:graphicFrameLocks noChangeAspect="1"/>
          </p:cNvGraphicFramePr>
          <p:nvPr/>
        </p:nvGraphicFramePr>
        <p:xfrm>
          <a:off x="6030972" y="1974600"/>
          <a:ext cx="4134815" cy="4207773"/>
        </p:xfrm>
        <a:graphic>
          <a:graphicData uri="http://schemas.openxmlformats.org/presentationml/2006/ole">
            <mc:AlternateContent xmlns:mc="http://schemas.openxmlformats.org/markup-compatibility/2006">
              <mc:Choice xmlns:v="urn:schemas-microsoft-com:vml" Requires="v">
                <p:oleObj r:id="rId3" imgW="3149600" imgH="3213100" progId="MSGraph.Chart.8">
                  <p:embed/>
                </p:oleObj>
              </mc:Choice>
              <mc:Fallback>
                <p:oleObj r:id="rId3" imgW="3149600" imgH="3213100" progId="MSGraph.Chart.8">
                  <p:embed/>
                  <p:pic>
                    <p:nvPicPr>
                      <p:cNvPr id="83972" name="Object 0">
                        <a:extLst>
                          <a:ext uri="{FF2B5EF4-FFF2-40B4-BE49-F238E27FC236}">
                            <a16:creationId xmlns:a16="http://schemas.microsoft.com/office/drawing/2014/main" id="{C001E680-0831-C9D3-6FE1-A31594B7E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972" y="1974600"/>
                        <a:ext cx="4134815" cy="4207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3" name="Text Box 5">
            <a:extLst>
              <a:ext uri="{FF2B5EF4-FFF2-40B4-BE49-F238E27FC236}">
                <a16:creationId xmlns:a16="http://schemas.microsoft.com/office/drawing/2014/main" id="{C55C173B-54ED-42B6-2011-986AC2D686DF}"/>
              </a:ext>
            </a:extLst>
          </p:cNvPr>
          <p:cNvSpPr txBox="1">
            <a:spLocks noChangeArrowheads="1"/>
          </p:cNvSpPr>
          <p:nvPr/>
        </p:nvSpPr>
        <p:spPr bwMode="auto">
          <a:xfrm>
            <a:off x="6567056" y="1363973"/>
            <a:ext cx="3500397" cy="83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2398" b="1">
                <a:ea typeface="宋体" panose="02010600030101010101" pitchFamily="2" charset="-122"/>
              </a:rPr>
              <a:t>美国真实 </a:t>
            </a:r>
            <a:r>
              <a:rPr lang="en-US" altLang="zh-CN" sz="2398" b="1">
                <a:ea typeface="宋体" panose="02010600030101010101" pitchFamily="2" charset="-122"/>
              </a:rPr>
              <a:t>GDP</a:t>
            </a:r>
            <a:r>
              <a:rPr lang="zh-CN" altLang="zh-CN" sz="2398">
                <a:ea typeface="宋体" panose="02010600030101010101" pitchFamily="2" charset="-122"/>
              </a:rPr>
              <a:t>， </a:t>
            </a:r>
            <a:br>
              <a:rPr lang="zh-CN" altLang="zh-CN" sz="2398">
                <a:ea typeface="宋体" panose="02010600030101010101" pitchFamily="2" charset="-122"/>
              </a:rPr>
            </a:br>
            <a:r>
              <a:rPr lang="zh-CN" altLang="zh-CN" sz="2398">
                <a:ea typeface="宋体" panose="02010600030101010101" pitchFamily="2" charset="-122"/>
              </a:rPr>
              <a:t>2000年的十亿美元</a:t>
            </a:r>
          </a:p>
        </p:txBody>
      </p:sp>
      <p:sp>
        <p:nvSpPr>
          <p:cNvPr id="83974" name="FlagCount" hidden="1">
            <a:hlinkClick r:id="rId5" action="ppaction://hlinkfile"/>
            <a:extLst>
              <a:ext uri="{FF2B5EF4-FFF2-40B4-BE49-F238E27FC236}">
                <a16:creationId xmlns:a16="http://schemas.microsoft.com/office/drawing/2014/main" id="{00860633-2319-FBB6-EDD3-DAB4CC0C30E2}"/>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241317974"/>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856DA10-3CEE-75C1-8E85-E3D322BC6E01}"/>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5BAD8FE-597C-FC57-E52C-C2EC7F340AC6}"/>
              </a:ext>
            </a:extLst>
          </p:cNvPr>
          <p:cNvSpPr>
            <a:spLocks noGrp="1"/>
          </p:cNvSpPr>
          <p:nvPr>
            <p:ph type="sldNum" sz="quarter" idx="11"/>
          </p:nvPr>
        </p:nvSpPr>
        <p:spPr/>
        <p:txBody>
          <a:bodyPr/>
          <a:lstStyle/>
          <a:p>
            <a:fld id="{20B685C0-79EC-7F42-A4B1-FDBA64A910F3}" type="slidenum">
              <a:rPr lang="zh-CN" altLang="zh-CN"/>
              <a:pPr/>
              <a:t>35</a:t>
            </a:fld>
            <a:endParaRPr lang="zh-CN" altLang="zh-CN"/>
          </a:p>
        </p:txBody>
      </p:sp>
      <p:sp>
        <p:nvSpPr>
          <p:cNvPr id="75778" name="Rectangle 2">
            <a:extLst>
              <a:ext uri="{FF2B5EF4-FFF2-40B4-BE49-F238E27FC236}">
                <a16:creationId xmlns:a16="http://schemas.microsoft.com/office/drawing/2014/main" id="{85995E7D-41D9-9648-A3B1-B11E8B140E70}"/>
              </a:ext>
            </a:extLst>
          </p:cNvPr>
          <p:cNvSpPr>
            <a:spLocks noGrp="1" noChangeArrowheads="1"/>
          </p:cNvSpPr>
          <p:nvPr>
            <p:ph type="title" idx="4294967295"/>
          </p:nvPr>
        </p:nvSpPr>
        <p:spPr>
          <a:xfrm>
            <a:off x="1867509" y="85000"/>
            <a:ext cx="8652029" cy="681036"/>
          </a:xfrm>
        </p:spPr>
        <p:txBody>
          <a:bodyPr/>
          <a:lstStyle/>
          <a:p>
            <a:r>
              <a:rPr lang="zh-CN" altLang="en-US" sz="3597" dirty="0">
                <a:ea typeface="宋体" panose="02010600030101010101" pitchFamily="2" charset="-122"/>
              </a:rPr>
              <a:t>为什么短期总供给曲线会移动（再次温习）</a:t>
            </a:r>
          </a:p>
        </p:txBody>
      </p:sp>
      <mc:AlternateContent xmlns:mc="http://schemas.openxmlformats.org/markup-compatibility/2006">
        <mc:Choice xmlns:a14="http://schemas.microsoft.com/office/drawing/2010/main" Requires="a14">
          <p:sp>
            <p:nvSpPr>
              <p:cNvPr id="75779" name="Rectangle 3">
                <a:extLst>
                  <a:ext uri="{FF2B5EF4-FFF2-40B4-BE49-F238E27FC236}">
                    <a16:creationId xmlns:a16="http://schemas.microsoft.com/office/drawing/2014/main" id="{E8183611-61B7-3D3D-F7D0-69686EA870B9}"/>
                  </a:ext>
                </a:extLst>
              </p:cNvPr>
              <p:cNvSpPr>
                <a:spLocks noGrp="1" noChangeArrowheads="1"/>
              </p:cNvSpPr>
              <p:nvPr>
                <p:ph type="body" idx="4294967295"/>
              </p:nvPr>
            </p:nvSpPr>
            <p:spPr>
              <a:xfrm>
                <a:off x="1559231" y="842159"/>
                <a:ext cx="4562907" cy="5901534"/>
              </a:xfrm>
            </p:spPr>
            <p:txBody>
              <a:bodyPr/>
              <a:lstStyle/>
              <a:p>
                <a:pPr>
                  <a:lnSpc>
                    <a:spcPct val="100000"/>
                  </a:lnSpc>
                  <a:buFont typeface="Wingdings" panose="05000000000000000000" pitchFamily="2" charset="2"/>
                  <a:buChar char="l"/>
                </a:pPr>
                <a:r>
                  <a:rPr lang="zh-CN" altLang="zh-CN" sz="1982" dirty="0">
                    <a:latin typeface="Times New Roman" panose="02020603050405020304" pitchFamily="18" charset="0"/>
                  </a:rPr>
                  <a:t>短期总供给曲线移动，主要来自两类因素：</a:t>
                </a:r>
                <a:endParaRPr lang="en-US" altLang="zh-CN" sz="1982" dirty="0">
                  <a:latin typeface="Times New Roman" panose="02020603050405020304" pitchFamily="18" charset="0"/>
                </a:endParaRPr>
              </a:p>
              <a:p>
                <a:pPr>
                  <a:lnSpc>
                    <a:spcPct val="100000"/>
                  </a:lnSpc>
                </a:pPr>
                <a:r>
                  <a:rPr lang="zh-CN" altLang="zh-CN" sz="1982" b="1" dirty="0">
                    <a:latin typeface="Times New Roman" panose="02020603050405020304" pitchFamily="18" charset="0"/>
                  </a:rPr>
                  <a:t>1. 生产能力变化</a:t>
                </a:r>
                <a:br>
                  <a:rPr lang="zh-CN" altLang="zh-CN" sz="1982" dirty="0">
                    <a:latin typeface="Times New Roman" panose="02020603050405020304" pitchFamily="18" charset="0"/>
                  </a:rPr>
                </a:br>
                <a:r>
                  <a:rPr lang="zh-CN" altLang="zh-CN" sz="1982" dirty="0">
                    <a:latin typeface="Times New Roman" panose="02020603050405020304" pitchFamily="18" charset="0"/>
                  </a:rPr>
                  <a:t>劳动、资本、自然资源和技术变化，会影响经济能够生产的产出水平。</a:t>
                </a:r>
                <a:r>
                  <a:rPr lang="zh-CN" altLang="en-US" sz="1982" dirty="0">
                    <a:latin typeface="Times New Roman" panose="02020603050405020304" pitchFamily="18" charset="0"/>
                  </a:rPr>
                  <a:t>（</a:t>
                </a:r>
                <a:r>
                  <a:rPr lang="zh-CN" altLang="en-US" sz="1982" b="1" dirty="0">
                    <a:latin typeface="Times New Roman" panose="02020603050405020304" pitchFamily="18" charset="0"/>
                  </a:rPr>
                  <a:t>使长期总供给曲线发生移动的因素</a:t>
                </a:r>
                <a:r>
                  <a:rPr lang="zh-CN" altLang="en-US" sz="1982" dirty="0">
                    <a:latin typeface="Times New Roman" panose="02020603050405020304" pitchFamily="18" charset="0"/>
                  </a:rPr>
                  <a:t>一般也会影响短期供给曲线移动）</a:t>
                </a:r>
                <a:endParaRPr lang="zh-CN" altLang="zh-CN" sz="1982" dirty="0">
                  <a:latin typeface="Times New Roman" panose="02020603050405020304" pitchFamily="18" charset="0"/>
                </a:endParaRPr>
              </a:p>
              <a:p>
                <a:pPr>
                  <a:lnSpc>
                    <a:spcPct val="100000"/>
                  </a:lnSpc>
                </a:pPr>
                <a:r>
                  <a:rPr lang="zh-CN" altLang="zh-CN" sz="1982" b="1" dirty="0">
                    <a:latin typeface="Times New Roman" panose="02020603050405020304" pitchFamily="18" charset="0"/>
                  </a:rPr>
                  <a:t>2. 生产成本变化</a:t>
                </a:r>
                <a:br>
                  <a:rPr lang="zh-CN" altLang="zh-CN" sz="1982" dirty="0">
                    <a:latin typeface="Times New Roman" panose="02020603050405020304" pitchFamily="18" charset="0"/>
                  </a:rPr>
                </a:br>
                <a:r>
                  <a:rPr lang="zh-CN" altLang="zh-CN" sz="1982" dirty="0">
                    <a:latin typeface="Times New Roman" panose="02020603050405020304" pitchFamily="18" charset="0"/>
                  </a:rPr>
                  <a:t>预期物价水平、名义工资和投入品价格变化，会影响企业在既定价格水平下的生产意愿。其中，</a:t>
                </a:r>
                <a:r>
                  <a:rPr lang="zh-CN" altLang="zh-CN" sz="1982" b="1" dirty="0">
                    <a:latin typeface="Times New Roman" panose="02020603050405020304" pitchFamily="18" charset="0"/>
                  </a:rPr>
                  <a:t>预期物价水平属于生产成本因素</a:t>
                </a:r>
                <a:r>
                  <a:rPr lang="zh-CN" altLang="zh-CN" sz="1982" dirty="0">
                    <a:latin typeface="Times New Roman" panose="02020603050405020304" pitchFamily="18" charset="0"/>
                  </a:rPr>
                  <a:t>：</a:t>
                </a:r>
                <a:endParaRPr lang="en-US" altLang="zh-CN" sz="1982" dirty="0">
                  <a:latin typeface="Times New Roman" panose="02020603050405020304" pitchFamily="18" charset="0"/>
                </a:endParaRPr>
              </a:p>
              <a:p>
                <a:pPr lvl="1"/>
                <a:r>
                  <a:rPr lang="en-US" altLang="zh-CN" sz="1881" dirty="0">
                    <a:latin typeface="Times New Roman" panose="02020603050405020304" pitchFamily="18" charset="0"/>
                  </a:rPr>
                  <a:t>1.</a:t>
                </a:r>
                <a:r>
                  <a:rPr lang="zh-CN" altLang="en-US" sz="1881" dirty="0">
                    <a:latin typeface="Times New Roman" panose="02020603050405020304" pitchFamily="18" charset="0"/>
                  </a:rPr>
                  <a:t>（</a:t>
                </a:r>
                <a14:m>
                  <m:oMath xmlns:m="http://schemas.openxmlformats.org/officeDocument/2006/math">
                    <m:sSub>
                      <m:sSubPr>
                        <m:ctrlPr>
                          <a:rPr lang="zh-CN" altLang="zh-CN" sz="1881" i="1" dirty="0">
                            <a:latin typeface="Cambria Math" panose="02040503050406030204" pitchFamily="18" charset="0"/>
                          </a:rPr>
                        </m:ctrlPr>
                      </m:sSubPr>
                      <m:e>
                        <m:r>
                          <a:rPr lang="zh-CN" altLang="zh-CN" sz="1881" i="1" dirty="0">
                            <a:latin typeface="Cambria Math" panose="02040503050406030204" pitchFamily="18" charset="0"/>
                          </a:rPr>
                          <m:t>𝑃</m:t>
                        </m:r>
                      </m:e>
                      <m:sub>
                        <m:r>
                          <a:rPr lang="zh-CN" altLang="zh-CN" sz="1881" i="1" dirty="0">
                            <a:latin typeface="Cambria Math" panose="02040503050406030204" pitchFamily="18" charset="0"/>
                          </a:rPr>
                          <m:t>𝐸</m:t>
                        </m:r>
                      </m:sub>
                    </m:sSub>
                    <m:r>
                      <a:rPr lang="zh-CN" altLang="en-US" sz="1881" i="1" dirty="0">
                        <a:latin typeface="Cambria Math" panose="02040503050406030204" pitchFamily="18" charset="0"/>
                      </a:rPr>
                      <m:t>）</m:t>
                    </m:r>
                  </m:oMath>
                </a14:m>
                <a:r>
                  <a:rPr lang="zh-CN" altLang="zh-CN" sz="1881" dirty="0">
                    <a:latin typeface="Times New Roman" panose="02020603050405020304" pitchFamily="18" charset="0"/>
                  </a:rPr>
                  <a:t>上升 → 名义工资和成本上升 → SRAS左移</a:t>
                </a:r>
                <a:endParaRPr lang="en-US" altLang="zh-CN" sz="1881" dirty="0">
                  <a:latin typeface="Times New Roman" panose="02020603050405020304" pitchFamily="18" charset="0"/>
                </a:endParaRPr>
              </a:p>
              <a:p>
                <a:pPr lvl="1"/>
                <a:r>
                  <a:rPr lang="en-US" altLang="zh-CN" sz="1881" dirty="0">
                    <a:latin typeface="Times New Roman" panose="02020603050405020304" pitchFamily="18" charset="0"/>
                  </a:rPr>
                  <a:t>2.</a:t>
                </a:r>
                <a:r>
                  <a:rPr lang="zh-CN" altLang="en-US" sz="1881" dirty="0">
                    <a:latin typeface="Times New Roman" panose="02020603050405020304" pitchFamily="18" charset="0"/>
                  </a:rPr>
                  <a:t>（</a:t>
                </a:r>
                <a14:m>
                  <m:oMath xmlns:m="http://schemas.openxmlformats.org/officeDocument/2006/math">
                    <m:sSub>
                      <m:sSubPr>
                        <m:ctrlPr>
                          <a:rPr lang="zh-CN" altLang="zh-CN" sz="1881" i="1" dirty="0">
                            <a:latin typeface="Cambria Math" panose="02040503050406030204" pitchFamily="18" charset="0"/>
                          </a:rPr>
                        </m:ctrlPr>
                      </m:sSubPr>
                      <m:e>
                        <m:r>
                          <a:rPr lang="zh-CN" altLang="zh-CN" sz="1881" i="1" dirty="0">
                            <a:latin typeface="Cambria Math" panose="02040503050406030204" pitchFamily="18" charset="0"/>
                          </a:rPr>
                          <m:t>𝑃</m:t>
                        </m:r>
                      </m:e>
                      <m:sub>
                        <m:r>
                          <a:rPr lang="zh-CN" altLang="zh-CN" sz="1881" i="1" dirty="0">
                            <a:latin typeface="Cambria Math" panose="02040503050406030204" pitchFamily="18" charset="0"/>
                          </a:rPr>
                          <m:t>𝐸</m:t>
                        </m:r>
                      </m:sub>
                    </m:sSub>
                    <m:r>
                      <a:rPr lang="zh-CN" altLang="en-US" sz="1881" i="1" dirty="0">
                        <a:latin typeface="Cambria Math" panose="02040503050406030204" pitchFamily="18" charset="0"/>
                      </a:rPr>
                      <m:t>）</m:t>
                    </m:r>
                  </m:oMath>
                </a14:m>
                <a:r>
                  <a:rPr lang="zh-CN" altLang="zh-CN" sz="1881" dirty="0">
                    <a:latin typeface="Times New Roman" panose="02020603050405020304" pitchFamily="18" charset="0"/>
                  </a:rPr>
                  <a:t>下降 → 名义工资和成本下降 → SRAS右移 </a:t>
                </a:r>
              </a:p>
            </p:txBody>
          </p:sp>
        </mc:Choice>
        <mc:Fallback>
          <p:sp>
            <p:nvSpPr>
              <p:cNvPr id="75779" name="Rectangle 3">
                <a:extLst>
                  <a:ext uri="{FF2B5EF4-FFF2-40B4-BE49-F238E27FC236}">
                    <a16:creationId xmlns:a16="http://schemas.microsoft.com/office/drawing/2014/main" id="{E8183611-61B7-3D3D-F7D0-69686EA870B9}"/>
                  </a:ext>
                </a:extLst>
              </p:cNvPr>
              <p:cNvSpPr>
                <a:spLocks noGrp="1" noRot="1" noChangeAspect="1" noMove="1" noResize="1" noEditPoints="1" noAdjustHandles="1" noChangeArrowheads="1" noChangeShapeType="1" noTextEdit="1"/>
              </p:cNvSpPr>
              <p:nvPr>
                <p:ph type="body" idx="4294967295"/>
              </p:nvPr>
            </p:nvSpPr>
            <p:spPr>
              <a:xfrm>
                <a:off x="1559231" y="842159"/>
                <a:ext cx="4562907" cy="5901534"/>
              </a:xfrm>
              <a:blipFill>
                <a:blip r:embed="rId2"/>
                <a:stretch>
                  <a:fillRect l="-1872" t="-930" r="-1337"/>
                </a:stretch>
              </a:blipFill>
            </p:spPr>
            <p:txBody>
              <a:bodyPr/>
              <a:lstStyle/>
              <a:p>
                <a:r>
                  <a:rPr lang="zh-CN" altLang="en-US">
                    <a:noFill/>
                  </a:rPr>
                  <a:t> </a:t>
                </a:r>
              </a:p>
            </p:txBody>
          </p:sp>
        </mc:Fallback>
      </mc:AlternateContent>
      <p:grpSp>
        <p:nvGrpSpPr>
          <p:cNvPr id="75780" name="Group 4">
            <a:extLst>
              <a:ext uri="{FF2B5EF4-FFF2-40B4-BE49-F238E27FC236}">
                <a16:creationId xmlns:a16="http://schemas.microsoft.com/office/drawing/2014/main" id="{6D16AF67-B77B-7EEF-C08A-6966E2A7B3B5}"/>
              </a:ext>
            </a:extLst>
          </p:cNvPr>
          <p:cNvGrpSpPr>
            <a:grpSpLocks/>
          </p:cNvGrpSpPr>
          <p:nvPr/>
        </p:nvGrpSpPr>
        <p:grpSpPr bwMode="auto">
          <a:xfrm>
            <a:off x="7445624" y="1078484"/>
            <a:ext cx="1435372" cy="3835054"/>
            <a:chOff x="-163" y="0"/>
            <a:chExt cx="905" cy="2418"/>
          </a:xfrm>
        </p:grpSpPr>
        <p:sp>
          <p:nvSpPr>
            <p:cNvPr id="75781" name="Line 5">
              <a:extLst>
                <a:ext uri="{FF2B5EF4-FFF2-40B4-BE49-F238E27FC236}">
                  <a16:creationId xmlns:a16="http://schemas.microsoft.com/office/drawing/2014/main" id="{5BC91A16-C473-98C7-6A86-D622BFF6A4FA}"/>
                </a:ext>
              </a:extLst>
            </p:cNvPr>
            <p:cNvSpPr>
              <a:spLocks noChangeShapeType="1"/>
            </p:cNvSpPr>
            <p:nvPr/>
          </p:nvSpPr>
          <p:spPr bwMode="auto">
            <a:xfrm rot="16200000" flipH="1">
              <a:off x="-716" y="1333"/>
              <a:ext cx="2167" cy="3"/>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82" name="Text Box 6">
              <a:extLst>
                <a:ext uri="{FF2B5EF4-FFF2-40B4-BE49-F238E27FC236}">
                  <a16:creationId xmlns:a16="http://schemas.microsoft.com/office/drawing/2014/main" id="{B9B8BFD5-4274-4BB6-178D-5CC7D5F0C59F}"/>
                </a:ext>
              </a:extLst>
            </p:cNvPr>
            <p:cNvSpPr txBox="1">
              <a:spLocks noChangeArrowheads="1"/>
            </p:cNvSpPr>
            <p:nvPr/>
          </p:nvSpPr>
          <p:spPr bwMode="auto">
            <a:xfrm>
              <a:off x="-163" y="0"/>
              <a:ext cx="90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solidFill>
                    <a:srgbClr val="5F5F5F"/>
                  </a:solidFill>
                  <a:ea typeface="宋体" panose="02010600030101010101" pitchFamily="2" charset="-122"/>
                </a:rPr>
                <a:t>LRAS</a:t>
              </a:r>
              <a:endParaRPr lang="en-US" altLang="zh-CN" sz="2598" i="1" baseline="-25000" dirty="0">
                <a:solidFill>
                  <a:srgbClr val="5F5F5F"/>
                </a:solidFill>
                <a:ea typeface="宋体" panose="02010600030101010101" pitchFamily="2" charset="-122"/>
              </a:endParaRPr>
            </a:p>
          </p:txBody>
        </p:sp>
      </p:grpSp>
      <p:grpSp>
        <p:nvGrpSpPr>
          <p:cNvPr id="75783" name="Group 7">
            <a:extLst>
              <a:ext uri="{FF2B5EF4-FFF2-40B4-BE49-F238E27FC236}">
                <a16:creationId xmlns:a16="http://schemas.microsoft.com/office/drawing/2014/main" id="{8B3EF760-D165-B96E-A564-454670673CDE}"/>
              </a:ext>
            </a:extLst>
          </p:cNvPr>
          <p:cNvGrpSpPr>
            <a:grpSpLocks/>
          </p:cNvGrpSpPr>
          <p:nvPr/>
        </p:nvGrpSpPr>
        <p:grpSpPr bwMode="auto">
          <a:xfrm>
            <a:off x="6381390" y="1026144"/>
            <a:ext cx="3676449" cy="4138208"/>
            <a:chOff x="0" y="0"/>
            <a:chExt cx="2786" cy="2441"/>
          </a:xfrm>
        </p:grpSpPr>
        <p:grpSp>
          <p:nvGrpSpPr>
            <p:cNvPr id="75784" name="Group 8">
              <a:extLst>
                <a:ext uri="{FF2B5EF4-FFF2-40B4-BE49-F238E27FC236}">
                  <a16:creationId xmlns:a16="http://schemas.microsoft.com/office/drawing/2014/main" id="{6089C952-915F-A78A-AA46-DEA1B722D19D}"/>
                </a:ext>
              </a:extLst>
            </p:cNvPr>
            <p:cNvGrpSpPr>
              <a:grpSpLocks/>
            </p:cNvGrpSpPr>
            <p:nvPr/>
          </p:nvGrpSpPr>
          <p:grpSpPr bwMode="auto">
            <a:xfrm>
              <a:off x="118" y="252"/>
              <a:ext cx="2409" cy="2049"/>
              <a:chOff x="0" y="0"/>
              <a:chExt cx="2116" cy="2027"/>
            </a:xfrm>
          </p:grpSpPr>
          <p:sp>
            <p:nvSpPr>
              <p:cNvPr id="75785" name="Line 9">
                <a:extLst>
                  <a:ext uri="{FF2B5EF4-FFF2-40B4-BE49-F238E27FC236}">
                    <a16:creationId xmlns:a16="http://schemas.microsoft.com/office/drawing/2014/main" id="{6E0D215D-9703-C023-EFE4-A1A0ADD4E0DD}"/>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86" name="Line 10">
                <a:extLst>
                  <a:ext uri="{FF2B5EF4-FFF2-40B4-BE49-F238E27FC236}">
                    <a16:creationId xmlns:a16="http://schemas.microsoft.com/office/drawing/2014/main" id="{B1C9774B-3E80-F56A-7545-4558D928440A}"/>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75787" name="Text Box 11">
              <a:extLst>
                <a:ext uri="{FF2B5EF4-FFF2-40B4-BE49-F238E27FC236}">
                  <a16:creationId xmlns:a16="http://schemas.microsoft.com/office/drawing/2014/main" id="{2D09266A-32A3-92C7-71A6-439E78330756}"/>
                </a:ext>
              </a:extLst>
            </p:cNvPr>
            <p:cNvSpPr txBox="1">
              <a:spLocks noChangeArrowheads="1"/>
            </p:cNvSpPr>
            <p:nvPr/>
          </p:nvSpPr>
          <p:spPr bwMode="auto">
            <a:xfrm>
              <a:off x="0" y="0"/>
              <a:ext cx="2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p>
          </p:txBody>
        </p:sp>
        <p:sp>
          <p:nvSpPr>
            <p:cNvPr id="75788" name="Text Box 12">
              <a:extLst>
                <a:ext uri="{FF2B5EF4-FFF2-40B4-BE49-F238E27FC236}">
                  <a16:creationId xmlns:a16="http://schemas.microsoft.com/office/drawing/2014/main" id="{AAEE951A-B095-3D1E-7C81-D213B8F79360}"/>
                </a:ext>
              </a:extLst>
            </p:cNvPr>
            <p:cNvSpPr txBox="1">
              <a:spLocks noChangeArrowheads="1"/>
            </p:cNvSpPr>
            <p:nvPr/>
          </p:nvSpPr>
          <p:spPr bwMode="auto">
            <a:xfrm>
              <a:off x="2496" y="2151"/>
              <a:ext cx="29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Y</a:t>
              </a:r>
            </a:p>
          </p:txBody>
        </p:sp>
      </p:grpSp>
      <p:grpSp>
        <p:nvGrpSpPr>
          <p:cNvPr id="75789" name="Group 13">
            <a:extLst>
              <a:ext uri="{FF2B5EF4-FFF2-40B4-BE49-F238E27FC236}">
                <a16:creationId xmlns:a16="http://schemas.microsoft.com/office/drawing/2014/main" id="{72847DC9-B8D8-5343-C4D3-F246C13F1C3E}"/>
              </a:ext>
            </a:extLst>
          </p:cNvPr>
          <p:cNvGrpSpPr>
            <a:grpSpLocks/>
          </p:cNvGrpSpPr>
          <p:nvPr/>
        </p:nvGrpSpPr>
        <p:grpSpPr bwMode="auto">
          <a:xfrm>
            <a:off x="7361564" y="1828682"/>
            <a:ext cx="3381446" cy="2599526"/>
            <a:chOff x="0" y="0"/>
            <a:chExt cx="2132" cy="1639"/>
          </a:xfrm>
        </p:grpSpPr>
        <p:sp>
          <p:nvSpPr>
            <p:cNvPr id="75790" name="Line 14">
              <a:extLst>
                <a:ext uri="{FF2B5EF4-FFF2-40B4-BE49-F238E27FC236}">
                  <a16:creationId xmlns:a16="http://schemas.microsoft.com/office/drawing/2014/main" id="{D2DA7D1E-6B2E-401D-1BB4-372EC115D4D9}"/>
                </a:ext>
              </a:extLst>
            </p:cNvPr>
            <p:cNvSpPr>
              <a:spLocks noChangeShapeType="1"/>
            </p:cNvSpPr>
            <p:nvPr/>
          </p:nvSpPr>
          <p:spPr bwMode="auto">
            <a:xfrm flipV="1">
              <a:off x="0" y="255"/>
              <a:ext cx="1393"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91" name="Text Box 15">
              <a:extLst>
                <a:ext uri="{FF2B5EF4-FFF2-40B4-BE49-F238E27FC236}">
                  <a16:creationId xmlns:a16="http://schemas.microsoft.com/office/drawing/2014/main" id="{320B1BBF-B2DD-9141-E6E0-7FA49F3C510A}"/>
                </a:ext>
              </a:extLst>
            </p:cNvPr>
            <p:cNvSpPr txBox="1">
              <a:spLocks noChangeArrowheads="1"/>
            </p:cNvSpPr>
            <p:nvPr/>
          </p:nvSpPr>
          <p:spPr bwMode="auto">
            <a:xfrm>
              <a:off x="1298" y="0"/>
              <a:ext cx="8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ea typeface="宋体" panose="02010600030101010101" pitchFamily="2" charset="-122"/>
                </a:rPr>
                <a:t>SRAS</a:t>
              </a:r>
              <a:endParaRPr lang="en-US" altLang="zh-CN" sz="2598" i="1" baseline="-25000" dirty="0">
                <a:ea typeface="宋体" panose="02010600030101010101" pitchFamily="2" charset="-122"/>
              </a:endParaRPr>
            </a:p>
          </p:txBody>
        </p:sp>
      </p:grpSp>
      <p:grpSp>
        <p:nvGrpSpPr>
          <p:cNvPr id="75792" name="Group 16">
            <a:extLst>
              <a:ext uri="{FF2B5EF4-FFF2-40B4-BE49-F238E27FC236}">
                <a16:creationId xmlns:a16="http://schemas.microsoft.com/office/drawing/2014/main" id="{36081A62-3654-BE79-D425-523CB9315F3F}"/>
              </a:ext>
            </a:extLst>
          </p:cNvPr>
          <p:cNvGrpSpPr>
            <a:grpSpLocks/>
          </p:cNvGrpSpPr>
          <p:nvPr/>
        </p:nvGrpSpPr>
        <p:grpSpPr bwMode="auto">
          <a:xfrm>
            <a:off x="6068938" y="3325908"/>
            <a:ext cx="2288661" cy="399681"/>
            <a:chOff x="0" y="0"/>
            <a:chExt cx="1581" cy="252"/>
          </a:xfrm>
        </p:grpSpPr>
        <p:sp>
          <p:nvSpPr>
            <p:cNvPr id="75793" name="Line 17">
              <a:extLst>
                <a:ext uri="{FF2B5EF4-FFF2-40B4-BE49-F238E27FC236}">
                  <a16:creationId xmlns:a16="http://schemas.microsoft.com/office/drawing/2014/main" id="{BC58DD6F-566E-A366-A88E-0508C8BC3578}"/>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94" name="Text Box 18">
              <a:extLst>
                <a:ext uri="{FF2B5EF4-FFF2-40B4-BE49-F238E27FC236}">
                  <a16:creationId xmlns:a16="http://schemas.microsoft.com/office/drawing/2014/main" id="{31C3A767-0940-40FE-66A0-817CB0B70844}"/>
                </a:ext>
              </a:extLst>
            </p:cNvPr>
            <p:cNvSpPr txBox="1">
              <a:spLocks noChangeArrowheads="1"/>
            </p:cNvSpPr>
            <p:nvPr/>
          </p:nvSpPr>
          <p:spPr bwMode="auto">
            <a:xfrm>
              <a:off x="0" y="0"/>
              <a:ext cx="3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ea typeface="宋体" panose="02010600030101010101" pitchFamily="2" charset="-122"/>
                </a:rPr>
                <a:t>P</a:t>
              </a:r>
              <a:r>
                <a:rPr lang="en-US" altLang="zh-CN" sz="2598" b="1" baseline="-25000">
                  <a:ea typeface="宋体" panose="02010600030101010101" pitchFamily="2" charset="-122"/>
                </a:rPr>
                <a:t>E</a:t>
              </a:r>
            </a:p>
          </p:txBody>
        </p:sp>
        <p:sp>
          <p:nvSpPr>
            <p:cNvPr id="75795" name="Oval 19">
              <a:extLst>
                <a:ext uri="{FF2B5EF4-FFF2-40B4-BE49-F238E27FC236}">
                  <a16:creationId xmlns:a16="http://schemas.microsoft.com/office/drawing/2014/main" id="{69DE5634-9C56-09C4-7296-5ADAE1A69BBE}"/>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75796" name="Text Box 20">
            <a:extLst>
              <a:ext uri="{FF2B5EF4-FFF2-40B4-BE49-F238E27FC236}">
                <a16:creationId xmlns:a16="http://schemas.microsoft.com/office/drawing/2014/main" id="{784461ED-4BCF-0F51-2D80-7DA90EBE8D41}"/>
              </a:ext>
            </a:extLst>
          </p:cNvPr>
          <p:cNvSpPr txBox="1">
            <a:spLocks noChangeArrowheads="1"/>
          </p:cNvSpPr>
          <p:nvPr/>
        </p:nvSpPr>
        <p:spPr bwMode="auto">
          <a:xfrm>
            <a:off x="8048321" y="4969049"/>
            <a:ext cx="488501" cy="3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nvGrpSpPr>
          <p:cNvPr id="75797" name="Group 21">
            <a:extLst>
              <a:ext uri="{FF2B5EF4-FFF2-40B4-BE49-F238E27FC236}">
                <a16:creationId xmlns:a16="http://schemas.microsoft.com/office/drawing/2014/main" id="{78405B1A-91BB-B0AC-E311-3CDABB5A7569}"/>
              </a:ext>
            </a:extLst>
          </p:cNvPr>
          <p:cNvGrpSpPr>
            <a:grpSpLocks/>
          </p:cNvGrpSpPr>
          <p:nvPr/>
        </p:nvGrpSpPr>
        <p:grpSpPr bwMode="auto">
          <a:xfrm>
            <a:off x="6760454" y="1516233"/>
            <a:ext cx="3335448" cy="2610628"/>
            <a:chOff x="0" y="0"/>
            <a:chExt cx="2103" cy="1646"/>
          </a:xfrm>
        </p:grpSpPr>
        <p:sp>
          <p:nvSpPr>
            <p:cNvPr id="75798" name="Line 22">
              <a:extLst>
                <a:ext uri="{FF2B5EF4-FFF2-40B4-BE49-F238E27FC236}">
                  <a16:creationId xmlns:a16="http://schemas.microsoft.com/office/drawing/2014/main" id="{81A9CDEA-2299-3076-2D36-590B8795AF41}"/>
                </a:ext>
              </a:extLst>
            </p:cNvPr>
            <p:cNvSpPr>
              <a:spLocks noChangeShapeType="1"/>
            </p:cNvSpPr>
            <p:nvPr/>
          </p:nvSpPr>
          <p:spPr bwMode="auto">
            <a:xfrm flipV="1">
              <a:off x="0" y="262"/>
              <a:ext cx="1393" cy="1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799" name="Text Box 23">
              <a:extLst>
                <a:ext uri="{FF2B5EF4-FFF2-40B4-BE49-F238E27FC236}">
                  <a16:creationId xmlns:a16="http://schemas.microsoft.com/office/drawing/2014/main" id="{F436556E-E19C-DFDB-A737-72B48976BEE7}"/>
                </a:ext>
              </a:extLst>
            </p:cNvPr>
            <p:cNvSpPr txBox="1">
              <a:spLocks noChangeArrowheads="1"/>
            </p:cNvSpPr>
            <p:nvPr/>
          </p:nvSpPr>
          <p:spPr bwMode="auto">
            <a:xfrm>
              <a:off x="1228" y="0"/>
              <a:ext cx="87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i="1" dirty="0">
                  <a:solidFill>
                    <a:srgbClr val="CC0000"/>
                  </a:solidFill>
                  <a:ea typeface="宋体" panose="02010600030101010101" pitchFamily="2" charset="-122"/>
                </a:rPr>
                <a:t>SRAS</a:t>
              </a:r>
              <a:endParaRPr lang="en-US" altLang="zh-CN" sz="2598" i="1" baseline="-25000" dirty="0">
                <a:solidFill>
                  <a:srgbClr val="CC0000"/>
                </a:solidFill>
                <a:ea typeface="宋体" panose="02010600030101010101" pitchFamily="2" charset="-122"/>
              </a:endParaRPr>
            </a:p>
          </p:txBody>
        </p:sp>
      </p:grpSp>
      <p:grpSp>
        <p:nvGrpSpPr>
          <p:cNvPr id="75800" name="Group 24">
            <a:extLst>
              <a:ext uri="{FF2B5EF4-FFF2-40B4-BE49-F238E27FC236}">
                <a16:creationId xmlns:a16="http://schemas.microsoft.com/office/drawing/2014/main" id="{06AD5D4D-86FF-2D3C-FE32-E949D11E167E}"/>
              </a:ext>
            </a:extLst>
          </p:cNvPr>
          <p:cNvGrpSpPr>
            <a:grpSpLocks/>
          </p:cNvGrpSpPr>
          <p:nvPr/>
        </p:nvGrpSpPr>
        <p:grpSpPr bwMode="auto">
          <a:xfrm>
            <a:off x="6076867" y="2417106"/>
            <a:ext cx="2288661" cy="431404"/>
            <a:chOff x="0" y="0"/>
            <a:chExt cx="1443" cy="272"/>
          </a:xfrm>
        </p:grpSpPr>
        <p:sp>
          <p:nvSpPr>
            <p:cNvPr id="75801" name="Line 25">
              <a:extLst>
                <a:ext uri="{FF2B5EF4-FFF2-40B4-BE49-F238E27FC236}">
                  <a16:creationId xmlns:a16="http://schemas.microsoft.com/office/drawing/2014/main" id="{6911D18C-2FBC-D403-30B9-97302A24F017}"/>
                </a:ext>
              </a:extLst>
            </p:cNvPr>
            <p:cNvSpPr>
              <a:spLocks noChangeShapeType="1"/>
            </p:cNvSpPr>
            <p:nvPr/>
          </p:nvSpPr>
          <p:spPr bwMode="auto">
            <a:xfrm flipH="1">
              <a:off x="303" y="121"/>
              <a:ext cx="1101"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5802" name="Text Box 26">
              <a:extLst>
                <a:ext uri="{FF2B5EF4-FFF2-40B4-BE49-F238E27FC236}">
                  <a16:creationId xmlns:a16="http://schemas.microsoft.com/office/drawing/2014/main" id="{0CDFEBDB-63B3-17FE-A370-030B76B0F7F0}"/>
                </a:ext>
              </a:extLst>
            </p:cNvPr>
            <p:cNvSpPr txBox="1">
              <a:spLocks noChangeArrowheads="1"/>
            </p:cNvSpPr>
            <p:nvPr/>
          </p:nvSpPr>
          <p:spPr bwMode="auto">
            <a:xfrm>
              <a:off x="0" y="0"/>
              <a:ext cx="28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598" b="1" i="1">
                  <a:solidFill>
                    <a:srgbClr val="CC0000"/>
                  </a:solidFill>
                  <a:ea typeface="宋体" panose="02010600030101010101" pitchFamily="2" charset="-122"/>
                </a:rPr>
                <a:t>P</a:t>
              </a:r>
              <a:r>
                <a:rPr lang="en-US" altLang="zh-CN" sz="2598" b="1" baseline="-25000">
                  <a:solidFill>
                    <a:srgbClr val="CC0000"/>
                  </a:solidFill>
                  <a:ea typeface="宋体" panose="02010600030101010101" pitchFamily="2" charset="-122"/>
                </a:rPr>
                <a:t>E</a:t>
              </a:r>
            </a:p>
          </p:txBody>
        </p:sp>
        <p:sp>
          <p:nvSpPr>
            <p:cNvPr id="75803" name="Oval 27">
              <a:extLst>
                <a:ext uri="{FF2B5EF4-FFF2-40B4-BE49-F238E27FC236}">
                  <a16:creationId xmlns:a16="http://schemas.microsoft.com/office/drawing/2014/main" id="{C3CB1E1E-DCF9-A75F-B5D4-E31367A9E2AA}"/>
                </a:ext>
              </a:extLst>
            </p:cNvPr>
            <p:cNvSpPr>
              <a:spLocks noChangeArrowheads="1"/>
            </p:cNvSpPr>
            <p:nvPr/>
          </p:nvSpPr>
          <p:spPr bwMode="auto">
            <a:xfrm>
              <a:off x="1363" y="74"/>
              <a:ext cx="80"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75804" name="Line 28">
            <a:extLst>
              <a:ext uri="{FF2B5EF4-FFF2-40B4-BE49-F238E27FC236}">
                <a16:creationId xmlns:a16="http://schemas.microsoft.com/office/drawing/2014/main" id="{9E6E4804-3A24-4002-85A5-E3B01CAF2108}"/>
              </a:ext>
            </a:extLst>
          </p:cNvPr>
          <p:cNvSpPr>
            <a:spLocks noChangeShapeType="1"/>
          </p:cNvSpPr>
          <p:nvPr/>
        </p:nvSpPr>
        <p:spPr bwMode="auto">
          <a:xfrm flipV="1">
            <a:off x="6248161" y="2805685"/>
            <a:ext cx="0" cy="574148"/>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75805" name="Line 31">
            <a:extLst>
              <a:ext uri="{FF2B5EF4-FFF2-40B4-BE49-F238E27FC236}">
                <a16:creationId xmlns:a16="http://schemas.microsoft.com/office/drawing/2014/main" id="{81554EC0-8D0C-4D67-76F1-1731F5FBB1CC}"/>
              </a:ext>
            </a:extLst>
          </p:cNvPr>
          <p:cNvSpPr>
            <a:spLocks noChangeShapeType="1"/>
          </p:cNvSpPr>
          <p:nvPr/>
        </p:nvSpPr>
        <p:spPr bwMode="auto">
          <a:xfrm flipH="1">
            <a:off x="7464656" y="3509887"/>
            <a:ext cx="707376"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75806" name="Line 32">
            <a:extLst>
              <a:ext uri="{FF2B5EF4-FFF2-40B4-BE49-F238E27FC236}">
                <a16:creationId xmlns:a16="http://schemas.microsoft.com/office/drawing/2014/main" id="{EB6363A9-F434-E788-57C1-DFE82960DB85}"/>
              </a:ext>
            </a:extLst>
          </p:cNvPr>
          <p:cNvSpPr>
            <a:spLocks noChangeShapeType="1"/>
          </p:cNvSpPr>
          <p:nvPr/>
        </p:nvSpPr>
        <p:spPr bwMode="auto">
          <a:xfrm flipH="1">
            <a:off x="8658948" y="2320355"/>
            <a:ext cx="707376"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75807" name="FlagCount" hidden="1">
            <a:hlinkClick r:id="rId3" action="ppaction://hlinkfile"/>
            <a:extLst>
              <a:ext uri="{FF2B5EF4-FFF2-40B4-BE49-F238E27FC236}">
                <a16:creationId xmlns:a16="http://schemas.microsoft.com/office/drawing/2014/main" id="{2EA5E2B0-3DAA-72BA-3F20-7E89E07058C4}"/>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
        <p:nvSpPr>
          <p:cNvPr id="6" name="文本框 5">
            <a:extLst>
              <a:ext uri="{FF2B5EF4-FFF2-40B4-BE49-F238E27FC236}">
                <a16:creationId xmlns:a16="http://schemas.microsoft.com/office/drawing/2014/main" id="{AB8D3E6F-4410-D8F4-AA76-DFBA4867A896}"/>
              </a:ext>
            </a:extLst>
          </p:cNvPr>
          <p:cNvSpPr txBox="1"/>
          <p:nvPr/>
        </p:nvSpPr>
        <p:spPr>
          <a:xfrm>
            <a:off x="5785934" y="5892890"/>
            <a:ext cx="5074686" cy="458267"/>
          </a:xfrm>
          <a:prstGeom prst="rect">
            <a:avLst/>
          </a:prstGeom>
          <a:noFill/>
        </p:spPr>
        <p:txBody>
          <a:bodyPr wrap="square">
            <a:spAutoFit/>
          </a:bodyPr>
          <a:lstStyle/>
          <a:p>
            <a:pPr algn="ctr"/>
            <a:r>
              <a:rPr lang="en-US" altLang="zh-CN" sz="2378" b="1" i="1" dirty="0">
                <a:ea typeface="宋体" panose="02010600030101010101" pitchFamily="2" charset="-122"/>
              </a:rPr>
              <a:t>Y</a:t>
            </a:r>
            <a:r>
              <a:rPr lang="en-US" altLang="zh-CN" sz="2378" dirty="0">
                <a:ea typeface="宋体" panose="02010600030101010101" pitchFamily="2" charset="-122"/>
              </a:rPr>
              <a:t>  =  </a:t>
            </a:r>
            <a:r>
              <a:rPr lang="en-US" altLang="zh-CN" sz="2378" b="1" i="1" dirty="0">
                <a:ea typeface="宋体" panose="02010600030101010101" pitchFamily="2" charset="-122"/>
              </a:rPr>
              <a:t>Y</a:t>
            </a:r>
            <a:r>
              <a:rPr lang="en-US" altLang="zh-CN" sz="2378" b="1" baseline="-25000" dirty="0">
                <a:ea typeface="宋体" panose="02010600030101010101" pitchFamily="2" charset="-122"/>
              </a:rPr>
              <a:t>N</a:t>
            </a:r>
            <a:r>
              <a:rPr lang="en-US" altLang="zh-CN" sz="2378" dirty="0">
                <a:ea typeface="宋体" panose="02010600030101010101" pitchFamily="2" charset="-122"/>
              </a:rPr>
              <a:t>  +  </a:t>
            </a:r>
            <a:r>
              <a:rPr lang="en-US" altLang="zh-CN" sz="2378" b="1" i="1" dirty="0">
                <a:latin typeface="Times New Roman" panose="02020603050405020304" pitchFamily="18" charset="0"/>
                <a:ea typeface="宋体" panose="02010600030101010101" pitchFamily="2" charset="-122"/>
              </a:rPr>
              <a:t>a</a:t>
            </a:r>
            <a:r>
              <a:rPr lang="en-US" altLang="zh-CN" sz="2378" dirty="0">
                <a:ea typeface="宋体" panose="02010600030101010101" pitchFamily="2" charset="-122"/>
              </a:rPr>
              <a:t> (</a:t>
            </a:r>
            <a:r>
              <a:rPr lang="en-US" altLang="zh-CN" sz="2378" b="1" i="1" dirty="0">
                <a:ea typeface="宋体" panose="02010600030101010101" pitchFamily="2" charset="-122"/>
              </a:rPr>
              <a:t>P</a:t>
            </a:r>
            <a:r>
              <a:rPr lang="en-US" altLang="zh-CN" sz="2378" b="1" dirty="0">
                <a:ea typeface="宋体" panose="02010600030101010101" pitchFamily="2" charset="-122"/>
              </a:rPr>
              <a:t>  </a:t>
            </a:r>
            <a:r>
              <a:rPr lang="en-US" altLang="zh-CN" sz="2378" dirty="0">
                <a:ea typeface="宋体" panose="02010600030101010101" pitchFamily="2" charset="-122"/>
              </a:rPr>
              <a:t>–  </a:t>
            </a:r>
            <a:r>
              <a:rPr lang="en-US" altLang="zh-CN" sz="2378" b="1" i="1" dirty="0">
                <a:ea typeface="宋体" panose="02010600030101010101" pitchFamily="2" charset="-122"/>
              </a:rPr>
              <a:t>P</a:t>
            </a:r>
            <a:r>
              <a:rPr lang="en-US" altLang="zh-CN" sz="2378" b="1" baseline="-25000" dirty="0">
                <a:ea typeface="宋体" panose="02010600030101010101" pitchFamily="2" charset="-122"/>
              </a:rPr>
              <a:t>E</a:t>
            </a:r>
            <a:r>
              <a:rPr lang="en-US" altLang="zh-CN" sz="2378" dirty="0">
                <a:ea typeface="宋体" panose="02010600030101010101" pitchFamily="2" charset="-122"/>
              </a:rPr>
              <a:t>)</a:t>
            </a:r>
          </a:p>
        </p:txBody>
      </p:sp>
    </p:spTree>
    <p:extLst>
      <p:ext uri="{BB962C8B-B14F-4D97-AF65-F5344CB8AC3E}">
        <p14:creationId xmlns:p14="http://schemas.microsoft.com/office/powerpoint/2010/main" val="382127478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5779">
                                            <p:txEl>
                                              <p:pRg st="3" end="3"/>
                                            </p:txEl>
                                          </p:spTgt>
                                        </p:tgtEl>
                                        <p:attrNameLst>
                                          <p:attrName>style.visibility</p:attrName>
                                        </p:attrNameLst>
                                      </p:cBhvr>
                                      <p:to>
                                        <p:strVal val="visible"/>
                                      </p:to>
                                    </p:set>
                                    <p:animEffect transition="in" filter="wipe(left)">
                                      <p:cBhvr>
                                        <p:cTn id="22" dur="500"/>
                                        <p:tgtEl>
                                          <p:spTgt spid="757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5779">
                                            <p:txEl>
                                              <p:pRg st="4" end="4"/>
                                            </p:txEl>
                                          </p:spTgt>
                                        </p:tgtEl>
                                        <p:attrNameLst>
                                          <p:attrName>style.visibility</p:attrName>
                                        </p:attrNameLst>
                                      </p:cBhvr>
                                      <p:to>
                                        <p:strVal val="visible"/>
                                      </p:to>
                                    </p:set>
                                    <p:animEffect transition="in" filter="wipe(left)">
                                      <p:cBhvr>
                                        <p:cTn id="27" dur="500"/>
                                        <p:tgtEl>
                                          <p:spTgt spid="75779">
                                            <p:txEl>
                                              <p:pRg st="4" end="4"/>
                                            </p:txEl>
                                          </p:spTgt>
                                        </p:tgtEl>
                                      </p:cBhvr>
                                    </p:animEffect>
                                  </p:childTnLst>
                                </p:cTn>
                              </p:par>
                            </p:childTnLst>
                          </p:cTn>
                        </p:par>
                        <p:par>
                          <p:cTn id="28" fill="hold" nodeType="afterGroup">
                            <p:stCondLst>
                              <p:cond delay="500"/>
                            </p:stCondLst>
                            <p:childTnLst>
                              <p:par>
                                <p:cTn id="29" presetID="22" presetClass="entr" presetSubtype="4" fill="hold" nodeType="afterEffect">
                                  <p:stCondLst>
                                    <p:cond delay="0"/>
                                  </p:stCondLst>
                                  <p:childTnLst>
                                    <p:set>
                                      <p:cBhvr>
                                        <p:cTn id="30" dur="1" fill="hold">
                                          <p:stCondLst>
                                            <p:cond delay="0"/>
                                          </p:stCondLst>
                                        </p:cTn>
                                        <p:tgtEl>
                                          <p:spTgt spid="75804"/>
                                        </p:tgtEl>
                                        <p:attrNameLst>
                                          <p:attrName>style.visibility</p:attrName>
                                        </p:attrNameLst>
                                      </p:cBhvr>
                                      <p:to>
                                        <p:strVal val="visible"/>
                                      </p:to>
                                    </p:set>
                                    <p:animEffect transition="in" filter="wipe(down)">
                                      <p:cBhvr>
                                        <p:cTn id="31" dur="500"/>
                                        <p:tgtEl>
                                          <p:spTgt spid="75804"/>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75800"/>
                                        </p:tgtEl>
                                        <p:attrNameLst>
                                          <p:attrName>style.visibility</p:attrName>
                                        </p:attrNameLst>
                                      </p:cBhvr>
                                      <p:to>
                                        <p:strVal val="visible"/>
                                      </p:to>
                                    </p:set>
                                    <p:animEffect transition="in" filter="wipe(left)">
                                      <p:cBhvr>
                                        <p:cTn id="35" dur="500"/>
                                        <p:tgtEl>
                                          <p:spTgt spid="75800"/>
                                        </p:tgtEl>
                                      </p:cBhvr>
                                    </p:animEffect>
                                  </p:childTnLst>
                                </p:cTn>
                              </p:par>
                            </p:childTnLst>
                          </p:cTn>
                        </p:par>
                        <p:par>
                          <p:cTn id="36" fill="hold" nodeType="afterGroup">
                            <p:stCondLst>
                              <p:cond delay="1500"/>
                            </p:stCondLst>
                            <p:childTnLst>
                              <p:par>
                                <p:cTn id="37" presetID="22" presetClass="entr" presetSubtype="2" fill="hold" nodeType="afterEffect">
                                  <p:stCondLst>
                                    <p:cond delay="0"/>
                                  </p:stCondLst>
                                  <p:childTnLst>
                                    <p:set>
                                      <p:cBhvr>
                                        <p:cTn id="38" dur="1" fill="hold">
                                          <p:stCondLst>
                                            <p:cond delay="0"/>
                                          </p:stCondLst>
                                        </p:cTn>
                                        <p:tgtEl>
                                          <p:spTgt spid="75805"/>
                                        </p:tgtEl>
                                        <p:attrNameLst>
                                          <p:attrName>style.visibility</p:attrName>
                                        </p:attrNameLst>
                                      </p:cBhvr>
                                      <p:to>
                                        <p:strVal val="visible"/>
                                      </p:to>
                                    </p:set>
                                    <p:animEffect transition="in" filter="wipe(right)">
                                      <p:cBhvr>
                                        <p:cTn id="39" dur="500"/>
                                        <p:tgtEl>
                                          <p:spTgt spid="75805"/>
                                        </p:tgtEl>
                                      </p:cBhvr>
                                    </p:animEffect>
                                  </p:childTnLst>
                                </p:cTn>
                              </p:par>
                              <p:par>
                                <p:cTn id="40" presetID="22" presetClass="entr" presetSubtype="2" fill="hold" nodeType="withEffect">
                                  <p:stCondLst>
                                    <p:cond delay="0"/>
                                  </p:stCondLst>
                                  <p:childTnLst>
                                    <p:set>
                                      <p:cBhvr>
                                        <p:cTn id="41" dur="1" fill="hold">
                                          <p:stCondLst>
                                            <p:cond delay="0"/>
                                          </p:stCondLst>
                                        </p:cTn>
                                        <p:tgtEl>
                                          <p:spTgt spid="75806"/>
                                        </p:tgtEl>
                                        <p:attrNameLst>
                                          <p:attrName>style.visibility</p:attrName>
                                        </p:attrNameLst>
                                      </p:cBhvr>
                                      <p:to>
                                        <p:strVal val="visible"/>
                                      </p:to>
                                    </p:set>
                                    <p:animEffect transition="in" filter="wipe(right)">
                                      <p:cBhvr>
                                        <p:cTn id="42" dur="500"/>
                                        <p:tgtEl>
                                          <p:spTgt spid="75806"/>
                                        </p:tgtEl>
                                      </p:cBhvr>
                                    </p:animEffect>
                                  </p:childTnLst>
                                </p:cTn>
                              </p:par>
                            </p:childTnLst>
                          </p:cTn>
                        </p:par>
                        <p:par>
                          <p:cTn id="43" fill="hold" nodeType="afterGroup">
                            <p:stCondLst>
                              <p:cond delay="2000"/>
                            </p:stCondLst>
                            <p:childTnLst>
                              <p:par>
                                <p:cTn id="44" presetID="18" presetClass="entr" presetSubtype="12" fill="hold" nodeType="afterEffect">
                                  <p:stCondLst>
                                    <p:cond delay="0"/>
                                  </p:stCondLst>
                                  <p:childTnLst>
                                    <p:set>
                                      <p:cBhvr>
                                        <p:cTn id="45" dur="1" fill="hold">
                                          <p:stCondLst>
                                            <p:cond delay="0"/>
                                          </p:stCondLst>
                                        </p:cTn>
                                        <p:tgtEl>
                                          <p:spTgt spid="75797"/>
                                        </p:tgtEl>
                                        <p:attrNameLst>
                                          <p:attrName>style.visibility</p:attrName>
                                        </p:attrNameLst>
                                      </p:cBhvr>
                                      <p:to>
                                        <p:strVal val="visible"/>
                                      </p:to>
                                    </p:set>
                                    <p:animEffect transition="in" filter="strips(downLeft)">
                                      <p:cBhvr>
                                        <p:cTn id="46" dur="500"/>
                                        <p:tgtEl>
                                          <p:spTgt spid="75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bldLvl="5"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3697366-C7DA-C472-418A-F3316515B398}"/>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441CEFEA-4CE2-D4A6-C47D-5C644F22973C}"/>
              </a:ext>
            </a:extLst>
          </p:cNvPr>
          <p:cNvSpPr>
            <a:spLocks noGrp="1"/>
          </p:cNvSpPr>
          <p:nvPr>
            <p:ph type="sldNum" sz="quarter" idx="11"/>
          </p:nvPr>
        </p:nvSpPr>
        <p:spPr/>
        <p:txBody>
          <a:bodyPr/>
          <a:lstStyle/>
          <a:p>
            <a:fld id="{4470DF4D-0BBB-4E4F-B39F-8675EE122BF7}" type="slidenum">
              <a:rPr lang="zh-CN" altLang="zh-CN"/>
              <a:pPr/>
              <a:t>36</a:t>
            </a:fld>
            <a:endParaRPr lang="zh-CN" altLang="zh-CN"/>
          </a:p>
        </p:txBody>
      </p:sp>
      <p:sp>
        <p:nvSpPr>
          <p:cNvPr id="76802" name="Rectangle 3">
            <a:extLst>
              <a:ext uri="{FF2B5EF4-FFF2-40B4-BE49-F238E27FC236}">
                <a16:creationId xmlns:a16="http://schemas.microsoft.com/office/drawing/2014/main" id="{BD507090-237E-274C-CD84-0578268687F3}"/>
              </a:ext>
            </a:extLst>
          </p:cNvPr>
          <p:cNvSpPr>
            <a:spLocks noGrp="1" noChangeArrowheads="1"/>
          </p:cNvSpPr>
          <p:nvPr>
            <p:ph type="title" idx="4294967295"/>
          </p:nvPr>
        </p:nvSpPr>
        <p:spPr>
          <a:xfrm>
            <a:off x="1528195" y="199817"/>
            <a:ext cx="9135611" cy="648692"/>
          </a:xfrm>
        </p:spPr>
        <p:txBody>
          <a:bodyPr/>
          <a:lstStyle/>
          <a:p>
            <a:r>
              <a:rPr lang="zh-CN" altLang="en-US" sz="3698" dirty="0">
                <a:ea typeface="宋体" panose="02010600030101010101" pitchFamily="2" charset="-122"/>
              </a:rPr>
              <a:t>经济长期均衡与短期均衡的动态分析</a:t>
            </a:r>
          </a:p>
        </p:txBody>
      </p:sp>
      <p:sp>
        <p:nvSpPr>
          <p:cNvPr id="76803" name="Rectangle 4">
            <a:extLst>
              <a:ext uri="{FF2B5EF4-FFF2-40B4-BE49-F238E27FC236}">
                <a16:creationId xmlns:a16="http://schemas.microsoft.com/office/drawing/2014/main" id="{9364A5C2-797B-D4F9-BCD3-9938531C2775}"/>
              </a:ext>
            </a:extLst>
          </p:cNvPr>
          <p:cNvSpPr>
            <a:spLocks noGrp="1" noChangeArrowheads="1"/>
          </p:cNvSpPr>
          <p:nvPr>
            <p:ph type="body" idx="4294967295"/>
          </p:nvPr>
        </p:nvSpPr>
        <p:spPr>
          <a:xfrm>
            <a:off x="1929463" y="1197440"/>
            <a:ext cx="3165744" cy="3218081"/>
          </a:xfrm>
        </p:spPr>
        <p:txBody>
          <a:bodyPr/>
          <a:lstStyle/>
          <a:p>
            <a:pPr marL="0" indent="0">
              <a:lnSpc>
                <a:spcPct val="110000"/>
              </a:lnSpc>
              <a:spcBef>
                <a:spcPct val="30000"/>
              </a:spcBef>
              <a:buNone/>
              <a:tabLst>
                <a:tab pos="341031" algn="l"/>
              </a:tabLst>
            </a:pPr>
            <a:r>
              <a:rPr lang="zh-CN" altLang="zh-CN" dirty="0">
                <a:ea typeface="宋体" panose="02010600030101010101" pitchFamily="2" charset="-122"/>
              </a:rPr>
              <a:t>在长期均衡中，</a:t>
            </a:r>
          </a:p>
          <a:p>
            <a:pPr marL="0" indent="0">
              <a:lnSpc>
                <a:spcPct val="110000"/>
              </a:lnSpc>
              <a:spcBef>
                <a:spcPct val="30000"/>
              </a:spcBef>
              <a:buNone/>
              <a:tabLst>
                <a:tab pos="341031" algn="l"/>
              </a:tabLst>
            </a:pPr>
            <a:r>
              <a:rPr lang="zh-CN" altLang="zh-CN" dirty="0">
                <a:ea typeface="宋体" panose="02010600030101010101" pitchFamily="2" charset="-122"/>
              </a:rPr>
              <a:t>	</a:t>
            </a:r>
            <a:r>
              <a:rPr lang="zh-CN" altLang="zh-CN" b="1" i="1" dirty="0">
                <a:ea typeface="宋体" panose="02010600030101010101" pitchFamily="2" charset="-122"/>
              </a:rPr>
              <a:t>P</a:t>
            </a:r>
            <a:r>
              <a:rPr lang="zh-CN" altLang="zh-CN" b="1" baseline="-25000" dirty="0">
                <a:ea typeface="宋体" panose="02010600030101010101" pitchFamily="2" charset="-122"/>
              </a:rPr>
              <a:t>E</a:t>
            </a:r>
            <a:r>
              <a:rPr lang="zh-CN" altLang="zh-CN" dirty="0">
                <a:ea typeface="宋体" panose="02010600030101010101" pitchFamily="2" charset="-122"/>
              </a:rPr>
              <a:t> = </a:t>
            </a:r>
            <a:r>
              <a:rPr lang="zh-CN" altLang="zh-CN" b="1" i="1" dirty="0">
                <a:ea typeface="宋体" panose="02010600030101010101" pitchFamily="2" charset="-122"/>
              </a:rPr>
              <a:t>P</a:t>
            </a:r>
            <a:r>
              <a:rPr lang="zh-CN" altLang="zh-CN" dirty="0">
                <a:ea typeface="宋体" panose="02010600030101010101" pitchFamily="2" charset="-122"/>
              </a:rPr>
              <a:t>, </a:t>
            </a:r>
          </a:p>
          <a:p>
            <a:pPr marL="0" indent="0">
              <a:lnSpc>
                <a:spcPct val="110000"/>
              </a:lnSpc>
              <a:spcBef>
                <a:spcPct val="30000"/>
              </a:spcBef>
              <a:buNone/>
              <a:tabLst>
                <a:tab pos="341031" algn="l"/>
              </a:tabLst>
            </a:pPr>
            <a:r>
              <a:rPr lang="zh-CN" altLang="zh-CN" dirty="0">
                <a:ea typeface="宋体" panose="02010600030101010101" pitchFamily="2" charset="-122"/>
              </a:rPr>
              <a:t>	</a:t>
            </a:r>
            <a:r>
              <a:rPr lang="zh-CN" altLang="zh-CN" b="1" i="1" dirty="0">
                <a:ea typeface="宋体" panose="02010600030101010101" pitchFamily="2" charset="-122"/>
              </a:rPr>
              <a:t>Y</a:t>
            </a:r>
            <a:r>
              <a:rPr lang="zh-CN" altLang="zh-CN" dirty="0">
                <a:ea typeface="宋体" panose="02010600030101010101" pitchFamily="2" charset="-122"/>
              </a:rPr>
              <a:t> = </a:t>
            </a:r>
            <a:r>
              <a:rPr lang="zh-CN" altLang="zh-CN" b="1" i="1" dirty="0">
                <a:ea typeface="宋体" panose="02010600030101010101" pitchFamily="2" charset="-122"/>
              </a:rPr>
              <a:t>Y</a:t>
            </a:r>
            <a:r>
              <a:rPr lang="zh-CN" altLang="zh-CN" b="1" baseline="-25000" dirty="0">
                <a:ea typeface="宋体" panose="02010600030101010101" pitchFamily="2" charset="-122"/>
              </a:rPr>
              <a:t>N </a:t>
            </a:r>
            <a:r>
              <a:rPr lang="zh-CN" altLang="zh-CN" dirty="0">
                <a:ea typeface="宋体" panose="02010600030101010101" pitchFamily="2" charset="-122"/>
              </a:rPr>
              <a:t>, </a:t>
            </a:r>
          </a:p>
          <a:p>
            <a:pPr marL="0" indent="0">
              <a:lnSpc>
                <a:spcPct val="110000"/>
              </a:lnSpc>
              <a:spcBef>
                <a:spcPct val="30000"/>
              </a:spcBef>
              <a:buNone/>
              <a:tabLst>
                <a:tab pos="341031" algn="l"/>
              </a:tabLst>
            </a:pPr>
            <a:r>
              <a:rPr lang="zh-CN" altLang="zh-CN" dirty="0">
                <a:ea typeface="宋体" panose="02010600030101010101" pitchFamily="2" charset="-122"/>
              </a:rPr>
              <a:t>失业率等于自然失业率</a:t>
            </a:r>
          </a:p>
        </p:txBody>
      </p:sp>
      <p:grpSp>
        <p:nvGrpSpPr>
          <p:cNvPr id="76804" name="Group 4">
            <a:extLst>
              <a:ext uri="{FF2B5EF4-FFF2-40B4-BE49-F238E27FC236}">
                <a16:creationId xmlns:a16="http://schemas.microsoft.com/office/drawing/2014/main" id="{D0D2D4C8-5E37-AEC5-25B2-A42B9591480C}"/>
              </a:ext>
            </a:extLst>
          </p:cNvPr>
          <p:cNvGrpSpPr>
            <a:grpSpLocks/>
          </p:cNvGrpSpPr>
          <p:nvPr/>
        </p:nvGrpSpPr>
        <p:grpSpPr bwMode="auto">
          <a:xfrm>
            <a:off x="5618602" y="1181577"/>
            <a:ext cx="4418718" cy="4108181"/>
            <a:chOff x="0" y="0"/>
            <a:chExt cx="2786" cy="2423"/>
          </a:xfrm>
        </p:grpSpPr>
        <p:grpSp>
          <p:nvGrpSpPr>
            <p:cNvPr id="76805" name="Group 5">
              <a:extLst>
                <a:ext uri="{FF2B5EF4-FFF2-40B4-BE49-F238E27FC236}">
                  <a16:creationId xmlns:a16="http://schemas.microsoft.com/office/drawing/2014/main" id="{B9123917-D47B-6D1A-0172-15C2F593668E}"/>
                </a:ext>
              </a:extLst>
            </p:cNvPr>
            <p:cNvGrpSpPr>
              <a:grpSpLocks/>
            </p:cNvGrpSpPr>
            <p:nvPr/>
          </p:nvGrpSpPr>
          <p:grpSpPr bwMode="auto">
            <a:xfrm>
              <a:off x="118" y="252"/>
              <a:ext cx="2409" cy="2049"/>
              <a:chOff x="0" y="0"/>
              <a:chExt cx="2116" cy="2027"/>
            </a:xfrm>
          </p:grpSpPr>
          <p:sp>
            <p:nvSpPr>
              <p:cNvPr id="76806" name="Line 7">
                <a:extLst>
                  <a:ext uri="{FF2B5EF4-FFF2-40B4-BE49-F238E27FC236}">
                    <a16:creationId xmlns:a16="http://schemas.microsoft.com/office/drawing/2014/main" id="{53CE6D37-08B8-7D1C-0008-0B2491FE05E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6807" name="Line 8">
                <a:extLst>
                  <a:ext uri="{FF2B5EF4-FFF2-40B4-BE49-F238E27FC236}">
                    <a16:creationId xmlns:a16="http://schemas.microsoft.com/office/drawing/2014/main" id="{61D28AA6-F092-BC13-44DE-37FE1A450705}"/>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76808" name="Text Box 9">
              <a:extLst>
                <a:ext uri="{FF2B5EF4-FFF2-40B4-BE49-F238E27FC236}">
                  <a16:creationId xmlns:a16="http://schemas.microsoft.com/office/drawing/2014/main" id="{AB289C20-6CF4-1C5D-83B1-636238D4F950}"/>
                </a:ext>
              </a:extLst>
            </p:cNvPr>
            <p:cNvSpPr txBox="1">
              <a:spLocks noChangeArrowheads="1"/>
            </p:cNvSpPr>
            <p:nvPr/>
          </p:nvSpPr>
          <p:spPr bwMode="auto">
            <a:xfrm>
              <a:off x="0" y="0"/>
              <a:ext cx="2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p>
          </p:txBody>
        </p:sp>
        <p:sp>
          <p:nvSpPr>
            <p:cNvPr id="76809" name="Text Box 10">
              <a:extLst>
                <a:ext uri="{FF2B5EF4-FFF2-40B4-BE49-F238E27FC236}">
                  <a16:creationId xmlns:a16="http://schemas.microsoft.com/office/drawing/2014/main" id="{ADEA016C-028C-EF5E-D1E6-B0C476D12817}"/>
                </a:ext>
              </a:extLst>
            </p:cNvPr>
            <p:cNvSpPr txBox="1">
              <a:spLocks noChangeArrowheads="1"/>
            </p:cNvSpPr>
            <p:nvPr/>
          </p:nvSpPr>
          <p:spPr bwMode="auto">
            <a:xfrm>
              <a:off x="2496" y="2151"/>
              <a:ext cx="2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p>
          </p:txBody>
        </p:sp>
      </p:grpSp>
      <p:sp>
        <p:nvSpPr>
          <p:cNvPr id="76810" name="Line 11">
            <a:extLst>
              <a:ext uri="{FF2B5EF4-FFF2-40B4-BE49-F238E27FC236}">
                <a16:creationId xmlns:a16="http://schemas.microsoft.com/office/drawing/2014/main" id="{FFAEE98B-62C8-FAF2-F64A-33AC5871D0EA}"/>
              </a:ext>
            </a:extLst>
          </p:cNvPr>
          <p:cNvSpPr>
            <a:spLocks noChangeShapeType="1"/>
          </p:cNvSpPr>
          <p:nvPr/>
        </p:nvSpPr>
        <p:spPr bwMode="auto">
          <a:xfrm>
            <a:off x="6555953" y="2136375"/>
            <a:ext cx="2315623" cy="228231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6811" name="Text Box 12">
            <a:extLst>
              <a:ext uri="{FF2B5EF4-FFF2-40B4-BE49-F238E27FC236}">
                <a16:creationId xmlns:a16="http://schemas.microsoft.com/office/drawing/2014/main" id="{CA657EEE-3AB6-39A1-927D-A1215AE0131F}"/>
              </a:ext>
            </a:extLst>
          </p:cNvPr>
          <p:cNvSpPr txBox="1">
            <a:spLocks noChangeArrowheads="1"/>
          </p:cNvSpPr>
          <p:nvPr/>
        </p:nvSpPr>
        <p:spPr bwMode="auto">
          <a:xfrm>
            <a:off x="8793861" y="4299738"/>
            <a:ext cx="708962" cy="461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i="1">
                <a:ea typeface="宋体" panose="02010600030101010101" pitchFamily="2" charset="-122"/>
              </a:rPr>
              <a:t>AD</a:t>
            </a:r>
            <a:endParaRPr lang="en-US" altLang="zh-CN" sz="2398" i="1" baseline="-25000">
              <a:ea typeface="宋体" panose="02010600030101010101" pitchFamily="2" charset="-122"/>
            </a:endParaRPr>
          </a:p>
        </p:txBody>
      </p:sp>
      <p:sp>
        <p:nvSpPr>
          <p:cNvPr id="76812" name="Line 13">
            <a:extLst>
              <a:ext uri="{FF2B5EF4-FFF2-40B4-BE49-F238E27FC236}">
                <a16:creationId xmlns:a16="http://schemas.microsoft.com/office/drawing/2014/main" id="{24B95C7B-87B4-6301-3993-12082B0D33FB}"/>
              </a:ext>
            </a:extLst>
          </p:cNvPr>
          <p:cNvSpPr>
            <a:spLocks noChangeShapeType="1"/>
          </p:cNvSpPr>
          <p:nvPr/>
        </p:nvSpPr>
        <p:spPr bwMode="auto">
          <a:xfrm flipV="1">
            <a:off x="6392590" y="2331459"/>
            <a:ext cx="2374308" cy="219508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6813" name="Text Box 14">
            <a:extLst>
              <a:ext uri="{FF2B5EF4-FFF2-40B4-BE49-F238E27FC236}">
                <a16:creationId xmlns:a16="http://schemas.microsoft.com/office/drawing/2014/main" id="{967BA6B9-037A-5CE8-B9A6-FAD769908C77}"/>
              </a:ext>
            </a:extLst>
          </p:cNvPr>
          <p:cNvSpPr txBox="1">
            <a:spLocks noChangeArrowheads="1"/>
          </p:cNvSpPr>
          <p:nvPr/>
        </p:nvSpPr>
        <p:spPr bwMode="auto">
          <a:xfrm>
            <a:off x="8670149" y="1960323"/>
            <a:ext cx="1422679" cy="461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i="1" dirty="0">
                <a:ea typeface="宋体" panose="02010600030101010101" pitchFamily="2" charset="-122"/>
              </a:rPr>
              <a:t>SRAS</a:t>
            </a:r>
            <a:endParaRPr lang="en-US" altLang="zh-CN" sz="2398" i="1" baseline="-25000" dirty="0">
              <a:ea typeface="宋体" panose="02010600030101010101" pitchFamily="2" charset="-122"/>
            </a:endParaRPr>
          </a:p>
        </p:txBody>
      </p:sp>
      <p:sp>
        <p:nvSpPr>
          <p:cNvPr id="76814" name="Line 15">
            <a:extLst>
              <a:ext uri="{FF2B5EF4-FFF2-40B4-BE49-F238E27FC236}">
                <a16:creationId xmlns:a16="http://schemas.microsoft.com/office/drawing/2014/main" id="{A43F1718-6787-01E4-033B-D4236F2DEDA1}"/>
              </a:ext>
            </a:extLst>
          </p:cNvPr>
          <p:cNvSpPr>
            <a:spLocks noChangeShapeType="1"/>
          </p:cNvSpPr>
          <p:nvPr/>
        </p:nvSpPr>
        <p:spPr bwMode="auto">
          <a:xfrm>
            <a:off x="5816857" y="3286256"/>
            <a:ext cx="1906424"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6815" name="Text Box 16">
            <a:extLst>
              <a:ext uri="{FF2B5EF4-FFF2-40B4-BE49-F238E27FC236}">
                <a16:creationId xmlns:a16="http://schemas.microsoft.com/office/drawing/2014/main" id="{04595337-5DF4-12FD-6574-25F853ECC704}"/>
              </a:ext>
            </a:extLst>
          </p:cNvPr>
          <p:cNvSpPr txBox="1">
            <a:spLocks noChangeArrowheads="1"/>
          </p:cNvSpPr>
          <p:nvPr/>
        </p:nvSpPr>
        <p:spPr bwMode="auto">
          <a:xfrm>
            <a:off x="5309322" y="3092760"/>
            <a:ext cx="488501" cy="38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499" b="1" i="1">
                <a:ea typeface="宋体" panose="02010600030101010101" pitchFamily="2" charset="-122"/>
              </a:rPr>
              <a:t>P</a:t>
            </a:r>
            <a:r>
              <a:rPr lang="en-US" altLang="zh-CN" sz="2499" b="1" baseline="-25000">
                <a:ea typeface="宋体" panose="02010600030101010101" pitchFamily="2" charset="-122"/>
              </a:rPr>
              <a:t>E</a:t>
            </a:r>
          </a:p>
        </p:txBody>
      </p:sp>
      <p:sp>
        <p:nvSpPr>
          <p:cNvPr id="76816" name="Line 17">
            <a:extLst>
              <a:ext uri="{FF2B5EF4-FFF2-40B4-BE49-F238E27FC236}">
                <a16:creationId xmlns:a16="http://schemas.microsoft.com/office/drawing/2014/main" id="{49EAF6B2-07EB-4742-B29E-AA5383CB1A08}"/>
              </a:ext>
            </a:extLst>
          </p:cNvPr>
          <p:cNvSpPr>
            <a:spLocks noChangeShapeType="1"/>
          </p:cNvSpPr>
          <p:nvPr/>
        </p:nvSpPr>
        <p:spPr bwMode="auto">
          <a:xfrm rot="16200000" flipH="1">
            <a:off x="6007183" y="3357630"/>
            <a:ext cx="3436956" cy="4758"/>
          </a:xfrm>
          <a:prstGeom prst="line">
            <a:avLst/>
          </a:prstGeom>
          <a:noFill/>
          <a:ln w="38100">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76817" name="Text Box 19">
            <a:extLst>
              <a:ext uri="{FF2B5EF4-FFF2-40B4-BE49-F238E27FC236}">
                <a16:creationId xmlns:a16="http://schemas.microsoft.com/office/drawing/2014/main" id="{58D7794D-FEF3-F0F3-FEFA-ADE8FD70042D}"/>
              </a:ext>
            </a:extLst>
          </p:cNvPr>
          <p:cNvSpPr txBox="1">
            <a:spLocks noChangeArrowheads="1"/>
          </p:cNvSpPr>
          <p:nvPr/>
        </p:nvSpPr>
        <p:spPr bwMode="auto">
          <a:xfrm>
            <a:off x="6785048" y="1237088"/>
            <a:ext cx="1483833" cy="461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i="1">
                <a:ea typeface="宋体" panose="02010600030101010101" pitchFamily="2" charset="-122"/>
              </a:rPr>
              <a:t>LRAS</a:t>
            </a:r>
            <a:endParaRPr lang="en-US" altLang="zh-CN" sz="2398" i="1" baseline="-25000">
              <a:ea typeface="宋体" panose="02010600030101010101" pitchFamily="2" charset="-122"/>
            </a:endParaRPr>
          </a:p>
        </p:txBody>
      </p:sp>
      <p:sp>
        <p:nvSpPr>
          <p:cNvPr id="76818" name="Oval 28">
            <a:extLst>
              <a:ext uri="{FF2B5EF4-FFF2-40B4-BE49-F238E27FC236}">
                <a16:creationId xmlns:a16="http://schemas.microsoft.com/office/drawing/2014/main" id="{178A64B1-5EF6-92D5-67C4-BB5B1746869A}"/>
              </a:ext>
            </a:extLst>
          </p:cNvPr>
          <p:cNvSpPr>
            <a:spLocks noChangeArrowheads="1"/>
          </p:cNvSpPr>
          <p:nvPr/>
        </p:nvSpPr>
        <p:spPr bwMode="auto">
          <a:xfrm>
            <a:off x="7659840" y="3213299"/>
            <a:ext cx="139572" cy="1379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76819" name="Rectangle 52">
            <a:extLst>
              <a:ext uri="{FF2B5EF4-FFF2-40B4-BE49-F238E27FC236}">
                <a16:creationId xmlns:a16="http://schemas.microsoft.com/office/drawing/2014/main" id="{FE420921-CAFD-202B-7C23-BDD9BD1236BF}"/>
              </a:ext>
            </a:extLst>
          </p:cNvPr>
          <p:cNvSpPr>
            <a:spLocks noChangeArrowheads="1"/>
          </p:cNvSpPr>
          <p:nvPr/>
        </p:nvSpPr>
        <p:spPr bwMode="auto">
          <a:xfrm>
            <a:off x="7490133" y="5068970"/>
            <a:ext cx="551754" cy="4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499" b="1" i="1">
                <a:ea typeface="宋体" panose="02010600030101010101" pitchFamily="2" charset="-122"/>
              </a:rPr>
              <a:t>Y</a:t>
            </a:r>
            <a:r>
              <a:rPr lang="en-US" altLang="zh-CN" sz="2499" b="1" baseline="-25000">
                <a:ea typeface="宋体" panose="02010600030101010101" pitchFamily="2" charset="-122"/>
              </a:rPr>
              <a:t>N</a:t>
            </a:r>
          </a:p>
        </p:txBody>
      </p:sp>
      <p:sp>
        <p:nvSpPr>
          <p:cNvPr id="76820" name="FlagCount" hidden="1">
            <a:hlinkClick r:id="rId2" action="ppaction://hlinkfile"/>
            <a:extLst>
              <a:ext uri="{FF2B5EF4-FFF2-40B4-BE49-F238E27FC236}">
                <a16:creationId xmlns:a16="http://schemas.microsoft.com/office/drawing/2014/main" id="{21230D1F-DA3B-9D88-C0C1-DED0DFBECDC9}"/>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73443770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wipe(left)">
                                      <p:cBhvr>
                                        <p:cTn id="7" dur="500"/>
                                        <p:tgtEl>
                                          <p:spTgt spid="76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6803">
                                            <p:txEl>
                                              <p:pRg st="1" end="1"/>
                                            </p:txEl>
                                          </p:spTgt>
                                        </p:tgtEl>
                                        <p:attrNameLst>
                                          <p:attrName>style.visibility</p:attrName>
                                        </p:attrNameLst>
                                      </p:cBhvr>
                                      <p:to>
                                        <p:strVal val="visible"/>
                                      </p:to>
                                    </p:set>
                                    <p:animEffect transition="in" filter="wipe(left)">
                                      <p:cBhvr>
                                        <p:cTn id="12" dur="500"/>
                                        <p:tgtEl>
                                          <p:spTgt spid="76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6803">
                                            <p:txEl>
                                              <p:pRg st="2" end="2"/>
                                            </p:txEl>
                                          </p:spTgt>
                                        </p:tgtEl>
                                        <p:attrNameLst>
                                          <p:attrName>style.visibility</p:attrName>
                                        </p:attrNameLst>
                                      </p:cBhvr>
                                      <p:to>
                                        <p:strVal val="visible"/>
                                      </p:to>
                                    </p:set>
                                    <p:animEffect transition="in" filter="wipe(left)">
                                      <p:cBhvr>
                                        <p:cTn id="17" dur="500"/>
                                        <p:tgtEl>
                                          <p:spTgt spid="76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6803">
                                            <p:txEl>
                                              <p:pRg st="3" end="3"/>
                                            </p:txEl>
                                          </p:spTgt>
                                        </p:tgtEl>
                                        <p:attrNameLst>
                                          <p:attrName>style.visibility</p:attrName>
                                        </p:attrNameLst>
                                      </p:cBhvr>
                                      <p:to>
                                        <p:strVal val="visible"/>
                                      </p:to>
                                    </p:set>
                                    <p:animEffect transition="in" filter="wipe(left)">
                                      <p:cBhvr>
                                        <p:cTn id="22" dur="500"/>
                                        <p:tgtEl>
                                          <p:spTgt spid="768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bldLvl="5"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6018" name="Rectangle 2">
                <a:extLst>
                  <a:ext uri="{FF2B5EF4-FFF2-40B4-BE49-F238E27FC236}">
                    <a16:creationId xmlns:a16="http://schemas.microsoft.com/office/drawing/2014/main" id="{12445A09-CA97-FA4A-5500-71DB061D5C32}"/>
                  </a:ext>
                </a:extLst>
              </p:cNvPr>
              <p:cNvSpPr>
                <a:spLocks noGrp="1" noChangeArrowheads="1"/>
              </p:cNvSpPr>
              <p:nvPr>
                <p:ph type="body" idx="1"/>
              </p:nvPr>
            </p:nvSpPr>
            <p:spPr>
              <a:xfrm>
                <a:off x="2102342" y="1471823"/>
                <a:ext cx="8210949" cy="4769234"/>
              </a:xfrm>
            </p:spPr>
            <p:txBody>
              <a:bodyPr/>
              <a:lstStyle/>
              <a:p>
                <a:r>
                  <a:rPr lang="zh-CN" altLang="zh-CN" dirty="0">
                    <a:ea typeface="宋体" panose="02010600030101010101" pitchFamily="2" charset="-122"/>
                  </a:rPr>
                  <a:t>画出</a:t>
                </a:r>
                <a:r>
                  <a:rPr lang="zh-CN" altLang="en-US" dirty="0">
                    <a:ea typeface="宋体" panose="02010600030101010101" pitchFamily="2" charset="-122"/>
                  </a:rPr>
                  <a:t>中国</a:t>
                </a:r>
                <a:r>
                  <a:rPr lang="zh-CN" altLang="zh-CN" dirty="0">
                    <a:ea typeface="宋体" panose="02010600030101010101" pitchFamily="2" charset="-122"/>
                  </a:rPr>
                  <a:t>经济的</a:t>
                </a:r>
                <a14:m>
                  <m:oMath xmlns:m="http://schemas.openxmlformats.org/officeDocument/2006/math">
                    <m:r>
                      <a:rPr lang="zh-CN" altLang="zh-CN" i="1" dirty="0" smtClean="0">
                        <a:latin typeface="Cambria Math" panose="02040503050406030204" pitchFamily="18" charset="0"/>
                        <a:ea typeface="宋体" panose="02010600030101010101" pitchFamily="2" charset="-122"/>
                      </a:rPr>
                      <m:t>𝐴𝐷</m:t>
                    </m:r>
                    <m:r>
                      <a:rPr lang="zh-CN" altLang="zh-CN" i="1" dirty="0" smtClean="0">
                        <a:latin typeface="Cambria Math" panose="02040503050406030204" pitchFamily="18" charset="0"/>
                        <a:ea typeface="宋体" panose="02010600030101010101" pitchFamily="2" charset="-122"/>
                      </a:rPr>
                      <m:t>−</m:t>
                    </m:r>
                    <m:r>
                      <a:rPr lang="zh-CN" altLang="zh-CN" i="1" dirty="0" smtClean="0">
                        <a:latin typeface="Cambria Math" panose="02040503050406030204" pitchFamily="18" charset="0"/>
                        <a:ea typeface="宋体" panose="02010600030101010101" pitchFamily="2" charset="-122"/>
                      </a:rPr>
                      <m:t>𝑆𝑅𝐴𝑆</m:t>
                    </m:r>
                    <m:r>
                      <a:rPr lang="zh-CN" altLang="zh-CN" i="1" dirty="0" smtClean="0">
                        <a:latin typeface="Cambria Math" panose="02040503050406030204" pitchFamily="18" charset="0"/>
                        <a:ea typeface="宋体" panose="02010600030101010101" pitchFamily="2" charset="-122"/>
                      </a:rPr>
                      <m:t>−</m:t>
                    </m:r>
                    <m:r>
                      <a:rPr lang="zh-CN" altLang="zh-CN" i="1" dirty="0" smtClean="0">
                        <a:latin typeface="Cambria Math" panose="02040503050406030204" pitchFamily="18" charset="0"/>
                        <a:ea typeface="宋体" panose="02010600030101010101" pitchFamily="2" charset="-122"/>
                      </a:rPr>
                      <m:t>𝐿𝑅𝐴𝑆</m:t>
                    </m:r>
                  </m:oMath>
                </a14:m>
                <a:r>
                  <a:rPr lang="zh-CN" altLang="zh-CN" dirty="0">
                    <a:ea typeface="宋体" panose="02010600030101010101" pitchFamily="2" charset="-122"/>
                  </a:rPr>
                  <a:t>图形，从经济的长期均衡开始</a:t>
                </a:r>
              </a:p>
              <a:p>
                <a:r>
                  <a:rPr lang="zh-CN" altLang="en-US" dirty="0">
                    <a:ea typeface="宋体" panose="02010600030101010101" pitchFamily="2" charset="-122"/>
                  </a:rPr>
                  <a:t>假设全球主要贸易伙伴经济回升，中国出口订单显著增加。</a:t>
                </a:r>
                <a:r>
                  <a:rPr lang="zh-CN" altLang="zh-CN" dirty="0">
                    <a:ea typeface="宋体" panose="02010600030101010101" pitchFamily="2" charset="-122"/>
                  </a:rPr>
                  <a:t>用图形分析这</a:t>
                </a:r>
                <a:r>
                  <a:rPr lang="zh-CN" altLang="en-US" dirty="0">
                    <a:ea typeface="宋体" panose="02010600030101010101" pitchFamily="2" charset="-122"/>
                  </a:rPr>
                  <a:t>一变化</a:t>
                </a:r>
                <a:r>
                  <a:rPr lang="zh-CN" altLang="zh-CN" dirty="0">
                    <a:ea typeface="宋体" panose="02010600030101010101" pitchFamily="2" charset="-122"/>
                  </a:rPr>
                  <a:t>对</a:t>
                </a:r>
                <a:r>
                  <a:rPr lang="zh-CN" altLang="en-US" dirty="0">
                    <a:ea typeface="宋体" panose="02010600030101010101" pitchFamily="2" charset="-122"/>
                  </a:rPr>
                  <a:t>中国</a:t>
                </a:r>
                <a:r>
                  <a:rPr lang="zh-CN" altLang="zh-CN" dirty="0">
                    <a:ea typeface="宋体" panose="02010600030101010101" pitchFamily="2" charset="-122"/>
                  </a:rPr>
                  <a:t> GDP</a:t>
                </a:r>
                <a:r>
                  <a:rPr lang="zh-CN" altLang="en-US" dirty="0">
                    <a:ea typeface="宋体" panose="02010600030101010101" pitchFamily="2" charset="-122"/>
                  </a:rPr>
                  <a:t>、</a:t>
                </a:r>
                <a:r>
                  <a:rPr lang="zh-CN" altLang="zh-CN" dirty="0">
                    <a:ea typeface="宋体" panose="02010600030101010101" pitchFamily="2" charset="-122"/>
                  </a:rPr>
                  <a:t>物价水平和失业率的短期与长期影响</a:t>
                </a:r>
                <a:r>
                  <a:rPr lang="zh-CN" altLang="en-US" dirty="0">
                    <a:ea typeface="宋体" panose="02010600030101010101" pitchFamily="2" charset="-122"/>
                  </a:rPr>
                  <a:t>。</a:t>
                </a:r>
                <a:endParaRPr lang="zh-CN" altLang="zh-CN" dirty="0">
                  <a:ea typeface="宋体" panose="02010600030101010101" pitchFamily="2" charset="-122"/>
                </a:endParaRPr>
              </a:p>
            </p:txBody>
          </p:sp>
        </mc:Choice>
        <mc:Fallback>
          <p:sp>
            <p:nvSpPr>
              <p:cNvPr id="86018" name="Rectangle 2">
                <a:extLst>
                  <a:ext uri="{FF2B5EF4-FFF2-40B4-BE49-F238E27FC236}">
                    <a16:creationId xmlns:a16="http://schemas.microsoft.com/office/drawing/2014/main" id="{12445A09-CA97-FA4A-5500-71DB061D5C32}"/>
                  </a:ext>
                </a:extLst>
              </p:cNvPr>
              <p:cNvSpPr>
                <a:spLocks noGrp="1" noRot="1" noChangeAspect="1" noMove="1" noResize="1" noEditPoints="1" noAdjustHandles="1" noChangeArrowheads="1" noChangeShapeType="1" noTextEdit="1"/>
              </p:cNvSpPr>
              <p:nvPr>
                <p:ph type="body" idx="1"/>
              </p:nvPr>
            </p:nvSpPr>
            <p:spPr>
              <a:xfrm>
                <a:off x="2102342" y="1471823"/>
                <a:ext cx="8210949" cy="4769234"/>
              </a:xfrm>
              <a:blipFill>
                <a:blip r:embed="rId2"/>
                <a:stretch>
                  <a:fillRect l="-1856" t="-2554" r="-371"/>
                </a:stretch>
              </a:blipFill>
            </p:spPr>
            <p:txBody>
              <a:bodyPr/>
              <a:lstStyle/>
              <a:p>
                <a:r>
                  <a:rPr lang="zh-CN" altLang="en-US">
                    <a:noFill/>
                  </a:rPr>
                  <a:t> </a:t>
                </a:r>
              </a:p>
            </p:txBody>
          </p:sp>
        </mc:Fallback>
      </mc:AlternateContent>
      <p:sp>
        <p:nvSpPr>
          <p:cNvPr id="86019" name="Rectangle 8">
            <a:extLst>
              <a:ext uri="{FF2B5EF4-FFF2-40B4-BE49-F238E27FC236}">
                <a16:creationId xmlns:a16="http://schemas.microsoft.com/office/drawing/2014/main" id="{F8CF04C3-5B28-86CA-24A9-966D4A079652}"/>
              </a:ext>
            </a:extLst>
          </p:cNvPr>
          <p:cNvSpPr>
            <a:spLocks noChangeArrowheads="1"/>
          </p:cNvSpPr>
          <p:nvPr/>
        </p:nvSpPr>
        <p:spPr bwMode="auto">
          <a:xfrm>
            <a:off x="1528195" y="3148"/>
            <a:ext cx="380651" cy="6851708"/>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86020" name="Rectangle 4">
            <a:extLst>
              <a:ext uri="{FF2B5EF4-FFF2-40B4-BE49-F238E27FC236}">
                <a16:creationId xmlns:a16="http://schemas.microsoft.com/office/drawing/2014/main" id="{28F8CF52-1F8B-B59C-6E32-421DD935A55D}"/>
              </a:ext>
            </a:extLst>
          </p:cNvPr>
          <p:cNvSpPr>
            <a:spLocks noGrp="1" noChangeArrowheads="1"/>
          </p:cNvSpPr>
          <p:nvPr>
            <p:ph type="title"/>
          </p:nvPr>
        </p:nvSpPr>
        <p:spPr>
          <a:xfrm>
            <a:off x="2115031" y="355250"/>
            <a:ext cx="8201433" cy="953212"/>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181202" tIns="0" rIns="181202" bIns="0" numCol="1" anchor="t" anchorCtr="0" compatLnSpc="1">
            <a:prstTxWarp prst="textNoShape">
              <a:avLst/>
            </a:prstTxWarp>
          </a:bodyPr>
          <a:lstStyle/>
          <a:p>
            <a:pPr algn="l"/>
            <a:r>
              <a:rPr lang="zh-CN"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2798"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3196" dirty="0">
                <a:solidFill>
                  <a:srgbClr val="339966"/>
                </a:solidFill>
                <a:effectLst>
                  <a:outerShdw blurRad="38100" dist="38100" dir="2700000" algn="tl">
                    <a:srgbClr val="C0C0C0"/>
                  </a:outerShdw>
                </a:effectLst>
                <a:ea typeface="宋体" panose="02010600030101010101" pitchFamily="2" charset="-122"/>
              </a:rPr>
              <a:t>模型的应用</a:t>
            </a:r>
          </a:p>
        </p:txBody>
      </p:sp>
      <p:grpSp>
        <p:nvGrpSpPr>
          <p:cNvPr id="86021" name="Group 5">
            <a:extLst>
              <a:ext uri="{FF2B5EF4-FFF2-40B4-BE49-F238E27FC236}">
                <a16:creationId xmlns:a16="http://schemas.microsoft.com/office/drawing/2014/main" id="{11B8E23A-6AE9-ABCE-6F0E-E924A0579631}"/>
              </a:ext>
            </a:extLst>
          </p:cNvPr>
          <p:cNvGrpSpPr>
            <a:grpSpLocks/>
          </p:cNvGrpSpPr>
          <p:nvPr/>
        </p:nvGrpSpPr>
        <p:grpSpPr bwMode="auto">
          <a:xfrm>
            <a:off x="2121374" y="293394"/>
            <a:ext cx="8203018" cy="1048375"/>
            <a:chOff x="0" y="0"/>
            <a:chExt cx="5000" cy="661"/>
          </a:xfrm>
        </p:grpSpPr>
        <p:sp>
          <p:nvSpPr>
            <p:cNvPr id="86022" name="Line 9">
              <a:extLst>
                <a:ext uri="{FF2B5EF4-FFF2-40B4-BE49-F238E27FC236}">
                  <a16:creationId xmlns:a16="http://schemas.microsoft.com/office/drawing/2014/main" id="{DECD316F-9903-CD49-AD0D-23CF6D05C7E5}"/>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6023" name="Line 10">
              <a:extLst>
                <a:ext uri="{FF2B5EF4-FFF2-40B4-BE49-F238E27FC236}">
                  <a16:creationId xmlns:a16="http://schemas.microsoft.com/office/drawing/2014/main" id="{7BA0F4DB-8BBE-6E2E-5D4D-DC0A7ECB09B4}"/>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86024" name="Rectangle 8">
            <a:extLst>
              <a:ext uri="{FF2B5EF4-FFF2-40B4-BE49-F238E27FC236}">
                <a16:creationId xmlns:a16="http://schemas.microsoft.com/office/drawing/2014/main" id="{1C7AA153-0627-B9ED-D64F-AD5BAEE64689}"/>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fld id="{215006C2-4D53-FB4F-AEF5-75A51C0CBBCA}" type="slidenum">
              <a:rPr lang="zh-CN" altLang="zh-CN" sz="1698">
                <a:solidFill>
                  <a:srgbClr val="777777"/>
                </a:solidFill>
                <a:latin typeface="Tahoma" panose="020B0604030504040204" pitchFamily="34" charset="0"/>
                <a:ea typeface="宋体" panose="02010600030101010101" pitchFamily="2" charset="-122"/>
              </a:rPr>
              <a:pPr algn="r"/>
              <a:t>37</a:t>
            </a:fld>
            <a:endParaRPr lang="en-US" altLang="zh-CN" sz="1698">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90353662"/>
      </p:ext>
    </p:extLst>
  </p:cSld>
  <p:clrMapOvr>
    <a:masterClrMapping/>
  </p:clrMapOvr>
  <p:transition spd="med">
    <p:diamon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4">
            <a:extLst>
              <a:ext uri="{FF2B5EF4-FFF2-40B4-BE49-F238E27FC236}">
                <a16:creationId xmlns:a16="http://schemas.microsoft.com/office/drawing/2014/main" id="{B57E1016-4404-129E-86DB-7E86700C0DC4}"/>
              </a:ext>
            </a:extLst>
          </p:cNvPr>
          <p:cNvSpPr>
            <a:spLocks noGrp="1" noChangeArrowheads="1"/>
          </p:cNvSpPr>
          <p:nvPr>
            <p:ph type="title"/>
          </p:nvPr>
        </p:nvSpPr>
        <p:spPr>
          <a:xfrm>
            <a:off x="2115031" y="355250"/>
            <a:ext cx="8201433" cy="953212"/>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181202" tIns="0" rIns="181202" bIns="0" numCol="1" anchor="t" anchorCtr="0" compatLnSpc="1">
            <a:prstTxWarp prst="textNoShape">
              <a:avLst/>
            </a:prstTxWarp>
          </a:bodyPr>
          <a:lstStyle/>
          <a:p>
            <a:pPr algn="l"/>
            <a:r>
              <a:rPr lang="zh-CN"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2798"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3196" dirty="0">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87044" name="Group 4">
            <a:extLst>
              <a:ext uri="{FF2B5EF4-FFF2-40B4-BE49-F238E27FC236}">
                <a16:creationId xmlns:a16="http://schemas.microsoft.com/office/drawing/2014/main" id="{164BB27B-E3D7-D9B9-F6AE-34C3F6EF40F6}"/>
              </a:ext>
            </a:extLst>
          </p:cNvPr>
          <p:cNvGrpSpPr>
            <a:grpSpLocks/>
          </p:cNvGrpSpPr>
          <p:nvPr/>
        </p:nvGrpSpPr>
        <p:grpSpPr bwMode="auto">
          <a:xfrm>
            <a:off x="2121374" y="293394"/>
            <a:ext cx="8203018" cy="1048375"/>
            <a:chOff x="0" y="0"/>
            <a:chExt cx="5000" cy="661"/>
          </a:xfrm>
        </p:grpSpPr>
        <p:sp>
          <p:nvSpPr>
            <p:cNvPr id="87045" name="Line 9">
              <a:extLst>
                <a:ext uri="{FF2B5EF4-FFF2-40B4-BE49-F238E27FC236}">
                  <a16:creationId xmlns:a16="http://schemas.microsoft.com/office/drawing/2014/main" id="{D84FAFA8-B4BB-35AD-B7BC-5C825B14B0C2}"/>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46" name="Line 10">
              <a:extLst>
                <a:ext uri="{FF2B5EF4-FFF2-40B4-BE49-F238E27FC236}">
                  <a16:creationId xmlns:a16="http://schemas.microsoft.com/office/drawing/2014/main" id="{7A4FEBDE-6A1A-1019-CC27-7DB777599B6E}"/>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87047" name="Rectangle 7">
            <a:extLst>
              <a:ext uri="{FF2B5EF4-FFF2-40B4-BE49-F238E27FC236}">
                <a16:creationId xmlns:a16="http://schemas.microsoft.com/office/drawing/2014/main" id="{7E3C5187-071B-3894-8DE7-8B50BAE38483}"/>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fld id="{4781D3FC-83CD-6544-94CF-D6572D7137FB}" type="slidenum">
              <a:rPr lang="zh-CN" altLang="zh-CN" sz="1698">
                <a:solidFill>
                  <a:srgbClr val="777777"/>
                </a:solidFill>
                <a:latin typeface="Tahoma" panose="020B0604030504040204" pitchFamily="34" charset="0"/>
                <a:ea typeface="宋体" panose="02010600030101010101" pitchFamily="2" charset="-122"/>
              </a:rPr>
              <a:pPr algn="r"/>
              <a:t>38</a:t>
            </a:fld>
            <a:endParaRPr lang="zh-CN" altLang="zh-CN" sz="1698">
              <a:solidFill>
                <a:srgbClr val="777777"/>
              </a:solidFill>
              <a:latin typeface="Tahoma" panose="020B0604030504040204" pitchFamily="34" charset="0"/>
              <a:ea typeface="宋体" panose="02010600030101010101" pitchFamily="2" charset="-122"/>
            </a:endParaRPr>
          </a:p>
        </p:txBody>
      </p:sp>
      <p:grpSp>
        <p:nvGrpSpPr>
          <p:cNvPr id="87048" name="Group 8">
            <a:extLst>
              <a:ext uri="{FF2B5EF4-FFF2-40B4-BE49-F238E27FC236}">
                <a16:creationId xmlns:a16="http://schemas.microsoft.com/office/drawing/2014/main" id="{56B77E0B-A9A3-8538-05B4-72F6331AD6F7}"/>
              </a:ext>
            </a:extLst>
          </p:cNvPr>
          <p:cNvGrpSpPr>
            <a:grpSpLocks/>
          </p:cNvGrpSpPr>
          <p:nvPr/>
        </p:nvGrpSpPr>
        <p:grpSpPr bwMode="auto">
          <a:xfrm>
            <a:off x="7680459" y="1674836"/>
            <a:ext cx="1176845" cy="4307695"/>
            <a:chOff x="0" y="0"/>
            <a:chExt cx="742" cy="2716"/>
          </a:xfrm>
        </p:grpSpPr>
        <p:sp>
          <p:nvSpPr>
            <p:cNvPr id="87049" name="Line 8">
              <a:extLst>
                <a:ext uri="{FF2B5EF4-FFF2-40B4-BE49-F238E27FC236}">
                  <a16:creationId xmlns:a16="http://schemas.microsoft.com/office/drawing/2014/main" id="{8ABAC535-2203-4FFB-921B-8262BAA05423}"/>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50" name="Text Box 9">
              <a:extLst>
                <a:ext uri="{FF2B5EF4-FFF2-40B4-BE49-F238E27FC236}">
                  <a16:creationId xmlns:a16="http://schemas.microsoft.com/office/drawing/2014/main" id="{EB1F83D8-D7ED-30D9-21F4-1FB8D4D8E406}"/>
                </a:ext>
              </a:extLst>
            </p:cNvPr>
            <p:cNvSpPr txBox="1">
              <a:spLocks noChangeArrowheads="1"/>
            </p:cNvSpPr>
            <p:nvPr/>
          </p:nvSpPr>
          <p:spPr bwMode="auto">
            <a:xfrm>
              <a:off x="0" y="0"/>
              <a:ext cx="7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LRAS</a:t>
              </a:r>
              <a:endParaRPr lang="en-US" altLang="zh-CN" sz="2398" i="1" baseline="-25000">
                <a:ea typeface="宋体" panose="02010600030101010101" pitchFamily="2" charset="-122"/>
              </a:endParaRPr>
            </a:p>
          </p:txBody>
        </p:sp>
        <p:sp>
          <p:nvSpPr>
            <p:cNvPr id="87051" name="Rectangle 10">
              <a:extLst>
                <a:ext uri="{FF2B5EF4-FFF2-40B4-BE49-F238E27FC236}">
                  <a16:creationId xmlns:a16="http://schemas.microsoft.com/office/drawing/2014/main" id="{8A816486-2341-6C93-0FEB-66F4C87DF59A}"/>
                </a:ext>
              </a:extLst>
            </p:cNvPr>
            <p:cNvSpPr>
              <a:spLocks noChangeArrowheads="1"/>
            </p:cNvSpPr>
            <p:nvPr/>
          </p:nvSpPr>
          <p:spPr bwMode="auto">
            <a:xfrm>
              <a:off x="221" y="2425"/>
              <a:ext cx="33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grpSp>
        <p:nvGrpSpPr>
          <p:cNvPr id="87052" name="Group 12">
            <a:extLst>
              <a:ext uri="{FF2B5EF4-FFF2-40B4-BE49-F238E27FC236}">
                <a16:creationId xmlns:a16="http://schemas.microsoft.com/office/drawing/2014/main" id="{40C60C29-B0D9-4FEB-6015-0B1088BF6FA3}"/>
              </a:ext>
            </a:extLst>
          </p:cNvPr>
          <p:cNvGrpSpPr>
            <a:grpSpLocks/>
          </p:cNvGrpSpPr>
          <p:nvPr/>
        </p:nvGrpSpPr>
        <p:grpSpPr bwMode="auto">
          <a:xfrm>
            <a:off x="6516303" y="1619324"/>
            <a:ext cx="3990485" cy="4108181"/>
            <a:chOff x="0" y="0"/>
            <a:chExt cx="2786" cy="2423"/>
          </a:xfrm>
        </p:grpSpPr>
        <p:grpSp>
          <p:nvGrpSpPr>
            <p:cNvPr id="87053" name="Group 13">
              <a:extLst>
                <a:ext uri="{FF2B5EF4-FFF2-40B4-BE49-F238E27FC236}">
                  <a16:creationId xmlns:a16="http://schemas.microsoft.com/office/drawing/2014/main" id="{A2F78608-A264-0461-1EE6-C3FF20DF3278}"/>
                </a:ext>
              </a:extLst>
            </p:cNvPr>
            <p:cNvGrpSpPr>
              <a:grpSpLocks/>
            </p:cNvGrpSpPr>
            <p:nvPr/>
          </p:nvGrpSpPr>
          <p:grpSpPr bwMode="auto">
            <a:xfrm>
              <a:off x="118" y="252"/>
              <a:ext cx="2409" cy="2049"/>
              <a:chOff x="0" y="0"/>
              <a:chExt cx="2116" cy="2027"/>
            </a:xfrm>
          </p:grpSpPr>
          <p:sp>
            <p:nvSpPr>
              <p:cNvPr id="87054" name="Line 13">
                <a:extLst>
                  <a:ext uri="{FF2B5EF4-FFF2-40B4-BE49-F238E27FC236}">
                    <a16:creationId xmlns:a16="http://schemas.microsoft.com/office/drawing/2014/main" id="{94922791-167B-E039-24BF-6DFA15A3755C}"/>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55" name="Line 14">
                <a:extLst>
                  <a:ext uri="{FF2B5EF4-FFF2-40B4-BE49-F238E27FC236}">
                    <a16:creationId xmlns:a16="http://schemas.microsoft.com/office/drawing/2014/main" id="{455BEE5C-4A21-6120-4AC5-7901A9D039DE}"/>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87056" name="Text Box 15">
              <a:extLst>
                <a:ext uri="{FF2B5EF4-FFF2-40B4-BE49-F238E27FC236}">
                  <a16:creationId xmlns:a16="http://schemas.microsoft.com/office/drawing/2014/main" id="{C6A4578A-34C4-9717-2328-7A54C3261CC5}"/>
                </a:ext>
              </a:extLst>
            </p:cNvPr>
            <p:cNvSpPr txBox="1">
              <a:spLocks noChangeArrowheads="1"/>
            </p:cNvSpPr>
            <p:nvPr/>
          </p:nvSpPr>
          <p:spPr bwMode="auto">
            <a:xfrm>
              <a:off x="0" y="0"/>
              <a:ext cx="2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p>
          </p:txBody>
        </p:sp>
        <p:sp>
          <p:nvSpPr>
            <p:cNvPr id="87057" name="Text Box 16">
              <a:extLst>
                <a:ext uri="{FF2B5EF4-FFF2-40B4-BE49-F238E27FC236}">
                  <a16:creationId xmlns:a16="http://schemas.microsoft.com/office/drawing/2014/main" id="{431C7345-D7E5-204A-7A3D-C3552345EB62}"/>
                </a:ext>
              </a:extLst>
            </p:cNvPr>
            <p:cNvSpPr txBox="1">
              <a:spLocks noChangeArrowheads="1"/>
            </p:cNvSpPr>
            <p:nvPr/>
          </p:nvSpPr>
          <p:spPr bwMode="auto">
            <a:xfrm>
              <a:off x="2496" y="2151"/>
              <a:ext cx="2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p>
          </p:txBody>
        </p:sp>
      </p:grpSp>
      <p:grpSp>
        <p:nvGrpSpPr>
          <p:cNvPr id="87058" name="Group 18">
            <a:extLst>
              <a:ext uri="{FF2B5EF4-FFF2-40B4-BE49-F238E27FC236}">
                <a16:creationId xmlns:a16="http://schemas.microsoft.com/office/drawing/2014/main" id="{70150B02-7F6F-ADB9-7369-8C80349FC5F1}"/>
              </a:ext>
            </a:extLst>
          </p:cNvPr>
          <p:cNvGrpSpPr>
            <a:grpSpLocks/>
          </p:cNvGrpSpPr>
          <p:nvPr/>
        </p:nvGrpSpPr>
        <p:grpSpPr bwMode="auto">
          <a:xfrm>
            <a:off x="7212576" y="2123688"/>
            <a:ext cx="3187948" cy="2612213"/>
            <a:chOff x="0" y="0"/>
            <a:chExt cx="2010" cy="1647"/>
          </a:xfrm>
        </p:grpSpPr>
        <p:sp>
          <p:nvSpPr>
            <p:cNvPr id="87059" name="Line 18">
              <a:extLst>
                <a:ext uri="{FF2B5EF4-FFF2-40B4-BE49-F238E27FC236}">
                  <a16:creationId xmlns:a16="http://schemas.microsoft.com/office/drawing/2014/main" id="{449F31B5-954B-1B99-F0E4-D5B723B1475E}"/>
                </a:ext>
              </a:extLst>
            </p:cNvPr>
            <p:cNvSpPr>
              <a:spLocks noChangeShapeType="1"/>
            </p:cNvSpPr>
            <p:nvPr/>
          </p:nvSpPr>
          <p:spPr bwMode="auto">
            <a:xfrm>
              <a:off x="0" y="0"/>
              <a:ext cx="1460" cy="143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60" name="Text Box 19">
              <a:extLst>
                <a:ext uri="{FF2B5EF4-FFF2-40B4-BE49-F238E27FC236}">
                  <a16:creationId xmlns:a16="http://schemas.microsoft.com/office/drawing/2014/main" id="{4418CFFC-C951-828D-B7A4-0B82D7559CC1}"/>
                </a:ext>
              </a:extLst>
            </p:cNvPr>
            <p:cNvSpPr txBox="1">
              <a:spLocks noChangeArrowheads="1"/>
            </p:cNvSpPr>
            <p:nvPr/>
          </p:nvSpPr>
          <p:spPr bwMode="auto">
            <a:xfrm>
              <a:off x="1388" y="1356"/>
              <a:ext cx="62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AD</a:t>
              </a:r>
              <a:r>
                <a:rPr lang="en-US" altLang="zh-CN" sz="2398" baseline="-25000" dirty="0">
                  <a:ea typeface="宋体" panose="02010600030101010101" pitchFamily="2" charset="-122"/>
                </a:rPr>
                <a:t>2</a:t>
              </a:r>
            </a:p>
          </p:txBody>
        </p:sp>
      </p:grpSp>
      <p:grpSp>
        <p:nvGrpSpPr>
          <p:cNvPr id="87061" name="Group 21">
            <a:extLst>
              <a:ext uri="{FF2B5EF4-FFF2-40B4-BE49-F238E27FC236}">
                <a16:creationId xmlns:a16="http://schemas.microsoft.com/office/drawing/2014/main" id="{D1A5A192-3E45-61AD-BD58-C2D0DCB64FBA}"/>
              </a:ext>
            </a:extLst>
          </p:cNvPr>
          <p:cNvGrpSpPr>
            <a:grpSpLocks/>
          </p:cNvGrpSpPr>
          <p:nvPr/>
        </p:nvGrpSpPr>
        <p:grpSpPr bwMode="auto">
          <a:xfrm>
            <a:off x="6849374" y="1881021"/>
            <a:ext cx="3568599" cy="2594766"/>
            <a:chOff x="0" y="0"/>
            <a:chExt cx="2250" cy="1636"/>
          </a:xfrm>
        </p:grpSpPr>
        <p:sp>
          <p:nvSpPr>
            <p:cNvPr id="87062" name="Line 21">
              <a:extLst>
                <a:ext uri="{FF2B5EF4-FFF2-40B4-BE49-F238E27FC236}">
                  <a16:creationId xmlns:a16="http://schemas.microsoft.com/office/drawing/2014/main" id="{9665A9C3-5C0F-DB0E-ACB9-F074BEB960E8}"/>
                </a:ext>
              </a:extLst>
            </p:cNvPr>
            <p:cNvSpPr>
              <a:spLocks noChangeShapeType="1"/>
            </p:cNvSpPr>
            <p:nvPr/>
          </p:nvSpPr>
          <p:spPr bwMode="auto">
            <a:xfrm flipV="1">
              <a:off x="0" y="252"/>
              <a:ext cx="1497" cy="1384"/>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63" name="Text Box 22">
              <a:extLst>
                <a:ext uri="{FF2B5EF4-FFF2-40B4-BE49-F238E27FC236}">
                  <a16:creationId xmlns:a16="http://schemas.microsoft.com/office/drawing/2014/main" id="{E769B4DF-65D5-700D-71B8-8BFF480BE067}"/>
                </a:ext>
              </a:extLst>
            </p:cNvPr>
            <p:cNvSpPr txBox="1">
              <a:spLocks noChangeArrowheads="1"/>
            </p:cNvSpPr>
            <p:nvPr/>
          </p:nvSpPr>
          <p:spPr bwMode="auto">
            <a:xfrm>
              <a:off x="1394" y="0"/>
              <a:ext cx="8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2</a:t>
              </a:r>
            </a:p>
          </p:txBody>
        </p:sp>
      </p:grpSp>
      <p:grpSp>
        <p:nvGrpSpPr>
          <p:cNvPr id="87064" name="Group 24">
            <a:extLst>
              <a:ext uri="{FF2B5EF4-FFF2-40B4-BE49-F238E27FC236}">
                <a16:creationId xmlns:a16="http://schemas.microsoft.com/office/drawing/2014/main" id="{2A796FBD-ABD9-2B89-6C09-F3D62D30B803}"/>
              </a:ext>
            </a:extLst>
          </p:cNvPr>
          <p:cNvGrpSpPr>
            <a:grpSpLocks/>
          </p:cNvGrpSpPr>
          <p:nvPr/>
        </p:nvGrpSpPr>
        <p:grpSpPr bwMode="auto">
          <a:xfrm>
            <a:off x="6976256" y="3167304"/>
            <a:ext cx="2816814" cy="2218876"/>
            <a:chOff x="0" y="0"/>
            <a:chExt cx="1776" cy="1399"/>
          </a:xfrm>
        </p:grpSpPr>
        <p:sp>
          <p:nvSpPr>
            <p:cNvPr id="87065" name="Text Box 24">
              <a:extLst>
                <a:ext uri="{FF2B5EF4-FFF2-40B4-BE49-F238E27FC236}">
                  <a16:creationId xmlns:a16="http://schemas.microsoft.com/office/drawing/2014/main" id="{91D2B9BB-142D-5388-445D-43FA843DA068}"/>
                </a:ext>
              </a:extLst>
            </p:cNvPr>
            <p:cNvSpPr txBox="1">
              <a:spLocks noChangeArrowheads="1"/>
            </p:cNvSpPr>
            <p:nvPr/>
          </p:nvSpPr>
          <p:spPr bwMode="auto">
            <a:xfrm>
              <a:off x="1185" y="1108"/>
              <a:ext cx="5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AD</a:t>
              </a:r>
              <a:r>
                <a:rPr lang="en-US" altLang="zh-CN" sz="2398" baseline="-25000" dirty="0">
                  <a:ea typeface="宋体" panose="02010600030101010101" pitchFamily="2" charset="-122"/>
                </a:rPr>
                <a:t>1</a:t>
              </a:r>
            </a:p>
          </p:txBody>
        </p:sp>
        <p:sp>
          <p:nvSpPr>
            <p:cNvPr id="87066" name="Line 25">
              <a:extLst>
                <a:ext uri="{FF2B5EF4-FFF2-40B4-BE49-F238E27FC236}">
                  <a16:creationId xmlns:a16="http://schemas.microsoft.com/office/drawing/2014/main" id="{B520973B-D535-4DD8-0E9B-02C95D0DECC4}"/>
                </a:ext>
              </a:extLst>
            </p:cNvPr>
            <p:cNvSpPr>
              <a:spLocks noChangeShapeType="1"/>
            </p:cNvSpPr>
            <p:nvPr/>
          </p:nvSpPr>
          <p:spPr bwMode="auto">
            <a:xfrm>
              <a:off x="0" y="0"/>
              <a:ext cx="1235" cy="121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grpSp>
        <p:nvGrpSpPr>
          <p:cNvPr id="87067" name="Group 27">
            <a:extLst>
              <a:ext uri="{FF2B5EF4-FFF2-40B4-BE49-F238E27FC236}">
                <a16:creationId xmlns:a16="http://schemas.microsoft.com/office/drawing/2014/main" id="{9558BDBB-B1A3-8D60-6CE7-8F778D01DD29}"/>
              </a:ext>
            </a:extLst>
          </p:cNvPr>
          <p:cNvGrpSpPr>
            <a:grpSpLocks/>
          </p:cNvGrpSpPr>
          <p:nvPr/>
        </p:nvGrpSpPr>
        <p:grpSpPr bwMode="auto">
          <a:xfrm>
            <a:off x="7713766" y="2943672"/>
            <a:ext cx="2943696" cy="2011103"/>
            <a:chOff x="0" y="0"/>
            <a:chExt cx="1856" cy="1268"/>
          </a:xfrm>
        </p:grpSpPr>
        <p:sp>
          <p:nvSpPr>
            <p:cNvPr id="87068" name="Line 27">
              <a:extLst>
                <a:ext uri="{FF2B5EF4-FFF2-40B4-BE49-F238E27FC236}">
                  <a16:creationId xmlns:a16="http://schemas.microsoft.com/office/drawing/2014/main" id="{5EF7A96E-FE7B-86BC-2377-DDA52382A049}"/>
                </a:ext>
              </a:extLst>
            </p:cNvPr>
            <p:cNvSpPr>
              <a:spLocks noChangeShapeType="1"/>
            </p:cNvSpPr>
            <p:nvPr/>
          </p:nvSpPr>
          <p:spPr bwMode="auto">
            <a:xfrm flipV="1">
              <a:off x="0" y="246"/>
              <a:ext cx="1092" cy="102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69" name="Text Box 28">
              <a:extLst>
                <a:ext uri="{FF2B5EF4-FFF2-40B4-BE49-F238E27FC236}">
                  <a16:creationId xmlns:a16="http://schemas.microsoft.com/office/drawing/2014/main" id="{1DC827EB-2396-3F0E-A806-BBE5BE569C3C}"/>
                </a:ext>
              </a:extLst>
            </p:cNvPr>
            <p:cNvSpPr txBox="1">
              <a:spLocks noChangeArrowheads="1"/>
            </p:cNvSpPr>
            <p:nvPr/>
          </p:nvSpPr>
          <p:spPr bwMode="auto">
            <a:xfrm>
              <a:off x="1000" y="0"/>
              <a:ext cx="8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1</a:t>
              </a:r>
            </a:p>
          </p:txBody>
        </p:sp>
      </p:grpSp>
      <p:grpSp>
        <p:nvGrpSpPr>
          <p:cNvPr id="87070" name="Group 30">
            <a:extLst>
              <a:ext uri="{FF2B5EF4-FFF2-40B4-BE49-F238E27FC236}">
                <a16:creationId xmlns:a16="http://schemas.microsoft.com/office/drawing/2014/main" id="{E56C52B8-1B80-B6B4-7959-C9201144BD1C}"/>
              </a:ext>
            </a:extLst>
          </p:cNvPr>
          <p:cNvGrpSpPr>
            <a:grpSpLocks/>
          </p:cNvGrpSpPr>
          <p:nvPr/>
        </p:nvGrpSpPr>
        <p:grpSpPr bwMode="auto">
          <a:xfrm>
            <a:off x="6195924" y="4250572"/>
            <a:ext cx="2137986" cy="369546"/>
            <a:chOff x="0" y="0"/>
            <a:chExt cx="1348" cy="233"/>
          </a:xfrm>
        </p:grpSpPr>
        <p:sp>
          <p:nvSpPr>
            <p:cNvPr id="87071" name="Oval 32">
              <a:extLst>
                <a:ext uri="{FF2B5EF4-FFF2-40B4-BE49-F238E27FC236}">
                  <a16:creationId xmlns:a16="http://schemas.microsoft.com/office/drawing/2014/main" id="{DBEB0E36-48CA-3202-8DB6-5D3868A2C8D1}"/>
                </a:ext>
              </a:extLst>
            </p:cNvPr>
            <p:cNvSpPr>
              <a:spLocks noChangeArrowheads="1"/>
            </p:cNvSpPr>
            <p:nvPr/>
          </p:nvSpPr>
          <p:spPr bwMode="auto">
            <a:xfrm>
              <a:off x="1260" y="7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87072" name="Line 38">
              <a:extLst>
                <a:ext uri="{FF2B5EF4-FFF2-40B4-BE49-F238E27FC236}">
                  <a16:creationId xmlns:a16="http://schemas.microsoft.com/office/drawing/2014/main" id="{6F99E9B8-5151-763F-9684-59706355E6A5}"/>
                </a:ext>
              </a:extLst>
            </p:cNvPr>
            <p:cNvSpPr>
              <a:spLocks noChangeShapeType="1"/>
            </p:cNvSpPr>
            <p:nvPr/>
          </p:nvSpPr>
          <p:spPr bwMode="auto">
            <a:xfrm>
              <a:off x="312" y="119"/>
              <a:ext cx="9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73" name="Text Box 39">
              <a:extLst>
                <a:ext uri="{FF2B5EF4-FFF2-40B4-BE49-F238E27FC236}">
                  <a16:creationId xmlns:a16="http://schemas.microsoft.com/office/drawing/2014/main" id="{7221FCD3-2DE8-0DF9-F216-D341C6ABE959}"/>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1</a:t>
              </a:r>
            </a:p>
          </p:txBody>
        </p:sp>
      </p:grpSp>
      <p:grpSp>
        <p:nvGrpSpPr>
          <p:cNvPr id="87074" name="Group 34">
            <a:extLst>
              <a:ext uri="{FF2B5EF4-FFF2-40B4-BE49-F238E27FC236}">
                <a16:creationId xmlns:a16="http://schemas.microsoft.com/office/drawing/2014/main" id="{9DF21A32-7BEF-BDC5-7208-862AB4D9ADA2}"/>
              </a:ext>
            </a:extLst>
          </p:cNvPr>
          <p:cNvGrpSpPr>
            <a:grpSpLocks/>
          </p:cNvGrpSpPr>
          <p:nvPr/>
        </p:nvGrpSpPr>
        <p:grpSpPr bwMode="auto">
          <a:xfrm>
            <a:off x="6192750" y="2981736"/>
            <a:ext cx="2486917" cy="377479"/>
            <a:chOff x="0" y="0"/>
            <a:chExt cx="1568" cy="238"/>
          </a:xfrm>
        </p:grpSpPr>
        <p:grpSp>
          <p:nvGrpSpPr>
            <p:cNvPr id="87075" name="Group 35">
              <a:extLst>
                <a:ext uri="{FF2B5EF4-FFF2-40B4-BE49-F238E27FC236}">
                  <a16:creationId xmlns:a16="http://schemas.microsoft.com/office/drawing/2014/main" id="{EA12102C-DE45-7E8B-D369-6DD410D01EC7}"/>
                </a:ext>
              </a:extLst>
            </p:cNvPr>
            <p:cNvGrpSpPr>
              <a:grpSpLocks/>
            </p:cNvGrpSpPr>
            <p:nvPr/>
          </p:nvGrpSpPr>
          <p:grpSpPr bwMode="auto">
            <a:xfrm>
              <a:off x="0" y="5"/>
              <a:ext cx="1350" cy="233"/>
              <a:chOff x="0" y="0"/>
              <a:chExt cx="1350" cy="233"/>
            </a:xfrm>
          </p:grpSpPr>
          <p:sp>
            <p:nvSpPr>
              <p:cNvPr id="87076" name="Line 29">
                <a:extLst>
                  <a:ext uri="{FF2B5EF4-FFF2-40B4-BE49-F238E27FC236}">
                    <a16:creationId xmlns:a16="http://schemas.microsoft.com/office/drawing/2014/main" id="{20527C81-62BB-581B-6217-4F379F961C70}"/>
                  </a:ext>
                </a:extLst>
              </p:cNvPr>
              <p:cNvSpPr>
                <a:spLocks noChangeShapeType="1"/>
              </p:cNvSpPr>
              <p:nvPr/>
            </p:nvSpPr>
            <p:spPr bwMode="auto">
              <a:xfrm>
                <a:off x="316" y="113"/>
                <a:ext cx="995" cy="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77" name="Text Box 30">
                <a:extLst>
                  <a:ext uri="{FF2B5EF4-FFF2-40B4-BE49-F238E27FC236}">
                    <a16:creationId xmlns:a16="http://schemas.microsoft.com/office/drawing/2014/main" id="{C292778C-20AD-2195-2B15-B346EFFBF4F1}"/>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3</a:t>
                </a:r>
              </a:p>
            </p:txBody>
          </p:sp>
          <p:sp>
            <p:nvSpPr>
              <p:cNvPr id="87078" name="Oval 31">
                <a:extLst>
                  <a:ext uri="{FF2B5EF4-FFF2-40B4-BE49-F238E27FC236}">
                    <a16:creationId xmlns:a16="http://schemas.microsoft.com/office/drawing/2014/main" id="{A59E17CE-CD3A-5A56-B642-C36D4A1BE3A6}"/>
                  </a:ext>
                </a:extLst>
              </p:cNvPr>
              <p:cNvSpPr>
                <a:spLocks noChangeArrowheads="1"/>
              </p:cNvSpPr>
              <p:nvPr/>
            </p:nvSpPr>
            <p:spPr bwMode="auto">
              <a:xfrm>
                <a:off x="1262" y="69"/>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87079" name="Text Box 41">
              <a:extLst>
                <a:ext uri="{FF2B5EF4-FFF2-40B4-BE49-F238E27FC236}">
                  <a16:creationId xmlns:a16="http://schemas.microsoft.com/office/drawing/2014/main" id="{5E541D5A-EECE-2C73-4C71-ECB5DEDE3E05}"/>
                </a:ext>
              </a:extLst>
            </p:cNvPr>
            <p:cNvSpPr txBox="1">
              <a:spLocks noChangeArrowheads="1"/>
            </p:cNvSpPr>
            <p:nvPr/>
          </p:nvSpPr>
          <p:spPr bwMode="auto">
            <a:xfrm>
              <a:off x="1367"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C</a:t>
              </a:r>
              <a:endParaRPr lang="en-US" altLang="zh-CN" sz="2398" baseline="-25000">
                <a:ea typeface="宋体" panose="02010600030101010101" pitchFamily="2" charset="-122"/>
              </a:endParaRPr>
            </a:p>
          </p:txBody>
        </p:sp>
      </p:grpSp>
      <p:grpSp>
        <p:nvGrpSpPr>
          <p:cNvPr id="87080" name="Group 40">
            <a:extLst>
              <a:ext uri="{FF2B5EF4-FFF2-40B4-BE49-F238E27FC236}">
                <a16:creationId xmlns:a16="http://schemas.microsoft.com/office/drawing/2014/main" id="{025C9C49-8D76-95E0-F193-2BF71116CD78}"/>
              </a:ext>
            </a:extLst>
          </p:cNvPr>
          <p:cNvGrpSpPr>
            <a:grpSpLocks/>
          </p:cNvGrpSpPr>
          <p:nvPr/>
        </p:nvGrpSpPr>
        <p:grpSpPr bwMode="auto">
          <a:xfrm>
            <a:off x="6199093" y="3630430"/>
            <a:ext cx="3165744" cy="2315623"/>
            <a:chOff x="0" y="0"/>
            <a:chExt cx="1996" cy="1460"/>
          </a:xfrm>
        </p:grpSpPr>
        <p:grpSp>
          <p:nvGrpSpPr>
            <p:cNvPr id="87081" name="Group 41">
              <a:extLst>
                <a:ext uri="{FF2B5EF4-FFF2-40B4-BE49-F238E27FC236}">
                  <a16:creationId xmlns:a16="http://schemas.microsoft.com/office/drawing/2014/main" id="{953889D1-1404-FD34-01E1-6309F2CD0688}"/>
                </a:ext>
              </a:extLst>
            </p:cNvPr>
            <p:cNvGrpSpPr>
              <a:grpSpLocks/>
            </p:cNvGrpSpPr>
            <p:nvPr/>
          </p:nvGrpSpPr>
          <p:grpSpPr bwMode="auto">
            <a:xfrm>
              <a:off x="0" y="1"/>
              <a:ext cx="1904" cy="1459"/>
              <a:chOff x="0" y="0"/>
              <a:chExt cx="1904" cy="1459"/>
            </a:xfrm>
          </p:grpSpPr>
          <p:sp>
            <p:nvSpPr>
              <p:cNvPr id="87082" name="Oval 33">
                <a:extLst>
                  <a:ext uri="{FF2B5EF4-FFF2-40B4-BE49-F238E27FC236}">
                    <a16:creationId xmlns:a16="http://schemas.microsoft.com/office/drawing/2014/main" id="{4838EEAE-586C-5D6C-C5B7-043F41694292}"/>
                  </a:ext>
                </a:extLst>
              </p:cNvPr>
              <p:cNvSpPr>
                <a:spLocks noChangeArrowheads="1"/>
              </p:cNvSpPr>
              <p:nvPr/>
            </p:nvSpPr>
            <p:spPr bwMode="auto">
              <a:xfrm>
                <a:off x="1681"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nvGrpSpPr>
              <p:cNvPr id="87083" name="Group 43">
                <a:extLst>
                  <a:ext uri="{FF2B5EF4-FFF2-40B4-BE49-F238E27FC236}">
                    <a16:creationId xmlns:a16="http://schemas.microsoft.com/office/drawing/2014/main" id="{CB9986C8-C90C-3D23-4F76-3ABD32EED1BE}"/>
                  </a:ext>
                </a:extLst>
              </p:cNvPr>
              <p:cNvGrpSpPr>
                <a:grpSpLocks/>
              </p:cNvGrpSpPr>
              <p:nvPr/>
            </p:nvGrpSpPr>
            <p:grpSpPr bwMode="auto">
              <a:xfrm>
                <a:off x="308" y="116"/>
                <a:ext cx="1416" cy="1072"/>
                <a:chOff x="0" y="0"/>
                <a:chExt cx="795" cy="646"/>
              </a:xfrm>
            </p:grpSpPr>
            <p:sp>
              <p:nvSpPr>
                <p:cNvPr id="87084" name="Line 35">
                  <a:extLst>
                    <a:ext uri="{FF2B5EF4-FFF2-40B4-BE49-F238E27FC236}">
                      <a16:creationId xmlns:a16="http://schemas.microsoft.com/office/drawing/2014/main" id="{D57F954C-F33A-4942-C762-8FD48E484421}"/>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7085" name="Line 36">
                  <a:extLst>
                    <a:ext uri="{FF2B5EF4-FFF2-40B4-BE49-F238E27FC236}">
                      <a16:creationId xmlns:a16="http://schemas.microsoft.com/office/drawing/2014/main" id="{C58DCFAA-EAF7-E189-F2E1-F173538D6DE0}"/>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87086" name="Text Box 37">
                <a:extLst>
                  <a:ext uri="{FF2B5EF4-FFF2-40B4-BE49-F238E27FC236}">
                    <a16:creationId xmlns:a16="http://schemas.microsoft.com/office/drawing/2014/main" id="{A4E6B0D8-C027-DD4C-B954-90AD274B87C8}"/>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2</a:t>
                </a:r>
              </a:p>
            </p:txBody>
          </p:sp>
          <p:sp>
            <p:nvSpPr>
              <p:cNvPr id="87087" name="Text Box 40">
                <a:extLst>
                  <a:ext uri="{FF2B5EF4-FFF2-40B4-BE49-F238E27FC236}">
                    <a16:creationId xmlns:a16="http://schemas.microsoft.com/office/drawing/2014/main" id="{B5925CC8-0219-38F0-18D1-108F0C312154}"/>
                  </a:ext>
                </a:extLst>
              </p:cNvPr>
              <p:cNvSpPr txBox="1">
                <a:spLocks noChangeArrowheads="1"/>
              </p:cNvSpPr>
              <p:nvPr/>
            </p:nvSpPr>
            <p:spPr bwMode="auto">
              <a:xfrm>
                <a:off x="1596" y="1226"/>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2</a:t>
                </a:r>
              </a:p>
            </p:txBody>
          </p:sp>
        </p:grpSp>
        <p:sp>
          <p:nvSpPr>
            <p:cNvPr id="87088" name="Text Box 42">
              <a:extLst>
                <a:ext uri="{FF2B5EF4-FFF2-40B4-BE49-F238E27FC236}">
                  <a16:creationId xmlns:a16="http://schemas.microsoft.com/office/drawing/2014/main" id="{99FBEDC1-58AD-A188-263A-8D22A76B7C02}"/>
                </a:ext>
              </a:extLst>
            </p:cNvPr>
            <p:cNvSpPr txBox="1">
              <a:spLocks noChangeArrowheads="1"/>
            </p:cNvSpPr>
            <p:nvPr/>
          </p:nvSpPr>
          <p:spPr bwMode="auto">
            <a:xfrm>
              <a:off x="1795"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B</a:t>
              </a:r>
              <a:endParaRPr lang="en-US" altLang="zh-CN" sz="2398" baseline="-25000">
                <a:ea typeface="宋体" panose="02010600030101010101" pitchFamily="2" charset="-122"/>
              </a:endParaRPr>
            </a:p>
          </p:txBody>
        </p:sp>
      </p:grpSp>
      <p:sp>
        <p:nvSpPr>
          <p:cNvPr id="87089" name="Text Box 43">
            <a:extLst>
              <a:ext uri="{FF2B5EF4-FFF2-40B4-BE49-F238E27FC236}">
                <a16:creationId xmlns:a16="http://schemas.microsoft.com/office/drawing/2014/main" id="{35645098-0677-CEE3-9DDC-E6D265B6E2EE}"/>
              </a:ext>
            </a:extLst>
          </p:cNvPr>
          <p:cNvSpPr txBox="1">
            <a:spLocks noChangeArrowheads="1"/>
          </p:cNvSpPr>
          <p:nvPr/>
        </p:nvSpPr>
        <p:spPr bwMode="auto">
          <a:xfrm>
            <a:off x="8375148" y="4223609"/>
            <a:ext cx="318794" cy="3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A</a:t>
            </a:r>
            <a:endParaRPr lang="en-US" altLang="zh-CN" sz="2398" baseline="-25000">
              <a:ea typeface="宋体" panose="02010600030101010101" pitchFamily="2" charset="-122"/>
            </a:endParaRPr>
          </a:p>
        </p:txBody>
      </p:sp>
      <mc:AlternateContent xmlns:mc="http://schemas.openxmlformats.org/markup-compatibility/2006">
        <mc:Choice xmlns:a14="http://schemas.microsoft.com/office/drawing/2010/main" Requires="a14">
          <p:sp>
            <p:nvSpPr>
              <p:cNvPr id="87090" name="Rectangle 46">
                <a:extLst>
                  <a:ext uri="{FF2B5EF4-FFF2-40B4-BE49-F238E27FC236}">
                    <a16:creationId xmlns:a16="http://schemas.microsoft.com/office/drawing/2014/main" id="{87BBFFA7-204B-CB60-E80A-429852BEA80F}"/>
                  </a:ext>
                </a:extLst>
              </p:cNvPr>
              <p:cNvSpPr>
                <a:spLocks noChangeArrowheads="1"/>
              </p:cNvSpPr>
              <p:nvPr/>
            </p:nvSpPr>
            <p:spPr bwMode="auto">
              <a:xfrm>
                <a:off x="1528195" y="1440103"/>
                <a:ext cx="4670897" cy="5205396"/>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404813" indent="-404813">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marL="0" indent="0">
                  <a:lnSpc>
                    <a:spcPct val="100000"/>
                  </a:lnSpc>
                  <a:spcBef>
                    <a:spcPct val="30000"/>
                  </a:spcBef>
                  <a:buNone/>
                </a:pPr>
                <a:r>
                  <a:rPr lang="zh-CN" altLang="zh-CN" sz="1982" u="sng" dirty="0">
                    <a:latin typeface="Times New Roman" panose="02020603050405020304" pitchFamily="18" charset="0"/>
                    <a:ea typeface="宋体" panose="02010600030101010101" pitchFamily="2" charset="-122"/>
                  </a:rPr>
                  <a:t>事件：</a:t>
                </a:r>
                <a:r>
                  <a:rPr lang="zh-CN" altLang="en-US" sz="1982" u="sng" dirty="0">
                    <a:latin typeface="Times New Roman" panose="02020603050405020304" pitchFamily="18" charset="0"/>
                    <a:ea typeface="宋体" panose="02010600030101010101" pitchFamily="2" charset="-122"/>
                  </a:rPr>
                  <a:t>全球贸易伙伴</a:t>
                </a:r>
                <a:r>
                  <a:rPr lang="zh-CN" altLang="zh-CN" sz="1982" u="sng" dirty="0">
                    <a:latin typeface="Times New Roman" panose="02020603050405020304" pitchFamily="18" charset="0"/>
                    <a:ea typeface="宋体" panose="02010600030101010101" pitchFamily="2" charset="-122"/>
                  </a:rPr>
                  <a:t>经济</a:t>
                </a:r>
                <a:r>
                  <a:rPr lang="zh-CN" altLang="en-US" sz="1982" u="sng" dirty="0">
                    <a:latin typeface="Times New Roman" panose="02020603050405020304" pitchFamily="18" charset="0"/>
                    <a:ea typeface="宋体" panose="02010600030101010101" pitchFamily="2" charset="-122"/>
                  </a:rPr>
                  <a:t>回升，中国出口订单增加</a:t>
                </a:r>
                <a:endParaRPr lang="zh-CN" altLang="zh-CN" sz="1982" u="sng" dirty="0">
                  <a:latin typeface="Times New Roman" panose="02020603050405020304" pitchFamily="18" charset="0"/>
                  <a:ea typeface="宋体" panose="02010600030101010101" pitchFamily="2" charset="-122"/>
                </a:endParaRPr>
              </a:p>
              <a:p>
                <a:pPr marL="0" indent="0">
                  <a:lnSpc>
                    <a:spcPct val="100000"/>
                  </a:lnSpc>
                  <a:spcBef>
                    <a:spcPct val="30000"/>
                  </a:spcBef>
                  <a:buNone/>
                </a:pPr>
                <a:r>
                  <a:rPr lang="zh-CN" altLang="zh-CN" sz="1982" dirty="0">
                    <a:latin typeface="Times New Roman" panose="02020603050405020304" pitchFamily="18" charset="0"/>
                    <a:ea typeface="宋体" panose="02010600030101010101" pitchFamily="2" charset="-122"/>
                  </a:rPr>
                  <a:t>1.</a:t>
                </a:r>
                <a:r>
                  <a:rPr lang="zh-CN" altLang="en-US" sz="1982" dirty="0">
                    <a:latin typeface="Times New Roman" panose="02020603050405020304" pitchFamily="18" charset="0"/>
                    <a:ea typeface="宋体" panose="02010600030101010101" pitchFamily="2" charset="-122"/>
                  </a:rPr>
                  <a:t>影响净出口 </a:t>
                </a:r>
                <a:r>
                  <a:rPr lang="en-US" altLang="zh-CN" sz="1982" dirty="0">
                    <a:latin typeface="Times New Roman" panose="02020603050405020304" pitchFamily="18" charset="0"/>
                    <a:ea typeface="宋体" panose="02010600030101010101" pitchFamily="2" charset="-122"/>
                  </a:rPr>
                  <a:t>(NX)</a:t>
                </a:r>
                <a:r>
                  <a:rPr lang="zh-CN" altLang="en-US" sz="1982" dirty="0">
                    <a:latin typeface="Times New Roman" panose="02020603050405020304" pitchFamily="18" charset="0"/>
                    <a:ea typeface="宋体" panose="02010600030101010101" pitchFamily="2" charset="-122"/>
                  </a:rPr>
                  <a:t>，进而影响 </a:t>
                </a:r>
                <a:r>
                  <a:rPr lang="en-US" altLang="zh-CN" sz="1982" dirty="0">
                    <a:latin typeface="Times New Roman" panose="02020603050405020304" pitchFamily="18" charset="0"/>
                    <a:ea typeface="宋体" panose="02010600030101010101" pitchFamily="2" charset="-122"/>
                  </a:rPr>
                  <a:t>(AD) </a:t>
                </a:r>
                <a:r>
                  <a:rPr lang="zh-CN" altLang="en-US" sz="1982" dirty="0">
                    <a:latin typeface="Times New Roman" panose="02020603050405020304" pitchFamily="18" charset="0"/>
                    <a:ea typeface="宋体" panose="02010600030101010101" pitchFamily="2" charset="-122"/>
                  </a:rPr>
                  <a:t>曲线。</a:t>
                </a:r>
                <a:endParaRPr lang="zh-CN" altLang="zh-CN" sz="1982" dirty="0">
                  <a:latin typeface="Times New Roman" panose="02020603050405020304" pitchFamily="18" charset="0"/>
                  <a:ea typeface="宋体" panose="02010600030101010101" pitchFamily="2" charset="-122"/>
                </a:endParaRPr>
              </a:p>
              <a:p>
                <a:pPr marL="0" indent="0">
                  <a:lnSpc>
                    <a:spcPct val="100000"/>
                  </a:lnSpc>
                  <a:spcBef>
                    <a:spcPct val="30000"/>
                  </a:spcBef>
                  <a:buNone/>
                </a:pPr>
                <a:r>
                  <a:rPr lang="zh-CN" altLang="zh-CN" sz="1982" b="1" dirty="0">
                    <a:solidFill>
                      <a:srgbClr val="339966"/>
                    </a:solidFill>
                    <a:latin typeface="Times New Roman" panose="02020603050405020304" pitchFamily="18" charset="0"/>
                    <a:ea typeface="宋体" panose="02010600030101010101" pitchFamily="2" charset="-122"/>
                  </a:rPr>
                  <a:t>2.</a:t>
                </a:r>
                <a:r>
                  <a:rPr lang="zh-CN" altLang="zh-CN" sz="1982" dirty="0">
                    <a:latin typeface="Times New Roman" panose="02020603050405020304" pitchFamily="18" charset="0"/>
                    <a:ea typeface="宋体" panose="02010600030101010101" pitchFamily="2" charset="-122"/>
                  </a:rPr>
                  <a:t>出口增加使总需求增加，(AD) 曲线从 (</a:t>
                </a:r>
                <a14:m>
                  <m:oMath xmlns:m="http://schemas.openxmlformats.org/officeDocument/2006/math">
                    <m:r>
                      <a:rPr lang="zh-CN" altLang="zh-CN" sz="1982" i="1" dirty="0">
                        <a:latin typeface="Cambria Math" panose="02040503050406030204" pitchFamily="18" charset="0"/>
                        <a:ea typeface="宋体" panose="02010600030101010101" pitchFamily="2" charset="-122"/>
                      </a:rPr>
                      <m:t>𝐴</m:t>
                    </m:r>
                    <m:sSub>
                      <m:sSubPr>
                        <m:ctrlPr>
                          <a:rPr lang="zh-CN" altLang="zh-CN" sz="1982" i="1" dirty="0">
                            <a:latin typeface="Cambria Math" panose="02040503050406030204" pitchFamily="18" charset="0"/>
                            <a:ea typeface="宋体" panose="02010600030101010101" pitchFamily="2" charset="-122"/>
                          </a:rPr>
                        </m:ctrlPr>
                      </m:sSubPr>
                      <m:e>
                        <m:r>
                          <a:rPr lang="zh-CN" altLang="zh-CN" sz="1982" i="1" dirty="0">
                            <a:latin typeface="Cambria Math" panose="02040503050406030204" pitchFamily="18" charset="0"/>
                            <a:ea typeface="宋体" panose="02010600030101010101" pitchFamily="2" charset="-122"/>
                          </a:rPr>
                          <m:t>𝐷</m:t>
                        </m:r>
                      </m:e>
                      <m:sub>
                        <m:r>
                          <a:rPr lang="zh-CN" altLang="zh-CN" sz="1982" i="1" dirty="0">
                            <a:latin typeface="Cambria Math" panose="02040503050406030204" pitchFamily="18" charset="0"/>
                            <a:ea typeface="宋体" panose="02010600030101010101" pitchFamily="2" charset="-122"/>
                          </a:rPr>
                          <m:t>1</m:t>
                        </m:r>
                      </m:sub>
                    </m:sSub>
                  </m:oMath>
                </a14:m>
                <a:r>
                  <a:rPr lang="zh-CN" altLang="zh-CN" sz="1982" dirty="0">
                    <a:latin typeface="Times New Roman" panose="02020603050405020304" pitchFamily="18" charset="0"/>
                    <a:ea typeface="宋体" panose="02010600030101010101" pitchFamily="2" charset="-122"/>
                  </a:rPr>
                  <a:t>) 向右移动到 (</a:t>
                </a:r>
                <a14:m>
                  <m:oMath xmlns:m="http://schemas.openxmlformats.org/officeDocument/2006/math">
                    <m:r>
                      <a:rPr lang="zh-CN" altLang="zh-CN" sz="1982" i="1" dirty="0">
                        <a:latin typeface="Cambria Math" panose="02040503050406030204" pitchFamily="18" charset="0"/>
                        <a:ea typeface="宋体" panose="02010600030101010101" pitchFamily="2" charset="-122"/>
                      </a:rPr>
                      <m:t>𝐴</m:t>
                    </m:r>
                    <m:sSub>
                      <m:sSubPr>
                        <m:ctrlPr>
                          <a:rPr lang="zh-CN" altLang="zh-CN" sz="1982" i="1" dirty="0">
                            <a:latin typeface="Cambria Math" panose="02040503050406030204" pitchFamily="18" charset="0"/>
                            <a:ea typeface="宋体" panose="02010600030101010101" pitchFamily="2" charset="-122"/>
                          </a:rPr>
                        </m:ctrlPr>
                      </m:sSubPr>
                      <m:e>
                        <m:r>
                          <a:rPr lang="zh-CN" altLang="zh-CN" sz="1982" i="1" dirty="0">
                            <a:latin typeface="Cambria Math" panose="02040503050406030204" pitchFamily="18" charset="0"/>
                            <a:ea typeface="宋体" panose="02010600030101010101" pitchFamily="2" charset="-122"/>
                          </a:rPr>
                          <m:t>𝐷</m:t>
                        </m:r>
                      </m:e>
                      <m:sub>
                        <m:r>
                          <a:rPr lang="zh-CN" altLang="zh-CN" sz="1982" i="1" dirty="0">
                            <a:latin typeface="Cambria Math" panose="02040503050406030204" pitchFamily="18" charset="0"/>
                            <a:ea typeface="宋体" panose="02010600030101010101" pitchFamily="2" charset="-122"/>
                          </a:rPr>
                          <m:t>2</m:t>
                        </m:r>
                      </m:sub>
                    </m:sSub>
                  </m:oMath>
                </a14:m>
                <a:r>
                  <a:rPr lang="zh-CN" altLang="zh-CN" sz="1982" dirty="0">
                    <a:latin typeface="Times New Roman" panose="02020603050405020304" pitchFamily="18" charset="0"/>
                    <a:ea typeface="宋体" panose="02010600030101010101" pitchFamily="2" charset="-122"/>
                  </a:rPr>
                  <a:t>)。</a:t>
                </a:r>
              </a:p>
              <a:p>
                <a:pPr marL="0" indent="0">
                  <a:lnSpc>
                    <a:spcPct val="100000"/>
                  </a:lnSpc>
                  <a:spcBef>
                    <a:spcPct val="30000"/>
                  </a:spcBef>
                  <a:buNone/>
                </a:pPr>
                <a:r>
                  <a:rPr lang="zh-CN" altLang="zh-CN" sz="1982" b="1" dirty="0">
                    <a:solidFill>
                      <a:srgbClr val="339966"/>
                    </a:solidFill>
                    <a:latin typeface="Times New Roman" panose="02020603050405020304" pitchFamily="18" charset="0"/>
                    <a:ea typeface="宋体" panose="02010600030101010101" pitchFamily="2" charset="-122"/>
                  </a:rPr>
                  <a:t>3.</a:t>
                </a:r>
                <a:r>
                  <a:rPr lang="zh-CN" altLang="zh-CN" sz="1982" dirty="0">
                    <a:latin typeface="Times New Roman" panose="02020603050405020304" pitchFamily="18" charset="0"/>
                    <a:ea typeface="宋体" panose="02010600030101010101" pitchFamily="2" charset="-122"/>
                  </a:rPr>
                  <a:t>短期均衡在B点：物价水平上升，产出增加，失业率降低。</a:t>
                </a:r>
              </a:p>
              <a:p>
                <a:pPr marL="0" indent="0">
                  <a:lnSpc>
                    <a:spcPct val="100000"/>
                  </a:lnSpc>
                  <a:spcBef>
                    <a:spcPct val="30000"/>
                  </a:spcBef>
                  <a:buNone/>
                </a:pPr>
                <a:r>
                  <a:rPr lang="zh-CN" altLang="zh-CN" sz="1982" b="1" dirty="0">
                    <a:solidFill>
                      <a:srgbClr val="339966"/>
                    </a:solidFill>
                    <a:latin typeface="Times New Roman" panose="02020603050405020304" pitchFamily="18" charset="0"/>
                    <a:ea typeface="宋体" panose="02010600030101010101" pitchFamily="2" charset="-122"/>
                  </a:rPr>
                  <a:t>4.</a:t>
                </a:r>
                <a:r>
                  <a:rPr lang="zh-CN" altLang="en-US" sz="1982" dirty="0">
                    <a:latin typeface="Times New Roman" panose="02020603050405020304" pitchFamily="18" charset="0"/>
                    <a:ea typeface="宋体" panose="02010600030101010101" pitchFamily="2" charset="-122"/>
                  </a:rPr>
                  <a:t>在 </a:t>
                </a:r>
                <a:r>
                  <a:rPr lang="en-US" altLang="zh-CN" sz="1982" dirty="0">
                    <a:latin typeface="Times New Roman" panose="02020603050405020304" pitchFamily="18" charset="0"/>
                    <a:ea typeface="宋体" panose="02010600030101010101" pitchFamily="2" charset="-122"/>
                  </a:rPr>
                  <a:t>B </a:t>
                </a:r>
                <a:r>
                  <a:rPr lang="zh-CN" altLang="en-US" sz="1982" dirty="0">
                    <a:latin typeface="Times New Roman" panose="02020603050405020304" pitchFamily="18" charset="0"/>
                    <a:ea typeface="宋体" panose="02010600030101010101" pitchFamily="2" charset="-122"/>
                  </a:rPr>
                  <a:t>点，</a:t>
                </a:r>
                <a:r>
                  <a:rPr lang="zh-CN" altLang="zh-CN" sz="1982" dirty="0">
                    <a:latin typeface="Times New Roman" panose="02020603050405020304" pitchFamily="18" charset="0"/>
                    <a:ea typeface="宋体" panose="02010600030101010101" pitchFamily="2" charset="-122"/>
                  </a:rPr>
                  <a:t>实际物价水平高于原先预期，预期物价水平 (</a:t>
                </a:r>
                <a14:m>
                  <m:oMath xmlns:m="http://schemas.openxmlformats.org/officeDocument/2006/math">
                    <m:sSub>
                      <m:sSubPr>
                        <m:ctrlPr>
                          <a:rPr lang="zh-CN" altLang="zh-CN" sz="1982" i="1" dirty="0">
                            <a:latin typeface="Cambria Math" panose="02040503050406030204" pitchFamily="18" charset="0"/>
                            <a:ea typeface="宋体" panose="02010600030101010101" pitchFamily="2" charset="-122"/>
                          </a:rPr>
                        </m:ctrlPr>
                      </m:sSubPr>
                      <m:e>
                        <m:r>
                          <a:rPr lang="zh-CN" altLang="zh-CN" sz="1982" i="1" dirty="0">
                            <a:latin typeface="Cambria Math" panose="02040503050406030204" pitchFamily="18" charset="0"/>
                            <a:ea typeface="宋体" panose="02010600030101010101" pitchFamily="2" charset="-122"/>
                          </a:rPr>
                          <m:t>𝑃</m:t>
                        </m:r>
                      </m:e>
                      <m:sub>
                        <m:r>
                          <a:rPr lang="zh-CN" altLang="zh-CN" sz="1982" i="1" dirty="0">
                            <a:latin typeface="Cambria Math" panose="02040503050406030204" pitchFamily="18" charset="0"/>
                            <a:ea typeface="宋体" panose="02010600030101010101" pitchFamily="2" charset="-122"/>
                          </a:rPr>
                          <m:t>𝐸</m:t>
                        </m:r>
                      </m:sub>
                    </m:sSub>
                  </m:oMath>
                </a14:m>
                <a:r>
                  <a:rPr lang="zh-CN" altLang="zh-CN" sz="1982" dirty="0">
                    <a:latin typeface="Times New Roman" panose="02020603050405020304" pitchFamily="18" charset="0"/>
                    <a:ea typeface="宋体" panose="02010600030101010101" pitchFamily="2" charset="-122"/>
                  </a:rPr>
                  <a:t>) 上升，名义工资和企业成本逐步上升，(SRAS) 曲线从 (</a:t>
                </a:r>
                <a14:m>
                  <m:oMath xmlns:m="http://schemas.openxmlformats.org/officeDocument/2006/math">
                    <m:r>
                      <a:rPr lang="zh-CN" altLang="zh-CN" sz="1982" i="1" dirty="0">
                        <a:latin typeface="Cambria Math" panose="02040503050406030204" pitchFamily="18" charset="0"/>
                        <a:ea typeface="宋体" panose="02010600030101010101" pitchFamily="2" charset="-122"/>
                      </a:rPr>
                      <m:t>𝑆𝑅𝐴</m:t>
                    </m:r>
                    <m:sSub>
                      <m:sSubPr>
                        <m:ctrlPr>
                          <a:rPr lang="zh-CN" altLang="zh-CN" sz="1982" i="1" dirty="0">
                            <a:latin typeface="Cambria Math" panose="02040503050406030204" pitchFamily="18" charset="0"/>
                            <a:ea typeface="宋体" panose="02010600030101010101" pitchFamily="2" charset="-122"/>
                          </a:rPr>
                        </m:ctrlPr>
                      </m:sSubPr>
                      <m:e>
                        <m:r>
                          <a:rPr lang="zh-CN" altLang="zh-CN" sz="1982" i="1" dirty="0">
                            <a:latin typeface="Cambria Math" panose="02040503050406030204" pitchFamily="18" charset="0"/>
                            <a:ea typeface="宋体" panose="02010600030101010101" pitchFamily="2" charset="-122"/>
                          </a:rPr>
                          <m:t>𝑆</m:t>
                        </m:r>
                      </m:e>
                      <m:sub>
                        <m:r>
                          <a:rPr lang="zh-CN" altLang="zh-CN" sz="1982" i="1" dirty="0">
                            <a:latin typeface="Cambria Math" panose="02040503050406030204" pitchFamily="18" charset="0"/>
                            <a:ea typeface="宋体" panose="02010600030101010101" pitchFamily="2" charset="-122"/>
                          </a:rPr>
                          <m:t>1</m:t>
                        </m:r>
                      </m:sub>
                    </m:sSub>
                  </m:oMath>
                </a14:m>
                <a:r>
                  <a:rPr lang="zh-CN" altLang="zh-CN" sz="1982" dirty="0">
                    <a:latin typeface="Times New Roman" panose="02020603050405020304" pitchFamily="18" charset="0"/>
                    <a:ea typeface="宋体" panose="02010600030101010101" pitchFamily="2" charset="-122"/>
                  </a:rPr>
                  <a:t>) 向左移动到 (</a:t>
                </a:r>
                <a14:m>
                  <m:oMath xmlns:m="http://schemas.openxmlformats.org/officeDocument/2006/math">
                    <m:r>
                      <a:rPr lang="zh-CN" altLang="zh-CN" sz="1982" i="1" dirty="0">
                        <a:latin typeface="Cambria Math" panose="02040503050406030204" pitchFamily="18" charset="0"/>
                        <a:ea typeface="宋体" panose="02010600030101010101" pitchFamily="2" charset="-122"/>
                      </a:rPr>
                      <m:t>𝑆𝑅𝐴</m:t>
                    </m:r>
                    <m:sSub>
                      <m:sSubPr>
                        <m:ctrlPr>
                          <a:rPr lang="zh-CN" altLang="zh-CN" sz="1982" i="1" dirty="0">
                            <a:latin typeface="Cambria Math" panose="02040503050406030204" pitchFamily="18" charset="0"/>
                            <a:ea typeface="宋体" panose="02010600030101010101" pitchFamily="2" charset="-122"/>
                          </a:rPr>
                        </m:ctrlPr>
                      </m:sSubPr>
                      <m:e>
                        <m:r>
                          <a:rPr lang="zh-CN" altLang="zh-CN" sz="1982" i="1" dirty="0">
                            <a:latin typeface="Cambria Math" panose="02040503050406030204" pitchFamily="18" charset="0"/>
                            <a:ea typeface="宋体" panose="02010600030101010101" pitchFamily="2" charset="-122"/>
                          </a:rPr>
                          <m:t>𝑆</m:t>
                        </m:r>
                      </m:e>
                      <m:sub>
                        <m:r>
                          <a:rPr lang="zh-CN" altLang="zh-CN" sz="1982" i="1" dirty="0">
                            <a:latin typeface="Cambria Math" panose="02040503050406030204" pitchFamily="18" charset="0"/>
                            <a:ea typeface="宋体" panose="02010600030101010101" pitchFamily="2" charset="-122"/>
                          </a:rPr>
                          <m:t>2</m:t>
                        </m:r>
                      </m:sub>
                    </m:sSub>
                  </m:oMath>
                </a14:m>
                <a:r>
                  <a:rPr lang="zh-CN" altLang="zh-CN" sz="1982" dirty="0">
                    <a:latin typeface="Times New Roman" panose="02020603050405020304" pitchFamily="18" charset="0"/>
                    <a:ea typeface="宋体" panose="02010600030101010101" pitchFamily="2" charset="-122"/>
                  </a:rPr>
                  <a:t>)，直到达到长期均衡点C。</a:t>
                </a:r>
                <a:r>
                  <a:rPr lang="zh-CN" altLang="en-US" sz="1982" dirty="0">
                    <a:latin typeface="Times New Roman" panose="02020603050405020304" pitchFamily="18" charset="0"/>
                    <a:ea typeface="宋体" panose="02010600030101010101" pitchFamily="2" charset="-122"/>
                  </a:rPr>
                  <a:t>此时，</a:t>
                </a:r>
                <a:r>
                  <a:rPr lang="zh-CN" altLang="zh-CN" sz="1982" dirty="0">
                    <a:latin typeface="Times New Roman" panose="02020603050405020304" pitchFamily="18" charset="0"/>
                    <a:ea typeface="宋体" panose="02010600030101010101" pitchFamily="2" charset="-122"/>
                  </a:rPr>
                  <a:t>产出回到自然产出水平，失业率回到自然失业率附近，但价格水平高于初始水平。</a:t>
                </a:r>
                <a:endParaRPr lang="en-US" altLang="zh-CN" sz="1982" dirty="0">
                  <a:latin typeface="Times New Roman" panose="02020603050405020304" pitchFamily="18" charset="0"/>
                  <a:ea typeface="宋体" panose="02010600030101010101" pitchFamily="2" charset="-122"/>
                </a:endParaRPr>
              </a:p>
              <a:p>
                <a:pPr marL="0" indent="0">
                  <a:lnSpc>
                    <a:spcPct val="100000"/>
                  </a:lnSpc>
                  <a:spcBef>
                    <a:spcPct val="30000"/>
                  </a:spcBef>
                  <a:buNone/>
                </a:pPr>
                <a:endParaRPr lang="en-US" altLang="zh-CN" sz="1982" dirty="0">
                  <a:ea typeface="宋体" panose="02010600030101010101" pitchFamily="2" charset="-122"/>
                </a:endParaRPr>
              </a:p>
              <a:p>
                <a:pPr marL="0" indent="0">
                  <a:lnSpc>
                    <a:spcPct val="100000"/>
                  </a:lnSpc>
                  <a:spcBef>
                    <a:spcPct val="30000"/>
                  </a:spcBef>
                  <a:buNone/>
                </a:pPr>
                <a:endParaRPr lang="en-US" altLang="zh-CN" sz="1982" dirty="0">
                  <a:ea typeface="宋体" panose="02010600030101010101" pitchFamily="2" charset="-122"/>
                </a:endParaRPr>
              </a:p>
            </p:txBody>
          </p:sp>
        </mc:Choice>
        <mc:Fallback>
          <p:sp>
            <p:nvSpPr>
              <p:cNvPr id="87090" name="Rectangle 46">
                <a:extLst>
                  <a:ext uri="{FF2B5EF4-FFF2-40B4-BE49-F238E27FC236}">
                    <a16:creationId xmlns:a16="http://schemas.microsoft.com/office/drawing/2014/main" id="{87BBFFA7-204B-CB60-E80A-429852BEA80F}"/>
                  </a:ext>
                </a:extLst>
              </p:cNvPr>
              <p:cNvSpPr>
                <a:spLocks noRot="1" noChangeAspect="1" noMove="1" noResize="1" noEditPoints="1" noAdjustHandles="1" noChangeArrowheads="1" noChangeShapeType="1" noTextEdit="1"/>
              </p:cNvSpPr>
              <p:nvPr/>
            </p:nvSpPr>
            <p:spPr bwMode="auto">
              <a:xfrm>
                <a:off x="1528195" y="1440103"/>
                <a:ext cx="4670897" cy="5205396"/>
              </a:xfrm>
              <a:prstGeom prst="rect">
                <a:avLst/>
              </a:prstGeom>
              <a:blipFill>
                <a:blip r:embed="rId3"/>
                <a:stretch>
                  <a:fillRect l="-1305" t="-468" r="-652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87091" name="FlagCount" hidden="1">
            <a:hlinkClick r:id="rId4"/>
            <a:extLst>
              <a:ext uri="{FF2B5EF4-FFF2-40B4-BE49-F238E27FC236}">
                <a16:creationId xmlns:a16="http://schemas.microsoft.com/office/drawing/2014/main" id="{49606C9E-D775-A54A-044E-68EC936C2AC2}"/>
              </a:ext>
            </a:extLst>
          </p:cNvPr>
          <p:cNvSpPr>
            <a:spLocks noChangeArrowheads="1"/>
          </p:cNvSpPr>
          <p:nvPr/>
        </p:nvSpPr>
        <p:spPr bwMode="auto">
          <a:xfrm>
            <a:off x="9750245" y="320355"/>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812404760"/>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0"/>
                                  </p:stCondLst>
                                  <p:childTnLst>
                                    <p:set>
                                      <p:cBhvr>
                                        <p:cTn id="6" dur="1" fill="hold">
                                          <p:stCondLst>
                                            <p:cond delay="0"/>
                                          </p:stCondLst>
                                        </p:cTn>
                                        <p:tgtEl>
                                          <p:spTgt spid="87058"/>
                                        </p:tgtEl>
                                        <p:attrNameLst>
                                          <p:attrName>style.visibility</p:attrName>
                                        </p:attrNameLst>
                                      </p:cBhvr>
                                      <p:to>
                                        <p:strVal val="visible"/>
                                      </p:to>
                                    </p:set>
                                    <p:animEffect transition="in" filter="strips(downRight)">
                                      <p:cBhvr>
                                        <p:cTn id="7" dur="500"/>
                                        <p:tgtEl>
                                          <p:spTgt spid="87058"/>
                                        </p:tgtEl>
                                      </p:cBhvr>
                                    </p:animEffect>
                                  </p:childTnLst>
                                </p:cTn>
                              </p:par>
                            </p:childTnLst>
                          </p:cTn>
                        </p:par>
                        <p:par>
                          <p:cTn id="8" fill="hold" nodeType="afterGroup">
                            <p:stCondLst>
                              <p:cond delay="500"/>
                            </p:stCondLst>
                            <p:childTnLst>
                              <p:par>
                                <p:cTn id="9" presetID="18" presetClass="entr" presetSubtype="12" fill="hold" nodeType="afterEffect">
                                  <p:stCondLst>
                                    <p:cond delay="0"/>
                                  </p:stCondLst>
                                  <p:childTnLst>
                                    <p:set>
                                      <p:cBhvr>
                                        <p:cTn id="10" dur="1" fill="hold">
                                          <p:stCondLst>
                                            <p:cond delay="0"/>
                                          </p:stCondLst>
                                        </p:cTn>
                                        <p:tgtEl>
                                          <p:spTgt spid="87080"/>
                                        </p:tgtEl>
                                        <p:attrNameLst>
                                          <p:attrName>style.visibility</p:attrName>
                                        </p:attrNameLst>
                                      </p:cBhvr>
                                      <p:to>
                                        <p:strVal val="visible"/>
                                      </p:to>
                                    </p:set>
                                    <p:animEffect transition="in" filter="strips(downLeft)">
                                      <p:cBhvr>
                                        <p:cTn id="11" dur="500"/>
                                        <p:tgtEl>
                                          <p:spTgt spid="87080"/>
                                        </p:tgtEl>
                                      </p:cBhvr>
                                    </p:animEffect>
                                  </p:childTnLst>
                                </p:cTn>
                              </p:par>
                            </p:childTnLst>
                          </p:cTn>
                        </p:par>
                        <p:par>
                          <p:cTn id="12" fill="hold" nodeType="afterGroup">
                            <p:stCondLst>
                              <p:cond delay="1000"/>
                            </p:stCondLst>
                            <p:childTnLst>
                              <p:par>
                                <p:cTn id="13" presetID="18" presetClass="entr" presetSubtype="12" fill="hold" nodeType="afterEffect">
                                  <p:stCondLst>
                                    <p:cond delay="0"/>
                                  </p:stCondLst>
                                  <p:childTnLst>
                                    <p:set>
                                      <p:cBhvr>
                                        <p:cTn id="14" dur="1" fill="hold">
                                          <p:stCondLst>
                                            <p:cond delay="0"/>
                                          </p:stCondLst>
                                        </p:cTn>
                                        <p:tgtEl>
                                          <p:spTgt spid="87061"/>
                                        </p:tgtEl>
                                        <p:attrNameLst>
                                          <p:attrName>style.visibility</p:attrName>
                                        </p:attrNameLst>
                                      </p:cBhvr>
                                      <p:to>
                                        <p:strVal val="visible"/>
                                      </p:to>
                                    </p:set>
                                    <p:animEffect transition="in" filter="strips(downLeft)">
                                      <p:cBhvr>
                                        <p:cTn id="15" dur="500"/>
                                        <p:tgtEl>
                                          <p:spTgt spid="87061"/>
                                        </p:tgtEl>
                                      </p:cBhvr>
                                    </p:animEffect>
                                  </p:childTnLst>
                                </p:cTn>
                              </p:par>
                            </p:childTnLst>
                          </p:cTn>
                        </p:par>
                        <p:par>
                          <p:cTn id="16" fill="hold" nodeType="afterGroup">
                            <p:stCondLst>
                              <p:cond delay="1500"/>
                            </p:stCondLst>
                            <p:childTnLst>
                              <p:par>
                                <p:cTn id="17" presetID="22" presetClass="entr" presetSubtype="2" fill="hold" nodeType="afterEffect">
                                  <p:stCondLst>
                                    <p:cond delay="0"/>
                                  </p:stCondLst>
                                  <p:childTnLst>
                                    <p:set>
                                      <p:cBhvr>
                                        <p:cTn id="18" dur="1" fill="hold">
                                          <p:stCondLst>
                                            <p:cond delay="0"/>
                                          </p:stCondLst>
                                        </p:cTn>
                                        <p:tgtEl>
                                          <p:spTgt spid="87074"/>
                                        </p:tgtEl>
                                        <p:attrNameLst>
                                          <p:attrName>style.visibility</p:attrName>
                                        </p:attrNameLst>
                                      </p:cBhvr>
                                      <p:to>
                                        <p:strVal val="visible"/>
                                      </p:to>
                                    </p:set>
                                    <p:animEffect transition="in" filter="wipe(right)">
                                      <p:cBhvr>
                                        <p:cTn id="19" dur="500"/>
                                        <p:tgtEl>
                                          <p:spTgt spid="87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90" grpId="0" build="p" bldLvl="5"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66A6123-1548-1591-89D3-2A8F765DDCF4}"/>
              </a:ext>
            </a:extLst>
          </p:cNvPr>
          <p:cNvSpPr>
            <a:spLocks noGrp="1"/>
          </p:cNvSpPr>
          <p:nvPr>
            <p:ph type="sldNum" sz="quarter" idx="11"/>
          </p:nvPr>
        </p:nvSpPr>
        <p:spPr/>
        <p:txBody>
          <a:bodyPr/>
          <a:lstStyle/>
          <a:p>
            <a:fld id="{CFBE057A-3E77-4141-8534-43CF7CEF4FAF}" type="slidenum">
              <a:rPr lang="zh-CN" altLang="zh-CN"/>
              <a:pPr/>
              <a:t>39</a:t>
            </a:fld>
            <a:endParaRPr lang="zh-CN" altLang="zh-CN"/>
          </a:p>
        </p:txBody>
      </p:sp>
      <p:grpSp>
        <p:nvGrpSpPr>
          <p:cNvPr id="89090" name="Group 2">
            <a:extLst>
              <a:ext uri="{FF2B5EF4-FFF2-40B4-BE49-F238E27FC236}">
                <a16:creationId xmlns:a16="http://schemas.microsoft.com/office/drawing/2014/main" id="{E58AB9EF-E877-7A4F-DE86-89F0FBAAD628}"/>
              </a:ext>
            </a:extLst>
          </p:cNvPr>
          <p:cNvGrpSpPr>
            <a:grpSpLocks/>
          </p:cNvGrpSpPr>
          <p:nvPr/>
        </p:nvGrpSpPr>
        <p:grpSpPr bwMode="auto">
          <a:xfrm>
            <a:off x="8067523" y="1058699"/>
            <a:ext cx="1176845" cy="4307695"/>
            <a:chOff x="0" y="0"/>
            <a:chExt cx="742" cy="2716"/>
          </a:xfrm>
        </p:grpSpPr>
        <p:sp>
          <p:nvSpPr>
            <p:cNvPr id="89091" name="Line 3">
              <a:extLst>
                <a:ext uri="{FF2B5EF4-FFF2-40B4-BE49-F238E27FC236}">
                  <a16:creationId xmlns:a16="http://schemas.microsoft.com/office/drawing/2014/main" id="{0D6852EA-2204-AF94-B0CC-566681D891B6}"/>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9092" name="Text Box 4">
              <a:extLst>
                <a:ext uri="{FF2B5EF4-FFF2-40B4-BE49-F238E27FC236}">
                  <a16:creationId xmlns:a16="http://schemas.microsoft.com/office/drawing/2014/main" id="{E7FC4C8C-DD40-0E00-9F36-2A50DA487E0C}"/>
                </a:ext>
              </a:extLst>
            </p:cNvPr>
            <p:cNvSpPr txBox="1">
              <a:spLocks noChangeArrowheads="1"/>
            </p:cNvSpPr>
            <p:nvPr/>
          </p:nvSpPr>
          <p:spPr bwMode="auto">
            <a:xfrm>
              <a:off x="0" y="0"/>
              <a:ext cx="7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LRAS</a:t>
              </a:r>
              <a:endParaRPr lang="en-US" altLang="zh-CN" sz="2398" i="1" baseline="-25000">
                <a:ea typeface="宋体" panose="02010600030101010101" pitchFamily="2" charset="-122"/>
              </a:endParaRPr>
            </a:p>
          </p:txBody>
        </p:sp>
        <p:sp>
          <p:nvSpPr>
            <p:cNvPr id="89093" name="Rectangle 5">
              <a:extLst>
                <a:ext uri="{FF2B5EF4-FFF2-40B4-BE49-F238E27FC236}">
                  <a16:creationId xmlns:a16="http://schemas.microsoft.com/office/drawing/2014/main" id="{E8BFB0C3-F8A8-A9C1-2EC0-D0C5180AA8AB}"/>
                </a:ext>
              </a:extLst>
            </p:cNvPr>
            <p:cNvSpPr>
              <a:spLocks noChangeArrowheads="1"/>
            </p:cNvSpPr>
            <p:nvPr/>
          </p:nvSpPr>
          <p:spPr bwMode="auto">
            <a:xfrm>
              <a:off x="221" y="2425"/>
              <a:ext cx="33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sp>
        <p:nvSpPr>
          <p:cNvPr id="89094" name="Rectangle 6">
            <a:extLst>
              <a:ext uri="{FF2B5EF4-FFF2-40B4-BE49-F238E27FC236}">
                <a16:creationId xmlns:a16="http://schemas.microsoft.com/office/drawing/2014/main" id="{9C19156F-B9E3-F2A0-123F-EED66CAC5622}"/>
              </a:ext>
            </a:extLst>
          </p:cNvPr>
          <p:cNvSpPr>
            <a:spLocks noGrp="1" noChangeArrowheads="1"/>
          </p:cNvSpPr>
          <p:nvPr>
            <p:ph type="title" idx="4294967295"/>
          </p:nvPr>
        </p:nvSpPr>
        <p:spPr>
          <a:xfrm>
            <a:off x="1528195" y="166509"/>
            <a:ext cx="9135611" cy="648692"/>
          </a:xfrm>
        </p:spPr>
        <p:txBody>
          <a:bodyPr/>
          <a:lstStyle/>
          <a:p>
            <a:r>
              <a:rPr lang="zh-CN" altLang="en-US" sz="3597">
                <a:ea typeface="宋体" panose="02010600030101010101" pitchFamily="2" charset="-122"/>
              </a:rPr>
              <a:t>短期总供给移动的影响</a:t>
            </a:r>
            <a:endParaRPr lang="zh-CN" altLang="en-US" sz="3597" i="1">
              <a:ea typeface="宋体" panose="02010600030101010101" pitchFamily="2" charset="-122"/>
            </a:endParaRPr>
          </a:p>
        </p:txBody>
      </p:sp>
      <p:sp>
        <p:nvSpPr>
          <p:cNvPr id="89095" name="Rectangle 7">
            <a:extLst>
              <a:ext uri="{FF2B5EF4-FFF2-40B4-BE49-F238E27FC236}">
                <a16:creationId xmlns:a16="http://schemas.microsoft.com/office/drawing/2014/main" id="{F2DC7AD3-FA83-6553-B3C9-ACC391507871}"/>
              </a:ext>
            </a:extLst>
          </p:cNvPr>
          <p:cNvSpPr>
            <a:spLocks noGrp="1" noChangeArrowheads="1"/>
          </p:cNvSpPr>
          <p:nvPr>
            <p:ph type="body" idx="4294967295"/>
          </p:nvPr>
        </p:nvSpPr>
        <p:spPr>
          <a:xfrm>
            <a:off x="1528195" y="808857"/>
            <a:ext cx="4663042" cy="5643143"/>
          </a:xfrm>
        </p:spPr>
        <p:txBody>
          <a:bodyPr/>
          <a:lstStyle/>
          <a:p>
            <a:pPr marL="404479" indent="-404479">
              <a:lnSpc>
                <a:spcPct val="100000"/>
              </a:lnSpc>
              <a:spcBef>
                <a:spcPct val="25000"/>
              </a:spcBef>
              <a:buNone/>
            </a:pPr>
            <a:r>
              <a:rPr lang="zh-CN" altLang="zh-CN" sz="1982" u="sng" dirty="0">
                <a:ea typeface="宋体" panose="02010600030101010101" pitchFamily="2" charset="-122"/>
              </a:rPr>
              <a:t>事件：油价上涨</a:t>
            </a:r>
          </a:p>
          <a:p>
            <a:pPr marL="404479" indent="-404479">
              <a:lnSpc>
                <a:spcPct val="100000"/>
              </a:lnSpc>
              <a:spcBef>
                <a:spcPct val="25000"/>
              </a:spcBef>
              <a:buNone/>
            </a:pPr>
            <a:r>
              <a:rPr lang="zh-CN" altLang="zh-CN" sz="1982" b="1" dirty="0">
                <a:solidFill>
                  <a:srgbClr val="339966"/>
                </a:solidFill>
                <a:ea typeface="宋体" panose="02010600030101010101" pitchFamily="2" charset="-122"/>
              </a:rPr>
              <a:t>1. 	</a:t>
            </a:r>
            <a:r>
              <a:rPr lang="zh-CN" altLang="zh-CN" sz="1982" dirty="0"/>
              <a:t>油价上涨会提高企业运输、生产和物流成本，主要影响 </a:t>
            </a:r>
            <a:r>
              <a:rPr lang="zh-CN" altLang="zh-CN" sz="1982" b="1" dirty="0"/>
              <a:t>SRAS 曲线</a:t>
            </a:r>
            <a:r>
              <a:rPr lang="zh-CN" altLang="zh-CN" sz="1982" dirty="0">
                <a:ea typeface="宋体" panose="02010600030101010101" pitchFamily="2" charset="-122"/>
              </a:rPr>
              <a:t>（</a:t>
            </a:r>
            <a:r>
              <a:rPr lang="zh-CN" altLang="en-US" sz="1982" dirty="0">
                <a:ea typeface="宋体" panose="02010600030101010101" pitchFamily="2" charset="-122"/>
              </a:rPr>
              <a:t>此处</a:t>
            </a:r>
            <a:r>
              <a:rPr lang="zh-CN" altLang="zh-CN" sz="1982" dirty="0">
                <a:ea typeface="宋体" panose="02010600030101010101" pitchFamily="2" charset="-122"/>
              </a:rPr>
              <a:t>假设 LRAS 不变）</a:t>
            </a:r>
            <a:r>
              <a:rPr lang="zh-CN" altLang="en-US" sz="1982" dirty="0">
                <a:ea typeface="宋体" panose="02010600030101010101" pitchFamily="2" charset="-122"/>
              </a:rPr>
              <a:t>。</a:t>
            </a:r>
            <a:endParaRPr lang="zh-CN" altLang="zh-CN" sz="1982" dirty="0">
              <a:ea typeface="宋体" panose="02010600030101010101" pitchFamily="2" charset="-122"/>
            </a:endParaRPr>
          </a:p>
          <a:p>
            <a:pPr marL="404479" indent="-404479">
              <a:lnSpc>
                <a:spcPct val="100000"/>
              </a:lnSpc>
              <a:spcBef>
                <a:spcPct val="25000"/>
              </a:spcBef>
              <a:buNone/>
            </a:pPr>
            <a:r>
              <a:rPr lang="zh-CN" altLang="zh-CN" sz="1982" b="1" dirty="0">
                <a:solidFill>
                  <a:srgbClr val="339966"/>
                </a:solidFill>
                <a:ea typeface="宋体" panose="02010600030101010101" pitchFamily="2" charset="-122"/>
              </a:rPr>
              <a:t>2. 	</a:t>
            </a:r>
            <a:r>
              <a:rPr lang="zh-CN" altLang="zh-CN" sz="1982" dirty="0"/>
              <a:t>生产成本上升，在同一物价水平下企业愿意供给的产量减少，</a:t>
            </a:r>
            <a:r>
              <a:rPr lang="zh-CN" altLang="zh-CN" sz="1982" b="1" dirty="0"/>
              <a:t>SRAS 曲线由 SRAS₁ 左移至 SRAS₂</a:t>
            </a:r>
            <a:endParaRPr lang="zh-CN" altLang="zh-CN" sz="1982" dirty="0">
              <a:ea typeface="宋体" panose="02010600030101010101" pitchFamily="2" charset="-122"/>
            </a:endParaRPr>
          </a:p>
          <a:p>
            <a:pPr marL="453017" indent="-453017">
              <a:lnSpc>
                <a:spcPct val="100000"/>
              </a:lnSpc>
              <a:spcBef>
                <a:spcPct val="25000"/>
              </a:spcBef>
              <a:buAutoNum type="arabicPeriod" startAt="3"/>
            </a:pPr>
            <a:r>
              <a:rPr lang="zh-CN" altLang="zh-CN" sz="1982" dirty="0"/>
              <a:t>新的短期均衡在 </a:t>
            </a:r>
            <a:r>
              <a:rPr lang="zh-CN" altLang="zh-CN" sz="1982" b="1" dirty="0"/>
              <a:t>B 点</a:t>
            </a:r>
            <a:r>
              <a:rPr lang="zh-CN" altLang="zh-CN" sz="1982" dirty="0"/>
              <a:t>：物价水平上升，产出下降，失业率上升。从 A 点到 B 点，经济出现</a:t>
            </a:r>
            <a:r>
              <a:rPr lang="zh-CN" altLang="zh-CN" sz="1982" b="1" dirty="0"/>
              <a:t>滞胀</a:t>
            </a:r>
            <a:r>
              <a:rPr lang="zh-CN" altLang="zh-CN" sz="1982" dirty="0"/>
              <a:t>，即产出下降而物价水平上升。</a:t>
            </a:r>
            <a:endParaRPr lang="en-US" altLang="zh-CN" sz="1982" dirty="0"/>
          </a:p>
          <a:p>
            <a:pPr marL="404479" indent="-404479">
              <a:lnSpc>
                <a:spcPct val="100000"/>
              </a:lnSpc>
              <a:spcBef>
                <a:spcPct val="25000"/>
              </a:spcBef>
              <a:buNone/>
            </a:pPr>
            <a:r>
              <a:rPr lang="zh-CN" altLang="zh-CN" sz="2378" dirty="0">
                <a:ea typeface="宋体" panose="02010600030101010101" pitchFamily="2" charset="-122"/>
              </a:rPr>
              <a:t> </a:t>
            </a:r>
          </a:p>
        </p:txBody>
      </p:sp>
      <p:grpSp>
        <p:nvGrpSpPr>
          <p:cNvPr id="89096" name="Group 8">
            <a:extLst>
              <a:ext uri="{FF2B5EF4-FFF2-40B4-BE49-F238E27FC236}">
                <a16:creationId xmlns:a16="http://schemas.microsoft.com/office/drawing/2014/main" id="{CE1F390A-5C0C-4F45-3AE1-9D10E229CF4E}"/>
              </a:ext>
            </a:extLst>
          </p:cNvPr>
          <p:cNvGrpSpPr>
            <a:grpSpLocks/>
          </p:cNvGrpSpPr>
          <p:nvPr/>
        </p:nvGrpSpPr>
        <p:grpSpPr bwMode="auto">
          <a:xfrm>
            <a:off x="6470379" y="1003189"/>
            <a:ext cx="3990485" cy="4108181"/>
            <a:chOff x="0" y="0"/>
            <a:chExt cx="2786" cy="2423"/>
          </a:xfrm>
        </p:grpSpPr>
        <p:grpSp>
          <p:nvGrpSpPr>
            <p:cNvPr id="89097" name="Group 9">
              <a:extLst>
                <a:ext uri="{FF2B5EF4-FFF2-40B4-BE49-F238E27FC236}">
                  <a16:creationId xmlns:a16="http://schemas.microsoft.com/office/drawing/2014/main" id="{5933057F-6C95-DBF1-2044-30775007BB92}"/>
                </a:ext>
              </a:extLst>
            </p:cNvPr>
            <p:cNvGrpSpPr>
              <a:grpSpLocks/>
            </p:cNvGrpSpPr>
            <p:nvPr/>
          </p:nvGrpSpPr>
          <p:grpSpPr bwMode="auto">
            <a:xfrm>
              <a:off x="118" y="252"/>
              <a:ext cx="2409" cy="2049"/>
              <a:chOff x="0" y="0"/>
              <a:chExt cx="2116" cy="2027"/>
            </a:xfrm>
          </p:grpSpPr>
          <p:sp>
            <p:nvSpPr>
              <p:cNvPr id="89098" name="Line 10">
                <a:extLst>
                  <a:ext uri="{FF2B5EF4-FFF2-40B4-BE49-F238E27FC236}">
                    <a16:creationId xmlns:a16="http://schemas.microsoft.com/office/drawing/2014/main" id="{DAF4D12D-1D16-5961-5DAD-0702713FAD97}"/>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9099" name="Line 11">
                <a:extLst>
                  <a:ext uri="{FF2B5EF4-FFF2-40B4-BE49-F238E27FC236}">
                    <a16:creationId xmlns:a16="http://schemas.microsoft.com/office/drawing/2014/main" id="{390C1107-5476-A8C8-A1E4-775EB02DECEA}"/>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89100" name="Text Box 12">
              <a:extLst>
                <a:ext uri="{FF2B5EF4-FFF2-40B4-BE49-F238E27FC236}">
                  <a16:creationId xmlns:a16="http://schemas.microsoft.com/office/drawing/2014/main" id="{D622647F-31D2-5C4E-D186-AE666E6E93BE}"/>
                </a:ext>
              </a:extLst>
            </p:cNvPr>
            <p:cNvSpPr txBox="1">
              <a:spLocks noChangeArrowheads="1"/>
            </p:cNvSpPr>
            <p:nvPr/>
          </p:nvSpPr>
          <p:spPr bwMode="auto">
            <a:xfrm>
              <a:off x="0" y="0"/>
              <a:ext cx="2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p>
          </p:txBody>
        </p:sp>
        <p:sp>
          <p:nvSpPr>
            <p:cNvPr id="89101" name="Text Box 13">
              <a:extLst>
                <a:ext uri="{FF2B5EF4-FFF2-40B4-BE49-F238E27FC236}">
                  <a16:creationId xmlns:a16="http://schemas.microsoft.com/office/drawing/2014/main" id="{FC08A2C4-70BB-96CA-4C6C-0F4D5B35DCCC}"/>
                </a:ext>
              </a:extLst>
            </p:cNvPr>
            <p:cNvSpPr txBox="1">
              <a:spLocks noChangeArrowheads="1"/>
            </p:cNvSpPr>
            <p:nvPr/>
          </p:nvSpPr>
          <p:spPr bwMode="auto">
            <a:xfrm>
              <a:off x="2496" y="2151"/>
              <a:ext cx="2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p>
          </p:txBody>
        </p:sp>
      </p:grpSp>
      <p:grpSp>
        <p:nvGrpSpPr>
          <p:cNvPr id="89102" name="Group 14">
            <a:extLst>
              <a:ext uri="{FF2B5EF4-FFF2-40B4-BE49-F238E27FC236}">
                <a16:creationId xmlns:a16="http://schemas.microsoft.com/office/drawing/2014/main" id="{91FD4769-D244-59ED-2FFA-2243A0784771}"/>
              </a:ext>
            </a:extLst>
          </p:cNvPr>
          <p:cNvGrpSpPr>
            <a:grpSpLocks/>
          </p:cNvGrpSpPr>
          <p:nvPr/>
        </p:nvGrpSpPr>
        <p:grpSpPr bwMode="auto">
          <a:xfrm>
            <a:off x="7206302" y="2137211"/>
            <a:ext cx="3126093" cy="2612213"/>
            <a:chOff x="0" y="0"/>
            <a:chExt cx="1971" cy="1647"/>
          </a:xfrm>
        </p:grpSpPr>
        <p:sp>
          <p:nvSpPr>
            <p:cNvPr id="89103" name="Line 15">
              <a:extLst>
                <a:ext uri="{FF2B5EF4-FFF2-40B4-BE49-F238E27FC236}">
                  <a16:creationId xmlns:a16="http://schemas.microsoft.com/office/drawing/2014/main" id="{1260AC67-8CA4-31AE-6BAA-77BA7F3C8BD2}"/>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9104" name="Text Box 16">
              <a:extLst>
                <a:ext uri="{FF2B5EF4-FFF2-40B4-BE49-F238E27FC236}">
                  <a16:creationId xmlns:a16="http://schemas.microsoft.com/office/drawing/2014/main" id="{289D7E6B-ADF9-2F97-F023-1F6E51A2B9D1}"/>
                </a:ext>
              </a:extLst>
            </p:cNvPr>
            <p:cNvSpPr txBox="1">
              <a:spLocks noChangeArrowheads="1"/>
            </p:cNvSpPr>
            <p:nvPr/>
          </p:nvSpPr>
          <p:spPr bwMode="auto">
            <a:xfrm>
              <a:off x="1388" y="1356"/>
              <a:ext cx="5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AD</a:t>
              </a:r>
              <a:r>
                <a:rPr lang="en-US" altLang="zh-CN" sz="2398" baseline="-25000" dirty="0">
                  <a:ea typeface="宋体" panose="02010600030101010101" pitchFamily="2" charset="-122"/>
                </a:rPr>
                <a:t>1</a:t>
              </a:r>
            </a:p>
          </p:txBody>
        </p:sp>
      </p:grpSp>
      <p:grpSp>
        <p:nvGrpSpPr>
          <p:cNvPr id="89105" name="Group 17">
            <a:extLst>
              <a:ext uri="{FF2B5EF4-FFF2-40B4-BE49-F238E27FC236}">
                <a16:creationId xmlns:a16="http://schemas.microsoft.com/office/drawing/2014/main" id="{00199539-5512-739D-35A2-C15E5AB7E9DB}"/>
              </a:ext>
            </a:extLst>
          </p:cNvPr>
          <p:cNvGrpSpPr>
            <a:grpSpLocks/>
          </p:cNvGrpSpPr>
          <p:nvPr/>
        </p:nvGrpSpPr>
        <p:grpSpPr bwMode="auto">
          <a:xfrm>
            <a:off x="7655151" y="2248234"/>
            <a:ext cx="3192706" cy="2233149"/>
            <a:chOff x="0" y="0"/>
            <a:chExt cx="2013" cy="1408"/>
          </a:xfrm>
        </p:grpSpPr>
        <p:sp>
          <p:nvSpPr>
            <p:cNvPr id="89106" name="Line 18">
              <a:extLst>
                <a:ext uri="{FF2B5EF4-FFF2-40B4-BE49-F238E27FC236}">
                  <a16:creationId xmlns:a16="http://schemas.microsoft.com/office/drawing/2014/main" id="{7681784F-635F-684B-A15F-20C0EFA33D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9107" name="Text Box 19">
              <a:extLst>
                <a:ext uri="{FF2B5EF4-FFF2-40B4-BE49-F238E27FC236}">
                  <a16:creationId xmlns:a16="http://schemas.microsoft.com/office/drawing/2014/main" id="{D5809159-41ED-A71E-4706-C908743C15F9}"/>
                </a:ext>
              </a:extLst>
            </p:cNvPr>
            <p:cNvSpPr txBox="1">
              <a:spLocks noChangeArrowheads="1"/>
            </p:cNvSpPr>
            <p:nvPr/>
          </p:nvSpPr>
          <p:spPr bwMode="auto">
            <a:xfrm>
              <a:off x="1153" y="0"/>
              <a:ext cx="8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1</a:t>
              </a:r>
            </a:p>
          </p:txBody>
        </p:sp>
      </p:grpSp>
      <p:grpSp>
        <p:nvGrpSpPr>
          <p:cNvPr id="89108" name="Group 20">
            <a:extLst>
              <a:ext uri="{FF2B5EF4-FFF2-40B4-BE49-F238E27FC236}">
                <a16:creationId xmlns:a16="http://schemas.microsoft.com/office/drawing/2014/main" id="{8AD2E6C7-687C-3898-732A-15F10BC4B03A}"/>
              </a:ext>
            </a:extLst>
          </p:cNvPr>
          <p:cNvGrpSpPr>
            <a:grpSpLocks/>
          </p:cNvGrpSpPr>
          <p:nvPr/>
        </p:nvGrpSpPr>
        <p:grpSpPr bwMode="auto">
          <a:xfrm>
            <a:off x="6958879" y="1529756"/>
            <a:ext cx="3643141" cy="2434576"/>
            <a:chOff x="0" y="0"/>
            <a:chExt cx="2297" cy="1535"/>
          </a:xfrm>
        </p:grpSpPr>
        <p:sp>
          <p:nvSpPr>
            <p:cNvPr id="89109" name="Line 24">
              <a:extLst>
                <a:ext uri="{FF2B5EF4-FFF2-40B4-BE49-F238E27FC236}">
                  <a16:creationId xmlns:a16="http://schemas.microsoft.com/office/drawing/2014/main" id="{462FA217-4EC9-5F9C-FF9D-6F2BE06E1F0A}"/>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9110" name="Text Box 25">
              <a:extLst>
                <a:ext uri="{FF2B5EF4-FFF2-40B4-BE49-F238E27FC236}">
                  <a16:creationId xmlns:a16="http://schemas.microsoft.com/office/drawing/2014/main" id="{E58D3E98-FC4E-9155-558D-38D57E9734AE}"/>
                </a:ext>
              </a:extLst>
            </p:cNvPr>
            <p:cNvSpPr txBox="1">
              <a:spLocks noChangeArrowheads="1"/>
            </p:cNvSpPr>
            <p:nvPr/>
          </p:nvSpPr>
          <p:spPr bwMode="auto">
            <a:xfrm>
              <a:off x="1350" y="0"/>
              <a:ext cx="9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2</a:t>
              </a:r>
            </a:p>
          </p:txBody>
        </p:sp>
      </p:grpSp>
      <p:grpSp>
        <p:nvGrpSpPr>
          <p:cNvPr id="89111" name="Group 23">
            <a:extLst>
              <a:ext uri="{FF2B5EF4-FFF2-40B4-BE49-F238E27FC236}">
                <a16:creationId xmlns:a16="http://schemas.microsoft.com/office/drawing/2014/main" id="{0300E0D5-5244-EB99-E4B1-F5C53B6C85EC}"/>
              </a:ext>
            </a:extLst>
          </p:cNvPr>
          <p:cNvGrpSpPr>
            <a:grpSpLocks/>
          </p:cNvGrpSpPr>
          <p:nvPr/>
        </p:nvGrpSpPr>
        <p:grpSpPr bwMode="auto">
          <a:xfrm>
            <a:off x="6146826" y="3352121"/>
            <a:ext cx="2929422" cy="402856"/>
            <a:chOff x="0" y="0"/>
            <a:chExt cx="1847" cy="254"/>
          </a:xfrm>
        </p:grpSpPr>
        <p:grpSp>
          <p:nvGrpSpPr>
            <p:cNvPr id="89112" name="Group 24">
              <a:extLst>
                <a:ext uri="{FF2B5EF4-FFF2-40B4-BE49-F238E27FC236}">
                  <a16:creationId xmlns:a16="http://schemas.microsoft.com/office/drawing/2014/main" id="{30E2B84A-DE23-F48E-60F4-F90971A40C89}"/>
                </a:ext>
              </a:extLst>
            </p:cNvPr>
            <p:cNvGrpSpPr>
              <a:grpSpLocks/>
            </p:cNvGrpSpPr>
            <p:nvPr/>
          </p:nvGrpSpPr>
          <p:grpSpPr bwMode="auto">
            <a:xfrm>
              <a:off x="0" y="21"/>
              <a:ext cx="1622" cy="233"/>
              <a:chOff x="0" y="0"/>
              <a:chExt cx="1622" cy="233"/>
            </a:xfrm>
          </p:grpSpPr>
          <p:sp>
            <p:nvSpPr>
              <p:cNvPr id="89113" name="Line 26">
                <a:extLst>
                  <a:ext uri="{FF2B5EF4-FFF2-40B4-BE49-F238E27FC236}">
                    <a16:creationId xmlns:a16="http://schemas.microsoft.com/office/drawing/2014/main" id="{1C545E04-1B1F-3BE6-97A7-B55A5A630D35}"/>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9114" name="Text Box 27">
                <a:extLst>
                  <a:ext uri="{FF2B5EF4-FFF2-40B4-BE49-F238E27FC236}">
                    <a16:creationId xmlns:a16="http://schemas.microsoft.com/office/drawing/2014/main" id="{76FCD9F7-027D-17A1-EB92-1EC6386403E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1</a:t>
                </a:r>
              </a:p>
            </p:txBody>
          </p:sp>
          <p:sp>
            <p:nvSpPr>
              <p:cNvPr id="89115" name="Oval 28">
                <a:extLst>
                  <a:ext uri="{FF2B5EF4-FFF2-40B4-BE49-F238E27FC236}">
                    <a16:creationId xmlns:a16="http://schemas.microsoft.com/office/drawing/2014/main" id="{1979359A-CC13-4D4B-18DD-FE6E75DADB82}"/>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89116" name="Text Box 38">
              <a:extLst>
                <a:ext uri="{FF2B5EF4-FFF2-40B4-BE49-F238E27FC236}">
                  <a16:creationId xmlns:a16="http://schemas.microsoft.com/office/drawing/2014/main" id="{CB5D833D-8473-1C84-EAAE-BF88D8BAB32C}"/>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A</a:t>
              </a:r>
              <a:endParaRPr lang="en-US" altLang="zh-CN" sz="2398" baseline="-25000">
                <a:ea typeface="宋体" panose="02010600030101010101" pitchFamily="2" charset="-122"/>
              </a:endParaRPr>
            </a:p>
          </p:txBody>
        </p:sp>
      </p:grpSp>
      <p:grpSp>
        <p:nvGrpSpPr>
          <p:cNvPr id="89117" name="Group 29">
            <a:extLst>
              <a:ext uri="{FF2B5EF4-FFF2-40B4-BE49-F238E27FC236}">
                <a16:creationId xmlns:a16="http://schemas.microsoft.com/office/drawing/2014/main" id="{E539CF28-AA8E-EEF3-8588-10C88AAE76A1}"/>
              </a:ext>
            </a:extLst>
          </p:cNvPr>
          <p:cNvGrpSpPr>
            <a:grpSpLocks/>
          </p:cNvGrpSpPr>
          <p:nvPr/>
        </p:nvGrpSpPr>
        <p:grpSpPr bwMode="auto">
          <a:xfrm>
            <a:off x="6146826" y="2530550"/>
            <a:ext cx="2172879" cy="2783507"/>
            <a:chOff x="0" y="0"/>
            <a:chExt cx="1370" cy="1755"/>
          </a:xfrm>
        </p:grpSpPr>
        <p:sp>
          <p:nvSpPr>
            <p:cNvPr id="89118" name="Oval 30">
              <a:extLst>
                <a:ext uri="{FF2B5EF4-FFF2-40B4-BE49-F238E27FC236}">
                  <a16:creationId xmlns:a16="http://schemas.microsoft.com/office/drawing/2014/main" id="{D2A14E73-92DD-A531-FF8B-DE9E8E8DF884}"/>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nvGrpSpPr>
            <p:cNvPr id="89119" name="Group 31">
              <a:extLst>
                <a:ext uri="{FF2B5EF4-FFF2-40B4-BE49-F238E27FC236}">
                  <a16:creationId xmlns:a16="http://schemas.microsoft.com/office/drawing/2014/main" id="{CFE08F0F-94F6-018E-0E0D-CC17038BB54D}"/>
                </a:ext>
              </a:extLst>
            </p:cNvPr>
            <p:cNvGrpSpPr>
              <a:grpSpLocks/>
            </p:cNvGrpSpPr>
            <p:nvPr/>
          </p:nvGrpSpPr>
          <p:grpSpPr bwMode="auto">
            <a:xfrm>
              <a:off x="314" y="268"/>
              <a:ext cx="875" cy="1230"/>
              <a:chOff x="0" y="0"/>
              <a:chExt cx="795" cy="646"/>
            </a:xfrm>
          </p:grpSpPr>
          <p:sp>
            <p:nvSpPr>
              <p:cNvPr id="89120" name="Line 32">
                <a:extLst>
                  <a:ext uri="{FF2B5EF4-FFF2-40B4-BE49-F238E27FC236}">
                    <a16:creationId xmlns:a16="http://schemas.microsoft.com/office/drawing/2014/main" id="{8FA8EE0F-5860-3AC1-0D32-DF6BEC7DA026}"/>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89121" name="Line 33">
                <a:extLst>
                  <a:ext uri="{FF2B5EF4-FFF2-40B4-BE49-F238E27FC236}">
                    <a16:creationId xmlns:a16="http://schemas.microsoft.com/office/drawing/2014/main" id="{296240A9-60E9-4662-A174-CA5A7064A5E6}"/>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89122" name="Text Box 34">
              <a:extLst>
                <a:ext uri="{FF2B5EF4-FFF2-40B4-BE49-F238E27FC236}">
                  <a16:creationId xmlns:a16="http://schemas.microsoft.com/office/drawing/2014/main" id="{B8676E67-10E6-75B3-39ED-A1AAE861D5FF}"/>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2</a:t>
              </a:r>
            </a:p>
          </p:txBody>
        </p:sp>
        <p:sp>
          <p:nvSpPr>
            <p:cNvPr id="89123" name="Text Box 37">
              <a:extLst>
                <a:ext uri="{FF2B5EF4-FFF2-40B4-BE49-F238E27FC236}">
                  <a16:creationId xmlns:a16="http://schemas.microsoft.com/office/drawing/2014/main" id="{B7DCEE1A-6DA2-9B80-0AFE-59FB65AB0B9A}"/>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2</a:t>
              </a:r>
            </a:p>
          </p:txBody>
        </p:sp>
        <p:sp>
          <p:nvSpPr>
            <p:cNvPr id="89124" name="Text Box 39">
              <a:extLst>
                <a:ext uri="{FF2B5EF4-FFF2-40B4-BE49-F238E27FC236}">
                  <a16:creationId xmlns:a16="http://schemas.microsoft.com/office/drawing/2014/main" id="{81FCEF0B-E66D-F625-8E35-51A8126C3D61}"/>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B</a:t>
              </a:r>
              <a:endParaRPr lang="en-US" altLang="zh-CN" sz="2398" baseline="-25000">
                <a:ea typeface="宋体" panose="02010600030101010101" pitchFamily="2" charset="-122"/>
              </a:endParaRPr>
            </a:p>
          </p:txBody>
        </p:sp>
      </p:grpSp>
      <p:sp>
        <p:nvSpPr>
          <p:cNvPr id="89125" name="Line 56">
            <a:extLst>
              <a:ext uri="{FF2B5EF4-FFF2-40B4-BE49-F238E27FC236}">
                <a16:creationId xmlns:a16="http://schemas.microsoft.com/office/drawing/2014/main" id="{AF7BCED0-2BC2-CA40-127B-4BCA56D24242}"/>
              </a:ext>
            </a:extLst>
          </p:cNvPr>
          <p:cNvSpPr>
            <a:spLocks noChangeShapeType="1"/>
          </p:cNvSpPr>
          <p:nvPr/>
        </p:nvSpPr>
        <p:spPr bwMode="auto">
          <a:xfrm flipH="1">
            <a:off x="8043734" y="4858861"/>
            <a:ext cx="575733" cy="0"/>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dirty="0"/>
          </a:p>
        </p:txBody>
      </p:sp>
      <p:sp>
        <p:nvSpPr>
          <p:cNvPr id="89126" name="Line 57">
            <a:extLst>
              <a:ext uri="{FF2B5EF4-FFF2-40B4-BE49-F238E27FC236}">
                <a16:creationId xmlns:a16="http://schemas.microsoft.com/office/drawing/2014/main" id="{0A2D2A5D-BFFC-024A-35ED-07B469C8913F}"/>
              </a:ext>
            </a:extLst>
          </p:cNvPr>
          <p:cNvSpPr>
            <a:spLocks noChangeShapeType="1"/>
          </p:cNvSpPr>
          <p:nvPr/>
        </p:nvSpPr>
        <p:spPr bwMode="auto">
          <a:xfrm flipV="1">
            <a:off x="6692424" y="2969884"/>
            <a:ext cx="0" cy="577320"/>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89127" name="FlagCount" hidden="1">
            <a:hlinkClick r:id="rId3" action="ppaction://hlinkfile"/>
            <a:extLst>
              <a:ext uri="{FF2B5EF4-FFF2-40B4-BE49-F238E27FC236}">
                <a16:creationId xmlns:a16="http://schemas.microsoft.com/office/drawing/2014/main" id="{F5D3620A-BFE3-4FD5-BB76-C405C83D3E9F}"/>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01556728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9095">
                                            <p:txEl>
                                              <p:pRg st="0" end="0"/>
                                            </p:txEl>
                                          </p:spTgt>
                                        </p:tgtEl>
                                        <p:attrNameLst>
                                          <p:attrName>style.visibility</p:attrName>
                                        </p:attrNameLst>
                                      </p:cBhvr>
                                      <p:to>
                                        <p:strVal val="visible"/>
                                      </p:to>
                                    </p:set>
                                    <p:animEffect transition="in" filter="wipe(left)">
                                      <p:cBhvr>
                                        <p:cTn id="7" dur="500"/>
                                        <p:tgtEl>
                                          <p:spTgt spid="890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9095">
                                            <p:txEl>
                                              <p:pRg st="1" end="1"/>
                                            </p:txEl>
                                          </p:spTgt>
                                        </p:tgtEl>
                                        <p:attrNameLst>
                                          <p:attrName>style.visibility</p:attrName>
                                        </p:attrNameLst>
                                      </p:cBhvr>
                                      <p:to>
                                        <p:strVal val="visible"/>
                                      </p:to>
                                    </p:set>
                                    <p:animEffect transition="in" filter="wipe(left)">
                                      <p:cBhvr>
                                        <p:cTn id="12" dur="500"/>
                                        <p:tgtEl>
                                          <p:spTgt spid="890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9095">
                                            <p:txEl>
                                              <p:pRg st="2" end="2"/>
                                            </p:txEl>
                                          </p:spTgt>
                                        </p:tgtEl>
                                        <p:attrNameLst>
                                          <p:attrName>style.visibility</p:attrName>
                                        </p:attrNameLst>
                                      </p:cBhvr>
                                      <p:to>
                                        <p:strVal val="visible"/>
                                      </p:to>
                                    </p:set>
                                    <p:animEffect transition="in" filter="wipe(left)">
                                      <p:cBhvr>
                                        <p:cTn id="17" dur="500"/>
                                        <p:tgtEl>
                                          <p:spTgt spid="89095">
                                            <p:txEl>
                                              <p:pRg st="2" end="2"/>
                                            </p:txEl>
                                          </p:spTgt>
                                        </p:tgtEl>
                                      </p:cBhvr>
                                    </p:animEffect>
                                  </p:childTnLst>
                                </p:cTn>
                              </p:par>
                            </p:childTnLst>
                          </p:cTn>
                        </p:par>
                        <p:par>
                          <p:cTn id="18" fill="hold" nodeType="afterGroup">
                            <p:stCondLst>
                              <p:cond delay="500"/>
                            </p:stCondLst>
                            <p:childTnLst>
                              <p:par>
                                <p:cTn id="19" presetID="18" presetClass="entr" presetSubtype="12" fill="hold" nodeType="afterEffect">
                                  <p:stCondLst>
                                    <p:cond delay="0"/>
                                  </p:stCondLst>
                                  <p:childTnLst>
                                    <p:set>
                                      <p:cBhvr>
                                        <p:cTn id="20" dur="1" fill="hold">
                                          <p:stCondLst>
                                            <p:cond delay="0"/>
                                          </p:stCondLst>
                                        </p:cTn>
                                        <p:tgtEl>
                                          <p:spTgt spid="89108"/>
                                        </p:tgtEl>
                                        <p:attrNameLst>
                                          <p:attrName>style.visibility</p:attrName>
                                        </p:attrNameLst>
                                      </p:cBhvr>
                                      <p:to>
                                        <p:strVal val="visible"/>
                                      </p:to>
                                    </p:set>
                                    <p:animEffect transition="in" filter="strips(downLeft)">
                                      <p:cBhvr>
                                        <p:cTn id="21" dur="500"/>
                                        <p:tgtEl>
                                          <p:spTgt spid="891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9095">
                                            <p:txEl>
                                              <p:pRg st="3" end="3"/>
                                            </p:txEl>
                                          </p:spTgt>
                                        </p:tgtEl>
                                        <p:attrNameLst>
                                          <p:attrName>style.visibility</p:attrName>
                                        </p:attrNameLst>
                                      </p:cBhvr>
                                      <p:to>
                                        <p:strVal val="visible"/>
                                      </p:to>
                                    </p:set>
                                    <p:animEffect transition="in" filter="wipe(left)">
                                      <p:cBhvr>
                                        <p:cTn id="26" dur="500"/>
                                        <p:tgtEl>
                                          <p:spTgt spid="89095">
                                            <p:txEl>
                                              <p:pRg st="3" end="3"/>
                                            </p:txEl>
                                          </p:spTgt>
                                        </p:tgtEl>
                                      </p:cBhvr>
                                    </p:animEffect>
                                  </p:childTnLst>
                                </p:cTn>
                              </p:par>
                            </p:childTnLst>
                          </p:cTn>
                        </p:par>
                        <p:par>
                          <p:cTn id="27" fill="hold" nodeType="afterGroup">
                            <p:stCondLst>
                              <p:cond delay="500"/>
                            </p:stCondLst>
                            <p:childTnLst>
                              <p:par>
                                <p:cTn id="28" presetID="18" presetClass="entr" presetSubtype="12" fill="hold" nodeType="afterEffect">
                                  <p:stCondLst>
                                    <p:cond delay="0"/>
                                  </p:stCondLst>
                                  <p:childTnLst>
                                    <p:set>
                                      <p:cBhvr>
                                        <p:cTn id="29" dur="1" fill="hold">
                                          <p:stCondLst>
                                            <p:cond delay="0"/>
                                          </p:stCondLst>
                                        </p:cTn>
                                        <p:tgtEl>
                                          <p:spTgt spid="89117"/>
                                        </p:tgtEl>
                                        <p:attrNameLst>
                                          <p:attrName>style.visibility</p:attrName>
                                        </p:attrNameLst>
                                      </p:cBhvr>
                                      <p:to>
                                        <p:strVal val="visible"/>
                                      </p:to>
                                    </p:set>
                                    <p:animEffect transition="in" filter="strips(downLeft)">
                                      <p:cBhvr>
                                        <p:cTn id="30" dur="500"/>
                                        <p:tgtEl>
                                          <p:spTgt spid="891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89095">
                                            <p:txEl>
                                              <p:pRg st="4" end="4"/>
                                            </p:txEl>
                                          </p:spTgt>
                                        </p:tgtEl>
                                        <p:attrNameLst>
                                          <p:attrName>style.visibility</p:attrName>
                                        </p:attrNameLst>
                                      </p:cBhvr>
                                      <p:to>
                                        <p:strVal val="visible"/>
                                      </p:to>
                                    </p:set>
                                    <p:animEffect transition="in" filter="wipe(left)">
                                      <p:cBhvr>
                                        <p:cTn id="35" dur="500"/>
                                        <p:tgtEl>
                                          <p:spTgt spid="89095">
                                            <p:txEl>
                                              <p:pRg st="4" end="4"/>
                                            </p:txEl>
                                          </p:spTgt>
                                        </p:tgtEl>
                                      </p:cBhvr>
                                    </p:animEffect>
                                  </p:childTnLst>
                                </p:cTn>
                              </p:par>
                            </p:childTnLst>
                          </p:cTn>
                        </p:par>
                        <p:par>
                          <p:cTn id="36" fill="hold" nodeType="afterGroup">
                            <p:stCondLst>
                              <p:cond delay="500"/>
                            </p:stCondLst>
                            <p:childTnLst>
                              <p:par>
                                <p:cTn id="37" presetID="17" presetClass="entr" presetSubtype="2" fill="hold" nodeType="afterEffect">
                                  <p:stCondLst>
                                    <p:cond delay="0"/>
                                  </p:stCondLst>
                                  <p:childTnLst>
                                    <p:set>
                                      <p:cBhvr>
                                        <p:cTn id="38" dur="1" fill="hold">
                                          <p:stCondLst>
                                            <p:cond delay="0"/>
                                          </p:stCondLst>
                                        </p:cTn>
                                        <p:tgtEl>
                                          <p:spTgt spid="89125"/>
                                        </p:tgtEl>
                                        <p:attrNameLst>
                                          <p:attrName>style.visibility</p:attrName>
                                        </p:attrNameLst>
                                      </p:cBhvr>
                                      <p:to>
                                        <p:strVal val="visible"/>
                                      </p:to>
                                    </p:set>
                                    <p:anim calcmode="lin" valueType="num">
                                      <p:cBhvr>
                                        <p:cTn id="39" dur="500" fill="hold"/>
                                        <p:tgtEl>
                                          <p:spTgt spid="89125"/>
                                        </p:tgtEl>
                                        <p:attrNameLst>
                                          <p:attrName>ppt_x</p:attrName>
                                        </p:attrNameLst>
                                      </p:cBhvr>
                                      <p:tavLst>
                                        <p:tav tm="0">
                                          <p:val>
                                            <p:strVal val="#ppt_x+#ppt_w/2"/>
                                          </p:val>
                                        </p:tav>
                                        <p:tav tm="100000">
                                          <p:val>
                                            <p:strVal val="#ppt_x"/>
                                          </p:val>
                                        </p:tav>
                                      </p:tavLst>
                                    </p:anim>
                                    <p:anim calcmode="lin" valueType="num">
                                      <p:cBhvr>
                                        <p:cTn id="40" dur="500" fill="hold"/>
                                        <p:tgtEl>
                                          <p:spTgt spid="89125"/>
                                        </p:tgtEl>
                                        <p:attrNameLst>
                                          <p:attrName>ppt_y</p:attrName>
                                        </p:attrNameLst>
                                      </p:cBhvr>
                                      <p:tavLst>
                                        <p:tav tm="0">
                                          <p:val>
                                            <p:strVal val="#ppt_y"/>
                                          </p:val>
                                        </p:tav>
                                        <p:tav tm="100000">
                                          <p:val>
                                            <p:strVal val="#ppt_y"/>
                                          </p:val>
                                        </p:tav>
                                      </p:tavLst>
                                    </p:anim>
                                    <p:anim calcmode="lin" valueType="num">
                                      <p:cBhvr>
                                        <p:cTn id="41" dur="500" fill="hold"/>
                                        <p:tgtEl>
                                          <p:spTgt spid="89125"/>
                                        </p:tgtEl>
                                        <p:attrNameLst>
                                          <p:attrName>ppt_w</p:attrName>
                                        </p:attrNameLst>
                                      </p:cBhvr>
                                      <p:tavLst>
                                        <p:tav tm="0">
                                          <p:val>
                                            <p:fltVal val="0"/>
                                          </p:val>
                                        </p:tav>
                                        <p:tav tm="100000">
                                          <p:val>
                                            <p:strVal val="#ppt_w"/>
                                          </p:val>
                                        </p:tav>
                                      </p:tavLst>
                                    </p:anim>
                                    <p:anim calcmode="lin" valueType="num">
                                      <p:cBhvr>
                                        <p:cTn id="42" dur="500" fill="hold"/>
                                        <p:tgtEl>
                                          <p:spTgt spid="89125"/>
                                        </p:tgtEl>
                                        <p:attrNameLst>
                                          <p:attrName>ppt_h</p:attrName>
                                        </p:attrNameLst>
                                      </p:cBhvr>
                                      <p:tavLst>
                                        <p:tav tm="0">
                                          <p:val>
                                            <p:strVal val="#ppt_h"/>
                                          </p:val>
                                        </p:tav>
                                        <p:tav tm="100000">
                                          <p:val>
                                            <p:strVal val="#ppt_h"/>
                                          </p:val>
                                        </p:tav>
                                      </p:tavLst>
                                    </p:anim>
                                  </p:childTnLst>
                                </p:cTn>
                              </p:par>
                            </p:childTnLst>
                          </p:cTn>
                        </p:par>
                        <p:par>
                          <p:cTn id="43" fill="hold" nodeType="afterGroup">
                            <p:stCondLst>
                              <p:cond delay="1000"/>
                            </p:stCondLst>
                            <p:childTnLst>
                              <p:par>
                                <p:cTn id="44" presetID="17" presetClass="entr" presetSubtype="4" fill="hold" nodeType="afterEffect">
                                  <p:stCondLst>
                                    <p:cond delay="0"/>
                                  </p:stCondLst>
                                  <p:childTnLst>
                                    <p:set>
                                      <p:cBhvr>
                                        <p:cTn id="45" dur="1" fill="hold">
                                          <p:stCondLst>
                                            <p:cond delay="0"/>
                                          </p:stCondLst>
                                        </p:cTn>
                                        <p:tgtEl>
                                          <p:spTgt spid="89126"/>
                                        </p:tgtEl>
                                        <p:attrNameLst>
                                          <p:attrName>style.visibility</p:attrName>
                                        </p:attrNameLst>
                                      </p:cBhvr>
                                      <p:to>
                                        <p:strVal val="visible"/>
                                      </p:to>
                                    </p:set>
                                    <p:anim calcmode="lin" valueType="num">
                                      <p:cBhvr>
                                        <p:cTn id="46" dur="500" fill="hold"/>
                                        <p:tgtEl>
                                          <p:spTgt spid="89126"/>
                                        </p:tgtEl>
                                        <p:attrNameLst>
                                          <p:attrName>ppt_x</p:attrName>
                                        </p:attrNameLst>
                                      </p:cBhvr>
                                      <p:tavLst>
                                        <p:tav tm="0">
                                          <p:val>
                                            <p:strVal val="#ppt_x"/>
                                          </p:val>
                                        </p:tav>
                                        <p:tav tm="100000">
                                          <p:val>
                                            <p:strVal val="#ppt_x"/>
                                          </p:val>
                                        </p:tav>
                                      </p:tavLst>
                                    </p:anim>
                                    <p:anim calcmode="lin" valueType="num">
                                      <p:cBhvr>
                                        <p:cTn id="47" dur="500" fill="hold"/>
                                        <p:tgtEl>
                                          <p:spTgt spid="89126"/>
                                        </p:tgtEl>
                                        <p:attrNameLst>
                                          <p:attrName>ppt_y</p:attrName>
                                        </p:attrNameLst>
                                      </p:cBhvr>
                                      <p:tavLst>
                                        <p:tav tm="0">
                                          <p:val>
                                            <p:strVal val="#ppt_y+#ppt_h/2"/>
                                          </p:val>
                                        </p:tav>
                                        <p:tav tm="100000">
                                          <p:val>
                                            <p:strVal val="#ppt_y"/>
                                          </p:val>
                                        </p:tav>
                                      </p:tavLst>
                                    </p:anim>
                                    <p:anim calcmode="lin" valueType="num">
                                      <p:cBhvr>
                                        <p:cTn id="48" dur="500" fill="hold"/>
                                        <p:tgtEl>
                                          <p:spTgt spid="89126"/>
                                        </p:tgtEl>
                                        <p:attrNameLst>
                                          <p:attrName>ppt_w</p:attrName>
                                        </p:attrNameLst>
                                      </p:cBhvr>
                                      <p:tavLst>
                                        <p:tav tm="0">
                                          <p:val>
                                            <p:strVal val="#ppt_w"/>
                                          </p:val>
                                        </p:tav>
                                        <p:tav tm="100000">
                                          <p:val>
                                            <p:strVal val="#ppt_w"/>
                                          </p:val>
                                        </p:tav>
                                      </p:tavLst>
                                    </p:anim>
                                    <p:anim calcmode="lin" valueType="num">
                                      <p:cBhvr>
                                        <p:cTn id="49" dur="500" fill="hold"/>
                                        <p:tgtEl>
                                          <p:spTgt spid="891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build="p" bldLvl="5"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E816272-D9AA-F6D9-AF03-1162CC8A66C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066EC776-5052-74AF-471D-2220DA92559D}"/>
              </a:ext>
            </a:extLst>
          </p:cNvPr>
          <p:cNvSpPr>
            <a:spLocks noGrp="1"/>
          </p:cNvSpPr>
          <p:nvPr>
            <p:ph type="sldNum" sz="quarter" idx="11"/>
          </p:nvPr>
        </p:nvSpPr>
        <p:spPr/>
        <p:txBody>
          <a:bodyPr/>
          <a:lstStyle/>
          <a:p>
            <a:fld id="{3E9388CC-6AAC-8A4F-88B9-84D67BBA1E59}" type="slidenum">
              <a:rPr lang="zh-CN" altLang="zh-CN"/>
              <a:pPr/>
              <a:t>40</a:t>
            </a:fld>
            <a:endParaRPr lang="zh-CN" altLang="zh-CN"/>
          </a:p>
        </p:txBody>
      </p:sp>
      <p:grpSp>
        <p:nvGrpSpPr>
          <p:cNvPr id="91138" name="Group 2">
            <a:extLst>
              <a:ext uri="{FF2B5EF4-FFF2-40B4-BE49-F238E27FC236}">
                <a16:creationId xmlns:a16="http://schemas.microsoft.com/office/drawing/2014/main" id="{D9B14D64-351F-48BE-9327-6D34EFAEA0D1}"/>
              </a:ext>
            </a:extLst>
          </p:cNvPr>
          <p:cNvGrpSpPr>
            <a:grpSpLocks/>
          </p:cNvGrpSpPr>
          <p:nvPr/>
        </p:nvGrpSpPr>
        <p:grpSpPr bwMode="auto">
          <a:xfrm>
            <a:off x="7726453" y="1481338"/>
            <a:ext cx="1176845" cy="4307695"/>
            <a:chOff x="0" y="0"/>
            <a:chExt cx="742" cy="2716"/>
          </a:xfrm>
        </p:grpSpPr>
        <p:sp>
          <p:nvSpPr>
            <p:cNvPr id="91139" name="Line 3">
              <a:extLst>
                <a:ext uri="{FF2B5EF4-FFF2-40B4-BE49-F238E27FC236}">
                  <a16:creationId xmlns:a16="http://schemas.microsoft.com/office/drawing/2014/main" id="{0C1AF0FD-86B7-E3BE-9B30-268C0562B2F0}"/>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40" name="Text Box 4">
              <a:extLst>
                <a:ext uri="{FF2B5EF4-FFF2-40B4-BE49-F238E27FC236}">
                  <a16:creationId xmlns:a16="http://schemas.microsoft.com/office/drawing/2014/main" id="{1C1A9797-44B7-F7C6-50A2-C553809B8D8B}"/>
                </a:ext>
              </a:extLst>
            </p:cNvPr>
            <p:cNvSpPr txBox="1">
              <a:spLocks noChangeArrowheads="1"/>
            </p:cNvSpPr>
            <p:nvPr/>
          </p:nvSpPr>
          <p:spPr bwMode="auto">
            <a:xfrm>
              <a:off x="0" y="0"/>
              <a:ext cx="7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LRAS</a:t>
              </a:r>
              <a:endParaRPr lang="en-US" altLang="zh-CN" sz="2398" i="1" baseline="-25000">
                <a:ea typeface="宋体" panose="02010600030101010101" pitchFamily="2" charset="-122"/>
              </a:endParaRPr>
            </a:p>
          </p:txBody>
        </p:sp>
        <p:sp>
          <p:nvSpPr>
            <p:cNvPr id="91141" name="Rectangle 5">
              <a:extLst>
                <a:ext uri="{FF2B5EF4-FFF2-40B4-BE49-F238E27FC236}">
                  <a16:creationId xmlns:a16="http://schemas.microsoft.com/office/drawing/2014/main" id="{9B5715C8-BD35-72DA-44E9-3C7E9EC6F546}"/>
                </a:ext>
              </a:extLst>
            </p:cNvPr>
            <p:cNvSpPr>
              <a:spLocks noChangeArrowheads="1"/>
            </p:cNvSpPr>
            <p:nvPr/>
          </p:nvSpPr>
          <p:spPr bwMode="auto">
            <a:xfrm>
              <a:off x="221" y="2425"/>
              <a:ext cx="33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sp>
        <p:nvSpPr>
          <p:cNvPr id="91142" name="Rectangle 6">
            <a:extLst>
              <a:ext uri="{FF2B5EF4-FFF2-40B4-BE49-F238E27FC236}">
                <a16:creationId xmlns:a16="http://schemas.microsoft.com/office/drawing/2014/main" id="{0DAE4E5C-D218-361D-4A29-36BE98836825}"/>
              </a:ext>
            </a:extLst>
          </p:cNvPr>
          <p:cNvSpPr>
            <a:spLocks noGrp="1" noChangeArrowheads="1"/>
          </p:cNvSpPr>
          <p:nvPr>
            <p:ph type="title" idx="4294967295"/>
          </p:nvPr>
        </p:nvSpPr>
        <p:spPr>
          <a:xfrm>
            <a:off x="1528195" y="166509"/>
            <a:ext cx="9135611" cy="648692"/>
          </a:xfrm>
        </p:spPr>
        <p:txBody>
          <a:bodyPr/>
          <a:lstStyle/>
          <a:p>
            <a:r>
              <a:rPr lang="zh-CN" altLang="en-US" sz="3597" dirty="0">
                <a:ea typeface="宋体" panose="02010600030101010101" pitchFamily="2" charset="-122"/>
              </a:rPr>
              <a:t>总供给曲线的不利移动</a:t>
            </a:r>
            <a:endParaRPr lang="zh-CN" altLang="en-US" sz="3597" i="1" dirty="0">
              <a:ea typeface="宋体" panose="02010600030101010101" pitchFamily="2" charset="-122"/>
            </a:endParaRPr>
          </a:p>
        </p:txBody>
      </p:sp>
      <p:sp>
        <p:nvSpPr>
          <p:cNvPr id="91143" name="Rectangle 7">
            <a:extLst>
              <a:ext uri="{FF2B5EF4-FFF2-40B4-BE49-F238E27FC236}">
                <a16:creationId xmlns:a16="http://schemas.microsoft.com/office/drawing/2014/main" id="{C00EADDB-75F4-CFAD-8805-0D23C1ACAE60}"/>
              </a:ext>
            </a:extLst>
          </p:cNvPr>
          <p:cNvSpPr>
            <a:spLocks noGrp="1" noChangeArrowheads="1"/>
          </p:cNvSpPr>
          <p:nvPr>
            <p:ph type="body" idx="4294967295"/>
          </p:nvPr>
        </p:nvSpPr>
        <p:spPr>
          <a:xfrm>
            <a:off x="1696317" y="1160958"/>
            <a:ext cx="4214118" cy="2375893"/>
          </a:xfrm>
        </p:spPr>
        <p:txBody>
          <a:bodyPr/>
          <a:lstStyle/>
          <a:p>
            <a:pPr marL="0" indent="0">
              <a:lnSpc>
                <a:spcPct val="100000"/>
              </a:lnSpc>
              <a:spcBef>
                <a:spcPct val="25000"/>
              </a:spcBef>
              <a:buNone/>
            </a:pPr>
            <a:r>
              <a:rPr lang="en-US" altLang="zh-CN" sz="1982" dirty="0">
                <a:solidFill>
                  <a:srgbClr val="00B050"/>
                </a:solidFill>
              </a:rPr>
              <a:t>4.  </a:t>
            </a:r>
            <a:r>
              <a:rPr lang="zh-CN" altLang="zh-CN" sz="1982" dirty="0">
                <a:solidFill>
                  <a:srgbClr val="000000"/>
                </a:solidFill>
              </a:rPr>
              <a:t>如果政策制定者不进行干预，</a:t>
            </a:r>
            <a:r>
              <a:rPr lang="zh-CN" altLang="zh-CN" sz="1982" b="1" dirty="0">
                <a:solidFill>
                  <a:srgbClr val="000000"/>
                </a:solidFill>
              </a:rPr>
              <a:t>较低的产出和较高的失业</a:t>
            </a:r>
            <a:r>
              <a:rPr lang="zh-CN" altLang="zh-CN" sz="1982" dirty="0">
                <a:solidFill>
                  <a:srgbClr val="000000"/>
                </a:solidFill>
              </a:rPr>
              <a:t>会逐步压低工资和生产成本，</a:t>
            </a:r>
            <a:r>
              <a:rPr lang="zh-CN" altLang="zh-CN" sz="1982" b="1" dirty="0">
                <a:solidFill>
                  <a:srgbClr val="000000"/>
                </a:solidFill>
              </a:rPr>
              <a:t>SRAS 曲线会逐步向右移动</a:t>
            </a:r>
            <a:r>
              <a:rPr lang="zh-CN" altLang="zh-CN" sz="1982" dirty="0">
                <a:solidFill>
                  <a:srgbClr val="000000"/>
                </a:solidFill>
              </a:rPr>
              <a:t>，经济最终回到长期均衡。此时</a:t>
            </a:r>
            <a:r>
              <a:rPr lang="zh-CN" altLang="en-US" sz="1982" dirty="0">
                <a:solidFill>
                  <a:srgbClr val="000000"/>
                </a:solidFill>
              </a:rPr>
              <a:t>，</a:t>
            </a:r>
            <a:r>
              <a:rPr lang="zh-CN" altLang="zh-CN" sz="1982" dirty="0">
                <a:solidFill>
                  <a:srgbClr val="000000"/>
                </a:solidFill>
              </a:rPr>
              <a:t>产出回到自然产出水平，失业率回到自然失业率水平。</a:t>
            </a:r>
            <a:endParaRPr lang="zh-CN" altLang="zh-CN" sz="1982" dirty="0">
              <a:solidFill>
                <a:srgbClr val="000000"/>
              </a:solidFill>
              <a:ea typeface="宋体" panose="02010600030101010101" pitchFamily="2" charset="-122"/>
            </a:endParaRPr>
          </a:p>
          <a:p>
            <a:pPr marL="404479" indent="-404479">
              <a:lnSpc>
                <a:spcPct val="85000"/>
              </a:lnSpc>
              <a:spcBef>
                <a:spcPct val="25000"/>
              </a:spcBef>
              <a:buNone/>
            </a:pPr>
            <a:endParaRPr lang="en-US" altLang="zh-CN" dirty="0">
              <a:ea typeface="宋体" panose="02010600030101010101" pitchFamily="2" charset="-122"/>
            </a:endParaRPr>
          </a:p>
        </p:txBody>
      </p:sp>
      <p:grpSp>
        <p:nvGrpSpPr>
          <p:cNvPr id="91144" name="Group 8">
            <a:extLst>
              <a:ext uri="{FF2B5EF4-FFF2-40B4-BE49-F238E27FC236}">
                <a16:creationId xmlns:a16="http://schemas.microsoft.com/office/drawing/2014/main" id="{BA2EFB3C-0679-9012-3059-CD63257AC3CF}"/>
              </a:ext>
            </a:extLst>
          </p:cNvPr>
          <p:cNvGrpSpPr>
            <a:grpSpLocks/>
          </p:cNvGrpSpPr>
          <p:nvPr/>
        </p:nvGrpSpPr>
        <p:grpSpPr bwMode="auto">
          <a:xfrm>
            <a:off x="6129309" y="1425828"/>
            <a:ext cx="3990485" cy="4108181"/>
            <a:chOff x="0" y="0"/>
            <a:chExt cx="2786" cy="2423"/>
          </a:xfrm>
        </p:grpSpPr>
        <p:grpSp>
          <p:nvGrpSpPr>
            <p:cNvPr id="91145" name="Group 9">
              <a:extLst>
                <a:ext uri="{FF2B5EF4-FFF2-40B4-BE49-F238E27FC236}">
                  <a16:creationId xmlns:a16="http://schemas.microsoft.com/office/drawing/2014/main" id="{EC45EDC3-55A1-70D8-6F0B-59B5CDBFFB71}"/>
                </a:ext>
              </a:extLst>
            </p:cNvPr>
            <p:cNvGrpSpPr>
              <a:grpSpLocks/>
            </p:cNvGrpSpPr>
            <p:nvPr/>
          </p:nvGrpSpPr>
          <p:grpSpPr bwMode="auto">
            <a:xfrm>
              <a:off x="118" y="252"/>
              <a:ext cx="2409" cy="2049"/>
              <a:chOff x="0" y="0"/>
              <a:chExt cx="2116" cy="2027"/>
            </a:xfrm>
          </p:grpSpPr>
          <p:sp>
            <p:nvSpPr>
              <p:cNvPr id="91146" name="Line 10">
                <a:extLst>
                  <a:ext uri="{FF2B5EF4-FFF2-40B4-BE49-F238E27FC236}">
                    <a16:creationId xmlns:a16="http://schemas.microsoft.com/office/drawing/2014/main" id="{78BEF08A-0E6A-0A2B-5B38-3C6800C50B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47" name="Line 11">
                <a:extLst>
                  <a:ext uri="{FF2B5EF4-FFF2-40B4-BE49-F238E27FC236}">
                    <a16:creationId xmlns:a16="http://schemas.microsoft.com/office/drawing/2014/main" id="{1AB33FF6-BE17-001B-D896-ADC39A897638}"/>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91148" name="Text Box 12">
              <a:extLst>
                <a:ext uri="{FF2B5EF4-FFF2-40B4-BE49-F238E27FC236}">
                  <a16:creationId xmlns:a16="http://schemas.microsoft.com/office/drawing/2014/main" id="{590CCFAB-885B-450A-F31C-2DA4E0CFDCAF}"/>
                </a:ext>
              </a:extLst>
            </p:cNvPr>
            <p:cNvSpPr txBox="1">
              <a:spLocks noChangeArrowheads="1"/>
            </p:cNvSpPr>
            <p:nvPr/>
          </p:nvSpPr>
          <p:spPr bwMode="auto">
            <a:xfrm>
              <a:off x="0" y="0"/>
              <a:ext cx="2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p>
          </p:txBody>
        </p:sp>
        <p:sp>
          <p:nvSpPr>
            <p:cNvPr id="91149" name="Text Box 13">
              <a:extLst>
                <a:ext uri="{FF2B5EF4-FFF2-40B4-BE49-F238E27FC236}">
                  <a16:creationId xmlns:a16="http://schemas.microsoft.com/office/drawing/2014/main" id="{3EA878CF-8C7F-1AB1-5CC8-B1627593F095}"/>
                </a:ext>
              </a:extLst>
            </p:cNvPr>
            <p:cNvSpPr txBox="1">
              <a:spLocks noChangeArrowheads="1"/>
            </p:cNvSpPr>
            <p:nvPr/>
          </p:nvSpPr>
          <p:spPr bwMode="auto">
            <a:xfrm>
              <a:off x="2496" y="2151"/>
              <a:ext cx="2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p>
          </p:txBody>
        </p:sp>
      </p:grpSp>
      <p:grpSp>
        <p:nvGrpSpPr>
          <p:cNvPr id="91150" name="Group 14">
            <a:extLst>
              <a:ext uri="{FF2B5EF4-FFF2-40B4-BE49-F238E27FC236}">
                <a16:creationId xmlns:a16="http://schemas.microsoft.com/office/drawing/2014/main" id="{8BDDCFCE-66F1-6996-3324-D4647F555D8D}"/>
              </a:ext>
            </a:extLst>
          </p:cNvPr>
          <p:cNvGrpSpPr>
            <a:grpSpLocks/>
          </p:cNvGrpSpPr>
          <p:nvPr/>
        </p:nvGrpSpPr>
        <p:grpSpPr bwMode="auto">
          <a:xfrm>
            <a:off x="6865232" y="2559850"/>
            <a:ext cx="3268835" cy="2612213"/>
            <a:chOff x="0" y="0"/>
            <a:chExt cx="2061" cy="1647"/>
          </a:xfrm>
        </p:grpSpPr>
        <p:sp>
          <p:nvSpPr>
            <p:cNvPr id="91151" name="Line 15">
              <a:extLst>
                <a:ext uri="{FF2B5EF4-FFF2-40B4-BE49-F238E27FC236}">
                  <a16:creationId xmlns:a16="http://schemas.microsoft.com/office/drawing/2014/main" id="{DCCF44EF-73A5-C1F7-C19E-CB9FC3A0DC54}"/>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52" name="Text Box 16">
              <a:extLst>
                <a:ext uri="{FF2B5EF4-FFF2-40B4-BE49-F238E27FC236}">
                  <a16:creationId xmlns:a16="http://schemas.microsoft.com/office/drawing/2014/main" id="{983C7041-799A-237C-B2E7-4F6357711D23}"/>
                </a:ext>
              </a:extLst>
            </p:cNvPr>
            <p:cNvSpPr txBox="1">
              <a:spLocks noChangeArrowheads="1"/>
            </p:cNvSpPr>
            <p:nvPr/>
          </p:nvSpPr>
          <p:spPr bwMode="auto">
            <a:xfrm>
              <a:off x="1388" y="1356"/>
              <a:ext cx="6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AD</a:t>
              </a:r>
              <a:r>
                <a:rPr lang="en-US" altLang="zh-CN" sz="2398" baseline="-25000" dirty="0">
                  <a:ea typeface="宋体" panose="02010600030101010101" pitchFamily="2" charset="-122"/>
                </a:rPr>
                <a:t>1</a:t>
              </a:r>
            </a:p>
          </p:txBody>
        </p:sp>
      </p:grpSp>
      <p:grpSp>
        <p:nvGrpSpPr>
          <p:cNvPr id="91153" name="Group 17">
            <a:extLst>
              <a:ext uri="{FF2B5EF4-FFF2-40B4-BE49-F238E27FC236}">
                <a16:creationId xmlns:a16="http://schemas.microsoft.com/office/drawing/2014/main" id="{5DBC6B4E-71E2-A54A-CD16-DCC1E13D21AD}"/>
              </a:ext>
            </a:extLst>
          </p:cNvPr>
          <p:cNvGrpSpPr>
            <a:grpSpLocks/>
          </p:cNvGrpSpPr>
          <p:nvPr/>
        </p:nvGrpSpPr>
        <p:grpSpPr bwMode="auto">
          <a:xfrm>
            <a:off x="7314082" y="2670873"/>
            <a:ext cx="3222841" cy="2233149"/>
            <a:chOff x="0" y="0"/>
            <a:chExt cx="2032" cy="1408"/>
          </a:xfrm>
        </p:grpSpPr>
        <p:sp>
          <p:nvSpPr>
            <p:cNvPr id="91154" name="Line 18">
              <a:extLst>
                <a:ext uri="{FF2B5EF4-FFF2-40B4-BE49-F238E27FC236}">
                  <a16:creationId xmlns:a16="http://schemas.microsoft.com/office/drawing/2014/main" id="{7D5CC12C-8F91-1A68-58BB-36B8BA6E17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55" name="Text Box 19">
              <a:extLst>
                <a:ext uri="{FF2B5EF4-FFF2-40B4-BE49-F238E27FC236}">
                  <a16:creationId xmlns:a16="http://schemas.microsoft.com/office/drawing/2014/main" id="{FA9DAE91-DFA5-5609-4ED4-B5F02AF91E47}"/>
                </a:ext>
              </a:extLst>
            </p:cNvPr>
            <p:cNvSpPr txBox="1">
              <a:spLocks noChangeArrowheads="1"/>
            </p:cNvSpPr>
            <p:nvPr/>
          </p:nvSpPr>
          <p:spPr bwMode="auto">
            <a:xfrm>
              <a:off x="1153" y="0"/>
              <a:ext cx="8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1</a:t>
              </a:r>
            </a:p>
          </p:txBody>
        </p:sp>
      </p:grpSp>
      <p:grpSp>
        <p:nvGrpSpPr>
          <p:cNvPr id="91156" name="Group 20">
            <a:extLst>
              <a:ext uri="{FF2B5EF4-FFF2-40B4-BE49-F238E27FC236}">
                <a16:creationId xmlns:a16="http://schemas.microsoft.com/office/drawing/2014/main" id="{9F09D942-3E36-F41F-0099-AD5124B40425}"/>
              </a:ext>
            </a:extLst>
          </p:cNvPr>
          <p:cNvGrpSpPr>
            <a:grpSpLocks/>
          </p:cNvGrpSpPr>
          <p:nvPr/>
        </p:nvGrpSpPr>
        <p:grpSpPr bwMode="auto">
          <a:xfrm>
            <a:off x="6617809" y="1952395"/>
            <a:ext cx="3519431" cy="2434576"/>
            <a:chOff x="0" y="0"/>
            <a:chExt cx="2219" cy="1535"/>
          </a:xfrm>
        </p:grpSpPr>
        <p:sp>
          <p:nvSpPr>
            <p:cNvPr id="91157" name="Line 21">
              <a:extLst>
                <a:ext uri="{FF2B5EF4-FFF2-40B4-BE49-F238E27FC236}">
                  <a16:creationId xmlns:a16="http://schemas.microsoft.com/office/drawing/2014/main" id="{694850CA-F298-986F-4FA5-F884C8AE5E04}"/>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58" name="Text Box 22">
              <a:extLst>
                <a:ext uri="{FF2B5EF4-FFF2-40B4-BE49-F238E27FC236}">
                  <a16:creationId xmlns:a16="http://schemas.microsoft.com/office/drawing/2014/main" id="{957D9DD5-0511-30D9-C329-0E9234B69BDA}"/>
                </a:ext>
              </a:extLst>
            </p:cNvPr>
            <p:cNvSpPr txBox="1">
              <a:spLocks noChangeArrowheads="1"/>
            </p:cNvSpPr>
            <p:nvPr/>
          </p:nvSpPr>
          <p:spPr bwMode="auto">
            <a:xfrm>
              <a:off x="1350" y="0"/>
              <a:ext cx="8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2</a:t>
              </a:r>
            </a:p>
          </p:txBody>
        </p:sp>
      </p:grpSp>
      <p:grpSp>
        <p:nvGrpSpPr>
          <p:cNvPr id="91159" name="Group 23">
            <a:extLst>
              <a:ext uri="{FF2B5EF4-FFF2-40B4-BE49-F238E27FC236}">
                <a16:creationId xmlns:a16="http://schemas.microsoft.com/office/drawing/2014/main" id="{3CE40815-456A-046F-99A7-5482F734A4AB}"/>
              </a:ext>
            </a:extLst>
          </p:cNvPr>
          <p:cNvGrpSpPr>
            <a:grpSpLocks/>
          </p:cNvGrpSpPr>
          <p:nvPr/>
        </p:nvGrpSpPr>
        <p:grpSpPr bwMode="auto">
          <a:xfrm>
            <a:off x="5805756" y="3774760"/>
            <a:ext cx="2929422" cy="402856"/>
            <a:chOff x="0" y="0"/>
            <a:chExt cx="1847" cy="254"/>
          </a:xfrm>
        </p:grpSpPr>
        <p:grpSp>
          <p:nvGrpSpPr>
            <p:cNvPr id="91160" name="Group 24">
              <a:extLst>
                <a:ext uri="{FF2B5EF4-FFF2-40B4-BE49-F238E27FC236}">
                  <a16:creationId xmlns:a16="http://schemas.microsoft.com/office/drawing/2014/main" id="{DA5C66DF-5864-7F25-ACB1-FA7C57CF5F0A}"/>
                </a:ext>
              </a:extLst>
            </p:cNvPr>
            <p:cNvGrpSpPr>
              <a:grpSpLocks/>
            </p:cNvGrpSpPr>
            <p:nvPr/>
          </p:nvGrpSpPr>
          <p:grpSpPr bwMode="auto">
            <a:xfrm>
              <a:off x="0" y="21"/>
              <a:ext cx="1622" cy="233"/>
              <a:chOff x="0" y="0"/>
              <a:chExt cx="1622" cy="233"/>
            </a:xfrm>
          </p:grpSpPr>
          <p:sp>
            <p:nvSpPr>
              <p:cNvPr id="91161" name="Line 25">
                <a:extLst>
                  <a:ext uri="{FF2B5EF4-FFF2-40B4-BE49-F238E27FC236}">
                    <a16:creationId xmlns:a16="http://schemas.microsoft.com/office/drawing/2014/main" id="{8161494E-858A-2107-FF98-AC1961236BAB}"/>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62" name="Text Box 26">
                <a:extLst>
                  <a:ext uri="{FF2B5EF4-FFF2-40B4-BE49-F238E27FC236}">
                    <a16:creationId xmlns:a16="http://schemas.microsoft.com/office/drawing/2014/main" id="{478D8B31-B32B-CCD1-E9A0-75D8EFBA700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1</a:t>
                </a:r>
              </a:p>
            </p:txBody>
          </p:sp>
          <p:sp>
            <p:nvSpPr>
              <p:cNvPr id="91163" name="Oval 27">
                <a:extLst>
                  <a:ext uri="{FF2B5EF4-FFF2-40B4-BE49-F238E27FC236}">
                    <a16:creationId xmlns:a16="http://schemas.microsoft.com/office/drawing/2014/main" id="{F3FBDBDD-896A-5AEA-1286-4635D773BF56}"/>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91164" name="Text Box 28">
              <a:extLst>
                <a:ext uri="{FF2B5EF4-FFF2-40B4-BE49-F238E27FC236}">
                  <a16:creationId xmlns:a16="http://schemas.microsoft.com/office/drawing/2014/main" id="{F2340980-05FC-E564-B653-9ED14B5E3866}"/>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A</a:t>
              </a:r>
              <a:endParaRPr lang="en-US" altLang="zh-CN" sz="2398" baseline="-25000">
                <a:ea typeface="宋体" panose="02010600030101010101" pitchFamily="2" charset="-122"/>
              </a:endParaRPr>
            </a:p>
          </p:txBody>
        </p:sp>
      </p:grpSp>
      <p:grpSp>
        <p:nvGrpSpPr>
          <p:cNvPr id="91165" name="Group 29">
            <a:extLst>
              <a:ext uri="{FF2B5EF4-FFF2-40B4-BE49-F238E27FC236}">
                <a16:creationId xmlns:a16="http://schemas.microsoft.com/office/drawing/2014/main" id="{769C6FA7-DABC-B84A-DA9E-5A585089848E}"/>
              </a:ext>
            </a:extLst>
          </p:cNvPr>
          <p:cNvGrpSpPr>
            <a:grpSpLocks/>
          </p:cNvGrpSpPr>
          <p:nvPr/>
        </p:nvGrpSpPr>
        <p:grpSpPr bwMode="auto">
          <a:xfrm>
            <a:off x="5805756" y="2953189"/>
            <a:ext cx="2172879" cy="2783507"/>
            <a:chOff x="0" y="0"/>
            <a:chExt cx="1370" cy="1755"/>
          </a:xfrm>
        </p:grpSpPr>
        <p:sp>
          <p:nvSpPr>
            <p:cNvPr id="91166" name="Oval 30">
              <a:extLst>
                <a:ext uri="{FF2B5EF4-FFF2-40B4-BE49-F238E27FC236}">
                  <a16:creationId xmlns:a16="http://schemas.microsoft.com/office/drawing/2014/main" id="{ECA8C904-10C9-A17C-95DF-3AB0B7942BF9}"/>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nvGrpSpPr>
            <p:cNvPr id="91167" name="Group 31">
              <a:extLst>
                <a:ext uri="{FF2B5EF4-FFF2-40B4-BE49-F238E27FC236}">
                  <a16:creationId xmlns:a16="http://schemas.microsoft.com/office/drawing/2014/main" id="{96DE0D0A-EB21-1AAC-83CC-5558F1BAE9CA}"/>
                </a:ext>
              </a:extLst>
            </p:cNvPr>
            <p:cNvGrpSpPr>
              <a:grpSpLocks/>
            </p:cNvGrpSpPr>
            <p:nvPr/>
          </p:nvGrpSpPr>
          <p:grpSpPr bwMode="auto">
            <a:xfrm>
              <a:off x="314" y="268"/>
              <a:ext cx="875" cy="1230"/>
              <a:chOff x="0" y="0"/>
              <a:chExt cx="795" cy="646"/>
            </a:xfrm>
          </p:grpSpPr>
          <p:sp>
            <p:nvSpPr>
              <p:cNvPr id="91168" name="Line 32">
                <a:extLst>
                  <a:ext uri="{FF2B5EF4-FFF2-40B4-BE49-F238E27FC236}">
                    <a16:creationId xmlns:a16="http://schemas.microsoft.com/office/drawing/2014/main" id="{D7B51ACA-7DB6-C263-2648-AF36A9270145}"/>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69" name="Line 33">
                <a:extLst>
                  <a:ext uri="{FF2B5EF4-FFF2-40B4-BE49-F238E27FC236}">
                    <a16:creationId xmlns:a16="http://schemas.microsoft.com/office/drawing/2014/main" id="{F161E95A-7028-93FC-54C0-31386F8B694E}"/>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91170" name="Text Box 34">
              <a:extLst>
                <a:ext uri="{FF2B5EF4-FFF2-40B4-BE49-F238E27FC236}">
                  <a16:creationId xmlns:a16="http://schemas.microsoft.com/office/drawing/2014/main" id="{09D362B0-3288-5F43-64A7-E4D8EC8C7C4C}"/>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2</a:t>
              </a:r>
            </a:p>
          </p:txBody>
        </p:sp>
        <p:sp>
          <p:nvSpPr>
            <p:cNvPr id="91171" name="Text Box 35">
              <a:extLst>
                <a:ext uri="{FF2B5EF4-FFF2-40B4-BE49-F238E27FC236}">
                  <a16:creationId xmlns:a16="http://schemas.microsoft.com/office/drawing/2014/main" id="{4181729B-E863-A267-A1F0-463697B41B54}"/>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2</a:t>
              </a:r>
            </a:p>
          </p:txBody>
        </p:sp>
        <p:sp>
          <p:nvSpPr>
            <p:cNvPr id="91172" name="Text Box 36">
              <a:extLst>
                <a:ext uri="{FF2B5EF4-FFF2-40B4-BE49-F238E27FC236}">
                  <a16:creationId xmlns:a16="http://schemas.microsoft.com/office/drawing/2014/main" id="{691A3FDA-3F67-9C6F-7CF1-19FA3F48DB89}"/>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B</a:t>
              </a:r>
              <a:endParaRPr lang="en-US" altLang="zh-CN" sz="2398" baseline="-25000">
                <a:ea typeface="宋体" panose="02010600030101010101" pitchFamily="2" charset="-122"/>
              </a:endParaRPr>
            </a:p>
          </p:txBody>
        </p:sp>
      </p:grpSp>
      <p:sp>
        <p:nvSpPr>
          <p:cNvPr id="91182" name="Line 47">
            <a:extLst>
              <a:ext uri="{FF2B5EF4-FFF2-40B4-BE49-F238E27FC236}">
                <a16:creationId xmlns:a16="http://schemas.microsoft.com/office/drawing/2014/main" id="{9EC94DA8-333D-0BAC-5E33-3E34F0010C72}"/>
              </a:ext>
            </a:extLst>
          </p:cNvPr>
          <p:cNvSpPr>
            <a:spLocks noChangeShapeType="1"/>
          </p:cNvSpPr>
          <p:nvPr/>
        </p:nvSpPr>
        <p:spPr bwMode="auto">
          <a:xfrm flipH="1">
            <a:off x="7713766" y="5281499"/>
            <a:ext cx="575735" cy="0"/>
          </a:xfrm>
          <a:prstGeom prst="line">
            <a:avLst/>
          </a:prstGeom>
          <a:noFill/>
          <a:ln w="38100">
            <a:solidFill>
              <a:srgbClr val="008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84" name="Arc 51">
            <a:extLst>
              <a:ext uri="{FF2B5EF4-FFF2-40B4-BE49-F238E27FC236}">
                <a16:creationId xmlns:a16="http://schemas.microsoft.com/office/drawing/2014/main" id="{2B1F9A6B-0731-F77C-5B3D-E205EADBF900}"/>
              </a:ext>
            </a:extLst>
          </p:cNvPr>
          <p:cNvSpPr>
            <a:spLocks/>
          </p:cNvSpPr>
          <p:nvPr/>
        </p:nvSpPr>
        <p:spPr bwMode="auto">
          <a:xfrm flipH="1" flipV="1">
            <a:off x="7693146" y="3300532"/>
            <a:ext cx="696273" cy="683585"/>
          </a:xfrm>
          <a:custGeom>
            <a:avLst/>
            <a:gdLst>
              <a:gd name="T0" fmla="*/ 171267656 w 21073"/>
              <a:gd name="T1" fmla="*/ 0 h 21075"/>
              <a:gd name="T2" fmla="*/ 762220967 w 21073"/>
              <a:gd name="T3" fmla="*/ 558935709 h 21075"/>
              <a:gd name="T4" fmla="*/ 0 w 21073"/>
              <a:gd name="T5" fmla="*/ 721168466 h 21075"/>
              <a:gd name="T6" fmla="*/ 0 60000 65536"/>
              <a:gd name="T7" fmla="*/ 0 60000 65536"/>
              <a:gd name="T8" fmla="*/ 0 60000 65536"/>
              <a:gd name="T9" fmla="*/ 0 w 21073"/>
              <a:gd name="T10" fmla="*/ 0 h 21075"/>
              <a:gd name="T11" fmla="*/ 21073 w 21073"/>
              <a:gd name="T12" fmla="*/ 21075 h 21075"/>
            </a:gdLst>
            <a:ahLst/>
            <a:cxnLst>
              <a:cxn ang="T6">
                <a:pos x="T0" y="T1"/>
              </a:cxn>
              <a:cxn ang="T7">
                <a:pos x="T2" y="T3"/>
              </a:cxn>
              <a:cxn ang="T8">
                <a:pos x="T4" y="T5"/>
              </a:cxn>
            </a:cxnLst>
            <a:rect l="T9" t="T10" r="T11" b="T12"/>
            <a:pathLst>
              <a:path w="21073" h="21075" fill="none" extrusionOk="0">
                <a:moveTo>
                  <a:pt x="4734" y="0"/>
                </a:moveTo>
                <a:cubicBezTo>
                  <a:pt x="12879" y="1830"/>
                  <a:pt x="19240" y="8189"/>
                  <a:pt x="21073" y="16333"/>
                </a:cubicBezTo>
              </a:path>
              <a:path w="21073" h="21075" stroke="0" extrusionOk="0">
                <a:moveTo>
                  <a:pt x="4734" y="0"/>
                </a:moveTo>
                <a:cubicBezTo>
                  <a:pt x="12879" y="1830"/>
                  <a:pt x="19240" y="8189"/>
                  <a:pt x="21073" y="16333"/>
                </a:cubicBezTo>
                <a:lnTo>
                  <a:pt x="0" y="21075"/>
                </a:lnTo>
                <a:close/>
              </a:path>
            </a:pathLst>
          </a:custGeom>
          <a:noFill/>
          <a:ln w="38100">
            <a:solidFill>
              <a:srgbClr val="00CC00"/>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91185" name="FlagCount" hidden="1">
            <a:hlinkClick r:id="rId3" action="ppaction://hlinkfile"/>
            <a:extLst>
              <a:ext uri="{FF2B5EF4-FFF2-40B4-BE49-F238E27FC236}">
                <a16:creationId xmlns:a16="http://schemas.microsoft.com/office/drawing/2014/main" id="{AA40F31F-6A83-4176-DD63-B3F850A86C5E}"/>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93807854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1143">
                                            <p:txEl>
                                              <p:pRg st="0" end="0"/>
                                            </p:txEl>
                                          </p:spTgt>
                                        </p:tgtEl>
                                        <p:attrNameLst>
                                          <p:attrName>style.visibility</p:attrName>
                                        </p:attrNameLst>
                                      </p:cBhvr>
                                      <p:to>
                                        <p:strVal val="visible"/>
                                      </p:to>
                                    </p:set>
                                    <p:animEffect transition="in" filter="wipe(left)">
                                      <p:cBhvr>
                                        <p:cTn id="7" dur="500"/>
                                        <p:tgtEl>
                                          <p:spTgt spid="91143">
                                            <p:txEl>
                                              <p:pRg st="0" end="0"/>
                                            </p:txEl>
                                          </p:spTgt>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91184"/>
                                        </p:tgtEl>
                                        <p:attrNameLst>
                                          <p:attrName>style.visibility</p:attrName>
                                        </p:attrNameLst>
                                      </p:cBhvr>
                                      <p:to>
                                        <p:strVal val="visible"/>
                                      </p:to>
                                    </p:set>
                                    <p:animEffect transition="in" filter="strips(downRight)">
                                      <p:cBhvr>
                                        <p:cTn id="11" dur="500"/>
                                        <p:tgtEl>
                                          <p:spTgt spid="91184"/>
                                        </p:tgtEl>
                                      </p:cBhvr>
                                    </p:animEffect>
                                  </p:childTnLst>
                                  <p:subTnLst>
                                    <p:set>
                                      <p:cBhvr override="childStyle">
                                        <p:cTn dur="1" fill="hold" display="0" masterRel="nextClick" afterEffect="1"/>
                                        <p:tgtEl>
                                          <p:spTgt spid="91184"/>
                                        </p:tgtEl>
                                        <p:attrNameLst>
                                          <p:attrName>style.visibility</p:attrName>
                                        </p:attrNameLst>
                                      </p:cBhvr>
                                      <p:to>
                                        <p:strVal val="hidden"/>
                                      </p:to>
                                    </p:set>
                                  </p:subTnLst>
                                </p:cTn>
                              </p:par>
                            </p:childTnLst>
                          </p:cTn>
                        </p:par>
                        <p:par>
                          <p:cTn id="12" fill="hold" nodeType="afterGroup">
                            <p:stCondLst>
                              <p:cond delay="1000"/>
                            </p:stCondLst>
                            <p:childTnLst>
                              <p:par>
                                <p:cTn id="13" presetID="17" presetClass="entr" presetSubtype="8" fill="hold" nodeType="afterEffect">
                                  <p:stCondLst>
                                    <p:cond delay="0"/>
                                  </p:stCondLst>
                                  <p:childTnLst>
                                    <p:set>
                                      <p:cBhvr>
                                        <p:cTn id="14" dur="1" fill="hold">
                                          <p:stCondLst>
                                            <p:cond delay="0"/>
                                          </p:stCondLst>
                                        </p:cTn>
                                        <p:tgtEl>
                                          <p:spTgt spid="91182"/>
                                        </p:tgtEl>
                                        <p:attrNameLst>
                                          <p:attrName>style.visibility</p:attrName>
                                        </p:attrNameLst>
                                      </p:cBhvr>
                                      <p:to>
                                        <p:strVal val="visible"/>
                                      </p:to>
                                    </p:set>
                                    <p:anim calcmode="lin" valueType="num">
                                      <p:cBhvr>
                                        <p:cTn id="15" dur="500" fill="hold"/>
                                        <p:tgtEl>
                                          <p:spTgt spid="91182"/>
                                        </p:tgtEl>
                                        <p:attrNameLst>
                                          <p:attrName>ppt_x</p:attrName>
                                        </p:attrNameLst>
                                      </p:cBhvr>
                                      <p:tavLst>
                                        <p:tav tm="0">
                                          <p:val>
                                            <p:strVal val="#ppt_x-#ppt_w/2"/>
                                          </p:val>
                                        </p:tav>
                                        <p:tav tm="100000">
                                          <p:val>
                                            <p:strVal val="#ppt_x"/>
                                          </p:val>
                                        </p:tav>
                                      </p:tavLst>
                                    </p:anim>
                                    <p:anim calcmode="lin" valueType="num">
                                      <p:cBhvr>
                                        <p:cTn id="16" dur="500" fill="hold"/>
                                        <p:tgtEl>
                                          <p:spTgt spid="91182"/>
                                        </p:tgtEl>
                                        <p:attrNameLst>
                                          <p:attrName>ppt_y</p:attrName>
                                        </p:attrNameLst>
                                      </p:cBhvr>
                                      <p:tavLst>
                                        <p:tav tm="0">
                                          <p:val>
                                            <p:strVal val="#ppt_y"/>
                                          </p:val>
                                        </p:tav>
                                        <p:tav tm="100000">
                                          <p:val>
                                            <p:strVal val="#ppt_y"/>
                                          </p:val>
                                        </p:tav>
                                      </p:tavLst>
                                    </p:anim>
                                    <p:anim calcmode="lin" valueType="num">
                                      <p:cBhvr>
                                        <p:cTn id="17" dur="500" fill="hold"/>
                                        <p:tgtEl>
                                          <p:spTgt spid="91182"/>
                                        </p:tgtEl>
                                        <p:attrNameLst>
                                          <p:attrName>ppt_w</p:attrName>
                                        </p:attrNameLst>
                                      </p:cBhvr>
                                      <p:tavLst>
                                        <p:tav tm="0">
                                          <p:val>
                                            <p:fltVal val="0"/>
                                          </p:val>
                                        </p:tav>
                                        <p:tav tm="100000">
                                          <p:val>
                                            <p:strVal val="#ppt_w"/>
                                          </p:val>
                                        </p:tav>
                                      </p:tavLst>
                                    </p:anim>
                                    <p:anim calcmode="lin" valueType="num">
                                      <p:cBhvr>
                                        <p:cTn id="18" dur="500" fill="hold"/>
                                        <p:tgtEl>
                                          <p:spTgt spid="911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build="p" bldLvl="5" autoUpdateAnimBg="0"/>
      <p:bldP spid="91184"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66EC776-5052-74AF-471D-2220DA92559D}"/>
              </a:ext>
            </a:extLst>
          </p:cNvPr>
          <p:cNvSpPr>
            <a:spLocks noGrp="1"/>
          </p:cNvSpPr>
          <p:nvPr>
            <p:ph type="sldNum" sz="quarter" idx="11"/>
          </p:nvPr>
        </p:nvSpPr>
        <p:spPr/>
        <p:txBody>
          <a:bodyPr/>
          <a:lstStyle/>
          <a:p>
            <a:fld id="{3E9388CC-6AAC-8A4F-88B9-84D67BBA1E59}" type="slidenum">
              <a:rPr lang="zh-CN" altLang="zh-CN"/>
              <a:pPr/>
              <a:t>41</a:t>
            </a:fld>
            <a:endParaRPr lang="zh-CN" altLang="zh-CN"/>
          </a:p>
        </p:txBody>
      </p:sp>
      <p:grpSp>
        <p:nvGrpSpPr>
          <p:cNvPr id="91138" name="Group 2">
            <a:extLst>
              <a:ext uri="{FF2B5EF4-FFF2-40B4-BE49-F238E27FC236}">
                <a16:creationId xmlns:a16="http://schemas.microsoft.com/office/drawing/2014/main" id="{D9B14D64-351F-48BE-9327-6D34EFAEA0D1}"/>
              </a:ext>
            </a:extLst>
          </p:cNvPr>
          <p:cNvGrpSpPr>
            <a:grpSpLocks/>
          </p:cNvGrpSpPr>
          <p:nvPr/>
        </p:nvGrpSpPr>
        <p:grpSpPr bwMode="auto">
          <a:xfrm>
            <a:off x="7726453" y="1481338"/>
            <a:ext cx="1176845" cy="4307695"/>
            <a:chOff x="0" y="0"/>
            <a:chExt cx="742" cy="2716"/>
          </a:xfrm>
        </p:grpSpPr>
        <p:sp>
          <p:nvSpPr>
            <p:cNvPr id="91139" name="Line 3">
              <a:extLst>
                <a:ext uri="{FF2B5EF4-FFF2-40B4-BE49-F238E27FC236}">
                  <a16:creationId xmlns:a16="http://schemas.microsoft.com/office/drawing/2014/main" id="{0C1AF0FD-86B7-E3BE-9B30-268C0562B2F0}"/>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40" name="Text Box 4">
              <a:extLst>
                <a:ext uri="{FF2B5EF4-FFF2-40B4-BE49-F238E27FC236}">
                  <a16:creationId xmlns:a16="http://schemas.microsoft.com/office/drawing/2014/main" id="{1C1A9797-44B7-F7C6-50A2-C553809B8D8B}"/>
                </a:ext>
              </a:extLst>
            </p:cNvPr>
            <p:cNvSpPr txBox="1">
              <a:spLocks noChangeArrowheads="1"/>
            </p:cNvSpPr>
            <p:nvPr/>
          </p:nvSpPr>
          <p:spPr bwMode="auto">
            <a:xfrm>
              <a:off x="0" y="0"/>
              <a:ext cx="7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a:ea typeface="宋体" panose="02010600030101010101" pitchFamily="2" charset="-122"/>
                </a:rPr>
                <a:t>LRAS</a:t>
              </a:r>
              <a:endParaRPr lang="en-US" altLang="zh-CN" sz="2398" i="1" baseline="-25000">
                <a:ea typeface="宋体" panose="02010600030101010101" pitchFamily="2" charset="-122"/>
              </a:endParaRPr>
            </a:p>
          </p:txBody>
        </p:sp>
        <p:sp>
          <p:nvSpPr>
            <p:cNvPr id="91141" name="Rectangle 5">
              <a:extLst>
                <a:ext uri="{FF2B5EF4-FFF2-40B4-BE49-F238E27FC236}">
                  <a16:creationId xmlns:a16="http://schemas.microsoft.com/office/drawing/2014/main" id="{9B5715C8-BD35-72DA-44E9-3C7E9EC6F546}"/>
                </a:ext>
              </a:extLst>
            </p:cNvPr>
            <p:cNvSpPr>
              <a:spLocks noChangeArrowheads="1"/>
            </p:cNvSpPr>
            <p:nvPr/>
          </p:nvSpPr>
          <p:spPr bwMode="auto">
            <a:xfrm>
              <a:off x="221" y="2425"/>
              <a:ext cx="33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N</a:t>
              </a:r>
            </a:p>
          </p:txBody>
        </p:sp>
      </p:grpSp>
      <p:sp>
        <p:nvSpPr>
          <p:cNvPr id="91142" name="Rectangle 6">
            <a:extLst>
              <a:ext uri="{FF2B5EF4-FFF2-40B4-BE49-F238E27FC236}">
                <a16:creationId xmlns:a16="http://schemas.microsoft.com/office/drawing/2014/main" id="{0DAE4E5C-D218-361D-4A29-36BE98836825}"/>
              </a:ext>
            </a:extLst>
          </p:cNvPr>
          <p:cNvSpPr>
            <a:spLocks noGrp="1" noChangeArrowheads="1"/>
          </p:cNvSpPr>
          <p:nvPr>
            <p:ph type="title" idx="4294967295"/>
          </p:nvPr>
        </p:nvSpPr>
        <p:spPr>
          <a:xfrm>
            <a:off x="1528195" y="166509"/>
            <a:ext cx="9135611" cy="648692"/>
          </a:xfrm>
        </p:spPr>
        <p:txBody>
          <a:bodyPr/>
          <a:lstStyle/>
          <a:p>
            <a:r>
              <a:rPr lang="zh-CN" altLang="en-US" sz="3597">
                <a:ea typeface="宋体" panose="02010600030101010101" pitchFamily="2" charset="-122"/>
              </a:rPr>
              <a:t>抵消短期总供给的不利移动</a:t>
            </a:r>
            <a:endParaRPr lang="zh-CN" altLang="en-US" sz="3597" i="1">
              <a:ea typeface="宋体" panose="02010600030101010101" pitchFamily="2" charset="-122"/>
            </a:endParaRPr>
          </a:p>
        </p:txBody>
      </p:sp>
      <p:grpSp>
        <p:nvGrpSpPr>
          <p:cNvPr id="91144" name="Group 8">
            <a:extLst>
              <a:ext uri="{FF2B5EF4-FFF2-40B4-BE49-F238E27FC236}">
                <a16:creationId xmlns:a16="http://schemas.microsoft.com/office/drawing/2014/main" id="{BA2EFB3C-0679-9012-3059-CD63257AC3CF}"/>
              </a:ext>
            </a:extLst>
          </p:cNvPr>
          <p:cNvGrpSpPr>
            <a:grpSpLocks/>
          </p:cNvGrpSpPr>
          <p:nvPr/>
        </p:nvGrpSpPr>
        <p:grpSpPr bwMode="auto">
          <a:xfrm>
            <a:off x="6129309" y="1425828"/>
            <a:ext cx="3990485" cy="4108181"/>
            <a:chOff x="0" y="0"/>
            <a:chExt cx="2786" cy="2423"/>
          </a:xfrm>
        </p:grpSpPr>
        <p:grpSp>
          <p:nvGrpSpPr>
            <p:cNvPr id="91145" name="Group 9">
              <a:extLst>
                <a:ext uri="{FF2B5EF4-FFF2-40B4-BE49-F238E27FC236}">
                  <a16:creationId xmlns:a16="http://schemas.microsoft.com/office/drawing/2014/main" id="{EC45EDC3-55A1-70D8-6F0B-59B5CDBFFB71}"/>
                </a:ext>
              </a:extLst>
            </p:cNvPr>
            <p:cNvGrpSpPr>
              <a:grpSpLocks/>
            </p:cNvGrpSpPr>
            <p:nvPr/>
          </p:nvGrpSpPr>
          <p:grpSpPr bwMode="auto">
            <a:xfrm>
              <a:off x="118" y="252"/>
              <a:ext cx="2409" cy="2049"/>
              <a:chOff x="0" y="0"/>
              <a:chExt cx="2116" cy="2027"/>
            </a:xfrm>
          </p:grpSpPr>
          <p:sp>
            <p:nvSpPr>
              <p:cNvPr id="91146" name="Line 10">
                <a:extLst>
                  <a:ext uri="{FF2B5EF4-FFF2-40B4-BE49-F238E27FC236}">
                    <a16:creationId xmlns:a16="http://schemas.microsoft.com/office/drawing/2014/main" id="{78BEF08A-0E6A-0A2B-5B38-3C6800C50B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47" name="Line 11">
                <a:extLst>
                  <a:ext uri="{FF2B5EF4-FFF2-40B4-BE49-F238E27FC236}">
                    <a16:creationId xmlns:a16="http://schemas.microsoft.com/office/drawing/2014/main" id="{1AB33FF6-BE17-001B-D896-ADC39A897638}"/>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91148" name="Text Box 12">
              <a:extLst>
                <a:ext uri="{FF2B5EF4-FFF2-40B4-BE49-F238E27FC236}">
                  <a16:creationId xmlns:a16="http://schemas.microsoft.com/office/drawing/2014/main" id="{590CCFAB-885B-450A-F31C-2DA4E0CFDCAF}"/>
                </a:ext>
              </a:extLst>
            </p:cNvPr>
            <p:cNvSpPr txBox="1">
              <a:spLocks noChangeArrowheads="1"/>
            </p:cNvSpPr>
            <p:nvPr/>
          </p:nvSpPr>
          <p:spPr bwMode="auto">
            <a:xfrm>
              <a:off x="0" y="0"/>
              <a:ext cx="2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p>
          </p:txBody>
        </p:sp>
        <p:sp>
          <p:nvSpPr>
            <p:cNvPr id="91149" name="Text Box 13">
              <a:extLst>
                <a:ext uri="{FF2B5EF4-FFF2-40B4-BE49-F238E27FC236}">
                  <a16:creationId xmlns:a16="http://schemas.microsoft.com/office/drawing/2014/main" id="{3EA878CF-8C7F-1AB1-5CC8-B1627593F095}"/>
                </a:ext>
              </a:extLst>
            </p:cNvPr>
            <p:cNvSpPr txBox="1">
              <a:spLocks noChangeArrowheads="1"/>
            </p:cNvSpPr>
            <p:nvPr/>
          </p:nvSpPr>
          <p:spPr bwMode="auto">
            <a:xfrm>
              <a:off x="2496" y="2151"/>
              <a:ext cx="2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p>
          </p:txBody>
        </p:sp>
      </p:grpSp>
      <p:grpSp>
        <p:nvGrpSpPr>
          <p:cNvPr id="91150" name="Group 14">
            <a:extLst>
              <a:ext uri="{FF2B5EF4-FFF2-40B4-BE49-F238E27FC236}">
                <a16:creationId xmlns:a16="http://schemas.microsoft.com/office/drawing/2014/main" id="{8BDDCFCE-66F1-6996-3324-D4647F555D8D}"/>
              </a:ext>
            </a:extLst>
          </p:cNvPr>
          <p:cNvGrpSpPr>
            <a:grpSpLocks/>
          </p:cNvGrpSpPr>
          <p:nvPr/>
        </p:nvGrpSpPr>
        <p:grpSpPr bwMode="auto">
          <a:xfrm>
            <a:off x="6865232" y="2559850"/>
            <a:ext cx="3268835" cy="2612213"/>
            <a:chOff x="0" y="0"/>
            <a:chExt cx="2061" cy="1647"/>
          </a:xfrm>
        </p:grpSpPr>
        <p:sp>
          <p:nvSpPr>
            <p:cNvPr id="91151" name="Line 15">
              <a:extLst>
                <a:ext uri="{FF2B5EF4-FFF2-40B4-BE49-F238E27FC236}">
                  <a16:creationId xmlns:a16="http://schemas.microsoft.com/office/drawing/2014/main" id="{DCCF44EF-73A5-C1F7-C19E-CB9FC3A0DC54}"/>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52" name="Text Box 16">
              <a:extLst>
                <a:ext uri="{FF2B5EF4-FFF2-40B4-BE49-F238E27FC236}">
                  <a16:creationId xmlns:a16="http://schemas.microsoft.com/office/drawing/2014/main" id="{983C7041-799A-237C-B2E7-4F6357711D23}"/>
                </a:ext>
              </a:extLst>
            </p:cNvPr>
            <p:cNvSpPr txBox="1">
              <a:spLocks noChangeArrowheads="1"/>
            </p:cNvSpPr>
            <p:nvPr/>
          </p:nvSpPr>
          <p:spPr bwMode="auto">
            <a:xfrm>
              <a:off x="1388" y="1356"/>
              <a:ext cx="6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AD</a:t>
              </a:r>
              <a:r>
                <a:rPr lang="en-US" altLang="zh-CN" sz="2398" baseline="-25000" dirty="0">
                  <a:ea typeface="宋体" panose="02010600030101010101" pitchFamily="2" charset="-122"/>
                </a:rPr>
                <a:t>1</a:t>
              </a:r>
            </a:p>
          </p:txBody>
        </p:sp>
      </p:grpSp>
      <p:grpSp>
        <p:nvGrpSpPr>
          <p:cNvPr id="91153" name="Group 17">
            <a:extLst>
              <a:ext uri="{FF2B5EF4-FFF2-40B4-BE49-F238E27FC236}">
                <a16:creationId xmlns:a16="http://schemas.microsoft.com/office/drawing/2014/main" id="{5DBC6B4E-71E2-A54A-CD16-DCC1E13D21AD}"/>
              </a:ext>
            </a:extLst>
          </p:cNvPr>
          <p:cNvGrpSpPr>
            <a:grpSpLocks/>
          </p:cNvGrpSpPr>
          <p:nvPr/>
        </p:nvGrpSpPr>
        <p:grpSpPr bwMode="auto">
          <a:xfrm>
            <a:off x="7314082" y="2670873"/>
            <a:ext cx="3222841" cy="2233149"/>
            <a:chOff x="0" y="0"/>
            <a:chExt cx="2032" cy="1408"/>
          </a:xfrm>
        </p:grpSpPr>
        <p:sp>
          <p:nvSpPr>
            <p:cNvPr id="91154" name="Line 18">
              <a:extLst>
                <a:ext uri="{FF2B5EF4-FFF2-40B4-BE49-F238E27FC236}">
                  <a16:creationId xmlns:a16="http://schemas.microsoft.com/office/drawing/2014/main" id="{7D5CC12C-8F91-1A68-58BB-36B8BA6E17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55" name="Text Box 19">
              <a:extLst>
                <a:ext uri="{FF2B5EF4-FFF2-40B4-BE49-F238E27FC236}">
                  <a16:creationId xmlns:a16="http://schemas.microsoft.com/office/drawing/2014/main" id="{FA9DAE91-DFA5-5609-4ED4-B5F02AF91E47}"/>
                </a:ext>
              </a:extLst>
            </p:cNvPr>
            <p:cNvSpPr txBox="1">
              <a:spLocks noChangeArrowheads="1"/>
            </p:cNvSpPr>
            <p:nvPr/>
          </p:nvSpPr>
          <p:spPr bwMode="auto">
            <a:xfrm>
              <a:off x="1153" y="0"/>
              <a:ext cx="8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1</a:t>
              </a:r>
            </a:p>
          </p:txBody>
        </p:sp>
      </p:grpSp>
      <p:grpSp>
        <p:nvGrpSpPr>
          <p:cNvPr id="91156" name="Group 20">
            <a:extLst>
              <a:ext uri="{FF2B5EF4-FFF2-40B4-BE49-F238E27FC236}">
                <a16:creationId xmlns:a16="http://schemas.microsoft.com/office/drawing/2014/main" id="{9F09D942-3E36-F41F-0099-AD5124B40425}"/>
              </a:ext>
            </a:extLst>
          </p:cNvPr>
          <p:cNvGrpSpPr>
            <a:grpSpLocks/>
          </p:cNvGrpSpPr>
          <p:nvPr/>
        </p:nvGrpSpPr>
        <p:grpSpPr bwMode="auto">
          <a:xfrm>
            <a:off x="6617809" y="1952395"/>
            <a:ext cx="3519431" cy="2434576"/>
            <a:chOff x="0" y="0"/>
            <a:chExt cx="2219" cy="1535"/>
          </a:xfrm>
        </p:grpSpPr>
        <p:sp>
          <p:nvSpPr>
            <p:cNvPr id="91157" name="Line 21">
              <a:extLst>
                <a:ext uri="{FF2B5EF4-FFF2-40B4-BE49-F238E27FC236}">
                  <a16:creationId xmlns:a16="http://schemas.microsoft.com/office/drawing/2014/main" id="{694850CA-F298-986F-4FA5-F884C8AE5E04}"/>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58" name="Text Box 22">
              <a:extLst>
                <a:ext uri="{FF2B5EF4-FFF2-40B4-BE49-F238E27FC236}">
                  <a16:creationId xmlns:a16="http://schemas.microsoft.com/office/drawing/2014/main" id="{957D9DD5-0511-30D9-C329-0E9234B69BDA}"/>
                </a:ext>
              </a:extLst>
            </p:cNvPr>
            <p:cNvSpPr txBox="1">
              <a:spLocks noChangeArrowheads="1"/>
            </p:cNvSpPr>
            <p:nvPr/>
          </p:nvSpPr>
          <p:spPr bwMode="auto">
            <a:xfrm>
              <a:off x="1350" y="0"/>
              <a:ext cx="8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SRAS</a:t>
              </a:r>
              <a:r>
                <a:rPr lang="en-US" altLang="zh-CN" sz="2398" baseline="-25000" dirty="0">
                  <a:ea typeface="宋体" panose="02010600030101010101" pitchFamily="2" charset="-122"/>
                </a:rPr>
                <a:t>2</a:t>
              </a:r>
            </a:p>
          </p:txBody>
        </p:sp>
      </p:grpSp>
      <p:grpSp>
        <p:nvGrpSpPr>
          <p:cNvPr id="91159" name="Group 23">
            <a:extLst>
              <a:ext uri="{FF2B5EF4-FFF2-40B4-BE49-F238E27FC236}">
                <a16:creationId xmlns:a16="http://schemas.microsoft.com/office/drawing/2014/main" id="{3CE40815-456A-046F-99A7-5482F734A4AB}"/>
              </a:ext>
            </a:extLst>
          </p:cNvPr>
          <p:cNvGrpSpPr>
            <a:grpSpLocks/>
          </p:cNvGrpSpPr>
          <p:nvPr/>
        </p:nvGrpSpPr>
        <p:grpSpPr bwMode="auto">
          <a:xfrm>
            <a:off x="5805756" y="3774760"/>
            <a:ext cx="2929422" cy="402856"/>
            <a:chOff x="0" y="0"/>
            <a:chExt cx="1847" cy="254"/>
          </a:xfrm>
        </p:grpSpPr>
        <p:grpSp>
          <p:nvGrpSpPr>
            <p:cNvPr id="91160" name="Group 24">
              <a:extLst>
                <a:ext uri="{FF2B5EF4-FFF2-40B4-BE49-F238E27FC236}">
                  <a16:creationId xmlns:a16="http://schemas.microsoft.com/office/drawing/2014/main" id="{DA5C66DF-5864-7F25-ACB1-FA7C57CF5F0A}"/>
                </a:ext>
              </a:extLst>
            </p:cNvPr>
            <p:cNvGrpSpPr>
              <a:grpSpLocks/>
            </p:cNvGrpSpPr>
            <p:nvPr/>
          </p:nvGrpSpPr>
          <p:grpSpPr bwMode="auto">
            <a:xfrm>
              <a:off x="0" y="21"/>
              <a:ext cx="1622" cy="233"/>
              <a:chOff x="0" y="0"/>
              <a:chExt cx="1622" cy="233"/>
            </a:xfrm>
          </p:grpSpPr>
          <p:sp>
            <p:nvSpPr>
              <p:cNvPr id="91161" name="Line 25">
                <a:extLst>
                  <a:ext uri="{FF2B5EF4-FFF2-40B4-BE49-F238E27FC236}">
                    <a16:creationId xmlns:a16="http://schemas.microsoft.com/office/drawing/2014/main" id="{8161494E-858A-2107-FF98-AC1961236BAB}"/>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62" name="Text Box 26">
                <a:extLst>
                  <a:ext uri="{FF2B5EF4-FFF2-40B4-BE49-F238E27FC236}">
                    <a16:creationId xmlns:a16="http://schemas.microsoft.com/office/drawing/2014/main" id="{478D8B31-B32B-CCD1-E9A0-75D8EFBA700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1</a:t>
                </a:r>
              </a:p>
            </p:txBody>
          </p:sp>
          <p:sp>
            <p:nvSpPr>
              <p:cNvPr id="91163" name="Oval 27">
                <a:extLst>
                  <a:ext uri="{FF2B5EF4-FFF2-40B4-BE49-F238E27FC236}">
                    <a16:creationId xmlns:a16="http://schemas.microsoft.com/office/drawing/2014/main" id="{F3FBDBDD-896A-5AEA-1286-4635D773BF56}"/>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sp>
          <p:nvSpPr>
            <p:cNvPr id="91164" name="Text Box 28">
              <a:extLst>
                <a:ext uri="{FF2B5EF4-FFF2-40B4-BE49-F238E27FC236}">
                  <a16:creationId xmlns:a16="http://schemas.microsoft.com/office/drawing/2014/main" id="{F2340980-05FC-E564-B653-9ED14B5E3866}"/>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A</a:t>
              </a:r>
              <a:endParaRPr lang="en-US" altLang="zh-CN" sz="2398" baseline="-25000">
                <a:ea typeface="宋体" panose="02010600030101010101" pitchFamily="2" charset="-122"/>
              </a:endParaRPr>
            </a:p>
          </p:txBody>
        </p:sp>
      </p:grpSp>
      <p:grpSp>
        <p:nvGrpSpPr>
          <p:cNvPr id="91165" name="Group 29">
            <a:extLst>
              <a:ext uri="{FF2B5EF4-FFF2-40B4-BE49-F238E27FC236}">
                <a16:creationId xmlns:a16="http://schemas.microsoft.com/office/drawing/2014/main" id="{769C6FA7-DABC-B84A-DA9E-5A585089848E}"/>
              </a:ext>
            </a:extLst>
          </p:cNvPr>
          <p:cNvGrpSpPr>
            <a:grpSpLocks/>
          </p:cNvGrpSpPr>
          <p:nvPr/>
        </p:nvGrpSpPr>
        <p:grpSpPr bwMode="auto">
          <a:xfrm>
            <a:off x="5805756" y="2953189"/>
            <a:ext cx="2172879" cy="2783507"/>
            <a:chOff x="0" y="0"/>
            <a:chExt cx="1370" cy="1755"/>
          </a:xfrm>
        </p:grpSpPr>
        <p:sp>
          <p:nvSpPr>
            <p:cNvPr id="91166" name="Oval 30">
              <a:extLst>
                <a:ext uri="{FF2B5EF4-FFF2-40B4-BE49-F238E27FC236}">
                  <a16:creationId xmlns:a16="http://schemas.microsoft.com/office/drawing/2014/main" id="{ECA8C904-10C9-A17C-95DF-3AB0B7942BF9}"/>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p:nvGrpSpPr>
            <p:cNvPr id="91167" name="Group 31">
              <a:extLst>
                <a:ext uri="{FF2B5EF4-FFF2-40B4-BE49-F238E27FC236}">
                  <a16:creationId xmlns:a16="http://schemas.microsoft.com/office/drawing/2014/main" id="{96DE0D0A-EB21-1AAC-83CC-5558F1BAE9CA}"/>
                </a:ext>
              </a:extLst>
            </p:cNvPr>
            <p:cNvGrpSpPr>
              <a:grpSpLocks/>
            </p:cNvGrpSpPr>
            <p:nvPr/>
          </p:nvGrpSpPr>
          <p:grpSpPr bwMode="auto">
            <a:xfrm>
              <a:off x="314" y="268"/>
              <a:ext cx="875" cy="1230"/>
              <a:chOff x="0" y="0"/>
              <a:chExt cx="795" cy="646"/>
            </a:xfrm>
          </p:grpSpPr>
          <p:sp>
            <p:nvSpPr>
              <p:cNvPr id="91168" name="Line 32">
                <a:extLst>
                  <a:ext uri="{FF2B5EF4-FFF2-40B4-BE49-F238E27FC236}">
                    <a16:creationId xmlns:a16="http://schemas.microsoft.com/office/drawing/2014/main" id="{D7B51ACA-7DB6-C263-2648-AF36A9270145}"/>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69" name="Line 33">
                <a:extLst>
                  <a:ext uri="{FF2B5EF4-FFF2-40B4-BE49-F238E27FC236}">
                    <a16:creationId xmlns:a16="http://schemas.microsoft.com/office/drawing/2014/main" id="{F161E95A-7028-93FC-54C0-31386F8B694E}"/>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grpSp>
        <p:sp>
          <p:nvSpPr>
            <p:cNvPr id="91170" name="Text Box 34">
              <a:extLst>
                <a:ext uri="{FF2B5EF4-FFF2-40B4-BE49-F238E27FC236}">
                  <a16:creationId xmlns:a16="http://schemas.microsoft.com/office/drawing/2014/main" id="{09D362B0-3288-5F43-64A7-E4D8EC8C7C4C}"/>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2</a:t>
              </a:r>
            </a:p>
          </p:txBody>
        </p:sp>
        <p:sp>
          <p:nvSpPr>
            <p:cNvPr id="91171" name="Text Box 35">
              <a:extLst>
                <a:ext uri="{FF2B5EF4-FFF2-40B4-BE49-F238E27FC236}">
                  <a16:creationId xmlns:a16="http://schemas.microsoft.com/office/drawing/2014/main" id="{4181729B-E863-A267-A1F0-463697B41B54}"/>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Y</a:t>
              </a:r>
              <a:r>
                <a:rPr lang="en-US" altLang="zh-CN" sz="2398" b="1" baseline="-25000">
                  <a:ea typeface="宋体" panose="02010600030101010101" pitchFamily="2" charset="-122"/>
                </a:rPr>
                <a:t>2</a:t>
              </a:r>
            </a:p>
          </p:txBody>
        </p:sp>
        <p:sp>
          <p:nvSpPr>
            <p:cNvPr id="91172" name="Text Box 36">
              <a:extLst>
                <a:ext uri="{FF2B5EF4-FFF2-40B4-BE49-F238E27FC236}">
                  <a16:creationId xmlns:a16="http://schemas.microsoft.com/office/drawing/2014/main" id="{691A3FDA-3F67-9C6F-7CF1-19FA3F48DB89}"/>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B</a:t>
              </a:r>
              <a:endParaRPr lang="en-US" altLang="zh-CN" sz="2398" baseline="-25000">
                <a:ea typeface="宋体" panose="02010600030101010101" pitchFamily="2" charset="-122"/>
              </a:endParaRPr>
            </a:p>
          </p:txBody>
        </p:sp>
      </p:grpSp>
      <p:grpSp>
        <p:nvGrpSpPr>
          <p:cNvPr id="91173" name="Group 37">
            <a:extLst>
              <a:ext uri="{FF2B5EF4-FFF2-40B4-BE49-F238E27FC236}">
                <a16:creationId xmlns:a16="http://schemas.microsoft.com/office/drawing/2014/main" id="{E589EF0A-FBBE-9FB4-54DA-FDA6DF726F11}"/>
              </a:ext>
            </a:extLst>
          </p:cNvPr>
          <p:cNvGrpSpPr>
            <a:grpSpLocks/>
          </p:cNvGrpSpPr>
          <p:nvPr/>
        </p:nvGrpSpPr>
        <p:grpSpPr bwMode="auto">
          <a:xfrm>
            <a:off x="7488547" y="1987288"/>
            <a:ext cx="2875497" cy="2374308"/>
            <a:chOff x="0" y="0"/>
            <a:chExt cx="1813" cy="1497"/>
          </a:xfrm>
        </p:grpSpPr>
        <p:sp>
          <p:nvSpPr>
            <p:cNvPr id="91174" name="Line 38">
              <a:extLst>
                <a:ext uri="{FF2B5EF4-FFF2-40B4-BE49-F238E27FC236}">
                  <a16:creationId xmlns:a16="http://schemas.microsoft.com/office/drawing/2014/main" id="{2C6F1D89-CB63-B10F-18CB-408718DCADAA}"/>
                </a:ext>
              </a:extLst>
            </p:cNvPr>
            <p:cNvSpPr>
              <a:spLocks noChangeShapeType="1"/>
            </p:cNvSpPr>
            <p:nvPr/>
          </p:nvSpPr>
          <p:spPr bwMode="auto">
            <a:xfrm>
              <a:off x="0" y="0"/>
              <a:ext cx="1306" cy="1289"/>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75" name="Text Box 39">
              <a:extLst>
                <a:ext uri="{FF2B5EF4-FFF2-40B4-BE49-F238E27FC236}">
                  <a16:creationId xmlns:a16="http://schemas.microsoft.com/office/drawing/2014/main" id="{2FB8AACA-AE4F-08D7-EF41-8EFA6159ED88}"/>
                </a:ext>
              </a:extLst>
            </p:cNvPr>
            <p:cNvSpPr txBox="1">
              <a:spLocks noChangeArrowheads="1"/>
            </p:cNvSpPr>
            <p:nvPr/>
          </p:nvSpPr>
          <p:spPr bwMode="auto">
            <a:xfrm>
              <a:off x="1234" y="1206"/>
              <a:ext cx="5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i="1" dirty="0">
                  <a:ea typeface="宋体" panose="02010600030101010101" pitchFamily="2" charset="-122"/>
                </a:rPr>
                <a:t>AD</a:t>
              </a:r>
              <a:r>
                <a:rPr lang="en-US" altLang="zh-CN" sz="2398" baseline="-25000" dirty="0">
                  <a:ea typeface="宋体" panose="02010600030101010101" pitchFamily="2" charset="-122"/>
                </a:rPr>
                <a:t>2</a:t>
              </a:r>
            </a:p>
          </p:txBody>
        </p:sp>
      </p:grpSp>
      <p:grpSp>
        <p:nvGrpSpPr>
          <p:cNvPr id="91176" name="Group 40">
            <a:extLst>
              <a:ext uri="{FF2B5EF4-FFF2-40B4-BE49-F238E27FC236}">
                <a16:creationId xmlns:a16="http://schemas.microsoft.com/office/drawing/2014/main" id="{79D6E5B1-7EA5-7DDE-49CB-F4C43E4A25AF}"/>
              </a:ext>
            </a:extLst>
          </p:cNvPr>
          <p:cNvGrpSpPr>
            <a:grpSpLocks/>
          </p:cNvGrpSpPr>
          <p:nvPr/>
        </p:nvGrpSpPr>
        <p:grpSpPr bwMode="auto">
          <a:xfrm>
            <a:off x="5804169" y="2612189"/>
            <a:ext cx="2916735" cy="379062"/>
            <a:chOff x="0" y="0"/>
            <a:chExt cx="1839" cy="239"/>
          </a:xfrm>
        </p:grpSpPr>
        <p:sp>
          <p:nvSpPr>
            <p:cNvPr id="91177" name="Line 41">
              <a:extLst>
                <a:ext uri="{FF2B5EF4-FFF2-40B4-BE49-F238E27FC236}">
                  <a16:creationId xmlns:a16="http://schemas.microsoft.com/office/drawing/2014/main" id="{2451EDBC-7B2B-EFC9-9355-EAEB9B5EF17C}"/>
                </a:ext>
              </a:extLst>
            </p:cNvPr>
            <p:cNvSpPr>
              <a:spLocks noChangeShapeType="1"/>
            </p:cNvSpPr>
            <p:nvPr/>
          </p:nvSpPr>
          <p:spPr bwMode="auto">
            <a:xfrm>
              <a:off x="318" y="115"/>
              <a:ext cx="1262" cy="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78" name="Text Box 42">
              <a:extLst>
                <a:ext uri="{FF2B5EF4-FFF2-40B4-BE49-F238E27FC236}">
                  <a16:creationId xmlns:a16="http://schemas.microsoft.com/office/drawing/2014/main" id="{2318340D-F9C9-3573-4AAC-16A3F65A76E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b="1" i="1">
                  <a:ea typeface="宋体" panose="02010600030101010101" pitchFamily="2" charset="-122"/>
                </a:rPr>
                <a:t>P</a:t>
              </a:r>
              <a:r>
                <a:rPr lang="en-US" altLang="zh-CN" sz="2398" b="1" baseline="-25000">
                  <a:ea typeface="宋体" panose="02010600030101010101" pitchFamily="2" charset="-122"/>
                </a:rPr>
                <a:t>3</a:t>
              </a:r>
            </a:p>
          </p:txBody>
        </p:sp>
        <p:sp>
          <p:nvSpPr>
            <p:cNvPr id="91179" name="Text Box 43">
              <a:extLst>
                <a:ext uri="{FF2B5EF4-FFF2-40B4-BE49-F238E27FC236}">
                  <a16:creationId xmlns:a16="http://schemas.microsoft.com/office/drawing/2014/main" id="{14D98B1B-1E51-D7F5-3D7C-306A52D3FACB}"/>
                </a:ext>
              </a:extLst>
            </p:cNvPr>
            <p:cNvSpPr txBox="1">
              <a:spLocks noChangeArrowheads="1"/>
            </p:cNvSpPr>
            <p:nvPr/>
          </p:nvSpPr>
          <p:spPr bwMode="auto">
            <a:xfrm>
              <a:off x="1638" y="6"/>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2398">
                  <a:ea typeface="宋体" panose="02010600030101010101" pitchFamily="2" charset="-122"/>
                </a:rPr>
                <a:t>C</a:t>
              </a:r>
              <a:endParaRPr lang="en-US" altLang="zh-CN" sz="2398" baseline="-25000">
                <a:ea typeface="宋体" panose="02010600030101010101" pitchFamily="2" charset="-122"/>
              </a:endParaRPr>
            </a:p>
          </p:txBody>
        </p:sp>
        <p:sp>
          <p:nvSpPr>
            <p:cNvPr id="91180" name="Oval 44">
              <a:extLst>
                <a:ext uri="{FF2B5EF4-FFF2-40B4-BE49-F238E27FC236}">
                  <a16:creationId xmlns:a16="http://schemas.microsoft.com/office/drawing/2014/main" id="{0DF59CB7-5170-BE3B-1CE9-298C549A0678}"/>
                </a:ext>
              </a:extLst>
            </p:cNvPr>
            <p:cNvSpPr>
              <a:spLocks noChangeArrowheads="1"/>
            </p:cNvSpPr>
            <p:nvPr/>
          </p:nvSpPr>
          <p:spPr bwMode="auto">
            <a:xfrm>
              <a:off x="1534" y="7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grpSp>
      <mc:AlternateContent xmlns:mc="http://schemas.openxmlformats.org/markup-compatibility/2006">
        <mc:Choice xmlns:a14="http://schemas.microsoft.com/office/drawing/2010/main" Requires="a14">
          <p:sp>
            <p:nvSpPr>
              <p:cNvPr id="91181" name="Rectangle 46">
                <a:extLst>
                  <a:ext uri="{FF2B5EF4-FFF2-40B4-BE49-F238E27FC236}">
                    <a16:creationId xmlns:a16="http://schemas.microsoft.com/office/drawing/2014/main" id="{1AA78765-11A7-8B84-D9AF-046810A668ED}"/>
                  </a:ext>
                </a:extLst>
              </p:cNvPr>
              <p:cNvSpPr>
                <a:spLocks noChangeArrowheads="1"/>
              </p:cNvSpPr>
              <p:nvPr/>
            </p:nvSpPr>
            <p:spPr bwMode="auto">
              <a:xfrm>
                <a:off x="1773686" y="1170986"/>
                <a:ext cx="3833467" cy="48743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pPr>
                <a:r>
                  <a:rPr lang="zh-CN" altLang="zh-CN" sz="1982" dirty="0">
                    <a:latin typeface="Times New Roman" panose="02020603050405020304" pitchFamily="18" charset="0"/>
                    <a:ea typeface="宋体" panose="02010600030101010101" pitchFamily="2" charset="-122"/>
                  </a:rPr>
                  <a:t>如果政策制定者使用财政或货币政策来增加总需求，以此抵消总供给的移动： </a:t>
                </a:r>
                <a:endParaRPr lang="en-US" altLang="zh-CN" sz="1982" dirty="0">
                  <a:latin typeface="Times New Roman" panose="02020603050405020304" pitchFamily="18" charset="0"/>
                  <a:ea typeface="宋体" panose="02010600030101010101" pitchFamily="2" charset="-122"/>
                </a:endParaRPr>
              </a:p>
              <a:p>
                <a:pPr>
                  <a:lnSpc>
                    <a:spcPct val="105000"/>
                  </a:lnSpc>
                </a:pPr>
                <a:r>
                  <a:rPr lang="en-US" altLang="zh-CN" sz="1982" dirty="0">
                    <a:latin typeface="Times New Roman" panose="02020603050405020304" pitchFamily="18" charset="0"/>
                    <a:ea typeface="宋体" panose="02010600030101010101" pitchFamily="2" charset="-122"/>
                  </a:rPr>
                  <a:t>1. AD </a:t>
                </a:r>
                <a:r>
                  <a:rPr lang="zh-CN" altLang="en-US" sz="1982" dirty="0">
                    <a:latin typeface="Times New Roman" panose="02020603050405020304" pitchFamily="18" charset="0"/>
                    <a:ea typeface="宋体" panose="02010600030101010101" pitchFamily="2" charset="-122"/>
                  </a:rPr>
                  <a:t>曲线由 </a:t>
                </a:r>
                <a:r>
                  <a:rPr lang="en-US" altLang="zh-CN" sz="1982" dirty="0">
                    <a:latin typeface="Times New Roman" panose="02020603050405020304" pitchFamily="18" charset="0"/>
                    <a:ea typeface="宋体" panose="02010600030101010101" pitchFamily="2" charset="-122"/>
                  </a:rPr>
                  <a:t>AD₁ </a:t>
                </a:r>
                <a:r>
                  <a:rPr lang="zh-CN" altLang="en-US" sz="1982" dirty="0">
                    <a:latin typeface="Times New Roman" panose="02020603050405020304" pitchFamily="18" charset="0"/>
                    <a:ea typeface="宋体" panose="02010600030101010101" pitchFamily="2" charset="-122"/>
                  </a:rPr>
                  <a:t>右移至 </a:t>
                </a:r>
                <a:r>
                  <a:rPr lang="en-US" altLang="zh-CN" sz="1982" dirty="0">
                    <a:latin typeface="Times New Roman" panose="02020603050405020304" pitchFamily="18" charset="0"/>
                    <a:ea typeface="宋体" panose="02010600030101010101" pitchFamily="2" charset="-122"/>
                  </a:rPr>
                  <a:t>AD₂</a:t>
                </a:r>
                <a:r>
                  <a:rPr lang="zh-CN" altLang="en-US" sz="1982" dirty="0">
                    <a:latin typeface="Times New Roman" panose="02020603050405020304" pitchFamily="18" charset="0"/>
                    <a:ea typeface="宋体" panose="02010600030101010101" pitchFamily="2" charset="-122"/>
                  </a:rPr>
                  <a:t>；</a:t>
                </a:r>
                <a:endParaRPr lang="en-US" altLang="zh-CN" sz="1982" dirty="0">
                  <a:latin typeface="Times New Roman" panose="02020603050405020304" pitchFamily="18" charset="0"/>
                  <a:ea typeface="宋体" panose="02010600030101010101" pitchFamily="2" charset="-122"/>
                </a:endParaRPr>
              </a:p>
              <a:p>
                <a:pPr>
                  <a:lnSpc>
                    <a:spcPct val="105000"/>
                  </a:lnSpc>
                </a:pPr>
                <a:r>
                  <a:rPr lang="en-US" altLang="zh-CN" sz="1982" dirty="0">
                    <a:latin typeface="Times New Roman" panose="02020603050405020304" pitchFamily="18" charset="0"/>
                    <a:ea typeface="宋体" panose="02010600030101010101" pitchFamily="2" charset="-122"/>
                  </a:rPr>
                  <a:t>2. </a:t>
                </a:r>
                <a:r>
                  <a:rPr lang="zh-CN" altLang="en-US" sz="1982" dirty="0">
                    <a:latin typeface="Times New Roman" panose="02020603050405020304" pitchFamily="18" charset="0"/>
                    <a:ea typeface="宋体" panose="02010600030101010101" pitchFamily="2" charset="-122"/>
                  </a:rPr>
                  <a:t>经济由短期均衡点 </a:t>
                </a:r>
                <a:r>
                  <a:rPr lang="en-US" altLang="zh-CN" sz="1982" dirty="0">
                    <a:latin typeface="Times New Roman" panose="02020603050405020304" pitchFamily="18" charset="0"/>
                    <a:ea typeface="宋体" panose="02010600030101010101" pitchFamily="2" charset="-122"/>
                  </a:rPr>
                  <a:t>B </a:t>
                </a:r>
                <a:r>
                  <a:rPr lang="zh-CN" altLang="en-US" sz="1982" dirty="0">
                    <a:latin typeface="Times New Roman" panose="02020603050405020304" pitchFamily="18" charset="0"/>
                    <a:ea typeface="宋体" panose="02010600030101010101" pitchFamily="2" charset="-122"/>
                  </a:rPr>
                  <a:t>移动到 </a:t>
                </a:r>
                <a:r>
                  <a:rPr lang="en-US" altLang="zh-CN" sz="1982" dirty="0">
                    <a:latin typeface="Times New Roman" panose="02020603050405020304" pitchFamily="18" charset="0"/>
                    <a:ea typeface="宋体" panose="02010600030101010101" pitchFamily="2" charset="-122"/>
                  </a:rPr>
                  <a:t>C</a:t>
                </a:r>
                <a:r>
                  <a:rPr lang="zh-CN" altLang="en-US" sz="1982" dirty="0">
                    <a:latin typeface="Times New Roman" panose="02020603050405020304" pitchFamily="18" charset="0"/>
                    <a:ea typeface="宋体" panose="02010600030101010101" pitchFamily="2" charset="-122"/>
                  </a:rPr>
                  <a:t>，产出 </a:t>
                </a:r>
                <a:r>
                  <a:rPr lang="en-US" altLang="zh-CN" sz="1982" dirty="0">
                    <a:latin typeface="Times New Roman" panose="02020603050405020304" pitchFamily="18" charset="0"/>
                    <a:ea typeface="宋体" panose="02010600030101010101" pitchFamily="2" charset="-122"/>
                  </a:rPr>
                  <a:t>Y </a:t>
                </a:r>
                <a:r>
                  <a:rPr lang="zh-CN" altLang="en-US" sz="1982" dirty="0">
                    <a:latin typeface="Times New Roman" panose="02020603050405020304" pitchFamily="18" charset="0"/>
                    <a:ea typeface="宋体" panose="02010600030101010101" pitchFamily="2" charset="-122"/>
                  </a:rPr>
                  <a:t>回到 </a:t>
                </a:r>
                <a14:m>
                  <m:oMath xmlns:m="http://schemas.openxmlformats.org/officeDocument/2006/math">
                    <m:sSub>
                      <m:sSubPr>
                        <m:ctrlPr>
                          <a:rPr lang="en-US" altLang="zh-CN" sz="1982" i="1">
                            <a:latin typeface="Cambria Math" panose="02040503050406030204" pitchFamily="18" charset="0"/>
                            <a:ea typeface="宋体" panose="02010600030101010101" pitchFamily="2" charset="-122"/>
                          </a:rPr>
                        </m:ctrlPr>
                      </m:sSubPr>
                      <m:e>
                        <m:r>
                          <a:rPr lang="en-US" altLang="zh-CN" sz="1982" i="1">
                            <a:latin typeface="Cambria Math" panose="02040503050406030204" pitchFamily="18" charset="0"/>
                            <a:ea typeface="宋体" panose="02010600030101010101" pitchFamily="2" charset="-122"/>
                          </a:rPr>
                          <m:t>𝑌</m:t>
                        </m:r>
                      </m:e>
                      <m:sub>
                        <m:r>
                          <a:rPr lang="en-US" altLang="zh-CN" sz="1982" i="1">
                            <a:latin typeface="Cambria Math" panose="02040503050406030204" pitchFamily="18" charset="0"/>
                            <a:ea typeface="宋体" panose="02010600030101010101" pitchFamily="2" charset="-122"/>
                          </a:rPr>
                          <m:t>𝑁</m:t>
                        </m:r>
                      </m:sub>
                    </m:sSub>
                  </m:oMath>
                </a14:m>
                <a:r>
                  <a:rPr lang="zh-CN" altLang="en-US" sz="1982" dirty="0">
                    <a:latin typeface="Times New Roman" panose="02020603050405020304" pitchFamily="18" charset="0"/>
                    <a:ea typeface="宋体" panose="02010600030101010101" pitchFamily="2" charset="-122"/>
                  </a:rPr>
                  <a:t>，失业率回到自然失业率附近；</a:t>
                </a:r>
                <a:endParaRPr lang="en-US" altLang="zh-CN" sz="1982" dirty="0">
                  <a:latin typeface="Times New Roman" panose="02020603050405020304" pitchFamily="18" charset="0"/>
                  <a:ea typeface="宋体" panose="02010600030101010101" pitchFamily="2" charset="-122"/>
                </a:endParaRPr>
              </a:p>
              <a:p>
                <a:pPr>
                  <a:lnSpc>
                    <a:spcPct val="105000"/>
                  </a:lnSpc>
                </a:pPr>
                <a:r>
                  <a:rPr lang="en-US" altLang="zh-CN" sz="1982" dirty="0">
                    <a:latin typeface="Times New Roman" panose="02020603050405020304" pitchFamily="18" charset="0"/>
                    <a:ea typeface="宋体" panose="02010600030101010101" pitchFamily="2" charset="-122"/>
                  </a:rPr>
                  <a:t>3. </a:t>
                </a:r>
                <a:r>
                  <a:rPr lang="zh-CN" altLang="zh-CN" sz="1982" dirty="0">
                    <a:latin typeface="Times New Roman" panose="02020603050405020304" pitchFamily="18" charset="0"/>
                    <a:ea typeface="宋体" panose="02010600030101010101" pitchFamily="2" charset="-122"/>
                  </a:rPr>
                  <a:t>代价是更高的物价水平</a:t>
                </a:r>
                <a:r>
                  <a:rPr lang="zh-CN" altLang="en-US" sz="1982" dirty="0">
                    <a:latin typeface="Times New Roman" panose="02020603050405020304" pitchFamily="18" charset="0"/>
                    <a:ea typeface="宋体" panose="02010600030101010101" pitchFamily="2" charset="-122"/>
                  </a:rPr>
                  <a:t>。</a:t>
                </a:r>
                <a:r>
                  <a:rPr lang="zh-CN" altLang="zh-CN" sz="1982" dirty="0">
                    <a:latin typeface="Times New Roman" panose="02020603050405020304" pitchFamily="18" charset="0"/>
                    <a:ea typeface="宋体" panose="02010600030101010101" pitchFamily="2" charset="-122"/>
                  </a:rPr>
                  <a:t>物价水平由 P₂ 上升到 P₃，高于初始水平 P₁。</a:t>
                </a:r>
                <a:endParaRPr lang="en-US" altLang="zh-CN" sz="1982" dirty="0">
                  <a:latin typeface="Times New Roman" panose="02020603050405020304" pitchFamily="18" charset="0"/>
                  <a:ea typeface="宋体" panose="02010600030101010101" pitchFamily="2" charset="-122"/>
                </a:endParaRPr>
              </a:p>
              <a:p>
                <a:pPr>
                  <a:lnSpc>
                    <a:spcPct val="105000"/>
                  </a:lnSpc>
                </a:pPr>
                <a:endParaRPr lang="en-US" altLang="zh-CN" sz="1982" dirty="0">
                  <a:latin typeface="Times New Roman" panose="02020603050405020304" pitchFamily="18" charset="0"/>
                  <a:ea typeface="宋体" panose="02010600030101010101" pitchFamily="2" charset="-122"/>
                </a:endParaRPr>
              </a:p>
              <a:p>
                <a:pPr>
                  <a:lnSpc>
                    <a:spcPct val="105000"/>
                  </a:lnSpc>
                </a:pPr>
                <a:r>
                  <a:rPr lang="zh-CN" altLang="en-US" sz="1982" dirty="0">
                    <a:latin typeface="Times New Roman" panose="02020603050405020304" pitchFamily="18" charset="0"/>
                    <a:ea typeface="宋体" panose="02010600030101010101" pitchFamily="2" charset="-122"/>
                  </a:rPr>
                  <a:t>结论：</a:t>
                </a:r>
                <a:r>
                  <a:rPr lang="zh-CN" altLang="zh-CN" sz="1982" dirty="0">
                    <a:latin typeface="Times New Roman" panose="02020603050405020304" pitchFamily="18" charset="0"/>
                    <a:ea typeface="宋体" panose="02010600030101010101" pitchFamily="2" charset="-122"/>
                  </a:rPr>
                  <a:t>抵消性政策可以稳定产出和就业，但会接受更高的物价水平。</a:t>
                </a:r>
              </a:p>
              <a:p>
                <a:pPr>
                  <a:lnSpc>
                    <a:spcPct val="105000"/>
                  </a:lnSpc>
                </a:pPr>
                <a:endParaRPr lang="zh-CN" altLang="zh-CN" sz="1982" dirty="0">
                  <a:ea typeface="宋体" panose="02010600030101010101" pitchFamily="2" charset="-122"/>
                </a:endParaRPr>
              </a:p>
            </p:txBody>
          </p:sp>
        </mc:Choice>
        <mc:Fallback>
          <p:sp>
            <p:nvSpPr>
              <p:cNvPr id="91181" name="Rectangle 46">
                <a:extLst>
                  <a:ext uri="{FF2B5EF4-FFF2-40B4-BE49-F238E27FC236}">
                    <a16:creationId xmlns:a16="http://schemas.microsoft.com/office/drawing/2014/main" id="{1AA78765-11A7-8B84-D9AF-046810A668ED}"/>
                  </a:ext>
                </a:extLst>
              </p:cNvPr>
              <p:cNvSpPr>
                <a:spLocks noRot="1" noChangeAspect="1" noMove="1" noResize="1" noEditPoints="1" noAdjustHandles="1" noChangeArrowheads="1" noChangeShapeType="1" noTextEdit="1"/>
              </p:cNvSpPr>
              <p:nvPr/>
            </p:nvSpPr>
            <p:spPr bwMode="auto">
              <a:xfrm>
                <a:off x="1773686" y="1170986"/>
                <a:ext cx="3833467" cy="4874348"/>
              </a:xfrm>
              <a:prstGeom prst="rect">
                <a:avLst/>
              </a:prstGeom>
              <a:blipFill>
                <a:blip r:embed="rId3"/>
                <a:stretch>
                  <a:fillRect l="-1590" t="-1000" r="-572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91182" name="Line 47">
            <a:extLst>
              <a:ext uri="{FF2B5EF4-FFF2-40B4-BE49-F238E27FC236}">
                <a16:creationId xmlns:a16="http://schemas.microsoft.com/office/drawing/2014/main" id="{9EC94DA8-333D-0BAC-5E33-3E34F0010C72}"/>
              </a:ext>
            </a:extLst>
          </p:cNvPr>
          <p:cNvSpPr>
            <a:spLocks noChangeShapeType="1"/>
          </p:cNvSpPr>
          <p:nvPr/>
        </p:nvSpPr>
        <p:spPr bwMode="auto">
          <a:xfrm flipH="1">
            <a:off x="7713766" y="5281499"/>
            <a:ext cx="575735" cy="0"/>
          </a:xfrm>
          <a:prstGeom prst="line">
            <a:avLst/>
          </a:prstGeom>
          <a:noFill/>
          <a:ln w="38100">
            <a:solidFill>
              <a:srgbClr val="008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sz="1799"/>
          </a:p>
        </p:txBody>
      </p:sp>
      <p:sp>
        <p:nvSpPr>
          <p:cNvPr id="91183" name="Line 48">
            <a:extLst>
              <a:ext uri="{FF2B5EF4-FFF2-40B4-BE49-F238E27FC236}">
                <a16:creationId xmlns:a16="http://schemas.microsoft.com/office/drawing/2014/main" id="{C002731C-04F2-30C4-0827-6906F07CBDAD}"/>
              </a:ext>
            </a:extLst>
          </p:cNvPr>
          <p:cNvSpPr>
            <a:spLocks noChangeShapeType="1"/>
          </p:cNvSpPr>
          <p:nvPr/>
        </p:nvSpPr>
        <p:spPr bwMode="auto">
          <a:xfrm flipV="1">
            <a:off x="6349766" y="2796171"/>
            <a:ext cx="0" cy="577320"/>
          </a:xfrm>
          <a:prstGeom prst="line">
            <a:avLst/>
          </a:prstGeom>
          <a:noFill/>
          <a:ln w="38100">
            <a:solidFill>
              <a:srgbClr val="008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1799"/>
          </a:p>
        </p:txBody>
      </p:sp>
      <p:sp>
        <p:nvSpPr>
          <p:cNvPr id="91184" name="Arc 51">
            <a:extLst>
              <a:ext uri="{FF2B5EF4-FFF2-40B4-BE49-F238E27FC236}">
                <a16:creationId xmlns:a16="http://schemas.microsoft.com/office/drawing/2014/main" id="{2B1F9A6B-0731-F77C-5B3D-E205EADBF900}"/>
              </a:ext>
            </a:extLst>
          </p:cNvPr>
          <p:cNvSpPr>
            <a:spLocks/>
          </p:cNvSpPr>
          <p:nvPr/>
        </p:nvSpPr>
        <p:spPr bwMode="auto">
          <a:xfrm flipH="1" flipV="1">
            <a:off x="7693146" y="3300532"/>
            <a:ext cx="696273" cy="683585"/>
          </a:xfrm>
          <a:custGeom>
            <a:avLst/>
            <a:gdLst>
              <a:gd name="T0" fmla="*/ 171267656 w 21073"/>
              <a:gd name="T1" fmla="*/ 0 h 21075"/>
              <a:gd name="T2" fmla="*/ 762220967 w 21073"/>
              <a:gd name="T3" fmla="*/ 558935709 h 21075"/>
              <a:gd name="T4" fmla="*/ 0 w 21073"/>
              <a:gd name="T5" fmla="*/ 721168466 h 21075"/>
              <a:gd name="T6" fmla="*/ 0 60000 65536"/>
              <a:gd name="T7" fmla="*/ 0 60000 65536"/>
              <a:gd name="T8" fmla="*/ 0 60000 65536"/>
              <a:gd name="T9" fmla="*/ 0 w 21073"/>
              <a:gd name="T10" fmla="*/ 0 h 21075"/>
              <a:gd name="T11" fmla="*/ 21073 w 21073"/>
              <a:gd name="T12" fmla="*/ 21075 h 21075"/>
            </a:gdLst>
            <a:ahLst/>
            <a:cxnLst>
              <a:cxn ang="T6">
                <a:pos x="T0" y="T1"/>
              </a:cxn>
              <a:cxn ang="T7">
                <a:pos x="T2" y="T3"/>
              </a:cxn>
              <a:cxn ang="T8">
                <a:pos x="T4" y="T5"/>
              </a:cxn>
            </a:cxnLst>
            <a:rect l="T9" t="T10" r="T11" b="T12"/>
            <a:pathLst>
              <a:path w="21073" h="21075" fill="none" extrusionOk="0">
                <a:moveTo>
                  <a:pt x="4734" y="0"/>
                </a:moveTo>
                <a:cubicBezTo>
                  <a:pt x="12879" y="1830"/>
                  <a:pt x="19240" y="8189"/>
                  <a:pt x="21073" y="16333"/>
                </a:cubicBezTo>
              </a:path>
              <a:path w="21073" h="21075" stroke="0" extrusionOk="0">
                <a:moveTo>
                  <a:pt x="4734" y="0"/>
                </a:moveTo>
                <a:cubicBezTo>
                  <a:pt x="12879" y="1830"/>
                  <a:pt x="19240" y="8189"/>
                  <a:pt x="21073" y="16333"/>
                </a:cubicBezTo>
                <a:lnTo>
                  <a:pt x="0" y="21075"/>
                </a:lnTo>
                <a:close/>
              </a:path>
            </a:pathLst>
          </a:custGeom>
          <a:noFill/>
          <a:ln w="38100">
            <a:solidFill>
              <a:srgbClr val="00CC00"/>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91185" name="FlagCount" hidden="1">
            <a:hlinkClick r:id="rId4" action="ppaction://hlinkfile"/>
            <a:extLst>
              <a:ext uri="{FF2B5EF4-FFF2-40B4-BE49-F238E27FC236}">
                <a16:creationId xmlns:a16="http://schemas.microsoft.com/office/drawing/2014/main" id="{AA40F31F-6A83-4176-DD63-B3F850A86C5E}"/>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5232456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0"/>
                                  </p:stCondLst>
                                  <p:childTnLst>
                                    <p:set>
                                      <p:cBhvr>
                                        <p:cTn id="6" dur="1" fill="hold">
                                          <p:stCondLst>
                                            <p:cond delay="0"/>
                                          </p:stCondLst>
                                        </p:cTn>
                                        <p:tgtEl>
                                          <p:spTgt spid="91184"/>
                                        </p:tgtEl>
                                        <p:attrNameLst>
                                          <p:attrName>style.visibility</p:attrName>
                                        </p:attrNameLst>
                                      </p:cBhvr>
                                      <p:to>
                                        <p:strVal val="visible"/>
                                      </p:to>
                                    </p:set>
                                    <p:animEffect transition="in" filter="strips(downRight)">
                                      <p:cBhvr>
                                        <p:cTn id="7" dur="500"/>
                                        <p:tgtEl>
                                          <p:spTgt spid="91184"/>
                                        </p:tgtEl>
                                      </p:cBhvr>
                                    </p:animEffect>
                                  </p:childTnLst>
                                  <p:subTnLst>
                                    <p:set>
                                      <p:cBhvr override="childStyle">
                                        <p:cTn dur="1" fill="hold" display="0" masterRel="nextClick" afterEffect="1"/>
                                        <p:tgtEl>
                                          <p:spTgt spid="9118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81">
                                            <p:txEl>
                                              <p:pRg st="0" end="0"/>
                                            </p:txEl>
                                          </p:spTgt>
                                        </p:tgtEl>
                                        <p:attrNameLst>
                                          <p:attrName>style.visibility</p:attrName>
                                        </p:attrNameLst>
                                      </p:cBhvr>
                                      <p:to>
                                        <p:strVal val="visible"/>
                                      </p:to>
                                    </p:set>
                                    <p:animEffect transition="in" filter="wipe(left)">
                                      <p:cBhvr>
                                        <p:cTn id="12" dur="500"/>
                                        <p:tgtEl>
                                          <p:spTgt spid="9118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1181">
                                            <p:txEl>
                                              <p:pRg st="1" end="1"/>
                                            </p:txEl>
                                          </p:spTgt>
                                        </p:tgtEl>
                                        <p:attrNameLst>
                                          <p:attrName>style.visibility</p:attrName>
                                        </p:attrNameLst>
                                      </p:cBhvr>
                                      <p:to>
                                        <p:strVal val="visible"/>
                                      </p:to>
                                    </p:set>
                                    <p:animEffect transition="in" filter="wipe(left)">
                                      <p:cBhvr>
                                        <p:cTn id="17" dur="500"/>
                                        <p:tgtEl>
                                          <p:spTgt spid="9118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1181">
                                            <p:txEl>
                                              <p:pRg st="2" end="2"/>
                                            </p:txEl>
                                          </p:spTgt>
                                        </p:tgtEl>
                                        <p:attrNameLst>
                                          <p:attrName>style.visibility</p:attrName>
                                        </p:attrNameLst>
                                      </p:cBhvr>
                                      <p:to>
                                        <p:strVal val="visible"/>
                                      </p:to>
                                    </p:set>
                                    <p:animEffect transition="in" filter="wipe(left)">
                                      <p:cBhvr>
                                        <p:cTn id="22" dur="500"/>
                                        <p:tgtEl>
                                          <p:spTgt spid="9118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1181">
                                            <p:txEl>
                                              <p:pRg st="3" end="3"/>
                                            </p:txEl>
                                          </p:spTgt>
                                        </p:tgtEl>
                                        <p:attrNameLst>
                                          <p:attrName>style.visibility</p:attrName>
                                        </p:attrNameLst>
                                      </p:cBhvr>
                                      <p:to>
                                        <p:strVal val="visible"/>
                                      </p:to>
                                    </p:set>
                                    <p:animEffect transition="in" filter="wipe(left)">
                                      <p:cBhvr>
                                        <p:cTn id="27" dur="500"/>
                                        <p:tgtEl>
                                          <p:spTgt spid="9118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1181">
                                            <p:txEl>
                                              <p:pRg st="5" end="5"/>
                                            </p:txEl>
                                          </p:spTgt>
                                        </p:tgtEl>
                                        <p:attrNameLst>
                                          <p:attrName>style.visibility</p:attrName>
                                        </p:attrNameLst>
                                      </p:cBhvr>
                                      <p:to>
                                        <p:strVal val="visible"/>
                                      </p:to>
                                    </p:set>
                                    <p:animEffect transition="in" filter="wipe(left)">
                                      <p:cBhvr>
                                        <p:cTn id="32" dur="500"/>
                                        <p:tgtEl>
                                          <p:spTgt spid="91181">
                                            <p:txEl>
                                              <p:pRg st="5" end="5"/>
                                            </p:txEl>
                                          </p:spTgt>
                                        </p:tgtEl>
                                      </p:cBhvr>
                                    </p:animEffect>
                                  </p:childTnLst>
                                </p:cTn>
                              </p:par>
                            </p:childTnLst>
                          </p:cTn>
                        </p:par>
                        <p:par>
                          <p:cTn id="33" fill="hold" nodeType="afterGroup">
                            <p:stCondLst>
                              <p:cond delay="500"/>
                            </p:stCondLst>
                            <p:childTnLst>
                              <p:par>
                                <p:cTn id="34" presetID="18" presetClass="entr" presetSubtype="6" fill="hold" nodeType="afterEffect">
                                  <p:stCondLst>
                                    <p:cond delay="0"/>
                                  </p:stCondLst>
                                  <p:childTnLst>
                                    <p:set>
                                      <p:cBhvr>
                                        <p:cTn id="35" dur="1" fill="hold">
                                          <p:stCondLst>
                                            <p:cond delay="0"/>
                                          </p:stCondLst>
                                        </p:cTn>
                                        <p:tgtEl>
                                          <p:spTgt spid="91173"/>
                                        </p:tgtEl>
                                        <p:attrNameLst>
                                          <p:attrName>style.visibility</p:attrName>
                                        </p:attrNameLst>
                                      </p:cBhvr>
                                      <p:to>
                                        <p:strVal val="visible"/>
                                      </p:to>
                                    </p:set>
                                    <p:animEffect transition="in" filter="strips(downRight)">
                                      <p:cBhvr>
                                        <p:cTn id="36" dur="500"/>
                                        <p:tgtEl>
                                          <p:spTgt spid="91173"/>
                                        </p:tgtEl>
                                      </p:cBhvr>
                                    </p:animEffect>
                                  </p:childTnLst>
                                </p:cTn>
                              </p:par>
                            </p:childTnLst>
                          </p:cTn>
                        </p:par>
                        <p:par>
                          <p:cTn id="37" fill="hold" nodeType="afterGroup">
                            <p:stCondLst>
                              <p:cond delay="1000"/>
                            </p:stCondLst>
                            <p:childTnLst>
                              <p:par>
                                <p:cTn id="38" presetID="17" presetClass="entr" presetSubtype="8" fill="hold" nodeType="afterEffect">
                                  <p:stCondLst>
                                    <p:cond delay="0"/>
                                  </p:stCondLst>
                                  <p:childTnLst>
                                    <p:set>
                                      <p:cBhvr>
                                        <p:cTn id="39" dur="1" fill="hold">
                                          <p:stCondLst>
                                            <p:cond delay="0"/>
                                          </p:stCondLst>
                                        </p:cTn>
                                        <p:tgtEl>
                                          <p:spTgt spid="91182"/>
                                        </p:tgtEl>
                                        <p:attrNameLst>
                                          <p:attrName>style.visibility</p:attrName>
                                        </p:attrNameLst>
                                      </p:cBhvr>
                                      <p:to>
                                        <p:strVal val="visible"/>
                                      </p:to>
                                    </p:set>
                                    <p:anim calcmode="lin" valueType="num">
                                      <p:cBhvr>
                                        <p:cTn id="40" dur="500" fill="hold"/>
                                        <p:tgtEl>
                                          <p:spTgt spid="91182"/>
                                        </p:tgtEl>
                                        <p:attrNameLst>
                                          <p:attrName>ppt_x</p:attrName>
                                        </p:attrNameLst>
                                      </p:cBhvr>
                                      <p:tavLst>
                                        <p:tav tm="0">
                                          <p:val>
                                            <p:strVal val="#ppt_x-#ppt_w/2"/>
                                          </p:val>
                                        </p:tav>
                                        <p:tav tm="100000">
                                          <p:val>
                                            <p:strVal val="#ppt_x"/>
                                          </p:val>
                                        </p:tav>
                                      </p:tavLst>
                                    </p:anim>
                                    <p:anim calcmode="lin" valueType="num">
                                      <p:cBhvr>
                                        <p:cTn id="41" dur="500" fill="hold"/>
                                        <p:tgtEl>
                                          <p:spTgt spid="91182"/>
                                        </p:tgtEl>
                                        <p:attrNameLst>
                                          <p:attrName>ppt_y</p:attrName>
                                        </p:attrNameLst>
                                      </p:cBhvr>
                                      <p:tavLst>
                                        <p:tav tm="0">
                                          <p:val>
                                            <p:strVal val="#ppt_y"/>
                                          </p:val>
                                        </p:tav>
                                        <p:tav tm="100000">
                                          <p:val>
                                            <p:strVal val="#ppt_y"/>
                                          </p:val>
                                        </p:tav>
                                      </p:tavLst>
                                    </p:anim>
                                    <p:anim calcmode="lin" valueType="num">
                                      <p:cBhvr>
                                        <p:cTn id="42" dur="500" fill="hold"/>
                                        <p:tgtEl>
                                          <p:spTgt spid="91182"/>
                                        </p:tgtEl>
                                        <p:attrNameLst>
                                          <p:attrName>ppt_w</p:attrName>
                                        </p:attrNameLst>
                                      </p:cBhvr>
                                      <p:tavLst>
                                        <p:tav tm="0">
                                          <p:val>
                                            <p:fltVal val="0"/>
                                          </p:val>
                                        </p:tav>
                                        <p:tav tm="100000">
                                          <p:val>
                                            <p:strVal val="#ppt_w"/>
                                          </p:val>
                                        </p:tav>
                                      </p:tavLst>
                                    </p:anim>
                                    <p:anim calcmode="lin" valueType="num">
                                      <p:cBhvr>
                                        <p:cTn id="43" dur="500" fill="hold"/>
                                        <p:tgtEl>
                                          <p:spTgt spid="91182"/>
                                        </p:tgtEl>
                                        <p:attrNameLst>
                                          <p:attrName>ppt_h</p:attrName>
                                        </p:attrNameLst>
                                      </p:cBhvr>
                                      <p:tavLst>
                                        <p:tav tm="0">
                                          <p:val>
                                            <p:strVal val="#ppt_h"/>
                                          </p:val>
                                        </p:tav>
                                        <p:tav tm="100000">
                                          <p:val>
                                            <p:strVal val="#ppt_h"/>
                                          </p:val>
                                        </p:tav>
                                      </p:tavLst>
                                    </p:anim>
                                  </p:childTnLst>
                                </p:cTn>
                              </p:par>
                            </p:childTnLst>
                          </p:cTn>
                        </p:par>
                        <p:par>
                          <p:cTn id="44" fill="hold" nodeType="afterGroup">
                            <p:stCondLst>
                              <p:cond delay="1500"/>
                            </p:stCondLst>
                            <p:childTnLst>
                              <p:par>
                                <p:cTn id="45" presetID="17" presetClass="entr" presetSubtype="4" fill="hold" nodeType="afterEffect">
                                  <p:stCondLst>
                                    <p:cond delay="0"/>
                                  </p:stCondLst>
                                  <p:childTnLst>
                                    <p:set>
                                      <p:cBhvr>
                                        <p:cTn id="46" dur="1" fill="hold">
                                          <p:stCondLst>
                                            <p:cond delay="0"/>
                                          </p:stCondLst>
                                        </p:cTn>
                                        <p:tgtEl>
                                          <p:spTgt spid="91183"/>
                                        </p:tgtEl>
                                        <p:attrNameLst>
                                          <p:attrName>style.visibility</p:attrName>
                                        </p:attrNameLst>
                                      </p:cBhvr>
                                      <p:to>
                                        <p:strVal val="visible"/>
                                      </p:to>
                                    </p:set>
                                    <p:anim calcmode="lin" valueType="num">
                                      <p:cBhvr>
                                        <p:cTn id="47" dur="500" fill="hold"/>
                                        <p:tgtEl>
                                          <p:spTgt spid="91183"/>
                                        </p:tgtEl>
                                        <p:attrNameLst>
                                          <p:attrName>ppt_x</p:attrName>
                                        </p:attrNameLst>
                                      </p:cBhvr>
                                      <p:tavLst>
                                        <p:tav tm="0">
                                          <p:val>
                                            <p:strVal val="#ppt_x"/>
                                          </p:val>
                                        </p:tav>
                                        <p:tav tm="100000">
                                          <p:val>
                                            <p:strVal val="#ppt_x"/>
                                          </p:val>
                                        </p:tav>
                                      </p:tavLst>
                                    </p:anim>
                                    <p:anim calcmode="lin" valueType="num">
                                      <p:cBhvr>
                                        <p:cTn id="48" dur="500" fill="hold"/>
                                        <p:tgtEl>
                                          <p:spTgt spid="91183"/>
                                        </p:tgtEl>
                                        <p:attrNameLst>
                                          <p:attrName>ppt_y</p:attrName>
                                        </p:attrNameLst>
                                      </p:cBhvr>
                                      <p:tavLst>
                                        <p:tav tm="0">
                                          <p:val>
                                            <p:strVal val="#ppt_y+#ppt_h/2"/>
                                          </p:val>
                                        </p:tav>
                                        <p:tav tm="100000">
                                          <p:val>
                                            <p:strVal val="#ppt_y"/>
                                          </p:val>
                                        </p:tav>
                                      </p:tavLst>
                                    </p:anim>
                                    <p:anim calcmode="lin" valueType="num">
                                      <p:cBhvr>
                                        <p:cTn id="49" dur="500" fill="hold"/>
                                        <p:tgtEl>
                                          <p:spTgt spid="91183"/>
                                        </p:tgtEl>
                                        <p:attrNameLst>
                                          <p:attrName>ppt_w</p:attrName>
                                        </p:attrNameLst>
                                      </p:cBhvr>
                                      <p:tavLst>
                                        <p:tav tm="0">
                                          <p:val>
                                            <p:strVal val="#ppt_w"/>
                                          </p:val>
                                        </p:tav>
                                        <p:tav tm="100000">
                                          <p:val>
                                            <p:strVal val="#ppt_w"/>
                                          </p:val>
                                        </p:tav>
                                      </p:tavLst>
                                    </p:anim>
                                    <p:anim calcmode="lin" valueType="num">
                                      <p:cBhvr>
                                        <p:cTn id="50" dur="500" fill="hold"/>
                                        <p:tgtEl>
                                          <p:spTgt spid="91183"/>
                                        </p:tgtEl>
                                        <p:attrNameLst>
                                          <p:attrName>ppt_h</p:attrName>
                                        </p:attrNameLst>
                                      </p:cBhvr>
                                      <p:tavLst>
                                        <p:tav tm="0">
                                          <p:val>
                                            <p:fltVal val="0"/>
                                          </p:val>
                                        </p:tav>
                                        <p:tav tm="100000">
                                          <p:val>
                                            <p:strVal val="#ppt_h"/>
                                          </p:val>
                                        </p:tav>
                                      </p:tavLst>
                                    </p:anim>
                                  </p:childTnLst>
                                </p:cTn>
                              </p:par>
                            </p:childTnLst>
                          </p:cTn>
                        </p:par>
                        <p:par>
                          <p:cTn id="51" fill="hold" nodeType="afterGroup">
                            <p:stCondLst>
                              <p:cond delay="2000"/>
                            </p:stCondLst>
                            <p:childTnLst>
                              <p:par>
                                <p:cTn id="52" presetID="22" presetClass="entr" presetSubtype="8" fill="hold" nodeType="afterEffect">
                                  <p:stCondLst>
                                    <p:cond delay="0"/>
                                  </p:stCondLst>
                                  <p:childTnLst>
                                    <p:set>
                                      <p:cBhvr>
                                        <p:cTn id="53" dur="1" fill="hold">
                                          <p:stCondLst>
                                            <p:cond delay="0"/>
                                          </p:stCondLst>
                                        </p:cTn>
                                        <p:tgtEl>
                                          <p:spTgt spid="91176"/>
                                        </p:tgtEl>
                                        <p:attrNameLst>
                                          <p:attrName>style.visibility</p:attrName>
                                        </p:attrNameLst>
                                      </p:cBhvr>
                                      <p:to>
                                        <p:strVal val="visible"/>
                                      </p:to>
                                    </p:set>
                                    <p:animEffect transition="in" filter="wipe(left)">
                                      <p:cBhvr>
                                        <p:cTn id="54" dur="500"/>
                                        <p:tgtEl>
                                          <p:spTgt spid="91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81" grpId="0" build="p" autoUpdateAnimBg="0"/>
      <p:bldP spid="91184"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1D137-A50C-0A5D-768F-7AF99CD73BDB}"/>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ECBB231-2F91-E551-327D-4C5C9BC9BFA1}"/>
              </a:ext>
            </a:extLst>
          </p:cNvPr>
          <p:cNvSpPr>
            <a:spLocks noGrp="1"/>
          </p:cNvSpPr>
          <p:nvPr>
            <p:ph type="sldNum" sz="quarter" idx="11"/>
          </p:nvPr>
        </p:nvSpPr>
        <p:spPr/>
        <p:txBody>
          <a:bodyPr/>
          <a:lstStyle/>
          <a:p>
            <a:fld id="{61BE183C-642D-8648-8947-1EE082880ED5}" type="slidenum">
              <a:rPr lang="zh-CN" altLang="zh-CN"/>
              <a:pPr/>
              <a:t>42</a:t>
            </a:fld>
            <a:endParaRPr lang="zh-CN" altLang="zh-CN"/>
          </a:p>
        </p:txBody>
      </p:sp>
      <p:sp>
        <p:nvSpPr>
          <p:cNvPr id="72706" name="Rectangle 2">
            <a:extLst>
              <a:ext uri="{FF2B5EF4-FFF2-40B4-BE49-F238E27FC236}">
                <a16:creationId xmlns:a16="http://schemas.microsoft.com/office/drawing/2014/main" id="{42F8D722-8FB7-CCB4-7C72-6C2894DE6835}"/>
              </a:ext>
            </a:extLst>
          </p:cNvPr>
          <p:cNvSpPr>
            <a:spLocks noGrp="1" noChangeArrowheads="1"/>
          </p:cNvSpPr>
          <p:nvPr>
            <p:ph type="title" idx="4294967295"/>
          </p:nvPr>
        </p:nvSpPr>
        <p:spPr>
          <a:xfrm>
            <a:off x="1528195" y="114300"/>
            <a:ext cx="9135611" cy="648692"/>
          </a:xfrm>
        </p:spPr>
        <p:txBody>
          <a:bodyPr/>
          <a:lstStyle/>
          <a:p>
            <a:r>
              <a:rPr lang="zh-CN" altLang="en-US" sz="2378" dirty="0">
                <a:ea typeface="宋体" panose="02010600030101010101" pitchFamily="2" charset="-122"/>
              </a:rPr>
              <a:t>关于曲线移动的总结</a:t>
            </a:r>
          </a:p>
        </p:txBody>
      </p:sp>
      <p:sp>
        <p:nvSpPr>
          <p:cNvPr id="72707" name="Rectangle 3">
            <a:extLst>
              <a:ext uri="{FF2B5EF4-FFF2-40B4-BE49-F238E27FC236}">
                <a16:creationId xmlns:a16="http://schemas.microsoft.com/office/drawing/2014/main" id="{A8ED8C4E-FF25-9FEB-7E97-EC7FD274D104}"/>
              </a:ext>
            </a:extLst>
          </p:cNvPr>
          <p:cNvSpPr>
            <a:spLocks noGrp="1" noChangeArrowheads="1"/>
          </p:cNvSpPr>
          <p:nvPr>
            <p:ph type="body" idx="4294967295"/>
          </p:nvPr>
        </p:nvSpPr>
        <p:spPr>
          <a:xfrm>
            <a:off x="1529768" y="869950"/>
            <a:ext cx="9134038" cy="5873751"/>
          </a:xfrm>
        </p:spPr>
        <p:txBody>
          <a:bodyPr/>
          <a:lstStyle/>
          <a:p>
            <a:r>
              <a:rPr lang="zh-CN" altLang="zh-CN" sz="2180" b="1" dirty="0">
                <a:latin typeface="Times New Roman" panose="02020603050405020304" pitchFamily="18" charset="0"/>
              </a:rPr>
              <a:t>AD-AS冲击后的调整逻辑</a:t>
            </a:r>
          </a:p>
          <a:p>
            <a:pPr lvl="1"/>
            <a:r>
              <a:rPr lang="zh-CN" altLang="zh-CN" sz="2079" b="1" dirty="0"/>
              <a:t>1. 总需求冲击：AD 先移动，长期靠 SRAS 调整</a:t>
            </a:r>
            <a:br>
              <a:rPr lang="zh-CN" altLang="zh-CN" sz="2079" dirty="0"/>
            </a:br>
            <a:r>
              <a:rPr lang="zh-CN" altLang="zh-CN" sz="2079" dirty="0"/>
              <a:t>AD 移动后，短期产出偏离自然水平；随后工资、成本和预期调整，</a:t>
            </a:r>
            <a:r>
              <a:rPr lang="zh-CN" altLang="zh-CN" sz="2079" b="1" dirty="0"/>
              <a:t>SRAS 移动</a:t>
            </a:r>
            <a:r>
              <a:rPr lang="zh-CN" altLang="zh-CN" sz="2079" dirty="0"/>
              <a:t>，经济回到长期均衡。</a:t>
            </a:r>
          </a:p>
          <a:p>
            <a:pPr lvl="1"/>
            <a:r>
              <a:rPr lang="zh-CN" altLang="zh-CN" sz="2079" b="1" dirty="0"/>
              <a:t>2. 短期总供给冲击：SRAS 先移动，AD 不一定移动</a:t>
            </a:r>
            <a:br>
              <a:rPr lang="zh-CN" altLang="zh-CN" sz="2079" dirty="0"/>
            </a:br>
            <a:r>
              <a:rPr lang="zh-CN" altLang="zh-CN" sz="2079" dirty="0"/>
              <a:t>SRAS 移动后，若没有政策干预，且 </a:t>
            </a:r>
            <a:r>
              <a:rPr lang="zh-CN" altLang="zh-CN" sz="2079" b="1" dirty="0"/>
              <a:t>LRAS 不变</a:t>
            </a:r>
            <a:r>
              <a:rPr lang="zh-CN" altLang="zh-CN" sz="2079" dirty="0"/>
              <a:t>，经济主要通过工资、成本和预期调整，</a:t>
            </a:r>
            <a:r>
              <a:rPr lang="zh-CN" altLang="zh-CN" sz="2079" b="1" dirty="0"/>
              <a:t>SRAS 逐步修正</a:t>
            </a:r>
            <a:r>
              <a:rPr lang="zh-CN" altLang="zh-CN" sz="2079" dirty="0"/>
              <a:t>。</a:t>
            </a:r>
          </a:p>
          <a:p>
            <a:pPr lvl="1"/>
            <a:r>
              <a:rPr lang="zh-CN" altLang="zh-CN" sz="2079" b="1" dirty="0"/>
              <a:t>3. AD 什么时候移动？</a:t>
            </a:r>
            <a:br>
              <a:rPr lang="zh-CN" altLang="zh-CN" sz="2079" dirty="0"/>
            </a:br>
            <a:r>
              <a:rPr lang="zh-CN" altLang="zh-CN" sz="2079" dirty="0"/>
              <a:t>当政府或央行采取财政、货币政策，或出现新的需求侧因素变化时，</a:t>
            </a:r>
            <a:r>
              <a:rPr lang="zh-CN" altLang="zh-CN" sz="2079" b="1" dirty="0"/>
              <a:t>AD 才会移动</a:t>
            </a:r>
            <a:r>
              <a:rPr lang="zh-CN" altLang="zh-CN" sz="2079" dirty="0"/>
              <a:t>。</a:t>
            </a:r>
          </a:p>
          <a:p>
            <a:r>
              <a:rPr lang="zh-CN" altLang="zh-CN" sz="2180" b="1" dirty="0">
                <a:latin typeface="Times New Roman" panose="02020603050405020304" pitchFamily="18" charset="0"/>
              </a:rPr>
              <a:t>核心结论：</a:t>
            </a:r>
            <a:br>
              <a:rPr lang="zh-CN" altLang="zh-CN" sz="2180" dirty="0">
                <a:latin typeface="Times New Roman" panose="02020603050405020304" pitchFamily="18" charset="0"/>
              </a:rPr>
            </a:br>
            <a:r>
              <a:rPr lang="zh-CN" altLang="zh-CN" sz="2180" dirty="0"/>
              <a:t>AD 冲击后的自我修正靠 SRAS；SRAS 冲击后的政策抵消才靠 AD。</a:t>
            </a:r>
            <a:endParaRPr lang="zh-CN" altLang="zh-CN" sz="2180" dirty="0">
              <a:ea typeface="宋体" panose="02010600030101010101" pitchFamily="2" charset="-122"/>
            </a:endParaRPr>
          </a:p>
        </p:txBody>
      </p:sp>
      <p:sp>
        <p:nvSpPr>
          <p:cNvPr id="72708" name="FlagCount" hidden="1">
            <a:hlinkClick r:id="rId2" action="ppaction://hlinkfile"/>
            <a:extLst>
              <a:ext uri="{FF2B5EF4-FFF2-40B4-BE49-F238E27FC236}">
                <a16:creationId xmlns:a16="http://schemas.microsoft.com/office/drawing/2014/main" id="{631C6C56-2209-7DFF-A6A1-01AACFD0A441}"/>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071615221"/>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4AA2021-1288-3616-ABBC-C6F4270C793D}"/>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289D1742-3F4D-18DF-4BC1-586FC4436887}"/>
              </a:ext>
            </a:extLst>
          </p:cNvPr>
          <p:cNvSpPr>
            <a:spLocks noGrp="1"/>
          </p:cNvSpPr>
          <p:nvPr>
            <p:ph type="sldNum" sz="quarter" idx="11"/>
          </p:nvPr>
        </p:nvSpPr>
        <p:spPr/>
        <p:txBody>
          <a:bodyPr/>
          <a:lstStyle/>
          <a:p>
            <a:fld id="{50C7FDCD-DFA3-4A48-9E67-6928A5DA6A42}" type="slidenum">
              <a:rPr lang="zh-CN" altLang="zh-CN"/>
              <a:pPr/>
              <a:t>43</a:t>
            </a:fld>
            <a:endParaRPr lang="zh-CN" altLang="zh-CN"/>
          </a:p>
        </p:txBody>
      </p:sp>
      <p:sp>
        <p:nvSpPr>
          <p:cNvPr id="92162" name="Rectangle 95">
            <a:extLst>
              <a:ext uri="{FF2B5EF4-FFF2-40B4-BE49-F238E27FC236}">
                <a16:creationId xmlns:a16="http://schemas.microsoft.com/office/drawing/2014/main" id="{25509453-3406-3E00-11C7-9FBFB4F9174C}"/>
              </a:ext>
            </a:extLst>
          </p:cNvPr>
          <p:cNvSpPr>
            <a:spLocks noChangeArrowheads="1"/>
          </p:cNvSpPr>
          <p:nvPr/>
        </p:nvSpPr>
        <p:spPr bwMode="auto">
          <a:xfrm>
            <a:off x="2527404" y="1448033"/>
            <a:ext cx="7042034" cy="419667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92163" name="Rectangle 9">
            <a:extLst>
              <a:ext uri="{FF2B5EF4-FFF2-40B4-BE49-F238E27FC236}">
                <a16:creationId xmlns:a16="http://schemas.microsoft.com/office/drawing/2014/main" id="{A983FE93-4F57-0EE4-5FC8-E2D5D1CC6BD4}"/>
              </a:ext>
            </a:extLst>
          </p:cNvPr>
          <p:cNvSpPr>
            <a:spLocks noChangeArrowheads="1"/>
          </p:cNvSpPr>
          <p:nvPr/>
        </p:nvSpPr>
        <p:spPr bwMode="auto">
          <a:xfrm>
            <a:off x="2516301" y="1444859"/>
            <a:ext cx="3281524" cy="789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endParaRPr lang="zh-CN" altLang="zh-CN" sz="2598">
              <a:ea typeface="宋体" panose="02010600030101010101" pitchFamily="2" charset="-122"/>
            </a:endParaRPr>
          </a:p>
        </p:txBody>
      </p:sp>
      <p:sp>
        <p:nvSpPr>
          <p:cNvPr id="92164" name="Rectangle 6">
            <a:extLst>
              <a:ext uri="{FF2B5EF4-FFF2-40B4-BE49-F238E27FC236}">
                <a16:creationId xmlns:a16="http://schemas.microsoft.com/office/drawing/2014/main" id="{638DF698-457C-3E9A-635E-D95EEC39705E}"/>
              </a:ext>
            </a:extLst>
          </p:cNvPr>
          <p:cNvSpPr>
            <a:spLocks noGrp="1" noChangeArrowheads="1"/>
          </p:cNvSpPr>
          <p:nvPr>
            <p:ph type="title" idx="4294967295"/>
          </p:nvPr>
        </p:nvSpPr>
        <p:spPr>
          <a:xfrm>
            <a:off x="1528195" y="277533"/>
            <a:ext cx="9135611" cy="648692"/>
          </a:xfrm>
        </p:spPr>
        <p:txBody>
          <a:bodyPr/>
          <a:lstStyle/>
          <a:p>
            <a:r>
              <a:rPr lang="en-US" altLang="zh-CN" sz="3597">
                <a:ea typeface="宋体" panose="02010600030101010101" pitchFamily="2" charset="-122"/>
              </a:rPr>
              <a:t>20</a:t>
            </a:r>
            <a:r>
              <a:rPr lang="zh-CN" altLang="en-US" sz="3597">
                <a:ea typeface="宋体" panose="02010600030101010101" pitchFamily="2" charset="-122"/>
              </a:rPr>
              <a:t>世纪</a:t>
            </a:r>
            <a:r>
              <a:rPr lang="en-US" altLang="zh-CN" sz="3597">
                <a:ea typeface="宋体" panose="02010600030101010101" pitchFamily="2" charset="-122"/>
              </a:rPr>
              <a:t>70</a:t>
            </a:r>
            <a:r>
              <a:rPr lang="zh-CN" altLang="en-US" sz="3597">
                <a:ea typeface="宋体" panose="02010600030101010101" pitchFamily="2" charset="-122"/>
              </a:rPr>
              <a:t>年代的石油冲击及其影响</a:t>
            </a:r>
          </a:p>
        </p:txBody>
      </p:sp>
      <p:sp>
        <p:nvSpPr>
          <p:cNvPr id="92165" name="Rectangle 21">
            <a:extLst>
              <a:ext uri="{FF2B5EF4-FFF2-40B4-BE49-F238E27FC236}">
                <a16:creationId xmlns:a16="http://schemas.microsoft.com/office/drawing/2014/main" id="{B724C055-1C82-032B-5BD8-B5512521B07A}"/>
              </a:ext>
            </a:extLst>
          </p:cNvPr>
          <p:cNvSpPr>
            <a:spLocks noChangeArrowheads="1"/>
          </p:cNvSpPr>
          <p:nvPr/>
        </p:nvSpPr>
        <p:spPr bwMode="auto">
          <a:xfrm>
            <a:off x="2516301" y="4618535"/>
            <a:ext cx="3281524" cy="103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71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2598">
                <a:ea typeface="宋体" panose="02010600030101010101" pitchFamily="2" charset="-122"/>
              </a:rPr>
              <a:t>失业量的变化</a:t>
            </a:r>
          </a:p>
        </p:txBody>
      </p:sp>
      <p:sp>
        <p:nvSpPr>
          <p:cNvPr id="92166" name="Rectangle 18">
            <a:extLst>
              <a:ext uri="{FF2B5EF4-FFF2-40B4-BE49-F238E27FC236}">
                <a16:creationId xmlns:a16="http://schemas.microsoft.com/office/drawing/2014/main" id="{B7964208-5F34-DC91-2062-B0EC3C4BE35C}"/>
              </a:ext>
            </a:extLst>
          </p:cNvPr>
          <p:cNvSpPr>
            <a:spLocks noChangeArrowheads="1"/>
          </p:cNvSpPr>
          <p:nvPr/>
        </p:nvSpPr>
        <p:spPr bwMode="auto">
          <a:xfrm>
            <a:off x="2516301" y="3822341"/>
            <a:ext cx="3281524" cy="79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71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2598">
                <a:ea typeface="宋体" panose="02010600030101010101" pitchFamily="2" charset="-122"/>
              </a:rPr>
              <a:t>真实GDP</a:t>
            </a:r>
          </a:p>
        </p:txBody>
      </p:sp>
      <p:sp>
        <p:nvSpPr>
          <p:cNvPr id="92167" name="Rectangle 15">
            <a:extLst>
              <a:ext uri="{FF2B5EF4-FFF2-40B4-BE49-F238E27FC236}">
                <a16:creationId xmlns:a16="http://schemas.microsoft.com/office/drawing/2014/main" id="{E4975C2F-6A47-7B90-A374-A7DD8D2FB06F}"/>
              </a:ext>
            </a:extLst>
          </p:cNvPr>
          <p:cNvSpPr>
            <a:spLocks noChangeArrowheads="1"/>
          </p:cNvSpPr>
          <p:nvPr/>
        </p:nvSpPr>
        <p:spPr bwMode="auto">
          <a:xfrm>
            <a:off x="2516301" y="3026147"/>
            <a:ext cx="3281524" cy="79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71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2598">
                <a:ea typeface="宋体" panose="02010600030101010101" pitchFamily="2" charset="-122"/>
              </a:rPr>
              <a:t>CPI</a:t>
            </a:r>
          </a:p>
        </p:txBody>
      </p:sp>
      <p:grpSp>
        <p:nvGrpSpPr>
          <p:cNvPr id="92168" name="Group 8">
            <a:extLst>
              <a:ext uri="{FF2B5EF4-FFF2-40B4-BE49-F238E27FC236}">
                <a16:creationId xmlns:a16="http://schemas.microsoft.com/office/drawing/2014/main" id="{178E67F0-0A1A-9F1F-04C0-24E1FD35419B}"/>
              </a:ext>
            </a:extLst>
          </p:cNvPr>
          <p:cNvGrpSpPr>
            <a:grpSpLocks/>
          </p:cNvGrpSpPr>
          <p:nvPr/>
        </p:nvGrpSpPr>
        <p:grpSpPr bwMode="auto">
          <a:xfrm>
            <a:off x="7678873" y="2234711"/>
            <a:ext cx="1901666" cy="3414752"/>
            <a:chOff x="0" y="0"/>
            <a:chExt cx="1199" cy="2153"/>
          </a:xfrm>
        </p:grpSpPr>
        <p:sp>
          <p:nvSpPr>
            <p:cNvPr id="92169" name="Rectangle 23">
              <a:extLst>
                <a:ext uri="{FF2B5EF4-FFF2-40B4-BE49-F238E27FC236}">
                  <a16:creationId xmlns:a16="http://schemas.microsoft.com/office/drawing/2014/main" id="{AEE1CCF2-8583-1DCD-E151-11B9B360FA35}"/>
                </a:ext>
              </a:extLst>
            </p:cNvPr>
            <p:cNvSpPr>
              <a:spLocks noChangeArrowheads="1"/>
            </p:cNvSpPr>
            <p:nvPr/>
          </p:nvSpPr>
          <p:spPr bwMode="auto">
            <a:xfrm>
              <a:off x="0" y="1503"/>
              <a:ext cx="1199"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marL="339725" indent="-3397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95000"/>
                </a:lnSpc>
                <a:spcBef>
                  <a:spcPct val="45000"/>
                </a:spcBef>
                <a:buClr>
                  <a:srgbClr val="00B85C"/>
                </a:buClr>
                <a:buSzPct val="120000"/>
                <a:buFont typeface="Wingdings" pitchFamily="2" charset="2"/>
                <a:buNone/>
              </a:pPr>
              <a:r>
                <a:rPr lang="zh-CN" altLang="zh-CN" sz="2598">
                  <a:solidFill>
                    <a:srgbClr val="FF0000"/>
                  </a:solidFill>
                  <a:ea typeface="宋体" panose="02010600030101010101" pitchFamily="2" charset="-122"/>
                </a:rPr>
                <a:t>+ 1.4 百万</a:t>
              </a:r>
            </a:p>
          </p:txBody>
        </p:sp>
        <p:sp>
          <p:nvSpPr>
            <p:cNvPr id="92170" name="Rectangle 20">
              <a:extLst>
                <a:ext uri="{FF2B5EF4-FFF2-40B4-BE49-F238E27FC236}">
                  <a16:creationId xmlns:a16="http://schemas.microsoft.com/office/drawing/2014/main" id="{25D737B8-DEA8-37BF-DA5C-8A62CF11754E}"/>
                </a:ext>
              </a:extLst>
            </p:cNvPr>
            <p:cNvSpPr>
              <a:spLocks noChangeArrowheads="1"/>
            </p:cNvSpPr>
            <p:nvPr/>
          </p:nvSpPr>
          <p:spPr bwMode="auto">
            <a:xfrm>
              <a:off x="0" y="1001"/>
              <a:ext cx="119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2598">
                  <a:solidFill>
                    <a:srgbClr val="FF0000"/>
                  </a:solidFill>
                  <a:ea typeface="宋体" panose="02010600030101010101" pitchFamily="2" charset="-122"/>
                </a:rPr>
                <a:t>+ 2.9%</a:t>
              </a:r>
            </a:p>
          </p:txBody>
        </p:sp>
        <p:sp>
          <p:nvSpPr>
            <p:cNvPr id="92171" name="Rectangle 17">
              <a:extLst>
                <a:ext uri="{FF2B5EF4-FFF2-40B4-BE49-F238E27FC236}">
                  <a16:creationId xmlns:a16="http://schemas.microsoft.com/office/drawing/2014/main" id="{A917A698-4A21-0D6F-6216-7F5233D4592F}"/>
                </a:ext>
              </a:extLst>
            </p:cNvPr>
            <p:cNvSpPr>
              <a:spLocks noChangeArrowheads="1"/>
            </p:cNvSpPr>
            <p:nvPr/>
          </p:nvSpPr>
          <p:spPr bwMode="auto">
            <a:xfrm>
              <a:off x="0" y="499"/>
              <a:ext cx="119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2598">
                  <a:solidFill>
                    <a:srgbClr val="FF0000"/>
                  </a:solidFill>
                  <a:ea typeface="宋体" panose="02010600030101010101" pitchFamily="2" charset="-122"/>
                </a:rPr>
                <a:t>+ 26%</a:t>
              </a:r>
            </a:p>
          </p:txBody>
        </p:sp>
        <p:sp>
          <p:nvSpPr>
            <p:cNvPr id="92172" name="Rectangle 14">
              <a:extLst>
                <a:ext uri="{FF2B5EF4-FFF2-40B4-BE49-F238E27FC236}">
                  <a16:creationId xmlns:a16="http://schemas.microsoft.com/office/drawing/2014/main" id="{5233179C-7390-47EB-00D5-6B8189B5EAE9}"/>
                </a:ext>
              </a:extLst>
            </p:cNvPr>
            <p:cNvSpPr>
              <a:spLocks noChangeArrowheads="1"/>
            </p:cNvSpPr>
            <p:nvPr/>
          </p:nvSpPr>
          <p:spPr bwMode="auto">
            <a:xfrm>
              <a:off x="0" y="0"/>
              <a:ext cx="1199"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2598">
                  <a:solidFill>
                    <a:srgbClr val="FF0000"/>
                  </a:solidFill>
                  <a:ea typeface="宋体" panose="02010600030101010101" pitchFamily="2" charset="-122"/>
                </a:rPr>
                <a:t>+ 99%</a:t>
              </a:r>
            </a:p>
          </p:txBody>
        </p:sp>
      </p:grpSp>
      <p:grpSp>
        <p:nvGrpSpPr>
          <p:cNvPr id="92173" name="Group 13">
            <a:extLst>
              <a:ext uri="{FF2B5EF4-FFF2-40B4-BE49-F238E27FC236}">
                <a16:creationId xmlns:a16="http://schemas.microsoft.com/office/drawing/2014/main" id="{5FCA298B-0080-342C-0FAD-8210CC778F6C}"/>
              </a:ext>
            </a:extLst>
          </p:cNvPr>
          <p:cNvGrpSpPr>
            <a:grpSpLocks/>
          </p:cNvGrpSpPr>
          <p:nvPr/>
        </p:nvGrpSpPr>
        <p:grpSpPr bwMode="auto">
          <a:xfrm>
            <a:off x="5797824" y="2234711"/>
            <a:ext cx="2295884" cy="3414752"/>
            <a:chOff x="0" y="0"/>
            <a:chExt cx="1186" cy="2153"/>
          </a:xfrm>
        </p:grpSpPr>
        <p:sp>
          <p:nvSpPr>
            <p:cNvPr id="92174" name="Rectangle 22">
              <a:extLst>
                <a:ext uri="{FF2B5EF4-FFF2-40B4-BE49-F238E27FC236}">
                  <a16:creationId xmlns:a16="http://schemas.microsoft.com/office/drawing/2014/main" id="{C3981ECD-16D1-E772-757B-1B5DC293BE7A}"/>
                </a:ext>
              </a:extLst>
            </p:cNvPr>
            <p:cNvSpPr>
              <a:spLocks noChangeArrowheads="1"/>
            </p:cNvSpPr>
            <p:nvPr/>
          </p:nvSpPr>
          <p:spPr bwMode="auto">
            <a:xfrm>
              <a:off x="0" y="1503"/>
              <a:ext cx="1186"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marL="339725" indent="-3397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95000"/>
                </a:lnSpc>
                <a:spcBef>
                  <a:spcPct val="45000"/>
                </a:spcBef>
                <a:buClr>
                  <a:srgbClr val="00B85C"/>
                </a:buClr>
                <a:buSzPct val="120000"/>
                <a:buFont typeface="Wingdings" pitchFamily="2" charset="2"/>
                <a:buNone/>
              </a:pPr>
              <a:r>
                <a:rPr lang="zh-CN" altLang="zh-CN" sz="2598" dirty="0">
                  <a:solidFill>
                    <a:srgbClr val="FF0000"/>
                  </a:solidFill>
                  <a:ea typeface="宋体" panose="02010600030101010101" pitchFamily="2" charset="-122"/>
                </a:rPr>
                <a:t>+ 3.5 百万</a:t>
              </a:r>
            </a:p>
          </p:txBody>
        </p:sp>
        <p:sp>
          <p:nvSpPr>
            <p:cNvPr id="92175" name="Rectangle 19">
              <a:extLst>
                <a:ext uri="{FF2B5EF4-FFF2-40B4-BE49-F238E27FC236}">
                  <a16:creationId xmlns:a16="http://schemas.microsoft.com/office/drawing/2014/main" id="{1AE517C0-F35F-4EE5-0A08-7959033EB29A}"/>
                </a:ext>
              </a:extLst>
            </p:cNvPr>
            <p:cNvSpPr>
              <a:spLocks noChangeArrowheads="1"/>
            </p:cNvSpPr>
            <p:nvPr/>
          </p:nvSpPr>
          <p:spPr bwMode="auto">
            <a:xfrm>
              <a:off x="0" y="1001"/>
              <a:ext cx="118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2598">
                  <a:solidFill>
                    <a:srgbClr val="FF0000"/>
                  </a:solidFill>
                  <a:ea typeface="宋体" panose="02010600030101010101" pitchFamily="2" charset="-122"/>
                </a:rPr>
                <a:t>– 0.7%</a:t>
              </a:r>
            </a:p>
          </p:txBody>
        </p:sp>
        <p:sp>
          <p:nvSpPr>
            <p:cNvPr id="92176" name="Rectangle 16">
              <a:extLst>
                <a:ext uri="{FF2B5EF4-FFF2-40B4-BE49-F238E27FC236}">
                  <a16:creationId xmlns:a16="http://schemas.microsoft.com/office/drawing/2014/main" id="{9FDFB507-CAFB-8FE0-86C9-D0AAA8014162}"/>
                </a:ext>
              </a:extLst>
            </p:cNvPr>
            <p:cNvSpPr>
              <a:spLocks noChangeArrowheads="1"/>
            </p:cNvSpPr>
            <p:nvPr/>
          </p:nvSpPr>
          <p:spPr bwMode="auto">
            <a:xfrm>
              <a:off x="0" y="499"/>
              <a:ext cx="118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2598">
                  <a:solidFill>
                    <a:srgbClr val="FF0000"/>
                  </a:solidFill>
                  <a:ea typeface="宋体" panose="02010600030101010101" pitchFamily="2" charset="-122"/>
                </a:rPr>
                <a:t>+ 21%</a:t>
              </a:r>
            </a:p>
          </p:txBody>
        </p:sp>
        <p:sp>
          <p:nvSpPr>
            <p:cNvPr id="92177" name="Rectangle 13">
              <a:extLst>
                <a:ext uri="{FF2B5EF4-FFF2-40B4-BE49-F238E27FC236}">
                  <a16:creationId xmlns:a16="http://schemas.microsoft.com/office/drawing/2014/main" id="{D3AD9D1F-734C-5A4D-D55B-4825E9E9BB26}"/>
                </a:ext>
              </a:extLst>
            </p:cNvPr>
            <p:cNvSpPr>
              <a:spLocks noChangeArrowheads="1"/>
            </p:cNvSpPr>
            <p:nvPr/>
          </p:nvSpPr>
          <p:spPr bwMode="auto">
            <a:xfrm>
              <a:off x="0" y="0"/>
              <a:ext cx="118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391"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2598">
                  <a:solidFill>
                    <a:srgbClr val="FF0000"/>
                  </a:solidFill>
                  <a:ea typeface="宋体" panose="02010600030101010101" pitchFamily="2" charset="-122"/>
                </a:rPr>
                <a:t>+ 138%</a:t>
              </a:r>
            </a:p>
          </p:txBody>
        </p:sp>
      </p:grpSp>
      <p:sp>
        <p:nvSpPr>
          <p:cNvPr id="92178" name="Rectangle 12">
            <a:extLst>
              <a:ext uri="{FF2B5EF4-FFF2-40B4-BE49-F238E27FC236}">
                <a16:creationId xmlns:a16="http://schemas.microsoft.com/office/drawing/2014/main" id="{26E3AE0F-C469-C23D-7C95-1740F4C4D66A}"/>
              </a:ext>
            </a:extLst>
          </p:cNvPr>
          <p:cNvSpPr>
            <a:spLocks noChangeArrowheads="1"/>
          </p:cNvSpPr>
          <p:nvPr/>
        </p:nvSpPr>
        <p:spPr bwMode="auto">
          <a:xfrm>
            <a:off x="2516301" y="2234710"/>
            <a:ext cx="3281524" cy="791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71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2598">
                <a:ea typeface="宋体" panose="02010600030101010101" pitchFamily="2" charset="-122"/>
              </a:rPr>
              <a:t>真实石油价格</a:t>
            </a:r>
          </a:p>
        </p:txBody>
      </p:sp>
      <p:sp>
        <p:nvSpPr>
          <p:cNvPr id="92179" name="Rectangle 11">
            <a:extLst>
              <a:ext uri="{FF2B5EF4-FFF2-40B4-BE49-F238E27FC236}">
                <a16:creationId xmlns:a16="http://schemas.microsoft.com/office/drawing/2014/main" id="{E7812DF2-48BE-4F78-29F8-6F8EDD9FC386}"/>
              </a:ext>
            </a:extLst>
          </p:cNvPr>
          <p:cNvSpPr>
            <a:spLocks noChangeArrowheads="1"/>
          </p:cNvSpPr>
          <p:nvPr/>
        </p:nvSpPr>
        <p:spPr bwMode="auto">
          <a:xfrm>
            <a:off x="7678873" y="1444859"/>
            <a:ext cx="1901666" cy="789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2598">
                <a:ea typeface="宋体" panose="02010600030101010101" pitchFamily="2" charset="-122"/>
              </a:rPr>
              <a:t>1978-80</a:t>
            </a:r>
          </a:p>
        </p:txBody>
      </p:sp>
      <p:sp>
        <p:nvSpPr>
          <p:cNvPr id="92180" name="Rectangle 10">
            <a:extLst>
              <a:ext uri="{FF2B5EF4-FFF2-40B4-BE49-F238E27FC236}">
                <a16:creationId xmlns:a16="http://schemas.microsoft.com/office/drawing/2014/main" id="{BF6F15C4-4FD6-1946-052B-A1FBD65CE81D}"/>
              </a:ext>
            </a:extLst>
          </p:cNvPr>
          <p:cNvSpPr>
            <a:spLocks noChangeArrowheads="1"/>
          </p:cNvSpPr>
          <p:nvPr/>
        </p:nvSpPr>
        <p:spPr bwMode="auto">
          <a:xfrm>
            <a:off x="5797825" y="1444859"/>
            <a:ext cx="1881047" cy="789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2598">
                <a:ea typeface="宋体" panose="02010600030101010101" pitchFamily="2" charset="-122"/>
              </a:rPr>
              <a:t>1973-75</a:t>
            </a:r>
          </a:p>
        </p:txBody>
      </p:sp>
      <p:sp>
        <p:nvSpPr>
          <p:cNvPr id="92181" name="Line 24">
            <a:extLst>
              <a:ext uri="{FF2B5EF4-FFF2-40B4-BE49-F238E27FC236}">
                <a16:creationId xmlns:a16="http://schemas.microsoft.com/office/drawing/2014/main" id="{5780AE25-F320-96EC-906F-59B19FF11A3F}"/>
              </a:ext>
            </a:extLst>
          </p:cNvPr>
          <p:cNvSpPr>
            <a:spLocks noChangeShapeType="1"/>
          </p:cNvSpPr>
          <p:nvPr/>
        </p:nvSpPr>
        <p:spPr bwMode="auto">
          <a:xfrm>
            <a:off x="2516302" y="1444860"/>
            <a:ext cx="706423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2" name="Line 25">
            <a:extLst>
              <a:ext uri="{FF2B5EF4-FFF2-40B4-BE49-F238E27FC236}">
                <a16:creationId xmlns:a16="http://schemas.microsoft.com/office/drawing/2014/main" id="{DB8E9846-AA69-FD05-39EB-D87DF92A213E}"/>
              </a:ext>
            </a:extLst>
          </p:cNvPr>
          <p:cNvSpPr>
            <a:spLocks noChangeShapeType="1"/>
          </p:cNvSpPr>
          <p:nvPr/>
        </p:nvSpPr>
        <p:spPr bwMode="auto">
          <a:xfrm>
            <a:off x="2516302" y="2234710"/>
            <a:ext cx="70642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3" name="Line 26">
            <a:extLst>
              <a:ext uri="{FF2B5EF4-FFF2-40B4-BE49-F238E27FC236}">
                <a16:creationId xmlns:a16="http://schemas.microsoft.com/office/drawing/2014/main" id="{726D4838-37AE-F1E9-FF71-E8DD7D1AF64E}"/>
              </a:ext>
            </a:extLst>
          </p:cNvPr>
          <p:cNvSpPr>
            <a:spLocks noChangeShapeType="1"/>
          </p:cNvSpPr>
          <p:nvPr/>
        </p:nvSpPr>
        <p:spPr bwMode="auto">
          <a:xfrm>
            <a:off x="2516302" y="3026144"/>
            <a:ext cx="70642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4" name="Line 27">
            <a:extLst>
              <a:ext uri="{FF2B5EF4-FFF2-40B4-BE49-F238E27FC236}">
                <a16:creationId xmlns:a16="http://schemas.microsoft.com/office/drawing/2014/main" id="{CE0C2630-4EA0-90E8-7001-D2093050F33E}"/>
              </a:ext>
            </a:extLst>
          </p:cNvPr>
          <p:cNvSpPr>
            <a:spLocks noChangeShapeType="1"/>
          </p:cNvSpPr>
          <p:nvPr/>
        </p:nvSpPr>
        <p:spPr bwMode="auto">
          <a:xfrm>
            <a:off x="2516302" y="3822338"/>
            <a:ext cx="70642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5" name="Line 28">
            <a:extLst>
              <a:ext uri="{FF2B5EF4-FFF2-40B4-BE49-F238E27FC236}">
                <a16:creationId xmlns:a16="http://schemas.microsoft.com/office/drawing/2014/main" id="{A78B2434-C8FB-EC08-0567-C6B95CBD8F87}"/>
              </a:ext>
            </a:extLst>
          </p:cNvPr>
          <p:cNvSpPr>
            <a:spLocks noChangeShapeType="1"/>
          </p:cNvSpPr>
          <p:nvPr/>
        </p:nvSpPr>
        <p:spPr bwMode="auto">
          <a:xfrm>
            <a:off x="2516302" y="4618532"/>
            <a:ext cx="70642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6" name="Line 29">
            <a:extLst>
              <a:ext uri="{FF2B5EF4-FFF2-40B4-BE49-F238E27FC236}">
                <a16:creationId xmlns:a16="http://schemas.microsoft.com/office/drawing/2014/main" id="{90EE7EA1-1F2B-7808-1CCB-789BCBBDBBDF}"/>
              </a:ext>
            </a:extLst>
          </p:cNvPr>
          <p:cNvSpPr>
            <a:spLocks noChangeShapeType="1"/>
          </p:cNvSpPr>
          <p:nvPr/>
        </p:nvSpPr>
        <p:spPr bwMode="auto">
          <a:xfrm>
            <a:off x="2516302" y="5649460"/>
            <a:ext cx="706423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7" name="Line 30">
            <a:extLst>
              <a:ext uri="{FF2B5EF4-FFF2-40B4-BE49-F238E27FC236}">
                <a16:creationId xmlns:a16="http://schemas.microsoft.com/office/drawing/2014/main" id="{7D75CA63-D699-044A-BA20-9F6EDBE35487}"/>
              </a:ext>
            </a:extLst>
          </p:cNvPr>
          <p:cNvSpPr>
            <a:spLocks noChangeShapeType="1"/>
          </p:cNvSpPr>
          <p:nvPr/>
        </p:nvSpPr>
        <p:spPr bwMode="auto">
          <a:xfrm>
            <a:off x="2516299" y="1444859"/>
            <a:ext cx="0" cy="4204601"/>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8" name="Line 31">
            <a:extLst>
              <a:ext uri="{FF2B5EF4-FFF2-40B4-BE49-F238E27FC236}">
                <a16:creationId xmlns:a16="http://schemas.microsoft.com/office/drawing/2014/main" id="{7413CB5F-DAD7-3194-E68A-DC9394A0B909}"/>
              </a:ext>
            </a:extLst>
          </p:cNvPr>
          <p:cNvSpPr>
            <a:spLocks noChangeShapeType="1"/>
          </p:cNvSpPr>
          <p:nvPr/>
        </p:nvSpPr>
        <p:spPr bwMode="auto">
          <a:xfrm>
            <a:off x="5797823" y="1444859"/>
            <a:ext cx="0" cy="420460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89" name="Line 32">
            <a:extLst>
              <a:ext uri="{FF2B5EF4-FFF2-40B4-BE49-F238E27FC236}">
                <a16:creationId xmlns:a16="http://schemas.microsoft.com/office/drawing/2014/main" id="{6A47A54E-7CEE-D963-237F-82E2939FA832}"/>
              </a:ext>
            </a:extLst>
          </p:cNvPr>
          <p:cNvSpPr>
            <a:spLocks noChangeShapeType="1"/>
          </p:cNvSpPr>
          <p:nvPr/>
        </p:nvSpPr>
        <p:spPr bwMode="auto">
          <a:xfrm>
            <a:off x="7678872" y="1444859"/>
            <a:ext cx="0" cy="420460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90" name="Line 33">
            <a:extLst>
              <a:ext uri="{FF2B5EF4-FFF2-40B4-BE49-F238E27FC236}">
                <a16:creationId xmlns:a16="http://schemas.microsoft.com/office/drawing/2014/main" id="{20E4C608-19AC-DDD0-2752-4C0449BEDE59}"/>
              </a:ext>
            </a:extLst>
          </p:cNvPr>
          <p:cNvSpPr>
            <a:spLocks noChangeShapeType="1"/>
          </p:cNvSpPr>
          <p:nvPr/>
        </p:nvSpPr>
        <p:spPr bwMode="auto">
          <a:xfrm>
            <a:off x="9580538" y="1444859"/>
            <a:ext cx="0" cy="4204601"/>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p>
        </p:txBody>
      </p:sp>
      <p:sp>
        <p:nvSpPr>
          <p:cNvPr id="92191" name="FlagCount" hidden="1">
            <a:hlinkClick r:id="rId3" action="ppaction://hlinkfile"/>
            <a:extLst>
              <a:ext uri="{FF2B5EF4-FFF2-40B4-BE49-F238E27FC236}">
                <a16:creationId xmlns:a16="http://schemas.microsoft.com/office/drawing/2014/main" id="{F2C510E8-B475-60CD-C33B-3B75BDFC1B47}"/>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165507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2173"/>
                                        </p:tgtEl>
                                        <p:attrNameLst>
                                          <p:attrName>style.visibility</p:attrName>
                                        </p:attrNameLst>
                                      </p:cBhvr>
                                      <p:to>
                                        <p:strVal val="visible"/>
                                      </p:to>
                                    </p:set>
                                    <p:animEffect transition="in" filter="wipe(up)">
                                      <p:cBhvr>
                                        <p:cTn id="7" dur="500"/>
                                        <p:tgtEl>
                                          <p:spTgt spid="92173"/>
                                        </p:tgtEl>
                                      </p:cBhvr>
                                    </p:animEffect>
                                  </p:childTnLst>
                                  <p:subTnLst>
                                    <p:animClr clrSpc="rgb" dir="cw">
                                      <p:cBhvr override="childStyle">
                                        <p:cTn dur="1" fill="hold" display="0" masterRel="nextClick" afterEffect="1"/>
                                        <p:tgtEl>
                                          <p:spTgt spid="92173"/>
                                        </p:tgtEl>
                                        <p:attrNameLst>
                                          <p:attrName>ppt_c</p:attrName>
                                        </p:attrNameLst>
                                      </p:cBhvr>
                                      <p:to>
                                        <a:schemeClr val="tx1"/>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2168"/>
                                        </p:tgtEl>
                                        <p:attrNameLst>
                                          <p:attrName>style.visibility</p:attrName>
                                        </p:attrNameLst>
                                      </p:cBhvr>
                                      <p:to>
                                        <p:strVal val="visible"/>
                                      </p:to>
                                    </p:set>
                                    <p:animEffect transition="in" filter="wipe(up)">
                                      <p:cBhvr>
                                        <p:cTn id="12" dur="500"/>
                                        <p:tgtEl>
                                          <p:spTgt spid="92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内容占位符 6"/>
          <p:cNvGraphicFramePr>
            <a:graphicFrameLocks noGrp="1"/>
          </p:cNvGraphicFramePr>
          <p:nvPr>
            <p:ph idx="1"/>
          </p:nvPr>
        </p:nvGraphicFramePr>
        <p:xfrm>
          <a:off x="2162548" y="1867837"/>
          <a:ext cx="7928907" cy="3825642"/>
        </p:xfrm>
        <a:graphic>
          <a:graphicData uri="http://schemas.openxmlformats.org/drawingml/2006/table">
            <a:tbl>
              <a:tblPr firstRow="1" bandRow="1">
                <a:tableStyleId>{5940675A-B579-460E-94D1-54222C63F5DA}</a:tableStyleId>
              </a:tblPr>
              <a:tblGrid>
                <a:gridCol w="790473">
                  <a:extLst>
                    <a:ext uri="{9D8B030D-6E8A-4147-A177-3AD203B41FA5}">
                      <a16:colId xmlns:a16="http://schemas.microsoft.com/office/drawing/2014/main" val="3730117908"/>
                    </a:ext>
                  </a:extLst>
                </a:gridCol>
                <a:gridCol w="4751295">
                  <a:extLst>
                    <a:ext uri="{9D8B030D-6E8A-4147-A177-3AD203B41FA5}">
                      <a16:colId xmlns:a16="http://schemas.microsoft.com/office/drawing/2014/main" val="1747321122"/>
                    </a:ext>
                  </a:extLst>
                </a:gridCol>
                <a:gridCol w="2387139">
                  <a:extLst>
                    <a:ext uri="{9D8B030D-6E8A-4147-A177-3AD203B41FA5}">
                      <a16:colId xmlns:a16="http://schemas.microsoft.com/office/drawing/2014/main" val="335340976"/>
                    </a:ext>
                  </a:extLst>
                </a:gridCol>
              </a:tblGrid>
              <a:tr h="455092">
                <a:tc>
                  <a:txBody>
                    <a:bodyPr/>
                    <a:lstStyle/>
                    <a:p>
                      <a:pPr algn="ctr"/>
                      <a:r>
                        <a:rPr lang="zh-CN" altLang="en-US" sz="1800" b="1" dirty="0">
                          <a:latin typeface="楷体" panose="02010609060101010101" pitchFamily="49" charset="-122"/>
                          <a:ea typeface="楷体" panose="02010609060101010101" pitchFamily="49" charset="-122"/>
                        </a:rPr>
                        <a:t>序号</a:t>
                      </a:r>
                    </a:p>
                  </a:txBody>
                  <a:tcPr marL="91356" marR="91356" marT="45679" marB="45679" anchor="ctr"/>
                </a:tc>
                <a:tc>
                  <a:txBody>
                    <a:bodyPr/>
                    <a:lstStyle/>
                    <a:p>
                      <a:pPr algn="ctr"/>
                      <a:r>
                        <a:rPr lang="zh-CN" altLang="en-US" sz="1800" b="1" dirty="0">
                          <a:latin typeface="楷体" panose="02010609060101010101" pitchFamily="49" charset="-122"/>
                          <a:ea typeface="楷体" panose="02010609060101010101" pitchFamily="49" charset="-122"/>
                        </a:rPr>
                        <a:t>因素及变化</a:t>
                      </a:r>
                    </a:p>
                  </a:txBody>
                  <a:tcPr marL="91356" marR="91356" marT="45679" marB="45679" anchor="ctr"/>
                </a:tc>
                <a:tc>
                  <a:txBody>
                    <a:bodyPr/>
                    <a:lstStyle/>
                    <a:p>
                      <a:pPr algn="ctr"/>
                      <a:r>
                        <a:rPr lang="zh-CN" altLang="en-US" sz="1800" b="1" dirty="0">
                          <a:latin typeface="楷体" panose="02010609060101010101" pitchFamily="49" charset="-122"/>
                          <a:ea typeface="楷体" panose="02010609060101010101" pitchFamily="49" charset="-122"/>
                        </a:rPr>
                        <a:t>总供给曲线的变化</a:t>
                      </a:r>
                    </a:p>
                  </a:txBody>
                  <a:tcPr marL="91356" marR="91356" marT="45679" marB="45679" anchor="ctr"/>
                </a:tc>
                <a:extLst>
                  <a:ext uri="{0D108BD9-81ED-4DB2-BD59-A6C34878D82A}">
                    <a16:rowId xmlns:a16="http://schemas.microsoft.com/office/drawing/2014/main" val="642135051"/>
                  </a:ext>
                </a:extLst>
              </a:tr>
              <a:tr h="455092">
                <a:tc>
                  <a:txBody>
                    <a:bodyPr/>
                    <a:lstStyle/>
                    <a:p>
                      <a:pPr algn="ctr"/>
                      <a:r>
                        <a:rPr lang="en-US" altLang="zh-CN" sz="1800" dirty="0">
                          <a:latin typeface="楷体" panose="02010609060101010101" pitchFamily="49" charset="-122"/>
                          <a:ea typeface="楷体" panose="02010609060101010101" pitchFamily="49" charset="-122"/>
                        </a:rPr>
                        <a:t>1</a:t>
                      </a:r>
                      <a:endParaRPr lang="zh-CN" altLang="en-US" sz="1800" dirty="0">
                        <a:latin typeface="楷体" panose="02010609060101010101" pitchFamily="49" charset="-122"/>
                        <a:ea typeface="楷体" panose="02010609060101010101" pitchFamily="49" charset="-122"/>
                      </a:endParaRPr>
                    </a:p>
                  </a:txBody>
                  <a:tcPr marL="91356" marR="91356" marT="45679" marB="45679" anchor="ctr"/>
                </a:tc>
                <a:tc>
                  <a:txBody>
                    <a:bodyPr/>
                    <a:lstStyle/>
                    <a:p>
                      <a:pPr algn="ctr"/>
                      <a:r>
                        <a:rPr lang="zh-CN" altLang="en-US" sz="1800" dirty="0">
                          <a:latin typeface="楷体" panose="02010609060101010101" pitchFamily="49" charset="-122"/>
                          <a:ea typeface="楷体" panose="02010609060101010101" pitchFamily="49" charset="-122"/>
                        </a:rPr>
                        <a:t>可得到的劳动供给量增加（劳动市场相对宽松）</a:t>
                      </a:r>
                    </a:p>
                  </a:txBody>
                  <a:tcPr marL="91356" marR="91356" marT="45679" marB="45679" anchor="ctr"/>
                </a:tc>
                <a:tc>
                  <a:txBody>
                    <a:bodyPr/>
                    <a:lstStyle/>
                    <a:p>
                      <a:pPr algn="ctr"/>
                      <a:endParaRPr lang="zh-CN" altLang="en-US" sz="1800" dirty="0">
                        <a:latin typeface="楷体" panose="02010609060101010101" pitchFamily="49" charset="-122"/>
                        <a:ea typeface="楷体" panose="02010609060101010101" pitchFamily="49" charset="-122"/>
                      </a:endParaRPr>
                    </a:p>
                  </a:txBody>
                  <a:tcPr marL="91356" marR="91356" marT="45679" marB="45679" anchor="ctr"/>
                </a:tc>
                <a:extLst>
                  <a:ext uri="{0D108BD9-81ED-4DB2-BD59-A6C34878D82A}">
                    <a16:rowId xmlns:a16="http://schemas.microsoft.com/office/drawing/2014/main" val="3717059952"/>
                  </a:ext>
                </a:extLst>
              </a:tr>
              <a:tr h="455092">
                <a:tc>
                  <a:txBody>
                    <a:bodyPr/>
                    <a:lstStyle/>
                    <a:p>
                      <a:pPr algn="ctr"/>
                      <a:r>
                        <a:rPr lang="en-US" altLang="zh-CN" sz="1800" dirty="0">
                          <a:latin typeface="楷体" panose="02010609060101010101" pitchFamily="49" charset="-122"/>
                          <a:ea typeface="楷体" panose="02010609060101010101" pitchFamily="49" charset="-122"/>
                        </a:rPr>
                        <a:t>2</a:t>
                      </a:r>
                      <a:endParaRPr lang="zh-CN" altLang="en-US" sz="1800" dirty="0">
                        <a:latin typeface="楷体" panose="02010609060101010101" pitchFamily="49" charset="-122"/>
                        <a:ea typeface="楷体" panose="02010609060101010101" pitchFamily="49" charset="-122"/>
                      </a:endParaRPr>
                    </a:p>
                  </a:txBody>
                  <a:tcPr marL="91356" marR="91356" marT="45679" marB="45679" anchor="ctr"/>
                </a:tc>
                <a:tc>
                  <a:txBody>
                    <a:bodyPr/>
                    <a:lstStyle/>
                    <a:p>
                      <a:pPr algn="ctr"/>
                      <a:r>
                        <a:rPr lang="zh-CN" altLang="en-US" sz="1800" dirty="0">
                          <a:latin typeface="楷体" panose="02010609060101010101" pitchFamily="49" charset="-122"/>
                          <a:ea typeface="楷体" panose="02010609060101010101" pitchFamily="49" charset="-122"/>
                        </a:rPr>
                        <a:t>资本增加</a:t>
                      </a:r>
                    </a:p>
                  </a:txBody>
                  <a:tcPr marL="91356" marR="91356" marT="45679" marB="45679" anchor="ctr"/>
                </a:tc>
                <a:tc>
                  <a:txBody>
                    <a:bodyPr/>
                    <a:lstStyle/>
                    <a:p>
                      <a:pPr algn="ctr"/>
                      <a:endParaRPr lang="zh-CN" altLang="en-US" sz="1800" dirty="0">
                        <a:latin typeface="楷体" panose="02010609060101010101" pitchFamily="49" charset="-122"/>
                        <a:ea typeface="楷体" panose="02010609060101010101" pitchFamily="49" charset="-122"/>
                      </a:endParaRPr>
                    </a:p>
                  </a:txBody>
                  <a:tcPr marL="91356" marR="91356" marT="45679" marB="45679" anchor="ctr"/>
                </a:tc>
                <a:extLst>
                  <a:ext uri="{0D108BD9-81ED-4DB2-BD59-A6C34878D82A}">
                    <a16:rowId xmlns:a16="http://schemas.microsoft.com/office/drawing/2014/main" val="1270521026"/>
                  </a:ext>
                </a:extLst>
              </a:tr>
              <a:tr h="455092">
                <a:tc>
                  <a:txBody>
                    <a:bodyPr/>
                    <a:lstStyle/>
                    <a:p>
                      <a:pPr algn="ctr"/>
                      <a:r>
                        <a:rPr lang="en-US" altLang="zh-CN" sz="1800" dirty="0">
                          <a:latin typeface="楷体" panose="02010609060101010101" pitchFamily="49" charset="-122"/>
                          <a:ea typeface="楷体" panose="02010609060101010101" pitchFamily="49" charset="-122"/>
                        </a:rPr>
                        <a:t>3</a:t>
                      </a:r>
                      <a:endParaRPr lang="zh-CN" altLang="en-US" sz="1800" dirty="0">
                        <a:latin typeface="楷体" panose="02010609060101010101" pitchFamily="49" charset="-122"/>
                        <a:ea typeface="楷体" panose="02010609060101010101" pitchFamily="49" charset="-122"/>
                      </a:endParaRPr>
                    </a:p>
                  </a:txBody>
                  <a:tcPr marL="91356" marR="91356" marT="45679" marB="45679" anchor="ctr"/>
                </a:tc>
                <a:tc>
                  <a:txBody>
                    <a:bodyPr/>
                    <a:lstStyle/>
                    <a:p>
                      <a:pPr algn="ctr"/>
                      <a:r>
                        <a:rPr lang="zh-CN" altLang="en-US" sz="1800" dirty="0">
                          <a:latin typeface="楷体" panose="02010609060101010101" pitchFamily="49" charset="-122"/>
                          <a:ea typeface="楷体" panose="02010609060101010101" pitchFamily="49" charset="-122"/>
                        </a:rPr>
                        <a:t>自然资源可获得性增加</a:t>
                      </a:r>
                    </a:p>
                  </a:txBody>
                  <a:tcPr marL="91356" marR="91356" marT="45679" marB="45679" anchor="ctr"/>
                </a:tc>
                <a:tc>
                  <a:txBody>
                    <a:bodyPr/>
                    <a:lstStyle/>
                    <a:p>
                      <a:pPr algn="ctr"/>
                      <a:endParaRPr lang="zh-CN" altLang="en-US" sz="1800" dirty="0">
                        <a:latin typeface="楷体" panose="02010609060101010101" pitchFamily="49" charset="-122"/>
                        <a:ea typeface="楷体" panose="02010609060101010101" pitchFamily="49" charset="-122"/>
                      </a:endParaRPr>
                    </a:p>
                  </a:txBody>
                  <a:tcPr marL="91356" marR="91356" marT="45679" marB="45679" anchor="ctr"/>
                </a:tc>
                <a:extLst>
                  <a:ext uri="{0D108BD9-81ED-4DB2-BD59-A6C34878D82A}">
                    <a16:rowId xmlns:a16="http://schemas.microsoft.com/office/drawing/2014/main" val="2395081805"/>
                  </a:ext>
                </a:extLst>
              </a:tr>
              <a:tr h="455092">
                <a:tc>
                  <a:txBody>
                    <a:bodyPr/>
                    <a:lstStyle/>
                    <a:p>
                      <a:pPr algn="ctr"/>
                      <a:r>
                        <a:rPr lang="en-US" altLang="zh-CN" sz="1800" dirty="0">
                          <a:latin typeface="楷体" panose="02010609060101010101" pitchFamily="49" charset="-122"/>
                          <a:ea typeface="楷体" panose="02010609060101010101" pitchFamily="49" charset="-122"/>
                        </a:rPr>
                        <a:t>4</a:t>
                      </a:r>
                      <a:endParaRPr lang="zh-CN" altLang="en-US" sz="1800" dirty="0">
                        <a:latin typeface="楷体" panose="02010609060101010101" pitchFamily="49" charset="-122"/>
                        <a:ea typeface="楷体" panose="02010609060101010101" pitchFamily="49" charset="-122"/>
                      </a:endParaRPr>
                    </a:p>
                  </a:txBody>
                  <a:tcPr marL="91356" marR="91356" marT="45679" marB="45679" anchor="ctr"/>
                </a:tc>
                <a:tc>
                  <a:txBody>
                    <a:bodyPr/>
                    <a:lstStyle/>
                    <a:p>
                      <a:pPr algn="ctr"/>
                      <a:r>
                        <a:rPr lang="zh-CN" altLang="en-US" sz="1800" dirty="0">
                          <a:latin typeface="楷体" panose="02010609060101010101" pitchFamily="49" charset="-122"/>
                          <a:ea typeface="楷体" panose="02010609060101010101" pitchFamily="49" charset="-122"/>
                        </a:rPr>
                        <a:t>技术进步</a:t>
                      </a:r>
                    </a:p>
                  </a:txBody>
                  <a:tcPr marL="91356" marR="91356" marT="45679" marB="45679" anchor="ctr"/>
                </a:tc>
                <a:tc>
                  <a:txBody>
                    <a:bodyPr/>
                    <a:lstStyle/>
                    <a:p>
                      <a:pPr algn="ctr"/>
                      <a:endParaRPr lang="zh-CN" altLang="en-US" sz="1800" dirty="0">
                        <a:latin typeface="楷体" panose="02010609060101010101" pitchFamily="49" charset="-122"/>
                        <a:ea typeface="楷体" panose="02010609060101010101" pitchFamily="49" charset="-122"/>
                      </a:endParaRPr>
                    </a:p>
                  </a:txBody>
                  <a:tcPr marL="91356" marR="91356" marT="45679" marB="45679" anchor="ctr"/>
                </a:tc>
                <a:extLst>
                  <a:ext uri="{0D108BD9-81ED-4DB2-BD59-A6C34878D82A}">
                    <a16:rowId xmlns:a16="http://schemas.microsoft.com/office/drawing/2014/main" val="2075348028"/>
                  </a:ext>
                </a:extLst>
              </a:tr>
              <a:tr h="455092">
                <a:tc>
                  <a:txBody>
                    <a:bodyPr/>
                    <a:lstStyle/>
                    <a:p>
                      <a:pPr algn="ctr"/>
                      <a:r>
                        <a:rPr lang="en-US" altLang="zh-CN" sz="1800" dirty="0">
                          <a:latin typeface="楷体" panose="02010609060101010101" pitchFamily="49" charset="-122"/>
                          <a:ea typeface="楷体" panose="02010609060101010101" pitchFamily="49" charset="-122"/>
                        </a:rPr>
                        <a:t>5</a:t>
                      </a:r>
                      <a:endParaRPr lang="zh-CN" altLang="en-US" sz="1800" dirty="0">
                        <a:latin typeface="楷体" panose="02010609060101010101" pitchFamily="49" charset="-122"/>
                        <a:ea typeface="楷体" panose="02010609060101010101" pitchFamily="49" charset="-122"/>
                      </a:endParaRPr>
                    </a:p>
                  </a:txBody>
                  <a:tcPr marL="91356" marR="91356" marT="45679" marB="45679" anchor="ctr"/>
                </a:tc>
                <a:tc>
                  <a:txBody>
                    <a:bodyPr/>
                    <a:lstStyle/>
                    <a:p>
                      <a:pPr algn="ctr"/>
                      <a:r>
                        <a:rPr lang="zh-CN" altLang="en-US" sz="1800" dirty="0">
                          <a:latin typeface="楷体" panose="02010609060101010101" pitchFamily="49" charset="-122"/>
                          <a:ea typeface="楷体" panose="02010609060101010101" pitchFamily="49" charset="-122"/>
                        </a:rPr>
                        <a:t>预期价格水平下降</a:t>
                      </a:r>
                    </a:p>
                  </a:txBody>
                  <a:tcPr marL="91356" marR="91356" marT="45679" marB="45679" anchor="ctr"/>
                </a:tc>
                <a:tc>
                  <a:txBody>
                    <a:bodyPr/>
                    <a:lstStyle/>
                    <a:p>
                      <a:pPr algn="ctr"/>
                      <a:endParaRPr lang="zh-CN" altLang="en-US" sz="1800" dirty="0">
                        <a:latin typeface="楷体" panose="02010609060101010101" pitchFamily="49" charset="-122"/>
                        <a:ea typeface="楷体" panose="02010609060101010101" pitchFamily="49" charset="-122"/>
                      </a:endParaRPr>
                    </a:p>
                  </a:txBody>
                  <a:tcPr marL="91356" marR="91356" marT="45679" marB="45679" anchor="ctr"/>
                </a:tc>
                <a:extLst>
                  <a:ext uri="{0D108BD9-81ED-4DB2-BD59-A6C34878D82A}">
                    <a16:rowId xmlns:a16="http://schemas.microsoft.com/office/drawing/2014/main" val="2463434496"/>
                  </a:ext>
                </a:extLst>
              </a:tr>
              <a:tr h="455092">
                <a:tc>
                  <a:txBody>
                    <a:bodyPr/>
                    <a:lstStyle/>
                    <a:p>
                      <a:pPr algn="ctr"/>
                      <a:r>
                        <a:rPr lang="en-US" altLang="zh-CN" sz="1800" dirty="0">
                          <a:latin typeface="楷体" panose="02010609060101010101" pitchFamily="49" charset="-122"/>
                          <a:ea typeface="楷体" panose="02010609060101010101" pitchFamily="49" charset="-122"/>
                        </a:rPr>
                        <a:t>6</a:t>
                      </a:r>
                      <a:endParaRPr lang="zh-CN" altLang="en-US" sz="1800" dirty="0">
                        <a:latin typeface="楷体" panose="02010609060101010101" pitchFamily="49" charset="-122"/>
                        <a:ea typeface="楷体" panose="02010609060101010101" pitchFamily="49" charset="-122"/>
                      </a:endParaRPr>
                    </a:p>
                  </a:txBody>
                  <a:tcPr marL="91356" marR="91356" marT="45679" marB="45679" anchor="ctr"/>
                </a:tc>
                <a:tc>
                  <a:txBody>
                    <a:bodyPr/>
                    <a:lstStyle/>
                    <a:p>
                      <a:pPr algn="ctr"/>
                      <a:r>
                        <a:rPr lang="zh-CN" altLang="en-US" sz="1800" dirty="0">
                          <a:latin typeface="楷体" panose="02010609060101010101" pitchFamily="49" charset="-122"/>
                          <a:ea typeface="楷体" panose="02010609060101010101" pitchFamily="49" charset="-122"/>
                        </a:rPr>
                        <a:t>投入品价格下降</a:t>
                      </a:r>
                    </a:p>
                  </a:txBody>
                  <a:tcPr marL="91356" marR="91356" marT="45679" marB="45679" anchor="ctr"/>
                </a:tc>
                <a:tc>
                  <a:txBody>
                    <a:bodyPr/>
                    <a:lstStyle/>
                    <a:p>
                      <a:pPr algn="ctr"/>
                      <a:endParaRPr lang="zh-CN" altLang="en-US" sz="1800" dirty="0">
                        <a:latin typeface="楷体" panose="02010609060101010101" pitchFamily="49" charset="-122"/>
                        <a:ea typeface="楷体" panose="02010609060101010101" pitchFamily="49" charset="-122"/>
                      </a:endParaRPr>
                    </a:p>
                  </a:txBody>
                  <a:tcPr marL="91356" marR="91356" marT="45679" marB="45679" anchor="ctr"/>
                </a:tc>
                <a:extLst>
                  <a:ext uri="{0D108BD9-81ED-4DB2-BD59-A6C34878D82A}">
                    <a16:rowId xmlns:a16="http://schemas.microsoft.com/office/drawing/2014/main" val="2187538484"/>
                  </a:ext>
                </a:extLst>
              </a:tr>
              <a:tr h="455092">
                <a:tc>
                  <a:txBody>
                    <a:bodyPr/>
                    <a:lstStyle/>
                    <a:p>
                      <a:pPr algn="ctr"/>
                      <a:r>
                        <a:rPr lang="en-US" altLang="zh-CN" sz="1800" dirty="0">
                          <a:latin typeface="楷体" panose="02010609060101010101" pitchFamily="49" charset="-122"/>
                          <a:ea typeface="楷体" panose="02010609060101010101" pitchFamily="49" charset="-122"/>
                        </a:rPr>
                        <a:t>7</a:t>
                      </a:r>
                      <a:endParaRPr lang="zh-CN" altLang="en-US" sz="1800" dirty="0">
                        <a:latin typeface="楷体" panose="02010609060101010101" pitchFamily="49" charset="-122"/>
                        <a:ea typeface="楷体" panose="02010609060101010101" pitchFamily="49" charset="-122"/>
                      </a:endParaRPr>
                    </a:p>
                  </a:txBody>
                  <a:tcPr marL="91356" marR="91356" marT="45679" marB="45679" anchor="ctr"/>
                </a:tc>
                <a:tc>
                  <a:txBody>
                    <a:bodyPr/>
                    <a:lstStyle/>
                    <a:p>
                      <a:pPr algn="ctr"/>
                      <a:r>
                        <a:rPr lang="zh-CN" altLang="en-US" sz="1800" dirty="0">
                          <a:latin typeface="楷体" panose="02010609060101010101" pitchFamily="49" charset="-122"/>
                          <a:ea typeface="楷体" panose="02010609060101010101" pitchFamily="49" charset="-122"/>
                        </a:rPr>
                        <a:t>名义工资下降</a:t>
                      </a:r>
                    </a:p>
                  </a:txBody>
                  <a:tcPr marL="91356" marR="91356" marT="45679" marB="45679" anchor="ctr"/>
                </a:tc>
                <a:tc>
                  <a:txBody>
                    <a:bodyPr/>
                    <a:lstStyle/>
                    <a:p>
                      <a:pPr algn="ctr"/>
                      <a:endParaRPr lang="zh-CN" altLang="en-US" sz="1800" dirty="0">
                        <a:latin typeface="楷体" panose="02010609060101010101" pitchFamily="49" charset="-122"/>
                        <a:ea typeface="楷体" panose="02010609060101010101" pitchFamily="49" charset="-122"/>
                      </a:endParaRPr>
                    </a:p>
                  </a:txBody>
                  <a:tcPr marL="91356" marR="91356" marT="45679" marB="45679" anchor="ctr"/>
                </a:tc>
                <a:extLst>
                  <a:ext uri="{0D108BD9-81ED-4DB2-BD59-A6C34878D82A}">
                    <a16:rowId xmlns:a16="http://schemas.microsoft.com/office/drawing/2014/main" val="1301168802"/>
                  </a:ext>
                </a:extLst>
              </a:tr>
            </a:tbl>
          </a:graphicData>
        </a:graphic>
      </p:graphicFrame>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44</a:t>
            </a:fld>
            <a:endParaRPr lang="zh-CN" altLang="en-US"/>
          </a:p>
        </p:txBody>
      </p:sp>
      <p:sp>
        <p:nvSpPr>
          <p:cNvPr id="8" name="文本框 7"/>
          <p:cNvSpPr txBox="1"/>
          <p:nvPr/>
        </p:nvSpPr>
        <p:spPr>
          <a:xfrm>
            <a:off x="2162548" y="1349419"/>
            <a:ext cx="7928906" cy="427809"/>
          </a:xfrm>
          <a:prstGeom prst="rect">
            <a:avLst/>
          </a:prstGeom>
        </p:spPr>
        <p:txBody>
          <a:bodyPr wrap="square">
            <a:spAutoFit/>
          </a:bodyPr>
          <a:lstStyle>
            <a:defPPr>
              <a:defRPr lang="en-US"/>
            </a:defPPr>
            <a:lvl1pPr algn="ctr">
              <a:spcBef>
                <a:spcPct val="50000"/>
              </a:spcBef>
              <a:defRPr>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defRPr>
            </a:lvl1pPr>
          </a:lstStyle>
          <a:p>
            <a:r>
              <a:rPr lang="zh-CN" altLang="en-US" sz="2180" dirty="0">
                <a:solidFill>
                  <a:schemeClr val="tx1"/>
                </a:solidFill>
                <a:latin typeface="KaiTi" panose="02010609060101010101" pitchFamily="49" charset="-122"/>
                <a:ea typeface="KaiTi" panose="02010609060101010101" pitchFamily="49" charset="-122"/>
              </a:rPr>
              <a:t>导致总供给曲线移动的因素</a:t>
            </a:r>
          </a:p>
        </p:txBody>
      </p:sp>
      <p:sp>
        <p:nvSpPr>
          <p:cNvPr id="3" name="Rectangle 6">
            <a:extLst>
              <a:ext uri="{FF2B5EF4-FFF2-40B4-BE49-F238E27FC236}">
                <a16:creationId xmlns:a16="http://schemas.microsoft.com/office/drawing/2014/main" id="{3757BD4B-15B6-AEAD-7CF2-EFC4F24994AE}"/>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44</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9" name="日期占位符 3">
            <a:extLst>
              <a:ext uri="{FF2B5EF4-FFF2-40B4-BE49-F238E27FC236}">
                <a16:creationId xmlns:a16="http://schemas.microsoft.com/office/drawing/2014/main" id="{30C3ED82-FFD6-3DFD-DF7F-344883928096}"/>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
        <p:nvSpPr>
          <p:cNvPr id="10" name="标题 9">
            <a:extLst>
              <a:ext uri="{FF2B5EF4-FFF2-40B4-BE49-F238E27FC236}">
                <a16:creationId xmlns:a16="http://schemas.microsoft.com/office/drawing/2014/main" id="{80B26A10-5E67-7343-1CA0-742082CE4998}"/>
              </a:ext>
            </a:extLst>
          </p:cNvPr>
          <p:cNvSpPr>
            <a:spLocks noGrp="1"/>
          </p:cNvSpPr>
          <p:nvPr>
            <p:ph type="title"/>
          </p:nvPr>
        </p:nvSpPr>
        <p:spPr/>
        <p:txBody>
          <a:bodyPr/>
          <a:lstStyle/>
          <a:p>
            <a:r>
              <a:rPr kumimoji="1" lang="zh-CN" altLang="en-US" dirty="0"/>
              <a:t>总供给曲线的移动</a:t>
            </a:r>
          </a:p>
        </p:txBody>
      </p:sp>
      <p:graphicFrame>
        <p:nvGraphicFramePr>
          <p:cNvPr id="11" name="表格 10">
            <a:extLst>
              <a:ext uri="{FF2B5EF4-FFF2-40B4-BE49-F238E27FC236}">
                <a16:creationId xmlns:a16="http://schemas.microsoft.com/office/drawing/2014/main" id="{41B6FED5-4D7A-8EF3-4C65-EB4DFD5AC9A5}"/>
              </a:ext>
            </a:extLst>
          </p:cNvPr>
          <p:cNvGraphicFramePr>
            <a:graphicFrameLocks noGrp="1"/>
          </p:cNvGraphicFramePr>
          <p:nvPr/>
        </p:nvGraphicFramePr>
        <p:xfrm>
          <a:off x="8379117" y="2322931"/>
          <a:ext cx="1200003" cy="3185644"/>
        </p:xfrm>
        <a:graphic>
          <a:graphicData uri="http://schemas.openxmlformats.org/drawingml/2006/table">
            <a:tbl>
              <a:tblPr firstRow="1" bandRow="1">
                <a:tableStyleId>{5940675A-B579-460E-94D1-54222C63F5DA}</a:tableStyleId>
              </a:tblPr>
              <a:tblGrid>
                <a:gridCol w="1200003">
                  <a:extLst>
                    <a:ext uri="{9D8B030D-6E8A-4147-A177-3AD203B41FA5}">
                      <a16:colId xmlns:a16="http://schemas.microsoft.com/office/drawing/2014/main" val="1356095696"/>
                    </a:ext>
                  </a:extLst>
                </a:gridCol>
              </a:tblGrid>
              <a:tr h="455092">
                <a:tc>
                  <a:txBody>
                    <a:bodyPr/>
                    <a:lstStyle/>
                    <a:p>
                      <a:pPr algn="ctr"/>
                      <a:r>
                        <a:rPr lang="zh-CN" altLang="en-US" sz="1800" dirty="0">
                          <a:latin typeface="楷体" panose="02010609060101010101" pitchFamily="49" charset="-122"/>
                          <a:ea typeface="楷体" panose="02010609060101010101" pitchFamily="49" charset="-122"/>
                        </a:rPr>
                        <a:t>右移</a:t>
                      </a:r>
                    </a:p>
                  </a:txBody>
                  <a:tcPr marL="91356" marR="91356" marT="45679" marB="45679"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32916859"/>
                  </a:ext>
                </a:extLst>
              </a:tr>
              <a:tr h="455092">
                <a:tc>
                  <a:txBody>
                    <a:bodyPr/>
                    <a:lstStyle/>
                    <a:p>
                      <a:pPr algn="ctr"/>
                      <a:r>
                        <a:rPr lang="zh-CN" altLang="en-US" sz="1800" dirty="0">
                          <a:latin typeface="楷体" panose="02010609060101010101" pitchFamily="49" charset="-122"/>
                          <a:ea typeface="楷体" panose="02010609060101010101" pitchFamily="49" charset="-122"/>
                        </a:rPr>
                        <a:t>右移</a:t>
                      </a:r>
                    </a:p>
                  </a:txBody>
                  <a:tcPr marL="91356" marR="91356" marT="45679" marB="45679"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7981347"/>
                  </a:ext>
                </a:extLst>
              </a:tr>
              <a:tr h="455092">
                <a:tc>
                  <a:txBody>
                    <a:bodyPr/>
                    <a:lstStyle/>
                    <a:p>
                      <a:pPr algn="ctr"/>
                      <a:r>
                        <a:rPr lang="zh-CN" altLang="en-US" sz="1800" dirty="0">
                          <a:latin typeface="楷体" panose="02010609060101010101" pitchFamily="49" charset="-122"/>
                          <a:ea typeface="楷体" panose="02010609060101010101" pitchFamily="49" charset="-122"/>
                        </a:rPr>
                        <a:t>右移</a:t>
                      </a:r>
                    </a:p>
                  </a:txBody>
                  <a:tcPr marL="91356" marR="91356" marT="45679" marB="45679"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95526913"/>
                  </a:ext>
                </a:extLst>
              </a:tr>
              <a:tr h="455092">
                <a:tc>
                  <a:txBody>
                    <a:bodyPr/>
                    <a:lstStyle/>
                    <a:p>
                      <a:pPr algn="ctr"/>
                      <a:r>
                        <a:rPr lang="zh-CN" altLang="en-US" sz="1800" dirty="0">
                          <a:latin typeface="楷体" panose="02010609060101010101" pitchFamily="49" charset="-122"/>
                          <a:ea typeface="楷体" panose="02010609060101010101" pitchFamily="49" charset="-122"/>
                        </a:rPr>
                        <a:t>右移</a:t>
                      </a:r>
                    </a:p>
                  </a:txBody>
                  <a:tcPr marL="91356" marR="91356" marT="45679" marB="45679"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5793644"/>
                  </a:ext>
                </a:extLst>
              </a:tr>
              <a:tr h="455092">
                <a:tc>
                  <a:txBody>
                    <a:bodyPr/>
                    <a:lstStyle/>
                    <a:p>
                      <a:pPr algn="ctr"/>
                      <a:r>
                        <a:rPr lang="zh-CN" altLang="en-US" sz="1800" dirty="0">
                          <a:latin typeface="楷体" panose="02010609060101010101" pitchFamily="49" charset="-122"/>
                          <a:ea typeface="楷体" panose="02010609060101010101" pitchFamily="49" charset="-122"/>
                        </a:rPr>
                        <a:t>右移</a:t>
                      </a:r>
                    </a:p>
                  </a:txBody>
                  <a:tcPr marL="91356" marR="91356" marT="45679" marB="45679"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8657860"/>
                  </a:ext>
                </a:extLst>
              </a:tr>
              <a:tr h="455092">
                <a:tc>
                  <a:txBody>
                    <a:bodyPr/>
                    <a:lstStyle/>
                    <a:p>
                      <a:pPr algn="ctr"/>
                      <a:r>
                        <a:rPr lang="zh-CN" altLang="en-US" sz="1800" dirty="0">
                          <a:latin typeface="楷体" panose="02010609060101010101" pitchFamily="49" charset="-122"/>
                          <a:ea typeface="楷体" panose="02010609060101010101" pitchFamily="49" charset="-122"/>
                        </a:rPr>
                        <a:t>右移</a:t>
                      </a:r>
                    </a:p>
                  </a:txBody>
                  <a:tcPr marL="91356" marR="91356" marT="45679" marB="45679"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0691814"/>
                  </a:ext>
                </a:extLst>
              </a:tr>
              <a:tr h="455092">
                <a:tc>
                  <a:txBody>
                    <a:bodyPr/>
                    <a:lstStyle/>
                    <a:p>
                      <a:pPr algn="ctr"/>
                      <a:r>
                        <a:rPr lang="zh-CN" altLang="en-US" sz="1800" dirty="0">
                          <a:latin typeface="楷体" panose="02010609060101010101" pitchFamily="49" charset="-122"/>
                          <a:ea typeface="楷体" panose="02010609060101010101" pitchFamily="49" charset="-122"/>
                        </a:rPr>
                        <a:t>右移</a:t>
                      </a:r>
                    </a:p>
                  </a:txBody>
                  <a:tcPr marL="91356" marR="91356" marT="45679" marB="45679"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35610159"/>
                  </a:ext>
                </a:extLst>
              </a:tr>
            </a:tbl>
          </a:graphicData>
        </a:graphic>
      </p:graphicFrame>
    </p:spTree>
    <p:extLst>
      <p:ext uri="{BB962C8B-B14F-4D97-AF65-F5344CB8AC3E}">
        <p14:creationId xmlns:p14="http://schemas.microsoft.com/office/powerpoint/2010/main" val="249927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28A33F92-8252-1340-83A9-7AF76B4374AA}"/>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C785A4A8-548B-6BFD-992E-8E1A76B7C46C}"/>
              </a:ext>
            </a:extLst>
          </p:cNvPr>
          <p:cNvSpPr>
            <a:spLocks noGrp="1"/>
          </p:cNvSpPr>
          <p:nvPr>
            <p:ph type="sldNum" sz="quarter" idx="11"/>
          </p:nvPr>
        </p:nvSpPr>
        <p:spPr/>
        <p:txBody>
          <a:bodyPr/>
          <a:lstStyle/>
          <a:p>
            <a:fld id="{27CCF546-5FB0-9D42-9D39-DAE7F543A941}" type="slidenum">
              <a:rPr lang="zh-CN" altLang="zh-CN"/>
              <a:pPr/>
              <a:t>45</a:t>
            </a:fld>
            <a:endParaRPr lang="zh-CN" altLang="zh-CN"/>
          </a:p>
        </p:txBody>
      </p:sp>
      <p:sp>
        <p:nvSpPr>
          <p:cNvPr id="94210" name="Rectangle 2">
            <a:extLst>
              <a:ext uri="{FF2B5EF4-FFF2-40B4-BE49-F238E27FC236}">
                <a16:creationId xmlns:a16="http://schemas.microsoft.com/office/drawing/2014/main" id="{6F665BC6-F645-1E3D-399A-11528E6B0A8F}"/>
              </a:ext>
            </a:extLst>
          </p:cNvPr>
          <p:cNvSpPr>
            <a:spLocks noGrp="1" noChangeArrowheads="1"/>
          </p:cNvSpPr>
          <p:nvPr>
            <p:ph type="title" idx="4294967295"/>
          </p:nvPr>
        </p:nvSpPr>
        <p:spPr>
          <a:xfrm>
            <a:off x="1984975" y="244224"/>
            <a:ext cx="8222050" cy="643934"/>
          </a:xfrm>
        </p:spPr>
        <p:txBody>
          <a:bodyPr/>
          <a:lstStyle/>
          <a:p>
            <a:r>
              <a:rPr lang="zh-CN" altLang="en-US" sz="3597" dirty="0">
                <a:ea typeface="宋体" panose="02010600030101010101" pitchFamily="2" charset="-122"/>
              </a:rPr>
              <a:t>约翰</a:t>
            </a:r>
            <a:r>
              <a:rPr lang="en-US" altLang="zh-CN" sz="3597" dirty="0">
                <a:ea typeface="宋体" panose="02010600030101010101" pitchFamily="2" charset="-122"/>
              </a:rPr>
              <a:t>.</a:t>
            </a:r>
            <a:r>
              <a:rPr lang="zh-CN" altLang="en-US" sz="3597" dirty="0">
                <a:ea typeface="宋体" panose="02010600030101010101" pitchFamily="2" charset="-122"/>
              </a:rPr>
              <a:t>梅纳德</a:t>
            </a:r>
            <a:r>
              <a:rPr lang="en-US" altLang="zh-CN" sz="3597" dirty="0">
                <a:ea typeface="宋体" panose="02010600030101010101" pitchFamily="2" charset="-122"/>
              </a:rPr>
              <a:t>.</a:t>
            </a:r>
            <a:r>
              <a:rPr lang="zh-CN" altLang="en-US" sz="3597" dirty="0">
                <a:ea typeface="宋体" panose="02010600030101010101" pitchFamily="2" charset="-122"/>
              </a:rPr>
              <a:t>凯恩斯 </a:t>
            </a:r>
            <a:r>
              <a:rPr lang="en-US" altLang="zh-CN" sz="3597" dirty="0">
                <a:ea typeface="宋体" panose="02010600030101010101" pitchFamily="2" charset="-122"/>
              </a:rPr>
              <a:t>1883-1946</a:t>
            </a:r>
          </a:p>
        </p:txBody>
      </p:sp>
      <p:sp>
        <p:nvSpPr>
          <p:cNvPr id="94211" name="Rectangle 3">
            <a:extLst>
              <a:ext uri="{FF2B5EF4-FFF2-40B4-BE49-F238E27FC236}">
                <a16:creationId xmlns:a16="http://schemas.microsoft.com/office/drawing/2014/main" id="{6D911799-1D07-A745-36E8-37F74E3B2C1C}"/>
              </a:ext>
            </a:extLst>
          </p:cNvPr>
          <p:cNvSpPr>
            <a:spLocks noGrp="1" noChangeArrowheads="1"/>
          </p:cNvSpPr>
          <p:nvPr>
            <p:ph type="body" idx="4294967295"/>
          </p:nvPr>
        </p:nvSpPr>
        <p:spPr>
          <a:xfrm>
            <a:off x="1929464" y="1048349"/>
            <a:ext cx="5885808" cy="2740683"/>
          </a:xfrm>
        </p:spPr>
        <p:txBody>
          <a:bodyPr/>
          <a:lstStyle/>
          <a:p>
            <a:pPr marL="287101" indent="-287101">
              <a:lnSpc>
                <a:spcPct val="85000"/>
              </a:lnSpc>
              <a:spcBef>
                <a:spcPct val="30000"/>
              </a:spcBef>
            </a:pPr>
            <a:r>
              <a:rPr lang="zh-CN" altLang="zh-CN" dirty="0">
                <a:ea typeface="宋体" panose="02010600030101010101" pitchFamily="2" charset="-122"/>
              </a:rPr>
              <a:t>《就业、利息与货币通论》 1936年</a:t>
            </a:r>
          </a:p>
          <a:p>
            <a:pPr marL="287101" indent="-287101">
              <a:lnSpc>
                <a:spcPct val="85000"/>
              </a:lnSpc>
              <a:spcBef>
                <a:spcPct val="30000"/>
              </a:spcBef>
            </a:pPr>
            <a:r>
              <a:rPr lang="zh-CN" altLang="zh-CN" dirty="0">
                <a:ea typeface="宋体" panose="02010600030101010101" pitchFamily="2" charset="-122"/>
              </a:rPr>
              <a:t>衰退和萧条之所以发生，是因为对物品与劳务的总需求不足；政策制定者应该移动总需求</a:t>
            </a:r>
          </a:p>
          <a:p>
            <a:pPr marL="287101" indent="-287101">
              <a:lnSpc>
                <a:spcPct val="85000"/>
              </a:lnSpc>
              <a:spcBef>
                <a:spcPct val="30000"/>
              </a:spcBef>
            </a:pPr>
            <a:r>
              <a:rPr lang="zh-CN" altLang="zh-CN" dirty="0">
                <a:ea typeface="宋体" panose="02010600030101010101" pitchFamily="2" charset="-122"/>
              </a:rPr>
              <a:t>对古典经济学理论的著名批评：</a:t>
            </a:r>
          </a:p>
        </p:txBody>
      </p:sp>
      <p:pic>
        <p:nvPicPr>
          <p:cNvPr id="94212" name="Picture 4" descr="keynes100 (from textbook - no permission yet)">
            <a:extLst>
              <a:ext uri="{FF2B5EF4-FFF2-40B4-BE49-F238E27FC236}">
                <a16:creationId xmlns:a16="http://schemas.microsoft.com/office/drawing/2014/main" id="{16126818-9673-3FFE-4126-1EEAD6F19B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5464" y="1078484"/>
            <a:ext cx="2210944" cy="302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Text Box 8">
            <a:extLst>
              <a:ext uri="{FF2B5EF4-FFF2-40B4-BE49-F238E27FC236}">
                <a16:creationId xmlns:a16="http://schemas.microsoft.com/office/drawing/2014/main" id="{E959C080-173C-C635-58C9-3317975D45D3}"/>
              </a:ext>
            </a:extLst>
          </p:cNvPr>
          <p:cNvSpPr txBox="1">
            <a:spLocks noChangeArrowheads="1"/>
          </p:cNvSpPr>
          <p:nvPr/>
        </p:nvSpPr>
        <p:spPr bwMode="auto">
          <a:xfrm>
            <a:off x="1994491" y="4136376"/>
            <a:ext cx="8117371" cy="2639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10000"/>
              </a:lnSpc>
              <a:spcBef>
                <a:spcPct val="50000"/>
              </a:spcBef>
            </a:pPr>
            <a:r>
              <a:rPr lang="zh-CN" altLang="zh-CN" sz="2798">
                <a:solidFill>
                  <a:srgbClr val="0000FF"/>
                </a:solidFill>
                <a:ea typeface="宋体" panose="02010600030101010101" pitchFamily="2" charset="-122"/>
              </a:rPr>
              <a:t>长期是对当前事情的一个误导。在长期中我们都会死。如果在暴风雨季节，经济学家只能告诉我们，暴风雨在长期中会过去，海洋必将平静，那么他们给自己的任务就太容易且无用了</a:t>
            </a:r>
          </a:p>
          <a:p>
            <a:pPr>
              <a:lnSpc>
                <a:spcPct val="110000"/>
              </a:lnSpc>
              <a:spcBef>
                <a:spcPct val="50000"/>
              </a:spcBef>
            </a:pPr>
            <a:endParaRPr lang="zh-CN" altLang="zh-CN" sz="2798">
              <a:solidFill>
                <a:srgbClr val="0000FF"/>
              </a:solidFill>
              <a:ea typeface="宋体" panose="02010600030101010101" pitchFamily="2" charset="-122"/>
            </a:endParaRPr>
          </a:p>
        </p:txBody>
      </p:sp>
      <p:sp>
        <p:nvSpPr>
          <p:cNvPr id="94214" name="Rectangle 9">
            <a:extLst>
              <a:ext uri="{FF2B5EF4-FFF2-40B4-BE49-F238E27FC236}">
                <a16:creationId xmlns:a16="http://schemas.microsoft.com/office/drawing/2014/main" id="{2D54B434-72A3-708F-E622-63FD8C3245AE}"/>
              </a:ext>
            </a:extLst>
          </p:cNvPr>
          <p:cNvSpPr>
            <a:spLocks noChangeArrowheads="1"/>
          </p:cNvSpPr>
          <p:nvPr/>
        </p:nvSpPr>
        <p:spPr bwMode="auto">
          <a:xfrm>
            <a:off x="7996081" y="1102277"/>
            <a:ext cx="2174466" cy="2981761"/>
          </a:xfrm>
          <a:prstGeom prst="rect">
            <a:avLst/>
          </a:prstGeom>
          <a:noFill/>
          <a:ln w="38100">
            <a:solidFill>
              <a:srgbClr val="008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1799">
              <a:ea typeface="宋体" panose="02010600030101010101" pitchFamily="2" charset="-122"/>
            </a:endParaRPr>
          </a:p>
        </p:txBody>
      </p:sp>
      <p:sp>
        <p:nvSpPr>
          <p:cNvPr id="94215" name="FlagCount" hidden="1">
            <a:hlinkClick r:id="rId4" action="ppaction://hlinkfile"/>
            <a:extLst>
              <a:ext uri="{FF2B5EF4-FFF2-40B4-BE49-F238E27FC236}">
                <a16:creationId xmlns:a16="http://schemas.microsoft.com/office/drawing/2014/main" id="{5D986190-15C8-BE3E-B7B5-060A946D2AE8}"/>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7638120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4213"/>
                                        </p:tgtEl>
                                        <p:attrNameLst>
                                          <p:attrName>style.visibility</p:attrName>
                                        </p:attrNameLst>
                                      </p:cBhvr>
                                      <p:to>
                                        <p:strVal val="visible"/>
                                      </p:to>
                                    </p:set>
                                    <p:animEffect transition="in" filter="dissolve">
                                      <p:cBhvr>
                                        <p:cTn id="7" dur="500"/>
                                        <p:tgtEl>
                                          <p:spTgt spid="94213"/>
                                        </p:tgtEl>
                                      </p:cBhvr>
                                    </p:animEffect>
                                  </p:childTnLst>
                                  <p:subTnLst>
                                    <p:animClr clrSpc="rgb" dir="cw">
                                      <p:cBhvr override="childStyle">
                                        <p:cTn dur="1" fill="hold" display="0" masterRel="nextClick" afterEffect="1"/>
                                        <p:tgtEl>
                                          <p:spTgt spid="94213"/>
                                        </p:tgtEl>
                                        <p:attrNameLst>
                                          <p:attrName>ppt_c</p:attrName>
                                        </p:attrNameLst>
                                      </p:cBhvr>
                                      <p:to>
                                        <a:srgbClr val="0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3"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1528195" y="3148"/>
            <a:ext cx="380651" cy="6851708"/>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913643" fontAlgn="base">
              <a:spcBef>
                <a:spcPct val="0"/>
              </a:spcBef>
              <a:spcAft>
                <a:spcPct val="0"/>
              </a:spcAft>
            </a:pPr>
            <a:endParaRPr lang="zh-CN" altLang="zh-CN" sz="1799">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121374" y="293394"/>
            <a:ext cx="8203018" cy="1048375"/>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913643" fontAlgn="base">
                <a:spcBef>
                  <a:spcPct val="0"/>
                </a:spcBef>
                <a:spcAft>
                  <a:spcPct val="0"/>
                </a:spcAft>
              </a:pPr>
              <a:endParaRPr lang="zh-CN" altLang="en-US" sz="1799">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913643" fontAlgn="base">
                <a:spcBef>
                  <a:spcPct val="0"/>
                </a:spcBef>
                <a:spcAft>
                  <a:spcPct val="0"/>
                </a:spcAft>
              </a:pPr>
              <a:endParaRPr lang="zh-CN" altLang="en-US" sz="1799">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46</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2130892" y="339388"/>
            <a:ext cx="8201433" cy="953212"/>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2798"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3196"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121374" y="1542828"/>
                <a:ext cx="8145293" cy="4311964"/>
              </a:xfrm>
              <a:ln>
                <a:noFill/>
              </a:ln>
            </p:spPr>
            <p:style>
              <a:lnRef idx="2">
                <a:schemeClr val="accent1"/>
              </a:lnRef>
              <a:fillRef idx="1">
                <a:schemeClr val="lt1"/>
              </a:fillRef>
              <a:effectRef idx="0">
                <a:schemeClr val="accent1"/>
              </a:effectRef>
              <a:fontRef idx="minor">
                <a:schemeClr val="dk1"/>
              </a:fontRef>
            </p:style>
            <p:txBody>
              <a:bodyPr/>
              <a:lstStyle/>
              <a:p>
                <a:r>
                  <a:rPr lang="zh-CN" altLang="en-US" sz="2774" dirty="0"/>
                  <a:t>假定某经济中存在以下关系：</a:t>
                </a:r>
                <a14:m>
                  <m:oMath xmlns:m="http://schemas.openxmlformats.org/officeDocument/2006/math">
                    <m:r>
                      <a:rPr lang="en-US" altLang="zh-CN" sz="2774" i="1">
                        <a:latin typeface="Cambria Math" panose="02040503050406030204" pitchFamily="18" charset="0"/>
                      </a:rPr>
                      <m:t>𝑐</m:t>
                    </m:r>
                    <m:r>
                      <a:rPr lang="en-US" altLang="zh-CN" sz="2774" i="1">
                        <a:latin typeface="Cambria Math" panose="02040503050406030204" pitchFamily="18" charset="0"/>
                      </a:rPr>
                      <m:t>=800+0.8</m:t>
                    </m:r>
                    <m:sSub>
                      <m:sSubPr>
                        <m:ctrlPr>
                          <a:rPr lang="en-US" altLang="zh-CN" sz="2774" i="1">
                            <a:latin typeface="Cambria Math" panose="02040503050406030204" pitchFamily="18" charset="0"/>
                          </a:rPr>
                        </m:ctrlPr>
                      </m:sSubPr>
                      <m:e>
                        <m:r>
                          <a:rPr lang="en-US" altLang="zh-CN" sz="2774" i="1">
                            <a:latin typeface="Cambria Math" panose="02040503050406030204" pitchFamily="18" charset="0"/>
                          </a:rPr>
                          <m:t>𝑦</m:t>
                        </m:r>
                      </m:e>
                      <m:sub>
                        <m:r>
                          <a:rPr lang="en-US" altLang="zh-CN" sz="2774" i="1">
                            <a:latin typeface="Cambria Math" panose="02040503050406030204" pitchFamily="18" charset="0"/>
                          </a:rPr>
                          <m:t>𝑑</m:t>
                        </m:r>
                      </m:sub>
                    </m:sSub>
                  </m:oMath>
                </a14:m>
                <a:r>
                  <a:rPr lang="zh-CN" altLang="en-US" sz="2774" dirty="0"/>
                  <a:t>，</a:t>
                </a:r>
                <a14:m>
                  <m:oMath xmlns:m="http://schemas.openxmlformats.org/officeDocument/2006/math">
                    <m:r>
                      <a:rPr lang="en-US" altLang="zh-CN" sz="2774" i="1" dirty="0">
                        <a:latin typeface="Cambria Math" panose="02040503050406030204" pitchFamily="18" charset="0"/>
                      </a:rPr>
                      <m:t>𝑇</m:t>
                    </m:r>
                    <m:r>
                      <a:rPr lang="en-US" altLang="zh-CN" sz="2774" i="1" dirty="0">
                        <a:latin typeface="Cambria Math" panose="02040503050406030204" pitchFamily="18" charset="0"/>
                      </a:rPr>
                      <m:t>=</m:t>
                    </m:r>
                    <m:r>
                      <a:rPr lang="en-US" altLang="zh-CN" sz="2774" i="1" dirty="0">
                        <a:latin typeface="Cambria Math" panose="02040503050406030204" pitchFamily="18" charset="0"/>
                      </a:rPr>
                      <m:t>𝑡𝑦</m:t>
                    </m:r>
                    <m:r>
                      <a:rPr lang="en-US" altLang="zh-CN" sz="2774" i="1" dirty="0">
                        <a:latin typeface="Cambria Math" panose="02040503050406030204" pitchFamily="18" charset="0"/>
                      </a:rPr>
                      <m:t>=0.25</m:t>
                    </m:r>
                    <m:r>
                      <a:rPr lang="en-US" altLang="zh-CN" sz="2774" i="1" dirty="0">
                        <a:latin typeface="Cambria Math" panose="02040503050406030204" pitchFamily="18" charset="0"/>
                      </a:rPr>
                      <m:t>𝑦</m:t>
                    </m:r>
                    <m:r>
                      <a:rPr lang="en-US" altLang="zh-CN" sz="2774" i="1" dirty="0">
                        <a:latin typeface="Cambria Math" panose="02040503050406030204" pitchFamily="18" charset="0"/>
                      </a:rPr>
                      <m:t>,</m:t>
                    </m:r>
                    <m:r>
                      <a:rPr lang="en-US" altLang="zh-CN" sz="2774" i="1" dirty="0">
                        <a:latin typeface="Cambria Math" panose="02040503050406030204" pitchFamily="18" charset="0"/>
                      </a:rPr>
                      <m:t>𝑖</m:t>
                    </m:r>
                    <m:r>
                      <a:rPr lang="en-US" altLang="zh-CN" sz="2774" i="1" dirty="0">
                        <a:latin typeface="Cambria Math" panose="02040503050406030204" pitchFamily="18" charset="0"/>
                      </a:rPr>
                      <m:t>=200−50</m:t>
                    </m:r>
                    <m:r>
                      <a:rPr lang="en-US" altLang="zh-CN" sz="2774" i="1" dirty="0">
                        <a:latin typeface="Cambria Math" panose="02040503050406030204" pitchFamily="18" charset="0"/>
                      </a:rPr>
                      <m:t>𝑟</m:t>
                    </m:r>
                    <m:r>
                      <a:rPr lang="en-US" altLang="zh-CN" sz="2774" i="1" dirty="0">
                        <a:latin typeface="Cambria Math" panose="02040503050406030204" pitchFamily="18" charset="0"/>
                      </a:rPr>
                      <m:t>,</m:t>
                    </m:r>
                    <m:r>
                      <a:rPr lang="en-US" altLang="zh-CN" sz="2774" i="1" dirty="0">
                        <a:latin typeface="Cambria Math" panose="02040503050406030204" pitchFamily="18" charset="0"/>
                      </a:rPr>
                      <m:t>𝑔</m:t>
                    </m:r>
                    <m:r>
                      <a:rPr lang="en-US" altLang="zh-CN" sz="2774" i="1" dirty="0">
                        <a:latin typeface="Cambria Math" panose="02040503050406030204" pitchFamily="18" charset="0"/>
                      </a:rPr>
                      <m:t>=200, </m:t>
                    </m:r>
                    <m:r>
                      <a:rPr lang="en-US" altLang="zh-CN" sz="2774" i="1" dirty="0">
                        <a:latin typeface="Cambria Math" panose="02040503050406030204" pitchFamily="18" charset="0"/>
                      </a:rPr>
                      <m:t>𝐿</m:t>
                    </m:r>
                    <m:r>
                      <a:rPr lang="en-US" altLang="zh-CN" sz="2774" i="1" dirty="0">
                        <a:latin typeface="Cambria Math" panose="02040503050406030204" pitchFamily="18" charset="0"/>
                      </a:rPr>
                      <m:t>=0.4</m:t>
                    </m:r>
                    <m:r>
                      <a:rPr lang="en-US" altLang="zh-CN" sz="2774" i="1" dirty="0">
                        <a:latin typeface="Cambria Math" panose="02040503050406030204" pitchFamily="18" charset="0"/>
                      </a:rPr>
                      <m:t>𝑦</m:t>
                    </m:r>
                    <m:r>
                      <a:rPr lang="en-US" altLang="zh-CN" sz="2774" i="1" dirty="0">
                        <a:latin typeface="Cambria Math" panose="02040503050406030204" pitchFamily="18" charset="0"/>
                      </a:rPr>
                      <m:t>−100</m:t>
                    </m:r>
                    <m:r>
                      <a:rPr lang="en-US" altLang="zh-CN" sz="2774" i="1" dirty="0">
                        <a:latin typeface="Cambria Math" panose="02040503050406030204" pitchFamily="18" charset="0"/>
                      </a:rPr>
                      <m:t>𝑟</m:t>
                    </m:r>
                    <m:r>
                      <a:rPr lang="en-US" altLang="zh-CN" sz="2774" i="1" dirty="0">
                        <a:latin typeface="Cambria Math" panose="02040503050406030204" pitchFamily="18" charset="0"/>
                      </a:rPr>
                      <m:t>,</m:t>
                    </m:r>
                    <m:r>
                      <a:rPr lang="en-US" altLang="zh-CN" sz="2774" i="1" dirty="0">
                        <a:latin typeface="Cambria Math" panose="02040503050406030204" pitchFamily="18" charset="0"/>
                      </a:rPr>
                      <m:t>𝑀</m:t>
                    </m:r>
                    <m:r>
                      <a:rPr lang="en-US" altLang="zh-CN" sz="2774" i="1" dirty="0">
                        <a:latin typeface="Cambria Math" panose="02040503050406030204" pitchFamily="18" charset="0"/>
                      </a:rPr>
                      <m:t>=900.</m:t>
                    </m:r>
                  </m:oMath>
                </a14:m>
                <a:endParaRPr lang="en-US" altLang="zh-CN" sz="2774" dirty="0"/>
              </a:p>
              <a:p>
                <a:r>
                  <a:rPr lang="en-US" altLang="zh-CN" sz="2774" dirty="0"/>
                  <a:t>(1)</a:t>
                </a:r>
                <a:r>
                  <a:rPr lang="zh-CN" altLang="en-US" sz="2774" dirty="0"/>
                  <a:t>求总需求函数；</a:t>
                </a:r>
                <a:endParaRPr lang="en-US" altLang="zh-CN" sz="2774" dirty="0"/>
              </a:p>
              <a:p>
                <a:r>
                  <a:rPr lang="en-US" altLang="zh-CN" sz="2774" dirty="0"/>
                  <a:t>(2)</a:t>
                </a:r>
                <a:r>
                  <a:rPr lang="zh-CN" altLang="en-US" sz="2774" dirty="0"/>
                  <a:t>若总供给函数</a:t>
                </a:r>
                <a14:m>
                  <m:oMath xmlns:m="http://schemas.openxmlformats.org/officeDocument/2006/math">
                    <m:r>
                      <a:rPr lang="en-US" altLang="zh-CN" sz="2774" i="1">
                        <a:latin typeface="Cambria Math" panose="02040503050406030204" pitchFamily="18" charset="0"/>
                      </a:rPr>
                      <m:t>𝑦</m:t>
                    </m:r>
                    <m:r>
                      <a:rPr lang="en-US" altLang="zh-CN" sz="2774" i="1">
                        <a:latin typeface="Cambria Math" panose="02040503050406030204" pitchFamily="18" charset="0"/>
                      </a:rPr>
                      <m:t>=2350+400</m:t>
                    </m:r>
                    <m:r>
                      <a:rPr lang="en-US" altLang="zh-CN" sz="2774" i="1">
                        <a:latin typeface="Cambria Math" panose="02040503050406030204" pitchFamily="18" charset="0"/>
                      </a:rPr>
                      <m:t>𝑃</m:t>
                    </m:r>
                  </m:oMath>
                </a14:m>
                <a:r>
                  <a:rPr lang="zh-CN" altLang="en-US" sz="2774" dirty="0"/>
                  <a:t>，供求均衡时的收入和价格为多少；</a:t>
                </a:r>
                <a:endParaRPr lang="en-US" altLang="zh-CN" sz="2774" dirty="0"/>
              </a:p>
              <a:p>
                <a:r>
                  <a:rPr lang="en-US" altLang="zh-CN" sz="2774" dirty="0"/>
                  <a:t>(3)</a:t>
                </a:r>
                <a:r>
                  <a:rPr lang="zh-CN" altLang="en-US" sz="2774" dirty="0"/>
                  <a:t>若充分就业收入为</a:t>
                </a:r>
                <a:r>
                  <a:rPr lang="en-US" altLang="zh-CN" sz="2774" dirty="0"/>
                  <a:t>2850</a:t>
                </a:r>
                <a:r>
                  <a:rPr lang="zh-CN" altLang="en-US" sz="2774" dirty="0"/>
                  <a:t>，如用货币政策实现充分就业，货币供给量要求变动多少？</a:t>
                </a:r>
              </a:p>
            </p:txBody>
          </p:sp>
        </mc:Choice>
        <mc:Fallback>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121374" y="1542828"/>
                <a:ext cx="8145293" cy="4311964"/>
              </a:xfrm>
              <a:blipFill>
                <a:blip r:embed="rId2"/>
                <a:stretch>
                  <a:fillRect l="-1796" t="-2687" b="-28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68737826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1528195" y="3148"/>
            <a:ext cx="380651" cy="6851708"/>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913643" fontAlgn="base">
              <a:spcBef>
                <a:spcPct val="0"/>
              </a:spcBef>
              <a:spcAft>
                <a:spcPct val="0"/>
              </a:spcAft>
            </a:pPr>
            <a:endParaRPr lang="zh-CN" altLang="zh-CN" sz="1799">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121374" y="293394"/>
            <a:ext cx="8203018" cy="1048375"/>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913643" fontAlgn="base">
                <a:spcBef>
                  <a:spcPct val="0"/>
                </a:spcBef>
                <a:spcAft>
                  <a:spcPct val="0"/>
                </a:spcAft>
              </a:pPr>
              <a:endParaRPr lang="zh-CN" altLang="en-US" sz="1799">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913643" fontAlgn="base">
                <a:spcBef>
                  <a:spcPct val="0"/>
                </a:spcBef>
                <a:spcAft>
                  <a:spcPct val="0"/>
                </a:spcAft>
              </a:pPr>
              <a:endParaRPr lang="zh-CN" altLang="en-US" sz="1799">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47</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2130892" y="339388"/>
            <a:ext cx="8201433" cy="953212"/>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2798"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3196"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121374" y="1542828"/>
                <a:ext cx="8145293" cy="4311964"/>
              </a:xfrm>
              <a:ln>
                <a:noFill/>
              </a:ln>
            </p:spPr>
            <p:style>
              <a:lnRef idx="2">
                <a:schemeClr val="accent1"/>
              </a:lnRef>
              <a:fillRef idx="1">
                <a:schemeClr val="lt1"/>
              </a:fillRef>
              <a:effectRef idx="0">
                <a:schemeClr val="accent1"/>
              </a:effectRef>
              <a:fontRef idx="minor">
                <a:schemeClr val="dk1"/>
              </a:fontRef>
            </p:style>
            <p:txBody>
              <a:bodyPr/>
              <a:lstStyle/>
              <a:p>
                <a:r>
                  <a:rPr lang="zh-CN" altLang="en-US" sz="2774" dirty="0"/>
                  <a:t>（</a:t>
                </a:r>
                <a:r>
                  <a:rPr lang="en-US" altLang="zh-CN" sz="2774" dirty="0"/>
                  <a:t>1</a:t>
                </a:r>
                <a:r>
                  <a:rPr lang="zh-CN" altLang="en-US" sz="2774" dirty="0"/>
                  <a:t>）根据产品市场的均衡条件</a:t>
                </a:r>
                <a14:m>
                  <m:oMath xmlns:m="http://schemas.openxmlformats.org/officeDocument/2006/math">
                    <m:r>
                      <a:rPr lang="en-US" altLang="zh-CN" sz="2774" i="1">
                        <a:latin typeface="Cambria Math" panose="02040503050406030204" pitchFamily="18" charset="0"/>
                      </a:rPr>
                      <m:t>𝑦</m:t>
                    </m:r>
                    <m:r>
                      <a:rPr lang="en-US" altLang="zh-CN" sz="2774" i="1">
                        <a:latin typeface="Cambria Math" panose="02040503050406030204" pitchFamily="18" charset="0"/>
                      </a:rPr>
                      <m:t>=</m:t>
                    </m:r>
                    <m:r>
                      <a:rPr lang="en-US" altLang="zh-CN" sz="2774" i="1">
                        <a:latin typeface="Cambria Math" panose="02040503050406030204" pitchFamily="18" charset="0"/>
                      </a:rPr>
                      <m:t>𝑐</m:t>
                    </m:r>
                    <m:r>
                      <a:rPr lang="en-US" altLang="zh-CN" sz="2774" i="1">
                        <a:latin typeface="Cambria Math" panose="02040503050406030204" pitchFamily="18" charset="0"/>
                      </a:rPr>
                      <m:t>+</m:t>
                    </m:r>
                    <m:r>
                      <a:rPr lang="en-US" altLang="zh-CN" sz="2774" i="1">
                        <a:latin typeface="Cambria Math" panose="02040503050406030204" pitchFamily="18" charset="0"/>
                      </a:rPr>
                      <m:t>𝑖</m:t>
                    </m:r>
                    <m:r>
                      <a:rPr lang="en-US" altLang="zh-CN" sz="2774" i="1">
                        <a:latin typeface="Cambria Math" panose="02040503050406030204" pitchFamily="18" charset="0"/>
                      </a:rPr>
                      <m:t>+</m:t>
                    </m:r>
                    <m:r>
                      <a:rPr lang="en-US" altLang="zh-CN" sz="2774" i="1">
                        <a:latin typeface="Cambria Math" panose="02040503050406030204" pitchFamily="18" charset="0"/>
                      </a:rPr>
                      <m:t>𝑔</m:t>
                    </m:r>
                  </m:oMath>
                </a14:m>
                <a:endParaRPr lang="en-US" altLang="zh-CN" sz="2774" i="1" dirty="0">
                  <a:latin typeface="Cambria Math" panose="02040503050406030204" pitchFamily="18" charset="0"/>
                </a:endParaRPr>
              </a:p>
              <a:p>
                <a14:m>
                  <m:oMath xmlns:m="http://schemas.openxmlformats.org/officeDocument/2006/math">
                    <m:r>
                      <m:rPr>
                        <m:nor/>
                      </m:rPr>
                      <a:rPr lang="en-US" altLang="zh-CN" sz="2774" dirty="0"/>
                      <m:t>y</m:t>
                    </m:r>
                    <m:r>
                      <a:rPr lang="en-US" altLang="zh-CN" sz="2774" i="1" dirty="0">
                        <a:latin typeface="Cambria Math" panose="02040503050406030204" pitchFamily="18" charset="0"/>
                      </a:rPr>
                      <m:t>=</m:t>
                    </m:r>
                    <m:r>
                      <a:rPr lang="en-US" altLang="zh-CN" sz="2774" i="1">
                        <a:latin typeface="Cambria Math" panose="02040503050406030204" pitchFamily="18" charset="0"/>
                      </a:rPr>
                      <m:t>800+0.8</m:t>
                    </m:r>
                    <m:d>
                      <m:dPr>
                        <m:ctrlPr>
                          <a:rPr lang="en-US" altLang="zh-CN" sz="2774" i="1">
                            <a:latin typeface="Cambria Math" panose="02040503050406030204" pitchFamily="18" charset="0"/>
                          </a:rPr>
                        </m:ctrlPr>
                      </m:dPr>
                      <m:e>
                        <m:r>
                          <a:rPr lang="en-US" altLang="zh-CN" sz="2774" i="1">
                            <a:latin typeface="Cambria Math" panose="02040503050406030204" pitchFamily="18" charset="0"/>
                          </a:rPr>
                          <m:t>𝑦</m:t>
                        </m:r>
                        <m:r>
                          <a:rPr lang="en-US" altLang="zh-CN" sz="2774" i="1">
                            <a:latin typeface="Cambria Math" panose="02040503050406030204" pitchFamily="18" charset="0"/>
                          </a:rPr>
                          <m:t>−0.25</m:t>
                        </m:r>
                        <m:r>
                          <a:rPr lang="en-US" altLang="zh-CN" sz="2774" i="1">
                            <a:latin typeface="Cambria Math" panose="02040503050406030204" pitchFamily="18" charset="0"/>
                          </a:rPr>
                          <m:t>𝑦</m:t>
                        </m:r>
                      </m:e>
                    </m:d>
                    <m:r>
                      <a:rPr lang="en-US" altLang="zh-CN" sz="2774" i="1">
                        <a:latin typeface="Cambria Math" panose="02040503050406030204" pitchFamily="18" charset="0"/>
                      </a:rPr>
                      <m:t>+</m:t>
                    </m:r>
                    <m:r>
                      <a:rPr lang="en-US" altLang="zh-CN" sz="2774" i="1" dirty="0">
                        <a:latin typeface="Cambria Math" panose="02040503050406030204" pitchFamily="18" charset="0"/>
                      </a:rPr>
                      <m:t>200−50</m:t>
                    </m:r>
                    <m:r>
                      <a:rPr lang="en-US" altLang="zh-CN" sz="2774" i="1" dirty="0">
                        <a:latin typeface="Cambria Math" panose="02040503050406030204" pitchFamily="18" charset="0"/>
                      </a:rPr>
                      <m:t>𝑟</m:t>
                    </m:r>
                    <m:r>
                      <a:rPr lang="en-US" altLang="zh-CN" sz="2774" i="1" dirty="0">
                        <a:latin typeface="Cambria Math" panose="02040503050406030204" pitchFamily="18" charset="0"/>
                      </a:rPr>
                      <m:t>+</m:t>
                    </m:r>
                    <m:r>
                      <a:rPr lang="en-US" altLang="zh-CN" sz="2774" i="1" dirty="0">
                        <a:latin typeface="Cambria Math" panose="02040503050406030204" pitchFamily="18" charset="0"/>
                      </a:rPr>
                      <m:t>200</m:t>
                    </m:r>
                  </m:oMath>
                </a14:m>
                <a:endParaRPr lang="en-US" altLang="zh-CN" sz="2774" dirty="0"/>
              </a:p>
              <a:p>
                <a:r>
                  <a:rPr lang="en-US" altLang="zh-CN" sz="2774" dirty="0"/>
                  <a:t>y=3000-125r</a:t>
                </a:r>
              </a:p>
              <a:p>
                <a:r>
                  <a:rPr lang="zh-CN" altLang="en-US" sz="2774" dirty="0"/>
                  <a:t>根据货币市场的均衡条件</a:t>
                </a:r>
                <a14:m>
                  <m:oMath xmlns:m="http://schemas.openxmlformats.org/officeDocument/2006/math">
                    <m:r>
                      <m:rPr>
                        <m:sty m:val="p"/>
                      </m:rPr>
                      <a:rPr lang="en-US" altLang="zh-CN" sz="2774" i="1" dirty="0">
                        <a:latin typeface="Cambria Math" panose="02040503050406030204" pitchFamily="18" charset="0"/>
                      </a:rPr>
                      <m:t>M</m:t>
                    </m:r>
                    <m:r>
                      <a:rPr lang="en-US" altLang="zh-CN" sz="2774" i="1" dirty="0">
                        <a:latin typeface="Cambria Math" panose="02040503050406030204" pitchFamily="18" charset="0"/>
                      </a:rPr>
                      <m:t>/</m:t>
                    </m:r>
                    <m:r>
                      <a:rPr lang="en-US" altLang="zh-CN" sz="2774" i="1" dirty="0">
                        <a:latin typeface="Cambria Math" panose="02040503050406030204" pitchFamily="18" charset="0"/>
                      </a:rPr>
                      <m:t>𝑃</m:t>
                    </m:r>
                    <m:r>
                      <a:rPr lang="en-US" altLang="zh-CN" sz="2774" i="1">
                        <a:latin typeface="Cambria Math" panose="02040503050406030204" pitchFamily="18" charset="0"/>
                      </a:rPr>
                      <m:t>=</m:t>
                    </m:r>
                    <m:r>
                      <a:rPr lang="en-US" altLang="zh-CN" sz="2774" i="1">
                        <a:latin typeface="Cambria Math" panose="02040503050406030204" pitchFamily="18" charset="0"/>
                      </a:rPr>
                      <m:t>𝐿</m:t>
                    </m:r>
                  </m:oMath>
                </a14:m>
                <a:endParaRPr lang="en-US" altLang="zh-CN" sz="2774" i="1" dirty="0">
                  <a:latin typeface="Cambria Math" panose="02040503050406030204" pitchFamily="18" charset="0"/>
                </a:endParaRPr>
              </a:p>
              <a:p>
                <a14:m>
                  <m:oMath xmlns:m="http://schemas.openxmlformats.org/officeDocument/2006/math">
                    <m:r>
                      <m:rPr>
                        <m:nor/>
                      </m:rPr>
                      <a:rPr lang="en-US" altLang="zh-CN" sz="2774" dirty="0"/>
                      <m:t>900/</m:t>
                    </m:r>
                    <m:r>
                      <a:rPr lang="en-US" altLang="zh-CN" sz="2774" i="1" dirty="0">
                        <a:latin typeface="Cambria Math" panose="02040503050406030204" pitchFamily="18" charset="0"/>
                      </a:rPr>
                      <m:t>𝑃</m:t>
                    </m:r>
                    <m:r>
                      <a:rPr lang="en-US" altLang="zh-CN" sz="2774" i="1" dirty="0">
                        <a:latin typeface="Cambria Math" panose="02040503050406030204" pitchFamily="18" charset="0"/>
                      </a:rPr>
                      <m:t>=0.4</m:t>
                    </m:r>
                    <m:r>
                      <a:rPr lang="en-US" altLang="zh-CN" sz="2774" i="1" dirty="0">
                        <a:latin typeface="Cambria Math" panose="02040503050406030204" pitchFamily="18" charset="0"/>
                      </a:rPr>
                      <m:t>𝑦</m:t>
                    </m:r>
                    <m:r>
                      <a:rPr lang="en-US" altLang="zh-CN" sz="2774" i="1" dirty="0">
                        <a:latin typeface="Cambria Math" panose="02040503050406030204" pitchFamily="18" charset="0"/>
                      </a:rPr>
                      <m:t>−100</m:t>
                    </m:r>
                    <m:r>
                      <a:rPr lang="en-US" altLang="zh-CN" sz="2774" i="1" dirty="0">
                        <a:latin typeface="Cambria Math" panose="02040503050406030204" pitchFamily="18" charset="0"/>
                      </a:rPr>
                      <m:t>𝑟</m:t>
                    </m:r>
                  </m:oMath>
                </a14:m>
                <a:endParaRPr lang="en-US" altLang="zh-CN" sz="2774" dirty="0"/>
              </a:p>
              <a:p>
                <a:r>
                  <a:rPr lang="zh-CN" altLang="en-US" sz="2774" dirty="0"/>
                  <a:t>得到总需求函数为：</a:t>
                </a:r>
                <a:endParaRPr lang="en-US" altLang="zh-CN" sz="2774" dirty="0"/>
              </a:p>
              <a:p>
                <a:r>
                  <a:rPr lang="en-US" altLang="zh-CN" sz="2774" dirty="0"/>
                  <a:t>y=2000+750/P</a:t>
                </a:r>
                <a:endParaRPr lang="zh-CN" altLang="en-US" sz="2774" dirty="0"/>
              </a:p>
            </p:txBody>
          </p:sp>
        </mc:Choice>
        <mc:Fallback>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121374" y="1542828"/>
                <a:ext cx="8145293" cy="4311964"/>
              </a:xfrm>
              <a:blipFill>
                <a:blip r:embed="rId2"/>
                <a:stretch>
                  <a:fillRect l="-1796" t="-2687" b="-480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66644920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1528195" y="3148"/>
            <a:ext cx="380651" cy="6851708"/>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913643" fontAlgn="base">
              <a:spcBef>
                <a:spcPct val="0"/>
              </a:spcBef>
              <a:spcAft>
                <a:spcPct val="0"/>
              </a:spcAft>
            </a:pPr>
            <a:endParaRPr lang="zh-CN" altLang="zh-CN" sz="1799">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121374" y="293394"/>
            <a:ext cx="8203018" cy="1048375"/>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913643" fontAlgn="base">
                <a:spcBef>
                  <a:spcPct val="0"/>
                </a:spcBef>
                <a:spcAft>
                  <a:spcPct val="0"/>
                </a:spcAft>
              </a:pPr>
              <a:endParaRPr lang="zh-CN" altLang="en-US" sz="1799">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913643" fontAlgn="base">
                <a:spcBef>
                  <a:spcPct val="0"/>
                </a:spcBef>
                <a:spcAft>
                  <a:spcPct val="0"/>
                </a:spcAft>
              </a:pPr>
              <a:endParaRPr lang="zh-CN" altLang="en-US" sz="1799">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48</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2130892" y="339388"/>
            <a:ext cx="8201433" cy="953212"/>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2798"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2398"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3196"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3196"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121374" y="1542826"/>
                <a:ext cx="8145293" cy="4879040"/>
              </a:xfrm>
              <a:ln>
                <a:noFill/>
              </a:ln>
            </p:spPr>
            <p:style>
              <a:lnRef idx="2">
                <a:schemeClr val="accent1"/>
              </a:lnRef>
              <a:fillRef idx="1">
                <a:schemeClr val="lt1"/>
              </a:fillRef>
              <a:effectRef idx="0">
                <a:schemeClr val="accent1"/>
              </a:effectRef>
              <a:fontRef idx="minor">
                <a:schemeClr val="dk1"/>
              </a:fontRef>
            </p:style>
            <p:txBody>
              <a:bodyPr/>
              <a:lstStyle/>
              <a:p>
                <a:r>
                  <a:rPr lang="zh-CN" altLang="en-US" sz="2378" dirty="0"/>
                  <a:t>（</a:t>
                </a:r>
                <a:r>
                  <a:rPr lang="en-US" altLang="zh-CN" sz="2378" dirty="0"/>
                  <a:t>2</a:t>
                </a:r>
                <a:r>
                  <a:rPr lang="zh-CN" altLang="en-US" sz="2378" dirty="0"/>
                  <a:t>）若总供给曲线为</a:t>
                </a:r>
                <a14:m>
                  <m:oMath xmlns:m="http://schemas.openxmlformats.org/officeDocument/2006/math">
                    <m:r>
                      <a:rPr lang="en-US" altLang="zh-CN" sz="2378" i="1">
                        <a:latin typeface="Cambria Math" panose="02040503050406030204" pitchFamily="18" charset="0"/>
                      </a:rPr>
                      <m:t>𝑦</m:t>
                    </m:r>
                    <m:r>
                      <a:rPr lang="en-US" altLang="zh-CN" sz="2378" i="1">
                        <a:latin typeface="Cambria Math" panose="02040503050406030204" pitchFamily="18" charset="0"/>
                      </a:rPr>
                      <m:t>=2350+400</m:t>
                    </m:r>
                    <m:r>
                      <a:rPr lang="en-US" altLang="zh-CN" sz="2378" i="1">
                        <a:latin typeface="Cambria Math" panose="02040503050406030204" pitchFamily="18" charset="0"/>
                      </a:rPr>
                      <m:t>𝑃</m:t>
                    </m:r>
                  </m:oMath>
                </a14:m>
                <a:r>
                  <a:rPr lang="zh-CN" altLang="en-US" sz="2378" dirty="0"/>
                  <a:t>，联立</a:t>
                </a:r>
                <a:r>
                  <a:rPr lang="en-US" altLang="zh-CN" sz="2378" dirty="0"/>
                  <a:t>AS-AD</a:t>
                </a:r>
                <a:r>
                  <a:rPr lang="zh-CN" altLang="en-US" sz="2378" dirty="0"/>
                  <a:t>得：</a:t>
                </a:r>
                <a:endParaRPr lang="en-US" altLang="zh-CN" sz="2378" dirty="0"/>
              </a:p>
              <a:p>
                <a:r>
                  <a:rPr lang="en-US" altLang="zh-CN" sz="2378" dirty="0"/>
                  <a:t>P=1</a:t>
                </a:r>
                <a:r>
                  <a:rPr lang="zh-CN" altLang="en-US" sz="2378" dirty="0"/>
                  <a:t>， </a:t>
                </a:r>
                <a:r>
                  <a:rPr lang="en-US" altLang="zh-CN" sz="2378" dirty="0"/>
                  <a:t>y=2750</a:t>
                </a:r>
              </a:p>
              <a:p>
                <a:r>
                  <a:rPr lang="zh-CN" altLang="en-US" sz="2378" dirty="0"/>
                  <a:t>（</a:t>
                </a:r>
                <a:r>
                  <a:rPr lang="en-US" altLang="zh-CN" sz="2378" dirty="0"/>
                  <a:t>3</a:t>
                </a:r>
                <a:r>
                  <a:rPr lang="zh-CN" altLang="en-US" sz="2378" dirty="0"/>
                  <a:t>）假设充分就业的</a:t>
                </a:r>
                <a:r>
                  <a:rPr lang="en-US" altLang="zh-CN" sz="2378" dirty="0"/>
                  <a:t>y</a:t>
                </a:r>
                <a:r>
                  <a:rPr lang="zh-CN" altLang="en-US" sz="2378" dirty="0"/>
                  <a:t>‘</a:t>
                </a:r>
                <a:r>
                  <a:rPr lang="en-US" altLang="zh-CN" sz="2378" dirty="0"/>
                  <a:t>=2850</a:t>
                </a:r>
                <a:r>
                  <a:rPr lang="zh-CN" altLang="en-US" sz="2378" dirty="0"/>
                  <a:t>，若通过货币政策来实现，则此时</a:t>
                </a:r>
                <a:r>
                  <a:rPr lang="en-US" altLang="zh-CN" sz="2378" dirty="0"/>
                  <a:t>AS</a:t>
                </a:r>
                <a:r>
                  <a:rPr lang="zh-CN" altLang="en-US" sz="2378" dirty="0"/>
                  <a:t>曲线不变，将</a:t>
                </a:r>
                <a:r>
                  <a:rPr lang="en-US" altLang="zh-CN" sz="2378" dirty="0"/>
                  <a:t>y</a:t>
                </a:r>
                <a:r>
                  <a:rPr lang="zh-CN" altLang="en-US" sz="2378" dirty="0"/>
                  <a:t>‘代入</a:t>
                </a:r>
                <a:r>
                  <a:rPr lang="en-US" altLang="zh-CN" sz="2378" dirty="0"/>
                  <a:t>AS</a:t>
                </a:r>
                <a:r>
                  <a:rPr lang="zh-CN" altLang="en-US" sz="2378" dirty="0"/>
                  <a:t>曲线得到</a:t>
                </a:r>
                <a:r>
                  <a:rPr lang="en-US" altLang="zh-CN" sz="2378" dirty="0"/>
                  <a:t>P’=1.25</a:t>
                </a:r>
              </a:p>
              <a:p>
                <a:r>
                  <a:rPr lang="zh-CN" altLang="en-US" sz="2378" dirty="0"/>
                  <a:t>则此时的</a:t>
                </a:r>
                <a:r>
                  <a:rPr lang="en-US" altLang="zh-CN" sz="2378" dirty="0"/>
                  <a:t>IS</a:t>
                </a:r>
                <a:r>
                  <a:rPr lang="zh-CN" altLang="en-US" sz="2378" dirty="0"/>
                  <a:t>曲线不变（产品市场并未改变）：</a:t>
                </a:r>
                <a:r>
                  <a:rPr lang="en-US" altLang="zh-CN" sz="2378" dirty="0"/>
                  <a:t>y’=3000-125r’ </a:t>
                </a:r>
                <a:r>
                  <a:rPr lang="zh-CN" altLang="en-US" sz="2378" dirty="0"/>
                  <a:t>得到</a:t>
                </a:r>
                <a:r>
                  <a:rPr lang="en-US" altLang="zh-CN" sz="2378" dirty="0"/>
                  <a:t>r’=1</a:t>
                </a:r>
              </a:p>
              <a:p>
                <a:r>
                  <a:rPr lang="zh-CN" altLang="en-US" sz="2378" dirty="0"/>
                  <a:t>此时</a:t>
                </a:r>
                <a:r>
                  <a:rPr lang="en-US" altLang="zh-CN" sz="2378" dirty="0"/>
                  <a:t>LM</a:t>
                </a:r>
                <a:r>
                  <a:rPr lang="zh-CN" altLang="en-US" sz="2378" dirty="0"/>
                  <a:t>曲线变为：</a:t>
                </a:r>
                <a:endParaRPr lang="en-US" altLang="zh-CN" sz="2378" dirty="0"/>
              </a:p>
              <a:p>
                <a:r>
                  <a:rPr lang="en-US" altLang="zh-CN" sz="2378" dirty="0"/>
                  <a:t>M’/1.25=0.4y’-100r’ </a:t>
                </a:r>
                <a:r>
                  <a:rPr lang="zh-CN" altLang="en-US" sz="2378" dirty="0"/>
                  <a:t>将</a:t>
                </a:r>
                <a:r>
                  <a:rPr lang="en-US" altLang="zh-CN" sz="2378" dirty="0"/>
                  <a:t>y</a:t>
                </a:r>
                <a:r>
                  <a:rPr lang="zh-CN" altLang="en-US" sz="2378" dirty="0"/>
                  <a:t>‘</a:t>
                </a:r>
                <a:r>
                  <a:rPr lang="en-US" altLang="zh-CN" sz="2378" dirty="0"/>
                  <a:t>=2850</a:t>
                </a:r>
                <a:r>
                  <a:rPr lang="zh-CN" altLang="en-US" sz="2378" dirty="0"/>
                  <a:t>，</a:t>
                </a:r>
                <a:r>
                  <a:rPr lang="en-US" altLang="zh-CN" sz="2378" dirty="0"/>
                  <a:t>r’=1</a:t>
                </a:r>
                <a:r>
                  <a:rPr lang="zh-CN" altLang="en-US" sz="2378" dirty="0"/>
                  <a:t>，</a:t>
                </a:r>
                <a:r>
                  <a:rPr lang="en-US" altLang="zh-CN" sz="2378" dirty="0"/>
                  <a:t> P’=1.25</a:t>
                </a:r>
                <a:r>
                  <a:rPr lang="zh-CN" altLang="en-US" sz="2378" dirty="0"/>
                  <a:t>代入得：</a:t>
                </a:r>
                <a:endParaRPr lang="en-US" altLang="zh-CN" sz="2378" dirty="0"/>
              </a:p>
              <a:p>
                <a:r>
                  <a:rPr lang="en-US" altLang="zh-CN" sz="2378" dirty="0"/>
                  <a:t>M</a:t>
                </a:r>
                <a:r>
                  <a:rPr lang="zh-CN" altLang="en-US" sz="2378" dirty="0"/>
                  <a:t>‘</a:t>
                </a:r>
                <a:r>
                  <a:rPr lang="en-US" altLang="zh-CN" sz="2378" dirty="0"/>
                  <a:t>=1040</a:t>
                </a:r>
                <a:r>
                  <a:rPr lang="zh-CN" altLang="en-US" sz="2378" dirty="0"/>
                  <a:t>*</a:t>
                </a:r>
                <a:r>
                  <a:rPr lang="en-US" altLang="zh-CN" sz="2378" dirty="0"/>
                  <a:t>1.25=1300</a:t>
                </a:r>
              </a:p>
              <a:p>
                <a:r>
                  <a:rPr lang="zh-CN" altLang="en-US" sz="2378" dirty="0"/>
                  <a:t>即货币供应量变动：</a:t>
                </a:r>
                <a:r>
                  <a:rPr lang="en-US" altLang="zh-CN" sz="2378" dirty="0"/>
                  <a:t>1300-900=400</a:t>
                </a:r>
              </a:p>
              <a:p>
                <a:endParaRPr lang="en-US" altLang="zh-CN" sz="2378" dirty="0"/>
              </a:p>
              <a:p>
                <a:endParaRPr lang="zh-CN" altLang="en-US" sz="2378" dirty="0"/>
              </a:p>
            </p:txBody>
          </p:sp>
        </mc:Choice>
        <mc:Fallback>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121374" y="1542826"/>
                <a:ext cx="8145293" cy="4879040"/>
              </a:xfrm>
              <a:blipFill>
                <a:blip r:embed="rId2"/>
                <a:stretch>
                  <a:fillRect l="-1347" t="-1875" r="-2171" b="-6125"/>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67116668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13683" y="236662"/>
            <a:ext cx="8402860" cy="681036"/>
          </a:xfrm>
        </p:spPr>
        <p:txBody>
          <a:bodyPr/>
          <a:lstStyle/>
          <a:p>
            <a:r>
              <a:rPr lang="zh-CN" altLang="en-US" dirty="0">
                <a:latin typeface="SimSun" panose="02010600030101010101" pitchFamily="2" charset="-122"/>
                <a:ea typeface="SimSun" panose="02010600030101010101" pitchFamily="2" charset="-122"/>
              </a:rPr>
              <a:t>宏观经济的短期目标</a:t>
            </a:r>
          </a:p>
        </p:txBody>
      </p:sp>
      <p:sp>
        <p:nvSpPr>
          <p:cNvPr id="3" name="内容占位符 2"/>
          <p:cNvSpPr>
            <a:spLocks noGrp="1"/>
          </p:cNvSpPr>
          <p:nvPr>
            <p:ph idx="1"/>
          </p:nvPr>
        </p:nvSpPr>
        <p:spPr>
          <a:xfrm>
            <a:off x="2114493" y="1008014"/>
            <a:ext cx="7879464" cy="806144"/>
          </a:xfrm>
        </p:spPr>
        <p:txBody>
          <a:bodyPr/>
          <a:lstStyle/>
          <a:p>
            <a:r>
              <a:rPr lang="zh-CN" altLang="en-US" sz="2398" dirty="0"/>
              <a:t>短期中宏观经济的目标是</a:t>
            </a:r>
            <a:r>
              <a:rPr lang="zh-CN" altLang="en-US" sz="2398" b="1" u="sng" dirty="0"/>
              <a:t>充分就业和物价稳定</a:t>
            </a:r>
            <a:r>
              <a:rPr lang="zh-CN" altLang="en-US" sz="2398" dirty="0"/>
              <a:t>，即不存在非自愿失业，物价既不上升也不下降。</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49</a:t>
            </a:fld>
            <a:endParaRPr lang="zh-CN" altLang="en-US"/>
          </a:p>
        </p:txBody>
      </p:sp>
      <p:pic>
        <p:nvPicPr>
          <p:cNvPr id="7" name="Picture 4" descr="xf17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0817" y="2006361"/>
            <a:ext cx="3553555" cy="327767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9" name="内容占位符 2"/>
              <p:cNvSpPr txBox="1">
                <a:spLocks/>
              </p:cNvSpPr>
              <p:nvPr/>
            </p:nvSpPr>
            <p:spPr bwMode="auto">
              <a:xfrm>
                <a:off x="2156268" y="2029426"/>
                <a:ext cx="4728579" cy="3605981"/>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91356" tIns="45679" rIns="91356" bIns="45679"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3643"/>
                <a:r>
                  <a:rPr lang="zh-CN" altLang="en-US" sz="2398" dirty="0">
                    <a:latin typeface="Garamond" panose="02020404030301010803" pitchFamily="18" charset="0"/>
                    <a:ea typeface="楷体" panose="02010609060101010101" pitchFamily="49" charset="-122"/>
                  </a:rPr>
                  <a:t>当经济处于</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𝐸</m:t>
                        </m:r>
                      </m:e>
                      <m:sub>
                        <m:r>
                          <a:rPr lang="en-US" altLang="zh-CN" sz="2398" i="1">
                            <a:latin typeface="Cambria Math" panose="02040503050406030204" pitchFamily="18" charset="0"/>
                          </a:rPr>
                          <m:t>0</m:t>
                        </m:r>
                      </m:sub>
                    </m:sSub>
                  </m:oMath>
                </a14:m>
                <a:r>
                  <a:rPr lang="zh-CN" altLang="en-US" sz="2398" dirty="0">
                    <a:latin typeface="Garamond" panose="02020404030301010803" pitchFamily="18" charset="0"/>
                    <a:ea typeface="楷体" panose="02010609060101010101" pitchFamily="49" charset="-122"/>
                  </a:rPr>
                  <a:t>时，产量处于充分就业的水平，价格水平为</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𝑃</m:t>
                        </m:r>
                      </m:e>
                      <m:sub>
                        <m:r>
                          <a:rPr lang="en-US" altLang="zh-CN" sz="2398" i="1">
                            <a:latin typeface="Cambria Math" panose="02040503050406030204" pitchFamily="18" charset="0"/>
                          </a:rPr>
                          <m:t>0</m:t>
                        </m:r>
                      </m:sub>
                    </m:sSub>
                    <m:r>
                      <a:rPr lang="zh-CN" altLang="en-US" sz="2398" i="1">
                        <a:latin typeface="Cambria Math" panose="02040503050406030204" pitchFamily="18" charset="0"/>
                      </a:rPr>
                      <m:t>，</m:t>
                    </m:r>
                  </m:oMath>
                </a14:m>
                <a:r>
                  <a:rPr lang="zh-CN" altLang="en-US" sz="2398" dirty="0">
                    <a:latin typeface="Garamond" panose="02020404030301010803" pitchFamily="18" charset="0"/>
                    <a:ea typeface="楷体" panose="02010609060101010101" pitchFamily="49" charset="-122"/>
                  </a:rPr>
                  <a:t>此时的价格水平既不会上升也不会下降，这是宏观经济管理的短期目标，即充分就业和价格稳定。</a:t>
                </a:r>
                <a:endParaRPr lang="en-US" altLang="zh-CN" sz="2398" dirty="0">
                  <a:latin typeface="Garamond" panose="02020404030301010803" pitchFamily="18" charset="0"/>
                  <a:ea typeface="楷体" panose="02010609060101010101" pitchFamily="49" charset="-122"/>
                </a:endParaRPr>
              </a:p>
              <a:p>
                <a:pPr defTabSz="913643"/>
                <a:r>
                  <a:rPr lang="zh-CN" altLang="en-US" sz="2398" dirty="0">
                    <a:latin typeface="Garamond" panose="02020404030301010803" pitchFamily="18" charset="0"/>
                    <a:ea typeface="楷体" panose="02010609060101010101" pitchFamily="49" charset="-122"/>
                  </a:rPr>
                  <a:t>只有在偶然的情况下，</a:t>
                </a:r>
                <a:r>
                  <a:rPr lang="en-US" altLang="zh-CN" sz="2398" dirty="0">
                    <a:latin typeface="Garamond" panose="02020404030301010803" pitchFamily="18" charset="0"/>
                    <a:ea typeface="楷体" panose="02010609060101010101" pitchFamily="49" charset="-122"/>
                  </a:rPr>
                  <a:t>AD</a:t>
                </a:r>
                <a:r>
                  <a:rPr lang="zh-CN" altLang="en-US" sz="2398" dirty="0">
                    <a:latin typeface="Garamond" panose="02020404030301010803" pitchFamily="18" charset="0"/>
                    <a:ea typeface="楷体" panose="02010609060101010101" pitchFamily="49" charset="-122"/>
                  </a:rPr>
                  <a:t>和</a:t>
                </a:r>
                <a:r>
                  <a:rPr lang="en-US" altLang="zh-CN" sz="2398" dirty="0">
                    <a:latin typeface="Garamond" panose="02020404030301010803" pitchFamily="18" charset="0"/>
                    <a:ea typeface="楷体" panose="02010609060101010101" pitchFamily="49" charset="-122"/>
                  </a:rPr>
                  <a:t>AS</a:t>
                </a:r>
                <a:r>
                  <a:rPr lang="zh-CN" altLang="en-US" sz="2398" dirty="0">
                    <a:latin typeface="Garamond" panose="02020404030301010803" pitchFamily="18" charset="0"/>
                    <a:ea typeface="楷体" panose="02010609060101010101" pitchFamily="49" charset="-122"/>
                  </a:rPr>
                  <a:t>曲线相交于</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𝐸</m:t>
                        </m:r>
                      </m:e>
                      <m:sub>
                        <m:r>
                          <a:rPr lang="en-US" altLang="zh-CN" sz="2398" i="1">
                            <a:latin typeface="Cambria Math" panose="02040503050406030204" pitchFamily="18" charset="0"/>
                          </a:rPr>
                          <m:t>0</m:t>
                        </m:r>
                      </m:sub>
                    </m:sSub>
                  </m:oMath>
                </a14:m>
                <a:r>
                  <a:rPr lang="zh-CN" altLang="en-US" sz="2398" dirty="0">
                    <a:latin typeface="Garamond" panose="02020404030301010803" pitchFamily="18" charset="0"/>
                    <a:ea typeface="楷体" panose="02010609060101010101" pitchFamily="49" charset="-122"/>
                  </a:rPr>
                  <a:t>点，经济中的许多因素都会导致</a:t>
                </a:r>
                <a:r>
                  <a:rPr lang="en-US" altLang="zh-CN" sz="2398" dirty="0">
                    <a:latin typeface="Garamond" panose="02020404030301010803" pitchFamily="18" charset="0"/>
                    <a:ea typeface="楷体" panose="02010609060101010101" pitchFamily="49" charset="-122"/>
                  </a:rPr>
                  <a:t>AS</a:t>
                </a:r>
                <a:r>
                  <a:rPr lang="zh-CN" altLang="en-US" sz="2398" dirty="0">
                    <a:latin typeface="Garamond" panose="02020404030301010803" pitchFamily="18" charset="0"/>
                    <a:ea typeface="楷体" panose="02010609060101010101" pitchFamily="49" charset="-122"/>
                  </a:rPr>
                  <a:t>和</a:t>
                </a:r>
                <a:r>
                  <a:rPr lang="en-US" altLang="zh-CN" sz="2398" dirty="0">
                    <a:latin typeface="Garamond" panose="02020404030301010803" pitchFamily="18" charset="0"/>
                    <a:ea typeface="楷体" panose="02010609060101010101" pitchFamily="49" charset="-122"/>
                  </a:rPr>
                  <a:t>AD</a:t>
                </a:r>
                <a:r>
                  <a:rPr lang="zh-CN" altLang="en-US" sz="2398" dirty="0">
                    <a:latin typeface="Garamond" panose="02020404030301010803" pitchFamily="18" charset="0"/>
                    <a:ea typeface="楷体" panose="02010609060101010101" pitchFamily="49" charset="-122"/>
                  </a:rPr>
                  <a:t>曲线的移动，使经济脱离</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𝐸</m:t>
                        </m:r>
                      </m:e>
                      <m:sub>
                        <m:r>
                          <a:rPr lang="en-US" altLang="zh-CN" sz="2398" i="1">
                            <a:latin typeface="Cambria Math" panose="02040503050406030204" pitchFamily="18" charset="0"/>
                          </a:rPr>
                          <m:t>0</m:t>
                        </m:r>
                      </m:sub>
                    </m:sSub>
                  </m:oMath>
                </a14:m>
                <a:r>
                  <a:rPr lang="zh-CN" altLang="en-US" sz="2398" dirty="0">
                    <a:latin typeface="Garamond" panose="02020404030301010803" pitchFamily="18" charset="0"/>
                    <a:ea typeface="楷体" panose="02010609060101010101" pitchFamily="49" charset="-122"/>
                  </a:rPr>
                  <a:t>。</a:t>
                </a:r>
              </a:p>
            </p:txBody>
          </p:sp>
        </mc:Choice>
        <mc:Fallback>
          <p:sp>
            <p:nvSpPr>
              <p:cNvPr id="9" name="内容占位符 2"/>
              <p:cNvSpPr txBox="1">
                <a:spLocks noRot="1" noChangeAspect="1" noMove="1" noResize="1" noEditPoints="1" noAdjustHandles="1" noChangeArrowheads="1" noChangeShapeType="1" noTextEdit="1"/>
              </p:cNvSpPr>
              <p:nvPr/>
            </p:nvSpPr>
            <p:spPr bwMode="auto">
              <a:xfrm>
                <a:off x="2156268" y="2029426"/>
                <a:ext cx="4728579" cy="3605981"/>
              </a:xfrm>
              <a:prstGeom prst="rect">
                <a:avLst/>
              </a:prstGeom>
              <a:blipFill>
                <a:blip r:embed="rId3"/>
                <a:stretch>
                  <a:fillRect l="-1673" t="-2698" r="-1158"/>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 name="矩形 7"/>
          <p:cNvSpPr/>
          <p:nvPr/>
        </p:nvSpPr>
        <p:spPr>
          <a:xfrm>
            <a:off x="7237557" y="5175562"/>
            <a:ext cx="3036082" cy="397353"/>
          </a:xfrm>
          <a:prstGeom prst="rect">
            <a:avLst/>
          </a:prstGeom>
        </p:spPr>
        <p:txBody>
          <a:bodyPr wrap="square">
            <a:spAutoFit/>
          </a:bodyPr>
          <a:lstStyle/>
          <a:p>
            <a:pPr algn="ctr">
              <a:spcBef>
                <a:spcPct val="50000"/>
              </a:spcBef>
            </a:pPr>
            <a:r>
              <a:rPr lang="zh-CN" altLang="en-US" sz="1982"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宏观经济的短期目标</a:t>
            </a:r>
          </a:p>
        </p:txBody>
      </p:sp>
      <p:sp>
        <p:nvSpPr>
          <p:cNvPr id="10" name="Rectangle 6">
            <a:extLst>
              <a:ext uri="{FF2B5EF4-FFF2-40B4-BE49-F238E27FC236}">
                <a16:creationId xmlns:a16="http://schemas.microsoft.com/office/drawing/2014/main" id="{D1001E05-B19E-7041-B021-E6800499248A}"/>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49</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AAD0FA26-B6D9-C5BC-05B0-CB2D36356CD8}"/>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Tree>
    <p:extLst>
      <p:ext uri="{BB962C8B-B14F-4D97-AF65-F5344CB8AC3E}">
        <p14:creationId xmlns:p14="http://schemas.microsoft.com/office/powerpoint/2010/main" val="24904174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D2288-5C2F-3628-DF2E-C0B3ED7942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951D82-6D6A-D95F-AC89-EF6F145393DD}"/>
              </a:ext>
            </a:extLst>
          </p:cNvPr>
          <p:cNvSpPr>
            <a:spLocks noGrp="1"/>
          </p:cNvSpPr>
          <p:nvPr>
            <p:ph type="title"/>
          </p:nvPr>
        </p:nvSpPr>
        <p:spPr>
          <a:xfrm>
            <a:off x="1773356" y="42622"/>
            <a:ext cx="8402860" cy="681036"/>
          </a:xfrm>
        </p:spPr>
        <p:txBody>
          <a:bodyPr/>
          <a:lstStyle/>
          <a:p>
            <a:r>
              <a:rPr lang="zh-CN" altLang="en-US" dirty="0">
                <a:latin typeface="SimSun" panose="02010600030101010101" pitchFamily="2" charset="-122"/>
                <a:ea typeface="SimSun" panose="02010600030101010101" pitchFamily="2" charset="-122"/>
              </a:rPr>
              <a:t>总需求曲线移动的后果</a:t>
            </a:r>
          </a:p>
        </p:txBody>
      </p:sp>
      <p:sp>
        <p:nvSpPr>
          <p:cNvPr id="6" name="灯片编号占位符 5">
            <a:extLst>
              <a:ext uri="{FF2B5EF4-FFF2-40B4-BE49-F238E27FC236}">
                <a16:creationId xmlns:a16="http://schemas.microsoft.com/office/drawing/2014/main" id="{BA99CE98-CBC4-6C76-B031-AC6B0D9D682B}"/>
              </a:ext>
            </a:extLst>
          </p:cNvPr>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50</a:t>
            </a:fld>
            <a:endParaRPr lang="zh-CN" altLang="en-US"/>
          </a:p>
        </p:txBody>
      </p:sp>
      <p:pic>
        <p:nvPicPr>
          <p:cNvPr id="7" name="Picture 4" descr="xf1715">
            <a:extLst>
              <a:ext uri="{FF2B5EF4-FFF2-40B4-BE49-F238E27FC236}">
                <a16:creationId xmlns:a16="http://schemas.microsoft.com/office/drawing/2014/main" id="{540F0253-B8CE-DA16-EB26-2B910E79E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0316" y="717800"/>
            <a:ext cx="4043490" cy="4157409"/>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EE3013C6-954A-91F1-497E-6DC9BCCC4347}"/>
              </a:ext>
            </a:extLst>
          </p:cNvPr>
          <p:cNvSpPr/>
          <p:nvPr/>
        </p:nvSpPr>
        <p:spPr>
          <a:xfrm>
            <a:off x="6953547" y="5889788"/>
            <a:ext cx="2845651" cy="412549"/>
          </a:xfrm>
          <a:prstGeom prst="rect">
            <a:avLst/>
          </a:prstGeom>
        </p:spPr>
        <p:txBody>
          <a:bodyPr wrap="none">
            <a:spAutoFit/>
          </a:bodyPr>
          <a:lstStyle/>
          <a:p>
            <a:pPr algn="ctr">
              <a:spcBef>
                <a:spcPct val="50000"/>
              </a:spcBef>
            </a:pPr>
            <a:r>
              <a:rPr lang="zh-CN" altLang="en-US" sz="208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总需求曲线移动的后果</a:t>
            </a:r>
          </a:p>
        </p:txBody>
      </p:sp>
      <mc:AlternateContent xmlns:mc="http://schemas.openxmlformats.org/markup-compatibility/2006">
        <mc:Choice xmlns:a14="http://schemas.microsoft.com/office/drawing/2010/main" Requires="a14">
          <p:sp>
            <p:nvSpPr>
              <p:cNvPr id="10" name="内容占位符 2">
                <a:extLst>
                  <a:ext uri="{FF2B5EF4-FFF2-40B4-BE49-F238E27FC236}">
                    <a16:creationId xmlns:a16="http://schemas.microsoft.com/office/drawing/2014/main" id="{FCD179AD-233A-6678-F5E3-9211630326E1}"/>
                  </a:ext>
                </a:extLst>
              </p:cNvPr>
              <p:cNvSpPr txBox="1">
                <a:spLocks/>
              </p:cNvSpPr>
              <p:nvPr/>
            </p:nvSpPr>
            <p:spPr bwMode="auto">
              <a:xfrm>
                <a:off x="1528194" y="717800"/>
                <a:ext cx="5331039" cy="5654896"/>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91356" tIns="45679" rIns="91356" bIns="45679"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3643">
                  <a:buNone/>
                </a:pPr>
                <a:r>
                  <a:rPr lang="zh-CN" altLang="en-US" sz="2180" dirty="0">
                    <a:latin typeface="Garamond" panose="02020404030301010803" pitchFamily="18" charset="0"/>
                    <a:ea typeface="楷体" panose="02010609060101010101" pitchFamily="49" charset="-122"/>
                  </a:rPr>
                  <a:t>假定由于总需求减少，</a:t>
                </a:r>
                <a:r>
                  <a:rPr lang="en-US" altLang="zh-CN" sz="2180" dirty="0">
                    <a:latin typeface="Garamond" panose="02020404030301010803" pitchFamily="18" charset="0"/>
                    <a:ea typeface="楷体" panose="02010609060101010101" pitchFamily="49" charset="-122"/>
                  </a:rPr>
                  <a:t>AD</a:t>
                </a:r>
                <a:r>
                  <a:rPr lang="zh-CN" altLang="en-US" sz="2180" dirty="0">
                    <a:latin typeface="Garamond" panose="02020404030301010803" pitchFamily="18" charset="0"/>
                    <a:ea typeface="楷体" panose="02010609060101010101" pitchFamily="49" charset="-122"/>
                  </a:rPr>
                  <a:t>曲线左移，</a:t>
                </a:r>
                <a:r>
                  <a:rPr lang="en-US" altLang="zh-CN" sz="2180" dirty="0">
                    <a:latin typeface="Garamond" panose="02020404030301010803" pitchFamily="18" charset="0"/>
                    <a:ea typeface="楷体" panose="02010609060101010101" pitchFamily="49" charset="-122"/>
                  </a:rPr>
                  <a:t>AS</a:t>
                </a:r>
                <a:r>
                  <a:rPr lang="zh-CN" altLang="en-US" sz="2180" dirty="0">
                    <a:latin typeface="Garamond" panose="02020404030301010803" pitchFamily="18" charset="0"/>
                    <a:ea typeface="楷体" panose="02010609060101010101" pitchFamily="49" charset="-122"/>
                  </a:rPr>
                  <a:t>和</a:t>
                </a:r>
                <a:r>
                  <a:rPr lang="en-US" altLang="zh-CN" sz="2180" dirty="0">
                    <a:latin typeface="Garamond" panose="02020404030301010803" pitchFamily="18" charset="0"/>
                    <a:ea typeface="楷体" panose="02010609060101010101" pitchFamily="49" charset="-122"/>
                  </a:rPr>
                  <a:t>AD</a:t>
                </a:r>
                <a:r>
                  <a:rPr lang="zh-CN" altLang="en-US" sz="2180" dirty="0">
                    <a:latin typeface="Garamond" panose="02020404030301010803" pitchFamily="18" charset="0"/>
                    <a:ea typeface="楷体" panose="02010609060101010101" pitchFamily="49" charset="-122"/>
                  </a:rPr>
                  <a:t>相交于</a:t>
                </a:r>
                <a14:m>
                  <m:oMath xmlns:m="http://schemas.openxmlformats.org/officeDocument/2006/math">
                    <m:sSub>
                      <m:sSubPr>
                        <m:ctrlPr>
                          <a:rPr lang="en-US" altLang="zh-CN" sz="2180" i="1">
                            <a:latin typeface="Cambria Math" panose="02040503050406030204" pitchFamily="18" charset="0"/>
                          </a:rPr>
                        </m:ctrlPr>
                      </m:sSubPr>
                      <m:e>
                        <m:r>
                          <a:rPr lang="en-US" altLang="zh-CN" sz="2180" i="1">
                            <a:latin typeface="Cambria Math" panose="02040503050406030204" pitchFamily="18" charset="0"/>
                          </a:rPr>
                          <m:t>𝐸</m:t>
                        </m:r>
                      </m:e>
                      <m:sub>
                        <m:r>
                          <a:rPr lang="en-US" altLang="zh-CN" sz="2180" i="1">
                            <a:latin typeface="Cambria Math" panose="02040503050406030204" pitchFamily="18" charset="0"/>
                          </a:rPr>
                          <m:t>1</m:t>
                        </m:r>
                      </m:sub>
                    </m:sSub>
                  </m:oMath>
                </a14:m>
                <a:r>
                  <a:rPr lang="zh-CN" altLang="en-US" sz="2180" dirty="0">
                    <a:latin typeface="Garamond" panose="02020404030301010803" pitchFamily="18" charset="0"/>
                    <a:ea typeface="楷体" panose="02010609060101010101" pitchFamily="49" charset="-122"/>
                  </a:rPr>
                  <a:t>。</a:t>
                </a:r>
                <a:endParaRPr lang="en-US" altLang="zh-CN" sz="2180" dirty="0">
                  <a:latin typeface="Garamond" panose="02020404030301010803" pitchFamily="18" charset="0"/>
                  <a:ea typeface="楷体" panose="02010609060101010101" pitchFamily="49" charset="-122"/>
                </a:endParaRPr>
              </a:p>
              <a:p>
                <a:pPr marL="0" indent="0" defTabSz="913643">
                  <a:buNone/>
                </a:pPr>
                <a14:m>
                  <m:oMath xmlns:m="http://schemas.openxmlformats.org/officeDocument/2006/math">
                    <m:sSub>
                      <m:sSubPr>
                        <m:ctrlPr>
                          <a:rPr lang="en-US" altLang="zh-CN" sz="2180" i="1" dirty="0">
                            <a:latin typeface="Cambria Math" panose="02040503050406030204" pitchFamily="18" charset="0"/>
                            <a:ea typeface="楷体" panose="02010609060101010101" pitchFamily="49" charset="-122"/>
                          </a:rPr>
                        </m:ctrlPr>
                      </m:sSubPr>
                      <m:e>
                        <m:r>
                          <m:rPr>
                            <m:sty m:val="p"/>
                          </m:rPr>
                          <a:rPr lang="en-US" altLang="zh-CN" sz="2180" dirty="0">
                            <a:latin typeface="Cambria Math" panose="02040503050406030204" pitchFamily="18" charset="0"/>
                            <a:ea typeface="楷体" panose="02010609060101010101" pitchFamily="49" charset="-122"/>
                          </a:rPr>
                          <m:t>AD</m:t>
                        </m:r>
                      </m:e>
                      <m:sub>
                        <m:r>
                          <a:rPr lang="en-US" altLang="zh-CN" sz="2180" i="1" dirty="0">
                            <a:latin typeface="Cambria Math" panose="02040503050406030204" pitchFamily="18" charset="0"/>
                            <a:ea typeface="楷体" panose="02010609060101010101" pitchFamily="49" charset="-122"/>
                          </a:rPr>
                          <m:t>1</m:t>
                        </m:r>
                      </m:sub>
                    </m:sSub>
                  </m:oMath>
                </a14:m>
                <a:r>
                  <a:rPr lang="zh-CN" altLang="en-US" sz="2180" dirty="0">
                    <a:latin typeface="Garamond" panose="02020404030301010803" pitchFamily="18" charset="0"/>
                    <a:ea typeface="楷体" panose="02010609060101010101" pitchFamily="49" charset="-122"/>
                  </a:rPr>
                  <a:t>这表明经济社会处于衰退状态，其产量和价格分别是</a:t>
                </a:r>
                <a14:m>
                  <m:oMath xmlns:m="http://schemas.openxmlformats.org/officeDocument/2006/math">
                    <m:sSub>
                      <m:sSubPr>
                        <m:ctrlPr>
                          <a:rPr lang="en-US" altLang="zh-CN" sz="2180" i="1">
                            <a:latin typeface="Cambria Math" panose="02040503050406030204" pitchFamily="18" charset="0"/>
                            <a:ea typeface="楷体" panose="02010609060101010101" pitchFamily="49" charset="-122"/>
                          </a:rPr>
                        </m:ctrlPr>
                      </m:sSubPr>
                      <m:e>
                        <m:r>
                          <a:rPr lang="en-US" altLang="zh-CN" sz="2180" i="1">
                            <a:latin typeface="Cambria Math" panose="02040503050406030204" pitchFamily="18" charset="0"/>
                            <a:ea typeface="楷体" panose="02010609060101010101" pitchFamily="49" charset="-122"/>
                          </a:rPr>
                          <m:t>𝑦</m:t>
                        </m:r>
                      </m:e>
                      <m:sub>
                        <m:r>
                          <a:rPr lang="en-US" altLang="zh-CN" sz="2180" i="1">
                            <a:latin typeface="Cambria Math" panose="02040503050406030204" pitchFamily="18" charset="0"/>
                            <a:ea typeface="楷体" panose="02010609060101010101" pitchFamily="49" charset="-122"/>
                          </a:rPr>
                          <m:t>1</m:t>
                        </m:r>
                      </m:sub>
                    </m:sSub>
                    <m:r>
                      <a:rPr lang="zh-CN" altLang="en-US" sz="2180" i="1">
                        <a:latin typeface="Cambria Math" panose="02040503050406030204" pitchFamily="18" charset="0"/>
                        <a:ea typeface="楷体" panose="02010609060101010101" pitchFamily="49" charset="-122"/>
                      </a:rPr>
                      <m:t>和</m:t>
                    </m:r>
                    <m:sSub>
                      <m:sSubPr>
                        <m:ctrlPr>
                          <a:rPr lang="en-US" altLang="zh-CN" sz="2180" i="1">
                            <a:latin typeface="Cambria Math" panose="02040503050406030204" pitchFamily="18" charset="0"/>
                            <a:ea typeface="楷体" panose="02010609060101010101" pitchFamily="49" charset="-122"/>
                          </a:rPr>
                        </m:ctrlPr>
                      </m:sSubPr>
                      <m:e>
                        <m:r>
                          <a:rPr lang="en-US" altLang="zh-CN" sz="2180" i="1">
                            <a:latin typeface="Cambria Math" panose="02040503050406030204" pitchFamily="18" charset="0"/>
                            <a:ea typeface="楷体" panose="02010609060101010101" pitchFamily="49" charset="-122"/>
                          </a:rPr>
                          <m:t>𝑃</m:t>
                        </m:r>
                      </m:e>
                      <m:sub>
                        <m:r>
                          <a:rPr lang="en-US" altLang="zh-CN" sz="2180" i="1">
                            <a:latin typeface="Cambria Math" panose="02040503050406030204" pitchFamily="18" charset="0"/>
                            <a:ea typeface="楷体" panose="02010609060101010101" pitchFamily="49" charset="-122"/>
                          </a:rPr>
                          <m:t>1</m:t>
                        </m:r>
                      </m:sub>
                    </m:sSub>
                  </m:oMath>
                </a14:m>
                <a:r>
                  <a:rPr lang="zh-CN" altLang="en-US" sz="2180" dirty="0">
                    <a:latin typeface="Garamond" panose="02020404030301010803" pitchFamily="18" charset="0"/>
                    <a:ea typeface="楷体" panose="02010609060101010101" pitchFamily="49" charset="-122"/>
                  </a:rPr>
                  <a:t>，这两者都低于充分就业时的数字。</a:t>
                </a:r>
                <a:endParaRPr lang="en-US" altLang="zh-CN" sz="2180" dirty="0">
                  <a:latin typeface="Garamond" panose="02020404030301010803" pitchFamily="18" charset="0"/>
                  <a:ea typeface="楷体" panose="02010609060101010101" pitchFamily="49" charset="-122"/>
                </a:endParaRPr>
              </a:p>
              <a:p>
                <a:pPr marL="0" indent="0" defTabSz="913643">
                  <a:buNone/>
                </a:pPr>
                <a:r>
                  <a:rPr lang="en-US" altLang="zh-CN" sz="2180" dirty="0">
                    <a:latin typeface="Garamond" panose="02020404030301010803" pitchFamily="18" charset="0"/>
                    <a:ea typeface="楷体" panose="02010609060101010101" pitchFamily="49" charset="-122"/>
                  </a:rPr>
                  <a:t>AS </a:t>
                </a:r>
                <a:r>
                  <a:rPr lang="zh-CN" altLang="en-US" sz="2180" dirty="0">
                    <a:latin typeface="Garamond" panose="02020404030301010803" pitchFamily="18" charset="0"/>
                    <a:ea typeface="楷体" panose="02010609060101010101" pitchFamily="49" charset="-122"/>
                  </a:rPr>
                  <a:t>曲线形状的含义：当经济远离充分就业时，存在闲置产能，需求变化更多表现为产出变化；越接近充分就业，</a:t>
                </a:r>
                <a:r>
                  <a:rPr lang="en" altLang="zh-CN" sz="2180" dirty="0">
                    <a:latin typeface="Garamond" panose="02020404030301010803" pitchFamily="18" charset="0"/>
                    <a:ea typeface="楷体" panose="02010609060101010101" pitchFamily="49" charset="-122"/>
                  </a:rPr>
                  <a:t>AS </a:t>
                </a:r>
                <a:r>
                  <a:rPr lang="zh-CN" altLang="en-US" sz="2180" dirty="0">
                    <a:latin typeface="Garamond" panose="02020404030301010803" pitchFamily="18" charset="0"/>
                    <a:ea typeface="楷体" panose="02010609060101010101" pitchFamily="49" charset="-122"/>
                  </a:rPr>
                  <a:t>曲线越陡，需求扩张越容易表现为价格上涨。</a:t>
                </a:r>
                <a:endParaRPr lang="en-US" altLang="zh-CN" sz="2180" dirty="0">
                  <a:latin typeface="Garamond" panose="02020404030301010803" pitchFamily="18" charset="0"/>
                  <a:ea typeface="楷体" panose="02010609060101010101" pitchFamily="49" charset="-122"/>
                </a:endParaRPr>
              </a:p>
              <a:p>
                <a:pPr marL="0" indent="0" defTabSz="913643">
                  <a:buNone/>
                </a:pPr>
                <a:r>
                  <a:rPr lang="zh-CN" altLang="en-US" sz="2180" dirty="0">
                    <a:latin typeface="Garamond" panose="02020404030301010803" pitchFamily="18" charset="0"/>
                    <a:ea typeface="楷体" panose="02010609060101010101" pitchFamily="49" charset="-122"/>
                  </a:rPr>
                  <a:t>核心结论：</a:t>
                </a:r>
                <a:br>
                  <a:rPr lang="zh-CN" altLang="en-US" sz="2180" dirty="0">
                    <a:latin typeface="Garamond" panose="02020404030301010803" pitchFamily="18" charset="0"/>
                    <a:ea typeface="楷体" panose="02010609060101010101" pitchFamily="49" charset="-122"/>
                  </a:rPr>
                </a:br>
                <a:r>
                  <a:rPr lang="en" altLang="zh-CN" sz="2180" dirty="0">
                    <a:latin typeface="Garamond" panose="02020404030301010803" pitchFamily="18" charset="0"/>
                    <a:ea typeface="楷体" panose="02010609060101010101" pitchFamily="49" charset="-122"/>
                  </a:rPr>
                  <a:t>AD </a:t>
                </a:r>
                <a:r>
                  <a:rPr lang="zh-CN" altLang="en-US" sz="2180" dirty="0">
                    <a:latin typeface="Garamond" panose="02020404030301010803" pitchFamily="18" charset="0"/>
                    <a:ea typeface="楷体" panose="02010609060101010101" pitchFamily="49" charset="-122"/>
                  </a:rPr>
                  <a:t>左移导致衰退；</a:t>
                </a:r>
                <a:r>
                  <a:rPr lang="en" altLang="zh-CN" sz="2180" dirty="0">
                    <a:latin typeface="Garamond" panose="02020404030301010803" pitchFamily="18" charset="0"/>
                    <a:ea typeface="楷体" panose="02010609060101010101" pitchFamily="49" charset="-122"/>
                  </a:rPr>
                  <a:t>AD </a:t>
                </a:r>
                <a:r>
                  <a:rPr lang="zh-CN" altLang="en-US" sz="2180" dirty="0">
                    <a:latin typeface="Garamond" panose="02020404030301010803" pitchFamily="18" charset="0"/>
                    <a:ea typeface="楷体" panose="02010609060101010101" pitchFamily="49" charset="-122"/>
                  </a:rPr>
                  <a:t>右移推动复苏；但越接近充分就业，需求扩张越容易带来通胀压力。</a:t>
                </a:r>
                <a:endParaRPr lang="en-US" altLang="zh-CN" sz="2180" dirty="0">
                  <a:latin typeface="Garamond" panose="02020404030301010803" pitchFamily="18" charset="0"/>
                  <a:ea typeface="楷体" panose="02010609060101010101" pitchFamily="49" charset="-122"/>
                </a:endParaRPr>
              </a:p>
              <a:p>
                <a:pPr marL="0" indent="0" defTabSz="913643">
                  <a:buNone/>
                </a:pPr>
                <a:r>
                  <a:rPr lang="zh-CN" altLang="en-US" sz="1982" b="1" dirty="0">
                    <a:highlight>
                      <a:srgbClr val="FFFF00"/>
                    </a:highlight>
                    <a:latin typeface="Garamond" panose="02020404030301010803" pitchFamily="18" charset="0"/>
                    <a:ea typeface="楷体" panose="02010609060101010101" pitchFamily="49" charset="-122"/>
                  </a:rPr>
                  <a:t>思考：解释</a:t>
                </a:r>
                <a:r>
                  <a:rPr lang="en-US" altLang="zh-CN" sz="1982" b="1" dirty="0">
                    <a:highlight>
                      <a:srgbClr val="FFFF00"/>
                    </a:highlight>
                    <a:latin typeface="Garamond" panose="02020404030301010803" pitchFamily="18" charset="0"/>
                    <a:ea typeface="楷体" panose="02010609060101010101" pitchFamily="49" charset="-122"/>
                  </a:rPr>
                  <a:t>AD</a:t>
                </a:r>
                <a:r>
                  <a:rPr lang="zh-CN" altLang="en-US" sz="1982" b="1" dirty="0">
                    <a:highlight>
                      <a:srgbClr val="FFFF00"/>
                    </a:highlight>
                    <a:latin typeface="Garamond" panose="02020404030301010803" pitchFamily="18" charset="0"/>
                    <a:ea typeface="楷体" panose="02010609060101010101" pitchFamily="49" charset="-122"/>
                  </a:rPr>
                  <a:t>曲线右移的情况？（产出增加，价格水平上升，失业率下降，越接近充分就业，</a:t>
                </a:r>
                <a:r>
                  <a:rPr lang="en" altLang="zh-CN" sz="1982" b="1" dirty="0">
                    <a:highlight>
                      <a:srgbClr val="FFFF00"/>
                    </a:highlight>
                    <a:latin typeface="Garamond" panose="02020404030301010803" pitchFamily="18" charset="0"/>
                    <a:ea typeface="楷体" panose="02010609060101010101" pitchFamily="49" charset="-122"/>
                  </a:rPr>
                  <a:t>AD </a:t>
                </a:r>
                <a:r>
                  <a:rPr lang="zh-CN" altLang="en-US" sz="1982" b="1" dirty="0">
                    <a:highlight>
                      <a:srgbClr val="FFFF00"/>
                    </a:highlight>
                    <a:latin typeface="Garamond" panose="02020404030301010803" pitchFamily="18" charset="0"/>
                    <a:ea typeface="楷体" panose="02010609060101010101" pitchFamily="49" charset="-122"/>
                  </a:rPr>
                  <a:t>扩张越容易带来通胀压力。）</a:t>
                </a:r>
              </a:p>
              <a:p>
                <a:pPr marL="0" indent="0" defTabSz="913643">
                  <a:buNone/>
                </a:pPr>
                <a:endParaRPr lang="en-US" altLang="zh-CN" sz="2180" dirty="0">
                  <a:latin typeface="Garamond" panose="02020404030301010803" pitchFamily="18" charset="0"/>
                  <a:ea typeface="楷体" panose="02010609060101010101" pitchFamily="49" charset="-122"/>
                </a:endParaRPr>
              </a:p>
              <a:p>
                <a:pPr marL="0" indent="0" defTabSz="913643">
                  <a:buNone/>
                </a:pPr>
                <a:endParaRPr lang="zh-CN" altLang="en-US" sz="2180" dirty="0">
                  <a:latin typeface="Garamond" panose="02020404030301010803" pitchFamily="18" charset="0"/>
                  <a:ea typeface="楷体" panose="02010609060101010101" pitchFamily="49" charset="-122"/>
                </a:endParaRPr>
              </a:p>
            </p:txBody>
          </p:sp>
        </mc:Choice>
        <mc:Fallback>
          <p:sp>
            <p:nvSpPr>
              <p:cNvPr id="10" name="内容占位符 2">
                <a:extLst>
                  <a:ext uri="{FF2B5EF4-FFF2-40B4-BE49-F238E27FC236}">
                    <a16:creationId xmlns:a16="http://schemas.microsoft.com/office/drawing/2014/main" id="{FCD179AD-233A-6678-F5E3-9211630326E1}"/>
                  </a:ext>
                </a:extLst>
              </p:cNvPr>
              <p:cNvSpPr txBox="1">
                <a:spLocks noRot="1" noChangeAspect="1" noMove="1" noResize="1" noEditPoints="1" noAdjustHandles="1" noChangeArrowheads="1" noChangeShapeType="1" noTextEdit="1"/>
              </p:cNvSpPr>
              <p:nvPr/>
            </p:nvSpPr>
            <p:spPr bwMode="auto">
              <a:xfrm>
                <a:off x="1528194" y="717800"/>
                <a:ext cx="5331039" cy="5654896"/>
              </a:xfrm>
              <a:prstGeom prst="rect">
                <a:avLst/>
              </a:prstGeom>
              <a:blipFill>
                <a:blip r:embed="rId3"/>
                <a:stretch>
                  <a:fillRect l="-1370" t="-1722" r="-1370"/>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6">
            <a:extLst>
              <a:ext uri="{FF2B5EF4-FFF2-40B4-BE49-F238E27FC236}">
                <a16:creationId xmlns:a16="http://schemas.microsoft.com/office/drawing/2014/main" id="{A62E8A37-9413-B3BD-2B58-7F4118140EE4}"/>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50</a:t>
            </a:fld>
            <a:endParaRPr lang="zh-CN" altLang="zh-CN" sz="1698" dirty="0">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398500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总供给曲线移动的后果</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51</a:t>
            </a:fld>
            <a:endParaRPr lang="zh-CN" altLang="en-US"/>
          </a:p>
        </p:txBody>
      </p:sp>
      <p:pic>
        <p:nvPicPr>
          <p:cNvPr id="8" name="Picture 4" descr="xf17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3230" y="1907281"/>
            <a:ext cx="3740333" cy="347147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7190798" y="5284032"/>
            <a:ext cx="2492990" cy="369204"/>
          </a:xfrm>
          <a:prstGeom prst="rect">
            <a:avLst/>
          </a:prstGeom>
        </p:spPr>
        <p:txBody>
          <a:bodyPr wrap="none">
            <a:spAutoFit/>
          </a:bodyPr>
          <a:lstStyle/>
          <a:p>
            <a:pPr algn="ctr">
              <a:spcBef>
                <a:spcPct val="50000"/>
              </a:spcBef>
            </a:pPr>
            <a:r>
              <a:rPr lang="zh-CN" altLang="en-US" sz="1799"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总供给曲线移动的后果</a:t>
            </a:r>
          </a:p>
        </p:txBody>
      </p:sp>
      <mc:AlternateContent xmlns:mc="http://schemas.openxmlformats.org/markup-compatibility/2006">
        <mc:Choice xmlns:a14="http://schemas.microsoft.com/office/drawing/2010/main" Requires="a14">
          <p:sp>
            <p:nvSpPr>
              <p:cNvPr id="10" name="内容占位符 2"/>
              <p:cNvSpPr txBox="1">
                <a:spLocks/>
              </p:cNvSpPr>
              <p:nvPr/>
            </p:nvSpPr>
            <p:spPr bwMode="auto">
              <a:xfrm>
                <a:off x="2029668" y="1181413"/>
                <a:ext cx="4502294" cy="4566498"/>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91356" tIns="45679" rIns="91356" bIns="45679"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3643">
                  <a:buNone/>
                </a:pPr>
                <a:r>
                  <a:rPr lang="zh-CN" altLang="en-US" sz="2398" dirty="0">
                    <a:latin typeface="Garamond" panose="02020404030301010803" pitchFamily="18" charset="0"/>
                    <a:ea typeface="楷体" panose="02010609060101010101" pitchFamily="49" charset="-122"/>
                  </a:rPr>
                  <a:t>   假定由于某种原因</a:t>
                </a:r>
                <a:r>
                  <a:rPr lang="en-US" altLang="zh-CN" sz="2398" dirty="0">
                    <a:latin typeface="Garamond" panose="02020404030301010803" pitchFamily="18" charset="0"/>
                    <a:ea typeface="楷体" panose="02010609060101010101" pitchFamily="49" charset="-122"/>
                  </a:rPr>
                  <a:t>(</a:t>
                </a:r>
                <a:r>
                  <a:rPr lang="zh-CN" altLang="en-US" sz="2398" dirty="0">
                    <a:latin typeface="Garamond" panose="02020404030301010803" pitchFamily="18" charset="0"/>
                    <a:ea typeface="楷体" panose="02010609060101010101" pitchFamily="49" charset="-122"/>
                  </a:rPr>
                  <a:t>如大面积粮食歉收，石油供给紧缺，原材料价格猛涨等</a:t>
                </a:r>
                <a:r>
                  <a:rPr lang="en-US" altLang="zh-CN" sz="2398" dirty="0">
                    <a:latin typeface="Garamond" panose="02020404030301010803" pitchFamily="18" charset="0"/>
                    <a:ea typeface="楷体" panose="02010609060101010101" pitchFamily="49" charset="-122"/>
                  </a:rPr>
                  <a:t>)</a:t>
                </a:r>
                <a:r>
                  <a:rPr lang="zh-CN" altLang="en-US" sz="2398" dirty="0">
                    <a:latin typeface="Garamond" panose="02020404030301010803" pitchFamily="18" charset="0"/>
                    <a:ea typeface="楷体" panose="02010609060101010101" pitchFamily="49" charset="-122"/>
                  </a:rPr>
                  <a:t>，</a:t>
                </a:r>
                <a:r>
                  <a:rPr lang="en-US" altLang="zh-CN" sz="2398" dirty="0">
                    <a:latin typeface="Garamond" panose="02020404030301010803" pitchFamily="18" charset="0"/>
                    <a:ea typeface="楷体" panose="02010609060101010101" pitchFamily="49" charset="-122"/>
                  </a:rPr>
                  <a:t>AS</a:t>
                </a:r>
                <a:r>
                  <a:rPr lang="zh-CN" altLang="en-US" sz="2398" dirty="0">
                    <a:latin typeface="Garamond" panose="02020404030301010803" pitchFamily="18" charset="0"/>
                    <a:ea typeface="楷体" panose="02010609060101010101" pitchFamily="49" charset="-122"/>
                  </a:rPr>
                  <a:t>曲线左移，</a:t>
                </a:r>
                <a:r>
                  <a:rPr lang="en-US" altLang="zh-CN" sz="2398" dirty="0">
                    <a:latin typeface="Garamond" panose="02020404030301010803" pitchFamily="18" charset="0"/>
                    <a:ea typeface="楷体" panose="02010609060101010101" pitchFamily="49" charset="-122"/>
                  </a:rPr>
                  <a:t>AS</a:t>
                </a:r>
                <a:r>
                  <a:rPr lang="zh-CN" altLang="en-US" sz="2398" dirty="0">
                    <a:latin typeface="Garamond" panose="02020404030301010803" pitchFamily="18" charset="0"/>
                    <a:ea typeface="楷体" panose="02010609060101010101" pitchFamily="49" charset="-122"/>
                  </a:rPr>
                  <a:t>和</a:t>
                </a:r>
                <a:r>
                  <a:rPr lang="en-US" altLang="zh-CN" sz="2398" dirty="0">
                    <a:latin typeface="Garamond" panose="02020404030301010803" pitchFamily="18" charset="0"/>
                    <a:ea typeface="楷体" panose="02010609060101010101" pitchFamily="49" charset="-122"/>
                  </a:rPr>
                  <a:t>AD</a:t>
                </a:r>
                <a:r>
                  <a:rPr lang="zh-CN" altLang="en-US" sz="2398" dirty="0">
                    <a:latin typeface="Garamond" panose="02020404030301010803" pitchFamily="18" charset="0"/>
                    <a:ea typeface="楷体" panose="02010609060101010101" pitchFamily="49" charset="-122"/>
                  </a:rPr>
                  <a:t>相交于</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𝐸</m:t>
                        </m:r>
                      </m:e>
                      <m:sub>
                        <m:r>
                          <a:rPr lang="en-US" altLang="zh-CN" sz="2398" i="1">
                            <a:latin typeface="Cambria Math" panose="02040503050406030204" pitchFamily="18" charset="0"/>
                          </a:rPr>
                          <m:t>1</m:t>
                        </m:r>
                      </m:sub>
                    </m:sSub>
                  </m:oMath>
                </a14:m>
                <a:r>
                  <a:rPr lang="zh-CN" altLang="en-US" sz="2398" dirty="0">
                    <a:latin typeface="Garamond" panose="02020404030301010803" pitchFamily="18" charset="0"/>
                    <a:ea typeface="楷体" panose="02010609060101010101" pitchFamily="49" charset="-122"/>
                  </a:rPr>
                  <a:t>。</a:t>
                </a:r>
                <a:endParaRPr lang="en-US" altLang="zh-CN" sz="2398" dirty="0">
                  <a:latin typeface="Garamond" panose="02020404030301010803" pitchFamily="18" charset="0"/>
                  <a:ea typeface="楷体" panose="02010609060101010101" pitchFamily="49" charset="-122"/>
                </a:endParaRPr>
              </a:p>
              <a:p>
                <a:pPr marL="0" indent="0" defTabSz="913643">
                  <a:buNone/>
                </a:pPr>
                <a:r>
                  <a:rPr lang="en-US" altLang="zh-CN" sz="2398" dirty="0">
                    <a:latin typeface="Garamond" panose="02020404030301010803" pitchFamily="18" charset="0"/>
                    <a:ea typeface="楷体" panose="02010609060101010101" pitchFamily="49" charset="-122"/>
                  </a:rPr>
                  <a:t>  </a:t>
                </a:r>
                <a14:m>
                  <m:oMath xmlns:m="http://schemas.openxmlformats.org/officeDocument/2006/math">
                    <m:sSub>
                      <m:sSubPr>
                        <m:ctrlPr>
                          <a:rPr lang="en-US" altLang="zh-CN" sz="2398" i="1">
                            <a:latin typeface="Cambria Math" panose="02040503050406030204" pitchFamily="18" charset="0"/>
                          </a:rPr>
                        </m:ctrlPr>
                      </m:sSubPr>
                      <m:e>
                        <m:r>
                          <a:rPr lang="en-US" altLang="zh-CN" sz="2398" i="1">
                            <a:latin typeface="Cambria Math" panose="02040503050406030204" pitchFamily="18" charset="0"/>
                          </a:rPr>
                          <m:t>𝐸</m:t>
                        </m:r>
                      </m:e>
                      <m:sub>
                        <m:r>
                          <a:rPr lang="en-US" altLang="zh-CN" sz="2398" i="1">
                            <a:latin typeface="Cambria Math" panose="02040503050406030204" pitchFamily="18" charset="0"/>
                          </a:rPr>
                          <m:t>1</m:t>
                        </m:r>
                      </m:sub>
                    </m:sSub>
                  </m:oMath>
                </a14:m>
                <a:r>
                  <a:rPr lang="zh-CN" altLang="en-US" sz="2398" dirty="0">
                    <a:latin typeface="Garamond" panose="02020404030301010803" pitchFamily="18" charset="0"/>
                    <a:ea typeface="楷体" panose="02010609060101010101" pitchFamily="49" charset="-122"/>
                  </a:rPr>
                  <a:t>表明经济社会处于滞胀状态，其产量和价格分别是</a:t>
                </a:r>
                <a14:m>
                  <m:oMath xmlns:m="http://schemas.openxmlformats.org/officeDocument/2006/math">
                    <m:sSub>
                      <m:sSubPr>
                        <m:ctrlPr>
                          <a:rPr lang="en-US" altLang="zh-CN" sz="2398" i="1">
                            <a:latin typeface="Cambria Math" panose="02040503050406030204" pitchFamily="18" charset="0"/>
                            <a:ea typeface="楷体" panose="02010609060101010101" pitchFamily="49" charset="-122"/>
                          </a:rPr>
                        </m:ctrlPr>
                      </m:sSubPr>
                      <m:e>
                        <m:r>
                          <a:rPr lang="en-US" altLang="zh-CN" sz="2398" i="1">
                            <a:latin typeface="Cambria Math" panose="02040503050406030204" pitchFamily="18" charset="0"/>
                            <a:ea typeface="楷体" panose="02010609060101010101" pitchFamily="49" charset="-122"/>
                          </a:rPr>
                          <m:t>𝑦</m:t>
                        </m:r>
                      </m:e>
                      <m:sub>
                        <m:r>
                          <a:rPr lang="en-US" altLang="zh-CN" sz="2398" i="1">
                            <a:latin typeface="Cambria Math" panose="02040503050406030204" pitchFamily="18" charset="0"/>
                            <a:ea typeface="楷体" panose="02010609060101010101" pitchFamily="49" charset="-122"/>
                          </a:rPr>
                          <m:t>1</m:t>
                        </m:r>
                      </m:sub>
                    </m:sSub>
                    <m:r>
                      <a:rPr lang="zh-CN" altLang="en-US" sz="2398" i="1">
                        <a:latin typeface="Cambria Math" panose="02040503050406030204" pitchFamily="18" charset="0"/>
                        <a:ea typeface="楷体" panose="02010609060101010101" pitchFamily="49" charset="-122"/>
                      </a:rPr>
                      <m:t>和</m:t>
                    </m:r>
                    <m:sSub>
                      <m:sSubPr>
                        <m:ctrlPr>
                          <a:rPr lang="en-US" altLang="zh-CN" sz="2398" i="1">
                            <a:latin typeface="Cambria Math" panose="02040503050406030204" pitchFamily="18" charset="0"/>
                            <a:ea typeface="楷体" panose="02010609060101010101" pitchFamily="49" charset="-122"/>
                          </a:rPr>
                        </m:ctrlPr>
                      </m:sSubPr>
                      <m:e>
                        <m:r>
                          <a:rPr lang="en-US" altLang="zh-CN" sz="2398" i="1">
                            <a:latin typeface="Cambria Math" panose="02040503050406030204" pitchFamily="18" charset="0"/>
                            <a:ea typeface="楷体" panose="02010609060101010101" pitchFamily="49" charset="-122"/>
                          </a:rPr>
                          <m:t>𝑃</m:t>
                        </m:r>
                      </m:e>
                      <m:sub>
                        <m:r>
                          <a:rPr lang="en-US" altLang="zh-CN" sz="2398" i="1">
                            <a:latin typeface="Cambria Math" panose="02040503050406030204" pitchFamily="18" charset="0"/>
                            <a:ea typeface="楷体" panose="02010609060101010101" pitchFamily="49" charset="-122"/>
                          </a:rPr>
                          <m:t>1</m:t>
                        </m:r>
                      </m:sub>
                    </m:sSub>
                  </m:oMath>
                </a14:m>
                <a:r>
                  <a:rPr lang="zh-CN" altLang="en-US" sz="2398" dirty="0">
                    <a:latin typeface="Garamond" panose="02020404030301010803" pitchFamily="18" charset="0"/>
                    <a:ea typeface="楷体" panose="02010609060101010101" pitchFamily="49" charset="-122"/>
                  </a:rPr>
                  <a:t>，表明失业和通货膨胀的并存。</a:t>
                </a:r>
                <a:endParaRPr lang="en-US" altLang="zh-CN" sz="2398" dirty="0">
                  <a:latin typeface="Garamond" panose="02020404030301010803" pitchFamily="18" charset="0"/>
                  <a:ea typeface="楷体" panose="02010609060101010101" pitchFamily="49" charset="-122"/>
                </a:endParaRPr>
              </a:p>
              <a:p>
                <a:pPr marL="0" indent="0" defTabSz="913643">
                  <a:buNone/>
                </a:pPr>
                <a:r>
                  <a:rPr lang="en-US" altLang="zh-CN" sz="2398" dirty="0">
                    <a:latin typeface="Garamond" panose="02020404030301010803" pitchFamily="18" charset="0"/>
                    <a:ea typeface="楷体" panose="02010609060101010101" pitchFamily="49" charset="-122"/>
                  </a:rPr>
                  <a:t>   AS </a:t>
                </a:r>
                <a:r>
                  <a:rPr lang="zh-CN" altLang="en-US" sz="2398" dirty="0">
                    <a:latin typeface="Garamond" panose="02020404030301010803" pitchFamily="18" charset="0"/>
                    <a:ea typeface="楷体" panose="02010609060101010101" pitchFamily="49" charset="-122"/>
                  </a:rPr>
                  <a:t>左移幅度越大，产出下降越明显，物价上涨压力也越大。</a:t>
                </a:r>
                <a:endParaRPr lang="en-US" altLang="zh-CN" sz="2398" b="1" dirty="0">
                  <a:highlight>
                    <a:srgbClr val="FFFF00"/>
                  </a:highlight>
                  <a:latin typeface="Garamond" panose="02020404030301010803" pitchFamily="18" charset="0"/>
                  <a:ea typeface="楷体" panose="02010609060101010101" pitchFamily="49" charset="-122"/>
                </a:endParaRPr>
              </a:p>
              <a:p>
                <a:pPr marL="0" indent="0" defTabSz="913643">
                  <a:buNone/>
                </a:pPr>
                <a:r>
                  <a:rPr lang="zh-CN" altLang="en-US" sz="2398" b="1" dirty="0">
                    <a:highlight>
                      <a:srgbClr val="FFFF00"/>
                    </a:highlight>
                    <a:latin typeface="Garamond" panose="02020404030301010803" pitchFamily="18" charset="0"/>
                    <a:ea typeface="楷体" panose="02010609060101010101" pitchFamily="49" charset="-122"/>
                  </a:rPr>
                  <a:t>思考：如何解释</a:t>
                </a:r>
                <a:r>
                  <a:rPr lang="en-US" altLang="zh-CN" sz="2398" b="1" dirty="0">
                    <a:highlight>
                      <a:srgbClr val="FFFF00"/>
                    </a:highlight>
                    <a:latin typeface="Garamond" panose="02020404030301010803" pitchFamily="18" charset="0"/>
                    <a:ea typeface="楷体" panose="02010609060101010101" pitchFamily="49" charset="-122"/>
                  </a:rPr>
                  <a:t>AS</a:t>
                </a:r>
                <a:r>
                  <a:rPr lang="zh-CN" altLang="en-US" sz="2398" b="1" dirty="0">
                    <a:highlight>
                      <a:srgbClr val="FFFF00"/>
                    </a:highlight>
                    <a:latin typeface="Garamond" panose="02020404030301010803" pitchFamily="18" charset="0"/>
                    <a:ea typeface="楷体" panose="02010609060101010101" pitchFamily="49" charset="-122"/>
                  </a:rPr>
                  <a:t>曲线右移的情况？（产出增加、价格下降）</a:t>
                </a:r>
                <a:endParaRPr lang="en-US" altLang="zh-CN" sz="2398" b="1" dirty="0">
                  <a:highlight>
                    <a:srgbClr val="FFFF00"/>
                  </a:highlight>
                  <a:latin typeface="Garamond" panose="02020404030301010803" pitchFamily="18" charset="0"/>
                  <a:ea typeface="楷体" panose="02010609060101010101" pitchFamily="49" charset="-122"/>
                </a:endParaRPr>
              </a:p>
              <a:p>
                <a:pPr marL="0" indent="0" defTabSz="913643">
                  <a:buNone/>
                </a:pPr>
                <a:endParaRPr lang="en-US" altLang="zh-CN" sz="2398" dirty="0">
                  <a:latin typeface="Garamond" panose="02020404030301010803" pitchFamily="18" charset="0"/>
                  <a:ea typeface="楷体" panose="02010609060101010101" pitchFamily="49" charset="-122"/>
                </a:endParaRPr>
              </a:p>
            </p:txBody>
          </p:sp>
        </mc:Choice>
        <mc:Fallback>
          <p:sp>
            <p:nvSpPr>
              <p:cNvPr id="10" name="内容占位符 2"/>
              <p:cNvSpPr txBox="1">
                <a:spLocks noRot="1" noChangeAspect="1" noMove="1" noResize="1" noEditPoints="1" noAdjustHandles="1" noChangeArrowheads="1" noChangeShapeType="1" noTextEdit="1"/>
              </p:cNvSpPr>
              <p:nvPr/>
            </p:nvSpPr>
            <p:spPr bwMode="auto">
              <a:xfrm>
                <a:off x="2029668" y="1181413"/>
                <a:ext cx="4502294" cy="4566498"/>
              </a:xfrm>
              <a:prstGeom prst="rect">
                <a:avLst/>
              </a:prstGeom>
              <a:blipFill>
                <a:blip r:embed="rId3"/>
                <a:stretch>
                  <a:fillRect l="-2024" t="-2397" r="-1754"/>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6">
            <a:extLst>
              <a:ext uri="{FF2B5EF4-FFF2-40B4-BE49-F238E27FC236}">
                <a16:creationId xmlns:a16="http://schemas.microsoft.com/office/drawing/2014/main" id="{11F96D00-1A49-52EF-4758-2DD12B3D156E}"/>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51</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7" name="日期占位符 3">
            <a:extLst>
              <a:ext uri="{FF2B5EF4-FFF2-40B4-BE49-F238E27FC236}">
                <a16:creationId xmlns:a16="http://schemas.microsoft.com/office/drawing/2014/main" id="{F9CDD2DB-888F-FBFA-11B7-747F4B364935}"/>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dirty="0"/>
              <a:t>AS-AD</a:t>
            </a:r>
            <a:r>
              <a:rPr lang="zh-CN" altLang="en-US" sz="1784" dirty="0"/>
              <a:t>模型</a:t>
            </a:r>
          </a:p>
        </p:txBody>
      </p:sp>
    </p:spTree>
    <p:extLst>
      <p:ext uri="{BB962C8B-B14F-4D97-AF65-F5344CB8AC3E}">
        <p14:creationId xmlns:p14="http://schemas.microsoft.com/office/powerpoint/2010/main" val="2439171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SimSun" panose="02010600030101010101" pitchFamily="2" charset="-122"/>
                <a:ea typeface="SimSun" panose="02010600030101010101" pitchFamily="2" charset="-122"/>
              </a:rPr>
              <a:t>AS-AD</a:t>
            </a:r>
            <a:r>
              <a:rPr lang="zh-CN" altLang="en-US" dirty="0">
                <a:latin typeface="SimSun" panose="02010600030101010101" pitchFamily="2" charset="-122"/>
                <a:ea typeface="SimSun" panose="02010600030101010101" pitchFamily="2" charset="-122"/>
              </a:rPr>
              <a:t>模型的政策含义</a:t>
            </a:r>
          </a:p>
        </p:txBody>
      </p:sp>
      <p:sp>
        <p:nvSpPr>
          <p:cNvPr id="6" name="灯片编号占位符 5"/>
          <p:cNvSpPr>
            <a:spLocks noGrp="1"/>
          </p:cNvSpPr>
          <p:nvPr>
            <p:ph type="sldNum" sz="quarter" idx="12"/>
          </p:nvPr>
        </p:nvSpPr>
        <p:spPr>
          <a:xfrm>
            <a:off x="15853794" y="12596070"/>
            <a:ext cx="4077050" cy="723550"/>
          </a:xfrm>
          <a:prstGeom prst="rect">
            <a:avLst/>
          </a:prstGeom>
        </p:spPr>
        <p:txBody>
          <a:bodyPr vert="horz" lIns="181202" tIns="90601" rIns="181202" bIns="90601" rtlCol="0" anchor="ctr"/>
          <a:lstStyle>
            <a:defPPr>
              <a:defRPr lang="en-US"/>
            </a:defPPr>
            <a:lvl1pPr algn="r" defTabSz="906033" rtl="0" eaLnBrk="1" fontAlgn="auto" hangingPunct="1">
              <a:spcBef>
                <a:spcPts val="0"/>
              </a:spcBef>
              <a:spcAft>
                <a:spcPts val="0"/>
              </a:spcAft>
              <a:defRPr sz="2378"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906033" algn="l" defTabSz="906033" rtl="0" eaLnBrk="0" fontAlgn="base" hangingPunct="0">
              <a:spcBef>
                <a:spcPct val="0"/>
              </a:spcBef>
              <a:spcAft>
                <a:spcPct val="0"/>
              </a:spcAft>
              <a:defRPr kern="1200">
                <a:solidFill>
                  <a:schemeClr val="dk1"/>
                </a:solidFill>
                <a:latin typeface="+mn-lt"/>
                <a:ea typeface="+mn-ea"/>
                <a:cs typeface="+mn-cs"/>
              </a:defRPr>
            </a:lvl2pPr>
            <a:lvl3pPr marL="1812066" algn="l" defTabSz="906033" rtl="0" eaLnBrk="0" fontAlgn="base" hangingPunct="0">
              <a:spcBef>
                <a:spcPct val="0"/>
              </a:spcBef>
              <a:spcAft>
                <a:spcPct val="0"/>
              </a:spcAft>
              <a:defRPr kern="1200">
                <a:solidFill>
                  <a:schemeClr val="dk1"/>
                </a:solidFill>
                <a:latin typeface="+mn-lt"/>
                <a:ea typeface="+mn-ea"/>
                <a:cs typeface="+mn-cs"/>
              </a:defRPr>
            </a:lvl3pPr>
            <a:lvl4pPr marL="2718100" algn="l" defTabSz="906033" rtl="0" eaLnBrk="0" fontAlgn="base" hangingPunct="0">
              <a:spcBef>
                <a:spcPct val="0"/>
              </a:spcBef>
              <a:spcAft>
                <a:spcPct val="0"/>
              </a:spcAft>
              <a:defRPr kern="1200">
                <a:solidFill>
                  <a:schemeClr val="dk1"/>
                </a:solidFill>
                <a:latin typeface="+mn-lt"/>
                <a:ea typeface="+mn-ea"/>
                <a:cs typeface="+mn-cs"/>
              </a:defRPr>
            </a:lvl4pPr>
            <a:lvl5pPr marL="3624133" algn="l" defTabSz="906033" rtl="0" eaLnBrk="0" fontAlgn="base" hangingPunct="0">
              <a:spcBef>
                <a:spcPct val="0"/>
              </a:spcBef>
              <a:spcAft>
                <a:spcPct val="0"/>
              </a:spcAft>
              <a:defRPr kern="1200">
                <a:solidFill>
                  <a:schemeClr val="dk1"/>
                </a:solidFill>
                <a:latin typeface="+mn-lt"/>
                <a:ea typeface="+mn-ea"/>
                <a:cs typeface="+mn-cs"/>
              </a:defRPr>
            </a:lvl5pPr>
            <a:lvl6pPr marL="4530166" algn="l" defTabSz="1812066" rtl="0" eaLnBrk="1" latinLnBrk="0" hangingPunct="1">
              <a:defRPr kern="1200">
                <a:solidFill>
                  <a:schemeClr val="dk1"/>
                </a:solidFill>
                <a:latin typeface="+mn-lt"/>
                <a:ea typeface="+mn-ea"/>
                <a:cs typeface="+mn-cs"/>
              </a:defRPr>
            </a:lvl6pPr>
            <a:lvl7pPr marL="5436199" algn="l" defTabSz="1812066" rtl="0" eaLnBrk="1" latinLnBrk="0" hangingPunct="1">
              <a:defRPr kern="1200">
                <a:solidFill>
                  <a:schemeClr val="dk1"/>
                </a:solidFill>
                <a:latin typeface="+mn-lt"/>
                <a:ea typeface="+mn-ea"/>
                <a:cs typeface="+mn-cs"/>
              </a:defRPr>
            </a:lvl7pPr>
            <a:lvl8pPr marL="6342233" algn="l" defTabSz="1812066" rtl="0" eaLnBrk="1" latinLnBrk="0" hangingPunct="1">
              <a:defRPr kern="1200">
                <a:solidFill>
                  <a:schemeClr val="dk1"/>
                </a:solidFill>
                <a:latin typeface="+mn-lt"/>
                <a:ea typeface="+mn-ea"/>
                <a:cs typeface="+mn-cs"/>
              </a:defRPr>
            </a:lvl8pPr>
            <a:lvl9pPr marL="7248266" algn="l" defTabSz="1812066"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52</a:t>
            </a:fld>
            <a:endParaRPr lang="zh-CN" altLang="en-US"/>
          </a:p>
        </p:txBody>
      </p:sp>
      <p:sp>
        <p:nvSpPr>
          <p:cNvPr id="3" name="内容占位符 2"/>
          <p:cNvSpPr>
            <a:spLocks noGrp="1"/>
          </p:cNvSpPr>
          <p:nvPr>
            <p:ph idx="1"/>
          </p:nvPr>
        </p:nvSpPr>
        <p:spPr>
          <a:xfrm>
            <a:off x="2104810" y="1128051"/>
            <a:ext cx="7879464" cy="4347347"/>
          </a:xfrm>
        </p:spPr>
        <p:txBody>
          <a:bodyPr/>
          <a:lstStyle/>
          <a:p>
            <a:r>
              <a:rPr lang="zh-CN" altLang="en-US" dirty="0"/>
              <a:t>当经济遭受衰退时，政府如何运用移动总需求曲线的财政货币政策稳定经济。</a:t>
            </a:r>
          </a:p>
        </p:txBody>
      </p:sp>
      <p:grpSp>
        <p:nvGrpSpPr>
          <p:cNvPr id="37" name="组合 36"/>
          <p:cNvGrpSpPr/>
          <p:nvPr/>
        </p:nvGrpSpPr>
        <p:grpSpPr>
          <a:xfrm>
            <a:off x="6699844" y="2267999"/>
            <a:ext cx="3574847" cy="3208948"/>
            <a:chOff x="5228307" y="2684721"/>
            <a:chExt cx="3578130" cy="3211894"/>
          </a:xfrm>
        </p:grpSpPr>
        <p:cxnSp>
          <p:nvCxnSpPr>
            <p:cNvPr id="9" name="直接箭头连接符 8"/>
            <p:cNvCxnSpPr/>
            <p:nvPr/>
          </p:nvCxnSpPr>
          <p:spPr>
            <a:xfrm>
              <a:off x="5597002" y="5591503"/>
              <a:ext cx="29396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flipV="1">
              <a:off x="5597091" y="2748013"/>
              <a:ext cx="0" cy="2849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任意多边形: 形状 12"/>
            <p:cNvSpPr/>
            <p:nvPr/>
          </p:nvSpPr>
          <p:spPr>
            <a:xfrm>
              <a:off x="6094394" y="3079675"/>
              <a:ext cx="2141621" cy="1843238"/>
            </a:xfrm>
            <a:custGeom>
              <a:avLst/>
              <a:gdLst>
                <a:gd name="connsiteX0" fmla="*/ 0 w 2141621"/>
                <a:gd name="connsiteY0" fmla="*/ 0 h 1843238"/>
                <a:gd name="connsiteX1" fmla="*/ 842210 w 2141621"/>
                <a:gd name="connsiteY1" fmla="*/ 1078030 h 1843238"/>
                <a:gd name="connsiteX2" fmla="*/ 2141621 w 2141621"/>
                <a:gd name="connsiteY2" fmla="*/ 1843238 h 1843238"/>
              </a:gdLst>
              <a:ahLst/>
              <a:cxnLst>
                <a:cxn ang="0">
                  <a:pos x="connsiteX0" y="connsiteY0"/>
                </a:cxn>
                <a:cxn ang="0">
                  <a:pos x="connsiteX1" y="connsiteY1"/>
                </a:cxn>
                <a:cxn ang="0">
                  <a:pos x="connsiteX2" y="connsiteY2"/>
                </a:cxn>
              </a:cxnLst>
              <a:rect l="l" t="t" r="r" b="b"/>
              <a:pathLst>
                <a:path w="2141621" h="1843238">
                  <a:moveTo>
                    <a:pt x="0" y="0"/>
                  </a:moveTo>
                  <a:cubicBezTo>
                    <a:pt x="242636" y="385412"/>
                    <a:pt x="485273" y="770824"/>
                    <a:pt x="842210" y="1078030"/>
                  </a:cubicBezTo>
                  <a:cubicBezTo>
                    <a:pt x="1199147" y="1385236"/>
                    <a:pt x="1670384" y="1614237"/>
                    <a:pt x="2141621" y="1843238"/>
                  </a:cubicBez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799"/>
            </a:p>
          </p:txBody>
        </p:sp>
        <p:sp>
          <p:nvSpPr>
            <p:cNvPr id="14" name="任意多边形: 形状 13"/>
            <p:cNvSpPr/>
            <p:nvPr/>
          </p:nvSpPr>
          <p:spPr>
            <a:xfrm>
              <a:off x="5845743" y="3568878"/>
              <a:ext cx="2141621" cy="1843238"/>
            </a:xfrm>
            <a:custGeom>
              <a:avLst/>
              <a:gdLst>
                <a:gd name="connsiteX0" fmla="*/ 0 w 2141621"/>
                <a:gd name="connsiteY0" fmla="*/ 0 h 1843238"/>
                <a:gd name="connsiteX1" fmla="*/ 842210 w 2141621"/>
                <a:gd name="connsiteY1" fmla="*/ 1078030 h 1843238"/>
                <a:gd name="connsiteX2" fmla="*/ 2141621 w 2141621"/>
                <a:gd name="connsiteY2" fmla="*/ 1843238 h 1843238"/>
              </a:gdLst>
              <a:ahLst/>
              <a:cxnLst>
                <a:cxn ang="0">
                  <a:pos x="connsiteX0" y="connsiteY0"/>
                </a:cxn>
                <a:cxn ang="0">
                  <a:pos x="connsiteX1" y="connsiteY1"/>
                </a:cxn>
                <a:cxn ang="0">
                  <a:pos x="connsiteX2" y="connsiteY2"/>
                </a:cxn>
              </a:cxnLst>
              <a:rect l="l" t="t" r="r" b="b"/>
              <a:pathLst>
                <a:path w="2141621" h="1843238">
                  <a:moveTo>
                    <a:pt x="0" y="0"/>
                  </a:moveTo>
                  <a:cubicBezTo>
                    <a:pt x="242636" y="385412"/>
                    <a:pt x="485273" y="770824"/>
                    <a:pt x="842210" y="1078030"/>
                  </a:cubicBezTo>
                  <a:cubicBezTo>
                    <a:pt x="1199147" y="1385236"/>
                    <a:pt x="1670384" y="1614237"/>
                    <a:pt x="2141621" y="1843238"/>
                  </a:cubicBez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799"/>
            </a:p>
          </p:txBody>
        </p:sp>
        <p:sp>
          <p:nvSpPr>
            <p:cNvPr id="15" name="任意多边形: 形状 14"/>
            <p:cNvSpPr/>
            <p:nvPr/>
          </p:nvSpPr>
          <p:spPr>
            <a:xfrm>
              <a:off x="5900286" y="3469907"/>
              <a:ext cx="2286000" cy="1694047"/>
            </a:xfrm>
            <a:custGeom>
              <a:avLst/>
              <a:gdLst>
                <a:gd name="connsiteX0" fmla="*/ 0 w 2286000"/>
                <a:gd name="connsiteY0" fmla="*/ 1694047 h 1694047"/>
                <a:gd name="connsiteX1" fmla="*/ 1309036 w 2286000"/>
                <a:gd name="connsiteY1" fmla="*/ 1188720 h 1694047"/>
                <a:gd name="connsiteX2" fmla="*/ 2286000 w 2286000"/>
                <a:gd name="connsiteY2" fmla="*/ 0 h 1694047"/>
                <a:gd name="connsiteX3" fmla="*/ 2286000 w 2286000"/>
                <a:gd name="connsiteY3" fmla="*/ 0 h 1694047"/>
                <a:gd name="connsiteX4" fmla="*/ 2286000 w 2286000"/>
                <a:gd name="connsiteY4" fmla="*/ 0 h 1694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0" h="1694047">
                  <a:moveTo>
                    <a:pt x="0" y="1694047"/>
                  </a:moveTo>
                  <a:cubicBezTo>
                    <a:pt x="464018" y="1582554"/>
                    <a:pt x="928036" y="1471061"/>
                    <a:pt x="1309036" y="1188720"/>
                  </a:cubicBezTo>
                  <a:cubicBezTo>
                    <a:pt x="1690036" y="906379"/>
                    <a:pt x="2286000" y="0"/>
                    <a:pt x="2286000" y="0"/>
                  </a:cubicBezTo>
                  <a:lnTo>
                    <a:pt x="2286000" y="0"/>
                  </a:lnTo>
                  <a:lnTo>
                    <a:pt x="2286000" y="0"/>
                  </a:ln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799"/>
            </a:p>
          </p:txBody>
        </p:sp>
        <p:sp>
          <p:nvSpPr>
            <p:cNvPr id="16" name="椭圆 15"/>
            <p:cNvSpPr/>
            <p:nvPr/>
          </p:nvSpPr>
          <p:spPr>
            <a:xfrm flipV="1">
              <a:off x="7373680" y="4462321"/>
              <a:ext cx="53162"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799"/>
            </a:p>
          </p:txBody>
        </p:sp>
        <p:sp>
          <p:nvSpPr>
            <p:cNvPr id="17" name="椭圆 16"/>
            <p:cNvSpPr/>
            <p:nvPr/>
          </p:nvSpPr>
          <p:spPr>
            <a:xfrm flipV="1">
              <a:off x="6911237" y="4806271"/>
              <a:ext cx="53162"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799"/>
            </a:p>
          </p:txBody>
        </p:sp>
        <p:cxnSp>
          <p:nvCxnSpPr>
            <p:cNvPr id="19" name="直接连接符 18"/>
            <p:cNvCxnSpPr>
              <a:stCxn id="17" idx="4"/>
            </p:cNvCxnSpPr>
            <p:nvPr/>
          </p:nvCxnSpPr>
          <p:spPr>
            <a:xfrm>
              <a:off x="6937818" y="4806271"/>
              <a:ext cx="0" cy="78523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1" name="直接连接符 20"/>
            <p:cNvCxnSpPr>
              <a:stCxn id="17" idx="2"/>
            </p:cNvCxnSpPr>
            <p:nvPr/>
          </p:nvCxnSpPr>
          <p:spPr>
            <a:xfrm flipH="1">
              <a:off x="5597091" y="4829130"/>
              <a:ext cx="131414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a:cxnSpLocks/>
            </p:cNvCxnSpPr>
            <p:nvPr/>
          </p:nvCxnSpPr>
          <p:spPr>
            <a:xfrm>
              <a:off x="7416210" y="4485180"/>
              <a:ext cx="0" cy="1106323"/>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8" name="文本框 27"/>
                <p:cNvSpPr txBox="1"/>
                <p:nvPr/>
              </p:nvSpPr>
              <p:spPr>
                <a:xfrm>
                  <a:off x="8223860" y="3192908"/>
                  <a:ext cx="302283" cy="277125"/>
                </a:xfrm>
                <a:prstGeom prst="rect">
                  <a:avLst/>
                </a:prstGeom>
                <a:noFill/>
              </p:spPr>
              <p:txBody>
                <a:bodyPr wrap="none" lIns="0" tIns="0" rIns="0" bIns="0" rtlCol="0">
                  <a:spAutoFit/>
                </a:bodyPr>
                <a:lstStyle/>
                <a:p>
                  <a14:m>
                    <m:oMath xmlns:m="http://schemas.openxmlformats.org/officeDocument/2006/math">
                      <m:r>
                        <a:rPr lang="en-US" altLang="zh-CN" sz="1799" i="1">
                          <a:latin typeface="Cambria Math" panose="02040503050406030204" pitchFamily="18" charset="0"/>
                        </a:rPr>
                        <m:t>𝐴</m:t>
                      </m:r>
                    </m:oMath>
                  </a14:m>
                  <a:r>
                    <a:rPr lang="en-US" altLang="zh-CN" sz="1799" dirty="0"/>
                    <a:t>S</a:t>
                  </a:r>
                  <a:endParaRPr lang="zh-CN" altLang="en-US" sz="1799" dirty="0"/>
                </a:p>
              </p:txBody>
            </p:sp>
          </mc:Choice>
          <mc:Fallback>
            <p:sp>
              <p:nvSpPr>
                <p:cNvPr id="28" name="文本框 27"/>
                <p:cNvSpPr txBox="1">
                  <a:spLocks noRot="1" noChangeAspect="1" noMove="1" noResize="1" noEditPoints="1" noAdjustHandles="1" noChangeArrowheads="1" noChangeShapeType="1" noTextEdit="1"/>
                </p:cNvSpPr>
                <p:nvPr/>
              </p:nvSpPr>
              <p:spPr>
                <a:xfrm>
                  <a:off x="8223860" y="3192908"/>
                  <a:ext cx="302283" cy="277125"/>
                </a:xfrm>
                <a:prstGeom prst="rect">
                  <a:avLst/>
                </a:prstGeom>
                <a:blipFill>
                  <a:blip r:embed="rId2"/>
                  <a:stretch>
                    <a:fillRect l="-26000" t="-21739" r="-44000" b="-478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8344990" y="4784414"/>
                  <a:ext cx="461447" cy="277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799" i="1">
                            <a:latin typeface="Cambria Math" panose="02040503050406030204" pitchFamily="18" charset="0"/>
                          </a:rPr>
                          <m:t>𝐴</m:t>
                        </m:r>
                        <m:sSub>
                          <m:sSubPr>
                            <m:ctrlPr>
                              <a:rPr lang="en-US" altLang="zh-CN" sz="1799" i="1">
                                <a:latin typeface="Cambria Math" panose="02040503050406030204" pitchFamily="18" charset="0"/>
                              </a:rPr>
                            </m:ctrlPr>
                          </m:sSubPr>
                          <m:e>
                            <m:r>
                              <a:rPr lang="en-US" altLang="zh-CN" sz="1799" i="1">
                                <a:latin typeface="Cambria Math" panose="02040503050406030204" pitchFamily="18" charset="0"/>
                              </a:rPr>
                              <m:t>𝐷</m:t>
                            </m:r>
                          </m:e>
                          <m:sub>
                            <m:r>
                              <a:rPr lang="en-US" altLang="zh-CN" sz="1799" i="1">
                                <a:latin typeface="Cambria Math" panose="02040503050406030204" pitchFamily="18" charset="0"/>
                              </a:rPr>
                              <m:t>1</m:t>
                            </m:r>
                          </m:sub>
                        </m:sSub>
                      </m:oMath>
                    </m:oMathPara>
                  </a14:m>
                  <a:endParaRPr lang="zh-CN" altLang="en-US" sz="1799" dirty="0"/>
                </a:p>
              </p:txBody>
            </p:sp>
          </mc:Choice>
          <mc:Fallback>
            <p:sp>
              <p:nvSpPr>
                <p:cNvPr id="29" name="文本框 28"/>
                <p:cNvSpPr txBox="1">
                  <a:spLocks noRot="1" noChangeAspect="1" noMove="1" noResize="1" noEditPoints="1" noAdjustHandles="1" noChangeArrowheads="1" noChangeShapeType="1" noTextEdit="1"/>
                </p:cNvSpPr>
                <p:nvPr/>
              </p:nvSpPr>
              <p:spPr>
                <a:xfrm>
                  <a:off x="8344990" y="4784414"/>
                  <a:ext cx="461447" cy="277125"/>
                </a:xfrm>
                <a:prstGeom prst="rect">
                  <a:avLst/>
                </a:prstGeom>
                <a:blipFill>
                  <a:blip r:embed="rId3"/>
                  <a:stretch>
                    <a:fillRect l="-9333" r="-4000" b="-152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8025501" y="5265699"/>
                  <a:ext cx="466774" cy="277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799" i="1">
                            <a:latin typeface="Cambria Math" panose="02040503050406030204" pitchFamily="18" charset="0"/>
                          </a:rPr>
                          <m:t>𝐴</m:t>
                        </m:r>
                        <m:sSub>
                          <m:sSubPr>
                            <m:ctrlPr>
                              <a:rPr lang="en-US" altLang="zh-CN" sz="1799" i="1">
                                <a:latin typeface="Cambria Math" panose="02040503050406030204" pitchFamily="18" charset="0"/>
                              </a:rPr>
                            </m:ctrlPr>
                          </m:sSubPr>
                          <m:e>
                            <m:r>
                              <a:rPr lang="en-US" altLang="zh-CN" sz="1799" i="1">
                                <a:latin typeface="Cambria Math" panose="02040503050406030204" pitchFamily="18" charset="0"/>
                              </a:rPr>
                              <m:t>𝐷</m:t>
                            </m:r>
                          </m:e>
                          <m:sub>
                            <m:r>
                              <a:rPr lang="en-US" altLang="zh-CN" sz="1799" i="1">
                                <a:latin typeface="Cambria Math" panose="02040503050406030204" pitchFamily="18" charset="0"/>
                              </a:rPr>
                              <m:t>0</m:t>
                            </m:r>
                          </m:sub>
                        </m:sSub>
                      </m:oMath>
                    </m:oMathPara>
                  </a14:m>
                  <a:endParaRPr lang="zh-CN" altLang="en-US" sz="1799" dirty="0"/>
                </a:p>
              </p:txBody>
            </p:sp>
          </mc:Choice>
          <mc:Fallback>
            <p:sp>
              <p:nvSpPr>
                <p:cNvPr id="30" name="文本框 29"/>
                <p:cNvSpPr txBox="1">
                  <a:spLocks noRot="1" noChangeAspect="1" noMove="1" noResize="1" noEditPoints="1" noAdjustHandles="1" noChangeArrowheads="1" noChangeShapeType="1" noTextEdit="1"/>
                </p:cNvSpPr>
                <p:nvPr/>
              </p:nvSpPr>
              <p:spPr>
                <a:xfrm>
                  <a:off x="8025501" y="5265699"/>
                  <a:ext cx="466774" cy="277125"/>
                </a:xfrm>
                <a:prstGeom prst="rect">
                  <a:avLst/>
                </a:prstGeom>
                <a:blipFill>
                  <a:blip r:embed="rId4"/>
                  <a:stretch>
                    <a:fillRect l="-10390" r="-2597" b="-177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5293896" y="2684721"/>
                  <a:ext cx="212625" cy="277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799" i="1">
                            <a:latin typeface="Cambria Math" panose="02040503050406030204" pitchFamily="18" charset="0"/>
                          </a:rPr>
                          <m:t>𝑃</m:t>
                        </m:r>
                      </m:oMath>
                    </m:oMathPara>
                  </a14:m>
                  <a:endParaRPr lang="zh-CN" altLang="en-US" sz="1799" dirty="0"/>
                </a:p>
              </p:txBody>
            </p:sp>
          </mc:Choice>
          <mc:Fallback>
            <p:sp>
              <p:nvSpPr>
                <p:cNvPr id="31" name="文本框 30"/>
                <p:cNvSpPr txBox="1">
                  <a:spLocks noRot="1" noChangeAspect="1" noMove="1" noResize="1" noEditPoints="1" noAdjustHandles="1" noChangeArrowheads="1" noChangeShapeType="1" noTextEdit="1"/>
                </p:cNvSpPr>
                <p:nvPr/>
              </p:nvSpPr>
              <p:spPr>
                <a:xfrm>
                  <a:off x="5293896" y="2684721"/>
                  <a:ext cx="212625" cy="277125"/>
                </a:xfrm>
                <a:prstGeom prst="rect">
                  <a:avLst/>
                </a:prstGeom>
                <a:blipFill>
                  <a:blip r:embed="rId5"/>
                  <a:stretch>
                    <a:fillRect l="-22857" r="-17143" b="-88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5228307" y="4645914"/>
                  <a:ext cx="289576" cy="277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799" i="1">
                                <a:latin typeface="Cambria Math" panose="02040503050406030204" pitchFamily="18" charset="0"/>
                              </a:rPr>
                            </m:ctrlPr>
                          </m:sSubPr>
                          <m:e>
                            <m:r>
                              <a:rPr lang="en-US" altLang="zh-CN" sz="1799" i="1">
                                <a:latin typeface="Cambria Math" panose="02040503050406030204" pitchFamily="18" charset="0"/>
                              </a:rPr>
                              <m:t>𝑃</m:t>
                            </m:r>
                          </m:e>
                          <m:sub>
                            <m:r>
                              <a:rPr lang="en-US" altLang="zh-CN" sz="1799" i="1">
                                <a:latin typeface="Cambria Math" panose="02040503050406030204" pitchFamily="18" charset="0"/>
                              </a:rPr>
                              <m:t>0</m:t>
                            </m:r>
                          </m:sub>
                        </m:sSub>
                      </m:oMath>
                    </m:oMathPara>
                  </a14:m>
                  <a:endParaRPr lang="zh-CN" altLang="en-US" sz="1799" dirty="0"/>
                </a:p>
              </p:txBody>
            </p:sp>
          </mc:Choice>
          <mc:Fallback>
            <p:sp>
              <p:nvSpPr>
                <p:cNvPr id="32" name="文本框 31"/>
                <p:cNvSpPr txBox="1">
                  <a:spLocks noRot="1" noChangeAspect="1" noMove="1" noResize="1" noEditPoints="1" noAdjustHandles="1" noChangeArrowheads="1" noChangeShapeType="1" noTextEdit="1"/>
                </p:cNvSpPr>
                <p:nvPr/>
              </p:nvSpPr>
              <p:spPr>
                <a:xfrm>
                  <a:off x="5228307" y="4645914"/>
                  <a:ext cx="289576" cy="277125"/>
                </a:xfrm>
                <a:prstGeom prst="rect">
                  <a:avLst/>
                </a:prstGeom>
                <a:blipFill>
                  <a:blip r:embed="rId6"/>
                  <a:stretch>
                    <a:fillRect l="-16667" r="-2083" b="-152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6798551" y="4494307"/>
                  <a:ext cx="303631" cy="277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799" i="1">
                                <a:latin typeface="Cambria Math" panose="02040503050406030204" pitchFamily="18" charset="0"/>
                              </a:rPr>
                            </m:ctrlPr>
                          </m:sSubPr>
                          <m:e>
                            <m:r>
                              <a:rPr lang="en-US" altLang="zh-CN" sz="1799" i="1">
                                <a:latin typeface="Cambria Math" panose="02040503050406030204" pitchFamily="18" charset="0"/>
                              </a:rPr>
                              <m:t>𝐸</m:t>
                            </m:r>
                          </m:e>
                          <m:sub>
                            <m:r>
                              <a:rPr lang="en-US" altLang="zh-CN" sz="1799" i="1">
                                <a:latin typeface="Cambria Math" panose="02040503050406030204" pitchFamily="18" charset="0"/>
                              </a:rPr>
                              <m:t>0</m:t>
                            </m:r>
                          </m:sub>
                        </m:sSub>
                      </m:oMath>
                    </m:oMathPara>
                  </a14:m>
                  <a:endParaRPr lang="zh-CN" altLang="en-US" sz="1799" dirty="0"/>
                </a:p>
              </p:txBody>
            </p:sp>
          </mc:Choice>
          <mc:Fallback>
            <p:sp>
              <p:nvSpPr>
                <p:cNvPr id="33" name="文本框 32"/>
                <p:cNvSpPr txBox="1">
                  <a:spLocks noRot="1" noChangeAspect="1" noMove="1" noResize="1" noEditPoints="1" noAdjustHandles="1" noChangeArrowheads="1" noChangeShapeType="1" noTextEdit="1"/>
                </p:cNvSpPr>
                <p:nvPr/>
              </p:nvSpPr>
              <p:spPr>
                <a:xfrm>
                  <a:off x="6798551" y="4494307"/>
                  <a:ext cx="303631" cy="277125"/>
                </a:xfrm>
                <a:prstGeom prst="rect">
                  <a:avLst/>
                </a:prstGeom>
                <a:blipFill>
                  <a:blip r:embed="rId7"/>
                  <a:stretch>
                    <a:fillRect l="-16000" r="-2000" b="-177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7230276" y="4075660"/>
                  <a:ext cx="298304" cy="277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799" i="1">
                                <a:latin typeface="Cambria Math" panose="02040503050406030204" pitchFamily="18" charset="0"/>
                              </a:rPr>
                            </m:ctrlPr>
                          </m:sSubPr>
                          <m:e>
                            <m:r>
                              <a:rPr lang="en-US" altLang="zh-CN" sz="1799" i="1">
                                <a:latin typeface="Cambria Math" panose="02040503050406030204" pitchFamily="18" charset="0"/>
                              </a:rPr>
                              <m:t>𝐸</m:t>
                            </m:r>
                          </m:e>
                          <m:sub>
                            <m:r>
                              <a:rPr lang="en-US" altLang="zh-CN" sz="1799" i="1">
                                <a:latin typeface="Cambria Math" panose="02040503050406030204" pitchFamily="18" charset="0"/>
                              </a:rPr>
                              <m:t>1</m:t>
                            </m:r>
                          </m:sub>
                        </m:sSub>
                      </m:oMath>
                    </m:oMathPara>
                  </a14:m>
                  <a:endParaRPr lang="zh-CN" altLang="en-US" sz="1799" dirty="0"/>
                </a:p>
              </p:txBody>
            </p:sp>
          </mc:Choice>
          <mc:Fallback>
            <p:sp>
              <p:nvSpPr>
                <p:cNvPr id="34" name="文本框 33"/>
                <p:cNvSpPr txBox="1">
                  <a:spLocks noRot="1" noChangeAspect="1" noMove="1" noResize="1" noEditPoints="1" noAdjustHandles="1" noChangeArrowheads="1" noChangeShapeType="1" noTextEdit="1"/>
                </p:cNvSpPr>
                <p:nvPr/>
              </p:nvSpPr>
              <p:spPr>
                <a:xfrm>
                  <a:off x="7230276" y="4075660"/>
                  <a:ext cx="298304" cy="277125"/>
                </a:xfrm>
                <a:prstGeom prst="rect">
                  <a:avLst/>
                </a:prstGeom>
                <a:blipFill>
                  <a:blip r:embed="rId8"/>
                  <a:stretch>
                    <a:fillRect l="-16327" r="-2041" b="-177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p:cNvSpPr txBox="1"/>
                <p:nvPr/>
              </p:nvSpPr>
              <p:spPr>
                <a:xfrm>
                  <a:off x="6745087" y="5597091"/>
                  <a:ext cx="294581" cy="277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799" i="1">
                                <a:latin typeface="Cambria Math" panose="02040503050406030204" pitchFamily="18" charset="0"/>
                              </a:rPr>
                            </m:ctrlPr>
                          </m:sSubPr>
                          <m:e>
                            <m:r>
                              <a:rPr lang="en-US" altLang="zh-CN" sz="1799" i="1">
                                <a:latin typeface="Cambria Math" panose="02040503050406030204" pitchFamily="18" charset="0"/>
                              </a:rPr>
                              <m:t>𝑦</m:t>
                            </m:r>
                          </m:e>
                          <m:sub>
                            <m:r>
                              <a:rPr lang="en-US" altLang="zh-CN" sz="1799" i="1">
                                <a:latin typeface="Cambria Math" panose="02040503050406030204" pitchFamily="18" charset="0"/>
                              </a:rPr>
                              <m:t>0</m:t>
                            </m:r>
                          </m:sub>
                        </m:sSub>
                      </m:oMath>
                    </m:oMathPara>
                  </a14:m>
                  <a:endParaRPr lang="zh-CN" altLang="en-US" sz="1799" dirty="0"/>
                </a:p>
              </p:txBody>
            </p:sp>
          </mc:Choice>
          <mc:Fallback>
            <p:sp>
              <p:nvSpPr>
                <p:cNvPr id="35" name="文本框 34"/>
                <p:cNvSpPr txBox="1">
                  <a:spLocks noRot="1" noChangeAspect="1" noMove="1" noResize="1" noEditPoints="1" noAdjustHandles="1" noChangeArrowheads="1" noChangeShapeType="1" noTextEdit="1"/>
                </p:cNvSpPr>
                <p:nvPr/>
              </p:nvSpPr>
              <p:spPr>
                <a:xfrm>
                  <a:off x="6745087" y="5597091"/>
                  <a:ext cx="294581" cy="277125"/>
                </a:xfrm>
                <a:prstGeom prst="rect">
                  <a:avLst/>
                </a:prstGeom>
                <a:blipFill>
                  <a:blip r:embed="rId9"/>
                  <a:stretch>
                    <a:fillRect l="-18750" r="-4167" b="-260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文本框 35"/>
                <p:cNvSpPr txBox="1"/>
                <p:nvPr/>
              </p:nvSpPr>
              <p:spPr>
                <a:xfrm>
                  <a:off x="7332256" y="5597091"/>
                  <a:ext cx="288998" cy="2995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799" i="1">
                                <a:latin typeface="Cambria Math" panose="02040503050406030204" pitchFamily="18" charset="0"/>
                              </a:rPr>
                            </m:ctrlPr>
                          </m:sSubPr>
                          <m:e>
                            <m:r>
                              <a:rPr lang="en-US" altLang="zh-CN" sz="1799" i="1">
                                <a:latin typeface="Cambria Math" panose="02040503050406030204" pitchFamily="18" charset="0"/>
                              </a:rPr>
                              <m:t>𝑦</m:t>
                            </m:r>
                          </m:e>
                          <m:sub>
                            <m:r>
                              <a:rPr lang="en-US" altLang="zh-CN" sz="1799" i="1">
                                <a:latin typeface="Cambria Math" panose="02040503050406030204" pitchFamily="18" charset="0"/>
                              </a:rPr>
                              <m:t>𝑓</m:t>
                            </m:r>
                          </m:sub>
                        </m:sSub>
                      </m:oMath>
                    </m:oMathPara>
                  </a14:m>
                  <a:endParaRPr lang="zh-CN" altLang="en-US" sz="1799" dirty="0"/>
                </a:p>
              </p:txBody>
            </p:sp>
          </mc:Choice>
          <mc:Fallback>
            <p:sp>
              <p:nvSpPr>
                <p:cNvPr id="36" name="文本框 35"/>
                <p:cNvSpPr txBox="1">
                  <a:spLocks noRot="1" noChangeAspect="1" noMove="1" noResize="1" noEditPoints="1" noAdjustHandles="1" noChangeArrowheads="1" noChangeShapeType="1" noTextEdit="1"/>
                </p:cNvSpPr>
                <p:nvPr/>
              </p:nvSpPr>
              <p:spPr>
                <a:xfrm>
                  <a:off x="7332256" y="5597091"/>
                  <a:ext cx="288998" cy="299524"/>
                </a:xfrm>
                <a:prstGeom prst="rect">
                  <a:avLst/>
                </a:prstGeom>
                <a:blipFill>
                  <a:blip r:embed="rId10"/>
                  <a:stretch>
                    <a:fillRect l="-19149" r="-8511" b="-28571"/>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39" name="内容占位符 2"/>
              <p:cNvSpPr txBox="1">
                <a:spLocks/>
              </p:cNvSpPr>
              <p:nvPr/>
            </p:nvSpPr>
            <p:spPr bwMode="auto">
              <a:xfrm>
                <a:off x="2037383" y="2331232"/>
                <a:ext cx="4502294" cy="3556232"/>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91356" tIns="45679" rIns="91356" bIns="45679"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3643">
                  <a:buNone/>
                </a:pPr>
                <a:r>
                  <a:rPr lang="zh-CN" altLang="en-US" sz="2398" dirty="0">
                    <a:latin typeface="Garamond" panose="02020404030301010803" pitchFamily="18" charset="0"/>
                    <a:ea typeface="KaiTi" panose="02010609060101010101" pitchFamily="49" charset="-122"/>
                  </a:rPr>
                  <a:t>   右图中，假定由于受到冲击，经济实际产量为</a:t>
                </a:r>
                <a14:m>
                  <m:oMath xmlns:m="http://schemas.openxmlformats.org/officeDocument/2006/math">
                    <m:sSub>
                      <m:sSubPr>
                        <m:ctrlPr>
                          <a:rPr lang="en-US" altLang="zh-CN" sz="2398" i="1">
                            <a:latin typeface="Cambria Math" panose="02040503050406030204" pitchFamily="18" charset="0"/>
                            <a:ea typeface="楷体" panose="02010609060101010101" pitchFamily="49" charset="-122"/>
                          </a:rPr>
                        </m:ctrlPr>
                      </m:sSubPr>
                      <m:e>
                        <m:r>
                          <a:rPr lang="en-US" altLang="zh-CN" sz="2398" i="1">
                            <a:latin typeface="Cambria Math" panose="02040503050406030204" pitchFamily="18" charset="0"/>
                            <a:ea typeface="楷体" panose="02010609060101010101" pitchFamily="49" charset="-122"/>
                          </a:rPr>
                          <m:t>𝑦</m:t>
                        </m:r>
                      </m:e>
                      <m:sub>
                        <m:r>
                          <a:rPr lang="en-US" altLang="zh-CN" sz="2398" i="1">
                            <a:latin typeface="Cambria Math" panose="02040503050406030204" pitchFamily="18" charset="0"/>
                            <a:ea typeface="楷体" panose="02010609060101010101" pitchFamily="49" charset="-122"/>
                          </a:rPr>
                          <m:t>0</m:t>
                        </m:r>
                      </m:sub>
                    </m:sSub>
                  </m:oMath>
                </a14:m>
                <a:r>
                  <a:rPr lang="zh-CN" altLang="en-US" sz="2398" dirty="0">
                    <a:latin typeface="Garamond" panose="02020404030301010803" pitchFamily="18" charset="0"/>
                    <a:ea typeface="KaiTi" panose="02010609060101010101" pitchFamily="49" charset="-122"/>
                  </a:rPr>
                  <a:t>，低于经济的潜在产量，说明经济正经受衰退，即经济处于高失业、低收入的时期。</a:t>
                </a:r>
                <a:endParaRPr lang="en-US" altLang="zh-CN" sz="2398" dirty="0">
                  <a:latin typeface="Garamond" panose="02020404030301010803" pitchFamily="18" charset="0"/>
                  <a:ea typeface="KaiTi" panose="02010609060101010101" pitchFamily="49" charset="-122"/>
                </a:endParaRPr>
              </a:p>
              <a:p>
                <a:pPr marL="0" indent="0" defTabSz="913643">
                  <a:buNone/>
                </a:pPr>
                <a:r>
                  <a:rPr lang="zh-CN" altLang="en-US" sz="2398" dirty="0">
                    <a:latin typeface="Garamond" panose="02020404030301010803" pitchFamily="18" charset="0"/>
                    <a:ea typeface="KaiTi" panose="02010609060101010101" pitchFamily="49" charset="-122"/>
                  </a:rPr>
                  <a:t>   政府利用扩张性的财政政策或扩张性的货币政策将需求曲线右移，可以实现稳定经济的目的。</a:t>
                </a:r>
                <a:endParaRPr lang="en-US" altLang="zh-CN" sz="2398" dirty="0">
                  <a:latin typeface="Garamond" panose="02020404030301010803" pitchFamily="18" charset="0"/>
                  <a:ea typeface="KaiTi" panose="02010609060101010101" pitchFamily="49" charset="-122"/>
                </a:endParaRPr>
              </a:p>
            </p:txBody>
          </p:sp>
        </mc:Choice>
        <mc:Fallback>
          <p:sp>
            <p:nvSpPr>
              <p:cNvPr id="39" name="内容占位符 2"/>
              <p:cNvSpPr txBox="1">
                <a:spLocks noRot="1" noChangeAspect="1" noMove="1" noResize="1" noEditPoints="1" noAdjustHandles="1" noChangeArrowheads="1" noChangeShapeType="1" noTextEdit="1"/>
              </p:cNvSpPr>
              <p:nvPr/>
            </p:nvSpPr>
            <p:spPr bwMode="auto">
              <a:xfrm>
                <a:off x="2037383" y="2331232"/>
                <a:ext cx="4502294" cy="3556232"/>
              </a:xfrm>
              <a:prstGeom prst="rect">
                <a:avLst/>
              </a:prstGeom>
              <a:blipFill>
                <a:blip r:embed="rId11"/>
                <a:stretch>
                  <a:fillRect l="-1889" t="-3072" r="-810"/>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8" name="矩形 37"/>
          <p:cNvSpPr/>
          <p:nvPr/>
        </p:nvSpPr>
        <p:spPr>
          <a:xfrm>
            <a:off x="7019177" y="5498627"/>
            <a:ext cx="3185487" cy="369204"/>
          </a:xfrm>
          <a:prstGeom prst="rect">
            <a:avLst/>
          </a:prstGeom>
        </p:spPr>
        <p:txBody>
          <a:bodyPr wrap="none">
            <a:spAutoFit/>
          </a:bodyPr>
          <a:lstStyle/>
          <a:p>
            <a:pPr algn="ctr">
              <a:spcBef>
                <a:spcPct val="50000"/>
              </a:spcBef>
            </a:pPr>
            <a:r>
              <a:rPr lang="zh-CN" altLang="en-US" sz="1799"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政府用需求管理政策稳定经济</a:t>
            </a:r>
          </a:p>
        </p:txBody>
      </p:sp>
      <p:sp>
        <p:nvSpPr>
          <p:cNvPr id="7" name="Rectangle 6">
            <a:extLst>
              <a:ext uri="{FF2B5EF4-FFF2-40B4-BE49-F238E27FC236}">
                <a16:creationId xmlns:a16="http://schemas.microsoft.com/office/drawing/2014/main" id="{656870AB-AF76-F77E-3C76-13D92BFDA376}"/>
              </a:ext>
            </a:extLst>
          </p:cNvPr>
          <p:cNvSpPr>
            <a:spLocks noChangeArrowheads="1"/>
          </p:cNvSpPr>
          <p:nvPr/>
        </p:nvSpPr>
        <p:spPr bwMode="auto">
          <a:xfrm>
            <a:off x="9823204" y="6372697"/>
            <a:ext cx="683585" cy="36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913643" fontAlgn="base">
              <a:spcBef>
                <a:spcPct val="0"/>
              </a:spcBef>
              <a:spcAft>
                <a:spcPct val="0"/>
              </a:spcAft>
            </a:pPr>
            <a:fld id="{1697A566-477E-ED4E-B73B-FE096A52ED8C}" type="slidenum">
              <a:rPr lang="zh-CN" altLang="zh-CN" sz="1698">
                <a:solidFill>
                  <a:srgbClr val="777777"/>
                </a:solidFill>
                <a:latin typeface="Tahoma" panose="020B0604030504040204" pitchFamily="34" charset="0"/>
                <a:ea typeface="宋体" panose="02010600030101010101" pitchFamily="2" charset="-122"/>
              </a:rPr>
              <a:pPr algn="r" defTabSz="913643" fontAlgn="base">
                <a:spcBef>
                  <a:spcPct val="0"/>
                </a:spcBef>
                <a:spcAft>
                  <a:spcPct val="0"/>
                </a:spcAft>
              </a:pPr>
              <a:t>52</a:t>
            </a:fld>
            <a:endParaRPr lang="zh-CN" altLang="zh-CN" sz="1698"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67657178-C0BA-0997-058C-EB78D636DDFB}"/>
              </a:ext>
            </a:extLst>
          </p:cNvPr>
          <p:cNvSpPr txBox="1">
            <a:spLocks/>
          </p:cNvSpPr>
          <p:nvPr/>
        </p:nvSpPr>
        <p:spPr bwMode="auto">
          <a:xfrm>
            <a:off x="1813684" y="6392863"/>
            <a:ext cx="732910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1202" tIns="90601" rIns="181202" bIns="90601"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1784"/>
              <a:t>AS-AD</a:t>
            </a:r>
            <a:r>
              <a:rPr lang="zh-CN" altLang="en-US" sz="1784"/>
              <a:t>模型</a:t>
            </a:r>
            <a:endParaRPr lang="zh-CN" altLang="en-US" sz="1784" dirty="0"/>
          </a:p>
        </p:txBody>
      </p:sp>
    </p:spTree>
    <p:extLst>
      <p:ext uri="{BB962C8B-B14F-4D97-AF65-F5344CB8AC3E}">
        <p14:creationId xmlns:p14="http://schemas.microsoft.com/office/powerpoint/2010/main" val="10895414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B07A7-5A13-870C-2C8D-58C02AA792D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4D84B5B-DA2B-6A9E-25E2-4E62A57F051B}"/>
              </a:ext>
            </a:extLst>
          </p:cNvPr>
          <p:cNvSpPr>
            <a:spLocks noGrp="1"/>
          </p:cNvSpPr>
          <p:nvPr>
            <p:ph type="sldNum" sz="quarter" idx="11"/>
          </p:nvPr>
        </p:nvSpPr>
        <p:spPr/>
        <p:txBody>
          <a:bodyPr/>
          <a:lstStyle/>
          <a:p>
            <a:fld id="{61BE183C-642D-8648-8947-1EE082880ED5}" type="slidenum">
              <a:rPr lang="zh-CN" altLang="zh-CN"/>
              <a:pPr/>
              <a:t>53</a:t>
            </a:fld>
            <a:endParaRPr lang="zh-CN" altLang="zh-CN"/>
          </a:p>
        </p:txBody>
      </p:sp>
      <p:sp>
        <p:nvSpPr>
          <p:cNvPr id="72706" name="Rectangle 2">
            <a:extLst>
              <a:ext uri="{FF2B5EF4-FFF2-40B4-BE49-F238E27FC236}">
                <a16:creationId xmlns:a16="http://schemas.microsoft.com/office/drawing/2014/main" id="{EF12A35B-9772-6903-C612-C4E0B76AF21B}"/>
              </a:ext>
            </a:extLst>
          </p:cNvPr>
          <p:cNvSpPr>
            <a:spLocks noGrp="1" noChangeArrowheads="1"/>
          </p:cNvSpPr>
          <p:nvPr>
            <p:ph type="title" idx="4294967295"/>
          </p:nvPr>
        </p:nvSpPr>
        <p:spPr>
          <a:xfrm>
            <a:off x="1528195" y="114300"/>
            <a:ext cx="9135611" cy="648692"/>
          </a:xfrm>
        </p:spPr>
        <p:txBody>
          <a:bodyPr/>
          <a:lstStyle/>
          <a:p>
            <a:r>
              <a:rPr lang="zh-CN" altLang="en-US" sz="2378" dirty="0">
                <a:ea typeface="宋体" panose="02010600030101010101" pitchFamily="2" charset="-122"/>
              </a:rPr>
              <a:t>说明：</a:t>
            </a:r>
            <a:r>
              <a:rPr lang="zh-CN" altLang="zh-CN" sz="2378" dirty="0"/>
              <a:t>政府政策只影响 AD 吗？</a:t>
            </a:r>
            <a:endParaRPr lang="zh-CN" altLang="en-US" sz="2378" dirty="0">
              <a:ea typeface="宋体" panose="02010600030101010101" pitchFamily="2" charset="-122"/>
            </a:endParaRPr>
          </a:p>
        </p:txBody>
      </p:sp>
      <p:sp>
        <p:nvSpPr>
          <p:cNvPr id="72707" name="Rectangle 3">
            <a:extLst>
              <a:ext uri="{FF2B5EF4-FFF2-40B4-BE49-F238E27FC236}">
                <a16:creationId xmlns:a16="http://schemas.microsoft.com/office/drawing/2014/main" id="{94B91D02-A846-8899-A41B-02DAD4F8A738}"/>
              </a:ext>
            </a:extLst>
          </p:cNvPr>
          <p:cNvSpPr>
            <a:spLocks noGrp="1" noChangeArrowheads="1"/>
          </p:cNvSpPr>
          <p:nvPr>
            <p:ph type="body" idx="4294967295"/>
          </p:nvPr>
        </p:nvSpPr>
        <p:spPr>
          <a:xfrm>
            <a:off x="1529768" y="869950"/>
            <a:ext cx="9134038" cy="5873751"/>
          </a:xfrm>
        </p:spPr>
        <p:txBody>
          <a:bodyPr/>
          <a:lstStyle/>
          <a:p>
            <a:r>
              <a:rPr lang="zh-CN" altLang="zh-CN" sz="2180" b="1" dirty="0"/>
              <a:t>不是。政府政策既可以影响 AD，也可以影响 AS。</a:t>
            </a:r>
            <a:endParaRPr lang="zh-CN" altLang="zh-CN" sz="2180" dirty="0"/>
          </a:p>
          <a:p>
            <a:r>
              <a:rPr lang="zh-CN" altLang="zh-CN" sz="2180" b="1" dirty="0"/>
              <a:t>1. 影响 AD：需求管理政策</a:t>
            </a:r>
            <a:br>
              <a:rPr lang="zh-CN" altLang="zh-CN" sz="2180" dirty="0"/>
            </a:br>
            <a:r>
              <a:rPr lang="zh-CN" altLang="zh-CN" sz="2180" dirty="0"/>
              <a:t>财政扩张、减税、增加货币供给等，会增加消费、投资或政府购买，使 </a:t>
            </a:r>
            <a:r>
              <a:rPr lang="zh-CN" altLang="zh-CN" sz="2180" b="1" dirty="0"/>
              <a:t>AD 右移</a:t>
            </a:r>
            <a:r>
              <a:rPr lang="zh-CN" altLang="zh-CN" sz="2180" dirty="0"/>
              <a:t>。</a:t>
            </a:r>
          </a:p>
          <a:p>
            <a:r>
              <a:rPr lang="zh-CN" altLang="zh-CN" sz="2180" b="1" dirty="0"/>
              <a:t>2. 影响 AS：供给侧政策</a:t>
            </a:r>
            <a:br>
              <a:rPr lang="zh-CN" altLang="zh-CN" sz="2180" dirty="0"/>
            </a:br>
            <a:r>
              <a:rPr lang="zh-CN" altLang="zh-CN" sz="2180" dirty="0"/>
              <a:t>减税降费、稳定能源供给、改善物流基础设施、促进技术进步等，会降低企业成本或提高生产能力，使 </a:t>
            </a:r>
            <a:r>
              <a:rPr lang="zh-CN" altLang="zh-CN" sz="2180" b="1" dirty="0"/>
              <a:t>AS 右移</a:t>
            </a:r>
            <a:r>
              <a:rPr lang="zh-CN" altLang="zh-CN" sz="2180" dirty="0"/>
              <a:t>。</a:t>
            </a:r>
          </a:p>
          <a:p>
            <a:r>
              <a:rPr lang="zh-CN" altLang="zh-CN" sz="2180" b="1" dirty="0"/>
              <a:t>3. 为什么本章常画 AD 移动？</a:t>
            </a:r>
            <a:br>
              <a:rPr lang="zh-CN" altLang="zh-CN" sz="2180" dirty="0"/>
            </a:br>
            <a:r>
              <a:rPr lang="zh-CN" altLang="zh-CN" sz="2180" dirty="0"/>
              <a:t>短期稳定经济时，财政政策和货币政策见效较快，通常先表现为 </a:t>
            </a:r>
            <a:r>
              <a:rPr lang="zh-CN" altLang="zh-CN" sz="2180" b="1" dirty="0"/>
              <a:t>AD 移动</a:t>
            </a:r>
            <a:r>
              <a:rPr lang="zh-CN" altLang="zh-CN" sz="2180" dirty="0"/>
              <a:t>。</a:t>
            </a:r>
            <a:br>
              <a:rPr lang="zh-CN" altLang="zh-CN" sz="2180" dirty="0"/>
            </a:br>
            <a:r>
              <a:rPr lang="zh-CN" altLang="zh-CN" sz="2180" dirty="0"/>
              <a:t>AS 政策更偏向降低成本、提升效率和扩大潜在产出，往往见效较慢。</a:t>
            </a:r>
          </a:p>
          <a:p>
            <a:r>
              <a:rPr lang="zh-CN" altLang="zh-CN" sz="2180" b="1" dirty="0"/>
              <a:t>核心结论：</a:t>
            </a:r>
            <a:br>
              <a:rPr lang="zh-CN" altLang="zh-CN" sz="2180" dirty="0"/>
            </a:br>
            <a:r>
              <a:rPr lang="zh-CN" altLang="zh-CN" sz="2180" b="1" dirty="0"/>
              <a:t>短期稳增长常靠 AD；长期提高生产能力主要靠 AS。</a:t>
            </a:r>
            <a:endParaRPr lang="zh-CN" altLang="zh-CN" sz="2180" dirty="0"/>
          </a:p>
          <a:p>
            <a:endParaRPr lang="zh-CN" altLang="zh-CN" sz="2180" dirty="0">
              <a:ea typeface="宋体" panose="02010600030101010101" pitchFamily="2" charset="-122"/>
            </a:endParaRPr>
          </a:p>
        </p:txBody>
      </p:sp>
      <p:sp>
        <p:nvSpPr>
          <p:cNvPr id="72708" name="FlagCount" hidden="1">
            <a:hlinkClick r:id="rId2" action="ppaction://hlinkfile"/>
            <a:extLst>
              <a:ext uri="{FF2B5EF4-FFF2-40B4-BE49-F238E27FC236}">
                <a16:creationId xmlns:a16="http://schemas.microsoft.com/office/drawing/2014/main" id="{FABD8C4B-D209-49F9-11A8-BAE18B948DEC}"/>
              </a:ext>
            </a:extLst>
          </p:cNvPr>
          <p:cNvSpPr>
            <a:spLocks noChangeArrowheads="1"/>
          </p:cNvSpPr>
          <p:nvPr/>
        </p:nvSpPr>
        <p:spPr bwMode="auto">
          <a:xfrm>
            <a:off x="9775622" y="256914"/>
            <a:ext cx="380651" cy="317209"/>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399"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7733568"/>
      </p:ext>
    </p:extLst>
  </p:cSld>
  <p:clrMapOvr>
    <a:masterClrMapping/>
  </p:clrMapOvr>
  <p:transition>
    <p:wipe dir="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7</TotalTime>
  <Words>8022</Words>
  <Application>Microsoft Office PowerPoint</Application>
  <PresentationFormat>宽屏</PresentationFormat>
  <Paragraphs>730</Paragraphs>
  <Slides>53</Slides>
  <Notes>19</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vt:i4>
      </vt:variant>
      <vt:variant>
        <vt:lpstr>幻灯片标题</vt:lpstr>
      </vt:variant>
      <vt:variant>
        <vt:i4>53</vt:i4>
      </vt:variant>
    </vt:vector>
  </HeadingPairs>
  <TitlesOfParts>
    <vt:vector size="73" baseType="lpstr">
      <vt:lpstr>PingFang SC</vt:lpstr>
      <vt:lpstr>等线</vt:lpstr>
      <vt:lpstr>等线 Light</vt:lpstr>
      <vt:lpstr>SimHei</vt:lpstr>
      <vt:lpstr>楷体</vt:lpstr>
      <vt:lpstr>楷体</vt:lpstr>
      <vt:lpstr>宋体</vt:lpstr>
      <vt:lpstr>宋体</vt:lpstr>
      <vt:lpstr>Microsoft YaHei</vt:lpstr>
      <vt:lpstr>Arial</vt:lpstr>
      <vt:lpstr>Book Antiqua</vt:lpstr>
      <vt:lpstr>Calibri</vt:lpstr>
      <vt:lpstr>Cambria Math</vt:lpstr>
      <vt:lpstr>Garamond</vt:lpstr>
      <vt:lpstr>Tahoma</vt:lpstr>
      <vt:lpstr>Times New Roman</vt:lpstr>
      <vt:lpstr>Wingdings</vt:lpstr>
      <vt:lpstr>Office 主题​​</vt:lpstr>
      <vt:lpstr>Custom Design</vt:lpstr>
      <vt:lpstr>Microsoft Graph Chart</vt:lpstr>
      <vt:lpstr>PowerPoint 演示文稿</vt:lpstr>
      <vt:lpstr>本节概要</vt:lpstr>
      <vt:lpstr>总供给曲线aggregate supply curve</vt:lpstr>
      <vt:lpstr>宏观经济学中的时间维度 </vt:lpstr>
      <vt:lpstr>价格调整的实际情况</vt:lpstr>
      <vt:lpstr>AS-AD模型与IS- LM曲线</vt:lpstr>
      <vt:lpstr>长期总供给曲线（古典）</vt:lpstr>
      <vt:lpstr>古典总供给曲线</vt:lpstr>
      <vt:lpstr>长期总供给曲线的含义</vt:lpstr>
      <vt:lpstr>长期总供给曲线的分析</vt:lpstr>
      <vt:lpstr>关于古典主义的思考</vt:lpstr>
      <vt:lpstr>凯恩斯经济学的历史背景</vt:lpstr>
      <vt:lpstr>短期总供给曲线</vt:lpstr>
      <vt:lpstr>短期总供给曲线</vt:lpstr>
      <vt:lpstr>凯恩斯总供给曲线</vt:lpstr>
      <vt:lpstr>为什么凯恩斯总供给曲线具有水平的形状？</vt:lpstr>
      <vt:lpstr>凯恩斯总供给曲线</vt:lpstr>
      <vt:lpstr>常规总供给曲线的形状</vt:lpstr>
      <vt:lpstr>常规总供给曲线</vt:lpstr>
      <vt:lpstr>常规总供给曲线</vt:lpstr>
      <vt:lpstr>常规总供给曲线的形状</vt:lpstr>
      <vt:lpstr>常规总供给曲线</vt:lpstr>
      <vt:lpstr>为什么短期总供给曲线向右上方倾斜？</vt:lpstr>
      <vt:lpstr>1. 粘性工资理论</vt:lpstr>
      <vt:lpstr>2. 粘性价格理论</vt:lpstr>
      <vt:lpstr>3. 错觉理论</vt:lpstr>
      <vt:lpstr>短期总供给曲线与长期总供给曲线</vt:lpstr>
      <vt:lpstr>短期总供给曲线与长期总供给曲线</vt:lpstr>
      <vt:lpstr>为什么短期总供给曲线会移动</vt:lpstr>
      <vt:lpstr>PowerPoint 演示文稿</vt:lpstr>
      <vt:lpstr>经济波动</vt:lpstr>
      <vt:lpstr>总需求移动的影响</vt:lpstr>
      <vt:lpstr>总需求两次重大的移动：   1. 大萧条</vt:lpstr>
      <vt:lpstr>总需求两次重大的移动：  2. 第二次世界大战</vt:lpstr>
      <vt:lpstr>为什么短期总供给曲线会移动（再次温习）</vt:lpstr>
      <vt:lpstr>经济长期均衡与短期均衡的动态分析</vt:lpstr>
      <vt:lpstr>主动学习  3    模型的应用</vt:lpstr>
      <vt:lpstr>主动学习  3    参考答案</vt:lpstr>
      <vt:lpstr>短期总供给移动的影响</vt:lpstr>
      <vt:lpstr>总供给曲线的不利移动</vt:lpstr>
      <vt:lpstr>抵消短期总供给的不利移动</vt:lpstr>
      <vt:lpstr>关于曲线移动的总结</vt:lpstr>
      <vt:lpstr>20世纪70年代的石油冲击及其影响</vt:lpstr>
      <vt:lpstr>总供给曲线的移动</vt:lpstr>
      <vt:lpstr>约翰.梅纳德.凯恩斯 1883-1946</vt:lpstr>
      <vt:lpstr>主动学习   4      总需求-总供给</vt:lpstr>
      <vt:lpstr>参考答案   4     总需求-总供给</vt:lpstr>
      <vt:lpstr>参考答案   4      总需求-总供给</vt:lpstr>
      <vt:lpstr>宏观经济的短期目标</vt:lpstr>
      <vt:lpstr>总需求曲线移动的后果</vt:lpstr>
      <vt:lpstr>总供给曲线移动的后果</vt:lpstr>
      <vt:lpstr>AS-AD模型的政策含义</vt:lpstr>
      <vt:lpstr>说明：政府政策只影响 AD 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dc:creator>
  <cp:lastModifiedBy>Leo</cp:lastModifiedBy>
  <cp:revision>1</cp:revision>
  <dcterms:created xsi:type="dcterms:W3CDTF">2026-06-09T01:11:21Z</dcterms:created>
  <dcterms:modified xsi:type="dcterms:W3CDTF">2026-06-09T01:18:30Z</dcterms:modified>
</cp:coreProperties>
</file>