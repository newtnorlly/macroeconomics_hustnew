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814601-921C-455A-8F27-3424A0E63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07292E-73C5-4A46-BAD8-479036545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DFDBF2-5CAC-4AA2-A0BC-A71D58481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1AFA-12DE-4037-9276-9CC68EBF929B}" type="datetimeFigureOut">
              <a:rPr lang="zh-CN" altLang="en-US" smtClean="0"/>
              <a:t>2020/11/20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46059D-7537-429F-9D50-82DEEB88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BE140F-00D2-4944-B4AA-0CE9E623E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7CDD-3338-44C7-A537-6A317DB9C0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193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06349-B08F-423F-B901-1C5A6E37B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68DEFF-9A13-4FEC-AA8F-75C224C47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55C37A-4515-4FB4-AA46-3088E8C6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1AFA-12DE-4037-9276-9CC68EBF929B}" type="datetimeFigureOut">
              <a:rPr lang="zh-CN" altLang="en-US" smtClean="0"/>
              <a:t>2020/11/20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38A914-94C4-4E14-B1D9-39E2C35FA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805953-8E9F-4C1B-A96F-488F7ABBD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7CDD-3338-44C7-A537-6A317DB9C0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93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9B5138-5A73-4E85-8446-788A59452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0B4D61-F219-4E55-85C3-C79D3D3AB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92B606-A43F-4BA5-9B26-CF3B82BE7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1AFA-12DE-4037-9276-9CC68EBF929B}" type="datetimeFigureOut">
              <a:rPr lang="zh-CN" altLang="en-US" smtClean="0"/>
              <a:t>2020/11/20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C9A61D-565B-4FAE-8917-4CF98AC2E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8DA417-7CBE-4357-AAFE-465E36B3B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7CDD-3338-44C7-A537-6A317DB9C0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057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824B05-AC97-435D-AD39-025E25E8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654EB4-D5D7-4295-8813-14013CA9E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489A59-B60D-4D87-9F17-FE4579584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8C7240-D845-482C-96D0-2737FA565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1AFA-12DE-4037-9276-9CC68EBF929B}" type="datetimeFigureOut">
              <a:rPr lang="zh-CN" altLang="en-US" smtClean="0"/>
              <a:t>2020/11/20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EB9DAE-C7C1-48B9-8D40-887ABA64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F4C762-5062-4EF0-BB72-88E761E7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7CDD-3338-44C7-A537-6A317DB9C0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669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A1D3C5-E928-4EA5-B17E-129AEAFF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B3B049-539E-4542-AE75-EE70A6573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8200F0-CD4E-4402-A350-24ED5A0A8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A54A93-8FF9-4891-AA67-45C3B2BA6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F1C9E4-AD21-4AD4-8C15-A5874535A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41CB1C-6E5A-48ED-A543-EB947FE4A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1AFA-12DE-4037-9276-9CC68EBF929B}" type="datetimeFigureOut">
              <a:rPr lang="zh-CN" altLang="en-US" smtClean="0"/>
              <a:t>2020/11/20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306E67-1BAD-4FD9-89E5-EEEEE4429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60EA03-997A-496F-89A5-75B8C1D70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7CDD-3338-44C7-A537-6A317DB9C0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101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E012A-DFDF-4BAD-9C1C-AC6DC75A7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A0169A-B81B-4249-A948-AA561D2D1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1AFA-12DE-4037-9276-9CC68EBF929B}" type="datetimeFigureOut">
              <a:rPr lang="zh-CN" altLang="en-US" smtClean="0"/>
              <a:t>2020/11/20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D48B6B-A784-4876-8C47-AE4ED9CD4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804CBC-29E3-434D-A655-F70B19248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7CDD-3338-44C7-A537-6A317DB9C0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173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F817875-7E09-4742-B919-81E2F7573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1AFA-12DE-4037-9276-9CC68EBF929B}" type="datetimeFigureOut">
              <a:rPr lang="zh-CN" altLang="en-US" smtClean="0"/>
              <a:t>2020/11/20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399977-C4BA-4520-B760-273DCB201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808608-A5B5-4A93-A2E9-0F46DC60F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7CDD-3338-44C7-A537-6A317DB9C0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01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F0275F-63B0-421F-9830-07EF5C7AB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0CC64E-C810-40FC-A7B9-45CA98C0E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5EDDB2-7B72-4F53-AADA-CF6EA77F4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432AC9-BE3B-4507-A724-7A4976131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1AFA-12DE-4037-9276-9CC68EBF929B}" type="datetimeFigureOut">
              <a:rPr lang="zh-CN" altLang="en-US" smtClean="0"/>
              <a:t>2020/11/20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94EEF1-38EC-435C-8D0C-EB9C2FAD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C00EE5-4495-4830-9119-D25A2513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7CDD-3338-44C7-A537-6A317DB9C0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14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309D85-8458-46E5-9D97-F5369DEFF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6234B2-002E-4F6F-8591-F0661D9957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D2D917-C038-4583-90AB-05EC56863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9432A1-CC95-4747-91D6-D23EDC0ED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1AFA-12DE-4037-9276-9CC68EBF929B}" type="datetimeFigureOut">
              <a:rPr lang="zh-CN" altLang="en-US" smtClean="0"/>
              <a:t>2020/11/20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CB0D25-6EB3-49D0-8055-1F3AF750B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31821D-8428-444B-A009-D0164656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7CDD-3338-44C7-A537-6A317DB9C0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026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D2F60A-2DF4-4B35-8B0D-7A34DCEA5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7100EF-2D46-46E1-B531-50C7B3614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9C4415-ED8C-4FCD-A68F-45ABA6513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1AFA-12DE-4037-9276-9CC68EBF929B}" type="datetimeFigureOut">
              <a:rPr lang="zh-CN" altLang="en-US" smtClean="0"/>
              <a:t>2020/11/20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9A945B-B356-4DF3-A823-D87953E1D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18F930-DD28-435C-90E9-8395E1D8F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7CDD-3338-44C7-A537-6A317DB9C0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199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D2FD72E-BFC7-407E-8177-4644C0472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E0093A-8FD8-4310-852B-50B34EEDB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716C2-612C-402F-8303-F0B8B4034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1AFA-12DE-4037-9276-9CC68EBF929B}" type="datetimeFigureOut">
              <a:rPr lang="zh-CN" altLang="en-US" smtClean="0"/>
              <a:t>2020/11/20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EED514-DF5F-40A7-A30D-FD75150B4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26CAC0-CF44-476D-B09D-657B3FFA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67CDD-3338-44C7-A537-6A317DB9C0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35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BA8D0B-D49C-4DF8-9543-87B33FEDA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3C929D-C816-4551-9149-43A4F61F8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69B042-5284-4197-AF2C-AD95180104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C1AFA-12DE-4037-9276-9CC68EBF929B}" type="datetimeFigureOut">
              <a:rPr lang="zh-CN" altLang="en-US" smtClean="0"/>
              <a:t>2020/11/20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684FE2-B8A8-4267-A59B-751A5DCE9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CA4C9F-EDC0-489F-9621-0E5FF9BF8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67CDD-3338-44C7-A537-6A317DB9C0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10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gif"/><Relationship Id="rId5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4E30B0-D48C-4B75-91E5-5F8617278D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/>
              <a:t>失业</a:t>
            </a:r>
            <a:r>
              <a:rPr lang="zh-CN" altLang="zh-CN" dirty="0"/>
              <a:t>与通货膨胀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F3D21A4-4DF1-456F-B94D-85F96D36F9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935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5F25787-D854-4EA1-830F-97FA1E4181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5903912" cy="64770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失业概述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52F08CB-C0CA-47FA-AE14-05AC71DC5C5C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196975"/>
            <a:ext cx="8351837" cy="1584325"/>
          </a:xfrm>
          <a:prstGeom prst="rect">
            <a:avLst/>
          </a:prstGeom>
          <a:ln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bg1"/>
                </a:solidFill>
                <a:ea typeface="黑体" panose="02010609060101010101" pitchFamily="49" charset="-122"/>
              </a:rPr>
              <a:t>1.</a:t>
            </a:r>
            <a:r>
              <a:rPr lang="zh-CN" altLang="en-US" dirty="0">
                <a:solidFill>
                  <a:schemeClr val="bg1"/>
                </a:solidFill>
                <a:ea typeface="黑体" panose="02010609060101010101" pitchFamily="49" charset="-122"/>
              </a:rPr>
              <a:t>失业：</a:t>
            </a:r>
            <a:endParaRPr lang="zh-CN" altLang="en-US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</a:pPr>
            <a:r>
              <a:rPr lang="zh-CN" altLang="en-US" dirty="0"/>
              <a:t>凡在一定年龄范围内愿意工作而没有工作，并正在寻找工作的人都是失业。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A476AC0-FEE5-4492-9EF9-4071BCC0774D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4149725"/>
            <a:ext cx="8351837" cy="1008063"/>
          </a:xfrm>
          <a:prstGeom prst="rect">
            <a:avLst/>
          </a:prstGeom>
          <a:noFill/>
          <a:ln cmpd="sng">
            <a:noFill/>
            <a:headEnd/>
            <a:tailEnd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/>
              <a:t>2. </a:t>
            </a:r>
            <a:r>
              <a:rPr lang="zh-CN" altLang="en-US" dirty="0"/>
              <a:t>充分就业 </a:t>
            </a:r>
            <a:r>
              <a:rPr lang="en-US" altLang="zh-CN" dirty="0">
                <a:solidFill>
                  <a:srgbClr val="FFFF00"/>
                </a:solidFill>
              </a:rPr>
              <a:t>Full employment</a:t>
            </a:r>
            <a:r>
              <a:rPr lang="en-US" altLang="zh-CN" sz="2000" dirty="0">
                <a:solidFill>
                  <a:srgbClr val="FFFF00"/>
                </a:solidFill>
              </a:rPr>
              <a:t> </a:t>
            </a:r>
            <a:r>
              <a:rPr lang="zh-CN" altLang="en-US" sz="2000" dirty="0"/>
              <a:t>：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/>
              <a:t>     消灭了周期性失业时的就业状态。</a:t>
            </a: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5FE86BBB-27DA-4DC5-AFC5-CFD83BF29E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772524"/>
              </p:ext>
            </p:extLst>
          </p:nvPr>
        </p:nvGraphicFramePr>
        <p:xfrm>
          <a:off x="884947" y="2785760"/>
          <a:ext cx="3168650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位图图像" r:id="rId3" imgW="2940952" imgH="1036410" progId="Paint.Picture">
                  <p:embed/>
                </p:oleObj>
              </mc:Choice>
              <mc:Fallback>
                <p:oleObj name="位图图像" r:id="rId3" imgW="2940952" imgH="1036410" progId="Paint.Picture">
                  <p:embed/>
                  <p:pic>
                    <p:nvPicPr>
                      <p:cNvPr id="181253" name="Object 5">
                        <a:extLst>
                          <a:ext uri="{FF2B5EF4-FFF2-40B4-BE49-F238E27FC236}">
                            <a16:creationId xmlns:a16="http://schemas.microsoft.com/office/drawing/2014/main" id="{519C4941-6174-4D94-B3D0-EEC26BB28E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947" y="2785760"/>
                        <a:ext cx="3168650" cy="1116012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 w="76200" algn="ctr">
                        <a:solidFill>
                          <a:srgbClr val="3366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">
            <a:extLst>
              <a:ext uri="{FF2B5EF4-FFF2-40B4-BE49-F238E27FC236}">
                <a16:creationId xmlns:a16="http://schemas.microsoft.com/office/drawing/2014/main" id="{052BB832-1B68-4DE5-8644-E6429F0D1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445125"/>
            <a:ext cx="8351837" cy="649288"/>
          </a:xfrm>
          <a:prstGeom prst="rect">
            <a:avLst/>
          </a:prstGeom>
          <a:noFill/>
          <a:ln w="762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6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Blip>
                <a:blip r:embed="rId7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6175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sz="2400"/>
              <a:t>充分就业并非人人都有工作，是不存在非自愿失业 。</a:t>
            </a:r>
          </a:p>
        </p:txBody>
      </p:sp>
    </p:spTree>
    <p:extLst>
      <p:ext uri="{BB962C8B-B14F-4D97-AF65-F5344CB8AC3E}">
        <p14:creationId xmlns:p14="http://schemas.microsoft.com/office/powerpoint/2010/main" val="3038075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19E3BEC-31B9-428C-8C92-83A05F4FD0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703973"/>
            <a:ext cx="5903912" cy="64770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zh-CN" altLang="en-US" sz="2800" dirty="0">
                <a:ea typeface="黑体" panose="02010609060101010101" pitchFamily="49" charset="-122"/>
              </a:rPr>
              <a:t>周期性失业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5358A44-90A2-4C7C-A614-D97CB332A63D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459623"/>
            <a:ext cx="8280400" cy="1439863"/>
          </a:xfrm>
          <a:prstGeom prst="rect">
            <a:avLst/>
          </a:prstGeom>
          <a:noFill/>
          <a:ln w="3175" cmpd="sng">
            <a:solidFill>
              <a:schemeClr val="tx1"/>
            </a:solidFill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周期性失业：</a:t>
            </a:r>
            <a:r>
              <a:rPr lang="zh-CN" altLang="en-US" dirty="0"/>
              <a:t>又称</a:t>
            </a:r>
            <a:r>
              <a:rPr lang="zh-CN" altLang="en-US" dirty="0">
                <a:solidFill>
                  <a:srgbClr val="FFFF00"/>
                </a:solidFill>
              </a:rPr>
              <a:t>需求不足的失业、非自愿失业。</a:t>
            </a:r>
          </a:p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dirty="0"/>
              <a:t>由于总需求不足而引起的短期失业</a:t>
            </a:r>
            <a:r>
              <a:rPr lang="zh-CN" altLang="en-US" dirty="0">
                <a:solidFill>
                  <a:schemeClr val="bg1"/>
                </a:solidFill>
              </a:rPr>
              <a:t>，一般出现在经济周期的萧条阶段。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AD7497B-5F4D-408F-ABCB-1384F351C2A6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4356100" y="3043948"/>
            <a:ext cx="4392613" cy="1439863"/>
          </a:xfrm>
          <a:prstGeom prst="rect">
            <a:avLst/>
          </a:prstGeom>
          <a:noFill/>
          <a:ln w="3175" cmpd="sng">
            <a:solidFill>
              <a:schemeClr val="tx1"/>
            </a:solidFill>
            <a:headEnd/>
            <a:tailEnd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/>
              <a:t>紧缩性缺口：</a:t>
            </a:r>
          </a:p>
          <a:p>
            <a:pPr marL="0" indent="0"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/>
              <a:t>实际总需求小于充分就业时的总需求，其间的差额。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0ADA58-B8AD-4C15-BB22-AF0597F1DAA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68313" y="3331286"/>
            <a:ext cx="3671887" cy="1368425"/>
          </a:xfrm>
          <a:prstGeom prst="rect">
            <a:avLst/>
          </a:prstGeom>
          <a:noFill/>
          <a:ln w="3175" cmpd="dbl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7438" indent="-457200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47825" indent="-3810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170113" indent="-3429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692400" indent="-3429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149600" indent="-3429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606800" indent="-3429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064000" indent="-3429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521200" indent="-3429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336600"/>
              </a:buClr>
              <a:buSzPct val="95000"/>
              <a:buFont typeface="Wingdings" panose="05000000000000000000" pitchFamily="2" charset="2"/>
              <a:buNone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自然失业</a:t>
            </a:r>
            <a:r>
              <a:rPr lang="zh-CN" altLang="en-US" sz="2800"/>
              <a:t>：</a:t>
            </a:r>
          </a:p>
          <a:p>
            <a:pPr>
              <a:buClr>
                <a:srgbClr val="33660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sz="2400"/>
              <a:t>经济中某些难以避免的原因所引起的失业。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E767E2-974C-4F86-AE2C-79AAA7B29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699711"/>
            <a:ext cx="8278812" cy="1081087"/>
          </a:xfrm>
          <a:prstGeom prst="rect">
            <a:avLst/>
          </a:prstGeom>
          <a:noFill/>
          <a:ln w="31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6175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SzPct val="105000"/>
            </a:pPr>
            <a:r>
              <a:rPr lang="zh-CN" altLang="en-US" sz="2400" dirty="0">
                <a:solidFill>
                  <a:schemeClr val="bg1"/>
                </a:solidFill>
              </a:rPr>
              <a:t>自然失业率：实现充分就业时的失业率。</a:t>
            </a:r>
          </a:p>
          <a:p>
            <a:pPr>
              <a:buSzPct val="105000"/>
            </a:pPr>
            <a:r>
              <a:rPr lang="zh-CN" altLang="en-US" sz="2400" dirty="0">
                <a:solidFill>
                  <a:schemeClr val="bg1"/>
                </a:solidFill>
              </a:rPr>
              <a:t>或称充分就业的失业率，或长期均衡的失业率。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210838-F6B9-4CBC-AB45-F64ED231621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68313" y="5923673"/>
            <a:ext cx="8280400" cy="647700"/>
          </a:xfrm>
          <a:prstGeom prst="rect">
            <a:avLst/>
          </a:prstGeom>
          <a:noFill/>
          <a:ln w="3175" cmpd="dbl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7438" indent="-457200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47825" indent="-3810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170113" indent="-3429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692400" indent="-3429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149600" indent="-3429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606800" indent="-3429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064000" indent="-3429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521200" indent="-3429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336600"/>
              </a:buClr>
              <a:buSzPct val="95000"/>
              <a:buFont typeface="Wingdings" panose="05000000000000000000" pitchFamily="2" charset="2"/>
              <a:buChar char="p"/>
            </a:pPr>
            <a:r>
              <a:rPr lang="zh-CN" altLang="en-US" sz="2400"/>
              <a:t>自然失业率由各国根据实际情况确定，不断上升趋势</a:t>
            </a:r>
          </a:p>
        </p:txBody>
      </p:sp>
    </p:spTree>
    <p:extLst>
      <p:ext uri="{BB962C8B-B14F-4D97-AF65-F5344CB8AC3E}">
        <p14:creationId xmlns:p14="http://schemas.microsoft.com/office/powerpoint/2010/main" val="79094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2DDF79A-AEE7-43EC-9A96-A57656F5F0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753118"/>
            <a:ext cx="5903912" cy="64770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劳动市场供求双方的失业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7EFA2FA-3846-45B6-B67B-68980ADB50E4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905643"/>
            <a:ext cx="5256212" cy="1871662"/>
          </a:xfrm>
          <a:prstGeom prst="rect">
            <a:avLst/>
          </a:prstGeom>
          <a:noFill/>
          <a:ln w="3175">
            <a:solidFill>
              <a:schemeClr val="tx1"/>
            </a:solidFill>
            <a:headEnd/>
            <a:tailEnd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en-US" altLang="en-US"/>
              <a:t>摩擦性失业</a:t>
            </a:r>
            <a:r>
              <a:rPr lang="zh-CN" altLang="en-US"/>
              <a:t>：</a:t>
            </a:r>
          </a:p>
          <a:p>
            <a:pPr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/>
              <a:t>生产过程中难以避免的由于转业等原因而造成的短期、局部性失业。</a:t>
            </a:r>
          </a:p>
          <a:p>
            <a:pPr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/>
              <a:t>对于家庭和个人，是过渡性的。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7403527-39E8-4154-9C27-545DD4227179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4425005"/>
            <a:ext cx="5256212" cy="1871663"/>
          </a:xfrm>
          <a:prstGeom prst="rect">
            <a:avLst/>
          </a:prstGeom>
          <a:noFill/>
          <a:ln w="3175" cmpd="thickThin">
            <a:solidFill>
              <a:schemeClr val="tx1"/>
            </a:solidFill>
            <a:headEnd/>
            <a:tailEnd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1938" indent="-261938"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zh-CN" altLang="en-US"/>
              <a:t>结构性失业：</a:t>
            </a:r>
          </a:p>
          <a:p>
            <a:pPr marL="261938" indent="-261938"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zh-CN" altLang="en-US"/>
              <a:t>劳动力的供给和需求不匹配所造成的失业。</a:t>
            </a:r>
          </a:p>
          <a:p>
            <a:pPr marL="261938" indent="-261938"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zh-CN" altLang="en-US"/>
              <a:t>往往是“失业与空位”并存。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49499CDE-FF96-4633-B8BD-2A981283A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121543"/>
            <a:ext cx="2665413" cy="1439862"/>
          </a:xfrm>
          <a:prstGeom prst="horizontalScroll">
            <a:avLst>
              <a:gd name="adj" fmla="val 12500"/>
            </a:avLst>
          </a:prstGeom>
          <a:noFill/>
          <a:ln w="31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b="1"/>
              <a:t>通常起源于劳动力的供给方。</a:t>
            </a: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23176BC3-B527-43F2-852F-56B2491B4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713930"/>
            <a:ext cx="2665413" cy="1079500"/>
          </a:xfrm>
          <a:prstGeom prst="horizontalScroll">
            <a:avLst>
              <a:gd name="adj" fmla="val 12500"/>
            </a:avLst>
          </a:prstGeom>
          <a:noFill/>
          <a:ln w="31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61938" indent="-26193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zh-CN" altLang="en-US" b="1"/>
              <a:t>通常起源于需求方。</a:t>
            </a:r>
          </a:p>
        </p:txBody>
      </p:sp>
    </p:spTree>
    <p:extLst>
      <p:ext uri="{BB962C8B-B14F-4D97-AF65-F5344CB8AC3E}">
        <p14:creationId xmlns:p14="http://schemas.microsoft.com/office/powerpoint/2010/main" val="3864202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475D321-2040-4859-B8EE-30CEFFCB16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451561"/>
            <a:ext cx="5903912" cy="64770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zh-CN" altLang="en-US" sz="2400" dirty="0">
                <a:ea typeface="黑体" panose="02010609060101010101" pitchFamily="49" charset="-122"/>
              </a:rPr>
              <a:t>失业的经济学解释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5D0030-7FB3-4699-81FA-7F9F126168D8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459623"/>
            <a:ext cx="8207375" cy="1008063"/>
          </a:xfrm>
          <a:prstGeom prst="rect">
            <a:avLst/>
          </a:prstGeom>
          <a:noFill/>
          <a:ln w="3175" cmpd="sng">
            <a:solidFill>
              <a:schemeClr val="tx1"/>
            </a:solidFill>
            <a:headEnd/>
            <a:tailEnd/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None/>
            </a:pPr>
            <a:r>
              <a:rPr lang="en-US" altLang="zh-CN"/>
              <a:t>1.</a:t>
            </a:r>
            <a:r>
              <a:rPr lang="zh-CN" altLang="en-US"/>
              <a:t>古典失业：</a:t>
            </a:r>
          </a:p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/>
              <a:t>    由于工资刚性（工会 或政府干预）所引起的失业。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CED603-1F0F-4034-9435-63CB4393F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125036"/>
            <a:ext cx="1655762" cy="1944687"/>
          </a:xfrm>
          <a:prstGeom prst="rect">
            <a:avLst/>
          </a:prstGeom>
          <a:noFill/>
          <a:ln w="3175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400"/>
              <a:t>2.</a:t>
            </a:r>
            <a:r>
              <a:rPr lang="zh-CN" altLang="en-US" sz="2400"/>
              <a:t>凯恩斯对需求不足的失业的解释：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AA9D4F-588E-4DC0-BF9D-BB511D4AB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612148"/>
            <a:ext cx="8207375" cy="1223963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dirty="0"/>
              <a:t>工资调整遇到不可下降的下界，出现失业。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把这种情况下的失业称为古典失业，即可以用古典理论来解释的失业现象。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F006E8-3CDF-45E8-B552-D300FF612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052011"/>
            <a:ext cx="6480175" cy="1081087"/>
          </a:xfrm>
          <a:prstGeom prst="rect">
            <a:avLst/>
          </a:prstGeom>
          <a:noFill/>
          <a:ln w="3175" cmpd="thickThin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sz="2400"/>
              <a:t>以</a:t>
            </a:r>
            <a:r>
              <a:rPr lang="en-US" altLang="zh-CN" sz="2400"/>
              <a:t>MPC</a:t>
            </a:r>
            <a:r>
              <a:rPr lang="zh-CN" altLang="en-US" sz="2400"/>
              <a:t>递减规律来说明消费需求不足</a:t>
            </a:r>
          </a:p>
          <a:p>
            <a:pPr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sz="2400"/>
              <a:t>用资本边际效率递减规律说明投资需求不足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F19657-C143-465C-A316-4FE7F570C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5133098"/>
            <a:ext cx="4895850" cy="1368425"/>
          </a:xfrm>
          <a:prstGeom prst="rect">
            <a:avLst/>
          </a:prstGeom>
          <a:noFill/>
          <a:ln w="3175" cmpd="thickThin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sz="2400"/>
              <a:t>消费、投资需求的不足</a:t>
            </a:r>
          </a:p>
          <a:p>
            <a:pPr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sz="2400">
                <a:cs typeface="Arial" panose="020B0604020202020204" pitchFamily="34" charset="0"/>
              </a:rPr>
              <a:t>→→</a:t>
            </a:r>
            <a:r>
              <a:rPr lang="zh-CN" altLang="en-US" sz="2400"/>
              <a:t>总需求不足</a:t>
            </a:r>
          </a:p>
          <a:p>
            <a:pPr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sz="2400">
                <a:cs typeface="Arial" panose="020B0604020202020204" pitchFamily="34" charset="0"/>
              </a:rPr>
              <a:t>→→</a:t>
            </a:r>
            <a:r>
              <a:rPr lang="zh-CN" altLang="en-US" sz="2400"/>
              <a:t>周期性失业</a:t>
            </a:r>
          </a:p>
        </p:txBody>
      </p:sp>
    </p:spTree>
    <p:extLst>
      <p:ext uri="{BB962C8B-B14F-4D97-AF65-F5344CB8AC3E}">
        <p14:creationId xmlns:p14="http://schemas.microsoft.com/office/powerpoint/2010/main" val="4124262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99519C4-75C5-40C2-9469-79D2E1F7AD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850963"/>
            <a:ext cx="5903912" cy="64770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zh-CN" altLang="en-US" sz="2800" dirty="0"/>
              <a:t>失业的供求分析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CA5FD98-6245-452A-885F-98AC94977771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683361"/>
            <a:ext cx="4175125" cy="1368425"/>
          </a:xfrm>
          <a:prstGeom prst="rect">
            <a:avLst/>
          </a:prstGeom>
          <a:noFill/>
          <a:ln w="3175">
            <a:solidFill>
              <a:schemeClr val="tx1"/>
            </a:solidFill>
            <a:headEnd/>
            <a:tailEnd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/>
              <a:t>出清的劳动力市场：失业的解释。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/>
              <a:t>竞争性劳动力市场</a:t>
            </a:r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692E40EE-9A09-426C-B0A0-CCF349E5F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194661"/>
            <a:ext cx="4175125" cy="1439863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劳动供求曲线的均衡点在</a:t>
            </a:r>
            <a:r>
              <a:rPr lang="en-US" altLang="zh-CN"/>
              <a:t>E</a:t>
            </a:r>
          </a:p>
          <a:p>
            <a:r>
              <a:rPr lang="zh-CN" altLang="en-US"/>
              <a:t>厂商愿意雇用的接受工资水平</a:t>
            </a:r>
            <a:r>
              <a:rPr lang="en-US" altLang="zh-CN"/>
              <a:t>W </a:t>
            </a:r>
            <a:r>
              <a:rPr lang="en-US" altLang="zh-CN" b="0"/>
              <a:t>*</a:t>
            </a:r>
            <a:r>
              <a:rPr lang="zh-CN" altLang="en-US"/>
              <a:t>的工人数量</a:t>
            </a:r>
            <a:r>
              <a:rPr lang="en-US" altLang="zh-CN"/>
              <a:t>N</a:t>
            </a:r>
            <a:r>
              <a:rPr lang="en-US" altLang="zh-CN" b="0" baseline="-25000"/>
              <a:t>E</a:t>
            </a:r>
            <a:r>
              <a:rPr lang="zh-CN" altLang="en-US"/>
              <a:t>。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F6D4E9BF-0AB6-4A1D-A595-63017B496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852011"/>
            <a:ext cx="4175125" cy="1800225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此时，另有数量为</a:t>
            </a:r>
            <a:r>
              <a:rPr lang="en-US" altLang="zh-CN"/>
              <a:t>N </a:t>
            </a:r>
            <a:r>
              <a:rPr lang="en-US" altLang="zh-CN" b="0" baseline="30000"/>
              <a:t>*</a:t>
            </a:r>
            <a:r>
              <a:rPr lang="en-US" altLang="zh-CN" baseline="30000"/>
              <a:t> </a:t>
            </a:r>
            <a:r>
              <a:rPr lang="en-US" altLang="zh-CN" b="0">
                <a:cs typeface="Times New Roman" panose="02020603050405020304" pitchFamily="18" charset="0"/>
              </a:rPr>
              <a:t>–</a:t>
            </a:r>
            <a:r>
              <a:rPr lang="en-US" altLang="zh-CN"/>
              <a:t>N</a:t>
            </a:r>
            <a:r>
              <a:rPr lang="en-US" altLang="zh-CN" b="0" baseline="-25000"/>
              <a:t>E</a:t>
            </a:r>
            <a:r>
              <a:rPr lang="zh-CN" altLang="en-US"/>
              <a:t>的工人，虽然愿意工作，但要求的工资较高，是自愿失业。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EE35860-8B82-4EF5-A710-2F8648200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957" y="1570100"/>
            <a:ext cx="3208298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081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73E5B2C-9B1F-487A-BAD3-48E51F0048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308" y="753118"/>
            <a:ext cx="5903912" cy="647700"/>
          </a:xfrm>
          <a:noFill/>
          <a:ln w="3175">
            <a:noFill/>
          </a:ln>
        </p:spPr>
        <p:txBody>
          <a:bodyPr>
            <a:normAutofit/>
          </a:bodyPr>
          <a:lstStyle/>
          <a:p>
            <a:r>
              <a:rPr lang="zh-CN" altLang="en-US" sz="2800" dirty="0"/>
              <a:t>非出清的劳动力市场：失业解释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7383A1-C92A-4EA5-A1D2-8699A602294A}"/>
              </a:ext>
            </a:extLst>
          </p:cNvPr>
          <p:cNvSpPr txBox="1">
            <a:spLocks noChangeArrowheads="1"/>
          </p:cNvSpPr>
          <p:nvPr/>
        </p:nvSpPr>
        <p:spPr>
          <a:xfrm>
            <a:off x="468312" y="1784419"/>
            <a:ext cx="4103687" cy="1008062"/>
          </a:xfrm>
          <a:prstGeom prst="rect">
            <a:avLst/>
          </a:prstGeom>
          <a:ln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dirty="0"/>
              <a:t>在没有伸缩性工资的劳动力市场上。</a:t>
            </a:r>
          </a:p>
        </p:txBody>
      </p:sp>
      <p:sp>
        <p:nvSpPr>
          <p:cNvPr id="6" name="Rectangle 26">
            <a:extLst>
              <a:ext uri="{FF2B5EF4-FFF2-40B4-BE49-F238E27FC236}">
                <a16:creationId xmlns:a16="http://schemas.microsoft.com/office/drawing/2014/main" id="{2E140049-04D1-45A5-BEFC-E2F8EA9E0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792481"/>
            <a:ext cx="4103687" cy="2159000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一次经济波动使得劳动工资过高</a:t>
            </a:r>
            <a:r>
              <a:rPr lang="en-US" altLang="zh-CN"/>
              <a:t>W </a:t>
            </a:r>
            <a:r>
              <a:rPr lang="en-US" altLang="zh-CN" b="0"/>
              <a:t>*</a:t>
            </a:r>
            <a:r>
              <a:rPr lang="zh-CN" altLang="en-US"/>
              <a:t>。</a:t>
            </a:r>
          </a:p>
          <a:p>
            <a:r>
              <a:rPr lang="zh-CN" altLang="en-US"/>
              <a:t>寻找这个高工资的劳动力</a:t>
            </a:r>
            <a:r>
              <a:rPr lang="en-US" altLang="zh-CN"/>
              <a:t>N</a:t>
            </a:r>
            <a:r>
              <a:rPr lang="en-US" altLang="zh-CN" b="0" baseline="-25000"/>
              <a:t>2</a:t>
            </a:r>
            <a:r>
              <a:rPr lang="zh-CN" altLang="en-US"/>
              <a:t>但是企业愿意雇用的只有</a:t>
            </a:r>
            <a:r>
              <a:rPr lang="en-US" altLang="zh-CN"/>
              <a:t>N</a:t>
            </a:r>
            <a:r>
              <a:rPr lang="en-US" altLang="zh-CN" b="0" baseline="-25000"/>
              <a:t>1 </a:t>
            </a:r>
            <a:r>
              <a:rPr lang="zh-CN" altLang="en-US"/>
              <a:t>。</a:t>
            </a: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E3D1F65D-185A-447B-811B-E8DB311D5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240406"/>
            <a:ext cx="4103687" cy="935037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出现劳动过剩</a:t>
            </a:r>
            <a:r>
              <a:rPr lang="en-US" altLang="zh-CN"/>
              <a:t>N</a:t>
            </a:r>
            <a:r>
              <a:rPr lang="en-US" altLang="zh-CN" b="0" baseline="-25000"/>
              <a:t>2 </a:t>
            </a:r>
            <a:r>
              <a:rPr lang="zh-CN" altLang="en-US"/>
              <a:t>－</a:t>
            </a:r>
            <a:r>
              <a:rPr lang="zh-CN" altLang="en-US" b="0" baseline="-25000"/>
              <a:t> </a:t>
            </a:r>
            <a:r>
              <a:rPr lang="en-US" altLang="zh-CN"/>
              <a:t>N</a:t>
            </a:r>
            <a:r>
              <a:rPr lang="en-US" altLang="zh-CN" b="0" baseline="-25000"/>
              <a:t>1 </a:t>
            </a:r>
            <a:r>
              <a:rPr lang="zh-CN" altLang="en-US"/>
              <a:t>。为非自愿失业。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AE2F915-9CE0-459A-A0AC-260CE4873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230" y="2057877"/>
            <a:ext cx="3383573" cy="400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001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C3CE6CC-4739-4836-B9EB-3ACA07B709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471016"/>
            <a:ext cx="5903912" cy="64770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失业的影响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BB60ACA-D763-497B-B792-81A435C1C4D4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479078"/>
            <a:ext cx="3667125" cy="2736850"/>
          </a:xfrm>
          <a:prstGeom prst="rect">
            <a:avLst/>
          </a:prstGeom>
          <a:noFill/>
          <a:ln w="3175">
            <a:solidFill>
              <a:schemeClr val="tx1"/>
            </a:solidFill>
            <a:headEnd/>
            <a:tailEnd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bg1"/>
                </a:solidFill>
              </a:rPr>
              <a:t>1.</a:t>
            </a:r>
            <a:r>
              <a:rPr lang="zh-CN" altLang="en-US" dirty="0">
                <a:solidFill>
                  <a:schemeClr val="bg1"/>
                </a:solidFill>
              </a:rPr>
              <a:t>失业的损失</a:t>
            </a:r>
          </a:p>
          <a:p>
            <a:r>
              <a:rPr lang="zh-CN" altLang="en-US" dirty="0"/>
              <a:t>收入、生活水平下降；</a:t>
            </a:r>
          </a:p>
          <a:p>
            <a:r>
              <a:rPr lang="zh-CN" altLang="en-US" dirty="0"/>
              <a:t>影响社会稳定，增加政府福利支出；</a:t>
            </a:r>
          </a:p>
          <a:p>
            <a:r>
              <a:rPr lang="zh-CN" altLang="en-US" dirty="0"/>
              <a:t>国民收入减少。</a:t>
            </a:r>
          </a:p>
          <a:p>
            <a:r>
              <a:rPr lang="zh-CN" altLang="en-US" dirty="0"/>
              <a:t>等等。。。。。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C9B26B-4012-457D-9A48-CDE649AE3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1479078"/>
            <a:ext cx="4608512" cy="2757488"/>
          </a:xfrm>
          <a:prstGeom prst="rect">
            <a:avLst/>
          </a:prstGeom>
          <a:noFill/>
          <a:ln w="3175" cmpd="tri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eaLnBrk="0" hangingPunct="0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en-US" altLang="zh-CN" sz="2000" b="1">
                <a:latin typeface="Arial" panose="020B0604020202020204" pitchFamily="34" charset="0"/>
              </a:rPr>
              <a:t>1968</a:t>
            </a:r>
            <a:r>
              <a:rPr lang="zh-CN" altLang="en-US" sz="2000" b="1">
                <a:latin typeface="Arial" panose="020B0604020202020204" pitchFamily="34" charset="0"/>
              </a:rPr>
              <a:t>年美国经济学家阿瑟</a:t>
            </a:r>
            <a:r>
              <a:rPr lang="en-US" altLang="zh-CN" sz="2000" b="1">
                <a:latin typeface="Arial" panose="020B0604020202020204" pitchFamily="34" charset="0"/>
              </a:rPr>
              <a:t>·</a:t>
            </a:r>
            <a:r>
              <a:rPr lang="zh-CN" altLang="en-US" sz="2000" b="1">
                <a:latin typeface="Arial" panose="020B0604020202020204" pitchFamily="34" charset="0"/>
              </a:rPr>
              <a:t>奥肯（</a:t>
            </a:r>
            <a:r>
              <a:rPr lang="en-US" altLang="zh-CN" sz="2000" b="1">
                <a:latin typeface="Arial" panose="020B0604020202020204" pitchFamily="34" charset="0"/>
              </a:rPr>
              <a:t>Arther·OKun</a:t>
            </a:r>
            <a:r>
              <a:rPr lang="zh-CN" altLang="en-US" sz="2000" b="1">
                <a:latin typeface="Arial" panose="020B0604020202020204" pitchFamily="34" charset="0"/>
              </a:rPr>
              <a:t>），</a:t>
            </a:r>
          </a:p>
          <a:p>
            <a:pPr eaLnBrk="0" hangingPunct="0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000" b="1">
                <a:latin typeface="Arial" panose="020B0604020202020204" pitchFamily="34" charset="0"/>
              </a:rPr>
              <a:t>在为总统经济顾问委员会分析失业与经济增长的关系时发现，</a:t>
            </a:r>
          </a:p>
          <a:p>
            <a:pPr eaLnBrk="0" hangingPunct="0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000" b="1">
                <a:latin typeface="Arial" panose="020B0604020202020204" pitchFamily="34" charset="0"/>
              </a:rPr>
              <a:t>失业率每增加</a:t>
            </a:r>
            <a:r>
              <a:rPr lang="en-US" altLang="zh-CN" sz="2000" b="1">
                <a:latin typeface="Arial" panose="020B0604020202020204" pitchFamily="34" charset="0"/>
              </a:rPr>
              <a:t>1</a:t>
            </a:r>
            <a:r>
              <a:rPr lang="zh-CN" altLang="en-US" sz="2000" b="1">
                <a:latin typeface="Arial" panose="020B0604020202020204" pitchFamily="34" charset="0"/>
              </a:rPr>
              <a:t>个百分点，经济增长率就降低</a:t>
            </a:r>
            <a:r>
              <a:rPr lang="en-US" altLang="zh-CN" sz="2000" b="1">
                <a:latin typeface="Arial" panose="020B0604020202020204" pitchFamily="34" charset="0"/>
              </a:rPr>
              <a:t>3</a:t>
            </a:r>
            <a:r>
              <a:rPr lang="zh-CN" altLang="en-US" sz="2000" b="1">
                <a:latin typeface="Arial" panose="020B0604020202020204" pitchFamily="34" charset="0"/>
              </a:rPr>
              <a:t>个百分点。</a:t>
            </a:r>
          </a:p>
          <a:p>
            <a:pPr eaLnBrk="0" hangingPunct="0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000" b="1">
                <a:latin typeface="Arial" panose="020B0604020202020204" pitchFamily="34" charset="0"/>
              </a:rPr>
              <a:t>后来经济增长率修改为</a:t>
            </a:r>
            <a:r>
              <a:rPr lang="en-US" altLang="zh-CN" sz="2000" b="1">
                <a:latin typeface="Arial" panose="020B0604020202020204" pitchFamily="34" charset="0"/>
              </a:rPr>
              <a:t>2</a:t>
            </a:r>
            <a:r>
              <a:rPr lang="zh-CN" altLang="en-US" sz="2000" b="1">
                <a:latin typeface="Arial" panose="020B0604020202020204" pitchFamily="34" charset="0"/>
              </a:rPr>
              <a:t>个百分点或者</a:t>
            </a:r>
            <a:r>
              <a:rPr lang="en-US" altLang="zh-CN" sz="2000" b="1">
                <a:latin typeface="Arial" panose="020B0604020202020204" pitchFamily="34" charset="0"/>
              </a:rPr>
              <a:t>2.5</a:t>
            </a:r>
            <a:r>
              <a:rPr lang="zh-CN" altLang="en-US" sz="2000" b="1">
                <a:latin typeface="Arial" panose="020B0604020202020204" pitchFamily="34" charset="0"/>
              </a:rPr>
              <a:t>个百分点。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30CD38-A92B-4AFB-B502-673D4B3C6CE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68313" y="4431828"/>
            <a:ext cx="6335712" cy="122396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76200">
            <a:solidFill>
              <a:srgbClr val="33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11238" indent="-381000">
              <a:spcBef>
                <a:spcPct val="20000"/>
              </a:spcBef>
              <a:buFont typeface="Wingdings" panose="05000000000000000000" pitchFamily="2" charset="2"/>
              <a:buBlip>
                <a:blip r:embed="rId4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533525" indent="-3429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017713" indent="-3048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501900" indent="-3048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959100" indent="-3048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416300" indent="-3048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873500" indent="-3048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330700" indent="-3048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SzPct val="95000"/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19692C"/>
                </a:solidFill>
              </a:rPr>
              <a:t>2.</a:t>
            </a:r>
            <a:r>
              <a:rPr lang="zh-CN" altLang="en-US" sz="2800">
                <a:solidFill>
                  <a:srgbClr val="19692C"/>
                </a:solidFill>
              </a:rPr>
              <a:t>奥肯定理（定律 ）</a:t>
            </a:r>
          </a:p>
          <a:p>
            <a:pPr>
              <a:lnSpc>
                <a:spcPct val="80000"/>
              </a:lnSpc>
              <a:buSzPct val="95000"/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rgbClr val="19692C"/>
                </a:solidFill>
              </a:rPr>
              <a:t>失业率每高于自然失业率</a:t>
            </a:r>
            <a:r>
              <a:rPr lang="en-US" altLang="zh-CN" sz="2400">
                <a:solidFill>
                  <a:srgbClr val="19692C"/>
                </a:solidFill>
              </a:rPr>
              <a:t>1</a:t>
            </a:r>
            <a:r>
              <a:rPr lang="zh-CN" altLang="en-US" sz="2400">
                <a:solidFill>
                  <a:srgbClr val="19692C"/>
                </a:solidFill>
              </a:rPr>
              <a:t>个百分点，实际</a:t>
            </a:r>
            <a:r>
              <a:rPr lang="en-US" altLang="zh-CN" sz="2400">
                <a:solidFill>
                  <a:srgbClr val="19692C"/>
                </a:solidFill>
              </a:rPr>
              <a:t>GDP</a:t>
            </a:r>
            <a:r>
              <a:rPr lang="zh-CN" altLang="en-US" sz="2400">
                <a:solidFill>
                  <a:srgbClr val="19692C"/>
                </a:solidFill>
              </a:rPr>
              <a:t>将低于潜在</a:t>
            </a:r>
            <a:r>
              <a:rPr lang="en-US" altLang="zh-CN" sz="2400">
                <a:solidFill>
                  <a:srgbClr val="19692C"/>
                </a:solidFill>
              </a:rPr>
              <a:t>GDP2</a:t>
            </a:r>
            <a:r>
              <a:rPr lang="zh-CN" altLang="en-US" sz="2400">
                <a:solidFill>
                  <a:srgbClr val="19692C"/>
                </a:solidFill>
              </a:rPr>
              <a:t>个百分点。反之亦然。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5ECA26D1-EDCB-4E8C-B1D1-ADA292C43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798666"/>
            <a:ext cx="6335712" cy="825500"/>
          </a:xfrm>
          <a:prstGeom prst="rect">
            <a:avLst/>
          </a:prstGeom>
          <a:noFill/>
          <a:ln w="31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b="1"/>
              <a:t>结论：实际</a:t>
            </a:r>
            <a:r>
              <a:rPr lang="en-US" altLang="zh-CN" b="1"/>
              <a:t>GDP</a:t>
            </a:r>
            <a:r>
              <a:rPr lang="zh-CN" altLang="en-US" b="1"/>
              <a:t>必须保持与潜在</a:t>
            </a:r>
            <a:r>
              <a:rPr lang="en-US" altLang="zh-CN" b="1"/>
              <a:t>GDP</a:t>
            </a:r>
            <a:r>
              <a:rPr lang="zh-CN" altLang="en-US" b="1"/>
              <a:t>同样增长，以防止失业率上升。</a:t>
            </a:r>
          </a:p>
        </p:txBody>
      </p:sp>
    </p:spTree>
    <p:extLst>
      <p:ext uri="{BB962C8B-B14F-4D97-AF65-F5344CB8AC3E}">
        <p14:creationId xmlns:p14="http://schemas.microsoft.com/office/powerpoint/2010/main" val="3057797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5D66C7A-3E19-4BBE-A196-47658C905E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6407" y="616442"/>
            <a:ext cx="4154487" cy="64770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通货膨胀概述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1DBA472-78A1-452F-A5D9-D87587AF283D}"/>
              </a:ext>
            </a:extLst>
          </p:cNvPr>
          <p:cNvSpPr txBox="1">
            <a:spLocks noChangeArrowheads="1"/>
          </p:cNvSpPr>
          <p:nvPr/>
        </p:nvSpPr>
        <p:spPr>
          <a:xfrm>
            <a:off x="456407" y="1501878"/>
            <a:ext cx="4032250" cy="3024188"/>
          </a:xfrm>
          <a:prstGeom prst="rect">
            <a:avLst/>
          </a:prstGeom>
          <a:blipFill>
            <a:blip r:embed="rId3"/>
          </a:blipFill>
          <a:ln cmpd="sng">
            <a:solidFill>
              <a:srgbClr val="336600"/>
            </a:solidFill>
            <a:headEnd/>
            <a:tailEnd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660033"/>
                </a:solidFill>
                <a:ea typeface="黑体" panose="02010609060101010101" pitchFamily="49" charset="-122"/>
              </a:rPr>
              <a:t>1.</a:t>
            </a:r>
            <a:r>
              <a:rPr lang="zh-CN" altLang="en-US" dirty="0">
                <a:solidFill>
                  <a:srgbClr val="660033"/>
                </a:solidFill>
                <a:ea typeface="黑体" panose="02010609060101010101" pitchFamily="49" charset="-122"/>
              </a:rPr>
              <a:t>通货膨胀</a:t>
            </a:r>
            <a:r>
              <a:rPr lang="zh-CN" altLang="en-US" dirty="0">
                <a:solidFill>
                  <a:srgbClr val="660033"/>
                </a:solidFill>
              </a:rPr>
              <a:t>：</a:t>
            </a:r>
          </a:p>
          <a:p>
            <a:pPr marL="0" indent="0">
              <a:lnSpc>
                <a:spcPct val="95000"/>
              </a:lnSpc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660033"/>
                </a:solidFill>
              </a:rPr>
              <a:t>信用货币制度下，</a:t>
            </a:r>
          </a:p>
          <a:p>
            <a:pPr marL="0" indent="0">
              <a:lnSpc>
                <a:spcPct val="95000"/>
              </a:lnSpc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660033"/>
                </a:solidFill>
              </a:rPr>
              <a:t>流通中的货币数量，</a:t>
            </a:r>
          </a:p>
          <a:p>
            <a:pPr marL="0" indent="0">
              <a:lnSpc>
                <a:spcPct val="95000"/>
              </a:lnSpc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660033"/>
                </a:solidFill>
              </a:rPr>
              <a:t>超过经济实际需要，</a:t>
            </a:r>
          </a:p>
          <a:p>
            <a:pPr marL="0" indent="0">
              <a:lnSpc>
                <a:spcPct val="95000"/>
              </a:lnSpc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660033"/>
                </a:solidFill>
              </a:rPr>
              <a:t>而引起的货币贬值，</a:t>
            </a:r>
          </a:p>
          <a:p>
            <a:pPr marL="0" indent="0">
              <a:lnSpc>
                <a:spcPct val="95000"/>
              </a:lnSpc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660033"/>
                </a:solidFill>
              </a:rPr>
              <a:t>和物价水平全面而持续的上涨。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AB4546-4CB8-485B-9D92-C3ED6B594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670528"/>
            <a:ext cx="4464050" cy="923330"/>
          </a:xfrm>
          <a:prstGeom prst="rect">
            <a:avLst/>
          </a:prstGeom>
          <a:noFill/>
          <a:ln w="3175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A50021"/>
              </a:buClr>
              <a:buSzPct val="90000"/>
              <a:buFont typeface="Wingdings" panose="05000000000000000000" pitchFamily="2" charset="2"/>
              <a:buChar char="n"/>
            </a:pPr>
            <a:r>
              <a:rPr kumimoji="0" lang="zh-CN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不是指一种或几种商品的物价上升；</a:t>
            </a:r>
          </a:p>
          <a:p>
            <a:pPr>
              <a:buClr>
                <a:srgbClr val="A50021"/>
              </a:buClr>
              <a:buSzPct val="90000"/>
              <a:buFont typeface="Wingdings" panose="05000000000000000000" pitchFamily="2" charset="2"/>
              <a:buChar char="n"/>
            </a:pPr>
            <a:r>
              <a:rPr kumimoji="0" lang="zh-CN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不是指物价水平一时的上升。 </a:t>
            </a:r>
          </a:p>
          <a:p>
            <a:pPr>
              <a:buClr>
                <a:srgbClr val="A50021"/>
              </a:buClr>
              <a:buSzPct val="90000"/>
              <a:buFont typeface="Wingdings" panose="05000000000000000000" pitchFamily="2" charset="2"/>
              <a:buChar char="n"/>
            </a:pP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指</a:t>
            </a:r>
            <a:r>
              <a:rPr kumimoji="0" lang="zh-CN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全面、持续</a:t>
            </a: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的</a:t>
            </a:r>
            <a:r>
              <a:rPr kumimoji="0" lang="zh-CN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上涨</a:t>
            </a: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。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C48A2679-FE3A-4E9F-B538-A1EA70DBD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493815"/>
            <a:ext cx="3887787" cy="1655763"/>
          </a:xfrm>
          <a:prstGeom prst="wedgeRoundRectCallout">
            <a:avLst>
              <a:gd name="adj1" fmla="val -61639"/>
              <a:gd name="adj2" fmla="val -17495"/>
              <a:gd name="adj3" fmla="val 16667"/>
            </a:avLst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7438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24025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60613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54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11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8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260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000">
                <a:latin typeface="Arial" panose="020B0604020202020204" pitchFamily="34" charset="0"/>
              </a:rPr>
              <a:t>Currency </a:t>
            </a:r>
            <a:r>
              <a:rPr kumimoji="0" lang="zh-CN" altLang="en-US" sz="2000">
                <a:latin typeface="Arial" panose="020B0604020202020204" pitchFamily="34" charset="0"/>
              </a:rPr>
              <a:t>通货：</a:t>
            </a:r>
          </a:p>
          <a:p>
            <a:r>
              <a:rPr kumimoji="0" lang="zh-CN" altLang="en-US">
                <a:latin typeface="Arial" panose="020B0604020202020204" pitchFamily="34" charset="0"/>
              </a:rPr>
              <a:t>在实践中，通货指现金</a:t>
            </a:r>
            <a:r>
              <a:rPr kumimoji="0" lang="en-US" altLang="zh-CN">
                <a:latin typeface="Arial" panose="020B0604020202020204" pitchFamily="34" charset="0"/>
              </a:rPr>
              <a:t>——</a:t>
            </a:r>
            <a:r>
              <a:rPr kumimoji="0" lang="zh-CN" altLang="en-US">
                <a:latin typeface="Arial" panose="020B0604020202020204" pitchFamily="34" charset="0"/>
              </a:rPr>
              <a:t>纸币和铸币，即流通于社会上的货币。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3135A5D7-3D57-4AAD-ADB3-372CB2D4C2FB}"/>
              </a:ext>
            </a:extLst>
          </p:cNvPr>
          <p:cNvSpPr txBox="1">
            <a:spLocks noChangeArrowheads="1"/>
          </p:cNvSpPr>
          <p:nvPr/>
        </p:nvSpPr>
        <p:spPr>
          <a:xfrm>
            <a:off x="4643438" y="2870303"/>
            <a:ext cx="4027487" cy="1368425"/>
          </a:xfrm>
          <a:prstGeom prst="rect">
            <a:avLst/>
          </a:prstGeom>
          <a:noFill/>
          <a:ln w="3175">
            <a:solidFill>
              <a:schemeClr val="tx1"/>
            </a:solidFill>
            <a:headEnd/>
            <a:tailEnd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通货膨胀率：从一个时期到另一个时期价格水平变动的百分比。</a:t>
            </a:r>
          </a:p>
        </p:txBody>
      </p:sp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D6D66F7F-878C-4223-B99C-8D006CDFB5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786059"/>
              </p:ext>
            </p:extLst>
          </p:nvPr>
        </p:nvGraphicFramePr>
        <p:xfrm>
          <a:off x="5580063" y="4581525"/>
          <a:ext cx="3024187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4" imgW="825480" imgH="431640" progId="Equation.3">
                  <p:embed/>
                </p:oleObj>
              </mc:Choice>
              <mc:Fallback>
                <p:oleObj name="Equation" r:id="rId4" imgW="825480" imgH="431640" progId="Equation.3">
                  <p:embed/>
                  <p:pic>
                    <p:nvPicPr>
                      <p:cNvPr id="188426" name="Object 10">
                        <a:extLst>
                          <a:ext uri="{FF2B5EF4-FFF2-40B4-BE49-F238E27FC236}">
                            <a16:creationId xmlns:a16="http://schemas.microsoft.com/office/drawing/2014/main" id="{CBDCA8D0-3E8B-4AB6-8BE4-F984689035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4581525"/>
                        <a:ext cx="3024187" cy="1354138"/>
                      </a:xfrm>
                      <a:prstGeom prst="rect">
                        <a:avLst/>
                      </a:prstGeom>
                      <a:solidFill>
                        <a:srgbClr val="86D0D0"/>
                      </a:solidFill>
                      <a:ln w="57150" cmpd="thickThin">
                        <a:solidFill>
                          <a:srgbClr val="99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6301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1375462-20C0-44FF-900E-8449C15FC6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636386"/>
            <a:ext cx="5903912" cy="64770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zh-CN" altLang="en-US" sz="2800" dirty="0"/>
              <a:t>价格指数</a:t>
            </a:r>
            <a:endParaRPr lang="zh-CN" altLang="en-US" sz="28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110889-3B5C-4358-9FE2-50CE1B649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573011"/>
            <a:ext cx="8064500" cy="1295400"/>
          </a:xfrm>
          <a:prstGeom prst="rect">
            <a:avLst/>
          </a:prstGeom>
          <a:noFill/>
          <a:ln w="31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0850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38300" indent="-3810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160588" indent="-3429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682875" indent="-3429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140075" indent="-3429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597275" indent="-3429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054475" indent="-3429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511675" indent="-3429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5000"/>
              </a:lnSpc>
              <a:buClr>
                <a:schemeClr val="hlink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消费价格指数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</a:rPr>
              <a:t>CPI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400" dirty="0" err="1"/>
              <a:t>Comsumer</a:t>
            </a:r>
            <a:r>
              <a:rPr lang="en-US" altLang="zh-CN" sz="2400" dirty="0"/>
              <a:t> Price Index</a:t>
            </a:r>
          </a:p>
          <a:p>
            <a:pPr>
              <a:lnSpc>
                <a:spcPct val="85000"/>
              </a:lnSpc>
              <a:buClr>
                <a:schemeClr val="hlink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sz="2400" dirty="0"/>
              <a:t>在普通家庭的支出中，购买具有代表性的一组商品，现在要比过去多花多少钱。</a:t>
            </a:r>
            <a:endParaRPr lang="zh-CN" altLang="en-US" sz="24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B349DED8-C67F-4BD5-AAB0-08F967835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2796973"/>
            <a:ext cx="3889375" cy="124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0">
            <a:extLst>
              <a:ext uri="{FF2B5EF4-FFF2-40B4-BE49-F238E27FC236}">
                <a16:creationId xmlns:a16="http://schemas.microsoft.com/office/drawing/2014/main" id="{DA528A2B-9183-4C45-8990-5E484377C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163811"/>
            <a:ext cx="8064500" cy="1354137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en-US" altLang="zh-CN" b="1"/>
              <a:t>1993</a:t>
            </a:r>
            <a:r>
              <a:rPr lang="zh-CN" altLang="en-US" b="1"/>
              <a:t>年购买一组商品的所花费的支出是</a:t>
            </a:r>
            <a:r>
              <a:rPr lang="en-US" altLang="zh-CN" b="1"/>
              <a:t>857</a:t>
            </a:r>
            <a:r>
              <a:rPr lang="zh-CN" altLang="en-US" b="1"/>
              <a:t>元，</a:t>
            </a:r>
          </a:p>
          <a:p>
            <a:pPr>
              <a:lnSpc>
                <a:spcPct val="110000"/>
              </a:lnSpc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en-US" altLang="zh-CN" b="1"/>
              <a:t>1997</a:t>
            </a:r>
            <a:r>
              <a:rPr lang="zh-CN" altLang="en-US" b="1"/>
              <a:t>年购买同样的商品，支出是</a:t>
            </a:r>
            <a:r>
              <a:rPr lang="en-US" altLang="zh-CN" b="1"/>
              <a:t>1174</a:t>
            </a:r>
            <a:r>
              <a:rPr lang="zh-CN" altLang="en-US" b="1"/>
              <a:t>元，则</a:t>
            </a:r>
            <a:r>
              <a:rPr lang="en-US" altLang="zh-CN" b="1"/>
              <a:t>1997</a:t>
            </a:r>
            <a:r>
              <a:rPr lang="zh-CN" altLang="en-US" b="1"/>
              <a:t>年的消费物价指数是</a:t>
            </a:r>
            <a:r>
              <a:rPr lang="en-US" altLang="zh-CN" b="1"/>
              <a:t>1174</a:t>
            </a:r>
            <a:r>
              <a:rPr lang="zh-CN" altLang="en-US" b="1"/>
              <a:t>／</a:t>
            </a:r>
            <a:r>
              <a:rPr lang="en-US" altLang="zh-CN" b="1"/>
              <a:t>857</a:t>
            </a:r>
            <a:r>
              <a:rPr lang="zh-CN" altLang="en-US" b="1"/>
              <a:t>＝</a:t>
            </a:r>
            <a:r>
              <a:rPr lang="en-US" altLang="zh-CN" b="1"/>
              <a:t>137</a:t>
            </a:r>
          </a:p>
        </p:txBody>
      </p:sp>
    </p:spTree>
    <p:extLst>
      <p:ext uri="{BB962C8B-B14F-4D97-AF65-F5344CB8AC3E}">
        <p14:creationId xmlns:p14="http://schemas.microsoft.com/office/powerpoint/2010/main" val="3929366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9A1385C-1DA6-42AA-9108-82CDC93A5C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811484"/>
            <a:ext cx="5903912" cy="64770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通货膨胀的分类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D5E4CF0-9CFC-41FD-9986-A41C91008FBC}"/>
              </a:ext>
            </a:extLst>
          </p:cNvPr>
          <p:cNvSpPr txBox="1">
            <a:spLocks noChangeArrowheads="1"/>
          </p:cNvSpPr>
          <p:nvPr/>
        </p:nvSpPr>
        <p:spPr>
          <a:xfrm>
            <a:off x="1619250" y="1819546"/>
            <a:ext cx="7056438" cy="1223963"/>
          </a:xfrm>
          <a:prstGeom prst="rect">
            <a:avLst/>
          </a:prstGeom>
          <a:noFill/>
          <a:ln w="3175">
            <a:solidFill>
              <a:schemeClr val="tx1"/>
            </a:solidFill>
            <a:headEnd/>
            <a:tailEnd/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SzPct val="95000"/>
              <a:buFont typeface="Wingdings" panose="05000000000000000000" pitchFamily="2" charset="2"/>
              <a:buChar char="p"/>
            </a:pPr>
            <a:r>
              <a:rPr lang="zh-CN" altLang="en-US">
                <a:latin typeface="宋体" panose="02010600030101010101" pitchFamily="2" charset="-122"/>
              </a:rPr>
              <a:t>温和通货膨胀，年物价水平</a:t>
            </a:r>
            <a:r>
              <a:rPr lang="en-US" altLang="zh-CN">
                <a:latin typeface="宋体" panose="02010600030101010101" pitchFamily="2" charset="-122"/>
              </a:rPr>
              <a:t>10%</a:t>
            </a:r>
            <a:r>
              <a:rPr lang="zh-CN" altLang="en-US">
                <a:latin typeface="宋体" panose="02010600030101010101" pitchFamily="2" charset="-122"/>
              </a:rPr>
              <a:t>以内。</a:t>
            </a:r>
          </a:p>
          <a:p>
            <a:pPr>
              <a:buClr>
                <a:srgbClr val="FF0000"/>
              </a:buClr>
              <a:buSzPct val="95000"/>
              <a:buFont typeface="Wingdings" panose="05000000000000000000" pitchFamily="2" charset="2"/>
              <a:buChar char="p"/>
            </a:pPr>
            <a:r>
              <a:rPr lang="zh-CN" altLang="en-US">
                <a:latin typeface="宋体" panose="02010600030101010101" pitchFamily="2" charset="-122"/>
              </a:rPr>
              <a:t>严重通货膨胀，</a:t>
            </a:r>
            <a:r>
              <a:rPr lang="en-US" altLang="zh-CN">
                <a:latin typeface="宋体" panose="02010600030101010101" pitchFamily="2" charset="-122"/>
              </a:rPr>
              <a:t>10%-100%</a:t>
            </a:r>
            <a:r>
              <a:rPr lang="zh-CN" altLang="en-US">
                <a:latin typeface="宋体" panose="02010600030101010101" pitchFamily="2" charset="-122"/>
              </a:rPr>
              <a:t>；奔腾式的通货膨胀。</a:t>
            </a:r>
          </a:p>
          <a:p>
            <a:pPr>
              <a:buClr>
                <a:srgbClr val="FF0000"/>
              </a:buClr>
              <a:buSzPct val="95000"/>
              <a:buFont typeface="Wingdings" panose="05000000000000000000" pitchFamily="2" charset="2"/>
              <a:buChar char="p"/>
            </a:pPr>
            <a:r>
              <a:rPr lang="zh-CN" altLang="en-US">
                <a:latin typeface="宋体" panose="02010600030101010101" pitchFamily="2" charset="-122"/>
              </a:rPr>
              <a:t>恶性通货膨胀，</a:t>
            </a:r>
            <a:r>
              <a:rPr lang="en-US" altLang="zh-CN">
                <a:latin typeface="宋体" panose="02010600030101010101" pitchFamily="2" charset="-122"/>
              </a:rPr>
              <a:t>100</a:t>
            </a:r>
            <a:r>
              <a:rPr lang="zh-CN" altLang="en-US">
                <a:latin typeface="宋体" panose="02010600030101010101" pitchFamily="2" charset="-122"/>
              </a:rPr>
              <a:t>％以上，超级通货膨胀。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6A8823B-85C4-4BBC-86B2-52B0B5FA6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3187971"/>
            <a:ext cx="7056438" cy="863600"/>
          </a:xfrm>
          <a:prstGeom prst="rect">
            <a:avLst/>
          </a:prstGeom>
          <a:noFill/>
          <a:ln w="3175" cap="sq" cmpd="thickThin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未预期型通货膨胀：价格上升速度超乎意料。</a:t>
            </a:r>
          </a:p>
          <a:p>
            <a:pPr>
              <a:lnSpc>
                <a:spcPct val="80000"/>
              </a:lnSpc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预期型通货膨胀：物价有规律的变动。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B701CD5-3422-4B9D-AF01-B3D6DE8CF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4196034"/>
            <a:ext cx="7056438" cy="1079500"/>
          </a:xfrm>
          <a:prstGeom prst="rect">
            <a:avLst/>
          </a:prstGeom>
          <a:noFill/>
          <a:ln w="3175" cap="sq" cmpd="thickThin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平衡型通货膨胀：每种商品的价格都同比例上升</a:t>
            </a:r>
          </a:p>
          <a:p>
            <a:pPr>
              <a:lnSpc>
                <a:spcPct val="80000"/>
              </a:lnSpc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非平衡型通货膨胀：各种商品价格上升比例不完全相同。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57AD9D-E1FD-4972-BE68-338657681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964009"/>
            <a:ext cx="936625" cy="898525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76200" cap="sq">
            <a:solidFill>
              <a:srgbClr val="3366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00"/>
                </a:solidFill>
              </a:rPr>
              <a:t>上升速度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930316-3292-4FB8-BD49-E9D42F093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187971"/>
            <a:ext cx="1035050" cy="898525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76200" cap="sq" algn="ctr">
            <a:solidFill>
              <a:srgbClr val="3366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00"/>
                </a:solidFill>
              </a:rPr>
              <a:t>预料程度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2160B0-113B-4A1A-8C7E-2070B43C3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267471"/>
            <a:ext cx="1003300" cy="898525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76200" cap="sq" algn="ctr">
            <a:solidFill>
              <a:srgbClr val="3366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00"/>
                </a:solidFill>
              </a:rPr>
              <a:t>价格影响</a:t>
            </a:r>
          </a:p>
        </p:txBody>
      </p:sp>
    </p:spTree>
    <p:extLst>
      <p:ext uri="{BB962C8B-B14F-4D97-AF65-F5344CB8AC3E}">
        <p14:creationId xmlns:p14="http://schemas.microsoft.com/office/powerpoint/2010/main" val="2493700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C94E2A5-97A2-43B0-8FA9-0A0FBF96B6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567448"/>
            <a:ext cx="5903913" cy="64770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通货紧缩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0702217-01BB-415B-8CE2-B8D538BFD9AA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459623"/>
            <a:ext cx="4030662" cy="1368425"/>
          </a:xfrm>
          <a:prstGeom prst="rect">
            <a:avLst/>
          </a:prstGeom>
          <a:noFill/>
          <a:ln w="3175">
            <a:solidFill>
              <a:schemeClr val="tx1"/>
            </a:solidFill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dirty="0"/>
              <a:t>通货紧缩：社会价格总水平即商品和劳务价格总水平不断普遍下降。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0C535E2-7544-45FD-8A31-22139349E202}"/>
              </a:ext>
            </a:extLst>
          </p:cNvPr>
          <p:cNvSpPr txBox="1">
            <a:spLocks noChangeArrowheads="1"/>
          </p:cNvSpPr>
          <p:nvPr/>
        </p:nvSpPr>
        <p:spPr>
          <a:xfrm>
            <a:off x="4645025" y="1459623"/>
            <a:ext cx="4030663" cy="1727200"/>
          </a:xfrm>
          <a:prstGeom prst="rect">
            <a:avLst/>
          </a:prstGeom>
          <a:noFill/>
          <a:ln w="3175" cmpd="thickThin">
            <a:solidFill>
              <a:schemeClr val="tx1"/>
            </a:solidFill>
            <a:headEnd/>
            <a:tailEnd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zh-CN" altLang="en-US" dirty="0"/>
              <a:t>通货紧缩是与通货膨胀相对应的经济过程，往往是在通货膨胀得到抑制之后发生的。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666F316-C269-44EB-992A-269A60A94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899486"/>
            <a:ext cx="4030662" cy="3760787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2563" indent="-182563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sz="2400" dirty="0"/>
              <a:t>流通中的货币大大少于商品流通的需要，</a:t>
            </a:r>
          </a:p>
          <a:p>
            <a:pPr>
              <a:lnSpc>
                <a:spcPct val="80000"/>
              </a:lnSpc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sz="2400" dirty="0"/>
              <a:t>特别是货币流通速度下降，</a:t>
            </a:r>
          </a:p>
          <a:p>
            <a:pPr>
              <a:lnSpc>
                <a:spcPct val="80000"/>
              </a:lnSpc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sz="2400" dirty="0"/>
              <a:t>社会对于经济前景预期普遍不良，</a:t>
            </a:r>
          </a:p>
          <a:p>
            <a:pPr>
              <a:lnSpc>
                <a:spcPct val="80000"/>
              </a:lnSpc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sz="2400" dirty="0"/>
              <a:t>总需求小于总供给，</a:t>
            </a:r>
          </a:p>
          <a:p>
            <a:pPr>
              <a:lnSpc>
                <a:spcPct val="80000"/>
              </a:lnSpc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sz="2400" dirty="0"/>
              <a:t>造成价格水平普遍下降，</a:t>
            </a:r>
          </a:p>
          <a:p>
            <a:pPr>
              <a:lnSpc>
                <a:spcPct val="80000"/>
              </a:lnSpc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sz="2400" dirty="0"/>
              <a:t>经济持续萎缩，资产严重缩水。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D26F454-1245-4979-94A0-EA947C9DA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978986"/>
            <a:ext cx="4030662" cy="2519362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zh-CN" altLang="en-US" sz="2400" dirty="0"/>
              <a:t>物价连续下跌，另一个是通货量，货币供给量连续下降。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zh-CN" altLang="en-US" sz="2400" dirty="0"/>
              <a:t>实质：通货紧缩是“伴随物价下跌而出现的经济衰退”。</a:t>
            </a:r>
          </a:p>
        </p:txBody>
      </p:sp>
    </p:spTree>
    <p:extLst>
      <p:ext uri="{BB962C8B-B14F-4D97-AF65-F5344CB8AC3E}">
        <p14:creationId xmlns:p14="http://schemas.microsoft.com/office/powerpoint/2010/main" val="2889115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92C86A5-2127-4972-8FF1-9FA914EDA5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636386"/>
            <a:ext cx="5903912" cy="647700"/>
          </a:xfrm>
          <a:noFill/>
          <a:ln w="3175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通货膨胀的成因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F797256-2144-4953-A5A6-122D78CA90C7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644448"/>
            <a:ext cx="5903912" cy="647700"/>
          </a:xfrm>
          <a:prstGeom prst="rect">
            <a:avLst/>
          </a:prstGeom>
          <a:ln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货币供给的过度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2A9691D-EF5C-4389-B14B-E27944BE5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436611"/>
            <a:ext cx="8207375" cy="792162"/>
          </a:xfrm>
          <a:prstGeom prst="rect">
            <a:avLst/>
          </a:prstGeom>
          <a:noFill/>
          <a:ln w="31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货币数量论的观点： 每次通货膨胀都有货币供给的迅速增长。</a:t>
            </a:r>
            <a:r>
              <a:rPr lang="zh-CN" altLang="en-US">
                <a:ea typeface="黑体" panose="02010609060101010101" pitchFamily="49" charset="-122"/>
              </a:rPr>
              <a:t>“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过多的钞票追逐过少的商品</a:t>
            </a:r>
            <a:r>
              <a:rPr lang="zh-CN" altLang="en-US">
                <a:ea typeface="黑体" panose="02010609060101010101" pitchFamily="49" charset="-122"/>
              </a:rPr>
              <a:t>”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423B475-7D0A-428E-9D7B-16AFB05BA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371648"/>
            <a:ext cx="8207375" cy="1225550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MV=PY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/>
              <a:t>费雪交易方程式）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即货币供给量*货币流通速度（总支出）＝物价水平*实际收入（总收入）</a:t>
            </a:r>
          </a:p>
        </p:txBody>
      </p:sp>
    </p:spTree>
    <p:extLst>
      <p:ext uri="{BB962C8B-B14F-4D97-AF65-F5344CB8AC3E}">
        <p14:creationId xmlns:p14="http://schemas.microsoft.com/office/powerpoint/2010/main" val="2715869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E310E5D-5F73-4F7B-A69F-3289CAD91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5903912" cy="64770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zh-CN" altLang="en-US" sz="3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需求拉动（拉上）通货膨胀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697CAAC-7954-4BCB-BD23-98CC0A06F713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196975"/>
            <a:ext cx="8207375" cy="936625"/>
          </a:xfrm>
          <a:prstGeom prst="rect">
            <a:avLst/>
          </a:prstGeom>
          <a:noFill/>
          <a:ln w="3175" cmpd="sng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dirty="0"/>
              <a:t>需求拉动</a:t>
            </a:r>
            <a:r>
              <a:rPr lang="zh-CN" altLang="en-US" dirty="0">
                <a:solidFill>
                  <a:schemeClr val="bg1"/>
                </a:solidFill>
              </a:rPr>
              <a:t>通货膨胀：</a:t>
            </a:r>
            <a:r>
              <a:rPr lang="zh-CN" altLang="en-US" dirty="0"/>
              <a:t>超额需求、即总需求超过总供给所引起的一般价格水平的持续显著上涨。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F4DB65B-073C-4D23-B8D2-0F76AAC42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276475"/>
            <a:ext cx="3598862" cy="1081088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/>
              <a:t>水平的凯恩斯总供给曲线：总需求增加，不会导致价格上涨，此时资源充足。</a:t>
            </a:r>
          </a:p>
        </p:txBody>
      </p:sp>
      <p:sp>
        <p:nvSpPr>
          <p:cNvPr id="7" name="Rectangle 307">
            <a:extLst>
              <a:ext uri="{FF2B5EF4-FFF2-40B4-BE49-F238E27FC236}">
                <a16:creationId xmlns:a16="http://schemas.microsoft.com/office/drawing/2014/main" id="{B7800EDB-CF22-487F-B3B0-FF4B6E567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357563"/>
            <a:ext cx="3598862" cy="2016125"/>
          </a:xfrm>
          <a:prstGeom prst="rect">
            <a:avLst/>
          </a:prstGeom>
          <a:noFill/>
          <a:ln w="31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sz="2000"/>
              <a:t>中间的常规总供给曲线：总需求增加，价格上涨，是由于劳动、资本等不足，导致成本提高。即供给瓶颈。该区域的通货膨胀被称为瓶颈式通货膨胀。</a:t>
            </a:r>
          </a:p>
        </p:txBody>
      </p:sp>
      <p:sp>
        <p:nvSpPr>
          <p:cNvPr id="8" name="Rectangle 308">
            <a:extLst>
              <a:ext uri="{FF2B5EF4-FFF2-40B4-BE49-F238E27FC236}">
                <a16:creationId xmlns:a16="http://schemas.microsoft.com/office/drawing/2014/main" id="{A2AE6DEC-9097-44D5-89D0-F7EA4764B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373688"/>
            <a:ext cx="3598862" cy="1077912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/>
              <a:t>垂直的古典总供给曲线：充分就业。总需求继续增加，导致价格上涨，收入不变。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259FC6D-1A7B-4722-9DE1-8F6DFA77B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997" y="2643274"/>
            <a:ext cx="3520745" cy="314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43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D017002-82F9-4110-89DD-8C4C06E062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4522" y="539110"/>
            <a:ext cx="4665662" cy="647700"/>
          </a:xfrm>
          <a:noFill/>
          <a:ln>
            <a:noFill/>
          </a:ln>
        </p:spPr>
        <p:txBody>
          <a:bodyPr/>
          <a:lstStyle/>
          <a:p>
            <a:r>
              <a:rPr lang="zh-CN" altLang="en-US" sz="2800" dirty="0">
                <a:solidFill>
                  <a:schemeClr val="bg1"/>
                </a:solidFill>
                <a:ea typeface="黑体" panose="02010609060101010101" pitchFamily="49" charset="-122"/>
              </a:rPr>
              <a:t>需求拉上通货膨胀的原因</a:t>
            </a:r>
          </a:p>
        </p:txBody>
      </p:sp>
      <p:sp>
        <p:nvSpPr>
          <p:cNvPr id="5" name="Rectangle 51">
            <a:extLst>
              <a:ext uri="{FF2B5EF4-FFF2-40B4-BE49-F238E27FC236}">
                <a16:creationId xmlns:a16="http://schemas.microsoft.com/office/drawing/2014/main" id="{5AC17C10-8C2B-485F-AC3E-11839BD0A6B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27398" y="5723886"/>
            <a:ext cx="8137525" cy="935037"/>
          </a:xfrm>
          <a:noFill/>
          <a:ln cmpd="sng">
            <a:noFill/>
          </a:ln>
        </p:spPr>
        <p:txBody>
          <a:bodyPr>
            <a:normAutofit fontScale="85000" lnSpcReduction="10000"/>
          </a:bodyPr>
          <a:lstStyle/>
          <a:p>
            <a:pPr marL="0" indent="0"/>
            <a:r>
              <a:rPr lang="zh-CN" altLang="en-US" b="0"/>
              <a:t>膨胀性缺口：</a:t>
            </a:r>
            <a:r>
              <a:rPr lang="zh-CN" altLang="en-US"/>
              <a:t>实际总需求</a:t>
            </a:r>
            <a:r>
              <a:rPr lang="en-US" altLang="zh-CN" b="0"/>
              <a:t>&gt;</a:t>
            </a:r>
            <a:r>
              <a:rPr lang="zh-CN" altLang="en-US"/>
              <a:t>充分就业总需求，其间的差额</a:t>
            </a:r>
          </a:p>
          <a:p>
            <a:pPr marL="0" indent="0">
              <a:lnSpc>
                <a:spcPct val="80000"/>
              </a:lnSpc>
            </a:pPr>
            <a:r>
              <a:rPr lang="zh-CN" altLang="en-US"/>
              <a:t>导致需求拉上型通货膨胀。</a:t>
            </a:r>
          </a:p>
        </p:txBody>
      </p:sp>
      <p:sp>
        <p:nvSpPr>
          <p:cNvPr id="6" name="AutoShape 24">
            <a:extLst>
              <a:ext uri="{FF2B5EF4-FFF2-40B4-BE49-F238E27FC236}">
                <a16:creationId xmlns:a16="http://schemas.microsoft.com/office/drawing/2014/main" id="{C7006622-A470-4115-B14D-E4DD0A8F4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409" y="1340797"/>
            <a:ext cx="4248150" cy="1524000"/>
          </a:xfrm>
          <a:prstGeom prst="wedgeRoundRectCallout">
            <a:avLst>
              <a:gd name="adj1" fmla="val -11287"/>
              <a:gd name="adj2" fmla="val 68023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</a:pPr>
            <a:r>
              <a:rPr kumimoji="0" lang="zh-CN" altLang="en-US" sz="2000" b="1">
                <a:solidFill>
                  <a:srgbClr val="000099"/>
                </a:solidFill>
                <a:latin typeface="Arial" panose="020B0604020202020204" pitchFamily="34" charset="0"/>
              </a:rPr>
              <a:t>总供给的增加并不能迅速满足总需求的增加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</a:pPr>
            <a:r>
              <a:rPr kumimoji="0" lang="en-US" altLang="zh-CN" sz="2000" b="1">
                <a:solidFill>
                  <a:srgbClr val="000099"/>
                </a:solidFill>
                <a:latin typeface="Arial" panose="020B0604020202020204" pitchFamily="34" charset="0"/>
              </a:rPr>
              <a:t>AD</a:t>
            </a:r>
            <a:r>
              <a:rPr kumimoji="0" lang="en-US" altLang="zh-CN" sz="2000" b="1" baseline="-25000">
                <a:solidFill>
                  <a:srgbClr val="000099"/>
                </a:solidFill>
                <a:latin typeface="Arial" panose="020B0604020202020204" pitchFamily="34" charset="0"/>
              </a:rPr>
              <a:t>0</a:t>
            </a:r>
            <a:r>
              <a:rPr kumimoji="0" lang="en-US" altLang="zh-CN" sz="2000" b="1">
                <a:solidFill>
                  <a:srgbClr val="0000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kumimoji="0" lang="en-US" altLang="zh-CN" sz="2000" b="1">
                <a:solidFill>
                  <a:srgbClr val="000099"/>
                </a:solidFill>
                <a:latin typeface="Arial" panose="020B0604020202020204" pitchFamily="34" charset="0"/>
              </a:rPr>
              <a:t>AD</a:t>
            </a:r>
            <a:r>
              <a:rPr kumimoji="0" lang="en-US" altLang="zh-CN" sz="2000" b="1" baseline="-25000">
                <a:solidFill>
                  <a:srgbClr val="000099"/>
                </a:solidFill>
                <a:latin typeface="Arial" panose="020B0604020202020204" pitchFamily="34" charset="0"/>
              </a:rPr>
              <a:t>1</a:t>
            </a:r>
            <a:r>
              <a:rPr kumimoji="0" lang="en-US" altLang="zh-CN" sz="2000" b="1">
                <a:solidFill>
                  <a:srgbClr val="000099"/>
                </a:solidFill>
                <a:latin typeface="Arial" panose="020B0604020202020204" pitchFamily="34" charset="0"/>
              </a:rPr>
              <a:t>,Y</a:t>
            </a:r>
            <a:r>
              <a:rPr kumimoji="0" lang="en-US" altLang="zh-CN" sz="2000" b="1" baseline="-25000">
                <a:solidFill>
                  <a:srgbClr val="000099"/>
                </a:solidFill>
                <a:latin typeface="Arial" panose="020B0604020202020204" pitchFamily="34" charset="0"/>
              </a:rPr>
              <a:t>0</a:t>
            </a:r>
            <a:r>
              <a:rPr kumimoji="0" lang="en-US" altLang="zh-CN" sz="2000" b="1">
                <a:solidFill>
                  <a:srgbClr val="0000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kumimoji="0" lang="en-US" altLang="zh-CN" sz="2000" b="1">
                <a:solidFill>
                  <a:srgbClr val="000099"/>
                </a:solidFill>
                <a:latin typeface="Arial" panose="020B0604020202020204" pitchFamily="34" charset="0"/>
              </a:rPr>
              <a:t>Y</a:t>
            </a:r>
            <a:r>
              <a:rPr kumimoji="0" lang="en-US" altLang="zh-CN" sz="2000" b="1" baseline="-25000">
                <a:solidFill>
                  <a:srgbClr val="000099"/>
                </a:solidFill>
                <a:latin typeface="Arial" panose="020B0604020202020204" pitchFamily="34" charset="0"/>
              </a:rPr>
              <a:t>1</a:t>
            </a:r>
            <a:r>
              <a:rPr kumimoji="0" lang="en-US" altLang="zh-CN" sz="2000" b="1">
                <a:solidFill>
                  <a:srgbClr val="000099"/>
                </a:solidFill>
                <a:latin typeface="Arial" panose="020B0604020202020204" pitchFamily="34" charset="0"/>
              </a:rPr>
              <a:t> , P</a:t>
            </a:r>
            <a:r>
              <a:rPr kumimoji="0" lang="en-US" altLang="zh-CN" sz="2000" b="1" baseline="-25000">
                <a:solidFill>
                  <a:srgbClr val="000099"/>
                </a:solidFill>
                <a:latin typeface="Arial" panose="020B0604020202020204" pitchFamily="34" charset="0"/>
              </a:rPr>
              <a:t>0</a:t>
            </a:r>
            <a:r>
              <a:rPr kumimoji="0" lang="en-US" altLang="zh-CN" sz="2000" b="1">
                <a:solidFill>
                  <a:srgbClr val="0000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kumimoji="0" lang="en-US" altLang="zh-CN" sz="2000" b="1">
                <a:solidFill>
                  <a:srgbClr val="000099"/>
                </a:solidFill>
                <a:latin typeface="Arial" panose="020B0604020202020204" pitchFamily="34" charset="0"/>
              </a:rPr>
              <a:t>P</a:t>
            </a:r>
            <a:r>
              <a:rPr kumimoji="0" lang="en-US" altLang="zh-CN" sz="2000" b="1" baseline="-25000">
                <a:solidFill>
                  <a:srgbClr val="000099"/>
                </a:solidFill>
                <a:latin typeface="Arial" panose="020B0604020202020204" pitchFamily="34" charset="0"/>
              </a:rPr>
              <a:t>1</a:t>
            </a:r>
            <a:r>
              <a:rPr kumimoji="0" lang="zh-CN" altLang="en-US" sz="2000" b="1">
                <a:solidFill>
                  <a:srgbClr val="000099"/>
                </a:solidFill>
                <a:latin typeface="Arial" panose="020B0604020202020204" pitchFamily="34" charset="0"/>
              </a:rPr>
              <a:t>。</a:t>
            </a:r>
          </a:p>
        </p:txBody>
      </p:sp>
      <p:sp>
        <p:nvSpPr>
          <p:cNvPr id="7" name="AutoShape 25">
            <a:extLst>
              <a:ext uri="{FF2B5EF4-FFF2-40B4-BE49-F238E27FC236}">
                <a16:creationId xmlns:a16="http://schemas.microsoft.com/office/drawing/2014/main" id="{DEA6CBDF-0EDB-47BD-9413-922666882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4822" y="2501928"/>
            <a:ext cx="1871662" cy="1150938"/>
          </a:xfrm>
          <a:prstGeom prst="wedgeRectCallout">
            <a:avLst>
              <a:gd name="adj1" fmla="val 5556"/>
              <a:gd name="adj2" fmla="val 5938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</a:pPr>
            <a:r>
              <a:rPr kumimoji="0" lang="zh-CN" altLang="en-US" b="1" dirty="0">
                <a:solidFill>
                  <a:srgbClr val="000099"/>
                </a:solidFill>
                <a:latin typeface="Arial" panose="020B0604020202020204" pitchFamily="34" charset="0"/>
              </a:rPr>
              <a:t>充分就业的国民收入无法再增加。</a:t>
            </a:r>
            <a:endParaRPr kumimoji="0"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620A0B97-1FD4-405A-9BAD-FBD622CEC9C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164472" y="755011"/>
            <a:ext cx="3060700" cy="162877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76200" algn="ctr">
            <a:solidFill>
              <a:srgbClr val="33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tabLst>
                <a:tab pos="4572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Font typeface="Wingdings" panose="05000000000000000000" pitchFamily="2" charset="2"/>
              <a:buBlip>
                <a:blip r:embed="rId4"/>
              </a:buBlip>
              <a:tabLst>
                <a:tab pos="4572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har char="•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Char char="–"/>
              <a:tabLst>
                <a:tab pos="457200" algn="l"/>
              </a:tabLs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20000"/>
              </a:spcBef>
              <a:buChar char="•"/>
              <a:tabLst>
                <a:tab pos="457200" algn="l"/>
              </a:tabLs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har char="•"/>
              <a:tabLst>
                <a:tab pos="457200" algn="l"/>
              </a:tabLs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har char="•"/>
              <a:tabLst>
                <a:tab pos="457200" algn="l"/>
              </a:tabLs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har char="•"/>
              <a:tabLst>
                <a:tab pos="457200" algn="l"/>
              </a:tabLs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har char="•"/>
              <a:tabLst>
                <a:tab pos="457200" algn="l"/>
              </a:tabLs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</a:rPr>
              <a:t>原因</a:t>
            </a:r>
          </a:p>
          <a:p>
            <a:pPr eaLnBrk="0" hangingPunct="0">
              <a:spcBef>
                <a:spcPct val="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chemeClr val="tx2"/>
                </a:solidFill>
              </a:rPr>
              <a:t>私人投资增加</a:t>
            </a:r>
          </a:p>
          <a:p>
            <a:pPr eaLnBrk="0" hangingPunct="0">
              <a:spcBef>
                <a:spcPct val="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chemeClr val="tx2"/>
                </a:solidFill>
              </a:rPr>
              <a:t>政府购买增加</a:t>
            </a:r>
          </a:p>
          <a:p>
            <a:pPr eaLnBrk="0" hangingPunct="0">
              <a:spcBef>
                <a:spcPct val="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chemeClr val="tx2"/>
                </a:solidFill>
              </a:rPr>
              <a:t>货币供给量增加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D21C141-F5D1-4ADD-9FF4-85C7EC766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7606" y="3077397"/>
            <a:ext cx="5287216" cy="243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82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15728B6-B310-4425-83AF-CA2FC9DCB2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/>
          <a:lstStyle/>
          <a:p>
            <a:r>
              <a:rPr lang="zh-CN" altLang="en-US" sz="2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成本推动</a:t>
            </a:r>
            <a:r>
              <a:rPr lang="zh-CN" altLang="en-US" sz="2800" dirty="0"/>
              <a:t>通货膨胀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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0081297-447D-4E06-BCF2-D9B1B57B88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0987" y="1822891"/>
            <a:ext cx="8207375" cy="936625"/>
          </a:xfrm>
          <a:noFill/>
          <a:ln w="3175" cmpd="sng"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成本推动</a:t>
            </a:r>
            <a:r>
              <a:rPr lang="zh-CN" altLang="en-US" dirty="0"/>
              <a:t>通货膨胀：又称供给通货膨胀。</a:t>
            </a:r>
          </a:p>
          <a:p>
            <a:pPr>
              <a:lnSpc>
                <a:spcPct val="90000"/>
              </a:lnSpc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dirty="0"/>
              <a:t>成本提高所引起的一般价格水平的持续显著上涨。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D297ECC-2E43-4636-A330-54710187A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818" y="3028078"/>
            <a:ext cx="4595258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20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13D8A53-957D-4DBC-A54A-097C684CC6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3177" y="277576"/>
            <a:ext cx="10515600" cy="1325563"/>
          </a:xfrm>
          <a:noFill/>
          <a:ln w="3175">
            <a:noFill/>
          </a:ln>
        </p:spPr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三种推动情形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DC19B06-74B7-4CC8-A2A6-51991C8562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7290" y="1180865"/>
            <a:ext cx="2951162" cy="2447925"/>
          </a:xfrm>
          <a:noFill/>
          <a:ln w="3175" cap="flat" cmpd="sng">
            <a:solidFill>
              <a:schemeClr val="tx1"/>
            </a:solidFill>
            <a:headEnd w="med" len="med"/>
            <a:tailEnd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>
              <a:tabLst>
                <a:tab pos="177800" algn="l"/>
              </a:tabLst>
            </a:pPr>
            <a:r>
              <a:rPr lang="zh-CN" altLang="en-US"/>
              <a:t>工资成本推动</a:t>
            </a:r>
            <a:r>
              <a:rPr lang="zh-CN" altLang="en-US" b="0"/>
              <a:t>：</a:t>
            </a:r>
          </a:p>
          <a:p>
            <a:pPr marL="179388" lvl="1">
              <a:tabLst>
                <a:tab pos="177800" algn="l"/>
              </a:tabLst>
            </a:pPr>
            <a:r>
              <a:rPr lang="zh-CN" altLang="en-US" b="0"/>
              <a:t>个别部门工资增加导致整个社会工资水平上升。工资与物价互相推动，形成通货膨胀。</a:t>
            </a:r>
            <a:r>
              <a:rPr lang="zh-CN" altLang="en-US"/>
              <a:t> 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12ECEBC-8082-4B7C-90E4-3A1E8B466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177" y="1055451"/>
            <a:ext cx="5183188" cy="1079500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/>
              <a:t>最主要。不完全竞争劳动市场中，工会组织、工资刚性等原因，工资过高，工资增长率超过生产增长率，导致成本过高。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96FCB71-BAA7-45FB-913A-BF54E91E3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7290" y="3846276"/>
            <a:ext cx="2951162" cy="136683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tabLst>
                <a:tab pos="1778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7938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tabLst>
                <a:tab pos="1778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28725" indent="-228600">
              <a:spcBef>
                <a:spcPct val="20000"/>
              </a:spcBef>
              <a:buChar char="•"/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36713" indent="-228600">
              <a:spcBef>
                <a:spcPct val="20000"/>
              </a:spcBef>
              <a:buChar char="–"/>
              <a:tabLst>
                <a:tab pos="177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177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tabLst>
                <a:tab pos="177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tabLst>
                <a:tab pos="177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tabLst>
                <a:tab pos="177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tabLst>
                <a:tab pos="177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利润推动</a:t>
            </a:r>
            <a:r>
              <a:rPr lang="zh-CN" altLang="en-US" b="0" dirty="0">
                <a:solidFill>
                  <a:schemeClr val="bg1"/>
                </a:solidFill>
              </a:rPr>
              <a:t>：</a:t>
            </a:r>
          </a:p>
          <a:p>
            <a:pPr lvl="1">
              <a:lnSpc>
                <a:spcPct val="900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b="0" dirty="0">
                <a:solidFill>
                  <a:schemeClr val="bg1"/>
                </a:solidFill>
              </a:rPr>
              <a:t>垄断利润推动产品销售价格上升。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CC2E7F27-2913-4628-B9AF-2A2D49029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177" y="4027251"/>
            <a:ext cx="5183188" cy="1079500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0">
                <a:latin typeface="黑体" panose="02010609060101010101" pitchFamily="49" charset="-122"/>
                <a:ea typeface="黑体" panose="02010609060101010101" pitchFamily="49" charset="-122"/>
              </a:rPr>
              <a:t>不完全竞争的产品市场中，少数大企业可以操纵商品价格，定价很高，价格上涨超过成本上涨的速度。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0196ADAF-17E0-42E2-A7F9-0AF7F9D7B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7291" y="5357576"/>
            <a:ext cx="8207375" cy="93503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tabLst>
                <a:tab pos="1778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7938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tabLst>
                <a:tab pos="1778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28725" indent="-228600">
              <a:spcBef>
                <a:spcPct val="20000"/>
              </a:spcBef>
              <a:buChar char="•"/>
              <a:tabLst>
                <a:tab pos="1778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36713" indent="-228600">
              <a:spcBef>
                <a:spcPct val="20000"/>
              </a:spcBef>
              <a:buChar char="–"/>
              <a:tabLst>
                <a:tab pos="177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tabLst>
                <a:tab pos="177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tabLst>
                <a:tab pos="177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tabLst>
                <a:tab pos="177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tabLst>
                <a:tab pos="177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tabLst>
                <a:tab pos="177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进口成本推动</a:t>
            </a:r>
            <a:r>
              <a:rPr lang="zh-CN" altLang="en-US" b="0" dirty="0">
                <a:solidFill>
                  <a:schemeClr val="bg1"/>
                </a:solidFill>
              </a:rPr>
              <a:t>：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en-US" b="0" dirty="0">
                <a:solidFill>
                  <a:schemeClr val="bg1"/>
                </a:solidFill>
              </a:rPr>
              <a:t>进口原材料价格上升而引起通胀。如</a:t>
            </a:r>
            <a:r>
              <a:rPr lang="zh-CN" altLang="en-US" sz="2000" b="0" dirty="0">
                <a:solidFill>
                  <a:schemeClr val="bg1"/>
                </a:solidFill>
              </a:rPr>
              <a:t>世界性商品价格上涨</a:t>
            </a:r>
            <a:r>
              <a:rPr lang="zh-CN" altLang="en-US" sz="2800" dirty="0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A7905572-00B9-4DC8-8B70-2DC010C74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177" y="2274651"/>
            <a:ext cx="5183188" cy="1366838"/>
          </a:xfrm>
          <a:prstGeom prst="rect">
            <a:avLst/>
          </a:prstGeom>
          <a:noFill/>
          <a:ln w="31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/>
              <a:t>工资</a:t>
            </a:r>
            <a:r>
              <a:rPr lang="en-US" altLang="zh-CN"/>
              <a:t>-</a:t>
            </a:r>
            <a:r>
              <a:rPr lang="zh-CN" altLang="en-US"/>
              <a:t>价格螺旋：工资提高引起价格上涨，价格上涨又进一步导致工资提高的这种螺旋式上升。</a:t>
            </a:r>
          </a:p>
        </p:txBody>
      </p:sp>
    </p:spTree>
    <p:extLst>
      <p:ext uri="{BB962C8B-B14F-4D97-AF65-F5344CB8AC3E}">
        <p14:creationId xmlns:p14="http://schemas.microsoft.com/office/powerpoint/2010/main" val="3090739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5FE81EE-648B-43EF-96A9-92E11AD237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5552" y="365125"/>
            <a:ext cx="10515600" cy="1325563"/>
          </a:xfrm>
          <a:noFill/>
          <a:ln>
            <a:noFill/>
          </a:ln>
        </p:spPr>
        <p:txBody>
          <a:bodyPr/>
          <a:lstStyle/>
          <a:p>
            <a:r>
              <a:rPr lang="zh-CN" altLang="en-US" sz="2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结构性通货膨胀</a:t>
            </a:r>
            <a:endParaRPr lang="zh-CN" altLang="en-US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04A2ED4-FED0-4D89-96CE-C58177F351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4992" y="4139561"/>
            <a:ext cx="8207375" cy="1081087"/>
          </a:xfrm>
          <a:ln/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/>
              <a:t>主要有供求结构、产业结构、生产率结构、开放结构的不平衡。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857F95F-8B8B-4CDB-82A5-A68C433FD7B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824992" y="1547173"/>
            <a:ext cx="8351837" cy="1008063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1950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28725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36713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zh-CN" altLang="en-US" sz="2400"/>
              <a:t>结构性通货膨胀：</a:t>
            </a: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zh-CN" altLang="en-US" sz="2400"/>
              <a:t>指经济结构不平衡引起的一般价格水平的上涨。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57848C0-5DAD-419B-A99A-EFC71B049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992" y="5365111"/>
            <a:ext cx="8207375" cy="1152525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/>
              <a:t>原因：</a:t>
            </a:r>
          </a:p>
          <a:p>
            <a:pPr>
              <a:lnSpc>
                <a:spcPct val="110000"/>
              </a:lnSpc>
            </a:pPr>
            <a:r>
              <a:rPr lang="zh-CN" altLang="en-US"/>
              <a:t>不同的产业部门，生产率提高的速度不同。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3358A7A1-6B0D-4122-A8F5-42671381824B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824992" y="2842573"/>
            <a:ext cx="8351837" cy="1008063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1950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28725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36713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zh-CN" altLang="en-US" sz="2400"/>
              <a:t>物价上涨是在没有需求拉动和供给推动的情况下，对某些部门的产品需求过多，造成部分产品的价格上涨的现象。</a:t>
            </a:r>
          </a:p>
        </p:txBody>
      </p:sp>
    </p:spTree>
    <p:extLst>
      <p:ext uri="{BB962C8B-B14F-4D97-AF65-F5344CB8AC3E}">
        <p14:creationId xmlns:p14="http://schemas.microsoft.com/office/powerpoint/2010/main" val="1004843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247A6F3-9599-45C7-A4E2-DF8003F8D4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926" y="559342"/>
            <a:ext cx="5903913" cy="647700"/>
          </a:xfrm>
          <a:noFill/>
          <a:ln w="76200" cmpd="sng">
            <a:noFill/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通货膨胀的经济效应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83386FD-A484-4D52-B5A1-FFD472844D9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30438" y="1527718"/>
            <a:ext cx="5903912" cy="576263"/>
          </a:xfrm>
          <a:noFill/>
          <a:ln cmpd="sng">
            <a:noFill/>
            <a:headEnd/>
            <a:tailEnd/>
          </a:ln>
        </p:spPr>
        <p:txBody>
          <a:bodyPr/>
          <a:lstStyle/>
          <a:p>
            <a:pPr marL="0" indent="0">
              <a:buNone/>
            </a:pPr>
            <a:r>
              <a:rPr lang="en-US" altLang="zh-CN" sz="2800"/>
              <a:t>1.</a:t>
            </a:r>
            <a:r>
              <a:rPr lang="zh-CN" altLang="en-US" sz="2800"/>
              <a:t>再分配效应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2018DED4-B4FC-4EDA-9222-2A5742570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439" y="2246856"/>
            <a:ext cx="8351837" cy="1800225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不利于依靠固定货币收入维持生活的人。</a:t>
            </a:r>
          </a:p>
          <a:p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如领取救济金、退休金、依靠转移支付和福利支出的人最显著。</a:t>
            </a:r>
          </a:p>
          <a:p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依靠工资生活的长期被雇佣者，工资变化缓慢。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6686209-65E3-4A98-A014-22866F887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439" y="5631405"/>
            <a:ext cx="5616575" cy="1008062"/>
          </a:xfrm>
          <a:prstGeom prst="rect">
            <a:avLst/>
          </a:prstGeom>
          <a:noFill/>
          <a:ln w="76200" cap="sq" cmpd="tri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牺牲债权人的利益，债务人获利。</a:t>
            </a:r>
          </a:p>
          <a:p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发行公债的国家，获利丰厚。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00FBA755-7542-4704-ABCB-D0ED92BBF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439" y="4120105"/>
            <a:ext cx="5616575" cy="1403350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对于储蓄者不利。</a:t>
            </a:r>
          </a:p>
          <a:p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各种形式的储蓄、存款的实际价值下降。有闲置现金的人损失最大。</a:t>
            </a: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6CFEBC71-5D15-4A74-8FE1-B8458BE2D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914" y="4336005"/>
            <a:ext cx="2447925" cy="2303462"/>
          </a:xfrm>
          <a:prstGeom prst="wedgeRectCallout">
            <a:avLst>
              <a:gd name="adj1" fmla="val -10375"/>
              <a:gd name="adj2" fmla="val -60889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b="1"/>
              <a:t>依靠变动收入的人收益。</a:t>
            </a:r>
          </a:p>
          <a:p>
            <a:r>
              <a:rPr lang="zh-CN" altLang="en-US" b="1"/>
              <a:t>其货币收入与通货膨胀同步增长，甚至要早于通货膨胀</a:t>
            </a:r>
          </a:p>
        </p:txBody>
      </p:sp>
    </p:spTree>
    <p:extLst>
      <p:ext uri="{BB962C8B-B14F-4D97-AF65-F5344CB8AC3E}">
        <p14:creationId xmlns:p14="http://schemas.microsoft.com/office/powerpoint/2010/main" val="3683725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474C3E6-F0B2-4192-9CA1-067D1D751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zh-CN" altLang="en-US" sz="2400" dirty="0"/>
              <a:t>产出效应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种情况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4789968-B647-4F3B-8EC6-0243E6F73A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5363" y="1565175"/>
            <a:ext cx="2376488" cy="1657350"/>
          </a:xfrm>
          <a:noFill/>
          <a:ln w="3175" cmpd="sng"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zh-CN" altLang="en-US"/>
              <a:t>有利论：</a:t>
            </a:r>
          </a:p>
          <a:p>
            <a:pPr marL="0" indent="0">
              <a:lnSpc>
                <a:spcPct val="80000"/>
              </a:lnSpc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/>
              <a:t>温和的通货膨胀，有利于经济发展，不可缺少。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4D52B77-C0C3-4637-8144-61517F42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427" y="1492150"/>
            <a:ext cx="5616575" cy="2159000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需求拉动的通货膨胀，产出增加。存在闲置资源、通货膨胀未被预期且较温和的情况下：促进了产出增加。物价上涨扩大了厂商的利润空间，促进投资扩大再生产，减少失业。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A7164CC1-B55A-478A-BCA0-34BDA5FE2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427" y="3797200"/>
            <a:ext cx="5616575" cy="1223962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成本推动的通货膨胀，引起失业，产出会不变，或下降。不存在闲置资源。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A870B63C-5624-41D0-BE7E-FB36FDA40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426" y="5165626"/>
            <a:ext cx="8208962" cy="1368425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超级通货膨胀，产出减少，经济趋于崩溃。当人们对于信用货币失去信心时，货币的交易和储藏等作用丧失，等价交换难以实行，投机盛行。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37288992-3CFF-430E-B427-7B6444A08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5364" y="3436838"/>
            <a:ext cx="2303463" cy="1200329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76200" cap="sq" cmpd="tri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b="1">
                <a:solidFill>
                  <a:schemeClr val="folHlink"/>
                </a:solidFill>
              </a:rPr>
              <a:t>有害论</a:t>
            </a:r>
            <a:endParaRPr lang="zh-CN" altLang="en-US" b="1">
              <a:solidFill>
                <a:srgbClr val="000000"/>
              </a:solidFill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b="1">
                <a:solidFill>
                  <a:srgbClr val="000000"/>
                </a:solidFill>
              </a:rPr>
              <a:t>：通货膨胀政策是饮鸩止渴。</a:t>
            </a:r>
          </a:p>
        </p:txBody>
      </p:sp>
    </p:spTree>
    <p:extLst>
      <p:ext uri="{BB962C8B-B14F-4D97-AF65-F5344CB8AC3E}">
        <p14:creationId xmlns:p14="http://schemas.microsoft.com/office/powerpoint/2010/main" val="3151076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D9BB014F-884F-4E78-8687-E11979421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6566" y="365125"/>
            <a:ext cx="10515600" cy="1325563"/>
          </a:xfrm>
          <a:noFill/>
          <a:ln/>
        </p:spPr>
        <p:txBody>
          <a:bodyPr>
            <a:normAutofit/>
          </a:bodyPr>
          <a:lstStyle/>
          <a:p>
            <a:r>
              <a:rPr lang="zh-CN" altLang="en-US" sz="2800" dirty="0">
                <a:ea typeface="黑体" panose="02010609060101010101" pitchFamily="49" charset="-122"/>
              </a:rPr>
              <a:t>失业与通货膨胀的关系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DB822B8-7DB1-48B1-9C7D-ADB2A70E4F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0440" y="1381801"/>
            <a:ext cx="8207375" cy="1079500"/>
          </a:xfrm>
          <a:noFill/>
          <a:ln w="3175" cmpd="sng">
            <a:solidFill>
              <a:schemeClr val="tx1"/>
            </a:solidFill>
            <a:headEnd/>
            <a:tailEnd/>
          </a:ln>
        </p:spPr>
        <p:txBody>
          <a:bodyPr>
            <a:normAutofit fontScale="92500"/>
          </a:bodyPr>
          <a:lstStyle/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None/>
            </a:pPr>
            <a:r>
              <a:rPr lang="en-US" altLang="zh-CN" sz="2800" dirty="0"/>
              <a:t>1.</a:t>
            </a:r>
            <a:r>
              <a:rPr lang="zh-CN" altLang="en-US" sz="2800" dirty="0"/>
              <a:t>菲利普斯曲线  </a:t>
            </a:r>
            <a:r>
              <a:rPr lang="en-US" altLang="zh-CN" dirty="0">
                <a:solidFill>
                  <a:schemeClr val="bg1"/>
                </a:solidFill>
              </a:rPr>
              <a:t>Phillips curve </a:t>
            </a:r>
            <a:r>
              <a:rPr lang="zh-CN" altLang="en-US" sz="2800" dirty="0"/>
              <a:t>：</a:t>
            </a:r>
          </a:p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dirty="0"/>
              <a:t>失业率与工资上涨率</a:t>
            </a:r>
            <a:r>
              <a:rPr lang="zh-CN" altLang="en-US" sz="2000" dirty="0">
                <a:solidFill>
                  <a:schemeClr val="bg1"/>
                </a:solidFill>
              </a:rPr>
              <a:t>（通货膨胀率）</a:t>
            </a:r>
            <a:r>
              <a:rPr lang="zh-CN" altLang="en-US" dirty="0"/>
              <a:t>成反向关系的曲线。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50AD96C1-A0BA-4A16-8A6C-BE22F4B1C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440" y="2605764"/>
            <a:ext cx="8207375" cy="576262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/>
              <a:t>菲利普斯使用英国</a:t>
            </a:r>
            <a:r>
              <a:rPr lang="en-US" altLang="zh-CN"/>
              <a:t>100</a:t>
            </a:r>
            <a:r>
              <a:rPr lang="zh-CN" altLang="en-US"/>
              <a:t>年的历史数据得出的经验关系。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97E3B64B-2725-4272-92F7-97B637BAD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439" y="3326489"/>
            <a:ext cx="3382962" cy="3167062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工资上涨意味着物价水平上涨：</a:t>
            </a:r>
          </a:p>
          <a:p>
            <a:r>
              <a:rPr lang="zh-CN" altLang="en-US"/>
              <a:t>通货膨胀总是可以通过忍受较高的失业率加以解决。</a:t>
            </a:r>
          </a:p>
          <a:p>
            <a:r>
              <a:rPr lang="zh-CN" altLang="en-US"/>
              <a:t>失业率可以通过承受较高通货膨胀率得到降低。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04F8DE-76C5-4D10-B7BC-80FCD4789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600" y="3429000"/>
            <a:ext cx="3711001" cy="277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359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FD9A228-8E8C-47DD-8148-745BEAF4E2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547" y="442947"/>
            <a:ext cx="10515600" cy="1325563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zh-CN" altLang="en-US" sz="3200" dirty="0"/>
              <a:t>菲利普斯曲线的政策含义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8C805B7-6E7E-4742-81D6-80418D5812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0712" y="1362347"/>
            <a:ext cx="8207375" cy="1439863"/>
          </a:xfrm>
          <a:ln>
            <a:headEnd/>
            <a:tailEnd/>
          </a:ln>
        </p:spPr>
        <p:txBody>
          <a:bodyPr>
            <a:normAutofit fontScale="92500"/>
          </a:bodyPr>
          <a:lstStyle/>
          <a:p>
            <a:r>
              <a:rPr lang="zh-CN" altLang="en-US" dirty="0"/>
              <a:t>失业与通货膨胀存在着此消彼长的替代关系。</a:t>
            </a:r>
          </a:p>
          <a:p>
            <a:r>
              <a:rPr lang="zh-CN" altLang="en-US" dirty="0"/>
              <a:t>即：通货膨胀率的增加可以换取一定的失业率的减少；</a:t>
            </a:r>
          </a:p>
          <a:p>
            <a:r>
              <a:rPr lang="zh-CN" altLang="en-US" dirty="0"/>
              <a:t>反之亦然。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CBBC7A7-3895-4819-93EB-F2A044AF2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" y="2959066"/>
            <a:ext cx="3671887" cy="3455987"/>
          </a:xfrm>
          <a:prstGeom prst="rect">
            <a:avLst/>
          </a:prstGeom>
          <a:blipFill dpi="0" rotWithShape="0">
            <a:blip r:embed="rId2">
              <a:alphaModFix amt="54000"/>
            </a:blip>
            <a:srcRect/>
            <a:tile tx="0" ty="0" sx="100000" sy="100000" flip="none" algn="tl"/>
          </a:blipFill>
          <a:ln w="76200" cap="sq" cmpd="tri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4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一个经济社会先确定一个临界点，确定一个失业与通货膨胀的合理组合区域。</a:t>
            </a:r>
          </a:p>
          <a:p>
            <a:r>
              <a:rPr lang="zh-CN" altLang="en-US" dirty="0"/>
              <a:t>在区域内，不采取任何措施。</a:t>
            </a:r>
          </a:p>
          <a:p>
            <a:r>
              <a:rPr lang="zh-CN" altLang="en-US" dirty="0"/>
              <a:t>该区域外，可以根据菲利普斯曲线进行调节。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C4CF5C8-6C19-41DD-9047-40EF63695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0252" y="2714112"/>
            <a:ext cx="3398815" cy="27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41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D482F46-BAE5-4DBE-9327-2D916F0250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5362" y="578797"/>
            <a:ext cx="5903913" cy="64770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zh-CN" altLang="en-US" sz="3200" dirty="0"/>
              <a:t>附加预期的菲利普斯曲线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F0EBBF0-16F6-46D5-A77F-579E509F9A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6475" y="1547173"/>
            <a:ext cx="8207375" cy="1800225"/>
          </a:xfrm>
          <a:ln>
            <a:headEnd/>
            <a:tailEnd/>
          </a:ln>
        </p:spPr>
        <p:txBody>
          <a:bodyPr>
            <a:normAutofit fontScale="92500"/>
          </a:bodyPr>
          <a:lstStyle/>
          <a:p>
            <a:r>
              <a:rPr lang="zh-CN" altLang="en-US"/>
              <a:t>工人对于通货膨胀有预期。工人关注的是实际工资。</a:t>
            </a:r>
          </a:p>
          <a:p>
            <a:r>
              <a:rPr lang="zh-CN" altLang="en-US"/>
              <a:t>人们预期通货膨胀率越高，名义工资增加越快。</a:t>
            </a:r>
          </a:p>
          <a:p>
            <a:r>
              <a:rPr lang="zh-CN" altLang="en-US"/>
              <a:t>短期菲利普斯曲线：预期通货膨胀率保持不变时，通货膨胀率与失业率之间的关系。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67101D4-6CC9-4D70-9889-423B42F69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474" y="3491861"/>
            <a:ext cx="3598862" cy="1800225"/>
          </a:xfrm>
          <a:prstGeom prst="rect">
            <a:avLst/>
          </a:prstGeom>
          <a:blipFill dpi="0" rotWithShape="0">
            <a:blip r:embed="rId2">
              <a:alphaModFix amt="54000"/>
            </a:blip>
            <a:srcRect/>
            <a:tile tx="0" ty="0" sx="100000" sy="100000" flip="none" algn="tl"/>
          </a:blipFill>
          <a:ln w="76200" cap="sq" cmpd="tri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4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附加预期的菲利普斯曲线方程</a:t>
            </a:r>
            <a:r>
              <a:rPr lang="zh-CN" altLang="en-US" dirty="0">
                <a:solidFill>
                  <a:srgbClr val="FFFF00"/>
                </a:solidFill>
              </a:rPr>
              <a:t>（现代菲利普斯曲线方程）</a:t>
            </a:r>
          </a:p>
          <a:p>
            <a:pPr>
              <a:buFont typeface="Wingdings" panose="05000000000000000000" pitchFamily="2" charset="2"/>
              <a:buNone/>
            </a:pPr>
            <a:r>
              <a:rPr lang="el-GR" altLang="zh-CN" sz="2800" dirty="0">
                <a:cs typeface="Times New Roman" panose="02020603050405020304" pitchFamily="18" charset="0"/>
              </a:rPr>
              <a:t>π</a:t>
            </a:r>
            <a:r>
              <a:rPr lang="en-US" altLang="zh-CN" sz="2800" dirty="0">
                <a:cs typeface="Times New Roman" panose="02020603050405020304" pitchFamily="18" charset="0"/>
              </a:rPr>
              <a:t>= </a:t>
            </a:r>
            <a:r>
              <a:rPr lang="el-GR" altLang="zh-CN" sz="2800" dirty="0">
                <a:cs typeface="Times New Roman" panose="02020603050405020304" pitchFamily="18" charset="0"/>
              </a:rPr>
              <a:t>π</a:t>
            </a:r>
            <a:r>
              <a:rPr lang="en-US" altLang="zh-CN" sz="2800" baseline="30000" dirty="0">
                <a:cs typeface="Times New Roman" panose="02020603050405020304" pitchFamily="18" charset="0"/>
              </a:rPr>
              <a:t>e</a:t>
            </a:r>
            <a:r>
              <a:rPr lang="en-US" altLang="zh-CN" sz="2800" dirty="0">
                <a:cs typeface="Times New Roman" panose="02020603050405020304" pitchFamily="18" charset="0"/>
              </a:rPr>
              <a:t> -</a:t>
            </a:r>
            <a:r>
              <a:rPr lang="el-GR" altLang="zh-CN" sz="2800" dirty="0">
                <a:cs typeface="Times New Roman" panose="02020603050405020304" pitchFamily="18" charset="0"/>
              </a:rPr>
              <a:t>ε</a:t>
            </a:r>
            <a:r>
              <a:rPr lang="zh-CN" altLang="en-US" sz="2800" dirty="0"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cs typeface="Times New Roman" panose="02020603050405020304" pitchFamily="18" charset="0"/>
              </a:rPr>
              <a:t>u</a:t>
            </a:r>
            <a:r>
              <a:rPr lang="zh-CN" altLang="en-US" sz="2800" dirty="0">
                <a:cs typeface="Times New Roman" panose="02020603050405020304" pitchFamily="18" charset="0"/>
              </a:rPr>
              <a:t>－</a:t>
            </a:r>
            <a:r>
              <a:rPr lang="en-US" altLang="zh-CN" sz="2800" dirty="0">
                <a:cs typeface="Times New Roman" panose="02020603050405020304" pitchFamily="18" charset="0"/>
              </a:rPr>
              <a:t>u*</a:t>
            </a:r>
            <a:r>
              <a:rPr lang="zh-CN" altLang="en-US" sz="2800" dirty="0"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BE53422-9DB5-44B4-AFC2-E25D2E6C5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474" y="5363523"/>
            <a:ext cx="3598862" cy="1439863"/>
          </a:xfrm>
          <a:prstGeom prst="rect">
            <a:avLst/>
          </a:prstGeom>
          <a:blipFill dpi="0" rotWithShape="0">
            <a:blip r:embed="rId2">
              <a:alphaModFix amt="54000"/>
            </a:blip>
            <a:srcRect/>
            <a:tile tx="0" ty="0" sx="100000" sy="100000" flip="none" algn="tl"/>
          </a:blipFill>
          <a:ln w="76200" cap="sq" cmpd="tri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4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/>
              <a:t>当实际通货膨胀等于预期通货膨胀时，失业处于自然失业率水平。</a:t>
            </a:r>
            <a:endParaRPr lang="zh-CN" altLang="en-US" sz="2800"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7AC5FB8-40DA-460A-8015-1469C4A83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7778" y="3510603"/>
            <a:ext cx="3535986" cy="280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387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B798236-AEDA-4A24-8CB3-9CA88AB7B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003" y="520768"/>
            <a:ext cx="10515600" cy="1325563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zh-CN" altLang="en-US" sz="2800" dirty="0"/>
              <a:t>长期菲利普斯曲线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79BE040-8414-411F-BAB2-D3111916A5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9622" y="1449895"/>
            <a:ext cx="8207375" cy="1295400"/>
          </a:xfrm>
          <a:ln>
            <a:headEnd/>
            <a:tailEnd/>
          </a:ln>
        </p:spPr>
        <p:txBody>
          <a:bodyPr>
            <a:normAutofit lnSpcReduction="10000"/>
          </a:bodyPr>
          <a:lstStyle/>
          <a:p>
            <a:r>
              <a:rPr lang="zh-CN" altLang="en-US" dirty="0"/>
              <a:t>从长期来看，工人预期的通货膨胀＝通货膨胀率。</a:t>
            </a:r>
          </a:p>
          <a:p>
            <a:r>
              <a:rPr lang="zh-CN" altLang="en-US" dirty="0"/>
              <a:t>发生通货膨胀，企业不会增加生产和就业，失业率也不会下降。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F722484-C5FC-4B71-AF95-DADE207CF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22" y="2961196"/>
            <a:ext cx="3311525" cy="2016125"/>
          </a:xfrm>
          <a:prstGeom prst="rect">
            <a:avLst/>
          </a:prstGeom>
          <a:blipFill dpi="0" rotWithShape="0">
            <a:blip r:embed="rId2">
              <a:alphaModFix amt="54000"/>
            </a:blip>
            <a:srcRect/>
            <a:tile tx="0" ty="0" sx="100000" sy="100000" flip="none" algn="tl"/>
          </a:blipFill>
          <a:ln w="76200" cap="sq" cmpd="tri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4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长期菲利普斯曲线：与自然失业率重合。垂直于自然失业率，不存在失业与通货膨胀的替换关系。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FDED765-F33F-42BE-868D-92E91561D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22" y="5023358"/>
            <a:ext cx="3311525" cy="1611312"/>
          </a:xfrm>
          <a:prstGeom prst="rect">
            <a:avLst/>
          </a:prstGeom>
          <a:blipFill dpi="0" rotWithShape="0">
            <a:blip r:embed="rId2">
              <a:alphaModFix amt="54000"/>
            </a:blip>
            <a:srcRect/>
            <a:tile tx="0" ty="0" sx="100000" sy="100000" flip="none" algn="tl"/>
          </a:blipFill>
          <a:ln w="76200" cap="sq" cmpd="tri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4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从长期看，运用扩张性政策不能降低失业率，还会使得通货膨胀不断上升。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F0CC05B-4E20-436A-BFE0-3792B99AA4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4949" y="2956025"/>
            <a:ext cx="3475021" cy="28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937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4">
      <a:majorFont>
        <a:latin typeface="等线 Light"/>
        <a:ea typeface="微软雅黑"/>
        <a:cs typeface=""/>
      </a:majorFont>
      <a:minorFont>
        <a:latin typeface="等线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1971</Words>
  <Application>Microsoft Office PowerPoint</Application>
  <PresentationFormat>宽屏</PresentationFormat>
  <Paragraphs>186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等线</vt:lpstr>
      <vt:lpstr>等线 Light</vt:lpstr>
      <vt:lpstr>黑体</vt:lpstr>
      <vt:lpstr>宋体</vt:lpstr>
      <vt:lpstr>Arial</vt:lpstr>
      <vt:lpstr>Times New Roman</vt:lpstr>
      <vt:lpstr>Wingdings</vt:lpstr>
      <vt:lpstr>Wingdings 2</vt:lpstr>
      <vt:lpstr>Office 主题​​</vt:lpstr>
      <vt:lpstr>位图图像</vt:lpstr>
      <vt:lpstr>Equation</vt:lpstr>
      <vt:lpstr>失业与通货膨胀</vt:lpstr>
      <vt:lpstr>失业概述</vt:lpstr>
      <vt:lpstr>周期性失业</vt:lpstr>
      <vt:lpstr>劳动市场供求双方的失业</vt:lpstr>
      <vt:lpstr>失业的经济学解释</vt:lpstr>
      <vt:lpstr>失业的供求分析</vt:lpstr>
      <vt:lpstr>非出清的劳动力市场：失业解释</vt:lpstr>
      <vt:lpstr>失业的影响</vt:lpstr>
      <vt:lpstr>通货膨胀概述</vt:lpstr>
      <vt:lpstr>价格指数</vt:lpstr>
      <vt:lpstr>通货膨胀的分类</vt:lpstr>
      <vt:lpstr>通货紧缩</vt:lpstr>
      <vt:lpstr>通货膨胀的成因</vt:lpstr>
      <vt:lpstr>需求拉动（拉上）通货膨胀</vt:lpstr>
      <vt:lpstr>需求拉上通货膨胀的原因</vt:lpstr>
      <vt:lpstr>成本推动通货膨胀</vt:lpstr>
      <vt:lpstr>三种推动情形</vt:lpstr>
      <vt:lpstr>结构性通货膨胀</vt:lpstr>
      <vt:lpstr>通货膨胀的经济效应</vt:lpstr>
      <vt:lpstr>产出效应有3种情况</vt:lpstr>
      <vt:lpstr>失业与通货膨胀的关系</vt:lpstr>
      <vt:lpstr>菲利普斯曲线的政策含义</vt:lpstr>
      <vt:lpstr>附加预期的菲利普斯曲线</vt:lpstr>
      <vt:lpstr>长期菲利普斯曲线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984071643@qq.com</dc:creator>
  <cp:lastModifiedBy> </cp:lastModifiedBy>
  <cp:revision>33</cp:revision>
  <dcterms:created xsi:type="dcterms:W3CDTF">2018-03-15T07:36:35Z</dcterms:created>
  <dcterms:modified xsi:type="dcterms:W3CDTF">2020-11-20T04:14:44Z</dcterms:modified>
</cp:coreProperties>
</file>